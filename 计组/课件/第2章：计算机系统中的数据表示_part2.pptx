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vsdx" ContentType="application/vnd.ms-visio.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3" r:id="rId1"/>
  </p:sldMasterIdLst>
  <p:notesMasterIdLst>
    <p:notesMasterId r:id="rId61"/>
  </p:notesMasterIdLst>
  <p:handoutMasterIdLst>
    <p:handoutMasterId r:id="rId62"/>
  </p:handoutMasterIdLst>
  <p:sldIdLst>
    <p:sldId id="696" r:id="rId2"/>
    <p:sldId id="820" r:id="rId3"/>
    <p:sldId id="821" r:id="rId4"/>
    <p:sldId id="878" r:id="rId5"/>
    <p:sldId id="879" r:id="rId6"/>
    <p:sldId id="880" r:id="rId7"/>
    <p:sldId id="881" r:id="rId8"/>
    <p:sldId id="882" r:id="rId9"/>
    <p:sldId id="883" r:id="rId10"/>
    <p:sldId id="884" r:id="rId11"/>
    <p:sldId id="885" r:id="rId12"/>
    <p:sldId id="822" r:id="rId13"/>
    <p:sldId id="823" r:id="rId14"/>
    <p:sldId id="824" r:id="rId15"/>
    <p:sldId id="825" r:id="rId16"/>
    <p:sldId id="826" r:id="rId17"/>
    <p:sldId id="830" r:id="rId18"/>
    <p:sldId id="868" r:id="rId19"/>
    <p:sldId id="869" r:id="rId20"/>
    <p:sldId id="870" r:id="rId21"/>
    <p:sldId id="871" r:id="rId22"/>
    <p:sldId id="829" r:id="rId23"/>
    <p:sldId id="831" r:id="rId24"/>
    <p:sldId id="886" r:id="rId25"/>
    <p:sldId id="844" r:id="rId26"/>
    <p:sldId id="849" r:id="rId27"/>
    <p:sldId id="850" r:id="rId28"/>
    <p:sldId id="852" r:id="rId29"/>
    <p:sldId id="853" r:id="rId30"/>
    <p:sldId id="854" r:id="rId31"/>
    <p:sldId id="855" r:id="rId32"/>
    <p:sldId id="856" r:id="rId33"/>
    <p:sldId id="858" r:id="rId34"/>
    <p:sldId id="877" r:id="rId35"/>
    <p:sldId id="887" r:id="rId36"/>
    <p:sldId id="888" r:id="rId37"/>
    <p:sldId id="859" r:id="rId38"/>
    <p:sldId id="889" r:id="rId39"/>
    <p:sldId id="890" r:id="rId40"/>
    <p:sldId id="860" r:id="rId41"/>
    <p:sldId id="861" r:id="rId42"/>
    <p:sldId id="862" r:id="rId43"/>
    <p:sldId id="863" r:id="rId44"/>
    <p:sldId id="864" r:id="rId45"/>
    <p:sldId id="865" r:id="rId46"/>
    <p:sldId id="872" r:id="rId47"/>
    <p:sldId id="873" r:id="rId48"/>
    <p:sldId id="891" r:id="rId49"/>
    <p:sldId id="832" r:id="rId50"/>
    <p:sldId id="833" r:id="rId51"/>
    <p:sldId id="834" r:id="rId52"/>
    <p:sldId id="835" r:id="rId53"/>
    <p:sldId id="837" r:id="rId54"/>
    <p:sldId id="838" r:id="rId55"/>
    <p:sldId id="840" r:id="rId56"/>
    <p:sldId id="866" r:id="rId57"/>
    <p:sldId id="841" r:id="rId58"/>
    <p:sldId id="842" r:id="rId59"/>
    <p:sldId id="843" r:id="rId60"/>
  </p:sldIdLst>
  <p:sldSz cx="9144000" cy="6858000" type="screen4x3"/>
  <p:notesSz cx="9939338" cy="6807200"/>
  <p:defaultTextStyle>
    <a:defPPr>
      <a:defRPr lang="en-US"/>
    </a:defPPr>
    <a:lvl1pPr algn="ctr" rtl="0" fontAlgn="base">
      <a:spcBef>
        <a:spcPct val="5000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ctr" rtl="0" fontAlgn="base">
      <a:spcBef>
        <a:spcPct val="5000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ctr" rtl="0" fontAlgn="base">
      <a:spcBef>
        <a:spcPct val="5000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ctr" rtl="0" fontAlgn="base">
      <a:spcBef>
        <a:spcPct val="5000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ctr" rtl="0" fontAlgn="base">
      <a:spcBef>
        <a:spcPct val="5000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0066"/>
    <a:srgbClr val="FF6600"/>
    <a:srgbClr val="00FF00"/>
    <a:srgbClr val="00FFFF"/>
    <a:srgbClr val="FF3399"/>
    <a:srgbClr val="FF0066"/>
    <a:srgbClr val="FFFFCC"/>
    <a:srgbClr val="6600FF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2102" autoAdjust="0"/>
    <p:restoredTop sz="92265" autoAdjust="0"/>
  </p:normalViewPr>
  <p:slideViewPr>
    <p:cSldViewPr>
      <p:cViewPr varScale="1">
        <p:scale>
          <a:sx n="106" d="100"/>
          <a:sy n="106" d="100"/>
        </p:scale>
        <p:origin x="1278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0" d="100"/>
        <a:sy n="140" d="100"/>
      </p:scale>
      <p:origin x="0" y="-18036"/>
    </p:cViewPr>
  </p:sorterViewPr>
  <p:notesViewPr>
    <p:cSldViewPr>
      <p:cViewPr varScale="1">
        <p:scale>
          <a:sx n="104" d="100"/>
          <a:sy n="104" d="100"/>
        </p:scale>
        <p:origin x="-984" y="-90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688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kumimoji="1" sz="1200" b="0"/>
            </a:lvl1pPr>
          </a:lstStyle>
          <a:p>
            <a:endParaRPr lang="zh-CN" altLang="en-US"/>
          </a:p>
        </p:txBody>
      </p:sp>
      <p:sp>
        <p:nvSpPr>
          <p:cNvPr id="260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863" y="0"/>
            <a:ext cx="4306887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kumimoji="1" sz="1200" b="0"/>
            </a:lvl1pPr>
          </a:lstStyle>
          <a:p>
            <a:endParaRPr lang="en-US" altLang="zh-CN"/>
          </a:p>
        </p:txBody>
      </p:sp>
      <p:sp>
        <p:nvSpPr>
          <p:cNvPr id="260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65888"/>
            <a:ext cx="430688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kumimoji="1" sz="1200" b="0"/>
            </a:lvl1pPr>
          </a:lstStyle>
          <a:p>
            <a:endParaRPr lang="en-US" altLang="zh-CN"/>
          </a:p>
        </p:txBody>
      </p:sp>
      <p:sp>
        <p:nvSpPr>
          <p:cNvPr id="260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863" y="6465888"/>
            <a:ext cx="4306887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kumimoji="1" sz="1200" b="0"/>
            </a:lvl1pPr>
          </a:lstStyle>
          <a:p>
            <a:fld id="{00DFB04E-09DE-4EA4-8A15-849B9F2619B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77837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688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kumimoji="1" sz="1200" b="0">
                <a:ea typeface="黑体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2450" y="0"/>
            <a:ext cx="430688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kumimoji="1" sz="1200" b="0">
                <a:ea typeface="黑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61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3600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617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25563" y="3233738"/>
            <a:ext cx="7288212" cy="306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617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67475"/>
            <a:ext cx="430688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kumimoji="1" sz="1200" b="0">
                <a:ea typeface="黑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617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2450" y="6467475"/>
            <a:ext cx="4306888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kumimoji="1" sz="1200" b="0">
                <a:ea typeface="黑体" pitchFamily="2" charset="-122"/>
              </a:defRPr>
            </a:lvl1pPr>
          </a:lstStyle>
          <a:p>
            <a:fld id="{40D6D5D1-EBA9-49E7-BCF4-74F55DFAE7F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464461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海明码距，也叫“海明距离”。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6D5D1-EBA9-49E7-BCF4-74F55DFAE7F7}" type="slidenum">
              <a:rPr lang="zh-CN" altLang="en-US" smtClean="0"/>
              <a:pPr/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6360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6D5D1-EBA9-49E7-BCF4-74F55DFAE7F7}" type="slidenum">
              <a:rPr lang="zh-CN" altLang="en-US" smtClean="0"/>
              <a:pPr/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343338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6D5D1-EBA9-49E7-BCF4-74F55DFAE7F7}" type="slidenum">
              <a:rPr lang="zh-CN" altLang="en-US" smtClean="0"/>
              <a:pPr/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20594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6D5D1-EBA9-49E7-BCF4-74F55DFAE7F7}" type="slidenum">
              <a:rPr lang="zh-CN" altLang="en-US" smtClean="0"/>
              <a:pPr/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350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226" name="Group 26"/>
          <p:cNvGrpSpPr>
            <a:grpSpLocks/>
          </p:cNvGrpSpPr>
          <p:nvPr userDrawn="1"/>
        </p:nvGrpSpPr>
        <p:grpSpPr bwMode="auto">
          <a:xfrm>
            <a:off x="0" y="0"/>
            <a:ext cx="9144000" cy="6858000"/>
            <a:chOff x="0" y="-4320"/>
            <a:chExt cx="5760" cy="4320"/>
          </a:xfrm>
        </p:grpSpPr>
        <p:sp>
          <p:nvSpPr>
            <p:cNvPr id="179203" name="Rectangle 3"/>
            <p:cNvSpPr>
              <a:spLocks noChangeArrowheads="1"/>
            </p:cNvSpPr>
            <p:nvPr/>
          </p:nvSpPr>
          <p:spPr bwMode="hidden">
            <a:xfrm>
              <a:off x="0" y="-432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9204" name="Rectangle 4"/>
            <p:cNvSpPr>
              <a:spLocks noChangeArrowheads="1"/>
            </p:cNvSpPr>
            <p:nvPr/>
          </p:nvSpPr>
          <p:spPr bwMode="hidden">
            <a:xfrm>
              <a:off x="1081" y="-325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grpSp>
          <p:nvGrpSpPr>
            <p:cNvPr id="179225" name="Group 25"/>
            <p:cNvGrpSpPr>
              <a:grpSpLocks/>
            </p:cNvGrpSpPr>
            <p:nvPr userDrawn="1"/>
          </p:nvGrpSpPr>
          <p:grpSpPr bwMode="auto">
            <a:xfrm>
              <a:off x="0" y="-3255"/>
              <a:ext cx="1806" cy="1596"/>
              <a:chOff x="0" y="-3255"/>
              <a:chExt cx="1806" cy="1596"/>
            </a:xfrm>
          </p:grpSpPr>
          <p:sp>
            <p:nvSpPr>
              <p:cNvPr id="179206" name="Rectangle 6"/>
              <p:cNvSpPr>
                <a:spLocks noChangeArrowheads="1"/>
              </p:cNvSpPr>
              <p:nvPr/>
            </p:nvSpPr>
            <p:spPr bwMode="auto">
              <a:xfrm>
                <a:off x="361" y="-2063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  <p:sp>
            <p:nvSpPr>
              <p:cNvPr id="179207" name="Rectangle 7"/>
              <p:cNvSpPr>
                <a:spLocks noChangeArrowheads="1"/>
              </p:cNvSpPr>
              <p:nvPr/>
            </p:nvSpPr>
            <p:spPr bwMode="auto">
              <a:xfrm>
                <a:off x="1081" y="-325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  <p:sp>
            <p:nvSpPr>
              <p:cNvPr id="179209" name="Rectangle 9"/>
              <p:cNvSpPr>
                <a:spLocks noChangeArrowheads="1"/>
              </p:cNvSpPr>
              <p:nvPr/>
            </p:nvSpPr>
            <p:spPr bwMode="auto">
              <a:xfrm>
                <a:off x="719" y="-2063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  <p:sp>
            <p:nvSpPr>
              <p:cNvPr id="179210" name="Rectangle 10"/>
              <p:cNvSpPr>
                <a:spLocks noChangeArrowheads="1"/>
              </p:cNvSpPr>
              <p:nvPr/>
            </p:nvSpPr>
            <p:spPr bwMode="auto">
              <a:xfrm>
                <a:off x="1437" y="-325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  <p:sp>
            <p:nvSpPr>
              <p:cNvPr id="179211" name="Rectangle 11"/>
              <p:cNvSpPr>
                <a:spLocks noChangeArrowheads="1"/>
              </p:cNvSpPr>
              <p:nvPr/>
            </p:nvSpPr>
            <p:spPr bwMode="auto">
              <a:xfrm>
                <a:off x="719" y="-2856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  <p:sp>
            <p:nvSpPr>
              <p:cNvPr id="179212" name="Rectangle 12"/>
              <p:cNvSpPr>
                <a:spLocks noChangeArrowheads="1"/>
              </p:cNvSpPr>
              <p:nvPr/>
            </p:nvSpPr>
            <p:spPr bwMode="auto">
              <a:xfrm>
                <a:off x="0" y="-2856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  <p:sp>
            <p:nvSpPr>
              <p:cNvPr id="179213" name="Rectangle 13"/>
              <p:cNvSpPr>
                <a:spLocks noChangeArrowheads="1"/>
              </p:cNvSpPr>
              <p:nvPr/>
            </p:nvSpPr>
            <p:spPr bwMode="auto">
              <a:xfrm>
                <a:off x="1081" y="-2856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  <p:sp>
            <p:nvSpPr>
              <p:cNvPr id="179214" name="Rectangle 14"/>
              <p:cNvSpPr>
                <a:spLocks noChangeArrowheads="1"/>
              </p:cNvSpPr>
              <p:nvPr/>
            </p:nvSpPr>
            <p:spPr bwMode="auto">
              <a:xfrm>
                <a:off x="361" y="-2463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  <p:sp>
            <p:nvSpPr>
              <p:cNvPr id="179215" name="Rectangle 15"/>
              <p:cNvSpPr>
                <a:spLocks noChangeArrowheads="1"/>
              </p:cNvSpPr>
              <p:nvPr/>
            </p:nvSpPr>
            <p:spPr bwMode="auto">
              <a:xfrm>
                <a:off x="719" y="-2463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l">
                  <a:spcBef>
                    <a:spcPct val="0"/>
                  </a:spcBef>
                </a:pPr>
                <a:endParaRPr lang="zh-CN" altLang="en-US" sz="2400" b="0"/>
              </a:p>
            </p:txBody>
          </p:sp>
        </p:grpSp>
      </p:grpSp>
      <p:sp>
        <p:nvSpPr>
          <p:cNvPr id="179216" name="Rectangle 16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79217" name="Rectangle 17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79218" name="Rectangle 18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D8E6684-09E9-42B2-A385-90BE92848EAE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7921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50825" y="1828800"/>
            <a:ext cx="8740775" cy="2209800"/>
          </a:xfrm>
        </p:spPr>
        <p:txBody>
          <a:bodyPr/>
          <a:lstStyle>
            <a:lvl1pPr algn="r">
              <a:defRPr sz="40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7922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50825" y="4267200"/>
            <a:ext cx="8740775" cy="17526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4000" b="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79228" name="Rectangle 28"/>
          <p:cNvSpPr>
            <a:spLocks noChangeArrowheads="1"/>
          </p:cNvSpPr>
          <p:nvPr userDrawn="1"/>
        </p:nvSpPr>
        <p:spPr bwMode="auto">
          <a:xfrm>
            <a:off x="0" y="2590800"/>
            <a:ext cx="9144000" cy="0"/>
          </a:xfrm>
          <a:prstGeom prst="rect">
            <a:avLst/>
          </a:prstGeom>
          <a:noFill/>
          <a:ln w="28575" algn="ctr">
            <a:noFill/>
            <a:miter lim="800000"/>
            <a:headEnd/>
            <a:tailEnd type="none" w="med" len="lg"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061A7130-F495-4826-890D-15F4C8FF1D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rgbClr val="CACAFF">
                <a:shade val="45000"/>
                <a:satMod val="135000"/>
              </a:srgb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79712" y="309480"/>
            <a:ext cx="4571429" cy="1285714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25" name="Text Box 22">
            <a:extLst>
              <a:ext uri="{FF2B5EF4-FFF2-40B4-BE49-F238E27FC236}">
                <a16:creationId xmlns:a16="http://schemas.microsoft.com/office/drawing/2014/main" id="{B7384608-25A7-47BA-B71C-B9849D295E7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00874" y="637309"/>
            <a:ext cx="4392609" cy="903389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rgbClr val="000000"/>
                </a:solidFill>
                <a:latin typeface="黑体"/>
                <a:ea typeface="黑体"/>
              </a:rPr>
              <a:t>计算机科学与技术学院</a:t>
            </a:r>
            <a:endParaRPr lang="en-US" altLang="zh-CN" sz="2800" dirty="0">
              <a:solidFill>
                <a:srgbClr val="000000"/>
              </a:solidFill>
              <a:latin typeface="黑体"/>
              <a:ea typeface="黑体"/>
            </a:endParaRPr>
          </a:p>
          <a:p>
            <a:pPr algn="r">
              <a:lnSpc>
                <a:spcPct val="130000"/>
              </a:lnSpc>
              <a:spcBef>
                <a:spcPts val="0"/>
              </a:spcBef>
            </a:pPr>
            <a:r>
              <a:rPr lang="en-US" altLang="zh-CN" sz="1400" dirty="0">
                <a:solidFill>
                  <a:srgbClr val="000000"/>
                </a:solidFill>
                <a:latin typeface="Arial" panose="020B0604020202020204" pitchFamily="34" charset="0"/>
                <a:ea typeface="黑体"/>
                <a:cs typeface="Arial" panose="020B0604020202020204" pitchFamily="34" charset="0"/>
              </a:rPr>
              <a:t>School of Computer Science and Technology</a:t>
            </a:r>
            <a:endParaRPr lang="zh-CN" altLang="en-US" sz="1400" dirty="0">
              <a:solidFill>
                <a:srgbClr val="000000"/>
              </a:solidFill>
              <a:latin typeface="Arial" panose="020B0604020202020204" pitchFamily="34" charset="0"/>
              <a:ea typeface="黑体"/>
              <a:cs typeface="Arial" panose="020B0604020202020204" pitchFamily="34" charset="0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73F74E53-E86D-4746-940F-6DD3460864D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7158" y="89034"/>
            <a:ext cx="1677745" cy="1686468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F19B7142-83B7-471D-90AE-B526AC62B38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73936" y="620610"/>
            <a:ext cx="2914088" cy="865415"/>
          </a:xfrm>
          <a:prstGeom prst="rect">
            <a:avLst/>
          </a:prstGeom>
        </p:spPr>
      </p:pic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0A816A2-BE8E-4FD4-BCC7-D6688611FCA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092990" y="1536228"/>
            <a:ext cx="3799490" cy="0"/>
          </a:xfrm>
          <a:prstGeom prst="line">
            <a:avLst/>
          </a:prstGeom>
          <a:solidFill>
            <a:srgbClr val="9999FF"/>
          </a:solidFill>
          <a:ln w="57150" cap="flat" cmpd="tri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B84C599F-C07A-4746-A90A-04811BEB1F18}"/>
              </a:ext>
            </a:extLst>
          </p:cNvPr>
          <p:cNvCxnSpPr>
            <a:cxnSpLocks/>
          </p:cNvCxnSpPr>
          <p:nvPr userDrawn="1"/>
        </p:nvCxnSpPr>
        <p:spPr bwMode="auto">
          <a:xfrm flipH="1">
            <a:off x="1873936" y="1536228"/>
            <a:ext cx="2914072" cy="0"/>
          </a:xfrm>
          <a:prstGeom prst="line">
            <a:avLst/>
          </a:prstGeom>
          <a:solidFill>
            <a:srgbClr val="9999FF"/>
          </a:solidFill>
          <a:ln w="57150" cap="flat" cmpd="tri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0" name="Rectangle 16">
            <a:extLst>
              <a:ext uri="{FF2B5EF4-FFF2-40B4-BE49-F238E27FC236}">
                <a16:creationId xmlns:a16="http://schemas.microsoft.com/office/drawing/2014/main" id="{F72F93AB-4DFF-4290-830A-C1474F8F6E7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51400" y="5229250"/>
            <a:ext cx="2921965" cy="705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tx1"/>
                </a:solidFill>
                <a:latin typeface="+mj-lt"/>
                <a:ea typeface="宋体" pitchFamily="2" charset="-122"/>
                <a:cs typeface="+mn-cs"/>
              </a:defRPr>
            </a:lvl1pPr>
            <a:lvl2pPr marL="457200" algn="ctr" rtl="0" fontAlgn="base">
              <a:spcBef>
                <a:spcPct val="5000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ctr" rtl="0" fontAlgn="base">
              <a:spcBef>
                <a:spcPct val="5000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ctr" rtl="0" fontAlgn="base">
              <a:spcBef>
                <a:spcPct val="5000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ctr" rtl="0" fontAlgn="base">
              <a:spcBef>
                <a:spcPct val="50000"/>
              </a:spcBef>
              <a:spcAft>
                <a:spcPct val="0"/>
              </a:spcAft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sz="2800" b="1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D8CD90-EB6C-4EF8-843B-BC01DDFAB9E6}" type="datetime3">
              <a:rPr kumimoji="0" lang="zh-CN" altLang="en-US" sz="2000" b="1" i="0" u="none" strike="noStrike" kern="1200" cap="none" spc="0" normalizeH="0" baseline="0" noProof="0" smtClean="0">
                <a:ln>
                  <a:noFill/>
                </a:ln>
                <a:solidFill>
                  <a:srgbClr val="5D5DC0"/>
                </a:solidFill>
                <a:effectLst/>
                <a:uLnTx/>
                <a:uFillTx/>
                <a:latin typeface="Arial"/>
                <a:ea typeface="黑体" panose="02010609060101010101" pitchFamily="49" charset="-122"/>
                <a:cs typeface="Arial" panose="020B0604020202020204" pitchFamily="34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2021年7月23日星期五</a:t>
            </a:fld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5D5DC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439F639-8FB6-4CFA-9289-F7A8A19716DA}" type="datetime10">
              <a:rPr kumimoji="0" lang="en-US" altLang="zh-CN" sz="2000" b="1" i="0" u="none" strike="noStrike" kern="1200" cap="none" spc="0" normalizeH="0" baseline="0" noProof="0" smtClean="0">
                <a:ln>
                  <a:noFill/>
                </a:ln>
                <a:solidFill>
                  <a:srgbClr val="5D5DC0"/>
                </a:solidFill>
                <a:effectLst/>
                <a:uLnTx/>
                <a:uFillTx/>
                <a:latin typeface="Arial"/>
                <a:ea typeface="宋体" pitchFamily="2" charset="-122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18:13</a:t>
            </a:fld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5D5DC0"/>
              </a:solidFill>
              <a:effectLst/>
              <a:uLnTx/>
              <a:uFillTx/>
              <a:latin typeface="Arial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5B602920-A5C8-4063-9344-02806C2E116E}"/>
              </a:ext>
            </a:extLst>
          </p:cNvPr>
          <p:cNvGrpSpPr/>
          <p:nvPr userDrawn="1"/>
        </p:nvGrpSpPr>
        <p:grpSpPr>
          <a:xfrm>
            <a:off x="356172" y="5737225"/>
            <a:ext cx="8635428" cy="860426"/>
            <a:chOff x="356172" y="5737225"/>
            <a:chExt cx="8635428" cy="860426"/>
          </a:xfrm>
        </p:grpSpPr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44D9DA1F-0FC8-4237-816B-076884A5DFA5}"/>
                </a:ext>
              </a:extLst>
            </p:cNvPr>
            <p:cNvCxnSpPr/>
            <p:nvPr/>
          </p:nvCxnSpPr>
          <p:spPr bwMode="auto">
            <a:xfrm flipH="1">
              <a:off x="356172" y="6597440"/>
              <a:ext cx="1512211" cy="0"/>
            </a:xfrm>
            <a:prstGeom prst="line">
              <a:avLst/>
            </a:prstGeom>
            <a:solidFill>
              <a:srgbClr val="9999FF"/>
            </a:solidFill>
            <a:ln w="19050" cap="flat" cmpd="sng" algn="ctr">
              <a:solidFill>
                <a:srgbClr val="5D5DC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5379219E-FB28-4540-AC15-81D4AFA87F8F}"/>
                </a:ext>
              </a:extLst>
            </p:cNvPr>
            <p:cNvGrpSpPr/>
            <p:nvPr/>
          </p:nvGrpSpPr>
          <p:grpSpPr>
            <a:xfrm>
              <a:off x="2616916" y="5912643"/>
              <a:ext cx="157163" cy="39688"/>
              <a:chOff x="6834188" y="5932488"/>
              <a:chExt cx="157163" cy="39688"/>
            </a:xfrm>
          </p:grpSpPr>
          <p:sp>
            <p:nvSpPr>
              <p:cNvPr id="59" name="Line 5">
                <a:extLst>
                  <a:ext uri="{FF2B5EF4-FFF2-40B4-BE49-F238E27FC236}">
                    <a16:creationId xmlns:a16="http://schemas.microsoft.com/office/drawing/2014/main" id="{FF46B5E1-CBEA-4648-A7B3-C16E6778DE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897688" y="5932488"/>
                <a:ext cx="46038" cy="3968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0" name="Line 15">
                <a:extLst>
                  <a:ext uri="{FF2B5EF4-FFF2-40B4-BE49-F238E27FC236}">
                    <a16:creationId xmlns:a16="http://schemas.microsoft.com/office/drawing/2014/main" id="{8AAD3670-0DCE-4147-B63D-BFC849A405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834188" y="5932488"/>
                <a:ext cx="31750" cy="23813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1" name="Line 16">
                <a:extLst>
                  <a:ext uri="{FF2B5EF4-FFF2-40B4-BE49-F238E27FC236}">
                    <a16:creationId xmlns:a16="http://schemas.microsoft.com/office/drawing/2014/main" id="{01D6474B-91FC-40DD-AAEB-AF3521B974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865938" y="5932488"/>
                <a:ext cx="31750" cy="3968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2" name="Line 17">
                <a:extLst>
                  <a:ext uri="{FF2B5EF4-FFF2-40B4-BE49-F238E27FC236}">
                    <a16:creationId xmlns:a16="http://schemas.microsoft.com/office/drawing/2014/main" id="{C2037196-9143-4B46-976B-DA5CB448BA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943726" y="5932488"/>
                <a:ext cx="47625" cy="3175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6480C95E-5828-4100-BECA-CEC77EAB093D}"/>
                </a:ext>
              </a:extLst>
            </p:cNvPr>
            <p:cNvGrpSpPr/>
            <p:nvPr/>
          </p:nvGrpSpPr>
          <p:grpSpPr>
            <a:xfrm>
              <a:off x="2288304" y="6115843"/>
              <a:ext cx="157162" cy="39688"/>
              <a:chOff x="6505576" y="6135688"/>
              <a:chExt cx="157162" cy="39688"/>
            </a:xfrm>
          </p:grpSpPr>
          <p:sp>
            <p:nvSpPr>
              <p:cNvPr id="55" name="Line 6">
                <a:extLst>
                  <a:ext uri="{FF2B5EF4-FFF2-40B4-BE49-F238E27FC236}">
                    <a16:creationId xmlns:a16="http://schemas.microsoft.com/office/drawing/2014/main" id="{D2FFA1AB-FDCF-4D44-B483-673A6D05A0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505576" y="6135688"/>
                <a:ext cx="31750" cy="23813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6" name="Line 7">
                <a:extLst>
                  <a:ext uri="{FF2B5EF4-FFF2-40B4-BE49-F238E27FC236}">
                    <a16:creationId xmlns:a16="http://schemas.microsoft.com/office/drawing/2014/main" id="{96C07AB1-83A0-493A-8972-8393EC9791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537326" y="6135688"/>
                <a:ext cx="31750" cy="3968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7" name="Line 18">
                <a:extLst>
                  <a:ext uri="{FF2B5EF4-FFF2-40B4-BE49-F238E27FC236}">
                    <a16:creationId xmlns:a16="http://schemas.microsoft.com/office/drawing/2014/main" id="{EBE728AD-D7B8-44F8-AC54-F3607FA997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615113" y="6135688"/>
                <a:ext cx="47625" cy="3175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8" name="Line 19">
                <a:extLst>
                  <a:ext uri="{FF2B5EF4-FFF2-40B4-BE49-F238E27FC236}">
                    <a16:creationId xmlns:a16="http://schemas.microsoft.com/office/drawing/2014/main" id="{D41A4E56-4AF0-4056-822F-617A076A57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569076" y="6135688"/>
                <a:ext cx="46038" cy="3968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35" name="Line 25">
              <a:extLst>
                <a:ext uri="{FF2B5EF4-FFF2-40B4-BE49-F238E27FC236}">
                  <a16:creationId xmlns:a16="http://schemas.microsoft.com/office/drawing/2014/main" id="{626269A2-9553-46E6-A478-A18DA99BDB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3985" y="6597650"/>
              <a:ext cx="6967615" cy="0"/>
            </a:xfrm>
            <a:prstGeom prst="line">
              <a:avLst/>
            </a:prstGeom>
            <a:noFill/>
            <a:ln w="19050">
              <a:solidFill>
                <a:srgbClr val="5D5DC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DB1A0128-E1D3-4F2A-8513-5EDFBFCDCB46}"/>
                </a:ext>
              </a:extLst>
            </p:cNvPr>
            <p:cNvGrpSpPr/>
            <p:nvPr/>
          </p:nvGrpSpPr>
          <p:grpSpPr>
            <a:xfrm>
              <a:off x="1819198" y="5737225"/>
              <a:ext cx="204788" cy="860426"/>
              <a:chOff x="7115176" y="5737225"/>
              <a:chExt cx="204788" cy="860426"/>
            </a:xfrm>
          </p:grpSpPr>
          <p:sp>
            <p:nvSpPr>
              <p:cNvPr id="42" name="Line 8">
                <a:extLst>
                  <a:ext uri="{FF2B5EF4-FFF2-40B4-BE49-F238E27FC236}">
                    <a16:creationId xmlns:a16="http://schemas.microsoft.com/office/drawing/2014/main" id="{8557DB85-3B84-42F1-9638-59ECFD8C1F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210426" y="5894388"/>
                <a:ext cx="0" cy="155575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3" name="Line 9">
                <a:extLst>
                  <a:ext uri="{FF2B5EF4-FFF2-40B4-BE49-F238E27FC236}">
                    <a16:creationId xmlns:a16="http://schemas.microsoft.com/office/drawing/2014/main" id="{163391FC-08F2-4809-9929-3FB46ECBCC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162801" y="6049963"/>
                <a:ext cx="0" cy="13335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4" name="Line 10">
                <a:extLst>
                  <a:ext uri="{FF2B5EF4-FFF2-40B4-BE49-F238E27FC236}">
                    <a16:creationId xmlns:a16="http://schemas.microsoft.com/office/drawing/2014/main" id="{BB8A8E76-D565-4AE2-8C97-353782A759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256463" y="5894388"/>
                <a:ext cx="0" cy="61913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5" name="Line 11">
                <a:extLst>
                  <a:ext uri="{FF2B5EF4-FFF2-40B4-BE49-F238E27FC236}">
                    <a16:creationId xmlns:a16="http://schemas.microsoft.com/office/drawing/2014/main" id="{A938B062-E1E0-48E9-8700-CFAACDEADD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162801" y="6284913"/>
                <a:ext cx="0" cy="31273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6" name="Line 12">
                <a:extLst>
                  <a:ext uri="{FF2B5EF4-FFF2-40B4-BE49-F238E27FC236}">
                    <a16:creationId xmlns:a16="http://schemas.microsoft.com/office/drawing/2014/main" id="{E573B9B4-508E-4075-B5F4-AB7CBF9B41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319963" y="5956300"/>
                <a:ext cx="0" cy="64135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7" name="Line 13">
                <a:extLst>
                  <a:ext uri="{FF2B5EF4-FFF2-40B4-BE49-F238E27FC236}">
                    <a16:creationId xmlns:a16="http://schemas.microsoft.com/office/drawing/2014/main" id="{C8F35BD4-337C-4A23-89A0-8ABDE405B4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15176" y="6284913"/>
                <a:ext cx="117475" cy="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8" name="Line 14">
                <a:extLst>
                  <a:ext uri="{FF2B5EF4-FFF2-40B4-BE49-F238E27FC236}">
                    <a16:creationId xmlns:a16="http://schemas.microsoft.com/office/drawing/2014/main" id="{499978D7-F7E0-44F8-852E-9E95B8A907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15176" y="6183313"/>
                <a:ext cx="117475" cy="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9" name="Line 20">
                <a:extLst>
                  <a:ext uri="{FF2B5EF4-FFF2-40B4-BE49-F238E27FC236}">
                    <a16:creationId xmlns:a16="http://schemas.microsoft.com/office/drawing/2014/main" id="{3F04BA1A-0C09-4ACB-A6DC-CA980FC8EB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10426" y="5894388"/>
                <a:ext cx="46038" cy="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0" name="Line 21">
                <a:extLst>
                  <a:ext uri="{FF2B5EF4-FFF2-40B4-BE49-F238E27FC236}">
                    <a16:creationId xmlns:a16="http://schemas.microsoft.com/office/drawing/2014/main" id="{02AF827B-5771-42A4-8468-C1BE021F9D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115176" y="6183313"/>
                <a:ext cx="0" cy="10160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1" name="Line 22">
                <a:extLst>
                  <a:ext uri="{FF2B5EF4-FFF2-40B4-BE49-F238E27FC236}">
                    <a16:creationId xmlns:a16="http://schemas.microsoft.com/office/drawing/2014/main" id="{73637420-B396-4133-944D-BDF20CC7EE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232651" y="6183313"/>
                <a:ext cx="0" cy="10160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2" name="Line 23">
                <a:extLst>
                  <a:ext uri="{FF2B5EF4-FFF2-40B4-BE49-F238E27FC236}">
                    <a16:creationId xmlns:a16="http://schemas.microsoft.com/office/drawing/2014/main" id="{7949B9A7-8F39-4646-A64F-2CFBE93A37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232651" y="5737225"/>
                <a:ext cx="0" cy="157163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3" name="Line 26">
                <a:extLst>
                  <a:ext uri="{FF2B5EF4-FFF2-40B4-BE49-F238E27FC236}">
                    <a16:creationId xmlns:a16="http://schemas.microsoft.com/office/drawing/2014/main" id="{733D741A-2CB1-4662-9949-7CB6B671D6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62801" y="6049963"/>
                <a:ext cx="157163" cy="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54" name="Line 27">
                <a:extLst>
                  <a:ext uri="{FF2B5EF4-FFF2-40B4-BE49-F238E27FC236}">
                    <a16:creationId xmlns:a16="http://schemas.microsoft.com/office/drawing/2014/main" id="{EA9AA3E1-3C1C-4727-AE98-8C5D6252A6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10426" y="5956300"/>
                <a:ext cx="109538" cy="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1E010F65-D58C-4C9C-81B7-E30CEE3B1E07}"/>
                </a:ext>
              </a:extLst>
            </p:cNvPr>
            <p:cNvGrpSpPr/>
            <p:nvPr/>
          </p:nvGrpSpPr>
          <p:grpSpPr>
            <a:xfrm>
              <a:off x="356172" y="6165380"/>
              <a:ext cx="1132962" cy="312738"/>
              <a:chOff x="356172" y="6165380"/>
              <a:chExt cx="1132962" cy="312738"/>
            </a:xfrm>
          </p:grpSpPr>
          <p:sp>
            <p:nvSpPr>
              <p:cNvPr id="38" name="Line 24">
                <a:extLst>
                  <a:ext uri="{FF2B5EF4-FFF2-40B4-BE49-F238E27FC236}">
                    <a16:creationId xmlns:a16="http://schemas.microsoft.com/office/drawing/2014/main" id="{8EC67573-D3E5-4335-8C9E-1A88B13F0F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2872" y="6165380"/>
                <a:ext cx="430213" cy="30480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9" name="Line 28">
                <a:extLst>
                  <a:ext uri="{FF2B5EF4-FFF2-40B4-BE49-F238E27FC236}">
                    <a16:creationId xmlns:a16="http://schemas.microsoft.com/office/drawing/2014/main" id="{613D348F-1CF7-4C42-9770-6D872FECD0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6172" y="6165380"/>
                <a:ext cx="266700" cy="312738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0" name="Line 29">
                <a:extLst>
                  <a:ext uri="{FF2B5EF4-FFF2-40B4-BE49-F238E27FC236}">
                    <a16:creationId xmlns:a16="http://schemas.microsoft.com/office/drawing/2014/main" id="{04D03B01-0A03-4BDF-B7E1-DA0B802CC0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24497" y="6181255"/>
                <a:ext cx="166688" cy="196850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1" name="Line 24">
                <a:extLst>
                  <a:ext uri="{FF2B5EF4-FFF2-40B4-BE49-F238E27FC236}">
                    <a16:creationId xmlns:a16="http://schemas.microsoft.com/office/drawing/2014/main" id="{4313C8A3-3439-4FF2-B39A-940B7B9BE9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81328" y="6181255"/>
                <a:ext cx="407806" cy="288925"/>
              </a:xfrm>
              <a:prstGeom prst="line">
                <a:avLst/>
              </a:prstGeom>
              <a:noFill/>
              <a:ln w="19050">
                <a:solidFill>
                  <a:srgbClr val="5D5DC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</p:grp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7E090CA-FDE9-4186-A298-407E61DFE875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0ABA4E1-8AB1-4D2A-AD41-E3DC7498F1BD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765175"/>
            <a:ext cx="4105275" cy="5472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14875" y="765175"/>
            <a:ext cx="4105275" cy="5472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466BCAA-7FE8-48C5-92BA-4F50C4CCA44A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82DBB49-DD30-4033-BFF2-9E4137615BC7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F20711C-4FEB-4201-90D7-C8162A339152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C2E6DF2-4702-471B-B748-EBB1E9F8540C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53F73FC-E84B-456C-9BCF-090633B1A5B1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EEDC3D2-928F-423B-9B93-F89670AF97B4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1ADB9EB-5F16-4B08-8412-4F97BE319F6D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29413" y="44450"/>
            <a:ext cx="2090737" cy="6192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4450"/>
            <a:ext cx="6119813" cy="6192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473F6EC-E7C4-4555-B684-C67EA2778FD7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195" name="Group 19"/>
          <p:cNvGrpSpPr>
            <a:grpSpLocks/>
          </p:cNvGrpSpPr>
          <p:nvPr userDrawn="1"/>
        </p:nvGrpSpPr>
        <p:grpSpPr bwMode="auto">
          <a:xfrm>
            <a:off x="0" y="0"/>
            <a:ext cx="9144000" cy="566738"/>
            <a:chOff x="0" y="0"/>
            <a:chExt cx="5760" cy="357"/>
          </a:xfrm>
        </p:grpSpPr>
        <p:sp>
          <p:nvSpPr>
            <p:cNvPr id="178181" name="Rectangle 5"/>
            <p:cNvSpPr>
              <a:spLocks noChangeArrowheads="1"/>
            </p:cNvSpPr>
            <p:nvPr userDrawn="1"/>
          </p:nvSpPr>
          <p:spPr bwMode="auto">
            <a:xfrm>
              <a:off x="0" y="0"/>
              <a:ext cx="180" cy="344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8182" name="Rectangle 6"/>
            <p:cNvSpPr>
              <a:spLocks noChangeArrowheads="1"/>
            </p:cNvSpPr>
            <p:nvPr userDrawn="1"/>
          </p:nvSpPr>
          <p:spPr bwMode="auto">
            <a:xfrm>
              <a:off x="238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rgbClr val="FFFFCC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8183" name="Rectangle 7"/>
            <p:cNvSpPr>
              <a:spLocks noChangeArrowheads="1"/>
            </p:cNvSpPr>
            <p:nvPr userDrawn="1"/>
          </p:nvSpPr>
          <p:spPr bwMode="auto">
            <a:xfrm>
              <a:off x="236" y="85"/>
              <a:ext cx="87" cy="89"/>
            </a:xfrm>
            <a:prstGeom prst="rect">
              <a:avLst/>
            </a:prstGeom>
            <a:solidFill>
              <a:srgbClr val="33CC33">
                <a:alpha val="14999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178184" name="Rectangle 8"/>
            <p:cNvSpPr>
              <a:spLocks noChangeArrowheads="1"/>
            </p:cNvSpPr>
            <p:nvPr userDrawn="1"/>
          </p:nvSpPr>
          <p:spPr bwMode="auto">
            <a:xfrm>
              <a:off x="323" y="0"/>
              <a:ext cx="88" cy="87"/>
            </a:xfrm>
            <a:prstGeom prst="rect">
              <a:avLst/>
            </a:prstGeom>
            <a:solidFill>
              <a:srgbClr val="33CC33">
                <a:alpha val="14999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178185" name="Rectangle 9"/>
            <p:cNvSpPr>
              <a:spLocks noChangeArrowheads="1"/>
            </p:cNvSpPr>
            <p:nvPr userDrawn="1"/>
          </p:nvSpPr>
          <p:spPr bwMode="auto">
            <a:xfrm>
              <a:off x="323" y="85"/>
              <a:ext cx="88" cy="89"/>
            </a:xfrm>
            <a:prstGeom prst="rect">
              <a:avLst/>
            </a:prstGeom>
            <a:solidFill>
              <a:srgbClr val="33CC33">
                <a:alpha val="3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178186" name="Rectangle 10"/>
            <p:cNvSpPr>
              <a:spLocks noChangeArrowheads="1"/>
            </p:cNvSpPr>
            <p:nvPr userDrawn="1"/>
          </p:nvSpPr>
          <p:spPr bwMode="auto">
            <a:xfrm>
              <a:off x="151" y="173"/>
              <a:ext cx="86" cy="87"/>
            </a:xfrm>
            <a:prstGeom prst="rect">
              <a:avLst/>
            </a:prstGeom>
            <a:solidFill>
              <a:srgbClr val="33CC33">
                <a:alpha val="14999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178187" name="Rectangle 11"/>
            <p:cNvSpPr>
              <a:spLocks noChangeArrowheads="1"/>
            </p:cNvSpPr>
            <p:nvPr userDrawn="1"/>
          </p:nvSpPr>
          <p:spPr bwMode="auto">
            <a:xfrm>
              <a:off x="61" y="86"/>
              <a:ext cx="89" cy="87"/>
            </a:xfrm>
            <a:prstGeom prst="rect">
              <a:avLst/>
            </a:prstGeom>
            <a:solidFill>
              <a:srgbClr val="FF00FF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  <p:sp>
          <p:nvSpPr>
            <p:cNvPr id="178188" name="Rectangle 12"/>
            <p:cNvSpPr>
              <a:spLocks noChangeArrowheads="1"/>
            </p:cNvSpPr>
            <p:nvPr userDrawn="1"/>
          </p:nvSpPr>
          <p:spPr bwMode="auto">
            <a:xfrm>
              <a:off x="236" y="171"/>
              <a:ext cx="87" cy="87"/>
            </a:xfrm>
            <a:prstGeom prst="rect">
              <a:avLst/>
            </a:prstGeom>
            <a:solidFill>
              <a:srgbClr val="33CC33">
                <a:alpha val="3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178189" name="Rectangle 13"/>
            <p:cNvSpPr>
              <a:spLocks noChangeArrowheads="1"/>
            </p:cNvSpPr>
            <p:nvPr userDrawn="1"/>
          </p:nvSpPr>
          <p:spPr bwMode="auto">
            <a:xfrm>
              <a:off x="151" y="258"/>
              <a:ext cx="86" cy="86"/>
            </a:xfrm>
            <a:prstGeom prst="rect">
              <a:avLst/>
            </a:prstGeom>
            <a:solidFill>
              <a:srgbClr val="33CC33">
                <a:alpha val="3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1800" b="0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178193" name="Rectangle 17"/>
            <p:cNvSpPr>
              <a:spLocks noChangeArrowheads="1"/>
            </p:cNvSpPr>
            <p:nvPr userDrawn="1"/>
          </p:nvSpPr>
          <p:spPr bwMode="auto">
            <a:xfrm>
              <a:off x="0" y="328"/>
              <a:ext cx="5760" cy="29"/>
            </a:xfrm>
            <a:prstGeom prst="rect">
              <a:avLst/>
            </a:prstGeom>
            <a:gradFill rotWithShape="0">
              <a:gsLst>
                <a:gs pos="0">
                  <a:schemeClr val="bg2">
                    <a:alpha val="39999"/>
                  </a:schemeClr>
                </a:gs>
                <a:gs pos="100000">
                  <a:schemeClr val="bg1">
                    <a:alpha val="10001"/>
                  </a:scheme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l">
                <a:spcBef>
                  <a:spcPct val="0"/>
                </a:spcBef>
              </a:pPr>
              <a:endParaRPr lang="zh-CN" altLang="en-US" sz="2400" b="0"/>
            </a:p>
          </p:txBody>
        </p:sp>
      </p:grpSp>
      <p:sp>
        <p:nvSpPr>
          <p:cNvPr id="17817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b="0">
                <a:latin typeface="+mj-lt"/>
              </a:defRPr>
            </a:lvl1pPr>
          </a:lstStyle>
          <a:p>
            <a:endParaRPr lang="en-US" altLang="zh-CN"/>
          </a:p>
        </p:txBody>
      </p:sp>
      <p:sp>
        <p:nvSpPr>
          <p:cNvPr id="17817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b="0">
                <a:latin typeface="Arial Black" pitchFamily="34" charset="0"/>
              </a:defRPr>
            </a:lvl1pPr>
          </a:lstStyle>
          <a:p>
            <a:fld id="{CDE23294-77CD-41D1-8E06-07BD922CD88C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78190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590550" y="44450"/>
            <a:ext cx="82296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78191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765175"/>
            <a:ext cx="8362950" cy="5472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7819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200" b="0">
                <a:latin typeface="+mj-lt"/>
              </a:defRPr>
            </a:lvl1pPr>
          </a:lstStyle>
          <a:p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transition spd="med"/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chemeClr val="bg2"/>
          </a:solidFill>
          <a:latin typeface="Arial" charset="0"/>
          <a:ea typeface="黑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19138" indent="-363538" algn="l" rtl="0" fontAlgn="base">
        <a:spcBef>
          <a:spcPct val="20000"/>
        </a:spcBef>
        <a:spcAft>
          <a:spcPct val="0"/>
        </a:spcAft>
        <a:buClr>
          <a:srgbClr val="006600"/>
        </a:buClr>
        <a:buSzPct val="75000"/>
        <a:buFont typeface="Wingdings" pitchFamily="2" charset="2"/>
        <a:buChar char="l"/>
        <a:defRPr sz="2800" b="1">
          <a:solidFill>
            <a:schemeClr val="tx1"/>
          </a:solidFill>
          <a:latin typeface="+mn-lt"/>
          <a:ea typeface="+mn-ea"/>
        </a:defRPr>
      </a:lvl2pPr>
      <a:lvl3pPr marL="1074738" indent="-355600" algn="l" rtl="0" fontAlgn="base">
        <a:spcBef>
          <a:spcPct val="20000"/>
        </a:spcBef>
        <a:spcAft>
          <a:spcPct val="0"/>
        </a:spcAft>
        <a:buClr>
          <a:srgbClr val="FF6600"/>
        </a:buClr>
        <a:buSzPct val="65000"/>
        <a:buFont typeface="Wingdings" pitchFamily="2" charset="2"/>
        <a:buChar char="p"/>
        <a:defRPr sz="2800" b="1">
          <a:solidFill>
            <a:schemeClr val="tx1"/>
          </a:solidFill>
          <a:latin typeface="+mn-lt"/>
          <a:ea typeface="楷体" panose="02010609060101010101" pitchFamily="49" charset="-122"/>
        </a:defRPr>
      </a:lvl3pPr>
      <a:lvl4pPr marL="1439863" indent="-365125" algn="l" rtl="0" fontAlgn="base">
        <a:spcBef>
          <a:spcPct val="20000"/>
        </a:spcBef>
        <a:spcAft>
          <a:spcPct val="0"/>
        </a:spcAft>
        <a:buClr>
          <a:srgbClr val="FF0066"/>
        </a:buClr>
        <a:buSzPct val="75000"/>
        <a:buFont typeface="Wingdings" pitchFamily="2" charset="2"/>
        <a:buChar char="u"/>
        <a:defRPr sz="2400" b="1">
          <a:solidFill>
            <a:schemeClr val="tx1"/>
          </a:solidFill>
          <a:latin typeface="+mn-lt"/>
          <a:ea typeface="楷体" panose="02010609060101010101" pitchFamily="49" charset="-122"/>
        </a:defRPr>
      </a:lvl4pPr>
      <a:lvl5pPr marL="1795463" indent="-355600" algn="l" rtl="0" fontAlgn="base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itchFamily="2" charset="2"/>
        <a:buChar char="ü"/>
        <a:defRPr sz="2400" b="1">
          <a:solidFill>
            <a:schemeClr val="tx1"/>
          </a:solidFill>
          <a:latin typeface="+mn-lt"/>
          <a:ea typeface="楷体" panose="02010609060101010101" pitchFamily="49" charset="-122"/>
        </a:defRPr>
      </a:lvl5pPr>
      <a:lvl6pPr marL="2787650" indent="-271463" algn="l" rtl="0" fontAlgn="base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itchFamily="2" charset="2"/>
        <a:buChar char="ü"/>
        <a:defRPr sz="2400" b="1">
          <a:solidFill>
            <a:schemeClr val="tx1"/>
          </a:solidFill>
          <a:latin typeface="+mn-lt"/>
          <a:ea typeface="楷体_GB2312" pitchFamily="49" charset="-122"/>
        </a:defRPr>
      </a:lvl6pPr>
      <a:lvl7pPr marL="3244850" indent="-271463" algn="l" rtl="0" fontAlgn="base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itchFamily="2" charset="2"/>
        <a:buChar char="ü"/>
        <a:defRPr sz="2400" b="1">
          <a:solidFill>
            <a:schemeClr val="tx1"/>
          </a:solidFill>
          <a:latin typeface="+mn-lt"/>
          <a:ea typeface="楷体_GB2312" pitchFamily="49" charset="-122"/>
        </a:defRPr>
      </a:lvl7pPr>
      <a:lvl8pPr marL="3702050" indent="-271463" algn="l" rtl="0" fontAlgn="base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itchFamily="2" charset="2"/>
        <a:buChar char="ü"/>
        <a:defRPr sz="2400" b="1">
          <a:solidFill>
            <a:schemeClr val="tx1"/>
          </a:solidFill>
          <a:latin typeface="+mn-lt"/>
          <a:ea typeface="楷体_GB2312" pitchFamily="49" charset="-122"/>
        </a:defRPr>
      </a:lvl8pPr>
      <a:lvl9pPr marL="4159250" indent="-271463" algn="l" rtl="0" fontAlgn="base">
        <a:spcBef>
          <a:spcPct val="20000"/>
        </a:spcBef>
        <a:spcAft>
          <a:spcPct val="0"/>
        </a:spcAft>
        <a:buClr>
          <a:srgbClr val="0066FF"/>
        </a:buClr>
        <a:buSzPct val="75000"/>
        <a:buFont typeface="Wingdings" pitchFamily="2" charset="2"/>
        <a:buChar char="ü"/>
        <a:defRPr sz="2400" b="1">
          <a:solidFill>
            <a:schemeClr val="tx1"/>
          </a:solidFill>
          <a:latin typeface="+mn-lt"/>
          <a:ea typeface="楷体_GB2312" pitchFamily="49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3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3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3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4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7.emf"/><Relationship Id="rId4" Type="http://schemas.openxmlformats.org/officeDocument/2006/relationships/package" Target="../embeddings/Microsoft_Visio_Drawing.vsdx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5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8.w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0.wmf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96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95288" y="1700213"/>
            <a:ext cx="8604250" cy="2592387"/>
          </a:xfrm>
          <a:noFill/>
          <a:ln/>
        </p:spPr>
        <p:txBody>
          <a:bodyPr anchor="ctr"/>
          <a:lstStyle/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计算机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组成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与</a:t>
            </a:r>
            <a:r>
              <a:rPr lang="zh-CN" altLang="en-US" sz="4000" b="0" dirty="0">
                <a:solidFill>
                  <a:srgbClr val="FFCC00"/>
                </a:solidFill>
                <a:latin typeface="Arial" charset="0"/>
                <a:ea typeface="黑体" pitchFamily="2" charset="-122"/>
              </a:rPr>
              <a:t>系统结构</a:t>
            </a:r>
            <a:endParaRPr lang="zh-CN" altLang="en-US" sz="4000" b="0" dirty="0">
              <a:solidFill>
                <a:srgbClr val="FFFFFF"/>
              </a:solidFill>
              <a:latin typeface="Arial" charset="0"/>
              <a:ea typeface="黑体" pitchFamily="2" charset="-122"/>
            </a:endParaRPr>
          </a:p>
          <a:p>
            <a:pPr>
              <a:spcBef>
                <a:spcPct val="0"/>
              </a:spcBef>
              <a:buClrTx/>
              <a:buFont typeface="Arial" charset="0"/>
              <a:buNone/>
            </a:pP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第</a:t>
            </a:r>
            <a:r>
              <a:rPr lang="en-US" altLang="zh-CN" sz="73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2</a:t>
            </a: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章  计算机系统中的</a:t>
            </a:r>
            <a:b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</a:br>
            <a:r>
              <a:rPr lang="zh-CN" altLang="en-US" sz="4000" b="0" dirty="0">
                <a:solidFill>
                  <a:srgbClr val="FFFFFF"/>
                </a:solidFill>
                <a:latin typeface="Arial" charset="0"/>
                <a:ea typeface="黑体" pitchFamily="2" charset="-122"/>
              </a:rPr>
              <a:t>数据表示</a:t>
            </a:r>
          </a:p>
        </p:txBody>
      </p:sp>
      <p:sp>
        <p:nvSpPr>
          <p:cNvPr id="1192963" name="Rectangle 3"/>
          <p:cNvSpPr>
            <a:spLocks noChangeArrowheads="1"/>
          </p:cNvSpPr>
          <p:nvPr/>
        </p:nvSpPr>
        <p:spPr bwMode="auto">
          <a:xfrm>
            <a:off x="1979613" y="4579938"/>
            <a:ext cx="6985000" cy="649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sz="3800" dirty="0">
                <a:ea typeface="楷体" panose="02010609060101010101" pitchFamily="49" charset="-122"/>
              </a:rPr>
              <a:t>2.6  </a:t>
            </a:r>
            <a:r>
              <a:rPr lang="zh-CN" altLang="en-US" sz="3800" dirty="0">
                <a:ea typeface="楷体" panose="02010609060101010101" pitchFamily="49" charset="-122"/>
              </a:rPr>
              <a:t>检错与纠错码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92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92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92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192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92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929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92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92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82C051-28C3-4B92-82DE-722B53446E15}" type="slidenum">
              <a:rPr lang="zh-CN" altLang="en-US"/>
              <a:pPr/>
              <a:t>2</a:t>
            </a:fld>
            <a:endParaRPr lang="en-US" altLang="zh-CN"/>
          </a:p>
        </p:txBody>
      </p:sp>
      <p:sp>
        <p:nvSpPr>
          <p:cNvPr id="132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2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549275"/>
            <a:ext cx="8362950" cy="6192838"/>
          </a:xfrm>
        </p:spPr>
        <p:txBody>
          <a:bodyPr/>
          <a:lstStyle/>
          <a:p>
            <a:r>
              <a:rPr lang="zh-CN" altLang="en-US"/>
              <a:t>数据出错的原因：</a:t>
            </a:r>
          </a:p>
          <a:p>
            <a:pPr lvl="1"/>
            <a:r>
              <a:rPr lang="zh-CN" altLang="en-US"/>
              <a:t>元器件故障；</a:t>
            </a:r>
          </a:p>
          <a:p>
            <a:pPr lvl="1"/>
            <a:r>
              <a:rPr lang="zh-CN" altLang="en-US"/>
              <a:t>存储介质；</a:t>
            </a:r>
          </a:p>
          <a:p>
            <a:pPr lvl="1"/>
            <a:r>
              <a:rPr lang="zh-CN" altLang="en-US"/>
              <a:t>通信过程中的噪声干扰。</a:t>
            </a:r>
          </a:p>
          <a:p>
            <a:r>
              <a:rPr lang="zh-CN" altLang="en-US"/>
              <a:t>如何减少或避免数据错误：</a:t>
            </a:r>
          </a:p>
          <a:p>
            <a:pPr lvl="1"/>
            <a:r>
              <a:rPr lang="zh-CN" altLang="en-US"/>
              <a:t>提高计算机系统硬件本身的可靠性。</a:t>
            </a:r>
          </a:p>
          <a:p>
            <a:pPr lvl="2"/>
            <a:r>
              <a:rPr lang="zh-CN" altLang="en-US" sz="2400"/>
              <a:t>在电路、电源、布线等各方面采取必要的措施，提高计算机系统的抗干扰能力。</a:t>
            </a:r>
          </a:p>
          <a:p>
            <a:pPr lvl="2"/>
            <a:r>
              <a:rPr lang="zh-CN" altLang="en-US" sz="2400"/>
              <a:t>改进生产工艺，提高器件的可靠性。</a:t>
            </a:r>
          </a:p>
          <a:p>
            <a:pPr lvl="1"/>
            <a:r>
              <a:rPr lang="zh-CN" altLang="en-US"/>
              <a:t>采取数据检错和校正措施：在每个字中添加一些校验位，用来确定字中出现错误的位置。</a:t>
            </a:r>
          </a:p>
          <a:p>
            <a:r>
              <a:rPr lang="zh-CN" altLang="en-US"/>
              <a:t>经济成本、设计目标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CF4A88-7F4F-4307-999F-9137D836C206}" type="slidenum">
              <a:rPr lang="zh-CN" altLang="en-US"/>
              <a:pPr/>
              <a:t>3</a:t>
            </a:fld>
            <a:endParaRPr lang="en-US" altLang="zh-CN"/>
          </a:p>
        </p:txBody>
      </p:sp>
      <p:sp>
        <p:nvSpPr>
          <p:cNvPr id="132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590550" y="601663"/>
            <a:ext cx="8229600" cy="523875"/>
          </a:xfrm>
        </p:spPr>
        <p:txBody>
          <a:bodyPr/>
          <a:lstStyle/>
          <a:p>
            <a:r>
              <a:rPr lang="en-US" altLang="zh-CN" sz="3200" dirty="0"/>
              <a:t>2.6  </a:t>
            </a:r>
            <a:r>
              <a:rPr lang="zh-CN" altLang="en-US" sz="3200" dirty="0"/>
              <a:t>检错与纠错码</a:t>
            </a:r>
          </a:p>
        </p:txBody>
      </p:sp>
      <p:sp>
        <p:nvSpPr>
          <p:cNvPr id="132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584" y="2879476"/>
            <a:ext cx="6564664" cy="2736305"/>
          </a:xfrm>
        </p:spPr>
        <p:txBody>
          <a:bodyPr/>
          <a:lstStyle/>
          <a:p>
            <a:r>
              <a:rPr lang="zh-CN" altLang="en-US" dirty="0"/>
              <a:t>奇偶校验码</a:t>
            </a:r>
            <a:endParaRPr lang="en-US" altLang="zh-CN" dirty="0"/>
          </a:p>
          <a:p>
            <a:r>
              <a:rPr lang="zh-CN" altLang="en-US" dirty="0"/>
              <a:t>海明码</a:t>
            </a:r>
          </a:p>
          <a:p>
            <a:r>
              <a:rPr lang="zh-CN" altLang="en-US" dirty="0"/>
              <a:t>循环冗余校验码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43F902F-3FDA-4DF6-9A36-4122FD6DD9F8}"/>
              </a:ext>
            </a:extLst>
          </p:cNvPr>
          <p:cNvGrpSpPr/>
          <p:nvPr/>
        </p:nvGrpSpPr>
        <p:grpSpPr>
          <a:xfrm>
            <a:off x="588246" y="1556816"/>
            <a:ext cx="4246148" cy="1008112"/>
            <a:chOff x="588246" y="1556816"/>
            <a:chExt cx="4246148" cy="1008112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F78A5524-5798-453F-B707-625BF7C6B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6F6F6"/>
                </a:clrFrom>
                <a:clrTo>
                  <a:srgbClr val="F6F6F6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88246" y="1556816"/>
              <a:ext cx="886853" cy="1008112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0F57F4DA-2244-470F-82DC-BE95F7198B18}"/>
                </a:ext>
              </a:extLst>
            </p:cNvPr>
            <p:cNvSpPr/>
            <p:nvPr/>
          </p:nvSpPr>
          <p:spPr>
            <a:xfrm>
              <a:off x="1403648" y="1969676"/>
              <a:ext cx="343074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>
                  <a:solidFill>
                    <a:srgbClr val="FF0066"/>
                  </a:solidFill>
                </a:rPr>
                <a:t>码距</a:t>
              </a:r>
              <a:r>
                <a:rPr lang="zh-CN" altLang="en-US" dirty="0"/>
                <a:t>与</a:t>
              </a:r>
              <a:r>
                <a:rPr lang="zh-CN" altLang="en-US" dirty="0">
                  <a:solidFill>
                    <a:srgbClr val="0000FF"/>
                  </a:solidFill>
                </a:rPr>
                <a:t>校验位</a:t>
              </a:r>
              <a:r>
                <a:rPr lang="zh-CN" altLang="en-US" dirty="0"/>
                <a:t>的</a:t>
              </a:r>
              <a:r>
                <a:rPr lang="zh-CN" altLang="en-US" dirty="0">
                  <a:solidFill>
                    <a:srgbClr val="0000FF"/>
                  </a:solidFill>
                </a:rPr>
                <a:t>位数</a:t>
              </a:r>
              <a:endParaRPr lang="zh-CN" altLang="en-US" dirty="0"/>
            </a:p>
          </p:txBody>
        </p:sp>
      </p:grp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20FF83-27D6-49BA-B77F-9613D58FA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</a:t>
            </a:r>
            <a:r>
              <a:rPr lang="zh-CN" altLang="en-US" dirty="0">
                <a:solidFill>
                  <a:srgbClr val="FF6600"/>
                </a:solidFill>
              </a:rPr>
              <a:t>码距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009900"/>
                </a:solidFill>
              </a:rPr>
              <a:t>校验位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9900"/>
                </a:solidFill>
              </a:rPr>
              <a:t>位数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0FEE87-302E-4B01-88BB-94DA54BA9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632961"/>
            <a:ext cx="8712968" cy="2448282"/>
          </a:xfrm>
        </p:spPr>
        <p:txBody>
          <a:bodyPr/>
          <a:lstStyle/>
          <a:p>
            <a:r>
              <a:rPr lang="zh-CN" altLang="en-US" dirty="0"/>
              <a:t>假设</a:t>
            </a:r>
            <a:r>
              <a:rPr lang="zh-CN" altLang="en-US" dirty="0">
                <a:solidFill>
                  <a:srgbClr val="FF0000"/>
                </a:solidFill>
              </a:rPr>
              <a:t>数据</a:t>
            </a:r>
            <a:r>
              <a:rPr lang="zh-CN" altLang="en-US" dirty="0"/>
              <a:t>有</a:t>
            </a:r>
            <a:r>
              <a:rPr lang="en-US" altLang="zh-CN" i="1" dirty="0">
                <a:solidFill>
                  <a:srgbClr val="FF0000"/>
                </a:solidFill>
              </a:rPr>
              <a:t>n</a:t>
            </a:r>
            <a:r>
              <a:rPr lang="zh-CN" altLang="en-US" dirty="0">
                <a:solidFill>
                  <a:srgbClr val="FF0000"/>
                </a:solidFill>
              </a:rPr>
              <a:t>位</a:t>
            </a:r>
            <a:r>
              <a:rPr lang="zh-CN" altLang="en-US" dirty="0"/>
              <a:t>，为了具备</a:t>
            </a:r>
            <a:r>
              <a:rPr lang="zh-CN" altLang="en-US" dirty="0">
                <a:solidFill>
                  <a:srgbClr val="0000FF"/>
                </a:solidFill>
              </a:rPr>
              <a:t>检错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0000FF"/>
                </a:solidFill>
              </a:rPr>
              <a:t>纠错</a:t>
            </a:r>
            <a:r>
              <a:rPr lang="zh-CN" altLang="en-US" dirty="0"/>
              <a:t>能力，</a:t>
            </a:r>
            <a:br>
              <a:rPr lang="en-US" altLang="zh-CN" dirty="0"/>
            </a:br>
            <a:r>
              <a:rPr lang="zh-CN" altLang="en-US" dirty="0"/>
              <a:t>必须增添 </a:t>
            </a:r>
            <a:r>
              <a:rPr lang="en-US" altLang="zh-CN" i="1" dirty="0">
                <a:solidFill>
                  <a:srgbClr val="FF0066"/>
                </a:solidFill>
              </a:rPr>
              <a:t>k</a:t>
            </a:r>
            <a:r>
              <a:rPr lang="zh-CN" altLang="en-US" dirty="0">
                <a:solidFill>
                  <a:srgbClr val="FF0066"/>
                </a:solidFill>
              </a:rPr>
              <a:t>位</a:t>
            </a:r>
            <a:r>
              <a:rPr lang="zh-CN" altLang="en-US" dirty="0">
                <a:solidFill>
                  <a:srgbClr val="FF6600"/>
                </a:solidFill>
              </a:rPr>
              <a:t>校验位</a:t>
            </a:r>
            <a:r>
              <a:rPr lang="zh-CN" altLang="en-US" dirty="0"/>
              <a:t>，</a:t>
            </a:r>
            <a:br>
              <a:rPr lang="en-US" altLang="zh-CN" dirty="0"/>
            </a:br>
            <a:r>
              <a:rPr lang="zh-CN" altLang="en-US" dirty="0"/>
              <a:t>则“数据＋校验位”共 </a:t>
            </a:r>
            <a:r>
              <a:rPr lang="en-US" altLang="zh-CN" i="1" dirty="0"/>
              <a:t>m</a:t>
            </a:r>
            <a:r>
              <a:rPr lang="zh-CN" altLang="en-US" dirty="0"/>
              <a:t>＝</a:t>
            </a:r>
            <a:r>
              <a:rPr lang="en-US" altLang="zh-CN" i="1" dirty="0"/>
              <a:t>n</a:t>
            </a:r>
            <a:r>
              <a:rPr lang="zh-CN" altLang="en-US" dirty="0"/>
              <a:t>＋</a:t>
            </a:r>
            <a:r>
              <a:rPr lang="en-US" altLang="zh-CN" i="1" dirty="0"/>
              <a:t>k </a:t>
            </a:r>
            <a:r>
              <a:rPr lang="zh-CN" altLang="en-US" dirty="0"/>
              <a:t>位，称为</a:t>
            </a:r>
            <a:r>
              <a:rPr lang="en-US" altLang="zh-CN" i="1" dirty="0"/>
              <a:t>m</a:t>
            </a:r>
            <a:r>
              <a:rPr lang="zh-CN" altLang="en-US" dirty="0"/>
              <a:t>位</a:t>
            </a:r>
            <a:r>
              <a:rPr lang="zh-CN" altLang="en-US" dirty="0">
                <a:solidFill>
                  <a:srgbClr val="009900"/>
                </a:solidFill>
              </a:rPr>
              <a:t>码字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两个码字之间</a:t>
            </a:r>
            <a:r>
              <a:rPr lang="zh-CN" altLang="en-US" dirty="0">
                <a:solidFill>
                  <a:srgbClr val="0000FF"/>
                </a:solidFill>
              </a:rPr>
              <a:t>对应位置</a:t>
            </a:r>
            <a:r>
              <a:rPr lang="zh-CN" altLang="en-US" dirty="0">
                <a:solidFill>
                  <a:srgbClr val="006600"/>
                </a:solidFill>
              </a:rPr>
              <a:t>数值不同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C0000"/>
                </a:solidFill>
              </a:rPr>
              <a:t>位置数</a:t>
            </a:r>
            <a:r>
              <a:rPr lang="zh-CN" altLang="en-US" dirty="0"/>
              <a:t>目称为两个码字的</a:t>
            </a:r>
            <a:r>
              <a:rPr lang="zh-CN" altLang="en-US" dirty="0">
                <a:solidFill>
                  <a:srgbClr val="FF6600"/>
                </a:solidFill>
                <a:ea typeface="黑体" pitchFamily="2" charset="-122"/>
              </a:rPr>
              <a:t>海明码距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16CDAD-6970-468C-9471-593E2204C9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E090CA-FDE9-4186-A298-407E61DFE875}" type="slidenum">
              <a:rPr lang="zh-CN" altLang="en-US" smtClean="0"/>
              <a:pPr/>
              <a:t>4</a:t>
            </a:fld>
            <a:endParaRPr lang="en-US" altLang="zh-CN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FF51891-F55C-40C5-8507-DEA713F0D4E1}"/>
              </a:ext>
            </a:extLst>
          </p:cNvPr>
          <p:cNvSpPr/>
          <p:nvPr/>
        </p:nvSpPr>
        <p:spPr>
          <a:xfrm>
            <a:off x="7452320" y="1052736"/>
            <a:ext cx="16289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9900"/>
                </a:solidFill>
                <a:latin typeface="+mn-ea"/>
                <a:ea typeface="+mn-ea"/>
              </a:rPr>
              <a:t>(</a:t>
            </a:r>
            <a:r>
              <a:rPr lang="zh-CN" altLang="en-US" dirty="0">
                <a:solidFill>
                  <a:srgbClr val="009900"/>
                </a:solidFill>
                <a:latin typeface="+mn-ea"/>
                <a:ea typeface="+mn-ea"/>
              </a:rPr>
              <a:t>编码字</a:t>
            </a:r>
            <a:r>
              <a:rPr lang="en-US" altLang="zh-CN" dirty="0">
                <a:solidFill>
                  <a:srgbClr val="009900"/>
                </a:solidFill>
                <a:latin typeface="+mn-ea"/>
                <a:ea typeface="+mn-ea"/>
              </a:rPr>
              <a:t>)</a:t>
            </a:r>
            <a:endParaRPr lang="zh-CN" altLang="en-US" dirty="0">
              <a:solidFill>
                <a:srgbClr val="009900"/>
              </a:solidFill>
              <a:latin typeface="+mn-ea"/>
              <a:ea typeface="+mn-ea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FCB83081-0F51-4111-BF61-565E4EC10323}"/>
              </a:ext>
            </a:extLst>
          </p:cNvPr>
          <p:cNvSpPr txBox="1">
            <a:spLocks/>
          </p:cNvSpPr>
          <p:nvPr/>
        </p:nvSpPr>
        <p:spPr bwMode="auto">
          <a:xfrm>
            <a:off x="590550" y="2936745"/>
            <a:ext cx="8337934" cy="1223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138" indent="-363538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4738" indent="-355600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9863" indent="-365125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463" indent="-35560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 marL="0" indent="0">
              <a:buNone/>
            </a:pPr>
            <a:r>
              <a:rPr lang="zh-CN" altLang="en-US" kern="0" dirty="0"/>
              <a:t>设码字 </a:t>
            </a:r>
            <a:r>
              <a:rPr lang="en-US" altLang="zh-CN" i="1" kern="0" dirty="0"/>
              <a:t>x </a:t>
            </a:r>
            <a:r>
              <a:rPr lang="zh-CN" altLang="en-US" kern="0" dirty="0"/>
              <a:t>＝ </a:t>
            </a:r>
            <a:r>
              <a:rPr lang="en-US" altLang="zh-CN" i="1" kern="0" dirty="0"/>
              <a:t>x</a:t>
            </a:r>
            <a:r>
              <a:rPr lang="en-US" altLang="zh-CN" i="1" kern="0" baseline="-25000" dirty="0"/>
              <a:t>m</a:t>
            </a:r>
            <a:r>
              <a:rPr lang="en-US" altLang="zh-CN" kern="0" baseline="-25000" dirty="0"/>
              <a:t>-1 </a:t>
            </a:r>
            <a:r>
              <a:rPr lang="en-US" altLang="zh-CN" i="1" kern="0" dirty="0"/>
              <a:t>x</a:t>
            </a:r>
            <a:r>
              <a:rPr lang="en-US" altLang="zh-CN" i="1" kern="0" baseline="-25000" dirty="0"/>
              <a:t>m</a:t>
            </a:r>
            <a:r>
              <a:rPr lang="en-US" altLang="zh-CN" kern="0" baseline="-25000" dirty="0"/>
              <a:t>-2</a:t>
            </a:r>
            <a:r>
              <a:rPr lang="en-US" altLang="zh-CN" kern="0" dirty="0">
                <a:latin typeface="+mn-ea"/>
              </a:rPr>
              <a:t>…</a:t>
            </a:r>
            <a:r>
              <a:rPr lang="en-US" altLang="zh-CN" kern="0" dirty="0"/>
              <a:t> </a:t>
            </a:r>
            <a:r>
              <a:rPr lang="en-US" altLang="zh-CN" i="1" kern="0" dirty="0"/>
              <a:t>x</a:t>
            </a:r>
            <a:r>
              <a:rPr lang="en-US" altLang="zh-CN" kern="0" baseline="-25000" dirty="0"/>
              <a:t>0</a:t>
            </a:r>
            <a:r>
              <a:rPr lang="en-US" altLang="zh-CN" kern="0" dirty="0"/>
              <a:t> </a:t>
            </a:r>
            <a:r>
              <a:rPr lang="zh-CN" altLang="en-US" kern="0" dirty="0"/>
              <a:t>和 </a:t>
            </a:r>
            <a:r>
              <a:rPr lang="en-US" altLang="zh-CN" i="1" kern="0" dirty="0"/>
              <a:t>y </a:t>
            </a:r>
            <a:r>
              <a:rPr lang="zh-CN" altLang="en-US" kern="0" dirty="0"/>
              <a:t>＝ </a:t>
            </a:r>
            <a:r>
              <a:rPr lang="en-US" altLang="zh-CN" i="1" kern="0" dirty="0"/>
              <a:t>y</a:t>
            </a:r>
            <a:r>
              <a:rPr lang="en-US" altLang="zh-CN" i="1" kern="0" baseline="-25000" dirty="0"/>
              <a:t>m</a:t>
            </a:r>
            <a:r>
              <a:rPr lang="en-US" altLang="zh-CN" kern="0" baseline="-25000" dirty="0"/>
              <a:t>-1 </a:t>
            </a:r>
            <a:r>
              <a:rPr lang="en-US" altLang="zh-CN" i="1" kern="0" dirty="0"/>
              <a:t>y</a:t>
            </a:r>
            <a:r>
              <a:rPr lang="en-US" altLang="zh-CN" i="1" kern="0" baseline="-25000" dirty="0"/>
              <a:t>m</a:t>
            </a:r>
            <a:r>
              <a:rPr lang="en-US" altLang="zh-CN" kern="0" baseline="-25000" dirty="0"/>
              <a:t>-2</a:t>
            </a:r>
            <a:r>
              <a:rPr lang="en-US" altLang="zh-CN" kern="0" dirty="0">
                <a:latin typeface="+mn-ea"/>
              </a:rPr>
              <a:t>…</a:t>
            </a:r>
            <a:r>
              <a:rPr lang="en-US" altLang="zh-CN" kern="0" dirty="0"/>
              <a:t> </a:t>
            </a:r>
            <a:r>
              <a:rPr lang="en-US" altLang="zh-CN" i="1" kern="0" dirty="0"/>
              <a:t>y</a:t>
            </a:r>
            <a:r>
              <a:rPr lang="en-US" altLang="zh-CN" kern="0" baseline="-25000" dirty="0"/>
              <a:t>0</a:t>
            </a:r>
            <a:r>
              <a:rPr lang="zh-CN" altLang="en-US" kern="0" dirty="0"/>
              <a:t> ，</a:t>
            </a:r>
            <a:endParaRPr lang="en-US" altLang="zh-CN" kern="0" dirty="0"/>
          </a:p>
          <a:p>
            <a:pPr marL="0" indent="0">
              <a:spcAft>
                <a:spcPts val="0"/>
              </a:spcAft>
              <a:buNone/>
            </a:pPr>
            <a:r>
              <a:rPr lang="zh-CN" altLang="en-US" kern="0" dirty="0"/>
              <a:t>则 </a:t>
            </a:r>
            <a:r>
              <a:rPr lang="en-US" altLang="zh-CN" i="1" kern="0" dirty="0"/>
              <a:t>x</a:t>
            </a:r>
            <a:r>
              <a:rPr lang="en-US" altLang="zh-CN" kern="0" dirty="0"/>
              <a:t> </a:t>
            </a:r>
            <a:r>
              <a:rPr lang="zh-CN" altLang="en-US" kern="0" dirty="0"/>
              <a:t>与 </a:t>
            </a:r>
            <a:r>
              <a:rPr lang="en-US" altLang="zh-CN" i="1" kern="0" dirty="0"/>
              <a:t>y</a:t>
            </a:r>
            <a:r>
              <a:rPr lang="en-US" altLang="zh-CN" kern="0" dirty="0"/>
              <a:t> </a:t>
            </a:r>
            <a:r>
              <a:rPr lang="zh-CN" altLang="en-US" kern="0" dirty="0"/>
              <a:t>的</a:t>
            </a:r>
            <a:r>
              <a:rPr lang="zh-CN" altLang="en-US" dirty="0">
                <a:solidFill>
                  <a:srgbClr val="FF6600"/>
                </a:solidFill>
                <a:ea typeface="黑体" pitchFamily="2" charset="-122"/>
              </a:rPr>
              <a:t>海明码距 </a:t>
            </a:r>
            <a:r>
              <a:rPr lang="en-US" altLang="zh-CN" i="1" kern="0" dirty="0"/>
              <a:t>d</a:t>
            </a:r>
            <a:r>
              <a:rPr lang="en-US" altLang="zh-CN" kern="0" dirty="0"/>
              <a:t> </a:t>
            </a:r>
            <a:r>
              <a:rPr lang="zh-CN" altLang="en-US" kern="0" dirty="0"/>
              <a:t>定义为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8A8B2C67-DC43-4D0A-9988-37302AA248B4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318091" y="3583836"/>
                <a:ext cx="5321095" cy="14283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itchFamily="2" charset="2"/>
                  <a:buChar char="n"/>
                  <a:defRPr sz="28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19138" indent="-363538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006600"/>
                  </a:buClr>
                  <a:buSzPct val="75000"/>
                  <a:buFont typeface="Wingdings" pitchFamily="2" charset="2"/>
                  <a:buChar char="l"/>
                  <a:defRPr sz="2800" b="1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074738" indent="-355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6600"/>
                  </a:buClr>
                  <a:buSzPct val="65000"/>
                  <a:buFont typeface="Wingdings" pitchFamily="2" charset="2"/>
                  <a:buChar char="p"/>
                  <a:defRPr sz="2800" b="1">
                    <a:solidFill>
                      <a:schemeClr val="tx1"/>
                    </a:solidFill>
                    <a:latin typeface="+mn-lt"/>
                    <a:ea typeface="楷体" panose="02010609060101010101" pitchFamily="49" charset="-122"/>
                  </a:defRPr>
                </a:lvl3pPr>
                <a:lvl4pPr marL="1439863" indent="-365125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Font typeface="Wingdings" pitchFamily="2" charset="2"/>
                  <a:buChar char="u"/>
                  <a:defRPr sz="2400" b="1">
                    <a:solidFill>
                      <a:schemeClr val="tx1"/>
                    </a:solidFill>
                    <a:latin typeface="+mn-lt"/>
                    <a:ea typeface="楷体" panose="02010609060101010101" pitchFamily="49" charset="-122"/>
                  </a:defRPr>
                </a:lvl4pPr>
                <a:lvl5pPr marL="1795463" indent="-355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0066FF"/>
                  </a:buClr>
                  <a:buSzPct val="75000"/>
                  <a:buFont typeface="Wingdings" pitchFamily="2" charset="2"/>
                  <a:buChar char="ü"/>
                  <a:defRPr sz="2400" b="1">
                    <a:solidFill>
                      <a:schemeClr val="tx1"/>
                    </a:solidFill>
                    <a:latin typeface="+mn-lt"/>
                    <a:ea typeface="楷体" panose="02010609060101010101" pitchFamily="49" charset="-122"/>
                  </a:defRPr>
                </a:lvl5pPr>
                <a:lvl6pPr marL="2787650" indent="-271463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0066FF"/>
                  </a:buClr>
                  <a:buSzPct val="75000"/>
                  <a:buFont typeface="Wingdings" pitchFamily="2" charset="2"/>
                  <a:buChar char="ü"/>
                  <a:defRPr sz="2400" b="1">
                    <a:solidFill>
                      <a:schemeClr val="tx1"/>
                    </a:solidFill>
                    <a:latin typeface="+mn-lt"/>
                    <a:ea typeface="楷体_GB2312" pitchFamily="49" charset="-122"/>
                  </a:defRPr>
                </a:lvl6pPr>
                <a:lvl7pPr marL="3244850" indent="-271463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0066FF"/>
                  </a:buClr>
                  <a:buSzPct val="75000"/>
                  <a:buFont typeface="Wingdings" pitchFamily="2" charset="2"/>
                  <a:buChar char="ü"/>
                  <a:defRPr sz="2400" b="1">
                    <a:solidFill>
                      <a:schemeClr val="tx1"/>
                    </a:solidFill>
                    <a:latin typeface="+mn-lt"/>
                    <a:ea typeface="楷体_GB2312" pitchFamily="49" charset="-122"/>
                  </a:defRPr>
                </a:lvl7pPr>
                <a:lvl8pPr marL="3702050" indent="-271463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0066FF"/>
                  </a:buClr>
                  <a:buSzPct val="75000"/>
                  <a:buFont typeface="Wingdings" pitchFamily="2" charset="2"/>
                  <a:buChar char="ü"/>
                  <a:defRPr sz="2400" b="1">
                    <a:solidFill>
                      <a:schemeClr val="tx1"/>
                    </a:solidFill>
                    <a:latin typeface="+mn-lt"/>
                    <a:ea typeface="楷体_GB2312" pitchFamily="49" charset="-122"/>
                  </a:defRPr>
                </a:lvl8pPr>
                <a:lvl9pPr marL="4159250" indent="-271463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0066FF"/>
                  </a:buClr>
                  <a:buSzPct val="75000"/>
                  <a:buFont typeface="Wingdings" pitchFamily="2" charset="2"/>
                  <a:buChar char="ü"/>
                  <a:defRPr sz="2400" b="1">
                    <a:solidFill>
                      <a:schemeClr val="tx1"/>
                    </a:solidFill>
                    <a:latin typeface="+mn-lt"/>
                    <a:ea typeface="楷体_GB2312" pitchFamily="49" charset="-122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b="1" i="1" kern="0" smtClean="0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altLang="zh-CN" b="1" i="1" kern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b="1" i="1" kern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kern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b="1" i="1" kern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kern="0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a:rPr lang="en-US" altLang="zh-CN" b="1" i="1" kern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b="1" i="1" kern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1" i="1" kern="0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b="1" i="1" kern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1" i="1" kern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b="1" i="1" kern="0" smtClean="0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b="1" i="1" kern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kern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1" i="1" kern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1" i="1" kern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kern="0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b="1" i="1" kern="0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CN" b="1" i="1" kern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i="1" ker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kern="0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b>
                                  <m:r>
                                    <a:rPr lang="en-US" altLang="zh-CN" i="1" ker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kern="0" dirty="0"/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8A8B2C67-DC43-4D0A-9988-37302AA248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18091" y="3583836"/>
                <a:ext cx="5321095" cy="14283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53124B30-A209-4BD1-A050-F7D1D492F808}"/>
              </a:ext>
            </a:extLst>
          </p:cNvPr>
          <p:cNvSpPr/>
          <p:nvPr/>
        </p:nvSpPr>
        <p:spPr>
          <a:xfrm>
            <a:off x="590550" y="4802269"/>
            <a:ext cx="32496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zh-CN" altLang="en-US" kern="0" dirty="0"/>
              <a:t>例：两个</a:t>
            </a:r>
            <a:r>
              <a:rPr lang="en-US" altLang="zh-CN" kern="0" dirty="0"/>
              <a:t>8</a:t>
            </a:r>
            <a:r>
              <a:rPr lang="zh-CN" altLang="en-US" kern="0" dirty="0"/>
              <a:t>位码字，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26DC081-6D1B-4F32-92A4-AAB74573A04F}"/>
              </a:ext>
            </a:extLst>
          </p:cNvPr>
          <p:cNvSpPr/>
          <p:nvPr/>
        </p:nvSpPr>
        <p:spPr>
          <a:xfrm>
            <a:off x="3682887" y="4806994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r">
              <a:buNone/>
            </a:pPr>
            <a:r>
              <a:rPr lang="en-US" altLang="zh-CN" kern="0" dirty="0"/>
              <a:t>01001000</a:t>
            </a:r>
            <a:endParaRPr lang="zh-CN" altLang="en-US" kern="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018C388-B610-4E1C-B9E1-1BD4179D6559}"/>
              </a:ext>
            </a:extLst>
          </p:cNvPr>
          <p:cNvSpPr/>
          <p:nvPr/>
        </p:nvSpPr>
        <p:spPr>
          <a:xfrm>
            <a:off x="3682887" y="5157192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r">
              <a:buNone/>
            </a:pPr>
            <a:r>
              <a:rPr lang="en-US" altLang="zh-CN" kern="0" dirty="0"/>
              <a:t>11001011</a:t>
            </a:r>
            <a:endParaRPr lang="zh-CN" altLang="en-US" kern="0" dirty="0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0D6A57A8-15B8-4E0E-B471-3523D2BF1026}"/>
              </a:ext>
            </a:extLst>
          </p:cNvPr>
          <p:cNvCxnSpPr/>
          <p:nvPr/>
        </p:nvCxnSpPr>
        <p:spPr bwMode="auto">
          <a:xfrm>
            <a:off x="3491880" y="5663209"/>
            <a:ext cx="1756975" cy="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3173907C-25F9-410A-876F-05C15517A1F6}"/>
              </a:ext>
            </a:extLst>
          </p:cNvPr>
          <p:cNvSpPr/>
          <p:nvPr/>
        </p:nvSpPr>
        <p:spPr>
          <a:xfrm>
            <a:off x="3682886" y="5609519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r">
              <a:buNone/>
            </a:pPr>
            <a:r>
              <a:rPr lang="en-US" altLang="zh-CN" kern="0" dirty="0">
                <a:solidFill>
                  <a:srgbClr val="FF0000"/>
                </a:solidFill>
              </a:rPr>
              <a:t>1</a:t>
            </a:r>
            <a:r>
              <a:rPr lang="en-US" altLang="zh-CN" kern="0" dirty="0"/>
              <a:t>00000</a:t>
            </a:r>
            <a:r>
              <a:rPr lang="en-US" altLang="zh-CN" kern="0" dirty="0">
                <a:solidFill>
                  <a:srgbClr val="FF0000"/>
                </a:solidFill>
              </a:rPr>
              <a:t>11</a:t>
            </a:r>
            <a:endParaRPr lang="zh-CN" altLang="en-US" kern="0" dirty="0">
              <a:solidFill>
                <a:srgbClr val="FF0000"/>
              </a:solidFill>
            </a:endParaRPr>
          </a:p>
        </p:txBody>
      </p:sp>
      <p:sp>
        <p:nvSpPr>
          <p:cNvPr id="15" name="右大括号 14">
            <a:extLst>
              <a:ext uri="{FF2B5EF4-FFF2-40B4-BE49-F238E27FC236}">
                <a16:creationId xmlns:a16="http://schemas.microsoft.com/office/drawing/2014/main" id="{9E907BE6-B15F-46E3-860A-D05D785DF2BB}"/>
              </a:ext>
            </a:extLst>
          </p:cNvPr>
          <p:cNvSpPr/>
          <p:nvPr/>
        </p:nvSpPr>
        <p:spPr bwMode="auto">
          <a:xfrm>
            <a:off x="5291805" y="4960956"/>
            <a:ext cx="216024" cy="628283"/>
          </a:xfrm>
          <a:prstGeom prst="rightBrace">
            <a:avLst>
              <a:gd name="adj1" fmla="val 39197"/>
              <a:gd name="adj2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FF51508-3FF3-4083-B367-C499DD41A5D4}"/>
              </a:ext>
            </a:extLst>
          </p:cNvPr>
          <p:cNvSpPr/>
          <p:nvPr/>
        </p:nvSpPr>
        <p:spPr>
          <a:xfrm>
            <a:off x="5495807" y="5013487"/>
            <a:ext cx="17363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algn="l">
              <a:buNone/>
            </a:pPr>
            <a:r>
              <a:rPr lang="zh-CN" altLang="en-US" kern="0" dirty="0"/>
              <a:t>码距 </a:t>
            </a:r>
            <a:r>
              <a:rPr lang="en-US" altLang="zh-CN" i="1" kern="0" dirty="0"/>
              <a:t>d</a:t>
            </a:r>
            <a:r>
              <a:rPr lang="zh-CN" altLang="en-US" kern="0" dirty="0"/>
              <a:t>＝</a:t>
            </a:r>
            <a:r>
              <a:rPr lang="en-US" altLang="zh-CN" kern="0" dirty="0"/>
              <a:t>3</a:t>
            </a:r>
            <a:endParaRPr lang="zh-CN" altLang="en-US" kern="0" dirty="0"/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E63B83FC-34A9-4580-86FA-4BDADCADF960}"/>
              </a:ext>
            </a:extLst>
          </p:cNvPr>
          <p:cNvCxnSpPr>
            <a:cxnSpLocks/>
          </p:cNvCxnSpPr>
          <p:nvPr/>
        </p:nvCxnSpPr>
        <p:spPr bwMode="auto">
          <a:xfrm>
            <a:off x="3803727" y="6045103"/>
            <a:ext cx="144016" cy="0"/>
          </a:xfrm>
          <a:prstGeom prst="line">
            <a:avLst/>
          </a:prstGeom>
          <a:noFill/>
          <a:ln w="57150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D62F4488-08ED-4BAA-A268-155F3B797A72}"/>
              </a:ext>
            </a:extLst>
          </p:cNvPr>
          <p:cNvCxnSpPr>
            <a:cxnSpLocks/>
          </p:cNvCxnSpPr>
          <p:nvPr/>
        </p:nvCxnSpPr>
        <p:spPr bwMode="auto">
          <a:xfrm>
            <a:off x="4874321" y="6045103"/>
            <a:ext cx="144016" cy="0"/>
          </a:xfrm>
          <a:prstGeom prst="line">
            <a:avLst/>
          </a:prstGeom>
          <a:noFill/>
          <a:ln w="57150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26E03C5A-E854-44AF-856B-202AB598E707}"/>
              </a:ext>
            </a:extLst>
          </p:cNvPr>
          <p:cNvCxnSpPr>
            <a:cxnSpLocks/>
          </p:cNvCxnSpPr>
          <p:nvPr/>
        </p:nvCxnSpPr>
        <p:spPr bwMode="auto">
          <a:xfrm>
            <a:off x="5047478" y="6041831"/>
            <a:ext cx="144016" cy="0"/>
          </a:xfrm>
          <a:prstGeom prst="line">
            <a:avLst/>
          </a:prstGeom>
          <a:noFill/>
          <a:ln w="57150" cap="flat" cmpd="sng" algn="ctr">
            <a:solidFill>
              <a:srgbClr val="00CC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31C12B51-253F-4EA0-8B73-6E757A7C3D98}"/>
              </a:ext>
            </a:extLst>
          </p:cNvPr>
          <p:cNvSpPr/>
          <p:nvPr/>
        </p:nvSpPr>
        <p:spPr bwMode="auto">
          <a:xfrm>
            <a:off x="5248275" y="5438775"/>
            <a:ext cx="1699990" cy="609599"/>
          </a:xfrm>
          <a:custGeom>
            <a:avLst/>
            <a:gdLst>
              <a:gd name="connsiteX0" fmla="*/ 0 w 1576388"/>
              <a:gd name="connsiteY0" fmla="*/ 433388 h 442775"/>
              <a:gd name="connsiteX1" fmla="*/ 1038225 w 1576388"/>
              <a:gd name="connsiteY1" fmla="*/ 385763 h 442775"/>
              <a:gd name="connsiteX2" fmla="*/ 1576388 w 1576388"/>
              <a:gd name="connsiteY2" fmla="*/ 0 h 442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6388" h="442775">
                <a:moveTo>
                  <a:pt x="0" y="433388"/>
                </a:moveTo>
                <a:cubicBezTo>
                  <a:pt x="387747" y="445691"/>
                  <a:pt x="775494" y="457994"/>
                  <a:pt x="1038225" y="385763"/>
                </a:cubicBezTo>
                <a:cubicBezTo>
                  <a:pt x="1300956" y="313532"/>
                  <a:pt x="1438672" y="156766"/>
                  <a:pt x="1576388" y="0"/>
                </a:cubicBezTo>
              </a:path>
            </a:pathLst>
          </a:custGeom>
          <a:noFill/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7FD1C1C-B85F-471B-A137-2CE9AE978216}"/>
              </a:ext>
            </a:extLst>
          </p:cNvPr>
          <p:cNvSpPr/>
          <p:nvPr/>
        </p:nvSpPr>
        <p:spPr>
          <a:xfrm>
            <a:off x="3218851" y="5091318"/>
            <a:ext cx="64793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kern="0" dirty="0"/>
              <a:t>⊕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14032483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0" grpId="0"/>
      <p:bldP spid="11" grpId="0"/>
      <p:bldP spid="14" grpId="0"/>
      <p:bldP spid="15" grpId="0" animBg="1"/>
      <p:bldP spid="16" grpId="0"/>
      <p:bldP spid="22" grpId="0" animBg="1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879572-CD48-4893-BA43-DEA6E2ADB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</a:t>
            </a:r>
            <a:r>
              <a:rPr lang="zh-CN" altLang="en-US" dirty="0">
                <a:solidFill>
                  <a:srgbClr val="FF6600"/>
                </a:solidFill>
              </a:rPr>
              <a:t>码距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009900"/>
                </a:solidFill>
              </a:rPr>
              <a:t>校验位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9900"/>
                </a:solidFill>
              </a:rPr>
              <a:t>位数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9473F2-FD69-4AA1-8B33-663943237A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E090CA-FDE9-4186-A298-407E61DFE875}" type="slidenum">
              <a:rPr lang="zh-CN" altLang="en-US" smtClean="0"/>
              <a:pPr/>
              <a:t>5</a:t>
            </a:fld>
            <a:endParaRPr lang="en-US" altLang="zh-CN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3240616-E1EF-4F78-A6BD-395CDA49D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53207"/>
            <a:ext cx="8362950" cy="2447801"/>
          </a:xfrm>
        </p:spPr>
        <p:txBody>
          <a:bodyPr/>
          <a:lstStyle/>
          <a:p>
            <a:r>
              <a:rPr lang="en-US" altLang="zh-CN" i="1" dirty="0"/>
              <a:t>n</a:t>
            </a:r>
            <a:r>
              <a:rPr lang="zh-CN" altLang="en-US" dirty="0"/>
              <a:t>位</a:t>
            </a:r>
            <a:r>
              <a:rPr lang="zh-CN" altLang="en-US" dirty="0">
                <a:solidFill>
                  <a:srgbClr val="0000FF"/>
                </a:solidFill>
              </a:rPr>
              <a:t>数据</a:t>
            </a:r>
            <a:r>
              <a:rPr lang="zh-CN" altLang="en-US" dirty="0"/>
              <a:t>，具有</a:t>
            </a:r>
            <a:r>
              <a:rPr lang="en-US" altLang="zh-CN" dirty="0"/>
              <a:t>2</a:t>
            </a:r>
            <a:r>
              <a:rPr lang="en-US" altLang="zh-CN" i="1" baseline="30000" dirty="0"/>
              <a:t>n</a:t>
            </a:r>
            <a:r>
              <a:rPr lang="zh-CN" altLang="en-US" dirty="0"/>
              <a:t>种合法编码。</a:t>
            </a:r>
            <a:endParaRPr lang="en-US" altLang="zh-CN" dirty="0"/>
          </a:p>
          <a:p>
            <a:r>
              <a:rPr lang="zh-CN" altLang="en-US" dirty="0"/>
              <a:t>增加</a:t>
            </a:r>
            <a:r>
              <a:rPr lang="en-US" altLang="zh-CN" i="1" dirty="0"/>
              <a:t>k</a:t>
            </a:r>
            <a:r>
              <a:rPr lang="zh-CN" altLang="en-US" dirty="0"/>
              <a:t>位</a:t>
            </a:r>
            <a:r>
              <a:rPr lang="zh-CN" altLang="en-US" dirty="0">
                <a:solidFill>
                  <a:srgbClr val="0000FF"/>
                </a:solidFill>
              </a:rPr>
              <a:t>校验位</a:t>
            </a:r>
            <a:r>
              <a:rPr lang="zh-CN" altLang="en-US" dirty="0"/>
              <a:t>后，</a:t>
            </a:r>
            <a:br>
              <a:rPr lang="en-US" altLang="zh-CN" dirty="0"/>
            </a:br>
            <a:r>
              <a:rPr lang="zh-CN" altLang="en-US" dirty="0"/>
              <a:t>在</a:t>
            </a:r>
            <a:r>
              <a:rPr lang="en-US" altLang="zh-CN" dirty="0"/>
              <a:t>2</a:t>
            </a:r>
            <a:r>
              <a:rPr lang="en-US" altLang="zh-CN" i="1" baseline="30000" dirty="0"/>
              <a:t>n</a:t>
            </a:r>
            <a:r>
              <a:rPr lang="en-US" altLang="zh-CN" baseline="30000" dirty="0"/>
              <a:t>+</a:t>
            </a:r>
            <a:r>
              <a:rPr lang="en-US" altLang="zh-CN" i="1" baseline="30000" dirty="0"/>
              <a:t>k</a:t>
            </a:r>
            <a:r>
              <a:rPr lang="zh-CN" altLang="en-US" dirty="0"/>
              <a:t>个码字中，仍只有</a:t>
            </a:r>
            <a:r>
              <a:rPr lang="en-US" altLang="zh-CN" dirty="0"/>
              <a:t>2</a:t>
            </a:r>
            <a:r>
              <a:rPr lang="en-US" altLang="zh-CN" i="1" baseline="30000" dirty="0"/>
              <a:t>n</a:t>
            </a:r>
            <a:r>
              <a:rPr lang="zh-CN" altLang="en-US" dirty="0"/>
              <a:t>个码字是合法的。</a:t>
            </a:r>
            <a:endParaRPr lang="en-US" altLang="zh-CN" dirty="0"/>
          </a:p>
          <a:p>
            <a:r>
              <a:rPr lang="zh-CN" altLang="en-US" dirty="0"/>
              <a:t>在这</a:t>
            </a:r>
            <a:r>
              <a:rPr lang="en-US" altLang="zh-CN" dirty="0"/>
              <a:t>2</a:t>
            </a:r>
            <a:r>
              <a:rPr lang="en-US" altLang="zh-CN" i="1" baseline="30000" dirty="0"/>
              <a:t>n</a:t>
            </a:r>
            <a:r>
              <a:rPr lang="zh-CN" altLang="en-US" dirty="0"/>
              <a:t>个合法码字中，任意两个码字之间</a:t>
            </a:r>
            <a:r>
              <a:rPr lang="zh-CN" altLang="en-US" dirty="0">
                <a:solidFill>
                  <a:srgbClr val="CC0066"/>
                </a:solidFill>
              </a:rPr>
              <a:t>海明码距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C0066"/>
                </a:solidFill>
              </a:rPr>
              <a:t>最小值</a:t>
            </a:r>
            <a:r>
              <a:rPr lang="en-US" altLang="zh-CN" i="1" dirty="0" err="1"/>
              <a:t>d</a:t>
            </a:r>
            <a:r>
              <a:rPr lang="en-US" altLang="zh-CN" i="1" baseline="-25000" dirty="0" err="1"/>
              <a:t>min</a:t>
            </a:r>
            <a:r>
              <a:rPr lang="zh-CN" altLang="en-US" dirty="0"/>
              <a:t>，称为</a:t>
            </a:r>
            <a:r>
              <a:rPr lang="zh-CN" altLang="en-US" dirty="0">
                <a:solidFill>
                  <a:srgbClr val="FF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这种编码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最小海明码距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2136179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内容占位符 16">
            <a:extLst>
              <a:ext uri="{FF2B5EF4-FFF2-40B4-BE49-F238E27FC236}">
                <a16:creationId xmlns:a16="http://schemas.microsoft.com/office/drawing/2014/main" id="{7760C1AC-C5B2-412F-9C33-08B352648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】</a:t>
            </a:r>
            <a:r>
              <a:rPr lang="zh-CN" altLang="en-US" dirty="0"/>
              <a:t>假定某编码方案有下列</a:t>
            </a:r>
            <a:r>
              <a:rPr lang="en-US" altLang="zh-CN" dirty="0"/>
              <a:t>8</a:t>
            </a:r>
            <a:r>
              <a:rPr lang="zh-CN" altLang="en-US" dirty="0"/>
              <a:t>个合法编码：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</a:rPr>
              <a:t>000000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0000FF"/>
                </a:solidFill>
              </a:rPr>
              <a:t>001011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0000FF"/>
                </a:solidFill>
              </a:rPr>
              <a:t>010101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0000FF"/>
                </a:solidFill>
              </a:rPr>
              <a:t>011110</a:t>
            </a:r>
            <a:r>
              <a:rPr lang="zh-CN" altLang="en-US" dirty="0"/>
              <a:t>、</a:t>
            </a:r>
            <a:br>
              <a:rPr lang="zh-CN" altLang="en-US" dirty="0"/>
            </a:br>
            <a:r>
              <a:rPr lang="en-US" altLang="zh-CN" dirty="0">
                <a:solidFill>
                  <a:srgbClr val="0000FF"/>
                </a:solidFill>
              </a:rPr>
              <a:t>100110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0000FF"/>
                </a:solidFill>
              </a:rPr>
              <a:t>101101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0000FF"/>
                </a:solidFill>
              </a:rPr>
              <a:t>110011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0000FF"/>
                </a:solidFill>
              </a:rPr>
              <a:t>111000</a:t>
            </a:r>
            <a:r>
              <a:rPr lang="zh-CN" altLang="en-US" dirty="0"/>
              <a:t>。</a:t>
            </a:r>
          </a:p>
          <a:p>
            <a:pPr marL="0" indent="0">
              <a:buNone/>
            </a:pP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找出任意编码字之间的海明距离，可以发现</a:t>
            </a:r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  <a:ea typeface="黑体" pitchFamily="2" charset="-122"/>
                <a:cs typeface="Times New Roman" pitchFamily="18" charset="0"/>
              </a:rPr>
              <a:t>最小海明码距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为：</a:t>
            </a:r>
            <a:r>
              <a:rPr lang="en-US" altLang="zh-CN" i="1" dirty="0" err="1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en-US" altLang="zh-CN" i="1" baseline="-30000" dirty="0" err="1">
                <a:solidFill>
                  <a:srgbClr val="000000"/>
                </a:solidFill>
              </a:rPr>
              <a:t>min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dirty="0">
                <a:solidFill>
                  <a:srgbClr val="000000"/>
                </a:solidFill>
              </a:rPr>
              <a:t>3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。</a:t>
            </a:r>
          </a:p>
          <a:p>
            <a:pPr marL="0" indent="0">
              <a:buNone/>
            </a:pPr>
            <a:r>
              <a:rPr lang="zh-CN" altLang="en-US" dirty="0"/>
              <a:t>假设读到的编码字为</a:t>
            </a:r>
            <a:r>
              <a:rPr lang="en-US" altLang="zh-CN" dirty="0">
                <a:solidFill>
                  <a:srgbClr val="CC0000"/>
                </a:solidFill>
              </a:rPr>
              <a:t>001000</a:t>
            </a:r>
            <a:r>
              <a:rPr lang="zh-CN" altLang="en-US" dirty="0"/>
              <a:t>，与上述</a:t>
            </a:r>
            <a:r>
              <a:rPr lang="en-US" altLang="zh-CN" dirty="0"/>
              <a:t>8</a:t>
            </a:r>
            <a:r>
              <a:rPr lang="zh-CN" altLang="en-US" dirty="0"/>
              <a:t>种合法编码字都不相同，因此至少存在</a:t>
            </a:r>
            <a:r>
              <a:rPr lang="en-US" altLang="zh-CN" dirty="0"/>
              <a:t>1</a:t>
            </a:r>
            <a:r>
              <a:rPr lang="zh-CN" altLang="en-US" dirty="0"/>
              <a:t>位错误。</a:t>
            </a:r>
          </a:p>
          <a:p>
            <a:pPr marL="0" indent="0">
              <a:buNone/>
            </a:pPr>
            <a:r>
              <a:rPr lang="zh-CN" altLang="en-US" dirty="0">
                <a:solidFill>
                  <a:srgbClr val="FF0066"/>
                </a:solidFill>
                <a:ea typeface="黑体" pitchFamily="2" charset="-122"/>
              </a:rPr>
              <a:t>差额向量</a:t>
            </a:r>
            <a:r>
              <a:rPr lang="zh-CN" altLang="en-US" dirty="0"/>
              <a:t>：</a:t>
            </a:r>
            <a:r>
              <a:rPr lang="zh-CN" altLang="en-US" dirty="0">
                <a:solidFill>
                  <a:srgbClr val="006600"/>
                </a:solidFill>
              </a:rPr>
              <a:t>（</a:t>
            </a:r>
            <a:r>
              <a:rPr lang="en-US" altLang="zh-CN" dirty="0">
                <a:solidFill>
                  <a:srgbClr val="006600"/>
                </a:solidFill>
              </a:rPr>
              <a:t>1</a:t>
            </a:r>
            <a:r>
              <a:rPr lang="zh-CN" altLang="en-US" dirty="0">
                <a:solidFill>
                  <a:srgbClr val="006600"/>
                </a:solidFill>
              </a:rPr>
              <a:t>，</a:t>
            </a:r>
            <a:r>
              <a:rPr lang="en-US" altLang="zh-CN" dirty="0">
                <a:solidFill>
                  <a:srgbClr val="006600"/>
                </a:solidFill>
              </a:rPr>
              <a:t>2</a:t>
            </a:r>
            <a:r>
              <a:rPr lang="zh-CN" altLang="en-US" dirty="0">
                <a:solidFill>
                  <a:srgbClr val="006600"/>
                </a:solidFill>
              </a:rPr>
              <a:t>，</a:t>
            </a:r>
            <a:r>
              <a:rPr lang="en-US" altLang="zh-CN" dirty="0">
                <a:solidFill>
                  <a:srgbClr val="006600"/>
                </a:solidFill>
              </a:rPr>
              <a:t>4</a:t>
            </a:r>
            <a:r>
              <a:rPr lang="zh-CN" altLang="en-US" dirty="0">
                <a:solidFill>
                  <a:srgbClr val="006600"/>
                </a:solidFill>
              </a:rPr>
              <a:t>，</a:t>
            </a:r>
            <a:r>
              <a:rPr lang="en-US" altLang="zh-CN" dirty="0">
                <a:solidFill>
                  <a:srgbClr val="006600"/>
                </a:solidFill>
              </a:rPr>
              <a:t>3</a:t>
            </a:r>
            <a:r>
              <a:rPr lang="zh-CN" altLang="en-US" dirty="0">
                <a:solidFill>
                  <a:srgbClr val="006600"/>
                </a:solidFill>
              </a:rPr>
              <a:t>，</a:t>
            </a:r>
            <a:r>
              <a:rPr lang="en-US" altLang="zh-CN" dirty="0">
                <a:solidFill>
                  <a:srgbClr val="006600"/>
                </a:solidFill>
              </a:rPr>
              <a:t>4</a:t>
            </a:r>
            <a:r>
              <a:rPr lang="zh-CN" altLang="en-US" dirty="0">
                <a:solidFill>
                  <a:srgbClr val="006600"/>
                </a:solidFill>
              </a:rPr>
              <a:t>，</a:t>
            </a:r>
            <a:r>
              <a:rPr lang="en-US" altLang="zh-CN" dirty="0">
                <a:solidFill>
                  <a:srgbClr val="006600"/>
                </a:solidFill>
              </a:rPr>
              <a:t>3</a:t>
            </a:r>
            <a:r>
              <a:rPr lang="zh-CN" altLang="en-US" dirty="0">
                <a:solidFill>
                  <a:srgbClr val="006600"/>
                </a:solidFill>
              </a:rPr>
              <a:t>，</a:t>
            </a:r>
            <a:r>
              <a:rPr lang="en-US" altLang="zh-CN" dirty="0">
                <a:solidFill>
                  <a:srgbClr val="006600"/>
                </a:solidFill>
              </a:rPr>
              <a:t>5</a:t>
            </a:r>
            <a:r>
              <a:rPr lang="zh-CN" altLang="en-US" dirty="0">
                <a:solidFill>
                  <a:srgbClr val="006600"/>
                </a:solidFill>
              </a:rPr>
              <a:t>，</a:t>
            </a:r>
            <a:r>
              <a:rPr lang="en-US" altLang="zh-CN" dirty="0">
                <a:solidFill>
                  <a:srgbClr val="006600"/>
                </a:solidFill>
              </a:rPr>
              <a:t>2</a:t>
            </a:r>
            <a:r>
              <a:rPr lang="zh-CN" altLang="en-US" dirty="0">
                <a:solidFill>
                  <a:srgbClr val="006600"/>
                </a:solidFill>
              </a:rPr>
              <a:t>）</a:t>
            </a:r>
          </a:p>
          <a:p>
            <a:pPr marL="0" indent="0">
              <a:buNone/>
            </a:pPr>
            <a:r>
              <a:rPr lang="zh-CN" altLang="en-US" dirty="0"/>
              <a:t>校正结果：</a:t>
            </a:r>
            <a:r>
              <a:rPr lang="en-US" altLang="zh-CN" dirty="0">
                <a:solidFill>
                  <a:srgbClr val="0000FF"/>
                </a:solidFill>
              </a:rPr>
              <a:t>000000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0879572-CD48-4893-BA43-DEA6E2ADB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</a:t>
            </a:r>
            <a:r>
              <a:rPr lang="zh-CN" altLang="en-US" dirty="0">
                <a:solidFill>
                  <a:srgbClr val="FF6600"/>
                </a:solidFill>
              </a:rPr>
              <a:t>码距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009900"/>
                </a:solidFill>
              </a:rPr>
              <a:t>校验位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9900"/>
                </a:solidFill>
              </a:rPr>
              <a:t>位数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9473F2-FD69-4AA1-8B33-663943237A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E090CA-FDE9-4186-A298-407E61DFE875}" type="slidenum">
              <a:rPr lang="zh-CN" altLang="en-US" smtClean="0"/>
              <a:pPr/>
              <a:t>6</a:t>
            </a:fld>
            <a:endParaRPr lang="en-US" altLang="zh-CN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17E2622A-4F9C-4207-8DE2-AD10AADF73C9}"/>
              </a:ext>
            </a:extLst>
          </p:cNvPr>
          <p:cNvSpPr/>
          <p:nvPr/>
        </p:nvSpPr>
        <p:spPr bwMode="auto">
          <a:xfrm>
            <a:off x="1916724" y="1750562"/>
            <a:ext cx="1151792" cy="432048"/>
          </a:xfrm>
          <a:prstGeom prst="roundRect">
            <a:avLst>
              <a:gd name="adj" fmla="val 50000"/>
            </a:avLst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7A81A878-3189-480E-90A9-03E89720A985}"/>
              </a:ext>
            </a:extLst>
          </p:cNvPr>
          <p:cNvSpPr/>
          <p:nvPr/>
        </p:nvSpPr>
        <p:spPr bwMode="auto">
          <a:xfrm>
            <a:off x="3338470" y="1750562"/>
            <a:ext cx="1152128" cy="432048"/>
          </a:xfrm>
          <a:prstGeom prst="roundRect">
            <a:avLst>
              <a:gd name="adj" fmla="val 50000"/>
            </a:avLst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3907B0-8AA8-46F2-A334-4949ECE88540}"/>
              </a:ext>
            </a:extLst>
          </p:cNvPr>
          <p:cNvSpPr txBox="1"/>
          <p:nvPr/>
        </p:nvSpPr>
        <p:spPr>
          <a:xfrm>
            <a:off x="7454580" y="1264262"/>
            <a:ext cx="1368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>
                <a:solidFill>
                  <a:srgbClr val="0000FF"/>
                </a:solidFill>
                <a:latin typeface="+mn-ea"/>
                <a:ea typeface="+mn-ea"/>
              </a:rPr>
              <a:t>101101</a:t>
            </a:r>
            <a:endParaRPr lang="zh-CN" altLang="en-US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1FCE61-EE27-4D8A-A542-1F1E6995D6CA}"/>
              </a:ext>
            </a:extLst>
          </p:cNvPr>
          <p:cNvSpPr txBox="1"/>
          <p:nvPr/>
        </p:nvSpPr>
        <p:spPr>
          <a:xfrm>
            <a:off x="7454580" y="1624302"/>
            <a:ext cx="1368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>
                <a:solidFill>
                  <a:srgbClr val="0000FF"/>
                </a:solidFill>
                <a:latin typeface="+mn-ea"/>
                <a:ea typeface="+mn-ea"/>
              </a:rPr>
              <a:t>110011</a:t>
            </a:r>
            <a:endParaRPr lang="zh-CN" altLang="en-US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5B7F423-AAD2-4576-AB81-A51AA7F73622}"/>
              </a:ext>
            </a:extLst>
          </p:cNvPr>
          <p:cNvSpPr/>
          <p:nvPr/>
        </p:nvSpPr>
        <p:spPr bwMode="auto">
          <a:xfrm>
            <a:off x="7705820" y="1332460"/>
            <a:ext cx="195788" cy="792088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F845EDE-F4ED-4353-9304-0FD6B89B0BE7}"/>
              </a:ext>
            </a:extLst>
          </p:cNvPr>
          <p:cNvSpPr/>
          <p:nvPr/>
        </p:nvSpPr>
        <p:spPr bwMode="auto">
          <a:xfrm>
            <a:off x="7901608" y="1332460"/>
            <a:ext cx="185212" cy="792088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82B2FA6-7AE7-417E-AD82-937CCA9DAEF8}"/>
              </a:ext>
            </a:extLst>
          </p:cNvPr>
          <p:cNvSpPr/>
          <p:nvPr/>
        </p:nvSpPr>
        <p:spPr bwMode="auto">
          <a:xfrm>
            <a:off x="8088298" y="1332460"/>
            <a:ext cx="173782" cy="792088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84761F4-D680-4962-B5BD-49486F32A0A1}"/>
              </a:ext>
            </a:extLst>
          </p:cNvPr>
          <p:cNvSpPr/>
          <p:nvPr/>
        </p:nvSpPr>
        <p:spPr bwMode="auto">
          <a:xfrm>
            <a:off x="8263558" y="1332460"/>
            <a:ext cx="173782" cy="792088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15" name="任意多边形 15">
            <a:extLst>
              <a:ext uri="{FF2B5EF4-FFF2-40B4-BE49-F238E27FC236}">
                <a16:creationId xmlns:a16="http://schemas.microsoft.com/office/drawing/2014/main" id="{04832210-037B-4EE9-8F52-561A16CE9BDD}"/>
              </a:ext>
            </a:extLst>
          </p:cNvPr>
          <p:cNvSpPr/>
          <p:nvPr/>
        </p:nvSpPr>
        <p:spPr bwMode="auto">
          <a:xfrm>
            <a:off x="3021863" y="1187960"/>
            <a:ext cx="4518211" cy="620358"/>
          </a:xfrm>
          <a:custGeom>
            <a:avLst/>
            <a:gdLst>
              <a:gd name="connsiteX0" fmla="*/ 0 w 4518211"/>
              <a:gd name="connsiteY0" fmla="*/ 620358 h 620358"/>
              <a:gd name="connsiteX1" fmla="*/ 1968649 w 4518211"/>
              <a:gd name="connsiteY1" fmla="*/ 39445 h 620358"/>
              <a:gd name="connsiteX2" fmla="*/ 4518211 w 4518211"/>
              <a:gd name="connsiteY2" fmla="*/ 383690 h 620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18211" h="620358">
                <a:moveTo>
                  <a:pt x="0" y="620358"/>
                </a:moveTo>
                <a:cubicBezTo>
                  <a:pt x="607807" y="349624"/>
                  <a:pt x="1215614" y="78890"/>
                  <a:pt x="1968649" y="39445"/>
                </a:cubicBezTo>
                <a:cubicBezTo>
                  <a:pt x="2721684" y="0"/>
                  <a:pt x="4095077" y="329902"/>
                  <a:pt x="4518211" y="383690"/>
                </a:cubicBezTo>
              </a:path>
            </a:pathLst>
          </a:custGeom>
          <a:noFill/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16" name="任意多边形 16">
            <a:extLst>
              <a:ext uri="{FF2B5EF4-FFF2-40B4-BE49-F238E27FC236}">
                <a16:creationId xmlns:a16="http://schemas.microsoft.com/office/drawing/2014/main" id="{FE259BCD-2BB5-438F-B862-8F723F86A6A1}"/>
              </a:ext>
            </a:extLst>
          </p:cNvPr>
          <p:cNvSpPr/>
          <p:nvPr/>
        </p:nvSpPr>
        <p:spPr bwMode="auto">
          <a:xfrm>
            <a:off x="4438322" y="1541169"/>
            <a:ext cx="3134026" cy="353210"/>
          </a:xfrm>
          <a:custGeom>
            <a:avLst/>
            <a:gdLst>
              <a:gd name="connsiteX0" fmla="*/ 0 w 3065929"/>
              <a:gd name="connsiteY0" fmla="*/ 299422 h 353210"/>
              <a:gd name="connsiteX1" fmla="*/ 1043492 w 3065929"/>
              <a:gd name="connsiteY1" fmla="*/ 8965 h 353210"/>
              <a:gd name="connsiteX2" fmla="*/ 3065929 w 3065929"/>
              <a:gd name="connsiteY2" fmla="*/ 353210 h 353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65929" h="353210">
                <a:moveTo>
                  <a:pt x="0" y="299422"/>
                </a:moveTo>
                <a:cubicBezTo>
                  <a:pt x="266252" y="149711"/>
                  <a:pt x="532504" y="0"/>
                  <a:pt x="1043492" y="8965"/>
                </a:cubicBezTo>
                <a:cubicBezTo>
                  <a:pt x="1554480" y="17930"/>
                  <a:pt x="2310204" y="185570"/>
                  <a:pt x="3065929" y="353210"/>
                </a:cubicBezTo>
              </a:path>
            </a:pathLst>
          </a:custGeom>
          <a:noFill/>
          <a:ln w="19050" cap="flat" cmpd="sng" algn="ctr">
            <a:solidFill>
              <a:srgbClr val="FF66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5764468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  <p:bldP spid="10" grpId="0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879572-CD48-4893-BA43-DEA6E2ADB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</a:t>
            </a:r>
            <a:r>
              <a:rPr lang="zh-CN" altLang="en-US" dirty="0">
                <a:solidFill>
                  <a:srgbClr val="FF6600"/>
                </a:solidFill>
              </a:rPr>
              <a:t>码距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009900"/>
                </a:solidFill>
              </a:rPr>
              <a:t>校验位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9900"/>
                </a:solidFill>
              </a:rPr>
              <a:t>位数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9473F2-FD69-4AA1-8B33-663943237A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E090CA-FDE9-4186-A298-407E61DFE875}" type="slidenum">
              <a:rPr lang="zh-CN" altLang="en-US" smtClean="0"/>
              <a:pPr/>
              <a:t>7</a:t>
            </a:fld>
            <a:endParaRPr lang="en-US" altLang="zh-CN"/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AFB43C17-1615-42DA-BF5A-6780C807D8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1772816"/>
            <a:ext cx="8362950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9138" indent="-363538" algn="l" rtl="0" fontAlgn="base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SzPct val="75000"/>
              <a:buFont typeface="Wingdings" pitchFamily="2" charset="2"/>
              <a:buChar char="l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074738" indent="-355600" algn="l" rtl="0" fontAlgn="base">
              <a:spcBef>
                <a:spcPct val="20000"/>
              </a:spcBef>
              <a:spcAft>
                <a:spcPct val="0"/>
              </a:spcAft>
              <a:buClr>
                <a:srgbClr val="FF6600"/>
              </a:buClr>
              <a:buSzPct val="65000"/>
              <a:buFont typeface="Wingdings" pitchFamily="2" charset="2"/>
              <a:buChar char="p"/>
              <a:defRPr sz="28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3pPr>
            <a:lvl4pPr marL="1439863" indent="-365125" algn="l" rtl="0" fontAlgn="base">
              <a:spcBef>
                <a:spcPct val="20000"/>
              </a:spcBef>
              <a:spcAft>
                <a:spcPct val="0"/>
              </a:spcAft>
              <a:buClr>
                <a:srgbClr val="FF0066"/>
              </a:buClr>
              <a:buSzPct val="75000"/>
              <a:buFont typeface="Wingdings" pitchFamily="2" charset="2"/>
              <a:buChar char="u"/>
              <a:defRPr sz="24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4pPr>
            <a:lvl5pPr marL="1795463" indent="-355600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" panose="02010609060101010101" pitchFamily="49" charset="-122"/>
              </a:defRPr>
            </a:lvl5pPr>
            <a:lvl6pPr marL="27876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6pPr>
            <a:lvl7pPr marL="32448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7pPr>
            <a:lvl8pPr marL="37020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8pPr>
            <a:lvl9pPr marL="4159250" indent="-271463" algn="l" rtl="0" fontAlgn="base">
              <a:spcBef>
                <a:spcPct val="20000"/>
              </a:spcBef>
              <a:spcAft>
                <a:spcPct val="0"/>
              </a:spcAft>
              <a:buClr>
                <a:srgbClr val="0066FF"/>
              </a:buClr>
              <a:buSzPct val="75000"/>
              <a:buFont typeface="Wingdings" pitchFamily="2" charset="2"/>
              <a:buChar char="ü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kern="0" dirty="0">
                <a:solidFill>
                  <a:srgbClr val="000000"/>
                </a:solidFill>
                <a:cs typeface="Times New Roman" pitchFamily="18" charset="0"/>
              </a:rPr>
              <a:t>检错能力：任意码字</a:t>
            </a:r>
            <a:r>
              <a:rPr lang="en-US" altLang="zh-CN" kern="0" dirty="0">
                <a:solidFill>
                  <a:srgbClr val="000000"/>
                </a:solidFill>
              </a:rPr>
              <a:t>X</a:t>
            </a:r>
            <a:r>
              <a:rPr lang="zh-CN" altLang="en-US" kern="0" dirty="0">
                <a:solidFill>
                  <a:srgbClr val="000000"/>
                </a:solidFill>
                <a:cs typeface="Times New Roman" pitchFamily="18" charset="0"/>
              </a:rPr>
              <a:t>如果被当作另外一个合法的码字</a:t>
            </a:r>
            <a:r>
              <a:rPr lang="en-US" altLang="zh-CN" kern="0" dirty="0">
                <a:solidFill>
                  <a:srgbClr val="000000"/>
                </a:solidFill>
              </a:rPr>
              <a:t>Y</a:t>
            </a:r>
            <a:r>
              <a:rPr lang="zh-CN" altLang="en-US" kern="0" dirty="0">
                <a:solidFill>
                  <a:srgbClr val="000000"/>
                </a:solidFill>
                <a:cs typeface="Times New Roman" pitchFamily="18" charset="0"/>
              </a:rPr>
              <a:t>被接收，则在</a:t>
            </a:r>
            <a:r>
              <a:rPr lang="en-US" altLang="zh-CN" kern="0" dirty="0">
                <a:solidFill>
                  <a:srgbClr val="000000"/>
                </a:solidFill>
              </a:rPr>
              <a:t>X</a:t>
            </a:r>
            <a:r>
              <a:rPr lang="zh-CN" altLang="en-US" kern="0" dirty="0">
                <a:solidFill>
                  <a:srgbClr val="000000"/>
                </a:solidFill>
                <a:cs typeface="Times New Roman" pitchFamily="18" charset="0"/>
              </a:rPr>
              <a:t>中至少发生了</a:t>
            </a:r>
            <a:r>
              <a:rPr lang="en-US" altLang="zh-CN" i="1" kern="0" dirty="0" err="1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en-US" altLang="zh-CN" i="1" kern="0" baseline="-30000" dirty="0" err="1">
                <a:solidFill>
                  <a:srgbClr val="000000"/>
                </a:solidFill>
              </a:rPr>
              <a:t>min</a:t>
            </a:r>
            <a:r>
              <a:rPr lang="zh-CN" altLang="en-US" kern="0" dirty="0">
                <a:solidFill>
                  <a:srgbClr val="000000"/>
                </a:solidFill>
                <a:cs typeface="Times New Roman" pitchFamily="18" charset="0"/>
              </a:rPr>
              <a:t>个错误。</a:t>
            </a:r>
          </a:p>
          <a:p>
            <a:pPr lvl="1">
              <a:lnSpc>
                <a:spcPct val="110000"/>
              </a:lnSpc>
            </a:pPr>
            <a:r>
              <a:rPr lang="zh-CN" altLang="en-US" kern="0" dirty="0">
                <a:solidFill>
                  <a:srgbClr val="000000"/>
                </a:solidFill>
                <a:cs typeface="Times New Roman" pitchFamily="18" charset="0"/>
              </a:rPr>
              <a:t>海明编码通常可以</a:t>
            </a:r>
            <a:r>
              <a:rPr lang="zh-CN" altLang="en-US" kern="0" dirty="0">
                <a:solidFill>
                  <a:srgbClr val="CC0000"/>
                </a:solidFill>
                <a:cs typeface="Times New Roman" pitchFamily="18" charset="0"/>
              </a:rPr>
              <a:t>检测</a:t>
            </a:r>
            <a:r>
              <a:rPr lang="zh-CN" altLang="en-US" kern="0" dirty="0">
                <a:solidFill>
                  <a:srgbClr val="000000"/>
                </a:solidFill>
                <a:cs typeface="Times New Roman" pitchFamily="18" charset="0"/>
              </a:rPr>
              <a:t>出</a:t>
            </a:r>
            <a:r>
              <a:rPr lang="en-US" altLang="zh-CN" i="1" kern="0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en-US" altLang="zh-CN" i="1" kern="0" baseline="-30000" dirty="0">
                <a:solidFill>
                  <a:srgbClr val="000000"/>
                </a:solidFill>
              </a:rPr>
              <a:t>min</a:t>
            </a:r>
            <a:r>
              <a:rPr lang="en-US" altLang="zh-CN" kern="0" dirty="0">
                <a:solidFill>
                  <a:srgbClr val="000000"/>
                </a:solidFill>
                <a:latin typeface="Courier" pitchFamily="49" charset="0"/>
                <a:cs typeface="Times New Roman" pitchFamily="18" charset="0"/>
              </a:rPr>
              <a:t>-</a:t>
            </a:r>
            <a:r>
              <a:rPr lang="en-US" altLang="zh-CN" kern="0" dirty="0">
                <a:solidFill>
                  <a:srgbClr val="000000"/>
                </a:solidFill>
              </a:rPr>
              <a:t>1</a:t>
            </a:r>
            <a:r>
              <a:rPr lang="zh-CN" altLang="en-US" kern="0" dirty="0">
                <a:solidFill>
                  <a:srgbClr val="000000"/>
                </a:solidFill>
                <a:cs typeface="Times New Roman" pitchFamily="18" charset="0"/>
              </a:rPr>
              <a:t>个码位错误。</a:t>
            </a:r>
          </a:p>
          <a:p>
            <a:pPr lvl="1">
              <a:lnSpc>
                <a:spcPct val="110000"/>
              </a:lnSpc>
            </a:pPr>
            <a:r>
              <a:rPr lang="zh-CN" altLang="en-US" kern="0" dirty="0">
                <a:solidFill>
                  <a:srgbClr val="000000"/>
                </a:solidFill>
                <a:cs typeface="Times New Roman" pitchFamily="18" charset="0"/>
              </a:rPr>
              <a:t>要检</a:t>
            </a:r>
            <a:r>
              <a:rPr lang="zh-CN" altLang="en-US" kern="0" dirty="0">
                <a:solidFill>
                  <a:srgbClr val="C00000"/>
                </a:solidFill>
                <a:cs typeface="Times New Roman" pitchFamily="18" charset="0"/>
              </a:rPr>
              <a:t>测出</a:t>
            </a:r>
            <a:r>
              <a:rPr lang="zh-CN" altLang="en-US" kern="0" dirty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en-US" altLang="zh-CN" i="1" kern="0" dirty="0">
                <a:solidFill>
                  <a:srgbClr val="000000"/>
                </a:solidFill>
              </a:rPr>
              <a:t>r </a:t>
            </a:r>
            <a:r>
              <a:rPr lang="zh-CN" altLang="en-US" kern="0" dirty="0">
                <a:solidFill>
                  <a:srgbClr val="000000"/>
                </a:solidFill>
                <a:cs typeface="Times New Roman" pitchFamily="18" charset="0"/>
              </a:rPr>
              <a:t>个</a:t>
            </a:r>
            <a:r>
              <a:rPr lang="en-US" altLang="zh-CN" kern="0" dirty="0">
                <a:solidFill>
                  <a:srgbClr val="000000"/>
                </a:solidFill>
                <a:latin typeface="宋体" charset="-122"/>
                <a:cs typeface="Times New Roman" pitchFamily="18" charset="0"/>
              </a:rPr>
              <a:t>(</a:t>
            </a:r>
            <a:r>
              <a:rPr lang="zh-CN" altLang="en-US" kern="0" dirty="0">
                <a:solidFill>
                  <a:srgbClr val="000000"/>
                </a:solidFill>
                <a:cs typeface="Times New Roman" pitchFamily="18" charset="0"/>
              </a:rPr>
              <a:t>或少于 </a:t>
            </a:r>
            <a:r>
              <a:rPr lang="en-US" altLang="zh-CN" i="1" kern="0" dirty="0">
                <a:solidFill>
                  <a:srgbClr val="000000"/>
                </a:solidFill>
              </a:rPr>
              <a:t>r </a:t>
            </a:r>
            <a:r>
              <a:rPr lang="zh-CN" altLang="en-US" kern="0" dirty="0">
                <a:solidFill>
                  <a:srgbClr val="000000"/>
                </a:solidFill>
                <a:cs typeface="Times New Roman" pitchFamily="18" charset="0"/>
              </a:rPr>
              <a:t>个</a:t>
            </a:r>
            <a:r>
              <a:rPr lang="en-US" altLang="zh-CN" kern="0" dirty="0">
                <a:solidFill>
                  <a:srgbClr val="000000"/>
                </a:solidFill>
                <a:latin typeface="宋体" charset="-122"/>
                <a:cs typeface="Times New Roman" pitchFamily="18" charset="0"/>
              </a:rPr>
              <a:t>)</a:t>
            </a:r>
            <a:r>
              <a:rPr lang="zh-CN" altLang="en-US" kern="0" dirty="0">
                <a:solidFill>
                  <a:srgbClr val="000000"/>
                </a:solidFill>
                <a:cs typeface="Times New Roman" pitchFamily="18" charset="0"/>
              </a:rPr>
              <a:t>单位错误，</a:t>
            </a:r>
            <a:br>
              <a:rPr lang="en-US" altLang="zh-CN" kern="0" dirty="0">
                <a:solidFill>
                  <a:srgbClr val="000000"/>
                </a:solidFill>
                <a:cs typeface="Times New Roman" pitchFamily="18" charset="0"/>
              </a:rPr>
            </a:br>
            <a:r>
              <a:rPr lang="zh-CN" altLang="en-US" kern="0" dirty="0">
                <a:solidFill>
                  <a:srgbClr val="000000"/>
                </a:solidFill>
                <a:cs typeface="Times New Roman" pitchFamily="18" charset="0"/>
              </a:rPr>
              <a:t>编码方案的 </a:t>
            </a:r>
            <a:r>
              <a:rPr lang="en-US" altLang="zh-CN" i="1" kern="0" dirty="0" err="1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en-US" altLang="zh-CN" i="1" kern="0" baseline="-30000" dirty="0" err="1">
                <a:solidFill>
                  <a:srgbClr val="000000"/>
                </a:solidFill>
              </a:rPr>
              <a:t>min</a:t>
            </a:r>
            <a:r>
              <a:rPr lang="zh-CN" altLang="en-US" kern="0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≥</a:t>
            </a:r>
            <a:r>
              <a:rPr lang="en-US" altLang="zh-CN" i="1" kern="0" dirty="0">
                <a:solidFill>
                  <a:srgbClr val="000000"/>
                </a:solidFill>
              </a:rPr>
              <a:t> r</a:t>
            </a:r>
            <a:r>
              <a:rPr lang="zh-CN" altLang="en-US" kern="0" dirty="0">
                <a:solidFill>
                  <a:srgbClr val="000000"/>
                </a:solidFill>
                <a:cs typeface="Times New Roman" pitchFamily="18" charset="0"/>
              </a:rPr>
              <a:t>＋</a:t>
            </a:r>
            <a:r>
              <a:rPr lang="en-US" altLang="zh-CN" kern="0" dirty="0">
                <a:solidFill>
                  <a:srgbClr val="000000"/>
                </a:solidFill>
              </a:rPr>
              <a:t>1</a:t>
            </a:r>
            <a:r>
              <a:rPr lang="zh-CN" altLang="en-US" kern="0" dirty="0">
                <a:solidFill>
                  <a:srgbClr val="000000"/>
                </a:solidFill>
                <a:cs typeface="Times New Roman" pitchFamily="18" charset="0"/>
              </a:rPr>
              <a:t>。</a:t>
            </a:r>
          </a:p>
          <a:p>
            <a:pPr>
              <a:lnSpc>
                <a:spcPct val="110000"/>
              </a:lnSpc>
            </a:pPr>
            <a:r>
              <a:rPr lang="zh-CN" altLang="en-US" kern="0" dirty="0">
                <a:solidFill>
                  <a:srgbClr val="000000"/>
                </a:solidFill>
                <a:cs typeface="Times New Roman" pitchFamily="18" charset="0"/>
              </a:rPr>
              <a:t>纠错能力：</a:t>
            </a:r>
            <a:endParaRPr lang="en-US" altLang="zh-CN" kern="0" dirty="0">
              <a:solidFill>
                <a:srgbClr val="000000"/>
              </a:solidFill>
              <a:cs typeface="Times New Roman" pitchFamily="18" charset="0"/>
            </a:endParaRPr>
          </a:p>
          <a:p>
            <a:pPr lvl="1">
              <a:lnSpc>
                <a:spcPct val="110000"/>
              </a:lnSpc>
            </a:pPr>
            <a:r>
              <a:rPr lang="zh-CN" altLang="en-US" kern="0" dirty="0">
                <a:solidFill>
                  <a:srgbClr val="000000"/>
                </a:solidFill>
                <a:cs typeface="Times New Roman" pitchFamily="18" charset="0"/>
              </a:rPr>
              <a:t>海明编码可以</a:t>
            </a:r>
            <a:r>
              <a:rPr lang="zh-CN" altLang="en-US" kern="0" dirty="0">
                <a:solidFill>
                  <a:srgbClr val="C00000"/>
                </a:solidFill>
                <a:cs typeface="Times New Roman" pitchFamily="18" charset="0"/>
              </a:rPr>
              <a:t>校正</a:t>
            </a:r>
            <a:r>
              <a:rPr lang="zh-CN" altLang="en-US" kern="0" dirty="0">
                <a:solidFill>
                  <a:srgbClr val="000000"/>
                </a:solidFill>
                <a:cs typeface="Times New Roman" pitchFamily="18" charset="0"/>
              </a:rPr>
              <a:t>                         个码位错误。</a:t>
            </a:r>
          </a:p>
          <a:p>
            <a:pPr lvl="1">
              <a:lnSpc>
                <a:spcPct val="110000"/>
              </a:lnSpc>
            </a:pPr>
            <a:r>
              <a:rPr lang="zh-CN" altLang="en-US" kern="0" dirty="0">
                <a:solidFill>
                  <a:srgbClr val="000000"/>
                </a:solidFill>
                <a:cs typeface="Times New Roman" pitchFamily="18" charset="0"/>
              </a:rPr>
              <a:t>要能</a:t>
            </a:r>
            <a:r>
              <a:rPr lang="zh-CN" altLang="en-US" kern="0" dirty="0">
                <a:solidFill>
                  <a:srgbClr val="CC0000"/>
                </a:solidFill>
                <a:cs typeface="Times New Roman" pitchFamily="18" charset="0"/>
              </a:rPr>
              <a:t>校正</a:t>
            </a:r>
            <a:r>
              <a:rPr lang="en-US" altLang="zh-CN" i="1" kern="0" dirty="0">
                <a:solidFill>
                  <a:srgbClr val="000000"/>
                </a:solidFill>
              </a:rPr>
              <a:t> r </a:t>
            </a:r>
            <a:r>
              <a:rPr lang="zh-CN" altLang="en-US" kern="0" dirty="0">
                <a:solidFill>
                  <a:srgbClr val="000000"/>
                </a:solidFill>
                <a:cs typeface="Times New Roman" pitchFamily="18" charset="0"/>
              </a:rPr>
              <a:t>个错误，编码方案的 </a:t>
            </a:r>
            <a:r>
              <a:rPr lang="en-US" altLang="zh-CN" i="1" kern="0" dirty="0" err="1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en-US" altLang="zh-CN" i="1" kern="0" baseline="-30000" dirty="0" err="1">
                <a:solidFill>
                  <a:srgbClr val="000000"/>
                </a:solidFill>
              </a:rPr>
              <a:t>min</a:t>
            </a:r>
            <a:r>
              <a:rPr lang="zh-CN" altLang="en-US" kern="0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≥</a:t>
            </a:r>
            <a:r>
              <a:rPr lang="zh-CN" altLang="en-US" kern="0" dirty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en-US" altLang="zh-CN" kern="0" dirty="0">
                <a:solidFill>
                  <a:srgbClr val="000000"/>
                </a:solidFill>
              </a:rPr>
              <a:t>2</a:t>
            </a:r>
            <a:r>
              <a:rPr lang="en-US" altLang="zh-CN" i="1" kern="0" dirty="0">
                <a:solidFill>
                  <a:srgbClr val="000000"/>
                </a:solidFill>
              </a:rPr>
              <a:t>r</a:t>
            </a:r>
            <a:r>
              <a:rPr lang="zh-CN" altLang="en-US" kern="0" dirty="0">
                <a:solidFill>
                  <a:srgbClr val="000000"/>
                </a:solidFill>
                <a:cs typeface="Times New Roman" pitchFamily="18" charset="0"/>
              </a:rPr>
              <a:t>＋</a:t>
            </a:r>
            <a:r>
              <a:rPr lang="en-US" altLang="zh-CN" kern="0" dirty="0">
                <a:solidFill>
                  <a:srgbClr val="000000"/>
                </a:solidFill>
              </a:rPr>
              <a:t>1</a:t>
            </a:r>
            <a:r>
              <a:rPr lang="zh-CN" altLang="en-US" kern="0" dirty="0">
                <a:solidFill>
                  <a:srgbClr val="000000"/>
                </a:solidFill>
                <a:cs typeface="Times New Roman" pitchFamily="18" charset="0"/>
              </a:rPr>
              <a:t>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5">
                <a:extLst>
                  <a:ext uri="{FF2B5EF4-FFF2-40B4-BE49-F238E27FC236}">
                    <a16:creationId xmlns:a16="http://schemas.microsoft.com/office/drawing/2014/main" id="{EBD82D4D-CBD7-4AA9-9244-80EBC60CC2C0}"/>
                  </a:ext>
                </a:extLst>
              </p:cNvPr>
              <p:cNvSpPr txBox="1"/>
              <p:nvPr/>
            </p:nvSpPr>
            <p:spPr bwMode="auto">
              <a:xfrm>
                <a:off x="4023984" y="4941168"/>
                <a:ext cx="2401168" cy="515938"/>
              </a:xfrm>
              <a:prstGeom prst="rect">
                <a:avLst/>
              </a:prstGeom>
              <a:noFill/>
              <a:ex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CN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𝒅</m:t>
                                  </m:r>
                                </m:e>
                                <m:sub>
                                  <m:r>
                                    <a:rPr lang="en-US" altLang="zh-CN" b="1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𝒎𝒊𝒏</m:t>
                                  </m:r>
                                </m:sub>
                              </m:sSub>
                              <m:r>
                                <a:rPr lang="en-US" altLang="zh-CN" b="1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altLang="zh-CN" b="1" i="0" smtClean="0">
                                  <a:solidFill>
                                    <a:srgbClr val="000000"/>
                                  </a:solidFill>
                                  <a:latin typeface="+mn-lt"/>
                                </a:rPr>
                                <m:t>1</m:t>
                              </m:r>
                            </m:e>
                          </m:d>
                          <m:r>
                            <a:rPr lang="en-US" altLang="zh-CN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m:rPr>
                              <m:nor/>
                            </m:rPr>
                            <a:rPr lang="en-US" altLang="zh-CN" b="1" i="0" smtClean="0">
                              <a:solidFill>
                                <a:srgbClr val="000000"/>
                              </a:solidFill>
                              <a:latin typeface="+mn-lt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Object 5">
                <a:extLst>
                  <a:ext uri="{FF2B5EF4-FFF2-40B4-BE49-F238E27FC236}">
                    <a16:creationId xmlns:a16="http://schemas.microsoft.com/office/drawing/2014/main" id="{EBD82D4D-CBD7-4AA9-9244-80EBC60CC2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23984" y="4941168"/>
                <a:ext cx="2401168" cy="5159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7">
            <a:extLst>
              <a:ext uri="{FF2B5EF4-FFF2-40B4-BE49-F238E27FC236}">
                <a16:creationId xmlns:a16="http://schemas.microsoft.com/office/drawing/2014/main" id="{407B3D5E-6863-4684-A640-C52EA6896E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764704"/>
            <a:ext cx="8451312" cy="741237"/>
          </a:xfrm>
          <a:prstGeom prst="rect">
            <a:avLst/>
          </a:prstGeom>
          <a:solidFill>
            <a:srgbClr val="FFFFCC"/>
          </a:solidFill>
          <a:ln w="28575">
            <a:solidFill>
              <a:srgbClr val="FF6600"/>
            </a:solidFill>
            <a:miter lim="800000"/>
            <a:headEnd/>
            <a:tailEnd/>
          </a:ln>
          <a:effectLst>
            <a:outerShdw blurRad="76200" dist="76200" dir="2700000" algn="tl" rotWithShape="0">
              <a:prstClr val="black">
                <a:alpha val="40000"/>
              </a:prstClr>
            </a:outerShdw>
          </a:effectLst>
        </p:spPr>
        <p:txBody>
          <a:bodyPr anchor="ctr" anchorCtr="0"/>
          <a:lstStyle/>
          <a:p>
            <a:pPr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en-US" dirty="0">
                <a:solidFill>
                  <a:srgbClr val="C00000"/>
                </a:solidFill>
                <a:ea typeface="黑体" pitchFamily="2" charset="-122"/>
                <a:cs typeface="Times New Roman" pitchFamily="18" charset="0"/>
              </a:rPr>
              <a:t>最小海明码距 </a:t>
            </a:r>
            <a:r>
              <a:rPr lang="en-US" altLang="zh-CN" i="1" dirty="0" err="1">
                <a:solidFill>
                  <a:srgbClr val="0000FF"/>
                </a:solidFill>
                <a:ea typeface="黑体" pitchFamily="2" charset="-122"/>
                <a:cs typeface="Times New Roman" pitchFamily="18" charset="0"/>
              </a:rPr>
              <a:t>d</a:t>
            </a:r>
            <a:r>
              <a:rPr lang="en-US" altLang="zh-CN" i="1" baseline="-30000" dirty="0" err="1">
                <a:solidFill>
                  <a:srgbClr val="0000FF"/>
                </a:solidFill>
                <a:ea typeface="黑体" pitchFamily="2" charset="-122"/>
                <a:cs typeface="Times New Roman" pitchFamily="18" charset="0"/>
              </a:rPr>
              <a:t>min</a:t>
            </a:r>
            <a:r>
              <a:rPr lang="en-US" altLang="zh-CN" i="1" baseline="-30000" dirty="0">
                <a:solidFill>
                  <a:srgbClr val="0000FF"/>
                </a:solidFill>
                <a:ea typeface="黑体" pitchFamily="2" charset="-122"/>
                <a:cs typeface="Times New Roman" pitchFamily="18" charset="0"/>
              </a:rPr>
              <a:t> </a:t>
            </a:r>
            <a:r>
              <a:rPr lang="zh-CN" altLang="en-US" dirty="0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决定了该编码</a:t>
            </a:r>
            <a:r>
              <a:rPr lang="zh-CN" altLang="en-US" dirty="0">
                <a:solidFill>
                  <a:srgbClr val="6600FF"/>
                </a:solidFill>
                <a:ea typeface="黑体" pitchFamily="2" charset="-122"/>
                <a:cs typeface="Times New Roman" pitchFamily="18" charset="0"/>
              </a:rPr>
              <a:t>检错</a:t>
            </a:r>
            <a:r>
              <a:rPr lang="zh-CN" altLang="en-US" dirty="0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和</a:t>
            </a:r>
            <a:r>
              <a:rPr lang="zh-CN" altLang="en-US" dirty="0">
                <a:solidFill>
                  <a:srgbClr val="6600FF"/>
                </a:solidFill>
                <a:ea typeface="黑体" pitchFamily="2" charset="-122"/>
                <a:cs typeface="Times New Roman" pitchFamily="18" charset="0"/>
              </a:rPr>
              <a:t>纠错</a:t>
            </a:r>
            <a:r>
              <a:rPr lang="zh-CN" altLang="en-US" dirty="0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的能力。</a:t>
            </a:r>
          </a:p>
        </p:txBody>
      </p:sp>
    </p:spTree>
    <p:extLst>
      <p:ext uri="{BB962C8B-B14F-4D97-AF65-F5344CB8AC3E}">
        <p14:creationId xmlns:p14="http://schemas.microsoft.com/office/powerpoint/2010/main" val="142402592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C7F068-FB88-4812-87A0-F4E88BB38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</a:t>
            </a:r>
            <a:r>
              <a:rPr lang="zh-CN" altLang="en-US" dirty="0">
                <a:solidFill>
                  <a:srgbClr val="FF6600"/>
                </a:solidFill>
              </a:rPr>
              <a:t>码距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009900"/>
                </a:solidFill>
              </a:rPr>
              <a:t>校验位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9900"/>
                </a:solidFill>
              </a:rPr>
              <a:t>位数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796A60-8A2F-4430-A96F-C053A3FF6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00808"/>
            <a:ext cx="8362950" cy="4825032"/>
          </a:xfrm>
        </p:spPr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2</a:t>
            </a:r>
            <a:r>
              <a:rPr lang="en-US" altLang="zh-CN" i="1" baseline="30000" dirty="0"/>
              <a:t>n</a:t>
            </a:r>
            <a:r>
              <a:rPr lang="zh-CN" altLang="en-US" dirty="0"/>
              <a:t>个合法的码字中，</a:t>
            </a:r>
            <a:br>
              <a:rPr lang="en-US" altLang="zh-CN" dirty="0"/>
            </a:br>
            <a:r>
              <a:rPr lang="en-US" altLang="zh-CN" i="1" dirty="0"/>
              <a:t>m </a:t>
            </a:r>
            <a:r>
              <a:rPr lang="zh-CN" altLang="en-US" dirty="0"/>
              <a:t>位中任何一位出错都会得到一个非法码字，</a:t>
            </a:r>
            <a:br>
              <a:rPr lang="en-US" altLang="zh-CN" dirty="0"/>
            </a:br>
            <a:r>
              <a:rPr lang="zh-CN" altLang="en-US" dirty="0"/>
              <a:t>从而发现错误。</a:t>
            </a:r>
            <a:endParaRPr lang="en-US" altLang="zh-CN" dirty="0"/>
          </a:p>
          <a:p>
            <a:r>
              <a:rPr lang="zh-CN" altLang="en-US" dirty="0"/>
              <a:t>任意两个合法码字，错一位后得到的非法码字不能相同，这样才可以纠错。</a:t>
            </a:r>
            <a:endParaRPr lang="en-US" altLang="zh-CN" dirty="0"/>
          </a:p>
          <a:p>
            <a:r>
              <a:rPr lang="zh-CN" altLang="en-US" dirty="0"/>
              <a:t>每个合法码字对应：</a:t>
            </a:r>
            <a:br>
              <a:rPr lang="en-US" altLang="zh-CN" dirty="0"/>
            </a:br>
            <a:r>
              <a:rPr lang="en-US" altLang="zh-CN" dirty="0"/>
              <a:t>1</a:t>
            </a:r>
            <a:r>
              <a:rPr lang="zh-CN" altLang="en-US" dirty="0"/>
              <a:t>个合法码字</a:t>
            </a:r>
            <a:r>
              <a:rPr lang="en-US" altLang="zh-CN" dirty="0">
                <a:latin typeface="+mn-ea"/>
              </a:rPr>
              <a:t>(</a:t>
            </a:r>
            <a:r>
              <a:rPr lang="zh-CN" altLang="en-US" dirty="0"/>
              <a:t>自身</a:t>
            </a:r>
            <a:r>
              <a:rPr lang="en-US" altLang="zh-CN" dirty="0">
                <a:latin typeface="+mn-ea"/>
              </a:rPr>
              <a:t>)</a:t>
            </a:r>
            <a:r>
              <a:rPr lang="en-US" altLang="zh-CN" dirty="0"/>
              <a:t> </a:t>
            </a:r>
            <a:r>
              <a:rPr lang="zh-CN" altLang="en-US" dirty="0"/>
              <a:t>＋ </a:t>
            </a:r>
            <a:r>
              <a:rPr lang="en-US" altLang="zh-CN" i="1" dirty="0"/>
              <a:t>m</a:t>
            </a:r>
            <a:r>
              <a:rPr lang="zh-CN" altLang="en-US" dirty="0"/>
              <a:t>个非法码字</a:t>
            </a:r>
            <a:r>
              <a:rPr lang="en-US" altLang="zh-CN" dirty="0">
                <a:latin typeface="+mn-ea"/>
              </a:rPr>
              <a:t>(</a:t>
            </a:r>
            <a:r>
              <a:rPr lang="zh-CN" altLang="en-US" dirty="0"/>
              <a:t>错</a:t>
            </a:r>
            <a:r>
              <a:rPr lang="en-US" altLang="zh-CN" dirty="0"/>
              <a:t>1</a:t>
            </a:r>
            <a:r>
              <a:rPr lang="zh-CN" altLang="en-US" dirty="0"/>
              <a:t>位</a:t>
            </a:r>
            <a:r>
              <a:rPr lang="en-US" altLang="zh-CN" dirty="0">
                <a:latin typeface="+mn-ea"/>
              </a:rPr>
              <a:t>)</a:t>
            </a:r>
          </a:p>
          <a:p>
            <a:r>
              <a:rPr lang="zh-CN" altLang="en-US" dirty="0"/>
              <a:t>总码字个数</a:t>
            </a:r>
            <a:r>
              <a:rPr lang="en-US" altLang="zh-CN" dirty="0"/>
              <a:t>2</a:t>
            </a:r>
            <a:r>
              <a:rPr lang="en-US" altLang="zh-CN" i="1" baseline="30000" dirty="0"/>
              <a:t>m </a:t>
            </a:r>
            <a:r>
              <a:rPr lang="zh-CN" altLang="en-US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≥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en-US" altLang="zh-CN" dirty="0"/>
              <a:t>2</a:t>
            </a:r>
            <a:r>
              <a:rPr lang="en-US" altLang="zh-CN" i="1" baseline="30000" dirty="0"/>
              <a:t>n </a:t>
            </a:r>
            <a:r>
              <a:rPr lang="en-US" altLang="zh-CN" dirty="0"/>
              <a:t>×</a:t>
            </a:r>
            <a:r>
              <a:rPr lang="en-US" altLang="zh-CN" dirty="0">
                <a:latin typeface="+mn-ea"/>
              </a:rPr>
              <a:t>(</a:t>
            </a:r>
            <a:r>
              <a:rPr lang="en-US" altLang="zh-CN" i="1" dirty="0"/>
              <a:t>m</a:t>
            </a:r>
            <a:r>
              <a:rPr lang="zh-CN" altLang="en-US" dirty="0"/>
              <a:t>＋</a:t>
            </a:r>
            <a:r>
              <a:rPr lang="en-US" altLang="zh-CN" dirty="0"/>
              <a:t>1</a:t>
            </a:r>
            <a:r>
              <a:rPr lang="en-US" altLang="zh-CN" dirty="0">
                <a:latin typeface="+mn-ea"/>
              </a:rPr>
              <a:t>)</a:t>
            </a:r>
          </a:p>
          <a:p>
            <a:pPr marL="355600" lvl="1" indent="0">
              <a:buNone/>
            </a:pPr>
            <a:r>
              <a:rPr lang="en-US" altLang="zh-CN" dirty="0"/>
              <a:t>                  2</a:t>
            </a:r>
            <a:r>
              <a:rPr lang="en-US" altLang="zh-CN" i="1" baseline="30000" dirty="0"/>
              <a:t>n</a:t>
            </a:r>
            <a:r>
              <a:rPr lang="en-US" altLang="zh-CN" baseline="30000" dirty="0"/>
              <a:t>+</a:t>
            </a:r>
            <a:r>
              <a:rPr lang="en-US" altLang="zh-CN" i="1" baseline="30000" dirty="0"/>
              <a:t>k </a:t>
            </a:r>
            <a:r>
              <a:rPr lang="zh-CN" altLang="en-US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≥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en-US" altLang="zh-CN" dirty="0"/>
              <a:t>2</a:t>
            </a:r>
            <a:r>
              <a:rPr lang="en-US" altLang="zh-CN" i="1" baseline="30000" dirty="0"/>
              <a:t>n </a:t>
            </a:r>
            <a:r>
              <a:rPr lang="en-US" altLang="zh-CN" dirty="0"/>
              <a:t>×</a:t>
            </a:r>
            <a:r>
              <a:rPr lang="en-US" altLang="zh-CN" dirty="0">
                <a:latin typeface="+mn-ea"/>
                <a:cs typeface="+mn-cs"/>
              </a:rPr>
              <a:t>(</a:t>
            </a:r>
            <a:r>
              <a:rPr lang="en-US" altLang="zh-CN" i="1" dirty="0"/>
              <a:t>n</a:t>
            </a:r>
            <a:r>
              <a:rPr lang="zh-CN" altLang="en-US" dirty="0"/>
              <a:t>＋</a:t>
            </a:r>
            <a:r>
              <a:rPr lang="en-US" altLang="zh-CN" i="1" dirty="0"/>
              <a:t>k</a:t>
            </a:r>
            <a:r>
              <a:rPr lang="zh-CN" altLang="en-US" dirty="0"/>
              <a:t>＋</a:t>
            </a:r>
            <a:r>
              <a:rPr lang="en-US" altLang="zh-CN" dirty="0"/>
              <a:t>1</a:t>
            </a:r>
            <a:r>
              <a:rPr lang="en-US" altLang="zh-CN" dirty="0">
                <a:latin typeface="+mn-ea"/>
                <a:cs typeface="+mn-cs"/>
              </a:rPr>
              <a:t>)</a:t>
            </a:r>
          </a:p>
          <a:p>
            <a:pPr marL="355600" lvl="1" indent="0">
              <a:buNone/>
            </a:pPr>
            <a:r>
              <a:rPr lang="en-US" altLang="zh-CN" dirty="0"/>
              <a:t>                     2</a:t>
            </a:r>
            <a:r>
              <a:rPr lang="en-US" altLang="zh-CN" i="1" baseline="30000" dirty="0"/>
              <a:t>k </a:t>
            </a:r>
            <a:r>
              <a:rPr lang="zh-CN" altLang="en-US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≥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en-US" altLang="zh-CN" i="1" dirty="0"/>
              <a:t>n</a:t>
            </a:r>
            <a:r>
              <a:rPr lang="zh-CN" altLang="en-US" dirty="0"/>
              <a:t>＋</a:t>
            </a:r>
            <a:r>
              <a:rPr lang="en-US" altLang="zh-CN" i="1" dirty="0"/>
              <a:t>k</a:t>
            </a:r>
            <a:r>
              <a:rPr lang="zh-CN" altLang="en-US" dirty="0"/>
              <a:t>＋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E44417-25F1-430F-8DAE-0A7AA5845F8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E090CA-FDE9-4186-A298-407E61DFE875}" type="slidenum">
              <a:rPr lang="zh-CN" altLang="en-US" smtClean="0"/>
              <a:pPr/>
              <a:t>8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10DBD3C-394C-447B-ADB1-08030B2C3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7425" y="837357"/>
            <a:ext cx="2232025" cy="576262"/>
          </a:xfrm>
          <a:prstGeom prst="rect">
            <a:avLst/>
          </a:prstGeom>
          <a:solidFill>
            <a:srgbClr val="CCFFCC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dirty="0"/>
              <a:t>数据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4177BCB-748B-4BD2-BFA8-304B51F3F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9450" y="837357"/>
            <a:ext cx="1657350" cy="576262"/>
          </a:xfrm>
          <a:prstGeom prst="rect">
            <a:avLst/>
          </a:prstGeom>
          <a:solidFill>
            <a:srgbClr val="FFCCCC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/>
              <a:t>校验码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AD1ECFBE-A065-41D9-BF63-832E869B8187}"/>
              </a:ext>
            </a:extLst>
          </p:cNvPr>
          <p:cNvSpPr>
            <a:spLocks/>
          </p:cNvSpPr>
          <p:nvPr/>
        </p:nvSpPr>
        <p:spPr bwMode="auto">
          <a:xfrm rot="16200000">
            <a:off x="5769769" y="512713"/>
            <a:ext cx="215900" cy="2160587"/>
          </a:xfrm>
          <a:prstGeom prst="leftBrace">
            <a:avLst>
              <a:gd name="adj1" fmla="val 65418"/>
              <a:gd name="adj2" fmla="val 50000"/>
            </a:avLst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010F700D-ABDE-42EA-9EAB-B4A852A146E9}"/>
              </a:ext>
            </a:extLst>
          </p:cNvPr>
          <p:cNvSpPr>
            <a:spLocks/>
          </p:cNvSpPr>
          <p:nvPr/>
        </p:nvSpPr>
        <p:spPr bwMode="auto">
          <a:xfrm rot="16200000">
            <a:off x="7786688" y="800844"/>
            <a:ext cx="215900" cy="1584325"/>
          </a:xfrm>
          <a:prstGeom prst="leftBrace">
            <a:avLst>
              <a:gd name="adj1" fmla="val 65433"/>
              <a:gd name="adj2" fmla="val 50000"/>
            </a:avLst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D2454404-36D5-4970-A80C-F8C834F4AB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3687" y="1629519"/>
            <a:ext cx="1079500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i="1" dirty="0">
                <a:solidFill>
                  <a:srgbClr val="0000FF"/>
                </a:solidFill>
              </a:rPr>
              <a:t>n</a:t>
            </a:r>
            <a:r>
              <a:rPr lang="zh-CN" altLang="en-US" dirty="0">
                <a:solidFill>
                  <a:srgbClr val="0000FF"/>
                </a:solidFill>
              </a:rPr>
              <a:t>位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A1F070C2-5DB2-454E-9834-6F5AA7154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2837" y="1629519"/>
            <a:ext cx="1079500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i="1" dirty="0">
                <a:solidFill>
                  <a:srgbClr val="0000FF"/>
                </a:solidFill>
              </a:rPr>
              <a:t>k</a:t>
            </a:r>
            <a:r>
              <a:rPr lang="zh-CN" altLang="en-US" dirty="0">
                <a:solidFill>
                  <a:srgbClr val="0000FF"/>
                </a:solidFill>
              </a:rPr>
              <a:t>位</a:t>
            </a:r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A5AE5EBC-4C1D-4DD8-951C-4E759F5A1591}"/>
              </a:ext>
            </a:extLst>
          </p:cNvPr>
          <p:cNvSpPr>
            <a:spLocks/>
          </p:cNvSpPr>
          <p:nvPr/>
        </p:nvSpPr>
        <p:spPr bwMode="auto">
          <a:xfrm rot="5400000" flipV="1">
            <a:off x="6634163" y="-1288306"/>
            <a:ext cx="215900" cy="3889375"/>
          </a:xfrm>
          <a:prstGeom prst="leftBrace">
            <a:avLst>
              <a:gd name="adj1" fmla="val 68306"/>
              <a:gd name="adj2" fmla="val 50000"/>
            </a:avLst>
          </a:prstGeom>
          <a:noFill/>
          <a:ln w="28575">
            <a:solidFill>
              <a:srgbClr val="FF66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94EAFCEC-F746-4029-BA3D-4ED9F95912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0963" y="116632"/>
            <a:ext cx="2665413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rgbClr val="FF3300"/>
                </a:solidFill>
              </a:rPr>
              <a:t>码字：</a:t>
            </a:r>
            <a:r>
              <a:rPr lang="en-US" altLang="zh-CN" i="1" dirty="0">
                <a:solidFill>
                  <a:srgbClr val="FF3300"/>
                </a:solidFill>
              </a:rPr>
              <a:t>m</a:t>
            </a:r>
            <a:r>
              <a:rPr lang="zh-CN" altLang="en-US" dirty="0">
                <a:solidFill>
                  <a:srgbClr val="FF3300"/>
                </a:solidFill>
              </a:rPr>
              <a:t>位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448CD96-09D4-4842-93B5-0394FD1A27C8}"/>
              </a:ext>
            </a:extLst>
          </p:cNvPr>
          <p:cNvSpPr/>
          <p:nvPr/>
        </p:nvSpPr>
        <p:spPr>
          <a:xfrm>
            <a:off x="697139" y="707107"/>
            <a:ext cx="3970959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</a:pPr>
            <a:r>
              <a:rPr lang="zh-CN" altLang="en-US" dirty="0">
                <a:solidFill>
                  <a:srgbClr val="C00000"/>
                </a:solidFill>
              </a:rPr>
              <a:t>要求可以纠正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zh-CN" altLang="en-US" dirty="0">
                <a:solidFill>
                  <a:srgbClr val="C00000"/>
                </a:solidFill>
              </a:rPr>
              <a:t>位错误，</a:t>
            </a:r>
            <a:endParaRPr lang="en-US" altLang="zh-CN" dirty="0">
              <a:solidFill>
                <a:srgbClr val="C00000"/>
              </a:solidFill>
            </a:endParaRPr>
          </a:p>
          <a:p>
            <a:pPr algn="r">
              <a:spcBef>
                <a:spcPts val="0"/>
              </a:spcBef>
            </a:pPr>
            <a:r>
              <a:rPr lang="zh-CN" altLang="en-US" dirty="0">
                <a:solidFill>
                  <a:srgbClr val="C00000"/>
                </a:solidFill>
              </a:rPr>
              <a:t>设计码字格式：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2D1AEB6-1051-406D-B5ED-A9CC0F990A91}"/>
              </a:ext>
            </a:extLst>
          </p:cNvPr>
          <p:cNvCxnSpPr/>
          <p:nvPr/>
        </p:nvCxnSpPr>
        <p:spPr bwMode="auto">
          <a:xfrm>
            <a:off x="2752544" y="6455504"/>
            <a:ext cx="2097633" cy="0"/>
          </a:xfrm>
          <a:prstGeom prst="line">
            <a:avLst/>
          </a:prstGeom>
          <a:noFill/>
          <a:ln w="76200" cap="flat" cmpd="sng" algn="ctr">
            <a:solidFill>
              <a:srgbClr val="FF66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20921149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C7F068-FB88-4812-87A0-F4E88BB38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</a:t>
            </a:r>
            <a:r>
              <a:rPr lang="zh-CN" altLang="en-US" dirty="0">
                <a:solidFill>
                  <a:srgbClr val="FF6600"/>
                </a:solidFill>
              </a:rPr>
              <a:t>码距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009900"/>
                </a:solidFill>
              </a:rPr>
              <a:t>校验位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9900"/>
                </a:solidFill>
              </a:rPr>
              <a:t>位数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796A60-8A2F-4430-A96F-C053A3FF6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00808"/>
            <a:ext cx="8362950" cy="720873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2</a:t>
            </a:r>
            <a:r>
              <a:rPr lang="en-US" altLang="zh-CN" i="1" baseline="30000" dirty="0"/>
              <a:t>k </a:t>
            </a:r>
            <a:r>
              <a:rPr lang="zh-CN" altLang="en-US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≥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en-US" altLang="zh-CN" i="1" dirty="0"/>
              <a:t>n</a:t>
            </a:r>
            <a:r>
              <a:rPr lang="zh-CN" altLang="en-US" dirty="0"/>
              <a:t>＋</a:t>
            </a:r>
            <a:r>
              <a:rPr lang="en-US" altLang="zh-CN" i="1" dirty="0"/>
              <a:t>k</a:t>
            </a:r>
            <a:r>
              <a:rPr lang="zh-CN" altLang="en-US" dirty="0"/>
              <a:t>＋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E44417-25F1-430F-8DAE-0A7AA5845F8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E090CA-FDE9-4186-A298-407E61DFE875}" type="slidenum">
              <a:rPr lang="zh-CN" altLang="en-US" smtClean="0"/>
              <a:pPr/>
              <a:t>9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10DBD3C-394C-447B-ADB1-08030B2C3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7425" y="837357"/>
            <a:ext cx="2232025" cy="576262"/>
          </a:xfrm>
          <a:prstGeom prst="rect">
            <a:avLst/>
          </a:prstGeom>
          <a:solidFill>
            <a:srgbClr val="CCFFCC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dirty="0"/>
              <a:t>数据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4177BCB-748B-4BD2-BFA8-304B51F3F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9450" y="837357"/>
            <a:ext cx="1657350" cy="576262"/>
          </a:xfrm>
          <a:prstGeom prst="rect">
            <a:avLst/>
          </a:prstGeom>
          <a:solidFill>
            <a:srgbClr val="FFCCCC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/>
              <a:t>校验码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AD1ECFBE-A065-41D9-BF63-832E869B8187}"/>
              </a:ext>
            </a:extLst>
          </p:cNvPr>
          <p:cNvSpPr>
            <a:spLocks/>
          </p:cNvSpPr>
          <p:nvPr/>
        </p:nvSpPr>
        <p:spPr bwMode="auto">
          <a:xfrm rot="16200000">
            <a:off x="5769769" y="512713"/>
            <a:ext cx="215900" cy="2160587"/>
          </a:xfrm>
          <a:prstGeom prst="leftBrace">
            <a:avLst>
              <a:gd name="adj1" fmla="val 65418"/>
              <a:gd name="adj2" fmla="val 50000"/>
            </a:avLst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010F700D-ABDE-42EA-9EAB-B4A852A146E9}"/>
              </a:ext>
            </a:extLst>
          </p:cNvPr>
          <p:cNvSpPr>
            <a:spLocks/>
          </p:cNvSpPr>
          <p:nvPr/>
        </p:nvSpPr>
        <p:spPr bwMode="auto">
          <a:xfrm rot="16200000">
            <a:off x="7786688" y="800844"/>
            <a:ext cx="215900" cy="1584325"/>
          </a:xfrm>
          <a:prstGeom prst="leftBrace">
            <a:avLst>
              <a:gd name="adj1" fmla="val 65433"/>
              <a:gd name="adj2" fmla="val 50000"/>
            </a:avLst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D2454404-36D5-4970-A80C-F8C834F4AB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3687" y="1629519"/>
            <a:ext cx="1079500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i="1" dirty="0">
                <a:solidFill>
                  <a:srgbClr val="0000FF"/>
                </a:solidFill>
              </a:rPr>
              <a:t>n</a:t>
            </a:r>
            <a:r>
              <a:rPr lang="zh-CN" altLang="en-US" dirty="0">
                <a:solidFill>
                  <a:srgbClr val="0000FF"/>
                </a:solidFill>
              </a:rPr>
              <a:t>位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A1F070C2-5DB2-454E-9834-6F5AA7154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2837" y="1629519"/>
            <a:ext cx="1079500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i="1" dirty="0">
                <a:solidFill>
                  <a:srgbClr val="0000FF"/>
                </a:solidFill>
              </a:rPr>
              <a:t>k</a:t>
            </a:r>
            <a:r>
              <a:rPr lang="zh-CN" altLang="en-US" dirty="0">
                <a:solidFill>
                  <a:srgbClr val="0000FF"/>
                </a:solidFill>
              </a:rPr>
              <a:t>位</a:t>
            </a:r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A5AE5EBC-4C1D-4DD8-951C-4E759F5A1591}"/>
              </a:ext>
            </a:extLst>
          </p:cNvPr>
          <p:cNvSpPr>
            <a:spLocks/>
          </p:cNvSpPr>
          <p:nvPr/>
        </p:nvSpPr>
        <p:spPr bwMode="auto">
          <a:xfrm rot="5400000" flipV="1">
            <a:off x="6634163" y="-1288306"/>
            <a:ext cx="215900" cy="3889375"/>
          </a:xfrm>
          <a:prstGeom prst="leftBrace">
            <a:avLst>
              <a:gd name="adj1" fmla="val 68306"/>
              <a:gd name="adj2" fmla="val 50000"/>
            </a:avLst>
          </a:prstGeom>
          <a:noFill/>
          <a:ln w="28575">
            <a:solidFill>
              <a:srgbClr val="FF66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94EAFCEC-F746-4029-BA3D-4ED9F95912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0963" y="116632"/>
            <a:ext cx="2665413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rgbClr val="FF3300"/>
                </a:solidFill>
              </a:rPr>
              <a:t>码字：</a:t>
            </a:r>
            <a:r>
              <a:rPr lang="en-US" altLang="zh-CN" i="1" dirty="0">
                <a:solidFill>
                  <a:srgbClr val="FF3300"/>
                </a:solidFill>
              </a:rPr>
              <a:t>m</a:t>
            </a:r>
            <a:r>
              <a:rPr lang="zh-CN" altLang="en-US" dirty="0">
                <a:solidFill>
                  <a:srgbClr val="FF3300"/>
                </a:solidFill>
              </a:rPr>
              <a:t>位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448CD96-09D4-4842-93B5-0394FD1A27C8}"/>
              </a:ext>
            </a:extLst>
          </p:cNvPr>
          <p:cNvSpPr/>
          <p:nvPr/>
        </p:nvSpPr>
        <p:spPr>
          <a:xfrm>
            <a:off x="697139" y="707107"/>
            <a:ext cx="3970959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</a:pPr>
            <a:r>
              <a:rPr lang="zh-CN" altLang="en-US" dirty="0">
                <a:solidFill>
                  <a:srgbClr val="C00000"/>
                </a:solidFill>
              </a:rPr>
              <a:t>要求可以纠正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zh-CN" altLang="en-US" dirty="0">
                <a:solidFill>
                  <a:srgbClr val="C00000"/>
                </a:solidFill>
              </a:rPr>
              <a:t>位错误，</a:t>
            </a:r>
            <a:endParaRPr lang="en-US" altLang="zh-CN" dirty="0">
              <a:solidFill>
                <a:srgbClr val="C00000"/>
              </a:solidFill>
            </a:endParaRPr>
          </a:p>
          <a:p>
            <a:pPr algn="r">
              <a:spcBef>
                <a:spcPts val="0"/>
              </a:spcBef>
            </a:pPr>
            <a:r>
              <a:rPr lang="zh-CN" altLang="en-US" dirty="0">
                <a:solidFill>
                  <a:srgbClr val="C00000"/>
                </a:solidFill>
              </a:rPr>
              <a:t>设计码字格式：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2D1AEB6-1051-406D-B5ED-A9CC0F990A91}"/>
              </a:ext>
            </a:extLst>
          </p:cNvPr>
          <p:cNvCxnSpPr/>
          <p:nvPr/>
        </p:nvCxnSpPr>
        <p:spPr bwMode="auto">
          <a:xfrm>
            <a:off x="515999" y="2185751"/>
            <a:ext cx="2097633" cy="0"/>
          </a:xfrm>
          <a:prstGeom prst="line">
            <a:avLst/>
          </a:prstGeom>
          <a:noFill/>
          <a:ln w="76200" cap="flat" cmpd="sng" algn="ctr">
            <a:solidFill>
              <a:srgbClr val="FF66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B0A52FBD-B633-41B8-98DD-70273E322F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0207" y="4290862"/>
            <a:ext cx="2501366" cy="574675"/>
          </a:xfrm>
          <a:prstGeom prst="rect">
            <a:avLst/>
          </a:prstGeom>
          <a:solidFill>
            <a:srgbClr val="FFFF99"/>
          </a:solidFill>
          <a:ln w="28575">
            <a:solidFill>
              <a:srgbClr val="FF6600"/>
            </a:solidFill>
            <a:miter lim="800000"/>
            <a:headEnd/>
            <a:tailEnd/>
          </a:ln>
          <a:effectLst>
            <a:outerShdw blurRad="76200" dist="762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pt-BR" altLang="zh-CN" dirty="0">
                <a:solidFill>
                  <a:srgbClr val="000000"/>
                </a:solidFill>
              </a:rPr>
              <a:t>2</a:t>
            </a:r>
            <a:r>
              <a:rPr lang="pt-BR" altLang="zh-CN" i="1" baseline="50000" dirty="0"/>
              <a:t>k </a:t>
            </a:r>
            <a:r>
              <a:rPr lang="zh-CN" altLang="en-US" dirty="0">
                <a:latin typeface="+mn-ea"/>
                <a:ea typeface="+mn-ea"/>
              </a:rPr>
              <a:t>≥</a:t>
            </a:r>
            <a:r>
              <a:rPr lang="zh-CN" altLang="en-US" dirty="0">
                <a:latin typeface="+mn-lt"/>
                <a:ea typeface="+mn-ea"/>
              </a:rPr>
              <a:t> </a:t>
            </a:r>
            <a:r>
              <a:rPr lang="pt-BR" altLang="zh-CN" i="1" dirty="0">
                <a:solidFill>
                  <a:srgbClr val="000000"/>
                </a:solidFill>
              </a:rPr>
              <a:t>n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＋</a:t>
            </a:r>
            <a:r>
              <a:rPr lang="pt-BR" altLang="zh-CN" i="1" dirty="0">
                <a:solidFill>
                  <a:srgbClr val="000000"/>
                </a:solidFill>
              </a:rPr>
              <a:t>k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＋</a:t>
            </a:r>
            <a:r>
              <a:rPr lang="pt-BR" altLang="zh-CN" dirty="0">
                <a:solidFill>
                  <a:srgbClr val="000000"/>
                </a:solidFill>
              </a:rPr>
              <a:t>1</a:t>
            </a:r>
            <a:endParaRPr lang="en-US" altLang="zh-CN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7" name="Text Box 18">
            <a:extLst>
              <a:ext uri="{FF2B5EF4-FFF2-40B4-BE49-F238E27FC236}">
                <a16:creationId xmlns:a16="http://schemas.microsoft.com/office/drawing/2014/main" id="{0D7E8DBC-8392-44FE-9F15-0D355E6CA4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648" y="2564904"/>
            <a:ext cx="6694487" cy="974725"/>
          </a:xfrm>
          <a:prstGeom prst="rect">
            <a:avLst/>
          </a:prstGeom>
          <a:noFill/>
          <a:ln w="28575" algn="ctr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pt-BR" altLang="zh-CN" i="1" dirty="0">
                <a:solidFill>
                  <a:srgbClr val="006600"/>
                </a:solidFill>
              </a:rPr>
              <a:t>k </a:t>
            </a:r>
            <a:r>
              <a:rPr lang="zh-CN" altLang="pt-BR" dirty="0">
                <a:solidFill>
                  <a:srgbClr val="006600"/>
                </a:solidFill>
              </a:rPr>
              <a:t>位校验码可以区分出：</a:t>
            </a:r>
          </a:p>
          <a:p>
            <a:pPr>
              <a:spcBef>
                <a:spcPct val="0"/>
              </a:spcBef>
            </a:pPr>
            <a:r>
              <a:rPr lang="pt-BR" altLang="zh-CN" dirty="0">
                <a:solidFill>
                  <a:srgbClr val="006600"/>
                </a:solidFill>
                <a:latin typeface="宋体" charset="-122"/>
              </a:rPr>
              <a:t>“</a:t>
            </a:r>
            <a:r>
              <a:rPr lang="pt-BR" altLang="zh-CN" dirty="0">
                <a:solidFill>
                  <a:srgbClr val="006600"/>
                </a:solidFill>
              </a:rPr>
              <a:t>1</a:t>
            </a:r>
            <a:r>
              <a:rPr lang="zh-CN" altLang="pt-BR" dirty="0">
                <a:solidFill>
                  <a:srgbClr val="006600"/>
                </a:solidFill>
              </a:rPr>
              <a:t>个</a:t>
            </a:r>
            <a:r>
              <a:rPr lang="zh-CN" altLang="en-US" dirty="0">
                <a:solidFill>
                  <a:srgbClr val="006600"/>
                </a:solidFill>
              </a:rPr>
              <a:t>合法的编码字</a:t>
            </a:r>
            <a:r>
              <a:rPr lang="zh-CN" altLang="en-US" dirty="0">
                <a:solidFill>
                  <a:srgbClr val="CC0066"/>
                </a:solidFill>
              </a:rPr>
              <a:t>＋</a:t>
            </a:r>
            <a:r>
              <a:rPr lang="en-US" altLang="zh-CN" i="1" dirty="0">
                <a:solidFill>
                  <a:srgbClr val="006600"/>
                </a:solidFill>
              </a:rPr>
              <a:t>m</a:t>
            </a:r>
            <a:r>
              <a:rPr lang="zh-CN" altLang="en-US" dirty="0">
                <a:solidFill>
                  <a:srgbClr val="006600"/>
                </a:solidFill>
              </a:rPr>
              <a:t>个非法的编码字</a:t>
            </a:r>
            <a:r>
              <a:rPr lang="pt-BR" altLang="zh-CN" dirty="0">
                <a:solidFill>
                  <a:srgbClr val="006600"/>
                </a:solidFill>
                <a:latin typeface="宋体" charset="-122"/>
              </a:rPr>
              <a:t>”</a:t>
            </a:r>
            <a:endParaRPr lang="en-US" altLang="zh-CN" dirty="0">
              <a:solidFill>
                <a:srgbClr val="006600"/>
              </a:solidFill>
              <a:latin typeface="宋体" charset="-122"/>
            </a:endParaRPr>
          </a:p>
        </p:txBody>
      </p:sp>
      <p:sp>
        <p:nvSpPr>
          <p:cNvPr id="18" name="AutoShape 19">
            <a:extLst>
              <a:ext uri="{FF2B5EF4-FFF2-40B4-BE49-F238E27FC236}">
                <a16:creationId xmlns:a16="http://schemas.microsoft.com/office/drawing/2014/main" id="{D388BC6A-9E0A-4E95-8A6D-49EDF93C318F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373494" y="3736843"/>
            <a:ext cx="754792" cy="360363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solidFill>
            <a:srgbClr val="3366FF"/>
          </a:solidFill>
          <a:ln w="28575" algn="ctr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19" name="Rectangle 163">
            <a:extLst>
              <a:ext uri="{FF2B5EF4-FFF2-40B4-BE49-F238E27FC236}">
                <a16:creationId xmlns:a16="http://schemas.microsoft.com/office/drawing/2014/main" id="{6705EFC0-1465-4E3A-9331-CBD6D6B13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247" y="5351827"/>
            <a:ext cx="7704856" cy="597818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l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zh-CN" altLang="pt-BR" dirty="0"/>
              <a:t>假设数据位长度</a:t>
            </a:r>
            <a:r>
              <a:rPr lang="en-US" altLang="zh-CN" i="1" dirty="0"/>
              <a:t>n</a:t>
            </a:r>
            <a:r>
              <a:rPr lang="zh-CN" altLang="pt-BR" dirty="0"/>
              <a:t>＝</a:t>
            </a:r>
            <a:r>
              <a:rPr lang="pt-BR" altLang="zh-CN" dirty="0"/>
              <a:t>3</a:t>
            </a:r>
            <a:r>
              <a:rPr lang="zh-CN" altLang="pt-BR" dirty="0"/>
              <a:t>，</a:t>
            </a:r>
            <a:r>
              <a:rPr lang="pt-BR" altLang="zh-CN" dirty="0">
                <a:solidFill>
                  <a:srgbClr val="000000"/>
                </a:solidFill>
              </a:rPr>
              <a:t> 2</a:t>
            </a:r>
            <a:r>
              <a:rPr lang="pt-BR" altLang="zh-CN" i="1" baseline="50000" dirty="0"/>
              <a:t>k </a:t>
            </a:r>
            <a:r>
              <a:rPr lang="zh-CN" altLang="en-US" dirty="0">
                <a:latin typeface="+mn-ea"/>
              </a:rPr>
              <a:t>≥</a:t>
            </a:r>
            <a:r>
              <a:rPr lang="zh-CN" altLang="en-US" dirty="0"/>
              <a:t> </a:t>
            </a:r>
            <a:r>
              <a:rPr lang="pt-BR" altLang="zh-CN" i="1" dirty="0">
                <a:solidFill>
                  <a:srgbClr val="000000"/>
                </a:solidFill>
              </a:rPr>
              <a:t>k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＋</a:t>
            </a:r>
            <a:r>
              <a:rPr lang="pt-BR" altLang="zh-CN" dirty="0">
                <a:solidFill>
                  <a:srgbClr val="000000"/>
                </a:solidFill>
              </a:rPr>
              <a:t>4</a:t>
            </a:r>
            <a:r>
              <a:rPr lang="zh-CN" altLang="en-US" dirty="0">
                <a:solidFill>
                  <a:srgbClr val="000000"/>
                </a:solidFill>
              </a:rPr>
              <a:t>，</a:t>
            </a:r>
            <a:r>
              <a:rPr lang="zh-CN" altLang="pt-BR" dirty="0"/>
              <a:t>则：</a:t>
            </a:r>
            <a:r>
              <a:rPr lang="en-US" altLang="zh-CN" i="1" dirty="0"/>
              <a:t>k</a:t>
            </a:r>
            <a:r>
              <a:rPr lang="pt-BR" altLang="zh-CN" dirty="0">
                <a:latin typeface="+mn-ea"/>
                <a:ea typeface="+mn-ea"/>
              </a:rPr>
              <a:t>≥</a:t>
            </a:r>
            <a:r>
              <a:rPr lang="pt-BR" altLang="zh-CN" dirty="0"/>
              <a:t>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966765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F4CE5B-48F6-42B9-869C-29C842A9B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</a:t>
            </a:r>
            <a:r>
              <a:rPr lang="zh-CN" altLang="en-US" dirty="0">
                <a:solidFill>
                  <a:srgbClr val="FF6600"/>
                </a:solidFill>
              </a:rPr>
              <a:t>码距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009900"/>
                </a:solidFill>
              </a:rPr>
              <a:t>校验位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9900"/>
                </a:solidFill>
              </a:rPr>
              <a:t>位数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1E6A9C-5B1D-419D-ABC7-B56E5E6B5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182" y="573602"/>
            <a:ext cx="4247802" cy="159233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要求可以</a:t>
            </a:r>
            <a:r>
              <a:rPr lang="zh-CN" altLang="en-US" dirty="0">
                <a:solidFill>
                  <a:srgbClr val="C00000"/>
                </a:solidFill>
              </a:rPr>
              <a:t>纠正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zh-CN" altLang="en-US" dirty="0">
                <a:solidFill>
                  <a:srgbClr val="C00000"/>
                </a:solidFill>
              </a:rPr>
              <a:t>位错误</a:t>
            </a:r>
            <a:r>
              <a:rPr lang="zh-CN" altLang="en-US" dirty="0"/>
              <a:t>，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solidFill>
                  <a:srgbClr val="CC0066"/>
                </a:solidFill>
              </a:rPr>
              <a:t>数据位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6600FF"/>
                </a:solidFill>
              </a:rPr>
              <a:t>校验位</a:t>
            </a:r>
            <a:r>
              <a:rPr lang="zh-CN" altLang="en-US" dirty="0"/>
              <a:t>之间</a:t>
            </a:r>
            <a:br>
              <a:rPr lang="en-US" altLang="zh-CN" dirty="0"/>
            </a:br>
            <a:r>
              <a:rPr lang="zh-CN" altLang="en-US" dirty="0"/>
              <a:t>位数的关系：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EA6C20-271F-4267-8444-D108A0E3F2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E090CA-FDE9-4186-A298-407E61DFE875}" type="slidenum">
              <a:rPr lang="zh-CN" altLang="en-US" smtClean="0"/>
              <a:pPr/>
              <a:t>10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479389A-BAF3-4853-854B-1984B8617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7425" y="837357"/>
            <a:ext cx="2232025" cy="576262"/>
          </a:xfrm>
          <a:prstGeom prst="rect">
            <a:avLst/>
          </a:prstGeom>
          <a:solidFill>
            <a:srgbClr val="CCFFCC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dirty="0"/>
              <a:t>数据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0C01573-90D5-47F5-A21D-2FE1294800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9450" y="837357"/>
            <a:ext cx="1657350" cy="576262"/>
          </a:xfrm>
          <a:prstGeom prst="rect">
            <a:avLst/>
          </a:prstGeom>
          <a:solidFill>
            <a:srgbClr val="FFCCCC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/>
              <a:t>校验码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9B287298-DF55-4D7B-8847-F1A0CC78EF02}"/>
              </a:ext>
            </a:extLst>
          </p:cNvPr>
          <p:cNvSpPr>
            <a:spLocks/>
          </p:cNvSpPr>
          <p:nvPr/>
        </p:nvSpPr>
        <p:spPr bwMode="auto">
          <a:xfrm rot="16200000">
            <a:off x="5769769" y="512713"/>
            <a:ext cx="215900" cy="2160587"/>
          </a:xfrm>
          <a:prstGeom prst="leftBrace">
            <a:avLst>
              <a:gd name="adj1" fmla="val 65418"/>
              <a:gd name="adj2" fmla="val 50000"/>
            </a:avLst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D7B08273-794C-42AC-BA0F-EA9C1A0A5C70}"/>
              </a:ext>
            </a:extLst>
          </p:cNvPr>
          <p:cNvSpPr>
            <a:spLocks/>
          </p:cNvSpPr>
          <p:nvPr/>
        </p:nvSpPr>
        <p:spPr bwMode="auto">
          <a:xfrm rot="16200000">
            <a:off x="7786688" y="800844"/>
            <a:ext cx="215900" cy="1584325"/>
          </a:xfrm>
          <a:prstGeom prst="leftBrace">
            <a:avLst>
              <a:gd name="adj1" fmla="val 65433"/>
              <a:gd name="adj2" fmla="val 50000"/>
            </a:avLst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CF38C14B-8947-491C-A34B-422367C030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3687" y="1629519"/>
            <a:ext cx="1079500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i="1" dirty="0">
                <a:solidFill>
                  <a:srgbClr val="0000FF"/>
                </a:solidFill>
              </a:rPr>
              <a:t>n</a:t>
            </a:r>
            <a:r>
              <a:rPr lang="zh-CN" altLang="en-US" dirty="0">
                <a:solidFill>
                  <a:srgbClr val="0000FF"/>
                </a:solidFill>
              </a:rPr>
              <a:t>位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ED9048EB-91EE-48C1-93B4-9391744978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2837" y="1629519"/>
            <a:ext cx="1079500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i="1" dirty="0">
                <a:solidFill>
                  <a:srgbClr val="0000FF"/>
                </a:solidFill>
              </a:rPr>
              <a:t>k</a:t>
            </a:r>
            <a:r>
              <a:rPr lang="zh-CN" altLang="en-US" dirty="0">
                <a:solidFill>
                  <a:srgbClr val="0000FF"/>
                </a:solidFill>
              </a:rPr>
              <a:t>位</a:t>
            </a:r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2E39A9F3-6E70-4928-9E79-2A0CDDD9A60A}"/>
              </a:ext>
            </a:extLst>
          </p:cNvPr>
          <p:cNvSpPr>
            <a:spLocks/>
          </p:cNvSpPr>
          <p:nvPr/>
        </p:nvSpPr>
        <p:spPr bwMode="auto">
          <a:xfrm rot="5400000" flipV="1">
            <a:off x="6634163" y="-1288306"/>
            <a:ext cx="215900" cy="3889375"/>
          </a:xfrm>
          <a:prstGeom prst="leftBrace">
            <a:avLst>
              <a:gd name="adj1" fmla="val 68306"/>
              <a:gd name="adj2" fmla="val 50000"/>
            </a:avLst>
          </a:prstGeom>
          <a:noFill/>
          <a:ln w="28575">
            <a:solidFill>
              <a:srgbClr val="FF66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5DB0F948-CD4F-45F1-A9B0-EEC00B50A6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0963" y="116632"/>
            <a:ext cx="2665413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rgbClr val="FF3300"/>
                </a:solidFill>
              </a:rPr>
              <a:t>码字：</a:t>
            </a:r>
            <a:r>
              <a:rPr lang="en-US" altLang="zh-CN" i="1" dirty="0">
                <a:solidFill>
                  <a:srgbClr val="FF3300"/>
                </a:solidFill>
              </a:rPr>
              <a:t>m</a:t>
            </a:r>
            <a:r>
              <a:rPr lang="zh-CN" altLang="en-US" dirty="0">
                <a:solidFill>
                  <a:srgbClr val="FF3300"/>
                </a:solidFill>
              </a:rPr>
              <a:t>位</a:t>
            </a:r>
          </a:p>
        </p:txBody>
      </p:sp>
      <p:graphicFrame>
        <p:nvGraphicFramePr>
          <p:cNvPr id="13" name="Group 175">
            <a:extLst>
              <a:ext uri="{FF2B5EF4-FFF2-40B4-BE49-F238E27FC236}">
                <a16:creationId xmlns:a16="http://schemas.microsoft.com/office/drawing/2014/main" id="{E75BAE4D-6F4D-491C-95E4-A52BBA294A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1089596"/>
              </p:ext>
            </p:extLst>
          </p:nvPr>
        </p:nvGraphicFramePr>
        <p:xfrm>
          <a:off x="251520" y="2315846"/>
          <a:ext cx="6408712" cy="4145280"/>
        </p:xfrm>
        <a:graphic>
          <a:graphicData uri="http://schemas.openxmlformats.org/drawingml/2006/table">
            <a:tbl>
              <a:tblPr/>
              <a:tblGrid>
                <a:gridCol w="18729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55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数据位数</a:t>
                      </a:r>
                      <a:r>
                        <a:rPr kumimoji="1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n</a:t>
                      </a:r>
                      <a:endParaRPr kumimoji="1" lang="pt-BR" altLang="zh-CN" sz="2800" b="1" i="1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校验码位数</a:t>
                      </a:r>
                      <a:r>
                        <a:rPr kumimoji="1" lang="pt-BR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k</a:t>
                      </a:r>
                      <a:endParaRPr kumimoji="1" lang="pt-BR" altLang="zh-CN" sz="2800" b="1" i="1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pt-B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增加的百分比</a:t>
                      </a:r>
                      <a:endParaRPr kumimoji="1" lang="zh-CN" altLang="pt-BR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</a:t>
                      </a: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75.00</a:t>
                      </a:r>
                      <a:r>
                        <a:rPr kumimoji="1" lang="zh-CN" altLang="pt-B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％</a:t>
                      </a: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8</a:t>
                      </a:r>
                      <a:endParaRPr kumimoji="1" lang="pt-BR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4</a:t>
                      </a:r>
                      <a:endParaRPr kumimoji="1" lang="pt-BR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50.00</a:t>
                      </a:r>
                      <a:r>
                        <a:rPr kumimoji="1" lang="zh-CN" altLang="pt-B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％</a:t>
                      </a:r>
                      <a:endParaRPr kumimoji="1" lang="zh-CN" altLang="pt-BR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16</a:t>
                      </a:r>
                      <a:endParaRPr kumimoji="1" lang="pt-BR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5</a:t>
                      </a:r>
                      <a:endParaRPr kumimoji="1" lang="pt-BR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31.25</a:t>
                      </a:r>
                      <a:r>
                        <a:rPr kumimoji="1" lang="zh-CN" altLang="pt-B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％</a:t>
                      </a:r>
                      <a:endParaRPr kumimoji="1" lang="zh-CN" altLang="pt-BR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32</a:t>
                      </a:r>
                      <a:endParaRPr kumimoji="1" lang="pt-BR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</a:t>
                      </a:r>
                      <a:endParaRPr kumimoji="1" lang="pt-BR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18.75</a:t>
                      </a:r>
                      <a:r>
                        <a:rPr kumimoji="1" lang="zh-CN" altLang="pt-B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％</a:t>
                      </a:r>
                      <a:endParaRPr kumimoji="1" lang="zh-CN" altLang="pt-BR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64</a:t>
                      </a:r>
                      <a:endParaRPr kumimoji="1" lang="pt-BR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7</a:t>
                      </a:r>
                      <a:endParaRPr kumimoji="1" lang="pt-BR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10.94</a:t>
                      </a:r>
                      <a:r>
                        <a:rPr kumimoji="1" lang="zh-CN" altLang="pt-B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％</a:t>
                      </a:r>
                      <a:endParaRPr kumimoji="1" lang="zh-CN" altLang="pt-BR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128</a:t>
                      </a:r>
                      <a:endParaRPr kumimoji="1" lang="pt-BR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8</a:t>
                      </a:r>
                      <a:endParaRPr kumimoji="1" lang="pt-BR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6.25</a:t>
                      </a:r>
                      <a:r>
                        <a:rPr kumimoji="1" lang="zh-CN" altLang="pt-B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％</a:t>
                      </a:r>
                      <a:endParaRPr kumimoji="1" lang="zh-CN" altLang="pt-BR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256</a:t>
                      </a:r>
                      <a:endParaRPr kumimoji="1" lang="pt-BR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9</a:t>
                      </a:r>
                      <a:endParaRPr kumimoji="1" lang="pt-BR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3.52</a:t>
                      </a:r>
                      <a:r>
                        <a:rPr kumimoji="1" lang="zh-CN" altLang="pt-BR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％</a:t>
                      </a:r>
                      <a:endParaRPr kumimoji="1" lang="zh-CN" altLang="pt-BR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Rectangle 15">
            <a:extLst>
              <a:ext uri="{FF2B5EF4-FFF2-40B4-BE49-F238E27FC236}">
                <a16:creationId xmlns:a16="http://schemas.microsoft.com/office/drawing/2014/main" id="{D58081EA-9636-4A66-A0FB-D754D9C7E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4231" y="1635222"/>
            <a:ext cx="2330523" cy="574675"/>
          </a:xfrm>
          <a:prstGeom prst="rect">
            <a:avLst/>
          </a:prstGeom>
          <a:solidFill>
            <a:srgbClr val="FFFF99"/>
          </a:solidFill>
          <a:ln w="28575">
            <a:solidFill>
              <a:srgbClr val="FF6600"/>
            </a:solidFill>
            <a:miter lim="800000"/>
            <a:headEnd/>
            <a:tailEnd/>
          </a:ln>
          <a:effectLst>
            <a:outerShdw blurRad="76200" dist="762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pt-BR" altLang="zh-CN" dirty="0">
                <a:solidFill>
                  <a:srgbClr val="000000"/>
                </a:solidFill>
              </a:rPr>
              <a:t>2</a:t>
            </a:r>
            <a:r>
              <a:rPr lang="pt-BR" altLang="zh-CN" i="1" baseline="50000" dirty="0"/>
              <a:t>k </a:t>
            </a:r>
            <a:r>
              <a:rPr lang="zh-CN" altLang="en-US" dirty="0">
                <a:latin typeface="+mn-ea"/>
                <a:ea typeface="+mn-ea"/>
              </a:rPr>
              <a:t>≥</a:t>
            </a:r>
            <a:r>
              <a:rPr lang="zh-CN" altLang="en-US" dirty="0">
                <a:latin typeface="+mn-lt"/>
                <a:ea typeface="+mn-ea"/>
              </a:rPr>
              <a:t> </a:t>
            </a:r>
            <a:r>
              <a:rPr lang="pt-BR" altLang="zh-CN" i="1" dirty="0">
                <a:solidFill>
                  <a:srgbClr val="000000"/>
                </a:solidFill>
              </a:rPr>
              <a:t>n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＋</a:t>
            </a:r>
            <a:r>
              <a:rPr lang="pt-BR" altLang="zh-CN" i="1" dirty="0">
                <a:solidFill>
                  <a:srgbClr val="000000"/>
                </a:solidFill>
              </a:rPr>
              <a:t>k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＋</a:t>
            </a:r>
            <a:r>
              <a:rPr lang="pt-BR" altLang="zh-CN" dirty="0">
                <a:solidFill>
                  <a:srgbClr val="000000"/>
                </a:solidFill>
              </a:rPr>
              <a:t>1</a:t>
            </a:r>
            <a:endParaRPr lang="en-US" altLang="zh-CN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A349D3B-13C6-41F0-9329-F3D8F114427D}"/>
              </a:ext>
            </a:extLst>
          </p:cNvPr>
          <p:cNvSpPr/>
          <p:nvPr/>
        </p:nvSpPr>
        <p:spPr>
          <a:xfrm>
            <a:off x="6742112" y="2835227"/>
            <a:ext cx="17139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pt-BR" altLang="zh-CN" dirty="0">
                <a:solidFill>
                  <a:srgbClr val="6600FF"/>
                </a:solidFill>
              </a:rPr>
              <a:t>2</a:t>
            </a:r>
            <a:r>
              <a:rPr lang="pt-BR" altLang="zh-CN" i="1" baseline="50000" dirty="0">
                <a:solidFill>
                  <a:srgbClr val="6600FF"/>
                </a:solidFill>
              </a:rPr>
              <a:t>k </a:t>
            </a:r>
            <a:r>
              <a:rPr lang="zh-CN" altLang="en-US" dirty="0">
                <a:solidFill>
                  <a:srgbClr val="6600FF"/>
                </a:solidFill>
                <a:latin typeface="+mn-ea"/>
              </a:rPr>
              <a:t>≥</a:t>
            </a:r>
            <a:r>
              <a:rPr lang="zh-CN" altLang="en-US" dirty="0">
                <a:solidFill>
                  <a:srgbClr val="6600FF"/>
                </a:solidFill>
              </a:rPr>
              <a:t> </a:t>
            </a:r>
            <a:r>
              <a:rPr lang="pt-BR" altLang="zh-CN" i="1" dirty="0">
                <a:solidFill>
                  <a:srgbClr val="6600FF"/>
                </a:solidFill>
              </a:rPr>
              <a:t>k</a:t>
            </a:r>
            <a:r>
              <a:rPr lang="zh-CN" altLang="pt-BR" dirty="0">
                <a:solidFill>
                  <a:srgbClr val="6600FF"/>
                </a:solidFill>
                <a:cs typeface="Times New Roman" pitchFamily="18" charset="0"/>
              </a:rPr>
              <a:t>＋</a:t>
            </a:r>
            <a:r>
              <a:rPr lang="en-US" altLang="zh-CN" dirty="0">
                <a:solidFill>
                  <a:srgbClr val="6600FF"/>
                </a:solidFill>
              </a:rPr>
              <a:t>5</a:t>
            </a:r>
            <a:endParaRPr lang="zh-CN" altLang="en-US" dirty="0">
              <a:solidFill>
                <a:srgbClr val="6600FF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1302817-0F33-4F64-9D91-0FDA0BF27092}"/>
              </a:ext>
            </a:extLst>
          </p:cNvPr>
          <p:cNvSpPr/>
          <p:nvPr/>
        </p:nvSpPr>
        <p:spPr>
          <a:xfrm>
            <a:off x="6742112" y="3352055"/>
            <a:ext cx="171393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pt-BR" altLang="zh-CN" dirty="0">
                <a:solidFill>
                  <a:srgbClr val="6600FF"/>
                </a:solidFill>
              </a:rPr>
              <a:t>2</a:t>
            </a:r>
            <a:r>
              <a:rPr lang="pt-BR" altLang="zh-CN" i="1" baseline="50000" dirty="0">
                <a:solidFill>
                  <a:srgbClr val="6600FF"/>
                </a:solidFill>
              </a:rPr>
              <a:t>k </a:t>
            </a:r>
            <a:r>
              <a:rPr lang="zh-CN" altLang="en-US" dirty="0">
                <a:solidFill>
                  <a:srgbClr val="6600FF"/>
                </a:solidFill>
                <a:latin typeface="+mn-ea"/>
              </a:rPr>
              <a:t>≥</a:t>
            </a:r>
            <a:r>
              <a:rPr lang="zh-CN" altLang="en-US" dirty="0">
                <a:solidFill>
                  <a:srgbClr val="6600FF"/>
                </a:solidFill>
              </a:rPr>
              <a:t> </a:t>
            </a:r>
            <a:r>
              <a:rPr lang="pt-BR" altLang="zh-CN" i="1" dirty="0">
                <a:solidFill>
                  <a:srgbClr val="6600FF"/>
                </a:solidFill>
              </a:rPr>
              <a:t>k</a:t>
            </a:r>
            <a:r>
              <a:rPr lang="zh-CN" altLang="pt-BR" dirty="0">
                <a:solidFill>
                  <a:srgbClr val="6600FF"/>
                </a:solidFill>
                <a:cs typeface="Times New Roman" pitchFamily="18" charset="0"/>
              </a:rPr>
              <a:t>＋</a:t>
            </a:r>
            <a:r>
              <a:rPr lang="en-US" altLang="zh-CN" dirty="0">
                <a:solidFill>
                  <a:srgbClr val="6600FF"/>
                </a:solidFill>
              </a:rPr>
              <a:t>9</a:t>
            </a:r>
            <a:endParaRPr lang="zh-CN" altLang="en-US" dirty="0">
              <a:solidFill>
                <a:srgbClr val="6600FF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9EF6F77-0A26-4A6A-BEB3-634D9A994A06}"/>
              </a:ext>
            </a:extLst>
          </p:cNvPr>
          <p:cNvSpPr/>
          <p:nvPr/>
        </p:nvSpPr>
        <p:spPr>
          <a:xfrm>
            <a:off x="6742112" y="3868883"/>
            <a:ext cx="18934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pt-BR" altLang="zh-CN" dirty="0">
                <a:solidFill>
                  <a:srgbClr val="6600FF"/>
                </a:solidFill>
              </a:rPr>
              <a:t>2</a:t>
            </a:r>
            <a:r>
              <a:rPr lang="pt-BR" altLang="zh-CN" i="1" baseline="50000" dirty="0">
                <a:solidFill>
                  <a:srgbClr val="6600FF"/>
                </a:solidFill>
              </a:rPr>
              <a:t>k </a:t>
            </a:r>
            <a:r>
              <a:rPr lang="zh-CN" altLang="en-US" dirty="0">
                <a:solidFill>
                  <a:srgbClr val="6600FF"/>
                </a:solidFill>
                <a:latin typeface="+mn-ea"/>
              </a:rPr>
              <a:t>≥</a:t>
            </a:r>
            <a:r>
              <a:rPr lang="zh-CN" altLang="en-US" dirty="0">
                <a:solidFill>
                  <a:srgbClr val="6600FF"/>
                </a:solidFill>
              </a:rPr>
              <a:t> </a:t>
            </a:r>
            <a:r>
              <a:rPr lang="pt-BR" altLang="zh-CN" i="1" dirty="0">
                <a:solidFill>
                  <a:srgbClr val="6600FF"/>
                </a:solidFill>
              </a:rPr>
              <a:t>k</a:t>
            </a:r>
            <a:r>
              <a:rPr lang="zh-CN" altLang="pt-BR" dirty="0">
                <a:solidFill>
                  <a:srgbClr val="6600FF"/>
                </a:solidFill>
                <a:cs typeface="Times New Roman" pitchFamily="18" charset="0"/>
              </a:rPr>
              <a:t>＋</a:t>
            </a:r>
            <a:r>
              <a:rPr lang="en-US" altLang="zh-CN" dirty="0">
                <a:solidFill>
                  <a:srgbClr val="6600FF"/>
                </a:solidFill>
              </a:rPr>
              <a:t>17</a:t>
            </a:r>
            <a:endParaRPr lang="zh-CN" altLang="en-US" dirty="0">
              <a:solidFill>
                <a:srgbClr val="6600FF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869030B-65C9-424E-97C3-101A126FC8E3}"/>
              </a:ext>
            </a:extLst>
          </p:cNvPr>
          <p:cNvSpPr/>
          <p:nvPr/>
        </p:nvSpPr>
        <p:spPr>
          <a:xfrm>
            <a:off x="6742112" y="4385711"/>
            <a:ext cx="18934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pt-BR" altLang="zh-CN" dirty="0">
                <a:solidFill>
                  <a:srgbClr val="6600FF"/>
                </a:solidFill>
              </a:rPr>
              <a:t>2</a:t>
            </a:r>
            <a:r>
              <a:rPr lang="pt-BR" altLang="zh-CN" i="1" baseline="50000" dirty="0">
                <a:solidFill>
                  <a:srgbClr val="6600FF"/>
                </a:solidFill>
              </a:rPr>
              <a:t>k </a:t>
            </a:r>
            <a:r>
              <a:rPr lang="zh-CN" altLang="en-US" dirty="0">
                <a:solidFill>
                  <a:srgbClr val="6600FF"/>
                </a:solidFill>
                <a:latin typeface="+mn-ea"/>
              </a:rPr>
              <a:t>≥</a:t>
            </a:r>
            <a:r>
              <a:rPr lang="zh-CN" altLang="en-US" dirty="0">
                <a:solidFill>
                  <a:srgbClr val="6600FF"/>
                </a:solidFill>
              </a:rPr>
              <a:t> </a:t>
            </a:r>
            <a:r>
              <a:rPr lang="pt-BR" altLang="zh-CN" i="1" dirty="0">
                <a:solidFill>
                  <a:srgbClr val="6600FF"/>
                </a:solidFill>
              </a:rPr>
              <a:t>k</a:t>
            </a:r>
            <a:r>
              <a:rPr lang="zh-CN" altLang="pt-BR" dirty="0">
                <a:solidFill>
                  <a:srgbClr val="6600FF"/>
                </a:solidFill>
                <a:cs typeface="Times New Roman" pitchFamily="18" charset="0"/>
              </a:rPr>
              <a:t>＋</a:t>
            </a:r>
            <a:r>
              <a:rPr lang="en-US" altLang="zh-CN" dirty="0">
                <a:solidFill>
                  <a:srgbClr val="6600FF"/>
                </a:solidFill>
              </a:rPr>
              <a:t>33</a:t>
            </a:r>
            <a:endParaRPr lang="zh-CN" altLang="en-US" dirty="0">
              <a:solidFill>
                <a:srgbClr val="6600FF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DCFD2AC-D135-430D-8651-A585284D0FBF}"/>
              </a:ext>
            </a:extLst>
          </p:cNvPr>
          <p:cNvSpPr/>
          <p:nvPr/>
        </p:nvSpPr>
        <p:spPr>
          <a:xfrm>
            <a:off x="6742112" y="4902539"/>
            <a:ext cx="189346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pt-BR" altLang="zh-CN" dirty="0">
                <a:solidFill>
                  <a:srgbClr val="6600FF"/>
                </a:solidFill>
              </a:rPr>
              <a:t>2</a:t>
            </a:r>
            <a:r>
              <a:rPr lang="pt-BR" altLang="zh-CN" i="1" baseline="50000" dirty="0">
                <a:solidFill>
                  <a:srgbClr val="6600FF"/>
                </a:solidFill>
              </a:rPr>
              <a:t>k </a:t>
            </a:r>
            <a:r>
              <a:rPr lang="zh-CN" altLang="en-US" dirty="0">
                <a:solidFill>
                  <a:srgbClr val="6600FF"/>
                </a:solidFill>
                <a:latin typeface="+mn-ea"/>
              </a:rPr>
              <a:t>≥</a:t>
            </a:r>
            <a:r>
              <a:rPr lang="zh-CN" altLang="en-US" dirty="0">
                <a:solidFill>
                  <a:srgbClr val="6600FF"/>
                </a:solidFill>
              </a:rPr>
              <a:t> </a:t>
            </a:r>
            <a:r>
              <a:rPr lang="pt-BR" altLang="zh-CN" i="1" dirty="0">
                <a:solidFill>
                  <a:srgbClr val="6600FF"/>
                </a:solidFill>
              </a:rPr>
              <a:t>k</a:t>
            </a:r>
            <a:r>
              <a:rPr lang="zh-CN" altLang="pt-BR" dirty="0">
                <a:solidFill>
                  <a:srgbClr val="6600FF"/>
                </a:solidFill>
                <a:cs typeface="Times New Roman" pitchFamily="18" charset="0"/>
              </a:rPr>
              <a:t>＋</a:t>
            </a:r>
            <a:r>
              <a:rPr lang="en-US" altLang="zh-CN" dirty="0">
                <a:solidFill>
                  <a:srgbClr val="6600FF"/>
                </a:solidFill>
              </a:rPr>
              <a:t>65</a:t>
            </a:r>
            <a:endParaRPr lang="zh-CN" altLang="en-US" dirty="0">
              <a:solidFill>
                <a:srgbClr val="6600FF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F60F0F5-D0C0-4344-9FD4-2FC59AA1B67D}"/>
              </a:ext>
            </a:extLst>
          </p:cNvPr>
          <p:cNvSpPr/>
          <p:nvPr/>
        </p:nvSpPr>
        <p:spPr>
          <a:xfrm>
            <a:off x="6742112" y="5419367"/>
            <a:ext cx="207300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pt-BR" altLang="zh-CN" dirty="0">
                <a:solidFill>
                  <a:srgbClr val="6600FF"/>
                </a:solidFill>
              </a:rPr>
              <a:t>2</a:t>
            </a:r>
            <a:r>
              <a:rPr lang="pt-BR" altLang="zh-CN" i="1" baseline="50000" dirty="0">
                <a:solidFill>
                  <a:srgbClr val="6600FF"/>
                </a:solidFill>
              </a:rPr>
              <a:t>k </a:t>
            </a:r>
            <a:r>
              <a:rPr lang="zh-CN" altLang="en-US" dirty="0">
                <a:solidFill>
                  <a:srgbClr val="6600FF"/>
                </a:solidFill>
                <a:latin typeface="+mn-ea"/>
              </a:rPr>
              <a:t>≥</a:t>
            </a:r>
            <a:r>
              <a:rPr lang="zh-CN" altLang="en-US" dirty="0">
                <a:solidFill>
                  <a:srgbClr val="6600FF"/>
                </a:solidFill>
              </a:rPr>
              <a:t> </a:t>
            </a:r>
            <a:r>
              <a:rPr lang="pt-BR" altLang="zh-CN" i="1" dirty="0">
                <a:solidFill>
                  <a:srgbClr val="6600FF"/>
                </a:solidFill>
              </a:rPr>
              <a:t>k</a:t>
            </a:r>
            <a:r>
              <a:rPr lang="zh-CN" altLang="pt-BR" dirty="0">
                <a:solidFill>
                  <a:srgbClr val="6600FF"/>
                </a:solidFill>
                <a:cs typeface="Times New Roman" pitchFamily="18" charset="0"/>
              </a:rPr>
              <a:t>＋</a:t>
            </a:r>
            <a:r>
              <a:rPr lang="en-US" altLang="zh-CN" dirty="0">
                <a:solidFill>
                  <a:srgbClr val="6600FF"/>
                </a:solidFill>
              </a:rPr>
              <a:t>129</a:t>
            </a:r>
            <a:endParaRPr lang="zh-CN" altLang="en-US" dirty="0">
              <a:solidFill>
                <a:srgbClr val="6600FF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F662B6C-4E7B-41C5-95F3-E9D0D434914C}"/>
              </a:ext>
            </a:extLst>
          </p:cNvPr>
          <p:cNvSpPr/>
          <p:nvPr/>
        </p:nvSpPr>
        <p:spPr>
          <a:xfrm>
            <a:off x="6742112" y="5936193"/>
            <a:ext cx="207300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pt-BR" altLang="zh-CN" dirty="0">
                <a:solidFill>
                  <a:srgbClr val="6600FF"/>
                </a:solidFill>
              </a:rPr>
              <a:t>2</a:t>
            </a:r>
            <a:r>
              <a:rPr lang="pt-BR" altLang="zh-CN" i="1" baseline="50000" dirty="0">
                <a:solidFill>
                  <a:srgbClr val="6600FF"/>
                </a:solidFill>
              </a:rPr>
              <a:t>k </a:t>
            </a:r>
            <a:r>
              <a:rPr lang="zh-CN" altLang="en-US" dirty="0">
                <a:solidFill>
                  <a:srgbClr val="6600FF"/>
                </a:solidFill>
                <a:latin typeface="+mn-ea"/>
              </a:rPr>
              <a:t>≥</a:t>
            </a:r>
            <a:r>
              <a:rPr lang="zh-CN" altLang="en-US" dirty="0">
                <a:solidFill>
                  <a:srgbClr val="6600FF"/>
                </a:solidFill>
              </a:rPr>
              <a:t> </a:t>
            </a:r>
            <a:r>
              <a:rPr lang="pt-BR" altLang="zh-CN" i="1" dirty="0">
                <a:solidFill>
                  <a:srgbClr val="6600FF"/>
                </a:solidFill>
              </a:rPr>
              <a:t>k</a:t>
            </a:r>
            <a:r>
              <a:rPr lang="zh-CN" altLang="pt-BR" dirty="0">
                <a:solidFill>
                  <a:srgbClr val="6600FF"/>
                </a:solidFill>
                <a:cs typeface="Times New Roman" pitchFamily="18" charset="0"/>
              </a:rPr>
              <a:t>＋</a:t>
            </a:r>
            <a:r>
              <a:rPr lang="en-US" altLang="zh-CN" dirty="0">
                <a:solidFill>
                  <a:srgbClr val="6600FF"/>
                </a:solidFill>
                <a:cs typeface="Times New Roman" pitchFamily="18" charset="0"/>
              </a:rPr>
              <a:t>257</a:t>
            </a:r>
            <a:endParaRPr lang="zh-CN" altLang="en-US" dirty="0">
              <a:solidFill>
                <a:srgbClr val="66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704882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F4CE5B-48F6-42B9-869C-29C842A9B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</a:t>
            </a:r>
            <a:r>
              <a:rPr lang="zh-CN" altLang="en-US" dirty="0">
                <a:solidFill>
                  <a:srgbClr val="FF6600"/>
                </a:solidFill>
              </a:rPr>
              <a:t>码距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009900"/>
                </a:solidFill>
              </a:rPr>
              <a:t>校验位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9900"/>
                </a:solidFill>
              </a:rPr>
              <a:t>位数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1E6A9C-5B1D-419D-ABC7-B56E5E6B5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182" y="573602"/>
            <a:ext cx="4247802" cy="159233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要求可以</a:t>
            </a:r>
            <a:r>
              <a:rPr lang="zh-CN" altLang="en-US" dirty="0">
                <a:solidFill>
                  <a:srgbClr val="C00000"/>
                </a:solidFill>
              </a:rPr>
              <a:t>纠正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zh-CN" altLang="en-US" dirty="0">
                <a:solidFill>
                  <a:srgbClr val="C00000"/>
                </a:solidFill>
              </a:rPr>
              <a:t>位错误</a:t>
            </a:r>
            <a:r>
              <a:rPr lang="zh-CN" altLang="en-US" dirty="0"/>
              <a:t>，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solidFill>
                  <a:srgbClr val="CC0066"/>
                </a:solidFill>
              </a:rPr>
              <a:t>数据位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6600FF"/>
                </a:solidFill>
              </a:rPr>
              <a:t>校验位</a:t>
            </a:r>
            <a:r>
              <a:rPr lang="zh-CN" altLang="en-US" dirty="0"/>
              <a:t>之间</a:t>
            </a:r>
            <a:br>
              <a:rPr lang="en-US" altLang="zh-CN" dirty="0"/>
            </a:br>
            <a:r>
              <a:rPr lang="zh-CN" altLang="en-US" dirty="0"/>
              <a:t>位数的关系：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EA6C20-271F-4267-8444-D108A0E3F2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E090CA-FDE9-4186-A298-407E61DFE875}" type="slidenum">
              <a:rPr lang="zh-CN" altLang="en-US" smtClean="0"/>
              <a:pPr/>
              <a:t>11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479389A-BAF3-4853-854B-1984B8617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7425" y="837357"/>
            <a:ext cx="2232025" cy="576262"/>
          </a:xfrm>
          <a:prstGeom prst="rect">
            <a:avLst/>
          </a:prstGeom>
          <a:solidFill>
            <a:srgbClr val="CCFFCC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 dirty="0"/>
              <a:t>数据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0C01573-90D5-47F5-A21D-2FE1294800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9450" y="837357"/>
            <a:ext cx="1657350" cy="576262"/>
          </a:xfrm>
          <a:prstGeom prst="rect">
            <a:avLst/>
          </a:prstGeom>
          <a:solidFill>
            <a:srgbClr val="FFCCCC"/>
          </a:solidFill>
          <a:ln w="2857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zh-CN" altLang="en-US"/>
              <a:t>校验码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9B287298-DF55-4D7B-8847-F1A0CC78EF02}"/>
              </a:ext>
            </a:extLst>
          </p:cNvPr>
          <p:cNvSpPr>
            <a:spLocks/>
          </p:cNvSpPr>
          <p:nvPr/>
        </p:nvSpPr>
        <p:spPr bwMode="auto">
          <a:xfrm rot="16200000">
            <a:off x="5769769" y="512713"/>
            <a:ext cx="215900" cy="2160587"/>
          </a:xfrm>
          <a:prstGeom prst="leftBrace">
            <a:avLst>
              <a:gd name="adj1" fmla="val 65418"/>
              <a:gd name="adj2" fmla="val 50000"/>
            </a:avLst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D7B08273-794C-42AC-BA0F-EA9C1A0A5C70}"/>
              </a:ext>
            </a:extLst>
          </p:cNvPr>
          <p:cNvSpPr>
            <a:spLocks/>
          </p:cNvSpPr>
          <p:nvPr/>
        </p:nvSpPr>
        <p:spPr bwMode="auto">
          <a:xfrm rot="16200000">
            <a:off x="7786688" y="800844"/>
            <a:ext cx="215900" cy="1584325"/>
          </a:xfrm>
          <a:prstGeom prst="leftBrace">
            <a:avLst>
              <a:gd name="adj1" fmla="val 65433"/>
              <a:gd name="adj2" fmla="val 50000"/>
            </a:avLst>
          </a:prstGeom>
          <a:noFill/>
          <a:ln w="28575">
            <a:solidFill>
              <a:srgbClr val="0000FF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CF38C14B-8947-491C-A34B-422367C030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3687" y="1629519"/>
            <a:ext cx="1079500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i="1" dirty="0">
                <a:solidFill>
                  <a:srgbClr val="0000FF"/>
                </a:solidFill>
              </a:rPr>
              <a:t>n</a:t>
            </a:r>
            <a:r>
              <a:rPr lang="zh-CN" altLang="en-US" dirty="0">
                <a:solidFill>
                  <a:srgbClr val="0000FF"/>
                </a:solidFill>
              </a:rPr>
              <a:t>位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ED9048EB-91EE-48C1-93B4-9391744978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2837" y="1629519"/>
            <a:ext cx="1079500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i="1" dirty="0">
                <a:solidFill>
                  <a:srgbClr val="0000FF"/>
                </a:solidFill>
              </a:rPr>
              <a:t>k</a:t>
            </a:r>
            <a:r>
              <a:rPr lang="zh-CN" altLang="en-US" dirty="0">
                <a:solidFill>
                  <a:srgbClr val="0000FF"/>
                </a:solidFill>
              </a:rPr>
              <a:t>位</a:t>
            </a:r>
          </a:p>
        </p:txBody>
      </p:sp>
      <p:sp>
        <p:nvSpPr>
          <p:cNvPr id="11" name="AutoShape 11">
            <a:extLst>
              <a:ext uri="{FF2B5EF4-FFF2-40B4-BE49-F238E27FC236}">
                <a16:creationId xmlns:a16="http://schemas.microsoft.com/office/drawing/2014/main" id="{2E39A9F3-6E70-4928-9E79-2A0CDDD9A60A}"/>
              </a:ext>
            </a:extLst>
          </p:cNvPr>
          <p:cNvSpPr>
            <a:spLocks/>
          </p:cNvSpPr>
          <p:nvPr/>
        </p:nvSpPr>
        <p:spPr bwMode="auto">
          <a:xfrm rot="5400000" flipV="1">
            <a:off x="6634163" y="-1288306"/>
            <a:ext cx="215900" cy="3889375"/>
          </a:xfrm>
          <a:prstGeom prst="leftBrace">
            <a:avLst>
              <a:gd name="adj1" fmla="val 68306"/>
              <a:gd name="adj2" fmla="val 50000"/>
            </a:avLst>
          </a:prstGeom>
          <a:noFill/>
          <a:ln w="28575">
            <a:solidFill>
              <a:srgbClr val="FF66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5DB0F948-CD4F-45F1-A9B0-EEC00B50A6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0963" y="116632"/>
            <a:ext cx="2665413" cy="51911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dirty="0">
                <a:solidFill>
                  <a:srgbClr val="FF3300"/>
                </a:solidFill>
              </a:rPr>
              <a:t>码字：</a:t>
            </a:r>
            <a:r>
              <a:rPr lang="en-US" altLang="zh-CN" i="1" dirty="0">
                <a:solidFill>
                  <a:srgbClr val="FF3300"/>
                </a:solidFill>
              </a:rPr>
              <a:t>m</a:t>
            </a:r>
            <a:r>
              <a:rPr lang="zh-CN" altLang="en-US" dirty="0">
                <a:solidFill>
                  <a:srgbClr val="FF3300"/>
                </a:solidFill>
              </a:rPr>
              <a:t>位</a:t>
            </a:r>
          </a:p>
        </p:txBody>
      </p:sp>
      <p:graphicFrame>
        <p:nvGraphicFramePr>
          <p:cNvPr id="13" name="Group 175">
            <a:extLst>
              <a:ext uri="{FF2B5EF4-FFF2-40B4-BE49-F238E27FC236}">
                <a16:creationId xmlns:a16="http://schemas.microsoft.com/office/drawing/2014/main" id="{E75BAE4D-6F4D-491C-95E4-A52BBA294A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656685"/>
              </p:ext>
            </p:extLst>
          </p:nvPr>
        </p:nvGraphicFramePr>
        <p:xfrm>
          <a:off x="251520" y="2315846"/>
          <a:ext cx="4248472" cy="4145280"/>
        </p:xfrm>
        <a:graphic>
          <a:graphicData uri="http://schemas.openxmlformats.org/drawingml/2006/table">
            <a:tbl>
              <a:tblPr/>
              <a:tblGrid>
                <a:gridCol w="1944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数据位数 </a:t>
                      </a:r>
                      <a:r>
                        <a:rPr kumimoji="1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n</a:t>
                      </a:r>
                      <a:endParaRPr kumimoji="1" lang="pt-BR" altLang="zh-CN" sz="2800" b="1" i="1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校验码位数 </a:t>
                      </a:r>
                      <a:r>
                        <a:rPr kumimoji="1" lang="pt-BR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k</a:t>
                      </a:r>
                      <a:endParaRPr kumimoji="1" lang="pt-BR" altLang="zh-CN" sz="2800" b="1" i="1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～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</a:t>
                      </a:r>
                      <a:endParaRPr kumimoji="1" lang="pt-BR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</a:t>
                      </a: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～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11</a:t>
                      </a:r>
                      <a:endParaRPr kumimoji="1" lang="pt-BR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4</a:t>
                      </a:r>
                      <a:endParaRPr kumimoji="1" lang="pt-BR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12</a:t>
                      </a: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～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26</a:t>
                      </a:r>
                      <a:endParaRPr kumimoji="1" lang="pt-BR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5</a:t>
                      </a:r>
                      <a:endParaRPr kumimoji="1" lang="pt-BR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27</a:t>
                      </a: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～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57</a:t>
                      </a:r>
                      <a:endParaRPr kumimoji="1" lang="pt-BR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</a:t>
                      </a:r>
                      <a:endParaRPr kumimoji="1" lang="pt-BR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58</a:t>
                      </a: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～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120</a:t>
                      </a:r>
                      <a:endParaRPr kumimoji="1" lang="pt-BR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7</a:t>
                      </a:r>
                      <a:endParaRPr kumimoji="1" lang="pt-BR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121</a:t>
                      </a: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～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247</a:t>
                      </a:r>
                      <a:endParaRPr kumimoji="1" lang="pt-BR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8</a:t>
                      </a:r>
                      <a:endParaRPr kumimoji="1" lang="pt-BR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248</a:t>
                      </a: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～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502</a:t>
                      </a:r>
                      <a:endParaRPr kumimoji="1" lang="pt-BR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9</a:t>
                      </a:r>
                      <a:endParaRPr kumimoji="1" lang="pt-BR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Rectangle 15">
            <a:extLst>
              <a:ext uri="{FF2B5EF4-FFF2-40B4-BE49-F238E27FC236}">
                <a16:creationId xmlns:a16="http://schemas.microsoft.com/office/drawing/2014/main" id="{D58081EA-9636-4A66-A0FB-D754D9C7E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4231" y="1635222"/>
            <a:ext cx="2330523" cy="574675"/>
          </a:xfrm>
          <a:prstGeom prst="rect">
            <a:avLst/>
          </a:prstGeom>
          <a:solidFill>
            <a:srgbClr val="FFFF99"/>
          </a:solidFill>
          <a:ln w="28575">
            <a:solidFill>
              <a:srgbClr val="FF6600"/>
            </a:solidFill>
            <a:miter lim="800000"/>
            <a:headEnd/>
            <a:tailEnd/>
          </a:ln>
          <a:effectLst>
            <a:outerShdw blurRad="76200" dist="762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pt-BR" altLang="zh-CN" dirty="0">
                <a:solidFill>
                  <a:srgbClr val="000000"/>
                </a:solidFill>
              </a:rPr>
              <a:t>2</a:t>
            </a:r>
            <a:r>
              <a:rPr lang="pt-BR" altLang="zh-CN" i="1" baseline="50000" dirty="0"/>
              <a:t>k </a:t>
            </a:r>
            <a:r>
              <a:rPr lang="zh-CN" altLang="en-US" dirty="0">
                <a:latin typeface="+mn-ea"/>
                <a:ea typeface="+mn-ea"/>
              </a:rPr>
              <a:t>≥</a:t>
            </a:r>
            <a:r>
              <a:rPr lang="zh-CN" altLang="en-US" dirty="0">
                <a:latin typeface="+mn-lt"/>
                <a:ea typeface="+mn-ea"/>
              </a:rPr>
              <a:t> </a:t>
            </a:r>
            <a:r>
              <a:rPr lang="pt-BR" altLang="zh-CN" i="1" dirty="0">
                <a:solidFill>
                  <a:srgbClr val="000000"/>
                </a:solidFill>
              </a:rPr>
              <a:t>n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＋</a:t>
            </a:r>
            <a:r>
              <a:rPr lang="pt-BR" altLang="zh-CN" i="1" dirty="0">
                <a:solidFill>
                  <a:srgbClr val="000000"/>
                </a:solidFill>
              </a:rPr>
              <a:t>k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＋</a:t>
            </a:r>
            <a:r>
              <a:rPr lang="pt-BR" altLang="zh-CN" dirty="0">
                <a:solidFill>
                  <a:srgbClr val="000000"/>
                </a:solidFill>
              </a:rPr>
              <a:t>1</a:t>
            </a:r>
            <a:endParaRPr lang="en-US" altLang="zh-CN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A349D3B-13C6-41F0-9329-F3D8F114427D}"/>
              </a:ext>
            </a:extLst>
          </p:cNvPr>
          <p:cNvSpPr/>
          <p:nvPr/>
        </p:nvSpPr>
        <p:spPr>
          <a:xfrm>
            <a:off x="4568402" y="2835227"/>
            <a:ext cx="38908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pt-BR" altLang="zh-CN" dirty="0">
                <a:solidFill>
                  <a:srgbClr val="6600FF"/>
                </a:solidFill>
              </a:rPr>
              <a:t>2</a:t>
            </a:r>
            <a:r>
              <a:rPr lang="pt-BR" altLang="zh-CN" baseline="50000" dirty="0">
                <a:solidFill>
                  <a:srgbClr val="6600FF"/>
                </a:solidFill>
              </a:rPr>
              <a:t>3</a:t>
            </a:r>
            <a:r>
              <a:rPr lang="pt-BR" altLang="zh-CN" i="1" baseline="50000" dirty="0">
                <a:solidFill>
                  <a:srgbClr val="6600FF"/>
                </a:solidFill>
              </a:rPr>
              <a:t> </a:t>
            </a:r>
            <a:r>
              <a:rPr lang="zh-CN" altLang="en-US" dirty="0">
                <a:solidFill>
                  <a:srgbClr val="6600FF"/>
                </a:solidFill>
                <a:latin typeface="+mn-ea"/>
              </a:rPr>
              <a:t>≥</a:t>
            </a:r>
            <a:r>
              <a:rPr lang="zh-CN" altLang="en-US" dirty="0">
                <a:solidFill>
                  <a:srgbClr val="6600FF"/>
                </a:solidFill>
              </a:rPr>
              <a:t> </a:t>
            </a:r>
            <a:r>
              <a:rPr lang="pt-BR" altLang="zh-CN" i="1" dirty="0">
                <a:solidFill>
                  <a:srgbClr val="6600FF"/>
                </a:solidFill>
              </a:rPr>
              <a:t>n</a:t>
            </a:r>
            <a:r>
              <a:rPr lang="zh-CN" altLang="pt-BR" dirty="0">
                <a:solidFill>
                  <a:srgbClr val="6600FF"/>
                </a:solidFill>
                <a:cs typeface="Times New Roman" pitchFamily="18" charset="0"/>
              </a:rPr>
              <a:t>＋</a:t>
            </a:r>
            <a:r>
              <a:rPr lang="en-US" altLang="zh-CN" dirty="0">
                <a:solidFill>
                  <a:srgbClr val="6600FF"/>
                </a:solidFill>
                <a:cs typeface="Times New Roman" pitchFamily="18" charset="0"/>
              </a:rPr>
              <a:t>4</a:t>
            </a:r>
            <a:r>
              <a:rPr lang="zh-CN" altLang="en-US" dirty="0">
                <a:solidFill>
                  <a:srgbClr val="6600FF"/>
                </a:solidFill>
                <a:cs typeface="Times New Roman" pitchFamily="18" charset="0"/>
              </a:rPr>
              <a:t>，</a:t>
            </a:r>
            <a:r>
              <a:rPr lang="en-US" altLang="zh-CN" i="1" dirty="0">
                <a:solidFill>
                  <a:srgbClr val="6600FF"/>
                </a:solidFill>
                <a:cs typeface="Times New Roman" pitchFamily="18" charset="0"/>
              </a:rPr>
              <a:t>n</a:t>
            </a:r>
            <a:r>
              <a:rPr lang="zh-CN" altLang="en-US" dirty="0">
                <a:solidFill>
                  <a:srgbClr val="6600FF"/>
                </a:solidFill>
                <a:latin typeface="+mn-ea"/>
                <a:ea typeface="+mn-ea"/>
                <a:cs typeface="Times New Roman" pitchFamily="18" charset="0"/>
              </a:rPr>
              <a:t>≤</a:t>
            </a:r>
            <a:r>
              <a:rPr lang="en-US" altLang="zh-CN" dirty="0">
                <a:solidFill>
                  <a:srgbClr val="6600FF"/>
                </a:solidFill>
                <a:cs typeface="Times New Roman" pitchFamily="18" charset="0"/>
              </a:rPr>
              <a:t>2</a:t>
            </a:r>
            <a:r>
              <a:rPr lang="en-US" altLang="zh-CN" baseline="30000" dirty="0">
                <a:solidFill>
                  <a:srgbClr val="6600FF"/>
                </a:solidFill>
                <a:cs typeface="Times New Roman" pitchFamily="18" charset="0"/>
              </a:rPr>
              <a:t>3</a:t>
            </a:r>
            <a:r>
              <a:rPr lang="en-US" altLang="zh-CN" dirty="0">
                <a:solidFill>
                  <a:srgbClr val="6600FF"/>
                </a:solidFill>
                <a:latin typeface="Courier"/>
                <a:cs typeface="Times New Roman" pitchFamily="18" charset="0"/>
              </a:rPr>
              <a:t>-</a:t>
            </a:r>
            <a:r>
              <a:rPr lang="en-US" altLang="zh-CN" dirty="0">
                <a:solidFill>
                  <a:srgbClr val="6600FF"/>
                </a:solidFill>
                <a:cs typeface="Times New Roman" pitchFamily="18" charset="0"/>
              </a:rPr>
              <a:t>4</a:t>
            </a:r>
            <a:r>
              <a:rPr lang="zh-CN" altLang="en-US" dirty="0">
                <a:solidFill>
                  <a:srgbClr val="6600FF"/>
                </a:solidFill>
                <a:cs typeface="Times New Roman" pitchFamily="18" charset="0"/>
              </a:rPr>
              <a:t>＝</a:t>
            </a:r>
            <a:r>
              <a:rPr lang="en-US" altLang="zh-CN" dirty="0">
                <a:solidFill>
                  <a:srgbClr val="6600FF"/>
                </a:solidFill>
                <a:cs typeface="Times New Roman" pitchFamily="18" charset="0"/>
              </a:rPr>
              <a:t>4</a:t>
            </a:r>
            <a:endParaRPr lang="zh-CN" altLang="en-US" dirty="0">
              <a:solidFill>
                <a:srgbClr val="6600FF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304D8FD-668F-4DDC-AECB-A0B3F4A4D46E}"/>
              </a:ext>
            </a:extLst>
          </p:cNvPr>
          <p:cNvSpPr/>
          <p:nvPr/>
        </p:nvSpPr>
        <p:spPr>
          <a:xfrm>
            <a:off x="4569989" y="3358447"/>
            <a:ext cx="405053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pt-BR" altLang="zh-CN" dirty="0">
                <a:solidFill>
                  <a:srgbClr val="6600FF"/>
                </a:solidFill>
              </a:rPr>
              <a:t>2</a:t>
            </a:r>
            <a:r>
              <a:rPr lang="pt-BR" altLang="zh-CN" baseline="50000" dirty="0">
                <a:solidFill>
                  <a:srgbClr val="6600FF"/>
                </a:solidFill>
              </a:rPr>
              <a:t>4</a:t>
            </a:r>
            <a:r>
              <a:rPr lang="pt-BR" altLang="zh-CN" i="1" baseline="50000" dirty="0">
                <a:solidFill>
                  <a:srgbClr val="6600FF"/>
                </a:solidFill>
              </a:rPr>
              <a:t> </a:t>
            </a:r>
            <a:r>
              <a:rPr lang="zh-CN" altLang="en-US" dirty="0">
                <a:solidFill>
                  <a:srgbClr val="6600FF"/>
                </a:solidFill>
                <a:latin typeface="+mn-ea"/>
              </a:rPr>
              <a:t>≥</a:t>
            </a:r>
            <a:r>
              <a:rPr lang="zh-CN" altLang="en-US" dirty="0">
                <a:solidFill>
                  <a:srgbClr val="6600FF"/>
                </a:solidFill>
              </a:rPr>
              <a:t> </a:t>
            </a:r>
            <a:r>
              <a:rPr lang="pt-BR" altLang="zh-CN" i="1" dirty="0">
                <a:solidFill>
                  <a:srgbClr val="6600FF"/>
                </a:solidFill>
              </a:rPr>
              <a:t>n</a:t>
            </a:r>
            <a:r>
              <a:rPr lang="zh-CN" altLang="pt-BR" dirty="0">
                <a:solidFill>
                  <a:srgbClr val="6600FF"/>
                </a:solidFill>
                <a:cs typeface="Times New Roman" pitchFamily="18" charset="0"/>
              </a:rPr>
              <a:t>＋</a:t>
            </a:r>
            <a:r>
              <a:rPr lang="en-US" altLang="zh-CN" dirty="0">
                <a:solidFill>
                  <a:srgbClr val="6600FF"/>
                </a:solidFill>
                <a:cs typeface="Times New Roman" pitchFamily="18" charset="0"/>
              </a:rPr>
              <a:t>5</a:t>
            </a:r>
            <a:r>
              <a:rPr lang="zh-CN" altLang="en-US" dirty="0">
                <a:solidFill>
                  <a:srgbClr val="6600FF"/>
                </a:solidFill>
                <a:cs typeface="Times New Roman" pitchFamily="18" charset="0"/>
              </a:rPr>
              <a:t>，</a:t>
            </a:r>
            <a:r>
              <a:rPr lang="en-US" altLang="zh-CN" i="1" dirty="0">
                <a:solidFill>
                  <a:srgbClr val="6600FF"/>
                </a:solidFill>
                <a:cs typeface="Times New Roman" pitchFamily="18" charset="0"/>
              </a:rPr>
              <a:t>n</a:t>
            </a:r>
            <a:r>
              <a:rPr lang="zh-CN" altLang="en-US" dirty="0">
                <a:solidFill>
                  <a:srgbClr val="6600FF"/>
                </a:solidFill>
                <a:latin typeface="+mn-ea"/>
                <a:ea typeface="+mn-ea"/>
                <a:cs typeface="Times New Roman" pitchFamily="18" charset="0"/>
              </a:rPr>
              <a:t>≤</a:t>
            </a:r>
            <a:r>
              <a:rPr lang="en-US" altLang="zh-CN" dirty="0">
                <a:solidFill>
                  <a:srgbClr val="6600FF"/>
                </a:solidFill>
                <a:cs typeface="Times New Roman" pitchFamily="18" charset="0"/>
              </a:rPr>
              <a:t>2</a:t>
            </a:r>
            <a:r>
              <a:rPr lang="en-US" altLang="zh-CN" baseline="30000" dirty="0">
                <a:solidFill>
                  <a:srgbClr val="6600FF"/>
                </a:solidFill>
                <a:cs typeface="Times New Roman" pitchFamily="18" charset="0"/>
              </a:rPr>
              <a:t>4</a:t>
            </a:r>
            <a:r>
              <a:rPr lang="en-US" altLang="zh-CN" dirty="0">
                <a:solidFill>
                  <a:srgbClr val="6600FF"/>
                </a:solidFill>
                <a:latin typeface="Courier"/>
                <a:cs typeface="Times New Roman" pitchFamily="18" charset="0"/>
              </a:rPr>
              <a:t>-</a:t>
            </a:r>
            <a:r>
              <a:rPr lang="en-US" altLang="zh-CN" dirty="0">
                <a:solidFill>
                  <a:srgbClr val="6600FF"/>
                </a:solidFill>
                <a:cs typeface="Times New Roman" pitchFamily="18" charset="0"/>
              </a:rPr>
              <a:t>5</a:t>
            </a:r>
            <a:r>
              <a:rPr lang="zh-CN" altLang="en-US" dirty="0">
                <a:solidFill>
                  <a:srgbClr val="6600FF"/>
                </a:solidFill>
                <a:cs typeface="Times New Roman" pitchFamily="18" charset="0"/>
              </a:rPr>
              <a:t>＝</a:t>
            </a:r>
            <a:r>
              <a:rPr lang="en-US" altLang="zh-CN" dirty="0">
                <a:solidFill>
                  <a:srgbClr val="6600FF"/>
                </a:solidFill>
                <a:cs typeface="Times New Roman" pitchFamily="18" charset="0"/>
              </a:rPr>
              <a:t>11</a:t>
            </a:r>
            <a:endParaRPr lang="zh-CN" altLang="en-US" dirty="0">
              <a:solidFill>
                <a:srgbClr val="6600FF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74AF7BC-89D4-4F5C-BDDE-C39B13267540}"/>
              </a:ext>
            </a:extLst>
          </p:cNvPr>
          <p:cNvSpPr/>
          <p:nvPr/>
        </p:nvSpPr>
        <p:spPr>
          <a:xfrm>
            <a:off x="4568402" y="3867387"/>
            <a:ext cx="40703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pt-BR" altLang="zh-CN" dirty="0">
                <a:solidFill>
                  <a:srgbClr val="6600FF"/>
                </a:solidFill>
              </a:rPr>
              <a:t>2</a:t>
            </a:r>
            <a:r>
              <a:rPr lang="pt-BR" altLang="zh-CN" baseline="50000" dirty="0">
                <a:solidFill>
                  <a:srgbClr val="6600FF"/>
                </a:solidFill>
              </a:rPr>
              <a:t>5</a:t>
            </a:r>
            <a:r>
              <a:rPr lang="pt-BR" altLang="zh-CN" i="1" baseline="50000" dirty="0">
                <a:solidFill>
                  <a:srgbClr val="6600FF"/>
                </a:solidFill>
              </a:rPr>
              <a:t> </a:t>
            </a:r>
            <a:r>
              <a:rPr lang="zh-CN" altLang="en-US" dirty="0">
                <a:solidFill>
                  <a:srgbClr val="6600FF"/>
                </a:solidFill>
                <a:latin typeface="+mn-ea"/>
              </a:rPr>
              <a:t>≥</a:t>
            </a:r>
            <a:r>
              <a:rPr lang="zh-CN" altLang="en-US" dirty="0">
                <a:solidFill>
                  <a:srgbClr val="6600FF"/>
                </a:solidFill>
              </a:rPr>
              <a:t> </a:t>
            </a:r>
            <a:r>
              <a:rPr lang="pt-BR" altLang="zh-CN" i="1" dirty="0">
                <a:solidFill>
                  <a:srgbClr val="6600FF"/>
                </a:solidFill>
              </a:rPr>
              <a:t>n</a:t>
            </a:r>
            <a:r>
              <a:rPr lang="zh-CN" altLang="pt-BR" dirty="0">
                <a:solidFill>
                  <a:srgbClr val="6600FF"/>
                </a:solidFill>
                <a:cs typeface="Times New Roman" pitchFamily="18" charset="0"/>
              </a:rPr>
              <a:t>＋</a:t>
            </a:r>
            <a:r>
              <a:rPr lang="en-US" altLang="zh-CN" dirty="0">
                <a:solidFill>
                  <a:srgbClr val="6600FF"/>
                </a:solidFill>
                <a:cs typeface="Times New Roman" pitchFamily="18" charset="0"/>
              </a:rPr>
              <a:t>6</a:t>
            </a:r>
            <a:r>
              <a:rPr lang="zh-CN" altLang="en-US" dirty="0">
                <a:solidFill>
                  <a:srgbClr val="6600FF"/>
                </a:solidFill>
                <a:cs typeface="Times New Roman" pitchFamily="18" charset="0"/>
              </a:rPr>
              <a:t>，</a:t>
            </a:r>
            <a:r>
              <a:rPr lang="en-US" altLang="zh-CN" i="1" dirty="0">
                <a:solidFill>
                  <a:srgbClr val="6600FF"/>
                </a:solidFill>
                <a:cs typeface="Times New Roman" pitchFamily="18" charset="0"/>
              </a:rPr>
              <a:t>n</a:t>
            </a:r>
            <a:r>
              <a:rPr lang="zh-CN" altLang="en-US" dirty="0">
                <a:solidFill>
                  <a:srgbClr val="6600FF"/>
                </a:solidFill>
                <a:latin typeface="+mn-ea"/>
                <a:ea typeface="+mn-ea"/>
                <a:cs typeface="Times New Roman" pitchFamily="18" charset="0"/>
              </a:rPr>
              <a:t>≤</a:t>
            </a:r>
            <a:r>
              <a:rPr lang="en-US" altLang="zh-CN" dirty="0">
                <a:solidFill>
                  <a:srgbClr val="6600FF"/>
                </a:solidFill>
                <a:cs typeface="Times New Roman" pitchFamily="18" charset="0"/>
              </a:rPr>
              <a:t>2</a:t>
            </a:r>
            <a:r>
              <a:rPr lang="en-US" altLang="zh-CN" baseline="30000" dirty="0">
                <a:solidFill>
                  <a:srgbClr val="6600FF"/>
                </a:solidFill>
                <a:cs typeface="Times New Roman" pitchFamily="18" charset="0"/>
              </a:rPr>
              <a:t>5</a:t>
            </a:r>
            <a:r>
              <a:rPr lang="en-US" altLang="zh-CN" dirty="0">
                <a:solidFill>
                  <a:srgbClr val="6600FF"/>
                </a:solidFill>
                <a:latin typeface="Courier"/>
                <a:cs typeface="Times New Roman" pitchFamily="18" charset="0"/>
              </a:rPr>
              <a:t>-</a:t>
            </a:r>
            <a:r>
              <a:rPr lang="en-US" altLang="zh-CN" dirty="0">
                <a:solidFill>
                  <a:srgbClr val="6600FF"/>
                </a:solidFill>
                <a:cs typeface="Times New Roman" pitchFamily="18" charset="0"/>
              </a:rPr>
              <a:t>6</a:t>
            </a:r>
            <a:r>
              <a:rPr lang="zh-CN" altLang="en-US" dirty="0">
                <a:solidFill>
                  <a:srgbClr val="6600FF"/>
                </a:solidFill>
                <a:cs typeface="Times New Roman" pitchFamily="18" charset="0"/>
              </a:rPr>
              <a:t>＝</a:t>
            </a:r>
            <a:r>
              <a:rPr lang="en-US" altLang="zh-CN" dirty="0">
                <a:solidFill>
                  <a:srgbClr val="6600FF"/>
                </a:solidFill>
                <a:cs typeface="Times New Roman" pitchFamily="18" charset="0"/>
              </a:rPr>
              <a:t>26</a:t>
            </a:r>
            <a:endParaRPr lang="zh-CN" altLang="en-US" dirty="0">
              <a:solidFill>
                <a:srgbClr val="6600FF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EDEAF4D-8490-4102-939D-D0EF39E430B4}"/>
              </a:ext>
            </a:extLst>
          </p:cNvPr>
          <p:cNvSpPr/>
          <p:nvPr/>
        </p:nvSpPr>
        <p:spPr>
          <a:xfrm>
            <a:off x="4568402" y="4377452"/>
            <a:ext cx="407034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pt-BR" altLang="zh-CN" dirty="0">
                <a:solidFill>
                  <a:srgbClr val="6600FF"/>
                </a:solidFill>
              </a:rPr>
              <a:t>2</a:t>
            </a:r>
            <a:r>
              <a:rPr lang="pt-BR" altLang="zh-CN" baseline="50000" dirty="0">
                <a:solidFill>
                  <a:srgbClr val="6600FF"/>
                </a:solidFill>
              </a:rPr>
              <a:t>6</a:t>
            </a:r>
            <a:r>
              <a:rPr lang="pt-BR" altLang="zh-CN" i="1" baseline="50000" dirty="0">
                <a:solidFill>
                  <a:srgbClr val="6600FF"/>
                </a:solidFill>
              </a:rPr>
              <a:t> </a:t>
            </a:r>
            <a:r>
              <a:rPr lang="zh-CN" altLang="en-US" dirty="0">
                <a:solidFill>
                  <a:srgbClr val="6600FF"/>
                </a:solidFill>
                <a:latin typeface="+mn-ea"/>
              </a:rPr>
              <a:t>≥</a:t>
            </a:r>
            <a:r>
              <a:rPr lang="zh-CN" altLang="en-US" dirty="0">
                <a:solidFill>
                  <a:srgbClr val="6600FF"/>
                </a:solidFill>
              </a:rPr>
              <a:t> </a:t>
            </a:r>
            <a:r>
              <a:rPr lang="pt-BR" altLang="zh-CN" i="1" dirty="0">
                <a:solidFill>
                  <a:srgbClr val="6600FF"/>
                </a:solidFill>
              </a:rPr>
              <a:t>n</a:t>
            </a:r>
            <a:r>
              <a:rPr lang="zh-CN" altLang="pt-BR" dirty="0">
                <a:solidFill>
                  <a:srgbClr val="6600FF"/>
                </a:solidFill>
                <a:cs typeface="Times New Roman" pitchFamily="18" charset="0"/>
              </a:rPr>
              <a:t>＋</a:t>
            </a:r>
            <a:r>
              <a:rPr lang="en-US" altLang="zh-CN" dirty="0">
                <a:solidFill>
                  <a:srgbClr val="6600FF"/>
                </a:solidFill>
                <a:cs typeface="Times New Roman" pitchFamily="18" charset="0"/>
              </a:rPr>
              <a:t>7</a:t>
            </a:r>
            <a:r>
              <a:rPr lang="zh-CN" altLang="en-US" dirty="0">
                <a:solidFill>
                  <a:srgbClr val="6600FF"/>
                </a:solidFill>
                <a:cs typeface="Times New Roman" pitchFamily="18" charset="0"/>
              </a:rPr>
              <a:t>，</a:t>
            </a:r>
            <a:r>
              <a:rPr lang="en-US" altLang="zh-CN" i="1" dirty="0">
                <a:solidFill>
                  <a:srgbClr val="6600FF"/>
                </a:solidFill>
                <a:cs typeface="Times New Roman" pitchFamily="18" charset="0"/>
              </a:rPr>
              <a:t>n</a:t>
            </a:r>
            <a:r>
              <a:rPr lang="zh-CN" altLang="en-US" dirty="0">
                <a:solidFill>
                  <a:srgbClr val="6600FF"/>
                </a:solidFill>
                <a:latin typeface="+mn-ea"/>
                <a:ea typeface="+mn-ea"/>
                <a:cs typeface="Times New Roman" pitchFamily="18" charset="0"/>
              </a:rPr>
              <a:t>≤</a:t>
            </a:r>
            <a:r>
              <a:rPr lang="en-US" altLang="zh-CN" dirty="0">
                <a:solidFill>
                  <a:srgbClr val="6600FF"/>
                </a:solidFill>
                <a:cs typeface="Times New Roman" pitchFamily="18" charset="0"/>
              </a:rPr>
              <a:t>2</a:t>
            </a:r>
            <a:r>
              <a:rPr lang="en-US" altLang="zh-CN" baseline="30000" dirty="0">
                <a:solidFill>
                  <a:srgbClr val="6600FF"/>
                </a:solidFill>
                <a:cs typeface="Times New Roman" pitchFamily="18" charset="0"/>
              </a:rPr>
              <a:t>6</a:t>
            </a:r>
            <a:r>
              <a:rPr lang="en-US" altLang="zh-CN" dirty="0">
                <a:solidFill>
                  <a:srgbClr val="6600FF"/>
                </a:solidFill>
                <a:latin typeface="Courier"/>
                <a:cs typeface="Times New Roman" pitchFamily="18" charset="0"/>
              </a:rPr>
              <a:t>-</a:t>
            </a:r>
            <a:r>
              <a:rPr lang="en-US" altLang="zh-CN" dirty="0">
                <a:solidFill>
                  <a:srgbClr val="6600FF"/>
                </a:solidFill>
                <a:cs typeface="Times New Roman" pitchFamily="18" charset="0"/>
              </a:rPr>
              <a:t>7</a:t>
            </a:r>
            <a:r>
              <a:rPr lang="zh-CN" altLang="en-US" dirty="0">
                <a:solidFill>
                  <a:srgbClr val="6600FF"/>
                </a:solidFill>
                <a:cs typeface="Times New Roman" pitchFamily="18" charset="0"/>
              </a:rPr>
              <a:t>＝</a:t>
            </a:r>
            <a:r>
              <a:rPr lang="en-US" altLang="zh-CN" dirty="0">
                <a:solidFill>
                  <a:srgbClr val="6600FF"/>
                </a:solidFill>
                <a:cs typeface="Times New Roman" pitchFamily="18" charset="0"/>
              </a:rPr>
              <a:t>57</a:t>
            </a:r>
            <a:endParaRPr lang="zh-CN" altLang="en-US" dirty="0">
              <a:solidFill>
                <a:srgbClr val="6600FF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F072AD6-EFFE-4559-B25C-9A5DC61C724E}"/>
              </a:ext>
            </a:extLst>
          </p:cNvPr>
          <p:cNvSpPr/>
          <p:nvPr/>
        </p:nvSpPr>
        <p:spPr>
          <a:xfrm>
            <a:off x="4568402" y="4899547"/>
            <a:ext cx="42498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pt-BR" altLang="zh-CN" dirty="0">
                <a:solidFill>
                  <a:srgbClr val="6600FF"/>
                </a:solidFill>
              </a:rPr>
              <a:t>2</a:t>
            </a:r>
            <a:r>
              <a:rPr lang="pt-BR" altLang="zh-CN" baseline="50000" dirty="0">
                <a:solidFill>
                  <a:srgbClr val="6600FF"/>
                </a:solidFill>
              </a:rPr>
              <a:t>7</a:t>
            </a:r>
            <a:r>
              <a:rPr lang="pt-BR" altLang="zh-CN" i="1" baseline="50000" dirty="0">
                <a:solidFill>
                  <a:srgbClr val="6600FF"/>
                </a:solidFill>
              </a:rPr>
              <a:t> </a:t>
            </a:r>
            <a:r>
              <a:rPr lang="zh-CN" altLang="en-US" dirty="0">
                <a:solidFill>
                  <a:srgbClr val="6600FF"/>
                </a:solidFill>
                <a:latin typeface="+mn-ea"/>
              </a:rPr>
              <a:t>≥</a:t>
            </a:r>
            <a:r>
              <a:rPr lang="zh-CN" altLang="en-US" dirty="0">
                <a:solidFill>
                  <a:srgbClr val="6600FF"/>
                </a:solidFill>
              </a:rPr>
              <a:t> </a:t>
            </a:r>
            <a:r>
              <a:rPr lang="pt-BR" altLang="zh-CN" i="1" dirty="0">
                <a:solidFill>
                  <a:srgbClr val="6600FF"/>
                </a:solidFill>
              </a:rPr>
              <a:t>n</a:t>
            </a:r>
            <a:r>
              <a:rPr lang="zh-CN" altLang="pt-BR" dirty="0">
                <a:solidFill>
                  <a:srgbClr val="6600FF"/>
                </a:solidFill>
                <a:cs typeface="Times New Roman" pitchFamily="18" charset="0"/>
              </a:rPr>
              <a:t>＋</a:t>
            </a:r>
            <a:r>
              <a:rPr lang="en-US" altLang="zh-CN" dirty="0">
                <a:solidFill>
                  <a:srgbClr val="6600FF"/>
                </a:solidFill>
                <a:cs typeface="Times New Roman" pitchFamily="18" charset="0"/>
              </a:rPr>
              <a:t>8</a:t>
            </a:r>
            <a:r>
              <a:rPr lang="zh-CN" altLang="en-US" dirty="0">
                <a:solidFill>
                  <a:srgbClr val="6600FF"/>
                </a:solidFill>
                <a:cs typeface="Times New Roman" pitchFamily="18" charset="0"/>
              </a:rPr>
              <a:t>，</a:t>
            </a:r>
            <a:r>
              <a:rPr lang="en-US" altLang="zh-CN" i="1" dirty="0">
                <a:solidFill>
                  <a:srgbClr val="6600FF"/>
                </a:solidFill>
                <a:cs typeface="Times New Roman" pitchFamily="18" charset="0"/>
              </a:rPr>
              <a:t>n</a:t>
            </a:r>
            <a:r>
              <a:rPr lang="zh-CN" altLang="en-US" dirty="0">
                <a:solidFill>
                  <a:srgbClr val="6600FF"/>
                </a:solidFill>
                <a:latin typeface="+mn-ea"/>
                <a:ea typeface="+mn-ea"/>
                <a:cs typeface="Times New Roman" pitchFamily="18" charset="0"/>
              </a:rPr>
              <a:t>≤</a:t>
            </a:r>
            <a:r>
              <a:rPr lang="en-US" altLang="zh-CN" dirty="0">
                <a:solidFill>
                  <a:srgbClr val="6600FF"/>
                </a:solidFill>
                <a:cs typeface="Times New Roman" pitchFamily="18" charset="0"/>
              </a:rPr>
              <a:t>2</a:t>
            </a:r>
            <a:r>
              <a:rPr lang="en-US" altLang="zh-CN" baseline="30000" dirty="0">
                <a:solidFill>
                  <a:srgbClr val="6600FF"/>
                </a:solidFill>
                <a:cs typeface="Times New Roman" pitchFamily="18" charset="0"/>
              </a:rPr>
              <a:t>7</a:t>
            </a:r>
            <a:r>
              <a:rPr lang="en-US" altLang="zh-CN" dirty="0">
                <a:solidFill>
                  <a:srgbClr val="6600FF"/>
                </a:solidFill>
                <a:latin typeface="Courier"/>
                <a:cs typeface="Times New Roman" pitchFamily="18" charset="0"/>
              </a:rPr>
              <a:t>-</a:t>
            </a:r>
            <a:r>
              <a:rPr lang="en-US" altLang="zh-CN" dirty="0">
                <a:solidFill>
                  <a:srgbClr val="6600FF"/>
                </a:solidFill>
                <a:cs typeface="Times New Roman" pitchFamily="18" charset="0"/>
              </a:rPr>
              <a:t>8</a:t>
            </a:r>
            <a:r>
              <a:rPr lang="zh-CN" altLang="en-US" dirty="0">
                <a:solidFill>
                  <a:srgbClr val="6600FF"/>
                </a:solidFill>
                <a:cs typeface="Times New Roman" pitchFamily="18" charset="0"/>
              </a:rPr>
              <a:t>＝</a:t>
            </a:r>
            <a:r>
              <a:rPr lang="en-US" altLang="zh-CN" dirty="0">
                <a:solidFill>
                  <a:srgbClr val="6600FF"/>
                </a:solidFill>
                <a:cs typeface="Times New Roman" pitchFamily="18" charset="0"/>
              </a:rPr>
              <a:t>120</a:t>
            </a:r>
            <a:endParaRPr lang="zh-CN" altLang="en-US" dirty="0">
              <a:solidFill>
                <a:srgbClr val="6600FF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2FCD49D-10F1-4851-B27C-8CC9D1D1DEC2}"/>
              </a:ext>
            </a:extLst>
          </p:cNvPr>
          <p:cNvSpPr/>
          <p:nvPr/>
        </p:nvSpPr>
        <p:spPr>
          <a:xfrm>
            <a:off x="4568402" y="5421642"/>
            <a:ext cx="42498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pt-BR" altLang="zh-CN" dirty="0">
                <a:solidFill>
                  <a:srgbClr val="6600FF"/>
                </a:solidFill>
              </a:rPr>
              <a:t>2</a:t>
            </a:r>
            <a:r>
              <a:rPr lang="pt-BR" altLang="zh-CN" baseline="50000" dirty="0">
                <a:solidFill>
                  <a:srgbClr val="6600FF"/>
                </a:solidFill>
              </a:rPr>
              <a:t>8</a:t>
            </a:r>
            <a:r>
              <a:rPr lang="pt-BR" altLang="zh-CN" i="1" baseline="50000" dirty="0">
                <a:solidFill>
                  <a:srgbClr val="6600FF"/>
                </a:solidFill>
              </a:rPr>
              <a:t> </a:t>
            </a:r>
            <a:r>
              <a:rPr lang="zh-CN" altLang="en-US" dirty="0">
                <a:solidFill>
                  <a:srgbClr val="6600FF"/>
                </a:solidFill>
                <a:latin typeface="+mn-ea"/>
              </a:rPr>
              <a:t>≥</a:t>
            </a:r>
            <a:r>
              <a:rPr lang="zh-CN" altLang="en-US" dirty="0">
                <a:solidFill>
                  <a:srgbClr val="6600FF"/>
                </a:solidFill>
              </a:rPr>
              <a:t> </a:t>
            </a:r>
            <a:r>
              <a:rPr lang="pt-BR" altLang="zh-CN" i="1" dirty="0">
                <a:solidFill>
                  <a:srgbClr val="6600FF"/>
                </a:solidFill>
              </a:rPr>
              <a:t>n</a:t>
            </a:r>
            <a:r>
              <a:rPr lang="zh-CN" altLang="pt-BR" dirty="0">
                <a:solidFill>
                  <a:srgbClr val="6600FF"/>
                </a:solidFill>
                <a:cs typeface="Times New Roman" pitchFamily="18" charset="0"/>
              </a:rPr>
              <a:t>＋</a:t>
            </a:r>
            <a:r>
              <a:rPr lang="en-US" altLang="zh-CN" dirty="0">
                <a:solidFill>
                  <a:srgbClr val="6600FF"/>
                </a:solidFill>
                <a:cs typeface="Times New Roman" pitchFamily="18" charset="0"/>
              </a:rPr>
              <a:t>9</a:t>
            </a:r>
            <a:r>
              <a:rPr lang="zh-CN" altLang="en-US" dirty="0">
                <a:solidFill>
                  <a:srgbClr val="6600FF"/>
                </a:solidFill>
                <a:cs typeface="Times New Roman" pitchFamily="18" charset="0"/>
              </a:rPr>
              <a:t>，</a:t>
            </a:r>
            <a:r>
              <a:rPr lang="en-US" altLang="zh-CN" i="1" dirty="0">
                <a:solidFill>
                  <a:srgbClr val="6600FF"/>
                </a:solidFill>
                <a:cs typeface="Times New Roman" pitchFamily="18" charset="0"/>
              </a:rPr>
              <a:t>n</a:t>
            </a:r>
            <a:r>
              <a:rPr lang="zh-CN" altLang="en-US" dirty="0">
                <a:solidFill>
                  <a:srgbClr val="6600FF"/>
                </a:solidFill>
                <a:latin typeface="+mn-ea"/>
                <a:ea typeface="+mn-ea"/>
                <a:cs typeface="Times New Roman" pitchFamily="18" charset="0"/>
              </a:rPr>
              <a:t>≤</a:t>
            </a:r>
            <a:r>
              <a:rPr lang="en-US" altLang="zh-CN" dirty="0">
                <a:solidFill>
                  <a:srgbClr val="6600FF"/>
                </a:solidFill>
                <a:cs typeface="Times New Roman" pitchFamily="18" charset="0"/>
              </a:rPr>
              <a:t>2</a:t>
            </a:r>
            <a:r>
              <a:rPr lang="en-US" altLang="zh-CN" baseline="30000" dirty="0">
                <a:solidFill>
                  <a:srgbClr val="6600FF"/>
                </a:solidFill>
                <a:cs typeface="Times New Roman" pitchFamily="18" charset="0"/>
              </a:rPr>
              <a:t>8</a:t>
            </a:r>
            <a:r>
              <a:rPr lang="en-US" altLang="zh-CN" dirty="0">
                <a:solidFill>
                  <a:srgbClr val="6600FF"/>
                </a:solidFill>
                <a:latin typeface="Courier"/>
                <a:cs typeface="Times New Roman" pitchFamily="18" charset="0"/>
              </a:rPr>
              <a:t>-</a:t>
            </a:r>
            <a:r>
              <a:rPr lang="en-US" altLang="zh-CN" dirty="0">
                <a:solidFill>
                  <a:srgbClr val="6600FF"/>
                </a:solidFill>
                <a:cs typeface="Times New Roman" pitchFamily="18" charset="0"/>
              </a:rPr>
              <a:t>9</a:t>
            </a:r>
            <a:r>
              <a:rPr lang="zh-CN" altLang="en-US" dirty="0">
                <a:solidFill>
                  <a:srgbClr val="6600FF"/>
                </a:solidFill>
                <a:cs typeface="Times New Roman" pitchFamily="18" charset="0"/>
              </a:rPr>
              <a:t>＝</a:t>
            </a:r>
            <a:r>
              <a:rPr lang="en-US" altLang="zh-CN" dirty="0">
                <a:solidFill>
                  <a:srgbClr val="6600FF"/>
                </a:solidFill>
                <a:cs typeface="Times New Roman" pitchFamily="18" charset="0"/>
              </a:rPr>
              <a:t>247</a:t>
            </a:r>
            <a:endParaRPr lang="zh-CN" altLang="en-US" dirty="0">
              <a:solidFill>
                <a:srgbClr val="6600FF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C40AF4F-AFE7-45C8-958C-A56FBA8DCB98}"/>
              </a:ext>
            </a:extLst>
          </p:cNvPr>
          <p:cNvSpPr/>
          <p:nvPr/>
        </p:nvSpPr>
        <p:spPr>
          <a:xfrm>
            <a:off x="4574636" y="5940499"/>
            <a:ext cx="44618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pt-BR" altLang="zh-CN" dirty="0">
                <a:solidFill>
                  <a:srgbClr val="6600FF"/>
                </a:solidFill>
              </a:rPr>
              <a:t>2</a:t>
            </a:r>
            <a:r>
              <a:rPr lang="pt-BR" altLang="zh-CN" baseline="50000" dirty="0">
                <a:solidFill>
                  <a:srgbClr val="6600FF"/>
                </a:solidFill>
              </a:rPr>
              <a:t>9</a:t>
            </a:r>
            <a:r>
              <a:rPr lang="zh-CN" altLang="en-US" dirty="0">
                <a:solidFill>
                  <a:srgbClr val="6600FF"/>
                </a:solidFill>
                <a:latin typeface="+mn-ea"/>
              </a:rPr>
              <a:t>≥</a:t>
            </a:r>
            <a:r>
              <a:rPr lang="pt-BR" altLang="zh-CN" i="1" dirty="0">
                <a:solidFill>
                  <a:srgbClr val="6600FF"/>
                </a:solidFill>
              </a:rPr>
              <a:t>n</a:t>
            </a:r>
            <a:r>
              <a:rPr lang="zh-CN" altLang="pt-BR" dirty="0">
                <a:solidFill>
                  <a:srgbClr val="6600FF"/>
                </a:solidFill>
                <a:cs typeface="Times New Roman" pitchFamily="18" charset="0"/>
              </a:rPr>
              <a:t>＋</a:t>
            </a:r>
            <a:r>
              <a:rPr lang="en-US" altLang="zh-CN" dirty="0">
                <a:solidFill>
                  <a:srgbClr val="6600FF"/>
                </a:solidFill>
                <a:cs typeface="Times New Roman" pitchFamily="18" charset="0"/>
              </a:rPr>
              <a:t>10</a:t>
            </a:r>
            <a:r>
              <a:rPr lang="zh-CN" altLang="en-US" dirty="0">
                <a:solidFill>
                  <a:srgbClr val="6600FF"/>
                </a:solidFill>
                <a:cs typeface="Times New Roman" pitchFamily="18" charset="0"/>
              </a:rPr>
              <a:t>，</a:t>
            </a:r>
            <a:r>
              <a:rPr lang="en-US" altLang="zh-CN" i="1" dirty="0">
                <a:solidFill>
                  <a:srgbClr val="6600FF"/>
                </a:solidFill>
                <a:cs typeface="Times New Roman" pitchFamily="18" charset="0"/>
              </a:rPr>
              <a:t>n</a:t>
            </a:r>
            <a:r>
              <a:rPr lang="zh-CN" altLang="en-US" dirty="0">
                <a:solidFill>
                  <a:srgbClr val="6600FF"/>
                </a:solidFill>
                <a:latin typeface="+mn-ea"/>
                <a:ea typeface="+mn-ea"/>
                <a:cs typeface="Times New Roman" pitchFamily="18" charset="0"/>
              </a:rPr>
              <a:t>≤</a:t>
            </a:r>
            <a:r>
              <a:rPr lang="en-US" altLang="zh-CN" dirty="0">
                <a:solidFill>
                  <a:srgbClr val="6600FF"/>
                </a:solidFill>
                <a:cs typeface="Times New Roman" pitchFamily="18" charset="0"/>
              </a:rPr>
              <a:t>2</a:t>
            </a:r>
            <a:r>
              <a:rPr lang="en-US" altLang="zh-CN" baseline="30000" dirty="0">
                <a:solidFill>
                  <a:srgbClr val="6600FF"/>
                </a:solidFill>
                <a:cs typeface="Times New Roman" pitchFamily="18" charset="0"/>
              </a:rPr>
              <a:t>9</a:t>
            </a:r>
            <a:r>
              <a:rPr lang="en-US" altLang="zh-CN" dirty="0">
                <a:solidFill>
                  <a:srgbClr val="6600FF"/>
                </a:solidFill>
                <a:latin typeface="Courier"/>
                <a:cs typeface="Times New Roman" pitchFamily="18" charset="0"/>
              </a:rPr>
              <a:t>-</a:t>
            </a:r>
            <a:r>
              <a:rPr lang="en-US" altLang="zh-CN" dirty="0">
                <a:solidFill>
                  <a:srgbClr val="6600FF"/>
                </a:solidFill>
                <a:cs typeface="Times New Roman" pitchFamily="18" charset="0"/>
              </a:rPr>
              <a:t>10</a:t>
            </a:r>
            <a:r>
              <a:rPr lang="zh-CN" altLang="en-US" dirty="0">
                <a:solidFill>
                  <a:srgbClr val="6600FF"/>
                </a:solidFill>
                <a:cs typeface="Times New Roman" pitchFamily="18" charset="0"/>
              </a:rPr>
              <a:t>＝</a:t>
            </a:r>
            <a:r>
              <a:rPr lang="en-US" altLang="zh-CN" dirty="0">
                <a:solidFill>
                  <a:srgbClr val="6600FF"/>
                </a:solidFill>
                <a:cs typeface="Times New Roman" pitchFamily="18" charset="0"/>
              </a:rPr>
              <a:t>502</a:t>
            </a:r>
            <a:endParaRPr lang="zh-CN" altLang="en-US" dirty="0">
              <a:solidFill>
                <a:srgbClr val="66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054196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EBE0FA-F082-4788-9D0C-57B921968C16}" type="slidenum">
              <a:rPr lang="zh-CN" altLang="en-US"/>
              <a:pPr/>
              <a:t>12</a:t>
            </a:fld>
            <a:endParaRPr lang="en-US" altLang="zh-CN"/>
          </a:p>
        </p:txBody>
      </p:sp>
      <p:sp>
        <p:nvSpPr>
          <p:cNvPr id="132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二、奇偶校验码</a:t>
            </a:r>
          </a:p>
        </p:txBody>
      </p:sp>
      <p:sp>
        <p:nvSpPr>
          <p:cNvPr id="132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620713"/>
            <a:ext cx="8712200" cy="6121400"/>
          </a:xfrm>
        </p:spPr>
        <p:txBody>
          <a:bodyPr/>
          <a:lstStyle/>
          <a:p>
            <a:r>
              <a:rPr lang="zh-CN" altLang="en-US" dirty="0"/>
              <a:t>定义：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设 </a:t>
            </a:r>
            <a:r>
              <a:rPr lang="en-US" altLang="zh-CN" i="1" dirty="0">
                <a:solidFill>
                  <a:srgbClr val="000000"/>
                </a:solidFill>
              </a:rPr>
              <a:t>X 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＝ </a:t>
            </a:r>
            <a:r>
              <a:rPr lang="en-US" altLang="zh-CN" dirty="0">
                <a:solidFill>
                  <a:srgbClr val="000000"/>
                </a:solidFill>
              </a:rPr>
              <a:t>( </a:t>
            </a:r>
            <a:r>
              <a:rPr lang="en-US" altLang="zh-CN" i="1" dirty="0">
                <a:solidFill>
                  <a:srgbClr val="000000"/>
                </a:solidFill>
              </a:rPr>
              <a:t>x</a:t>
            </a:r>
            <a:r>
              <a:rPr lang="en-US" altLang="zh-CN" i="1" baseline="-30000" dirty="0">
                <a:solidFill>
                  <a:srgbClr val="000000"/>
                </a:solidFill>
              </a:rPr>
              <a:t>n</a:t>
            </a:r>
            <a:r>
              <a:rPr lang="en-US" altLang="zh-CN" baseline="-30000" dirty="0">
                <a:solidFill>
                  <a:srgbClr val="000000"/>
                </a:solidFill>
              </a:rPr>
              <a:t>-1 </a:t>
            </a:r>
            <a:r>
              <a:rPr lang="en-US" altLang="zh-CN" i="1" dirty="0">
                <a:solidFill>
                  <a:srgbClr val="000000"/>
                </a:solidFill>
              </a:rPr>
              <a:t>x</a:t>
            </a:r>
            <a:r>
              <a:rPr lang="en-US" altLang="zh-CN" i="1" baseline="-30000" dirty="0">
                <a:solidFill>
                  <a:srgbClr val="000000"/>
                </a:solidFill>
              </a:rPr>
              <a:t>n</a:t>
            </a:r>
            <a:r>
              <a:rPr lang="en-US" altLang="zh-CN" baseline="-30000" dirty="0">
                <a:solidFill>
                  <a:srgbClr val="000000"/>
                </a:solidFill>
              </a:rPr>
              <a:t>-2 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… </a:t>
            </a:r>
            <a:r>
              <a:rPr lang="en-US" altLang="zh-CN" i="1" dirty="0">
                <a:solidFill>
                  <a:srgbClr val="000000"/>
                </a:solidFill>
              </a:rPr>
              <a:t>x</a:t>
            </a:r>
            <a:r>
              <a:rPr lang="en-US" altLang="zh-CN" baseline="-30000" dirty="0">
                <a:solidFill>
                  <a:srgbClr val="000000"/>
                </a:solidFill>
              </a:rPr>
              <a:t>2 </a:t>
            </a:r>
            <a:r>
              <a:rPr lang="en-US" altLang="zh-CN" i="1" dirty="0">
                <a:solidFill>
                  <a:srgbClr val="000000"/>
                </a:solidFill>
              </a:rPr>
              <a:t>x</a:t>
            </a:r>
            <a:r>
              <a:rPr lang="en-US" altLang="zh-CN" baseline="-30000" dirty="0">
                <a:solidFill>
                  <a:srgbClr val="000000"/>
                </a:solidFill>
              </a:rPr>
              <a:t>1 </a:t>
            </a:r>
            <a:r>
              <a:rPr lang="en-US" altLang="zh-CN" i="1" dirty="0">
                <a:solidFill>
                  <a:srgbClr val="000000"/>
                </a:solidFill>
              </a:rPr>
              <a:t>x</a:t>
            </a:r>
            <a:r>
              <a:rPr lang="en-US" altLang="zh-CN" baseline="-30000" dirty="0">
                <a:solidFill>
                  <a:srgbClr val="000000"/>
                </a:solidFill>
              </a:rPr>
              <a:t>0 </a:t>
            </a:r>
            <a:r>
              <a:rPr lang="en-US" altLang="zh-CN" dirty="0">
                <a:solidFill>
                  <a:srgbClr val="000000"/>
                </a:solidFill>
              </a:rPr>
              <a:t>) 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是一个</a:t>
            </a:r>
            <a:r>
              <a:rPr lang="en-US" altLang="zh-CN" i="1" dirty="0">
                <a:solidFill>
                  <a:srgbClr val="000000"/>
                </a:solidFill>
              </a:rPr>
              <a:t>n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位字，则</a:t>
            </a:r>
            <a:b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</a:br>
            <a:b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</a:br>
            <a:r>
              <a:rPr lang="zh-CN" altLang="en-US" dirty="0">
                <a:solidFill>
                  <a:srgbClr val="FF0066"/>
                </a:solidFill>
                <a:ea typeface="黑体" pitchFamily="2" charset="-122"/>
                <a:cs typeface="Times New Roman" pitchFamily="18" charset="0"/>
              </a:rPr>
              <a:t>奇校验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位 </a:t>
            </a:r>
            <a:r>
              <a:rPr lang="en-US" altLang="zh-CN" i="1" dirty="0"/>
              <a:t>C 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定义为：</a:t>
            </a:r>
            <a:b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</a:br>
            <a:b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</a:br>
            <a:b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</a:b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当</a:t>
            </a:r>
            <a:r>
              <a:rPr lang="en-US" altLang="zh-CN" i="1" dirty="0"/>
              <a:t>X</a:t>
            </a:r>
            <a:r>
              <a:rPr lang="zh-CN" altLang="en-US" dirty="0"/>
              <a:t>中包含有</a:t>
            </a:r>
            <a:r>
              <a:rPr lang="zh-CN" altLang="en-US" dirty="0">
                <a:solidFill>
                  <a:srgbClr val="0000FF"/>
                </a:solidFill>
              </a:rPr>
              <a:t>奇数个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/>
              <a:t>时，</a:t>
            </a:r>
            <a:r>
              <a:rPr lang="en-US" altLang="zh-CN" i="1" dirty="0"/>
              <a:t>C</a:t>
            </a:r>
            <a:r>
              <a:rPr lang="zh-CN" altLang="en-US" dirty="0"/>
              <a:t>＝</a:t>
            </a:r>
            <a:r>
              <a:rPr lang="en-US" altLang="zh-CN" dirty="0"/>
              <a:t>1</a:t>
            </a:r>
            <a:r>
              <a:rPr lang="zh-CN" altLang="en-US" dirty="0"/>
              <a:t>，既</a:t>
            </a:r>
            <a:r>
              <a:rPr lang="en-US" altLang="zh-CN" i="1" dirty="0"/>
              <a:t>C</a:t>
            </a:r>
            <a:r>
              <a:rPr lang="zh-CN" altLang="en-US" dirty="0"/>
              <a:t>＝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  <a:br>
              <a:rPr lang="zh-CN" altLang="en-US" dirty="0"/>
            </a:br>
            <a:br>
              <a:rPr lang="zh-CN" altLang="en-US" dirty="0"/>
            </a:br>
            <a:r>
              <a:rPr lang="zh-CN" altLang="en-US" dirty="0">
                <a:solidFill>
                  <a:srgbClr val="FF0066"/>
                </a:solidFill>
                <a:ea typeface="黑体" pitchFamily="2" charset="-122"/>
              </a:rPr>
              <a:t>偶校验</a:t>
            </a:r>
            <a:r>
              <a:rPr lang="zh-CN" altLang="en-US" dirty="0"/>
              <a:t>位 </a:t>
            </a:r>
            <a:r>
              <a:rPr lang="en-US" altLang="zh-CN" i="1" dirty="0"/>
              <a:t>C </a:t>
            </a:r>
            <a:r>
              <a:rPr lang="zh-CN" altLang="en-US" dirty="0"/>
              <a:t>定义为：</a:t>
            </a:r>
            <a:br>
              <a:rPr lang="zh-CN" altLang="en-US" dirty="0"/>
            </a:br>
            <a:br>
              <a:rPr lang="zh-CN" altLang="en-US" dirty="0"/>
            </a:br>
            <a:br>
              <a:rPr lang="zh-CN" altLang="en-US" dirty="0"/>
            </a:br>
            <a:r>
              <a:rPr lang="zh-CN" altLang="en-US" dirty="0"/>
              <a:t>当</a:t>
            </a:r>
            <a:r>
              <a:rPr lang="en-US" altLang="zh-CN" i="1" dirty="0"/>
              <a:t>X</a:t>
            </a:r>
            <a:r>
              <a:rPr lang="zh-CN" altLang="en-US" dirty="0"/>
              <a:t>中包含有</a:t>
            </a:r>
            <a:r>
              <a:rPr lang="zh-CN" altLang="en-US" dirty="0">
                <a:solidFill>
                  <a:srgbClr val="0000FF"/>
                </a:solidFill>
              </a:rPr>
              <a:t>偶数个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/>
              <a:t>时，</a:t>
            </a:r>
            <a:r>
              <a:rPr lang="en-US" altLang="zh-CN" i="1" dirty="0"/>
              <a:t>C</a:t>
            </a:r>
            <a:r>
              <a:rPr lang="zh-CN" altLang="en-US" dirty="0"/>
              <a:t>＝</a:t>
            </a:r>
            <a:r>
              <a:rPr lang="en-US" altLang="zh-CN" dirty="0"/>
              <a:t>0</a:t>
            </a:r>
            <a:r>
              <a:rPr lang="zh-CN" altLang="en-US" dirty="0"/>
              <a:t>。</a:t>
            </a:r>
          </a:p>
        </p:txBody>
      </p:sp>
      <p:graphicFrame>
        <p:nvGraphicFramePr>
          <p:cNvPr id="1327108" name="Object 4"/>
          <p:cNvGraphicFramePr>
            <a:graphicFrameLocks noChangeAspect="1"/>
          </p:cNvGraphicFramePr>
          <p:nvPr/>
        </p:nvGraphicFramePr>
        <p:xfrm>
          <a:off x="1093788" y="1989138"/>
          <a:ext cx="652462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7235" name="公式" r:id="rId3" imgW="2260440" imgH="253800" progId="Equation.3">
                  <p:embed/>
                </p:oleObj>
              </mc:Choice>
              <mc:Fallback>
                <p:oleObj name="公式" r:id="rId3" imgW="2260440" imgH="2538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3788" y="1989138"/>
                        <a:ext cx="6524625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7110" name="Object 6"/>
          <p:cNvGraphicFramePr>
            <a:graphicFrameLocks noChangeAspect="1"/>
          </p:cNvGraphicFramePr>
          <p:nvPr/>
        </p:nvGraphicFramePr>
        <p:xfrm>
          <a:off x="900113" y="4217988"/>
          <a:ext cx="6524625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7236" name="公式" r:id="rId5" imgW="2260440" imgH="228600" progId="Equation.3">
                  <p:embed/>
                </p:oleObj>
              </mc:Choice>
              <mc:Fallback>
                <p:oleObj name="公式" r:id="rId5" imgW="2260440" imgH="2286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217988"/>
                        <a:ext cx="6524625" cy="650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27112" name="Line 8"/>
          <p:cNvSpPr>
            <a:spLocks noChangeShapeType="1"/>
          </p:cNvSpPr>
          <p:nvPr/>
        </p:nvSpPr>
        <p:spPr bwMode="auto">
          <a:xfrm>
            <a:off x="2317750" y="1579563"/>
            <a:ext cx="215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27113" name="Line 9"/>
          <p:cNvSpPr>
            <a:spLocks noChangeShapeType="1"/>
          </p:cNvSpPr>
          <p:nvPr/>
        </p:nvSpPr>
        <p:spPr bwMode="auto">
          <a:xfrm>
            <a:off x="4787900" y="2852738"/>
            <a:ext cx="215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AB23D07-8CE4-45A6-93C7-3CD2A6B0BDC9}" type="slidenum">
              <a:rPr lang="zh-CN" altLang="en-US"/>
              <a:pPr/>
              <a:t>13</a:t>
            </a:fld>
            <a:endParaRPr lang="en-US" altLang="zh-CN"/>
          </a:p>
        </p:txBody>
      </p:sp>
      <p:sp>
        <p:nvSpPr>
          <p:cNvPr id="132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二、奇偶校验码</a:t>
            </a:r>
          </a:p>
        </p:txBody>
      </p:sp>
      <p:sp>
        <p:nvSpPr>
          <p:cNvPr id="132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693738"/>
            <a:ext cx="8712200" cy="5688012"/>
          </a:xfrm>
        </p:spPr>
        <p:txBody>
          <a:bodyPr/>
          <a:lstStyle/>
          <a:p>
            <a:r>
              <a:rPr lang="zh-CN" altLang="en-US" dirty="0"/>
              <a:t>校验过程：</a:t>
            </a:r>
            <a:br>
              <a:rPr lang="zh-CN" altLang="en-US" dirty="0"/>
            </a:br>
            <a:r>
              <a:rPr lang="zh-CN" altLang="en-US" dirty="0"/>
              <a:t>将一个字</a:t>
            </a:r>
            <a:r>
              <a:rPr lang="en-US" altLang="zh-CN" i="1" dirty="0"/>
              <a:t>X</a:t>
            </a:r>
            <a:r>
              <a:rPr lang="zh-CN" altLang="en-US" dirty="0"/>
              <a:t>从部件</a:t>
            </a:r>
            <a:r>
              <a:rPr lang="en-US" altLang="zh-CN" dirty="0"/>
              <a:t>A</a:t>
            </a:r>
            <a:r>
              <a:rPr lang="zh-CN" altLang="en-US" dirty="0"/>
              <a:t>传送到部件</a:t>
            </a:r>
            <a:r>
              <a:rPr lang="en-US" altLang="zh-CN" dirty="0"/>
              <a:t>B</a:t>
            </a:r>
            <a:r>
              <a:rPr lang="zh-CN" altLang="en-US" dirty="0"/>
              <a:t>，采用</a:t>
            </a:r>
            <a:r>
              <a:rPr lang="zh-CN" altLang="en-US" dirty="0">
                <a:solidFill>
                  <a:srgbClr val="FF6600"/>
                </a:solidFill>
                <a:ea typeface="黑体" pitchFamily="2" charset="-122"/>
              </a:rPr>
              <a:t>偶校验</a:t>
            </a:r>
            <a:r>
              <a:rPr lang="zh-CN" altLang="en-US" dirty="0"/>
              <a:t>。</a:t>
            </a:r>
          </a:p>
          <a:p>
            <a:pPr lvl="1"/>
            <a:r>
              <a:rPr lang="zh-CN" altLang="en-US" dirty="0">
                <a:solidFill>
                  <a:srgbClr val="FF0066"/>
                </a:solidFill>
              </a:rPr>
              <a:t>发送端</a:t>
            </a:r>
            <a:r>
              <a:rPr lang="en-US" altLang="zh-CN" dirty="0">
                <a:solidFill>
                  <a:srgbClr val="0000FF"/>
                </a:solidFill>
              </a:rPr>
              <a:t>A</a:t>
            </a:r>
            <a:r>
              <a:rPr lang="zh-CN" altLang="en-US" dirty="0"/>
              <a:t>：</a:t>
            </a:r>
            <a:br>
              <a:rPr lang="zh-CN" altLang="en-US" dirty="0"/>
            </a:b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计算出校验位</a:t>
            </a:r>
            <a:r>
              <a:rPr lang="en-US" altLang="zh-CN" i="1" dirty="0">
                <a:solidFill>
                  <a:srgbClr val="000000"/>
                </a:solidFill>
              </a:rPr>
              <a:t>C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，与要发送的数据合在一起，将（</a:t>
            </a:r>
            <a:r>
              <a:rPr lang="en-US" altLang="zh-CN" i="1" dirty="0">
                <a:solidFill>
                  <a:srgbClr val="000000"/>
                </a:solidFill>
              </a:rPr>
              <a:t>c x</a:t>
            </a:r>
            <a:r>
              <a:rPr lang="en-US" altLang="zh-CN" i="1" baseline="-30000" dirty="0">
                <a:solidFill>
                  <a:srgbClr val="000000"/>
                </a:solidFill>
              </a:rPr>
              <a:t>n</a:t>
            </a:r>
            <a:r>
              <a:rPr lang="en-US" altLang="zh-CN" baseline="-30000" dirty="0">
                <a:solidFill>
                  <a:srgbClr val="000000"/>
                </a:solidFill>
              </a:rPr>
              <a:t>-1 </a:t>
            </a:r>
            <a:r>
              <a:rPr lang="en-US" altLang="zh-CN" i="1" dirty="0">
                <a:solidFill>
                  <a:srgbClr val="000000"/>
                </a:solidFill>
              </a:rPr>
              <a:t>x</a:t>
            </a:r>
            <a:r>
              <a:rPr lang="en-US" altLang="zh-CN" i="1" baseline="-30000" dirty="0">
                <a:solidFill>
                  <a:srgbClr val="000000"/>
                </a:solidFill>
              </a:rPr>
              <a:t>n</a:t>
            </a:r>
            <a:r>
              <a:rPr lang="en-US" altLang="zh-CN" baseline="-30000" dirty="0">
                <a:solidFill>
                  <a:srgbClr val="000000"/>
                </a:solidFill>
              </a:rPr>
              <a:t>-2 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… </a:t>
            </a:r>
            <a:r>
              <a:rPr lang="en-US" altLang="zh-CN" i="1" dirty="0">
                <a:solidFill>
                  <a:srgbClr val="000000"/>
                </a:solidFill>
              </a:rPr>
              <a:t>x</a:t>
            </a:r>
            <a:r>
              <a:rPr lang="en-US" altLang="zh-CN" baseline="-30000" dirty="0">
                <a:solidFill>
                  <a:srgbClr val="000000"/>
                </a:solidFill>
              </a:rPr>
              <a:t>2 </a:t>
            </a:r>
            <a:r>
              <a:rPr lang="en-US" altLang="zh-CN" i="1" dirty="0">
                <a:solidFill>
                  <a:srgbClr val="000000"/>
                </a:solidFill>
              </a:rPr>
              <a:t>x</a:t>
            </a:r>
            <a:r>
              <a:rPr lang="en-US" altLang="zh-CN" baseline="-30000" dirty="0">
                <a:solidFill>
                  <a:srgbClr val="000000"/>
                </a:solidFill>
              </a:rPr>
              <a:t>1 </a:t>
            </a:r>
            <a:r>
              <a:rPr lang="en-US" altLang="zh-CN" i="1" dirty="0">
                <a:solidFill>
                  <a:srgbClr val="000000"/>
                </a:solidFill>
              </a:rPr>
              <a:t>x</a:t>
            </a:r>
            <a:r>
              <a:rPr lang="en-US" altLang="zh-CN" baseline="-30000" dirty="0">
                <a:solidFill>
                  <a:srgbClr val="000000"/>
                </a:solidFill>
              </a:rPr>
              <a:t>0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）发送到接收端</a:t>
            </a:r>
            <a:r>
              <a:rPr lang="en-US" altLang="zh-CN" dirty="0">
                <a:solidFill>
                  <a:srgbClr val="000000"/>
                </a:solidFill>
              </a:rPr>
              <a:t>B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。</a:t>
            </a:r>
          </a:p>
          <a:p>
            <a:pPr lvl="1">
              <a:spcBef>
                <a:spcPct val="50000"/>
              </a:spcBef>
            </a:pPr>
            <a:r>
              <a:rPr lang="zh-CN" altLang="en-US" dirty="0">
                <a:solidFill>
                  <a:srgbClr val="FF0066"/>
                </a:solidFill>
                <a:cs typeface="Times New Roman" pitchFamily="18" charset="0"/>
              </a:rPr>
              <a:t>接收端</a:t>
            </a:r>
            <a:r>
              <a:rPr lang="en-US" altLang="zh-CN" dirty="0">
                <a:solidFill>
                  <a:srgbClr val="0000FF"/>
                </a:solidFill>
              </a:rPr>
              <a:t>B</a:t>
            </a:r>
            <a:r>
              <a:rPr lang="zh-CN" altLang="en-US" dirty="0">
                <a:solidFill>
                  <a:srgbClr val="000000"/>
                </a:solidFill>
              </a:rPr>
              <a:t>：</a:t>
            </a:r>
            <a:br>
              <a:rPr lang="zh-CN" altLang="en-US" dirty="0">
                <a:solidFill>
                  <a:srgbClr val="000000"/>
                </a:solidFill>
              </a:rPr>
            </a:b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接收到的是                                                     ，</a:t>
            </a:r>
            <a:b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</a:b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然后计算</a:t>
            </a:r>
          </a:p>
          <a:p>
            <a:pPr lvl="2"/>
            <a:endParaRPr lang="zh-CN" altLang="en-US" dirty="0">
              <a:solidFill>
                <a:srgbClr val="000000"/>
              </a:solidFill>
            </a:endParaRPr>
          </a:p>
          <a:p>
            <a:pPr lvl="2">
              <a:spcBef>
                <a:spcPct val="50000"/>
              </a:spcBef>
            </a:pPr>
            <a:r>
              <a:rPr lang="zh-CN" altLang="en-US" dirty="0"/>
              <a:t>若</a:t>
            </a:r>
            <a:r>
              <a:rPr lang="en-US" altLang="zh-CN" i="1" dirty="0"/>
              <a:t>F</a:t>
            </a:r>
            <a:r>
              <a:rPr lang="zh-CN" altLang="en-US" dirty="0"/>
              <a:t>＝</a:t>
            </a:r>
            <a:r>
              <a:rPr lang="en-US" altLang="zh-CN" dirty="0"/>
              <a:t>1</a:t>
            </a:r>
            <a:r>
              <a:rPr lang="zh-CN" altLang="en-US" dirty="0"/>
              <a:t>，收到的信息有错；</a:t>
            </a:r>
          </a:p>
          <a:p>
            <a:pPr lvl="2"/>
            <a:r>
              <a:rPr lang="zh-CN" altLang="en-US" dirty="0"/>
              <a:t>若</a:t>
            </a:r>
            <a:r>
              <a:rPr lang="en-US" altLang="zh-CN" i="1" dirty="0"/>
              <a:t>F</a:t>
            </a:r>
            <a:r>
              <a:rPr lang="zh-CN" altLang="en-US" dirty="0"/>
              <a:t>＝</a:t>
            </a:r>
            <a:r>
              <a:rPr lang="en-US" altLang="zh-CN" dirty="0"/>
              <a:t>0</a:t>
            </a:r>
            <a:r>
              <a:rPr lang="zh-CN" altLang="en-US" dirty="0"/>
              <a:t>，字</a:t>
            </a:r>
            <a:r>
              <a:rPr lang="en-US" altLang="zh-CN" i="1" dirty="0"/>
              <a:t>X</a:t>
            </a:r>
            <a:r>
              <a:rPr lang="zh-CN" altLang="en-US" dirty="0"/>
              <a:t>传送正确。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8136" name="Object 8"/>
              <p:cNvSpPr txBox="1"/>
              <p:nvPr/>
            </p:nvSpPr>
            <p:spPr bwMode="auto">
              <a:xfrm>
                <a:off x="1043609" y="4508500"/>
                <a:ext cx="7128792" cy="577850"/>
              </a:xfrm>
              <a:prstGeom prst="rect">
                <a:avLst/>
              </a:prstGeom>
              <a:noFill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i="1" smtClean="0">
                          <a:solidFill>
                            <a:srgbClr val="000000"/>
                          </a:solidFill>
                          <a:latin typeface="+mn-lt"/>
                        </a:rPr>
                        <m:t>F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′⊕</m:t>
                      </m:r>
                      <m:sSubSup>
                        <m:sSubSupPr>
                          <m:ctrl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sSubSup>
                        <m:sSubSupPr>
                          <m:ctrl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⊕⋅⋅⋅⊕</m:t>
                      </m:r>
                      <m:sSubSup>
                        <m:sSubSupPr>
                          <m:ctrl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sSubSup>
                        <m:sSubSupPr>
                          <m:ctrl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⊕</m:t>
                      </m:r>
                      <m:sSubSup>
                        <m:sSubSupPr>
                          <m:ctrl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28136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43609" y="4508500"/>
                <a:ext cx="7128792" cy="5778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8">
                <a:extLst>
                  <a:ext uri="{FF2B5EF4-FFF2-40B4-BE49-F238E27FC236}">
                    <a16:creationId xmlns:a16="http://schemas.microsoft.com/office/drawing/2014/main" id="{CFD3A2B5-65D0-4F6D-B7BA-439E3759DDAD}"/>
                  </a:ext>
                </a:extLst>
              </p:cNvPr>
              <p:cNvSpPr txBox="1"/>
              <p:nvPr/>
            </p:nvSpPr>
            <p:spPr bwMode="auto">
              <a:xfrm>
                <a:off x="2914672" y="3565176"/>
                <a:ext cx="4845546" cy="577850"/>
              </a:xfrm>
              <a:prstGeom prst="rect">
                <a:avLst/>
              </a:prstGeom>
              <a:noFill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b="1" i="1" smtClean="0">
                          <a:solidFill>
                            <a:srgbClr val="000000"/>
                          </a:solidFill>
                          <a:latin typeface="+mn-lt"/>
                        </a:rPr>
                        <m:t>X</m:t>
                      </m:r>
                      <m:r>
                        <a:rPr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r>
                        <a:rPr lang="zh-CN" alt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  <m:sSubSup>
                        <m:sSubSupPr>
                          <m:ctrl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CN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⋅⋅⋅</m:t>
                      </m:r>
                      <m:sSubSup>
                        <m:sSubSupPr>
                          <m:ctrl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Object 8">
                <a:extLst>
                  <a:ext uri="{FF2B5EF4-FFF2-40B4-BE49-F238E27FC236}">
                    <a16:creationId xmlns:a16="http://schemas.microsoft.com/office/drawing/2014/main" id="{CFD3A2B5-65D0-4F6D-B7BA-439E3759DD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14672" y="3565176"/>
                <a:ext cx="4845546" cy="5778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C836A3D-1FB3-4345-9E6E-E2C6C3CC1AE8}" type="slidenum">
              <a:rPr lang="zh-CN" altLang="en-US"/>
              <a:pPr/>
              <a:t>14</a:t>
            </a:fld>
            <a:endParaRPr lang="en-US" altLang="zh-CN"/>
          </a:p>
        </p:txBody>
      </p:sp>
      <p:sp>
        <p:nvSpPr>
          <p:cNvPr id="132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二、奇偶校验码</a:t>
            </a:r>
          </a:p>
        </p:txBody>
      </p:sp>
      <p:sp>
        <p:nvSpPr>
          <p:cNvPr id="132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548680"/>
            <a:ext cx="8712200" cy="6048672"/>
          </a:xfrm>
        </p:spPr>
        <p:txBody>
          <a:bodyPr/>
          <a:lstStyle/>
          <a:p>
            <a:pPr>
              <a:spcBef>
                <a:spcPts val="200"/>
              </a:spcBef>
            </a:pPr>
            <a:r>
              <a:rPr lang="zh-CN" altLang="en-US" dirty="0"/>
              <a:t>缺点：</a:t>
            </a:r>
          </a:p>
          <a:p>
            <a:pPr lvl="1">
              <a:spcBef>
                <a:spcPts val="200"/>
              </a:spcBef>
            </a:pPr>
            <a:r>
              <a:rPr lang="zh-CN" altLang="en-US" dirty="0"/>
              <a:t>只能检测每个字中所产生的</a:t>
            </a:r>
            <a:r>
              <a:rPr lang="zh-CN" altLang="en-US" dirty="0">
                <a:solidFill>
                  <a:srgbClr val="CC0066"/>
                </a:solidFill>
              </a:rPr>
              <a:t>奇数个错误</a:t>
            </a:r>
          </a:p>
          <a:p>
            <a:pPr lvl="1">
              <a:spcBef>
                <a:spcPts val="200"/>
              </a:spcBef>
            </a:pPr>
            <a:r>
              <a:rPr lang="zh-CN" altLang="en-US" dirty="0"/>
              <a:t>不具备</a:t>
            </a:r>
            <a:r>
              <a:rPr lang="zh-CN" altLang="en-US" dirty="0">
                <a:solidFill>
                  <a:srgbClr val="CC0066"/>
                </a:solidFill>
              </a:rPr>
              <a:t>纠错</a:t>
            </a:r>
            <a:r>
              <a:rPr lang="zh-CN" altLang="en-US" dirty="0"/>
              <a:t>能力</a:t>
            </a:r>
          </a:p>
          <a:p>
            <a:pPr>
              <a:spcBef>
                <a:spcPts val="200"/>
              </a:spcBef>
            </a:pPr>
            <a:r>
              <a:rPr lang="zh-CN" altLang="en-US" dirty="0"/>
              <a:t>优点：</a:t>
            </a:r>
          </a:p>
          <a:p>
            <a:pPr lvl="1">
              <a:spcBef>
                <a:spcPts val="200"/>
              </a:spcBef>
            </a:pPr>
            <a:r>
              <a:rPr lang="zh-CN" altLang="en-US" dirty="0">
                <a:solidFill>
                  <a:srgbClr val="FF0000"/>
                </a:solidFill>
              </a:rPr>
              <a:t>开销</a:t>
            </a:r>
            <a:r>
              <a:rPr lang="zh-CN" altLang="en-US" dirty="0"/>
              <a:t>小</a:t>
            </a:r>
          </a:p>
          <a:p>
            <a:pPr lvl="1">
              <a:spcBef>
                <a:spcPts val="200"/>
              </a:spcBef>
            </a:pPr>
            <a:r>
              <a:rPr lang="zh-CN" altLang="en-US" dirty="0"/>
              <a:t>常用于校验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字节长</a:t>
            </a:r>
            <a:r>
              <a:rPr lang="zh-CN" altLang="en-US" dirty="0"/>
              <a:t>的数据：</a:t>
            </a:r>
            <a:br>
              <a:rPr lang="zh-CN" altLang="en-US" dirty="0"/>
            </a:br>
            <a:r>
              <a:rPr lang="zh-CN" altLang="en-US" dirty="0">
                <a:solidFill>
                  <a:srgbClr val="0000FF"/>
                </a:solidFill>
              </a:rPr>
              <a:t>通常</a:t>
            </a:r>
            <a:r>
              <a:rPr lang="en-US" altLang="zh-CN" dirty="0">
                <a:solidFill>
                  <a:srgbClr val="0000FF"/>
                </a:solidFill>
              </a:rPr>
              <a:t>1</a:t>
            </a:r>
            <a:r>
              <a:rPr lang="zh-CN" altLang="en-US" dirty="0">
                <a:solidFill>
                  <a:srgbClr val="0000FF"/>
                </a:solidFill>
              </a:rPr>
              <a:t>字节长的数据编码发生错误时，</a:t>
            </a:r>
            <a:r>
              <a:rPr lang="en-US" altLang="zh-CN" dirty="0">
                <a:solidFill>
                  <a:srgbClr val="0000FF"/>
                </a:solidFill>
              </a:rPr>
              <a:t>1</a:t>
            </a:r>
            <a:r>
              <a:rPr lang="zh-CN" altLang="en-US" dirty="0">
                <a:solidFill>
                  <a:srgbClr val="0000FF"/>
                </a:solidFill>
              </a:rPr>
              <a:t>位出错的概率较大，两位以上同时出错的概率极小。</a:t>
            </a:r>
          </a:p>
          <a:p>
            <a:pPr>
              <a:spcBef>
                <a:spcPts val="200"/>
              </a:spcBef>
            </a:pPr>
            <a:r>
              <a:rPr lang="zh-CN" altLang="en-US" dirty="0"/>
              <a:t>常用于</a:t>
            </a:r>
          </a:p>
          <a:p>
            <a:pPr lvl="1">
              <a:spcBef>
                <a:spcPts val="200"/>
              </a:spcBef>
            </a:pPr>
            <a:r>
              <a:rPr lang="zh-CN" altLang="en-US" dirty="0">
                <a:solidFill>
                  <a:srgbClr val="FF0000"/>
                </a:solidFill>
              </a:rPr>
              <a:t>存储器</a:t>
            </a:r>
            <a:r>
              <a:rPr lang="zh-CN" altLang="en-US" dirty="0"/>
              <a:t>读写校验</a:t>
            </a:r>
            <a:endParaRPr lang="en-US" altLang="zh-CN" dirty="0"/>
          </a:p>
          <a:p>
            <a:pPr lvl="2">
              <a:spcBef>
                <a:spcPts val="200"/>
              </a:spcBef>
            </a:pPr>
            <a:r>
              <a:rPr lang="zh-CN" altLang="en-US" dirty="0"/>
              <a:t>内存的存取过程，发生一位错的概率最大。</a:t>
            </a:r>
          </a:p>
          <a:p>
            <a:pPr lvl="2">
              <a:spcBef>
                <a:spcPts val="200"/>
              </a:spcBef>
            </a:pPr>
            <a:r>
              <a:rPr lang="zh-CN" altLang="en-US" dirty="0"/>
              <a:t>电路简单、速度高、易于实现。</a:t>
            </a:r>
          </a:p>
          <a:p>
            <a:pPr lvl="1">
              <a:spcBef>
                <a:spcPts val="200"/>
              </a:spcBef>
            </a:pPr>
            <a:r>
              <a:rPr lang="zh-CN" altLang="en-US" dirty="0">
                <a:solidFill>
                  <a:srgbClr val="FF0000"/>
                </a:solidFill>
              </a:rPr>
              <a:t>按字节传输</a:t>
            </a:r>
            <a:r>
              <a:rPr lang="zh-CN" altLang="en-US" dirty="0"/>
              <a:t>过程中的数据校验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76723C0-8A76-4A49-B8C3-C4AAAD484B07}"/>
              </a:ext>
            </a:extLst>
          </p:cNvPr>
          <p:cNvSpPr/>
          <p:nvPr/>
        </p:nvSpPr>
        <p:spPr>
          <a:xfrm>
            <a:off x="3463827" y="241484"/>
            <a:ext cx="3542958" cy="523220"/>
          </a:xfrm>
          <a:prstGeom prst="rect">
            <a:avLst/>
          </a:prstGeom>
          <a:solidFill>
            <a:srgbClr val="FFFFCC"/>
          </a:solidFill>
          <a:ln w="19050">
            <a:solidFill>
              <a:srgbClr val="FF66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zh-CN" altLang="en-US" dirty="0"/>
              <a:t>最小海明码距 </a:t>
            </a:r>
            <a:r>
              <a:rPr lang="zh-CN" altLang="en-US" i="1" dirty="0"/>
              <a:t>d</a:t>
            </a:r>
            <a:r>
              <a:rPr lang="zh-CN" altLang="en-US" i="1" baseline="-25000" dirty="0"/>
              <a:t>min</a:t>
            </a:r>
            <a:r>
              <a:rPr lang="zh-CN" altLang="en-US" dirty="0"/>
              <a:t>＝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971B3D-131C-4C9B-A25A-61BD0FA6E5B6}" type="slidenum">
              <a:rPr lang="zh-CN" altLang="en-US"/>
              <a:pPr/>
              <a:t>15</a:t>
            </a:fld>
            <a:endParaRPr lang="en-US" altLang="zh-CN" dirty="0"/>
          </a:p>
        </p:txBody>
      </p:sp>
      <p:sp>
        <p:nvSpPr>
          <p:cNvPr id="133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二、奇偶校验码</a:t>
            </a:r>
          </a:p>
        </p:txBody>
      </p:sp>
      <p:sp>
        <p:nvSpPr>
          <p:cNvPr id="133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908050"/>
            <a:ext cx="8712200" cy="666115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】</a:t>
            </a:r>
            <a:r>
              <a:rPr lang="zh-CN" altLang="en-US" dirty="0"/>
              <a:t>假定最高位为校验位，其余低</a:t>
            </a:r>
            <a:r>
              <a:rPr lang="en-US" altLang="zh-CN" dirty="0"/>
              <a:t>8</a:t>
            </a:r>
            <a:r>
              <a:rPr lang="zh-CN" altLang="en-US" dirty="0"/>
              <a:t>位为数据位。</a:t>
            </a:r>
            <a:endParaRPr lang="en-US" altLang="zh-CN" dirty="0"/>
          </a:p>
        </p:txBody>
      </p:sp>
      <p:graphicFrame>
        <p:nvGraphicFramePr>
          <p:cNvPr id="1330297" name="Group 1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0954527"/>
              </p:ext>
            </p:extLst>
          </p:nvPr>
        </p:nvGraphicFramePr>
        <p:xfrm>
          <a:off x="466725" y="2133600"/>
          <a:ext cx="8208963" cy="3108960"/>
        </p:xfrm>
        <a:graphic>
          <a:graphicData uri="http://schemas.openxmlformats.org/drawingml/2006/table">
            <a:tbl>
              <a:tblPr/>
              <a:tblGrid>
                <a:gridCol w="2735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5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8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数据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偶校验编码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奇校验编码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01010101</a:t>
                      </a: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99CC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Courier New" pitchFamily="49" charset="0"/>
                        </a:rPr>
                        <a:t>x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01010101</a:t>
                      </a:r>
                      <a:endParaRPr kumimoji="1" lang="en-US" altLang="zh-CN" sz="2800" b="1" i="1" u="none" strike="noStrike" cap="none" normalizeH="0" baseline="0" dirty="0">
                        <a:ln>
                          <a:noFill/>
                        </a:ln>
                        <a:solidFill>
                          <a:srgbClr val="FF99CC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99CC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Courier New" pitchFamily="49" charset="0"/>
                        </a:rPr>
                        <a:t>x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01010101</a:t>
                      </a:r>
                      <a:endParaRPr kumimoji="1" lang="en-US" altLang="zh-CN" sz="2800" b="1" i="1" u="none" strike="noStrike" cap="none" normalizeH="0" baseline="0" dirty="0">
                        <a:ln>
                          <a:noFill/>
                        </a:ln>
                        <a:solidFill>
                          <a:srgbClr val="FF99CC"/>
                        </a:solidFill>
                        <a:effectLst/>
                        <a:latin typeface="Times New Roman" pitchFamily="18" charset="0"/>
                        <a:ea typeface="宋体" charset="-122"/>
                        <a:cs typeface="Courier New" pitchFamily="49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00101010</a:t>
                      </a: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99CC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Courier New" pitchFamily="49" charset="0"/>
                        </a:rPr>
                        <a:t>x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00101010</a:t>
                      </a:r>
                      <a:endParaRPr kumimoji="1" lang="en-US" altLang="zh-CN" sz="2800" b="1" i="1" u="none" strike="noStrike" cap="none" normalizeH="0" baseline="0" dirty="0">
                        <a:ln>
                          <a:noFill/>
                        </a:ln>
                        <a:solidFill>
                          <a:srgbClr val="FF99CC"/>
                        </a:solidFill>
                        <a:effectLst/>
                        <a:latin typeface="Times New Roman" pitchFamily="18" charset="0"/>
                        <a:ea typeface="宋体" charset="-122"/>
                        <a:cs typeface="Courier New" pitchFamily="49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99CC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Courier New" pitchFamily="49" charset="0"/>
                        </a:rPr>
                        <a:t>x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00101010</a:t>
                      </a:r>
                      <a:endParaRPr kumimoji="1" lang="en-US" altLang="zh-CN" sz="2800" b="1" i="1" u="none" strike="noStrike" cap="none" normalizeH="0" baseline="0" dirty="0">
                        <a:ln>
                          <a:noFill/>
                        </a:ln>
                        <a:solidFill>
                          <a:srgbClr val="FF99CC"/>
                        </a:solidFill>
                        <a:effectLst/>
                        <a:latin typeface="Times New Roman" pitchFamily="18" charset="0"/>
                        <a:ea typeface="宋体" charset="-122"/>
                        <a:cs typeface="Courier New" pitchFamily="49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00000000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99CC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Courier New" pitchFamily="49" charset="0"/>
                        </a:rPr>
                        <a:t>x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00000000</a:t>
                      </a:r>
                      <a:endParaRPr kumimoji="1" lang="en-US" altLang="zh-CN" sz="2800" b="1" i="1" u="none" strike="noStrike" cap="none" normalizeH="0" baseline="0" dirty="0">
                        <a:ln>
                          <a:noFill/>
                        </a:ln>
                        <a:solidFill>
                          <a:srgbClr val="FF99CC"/>
                        </a:solidFill>
                        <a:effectLst/>
                        <a:latin typeface="Times New Roman" pitchFamily="18" charset="0"/>
                        <a:ea typeface="宋体" charset="-122"/>
                        <a:cs typeface="Courier New" pitchFamily="49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99CC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Courier New" pitchFamily="49" charset="0"/>
                        </a:rPr>
                        <a:t>x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00000000</a:t>
                      </a:r>
                      <a:endParaRPr kumimoji="1" lang="en-US" altLang="zh-CN" sz="2800" b="1" i="1" u="none" strike="noStrike" cap="none" normalizeH="0" baseline="0" dirty="0">
                        <a:ln>
                          <a:noFill/>
                        </a:ln>
                        <a:solidFill>
                          <a:srgbClr val="FF99CC"/>
                        </a:solidFill>
                        <a:effectLst/>
                        <a:latin typeface="Times New Roman" pitchFamily="18" charset="0"/>
                        <a:ea typeface="宋体" charset="-122"/>
                        <a:cs typeface="Courier New" pitchFamily="49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01111111</a:t>
                      </a: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99CC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Courier New" pitchFamily="49" charset="0"/>
                        </a:rPr>
                        <a:t>x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01111111</a:t>
                      </a:r>
                      <a:endParaRPr kumimoji="1" lang="en-US" altLang="zh-CN" sz="2800" b="1" i="1" u="none" strike="noStrike" cap="none" normalizeH="0" baseline="0" dirty="0">
                        <a:ln>
                          <a:noFill/>
                        </a:ln>
                        <a:solidFill>
                          <a:srgbClr val="FF99CC"/>
                        </a:solidFill>
                        <a:effectLst/>
                        <a:latin typeface="Times New Roman" pitchFamily="18" charset="0"/>
                        <a:ea typeface="宋体" charset="-122"/>
                        <a:cs typeface="Courier New" pitchFamily="49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99CC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Courier New" pitchFamily="49" charset="0"/>
                        </a:rPr>
                        <a:t>x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01111111</a:t>
                      </a:r>
                      <a:endParaRPr kumimoji="1" lang="en-US" altLang="zh-CN" sz="2800" b="1" i="1" u="none" strike="noStrike" cap="none" normalizeH="0" baseline="0" dirty="0">
                        <a:ln>
                          <a:noFill/>
                        </a:ln>
                        <a:solidFill>
                          <a:srgbClr val="FF99CC"/>
                        </a:solidFill>
                        <a:effectLst/>
                        <a:latin typeface="Times New Roman" pitchFamily="18" charset="0"/>
                        <a:ea typeface="宋体" charset="-122"/>
                        <a:cs typeface="Courier New" pitchFamily="49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11111111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99CC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Courier New" pitchFamily="49" charset="0"/>
                        </a:rPr>
                        <a:t>x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11111111</a:t>
                      </a:r>
                      <a:endParaRPr kumimoji="1" lang="en-US" altLang="zh-CN" sz="2800" b="1" i="1" u="none" strike="noStrike" cap="none" normalizeH="0" baseline="0" dirty="0">
                        <a:ln>
                          <a:noFill/>
                        </a:ln>
                        <a:solidFill>
                          <a:srgbClr val="FF99CC"/>
                        </a:solidFill>
                        <a:effectLst/>
                        <a:latin typeface="Times New Roman" pitchFamily="18" charset="0"/>
                        <a:ea typeface="宋体" charset="-122"/>
                        <a:cs typeface="Courier New" pitchFamily="49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99CC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Courier New" pitchFamily="49" charset="0"/>
                        </a:rPr>
                        <a:t>x</a:t>
                      </a: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11111111</a:t>
                      </a:r>
                      <a:endParaRPr kumimoji="1" lang="en-US" altLang="zh-CN" sz="2800" b="1" i="1" u="none" strike="noStrike" cap="none" normalizeH="0" baseline="0" dirty="0">
                        <a:ln>
                          <a:noFill/>
                        </a:ln>
                        <a:solidFill>
                          <a:srgbClr val="FF99CC"/>
                        </a:solidFill>
                        <a:effectLst/>
                        <a:latin typeface="Times New Roman" pitchFamily="18" charset="0"/>
                        <a:ea typeface="宋体" charset="-122"/>
                        <a:cs typeface="Courier New" pitchFamily="49" charset="0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2947D951-2833-4AF8-A17E-026C01B3B754}"/>
              </a:ext>
            </a:extLst>
          </p:cNvPr>
          <p:cNvSpPr/>
          <p:nvPr/>
        </p:nvSpPr>
        <p:spPr>
          <a:xfrm>
            <a:off x="3491880" y="2656134"/>
            <a:ext cx="3994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Courier New" pitchFamily="49" charset="0"/>
              </a:rPr>
              <a:t>0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3199478-2BB7-4EA1-A112-9B74B3759DA6}"/>
              </a:ext>
            </a:extLst>
          </p:cNvPr>
          <p:cNvSpPr/>
          <p:nvPr/>
        </p:nvSpPr>
        <p:spPr>
          <a:xfrm>
            <a:off x="3491880" y="3164860"/>
            <a:ext cx="3994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Courier New" pitchFamily="49" charset="0"/>
              </a:rPr>
              <a:t>1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52B3E00-5518-44DC-9BA8-703F7171E903}"/>
              </a:ext>
            </a:extLst>
          </p:cNvPr>
          <p:cNvSpPr/>
          <p:nvPr/>
        </p:nvSpPr>
        <p:spPr>
          <a:xfrm>
            <a:off x="3491880" y="3696217"/>
            <a:ext cx="3994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Courier New" pitchFamily="49" charset="0"/>
              </a:rPr>
              <a:t>0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6482957-86A8-4088-8D84-0DB55D2F6E76}"/>
              </a:ext>
            </a:extLst>
          </p:cNvPr>
          <p:cNvSpPr/>
          <p:nvPr/>
        </p:nvSpPr>
        <p:spPr>
          <a:xfrm>
            <a:off x="3491880" y="4204943"/>
            <a:ext cx="3994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Courier New" pitchFamily="49" charset="0"/>
              </a:rPr>
              <a:t>1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86E36AF-758B-41FA-9018-F24C9C268A9F}"/>
              </a:ext>
            </a:extLst>
          </p:cNvPr>
          <p:cNvSpPr/>
          <p:nvPr/>
        </p:nvSpPr>
        <p:spPr>
          <a:xfrm>
            <a:off x="3491880" y="4723736"/>
            <a:ext cx="3994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Courier New" pitchFamily="49" charset="0"/>
              </a:rPr>
              <a:t>0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EF99A65-EC3F-4A67-B04C-EE0AF15E3BCC}"/>
              </a:ext>
            </a:extLst>
          </p:cNvPr>
          <p:cNvSpPr/>
          <p:nvPr/>
        </p:nvSpPr>
        <p:spPr>
          <a:xfrm>
            <a:off x="6246472" y="2656134"/>
            <a:ext cx="3994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Courier New" pitchFamily="49" charset="0"/>
              </a:rPr>
              <a:t>1</a:t>
            </a:r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486B10B-BB7C-4B53-9550-900291B43510}"/>
              </a:ext>
            </a:extLst>
          </p:cNvPr>
          <p:cNvSpPr/>
          <p:nvPr/>
        </p:nvSpPr>
        <p:spPr>
          <a:xfrm>
            <a:off x="6246472" y="3164860"/>
            <a:ext cx="3994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Courier New" pitchFamily="49" charset="0"/>
              </a:rPr>
              <a:t>0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7E663BB-E1F9-40F4-A72B-DA86DDEB785D}"/>
              </a:ext>
            </a:extLst>
          </p:cNvPr>
          <p:cNvSpPr/>
          <p:nvPr/>
        </p:nvSpPr>
        <p:spPr>
          <a:xfrm>
            <a:off x="6246472" y="3696217"/>
            <a:ext cx="3994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Courier New" pitchFamily="49" charset="0"/>
              </a:rPr>
              <a:t>1</a:t>
            </a:r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D6DD70C-B852-44EA-B871-05788DD788DE}"/>
              </a:ext>
            </a:extLst>
          </p:cNvPr>
          <p:cNvSpPr/>
          <p:nvPr/>
        </p:nvSpPr>
        <p:spPr>
          <a:xfrm>
            <a:off x="6246472" y="4204943"/>
            <a:ext cx="3994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Courier New" pitchFamily="49" charset="0"/>
              </a:rPr>
              <a:t>0</a:t>
            </a:r>
            <a:endParaRPr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C81808F-8A38-4FF5-8F83-9970247CEB39}"/>
              </a:ext>
            </a:extLst>
          </p:cNvPr>
          <p:cNvSpPr/>
          <p:nvPr/>
        </p:nvSpPr>
        <p:spPr>
          <a:xfrm>
            <a:off x="6246472" y="4723736"/>
            <a:ext cx="3994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Courier New" pitchFamily="49" charset="0"/>
              </a:rPr>
              <a:t>1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99717D2-BA42-4E32-A5C6-57843E4DC497}" type="slidenum">
              <a:rPr lang="zh-CN" altLang="en-US"/>
              <a:pPr/>
              <a:t>16</a:t>
            </a:fld>
            <a:endParaRPr lang="en-US" altLang="zh-CN"/>
          </a:p>
        </p:txBody>
      </p:sp>
      <p:sp>
        <p:nvSpPr>
          <p:cNvPr id="133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二、奇偶校验码</a:t>
            </a:r>
          </a:p>
        </p:txBody>
      </p:sp>
      <p:sp>
        <p:nvSpPr>
          <p:cNvPr id="133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549275"/>
            <a:ext cx="8712200" cy="3384550"/>
          </a:xfrm>
        </p:spPr>
        <p:txBody>
          <a:bodyPr/>
          <a:lstStyle/>
          <a:p>
            <a:r>
              <a:rPr lang="zh-CN" altLang="en-US" dirty="0"/>
              <a:t>二维奇偶校验：磁带驱动器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垂直</a:t>
            </a:r>
            <a:r>
              <a:rPr lang="zh-CN" altLang="en-US" dirty="0"/>
              <a:t>冗余检查</a:t>
            </a:r>
            <a:r>
              <a:rPr lang="en-US" altLang="zh-CN" dirty="0"/>
              <a:t>VRC</a:t>
            </a:r>
            <a:r>
              <a:rPr lang="zh-CN" altLang="en-US" dirty="0"/>
              <a:t>：</a:t>
            </a:r>
            <a:br>
              <a:rPr lang="zh-CN" altLang="en-US" dirty="0"/>
            </a:br>
            <a:r>
              <a:rPr lang="en-US" altLang="zh-CN" dirty="0"/>
              <a:t>Vertical Redundancy Check</a:t>
            </a:r>
            <a:r>
              <a:rPr lang="zh-CN" altLang="en-US" dirty="0"/>
              <a:t>，</a:t>
            </a:r>
            <a:br>
              <a:rPr lang="zh-CN" altLang="en-US" dirty="0"/>
            </a:br>
            <a:r>
              <a:rPr lang="zh-CN" altLang="en-US" dirty="0"/>
              <a:t>垂直方向</a:t>
            </a:r>
            <a:r>
              <a:rPr lang="en-US" altLang="zh-CN" dirty="0">
                <a:latin typeface="宋体" charset="-122"/>
              </a:rPr>
              <a:t>(</a:t>
            </a:r>
            <a:r>
              <a:rPr lang="zh-CN" altLang="en-US" dirty="0"/>
              <a:t>行</a:t>
            </a:r>
            <a:r>
              <a:rPr lang="en-US" altLang="zh-CN" dirty="0">
                <a:latin typeface="宋体" charset="-122"/>
              </a:rPr>
              <a:t>)</a:t>
            </a:r>
            <a:r>
              <a:rPr lang="zh-CN" altLang="en-US" dirty="0"/>
              <a:t>上的奇偶校验检查。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纵向</a:t>
            </a:r>
            <a:r>
              <a:rPr lang="zh-CN" altLang="en-US" dirty="0"/>
              <a:t>冗余检查</a:t>
            </a:r>
            <a:r>
              <a:rPr lang="en-US" altLang="zh-CN" dirty="0"/>
              <a:t>LRC</a:t>
            </a:r>
            <a:r>
              <a:rPr lang="zh-CN" altLang="en-US" dirty="0"/>
              <a:t>：</a:t>
            </a:r>
            <a:br>
              <a:rPr lang="zh-CN" altLang="en-US" dirty="0"/>
            </a:br>
            <a:r>
              <a:rPr lang="en-US" altLang="zh-CN" dirty="0"/>
              <a:t>Longitudinal Redundancy Check</a:t>
            </a:r>
            <a:r>
              <a:rPr lang="zh-CN" altLang="en-US" dirty="0"/>
              <a:t>，</a:t>
            </a:r>
            <a:br>
              <a:rPr lang="zh-CN" altLang="en-US" dirty="0"/>
            </a:br>
            <a:r>
              <a:rPr lang="zh-CN" altLang="en-US" dirty="0"/>
              <a:t>纵长方向</a:t>
            </a:r>
            <a:r>
              <a:rPr lang="en-US" altLang="zh-CN" dirty="0">
                <a:latin typeface="宋体" charset="-122"/>
              </a:rPr>
              <a:t>(</a:t>
            </a:r>
            <a:r>
              <a:rPr lang="zh-CN" altLang="en-US" dirty="0"/>
              <a:t>列</a:t>
            </a:r>
            <a:r>
              <a:rPr lang="en-US" altLang="zh-CN" dirty="0">
                <a:latin typeface="宋体" charset="-122"/>
              </a:rPr>
              <a:t>)</a:t>
            </a:r>
            <a:r>
              <a:rPr lang="zh-CN" altLang="en-US" dirty="0"/>
              <a:t>上的奇偶检查。</a:t>
            </a:r>
            <a:endParaRPr lang="en-US" altLang="zh-CN" dirty="0"/>
          </a:p>
        </p:txBody>
      </p:sp>
      <p:sp>
        <p:nvSpPr>
          <p:cNvPr id="1331204" name="Rectangle 4"/>
          <p:cNvSpPr>
            <a:spLocks noChangeArrowheads="1"/>
          </p:cNvSpPr>
          <p:nvPr/>
        </p:nvSpPr>
        <p:spPr bwMode="auto">
          <a:xfrm>
            <a:off x="323850" y="3932238"/>
            <a:ext cx="8712200" cy="2376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60363" indent="-360363" algn="l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</a:pPr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】</a:t>
            </a:r>
            <a:r>
              <a:rPr lang="zh-CN" altLang="en-US" dirty="0"/>
              <a:t>给定一个字符串：“</a:t>
            </a:r>
            <a:r>
              <a:rPr lang="en-US" altLang="zh-CN" dirty="0"/>
              <a:t>We are friend</a:t>
            </a:r>
            <a:r>
              <a:rPr lang="zh-CN" altLang="en-US" dirty="0"/>
              <a:t>．”，</a:t>
            </a:r>
            <a:br>
              <a:rPr lang="en-US" altLang="zh-CN" dirty="0"/>
            </a:br>
            <a:r>
              <a:rPr lang="zh-CN" altLang="en-US" dirty="0"/>
              <a:t>采用二维奇偶校验检查（偶校验）。</a:t>
            </a:r>
          </a:p>
          <a:p>
            <a:pPr marL="360363" indent="-360363" algn="l">
              <a:spcBef>
                <a:spcPct val="20000"/>
              </a:spcBef>
              <a:buClr>
                <a:schemeClr val="bg2"/>
              </a:buClr>
              <a:buFont typeface="Wingdings" pitchFamily="2" charset="2"/>
              <a:buAutoNum type="arabicPeriod"/>
            </a:pPr>
            <a:r>
              <a:rPr lang="zh-CN" altLang="en-US" dirty="0"/>
              <a:t>给出发送端的二维数据组织；</a:t>
            </a:r>
          </a:p>
          <a:p>
            <a:pPr marL="360363" indent="-360363" algn="l">
              <a:spcBef>
                <a:spcPct val="20000"/>
              </a:spcBef>
              <a:buClr>
                <a:schemeClr val="bg2"/>
              </a:buClr>
              <a:buFont typeface="Wingdings" pitchFamily="2" charset="2"/>
              <a:buAutoNum type="arabicPeriod"/>
            </a:pPr>
            <a:r>
              <a:rPr lang="zh-CN" altLang="en-US" dirty="0"/>
              <a:t>人为引入错误，演示</a:t>
            </a:r>
            <a:r>
              <a:rPr lang="en-US" altLang="zh-CN" dirty="0"/>
              <a:t>VRC</a:t>
            </a:r>
            <a:r>
              <a:rPr lang="zh-CN" altLang="en-US" dirty="0"/>
              <a:t>和</a:t>
            </a:r>
            <a:r>
              <a:rPr lang="en-US" altLang="zh-CN" dirty="0"/>
              <a:t>LRC</a:t>
            </a:r>
            <a:r>
              <a:rPr lang="zh-CN" altLang="en-US" dirty="0"/>
              <a:t>的检错过程。</a:t>
            </a:r>
            <a:endParaRPr lang="en-US" altLang="zh-CN" dirty="0"/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5C76BC-C4AD-4A4F-8871-95881DE7231C}" type="slidenum">
              <a:rPr lang="zh-CN" altLang="en-US"/>
              <a:pPr/>
              <a:t>17</a:t>
            </a:fld>
            <a:endParaRPr lang="en-US" altLang="zh-CN"/>
          </a:p>
        </p:txBody>
      </p:sp>
      <p:sp>
        <p:nvSpPr>
          <p:cNvPr id="133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二、奇偶校验码</a:t>
            </a:r>
          </a:p>
        </p:txBody>
      </p:sp>
      <p:sp>
        <p:nvSpPr>
          <p:cNvPr id="133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549275"/>
            <a:ext cx="8712200" cy="6119813"/>
          </a:xfrm>
        </p:spPr>
        <p:txBody>
          <a:bodyPr/>
          <a:lstStyle/>
          <a:p>
            <a:pPr marL="533400" indent="-533400">
              <a:buFont typeface="Wingdings" pitchFamily="2" charset="2"/>
              <a:buNone/>
            </a:pPr>
            <a:r>
              <a:rPr lang="en-US" altLang="zh-CN"/>
              <a:t>【</a:t>
            </a:r>
            <a:r>
              <a:rPr lang="zh-CN" altLang="en-US"/>
              <a:t>例</a:t>
            </a:r>
            <a:r>
              <a:rPr lang="en-US" altLang="zh-CN"/>
              <a:t>】</a:t>
            </a:r>
            <a:r>
              <a:rPr lang="zh-CN" altLang="en-US"/>
              <a:t>给定一个字符串：“</a:t>
            </a:r>
            <a:r>
              <a:rPr lang="en-US" altLang="zh-CN"/>
              <a:t>We are friend</a:t>
            </a:r>
            <a:r>
              <a:rPr lang="zh-CN" altLang="en-US"/>
              <a:t>．”，采用二维奇偶校验检查（偶校验）。</a:t>
            </a:r>
          </a:p>
          <a:p>
            <a:pPr marL="533400" indent="-533400">
              <a:buSzTx/>
              <a:buFont typeface="Wingdings" pitchFamily="2" charset="2"/>
              <a:buAutoNum type="arabicPeriod"/>
            </a:pPr>
            <a:r>
              <a:rPr lang="zh-CN" altLang="en-US"/>
              <a:t>给出发送端的二维数据组织；</a:t>
            </a:r>
          </a:p>
          <a:p>
            <a:pPr marL="533400" indent="-533400">
              <a:buSzTx/>
              <a:buFont typeface="Wingdings" pitchFamily="2" charset="2"/>
              <a:buAutoNum type="arabicPeriod"/>
            </a:pPr>
            <a:r>
              <a:rPr lang="zh-CN" altLang="en-US"/>
              <a:t>人为引入错误，演示</a:t>
            </a:r>
            <a:r>
              <a:rPr lang="en-US" altLang="zh-CN"/>
              <a:t>VRC</a:t>
            </a:r>
            <a:r>
              <a:rPr lang="zh-CN" altLang="en-US"/>
              <a:t>和</a:t>
            </a:r>
            <a:r>
              <a:rPr lang="en-US" altLang="zh-CN"/>
              <a:t>LRC</a:t>
            </a:r>
            <a:r>
              <a:rPr lang="zh-CN" altLang="en-US"/>
              <a:t>的检错过程。</a:t>
            </a:r>
          </a:p>
          <a:p>
            <a:pPr marL="533400" indent="-533400">
              <a:buSzTx/>
              <a:buFont typeface="Wingdings" pitchFamily="2" charset="2"/>
              <a:buNone/>
            </a:pPr>
            <a:r>
              <a:rPr lang="en-US" altLang="zh-CN"/>
              <a:t>【</a:t>
            </a:r>
            <a:r>
              <a:rPr lang="zh-CN" altLang="en-US"/>
              <a:t>解</a:t>
            </a:r>
            <a:r>
              <a:rPr lang="en-US" altLang="zh-CN"/>
              <a:t>】</a:t>
            </a:r>
          </a:p>
          <a:p>
            <a:pPr marL="533400" indent="-533400">
              <a:buSzTx/>
              <a:buFont typeface="Wingdings" pitchFamily="2" charset="2"/>
              <a:buNone/>
            </a:pPr>
            <a:r>
              <a:rPr lang="zh-CN" altLang="en-US"/>
              <a:t>发送端：</a:t>
            </a:r>
          </a:p>
          <a:p>
            <a:pPr marL="533400" indent="-533400">
              <a:buSzTx/>
              <a:buFont typeface="Wingdings" pitchFamily="2" charset="2"/>
              <a:buNone/>
            </a:pPr>
            <a:endParaRPr lang="zh-CN" altLang="en-US"/>
          </a:p>
          <a:p>
            <a:pPr marL="533400" indent="-533400">
              <a:buSzTx/>
              <a:buFont typeface="Wingdings" pitchFamily="2" charset="2"/>
              <a:buNone/>
            </a:pPr>
            <a:endParaRPr lang="zh-CN" altLang="en-US"/>
          </a:p>
          <a:p>
            <a:pPr marL="533400" indent="-533400">
              <a:buSzTx/>
              <a:buFont typeface="Wingdings" pitchFamily="2" charset="2"/>
              <a:buNone/>
            </a:pPr>
            <a:endParaRPr lang="zh-CN" altLang="en-US"/>
          </a:p>
          <a:p>
            <a:pPr marL="533400" indent="-533400">
              <a:buSzTx/>
              <a:buFont typeface="Wingdings" pitchFamily="2" charset="2"/>
              <a:buNone/>
            </a:pPr>
            <a:r>
              <a:rPr lang="zh-CN" altLang="en-US"/>
              <a:t>二维数据组织：</a:t>
            </a:r>
          </a:p>
        </p:txBody>
      </p:sp>
      <p:graphicFrame>
        <p:nvGraphicFramePr>
          <p:cNvPr id="1338455" name="Group 87"/>
          <p:cNvGraphicFramePr>
            <a:graphicFrameLocks noGrp="1"/>
          </p:cNvGraphicFramePr>
          <p:nvPr/>
        </p:nvGraphicFramePr>
        <p:xfrm>
          <a:off x="107950" y="3640138"/>
          <a:ext cx="8929688" cy="1158240"/>
        </p:xfrm>
        <a:graphic>
          <a:graphicData uri="http://schemas.openxmlformats.org/drawingml/2006/table">
            <a:tbl>
              <a:tblPr/>
              <a:tblGrid>
                <a:gridCol w="477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8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78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6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78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78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78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778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048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16058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74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W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e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a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r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e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f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r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i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e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n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．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57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65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72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65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66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72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69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65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6E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64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2E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— 7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位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ASCII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D7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CC0099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65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CC0099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A0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CC0099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E1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CC0099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72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CC0099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65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CC0099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A0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CC0099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66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CC0099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72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CC0099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69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CC0099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65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CC0099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EE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CC0099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E4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CC0099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2E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CC0099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— 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偶校验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99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ASCII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CC0099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B2E2995-B3A8-4C96-9233-BBC0776E5A03}" type="slidenum">
              <a:rPr lang="zh-CN" altLang="en-US"/>
              <a:pPr/>
              <a:t>18</a:t>
            </a:fld>
            <a:endParaRPr lang="en-US" altLang="zh-CN"/>
          </a:p>
        </p:txBody>
      </p:sp>
      <p:graphicFrame>
        <p:nvGraphicFramePr>
          <p:cNvPr id="1337558" name="Group 1238"/>
          <p:cNvGraphicFramePr>
            <a:graphicFrameLocks noGrp="1"/>
          </p:cNvGraphicFramePr>
          <p:nvPr/>
        </p:nvGraphicFramePr>
        <p:xfrm>
          <a:off x="574675" y="417513"/>
          <a:ext cx="6391275" cy="6166104"/>
        </p:xfrm>
        <a:graphic>
          <a:graphicData uri="http://schemas.openxmlformats.org/drawingml/2006/table">
            <a:tbl>
              <a:tblPr/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05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05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191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44475">
                <a:tc rowSpan="2"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VRC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列   号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字符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75">
                <a:tc gridSpan="2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8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7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5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4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3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 rowSpan="1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行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号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W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1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e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4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3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4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a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5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r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e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44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7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8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f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9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r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i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e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12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n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13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44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14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   ．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539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15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LRC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337422" name="AutoShape 1102"/>
          <p:cNvSpPr>
            <a:spLocks noChangeArrowheads="1"/>
          </p:cNvSpPr>
          <p:nvPr/>
        </p:nvSpPr>
        <p:spPr bwMode="auto">
          <a:xfrm>
            <a:off x="1727200" y="1157288"/>
            <a:ext cx="387350" cy="5440362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rgbClr val="006600"/>
            </a:solidFill>
            <a:prstDash val="dash"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37423" name="AutoShape 1103"/>
          <p:cNvSpPr>
            <a:spLocks noChangeArrowheads="1"/>
          </p:cNvSpPr>
          <p:nvPr/>
        </p:nvSpPr>
        <p:spPr bwMode="auto">
          <a:xfrm>
            <a:off x="1727200" y="6230938"/>
            <a:ext cx="3816350" cy="333375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rgbClr val="0033CC"/>
            </a:solidFill>
            <a:prstDash val="dash"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37424" name="Line 1104"/>
          <p:cNvSpPr>
            <a:spLocks noChangeShapeType="1"/>
          </p:cNvSpPr>
          <p:nvPr/>
        </p:nvSpPr>
        <p:spPr bwMode="auto">
          <a:xfrm>
            <a:off x="1387475" y="901700"/>
            <a:ext cx="384175" cy="384175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7425" name="Line 1105"/>
          <p:cNvSpPr>
            <a:spLocks noChangeShapeType="1"/>
          </p:cNvSpPr>
          <p:nvPr/>
        </p:nvSpPr>
        <p:spPr bwMode="auto">
          <a:xfrm flipH="1">
            <a:off x="5548313" y="6400800"/>
            <a:ext cx="609600" cy="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1337547" name="Group 1227"/>
          <p:cNvGraphicFramePr>
            <a:graphicFrameLocks noGrp="1"/>
          </p:cNvGraphicFramePr>
          <p:nvPr/>
        </p:nvGraphicFramePr>
        <p:xfrm>
          <a:off x="6356350" y="1163638"/>
          <a:ext cx="1282700" cy="5059365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57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D7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65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65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20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A0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61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E1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72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72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65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65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20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A0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66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66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72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72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69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69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65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65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6E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EE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64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E4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2E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2E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337548" name="Rectangle 1228"/>
          <p:cNvSpPr>
            <a:spLocks noGrp="1" noChangeArrowheads="1"/>
          </p:cNvSpPr>
          <p:nvPr>
            <p:ph type="title"/>
          </p:nvPr>
        </p:nvSpPr>
        <p:spPr>
          <a:xfrm>
            <a:off x="590550" y="44450"/>
            <a:ext cx="8374063" cy="523875"/>
          </a:xfrm>
          <a:noFill/>
          <a:ln/>
        </p:spPr>
        <p:txBody>
          <a:bodyPr/>
          <a:lstStyle/>
          <a:p>
            <a:r>
              <a:rPr lang="zh-CN" altLang="en-US" dirty="0"/>
              <a:t>二、奇偶校验码              </a:t>
            </a:r>
            <a:r>
              <a:rPr lang="zh-CN" altLang="en-US" dirty="0">
                <a:solidFill>
                  <a:srgbClr val="006600"/>
                </a:solidFill>
              </a:rPr>
              <a:t>例：二维奇偶校验</a:t>
            </a:r>
            <a:r>
              <a:rPr lang="en-US" altLang="zh-CN" dirty="0">
                <a:solidFill>
                  <a:srgbClr val="006600"/>
                </a:solidFill>
                <a:latin typeface="宋体" charset="-122"/>
                <a:ea typeface="宋体" charset="-122"/>
              </a:rPr>
              <a:t>(</a:t>
            </a:r>
            <a:r>
              <a:rPr lang="zh-CN" altLang="en-US" dirty="0">
                <a:solidFill>
                  <a:srgbClr val="006600"/>
                </a:solidFill>
              </a:rPr>
              <a:t>发送端</a:t>
            </a:r>
            <a:r>
              <a:rPr lang="en-US" altLang="zh-CN" dirty="0">
                <a:solidFill>
                  <a:srgbClr val="006600"/>
                </a:solidFill>
                <a:latin typeface="宋体" charset="-122"/>
                <a:ea typeface="宋体" charset="-122"/>
              </a:rPr>
              <a:t>)</a:t>
            </a:r>
          </a:p>
        </p:txBody>
      </p:sp>
      <p:sp>
        <p:nvSpPr>
          <p:cNvPr id="1337549" name="Text Box 1229"/>
          <p:cNvSpPr txBox="1">
            <a:spLocks noChangeArrowheads="1"/>
          </p:cNvSpPr>
          <p:nvPr/>
        </p:nvSpPr>
        <p:spPr bwMode="auto">
          <a:xfrm>
            <a:off x="6553200" y="476250"/>
            <a:ext cx="1511300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>
                <a:solidFill>
                  <a:srgbClr val="0000FF"/>
                </a:solidFill>
              </a:rPr>
              <a:t>7</a:t>
            </a:r>
            <a:r>
              <a:rPr lang="zh-CN" altLang="en-US" sz="2400">
                <a:solidFill>
                  <a:srgbClr val="0000FF"/>
                </a:solidFill>
              </a:rPr>
              <a:t>位</a:t>
            </a:r>
            <a:r>
              <a:rPr lang="en-US" altLang="zh-CN" sz="2400">
                <a:solidFill>
                  <a:srgbClr val="0000FF"/>
                </a:solidFill>
              </a:rPr>
              <a:t>ASCII</a:t>
            </a:r>
          </a:p>
        </p:txBody>
      </p:sp>
      <p:sp>
        <p:nvSpPr>
          <p:cNvPr id="1337550" name="Text Box 1230"/>
          <p:cNvSpPr txBox="1">
            <a:spLocks noChangeArrowheads="1"/>
          </p:cNvSpPr>
          <p:nvPr/>
        </p:nvSpPr>
        <p:spPr bwMode="auto">
          <a:xfrm>
            <a:off x="7920038" y="908050"/>
            <a:ext cx="1116012" cy="8223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</a:rPr>
              <a:t>偶校验</a:t>
            </a:r>
            <a:r>
              <a:rPr lang="en-US" altLang="zh-CN" sz="2400">
                <a:solidFill>
                  <a:srgbClr val="0000FF"/>
                </a:solidFill>
              </a:rPr>
              <a:t>ASCII</a:t>
            </a:r>
          </a:p>
        </p:txBody>
      </p:sp>
      <p:sp>
        <p:nvSpPr>
          <p:cNvPr id="1337551" name="Line 1231"/>
          <p:cNvSpPr>
            <a:spLocks noChangeShapeType="1"/>
          </p:cNvSpPr>
          <p:nvPr/>
        </p:nvSpPr>
        <p:spPr bwMode="auto">
          <a:xfrm flipH="1">
            <a:off x="6696075" y="908050"/>
            <a:ext cx="142875" cy="288925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7552" name="Line 1232"/>
          <p:cNvSpPr>
            <a:spLocks noChangeShapeType="1"/>
          </p:cNvSpPr>
          <p:nvPr/>
        </p:nvSpPr>
        <p:spPr bwMode="auto">
          <a:xfrm flipH="1">
            <a:off x="7559675" y="1196975"/>
            <a:ext cx="360363" cy="73025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7554" name="Rectangle 1234"/>
          <p:cNvSpPr>
            <a:spLocks noChangeArrowheads="1"/>
          </p:cNvSpPr>
          <p:nvPr/>
        </p:nvSpPr>
        <p:spPr bwMode="auto">
          <a:xfrm>
            <a:off x="2755253" y="2211741"/>
            <a:ext cx="288925" cy="358775"/>
          </a:xfrm>
          <a:prstGeom prst="rect">
            <a:avLst/>
          </a:prstGeom>
          <a:noFill/>
          <a:ln w="28575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C392E62-1BD2-4AAB-ABD5-3AAE6A393641}"/>
              </a:ext>
            </a:extLst>
          </p:cNvPr>
          <p:cNvSpPr/>
          <p:nvPr/>
        </p:nvSpPr>
        <p:spPr>
          <a:xfrm>
            <a:off x="7632129" y="1844824"/>
            <a:ext cx="1476375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spcBef>
                <a:spcPts val="1200"/>
              </a:spcBef>
            </a:pPr>
            <a:r>
              <a:rPr lang="zh-CN" altLang="en-US" sz="2400" dirty="0"/>
              <a:t>数据位：</a:t>
            </a:r>
            <a:br>
              <a:rPr lang="en-US" altLang="zh-CN" sz="2400" dirty="0"/>
            </a:br>
            <a:r>
              <a:rPr lang="zh-CN" altLang="en-US" sz="2400" dirty="0"/>
              <a:t>14×7＝</a:t>
            </a:r>
            <a:br>
              <a:rPr lang="en-US" altLang="zh-CN" sz="2400" dirty="0"/>
            </a:br>
            <a:r>
              <a:rPr lang="zh-CN" altLang="en-US" sz="2400" dirty="0"/>
              <a:t>98个</a:t>
            </a:r>
          </a:p>
          <a:p>
            <a:pPr algn="r">
              <a:spcBef>
                <a:spcPts val="1200"/>
              </a:spcBef>
            </a:pPr>
            <a:r>
              <a:rPr lang="zh-CN" altLang="en-US" sz="2400" dirty="0"/>
              <a:t>校验位：</a:t>
            </a:r>
            <a:br>
              <a:rPr lang="en-US" altLang="zh-CN" sz="2400" dirty="0"/>
            </a:br>
            <a:r>
              <a:rPr lang="zh-CN" altLang="en-US" sz="2400" dirty="0"/>
              <a:t>15＋7＝</a:t>
            </a:r>
            <a:br>
              <a:rPr lang="en-US" altLang="zh-CN" sz="2400" dirty="0"/>
            </a:br>
            <a:r>
              <a:rPr lang="zh-CN" altLang="en-US" sz="2400" dirty="0"/>
              <a:t>22个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375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375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755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841920B-8B2A-4465-941A-27A228FB99DC}" type="slidenum">
              <a:rPr lang="zh-CN" altLang="en-US"/>
              <a:pPr/>
              <a:t>19</a:t>
            </a:fld>
            <a:endParaRPr lang="en-US" altLang="zh-CN"/>
          </a:p>
        </p:txBody>
      </p:sp>
      <p:graphicFrame>
        <p:nvGraphicFramePr>
          <p:cNvPr id="1340706" name="Group 290"/>
          <p:cNvGraphicFramePr>
            <a:graphicFrameLocks noGrp="1"/>
          </p:cNvGraphicFramePr>
          <p:nvPr/>
        </p:nvGraphicFramePr>
        <p:xfrm>
          <a:off x="574675" y="417513"/>
          <a:ext cx="6391275" cy="6166104"/>
        </p:xfrm>
        <a:graphic>
          <a:graphicData uri="http://schemas.openxmlformats.org/drawingml/2006/table">
            <a:tbl>
              <a:tblPr/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05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05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191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44475">
                <a:tc rowSpan="2"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VRC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列   号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字符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75">
                <a:tc gridSpan="2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8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7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5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4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3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 rowSpan="1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行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号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W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1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e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4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3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4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a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5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r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e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44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7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8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f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9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r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i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e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12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n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13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44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14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   ．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539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15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LRC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340627" name="AutoShape 211"/>
          <p:cNvSpPr>
            <a:spLocks noChangeArrowheads="1"/>
          </p:cNvSpPr>
          <p:nvPr/>
        </p:nvSpPr>
        <p:spPr bwMode="auto">
          <a:xfrm>
            <a:off x="1727200" y="1157288"/>
            <a:ext cx="387350" cy="5440362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rgbClr val="006600"/>
            </a:solidFill>
            <a:prstDash val="dash"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40628" name="AutoShape 212"/>
          <p:cNvSpPr>
            <a:spLocks noChangeArrowheads="1"/>
          </p:cNvSpPr>
          <p:nvPr/>
        </p:nvSpPr>
        <p:spPr bwMode="auto">
          <a:xfrm>
            <a:off x="1727200" y="6230938"/>
            <a:ext cx="3816350" cy="333375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rgbClr val="0033CC"/>
            </a:solidFill>
            <a:prstDash val="dash"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40629" name="Line 213"/>
          <p:cNvSpPr>
            <a:spLocks noChangeShapeType="1"/>
          </p:cNvSpPr>
          <p:nvPr/>
        </p:nvSpPr>
        <p:spPr bwMode="auto">
          <a:xfrm>
            <a:off x="1387475" y="901700"/>
            <a:ext cx="384175" cy="384175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40630" name="Line 214"/>
          <p:cNvSpPr>
            <a:spLocks noChangeShapeType="1"/>
          </p:cNvSpPr>
          <p:nvPr/>
        </p:nvSpPr>
        <p:spPr bwMode="auto">
          <a:xfrm flipH="1">
            <a:off x="5548313" y="6400800"/>
            <a:ext cx="609600" cy="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1340631" name="Group 215"/>
          <p:cNvGraphicFramePr>
            <a:graphicFrameLocks noGrp="1"/>
          </p:cNvGraphicFramePr>
          <p:nvPr/>
        </p:nvGraphicFramePr>
        <p:xfrm>
          <a:off x="6356350" y="1163638"/>
          <a:ext cx="1282700" cy="5059365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57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D7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65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65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20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A0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61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E1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72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72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65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65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20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A0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66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66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72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72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69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69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65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65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6E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EE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64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E4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2E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2E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340692" name="Rectangle 276"/>
          <p:cNvSpPr>
            <a:spLocks noGrp="1" noChangeArrowheads="1"/>
          </p:cNvSpPr>
          <p:nvPr>
            <p:ph type="title"/>
          </p:nvPr>
        </p:nvSpPr>
        <p:spPr>
          <a:xfrm>
            <a:off x="590550" y="44450"/>
            <a:ext cx="8374063" cy="523875"/>
          </a:xfrm>
          <a:noFill/>
          <a:ln/>
        </p:spPr>
        <p:txBody>
          <a:bodyPr/>
          <a:lstStyle/>
          <a:p>
            <a:r>
              <a:rPr lang="zh-CN" altLang="en-US" dirty="0"/>
              <a:t>二、奇偶校验码              </a:t>
            </a:r>
            <a:r>
              <a:rPr lang="zh-CN" altLang="en-US" dirty="0">
                <a:solidFill>
                  <a:srgbClr val="006600"/>
                </a:solidFill>
              </a:rPr>
              <a:t>例：二维奇偶校验</a:t>
            </a:r>
            <a:r>
              <a:rPr lang="en-US" altLang="zh-CN" dirty="0">
                <a:solidFill>
                  <a:srgbClr val="006600"/>
                </a:solidFill>
                <a:latin typeface="宋体" charset="-122"/>
                <a:ea typeface="宋体" charset="-122"/>
              </a:rPr>
              <a:t>(</a:t>
            </a:r>
            <a:r>
              <a:rPr lang="zh-CN" altLang="en-US" dirty="0">
                <a:solidFill>
                  <a:srgbClr val="FF0066"/>
                </a:solidFill>
              </a:rPr>
              <a:t>接收</a:t>
            </a:r>
            <a:r>
              <a:rPr lang="zh-CN" altLang="en-US" dirty="0">
                <a:solidFill>
                  <a:srgbClr val="006600"/>
                </a:solidFill>
              </a:rPr>
              <a:t>端</a:t>
            </a:r>
            <a:r>
              <a:rPr lang="en-US" altLang="zh-CN" dirty="0">
                <a:solidFill>
                  <a:srgbClr val="006600"/>
                </a:solidFill>
                <a:latin typeface="宋体" charset="-122"/>
                <a:ea typeface="宋体" charset="-122"/>
              </a:rPr>
              <a:t>)</a:t>
            </a:r>
          </a:p>
        </p:txBody>
      </p:sp>
      <p:sp>
        <p:nvSpPr>
          <p:cNvPr id="1340693" name="Text Box 277"/>
          <p:cNvSpPr txBox="1">
            <a:spLocks noChangeArrowheads="1"/>
          </p:cNvSpPr>
          <p:nvPr/>
        </p:nvSpPr>
        <p:spPr bwMode="auto">
          <a:xfrm>
            <a:off x="6553200" y="476250"/>
            <a:ext cx="1511300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>
                <a:solidFill>
                  <a:srgbClr val="0000FF"/>
                </a:solidFill>
              </a:rPr>
              <a:t>7</a:t>
            </a:r>
            <a:r>
              <a:rPr lang="zh-CN" altLang="en-US" sz="2400">
                <a:solidFill>
                  <a:srgbClr val="0000FF"/>
                </a:solidFill>
              </a:rPr>
              <a:t>位</a:t>
            </a:r>
            <a:r>
              <a:rPr lang="en-US" altLang="zh-CN" sz="2400">
                <a:solidFill>
                  <a:srgbClr val="0000FF"/>
                </a:solidFill>
              </a:rPr>
              <a:t>ASCII</a:t>
            </a:r>
          </a:p>
        </p:txBody>
      </p:sp>
      <p:sp>
        <p:nvSpPr>
          <p:cNvPr id="1340694" name="Text Box 278"/>
          <p:cNvSpPr txBox="1">
            <a:spLocks noChangeArrowheads="1"/>
          </p:cNvSpPr>
          <p:nvPr/>
        </p:nvSpPr>
        <p:spPr bwMode="auto">
          <a:xfrm>
            <a:off x="7920038" y="908050"/>
            <a:ext cx="1116012" cy="8223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</a:rPr>
              <a:t>偶校验</a:t>
            </a:r>
            <a:r>
              <a:rPr lang="en-US" altLang="zh-CN" sz="2400">
                <a:solidFill>
                  <a:srgbClr val="0000FF"/>
                </a:solidFill>
              </a:rPr>
              <a:t>ASCII</a:t>
            </a:r>
          </a:p>
        </p:txBody>
      </p:sp>
      <p:sp>
        <p:nvSpPr>
          <p:cNvPr id="1340695" name="Line 279"/>
          <p:cNvSpPr>
            <a:spLocks noChangeShapeType="1"/>
          </p:cNvSpPr>
          <p:nvPr/>
        </p:nvSpPr>
        <p:spPr bwMode="auto">
          <a:xfrm flipH="1">
            <a:off x="6696075" y="908050"/>
            <a:ext cx="142875" cy="288925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40696" name="Line 280"/>
          <p:cNvSpPr>
            <a:spLocks noChangeShapeType="1"/>
          </p:cNvSpPr>
          <p:nvPr/>
        </p:nvSpPr>
        <p:spPr bwMode="auto">
          <a:xfrm flipH="1">
            <a:off x="7559675" y="1196975"/>
            <a:ext cx="360363" cy="73025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40698" name="Rectangle 282"/>
          <p:cNvSpPr>
            <a:spLocks noChangeArrowheads="1"/>
          </p:cNvSpPr>
          <p:nvPr/>
        </p:nvSpPr>
        <p:spPr bwMode="auto">
          <a:xfrm>
            <a:off x="2755253" y="2202863"/>
            <a:ext cx="288925" cy="358775"/>
          </a:xfrm>
          <a:prstGeom prst="rect">
            <a:avLst/>
          </a:prstGeom>
          <a:noFill/>
          <a:ln w="28575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40701" name="AutoShape 285"/>
          <p:cNvSpPr>
            <a:spLocks noChangeArrowheads="1"/>
          </p:cNvSpPr>
          <p:nvPr/>
        </p:nvSpPr>
        <p:spPr bwMode="auto">
          <a:xfrm>
            <a:off x="1701153" y="2178404"/>
            <a:ext cx="433388" cy="431800"/>
          </a:xfrm>
          <a:prstGeom prst="star16">
            <a:avLst>
              <a:gd name="adj" fmla="val 37500"/>
            </a:avLst>
          </a:prstGeom>
          <a:noFill/>
          <a:ln w="28575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40702" name="AutoShape 286"/>
          <p:cNvSpPr>
            <a:spLocks noChangeArrowheads="1"/>
          </p:cNvSpPr>
          <p:nvPr/>
        </p:nvSpPr>
        <p:spPr bwMode="auto">
          <a:xfrm>
            <a:off x="2682036" y="6165304"/>
            <a:ext cx="433388" cy="431800"/>
          </a:xfrm>
          <a:prstGeom prst="star16">
            <a:avLst>
              <a:gd name="adj" fmla="val 37500"/>
            </a:avLst>
          </a:prstGeom>
          <a:noFill/>
          <a:ln w="28575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40705" name="AutoShape 289"/>
          <p:cNvSpPr>
            <a:spLocks noChangeArrowheads="1"/>
          </p:cNvSpPr>
          <p:nvPr/>
        </p:nvSpPr>
        <p:spPr bwMode="auto">
          <a:xfrm>
            <a:off x="5730582" y="2190825"/>
            <a:ext cx="473075" cy="446087"/>
          </a:xfrm>
          <a:prstGeom prst="star16">
            <a:avLst>
              <a:gd name="adj" fmla="val 37500"/>
            </a:avLst>
          </a:prstGeom>
          <a:noFill/>
          <a:ln w="28575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EB5420E-6319-4861-98D7-4BEEC65FEE66}"/>
              </a:ext>
            </a:extLst>
          </p:cNvPr>
          <p:cNvSpPr/>
          <p:nvPr/>
        </p:nvSpPr>
        <p:spPr>
          <a:xfrm>
            <a:off x="7632129" y="1844824"/>
            <a:ext cx="1476375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spcBef>
                <a:spcPts val="1200"/>
              </a:spcBef>
            </a:pPr>
            <a:r>
              <a:rPr lang="zh-CN" altLang="en-US" sz="2400" dirty="0"/>
              <a:t>数据位：</a:t>
            </a:r>
            <a:br>
              <a:rPr lang="en-US" altLang="zh-CN" sz="2400" dirty="0"/>
            </a:br>
            <a:r>
              <a:rPr lang="zh-CN" altLang="en-US" sz="2400" dirty="0"/>
              <a:t>14×7＝</a:t>
            </a:r>
            <a:br>
              <a:rPr lang="en-US" altLang="zh-CN" sz="2400" dirty="0"/>
            </a:br>
            <a:r>
              <a:rPr lang="zh-CN" altLang="en-US" sz="2400" dirty="0"/>
              <a:t>98个</a:t>
            </a:r>
          </a:p>
          <a:p>
            <a:pPr algn="r">
              <a:spcBef>
                <a:spcPts val="1200"/>
              </a:spcBef>
            </a:pPr>
            <a:r>
              <a:rPr lang="zh-CN" altLang="en-US" sz="2400" dirty="0"/>
              <a:t>校验位：</a:t>
            </a:r>
            <a:br>
              <a:rPr lang="en-US" altLang="zh-CN" sz="2400" dirty="0"/>
            </a:br>
            <a:r>
              <a:rPr lang="zh-CN" altLang="en-US" sz="2400" dirty="0"/>
              <a:t>15＋7＝</a:t>
            </a:r>
            <a:br>
              <a:rPr lang="en-US" altLang="zh-CN" sz="2400" dirty="0"/>
            </a:br>
            <a:r>
              <a:rPr lang="zh-CN" altLang="en-US" sz="2400" dirty="0"/>
              <a:t>22个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407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407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407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407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407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407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0701" grpId="0" animBg="1"/>
      <p:bldP spid="1340702" grpId="0" animBg="1"/>
      <p:bldP spid="134070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B2E2995-B3A8-4C96-9233-BBC0776E5A03}" type="slidenum">
              <a:rPr lang="zh-CN" altLang="en-US"/>
              <a:pPr/>
              <a:t>20</a:t>
            </a:fld>
            <a:endParaRPr lang="en-US" altLang="zh-CN"/>
          </a:p>
        </p:txBody>
      </p:sp>
      <p:graphicFrame>
        <p:nvGraphicFramePr>
          <p:cNvPr id="1337558" name="Group 1238"/>
          <p:cNvGraphicFramePr>
            <a:graphicFrameLocks noGrp="1"/>
          </p:cNvGraphicFramePr>
          <p:nvPr/>
        </p:nvGraphicFramePr>
        <p:xfrm>
          <a:off x="574675" y="417513"/>
          <a:ext cx="6391275" cy="6166104"/>
        </p:xfrm>
        <a:graphic>
          <a:graphicData uri="http://schemas.openxmlformats.org/drawingml/2006/table">
            <a:tbl>
              <a:tblPr/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05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05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191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44475">
                <a:tc rowSpan="2"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VRC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列   号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字符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75">
                <a:tc gridSpan="2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8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7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5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4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3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 rowSpan="1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行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号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W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1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e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4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3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4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a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5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r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e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44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7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8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f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9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r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i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e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12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n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13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44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14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   ．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539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15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LRC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337422" name="AutoShape 1102"/>
          <p:cNvSpPr>
            <a:spLocks noChangeArrowheads="1"/>
          </p:cNvSpPr>
          <p:nvPr/>
        </p:nvSpPr>
        <p:spPr bwMode="auto">
          <a:xfrm>
            <a:off x="1727200" y="1157288"/>
            <a:ext cx="387350" cy="5440362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rgbClr val="006600"/>
            </a:solidFill>
            <a:prstDash val="dash"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37423" name="AutoShape 1103"/>
          <p:cNvSpPr>
            <a:spLocks noChangeArrowheads="1"/>
          </p:cNvSpPr>
          <p:nvPr/>
        </p:nvSpPr>
        <p:spPr bwMode="auto">
          <a:xfrm>
            <a:off x="1727200" y="6230938"/>
            <a:ext cx="3816350" cy="333375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rgbClr val="0033CC"/>
            </a:solidFill>
            <a:prstDash val="dash"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37424" name="Line 1104"/>
          <p:cNvSpPr>
            <a:spLocks noChangeShapeType="1"/>
          </p:cNvSpPr>
          <p:nvPr/>
        </p:nvSpPr>
        <p:spPr bwMode="auto">
          <a:xfrm>
            <a:off x="1387475" y="901700"/>
            <a:ext cx="384175" cy="384175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7425" name="Line 1105"/>
          <p:cNvSpPr>
            <a:spLocks noChangeShapeType="1"/>
          </p:cNvSpPr>
          <p:nvPr/>
        </p:nvSpPr>
        <p:spPr bwMode="auto">
          <a:xfrm flipH="1">
            <a:off x="5548313" y="6400800"/>
            <a:ext cx="609600" cy="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1337547" name="Group 1227"/>
          <p:cNvGraphicFramePr>
            <a:graphicFrameLocks noGrp="1"/>
          </p:cNvGraphicFramePr>
          <p:nvPr/>
        </p:nvGraphicFramePr>
        <p:xfrm>
          <a:off x="6356350" y="1163638"/>
          <a:ext cx="1282700" cy="5059365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57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D7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65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65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20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A0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61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E1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72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72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65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65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20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A0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66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66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72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72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69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69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65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65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6E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EE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64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E4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2E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2E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337548" name="Rectangle 1228"/>
          <p:cNvSpPr>
            <a:spLocks noGrp="1" noChangeArrowheads="1"/>
          </p:cNvSpPr>
          <p:nvPr>
            <p:ph type="title"/>
          </p:nvPr>
        </p:nvSpPr>
        <p:spPr>
          <a:xfrm>
            <a:off x="590550" y="44450"/>
            <a:ext cx="8374063" cy="523875"/>
          </a:xfrm>
          <a:noFill/>
          <a:ln/>
        </p:spPr>
        <p:txBody>
          <a:bodyPr/>
          <a:lstStyle/>
          <a:p>
            <a:r>
              <a:rPr lang="zh-CN" altLang="en-US" dirty="0"/>
              <a:t>二、奇偶校验码              </a:t>
            </a:r>
            <a:r>
              <a:rPr lang="zh-CN" altLang="en-US" dirty="0">
                <a:solidFill>
                  <a:srgbClr val="006600"/>
                </a:solidFill>
              </a:rPr>
              <a:t>例：二维奇偶校验</a:t>
            </a:r>
            <a:r>
              <a:rPr lang="en-US" altLang="zh-CN" dirty="0">
                <a:solidFill>
                  <a:srgbClr val="006600"/>
                </a:solidFill>
                <a:latin typeface="宋体" charset="-122"/>
                <a:ea typeface="宋体" charset="-122"/>
              </a:rPr>
              <a:t>(</a:t>
            </a:r>
            <a:r>
              <a:rPr lang="zh-CN" altLang="en-US" dirty="0">
                <a:solidFill>
                  <a:srgbClr val="006600"/>
                </a:solidFill>
              </a:rPr>
              <a:t>发送端</a:t>
            </a:r>
            <a:r>
              <a:rPr lang="en-US" altLang="zh-CN" dirty="0">
                <a:solidFill>
                  <a:srgbClr val="006600"/>
                </a:solidFill>
                <a:latin typeface="宋体" charset="-122"/>
                <a:ea typeface="宋体" charset="-122"/>
              </a:rPr>
              <a:t>)</a:t>
            </a:r>
          </a:p>
        </p:txBody>
      </p:sp>
      <p:sp>
        <p:nvSpPr>
          <p:cNvPr id="1337549" name="Text Box 1229"/>
          <p:cNvSpPr txBox="1">
            <a:spLocks noChangeArrowheads="1"/>
          </p:cNvSpPr>
          <p:nvPr/>
        </p:nvSpPr>
        <p:spPr bwMode="auto">
          <a:xfrm>
            <a:off x="6553200" y="476250"/>
            <a:ext cx="1511300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>
                <a:solidFill>
                  <a:srgbClr val="0000FF"/>
                </a:solidFill>
              </a:rPr>
              <a:t>7</a:t>
            </a:r>
            <a:r>
              <a:rPr lang="zh-CN" altLang="en-US" sz="2400">
                <a:solidFill>
                  <a:srgbClr val="0000FF"/>
                </a:solidFill>
              </a:rPr>
              <a:t>位</a:t>
            </a:r>
            <a:r>
              <a:rPr lang="en-US" altLang="zh-CN" sz="2400">
                <a:solidFill>
                  <a:srgbClr val="0000FF"/>
                </a:solidFill>
              </a:rPr>
              <a:t>ASCII</a:t>
            </a:r>
          </a:p>
        </p:txBody>
      </p:sp>
      <p:sp>
        <p:nvSpPr>
          <p:cNvPr id="1337550" name="Text Box 1230"/>
          <p:cNvSpPr txBox="1">
            <a:spLocks noChangeArrowheads="1"/>
          </p:cNvSpPr>
          <p:nvPr/>
        </p:nvSpPr>
        <p:spPr bwMode="auto">
          <a:xfrm>
            <a:off x="7920038" y="908050"/>
            <a:ext cx="1116012" cy="8223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</a:rPr>
              <a:t>偶校验</a:t>
            </a:r>
            <a:r>
              <a:rPr lang="en-US" altLang="zh-CN" sz="2400">
                <a:solidFill>
                  <a:srgbClr val="0000FF"/>
                </a:solidFill>
              </a:rPr>
              <a:t>ASCII</a:t>
            </a:r>
          </a:p>
        </p:txBody>
      </p:sp>
      <p:sp>
        <p:nvSpPr>
          <p:cNvPr id="1337551" name="Line 1231"/>
          <p:cNvSpPr>
            <a:spLocks noChangeShapeType="1"/>
          </p:cNvSpPr>
          <p:nvPr/>
        </p:nvSpPr>
        <p:spPr bwMode="auto">
          <a:xfrm flipH="1">
            <a:off x="6696075" y="908050"/>
            <a:ext cx="142875" cy="288925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7552" name="Line 1232"/>
          <p:cNvSpPr>
            <a:spLocks noChangeShapeType="1"/>
          </p:cNvSpPr>
          <p:nvPr/>
        </p:nvSpPr>
        <p:spPr bwMode="auto">
          <a:xfrm flipH="1">
            <a:off x="7559675" y="1196975"/>
            <a:ext cx="360363" cy="73025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7553" name="Rectangle 1233"/>
          <p:cNvSpPr>
            <a:spLocks noChangeArrowheads="1"/>
          </p:cNvSpPr>
          <p:nvPr/>
        </p:nvSpPr>
        <p:spPr bwMode="auto">
          <a:xfrm>
            <a:off x="2759075" y="1138238"/>
            <a:ext cx="288925" cy="358775"/>
          </a:xfrm>
          <a:prstGeom prst="rect">
            <a:avLst/>
          </a:prstGeom>
          <a:noFill/>
          <a:ln w="28575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37555" name="Rectangle 1235"/>
          <p:cNvSpPr>
            <a:spLocks noChangeArrowheads="1"/>
          </p:cNvSpPr>
          <p:nvPr/>
        </p:nvSpPr>
        <p:spPr bwMode="auto">
          <a:xfrm>
            <a:off x="4721225" y="1138238"/>
            <a:ext cx="288925" cy="358775"/>
          </a:xfrm>
          <a:prstGeom prst="rect">
            <a:avLst/>
          </a:prstGeom>
          <a:noFill/>
          <a:ln w="28575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5A7FE61-37D0-4ED8-B3D0-FBDF1B639151}"/>
              </a:ext>
            </a:extLst>
          </p:cNvPr>
          <p:cNvSpPr/>
          <p:nvPr/>
        </p:nvSpPr>
        <p:spPr>
          <a:xfrm>
            <a:off x="7632129" y="1844824"/>
            <a:ext cx="1476375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spcBef>
                <a:spcPts val="1200"/>
              </a:spcBef>
            </a:pPr>
            <a:r>
              <a:rPr lang="zh-CN" altLang="en-US" sz="2400" dirty="0"/>
              <a:t>数据位：</a:t>
            </a:r>
            <a:br>
              <a:rPr lang="en-US" altLang="zh-CN" sz="2400" dirty="0"/>
            </a:br>
            <a:r>
              <a:rPr lang="zh-CN" altLang="en-US" sz="2400" dirty="0"/>
              <a:t>14×7＝</a:t>
            </a:r>
            <a:br>
              <a:rPr lang="en-US" altLang="zh-CN" sz="2400" dirty="0"/>
            </a:br>
            <a:r>
              <a:rPr lang="zh-CN" altLang="en-US" sz="2400" dirty="0"/>
              <a:t>98个</a:t>
            </a:r>
          </a:p>
          <a:p>
            <a:pPr algn="r">
              <a:spcBef>
                <a:spcPts val="1200"/>
              </a:spcBef>
            </a:pPr>
            <a:r>
              <a:rPr lang="zh-CN" altLang="en-US" sz="2400" dirty="0"/>
              <a:t>校验位：</a:t>
            </a:r>
            <a:br>
              <a:rPr lang="en-US" altLang="zh-CN" sz="2400" dirty="0"/>
            </a:br>
            <a:r>
              <a:rPr lang="zh-CN" altLang="en-US" sz="2400" dirty="0"/>
              <a:t>15＋7＝</a:t>
            </a:r>
            <a:br>
              <a:rPr lang="en-US" altLang="zh-CN" sz="2400" dirty="0"/>
            </a:br>
            <a:r>
              <a:rPr lang="zh-CN" altLang="en-US" sz="2400" dirty="0"/>
              <a:t>22个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375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375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375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375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7553" grpId="0" animBg="1"/>
      <p:bldP spid="133755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841920B-8B2A-4465-941A-27A228FB99DC}" type="slidenum">
              <a:rPr lang="zh-CN" altLang="en-US"/>
              <a:pPr/>
              <a:t>21</a:t>
            </a:fld>
            <a:endParaRPr lang="en-US" altLang="zh-CN"/>
          </a:p>
        </p:txBody>
      </p:sp>
      <p:graphicFrame>
        <p:nvGraphicFramePr>
          <p:cNvPr id="1340706" name="Group 290"/>
          <p:cNvGraphicFramePr>
            <a:graphicFrameLocks noGrp="1"/>
          </p:cNvGraphicFramePr>
          <p:nvPr/>
        </p:nvGraphicFramePr>
        <p:xfrm>
          <a:off x="574675" y="417513"/>
          <a:ext cx="6391275" cy="6166104"/>
        </p:xfrm>
        <a:graphic>
          <a:graphicData uri="http://schemas.openxmlformats.org/drawingml/2006/table">
            <a:tbl>
              <a:tblPr/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05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05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191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44475">
                <a:tc rowSpan="2"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VRC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列   号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字符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75">
                <a:tc gridSpan="2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8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7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5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4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3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 rowSpan="1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行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号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W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1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e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4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3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4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a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5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r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e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44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7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8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f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9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r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i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e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12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n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13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44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14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   ．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539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15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LRC</a:t>
                      </a: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340627" name="AutoShape 211"/>
          <p:cNvSpPr>
            <a:spLocks noChangeArrowheads="1"/>
          </p:cNvSpPr>
          <p:nvPr/>
        </p:nvSpPr>
        <p:spPr bwMode="auto">
          <a:xfrm>
            <a:off x="1727200" y="1157288"/>
            <a:ext cx="387350" cy="5440362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rgbClr val="006600"/>
            </a:solidFill>
            <a:prstDash val="dash"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40628" name="AutoShape 212"/>
          <p:cNvSpPr>
            <a:spLocks noChangeArrowheads="1"/>
          </p:cNvSpPr>
          <p:nvPr/>
        </p:nvSpPr>
        <p:spPr bwMode="auto">
          <a:xfrm>
            <a:off x="1727200" y="6230938"/>
            <a:ext cx="3816350" cy="333375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rgbClr val="0033CC"/>
            </a:solidFill>
            <a:prstDash val="dash"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40629" name="Line 213"/>
          <p:cNvSpPr>
            <a:spLocks noChangeShapeType="1"/>
          </p:cNvSpPr>
          <p:nvPr/>
        </p:nvSpPr>
        <p:spPr bwMode="auto">
          <a:xfrm>
            <a:off x="1387475" y="901700"/>
            <a:ext cx="384175" cy="384175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40630" name="Line 214"/>
          <p:cNvSpPr>
            <a:spLocks noChangeShapeType="1"/>
          </p:cNvSpPr>
          <p:nvPr/>
        </p:nvSpPr>
        <p:spPr bwMode="auto">
          <a:xfrm flipH="1">
            <a:off x="5548313" y="6400800"/>
            <a:ext cx="609600" cy="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1340631" name="Group 215"/>
          <p:cNvGraphicFramePr>
            <a:graphicFrameLocks noGrp="1"/>
          </p:cNvGraphicFramePr>
          <p:nvPr/>
        </p:nvGraphicFramePr>
        <p:xfrm>
          <a:off x="6356350" y="1163638"/>
          <a:ext cx="1282700" cy="5059365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57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D7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65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65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20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A0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61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E1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72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72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65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65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20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A0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66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66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72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72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69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69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65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65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6E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EE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64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E4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2E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2E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340692" name="Rectangle 276"/>
          <p:cNvSpPr>
            <a:spLocks noGrp="1" noChangeArrowheads="1"/>
          </p:cNvSpPr>
          <p:nvPr>
            <p:ph type="title"/>
          </p:nvPr>
        </p:nvSpPr>
        <p:spPr>
          <a:xfrm>
            <a:off x="590550" y="44450"/>
            <a:ext cx="8374063" cy="523875"/>
          </a:xfrm>
          <a:noFill/>
          <a:ln/>
        </p:spPr>
        <p:txBody>
          <a:bodyPr/>
          <a:lstStyle/>
          <a:p>
            <a:r>
              <a:rPr lang="zh-CN" altLang="en-US" dirty="0"/>
              <a:t>二、奇偶校验码              </a:t>
            </a:r>
            <a:r>
              <a:rPr lang="zh-CN" altLang="en-US" dirty="0">
                <a:solidFill>
                  <a:srgbClr val="006600"/>
                </a:solidFill>
              </a:rPr>
              <a:t>例：二维奇偶校验</a:t>
            </a:r>
            <a:r>
              <a:rPr lang="en-US" altLang="zh-CN" dirty="0">
                <a:solidFill>
                  <a:srgbClr val="006600"/>
                </a:solidFill>
                <a:latin typeface="宋体" charset="-122"/>
                <a:ea typeface="宋体" charset="-122"/>
              </a:rPr>
              <a:t>(</a:t>
            </a:r>
            <a:r>
              <a:rPr lang="zh-CN" altLang="en-US" dirty="0">
                <a:solidFill>
                  <a:srgbClr val="FF0066"/>
                </a:solidFill>
              </a:rPr>
              <a:t>接收</a:t>
            </a:r>
            <a:r>
              <a:rPr lang="zh-CN" altLang="en-US" dirty="0">
                <a:solidFill>
                  <a:srgbClr val="006600"/>
                </a:solidFill>
              </a:rPr>
              <a:t>端</a:t>
            </a:r>
            <a:r>
              <a:rPr lang="en-US" altLang="zh-CN" dirty="0">
                <a:solidFill>
                  <a:srgbClr val="006600"/>
                </a:solidFill>
                <a:latin typeface="宋体" charset="-122"/>
                <a:ea typeface="宋体" charset="-122"/>
              </a:rPr>
              <a:t>)</a:t>
            </a:r>
          </a:p>
        </p:txBody>
      </p:sp>
      <p:sp>
        <p:nvSpPr>
          <p:cNvPr id="1340693" name="Text Box 277"/>
          <p:cNvSpPr txBox="1">
            <a:spLocks noChangeArrowheads="1"/>
          </p:cNvSpPr>
          <p:nvPr/>
        </p:nvSpPr>
        <p:spPr bwMode="auto">
          <a:xfrm>
            <a:off x="6553200" y="476250"/>
            <a:ext cx="1511300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>
                <a:solidFill>
                  <a:srgbClr val="0000FF"/>
                </a:solidFill>
              </a:rPr>
              <a:t>7</a:t>
            </a:r>
            <a:r>
              <a:rPr lang="zh-CN" altLang="en-US" sz="2400">
                <a:solidFill>
                  <a:srgbClr val="0000FF"/>
                </a:solidFill>
              </a:rPr>
              <a:t>位</a:t>
            </a:r>
            <a:r>
              <a:rPr lang="en-US" altLang="zh-CN" sz="2400">
                <a:solidFill>
                  <a:srgbClr val="0000FF"/>
                </a:solidFill>
              </a:rPr>
              <a:t>ASCII</a:t>
            </a:r>
          </a:p>
        </p:txBody>
      </p:sp>
      <p:sp>
        <p:nvSpPr>
          <p:cNvPr id="1340694" name="Text Box 278"/>
          <p:cNvSpPr txBox="1">
            <a:spLocks noChangeArrowheads="1"/>
          </p:cNvSpPr>
          <p:nvPr/>
        </p:nvSpPr>
        <p:spPr bwMode="auto">
          <a:xfrm>
            <a:off x="7920038" y="908050"/>
            <a:ext cx="1116012" cy="8223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</a:rPr>
              <a:t>偶校验</a:t>
            </a:r>
            <a:r>
              <a:rPr lang="en-US" altLang="zh-CN" sz="2400">
                <a:solidFill>
                  <a:srgbClr val="0000FF"/>
                </a:solidFill>
              </a:rPr>
              <a:t>ASCII</a:t>
            </a:r>
          </a:p>
        </p:txBody>
      </p:sp>
      <p:sp>
        <p:nvSpPr>
          <p:cNvPr id="1340695" name="Line 279"/>
          <p:cNvSpPr>
            <a:spLocks noChangeShapeType="1"/>
          </p:cNvSpPr>
          <p:nvPr/>
        </p:nvSpPr>
        <p:spPr bwMode="auto">
          <a:xfrm flipH="1">
            <a:off x="6696075" y="908050"/>
            <a:ext cx="142875" cy="288925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40696" name="Line 280"/>
          <p:cNvSpPr>
            <a:spLocks noChangeShapeType="1"/>
          </p:cNvSpPr>
          <p:nvPr/>
        </p:nvSpPr>
        <p:spPr bwMode="auto">
          <a:xfrm flipH="1">
            <a:off x="7559675" y="1196975"/>
            <a:ext cx="360363" cy="73025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40697" name="Rectangle 281"/>
          <p:cNvSpPr>
            <a:spLocks noChangeArrowheads="1"/>
          </p:cNvSpPr>
          <p:nvPr/>
        </p:nvSpPr>
        <p:spPr bwMode="auto">
          <a:xfrm>
            <a:off x="2759075" y="1138238"/>
            <a:ext cx="288925" cy="358775"/>
          </a:xfrm>
          <a:prstGeom prst="rect">
            <a:avLst/>
          </a:prstGeom>
          <a:noFill/>
          <a:ln w="28575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40699" name="Rectangle 283"/>
          <p:cNvSpPr>
            <a:spLocks noChangeArrowheads="1"/>
          </p:cNvSpPr>
          <p:nvPr/>
        </p:nvSpPr>
        <p:spPr bwMode="auto">
          <a:xfrm>
            <a:off x="4721225" y="1138238"/>
            <a:ext cx="288925" cy="358775"/>
          </a:xfrm>
          <a:prstGeom prst="rect">
            <a:avLst/>
          </a:prstGeom>
          <a:noFill/>
          <a:ln w="28575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40703" name="AutoShape 287"/>
          <p:cNvSpPr>
            <a:spLocks noChangeArrowheads="1"/>
          </p:cNvSpPr>
          <p:nvPr/>
        </p:nvSpPr>
        <p:spPr bwMode="auto">
          <a:xfrm>
            <a:off x="2689034" y="6169734"/>
            <a:ext cx="433388" cy="431800"/>
          </a:xfrm>
          <a:prstGeom prst="star16">
            <a:avLst>
              <a:gd name="adj" fmla="val 37500"/>
            </a:avLst>
          </a:prstGeom>
          <a:noFill/>
          <a:ln w="28575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40704" name="AutoShape 288"/>
          <p:cNvSpPr>
            <a:spLocks noChangeArrowheads="1"/>
          </p:cNvSpPr>
          <p:nvPr/>
        </p:nvSpPr>
        <p:spPr bwMode="auto">
          <a:xfrm>
            <a:off x="4649788" y="6158976"/>
            <a:ext cx="433387" cy="431800"/>
          </a:xfrm>
          <a:prstGeom prst="star16">
            <a:avLst>
              <a:gd name="adj" fmla="val 37500"/>
            </a:avLst>
          </a:prstGeom>
          <a:noFill/>
          <a:ln w="28575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A7F2220-2EB7-46B9-885C-872BD5B14233}"/>
              </a:ext>
            </a:extLst>
          </p:cNvPr>
          <p:cNvSpPr/>
          <p:nvPr/>
        </p:nvSpPr>
        <p:spPr>
          <a:xfrm>
            <a:off x="7632129" y="1844824"/>
            <a:ext cx="1476375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spcBef>
                <a:spcPts val="1200"/>
              </a:spcBef>
            </a:pPr>
            <a:r>
              <a:rPr lang="zh-CN" altLang="en-US" sz="2400" dirty="0"/>
              <a:t>数据位：</a:t>
            </a:r>
            <a:br>
              <a:rPr lang="en-US" altLang="zh-CN" sz="2400" dirty="0"/>
            </a:br>
            <a:r>
              <a:rPr lang="zh-CN" altLang="en-US" sz="2400" dirty="0"/>
              <a:t>14×7＝</a:t>
            </a:r>
            <a:br>
              <a:rPr lang="en-US" altLang="zh-CN" sz="2400" dirty="0"/>
            </a:br>
            <a:r>
              <a:rPr lang="zh-CN" altLang="en-US" sz="2400" dirty="0"/>
              <a:t>98个</a:t>
            </a:r>
          </a:p>
          <a:p>
            <a:pPr algn="r">
              <a:spcBef>
                <a:spcPts val="1200"/>
              </a:spcBef>
            </a:pPr>
            <a:r>
              <a:rPr lang="zh-CN" altLang="en-US" sz="2400" dirty="0"/>
              <a:t>校验位：</a:t>
            </a:r>
            <a:br>
              <a:rPr lang="en-US" altLang="zh-CN" sz="2400" dirty="0"/>
            </a:br>
            <a:r>
              <a:rPr lang="zh-CN" altLang="en-US" sz="2400" dirty="0"/>
              <a:t>15＋7＝</a:t>
            </a:r>
            <a:br>
              <a:rPr lang="en-US" altLang="zh-CN" sz="2400" dirty="0"/>
            </a:br>
            <a:r>
              <a:rPr lang="zh-CN" altLang="en-US" sz="2400" dirty="0"/>
              <a:t>22个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407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407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407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407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0703" grpId="0" animBg="1"/>
      <p:bldP spid="134070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B2E2995-B3A8-4C96-9233-BBC0776E5A03}" type="slidenum">
              <a:rPr lang="zh-CN" altLang="en-US"/>
              <a:pPr/>
              <a:t>22</a:t>
            </a:fld>
            <a:endParaRPr lang="en-US" altLang="zh-CN"/>
          </a:p>
        </p:txBody>
      </p:sp>
      <p:graphicFrame>
        <p:nvGraphicFramePr>
          <p:cNvPr id="1337558" name="Group 1238"/>
          <p:cNvGraphicFramePr>
            <a:graphicFrameLocks noGrp="1"/>
          </p:cNvGraphicFramePr>
          <p:nvPr/>
        </p:nvGraphicFramePr>
        <p:xfrm>
          <a:off x="574675" y="417513"/>
          <a:ext cx="6391275" cy="6166104"/>
        </p:xfrm>
        <a:graphic>
          <a:graphicData uri="http://schemas.openxmlformats.org/drawingml/2006/table">
            <a:tbl>
              <a:tblPr/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05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05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191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44475">
                <a:tc rowSpan="2"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VRC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列   号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字符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75">
                <a:tc gridSpan="2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8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7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5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4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3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 rowSpan="1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行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号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W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1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e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4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3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4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a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5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r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e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44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7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8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f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9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r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i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e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12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n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13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44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14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   ．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539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15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LRC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337422" name="AutoShape 1102"/>
          <p:cNvSpPr>
            <a:spLocks noChangeArrowheads="1"/>
          </p:cNvSpPr>
          <p:nvPr/>
        </p:nvSpPr>
        <p:spPr bwMode="auto">
          <a:xfrm>
            <a:off x="1727200" y="1157288"/>
            <a:ext cx="387350" cy="5440362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rgbClr val="006600"/>
            </a:solidFill>
            <a:prstDash val="dash"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37423" name="AutoShape 1103"/>
          <p:cNvSpPr>
            <a:spLocks noChangeArrowheads="1"/>
          </p:cNvSpPr>
          <p:nvPr/>
        </p:nvSpPr>
        <p:spPr bwMode="auto">
          <a:xfrm>
            <a:off x="1727200" y="6230938"/>
            <a:ext cx="3816350" cy="333375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rgbClr val="0033CC"/>
            </a:solidFill>
            <a:prstDash val="dash"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37424" name="Line 1104"/>
          <p:cNvSpPr>
            <a:spLocks noChangeShapeType="1"/>
          </p:cNvSpPr>
          <p:nvPr/>
        </p:nvSpPr>
        <p:spPr bwMode="auto">
          <a:xfrm>
            <a:off x="1387475" y="901700"/>
            <a:ext cx="384175" cy="384175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7425" name="Line 1105"/>
          <p:cNvSpPr>
            <a:spLocks noChangeShapeType="1"/>
          </p:cNvSpPr>
          <p:nvPr/>
        </p:nvSpPr>
        <p:spPr bwMode="auto">
          <a:xfrm flipH="1">
            <a:off x="5548313" y="6400800"/>
            <a:ext cx="609600" cy="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1337547" name="Group 1227"/>
          <p:cNvGraphicFramePr>
            <a:graphicFrameLocks noGrp="1"/>
          </p:cNvGraphicFramePr>
          <p:nvPr/>
        </p:nvGraphicFramePr>
        <p:xfrm>
          <a:off x="6356350" y="1163638"/>
          <a:ext cx="1282700" cy="5059365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57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D7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65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65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20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A0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61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E1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72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72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65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65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20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A0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66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66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72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72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69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69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65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65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6E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EE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64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E4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2E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2E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337548" name="Rectangle 1228"/>
          <p:cNvSpPr>
            <a:spLocks noGrp="1" noChangeArrowheads="1"/>
          </p:cNvSpPr>
          <p:nvPr>
            <p:ph type="title"/>
          </p:nvPr>
        </p:nvSpPr>
        <p:spPr>
          <a:xfrm>
            <a:off x="590550" y="44450"/>
            <a:ext cx="8374063" cy="523875"/>
          </a:xfrm>
          <a:noFill/>
          <a:ln/>
        </p:spPr>
        <p:txBody>
          <a:bodyPr/>
          <a:lstStyle/>
          <a:p>
            <a:r>
              <a:rPr lang="zh-CN" altLang="en-US" dirty="0"/>
              <a:t>二、奇偶校验码              </a:t>
            </a:r>
            <a:r>
              <a:rPr lang="zh-CN" altLang="en-US" dirty="0">
                <a:solidFill>
                  <a:srgbClr val="006600"/>
                </a:solidFill>
              </a:rPr>
              <a:t>例：二维奇偶校验</a:t>
            </a:r>
            <a:r>
              <a:rPr lang="en-US" altLang="zh-CN" dirty="0">
                <a:solidFill>
                  <a:srgbClr val="006600"/>
                </a:solidFill>
                <a:latin typeface="宋体" charset="-122"/>
                <a:ea typeface="宋体" charset="-122"/>
              </a:rPr>
              <a:t>(</a:t>
            </a:r>
            <a:r>
              <a:rPr lang="zh-CN" altLang="en-US" dirty="0">
                <a:solidFill>
                  <a:srgbClr val="006600"/>
                </a:solidFill>
              </a:rPr>
              <a:t>发送端</a:t>
            </a:r>
            <a:r>
              <a:rPr lang="en-US" altLang="zh-CN" dirty="0">
                <a:solidFill>
                  <a:srgbClr val="006600"/>
                </a:solidFill>
                <a:latin typeface="宋体" charset="-122"/>
                <a:ea typeface="宋体" charset="-122"/>
              </a:rPr>
              <a:t>)</a:t>
            </a:r>
          </a:p>
        </p:txBody>
      </p:sp>
      <p:sp>
        <p:nvSpPr>
          <p:cNvPr id="1337549" name="Text Box 1229"/>
          <p:cNvSpPr txBox="1">
            <a:spLocks noChangeArrowheads="1"/>
          </p:cNvSpPr>
          <p:nvPr/>
        </p:nvSpPr>
        <p:spPr bwMode="auto">
          <a:xfrm>
            <a:off x="6553200" y="476250"/>
            <a:ext cx="1511300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>
                <a:solidFill>
                  <a:srgbClr val="0000FF"/>
                </a:solidFill>
              </a:rPr>
              <a:t>7</a:t>
            </a:r>
            <a:r>
              <a:rPr lang="zh-CN" altLang="en-US" sz="2400">
                <a:solidFill>
                  <a:srgbClr val="0000FF"/>
                </a:solidFill>
              </a:rPr>
              <a:t>位</a:t>
            </a:r>
            <a:r>
              <a:rPr lang="en-US" altLang="zh-CN" sz="2400">
                <a:solidFill>
                  <a:srgbClr val="0000FF"/>
                </a:solidFill>
              </a:rPr>
              <a:t>ASCII</a:t>
            </a:r>
          </a:p>
        </p:txBody>
      </p:sp>
      <p:sp>
        <p:nvSpPr>
          <p:cNvPr id="1337550" name="Text Box 1230"/>
          <p:cNvSpPr txBox="1">
            <a:spLocks noChangeArrowheads="1"/>
          </p:cNvSpPr>
          <p:nvPr/>
        </p:nvSpPr>
        <p:spPr bwMode="auto">
          <a:xfrm>
            <a:off x="7920038" y="908050"/>
            <a:ext cx="1116012" cy="8223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</a:rPr>
              <a:t>偶校验</a:t>
            </a:r>
            <a:r>
              <a:rPr lang="en-US" altLang="zh-CN" sz="2400">
                <a:solidFill>
                  <a:srgbClr val="0000FF"/>
                </a:solidFill>
              </a:rPr>
              <a:t>ASCII</a:t>
            </a:r>
          </a:p>
        </p:txBody>
      </p:sp>
      <p:sp>
        <p:nvSpPr>
          <p:cNvPr id="1337551" name="Line 1231"/>
          <p:cNvSpPr>
            <a:spLocks noChangeShapeType="1"/>
          </p:cNvSpPr>
          <p:nvPr/>
        </p:nvSpPr>
        <p:spPr bwMode="auto">
          <a:xfrm flipH="1">
            <a:off x="6696075" y="908050"/>
            <a:ext cx="142875" cy="288925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7552" name="Line 1232"/>
          <p:cNvSpPr>
            <a:spLocks noChangeShapeType="1"/>
          </p:cNvSpPr>
          <p:nvPr/>
        </p:nvSpPr>
        <p:spPr bwMode="auto">
          <a:xfrm flipH="1">
            <a:off x="7559675" y="1196975"/>
            <a:ext cx="360363" cy="73025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7554" name="Rectangle 1234"/>
          <p:cNvSpPr>
            <a:spLocks noChangeArrowheads="1"/>
          </p:cNvSpPr>
          <p:nvPr/>
        </p:nvSpPr>
        <p:spPr bwMode="auto">
          <a:xfrm>
            <a:off x="2755253" y="2211741"/>
            <a:ext cx="288925" cy="358775"/>
          </a:xfrm>
          <a:prstGeom prst="rect">
            <a:avLst/>
          </a:prstGeom>
          <a:noFill/>
          <a:ln w="28575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37556" name="Rectangle 1236"/>
          <p:cNvSpPr>
            <a:spLocks noChangeArrowheads="1"/>
          </p:cNvSpPr>
          <p:nvPr/>
        </p:nvSpPr>
        <p:spPr bwMode="auto">
          <a:xfrm>
            <a:off x="4239566" y="3667479"/>
            <a:ext cx="288925" cy="358775"/>
          </a:xfrm>
          <a:prstGeom prst="rect">
            <a:avLst/>
          </a:prstGeom>
          <a:noFill/>
          <a:ln w="28575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CCC3E53-D109-4A0D-83D0-9EF8668F9A1B}"/>
              </a:ext>
            </a:extLst>
          </p:cNvPr>
          <p:cNvSpPr/>
          <p:nvPr/>
        </p:nvSpPr>
        <p:spPr>
          <a:xfrm>
            <a:off x="7632129" y="1844824"/>
            <a:ext cx="1476375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spcBef>
                <a:spcPts val="1200"/>
              </a:spcBef>
            </a:pPr>
            <a:r>
              <a:rPr lang="zh-CN" altLang="en-US" sz="2400" dirty="0"/>
              <a:t>数据位：</a:t>
            </a:r>
            <a:br>
              <a:rPr lang="en-US" altLang="zh-CN" sz="2400" dirty="0"/>
            </a:br>
            <a:r>
              <a:rPr lang="zh-CN" altLang="en-US" sz="2400" dirty="0"/>
              <a:t>14×7＝</a:t>
            </a:r>
            <a:br>
              <a:rPr lang="en-US" altLang="zh-CN" sz="2400" dirty="0"/>
            </a:br>
            <a:r>
              <a:rPr lang="zh-CN" altLang="en-US" sz="2400" dirty="0"/>
              <a:t>98个</a:t>
            </a:r>
          </a:p>
          <a:p>
            <a:pPr algn="r">
              <a:spcBef>
                <a:spcPts val="1200"/>
              </a:spcBef>
            </a:pPr>
            <a:r>
              <a:rPr lang="zh-CN" altLang="en-US" sz="2400" dirty="0"/>
              <a:t>校验位：</a:t>
            </a:r>
            <a:br>
              <a:rPr lang="en-US" altLang="zh-CN" sz="2400" dirty="0"/>
            </a:br>
            <a:r>
              <a:rPr lang="zh-CN" altLang="en-US" sz="2400" dirty="0"/>
              <a:t>15＋7＝</a:t>
            </a:r>
            <a:br>
              <a:rPr lang="en-US" altLang="zh-CN" sz="2400" dirty="0"/>
            </a:br>
            <a:r>
              <a:rPr lang="zh-CN" altLang="en-US" sz="2400" dirty="0"/>
              <a:t>22个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375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375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375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375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7554" grpId="0" animBg="1"/>
      <p:bldP spid="133755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841920B-8B2A-4465-941A-27A228FB99DC}" type="slidenum">
              <a:rPr lang="zh-CN" altLang="en-US"/>
              <a:pPr/>
              <a:t>23</a:t>
            </a:fld>
            <a:endParaRPr lang="en-US" altLang="zh-CN"/>
          </a:p>
        </p:txBody>
      </p:sp>
      <p:graphicFrame>
        <p:nvGraphicFramePr>
          <p:cNvPr id="1340706" name="Group 290"/>
          <p:cNvGraphicFramePr>
            <a:graphicFrameLocks noGrp="1"/>
          </p:cNvGraphicFramePr>
          <p:nvPr/>
        </p:nvGraphicFramePr>
        <p:xfrm>
          <a:off x="574675" y="417513"/>
          <a:ext cx="6391275" cy="6166104"/>
        </p:xfrm>
        <a:graphic>
          <a:graphicData uri="http://schemas.openxmlformats.org/drawingml/2006/table">
            <a:tbl>
              <a:tblPr/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05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05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191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44475">
                <a:tc rowSpan="2"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VRC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列   号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字符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75">
                <a:tc gridSpan="2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8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7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5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4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3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 rowSpan="1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行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号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W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1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e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4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3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4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a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5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r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e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44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7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8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f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9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r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i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e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12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n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13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44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14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   ．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539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15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LRC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340627" name="AutoShape 211"/>
          <p:cNvSpPr>
            <a:spLocks noChangeArrowheads="1"/>
          </p:cNvSpPr>
          <p:nvPr/>
        </p:nvSpPr>
        <p:spPr bwMode="auto">
          <a:xfrm>
            <a:off x="1727200" y="1157288"/>
            <a:ext cx="387350" cy="5440362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rgbClr val="006600"/>
            </a:solidFill>
            <a:prstDash val="dash"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40628" name="AutoShape 212"/>
          <p:cNvSpPr>
            <a:spLocks noChangeArrowheads="1"/>
          </p:cNvSpPr>
          <p:nvPr/>
        </p:nvSpPr>
        <p:spPr bwMode="auto">
          <a:xfrm>
            <a:off x="1727200" y="6230938"/>
            <a:ext cx="3816350" cy="333375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rgbClr val="0033CC"/>
            </a:solidFill>
            <a:prstDash val="dash"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40629" name="Line 213"/>
          <p:cNvSpPr>
            <a:spLocks noChangeShapeType="1"/>
          </p:cNvSpPr>
          <p:nvPr/>
        </p:nvSpPr>
        <p:spPr bwMode="auto">
          <a:xfrm>
            <a:off x="1387475" y="901700"/>
            <a:ext cx="384175" cy="384175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40630" name="Line 214"/>
          <p:cNvSpPr>
            <a:spLocks noChangeShapeType="1"/>
          </p:cNvSpPr>
          <p:nvPr/>
        </p:nvSpPr>
        <p:spPr bwMode="auto">
          <a:xfrm flipH="1">
            <a:off x="5548313" y="6400800"/>
            <a:ext cx="609600" cy="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1340631" name="Group 215"/>
          <p:cNvGraphicFramePr>
            <a:graphicFrameLocks noGrp="1"/>
          </p:cNvGraphicFramePr>
          <p:nvPr/>
        </p:nvGraphicFramePr>
        <p:xfrm>
          <a:off x="6356350" y="1163638"/>
          <a:ext cx="1282700" cy="5059365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57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D7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65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65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20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A0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61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E1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72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72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65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65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20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A0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66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66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72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72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69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69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65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65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6E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EE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64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E4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2E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2E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340692" name="Rectangle 276"/>
          <p:cNvSpPr>
            <a:spLocks noGrp="1" noChangeArrowheads="1"/>
          </p:cNvSpPr>
          <p:nvPr>
            <p:ph type="title"/>
          </p:nvPr>
        </p:nvSpPr>
        <p:spPr>
          <a:xfrm>
            <a:off x="590550" y="44450"/>
            <a:ext cx="8374063" cy="523875"/>
          </a:xfrm>
          <a:noFill/>
          <a:ln/>
        </p:spPr>
        <p:txBody>
          <a:bodyPr/>
          <a:lstStyle/>
          <a:p>
            <a:r>
              <a:rPr lang="zh-CN" altLang="en-US" dirty="0"/>
              <a:t>二、奇偶校验码              </a:t>
            </a:r>
            <a:r>
              <a:rPr lang="zh-CN" altLang="en-US" dirty="0">
                <a:solidFill>
                  <a:srgbClr val="006600"/>
                </a:solidFill>
              </a:rPr>
              <a:t>例：二维奇偶校验</a:t>
            </a:r>
            <a:r>
              <a:rPr lang="en-US" altLang="zh-CN" dirty="0">
                <a:solidFill>
                  <a:srgbClr val="006600"/>
                </a:solidFill>
                <a:latin typeface="宋体" charset="-122"/>
                <a:ea typeface="宋体" charset="-122"/>
              </a:rPr>
              <a:t>(</a:t>
            </a:r>
            <a:r>
              <a:rPr lang="zh-CN" altLang="en-US" dirty="0">
                <a:solidFill>
                  <a:srgbClr val="FF0066"/>
                </a:solidFill>
              </a:rPr>
              <a:t>接收</a:t>
            </a:r>
            <a:r>
              <a:rPr lang="zh-CN" altLang="en-US" dirty="0">
                <a:solidFill>
                  <a:srgbClr val="006600"/>
                </a:solidFill>
              </a:rPr>
              <a:t>端</a:t>
            </a:r>
            <a:r>
              <a:rPr lang="en-US" altLang="zh-CN" dirty="0">
                <a:solidFill>
                  <a:srgbClr val="006600"/>
                </a:solidFill>
                <a:latin typeface="宋体" charset="-122"/>
                <a:ea typeface="宋体" charset="-122"/>
              </a:rPr>
              <a:t>)</a:t>
            </a:r>
          </a:p>
        </p:txBody>
      </p:sp>
      <p:sp>
        <p:nvSpPr>
          <p:cNvPr id="1340693" name="Text Box 277"/>
          <p:cNvSpPr txBox="1">
            <a:spLocks noChangeArrowheads="1"/>
          </p:cNvSpPr>
          <p:nvPr/>
        </p:nvSpPr>
        <p:spPr bwMode="auto">
          <a:xfrm>
            <a:off x="6553200" y="476250"/>
            <a:ext cx="1511300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>
                <a:solidFill>
                  <a:srgbClr val="0000FF"/>
                </a:solidFill>
              </a:rPr>
              <a:t>7</a:t>
            </a:r>
            <a:r>
              <a:rPr lang="zh-CN" altLang="en-US" sz="2400">
                <a:solidFill>
                  <a:srgbClr val="0000FF"/>
                </a:solidFill>
              </a:rPr>
              <a:t>位</a:t>
            </a:r>
            <a:r>
              <a:rPr lang="en-US" altLang="zh-CN" sz="2400">
                <a:solidFill>
                  <a:srgbClr val="0000FF"/>
                </a:solidFill>
              </a:rPr>
              <a:t>ASCII</a:t>
            </a:r>
          </a:p>
        </p:txBody>
      </p:sp>
      <p:sp>
        <p:nvSpPr>
          <p:cNvPr id="1340694" name="Text Box 278"/>
          <p:cNvSpPr txBox="1">
            <a:spLocks noChangeArrowheads="1"/>
          </p:cNvSpPr>
          <p:nvPr/>
        </p:nvSpPr>
        <p:spPr bwMode="auto">
          <a:xfrm>
            <a:off x="7920038" y="908050"/>
            <a:ext cx="1116012" cy="8223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</a:rPr>
              <a:t>偶校验</a:t>
            </a:r>
            <a:r>
              <a:rPr lang="en-US" altLang="zh-CN" sz="2400">
                <a:solidFill>
                  <a:srgbClr val="0000FF"/>
                </a:solidFill>
              </a:rPr>
              <a:t>ASCII</a:t>
            </a:r>
          </a:p>
        </p:txBody>
      </p:sp>
      <p:sp>
        <p:nvSpPr>
          <p:cNvPr id="1340695" name="Line 279"/>
          <p:cNvSpPr>
            <a:spLocks noChangeShapeType="1"/>
          </p:cNvSpPr>
          <p:nvPr/>
        </p:nvSpPr>
        <p:spPr bwMode="auto">
          <a:xfrm flipH="1">
            <a:off x="6696075" y="908050"/>
            <a:ext cx="142875" cy="288925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40696" name="Line 280"/>
          <p:cNvSpPr>
            <a:spLocks noChangeShapeType="1"/>
          </p:cNvSpPr>
          <p:nvPr/>
        </p:nvSpPr>
        <p:spPr bwMode="auto">
          <a:xfrm flipH="1">
            <a:off x="7559675" y="1196975"/>
            <a:ext cx="360363" cy="73025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40698" name="Rectangle 282"/>
          <p:cNvSpPr>
            <a:spLocks noChangeArrowheads="1"/>
          </p:cNvSpPr>
          <p:nvPr/>
        </p:nvSpPr>
        <p:spPr bwMode="auto">
          <a:xfrm>
            <a:off x="2757133" y="2216859"/>
            <a:ext cx="288925" cy="358775"/>
          </a:xfrm>
          <a:prstGeom prst="rect">
            <a:avLst/>
          </a:prstGeom>
          <a:noFill/>
          <a:ln w="28575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40700" name="Rectangle 284"/>
          <p:cNvSpPr>
            <a:spLocks noChangeArrowheads="1"/>
          </p:cNvSpPr>
          <p:nvPr/>
        </p:nvSpPr>
        <p:spPr bwMode="auto">
          <a:xfrm>
            <a:off x="4230688" y="3672597"/>
            <a:ext cx="288925" cy="358775"/>
          </a:xfrm>
          <a:prstGeom prst="rect">
            <a:avLst/>
          </a:prstGeom>
          <a:noFill/>
          <a:ln w="28575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40701" name="AutoShape 285"/>
          <p:cNvSpPr>
            <a:spLocks noChangeArrowheads="1"/>
          </p:cNvSpPr>
          <p:nvPr/>
        </p:nvSpPr>
        <p:spPr bwMode="auto">
          <a:xfrm>
            <a:off x="1692275" y="2172764"/>
            <a:ext cx="433388" cy="431800"/>
          </a:xfrm>
          <a:prstGeom prst="star16">
            <a:avLst>
              <a:gd name="adj" fmla="val 37500"/>
            </a:avLst>
          </a:prstGeom>
          <a:noFill/>
          <a:ln w="28575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40702" name="AutoShape 286"/>
          <p:cNvSpPr>
            <a:spLocks noChangeArrowheads="1"/>
          </p:cNvSpPr>
          <p:nvPr/>
        </p:nvSpPr>
        <p:spPr bwMode="auto">
          <a:xfrm>
            <a:off x="1692275" y="3623384"/>
            <a:ext cx="433388" cy="431800"/>
          </a:xfrm>
          <a:prstGeom prst="star16">
            <a:avLst>
              <a:gd name="adj" fmla="val 37500"/>
            </a:avLst>
          </a:prstGeom>
          <a:noFill/>
          <a:ln w="28575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40703" name="AutoShape 287"/>
          <p:cNvSpPr>
            <a:spLocks noChangeArrowheads="1"/>
          </p:cNvSpPr>
          <p:nvPr/>
        </p:nvSpPr>
        <p:spPr bwMode="auto">
          <a:xfrm>
            <a:off x="4159250" y="6158976"/>
            <a:ext cx="433388" cy="431800"/>
          </a:xfrm>
          <a:prstGeom prst="star16">
            <a:avLst>
              <a:gd name="adj" fmla="val 37500"/>
            </a:avLst>
          </a:prstGeom>
          <a:noFill/>
          <a:ln w="28575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40704" name="AutoShape 288"/>
          <p:cNvSpPr>
            <a:spLocks noChangeArrowheads="1"/>
          </p:cNvSpPr>
          <p:nvPr/>
        </p:nvSpPr>
        <p:spPr bwMode="auto">
          <a:xfrm>
            <a:off x="2681124" y="6158977"/>
            <a:ext cx="433387" cy="431800"/>
          </a:xfrm>
          <a:prstGeom prst="star16">
            <a:avLst>
              <a:gd name="adj" fmla="val 37500"/>
            </a:avLst>
          </a:prstGeom>
          <a:noFill/>
          <a:ln w="28575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1619672" y="4581128"/>
            <a:ext cx="7128792" cy="992579"/>
          </a:xfrm>
          <a:prstGeom prst="rect">
            <a:avLst/>
          </a:prstGeom>
          <a:solidFill>
            <a:srgbClr val="CCFFFF"/>
          </a:solidFill>
          <a:ln w="28575">
            <a:solidFill>
              <a:srgbClr val="0000FF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marL="355600" indent="-355600" algn="l">
              <a:spcBef>
                <a:spcPts val="300"/>
              </a:spcBef>
              <a:buClr>
                <a:srgbClr val="00CC00"/>
              </a:buClr>
              <a:buSzPct val="75000"/>
              <a:buFont typeface="Wingdings" pitchFamily="2" charset="2"/>
              <a:buChar char="u"/>
            </a:pPr>
            <a:r>
              <a:rPr lang="zh-CN" altLang="en-US"/>
              <a:t>可发现并纠正数据块中的</a:t>
            </a:r>
            <a:r>
              <a:rPr lang="en-US" altLang="zh-CN"/>
              <a:t>1</a:t>
            </a:r>
            <a:r>
              <a:rPr lang="zh-CN" altLang="en-US"/>
              <a:t>位错误。</a:t>
            </a:r>
          </a:p>
          <a:p>
            <a:pPr marL="355600" indent="-355600" algn="l">
              <a:spcBef>
                <a:spcPts val="300"/>
              </a:spcBef>
              <a:buClr>
                <a:srgbClr val="00CC00"/>
              </a:buClr>
              <a:buSzPct val="75000"/>
              <a:buFont typeface="Wingdings" pitchFamily="2" charset="2"/>
              <a:buChar char="u"/>
            </a:pPr>
            <a:r>
              <a:rPr lang="zh-CN" altLang="en-US"/>
              <a:t>可发现两位同时出错，但无法纠正错误。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E58D1D5-F10E-4235-9C2C-BDB97F09F30F}"/>
              </a:ext>
            </a:extLst>
          </p:cNvPr>
          <p:cNvSpPr/>
          <p:nvPr/>
        </p:nvSpPr>
        <p:spPr>
          <a:xfrm>
            <a:off x="7632129" y="1844824"/>
            <a:ext cx="1476375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spcBef>
                <a:spcPts val="1200"/>
              </a:spcBef>
            </a:pPr>
            <a:r>
              <a:rPr lang="zh-CN" altLang="en-US" sz="2400" dirty="0"/>
              <a:t>数据位：</a:t>
            </a:r>
            <a:br>
              <a:rPr lang="en-US" altLang="zh-CN" sz="2400" dirty="0"/>
            </a:br>
            <a:r>
              <a:rPr lang="zh-CN" altLang="en-US" sz="2400" dirty="0"/>
              <a:t>14×7＝</a:t>
            </a:r>
            <a:br>
              <a:rPr lang="en-US" altLang="zh-CN" sz="2400" dirty="0"/>
            </a:br>
            <a:r>
              <a:rPr lang="zh-CN" altLang="en-US" sz="2400" dirty="0"/>
              <a:t>98个</a:t>
            </a:r>
          </a:p>
          <a:p>
            <a:pPr algn="r">
              <a:spcBef>
                <a:spcPts val="1200"/>
              </a:spcBef>
            </a:pPr>
            <a:r>
              <a:rPr lang="zh-CN" altLang="en-US" sz="2400" dirty="0"/>
              <a:t>校验位：</a:t>
            </a:r>
            <a:br>
              <a:rPr lang="en-US" altLang="zh-CN" sz="2400" dirty="0"/>
            </a:br>
            <a:r>
              <a:rPr lang="zh-CN" altLang="en-US" sz="2400" dirty="0"/>
              <a:t>15＋7＝</a:t>
            </a:r>
            <a:br>
              <a:rPr lang="en-US" altLang="zh-CN" sz="2400" dirty="0"/>
            </a:br>
            <a:r>
              <a:rPr lang="zh-CN" altLang="en-US" sz="2400" dirty="0"/>
              <a:t>22个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2C55FFA-7265-4336-9140-9C45397F3D48}"/>
              </a:ext>
            </a:extLst>
          </p:cNvPr>
          <p:cNvSpPr/>
          <p:nvPr/>
        </p:nvSpPr>
        <p:spPr>
          <a:xfrm>
            <a:off x="7693104" y="5789311"/>
            <a:ext cx="1289135" cy="523220"/>
          </a:xfrm>
          <a:prstGeom prst="rect">
            <a:avLst/>
          </a:prstGeom>
          <a:solidFill>
            <a:srgbClr val="FFFFCC"/>
          </a:solidFill>
          <a:ln w="19050">
            <a:solidFill>
              <a:srgbClr val="FF66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zh-CN" altLang="en-US" i="1" dirty="0"/>
              <a:t>d</a:t>
            </a:r>
            <a:r>
              <a:rPr lang="zh-CN" altLang="en-US" i="1" baseline="-25000" dirty="0"/>
              <a:t>min</a:t>
            </a:r>
            <a:r>
              <a:rPr lang="zh-CN" altLang="en-US" dirty="0"/>
              <a:t>＝</a:t>
            </a:r>
            <a:r>
              <a:rPr lang="en-US" altLang="zh-CN" dirty="0"/>
              <a:t>3</a:t>
            </a:r>
            <a:endParaRPr lang="zh-CN" alt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407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407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407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407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407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407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407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407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0701" grpId="0" animBg="1"/>
      <p:bldP spid="1340702" grpId="0" animBg="1"/>
      <p:bldP spid="1340703" grpId="0" animBg="1"/>
      <p:bldP spid="1340704" grpId="0" animBg="1"/>
      <p:bldP spid="23" grpId="0" animBg="1"/>
      <p:bldP spid="2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B2E2995-B3A8-4C96-9233-BBC0776E5A03}" type="slidenum">
              <a:rPr lang="zh-CN" altLang="en-US"/>
              <a:pPr/>
              <a:t>24</a:t>
            </a:fld>
            <a:endParaRPr lang="en-US" altLang="zh-CN"/>
          </a:p>
        </p:txBody>
      </p:sp>
      <p:graphicFrame>
        <p:nvGraphicFramePr>
          <p:cNvPr id="1337558" name="Group 1238"/>
          <p:cNvGraphicFramePr>
            <a:graphicFrameLocks noGrp="1"/>
          </p:cNvGraphicFramePr>
          <p:nvPr/>
        </p:nvGraphicFramePr>
        <p:xfrm>
          <a:off x="574675" y="417513"/>
          <a:ext cx="6391275" cy="6166104"/>
        </p:xfrm>
        <a:graphic>
          <a:graphicData uri="http://schemas.openxmlformats.org/drawingml/2006/table">
            <a:tbl>
              <a:tblPr/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05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05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1913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3023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44475">
                <a:tc rowSpan="2"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VRC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列   号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字符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75">
                <a:tc gridSpan="2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8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7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5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4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3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 rowSpan="1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行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号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W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1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e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4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3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4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a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5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r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e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44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7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8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f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9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r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i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e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12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n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6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13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44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14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   ．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 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539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66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15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LRC</a:t>
                      </a: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1337422" name="AutoShape 1102"/>
          <p:cNvSpPr>
            <a:spLocks noChangeArrowheads="1"/>
          </p:cNvSpPr>
          <p:nvPr/>
        </p:nvSpPr>
        <p:spPr bwMode="auto">
          <a:xfrm>
            <a:off x="1727200" y="1157288"/>
            <a:ext cx="387350" cy="5440362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rgbClr val="006600"/>
            </a:solidFill>
            <a:prstDash val="dash"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37423" name="AutoShape 1103"/>
          <p:cNvSpPr>
            <a:spLocks noChangeArrowheads="1"/>
          </p:cNvSpPr>
          <p:nvPr/>
        </p:nvSpPr>
        <p:spPr bwMode="auto">
          <a:xfrm>
            <a:off x="1727200" y="6230938"/>
            <a:ext cx="3816350" cy="333375"/>
          </a:xfrm>
          <a:prstGeom prst="roundRect">
            <a:avLst>
              <a:gd name="adj" fmla="val 50000"/>
            </a:avLst>
          </a:prstGeom>
          <a:noFill/>
          <a:ln w="28575" algn="ctr">
            <a:solidFill>
              <a:srgbClr val="0033CC"/>
            </a:solidFill>
            <a:prstDash val="dash"/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37424" name="Line 1104"/>
          <p:cNvSpPr>
            <a:spLocks noChangeShapeType="1"/>
          </p:cNvSpPr>
          <p:nvPr/>
        </p:nvSpPr>
        <p:spPr bwMode="auto">
          <a:xfrm>
            <a:off x="1387475" y="901700"/>
            <a:ext cx="384175" cy="384175"/>
          </a:xfrm>
          <a:prstGeom prst="line">
            <a:avLst/>
          </a:prstGeom>
          <a:noFill/>
          <a:ln w="28575">
            <a:solidFill>
              <a:srgbClr val="006600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7425" name="Line 1105"/>
          <p:cNvSpPr>
            <a:spLocks noChangeShapeType="1"/>
          </p:cNvSpPr>
          <p:nvPr/>
        </p:nvSpPr>
        <p:spPr bwMode="auto">
          <a:xfrm flipH="1">
            <a:off x="5548313" y="6400800"/>
            <a:ext cx="609600" cy="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graphicFrame>
        <p:nvGraphicFramePr>
          <p:cNvPr id="1337547" name="Group 1227"/>
          <p:cNvGraphicFramePr>
            <a:graphicFrameLocks noGrp="1"/>
          </p:cNvGraphicFramePr>
          <p:nvPr/>
        </p:nvGraphicFramePr>
        <p:xfrm>
          <a:off x="6356350" y="1163638"/>
          <a:ext cx="1282700" cy="5059365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57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D7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65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65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20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A0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61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E1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72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72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65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65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20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A0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66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66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72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72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69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69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65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65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6E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EE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64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E4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2E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66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2E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66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0" marB="0" anchor="ctr" anchorCtr="1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337548" name="Rectangle 1228"/>
          <p:cNvSpPr>
            <a:spLocks noGrp="1" noChangeArrowheads="1"/>
          </p:cNvSpPr>
          <p:nvPr>
            <p:ph type="title"/>
          </p:nvPr>
        </p:nvSpPr>
        <p:spPr>
          <a:xfrm>
            <a:off x="590550" y="44450"/>
            <a:ext cx="8374063" cy="523875"/>
          </a:xfrm>
          <a:noFill/>
          <a:ln/>
        </p:spPr>
        <p:txBody>
          <a:bodyPr/>
          <a:lstStyle/>
          <a:p>
            <a:r>
              <a:rPr lang="zh-CN" altLang="en-US" dirty="0"/>
              <a:t>二、奇偶校验码              </a:t>
            </a:r>
            <a:r>
              <a:rPr lang="zh-CN" altLang="en-US" dirty="0">
                <a:solidFill>
                  <a:srgbClr val="006600"/>
                </a:solidFill>
              </a:rPr>
              <a:t>例：二维奇偶校验</a:t>
            </a:r>
            <a:endParaRPr lang="en-US" altLang="zh-CN" dirty="0">
              <a:solidFill>
                <a:srgbClr val="006600"/>
              </a:solidFill>
              <a:latin typeface="宋体" charset="-122"/>
              <a:ea typeface="宋体" charset="-122"/>
            </a:endParaRPr>
          </a:p>
        </p:txBody>
      </p:sp>
      <p:sp>
        <p:nvSpPr>
          <p:cNvPr id="1337549" name="Text Box 1229"/>
          <p:cNvSpPr txBox="1">
            <a:spLocks noChangeArrowheads="1"/>
          </p:cNvSpPr>
          <p:nvPr/>
        </p:nvSpPr>
        <p:spPr bwMode="auto">
          <a:xfrm>
            <a:off x="6553200" y="476250"/>
            <a:ext cx="1511300" cy="4572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sz="2400">
                <a:solidFill>
                  <a:srgbClr val="0000FF"/>
                </a:solidFill>
              </a:rPr>
              <a:t>7</a:t>
            </a:r>
            <a:r>
              <a:rPr lang="zh-CN" altLang="en-US" sz="2400">
                <a:solidFill>
                  <a:srgbClr val="0000FF"/>
                </a:solidFill>
              </a:rPr>
              <a:t>位</a:t>
            </a:r>
            <a:r>
              <a:rPr lang="en-US" altLang="zh-CN" sz="2400">
                <a:solidFill>
                  <a:srgbClr val="0000FF"/>
                </a:solidFill>
              </a:rPr>
              <a:t>ASCII</a:t>
            </a:r>
          </a:p>
        </p:txBody>
      </p:sp>
      <p:sp>
        <p:nvSpPr>
          <p:cNvPr id="1337550" name="Text Box 1230"/>
          <p:cNvSpPr txBox="1">
            <a:spLocks noChangeArrowheads="1"/>
          </p:cNvSpPr>
          <p:nvPr/>
        </p:nvSpPr>
        <p:spPr bwMode="auto">
          <a:xfrm>
            <a:off x="7920038" y="908050"/>
            <a:ext cx="1116012" cy="8223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400">
                <a:solidFill>
                  <a:srgbClr val="0000FF"/>
                </a:solidFill>
              </a:rPr>
              <a:t>偶校验</a:t>
            </a:r>
            <a:r>
              <a:rPr lang="en-US" altLang="zh-CN" sz="2400">
                <a:solidFill>
                  <a:srgbClr val="0000FF"/>
                </a:solidFill>
              </a:rPr>
              <a:t>ASCII</a:t>
            </a:r>
          </a:p>
        </p:txBody>
      </p:sp>
      <p:sp>
        <p:nvSpPr>
          <p:cNvPr id="1337551" name="Line 1231"/>
          <p:cNvSpPr>
            <a:spLocks noChangeShapeType="1"/>
          </p:cNvSpPr>
          <p:nvPr/>
        </p:nvSpPr>
        <p:spPr bwMode="auto">
          <a:xfrm flipH="1">
            <a:off x="6696075" y="908050"/>
            <a:ext cx="142875" cy="288925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7552" name="Line 1232"/>
          <p:cNvSpPr>
            <a:spLocks noChangeShapeType="1"/>
          </p:cNvSpPr>
          <p:nvPr/>
        </p:nvSpPr>
        <p:spPr bwMode="auto">
          <a:xfrm flipH="1">
            <a:off x="7559675" y="1196975"/>
            <a:ext cx="360363" cy="73025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 type="triangle" w="med" len="lg"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37554" name="Rectangle 1234"/>
          <p:cNvSpPr>
            <a:spLocks noChangeArrowheads="1"/>
          </p:cNvSpPr>
          <p:nvPr/>
        </p:nvSpPr>
        <p:spPr bwMode="auto">
          <a:xfrm>
            <a:off x="4239565" y="6204702"/>
            <a:ext cx="288925" cy="358775"/>
          </a:xfrm>
          <a:prstGeom prst="rect">
            <a:avLst/>
          </a:prstGeom>
          <a:noFill/>
          <a:ln w="28575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37556" name="Rectangle 1236"/>
          <p:cNvSpPr>
            <a:spLocks noChangeArrowheads="1"/>
          </p:cNvSpPr>
          <p:nvPr/>
        </p:nvSpPr>
        <p:spPr bwMode="auto">
          <a:xfrm>
            <a:off x="4239566" y="3667479"/>
            <a:ext cx="288925" cy="358775"/>
          </a:xfrm>
          <a:prstGeom prst="rect">
            <a:avLst/>
          </a:prstGeom>
          <a:noFill/>
          <a:ln w="28575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CCC3E53-D109-4A0D-83D0-9EF8668F9A1B}"/>
              </a:ext>
            </a:extLst>
          </p:cNvPr>
          <p:cNvSpPr/>
          <p:nvPr/>
        </p:nvSpPr>
        <p:spPr>
          <a:xfrm>
            <a:off x="7632129" y="1844824"/>
            <a:ext cx="1476375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spcBef>
                <a:spcPts val="1200"/>
              </a:spcBef>
            </a:pPr>
            <a:r>
              <a:rPr lang="zh-CN" altLang="en-US" sz="2400" dirty="0"/>
              <a:t>数据位：</a:t>
            </a:r>
            <a:br>
              <a:rPr lang="en-US" altLang="zh-CN" sz="2400" dirty="0"/>
            </a:br>
            <a:r>
              <a:rPr lang="zh-CN" altLang="en-US" sz="2400" dirty="0"/>
              <a:t>14×7＝</a:t>
            </a:r>
            <a:br>
              <a:rPr lang="en-US" altLang="zh-CN" sz="2400" dirty="0"/>
            </a:br>
            <a:r>
              <a:rPr lang="zh-CN" altLang="en-US" sz="2400" dirty="0"/>
              <a:t>98个</a:t>
            </a:r>
          </a:p>
          <a:p>
            <a:pPr algn="r">
              <a:spcBef>
                <a:spcPts val="1200"/>
              </a:spcBef>
            </a:pPr>
            <a:r>
              <a:rPr lang="zh-CN" altLang="en-US" sz="2400" dirty="0"/>
              <a:t>校验位：</a:t>
            </a:r>
            <a:br>
              <a:rPr lang="en-US" altLang="zh-CN" sz="2400" dirty="0"/>
            </a:br>
            <a:r>
              <a:rPr lang="zh-CN" altLang="en-US" sz="2400" dirty="0"/>
              <a:t>15＋7＝</a:t>
            </a:r>
            <a:br>
              <a:rPr lang="en-US" altLang="zh-CN" sz="2400" dirty="0"/>
            </a:br>
            <a:r>
              <a:rPr lang="zh-CN" altLang="en-US" sz="2400" dirty="0"/>
              <a:t>22个</a:t>
            </a:r>
          </a:p>
        </p:txBody>
      </p:sp>
      <p:sp>
        <p:nvSpPr>
          <p:cNvPr id="17" name="Rectangle 1234">
            <a:extLst>
              <a:ext uri="{FF2B5EF4-FFF2-40B4-BE49-F238E27FC236}">
                <a16:creationId xmlns:a16="http://schemas.microsoft.com/office/drawing/2014/main" id="{D4AD43AD-81CD-4E7A-BD46-26628615DD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6412" y="3667478"/>
            <a:ext cx="288925" cy="358775"/>
          </a:xfrm>
          <a:prstGeom prst="rect">
            <a:avLst/>
          </a:prstGeom>
          <a:noFill/>
          <a:ln w="28575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BAB2F72-14C5-4988-A9B1-2F2DB8173593}"/>
              </a:ext>
            </a:extLst>
          </p:cNvPr>
          <p:cNvSpPr/>
          <p:nvPr/>
        </p:nvSpPr>
        <p:spPr>
          <a:xfrm>
            <a:off x="7701778" y="5183971"/>
            <a:ext cx="1289134" cy="954107"/>
          </a:xfrm>
          <a:prstGeom prst="rect">
            <a:avLst/>
          </a:prstGeom>
          <a:solidFill>
            <a:srgbClr val="FFFFCC"/>
          </a:solidFill>
          <a:ln w="19050">
            <a:solidFill>
              <a:srgbClr val="FF66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zh-CN" altLang="en-US" dirty="0"/>
              <a:t>实际上</a:t>
            </a:r>
            <a:endParaRPr lang="en-US" altLang="zh-CN" dirty="0"/>
          </a:p>
          <a:p>
            <a:pPr>
              <a:spcBef>
                <a:spcPts val="0"/>
              </a:spcBef>
            </a:pPr>
            <a:r>
              <a:rPr lang="zh-CN" altLang="en-US" i="1" dirty="0"/>
              <a:t>d</a:t>
            </a:r>
            <a:r>
              <a:rPr lang="zh-CN" altLang="en-US" i="1" baseline="-25000" dirty="0"/>
              <a:t>min</a:t>
            </a:r>
            <a:r>
              <a:rPr lang="zh-CN" altLang="en-US" dirty="0"/>
              <a:t>＝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19" name="AutoShape 288">
            <a:extLst>
              <a:ext uri="{FF2B5EF4-FFF2-40B4-BE49-F238E27FC236}">
                <a16:creationId xmlns:a16="http://schemas.microsoft.com/office/drawing/2014/main" id="{9A21E7DE-F467-43E3-A40F-8932C8BB78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7640" y="6164524"/>
            <a:ext cx="433387" cy="431800"/>
          </a:xfrm>
          <a:prstGeom prst="star16">
            <a:avLst>
              <a:gd name="adj" fmla="val 37500"/>
            </a:avLst>
          </a:prstGeom>
          <a:noFill/>
          <a:ln w="28575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E2A7D9C-45AA-4F3F-807C-2BDF11979141}"/>
              </a:ext>
            </a:extLst>
          </p:cNvPr>
          <p:cNvSpPr/>
          <p:nvPr/>
        </p:nvSpPr>
        <p:spPr>
          <a:xfrm>
            <a:off x="1721812" y="3655575"/>
            <a:ext cx="385042" cy="4585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85000"/>
              </a:lnSpc>
              <a:spcBef>
                <a:spcPct val="0"/>
              </a:spcBef>
            </a:pPr>
            <a:r>
              <a:rPr kumimoji="1" lang="en-US" altLang="zh-CN" dirty="0">
                <a:solidFill>
                  <a:srgbClr val="FF0066"/>
                </a:solidFill>
                <a:latin typeface="+mj-lt"/>
                <a:cs typeface="Times New Roman" pitchFamily="18" charset="0"/>
              </a:rPr>
              <a:t>1</a:t>
            </a:r>
            <a:endParaRPr kumimoji="1" lang="en-US" altLang="zh-CN" dirty="0">
              <a:solidFill>
                <a:srgbClr val="FF0066"/>
              </a:solidFill>
              <a:latin typeface="+mj-lt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FA242A1-22F9-4309-BA7E-712075D0B70E}"/>
              </a:ext>
            </a:extLst>
          </p:cNvPr>
          <p:cNvSpPr/>
          <p:nvPr/>
        </p:nvSpPr>
        <p:spPr>
          <a:xfrm>
            <a:off x="4180125" y="6186021"/>
            <a:ext cx="385042" cy="4585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85000"/>
              </a:lnSpc>
              <a:spcBef>
                <a:spcPct val="0"/>
              </a:spcBef>
            </a:pPr>
            <a:r>
              <a:rPr kumimoji="1" lang="en-US" altLang="zh-CN" dirty="0">
                <a:solidFill>
                  <a:srgbClr val="FF0066"/>
                </a:solidFill>
                <a:latin typeface="+mj-lt"/>
                <a:cs typeface="Times New Roman" pitchFamily="18" charset="0"/>
              </a:rPr>
              <a:t>1</a:t>
            </a:r>
            <a:endParaRPr kumimoji="1" lang="en-US" altLang="zh-CN" dirty="0">
              <a:solidFill>
                <a:srgbClr val="FF0066"/>
              </a:solidFill>
              <a:latin typeface="+mj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27A678E-9C97-43C6-907A-F300B4354247}"/>
              </a:ext>
            </a:extLst>
          </p:cNvPr>
          <p:cNvSpPr/>
          <p:nvPr/>
        </p:nvSpPr>
        <p:spPr>
          <a:xfrm>
            <a:off x="4203024" y="3648175"/>
            <a:ext cx="385042" cy="4585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85000"/>
              </a:lnSpc>
              <a:spcBef>
                <a:spcPct val="0"/>
              </a:spcBef>
            </a:pPr>
            <a:r>
              <a:rPr kumimoji="1" lang="en-US" altLang="zh-CN" dirty="0">
                <a:solidFill>
                  <a:srgbClr val="FF0066"/>
                </a:solidFill>
                <a:latin typeface="+mj-lt"/>
                <a:cs typeface="Times New Roman" pitchFamily="18" charset="0"/>
              </a:rPr>
              <a:t>0</a:t>
            </a:r>
            <a:endParaRPr kumimoji="1" lang="en-US" altLang="zh-CN" dirty="0">
              <a:solidFill>
                <a:srgbClr val="FF0066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334056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375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375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375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375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7554" grpId="0" animBg="1"/>
      <p:bldP spid="1337556" grpId="0" animBg="1"/>
      <p:bldP spid="17" grpId="0" animBg="1"/>
      <p:bldP spid="18" grpId="0" animBg="1"/>
      <p:bldP spid="19" grpId="0" animBg="1"/>
      <p:bldP spid="2" grpId="0"/>
      <p:bldP spid="21" grpId="0"/>
      <p:bldP spid="2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2A7F753-FEC1-4EAA-AB10-0D3AE4B0DF89}" type="slidenum">
              <a:rPr lang="zh-CN" altLang="en-US"/>
              <a:pPr/>
              <a:t>25</a:t>
            </a:fld>
            <a:endParaRPr lang="en-US" altLang="zh-CN"/>
          </a:p>
        </p:txBody>
      </p:sp>
      <p:sp>
        <p:nvSpPr>
          <p:cNvPr id="135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590550" y="528638"/>
            <a:ext cx="8229600" cy="523875"/>
          </a:xfrm>
        </p:spPr>
        <p:txBody>
          <a:bodyPr/>
          <a:lstStyle/>
          <a:p>
            <a:r>
              <a:rPr lang="zh-CN" altLang="en-US" dirty="0"/>
              <a:t>三、海明码</a:t>
            </a:r>
          </a:p>
        </p:txBody>
      </p:sp>
      <p:sp>
        <p:nvSpPr>
          <p:cNvPr id="135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760"/>
            <a:ext cx="8362950" cy="4752975"/>
          </a:xfrm>
        </p:spPr>
        <p:txBody>
          <a:bodyPr/>
          <a:lstStyle/>
          <a:p>
            <a:r>
              <a:rPr lang="zh-CN" altLang="en-US" dirty="0"/>
              <a:t>某些系统需要具备</a:t>
            </a:r>
            <a:r>
              <a:rPr lang="zh-CN" altLang="en-US" dirty="0">
                <a:solidFill>
                  <a:srgbClr val="CC0000"/>
                </a:solidFill>
              </a:rPr>
              <a:t>纠正</a:t>
            </a:r>
            <a:r>
              <a:rPr lang="zh-CN" altLang="en-US" dirty="0"/>
              <a:t>合理数量错误的能力。</a:t>
            </a:r>
          </a:p>
          <a:p>
            <a:r>
              <a:rPr lang="zh-CN" altLang="en-US" dirty="0">
                <a:solidFill>
                  <a:schemeClr val="bg2"/>
                </a:solidFill>
                <a:ea typeface="黑体" pitchFamily="2" charset="-122"/>
              </a:rPr>
              <a:t>海明码</a:t>
            </a:r>
            <a:r>
              <a:rPr lang="en-US" altLang="zh-CN" dirty="0">
                <a:latin typeface="宋体" charset="-122"/>
              </a:rPr>
              <a:t>(</a:t>
            </a:r>
            <a:r>
              <a:rPr lang="en-US" altLang="zh-CN" dirty="0"/>
              <a:t>Hamming code</a:t>
            </a:r>
            <a:r>
              <a:rPr lang="en-US" altLang="zh-CN" dirty="0">
                <a:latin typeface="宋体" charset="-122"/>
              </a:rPr>
              <a:t>)</a:t>
            </a:r>
            <a:r>
              <a:rPr lang="zh-CN" altLang="en-US" dirty="0"/>
              <a:t>：</a:t>
            </a:r>
            <a:br>
              <a:rPr lang="en-US" altLang="zh-CN" dirty="0"/>
            </a:br>
            <a:r>
              <a:rPr lang="zh-CN" altLang="en-US" dirty="0"/>
              <a:t>由 </a:t>
            </a:r>
            <a:r>
              <a:rPr lang="en-US" altLang="zh-CN" dirty="0"/>
              <a:t>Richard Hamming </a:t>
            </a:r>
            <a:r>
              <a:rPr lang="zh-CN" altLang="en-US" dirty="0"/>
              <a:t>于</a:t>
            </a:r>
            <a:r>
              <a:rPr lang="en-US" altLang="zh-CN" dirty="0"/>
              <a:t>1950</a:t>
            </a:r>
            <a:r>
              <a:rPr lang="zh-CN" altLang="en-US" dirty="0"/>
              <a:t>年提出。</a:t>
            </a:r>
          </a:p>
          <a:p>
            <a:pPr lvl="1"/>
            <a:r>
              <a:rPr lang="zh-CN" altLang="en-US" dirty="0"/>
              <a:t>主要用于</a:t>
            </a:r>
            <a:r>
              <a:rPr lang="zh-CN" altLang="en-US" dirty="0">
                <a:solidFill>
                  <a:srgbClr val="0000FF"/>
                </a:solidFill>
              </a:rPr>
              <a:t>存储器</a:t>
            </a:r>
            <a:r>
              <a:rPr lang="zh-CN" altLang="en-US" dirty="0"/>
              <a:t>数据的</a:t>
            </a:r>
            <a:r>
              <a:rPr lang="zh-CN" altLang="en-US" dirty="0">
                <a:solidFill>
                  <a:srgbClr val="CC0000"/>
                </a:solidFill>
              </a:rPr>
              <a:t>校验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CC0000"/>
                </a:solidFill>
              </a:rPr>
              <a:t>纠正</a:t>
            </a:r>
            <a:r>
              <a:rPr lang="zh-CN" altLang="en-US" dirty="0"/>
              <a:t>。</a:t>
            </a:r>
          </a:p>
          <a:p>
            <a:pPr lvl="1"/>
            <a:r>
              <a:rPr lang="zh-CN" altLang="en-US" dirty="0"/>
              <a:t>采用奇偶校验的原理，错误检测和校正能力随着信息字中加入奇偶校验位的数目线性增加。</a:t>
            </a:r>
          </a:p>
          <a:p>
            <a:pPr lvl="1"/>
            <a:r>
              <a:rPr lang="zh-CN" altLang="en-US" dirty="0"/>
              <a:t>适用于最有可能发生</a:t>
            </a:r>
            <a:r>
              <a:rPr lang="zh-CN" altLang="en-US" dirty="0">
                <a:solidFill>
                  <a:srgbClr val="FF0066"/>
                </a:solidFill>
                <a:ea typeface="黑体" pitchFamily="2" charset="-122"/>
              </a:rPr>
              <a:t>随机错误</a:t>
            </a:r>
            <a:r>
              <a:rPr lang="zh-CN" altLang="en-US" dirty="0"/>
              <a:t>的系统。</a:t>
            </a:r>
          </a:p>
          <a:p>
            <a:pPr lvl="2"/>
            <a:r>
              <a:rPr lang="zh-CN" altLang="en-US" dirty="0"/>
              <a:t>每一位的出错</a:t>
            </a:r>
            <a:r>
              <a:rPr lang="zh-CN" altLang="en-US" dirty="0">
                <a:solidFill>
                  <a:srgbClr val="CC3300"/>
                </a:solidFill>
              </a:rPr>
              <a:t>概率</a:t>
            </a:r>
            <a:r>
              <a:rPr lang="zh-CN" altLang="en-US" dirty="0"/>
              <a:t>相同；</a:t>
            </a:r>
          </a:p>
          <a:p>
            <a:pPr lvl="2"/>
            <a:r>
              <a:rPr lang="zh-CN" altLang="en-US" dirty="0"/>
              <a:t>每一位与其它位是否出错没有任何</a:t>
            </a:r>
            <a:r>
              <a:rPr lang="zh-CN" altLang="en-US" dirty="0">
                <a:solidFill>
                  <a:srgbClr val="CC3300"/>
                </a:solidFill>
              </a:rPr>
              <a:t>关联</a:t>
            </a:r>
            <a:r>
              <a:rPr lang="zh-CN" altLang="en-US" dirty="0"/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D16271B-1EC2-4AAB-BBC0-F94A7B679A62}" type="slidenum">
              <a:rPr lang="zh-CN" altLang="en-US"/>
              <a:pPr/>
              <a:t>26</a:t>
            </a:fld>
            <a:endParaRPr lang="en-US" altLang="zh-CN"/>
          </a:p>
        </p:txBody>
      </p:sp>
      <p:sp>
        <p:nvSpPr>
          <p:cNvPr id="135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三、海明码        </a:t>
            </a:r>
            <a:r>
              <a:rPr lang="en-US" altLang="zh-CN" dirty="0">
                <a:solidFill>
                  <a:srgbClr val="CC0066"/>
                </a:solidFill>
              </a:rPr>
              <a:t>1. </a:t>
            </a:r>
            <a:r>
              <a:rPr lang="zh-CN" altLang="en-US" dirty="0">
                <a:solidFill>
                  <a:srgbClr val="FF6600"/>
                </a:solidFill>
              </a:rPr>
              <a:t>检错</a:t>
            </a:r>
            <a:r>
              <a:rPr lang="zh-CN" altLang="en-US" dirty="0">
                <a:solidFill>
                  <a:srgbClr val="CC0066"/>
                </a:solidFill>
              </a:rPr>
              <a:t>和</a:t>
            </a:r>
            <a:r>
              <a:rPr lang="zh-CN" altLang="en-US" dirty="0">
                <a:solidFill>
                  <a:srgbClr val="FF3399"/>
                </a:solidFill>
              </a:rPr>
              <a:t>纠错</a:t>
            </a:r>
          </a:p>
        </p:txBody>
      </p:sp>
      <p:sp>
        <p:nvSpPr>
          <p:cNvPr id="135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20713"/>
            <a:ext cx="8362950" cy="5903912"/>
          </a:xfrm>
        </p:spPr>
        <p:txBody>
          <a:bodyPr/>
          <a:lstStyle/>
          <a:p>
            <a:pPr marL="533400" indent="-533400">
              <a:lnSpc>
                <a:spcPct val="110000"/>
              </a:lnSpc>
              <a:buSzTx/>
              <a:buFont typeface="Wingdings" pitchFamily="2" charset="2"/>
              <a:buAutoNum type="circleNumDbPlain"/>
            </a:pP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cs typeface="Times New Roman" pitchFamily="18" charset="0"/>
              </a:rPr>
              <a:t>n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位数据，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先确定编码所需的校验位数目</a:t>
            </a:r>
            <a:r>
              <a:rPr lang="pt-BR" altLang="zh-CN" i="1" dirty="0">
                <a:solidFill>
                  <a:srgbClr val="000000"/>
                </a:solidFill>
              </a:rPr>
              <a:t>k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，然后算出编码字的长度</a:t>
            </a:r>
            <a:r>
              <a:rPr lang="pt-BR" altLang="zh-CN" i="1" dirty="0">
                <a:solidFill>
                  <a:srgbClr val="000000"/>
                </a:solidFill>
              </a:rPr>
              <a:t>m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，其中</a:t>
            </a:r>
            <a:r>
              <a:rPr lang="pt-BR" altLang="zh-CN" i="1" dirty="0">
                <a:solidFill>
                  <a:srgbClr val="000000"/>
                </a:solidFill>
              </a:rPr>
              <a:t>m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i="1" dirty="0">
                <a:solidFill>
                  <a:srgbClr val="000000"/>
                </a:solidFill>
              </a:rPr>
              <a:t>n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＋</a:t>
            </a:r>
            <a:r>
              <a:rPr lang="en-US" altLang="zh-CN" i="1" dirty="0">
                <a:solidFill>
                  <a:srgbClr val="000000"/>
                </a:solidFill>
                <a:cs typeface="Times New Roman" pitchFamily="18" charset="0"/>
              </a:rPr>
              <a:t>k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。将编码字的各位从</a:t>
            </a:r>
            <a:r>
              <a:rPr lang="zh-CN" altLang="pt-BR" dirty="0">
                <a:solidFill>
                  <a:srgbClr val="FF0000"/>
                </a:solidFill>
                <a:ea typeface="黑体" pitchFamily="2" charset="-122"/>
                <a:cs typeface="Times New Roman" pitchFamily="18" charset="0"/>
              </a:rPr>
              <a:t>右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向</a:t>
            </a:r>
            <a:r>
              <a:rPr lang="zh-CN" altLang="pt-BR" dirty="0">
                <a:solidFill>
                  <a:srgbClr val="FF0000"/>
                </a:solidFill>
                <a:ea typeface="黑体" pitchFamily="2" charset="-122"/>
              </a:rPr>
              <a:t>左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排列，从</a:t>
            </a:r>
            <a:r>
              <a:rPr lang="pt-BR" altLang="zh-CN" dirty="0">
                <a:solidFill>
                  <a:srgbClr val="FF0000"/>
                </a:solidFill>
              </a:rPr>
              <a:t>1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开始进行</a:t>
            </a:r>
            <a:r>
              <a:rPr lang="zh-CN" altLang="pt-BR" dirty="0">
                <a:solidFill>
                  <a:srgbClr val="0000FF"/>
                </a:solidFill>
                <a:cs typeface="Times New Roman" pitchFamily="18" charset="0"/>
              </a:rPr>
              <a:t>位置编号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。</a:t>
            </a:r>
            <a:endParaRPr lang="zh-CN" altLang="pt-BR" dirty="0"/>
          </a:p>
          <a:p>
            <a:pPr marL="533400" indent="-533400">
              <a:lnSpc>
                <a:spcPct val="110000"/>
              </a:lnSpc>
              <a:buSzTx/>
              <a:buFont typeface="Wingdings" pitchFamily="2" charset="2"/>
              <a:buAutoNum type="circleNumDbPlain"/>
            </a:pPr>
            <a:r>
              <a:rPr lang="zh-CN" altLang="pt-BR" dirty="0"/>
              <a:t>编号是</a:t>
            </a:r>
            <a:r>
              <a:rPr lang="pt-BR" altLang="zh-CN" dirty="0">
                <a:solidFill>
                  <a:srgbClr val="0000FF"/>
                </a:solidFill>
              </a:rPr>
              <a:t>2</a:t>
            </a:r>
            <a:r>
              <a:rPr lang="zh-CN" altLang="pt-BR" dirty="0">
                <a:solidFill>
                  <a:srgbClr val="0000FF"/>
                </a:solidFill>
              </a:rPr>
              <a:t>的整数次幂</a:t>
            </a:r>
            <a:r>
              <a:rPr lang="zh-CN" altLang="pt-BR" dirty="0"/>
              <a:t>的位置为</a:t>
            </a:r>
            <a:r>
              <a:rPr lang="zh-CN" altLang="pt-BR" dirty="0">
                <a:solidFill>
                  <a:srgbClr val="0000FF"/>
                </a:solidFill>
              </a:rPr>
              <a:t>奇偶校验位</a:t>
            </a:r>
            <a:r>
              <a:rPr lang="zh-CN" altLang="pt-BR" dirty="0"/>
              <a:t>，其它位为</a:t>
            </a:r>
            <a:r>
              <a:rPr lang="zh-CN" altLang="pt-BR" dirty="0">
                <a:solidFill>
                  <a:srgbClr val="006600"/>
                </a:solidFill>
              </a:rPr>
              <a:t>数据位</a:t>
            </a:r>
            <a:r>
              <a:rPr lang="zh-CN" altLang="pt-BR" dirty="0"/>
              <a:t>，按顺序填写。</a:t>
            </a:r>
          </a:p>
          <a:p>
            <a:pPr marL="533400" indent="-533400">
              <a:lnSpc>
                <a:spcPct val="110000"/>
              </a:lnSpc>
              <a:buSzTx/>
              <a:buFont typeface="Wingdings" pitchFamily="2" charset="2"/>
              <a:buAutoNum type="circleNumDbPlain"/>
            </a:pP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用如下方法确定某数据位应被哪些奇偶校验位所检测：第</a:t>
            </a:r>
            <a:r>
              <a:rPr lang="pt-BR" altLang="zh-CN" i="1" dirty="0">
                <a:solidFill>
                  <a:srgbClr val="000000"/>
                </a:solidFill>
              </a:rPr>
              <a:t>b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位数据应被第</a:t>
            </a:r>
            <a:r>
              <a:rPr lang="pt-BR" altLang="zh-CN" i="1" dirty="0">
                <a:solidFill>
                  <a:srgbClr val="000000"/>
                </a:solidFill>
              </a:rPr>
              <a:t>b</a:t>
            </a:r>
            <a:r>
              <a:rPr lang="pt-BR" altLang="zh-CN" baseline="-30000" dirty="0">
                <a:solidFill>
                  <a:srgbClr val="000000"/>
                </a:solidFill>
              </a:rPr>
              <a:t>1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、</a:t>
            </a:r>
            <a:r>
              <a:rPr lang="pt-BR" altLang="zh-CN" i="1" dirty="0">
                <a:solidFill>
                  <a:srgbClr val="000000"/>
                </a:solidFill>
              </a:rPr>
              <a:t>b</a:t>
            </a:r>
            <a:r>
              <a:rPr lang="pt-BR" altLang="zh-CN" baseline="-30000" dirty="0">
                <a:solidFill>
                  <a:srgbClr val="000000"/>
                </a:solidFill>
              </a:rPr>
              <a:t>2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、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…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、</a:t>
            </a:r>
            <a:r>
              <a:rPr lang="pt-BR" altLang="zh-CN" i="1" dirty="0">
                <a:solidFill>
                  <a:srgbClr val="000000"/>
                </a:solidFill>
              </a:rPr>
              <a:t>b</a:t>
            </a:r>
            <a:r>
              <a:rPr lang="pt-BR" altLang="zh-CN" i="1" baseline="-30000" dirty="0">
                <a:solidFill>
                  <a:srgbClr val="000000"/>
                </a:solidFill>
              </a:rPr>
              <a:t>j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位奇偶校验位所检测。其中，</a:t>
            </a:r>
            <a:r>
              <a:rPr lang="pt-BR" altLang="zh-CN" i="1" dirty="0">
                <a:solidFill>
                  <a:srgbClr val="000000"/>
                </a:solidFill>
              </a:rPr>
              <a:t>b</a:t>
            </a:r>
            <a:r>
              <a:rPr lang="pt-BR" altLang="zh-CN" baseline="-30000" dirty="0">
                <a:solidFill>
                  <a:srgbClr val="000000"/>
                </a:solidFill>
              </a:rPr>
              <a:t>1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、</a:t>
            </a:r>
            <a:r>
              <a:rPr lang="pt-BR" altLang="zh-CN" i="1" dirty="0">
                <a:solidFill>
                  <a:srgbClr val="000000"/>
                </a:solidFill>
              </a:rPr>
              <a:t>b</a:t>
            </a:r>
            <a:r>
              <a:rPr lang="pt-BR" altLang="zh-CN" baseline="-30000" dirty="0">
                <a:solidFill>
                  <a:srgbClr val="000000"/>
                </a:solidFill>
              </a:rPr>
              <a:t>2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、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…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、</a:t>
            </a:r>
            <a:r>
              <a:rPr lang="pt-BR" altLang="zh-CN" i="1" dirty="0">
                <a:solidFill>
                  <a:srgbClr val="000000"/>
                </a:solidFill>
              </a:rPr>
              <a:t>b</a:t>
            </a:r>
            <a:r>
              <a:rPr lang="pt-BR" altLang="zh-CN" i="1" baseline="-30000" dirty="0">
                <a:solidFill>
                  <a:srgbClr val="000000"/>
                </a:solidFill>
              </a:rPr>
              <a:t>j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必为</a:t>
            </a:r>
            <a:r>
              <a:rPr lang="pt-BR" altLang="zh-CN" dirty="0">
                <a:solidFill>
                  <a:srgbClr val="000000"/>
                </a:solidFill>
              </a:rPr>
              <a:t>2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的整数次幂，</a:t>
            </a:r>
            <a:r>
              <a:rPr lang="zh-CN" altLang="pt-BR" dirty="0">
                <a:solidFill>
                  <a:srgbClr val="000000"/>
                </a:solidFill>
              </a:rPr>
              <a:t>且</a:t>
            </a:r>
            <a:r>
              <a:rPr lang="pt-BR" altLang="zh-CN" i="1" dirty="0">
                <a:solidFill>
                  <a:srgbClr val="000000"/>
                </a:solidFill>
              </a:rPr>
              <a:t>b</a:t>
            </a:r>
            <a:r>
              <a:rPr lang="pt-BR" altLang="zh-CN" baseline="-30000" dirty="0">
                <a:solidFill>
                  <a:srgbClr val="000000"/>
                </a:solidFill>
              </a:rPr>
              <a:t>1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＋</a:t>
            </a:r>
            <a:r>
              <a:rPr lang="pt-BR" altLang="zh-CN" i="1" dirty="0">
                <a:solidFill>
                  <a:srgbClr val="000000"/>
                </a:solidFill>
              </a:rPr>
              <a:t>b</a:t>
            </a:r>
            <a:r>
              <a:rPr lang="pt-BR" altLang="zh-CN" baseline="-30000" dirty="0">
                <a:solidFill>
                  <a:srgbClr val="000000"/>
                </a:solidFill>
              </a:rPr>
              <a:t>2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＋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…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＋</a:t>
            </a:r>
            <a:r>
              <a:rPr lang="pt-BR" altLang="zh-CN" i="1" dirty="0">
                <a:solidFill>
                  <a:srgbClr val="000000"/>
                </a:solidFill>
              </a:rPr>
              <a:t>b</a:t>
            </a:r>
            <a:r>
              <a:rPr lang="pt-BR" altLang="zh-CN" i="1" baseline="-30000" dirty="0">
                <a:solidFill>
                  <a:srgbClr val="000000"/>
                </a:solidFill>
              </a:rPr>
              <a:t>j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i="1" dirty="0">
                <a:solidFill>
                  <a:srgbClr val="000000"/>
                </a:solidFill>
              </a:rPr>
              <a:t>b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。</a:t>
            </a:r>
            <a:b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</a:b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比如，位置编号为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7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（即</a:t>
            </a:r>
            <a:r>
              <a:rPr lang="pt-BR" altLang="zh-CN" i="1" dirty="0">
                <a:solidFill>
                  <a:srgbClr val="000000"/>
                </a:solidFill>
                <a:cs typeface="Times New Roman" pitchFamily="18" charset="0"/>
              </a:rPr>
              <a:t>b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7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）的数据，由于</a:t>
            </a:r>
            <a:r>
              <a:rPr lang="pt-BR" altLang="zh-CN" i="1" dirty="0">
                <a:solidFill>
                  <a:srgbClr val="000000"/>
                </a:solidFill>
                <a:cs typeface="Times New Roman" pitchFamily="18" charset="0"/>
              </a:rPr>
              <a:t>b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＋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2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＋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4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，则此数据位应被位置编号为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、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2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、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4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的奇偶校验位所检测。</a:t>
            </a:r>
            <a:endParaRPr lang="zh-CN" altLang="en-US" dirty="0"/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4530BC0-46DF-4A39-916D-9E80DA4B620A}" type="slidenum">
              <a:rPr lang="zh-CN" altLang="en-US"/>
              <a:pPr/>
              <a:t>27</a:t>
            </a:fld>
            <a:endParaRPr lang="en-US" altLang="zh-CN"/>
          </a:p>
        </p:txBody>
      </p:sp>
      <p:sp>
        <p:nvSpPr>
          <p:cNvPr id="135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三、海明码        </a:t>
            </a:r>
            <a:r>
              <a:rPr lang="en-US" altLang="zh-CN" dirty="0">
                <a:solidFill>
                  <a:srgbClr val="CC0066"/>
                </a:solidFill>
              </a:rPr>
              <a:t>1. </a:t>
            </a:r>
            <a:r>
              <a:rPr lang="zh-CN" altLang="en-US" dirty="0">
                <a:solidFill>
                  <a:srgbClr val="FF6600"/>
                </a:solidFill>
              </a:rPr>
              <a:t>检错</a:t>
            </a:r>
            <a:r>
              <a:rPr lang="zh-CN" altLang="en-US" dirty="0">
                <a:solidFill>
                  <a:srgbClr val="CC0066"/>
                </a:solidFill>
              </a:rPr>
              <a:t>和</a:t>
            </a:r>
            <a:r>
              <a:rPr lang="zh-CN" altLang="en-US" dirty="0">
                <a:solidFill>
                  <a:srgbClr val="FF3399"/>
                </a:solidFill>
              </a:rPr>
              <a:t>纠错</a:t>
            </a:r>
            <a:endParaRPr lang="zh-CN" altLang="en-US" dirty="0">
              <a:solidFill>
                <a:srgbClr val="CC0066"/>
              </a:solidFill>
            </a:endParaRPr>
          </a:p>
        </p:txBody>
      </p:sp>
      <p:sp>
        <p:nvSpPr>
          <p:cNvPr id="135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549275"/>
            <a:ext cx="8785225" cy="6119813"/>
          </a:xfrm>
        </p:spPr>
        <p:txBody>
          <a:bodyPr/>
          <a:lstStyle/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/>
              <a:t>【</a:t>
            </a:r>
            <a:r>
              <a:rPr lang="zh-CN" altLang="pt-BR" dirty="0"/>
              <a:t>例</a:t>
            </a:r>
            <a:r>
              <a:rPr lang="pt-BR" altLang="zh-CN" dirty="0"/>
              <a:t>】</a:t>
            </a:r>
            <a:r>
              <a:rPr lang="zh-CN" altLang="pt-BR" dirty="0"/>
              <a:t>利用上述构造海明码的步骤，采用</a:t>
            </a:r>
            <a:r>
              <a:rPr lang="zh-CN" altLang="pt-BR" dirty="0">
                <a:solidFill>
                  <a:srgbClr val="FF0000"/>
                </a:solidFill>
              </a:rPr>
              <a:t>偶校验</a:t>
            </a:r>
            <a:r>
              <a:rPr lang="zh-CN" altLang="pt-BR" dirty="0"/>
              <a:t>，对</a:t>
            </a:r>
            <a:r>
              <a:rPr lang="pt-BR" altLang="zh-CN" dirty="0"/>
              <a:t>8</a:t>
            </a:r>
            <a:r>
              <a:rPr lang="zh-CN" altLang="pt-BR" dirty="0"/>
              <a:t>位</a:t>
            </a:r>
            <a:r>
              <a:rPr lang="pt-BR" altLang="zh-CN" dirty="0"/>
              <a:t>ASCII</a:t>
            </a:r>
            <a:r>
              <a:rPr lang="zh-CN" altLang="pt-BR" dirty="0"/>
              <a:t>字符“</a:t>
            </a:r>
            <a:r>
              <a:rPr lang="pt-BR" altLang="zh-CN" dirty="0">
                <a:solidFill>
                  <a:srgbClr val="0000FF"/>
                </a:solidFill>
              </a:rPr>
              <a:t>M</a:t>
            </a:r>
            <a:r>
              <a:rPr lang="pt-BR" altLang="zh-CN" dirty="0"/>
              <a:t>”</a:t>
            </a:r>
            <a:r>
              <a:rPr lang="zh-CN" altLang="pt-BR" dirty="0"/>
              <a:t>进行编码（最高位为</a:t>
            </a:r>
            <a:r>
              <a:rPr lang="pt-BR" altLang="zh-CN" dirty="0"/>
              <a:t>0</a:t>
            </a:r>
            <a:r>
              <a:rPr lang="zh-CN" altLang="pt-BR" dirty="0"/>
              <a:t>）。人为地引入一个</a:t>
            </a:r>
            <a:r>
              <a:rPr lang="pt-BR" altLang="zh-CN" dirty="0"/>
              <a:t>1</a:t>
            </a:r>
            <a:r>
              <a:rPr lang="zh-CN" altLang="pt-BR" dirty="0"/>
              <a:t>位错误，说明如何找出这个错误。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/>
              <a:t>【</a:t>
            </a:r>
            <a:r>
              <a:rPr lang="zh-CN" altLang="pt-BR" dirty="0"/>
              <a:t>解</a:t>
            </a:r>
            <a:r>
              <a:rPr lang="pt-BR" altLang="zh-CN" dirty="0"/>
              <a:t>】</a:t>
            </a:r>
            <a:r>
              <a:rPr lang="zh-CN" altLang="pt-BR" dirty="0"/>
              <a:t>字符“</a:t>
            </a:r>
            <a:r>
              <a:rPr lang="pt-BR" altLang="zh-CN" dirty="0"/>
              <a:t>M</a:t>
            </a:r>
            <a:r>
              <a:rPr lang="zh-CN" altLang="en-US" dirty="0"/>
              <a:t>”</a:t>
            </a:r>
            <a:r>
              <a:rPr lang="zh-CN" altLang="pt-BR" dirty="0"/>
              <a:t>的</a:t>
            </a:r>
            <a:r>
              <a:rPr lang="pt-BR" altLang="zh-CN" dirty="0"/>
              <a:t>ASCII</a:t>
            </a:r>
            <a:r>
              <a:rPr lang="zh-CN" altLang="pt-BR" dirty="0"/>
              <a:t>编码为</a:t>
            </a:r>
            <a:r>
              <a:rPr lang="pt-BR" altLang="zh-CN" dirty="0">
                <a:solidFill>
                  <a:srgbClr val="0000FF"/>
                </a:solidFill>
                <a:latin typeface="Arial" charset="0"/>
              </a:rPr>
              <a:t>01001101</a:t>
            </a:r>
            <a:r>
              <a:rPr lang="zh-CN" altLang="pt-BR" dirty="0"/>
              <a:t>。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>
                <a:solidFill>
                  <a:srgbClr val="CC0066"/>
                </a:solidFill>
              </a:rPr>
              <a:t>     ①</a:t>
            </a:r>
            <a:r>
              <a:rPr lang="pt-BR" altLang="zh-CN" dirty="0"/>
              <a:t> 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确定所需</a:t>
            </a:r>
            <a:r>
              <a:rPr lang="zh-CN" altLang="pt-BR" dirty="0">
                <a:solidFill>
                  <a:srgbClr val="FF0000"/>
                </a:solidFill>
                <a:cs typeface="Times New Roman" pitchFamily="18" charset="0"/>
              </a:rPr>
              <a:t>校验位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的数目。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	数据位的位数</a:t>
            </a:r>
            <a:r>
              <a:rPr lang="pt-BR" altLang="zh-CN" i="1" dirty="0">
                <a:solidFill>
                  <a:srgbClr val="000000"/>
                </a:solidFill>
              </a:rPr>
              <a:t>n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</a:rPr>
              <a:t>8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，设校验位的位数为</a:t>
            </a:r>
            <a:r>
              <a:rPr lang="pt-BR" altLang="zh-CN" i="1" dirty="0">
                <a:solidFill>
                  <a:srgbClr val="000000"/>
                </a:solidFill>
              </a:rPr>
              <a:t>k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，</a:t>
            </a:r>
          </a:p>
          <a:p>
            <a:pPr marL="0" indent="0">
              <a:spcBef>
                <a:spcPct val="15000"/>
              </a:spcBef>
              <a:buNone/>
            </a:pP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	则根据不等式</a:t>
            </a:r>
            <a:r>
              <a:rPr lang="pt-BR" altLang="zh-CN" dirty="0">
                <a:solidFill>
                  <a:srgbClr val="000000"/>
                </a:solidFill>
              </a:rPr>
              <a:t>2</a:t>
            </a:r>
            <a:r>
              <a:rPr lang="pt-BR" altLang="zh-CN" i="1" baseline="50000" dirty="0">
                <a:solidFill>
                  <a:srgbClr val="000000"/>
                </a:solidFill>
              </a:rPr>
              <a:t>k</a:t>
            </a:r>
            <a:r>
              <a:rPr lang="zh-CN" altLang="en-US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≥</a:t>
            </a:r>
            <a:r>
              <a:rPr lang="pt-BR" altLang="zh-CN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(</a:t>
            </a:r>
            <a:r>
              <a:rPr lang="pt-BR" altLang="zh-CN" i="1" dirty="0">
                <a:solidFill>
                  <a:srgbClr val="000000"/>
                </a:solidFill>
                <a:cs typeface="Times New Roman" pitchFamily="18" charset="0"/>
              </a:rPr>
              <a:t>n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＋</a:t>
            </a:r>
            <a:r>
              <a:rPr lang="en-US" altLang="zh-CN" i="1" dirty="0">
                <a:solidFill>
                  <a:srgbClr val="000000"/>
                </a:solidFill>
                <a:cs typeface="Times New Roman" pitchFamily="18" charset="0"/>
              </a:rPr>
              <a:t>k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＋</a:t>
            </a:r>
            <a:r>
              <a:rPr lang="pt-BR" altLang="zh-CN" dirty="0">
                <a:solidFill>
                  <a:srgbClr val="000000"/>
                </a:solidFill>
              </a:rPr>
              <a:t>1</a:t>
            </a:r>
            <a:r>
              <a:rPr lang="pt-BR" altLang="zh-CN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)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，</a:t>
            </a:r>
          </a:p>
          <a:p>
            <a:pPr marL="0" indent="0">
              <a:spcBef>
                <a:spcPct val="15000"/>
              </a:spcBef>
              <a:buNone/>
            </a:pP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	即</a:t>
            </a:r>
            <a:r>
              <a:rPr lang="pt-BR" altLang="zh-CN" dirty="0">
                <a:solidFill>
                  <a:srgbClr val="000000"/>
                </a:solidFill>
              </a:rPr>
              <a:t>2</a:t>
            </a:r>
            <a:r>
              <a:rPr lang="pt-BR" altLang="zh-CN" i="1" baseline="50000" dirty="0">
                <a:solidFill>
                  <a:srgbClr val="000000"/>
                </a:solidFill>
              </a:rPr>
              <a:t>k</a:t>
            </a:r>
            <a:r>
              <a:rPr lang="zh-CN" altLang="en-US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≥</a:t>
            </a:r>
            <a:r>
              <a:rPr lang="pt-BR" altLang="zh-CN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(</a:t>
            </a:r>
            <a:r>
              <a:rPr lang="pt-BR" altLang="zh-CN" i="1" dirty="0">
                <a:solidFill>
                  <a:srgbClr val="000000"/>
                </a:solidFill>
              </a:rPr>
              <a:t>k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＋</a:t>
            </a:r>
            <a:r>
              <a:rPr lang="pt-BR" altLang="zh-CN" dirty="0">
                <a:solidFill>
                  <a:srgbClr val="000000"/>
                </a:solidFill>
              </a:rPr>
              <a:t>9</a:t>
            </a:r>
            <a:r>
              <a:rPr lang="pt-BR" altLang="zh-CN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)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，有</a:t>
            </a:r>
            <a:r>
              <a:rPr lang="pt-BR" altLang="zh-CN" i="1" dirty="0">
                <a:solidFill>
                  <a:srgbClr val="000000"/>
                </a:solidFill>
              </a:rPr>
              <a:t>k</a:t>
            </a:r>
            <a:r>
              <a:rPr lang="pt-BR" altLang="zh-CN" dirty="0">
                <a:solidFill>
                  <a:srgbClr val="000000"/>
                </a:solidFill>
                <a:latin typeface="+mn-ea"/>
                <a:cs typeface="Times New Roman" pitchFamily="18" charset="0"/>
              </a:rPr>
              <a:t>≥</a:t>
            </a:r>
            <a:r>
              <a:rPr lang="pt-BR" altLang="zh-CN" dirty="0">
                <a:solidFill>
                  <a:srgbClr val="000000"/>
                </a:solidFill>
              </a:rPr>
              <a:t>4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。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	选择</a:t>
            </a:r>
            <a:r>
              <a:rPr lang="pt-BR" altLang="zh-CN" i="1" dirty="0">
                <a:solidFill>
                  <a:srgbClr val="000000"/>
                </a:solidFill>
              </a:rPr>
              <a:t>k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</a:rPr>
              <a:t>4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，则编码字共</a:t>
            </a:r>
            <a:r>
              <a:rPr lang="pt-BR" altLang="zh-CN" i="1" dirty="0">
                <a:solidFill>
                  <a:srgbClr val="000000"/>
                </a:solidFill>
              </a:rPr>
              <a:t>n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＋</a:t>
            </a:r>
            <a:r>
              <a:rPr lang="pt-BR" altLang="zh-CN" i="1" dirty="0">
                <a:solidFill>
                  <a:srgbClr val="000000"/>
                </a:solidFill>
              </a:rPr>
              <a:t>k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CC0000"/>
                </a:solidFill>
              </a:rPr>
              <a:t>12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位。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     </a:t>
            </a:r>
            <a:r>
              <a:rPr lang="pt-BR" altLang="zh-CN" dirty="0">
                <a:solidFill>
                  <a:srgbClr val="CC0066"/>
                </a:solidFill>
                <a:cs typeface="Times New Roman" pitchFamily="18" charset="0"/>
              </a:rPr>
              <a:t>②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编码字：</a:t>
            </a:r>
            <a:endParaRPr lang="zh-CN" altLang="en-US" dirty="0"/>
          </a:p>
        </p:txBody>
      </p:sp>
      <p:graphicFrame>
        <p:nvGraphicFramePr>
          <p:cNvPr id="1360035" name="Group 163"/>
          <p:cNvGraphicFramePr>
            <a:graphicFrameLocks noGrp="1"/>
          </p:cNvGraphicFramePr>
          <p:nvPr/>
        </p:nvGraphicFramePr>
        <p:xfrm>
          <a:off x="1187450" y="5386388"/>
          <a:ext cx="6985000" cy="1067435"/>
        </p:xfrm>
        <a:graphic>
          <a:graphicData uri="http://schemas.openxmlformats.org/drawingml/2006/table">
            <a:tbl>
              <a:tblPr/>
              <a:tblGrid>
                <a:gridCol w="582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6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26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26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26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26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8261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8261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12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9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8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60036" name="Rectangle 164"/>
          <p:cNvSpPr>
            <a:spLocks noChangeArrowheads="1"/>
          </p:cNvSpPr>
          <p:nvPr/>
        </p:nvSpPr>
        <p:spPr bwMode="auto">
          <a:xfrm>
            <a:off x="1187450" y="5386388"/>
            <a:ext cx="576263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0</a:t>
            </a:r>
          </a:p>
        </p:txBody>
      </p:sp>
      <p:sp>
        <p:nvSpPr>
          <p:cNvPr id="1360037" name="Rectangle 165"/>
          <p:cNvSpPr>
            <a:spLocks noChangeArrowheads="1"/>
          </p:cNvSpPr>
          <p:nvPr/>
        </p:nvSpPr>
        <p:spPr bwMode="auto">
          <a:xfrm>
            <a:off x="1763713" y="5386388"/>
            <a:ext cx="576262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1</a:t>
            </a:r>
          </a:p>
        </p:txBody>
      </p:sp>
      <p:sp>
        <p:nvSpPr>
          <p:cNvPr id="1360038" name="Rectangle 166"/>
          <p:cNvSpPr>
            <a:spLocks noChangeArrowheads="1"/>
          </p:cNvSpPr>
          <p:nvPr/>
        </p:nvSpPr>
        <p:spPr bwMode="auto">
          <a:xfrm>
            <a:off x="2339975" y="5386388"/>
            <a:ext cx="576263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0</a:t>
            </a:r>
          </a:p>
        </p:txBody>
      </p:sp>
      <p:sp>
        <p:nvSpPr>
          <p:cNvPr id="1360039" name="Rectangle 167"/>
          <p:cNvSpPr>
            <a:spLocks noChangeArrowheads="1"/>
          </p:cNvSpPr>
          <p:nvPr/>
        </p:nvSpPr>
        <p:spPr bwMode="auto">
          <a:xfrm>
            <a:off x="2916238" y="5386388"/>
            <a:ext cx="576262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0</a:t>
            </a:r>
          </a:p>
        </p:txBody>
      </p:sp>
      <p:sp>
        <p:nvSpPr>
          <p:cNvPr id="1360040" name="Rectangle 168"/>
          <p:cNvSpPr>
            <a:spLocks noChangeArrowheads="1"/>
          </p:cNvSpPr>
          <p:nvPr/>
        </p:nvSpPr>
        <p:spPr bwMode="auto">
          <a:xfrm>
            <a:off x="4067175" y="5386388"/>
            <a:ext cx="576263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1</a:t>
            </a:r>
          </a:p>
        </p:txBody>
      </p:sp>
      <p:sp>
        <p:nvSpPr>
          <p:cNvPr id="1360041" name="Rectangle 169"/>
          <p:cNvSpPr>
            <a:spLocks noChangeArrowheads="1"/>
          </p:cNvSpPr>
          <p:nvPr/>
        </p:nvSpPr>
        <p:spPr bwMode="auto">
          <a:xfrm>
            <a:off x="4716463" y="5386388"/>
            <a:ext cx="576262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1</a:t>
            </a:r>
          </a:p>
        </p:txBody>
      </p:sp>
      <p:sp>
        <p:nvSpPr>
          <p:cNvPr id="1360042" name="Rectangle 170"/>
          <p:cNvSpPr>
            <a:spLocks noChangeArrowheads="1"/>
          </p:cNvSpPr>
          <p:nvPr/>
        </p:nvSpPr>
        <p:spPr bwMode="auto">
          <a:xfrm>
            <a:off x="5292725" y="5386388"/>
            <a:ext cx="576263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0</a:t>
            </a:r>
          </a:p>
        </p:txBody>
      </p:sp>
      <p:sp>
        <p:nvSpPr>
          <p:cNvPr id="1360043" name="Rectangle 171"/>
          <p:cNvSpPr>
            <a:spLocks noChangeArrowheads="1"/>
          </p:cNvSpPr>
          <p:nvPr/>
        </p:nvSpPr>
        <p:spPr bwMode="auto">
          <a:xfrm>
            <a:off x="6443663" y="5386388"/>
            <a:ext cx="576262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1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60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60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600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600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600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600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600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600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600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600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600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600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600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600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0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600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600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0036" grpId="0"/>
      <p:bldP spid="1360037" grpId="0"/>
      <p:bldP spid="1360038" grpId="0"/>
      <p:bldP spid="1360039" grpId="0"/>
      <p:bldP spid="1360040" grpId="0"/>
      <p:bldP spid="1360041" grpId="0"/>
      <p:bldP spid="1360042" grpId="0"/>
      <p:bldP spid="136004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6A0F4EE-5929-48B8-B0F8-C2DD7B5C3722}" type="slidenum">
              <a:rPr lang="zh-CN" altLang="en-US"/>
              <a:pPr/>
              <a:t>28</a:t>
            </a:fld>
            <a:endParaRPr lang="en-US" altLang="zh-CN"/>
          </a:p>
        </p:txBody>
      </p:sp>
      <p:sp>
        <p:nvSpPr>
          <p:cNvPr id="136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三、海明码        </a:t>
            </a:r>
            <a:r>
              <a:rPr lang="en-US" altLang="zh-CN" dirty="0">
                <a:solidFill>
                  <a:srgbClr val="CC0066"/>
                </a:solidFill>
              </a:rPr>
              <a:t>1. </a:t>
            </a:r>
            <a:r>
              <a:rPr lang="zh-CN" altLang="en-US" dirty="0">
                <a:solidFill>
                  <a:srgbClr val="FF6600"/>
                </a:solidFill>
              </a:rPr>
              <a:t>检错</a:t>
            </a:r>
            <a:r>
              <a:rPr lang="zh-CN" altLang="en-US" dirty="0">
                <a:solidFill>
                  <a:srgbClr val="CC0066"/>
                </a:solidFill>
              </a:rPr>
              <a:t>和</a:t>
            </a:r>
            <a:r>
              <a:rPr lang="zh-CN" altLang="en-US" dirty="0">
                <a:solidFill>
                  <a:srgbClr val="FF3399"/>
                </a:solidFill>
              </a:rPr>
              <a:t>纠错</a:t>
            </a:r>
            <a:endParaRPr lang="zh-CN" altLang="en-US" dirty="0">
              <a:solidFill>
                <a:srgbClr val="CC0066"/>
              </a:solidFill>
            </a:endParaRPr>
          </a:p>
        </p:txBody>
      </p:sp>
      <p:sp>
        <p:nvSpPr>
          <p:cNvPr id="136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549275"/>
            <a:ext cx="8785225" cy="6119813"/>
          </a:xfrm>
        </p:spPr>
        <p:txBody>
          <a:bodyPr/>
          <a:lstStyle/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/>
              <a:t>【</a:t>
            </a:r>
            <a:r>
              <a:rPr lang="zh-CN" altLang="pt-BR" dirty="0"/>
              <a:t>例</a:t>
            </a:r>
            <a:r>
              <a:rPr lang="pt-BR" altLang="zh-CN" dirty="0"/>
              <a:t>】</a:t>
            </a:r>
            <a:r>
              <a:rPr lang="zh-CN" altLang="pt-BR" dirty="0"/>
              <a:t>利用上述构造海明码的步骤，采用</a:t>
            </a:r>
            <a:r>
              <a:rPr lang="zh-CN" altLang="pt-BR" dirty="0">
                <a:solidFill>
                  <a:srgbClr val="FF0000"/>
                </a:solidFill>
              </a:rPr>
              <a:t>偶校验</a:t>
            </a:r>
            <a:r>
              <a:rPr lang="zh-CN" altLang="pt-BR" dirty="0"/>
              <a:t>，对</a:t>
            </a:r>
            <a:r>
              <a:rPr lang="pt-BR" altLang="zh-CN" dirty="0"/>
              <a:t>8</a:t>
            </a:r>
            <a:r>
              <a:rPr lang="zh-CN" altLang="pt-BR" dirty="0"/>
              <a:t>位</a:t>
            </a:r>
            <a:r>
              <a:rPr lang="pt-BR" altLang="zh-CN" dirty="0"/>
              <a:t>ASCII</a:t>
            </a:r>
            <a:r>
              <a:rPr lang="zh-CN" altLang="pt-BR" dirty="0"/>
              <a:t>字符“</a:t>
            </a:r>
            <a:r>
              <a:rPr lang="pt-BR" altLang="zh-CN" dirty="0">
                <a:solidFill>
                  <a:srgbClr val="0000FF"/>
                </a:solidFill>
              </a:rPr>
              <a:t>M</a:t>
            </a:r>
            <a:r>
              <a:rPr lang="pt-BR" altLang="zh-CN" dirty="0"/>
              <a:t>”</a:t>
            </a:r>
            <a:r>
              <a:rPr lang="zh-CN" altLang="pt-BR" dirty="0"/>
              <a:t>进行编码（最高位为</a:t>
            </a:r>
            <a:r>
              <a:rPr lang="pt-BR" altLang="zh-CN" dirty="0"/>
              <a:t>0</a:t>
            </a:r>
            <a:r>
              <a:rPr lang="zh-CN" altLang="pt-BR" dirty="0"/>
              <a:t>）。人为地引入一个</a:t>
            </a:r>
            <a:r>
              <a:rPr lang="pt-BR" altLang="zh-CN" dirty="0"/>
              <a:t>1</a:t>
            </a:r>
            <a:r>
              <a:rPr lang="zh-CN" altLang="pt-BR" dirty="0"/>
              <a:t>位错误，说明如何找出这个错误。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/>
              <a:t>【</a:t>
            </a:r>
            <a:r>
              <a:rPr lang="zh-CN" altLang="pt-BR" dirty="0"/>
              <a:t>解</a:t>
            </a:r>
            <a:r>
              <a:rPr lang="pt-BR" altLang="zh-CN" dirty="0"/>
              <a:t>】</a:t>
            </a:r>
            <a:r>
              <a:rPr lang="zh-CN" altLang="pt-BR" dirty="0"/>
              <a:t>字符“</a:t>
            </a:r>
            <a:r>
              <a:rPr lang="pt-BR" altLang="zh-CN" dirty="0"/>
              <a:t>M”</a:t>
            </a:r>
            <a:r>
              <a:rPr lang="zh-CN" altLang="pt-BR" dirty="0"/>
              <a:t>的</a:t>
            </a:r>
            <a:r>
              <a:rPr lang="pt-BR" altLang="zh-CN" dirty="0"/>
              <a:t>ASCII</a:t>
            </a:r>
            <a:r>
              <a:rPr lang="zh-CN" altLang="pt-BR" dirty="0"/>
              <a:t>编码为</a:t>
            </a:r>
            <a:r>
              <a:rPr lang="pt-BR" altLang="zh-CN" dirty="0">
                <a:solidFill>
                  <a:srgbClr val="0000FF"/>
                </a:solidFill>
                <a:latin typeface="Arial" charset="0"/>
              </a:rPr>
              <a:t>01001101</a:t>
            </a:r>
            <a:r>
              <a:rPr lang="zh-CN" altLang="pt-BR" dirty="0"/>
              <a:t>。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>
                <a:solidFill>
                  <a:srgbClr val="CC0066"/>
                </a:solidFill>
              </a:rPr>
              <a:t>     ③</a:t>
            </a:r>
            <a:r>
              <a:rPr lang="pt-BR" altLang="zh-CN" dirty="0"/>
              <a:t> 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确定奇偶校验位的值：</a:t>
            </a:r>
            <a:endParaRPr lang="zh-CN" altLang="en-US" dirty="0">
              <a:solidFill>
                <a:srgbClr val="000000"/>
              </a:solidFill>
              <a:cs typeface="Times New Roman" pitchFamily="18" charset="0"/>
            </a:endParaRPr>
          </a:p>
        </p:txBody>
      </p:sp>
      <p:graphicFrame>
        <p:nvGraphicFramePr>
          <p:cNvPr id="1361924" name="Group 4"/>
          <p:cNvGraphicFramePr>
            <a:graphicFrameLocks noGrp="1"/>
          </p:cNvGraphicFramePr>
          <p:nvPr/>
        </p:nvGraphicFramePr>
        <p:xfrm>
          <a:off x="1187450" y="5386388"/>
          <a:ext cx="6985000" cy="1067435"/>
        </p:xfrm>
        <a:graphic>
          <a:graphicData uri="http://schemas.openxmlformats.org/drawingml/2006/table">
            <a:tbl>
              <a:tblPr/>
              <a:tblGrid>
                <a:gridCol w="582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6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26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26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26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26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8261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8261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12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9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8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61978" name="Rectangle 58"/>
          <p:cNvSpPr>
            <a:spLocks noChangeArrowheads="1"/>
          </p:cNvSpPr>
          <p:nvPr/>
        </p:nvSpPr>
        <p:spPr bwMode="auto">
          <a:xfrm>
            <a:off x="1187450" y="5386388"/>
            <a:ext cx="576263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0</a:t>
            </a:r>
          </a:p>
        </p:txBody>
      </p:sp>
      <p:sp>
        <p:nvSpPr>
          <p:cNvPr id="1361979" name="Rectangle 59"/>
          <p:cNvSpPr>
            <a:spLocks noChangeArrowheads="1"/>
          </p:cNvSpPr>
          <p:nvPr/>
        </p:nvSpPr>
        <p:spPr bwMode="auto">
          <a:xfrm>
            <a:off x="1763713" y="5386388"/>
            <a:ext cx="576262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1</a:t>
            </a:r>
          </a:p>
        </p:txBody>
      </p:sp>
      <p:sp>
        <p:nvSpPr>
          <p:cNvPr id="1361980" name="Rectangle 60"/>
          <p:cNvSpPr>
            <a:spLocks noChangeArrowheads="1"/>
          </p:cNvSpPr>
          <p:nvPr/>
        </p:nvSpPr>
        <p:spPr bwMode="auto">
          <a:xfrm>
            <a:off x="2339975" y="5386388"/>
            <a:ext cx="576263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0</a:t>
            </a:r>
          </a:p>
        </p:txBody>
      </p:sp>
      <p:sp>
        <p:nvSpPr>
          <p:cNvPr id="1361981" name="Rectangle 61"/>
          <p:cNvSpPr>
            <a:spLocks noChangeArrowheads="1"/>
          </p:cNvSpPr>
          <p:nvPr/>
        </p:nvSpPr>
        <p:spPr bwMode="auto">
          <a:xfrm>
            <a:off x="2916238" y="5386388"/>
            <a:ext cx="576262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0</a:t>
            </a:r>
          </a:p>
        </p:txBody>
      </p:sp>
      <p:sp>
        <p:nvSpPr>
          <p:cNvPr id="1361982" name="Rectangle 62"/>
          <p:cNvSpPr>
            <a:spLocks noChangeArrowheads="1"/>
          </p:cNvSpPr>
          <p:nvPr/>
        </p:nvSpPr>
        <p:spPr bwMode="auto">
          <a:xfrm>
            <a:off x="4067175" y="5386388"/>
            <a:ext cx="576263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1</a:t>
            </a:r>
          </a:p>
        </p:txBody>
      </p:sp>
      <p:sp>
        <p:nvSpPr>
          <p:cNvPr id="1361983" name="Rectangle 63"/>
          <p:cNvSpPr>
            <a:spLocks noChangeArrowheads="1"/>
          </p:cNvSpPr>
          <p:nvPr/>
        </p:nvSpPr>
        <p:spPr bwMode="auto">
          <a:xfrm>
            <a:off x="4716463" y="5386388"/>
            <a:ext cx="576262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1</a:t>
            </a:r>
          </a:p>
        </p:txBody>
      </p:sp>
      <p:sp>
        <p:nvSpPr>
          <p:cNvPr id="1361984" name="Rectangle 64"/>
          <p:cNvSpPr>
            <a:spLocks noChangeArrowheads="1"/>
          </p:cNvSpPr>
          <p:nvPr/>
        </p:nvSpPr>
        <p:spPr bwMode="auto">
          <a:xfrm>
            <a:off x="5292725" y="5386388"/>
            <a:ext cx="576263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0</a:t>
            </a:r>
          </a:p>
        </p:txBody>
      </p:sp>
      <p:sp>
        <p:nvSpPr>
          <p:cNvPr id="1361985" name="Rectangle 65"/>
          <p:cNvSpPr>
            <a:spLocks noChangeArrowheads="1"/>
          </p:cNvSpPr>
          <p:nvPr/>
        </p:nvSpPr>
        <p:spPr bwMode="auto">
          <a:xfrm>
            <a:off x="6443663" y="5386388"/>
            <a:ext cx="576262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1</a:t>
            </a:r>
          </a:p>
        </p:txBody>
      </p:sp>
      <p:sp>
        <p:nvSpPr>
          <p:cNvPr id="1361986" name="Text Box 66"/>
          <p:cNvSpPr txBox="1">
            <a:spLocks noChangeArrowheads="1"/>
          </p:cNvSpPr>
          <p:nvPr/>
        </p:nvSpPr>
        <p:spPr bwMode="auto">
          <a:xfrm>
            <a:off x="4679950" y="2420938"/>
            <a:ext cx="1763713" cy="26543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1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latin typeface="Arial" charset="0"/>
              </a:rPr>
              <a:t>1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2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latin typeface="Arial" charset="0"/>
              </a:rPr>
              <a:t>2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3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latin typeface="Arial" charset="0"/>
              </a:rPr>
              <a:t>1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latin typeface="Arial" charset="0"/>
              </a:rPr>
              <a:t>2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4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latin typeface="Arial" charset="0"/>
              </a:rPr>
              <a:t>4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5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latin typeface="Arial" charset="0"/>
              </a:rPr>
              <a:t>1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latin typeface="Arial" charset="0"/>
              </a:rPr>
              <a:t>4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6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latin typeface="Arial" charset="0"/>
              </a:rPr>
              <a:t>2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latin typeface="Arial" charset="0"/>
              </a:rPr>
              <a:t>4</a:t>
            </a:r>
          </a:p>
        </p:txBody>
      </p:sp>
      <p:sp>
        <p:nvSpPr>
          <p:cNvPr id="1361987" name="Text Box 67"/>
          <p:cNvSpPr txBox="1">
            <a:spLocks noChangeArrowheads="1"/>
          </p:cNvSpPr>
          <p:nvPr/>
        </p:nvSpPr>
        <p:spPr bwMode="auto">
          <a:xfrm>
            <a:off x="6443663" y="2420938"/>
            <a:ext cx="2449512" cy="26543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  7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latin typeface="Arial" charset="0"/>
              </a:rPr>
              <a:t>1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latin typeface="Arial" charset="0"/>
              </a:rPr>
              <a:t>2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latin typeface="Arial" charset="0"/>
              </a:rPr>
              <a:t>4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  8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latin typeface="Arial" charset="0"/>
              </a:rPr>
              <a:t>8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  9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latin typeface="Arial" charset="0"/>
              </a:rPr>
              <a:t>1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latin typeface="Arial" charset="0"/>
              </a:rPr>
              <a:t>8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10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latin typeface="Arial" charset="0"/>
              </a:rPr>
              <a:t>2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latin typeface="Arial" charset="0"/>
              </a:rPr>
              <a:t>8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11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latin typeface="Arial" charset="0"/>
              </a:rPr>
              <a:t>1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latin typeface="Arial" charset="0"/>
              </a:rPr>
              <a:t>2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latin typeface="Arial" charset="0"/>
              </a:rPr>
              <a:t>8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12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latin typeface="Arial" charset="0"/>
              </a:rPr>
              <a:t>4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latin typeface="Arial" charset="0"/>
              </a:rPr>
              <a:t>8</a:t>
            </a: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99F668-CC3F-45B3-94FF-12873538B936}" type="slidenum">
              <a:rPr lang="zh-CN" altLang="en-US"/>
              <a:pPr/>
              <a:t>29</a:t>
            </a:fld>
            <a:endParaRPr lang="en-US" altLang="zh-CN"/>
          </a:p>
        </p:txBody>
      </p:sp>
      <p:sp>
        <p:nvSpPr>
          <p:cNvPr id="136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三、海明码        </a:t>
            </a:r>
            <a:r>
              <a:rPr lang="en-US" altLang="zh-CN" dirty="0">
                <a:solidFill>
                  <a:srgbClr val="CC0066"/>
                </a:solidFill>
              </a:rPr>
              <a:t>1. </a:t>
            </a:r>
            <a:r>
              <a:rPr lang="zh-CN" altLang="en-US" dirty="0">
                <a:solidFill>
                  <a:srgbClr val="FF6600"/>
                </a:solidFill>
              </a:rPr>
              <a:t>检错</a:t>
            </a:r>
            <a:r>
              <a:rPr lang="zh-CN" altLang="en-US" dirty="0">
                <a:solidFill>
                  <a:srgbClr val="CC0066"/>
                </a:solidFill>
              </a:rPr>
              <a:t>和</a:t>
            </a:r>
            <a:r>
              <a:rPr lang="zh-CN" altLang="en-US" dirty="0">
                <a:solidFill>
                  <a:srgbClr val="FF3399"/>
                </a:solidFill>
              </a:rPr>
              <a:t>纠错</a:t>
            </a:r>
            <a:endParaRPr lang="zh-CN" altLang="en-US" dirty="0">
              <a:solidFill>
                <a:srgbClr val="CC0066"/>
              </a:solidFill>
            </a:endParaRPr>
          </a:p>
        </p:txBody>
      </p:sp>
      <p:sp>
        <p:nvSpPr>
          <p:cNvPr id="136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549275"/>
            <a:ext cx="8785225" cy="6119813"/>
          </a:xfrm>
        </p:spPr>
        <p:txBody>
          <a:bodyPr/>
          <a:lstStyle/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/>
              <a:t>【</a:t>
            </a:r>
            <a:r>
              <a:rPr lang="zh-CN" altLang="pt-BR" dirty="0"/>
              <a:t>例</a:t>
            </a:r>
            <a:r>
              <a:rPr lang="pt-BR" altLang="zh-CN" dirty="0"/>
              <a:t>】</a:t>
            </a:r>
            <a:r>
              <a:rPr lang="zh-CN" altLang="pt-BR" dirty="0"/>
              <a:t>利用上述构造海明码的步骤，采用</a:t>
            </a:r>
            <a:r>
              <a:rPr lang="zh-CN" altLang="pt-BR" dirty="0">
                <a:solidFill>
                  <a:srgbClr val="FF0000"/>
                </a:solidFill>
              </a:rPr>
              <a:t>偶校验</a:t>
            </a:r>
            <a:r>
              <a:rPr lang="zh-CN" altLang="pt-BR" dirty="0"/>
              <a:t>，对</a:t>
            </a:r>
            <a:r>
              <a:rPr lang="pt-BR" altLang="zh-CN" dirty="0"/>
              <a:t>8</a:t>
            </a:r>
            <a:r>
              <a:rPr lang="zh-CN" altLang="pt-BR" dirty="0"/>
              <a:t>位</a:t>
            </a:r>
            <a:r>
              <a:rPr lang="pt-BR" altLang="zh-CN" dirty="0"/>
              <a:t>ASCII</a:t>
            </a:r>
            <a:r>
              <a:rPr lang="zh-CN" altLang="pt-BR" dirty="0"/>
              <a:t>字符“</a:t>
            </a:r>
            <a:r>
              <a:rPr lang="pt-BR" altLang="zh-CN" dirty="0">
                <a:solidFill>
                  <a:srgbClr val="0000FF"/>
                </a:solidFill>
              </a:rPr>
              <a:t>M</a:t>
            </a:r>
            <a:r>
              <a:rPr lang="pt-BR" altLang="zh-CN" dirty="0"/>
              <a:t>”</a:t>
            </a:r>
            <a:r>
              <a:rPr lang="zh-CN" altLang="pt-BR" dirty="0"/>
              <a:t>进行编码（最高位为</a:t>
            </a:r>
            <a:r>
              <a:rPr lang="pt-BR" altLang="zh-CN" dirty="0"/>
              <a:t>0</a:t>
            </a:r>
            <a:r>
              <a:rPr lang="zh-CN" altLang="pt-BR" dirty="0"/>
              <a:t>）。人为地引入一个</a:t>
            </a:r>
            <a:r>
              <a:rPr lang="pt-BR" altLang="zh-CN" dirty="0"/>
              <a:t>1</a:t>
            </a:r>
            <a:r>
              <a:rPr lang="zh-CN" altLang="pt-BR" dirty="0"/>
              <a:t>位错误，说明如何找出这个错误。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/>
              <a:t>【</a:t>
            </a:r>
            <a:r>
              <a:rPr lang="zh-CN" altLang="pt-BR" dirty="0"/>
              <a:t>解</a:t>
            </a:r>
            <a:r>
              <a:rPr lang="pt-BR" altLang="zh-CN" dirty="0"/>
              <a:t>】</a:t>
            </a:r>
            <a:r>
              <a:rPr lang="zh-CN" altLang="pt-BR" dirty="0"/>
              <a:t>字符“</a:t>
            </a:r>
            <a:r>
              <a:rPr lang="pt-BR" altLang="zh-CN" dirty="0"/>
              <a:t>M”</a:t>
            </a:r>
            <a:r>
              <a:rPr lang="zh-CN" altLang="pt-BR" dirty="0"/>
              <a:t>的</a:t>
            </a:r>
            <a:r>
              <a:rPr lang="pt-BR" altLang="zh-CN" dirty="0"/>
              <a:t>ASCII</a:t>
            </a:r>
            <a:r>
              <a:rPr lang="zh-CN" altLang="pt-BR" dirty="0"/>
              <a:t>编码为</a:t>
            </a:r>
            <a:r>
              <a:rPr lang="pt-BR" altLang="zh-CN" dirty="0">
                <a:solidFill>
                  <a:srgbClr val="0000FF"/>
                </a:solidFill>
                <a:latin typeface="Arial" charset="0"/>
              </a:rPr>
              <a:t>01001101</a:t>
            </a:r>
            <a:r>
              <a:rPr lang="zh-CN" altLang="pt-BR" dirty="0"/>
              <a:t>。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>
                <a:solidFill>
                  <a:srgbClr val="CC0066"/>
                </a:solidFill>
              </a:rPr>
              <a:t>     ③</a:t>
            </a:r>
            <a:r>
              <a:rPr lang="pt-BR" altLang="zh-CN" dirty="0"/>
              <a:t> 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确定奇偶校验位的值：</a:t>
            </a:r>
            <a:endParaRPr lang="zh-CN" altLang="en-US" dirty="0">
              <a:solidFill>
                <a:srgbClr val="000000"/>
              </a:solidFill>
              <a:cs typeface="Times New Roman" pitchFamily="18" charset="0"/>
            </a:endParaRPr>
          </a:p>
        </p:txBody>
      </p:sp>
      <p:graphicFrame>
        <p:nvGraphicFramePr>
          <p:cNvPr id="1362948" name="Group 4"/>
          <p:cNvGraphicFramePr>
            <a:graphicFrameLocks noGrp="1"/>
          </p:cNvGraphicFramePr>
          <p:nvPr/>
        </p:nvGraphicFramePr>
        <p:xfrm>
          <a:off x="1187450" y="5386388"/>
          <a:ext cx="6985000" cy="1067435"/>
        </p:xfrm>
        <a:graphic>
          <a:graphicData uri="http://schemas.openxmlformats.org/drawingml/2006/table">
            <a:tbl>
              <a:tblPr/>
              <a:tblGrid>
                <a:gridCol w="582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6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26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26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26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26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8261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8261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12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9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8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63002" name="Rectangle 58"/>
          <p:cNvSpPr>
            <a:spLocks noChangeArrowheads="1"/>
          </p:cNvSpPr>
          <p:nvPr/>
        </p:nvSpPr>
        <p:spPr bwMode="auto">
          <a:xfrm>
            <a:off x="1187450" y="5386388"/>
            <a:ext cx="576263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0</a:t>
            </a:r>
          </a:p>
        </p:txBody>
      </p:sp>
      <p:sp>
        <p:nvSpPr>
          <p:cNvPr id="1363003" name="Rectangle 59"/>
          <p:cNvSpPr>
            <a:spLocks noChangeArrowheads="1"/>
          </p:cNvSpPr>
          <p:nvPr/>
        </p:nvSpPr>
        <p:spPr bwMode="auto">
          <a:xfrm>
            <a:off x="1763713" y="5386388"/>
            <a:ext cx="576262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1</a:t>
            </a:r>
          </a:p>
        </p:txBody>
      </p:sp>
      <p:sp>
        <p:nvSpPr>
          <p:cNvPr id="1363004" name="Rectangle 60"/>
          <p:cNvSpPr>
            <a:spLocks noChangeArrowheads="1"/>
          </p:cNvSpPr>
          <p:nvPr/>
        </p:nvSpPr>
        <p:spPr bwMode="auto">
          <a:xfrm>
            <a:off x="2339975" y="5386388"/>
            <a:ext cx="576263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0</a:t>
            </a:r>
          </a:p>
        </p:txBody>
      </p:sp>
      <p:sp>
        <p:nvSpPr>
          <p:cNvPr id="1363005" name="Rectangle 61"/>
          <p:cNvSpPr>
            <a:spLocks noChangeArrowheads="1"/>
          </p:cNvSpPr>
          <p:nvPr/>
        </p:nvSpPr>
        <p:spPr bwMode="auto">
          <a:xfrm>
            <a:off x="2916238" y="5386388"/>
            <a:ext cx="576262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0</a:t>
            </a:r>
          </a:p>
        </p:txBody>
      </p:sp>
      <p:sp>
        <p:nvSpPr>
          <p:cNvPr id="1363006" name="Rectangle 62"/>
          <p:cNvSpPr>
            <a:spLocks noChangeArrowheads="1"/>
          </p:cNvSpPr>
          <p:nvPr/>
        </p:nvSpPr>
        <p:spPr bwMode="auto">
          <a:xfrm>
            <a:off x="4067175" y="5386388"/>
            <a:ext cx="576263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1</a:t>
            </a:r>
          </a:p>
        </p:txBody>
      </p:sp>
      <p:sp>
        <p:nvSpPr>
          <p:cNvPr id="1363007" name="Rectangle 63"/>
          <p:cNvSpPr>
            <a:spLocks noChangeArrowheads="1"/>
          </p:cNvSpPr>
          <p:nvPr/>
        </p:nvSpPr>
        <p:spPr bwMode="auto">
          <a:xfrm>
            <a:off x="4716463" y="5386388"/>
            <a:ext cx="576262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1</a:t>
            </a:r>
          </a:p>
        </p:txBody>
      </p:sp>
      <p:sp>
        <p:nvSpPr>
          <p:cNvPr id="1363008" name="Rectangle 64"/>
          <p:cNvSpPr>
            <a:spLocks noChangeArrowheads="1"/>
          </p:cNvSpPr>
          <p:nvPr/>
        </p:nvSpPr>
        <p:spPr bwMode="auto">
          <a:xfrm>
            <a:off x="5292725" y="5386388"/>
            <a:ext cx="576263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0</a:t>
            </a:r>
          </a:p>
        </p:txBody>
      </p:sp>
      <p:sp>
        <p:nvSpPr>
          <p:cNvPr id="1363009" name="Rectangle 65"/>
          <p:cNvSpPr>
            <a:spLocks noChangeArrowheads="1"/>
          </p:cNvSpPr>
          <p:nvPr/>
        </p:nvSpPr>
        <p:spPr bwMode="auto">
          <a:xfrm>
            <a:off x="6443663" y="5386388"/>
            <a:ext cx="576262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1</a:t>
            </a:r>
          </a:p>
        </p:txBody>
      </p:sp>
      <p:sp>
        <p:nvSpPr>
          <p:cNvPr id="1363010" name="Text Box 66"/>
          <p:cNvSpPr txBox="1">
            <a:spLocks noChangeArrowheads="1"/>
          </p:cNvSpPr>
          <p:nvPr/>
        </p:nvSpPr>
        <p:spPr bwMode="auto">
          <a:xfrm>
            <a:off x="4679950" y="2420938"/>
            <a:ext cx="1763713" cy="26543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CC0066"/>
                </a:solidFill>
                <a:latin typeface="Arial" charset="0"/>
              </a:rPr>
              <a:t>1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solidFill>
                  <a:srgbClr val="FF0000"/>
                </a:solidFill>
                <a:latin typeface="Arial" charset="0"/>
              </a:rPr>
              <a:t>1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2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latin typeface="Arial" charset="0"/>
              </a:rPr>
              <a:t>2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CC0066"/>
                </a:solidFill>
                <a:latin typeface="Arial" charset="0"/>
              </a:rPr>
              <a:t>3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solidFill>
                  <a:srgbClr val="FF0000"/>
                </a:solidFill>
                <a:latin typeface="Arial" charset="0"/>
              </a:rPr>
              <a:t>1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latin typeface="Arial" charset="0"/>
              </a:rPr>
              <a:t>2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4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latin typeface="Arial" charset="0"/>
              </a:rPr>
              <a:t>4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CC0066"/>
                </a:solidFill>
                <a:latin typeface="Arial" charset="0"/>
              </a:rPr>
              <a:t>5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solidFill>
                  <a:srgbClr val="FF0000"/>
                </a:solidFill>
                <a:latin typeface="Arial" charset="0"/>
              </a:rPr>
              <a:t>1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latin typeface="Arial" charset="0"/>
              </a:rPr>
              <a:t>4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6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latin typeface="Arial" charset="0"/>
              </a:rPr>
              <a:t>2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latin typeface="Arial" charset="0"/>
              </a:rPr>
              <a:t>4</a:t>
            </a:r>
          </a:p>
        </p:txBody>
      </p:sp>
      <p:sp>
        <p:nvSpPr>
          <p:cNvPr id="1363011" name="Text Box 67"/>
          <p:cNvSpPr txBox="1">
            <a:spLocks noChangeArrowheads="1"/>
          </p:cNvSpPr>
          <p:nvPr/>
        </p:nvSpPr>
        <p:spPr bwMode="auto">
          <a:xfrm>
            <a:off x="6443663" y="2420938"/>
            <a:ext cx="2449512" cy="26543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  </a:t>
            </a:r>
            <a:r>
              <a:rPr lang="en-US" altLang="zh-CN">
                <a:solidFill>
                  <a:srgbClr val="CC0066"/>
                </a:solidFill>
                <a:latin typeface="Arial" charset="0"/>
              </a:rPr>
              <a:t>7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solidFill>
                  <a:srgbClr val="FF0000"/>
                </a:solidFill>
                <a:latin typeface="Arial" charset="0"/>
              </a:rPr>
              <a:t>1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latin typeface="Arial" charset="0"/>
              </a:rPr>
              <a:t>2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latin typeface="Arial" charset="0"/>
              </a:rPr>
              <a:t>4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  8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latin typeface="Arial" charset="0"/>
              </a:rPr>
              <a:t>8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  </a:t>
            </a:r>
            <a:r>
              <a:rPr lang="en-US" altLang="zh-CN">
                <a:solidFill>
                  <a:srgbClr val="CC0066"/>
                </a:solidFill>
                <a:latin typeface="Arial" charset="0"/>
              </a:rPr>
              <a:t>9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solidFill>
                  <a:srgbClr val="FF0000"/>
                </a:solidFill>
                <a:latin typeface="Arial" charset="0"/>
              </a:rPr>
              <a:t>1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latin typeface="Arial" charset="0"/>
              </a:rPr>
              <a:t>8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10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latin typeface="Arial" charset="0"/>
              </a:rPr>
              <a:t>2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latin typeface="Arial" charset="0"/>
              </a:rPr>
              <a:t>8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CC0066"/>
                </a:solidFill>
                <a:latin typeface="Arial" charset="0"/>
              </a:rPr>
              <a:t>11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solidFill>
                  <a:srgbClr val="FF0000"/>
                </a:solidFill>
                <a:latin typeface="Arial" charset="0"/>
              </a:rPr>
              <a:t>1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latin typeface="Arial" charset="0"/>
              </a:rPr>
              <a:t>2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latin typeface="Arial" charset="0"/>
              </a:rPr>
              <a:t>8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12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latin typeface="Arial" charset="0"/>
              </a:rPr>
              <a:t>4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latin typeface="Arial" charset="0"/>
              </a:rPr>
              <a:t>8</a:t>
            </a:r>
          </a:p>
        </p:txBody>
      </p:sp>
      <p:sp>
        <p:nvSpPr>
          <p:cNvPr id="1363012" name="AutoShape 68"/>
          <p:cNvSpPr>
            <a:spLocks noChangeArrowheads="1"/>
          </p:cNvSpPr>
          <p:nvPr/>
        </p:nvSpPr>
        <p:spPr bwMode="auto">
          <a:xfrm>
            <a:off x="1835150" y="5445125"/>
            <a:ext cx="433388" cy="431800"/>
          </a:xfrm>
          <a:prstGeom prst="roundRect">
            <a:avLst>
              <a:gd name="adj" fmla="val 28375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63013" name="AutoShape 69"/>
          <p:cNvSpPr>
            <a:spLocks noChangeArrowheads="1"/>
          </p:cNvSpPr>
          <p:nvPr/>
        </p:nvSpPr>
        <p:spPr bwMode="auto">
          <a:xfrm>
            <a:off x="2987675" y="5445125"/>
            <a:ext cx="433388" cy="431800"/>
          </a:xfrm>
          <a:prstGeom prst="roundRect">
            <a:avLst>
              <a:gd name="adj" fmla="val 28375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63014" name="AutoShape 70"/>
          <p:cNvSpPr>
            <a:spLocks noChangeArrowheads="1"/>
          </p:cNvSpPr>
          <p:nvPr/>
        </p:nvSpPr>
        <p:spPr bwMode="auto">
          <a:xfrm>
            <a:off x="4140200" y="5445125"/>
            <a:ext cx="433388" cy="431800"/>
          </a:xfrm>
          <a:prstGeom prst="roundRect">
            <a:avLst>
              <a:gd name="adj" fmla="val 28375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63015" name="AutoShape 71"/>
          <p:cNvSpPr>
            <a:spLocks noChangeArrowheads="1"/>
          </p:cNvSpPr>
          <p:nvPr/>
        </p:nvSpPr>
        <p:spPr bwMode="auto">
          <a:xfrm>
            <a:off x="5364163" y="5445125"/>
            <a:ext cx="433387" cy="431800"/>
          </a:xfrm>
          <a:prstGeom prst="roundRect">
            <a:avLst>
              <a:gd name="adj" fmla="val 28375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63016" name="AutoShape 72"/>
          <p:cNvSpPr>
            <a:spLocks noChangeArrowheads="1"/>
          </p:cNvSpPr>
          <p:nvPr/>
        </p:nvSpPr>
        <p:spPr bwMode="auto">
          <a:xfrm>
            <a:off x="6516688" y="5445125"/>
            <a:ext cx="433387" cy="431800"/>
          </a:xfrm>
          <a:prstGeom prst="roundRect">
            <a:avLst>
              <a:gd name="adj" fmla="val 28375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63017" name="AutoShape 73"/>
          <p:cNvSpPr>
            <a:spLocks noChangeArrowheads="1"/>
          </p:cNvSpPr>
          <p:nvPr/>
        </p:nvSpPr>
        <p:spPr bwMode="auto">
          <a:xfrm>
            <a:off x="7667625" y="5445125"/>
            <a:ext cx="433388" cy="431800"/>
          </a:xfrm>
          <a:prstGeom prst="roundRect">
            <a:avLst>
              <a:gd name="adj" fmla="val 28375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63018" name="Rectangle 74"/>
          <p:cNvSpPr>
            <a:spLocks noChangeArrowheads="1"/>
          </p:cNvSpPr>
          <p:nvPr/>
        </p:nvSpPr>
        <p:spPr bwMode="auto">
          <a:xfrm>
            <a:off x="7596188" y="5373688"/>
            <a:ext cx="576262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8000"/>
                </a:solidFill>
                <a:latin typeface="Arial" charset="0"/>
              </a:rPr>
              <a:t>1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630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630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630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630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630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630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630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630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630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630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630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630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630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630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3012" grpId="0" animBg="1"/>
      <p:bldP spid="1363013" grpId="0" animBg="1"/>
      <p:bldP spid="1363014" grpId="0" animBg="1"/>
      <p:bldP spid="1363015" grpId="0" animBg="1"/>
      <p:bldP spid="1363016" grpId="0" animBg="1"/>
      <p:bldP spid="1363017" grpId="0" animBg="1"/>
      <p:bldP spid="136301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38CED76-269C-4F99-A2E8-C7EF5E896C95}" type="slidenum">
              <a:rPr lang="zh-CN" altLang="en-US"/>
              <a:pPr/>
              <a:t>30</a:t>
            </a:fld>
            <a:endParaRPr lang="en-US" altLang="zh-CN"/>
          </a:p>
        </p:txBody>
      </p:sp>
      <p:sp>
        <p:nvSpPr>
          <p:cNvPr id="136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三、海明码        </a:t>
            </a:r>
            <a:r>
              <a:rPr lang="en-US" altLang="zh-CN" dirty="0">
                <a:solidFill>
                  <a:srgbClr val="CC0066"/>
                </a:solidFill>
              </a:rPr>
              <a:t>1. </a:t>
            </a:r>
            <a:r>
              <a:rPr lang="zh-CN" altLang="en-US" dirty="0">
                <a:solidFill>
                  <a:srgbClr val="FF6600"/>
                </a:solidFill>
              </a:rPr>
              <a:t>检错</a:t>
            </a:r>
            <a:r>
              <a:rPr lang="zh-CN" altLang="en-US" dirty="0">
                <a:solidFill>
                  <a:srgbClr val="CC0066"/>
                </a:solidFill>
              </a:rPr>
              <a:t>和</a:t>
            </a:r>
            <a:r>
              <a:rPr lang="zh-CN" altLang="en-US" dirty="0">
                <a:solidFill>
                  <a:srgbClr val="FF3399"/>
                </a:solidFill>
              </a:rPr>
              <a:t>纠错</a:t>
            </a:r>
            <a:endParaRPr lang="zh-CN" altLang="en-US" dirty="0">
              <a:solidFill>
                <a:srgbClr val="CC0066"/>
              </a:solidFill>
            </a:endParaRPr>
          </a:p>
        </p:txBody>
      </p:sp>
      <p:sp>
        <p:nvSpPr>
          <p:cNvPr id="136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549275"/>
            <a:ext cx="8785225" cy="6119813"/>
          </a:xfrm>
        </p:spPr>
        <p:txBody>
          <a:bodyPr/>
          <a:lstStyle/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/>
              <a:t>【</a:t>
            </a:r>
            <a:r>
              <a:rPr lang="zh-CN" altLang="pt-BR" dirty="0"/>
              <a:t>例</a:t>
            </a:r>
            <a:r>
              <a:rPr lang="pt-BR" altLang="zh-CN" dirty="0"/>
              <a:t>】</a:t>
            </a:r>
            <a:r>
              <a:rPr lang="zh-CN" altLang="pt-BR" dirty="0"/>
              <a:t>利用上述构造海明码的步骤，采用</a:t>
            </a:r>
            <a:r>
              <a:rPr lang="zh-CN" altLang="pt-BR" dirty="0">
                <a:solidFill>
                  <a:srgbClr val="FF0000"/>
                </a:solidFill>
              </a:rPr>
              <a:t>偶校验</a:t>
            </a:r>
            <a:r>
              <a:rPr lang="zh-CN" altLang="pt-BR" dirty="0"/>
              <a:t>，对</a:t>
            </a:r>
            <a:r>
              <a:rPr lang="pt-BR" altLang="zh-CN" dirty="0"/>
              <a:t>8</a:t>
            </a:r>
            <a:r>
              <a:rPr lang="zh-CN" altLang="pt-BR" dirty="0"/>
              <a:t>位</a:t>
            </a:r>
            <a:r>
              <a:rPr lang="pt-BR" altLang="zh-CN" dirty="0"/>
              <a:t>ASCII</a:t>
            </a:r>
            <a:r>
              <a:rPr lang="zh-CN" altLang="pt-BR" dirty="0"/>
              <a:t>字符“</a:t>
            </a:r>
            <a:r>
              <a:rPr lang="pt-BR" altLang="zh-CN" dirty="0">
                <a:solidFill>
                  <a:srgbClr val="0000FF"/>
                </a:solidFill>
              </a:rPr>
              <a:t>M</a:t>
            </a:r>
            <a:r>
              <a:rPr lang="pt-BR" altLang="zh-CN" dirty="0"/>
              <a:t>”</a:t>
            </a:r>
            <a:r>
              <a:rPr lang="zh-CN" altLang="pt-BR" dirty="0"/>
              <a:t>进行编码（最高位为</a:t>
            </a:r>
            <a:r>
              <a:rPr lang="pt-BR" altLang="zh-CN" dirty="0"/>
              <a:t>0</a:t>
            </a:r>
            <a:r>
              <a:rPr lang="zh-CN" altLang="pt-BR" dirty="0"/>
              <a:t>）。人为地引入一个</a:t>
            </a:r>
            <a:r>
              <a:rPr lang="pt-BR" altLang="zh-CN" dirty="0"/>
              <a:t>1</a:t>
            </a:r>
            <a:r>
              <a:rPr lang="zh-CN" altLang="pt-BR" dirty="0"/>
              <a:t>位错误，说明如何找出这个错误。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/>
              <a:t>【</a:t>
            </a:r>
            <a:r>
              <a:rPr lang="zh-CN" altLang="pt-BR" dirty="0"/>
              <a:t>解</a:t>
            </a:r>
            <a:r>
              <a:rPr lang="pt-BR" altLang="zh-CN" dirty="0"/>
              <a:t>】</a:t>
            </a:r>
            <a:r>
              <a:rPr lang="zh-CN" altLang="pt-BR" dirty="0"/>
              <a:t>字符“</a:t>
            </a:r>
            <a:r>
              <a:rPr lang="pt-BR" altLang="zh-CN" dirty="0"/>
              <a:t>M”</a:t>
            </a:r>
            <a:r>
              <a:rPr lang="zh-CN" altLang="pt-BR" dirty="0"/>
              <a:t>的</a:t>
            </a:r>
            <a:r>
              <a:rPr lang="pt-BR" altLang="zh-CN" dirty="0"/>
              <a:t>ASCII</a:t>
            </a:r>
            <a:r>
              <a:rPr lang="zh-CN" altLang="pt-BR" dirty="0"/>
              <a:t>编码为</a:t>
            </a:r>
            <a:r>
              <a:rPr lang="pt-BR" altLang="zh-CN" dirty="0">
                <a:solidFill>
                  <a:srgbClr val="0000FF"/>
                </a:solidFill>
                <a:latin typeface="Arial" charset="0"/>
              </a:rPr>
              <a:t>01001101</a:t>
            </a:r>
            <a:r>
              <a:rPr lang="zh-CN" altLang="pt-BR" dirty="0"/>
              <a:t>。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>
                <a:solidFill>
                  <a:srgbClr val="CC0066"/>
                </a:solidFill>
              </a:rPr>
              <a:t>     ③</a:t>
            </a:r>
            <a:r>
              <a:rPr lang="pt-BR" altLang="zh-CN" dirty="0"/>
              <a:t> 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确定奇偶校验位的值：</a:t>
            </a:r>
            <a:endParaRPr lang="zh-CN" altLang="en-US" dirty="0">
              <a:solidFill>
                <a:srgbClr val="000000"/>
              </a:solidFill>
              <a:cs typeface="Times New Roman" pitchFamily="18" charset="0"/>
            </a:endParaRPr>
          </a:p>
        </p:txBody>
      </p:sp>
      <p:graphicFrame>
        <p:nvGraphicFramePr>
          <p:cNvPr id="1363972" name="Group 4"/>
          <p:cNvGraphicFramePr>
            <a:graphicFrameLocks noGrp="1"/>
          </p:cNvGraphicFramePr>
          <p:nvPr/>
        </p:nvGraphicFramePr>
        <p:xfrm>
          <a:off x="1187450" y="5386388"/>
          <a:ext cx="6985000" cy="1067435"/>
        </p:xfrm>
        <a:graphic>
          <a:graphicData uri="http://schemas.openxmlformats.org/drawingml/2006/table">
            <a:tbl>
              <a:tblPr/>
              <a:tblGrid>
                <a:gridCol w="582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6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26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26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26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26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8261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8261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12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9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8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64026" name="Rectangle 58"/>
          <p:cNvSpPr>
            <a:spLocks noChangeArrowheads="1"/>
          </p:cNvSpPr>
          <p:nvPr/>
        </p:nvSpPr>
        <p:spPr bwMode="auto">
          <a:xfrm>
            <a:off x="1187450" y="5386388"/>
            <a:ext cx="576263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0</a:t>
            </a:r>
          </a:p>
        </p:txBody>
      </p:sp>
      <p:sp>
        <p:nvSpPr>
          <p:cNvPr id="1364027" name="Rectangle 59"/>
          <p:cNvSpPr>
            <a:spLocks noChangeArrowheads="1"/>
          </p:cNvSpPr>
          <p:nvPr/>
        </p:nvSpPr>
        <p:spPr bwMode="auto">
          <a:xfrm>
            <a:off x="1763713" y="5386388"/>
            <a:ext cx="576262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1</a:t>
            </a:r>
          </a:p>
        </p:txBody>
      </p:sp>
      <p:sp>
        <p:nvSpPr>
          <p:cNvPr id="1364028" name="Rectangle 60"/>
          <p:cNvSpPr>
            <a:spLocks noChangeArrowheads="1"/>
          </p:cNvSpPr>
          <p:nvPr/>
        </p:nvSpPr>
        <p:spPr bwMode="auto">
          <a:xfrm>
            <a:off x="2339975" y="5386388"/>
            <a:ext cx="576263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0</a:t>
            </a:r>
          </a:p>
        </p:txBody>
      </p:sp>
      <p:sp>
        <p:nvSpPr>
          <p:cNvPr id="1364029" name="Rectangle 61"/>
          <p:cNvSpPr>
            <a:spLocks noChangeArrowheads="1"/>
          </p:cNvSpPr>
          <p:nvPr/>
        </p:nvSpPr>
        <p:spPr bwMode="auto">
          <a:xfrm>
            <a:off x="2916238" y="5386388"/>
            <a:ext cx="576262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0</a:t>
            </a:r>
          </a:p>
        </p:txBody>
      </p:sp>
      <p:sp>
        <p:nvSpPr>
          <p:cNvPr id="1364030" name="Rectangle 62"/>
          <p:cNvSpPr>
            <a:spLocks noChangeArrowheads="1"/>
          </p:cNvSpPr>
          <p:nvPr/>
        </p:nvSpPr>
        <p:spPr bwMode="auto">
          <a:xfrm>
            <a:off x="4067175" y="5386388"/>
            <a:ext cx="576263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1</a:t>
            </a:r>
          </a:p>
        </p:txBody>
      </p:sp>
      <p:sp>
        <p:nvSpPr>
          <p:cNvPr id="1364031" name="Rectangle 63"/>
          <p:cNvSpPr>
            <a:spLocks noChangeArrowheads="1"/>
          </p:cNvSpPr>
          <p:nvPr/>
        </p:nvSpPr>
        <p:spPr bwMode="auto">
          <a:xfrm>
            <a:off x="4716463" y="5386388"/>
            <a:ext cx="576262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1</a:t>
            </a:r>
          </a:p>
        </p:txBody>
      </p:sp>
      <p:sp>
        <p:nvSpPr>
          <p:cNvPr id="1364032" name="Rectangle 64"/>
          <p:cNvSpPr>
            <a:spLocks noChangeArrowheads="1"/>
          </p:cNvSpPr>
          <p:nvPr/>
        </p:nvSpPr>
        <p:spPr bwMode="auto">
          <a:xfrm>
            <a:off x="5292725" y="5386388"/>
            <a:ext cx="576263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0</a:t>
            </a:r>
          </a:p>
        </p:txBody>
      </p:sp>
      <p:sp>
        <p:nvSpPr>
          <p:cNvPr id="1364033" name="Rectangle 65"/>
          <p:cNvSpPr>
            <a:spLocks noChangeArrowheads="1"/>
          </p:cNvSpPr>
          <p:nvPr/>
        </p:nvSpPr>
        <p:spPr bwMode="auto">
          <a:xfrm>
            <a:off x="6443663" y="5386388"/>
            <a:ext cx="576262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1</a:t>
            </a:r>
          </a:p>
        </p:txBody>
      </p:sp>
      <p:sp>
        <p:nvSpPr>
          <p:cNvPr id="1364034" name="Text Box 66"/>
          <p:cNvSpPr txBox="1">
            <a:spLocks noChangeArrowheads="1"/>
          </p:cNvSpPr>
          <p:nvPr/>
        </p:nvSpPr>
        <p:spPr bwMode="auto">
          <a:xfrm>
            <a:off x="4679950" y="2420938"/>
            <a:ext cx="1763713" cy="26543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1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solidFill>
                  <a:schemeClr val="hlink"/>
                </a:solidFill>
                <a:latin typeface="Arial" charset="0"/>
              </a:rPr>
              <a:t>1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CC0066"/>
                </a:solidFill>
                <a:latin typeface="Arial" charset="0"/>
              </a:rPr>
              <a:t>2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solidFill>
                  <a:srgbClr val="FF0000"/>
                </a:solidFill>
                <a:latin typeface="Arial" charset="0"/>
              </a:rPr>
              <a:t>2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CC0066"/>
                </a:solidFill>
                <a:latin typeface="Arial" charset="0"/>
              </a:rPr>
              <a:t>3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solidFill>
                  <a:schemeClr val="hlink"/>
                </a:solidFill>
                <a:latin typeface="Arial" charset="0"/>
              </a:rPr>
              <a:t>1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solidFill>
                  <a:srgbClr val="FF0000"/>
                </a:solidFill>
                <a:latin typeface="Arial" charset="0"/>
              </a:rPr>
              <a:t>2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4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latin typeface="Arial" charset="0"/>
              </a:rPr>
              <a:t>4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5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solidFill>
                  <a:schemeClr val="hlink"/>
                </a:solidFill>
                <a:latin typeface="Arial" charset="0"/>
              </a:rPr>
              <a:t>1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latin typeface="Arial" charset="0"/>
              </a:rPr>
              <a:t>4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CC0066"/>
                </a:solidFill>
                <a:latin typeface="Arial" charset="0"/>
              </a:rPr>
              <a:t>6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solidFill>
                  <a:srgbClr val="FF0000"/>
                </a:solidFill>
                <a:latin typeface="Arial" charset="0"/>
              </a:rPr>
              <a:t>2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latin typeface="Arial" charset="0"/>
              </a:rPr>
              <a:t>4</a:t>
            </a:r>
          </a:p>
        </p:txBody>
      </p:sp>
      <p:sp>
        <p:nvSpPr>
          <p:cNvPr id="1364035" name="Text Box 67"/>
          <p:cNvSpPr txBox="1">
            <a:spLocks noChangeArrowheads="1"/>
          </p:cNvSpPr>
          <p:nvPr/>
        </p:nvSpPr>
        <p:spPr bwMode="auto">
          <a:xfrm>
            <a:off x="6443663" y="2420938"/>
            <a:ext cx="2449512" cy="26543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  </a:t>
            </a:r>
            <a:r>
              <a:rPr lang="en-US" altLang="zh-CN">
                <a:solidFill>
                  <a:srgbClr val="CC0066"/>
                </a:solidFill>
                <a:latin typeface="Arial" charset="0"/>
              </a:rPr>
              <a:t>7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solidFill>
                  <a:schemeClr val="hlink"/>
                </a:solidFill>
                <a:latin typeface="Arial" charset="0"/>
              </a:rPr>
              <a:t>1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solidFill>
                  <a:srgbClr val="FF0000"/>
                </a:solidFill>
                <a:latin typeface="Arial" charset="0"/>
              </a:rPr>
              <a:t>2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latin typeface="Arial" charset="0"/>
              </a:rPr>
              <a:t>4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  8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latin typeface="Arial" charset="0"/>
              </a:rPr>
              <a:t>8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  9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solidFill>
                  <a:schemeClr val="hlink"/>
                </a:solidFill>
                <a:latin typeface="Arial" charset="0"/>
              </a:rPr>
              <a:t>1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latin typeface="Arial" charset="0"/>
              </a:rPr>
              <a:t>8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CC0066"/>
                </a:solidFill>
                <a:latin typeface="Arial" charset="0"/>
              </a:rPr>
              <a:t>10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solidFill>
                  <a:srgbClr val="FF0000"/>
                </a:solidFill>
                <a:latin typeface="Arial" charset="0"/>
              </a:rPr>
              <a:t>2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latin typeface="Arial" charset="0"/>
              </a:rPr>
              <a:t>8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CC0066"/>
                </a:solidFill>
                <a:latin typeface="Arial" charset="0"/>
              </a:rPr>
              <a:t>11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solidFill>
                  <a:schemeClr val="hlink"/>
                </a:solidFill>
                <a:latin typeface="Arial" charset="0"/>
              </a:rPr>
              <a:t>1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solidFill>
                  <a:srgbClr val="FF0000"/>
                </a:solidFill>
                <a:latin typeface="Arial" charset="0"/>
              </a:rPr>
              <a:t>2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latin typeface="Arial" charset="0"/>
              </a:rPr>
              <a:t>8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12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latin typeface="Arial" charset="0"/>
              </a:rPr>
              <a:t>4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latin typeface="Arial" charset="0"/>
              </a:rPr>
              <a:t>8</a:t>
            </a:r>
          </a:p>
        </p:txBody>
      </p:sp>
      <p:sp>
        <p:nvSpPr>
          <p:cNvPr id="1364036" name="AutoShape 68"/>
          <p:cNvSpPr>
            <a:spLocks noChangeArrowheads="1"/>
          </p:cNvSpPr>
          <p:nvPr/>
        </p:nvSpPr>
        <p:spPr bwMode="auto">
          <a:xfrm>
            <a:off x="1835150" y="5445125"/>
            <a:ext cx="433388" cy="431800"/>
          </a:xfrm>
          <a:prstGeom prst="roundRect">
            <a:avLst>
              <a:gd name="adj" fmla="val 28375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64042" name="Rectangle 74"/>
          <p:cNvSpPr>
            <a:spLocks noChangeArrowheads="1"/>
          </p:cNvSpPr>
          <p:nvPr/>
        </p:nvSpPr>
        <p:spPr bwMode="auto">
          <a:xfrm>
            <a:off x="7596188" y="5373688"/>
            <a:ext cx="576262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8000"/>
                </a:solidFill>
                <a:latin typeface="Arial" charset="0"/>
              </a:rPr>
              <a:t>1</a:t>
            </a:r>
          </a:p>
        </p:txBody>
      </p:sp>
      <p:sp>
        <p:nvSpPr>
          <p:cNvPr id="1364043" name="AutoShape 75"/>
          <p:cNvSpPr>
            <a:spLocks noChangeArrowheads="1"/>
          </p:cNvSpPr>
          <p:nvPr/>
        </p:nvSpPr>
        <p:spPr bwMode="auto">
          <a:xfrm>
            <a:off x="2411413" y="5445125"/>
            <a:ext cx="433387" cy="431800"/>
          </a:xfrm>
          <a:prstGeom prst="roundRect">
            <a:avLst>
              <a:gd name="adj" fmla="val 28375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64044" name="AutoShape 76"/>
          <p:cNvSpPr>
            <a:spLocks noChangeArrowheads="1"/>
          </p:cNvSpPr>
          <p:nvPr/>
        </p:nvSpPr>
        <p:spPr bwMode="auto">
          <a:xfrm>
            <a:off x="4140200" y="5445125"/>
            <a:ext cx="433388" cy="431800"/>
          </a:xfrm>
          <a:prstGeom prst="roundRect">
            <a:avLst>
              <a:gd name="adj" fmla="val 28375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64045" name="AutoShape 77"/>
          <p:cNvSpPr>
            <a:spLocks noChangeArrowheads="1"/>
          </p:cNvSpPr>
          <p:nvPr/>
        </p:nvSpPr>
        <p:spPr bwMode="auto">
          <a:xfrm>
            <a:off x="4786313" y="5445125"/>
            <a:ext cx="433387" cy="431800"/>
          </a:xfrm>
          <a:prstGeom prst="roundRect">
            <a:avLst>
              <a:gd name="adj" fmla="val 28375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64046" name="AutoShape 78"/>
          <p:cNvSpPr>
            <a:spLocks noChangeArrowheads="1"/>
          </p:cNvSpPr>
          <p:nvPr/>
        </p:nvSpPr>
        <p:spPr bwMode="auto">
          <a:xfrm>
            <a:off x="6516688" y="5445125"/>
            <a:ext cx="433387" cy="431800"/>
          </a:xfrm>
          <a:prstGeom prst="roundRect">
            <a:avLst>
              <a:gd name="adj" fmla="val 28375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64047" name="AutoShape 79"/>
          <p:cNvSpPr>
            <a:spLocks noChangeArrowheads="1"/>
          </p:cNvSpPr>
          <p:nvPr/>
        </p:nvSpPr>
        <p:spPr bwMode="auto">
          <a:xfrm>
            <a:off x="7092950" y="5445125"/>
            <a:ext cx="433388" cy="431800"/>
          </a:xfrm>
          <a:prstGeom prst="roundRect">
            <a:avLst>
              <a:gd name="adj" fmla="val 28375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64048" name="Rectangle 80"/>
          <p:cNvSpPr>
            <a:spLocks noChangeArrowheads="1"/>
          </p:cNvSpPr>
          <p:nvPr/>
        </p:nvSpPr>
        <p:spPr bwMode="auto">
          <a:xfrm>
            <a:off x="7019925" y="5373688"/>
            <a:ext cx="576263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8000"/>
                </a:solidFill>
                <a:latin typeface="Arial" charset="0"/>
              </a:rPr>
              <a:t>0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640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640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640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640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640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640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640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640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640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640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64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64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640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640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4036" grpId="0" animBg="1"/>
      <p:bldP spid="1364043" grpId="0" animBg="1"/>
      <p:bldP spid="1364044" grpId="0" animBg="1"/>
      <p:bldP spid="1364045" grpId="0" animBg="1"/>
      <p:bldP spid="1364046" grpId="0" animBg="1"/>
      <p:bldP spid="1364047" grpId="0" animBg="1"/>
      <p:bldP spid="136404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3AE536-3284-4D99-B4A7-CC526D7F0248}" type="slidenum">
              <a:rPr lang="zh-CN" altLang="en-US"/>
              <a:pPr/>
              <a:t>31</a:t>
            </a:fld>
            <a:endParaRPr lang="en-US" altLang="zh-CN"/>
          </a:p>
        </p:txBody>
      </p:sp>
      <p:sp>
        <p:nvSpPr>
          <p:cNvPr id="136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三、海明码        </a:t>
            </a:r>
            <a:r>
              <a:rPr lang="en-US" altLang="zh-CN" dirty="0">
                <a:solidFill>
                  <a:srgbClr val="CC0066"/>
                </a:solidFill>
              </a:rPr>
              <a:t>1. </a:t>
            </a:r>
            <a:r>
              <a:rPr lang="zh-CN" altLang="en-US" dirty="0">
                <a:solidFill>
                  <a:srgbClr val="FF6600"/>
                </a:solidFill>
              </a:rPr>
              <a:t>检错</a:t>
            </a:r>
            <a:r>
              <a:rPr lang="zh-CN" altLang="en-US" dirty="0">
                <a:solidFill>
                  <a:srgbClr val="CC0066"/>
                </a:solidFill>
              </a:rPr>
              <a:t>和</a:t>
            </a:r>
            <a:r>
              <a:rPr lang="zh-CN" altLang="en-US" dirty="0">
                <a:solidFill>
                  <a:srgbClr val="FF3399"/>
                </a:solidFill>
              </a:rPr>
              <a:t>纠错</a:t>
            </a:r>
            <a:endParaRPr lang="zh-CN" altLang="en-US" dirty="0">
              <a:solidFill>
                <a:srgbClr val="CC0066"/>
              </a:solidFill>
            </a:endParaRPr>
          </a:p>
        </p:txBody>
      </p:sp>
      <p:sp>
        <p:nvSpPr>
          <p:cNvPr id="136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549275"/>
            <a:ext cx="8785225" cy="6119813"/>
          </a:xfrm>
        </p:spPr>
        <p:txBody>
          <a:bodyPr/>
          <a:lstStyle/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/>
              <a:t>【</a:t>
            </a:r>
            <a:r>
              <a:rPr lang="zh-CN" altLang="pt-BR" dirty="0"/>
              <a:t>例</a:t>
            </a:r>
            <a:r>
              <a:rPr lang="pt-BR" altLang="zh-CN" dirty="0"/>
              <a:t>】</a:t>
            </a:r>
            <a:r>
              <a:rPr lang="zh-CN" altLang="pt-BR" dirty="0"/>
              <a:t>利用上述构造海明码的步骤，采用</a:t>
            </a:r>
            <a:r>
              <a:rPr lang="zh-CN" altLang="pt-BR" dirty="0">
                <a:solidFill>
                  <a:srgbClr val="FF0000"/>
                </a:solidFill>
              </a:rPr>
              <a:t>偶校验</a:t>
            </a:r>
            <a:r>
              <a:rPr lang="zh-CN" altLang="pt-BR" dirty="0"/>
              <a:t>，对</a:t>
            </a:r>
            <a:r>
              <a:rPr lang="pt-BR" altLang="zh-CN" dirty="0"/>
              <a:t>8</a:t>
            </a:r>
            <a:r>
              <a:rPr lang="zh-CN" altLang="pt-BR" dirty="0"/>
              <a:t>位</a:t>
            </a:r>
            <a:r>
              <a:rPr lang="pt-BR" altLang="zh-CN" dirty="0"/>
              <a:t>ASCII</a:t>
            </a:r>
            <a:r>
              <a:rPr lang="zh-CN" altLang="pt-BR" dirty="0"/>
              <a:t>字符“</a:t>
            </a:r>
            <a:r>
              <a:rPr lang="pt-BR" altLang="zh-CN" dirty="0">
                <a:solidFill>
                  <a:srgbClr val="0000FF"/>
                </a:solidFill>
              </a:rPr>
              <a:t>M</a:t>
            </a:r>
            <a:r>
              <a:rPr lang="pt-BR" altLang="zh-CN" dirty="0"/>
              <a:t>”</a:t>
            </a:r>
            <a:r>
              <a:rPr lang="zh-CN" altLang="pt-BR" dirty="0"/>
              <a:t>进行编码（最高位为</a:t>
            </a:r>
            <a:r>
              <a:rPr lang="pt-BR" altLang="zh-CN" dirty="0"/>
              <a:t>0</a:t>
            </a:r>
            <a:r>
              <a:rPr lang="zh-CN" altLang="pt-BR" dirty="0"/>
              <a:t>）。人为地引入一个</a:t>
            </a:r>
            <a:r>
              <a:rPr lang="pt-BR" altLang="zh-CN" dirty="0"/>
              <a:t>1</a:t>
            </a:r>
            <a:r>
              <a:rPr lang="zh-CN" altLang="pt-BR" dirty="0"/>
              <a:t>位错误，说明如何找出这个错误。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/>
              <a:t>【</a:t>
            </a:r>
            <a:r>
              <a:rPr lang="zh-CN" altLang="pt-BR" dirty="0"/>
              <a:t>解</a:t>
            </a:r>
            <a:r>
              <a:rPr lang="pt-BR" altLang="zh-CN" dirty="0"/>
              <a:t>】</a:t>
            </a:r>
            <a:r>
              <a:rPr lang="zh-CN" altLang="pt-BR" dirty="0"/>
              <a:t>字符“</a:t>
            </a:r>
            <a:r>
              <a:rPr lang="pt-BR" altLang="zh-CN" dirty="0"/>
              <a:t>M”</a:t>
            </a:r>
            <a:r>
              <a:rPr lang="zh-CN" altLang="pt-BR" dirty="0"/>
              <a:t>的</a:t>
            </a:r>
            <a:r>
              <a:rPr lang="pt-BR" altLang="zh-CN" dirty="0"/>
              <a:t>ASCII</a:t>
            </a:r>
            <a:r>
              <a:rPr lang="zh-CN" altLang="pt-BR" dirty="0"/>
              <a:t>编码为</a:t>
            </a:r>
            <a:r>
              <a:rPr lang="pt-BR" altLang="zh-CN" dirty="0">
                <a:solidFill>
                  <a:srgbClr val="0000FF"/>
                </a:solidFill>
                <a:latin typeface="Arial" charset="0"/>
              </a:rPr>
              <a:t>01001101</a:t>
            </a:r>
            <a:r>
              <a:rPr lang="zh-CN" altLang="pt-BR" dirty="0"/>
              <a:t>。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>
                <a:solidFill>
                  <a:srgbClr val="CC0066"/>
                </a:solidFill>
              </a:rPr>
              <a:t>     ③</a:t>
            </a:r>
            <a:r>
              <a:rPr lang="pt-BR" altLang="zh-CN" dirty="0"/>
              <a:t> 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确定奇偶校验位的值：</a:t>
            </a:r>
            <a:endParaRPr lang="zh-CN" altLang="en-US" dirty="0">
              <a:solidFill>
                <a:srgbClr val="000000"/>
              </a:solidFill>
              <a:cs typeface="Times New Roman" pitchFamily="18" charset="0"/>
            </a:endParaRPr>
          </a:p>
        </p:txBody>
      </p:sp>
      <p:graphicFrame>
        <p:nvGraphicFramePr>
          <p:cNvPr id="1364996" name="Group 4"/>
          <p:cNvGraphicFramePr>
            <a:graphicFrameLocks noGrp="1"/>
          </p:cNvGraphicFramePr>
          <p:nvPr/>
        </p:nvGraphicFramePr>
        <p:xfrm>
          <a:off x="1187450" y="5386388"/>
          <a:ext cx="6985000" cy="1067435"/>
        </p:xfrm>
        <a:graphic>
          <a:graphicData uri="http://schemas.openxmlformats.org/drawingml/2006/table">
            <a:tbl>
              <a:tblPr/>
              <a:tblGrid>
                <a:gridCol w="582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6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26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26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26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26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8261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8261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12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9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8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65050" name="Rectangle 58"/>
          <p:cNvSpPr>
            <a:spLocks noChangeArrowheads="1"/>
          </p:cNvSpPr>
          <p:nvPr/>
        </p:nvSpPr>
        <p:spPr bwMode="auto">
          <a:xfrm>
            <a:off x="1187450" y="5386388"/>
            <a:ext cx="576263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0</a:t>
            </a:r>
          </a:p>
        </p:txBody>
      </p:sp>
      <p:sp>
        <p:nvSpPr>
          <p:cNvPr id="1365051" name="Rectangle 59"/>
          <p:cNvSpPr>
            <a:spLocks noChangeArrowheads="1"/>
          </p:cNvSpPr>
          <p:nvPr/>
        </p:nvSpPr>
        <p:spPr bwMode="auto">
          <a:xfrm>
            <a:off x="1763713" y="5386388"/>
            <a:ext cx="576262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1</a:t>
            </a:r>
          </a:p>
        </p:txBody>
      </p:sp>
      <p:sp>
        <p:nvSpPr>
          <p:cNvPr id="1365052" name="Rectangle 60"/>
          <p:cNvSpPr>
            <a:spLocks noChangeArrowheads="1"/>
          </p:cNvSpPr>
          <p:nvPr/>
        </p:nvSpPr>
        <p:spPr bwMode="auto">
          <a:xfrm>
            <a:off x="2339975" y="5386388"/>
            <a:ext cx="576263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0</a:t>
            </a:r>
          </a:p>
        </p:txBody>
      </p:sp>
      <p:sp>
        <p:nvSpPr>
          <p:cNvPr id="1365053" name="Rectangle 61"/>
          <p:cNvSpPr>
            <a:spLocks noChangeArrowheads="1"/>
          </p:cNvSpPr>
          <p:nvPr/>
        </p:nvSpPr>
        <p:spPr bwMode="auto">
          <a:xfrm>
            <a:off x="2916238" y="5386388"/>
            <a:ext cx="576262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0</a:t>
            </a:r>
          </a:p>
        </p:txBody>
      </p:sp>
      <p:sp>
        <p:nvSpPr>
          <p:cNvPr id="1365054" name="Rectangle 62"/>
          <p:cNvSpPr>
            <a:spLocks noChangeArrowheads="1"/>
          </p:cNvSpPr>
          <p:nvPr/>
        </p:nvSpPr>
        <p:spPr bwMode="auto">
          <a:xfrm>
            <a:off x="4067175" y="5386388"/>
            <a:ext cx="576263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1</a:t>
            </a:r>
          </a:p>
        </p:txBody>
      </p:sp>
      <p:sp>
        <p:nvSpPr>
          <p:cNvPr id="1365055" name="Rectangle 63"/>
          <p:cNvSpPr>
            <a:spLocks noChangeArrowheads="1"/>
          </p:cNvSpPr>
          <p:nvPr/>
        </p:nvSpPr>
        <p:spPr bwMode="auto">
          <a:xfrm>
            <a:off x="4716463" y="5386388"/>
            <a:ext cx="576262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1</a:t>
            </a:r>
          </a:p>
        </p:txBody>
      </p:sp>
      <p:sp>
        <p:nvSpPr>
          <p:cNvPr id="1365056" name="Rectangle 64"/>
          <p:cNvSpPr>
            <a:spLocks noChangeArrowheads="1"/>
          </p:cNvSpPr>
          <p:nvPr/>
        </p:nvSpPr>
        <p:spPr bwMode="auto">
          <a:xfrm>
            <a:off x="5292725" y="5386388"/>
            <a:ext cx="576263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0</a:t>
            </a:r>
          </a:p>
        </p:txBody>
      </p:sp>
      <p:sp>
        <p:nvSpPr>
          <p:cNvPr id="1365057" name="Rectangle 65"/>
          <p:cNvSpPr>
            <a:spLocks noChangeArrowheads="1"/>
          </p:cNvSpPr>
          <p:nvPr/>
        </p:nvSpPr>
        <p:spPr bwMode="auto">
          <a:xfrm>
            <a:off x="6443663" y="5386388"/>
            <a:ext cx="576262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1</a:t>
            </a:r>
          </a:p>
        </p:txBody>
      </p:sp>
      <p:sp>
        <p:nvSpPr>
          <p:cNvPr id="1365058" name="Text Box 66"/>
          <p:cNvSpPr txBox="1">
            <a:spLocks noChangeArrowheads="1"/>
          </p:cNvSpPr>
          <p:nvPr/>
        </p:nvSpPr>
        <p:spPr bwMode="auto">
          <a:xfrm>
            <a:off x="4679950" y="2420938"/>
            <a:ext cx="1763713" cy="26543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1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solidFill>
                  <a:schemeClr val="hlink"/>
                </a:solidFill>
                <a:latin typeface="Arial" charset="0"/>
              </a:rPr>
              <a:t>1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2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solidFill>
                  <a:schemeClr val="hlink"/>
                </a:solidFill>
                <a:latin typeface="Arial" charset="0"/>
              </a:rPr>
              <a:t>2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3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solidFill>
                  <a:schemeClr val="hlink"/>
                </a:solidFill>
                <a:latin typeface="Arial" charset="0"/>
              </a:rPr>
              <a:t>1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solidFill>
                  <a:schemeClr val="hlink"/>
                </a:solidFill>
                <a:latin typeface="Arial" charset="0"/>
              </a:rPr>
              <a:t>2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CC0066"/>
                </a:solidFill>
                <a:latin typeface="Arial" charset="0"/>
              </a:rPr>
              <a:t>4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solidFill>
                  <a:srgbClr val="FF0000"/>
                </a:solidFill>
                <a:latin typeface="Arial" charset="0"/>
              </a:rPr>
              <a:t>4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CC0066"/>
                </a:solidFill>
                <a:latin typeface="Arial" charset="0"/>
              </a:rPr>
              <a:t>5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solidFill>
                  <a:schemeClr val="hlink"/>
                </a:solidFill>
                <a:latin typeface="Arial" charset="0"/>
              </a:rPr>
              <a:t>1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solidFill>
                  <a:srgbClr val="FF0000"/>
                </a:solidFill>
                <a:latin typeface="Arial" charset="0"/>
              </a:rPr>
              <a:t>4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CC0066"/>
                </a:solidFill>
                <a:latin typeface="Arial" charset="0"/>
              </a:rPr>
              <a:t>6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solidFill>
                  <a:schemeClr val="hlink"/>
                </a:solidFill>
                <a:latin typeface="Arial" charset="0"/>
              </a:rPr>
              <a:t>2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solidFill>
                  <a:srgbClr val="FF0000"/>
                </a:solidFill>
                <a:latin typeface="Arial" charset="0"/>
              </a:rPr>
              <a:t>4</a:t>
            </a:r>
          </a:p>
        </p:txBody>
      </p:sp>
      <p:sp>
        <p:nvSpPr>
          <p:cNvPr id="1365059" name="Text Box 67"/>
          <p:cNvSpPr txBox="1">
            <a:spLocks noChangeArrowheads="1"/>
          </p:cNvSpPr>
          <p:nvPr/>
        </p:nvSpPr>
        <p:spPr bwMode="auto">
          <a:xfrm>
            <a:off x="6443663" y="2420938"/>
            <a:ext cx="2449512" cy="26543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  </a:t>
            </a:r>
            <a:r>
              <a:rPr lang="en-US" altLang="zh-CN">
                <a:solidFill>
                  <a:srgbClr val="CC0066"/>
                </a:solidFill>
                <a:latin typeface="Arial" charset="0"/>
              </a:rPr>
              <a:t>7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solidFill>
                  <a:schemeClr val="hlink"/>
                </a:solidFill>
                <a:latin typeface="Arial" charset="0"/>
              </a:rPr>
              <a:t>1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solidFill>
                  <a:schemeClr val="hlink"/>
                </a:solidFill>
                <a:latin typeface="Arial" charset="0"/>
              </a:rPr>
              <a:t>2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solidFill>
                  <a:srgbClr val="FF0000"/>
                </a:solidFill>
                <a:latin typeface="Arial" charset="0"/>
              </a:rPr>
              <a:t>4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  8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latin typeface="Arial" charset="0"/>
              </a:rPr>
              <a:t>8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  9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solidFill>
                  <a:schemeClr val="hlink"/>
                </a:solidFill>
                <a:latin typeface="Arial" charset="0"/>
              </a:rPr>
              <a:t>1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latin typeface="Arial" charset="0"/>
              </a:rPr>
              <a:t>8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10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solidFill>
                  <a:schemeClr val="hlink"/>
                </a:solidFill>
                <a:latin typeface="Arial" charset="0"/>
              </a:rPr>
              <a:t>2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latin typeface="Arial" charset="0"/>
              </a:rPr>
              <a:t>8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11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solidFill>
                  <a:schemeClr val="hlink"/>
                </a:solidFill>
                <a:latin typeface="Arial" charset="0"/>
              </a:rPr>
              <a:t>1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solidFill>
                  <a:schemeClr val="hlink"/>
                </a:solidFill>
                <a:latin typeface="Arial" charset="0"/>
              </a:rPr>
              <a:t>2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latin typeface="Arial" charset="0"/>
              </a:rPr>
              <a:t>8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CC0066"/>
                </a:solidFill>
                <a:latin typeface="Arial" charset="0"/>
              </a:rPr>
              <a:t>12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solidFill>
                  <a:srgbClr val="FF0000"/>
                </a:solidFill>
                <a:latin typeface="Arial" charset="0"/>
              </a:rPr>
              <a:t>4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latin typeface="Arial" charset="0"/>
              </a:rPr>
              <a:t>8</a:t>
            </a:r>
          </a:p>
        </p:txBody>
      </p:sp>
      <p:sp>
        <p:nvSpPr>
          <p:cNvPr id="1365060" name="AutoShape 68"/>
          <p:cNvSpPr>
            <a:spLocks noChangeArrowheads="1"/>
          </p:cNvSpPr>
          <p:nvPr/>
        </p:nvSpPr>
        <p:spPr bwMode="auto">
          <a:xfrm>
            <a:off x="5927725" y="5445125"/>
            <a:ext cx="433388" cy="431800"/>
          </a:xfrm>
          <a:prstGeom prst="roundRect">
            <a:avLst>
              <a:gd name="adj" fmla="val 28375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65061" name="Rectangle 69"/>
          <p:cNvSpPr>
            <a:spLocks noChangeArrowheads="1"/>
          </p:cNvSpPr>
          <p:nvPr/>
        </p:nvSpPr>
        <p:spPr bwMode="auto">
          <a:xfrm>
            <a:off x="7596188" y="5373688"/>
            <a:ext cx="576262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8000"/>
                </a:solidFill>
                <a:latin typeface="Arial" charset="0"/>
              </a:rPr>
              <a:t>1</a:t>
            </a:r>
          </a:p>
        </p:txBody>
      </p:sp>
      <p:sp>
        <p:nvSpPr>
          <p:cNvPr id="1365067" name="Rectangle 75"/>
          <p:cNvSpPr>
            <a:spLocks noChangeArrowheads="1"/>
          </p:cNvSpPr>
          <p:nvPr/>
        </p:nvSpPr>
        <p:spPr bwMode="auto">
          <a:xfrm>
            <a:off x="7019925" y="5373688"/>
            <a:ext cx="576263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8000"/>
                </a:solidFill>
                <a:latin typeface="Arial" charset="0"/>
              </a:rPr>
              <a:t>0</a:t>
            </a:r>
          </a:p>
        </p:txBody>
      </p:sp>
      <p:sp>
        <p:nvSpPr>
          <p:cNvPr id="1365068" name="AutoShape 76"/>
          <p:cNvSpPr>
            <a:spLocks noChangeArrowheads="1"/>
          </p:cNvSpPr>
          <p:nvPr/>
        </p:nvSpPr>
        <p:spPr bwMode="auto">
          <a:xfrm>
            <a:off x="5351463" y="5445125"/>
            <a:ext cx="433387" cy="431800"/>
          </a:xfrm>
          <a:prstGeom prst="roundRect">
            <a:avLst>
              <a:gd name="adj" fmla="val 28375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65069" name="AutoShape 77"/>
          <p:cNvSpPr>
            <a:spLocks noChangeArrowheads="1"/>
          </p:cNvSpPr>
          <p:nvPr/>
        </p:nvSpPr>
        <p:spPr bwMode="auto">
          <a:xfrm>
            <a:off x="4775200" y="5445125"/>
            <a:ext cx="433388" cy="431800"/>
          </a:xfrm>
          <a:prstGeom prst="roundRect">
            <a:avLst>
              <a:gd name="adj" fmla="val 28375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65070" name="AutoShape 78"/>
          <p:cNvSpPr>
            <a:spLocks noChangeArrowheads="1"/>
          </p:cNvSpPr>
          <p:nvPr/>
        </p:nvSpPr>
        <p:spPr bwMode="auto">
          <a:xfrm>
            <a:off x="4165600" y="5445125"/>
            <a:ext cx="433388" cy="431800"/>
          </a:xfrm>
          <a:prstGeom prst="roundRect">
            <a:avLst>
              <a:gd name="adj" fmla="val 28375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65071" name="AutoShape 79"/>
          <p:cNvSpPr>
            <a:spLocks noChangeArrowheads="1"/>
          </p:cNvSpPr>
          <p:nvPr/>
        </p:nvSpPr>
        <p:spPr bwMode="auto">
          <a:xfrm>
            <a:off x="1258888" y="5445125"/>
            <a:ext cx="433387" cy="431800"/>
          </a:xfrm>
          <a:prstGeom prst="roundRect">
            <a:avLst>
              <a:gd name="adj" fmla="val 28375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65072" name="Rectangle 80"/>
          <p:cNvSpPr>
            <a:spLocks noChangeArrowheads="1"/>
          </p:cNvSpPr>
          <p:nvPr/>
        </p:nvSpPr>
        <p:spPr bwMode="auto">
          <a:xfrm>
            <a:off x="5867400" y="5373688"/>
            <a:ext cx="576263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8000"/>
                </a:solidFill>
                <a:latin typeface="Arial" charset="0"/>
              </a:rPr>
              <a:t>0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650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650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650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650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650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650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650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650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650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650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650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650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5060" grpId="0" animBg="1"/>
      <p:bldP spid="1365068" grpId="0" animBg="1"/>
      <p:bldP spid="1365069" grpId="0" animBg="1"/>
      <p:bldP spid="1365070" grpId="0" animBg="1"/>
      <p:bldP spid="1365071" grpId="0" animBg="1"/>
      <p:bldP spid="136507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45E332B-E784-4DF6-8387-5A08C6247EEB}" type="slidenum">
              <a:rPr lang="zh-CN" altLang="en-US"/>
              <a:pPr/>
              <a:t>32</a:t>
            </a:fld>
            <a:endParaRPr lang="en-US" altLang="zh-CN"/>
          </a:p>
        </p:txBody>
      </p:sp>
      <p:sp>
        <p:nvSpPr>
          <p:cNvPr id="136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三、海明码        </a:t>
            </a:r>
            <a:r>
              <a:rPr lang="en-US" altLang="zh-CN" dirty="0">
                <a:solidFill>
                  <a:srgbClr val="CC0066"/>
                </a:solidFill>
              </a:rPr>
              <a:t>1. </a:t>
            </a:r>
            <a:r>
              <a:rPr lang="zh-CN" altLang="en-US" dirty="0">
                <a:solidFill>
                  <a:srgbClr val="FF6600"/>
                </a:solidFill>
              </a:rPr>
              <a:t>检错</a:t>
            </a:r>
            <a:r>
              <a:rPr lang="zh-CN" altLang="en-US" dirty="0">
                <a:solidFill>
                  <a:srgbClr val="CC0066"/>
                </a:solidFill>
              </a:rPr>
              <a:t>和</a:t>
            </a:r>
            <a:r>
              <a:rPr lang="zh-CN" altLang="en-US" dirty="0">
                <a:solidFill>
                  <a:srgbClr val="FF3399"/>
                </a:solidFill>
              </a:rPr>
              <a:t>纠错</a:t>
            </a:r>
            <a:endParaRPr lang="zh-CN" altLang="en-US" dirty="0">
              <a:solidFill>
                <a:srgbClr val="CC0066"/>
              </a:solidFill>
            </a:endParaRPr>
          </a:p>
        </p:txBody>
      </p:sp>
      <p:sp>
        <p:nvSpPr>
          <p:cNvPr id="136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549275"/>
            <a:ext cx="8785225" cy="6119813"/>
          </a:xfrm>
        </p:spPr>
        <p:txBody>
          <a:bodyPr/>
          <a:lstStyle/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/>
              <a:t>【</a:t>
            </a:r>
            <a:r>
              <a:rPr lang="zh-CN" altLang="pt-BR" dirty="0"/>
              <a:t>例</a:t>
            </a:r>
            <a:r>
              <a:rPr lang="pt-BR" altLang="zh-CN" dirty="0"/>
              <a:t>】</a:t>
            </a:r>
            <a:r>
              <a:rPr lang="zh-CN" altLang="pt-BR" dirty="0"/>
              <a:t>利用上述构造海明码的步骤，采用</a:t>
            </a:r>
            <a:r>
              <a:rPr lang="zh-CN" altLang="pt-BR" dirty="0">
                <a:solidFill>
                  <a:srgbClr val="FF0000"/>
                </a:solidFill>
              </a:rPr>
              <a:t>偶校验</a:t>
            </a:r>
            <a:r>
              <a:rPr lang="zh-CN" altLang="pt-BR" dirty="0"/>
              <a:t>，对</a:t>
            </a:r>
            <a:r>
              <a:rPr lang="pt-BR" altLang="zh-CN" dirty="0"/>
              <a:t>8</a:t>
            </a:r>
            <a:r>
              <a:rPr lang="zh-CN" altLang="pt-BR" dirty="0"/>
              <a:t>位</a:t>
            </a:r>
            <a:r>
              <a:rPr lang="pt-BR" altLang="zh-CN" dirty="0"/>
              <a:t>ASCII</a:t>
            </a:r>
            <a:r>
              <a:rPr lang="zh-CN" altLang="pt-BR" dirty="0"/>
              <a:t>字符“</a:t>
            </a:r>
            <a:r>
              <a:rPr lang="pt-BR" altLang="zh-CN" dirty="0">
                <a:solidFill>
                  <a:srgbClr val="0000FF"/>
                </a:solidFill>
              </a:rPr>
              <a:t>M</a:t>
            </a:r>
            <a:r>
              <a:rPr lang="pt-BR" altLang="zh-CN" dirty="0"/>
              <a:t>”</a:t>
            </a:r>
            <a:r>
              <a:rPr lang="zh-CN" altLang="pt-BR" dirty="0"/>
              <a:t>进行编码（最高位为</a:t>
            </a:r>
            <a:r>
              <a:rPr lang="pt-BR" altLang="zh-CN" dirty="0"/>
              <a:t>0</a:t>
            </a:r>
            <a:r>
              <a:rPr lang="zh-CN" altLang="pt-BR" dirty="0"/>
              <a:t>）。人为地引入一个</a:t>
            </a:r>
            <a:r>
              <a:rPr lang="pt-BR" altLang="zh-CN" dirty="0"/>
              <a:t>1</a:t>
            </a:r>
            <a:r>
              <a:rPr lang="zh-CN" altLang="pt-BR" dirty="0"/>
              <a:t>位错误，说明如何找出这个错误。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/>
              <a:t>【</a:t>
            </a:r>
            <a:r>
              <a:rPr lang="zh-CN" altLang="pt-BR" dirty="0"/>
              <a:t>解</a:t>
            </a:r>
            <a:r>
              <a:rPr lang="pt-BR" altLang="zh-CN" dirty="0"/>
              <a:t>】</a:t>
            </a:r>
            <a:r>
              <a:rPr lang="zh-CN" altLang="pt-BR" dirty="0"/>
              <a:t>字符“</a:t>
            </a:r>
            <a:r>
              <a:rPr lang="pt-BR" altLang="zh-CN" dirty="0"/>
              <a:t>M”</a:t>
            </a:r>
            <a:r>
              <a:rPr lang="zh-CN" altLang="pt-BR" dirty="0"/>
              <a:t>的</a:t>
            </a:r>
            <a:r>
              <a:rPr lang="pt-BR" altLang="zh-CN" dirty="0"/>
              <a:t>ASCII</a:t>
            </a:r>
            <a:r>
              <a:rPr lang="zh-CN" altLang="pt-BR" dirty="0"/>
              <a:t>编码为</a:t>
            </a:r>
            <a:r>
              <a:rPr lang="pt-BR" altLang="zh-CN" dirty="0">
                <a:solidFill>
                  <a:srgbClr val="0000FF"/>
                </a:solidFill>
                <a:latin typeface="Arial" charset="0"/>
              </a:rPr>
              <a:t>01001101</a:t>
            </a:r>
            <a:r>
              <a:rPr lang="zh-CN" altLang="pt-BR" dirty="0"/>
              <a:t>。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>
                <a:solidFill>
                  <a:srgbClr val="CC0066"/>
                </a:solidFill>
              </a:rPr>
              <a:t>     ③</a:t>
            </a:r>
            <a:r>
              <a:rPr lang="pt-BR" altLang="zh-CN" dirty="0"/>
              <a:t> 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确定奇偶校验位的值：</a:t>
            </a:r>
            <a:endParaRPr lang="zh-CN" altLang="en-US" dirty="0">
              <a:solidFill>
                <a:srgbClr val="000000"/>
              </a:solidFill>
              <a:cs typeface="Times New Roman" pitchFamily="18" charset="0"/>
            </a:endParaRPr>
          </a:p>
        </p:txBody>
      </p:sp>
      <p:graphicFrame>
        <p:nvGraphicFramePr>
          <p:cNvPr id="1366020" name="Group 4"/>
          <p:cNvGraphicFramePr>
            <a:graphicFrameLocks noGrp="1"/>
          </p:cNvGraphicFramePr>
          <p:nvPr/>
        </p:nvGraphicFramePr>
        <p:xfrm>
          <a:off x="1187450" y="5386388"/>
          <a:ext cx="6985000" cy="1067435"/>
        </p:xfrm>
        <a:graphic>
          <a:graphicData uri="http://schemas.openxmlformats.org/drawingml/2006/table">
            <a:tbl>
              <a:tblPr/>
              <a:tblGrid>
                <a:gridCol w="582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6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26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26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26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26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8261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8261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12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9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8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66074" name="Rectangle 58"/>
          <p:cNvSpPr>
            <a:spLocks noChangeArrowheads="1"/>
          </p:cNvSpPr>
          <p:nvPr/>
        </p:nvSpPr>
        <p:spPr bwMode="auto">
          <a:xfrm>
            <a:off x="1187450" y="5386388"/>
            <a:ext cx="576263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0</a:t>
            </a:r>
          </a:p>
        </p:txBody>
      </p:sp>
      <p:sp>
        <p:nvSpPr>
          <p:cNvPr id="1366075" name="Rectangle 59"/>
          <p:cNvSpPr>
            <a:spLocks noChangeArrowheads="1"/>
          </p:cNvSpPr>
          <p:nvPr/>
        </p:nvSpPr>
        <p:spPr bwMode="auto">
          <a:xfrm>
            <a:off x="1763713" y="5386388"/>
            <a:ext cx="576262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1</a:t>
            </a:r>
          </a:p>
        </p:txBody>
      </p:sp>
      <p:sp>
        <p:nvSpPr>
          <p:cNvPr id="1366076" name="Rectangle 60"/>
          <p:cNvSpPr>
            <a:spLocks noChangeArrowheads="1"/>
          </p:cNvSpPr>
          <p:nvPr/>
        </p:nvSpPr>
        <p:spPr bwMode="auto">
          <a:xfrm>
            <a:off x="2339975" y="5386388"/>
            <a:ext cx="576263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0</a:t>
            </a:r>
          </a:p>
        </p:txBody>
      </p:sp>
      <p:sp>
        <p:nvSpPr>
          <p:cNvPr id="1366077" name="Rectangle 61"/>
          <p:cNvSpPr>
            <a:spLocks noChangeArrowheads="1"/>
          </p:cNvSpPr>
          <p:nvPr/>
        </p:nvSpPr>
        <p:spPr bwMode="auto">
          <a:xfrm>
            <a:off x="2916238" y="5386388"/>
            <a:ext cx="576262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0</a:t>
            </a:r>
          </a:p>
        </p:txBody>
      </p:sp>
      <p:sp>
        <p:nvSpPr>
          <p:cNvPr id="1366078" name="Rectangle 62"/>
          <p:cNvSpPr>
            <a:spLocks noChangeArrowheads="1"/>
          </p:cNvSpPr>
          <p:nvPr/>
        </p:nvSpPr>
        <p:spPr bwMode="auto">
          <a:xfrm>
            <a:off x="4067175" y="5386388"/>
            <a:ext cx="576263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1</a:t>
            </a:r>
          </a:p>
        </p:txBody>
      </p:sp>
      <p:sp>
        <p:nvSpPr>
          <p:cNvPr id="1366079" name="Rectangle 63"/>
          <p:cNvSpPr>
            <a:spLocks noChangeArrowheads="1"/>
          </p:cNvSpPr>
          <p:nvPr/>
        </p:nvSpPr>
        <p:spPr bwMode="auto">
          <a:xfrm>
            <a:off x="4716463" y="5386388"/>
            <a:ext cx="576262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1</a:t>
            </a:r>
          </a:p>
        </p:txBody>
      </p:sp>
      <p:sp>
        <p:nvSpPr>
          <p:cNvPr id="1366080" name="Rectangle 64"/>
          <p:cNvSpPr>
            <a:spLocks noChangeArrowheads="1"/>
          </p:cNvSpPr>
          <p:nvPr/>
        </p:nvSpPr>
        <p:spPr bwMode="auto">
          <a:xfrm>
            <a:off x="5292725" y="5386388"/>
            <a:ext cx="576263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0</a:t>
            </a:r>
          </a:p>
        </p:txBody>
      </p:sp>
      <p:sp>
        <p:nvSpPr>
          <p:cNvPr id="1366081" name="Rectangle 65"/>
          <p:cNvSpPr>
            <a:spLocks noChangeArrowheads="1"/>
          </p:cNvSpPr>
          <p:nvPr/>
        </p:nvSpPr>
        <p:spPr bwMode="auto">
          <a:xfrm>
            <a:off x="6443663" y="5386388"/>
            <a:ext cx="576262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1</a:t>
            </a:r>
          </a:p>
        </p:txBody>
      </p:sp>
      <p:sp>
        <p:nvSpPr>
          <p:cNvPr id="1366082" name="Text Box 66"/>
          <p:cNvSpPr txBox="1">
            <a:spLocks noChangeArrowheads="1"/>
          </p:cNvSpPr>
          <p:nvPr/>
        </p:nvSpPr>
        <p:spPr bwMode="auto">
          <a:xfrm>
            <a:off x="4679950" y="2420938"/>
            <a:ext cx="1763713" cy="26543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1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solidFill>
                  <a:schemeClr val="hlink"/>
                </a:solidFill>
                <a:latin typeface="Arial" charset="0"/>
              </a:rPr>
              <a:t>1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2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solidFill>
                  <a:schemeClr val="hlink"/>
                </a:solidFill>
                <a:latin typeface="Arial" charset="0"/>
              </a:rPr>
              <a:t>2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3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solidFill>
                  <a:schemeClr val="hlink"/>
                </a:solidFill>
                <a:latin typeface="Arial" charset="0"/>
              </a:rPr>
              <a:t>1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solidFill>
                  <a:schemeClr val="hlink"/>
                </a:solidFill>
                <a:latin typeface="Arial" charset="0"/>
              </a:rPr>
              <a:t>2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4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solidFill>
                  <a:schemeClr val="hlink"/>
                </a:solidFill>
                <a:latin typeface="Arial" charset="0"/>
              </a:rPr>
              <a:t>4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5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solidFill>
                  <a:schemeClr val="hlink"/>
                </a:solidFill>
                <a:latin typeface="Arial" charset="0"/>
              </a:rPr>
              <a:t>1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solidFill>
                  <a:schemeClr val="hlink"/>
                </a:solidFill>
                <a:latin typeface="Arial" charset="0"/>
              </a:rPr>
              <a:t>4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6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solidFill>
                  <a:schemeClr val="hlink"/>
                </a:solidFill>
                <a:latin typeface="Arial" charset="0"/>
              </a:rPr>
              <a:t>2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solidFill>
                  <a:schemeClr val="hlink"/>
                </a:solidFill>
                <a:latin typeface="Arial" charset="0"/>
              </a:rPr>
              <a:t>4</a:t>
            </a:r>
          </a:p>
        </p:txBody>
      </p:sp>
      <p:sp>
        <p:nvSpPr>
          <p:cNvPr id="1366083" name="Text Box 67"/>
          <p:cNvSpPr txBox="1">
            <a:spLocks noChangeArrowheads="1"/>
          </p:cNvSpPr>
          <p:nvPr/>
        </p:nvSpPr>
        <p:spPr bwMode="auto">
          <a:xfrm>
            <a:off x="6443663" y="2420938"/>
            <a:ext cx="2449512" cy="265430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  7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solidFill>
                  <a:schemeClr val="hlink"/>
                </a:solidFill>
                <a:latin typeface="Arial" charset="0"/>
              </a:rPr>
              <a:t>1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solidFill>
                  <a:schemeClr val="hlink"/>
                </a:solidFill>
                <a:latin typeface="Arial" charset="0"/>
              </a:rPr>
              <a:t>2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solidFill>
                  <a:schemeClr val="hlink"/>
                </a:solidFill>
                <a:latin typeface="Arial" charset="0"/>
              </a:rPr>
              <a:t>4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  </a:t>
            </a:r>
            <a:r>
              <a:rPr lang="en-US" altLang="zh-CN">
                <a:solidFill>
                  <a:srgbClr val="CC0066"/>
                </a:solidFill>
                <a:latin typeface="Arial" charset="0"/>
              </a:rPr>
              <a:t>8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solidFill>
                  <a:srgbClr val="FF0000"/>
                </a:solidFill>
                <a:latin typeface="Arial" charset="0"/>
              </a:rPr>
              <a:t>8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  </a:t>
            </a:r>
            <a:r>
              <a:rPr lang="en-US" altLang="zh-CN">
                <a:solidFill>
                  <a:srgbClr val="CC0066"/>
                </a:solidFill>
                <a:latin typeface="Arial" charset="0"/>
              </a:rPr>
              <a:t>9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solidFill>
                  <a:schemeClr val="hlink"/>
                </a:solidFill>
                <a:latin typeface="Arial" charset="0"/>
              </a:rPr>
              <a:t>1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solidFill>
                  <a:srgbClr val="FF0000"/>
                </a:solidFill>
                <a:latin typeface="Arial" charset="0"/>
              </a:rPr>
              <a:t>8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CC0066"/>
                </a:solidFill>
                <a:latin typeface="Arial" charset="0"/>
              </a:rPr>
              <a:t>10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solidFill>
                  <a:schemeClr val="hlink"/>
                </a:solidFill>
                <a:latin typeface="Arial" charset="0"/>
              </a:rPr>
              <a:t>2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solidFill>
                  <a:srgbClr val="FF0000"/>
                </a:solidFill>
                <a:latin typeface="Arial" charset="0"/>
              </a:rPr>
              <a:t>8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CC0066"/>
                </a:solidFill>
                <a:latin typeface="Arial" charset="0"/>
              </a:rPr>
              <a:t>11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solidFill>
                  <a:schemeClr val="hlink"/>
                </a:solidFill>
                <a:latin typeface="Arial" charset="0"/>
              </a:rPr>
              <a:t>1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solidFill>
                  <a:schemeClr val="hlink"/>
                </a:solidFill>
                <a:latin typeface="Arial" charset="0"/>
              </a:rPr>
              <a:t>2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solidFill>
                  <a:srgbClr val="FF0000"/>
                </a:solidFill>
                <a:latin typeface="Arial" charset="0"/>
              </a:rPr>
              <a:t>8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solidFill>
                  <a:srgbClr val="CC0066"/>
                </a:solidFill>
                <a:latin typeface="Arial" charset="0"/>
              </a:rPr>
              <a:t>12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solidFill>
                  <a:schemeClr val="hlink"/>
                </a:solidFill>
                <a:latin typeface="Arial" charset="0"/>
              </a:rPr>
              <a:t>4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solidFill>
                  <a:srgbClr val="FF0000"/>
                </a:solidFill>
                <a:latin typeface="Arial" charset="0"/>
              </a:rPr>
              <a:t>8</a:t>
            </a:r>
          </a:p>
        </p:txBody>
      </p:sp>
      <p:sp>
        <p:nvSpPr>
          <p:cNvPr id="1366085" name="Rectangle 69"/>
          <p:cNvSpPr>
            <a:spLocks noChangeArrowheads="1"/>
          </p:cNvSpPr>
          <p:nvPr/>
        </p:nvSpPr>
        <p:spPr bwMode="auto">
          <a:xfrm>
            <a:off x="7596188" y="5373688"/>
            <a:ext cx="576262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8000"/>
                </a:solidFill>
                <a:latin typeface="Arial" charset="0"/>
              </a:rPr>
              <a:t>1</a:t>
            </a:r>
          </a:p>
        </p:txBody>
      </p:sp>
      <p:sp>
        <p:nvSpPr>
          <p:cNvPr id="1366086" name="Rectangle 70"/>
          <p:cNvSpPr>
            <a:spLocks noChangeArrowheads="1"/>
          </p:cNvSpPr>
          <p:nvPr/>
        </p:nvSpPr>
        <p:spPr bwMode="auto">
          <a:xfrm>
            <a:off x="7019925" y="5373688"/>
            <a:ext cx="576263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8000"/>
                </a:solidFill>
                <a:latin typeface="Arial" charset="0"/>
              </a:rPr>
              <a:t>0</a:t>
            </a:r>
          </a:p>
        </p:txBody>
      </p:sp>
      <p:sp>
        <p:nvSpPr>
          <p:cNvPr id="1366090" name="AutoShape 74"/>
          <p:cNvSpPr>
            <a:spLocks noChangeArrowheads="1"/>
          </p:cNvSpPr>
          <p:nvPr/>
        </p:nvSpPr>
        <p:spPr bwMode="auto">
          <a:xfrm>
            <a:off x="1258888" y="5445125"/>
            <a:ext cx="433387" cy="431800"/>
          </a:xfrm>
          <a:prstGeom prst="roundRect">
            <a:avLst>
              <a:gd name="adj" fmla="val 28375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66091" name="Rectangle 75"/>
          <p:cNvSpPr>
            <a:spLocks noChangeArrowheads="1"/>
          </p:cNvSpPr>
          <p:nvPr/>
        </p:nvSpPr>
        <p:spPr bwMode="auto">
          <a:xfrm>
            <a:off x="5867400" y="5373688"/>
            <a:ext cx="576263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8000"/>
                </a:solidFill>
                <a:latin typeface="Arial" charset="0"/>
              </a:rPr>
              <a:t>0</a:t>
            </a:r>
          </a:p>
        </p:txBody>
      </p:sp>
      <p:sp>
        <p:nvSpPr>
          <p:cNvPr id="1366092" name="AutoShape 76"/>
          <p:cNvSpPr>
            <a:spLocks noChangeArrowheads="1"/>
          </p:cNvSpPr>
          <p:nvPr/>
        </p:nvSpPr>
        <p:spPr bwMode="auto">
          <a:xfrm>
            <a:off x="1835150" y="5445125"/>
            <a:ext cx="433388" cy="431800"/>
          </a:xfrm>
          <a:prstGeom prst="roundRect">
            <a:avLst>
              <a:gd name="adj" fmla="val 28375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66093" name="AutoShape 77"/>
          <p:cNvSpPr>
            <a:spLocks noChangeArrowheads="1"/>
          </p:cNvSpPr>
          <p:nvPr/>
        </p:nvSpPr>
        <p:spPr bwMode="auto">
          <a:xfrm>
            <a:off x="2411413" y="5445125"/>
            <a:ext cx="433387" cy="431800"/>
          </a:xfrm>
          <a:prstGeom prst="roundRect">
            <a:avLst>
              <a:gd name="adj" fmla="val 28375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66094" name="AutoShape 78"/>
          <p:cNvSpPr>
            <a:spLocks noChangeArrowheads="1"/>
          </p:cNvSpPr>
          <p:nvPr/>
        </p:nvSpPr>
        <p:spPr bwMode="auto">
          <a:xfrm>
            <a:off x="2987675" y="5445125"/>
            <a:ext cx="433388" cy="431800"/>
          </a:xfrm>
          <a:prstGeom prst="roundRect">
            <a:avLst>
              <a:gd name="adj" fmla="val 28375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66095" name="AutoShape 79"/>
          <p:cNvSpPr>
            <a:spLocks noChangeArrowheads="1"/>
          </p:cNvSpPr>
          <p:nvPr/>
        </p:nvSpPr>
        <p:spPr bwMode="auto">
          <a:xfrm>
            <a:off x="3563938" y="5445125"/>
            <a:ext cx="433387" cy="431800"/>
          </a:xfrm>
          <a:prstGeom prst="roundRect">
            <a:avLst>
              <a:gd name="adj" fmla="val 28375"/>
            </a:avLst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66096" name="Rectangle 80"/>
          <p:cNvSpPr>
            <a:spLocks noChangeArrowheads="1"/>
          </p:cNvSpPr>
          <p:nvPr/>
        </p:nvSpPr>
        <p:spPr bwMode="auto">
          <a:xfrm>
            <a:off x="3492500" y="5373688"/>
            <a:ext cx="576263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8000"/>
                </a:solidFill>
                <a:latin typeface="Arial" charset="0"/>
              </a:rPr>
              <a:t>1</a:t>
            </a:r>
          </a:p>
        </p:txBody>
      </p:sp>
      <p:sp>
        <p:nvSpPr>
          <p:cNvPr id="1366097" name="Text Box 81"/>
          <p:cNvSpPr txBox="1">
            <a:spLocks noChangeArrowheads="1"/>
          </p:cNvSpPr>
          <p:nvPr/>
        </p:nvSpPr>
        <p:spPr bwMode="auto">
          <a:xfrm>
            <a:off x="251520" y="4005263"/>
            <a:ext cx="4356100" cy="974725"/>
          </a:xfrm>
          <a:prstGeom prst="rect">
            <a:avLst/>
          </a:prstGeom>
          <a:solidFill>
            <a:srgbClr val="FFCCFF"/>
          </a:solidFill>
          <a:ln w="28575" algn="ctr">
            <a:solidFill>
              <a:srgbClr val="CC0066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lang="zh-CN" altLang="pt-BR" dirty="0"/>
              <a:t>因此，“</a:t>
            </a:r>
            <a:r>
              <a:rPr lang="pt-BR" altLang="zh-CN" dirty="0"/>
              <a:t>M</a:t>
            </a:r>
            <a:r>
              <a:rPr lang="zh-CN" altLang="en-US" dirty="0"/>
              <a:t>”</a:t>
            </a:r>
            <a:r>
              <a:rPr lang="zh-CN" altLang="pt-BR" dirty="0"/>
              <a:t>的编码字为：</a:t>
            </a:r>
            <a:r>
              <a:rPr lang="pt-BR" altLang="zh-CN" dirty="0">
                <a:latin typeface="Arial" charset="0"/>
              </a:rPr>
              <a:t>010011100101</a:t>
            </a:r>
            <a:r>
              <a:rPr lang="zh-CN" altLang="pt-BR" dirty="0"/>
              <a:t>。</a:t>
            </a:r>
            <a:endParaRPr lang="zh-CN" alt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660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660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660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660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660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660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660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660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660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660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660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660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66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6090" grpId="0" animBg="1"/>
      <p:bldP spid="1366092" grpId="0" animBg="1"/>
      <p:bldP spid="1366093" grpId="0" animBg="1"/>
      <p:bldP spid="1366094" grpId="0" animBg="1"/>
      <p:bldP spid="1366095" grpId="0" animBg="1"/>
      <p:bldP spid="1366096" grpId="0"/>
      <p:bldP spid="136609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8454A54-3D3A-4ACE-8840-38B808A9FAD3}" type="slidenum">
              <a:rPr lang="zh-CN" altLang="en-US"/>
              <a:pPr/>
              <a:t>33</a:t>
            </a:fld>
            <a:endParaRPr lang="en-US" altLang="zh-CN"/>
          </a:p>
        </p:txBody>
      </p:sp>
      <p:sp>
        <p:nvSpPr>
          <p:cNvPr id="136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三、海明码        </a:t>
            </a:r>
            <a:r>
              <a:rPr lang="en-US" altLang="zh-CN" dirty="0">
                <a:solidFill>
                  <a:srgbClr val="CC0066"/>
                </a:solidFill>
              </a:rPr>
              <a:t>1. </a:t>
            </a:r>
            <a:r>
              <a:rPr lang="zh-CN" altLang="en-US" dirty="0">
                <a:solidFill>
                  <a:srgbClr val="FF6600"/>
                </a:solidFill>
              </a:rPr>
              <a:t>检错</a:t>
            </a:r>
            <a:r>
              <a:rPr lang="zh-CN" altLang="en-US" dirty="0">
                <a:solidFill>
                  <a:srgbClr val="CC0066"/>
                </a:solidFill>
              </a:rPr>
              <a:t>和</a:t>
            </a:r>
            <a:r>
              <a:rPr lang="zh-CN" altLang="en-US" dirty="0">
                <a:solidFill>
                  <a:srgbClr val="FF3399"/>
                </a:solidFill>
              </a:rPr>
              <a:t>纠错</a:t>
            </a:r>
            <a:endParaRPr lang="zh-CN" altLang="en-US" dirty="0">
              <a:solidFill>
                <a:srgbClr val="CC0066"/>
              </a:solidFill>
            </a:endParaRPr>
          </a:p>
        </p:txBody>
      </p:sp>
      <p:sp>
        <p:nvSpPr>
          <p:cNvPr id="136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549275"/>
            <a:ext cx="8785225" cy="6119813"/>
          </a:xfrm>
        </p:spPr>
        <p:txBody>
          <a:bodyPr/>
          <a:lstStyle/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/>
              <a:t>【</a:t>
            </a:r>
            <a:r>
              <a:rPr lang="zh-CN" altLang="pt-BR" dirty="0"/>
              <a:t>例</a:t>
            </a:r>
            <a:r>
              <a:rPr lang="pt-BR" altLang="zh-CN" dirty="0"/>
              <a:t>】</a:t>
            </a:r>
            <a:r>
              <a:rPr lang="zh-CN" altLang="pt-BR" dirty="0"/>
              <a:t>利用上述构造海明码的步骤，采用</a:t>
            </a:r>
            <a:r>
              <a:rPr lang="zh-CN" altLang="pt-BR" dirty="0">
                <a:solidFill>
                  <a:srgbClr val="FF0000"/>
                </a:solidFill>
              </a:rPr>
              <a:t>偶校验</a:t>
            </a:r>
            <a:r>
              <a:rPr lang="zh-CN" altLang="pt-BR" dirty="0"/>
              <a:t>，对</a:t>
            </a:r>
            <a:r>
              <a:rPr lang="pt-BR" altLang="zh-CN" dirty="0"/>
              <a:t>8</a:t>
            </a:r>
            <a:r>
              <a:rPr lang="zh-CN" altLang="pt-BR" dirty="0"/>
              <a:t>位</a:t>
            </a:r>
            <a:r>
              <a:rPr lang="pt-BR" altLang="zh-CN" dirty="0"/>
              <a:t>ASCII</a:t>
            </a:r>
            <a:r>
              <a:rPr lang="zh-CN" altLang="pt-BR" dirty="0"/>
              <a:t>字符“</a:t>
            </a:r>
            <a:r>
              <a:rPr lang="pt-BR" altLang="zh-CN" dirty="0">
                <a:solidFill>
                  <a:srgbClr val="0000FF"/>
                </a:solidFill>
              </a:rPr>
              <a:t>M</a:t>
            </a:r>
            <a:r>
              <a:rPr lang="pt-BR" altLang="zh-CN" dirty="0"/>
              <a:t>”</a:t>
            </a:r>
            <a:r>
              <a:rPr lang="zh-CN" altLang="pt-BR" dirty="0"/>
              <a:t>进行编码（最高位为</a:t>
            </a:r>
            <a:r>
              <a:rPr lang="pt-BR" altLang="zh-CN" dirty="0"/>
              <a:t>0</a:t>
            </a:r>
            <a:r>
              <a:rPr lang="zh-CN" altLang="pt-BR" dirty="0"/>
              <a:t>）。人为地引入一个</a:t>
            </a:r>
            <a:r>
              <a:rPr lang="pt-BR" altLang="zh-CN" dirty="0"/>
              <a:t>1</a:t>
            </a:r>
            <a:r>
              <a:rPr lang="zh-CN" altLang="pt-BR" dirty="0"/>
              <a:t>位错误，说明如何找出这个错误。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/>
              <a:t>【</a:t>
            </a:r>
            <a:r>
              <a:rPr lang="zh-CN" altLang="pt-BR" dirty="0"/>
              <a:t>解</a:t>
            </a:r>
            <a:r>
              <a:rPr lang="pt-BR" altLang="zh-CN" dirty="0"/>
              <a:t>】</a:t>
            </a:r>
            <a:r>
              <a:rPr lang="zh-CN" altLang="pt-BR" dirty="0"/>
              <a:t> “</a:t>
            </a:r>
            <a:r>
              <a:rPr lang="pt-BR" altLang="zh-CN" dirty="0"/>
              <a:t>M”</a:t>
            </a:r>
            <a:r>
              <a:rPr lang="zh-CN" altLang="pt-BR" dirty="0"/>
              <a:t>的编码字为：</a:t>
            </a:r>
            <a:r>
              <a:rPr lang="pt-BR" altLang="zh-CN" dirty="0">
                <a:latin typeface="Arial" charset="0"/>
              </a:rPr>
              <a:t>010011</a:t>
            </a:r>
            <a:r>
              <a:rPr lang="pt-BR" altLang="zh-CN" dirty="0">
                <a:solidFill>
                  <a:srgbClr val="FF0000"/>
                </a:solidFill>
                <a:latin typeface="Arial" charset="0"/>
              </a:rPr>
              <a:t>1</a:t>
            </a:r>
            <a:r>
              <a:rPr lang="pt-BR" altLang="zh-CN" dirty="0">
                <a:latin typeface="Arial" charset="0"/>
              </a:rPr>
              <a:t>00101</a:t>
            </a:r>
            <a:r>
              <a:rPr lang="zh-CN" altLang="pt-BR" dirty="0"/>
              <a:t>。</a:t>
            </a:r>
            <a:endParaRPr lang="pt-BR" altLang="zh-CN" dirty="0"/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endParaRPr lang="pt-BR" altLang="zh-CN" dirty="0">
              <a:solidFill>
                <a:srgbClr val="CC0066"/>
              </a:solidFill>
            </a:endParaRP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endParaRPr lang="pt-BR" altLang="zh-CN" dirty="0">
              <a:solidFill>
                <a:srgbClr val="CC0066"/>
              </a:solidFill>
            </a:endParaRP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endParaRPr lang="pt-BR" altLang="zh-CN" dirty="0">
              <a:solidFill>
                <a:srgbClr val="CC0066"/>
              </a:solidFill>
            </a:endParaRP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endParaRPr lang="pt-BR" altLang="zh-CN" dirty="0">
              <a:solidFill>
                <a:srgbClr val="CC0066"/>
              </a:solidFill>
            </a:endParaRP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>
                <a:solidFill>
                  <a:srgbClr val="CC0066"/>
                </a:solidFill>
              </a:rPr>
              <a:t>④</a:t>
            </a:r>
            <a:r>
              <a:rPr lang="pt-BR" altLang="zh-CN" dirty="0"/>
              <a:t> </a:t>
            </a:r>
            <a:r>
              <a:rPr lang="zh-CN" altLang="pt-BR" dirty="0"/>
              <a:t>在第</a:t>
            </a:r>
            <a:r>
              <a:rPr lang="pt-BR" altLang="zh-CN" dirty="0"/>
              <a:t>6</a:t>
            </a:r>
            <a:r>
              <a:rPr lang="zh-CN" altLang="pt-BR" dirty="0"/>
              <a:t>位引入一个错误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：</a:t>
            </a:r>
            <a:endParaRPr lang="zh-CN" altLang="en-US" dirty="0">
              <a:solidFill>
                <a:srgbClr val="000000"/>
              </a:solidFill>
              <a:cs typeface="Times New Roman" pitchFamily="18" charset="0"/>
            </a:endParaRPr>
          </a:p>
        </p:txBody>
      </p:sp>
      <p:graphicFrame>
        <p:nvGraphicFramePr>
          <p:cNvPr id="1368068" name="Group 4"/>
          <p:cNvGraphicFramePr>
            <a:graphicFrameLocks noGrp="1"/>
          </p:cNvGraphicFramePr>
          <p:nvPr/>
        </p:nvGraphicFramePr>
        <p:xfrm>
          <a:off x="1187450" y="5386388"/>
          <a:ext cx="6985000" cy="1067435"/>
        </p:xfrm>
        <a:graphic>
          <a:graphicData uri="http://schemas.openxmlformats.org/drawingml/2006/table">
            <a:tbl>
              <a:tblPr/>
              <a:tblGrid>
                <a:gridCol w="582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6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26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26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26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26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8261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8261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12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9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8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68122" name="Rectangle 58"/>
          <p:cNvSpPr>
            <a:spLocks noChangeArrowheads="1"/>
          </p:cNvSpPr>
          <p:nvPr/>
        </p:nvSpPr>
        <p:spPr bwMode="auto">
          <a:xfrm>
            <a:off x="1187450" y="5386388"/>
            <a:ext cx="576263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0</a:t>
            </a:r>
          </a:p>
        </p:txBody>
      </p:sp>
      <p:sp>
        <p:nvSpPr>
          <p:cNvPr id="1368123" name="Rectangle 59"/>
          <p:cNvSpPr>
            <a:spLocks noChangeArrowheads="1"/>
          </p:cNvSpPr>
          <p:nvPr/>
        </p:nvSpPr>
        <p:spPr bwMode="auto">
          <a:xfrm>
            <a:off x="1763713" y="5386388"/>
            <a:ext cx="576262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1</a:t>
            </a:r>
          </a:p>
        </p:txBody>
      </p:sp>
      <p:sp>
        <p:nvSpPr>
          <p:cNvPr id="1368124" name="Rectangle 60"/>
          <p:cNvSpPr>
            <a:spLocks noChangeArrowheads="1"/>
          </p:cNvSpPr>
          <p:nvPr/>
        </p:nvSpPr>
        <p:spPr bwMode="auto">
          <a:xfrm>
            <a:off x="2339975" y="5386388"/>
            <a:ext cx="576263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0</a:t>
            </a:r>
          </a:p>
        </p:txBody>
      </p:sp>
      <p:sp>
        <p:nvSpPr>
          <p:cNvPr id="1368125" name="Rectangle 61"/>
          <p:cNvSpPr>
            <a:spLocks noChangeArrowheads="1"/>
          </p:cNvSpPr>
          <p:nvPr/>
        </p:nvSpPr>
        <p:spPr bwMode="auto">
          <a:xfrm>
            <a:off x="2916238" y="5386388"/>
            <a:ext cx="576262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0</a:t>
            </a:r>
          </a:p>
        </p:txBody>
      </p:sp>
      <p:sp>
        <p:nvSpPr>
          <p:cNvPr id="1368126" name="Rectangle 62"/>
          <p:cNvSpPr>
            <a:spLocks noChangeArrowheads="1"/>
          </p:cNvSpPr>
          <p:nvPr/>
        </p:nvSpPr>
        <p:spPr bwMode="auto">
          <a:xfrm>
            <a:off x="4067175" y="5386388"/>
            <a:ext cx="576263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1</a:t>
            </a:r>
          </a:p>
        </p:txBody>
      </p:sp>
      <p:sp>
        <p:nvSpPr>
          <p:cNvPr id="1368127" name="Rectangle 63"/>
          <p:cNvSpPr>
            <a:spLocks noChangeArrowheads="1"/>
          </p:cNvSpPr>
          <p:nvPr/>
        </p:nvSpPr>
        <p:spPr bwMode="auto">
          <a:xfrm>
            <a:off x="4716463" y="5386388"/>
            <a:ext cx="576262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FF0000"/>
                </a:solidFill>
                <a:latin typeface="Arial" charset="0"/>
              </a:rPr>
              <a:t>0</a:t>
            </a:r>
          </a:p>
        </p:txBody>
      </p:sp>
      <p:sp>
        <p:nvSpPr>
          <p:cNvPr id="1368128" name="Rectangle 64"/>
          <p:cNvSpPr>
            <a:spLocks noChangeArrowheads="1"/>
          </p:cNvSpPr>
          <p:nvPr/>
        </p:nvSpPr>
        <p:spPr bwMode="auto">
          <a:xfrm>
            <a:off x="5292725" y="5386388"/>
            <a:ext cx="576263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0</a:t>
            </a:r>
          </a:p>
        </p:txBody>
      </p:sp>
      <p:sp>
        <p:nvSpPr>
          <p:cNvPr id="1368129" name="Rectangle 65"/>
          <p:cNvSpPr>
            <a:spLocks noChangeArrowheads="1"/>
          </p:cNvSpPr>
          <p:nvPr/>
        </p:nvSpPr>
        <p:spPr bwMode="auto">
          <a:xfrm>
            <a:off x="6443663" y="5386388"/>
            <a:ext cx="576262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1</a:t>
            </a:r>
          </a:p>
        </p:txBody>
      </p:sp>
      <p:sp>
        <p:nvSpPr>
          <p:cNvPr id="1368132" name="Rectangle 68"/>
          <p:cNvSpPr>
            <a:spLocks noChangeArrowheads="1"/>
          </p:cNvSpPr>
          <p:nvPr/>
        </p:nvSpPr>
        <p:spPr bwMode="auto">
          <a:xfrm>
            <a:off x="7596188" y="5373688"/>
            <a:ext cx="576262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8000"/>
                </a:solidFill>
                <a:latin typeface="Arial" charset="0"/>
              </a:rPr>
              <a:t>1</a:t>
            </a:r>
          </a:p>
        </p:txBody>
      </p:sp>
      <p:sp>
        <p:nvSpPr>
          <p:cNvPr id="1368133" name="Rectangle 69"/>
          <p:cNvSpPr>
            <a:spLocks noChangeArrowheads="1"/>
          </p:cNvSpPr>
          <p:nvPr/>
        </p:nvSpPr>
        <p:spPr bwMode="auto">
          <a:xfrm>
            <a:off x="7019925" y="5373688"/>
            <a:ext cx="576263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8000"/>
                </a:solidFill>
                <a:latin typeface="Arial" charset="0"/>
              </a:rPr>
              <a:t>0</a:t>
            </a:r>
          </a:p>
        </p:txBody>
      </p:sp>
      <p:sp>
        <p:nvSpPr>
          <p:cNvPr id="1368135" name="Rectangle 71"/>
          <p:cNvSpPr>
            <a:spLocks noChangeArrowheads="1"/>
          </p:cNvSpPr>
          <p:nvPr/>
        </p:nvSpPr>
        <p:spPr bwMode="auto">
          <a:xfrm>
            <a:off x="5867400" y="5373688"/>
            <a:ext cx="576263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8000"/>
                </a:solidFill>
                <a:latin typeface="Arial" charset="0"/>
              </a:rPr>
              <a:t>0</a:t>
            </a:r>
          </a:p>
        </p:txBody>
      </p:sp>
      <p:sp>
        <p:nvSpPr>
          <p:cNvPr id="1368136" name="Rectangle 72"/>
          <p:cNvSpPr>
            <a:spLocks noChangeArrowheads="1"/>
          </p:cNvSpPr>
          <p:nvPr/>
        </p:nvSpPr>
        <p:spPr bwMode="auto">
          <a:xfrm>
            <a:off x="3492500" y="5373688"/>
            <a:ext cx="576263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8000"/>
                </a:solidFill>
                <a:latin typeface="Arial" charset="0"/>
              </a:rPr>
              <a:t>1</a:t>
            </a:r>
          </a:p>
        </p:txBody>
      </p:sp>
      <p:sp>
        <p:nvSpPr>
          <p:cNvPr id="1368137" name="AutoShape 73"/>
          <p:cNvSpPr>
            <a:spLocks noChangeArrowheads="1"/>
          </p:cNvSpPr>
          <p:nvPr/>
        </p:nvSpPr>
        <p:spPr bwMode="auto">
          <a:xfrm>
            <a:off x="4716463" y="5373688"/>
            <a:ext cx="576262" cy="576262"/>
          </a:xfrm>
          <a:prstGeom prst="star16">
            <a:avLst>
              <a:gd name="adj" fmla="val 37500"/>
            </a:avLst>
          </a:prstGeom>
          <a:noFill/>
          <a:ln w="28575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68143" name="Freeform 79"/>
          <p:cNvSpPr>
            <a:spLocks/>
          </p:cNvSpPr>
          <p:nvPr/>
        </p:nvSpPr>
        <p:spPr bwMode="auto">
          <a:xfrm>
            <a:off x="7667625" y="5445125"/>
            <a:ext cx="431800" cy="431800"/>
          </a:xfrm>
          <a:custGeom>
            <a:avLst/>
            <a:gdLst/>
            <a:ahLst/>
            <a:cxnLst>
              <a:cxn ang="0">
                <a:pos x="14387" y="1985"/>
              </a:cxn>
              <a:cxn ang="0">
                <a:pos x="12885" y="3756"/>
              </a:cxn>
              <a:cxn ang="0">
                <a:pos x="11448" y="5531"/>
              </a:cxn>
              <a:cxn ang="0">
                <a:pos x="10076" y="7312"/>
              </a:cxn>
              <a:cxn ang="0">
                <a:pos x="8779" y="9084"/>
              </a:cxn>
              <a:cxn ang="0">
                <a:pos x="7572" y="10826"/>
              </a:cxn>
              <a:cxn ang="0">
                <a:pos x="6458" y="12538"/>
              </a:cxn>
              <a:cxn ang="0">
                <a:pos x="5435" y="14221"/>
              </a:cxn>
              <a:cxn ang="0">
                <a:pos x="4981" y="15037"/>
              </a:cxn>
              <a:cxn ang="0">
                <a:pos x="4597" y="15620"/>
              </a:cxn>
              <a:cxn ang="0">
                <a:pos x="4125" y="16020"/>
              </a:cxn>
              <a:cxn ang="0">
                <a:pos x="3550" y="16267"/>
              </a:cxn>
              <a:cxn ang="0">
                <a:pos x="2872" y="16363"/>
              </a:cxn>
              <a:cxn ang="0">
                <a:pos x="2268" y="16340"/>
              </a:cxn>
              <a:cxn ang="0">
                <a:pos x="1909" y="16262"/>
              </a:cxn>
              <a:cxn ang="0">
                <a:pos x="1788" y="16193"/>
              </a:cxn>
              <a:cxn ang="0">
                <a:pos x="1653" y="16065"/>
              </a:cxn>
              <a:cxn ang="0">
                <a:pos x="1411" y="15696"/>
              </a:cxn>
              <a:cxn ang="0">
                <a:pos x="1139" y="15126"/>
              </a:cxn>
              <a:cxn ang="0">
                <a:pos x="883" y="14505"/>
              </a:cxn>
              <a:cxn ang="0">
                <a:pos x="565" y="13585"/>
              </a:cxn>
              <a:cxn ang="0">
                <a:pos x="192" y="12233"/>
              </a:cxn>
              <a:cxn ang="0">
                <a:pos x="32" y="11416"/>
              </a:cxn>
              <a:cxn ang="0">
                <a:pos x="0" y="11053"/>
              </a:cxn>
              <a:cxn ang="0">
                <a:pos x="21" y="10763"/>
              </a:cxn>
              <a:cxn ang="0">
                <a:pos x="94" y="10539"/>
              </a:cxn>
              <a:cxn ang="0">
                <a:pos x="244" y="10346"/>
              </a:cxn>
              <a:cxn ang="0">
                <a:pos x="504" y="10128"/>
              </a:cxn>
              <a:cxn ang="0">
                <a:pos x="930" y="9864"/>
              </a:cxn>
              <a:cxn ang="0">
                <a:pos x="1417" y="9644"/>
              </a:cxn>
              <a:cxn ang="0">
                <a:pos x="1904" y="9493"/>
              </a:cxn>
              <a:cxn ang="0">
                <a:pos x="2315" y="9435"/>
              </a:cxn>
              <a:cxn ang="0">
                <a:pos x="2498" y="9489"/>
              </a:cxn>
              <a:cxn ang="0">
                <a:pos x="2670" y="9687"/>
              </a:cxn>
              <a:cxn ang="0">
                <a:pos x="2859" y="10030"/>
              </a:cxn>
              <a:cxn ang="0">
                <a:pos x="3064" y="10517"/>
              </a:cxn>
              <a:cxn ang="0">
                <a:pos x="3147" y="10745"/>
              </a:cxn>
              <a:cxn ang="0">
                <a:pos x="3281" y="11108"/>
              </a:cxn>
              <a:cxn ang="0">
                <a:pos x="3464" y="11543"/>
              </a:cxn>
              <a:cxn ang="0">
                <a:pos x="3631" y="11839"/>
              </a:cxn>
              <a:cxn ang="0">
                <a:pos x="3783" y="11996"/>
              </a:cxn>
              <a:cxn ang="0">
                <a:pos x="3922" y="12001"/>
              </a:cxn>
              <a:cxn ang="0">
                <a:pos x="4181" y="11725"/>
              </a:cxn>
              <a:cxn ang="0">
                <a:pos x="4608" y="11135"/>
              </a:cxn>
              <a:cxn ang="0">
                <a:pos x="5469" y="9809"/>
              </a:cxn>
              <a:cxn ang="0">
                <a:pos x="7040" y="7359"/>
              </a:cxn>
              <a:cxn ang="0">
                <a:pos x="8639" y="5050"/>
              </a:cxn>
              <a:cxn ang="0">
                <a:pos x="9778" y="3519"/>
              </a:cxn>
              <a:cxn ang="0">
                <a:pos x="10743" y="2321"/>
              </a:cxn>
              <a:cxn ang="0">
                <a:pos x="11541" y="1428"/>
              </a:cxn>
              <a:cxn ang="0">
                <a:pos x="11947" y="1045"/>
              </a:cxn>
              <a:cxn ang="0">
                <a:pos x="12216" y="858"/>
              </a:cxn>
              <a:cxn ang="0">
                <a:pos x="12899" y="558"/>
              </a:cxn>
              <a:cxn ang="0">
                <a:pos x="13750" y="304"/>
              </a:cxn>
              <a:cxn ang="0">
                <a:pos x="14728" y="112"/>
              </a:cxn>
              <a:cxn ang="0">
                <a:pos x="15756" y="439"/>
              </a:cxn>
            </a:cxnLst>
            <a:rect l="0" t="0" r="r" b="b"/>
            <a:pathLst>
              <a:path w="15756" h="16364">
                <a:moveTo>
                  <a:pt x="15756" y="439"/>
                </a:moveTo>
                <a:lnTo>
                  <a:pt x="15557" y="659"/>
                </a:lnTo>
                <a:lnTo>
                  <a:pt x="15359" y="881"/>
                </a:lnTo>
                <a:lnTo>
                  <a:pt x="15163" y="1101"/>
                </a:lnTo>
                <a:lnTo>
                  <a:pt x="14967" y="1322"/>
                </a:lnTo>
                <a:lnTo>
                  <a:pt x="14772" y="1543"/>
                </a:lnTo>
                <a:lnTo>
                  <a:pt x="14579" y="1764"/>
                </a:lnTo>
                <a:lnTo>
                  <a:pt x="14387" y="1985"/>
                </a:lnTo>
                <a:lnTo>
                  <a:pt x="14196" y="2207"/>
                </a:lnTo>
                <a:lnTo>
                  <a:pt x="14005" y="2427"/>
                </a:lnTo>
                <a:lnTo>
                  <a:pt x="13816" y="2649"/>
                </a:lnTo>
                <a:lnTo>
                  <a:pt x="13627" y="2870"/>
                </a:lnTo>
                <a:lnTo>
                  <a:pt x="13440" y="3091"/>
                </a:lnTo>
                <a:lnTo>
                  <a:pt x="13253" y="3313"/>
                </a:lnTo>
                <a:lnTo>
                  <a:pt x="13069" y="3535"/>
                </a:lnTo>
                <a:lnTo>
                  <a:pt x="12885" y="3756"/>
                </a:lnTo>
                <a:lnTo>
                  <a:pt x="12701" y="3978"/>
                </a:lnTo>
                <a:lnTo>
                  <a:pt x="12519" y="4199"/>
                </a:lnTo>
                <a:lnTo>
                  <a:pt x="12338" y="4421"/>
                </a:lnTo>
                <a:lnTo>
                  <a:pt x="12158" y="4643"/>
                </a:lnTo>
                <a:lnTo>
                  <a:pt x="11979" y="4865"/>
                </a:lnTo>
                <a:lnTo>
                  <a:pt x="11801" y="5088"/>
                </a:lnTo>
                <a:lnTo>
                  <a:pt x="11624" y="5309"/>
                </a:lnTo>
                <a:lnTo>
                  <a:pt x="11448" y="5531"/>
                </a:lnTo>
                <a:lnTo>
                  <a:pt x="11273" y="5754"/>
                </a:lnTo>
                <a:lnTo>
                  <a:pt x="11099" y="5976"/>
                </a:lnTo>
                <a:lnTo>
                  <a:pt x="10927" y="6198"/>
                </a:lnTo>
                <a:lnTo>
                  <a:pt x="10754" y="6422"/>
                </a:lnTo>
                <a:lnTo>
                  <a:pt x="10583" y="6644"/>
                </a:lnTo>
                <a:lnTo>
                  <a:pt x="10413" y="6867"/>
                </a:lnTo>
                <a:lnTo>
                  <a:pt x="10244" y="7090"/>
                </a:lnTo>
                <a:lnTo>
                  <a:pt x="10076" y="7312"/>
                </a:lnTo>
                <a:lnTo>
                  <a:pt x="9911" y="7536"/>
                </a:lnTo>
                <a:lnTo>
                  <a:pt x="9745" y="7758"/>
                </a:lnTo>
                <a:lnTo>
                  <a:pt x="9580" y="7981"/>
                </a:lnTo>
                <a:lnTo>
                  <a:pt x="9417" y="8202"/>
                </a:lnTo>
                <a:lnTo>
                  <a:pt x="9255" y="8423"/>
                </a:lnTo>
                <a:lnTo>
                  <a:pt x="9095" y="8644"/>
                </a:lnTo>
                <a:lnTo>
                  <a:pt x="8936" y="8864"/>
                </a:lnTo>
                <a:lnTo>
                  <a:pt x="8779" y="9084"/>
                </a:lnTo>
                <a:lnTo>
                  <a:pt x="8623" y="9304"/>
                </a:lnTo>
                <a:lnTo>
                  <a:pt x="8468" y="9522"/>
                </a:lnTo>
                <a:lnTo>
                  <a:pt x="8316" y="9740"/>
                </a:lnTo>
                <a:lnTo>
                  <a:pt x="8164" y="9959"/>
                </a:lnTo>
                <a:lnTo>
                  <a:pt x="8015" y="10176"/>
                </a:lnTo>
                <a:lnTo>
                  <a:pt x="7865" y="10393"/>
                </a:lnTo>
                <a:lnTo>
                  <a:pt x="7719" y="10609"/>
                </a:lnTo>
                <a:lnTo>
                  <a:pt x="7572" y="10826"/>
                </a:lnTo>
                <a:lnTo>
                  <a:pt x="7428" y="11041"/>
                </a:lnTo>
                <a:lnTo>
                  <a:pt x="7285" y="11256"/>
                </a:lnTo>
                <a:lnTo>
                  <a:pt x="7144" y="11471"/>
                </a:lnTo>
                <a:lnTo>
                  <a:pt x="7004" y="11685"/>
                </a:lnTo>
                <a:lnTo>
                  <a:pt x="6865" y="11898"/>
                </a:lnTo>
                <a:lnTo>
                  <a:pt x="6727" y="12113"/>
                </a:lnTo>
                <a:lnTo>
                  <a:pt x="6592" y="12325"/>
                </a:lnTo>
                <a:lnTo>
                  <a:pt x="6458" y="12538"/>
                </a:lnTo>
                <a:lnTo>
                  <a:pt x="6325" y="12749"/>
                </a:lnTo>
                <a:lnTo>
                  <a:pt x="6193" y="12961"/>
                </a:lnTo>
                <a:lnTo>
                  <a:pt x="6063" y="13172"/>
                </a:lnTo>
                <a:lnTo>
                  <a:pt x="5935" y="13382"/>
                </a:lnTo>
                <a:lnTo>
                  <a:pt x="5808" y="13593"/>
                </a:lnTo>
                <a:lnTo>
                  <a:pt x="5682" y="13803"/>
                </a:lnTo>
                <a:lnTo>
                  <a:pt x="5558" y="14012"/>
                </a:lnTo>
                <a:lnTo>
                  <a:pt x="5435" y="14221"/>
                </a:lnTo>
                <a:lnTo>
                  <a:pt x="5313" y="14429"/>
                </a:lnTo>
                <a:lnTo>
                  <a:pt x="5272" y="14500"/>
                </a:lnTo>
                <a:lnTo>
                  <a:pt x="5229" y="14578"/>
                </a:lnTo>
                <a:lnTo>
                  <a:pt x="5184" y="14660"/>
                </a:lnTo>
                <a:lnTo>
                  <a:pt x="5136" y="14746"/>
                </a:lnTo>
                <a:lnTo>
                  <a:pt x="5087" y="14839"/>
                </a:lnTo>
                <a:lnTo>
                  <a:pt x="5034" y="14935"/>
                </a:lnTo>
                <a:lnTo>
                  <a:pt x="4981" y="15037"/>
                </a:lnTo>
                <a:lnTo>
                  <a:pt x="4926" y="15144"/>
                </a:lnTo>
                <a:lnTo>
                  <a:pt x="4884" y="15219"/>
                </a:lnTo>
                <a:lnTo>
                  <a:pt x="4840" y="15292"/>
                </a:lnTo>
                <a:lnTo>
                  <a:pt x="4795" y="15362"/>
                </a:lnTo>
                <a:lnTo>
                  <a:pt x="4748" y="15430"/>
                </a:lnTo>
                <a:lnTo>
                  <a:pt x="4699" y="15496"/>
                </a:lnTo>
                <a:lnTo>
                  <a:pt x="4649" y="15559"/>
                </a:lnTo>
                <a:lnTo>
                  <a:pt x="4597" y="15620"/>
                </a:lnTo>
                <a:lnTo>
                  <a:pt x="4544" y="15678"/>
                </a:lnTo>
                <a:lnTo>
                  <a:pt x="4488" y="15734"/>
                </a:lnTo>
                <a:lnTo>
                  <a:pt x="4432" y="15788"/>
                </a:lnTo>
                <a:lnTo>
                  <a:pt x="4374" y="15839"/>
                </a:lnTo>
                <a:lnTo>
                  <a:pt x="4314" y="15888"/>
                </a:lnTo>
                <a:lnTo>
                  <a:pt x="4253" y="15934"/>
                </a:lnTo>
                <a:lnTo>
                  <a:pt x="4189" y="15978"/>
                </a:lnTo>
                <a:lnTo>
                  <a:pt x="4125" y="16020"/>
                </a:lnTo>
                <a:lnTo>
                  <a:pt x="4058" y="16059"/>
                </a:lnTo>
                <a:lnTo>
                  <a:pt x="3991" y="16096"/>
                </a:lnTo>
                <a:lnTo>
                  <a:pt x="3921" y="16131"/>
                </a:lnTo>
                <a:lnTo>
                  <a:pt x="3850" y="16163"/>
                </a:lnTo>
                <a:lnTo>
                  <a:pt x="3778" y="16192"/>
                </a:lnTo>
                <a:lnTo>
                  <a:pt x="3703" y="16220"/>
                </a:lnTo>
                <a:lnTo>
                  <a:pt x="3627" y="16245"/>
                </a:lnTo>
                <a:lnTo>
                  <a:pt x="3550" y="16267"/>
                </a:lnTo>
                <a:lnTo>
                  <a:pt x="3471" y="16288"/>
                </a:lnTo>
                <a:lnTo>
                  <a:pt x="3390" y="16305"/>
                </a:lnTo>
                <a:lnTo>
                  <a:pt x="3308" y="16321"/>
                </a:lnTo>
                <a:lnTo>
                  <a:pt x="3225" y="16334"/>
                </a:lnTo>
                <a:lnTo>
                  <a:pt x="3139" y="16344"/>
                </a:lnTo>
                <a:lnTo>
                  <a:pt x="3051" y="16353"/>
                </a:lnTo>
                <a:lnTo>
                  <a:pt x="2962" y="16358"/>
                </a:lnTo>
                <a:lnTo>
                  <a:pt x="2872" y="16363"/>
                </a:lnTo>
                <a:lnTo>
                  <a:pt x="2781" y="16364"/>
                </a:lnTo>
                <a:lnTo>
                  <a:pt x="2697" y="16364"/>
                </a:lnTo>
                <a:lnTo>
                  <a:pt x="2616" y="16362"/>
                </a:lnTo>
                <a:lnTo>
                  <a:pt x="2540" y="16360"/>
                </a:lnTo>
                <a:lnTo>
                  <a:pt x="2467" y="16356"/>
                </a:lnTo>
                <a:lnTo>
                  <a:pt x="2397" y="16351"/>
                </a:lnTo>
                <a:lnTo>
                  <a:pt x="2330" y="16346"/>
                </a:lnTo>
                <a:lnTo>
                  <a:pt x="2268" y="16340"/>
                </a:lnTo>
                <a:lnTo>
                  <a:pt x="2209" y="16333"/>
                </a:lnTo>
                <a:lnTo>
                  <a:pt x="2153" y="16325"/>
                </a:lnTo>
                <a:lnTo>
                  <a:pt x="2101" y="16315"/>
                </a:lnTo>
                <a:lnTo>
                  <a:pt x="2052" y="16305"/>
                </a:lnTo>
                <a:lnTo>
                  <a:pt x="2007" y="16294"/>
                </a:lnTo>
                <a:lnTo>
                  <a:pt x="1965" y="16282"/>
                </a:lnTo>
                <a:lnTo>
                  <a:pt x="1927" y="16269"/>
                </a:lnTo>
                <a:lnTo>
                  <a:pt x="1909" y="16262"/>
                </a:lnTo>
                <a:lnTo>
                  <a:pt x="1892" y="16255"/>
                </a:lnTo>
                <a:lnTo>
                  <a:pt x="1877" y="16247"/>
                </a:lnTo>
                <a:lnTo>
                  <a:pt x="1861" y="16240"/>
                </a:lnTo>
                <a:lnTo>
                  <a:pt x="1846" y="16231"/>
                </a:lnTo>
                <a:lnTo>
                  <a:pt x="1832" y="16223"/>
                </a:lnTo>
                <a:lnTo>
                  <a:pt x="1817" y="16214"/>
                </a:lnTo>
                <a:lnTo>
                  <a:pt x="1802" y="16204"/>
                </a:lnTo>
                <a:lnTo>
                  <a:pt x="1788" y="16193"/>
                </a:lnTo>
                <a:lnTo>
                  <a:pt x="1772" y="16181"/>
                </a:lnTo>
                <a:lnTo>
                  <a:pt x="1758" y="16170"/>
                </a:lnTo>
                <a:lnTo>
                  <a:pt x="1743" y="16157"/>
                </a:lnTo>
                <a:lnTo>
                  <a:pt x="1728" y="16143"/>
                </a:lnTo>
                <a:lnTo>
                  <a:pt x="1713" y="16129"/>
                </a:lnTo>
                <a:lnTo>
                  <a:pt x="1697" y="16114"/>
                </a:lnTo>
                <a:lnTo>
                  <a:pt x="1683" y="16098"/>
                </a:lnTo>
                <a:lnTo>
                  <a:pt x="1653" y="16065"/>
                </a:lnTo>
                <a:lnTo>
                  <a:pt x="1623" y="16028"/>
                </a:lnTo>
                <a:lnTo>
                  <a:pt x="1593" y="15990"/>
                </a:lnTo>
                <a:lnTo>
                  <a:pt x="1562" y="15948"/>
                </a:lnTo>
                <a:lnTo>
                  <a:pt x="1533" y="15903"/>
                </a:lnTo>
                <a:lnTo>
                  <a:pt x="1502" y="15855"/>
                </a:lnTo>
                <a:lnTo>
                  <a:pt x="1471" y="15805"/>
                </a:lnTo>
                <a:lnTo>
                  <a:pt x="1441" y="15752"/>
                </a:lnTo>
                <a:lnTo>
                  <a:pt x="1411" y="15696"/>
                </a:lnTo>
                <a:lnTo>
                  <a:pt x="1380" y="15637"/>
                </a:lnTo>
                <a:lnTo>
                  <a:pt x="1344" y="15566"/>
                </a:lnTo>
                <a:lnTo>
                  <a:pt x="1309" y="15495"/>
                </a:lnTo>
                <a:lnTo>
                  <a:pt x="1274" y="15422"/>
                </a:lnTo>
                <a:lnTo>
                  <a:pt x="1240" y="15349"/>
                </a:lnTo>
                <a:lnTo>
                  <a:pt x="1206" y="15275"/>
                </a:lnTo>
                <a:lnTo>
                  <a:pt x="1172" y="15200"/>
                </a:lnTo>
                <a:lnTo>
                  <a:pt x="1139" y="15126"/>
                </a:lnTo>
                <a:lnTo>
                  <a:pt x="1105" y="15051"/>
                </a:lnTo>
                <a:lnTo>
                  <a:pt x="1073" y="14974"/>
                </a:lnTo>
                <a:lnTo>
                  <a:pt x="1041" y="14898"/>
                </a:lnTo>
                <a:lnTo>
                  <a:pt x="1008" y="14820"/>
                </a:lnTo>
                <a:lnTo>
                  <a:pt x="976" y="14742"/>
                </a:lnTo>
                <a:lnTo>
                  <a:pt x="946" y="14663"/>
                </a:lnTo>
                <a:lnTo>
                  <a:pt x="914" y="14585"/>
                </a:lnTo>
                <a:lnTo>
                  <a:pt x="883" y="14505"/>
                </a:lnTo>
                <a:lnTo>
                  <a:pt x="853" y="14424"/>
                </a:lnTo>
                <a:lnTo>
                  <a:pt x="823" y="14343"/>
                </a:lnTo>
                <a:lnTo>
                  <a:pt x="793" y="14262"/>
                </a:lnTo>
                <a:lnTo>
                  <a:pt x="763" y="14179"/>
                </a:lnTo>
                <a:lnTo>
                  <a:pt x="734" y="14096"/>
                </a:lnTo>
                <a:lnTo>
                  <a:pt x="676" y="13929"/>
                </a:lnTo>
                <a:lnTo>
                  <a:pt x="620" y="13759"/>
                </a:lnTo>
                <a:lnTo>
                  <a:pt x="565" y="13585"/>
                </a:lnTo>
                <a:lnTo>
                  <a:pt x="510" y="13410"/>
                </a:lnTo>
                <a:lnTo>
                  <a:pt x="457" y="13233"/>
                </a:lnTo>
                <a:lnTo>
                  <a:pt x="405" y="13052"/>
                </a:lnTo>
                <a:lnTo>
                  <a:pt x="356" y="12875"/>
                </a:lnTo>
                <a:lnTo>
                  <a:pt x="311" y="12704"/>
                </a:lnTo>
                <a:lnTo>
                  <a:pt x="268" y="12540"/>
                </a:lnTo>
                <a:lnTo>
                  <a:pt x="228" y="12383"/>
                </a:lnTo>
                <a:lnTo>
                  <a:pt x="192" y="12233"/>
                </a:lnTo>
                <a:lnTo>
                  <a:pt x="158" y="12088"/>
                </a:lnTo>
                <a:lnTo>
                  <a:pt x="128" y="11951"/>
                </a:lnTo>
                <a:lnTo>
                  <a:pt x="102" y="11821"/>
                </a:lnTo>
                <a:lnTo>
                  <a:pt x="78" y="11697"/>
                </a:lnTo>
                <a:lnTo>
                  <a:pt x="58" y="11579"/>
                </a:lnTo>
                <a:lnTo>
                  <a:pt x="49" y="11522"/>
                </a:lnTo>
                <a:lnTo>
                  <a:pt x="40" y="11468"/>
                </a:lnTo>
                <a:lnTo>
                  <a:pt x="32" y="11416"/>
                </a:lnTo>
                <a:lnTo>
                  <a:pt x="26" y="11365"/>
                </a:lnTo>
                <a:lnTo>
                  <a:pt x="20" y="11314"/>
                </a:lnTo>
                <a:lnTo>
                  <a:pt x="15" y="11267"/>
                </a:lnTo>
                <a:lnTo>
                  <a:pt x="11" y="11221"/>
                </a:lnTo>
                <a:lnTo>
                  <a:pt x="7" y="11176"/>
                </a:lnTo>
                <a:lnTo>
                  <a:pt x="3" y="11134"/>
                </a:lnTo>
                <a:lnTo>
                  <a:pt x="2" y="11092"/>
                </a:lnTo>
                <a:lnTo>
                  <a:pt x="0" y="11053"/>
                </a:lnTo>
                <a:lnTo>
                  <a:pt x="0" y="11015"/>
                </a:lnTo>
                <a:lnTo>
                  <a:pt x="0" y="10976"/>
                </a:lnTo>
                <a:lnTo>
                  <a:pt x="2" y="10938"/>
                </a:lnTo>
                <a:lnTo>
                  <a:pt x="4" y="10900"/>
                </a:lnTo>
                <a:lnTo>
                  <a:pt x="8" y="10864"/>
                </a:lnTo>
                <a:lnTo>
                  <a:pt x="11" y="10830"/>
                </a:lnTo>
                <a:lnTo>
                  <a:pt x="16" y="10796"/>
                </a:lnTo>
                <a:lnTo>
                  <a:pt x="21" y="10763"/>
                </a:lnTo>
                <a:lnTo>
                  <a:pt x="27" y="10731"/>
                </a:lnTo>
                <a:lnTo>
                  <a:pt x="34" y="10700"/>
                </a:lnTo>
                <a:lnTo>
                  <a:pt x="42" y="10671"/>
                </a:lnTo>
                <a:lnTo>
                  <a:pt x="51" y="10642"/>
                </a:lnTo>
                <a:lnTo>
                  <a:pt x="61" y="10614"/>
                </a:lnTo>
                <a:lnTo>
                  <a:pt x="71" y="10588"/>
                </a:lnTo>
                <a:lnTo>
                  <a:pt x="81" y="10562"/>
                </a:lnTo>
                <a:lnTo>
                  <a:pt x="94" y="10539"/>
                </a:lnTo>
                <a:lnTo>
                  <a:pt x="106" y="10515"/>
                </a:lnTo>
                <a:lnTo>
                  <a:pt x="120" y="10492"/>
                </a:lnTo>
                <a:lnTo>
                  <a:pt x="137" y="10469"/>
                </a:lnTo>
                <a:lnTo>
                  <a:pt x="155" y="10445"/>
                </a:lnTo>
                <a:lnTo>
                  <a:pt x="175" y="10421"/>
                </a:lnTo>
                <a:lnTo>
                  <a:pt x="196" y="10397"/>
                </a:lnTo>
                <a:lnTo>
                  <a:pt x="219" y="10372"/>
                </a:lnTo>
                <a:lnTo>
                  <a:pt x="244" y="10346"/>
                </a:lnTo>
                <a:lnTo>
                  <a:pt x="271" y="10320"/>
                </a:lnTo>
                <a:lnTo>
                  <a:pt x="298" y="10295"/>
                </a:lnTo>
                <a:lnTo>
                  <a:pt x="328" y="10268"/>
                </a:lnTo>
                <a:lnTo>
                  <a:pt x="360" y="10240"/>
                </a:lnTo>
                <a:lnTo>
                  <a:pt x="394" y="10213"/>
                </a:lnTo>
                <a:lnTo>
                  <a:pt x="429" y="10185"/>
                </a:lnTo>
                <a:lnTo>
                  <a:pt x="465" y="10156"/>
                </a:lnTo>
                <a:lnTo>
                  <a:pt x="504" y="10128"/>
                </a:lnTo>
                <a:lnTo>
                  <a:pt x="544" y="10099"/>
                </a:lnTo>
                <a:lnTo>
                  <a:pt x="596" y="10063"/>
                </a:lnTo>
                <a:lnTo>
                  <a:pt x="651" y="10028"/>
                </a:lnTo>
                <a:lnTo>
                  <a:pt x="705" y="9993"/>
                </a:lnTo>
                <a:lnTo>
                  <a:pt x="760" y="9960"/>
                </a:lnTo>
                <a:lnTo>
                  <a:pt x="816" y="9927"/>
                </a:lnTo>
                <a:lnTo>
                  <a:pt x="873" y="9895"/>
                </a:lnTo>
                <a:lnTo>
                  <a:pt x="930" y="9864"/>
                </a:lnTo>
                <a:lnTo>
                  <a:pt x="989" y="9833"/>
                </a:lnTo>
                <a:lnTo>
                  <a:pt x="1047" y="9804"/>
                </a:lnTo>
                <a:lnTo>
                  <a:pt x="1107" y="9775"/>
                </a:lnTo>
                <a:lnTo>
                  <a:pt x="1167" y="9747"/>
                </a:lnTo>
                <a:lnTo>
                  <a:pt x="1228" y="9721"/>
                </a:lnTo>
                <a:lnTo>
                  <a:pt x="1291" y="9694"/>
                </a:lnTo>
                <a:lnTo>
                  <a:pt x="1353" y="9669"/>
                </a:lnTo>
                <a:lnTo>
                  <a:pt x="1417" y="9644"/>
                </a:lnTo>
                <a:lnTo>
                  <a:pt x="1481" y="9620"/>
                </a:lnTo>
                <a:lnTo>
                  <a:pt x="1546" y="9598"/>
                </a:lnTo>
                <a:lnTo>
                  <a:pt x="1608" y="9577"/>
                </a:lnTo>
                <a:lnTo>
                  <a:pt x="1670" y="9557"/>
                </a:lnTo>
                <a:lnTo>
                  <a:pt x="1730" y="9539"/>
                </a:lnTo>
                <a:lnTo>
                  <a:pt x="1789" y="9522"/>
                </a:lnTo>
                <a:lnTo>
                  <a:pt x="1847" y="9507"/>
                </a:lnTo>
                <a:lnTo>
                  <a:pt x="1904" y="9493"/>
                </a:lnTo>
                <a:lnTo>
                  <a:pt x="1960" y="9481"/>
                </a:lnTo>
                <a:lnTo>
                  <a:pt x="2014" y="9470"/>
                </a:lnTo>
                <a:lnTo>
                  <a:pt x="2067" y="9460"/>
                </a:lnTo>
                <a:lnTo>
                  <a:pt x="2119" y="9452"/>
                </a:lnTo>
                <a:lnTo>
                  <a:pt x="2171" y="9446"/>
                </a:lnTo>
                <a:lnTo>
                  <a:pt x="2220" y="9441"/>
                </a:lnTo>
                <a:lnTo>
                  <a:pt x="2268" y="9437"/>
                </a:lnTo>
                <a:lnTo>
                  <a:pt x="2315" y="9435"/>
                </a:lnTo>
                <a:lnTo>
                  <a:pt x="2361" y="9434"/>
                </a:lnTo>
                <a:lnTo>
                  <a:pt x="2380" y="9436"/>
                </a:lnTo>
                <a:lnTo>
                  <a:pt x="2399" y="9439"/>
                </a:lnTo>
                <a:lnTo>
                  <a:pt x="2419" y="9444"/>
                </a:lnTo>
                <a:lnTo>
                  <a:pt x="2438" y="9452"/>
                </a:lnTo>
                <a:lnTo>
                  <a:pt x="2458" y="9463"/>
                </a:lnTo>
                <a:lnTo>
                  <a:pt x="2478" y="9475"/>
                </a:lnTo>
                <a:lnTo>
                  <a:pt x="2498" y="9489"/>
                </a:lnTo>
                <a:lnTo>
                  <a:pt x="2519" y="9507"/>
                </a:lnTo>
                <a:lnTo>
                  <a:pt x="2540" y="9525"/>
                </a:lnTo>
                <a:lnTo>
                  <a:pt x="2561" y="9547"/>
                </a:lnTo>
                <a:lnTo>
                  <a:pt x="2582" y="9570"/>
                </a:lnTo>
                <a:lnTo>
                  <a:pt x="2604" y="9597"/>
                </a:lnTo>
                <a:lnTo>
                  <a:pt x="2626" y="9624"/>
                </a:lnTo>
                <a:lnTo>
                  <a:pt x="2648" y="9655"/>
                </a:lnTo>
                <a:lnTo>
                  <a:pt x="2670" y="9687"/>
                </a:lnTo>
                <a:lnTo>
                  <a:pt x="2693" y="9722"/>
                </a:lnTo>
                <a:lnTo>
                  <a:pt x="2716" y="9760"/>
                </a:lnTo>
                <a:lnTo>
                  <a:pt x="2739" y="9799"/>
                </a:lnTo>
                <a:lnTo>
                  <a:pt x="2763" y="9841"/>
                </a:lnTo>
                <a:lnTo>
                  <a:pt x="2786" y="9885"/>
                </a:lnTo>
                <a:lnTo>
                  <a:pt x="2810" y="9931"/>
                </a:lnTo>
                <a:lnTo>
                  <a:pt x="2834" y="9979"/>
                </a:lnTo>
                <a:lnTo>
                  <a:pt x="2859" y="10030"/>
                </a:lnTo>
                <a:lnTo>
                  <a:pt x="2883" y="10083"/>
                </a:lnTo>
                <a:lnTo>
                  <a:pt x="2908" y="10138"/>
                </a:lnTo>
                <a:lnTo>
                  <a:pt x="2934" y="10195"/>
                </a:lnTo>
                <a:lnTo>
                  <a:pt x="2959" y="10256"/>
                </a:lnTo>
                <a:lnTo>
                  <a:pt x="2985" y="10317"/>
                </a:lnTo>
                <a:lnTo>
                  <a:pt x="3010" y="10382"/>
                </a:lnTo>
                <a:lnTo>
                  <a:pt x="3037" y="10448"/>
                </a:lnTo>
                <a:lnTo>
                  <a:pt x="3064" y="10517"/>
                </a:lnTo>
                <a:lnTo>
                  <a:pt x="3090" y="10588"/>
                </a:lnTo>
                <a:lnTo>
                  <a:pt x="3101" y="10616"/>
                </a:lnTo>
                <a:lnTo>
                  <a:pt x="3109" y="10643"/>
                </a:lnTo>
                <a:lnTo>
                  <a:pt x="3118" y="10668"/>
                </a:lnTo>
                <a:lnTo>
                  <a:pt x="3126" y="10690"/>
                </a:lnTo>
                <a:lnTo>
                  <a:pt x="3133" y="10711"/>
                </a:lnTo>
                <a:lnTo>
                  <a:pt x="3141" y="10728"/>
                </a:lnTo>
                <a:lnTo>
                  <a:pt x="3147" y="10745"/>
                </a:lnTo>
                <a:lnTo>
                  <a:pt x="3153" y="10760"/>
                </a:lnTo>
                <a:lnTo>
                  <a:pt x="3160" y="10786"/>
                </a:lnTo>
                <a:lnTo>
                  <a:pt x="3172" y="10819"/>
                </a:lnTo>
                <a:lnTo>
                  <a:pt x="3188" y="10860"/>
                </a:lnTo>
                <a:lnTo>
                  <a:pt x="3207" y="10910"/>
                </a:lnTo>
                <a:lnTo>
                  <a:pt x="3232" y="10978"/>
                </a:lnTo>
                <a:lnTo>
                  <a:pt x="3256" y="11044"/>
                </a:lnTo>
                <a:lnTo>
                  <a:pt x="3281" y="11108"/>
                </a:lnTo>
                <a:lnTo>
                  <a:pt x="3304" y="11170"/>
                </a:lnTo>
                <a:lnTo>
                  <a:pt x="3328" y="11229"/>
                </a:lnTo>
                <a:lnTo>
                  <a:pt x="3351" y="11288"/>
                </a:lnTo>
                <a:lnTo>
                  <a:pt x="3374" y="11343"/>
                </a:lnTo>
                <a:lnTo>
                  <a:pt x="3397" y="11396"/>
                </a:lnTo>
                <a:lnTo>
                  <a:pt x="3419" y="11448"/>
                </a:lnTo>
                <a:lnTo>
                  <a:pt x="3442" y="11496"/>
                </a:lnTo>
                <a:lnTo>
                  <a:pt x="3464" y="11543"/>
                </a:lnTo>
                <a:lnTo>
                  <a:pt x="3486" y="11587"/>
                </a:lnTo>
                <a:lnTo>
                  <a:pt x="3507" y="11630"/>
                </a:lnTo>
                <a:lnTo>
                  <a:pt x="3529" y="11670"/>
                </a:lnTo>
                <a:lnTo>
                  <a:pt x="3550" y="11708"/>
                </a:lnTo>
                <a:lnTo>
                  <a:pt x="3571" y="11744"/>
                </a:lnTo>
                <a:lnTo>
                  <a:pt x="3591" y="11778"/>
                </a:lnTo>
                <a:lnTo>
                  <a:pt x="3612" y="11809"/>
                </a:lnTo>
                <a:lnTo>
                  <a:pt x="3631" y="11839"/>
                </a:lnTo>
                <a:lnTo>
                  <a:pt x="3652" y="11866"/>
                </a:lnTo>
                <a:lnTo>
                  <a:pt x="3671" y="11891"/>
                </a:lnTo>
                <a:lnTo>
                  <a:pt x="3691" y="11914"/>
                </a:lnTo>
                <a:lnTo>
                  <a:pt x="3709" y="11934"/>
                </a:lnTo>
                <a:lnTo>
                  <a:pt x="3727" y="11953"/>
                </a:lnTo>
                <a:lnTo>
                  <a:pt x="3746" y="11969"/>
                </a:lnTo>
                <a:lnTo>
                  <a:pt x="3764" y="11984"/>
                </a:lnTo>
                <a:lnTo>
                  <a:pt x="3783" y="11996"/>
                </a:lnTo>
                <a:lnTo>
                  <a:pt x="3800" y="12005"/>
                </a:lnTo>
                <a:lnTo>
                  <a:pt x="3818" y="12013"/>
                </a:lnTo>
                <a:lnTo>
                  <a:pt x="3835" y="12018"/>
                </a:lnTo>
                <a:lnTo>
                  <a:pt x="3851" y="12021"/>
                </a:lnTo>
                <a:lnTo>
                  <a:pt x="3868" y="12022"/>
                </a:lnTo>
                <a:lnTo>
                  <a:pt x="3883" y="12020"/>
                </a:lnTo>
                <a:lnTo>
                  <a:pt x="3902" y="12013"/>
                </a:lnTo>
                <a:lnTo>
                  <a:pt x="3922" y="12001"/>
                </a:lnTo>
                <a:lnTo>
                  <a:pt x="3946" y="11984"/>
                </a:lnTo>
                <a:lnTo>
                  <a:pt x="3971" y="11961"/>
                </a:lnTo>
                <a:lnTo>
                  <a:pt x="4000" y="11934"/>
                </a:lnTo>
                <a:lnTo>
                  <a:pt x="4031" y="11903"/>
                </a:lnTo>
                <a:lnTo>
                  <a:pt x="4064" y="11866"/>
                </a:lnTo>
                <a:lnTo>
                  <a:pt x="4100" y="11824"/>
                </a:lnTo>
                <a:lnTo>
                  <a:pt x="4139" y="11777"/>
                </a:lnTo>
                <a:lnTo>
                  <a:pt x="4181" y="11725"/>
                </a:lnTo>
                <a:lnTo>
                  <a:pt x="4225" y="11669"/>
                </a:lnTo>
                <a:lnTo>
                  <a:pt x="4272" y="11607"/>
                </a:lnTo>
                <a:lnTo>
                  <a:pt x="4321" y="11541"/>
                </a:lnTo>
                <a:lnTo>
                  <a:pt x="4374" y="11469"/>
                </a:lnTo>
                <a:lnTo>
                  <a:pt x="4429" y="11393"/>
                </a:lnTo>
                <a:lnTo>
                  <a:pt x="4485" y="11312"/>
                </a:lnTo>
                <a:lnTo>
                  <a:pt x="4546" y="11226"/>
                </a:lnTo>
                <a:lnTo>
                  <a:pt x="4608" y="11135"/>
                </a:lnTo>
                <a:lnTo>
                  <a:pt x="4674" y="11039"/>
                </a:lnTo>
                <a:lnTo>
                  <a:pt x="4741" y="10938"/>
                </a:lnTo>
                <a:lnTo>
                  <a:pt x="4812" y="10833"/>
                </a:lnTo>
                <a:lnTo>
                  <a:pt x="4885" y="10721"/>
                </a:lnTo>
                <a:lnTo>
                  <a:pt x="4961" y="10606"/>
                </a:lnTo>
                <a:lnTo>
                  <a:pt x="5119" y="10360"/>
                </a:lnTo>
                <a:lnTo>
                  <a:pt x="5289" y="10094"/>
                </a:lnTo>
                <a:lnTo>
                  <a:pt x="5469" y="9809"/>
                </a:lnTo>
                <a:lnTo>
                  <a:pt x="5659" y="9504"/>
                </a:lnTo>
                <a:lnTo>
                  <a:pt x="5856" y="9190"/>
                </a:lnTo>
                <a:lnTo>
                  <a:pt x="6051" y="8878"/>
                </a:lnTo>
                <a:lnTo>
                  <a:pt x="6248" y="8570"/>
                </a:lnTo>
                <a:lnTo>
                  <a:pt x="6446" y="8263"/>
                </a:lnTo>
                <a:lnTo>
                  <a:pt x="6643" y="7959"/>
                </a:lnTo>
                <a:lnTo>
                  <a:pt x="6841" y="7658"/>
                </a:lnTo>
                <a:lnTo>
                  <a:pt x="7040" y="7359"/>
                </a:lnTo>
                <a:lnTo>
                  <a:pt x="7238" y="7061"/>
                </a:lnTo>
                <a:lnTo>
                  <a:pt x="7437" y="6767"/>
                </a:lnTo>
                <a:lnTo>
                  <a:pt x="7637" y="6475"/>
                </a:lnTo>
                <a:lnTo>
                  <a:pt x="7837" y="6185"/>
                </a:lnTo>
                <a:lnTo>
                  <a:pt x="8036" y="5897"/>
                </a:lnTo>
                <a:lnTo>
                  <a:pt x="8237" y="5612"/>
                </a:lnTo>
                <a:lnTo>
                  <a:pt x="8438" y="5330"/>
                </a:lnTo>
                <a:lnTo>
                  <a:pt x="8639" y="5050"/>
                </a:lnTo>
                <a:lnTo>
                  <a:pt x="8841" y="4772"/>
                </a:lnTo>
                <a:lnTo>
                  <a:pt x="8981" y="4581"/>
                </a:lnTo>
                <a:lnTo>
                  <a:pt x="9118" y="4394"/>
                </a:lnTo>
                <a:lnTo>
                  <a:pt x="9254" y="4211"/>
                </a:lnTo>
                <a:lnTo>
                  <a:pt x="9388" y="4032"/>
                </a:lnTo>
                <a:lnTo>
                  <a:pt x="9520" y="3857"/>
                </a:lnTo>
                <a:lnTo>
                  <a:pt x="9650" y="3686"/>
                </a:lnTo>
                <a:lnTo>
                  <a:pt x="9778" y="3519"/>
                </a:lnTo>
                <a:lnTo>
                  <a:pt x="9905" y="3356"/>
                </a:lnTo>
                <a:lnTo>
                  <a:pt x="10030" y="3196"/>
                </a:lnTo>
                <a:lnTo>
                  <a:pt x="10153" y="3040"/>
                </a:lnTo>
                <a:lnTo>
                  <a:pt x="10275" y="2888"/>
                </a:lnTo>
                <a:lnTo>
                  <a:pt x="10395" y="2741"/>
                </a:lnTo>
                <a:lnTo>
                  <a:pt x="10513" y="2596"/>
                </a:lnTo>
                <a:lnTo>
                  <a:pt x="10628" y="2457"/>
                </a:lnTo>
                <a:lnTo>
                  <a:pt x="10743" y="2321"/>
                </a:lnTo>
                <a:lnTo>
                  <a:pt x="10855" y="2187"/>
                </a:lnTo>
                <a:lnTo>
                  <a:pt x="10964" y="2060"/>
                </a:lnTo>
                <a:lnTo>
                  <a:pt x="11071" y="1939"/>
                </a:lnTo>
                <a:lnTo>
                  <a:pt x="11172" y="1825"/>
                </a:lnTo>
                <a:lnTo>
                  <a:pt x="11271" y="1717"/>
                </a:lnTo>
                <a:lnTo>
                  <a:pt x="11365" y="1615"/>
                </a:lnTo>
                <a:lnTo>
                  <a:pt x="11455" y="1518"/>
                </a:lnTo>
                <a:lnTo>
                  <a:pt x="11541" y="1428"/>
                </a:lnTo>
                <a:lnTo>
                  <a:pt x="11624" y="1345"/>
                </a:lnTo>
                <a:lnTo>
                  <a:pt x="11702" y="1267"/>
                </a:lnTo>
                <a:lnTo>
                  <a:pt x="11777" y="1195"/>
                </a:lnTo>
                <a:lnTo>
                  <a:pt x="11812" y="1163"/>
                </a:lnTo>
                <a:lnTo>
                  <a:pt x="11847" y="1131"/>
                </a:lnTo>
                <a:lnTo>
                  <a:pt x="11882" y="1101"/>
                </a:lnTo>
                <a:lnTo>
                  <a:pt x="11915" y="1072"/>
                </a:lnTo>
                <a:lnTo>
                  <a:pt x="11947" y="1045"/>
                </a:lnTo>
                <a:lnTo>
                  <a:pt x="11977" y="1019"/>
                </a:lnTo>
                <a:lnTo>
                  <a:pt x="12008" y="996"/>
                </a:lnTo>
                <a:lnTo>
                  <a:pt x="12037" y="973"/>
                </a:lnTo>
                <a:lnTo>
                  <a:pt x="12064" y="952"/>
                </a:lnTo>
                <a:lnTo>
                  <a:pt x="12092" y="933"/>
                </a:lnTo>
                <a:lnTo>
                  <a:pt x="12118" y="915"/>
                </a:lnTo>
                <a:lnTo>
                  <a:pt x="12143" y="899"/>
                </a:lnTo>
                <a:lnTo>
                  <a:pt x="12216" y="858"/>
                </a:lnTo>
                <a:lnTo>
                  <a:pt x="12292" y="818"/>
                </a:lnTo>
                <a:lnTo>
                  <a:pt x="12371" y="778"/>
                </a:lnTo>
                <a:lnTo>
                  <a:pt x="12453" y="740"/>
                </a:lnTo>
                <a:lnTo>
                  <a:pt x="12537" y="702"/>
                </a:lnTo>
                <a:lnTo>
                  <a:pt x="12623" y="665"/>
                </a:lnTo>
                <a:lnTo>
                  <a:pt x="12713" y="629"/>
                </a:lnTo>
                <a:lnTo>
                  <a:pt x="12805" y="593"/>
                </a:lnTo>
                <a:lnTo>
                  <a:pt x="12899" y="558"/>
                </a:lnTo>
                <a:lnTo>
                  <a:pt x="12996" y="523"/>
                </a:lnTo>
                <a:lnTo>
                  <a:pt x="13097" y="489"/>
                </a:lnTo>
                <a:lnTo>
                  <a:pt x="13199" y="456"/>
                </a:lnTo>
                <a:lnTo>
                  <a:pt x="13305" y="425"/>
                </a:lnTo>
                <a:lnTo>
                  <a:pt x="13412" y="393"/>
                </a:lnTo>
                <a:lnTo>
                  <a:pt x="13523" y="362"/>
                </a:lnTo>
                <a:lnTo>
                  <a:pt x="13636" y="332"/>
                </a:lnTo>
                <a:lnTo>
                  <a:pt x="13750" y="304"/>
                </a:lnTo>
                <a:lnTo>
                  <a:pt x="13866" y="276"/>
                </a:lnTo>
                <a:lnTo>
                  <a:pt x="13984" y="249"/>
                </a:lnTo>
                <a:lnTo>
                  <a:pt x="14104" y="224"/>
                </a:lnTo>
                <a:lnTo>
                  <a:pt x="14225" y="199"/>
                </a:lnTo>
                <a:lnTo>
                  <a:pt x="14348" y="176"/>
                </a:lnTo>
                <a:lnTo>
                  <a:pt x="14473" y="154"/>
                </a:lnTo>
                <a:lnTo>
                  <a:pt x="14600" y="133"/>
                </a:lnTo>
                <a:lnTo>
                  <a:pt x="14728" y="112"/>
                </a:lnTo>
                <a:lnTo>
                  <a:pt x="14858" y="94"/>
                </a:lnTo>
                <a:lnTo>
                  <a:pt x="14989" y="75"/>
                </a:lnTo>
                <a:lnTo>
                  <a:pt x="15123" y="58"/>
                </a:lnTo>
                <a:lnTo>
                  <a:pt x="15258" y="42"/>
                </a:lnTo>
                <a:lnTo>
                  <a:pt x="15394" y="27"/>
                </a:lnTo>
                <a:lnTo>
                  <a:pt x="15532" y="14"/>
                </a:lnTo>
                <a:lnTo>
                  <a:pt x="15672" y="0"/>
                </a:lnTo>
                <a:lnTo>
                  <a:pt x="15756" y="439"/>
                </a:lnTo>
              </a:path>
            </a:pathLst>
          </a:custGeom>
          <a:solidFill>
            <a:srgbClr val="FF0000"/>
          </a:solidFill>
          <a:ln w="317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68149" name="Freeform 85"/>
          <p:cNvSpPr>
            <a:spLocks/>
          </p:cNvSpPr>
          <p:nvPr/>
        </p:nvSpPr>
        <p:spPr bwMode="auto">
          <a:xfrm>
            <a:off x="7091363" y="5445125"/>
            <a:ext cx="431800" cy="431800"/>
          </a:xfrm>
          <a:custGeom>
            <a:avLst/>
            <a:gdLst/>
            <a:ahLst/>
            <a:cxnLst>
              <a:cxn ang="0">
                <a:pos x="3214" y="16014"/>
              </a:cxn>
              <a:cxn ang="0">
                <a:pos x="0" y="12797"/>
              </a:cxn>
              <a:cxn ang="0">
                <a:pos x="4800" y="8014"/>
              </a:cxn>
              <a:cxn ang="0">
                <a:pos x="0" y="3214"/>
              </a:cxn>
              <a:cxn ang="0">
                <a:pos x="3214" y="0"/>
              </a:cxn>
              <a:cxn ang="0">
                <a:pos x="8015" y="4800"/>
              </a:cxn>
              <a:cxn ang="0">
                <a:pos x="12815" y="0"/>
              </a:cxn>
              <a:cxn ang="0">
                <a:pos x="16029" y="3214"/>
              </a:cxn>
              <a:cxn ang="0">
                <a:pos x="11229" y="8014"/>
              </a:cxn>
              <a:cxn ang="0">
                <a:pos x="16029" y="12797"/>
              </a:cxn>
              <a:cxn ang="0">
                <a:pos x="12798" y="16014"/>
              </a:cxn>
              <a:cxn ang="0">
                <a:pos x="8015" y="11228"/>
              </a:cxn>
              <a:cxn ang="0">
                <a:pos x="3214" y="16014"/>
              </a:cxn>
            </a:cxnLst>
            <a:rect l="0" t="0" r="r" b="b"/>
            <a:pathLst>
              <a:path w="16029" h="16014">
                <a:moveTo>
                  <a:pt x="3214" y="16014"/>
                </a:moveTo>
                <a:lnTo>
                  <a:pt x="0" y="12797"/>
                </a:lnTo>
                <a:lnTo>
                  <a:pt x="4800" y="8014"/>
                </a:lnTo>
                <a:lnTo>
                  <a:pt x="0" y="3214"/>
                </a:lnTo>
                <a:lnTo>
                  <a:pt x="3214" y="0"/>
                </a:lnTo>
                <a:lnTo>
                  <a:pt x="8015" y="4800"/>
                </a:lnTo>
                <a:lnTo>
                  <a:pt x="12815" y="0"/>
                </a:lnTo>
                <a:lnTo>
                  <a:pt x="16029" y="3214"/>
                </a:lnTo>
                <a:lnTo>
                  <a:pt x="11229" y="8014"/>
                </a:lnTo>
                <a:lnTo>
                  <a:pt x="16029" y="12797"/>
                </a:lnTo>
                <a:lnTo>
                  <a:pt x="12798" y="16014"/>
                </a:lnTo>
                <a:lnTo>
                  <a:pt x="8015" y="11228"/>
                </a:lnTo>
                <a:lnTo>
                  <a:pt x="3214" y="16014"/>
                </a:lnTo>
                <a:close/>
              </a:path>
            </a:pathLst>
          </a:custGeom>
          <a:solidFill>
            <a:srgbClr val="FF0000"/>
          </a:solidFill>
          <a:ln w="3175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8164" name="Line 100"/>
          <p:cNvSpPr>
            <a:spLocks noChangeShapeType="1"/>
          </p:cNvSpPr>
          <p:nvPr/>
        </p:nvSpPr>
        <p:spPr bwMode="auto">
          <a:xfrm>
            <a:off x="1187450" y="6021388"/>
            <a:ext cx="576263" cy="0"/>
          </a:xfrm>
          <a:prstGeom prst="line">
            <a:avLst/>
          </a:prstGeom>
          <a:noFill/>
          <a:ln w="57150">
            <a:solidFill>
              <a:srgbClr val="0099FF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68165" name="Line 101"/>
          <p:cNvSpPr>
            <a:spLocks noChangeShapeType="1"/>
          </p:cNvSpPr>
          <p:nvPr/>
        </p:nvSpPr>
        <p:spPr bwMode="auto">
          <a:xfrm>
            <a:off x="4139952" y="6021388"/>
            <a:ext cx="2303711" cy="0"/>
          </a:xfrm>
          <a:prstGeom prst="line">
            <a:avLst/>
          </a:prstGeom>
          <a:noFill/>
          <a:ln w="57150">
            <a:solidFill>
              <a:srgbClr val="0099FF"/>
            </a:solidFill>
            <a:round/>
            <a:headEnd/>
            <a:tailEnd/>
          </a:ln>
          <a:effectLst/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1368166" name="Line 102"/>
          <p:cNvSpPr>
            <a:spLocks noChangeShapeType="1"/>
          </p:cNvSpPr>
          <p:nvPr/>
        </p:nvSpPr>
        <p:spPr bwMode="auto">
          <a:xfrm>
            <a:off x="1187450" y="6092825"/>
            <a:ext cx="2879725" cy="0"/>
          </a:xfrm>
          <a:prstGeom prst="line">
            <a:avLst/>
          </a:prstGeom>
          <a:noFill/>
          <a:ln w="57150">
            <a:solidFill>
              <a:srgbClr val="FF33CC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68167" name="Line 103"/>
          <p:cNvSpPr>
            <a:spLocks noChangeShapeType="1"/>
          </p:cNvSpPr>
          <p:nvPr/>
        </p:nvSpPr>
        <p:spPr bwMode="auto">
          <a:xfrm>
            <a:off x="7596188" y="5300663"/>
            <a:ext cx="576262" cy="0"/>
          </a:xfrm>
          <a:prstGeom prst="line">
            <a:avLst/>
          </a:prstGeom>
          <a:noFill/>
          <a:ln w="57150">
            <a:solidFill>
              <a:srgbClr val="FF66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68168" name="Line 104"/>
          <p:cNvSpPr>
            <a:spLocks noChangeShapeType="1"/>
          </p:cNvSpPr>
          <p:nvPr/>
        </p:nvSpPr>
        <p:spPr bwMode="auto">
          <a:xfrm>
            <a:off x="6443663" y="5300663"/>
            <a:ext cx="576262" cy="0"/>
          </a:xfrm>
          <a:prstGeom prst="line">
            <a:avLst/>
          </a:prstGeom>
          <a:noFill/>
          <a:ln w="57150">
            <a:solidFill>
              <a:srgbClr val="FF66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68169" name="Line 105"/>
          <p:cNvSpPr>
            <a:spLocks noChangeShapeType="1"/>
          </p:cNvSpPr>
          <p:nvPr/>
        </p:nvSpPr>
        <p:spPr bwMode="auto">
          <a:xfrm>
            <a:off x="5291138" y="5300663"/>
            <a:ext cx="576262" cy="0"/>
          </a:xfrm>
          <a:prstGeom prst="line">
            <a:avLst/>
          </a:prstGeom>
          <a:noFill/>
          <a:ln w="57150">
            <a:solidFill>
              <a:srgbClr val="FF66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68170" name="Line 106"/>
          <p:cNvSpPr>
            <a:spLocks noChangeShapeType="1"/>
          </p:cNvSpPr>
          <p:nvPr/>
        </p:nvSpPr>
        <p:spPr bwMode="auto">
          <a:xfrm>
            <a:off x="4138613" y="5300663"/>
            <a:ext cx="504825" cy="0"/>
          </a:xfrm>
          <a:prstGeom prst="line">
            <a:avLst/>
          </a:prstGeom>
          <a:noFill/>
          <a:ln w="57150">
            <a:solidFill>
              <a:srgbClr val="FF66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68171" name="Line 107"/>
          <p:cNvSpPr>
            <a:spLocks noChangeShapeType="1"/>
          </p:cNvSpPr>
          <p:nvPr/>
        </p:nvSpPr>
        <p:spPr bwMode="auto">
          <a:xfrm>
            <a:off x="2914650" y="5300663"/>
            <a:ext cx="576263" cy="0"/>
          </a:xfrm>
          <a:prstGeom prst="line">
            <a:avLst/>
          </a:prstGeom>
          <a:noFill/>
          <a:ln w="57150">
            <a:solidFill>
              <a:srgbClr val="FF66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68172" name="Line 108"/>
          <p:cNvSpPr>
            <a:spLocks noChangeShapeType="1"/>
          </p:cNvSpPr>
          <p:nvPr/>
        </p:nvSpPr>
        <p:spPr bwMode="auto">
          <a:xfrm>
            <a:off x="1763713" y="5300663"/>
            <a:ext cx="576262" cy="0"/>
          </a:xfrm>
          <a:prstGeom prst="line">
            <a:avLst/>
          </a:prstGeom>
          <a:noFill/>
          <a:ln w="57150">
            <a:solidFill>
              <a:srgbClr val="FF66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68173" name="Line 109"/>
          <p:cNvSpPr>
            <a:spLocks noChangeShapeType="1"/>
          </p:cNvSpPr>
          <p:nvPr/>
        </p:nvSpPr>
        <p:spPr bwMode="auto">
          <a:xfrm>
            <a:off x="6443663" y="5229225"/>
            <a:ext cx="1079500" cy="0"/>
          </a:xfrm>
          <a:prstGeom prst="line">
            <a:avLst/>
          </a:prstGeom>
          <a:noFill/>
          <a:ln w="57150">
            <a:solidFill>
              <a:srgbClr val="00CC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68174" name="Line 110"/>
          <p:cNvSpPr>
            <a:spLocks noChangeShapeType="1"/>
          </p:cNvSpPr>
          <p:nvPr/>
        </p:nvSpPr>
        <p:spPr bwMode="auto">
          <a:xfrm>
            <a:off x="4138613" y="5229225"/>
            <a:ext cx="1079500" cy="0"/>
          </a:xfrm>
          <a:prstGeom prst="line">
            <a:avLst/>
          </a:prstGeom>
          <a:noFill/>
          <a:ln w="57150">
            <a:solidFill>
              <a:srgbClr val="00CC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68175" name="Line 111"/>
          <p:cNvSpPr>
            <a:spLocks noChangeShapeType="1"/>
          </p:cNvSpPr>
          <p:nvPr/>
        </p:nvSpPr>
        <p:spPr bwMode="auto">
          <a:xfrm>
            <a:off x="1763713" y="5229225"/>
            <a:ext cx="1079500" cy="0"/>
          </a:xfrm>
          <a:prstGeom prst="line">
            <a:avLst/>
          </a:prstGeom>
          <a:noFill/>
          <a:ln w="57150">
            <a:solidFill>
              <a:srgbClr val="00CC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68176" name="Freeform 112"/>
          <p:cNvSpPr>
            <a:spLocks/>
          </p:cNvSpPr>
          <p:nvPr/>
        </p:nvSpPr>
        <p:spPr bwMode="auto">
          <a:xfrm>
            <a:off x="5938838" y="5445125"/>
            <a:ext cx="431800" cy="431800"/>
          </a:xfrm>
          <a:custGeom>
            <a:avLst/>
            <a:gdLst/>
            <a:ahLst/>
            <a:cxnLst>
              <a:cxn ang="0">
                <a:pos x="3214" y="16014"/>
              </a:cxn>
              <a:cxn ang="0">
                <a:pos x="0" y="12797"/>
              </a:cxn>
              <a:cxn ang="0">
                <a:pos x="4800" y="8014"/>
              </a:cxn>
              <a:cxn ang="0">
                <a:pos x="0" y="3214"/>
              </a:cxn>
              <a:cxn ang="0">
                <a:pos x="3214" y="0"/>
              </a:cxn>
              <a:cxn ang="0">
                <a:pos x="8015" y="4800"/>
              </a:cxn>
              <a:cxn ang="0">
                <a:pos x="12815" y="0"/>
              </a:cxn>
              <a:cxn ang="0">
                <a:pos x="16029" y="3214"/>
              </a:cxn>
              <a:cxn ang="0">
                <a:pos x="11229" y="8014"/>
              </a:cxn>
              <a:cxn ang="0">
                <a:pos x="16029" y="12797"/>
              </a:cxn>
              <a:cxn ang="0">
                <a:pos x="12798" y="16014"/>
              </a:cxn>
              <a:cxn ang="0">
                <a:pos x="8015" y="11228"/>
              </a:cxn>
              <a:cxn ang="0">
                <a:pos x="3214" y="16014"/>
              </a:cxn>
            </a:cxnLst>
            <a:rect l="0" t="0" r="r" b="b"/>
            <a:pathLst>
              <a:path w="16029" h="16014">
                <a:moveTo>
                  <a:pt x="3214" y="16014"/>
                </a:moveTo>
                <a:lnTo>
                  <a:pt x="0" y="12797"/>
                </a:lnTo>
                <a:lnTo>
                  <a:pt x="4800" y="8014"/>
                </a:lnTo>
                <a:lnTo>
                  <a:pt x="0" y="3214"/>
                </a:lnTo>
                <a:lnTo>
                  <a:pt x="3214" y="0"/>
                </a:lnTo>
                <a:lnTo>
                  <a:pt x="8015" y="4800"/>
                </a:lnTo>
                <a:lnTo>
                  <a:pt x="12815" y="0"/>
                </a:lnTo>
                <a:lnTo>
                  <a:pt x="16029" y="3214"/>
                </a:lnTo>
                <a:lnTo>
                  <a:pt x="11229" y="8014"/>
                </a:lnTo>
                <a:lnTo>
                  <a:pt x="16029" y="12797"/>
                </a:lnTo>
                <a:lnTo>
                  <a:pt x="12798" y="16014"/>
                </a:lnTo>
                <a:lnTo>
                  <a:pt x="8015" y="11228"/>
                </a:lnTo>
                <a:lnTo>
                  <a:pt x="3214" y="16014"/>
                </a:lnTo>
                <a:close/>
              </a:path>
            </a:pathLst>
          </a:custGeom>
          <a:solidFill>
            <a:srgbClr val="FF0000"/>
          </a:solidFill>
          <a:ln w="3175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68177" name="Freeform 113"/>
          <p:cNvSpPr>
            <a:spLocks/>
          </p:cNvSpPr>
          <p:nvPr/>
        </p:nvSpPr>
        <p:spPr bwMode="auto">
          <a:xfrm>
            <a:off x="3635375" y="5445125"/>
            <a:ext cx="431800" cy="431800"/>
          </a:xfrm>
          <a:custGeom>
            <a:avLst/>
            <a:gdLst/>
            <a:ahLst/>
            <a:cxnLst>
              <a:cxn ang="0">
                <a:pos x="14387" y="1985"/>
              </a:cxn>
              <a:cxn ang="0">
                <a:pos x="12885" y="3756"/>
              </a:cxn>
              <a:cxn ang="0">
                <a:pos x="11448" y="5531"/>
              </a:cxn>
              <a:cxn ang="0">
                <a:pos x="10076" y="7312"/>
              </a:cxn>
              <a:cxn ang="0">
                <a:pos x="8779" y="9084"/>
              </a:cxn>
              <a:cxn ang="0">
                <a:pos x="7572" y="10826"/>
              </a:cxn>
              <a:cxn ang="0">
                <a:pos x="6458" y="12538"/>
              </a:cxn>
              <a:cxn ang="0">
                <a:pos x="5435" y="14221"/>
              </a:cxn>
              <a:cxn ang="0">
                <a:pos x="4981" y="15037"/>
              </a:cxn>
              <a:cxn ang="0">
                <a:pos x="4597" y="15620"/>
              </a:cxn>
              <a:cxn ang="0">
                <a:pos x="4125" y="16020"/>
              </a:cxn>
              <a:cxn ang="0">
                <a:pos x="3550" y="16267"/>
              </a:cxn>
              <a:cxn ang="0">
                <a:pos x="2872" y="16363"/>
              </a:cxn>
              <a:cxn ang="0">
                <a:pos x="2268" y="16340"/>
              </a:cxn>
              <a:cxn ang="0">
                <a:pos x="1909" y="16262"/>
              </a:cxn>
              <a:cxn ang="0">
                <a:pos x="1788" y="16193"/>
              </a:cxn>
              <a:cxn ang="0">
                <a:pos x="1653" y="16065"/>
              </a:cxn>
              <a:cxn ang="0">
                <a:pos x="1411" y="15696"/>
              </a:cxn>
              <a:cxn ang="0">
                <a:pos x="1139" y="15126"/>
              </a:cxn>
              <a:cxn ang="0">
                <a:pos x="883" y="14505"/>
              </a:cxn>
              <a:cxn ang="0">
                <a:pos x="565" y="13585"/>
              </a:cxn>
              <a:cxn ang="0">
                <a:pos x="192" y="12233"/>
              </a:cxn>
              <a:cxn ang="0">
                <a:pos x="32" y="11416"/>
              </a:cxn>
              <a:cxn ang="0">
                <a:pos x="0" y="11053"/>
              </a:cxn>
              <a:cxn ang="0">
                <a:pos x="21" y="10763"/>
              </a:cxn>
              <a:cxn ang="0">
                <a:pos x="94" y="10539"/>
              </a:cxn>
              <a:cxn ang="0">
                <a:pos x="244" y="10346"/>
              </a:cxn>
              <a:cxn ang="0">
                <a:pos x="504" y="10128"/>
              </a:cxn>
              <a:cxn ang="0">
                <a:pos x="930" y="9864"/>
              </a:cxn>
              <a:cxn ang="0">
                <a:pos x="1417" y="9644"/>
              </a:cxn>
              <a:cxn ang="0">
                <a:pos x="1904" y="9493"/>
              </a:cxn>
              <a:cxn ang="0">
                <a:pos x="2315" y="9435"/>
              </a:cxn>
              <a:cxn ang="0">
                <a:pos x="2498" y="9489"/>
              </a:cxn>
              <a:cxn ang="0">
                <a:pos x="2670" y="9687"/>
              </a:cxn>
              <a:cxn ang="0">
                <a:pos x="2859" y="10030"/>
              </a:cxn>
              <a:cxn ang="0">
                <a:pos x="3064" y="10517"/>
              </a:cxn>
              <a:cxn ang="0">
                <a:pos x="3147" y="10745"/>
              </a:cxn>
              <a:cxn ang="0">
                <a:pos x="3281" y="11108"/>
              </a:cxn>
              <a:cxn ang="0">
                <a:pos x="3464" y="11543"/>
              </a:cxn>
              <a:cxn ang="0">
                <a:pos x="3631" y="11839"/>
              </a:cxn>
              <a:cxn ang="0">
                <a:pos x="3783" y="11996"/>
              </a:cxn>
              <a:cxn ang="0">
                <a:pos x="3922" y="12001"/>
              </a:cxn>
              <a:cxn ang="0">
                <a:pos x="4181" y="11725"/>
              </a:cxn>
              <a:cxn ang="0">
                <a:pos x="4608" y="11135"/>
              </a:cxn>
              <a:cxn ang="0">
                <a:pos x="5469" y="9809"/>
              </a:cxn>
              <a:cxn ang="0">
                <a:pos x="7040" y="7359"/>
              </a:cxn>
              <a:cxn ang="0">
                <a:pos x="8639" y="5050"/>
              </a:cxn>
              <a:cxn ang="0">
                <a:pos x="9778" y="3519"/>
              </a:cxn>
              <a:cxn ang="0">
                <a:pos x="10743" y="2321"/>
              </a:cxn>
              <a:cxn ang="0">
                <a:pos x="11541" y="1428"/>
              </a:cxn>
              <a:cxn ang="0">
                <a:pos x="11947" y="1045"/>
              </a:cxn>
              <a:cxn ang="0">
                <a:pos x="12216" y="858"/>
              </a:cxn>
              <a:cxn ang="0">
                <a:pos x="12899" y="558"/>
              </a:cxn>
              <a:cxn ang="0">
                <a:pos x="13750" y="304"/>
              </a:cxn>
              <a:cxn ang="0">
                <a:pos x="14728" y="112"/>
              </a:cxn>
              <a:cxn ang="0">
                <a:pos x="15756" y="439"/>
              </a:cxn>
            </a:cxnLst>
            <a:rect l="0" t="0" r="r" b="b"/>
            <a:pathLst>
              <a:path w="15756" h="16364">
                <a:moveTo>
                  <a:pt x="15756" y="439"/>
                </a:moveTo>
                <a:lnTo>
                  <a:pt x="15557" y="659"/>
                </a:lnTo>
                <a:lnTo>
                  <a:pt x="15359" y="881"/>
                </a:lnTo>
                <a:lnTo>
                  <a:pt x="15163" y="1101"/>
                </a:lnTo>
                <a:lnTo>
                  <a:pt x="14967" y="1322"/>
                </a:lnTo>
                <a:lnTo>
                  <a:pt x="14772" y="1543"/>
                </a:lnTo>
                <a:lnTo>
                  <a:pt x="14579" y="1764"/>
                </a:lnTo>
                <a:lnTo>
                  <a:pt x="14387" y="1985"/>
                </a:lnTo>
                <a:lnTo>
                  <a:pt x="14196" y="2207"/>
                </a:lnTo>
                <a:lnTo>
                  <a:pt x="14005" y="2427"/>
                </a:lnTo>
                <a:lnTo>
                  <a:pt x="13816" y="2649"/>
                </a:lnTo>
                <a:lnTo>
                  <a:pt x="13627" y="2870"/>
                </a:lnTo>
                <a:lnTo>
                  <a:pt x="13440" y="3091"/>
                </a:lnTo>
                <a:lnTo>
                  <a:pt x="13253" y="3313"/>
                </a:lnTo>
                <a:lnTo>
                  <a:pt x="13069" y="3535"/>
                </a:lnTo>
                <a:lnTo>
                  <a:pt x="12885" y="3756"/>
                </a:lnTo>
                <a:lnTo>
                  <a:pt x="12701" y="3978"/>
                </a:lnTo>
                <a:lnTo>
                  <a:pt x="12519" y="4199"/>
                </a:lnTo>
                <a:lnTo>
                  <a:pt x="12338" y="4421"/>
                </a:lnTo>
                <a:lnTo>
                  <a:pt x="12158" y="4643"/>
                </a:lnTo>
                <a:lnTo>
                  <a:pt x="11979" y="4865"/>
                </a:lnTo>
                <a:lnTo>
                  <a:pt x="11801" y="5088"/>
                </a:lnTo>
                <a:lnTo>
                  <a:pt x="11624" y="5309"/>
                </a:lnTo>
                <a:lnTo>
                  <a:pt x="11448" y="5531"/>
                </a:lnTo>
                <a:lnTo>
                  <a:pt x="11273" y="5754"/>
                </a:lnTo>
                <a:lnTo>
                  <a:pt x="11099" y="5976"/>
                </a:lnTo>
                <a:lnTo>
                  <a:pt x="10927" y="6198"/>
                </a:lnTo>
                <a:lnTo>
                  <a:pt x="10754" y="6422"/>
                </a:lnTo>
                <a:lnTo>
                  <a:pt x="10583" y="6644"/>
                </a:lnTo>
                <a:lnTo>
                  <a:pt x="10413" y="6867"/>
                </a:lnTo>
                <a:lnTo>
                  <a:pt x="10244" y="7090"/>
                </a:lnTo>
                <a:lnTo>
                  <a:pt x="10076" y="7312"/>
                </a:lnTo>
                <a:lnTo>
                  <a:pt x="9911" y="7536"/>
                </a:lnTo>
                <a:lnTo>
                  <a:pt x="9745" y="7758"/>
                </a:lnTo>
                <a:lnTo>
                  <a:pt x="9580" y="7981"/>
                </a:lnTo>
                <a:lnTo>
                  <a:pt x="9417" y="8202"/>
                </a:lnTo>
                <a:lnTo>
                  <a:pt x="9255" y="8423"/>
                </a:lnTo>
                <a:lnTo>
                  <a:pt x="9095" y="8644"/>
                </a:lnTo>
                <a:lnTo>
                  <a:pt x="8936" y="8864"/>
                </a:lnTo>
                <a:lnTo>
                  <a:pt x="8779" y="9084"/>
                </a:lnTo>
                <a:lnTo>
                  <a:pt x="8623" y="9304"/>
                </a:lnTo>
                <a:lnTo>
                  <a:pt x="8468" y="9522"/>
                </a:lnTo>
                <a:lnTo>
                  <a:pt x="8316" y="9740"/>
                </a:lnTo>
                <a:lnTo>
                  <a:pt x="8164" y="9959"/>
                </a:lnTo>
                <a:lnTo>
                  <a:pt x="8015" y="10176"/>
                </a:lnTo>
                <a:lnTo>
                  <a:pt x="7865" y="10393"/>
                </a:lnTo>
                <a:lnTo>
                  <a:pt x="7719" y="10609"/>
                </a:lnTo>
                <a:lnTo>
                  <a:pt x="7572" y="10826"/>
                </a:lnTo>
                <a:lnTo>
                  <a:pt x="7428" y="11041"/>
                </a:lnTo>
                <a:lnTo>
                  <a:pt x="7285" y="11256"/>
                </a:lnTo>
                <a:lnTo>
                  <a:pt x="7144" y="11471"/>
                </a:lnTo>
                <a:lnTo>
                  <a:pt x="7004" y="11685"/>
                </a:lnTo>
                <a:lnTo>
                  <a:pt x="6865" y="11898"/>
                </a:lnTo>
                <a:lnTo>
                  <a:pt x="6727" y="12113"/>
                </a:lnTo>
                <a:lnTo>
                  <a:pt x="6592" y="12325"/>
                </a:lnTo>
                <a:lnTo>
                  <a:pt x="6458" y="12538"/>
                </a:lnTo>
                <a:lnTo>
                  <a:pt x="6325" y="12749"/>
                </a:lnTo>
                <a:lnTo>
                  <a:pt x="6193" y="12961"/>
                </a:lnTo>
                <a:lnTo>
                  <a:pt x="6063" y="13172"/>
                </a:lnTo>
                <a:lnTo>
                  <a:pt x="5935" y="13382"/>
                </a:lnTo>
                <a:lnTo>
                  <a:pt x="5808" y="13593"/>
                </a:lnTo>
                <a:lnTo>
                  <a:pt x="5682" y="13803"/>
                </a:lnTo>
                <a:lnTo>
                  <a:pt x="5558" y="14012"/>
                </a:lnTo>
                <a:lnTo>
                  <a:pt x="5435" y="14221"/>
                </a:lnTo>
                <a:lnTo>
                  <a:pt x="5313" y="14429"/>
                </a:lnTo>
                <a:lnTo>
                  <a:pt x="5272" y="14500"/>
                </a:lnTo>
                <a:lnTo>
                  <a:pt x="5229" y="14578"/>
                </a:lnTo>
                <a:lnTo>
                  <a:pt x="5184" y="14660"/>
                </a:lnTo>
                <a:lnTo>
                  <a:pt x="5136" y="14746"/>
                </a:lnTo>
                <a:lnTo>
                  <a:pt x="5087" y="14839"/>
                </a:lnTo>
                <a:lnTo>
                  <a:pt x="5034" y="14935"/>
                </a:lnTo>
                <a:lnTo>
                  <a:pt x="4981" y="15037"/>
                </a:lnTo>
                <a:lnTo>
                  <a:pt x="4926" y="15144"/>
                </a:lnTo>
                <a:lnTo>
                  <a:pt x="4884" y="15219"/>
                </a:lnTo>
                <a:lnTo>
                  <a:pt x="4840" y="15292"/>
                </a:lnTo>
                <a:lnTo>
                  <a:pt x="4795" y="15362"/>
                </a:lnTo>
                <a:lnTo>
                  <a:pt x="4748" y="15430"/>
                </a:lnTo>
                <a:lnTo>
                  <a:pt x="4699" y="15496"/>
                </a:lnTo>
                <a:lnTo>
                  <a:pt x="4649" y="15559"/>
                </a:lnTo>
                <a:lnTo>
                  <a:pt x="4597" y="15620"/>
                </a:lnTo>
                <a:lnTo>
                  <a:pt x="4544" y="15678"/>
                </a:lnTo>
                <a:lnTo>
                  <a:pt x="4488" y="15734"/>
                </a:lnTo>
                <a:lnTo>
                  <a:pt x="4432" y="15788"/>
                </a:lnTo>
                <a:lnTo>
                  <a:pt x="4374" y="15839"/>
                </a:lnTo>
                <a:lnTo>
                  <a:pt x="4314" y="15888"/>
                </a:lnTo>
                <a:lnTo>
                  <a:pt x="4253" y="15934"/>
                </a:lnTo>
                <a:lnTo>
                  <a:pt x="4189" y="15978"/>
                </a:lnTo>
                <a:lnTo>
                  <a:pt x="4125" y="16020"/>
                </a:lnTo>
                <a:lnTo>
                  <a:pt x="4058" y="16059"/>
                </a:lnTo>
                <a:lnTo>
                  <a:pt x="3991" y="16096"/>
                </a:lnTo>
                <a:lnTo>
                  <a:pt x="3921" y="16131"/>
                </a:lnTo>
                <a:lnTo>
                  <a:pt x="3850" y="16163"/>
                </a:lnTo>
                <a:lnTo>
                  <a:pt x="3778" y="16192"/>
                </a:lnTo>
                <a:lnTo>
                  <a:pt x="3703" y="16220"/>
                </a:lnTo>
                <a:lnTo>
                  <a:pt x="3627" y="16245"/>
                </a:lnTo>
                <a:lnTo>
                  <a:pt x="3550" y="16267"/>
                </a:lnTo>
                <a:lnTo>
                  <a:pt x="3471" y="16288"/>
                </a:lnTo>
                <a:lnTo>
                  <a:pt x="3390" y="16305"/>
                </a:lnTo>
                <a:lnTo>
                  <a:pt x="3308" y="16321"/>
                </a:lnTo>
                <a:lnTo>
                  <a:pt x="3225" y="16334"/>
                </a:lnTo>
                <a:lnTo>
                  <a:pt x="3139" y="16344"/>
                </a:lnTo>
                <a:lnTo>
                  <a:pt x="3051" y="16353"/>
                </a:lnTo>
                <a:lnTo>
                  <a:pt x="2962" y="16358"/>
                </a:lnTo>
                <a:lnTo>
                  <a:pt x="2872" y="16363"/>
                </a:lnTo>
                <a:lnTo>
                  <a:pt x="2781" y="16364"/>
                </a:lnTo>
                <a:lnTo>
                  <a:pt x="2697" y="16364"/>
                </a:lnTo>
                <a:lnTo>
                  <a:pt x="2616" y="16362"/>
                </a:lnTo>
                <a:lnTo>
                  <a:pt x="2540" y="16360"/>
                </a:lnTo>
                <a:lnTo>
                  <a:pt x="2467" y="16356"/>
                </a:lnTo>
                <a:lnTo>
                  <a:pt x="2397" y="16351"/>
                </a:lnTo>
                <a:lnTo>
                  <a:pt x="2330" y="16346"/>
                </a:lnTo>
                <a:lnTo>
                  <a:pt x="2268" y="16340"/>
                </a:lnTo>
                <a:lnTo>
                  <a:pt x="2209" y="16333"/>
                </a:lnTo>
                <a:lnTo>
                  <a:pt x="2153" y="16325"/>
                </a:lnTo>
                <a:lnTo>
                  <a:pt x="2101" y="16315"/>
                </a:lnTo>
                <a:lnTo>
                  <a:pt x="2052" y="16305"/>
                </a:lnTo>
                <a:lnTo>
                  <a:pt x="2007" y="16294"/>
                </a:lnTo>
                <a:lnTo>
                  <a:pt x="1965" y="16282"/>
                </a:lnTo>
                <a:lnTo>
                  <a:pt x="1927" y="16269"/>
                </a:lnTo>
                <a:lnTo>
                  <a:pt x="1909" y="16262"/>
                </a:lnTo>
                <a:lnTo>
                  <a:pt x="1892" y="16255"/>
                </a:lnTo>
                <a:lnTo>
                  <a:pt x="1877" y="16247"/>
                </a:lnTo>
                <a:lnTo>
                  <a:pt x="1861" y="16240"/>
                </a:lnTo>
                <a:lnTo>
                  <a:pt x="1846" y="16231"/>
                </a:lnTo>
                <a:lnTo>
                  <a:pt x="1832" y="16223"/>
                </a:lnTo>
                <a:lnTo>
                  <a:pt x="1817" y="16214"/>
                </a:lnTo>
                <a:lnTo>
                  <a:pt x="1802" y="16204"/>
                </a:lnTo>
                <a:lnTo>
                  <a:pt x="1788" y="16193"/>
                </a:lnTo>
                <a:lnTo>
                  <a:pt x="1772" y="16181"/>
                </a:lnTo>
                <a:lnTo>
                  <a:pt x="1758" y="16170"/>
                </a:lnTo>
                <a:lnTo>
                  <a:pt x="1743" y="16157"/>
                </a:lnTo>
                <a:lnTo>
                  <a:pt x="1728" y="16143"/>
                </a:lnTo>
                <a:lnTo>
                  <a:pt x="1713" y="16129"/>
                </a:lnTo>
                <a:lnTo>
                  <a:pt x="1697" y="16114"/>
                </a:lnTo>
                <a:lnTo>
                  <a:pt x="1683" y="16098"/>
                </a:lnTo>
                <a:lnTo>
                  <a:pt x="1653" y="16065"/>
                </a:lnTo>
                <a:lnTo>
                  <a:pt x="1623" y="16028"/>
                </a:lnTo>
                <a:lnTo>
                  <a:pt x="1593" y="15990"/>
                </a:lnTo>
                <a:lnTo>
                  <a:pt x="1562" y="15948"/>
                </a:lnTo>
                <a:lnTo>
                  <a:pt x="1533" y="15903"/>
                </a:lnTo>
                <a:lnTo>
                  <a:pt x="1502" y="15855"/>
                </a:lnTo>
                <a:lnTo>
                  <a:pt x="1471" y="15805"/>
                </a:lnTo>
                <a:lnTo>
                  <a:pt x="1441" y="15752"/>
                </a:lnTo>
                <a:lnTo>
                  <a:pt x="1411" y="15696"/>
                </a:lnTo>
                <a:lnTo>
                  <a:pt x="1380" y="15637"/>
                </a:lnTo>
                <a:lnTo>
                  <a:pt x="1344" y="15566"/>
                </a:lnTo>
                <a:lnTo>
                  <a:pt x="1309" y="15495"/>
                </a:lnTo>
                <a:lnTo>
                  <a:pt x="1274" y="15422"/>
                </a:lnTo>
                <a:lnTo>
                  <a:pt x="1240" y="15349"/>
                </a:lnTo>
                <a:lnTo>
                  <a:pt x="1206" y="15275"/>
                </a:lnTo>
                <a:lnTo>
                  <a:pt x="1172" y="15200"/>
                </a:lnTo>
                <a:lnTo>
                  <a:pt x="1139" y="15126"/>
                </a:lnTo>
                <a:lnTo>
                  <a:pt x="1105" y="15051"/>
                </a:lnTo>
                <a:lnTo>
                  <a:pt x="1073" y="14974"/>
                </a:lnTo>
                <a:lnTo>
                  <a:pt x="1041" y="14898"/>
                </a:lnTo>
                <a:lnTo>
                  <a:pt x="1008" y="14820"/>
                </a:lnTo>
                <a:lnTo>
                  <a:pt x="976" y="14742"/>
                </a:lnTo>
                <a:lnTo>
                  <a:pt x="946" y="14663"/>
                </a:lnTo>
                <a:lnTo>
                  <a:pt x="914" y="14585"/>
                </a:lnTo>
                <a:lnTo>
                  <a:pt x="883" y="14505"/>
                </a:lnTo>
                <a:lnTo>
                  <a:pt x="853" y="14424"/>
                </a:lnTo>
                <a:lnTo>
                  <a:pt x="823" y="14343"/>
                </a:lnTo>
                <a:lnTo>
                  <a:pt x="793" y="14262"/>
                </a:lnTo>
                <a:lnTo>
                  <a:pt x="763" y="14179"/>
                </a:lnTo>
                <a:lnTo>
                  <a:pt x="734" y="14096"/>
                </a:lnTo>
                <a:lnTo>
                  <a:pt x="676" y="13929"/>
                </a:lnTo>
                <a:lnTo>
                  <a:pt x="620" y="13759"/>
                </a:lnTo>
                <a:lnTo>
                  <a:pt x="565" y="13585"/>
                </a:lnTo>
                <a:lnTo>
                  <a:pt x="510" y="13410"/>
                </a:lnTo>
                <a:lnTo>
                  <a:pt x="457" y="13233"/>
                </a:lnTo>
                <a:lnTo>
                  <a:pt x="405" y="13052"/>
                </a:lnTo>
                <a:lnTo>
                  <a:pt x="356" y="12875"/>
                </a:lnTo>
                <a:lnTo>
                  <a:pt x="311" y="12704"/>
                </a:lnTo>
                <a:lnTo>
                  <a:pt x="268" y="12540"/>
                </a:lnTo>
                <a:lnTo>
                  <a:pt x="228" y="12383"/>
                </a:lnTo>
                <a:lnTo>
                  <a:pt x="192" y="12233"/>
                </a:lnTo>
                <a:lnTo>
                  <a:pt x="158" y="12088"/>
                </a:lnTo>
                <a:lnTo>
                  <a:pt x="128" y="11951"/>
                </a:lnTo>
                <a:lnTo>
                  <a:pt x="102" y="11821"/>
                </a:lnTo>
                <a:lnTo>
                  <a:pt x="78" y="11697"/>
                </a:lnTo>
                <a:lnTo>
                  <a:pt x="58" y="11579"/>
                </a:lnTo>
                <a:lnTo>
                  <a:pt x="49" y="11522"/>
                </a:lnTo>
                <a:lnTo>
                  <a:pt x="40" y="11468"/>
                </a:lnTo>
                <a:lnTo>
                  <a:pt x="32" y="11416"/>
                </a:lnTo>
                <a:lnTo>
                  <a:pt x="26" y="11365"/>
                </a:lnTo>
                <a:lnTo>
                  <a:pt x="20" y="11314"/>
                </a:lnTo>
                <a:lnTo>
                  <a:pt x="15" y="11267"/>
                </a:lnTo>
                <a:lnTo>
                  <a:pt x="11" y="11221"/>
                </a:lnTo>
                <a:lnTo>
                  <a:pt x="7" y="11176"/>
                </a:lnTo>
                <a:lnTo>
                  <a:pt x="3" y="11134"/>
                </a:lnTo>
                <a:lnTo>
                  <a:pt x="2" y="11092"/>
                </a:lnTo>
                <a:lnTo>
                  <a:pt x="0" y="11053"/>
                </a:lnTo>
                <a:lnTo>
                  <a:pt x="0" y="11015"/>
                </a:lnTo>
                <a:lnTo>
                  <a:pt x="0" y="10976"/>
                </a:lnTo>
                <a:lnTo>
                  <a:pt x="2" y="10938"/>
                </a:lnTo>
                <a:lnTo>
                  <a:pt x="4" y="10900"/>
                </a:lnTo>
                <a:lnTo>
                  <a:pt x="8" y="10864"/>
                </a:lnTo>
                <a:lnTo>
                  <a:pt x="11" y="10830"/>
                </a:lnTo>
                <a:lnTo>
                  <a:pt x="16" y="10796"/>
                </a:lnTo>
                <a:lnTo>
                  <a:pt x="21" y="10763"/>
                </a:lnTo>
                <a:lnTo>
                  <a:pt x="27" y="10731"/>
                </a:lnTo>
                <a:lnTo>
                  <a:pt x="34" y="10700"/>
                </a:lnTo>
                <a:lnTo>
                  <a:pt x="42" y="10671"/>
                </a:lnTo>
                <a:lnTo>
                  <a:pt x="51" y="10642"/>
                </a:lnTo>
                <a:lnTo>
                  <a:pt x="61" y="10614"/>
                </a:lnTo>
                <a:lnTo>
                  <a:pt x="71" y="10588"/>
                </a:lnTo>
                <a:lnTo>
                  <a:pt x="81" y="10562"/>
                </a:lnTo>
                <a:lnTo>
                  <a:pt x="94" y="10539"/>
                </a:lnTo>
                <a:lnTo>
                  <a:pt x="106" y="10515"/>
                </a:lnTo>
                <a:lnTo>
                  <a:pt x="120" y="10492"/>
                </a:lnTo>
                <a:lnTo>
                  <a:pt x="137" y="10469"/>
                </a:lnTo>
                <a:lnTo>
                  <a:pt x="155" y="10445"/>
                </a:lnTo>
                <a:lnTo>
                  <a:pt x="175" y="10421"/>
                </a:lnTo>
                <a:lnTo>
                  <a:pt x="196" y="10397"/>
                </a:lnTo>
                <a:lnTo>
                  <a:pt x="219" y="10372"/>
                </a:lnTo>
                <a:lnTo>
                  <a:pt x="244" y="10346"/>
                </a:lnTo>
                <a:lnTo>
                  <a:pt x="271" y="10320"/>
                </a:lnTo>
                <a:lnTo>
                  <a:pt x="298" y="10295"/>
                </a:lnTo>
                <a:lnTo>
                  <a:pt x="328" y="10268"/>
                </a:lnTo>
                <a:lnTo>
                  <a:pt x="360" y="10240"/>
                </a:lnTo>
                <a:lnTo>
                  <a:pt x="394" y="10213"/>
                </a:lnTo>
                <a:lnTo>
                  <a:pt x="429" y="10185"/>
                </a:lnTo>
                <a:lnTo>
                  <a:pt x="465" y="10156"/>
                </a:lnTo>
                <a:lnTo>
                  <a:pt x="504" y="10128"/>
                </a:lnTo>
                <a:lnTo>
                  <a:pt x="544" y="10099"/>
                </a:lnTo>
                <a:lnTo>
                  <a:pt x="596" y="10063"/>
                </a:lnTo>
                <a:lnTo>
                  <a:pt x="651" y="10028"/>
                </a:lnTo>
                <a:lnTo>
                  <a:pt x="705" y="9993"/>
                </a:lnTo>
                <a:lnTo>
                  <a:pt x="760" y="9960"/>
                </a:lnTo>
                <a:lnTo>
                  <a:pt x="816" y="9927"/>
                </a:lnTo>
                <a:lnTo>
                  <a:pt x="873" y="9895"/>
                </a:lnTo>
                <a:lnTo>
                  <a:pt x="930" y="9864"/>
                </a:lnTo>
                <a:lnTo>
                  <a:pt x="989" y="9833"/>
                </a:lnTo>
                <a:lnTo>
                  <a:pt x="1047" y="9804"/>
                </a:lnTo>
                <a:lnTo>
                  <a:pt x="1107" y="9775"/>
                </a:lnTo>
                <a:lnTo>
                  <a:pt x="1167" y="9747"/>
                </a:lnTo>
                <a:lnTo>
                  <a:pt x="1228" y="9721"/>
                </a:lnTo>
                <a:lnTo>
                  <a:pt x="1291" y="9694"/>
                </a:lnTo>
                <a:lnTo>
                  <a:pt x="1353" y="9669"/>
                </a:lnTo>
                <a:lnTo>
                  <a:pt x="1417" y="9644"/>
                </a:lnTo>
                <a:lnTo>
                  <a:pt x="1481" y="9620"/>
                </a:lnTo>
                <a:lnTo>
                  <a:pt x="1546" y="9598"/>
                </a:lnTo>
                <a:lnTo>
                  <a:pt x="1608" y="9577"/>
                </a:lnTo>
                <a:lnTo>
                  <a:pt x="1670" y="9557"/>
                </a:lnTo>
                <a:lnTo>
                  <a:pt x="1730" y="9539"/>
                </a:lnTo>
                <a:lnTo>
                  <a:pt x="1789" y="9522"/>
                </a:lnTo>
                <a:lnTo>
                  <a:pt x="1847" y="9507"/>
                </a:lnTo>
                <a:lnTo>
                  <a:pt x="1904" y="9493"/>
                </a:lnTo>
                <a:lnTo>
                  <a:pt x="1960" y="9481"/>
                </a:lnTo>
                <a:lnTo>
                  <a:pt x="2014" y="9470"/>
                </a:lnTo>
                <a:lnTo>
                  <a:pt x="2067" y="9460"/>
                </a:lnTo>
                <a:lnTo>
                  <a:pt x="2119" y="9452"/>
                </a:lnTo>
                <a:lnTo>
                  <a:pt x="2171" y="9446"/>
                </a:lnTo>
                <a:lnTo>
                  <a:pt x="2220" y="9441"/>
                </a:lnTo>
                <a:lnTo>
                  <a:pt x="2268" y="9437"/>
                </a:lnTo>
                <a:lnTo>
                  <a:pt x="2315" y="9435"/>
                </a:lnTo>
                <a:lnTo>
                  <a:pt x="2361" y="9434"/>
                </a:lnTo>
                <a:lnTo>
                  <a:pt x="2380" y="9436"/>
                </a:lnTo>
                <a:lnTo>
                  <a:pt x="2399" y="9439"/>
                </a:lnTo>
                <a:lnTo>
                  <a:pt x="2419" y="9444"/>
                </a:lnTo>
                <a:lnTo>
                  <a:pt x="2438" y="9452"/>
                </a:lnTo>
                <a:lnTo>
                  <a:pt x="2458" y="9463"/>
                </a:lnTo>
                <a:lnTo>
                  <a:pt x="2478" y="9475"/>
                </a:lnTo>
                <a:lnTo>
                  <a:pt x="2498" y="9489"/>
                </a:lnTo>
                <a:lnTo>
                  <a:pt x="2519" y="9507"/>
                </a:lnTo>
                <a:lnTo>
                  <a:pt x="2540" y="9525"/>
                </a:lnTo>
                <a:lnTo>
                  <a:pt x="2561" y="9547"/>
                </a:lnTo>
                <a:lnTo>
                  <a:pt x="2582" y="9570"/>
                </a:lnTo>
                <a:lnTo>
                  <a:pt x="2604" y="9597"/>
                </a:lnTo>
                <a:lnTo>
                  <a:pt x="2626" y="9624"/>
                </a:lnTo>
                <a:lnTo>
                  <a:pt x="2648" y="9655"/>
                </a:lnTo>
                <a:lnTo>
                  <a:pt x="2670" y="9687"/>
                </a:lnTo>
                <a:lnTo>
                  <a:pt x="2693" y="9722"/>
                </a:lnTo>
                <a:lnTo>
                  <a:pt x="2716" y="9760"/>
                </a:lnTo>
                <a:lnTo>
                  <a:pt x="2739" y="9799"/>
                </a:lnTo>
                <a:lnTo>
                  <a:pt x="2763" y="9841"/>
                </a:lnTo>
                <a:lnTo>
                  <a:pt x="2786" y="9885"/>
                </a:lnTo>
                <a:lnTo>
                  <a:pt x="2810" y="9931"/>
                </a:lnTo>
                <a:lnTo>
                  <a:pt x="2834" y="9979"/>
                </a:lnTo>
                <a:lnTo>
                  <a:pt x="2859" y="10030"/>
                </a:lnTo>
                <a:lnTo>
                  <a:pt x="2883" y="10083"/>
                </a:lnTo>
                <a:lnTo>
                  <a:pt x="2908" y="10138"/>
                </a:lnTo>
                <a:lnTo>
                  <a:pt x="2934" y="10195"/>
                </a:lnTo>
                <a:lnTo>
                  <a:pt x="2959" y="10256"/>
                </a:lnTo>
                <a:lnTo>
                  <a:pt x="2985" y="10317"/>
                </a:lnTo>
                <a:lnTo>
                  <a:pt x="3010" y="10382"/>
                </a:lnTo>
                <a:lnTo>
                  <a:pt x="3037" y="10448"/>
                </a:lnTo>
                <a:lnTo>
                  <a:pt x="3064" y="10517"/>
                </a:lnTo>
                <a:lnTo>
                  <a:pt x="3090" y="10588"/>
                </a:lnTo>
                <a:lnTo>
                  <a:pt x="3101" y="10616"/>
                </a:lnTo>
                <a:lnTo>
                  <a:pt x="3109" y="10643"/>
                </a:lnTo>
                <a:lnTo>
                  <a:pt x="3118" y="10668"/>
                </a:lnTo>
                <a:lnTo>
                  <a:pt x="3126" y="10690"/>
                </a:lnTo>
                <a:lnTo>
                  <a:pt x="3133" y="10711"/>
                </a:lnTo>
                <a:lnTo>
                  <a:pt x="3141" y="10728"/>
                </a:lnTo>
                <a:lnTo>
                  <a:pt x="3147" y="10745"/>
                </a:lnTo>
                <a:lnTo>
                  <a:pt x="3153" y="10760"/>
                </a:lnTo>
                <a:lnTo>
                  <a:pt x="3160" y="10786"/>
                </a:lnTo>
                <a:lnTo>
                  <a:pt x="3172" y="10819"/>
                </a:lnTo>
                <a:lnTo>
                  <a:pt x="3188" y="10860"/>
                </a:lnTo>
                <a:lnTo>
                  <a:pt x="3207" y="10910"/>
                </a:lnTo>
                <a:lnTo>
                  <a:pt x="3232" y="10978"/>
                </a:lnTo>
                <a:lnTo>
                  <a:pt x="3256" y="11044"/>
                </a:lnTo>
                <a:lnTo>
                  <a:pt x="3281" y="11108"/>
                </a:lnTo>
                <a:lnTo>
                  <a:pt x="3304" y="11170"/>
                </a:lnTo>
                <a:lnTo>
                  <a:pt x="3328" y="11229"/>
                </a:lnTo>
                <a:lnTo>
                  <a:pt x="3351" y="11288"/>
                </a:lnTo>
                <a:lnTo>
                  <a:pt x="3374" y="11343"/>
                </a:lnTo>
                <a:lnTo>
                  <a:pt x="3397" y="11396"/>
                </a:lnTo>
                <a:lnTo>
                  <a:pt x="3419" y="11448"/>
                </a:lnTo>
                <a:lnTo>
                  <a:pt x="3442" y="11496"/>
                </a:lnTo>
                <a:lnTo>
                  <a:pt x="3464" y="11543"/>
                </a:lnTo>
                <a:lnTo>
                  <a:pt x="3486" y="11587"/>
                </a:lnTo>
                <a:lnTo>
                  <a:pt x="3507" y="11630"/>
                </a:lnTo>
                <a:lnTo>
                  <a:pt x="3529" y="11670"/>
                </a:lnTo>
                <a:lnTo>
                  <a:pt x="3550" y="11708"/>
                </a:lnTo>
                <a:lnTo>
                  <a:pt x="3571" y="11744"/>
                </a:lnTo>
                <a:lnTo>
                  <a:pt x="3591" y="11778"/>
                </a:lnTo>
                <a:lnTo>
                  <a:pt x="3612" y="11809"/>
                </a:lnTo>
                <a:lnTo>
                  <a:pt x="3631" y="11839"/>
                </a:lnTo>
                <a:lnTo>
                  <a:pt x="3652" y="11866"/>
                </a:lnTo>
                <a:lnTo>
                  <a:pt x="3671" y="11891"/>
                </a:lnTo>
                <a:lnTo>
                  <a:pt x="3691" y="11914"/>
                </a:lnTo>
                <a:lnTo>
                  <a:pt x="3709" y="11934"/>
                </a:lnTo>
                <a:lnTo>
                  <a:pt x="3727" y="11953"/>
                </a:lnTo>
                <a:lnTo>
                  <a:pt x="3746" y="11969"/>
                </a:lnTo>
                <a:lnTo>
                  <a:pt x="3764" y="11984"/>
                </a:lnTo>
                <a:lnTo>
                  <a:pt x="3783" y="11996"/>
                </a:lnTo>
                <a:lnTo>
                  <a:pt x="3800" y="12005"/>
                </a:lnTo>
                <a:lnTo>
                  <a:pt x="3818" y="12013"/>
                </a:lnTo>
                <a:lnTo>
                  <a:pt x="3835" y="12018"/>
                </a:lnTo>
                <a:lnTo>
                  <a:pt x="3851" y="12021"/>
                </a:lnTo>
                <a:lnTo>
                  <a:pt x="3868" y="12022"/>
                </a:lnTo>
                <a:lnTo>
                  <a:pt x="3883" y="12020"/>
                </a:lnTo>
                <a:lnTo>
                  <a:pt x="3902" y="12013"/>
                </a:lnTo>
                <a:lnTo>
                  <a:pt x="3922" y="12001"/>
                </a:lnTo>
                <a:lnTo>
                  <a:pt x="3946" y="11984"/>
                </a:lnTo>
                <a:lnTo>
                  <a:pt x="3971" y="11961"/>
                </a:lnTo>
                <a:lnTo>
                  <a:pt x="4000" y="11934"/>
                </a:lnTo>
                <a:lnTo>
                  <a:pt x="4031" y="11903"/>
                </a:lnTo>
                <a:lnTo>
                  <a:pt x="4064" y="11866"/>
                </a:lnTo>
                <a:lnTo>
                  <a:pt x="4100" y="11824"/>
                </a:lnTo>
                <a:lnTo>
                  <a:pt x="4139" y="11777"/>
                </a:lnTo>
                <a:lnTo>
                  <a:pt x="4181" y="11725"/>
                </a:lnTo>
                <a:lnTo>
                  <a:pt x="4225" y="11669"/>
                </a:lnTo>
                <a:lnTo>
                  <a:pt x="4272" y="11607"/>
                </a:lnTo>
                <a:lnTo>
                  <a:pt x="4321" y="11541"/>
                </a:lnTo>
                <a:lnTo>
                  <a:pt x="4374" y="11469"/>
                </a:lnTo>
                <a:lnTo>
                  <a:pt x="4429" y="11393"/>
                </a:lnTo>
                <a:lnTo>
                  <a:pt x="4485" y="11312"/>
                </a:lnTo>
                <a:lnTo>
                  <a:pt x="4546" y="11226"/>
                </a:lnTo>
                <a:lnTo>
                  <a:pt x="4608" y="11135"/>
                </a:lnTo>
                <a:lnTo>
                  <a:pt x="4674" y="11039"/>
                </a:lnTo>
                <a:lnTo>
                  <a:pt x="4741" y="10938"/>
                </a:lnTo>
                <a:lnTo>
                  <a:pt x="4812" y="10833"/>
                </a:lnTo>
                <a:lnTo>
                  <a:pt x="4885" y="10721"/>
                </a:lnTo>
                <a:lnTo>
                  <a:pt x="4961" y="10606"/>
                </a:lnTo>
                <a:lnTo>
                  <a:pt x="5119" y="10360"/>
                </a:lnTo>
                <a:lnTo>
                  <a:pt x="5289" y="10094"/>
                </a:lnTo>
                <a:lnTo>
                  <a:pt x="5469" y="9809"/>
                </a:lnTo>
                <a:lnTo>
                  <a:pt x="5659" y="9504"/>
                </a:lnTo>
                <a:lnTo>
                  <a:pt x="5856" y="9190"/>
                </a:lnTo>
                <a:lnTo>
                  <a:pt x="6051" y="8878"/>
                </a:lnTo>
                <a:lnTo>
                  <a:pt x="6248" y="8570"/>
                </a:lnTo>
                <a:lnTo>
                  <a:pt x="6446" y="8263"/>
                </a:lnTo>
                <a:lnTo>
                  <a:pt x="6643" y="7959"/>
                </a:lnTo>
                <a:lnTo>
                  <a:pt x="6841" y="7658"/>
                </a:lnTo>
                <a:lnTo>
                  <a:pt x="7040" y="7359"/>
                </a:lnTo>
                <a:lnTo>
                  <a:pt x="7238" y="7061"/>
                </a:lnTo>
                <a:lnTo>
                  <a:pt x="7437" y="6767"/>
                </a:lnTo>
                <a:lnTo>
                  <a:pt x="7637" y="6475"/>
                </a:lnTo>
                <a:lnTo>
                  <a:pt x="7837" y="6185"/>
                </a:lnTo>
                <a:lnTo>
                  <a:pt x="8036" y="5897"/>
                </a:lnTo>
                <a:lnTo>
                  <a:pt x="8237" y="5612"/>
                </a:lnTo>
                <a:lnTo>
                  <a:pt x="8438" y="5330"/>
                </a:lnTo>
                <a:lnTo>
                  <a:pt x="8639" y="5050"/>
                </a:lnTo>
                <a:lnTo>
                  <a:pt x="8841" y="4772"/>
                </a:lnTo>
                <a:lnTo>
                  <a:pt x="8981" y="4581"/>
                </a:lnTo>
                <a:lnTo>
                  <a:pt x="9118" y="4394"/>
                </a:lnTo>
                <a:lnTo>
                  <a:pt x="9254" y="4211"/>
                </a:lnTo>
                <a:lnTo>
                  <a:pt x="9388" y="4032"/>
                </a:lnTo>
                <a:lnTo>
                  <a:pt x="9520" y="3857"/>
                </a:lnTo>
                <a:lnTo>
                  <a:pt x="9650" y="3686"/>
                </a:lnTo>
                <a:lnTo>
                  <a:pt x="9778" y="3519"/>
                </a:lnTo>
                <a:lnTo>
                  <a:pt x="9905" y="3356"/>
                </a:lnTo>
                <a:lnTo>
                  <a:pt x="10030" y="3196"/>
                </a:lnTo>
                <a:lnTo>
                  <a:pt x="10153" y="3040"/>
                </a:lnTo>
                <a:lnTo>
                  <a:pt x="10275" y="2888"/>
                </a:lnTo>
                <a:lnTo>
                  <a:pt x="10395" y="2741"/>
                </a:lnTo>
                <a:lnTo>
                  <a:pt x="10513" y="2596"/>
                </a:lnTo>
                <a:lnTo>
                  <a:pt x="10628" y="2457"/>
                </a:lnTo>
                <a:lnTo>
                  <a:pt x="10743" y="2321"/>
                </a:lnTo>
                <a:lnTo>
                  <a:pt x="10855" y="2187"/>
                </a:lnTo>
                <a:lnTo>
                  <a:pt x="10964" y="2060"/>
                </a:lnTo>
                <a:lnTo>
                  <a:pt x="11071" y="1939"/>
                </a:lnTo>
                <a:lnTo>
                  <a:pt x="11172" y="1825"/>
                </a:lnTo>
                <a:lnTo>
                  <a:pt x="11271" y="1717"/>
                </a:lnTo>
                <a:lnTo>
                  <a:pt x="11365" y="1615"/>
                </a:lnTo>
                <a:lnTo>
                  <a:pt x="11455" y="1518"/>
                </a:lnTo>
                <a:lnTo>
                  <a:pt x="11541" y="1428"/>
                </a:lnTo>
                <a:lnTo>
                  <a:pt x="11624" y="1345"/>
                </a:lnTo>
                <a:lnTo>
                  <a:pt x="11702" y="1267"/>
                </a:lnTo>
                <a:lnTo>
                  <a:pt x="11777" y="1195"/>
                </a:lnTo>
                <a:lnTo>
                  <a:pt x="11812" y="1163"/>
                </a:lnTo>
                <a:lnTo>
                  <a:pt x="11847" y="1131"/>
                </a:lnTo>
                <a:lnTo>
                  <a:pt x="11882" y="1101"/>
                </a:lnTo>
                <a:lnTo>
                  <a:pt x="11915" y="1072"/>
                </a:lnTo>
                <a:lnTo>
                  <a:pt x="11947" y="1045"/>
                </a:lnTo>
                <a:lnTo>
                  <a:pt x="11977" y="1019"/>
                </a:lnTo>
                <a:lnTo>
                  <a:pt x="12008" y="996"/>
                </a:lnTo>
                <a:lnTo>
                  <a:pt x="12037" y="973"/>
                </a:lnTo>
                <a:lnTo>
                  <a:pt x="12064" y="952"/>
                </a:lnTo>
                <a:lnTo>
                  <a:pt x="12092" y="933"/>
                </a:lnTo>
                <a:lnTo>
                  <a:pt x="12118" y="915"/>
                </a:lnTo>
                <a:lnTo>
                  <a:pt x="12143" y="899"/>
                </a:lnTo>
                <a:lnTo>
                  <a:pt x="12216" y="858"/>
                </a:lnTo>
                <a:lnTo>
                  <a:pt x="12292" y="818"/>
                </a:lnTo>
                <a:lnTo>
                  <a:pt x="12371" y="778"/>
                </a:lnTo>
                <a:lnTo>
                  <a:pt x="12453" y="740"/>
                </a:lnTo>
                <a:lnTo>
                  <a:pt x="12537" y="702"/>
                </a:lnTo>
                <a:lnTo>
                  <a:pt x="12623" y="665"/>
                </a:lnTo>
                <a:lnTo>
                  <a:pt x="12713" y="629"/>
                </a:lnTo>
                <a:lnTo>
                  <a:pt x="12805" y="593"/>
                </a:lnTo>
                <a:lnTo>
                  <a:pt x="12899" y="558"/>
                </a:lnTo>
                <a:lnTo>
                  <a:pt x="12996" y="523"/>
                </a:lnTo>
                <a:lnTo>
                  <a:pt x="13097" y="489"/>
                </a:lnTo>
                <a:lnTo>
                  <a:pt x="13199" y="456"/>
                </a:lnTo>
                <a:lnTo>
                  <a:pt x="13305" y="425"/>
                </a:lnTo>
                <a:lnTo>
                  <a:pt x="13412" y="393"/>
                </a:lnTo>
                <a:lnTo>
                  <a:pt x="13523" y="362"/>
                </a:lnTo>
                <a:lnTo>
                  <a:pt x="13636" y="332"/>
                </a:lnTo>
                <a:lnTo>
                  <a:pt x="13750" y="304"/>
                </a:lnTo>
                <a:lnTo>
                  <a:pt x="13866" y="276"/>
                </a:lnTo>
                <a:lnTo>
                  <a:pt x="13984" y="249"/>
                </a:lnTo>
                <a:lnTo>
                  <a:pt x="14104" y="224"/>
                </a:lnTo>
                <a:lnTo>
                  <a:pt x="14225" y="199"/>
                </a:lnTo>
                <a:lnTo>
                  <a:pt x="14348" y="176"/>
                </a:lnTo>
                <a:lnTo>
                  <a:pt x="14473" y="154"/>
                </a:lnTo>
                <a:lnTo>
                  <a:pt x="14600" y="133"/>
                </a:lnTo>
                <a:lnTo>
                  <a:pt x="14728" y="112"/>
                </a:lnTo>
                <a:lnTo>
                  <a:pt x="14858" y="94"/>
                </a:lnTo>
                <a:lnTo>
                  <a:pt x="14989" y="75"/>
                </a:lnTo>
                <a:lnTo>
                  <a:pt x="15123" y="58"/>
                </a:lnTo>
                <a:lnTo>
                  <a:pt x="15258" y="42"/>
                </a:lnTo>
                <a:lnTo>
                  <a:pt x="15394" y="27"/>
                </a:lnTo>
                <a:lnTo>
                  <a:pt x="15532" y="14"/>
                </a:lnTo>
                <a:lnTo>
                  <a:pt x="15672" y="0"/>
                </a:lnTo>
                <a:lnTo>
                  <a:pt x="15756" y="439"/>
                </a:lnTo>
              </a:path>
            </a:pathLst>
          </a:custGeom>
          <a:solidFill>
            <a:srgbClr val="FF0000"/>
          </a:solidFill>
          <a:ln w="317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368180" name="Text Box 116"/>
          <p:cNvSpPr txBox="1">
            <a:spLocks noChangeArrowheads="1"/>
          </p:cNvSpPr>
          <p:nvPr/>
        </p:nvSpPr>
        <p:spPr bwMode="auto">
          <a:xfrm>
            <a:off x="4679950" y="2420938"/>
            <a:ext cx="1763713" cy="2654300"/>
          </a:xfrm>
          <a:prstGeom prst="rect">
            <a:avLst/>
          </a:prstGeom>
          <a:solidFill>
            <a:srgbClr val="FFCC99"/>
          </a:solidFill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1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latin typeface="Arial" charset="0"/>
              </a:rPr>
              <a:t>1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2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latin typeface="Arial" charset="0"/>
              </a:rPr>
              <a:t>2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3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latin typeface="Arial" charset="0"/>
              </a:rPr>
              <a:t>1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latin typeface="Arial" charset="0"/>
              </a:rPr>
              <a:t>2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4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latin typeface="Arial" charset="0"/>
              </a:rPr>
              <a:t>4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5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latin typeface="Arial" charset="0"/>
              </a:rPr>
              <a:t>1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latin typeface="Arial" charset="0"/>
              </a:rPr>
              <a:t>4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6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latin typeface="Arial" charset="0"/>
              </a:rPr>
              <a:t>2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latin typeface="Arial" charset="0"/>
              </a:rPr>
              <a:t>4</a:t>
            </a:r>
          </a:p>
        </p:txBody>
      </p:sp>
      <p:sp>
        <p:nvSpPr>
          <p:cNvPr id="1368181" name="Text Box 117"/>
          <p:cNvSpPr txBox="1">
            <a:spLocks noChangeArrowheads="1"/>
          </p:cNvSpPr>
          <p:nvPr/>
        </p:nvSpPr>
        <p:spPr bwMode="auto">
          <a:xfrm>
            <a:off x="6443663" y="2420938"/>
            <a:ext cx="2449512" cy="2654300"/>
          </a:xfrm>
          <a:prstGeom prst="rect">
            <a:avLst/>
          </a:prstGeom>
          <a:solidFill>
            <a:srgbClr val="FFCC99"/>
          </a:solidFill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  7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latin typeface="Arial" charset="0"/>
              </a:rPr>
              <a:t>1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latin typeface="Arial" charset="0"/>
              </a:rPr>
              <a:t>2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latin typeface="Arial" charset="0"/>
              </a:rPr>
              <a:t>4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  8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latin typeface="Arial" charset="0"/>
              </a:rPr>
              <a:t>8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  9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latin typeface="Arial" charset="0"/>
              </a:rPr>
              <a:t>1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latin typeface="Arial" charset="0"/>
              </a:rPr>
              <a:t>8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10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latin typeface="Arial" charset="0"/>
              </a:rPr>
              <a:t>2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latin typeface="Arial" charset="0"/>
              </a:rPr>
              <a:t>8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11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latin typeface="Arial" charset="0"/>
              </a:rPr>
              <a:t>1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latin typeface="Arial" charset="0"/>
              </a:rPr>
              <a:t>2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latin typeface="Arial" charset="0"/>
              </a:rPr>
              <a:t>8</a:t>
            </a:r>
          </a:p>
          <a:p>
            <a:pPr algn="l">
              <a:spcBef>
                <a:spcPct val="0"/>
              </a:spcBef>
            </a:pPr>
            <a:r>
              <a:rPr lang="en-US" altLang="zh-CN">
                <a:latin typeface="Arial" charset="0"/>
              </a:rPr>
              <a:t>12</a:t>
            </a:r>
            <a:r>
              <a:rPr lang="zh-CN" altLang="en-US">
                <a:latin typeface="Arial" charset="0"/>
              </a:rPr>
              <a:t>＝</a:t>
            </a:r>
            <a:r>
              <a:rPr lang="en-US" altLang="zh-CN">
                <a:latin typeface="Arial" charset="0"/>
              </a:rPr>
              <a:t>4</a:t>
            </a:r>
            <a:r>
              <a:rPr lang="zh-CN" altLang="en-US">
                <a:latin typeface="Arial" charset="0"/>
              </a:rPr>
              <a:t>＋</a:t>
            </a:r>
            <a:r>
              <a:rPr lang="en-US" altLang="zh-CN">
                <a:latin typeface="Arial" charset="0"/>
              </a:rPr>
              <a:t>8</a:t>
            </a:r>
          </a:p>
        </p:txBody>
      </p:sp>
      <p:sp>
        <p:nvSpPr>
          <p:cNvPr id="1368182" name="AutoShape 118"/>
          <p:cNvSpPr>
            <a:spLocks noChangeArrowheads="1"/>
          </p:cNvSpPr>
          <p:nvPr/>
        </p:nvSpPr>
        <p:spPr bwMode="auto">
          <a:xfrm>
            <a:off x="4427538" y="4508500"/>
            <a:ext cx="2089150" cy="576263"/>
          </a:xfrm>
          <a:prstGeom prst="star16">
            <a:avLst>
              <a:gd name="adj" fmla="val 38148"/>
            </a:avLst>
          </a:prstGeom>
          <a:noFill/>
          <a:ln w="28575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68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68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68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68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68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68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681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681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681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681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681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681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681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681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68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68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681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681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7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368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68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681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681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7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3681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68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368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368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368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368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368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368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368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368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7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368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368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68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68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368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368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368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368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3681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3681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3681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3681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3681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3681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3681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3681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8137" grpId="0" animBg="1"/>
      <p:bldP spid="1368143" grpId="0" animBg="1"/>
      <p:bldP spid="1368149" grpId="0" animBg="1"/>
      <p:bldP spid="1368164" grpId="0" animBg="1"/>
      <p:bldP spid="1368165" grpId="0" animBg="1"/>
      <p:bldP spid="1368166" grpId="0" animBg="1"/>
      <p:bldP spid="1368167" grpId="0" animBg="1"/>
      <p:bldP spid="1368168" grpId="0" animBg="1"/>
      <p:bldP spid="1368169" grpId="0" animBg="1"/>
      <p:bldP spid="1368170" grpId="0" animBg="1"/>
      <p:bldP spid="1368171" grpId="0" animBg="1"/>
      <p:bldP spid="1368172" grpId="0" animBg="1"/>
      <p:bldP spid="1368173" grpId="0" animBg="1"/>
      <p:bldP spid="1368174" grpId="0" animBg="1"/>
      <p:bldP spid="1368175" grpId="0" animBg="1"/>
      <p:bldP spid="1368176" grpId="0" animBg="1"/>
      <p:bldP spid="1368177" grpId="0" animBg="1"/>
      <p:bldP spid="136818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8454A54-3D3A-4ACE-8840-38B808A9FAD3}" type="slidenum">
              <a:rPr lang="zh-CN" altLang="en-US"/>
              <a:pPr/>
              <a:t>34</a:t>
            </a:fld>
            <a:endParaRPr lang="en-US" altLang="zh-CN"/>
          </a:p>
        </p:txBody>
      </p:sp>
      <p:sp>
        <p:nvSpPr>
          <p:cNvPr id="136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三、海明码        </a:t>
            </a:r>
            <a:r>
              <a:rPr lang="en-US" altLang="zh-CN" dirty="0">
                <a:solidFill>
                  <a:srgbClr val="CC0066"/>
                </a:solidFill>
              </a:rPr>
              <a:t>1. </a:t>
            </a:r>
            <a:r>
              <a:rPr lang="zh-CN" altLang="en-US" dirty="0">
                <a:solidFill>
                  <a:srgbClr val="FF6600"/>
                </a:solidFill>
              </a:rPr>
              <a:t>检错</a:t>
            </a:r>
            <a:r>
              <a:rPr lang="zh-CN" altLang="en-US" dirty="0">
                <a:solidFill>
                  <a:srgbClr val="CC0066"/>
                </a:solidFill>
              </a:rPr>
              <a:t>和</a:t>
            </a:r>
            <a:r>
              <a:rPr lang="zh-CN" altLang="en-US" dirty="0">
                <a:solidFill>
                  <a:srgbClr val="FF3399"/>
                </a:solidFill>
              </a:rPr>
              <a:t>纠错</a:t>
            </a:r>
            <a:endParaRPr lang="zh-CN" altLang="en-US" dirty="0">
              <a:solidFill>
                <a:srgbClr val="CC0066"/>
              </a:solidFill>
            </a:endParaRPr>
          </a:p>
        </p:txBody>
      </p:sp>
      <p:sp>
        <p:nvSpPr>
          <p:cNvPr id="136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88" y="549275"/>
            <a:ext cx="8785225" cy="6119813"/>
          </a:xfrm>
        </p:spPr>
        <p:txBody>
          <a:bodyPr/>
          <a:lstStyle/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/>
              <a:t>【</a:t>
            </a:r>
            <a:r>
              <a:rPr lang="zh-CN" altLang="pt-BR" dirty="0"/>
              <a:t>例</a:t>
            </a:r>
            <a:r>
              <a:rPr lang="pt-BR" altLang="zh-CN" dirty="0"/>
              <a:t>】</a:t>
            </a:r>
            <a:r>
              <a:rPr lang="zh-CN" altLang="pt-BR" dirty="0"/>
              <a:t>利用上述构造海明码的步骤，采用</a:t>
            </a:r>
            <a:r>
              <a:rPr lang="zh-CN" altLang="pt-BR" dirty="0">
                <a:solidFill>
                  <a:srgbClr val="FF0000"/>
                </a:solidFill>
              </a:rPr>
              <a:t>偶校验</a:t>
            </a:r>
            <a:r>
              <a:rPr lang="zh-CN" altLang="pt-BR" dirty="0"/>
              <a:t>，对</a:t>
            </a:r>
            <a:r>
              <a:rPr lang="pt-BR" altLang="zh-CN" dirty="0"/>
              <a:t>8</a:t>
            </a:r>
            <a:r>
              <a:rPr lang="zh-CN" altLang="pt-BR" dirty="0"/>
              <a:t>位</a:t>
            </a:r>
            <a:r>
              <a:rPr lang="pt-BR" altLang="zh-CN" dirty="0"/>
              <a:t>ASCII</a:t>
            </a:r>
            <a:r>
              <a:rPr lang="zh-CN" altLang="pt-BR" dirty="0"/>
              <a:t>字符“</a:t>
            </a:r>
            <a:r>
              <a:rPr lang="pt-BR" altLang="zh-CN" dirty="0">
                <a:solidFill>
                  <a:srgbClr val="0000FF"/>
                </a:solidFill>
              </a:rPr>
              <a:t>M</a:t>
            </a:r>
            <a:r>
              <a:rPr lang="pt-BR" altLang="zh-CN" dirty="0"/>
              <a:t>”</a:t>
            </a:r>
            <a:r>
              <a:rPr lang="zh-CN" altLang="pt-BR" dirty="0"/>
              <a:t>进行编码（最高位为</a:t>
            </a:r>
            <a:r>
              <a:rPr lang="pt-BR" altLang="zh-CN" dirty="0"/>
              <a:t>0</a:t>
            </a:r>
            <a:r>
              <a:rPr lang="zh-CN" altLang="pt-BR" dirty="0"/>
              <a:t>）。人为地引入一个</a:t>
            </a:r>
            <a:r>
              <a:rPr lang="pt-BR" altLang="zh-CN" dirty="0"/>
              <a:t>1</a:t>
            </a:r>
            <a:r>
              <a:rPr lang="zh-CN" altLang="pt-BR" dirty="0"/>
              <a:t>位错误，说明如何找出这个错误。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/>
              <a:t>【</a:t>
            </a:r>
            <a:r>
              <a:rPr lang="zh-CN" altLang="pt-BR" dirty="0"/>
              <a:t>解</a:t>
            </a:r>
            <a:r>
              <a:rPr lang="pt-BR" altLang="zh-CN" dirty="0"/>
              <a:t>】</a:t>
            </a:r>
            <a:r>
              <a:rPr lang="zh-CN" altLang="pt-BR" dirty="0"/>
              <a:t> “</a:t>
            </a:r>
            <a:r>
              <a:rPr lang="pt-BR" altLang="zh-CN" dirty="0"/>
              <a:t>M”</a:t>
            </a:r>
            <a:r>
              <a:rPr lang="zh-CN" altLang="pt-BR" dirty="0"/>
              <a:t>的编码字为：</a:t>
            </a:r>
            <a:r>
              <a:rPr lang="pt-BR" altLang="zh-CN" dirty="0">
                <a:latin typeface="Arial" charset="0"/>
              </a:rPr>
              <a:t>0100</a:t>
            </a:r>
            <a:r>
              <a:rPr lang="pt-BR" altLang="zh-CN" dirty="0">
                <a:highlight>
                  <a:srgbClr val="FFFF00"/>
                </a:highlight>
                <a:latin typeface="Arial" charset="0"/>
              </a:rPr>
              <a:t>1</a:t>
            </a:r>
            <a:r>
              <a:rPr lang="pt-BR" altLang="zh-CN" dirty="0">
                <a:latin typeface="Arial" charset="0"/>
              </a:rPr>
              <a:t>1</a:t>
            </a:r>
            <a:r>
              <a:rPr lang="pt-BR" altLang="zh-CN" dirty="0">
                <a:solidFill>
                  <a:srgbClr val="FF0000"/>
                </a:solidFill>
                <a:latin typeface="Arial" charset="0"/>
              </a:rPr>
              <a:t>1</a:t>
            </a:r>
            <a:r>
              <a:rPr lang="pt-BR" altLang="zh-CN" dirty="0">
                <a:latin typeface="Arial" charset="0"/>
              </a:rPr>
              <a:t>0</a:t>
            </a:r>
            <a:r>
              <a:rPr lang="pt-BR" altLang="zh-CN" dirty="0">
                <a:highlight>
                  <a:srgbClr val="FFFF00"/>
                </a:highlight>
                <a:latin typeface="Arial" charset="0"/>
              </a:rPr>
              <a:t>0</a:t>
            </a:r>
            <a:r>
              <a:rPr lang="pt-BR" altLang="zh-CN" dirty="0">
                <a:latin typeface="Arial" charset="0"/>
              </a:rPr>
              <a:t>1</a:t>
            </a:r>
            <a:r>
              <a:rPr lang="pt-BR" altLang="zh-CN" dirty="0">
                <a:highlight>
                  <a:srgbClr val="FFFF00"/>
                </a:highlight>
                <a:latin typeface="Arial" charset="0"/>
              </a:rPr>
              <a:t>01</a:t>
            </a:r>
            <a:r>
              <a:rPr lang="zh-CN" altLang="pt-BR" dirty="0"/>
              <a:t>。</a:t>
            </a:r>
            <a:endParaRPr lang="pt-BR" altLang="zh-CN" dirty="0"/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endParaRPr lang="pt-BR" altLang="zh-CN" dirty="0">
              <a:solidFill>
                <a:srgbClr val="CC0066"/>
              </a:solidFill>
            </a:endParaRP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endParaRPr lang="pt-BR" altLang="zh-CN" dirty="0">
              <a:solidFill>
                <a:srgbClr val="CC0066"/>
              </a:solidFill>
            </a:endParaRP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zh-CN" altLang="en-US" dirty="0">
                <a:solidFill>
                  <a:srgbClr val="008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思考</a:t>
            </a:r>
            <a:r>
              <a:rPr lang="zh-CN" altLang="en-US" dirty="0"/>
              <a:t>：</a:t>
            </a:r>
            <a:br>
              <a:rPr lang="en-US" altLang="zh-CN" dirty="0"/>
            </a:br>
            <a:r>
              <a:rPr lang="zh-CN" altLang="en-US" dirty="0"/>
              <a:t>海明校验码的</a:t>
            </a:r>
            <a:br>
              <a:rPr lang="en-US" altLang="zh-CN" dirty="0"/>
            </a:br>
            <a:r>
              <a:rPr lang="zh-CN" altLang="en-US" dirty="0">
                <a:solidFill>
                  <a:srgbClr val="FF0000"/>
                </a:solidFill>
              </a:rPr>
              <a:t>检错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FF0000"/>
                </a:solidFill>
              </a:rPr>
              <a:t>纠错</a:t>
            </a:r>
            <a:r>
              <a:rPr lang="zh-CN" altLang="en-US" dirty="0"/>
              <a:t>能力</a:t>
            </a:r>
            <a:endParaRPr lang="zh-CN" altLang="en-US" dirty="0">
              <a:solidFill>
                <a:srgbClr val="000000"/>
              </a:solidFill>
              <a:cs typeface="Times New Roman" pitchFamily="18" charset="0"/>
            </a:endParaRPr>
          </a:p>
        </p:txBody>
      </p:sp>
      <p:graphicFrame>
        <p:nvGraphicFramePr>
          <p:cNvPr id="1368068" name="Group 4"/>
          <p:cNvGraphicFramePr>
            <a:graphicFrameLocks noGrp="1"/>
          </p:cNvGraphicFramePr>
          <p:nvPr/>
        </p:nvGraphicFramePr>
        <p:xfrm>
          <a:off x="1187450" y="5386388"/>
          <a:ext cx="6985000" cy="1067435"/>
        </p:xfrm>
        <a:graphic>
          <a:graphicData uri="http://schemas.openxmlformats.org/drawingml/2006/table">
            <a:tbl>
              <a:tblPr/>
              <a:tblGrid>
                <a:gridCol w="582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6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26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26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26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26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8261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810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8261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49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12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9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8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68122" name="Rectangle 58"/>
          <p:cNvSpPr>
            <a:spLocks noChangeArrowheads="1"/>
          </p:cNvSpPr>
          <p:nvPr/>
        </p:nvSpPr>
        <p:spPr bwMode="auto">
          <a:xfrm>
            <a:off x="1187450" y="5386388"/>
            <a:ext cx="576263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0</a:t>
            </a:r>
          </a:p>
        </p:txBody>
      </p:sp>
      <p:sp>
        <p:nvSpPr>
          <p:cNvPr id="1368123" name="Rectangle 59"/>
          <p:cNvSpPr>
            <a:spLocks noChangeArrowheads="1"/>
          </p:cNvSpPr>
          <p:nvPr/>
        </p:nvSpPr>
        <p:spPr bwMode="auto">
          <a:xfrm>
            <a:off x="1763713" y="5386388"/>
            <a:ext cx="576262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1</a:t>
            </a:r>
          </a:p>
        </p:txBody>
      </p:sp>
      <p:sp>
        <p:nvSpPr>
          <p:cNvPr id="1368124" name="Rectangle 60"/>
          <p:cNvSpPr>
            <a:spLocks noChangeArrowheads="1"/>
          </p:cNvSpPr>
          <p:nvPr/>
        </p:nvSpPr>
        <p:spPr bwMode="auto">
          <a:xfrm>
            <a:off x="2339975" y="5386388"/>
            <a:ext cx="576263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0</a:t>
            </a:r>
          </a:p>
        </p:txBody>
      </p:sp>
      <p:sp>
        <p:nvSpPr>
          <p:cNvPr id="1368125" name="Rectangle 61"/>
          <p:cNvSpPr>
            <a:spLocks noChangeArrowheads="1"/>
          </p:cNvSpPr>
          <p:nvPr/>
        </p:nvSpPr>
        <p:spPr bwMode="auto">
          <a:xfrm>
            <a:off x="2916238" y="5386388"/>
            <a:ext cx="576262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0</a:t>
            </a:r>
          </a:p>
        </p:txBody>
      </p:sp>
      <p:sp>
        <p:nvSpPr>
          <p:cNvPr id="1368126" name="Rectangle 62"/>
          <p:cNvSpPr>
            <a:spLocks noChangeArrowheads="1"/>
          </p:cNvSpPr>
          <p:nvPr/>
        </p:nvSpPr>
        <p:spPr bwMode="auto">
          <a:xfrm>
            <a:off x="4067175" y="5386388"/>
            <a:ext cx="576263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1</a:t>
            </a:r>
          </a:p>
        </p:txBody>
      </p:sp>
      <p:sp>
        <p:nvSpPr>
          <p:cNvPr id="1368127" name="Rectangle 63"/>
          <p:cNvSpPr>
            <a:spLocks noChangeArrowheads="1"/>
          </p:cNvSpPr>
          <p:nvPr/>
        </p:nvSpPr>
        <p:spPr bwMode="auto">
          <a:xfrm>
            <a:off x="4716463" y="5386388"/>
            <a:ext cx="576262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 dirty="0">
                <a:solidFill>
                  <a:srgbClr val="FF0000"/>
                </a:solidFill>
                <a:latin typeface="Arial" charset="0"/>
              </a:rPr>
              <a:t>1</a:t>
            </a:r>
          </a:p>
        </p:txBody>
      </p:sp>
      <p:sp>
        <p:nvSpPr>
          <p:cNvPr id="1368128" name="Rectangle 64"/>
          <p:cNvSpPr>
            <a:spLocks noChangeArrowheads="1"/>
          </p:cNvSpPr>
          <p:nvPr/>
        </p:nvSpPr>
        <p:spPr bwMode="auto">
          <a:xfrm>
            <a:off x="5292725" y="5386388"/>
            <a:ext cx="576263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0</a:t>
            </a:r>
          </a:p>
        </p:txBody>
      </p:sp>
      <p:sp>
        <p:nvSpPr>
          <p:cNvPr id="1368129" name="Rectangle 65"/>
          <p:cNvSpPr>
            <a:spLocks noChangeArrowheads="1"/>
          </p:cNvSpPr>
          <p:nvPr/>
        </p:nvSpPr>
        <p:spPr bwMode="auto">
          <a:xfrm>
            <a:off x="6443663" y="5386388"/>
            <a:ext cx="576262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00FF"/>
                </a:solidFill>
                <a:latin typeface="Arial" charset="0"/>
              </a:rPr>
              <a:t>1</a:t>
            </a:r>
          </a:p>
        </p:txBody>
      </p:sp>
      <p:sp>
        <p:nvSpPr>
          <p:cNvPr id="1368132" name="Rectangle 68"/>
          <p:cNvSpPr>
            <a:spLocks noChangeArrowheads="1"/>
          </p:cNvSpPr>
          <p:nvPr/>
        </p:nvSpPr>
        <p:spPr bwMode="auto">
          <a:xfrm>
            <a:off x="7596188" y="5373688"/>
            <a:ext cx="576262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8000"/>
                </a:solidFill>
                <a:latin typeface="Arial" charset="0"/>
              </a:rPr>
              <a:t>1</a:t>
            </a:r>
          </a:p>
        </p:txBody>
      </p:sp>
      <p:sp>
        <p:nvSpPr>
          <p:cNvPr id="1368133" name="Rectangle 69"/>
          <p:cNvSpPr>
            <a:spLocks noChangeArrowheads="1"/>
          </p:cNvSpPr>
          <p:nvPr/>
        </p:nvSpPr>
        <p:spPr bwMode="auto">
          <a:xfrm>
            <a:off x="7019925" y="5373688"/>
            <a:ext cx="576263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8000"/>
                </a:solidFill>
                <a:latin typeface="Arial" charset="0"/>
              </a:rPr>
              <a:t>0</a:t>
            </a:r>
          </a:p>
        </p:txBody>
      </p:sp>
      <p:sp>
        <p:nvSpPr>
          <p:cNvPr id="1368135" name="Rectangle 71"/>
          <p:cNvSpPr>
            <a:spLocks noChangeArrowheads="1"/>
          </p:cNvSpPr>
          <p:nvPr/>
        </p:nvSpPr>
        <p:spPr bwMode="auto">
          <a:xfrm>
            <a:off x="5867400" y="5373688"/>
            <a:ext cx="576263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8000"/>
                </a:solidFill>
                <a:latin typeface="Arial" charset="0"/>
              </a:rPr>
              <a:t>0</a:t>
            </a:r>
          </a:p>
        </p:txBody>
      </p:sp>
      <p:sp>
        <p:nvSpPr>
          <p:cNvPr id="1368136" name="Rectangle 72"/>
          <p:cNvSpPr>
            <a:spLocks noChangeArrowheads="1"/>
          </p:cNvSpPr>
          <p:nvPr/>
        </p:nvSpPr>
        <p:spPr bwMode="auto">
          <a:xfrm>
            <a:off x="3492500" y="5373688"/>
            <a:ext cx="576263" cy="576262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zh-CN">
                <a:solidFill>
                  <a:srgbClr val="008000"/>
                </a:solidFill>
                <a:latin typeface="Arial" charset="0"/>
              </a:rPr>
              <a:t>1</a:t>
            </a:r>
          </a:p>
        </p:txBody>
      </p:sp>
      <p:sp>
        <p:nvSpPr>
          <p:cNvPr id="1368180" name="Text Box 116"/>
          <p:cNvSpPr txBox="1">
            <a:spLocks noChangeArrowheads="1"/>
          </p:cNvSpPr>
          <p:nvPr/>
        </p:nvSpPr>
        <p:spPr bwMode="auto">
          <a:xfrm>
            <a:off x="4679950" y="2420938"/>
            <a:ext cx="1763713" cy="2654300"/>
          </a:xfrm>
          <a:prstGeom prst="rect">
            <a:avLst/>
          </a:prstGeom>
          <a:solidFill>
            <a:srgbClr val="FFCC99"/>
          </a:solidFill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 dirty="0">
                <a:solidFill>
                  <a:srgbClr val="FF6600"/>
                </a:solidFill>
                <a:latin typeface="Arial" charset="0"/>
              </a:rPr>
              <a:t>1</a:t>
            </a:r>
            <a:r>
              <a:rPr lang="zh-CN" altLang="en-US" dirty="0">
                <a:solidFill>
                  <a:srgbClr val="FF6600"/>
                </a:solidFill>
                <a:latin typeface="Arial" charset="0"/>
              </a:rPr>
              <a:t>＝</a:t>
            </a:r>
            <a:r>
              <a:rPr lang="en-US" altLang="zh-CN" dirty="0">
                <a:solidFill>
                  <a:srgbClr val="FF6600"/>
                </a:solidFill>
                <a:latin typeface="Arial" charset="0"/>
              </a:rPr>
              <a:t>1</a:t>
            </a:r>
          </a:p>
          <a:p>
            <a:pPr algn="l">
              <a:spcBef>
                <a:spcPct val="0"/>
              </a:spcBef>
            </a:pPr>
            <a:r>
              <a:rPr lang="en-US" altLang="zh-CN" dirty="0">
                <a:solidFill>
                  <a:srgbClr val="FF6600"/>
                </a:solidFill>
                <a:latin typeface="Arial" charset="0"/>
              </a:rPr>
              <a:t>2</a:t>
            </a:r>
            <a:r>
              <a:rPr lang="zh-CN" altLang="en-US" dirty="0">
                <a:solidFill>
                  <a:srgbClr val="FF6600"/>
                </a:solidFill>
                <a:latin typeface="Arial" charset="0"/>
              </a:rPr>
              <a:t>＝</a:t>
            </a:r>
            <a:r>
              <a:rPr lang="en-US" altLang="zh-CN" dirty="0">
                <a:solidFill>
                  <a:srgbClr val="FF6600"/>
                </a:solidFill>
                <a:latin typeface="Arial" charset="0"/>
              </a:rPr>
              <a:t>2</a:t>
            </a:r>
          </a:p>
          <a:p>
            <a:pPr algn="l">
              <a:spcBef>
                <a:spcPct val="0"/>
              </a:spcBef>
            </a:pPr>
            <a:r>
              <a:rPr lang="en-US" altLang="zh-CN" dirty="0">
                <a:latin typeface="Arial" charset="0"/>
              </a:rPr>
              <a:t>3</a:t>
            </a:r>
            <a:r>
              <a:rPr lang="zh-CN" altLang="en-US" dirty="0">
                <a:latin typeface="Arial" charset="0"/>
              </a:rPr>
              <a:t>＝</a:t>
            </a:r>
            <a:r>
              <a:rPr lang="en-US" altLang="zh-CN" dirty="0">
                <a:latin typeface="Arial" charset="0"/>
              </a:rPr>
              <a:t>1</a:t>
            </a:r>
            <a:r>
              <a:rPr lang="zh-CN" altLang="en-US" dirty="0">
                <a:latin typeface="Arial" charset="0"/>
              </a:rPr>
              <a:t>＋</a:t>
            </a:r>
            <a:r>
              <a:rPr lang="en-US" altLang="zh-CN" dirty="0">
                <a:latin typeface="Arial" charset="0"/>
              </a:rPr>
              <a:t>2</a:t>
            </a:r>
          </a:p>
          <a:p>
            <a:pPr algn="l">
              <a:spcBef>
                <a:spcPct val="0"/>
              </a:spcBef>
            </a:pPr>
            <a:r>
              <a:rPr lang="en-US" altLang="zh-CN" dirty="0">
                <a:solidFill>
                  <a:srgbClr val="FF6600"/>
                </a:solidFill>
                <a:latin typeface="Arial" charset="0"/>
              </a:rPr>
              <a:t>4</a:t>
            </a:r>
            <a:r>
              <a:rPr lang="zh-CN" altLang="en-US" dirty="0">
                <a:solidFill>
                  <a:srgbClr val="FF6600"/>
                </a:solidFill>
                <a:latin typeface="Arial" charset="0"/>
              </a:rPr>
              <a:t>＝</a:t>
            </a:r>
            <a:r>
              <a:rPr lang="en-US" altLang="zh-CN" dirty="0">
                <a:solidFill>
                  <a:srgbClr val="FF6600"/>
                </a:solidFill>
                <a:latin typeface="Arial" charset="0"/>
              </a:rPr>
              <a:t>4</a:t>
            </a:r>
          </a:p>
          <a:p>
            <a:pPr algn="l">
              <a:spcBef>
                <a:spcPct val="0"/>
              </a:spcBef>
            </a:pPr>
            <a:r>
              <a:rPr lang="en-US" altLang="zh-CN" dirty="0">
                <a:latin typeface="Arial" charset="0"/>
              </a:rPr>
              <a:t>5</a:t>
            </a:r>
            <a:r>
              <a:rPr lang="zh-CN" altLang="en-US" dirty="0">
                <a:latin typeface="Arial" charset="0"/>
              </a:rPr>
              <a:t>＝</a:t>
            </a:r>
            <a:r>
              <a:rPr lang="en-US" altLang="zh-CN" dirty="0">
                <a:latin typeface="Arial" charset="0"/>
              </a:rPr>
              <a:t>1</a:t>
            </a:r>
            <a:r>
              <a:rPr lang="zh-CN" altLang="en-US" dirty="0">
                <a:latin typeface="Arial" charset="0"/>
              </a:rPr>
              <a:t>＋</a:t>
            </a:r>
            <a:r>
              <a:rPr lang="en-US" altLang="zh-CN" dirty="0">
                <a:latin typeface="Arial" charset="0"/>
              </a:rPr>
              <a:t>4</a:t>
            </a:r>
          </a:p>
          <a:p>
            <a:pPr algn="l">
              <a:spcBef>
                <a:spcPct val="0"/>
              </a:spcBef>
            </a:pPr>
            <a:r>
              <a:rPr lang="en-US" altLang="zh-CN" dirty="0">
                <a:latin typeface="Arial" charset="0"/>
              </a:rPr>
              <a:t>6</a:t>
            </a:r>
            <a:r>
              <a:rPr lang="zh-CN" altLang="en-US" dirty="0">
                <a:latin typeface="Arial" charset="0"/>
              </a:rPr>
              <a:t>＝</a:t>
            </a:r>
            <a:r>
              <a:rPr lang="en-US" altLang="zh-CN" dirty="0">
                <a:latin typeface="Arial" charset="0"/>
              </a:rPr>
              <a:t>2</a:t>
            </a:r>
            <a:r>
              <a:rPr lang="zh-CN" altLang="en-US" dirty="0">
                <a:latin typeface="Arial" charset="0"/>
              </a:rPr>
              <a:t>＋</a:t>
            </a:r>
            <a:r>
              <a:rPr lang="en-US" altLang="zh-CN" dirty="0">
                <a:latin typeface="Arial" charset="0"/>
              </a:rPr>
              <a:t>4</a:t>
            </a:r>
          </a:p>
        </p:txBody>
      </p:sp>
      <p:sp>
        <p:nvSpPr>
          <p:cNvPr id="1368181" name="Text Box 117"/>
          <p:cNvSpPr txBox="1">
            <a:spLocks noChangeArrowheads="1"/>
          </p:cNvSpPr>
          <p:nvPr/>
        </p:nvSpPr>
        <p:spPr bwMode="auto">
          <a:xfrm>
            <a:off x="6443663" y="2420938"/>
            <a:ext cx="2449512" cy="2654300"/>
          </a:xfrm>
          <a:prstGeom prst="rect">
            <a:avLst/>
          </a:prstGeom>
          <a:solidFill>
            <a:srgbClr val="FFCC99"/>
          </a:solidFill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altLang="zh-CN" dirty="0">
                <a:latin typeface="Arial" charset="0"/>
              </a:rPr>
              <a:t>  7</a:t>
            </a:r>
            <a:r>
              <a:rPr lang="zh-CN" altLang="en-US" dirty="0">
                <a:latin typeface="Arial" charset="0"/>
              </a:rPr>
              <a:t>＝</a:t>
            </a:r>
            <a:r>
              <a:rPr lang="en-US" altLang="zh-CN" dirty="0">
                <a:latin typeface="Arial" charset="0"/>
              </a:rPr>
              <a:t>1</a:t>
            </a:r>
            <a:r>
              <a:rPr lang="zh-CN" altLang="en-US" dirty="0">
                <a:latin typeface="Arial" charset="0"/>
              </a:rPr>
              <a:t>＋</a:t>
            </a:r>
            <a:r>
              <a:rPr lang="en-US" altLang="zh-CN" dirty="0">
                <a:latin typeface="Arial" charset="0"/>
              </a:rPr>
              <a:t>2</a:t>
            </a:r>
            <a:r>
              <a:rPr lang="zh-CN" altLang="en-US" dirty="0">
                <a:latin typeface="Arial" charset="0"/>
              </a:rPr>
              <a:t>＋</a:t>
            </a:r>
            <a:r>
              <a:rPr lang="en-US" altLang="zh-CN" dirty="0">
                <a:latin typeface="Arial" charset="0"/>
              </a:rPr>
              <a:t>4</a:t>
            </a:r>
          </a:p>
          <a:p>
            <a:pPr algn="l">
              <a:spcBef>
                <a:spcPct val="0"/>
              </a:spcBef>
            </a:pPr>
            <a:r>
              <a:rPr lang="en-US" altLang="zh-CN" dirty="0">
                <a:latin typeface="Arial" charset="0"/>
              </a:rPr>
              <a:t>  </a:t>
            </a:r>
            <a:r>
              <a:rPr lang="en-US" altLang="zh-CN" dirty="0">
                <a:solidFill>
                  <a:srgbClr val="FF6600"/>
                </a:solidFill>
                <a:latin typeface="Arial" charset="0"/>
              </a:rPr>
              <a:t>8</a:t>
            </a:r>
            <a:r>
              <a:rPr lang="zh-CN" altLang="en-US" dirty="0">
                <a:solidFill>
                  <a:srgbClr val="FF6600"/>
                </a:solidFill>
                <a:latin typeface="Arial" charset="0"/>
              </a:rPr>
              <a:t>＝</a:t>
            </a:r>
            <a:r>
              <a:rPr lang="en-US" altLang="zh-CN" dirty="0">
                <a:solidFill>
                  <a:srgbClr val="FF6600"/>
                </a:solidFill>
                <a:latin typeface="Arial" charset="0"/>
              </a:rPr>
              <a:t>8</a:t>
            </a:r>
          </a:p>
          <a:p>
            <a:pPr algn="l">
              <a:spcBef>
                <a:spcPct val="0"/>
              </a:spcBef>
            </a:pPr>
            <a:r>
              <a:rPr lang="en-US" altLang="zh-CN" dirty="0">
                <a:latin typeface="Arial" charset="0"/>
              </a:rPr>
              <a:t>  9</a:t>
            </a:r>
            <a:r>
              <a:rPr lang="zh-CN" altLang="en-US" dirty="0">
                <a:latin typeface="Arial" charset="0"/>
              </a:rPr>
              <a:t>＝</a:t>
            </a:r>
            <a:r>
              <a:rPr lang="en-US" altLang="zh-CN" dirty="0">
                <a:latin typeface="Arial" charset="0"/>
              </a:rPr>
              <a:t>1</a:t>
            </a:r>
            <a:r>
              <a:rPr lang="zh-CN" altLang="en-US" dirty="0">
                <a:latin typeface="Arial" charset="0"/>
              </a:rPr>
              <a:t>＋</a:t>
            </a:r>
            <a:r>
              <a:rPr lang="en-US" altLang="zh-CN" dirty="0">
                <a:latin typeface="Arial" charset="0"/>
              </a:rPr>
              <a:t>8</a:t>
            </a:r>
          </a:p>
          <a:p>
            <a:pPr algn="l">
              <a:spcBef>
                <a:spcPct val="0"/>
              </a:spcBef>
            </a:pPr>
            <a:r>
              <a:rPr lang="en-US" altLang="zh-CN" dirty="0">
                <a:latin typeface="Arial" charset="0"/>
              </a:rPr>
              <a:t>10</a:t>
            </a:r>
            <a:r>
              <a:rPr lang="zh-CN" altLang="en-US" dirty="0">
                <a:latin typeface="Arial" charset="0"/>
              </a:rPr>
              <a:t>＝</a:t>
            </a:r>
            <a:r>
              <a:rPr lang="en-US" altLang="zh-CN" dirty="0">
                <a:latin typeface="Arial" charset="0"/>
              </a:rPr>
              <a:t>2</a:t>
            </a:r>
            <a:r>
              <a:rPr lang="zh-CN" altLang="en-US" dirty="0">
                <a:latin typeface="Arial" charset="0"/>
              </a:rPr>
              <a:t>＋</a:t>
            </a:r>
            <a:r>
              <a:rPr lang="en-US" altLang="zh-CN" dirty="0">
                <a:latin typeface="Arial" charset="0"/>
              </a:rPr>
              <a:t>8</a:t>
            </a:r>
          </a:p>
          <a:p>
            <a:pPr algn="l">
              <a:spcBef>
                <a:spcPct val="0"/>
              </a:spcBef>
            </a:pPr>
            <a:r>
              <a:rPr lang="en-US" altLang="zh-CN" dirty="0">
                <a:latin typeface="Arial" charset="0"/>
              </a:rPr>
              <a:t>11</a:t>
            </a:r>
            <a:r>
              <a:rPr lang="zh-CN" altLang="en-US" dirty="0">
                <a:latin typeface="Arial" charset="0"/>
              </a:rPr>
              <a:t>＝</a:t>
            </a:r>
            <a:r>
              <a:rPr lang="en-US" altLang="zh-CN" dirty="0">
                <a:latin typeface="Arial" charset="0"/>
              </a:rPr>
              <a:t>1</a:t>
            </a:r>
            <a:r>
              <a:rPr lang="zh-CN" altLang="en-US" dirty="0">
                <a:latin typeface="Arial" charset="0"/>
              </a:rPr>
              <a:t>＋</a:t>
            </a:r>
            <a:r>
              <a:rPr lang="en-US" altLang="zh-CN" dirty="0">
                <a:latin typeface="Arial" charset="0"/>
              </a:rPr>
              <a:t>2</a:t>
            </a:r>
            <a:r>
              <a:rPr lang="zh-CN" altLang="en-US" dirty="0">
                <a:latin typeface="Arial" charset="0"/>
              </a:rPr>
              <a:t>＋</a:t>
            </a:r>
            <a:r>
              <a:rPr lang="en-US" altLang="zh-CN" dirty="0">
                <a:latin typeface="Arial" charset="0"/>
              </a:rPr>
              <a:t>8</a:t>
            </a:r>
          </a:p>
          <a:p>
            <a:pPr algn="l">
              <a:spcBef>
                <a:spcPct val="0"/>
              </a:spcBef>
            </a:pPr>
            <a:r>
              <a:rPr lang="en-US" altLang="zh-CN" dirty="0">
                <a:latin typeface="Arial" charset="0"/>
              </a:rPr>
              <a:t>12</a:t>
            </a:r>
            <a:r>
              <a:rPr lang="zh-CN" altLang="en-US" dirty="0">
                <a:latin typeface="Arial" charset="0"/>
              </a:rPr>
              <a:t>＝</a:t>
            </a:r>
            <a:r>
              <a:rPr lang="en-US" altLang="zh-CN" dirty="0">
                <a:latin typeface="Arial" charset="0"/>
              </a:rPr>
              <a:t>4</a:t>
            </a:r>
            <a:r>
              <a:rPr lang="zh-CN" altLang="en-US" dirty="0">
                <a:latin typeface="Arial" charset="0"/>
              </a:rPr>
              <a:t>＋</a:t>
            </a:r>
            <a:r>
              <a:rPr lang="en-US" altLang="zh-CN" dirty="0">
                <a:latin typeface="Arial" charset="0"/>
              </a:rPr>
              <a:t>8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46D8E1E-9A53-42C4-80A0-E4C83CBC0954}"/>
              </a:ext>
            </a:extLst>
          </p:cNvPr>
          <p:cNvSpPr/>
          <p:nvPr/>
        </p:nvSpPr>
        <p:spPr>
          <a:xfrm>
            <a:off x="3066171" y="4221088"/>
            <a:ext cx="1289135" cy="523220"/>
          </a:xfrm>
          <a:prstGeom prst="rect">
            <a:avLst/>
          </a:prstGeom>
          <a:solidFill>
            <a:srgbClr val="FFFFCC"/>
          </a:solidFill>
          <a:ln w="19050">
            <a:solidFill>
              <a:srgbClr val="FF66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r>
              <a:rPr lang="zh-CN" altLang="en-US" i="1" dirty="0"/>
              <a:t>d</a:t>
            </a:r>
            <a:r>
              <a:rPr lang="zh-CN" altLang="en-US" i="1" baseline="-25000" dirty="0"/>
              <a:t>min</a:t>
            </a:r>
            <a:r>
              <a:rPr lang="zh-CN" altLang="en-US" dirty="0"/>
              <a:t>＝</a:t>
            </a:r>
            <a:r>
              <a:rPr lang="en-US" altLang="zh-CN" dirty="0"/>
              <a:t>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6610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75F4F55-4C58-4E15-8E59-8BF4419364CA}" type="slidenum">
              <a:rPr lang="zh-CN" altLang="en-US"/>
              <a:pPr/>
              <a:t>35</a:t>
            </a:fld>
            <a:endParaRPr lang="en-US" altLang="zh-CN"/>
          </a:p>
        </p:txBody>
      </p:sp>
      <p:sp>
        <p:nvSpPr>
          <p:cNvPr id="136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三、海明码        </a:t>
            </a:r>
            <a:r>
              <a:rPr lang="en-US" altLang="zh-CN" dirty="0">
                <a:solidFill>
                  <a:srgbClr val="CC0066"/>
                </a:solidFill>
              </a:rPr>
              <a:t>2. </a:t>
            </a:r>
            <a:r>
              <a:rPr lang="zh-CN" altLang="en-US" dirty="0">
                <a:solidFill>
                  <a:srgbClr val="CC0066"/>
                </a:solidFill>
              </a:rPr>
              <a:t>总结</a:t>
            </a:r>
          </a:p>
        </p:txBody>
      </p:sp>
      <p:sp>
        <p:nvSpPr>
          <p:cNvPr id="136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549275"/>
            <a:ext cx="8362950" cy="2087563"/>
          </a:xfrm>
        </p:spPr>
        <p:txBody>
          <a:bodyPr/>
          <a:lstStyle/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zh-CN" altLang="pt-BR">
                <a:solidFill>
                  <a:srgbClr val="000000"/>
                </a:solidFill>
                <a:cs typeface="Times New Roman" pitchFamily="18" charset="0"/>
              </a:rPr>
              <a:t>假设</a:t>
            </a:r>
            <a:r>
              <a:rPr lang="pt-BR" altLang="zh-CN">
                <a:solidFill>
                  <a:srgbClr val="000000"/>
                </a:solidFill>
              </a:rPr>
              <a:t>16</a:t>
            </a:r>
            <a:r>
              <a:rPr lang="zh-CN" altLang="pt-BR">
                <a:solidFill>
                  <a:srgbClr val="000000"/>
                </a:solidFill>
                <a:cs typeface="Times New Roman" pitchFamily="18" charset="0"/>
              </a:rPr>
              <a:t>位数据</a:t>
            </a:r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pt-BR" altLang="zh-CN">
                <a:solidFill>
                  <a:srgbClr val="000000"/>
                </a:solidFill>
              </a:rPr>
              <a:t>D</a:t>
            </a:r>
            <a:r>
              <a:rPr lang="zh-CN" altLang="pt-BR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>
                <a:solidFill>
                  <a:srgbClr val="000000"/>
                </a:solidFill>
              </a:rPr>
              <a:t>D</a:t>
            </a:r>
            <a:r>
              <a:rPr lang="pt-BR" altLang="zh-CN" baseline="-30000">
                <a:solidFill>
                  <a:srgbClr val="000000"/>
                </a:solidFill>
              </a:rPr>
              <a:t>15</a:t>
            </a:r>
            <a:r>
              <a:rPr lang="pt-BR" altLang="zh-CN">
                <a:solidFill>
                  <a:srgbClr val="000000"/>
                </a:solidFill>
              </a:rPr>
              <a:t>D</a:t>
            </a:r>
            <a:r>
              <a:rPr lang="pt-BR" altLang="zh-CN" baseline="-30000">
                <a:solidFill>
                  <a:srgbClr val="000000"/>
                </a:solidFill>
              </a:rPr>
              <a:t>14</a:t>
            </a:r>
            <a:r>
              <a:rPr lang="pt-BR" altLang="zh-CN">
                <a:solidFill>
                  <a:srgbClr val="000000"/>
                </a:solidFill>
              </a:rPr>
              <a:t>D</a:t>
            </a:r>
            <a:r>
              <a:rPr lang="pt-BR" altLang="zh-CN" baseline="-30000">
                <a:solidFill>
                  <a:srgbClr val="000000"/>
                </a:solidFill>
              </a:rPr>
              <a:t>13</a:t>
            </a:r>
            <a:r>
              <a:rPr lang="pt-BR" altLang="zh-CN">
                <a:solidFill>
                  <a:srgbClr val="000000"/>
                </a:solidFill>
              </a:rPr>
              <a:t>D</a:t>
            </a:r>
            <a:r>
              <a:rPr lang="pt-BR" altLang="zh-CN" baseline="-30000">
                <a:solidFill>
                  <a:srgbClr val="000000"/>
                </a:solidFill>
              </a:rPr>
              <a:t>12</a:t>
            </a:r>
            <a:r>
              <a:rPr lang="pt-BR" altLang="zh-CN">
                <a:solidFill>
                  <a:srgbClr val="000000"/>
                </a:solidFill>
              </a:rPr>
              <a:t>D</a:t>
            </a:r>
            <a:r>
              <a:rPr lang="pt-BR" altLang="zh-CN" baseline="-30000">
                <a:solidFill>
                  <a:srgbClr val="000000"/>
                </a:solidFill>
              </a:rPr>
              <a:t>11</a:t>
            </a:r>
            <a:r>
              <a:rPr lang="pt-BR" altLang="zh-CN">
                <a:solidFill>
                  <a:srgbClr val="000000"/>
                </a:solidFill>
              </a:rPr>
              <a:t>D</a:t>
            </a:r>
            <a:r>
              <a:rPr lang="pt-BR" altLang="zh-CN" baseline="-30000">
                <a:solidFill>
                  <a:srgbClr val="000000"/>
                </a:solidFill>
              </a:rPr>
              <a:t>10</a:t>
            </a:r>
            <a:r>
              <a:rPr lang="pt-BR" altLang="zh-CN">
                <a:solidFill>
                  <a:srgbClr val="000000"/>
                </a:solidFill>
              </a:rPr>
              <a:t>D</a:t>
            </a:r>
            <a:r>
              <a:rPr lang="pt-BR" altLang="zh-CN" baseline="-30000">
                <a:solidFill>
                  <a:srgbClr val="000000"/>
                </a:solidFill>
              </a:rPr>
              <a:t>9</a:t>
            </a:r>
            <a:r>
              <a:rPr lang="pt-BR" altLang="zh-CN">
                <a:solidFill>
                  <a:srgbClr val="000000"/>
                </a:solidFill>
              </a:rPr>
              <a:t>D</a:t>
            </a:r>
            <a:r>
              <a:rPr lang="pt-BR" altLang="zh-CN" baseline="-30000">
                <a:solidFill>
                  <a:srgbClr val="000000"/>
                </a:solidFill>
              </a:rPr>
              <a:t>8</a:t>
            </a:r>
            <a:r>
              <a:rPr lang="pt-BR" altLang="zh-CN">
                <a:solidFill>
                  <a:srgbClr val="000000"/>
                </a:solidFill>
              </a:rPr>
              <a:t>D</a:t>
            </a:r>
            <a:r>
              <a:rPr lang="pt-BR" altLang="zh-CN" baseline="-30000">
                <a:solidFill>
                  <a:srgbClr val="000000"/>
                </a:solidFill>
              </a:rPr>
              <a:t>7</a:t>
            </a:r>
            <a:r>
              <a:rPr lang="pt-BR" altLang="zh-CN">
                <a:solidFill>
                  <a:srgbClr val="000000"/>
                </a:solidFill>
              </a:rPr>
              <a:t>D</a:t>
            </a:r>
            <a:r>
              <a:rPr lang="pt-BR" altLang="zh-CN" baseline="-30000">
                <a:solidFill>
                  <a:srgbClr val="000000"/>
                </a:solidFill>
              </a:rPr>
              <a:t>6</a:t>
            </a:r>
            <a:r>
              <a:rPr lang="pt-BR" altLang="zh-CN">
                <a:solidFill>
                  <a:srgbClr val="000000"/>
                </a:solidFill>
              </a:rPr>
              <a:t>D</a:t>
            </a:r>
            <a:r>
              <a:rPr lang="pt-BR" altLang="zh-CN" baseline="-30000">
                <a:solidFill>
                  <a:srgbClr val="000000"/>
                </a:solidFill>
              </a:rPr>
              <a:t>5</a:t>
            </a:r>
            <a:r>
              <a:rPr lang="pt-BR" altLang="zh-CN">
                <a:solidFill>
                  <a:srgbClr val="000000"/>
                </a:solidFill>
              </a:rPr>
              <a:t>D</a:t>
            </a:r>
            <a:r>
              <a:rPr lang="pt-BR" altLang="zh-CN" baseline="-30000">
                <a:solidFill>
                  <a:srgbClr val="000000"/>
                </a:solidFill>
              </a:rPr>
              <a:t>4</a:t>
            </a:r>
            <a:r>
              <a:rPr lang="pt-BR" altLang="zh-CN">
                <a:solidFill>
                  <a:srgbClr val="000000"/>
                </a:solidFill>
              </a:rPr>
              <a:t>D</a:t>
            </a:r>
            <a:r>
              <a:rPr lang="pt-BR" altLang="zh-CN" baseline="-30000">
                <a:solidFill>
                  <a:srgbClr val="000000"/>
                </a:solidFill>
              </a:rPr>
              <a:t>3</a:t>
            </a:r>
            <a:r>
              <a:rPr lang="pt-BR" altLang="zh-CN">
                <a:solidFill>
                  <a:srgbClr val="000000"/>
                </a:solidFill>
              </a:rPr>
              <a:t>D</a:t>
            </a:r>
            <a:r>
              <a:rPr lang="pt-BR" altLang="zh-CN" baseline="-30000">
                <a:solidFill>
                  <a:srgbClr val="000000"/>
                </a:solidFill>
              </a:rPr>
              <a:t>2</a:t>
            </a:r>
            <a:r>
              <a:rPr lang="pt-BR" altLang="zh-CN">
                <a:solidFill>
                  <a:srgbClr val="000000"/>
                </a:solidFill>
              </a:rPr>
              <a:t>D</a:t>
            </a:r>
            <a:r>
              <a:rPr lang="pt-BR" altLang="zh-CN" baseline="-30000">
                <a:solidFill>
                  <a:srgbClr val="000000"/>
                </a:solidFill>
              </a:rPr>
              <a:t>1</a:t>
            </a:r>
            <a:r>
              <a:rPr lang="pt-BR" altLang="zh-CN">
                <a:solidFill>
                  <a:srgbClr val="000000"/>
                </a:solidFill>
              </a:rPr>
              <a:t>D</a:t>
            </a:r>
            <a:r>
              <a:rPr lang="pt-BR" altLang="zh-CN" baseline="-30000">
                <a:solidFill>
                  <a:srgbClr val="000000"/>
                </a:solidFill>
              </a:rPr>
              <a:t>0</a:t>
            </a:r>
            <a:r>
              <a:rPr lang="zh-CN" altLang="pt-BR">
                <a:solidFill>
                  <a:srgbClr val="000000"/>
                </a:solidFill>
                <a:cs typeface="Times New Roman" pitchFamily="18" charset="0"/>
              </a:rPr>
              <a:t>，</a:t>
            </a:r>
          </a:p>
          <a:p>
            <a:pPr marL="0" indent="0">
              <a:spcBef>
                <a:spcPct val="10000"/>
              </a:spcBef>
              <a:buFont typeface="Wingdings" pitchFamily="2" charset="2"/>
              <a:buNone/>
            </a:pPr>
            <a:r>
              <a:rPr lang="zh-CN" altLang="pt-BR">
                <a:solidFill>
                  <a:srgbClr val="000000"/>
                </a:solidFill>
                <a:cs typeface="Times New Roman" pitchFamily="18" charset="0"/>
              </a:rPr>
              <a:t>对应的校验位</a:t>
            </a:r>
            <a:r>
              <a:rPr lang="pt-BR" altLang="zh-CN">
                <a:solidFill>
                  <a:srgbClr val="000000"/>
                </a:solidFill>
              </a:rPr>
              <a:t>H</a:t>
            </a:r>
            <a:r>
              <a:rPr lang="zh-CN" altLang="pt-BR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>
                <a:solidFill>
                  <a:srgbClr val="000000"/>
                </a:solidFill>
              </a:rPr>
              <a:t>H</a:t>
            </a:r>
            <a:r>
              <a:rPr lang="pt-BR" altLang="zh-CN" baseline="-30000">
                <a:solidFill>
                  <a:srgbClr val="000000"/>
                </a:solidFill>
              </a:rPr>
              <a:t>4</a:t>
            </a:r>
            <a:r>
              <a:rPr lang="pt-BR" altLang="zh-CN">
                <a:solidFill>
                  <a:srgbClr val="000000"/>
                </a:solidFill>
              </a:rPr>
              <a:t>H</a:t>
            </a:r>
            <a:r>
              <a:rPr lang="pt-BR" altLang="zh-CN" baseline="-30000">
                <a:solidFill>
                  <a:srgbClr val="000000"/>
                </a:solidFill>
              </a:rPr>
              <a:t>3</a:t>
            </a:r>
            <a:r>
              <a:rPr lang="pt-BR" altLang="zh-CN">
                <a:solidFill>
                  <a:srgbClr val="000000"/>
                </a:solidFill>
              </a:rPr>
              <a:t>H</a:t>
            </a:r>
            <a:r>
              <a:rPr lang="pt-BR" altLang="zh-CN" baseline="-30000">
                <a:solidFill>
                  <a:srgbClr val="000000"/>
                </a:solidFill>
              </a:rPr>
              <a:t>2</a:t>
            </a:r>
            <a:r>
              <a:rPr lang="pt-BR" altLang="zh-CN">
                <a:solidFill>
                  <a:srgbClr val="000000"/>
                </a:solidFill>
              </a:rPr>
              <a:t>H</a:t>
            </a:r>
            <a:r>
              <a:rPr lang="pt-BR" altLang="zh-CN" baseline="-30000">
                <a:solidFill>
                  <a:srgbClr val="000000"/>
                </a:solidFill>
              </a:rPr>
              <a:t>1</a:t>
            </a:r>
            <a:r>
              <a:rPr lang="pt-BR" altLang="zh-CN">
                <a:solidFill>
                  <a:srgbClr val="000000"/>
                </a:solidFill>
              </a:rPr>
              <a:t>H</a:t>
            </a:r>
            <a:r>
              <a:rPr lang="pt-BR" altLang="zh-CN" baseline="-30000">
                <a:solidFill>
                  <a:srgbClr val="000000"/>
                </a:solidFill>
              </a:rPr>
              <a:t>0</a:t>
            </a:r>
            <a:r>
              <a:rPr lang="zh-CN" altLang="pt-BR">
                <a:solidFill>
                  <a:srgbClr val="000000"/>
                </a:solidFill>
                <a:cs typeface="Times New Roman" pitchFamily="18" charset="0"/>
              </a:rPr>
              <a:t>，</a:t>
            </a:r>
          </a:p>
          <a:p>
            <a:pPr marL="0" indent="0">
              <a:spcBef>
                <a:spcPct val="10000"/>
              </a:spcBef>
              <a:buFont typeface="Wingdings" pitchFamily="2" charset="2"/>
              <a:buNone/>
            </a:pPr>
            <a:r>
              <a:rPr lang="zh-CN" altLang="pt-BR">
                <a:solidFill>
                  <a:srgbClr val="000000"/>
                </a:solidFill>
                <a:cs typeface="Times New Roman" pitchFamily="18" charset="0"/>
              </a:rPr>
              <a:t>则海明码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及其校验方程：</a:t>
            </a:r>
            <a:endParaRPr lang="zh-CN" altLang="en-US"/>
          </a:p>
        </p:txBody>
      </p:sp>
      <p:graphicFrame>
        <p:nvGraphicFramePr>
          <p:cNvPr id="1370168" name="Group 1080"/>
          <p:cNvGraphicFramePr>
            <a:graphicFrameLocks noGrp="1"/>
          </p:cNvGraphicFramePr>
          <p:nvPr/>
        </p:nvGraphicFramePr>
        <p:xfrm>
          <a:off x="179388" y="2492375"/>
          <a:ext cx="8785225" cy="3959799"/>
        </p:xfrm>
        <a:graphic>
          <a:graphicData uri="http://schemas.openxmlformats.org/drawingml/2006/table">
            <a:tbl>
              <a:tblPr/>
              <a:tblGrid>
                <a:gridCol w="1017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98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编码</a:t>
                      </a:r>
                      <a:b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</a:b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内容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15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14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13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12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11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H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4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10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9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8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7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5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4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H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3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3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H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H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H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编码</a:t>
                      </a:r>
                      <a:b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</a:b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位置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21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20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19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18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17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16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15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14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13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12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11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10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9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8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7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5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4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3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55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校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验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方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程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P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 gridSpan="2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P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r>
                        <a:rPr kumimoji="1" lang="zh-CN" alt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＝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15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13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11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8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H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P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1" lang="zh-CN" alt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＝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13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12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9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H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endParaRPr kumimoji="1" lang="pt-BR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P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1" lang="zh-CN" alt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＝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15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14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9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8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H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P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r>
                        <a:rPr kumimoji="1" lang="zh-CN" alt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＝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9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8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H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endParaRPr kumimoji="1" lang="pt-BR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P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</a:t>
                      </a:r>
                      <a:r>
                        <a:rPr kumimoji="1" lang="zh-CN" alt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＝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15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14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13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12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11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H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</a:t>
                      </a:r>
                    </a:p>
                  </a:txBody>
                  <a:tcPr marL="54000" marR="0" marT="46800" marB="46800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70155" name="Line 1067"/>
          <p:cNvSpPr>
            <a:spLocks noChangeShapeType="1"/>
          </p:cNvSpPr>
          <p:nvPr/>
        </p:nvSpPr>
        <p:spPr bwMode="auto">
          <a:xfrm>
            <a:off x="4572000" y="2636838"/>
            <a:ext cx="0" cy="1439862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56" name="Line 1068"/>
          <p:cNvSpPr>
            <a:spLocks noChangeShapeType="1"/>
          </p:cNvSpPr>
          <p:nvPr/>
        </p:nvSpPr>
        <p:spPr bwMode="auto">
          <a:xfrm>
            <a:off x="4572000" y="4076700"/>
            <a:ext cx="792163" cy="0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57" name="Line 1069"/>
          <p:cNvSpPr>
            <a:spLocks noChangeShapeType="1"/>
          </p:cNvSpPr>
          <p:nvPr/>
        </p:nvSpPr>
        <p:spPr bwMode="auto">
          <a:xfrm>
            <a:off x="5364163" y="4076701"/>
            <a:ext cx="0" cy="464346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58" name="Line 1070"/>
          <p:cNvSpPr>
            <a:spLocks noChangeShapeType="1"/>
          </p:cNvSpPr>
          <p:nvPr/>
        </p:nvSpPr>
        <p:spPr bwMode="auto">
          <a:xfrm flipH="1">
            <a:off x="4645025" y="4541046"/>
            <a:ext cx="719138" cy="0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59" name="Line 1071"/>
          <p:cNvSpPr>
            <a:spLocks noChangeShapeType="1"/>
          </p:cNvSpPr>
          <p:nvPr/>
        </p:nvSpPr>
        <p:spPr bwMode="auto">
          <a:xfrm>
            <a:off x="4642644" y="4541047"/>
            <a:ext cx="0" cy="431802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60" name="Line 1072"/>
          <p:cNvSpPr>
            <a:spLocks noChangeShapeType="1"/>
          </p:cNvSpPr>
          <p:nvPr/>
        </p:nvSpPr>
        <p:spPr bwMode="auto">
          <a:xfrm>
            <a:off x="4645025" y="4972848"/>
            <a:ext cx="631033" cy="0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61" name="Line 1073"/>
          <p:cNvSpPr>
            <a:spLocks noChangeShapeType="1"/>
          </p:cNvSpPr>
          <p:nvPr/>
        </p:nvSpPr>
        <p:spPr bwMode="auto">
          <a:xfrm>
            <a:off x="5276058" y="4972849"/>
            <a:ext cx="0" cy="400840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62" name="Line 1074"/>
          <p:cNvSpPr>
            <a:spLocks noChangeShapeType="1"/>
          </p:cNvSpPr>
          <p:nvPr/>
        </p:nvSpPr>
        <p:spPr bwMode="auto">
          <a:xfrm flipH="1">
            <a:off x="3810794" y="5373688"/>
            <a:ext cx="1465263" cy="0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63" name="Line 1075"/>
          <p:cNvSpPr>
            <a:spLocks noChangeShapeType="1"/>
          </p:cNvSpPr>
          <p:nvPr/>
        </p:nvSpPr>
        <p:spPr bwMode="auto">
          <a:xfrm>
            <a:off x="3810795" y="5373689"/>
            <a:ext cx="0" cy="481808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64" name="Line 1076"/>
          <p:cNvSpPr>
            <a:spLocks noChangeShapeType="1"/>
          </p:cNvSpPr>
          <p:nvPr/>
        </p:nvSpPr>
        <p:spPr bwMode="auto">
          <a:xfrm>
            <a:off x="3810795" y="5855496"/>
            <a:ext cx="2091258" cy="0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65" name="Line 1077"/>
          <p:cNvSpPr>
            <a:spLocks noChangeShapeType="1"/>
          </p:cNvSpPr>
          <p:nvPr/>
        </p:nvSpPr>
        <p:spPr bwMode="auto">
          <a:xfrm>
            <a:off x="5902052" y="5855497"/>
            <a:ext cx="0" cy="526254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CF0C9656-B635-451B-8F00-7F943719A726}"/>
              </a:ext>
            </a:extLst>
          </p:cNvPr>
          <p:cNvSpPr/>
          <p:nvPr/>
        </p:nvSpPr>
        <p:spPr bwMode="auto">
          <a:xfrm>
            <a:off x="8607815" y="2847393"/>
            <a:ext cx="356797" cy="792088"/>
          </a:xfrm>
          <a:prstGeom prst="roundRect">
            <a:avLst>
              <a:gd name="adj" fmla="val 27145"/>
            </a:avLst>
          </a:prstGeom>
          <a:noFill/>
          <a:ln w="28575" cap="flat" cmpd="sng" algn="ctr">
            <a:solidFill>
              <a:srgbClr val="00FF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FF8BC185-5068-4D17-B6D4-100C8B808733}"/>
              </a:ext>
            </a:extLst>
          </p:cNvPr>
          <p:cNvCxnSpPr>
            <a:cxnSpLocks/>
          </p:cNvCxnSpPr>
          <p:nvPr/>
        </p:nvCxnSpPr>
        <p:spPr bwMode="auto">
          <a:xfrm>
            <a:off x="1259632" y="4509120"/>
            <a:ext cx="7598507" cy="0"/>
          </a:xfrm>
          <a:prstGeom prst="line">
            <a:avLst/>
          </a:prstGeom>
          <a:noFill/>
          <a:ln w="38100" cap="flat" cmpd="sng" algn="ctr">
            <a:solidFill>
              <a:srgbClr val="00FF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0BEA50B4-6416-427D-B5AD-2927B8C76F05}"/>
              </a:ext>
            </a:extLst>
          </p:cNvPr>
          <p:cNvSpPr/>
          <p:nvPr/>
        </p:nvSpPr>
        <p:spPr bwMode="auto">
          <a:xfrm>
            <a:off x="7874842" y="2856472"/>
            <a:ext cx="356797" cy="792088"/>
          </a:xfrm>
          <a:prstGeom prst="roundRect">
            <a:avLst>
              <a:gd name="adj" fmla="val 27145"/>
            </a:avLst>
          </a:prstGeom>
          <a:noFill/>
          <a:ln w="28575" cap="flat" cmpd="sng" algn="ctr">
            <a:solidFill>
              <a:srgbClr val="00FF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BB456C88-7437-412A-B5B0-536A0523F365}"/>
              </a:ext>
            </a:extLst>
          </p:cNvPr>
          <p:cNvSpPr/>
          <p:nvPr/>
        </p:nvSpPr>
        <p:spPr bwMode="auto">
          <a:xfrm>
            <a:off x="7135147" y="2861755"/>
            <a:ext cx="356797" cy="792088"/>
          </a:xfrm>
          <a:prstGeom prst="roundRect">
            <a:avLst>
              <a:gd name="adj" fmla="val 27145"/>
            </a:avLst>
          </a:prstGeom>
          <a:noFill/>
          <a:ln w="28575" cap="flat" cmpd="sng" algn="ctr">
            <a:solidFill>
              <a:srgbClr val="00FF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96869AA5-788F-493B-B733-AB0EAEFDF103}"/>
              </a:ext>
            </a:extLst>
          </p:cNvPr>
          <p:cNvSpPr/>
          <p:nvPr/>
        </p:nvSpPr>
        <p:spPr bwMode="auto">
          <a:xfrm>
            <a:off x="6402173" y="2856472"/>
            <a:ext cx="356797" cy="792088"/>
          </a:xfrm>
          <a:prstGeom prst="roundRect">
            <a:avLst>
              <a:gd name="adj" fmla="val 27145"/>
            </a:avLst>
          </a:prstGeom>
          <a:noFill/>
          <a:ln w="28575" cap="flat" cmpd="sng" algn="ctr">
            <a:solidFill>
              <a:srgbClr val="00FF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1F5B707D-5B68-4611-94BC-C330B78A9DBD}"/>
              </a:ext>
            </a:extLst>
          </p:cNvPr>
          <p:cNvSpPr/>
          <p:nvPr/>
        </p:nvSpPr>
        <p:spPr bwMode="auto">
          <a:xfrm>
            <a:off x="5655888" y="2848869"/>
            <a:ext cx="356797" cy="792088"/>
          </a:xfrm>
          <a:prstGeom prst="roundRect">
            <a:avLst>
              <a:gd name="adj" fmla="val 27145"/>
            </a:avLst>
          </a:prstGeom>
          <a:noFill/>
          <a:ln w="28575" cap="flat" cmpd="sng" algn="ctr">
            <a:solidFill>
              <a:srgbClr val="00FF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BD21C8B6-3A50-48C1-B4FF-781A6BF5ED75}"/>
              </a:ext>
            </a:extLst>
          </p:cNvPr>
          <p:cNvSpPr/>
          <p:nvPr/>
        </p:nvSpPr>
        <p:spPr bwMode="auto">
          <a:xfrm>
            <a:off x="4928148" y="2856472"/>
            <a:ext cx="356797" cy="792088"/>
          </a:xfrm>
          <a:prstGeom prst="roundRect">
            <a:avLst>
              <a:gd name="adj" fmla="val 27145"/>
            </a:avLst>
          </a:prstGeom>
          <a:noFill/>
          <a:ln w="28575" cap="flat" cmpd="sng" algn="ctr">
            <a:solidFill>
              <a:srgbClr val="00FF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7AD48278-C4F2-4E2A-9722-2BE6D931B1BB}"/>
              </a:ext>
            </a:extLst>
          </p:cNvPr>
          <p:cNvSpPr/>
          <p:nvPr/>
        </p:nvSpPr>
        <p:spPr bwMode="auto">
          <a:xfrm>
            <a:off x="4201938" y="2847393"/>
            <a:ext cx="341488" cy="792088"/>
          </a:xfrm>
          <a:prstGeom prst="roundRect">
            <a:avLst>
              <a:gd name="adj" fmla="val 27145"/>
            </a:avLst>
          </a:prstGeom>
          <a:noFill/>
          <a:ln w="28575" cap="flat" cmpd="sng" algn="ctr">
            <a:solidFill>
              <a:srgbClr val="00FF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88939BDF-34FA-4B01-8A6E-9828DC9B5B69}"/>
              </a:ext>
            </a:extLst>
          </p:cNvPr>
          <p:cNvSpPr/>
          <p:nvPr/>
        </p:nvSpPr>
        <p:spPr bwMode="auto">
          <a:xfrm>
            <a:off x="3457576" y="2848732"/>
            <a:ext cx="387890" cy="792088"/>
          </a:xfrm>
          <a:prstGeom prst="roundRect">
            <a:avLst>
              <a:gd name="adj" fmla="val 27145"/>
            </a:avLst>
          </a:prstGeom>
          <a:noFill/>
          <a:ln w="28575" cap="flat" cmpd="sng" algn="ctr">
            <a:solidFill>
              <a:srgbClr val="00FF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8792DA46-EA1F-46F9-9F2C-EF48EBC7CC45}"/>
              </a:ext>
            </a:extLst>
          </p:cNvPr>
          <p:cNvSpPr/>
          <p:nvPr/>
        </p:nvSpPr>
        <p:spPr bwMode="auto">
          <a:xfrm>
            <a:off x="2731064" y="2856472"/>
            <a:ext cx="356797" cy="792088"/>
          </a:xfrm>
          <a:prstGeom prst="roundRect">
            <a:avLst>
              <a:gd name="adj" fmla="val 27145"/>
            </a:avLst>
          </a:prstGeom>
          <a:noFill/>
          <a:ln w="28575" cap="flat" cmpd="sng" algn="ctr">
            <a:solidFill>
              <a:srgbClr val="00FF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AEC8D1E0-1D96-4C2B-8BD0-15E058FA2E91}"/>
              </a:ext>
            </a:extLst>
          </p:cNvPr>
          <p:cNvSpPr/>
          <p:nvPr/>
        </p:nvSpPr>
        <p:spPr bwMode="auto">
          <a:xfrm>
            <a:off x="1997275" y="2856472"/>
            <a:ext cx="356797" cy="792088"/>
          </a:xfrm>
          <a:prstGeom prst="roundRect">
            <a:avLst>
              <a:gd name="adj" fmla="val 27145"/>
            </a:avLst>
          </a:prstGeom>
          <a:noFill/>
          <a:ln w="28575" cap="flat" cmpd="sng" algn="ctr">
            <a:solidFill>
              <a:srgbClr val="00FF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997F4FE6-3062-4B13-8306-95B03D43BC78}"/>
              </a:ext>
            </a:extLst>
          </p:cNvPr>
          <p:cNvSpPr/>
          <p:nvPr/>
        </p:nvSpPr>
        <p:spPr bwMode="auto">
          <a:xfrm>
            <a:off x="1230145" y="2856472"/>
            <a:ext cx="379580" cy="792088"/>
          </a:xfrm>
          <a:prstGeom prst="roundRect">
            <a:avLst>
              <a:gd name="adj" fmla="val 27145"/>
            </a:avLst>
          </a:prstGeom>
          <a:noFill/>
          <a:ln w="28575" cap="flat" cmpd="sng" algn="ctr">
            <a:solidFill>
              <a:srgbClr val="00FF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406486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70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70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701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3701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70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70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70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70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70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70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70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70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70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70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70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70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70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70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3701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3701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70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70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70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370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70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70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370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70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500"/>
                            </p:stCondLst>
                            <p:childTnLst>
                              <p:par>
                                <p:cTn id="54" presetID="17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370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70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370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370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70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370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370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370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4500"/>
                            </p:stCondLst>
                            <p:childTnLst>
                              <p:par>
                                <p:cTn id="68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370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370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370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70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0"/>
                            </p:stCondLst>
                            <p:childTnLst>
                              <p:par>
                                <p:cTn id="7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370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370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3701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3701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500"/>
                            </p:stCondLst>
                            <p:childTnLst>
                              <p:par>
                                <p:cTn id="10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3000"/>
                            </p:stCondLst>
                            <p:childTnLst>
                              <p:par>
                                <p:cTn id="1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3500"/>
                            </p:stCondLst>
                            <p:childTnLst>
                              <p:par>
                                <p:cTn id="1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4000"/>
                            </p:stCondLst>
                            <p:childTnLst>
                              <p:par>
                                <p:cTn id="1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4500"/>
                            </p:stCondLst>
                            <p:childTnLst>
                              <p:par>
                                <p:cTn id="1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5000"/>
                            </p:stCondLst>
                            <p:childTnLst>
                              <p:par>
                                <p:cTn id="1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0155" grpId="0" animBg="1"/>
      <p:bldP spid="1370156" grpId="0" animBg="1"/>
      <p:bldP spid="1370157" grpId="0" animBg="1"/>
      <p:bldP spid="1370158" grpId="0" animBg="1"/>
      <p:bldP spid="1370159" grpId="0" animBg="1"/>
      <p:bldP spid="1370160" grpId="0" animBg="1"/>
      <p:bldP spid="1370161" grpId="0" animBg="1"/>
      <p:bldP spid="1370162" grpId="0" animBg="1"/>
      <p:bldP spid="1370163" grpId="0" animBg="1"/>
      <p:bldP spid="1370164" grpId="0" animBg="1"/>
      <p:bldP spid="1370165" grpId="0" animBg="1"/>
      <p:bldP spid="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75F4F55-4C58-4E15-8E59-8BF4419364CA}" type="slidenum">
              <a:rPr lang="zh-CN" altLang="en-US"/>
              <a:pPr/>
              <a:t>36</a:t>
            </a:fld>
            <a:endParaRPr lang="en-US" altLang="zh-CN"/>
          </a:p>
        </p:txBody>
      </p:sp>
      <p:sp>
        <p:nvSpPr>
          <p:cNvPr id="136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三、海明码        </a:t>
            </a:r>
            <a:r>
              <a:rPr lang="en-US" altLang="zh-CN" dirty="0">
                <a:solidFill>
                  <a:srgbClr val="CC0066"/>
                </a:solidFill>
              </a:rPr>
              <a:t>2. </a:t>
            </a:r>
            <a:r>
              <a:rPr lang="zh-CN" altLang="en-US" dirty="0">
                <a:solidFill>
                  <a:srgbClr val="CC0066"/>
                </a:solidFill>
              </a:rPr>
              <a:t>总结</a:t>
            </a:r>
          </a:p>
        </p:txBody>
      </p:sp>
      <p:sp>
        <p:nvSpPr>
          <p:cNvPr id="136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549275"/>
            <a:ext cx="8362950" cy="2087563"/>
          </a:xfrm>
        </p:spPr>
        <p:txBody>
          <a:bodyPr/>
          <a:lstStyle/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假设</a:t>
            </a:r>
            <a:r>
              <a:rPr lang="pt-BR" altLang="zh-CN" dirty="0">
                <a:solidFill>
                  <a:srgbClr val="000000"/>
                </a:solidFill>
              </a:rPr>
              <a:t>16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位数据</a:t>
            </a:r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</a:rPr>
              <a:t>15</a:t>
            </a: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</a:rPr>
              <a:t>14</a:t>
            </a: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</a:rPr>
              <a:t>13</a:t>
            </a: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</a:rPr>
              <a:t>12</a:t>
            </a: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</a:rPr>
              <a:t>11</a:t>
            </a: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</a:rPr>
              <a:t>10</a:t>
            </a: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</a:rPr>
              <a:t>9</a:t>
            </a: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</a:rPr>
              <a:t>8</a:t>
            </a: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</a:rPr>
              <a:t>7</a:t>
            </a: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</a:rPr>
              <a:t>6</a:t>
            </a: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</a:rPr>
              <a:t>5</a:t>
            </a: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</a:rPr>
              <a:t>4</a:t>
            </a: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</a:rPr>
              <a:t>3</a:t>
            </a: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</a:rPr>
              <a:t>2</a:t>
            </a: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</a:rPr>
              <a:t>1</a:t>
            </a: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</a:rPr>
              <a:t>0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，</a:t>
            </a:r>
          </a:p>
          <a:p>
            <a:pPr marL="0" indent="0">
              <a:spcBef>
                <a:spcPct val="10000"/>
              </a:spcBef>
              <a:buFont typeface="Wingdings" pitchFamily="2" charset="2"/>
              <a:buNone/>
            </a:pP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对应的校验位</a:t>
            </a:r>
            <a:r>
              <a:rPr lang="pt-BR" altLang="zh-CN" dirty="0">
                <a:solidFill>
                  <a:srgbClr val="000000"/>
                </a:solidFill>
              </a:rPr>
              <a:t>H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</a:rPr>
              <a:t>H</a:t>
            </a:r>
            <a:r>
              <a:rPr lang="pt-BR" altLang="zh-CN" baseline="-30000" dirty="0">
                <a:solidFill>
                  <a:srgbClr val="000000"/>
                </a:solidFill>
              </a:rPr>
              <a:t>4</a:t>
            </a:r>
            <a:r>
              <a:rPr lang="pt-BR" altLang="zh-CN" dirty="0">
                <a:solidFill>
                  <a:srgbClr val="000000"/>
                </a:solidFill>
              </a:rPr>
              <a:t>H</a:t>
            </a:r>
            <a:r>
              <a:rPr lang="pt-BR" altLang="zh-CN" baseline="-30000" dirty="0">
                <a:solidFill>
                  <a:srgbClr val="000000"/>
                </a:solidFill>
              </a:rPr>
              <a:t>3</a:t>
            </a:r>
            <a:r>
              <a:rPr lang="pt-BR" altLang="zh-CN" dirty="0">
                <a:solidFill>
                  <a:srgbClr val="000000"/>
                </a:solidFill>
              </a:rPr>
              <a:t>H</a:t>
            </a:r>
            <a:r>
              <a:rPr lang="pt-BR" altLang="zh-CN" baseline="-30000" dirty="0">
                <a:solidFill>
                  <a:srgbClr val="000000"/>
                </a:solidFill>
              </a:rPr>
              <a:t>2</a:t>
            </a:r>
            <a:r>
              <a:rPr lang="pt-BR" altLang="zh-CN" dirty="0">
                <a:solidFill>
                  <a:srgbClr val="000000"/>
                </a:solidFill>
              </a:rPr>
              <a:t>H</a:t>
            </a:r>
            <a:r>
              <a:rPr lang="pt-BR" altLang="zh-CN" baseline="-30000" dirty="0">
                <a:solidFill>
                  <a:srgbClr val="000000"/>
                </a:solidFill>
              </a:rPr>
              <a:t>1</a:t>
            </a:r>
            <a:r>
              <a:rPr lang="pt-BR" altLang="zh-CN" dirty="0">
                <a:solidFill>
                  <a:srgbClr val="000000"/>
                </a:solidFill>
              </a:rPr>
              <a:t>H</a:t>
            </a:r>
            <a:r>
              <a:rPr lang="pt-BR" altLang="zh-CN" baseline="-30000" dirty="0">
                <a:solidFill>
                  <a:srgbClr val="000000"/>
                </a:solidFill>
              </a:rPr>
              <a:t>0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，</a:t>
            </a:r>
          </a:p>
          <a:p>
            <a:pPr marL="0" indent="0">
              <a:spcBef>
                <a:spcPct val="10000"/>
              </a:spcBef>
              <a:buFont typeface="Wingdings" pitchFamily="2" charset="2"/>
              <a:buNone/>
            </a:pP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则海明码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及其校验方程：</a:t>
            </a:r>
            <a:endParaRPr lang="zh-CN" altLang="en-US" dirty="0"/>
          </a:p>
        </p:txBody>
      </p:sp>
      <p:graphicFrame>
        <p:nvGraphicFramePr>
          <p:cNvPr id="1370168" name="Group 1080"/>
          <p:cNvGraphicFramePr>
            <a:graphicFrameLocks noGrp="1"/>
          </p:cNvGraphicFramePr>
          <p:nvPr/>
        </p:nvGraphicFramePr>
        <p:xfrm>
          <a:off x="179388" y="2492375"/>
          <a:ext cx="8785225" cy="3959799"/>
        </p:xfrm>
        <a:graphic>
          <a:graphicData uri="http://schemas.openxmlformats.org/drawingml/2006/table">
            <a:tbl>
              <a:tblPr/>
              <a:tblGrid>
                <a:gridCol w="1017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98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编码</a:t>
                      </a:r>
                      <a:b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</a:b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内容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15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14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13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12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11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H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4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10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9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8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7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5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4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H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3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3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H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H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H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编码</a:t>
                      </a:r>
                      <a:b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</a:b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位置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21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20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19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18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17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16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15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14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13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12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11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10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9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8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7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5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4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3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55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校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验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方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程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P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 gridSpan="2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P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r>
                        <a:rPr kumimoji="1" lang="zh-CN" alt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＝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15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13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11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8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H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P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1" lang="zh-CN" alt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＝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13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12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9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H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endParaRPr kumimoji="1" lang="pt-BR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P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1" lang="zh-CN" alt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＝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15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14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9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8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H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P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r>
                        <a:rPr kumimoji="1" lang="zh-CN" alt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＝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9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8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H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endParaRPr kumimoji="1" lang="pt-BR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P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</a:t>
                      </a:r>
                      <a:r>
                        <a:rPr kumimoji="1" lang="zh-CN" alt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＝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15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14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13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12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11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H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</a:t>
                      </a:r>
                    </a:p>
                  </a:txBody>
                  <a:tcPr marL="54000" marR="0" marT="46800" marB="46800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70155" name="Line 1067"/>
          <p:cNvSpPr>
            <a:spLocks noChangeShapeType="1"/>
          </p:cNvSpPr>
          <p:nvPr/>
        </p:nvSpPr>
        <p:spPr bwMode="auto">
          <a:xfrm>
            <a:off x="4572000" y="2636838"/>
            <a:ext cx="0" cy="1439862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56" name="Line 1068"/>
          <p:cNvSpPr>
            <a:spLocks noChangeShapeType="1"/>
          </p:cNvSpPr>
          <p:nvPr/>
        </p:nvSpPr>
        <p:spPr bwMode="auto">
          <a:xfrm>
            <a:off x="4572000" y="4076700"/>
            <a:ext cx="792163" cy="0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57" name="Line 1069"/>
          <p:cNvSpPr>
            <a:spLocks noChangeShapeType="1"/>
          </p:cNvSpPr>
          <p:nvPr/>
        </p:nvSpPr>
        <p:spPr bwMode="auto">
          <a:xfrm>
            <a:off x="5364163" y="4076701"/>
            <a:ext cx="0" cy="464346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58" name="Line 1070"/>
          <p:cNvSpPr>
            <a:spLocks noChangeShapeType="1"/>
          </p:cNvSpPr>
          <p:nvPr/>
        </p:nvSpPr>
        <p:spPr bwMode="auto">
          <a:xfrm flipH="1">
            <a:off x="4645025" y="4541046"/>
            <a:ext cx="719138" cy="0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59" name="Line 1071"/>
          <p:cNvSpPr>
            <a:spLocks noChangeShapeType="1"/>
          </p:cNvSpPr>
          <p:nvPr/>
        </p:nvSpPr>
        <p:spPr bwMode="auto">
          <a:xfrm>
            <a:off x="4642644" y="4541047"/>
            <a:ext cx="0" cy="431802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60" name="Line 1072"/>
          <p:cNvSpPr>
            <a:spLocks noChangeShapeType="1"/>
          </p:cNvSpPr>
          <p:nvPr/>
        </p:nvSpPr>
        <p:spPr bwMode="auto">
          <a:xfrm>
            <a:off x="4645025" y="4972848"/>
            <a:ext cx="631033" cy="0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61" name="Line 1073"/>
          <p:cNvSpPr>
            <a:spLocks noChangeShapeType="1"/>
          </p:cNvSpPr>
          <p:nvPr/>
        </p:nvSpPr>
        <p:spPr bwMode="auto">
          <a:xfrm>
            <a:off x="5276058" y="4972849"/>
            <a:ext cx="0" cy="400840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62" name="Line 1074"/>
          <p:cNvSpPr>
            <a:spLocks noChangeShapeType="1"/>
          </p:cNvSpPr>
          <p:nvPr/>
        </p:nvSpPr>
        <p:spPr bwMode="auto">
          <a:xfrm flipH="1">
            <a:off x="3810794" y="5373688"/>
            <a:ext cx="1465263" cy="0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63" name="Line 1075"/>
          <p:cNvSpPr>
            <a:spLocks noChangeShapeType="1"/>
          </p:cNvSpPr>
          <p:nvPr/>
        </p:nvSpPr>
        <p:spPr bwMode="auto">
          <a:xfrm>
            <a:off x="3810795" y="5373689"/>
            <a:ext cx="0" cy="481808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64" name="Line 1076"/>
          <p:cNvSpPr>
            <a:spLocks noChangeShapeType="1"/>
          </p:cNvSpPr>
          <p:nvPr/>
        </p:nvSpPr>
        <p:spPr bwMode="auto">
          <a:xfrm>
            <a:off x="3810795" y="5855496"/>
            <a:ext cx="2091258" cy="0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65" name="Line 1077"/>
          <p:cNvSpPr>
            <a:spLocks noChangeShapeType="1"/>
          </p:cNvSpPr>
          <p:nvPr/>
        </p:nvSpPr>
        <p:spPr bwMode="auto">
          <a:xfrm>
            <a:off x="5902052" y="5855497"/>
            <a:ext cx="0" cy="526254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CF0C9656-B635-451B-8F00-7F943719A726}"/>
              </a:ext>
            </a:extLst>
          </p:cNvPr>
          <p:cNvSpPr/>
          <p:nvPr/>
        </p:nvSpPr>
        <p:spPr bwMode="auto">
          <a:xfrm>
            <a:off x="7876198" y="2856472"/>
            <a:ext cx="732973" cy="792088"/>
          </a:xfrm>
          <a:prstGeom prst="roundRect">
            <a:avLst>
              <a:gd name="adj" fmla="val 14111"/>
            </a:avLst>
          </a:prstGeom>
          <a:noFill/>
          <a:ln w="28575" cap="flat" cmpd="sng" algn="ctr">
            <a:solidFill>
              <a:srgbClr val="00FFFF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FF8BC185-5068-4D17-B6D4-100C8B808733}"/>
              </a:ext>
            </a:extLst>
          </p:cNvPr>
          <p:cNvCxnSpPr>
            <a:cxnSpLocks/>
          </p:cNvCxnSpPr>
          <p:nvPr/>
        </p:nvCxnSpPr>
        <p:spPr bwMode="auto">
          <a:xfrm>
            <a:off x="1259632" y="4941168"/>
            <a:ext cx="6912768" cy="0"/>
          </a:xfrm>
          <a:prstGeom prst="line">
            <a:avLst/>
          </a:prstGeom>
          <a:noFill/>
          <a:ln w="38100" cap="flat" cmpd="sng" algn="ctr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BF67C0CE-AF20-4B40-9166-8FA7B5A78D0A}"/>
              </a:ext>
            </a:extLst>
          </p:cNvPr>
          <p:cNvSpPr/>
          <p:nvPr/>
        </p:nvSpPr>
        <p:spPr bwMode="auto">
          <a:xfrm>
            <a:off x="6401820" y="2856472"/>
            <a:ext cx="732973" cy="792088"/>
          </a:xfrm>
          <a:prstGeom prst="roundRect">
            <a:avLst>
              <a:gd name="adj" fmla="val 14111"/>
            </a:avLst>
          </a:prstGeom>
          <a:noFill/>
          <a:ln w="28575" cap="flat" cmpd="sng" algn="ctr">
            <a:solidFill>
              <a:srgbClr val="00FFFF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686C8FEA-B89C-4957-88E7-CD0886980EE2}"/>
              </a:ext>
            </a:extLst>
          </p:cNvPr>
          <p:cNvSpPr/>
          <p:nvPr/>
        </p:nvSpPr>
        <p:spPr bwMode="auto">
          <a:xfrm>
            <a:off x="4934970" y="2852092"/>
            <a:ext cx="732973" cy="792088"/>
          </a:xfrm>
          <a:prstGeom prst="roundRect">
            <a:avLst>
              <a:gd name="adj" fmla="val 14111"/>
            </a:avLst>
          </a:prstGeom>
          <a:noFill/>
          <a:ln w="28575" cap="flat" cmpd="sng" algn="ctr">
            <a:solidFill>
              <a:srgbClr val="00FFFF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ED317307-5C83-4ED0-BD25-36480B2B5191}"/>
              </a:ext>
            </a:extLst>
          </p:cNvPr>
          <p:cNvSpPr/>
          <p:nvPr/>
        </p:nvSpPr>
        <p:spPr bwMode="auto">
          <a:xfrm>
            <a:off x="3450657" y="2853034"/>
            <a:ext cx="732973" cy="792088"/>
          </a:xfrm>
          <a:prstGeom prst="roundRect">
            <a:avLst>
              <a:gd name="adj" fmla="val 14111"/>
            </a:avLst>
          </a:prstGeom>
          <a:noFill/>
          <a:ln w="28575" cap="flat" cmpd="sng" algn="ctr">
            <a:solidFill>
              <a:srgbClr val="00FFFF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357D7ECF-ED6A-4880-B77A-48F411076DE3}"/>
              </a:ext>
            </a:extLst>
          </p:cNvPr>
          <p:cNvSpPr/>
          <p:nvPr/>
        </p:nvSpPr>
        <p:spPr bwMode="auto">
          <a:xfrm>
            <a:off x="1981200" y="2852092"/>
            <a:ext cx="750535" cy="792088"/>
          </a:xfrm>
          <a:prstGeom prst="roundRect">
            <a:avLst>
              <a:gd name="adj" fmla="val 14111"/>
            </a:avLst>
          </a:prstGeom>
          <a:noFill/>
          <a:ln w="28575" cap="flat" cmpd="sng" algn="ctr">
            <a:solidFill>
              <a:srgbClr val="00FFFF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417143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75F4F55-4C58-4E15-8E59-8BF4419364CA}" type="slidenum">
              <a:rPr lang="zh-CN" altLang="en-US"/>
              <a:pPr/>
              <a:t>37</a:t>
            </a:fld>
            <a:endParaRPr lang="en-US" altLang="zh-CN"/>
          </a:p>
        </p:txBody>
      </p:sp>
      <p:sp>
        <p:nvSpPr>
          <p:cNvPr id="136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三、海明码        </a:t>
            </a:r>
            <a:r>
              <a:rPr lang="en-US" altLang="zh-CN" dirty="0">
                <a:solidFill>
                  <a:srgbClr val="CC0066"/>
                </a:solidFill>
              </a:rPr>
              <a:t>2. </a:t>
            </a:r>
            <a:r>
              <a:rPr lang="zh-CN" altLang="en-US" dirty="0">
                <a:solidFill>
                  <a:srgbClr val="CC0066"/>
                </a:solidFill>
              </a:rPr>
              <a:t>总结</a:t>
            </a:r>
          </a:p>
        </p:txBody>
      </p:sp>
      <p:sp>
        <p:nvSpPr>
          <p:cNvPr id="136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549275"/>
            <a:ext cx="8362950" cy="2087563"/>
          </a:xfrm>
        </p:spPr>
        <p:txBody>
          <a:bodyPr/>
          <a:lstStyle/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zh-CN" altLang="pt-BR">
                <a:solidFill>
                  <a:srgbClr val="000000"/>
                </a:solidFill>
                <a:cs typeface="Times New Roman" pitchFamily="18" charset="0"/>
              </a:rPr>
              <a:t>假设</a:t>
            </a:r>
            <a:r>
              <a:rPr lang="pt-BR" altLang="zh-CN">
                <a:solidFill>
                  <a:srgbClr val="000000"/>
                </a:solidFill>
              </a:rPr>
              <a:t>16</a:t>
            </a:r>
            <a:r>
              <a:rPr lang="zh-CN" altLang="pt-BR">
                <a:solidFill>
                  <a:srgbClr val="000000"/>
                </a:solidFill>
                <a:cs typeface="Times New Roman" pitchFamily="18" charset="0"/>
              </a:rPr>
              <a:t>位数据</a:t>
            </a:r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pt-BR" altLang="zh-CN">
                <a:solidFill>
                  <a:srgbClr val="000000"/>
                </a:solidFill>
              </a:rPr>
              <a:t>D</a:t>
            </a:r>
            <a:r>
              <a:rPr lang="zh-CN" altLang="pt-BR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>
                <a:solidFill>
                  <a:srgbClr val="000000"/>
                </a:solidFill>
              </a:rPr>
              <a:t>D</a:t>
            </a:r>
            <a:r>
              <a:rPr lang="pt-BR" altLang="zh-CN" baseline="-30000">
                <a:solidFill>
                  <a:srgbClr val="000000"/>
                </a:solidFill>
              </a:rPr>
              <a:t>15</a:t>
            </a:r>
            <a:r>
              <a:rPr lang="pt-BR" altLang="zh-CN">
                <a:solidFill>
                  <a:srgbClr val="000000"/>
                </a:solidFill>
              </a:rPr>
              <a:t>D</a:t>
            </a:r>
            <a:r>
              <a:rPr lang="pt-BR" altLang="zh-CN" baseline="-30000">
                <a:solidFill>
                  <a:srgbClr val="000000"/>
                </a:solidFill>
              </a:rPr>
              <a:t>14</a:t>
            </a:r>
            <a:r>
              <a:rPr lang="pt-BR" altLang="zh-CN">
                <a:solidFill>
                  <a:srgbClr val="000000"/>
                </a:solidFill>
              </a:rPr>
              <a:t>D</a:t>
            </a:r>
            <a:r>
              <a:rPr lang="pt-BR" altLang="zh-CN" baseline="-30000">
                <a:solidFill>
                  <a:srgbClr val="000000"/>
                </a:solidFill>
              </a:rPr>
              <a:t>13</a:t>
            </a:r>
            <a:r>
              <a:rPr lang="pt-BR" altLang="zh-CN">
                <a:solidFill>
                  <a:srgbClr val="000000"/>
                </a:solidFill>
              </a:rPr>
              <a:t>D</a:t>
            </a:r>
            <a:r>
              <a:rPr lang="pt-BR" altLang="zh-CN" baseline="-30000">
                <a:solidFill>
                  <a:srgbClr val="000000"/>
                </a:solidFill>
              </a:rPr>
              <a:t>12</a:t>
            </a:r>
            <a:r>
              <a:rPr lang="pt-BR" altLang="zh-CN">
                <a:solidFill>
                  <a:srgbClr val="000000"/>
                </a:solidFill>
              </a:rPr>
              <a:t>D</a:t>
            </a:r>
            <a:r>
              <a:rPr lang="pt-BR" altLang="zh-CN" baseline="-30000">
                <a:solidFill>
                  <a:srgbClr val="000000"/>
                </a:solidFill>
              </a:rPr>
              <a:t>11</a:t>
            </a:r>
            <a:r>
              <a:rPr lang="pt-BR" altLang="zh-CN">
                <a:solidFill>
                  <a:srgbClr val="000000"/>
                </a:solidFill>
              </a:rPr>
              <a:t>D</a:t>
            </a:r>
            <a:r>
              <a:rPr lang="pt-BR" altLang="zh-CN" baseline="-30000">
                <a:solidFill>
                  <a:srgbClr val="000000"/>
                </a:solidFill>
              </a:rPr>
              <a:t>10</a:t>
            </a:r>
            <a:r>
              <a:rPr lang="pt-BR" altLang="zh-CN">
                <a:solidFill>
                  <a:srgbClr val="000000"/>
                </a:solidFill>
              </a:rPr>
              <a:t>D</a:t>
            </a:r>
            <a:r>
              <a:rPr lang="pt-BR" altLang="zh-CN" baseline="-30000">
                <a:solidFill>
                  <a:srgbClr val="000000"/>
                </a:solidFill>
              </a:rPr>
              <a:t>9</a:t>
            </a:r>
            <a:r>
              <a:rPr lang="pt-BR" altLang="zh-CN">
                <a:solidFill>
                  <a:srgbClr val="000000"/>
                </a:solidFill>
              </a:rPr>
              <a:t>D</a:t>
            </a:r>
            <a:r>
              <a:rPr lang="pt-BR" altLang="zh-CN" baseline="-30000">
                <a:solidFill>
                  <a:srgbClr val="000000"/>
                </a:solidFill>
              </a:rPr>
              <a:t>8</a:t>
            </a:r>
            <a:r>
              <a:rPr lang="pt-BR" altLang="zh-CN">
                <a:solidFill>
                  <a:srgbClr val="000000"/>
                </a:solidFill>
              </a:rPr>
              <a:t>D</a:t>
            </a:r>
            <a:r>
              <a:rPr lang="pt-BR" altLang="zh-CN" baseline="-30000">
                <a:solidFill>
                  <a:srgbClr val="000000"/>
                </a:solidFill>
              </a:rPr>
              <a:t>7</a:t>
            </a:r>
            <a:r>
              <a:rPr lang="pt-BR" altLang="zh-CN">
                <a:solidFill>
                  <a:srgbClr val="000000"/>
                </a:solidFill>
              </a:rPr>
              <a:t>D</a:t>
            </a:r>
            <a:r>
              <a:rPr lang="pt-BR" altLang="zh-CN" baseline="-30000">
                <a:solidFill>
                  <a:srgbClr val="000000"/>
                </a:solidFill>
              </a:rPr>
              <a:t>6</a:t>
            </a:r>
            <a:r>
              <a:rPr lang="pt-BR" altLang="zh-CN">
                <a:solidFill>
                  <a:srgbClr val="000000"/>
                </a:solidFill>
              </a:rPr>
              <a:t>D</a:t>
            </a:r>
            <a:r>
              <a:rPr lang="pt-BR" altLang="zh-CN" baseline="-30000">
                <a:solidFill>
                  <a:srgbClr val="000000"/>
                </a:solidFill>
              </a:rPr>
              <a:t>5</a:t>
            </a:r>
            <a:r>
              <a:rPr lang="pt-BR" altLang="zh-CN">
                <a:solidFill>
                  <a:srgbClr val="000000"/>
                </a:solidFill>
              </a:rPr>
              <a:t>D</a:t>
            </a:r>
            <a:r>
              <a:rPr lang="pt-BR" altLang="zh-CN" baseline="-30000">
                <a:solidFill>
                  <a:srgbClr val="000000"/>
                </a:solidFill>
              </a:rPr>
              <a:t>4</a:t>
            </a:r>
            <a:r>
              <a:rPr lang="pt-BR" altLang="zh-CN">
                <a:solidFill>
                  <a:srgbClr val="000000"/>
                </a:solidFill>
              </a:rPr>
              <a:t>D</a:t>
            </a:r>
            <a:r>
              <a:rPr lang="pt-BR" altLang="zh-CN" baseline="-30000">
                <a:solidFill>
                  <a:srgbClr val="000000"/>
                </a:solidFill>
              </a:rPr>
              <a:t>3</a:t>
            </a:r>
            <a:r>
              <a:rPr lang="pt-BR" altLang="zh-CN">
                <a:solidFill>
                  <a:srgbClr val="000000"/>
                </a:solidFill>
              </a:rPr>
              <a:t>D</a:t>
            </a:r>
            <a:r>
              <a:rPr lang="pt-BR" altLang="zh-CN" baseline="-30000">
                <a:solidFill>
                  <a:srgbClr val="000000"/>
                </a:solidFill>
              </a:rPr>
              <a:t>2</a:t>
            </a:r>
            <a:r>
              <a:rPr lang="pt-BR" altLang="zh-CN">
                <a:solidFill>
                  <a:srgbClr val="000000"/>
                </a:solidFill>
              </a:rPr>
              <a:t>D</a:t>
            </a:r>
            <a:r>
              <a:rPr lang="pt-BR" altLang="zh-CN" baseline="-30000">
                <a:solidFill>
                  <a:srgbClr val="000000"/>
                </a:solidFill>
              </a:rPr>
              <a:t>1</a:t>
            </a:r>
            <a:r>
              <a:rPr lang="pt-BR" altLang="zh-CN">
                <a:solidFill>
                  <a:srgbClr val="000000"/>
                </a:solidFill>
              </a:rPr>
              <a:t>D</a:t>
            </a:r>
            <a:r>
              <a:rPr lang="pt-BR" altLang="zh-CN" baseline="-30000">
                <a:solidFill>
                  <a:srgbClr val="000000"/>
                </a:solidFill>
              </a:rPr>
              <a:t>0</a:t>
            </a:r>
            <a:r>
              <a:rPr lang="zh-CN" altLang="pt-BR">
                <a:solidFill>
                  <a:srgbClr val="000000"/>
                </a:solidFill>
                <a:cs typeface="Times New Roman" pitchFamily="18" charset="0"/>
              </a:rPr>
              <a:t>，</a:t>
            </a:r>
          </a:p>
          <a:p>
            <a:pPr marL="0" indent="0">
              <a:spcBef>
                <a:spcPct val="10000"/>
              </a:spcBef>
              <a:buFont typeface="Wingdings" pitchFamily="2" charset="2"/>
              <a:buNone/>
            </a:pPr>
            <a:r>
              <a:rPr lang="zh-CN" altLang="pt-BR">
                <a:solidFill>
                  <a:srgbClr val="000000"/>
                </a:solidFill>
                <a:cs typeface="Times New Roman" pitchFamily="18" charset="0"/>
              </a:rPr>
              <a:t>对应的校验位</a:t>
            </a:r>
            <a:r>
              <a:rPr lang="pt-BR" altLang="zh-CN">
                <a:solidFill>
                  <a:srgbClr val="000000"/>
                </a:solidFill>
              </a:rPr>
              <a:t>H</a:t>
            </a:r>
            <a:r>
              <a:rPr lang="zh-CN" altLang="pt-BR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>
                <a:solidFill>
                  <a:srgbClr val="000000"/>
                </a:solidFill>
              </a:rPr>
              <a:t>H</a:t>
            </a:r>
            <a:r>
              <a:rPr lang="pt-BR" altLang="zh-CN" baseline="-30000">
                <a:solidFill>
                  <a:srgbClr val="000000"/>
                </a:solidFill>
              </a:rPr>
              <a:t>4</a:t>
            </a:r>
            <a:r>
              <a:rPr lang="pt-BR" altLang="zh-CN">
                <a:solidFill>
                  <a:srgbClr val="000000"/>
                </a:solidFill>
              </a:rPr>
              <a:t>H</a:t>
            </a:r>
            <a:r>
              <a:rPr lang="pt-BR" altLang="zh-CN" baseline="-30000">
                <a:solidFill>
                  <a:srgbClr val="000000"/>
                </a:solidFill>
              </a:rPr>
              <a:t>3</a:t>
            </a:r>
            <a:r>
              <a:rPr lang="pt-BR" altLang="zh-CN">
                <a:solidFill>
                  <a:srgbClr val="000000"/>
                </a:solidFill>
              </a:rPr>
              <a:t>H</a:t>
            </a:r>
            <a:r>
              <a:rPr lang="pt-BR" altLang="zh-CN" baseline="-30000">
                <a:solidFill>
                  <a:srgbClr val="000000"/>
                </a:solidFill>
              </a:rPr>
              <a:t>2</a:t>
            </a:r>
            <a:r>
              <a:rPr lang="pt-BR" altLang="zh-CN">
                <a:solidFill>
                  <a:srgbClr val="000000"/>
                </a:solidFill>
              </a:rPr>
              <a:t>H</a:t>
            </a:r>
            <a:r>
              <a:rPr lang="pt-BR" altLang="zh-CN" baseline="-30000">
                <a:solidFill>
                  <a:srgbClr val="000000"/>
                </a:solidFill>
              </a:rPr>
              <a:t>1</a:t>
            </a:r>
            <a:r>
              <a:rPr lang="pt-BR" altLang="zh-CN">
                <a:solidFill>
                  <a:srgbClr val="000000"/>
                </a:solidFill>
              </a:rPr>
              <a:t>H</a:t>
            </a:r>
            <a:r>
              <a:rPr lang="pt-BR" altLang="zh-CN" baseline="-30000">
                <a:solidFill>
                  <a:srgbClr val="000000"/>
                </a:solidFill>
              </a:rPr>
              <a:t>0</a:t>
            </a:r>
            <a:r>
              <a:rPr lang="zh-CN" altLang="pt-BR">
                <a:solidFill>
                  <a:srgbClr val="000000"/>
                </a:solidFill>
                <a:cs typeface="Times New Roman" pitchFamily="18" charset="0"/>
              </a:rPr>
              <a:t>，</a:t>
            </a:r>
          </a:p>
          <a:p>
            <a:pPr marL="0" indent="0">
              <a:spcBef>
                <a:spcPct val="10000"/>
              </a:spcBef>
              <a:buFont typeface="Wingdings" pitchFamily="2" charset="2"/>
              <a:buNone/>
            </a:pPr>
            <a:r>
              <a:rPr lang="zh-CN" altLang="pt-BR">
                <a:solidFill>
                  <a:srgbClr val="000000"/>
                </a:solidFill>
                <a:cs typeface="Times New Roman" pitchFamily="18" charset="0"/>
              </a:rPr>
              <a:t>则海明码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及其校验方程：</a:t>
            </a:r>
            <a:endParaRPr lang="zh-CN" altLang="en-US"/>
          </a:p>
        </p:txBody>
      </p:sp>
      <p:graphicFrame>
        <p:nvGraphicFramePr>
          <p:cNvPr id="1370168" name="Group 1080"/>
          <p:cNvGraphicFramePr>
            <a:graphicFrameLocks noGrp="1"/>
          </p:cNvGraphicFramePr>
          <p:nvPr/>
        </p:nvGraphicFramePr>
        <p:xfrm>
          <a:off x="179388" y="2492375"/>
          <a:ext cx="8785225" cy="3959799"/>
        </p:xfrm>
        <a:graphic>
          <a:graphicData uri="http://schemas.openxmlformats.org/drawingml/2006/table">
            <a:tbl>
              <a:tblPr/>
              <a:tblGrid>
                <a:gridCol w="1017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98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编码</a:t>
                      </a:r>
                      <a:b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</a:b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内容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15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14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13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12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11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H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4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10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9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8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7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5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4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H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3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3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H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H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H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编码</a:t>
                      </a:r>
                      <a:b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</a:b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位置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21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20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19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18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17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16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15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14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13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12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11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10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9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8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7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5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4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3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55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校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验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方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程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P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 gridSpan="2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P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r>
                        <a:rPr kumimoji="1" lang="zh-CN" altLang="pt-B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＝</a:t>
                      </a: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15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13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11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8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H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P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1" lang="zh-CN" altLang="pt-B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＝</a:t>
                      </a: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13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12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9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H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endParaRPr kumimoji="1" lang="pt-BR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P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1" lang="zh-CN" altLang="pt-B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＝</a:t>
                      </a: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15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14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9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8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H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P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r>
                        <a:rPr kumimoji="1" lang="zh-CN" altLang="pt-B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＝</a:t>
                      </a: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9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8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H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endParaRPr kumimoji="1" lang="pt-BR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P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</a:t>
                      </a:r>
                      <a:r>
                        <a:rPr kumimoji="1" lang="zh-CN" altLang="pt-BR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＝</a:t>
                      </a: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15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14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13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12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11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H</a:t>
                      </a:r>
                      <a:r>
                        <a:rPr kumimoji="1" lang="pt-BR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</a:t>
                      </a:r>
                    </a:p>
                  </a:txBody>
                  <a:tcPr marL="54000" marR="0" marT="46800" marB="46800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70155" name="Line 1067"/>
          <p:cNvSpPr>
            <a:spLocks noChangeShapeType="1"/>
          </p:cNvSpPr>
          <p:nvPr/>
        </p:nvSpPr>
        <p:spPr bwMode="auto">
          <a:xfrm>
            <a:off x="4572000" y="2636838"/>
            <a:ext cx="0" cy="1439862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56" name="Line 1068"/>
          <p:cNvSpPr>
            <a:spLocks noChangeShapeType="1"/>
          </p:cNvSpPr>
          <p:nvPr/>
        </p:nvSpPr>
        <p:spPr bwMode="auto">
          <a:xfrm>
            <a:off x="4572000" y="4076700"/>
            <a:ext cx="792163" cy="0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57" name="Line 1069"/>
          <p:cNvSpPr>
            <a:spLocks noChangeShapeType="1"/>
          </p:cNvSpPr>
          <p:nvPr/>
        </p:nvSpPr>
        <p:spPr bwMode="auto">
          <a:xfrm>
            <a:off x="5364163" y="4076701"/>
            <a:ext cx="0" cy="464346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58" name="Line 1070"/>
          <p:cNvSpPr>
            <a:spLocks noChangeShapeType="1"/>
          </p:cNvSpPr>
          <p:nvPr/>
        </p:nvSpPr>
        <p:spPr bwMode="auto">
          <a:xfrm flipH="1">
            <a:off x="4645025" y="4541046"/>
            <a:ext cx="719138" cy="0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59" name="Line 1071"/>
          <p:cNvSpPr>
            <a:spLocks noChangeShapeType="1"/>
          </p:cNvSpPr>
          <p:nvPr/>
        </p:nvSpPr>
        <p:spPr bwMode="auto">
          <a:xfrm>
            <a:off x="4642644" y="4541047"/>
            <a:ext cx="0" cy="431802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60" name="Line 1072"/>
          <p:cNvSpPr>
            <a:spLocks noChangeShapeType="1"/>
          </p:cNvSpPr>
          <p:nvPr/>
        </p:nvSpPr>
        <p:spPr bwMode="auto">
          <a:xfrm>
            <a:off x="4645025" y="4972848"/>
            <a:ext cx="631033" cy="0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61" name="Line 1073"/>
          <p:cNvSpPr>
            <a:spLocks noChangeShapeType="1"/>
          </p:cNvSpPr>
          <p:nvPr/>
        </p:nvSpPr>
        <p:spPr bwMode="auto">
          <a:xfrm>
            <a:off x="5276058" y="4972849"/>
            <a:ext cx="0" cy="400840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62" name="Line 1074"/>
          <p:cNvSpPr>
            <a:spLocks noChangeShapeType="1"/>
          </p:cNvSpPr>
          <p:nvPr/>
        </p:nvSpPr>
        <p:spPr bwMode="auto">
          <a:xfrm flipH="1">
            <a:off x="3810794" y="5373688"/>
            <a:ext cx="1465263" cy="0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63" name="Line 1075"/>
          <p:cNvSpPr>
            <a:spLocks noChangeShapeType="1"/>
          </p:cNvSpPr>
          <p:nvPr/>
        </p:nvSpPr>
        <p:spPr bwMode="auto">
          <a:xfrm>
            <a:off x="3810795" y="5373689"/>
            <a:ext cx="0" cy="481808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64" name="Line 1076"/>
          <p:cNvSpPr>
            <a:spLocks noChangeShapeType="1"/>
          </p:cNvSpPr>
          <p:nvPr/>
        </p:nvSpPr>
        <p:spPr bwMode="auto">
          <a:xfrm>
            <a:off x="3810795" y="5855496"/>
            <a:ext cx="2091258" cy="0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65" name="Line 1077"/>
          <p:cNvSpPr>
            <a:spLocks noChangeShapeType="1"/>
          </p:cNvSpPr>
          <p:nvPr/>
        </p:nvSpPr>
        <p:spPr bwMode="auto">
          <a:xfrm>
            <a:off x="5902052" y="5855497"/>
            <a:ext cx="0" cy="526254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CF0C9656-B635-451B-8F00-7F943719A726}"/>
              </a:ext>
            </a:extLst>
          </p:cNvPr>
          <p:cNvSpPr/>
          <p:nvPr/>
        </p:nvSpPr>
        <p:spPr bwMode="auto">
          <a:xfrm>
            <a:off x="6391923" y="2852936"/>
            <a:ext cx="1465812" cy="792088"/>
          </a:xfrm>
          <a:prstGeom prst="roundRect">
            <a:avLst>
              <a:gd name="adj" fmla="val 15546"/>
            </a:avLst>
          </a:prstGeom>
          <a:noFill/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9A82383-B459-4CA3-90BA-BECC8D5D022E}"/>
              </a:ext>
            </a:extLst>
          </p:cNvPr>
          <p:cNvSpPr/>
          <p:nvPr/>
        </p:nvSpPr>
        <p:spPr bwMode="auto">
          <a:xfrm>
            <a:off x="3430716" y="2852936"/>
            <a:ext cx="1465812" cy="792088"/>
          </a:xfrm>
          <a:prstGeom prst="roundRect">
            <a:avLst>
              <a:gd name="adj" fmla="val 15546"/>
            </a:avLst>
          </a:prstGeom>
          <a:noFill/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C97F4F48-87F6-4333-B2F2-079B065D797D}"/>
              </a:ext>
            </a:extLst>
          </p:cNvPr>
          <p:cNvSpPr/>
          <p:nvPr/>
        </p:nvSpPr>
        <p:spPr bwMode="auto">
          <a:xfrm>
            <a:off x="1115616" y="2852281"/>
            <a:ext cx="871991" cy="792088"/>
          </a:xfrm>
          <a:prstGeom prst="roundRect">
            <a:avLst>
              <a:gd name="adj" fmla="val 15546"/>
            </a:avLst>
          </a:prstGeom>
          <a:noFill/>
          <a:ln w="28575" cap="flat" cmpd="sng" algn="ctr">
            <a:solidFill>
              <a:srgbClr val="00CC00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FF8BC185-5068-4D17-B6D4-100C8B808733}"/>
              </a:ext>
            </a:extLst>
          </p:cNvPr>
          <p:cNvCxnSpPr/>
          <p:nvPr/>
        </p:nvCxnSpPr>
        <p:spPr bwMode="auto">
          <a:xfrm>
            <a:off x="1259632" y="5373688"/>
            <a:ext cx="6984776" cy="0"/>
          </a:xfrm>
          <a:prstGeom prst="line">
            <a:avLst/>
          </a:prstGeom>
          <a:noFill/>
          <a:ln w="38100" cap="flat" cmpd="sng" algn="ctr">
            <a:solidFill>
              <a:srgbClr val="00660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9" grpId="0" animBg="1"/>
      <p:bldP spid="2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75F4F55-4C58-4E15-8E59-8BF4419364CA}" type="slidenum">
              <a:rPr lang="zh-CN" altLang="en-US"/>
              <a:pPr/>
              <a:t>38</a:t>
            </a:fld>
            <a:endParaRPr lang="en-US" altLang="zh-CN"/>
          </a:p>
        </p:txBody>
      </p:sp>
      <p:sp>
        <p:nvSpPr>
          <p:cNvPr id="136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三、海明码        </a:t>
            </a:r>
            <a:r>
              <a:rPr lang="en-US" altLang="zh-CN" dirty="0">
                <a:solidFill>
                  <a:srgbClr val="CC0066"/>
                </a:solidFill>
              </a:rPr>
              <a:t>2. </a:t>
            </a:r>
            <a:r>
              <a:rPr lang="zh-CN" altLang="en-US" dirty="0">
                <a:solidFill>
                  <a:srgbClr val="CC0066"/>
                </a:solidFill>
              </a:rPr>
              <a:t>总结</a:t>
            </a:r>
          </a:p>
        </p:txBody>
      </p:sp>
      <p:sp>
        <p:nvSpPr>
          <p:cNvPr id="136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549275"/>
            <a:ext cx="8362950" cy="2087563"/>
          </a:xfrm>
        </p:spPr>
        <p:txBody>
          <a:bodyPr/>
          <a:lstStyle/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假设</a:t>
            </a:r>
            <a:r>
              <a:rPr lang="pt-BR" altLang="zh-CN" dirty="0">
                <a:solidFill>
                  <a:srgbClr val="000000"/>
                </a:solidFill>
              </a:rPr>
              <a:t>16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位数据</a:t>
            </a:r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</a:rPr>
              <a:t>15</a:t>
            </a: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</a:rPr>
              <a:t>14</a:t>
            </a: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</a:rPr>
              <a:t>13</a:t>
            </a: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</a:rPr>
              <a:t>12</a:t>
            </a: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</a:rPr>
              <a:t>11</a:t>
            </a: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</a:rPr>
              <a:t>10</a:t>
            </a: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</a:rPr>
              <a:t>9</a:t>
            </a: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</a:rPr>
              <a:t>8</a:t>
            </a: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</a:rPr>
              <a:t>7</a:t>
            </a: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</a:rPr>
              <a:t>6</a:t>
            </a: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</a:rPr>
              <a:t>5</a:t>
            </a: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</a:rPr>
              <a:t>4</a:t>
            </a: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</a:rPr>
              <a:t>3</a:t>
            </a: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</a:rPr>
              <a:t>2</a:t>
            </a: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</a:rPr>
              <a:t>1</a:t>
            </a: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</a:rPr>
              <a:t>0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，</a:t>
            </a:r>
          </a:p>
          <a:p>
            <a:pPr marL="0" indent="0">
              <a:spcBef>
                <a:spcPct val="10000"/>
              </a:spcBef>
              <a:buFont typeface="Wingdings" pitchFamily="2" charset="2"/>
              <a:buNone/>
            </a:pP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对应的校验位</a:t>
            </a:r>
            <a:r>
              <a:rPr lang="pt-BR" altLang="zh-CN" dirty="0">
                <a:solidFill>
                  <a:srgbClr val="000000"/>
                </a:solidFill>
              </a:rPr>
              <a:t>H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</a:rPr>
              <a:t>H</a:t>
            </a:r>
            <a:r>
              <a:rPr lang="pt-BR" altLang="zh-CN" baseline="-30000" dirty="0">
                <a:solidFill>
                  <a:srgbClr val="000000"/>
                </a:solidFill>
              </a:rPr>
              <a:t>4</a:t>
            </a:r>
            <a:r>
              <a:rPr lang="pt-BR" altLang="zh-CN" dirty="0">
                <a:solidFill>
                  <a:srgbClr val="000000"/>
                </a:solidFill>
              </a:rPr>
              <a:t>H</a:t>
            </a:r>
            <a:r>
              <a:rPr lang="pt-BR" altLang="zh-CN" baseline="-30000" dirty="0">
                <a:solidFill>
                  <a:srgbClr val="000000"/>
                </a:solidFill>
              </a:rPr>
              <a:t>3</a:t>
            </a:r>
            <a:r>
              <a:rPr lang="pt-BR" altLang="zh-CN" dirty="0">
                <a:solidFill>
                  <a:srgbClr val="000000"/>
                </a:solidFill>
              </a:rPr>
              <a:t>H</a:t>
            </a:r>
            <a:r>
              <a:rPr lang="pt-BR" altLang="zh-CN" baseline="-30000" dirty="0">
                <a:solidFill>
                  <a:srgbClr val="000000"/>
                </a:solidFill>
              </a:rPr>
              <a:t>2</a:t>
            </a:r>
            <a:r>
              <a:rPr lang="pt-BR" altLang="zh-CN" dirty="0">
                <a:solidFill>
                  <a:srgbClr val="000000"/>
                </a:solidFill>
              </a:rPr>
              <a:t>H</a:t>
            </a:r>
            <a:r>
              <a:rPr lang="pt-BR" altLang="zh-CN" baseline="-30000" dirty="0">
                <a:solidFill>
                  <a:srgbClr val="000000"/>
                </a:solidFill>
              </a:rPr>
              <a:t>1</a:t>
            </a:r>
            <a:r>
              <a:rPr lang="pt-BR" altLang="zh-CN" dirty="0">
                <a:solidFill>
                  <a:srgbClr val="000000"/>
                </a:solidFill>
              </a:rPr>
              <a:t>H</a:t>
            </a:r>
            <a:r>
              <a:rPr lang="pt-BR" altLang="zh-CN" baseline="-30000" dirty="0">
                <a:solidFill>
                  <a:srgbClr val="000000"/>
                </a:solidFill>
              </a:rPr>
              <a:t>0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，</a:t>
            </a:r>
          </a:p>
          <a:p>
            <a:pPr marL="0" indent="0">
              <a:spcBef>
                <a:spcPct val="10000"/>
              </a:spcBef>
              <a:buFont typeface="Wingdings" pitchFamily="2" charset="2"/>
              <a:buNone/>
            </a:pP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则海明码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及其校验方程：</a:t>
            </a:r>
            <a:endParaRPr lang="zh-CN" altLang="en-US" dirty="0"/>
          </a:p>
        </p:txBody>
      </p:sp>
      <p:graphicFrame>
        <p:nvGraphicFramePr>
          <p:cNvPr id="1370168" name="Group 1080"/>
          <p:cNvGraphicFramePr>
            <a:graphicFrameLocks noGrp="1"/>
          </p:cNvGraphicFramePr>
          <p:nvPr/>
        </p:nvGraphicFramePr>
        <p:xfrm>
          <a:off x="179388" y="2492375"/>
          <a:ext cx="8785225" cy="3959799"/>
        </p:xfrm>
        <a:graphic>
          <a:graphicData uri="http://schemas.openxmlformats.org/drawingml/2006/table">
            <a:tbl>
              <a:tblPr/>
              <a:tblGrid>
                <a:gridCol w="1017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98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编码</a:t>
                      </a:r>
                      <a:b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</a:b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内容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15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14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13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12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11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H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4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10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9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8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7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5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4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H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3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3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H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H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H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编码</a:t>
                      </a:r>
                      <a:b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</a:b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位置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21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20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19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18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17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16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15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14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13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12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11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10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9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8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7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5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4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3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55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校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验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方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程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P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 gridSpan="2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P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r>
                        <a:rPr kumimoji="1" lang="zh-CN" alt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＝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15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13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11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8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H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P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1" lang="zh-CN" alt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＝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13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12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9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H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endParaRPr kumimoji="1" lang="pt-BR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P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1" lang="zh-CN" alt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＝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15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14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9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8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H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P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r>
                        <a:rPr kumimoji="1" lang="zh-CN" alt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＝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9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8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H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endParaRPr kumimoji="1" lang="pt-BR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P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</a:t>
                      </a:r>
                      <a:r>
                        <a:rPr kumimoji="1" lang="zh-CN" alt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＝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15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14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13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12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11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H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</a:t>
                      </a:r>
                    </a:p>
                  </a:txBody>
                  <a:tcPr marL="54000" marR="0" marT="46800" marB="46800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70155" name="Line 1067"/>
          <p:cNvSpPr>
            <a:spLocks noChangeShapeType="1"/>
          </p:cNvSpPr>
          <p:nvPr/>
        </p:nvSpPr>
        <p:spPr bwMode="auto">
          <a:xfrm>
            <a:off x="4572000" y="2636838"/>
            <a:ext cx="0" cy="1439862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56" name="Line 1068"/>
          <p:cNvSpPr>
            <a:spLocks noChangeShapeType="1"/>
          </p:cNvSpPr>
          <p:nvPr/>
        </p:nvSpPr>
        <p:spPr bwMode="auto">
          <a:xfrm>
            <a:off x="4572000" y="4076700"/>
            <a:ext cx="792163" cy="0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57" name="Line 1069"/>
          <p:cNvSpPr>
            <a:spLocks noChangeShapeType="1"/>
          </p:cNvSpPr>
          <p:nvPr/>
        </p:nvSpPr>
        <p:spPr bwMode="auto">
          <a:xfrm>
            <a:off x="5364163" y="4076701"/>
            <a:ext cx="0" cy="464346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58" name="Line 1070"/>
          <p:cNvSpPr>
            <a:spLocks noChangeShapeType="1"/>
          </p:cNvSpPr>
          <p:nvPr/>
        </p:nvSpPr>
        <p:spPr bwMode="auto">
          <a:xfrm flipH="1">
            <a:off x="4645025" y="4541046"/>
            <a:ext cx="719138" cy="0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59" name="Line 1071"/>
          <p:cNvSpPr>
            <a:spLocks noChangeShapeType="1"/>
          </p:cNvSpPr>
          <p:nvPr/>
        </p:nvSpPr>
        <p:spPr bwMode="auto">
          <a:xfrm>
            <a:off x="4642644" y="4541047"/>
            <a:ext cx="0" cy="431802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60" name="Line 1072"/>
          <p:cNvSpPr>
            <a:spLocks noChangeShapeType="1"/>
          </p:cNvSpPr>
          <p:nvPr/>
        </p:nvSpPr>
        <p:spPr bwMode="auto">
          <a:xfrm>
            <a:off x="4645025" y="4972848"/>
            <a:ext cx="631033" cy="0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61" name="Line 1073"/>
          <p:cNvSpPr>
            <a:spLocks noChangeShapeType="1"/>
          </p:cNvSpPr>
          <p:nvPr/>
        </p:nvSpPr>
        <p:spPr bwMode="auto">
          <a:xfrm>
            <a:off x="5276058" y="4972849"/>
            <a:ext cx="0" cy="400840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62" name="Line 1074"/>
          <p:cNvSpPr>
            <a:spLocks noChangeShapeType="1"/>
          </p:cNvSpPr>
          <p:nvPr/>
        </p:nvSpPr>
        <p:spPr bwMode="auto">
          <a:xfrm flipH="1">
            <a:off x="3810794" y="5373688"/>
            <a:ext cx="1465263" cy="0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63" name="Line 1075"/>
          <p:cNvSpPr>
            <a:spLocks noChangeShapeType="1"/>
          </p:cNvSpPr>
          <p:nvPr/>
        </p:nvSpPr>
        <p:spPr bwMode="auto">
          <a:xfrm>
            <a:off x="3810795" y="5373689"/>
            <a:ext cx="0" cy="481808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64" name="Line 1076"/>
          <p:cNvSpPr>
            <a:spLocks noChangeShapeType="1"/>
          </p:cNvSpPr>
          <p:nvPr/>
        </p:nvSpPr>
        <p:spPr bwMode="auto">
          <a:xfrm>
            <a:off x="3810795" y="5855496"/>
            <a:ext cx="2091258" cy="0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65" name="Line 1077"/>
          <p:cNvSpPr>
            <a:spLocks noChangeShapeType="1"/>
          </p:cNvSpPr>
          <p:nvPr/>
        </p:nvSpPr>
        <p:spPr bwMode="auto">
          <a:xfrm>
            <a:off x="5902052" y="5855497"/>
            <a:ext cx="0" cy="526254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CF0C9656-B635-451B-8F00-7F943719A726}"/>
              </a:ext>
            </a:extLst>
          </p:cNvPr>
          <p:cNvSpPr/>
          <p:nvPr/>
        </p:nvSpPr>
        <p:spPr bwMode="auto">
          <a:xfrm>
            <a:off x="3438144" y="2838184"/>
            <a:ext cx="2964093" cy="792088"/>
          </a:xfrm>
          <a:prstGeom prst="roundRect">
            <a:avLst>
              <a:gd name="adj" fmla="val 14111"/>
            </a:avLst>
          </a:prstGeom>
          <a:noFill/>
          <a:ln w="28575" cap="flat" cmpd="sng" algn="ctr">
            <a:solidFill>
              <a:srgbClr val="00FFFF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FF8BC185-5068-4D17-B6D4-100C8B808733}"/>
              </a:ext>
            </a:extLst>
          </p:cNvPr>
          <p:cNvCxnSpPr>
            <a:cxnSpLocks/>
          </p:cNvCxnSpPr>
          <p:nvPr/>
        </p:nvCxnSpPr>
        <p:spPr bwMode="auto">
          <a:xfrm>
            <a:off x="1259632" y="5805264"/>
            <a:ext cx="5400600" cy="0"/>
          </a:xfrm>
          <a:prstGeom prst="line">
            <a:avLst/>
          </a:prstGeom>
          <a:noFill/>
          <a:ln w="38100" cap="flat" cmpd="sng" algn="ctr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60623114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75F4F55-4C58-4E15-8E59-8BF4419364CA}" type="slidenum">
              <a:rPr lang="zh-CN" altLang="en-US"/>
              <a:pPr/>
              <a:t>39</a:t>
            </a:fld>
            <a:endParaRPr lang="en-US" altLang="zh-CN"/>
          </a:p>
        </p:txBody>
      </p:sp>
      <p:sp>
        <p:nvSpPr>
          <p:cNvPr id="136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三、海明码        </a:t>
            </a:r>
            <a:r>
              <a:rPr lang="en-US" altLang="zh-CN" dirty="0">
                <a:solidFill>
                  <a:srgbClr val="CC0066"/>
                </a:solidFill>
              </a:rPr>
              <a:t>2. </a:t>
            </a:r>
            <a:r>
              <a:rPr lang="zh-CN" altLang="en-US" dirty="0">
                <a:solidFill>
                  <a:srgbClr val="CC0066"/>
                </a:solidFill>
              </a:rPr>
              <a:t>总结</a:t>
            </a:r>
          </a:p>
        </p:txBody>
      </p:sp>
      <p:sp>
        <p:nvSpPr>
          <p:cNvPr id="136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549275"/>
            <a:ext cx="8362950" cy="2087563"/>
          </a:xfrm>
        </p:spPr>
        <p:txBody>
          <a:bodyPr/>
          <a:lstStyle/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假设</a:t>
            </a:r>
            <a:r>
              <a:rPr lang="pt-BR" altLang="zh-CN" dirty="0">
                <a:solidFill>
                  <a:srgbClr val="000000"/>
                </a:solidFill>
              </a:rPr>
              <a:t>16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位数据</a:t>
            </a:r>
          </a:p>
          <a:p>
            <a:pPr marL="0" indent="0">
              <a:spcBef>
                <a:spcPct val="0"/>
              </a:spcBef>
              <a:buFont typeface="Wingdings" pitchFamily="2" charset="2"/>
              <a:buNone/>
            </a:pP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</a:rPr>
              <a:t>15</a:t>
            </a: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</a:rPr>
              <a:t>14</a:t>
            </a: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</a:rPr>
              <a:t>13</a:t>
            </a: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</a:rPr>
              <a:t>12</a:t>
            </a: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</a:rPr>
              <a:t>11</a:t>
            </a: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</a:rPr>
              <a:t>10</a:t>
            </a: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</a:rPr>
              <a:t>9</a:t>
            </a: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</a:rPr>
              <a:t>8</a:t>
            </a: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</a:rPr>
              <a:t>7</a:t>
            </a: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</a:rPr>
              <a:t>6</a:t>
            </a: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</a:rPr>
              <a:t>5</a:t>
            </a: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</a:rPr>
              <a:t>4</a:t>
            </a: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</a:rPr>
              <a:t>3</a:t>
            </a: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</a:rPr>
              <a:t>2</a:t>
            </a: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</a:rPr>
              <a:t>1</a:t>
            </a:r>
            <a:r>
              <a:rPr lang="pt-BR" altLang="zh-CN" dirty="0">
                <a:solidFill>
                  <a:srgbClr val="000000"/>
                </a:solidFill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</a:rPr>
              <a:t>0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，</a:t>
            </a:r>
          </a:p>
          <a:p>
            <a:pPr marL="0" indent="0">
              <a:spcBef>
                <a:spcPct val="10000"/>
              </a:spcBef>
              <a:buFont typeface="Wingdings" pitchFamily="2" charset="2"/>
              <a:buNone/>
            </a:pP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对应的校验位</a:t>
            </a:r>
            <a:r>
              <a:rPr lang="pt-BR" altLang="zh-CN" dirty="0">
                <a:solidFill>
                  <a:srgbClr val="000000"/>
                </a:solidFill>
              </a:rPr>
              <a:t>H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</a:rPr>
              <a:t>H</a:t>
            </a:r>
            <a:r>
              <a:rPr lang="pt-BR" altLang="zh-CN" baseline="-30000" dirty="0">
                <a:solidFill>
                  <a:srgbClr val="000000"/>
                </a:solidFill>
              </a:rPr>
              <a:t>4</a:t>
            </a:r>
            <a:r>
              <a:rPr lang="pt-BR" altLang="zh-CN" dirty="0">
                <a:solidFill>
                  <a:srgbClr val="000000"/>
                </a:solidFill>
              </a:rPr>
              <a:t>H</a:t>
            </a:r>
            <a:r>
              <a:rPr lang="pt-BR" altLang="zh-CN" baseline="-30000" dirty="0">
                <a:solidFill>
                  <a:srgbClr val="000000"/>
                </a:solidFill>
              </a:rPr>
              <a:t>3</a:t>
            </a:r>
            <a:r>
              <a:rPr lang="pt-BR" altLang="zh-CN" dirty="0">
                <a:solidFill>
                  <a:srgbClr val="000000"/>
                </a:solidFill>
              </a:rPr>
              <a:t>H</a:t>
            </a:r>
            <a:r>
              <a:rPr lang="pt-BR" altLang="zh-CN" baseline="-30000" dirty="0">
                <a:solidFill>
                  <a:srgbClr val="000000"/>
                </a:solidFill>
              </a:rPr>
              <a:t>2</a:t>
            </a:r>
            <a:r>
              <a:rPr lang="pt-BR" altLang="zh-CN" dirty="0">
                <a:solidFill>
                  <a:srgbClr val="000000"/>
                </a:solidFill>
              </a:rPr>
              <a:t>H</a:t>
            </a:r>
            <a:r>
              <a:rPr lang="pt-BR" altLang="zh-CN" baseline="-30000" dirty="0">
                <a:solidFill>
                  <a:srgbClr val="000000"/>
                </a:solidFill>
              </a:rPr>
              <a:t>1</a:t>
            </a:r>
            <a:r>
              <a:rPr lang="pt-BR" altLang="zh-CN" dirty="0">
                <a:solidFill>
                  <a:srgbClr val="000000"/>
                </a:solidFill>
              </a:rPr>
              <a:t>H</a:t>
            </a:r>
            <a:r>
              <a:rPr lang="pt-BR" altLang="zh-CN" baseline="-30000" dirty="0">
                <a:solidFill>
                  <a:srgbClr val="000000"/>
                </a:solidFill>
              </a:rPr>
              <a:t>0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，</a:t>
            </a:r>
          </a:p>
          <a:p>
            <a:pPr marL="0" indent="0">
              <a:spcBef>
                <a:spcPct val="10000"/>
              </a:spcBef>
              <a:buFont typeface="Wingdings" pitchFamily="2" charset="2"/>
              <a:buNone/>
            </a:pP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则海明码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及其校验方程：</a:t>
            </a:r>
            <a:endParaRPr lang="zh-CN" altLang="en-US" dirty="0"/>
          </a:p>
        </p:txBody>
      </p:sp>
      <p:graphicFrame>
        <p:nvGraphicFramePr>
          <p:cNvPr id="1370168" name="Group 1080"/>
          <p:cNvGraphicFramePr>
            <a:graphicFrameLocks noGrp="1"/>
          </p:cNvGraphicFramePr>
          <p:nvPr/>
        </p:nvGraphicFramePr>
        <p:xfrm>
          <a:off x="179388" y="2492375"/>
          <a:ext cx="8785225" cy="3959799"/>
        </p:xfrm>
        <a:graphic>
          <a:graphicData uri="http://schemas.openxmlformats.org/drawingml/2006/table">
            <a:tbl>
              <a:tblPr/>
              <a:tblGrid>
                <a:gridCol w="1017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988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6830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编码</a:t>
                      </a:r>
                      <a:b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</a:b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内容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15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14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13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12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11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H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4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10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9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8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7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5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4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H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3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3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H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H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H</a:t>
                      </a:r>
                      <a:r>
                        <a:rPr kumimoji="1" lang="pt-BR" altLang="zh-CN" sz="20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b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编码</a:t>
                      </a:r>
                      <a:b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</a:b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位置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21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20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19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18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17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16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15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14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13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12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11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10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9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8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7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5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4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3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pt-BR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558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校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验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方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程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P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marL="0" marR="0" marT="46800" marB="46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 gridSpan="2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P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r>
                        <a:rPr kumimoji="1" lang="zh-CN" alt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＝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15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13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11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8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H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P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1" lang="zh-CN" alt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＝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13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12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9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0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H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endParaRPr kumimoji="1" lang="pt-BR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P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1" lang="zh-CN" alt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＝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15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14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9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8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H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P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r>
                        <a:rPr kumimoji="1" lang="zh-CN" alt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＝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10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9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8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7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6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5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H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3</a:t>
                      </a:r>
                      <a:endParaRPr kumimoji="1" lang="pt-BR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P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</a:t>
                      </a:r>
                      <a:r>
                        <a:rPr kumimoji="1" lang="zh-CN" altLang="pt-BR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＝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15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14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13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12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D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11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⊕</a:t>
                      </a:r>
                      <a:r>
                        <a:rPr kumimoji="1" lang="pt-BR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H</a:t>
                      </a:r>
                      <a:r>
                        <a:rPr kumimoji="1" lang="pt-BR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charset="-122"/>
                        </a:rPr>
                        <a:t>4</a:t>
                      </a:r>
                    </a:p>
                  </a:txBody>
                  <a:tcPr marL="54000" marR="0" marT="46800" marB="46800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70155" name="Line 1067"/>
          <p:cNvSpPr>
            <a:spLocks noChangeShapeType="1"/>
          </p:cNvSpPr>
          <p:nvPr/>
        </p:nvSpPr>
        <p:spPr bwMode="auto">
          <a:xfrm>
            <a:off x="4572000" y="2636838"/>
            <a:ext cx="0" cy="1439862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56" name="Line 1068"/>
          <p:cNvSpPr>
            <a:spLocks noChangeShapeType="1"/>
          </p:cNvSpPr>
          <p:nvPr/>
        </p:nvSpPr>
        <p:spPr bwMode="auto">
          <a:xfrm>
            <a:off x="4572000" y="4076700"/>
            <a:ext cx="792163" cy="0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57" name="Line 1069"/>
          <p:cNvSpPr>
            <a:spLocks noChangeShapeType="1"/>
          </p:cNvSpPr>
          <p:nvPr/>
        </p:nvSpPr>
        <p:spPr bwMode="auto">
          <a:xfrm>
            <a:off x="5364163" y="4076701"/>
            <a:ext cx="0" cy="464346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58" name="Line 1070"/>
          <p:cNvSpPr>
            <a:spLocks noChangeShapeType="1"/>
          </p:cNvSpPr>
          <p:nvPr/>
        </p:nvSpPr>
        <p:spPr bwMode="auto">
          <a:xfrm flipH="1">
            <a:off x="4645025" y="4541046"/>
            <a:ext cx="719138" cy="0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59" name="Line 1071"/>
          <p:cNvSpPr>
            <a:spLocks noChangeShapeType="1"/>
          </p:cNvSpPr>
          <p:nvPr/>
        </p:nvSpPr>
        <p:spPr bwMode="auto">
          <a:xfrm>
            <a:off x="4642644" y="4541047"/>
            <a:ext cx="0" cy="431802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60" name="Line 1072"/>
          <p:cNvSpPr>
            <a:spLocks noChangeShapeType="1"/>
          </p:cNvSpPr>
          <p:nvPr/>
        </p:nvSpPr>
        <p:spPr bwMode="auto">
          <a:xfrm>
            <a:off x="4645025" y="4972848"/>
            <a:ext cx="631033" cy="0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61" name="Line 1073"/>
          <p:cNvSpPr>
            <a:spLocks noChangeShapeType="1"/>
          </p:cNvSpPr>
          <p:nvPr/>
        </p:nvSpPr>
        <p:spPr bwMode="auto">
          <a:xfrm>
            <a:off x="5276058" y="4972849"/>
            <a:ext cx="0" cy="400840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62" name="Line 1074"/>
          <p:cNvSpPr>
            <a:spLocks noChangeShapeType="1"/>
          </p:cNvSpPr>
          <p:nvPr/>
        </p:nvSpPr>
        <p:spPr bwMode="auto">
          <a:xfrm flipH="1">
            <a:off x="3810794" y="5373688"/>
            <a:ext cx="1465263" cy="0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63" name="Line 1075"/>
          <p:cNvSpPr>
            <a:spLocks noChangeShapeType="1"/>
          </p:cNvSpPr>
          <p:nvPr/>
        </p:nvSpPr>
        <p:spPr bwMode="auto">
          <a:xfrm>
            <a:off x="3810795" y="5373689"/>
            <a:ext cx="0" cy="481808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64" name="Line 1076"/>
          <p:cNvSpPr>
            <a:spLocks noChangeShapeType="1"/>
          </p:cNvSpPr>
          <p:nvPr/>
        </p:nvSpPr>
        <p:spPr bwMode="auto">
          <a:xfrm>
            <a:off x="3810795" y="5855496"/>
            <a:ext cx="2091258" cy="0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65" name="Line 1077"/>
          <p:cNvSpPr>
            <a:spLocks noChangeShapeType="1"/>
          </p:cNvSpPr>
          <p:nvPr/>
        </p:nvSpPr>
        <p:spPr bwMode="auto">
          <a:xfrm>
            <a:off x="5902052" y="5855497"/>
            <a:ext cx="0" cy="526254"/>
          </a:xfrm>
          <a:prstGeom prst="line">
            <a:avLst/>
          </a:prstGeom>
          <a:noFill/>
          <a:ln w="28575" cap="rnd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noAutofit/>
          </a:bodyPr>
          <a:lstStyle/>
          <a:p>
            <a:endParaRPr lang="zh-CN" altLang="en-US"/>
          </a:p>
        </p:txBody>
      </p:sp>
      <p:sp>
        <p:nvSpPr>
          <p:cNvPr id="1370166" name="AutoShape 1078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8388350" y="476250"/>
            <a:ext cx="576263" cy="576263"/>
          </a:xfrm>
          <a:prstGeom prst="actionButtonReturn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CF0C9656-B635-451B-8F00-7F943719A726}"/>
              </a:ext>
            </a:extLst>
          </p:cNvPr>
          <p:cNvSpPr/>
          <p:nvPr/>
        </p:nvSpPr>
        <p:spPr bwMode="auto">
          <a:xfrm>
            <a:off x="1115617" y="2838184"/>
            <a:ext cx="2334308" cy="792088"/>
          </a:xfrm>
          <a:prstGeom prst="roundRect">
            <a:avLst>
              <a:gd name="adj" fmla="val 14111"/>
            </a:avLst>
          </a:prstGeom>
          <a:noFill/>
          <a:ln w="28575" cap="flat" cmpd="sng" algn="ctr">
            <a:solidFill>
              <a:srgbClr val="00FFFF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FF8BC185-5068-4D17-B6D4-100C8B808733}"/>
              </a:ext>
            </a:extLst>
          </p:cNvPr>
          <p:cNvCxnSpPr>
            <a:cxnSpLocks/>
          </p:cNvCxnSpPr>
          <p:nvPr/>
        </p:nvCxnSpPr>
        <p:spPr bwMode="auto">
          <a:xfrm>
            <a:off x="1259632" y="6264744"/>
            <a:ext cx="4608512" cy="0"/>
          </a:xfrm>
          <a:prstGeom prst="line">
            <a:avLst/>
          </a:prstGeom>
          <a:noFill/>
          <a:ln w="38100" cap="flat" cmpd="sng" algn="ctr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62756301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014232-A959-4142-8347-915FADD61E95}" type="slidenum">
              <a:rPr lang="zh-CN" altLang="en-US"/>
              <a:pPr/>
              <a:t>40</a:t>
            </a:fld>
            <a:endParaRPr lang="en-US" altLang="zh-CN"/>
          </a:p>
        </p:txBody>
      </p:sp>
      <p:sp>
        <p:nvSpPr>
          <p:cNvPr id="137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三、海明码        </a:t>
            </a:r>
            <a:r>
              <a:rPr lang="en-US" altLang="zh-CN" dirty="0">
                <a:solidFill>
                  <a:srgbClr val="CC0066"/>
                </a:solidFill>
              </a:rPr>
              <a:t>2. </a:t>
            </a:r>
            <a:r>
              <a:rPr lang="zh-CN" altLang="en-US" dirty="0">
                <a:solidFill>
                  <a:srgbClr val="CC0066"/>
                </a:solidFill>
              </a:rPr>
              <a:t>总结</a:t>
            </a:r>
          </a:p>
        </p:txBody>
      </p:sp>
      <p:sp>
        <p:nvSpPr>
          <p:cNvPr id="137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6725" y="692150"/>
            <a:ext cx="8353425" cy="5905500"/>
          </a:xfrm>
        </p:spPr>
        <p:txBody>
          <a:bodyPr/>
          <a:lstStyle/>
          <a:p>
            <a:r>
              <a:rPr lang="zh-CN" altLang="en-US">
                <a:solidFill>
                  <a:srgbClr val="FF0066"/>
                </a:solidFill>
                <a:ea typeface="黑体" pitchFamily="2" charset="-122"/>
                <a:cs typeface="Times New Roman" pitchFamily="18" charset="0"/>
              </a:rPr>
              <a:t>发送端</a:t>
            </a:r>
            <a:r>
              <a:rPr lang="zh-CN" altLang="en-US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如何产生</a:t>
            </a:r>
            <a:r>
              <a:rPr lang="en-US" altLang="zh-CN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8</a:t>
            </a:r>
            <a:r>
              <a:rPr lang="zh-CN" altLang="en-US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位或</a:t>
            </a:r>
            <a:r>
              <a:rPr lang="en-US" altLang="zh-CN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16</a:t>
            </a:r>
            <a:r>
              <a:rPr lang="zh-CN" altLang="en-US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位数据的海明码？</a:t>
            </a:r>
          </a:p>
          <a:p>
            <a:pPr lvl="1"/>
            <a:r>
              <a:rPr lang="zh-CN" altLang="en-US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假定所有的校验位</a:t>
            </a:r>
            <a:r>
              <a:rPr lang="en-US" altLang="zh-CN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H</a:t>
            </a:r>
            <a:r>
              <a:rPr lang="en-US" altLang="zh-CN" baseline="-30000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i</a:t>
            </a:r>
            <a:r>
              <a:rPr lang="zh-CN" altLang="en-US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均为</a:t>
            </a:r>
            <a:r>
              <a:rPr lang="en-US" altLang="zh-CN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0</a:t>
            </a:r>
            <a:r>
              <a:rPr lang="zh-CN" altLang="en-US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，计算出校验方程</a:t>
            </a:r>
            <a:r>
              <a:rPr lang="en-US" altLang="zh-CN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P</a:t>
            </a:r>
            <a:r>
              <a:rPr lang="en-US" altLang="zh-CN" baseline="-30000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rgbClr val="000000"/>
                </a:solidFill>
                <a:latin typeface="宋体" charset="-122"/>
                <a:ea typeface="黑体" pitchFamily="2" charset="-122"/>
                <a:cs typeface="Times New Roman" pitchFamily="18" charset="0"/>
              </a:rPr>
              <a:t>(</a:t>
            </a:r>
            <a:r>
              <a:rPr lang="en-US" altLang="zh-CN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i</a:t>
            </a:r>
            <a:r>
              <a:rPr lang="zh-CN" altLang="en-US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＝</a:t>
            </a:r>
            <a:r>
              <a:rPr lang="en-US" altLang="zh-CN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0</a:t>
            </a:r>
            <a:r>
              <a:rPr lang="zh-CN" altLang="en-US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～</a:t>
            </a:r>
            <a:r>
              <a:rPr lang="en-US" altLang="zh-CN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4</a:t>
            </a:r>
            <a:r>
              <a:rPr lang="en-US" altLang="zh-CN">
                <a:solidFill>
                  <a:srgbClr val="000000"/>
                </a:solidFill>
                <a:latin typeface="宋体" charset="-122"/>
                <a:ea typeface="黑体" pitchFamily="2" charset="-122"/>
                <a:cs typeface="Times New Roman" pitchFamily="18" charset="0"/>
              </a:rPr>
              <a:t>)</a:t>
            </a:r>
            <a:r>
              <a:rPr lang="zh-CN" altLang="en-US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；</a:t>
            </a:r>
          </a:p>
          <a:p>
            <a:pPr lvl="1"/>
            <a:r>
              <a:rPr lang="zh-CN" altLang="en-US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将计算出来的</a:t>
            </a:r>
            <a:r>
              <a:rPr lang="en-US" altLang="zh-CN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P</a:t>
            </a:r>
            <a:r>
              <a:rPr lang="en-US" altLang="zh-CN" baseline="-30000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i</a:t>
            </a:r>
            <a:r>
              <a:rPr lang="zh-CN" altLang="en-US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看成相应的</a:t>
            </a:r>
            <a:r>
              <a:rPr lang="en-US" altLang="zh-CN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H</a:t>
            </a:r>
            <a:r>
              <a:rPr lang="en-US" altLang="zh-CN" baseline="-30000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i</a:t>
            </a:r>
            <a:r>
              <a:rPr lang="zh-CN" altLang="en-US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，填入对应的编码位置。</a:t>
            </a:r>
          </a:p>
          <a:p>
            <a:r>
              <a:rPr lang="zh-CN" altLang="en-US">
                <a:solidFill>
                  <a:srgbClr val="FF0066"/>
                </a:solidFill>
                <a:ea typeface="黑体" pitchFamily="2" charset="-122"/>
                <a:cs typeface="Times New Roman" pitchFamily="18" charset="0"/>
              </a:rPr>
              <a:t>接收端</a:t>
            </a:r>
            <a:r>
              <a:rPr lang="zh-CN" altLang="en-US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如何</a:t>
            </a:r>
            <a:r>
              <a:rPr lang="zh-CN" altLang="en-US">
                <a:solidFill>
                  <a:srgbClr val="0000FF"/>
                </a:solidFill>
                <a:ea typeface="黑体" pitchFamily="2" charset="-122"/>
                <a:cs typeface="Times New Roman" pitchFamily="18" charset="0"/>
              </a:rPr>
              <a:t>校验</a:t>
            </a:r>
            <a:r>
              <a:rPr lang="zh-CN" altLang="en-US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及</a:t>
            </a:r>
            <a:r>
              <a:rPr lang="zh-CN" altLang="en-US">
                <a:solidFill>
                  <a:srgbClr val="0000FF"/>
                </a:solidFill>
                <a:ea typeface="黑体" pitchFamily="2" charset="-122"/>
                <a:cs typeface="Times New Roman" pitchFamily="18" charset="0"/>
              </a:rPr>
              <a:t>纠错</a:t>
            </a:r>
            <a:r>
              <a:rPr lang="zh-CN" altLang="en-US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？</a:t>
            </a:r>
          </a:p>
          <a:p>
            <a:pPr lvl="1">
              <a:buFont typeface="Wingdings" pitchFamily="2" charset="2"/>
              <a:buNone/>
            </a:pPr>
            <a:r>
              <a:rPr lang="zh-CN" altLang="en-US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将接收到的编码字的各位带入校验方程：</a:t>
            </a:r>
          </a:p>
          <a:p>
            <a:pPr lvl="1"/>
            <a:r>
              <a:rPr lang="zh-CN" altLang="en-US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若各校验方程的计算结果均为</a:t>
            </a:r>
            <a:r>
              <a:rPr lang="en-US" altLang="zh-CN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0</a:t>
            </a:r>
            <a:r>
              <a:rPr lang="zh-CN" altLang="en-US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，则数据正确；</a:t>
            </a:r>
          </a:p>
          <a:p>
            <a:pPr lvl="1"/>
            <a:r>
              <a:rPr lang="zh-CN" altLang="en-US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若计算结果不为</a:t>
            </a:r>
            <a:r>
              <a:rPr lang="en-US" altLang="zh-CN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0</a:t>
            </a:r>
            <a:r>
              <a:rPr lang="zh-CN" altLang="en-US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，则它们的编码值</a:t>
            </a:r>
            <a:r>
              <a:rPr lang="en-US" altLang="zh-CN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P</a:t>
            </a:r>
            <a:r>
              <a:rPr lang="zh-CN" altLang="en-US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（</a:t>
            </a:r>
            <a:r>
              <a:rPr lang="en-US" altLang="zh-CN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P</a:t>
            </a:r>
            <a:r>
              <a:rPr lang="zh-CN" altLang="en-US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＝</a:t>
            </a:r>
            <a:r>
              <a:rPr lang="en-US" altLang="zh-CN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P</a:t>
            </a:r>
            <a:r>
              <a:rPr lang="en-US" altLang="zh-CN" baseline="-30000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4</a:t>
            </a:r>
            <a:r>
              <a:rPr lang="en-US" altLang="zh-CN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P</a:t>
            </a:r>
            <a:r>
              <a:rPr lang="en-US" altLang="zh-CN" baseline="-30000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3</a:t>
            </a:r>
            <a:r>
              <a:rPr lang="en-US" altLang="zh-CN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P</a:t>
            </a:r>
            <a:r>
              <a:rPr lang="en-US" altLang="zh-CN" baseline="-30000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2</a:t>
            </a:r>
            <a:r>
              <a:rPr lang="en-US" altLang="zh-CN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P</a:t>
            </a:r>
            <a:r>
              <a:rPr lang="en-US" altLang="zh-CN" baseline="-30000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1</a:t>
            </a:r>
            <a:r>
              <a:rPr lang="en-US" altLang="zh-CN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P</a:t>
            </a:r>
            <a:r>
              <a:rPr lang="en-US" altLang="zh-CN" baseline="-30000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0</a:t>
            </a:r>
            <a:r>
              <a:rPr lang="zh-CN" altLang="en-US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）就表示出错位的位置编号；</a:t>
            </a:r>
          </a:p>
          <a:p>
            <a:pPr lvl="1"/>
            <a:r>
              <a:rPr lang="zh-CN" altLang="en-US">
                <a:solidFill>
                  <a:srgbClr val="000000"/>
                </a:solidFill>
                <a:ea typeface="黑体" pitchFamily="2" charset="-122"/>
                <a:cs typeface="Times New Roman" pitchFamily="18" charset="0"/>
              </a:rPr>
              <a:t>根据出错的位置编号，将编码字中的对应位取反即可实现纠错。 </a:t>
            </a:r>
          </a:p>
        </p:txBody>
      </p:sp>
      <p:sp>
        <p:nvSpPr>
          <p:cNvPr id="1371140" name="AutoShape 4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388350" y="477838"/>
            <a:ext cx="576263" cy="574675"/>
          </a:xfrm>
          <a:prstGeom prst="actionButtonInformation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EB30AC-E0CE-4422-929A-3C0052A9FDF0}" type="slidenum">
              <a:rPr lang="zh-CN" altLang="en-US"/>
              <a:pPr/>
              <a:t>41</a:t>
            </a:fld>
            <a:endParaRPr lang="en-US" altLang="zh-CN"/>
          </a:p>
        </p:txBody>
      </p:sp>
      <p:sp>
        <p:nvSpPr>
          <p:cNvPr id="137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三、海明码        </a:t>
            </a:r>
            <a:r>
              <a:rPr lang="en-US" altLang="zh-CN" dirty="0">
                <a:solidFill>
                  <a:srgbClr val="CC0066"/>
                </a:solidFill>
              </a:rPr>
              <a:t>2. </a:t>
            </a:r>
            <a:r>
              <a:rPr lang="zh-CN" altLang="en-US" dirty="0">
                <a:solidFill>
                  <a:srgbClr val="CC0066"/>
                </a:solidFill>
              </a:rPr>
              <a:t>总结</a:t>
            </a:r>
          </a:p>
        </p:txBody>
      </p:sp>
      <p:sp>
        <p:nvSpPr>
          <p:cNvPr id="137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620713"/>
            <a:ext cx="8497888" cy="5976937"/>
          </a:xfrm>
        </p:spPr>
        <p:txBody>
          <a:bodyPr/>
          <a:lstStyle/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/>
              <a:t>【</a:t>
            </a:r>
            <a:r>
              <a:rPr lang="zh-CN" altLang="pt-BR" dirty="0"/>
              <a:t>例</a:t>
            </a:r>
            <a:r>
              <a:rPr lang="pt-BR" altLang="zh-CN" dirty="0"/>
              <a:t>】</a:t>
            </a:r>
            <a:r>
              <a:rPr lang="zh-CN" altLang="pt-BR" dirty="0"/>
              <a:t>利用上述构造海明码的步骤，采用</a:t>
            </a:r>
            <a:r>
              <a:rPr lang="zh-CN" altLang="pt-BR" dirty="0">
                <a:solidFill>
                  <a:srgbClr val="FF0000"/>
                </a:solidFill>
              </a:rPr>
              <a:t>偶校验</a:t>
            </a:r>
            <a:r>
              <a:rPr lang="zh-CN" altLang="pt-BR" dirty="0"/>
              <a:t>，</a:t>
            </a:r>
            <a:br>
              <a:rPr lang="en-US" altLang="zh-CN" dirty="0"/>
            </a:br>
            <a:r>
              <a:rPr lang="zh-CN" altLang="pt-BR" dirty="0"/>
              <a:t>对</a:t>
            </a:r>
            <a:r>
              <a:rPr lang="pt-BR" altLang="zh-CN" dirty="0"/>
              <a:t>8</a:t>
            </a:r>
            <a:r>
              <a:rPr lang="zh-CN" altLang="pt-BR" dirty="0"/>
              <a:t>位</a:t>
            </a:r>
            <a:r>
              <a:rPr lang="pt-BR" altLang="zh-CN" dirty="0"/>
              <a:t>ASCII</a:t>
            </a:r>
            <a:r>
              <a:rPr lang="zh-CN" altLang="pt-BR" dirty="0"/>
              <a:t>字符“</a:t>
            </a:r>
            <a:r>
              <a:rPr lang="pt-BR" altLang="zh-CN" dirty="0">
                <a:solidFill>
                  <a:srgbClr val="0000FF"/>
                </a:solidFill>
              </a:rPr>
              <a:t>M</a:t>
            </a:r>
            <a:r>
              <a:rPr lang="pt-BR" altLang="zh-CN" dirty="0"/>
              <a:t>”</a:t>
            </a:r>
            <a:r>
              <a:rPr lang="zh-CN" altLang="pt-BR" dirty="0"/>
              <a:t>进行编码（最高位为</a:t>
            </a:r>
            <a:r>
              <a:rPr lang="pt-BR" altLang="zh-CN" dirty="0"/>
              <a:t>0</a:t>
            </a:r>
            <a:r>
              <a:rPr lang="zh-CN" altLang="pt-BR" dirty="0"/>
              <a:t>）。</a:t>
            </a:r>
            <a:br>
              <a:rPr lang="en-US" altLang="zh-CN" dirty="0"/>
            </a:br>
            <a:r>
              <a:rPr lang="zh-CN" altLang="pt-BR" dirty="0"/>
              <a:t>人为地引入一个</a:t>
            </a:r>
            <a:r>
              <a:rPr lang="pt-BR" altLang="zh-CN" dirty="0"/>
              <a:t>1</a:t>
            </a:r>
            <a:r>
              <a:rPr lang="zh-CN" altLang="pt-BR" dirty="0"/>
              <a:t>位错误，说明如何找出这个错误。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/>
              <a:t>【</a:t>
            </a:r>
            <a:r>
              <a:rPr lang="zh-CN" altLang="pt-BR" dirty="0"/>
              <a:t>解</a:t>
            </a:r>
            <a:r>
              <a:rPr lang="pt-BR" altLang="zh-CN" dirty="0"/>
              <a:t>】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zh-CN" altLang="pt-BR" dirty="0"/>
              <a:t>字符“</a:t>
            </a:r>
            <a:r>
              <a:rPr lang="pt-BR" altLang="zh-CN" dirty="0"/>
              <a:t>M”</a:t>
            </a:r>
            <a:r>
              <a:rPr lang="zh-CN" altLang="pt-BR" dirty="0"/>
              <a:t>的</a:t>
            </a:r>
            <a:r>
              <a:rPr lang="pt-BR" altLang="zh-CN" dirty="0"/>
              <a:t>ASCII</a:t>
            </a:r>
            <a:r>
              <a:rPr lang="zh-CN" altLang="pt-BR" dirty="0"/>
              <a:t>编码为</a:t>
            </a:r>
            <a:r>
              <a:rPr lang="pt-BR" altLang="zh-CN" dirty="0">
                <a:solidFill>
                  <a:srgbClr val="0000FF"/>
                </a:solidFill>
                <a:latin typeface="Arial" charset="0"/>
              </a:rPr>
              <a:t>01001101</a:t>
            </a:r>
            <a:r>
              <a:rPr lang="zh-CN" altLang="pt-BR" dirty="0"/>
              <a:t>。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假定</a:t>
            </a:r>
            <a:r>
              <a:rPr lang="en-US" altLang="zh-CN" dirty="0">
                <a:solidFill>
                  <a:srgbClr val="000000"/>
                </a:solidFill>
              </a:rPr>
              <a:t>H</a:t>
            </a:r>
            <a:r>
              <a:rPr lang="en-US" altLang="zh-CN" baseline="-30000" dirty="0">
                <a:solidFill>
                  <a:srgbClr val="000000"/>
                </a:solidFill>
              </a:rPr>
              <a:t>0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～</a:t>
            </a:r>
            <a:r>
              <a:rPr lang="en-US" altLang="zh-CN" dirty="0">
                <a:solidFill>
                  <a:srgbClr val="000000"/>
                </a:solidFill>
              </a:rPr>
              <a:t>H</a:t>
            </a:r>
            <a:r>
              <a:rPr lang="en-US" altLang="zh-CN" baseline="-30000" dirty="0">
                <a:solidFill>
                  <a:srgbClr val="000000"/>
                </a:solidFill>
              </a:rPr>
              <a:t>3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均为</a:t>
            </a:r>
            <a:r>
              <a:rPr lang="en-US" altLang="zh-CN" dirty="0">
                <a:solidFill>
                  <a:srgbClr val="000000"/>
                </a:solidFill>
              </a:rPr>
              <a:t>0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计算</a:t>
            </a:r>
            <a:r>
              <a:rPr lang="en-US" altLang="zh-CN" dirty="0">
                <a:solidFill>
                  <a:srgbClr val="000000"/>
                </a:solidFill>
              </a:rPr>
              <a:t>P</a:t>
            </a:r>
            <a:r>
              <a:rPr lang="en-US" altLang="zh-CN" baseline="-30000" dirty="0">
                <a:solidFill>
                  <a:srgbClr val="000000"/>
                </a:solidFill>
              </a:rPr>
              <a:t>i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：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P</a:t>
            </a:r>
            <a:r>
              <a:rPr lang="en-US" altLang="zh-CN" sz="2400" baseline="-30000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en-US" altLang="zh-CN" sz="2400" baseline="-30000" dirty="0">
                <a:solidFill>
                  <a:srgbClr val="000000"/>
                </a:solidFill>
                <a:cs typeface="Times New Roman" pitchFamily="18" charset="0"/>
              </a:rPr>
              <a:t>6</a:t>
            </a:r>
            <a:r>
              <a:rPr lang="en-US" altLang="zh-CN" sz="2400" dirty="0">
                <a:solidFill>
                  <a:srgbClr val="000000"/>
                </a:solidFill>
              </a:rPr>
              <a:t>⊕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en-US" altLang="zh-CN" sz="2400" baseline="-30000" dirty="0">
                <a:solidFill>
                  <a:srgbClr val="000000"/>
                </a:solidFill>
                <a:cs typeface="Times New Roman" pitchFamily="18" charset="0"/>
              </a:rPr>
              <a:t>4</a:t>
            </a:r>
            <a:r>
              <a:rPr lang="en-US" altLang="zh-CN" sz="2400" dirty="0">
                <a:solidFill>
                  <a:srgbClr val="000000"/>
                </a:solidFill>
              </a:rPr>
              <a:t>⊕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en-US" altLang="zh-CN" sz="2400" baseline="-30000" dirty="0">
                <a:solidFill>
                  <a:srgbClr val="000000"/>
                </a:solidFill>
                <a:cs typeface="Times New Roman" pitchFamily="18" charset="0"/>
              </a:rPr>
              <a:t>3</a:t>
            </a:r>
            <a:r>
              <a:rPr lang="en-US" altLang="zh-CN" sz="2400" dirty="0">
                <a:solidFill>
                  <a:srgbClr val="000000"/>
                </a:solidFill>
              </a:rPr>
              <a:t>⊕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en-US" altLang="zh-CN" sz="2400" baseline="-30000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</a:rPr>
              <a:t>⊕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en-US" altLang="zh-CN" sz="2400" baseline="-30000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en-US" altLang="zh-CN" sz="2400" dirty="0">
                <a:solidFill>
                  <a:srgbClr val="000000"/>
                </a:solidFill>
              </a:rPr>
              <a:t>⊕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H</a:t>
            </a:r>
            <a:r>
              <a:rPr lang="en-US" altLang="zh-CN" sz="2400" baseline="-30000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</a:rPr>
              <a:t>⊕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en-US" altLang="zh-CN" sz="2400" dirty="0">
                <a:solidFill>
                  <a:srgbClr val="000000"/>
                </a:solidFill>
              </a:rPr>
              <a:t>⊕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</a:rPr>
              <a:t>⊕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en-US" altLang="zh-CN" sz="2400" dirty="0">
                <a:solidFill>
                  <a:srgbClr val="000000"/>
                </a:solidFill>
              </a:rPr>
              <a:t>⊕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</a:rPr>
              <a:t>⊕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sz="2400" dirty="0">
                <a:solidFill>
                  <a:srgbClr val="CC0066"/>
                </a:solidFill>
                <a:cs typeface="Times New Roman" pitchFamily="18" charset="0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sz="2400" dirty="0">
                <a:solidFill>
                  <a:srgbClr val="CC0066"/>
                </a:solidFill>
                <a:cs typeface="Times New Roman" pitchFamily="18" charset="0"/>
              </a:rPr>
              <a:t>H</a:t>
            </a:r>
            <a:r>
              <a:rPr lang="en-US" altLang="zh-CN" sz="2400" baseline="-25000" dirty="0">
                <a:solidFill>
                  <a:srgbClr val="CC0066"/>
                </a:solidFill>
                <a:cs typeface="Times New Roman" pitchFamily="18" charset="0"/>
              </a:rPr>
              <a:t>0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P</a:t>
            </a:r>
            <a:r>
              <a:rPr lang="en-US" altLang="zh-CN" sz="2400" baseline="-30000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en-US" altLang="zh-CN" sz="2400" baseline="-30000" dirty="0">
                <a:solidFill>
                  <a:srgbClr val="000000"/>
                </a:solidFill>
                <a:cs typeface="Times New Roman" pitchFamily="18" charset="0"/>
              </a:rPr>
              <a:t>6</a:t>
            </a:r>
            <a:r>
              <a:rPr lang="en-US" altLang="zh-CN" sz="2400" dirty="0">
                <a:solidFill>
                  <a:srgbClr val="000000"/>
                </a:solidFill>
              </a:rPr>
              <a:t>⊕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en-US" altLang="zh-CN" sz="2400" baseline="-30000" dirty="0">
                <a:solidFill>
                  <a:srgbClr val="000000"/>
                </a:solidFill>
                <a:cs typeface="Times New Roman" pitchFamily="18" charset="0"/>
              </a:rPr>
              <a:t>5</a:t>
            </a:r>
            <a:r>
              <a:rPr lang="en-US" altLang="zh-CN" sz="2400" dirty="0">
                <a:solidFill>
                  <a:srgbClr val="000000"/>
                </a:solidFill>
              </a:rPr>
              <a:t>⊕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en-US" altLang="zh-CN" sz="2400" baseline="-30000" dirty="0">
                <a:solidFill>
                  <a:srgbClr val="000000"/>
                </a:solidFill>
                <a:cs typeface="Times New Roman" pitchFamily="18" charset="0"/>
              </a:rPr>
              <a:t>3</a:t>
            </a:r>
            <a:r>
              <a:rPr lang="en-US" altLang="zh-CN" sz="2400" dirty="0">
                <a:solidFill>
                  <a:srgbClr val="000000"/>
                </a:solidFill>
              </a:rPr>
              <a:t>⊕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en-US" altLang="zh-CN" sz="2400" baseline="-30000" dirty="0">
                <a:solidFill>
                  <a:srgbClr val="000000"/>
                </a:solidFill>
                <a:cs typeface="Times New Roman" pitchFamily="18" charset="0"/>
              </a:rPr>
              <a:t>2</a:t>
            </a:r>
            <a:r>
              <a:rPr lang="en-US" altLang="zh-CN" sz="2400" dirty="0">
                <a:solidFill>
                  <a:srgbClr val="000000"/>
                </a:solidFill>
              </a:rPr>
              <a:t>⊕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en-US" altLang="zh-CN" sz="2400" baseline="-30000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en-US" altLang="zh-CN" sz="2400" dirty="0">
                <a:solidFill>
                  <a:srgbClr val="000000"/>
                </a:solidFill>
              </a:rPr>
              <a:t>⊕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H</a:t>
            </a:r>
            <a:r>
              <a:rPr lang="en-US" altLang="zh-CN" sz="2400" baseline="-30000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</a:rPr>
              <a:t>⊕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en-US" altLang="zh-CN" sz="2400" dirty="0">
                <a:solidFill>
                  <a:srgbClr val="000000"/>
                </a:solidFill>
              </a:rPr>
              <a:t>⊕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</a:rPr>
              <a:t>⊕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</a:rPr>
              <a:t>⊕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</a:rPr>
              <a:t>⊕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sz="2400" dirty="0">
                <a:solidFill>
                  <a:srgbClr val="CC0066"/>
                </a:solidFill>
                <a:cs typeface="Times New Roman" pitchFamily="18" charset="0"/>
              </a:rPr>
              <a:t>0</a:t>
            </a: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sz="2400" dirty="0">
                <a:solidFill>
                  <a:srgbClr val="CC0066"/>
                </a:solidFill>
                <a:cs typeface="Times New Roman" pitchFamily="18" charset="0"/>
              </a:rPr>
              <a:t>H</a:t>
            </a:r>
            <a:r>
              <a:rPr lang="en-US" altLang="zh-CN" sz="2400" baseline="-25000" dirty="0">
                <a:solidFill>
                  <a:srgbClr val="CC0066"/>
                </a:solidFill>
                <a:cs typeface="Times New Roman" pitchFamily="18" charset="0"/>
              </a:rPr>
              <a:t>1</a:t>
            </a:r>
            <a:endParaRPr lang="en-US" altLang="zh-CN" sz="2400" dirty="0">
              <a:solidFill>
                <a:srgbClr val="CC0066"/>
              </a:solidFill>
              <a:cs typeface="Times New Roman" pitchFamily="18" charset="0"/>
            </a:endParaRP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P</a:t>
            </a:r>
            <a:r>
              <a:rPr lang="en-US" altLang="zh-CN" sz="2400" baseline="-30000" dirty="0">
                <a:solidFill>
                  <a:srgbClr val="000000"/>
                </a:solidFill>
                <a:cs typeface="Times New Roman" pitchFamily="18" charset="0"/>
              </a:rPr>
              <a:t>2</a:t>
            </a: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en-US" altLang="zh-CN" sz="2400" baseline="-30000" dirty="0">
                <a:solidFill>
                  <a:srgbClr val="000000"/>
                </a:solidFill>
                <a:cs typeface="Times New Roman" pitchFamily="18" charset="0"/>
              </a:rPr>
              <a:t>7</a:t>
            </a:r>
            <a:r>
              <a:rPr lang="en-US" altLang="zh-CN" sz="2400" dirty="0">
                <a:solidFill>
                  <a:srgbClr val="000000"/>
                </a:solidFill>
              </a:rPr>
              <a:t>⊕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en-US" altLang="zh-CN" sz="2400" baseline="-30000" dirty="0">
                <a:solidFill>
                  <a:srgbClr val="000000"/>
                </a:solidFill>
                <a:cs typeface="Times New Roman" pitchFamily="18" charset="0"/>
              </a:rPr>
              <a:t>3</a:t>
            </a:r>
            <a:r>
              <a:rPr lang="en-US" altLang="zh-CN" sz="2400" dirty="0">
                <a:solidFill>
                  <a:srgbClr val="000000"/>
                </a:solidFill>
              </a:rPr>
              <a:t>⊕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en-US" altLang="zh-CN" sz="2400" baseline="-30000" dirty="0">
                <a:solidFill>
                  <a:srgbClr val="000000"/>
                </a:solidFill>
                <a:cs typeface="Times New Roman" pitchFamily="18" charset="0"/>
              </a:rPr>
              <a:t>2</a:t>
            </a:r>
            <a:r>
              <a:rPr lang="en-US" altLang="zh-CN" sz="2400" dirty="0">
                <a:solidFill>
                  <a:srgbClr val="000000"/>
                </a:solidFill>
              </a:rPr>
              <a:t>⊕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en-US" altLang="zh-CN" sz="2400" baseline="-30000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</a:rPr>
              <a:t>⊕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H</a:t>
            </a:r>
            <a:r>
              <a:rPr lang="en-US" altLang="zh-CN" sz="2400" baseline="-30000" dirty="0">
                <a:solidFill>
                  <a:srgbClr val="000000"/>
                </a:solidFill>
                <a:cs typeface="Times New Roman" pitchFamily="18" charset="0"/>
              </a:rPr>
              <a:t>2</a:t>
            </a: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en-US" altLang="zh-CN" sz="2400" dirty="0">
                <a:solidFill>
                  <a:srgbClr val="000000"/>
                </a:solidFill>
              </a:rPr>
              <a:t>⊕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</a:rPr>
              <a:t>⊕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</a:rPr>
              <a:t>⊕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en-US" altLang="zh-CN" sz="2400" dirty="0">
                <a:solidFill>
                  <a:srgbClr val="000000"/>
                </a:solidFill>
              </a:rPr>
              <a:t>⊕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sz="2400" dirty="0">
                <a:solidFill>
                  <a:srgbClr val="CC0066"/>
                </a:solidFill>
                <a:cs typeface="Times New Roman" pitchFamily="18" charset="0"/>
              </a:rPr>
              <a:t>0</a:t>
            </a: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sz="2400" dirty="0">
                <a:solidFill>
                  <a:srgbClr val="CC0066"/>
                </a:solidFill>
                <a:cs typeface="Times New Roman" pitchFamily="18" charset="0"/>
              </a:rPr>
              <a:t>H</a:t>
            </a:r>
            <a:r>
              <a:rPr lang="en-US" altLang="zh-CN" sz="2400" baseline="-25000" dirty="0">
                <a:solidFill>
                  <a:srgbClr val="CC0066"/>
                </a:solidFill>
                <a:cs typeface="Times New Roman" pitchFamily="18" charset="0"/>
              </a:rPr>
              <a:t>2</a:t>
            </a:r>
            <a:endParaRPr lang="en-US" altLang="zh-CN" sz="2400" dirty="0">
              <a:solidFill>
                <a:srgbClr val="CC0066"/>
              </a:solidFill>
              <a:cs typeface="Times New Roman" pitchFamily="18" charset="0"/>
            </a:endParaRP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P</a:t>
            </a:r>
            <a:r>
              <a:rPr lang="en-US" altLang="zh-CN" sz="2400" baseline="-30000" dirty="0">
                <a:solidFill>
                  <a:srgbClr val="000000"/>
                </a:solidFill>
                <a:cs typeface="Times New Roman" pitchFamily="18" charset="0"/>
              </a:rPr>
              <a:t>3</a:t>
            </a: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en-US" altLang="zh-CN" sz="2400" baseline="-30000" dirty="0">
                <a:solidFill>
                  <a:srgbClr val="000000"/>
                </a:solidFill>
                <a:cs typeface="Times New Roman" pitchFamily="18" charset="0"/>
              </a:rPr>
              <a:t>7</a:t>
            </a:r>
            <a:r>
              <a:rPr lang="en-US" altLang="zh-CN" sz="2400" dirty="0">
                <a:solidFill>
                  <a:srgbClr val="000000"/>
                </a:solidFill>
              </a:rPr>
              <a:t>⊕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en-US" altLang="zh-CN" sz="2400" baseline="-30000" dirty="0">
                <a:solidFill>
                  <a:srgbClr val="000000"/>
                </a:solidFill>
                <a:cs typeface="Times New Roman" pitchFamily="18" charset="0"/>
              </a:rPr>
              <a:t>6</a:t>
            </a:r>
            <a:r>
              <a:rPr lang="en-US" altLang="zh-CN" sz="2400" dirty="0">
                <a:solidFill>
                  <a:srgbClr val="000000"/>
                </a:solidFill>
              </a:rPr>
              <a:t>⊕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en-US" altLang="zh-CN" sz="2400" baseline="-30000" dirty="0">
                <a:solidFill>
                  <a:srgbClr val="000000"/>
                </a:solidFill>
                <a:cs typeface="Times New Roman" pitchFamily="18" charset="0"/>
              </a:rPr>
              <a:t>5</a:t>
            </a:r>
            <a:r>
              <a:rPr lang="en-US" altLang="zh-CN" sz="2400" dirty="0">
                <a:solidFill>
                  <a:srgbClr val="000000"/>
                </a:solidFill>
              </a:rPr>
              <a:t>⊕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en-US" altLang="zh-CN" sz="2400" baseline="-30000" dirty="0">
                <a:solidFill>
                  <a:srgbClr val="000000"/>
                </a:solidFill>
                <a:cs typeface="Times New Roman" pitchFamily="18" charset="0"/>
              </a:rPr>
              <a:t>4</a:t>
            </a:r>
            <a:r>
              <a:rPr lang="en-US" altLang="zh-CN" sz="2400" dirty="0">
                <a:solidFill>
                  <a:srgbClr val="000000"/>
                </a:solidFill>
              </a:rPr>
              <a:t>⊕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H</a:t>
            </a:r>
            <a:r>
              <a:rPr lang="en-US" altLang="zh-CN" sz="2400" baseline="-30000" dirty="0">
                <a:solidFill>
                  <a:srgbClr val="000000"/>
                </a:solidFill>
                <a:cs typeface="Times New Roman" pitchFamily="18" charset="0"/>
              </a:rPr>
              <a:t>3</a:t>
            </a: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en-US" altLang="zh-CN" sz="2400" dirty="0">
                <a:solidFill>
                  <a:srgbClr val="000000"/>
                </a:solidFill>
              </a:rPr>
              <a:t>⊕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en-US" altLang="zh-CN" sz="2400" dirty="0">
                <a:solidFill>
                  <a:srgbClr val="000000"/>
                </a:solidFill>
              </a:rPr>
              <a:t>⊕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en-US" altLang="zh-CN" sz="2400" dirty="0">
                <a:solidFill>
                  <a:srgbClr val="000000"/>
                </a:solidFill>
              </a:rPr>
              <a:t>⊕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en-US" altLang="zh-CN" sz="2400" dirty="0">
                <a:solidFill>
                  <a:srgbClr val="000000"/>
                </a:solidFill>
              </a:rPr>
              <a:t>⊕</a:t>
            </a:r>
            <a:r>
              <a:rPr lang="en-US" altLang="zh-CN" sz="2400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sz="2400" dirty="0">
                <a:solidFill>
                  <a:srgbClr val="CC0066"/>
                </a:solidFill>
                <a:cs typeface="Times New Roman" pitchFamily="18" charset="0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sz="2400" dirty="0">
                <a:solidFill>
                  <a:srgbClr val="CC0066"/>
                </a:solidFill>
                <a:cs typeface="Times New Roman" pitchFamily="18" charset="0"/>
              </a:rPr>
              <a:t>H</a:t>
            </a:r>
            <a:r>
              <a:rPr lang="en-US" altLang="zh-CN" sz="2400" baseline="-25000" dirty="0">
                <a:solidFill>
                  <a:srgbClr val="CC0066"/>
                </a:solidFill>
                <a:cs typeface="Times New Roman" pitchFamily="18" charset="0"/>
              </a:rPr>
              <a:t>3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∴ ASCII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字符“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M”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对应的海明码编码字为：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C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7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6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5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4</a:t>
            </a:r>
            <a:r>
              <a:rPr lang="pt-BR" altLang="zh-CN" dirty="0">
                <a:solidFill>
                  <a:srgbClr val="FF0066"/>
                </a:solidFill>
                <a:cs typeface="Times New Roman" pitchFamily="18" charset="0"/>
              </a:rPr>
              <a:t>H</a:t>
            </a:r>
            <a:r>
              <a:rPr lang="pt-BR" altLang="zh-CN" baseline="-30000" dirty="0">
                <a:solidFill>
                  <a:srgbClr val="FF0066"/>
                </a:solidFill>
                <a:cs typeface="Times New Roman" pitchFamily="18" charset="0"/>
              </a:rPr>
              <a:t>3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3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2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pt-BR" altLang="zh-CN" dirty="0">
                <a:solidFill>
                  <a:srgbClr val="FF0066"/>
                </a:solidFill>
                <a:cs typeface="Times New Roman" pitchFamily="18" charset="0"/>
              </a:rPr>
              <a:t>H</a:t>
            </a:r>
            <a:r>
              <a:rPr lang="pt-BR" altLang="zh-CN" baseline="-30000" dirty="0">
                <a:solidFill>
                  <a:srgbClr val="FF0066"/>
                </a:solidFill>
                <a:cs typeface="Times New Roman" pitchFamily="18" charset="0"/>
              </a:rPr>
              <a:t>2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pt-BR" altLang="zh-CN" dirty="0">
                <a:solidFill>
                  <a:srgbClr val="FF0066"/>
                </a:solidFill>
                <a:cs typeface="Times New Roman" pitchFamily="18" charset="0"/>
              </a:rPr>
              <a:t>H</a:t>
            </a:r>
            <a:r>
              <a:rPr lang="pt-BR" altLang="zh-CN" baseline="-30000" dirty="0">
                <a:solidFill>
                  <a:srgbClr val="FF0066"/>
                </a:solidFill>
                <a:cs typeface="Times New Roman" pitchFamily="18" charset="0"/>
              </a:rPr>
              <a:t>1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 </a:t>
            </a:r>
            <a:r>
              <a:rPr lang="pt-BR" altLang="zh-CN" dirty="0">
                <a:solidFill>
                  <a:srgbClr val="FF0066"/>
                </a:solidFill>
                <a:cs typeface="Times New Roman" pitchFamily="18" charset="0"/>
              </a:rPr>
              <a:t>H</a:t>
            </a:r>
            <a:r>
              <a:rPr lang="pt-BR" altLang="zh-CN" baseline="-30000" dirty="0">
                <a:solidFill>
                  <a:srgbClr val="FF0066"/>
                </a:solidFill>
                <a:cs typeface="Times New Roman" pitchFamily="18" charset="0"/>
              </a:rPr>
              <a:t>0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FF"/>
                </a:solidFill>
                <a:latin typeface="Arial" charset="0"/>
                <a:cs typeface="Times New Roman" pitchFamily="18" charset="0"/>
              </a:rPr>
              <a:t>0100</a:t>
            </a:r>
            <a:r>
              <a:rPr lang="pt-BR" altLang="zh-CN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1</a:t>
            </a:r>
            <a:r>
              <a:rPr lang="pt-BR" altLang="zh-CN" dirty="0">
                <a:solidFill>
                  <a:srgbClr val="0000FF"/>
                </a:solidFill>
                <a:latin typeface="Arial" charset="0"/>
                <a:cs typeface="Times New Roman" pitchFamily="18" charset="0"/>
              </a:rPr>
              <a:t>110</a:t>
            </a:r>
            <a:r>
              <a:rPr lang="pt-BR" altLang="zh-CN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0</a:t>
            </a:r>
            <a:r>
              <a:rPr lang="pt-BR" altLang="zh-CN" dirty="0">
                <a:solidFill>
                  <a:srgbClr val="0000FF"/>
                </a:solidFill>
                <a:latin typeface="Arial" charset="0"/>
                <a:cs typeface="Times New Roman" pitchFamily="18" charset="0"/>
              </a:rPr>
              <a:t>1</a:t>
            </a:r>
            <a:r>
              <a:rPr lang="pt-BR" altLang="zh-CN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01</a:t>
            </a:r>
            <a:endParaRPr lang="en-US" altLang="zh-CN" dirty="0">
              <a:solidFill>
                <a:srgbClr val="FF0000"/>
              </a:solidFill>
              <a:latin typeface="Arial" charset="0"/>
              <a:cs typeface="Times New Roman" pitchFamily="18" charset="0"/>
            </a:endParaRPr>
          </a:p>
        </p:txBody>
      </p:sp>
      <p:sp>
        <p:nvSpPr>
          <p:cNvPr id="7" name="AutoShape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754CA8B-AA97-4F3B-9984-3746F4BAB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8350" y="477838"/>
            <a:ext cx="576263" cy="574675"/>
          </a:xfrm>
          <a:prstGeom prst="actionButtonInformation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39ABAC-ACB2-4917-A621-B5ED948282B4}" type="slidenum">
              <a:rPr lang="zh-CN" altLang="en-US"/>
              <a:pPr/>
              <a:t>42</a:t>
            </a:fld>
            <a:endParaRPr lang="en-US" altLang="zh-CN"/>
          </a:p>
        </p:txBody>
      </p:sp>
      <p:sp>
        <p:nvSpPr>
          <p:cNvPr id="137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三、海明码        </a:t>
            </a:r>
            <a:r>
              <a:rPr lang="en-US" altLang="zh-CN" dirty="0">
                <a:solidFill>
                  <a:srgbClr val="CC0066"/>
                </a:solidFill>
              </a:rPr>
              <a:t>2. </a:t>
            </a:r>
            <a:r>
              <a:rPr lang="zh-CN" altLang="en-US" dirty="0">
                <a:solidFill>
                  <a:srgbClr val="CC0066"/>
                </a:solidFill>
              </a:rPr>
              <a:t>总结</a:t>
            </a:r>
          </a:p>
        </p:txBody>
      </p:sp>
      <p:sp>
        <p:nvSpPr>
          <p:cNvPr id="137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620713"/>
            <a:ext cx="8497888" cy="5976937"/>
          </a:xfrm>
        </p:spPr>
        <p:txBody>
          <a:bodyPr/>
          <a:lstStyle/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/>
              <a:t>【</a:t>
            </a:r>
            <a:r>
              <a:rPr lang="zh-CN" altLang="pt-BR" dirty="0"/>
              <a:t>例</a:t>
            </a:r>
            <a:r>
              <a:rPr lang="pt-BR" altLang="zh-CN" dirty="0"/>
              <a:t>】</a:t>
            </a:r>
            <a:r>
              <a:rPr lang="zh-CN" altLang="pt-BR" dirty="0"/>
              <a:t>利用上述构造海明码的步骤，采用</a:t>
            </a:r>
            <a:r>
              <a:rPr lang="zh-CN" altLang="pt-BR" dirty="0">
                <a:solidFill>
                  <a:srgbClr val="FF0000"/>
                </a:solidFill>
              </a:rPr>
              <a:t>偶校验</a:t>
            </a:r>
            <a:r>
              <a:rPr lang="zh-CN" altLang="pt-BR" dirty="0"/>
              <a:t>，</a:t>
            </a:r>
            <a:br>
              <a:rPr lang="en-US" altLang="zh-CN" dirty="0"/>
            </a:br>
            <a:r>
              <a:rPr lang="zh-CN" altLang="pt-BR" dirty="0"/>
              <a:t>对</a:t>
            </a:r>
            <a:r>
              <a:rPr lang="pt-BR" altLang="zh-CN" dirty="0"/>
              <a:t>8</a:t>
            </a:r>
            <a:r>
              <a:rPr lang="zh-CN" altLang="pt-BR" dirty="0"/>
              <a:t>位</a:t>
            </a:r>
            <a:r>
              <a:rPr lang="pt-BR" altLang="zh-CN" dirty="0"/>
              <a:t>ASCII</a:t>
            </a:r>
            <a:r>
              <a:rPr lang="zh-CN" altLang="pt-BR" dirty="0"/>
              <a:t>字符“</a:t>
            </a:r>
            <a:r>
              <a:rPr lang="pt-BR" altLang="zh-CN" dirty="0">
                <a:solidFill>
                  <a:srgbClr val="0000FF"/>
                </a:solidFill>
              </a:rPr>
              <a:t>M</a:t>
            </a:r>
            <a:r>
              <a:rPr lang="pt-BR" altLang="zh-CN" dirty="0"/>
              <a:t>”</a:t>
            </a:r>
            <a:r>
              <a:rPr lang="zh-CN" altLang="pt-BR" dirty="0"/>
              <a:t>进行编码（最高位为</a:t>
            </a:r>
            <a:r>
              <a:rPr lang="pt-BR" altLang="zh-CN" dirty="0"/>
              <a:t>0</a:t>
            </a:r>
            <a:r>
              <a:rPr lang="zh-CN" altLang="pt-BR" dirty="0"/>
              <a:t>）。</a:t>
            </a:r>
            <a:br>
              <a:rPr lang="en-US" altLang="zh-CN" dirty="0"/>
            </a:br>
            <a:r>
              <a:rPr lang="zh-CN" altLang="pt-BR" dirty="0"/>
              <a:t>人为地引入一个</a:t>
            </a:r>
            <a:r>
              <a:rPr lang="pt-BR" altLang="zh-CN" dirty="0"/>
              <a:t>1</a:t>
            </a:r>
            <a:r>
              <a:rPr lang="zh-CN" altLang="pt-BR" dirty="0"/>
              <a:t>位错误，说明如何找出这个错误。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/>
              <a:t>【</a:t>
            </a:r>
            <a:r>
              <a:rPr lang="zh-CN" altLang="pt-BR" dirty="0"/>
              <a:t>解</a:t>
            </a:r>
            <a:r>
              <a:rPr lang="pt-BR" altLang="zh-CN" dirty="0"/>
              <a:t>】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在接收端，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根据接收到的编码字求得校验方程</a:t>
            </a:r>
            <a:r>
              <a:rPr lang="en-US" altLang="zh-CN" dirty="0">
                <a:solidFill>
                  <a:srgbClr val="000000"/>
                </a:solidFill>
              </a:rPr>
              <a:t>P</a:t>
            </a:r>
            <a:r>
              <a:rPr lang="en-US" altLang="zh-CN" baseline="-30000" dirty="0">
                <a:solidFill>
                  <a:srgbClr val="000000"/>
                </a:solidFill>
              </a:rPr>
              <a:t>i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（</a:t>
            </a:r>
            <a:r>
              <a:rPr lang="en-US" altLang="zh-CN" dirty="0" err="1">
                <a:solidFill>
                  <a:srgbClr val="000000"/>
                </a:solidFill>
              </a:rPr>
              <a:t>i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dirty="0">
                <a:solidFill>
                  <a:srgbClr val="000000"/>
                </a:solidFill>
              </a:rPr>
              <a:t>0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～</a:t>
            </a:r>
            <a:r>
              <a:rPr lang="en-US" altLang="zh-CN" dirty="0">
                <a:solidFill>
                  <a:srgbClr val="000000"/>
                </a:solidFill>
              </a:rPr>
              <a:t>4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），校验方程的编码值</a:t>
            </a:r>
            <a:r>
              <a:rPr lang="en-US" altLang="zh-CN" dirty="0">
                <a:solidFill>
                  <a:srgbClr val="000000"/>
                </a:solidFill>
              </a:rPr>
              <a:t>P</a:t>
            </a:r>
            <a:r>
              <a:rPr lang="en-US" altLang="zh-CN" dirty="0">
                <a:solidFill>
                  <a:srgbClr val="000000"/>
                </a:solidFill>
                <a:latin typeface="宋体" charset="-122"/>
                <a:cs typeface="Times New Roman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</a:rPr>
              <a:t>P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dirty="0">
                <a:solidFill>
                  <a:srgbClr val="000000"/>
                </a:solidFill>
              </a:rPr>
              <a:t>P</a:t>
            </a:r>
            <a:r>
              <a:rPr lang="en-US" altLang="zh-CN" baseline="-30000" dirty="0">
                <a:solidFill>
                  <a:srgbClr val="000000"/>
                </a:solidFill>
              </a:rPr>
              <a:t>4</a:t>
            </a:r>
            <a:r>
              <a:rPr lang="en-US" altLang="zh-CN" dirty="0">
                <a:solidFill>
                  <a:srgbClr val="000000"/>
                </a:solidFill>
              </a:rPr>
              <a:t>P</a:t>
            </a:r>
            <a:r>
              <a:rPr lang="en-US" altLang="zh-CN" baseline="-30000" dirty="0">
                <a:solidFill>
                  <a:srgbClr val="000000"/>
                </a:solidFill>
              </a:rPr>
              <a:t>3</a:t>
            </a:r>
            <a:r>
              <a:rPr lang="en-US" altLang="zh-CN" dirty="0">
                <a:solidFill>
                  <a:srgbClr val="000000"/>
                </a:solidFill>
              </a:rPr>
              <a:t>P</a:t>
            </a:r>
            <a:r>
              <a:rPr lang="en-US" altLang="zh-CN" baseline="-30000" dirty="0">
                <a:solidFill>
                  <a:srgbClr val="000000"/>
                </a:solidFill>
              </a:rPr>
              <a:t>2</a:t>
            </a:r>
            <a:r>
              <a:rPr lang="en-US" altLang="zh-CN" dirty="0">
                <a:solidFill>
                  <a:srgbClr val="000000"/>
                </a:solidFill>
              </a:rPr>
              <a:t>P</a:t>
            </a:r>
            <a:r>
              <a:rPr lang="en-US" altLang="zh-CN" baseline="-30000" dirty="0">
                <a:solidFill>
                  <a:srgbClr val="000000"/>
                </a:solidFill>
              </a:rPr>
              <a:t>1</a:t>
            </a:r>
            <a:r>
              <a:rPr lang="en-US" altLang="zh-CN" dirty="0">
                <a:solidFill>
                  <a:srgbClr val="000000"/>
                </a:solidFill>
              </a:rPr>
              <a:t>P</a:t>
            </a:r>
            <a:r>
              <a:rPr lang="en-US" altLang="zh-CN" baseline="-30000" dirty="0">
                <a:solidFill>
                  <a:srgbClr val="000000"/>
                </a:solidFill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宋体" charset="-122"/>
                <a:cs typeface="Times New Roman" pitchFamily="18" charset="0"/>
              </a:rPr>
              <a:t>)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可作如下解释：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en-US" altLang="zh-CN" dirty="0">
                <a:latin typeface="Arial" charset="0"/>
                <a:cs typeface="Times New Roman" pitchFamily="18" charset="0"/>
              </a:rPr>
              <a:t>(1) </a:t>
            </a:r>
            <a:r>
              <a:rPr lang="zh-CN" altLang="en-US" dirty="0">
                <a:cs typeface="Times New Roman" pitchFamily="18" charset="0"/>
              </a:rPr>
              <a:t>如果</a:t>
            </a:r>
            <a:r>
              <a:rPr lang="en-US" altLang="zh-CN" dirty="0">
                <a:cs typeface="Times New Roman" pitchFamily="18" charset="0"/>
              </a:rPr>
              <a:t>P</a:t>
            </a:r>
            <a:r>
              <a:rPr lang="zh-CN" altLang="en-US" dirty="0">
                <a:cs typeface="Times New Roman" pitchFamily="18" charset="0"/>
              </a:rPr>
              <a:t>各位</a:t>
            </a:r>
            <a:r>
              <a:rPr lang="zh-CN" altLang="en-US" dirty="0">
                <a:solidFill>
                  <a:srgbClr val="FF0000"/>
                </a:solidFill>
                <a:cs typeface="Times New Roman" pitchFamily="18" charset="0"/>
              </a:rPr>
              <a:t>全是</a:t>
            </a:r>
            <a:r>
              <a:rPr lang="en-US" altLang="zh-CN" dirty="0">
                <a:solidFill>
                  <a:srgbClr val="FF0000"/>
                </a:solidFill>
                <a:cs typeface="Times New Roman" pitchFamily="18" charset="0"/>
              </a:rPr>
              <a:t>0</a:t>
            </a:r>
            <a:r>
              <a:rPr lang="zh-CN" altLang="en-US" dirty="0">
                <a:cs typeface="Times New Roman" pitchFamily="18" charset="0"/>
              </a:rPr>
              <a:t>，则表示接收到的编码字中</a:t>
            </a:r>
            <a:r>
              <a:rPr lang="zh-CN" altLang="en-US" dirty="0">
                <a:solidFill>
                  <a:srgbClr val="0000FF"/>
                </a:solidFill>
                <a:cs typeface="Times New Roman" pitchFamily="18" charset="0"/>
              </a:rPr>
              <a:t>没有错误</a:t>
            </a:r>
            <a:r>
              <a:rPr lang="zh-CN" altLang="en-US" dirty="0">
                <a:cs typeface="Times New Roman" pitchFamily="18" charset="0"/>
              </a:rPr>
              <a:t>。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en-US" altLang="zh-CN" dirty="0">
                <a:latin typeface="Arial" charset="0"/>
                <a:cs typeface="Times New Roman" pitchFamily="18" charset="0"/>
              </a:rPr>
              <a:t>(2) </a:t>
            </a:r>
            <a:r>
              <a:rPr lang="zh-CN" altLang="en-US" dirty="0">
                <a:cs typeface="Times New Roman" pitchFamily="18" charset="0"/>
              </a:rPr>
              <a:t>如果</a:t>
            </a:r>
            <a:r>
              <a:rPr lang="en-US" altLang="zh-CN" dirty="0">
                <a:cs typeface="Times New Roman" pitchFamily="18" charset="0"/>
              </a:rPr>
              <a:t>P</a:t>
            </a:r>
            <a:r>
              <a:rPr lang="zh-CN" altLang="en-US" dirty="0">
                <a:cs typeface="Times New Roman" pitchFamily="18" charset="0"/>
              </a:rPr>
              <a:t>中</a:t>
            </a:r>
            <a:r>
              <a:rPr lang="zh-CN" altLang="en-US" dirty="0">
                <a:solidFill>
                  <a:srgbClr val="FF0000"/>
                </a:solidFill>
                <a:cs typeface="Times New Roman" pitchFamily="18" charset="0"/>
              </a:rPr>
              <a:t>多位为</a:t>
            </a:r>
            <a:r>
              <a:rPr lang="en-US" altLang="zh-CN" dirty="0">
                <a:solidFill>
                  <a:srgbClr val="FF0000"/>
                </a:solidFill>
                <a:cs typeface="Times New Roman" pitchFamily="18" charset="0"/>
              </a:rPr>
              <a:t>1</a:t>
            </a:r>
            <a:r>
              <a:rPr lang="zh-CN" altLang="en-US" dirty="0">
                <a:cs typeface="Times New Roman" pitchFamily="18" charset="0"/>
              </a:rPr>
              <a:t>，则表示</a:t>
            </a:r>
            <a:r>
              <a:rPr lang="zh-CN" altLang="en-US" dirty="0">
                <a:solidFill>
                  <a:srgbClr val="0000FF"/>
                </a:solidFill>
                <a:cs typeface="Times New Roman" pitchFamily="18" charset="0"/>
              </a:rPr>
              <a:t>有一个数据位出错</a:t>
            </a:r>
            <a:r>
              <a:rPr lang="zh-CN" altLang="en-US" dirty="0">
                <a:cs typeface="Times New Roman" pitchFamily="18" charset="0"/>
              </a:rPr>
              <a:t>，且</a:t>
            </a:r>
            <a:r>
              <a:rPr lang="en-US" altLang="zh-CN" dirty="0">
                <a:solidFill>
                  <a:srgbClr val="006600"/>
                </a:solidFill>
                <a:cs typeface="Times New Roman" pitchFamily="18" charset="0"/>
              </a:rPr>
              <a:t>P</a:t>
            </a:r>
            <a:r>
              <a:rPr lang="zh-CN" altLang="en-US" dirty="0">
                <a:solidFill>
                  <a:srgbClr val="006600"/>
                </a:solidFill>
                <a:cs typeface="Times New Roman" pitchFamily="18" charset="0"/>
              </a:rPr>
              <a:t>的值</a:t>
            </a:r>
            <a:r>
              <a:rPr lang="zh-CN" altLang="en-US" dirty="0">
                <a:cs typeface="Times New Roman" pitchFamily="18" charset="0"/>
              </a:rPr>
              <a:t>即</a:t>
            </a:r>
            <a:r>
              <a:rPr lang="zh-CN" altLang="en-US" dirty="0">
                <a:solidFill>
                  <a:srgbClr val="006600"/>
                </a:solidFill>
                <a:cs typeface="Times New Roman" pitchFamily="18" charset="0"/>
              </a:rPr>
              <a:t>出错位</a:t>
            </a:r>
            <a:r>
              <a:rPr lang="zh-CN" altLang="en-US" dirty="0">
                <a:cs typeface="Times New Roman" pitchFamily="18" charset="0"/>
              </a:rPr>
              <a:t>在编码字中的</a:t>
            </a:r>
            <a:r>
              <a:rPr lang="zh-CN" altLang="en-US" dirty="0">
                <a:solidFill>
                  <a:srgbClr val="006600"/>
                </a:solidFill>
                <a:cs typeface="Times New Roman" pitchFamily="18" charset="0"/>
              </a:rPr>
              <a:t>位置</a:t>
            </a:r>
            <a:r>
              <a:rPr lang="zh-CN" altLang="en-US" dirty="0">
                <a:cs typeface="Times New Roman" pitchFamily="18" charset="0"/>
              </a:rPr>
              <a:t>。纠错时只需将出错位</a:t>
            </a:r>
            <a:r>
              <a:rPr lang="zh-CN" altLang="en-US" dirty="0">
                <a:solidFill>
                  <a:srgbClr val="CC0066"/>
                </a:solidFill>
                <a:cs typeface="Times New Roman" pitchFamily="18" charset="0"/>
              </a:rPr>
              <a:t>取反</a:t>
            </a:r>
            <a:r>
              <a:rPr lang="zh-CN" altLang="en-US" dirty="0">
                <a:cs typeface="Times New Roman" pitchFamily="18" charset="0"/>
              </a:rPr>
              <a:t>即可。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en-US" altLang="zh-CN" dirty="0">
                <a:latin typeface="Arial" charset="0"/>
                <a:cs typeface="Times New Roman" pitchFamily="18" charset="0"/>
              </a:rPr>
              <a:t>(3) </a:t>
            </a:r>
            <a:r>
              <a:rPr lang="zh-CN" altLang="en-US" dirty="0">
                <a:cs typeface="Times New Roman" pitchFamily="18" charset="0"/>
              </a:rPr>
              <a:t>如果</a:t>
            </a:r>
            <a:r>
              <a:rPr lang="en-US" altLang="zh-CN" dirty="0">
                <a:cs typeface="Times New Roman" pitchFamily="18" charset="0"/>
              </a:rPr>
              <a:t>P</a:t>
            </a:r>
            <a:r>
              <a:rPr lang="zh-CN" altLang="en-US" dirty="0">
                <a:cs typeface="Times New Roman" pitchFamily="18" charset="0"/>
              </a:rPr>
              <a:t>中</a:t>
            </a:r>
            <a:r>
              <a:rPr lang="zh-CN" altLang="en-US" dirty="0">
                <a:solidFill>
                  <a:srgbClr val="FF0000"/>
                </a:solidFill>
                <a:cs typeface="Times New Roman" pitchFamily="18" charset="0"/>
              </a:rPr>
              <a:t>有且仅有一位为</a:t>
            </a:r>
            <a:r>
              <a:rPr lang="en-US" altLang="zh-CN" dirty="0">
                <a:solidFill>
                  <a:srgbClr val="FF0000"/>
                </a:solidFill>
                <a:cs typeface="Times New Roman" pitchFamily="18" charset="0"/>
              </a:rPr>
              <a:t>1</a:t>
            </a:r>
            <a:r>
              <a:rPr lang="zh-CN" altLang="en-US" dirty="0">
                <a:cs typeface="Times New Roman" pitchFamily="18" charset="0"/>
              </a:rPr>
              <a:t>，则表示</a:t>
            </a:r>
            <a:r>
              <a:rPr lang="zh-CN" altLang="en-US" dirty="0">
                <a:solidFill>
                  <a:srgbClr val="0000FF"/>
                </a:solidFill>
                <a:cs typeface="Times New Roman" pitchFamily="18" charset="0"/>
              </a:rPr>
              <a:t>某一校验位出错</a:t>
            </a:r>
            <a:r>
              <a:rPr lang="zh-CN" altLang="en-US" dirty="0">
                <a:cs typeface="Times New Roman" pitchFamily="18" charset="0"/>
              </a:rPr>
              <a:t>，不需要纠正。</a:t>
            </a:r>
            <a:endParaRPr lang="en-US" altLang="zh-CN" dirty="0">
              <a:cs typeface="Times New Roman" pitchFamily="18" charset="0"/>
            </a:endParaRPr>
          </a:p>
        </p:txBody>
      </p:sp>
      <p:sp>
        <p:nvSpPr>
          <p:cNvPr id="7" name="AutoShape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AC0A132F-D33D-472F-A020-E9C0F9D71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8350" y="477838"/>
            <a:ext cx="576263" cy="574675"/>
          </a:xfrm>
          <a:prstGeom prst="actionButtonInformation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D0BF78A-44C6-46F3-B4EC-56FF0858DAA1}" type="slidenum">
              <a:rPr lang="zh-CN" altLang="en-US"/>
              <a:pPr/>
              <a:t>43</a:t>
            </a:fld>
            <a:endParaRPr lang="en-US" altLang="zh-CN"/>
          </a:p>
        </p:txBody>
      </p:sp>
      <p:sp>
        <p:nvSpPr>
          <p:cNvPr id="137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三、海明码        </a:t>
            </a:r>
            <a:r>
              <a:rPr lang="en-US" altLang="zh-CN" dirty="0">
                <a:solidFill>
                  <a:srgbClr val="CC0066"/>
                </a:solidFill>
              </a:rPr>
              <a:t>2. </a:t>
            </a:r>
            <a:r>
              <a:rPr lang="zh-CN" altLang="en-US" dirty="0">
                <a:solidFill>
                  <a:srgbClr val="CC0066"/>
                </a:solidFill>
              </a:rPr>
              <a:t>总结</a:t>
            </a:r>
          </a:p>
        </p:txBody>
      </p:sp>
      <p:sp>
        <p:nvSpPr>
          <p:cNvPr id="137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620713"/>
            <a:ext cx="8713788" cy="5976937"/>
          </a:xfrm>
        </p:spPr>
        <p:txBody>
          <a:bodyPr/>
          <a:lstStyle/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/>
              <a:t>【</a:t>
            </a:r>
            <a:r>
              <a:rPr lang="zh-CN" altLang="pt-BR" dirty="0"/>
              <a:t>例</a:t>
            </a:r>
            <a:r>
              <a:rPr lang="pt-BR" altLang="zh-CN" dirty="0"/>
              <a:t>】</a:t>
            </a:r>
            <a:r>
              <a:rPr lang="zh-CN" altLang="pt-BR" dirty="0"/>
              <a:t>利用上述构造海明码的步骤，采用</a:t>
            </a:r>
            <a:r>
              <a:rPr lang="zh-CN" altLang="pt-BR" dirty="0">
                <a:solidFill>
                  <a:srgbClr val="FF0000"/>
                </a:solidFill>
              </a:rPr>
              <a:t>偶校验</a:t>
            </a:r>
            <a:r>
              <a:rPr lang="zh-CN" altLang="pt-BR" dirty="0"/>
              <a:t>，</a:t>
            </a:r>
            <a:br>
              <a:rPr lang="en-US" altLang="zh-CN" dirty="0"/>
            </a:br>
            <a:r>
              <a:rPr lang="zh-CN" altLang="pt-BR" dirty="0"/>
              <a:t>对</a:t>
            </a:r>
            <a:r>
              <a:rPr lang="pt-BR" altLang="zh-CN" dirty="0"/>
              <a:t>8</a:t>
            </a:r>
            <a:r>
              <a:rPr lang="zh-CN" altLang="pt-BR" dirty="0"/>
              <a:t>位</a:t>
            </a:r>
            <a:r>
              <a:rPr lang="pt-BR" altLang="zh-CN" dirty="0"/>
              <a:t>ASCII</a:t>
            </a:r>
            <a:r>
              <a:rPr lang="zh-CN" altLang="pt-BR" dirty="0"/>
              <a:t>字符“</a:t>
            </a:r>
            <a:r>
              <a:rPr lang="pt-BR" altLang="zh-CN" dirty="0">
                <a:solidFill>
                  <a:srgbClr val="0000FF"/>
                </a:solidFill>
              </a:rPr>
              <a:t>M</a:t>
            </a:r>
            <a:r>
              <a:rPr lang="pt-BR" altLang="zh-CN" dirty="0"/>
              <a:t>”</a:t>
            </a:r>
            <a:r>
              <a:rPr lang="zh-CN" altLang="pt-BR" dirty="0"/>
              <a:t>进行编码（最高位为</a:t>
            </a:r>
            <a:r>
              <a:rPr lang="pt-BR" altLang="zh-CN" dirty="0"/>
              <a:t>0</a:t>
            </a:r>
            <a:r>
              <a:rPr lang="zh-CN" altLang="pt-BR" dirty="0"/>
              <a:t>）。</a:t>
            </a:r>
            <a:br>
              <a:rPr lang="zh-CN" altLang="pt-BR" dirty="0"/>
            </a:br>
            <a:r>
              <a:rPr lang="zh-CN" altLang="pt-BR" dirty="0"/>
              <a:t>人为地引入一个</a:t>
            </a:r>
            <a:r>
              <a:rPr lang="pt-BR" altLang="zh-CN" dirty="0"/>
              <a:t>1</a:t>
            </a:r>
            <a:r>
              <a:rPr lang="zh-CN" altLang="pt-BR" dirty="0"/>
              <a:t>位错误，说明如何找出这个错误。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/>
              <a:t>【</a:t>
            </a:r>
            <a:r>
              <a:rPr lang="zh-CN" altLang="pt-BR" dirty="0"/>
              <a:t>解</a:t>
            </a:r>
            <a:r>
              <a:rPr lang="pt-BR" altLang="zh-CN" dirty="0"/>
              <a:t>】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接收端：如果接收到的编码字没有错误，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接收到的编码字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C</a:t>
            </a:r>
            <a:r>
              <a:rPr lang="pt-BR" altLang="zh-CN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’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C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FF"/>
                </a:solidFill>
                <a:latin typeface="Arial" charset="0"/>
                <a:cs typeface="Times New Roman" pitchFamily="18" charset="0"/>
              </a:rPr>
              <a:t>0100</a:t>
            </a:r>
            <a:r>
              <a:rPr lang="pt-BR" altLang="zh-CN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1</a:t>
            </a:r>
            <a:r>
              <a:rPr lang="pt-BR" altLang="zh-CN" dirty="0">
                <a:solidFill>
                  <a:srgbClr val="0000FF"/>
                </a:solidFill>
                <a:latin typeface="Arial" charset="0"/>
                <a:cs typeface="Times New Roman" pitchFamily="18" charset="0"/>
              </a:rPr>
              <a:t>110</a:t>
            </a:r>
            <a:r>
              <a:rPr lang="pt-BR" altLang="zh-CN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0</a:t>
            </a:r>
            <a:r>
              <a:rPr lang="pt-BR" altLang="zh-CN" dirty="0">
                <a:solidFill>
                  <a:srgbClr val="0000FF"/>
                </a:solidFill>
                <a:latin typeface="Arial" charset="0"/>
                <a:cs typeface="Times New Roman" pitchFamily="18" charset="0"/>
              </a:rPr>
              <a:t>1</a:t>
            </a:r>
            <a:r>
              <a:rPr lang="pt-BR" altLang="zh-CN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01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，则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P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6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4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3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H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0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P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6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5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3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2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H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0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P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2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7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3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2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H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2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0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P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3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7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6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5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4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H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3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0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endParaRPr lang="pt-BR" altLang="zh-CN" dirty="0">
              <a:solidFill>
                <a:srgbClr val="000000"/>
              </a:solidFill>
              <a:cs typeface="Times New Roman" pitchFamily="18" charset="0"/>
            </a:endParaRP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P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P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3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P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2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P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P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0000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，没有错误。</a:t>
            </a:r>
            <a:endParaRPr lang="zh-CN" altLang="en-US" dirty="0">
              <a:solidFill>
                <a:srgbClr val="000000"/>
              </a:solidFill>
              <a:cs typeface="Times New Roman" pitchFamily="18" charset="0"/>
            </a:endParaRPr>
          </a:p>
        </p:txBody>
      </p:sp>
      <p:sp>
        <p:nvSpPr>
          <p:cNvPr id="7" name="AutoShape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5ADC8496-AABB-4149-BED1-C998EC43E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8350" y="477838"/>
            <a:ext cx="576263" cy="574675"/>
          </a:xfrm>
          <a:prstGeom prst="actionButtonInformation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4DA647-0BF5-4FC0-ADAA-CB9FE581BE71}" type="slidenum">
              <a:rPr lang="zh-CN" altLang="en-US"/>
              <a:pPr/>
              <a:t>44</a:t>
            </a:fld>
            <a:endParaRPr lang="en-US" altLang="zh-CN"/>
          </a:p>
        </p:txBody>
      </p:sp>
      <p:sp>
        <p:nvSpPr>
          <p:cNvPr id="137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三、海明码        </a:t>
            </a:r>
            <a:r>
              <a:rPr lang="en-US" altLang="zh-CN" dirty="0">
                <a:solidFill>
                  <a:srgbClr val="CC0066"/>
                </a:solidFill>
              </a:rPr>
              <a:t>2. </a:t>
            </a:r>
            <a:r>
              <a:rPr lang="zh-CN" altLang="en-US" dirty="0">
                <a:solidFill>
                  <a:srgbClr val="CC0066"/>
                </a:solidFill>
              </a:rPr>
              <a:t>总结</a:t>
            </a:r>
          </a:p>
        </p:txBody>
      </p:sp>
      <p:sp>
        <p:nvSpPr>
          <p:cNvPr id="137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620713"/>
            <a:ext cx="8713788" cy="5976937"/>
          </a:xfrm>
        </p:spPr>
        <p:txBody>
          <a:bodyPr/>
          <a:lstStyle/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/>
              <a:t>【</a:t>
            </a:r>
            <a:r>
              <a:rPr lang="zh-CN" altLang="pt-BR" dirty="0"/>
              <a:t>例</a:t>
            </a:r>
            <a:r>
              <a:rPr lang="pt-BR" altLang="zh-CN" dirty="0"/>
              <a:t>】</a:t>
            </a:r>
            <a:r>
              <a:rPr lang="zh-CN" altLang="pt-BR" dirty="0"/>
              <a:t>利用上述构造海明码的步骤，采用</a:t>
            </a:r>
            <a:r>
              <a:rPr lang="zh-CN" altLang="pt-BR" dirty="0">
                <a:solidFill>
                  <a:srgbClr val="FF0000"/>
                </a:solidFill>
              </a:rPr>
              <a:t>偶校验</a:t>
            </a:r>
            <a:r>
              <a:rPr lang="zh-CN" altLang="pt-BR" dirty="0"/>
              <a:t>，</a:t>
            </a:r>
            <a:br>
              <a:rPr lang="en-US" altLang="zh-CN" dirty="0"/>
            </a:br>
            <a:r>
              <a:rPr lang="zh-CN" altLang="pt-BR" dirty="0"/>
              <a:t>对</a:t>
            </a:r>
            <a:r>
              <a:rPr lang="pt-BR" altLang="zh-CN" dirty="0"/>
              <a:t>8</a:t>
            </a:r>
            <a:r>
              <a:rPr lang="zh-CN" altLang="pt-BR" dirty="0"/>
              <a:t>位</a:t>
            </a:r>
            <a:r>
              <a:rPr lang="pt-BR" altLang="zh-CN" dirty="0"/>
              <a:t>ASCII</a:t>
            </a:r>
            <a:r>
              <a:rPr lang="zh-CN" altLang="pt-BR" dirty="0"/>
              <a:t>字符“</a:t>
            </a:r>
            <a:r>
              <a:rPr lang="pt-BR" altLang="zh-CN" dirty="0">
                <a:solidFill>
                  <a:srgbClr val="0000FF"/>
                </a:solidFill>
              </a:rPr>
              <a:t>M</a:t>
            </a:r>
            <a:r>
              <a:rPr lang="pt-BR" altLang="zh-CN" dirty="0"/>
              <a:t>”</a:t>
            </a:r>
            <a:r>
              <a:rPr lang="zh-CN" altLang="pt-BR" dirty="0"/>
              <a:t>进行编码（最高位为</a:t>
            </a:r>
            <a:r>
              <a:rPr lang="pt-BR" altLang="zh-CN" dirty="0"/>
              <a:t>0</a:t>
            </a:r>
            <a:r>
              <a:rPr lang="zh-CN" altLang="pt-BR" dirty="0"/>
              <a:t>）。</a:t>
            </a:r>
            <a:br>
              <a:rPr lang="zh-CN" altLang="pt-BR" dirty="0"/>
            </a:br>
            <a:r>
              <a:rPr lang="zh-CN" altLang="pt-BR" dirty="0"/>
              <a:t>人为地引入一个</a:t>
            </a:r>
            <a:r>
              <a:rPr lang="pt-BR" altLang="zh-CN" dirty="0"/>
              <a:t>1</a:t>
            </a:r>
            <a:r>
              <a:rPr lang="zh-CN" altLang="pt-BR" dirty="0"/>
              <a:t>位错误，说明如何找出这个错误。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/>
              <a:t>【</a:t>
            </a:r>
            <a:r>
              <a:rPr lang="zh-CN" altLang="pt-BR" dirty="0"/>
              <a:t>解</a:t>
            </a:r>
            <a:r>
              <a:rPr lang="pt-BR" altLang="zh-CN" dirty="0"/>
              <a:t>】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接收端：如果接收到的编码字的数据位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5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出错</a:t>
            </a:r>
            <a:r>
              <a:rPr lang="pt-BR" altLang="zh-CN" dirty="0">
                <a:solidFill>
                  <a:srgbClr val="000000"/>
                </a:solidFill>
                <a:latin typeface="宋体" charset="-122"/>
                <a:cs typeface="Times New Roman" pitchFamily="18" charset="0"/>
              </a:rPr>
              <a:t>,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接收到的编码字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C</a:t>
            </a:r>
            <a:r>
              <a:rPr lang="pt-BR" altLang="zh-CN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’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FF"/>
                </a:solidFill>
                <a:latin typeface="Arial" charset="0"/>
                <a:cs typeface="Times New Roman" pitchFamily="18" charset="0"/>
              </a:rPr>
              <a:t>01</a:t>
            </a:r>
            <a:r>
              <a:rPr lang="pt-BR" altLang="zh-CN" dirty="0">
                <a:solidFill>
                  <a:srgbClr val="00CC00"/>
                </a:solidFill>
                <a:latin typeface="Arial" charset="0"/>
                <a:cs typeface="Times New Roman" pitchFamily="18" charset="0"/>
              </a:rPr>
              <a:t>1</a:t>
            </a:r>
            <a:r>
              <a:rPr lang="pt-BR" altLang="zh-CN" dirty="0">
                <a:solidFill>
                  <a:srgbClr val="0000FF"/>
                </a:solidFill>
                <a:latin typeface="Arial" charset="0"/>
                <a:cs typeface="Times New Roman" pitchFamily="18" charset="0"/>
              </a:rPr>
              <a:t>0</a:t>
            </a:r>
            <a:r>
              <a:rPr lang="pt-BR" altLang="zh-CN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1</a:t>
            </a:r>
            <a:r>
              <a:rPr lang="pt-BR" altLang="zh-CN" dirty="0">
                <a:solidFill>
                  <a:srgbClr val="0000FF"/>
                </a:solidFill>
                <a:latin typeface="Arial" charset="0"/>
                <a:cs typeface="Times New Roman" pitchFamily="18" charset="0"/>
              </a:rPr>
              <a:t>110</a:t>
            </a:r>
            <a:r>
              <a:rPr lang="pt-BR" altLang="zh-CN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0</a:t>
            </a:r>
            <a:r>
              <a:rPr lang="pt-BR" altLang="zh-CN" dirty="0">
                <a:solidFill>
                  <a:srgbClr val="0000FF"/>
                </a:solidFill>
                <a:latin typeface="Arial" charset="0"/>
                <a:cs typeface="Times New Roman" pitchFamily="18" charset="0"/>
              </a:rPr>
              <a:t>1</a:t>
            </a:r>
            <a:r>
              <a:rPr lang="pt-BR" altLang="zh-CN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01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，则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P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6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4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3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H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0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P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6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5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3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2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H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1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P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2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7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3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2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H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2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0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P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3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7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6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5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4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H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3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pt-BR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1</a:t>
            </a:r>
          </a:p>
          <a:p>
            <a:pPr marL="0" indent="0">
              <a:spcBef>
                <a:spcPct val="50000"/>
              </a:spcBef>
              <a:buFont typeface="Wingdings" pitchFamily="2" charset="2"/>
              <a:buNone/>
            </a:pP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P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P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3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P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2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P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P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1010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，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编码字的第十位</a:t>
            </a:r>
            <a:r>
              <a:rPr lang="pt-BR" altLang="zh-CN" dirty="0">
                <a:solidFill>
                  <a:srgbClr val="000000"/>
                </a:solidFill>
                <a:latin typeface="宋体" charset="-122"/>
                <a:cs typeface="Times New Roman" pitchFamily="18" charset="0"/>
              </a:rPr>
              <a:t>(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数据位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5 </a:t>
            </a:r>
            <a:r>
              <a:rPr lang="pt-BR" altLang="zh-CN" dirty="0">
                <a:solidFill>
                  <a:srgbClr val="000000"/>
                </a:solidFill>
                <a:latin typeface="宋体" charset="-122"/>
                <a:cs typeface="Times New Roman" pitchFamily="18" charset="0"/>
              </a:rPr>
              <a:t>)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发生错误，将该位取反即可纠错。</a:t>
            </a:r>
            <a:endParaRPr lang="zh-CN" altLang="en-US" dirty="0">
              <a:solidFill>
                <a:srgbClr val="000000"/>
              </a:solidFill>
              <a:cs typeface="Times New Roman" pitchFamily="18" charset="0"/>
            </a:endParaRPr>
          </a:p>
        </p:txBody>
      </p:sp>
      <p:sp>
        <p:nvSpPr>
          <p:cNvPr id="7" name="AutoShape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6B8B72C3-9B95-465D-A39D-B2826EECD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8350" y="477838"/>
            <a:ext cx="576263" cy="574675"/>
          </a:xfrm>
          <a:prstGeom prst="actionButtonInformation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45AA05A-D7B9-489D-9296-D7F7C756B7AC}" type="slidenum">
              <a:rPr lang="zh-CN" altLang="en-US"/>
              <a:pPr/>
              <a:t>45</a:t>
            </a:fld>
            <a:endParaRPr lang="en-US" altLang="zh-CN"/>
          </a:p>
        </p:txBody>
      </p:sp>
      <p:sp>
        <p:nvSpPr>
          <p:cNvPr id="137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三、海明码        </a:t>
            </a:r>
            <a:r>
              <a:rPr lang="en-US" altLang="zh-CN" dirty="0">
                <a:solidFill>
                  <a:srgbClr val="CC0066"/>
                </a:solidFill>
              </a:rPr>
              <a:t>2. </a:t>
            </a:r>
            <a:r>
              <a:rPr lang="zh-CN" altLang="en-US" dirty="0">
                <a:solidFill>
                  <a:srgbClr val="CC0066"/>
                </a:solidFill>
              </a:rPr>
              <a:t>总结</a:t>
            </a:r>
          </a:p>
        </p:txBody>
      </p:sp>
      <p:sp>
        <p:nvSpPr>
          <p:cNvPr id="1376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620713"/>
            <a:ext cx="8713788" cy="5976937"/>
          </a:xfrm>
        </p:spPr>
        <p:txBody>
          <a:bodyPr/>
          <a:lstStyle/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/>
              <a:t>【</a:t>
            </a:r>
            <a:r>
              <a:rPr lang="zh-CN" altLang="pt-BR" dirty="0"/>
              <a:t>例</a:t>
            </a:r>
            <a:r>
              <a:rPr lang="pt-BR" altLang="zh-CN" dirty="0"/>
              <a:t>】</a:t>
            </a:r>
            <a:r>
              <a:rPr lang="zh-CN" altLang="pt-BR" dirty="0"/>
              <a:t>利用上述构造海明码的步骤，采用</a:t>
            </a:r>
            <a:r>
              <a:rPr lang="zh-CN" altLang="pt-BR" dirty="0">
                <a:solidFill>
                  <a:srgbClr val="FF0000"/>
                </a:solidFill>
              </a:rPr>
              <a:t>偶校验</a:t>
            </a:r>
            <a:r>
              <a:rPr lang="zh-CN" altLang="pt-BR" dirty="0"/>
              <a:t>，</a:t>
            </a:r>
            <a:br>
              <a:rPr lang="en-US" altLang="zh-CN" dirty="0"/>
            </a:br>
            <a:r>
              <a:rPr lang="zh-CN" altLang="pt-BR" dirty="0"/>
              <a:t>对</a:t>
            </a:r>
            <a:r>
              <a:rPr lang="pt-BR" altLang="zh-CN" dirty="0"/>
              <a:t>8</a:t>
            </a:r>
            <a:r>
              <a:rPr lang="zh-CN" altLang="pt-BR" dirty="0"/>
              <a:t>位</a:t>
            </a:r>
            <a:r>
              <a:rPr lang="pt-BR" altLang="zh-CN" dirty="0"/>
              <a:t>ASCII</a:t>
            </a:r>
            <a:r>
              <a:rPr lang="zh-CN" altLang="pt-BR" dirty="0"/>
              <a:t>字符“</a:t>
            </a:r>
            <a:r>
              <a:rPr lang="pt-BR" altLang="zh-CN" dirty="0">
                <a:solidFill>
                  <a:srgbClr val="0000FF"/>
                </a:solidFill>
              </a:rPr>
              <a:t>M</a:t>
            </a:r>
            <a:r>
              <a:rPr lang="pt-BR" altLang="zh-CN" dirty="0"/>
              <a:t>”</a:t>
            </a:r>
            <a:r>
              <a:rPr lang="zh-CN" altLang="pt-BR" dirty="0"/>
              <a:t>进行编码（最高位为</a:t>
            </a:r>
            <a:r>
              <a:rPr lang="pt-BR" altLang="zh-CN" dirty="0"/>
              <a:t>0</a:t>
            </a:r>
            <a:r>
              <a:rPr lang="zh-CN" altLang="pt-BR" dirty="0"/>
              <a:t>）。</a:t>
            </a:r>
            <a:br>
              <a:rPr lang="zh-CN" altLang="pt-BR" dirty="0"/>
            </a:br>
            <a:r>
              <a:rPr lang="zh-CN" altLang="pt-BR" dirty="0"/>
              <a:t>人为地引入一个</a:t>
            </a:r>
            <a:r>
              <a:rPr lang="pt-BR" altLang="zh-CN" dirty="0"/>
              <a:t>1</a:t>
            </a:r>
            <a:r>
              <a:rPr lang="zh-CN" altLang="pt-BR" dirty="0"/>
              <a:t>位错误，说明如何找出这个错误。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/>
              <a:t>【</a:t>
            </a:r>
            <a:r>
              <a:rPr lang="zh-CN" altLang="pt-BR" dirty="0"/>
              <a:t>解</a:t>
            </a:r>
            <a:r>
              <a:rPr lang="pt-BR" altLang="zh-CN" dirty="0"/>
              <a:t>】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接收端：如果接收编码字的校验位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H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2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出错，</a:t>
            </a:r>
            <a:endParaRPr lang="pt-BR" altLang="zh-CN" dirty="0">
              <a:solidFill>
                <a:srgbClr val="000000"/>
              </a:solidFill>
              <a:latin typeface="宋体" charset="-122"/>
              <a:cs typeface="Times New Roman" pitchFamily="18" charset="0"/>
            </a:endParaRP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接收到的编码字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C</a:t>
            </a:r>
            <a:r>
              <a:rPr lang="pt-BR" altLang="zh-CN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’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FF"/>
                </a:solidFill>
                <a:latin typeface="Arial" charset="0"/>
                <a:cs typeface="Times New Roman" pitchFamily="18" charset="0"/>
              </a:rPr>
              <a:t>0100</a:t>
            </a:r>
            <a:r>
              <a:rPr lang="pt-BR" altLang="zh-CN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1</a:t>
            </a:r>
            <a:r>
              <a:rPr lang="pt-BR" altLang="zh-CN" dirty="0">
                <a:solidFill>
                  <a:srgbClr val="0000FF"/>
                </a:solidFill>
                <a:latin typeface="Arial" charset="0"/>
                <a:cs typeface="Times New Roman" pitchFamily="18" charset="0"/>
              </a:rPr>
              <a:t>110</a:t>
            </a:r>
            <a:r>
              <a:rPr lang="pt-BR" altLang="zh-CN" dirty="0">
                <a:solidFill>
                  <a:srgbClr val="00CC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Times New Roman" pitchFamily="18" charset="0"/>
              </a:rPr>
              <a:t>1</a:t>
            </a:r>
            <a:r>
              <a:rPr lang="pt-BR" altLang="zh-CN" dirty="0">
                <a:solidFill>
                  <a:srgbClr val="0000FF"/>
                </a:solidFill>
                <a:latin typeface="Arial" charset="0"/>
                <a:cs typeface="Times New Roman" pitchFamily="18" charset="0"/>
              </a:rPr>
              <a:t>1</a:t>
            </a:r>
            <a:r>
              <a:rPr lang="pt-BR" altLang="zh-CN" dirty="0">
                <a:solidFill>
                  <a:srgbClr val="FF0000"/>
                </a:solidFill>
                <a:latin typeface="Arial" charset="0"/>
                <a:cs typeface="Times New Roman" pitchFamily="18" charset="0"/>
              </a:rPr>
              <a:t>01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，则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P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6</a:t>
            </a:r>
            <a:r>
              <a:rPr lang="en-US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4</a:t>
            </a:r>
            <a:r>
              <a:rPr lang="en-US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H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0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P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6</a:t>
            </a:r>
            <a:r>
              <a:rPr lang="en-US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5</a:t>
            </a:r>
            <a:r>
              <a:rPr lang="en-US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H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0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P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2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7</a:t>
            </a:r>
            <a:r>
              <a:rPr lang="en-US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H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2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1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P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3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7</a:t>
            </a:r>
            <a:r>
              <a:rPr lang="en-US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6</a:t>
            </a:r>
            <a:r>
              <a:rPr lang="en-US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5</a:t>
            </a:r>
            <a:r>
              <a:rPr lang="en-US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D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4</a:t>
            </a:r>
            <a:r>
              <a:rPr lang="en-US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H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3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</a:rPr>
              <a:t>⊕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0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endParaRPr lang="pt-BR" altLang="zh-CN" dirty="0">
              <a:solidFill>
                <a:srgbClr val="000000"/>
              </a:solidFill>
              <a:cs typeface="Times New Roman" pitchFamily="18" charset="0"/>
            </a:endParaRP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P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P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3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P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2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P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1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P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0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pt-BR" altLang="zh-CN" dirty="0">
                <a:solidFill>
                  <a:srgbClr val="000000"/>
                </a:solidFill>
                <a:latin typeface="Arial" charset="0"/>
                <a:cs typeface="Times New Roman" pitchFamily="18" charset="0"/>
              </a:rPr>
              <a:t>0100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，</a:t>
            </a:r>
          </a:p>
          <a:p>
            <a:pPr marL="0" indent="0">
              <a:spcBef>
                <a:spcPct val="15000"/>
              </a:spcBef>
              <a:buFont typeface="Wingdings" pitchFamily="2" charset="2"/>
              <a:buNone/>
            </a:pP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编码字的第四位</a:t>
            </a:r>
            <a:r>
              <a:rPr lang="pt-BR" altLang="zh-CN" dirty="0">
                <a:solidFill>
                  <a:srgbClr val="000000"/>
                </a:solidFill>
                <a:latin typeface="宋体" charset="-122"/>
                <a:cs typeface="Times New Roman" pitchFamily="18" charset="0"/>
              </a:rPr>
              <a:t>(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校验位</a:t>
            </a:r>
            <a:r>
              <a:rPr lang="pt-BR" altLang="zh-CN" dirty="0">
                <a:solidFill>
                  <a:srgbClr val="000000"/>
                </a:solidFill>
                <a:cs typeface="Times New Roman" pitchFamily="18" charset="0"/>
              </a:rPr>
              <a:t>H</a:t>
            </a:r>
            <a:r>
              <a:rPr lang="pt-BR" altLang="zh-CN" baseline="-30000" dirty="0">
                <a:solidFill>
                  <a:srgbClr val="000000"/>
                </a:solidFill>
                <a:cs typeface="Times New Roman" pitchFamily="18" charset="0"/>
              </a:rPr>
              <a:t>2</a:t>
            </a:r>
            <a:r>
              <a:rPr lang="pt-BR" altLang="zh-CN" dirty="0">
                <a:solidFill>
                  <a:srgbClr val="000000"/>
                </a:solidFill>
                <a:latin typeface="宋体" charset="-122"/>
                <a:cs typeface="Times New Roman" pitchFamily="18" charset="0"/>
              </a:rPr>
              <a:t>)</a:t>
            </a:r>
            <a:r>
              <a:rPr lang="zh-CN" altLang="pt-BR" dirty="0">
                <a:solidFill>
                  <a:srgbClr val="000000"/>
                </a:solidFill>
                <a:cs typeface="Times New Roman" pitchFamily="18" charset="0"/>
              </a:rPr>
              <a:t>发生错误，无需纠错。</a:t>
            </a:r>
            <a:endParaRPr lang="zh-CN" altLang="en-US" dirty="0">
              <a:solidFill>
                <a:srgbClr val="000000"/>
              </a:solidFill>
              <a:cs typeface="Times New Roman" pitchFamily="18" charset="0"/>
            </a:endParaRPr>
          </a:p>
        </p:txBody>
      </p:sp>
      <p:sp>
        <p:nvSpPr>
          <p:cNvPr id="8" name="AutoShape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306701E9-A029-48B5-A61B-5A69A1AE9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8350" y="477838"/>
            <a:ext cx="576263" cy="574675"/>
          </a:xfrm>
          <a:prstGeom prst="actionButtonInformation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三、海明码        </a:t>
            </a:r>
            <a:r>
              <a:rPr lang="en-US" altLang="zh-CN" dirty="0">
                <a:solidFill>
                  <a:srgbClr val="CC0066"/>
                </a:solidFill>
              </a:rPr>
              <a:t>3. </a:t>
            </a:r>
            <a:r>
              <a:rPr lang="zh-CN" altLang="en-US" dirty="0">
                <a:solidFill>
                  <a:srgbClr val="006600"/>
                </a:solidFill>
              </a:rPr>
              <a:t>内存的</a:t>
            </a:r>
            <a:r>
              <a:rPr lang="zh-CN" altLang="en-US" dirty="0">
                <a:solidFill>
                  <a:srgbClr val="FF3300"/>
                </a:solidFill>
              </a:rPr>
              <a:t>海明码</a:t>
            </a:r>
            <a:r>
              <a:rPr lang="zh-CN" altLang="en-US" dirty="0">
                <a:solidFill>
                  <a:srgbClr val="006600"/>
                </a:solidFill>
              </a:rPr>
              <a:t>纠错电路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E090CA-FDE9-4186-A298-407E61DFE875}" type="slidenum">
              <a:rPr lang="zh-CN" altLang="en-US" smtClean="0"/>
              <a:pPr/>
              <a:t>46</a:t>
            </a:fld>
            <a:endParaRPr lang="en-US" altLang="zh-CN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1692275" y="5934075"/>
            <a:ext cx="5832475" cy="51911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>
                <a:solidFill>
                  <a:schemeClr val="bg2"/>
                </a:solidFill>
              </a:rPr>
              <a:t>纠错电路原理图</a:t>
            </a:r>
          </a:p>
        </p:txBody>
      </p:sp>
      <p:sp>
        <p:nvSpPr>
          <p:cNvPr id="7" name="AutoShape 10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459788" y="620713"/>
            <a:ext cx="504825" cy="504825"/>
          </a:xfrm>
          <a:prstGeom prst="actionButtonInformation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786D646A-AA6E-43C8-B71E-9D6051ACD8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3916286"/>
              </p:ext>
            </p:extLst>
          </p:nvPr>
        </p:nvGraphicFramePr>
        <p:xfrm>
          <a:off x="107504" y="548680"/>
          <a:ext cx="7920880" cy="54769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0658" name="Visio" r:id="rId4" imgW="3457575" imgH="2390887" progId="Visio.Drawing.15">
                  <p:embed/>
                </p:oleObj>
              </mc:Choice>
              <mc:Fallback>
                <p:oleObj name="Visio" r:id="rId4" imgW="3457575" imgH="2390887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7504" y="548680"/>
                        <a:ext cx="7920880" cy="54769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三、海明码        </a:t>
            </a:r>
            <a:r>
              <a:rPr lang="en-US" altLang="zh-CN" dirty="0">
                <a:solidFill>
                  <a:srgbClr val="CC0066"/>
                </a:solidFill>
              </a:rPr>
              <a:t>3. </a:t>
            </a:r>
            <a:r>
              <a:rPr lang="zh-CN" altLang="en-US" dirty="0">
                <a:solidFill>
                  <a:srgbClr val="006600"/>
                </a:solidFill>
              </a:rPr>
              <a:t>内存的</a:t>
            </a:r>
            <a:r>
              <a:rPr lang="zh-CN" altLang="en-US" dirty="0">
                <a:solidFill>
                  <a:srgbClr val="FF3300"/>
                </a:solidFill>
              </a:rPr>
              <a:t>海明码</a:t>
            </a:r>
            <a:r>
              <a:rPr lang="zh-CN" altLang="en-US" dirty="0">
                <a:solidFill>
                  <a:srgbClr val="006600"/>
                </a:solidFill>
              </a:rPr>
              <a:t>纠错电路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E090CA-FDE9-4186-A298-407E61DFE875}" type="slidenum">
              <a:rPr lang="zh-CN" altLang="en-US" smtClean="0"/>
              <a:pPr/>
              <a:t>47</a:t>
            </a:fld>
            <a:endParaRPr lang="en-US" altLang="zh-CN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57200" y="620713"/>
            <a:ext cx="8362950" cy="194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zh-CN" altLang="pt-BR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Times New Roman" pitchFamily="18" charset="0"/>
              </a:rPr>
              <a:t>假设</a:t>
            </a:r>
            <a:r>
              <a:rPr kumimoji="0" lang="pt-BR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8</a:t>
            </a:r>
            <a:r>
              <a:rPr kumimoji="0" lang="zh-CN" altLang="pt-BR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Times New Roman" pitchFamily="18" charset="0"/>
              </a:rPr>
              <a:t>位数据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pt-BR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kumimoji="0" lang="zh-CN" altLang="pt-BR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Times New Roman" pitchFamily="18" charset="0"/>
              </a:rPr>
              <a:t>＝</a:t>
            </a:r>
            <a:r>
              <a:rPr kumimoji="0" lang="pt-BR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kumimoji="0" lang="pt-BR" altLang="zh-CN" sz="2800" b="1" i="0" u="none" strike="noStrike" kern="0" cap="none" spc="0" normalizeH="0" baseline="-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7</a:t>
            </a:r>
            <a:r>
              <a:rPr kumimoji="0" lang="pt-BR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kumimoji="0" lang="pt-BR" altLang="zh-CN" sz="2800" b="1" i="0" u="none" strike="noStrike" kern="0" cap="none" spc="0" normalizeH="0" baseline="-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</a:t>
            </a:r>
            <a:r>
              <a:rPr kumimoji="0" lang="pt-BR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kumimoji="0" lang="pt-BR" altLang="zh-CN" sz="2800" b="1" i="0" u="none" strike="noStrike" kern="0" cap="none" spc="0" normalizeH="0" baseline="-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</a:t>
            </a:r>
            <a:r>
              <a:rPr kumimoji="0" lang="pt-BR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kumimoji="0" lang="pt-BR" altLang="zh-CN" sz="2800" b="1" i="0" u="none" strike="noStrike" kern="0" cap="none" spc="0" normalizeH="0" baseline="-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pt-BR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kumimoji="0" lang="pt-BR" altLang="zh-CN" sz="2800" b="1" i="0" u="none" strike="noStrike" kern="0" cap="none" spc="0" normalizeH="0" baseline="-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pt-BR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kumimoji="0" lang="pt-BR" altLang="zh-CN" sz="2800" b="1" i="0" u="none" strike="noStrike" kern="0" cap="none" spc="0" normalizeH="0" baseline="-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pt-BR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kumimoji="0" lang="pt-BR" altLang="zh-CN" sz="2800" b="1" i="0" u="none" strike="noStrike" kern="0" cap="none" spc="0" normalizeH="0" baseline="-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pt-BR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</a:t>
            </a:r>
            <a:r>
              <a:rPr kumimoji="0" lang="pt-BR" altLang="zh-CN" sz="2800" b="1" i="0" u="none" strike="noStrike" kern="0" cap="none" spc="0" normalizeH="0" baseline="-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0" lang="zh-CN" altLang="pt-BR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Times New Roman" pitchFamily="18" charset="0"/>
              </a:rPr>
              <a:t>，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zh-CN" altLang="pt-BR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Times New Roman" pitchFamily="18" charset="0"/>
              </a:rPr>
              <a:t>对应的校验位</a:t>
            </a:r>
            <a:r>
              <a:rPr kumimoji="0" lang="pt-BR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</a:t>
            </a:r>
            <a:r>
              <a:rPr kumimoji="0" lang="zh-CN" altLang="pt-BR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Times New Roman" pitchFamily="18" charset="0"/>
              </a:rPr>
              <a:t>＝</a:t>
            </a:r>
            <a:r>
              <a:rPr kumimoji="0" lang="pt-BR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</a:t>
            </a:r>
            <a:r>
              <a:rPr kumimoji="0" lang="pt-BR" altLang="zh-CN" sz="2800" b="1" i="0" u="none" strike="noStrike" kern="0" cap="none" spc="0" normalizeH="0" baseline="-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pt-BR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</a:t>
            </a:r>
            <a:r>
              <a:rPr kumimoji="0" lang="pt-BR" altLang="zh-CN" sz="2800" b="1" i="0" u="none" strike="noStrike" kern="0" cap="none" spc="0" normalizeH="0" baseline="-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pt-BR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</a:t>
            </a:r>
            <a:r>
              <a:rPr kumimoji="0" lang="pt-BR" altLang="zh-CN" sz="2800" b="1" i="0" u="none" strike="noStrike" kern="0" cap="none" spc="0" normalizeH="0" baseline="-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pt-BR" altLang="zh-CN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</a:t>
            </a:r>
            <a:r>
              <a:rPr kumimoji="0" lang="pt-BR" altLang="zh-CN" sz="2800" b="1" i="0" u="none" strike="noStrike" kern="0" cap="none" spc="0" normalizeH="0" baseline="-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0" lang="zh-CN" altLang="pt-BR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Times New Roman" pitchFamily="18" charset="0"/>
              </a:rPr>
              <a:t>，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1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zh-CN" altLang="pt-BR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Times New Roman" pitchFamily="18" charset="0"/>
              </a:rPr>
              <a:t>则海明码</a:t>
            </a:r>
            <a:r>
              <a:rPr kumimoji="0" lang="zh-CN" altLang="en-US" sz="2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Times New Roman" pitchFamily="18" charset="0"/>
              </a:rPr>
              <a:t>及其校验方程：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6" name="Group 323"/>
          <p:cNvGraphicFramePr>
            <a:graphicFrameLocks noGrp="1"/>
          </p:cNvGraphicFramePr>
          <p:nvPr/>
        </p:nvGraphicFramePr>
        <p:xfrm>
          <a:off x="179388" y="2781300"/>
          <a:ext cx="8547100" cy="3549971"/>
        </p:xfrm>
        <a:graphic>
          <a:graphicData uri="http://schemas.openxmlformats.org/drawingml/2006/table">
            <a:tbl>
              <a:tblPr/>
              <a:tblGrid>
                <a:gridCol w="214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96888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编码内容：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46800" marB="46800" anchor="b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7</a:t>
                      </a:r>
                      <a:endParaRPr kumimoji="1" lang="pt-BR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46800" marB="46800" anchor="b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  <a:endParaRPr kumimoji="1" lang="pt-BR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46800" marB="468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endParaRPr kumimoji="1" lang="pt-BR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46800" marB="468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endParaRPr kumimoji="1" lang="pt-BR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46800" marB="468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H</a:t>
                      </a:r>
                      <a:r>
                        <a:rPr kumimoji="1" lang="pt-BR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1" lang="pt-BR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46800" marB="468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1" lang="pt-BR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46800" marB="468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1" lang="pt-BR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46800" marB="468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1" lang="pt-BR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46800" marB="468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H</a:t>
                      </a:r>
                      <a:r>
                        <a:rPr kumimoji="1" lang="pt-BR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1" lang="pt-BR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46800" marB="468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D</a:t>
                      </a:r>
                      <a:r>
                        <a:rPr kumimoji="1" lang="pt-BR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1" lang="pt-BR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46800" marB="468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H</a:t>
                      </a:r>
                      <a:r>
                        <a:rPr kumimoji="1" lang="pt-BR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1" lang="pt-BR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46800" marB="468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H</a:t>
                      </a:r>
                      <a:r>
                        <a:rPr kumimoji="1" lang="pt-BR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1" lang="pt-BR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46800" marB="46800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0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编码位置：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46800" marB="46800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12</a:t>
                      </a:r>
                      <a:endParaRPr kumimoji="1" lang="pt-BR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46800" marB="46800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11</a:t>
                      </a:r>
                      <a:endParaRPr kumimoji="1" lang="pt-BR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46800" marB="46800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10</a:t>
                      </a:r>
                      <a:endParaRPr kumimoji="1" lang="pt-BR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46800" marB="46800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9</a:t>
                      </a:r>
                      <a:endParaRPr kumimoji="1" lang="pt-BR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46800" marB="46800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8</a:t>
                      </a:r>
                      <a:endParaRPr kumimoji="1" lang="pt-BR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46800" marB="46800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7</a:t>
                      </a:r>
                      <a:endParaRPr kumimoji="1" lang="pt-BR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46800" marB="46800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  <a:endParaRPr kumimoji="1" lang="pt-BR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46800" marB="46800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  <a:endParaRPr kumimoji="1" lang="pt-BR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46800" marB="46800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endParaRPr kumimoji="1" lang="pt-BR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46800" marB="46800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1" lang="pt-BR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46800" marB="46800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1" lang="pt-BR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46800" marB="46800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1" lang="pt-BR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46800" marB="46800" horzOverflow="overflow">
                    <a:lnL cap="flat">
                      <a:noFill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46800" marB="46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1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pt-BR" altLang="zh-CN" sz="1600" b="1" i="0" u="none" strike="noStrike" cap="none" normalizeH="0" baseline="-3000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54000" marR="0" marT="46800" marB="46800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4563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校验方程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0066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：</a:t>
                      </a:r>
                      <a:endParaRPr kumimoji="1" lang="zh-CN" alt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CC0066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0" marR="0" marT="46800" marB="46800" anchor="ctr" horzOverflow="overflow">
                    <a:lnL cap="flat">
                      <a:noFill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1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P</a:t>
                      </a:r>
                      <a:r>
                        <a:rPr kumimoji="1" lang="pt-BR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r>
                        <a:rPr kumimoji="1" lang="zh-CN" altLang="pt-BR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＝</a:t>
                      </a: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  <a:r>
                        <a:rPr kumimoji="1" lang="pt-BR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⊕</a:t>
                      </a: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  <a:r>
                        <a:rPr kumimoji="1" lang="pt-BR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⊕</a:t>
                      </a: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  <a:r>
                        <a:rPr kumimoji="1" lang="pt-BR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⊕</a:t>
                      </a: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  <a:r>
                        <a:rPr kumimoji="1" lang="pt-BR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⊕</a:t>
                      </a: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  <a:r>
                        <a:rPr kumimoji="1" lang="pt-BR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⊕</a:t>
                      </a: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H</a:t>
                      </a:r>
                      <a:r>
                        <a:rPr kumimoji="1" lang="pt-BR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P</a:t>
                      </a:r>
                      <a:r>
                        <a:rPr kumimoji="1" lang="pt-BR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1" lang="zh-CN" altLang="pt-BR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＝</a:t>
                      </a: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  <a:r>
                        <a:rPr kumimoji="1" lang="pt-BR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⊕</a:t>
                      </a: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  <a:r>
                        <a:rPr kumimoji="1" lang="pt-BR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⊕</a:t>
                      </a: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  <a:r>
                        <a:rPr kumimoji="1" lang="pt-BR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⊕</a:t>
                      </a: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  <a:r>
                        <a:rPr kumimoji="1" lang="pt-BR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⊕</a:t>
                      </a: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  <a:r>
                        <a:rPr kumimoji="1" lang="pt-BR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⊕</a:t>
                      </a: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H</a:t>
                      </a:r>
                      <a:r>
                        <a:rPr kumimoji="1" lang="pt-BR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endParaRPr kumimoji="1" lang="pt-BR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P</a:t>
                      </a:r>
                      <a:r>
                        <a:rPr kumimoji="1" lang="pt-BR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r>
                        <a:rPr kumimoji="1" lang="zh-CN" altLang="pt-BR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＝</a:t>
                      </a: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  <a:r>
                        <a:rPr kumimoji="1" lang="pt-BR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⊕</a:t>
                      </a: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  <a:r>
                        <a:rPr kumimoji="1" lang="pt-BR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⊕</a:t>
                      </a: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  <a:r>
                        <a:rPr kumimoji="1" lang="pt-BR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⊕</a:t>
                      </a: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  <a:r>
                        <a:rPr kumimoji="1" lang="pt-BR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⊕</a:t>
                      </a: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H</a:t>
                      </a:r>
                      <a:r>
                        <a:rPr kumimoji="1" lang="pt-BR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  P</a:t>
                      </a:r>
                      <a:r>
                        <a:rPr kumimoji="1" lang="pt-BR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r>
                        <a:rPr kumimoji="1" lang="zh-CN" altLang="pt-BR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＝</a:t>
                      </a: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  <a:r>
                        <a:rPr kumimoji="1" lang="pt-BR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7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⊕</a:t>
                      </a: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  <a:r>
                        <a:rPr kumimoji="1" lang="pt-BR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⊕</a:t>
                      </a: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  <a:r>
                        <a:rPr kumimoji="1" lang="pt-BR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⊕</a:t>
                      </a: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D</a:t>
                      </a:r>
                      <a:r>
                        <a:rPr kumimoji="1" lang="pt-BR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⊕</a:t>
                      </a:r>
                      <a:r>
                        <a:rPr kumimoji="1" lang="pt-BR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H</a:t>
                      </a:r>
                      <a:r>
                        <a:rPr kumimoji="1" lang="pt-BR" altLang="zh-CN" sz="2800" b="1" i="0" u="none" strike="noStrike" cap="none" normalizeH="0" baseline="-3000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54000" marR="0" marT="46800" marB="46800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AutoShape 320">
            <a:hlinkClick r:id="" action="ppaction://hlinkshowjump?jump=lastslideviewed" highlightClick="1"/>
          </p:cNvPr>
          <p:cNvSpPr>
            <a:spLocks noChangeArrowheads="1"/>
          </p:cNvSpPr>
          <p:nvPr/>
        </p:nvSpPr>
        <p:spPr bwMode="auto">
          <a:xfrm>
            <a:off x="8459788" y="620713"/>
            <a:ext cx="503237" cy="503237"/>
          </a:xfrm>
          <a:prstGeom prst="actionButtonReturn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0484E6-A161-47AD-BBD9-31564BED9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三、海明码        </a:t>
            </a:r>
            <a:r>
              <a:rPr lang="en-US" altLang="zh-CN" dirty="0">
                <a:solidFill>
                  <a:srgbClr val="CC0066"/>
                </a:solidFill>
              </a:rPr>
              <a:t>4. </a:t>
            </a:r>
            <a:r>
              <a:rPr lang="zh-CN" altLang="en-US" dirty="0">
                <a:solidFill>
                  <a:srgbClr val="0000FF"/>
                </a:solidFill>
              </a:rPr>
              <a:t>单纠错</a:t>
            </a:r>
            <a:r>
              <a:rPr lang="zh-CN" altLang="en-US" dirty="0">
                <a:solidFill>
                  <a:srgbClr val="FF6600"/>
                </a:solidFill>
              </a:rPr>
              <a:t>双检错</a:t>
            </a:r>
            <a:r>
              <a:rPr lang="zh-CN" altLang="en-US" dirty="0">
                <a:solidFill>
                  <a:srgbClr val="006600"/>
                </a:solidFill>
              </a:rPr>
              <a:t>码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AFC5BD-580C-43D5-8252-E43B21BB9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0728"/>
            <a:ext cx="8362950" cy="525656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n-US" altLang="zh-CN" dirty="0"/>
              <a:t> </a:t>
            </a:r>
            <a:r>
              <a:rPr lang="en-US" altLang="zh-CN" i="1" dirty="0" err="1"/>
              <a:t>d</a:t>
            </a:r>
            <a:r>
              <a:rPr lang="en-US" altLang="zh-CN" i="1" baseline="-25000" dirty="0" err="1"/>
              <a:t>min</a:t>
            </a:r>
            <a:r>
              <a:rPr lang="zh-CN" altLang="en-US" dirty="0"/>
              <a:t>＝</a:t>
            </a:r>
            <a:r>
              <a:rPr lang="en-US" altLang="zh-CN" dirty="0"/>
              <a:t>3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0000FF"/>
                </a:solidFill>
              </a:rPr>
              <a:t>纠正</a:t>
            </a:r>
            <a:r>
              <a:rPr lang="en-US" altLang="zh-CN" dirty="0">
                <a:solidFill>
                  <a:srgbClr val="0000FF"/>
                </a:solidFill>
              </a:rPr>
              <a:t>1</a:t>
            </a:r>
            <a:r>
              <a:rPr lang="zh-CN" altLang="en-US" dirty="0">
                <a:solidFill>
                  <a:srgbClr val="0000FF"/>
                </a:solidFill>
              </a:rPr>
              <a:t>位</a:t>
            </a:r>
            <a:r>
              <a:rPr lang="zh-CN" altLang="en-US" dirty="0"/>
              <a:t>错误 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zh-CN" altLang="en-US" dirty="0"/>
              <a:t> </a:t>
            </a:r>
            <a:r>
              <a:rPr lang="zh-CN" altLang="en-US" dirty="0">
                <a:solidFill>
                  <a:srgbClr val="0000FF"/>
                </a:solidFill>
              </a:rPr>
              <a:t>发现</a:t>
            </a:r>
            <a:r>
              <a:rPr lang="en-US" altLang="zh-CN" dirty="0">
                <a:solidFill>
                  <a:srgbClr val="0000FF"/>
                </a:solidFill>
              </a:rPr>
              <a:t>2</a:t>
            </a:r>
            <a:r>
              <a:rPr lang="zh-CN" altLang="en-US" dirty="0">
                <a:solidFill>
                  <a:srgbClr val="0000FF"/>
                </a:solidFill>
              </a:rPr>
              <a:t>位</a:t>
            </a:r>
            <a:r>
              <a:rPr lang="zh-CN" altLang="en-US" dirty="0"/>
              <a:t>错误而不纠正。</a:t>
            </a:r>
            <a:endParaRPr lang="en-US" altLang="zh-CN" dirty="0"/>
          </a:p>
          <a:p>
            <a:pPr>
              <a:spcBef>
                <a:spcPts val="1200"/>
              </a:spcBef>
            </a:pPr>
            <a:r>
              <a:rPr lang="zh-CN" altLang="en-US" dirty="0"/>
              <a:t>同时 </a:t>
            </a:r>
            <a:r>
              <a:rPr lang="zh-CN" altLang="en-US" dirty="0">
                <a:solidFill>
                  <a:srgbClr val="0000FF"/>
                </a:solidFill>
              </a:rPr>
              <a:t>纠正</a:t>
            </a:r>
            <a:r>
              <a:rPr lang="en-US" altLang="zh-CN" dirty="0">
                <a:solidFill>
                  <a:srgbClr val="0000FF"/>
                </a:solidFill>
              </a:rPr>
              <a:t>1</a:t>
            </a:r>
            <a:r>
              <a:rPr lang="zh-CN" altLang="en-US" dirty="0">
                <a:solidFill>
                  <a:srgbClr val="0000FF"/>
                </a:solidFill>
              </a:rPr>
              <a:t>位</a:t>
            </a:r>
            <a:r>
              <a:rPr lang="zh-CN" altLang="en-US" dirty="0"/>
              <a:t>错误 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并且</a:t>
            </a:r>
            <a:r>
              <a:rPr lang="zh-CN" altLang="en-US" dirty="0"/>
              <a:t> </a:t>
            </a:r>
            <a:r>
              <a:rPr lang="zh-CN" altLang="en-US" dirty="0">
                <a:solidFill>
                  <a:srgbClr val="0000FF"/>
                </a:solidFill>
              </a:rPr>
              <a:t>发现</a:t>
            </a:r>
            <a:r>
              <a:rPr lang="en-US" altLang="zh-CN" dirty="0">
                <a:solidFill>
                  <a:srgbClr val="0000FF"/>
                </a:solidFill>
              </a:rPr>
              <a:t>2</a:t>
            </a:r>
            <a:r>
              <a:rPr lang="zh-CN" altLang="en-US" dirty="0">
                <a:solidFill>
                  <a:srgbClr val="0000FF"/>
                </a:solidFill>
              </a:rPr>
              <a:t>位</a:t>
            </a:r>
            <a:r>
              <a:rPr lang="zh-CN" altLang="en-US" dirty="0"/>
              <a:t>错误，如何实现？</a:t>
            </a:r>
            <a:endParaRPr lang="en-US" altLang="zh-CN" dirty="0"/>
          </a:p>
          <a:p>
            <a:pPr>
              <a:spcBef>
                <a:spcPts val="1200"/>
              </a:spcBef>
            </a:pPr>
            <a:r>
              <a:rPr lang="zh-CN" altLang="en-US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单纠错双检错</a:t>
            </a:r>
            <a:r>
              <a:rPr lang="en-US" altLang="zh-CN" dirty="0">
                <a:latin typeface="+mn-ea"/>
              </a:rPr>
              <a:t>(</a:t>
            </a:r>
            <a:r>
              <a:rPr lang="en-US" altLang="zh-CN" dirty="0"/>
              <a:t>Single-Error-Correcting, Double-Error-Detecting, SEC-DED</a:t>
            </a:r>
            <a:r>
              <a:rPr lang="en-US" altLang="zh-CN" dirty="0">
                <a:latin typeface="+mn-ea"/>
              </a:rPr>
              <a:t>)</a:t>
            </a:r>
            <a:r>
              <a:rPr lang="zh-CN" altLang="en-US" dirty="0">
                <a:solidFill>
                  <a:schemeClr val="bg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</a:t>
            </a:r>
            <a:r>
              <a:rPr lang="zh-CN" altLang="en-US" dirty="0"/>
              <a:t>：</a:t>
            </a:r>
            <a:br>
              <a:rPr lang="en-US" altLang="zh-CN" dirty="0"/>
            </a:br>
            <a:r>
              <a:rPr lang="zh-CN" altLang="en-US" dirty="0"/>
              <a:t>增加</a:t>
            </a:r>
            <a:r>
              <a:rPr lang="en-US" altLang="zh-CN" dirty="0"/>
              <a:t>1</a:t>
            </a:r>
            <a:r>
              <a:rPr lang="zh-CN" altLang="en-US" dirty="0"/>
              <a:t>个所有数据位异或得到的校验位</a:t>
            </a:r>
            <a:r>
              <a:rPr lang="en-US" altLang="zh-CN" dirty="0"/>
              <a:t>C</a:t>
            </a:r>
            <a:r>
              <a:rPr lang="zh-CN" altLang="en-US" dirty="0"/>
              <a:t>，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zh-CN" altLang="en-US" dirty="0"/>
              <a:t>若</a:t>
            </a:r>
            <a:r>
              <a:rPr lang="en-US" altLang="zh-CN" dirty="0">
                <a:solidFill>
                  <a:srgbClr val="CC0066"/>
                </a:solidFill>
              </a:rPr>
              <a:t>C</a:t>
            </a:r>
            <a:r>
              <a:rPr lang="zh-CN" altLang="en-US" dirty="0">
                <a:solidFill>
                  <a:srgbClr val="CC0066"/>
                </a:solidFill>
              </a:rPr>
              <a:t>校验错误</a:t>
            </a:r>
            <a:r>
              <a:rPr lang="zh-CN" altLang="en-US" dirty="0"/>
              <a:t>，表示可能有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位错误</a:t>
            </a:r>
            <a:r>
              <a:rPr lang="zh-CN" altLang="en-US" dirty="0"/>
              <a:t>，</a:t>
            </a:r>
            <a:br>
              <a:rPr lang="en-US" altLang="zh-CN" dirty="0"/>
            </a:br>
            <a:r>
              <a:rPr lang="zh-CN" altLang="en-US" dirty="0"/>
              <a:t>根据</a:t>
            </a:r>
            <a:r>
              <a:rPr lang="en-US" altLang="zh-CN" dirty="0"/>
              <a:t>P</a:t>
            </a:r>
            <a:r>
              <a:rPr lang="en-US" altLang="zh-CN" baseline="-25000" dirty="0"/>
              <a:t>3</a:t>
            </a:r>
            <a:r>
              <a:rPr lang="zh-CN" altLang="en-US" dirty="0"/>
              <a:t>～</a:t>
            </a:r>
            <a:r>
              <a:rPr lang="en-US" altLang="zh-CN" dirty="0"/>
              <a:t>P</a:t>
            </a:r>
            <a:r>
              <a:rPr lang="en-US" altLang="zh-CN" baseline="-25000" dirty="0"/>
              <a:t>0</a:t>
            </a:r>
            <a:r>
              <a:rPr lang="zh-CN" altLang="en-US" dirty="0"/>
              <a:t>确定错误位置，并纠错；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zh-CN" altLang="en-US" dirty="0"/>
              <a:t>若</a:t>
            </a:r>
            <a:r>
              <a:rPr lang="en-US" altLang="zh-CN" dirty="0">
                <a:solidFill>
                  <a:srgbClr val="CC0066"/>
                </a:solidFill>
              </a:rPr>
              <a:t>C</a:t>
            </a:r>
            <a:r>
              <a:rPr lang="zh-CN" altLang="en-US" dirty="0">
                <a:solidFill>
                  <a:srgbClr val="CC0066"/>
                </a:solidFill>
              </a:rPr>
              <a:t>校验正确</a:t>
            </a:r>
            <a:r>
              <a:rPr lang="zh-CN" altLang="en-US" dirty="0"/>
              <a:t>，而</a:t>
            </a:r>
            <a:r>
              <a:rPr lang="en-US" altLang="zh-CN" dirty="0">
                <a:solidFill>
                  <a:srgbClr val="0000FF"/>
                </a:solidFill>
              </a:rPr>
              <a:t>P</a:t>
            </a:r>
            <a:r>
              <a:rPr lang="en-US" altLang="zh-CN" baseline="-25000" dirty="0">
                <a:solidFill>
                  <a:srgbClr val="0000FF"/>
                </a:solidFill>
              </a:rPr>
              <a:t>3</a:t>
            </a:r>
            <a:r>
              <a:rPr lang="zh-CN" altLang="en-US" dirty="0">
                <a:solidFill>
                  <a:srgbClr val="0000FF"/>
                </a:solidFill>
              </a:rPr>
              <a:t>～</a:t>
            </a:r>
            <a:r>
              <a:rPr lang="en-US" altLang="zh-CN" dirty="0">
                <a:solidFill>
                  <a:srgbClr val="0000FF"/>
                </a:solidFill>
              </a:rPr>
              <a:t>P</a:t>
            </a:r>
            <a:r>
              <a:rPr lang="en-US" altLang="zh-CN" baseline="-25000" dirty="0">
                <a:solidFill>
                  <a:srgbClr val="0000FF"/>
                </a:solidFill>
              </a:rPr>
              <a:t>0</a:t>
            </a:r>
            <a:r>
              <a:rPr lang="zh-CN" altLang="en-US" dirty="0">
                <a:solidFill>
                  <a:srgbClr val="0000FF"/>
                </a:solidFill>
              </a:rPr>
              <a:t>不全为</a:t>
            </a:r>
            <a:r>
              <a:rPr lang="en-US" altLang="zh-CN" dirty="0">
                <a:solidFill>
                  <a:srgbClr val="0000FF"/>
                </a:solidFill>
              </a:rPr>
              <a:t>0</a:t>
            </a:r>
            <a:r>
              <a:rPr lang="zh-CN" altLang="en-US" dirty="0"/>
              <a:t>，</a:t>
            </a:r>
            <a:br>
              <a:rPr lang="en-US" altLang="zh-CN" dirty="0"/>
            </a:br>
            <a:r>
              <a:rPr lang="zh-CN" altLang="en-US" dirty="0"/>
              <a:t>表示有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位错误</a:t>
            </a:r>
            <a:r>
              <a:rPr lang="zh-CN" altLang="en-US" dirty="0"/>
              <a:t>，只给出校验错误信息，不纠错。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622A80-A87F-4FDF-A977-21C57FF09A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E090CA-FDE9-4186-A298-407E61DFE875}" type="slidenum">
              <a:rPr lang="zh-CN" altLang="en-US" smtClean="0"/>
              <a:pPr/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9071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02C29C-3F93-4D5B-AF1F-416ADF6CD8EA}" type="slidenum">
              <a:rPr lang="zh-CN" altLang="en-US"/>
              <a:pPr/>
              <a:t>49</a:t>
            </a:fld>
            <a:endParaRPr lang="en-US" altLang="zh-CN"/>
          </a:p>
        </p:txBody>
      </p:sp>
      <p:sp>
        <p:nvSpPr>
          <p:cNvPr id="134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590550" y="528638"/>
            <a:ext cx="8229600" cy="523875"/>
          </a:xfrm>
        </p:spPr>
        <p:txBody>
          <a:bodyPr/>
          <a:lstStyle/>
          <a:p>
            <a:r>
              <a:rPr lang="zh-CN" altLang="en-US" dirty="0"/>
              <a:t>四、循环冗余校验码</a:t>
            </a:r>
          </a:p>
        </p:txBody>
      </p:sp>
      <p:sp>
        <p:nvSpPr>
          <p:cNvPr id="134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16113"/>
            <a:ext cx="8362950" cy="4321175"/>
          </a:xfrm>
        </p:spPr>
        <p:txBody>
          <a:bodyPr/>
          <a:lstStyle/>
          <a:p>
            <a:r>
              <a:rPr lang="zh-CN" altLang="en-US"/>
              <a:t>循环冗余校验：</a:t>
            </a:r>
            <a:br>
              <a:rPr lang="zh-CN" altLang="en-US"/>
            </a:br>
            <a:r>
              <a:rPr lang="en-US" altLang="zh-CN">
                <a:solidFill>
                  <a:srgbClr val="FF0000"/>
                </a:solidFill>
              </a:rPr>
              <a:t>C</a:t>
            </a:r>
            <a:r>
              <a:rPr lang="en-US" altLang="zh-CN"/>
              <a:t>yclic </a:t>
            </a:r>
            <a:r>
              <a:rPr lang="en-US" altLang="zh-CN">
                <a:solidFill>
                  <a:srgbClr val="FF0000"/>
                </a:solidFill>
              </a:rPr>
              <a:t>R</a:t>
            </a:r>
            <a:r>
              <a:rPr lang="en-US" altLang="zh-CN"/>
              <a:t>edundancy </a:t>
            </a:r>
            <a:r>
              <a:rPr lang="en-US" altLang="zh-CN">
                <a:solidFill>
                  <a:srgbClr val="FF0000"/>
                </a:solidFill>
              </a:rPr>
              <a:t>C</a:t>
            </a:r>
            <a:r>
              <a:rPr lang="en-US" altLang="zh-CN"/>
              <a:t>heck</a:t>
            </a:r>
            <a:r>
              <a:rPr lang="zh-CN" altLang="en-US"/>
              <a:t>，简称 </a:t>
            </a:r>
            <a:r>
              <a:rPr lang="en-US" altLang="zh-CN"/>
              <a:t>CRC</a:t>
            </a:r>
            <a:r>
              <a:rPr lang="zh-CN" altLang="en-US"/>
              <a:t>。</a:t>
            </a:r>
          </a:p>
        </p:txBody>
      </p:sp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9E4B61B-5E20-44EE-9E21-2A6FD174F6E7}" type="slidenum">
              <a:rPr lang="zh-CN" altLang="en-US"/>
              <a:pPr/>
              <a:t>50</a:t>
            </a:fld>
            <a:endParaRPr lang="en-US" altLang="zh-CN"/>
          </a:p>
        </p:txBody>
      </p:sp>
      <p:sp>
        <p:nvSpPr>
          <p:cNvPr id="134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590550" y="528638"/>
            <a:ext cx="8229600" cy="523875"/>
          </a:xfrm>
        </p:spPr>
        <p:txBody>
          <a:bodyPr/>
          <a:lstStyle/>
          <a:p>
            <a:r>
              <a:rPr lang="zh-CN" altLang="en-US" dirty="0"/>
              <a:t>四、循环冗余校验码          </a:t>
            </a:r>
            <a:r>
              <a:rPr lang="en-US" altLang="zh-CN" dirty="0">
                <a:solidFill>
                  <a:srgbClr val="FF6600"/>
                </a:solidFill>
              </a:rPr>
              <a:t>1. CRC</a:t>
            </a:r>
            <a:r>
              <a:rPr lang="zh-CN" altLang="en-US" dirty="0">
                <a:solidFill>
                  <a:srgbClr val="FF6600"/>
                </a:solidFill>
              </a:rPr>
              <a:t>算法原理</a:t>
            </a:r>
          </a:p>
        </p:txBody>
      </p:sp>
      <p:sp>
        <p:nvSpPr>
          <p:cNvPr id="134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96975"/>
            <a:ext cx="8507413" cy="5472113"/>
          </a:xfrm>
        </p:spPr>
        <p:txBody>
          <a:bodyPr/>
          <a:lstStyle/>
          <a:p>
            <a:r>
              <a:rPr lang="zh-CN" altLang="en-US"/>
              <a:t>通过某种数学运算建立</a:t>
            </a:r>
            <a:r>
              <a:rPr lang="zh-CN" altLang="en-US">
                <a:solidFill>
                  <a:srgbClr val="FF0000"/>
                </a:solidFill>
              </a:rPr>
              <a:t>数据</a:t>
            </a:r>
            <a:r>
              <a:rPr lang="zh-CN" altLang="en-US"/>
              <a:t>和</a:t>
            </a:r>
            <a:r>
              <a:rPr lang="zh-CN" altLang="en-US">
                <a:solidFill>
                  <a:srgbClr val="FF0000"/>
                </a:solidFill>
              </a:rPr>
              <a:t>校验位</a:t>
            </a:r>
            <a:r>
              <a:rPr lang="zh-CN" altLang="en-US"/>
              <a:t>之间的约定关系。</a:t>
            </a:r>
          </a:p>
          <a:p>
            <a:r>
              <a:rPr lang="zh-CN" altLang="en-US"/>
              <a:t>编码及译码：</a:t>
            </a:r>
          </a:p>
          <a:p>
            <a:pPr lvl="1"/>
            <a:r>
              <a:rPr lang="zh-CN" altLang="en-US"/>
              <a:t>发送端：</a:t>
            </a:r>
          </a:p>
          <a:p>
            <a:pPr lvl="2"/>
            <a:r>
              <a:rPr lang="zh-CN" altLang="en-US">
                <a:solidFill>
                  <a:srgbClr val="0000FF"/>
                </a:solidFill>
              </a:rPr>
              <a:t>被校验数据</a:t>
            </a:r>
            <a:r>
              <a:rPr lang="zh-CN" altLang="en-US"/>
              <a:t>除以</a:t>
            </a:r>
            <a:r>
              <a:rPr lang="zh-CN" altLang="en-US">
                <a:solidFill>
                  <a:srgbClr val="FF0000"/>
                </a:solidFill>
                <a:ea typeface="黑体" pitchFamily="2" charset="-122"/>
              </a:rPr>
              <a:t>生成多项式</a:t>
            </a:r>
            <a:r>
              <a:rPr lang="zh-CN" altLang="en-US"/>
              <a:t>；</a:t>
            </a:r>
          </a:p>
          <a:p>
            <a:pPr lvl="2"/>
            <a:r>
              <a:rPr lang="zh-CN" altLang="en-US">
                <a:solidFill>
                  <a:srgbClr val="0000FF"/>
                </a:solidFill>
              </a:rPr>
              <a:t>被校验数据</a:t>
            </a:r>
            <a:r>
              <a:rPr lang="zh-CN" altLang="en-US">
                <a:solidFill>
                  <a:srgbClr val="FF0000"/>
                </a:solidFill>
              </a:rPr>
              <a:t>减</a:t>
            </a:r>
            <a:r>
              <a:rPr lang="zh-CN" altLang="en-US"/>
              <a:t>去</a:t>
            </a:r>
            <a:r>
              <a:rPr lang="zh-CN" altLang="en-US">
                <a:solidFill>
                  <a:srgbClr val="0000FF"/>
                </a:solidFill>
              </a:rPr>
              <a:t>余数</a:t>
            </a:r>
            <a:r>
              <a:rPr lang="zh-CN" altLang="en-US"/>
              <a:t>，结果作为</a:t>
            </a:r>
            <a:r>
              <a:rPr lang="zh-CN" altLang="en-US">
                <a:solidFill>
                  <a:srgbClr val="0000FF"/>
                </a:solidFill>
              </a:rPr>
              <a:t>发送数据</a:t>
            </a:r>
            <a:r>
              <a:rPr lang="zh-CN" altLang="en-US"/>
              <a:t>。</a:t>
            </a:r>
          </a:p>
          <a:p>
            <a:pPr lvl="1"/>
            <a:r>
              <a:rPr lang="zh-CN" altLang="en-US"/>
              <a:t>接收端：</a:t>
            </a:r>
            <a:r>
              <a:rPr lang="zh-CN" altLang="en-US">
                <a:solidFill>
                  <a:srgbClr val="0000FF"/>
                </a:solidFill>
              </a:rPr>
              <a:t>接收数据</a:t>
            </a:r>
            <a:r>
              <a:rPr lang="zh-CN" altLang="en-US"/>
              <a:t>除以</a:t>
            </a:r>
            <a:r>
              <a:rPr lang="zh-CN" altLang="en-US">
                <a:solidFill>
                  <a:srgbClr val="FF0000"/>
                </a:solidFill>
                <a:ea typeface="黑体" pitchFamily="2" charset="-122"/>
              </a:rPr>
              <a:t>生成多项式</a:t>
            </a:r>
            <a:r>
              <a:rPr lang="zh-CN" altLang="en-US"/>
              <a:t>。</a:t>
            </a:r>
          </a:p>
          <a:p>
            <a:pPr lvl="2"/>
            <a:r>
              <a:rPr lang="zh-CN" altLang="en-US"/>
              <a:t>可以除尽，编码正确；</a:t>
            </a:r>
          </a:p>
          <a:p>
            <a:pPr lvl="2"/>
            <a:r>
              <a:rPr lang="zh-CN" altLang="en-US"/>
              <a:t>除不尽，</a:t>
            </a:r>
            <a:r>
              <a:rPr lang="zh-CN" altLang="en-US">
                <a:solidFill>
                  <a:srgbClr val="006600"/>
                </a:solidFill>
              </a:rPr>
              <a:t>余数</a:t>
            </a:r>
            <a:r>
              <a:rPr lang="zh-CN" altLang="en-US"/>
              <a:t>指明出错位所在的位置。</a:t>
            </a:r>
          </a:p>
        </p:txBody>
      </p:sp>
    </p:spTree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DC7BB82-8D92-4A4C-9BD5-AA5851EBD2A0}" type="slidenum">
              <a:rPr lang="zh-CN" altLang="en-US"/>
              <a:pPr/>
              <a:t>51</a:t>
            </a:fld>
            <a:endParaRPr lang="en-US" altLang="zh-CN"/>
          </a:p>
        </p:txBody>
      </p:sp>
      <p:sp>
        <p:nvSpPr>
          <p:cNvPr id="134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590550" y="528638"/>
            <a:ext cx="8229600" cy="523875"/>
          </a:xfrm>
        </p:spPr>
        <p:txBody>
          <a:bodyPr/>
          <a:lstStyle/>
          <a:p>
            <a:r>
              <a:rPr lang="zh-CN" altLang="en-US" dirty="0"/>
              <a:t>四、循环冗余校验码          </a:t>
            </a:r>
            <a:r>
              <a:rPr lang="en-US" altLang="zh-CN" dirty="0">
                <a:solidFill>
                  <a:srgbClr val="FF6600"/>
                </a:solidFill>
              </a:rPr>
              <a:t>1. CRC</a:t>
            </a:r>
            <a:r>
              <a:rPr lang="zh-CN" altLang="en-US" dirty="0">
                <a:solidFill>
                  <a:srgbClr val="FF6600"/>
                </a:solidFill>
              </a:rPr>
              <a:t>算法原理</a:t>
            </a:r>
          </a:p>
        </p:txBody>
      </p:sp>
      <p:sp>
        <p:nvSpPr>
          <p:cNvPr id="134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25363"/>
            <a:ext cx="8507413" cy="5688013"/>
          </a:xfrm>
        </p:spPr>
        <p:txBody>
          <a:bodyPr/>
          <a:lstStyle/>
          <a:p>
            <a:r>
              <a:rPr lang="zh-CN" altLang="en-US" dirty="0"/>
              <a:t>采用</a:t>
            </a:r>
            <a:r>
              <a:rPr lang="zh-CN" altLang="en-US" dirty="0">
                <a:solidFill>
                  <a:srgbClr val="FF0000"/>
                </a:solidFill>
                <a:latin typeface="Arial" charset="0"/>
                <a:ea typeface="黑体" pitchFamily="2" charset="-122"/>
              </a:rPr>
              <a:t>模</a:t>
            </a:r>
            <a:r>
              <a:rPr lang="en-US" altLang="zh-CN" dirty="0">
                <a:solidFill>
                  <a:srgbClr val="FF0000"/>
                </a:solidFill>
                <a:latin typeface="Arial" charset="0"/>
                <a:ea typeface="黑体" pitchFamily="2" charset="-122"/>
              </a:rPr>
              <a:t>2</a:t>
            </a:r>
            <a:r>
              <a:rPr lang="zh-CN" altLang="en-US" dirty="0">
                <a:solidFill>
                  <a:srgbClr val="FF0000"/>
                </a:solidFill>
                <a:latin typeface="Arial" charset="0"/>
                <a:ea typeface="黑体" pitchFamily="2" charset="-122"/>
              </a:rPr>
              <a:t>算术运算</a:t>
            </a:r>
            <a:r>
              <a:rPr lang="zh-CN" altLang="en-US" dirty="0">
                <a:latin typeface="Arial" charset="0"/>
                <a:ea typeface="黑体" pitchFamily="2" charset="-122"/>
              </a:rPr>
              <a:t>：</a:t>
            </a:r>
            <a:endParaRPr lang="zh-CN" altLang="en-US" dirty="0"/>
          </a:p>
          <a:p>
            <a:pPr lvl="1"/>
            <a:r>
              <a:rPr lang="zh-CN" altLang="en-US" dirty="0"/>
              <a:t>通过</a:t>
            </a:r>
            <a:r>
              <a:rPr lang="zh-CN" altLang="en-US" dirty="0">
                <a:solidFill>
                  <a:srgbClr val="0000FF"/>
                </a:solidFill>
              </a:rPr>
              <a:t>模</a:t>
            </a:r>
            <a:r>
              <a:rPr lang="en-US" altLang="zh-CN" dirty="0">
                <a:solidFill>
                  <a:srgbClr val="0000FF"/>
                </a:solidFill>
              </a:rPr>
              <a:t>2</a:t>
            </a:r>
            <a:r>
              <a:rPr lang="zh-CN" altLang="en-US" dirty="0">
                <a:solidFill>
                  <a:srgbClr val="0000FF"/>
                </a:solidFill>
              </a:rPr>
              <a:t>减法</a:t>
            </a:r>
            <a:r>
              <a:rPr lang="zh-CN" altLang="en-US" dirty="0"/>
              <a:t>实现</a:t>
            </a:r>
            <a:r>
              <a:rPr lang="zh-CN" altLang="en-US" dirty="0">
                <a:solidFill>
                  <a:srgbClr val="0000FF"/>
                </a:solidFill>
              </a:rPr>
              <a:t>模</a:t>
            </a:r>
            <a:r>
              <a:rPr lang="en-US" altLang="zh-CN" dirty="0">
                <a:solidFill>
                  <a:srgbClr val="0000FF"/>
                </a:solidFill>
              </a:rPr>
              <a:t>2</a:t>
            </a:r>
            <a:r>
              <a:rPr lang="zh-CN" altLang="en-US" dirty="0">
                <a:solidFill>
                  <a:srgbClr val="0000FF"/>
                </a:solidFill>
              </a:rPr>
              <a:t>除法</a:t>
            </a:r>
            <a:r>
              <a:rPr lang="zh-CN" altLang="en-US" dirty="0"/>
              <a:t>；</a:t>
            </a:r>
          </a:p>
          <a:p>
            <a:pPr lvl="1"/>
            <a:r>
              <a:rPr lang="zh-CN" altLang="en-US" dirty="0"/>
              <a:t>以</a:t>
            </a:r>
            <a:r>
              <a:rPr lang="zh-CN" altLang="en-US" dirty="0">
                <a:solidFill>
                  <a:srgbClr val="0000FF"/>
                </a:solidFill>
              </a:rPr>
              <a:t>模</a:t>
            </a:r>
            <a:r>
              <a:rPr lang="en-US" altLang="zh-CN" dirty="0">
                <a:solidFill>
                  <a:srgbClr val="0000FF"/>
                </a:solidFill>
              </a:rPr>
              <a:t>2</a:t>
            </a:r>
            <a:r>
              <a:rPr lang="zh-CN" altLang="en-US" dirty="0">
                <a:solidFill>
                  <a:srgbClr val="0000FF"/>
                </a:solidFill>
              </a:rPr>
              <a:t>加法</a:t>
            </a:r>
            <a:r>
              <a:rPr lang="zh-CN" altLang="en-US" dirty="0"/>
              <a:t>将所得余数拼接在被校验数据的后面，形成能除尽的被校验数据。</a:t>
            </a:r>
          </a:p>
          <a:p>
            <a:r>
              <a:rPr lang="zh-CN" altLang="en-US" dirty="0">
                <a:solidFill>
                  <a:srgbClr val="FF0000"/>
                </a:solidFill>
                <a:latin typeface="Arial" charset="0"/>
                <a:ea typeface="黑体" pitchFamily="2" charset="-122"/>
              </a:rPr>
              <a:t>生成多项式</a:t>
            </a:r>
            <a:r>
              <a:rPr lang="zh-CN" altLang="en-US" dirty="0"/>
              <a:t>应满足的要求：</a:t>
            </a:r>
          </a:p>
          <a:p>
            <a:pPr lvl="1"/>
            <a:r>
              <a:rPr lang="zh-CN" altLang="en-US" dirty="0"/>
              <a:t>任何一位发生错误都应使余数不为</a:t>
            </a:r>
            <a:r>
              <a:rPr lang="en-US" altLang="zh-CN" dirty="0"/>
              <a:t>0</a:t>
            </a:r>
            <a:r>
              <a:rPr lang="zh-CN" altLang="en-US" dirty="0"/>
              <a:t>；</a:t>
            </a:r>
          </a:p>
          <a:p>
            <a:pPr lvl="1"/>
            <a:r>
              <a:rPr lang="zh-CN" altLang="en-US" dirty="0"/>
              <a:t>不同位发生错误应当使余数不同；</a:t>
            </a:r>
          </a:p>
          <a:p>
            <a:pPr lvl="1"/>
            <a:r>
              <a:rPr lang="zh-CN" altLang="en-US" dirty="0"/>
              <a:t>对余数继续做模</a:t>
            </a:r>
            <a:r>
              <a:rPr lang="en-US" altLang="zh-CN" dirty="0"/>
              <a:t>2</a:t>
            </a:r>
            <a:r>
              <a:rPr lang="zh-CN" altLang="en-US" dirty="0"/>
              <a:t>除，余数循环。</a:t>
            </a:r>
          </a:p>
          <a:p>
            <a:r>
              <a:rPr lang="zh-CN" altLang="en-US" dirty="0">
                <a:solidFill>
                  <a:srgbClr val="FF0000"/>
                </a:solidFill>
                <a:latin typeface="Arial" charset="0"/>
                <a:ea typeface="黑体" pitchFamily="2" charset="-122"/>
              </a:rPr>
              <a:t>生成多项式</a:t>
            </a:r>
            <a:r>
              <a:rPr lang="zh-CN" altLang="en-US" dirty="0"/>
              <a:t>的表示：</a:t>
            </a:r>
            <a:br>
              <a:rPr lang="zh-CN" altLang="en-US" dirty="0"/>
            </a:br>
            <a:r>
              <a:rPr lang="zh-CN" altLang="en-US" dirty="0"/>
              <a:t>如，生成多项式</a:t>
            </a:r>
            <a:r>
              <a:rPr lang="en-US" altLang="zh-CN" dirty="0"/>
              <a:t>G</a:t>
            </a:r>
            <a:r>
              <a:rPr lang="zh-CN" altLang="en-US" dirty="0"/>
              <a:t>＝</a:t>
            </a:r>
            <a:r>
              <a:rPr lang="en-US" altLang="zh-CN" dirty="0">
                <a:solidFill>
                  <a:srgbClr val="000000"/>
                </a:solidFill>
              </a:rPr>
              <a:t>1011</a:t>
            </a:r>
            <a:r>
              <a:rPr lang="en-US" altLang="zh-CN" baseline="-30000" dirty="0">
                <a:solidFill>
                  <a:srgbClr val="000000"/>
                </a:solidFill>
              </a:rPr>
              <a:t>2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，表示生成多项式为</a:t>
            </a:r>
            <a:b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</a:b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G</a:t>
            </a:r>
            <a:r>
              <a:rPr lang="en-US" altLang="zh-CN" dirty="0">
                <a:solidFill>
                  <a:srgbClr val="000000"/>
                </a:solidFill>
                <a:latin typeface="宋体" charset="-122"/>
                <a:cs typeface="Times New Roman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cs typeface="Times New Roman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宋体" charset="-122"/>
                <a:cs typeface="Times New Roman" pitchFamily="18" charset="0"/>
              </a:rPr>
              <a:t>)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dirty="0">
                <a:solidFill>
                  <a:srgbClr val="000000"/>
                </a:solidFill>
              </a:rPr>
              <a:t>X</a:t>
            </a:r>
            <a:r>
              <a:rPr lang="en-US" altLang="zh-CN" baseline="30000" dirty="0">
                <a:solidFill>
                  <a:srgbClr val="000000"/>
                </a:solidFill>
              </a:rPr>
              <a:t>3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＋</a:t>
            </a:r>
            <a:r>
              <a:rPr lang="en-US" altLang="zh-CN" dirty="0">
                <a:solidFill>
                  <a:srgbClr val="000000"/>
                </a:solidFill>
              </a:rPr>
              <a:t>X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＋</a:t>
            </a:r>
            <a:r>
              <a:rPr lang="en-US" altLang="zh-CN" dirty="0">
                <a:solidFill>
                  <a:srgbClr val="000000"/>
                </a:solidFill>
              </a:rPr>
              <a:t>1</a:t>
            </a:r>
            <a:endParaRPr lang="zh-CN" altLang="en-US" dirty="0"/>
          </a:p>
        </p:txBody>
      </p:sp>
      <p:sp>
        <p:nvSpPr>
          <p:cNvPr id="2" name="动作按钮: 前进或下一项 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34D7C56B-9E2E-42B8-B585-D40BE4A3429C}"/>
              </a:ext>
            </a:extLst>
          </p:cNvPr>
          <p:cNvSpPr/>
          <p:nvPr/>
        </p:nvSpPr>
        <p:spPr bwMode="auto">
          <a:xfrm>
            <a:off x="7308304" y="6165304"/>
            <a:ext cx="864096" cy="523875"/>
          </a:xfrm>
          <a:prstGeom prst="actionButtonForwardNext">
            <a:avLst/>
          </a:prstGeom>
          <a:solidFill>
            <a:srgbClr val="FFCCCC"/>
          </a:solidFill>
          <a:ln>
            <a:solidFill>
              <a:srgbClr val="FF0066"/>
            </a:solidFill>
            <a:headEnd type="none" w="med" len="med"/>
            <a:tailEnd type="triangle" w="med" len="lg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717D01-A332-42AC-9545-E09C364D3E38}" type="slidenum">
              <a:rPr lang="zh-CN" altLang="en-US"/>
              <a:pPr/>
              <a:t>52</a:t>
            </a:fld>
            <a:endParaRPr lang="en-US" altLang="zh-CN"/>
          </a:p>
        </p:txBody>
      </p:sp>
      <p:sp>
        <p:nvSpPr>
          <p:cNvPr id="134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590550" y="528638"/>
            <a:ext cx="8229600" cy="523875"/>
          </a:xfrm>
        </p:spPr>
        <p:txBody>
          <a:bodyPr/>
          <a:lstStyle/>
          <a:p>
            <a:r>
              <a:rPr lang="zh-CN" altLang="en-US" dirty="0"/>
              <a:t>四、循环冗余校验码          </a:t>
            </a:r>
            <a:r>
              <a:rPr lang="en-US" altLang="zh-CN" dirty="0">
                <a:solidFill>
                  <a:srgbClr val="FF6600"/>
                </a:solidFill>
              </a:rPr>
              <a:t>2. CRC</a:t>
            </a:r>
            <a:r>
              <a:rPr lang="zh-CN" altLang="en-US" dirty="0">
                <a:solidFill>
                  <a:srgbClr val="CC0066"/>
                </a:solidFill>
              </a:rPr>
              <a:t>编码</a:t>
            </a:r>
            <a:r>
              <a:rPr lang="zh-CN" altLang="en-US" dirty="0">
                <a:solidFill>
                  <a:srgbClr val="FF6600"/>
                </a:solidFill>
              </a:rPr>
              <a:t>及</a:t>
            </a:r>
            <a:r>
              <a:rPr lang="zh-CN" altLang="en-US" dirty="0">
                <a:solidFill>
                  <a:srgbClr val="CC0066"/>
                </a:solidFill>
              </a:rPr>
              <a:t>译码</a:t>
            </a:r>
          </a:p>
        </p:txBody>
      </p:sp>
      <p:sp>
        <p:nvSpPr>
          <p:cNvPr id="134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16113"/>
            <a:ext cx="8507413" cy="4752975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zh-CN" altLang="en-US">
                <a:solidFill>
                  <a:srgbClr val="006600"/>
                </a:solidFill>
                <a:latin typeface="Arial" charset="0"/>
                <a:ea typeface="黑体" pitchFamily="2" charset="-122"/>
              </a:rPr>
              <a:t>符号及约定：</a:t>
            </a:r>
          </a:p>
          <a:p>
            <a:r>
              <a:rPr lang="zh-CN" altLang="en-US"/>
              <a:t>被校验数据</a:t>
            </a:r>
            <a:r>
              <a:rPr lang="en-US" altLang="zh-CN">
                <a:latin typeface="宋体" charset="-122"/>
              </a:rPr>
              <a:t>(</a:t>
            </a:r>
            <a:r>
              <a:rPr lang="zh-CN" altLang="en-US"/>
              <a:t>被除数</a:t>
            </a:r>
            <a:r>
              <a:rPr lang="en-US" altLang="zh-CN">
                <a:latin typeface="宋体" charset="-122"/>
              </a:rPr>
              <a:t>)</a:t>
            </a:r>
            <a:r>
              <a:rPr lang="zh-CN" altLang="en-US"/>
              <a:t>为</a:t>
            </a:r>
            <a:r>
              <a:rPr lang="en-US" altLang="zh-CN"/>
              <a:t>F</a:t>
            </a:r>
            <a:r>
              <a:rPr lang="en-US" altLang="zh-CN">
                <a:latin typeface="宋体" charset="-122"/>
              </a:rPr>
              <a:t>(</a:t>
            </a:r>
            <a:r>
              <a:rPr lang="en-US" altLang="zh-CN"/>
              <a:t>X</a:t>
            </a:r>
            <a:r>
              <a:rPr lang="en-US" altLang="zh-CN">
                <a:latin typeface="宋体" charset="-122"/>
              </a:rPr>
              <a:t>)</a:t>
            </a:r>
            <a:r>
              <a:rPr lang="zh-CN" altLang="en-US"/>
              <a:t>；</a:t>
            </a:r>
          </a:p>
          <a:p>
            <a:r>
              <a:rPr lang="zh-CN" altLang="en-US"/>
              <a:t>约定的生成多项式</a:t>
            </a:r>
            <a:r>
              <a:rPr lang="en-US" altLang="zh-CN">
                <a:latin typeface="宋体" charset="-122"/>
              </a:rPr>
              <a:t>(</a:t>
            </a:r>
            <a:r>
              <a:rPr lang="zh-CN" altLang="en-US"/>
              <a:t>除数</a:t>
            </a:r>
            <a:r>
              <a:rPr lang="en-US" altLang="zh-CN">
                <a:latin typeface="宋体" charset="-122"/>
              </a:rPr>
              <a:t>)</a:t>
            </a:r>
            <a:r>
              <a:rPr lang="zh-CN" altLang="en-US"/>
              <a:t>为</a:t>
            </a:r>
            <a:r>
              <a:rPr lang="en-US" altLang="zh-CN"/>
              <a:t>G</a:t>
            </a:r>
            <a:r>
              <a:rPr lang="en-US" altLang="zh-CN">
                <a:latin typeface="宋体" charset="-122"/>
              </a:rPr>
              <a:t>(</a:t>
            </a:r>
            <a:r>
              <a:rPr lang="en-US" altLang="zh-CN"/>
              <a:t>X</a:t>
            </a:r>
            <a:r>
              <a:rPr lang="en-US" altLang="zh-CN">
                <a:latin typeface="宋体" charset="-122"/>
              </a:rPr>
              <a:t>)</a:t>
            </a:r>
            <a:r>
              <a:rPr lang="zh-CN" altLang="en-US"/>
              <a:t> ；</a:t>
            </a:r>
          </a:p>
          <a:p>
            <a:pPr marL="901700" lvl="1" indent="-379413"/>
            <a:r>
              <a:rPr lang="zh-CN" altLang="en-US"/>
              <a:t>发送方和接收方使用同一个生成多项式</a:t>
            </a:r>
            <a:r>
              <a:rPr lang="en-US" altLang="zh-CN"/>
              <a:t>G</a:t>
            </a:r>
            <a:r>
              <a:rPr lang="en-US" altLang="zh-CN">
                <a:latin typeface="宋体" charset="-122"/>
              </a:rPr>
              <a:t>(</a:t>
            </a:r>
            <a:r>
              <a:rPr lang="en-US" altLang="zh-CN"/>
              <a:t>X</a:t>
            </a:r>
            <a:r>
              <a:rPr lang="en-US" altLang="zh-CN">
                <a:latin typeface="宋体" charset="-122"/>
              </a:rPr>
              <a:t>)</a:t>
            </a:r>
            <a:endParaRPr lang="zh-CN" altLang="en-US">
              <a:latin typeface="宋体" charset="-122"/>
            </a:endParaRPr>
          </a:p>
          <a:p>
            <a:pPr marL="901700" lvl="1" indent="-379413"/>
            <a:r>
              <a:rPr lang="en-US" altLang="zh-CN"/>
              <a:t>G</a:t>
            </a:r>
            <a:r>
              <a:rPr lang="en-US" altLang="zh-CN">
                <a:latin typeface="宋体" charset="-122"/>
              </a:rPr>
              <a:t>(</a:t>
            </a:r>
            <a:r>
              <a:rPr lang="en-US" altLang="zh-CN"/>
              <a:t>X</a:t>
            </a:r>
            <a:r>
              <a:rPr lang="en-US" altLang="zh-CN">
                <a:latin typeface="宋体" charset="-122"/>
              </a:rPr>
              <a:t>)</a:t>
            </a:r>
            <a:r>
              <a:rPr lang="zh-CN" altLang="en-US"/>
              <a:t>的首位和最后一位的系数必须为</a:t>
            </a:r>
            <a:r>
              <a:rPr lang="en-US" altLang="zh-CN"/>
              <a:t>1</a:t>
            </a:r>
            <a:endParaRPr lang="zh-CN" altLang="en-US"/>
          </a:p>
          <a:p>
            <a:r>
              <a:rPr lang="zh-CN" altLang="en-US"/>
              <a:t>所产生的余数为</a:t>
            </a:r>
            <a:r>
              <a:rPr lang="en-US" altLang="zh-CN"/>
              <a:t>R</a:t>
            </a:r>
            <a:r>
              <a:rPr lang="en-US" altLang="zh-CN">
                <a:latin typeface="宋体" charset="-122"/>
              </a:rPr>
              <a:t>(</a:t>
            </a:r>
            <a:r>
              <a:rPr lang="en-US" altLang="zh-CN"/>
              <a:t>X</a:t>
            </a:r>
            <a:r>
              <a:rPr lang="en-US" altLang="zh-CN">
                <a:latin typeface="宋体" charset="-122"/>
              </a:rPr>
              <a:t>)</a:t>
            </a:r>
            <a:r>
              <a:rPr lang="zh-CN" altLang="en-US"/>
              <a:t>。</a:t>
            </a:r>
          </a:p>
        </p:txBody>
      </p:sp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495C91-603A-446F-A819-56426C364466}" type="slidenum">
              <a:rPr lang="zh-CN" altLang="en-US"/>
              <a:pPr/>
              <a:t>53</a:t>
            </a:fld>
            <a:endParaRPr lang="en-US" altLang="zh-CN"/>
          </a:p>
        </p:txBody>
      </p:sp>
      <p:sp>
        <p:nvSpPr>
          <p:cNvPr id="134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590550" y="528638"/>
            <a:ext cx="8229600" cy="523875"/>
          </a:xfrm>
        </p:spPr>
        <p:txBody>
          <a:bodyPr/>
          <a:lstStyle/>
          <a:p>
            <a:r>
              <a:rPr lang="zh-CN" altLang="en-US" dirty="0"/>
              <a:t>四、循环冗余校验码          </a:t>
            </a:r>
            <a:r>
              <a:rPr lang="en-US" altLang="zh-CN" dirty="0">
                <a:solidFill>
                  <a:srgbClr val="FF6600"/>
                </a:solidFill>
              </a:rPr>
              <a:t>2. CRC</a:t>
            </a:r>
            <a:r>
              <a:rPr lang="zh-CN" altLang="en-US" dirty="0">
                <a:solidFill>
                  <a:srgbClr val="CC0066"/>
                </a:solidFill>
              </a:rPr>
              <a:t>编码</a:t>
            </a:r>
            <a:r>
              <a:rPr lang="zh-CN" altLang="en-US" dirty="0">
                <a:solidFill>
                  <a:srgbClr val="FF6600"/>
                </a:solidFill>
              </a:rPr>
              <a:t>及</a:t>
            </a:r>
            <a:r>
              <a:rPr lang="zh-CN" altLang="en-US" dirty="0">
                <a:solidFill>
                  <a:srgbClr val="CC0066"/>
                </a:solidFill>
              </a:rPr>
              <a:t>译码</a:t>
            </a:r>
          </a:p>
        </p:txBody>
      </p:sp>
      <p:sp>
        <p:nvSpPr>
          <p:cNvPr id="134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268413"/>
            <a:ext cx="8642350" cy="5400675"/>
          </a:xfrm>
        </p:spPr>
        <p:txBody>
          <a:bodyPr/>
          <a:lstStyle/>
          <a:p>
            <a:pPr marL="533400" indent="-533400">
              <a:buFont typeface="Wingdings" pitchFamily="2" charset="2"/>
              <a:buNone/>
            </a:pPr>
            <a:r>
              <a:rPr lang="zh-CN" altLang="en-US">
                <a:solidFill>
                  <a:srgbClr val="006600"/>
                </a:solidFill>
                <a:latin typeface="Arial" charset="0"/>
                <a:ea typeface="黑体" pitchFamily="2" charset="-122"/>
              </a:rPr>
              <a:t>发送端，</a:t>
            </a:r>
            <a:r>
              <a:rPr lang="en-US" altLang="zh-CN">
                <a:solidFill>
                  <a:srgbClr val="006600"/>
                </a:solidFill>
                <a:latin typeface="Arial" charset="0"/>
                <a:ea typeface="黑体" pitchFamily="2" charset="-122"/>
              </a:rPr>
              <a:t>CRC</a:t>
            </a:r>
            <a:r>
              <a:rPr lang="zh-CN" altLang="en-US">
                <a:solidFill>
                  <a:srgbClr val="006600"/>
                </a:solidFill>
                <a:latin typeface="Arial" charset="0"/>
                <a:ea typeface="黑体" pitchFamily="2" charset="-122"/>
              </a:rPr>
              <a:t>的</a:t>
            </a:r>
            <a:r>
              <a:rPr lang="zh-CN" altLang="en-US">
                <a:solidFill>
                  <a:srgbClr val="FF0000"/>
                </a:solidFill>
                <a:latin typeface="Arial" charset="0"/>
                <a:ea typeface="黑体" pitchFamily="2" charset="-122"/>
              </a:rPr>
              <a:t>编码</a:t>
            </a:r>
            <a:r>
              <a:rPr lang="zh-CN" altLang="en-US">
                <a:solidFill>
                  <a:srgbClr val="006600"/>
                </a:solidFill>
                <a:latin typeface="Arial" charset="0"/>
                <a:ea typeface="黑体" pitchFamily="2" charset="-122"/>
              </a:rPr>
              <a:t>方法：</a:t>
            </a:r>
            <a:endParaRPr lang="zh-CN" altLang="en-US"/>
          </a:p>
          <a:p>
            <a:pPr marL="533400" indent="-533400">
              <a:buClr>
                <a:srgbClr val="0000FF"/>
              </a:buClr>
              <a:buSzTx/>
              <a:buFont typeface="Wingdings" pitchFamily="2" charset="2"/>
              <a:buAutoNum type="circleNumDbPlain"/>
            </a:pP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将被校验数据</a:t>
            </a:r>
            <a:r>
              <a:rPr lang="en-US" altLang="zh-CN">
                <a:solidFill>
                  <a:srgbClr val="000000"/>
                </a:solidFill>
                <a:latin typeface="宋体" charset="-122"/>
                <a:cs typeface="Times New Roman" pitchFamily="18" charset="0"/>
              </a:rPr>
              <a:t>(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共</a:t>
            </a:r>
            <a:r>
              <a:rPr lang="en-US" altLang="zh-CN">
                <a:solidFill>
                  <a:srgbClr val="000000"/>
                </a:solidFill>
              </a:rPr>
              <a:t>k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位</a:t>
            </a:r>
            <a:r>
              <a:rPr lang="en-US" altLang="zh-CN">
                <a:solidFill>
                  <a:srgbClr val="000000"/>
                </a:solidFill>
                <a:latin typeface="宋体" charset="-122"/>
                <a:cs typeface="Times New Roman" pitchFamily="18" charset="0"/>
              </a:rPr>
              <a:t>)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的有效信息</a:t>
            </a:r>
            <a:r>
              <a:rPr lang="en-US" altLang="zh-CN">
                <a:solidFill>
                  <a:srgbClr val="000000"/>
                </a:solidFill>
              </a:rPr>
              <a:t>F</a:t>
            </a:r>
            <a:r>
              <a:rPr lang="en-US" altLang="zh-CN">
                <a:solidFill>
                  <a:srgbClr val="000000"/>
                </a:solidFill>
                <a:latin typeface="宋体" charset="-122"/>
                <a:cs typeface="Times New Roman" pitchFamily="18" charset="0"/>
              </a:rPr>
              <a:t>(</a:t>
            </a:r>
            <a:r>
              <a:rPr lang="en-US" altLang="zh-CN">
                <a:solidFill>
                  <a:srgbClr val="000000"/>
                </a:solidFill>
              </a:rPr>
              <a:t>X</a:t>
            </a:r>
            <a:r>
              <a:rPr lang="en-US" altLang="zh-CN">
                <a:solidFill>
                  <a:srgbClr val="000000"/>
                </a:solidFill>
                <a:latin typeface="宋体" charset="-122"/>
                <a:cs typeface="Times New Roman" pitchFamily="18" charset="0"/>
              </a:rPr>
              <a:t>)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左移 </a:t>
            </a:r>
            <a:r>
              <a:rPr lang="en-US" altLang="zh-CN" i="1">
                <a:solidFill>
                  <a:srgbClr val="FF0000"/>
                </a:solidFill>
              </a:rPr>
              <a:t>r</a:t>
            </a:r>
            <a:r>
              <a:rPr lang="en-US" altLang="zh-CN" i="1">
                <a:solidFill>
                  <a:srgbClr val="000000"/>
                </a:solidFill>
              </a:rPr>
              <a:t> 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位，得到</a:t>
            </a:r>
            <a:r>
              <a:rPr lang="zh-CN" altLang="en-US">
                <a:solidFill>
                  <a:srgbClr val="0000FF"/>
                </a:solidFill>
                <a:cs typeface="Times New Roman" pitchFamily="18" charset="0"/>
              </a:rPr>
              <a:t> </a:t>
            </a:r>
            <a:r>
              <a:rPr lang="en-US" altLang="zh-CN">
                <a:solidFill>
                  <a:srgbClr val="0000FF"/>
                </a:solidFill>
              </a:rPr>
              <a:t>F</a:t>
            </a:r>
            <a:r>
              <a:rPr lang="en-US" altLang="zh-CN">
                <a:solidFill>
                  <a:srgbClr val="0000FF"/>
                </a:solidFill>
                <a:latin typeface="宋体" charset="-122"/>
                <a:cs typeface="Times New Roman" pitchFamily="18" charset="0"/>
              </a:rPr>
              <a:t>(</a:t>
            </a:r>
            <a:r>
              <a:rPr lang="en-US" altLang="zh-CN">
                <a:solidFill>
                  <a:srgbClr val="0000FF"/>
                </a:solidFill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宋体" charset="-122"/>
                <a:cs typeface="Times New Roman" pitchFamily="18" charset="0"/>
              </a:rPr>
              <a:t>)</a:t>
            </a:r>
            <a:r>
              <a:rPr lang="en-US" altLang="zh-CN">
                <a:solidFill>
                  <a:srgbClr val="0000FF"/>
                </a:solidFill>
                <a:cs typeface="Times New Roman" pitchFamily="18" charset="0"/>
              </a:rPr>
              <a:t>×</a:t>
            </a:r>
            <a:r>
              <a:rPr lang="en-US" altLang="zh-CN">
                <a:solidFill>
                  <a:srgbClr val="0000FF"/>
                </a:solidFill>
              </a:rPr>
              <a:t>X</a:t>
            </a:r>
            <a:r>
              <a:rPr lang="en-US" altLang="zh-CN" i="1" baseline="50000">
                <a:solidFill>
                  <a:srgbClr val="0000FF"/>
                </a:solidFill>
              </a:rPr>
              <a:t>r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。</a:t>
            </a:r>
          </a:p>
          <a:p>
            <a:pPr marL="533400" indent="-533400">
              <a:buClr>
                <a:srgbClr val="0000FF"/>
              </a:buClr>
              <a:buSzTx/>
              <a:buFont typeface="Wingdings" pitchFamily="2" charset="2"/>
              <a:buAutoNum type="circleNumDbPlain"/>
            </a:pP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选取一个 </a:t>
            </a:r>
            <a:r>
              <a:rPr lang="en-US" altLang="zh-CN" i="1">
                <a:solidFill>
                  <a:srgbClr val="FF0000"/>
                </a:solidFill>
              </a:rPr>
              <a:t>r</a:t>
            </a:r>
            <a:r>
              <a:rPr lang="zh-CN" altLang="en-US">
                <a:solidFill>
                  <a:srgbClr val="FF0000"/>
                </a:solidFill>
                <a:cs typeface="Times New Roman" pitchFamily="18" charset="0"/>
              </a:rPr>
              <a:t>＋</a:t>
            </a:r>
            <a:r>
              <a:rPr lang="en-US" altLang="zh-CN">
                <a:solidFill>
                  <a:srgbClr val="FF0000"/>
                </a:solidFill>
              </a:rPr>
              <a:t>1</a:t>
            </a:r>
            <a:r>
              <a:rPr lang="en-US" altLang="zh-CN">
                <a:solidFill>
                  <a:srgbClr val="000000"/>
                </a:solidFill>
              </a:rPr>
              <a:t> 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位的生成多项式</a:t>
            </a:r>
            <a:r>
              <a:rPr lang="en-US" altLang="zh-CN">
                <a:solidFill>
                  <a:srgbClr val="CC3300"/>
                </a:solidFill>
              </a:rPr>
              <a:t>G</a:t>
            </a:r>
            <a:r>
              <a:rPr lang="en-US" altLang="zh-CN">
                <a:solidFill>
                  <a:srgbClr val="CC3300"/>
                </a:solidFill>
                <a:latin typeface="宋体" charset="-122"/>
                <a:cs typeface="Times New Roman" pitchFamily="18" charset="0"/>
              </a:rPr>
              <a:t>(</a:t>
            </a:r>
            <a:r>
              <a:rPr lang="en-US" altLang="zh-CN">
                <a:solidFill>
                  <a:srgbClr val="CC3300"/>
                </a:solidFill>
              </a:rPr>
              <a:t>X</a:t>
            </a:r>
            <a:r>
              <a:rPr lang="en-US" altLang="zh-CN">
                <a:solidFill>
                  <a:srgbClr val="CC3300"/>
                </a:solidFill>
                <a:latin typeface="宋体" charset="-122"/>
                <a:cs typeface="Times New Roman" pitchFamily="18" charset="0"/>
              </a:rPr>
              <a:t>)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，对</a:t>
            </a:r>
            <a:r>
              <a:rPr lang="en-US" altLang="zh-CN">
                <a:solidFill>
                  <a:srgbClr val="0000FF"/>
                </a:solidFill>
              </a:rPr>
              <a:t>F</a:t>
            </a:r>
            <a:r>
              <a:rPr lang="en-US" altLang="zh-CN">
                <a:solidFill>
                  <a:srgbClr val="0000FF"/>
                </a:solidFill>
                <a:latin typeface="宋体" charset="-122"/>
                <a:cs typeface="Times New Roman" pitchFamily="18" charset="0"/>
              </a:rPr>
              <a:t>(</a:t>
            </a:r>
            <a:r>
              <a:rPr lang="en-US" altLang="zh-CN">
                <a:solidFill>
                  <a:srgbClr val="0000FF"/>
                </a:solidFill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宋体" charset="-122"/>
                <a:cs typeface="Times New Roman" pitchFamily="18" charset="0"/>
              </a:rPr>
              <a:t>)</a:t>
            </a:r>
            <a:r>
              <a:rPr lang="en-US" altLang="zh-CN">
                <a:solidFill>
                  <a:srgbClr val="0000FF"/>
                </a:solidFill>
                <a:cs typeface="Times New Roman" pitchFamily="18" charset="0"/>
              </a:rPr>
              <a:t>×</a:t>
            </a:r>
            <a:r>
              <a:rPr lang="en-US" altLang="zh-CN">
                <a:solidFill>
                  <a:srgbClr val="0000FF"/>
                </a:solidFill>
              </a:rPr>
              <a:t>X</a:t>
            </a:r>
            <a:r>
              <a:rPr lang="en-US" altLang="zh-CN" i="1" baseline="50000">
                <a:solidFill>
                  <a:srgbClr val="0000FF"/>
                </a:solidFill>
              </a:rPr>
              <a:t>r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作模</a:t>
            </a:r>
            <a:r>
              <a:rPr lang="en-US" altLang="zh-CN">
                <a:solidFill>
                  <a:srgbClr val="000000"/>
                </a:solidFill>
              </a:rPr>
              <a:t>2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除法：</a:t>
            </a:r>
            <a:br>
              <a:rPr lang="zh-CN" altLang="en-US">
                <a:solidFill>
                  <a:srgbClr val="000000"/>
                </a:solidFill>
                <a:cs typeface="Times New Roman" pitchFamily="18" charset="0"/>
              </a:rPr>
            </a:br>
            <a:r>
              <a:rPr lang="en-US" altLang="zh-CN">
                <a:solidFill>
                  <a:srgbClr val="0000FF"/>
                </a:solidFill>
                <a:cs typeface="Times New Roman" pitchFamily="18" charset="0"/>
              </a:rPr>
              <a:t>F</a:t>
            </a:r>
            <a:r>
              <a:rPr lang="en-US" altLang="zh-CN">
                <a:solidFill>
                  <a:srgbClr val="0000FF"/>
                </a:solidFill>
                <a:latin typeface="宋体" charset="-122"/>
                <a:cs typeface="Times New Roman" pitchFamily="18" charset="0"/>
              </a:rPr>
              <a:t>(</a:t>
            </a:r>
            <a:r>
              <a:rPr lang="en-US" altLang="zh-CN">
                <a:solidFill>
                  <a:srgbClr val="0000FF"/>
                </a:solidFill>
                <a:cs typeface="Times New Roman" pitchFamily="18" charset="0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宋体" charset="-122"/>
                <a:cs typeface="Times New Roman" pitchFamily="18" charset="0"/>
              </a:rPr>
              <a:t>)</a:t>
            </a:r>
            <a:r>
              <a:rPr lang="en-US" altLang="zh-CN">
                <a:solidFill>
                  <a:srgbClr val="0000FF"/>
                </a:solidFill>
                <a:cs typeface="Times New Roman" pitchFamily="18" charset="0"/>
              </a:rPr>
              <a:t>×X</a:t>
            </a:r>
            <a:r>
              <a:rPr lang="en-US" altLang="zh-CN" i="1" baseline="50000">
                <a:solidFill>
                  <a:srgbClr val="0000FF"/>
                </a:solidFill>
                <a:cs typeface="Times New Roman" pitchFamily="18" charset="0"/>
              </a:rPr>
              <a:t>r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/</a:t>
            </a:r>
            <a:r>
              <a:rPr lang="en-US" altLang="zh-CN">
                <a:solidFill>
                  <a:srgbClr val="CC3300"/>
                </a:solidFill>
                <a:cs typeface="Times New Roman" pitchFamily="18" charset="0"/>
              </a:rPr>
              <a:t>G</a:t>
            </a:r>
            <a:r>
              <a:rPr lang="en-US" altLang="zh-CN">
                <a:solidFill>
                  <a:srgbClr val="CC3300"/>
                </a:solidFill>
                <a:latin typeface="宋体" charset="-122"/>
                <a:cs typeface="Times New Roman" pitchFamily="18" charset="0"/>
              </a:rPr>
              <a:t>(</a:t>
            </a:r>
            <a:r>
              <a:rPr lang="en-US" altLang="zh-CN">
                <a:solidFill>
                  <a:srgbClr val="CC3300"/>
                </a:solidFill>
                <a:cs typeface="Times New Roman" pitchFamily="18" charset="0"/>
              </a:rPr>
              <a:t>X</a:t>
            </a:r>
            <a:r>
              <a:rPr lang="en-US" altLang="zh-CN">
                <a:solidFill>
                  <a:srgbClr val="CC3300"/>
                </a:solidFill>
                <a:latin typeface="宋体" charset="-122"/>
                <a:cs typeface="Times New Roman" pitchFamily="18" charset="0"/>
              </a:rPr>
              <a:t>)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>
                <a:solidFill>
                  <a:srgbClr val="CC0066"/>
                </a:solidFill>
                <a:cs typeface="Times New Roman" pitchFamily="18" charset="0"/>
              </a:rPr>
              <a:t>Q</a:t>
            </a:r>
            <a:r>
              <a:rPr lang="en-US" altLang="zh-CN">
                <a:solidFill>
                  <a:srgbClr val="CC0066"/>
                </a:solidFill>
                <a:latin typeface="宋体" charset="-122"/>
                <a:cs typeface="Times New Roman" pitchFamily="18" charset="0"/>
              </a:rPr>
              <a:t>(</a:t>
            </a:r>
            <a:r>
              <a:rPr lang="en-US" altLang="zh-CN">
                <a:solidFill>
                  <a:srgbClr val="CC0066"/>
                </a:solidFill>
                <a:cs typeface="Times New Roman" pitchFamily="18" charset="0"/>
              </a:rPr>
              <a:t>X</a:t>
            </a:r>
            <a:r>
              <a:rPr lang="en-US" altLang="zh-CN">
                <a:solidFill>
                  <a:srgbClr val="CC0066"/>
                </a:solidFill>
                <a:latin typeface="宋体" charset="-122"/>
                <a:cs typeface="Times New Roman" pitchFamily="18" charset="0"/>
              </a:rPr>
              <a:t>)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＋</a:t>
            </a:r>
            <a:r>
              <a:rPr lang="en-US" altLang="zh-CN">
                <a:solidFill>
                  <a:srgbClr val="006600"/>
                </a:solidFill>
                <a:cs typeface="Times New Roman" pitchFamily="18" charset="0"/>
              </a:rPr>
              <a:t>R</a:t>
            </a:r>
            <a:r>
              <a:rPr lang="en-US" altLang="zh-CN">
                <a:solidFill>
                  <a:srgbClr val="006600"/>
                </a:solidFill>
                <a:latin typeface="宋体" charset="-122"/>
                <a:cs typeface="Times New Roman" pitchFamily="18" charset="0"/>
              </a:rPr>
              <a:t>(</a:t>
            </a:r>
            <a:r>
              <a:rPr lang="en-US" altLang="zh-CN">
                <a:solidFill>
                  <a:srgbClr val="006600"/>
                </a:solidFill>
                <a:cs typeface="Times New Roman" pitchFamily="18" charset="0"/>
              </a:rPr>
              <a:t>X</a:t>
            </a:r>
            <a:r>
              <a:rPr lang="en-US" altLang="zh-CN">
                <a:solidFill>
                  <a:srgbClr val="006600"/>
                </a:solidFill>
                <a:latin typeface="宋体" charset="-122"/>
                <a:cs typeface="Times New Roman" pitchFamily="18" charset="0"/>
              </a:rPr>
              <a:t>)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/</a:t>
            </a:r>
            <a:r>
              <a:rPr lang="en-US" altLang="zh-CN">
                <a:solidFill>
                  <a:srgbClr val="CC3300"/>
                </a:solidFill>
                <a:cs typeface="Times New Roman" pitchFamily="18" charset="0"/>
              </a:rPr>
              <a:t>G</a:t>
            </a:r>
            <a:r>
              <a:rPr lang="en-US" altLang="zh-CN">
                <a:solidFill>
                  <a:srgbClr val="CC3300"/>
                </a:solidFill>
                <a:latin typeface="宋体" charset="-122"/>
                <a:cs typeface="Times New Roman" pitchFamily="18" charset="0"/>
              </a:rPr>
              <a:t>(</a:t>
            </a:r>
            <a:r>
              <a:rPr lang="en-US" altLang="zh-CN">
                <a:solidFill>
                  <a:srgbClr val="CC3300"/>
                </a:solidFill>
                <a:cs typeface="Times New Roman" pitchFamily="18" charset="0"/>
              </a:rPr>
              <a:t>X</a:t>
            </a:r>
            <a:r>
              <a:rPr lang="en-US" altLang="zh-CN">
                <a:solidFill>
                  <a:srgbClr val="CC3300"/>
                </a:solidFill>
                <a:latin typeface="宋体" charset="-122"/>
                <a:cs typeface="Times New Roman" pitchFamily="18" charset="0"/>
              </a:rPr>
              <a:t>)</a:t>
            </a:r>
            <a:br>
              <a:rPr lang="en-US" altLang="zh-CN">
                <a:solidFill>
                  <a:srgbClr val="CC3300"/>
                </a:solidFill>
                <a:latin typeface="宋体" charset="-122"/>
                <a:cs typeface="Times New Roman" pitchFamily="18" charset="0"/>
              </a:rPr>
            </a:br>
            <a:r>
              <a:rPr lang="en-US" altLang="zh-CN">
                <a:solidFill>
                  <a:srgbClr val="0000FF"/>
                </a:solidFill>
                <a:cs typeface="Times New Roman" pitchFamily="18" charset="0"/>
              </a:rPr>
              <a:t>F</a:t>
            </a:r>
            <a:r>
              <a:rPr lang="en-US" altLang="zh-CN">
                <a:solidFill>
                  <a:srgbClr val="0000FF"/>
                </a:solidFill>
                <a:latin typeface="宋体" charset="-122"/>
                <a:cs typeface="Times New Roman" pitchFamily="18" charset="0"/>
              </a:rPr>
              <a:t>(</a:t>
            </a:r>
            <a:r>
              <a:rPr lang="en-US" altLang="zh-CN">
                <a:solidFill>
                  <a:srgbClr val="0000FF"/>
                </a:solidFill>
                <a:cs typeface="Times New Roman" pitchFamily="18" charset="0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宋体" charset="-122"/>
                <a:cs typeface="Times New Roman" pitchFamily="18" charset="0"/>
              </a:rPr>
              <a:t>)</a:t>
            </a:r>
            <a:r>
              <a:rPr lang="en-US" altLang="zh-CN">
                <a:solidFill>
                  <a:srgbClr val="0000FF"/>
                </a:solidFill>
                <a:cs typeface="Times New Roman" pitchFamily="18" charset="0"/>
              </a:rPr>
              <a:t>×X</a:t>
            </a:r>
            <a:r>
              <a:rPr lang="en-US" altLang="zh-CN" i="1" baseline="50000">
                <a:solidFill>
                  <a:srgbClr val="0000FF"/>
                </a:solidFill>
                <a:cs typeface="Times New Roman" pitchFamily="18" charset="0"/>
              </a:rPr>
              <a:t>r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>
                <a:solidFill>
                  <a:srgbClr val="CC0066"/>
                </a:solidFill>
                <a:cs typeface="Times New Roman" pitchFamily="18" charset="0"/>
              </a:rPr>
              <a:t>Q</a:t>
            </a:r>
            <a:r>
              <a:rPr lang="en-US" altLang="zh-CN">
                <a:solidFill>
                  <a:srgbClr val="CC0066"/>
                </a:solidFill>
                <a:latin typeface="宋体" charset="-122"/>
                <a:cs typeface="Times New Roman" pitchFamily="18" charset="0"/>
              </a:rPr>
              <a:t>(</a:t>
            </a:r>
            <a:r>
              <a:rPr lang="en-US" altLang="zh-CN">
                <a:solidFill>
                  <a:srgbClr val="CC0066"/>
                </a:solidFill>
                <a:cs typeface="Times New Roman" pitchFamily="18" charset="0"/>
              </a:rPr>
              <a:t>X</a:t>
            </a:r>
            <a:r>
              <a:rPr lang="en-US" altLang="zh-CN">
                <a:solidFill>
                  <a:srgbClr val="CC0066"/>
                </a:solidFill>
                <a:latin typeface="宋体" charset="-122"/>
                <a:cs typeface="Times New Roman" pitchFamily="18" charset="0"/>
              </a:rPr>
              <a:t>)</a:t>
            </a:r>
            <a:r>
              <a:rPr lang="en-US" altLang="zh-CN">
                <a:latin typeface="宋体" charset="-122"/>
                <a:cs typeface="Times New Roman" pitchFamily="18" charset="0"/>
              </a:rPr>
              <a:t>×</a:t>
            </a:r>
            <a:r>
              <a:rPr lang="en-US" altLang="zh-CN">
                <a:solidFill>
                  <a:srgbClr val="CC3300"/>
                </a:solidFill>
                <a:cs typeface="Times New Roman" pitchFamily="18" charset="0"/>
              </a:rPr>
              <a:t>G</a:t>
            </a:r>
            <a:r>
              <a:rPr lang="en-US" altLang="zh-CN">
                <a:solidFill>
                  <a:srgbClr val="CC3300"/>
                </a:solidFill>
                <a:latin typeface="宋体" charset="-122"/>
                <a:cs typeface="Times New Roman" pitchFamily="18" charset="0"/>
              </a:rPr>
              <a:t>(</a:t>
            </a:r>
            <a:r>
              <a:rPr lang="en-US" altLang="zh-CN">
                <a:solidFill>
                  <a:srgbClr val="CC3300"/>
                </a:solidFill>
                <a:cs typeface="Times New Roman" pitchFamily="18" charset="0"/>
              </a:rPr>
              <a:t>X</a:t>
            </a:r>
            <a:r>
              <a:rPr lang="en-US" altLang="zh-CN">
                <a:solidFill>
                  <a:srgbClr val="CC3300"/>
                </a:solidFill>
                <a:latin typeface="宋体" charset="-122"/>
                <a:cs typeface="Times New Roman" pitchFamily="18" charset="0"/>
              </a:rPr>
              <a:t>)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＋</a:t>
            </a:r>
            <a:r>
              <a:rPr lang="en-US" altLang="zh-CN">
                <a:solidFill>
                  <a:srgbClr val="006600"/>
                </a:solidFill>
                <a:cs typeface="Times New Roman" pitchFamily="18" charset="0"/>
              </a:rPr>
              <a:t>R</a:t>
            </a:r>
            <a:r>
              <a:rPr lang="en-US" altLang="zh-CN">
                <a:solidFill>
                  <a:srgbClr val="006600"/>
                </a:solidFill>
                <a:latin typeface="宋体" charset="-122"/>
                <a:cs typeface="Times New Roman" pitchFamily="18" charset="0"/>
              </a:rPr>
              <a:t>(</a:t>
            </a:r>
            <a:r>
              <a:rPr lang="en-US" altLang="zh-CN">
                <a:solidFill>
                  <a:srgbClr val="006600"/>
                </a:solidFill>
                <a:cs typeface="Times New Roman" pitchFamily="18" charset="0"/>
              </a:rPr>
              <a:t>X</a:t>
            </a:r>
            <a:r>
              <a:rPr lang="en-US" altLang="zh-CN">
                <a:solidFill>
                  <a:srgbClr val="006600"/>
                </a:solidFill>
                <a:latin typeface="宋体" charset="-122"/>
                <a:cs typeface="Times New Roman" pitchFamily="18" charset="0"/>
              </a:rPr>
              <a:t>)</a:t>
            </a:r>
            <a:endParaRPr lang="en-US" altLang="zh-CN">
              <a:solidFill>
                <a:srgbClr val="CC3300"/>
              </a:solidFill>
              <a:latin typeface="宋体" charset="-122"/>
              <a:cs typeface="Times New Roman" pitchFamily="18" charset="0"/>
            </a:endParaRPr>
          </a:p>
          <a:p>
            <a:pPr marL="533400" indent="-533400">
              <a:buClr>
                <a:srgbClr val="0000FF"/>
              </a:buClr>
              <a:buSzTx/>
              <a:buFont typeface="Wingdings" pitchFamily="2" charset="2"/>
              <a:buAutoNum type="circleNumDbPlain"/>
            </a:pPr>
            <a:r>
              <a:rPr lang="zh-CN" altLang="en-US"/>
              <a:t>将</a:t>
            </a:r>
            <a:r>
              <a:rPr lang="en-US" altLang="zh-CN"/>
              <a:t>F</a:t>
            </a:r>
            <a:r>
              <a:rPr lang="en-US" altLang="zh-CN">
                <a:solidFill>
                  <a:srgbClr val="000000"/>
                </a:solidFill>
                <a:latin typeface="宋体" charset="-122"/>
                <a:cs typeface="Times New Roman" pitchFamily="18" charset="0"/>
              </a:rPr>
              <a:t>(</a:t>
            </a:r>
            <a:r>
              <a:rPr lang="en-US" altLang="zh-CN"/>
              <a:t>X</a:t>
            </a:r>
            <a:r>
              <a:rPr lang="en-US" altLang="zh-CN">
                <a:solidFill>
                  <a:srgbClr val="000000"/>
                </a:solidFill>
                <a:latin typeface="宋体" charset="-122"/>
                <a:cs typeface="Times New Roman" pitchFamily="18" charset="0"/>
              </a:rPr>
              <a:t>)</a:t>
            </a:r>
            <a:r>
              <a:rPr lang="zh-CN" altLang="en-US"/>
              <a:t>与</a:t>
            </a:r>
            <a:r>
              <a:rPr lang="en-US" altLang="zh-CN"/>
              <a:t>R</a:t>
            </a:r>
            <a:r>
              <a:rPr lang="en-US" altLang="zh-CN">
                <a:solidFill>
                  <a:srgbClr val="000000"/>
                </a:solidFill>
                <a:latin typeface="宋体" charset="-122"/>
                <a:cs typeface="Times New Roman" pitchFamily="18" charset="0"/>
              </a:rPr>
              <a:t>(</a:t>
            </a:r>
            <a:r>
              <a:rPr lang="en-US" altLang="zh-CN"/>
              <a:t>X</a:t>
            </a:r>
            <a:r>
              <a:rPr lang="en-US" altLang="zh-CN">
                <a:solidFill>
                  <a:srgbClr val="000000"/>
                </a:solidFill>
                <a:latin typeface="宋体" charset="-122"/>
                <a:cs typeface="Times New Roman" pitchFamily="18" charset="0"/>
              </a:rPr>
              <a:t>)</a:t>
            </a:r>
            <a:r>
              <a:rPr lang="zh-CN" altLang="en-US"/>
              <a:t>相拼接。</a:t>
            </a:r>
            <a:br>
              <a:rPr lang="zh-CN" altLang="en-US"/>
            </a:br>
            <a:r>
              <a:rPr lang="en-US" altLang="zh-CN">
                <a:solidFill>
                  <a:srgbClr val="0000FF"/>
                </a:solidFill>
              </a:rPr>
              <a:t>F</a:t>
            </a:r>
            <a:r>
              <a:rPr lang="en-US" altLang="zh-CN">
                <a:solidFill>
                  <a:srgbClr val="0000FF"/>
                </a:solidFill>
                <a:cs typeface="Times New Roman" pitchFamily="18" charset="0"/>
              </a:rPr>
              <a:t>(</a:t>
            </a:r>
            <a:r>
              <a:rPr lang="en-US" altLang="zh-CN">
                <a:solidFill>
                  <a:srgbClr val="0000FF"/>
                </a:solidFill>
              </a:rPr>
              <a:t>X</a:t>
            </a:r>
            <a:r>
              <a:rPr lang="en-US" altLang="zh-CN">
                <a:solidFill>
                  <a:srgbClr val="0000FF"/>
                </a:solidFill>
                <a:cs typeface="Times New Roman" pitchFamily="18" charset="0"/>
              </a:rPr>
              <a:t>)×</a:t>
            </a:r>
            <a:r>
              <a:rPr lang="en-US" altLang="zh-CN">
                <a:solidFill>
                  <a:srgbClr val="0000FF"/>
                </a:solidFill>
              </a:rPr>
              <a:t>X</a:t>
            </a:r>
            <a:r>
              <a:rPr lang="en-US" altLang="zh-CN" i="1" baseline="50000">
                <a:solidFill>
                  <a:srgbClr val="0000FF"/>
                </a:solidFill>
              </a:rPr>
              <a:t>r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＋</a:t>
            </a:r>
            <a:r>
              <a:rPr lang="en-US" altLang="zh-CN">
                <a:solidFill>
                  <a:srgbClr val="006600"/>
                </a:solidFill>
              </a:rPr>
              <a:t>R</a:t>
            </a:r>
            <a:r>
              <a:rPr lang="en-US" altLang="zh-CN">
                <a:solidFill>
                  <a:srgbClr val="006600"/>
                </a:solidFill>
                <a:cs typeface="Times New Roman" pitchFamily="18" charset="0"/>
              </a:rPr>
              <a:t>(</a:t>
            </a:r>
            <a:r>
              <a:rPr lang="en-US" altLang="zh-CN">
                <a:solidFill>
                  <a:srgbClr val="006600"/>
                </a:solidFill>
              </a:rPr>
              <a:t>X</a:t>
            </a:r>
            <a:r>
              <a:rPr lang="en-US" altLang="zh-CN">
                <a:solidFill>
                  <a:srgbClr val="006600"/>
                </a:solidFill>
                <a:cs typeface="Times New Roman" pitchFamily="18" charset="0"/>
              </a:rPr>
              <a:t>)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>
                <a:solidFill>
                  <a:srgbClr val="0000FF"/>
                </a:solidFill>
              </a:rPr>
              <a:t>F</a:t>
            </a:r>
            <a:r>
              <a:rPr lang="en-US" altLang="zh-CN">
                <a:solidFill>
                  <a:srgbClr val="0000FF"/>
                </a:solidFill>
                <a:cs typeface="Times New Roman" pitchFamily="18" charset="0"/>
              </a:rPr>
              <a:t>(</a:t>
            </a:r>
            <a:r>
              <a:rPr lang="en-US" altLang="zh-CN">
                <a:solidFill>
                  <a:srgbClr val="0000FF"/>
                </a:solidFill>
              </a:rPr>
              <a:t>X</a:t>
            </a:r>
            <a:r>
              <a:rPr lang="en-US" altLang="zh-CN">
                <a:solidFill>
                  <a:srgbClr val="0000FF"/>
                </a:solidFill>
                <a:cs typeface="Times New Roman" pitchFamily="18" charset="0"/>
              </a:rPr>
              <a:t>)×</a:t>
            </a:r>
            <a:r>
              <a:rPr lang="en-US" altLang="zh-CN">
                <a:solidFill>
                  <a:srgbClr val="0000FF"/>
                </a:solidFill>
              </a:rPr>
              <a:t>X</a:t>
            </a:r>
            <a:r>
              <a:rPr lang="en-US" altLang="zh-CN" i="1" baseline="50000">
                <a:solidFill>
                  <a:srgbClr val="0000FF"/>
                </a:solidFill>
              </a:rPr>
              <a:t>r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－</a:t>
            </a:r>
            <a:r>
              <a:rPr lang="en-US" altLang="zh-CN">
                <a:solidFill>
                  <a:srgbClr val="006600"/>
                </a:solidFill>
              </a:rPr>
              <a:t>R</a:t>
            </a:r>
            <a:r>
              <a:rPr lang="en-US" altLang="zh-CN">
                <a:solidFill>
                  <a:srgbClr val="006600"/>
                </a:solidFill>
                <a:cs typeface="Times New Roman" pitchFamily="18" charset="0"/>
              </a:rPr>
              <a:t>(</a:t>
            </a:r>
            <a:r>
              <a:rPr lang="en-US" altLang="zh-CN">
                <a:solidFill>
                  <a:srgbClr val="006600"/>
                </a:solidFill>
              </a:rPr>
              <a:t>X</a:t>
            </a:r>
            <a:r>
              <a:rPr lang="en-US" altLang="zh-CN">
                <a:solidFill>
                  <a:srgbClr val="006600"/>
                </a:solidFill>
                <a:cs typeface="Times New Roman" pitchFamily="18" charset="0"/>
              </a:rPr>
              <a:t>)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>
                <a:solidFill>
                  <a:srgbClr val="CC0066"/>
                </a:solidFill>
              </a:rPr>
              <a:t>Q</a:t>
            </a:r>
            <a:r>
              <a:rPr lang="en-US" altLang="zh-CN">
                <a:solidFill>
                  <a:srgbClr val="CC0066"/>
                </a:solidFill>
                <a:cs typeface="Times New Roman" pitchFamily="18" charset="0"/>
              </a:rPr>
              <a:t>(</a:t>
            </a:r>
            <a:r>
              <a:rPr lang="en-US" altLang="zh-CN">
                <a:solidFill>
                  <a:srgbClr val="CC0066"/>
                </a:solidFill>
              </a:rPr>
              <a:t>X</a:t>
            </a:r>
            <a:r>
              <a:rPr lang="en-US" altLang="zh-CN">
                <a:solidFill>
                  <a:srgbClr val="CC0066"/>
                </a:solidFill>
                <a:cs typeface="Times New Roman" pitchFamily="18" charset="0"/>
              </a:rPr>
              <a:t>)</a:t>
            </a:r>
            <a:r>
              <a:rPr lang="en-US" altLang="zh-CN">
                <a:solidFill>
                  <a:srgbClr val="000000"/>
                </a:solidFill>
                <a:cs typeface="Times New Roman" pitchFamily="18" charset="0"/>
              </a:rPr>
              <a:t>×</a:t>
            </a:r>
            <a:r>
              <a:rPr lang="en-US" altLang="zh-CN">
                <a:solidFill>
                  <a:srgbClr val="CC3300"/>
                </a:solidFill>
              </a:rPr>
              <a:t>G</a:t>
            </a:r>
            <a:r>
              <a:rPr lang="en-US" altLang="zh-CN">
                <a:solidFill>
                  <a:srgbClr val="CC3300"/>
                </a:solidFill>
                <a:cs typeface="Times New Roman" pitchFamily="18" charset="0"/>
              </a:rPr>
              <a:t>(</a:t>
            </a:r>
            <a:r>
              <a:rPr lang="en-US" altLang="zh-CN">
                <a:solidFill>
                  <a:srgbClr val="CC3300"/>
                </a:solidFill>
              </a:rPr>
              <a:t>X</a:t>
            </a:r>
            <a:r>
              <a:rPr lang="en-US" altLang="zh-CN">
                <a:solidFill>
                  <a:srgbClr val="CC3300"/>
                </a:solidFill>
                <a:cs typeface="Times New Roman" pitchFamily="18" charset="0"/>
              </a:rPr>
              <a:t>)</a:t>
            </a:r>
            <a:br>
              <a:rPr lang="zh-CN" altLang="en-US"/>
            </a:br>
            <a:r>
              <a:rPr lang="zh-CN" altLang="en-US"/>
              <a:t>拼接了校验码的数据必定能被约定的</a:t>
            </a:r>
            <a:r>
              <a:rPr lang="en-US" altLang="zh-CN"/>
              <a:t>G(X)</a:t>
            </a:r>
            <a:r>
              <a:rPr lang="zh-CN" altLang="en-US"/>
              <a:t>所除尽。</a:t>
            </a:r>
          </a:p>
        </p:txBody>
      </p:sp>
    </p:spTree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0EB1AE0-7B64-4FD7-9F22-4BC5BE6B71D3}" type="slidenum">
              <a:rPr lang="zh-CN" altLang="en-US"/>
              <a:pPr/>
              <a:t>54</a:t>
            </a:fld>
            <a:endParaRPr lang="en-US" altLang="zh-CN"/>
          </a:p>
        </p:txBody>
      </p:sp>
      <p:sp>
        <p:nvSpPr>
          <p:cNvPr id="134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590550" y="528638"/>
            <a:ext cx="8229600" cy="523875"/>
          </a:xfrm>
        </p:spPr>
        <p:txBody>
          <a:bodyPr/>
          <a:lstStyle/>
          <a:p>
            <a:r>
              <a:rPr lang="zh-CN" altLang="en-US" dirty="0"/>
              <a:t>四、循环冗余校验码          </a:t>
            </a:r>
            <a:r>
              <a:rPr lang="en-US" altLang="zh-CN" dirty="0">
                <a:solidFill>
                  <a:srgbClr val="FF6600"/>
                </a:solidFill>
              </a:rPr>
              <a:t>2. CRC</a:t>
            </a:r>
            <a:r>
              <a:rPr lang="zh-CN" altLang="en-US" dirty="0">
                <a:solidFill>
                  <a:srgbClr val="CC0066"/>
                </a:solidFill>
              </a:rPr>
              <a:t>编码</a:t>
            </a:r>
            <a:r>
              <a:rPr lang="zh-CN" altLang="en-US" dirty="0">
                <a:solidFill>
                  <a:srgbClr val="FF6600"/>
                </a:solidFill>
              </a:rPr>
              <a:t>及</a:t>
            </a:r>
            <a:r>
              <a:rPr lang="zh-CN" altLang="en-US" dirty="0">
                <a:solidFill>
                  <a:srgbClr val="CC0066"/>
                </a:solidFill>
              </a:rPr>
              <a:t>译码</a:t>
            </a:r>
          </a:p>
        </p:txBody>
      </p:sp>
      <p:sp>
        <p:nvSpPr>
          <p:cNvPr id="134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268413"/>
            <a:ext cx="8642350" cy="5400675"/>
          </a:xfrm>
        </p:spPr>
        <p:txBody>
          <a:bodyPr/>
          <a:lstStyle/>
          <a:p>
            <a:pPr marL="357188" indent="-357188">
              <a:buFont typeface="Wingdings" pitchFamily="2" charset="2"/>
              <a:buNone/>
            </a:pPr>
            <a:r>
              <a:rPr lang="zh-CN" altLang="en-US">
                <a:solidFill>
                  <a:srgbClr val="006600"/>
                </a:solidFill>
                <a:latin typeface="Arial" charset="0"/>
                <a:ea typeface="黑体" pitchFamily="2" charset="-122"/>
              </a:rPr>
              <a:t>接收端，</a:t>
            </a:r>
            <a:r>
              <a:rPr lang="en-US" altLang="zh-CN">
                <a:solidFill>
                  <a:srgbClr val="006600"/>
                </a:solidFill>
                <a:latin typeface="Arial" charset="0"/>
                <a:ea typeface="黑体" pitchFamily="2" charset="-122"/>
              </a:rPr>
              <a:t>CRC</a:t>
            </a:r>
            <a:r>
              <a:rPr lang="zh-CN" altLang="en-US">
                <a:solidFill>
                  <a:srgbClr val="006600"/>
                </a:solidFill>
                <a:latin typeface="Arial" charset="0"/>
                <a:ea typeface="黑体" pitchFamily="2" charset="-122"/>
              </a:rPr>
              <a:t>的</a:t>
            </a:r>
            <a:r>
              <a:rPr lang="zh-CN" altLang="en-US">
                <a:solidFill>
                  <a:srgbClr val="FF0000"/>
                </a:solidFill>
                <a:latin typeface="Arial" charset="0"/>
                <a:ea typeface="黑体" pitchFamily="2" charset="-122"/>
              </a:rPr>
              <a:t>译码</a:t>
            </a:r>
            <a:r>
              <a:rPr lang="zh-CN" altLang="en-US">
                <a:solidFill>
                  <a:srgbClr val="006600"/>
                </a:solidFill>
                <a:latin typeface="Arial" charset="0"/>
                <a:ea typeface="黑体" pitchFamily="2" charset="-122"/>
              </a:rPr>
              <a:t>方法：</a:t>
            </a:r>
            <a:endParaRPr lang="zh-CN" altLang="en-US"/>
          </a:p>
          <a:p>
            <a:pPr marL="357188" indent="-357188">
              <a:buFont typeface="Wingdings" pitchFamily="2" charset="2"/>
              <a:buNone/>
            </a:pPr>
            <a:r>
              <a:rPr lang="zh-CN" altLang="en-US"/>
              <a:t>将接收到的编码字除以约定的生成多项式</a:t>
            </a:r>
            <a:r>
              <a:rPr lang="en-US" altLang="zh-CN"/>
              <a:t>G</a:t>
            </a:r>
            <a:r>
              <a:rPr lang="en-US" altLang="zh-CN">
                <a:latin typeface="宋体" charset="-122"/>
              </a:rPr>
              <a:t>(</a:t>
            </a:r>
            <a:r>
              <a:rPr lang="en-US" altLang="zh-CN"/>
              <a:t>X</a:t>
            </a:r>
            <a:r>
              <a:rPr lang="en-US" altLang="zh-CN">
                <a:latin typeface="宋体" charset="-122"/>
              </a:rPr>
              <a:t>)</a:t>
            </a:r>
            <a:r>
              <a:rPr lang="zh-CN" altLang="en-US"/>
              <a:t>：</a:t>
            </a:r>
          </a:p>
          <a:p>
            <a:pPr marL="357188" indent="-357188"/>
            <a:r>
              <a:rPr lang="zh-CN" altLang="en-US"/>
              <a:t>余数为</a:t>
            </a:r>
            <a:r>
              <a:rPr lang="en-US" altLang="zh-CN"/>
              <a:t>0</a:t>
            </a:r>
            <a:r>
              <a:rPr lang="zh-CN" altLang="en-US"/>
              <a:t>，则传输没有错误。</a:t>
            </a:r>
          </a:p>
          <a:p>
            <a:pPr marL="357188" indent="-357188"/>
            <a:r>
              <a:rPr lang="zh-CN" altLang="en-US"/>
              <a:t>余数不为</a:t>
            </a:r>
            <a:r>
              <a:rPr lang="en-US" altLang="zh-CN"/>
              <a:t>0</a:t>
            </a:r>
            <a:r>
              <a:rPr lang="zh-CN" altLang="en-US"/>
              <a:t>，则某一位出错。</a:t>
            </a:r>
          </a:p>
          <a:p>
            <a:pPr marL="808038" lvl="1" indent="-271463"/>
            <a:r>
              <a:rPr lang="zh-CN" altLang="en-US"/>
              <a:t>余数代码与出错位序号之间有唯一的对应关系：根据余数找到出错位；</a:t>
            </a:r>
          </a:p>
          <a:p>
            <a:pPr marL="808038" lvl="1" indent="-271463"/>
            <a:r>
              <a:rPr lang="zh-CN" altLang="en-US"/>
              <a:t>将出错位取反即可纠错。</a:t>
            </a:r>
          </a:p>
        </p:txBody>
      </p:sp>
    </p:spTree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3589B7-9906-4A13-9A3C-B26690654C4B}" type="slidenum">
              <a:rPr lang="zh-CN" altLang="en-US"/>
              <a:pPr/>
              <a:t>55</a:t>
            </a:fld>
            <a:endParaRPr lang="en-US" altLang="zh-CN"/>
          </a:p>
        </p:txBody>
      </p:sp>
      <p:sp>
        <p:nvSpPr>
          <p:cNvPr id="134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四、循环冗余校验码          </a:t>
            </a:r>
            <a:r>
              <a:rPr lang="en-US" altLang="zh-CN" dirty="0">
                <a:solidFill>
                  <a:srgbClr val="FF6600"/>
                </a:solidFill>
              </a:rPr>
              <a:t>2. CRC</a:t>
            </a:r>
            <a:r>
              <a:rPr lang="zh-CN" altLang="en-US" dirty="0">
                <a:solidFill>
                  <a:srgbClr val="CC0066"/>
                </a:solidFill>
              </a:rPr>
              <a:t>编码</a:t>
            </a:r>
            <a:r>
              <a:rPr lang="zh-CN" altLang="en-US" dirty="0">
                <a:solidFill>
                  <a:srgbClr val="FF6600"/>
                </a:solidFill>
              </a:rPr>
              <a:t>及</a:t>
            </a:r>
            <a:r>
              <a:rPr lang="zh-CN" altLang="en-US" dirty="0">
                <a:solidFill>
                  <a:srgbClr val="CC0066"/>
                </a:solidFill>
              </a:rPr>
              <a:t>译码</a:t>
            </a:r>
          </a:p>
        </p:txBody>
      </p:sp>
      <p:sp>
        <p:nvSpPr>
          <p:cNvPr id="134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504825"/>
            <a:ext cx="8569325" cy="6237288"/>
          </a:xfrm>
        </p:spPr>
        <p:txBody>
          <a:bodyPr/>
          <a:lstStyle/>
          <a:p>
            <a:pPr marL="533400" indent="-533400">
              <a:buFont typeface="Wingdings" pitchFamily="2" charset="2"/>
              <a:buNone/>
            </a:pPr>
            <a:r>
              <a:rPr lang="en-US" altLang="zh-CN" dirty="0"/>
              <a:t>【</a:t>
            </a:r>
            <a:r>
              <a:rPr lang="zh-CN" altLang="en-US" dirty="0"/>
              <a:t>例</a:t>
            </a:r>
            <a:r>
              <a:rPr lang="en-US" altLang="zh-CN" dirty="0"/>
              <a:t>】</a:t>
            </a:r>
          </a:p>
          <a:p>
            <a:pPr marL="533400" indent="-533400">
              <a:buClr>
                <a:srgbClr val="CC0066"/>
              </a:buClr>
              <a:buSzTx/>
              <a:buFont typeface="Wingdings" pitchFamily="2" charset="2"/>
              <a:buAutoNum type="circleNumDbPlain"/>
            </a:pP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假设信息字节为</a:t>
            </a:r>
            <a:b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</a:br>
            <a:r>
              <a:rPr lang="en-US" altLang="zh-CN" dirty="0">
                <a:solidFill>
                  <a:srgbClr val="000000"/>
                </a:solidFill>
              </a:rPr>
              <a:t>F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dirty="0">
                <a:solidFill>
                  <a:srgbClr val="000000"/>
                </a:solidFill>
              </a:rPr>
              <a:t>1001010</a:t>
            </a:r>
            <a:r>
              <a:rPr lang="en-US" altLang="zh-CN" baseline="-30000" dirty="0">
                <a:solidFill>
                  <a:srgbClr val="000000"/>
                </a:solidFill>
              </a:rPr>
              <a:t>2</a:t>
            </a:r>
            <a:r>
              <a:rPr lang="en-US" altLang="zh-CN" dirty="0"/>
              <a:t> </a:t>
            </a:r>
            <a:r>
              <a:rPr lang="zh-CN" altLang="en-US" dirty="0"/>
              <a:t>；</a:t>
            </a:r>
          </a:p>
          <a:p>
            <a:pPr marL="533400" indent="-533400">
              <a:buClr>
                <a:srgbClr val="CC0066"/>
              </a:buClr>
              <a:buSzTx/>
              <a:buFont typeface="Wingdings" pitchFamily="2" charset="2"/>
              <a:buAutoNum type="circleNumDbPlain"/>
            </a:pPr>
            <a:r>
              <a:rPr lang="zh-CN" altLang="en-US" dirty="0"/>
              <a:t>选取</a:t>
            </a:r>
            <a:r>
              <a:rPr lang="en-US" altLang="zh-CN" dirty="0">
                <a:solidFill>
                  <a:srgbClr val="000000"/>
                </a:solidFill>
              </a:rPr>
              <a:t>G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dirty="0">
                <a:solidFill>
                  <a:srgbClr val="000000"/>
                </a:solidFill>
              </a:rPr>
              <a:t>1011</a:t>
            </a:r>
            <a:r>
              <a:rPr lang="en-US" altLang="zh-CN" baseline="-30000" dirty="0">
                <a:solidFill>
                  <a:srgbClr val="000000"/>
                </a:solidFill>
              </a:rPr>
              <a:t>2 </a:t>
            </a:r>
            <a:r>
              <a:rPr lang="zh-CN" altLang="en-US" dirty="0">
                <a:solidFill>
                  <a:srgbClr val="000000"/>
                </a:solidFill>
              </a:rPr>
              <a:t>；</a:t>
            </a:r>
            <a:endParaRPr lang="zh-CN" altLang="en-US" dirty="0"/>
          </a:p>
          <a:p>
            <a:pPr marL="533400" indent="-533400">
              <a:buClr>
                <a:srgbClr val="CC0066"/>
              </a:buClr>
              <a:buSzTx/>
              <a:buFont typeface="Wingdings" pitchFamily="2" charset="2"/>
              <a:buAutoNum type="circleNumDbPlain"/>
            </a:pP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将</a:t>
            </a:r>
            <a:r>
              <a:rPr lang="en-US" altLang="zh-CN" dirty="0">
                <a:solidFill>
                  <a:srgbClr val="000000"/>
                </a:solidFill>
              </a:rPr>
              <a:t>F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左移</a:t>
            </a:r>
            <a:r>
              <a:rPr lang="en-US" altLang="zh-CN" i="1" dirty="0">
                <a:solidFill>
                  <a:srgbClr val="000000"/>
                </a:solidFill>
              </a:rPr>
              <a:t>l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－</a:t>
            </a:r>
            <a:r>
              <a:rPr lang="en-US" altLang="zh-CN" dirty="0">
                <a:solidFill>
                  <a:srgbClr val="000000"/>
                </a:solidFill>
              </a:rPr>
              <a:t>1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位，</a:t>
            </a:r>
            <a:b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</a:b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形成 </a:t>
            </a:r>
            <a:r>
              <a:rPr lang="en-US" altLang="zh-CN" dirty="0">
                <a:solidFill>
                  <a:srgbClr val="000000"/>
                </a:solidFill>
              </a:rPr>
              <a:t>F</a:t>
            </a:r>
            <a:r>
              <a:rPr lang="en-US" altLang="zh-CN" i="1" dirty="0">
                <a:solidFill>
                  <a:srgbClr val="000000"/>
                </a:solidFill>
              </a:rPr>
              <a:t>'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dirty="0">
                <a:solidFill>
                  <a:srgbClr val="000000"/>
                </a:solidFill>
              </a:rPr>
              <a:t>1001010</a:t>
            </a:r>
            <a:r>
              <a:rPr lang="en-US" altLang="zh-CN" dirty="0">
                <a:solidFill>
                  <a:srgbClr val="FF0000"/>
                </a:solidFill>
              </a:rPr>
              <a:t>000</a:t>
            </a:r>
            <a:r>
              <a:rPr lang="en-US" altLang="zh-CN" baseline="-30000" dirty="0">
                <a:solidFill>
                  <a:srgbClr val="000000"/>
                </a:solidFill>
              </a:rPr>
              <a:t>2</a:t>
            </a:r>
            <a:r>
              <a:rPr lang="en-US" altLang="zh-CN" dirty="0"/>
              <a:t> </a:t>
            </a:r>
            <a:r>
              <a:rPr lang="zh-CN" altLang="en-US" dirty="0"/>
              <a:t>；</a:t>
            </a:r>
          </a:p>
          <a:p>
            <a:pPr marL="533400" indent="-533400">
              <a:buClr>
                <a:srgbClr val="CC0066"/>
              </a:buClr>
              <a:buSzTx/>
              <a:buFont typeface="Wingdings" pitchFamily="2" charset="2"/>
              <a:buAutoNum type="circleNumDbPlain"/>
            </a:pP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用 </a:t>
            </a:r>
            <a:r>
              <a:rPr lang="en-US" altLang="zh-CN" dirty="0">
                <a:solidFill>
                  <a:srgbClr val="000000"/>
                </a:solidFill>
              </a:rPr>
              <a:t>F</a:t>
            </a:r>
            <a:r>
              <a:rPr lang="en-US" altLang="zh-CN" i="1" dirty="0">
                <a:solidFill>
                  <a:srgbClr val="000000"/>
                </a:solidFill>
              </a:rPr>
              <a:t>'</a:t>
            </a:r>
            <a:r>
              <a:rPr lang="en-US" altLang="zh-CN" dirty="0">
                <a:solidFill>
                  <a:srgbClr val="000000"/>
                </a:solidFill>
              </a:rPr>
              <a:t> 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做被除数、</a:t>
            </a:r>
            <a:r>
              <a:rPr lang="en-US" altLang="zh-CN" dirty="0">
                <a:solidFill>
                  <a:srgbClr val="000000"/>
                </a:solidFill>
              </a:rPr>
              <a:t>G 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做除数，</a:t>
            </a:r>
            <a:b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</a:b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进行模</a:t>
            </a:r>
            <a:r>
              <a:rPr lang="en-US" altLang="zh-CN" dirty="0">
                <a:solidFill>
                  <a:srgbClr val="000000"/>
                </a:solidFill>
              </a:rPr>
              <a:t>2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除法。</a:t>
            </a:r>
            <a:b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</a:b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忽略商，余数为</a:t>
            </a:r>
            <a:r>
              <a:rPr lang="en-US" altLang="zh-CN" dirty="0">
                <a:solidFill>
                  <a:srgbClr val="000000"/>
                </a:solidFill>
              </a:rPr>
              <a:t>R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dirty="0">
                <a:solidFill>
                  <a:srgbClr val="0000FF"/>
                </a:solidFill>
              </a:rPr>
              <a:t>111</a:t>
            </a:r>
            <a:r>
              <a:rPr lang="en-US" altLang="zh-CN" baseline="-30000" dirty="0">
                <a:solidFill>
                  <a:srgbClr val="000000"/>
                </a:solidFill>
              </a:rPr>
              <a:t>2 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。</a:t>
            </a:r>
          </a:p>
          <a:p>
            <a:pPr marL="533400" indent="-533400">
              <a:buClr>
                <a:srgbClr val="CC0066"/>
              </a:buClr>
              <a:buSzTx/>
              <a:buFont typeface="Wingdings" pitchFamily="2" charset="2"/>
              <a:buAutoNum type="circleNumDbPlain"/>
            </a:pP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把余数加到 </a:t>
            </a:r>
            <a:r>
              <a:rPr lang="en-US" altLang="zh-CN" dirty="0">
                <a:solidFill>
                  <a:srgbClr val="000000"/>
                </a:solidFill>
              </a:rPr>
              <a:t>F' 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中，组成要发送的信息</a:t>
            </a:r>
            <a:r>
              <a:rPr lang="en-US" altLang="zh-CN" dirty="0">
                <a:solidFill>
                  <a:srgbClr val="000000"/>
                </a:solidFill>
              </a:rPr>
              <a:t>M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：</a:t>
            </a:r>
            <a:r>
              <a:rPr lang="en-US" altLang="zh-CN" dirty="0">
                <a:solidFill>
                  <a:srgbClr val="000000"/>
                </a:solidFill>
              </a:rPr>
              <a:t>1001010</a:t>
            </a:r>
            <a:r>
              <a:rPr lang="en-US" altLang="zh-CN" dirty="0">
                <a:solidFill>
                  <a:srgbClr val="FF0000"/>
                </a:solidFill>
              </a:rPr>
              <a:t>000</a:t>
            </a:r>
            <a:r>
              <a:rPr lang="en-US" altLang="zh-CN" baseline="-30000" dirty="0">
                <a:solidFill>
                  <a:srgbClr val="000000"/>
                </a:solidFill>
              </a:rPr>
              <a:t>2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＋</a:t>
            </a:r>
            <a:r>
              <a:rPr lang="en-US" altLang="zh-CN" dirty="0">
                <a:solidFill>
                  <a:srgbClr val="0000FF"/>
                </a:solidFill>
              </a:rPr>
              <a:t>111</a:t>
            </a:r>
            <a:r>
              <a:rPr lang="en-US" altLang="zh-CN" baseline="-30000" dirty="0">
                <a:solidFill>
                  <a:srgbClr val="000000"/>
                </a:solidFill>
              </a:rPr>
              <a:t>2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＝</a:t>
            </a:r>
            <a:r>
              <a:rPr lang="en-US" altLang="zh-CN" dirty="0">
                <a:solidFill>
                  <a:srgbClr val="000000"/>
                </a:solidFill>
              </a:rPr>
              <a:t>1001010</a:t>
            </a:r>
            <a:r>
              <a:rPr lang="en-US" altLang="zh-CN" dirty="0">
                <a:solidFill>
                  <a:srgbClr val="0000FF"/>
                </a:solidFill>
              </a:rPr>
              <a:t>111</a:t>
            </a:r>
            <a:r>
              <a:rPr lang="en-US" altLang="zh-CN" baseline="-30000" dirty="0">
                <a:solidFill>
                  <a:srgbClr val="000000"/>
                </a:solidFill>
              </a:rPr>
              <a:t>2 </a:t>
            </a:r>
            <a:r>
              <a:rPr lang="zh-CN" altLang="en-US" dirty="0">
                <a:solidFill>
                  <a:srgbClr val="000000"/>
                </a:solidFill>
                <a:cs typeface="Times New Roman" pitchFamily="18" charset="0"/>
              </a:rPr>
              <a:t>。</a:t>
            </a:r>
          </a:p>
          <a:p>
            <a:pPr marL="533400" indent="-533400">
              <a:buClr>
                <a:srgbClr val="CC0066"/>
              </a:buClr>
              <a:buSzTx/>
              <a:buFont typeface="Wingdings" pitchFamily="2" charset="2"/>
              <a:buAutoNum type="circleNumDbPlain"/>
            </a:pPr>
            <a:r>
              <a:rPr lang="zh-CN" altLang="en-US" dirty="0"/>
              <a:t>接收器采用相反的过程对接收的信息 </a:t>
            </a:r>
            <a:r>
              <a:rPr lang="en-US" altLang="zh-CN" dirty="0"/>
              <a:t>M </a:t>
            </a:r>
            <a:r>
              <a:rPr lang="zh-CN" altLang="en-US" dirty="0"/>
              <a:t>进行解码和校验。</a:t>
            </a:r>
            <a:r>
              <a:rPr lang="en-US" altLang="zh-CN" dirty="0"/>
              <a:t>M </a:t>
            </a:r>
            <a:r>
              <a:rPr lang="zh-CN" altLang="en-US" dirty="0"/>
              <a:t>应该可以被 </a:t>
            </a:r>
            <a:r>
              <a:rPr lang="en-US" altLang="zh-CN" dirty="0"/>
              <a:t>G </a:t>
            </a:r>
            <a:r>
              <a:rPr lang="zh-CN" altLang="en-US" dirty="0"/>
              <a:t>严格整除。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4643438" y="765175"/>
            <a:ext cx="3529012" cy="4110038"/>
            <a:chOff x="4643438" y="765175"/>
            <a:chExt cx="3529012" cy="4110038"/>
          </a:xfrm>
        </p:grpSpPr>
        <p:sp>
          <p:nvSpPr>
            <p:cNvPr id="1349636" name="Text Box 4"/>
            <p:cNvSpPr txBox="1">
              <a:spLocks noChangeArrowheads="1"/>
            </p:cNvSpPr>
            <p:nvPr/>
          </p:nvSpPr>
          <p:spPr bwMode="auto">
            <a:xfrm>
              <a:off x="5651500" y="1222375"/>
              <a:ext cx="2519363" cy="51911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/>
              <a:r>
                <a:rPr lang="en-US" altLang="zh-CN">
                  <a:latin typeface="Courier New" pitchFamily="49" charset="0"/>
                </a:rPr>
                <a:t>1001010</a:t>
              </a:r>
              <a:r>
                <a:rPr lang="en-US" altLang="zh-CN">
                  <a:solidFill>
                    <a:srgbClr val="FF0000"/>
                  </a:solidFill>
                  <a:latin typeface="Courier New" pitchFamily="49" charset="0"/>
                </a:rPr>
                <a:t>000</a:t>
              </a:r>
            </a:p>
          </p:txBody>
        </p:sp>
        <p:sp>
          <p:nvSpPr>
            <p:cNvPr id="1349637" name="Text Box 5"/>
            <p:cNvSpPr txBox="1">
              <a:spLocks noChangeArrowheads="1"/>
            </p:cNvSpPr>
            <p:nvPr/>
          </p:nvSpPr>
          <p:spPr bwMode="auto">
            <a:xfrm>
              <a:off x="4643438" y="1222375"/>
              <a:ext cx="1225550" cy="51911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/>
              <a:r>
                <a:rPr lang="en-US" altLang="zh-CN">
                  <a:latin typeface="Courier New" pitchFamily="49" charset="0"/>
                </a:rPr>
                <a:t>1011</a:t>
              </a:r>
              <a:endParaRPr lang="en-US" altLang="zh-CN">
                <a:solidFill>
                  <a:srgbClr val="FF0000"/>
                </a:solidFill>
                <a:latin typeface="Courier New" pitchFamily="49" charset="0"/>
              </a:endParaRPr>
            </a:p>
          </p:txBody>
        </p:sp>
        <p:sp>
          <p:nvSpPr>
            <p:cNvPr id="1349638" name="Text Box 6"/>
            <p:cNvSpPr txBox="1">
              <a:spLocks noChangeArrowheads="1"/>
            </p:cNvSpPr>
            <p:nvPr/>
          </p:nvSpPr>
          <p:spPr bwMode="auto">
            <a:xfrm>
              <a:off x="6226175" y="765175"/>
              <a:ext cx="1944688" cy="51911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/>
              <a:r>
                <a:rPr lang="en-US" altLang="zh-CN">
                  <a:latin typeface="Courier New" pitchFamily="49" charset="0"/>
                </a:rPr>
                <a:t>1010101</a:t>
              </a:r>
              <a:endParaRPr lang="en-US" altLang="zh-CN">
                <a:solidFill>
                  <a:srgbClr val="FF0000"/>
                </a:solidFill>
                <a:latin typeface="Courier New" pitchFamily="49" charset="0"/>
              </a:endParaRPr>
            </a:p>
          </p:txBody>
        </p:sp>
        <p:sp>
          <p:nvSpPr>
            <p:cNvPr id="1349639" name="Text Box 7"/>
            <p:cNvSpPr txBox="1">
              <a:spLocks noChangeArrowheads="1"/>
            </p:cNvSpPr>
            <p:nvPr/>
          </p:nvSpPr>
          <p:spPr bwMode="auto">
            <a:xfrm>
              <a:off x="5651500" y="1597025"/>
              <a:ext cx="1225550" cy="51911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/>
              <a:r>
                <a:rPr lang="en-US" altLang="zh-CN" dirty="0">
                  <a:latin typeface="Courier New" pitchFamily="49" charset="0"/>
                </a:rPr>
                <a:t>1011</a:t>
              </a:r>
              <a:endParaRPr lang="en-US" altLang="zh-CN" dirty="0">
                <a:solidFill>
                  <a:srgbClr val="FF0000"/>
                </a:solidFill>
                <a:latin typeface="Courier New" pitchFamily="49" charset="0"/>
              </a:endParaRPr>
            </a:p>
          </p:txBody>
        </p:sp>
        <p:sp>
          <p:nvSpPr>
            <p:cNvPr id="1349640" name="Text Box 8"/>
            <p:cNvSpPr txBox="1">
              <a:spLocks noChangeArrowheads="1"/>
            </p:cNvSpPr>
            <p:nvPr/>
          </p:nvSpPr>
          <p:spPr bwMode="auto">
            <a:xfrm>
              <a:off x="6083300" y="2008188"/>
              <a:ext cx="1225550" cy="519112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/>
              <a:r>
                <a:rPr lang="en-US" altLang="zh-CN">
                  <a:latin typeface="Courier New" pitchFamily="49" charset="0"/>
                </a:rPr>
                <a:t>1001</a:t>
              </a:r>
              <a:endParaRPr lang="en-US" altLang="zh-CN">
                <a:solidFill>
                  <a:srgbClr val="FF0000"/>
                </a:solidFill>
                <a:latin typeface="Courier New" pitchFamily="49" charset="0"/>
              </a:endParaRPr>
            </a:p>
          </p:txBody>
        </p:sp>
        <p:sp>
          <p:nvSpPr>
            <p:cNvPr id="1349641" name="Text Box 9"/>
            <p:cNvSpPr txBox="1">
              <a:spLocks noChangeArrowheads="1"/>
            </p:cNvSpPr>
            <p:nvPr/>
          </p:nvSpPr>
          <p:spPr bwMode="auto">
            <a:xfrm>
              <a:off x="6515100" y="2824163"/>
              <a:ext cx="1225550" cy="519112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/>
              <a:r>
                <a:rPr lang="en-US" altLang="zh-CN">
                  <a:latin typeface="Courier New" pitchFamily="49" charset="0"/>
                </a:rPr>
                <a:t>100</a:t>
              </a:r>
              <a:r>
                <a:rPr lang="en-US" altLang="zh-CN">
                  <a:solidFill>
                    <a:srgbClr val="FF0000"/>
                  </a:solidFill>
                  <a:latin typeface="Courier New" pitchFamily="49" charset="0"/>
                </a:rPr>
                <a:t>0</a:t>
              </a:r>
            </a:p>
          </p:txBody>
        </p:sp>
        <p:sp>
          <p:nvSpPr>
            <p:cNvPr id="1349642" name="Text Box 10"/>
            <p:cNvSpPr txBox="1">
              <a:spLocks noChangeArrowheads="1"/>
            </p:cNvSpPr>
            <p:nvPr/>
          </p:nvSpPr>
          <p:spPr bwMode="auto">
            <a:xfrm>
              <a:off x="6083300" y="2352675"/>
              <a:ext cx="1225550" cy="51911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/>
              <a:r>
                <a:rPr lang="en-US" altLang="zh-CN">
                  <a:latin typeface="Courier New" pitchFamily="49" charset="0"/>
                </a:rPr>
                <a:t>1011</a:t>
              </a:r>
              <a:endParaRPr lang="en-US" altLang="zh-CN">
                <a:solidFill>
                  <a:srgbClr val="FF0000"/>
                </a:solidFill>
                <a:latin typeface="Courier New" pitchFamily="49" charset="0"/>
              </a:endParaRPr>
            </a:p>
          </p:txBody>
        </p:sp>
        <p:sp>
          <p:nvSpPr>
            <p:cNvPr id="1349643" name="Text Box 11"/>
            <p:cNvSpPr txBox="1">
              <a:spLocks noChangeArrowheads="1"/>
            </p:cNvSpPr>
            <p:nvPr/>
          </p:nvSpPr>
          <p:spPr bwMode="auto">
            <a:xfrm>
              <a:off x="6946900" y="3562350"/>
              <a:ext cx="1225550" cy="51911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/>
              <a:r>
                <a:rPr lang="en-US" altLang="zh-CN">
                  <a:latin typeface="Courier New" pitchFamily="49" charset="0"/>
                </a:rPr>
                <a:t>11</a:t>
              </a:r>
              <a:r>
                <a:rPr lang="en-US" altLang="zh-CN">
                  <a:solidFill>
                    <a:srgbClr val="FF0000"/>
                  </a:solidFill>
                  <a:latin typeface="Courier New" pitchFamily="49" charset="0"/>
                </a:rPr>
                <a:t>00</a:t>
              </a:r>
            </a:p>
          </p:txBody>
        </p:sp>
        <p:sp>
          <p:nvSpPr>
            <p:cNvPr id="1349644" name="Text Box 12"/>
            <p:cNvSpPr txBox="1">
              <a:spLocks noChangeArrowheads="1"/>
            </p:cNvSpPr>
            <p:nvPr/>
          </p:nvSpPr>
          <p:spPr bwMode="auto">
            <a:xfrm>
              <a:off x="6515100" y="3125788"/>
              <a:ext cx="1225550" cy="519112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/>
              <a:r>
                <a:rPr lang="en-US" altLang="zh-CN">
                  <a:latin typeface="Courier New" pitchFamily="49" charset="0"/>
                </a:rPr>
                <a:t>1011</a:t>
              </a:r>
              <a:endParaRPr lang="en-US" altLang="zh-CN">
                <a:solidFill>
                  <a:srgbClr val="FF0000"/>
                </a:solidFill>
                <a:latin typeface="Courier New" pitchFamily="49" charset="0"/>
              </a:endParaRPr>
            </a:p>
          </p:txBody>
        </p:sp>
        <p:sp>
          <p:nvSpPr>
            <p:cNvPr id="1349645" name="Text Box 13"/>
            <p:cNvSpPr txBox="1">
              <a:spLocks noChangeArrowheads="1"/>
            </p:cNvSpPr>
            <p:nvPr/>
          </p:nvSpPr>
          <p:spPr bwMode="auto">
            <a:xfrm>
              <a:off x="6946900" y="4356100"/>
              <a:ext cx="1225550" cy="51911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/>
              <a:r>
                <a:rPr lang="en-US" altLang="zh-CN">
                  <a:solidFill>
                    <a:srgbClr val="0000FF"/>
                  </a:solidFill>
                  <a:latin typeface="Courier New" pitchFamily="49" charset="0"/>
                </a:rPr>
                <a:t>111</a:t>
              </a:r>
            </a:p>
          </p:txBody>
        </p:sp>
        <p:sp>
          <p:nvSpPr>
            <p:cNvPr id="1349646" name="Line 14"/>
            <p:cNvSpPr>
              <a:spLocks noChangeShapeType="1"/>
            </p:cNvSpPr>
            <p:nvPr/>
          </p:nvSpPr>
          <p:spPr bwMode="auto">
            <a:xfrm>
              <a:off x="5867400" y="1236663"/>
              <a:ext cx="22320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349648" name="Freeform 16"/>
            <p:cNvSpPr>
              <a:spLocks/>
            </p:cNvSpPr>
            <p:nvPr/>
          </p:nvSpPr>
          <p:spPr bwMode="auto">
            <a:xfrm>
              <a:off x="5722938" y="1236663"/>
              <a:ext cx="144462" cy="504825"/>
            </a:xfrm>
            <a:custGeom>
              <a:avLst/>
              <a:gdLst/>
              <a:ahLst/>
              <a:cxnLst>
                <a:cxn ang="0">
                  <a:pos x="272" y="0"/>
                </a:cxn>
                <a:cxn ang="0">
                  <a:pos x="227" y="408"/>
                </a:cxn>
                <a:cxn ang="0">
                  <a:pos x="0" y="590"/>
                </a:cxn>
              </a:cxnLst>
              <a:rect l="0" t="0" r="r" b="b"/>
              <a:pathLst>
                <a:path w="272" h="590">
                  <a:moveTo>
                    <a:pt x="272" y="0"/>
                  </a:moveTo>
                  <a:cubicBezTo>
                    <a:pt x="272" y="155"/>
                    <a:pt x="272" y="310"/>
                    <a:pt x="227" y="408"/>
                  </a:cubicBezTo>
                  <a:cubicBezTo>
                    <a:pt x="182" y="506"/>
                    <a:pt x="91" y="548"/>
                    <a:pt x="0" y="590"/>
                  </a:cubicBez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349649" name="Line 17"/>
            <p:cNvSpPr>
              <a:spLocks noChangeShapeType="1"/>
            </p:cNvSpPr>
            <p:nvPr/>
          </p:nvSpPr>
          <p:spPr bwMode="auto">
            <a:xfrm>
              <a:off x="5795963" y="2066925"/>
              <a:ext cx="13684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349650" name="Line 18"/>
            <p:cNvSpPr>
              <a:spLocks noChangeShapeType="1"/>
            </p:cNvSpPr>
            <p:nvPr/>
          </p:nvSpPr>
          <p:spPr bwMode="auto">
            <a:xfrm>
              <a:off x="6299200" y="2838450"/>
              <a:ext cx="12969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349651" name="Line 19"/>
            <p:cNvSpPr>
              <a:spLocks noChangeShapeType="1"/>
            </p:cNvSpPr>
            <p:nvPr/>
          </p:nvSpPr>
          <p:spPr bwMode="auto">
            <a:xfrm>
              <a:off x="6802438" y="3622675"/>
              <a:ext cx="12969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349652" name="Text Box 20"/>
            <p:cNvSpPr txBox="1">
              <a:spLocks noChangeArrowheads="1"/>
            </p:cNvSpPr>
            <p:nvPr/>
          </p:nvSpPr>
          <p:spPr bwMode="auto">
            <a:xfrm>
              <a:off x="6946900" y="3876675"/>
              <a:ext cx="1225550" cy="519113"/>
            </a:xfrm>
            <a:prstGeom prst="rect">
              <a:avLst/>
            </a:prstGeom>
            <a:noFill/>
            <a:ln w="2857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r"/>
              <a:r>
                <a:rPr lang="en-US" altLang="zh-CN" dirty="0">
                  <a:latin typeface="Courier New" pitchFamily="49" charset="0"/>
                </a:rPr>
                <a:t>1011</a:t>
              </a:r>
              <a:endParaRPr lang="en-US" altLang="zh-CN" dirty="0">
                <a:solidFill>
                  <a:srgbClr val="FF0000"/>
                </a:solidFill>
                <a:latin typeface="Courier New" pitchFamily="49" charset="0"/>
              </a:endParaRPr>
            </a:p>
          </p:txBody>
        </p:sp>
        <p:sp>
          <p:nvSpPr>
            <p:cNvPr id="1349653" name="Line 21"/>
            <p:cNvSpPr>
              <a:spLocks noChangeShapeType="1"/>
            </p:cNvSpPr>
            <p:nvPr/>
          </p:nvSpPr>
          <p:spPr bwMode="auto">
            <a:xfrm>
              <a:off x="7235825" y="4371975"/>
              <a:ext cx="8636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349654" name="Line 22"/>
            <p:cNvSpPr>
              <a:spLocks noChangeShapeType="1"/>
            </p:cNvSpPr>
            <p:nvPr/>
          </p:nvSpPr>
          <p:spPr bwMode="auto">
            <a:xfrm>
              <a:off x="6783388" y="1268413"/>
              <a:ext cx="0" cy="1584325"/>
            </a:xfrm>
            <a:prstGeom prst="line">
              <a:avLst/>
            </a:prstGeom>
            <a:noFill/>
            <a:ln w="19050">
              <a:solidFill>
                <a:srgbClr val="FF6600"/>
              </a:solidFill>
              <a:prstDash val="dash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349655" name="Line 23"/>
            <p:cNvSpPr>
              <a:spLocks noChangeShapeType="1"/>
            </p:cNvSpPr>
            <p:nvPr/>
          </p:nvSpPr>
          <p:spPr bwMode="auto">
            <a:xfrm>
              <a:off x="7215188" y="1268413"/>
              <a:ext cx="0" cy="2305050"/>
            </a:xfrm>
            <a:prstGeom prst="line">
              <a:avLst/>
            </a:prstGeom>
            <a:noFill/>
            <a:ln w="19050">
              <a:solidFill>
                <a:srgbClr val="FF6600"/>
              </a:solidFill>
              <a:prstDash val="dash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349656" name="Line 24"/>
            <p:cNvSpPr>
              <a:spLocks noChangeShapeType="1"/>
            </p:cNvSpPr>
            <p:nvPr/>
          </p:nvSpPr>
          <p:spPr bwMode="auto">
            <a:xfrm>
              <a:off x="7646988" y="1268413"/>
              <a:ext cx="0" cy="3097212"/>
            </a:xfrm>
            <a:prstGeom prst="line">
              <a:avLst/>
            </a:prstGeom>
            <a:noFill/>
            <a:ln w="19050">
              <a:solidFill>
                <a:srgbClr val="FF6600"/>
              </a:solidFill>
              <a:prstDash val="dash"/>
              <a:round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34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34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134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134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0" dur="500"/>
                                        <p:tgtEl>
                                          <p:spTgt spid="134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1349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A2578C-F369-41C9-A63C-A7C98E461E9B}" type="slidenum">
              <a:rPr lang="zh-CN" altLang="en-US"/>
              <a:pPr/>
              <a:t>56</a:t>
            </a:fld>
            <a:endParaRPr lang="en-US" altLang="zh-CN"/>
          </a:p>
        </p:txBody>
      </p:sp>
      <p:sp>
        <p:nvSpPr>
          <p:cNvPr id="135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四、循环冗余校验码          </a:t>
            </a:r>
            <a:r>
              <a:rPr lang="en-US" altLang="zh-CN" dirty="0">
                <a:solidFill>
                  <a:srgbClr val="FF6600"/>
                </a:solidFill>
              </a:rPr>
              <a:t>2. CRC</a:t>
            </a:r>
            <a:r>
              <a:rPr lang="zh-CN" altLang="en-US" dirty="0">
                <a:solidFill>
                  <a:srgbClr val="CC0066"/>
                </a:solidFill>
              </a:rPr>
              <a:t>编码</a:t>
            </a:r>
            <a:r>
              <a:rPr lang="zh-CN" altLang="en-US" dirty="0">
                <a:solidFill>
                  <a:srgbClr val="FF6600"/>
                </a:solidFill>
              </a:rPr>
              <a:t>及</a:t>
            </a:r>
            <a:r>
              <a:rPr lang="zh-CN" altLang="en-US" dirty="0">
                <a:solidFill>
                  <a:srgbClr val="CC0066"/>
                </a:solidFill>
              </a:rPr>
              <a:t>译码</a:t>
            </a:r>
          </a:p>
        </p:txBody>
      </p:sp>
      <p:sp>
        <p:nvSpPr>
          <p:cNvPr id="135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504825"/>
            <a:ext cx="8569325" cy="547688"/>
          </a:xfrm>
        </p:spPr>
        <p:txBody>
          <a:bodyPr/>
          <a:lstStyle/>
          <a:p>
            <a:pPr marL="533400" indent="-533400">
              <a:buFont typeface="Wingdings" pitchFamily="2" charset="2"/>
              <a:buNone/>
            </a:pPr>
            <a:r>
              <a:rPr lang="en-US" altLang="zh-CN"/>
              <a:t>【</a:t>
            </a:r>
            <a:r>
              <a:rPr lang="zh-CN" altLang="en-US"/>
              <a:t>例</a:t>
            </a:r>
            <a:r>
              <a:rPr lang="en-US" altLang="zh-CN"/>
              <a:t>】</a:t>
            </a:r>
            <a:endParaRPr lang="zh-CN" altLang="en-US"/>
          </a:p>
        </p:txBody>
      </p:sp>
      <p:graphicFrame>
        <p:nvGraphicFramePr>
          <p:cNvPr id="1350677" name="Object 21"/>
          <p:cNvGraphicFramePr>
            <a:graphicFrameLocks noChangeAspect="1"/>
          </p:cNvGraphicFramePr>
          <p:nvPr/>
        </p:nvGraphicFramePr>
        <p:xfrm>
          <a:off x="1214414" y="1533524"/>
          <a:ext cx="2913062" cy="168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0240" name="公式" r:id="rId3" imgW="1130040" imgH="647640" progId="Equation.3">
                  <p:embed/>
                </p:oleObj>
              </mc:Choice>
              <mc:Fallback>
                <p:oleObj name="公式" r:id="rId3" imgW="1130040" imgH="64764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414" y="1533524"/>
                        <a:ext cx="2913062" cy="1681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0679" name="Object 23"/>
          <p:cNvGraphicFramePr>
            <a:graphicFrameLocks noChangeAspect="1"/>
          </p:cNvGraphicFramePr>
          <p:nvPr/>
        </p:nvGraphicFramePr>
        <p:xfrm>
          <a:off x="4894285" y="1571612"/>
          <a:ext cx="2892425" cy="166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0241" name="公式" r:id="rId5" imgW="1130040" imgH="647640" progId="Equation.3">
                  <p:embed/>
                </p:oleObj>
              </mc:Choice>
              <mc:Fallback>
                <p:oleObj name="公式" r:id="rId5" imgW="1130040" imgH="647640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4285" y="1571612"/>
                        <a:ext cx="2892425" cy="1660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0681" name="Text Box 25"/>
          <p:cNvSpPr txBox="1">
            <a:spLocks noChangeArrowheads="1"/>
          </p:cNvSpPr>
          <p:nvPr/>
        </p:nvSpPr>
        <p:spPr bwMode="auto">
          <a:xfrm>
            <a:off x="900113" y="692150"/>
            <a:ext cx="3816350" cy="9461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>
                <a:solidFill>
                  <a:srgbClr val="006600"/>
                </a:solidFill>
              </a:rPr>
              <a:t>接收器：解码校验</a:t>
            </a:r>
          </a:p>
          <a:p>
            <a:pPr>
              <a:spcBef>
                <a:spcPct val="0"/>
              </a:spcBef>
            </a:pPr>
            <a:r>
              <a:rPr lang="zh-CN" altLang="en-US">
                <a:solidFill>
                  <a:srgbClr val="006600"/>
                </a:solidFill>
              </a:rPr>
              <a:t>（正确的情况）</a:t>
            </a:r>
          </a:p>
        </p:txBody>
      </p:sp>
      <p:sp>
        <p:nvSpPr>
          <p:cNvPr id="1350682" name="Text Box 26"/>
          <p:cNvSpPr txBox="1">
            <a:spLocks noChangeArrowheads="1"/>
          </p:cNvSpPr>
          <p:nvPr/>
        </p:nvSpPr>
        <p:spPr bwMode="auto">
          <a:xfrm>
            <a:off x="4716463" y="692150"/>
            <a:ext cx="3816350" cy="9461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>
                <a:solidFill>
                  <a:srgbClr val="006600"/>
                </a:solidFill>
              </a:rPr>
              <a:t>接收器：解码校验</a:t>
            </a:r>
          </a:p>
          <a:p>
            <a:pPr>
              <a:spcBef>
                <a:spcPct val="0"/>
              </a:spcBef>
            </a:pPr>
            <a:r>
              <a:rPr lang="zh-CN" altLang="en-US">
                <a:solidFill>
                  <a:srgbClr val="006600"/>
                </a:solidFill>
              </a:rPr>
              <a:t>（</a:t>
            </a:r>
            <a:r>
              <a:rPr lang="en-US" altLang="zh-CN">
                <a:solidFill>
                  <a:srgbClr val="006600"/>
                </a:solidFill>
              </a:rPr>
              <a:t>1</a:t>
            </a:r>
            <a:r>
              <a:rPr lang="zh-CN" altLang="en-US">
                <a:solidFill>
                  <a:srgbClr val="006600"/>
                </a:solidFill>
              </a:rPr>
              <a:t>位出错的情况）</a:t>
            </a:r>
          </a:p>
        </p:txBody>
      </p:sp>
      <p:sp>
        <p:nvSpPr>
          <p:cNvPr id="1350683" name="Rectangle 27"/>
          <p:cNvSpPr>
            <a:spLocks noChangeArrowheads="1"/>
          </p:cNvSpPr>
          <p:nvPr/>
        </p:nvSpPr>
        <p:spPr bwMode="auto">
          <a:xfrm>
            <a:off x="6945313" y="2192338"/>
            <a:ext cx="209550" cy="368300"/>
          </a:xfrm>
          <a:prstGeom prst="rect">
            <a:avLst/>
          </a:prstGeom>
          <a:noFill/>
          <a:ln w="28575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A2578C-F369-41C9-A63C-A7C98E461E9B}" type="slidenum">
              <a:rPr lang="zh-CN" altLang="en-US"/>
              <a:pPr/>
              <a:t>57</a:t>
            </a:fld>
            <a:endParaRPr lang="en-US" altLang="zh-CN"/>
          </a:p>
        </p:txBody>
      </p:sp>
      <p:sp>
        <p:nvSpPr>
          <p:cNvPr id="135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四、循环冗余校验码          </a:t>
            </a:r>
            <a:r>
              <a:rPr lang="en-US" altLang="zh-CN" dirty="0">
                <a:solidFill>
                  <a:srgbClr val="FF6600"/>
                </a:solidFill>
              </a:rPr>
              <a:t>2. CRC</a:t>
            </a:r>
            <a:r>
              <a:rPr lang="zh-CN" altLang="en-US" dirty="0">
                <a:solidFill>
                  <a:srgbClr val="CC0066"/>
                </a:solidFill>
              </a:rPr>
              <a:t>编码</a:t>
            </a:r>
            <a:r>
              <a:rPr lang="zh-CN" altLang="en-US" dirty="0">
                <a:solidFill>
                  <a:srgbClr val="FF6600"/>
                </a:solidFill>
              </a:rPr>
              <a:t>及</a:t>
            </a:r>
            <a:r>
              <a:rPr lang="zh-CN" altLang="en-US" dirty="0">
                <a:solidFill>
                  <a:srgbClr val="CC0066"/>
                </a:solidFill>
              </a:rPr>
              <a:t>译码</a:t>
            </a:r>
          </a:p>
        </p:txBody>
      </p:sp>
      <p:sp>
        <p:nvSpPr>
          <p:cNvPr id="135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504825"/>
            <a:ext cx="8569325" cy="547688"/>
          </a:xfrm>
        </p:spPr>
        <p:txBody>
          <a:bodyPr/>
          <a:lstStyle/>
          <a:p>
            <a:pPr marL="533400" indent="-533400">
              <a:buFont typeface="Wingdings" pitchFamily="2" charset="2"/>
              <a:buNone/>
            </a:pPr>
            <a:r>
              <a:rPr lang="en-US" altLang="zh-CN"/>
              <a:t>【</a:t>
            </a:r>
            <a:r>
              <a:rPr lang="zh-CN" altLang="en-US"/>
              <a:t>例</a:t>
            </a:r>
            <a:r>
              <a:rPr lang="en-US" altLang="zh-CN"/>
              <a:t>】</a:t>
            </a:r>
            <a:endParaRPr lang="zh-CN" altLang="en-US"/>
          </a:p>
        </p:txBody>
      </p:sp>
      <p:graphicFrame>
        <p:nvGraphicFramePr>
          <p:cNvPr id="1350677" name="Object 21"/>
          <p:cNvGraphicFramePr>
            <a:graphicFrameLocks noChangeAspect="1"/>
          </p:cNvGraphicFramePr>
          <p:nvPr/>
        </p:nvGraphicFramePr>
        <p:xfrm>
          <a:off x="1114425" y="1630363"/>
          <a:ext cx="3044825" cy="511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0804" name="公式" r:id="rId3" imgW="1180800" imgH="1968480" progId="Equation.3">
                  <p:embed/>
                </p:oleObj>
              </mc:Choice>
              <mc:Fallback>
                <p:oleObj name="公式" r:id="rId3" imgW="1180800" imgH="196848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4425" y="1630363"/>
                        <a:ext cx="3044825" cy="5111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0679" name="Object 23"/>
          <p:cNvGraphicFramePr>
            <a:graphicFrameLocks noChangeAspect="1"/>
          </p:cNvGraphicFramePr>
          <p:nvPr/>
        </p:nvGraphicFramePr>
        <p:xfrm>
          <a:off x="4822825" y="1662113"/>
          <a:ext cx="2989263" cy="403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0805" name="公式" r:id="rId5" imgW="1168200" imgH="1574640" progId="Equation.3">
                  <p:embed/>
                </p:oleObj>
              </mc:Choice>
              <mc:Fallback>
                <p:oleObj name="公式" r:id="rId5" imgW="1168200" imgH="1574640" progId="Equation.3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2825" y="1662113"/>
                        <a:ext cx="2989263" cy="403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0681" name="Text Box 25"/>
          <p:cNvSpPr txBox="1">
            <a:spLocks noChangeArrowheads="1"/>
          </p:cNvSpPr>
          <p:nvPr/>
        </p:nvSpPr>
        <p:spPr bwMode="auto">
          <a:xfrm>
            <a:off x="900113" y="692150"/>
            <a:ext cx="3816350" cy="9461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>
                <a:solidFill>
                  <a:srgbClr val="006600"/>
                </a:solidFill>
              </a:rPr>
              <a:t>接收器：解码校验</a:t>
            </a:r>
          </a:p>
          <a:p>
            <a:pPr>
              <a:spcBef>
                <a:spcPct val="0"/>
              </a:spcBef>
            </a:pPr>
            <a:r>
              <a:rPr lang="zh-CN" altLang="en-US">
                <a:solidFill>
                  <a:srgbClr val="006600"/>
                </a:solidFill>
              </a:rPr>
              <a:t>（正确的情况）</a:t>
            </a:r>
          </a:p>
        </p:txBody>
      </p:sp>
      <p:sp>
        <p:nvSpPr>
          <p:cNvPr id="1350682" name="Text Box 26"/>
          <p:cNvSpPr txBox="1">
            <a:spLocks noChangeArrowheads="1"/>
          </p:cNvSpPr>
          <p:nvPr/>
        </p:nvSpPr>
        <p:spPr bwMode="auto">
          <a:xfrm>
            <a:off x="4716463" y="692150"/>
            <a:ext cx="3816350" cy="946150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>
                <a:solidFill>
                  <a:srgbClr val="006600"/>
                </a:solidFill>
              </a:rPr>
              <a:t>接收器：解码校验</a:t>
            </a:r>
          </a:p>
          <a:p>
            <a:pPr>
              <a:spcBef>
                <a:spcPct val="0"/>
              </a:spcBef>
            </a:pPr>
            <a:r>
              <a:rPr lang="zh-CN" altLang="en-US">
                <a:solidFill>
                  <a:srgbClr val="006600"/>
                </a:solidFill>
              </a:rPr>
              <a:t>（</a:t>
            </a:r>
            <a:r>
              <a:rPr lang="en-US" altLang="zh-CN">
                <a:solidFill>
                  <a:srgbClr val="006600"/>
                </a:solidFill>
              </a:rPr>
              <a:t>1</a:t>
            </a:r>
            <a:r>
              <a:rPr lang="zh-CN" altLang="en-US">
                <a:solidFill>
                  <a:srgbClr val="006600"/>
                </a:solidFill>
              </a:rPr>
              <a:t>位出错的情况）</a:t>
            </a:r>
          </a:p>
        </p:txBody>
      </p:sp>
      <p:sp>
        <p:nvSpPr>
          <p:cNvPr id="1350683" name="Rectangle 27"/>
          <p:cNvSpPr>
            <a:spLocks noChangeArrowheads="1"/>
          </p:cNvSpPr>
          <p:nvPr/>
        </p:nvSpPr>
        <p:spPr bwMode="auto">
          <a:xfrm>
            <a:off x="6945313" y="2192338"/>
            <a:ext cx="209550" cy="368300"/>
          </a:xfrm>
          <a:prstGeom prst="rect">
            <a:avLst/>
          </a:prstGeom>
          <a:noFill/>
          <a:ln w="28575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350684" name="Line 28"/>
          <p:cNvSpPr>
            <a:spLocks noChangeShapeType="1"/>
          </p:cNvSpPr>
          <p:nvPr/>
        </p:nvSpPr>
        <p:spPr bwMode="auto">
          <a:xfrm>
            <a:off x="2878138" y="2276475"/>
            <a:ext cx="0" cy="1944688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50685" name="Line 29"/>
          <p:cNvSpPr>
            <a:spLocks noChangeShapeType="1"/>
          </p:cNvSpPr>
          <p:nvPr/>
        </p:nvSpPr>
        <p:spPr bwMode="auto">
          <a:xfrm>
            <a:off x="3238500" y="2276475"/>
            <a:ext cx="0" cy="2952750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50686" name="Line 30"/>
          <p:cNvSpPr>
            <a:spLocks noChangeShapeType="1"/>
          </p:cNvSpPr>
          <p:nvPr/>
        </p:nvSpPr>
        <p:spPr bwMode="auto">
          <a:xfrm>
            <a:off x="3644900" y="2276475"/>
            <a:ext cx="0" cy="4032250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50687" name="Line 31"/>
          <p:cNvSpPr>
            <a:spLocks noChangeShapeType="1"/>
          </p:cNvSpPr>
          <p:nvPr/>
        </p:nvSpPr>
        <p:spPr bwMode="auto">
          <a:xfrm>
            <a:off x="6524625" y="2205038"/>
            <a:ext cx="0" cy="1944687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50688" name="Line 32"/>
          <p:cNvSpPr>
            <a:spLocks noChangeShapeType="1"/>
          </p:cNvSpPr>
          <p:nvPr/>
        </p:nvSpPr>
        <p:spPr bwMode="auto">
          <a:xfrm>
            <a:off x="6948488" y="2205038"/>
            <a:ext cx="0" cy="2879725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350689" name="Line 33"/>
          <p:cNvSpPr>
            <a:spLocks noChangeShapeType="1"/>
          </p:cNvSpPr>
          <p:nvPr/>
        </p:nvSpPr>
        <p:spPr bwMode="auto">
          <a:xfrm>
            <a:off x="7380288" y="2205038"/>
            <a:ext cx="0" cy="3384550"/>
          </a:xfrm>
          <a:prstGeom prst="line">
            <a:avLst/>
          </a:prstGeom>
          <a:noFill/>
          <a:ln w="19050">
            <a:solidFill>
              <a:srgbClr val="FF6600"/>
            </a:solidFill>
            <a:prstDash val="dash"/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34D4B3A-227E-47D4-BA0A-646F677BF66C}"/>
              </a:ext>
            </a:extLst>
          </p:cNvPr>
          <p:cNvSpPr/>
          <p:nvPr/>
        </p:nvSpPr>
        <p:spPr bwMode="auto">
          <a:xfrm>
            <a:off x="3184423" y="6237312"/>
            <a:ext cx="288028" cy="360040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18932BD-11CB-496D-9A7C-F458550525E2}"/>
              </a:ext>
            </a:extLst>
          </p:cNvPr>
          <p:cNvSpPr/>
          <p:nvPr/>
        </p:nvSpPr>
        <p:spPr bwMode="auto">
          <a:xfrm>
            <a:off x="6868853" y="5212718"/>
            <a:ext cx="288028" cy="360040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4152AD1-B0E0-4476-9495-B07D4B00DFA1}" type="slidenum">
              <a:rPr lang="zh-CN" altLang="en-US"/>
              <a:pPr/>
              <a:t>58</a:t>
            </a:fld>
            <a:endParaRPr lang="en-US" altLang="zh-CN"/>
          </a:p>
        </p:txBody>
      </p:sp>
      <p:sp>
        <p:nvSpPr>
          <p:cNvPr id="135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四、循环冗余校验码          </a:t>
            </a:r>
            <a:r>
              <a:rPr lang="en-US" altLang="zh-CN" dirty="0">
                <a:solidFill>
                  <a:srgbClr val="FF6600"/>
                </a:solidFill>
              </a:rPr>
              <a:t>3. CRC</a:t>
            </a:r>
            <a:r>
              <a:rPr lang="zh-CN" altLang="en-US" dirty="0">
                <a:solidFill>
                  <a:srgbClr val="FF6600"/>
                </a:solidFill>
              </a:rPr>
              <a:t>码的</a:t>
            </a:r>
            <a:r>
              <a:rPr lang="zh-CN" altLang="en-US" dirty="0">
                <a:solidFill>
                  <a:srgbClr val="CC0066"/>
                </a:solidFill>
              </a:rPr>
              <a:t>纠错</a:t>
            </a:r>
          </a:p>
        </p:txBody>
      </p:sp>
      <p:sp>
        <p:nvSpPr>
          <p:cNvPr id="135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5949950"/>
            <a:ext cx="8362950" cy="576263"/>
          </a:xfrm>
        </p:spPr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en-US" altLang="zh-CN">
                <a:solidFill>
                  <a:schemeClr val="bg2"/>
                </a:solidFill>
                <a:latin typeface="宋体" charset="-122"/>
              </a:rPr>
              <a:t>(</a:t>
            </a:r>
            <a:r>
              <a:rPr lang="en-US" altLang="zh-CN">
                <a:solidFill>
                  <a:schemeClr val="bg2"/>
                </a:solidFill>
              </a:rPr>
              <a:t>7</a:t>
            </a:r>
            <a:r>
              <a:rPr lang="zh-CN" altLang="en-US">
                <a:solidFill>
                  <a:schemeClr val="bg2"/>
                </a:solidFill>
              </a:rPr>
              <a:t>，</a:t>
            </a:r>
            <a:r>
              <a:rPr lang="en-US" altLang="zh-CN">
                <a:solidFill>
                  <a:schemeClr val="bg2"/>
                </a:solidFill>
              </a:rPr>
              <a:t>4</a:t>
            </a:r>
            <a:r>
              <a:rPr lang="en-US" altLang="zh-CN">
                <a:solidFill>
                  <a:schemeClr val="bg2"/>
                </a:solidFill>
                <a:latin typeface="宋体" charset="-122"/>
              </a:rPr>
              <a:t>)</a:t>
            </a:r>
            <a:r>
              <a:rPr lang="zh-CN" altLang="en-US">
                <a:solidFill>
                  <a:schemeClr val="bg2"/>
                </a:solidFill>
              </a:rPr>
              <a:t>循环码编码、余数与出错位置的关系</a:t>
            </a:r>
          </a:p>
        </p:txBody>
      </p:sp>
      <p:graphicFrame>
        <p:nvGraphicFramePr>
          <p:cNvPr id="1352124" name="Group 444"/>
          <p:cNvGraphicFramePr>
            <a:graphicFrameLocks noGrp="1"/>
          </p:cNvGraphicFramePr>
          <p:nvPr/>
        </p:nvGraphicFramePr>
        <p:xfrm>
          <a:off x="322263" y="955675"/>
          <a:ext cx="8497887" cy="4937760"/>
        </p:xfrm>
        <a:graphic>
          <a:graphicData uri="http://schemas.openxmlformats.org/drawingml/2006/table">
            <a:tbl>
              <a:tblPr/>
              <a:tblGrid>
                <a:gridCol w="1296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39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447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G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charset="-122"/>
                          <a:ea typeface="宋体" charset="-122"/>
                          <a:cs typeface="Times New Roman" pitchFamily="18" charset="0"/>
                        </a:rPr>
                        <a:t>(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X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charset="-122"/>
                          <a:ea typeface="宋体" charset="-122"/>
                          <a:cs typeface="Times New Roman" pitchFamily="18" charset="0"/>
                        </a:rPr>
                        <a:t>)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＝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1011</a:t>
                      </a:r>
                      <a:r>
                        <a:rPr kumimoji="1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编码举例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编码举例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余数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出错</a:t>
                      </a:r>
                      <a:b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</a:b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位置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45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数据位</a:t>
                      </a:r>
                    </a:p>
                    <a:p>
                      <a:pPr marL="0" marR="0" lvl="0" indent="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6543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校验位</a:t>
                      </a:r>
                    </a:p>
                    <a:p>
                      <a:pPr marL="0" marR="0" lvl="0" indent="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210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数据位</a:t>
                      </a:r>
                    </a:p>
                    <a:p>
                      <a:pPr marL="0" marR="0" lvl="0" indent="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6543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校验位</a:t>
                      </a:r>
                    </a:p>
                    <a:p>
                      <a:pPr marL="0" marR="0" lvl="0" indent="0" algn="dist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210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正确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1001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110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1100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010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0 0 0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无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475">
                <a:tc rowSpan="7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错误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1001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11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1100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01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0 0 1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4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1001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0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1100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0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0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0 1 0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4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1001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0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10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1100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10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1 0 0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44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100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0</a:t>
                      </a: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110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110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1</a:t>
                      </a: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010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0 1 1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3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44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10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110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11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010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1 1 0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4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44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01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110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0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00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010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1 1 1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5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44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0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001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110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0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100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010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charset="-122"/>
                          <a:cs typeface="Courier New" pitchFamily="49" charset="0"/>
                        </a:rPr>
                        <a:t>1 0 1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35DE45F-4BB6-4EF7-9A85-78A32C581D5E}" type="slidenum">
              <a:rPr lang="zh-CN" altLang="en-US"/>
              <a:pPr/>
              <a:t>59</a:t>
            </a:fld>
            <a:endParaRPr lang="en-US" altLang="zh-CN"/>
          </a:p>
        </p:txBody>
      </p:sp>
      <p:sp>
        <p:nvSpPr>
          <p:cNvPr id="135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四、循环冗余校验码</a:t>
            </a:r>
          </a:p>
        </p:txBody>
      </p:sp>
      <p:sp>
        <p:nvSpPr>
          <p:cNvPr id="135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0075" y="765175"/>
            <a:ext cx="8075613" cy="5832475"/>
          </a:xfrm>
        </p:spPr>
        <p:txBody>
          <a:bodyPr/>
          <a:lstStyle/>
          <a:p>
            <a:r>
              <a:rPr lang="en-US" altLang="zh-CN"/>
              <a:t>CRC</a:t>
            </a:r>
            <a:r>
              <a:rPr lang="zh-CN" altLang="en-US"/>
              <a:t>的生成多项式的阶数越高，误判的概率就越小。</a:t>
            </a:r>
          </a:p>
          <a:p>
            <a:r>
              <a:rPr lang="zh-CN" altLang="en-US"/>
              <a:t>常用的</a:t>
            </a:r>
            <a:r>
              <a:rPr lang="en-US" altLang="zh-CN"/>
              <a:t>4</a:t>
            </a:r>
            <a:r>
              <a:rPr lang="zh-CN" altLang="en-US"/>
              <a:t>个标准多项式：</a:t>
            </a:r>
          </a:p>
          <a:p>
            <a:pPr marL="619125" lvl="1"/>
            <a:r>
              <a:rPr lang="en-US" altLang="zh-CN">
                <a:solidFill>
                  <a:srgbClr val="CC0000"/>
                </a:solidFill>
              </a:rPr>
              <a:t>CRC-12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：</a:t>
            </a:r>
            <a:br>
              <a:rPr lang="zh-CN" altLang="en-US">
                <a:solidFill>
                  <a:srgbClr val="000000"/>
                </a:solidFill>
                <a:cs typeface="Times New Roman" pitchFamily="18" charset="0"/>
              </a:rPr>
            </a:br>
            <a:r>
              <a:rPr lang="en-US" altLang="zh-CN">
                <a:solidFill>
                  <a:srgbClr val="0000FF"/>
                </a:solidFill>
              </a:rPr>
              <a:t>G</a:t>
            </a:r>
            <a:r>
              <a:rPr lang="en-US" altLang="zh-CN">
                <a:solidFill>
                  <a:srgbClr val="0000FF"/>
                </a:solidFill>
                <a:latin typeface="宋体" charset="-122"/>
              </a:rPr>
              <a:t>(</a:t>
            </a:r>
            <a:r>
              <a:rPr lang="en-US" altLang="zh-CN">
                <a:solidFill>
                  <a:srgbClr val="0000FF"/>
                </a:solidFill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宋体" charset="-122"/>
              </a:rPr>
              <a:t>)</a:t>
            </a:r>
            <a:r>
              <a:rPr lang="zh-CN" altLang="en-US">
                <a:solidFill>
                  <a:srgbClr val="0000FF"/>
                </a:solidFill>
                <a:cs typeface="Times New Roman" pitchFamily="18" charset="0"/>
              </a:rPr>
              <a:t>＝</a:t>
            </a:r>
            <a:r>
              <a:rPr lang="en-US" altLang="zh-CN">
                <a:solidFill>
                  <a:srgbClr val="0000FF"/>
                </a:solidFill>
              </a:rPr>
              <a:t>X</a:t>
            </a:r>
            <a:r>
              <a:rPr lang="en-US" altLang="zh-CN" baseline="30000">
                <a:solidFill>
                  <a:srgbClr val="0000FF"/>
                </a:solidFill>
              </a:rPr>
              <a:t>12</a:t>
            </a:r>
            <a:r>
              <a:rPr lang="zh-CN" altLang="en-US">
                <a:solidFill>
                  <a:srgbClr val="0000FF"/>
                </a:solidFill>
                <a:cs typeface="Times New Roman" pitchFamily="18" charset="0"/>
              </a:rPr>
              <a:t>＋</a:t>
            </a:r>
            <a:r>
              <a:rPr lang="en-US" altLang="zh-CN">
                <a:solidFill>
                  <a:srgbClr val="0000FF"/>
                </a:solidFill>
              </a:rPr>
              <a:t>X</a:t>
            </a:r>
            <a:r>
              <a:rPr lang="en-US" altLang="zh-CN" baseline="30000">
                <a:solidFill>
                  <a:srgbClr val="0000FF"/>
                </a:solidFill>
              </a:rPr>
              <a:t>11</a:t>
            </a:r>
            <a:r>
              <a:rPr lang="zh-CN" altLang="en-US">
                <a:solidFill>
                  <a:srgbClr val="0000FF"/>
                </a:solidFill>
                <a:cs typeface="Times New Roman" pitchFamily="18" charset="0"/>
              </a:rPr>
              <a:t>＋</a:t>
            </a:r>
            <a:r>
              <a:rPr lang="en-US" altLang="zh-CN">
                <a:solidFill>
                  <a:srgbClr val="0000FF"/>
                </a:solidFill>
              </a:rPr>
              <a:t>X</a:t>
            </a:r>
            <a:r>
              <a:rPr lang="en-US" altLang="zh-CN" baseline="30000">
                <a:solidFill>
                  <a:srgbClr val="0000FF"/>
                </a:solidFill>
              </a:rPr>
              <a:t>3</a:t>
            </a:r>
            <a:r>
              <a:rPr lang="zh-CN" altLang="en-US">
                <a:solidFill>
                  <a:srgbClr val="0000FF"/>
                </a:solidFill>
                <a:cs typeface="Times New Roman" pitchFamily="18" charset="0"/>
              </a:rPr>
              <a:t>＋</a:t>
            </a:r>
            <a:r>
              <a:rPr lang="en-US" altLang="zh-CN">
                <a:solidFill>
                  <a:srgbClr val="0000FF"/>
                </a:solidFill>
              </a:rPr>
              <a:t>X</a:t>
            </a:r>
            <a:r>
              <a:rPr lang="en-US" altLang="zh-CN" baseline="30000">
                <a:solidFill>
                  <a:srgbClr val="0000FF"/>
                </a:solidFill>
              </a:rPr>
              <a:t>2</a:t>
            </a:r>
            <a:r>
              <a:rPr lang="zh-CN" altLang="en-US">
                <a:solidFill>
                  <a:srgbClr val="0000FF"/>
                </a:solidFill>
                <a:cs typeface="Times New Roman" pitchFamily="18" charset="0"/>
              </a:rPr>
              <a:t>＋</a:t>
            </a:r>
            <a:r>
              <a:rPr lang="en-US" altLang="zh-CN">
                <a:solidFill>
                  <a:srgbClr val="0000FF"/>
                </a:solidFill>
              </a:rPr>
              <a:t>X</a:t>
            </a:r>
            <a:r>
              <a:rPr lang="zh-CN" altLang="en-US">
                <a:solidFill>
                  <a:srgbClr val="0000FF"/>
                </a:solidFill>
                <a:cs typeface="Times New Roman" pitchFamily="18" charset="0"/>
              </a:rPr>
              <a:t>＋</a:t>
            </a:r>
            <a:r>
              <a:rPr lang="en-US" altLang="zh-CN">
                <a:solidFill>
                  <a:srgbClr val="0000FF"/>
                </a:solidFill>
              </a:rPr>
              <a:t>1</a:t>
            </a:r>
          </a:p>
          <a:p>
            <a:pPr marL="619125" lvl="1"/>
            <a:r>
              <a:rPr lang="en-US" altLang="zh-CN">
                <a:solidFill>
                  <a:srgbClr val="CC0000"/>
                </a:solidFill>
              </a:rPr>
              <a:t>CRC-16</a:t>
            </a:r>
            <a:r>
              <a:rPr lang="en-US" altLang="zh-CN">
                <a:solidFill>
                  <a:srgbClr val="CC0000"/>
                </a:solidFill>
                <a:latin typeface="宋体" charset="-122"/>
                <a:cs typeface="Times New Roman" pitchFamily="18" charset="0"/>
              </a:rPr>
              <a:t>(</a:t>
            </a:r>
            <a:r>
              <a:rPr lang="en-US" altLang="zh-CN">
                <a:solidFill>
                  <a:srgbClr val="CC0000"/>
                </a:solidFill>
              </a:rPr>
              <a:t>ANSI</a:t>
            </a:r>
            <a:r>
              <a:rPr lang="en-US" altLang="zh-CN">
                <a:solidFill>
                  <a:srgbClr val="CC0000"/>
                </a:solidFill>
                <a:latin typeface="宋体" charset="-122"/>
                <a:cs typeface="Times New Roman" pitchFamily="18" charset="0"/>
              </a:rPr>
              <a:t>)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：</a:t>
            </a:r>
            <a:br>
              <a:rPr lang="zh-CN" altLang="en-US">
                <a:solidFill>
                  <a:srgbClr val="000000"/>
                </a:solidFill>
                <a:cs typeface="Times New Roman" pitchFamily="18" charset="0"/>
              </a:rPr>
            </a:br>
            <a:r>
              <a:rPr lang="en-US" altLang="zh-CN">
                <a:solidFill>
                  <a:srgbClr val="0000FF"/>
                </a:solidFill>
              </a:rPr>
              <a:t>G</a:t>
            </a:r>
            <a:r>
              <a:rPr lang="en-US" altLang="zh-CN">
                <a:solidFill>
                  <a:srgbClr val="0000FF"/>
                </a:solidFill>
                <a:latin typeface="宋体" charset="-122"/>
              </a:rPr>
              <a:t>(</a:t>
            </a:r>
            <a:r>
              <a:rPr lang="en-US" altLang="zh-CN">
                <a:solidFill>
                  <a:srgbClr val="0000FF"/>
                </a:solidFill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宋体" charset="-122"/>
              </a:rPr>
              <a:t>)</a:t>
            </a:r>
            <a:r>
              <a:rPr lang="zh-CN" altLang="en-US">
                <a:solidFill>
                  <a:srgbClr val="0000FF"/>
                </a:solidFill>
                <a:cs typeface="Times New Roman" pitchFamily="18" charset="0"/>
              </a:rPr>
              <a:t>＝</a:t>
            </a:r>
            <a:r>
              <a:rPr lang="en-US" altLang="zh-CN">
                <a:solidFill>
                  <a:srgbClr val="0000FF"/>
                </a:solidFill>
              </a:rPr>
              <a:t>X</a:t>
            </a:r>
            <a:r>
              <a:rPr lang="en-US" altLang="zh-CN" baseline="30000">
                <a:solidFill>
                  <a:srgbClr val="0000FF"/>
                </a:solidFill>
              </a:rPr>
              <a:t>16</a:t>
            </a:r>
            <a:r>
              <a:rPr lang="zh-CN" altLang="en-US">
                <a:solidFill>
                  <a:srgbClr val="0000FF"/>
                </a:solidFill>
                <a:cs typeface="Times New Roman" pitchFamily="18" charset="0"/>
              </a:rPr>
              <a:t>＋</a:t>
            </a:r>
            <a:r>
              <a:rPr lang="en-US" altLang="zh-CN">
                <a:solidFill>
                  <a:srgbClr val="0000FF"/>
                </a:solidFill>
              </a:rPr>
              <a:t>X</a:t>
            </a:r>
            <a:r>
              <a:rPr lang="en-US" altLang="zh-CN" baseline="30000">
                <a:solidFill>
                  <a:srgbClr val="0000FF"/>
                </a:solidFill>
              </a:rPr>
              <a:t>15</a:t>
            </a:r>
            <a:r>
              <a:rPr lang="zh-CN" altLang="en-US">
                <a:solidFill>
                  <a:srgbClr val="0000FF"/>
                </a:solidFill>
                <a:cs typeface="Times New Roman" pitchFamily="18" charset="0"/>
              </a:rPr>
              <a:t>＋</a:t>
            </a:r>
            <a:r>
              <a:rPr lang="en-US" altLang="zh-CN">
                <a:solidFill>
                  <a:srgbClr val="0000FF"/>
                </a:solidFill>
              </a:rPr>
              <a:t>X</a:t>
            </a:r>
            <a:r>
              <a:rPr lang="en-US" altLang="zh-CN" baseline="30000">
                <a:solidFill>
                  <a:srgbClr val="0000FF"/>
                </a:solidFill>
              </a:rPr>
              <a:t>2</a:t>
            </a:r>
            <a:r>
              <a:rPr lang="zh-CN" altLang="en-US">
                <a:solidFill>
                  <a:srgbClr val="0000FF"/>
                </a:solidFill>
                <a:cs typeface="Times New Roman" pitchFamily="18" charset="0"/>
              </a:rPr>
              <a:t>＋</a:t>
            </a:r>
            <a:r>
              <a:rPr lang="en-US" altLang="zh-CN">
                <a:solidFill>
                  <a:srgbClr val="0000FF"/>
                </a:solidFill>
              </a:rPr>
              <a:t>1</a:t>
            </a:r>
          </a:p>
          <a:p>
            <a:pPr marL="619125" lvl="1"/>
            <a:r>
              <a:rPr lang="en-US" altLang="zh-CN">
                <a:solidFill>
                  <a:srgbClr val="CC0000"/>
                </a:solidFill>
              </a:rPr>
              <a:t>CRC-CCITT</a:t>
            </a:r>
            <a:r>
              <a:rPr lang="en-US" altLang="zh-CN">
                <a:solidFill>
                  <a:srgbClr val="CC0000"/>
                </a:solidFill>
                <a:latin typeface="宋体" charset="-122"/>
                <a:cs typeface="Times New Roman" pitchFamily="18" charset="0"/>
              </a:rPr>
              <a:t>(</a:t>
            </a:r>
            <a:r>
              <a:rPr lang="en-US" altLang="zh-CN">
                <a:solidFill>
                  <a:srgbClr val="CC0000"/>
                </a:solidFill>
              </a:rPr>
              <a:t>ITU-T</a:t>
            </a:r>
            <a:r>
              <a:rPr lang="en-US" altLang="zh-CN">
                <a:solidFill>
                  <a:srgbClr val="CC0000"/>
                </a:solidFill>
                <a:latin typeface="宋体" charset="-122"/>
                <a:cs typeface="Times New Roman" pitchFamily="18" charset="0"/>
              </a:rPr>
              <a:t>)</a:t>
            </a:r>
            <a:r>
              <a:rPr lang="zh-CN" altLang="en-US">
                <a:solidFill>
                  <a:srgbClr val="000000"/>
                </a:solidFill>
                <a:cs typeface="Times New Roman" pitchFamily="18" charset="0"/>
              </a:rPr>
              <a:t>：</a:t>
            </a:r>
            <a:br>
              <a:rPr lang="zh-CN" altLang="en-US">
                <a:solidFill>
                  <a:srgbClr val="000000"/>
                </a:solidFill>
                <a:cs typeface="Times New Roman" pitchFamily="18" charset="0"/>
              </a:rPr>
            </a:br>
            <a:r>
              <a:rPr lang="en-US" altLang="zh-CN">
                <a:solidFill>
                  <a:srgbClr val="0000FF"/>
                </a:solidFill>
              </a:rPr>
              <a:t>G</a:t>
            </a:r>
            <a:r>
              <a:rPr lang="en-US" altLang="zh-CN">
                <a:solidFill>
                  <a:srgbClr val="0000FF"/>
                </a:solidFill>
                <a:latin typeface="宋体" charset="-122"/>
              </a:rPr>
              <a:t>(</a:t>
            </a:r>
            <a:r>
              <a:rPr lang="en-US" altLang="zh-CN">
                <a:solidFill>
                  <a:srgbClr val="0000FF"/>
                </a:solidFill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宋体" charset="-122"/>
              </a:rPr>
              <a:t>)</a:t>
            </a:r>
            <a:r>
              <a:rPr lang="zh-CN" altLang="en-US">
                <a:solidFill>
                  <a:srgbClr val="0000FF"/>
                </a:solidFill>
                <a:cs typeface="Times New Roman" pitchFamily="18" charset="0"/>
              </a:rPr>
              <a:t>＝</a:t>
            </a:r>
            <a:r>
              <a:rPr lang="en-US" altLang="zh-CN">
                <a:solidFill>
                  <a:srgbClr val="0000FF"/>
                </a:solidFill>
              </a:rPr>
              <a:t>X</a:t>
            </a:r>
            <a:r>
              <a:rPr lang="en-US" altLang="zh-CN" baseline="30000">
                <a:solidFill>
                  <a:srgbClr val="0000FF"/>
                </a:solidFill>
              </a:rPr>
              <a:t>16</a:t>
            </a:r>
            <a:r>
              <a:rPr lang="zh-CN" altLang="en-US">
                <a:solidFill>
                  <a:srgbClr val="0000FF"/>
                </a:solidFill>
                <a:cs typeface="Times New Roman" pitchFamily="18" charset="0"/>
              </a:rPr>
              <a:t>＋</a:t>
            </a:r>
            <a:r>
              <a:rPr lang="en-US" altLang="zh-CN">
                <a:solidFill>
                  <a:srgbClr val="0000FF"/>
                </a:solidFill>
              </a:rPr>
              <a:t>X</a:t>
            </a:r>
            <a:r>
              <a:rPr lang="en-US" altLang="zh-CN" baseline="30000">
                <a:solidFill>
                  <a:srgbClr val="0000FF"/>
                </a:solidFill>
              </a:rPr>
              <a:t>12</a:t>
            </a:r>
            <a:r>
              <a:rPr lang="zh-CN" altLang="en-US">
                <a:solidFill>
                  <a:srgbClr val="0000FF"/>
                </a:solidFill>
                <a:cs typeface="Times New Roman" pitchFamily="18" charset="0"/>
              </a:rPr>
              <a:t>＋</a:t>
            </a:r>
            <a:r>
              <a:rPr lang="en-US" altLang="zh-CN">
                <a:solidFill>
                  <a:srgbClr val="0000FF"/>
                </a:solidFill>
              </a:rPr>
              <a:t>X</a:t>
            </a:r>
            <a:r>
              <a:rPr lang="en-US" altLang="zh-CN" baseline="30000">
                <a:solidFill>
                  <a:srgbClr val="0000FF"/>
                </a:solidFill>
              </a:rPr>
              <a:t>5</a:t>
            </a:r>
            <a:r>
              <a:rPr lang="zh-CN" altLang="en-US">
                <a:solidFill>
                  <a:srgbClr val="0000FF"/>
                </a:solidFill>
                <a:cs typeface="Times New Roman" pitchFamily="18" charset="0"/>
              </a:rPr>
              <a:t>＋</a:t>
            </a:r>
            <a:r>
              <a:rPr lang="en-US" altLang="zh-CN">
                <a:solidFill>
                  <a:srgbClr val="0000FF"/>
                </a:solidFill>
              </a:rPr>
              <a:t>1</a:t>
            </a:r>
          </a:p>
          <a:p>
            <a:pPr marL="619125" lvl="1"/>
            <a:r>
              <a:rPr lang="en-US" altLang="zh-CN">
                <a:solidFill>
                  <a:srgbClr val="CC0000"/>
                </a:solidFill>
              </a:rPr>
              <a:t>CRC-32</a:t>
            </a:r>
            <a:r>
              <a:rPr lang="zh-CN" altLang="en-US"/>
              <a:t>：</a:t>
            </a:r>
            <a:br>
              <a:rPr lang="zh-CN" altLang="en-US"/>
            </a:br>
            <a:r>
              <a:rPr lang="en-US" altLang="zh-CN">
                <a:solidFill>
                  <a:srgbClr val="0000FF"/>
                </a:solidFill>
              </a:rPr>
              <a:t>G</a:t>
            </a:r>
            <a:r>
              <a:rPr lang="en-US" altLang="zh-CN">
                <a:solidFill>
                  <a:srgbClr val="0000FF"/>
                </a:solidFill>
                <a:latin typeface="宋体" charset="-122"/>
              </a:rPr>
              <a:t>(</a:t>
            </a:r>
            <a:r>
              <a:rPr lang="en-US" altLang="zh-CN">
                <a:solidFill>
                  <a:srgbClr val="0000FF"/>
                </a:solidFill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宋体" charset="-122"/>
              </a:rPr>
              <a:t>)</a:t>
            </a:r>
            <a:r>
              <a:rPr lang="zh-CN" altLang="en-US">
                <a:solidFill>
                  <a:srgbClr val="0000FF"/>
                </a:solidFill>
                <a:cs typeface="Times New Roman" pitchFamily="18" charset="0"/>
              </a:rPr>
              <a:t>＝</a:t>
            </a:r>
            <a:r>
              <a:rPr lang="en-US" altLang="zh-CN">
                <a:solidFill>
                  <a:srgbClr val="0000FF"/>
                </a:solidFill>
              </a:rPr>
              <a:t>X</a:t>
            </a:r>
            <a:r>
              <a:rPr lang="en-US" altLang="zh-CN" baseline="30000">
                <a:solidFill>
                  <a:srgbClr val="0000FF"/>
                </a:solidFill>
              </a:rPr>
              <a:t>32</a:t>
            </a:r>
            <a:r>
              <a:rPr lang="zh-CN" altLang="en-US">
                <a:solidFill>
                  <a:srgbClr val="0000FF"/>
                </a:solidFill>
                <a:cs typeface="Times New Roman" pitchFamily="18" charset="0"/>
              </a:rPr>
              <a:t>＋</a:t>
            </a:r>
            <a:r>
              <a:rPr lang="en-US" altLang="zh-CN">
                <a:solidFill>
                  <a:srgbClr val="0000FF"/>
                </a:solidFill>
              </a:rPr>
              <a:t>X</a:t>
            </a:r>
            <a:r>
              <a:rPr lang="en-US" altLang="zh-CN" baseline="30000">
                <a:solidFill>
                  <a:srgbClr val="0000FF"/>
                </a:solidFill>
              </a:rPr>
              <a:t>26</a:t>
            </a:r>
            <a:r>
              <a:rPr lang="zh-CN" altLang="en-US">
                <a:solidFill>
                  <a:srgbClr val="0000FF"/>
                </a:solidFill>
                <a:cs typeface="Times New Roman" pitchFamily="18" charset="0"/>
              </a:rPr>
              <a:t>＋</a:t>
            </a:r>
            <a:r>
              <a:rPr lang="en-US" altLang="zh-CN">
                <a:solidFill>
                  <a:srgbClr val="0000FF"/>
                </a:solidFill>
              </a:rPr>
              <a:t>X</a:t>
            </a:r>
            <a:r>
              <a:rPr lang="en-US" altLang="zh-CN" baseline="30000">
                <a:solidFill>
                  <a:srgbClr val="0000FF"/>
                </a:solidFill>
              </a:rPr>
              <a:t>23</a:t>
            </a:r>
            <a:r>
              <a:rPr lang="zh-CN" altLang="en-US">
                <a:solidFill>
                  <a:srgbClr val="0000FF"/>
                </a:solidFill>
                <a:cs typeface="Times New Roman" pitchFamily="18" charset="0"/>
              </a:rPr>
              <a:t>＋</a:t>
            </a:r>
            <a:r>
              <a:rPr lang="en-US" altLang="zh-CN">
                <a:solidFill>
                  <a:srgbClr val="0000FF"/>
                </a:solidFill>
              </a:rPr>
              <a:t>X</a:t>
            </a:r>
            <a:r>
              <a:rPr lang="en-US" altLang="zh-CN" baseline="30000">
                <a:solidFill>
                  <a:srgbClr val="0000FF"/>
                </a:solidFill>
              </a:rPr>
              <a:t>22</a:t>
            </a:r>
            <a:r>
              <a:rPr lang="zh-CN" altLang="en-US">
                <a:solidFill>
                  <a:srgbClr val="0000FF"/>
                </a:solidFill>
                <a:cs typeface="Times New Roman" pitchFamily="18" charset="0"/>
              </a:rPr>
              <a:t>＋</a:t>
            </a:r>
            <a:r>
              <a:rPr lang="en-US" altLang="zh-CN">
                <a:solidFill>
                  <a:srgbClr val="0000FF"/>
                </a:solidFill>
              </a:rPr>
              <a:t>X</a:t>
            </a:r>
            <a:r>
              <a:rPr lang="en-US" altLang="zh-CN" baseline="30000">
                <a:solidFill>
                  <a:srgbClr val="0000FF"/>
                </a:solidFill>
              </a:rPr>
              <a:t>16</a:t>
            </a:r>
            <a:r>
              <a:rPr lang="zh-CN" altLang="en-US">
                <a:solidFill>
                  <a:srgbClr val="0000FF"/>
                </a:solidFill>
                <a:cs typeface="Times New Roman" pitchFamily="18" charset="0"/>
              </a:rPr>
              <a:t>＋</a:t>
            </a:r>
            <a:r>
              <a:rPr lang="en-US" altLang="zh-CN">
                <a:solidFill>
                  <a:srgbClr val="0000FF"/>
                </a:solidFill>
              </a:rPr>
              <a:t>X</a:t>
            </a:r>
            <a:r>
              <a:rPr lang="en-US" altLang="zh-CN" baseline="30000">
                <a:solidFill>
                  <a:srgbClr val="0000FF"/>
                </a:solidFill>
              </a:rPr>
              <a:t>12</a:t>
            </a:r>
            <a:r>
              <a:rPr lang="zh-CN" altLang="en-US">
                <a:solidFill>
                  <a:srgbClr val="0000FF"/>
                </a:solidFill>
                <a:cs typeface="Times New Roman" pitchFamily="18" charset="0"/>
              </a:rPr>
              <a:t>＋</a:t>
            </a:r>
            <a:r>
              <a:rPr lang="en-US" altLang="zh-CN">
                <a:solidFill>
                  <a:srgbClr val="0000FF"/>
                </a:solidFill>
              </a:rPr>
              <a:t>X</a:t>
            </a:r>
            <a:r>
              <a:rPr lang="en-US" altLang="zh-CN" baseline="30000">
                <a:solidFill>
                  <a:srgbClr val="0000FF"/>
                </a:solidFill>
              </a:rPr>
              <a:t>11</a:t>
            </a:r>
            <a:br>
              <a:rPr lang="en-US" altLang="zh-CN" baseline="30000">
                <a:solidFill>
                  <a:srgbClr val="0000FF"/>
                </a:solidFill>
              </a:rPr>
            </a:br>
            <a:r>
              <a:rPr lang="en-US" altLang="zh-CN" baseline="30000">
                <a:solidFill>
                  <a:srgbClr val="0000FF"/>
                </a:solidFill>
              </a:rPr>
              <a:t>                  </a:t>
            </a:r>
            <a:r>
              <a:rPr lang="zh-CN" altLang="en-US">
                <a:solidFill>
                  <a:srgbClr val="0000FF"/>
                </a:solidFill>
                <a:cs typeface="Times New Roman" pitchFamily="18" charset="0"/>
              </a:rPr>
              <a:t>＋</a:t>
            </a:r>
            <a:r>
              <a:rPr lang="en-US" altLang="zh-CN">
                <a:solidFill>
                  <a:srgbClr val="0000FF"/>
                </a:solidFill>
              </a:rPr>
              <a:t>X</a:t>
            </a:r>
            <a:r>
              <a:rPr lang="en-US" altLang="zh-CN" baseline="30000">
                <a:solidFill>
                  <a:srgbClr val="0000FF"/>
                </a:solidFill>
              </a:rPr>
              <a:t>10</a:t>
            </a:r>
            <a:r>
              <a:rPr lang="zh-CN" altLang="en-US">
                <a:solidFill>
                  <a:srgbClr val="0000FF"/>
                </a:solidFill>
                <a:cs typeface="Times New Roman" pitchFamily="18" charset="0"/>
              </a:rPr>
              <a:t>＋</a:t>
            </a:r>
            <a:r>
              <a:rPr lang="en-US" altLang="zh-CN">
                <a:solidFill>
                  <a:srgbClr val="0000FF"/>
                </a:solidFill>
              </a:rPr>
              <a:t>X</a:t>
            </a:r>
            <a:r>
              <a:rPr lang="en-US" altLang="zh-CN" baseline="30000">
                <a:solidFill>
                  <a:srgbClr val="0000FF"/>
                </a:solidFill>
              </a:rPr>
              <a:t>8</a:t>
            </a:r>
            <a:r>
              <a:rPr lang="zh-CN" altLang="en-US">
                <a:solidFill>
                  <a:srgbClr val="0000FF"/>
                </a:solidFill>
                <a:cs typeface="Times New Roman" pitchFamily="18" charset="0"/>
              </a:rPr>
              <a:t>＋</a:t>
            </a:r>
            <a:r>
              <a:rPr lang="en-US" altLang="zh-CN">
                <a:solidFill>
                  <a:srgbClr val="0000FF"/>
                </a:solidFill>
              </a:rPr>
              <a:t>X</a:t>
            </a:r>
            <a:r>
              <a:rPr lang="en-US" altLang="zh-CN" baseline="30000">
                <a:solidFill>
                  <a:srgbClr val="0000FF"/>
                </a:solidFill>
              </a:rPr>
              <a:t>7</a:t>
            </a:r>
            <a:r>
              <a:rPr lang="zh-CN" altLang="en-US">
                <a:solidFill>
                  <a:srgbClr val="0000FF"/>
                </a:solidFill>
                <a:cs typeface="Times New Roman" pitchFamily="18" charset="0"/>
              </a:rPr>
              <a:t>＋</a:t>
            </a:r>
            <a:r>
              <a:rPr lang="en-US" altLang="zh-CN">
                <a:solidFill>
                  <a:srgbClr val="0000FF"/>
                </a:solidFill>
              </a:rPr>
              <a:t>X</a:t>
            </a:r>
            <a:r>
              <a:rPr lang="en-US" altLang="zh-CN" baseline="30000">
                <a:solidFill>
                  <a:srgbClr val="0000FF"/>
                </a:solidFill>
              </a:rPr>
              <a:t>5</a:t>
            </a:r>
            <a:r>
              <a:rPr lang="zh-CN" altLang="en-US">
                <a:solidFill>
                  <a:srgbClr val="0000FF"/>
                </a:solidFill>
                <a:cs typeface="Times New Roman" pitchFamily="18" charset="0"/>
              </a:rPr>
              <a:t>＋</a:t>
            </a:r>
            <a:r>
              <a:rPr lang="en-US" altLang="zh-CN">
                <a:solidFill>
                  <a:srgbClr val="0000FF"/>
                </a:solidFill>
              </a:rPr>
              <a:t>X</a:t>
            </a:r>
            <a:r>
              <a:rPr lang="en-US" altLang="zh-CN" baseline="30000">
                <a:solidFill>
                  <a:srgbClr val="0000FF"/>
                </a:solidFill>
              </a:rPr>
              <a:t>4</a:t>
            </a:r>
            <a:r>
              <a:rPr lang="zh-CN" altLang="en-US">
                <a:solidFill>
                  <a:srgbClr val="0000FF"/>
                </a:solidFill>
                <a:cs typeface="Times New Roman" pitchFamily="18" charset="0"/>
              </a:rPr>
              <a:t>＋</a:t>
            </a:r>
            <a:r>
              <a:rPr lang="en-US" altLang="zh-CN">
                <a:solidFill>
                  <a:srgbClr val="0000FF"/>
                </a:solidFill>
              </a:rPr>
              <a:t>X</a:t>
            </a:r>
            <a:r>
              <a:rPr lang="en-US" altLang="zh-CN" baseline="30000">
                <a:solidFill>
                  <a:srgbClr val="0000FF"/>
                </a:solidFill>
              </a:rPr>
              <a:t>2</a:t>
            </a:r>
            <a:r>
              <a:rPr lang="zh-CN" altLang="en-US">
                <a:solidFill>
                  <a:srgbClr val="0000FF"/>
                </a:solidFill>
                <a:cs typeface="Times New Roman" pitchFamily="18" charset="0"/>
              </a:rPr>
              <a:t>＋</a:t>
            </a:r>
            <a:r>
              <a:rPr lang="en-US" altLang="zh-CN">
                <a:solidFill>
                  <a:srgbClr val="0000FF"/>
                </a:solidFill>
              </a:rPr>
              <a:t>X</a:t>
            </a:r>
            <a:r>
              <a:rPr lang="zh-CN" altLang="en-US">
                <a:solidFill>
                  <a:srgbClr val="0000FF"/>
                </a:solidFill>
                <a:cs typeface="Times New Roman" pitchFamily="18" charset="0"/>
              </a:rPr>
              <a:t>＋</a:t>
            </a:r>
            <a:r>
              <a:rPr lang="en-US" altLang="zh-CN">
                <a:solidFill>
                  <a:srgbClr val="0000FF"/>
                </a:solidFill>
              </a:rPr>
              <a:t>1</a:t>
            </a:r>
            <a:endParaRPr lang="zh-CN" altLang="en-US">
              <a:solidFill>
                <a:srgbClr val="0000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131840" y="760636"/>
            <a:ext cx="5616624" cy="2308324"/>
          </a:xfrm>
          <a:prstGeom prst="rect">
            <a:avLst/>
          </a:prstGeom>
          <a:solidFill>
            <a:srgbClr val="FFCCCC"/>
          </a:solidFill>
          <a:ln w="19050">
            <a:solidFill>
              <a:srgbClr val="FF0066"/>
            </a:solidFill>
          </a:ln>
          <a:effectLst>
            <a:glow rad="2286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355600" indent="-355600" algn="l">
              <a:spcBef>
                <a:spcPts val="0"/>
              </a:spcBef>
              <a:buClr>
                <a:srgbClr val="FF0000"/>
              </a:buClr>
              <a:buFont typeface="Wingdings" pitchFamily="2" charset="2"/>
              <a:buChar char="«"/>
            </a:pPr>
            <a:r>
              <a:rPr lang="zh-CN" altLang="en-US" sz="2400"/>
              <a:t>纠正所有一位错误；</a:t>
            </a:r>
            <a:endParaRPr lang="en-US" altLang="zh-CN" sz="2400"/>
          </a:p>
          <a:p>
            <a:pPr marL="355600" indent="-355600" algn="l">
              <a:spcBef>
                <a:spcPts val="0"/>
              </a:spcBef>
              <a:buClr>
                <a:srgbClr val="FF0000"/>
              </a:buClr>
              <a:buFont typeface="Wingdings" pitchFamily="2" charset="2"/>
              <a:buChar char="«"/>
            </a:pPr>
            <a:r>
              <a:rPr lang="zh-CN" altLang="en-US" sz="2400"/>
              <a:t>检测所有一位或两位错误；</a:t>
            </a:r>
            <a:endParaRPr lang="en-US" altLang="zh-CN" sz="2400"/>
          </a:p>
          <a:p>
            <a:pPr marL="355600" indent="-355600" algn="l">
              <a:spcBef>
                <a:spcPts val="0"/>
              </a:spcBef>
              <a:buClr>
                <a:srgbClr val="FF0000"/>
              </a:buClr>
              <a:buFont typeface="Wingdings" pitchFamily="2" charset="2"/>
              <a:buChar char="«"/>
            </a:pPr>
            <a:r>
              <a:rPr lang="zh-CN" altLang="en-US" sz="2400"/>
              <a:t>检测所有奇数位错误；</a:t>
            </a:r>
            <a:endParaRPr lang="en-US" altLang="zh-CN" sz="2400"/>
          </a:p>
          <a:p>
            <a:pPr marL="355600" indent="-355600" algn="l">
              <a:spcBef>
                <a:spcPts val="0"/>
              </a:spcBef>
              <a:buClr>
                <a:srgbClr val="FF0000"/>
              </a:buClr>
              <a:buFont typeface="Wingdings" pitchFamily="2" charset="2"/>
              <a:buChar char="«"/>
            </a:pPr>
            <a:r>
              <a:rPr lang="zh-CN" altLang="en-US" sz="2400"/>
              <a:t>检测所有低于</a:t>
            </a:r>
            <a:r>
              <a:rPr lang="en-US" altLang="zh-CN" sz="2400"/>
              <a:t>16</a:t>
            </a:r>
            <a:r>
              <a:rPr lang="zh-CN" altLang="en-US" sz="2400"/>
              <a:t>位的突发性错误；</a:t>
            </a:r>
            <a:endParaRPr lang="en-US" altLang="zh-CN" sz="2400"/>
          </a:p>
          <a:p>
            <a:pPr marL="355600" indent="-355600" algn="l">
              <a:spcBef>
                <a:spcPts val="0"/>
              </a:spcBef>
              <a:buClr>
                <a:srgbClr val="FF0000"/>
              </a:buClr>
              <a:buFont typeface="Wingdings" pitchFamily="2" charset="2"/>
              <a:buChar char="«"/>
            </a:pPr>
            <a:r>
              <a:rPr lang="zh-CN" altLang="en-US" sz="2400"/>
              <a:t>大于</a:t>
            </a:r>
            <a:r>
              <a:rPr lang="en-US" altLang="zh-CN" sz="2400"/>
              <a:t>16</a:t>
            </a:r>
            <a:r>
              <a:rPr lang="zh-CN" altLang="en-US" sz="2400"/>
              <a:t>位的突发性错误，可以检测出的概率为</a:t>
            </a:r>
            <a:r>
              <a:rPr lang="en-US" altLang="zh-CN" sz="2400"/>
              <a:t>99.9</a:t>
            </a:r>
            <a:r>
              <a:rPr lang="zh-CN" altLang="en-US" sz="2400"/>
              <a:t>％。</a:t>
            </a:r>
          </a:p>
        </p:txBody>
      </p:sp>
      <p:sp>
        <p:nvSpPr>
          <p:cNvPr id="7" name="任意多边形 6"/>
          <p:cNvSpPr/>
          <p:nvPr/>
        </p:nvSpPr>
        <p:spPr bwMode="auto">
          <a:xfrm>
            <a:off x="3958814" y="3068961"/>
            <a:ext cx="494852" cy="524094"/>
          </a:xfrm>
          <a:custGeom>
            <a:avLst/>
            <a:gdLst>
              <a:gd name="connsiteX0" fmla="*/ 0 w 494852"/>
              <a:gd name="connsiteY0" fmla="*/ 387275 h 387275"/>
              <a:gd name="connsiteX1" fmla="*/ 333487 w 494852"/>
              <a:gd name="connsiteY1" fmla="*/ 279699 h 387275"/>
              <a:gd name="connsiteX2" fmla="*/ 494852 w 494852"/>
              <a:gd name="connsiteY2" fmla="*/ 0 h 387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4852" h="387275">
                <a:moveTo>
                  <a:pt x="0" y="387275"/>
                </a:moveTo>
                <a:cubicBezTo>
                  <a:pt x="125506" y="365760"/>
                  <a:pt x="251012" y="344245"/>
                  <a:pt x="333487" y="279699"/>
                </a:cubicBezTo>
                <a:cubicBezTo>
                  <a:pt x="415962" y="215153"/>
                  <a:pt x="467958" y="43031"/>
                  <a:pt x="494852" y="0"/>
                </a:cubicBezTo>
              </a:path>
            </a:pathLst>
          </a:custGeom>
          <a:noFill/>
          <a:ln w="28575" cap="flat" cmpd="sng" algn="ctr">
            <a:solidFill>
              <a:srgbClr val="FF0066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sp>
        <p:nvSpPr>
          <p:cNvPr id="9" name="任意多边形 8"/>
          <p:cNvSpPr/>
          <p:nvPr/>
        </p:nvSpPr>
        <p:spPr bwMode="auto">
          <a:xfrm>
            <a:off x="4905487" y="3068960"/>
            <a:ext cx="1280160" cy="1440160"/>
          </a:xfrm>
          <a:custGeom>
            <a:avLst/>
            <a:gdLst>
              <a:gd name="connsiteX0" fmla="*/ 0 w 1280160"/>
              <a:gd name="connsiteY0" fmla="*/ 1290918 h 1290918"/>
              <a:gd name="connsiteX1" fmla="*/ 763793 w 1280160"/>
              <a:gd name="connsiteY1" fmla="*/ 1054250 h 1290918"/>
              <a:gd name="connsiteX2" fmla="*/ 1280160 w 1280160"/>
              <a:gd name="connsiteY2" fmla="*/ 0 h 1290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80160" h="1290918">
                <a:moveTo>
                  <a:pt x="0" y="1290918"/>
                </a:moveTo>
                <a:cubicBezTo>
                  <a:pt x="275216" y="1280160"/>
                  <a:pt x="550433" y="1269403"/>
                  <a:pt x="763793" y="1054250"/>
                </a:cubicBezTo>
                <a:cubicBezTo>
                  <a:pt x="977153" y="839097"/>
                  <a:pt x="1128656" y="419548"/>
                  <a:pt x="1280160" y="0"/>
                </a:cubicBezTo>
              </a:path>
            </a:pathLst>
          </a:custGeom>
          <a:noFill/>
          <a:ln w="28575" cap="flat" cmpd="sng" algn="ctr">
            <a:solidFill>
              <a:srgbClr val="FF0066"/>
            </a:solidFill>
            <a:prstDash val="solid"/>
            <a:round/>
            <a:headEnd type="none" w="med" len="med"/>
            <a:tailEnd type="triangle" w="med" len="lg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charset="-122"/>
            </a:endParaRPr>
          </a:p>
        </p:txBody>
      </p:sp>
      <p:pic>
        <p:nvPicPr>
          <p:cNvPr id="10" name="Picture 5">
            <a:hlinkClick r:id="" action="ppaction://noaction"/>
            <a:extLst>
              <a:ext uri="{FF2B5EF4-FFF2-40B4-BE49-F238E27FC236}">
                <a16:creationId xmlns:a16="http://schemas.microsoft.com/office/drawing/2014/main" id="{4471BD90-8A5E-4BF6-8288-351EB487FA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317346" y="0"/>
            <a:ext cx="826654" cy="56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</p:bldLst>
  </p:timing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sz="2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24345</TotalTime>
  <Words>5906</Words>
  <Application>Microsoft Office PowerPoint</Application>
  <PresentationFormat>全屏显示(4:3)</PresentationFormat>
  <Paragraphs>2683</Paragraphs>
  <Slides>59</Slides>
  <Notes>4</Notes>
  <HiddenSlides>1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59</vt:i4>
      </vt:variant>
    </vt:vector>
  </HeadingPairs>
  <TitlesOfParts>
    <vt:vector size="72" baseType="lpstr">
      <vt:lpstr>Courier</vt:lpstr>
      <vt:lpstr>黑体</vt:lpstr>
      <vt:lpstr>楷体</vt:lpstr>
      <vt:lpstr>宋体</vt:lpstr>
      <vt:lpstr>Arial</vt:lpstr>
      <vt:lpstr>Arial Black</vt:lpstr>
      <vt:lpstr>Cambria Math</vt:lpstr>
      <vt:lpstr>Courier New</vt:lpstr>
      <vt:lpstr>Times New Roman</vt:lpstr>
      <vt:lpstr>Wingdings</vt:lpstr>
      <vt:lpstr>Pixel</vt:lpstr>
      <vt:lpstr>公式</vt:lpstr>
      <vt:lpstr>Visio</vt:lpstr>
      <vt:lpstr>PowerPoint 演示文稿</vt:lpstr>
      <vt:lpstr>PowerPoint 演示文稿</vt:lpstr>
      <vt:lpstr>2.6  检错与纠错码</vt:lpstr>
      <vt:lpstr>一、码距与校验位的位数</vt:lpstr>
      <vt:lpstr>一、码距与校验位的位数</vt:lpstr>
      <vt:lpstr>一、码距与校验位的位数</vt:lpstr>
      <vt:lpstr>一、码距与校验位的位数</vt:lpstr>
      <vt:lpstr>一、码距与校验位的位数</vt:lpstr>
      <vt:lpstr>一、码距与校验位的位数</vt:lpstr>
      <vt:lpstr>一、码距与校验位的位数</vt:lpstr>
      <vt:lpstr>一、码距与校验位的位数</vt:lpstr>
      <vt:lpstr>二、奇偶校验码</vt:lpstr>
      <vt:lpstr>二、奇偶校验码</vt:lpstr>
      <vt:lpstr>二、奇偶校验码</vt:lpstr>
      <vt:lpstr>二、奇偶校验码</vt:lpstr>
      <vt:lpstr>二、奇偶校验码</vt:lpstr>
      <vt:lpstr>二、奇偶校验码</vt:lpstr>
      <vt:lpstr>二、奇偶校验码              例：二维奇偶校验(发送端)</vt:lpstr>
      <vt:lpstr>二、奇偶校验码              例：二维奇偶校验(接收端)</vt:lpstr>
      <vt:lpstr>二、奇偶校验码              例：二维奇偶校验(发送端)</vt:lpstr>
      <vt:lpstr>二、奇偶校验码              例：二维奇偶校验(接收端)</vt:lpstr>
      <vt:lpstr>二、奇偶校验码              例：二维奇偶校验(发送端)</vt:lpstr>
      <vt:lpstr>二、奇偶校验码              例：二维奇偶校验(接收端)</vt:lpstr>
      <vt:lpstr>二、奇偶校验码              例：二维奇偶校验</vt:lpstr>
      <vt:lpstr>三、海明码</vt:lpstr>
      <vt:lpstr>三、海明码        1. 检错和纠错</vt:lpstr>
      <vt:lpstr>三、海明码        1. 检错和纠错</vt:lpstr>
      <vt:lpstr>三、海明码        1. 检错和纠错</vt:lpstr>
      <vt:lpstr>三、海明码        1. 检错和纠错</vt:lpstr>
      <vt:lpstr>三、海明码        1. 检错和纠错</vt:lpstr>
      <vt:lpstr>三、海明码        1. 检错和纠错</vt:lpstr>
      <vt:lpstr>三、海明码        1. 检错和纠错</vt:lpstr>
      <vt:lpstr>三、海明码        1. 检错和纠错</vt:lpstr>
      <vt:lpstr>三、海明码        1. 检错和纠错</vt:lpstr>
      <vt:lpstr>三、海明码        2. 总结</vt:lpstr>
      <vt:lpstr>三、海明码        2. 总结</vt:lpstr>
      <vt:lpstr>三、海明码        2. 总结</vt:lpstr>
      <vt:lpstr>三、海明码        2. 总结</vt:lpstr>
      <vt:lpstr>三、海明码        2. 总结</vt:lpstr>
      <vt:lpstr>三、海明码        2. 总结</vt:lpstr>
      <vt:lpstr>三、海明码        2. 总结</vt:lpstr>
      <vt:lpstr>三、海明码        2. 总结</vt:lpstr>
      <vt:lpstr>三、海明码        2. 总结</vt:lpstr>
      <vt:lpstr>三、海明码        2. 总结</vt:lpstr>
      <vt:lpstr>三、海明码        2. 总结</vt:lpstr>
      <vt:lpstr>三、海明码        3. 内存的海明码纠错电路</vt:lpstr>
      <vt:lpstr>三、海明码        3. 内存的海明码纠错电路</vt:lpstr>
      <vt:lpstr>三、海明码        4. 单纠错双检错码</vt:lpstr>
      <vt:lpstr>四、循环冗余校验码</vt:lpstr>
      <vt:lpstr>四、循环冗余校验码          1. CRC算法原理</vt:lpstr>
      <vt:lpstr>四、循环冗余校验码          1. CRC算法原理</vt:lpstr>
      <vt:lpstr>四、循环冗余校验码          2. CRC编码及译码</vt:lpstr>
      <vt:lpstr>四、循环冗余校验码          2. CRC编码及译码</vt:lpstr>
      <vt:lpstr>四、循环冗余校验码          2. CRC编码及译码</vt:lpstr>
      <vt:lpstr>四、循环冗余校验码          2. CRC编码及译码</vt:lpstr>
      <vt:lpstr>四、循环冗余校验码          2. CRC编码及译码</vt:lpstr>
      <vt:lpstr>四、循环冗余校验码          2. CRC编码及译码</vt:lpstr>
      <vt:lpstr>四、循环冗余校验码          3. CRC码的纠错</vt:lpstr>
      <vt:lpstr>四、循环冗余校验码</vt:lpstr>
    </vt:vector>
  </TitlesOfParts>
  <Company>西安电子科技大学 计算机学院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计算机组成与体系结构</dc:title>
  <dc:subject>第2章 计算机系统中的数据表示</dc:subject>
  <dc:creator>车向泉</dc:creator>
  <cp:keywords>奇偶校验码 循环冗余校验码 汉明码</cp:keywords>
  <dc:description>2.4 检错与纠错码_x000d_
  1.奇偶校验码_x000d_
  2.循环冗余校验码_x000d_
  3.汉明码</dc:description>
  <cp:lastModifiedBy>Che Xiangquan</cp:lastModifiedBy>
  <cp:revision>1028</cp:revision>
  <dcterms:created xsi:type="dcterms:W3CDTF">1601-01-01T00:00:00Z</dcterms:created>
  <dcterms:modified xsi:type="dcterms:W3CDTF">2021-07-23T10:17:02Z</dcterms:modified>
</cp:coreProperties>
</file>