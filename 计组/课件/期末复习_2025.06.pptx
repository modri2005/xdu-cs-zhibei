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0"/>
  </p:notesMasterIdLst>
  <p:sldIdLst>
    <p:sldId id="256" r:id="rId2"/>
    <p:sldId id="261" r:id="rId3"/>
    <p:sldId id="969" r:id="rId4"/>
    <p:sldId id="882" r:id="rId5"/>
    <p:sldId id="902" r:id="rId6"/>
    <p:sldId id="903" r:id="rId7"/>
    <p:sldId id="904" r:id="rId8"/>
    <p:sldId id="985" r:id="rId9"/>
    <p:sldId id="986" r:id="rId10"/>
    <p:sldId id="907" r:id="rId11"/>
    <p:sldId id="908" r:id="rId12"/>
    <p:sldId id="909" r:id="rId13"/>
    <p:sldId id="910" r:id="rId14"/>
    <p:sldId id="1011" r:id="rId15"/>
    <p:sldId id="942" r:id="rId16"/>
    <p:sldId id="881" r:id="rId17"/>
    <p:sldId id="997" r:id="rId18"/>
    <p:sldId id="987" r:id="rId19"/>
    <p:sldId id="943" r:id="rId20"/>
    <p:sldId id="999" r:id="rId21"/>
    <p:sldId id="1000" r:id="rId22"/>
    <p:sldId id="1001" r:id="rId23"/>
    <p:sldId id="1002" r:id="rId24"/>
    <p:sldId id="944" r:id="rId25"/>
    <p:sldId id="1009" r:id="rId26"/>
    <p:sldId id="988" r:id="rId27"/>
    <p:sldId id="871" r:id="rId28"/>
    <p:sldId id="972" r:id="rId29"/>
    <p:sldId id="989" r:id="rId30"/>
    <p:sldId id="624" r:id="rId31"/>
    <p:sldId id="625" r:id="rId32"/>
    <p:sldId id="627" r:id="rId33"/>
    <p:sldId id="628" r:id="rId34"/>
    <p:sldId id="947" r:id="rId35"/>
    <p:sldId id="983" r:id="rId36"/>
    <p:sldId id="948" r:id="rId37"/>
    <p:sldId id="949" r:id="rId38"/>
    <p:sldId id="974" r:id="rId39"/>
    <p:sldId id="889" r:id="rId40"/>
    <p:sldId id="719" r:id="rId41"/>
    <p:sldId id="720" r:id="rId42"/>
    <p:sldId id="721" r:id="rId43"/>
    <p:sldId id="722" r:id="rId44"/>
    <p:sldId id="975" r:id="rId45"/>
    <p:sldId id="976" r:id="rId46"/>
    <p:sldId id="977" r:id="rId47"/>
    <p:sldId id="978" r:id="rId48"/>
    <p:sldId id="872" r:id="rId49"/>
    <p:sldId id="923" r:id="rId50"/>
    <p:sldId id="979" r:id="rId51"/>
    <p:sldId id="980" r:id="rId52"/>
    <p:sldId id="990" r:id="rId53"/>
    <p:sldId id="991" r:id="rId54"/>
    <p:sldId id="968" r:id="rId55"/>
    <p:sldId id="967" r:id="rId56"/>
    <p:sldId id="641" r:id="rId57"/>
    <p:sldId id="642" r:id="rId58"/>
    <p:sldId id="640" r:id="rId59"/>
    <p:sldId id="894" r:id="rId60"/>
    <p:sldId id="1003" r:id="rId61"/>
    <p:sldId id="952" r:id="rId62"/>
    <p:sldId id="1004" r:id="rId63"/>
    <p:sldId id="1006" r:id="rId64"/>
    <p:sldId id="1005" r:id="rId65"/>
    <p:sldId id="1007" r:id="rId66"/>
    <p:sldId id="804" r:id="rId67"/>
    <p:sldId id="1008" r:id="rId68"/>
    <p:sldId id="1010" r:id="rId69"/>
    <p:sldId id="928" r:id="rId70"/>
    <p:sldId id="930" r:id="rId71"/>
    <p:sldId id="931" r:id="rId72"/>
    <p:sldId id="932" r:id="rId73"/>
    <p:sldId id="874" r:id="rId74"/>
    <p:sldId id="953" r:id="rId75"/>
    <p:sldId id="897" r:id="rId76"/>
    <p:sldId id="954" r:id="rId77"/>
    <p:sldId id="955" r:id="rId78"/>
    <p:sldId id="956" r:id="rId7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6600"/>
    <a:srgbClr val="FF9933"/>
    <a:srgbClr val="008000"/>
    <a:srgbClr val="FFFFCC"/>
    <a:srgbClr val="FFCCFF"/>
    <a:srgbClr val="CCCCFF"/>
    <a:srgbClr val="FFFF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2" autoAdjust="0"/>
    <p:restoredTop sz="96529" autoAdjust="0"/>
  </p:normalViewPr>
  <p:slideViewPr>
    <p:cSldViewPr>
      <p:cViewPr varScale="1">
        <p:scale>
          <a:sx n="108" d="100"/>
          <a:sy n="108" d="100"/>
        </p:scale>
        <p:origin x="510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3T02:04:42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64 624,'0'0'1360,"0"0"-198,0 0-158,0 0 115,0 0 61,-8-1 6701,-21-3-7278,11 8-570,0 0 1,1 2 0,0 0 0,0 1-1,0 0 1,1 2 0,0 0 0,0 0 0,-10 10-34,19-13 65,2 0 0,-1 0 0,1 1 0,-1-1 0,2 1 0,-1 1 0,-1 4-65,-11 14 329,15-22-320,0 0-1,0-1 1,0 1 0,1 0 0,-1 1 0,1-1 0,0 0-1,0 0 1,0 1 0,1-1 0,0 0 0,0 1 0,0-1 0,0 0-1,0 1 1,1-1 0,0 0 0,0 1 0,0-1 0,0 0-1,1 0 1,0 0 0,0 0 0,0 0 0,0-1 0,1 1-1,-1 0 1,1-1 0,0 0 0,0 0 0,0 0 0,0 0-1,1 0 1,-1 0 0,2 0-9,14 8-73,0-1 1,0-1-1,1-1 0,0-1 0,0-1 1,1 0-1,0-1 0,0-2 0,7 1 73,48 2 180,75-3-180,-113-3 91,26-3-80,-1-3 0,1-2 0,-1-4 0,3-2-11,-62 12-9,1 1 1,-1-1-1,0 0 0,0 0 0,-1 0 1,1 0-1,0-1 0,-1 0 1,1 1-1,-1-1 0,0 0 0,0-1 1,0 1-1,0-1 0,-1 1 0,0-1 1,1 0-1,-1 0 0,0 0 1,-1 0-1,1 0 0,-1 0 0,0 0 1,0-1-1,0 0 9,3-15 47,-1-1-1,-1 1 1,-1-1 0,-1-14-47,0 32 12,0 0 36,-1 1-1,0-1 1,0 1-1,0-1 0,0 1 1,0-1-1,-1 1 1,1 0-1,-1-1 0,0 1 1,1 0-1,-1 0 0,0 0 1,0 0-1,0 1 1,-1-1-1,1 0 0,0 1 1,-1 0-1,1-1 1,0 1-1,-3-1-47,-66-24 668,61 22-646,-12-3 349,1 1-1,-1 0 1,0 2 0,0 1 0,0 0-1,-15 1-370,36 2 114,1 0 35,0 0 18,0 0 1,-30 0 106,22 0-3816,12 0 832,0 0-2516</inkml:trace>
  <inkml:trace contextRef="#ctx0" brushRef="#br0" timeOffset="1">716 0 1168,'0'0'1529,"0"0"-98,0 0-201,0 0 213,0 0 92,0 0-8,0 0-393,-7 2 2364,-24 5-3010,1 8 437,0-3 1,-1 0-1,-6 0-925,31-10 210,4 4 523,11 4-293,30 18-71,6 7 143,-25-14-202,-17-20-4834,-9-6-459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69806-B708-491E-B0FE-47CD499ACF7D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5907A-43D7-47D1-BB72-131B1A76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7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54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10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40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140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32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904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STORE R2,-5(R3)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98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控存地址</a:t>
            </a:r>
            <a:r>
              <a:rPr lang="en-US" altLang="zh-CN"/>
              <a:t>9</a:t>
            </a:r>
            <a:r>
              <a:rPr lang="zh-CN" altLang="en-US"/>
              <a:t>位，那么</a:t>
            </a:r>
            <a:r>
              <a:rPr lang="en-US" altLang="zh-CN" err="1"/>
              <a:t>μAR</a:t>
            </a:r>
            <a:r>
              <a:rPr lang="zh-CN" altLang="en-US"/>
              <a:t>也为</a:t>
            </a:r>
            <a:r>
              <a:rPr lang="en-US" altLang="zh-CN"/>
              <a:t>9</a:t>
            </a:r>
            <a:r>
              <a:rPr lang="zh-CN" altLang="en-US"/>
              <a:t>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10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3505200" cy="68580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716088" y="1690688"/>
              <a:ext cx="7427913" cy="25336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6" name="Rectangle 6"/>
            <p:cNvSpPr>
              <a:spLocks noChangeArrowheads="1"/>
            </p:cNvSpPr>
            <p:nvPr/>
          </p:nvSpPr>
          <p:spPr bwMode="auto">
            <a:xfrm>
              <a:off x="573088" y="3582988"/>
              <a:ext cx="576263" cy="64135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7" name="Rectangle 7"/>
            <p:cNvSpPr>
              <a:spLocks noChangeArrowheads="1"/>
            </p:cNvSpPr>
            <p:nvPr/>
          </p:nvSpPr>
          <p:spPr bwMode="auto">
            <a:xfrm>
              <a:off x="1716088" y="1690688"/>
              <a:ext cx="574675" cy="642938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9" name="Rectangle 9"/>
            <p:cNvSpPr>
              <a:spLocks noChangeArrowheads="1"/>
            </p:cNvSpPr>
            <p:nvPr/>
          </p:nvSpPr>
          <p:spPr bwMode="auto">
            <a:xfrm>
              <a:off x="1141413" y="3582988"/>
              <a:ext cx="584200" cy="6413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0" name="Rectangle 10"/>
            <p:cNvSpPr>
              <a:spLocks noChangeArrowheads="1"/>
            </p:cNvSpPr>
            <p:nvPr/>
          </p:nvSpPr>
          <p:spPr bwMode="auto">
            <a:xfrm>
              <a:off x="2281238" y="1690688"/>
              <a:ext cx="585788" cy="64293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1" name="Rectangle 11"/>
            <p:cNvSpPr>
              <a:spLocks noChangeArrowheads="1"/>
            </p:cNvSpPr>
            <p:nvPr/>
          </p:nvSpPr>
          <p:spPr bwMode="auto">
            <a:xfrm>
              <a:off x="1141413" y="2324101"/>
              <a:ext cx="584200" cy="633413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2" name="Rectangle 12"/>
            <p:cNvSpPr>
              <a:spLocks noChangeArrowheads="1"/>
            </p:cNvSpPr>
            <p:nvPr/>
          </p:nvSpPr>
          <p:spPr bwMode="auto">
            <a:xfrm>
              <a:off x="0" y="2324101"/>
              <a:ext cx="582613" cy="63341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3" name="Rectangle 13"/>
            <p:cNvSpPr>
              <a:spLocks noChangeArrowheads="1"/>
            </p:cNvSpPr>
            <p:nvPr/>
          </p:nvSpPr>
          <p:spPr bwMode="auto">
            <a:xfrm>
              <a:off x="1716088" y="2324101"/>
              <a:ext cx="574675" cy="633413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4" name="Rectangle 14"/>
            <p:cNvSpPr>
              <a:spLocks noChangeArrowheads="1"/>
            </p:cNvSpPr>
            <p:nvPr/>
          </p:nvSpPr>
          <p:spPr bwMode="auto">
            <a:xfrm>
              <a:off x="573088" y="2947988"/>
              <a:ext cx="576263" cy="644525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5" name="Rectangle 15"/>
            <p:cNvSpPr>
              <a:spLocks noChangeArrowheads="1"/>
            </p:cNvSpPr>
            <p:nvPr/>
          </p:nvSpPr>
          <p:spPr bwMode="auto">
            <a:xfrm>
              <a:off x="1141413" y="2947988"/>
              <a:ext cx="584200" cy="6445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28" name="Rectangle 28"/>
            <p:cNvSpPr>
              <a:spLocks noChangeArrowheads="1"/>
            </p:cNvSpPr>
            <p:nvPr/>
          </p:nvSpPr>
          <p:spPr bwMode="auto">
            <a:xfrm>
              <a:off x="0" y="2590800"/>
              <a:ext cx="9144000" cy="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73250"/>
            <a:ext cx="2895600" cy="32419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24" name="Rectangle 16"/>
          <p:cNvSpPr txBox="1">
            <a:spLocks noChangeArrowheads="1"/>
          </p:cNvSpPr>
          <p:nvPr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l"/>
            <a:fld id="{87D8CD90-EB6C-4EF8-843B-BC01DDFAB9E6}" type="datetime3">
              <a:rPr lang="zh-CN" altLang="en-US" sz="2000" b="1" smtClean="0">
                <a:solidFill>
                  <a:srgbClr val="5D5D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algn="l"/>
              <a:t>2025年5月28日星期三</a:t>
            </a:fld>
            <a:endParaRPr lang="en-US" altLang="zh-CN" sz="2000" b="1">
              <a:solidFill>
                <a:srgbClr val="5D5DC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l"/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  <a:pPr algn="l"/>
              <a:t>19:01</a:t>
            </a:fld>
            <a:endParaRPr lang="en-US" altLang="zh-CN" sz="2000" b="1">
              <a:solidFill>
                <a:srgbClr val="5D5DC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6" name="直接连接符 5"/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0" name="组合 39"/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17"/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13" name="Line 8"/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10"/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23"/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3" name="Line 24"/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Line 29"/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325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BB62E167-B940-4082-B72A-79DCCB08F7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2" name="Text Box 22">
            <a:extLst>
              <a:ext uri="{FF2B5EF4-FFF2-40B4-BE49-F238E27FC236}">
                <a16:creationId xmlns:a16="http://schemas.microsoft.com/office/drawing/2014/main" id="{EBBC022F-940D-4795-96BD-FB4048010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954669DA-467D-4F84-A4FB-6BEC2896B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DA976258-2A4D-4C18-AF06-995076018F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68539E4-D023-4A56-B70B-169302783DB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DD40B69-699B-48DF-9C16-2842290B296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0933193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字号2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355600" indent="-355600">
              <a:defRPr sz="2800"/>
            </a:lvl1pPr>
            <a:lvl2pPr marL="719138" indent="-363538">
              <a:defRPr sz="2800"/>
            </a:lvl2pPr>
            <a:lvl3pPr marL="1074738" indent="-355600">
              <a:defRPr sz="2800">
                <a:latin typeface="+mn-lt"/>
              </a:defRPr>
            </a:lvl3pPr>
            <a:lvl4pPr marL="1439863" indent="-365125">
              <a:defRPr sz="2800">
                <a:latin typeface="+mn-lt"/>
                <a:ea typeface="楷体" panose="02010609060101010101" pitchFamily="49" charset="-122"/>
              </a:defRPr>
            </a:lvl4pPr>
            <a:lvl5pPr marL="1795463" indent="-355600">
              <a:defRPr sz="28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8F44F4C-231F-4D32-9A8B-35DB3854F920}" type="datetime1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783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（字号2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268288" indent="-268288">
              <a:defRPr sz="2400"/>
            </a:lvl1pPr>
            <a:lvl2pPr marL="541338" indent="-273050">
              <a:defRPr sz="2400"/>
            </a:lvl2pPr>
            <a:lvl3pPr marL="804863" indent="-263525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5AFAEFF-8A56-479C-9ABB-E83CC277E5B3}" type="datetime1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0790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990" y="99606"/>
            <a:ext cx="8229600" cy="4179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620610"/>
            <a:ext cx="4040188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044341"/>
            <a:ext cx="4040188" cy="5337069"/>
          </a:xfrm>
        </p:spPr>
        <p:txBody>
          <a:bodyPr/>
          <a:lstStyle>
            <a:lvl1pPr marL="268288" indent="-268288">
              <a:defRPr sz="2400">
                <a:latin typeface="+mn-lt"/>
              </a:defRPr>
            </a:lvl1pPr>
            <a:lvl2pPr marL="536575" indent="-268288">
              <a:defRPr sz="2400">
                <a:latin typeface="+mn-lt"/>
              </a:defRPr>
            </a:lvl2pPr>
            <a:lvl3pPr marL="804863" indent="-268288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620610"/>
            <a:ext cx="4041775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044342"/>
            <a:ext cx="4041775" cy="5337068"/>
          </a:xfrm>
        </p:spPr>
        <p:txBody>
          <a:bodyPr/>
          <a:lstStyle>
            <a:lvl1pPr marL="268288" indent="-268288">
              <a:defRPr sz="2400">
                <a:latin typeface="+mn-lt"/>
              </a:defRPr>
            </a:lvl1pPr>
            <a:lvl2pPr marL="536575" indent="-268288">
              <a:defRPr sz="2400">
                <a:latin typeface="+mn-lt"/>
              </a:defRPr>
            </a:lvl2pPr>
            <a:lvl3pPr marL="804863" indent="-268288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74811BC-8EBA-4506-A659-B4A5B79523FF}" type="datetime1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96482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8372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566738"/>
            <a:chOff x="0" y="0"/>
            <a:chExt cx="9144000" cy="566738"/>
          </a:xfrm>
        </p:grpSpPr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85750" cy="5461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/>
          </p:nvSpPr>
          <p:spPr bwMode="auto">
            <a:xfrm>
              <a:off x="377825" y="134938"/>
              <a:ext cx="8731250" cy="274638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/>
          </p:nvSpPr>
          <p:spPr bwMode="auto">
            <a:xfrm>
              <a:off x="374650" y="134938"/>
              <a:ext cx="138113" cy="141288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512763" y="0"/>
              <a:ext cx="139700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/>
          </p:nvSpPr>
          <p:spPr bwMode="auto">
            <a:xfrm>
              <a:off x="512763" y="134938"/>
              <a:ext cx="139700" cy="141288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/>
          </p:nvSpPr>
          <p:spPr bwMode="auto">
            <a:xfrm>
              <a:off x="239713" y="274638"/>
              <a:ext cx="136525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/>
          </p:nvSpPr>
          <p:spPr bwMode="auto">
            <a:xfrm>
              <a:off x="96838" y="136525"/>
              <a:ext cx="141288" cy="138113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/>
          </p:nvSpPr>
          <p:spPr bwMode="auto">
            <a:xfrm>
              <a:off x="374650" y="271463"/>
              <a:ext cx="138113" cy="138113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/>
          </p:nvSpPr>
          <p:spPr bwMode="auto">
            <a:xfrm>
              <a:off x="239713" y="409575"/>
              <a:ext cx="136525" cy="136525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/>
          </p:nvSpPr>
          <p:spPr bwMode="auto">
            <a:xfrm>
              <a:off x="0" y="520700"/>
              <a:ext cx="9144000" cy="46038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410"/>
            <a:ext cx="2895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66739"/>
            <a:ext cx="8362950" cy="5813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3777"/>
            <a:ext cx="2133600" cy="33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fld id="{B7EA2D08-4881-4FC0-AFBD-FC31AF58696D}" type="datetime1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50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med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55600" indent="-355600" algn="l" rtl="0" eaLnBrk="1" fontAlgn="base" hangingPunct="1">
        <a:spcBef>
          <a:spcPts val="3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eaLnBrk="1" fontAlgn="base" hangingPunct="1">
        <a:spcBef>
          <a:spcPts val="3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eaLnBrk="1" fontAlgn="base" hangingPunct="1">
        <a:spcBef>
          <a:spcPts val="3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eaLnBrk="1" fontAlgn="base" hangingPunct="1">
        <a:spcBef>
          <a:spcPts val="3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463" indent="-355600" algn="l" rtl="0" eaLnBrk="1" fontAlgn="base" hangingPunct="1">
        <a:spcBef>
          <a:spcPts val="3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Relationship Id="rId6" Type="http://schemas.openxmlformats.org/officeDocument/2006/relationships/slide" Target="slide68.xml"/><Relationship Id="rId5" Type="http://schemas.openxmlformats.org/officeDocument/2006/relationships/image" Target="../media/image15.png"/><Relationship Id="rId4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C39AB-5DB4-428C-86A2-34F0D4432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512" y="2171328"/>
            <a:ext cx="8740775" cy="2049760"/>
          </a:xfrm>
        </p:spPr>
        <p:txBody>
          <a:bodyPr/>
          <a:lstStyle/>
          <a:p>
            <a:pPr lvl="0">
              <a:buClr>
                <a:srgbClr val="00007D"/>
              </a:buClr>
              <a:buSzPct val="75000"/>
            </a:pPr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</a:t>
            </a:r>
            <a:r>
              <a:rPr lang="zh-CN" altLang="en-US" sz="48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组织</a:t>
            </a:r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lang="zh-CN" altLang="en-US" sz="48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体系结构</a:t>
            </a:r>
            <a:br>
              <a:rPr lang="en-US" altLang="zh-CN" sz="4800">
                <a:solidFill>
                  <a:srgbClr val="FFCC00"/>
                </a:solidFill>
                <a:latin typeface="Times New Roman"/>
                <a:ea typeface="黑体" panose="02010609060101010101" pitchFamily="49" charset="-122"/>
                <a:cs typeface="+mn-cs"/>
              </a:rPr>
            </a:br>
            <a:r>
              <a:rPr lang="zh-CN" altLang="en-US" sz="540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期末</a:t>
            </a:r>
            <a:r>
              <a:rPr lang="zh-CN" altLang="en-US" sz="540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复习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ACF1E7-BAAD-4D82-9DD3-0AA8F7F5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4168" y="4725144"/>
            <a:ext cx="2323319" cy="830997"/>
          </a:xfr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zh-CN" sz="5400" b="0">
                <a:ea typeface="楷体_GB2312" panose="02010609030101010101" pitchFamily="49" charset="-122"/>
              </a:rPr>
              <a:t>2025.06</a:t>
            </a:r>
            <a:endParaRPr lang="zh-CN" altLang="en-US" sz="5400"/>
          </a:p>
        </p:txBody>
      </p:sp>
      <p:pic>
        <p:nvPicPr>
          <p:cNvPr id="5" name="Picture 11" descr="C:\Users\车向泉\AppData\Local\Microsoft\Windows\Temporary Internet Files\Content.IE5\PDCZ0H06\MC900437447[1].wmf">
            <a:extLst>
              <a:ext uri="{FF2B5EF4-FFF2-40B4-BE49-F238E27FC236}">
                <a16:creationId xmlns:a16="http://schemas.microsoft.com/office/drawing/2014/main" id="{A3F18B38-6051-4D12-B457-EA538D13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99" y="4495800"/>
            <a:ext cx="211931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55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5CEBF1-043C-4321-8531-1576556EC4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8326" y="1196752"/>
            <a:ext cx="7829376" cy="5256584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>
                <a:solidFill>
                  <a:schemeClr val="bg2"/>
                </a:solidFill>
                <a:latin typeface="+mj-lt"/>
                <a:ea typeface="+mj-ea"/>
                <a:cs typeface="+mj-cs"/>
              </a:rPr>
              <a:t>题型</a:t>
            </a:r>
            <a:endParaRPr lang="en-US" altLang="zh-CN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/>
              <a:t>单项选择题</a:t>
            </a:r>
            <a:endParaRPr lang="en-US" altLang="zh-CN"/>
          </a:p>
          <a:p>
            <a:r>
              <a:rPr lang="zh-CN" altLang="en-US"/>
              <a:t>分析计算题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zh-CN" altLang="en-US">
                <a:solidFill>
                  <a:schemeClr val="bg2"/>
                </a:solidFill>
                <a:latin typeface="+mj-lt"/>
                <a:ea typeface="+mj-ea"/>
                <a:cs typeface="+mj-cs"/>
              </a:rPr>
              <a:t>范围</a:t>
            </a:r>
            <a:endParaRPr lang="en-US" altLang="zh-CN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/>
              <a:t>补码的基本概念、性质</a:t>
            </a:r>
            <a:endParaRPr lang="en-US" altLang="zh-CN"/>
          </a:p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～ 第</a:t>
            </a:r>
            <a:r>
              <a:rPr lang="en-US" altLang="zh-CN"/>
              <a:t>9</a:t>
            </a:r>
            <a:r>
              <a:rPr lang="zh-CN" altLang="en-US"/>
              <a:t>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29D900-B8F2-44D4-8257-A5D9AE60A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Picture 3" descr="C:\Users\车向泉\AppData\Local\Microsoft\Windows\Temporary Internet Files\Content.IE5\FE5TM330\MC900441484[1].png">
            <a:extLst>
              <a:ext uri="{FF2B5EF4-FFF2-40B4-BE49-F238E27FC236}">
                <a16:creationId xmlns:a16="http://schemas.microsoft.com/office/drawing/2014/main" id="{B6FBAC09-1110-4B1C-B4DF-9EC4838D8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048" y="3861048"/>
            <a:ext cx="2920752" cy="292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4769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8E7A1-39F3-4703-BE45-4DC0EB8F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ED9789-EF9A-4047-8016-632F72A8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525776"/>
            <a:ext cx="9001000" cy="6179824"/>
          </a:xfrm>
        </p:spPr>
        <p:txBody>
          <a:bodyPr/>
          <a:lstStyle/>
          <a:p>
            <a:pPr marL="269875" indent="-269875">
              <a:spcBef>
                <a:spcPts val="0"/>
              </a:spcBef>
            </a:pPr>
            <a:r>
              <a:rPr lang="en-US" altLang="zh-CN" sz="2400"/>
              <a:t>Cache</a:t>
            </a:r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目的：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提高</a:t>
            </a:r>
            <a:r>
              <a:rPr lang="zh-CN" altLang="en-US" sz="2400"/>
              <a:t>主存的平均访问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速度</a:t>
            </a:r>
            <a:r>
              <a:rPr lang="zh-CN" altLang="en-US" sz="2400"/>
              <a:t>。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与主存之间以“</a:t>
            </a:r>
            <a:r>
              <a:rPr lang="zh-CN" altLang="en-US" sz="2400">
                <a:solidFill>
                  <a:srgbClr val="CC0000"/>
                </a:solidFill>
              </a:rPr>
              <a:t>块</a:t>
            </a:r>
            <a:r>
              <a:rPr lang="zh-CN" altLang="en-US" sz="2400"/>
              <a:t>”为单位进行调度。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由硬件管理。</a:t>
            </a:r>
            <a:r>
              <a:rPr lang="zh-CN" altLang="en-US" sz="2400">
                <a:solidFill>
                  <a:srgbClr val="009900"/>
                </a:solidFill>
              </a:rPr>
              <a:t>主存物理地址</a:t>
            </a:r>
            <a:r>
              <a:rPr lang="zh-CN" altLang="en-US" sz="2400">
                <a:solidFill>
                  <a:srgbClr val="009900"/>
                </a:solidFill>
                <a:latin typeface="+mn-ea"/>
              </a:rPr>
              <a:t>→</a:t>
            </a:r>
            <a:r>
              <a:rPr lang="en-US" altLang="zh-CN" sz="2400">
                <a:solidFill>
                  <a:srgbClr val="009900"/>
                </a:solidFill>
              </a:rPr>
              <a:t>Cache</a:t>
            </a:r>
            <a:r>
              <a:rPr lang="zh-CN" altLang="en-US" sz="2400">
                <a:solidFill>
                  <a:srgbClr val="009900"/>
                </a:solidFill>
              </a:rPr>
              <a:t>地址</a:t>
            </a:r>
            <a:endParaRPr lang="en-US" altLang="zh-CN" sz="2400">
              <a:solidFill>
                <a:srgbClr val="009900"/>
              </a:solidFill>
            </a:endParaRPr>
          </a:p>
          <a:p>
            <a:pPr marL="269875" indent="-269875">
              <a:spcBef>
                <a:spcPts val="0"/>
              </a:spcBef>
            </a:pPr>
            <a:r>
              <a:rPr lang="zh-CN" altLang="en-US" sz="2400"/>
              <a:t>页式虚拟存储器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目的：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扩大</a:t>
            </a:r>
            <a:r>
              <a:rPr lang="zh-CN" altLang="en-US" sz="2400"/>
              <a:t>程序可用的主存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容量</a:t>
            </a:r>
            <a:r>
              <a:rPr lang="zh-CN" altLang="en-US" sz="2400"/>
              <a:t>。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与硬盘之间以“</a:t>
            </a:r>
            <a:r>
              <a:rPr lang="zh-CN" altLang="en-US" sz="2400">
                <a:solidFill>
                  <a:srgbClr val="CC0000"/>
                </a:solidFill>
              </a:rPr>
              <a:t>页</a:t>
            </a:r>
            <a:r>
              <a:rPr lang="zh-CN" altLang="en-US" sz="2400"/>
              <a:t>”为单位进行调度。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主存＋联机工作的外存＋辅助硬件</a:t>
            </a:r>
            <a:r>
              <a:rPr lang="en-US" altLang="zh-CN" sz="2400">
                <a:latin typeface="+mn-ea"/>
              </a:rPr>
              <a:t>(</a:t>
            </a:r>
            <a:r>
              <a:rPr lang="en-US" altLang="zh-CN" sz="2400"/>
              <a:t>MMU</a:t>
            </a:r>
            <a:r>
              <a:rPr lang="en-US" altLang="zh-CN" sz="2400">
                <a:latin typeface="+mn-ea"/>
              </a:rPr>
              <a:t>)</a:t>
            </a:r>
            <a:r>
              <a:rPr lang="zh-CN" altLang="en-US" sz="2400"/>
              <a:t>＋系统软件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/>
              <a:t>OS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多级页表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快慢表（微处理器内部的</a:t>
            </a:r>
            <a:r>
              <a:rPr lang="en-US" altLang="zh-CN" sz="2400"/>
              <a:t>TLB</a:t>
            </a:r>
            <a:r>
              <a:rPr lang="zh-CN" altLang="en-US" sz="2400"/>
              <a:t>＋主存中的页表）</a:t>
            </a:r>
            <a:endParaRPr lang="en-US" altLang="zh-CN" sz="2400"/>
          </a:p>
          <a:p>
            <a:pPr marL="269875" indent="-269875">
              <a:spcBef>
                <a:spcPts val="0"/>
              </a:spcBef>
            </a:pPr>
            <a:r>
              <a:rPr lang="zh-CN" altLang="en-US" sz="2400"/>
              <a:t>磁盘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磁记录方式：自同步能力，编码效率</a:t>
            </a:r>
            <a:endParaRPr lang="en-US" altLang="zh-CN" sz="2400"/>
          </a:p>
          <a:p>
            <a:pPr marL="538163" lvl="1" indent="-268288">
              <a:spcBef>
                <a:spcPts val="0"/>
              </a:spcBef>
            </a:pPr>
            <a:r>
              <a:rPr lang="zh-CN" altLang="en-US" sz="2400"/>
              <a:t>磁盘参数的计算</a:t>
            </a:r>
            <a:br>
              <a:rPr lang="en-US" altLang="zh-CN" sz="2400"/>
            </a:br>
            <a:r>
              <a:rPr lang="zh-CN" altLang="en-US" sz="2400"/>
              <a:t>平均访问时间＝平均</a:t>
            </a:r>
            <a:r>
              <a:rPr lang="zh-CN" altLang="en-US" sz="2400">
                <a:solidFill>
                  <a:srgbClr val="0000FF"/>
                </a:solidFill>
              </a:rPr>
              <a:t>寻道时间</a:t>
            </a:r>
            <a:r>
              <a:rPr lang="zh-CN" altLang="en-US" sz="2400"/>
              <a:t>＋平均</a:t>
            </a:r>
            <a:r>
              <a:rPr lang="zh-CN" altLang="en-US" sz="2400">
                <a:solidFill>
                  <a:srgbClr val="0000FF"/>
                </a:solidFill>
              </a:rPr>
              <a:t>等待时间</a:t>
            </a:r>
            <a:r>
              <a:rPr lang="zh-CN" altLang="en-US" sz="2400"/>
              <a:t>＋</a:t>
            </a:r>
            <a:r>
              <a:rPr lang="zh-CN" altLang="en-US" sz="2400">
                <a:solidFill>
                  <a:srgbClr val="008000"/>
                </a:solidFill>
              </a:rPr>
              <a:t>数据传输</a:t>
            </a:r>
            <a:r>
              <a:rPr lang="zh-CN" altLang="en-US" sz="2400"/>
              <a:t>时间</a:t>
            </a:r>
            <a:br>
              <a:rPr lang="en-US" altLang="zh-CN" sz="2400"/>
            </a:br>
            <a:br>
              <a:rPr lang="en-US" altLang="zh-CN" sz="2400"/>
            </a:br>
            <a:r>
              <a:rPr lang="zh-CN" altLang="en-US" sz="2400"/>
              <a:t>数据传输率＝每个扇区的字节数</a:t>
            </a:r>
            <a:r>
              <a:rPr lang="en-US" altLang="zh-CN" sz="2400"/>
              <a:t>×</a:t>
            </a:r>
            <a:r>
              <a:rPr lang="zh-CN" altLang="en-US" sz="2400"/>
              <a:t>每道扇区数</a:t>
            </a:r>
            <a:r>
              <a:rPr lang="en-US" altLang="zh-CN" sz="2400"/>
              <a:t>×</a:t>
            </a:r>
            <a:r>
              <a:rPr lang="zh-CN" altLang="en-US" sz="2400"/>
              <a:t>磁盘的转速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F3FADD-BA0C-49B7-AE17-3776B6CF2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367E54-FECD-4C84-B96C-4DF285CE271E}"/>
              </a:ext>
            </a:extLst>
          </p:cNvPr>
          <p:cNvSpPr txBox="1"/>
          <p:nvPr/>
        </p:nvSpPr>
        <p:spPr bwMode="auto">
          <a:xfrm>
            <a:off x="4658003" y="5588091"/>
            <a:ext cx="358784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（磁盘旋转半圈的时间）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DC16FC-E485-4A30-A811-231A6B6DBC43}"/>
              </a:ext>
            </a:extLst>
          </p:cNvPr>
          <p:cNvSpPr txBox="1"/>
          <p:nvPr/>
        </p:nvSpPr>
        <p:spPr bwMode="auto">
          <a:xfrm>
            <a:off x="611560" y="5588091"/>
            <a:ext cx="451598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（磁头移动到目标磁道的时间）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679311-884C-4394-907F-6CB66DEEB785}"/>
              </a:ext>
            </a:extLst>
          </p:cNvPr>
          <p:cNvSpPr/>
          <p:nvPr/>
        </p:nvSpPr>
        <p:spPr bwMode="auto">
          <a:xfrm>
            <a:off x="2915816" y="5343787"/>
            <a:ext cx="1800200" cy="315055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696A29-BAA1-4573-9E08-99BAE930DA74}"/>
              </a:ext>
            </a:extLst>
          </p:cNvPr>
          <p:cNvSpPr/>
          <p:nvPr/>
        </p:nvSpPr>
        <p:spPr bwMode="auto">
          <a:xfrm>
            <a:off x="5033394" y="5343787"/>
            <a:ext cx="1841384" cy="315055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B91544-F500-45FF-AC19-408A45832003}"/>
              </a:ext>
            </a:extLst>
          </p:cNvPr>
          <p:cNvSpPr txBox="1"/>
          <p:nvPr/>
        </p:nvSpPr>
        <p:spPr bwMode="auto">
          <a:xfrm>
            <a:off x="3655805" y="3501008"/>
            <a:ext cx="5136342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逻辑地址</a:t>
            </a:r>
            <a:r>
              <a:rPr lang="en-US" altLang="zh-CN" sz="2400" kern="0">
                <a:solidFill>
                  <a:srgbClr val="009900"/>
                </a:solidFill>
                <a:latin typeface="宋体" panose="02010600030101010101" pitchFamily="2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虚拟地址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anose="02010600030101010101" pitchFamily="2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→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主存物理地址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24B04D-4DB2-4C2E-861F-45D03DEFF6AD}"/>
              </a:ext>
            </a:extLst>
          </p:cNvPr>
          <p:cNvSpPr txBox="1"/>
          <p:nvPr/>
        </p:nvSpPr>
        <p:spPr bwMode="auto">
          <a:xfrm>
            <a:off x="6139060" y="4583541"/>
            <a:ext cx="2547740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与磁盘的转速有关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567B22E-7948-4E08-ACC6-77519E2F57C5}"/>
              </a:ext>
            </a:extLst>
          </p:cNvPr>
          <p:cNvCxnSpPr>
            <a:cxnSpLocks/>
          </p:cNvCxnSpPr>
          <p:nvPr/>
        </p:nvCxnSpPr>
        <p:spPr bwMode="auto">
          <a:xfrm flipH="1">
            <a:off x="6660232" y="4952873"/>
            <a:ext cx="72008" cy="33165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FCBB73D-8E13-4225-8F29-AC02770A77E9}"/>
              </a:ext>
            </a:extLst>
          </p:cNvPr>
          <p:cNvCxnSpPr>
            <a:cxnSpLocks/>
          </p:cNvCxnSpPr>
          <p:nvPr/>
        </p:nvCxnSpPr>
        <p:spPr bwMode="auto">
          <a:xfrm>
            <a:off x="7599820" y="4967688"/>
            <a:ext cx="202615" cy="3701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4592499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0118E-B3E0-4862-80CD-29631ED6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86016-10B9-4D2B-8419-3246BC8A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3"/>
            <a:ext cx="8362950" cy="1584175"/>
          </a:xfrm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：</a:t>
            </a:r>
            <a:r>
              <a:rPr lang="en-US" altLang="zh-CN">
                <a:solidFill>
                  <a:srgbClr val="0000FF"/>
                </a:solidFill>
              </a:rPr>
              <a:t>Cache - </a:t>
            </a:r>
            <a:r>
              <a:rPr lang="zh-CN" altLang="en-US">
                <a:solidFill>
                  <a:srgbClr val="0000FF"/>
                </a:solidFill>
              </a:rPr>
              <a:t>主存</a:t>
            </a:r>
            <a:endParaRPr lang="en-US" altLang="zh-CN">
              <a:solidFill>
                <a:srgbClr val="0000FF"/>
              </a:solidFill>
            </a:endParaRPr>
          </a:p>
          <a:p>
            <a:pPr lvl="1"/>
            <a:r>
              <a:rPr lang="zh-CN" altLang="en-US"/>
              <a:t>地址映射：全相联、直接映射、组相联</a:t>
            </a:r>
            <a:endParaRPr lang="en-US" altLang="zh-CN"/>
          </a:p>
          <a:p>
            <a:pPr lvl="1"/>
            <a:r>
              <a:rPr lang="zh-CN" altLang="en-US"/>
              <a:t>平均访问时间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6D93A-90CE-41CA-97B7-8A93FF7BC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8C93F7-0FB4-4A6C-8E48-8163819623C6}"/>
              </a:ext>
            </a:extLst>
          </p:cNvPr>
          <p:cNvSpPr/>
          <p:nvPr/>
        </p:nvSpPr>
        <p:spPr>
          <a:xfrm>
            <a:off x="1307060" y="2500629"/>
            <a:ext cx="3631700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T</a:t>
            </a:r>
            <a:r>
              <a:rPr lang="en-US" altLang="zh-CN" baseline="-25000">
                <a:solidFill>
                  <a:srgbClr val="0000FF"/>
                </a:solidFill>
              </a:rPr>
              <a:t>A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T</a:t>
            </a:r>
            <a:r>
              <a:rPr lang="en-US" altLang="zh-CN" baseline="-25000">
                <a:solidFill>
                  <a:srgbClr val="0000FF"/>
                </a:solidFill>
              </a:rPr>
              <a:t>C</a:t>
            </a:r>
            <a:r>
              <a:rPr lang="zh-CN" altLang="en-US">
                <a:solidFill>
                  <a:srgbClr val="0000FF"/>
                </a:solidFill>
              </a:rPr>
              <a:t>＋</a:t>
            </a:r>
            <a:r>
              <a:rPr lang="en-US" altLang="zh-CN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－</a:t>
            </a:r>
            <a:r>
              <a:rPr lang="en-US" altLang="zh-CN" i="1">
                <a:solidFill>
                  <a:srgbClr val="0000FF"/>
                </a:solidFill>
              </a:rPr>
              <a:t>h</a:t>
            </a:r>
            <a:r>
              <a:rPr lang="en-US" altLang="zh-CN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>
                <a:solidFill>
                  <a:srgbClr val="0000FF"/>
                </a:solidFill>
              </a:rPr>
              <a:t>×T</a:t>
            </a:r>
            <a:r>
              <a:rPr lang="en-US" altLang="zh-CN" baseline="-25000">
                <a:solidFill>
                  <a:srgbClr val="0000FF"/>
                </a:solidFill>
              </a:rPr>
              <a:t>M</a:t>
            </a:r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EF55746-80EA-4C62-BFA2-7E8A00936BCF}"/>
              </a:ext>
            </a:extLst>
          </p:cNvPr>
          <p:cNvGrpSpPr/>
          <p:nvPr/>
        </p:nvGrpSpPr>
        <p:grpSpPr>
          <a:xfrm>
            <a:off x="1187624" y="3455029"/>
            <a:ext cx="3825950" cy="1800200"/>
            <a:chOff x="4439468" y="4797152"/>
            <a:chExt cx="3825950" cy="1800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CF7967-AACA-4290-A22F-BF68A0949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904" y="4942036"/>
              <a:ext cx="755500" cy="15113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/>
                <a:t>CPU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EBBAD8-454D-4897-9917-B247C8CD2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3703" y="4942036"/>
              <a:ext cx="720577" cy="1511300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/>
                <a:t>主存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51D4B0-59D3-4339-B7A6-5ECE6AD0D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667" y="5013473"/>
              <a:ext cx="935037" cy="1007815"/>
            </a:xfrm>
            <a:prstGeom prst="rect">
              <a:avLst/>
            </a:prstGeom>
            <a:solidFill>
              <a:srgbClr val="C1FFC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/>
                <a:t>Cache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0BC0CAB8-ED05-4E50-A957-8FE54D598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404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EACD4192-1033-4D17-BCC9-D6AACE1D3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639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43FF65-6A8B-4F39-8CA4-6FB0C2DADB03}"/>
                </a:ext>
              </a:extLst>
            </p:cNvPr>
            <p:cNvSpPr/>
            <p:nvPr/>
          </p:nvSpPr>
          <p:spPr bwMode="auto">
            <a:xfrm>
              <a:off x="4439468" y="4797152"/>
              <a:ext cx="3825950" cy="1800200"/>
            </a:xfrm>
            <a:prstGeom prst="rect">
              <a:avLst/>
            </a:prstGeom>
            <a:noFill/>
            <a:ln w="19050" cap="flat" cmpd="sng" algn="ctr">
              <a:solidFill>
                <a:srgbClr val="FF006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671D3C3-4F48-4FD5-9EA5-63E6E17EB2A2}"/>
              </a:ext>
            </a:extLst>
          </p:cNvPr>
          <p:cNvCxnSpPr>
            <a:cxnSpLocks/>
          </p:cNvCxnSpPr>
          <p:nvPr/>
        </p:nvCxnSpPr>
        <p:spPr bwMode="auto">
          <a:xfrm>
            <a:off x="3479950" y="4175109"/>
            <a:ext cx="776287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61EF642-7616-4588-8DDB-A91171E07809}"/>
              </a:ext>
            </a:extLst>
          </p:cNvPr>
          <p:cNvCxnSpPr>
            <a:cxnSpLocks/>
          </p:cNvCxnSpPr>
          <p:nvPr/>
        </p:nvCxnSpPr>
        <p:spPr bwMode="auto">
          <a:xfrm>
            <a:off x="1867844" y="4175109"/>
            <a:ext cx="826293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D94A65F-57BA-4E9C-9742-66BDB4636049}"/>
                  </a:ext>
                </a:extLst>
              </p:cNvPr>
              <p:cNvSpPr/>
              <p:nvPr/>
            </p:nvSpPr>
            <p:spPr>
              <a:xfrm>
                <a:off x="5508104" y="2332185"/>
                <a:ext cx="2769733" cy="860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加速比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D94A65F-57BA-4E9C-9742-66BDB46360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332185"/>
                <a:ext cx="2769733" cy="860107"/>
              </a:xfrm>
              <a:prstGeom prst="rect">
                <a:avLst/>
              </a:prstGeom>
              <a:blipFill>
                <a:blip r:embed="rId3"/>
                <a:stretch>
                  <a:fillRect l="-4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C244BE0-149B-4522-ACAB-35D111DAEC7E}"/>
              </a:ext>
            </a:extLst>
          </p:cNvPr>
          <p:cNvSpPr txBox="1"/>
          <p:nvPr/>
        </p:nvSpPr>
        <p:spPr bwMode="auto">
          <a:xfrm>
            <a:off x="6841723" y="44450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789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1"/>
            <a:ext cx="8507288" cy="17282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</a:p>
          <a:p>
            <a:pPr marL="0" indent="0">
              <a:buNone/>
            </a:pPr>
            <a:r>
              <a:rPr lang="en-US" altLang="zh-CN" sz="2400"/>
              <a:t>(1) </a:t>
            </a:r>
            <a:r>
              <a:rPr lang="zh-CN" altLang="en-US" sz="2400"/>
              <a:t>说明主存地址如何划分。（</a:t>
            </a:r>
            <a:r>
              <a:rPr lang="en-US" altLang="zh-CN" sz="2400"/>
              <a:t>Tag</a:t>
            </a:r>
            <a:r>
              <a:rPr lang="zh-CN" altLang="en-US" sz="2400"/>
              <a:t>、</a:t>
            </a:r>
            <a:r>
              <a:rPr lang="en-US" altLang="zh-CN" sz="2400"/>
              <a:t>Index</a:t>
            </a:r>
            <a:r>
              <a:rPr lang="zh-CN" altLang="en-US" sz="2400"/>
              <a:t>、块内地址）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BD0BD-D38F-45A2-A1D3-3CBF04C6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5D7E93-7EB8-4D5F-B94C-CBBD48D7E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09567"/>
              </p:ext>
            </p:extLst>
          </p:nvPr>
        </p:nvGraphicFramePr>
        <p:xfrm>
          <a:off x="1547664" y="2401167"/>
          <a:ext cx="518457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414636687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85441442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9679428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922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Index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11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4952"/>
                  </a:ext>
                </a:extLst>
              </a:tr>
            </a:tbl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F1E6151-C0CF-4D98-A719-9EE8F0606F40}"/>
              </a:ext>
            </a:extLst>
          </p:cNvPr>
          <p:cNvCxnSpPr/>
          <p:nvPr/>
        </p:nvCxnSpPr>
        <p:spPr>
          <a:xfrm>
            <a:off x="1547664" y="3861048"/>
            <a:ext cx="0" cy="79208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994834-1E56-4FC2-BE9A-35F16703DB15}"/>
              </a:ext>
            </a:extLst>
          </p:cNvPr>
          <p:cNvCxnSpPr/>
          <p:nvPr/>
        </p:nvCxnSpPr>
        <p:spPr>
          <a:xfrm>
            <a:off x="6732240" y="3861048"/>
            <a:ext cx="0" cy="79208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CA477E-D1E8-4951-B301-586B5650C823}"/>
              </a:ext>
            </a:extLst>
          </p:cNvPr>
          <p:cNvCxnSpPr>
            <a:cxnSpLocks/>
          </p:cNvCxnSpPr>
          <p:nvPr/>
        </p:nvCxnSpPr>
        <p:spPr>
          <a:xfrm>
            <a:off x="4427984" y="3861048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432737-7E31-41AA-8653-6B71701C4128}"/>
              </a:ext>
            </a:extLst>
          </p:cNvPr>
          <p:cNvCxnSpPr>
            <a:cxnSpLocks/>
          </p:cNvCxnSpPr>
          <p:nvPr/>
        </p:nvCxnSpPr>
        <p:spPr>
          <a:xfrm>
            <a:off x="3419872" y="3861048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FA8AB6-3D90-4B10-B358-BC6D40C5BBFB}"/>
              </a:ext>
            </a:extLst>
          </p:cNvPr>
          <p:cNvCxnSpPr>
            <a:cxnSpLocks/>
          </p:cNvCxnSpPr>
          <p:nvPr/>
        </p:nvCxnSpPr>
        <p:spPr>
          <a:xfrm>
            <a:off x="1547664" y="4077072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E32B51-5C3B-49D0-A314-BCEE1CE2718F}"/>
              </a:ext>
            </a:extLst>
          </p:cNvPr>
          <p:cNvCxnSpPr>
            <a:cxnSpLocks/>
          </p:cNvCxnSpPr>
          <p:nvPr/>
        </p:nvCxnSpPr>
        <p:spPr>
          <a:xfrm>
            <a:off x="3419872" y="4077072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AE9C899-F08B-45AC-A76F-CDD45C53997C}"/>
              </a:ext>
            </a:extLst>
          </p:cNvPr>
          <p:cNvCxnSpPr>
            <a:cxnSpLocks/>
          </p:cNvCxnSpPr>
          <p:nvPr/>
        </p:nvCxnSpPr>
        <p:spPr>
          <a:xfrm>
            <a:off x="4427984" y="4077072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2DBBBB7-D800-4324-9D4F-B79ED0C4B1CF}"/>
              </a:ext>
            </a:extLst>
          </p:cNvPr>
          <p:cNvCxnSpPr>
            <a:cxnSpLocks/>
          </p:cNvCxnSpPr>
          <p:nvPr/>
        </p:nvCxnSpPr>
        <p:spPr>
          <a:xfrm>
            <a:off x="1547664" y="4509120"/>
            <a:ext cx="518457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44AF8EFB-52E3-4F7B-85DD-476DFAE5FB53}"/>
              </a:ext>
            </a:extLst>
          </p:cNvPr>
          <p:cNvSpPr/>
          <p:nvPr/>
        </p:nvSpPr>
        <p:spPr>
          <a:xfrm>
            <a:off x="2342958" y="3861048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B53094-F59B-4BC6-95A8-A86A68CE1F9E}"/>
              </a:ext>
            </a:extLst>
          </p:cNvPr>
          <p:cNvSpPr/>
          <p:nvPr/>
        </p:nvSpPr>
        <p:spPr>
          <a:xfrm>
            <a:off x="3783118" y="3861048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8BB482-0F62-46E3-A20C-ADF64C3F67A2}"/>
              </a:ext>
            </a:extLst>
          </p:cNvPr>
          <p:cNvSpPr/>
          <p:nvPr/>
        </p:nvSpPr>
        <p:spPr>
          <a:xfrm>
            <a:off x="5305423" y="3861048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327E2C-6CE1-40DB-AC88-54DCFEDE8500}"/>
              </a:ext>
            </a:extLst>
          </p:cNvPr>
          <p:cNvSpPr/>
          <p:nvPr/>
        </p:nvSpPr>
        <p:spPr>
          <a:xfrm>
            <a:off x="3937271" y="429309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20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885725-7570-48F1-B191-AD3921AE9CB4}"/>
              </a:ext>
            </a:extLst>
          </p:cNvPr>
          <p:cNvSpPr/>
          <p:nvPr/>
        </p:nvSpPr>
        <p:spPr>
          <a:xfrm>
            <a:off x="747969" y="5214433"/>
            <a:ext cx="2242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>
                <a:solidFill>
                  <a:srgbClr val="0000FF"/>
                </a:solidFill>
              </a:rPr>
              <a:t>总容量：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07175A-38DC-4E05-87C8-007C075EE739}"/>
              </a:ext>
            </a:extLst>
          </p:cNvPr>
          <p:cNvSpPr/>
          <p:nvPr/>
        </p:nvSpPr>
        <p:spPr>
          <a:xfrm>
            <a:off x="2852398" y="5214433"/>
            <a:ext cx="4023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en-US" altLang="zh-CN" sz="2400">
                <a:solidFill>
                  <a:srgbClr val="0000FF"/>
                </a:solidFill>
              </a:rPr>
              <a:t>×2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en-US" altLang="zh-CN" sz="2400">
                <a:solidFill>
                  <a:srgbClr val="0000FF"/>
                </a:solidFill>
              </a:rPr>
              <a:t>/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en-US" altLang="zh-CN" sz="2400">
                <a:solidFill>
                  <a:srgbClr val="0000FF"/>
                </a:solidFill>
              </a:rPr>
              <a:t>×1KB/</a:t>
            </a:r>
            <a:r>
              <a:rPr lang="zh-CN" altLang="en-US" sz="2400">
                <a:solidFill>
                  <a:srgbClr val="0000FF"/>
                </a:solidFill>
              </a:rPr>
              <a:t>块＝</a:t>
            </a:r>
            <a:r>
              <a:rPr lang="en-US" altLang="zh-CN" sz="2400">
                <a:solidFill>
                  <a:srgbClr val="0000FF"/>
                </a:solidFill>
              </a:rPr>
              <a:t>8KB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D5B540-071B-444B-9292-9F8E1110E63D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3441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507288" cy="208830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</a:p>
          <a:p>
            <a:pPr marL="0" indent="0">
              <a:buNone/>
            </a:pPr>
            <a:r>
              <a:rPr lang="en-US" altLang="zh-CN" sz="2400"/>
              <a:t>(2) </a:t>
            </a:r>
            <a:r>
              <a:rPr lang="zh-CN" altLang="en-US" sz="2400"/>
              <a:t>已知地址映射表如下图所示，若主存地址为 </a:t>
            </a:r>
            <a:r>
              <a:rPr lang="en-US" altLang="zh-CN" sz="2400"/>
              <a:t>ABCDEH </a:t>
            </a:r>
            <a:r>
              <a:rPr lang="zh-CN" altLang="en-US" sz="2400"/>
              <a:t>和</a:t>
            </a:r>
            <a:r>
              <a:rPr lang="en-US" altLang="zh-CN" sz="2400"/>
              <a:t>12345H</a:t>
            </a:r>
            <a:r>
              <a:rPr lang="zh-CN" altLang="en-US" sz="2400"/>
              <a:t>，是否命中</a:t>
            </a:r>
            <a:r>
              <a:rPr lang="en-US" altLang="zh-CN" sz="2400"/>
              <a:t>Cache</a:t>
            </a:r>
            <a:r>
              <a:rPr lang="zh-CN" altLang="en-US" sz="2400"/>
              <a:t>，确定变换后的高速缓存地址。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BD0BD-D38F-45A2-A1D3-3CBF04C6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5D7E93-7EB8-4D5F-B94C-CBBD48D7E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65788"/>
              </p:ext>
            </p:extLst>
          </p:nvPr>
        </p:nvGraphicFramePr>
        <p:xfrm>
          <a:off x="3635896" y="4679210"/>
          <a:ext cx="51845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414636687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85441442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9679428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922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4952"/>
                  </a:ext>
                </a:extLst>
              </a:tr>
            </a:tbl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F1E6151-C0CF-4D98-A719-9EE8F0606F40}"/>
              </a:ext>
            </a:extLst>
          </p:cNvPr>
          <p:cNvCxnSpPr>
            <a:cxnSpLocks/>
          </p:cNvCxnSpPr>
          <p:nvPr/>
        </p:nvCxnSpPr>
        <p:spPr>
          <a:xfrm>
            <a:off x="363589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994834-1E56-4FC2-BE9A-35F16703DB15}"/>
              </a:ext>
            </a:extLst>
          </p:cNvPr>
          <p:cNvCxnSpPr>
            <a:cxnSpLocks/>
          </p:cNvCxnSpPr>
          <p:nvPr/>
        </p:nvCxnSpPr>
        <p:spPr>
          <a:xfrm>
            <a:off x="8820472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CA477E-D1E8-4951-B301-586B5650C823}"/>
              </a:ext>
            </a:extLst>
          </p:cNvPr>
          <p:cNvCxnSpPr>
            <a:cxnSpLocks/>
          </p:cNvCxnSpPr>
          <p:nvPr/>
        </p:nvCxnSpPr>
        <p:spPr>
          <a:xfrm>
            <a:off x="651621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432737-7E31-41AA-8653-6B71701C4128}"/>
              </a:ext>
            </a:extLst>
          </p:cNvPr>
          <p:cNvCxnSpPr>
            <a:cxnSpLocks/>
          </p:cNvCxnSpPr>
          <p:nvPr/>
        </p:nvCxnSpPr>
        <p:spPr>
          <a:xfrm>
            <a:off x="5508104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FA8AB6-3D90-4B10-B358-BC6D40C5BBFB}"/>
              </a:ext>
            </a:extLst>
          </p:cNvPr>
          <p:cNvCxnSpPr>
            <a:cxnSpLocks/>
          </p:cNvCxnSpPr>
          <p:nvPr/>
        </p:nvCxnSpPr>
        <p:spPr>
          <a:xfrm>
            <a:off x="3635896" y="5893450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E32B51-5C3B-49D0-A314-BCEE1CE2718F}"/>
              </a:ext>
            </a:extLst>
          </p:cNvPr>
          <p:cNvCxnSpPr>
            <a:cxnSpLocks/>
          </p:cNvCxnSpPr>
          <p:nvPr/>
        </p:nvCxnSpPr>
        <p:spPr>
          <a:xfrm>
            <a:off x="5508104" y="5893450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AE9C899-F08B-45AC-A76F-CDD45C53997C}"/>
              </a:ext>
            </a:extLst>
          </p:cNvPr>
          <p:cNvCxnSpPr>
            <a:cxnSpLocks/>
          </p:cNvCxnSpPr>
          <p:nvPr/>
        </p:nvCxnSpPr>
        <p:spPr>
          <a:xfrm>
            <a:off x="6516216" y="5893450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44AF8EFB-52E3-4F7B-85DD-476DFAE5FB53}"/>
              </a:ext>
            </a:extLst>
          </p:cNvPr>
          <p:cNvSpPr/>
          <p:nvPr/>
        </p:nvSpPr>
        <p:spPr>
          <a:xfrm>
            <a:off x="443119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B53094-F59B-4BC6-95A8-A86A68CE1F9E}"/>
              </a:ext>
            </a:extLst>
          </p:cNvPr>
          <p:cNvSpPr/>
          <p:nvPr/>
        </p:nvSpPr>
        <p:spPr>
          <a:xfrm>
            <a:off x="587135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8BB482-0F62-46E3-A20C-ADF64C3F67A2}"/>
              </a:ext>
            </a:extLst>
          </p:cNvPr>
          <p:cNvSpPr/>
          <p:nvPr/>
        </p:nvSpPr>
        <p:spPr>
          <a:xfrm>
            <a:off x="7393655" y="567742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2A3CF4-038B-4620-B5A2-EFBD3BE7F44D}"/>
              </a:ext>
            </a:extLst>
          </p:cNvPr>
          <p:cNvSpPr/>
          <p:nvPr/>
        </p:nvSpPr>
        <p:spPr>
          <a:xfrm>
            <a:off x="5243085" y="5189175"/>
            <a:ext cx="1538150" cy="864096"/>
          </a:xfrm>
          <a:prstGeom prst="rect">
            <a:avLst/>
          </a:prstGeom>
          <a:solidFill>
            <a:srgbClr val="FFFF99"/>
          </a:solidFill>
          <a:effectLst>
            <a:softEdge rad="317500"/>
          </a:effectLst>
        </p:spPr>
        <p:txBody>
          <a:bodyPr wrap="none" anchor="ctr" anchorCtr="0">
            <a:noAutofit/>
          </a:bodyPr>
          <a:lstStyle/>
          <a:p>
            <a:r>
              <a:rPr lang="en-US" altLang="zh-CN" sz="2400">
                <a:solidFill>
                  <a:srgbClr val="CC0066"/>
                </a:solidFill>
                <a:latin typeface="Times New Roman"/>
                <a:ea typeface="宋体"/>
              </a:rPr>
              <a:t>Index</a:t>
            </a:r>
            <a:endParaRPr lang="zh-CN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78773E1-4901-4EC8-9C09-84BCD5B96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701222"/>
              </p:ext>
            </p:extLst>
          </p:nvPr>
        </p:nvGraphicFramePr>
        <p:xfrm>
          <a:off x="3317279" y="2914954"/>
          <a:ext cx="5535501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504337">
                  <a:extLst>
                    <a:ext uri="{9D8B030D-6E8A-4147-A177-3AD203B41FA5}">
                      <a16:colId xmlns:a16="http://schemas.microsoft.com/office/drawing/2014/main" val="2150245683"/>
                    </a:ext>
                  </a:extLst>
                </a:gridCol>
                <a:gridCol w="791872">
                  <a:extLst>
                    <a:ext uri="{9D8B030D-6E8A-4147-A177-3AD203B41FA5}">
                      <a16:colId xmlns:a16="http://schemas.microsoft.com/office/drawing/2014/main" val="1839202658"/>
                    </a:ext>
                  </a:extLst>
                </a:gridCol>
                <a:gridCol w="120385">
                  <a:extLst>
                    <a:ext uri="{9D8B030D-6E8A-4147-A177-3AD203B41FA5}">
                      <a16:colId xmlns:a16="http://schemas.microsoft.com/office/drawing/2014/main" val="600466493"/>
                    </a:ext>
                  </a:extLst>
                </a:gridCol>
                <a:gridCol w="485054">
                  <a:extLst>
                    <a:ext uri="{9D8B030D-6E8A-4147-A177-3AD203B41FA5}">
                      <a16:colId xmlns:a16="http://schemas.microsoft.com/office/drawing/2014/main" val="3518030131"/>
                    </a:ext>
                  </a:extLst>
                </a:gridCol>
                <a:gridCol w="762713">
                  <a:extLst>
                    <a:ext uri="{9D8B030D-6E8A-4147-A177-3AD203B41FA5}">
                      <a16:colId xmlns:a16="http://schemas.microsoft.com/office/drawing/2014/main" val="2565555827"/>
                    </a:ext>
                  </a:extLst>
                </a:gridCol>
                <a:gridCol w="116169">
                  <a:extLst>
                    <a:ext uri="{9D8B030D-6E8A-4147-A177-3AD203B41FA5}">
                      <a16:colId xmlns:a16="http://schemas.microsoft.com/office/drawing/2014/main" val="1589259212"/>
                    </a:ext>
                  </a:extLst>
                </a:gridCol>
                <a:gridCol w="506562">
                  <a:extLst>
                    <a:ext uri="{9D8B030D-6E8A-4147-A177-3AD203B41FA5}">
                      <a16:colId xmlns:a16="http://schemas.microsoft.com/office/drawing/2014/main" val="667498027"/>
                    </a:ext>
                  </a:extLst>
                </a:gridCol>
                <a:gridCol w="817429">
                  <a:extLst>
                    <a:ext uri="{9D8B030D-6E8A-4147-A177-3AD203B41FA5}">
                      <a16:colId xmlns:a16="http://schemas.microsoft.com/office/drawing/2014/main" val="1728811207"/>
                    </a:ext>
                  </a:extLst>
                </a:gridCol>
                <a:gridCol w="120046">
                  <a:extLst>
                    <a:ext uri="{9D8B030D-6E8A-4147-A177-3AD203B41FA5}">
                      <a16:colId xmlns:a16="http://schemas.microsoft.com/office/drawing/2014/main" val="3136885458"/>
                    </a:ext>
                  </a:extLst>
                </a:gridCol>
                <a:gridCol w="506562">
                  <a:extLst>
                    <a:ext uri="{9D8B030D-6E8A-4147-A177-3AD203B41FA5}">
                      <a16:colId xmlns:a16="http://schemas.microsoft.com/office/drawing/2014/main" val="4231461541"/>
                    </a:ext>
                  </a:extLst>
                </a:gridCol>
                <a:gridCol w="804372">
                  <a:extLst>
                    <a:ext uri="{9D8B030D-6E8A-4147-A177-3AD203B41FA5}">
                      <a16:colId xmlns:a16="http://schemas.microsoft.com/office/drawing/2014/main" val="150726575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30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058H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112H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84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188H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754745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9430CCB8-DEA9-4DB4-9686-D2C9A595964D}"/>
              </a:ext>
            </a:extLst>
          </p:cNvPr>
          <p:cNvSpPr/>
          <p:nvPr/>
        </p:nvSpPr>
        <p:spPr>
          <a:xfrm rot="5400000">
            <a:off x="3014608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9ED089-3712-4A72-A294-F88241F0A56A}"/>
              </a:ext>
            </a:extLst>
          </p:cNvPr>
          <p:cNvSpPr/>
          <p:nvPr/>
        </p:nvSpPr>
        <p:spPr>
          <a:xfrm rot="5400000">
            <a:off x="4420811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BA278D-D8FE-48CB-AA7E-3C3A6710695D}"/>
              </a:ext>
            </a:extLst>
          </p:cNvPr>
          <p:cNvSpPr/>
          <p:nvPr/>
        </p:nvSpPr>
        <p:spPr>
          <a:xfrm rot="5400000">
            <a:off x="5808787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5EA8BA-4C65-427B-AA76-B4817E7DAC22}"/>
              </a:ext>
            </a:extLst>
          </p:cNvPr>
          <p:cNvSpPr/>
          <p:nvPr/>
        </p:nvSpPr>
        <p:spPr>
          <a:xfrm rot="5400000">
            <a:off x="7238140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0A44BA-C436-4435-B8F4-5FAFCE444C2C}"/>
              </a:ext>
            </a:extLst>
          </p:cNvPr>
          <p:cNvSpPr/>
          <p:nvPr/>
        </p:nvSpPr>
        <p:spPr>
          <a:xfrm>
            <a:off x="108128" y="4519390"/>
            <a:ext cx="3485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highlight>
                  <a:srgbClr val="FFCCCC"/>
                </a:highlight>
              </a:rPr>
              <a:t>1010 1011 1</a:t>
            </a:r>
            <a:r>
              <a:rPr lang="en-US" altLang="zh-CN" sz="2400">
                <a:highlight>
                  <a:srgbClr val="CCFFCC"/>
                </a:highlight>
              </a:rPr>
              <a:t>1</a:t>
            </a:r>
            <a:r>
              <a:rPr lang="en-US" altLang="zh-CN" sz="2400">
                <a:highlight>
                  <a:srgbClr val="FFFF00"/>
                </a:highlight>
              </a:rPr>
              <a:t>00 1101 1110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069BAAB-49C3-4497-ABCC-9FE5B30C4A17}"/>
              </a:ext>
            </a:extLst>
          </p:cNvPr>
          <p:cNvSpPr/>
          <p:nvPr/>
        </p:nvSpPr>
        <p:spPr>
          <a:xfrm>
            <a:off x="108128" y="4518644"/>
            <a:ext cx="3485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/>
              <a:t>1010 1011 1100 1101 1110</a:t>
            </a:r>
            <a:endParaRPr lang="zh-CN" altLang="en-US" sz="24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874174C-8B4F-4D37-9B5C-056F010B329A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9656" y="4941168"/>
            <a:ext cx="63202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775D57B-7DC4-4F27-BCD9-A57803FA4A5C}"/>
              </a:ext>
            </a:extLst>
          </p:cNvPr>
          <p:cNvCxnSpPr>
            <a:cxnSpLocks/>
          </p:cNvCxnSpPr>
          <p:nvPr/>
        </p:nvCxnSpPr>
        <p:spPr bwMode="auto">
          <a:xfrm flipH="1">
            <a:off x="364583" y="4941168"/>
            <a:ext cx="64807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82031AC5-DD8C-48E2-BD99-12740B80D74C}"/>
              </a:ext>
            </a:extLst>
          </p:cNvPr>
          <p:cNvSpPr/>
          <p:nvPr/>
        </p:nvSpPr>
        <p:spPr>
          <a:xfrm>
            <a:off x="108128" y="494042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1   5       7 H</a:t>
            </a:r>
            <a:endParaRPr lang="zh-CN" altLang="en-US" sz="2400">
              <a:solidFill>
                <a:srgbClr val="0000FF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092131B-5E1A-4355-8DE6-415B39C0A83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63688" y="4221088"/>
            <a:ext cx="0" cy="36004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2654E36-F718-465E-B4C0-74E2FDE44737}"/>
              </a:ext>
            </a:extLst>
          </p:cNvPr>
          <p:cNvCxnSpPr>
            <a:cxnSpLocks/>
          </p:cNvCxnSpPr>
          <p:nvPr/>
        </p:nvCxnSpPr>
        <p:spPr bwMode="auto">
          <a:xfrm>
            <a:off x="1763688" y="4221088"/>
            <a:ext cx="1512168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0F2076A1-55CB-474D-B8B0-864E3245B9D5}"/>
              </a:ext>
            </a:extLst>
          </p:cNvPr>
          <p:cNvSpPr/>
          <p:nvPr/>
        </p:nvSpPr>
        <p:spPr bwMode="auto">
          <a:xfrm>
            <a:off x="3317279" y="4005064"/>
            <a:ext cx="5535495" cy="372925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8ED5A2-6C29-49F6-A141-ED8BBAD550DB}"/>
              </a:ext>
            </a:extLst>
          </p:cNvPr>
          <p:cNvSpPr/>
          <p:nvPr/>
        </p:nvSpPr>
        <p:spPr>
          <a:xfrm>
            <a:off x="108128" y="3672503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主存地址：</a:t>
            </a:r>
            <a:r>
              <a:rPr lang="en-US" altLang="zh-CN" sz="2400"/>
              <a:t>ABCDEH</a:t>
            </a:r>
            <a:endParaRPr lang="zh-CN" altLang="en-US" sz="240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B4D920F-21E4-4DAF-B083-84EFC15612FB}"/>
              </a:ext>
            </a:extLst>
          </p:cNvPr>
          <p:cNvSpPr/>
          <p:nvPr/>
        </p:nvSpPr>
        <p:spPr bwMode="auto">
          <a:xfrm>
            <a:off x="6572250" y="4004788"/>
            <a:ext cx="881064" cy="372925"/>
          </a:xfrm>
          <a:prstGeom prst="rect">
            <a:avLst/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B88A28F-E2EA-4A20-A678-13718A78233E}"/>
              </a:ext>
            </a:extLst>
          </p:cNvPr>
          <p:cNvSpPr/>
          <p:nvPr/>
        </p:nvSpPr>
        <p:spPr>
          <a:xfrm>
            <a:off x="112919" y="5318691"/>
            <a:ext cx="30444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命中 第</a:t>
            </a: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/>
              <a:t>路、第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/>
              <a:t>块、</a:t>
            </a:r>
            <a:br>
              <a:rPr lang="en-US" altLang="zh-CN" sz="2400"/>
            </a:br>
            <a:r>
              <a:rPr lang="en-US" altLang="zh-CN" sz="2400"/>
              <a:t>         </a:t>
            </a:r>
            <a:r>
              <a:rPr lang="zh-CN" altLang="en-US" sz="2400"/>
              <a:t>第</a:t>
            </a:r>
            <a:r>
              <a:rPr lang="en-US" altLang="zh-CN" sz="2400">
                <a:solidFill>
                  <a:srgbClr val="FF0000"/>
                </a:solidFill>
              </a:rPr>
              <a:t>0DEH</a:t>
            </a:r>
            <a:r>
              <a:rPr lang="zh-CN" altLang="en-US" sz="2400"/>
              <a:t>字节。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EA9D411-A9AF-4F9D-91F3-BF79D70C8D6D}"/>
              </a:ext>
            </a:extLst>
          </p:cNvPr>
          <p:cNvSpPr/>
          <p:nvPr/>
        </p:nvSpPr>
        <p:spPr>
          <a:xfrm>
            <a:off x="112919" y="608116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路内地址：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50BE392-A6DB-4969-8127-807BEF00660A}"/>
              </a:ext>
            </a:extLst>
          </p:cNvPr>
          <p:cNvSpPr/>
          <p:nvPr/>
        </p:nvSpPr>
        <p:spPr>
          <a:xfrm>
            <a:off x="1622381" y="6081162"/>
            <a:ext cx="1005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8000"/>
                </a:solidFill>
              </a:rPr>
              <a:t>4DEH</a:t>
            </a:r>
            <a:endParaRPr lang="zh-CN" altLang="en-US" sz="2400">
              <a:solidFill>
                <a:srgbClr val="008000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AA1C59-90F1-48D9-A84A-720085266FB6}"/>
              </a:ext>
            </a:extLst>
          </p:cNvPr>
          <p:cNvSpPr/>
          <p:nvPr/>
        </p:nvSpPr>
        <p:spPr bwMode="auto">
          <a:xfrm>
            <a:off x="1693006" y="4525504"/>
            <a:ext cx="1786000" cy="423473"/>
          </a:xfrm>
          <a:prstGeom prst="rect">
            <a:avLst/>
          </a:pr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753BD86-E8A4-4069-8959-8CFE36152845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0398" y="4962088"/>
            <a:ext cx="0" cy="1340814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6F7EE89-6D69-4D58-8B09-0BEA2B2619B0}"/>
              </a:ext>
            </a:extLst>
          </p:cNvPr>
          <p:cNvCxnSpPr>
            <a:cxnSpLocks/>
          </p:cNvCxnSpPr>
          <p:nvPr/>
        </p:nvCxnSpPr>
        <p:spPr bwMode="auto">
          <a:xfrm flipH="1">
            <a:off x="2602264" y="6306023"/>
            <a:ext cx="478134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19897B1-B314-499E-A123-FEA403726404}"/>
              </a:ext>
            </a:extLst>
          </p:cNvPr>
          <p:cNvSpPr txBox="1"/>
          <p:nvPr/>
        </p:nvSpPr>
        <p:spPr bwMode="auto">
          <a:xfrm>
            <a:off x="251520" y="2750499"/>
            <a:ext cx="2547740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地址映射表容量：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C9AE896-ECE7-4C12-A3A8-F8B1CAF3F69F}"/>
              </a:ext>
            </a:extLst>
          </p:cNvPr>
          <p:cNvSpPr txBox="1"/>
          <p:nvPr/>
        </p:nvSpPr>
        <p:spPr bwMode="auto">
          <a:xfrm>
            <a:off x="251520" y="3153966"/>
            <a:ext cx="1948217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rgbClr val="C00000"/>
                </a:solidFill>
              </a:rPr>
              <a:t>9+1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C00000"/>
                </a:solidFill>
              </a:rPr>
              <a:t>位</a:t>
            </a:r>
            <a:r>
              <a:rPr lang="en-US" altLang="zh-CN" sz="2400">
                <a:solidFill>
                  <a:srgbClr val="C00000"/>
                </a:solidFill>
              </a:rPr>
              <a:t>×8</a:t>
            </a:r>
            <a:r>
              <a:rPr lang="zh-CN" altLang="en-US" sz="2400">
                <a:solidFill>
                  <a:srgbClr val="C00000"/>
                </a:solidFill>
              </a:rPr>
              <a:t>行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486404B-1783-4803-9B81-4554514CDBE0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01919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44" grpId="0" animBg="1"/>
      <p:bldP spid="50" grpId="0" animBg="1"/>
      <p:bldP spid="51" grpId="0"/>
      <p:bldP spid="52" grpId="0"/>
      <p:bldP spid="53" grpId="0"/>
      <p:bldP spid="54" grpId="0" animBg="1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507288" cy="208830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</a:p>
          <a:p>
            <a:pPr marL="0" indent="0">
              <a:buNone/>
            </a:pPr>
            <a:r>
              <a:rPr lang="en-US" altLang="zh-CN" sz="2400"/>
              <a:t>(2) </a:t>
            </a:r>
            <a:r>
              <a:rPr lang="zh-CN" altLang="en-US" sz="2400"/>
              <a:t>已知地址映射表如下图所示，若主存地址为 </a:t>
            </a:r>
            <a:r>
              <a:rPr lang="en-US" altLang="zh-CN" sz="2400"/>
              <a:t>ABCDEH </a:t>
            </a:r>
            <a:r>
              <a:rPr lang="zh-CN" altLang="en-US" sz="2400"/>
              <a:t>和</a:t>
            </a:r>
            <a:r>
              <a:rPr lang="en-US" altLang="zh-CN" sz="2400"/>
              <a:t>12345H</a:t>
            </a:r>
            <a:r>
              <a:rPr lang="zh-CN" altLang="en-US" sz="2400"/>
              <a:t>，是否命中</a:t>
            </a:r>
            <a:r>
              <a:rPr lang="en-US" altLang="zh-CN" sz="2400"/>
              <a:t>Cache</a:t>
            </a:r>
            <a:r>
              <a:rPr lang="zh-CN" altLang="en-US" sz="2400"/>
              <a:t>，确定变换后的高速缓存地址。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BD0BD-D38F-45A2-A1D3-3CBF04C6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5D7E93-7EB8-4D5F-B94C-CBBD48D7E1B2}"/>
              </a:ext>
            </a:extLst>
          </p:cNvPr>
          <p:cNvGraphicFramePr>
            <a:graphicFrameLocks noGrp="1"/>
          </p:cNvGraphicFramePr>
          <p:nvPr/>
        </p:nvGraphicFramePr>
        <p:xfrm>
          <a:off x="3635896" y="4679210"/>
          <a:ext cx="51845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414636687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85441442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9679428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922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4952"/>
                  </a:ext>
                </a:extLst>
              </a:tr>
            </a:tbl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F1E6151-C0CF-4D98-A719-9EE8F0606F40}"/>
              </a:ext>
            </a:extLst>
          </p:cNvPr>
          <p:cNvCxnSpPr>
            <a:cxnSpLocks/>
          </p:cNvCxnSpPr>
          <p:nvPr/>
        </p:nvCxnSpPr>
        <p:spPr>
          <a:xfrm>
            <a:off x="363589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994834-1E56-4FC2-BE9A-35F16703DB15}"/>
              </a:ext>
            </a:extLst>
          </p:cNvPr>
          <p:cNvCxnSpPr>
            <a:cxnSpLocks/>
          </p:cNvCxnSpPr>
          <p:nvPr/>
        </p:nvCxnSpPr>
        <p:spPr>
          <a:xfrm>
            <a:off x="8820472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CA477E-D1E8-4951-B301-586B5650C823}"/>
              </a:ext>
            </a:extLst>
          </p:cNvPr>
          <p:cNvCxnSpPr>
            <a:cxnSpLocks/>
          </p:cNvCxnSpPr>
          <p:nvPr/>
        </p:nvCxnSpPr>
        <p:spPr>
          <a:xfrm>
            <a:off x="651621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432737-7E31-41AA-8653-6B71701C4128}"/>
              </a:ext>
            </a:extLst>
          </p:cNvPr>
          <p:cNvCxnSpPr>
            <a:cxnSpLocks/>
          </p:cNvCxnSpPr>
          <p:nvPr/>
        </p:nvCxnSpPr>
        <p:spPr>
          <a:xfrm>
            <a:off x="5508104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FA8AB6-3D90-4B10-B358-BC6D40C5BBFB}"/>
              </a:ext>
            </a:extLst>
          </p:cNvPr>
          <p:cNvCxnSpPr>
            <a:cxnSpLocks/>
          </p:cNvCxnSpPr>
          <p:nvPr/>
        </p:nvCxnSpPr>
        <p:spPr>
          <a:xfrm>
            <a:off x="3635896" y="5893450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E32B51-5C3B-49D0-A314-BCEE1CE2718F}"/>
              </a:ext>
            </a:extLst>
          </p:cNvPr>
          <p:cNvCxnSpPr>
            <a:cxnSpLocks/>
          </p:cNvCxnSpPr>
          <p:nvPr/>
        </p:nvCxnSpPr>
        <p:spPr>
          <a:xfrm>
            <a:off x="5508104" y="5893450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AE9C899-F08B-45AC-A76F-CDD45C53997C}"/>
              </a:ext>
            </a:extLst>
          </p:cNvPr>
          <p:cNvCxnSpPr>
            <a:cxnSpLocks/>
          </p:cNvCxnSpPr>
          <p:nvPr/>
        </p:nvCxnSpPr>
        <p:spPr>
          <a:xfrm>
            <a:off x="6516216" y="5893450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44AF8EFB-52E3-4F7B-85DD-476DFAE5FB53}"/>
              </a:ext>
            </a:extLst>
          </p:cNvPr>
          <p:cNvSpPr/>
          <p:nvPr/>
        </p:nvSpPr>
        <p:spPr>
          <a:xfrm>
            <a:off x="443119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B53094-F59B-4BC6-95A8-A86A68CE1F9E}"/>
              </a:ext>
            </a:extLst>
          </p:cNvPr>
          <p:cNvSpPr/>
          <p:nvPr/>
        </p:nvSpPr>
        <p:spPr>
          <a:xfrm>
            <a:off x="587135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8BB482-0F62-46E3-A20C-ADF64C3F67A2}"/>
              </a:ext>
            </a:extLst>
          </p:cNvPr>
          <p:cNvSpPr/>
          <p:nvPr/>
        </p:nvSpPr>
        <p:spPr>
          <a:xfrm>
            <a:off x="7393655" y="567742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2A3CF4-038B-4620-B5A2-EFBD3BE7F44D}"/>
              </a:ext>
            </a:extLst>
          </p:cNvPr>
          <p:cNvSpPr/>
          <p:nvPr/>
        </p:nvSpPr>
        <p:spPr>
          <a:xfrm>
            <a:off x="5243085" y="5189175"/>
            <a:ext cx="1538150" cy="864096"/>
          </a:xfrm>
          <a:prstGeom prst="rect">
            <a:avLst/>
          </a:prstGeom>
          <a:solidFill>
            <a:srgbClr val="FFFF99"/>
          </a:solidFill>
          <a:effectLst>
            <a:softEdge rad="317500"/>
          </a:effectLst>
        </p:spPr>
        <p:txBody>
          <a:bodyPr wrap="none" anchor="ctr" anchorCtr="0">
            <a:noAutofit/>
          </a:bodyPr>
          <a:lstStyle/>
          <a:p>
            <a:r>
              <a:rPr lang="en-US" altLang="zh-CN" sz="2400">
                <a:solidFill>
                  <a:srgbClr val="CC0066"/>
                </a:solidFill>
                <a:latin typeface="Times New Roman"/>
                <a:ea typeface="宋体"/>
              </a:rPr>
              <a:t>Index</a:t>
            </a:r>
            <a:endParaRPr lang="zh-CN" altLang="en-US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178773E1-4901-4EC8-9C09-84BCD5B96A9E}"/>
              </a:ext>
            </a:extLst>
          </p:cNvPr>
          <p:cNvGraphicFramePr>
            <a:graphicFrameLocks noGrp="1"/>
          </p:cNvGraphicFramePr>
          <p:nvPr/>
        </p:nvGraphicFramePr>
        <p:xfrm>
          <a:off x="3317279" y="2914954"/>
          <a:ext cx="5535501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504337">
                  <a:extLst>
                    <a:ext uri="{9D8B030D-6E8A-4147-A177-3AD203B41FA5}">
                      <a16:colId xmlns:a16="http://schemas.microsoft.com/office/drawing/2014/main" val="2150245683"/>
                    </a:ext>
                  </a:extLst>
                </a:gridCol>
                <a:gridCol w="791872">
                  <a:extLst>
                    <a:ext uri="{9D8B030D-6E8A-4147-A177-3AD203B41FA5}">
                      <a16:colId xmlns:a16="http://schemas.microsoft.com/office/drawing/2014/main" val="1839202658"/>
                    </a:ext>
                  </a:extLst>
                </a:gridCol>
                <a:gridCol w="120385">
                  <a:extLst>
                    <a:ext uri="{9D8B030D-6E8A-4147-A177-3AD203B41FA5}">
                      <a16:colId xmlns:a16="http://schemas.microsoft.com/office/drawing/2014/main" val="600466493"/>
                    </a:ext>
                  </a:extLst>
                </a:gridCol>
                <a:gridCol w="485054">
                  <a:extLst>
                    <a:ext uri="{9D8B030D-6E8A-4147-A177-3AD203B41FA5}">
                      <a16:colId xmlns:a16="http://schemas.microsoft.com/office/drawing/2014/main" val="3518030131"/>
                    </a:ext>
                  </a:extLst>
                </a:gridCol>
                <a:gridCol w="762713">
                  <a:extLst>
                    <a:ext uri="{9D8B030D-6E8A-4147-A177-3AD203B41FA5}">
                      <a16:colId xmlns:a16="http://schemas.microsoft.com/office/drawing/2014/main" val="2565555827"/>
                    </a:ext>
                  </a:extLst>
                </a:gridCol>
                <a:gridCol w="116169">
                  <a:extLst>
                    <a:ext uri="{9D8B030D-6E8A-4147-A177-3AD203B41FA5}">
                      <a16:colId xmlns:a16="http://schemas.microsoft.com/office/drawing/2014/main" val="1589259212"/>
                    </a:ext>
                  </a:extLst>
                </a:gridCol>
                <a:gridCol w="506562">
                  <a:extLst>
                    <a:ext uri="{9D8B030D-6E8A-4147-A177-3AD203B41FA5}">
                      <a16:colId xmlns:a16="http://schemas.microsoft.com/office/drawing/2014/main" val="667498027"/>
                    </a:ext>
                  </a:extLst>
                </a:gridCol>
                <a:gridCol w="817429">
                  <a:extLst>
                    <a:ext uri="{9D8B030D-6E8A-4147-A177-3AD203B41FA5}">
                      <a16:colId xmlns:a16="http://schemas.microsoft.com/office/drawing/2014/main" val="1728811207"/>
                    </a:ext>
                  </a:extLst>
                </a:gridCol>
                <a:gridCol w="120046">
                  <a:extLst>
                    <a:ext uri="{9D8B030D-6E8A-4147-A177-3AD203B41FA5}">
                      <a16:colId xmlns:a16="http://schemas.microsoft.com/office/drawing/2014/main" val="3136885458"/>
                    </a:ext>
                  </a:extLst>
                </a:gridCol>
                <a:gridCol w="506562">
                  <a:extLst>
                    <a:ext uri="{9D8B030D-6E8A-4147-A177-3AD203B41FA5}">
                      <a16:colId xmlns:a16="http://schemas.microsoft.com/office/drawing/2014/main" val="4231461541"/>
                    </a:ext>
                  </a:extLst>
                </a:gridCol>
                <a:gridCol w="804372">
                  <a:extLst>
                    <a:ext uri="{9D8B030D-6E8A-4147-A177-3AD203B41FA5}">
                      <a16:colId xmlns:a16="http://schemas.microsoft.com/office/drawing/2014/main" val="150726575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路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30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058H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112H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84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188H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754745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9430CCB8-DEA9-4DB4-9686-D2C9A595964D}"/>
              </a:ext>
            </a:extLst>
          </p:cNvPr>
          <p:cNvSpPr/>
          <p:nvPr/>
        </p:nvSpPr>
        <p:spPr>
          <a:xfrm rot="5400000">
            <a:off x="3014608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9ED089-3712-4A72-A294-F88241F0A56A}"/>
              </a:ext>
            </a:extLst>
          </p:cNvPr>
          <p:cNvSpPr/>
          <p:nvPr/>
        </p:nvSpPr>
        <p:spPr>
          <a:xfrm rot="5400000">
            <a:off x="4420811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BA278D-D8FE-48CB-AA7E-3C3A6710695D}"/>
              </a:ext>
            </a:extLst>
          </p:cNvPr>
          <p:cNvSpPr/>
          <p:nvPr/>
        </p:nvSpPr>
        <p:spPr>
          <a:xfrm rot="5400000">
            <a:off x="5808787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5EA8BA-4C65-427B-AA76-B4817E7DAC22}"/>
              </a:ext>
            </a:extLst>
          </p:cNvPr>
          <p:cNvSpPr/>
          <p:nvPr/>
        </p:nvSpPr>
        <p:spPr>
          <a:xfrm rot="5400000">
            <a:off x="7238140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0A44BA-C436-4435-B8F4-5FAFCE444C2C}"/>
              </a:ext>
            </a:extLst>
          </p:cNvPr>
          <p:cNvSpPr/>
          <p:nvPr/>
        </p:nvSpPr>
        <p:spPr>
          <a:xfrm>
            <a:off x="108128" y="4519390"/>
            <a:ext cx="3536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highlight>
                  <a:srgbClr val="FFCCCC"/>
                </a:highlight>
              </a:rPr>
              <a:t>0001 0010 0</a:t>
            </a:r>
            <a:r>
              <a:rPr lang="en-US" altLang="zh-CN" sz="2400">
                <a:highlight>
                  <a:srgbClr val="CCFFCC"/>
                </a:highlight>
              </a:rPr>
              <a:t>0</a:t>
            </a:r>
            <a:r>
              <a:rPr lang="en-US" altLang="zh-CN" sz="2400">
                <a:highlight>
                  <a:srgbClr val="FFFF00"/>
                </a:highlight>
              </a:rPr>
              <a:t>11 0100 0101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069BAAB-49C3-4497-ABCC-9FE5B30C4A17}"/>
              </a:ext>
            </a:extLst>
          </p:cNvPr>
          <p:cNvSpPr/>
          <p:nvPr/>
        </p:nvSpPr>
        <p:spPr>
          <a:xfrm>
            <a:off x="105981" y="4520560"/>
            <a:ext cx="3553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/>
              <a:t>0001 0010 0011 0100 0101</a:t>
            </a:r>
            <a:endParaRPr lang="zh-CN" altLang="en-US" sz="24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874174C-8B4F-4D37-9B5C-056F010B329A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9656" y="4941168"/>
            <a:ext cx="63202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775D57B-7DC4-4F27-BCD9-A57803FA4A5C}"/>
              </a:ext>
            </a:extLst>
          </p:cNvPr>
          <p:cNvCxnSpPr>
            <a:cxnSpLocks/>
          </p:cNvCxnSpPr>
          <p:nvPr/>
        </p:nvCxnSpPr>
        <p:spPr bwMode="auto">
          <a:xfrm flipH="1">
            <a:off x="364583" y="4941168"/>
            <a:ext cx="64807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82031AC5-DD8C-48E2-BD99-12740B80D74C}"/>
              </a:ext>
            </a:extLst>
          </p:cNvPr>
          <p:cNvSpPr/>
          <p:nvPr/>
        </p:nvSpPr>
        <p:spPr>
          <a:xfrm>
            <a:off x="108128" y="494042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0   2       4 H</a:t>
            </a:r>
            <a:endParaRPr lang="zh-CN" altLang="en-US" sz="2400">
              <a:solidFill>
                <a:srgbClr val="0000FF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092131B-5E1A-4355-8DE6-415B39C0A83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98613" y="3822860"/>
            <a:ext cx="0" cy="758268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2654E36-F718-465E-B4C0-74E2FDE44737}"/>
              </a:ext>
            </a:extLst>
          </p:cNvPr>
          <p:cNvCxnSpPr>
            <a:cxnSpLocks/>
          </p:cNvCxnSpPr>
          <p:nvPr/>
        </p:nvCxnSpPr>
        <p:spPr bwMode="auto">
          <a:xfrm>
            <a:off x="1798613" y="3823369"/>
            <a:ext cx="1477243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0F2076A1-55CB-474D-B8B0-864E3245B9D5}"/>
              </a:ext>
            </a:extLst>
          </p:cNvPr>
          <p:cNvSpPr/>
          <p:nvPr/>
        </p:nvSpPr>
        <p:spPr bwMode="auto">
          <a:xfrm>
            <a:off x="3317279" y="3636398"/>
            <a:ext cx="5535495" cy="372925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48ED5A2-6C29-49F6-A141-ED8BBAD550DB}"/>
              </a:ext>
            </a:extLst>
          </p:cNvPr>
          <p:cNvSpPr/>
          <p:nvPr/>
        </p:nvSpPr>
        <p:spPr>
          <a:xfrm>
            <a:off x="108128" y="3140968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主存地址：</a:t>
            </a:r>
            <a:r>
              <a:rPr lang="en-US" altLang="zh-CN" sz="2400"/>
              <a:t>12345H</a:t>
            </a:r>
            <a:endParaRPr lang="zh-CN" altLang="en-US" sz="240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B88A28F-E2EA-4A20-A678-13718A78233E}"/>
              </a:ext>
            </a:extLst>
          </p:cNvPr>
          <p:cNvSpPr/>
          <p:nvPr/>
        </p:nvSpPr>
        <p:spPr>
          <a:xfrm>
            <a:off x="727193" y="379166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D60093"/>
                </a:solidFill>
              </a:rPr>
              <a:t>不命中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BB4F831-F10A-4B34-AECE-D5EB2C6289D2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35268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44" grpId="0" animBg="1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BD0BD-D38F-45A2-A1D3-3CBF04C6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0E22BED0-CA7F-4D53-BF3B-21B42713F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507288" cy="5760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p174</a:t>
            </a:r>
            <a:r>
              <a:rPr lang="zh-CN" altLang="en-US" sz="2400" dirty="0"/>
              <a:t>，习题 </a:t>
            </a:r>
            <a:r>
              <a:rPr lang="en-US" altLang="zh-CN" sz="2400" dirty="0"/>
              <a:t>4.26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与主存之间采用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全相联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地址映射方式，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高速缓存的容量为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4KB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，分为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块，主存容量为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1MB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若主存读写时间为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300ns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30ns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b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而存储系统平均读写时间为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32.7ns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则该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的命中率为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________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6A3261-955E-4674-870F-74C11466AFA7}"/>
              </a:ext>
            </a:extLst>
          </p:cNvPr>
          <p:cNvSpPr/>
          <p:nvPr/>
        </p:nvSpPr>
        <p:spPr>
          <a:xfrm>
            <a:off x="5055100" y="2683376"/>
            <a:ext cx="3631700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</a:rPr>
              <a:t>C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i="1" dirty="0">
                <a:solidFill>
                  <a:srgbClr val="0000FF"/>
                </a:solidFill>
              </a:rPr>
              <a:t>h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×T</a:t>
            </a:r>
            <a:r>
              <a:rPr lang="en-US" altLang="zh-CN" baseline="-25000" dirty="0">
                <a:solidFill>
                  <a:srgbClr val="0000FF"/>
                </a:solidFill>
              </a:rPr>
              <a:t>M</a:t>
            </a:r>
            <a:endParaRPr lang="zh-CN" altLang="en-US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19AF2A6-BEE6-4E1B-B323-A3E5F94E16C7}"/>
              </a:ext>
            </a:extLst>
          </p:cNvPr>
          <p:cNvGrpSpPr/>
          <p:nvPr/>
        </p:nvGrpSpPr>
        <p:grpSpPr>
          <a:xfrm>
            <a:off x="4983092" y="3429000"/>
            <a:ext cx="3825950" cy="1800200"/>
            <a:chOff x="4439468" y="4797152"/>
            <a:chExt cx="3825950" cy="1800200"/>
          </a:xfrm>
        </p:grpSpPr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45F2B62C-50F1-4321-8CC6-17C9EC3D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904" y="4942036"/>
              <a:ext cx="755500" cy="15113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/>
                <a:t>CPU</a:t>
              </a:r>
            </a:p>
          </p:txBody>
        </p:sp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C4925825-0038-41D3-9557-6ECF034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3703" y="4942036"/>
              <a:ext cx="720577" cy="1511300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/>
                <a:t>主存</a:t>
              </a:r>
            </a:p>
          </p:txBody>
        </p:sp>
        <p:sp>
          <p:nvSpPr>
            <p:cNvPr id="45" name="Rectangle 8">
              <a:extLst>
                <a:ext uri="{FF2B5EF4-FFF2-40B4-BE49-F238E27FC236}">
                  <a16:creationId xmlns:a16="http://schemas.microsoft.com/office/drawing/2014/main" id="{4AA0B0AC-14CB-4801-B7D4-F16019E5A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0667" y="5013473"/>
              <a:ext cx="935037" cy="1007815"/>
            </a:xfrm>
            <a:prstGeom prst="rect">
              <a:avLst/>
            </a:prstGeom>
            <a:solidFill>
              <a:srgbClr val="C1FFC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/>
                <a:t>Cache</a:t>
              </a:r>
            </a:p>
          </p:txBody>
        </p:sp>
        <p:sp>
          <p:nvSpPr>
            <p:cNvPr id="46" name="AutoShape 9">
              <a:extLst>
                <a:ext uri="{FF2B5EF4-FFF2-40B4-BE49-F238E27FC236}">
                  <a16:creationId xmlns:a16="http://schemas.microsoft.com/office/drawing/2014/main" id="{3D8322EB-E53D-4A4B-9BA9-C9133CB06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404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47" name="AutoShape 10">
              <a:extLst>
                <a:ext uri="{FF2B5EF4-FFF2-40B4-BE49-F238E27FC236}">
                  <a16:creationId xmlns:a16="http://schemas.microsoft.com/office/drawing/2014/main" id="{F99EFC04-6F49-4A38-ADAC-78FD48F3C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639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C5EF35E-16CF-4ED8-B9F2-CB4998CE6799}"/>
                </a:ext>
              </a:extLst>
            </p:cNvPr>
            <p:cNvSpPr/>
            <p:nvPr/>
          </p:nvSpPr>
          <p:spPr bwMode="auto">
            <a:xfrm>
              <a:off x="4439468" y="4797152"/>
              <a:ext cx="3825950" cy="1800200"/>
            </a:xfrm>
            <a:prstGeom prst="rect">
              <a:avLst/>
            </a:prstGeom>
            <a:noFill/>
            <a:ln w="19050" cap="flat" cmpd="sng" algn="ctr">
              <a:solidFill>
                <a:srgbClr val="FF006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B8220E0-699B-49D0-9D7F-73323298AFA8}"/>
              </a:ext>
            </a:extLst>
          </p:cNvPr>
          <p:cNvCxnSpPr>
            <a:cxnSpLocks/>
          </p:cNvCxnSpPr>
          <p:nvPr/>
        </p:nvCxnSpPr>
        <p:spPr bwMode="auto">
          <a:xfrm>
            <a:off x="7275418" y="4149080"/>
            <a:ext cx="776287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E317D60-D89A-46E3-BCD9-5B7AF113AC3B}"/>
              </a:ext>
            </a:extLst>
          </p:cNvPr>
          <p:cNvCxnSpPr>
            <a:cxnSpLocks/>
          </p:cNvCxnSpPr>
          <p:nvPr/>
        </p:nvCxnSpPr>
        <p:spPr bwMode="auto">
          <a:xfrm>
            <a:off x="5663312" y="4149080"/>
            <a:ext cx="826293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83CF9D8C-50F4-4961-8D8B-75BC712B382B}"/>
              </a:ext>
            </a:extLst>
          </p:cNvPr>
          <p:cNvSpPr/>
          <p:nvPr/>
        </p:nvSpPr>
        <p:spPr>
          <a:xfrm>
            <a:off x="414629" y="5327804"/>
            <a:ext cx="5088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>
                <a:solidFill>
                  <a:srgbClr val="0000FF"/>
                </a:solidFill>
              </a:rPr>
              <a:t>32.7ns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30ns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i="1" dirty="0">
                <a:solidFill>
                  <a:srgbClr val="0000FF"/>
                </a:solidFill>
              </a:rPr>
              <a:t>h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×300ns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B1A1A8B-88DB-4815-9D43-27CB018FA54F}"/>
              </a:ext>
            </a:extLst>
          </p:cNvPr>
          <p:cNvSpPr/>
          <p:nvPr/>
        </p:nvSpPr>
        <p:spPr>
          <a:xfrm>
            <a:off x="414629" y="5812026"/>
            <a:ext cx="5532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i="1" dirty="0">
                <a:solidFill>
                  <a:srgbClr val="0000FF"/>
                </a:solidFill>
              </a:rPr>
              <a:t>h 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30ns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300ns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32.7ns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/ 300ns</a:t>
            </a:r>
            <a:endParaRPr lang="zh-CN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4CCB55C-9B9E-46AB-A613-FA0D1676BFC4}"/>
              </a:ext>
            </a:extLst>
          </p:cNvPr>
          <p:cNvSpPr/>
          <p:nvPr/>
        </p:nvSpPr>
        <p:spPr>
          <a:xfrm>
            <a:off x="3455606" y="2425492"/>
            <a:ext cx="13131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99.1%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A5B9D4F-1DE5-4129-B404-A6BC5E3DFAAA}"/>
              </a:ext>
            </a:extLst>
          </p:cNvPr>
          <p:cNvSpPr/>
          <p:nvPr/>
        </p:nvSpPr>
        <p:spPr>
          <a:xfrm>
            <a:off x="5742627" y="5816480"/>
            <a:ext cx="1532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99.1%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9228B68-3DAF-4229-A128-B12E19EFE20F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70601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3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BD0BD-D38F-45A2-A1D3-3CBF04C6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67904E7-1BF5-4907-8D17-35DDAFF8A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507288" cy="5760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p174</a:t>
            </a:r>
            <a:r>
              <a:rPr lang="zh-CN" altLang="en-US" sz="2400" dirty="0"/>
              <a:t>，习题 </a:t>
            </a:r>
            <a:r>
              <a:rPr lang="en-US" altLang="zh-CN" sz="2400" dirty="0"/>
              <a:t>4.26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与主存之间采用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全相联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地址映射方式，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高速缓存的容量为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4KB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，分为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块，主存容量为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1MB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sym typeface="Microsoft Yahei" panose="020B0503020204020204" pitchFamily="34" charset="-122"/>
              </a:rPr>
              <a:t>地址映射表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共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个存储单元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即共多少行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每个存储单元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至少包括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包含</a:t>
            </a:r>
            <a:r>
              <a:rPr lang="zh-CN" altLang="en-US" sz="2400" dirty="0">
                <a:solidFill>
                  <a:srgbClr val="FF6600"/>
                </a:solidFill>
                <a:sym typeface="Microsoft Yahei" panose="020B0503020204020204" pitchFamily="34" charset="-122"/>
              </a:rPr>
              <a:t>有效位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注：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不考虑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行号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修改位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、用于替换策略的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替换控制位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等。</a:t>
            </a:r>
            <a:endParaRPr lang="en-US" altLang="zh-CN" sz="2400" dirty="0">
              <a:solidFill>
                <a:srgbClr val="008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sym typeface="Microsoft Yahei" panose="020B0503020204020204" pitchFamily="34" charset="-122"/>
              </a:rPr>
              <a:t>地址映射表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如下图所示，确定变换后的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① 主存地址为</a:t>
            </a:r>
            <a:r>
              <a:rPr lang="en-US" altLang="zh-CN" sz="2400" dirty="0">
                <a:solidFill>
                  <a:srgbClr val="C00000"/>
                </a:solidFill>
                <a:sym typeface="Microsoft Yahei" panose="020B0503020204020204" pitchFamily="34" charset="-122"/>
              </a:rPr>
              <a:t>88888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时，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地址为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② 主存地址为</a:t>
            </a:r>
            <a:r>
              <a:rPr lang="en-US" altLang="zh-CN" sz="2400" dirty="0">
                <a:solidFill>
                  <a:srgbClr val="C00000"/>
                </a:solidFill>
                <a:sym typeface="Microsoft Yahei" panose="020B0503020204020204" pitchFamily="34" charset="-122"/>
              </a:rPr>
              <a:t>56789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时，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地址为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0FE6466-97CE-4AC6-9ADD-8C3ED5B3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625086"/>
              </p:ext>
            </p:extLst>
          </p:nvPr>
        </p:nvGraphicFramePr>
        <p:xfrm>
          <a:off x="7380312" y="3542993"/>
          <a:ext cx="151216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9322618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00341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388H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64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67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159H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42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367H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173051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9FD7A02-3E5C-491F-9E93-CD41CA7C8AF5}"/>
              </a:ext>
            </a:extLst>
          </p:cNvPr>
          <p:cNvSpPr/>
          <p:nvPr/>
        </p:nvSpPr>
        <p:spPr>
          <a:xfrm>
            <a:off x="6660232" y="5424078"/>
            <a:ext cx="23762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此表省略了有效位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假设有效位均为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E5283E-A7A3-436F-9A65-D8FC7BC8D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58046"/>
              </p:ext>
            </p:extLst>
          </p:nvPr>
        </p:nvGraphicFramePr>
        <p:xfrm>
          <a:off x="1979712" y="5085262"/>
          <a:ext cx="417646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414636687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679428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3857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latin typeface="+mn-lt"/>
                          <a:ea typeface="+mn-ea"/>
                        </a:rPr>
                        <a:t>全相联 主存地址划分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922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 dirty="0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4952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BAF621-B0A4-4027-B4AC-AD9DA3D59F4A}"/>
              </a:ext>
            </a:extLst>
          </p:cNvPr>
          <p:cNvCxnSpPr>
            <a:cxnSpLocks/>
          </p:cNvCxnSpPr>
          <p:nvPr/>
        </p:nvCxnSpPr>
        <p:spPr>
          <a:xfrm>
            <a:off x="1979712" y="6083478"/>
            <a:ext cx="0" cy="550192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9F282FA-9A07-4A49-8103-0FEBCC50FD81}"/>
              </a:ext>
            </a:extLst>
          </p:cNvPr>
          <p:cNvCxnSpPr>
            <a:cxnSpLocks/>
          </p:cNvCxnSpPr>
          <p:nvPr/>
        </p:nvCxnSpPr>
        <p:spPr>
          <a:xfrm>
            <a:off x="6156176" y="6083478"/>
            <a:ext cx="0" cy="550192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2BD918-98BD-44D5-8255-7F1192AB6C10}"/>
              </a:ext>
            </a:extLst>
          </p:cNvPr>
          <p:cNvCxnSpPr>
            <a:cxnSpLocks/>
          </p:cNvCxnSpPr>
          <p:nvPr/>
        </p:nvCxnSpPr>
        <p:spPr>
          <a:xfrm>
            <a:off x="4067944" y="6083478"/>
            <a:ext cx="0" cy="306637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FF709E7-D498-4713-B2CC-C96107BD26F2}"/>
              </a:ext>
            </a:extLst>
          </p:cNvPr>
          <p:cNvCxnSpPr>
            <a:cxnSpLocks/>
          </p:cNvCxnSpPr>
          <p:nvPr/>
        </p:nvCxnSpPr>
        <p:spPr>
          <a:xfrm>
            <a:off x="1979712" y="6219972"/>
            <a:ext cx="208823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ED661BC-40CC-428F-9BB8-1FCEB8D7D89D}"/>
              </a:ext>
            </a:extLst>
          </p:cNvPr>
          <p:cNvCxnSpPr>
            <a:cxnSpLocks/>
          </p:cNvCxnSpPr>
          <p:nvPr/>
        </p:nvCxnSpPr>
        <p:spPr>
          <a:xfrm>
            <a:off x="4067944" y="6219972"/>
            <a:ext cx="208823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77E527F-0F3A-4CBA-A600-3EDD75026220}"/>
              </a:ext>
            </a:extLst>
          </p:cNvPr>
          <p:cNvSpPr/>
          <p:nvPr/>
        </p:nvSpPr>
        <p:spPr>
          <a:xfrm>
            <a:off x="2771801" y="6020783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</a:rPr>
              <a:t>10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4B6647-9BEE-4EB4-A427-6F773C9C3A34}"/>
              </a:ext>
            </a:extLst>
          </p:cNvPr>
          <p:cNvSpPr/>
          <p:nvPr/>
        </p:nvSpPr>
        <p:spPr>
          <a:xfrm>
            <a:off x="4860033" y="6020783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4960EB1-5AF9-4AE2-8091-4090655180B0}"/>
              </a:ext>
            </a:extLst>
          </p:cNvPr>
          <p:cNvCxnSpPr>
            <a:cxnSpLocks/>
          </p:cNvCxnSpPr>
          <p:nvPr/>
        </p:nvCxnSpPr>
        <p:spPr>
          <a:xfrm>
            <a:off x="1979712" y="6511131"/>
            <a:ext cx="417065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C3553C3-5AC9-4A2D-9217-13688297C2D3}"/>
              </a:ext>
            </a:extLst>
          </p:cNvPr>
          <p:cNvSpPr/>
          <p:nvPr/>
        </p:nvSpPr>
        <p:spPr>
          <a:xfrm>
            <a:off x="3818819" y="6354696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20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76BC85-EA49-4CA4-A8A3-DA23D882E9C5}"/>
              </a:ext>
            </a:extLst>
          </p:cNvPr>
          <p:cNvSpPr/>
          <p:nvPr/>
        </p:nvSpPr>
        <p:spPr>
          <a:xfrm>
            <a:off x="3157967" y="1611382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022596-4F9C-4800-8503-C8E3263D1859}"/>
              </a:ext>
            </a:extLst>
          </p:cNvPr>
          <p:cNvSpPr/>
          <p:nvPr/>
        </p:nvSpPr>
        <p:spPr>
          <a:xfrm>
            <a:off x="4407786" y="1978886"/>
            <a:ext cx="6208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11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1E8F27-B8BA-4C3B-AFD9-0C9356B001AC}"/>
              </a:ext>
            </a:extLst>
          </p:cNvPr>
          <p:cNvSpPr/>
          <p:nvPr/>
        </p:nvSpPr>
        <p:spPr>
          <a:xfrm>
            <a:off x="3882112" y="3344793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CCCC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1000 1000 10</a:t>
            </a:r>
            <a:r>
              <a:rPr lang="en-US" altLang="zh-CN" sz="2400" kern="0" dirty="0">
                <a:highlight>
                  <a:srgbClr val="FFFF99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00 1000 1000</a:t>
            </a:r>
            <a:endParaRPr lang="zh-CN" altLang="en-US" dirty="0">
              <a:highlight>
                <a:srgbClr val="FFFF99"/>
              </a:highlight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413F238-7228-4FA6-BA98-B36B3835D865}"/>
              </a:ext>
            </a:extLst>
          </p:cNvPr>
          <p:cNvCxnSpPr>
            <a:cxnSpLocks/>
          </p:cNvCxnSpPr>
          <p:nvPr/>
        </p:nvCxnSpPr>
        <p:spPr bwMode="auto">
          <a:xfrm>
            <a:off x="5004048" y="3736082"/>
            <a:ext cx="64807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A44900B-9083-4DC7-905F-984D41DC7A40}"/>
              </a:ext>
            </a:extLst>
          </p:cNvPr>
          <p:cNvCxnSpPr>
            <a:cxnSpLocks/>
          </p:cNvCxnSpPr>
          <p:nvPr/>
        </p:nvCxnSpPr>
        <p:spPr bwMode="auto">
          <a:xfrm>
            <a:off x="4333875" y="3736082"/>
            <a:ext cx="62546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E0A552C-CD0B-4492-AB08-AB9221AD7F00}"/>
              </a:ext>
            </a:extLst>
          </p:cNvPr>
          <p:cNvCxnSpPr>
            <a:cxnSpLocks/>
          </p:cNvCxnSpPr>
          <p:nvPr/>
        </p:nvCxnSpPr>
        <p:spPr bwMode="auto">
          <a:xfrm>
            <a:off x="3923928" y="3736082"/>
            <a:ext cx="35330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2FDDA807-423E-42D4-BAAB-595F7809698A}"/>
              </a:ext>
            </a:extLst>
          </p:cNvPr>
          <p:cNvSpPr/>
          <p:nvPr/>
        </p:nvSpPr>
        <p:spPr bwMode="auto">
          <a:xfrm>
            <a:off x="7804150" y="4057650"/>
            <a:ext cx="1025525" cy="342900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2BC558-7C98-4BCB-912D-AD95180F6496}"/>
              </a:ext>
            </a:extLst>
          </p:cNvPr>
          <p:cNvSpPr/>
          <p:nvPr/>
        </p:nvSpPr>
        <p:spPr>
          <a:xfrm>
            <a:off x="7248902" y="39841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微软雅黑" panose="020B0503020204020204" pitchFamily="34" charset="-122"/>
              </a:rPr>
              <a:t>01</a:t>
            </a:r>
            <a:endParaRPr lang="zh-CN" altLang="en-US" dirty="0">
              <a:latin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5ABDEC-17AC-4F4C-9DCA-0E01F8CED893}"/>
              </a:ext>
            </a:extLst>
          </p:cNvPr>
          <p:cNvSpPr/>
          <p:nvPr/>
        </p:nvSpPr>
        <p:spPr>
          <a:xfrm>
            <a:off x="5567740" y="3344792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FF99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00 1000 1000</a:t>
            </a:r>
            <a:endParaRPr lang="zh-CN" altLang="en-US" dirty="0">
              <a:highlight>
                <a:srgbClr val="FFFF99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2F9438-6D60-4D03-996F-6EF3AD762B15}"/>
              </a:ext>
            </a:extLst>
          </p:cNvPr>
          <p:cNvSpPr/>
          <p:nvPr/>
        </p:nvSpPr>
        <p:spPr>
          <a:xfrm>
            <a:off x="2290279" y="3631807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488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B5FAFC-E636-46A7-91A8-F9A251DD2219}"/>
              </a:ext>
            </a:extLst>
          </p:cNvPr>
          <p:cNvSpPr/>
          <p:nvPr/>
        </p:nvSpPr>
        <p:spPr>
          <a:xfrm>
            <a:off x="3882112" y="4267311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CCCC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0101 0110 01</a:t>
            </a:r>
            <a:r>
              <a:rPr lang="en-US" altLang="zh-CN" sz="2400" kern="0" dirty="0">
                <a:highlight>
                  <a:srgbClr val="FFFF99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11 1000 1001</a:t>
            </a:r>
            <a:endParaRPr lang="zh-CN" altLang="en-US" dirty="0">
              <a:highlight>
                <a:srgbClr val="FFFF99"/>
              </a:highlight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B594C97-A079-47CE-B7FF-9F9D15134135}"/>
              </a:ext>
            </a:extLst>
          </p:cNvPr>
          <p:cNvCxnSpPr>
            <a:cxnSpLocks/>
          </p:cNvCxnSpPr>
          <p:nvPr/>
        </p:nvCxnSpPr>
        <p:spPr bwMode="auto">
          <a:xfrm>
            <a:off x="5004048" y="4670554"/>
            <a:ext cx="64807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9A86D96-AE28-4347-B3DA-DA732E04A994}"/>
              </a:ext>
            </a:extLst>
          </p:cNvPr>
          <p:cNvCxnSpPr>
            <a:cxnSpLocks/>
          </p:cNvCxnSpPr>
          <p:nvPr/>
        </p:nvCxnSpPr>
        <p:spPr bwMode="auto">
          <a:xfrm>
            <a:off x="4333875" y="4670554"/>
            <a:ext cx="62546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AB89530-6610-481A-840C-A4D932C63C22}"/>
              </a:ext>
            </a:extLst>
          </p:cNvPr>
          <p:cNvCxnSpPr>
            <a:cxnSpLocks/>
          </p:cNvCxnSpPr>
          <p:nvPr/>
        </p:nvCxnSpPr>
        <p:spPr bwMode="auto">
          <a:xfrm>
            <a:off x="3923928" y="4670554"/>
            <a:ext cx="35330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530E2657-75C3-46F9-8CED-B68790717852}"/>
              </a:ext>
            </a:extLst>
          </p:cNvPr>
          <p:cNvSpPr/>
          <p:nvPr/>
        </p:nvSpPr>
        <p:spPr>
          <a:xfrm>
            <a:off x="7248902" y="443972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微软雅黑" panose="020B0503020204020204" pitchFamily="34" charset="-122"/>
              </a:rPr>
              <a:t>10</a:t>
            </a:r>
            <a:endParaRPr lang="zh-CN" altLang="en-US" dirty="0">
              <a:latin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97A102-0248-424D-BBE2-D100D54520C8}"/>
              </a:ext>
            </a:extLst>
          </p:cNvPr>
          <p:cNvSpPr/>
          <p:nvPr/>
        </p:nvSpPr>
        <p:spPr>
          <a:xfrm>
            <a:off x="5567739" y="4265493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FF99"/>
                </a:highlight>
                <a:latin typeface="Times New Roman"/>
                <a:ea typeface="宋体"/>
                <a:sym typeface="Microsoft Yahei" panose="020B0503020204020204" pitchFamily="34" charset="-122"/>
              </a:rPr>
              <a:t>11 1000 1001</a:t>
            </a:r>
            <a:endParaRPr lang="zh-CN" altLang="en-US" dirty="0">
              <a:highlight>
                <a:srgbClr val="FFFF99"/>
              </a:highlight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BB48263-187E-4B5C-904C-1B18A0071A37}"/>
              </a:ext>
            </a:extLst>
          </p:cNvPr>
          <p:cNvSpPr/>
          <p:nvPr/>
        </p:nvSpPr>
        <p:spPr>
          <a:xfrm>
            <a:off x="2251807" y="4440591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B89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BA04E38-9B6A-4D22-BE79-414452E253AC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515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33333E-6 L -0.10868 -3.33333E-6 C -0.15747 -3.33333E-6 -0.21719 -0.01041 -0.21719 -0.01898 L -0.21719 -0.03773 " pathEditMode="relative" rAng="0" ptsTypes="AAAA">
                                      <p:cBhvr>
                                        <p:cTn id="7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68" y="-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1.66667E-6 0.05648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48148E-6 L -0.10886 1.48148E-6 C -0.15764 1.48148E-6 -0.21719 0.0081 -0.21719 0.01528 L -0.21719 0.03102 " pathEditMode="relative" rAng="0" ptsTypes="AAAA">
                                      <p:cBhvr>
                                        <p:cTn id="11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68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0.05648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/>
      <p:bldP spid="20" grpId="0"/>
      <p:bldP spid="21" grpId="0"/>
      <p:bldP spid="25" grpId="0" animBg="1"/>
      <p:bldP spid="26" grpId="0"/>
      <p:bldP spid="26" grpId="1"/>
      <p:bldP spid="27" grpId="0"/>
      <p:bldP spid="27" grpId="1"/>
      <p:bldP spid="28" grpId="0"/>
      <p:bldP spid="29" grpId="0"/>
      <p:bldP spid="33" grpId="0"/>
      <p:bldP spid="33" grpId="1"/>
      <p:bldP spid="35" grpId="0"/>
      <p:bldP spid="35" grpId="1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6025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</a:p>
          <a:p>
            <a:pPr marL="0" indent="0">
              <a:buNone/>
            </a:pPr>
            <a:r>
              <a:rPr lang="zh-CN" altLang="en-US" sz="2400"/>
              <a:t>某计算机</a:t>
            </a:r>
            <a:r>
              <a:rPr lang="zh-CN" altLang="en-US" sz="2400">
                <a:solidFill>
                  <a:srgbClr val="FF0000"/>
                </a:solidFill>
              </a:rPr>
              <a:t>主存</a:t>
            </a:r>
            <a:r>
              <a:rPr lang="zh-CN" altLang="en-US" sz="2400">
                <a:solidFill>
                  <a:srgbClr val="0000FF"/>
                </a:solidFill>
              </a:rPr>
              <a:t>按字节编址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CC0066"/>
                </a:solidFill>
              </a:rPr>
              <a:t>虚拟</a:t>
            </a:r>
            <a:r>
              <a:rPr lang="en-US" altLang="zh-CN" sz="2400">
                <a:solidFill>
                  <a:srgbClr val="CC0066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CC0066"/>
                </a:solidFill>
              </a:rPr>
              <a:t>逻辑</a:t>
            </a:r>
            <a:r>
              <a:rPr lang="en-US" altLang="zh-CN" sz="2400">
                <a:solidFill>
                  <a:srgbClr val="CC0066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CC0066"/>
                </a:solidFill>
              </a:rPr>
              <a:t>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CC0066"/>
                </a:solidFill>
              </a:rPr>
              <a:t>256MB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8000"/>
                </a:solidFill>
              </a:rPr>
              <a:t>主存物理地址空间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008000"/>
                </a:solidFill>
              </a:rPr>
              <a:t>16MB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页面大小</a:t>
            </a:r>
            <a:r>
              <a:rPr lang="en-US" altLang="zh-CN" sz="2400">
                <a:solidFill>
                  <a:srgbClr val="0000FF"/>
                </a:solidFill>
              </a:rPr>
              <a:t>4KB</a:t>
            </a:r>
            <a:r>
              <a:rPr lang="zh-CN" altLang="en-US" sz="2400"/>
              <a:t>；</a:t>
            </a:r>
            <a:br>
              <a:rPr lang="en-US" altLang="zh-CN" sz="2400"/>
            </a:br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/>
              <a:t>采用</a:t>
            </a:r>
            <a:r>
              <a:rPr lang="zh-CN" altLang="en-US" sz="2400">
                <a:solidFill>
                  <a:srgbClr val="0000FF"/>
                </a:solidFill>
              </a:rPr>
              <a:t>直接映射</a:t>
            </a:r>
            <a:r>
              <a:rPr lang="zh-CN" altLang="en-US" sz="2400"/>
              <a:t>方式，</a:t>
            </a:r>
            <a:r>
              <a:rPr lang="zh-CN" altLang="en-US" sz="2400">
                <a:solidFill>
                  <a:srgbClr val="0000FF"/>
                </a:solidFill>
              </a:rPr>
              <a:t>共</a:t>
            </a:r>
            <a:r>
              <a:rPr lang="en-US" altLang="zh-CN" sz="2400">
                <a:solidFill>
                  <a:srgbClr val="0000FF"/>
                </a:solidFill>
              </a:rPr>
              <a:t>8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，每</a:t>
            </a:r>
            <a:r>
              <a:rPr lang="zh-CN" altLang="en-US" sz="2400">
                <a:solidFill>
                  <a:srgbClr val="FF0000"/>
                </a:solidFill>
              </a:rPr>
              <a:t>块</a:t>
            </a:r>
            <a:r>
              <a:rPr lang="zh-CN" altLang="en-US" sz="2400"/>
              <a:t>为</a:t>
            </a:r>
            <a:r>
              <a:rPr lang="en-US" altLang="zh-CN" sz="2400">
                <a:solidFill>
                  <a:srgbClr val="FF0000"/>
                </a:solidFill>
              </a:rPr>
              <a:t>32B</a:t>
            </a:r>
            <a:r>
              <a:rPr lang="zh-CN" altLang="en-US" sz="2400"/>
              <a:t>。</a:t>
            </a:r>
            <a:endParaRPr lang="en-US" altLang="zh-CN" sz="2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F740F89A-5881-42EA-8943-0073F51A5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38206"/>
              </p:ext>
            </p:extLst>
          </p:nvPr>
        </p:nvGraphicFramePr>
        <p:xfrm>
          <a:off x="3378361" y="2150211"/>
          <a:ext cx="2232247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429278">
                  <a:extLst>
                    <a:ext uri="{9D8B030D-6E8A-4147-A177-3AD203B41FA5}">
                      <a16:colId xmlns:a16="http://schemas.microsoft.com/office/drawing/2014/main" val="1308019203"/>
                    </a:ext>
                  </a:extLst>
                </a:gridCol>
                <a:gridCol w="515134">
                  <a:extLst>
                    <a:ext uri="{9D8B030D-6E8A-4147-A177-3AD203B41FA5}">
                      <a16:colId xmlns:a16="http://schemas.microsoft.com/office/drawing/2014/main" val="3309802070"/>
                    </a:ext>
                  </a:extLst>
                </a:gridCol>
                <a:gridCol w="772701">
                  <a:extLst>
                    <a:ext uri="{9D8B030D-6E8A-4147-A177-3AD203B41FA5}">
                      <a16:colId xmlns:a16="http://schemas.microsoft.com/office/drawing/2014/main" val="3397659127"/>
                    </a:ext>
                  </a:extLst>
                </a:gridCol>
                <a:gridCol w="515134">
                  <a:extLst>
                    <a:ext uri="{9D8B030D-6E8A-4147-A177-3AD203B41FA5}">
                      <a16:colId xmlns:a16="http://schemas.microsoft.com/office/drawing/2014/main" val="2947099687"/>
                    </a:ext>
                  </a:extLst>
                </a:gridCol>
              </a:tblGrid>
              <a:tr h="217041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虚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页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有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效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位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实</a:t>
                      </a:r>
                      <a:b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页</a:t>
                      </a:r>
                      <a:b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498948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23B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65634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99674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30485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287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637383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29766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20D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61197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6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235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984928"/>
                  </a:ext>
                </a:extLst>
              </a:tr>
              <a:tr h="217041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7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2A4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096246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602C42B-3B18-42AA-8EF5-B7FF51E2D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645670"/>
              </p:ext>
            </p:extLst>
          </p:nvPr>
        </p:nvGraphicFramePr>
        <p:xfrm>
          <a:off x="5868144" y="2510251"/>
          <a:ext cx="2736304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504056">
                  <a:extLst>
                    <a:ext uri="{9D8B030D-6E8A-4147-A177-3AD203B41FA5}">
                      <a16:colId xmlns:a16="http://schemas.microsoft.com/office/drawing/2014/main" val="374186677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91853803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2212502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756743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行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有效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位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标记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857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2A46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55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23B9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5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20D6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370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59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20D8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20D6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65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6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81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385763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7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23BA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5763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12500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F66660C2-E8FA-4F75-BA79-9A9623FCADDF}"/>
              </a:ext>
            </a:extLst>
          </p:cNvPr>
          <p:cNvSpPr/>
          <p:nvPr/>
        </p:nvSpPr>
        <p:spPr>
          <a:xfrm>
            <a:off x="2915816" y="6207695"/>
            <a:ext cx="2890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页表的部分内容</a:t>
            </a:r>
            <a:endParaRPr lang="zh-CN" altLang="en-US" sz="20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C3453E-F91F-4C50-AB9E-730D95060D82}"/>
              </a:ext>
            </a:extLst>
          </p:cNvPr>
          <p:cNvSpPr/>
          <p:nvPr/>
        </p:nvSpPr>
        <p:spPr>
          <a:xfrm>
            <a:off x="5926349" y="6207694"/>
            <a:ext cx="3110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 Cache</a:t>
            </a:r>
            <a:r>
              <a:rPr lang="zh-CN" altLang="zh-CN" sz="24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地址映射表</a:t>
            </a:r>
            <a:endParaRPr lang="zh-CN" altLang="en-US" sz="24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05C92F-F4B1-4173-9A58-647CED8FD795}"/>
              </a:ext>
            </a:extLst>
          </p:cNvPr>
          <p:cNvSpPr/>
          <p:nvPr/>
        </p:nvSpPr>
        <p:spPr>
          <a:xfrm>
            <a:off x="179511" y="2209660"/>
            <a:ext cx="31683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zh-CN" altLang="en-US" sz="2400"/>
              <a:t>系统运行到某一时刻时，页表的部分内容和</a:t>
            </a:r>
            <a:r>
              <a:rPr lang="en-US" altLang="zh-CN" sz="2400"/>
              <a:t>Cache</a:t>
            </a:r>
            <a:r>
              <a:rPr lang="zh-CN" altLang="en-US" sz="2400"/>
              <a:t>地址映射表的内容分别如图</a:t>
            </a:r>
            <a:r>
              <a:rPr lang="en-US" altLang="zh-CN" sz="2400"/>
              <a:t>a</a:t>
            </a:r>
            <a:r>
              <a:rPr lang="zh-CN" altLang="en-US" sz="2400"/>
              <a:t>、图</a:t>
            </a:r>
            <a:r>
              <a:rPr lang="en-US" altLang="zh-CN" sz="2400"/>
              <a:t>b</a:t>
            </a:r>
            <a:r>
              <a:rPr lang="zh-CN" altLang="en-US" sz="2400"/>
              <a:t>所示，</a:t>
            </a:r>
            <a:br>
              <a:rPr lang="en-US" altLang="zh-CN" sz="2400"/>
            </a:br>
            <a:r>
              <a:rPr lang="zh-CN" altLang="en-US" sz="2400"/>
              <a:t>图中</a:t>
            </a:r>
            <a:r>
              <a:rPr lang="zh-CN" altLang="en-US" sz="2400">
                <a:solidFill>
                  <a:srgbClr val="FF0000"/>
                </a:solidFill>
              </a:rPr>
              <a:t>实页号</a:t>
            </a:r>
            <a:r>
              <a:rPr lang="zh-CN" altLang="en-US" sz="2400"/>
              <a:t>及</a:t>
            </a:r>
            <a:r>
              <a:rPr lang="zh-CN" altLang="en-US" sz="2400">
                <a:solidFill>
                  <a:srgbClr val="FF0000"/>
                </a:solidFill>
              </a:rPr>
              <a:t>标记</a:t>
            </a:r>
            <a:r>
              <a:rPr lang="zh-CN" altLang="en-US" sz="2400"/>
              <a:t>字段的内容为</a:t>
            </a:r>
            <a:r>
              <a:rPr lang="zh-CN" altLang="en-US" sz="2400">
                <a:solidFill>
                  <a:srgbClr val="FF0000"/>
                </a:solidFill>
              </a:rPr>
              <a:t>十六进制</a:t>
            </a:r>
            <a:r>
              <a:rPr lang="zh-CN" altLang="en-US" sz="2400"/>
              <a:t>形式。</a:t>
            </a:r>
            <a:br>
              <a:rPr lang="en-US" altLang="zh-CN" sz="2400"/>
            </a:br>
            <a:r>
              <a:rPr lang="zh-CN" altLang="en-US" sz="2400"/>
              <a:t>请回答下面的问题。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541A69-B9D9-4C31-B3B3-8FFDF0440C1F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748648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6170734" cy="194421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主存</a:t>
            </a:r>
            <a:r>
              <a:rPr lang="zh-CN" altLang="en-US" sz="2400">
                <a:solidFill>
                  <a:srgbClr val="0000FF"/>
                </a:solidFill>
              </a:rPr>
              <a:t>按字节编址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CC0066"/>
                </a:solidFill>
              </a:rPr>
              <a:t>虚拟</a:t>
            </a:r>
            <a:r>
              <a:rPr lang="en-US" altLang="zh-CN" sz="2400">
                <a:solidFill>
                  <a:srgbClr val="CC0066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CC0066"/>
                </a:solidFill>
              </a:rPr>
              <a:t>逻辑</a:t>
            </a:r>
            <a:r>
              <a:rPr lang="en-US" altLang="zh-CN" sz="2400">
                <a:solidFill>
                  <a:srgbClr val="CC0066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CC0066"/>
                </a:solidFill>
              </a:rPr>
              <a:t>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CC0066"/>
                </a:solidFill>
              </a:rPr>
              <a:t>256MB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8000"/>
                </a:solidFill>
              </a:rPr>
              <a:t>主存物理地址空间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008000"/>
                </a:solidFill>
              </a:rPr>
              <a:t>16MB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页面大小</a:t>
            </a:r>
            <a:r>
              <a:rPr lang="en-US" altLang="zh-CN" sz="2400">
                <a:solidFill>
                  <a:srgbClr val="0000FF"/>
                </a:solidFill>
              </a:rPr>
              <a:t>4KB</a:t>
            </a:r>
            <a:r>
              <a:rPr lang="zh-CN" altLang="en-US" sz="2400"/>
              <a:t>；</a:t>
            </a:r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/>
              <a:t>采用</a:t>
            </a:r>
            <a:r>
              <a:rPr lang="zh-CN" altLang="en-US" sz="2400">
                <a:solidFill>
                  <a:srgbClr val="0000FF"/>
                </a:solidFill>
              </a:rPr>
              <a:t>直接映射</a:t>
            </a:r>
            <a:r>
              <a:rPr lang="zh-CN" altLang="en-US" sz="2400"/>
              <a:t>方式，</a:t>
            </a:r>
            <a:r>
              <a:rPr lang="zh-CN" altLang="en-US" sz="2400">
                <a:solidFill>
                  <a:srgbClr val="0000FF"/>
                </a:solidFill>
              </a:rPr>
              <a:t>共</a:t>
            </a:r>
            <a:r>
              <a:rPr lang="en-US" altLang="zh-CN" sz="2400">
                <a:solidFill>
                  <a:srgbClr val="0000FF"/>
                </a:solidFill>
              </a:rPr>
              <a:t>8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，每</a:t>
            </a:r>
            <a:r>
              <a:rPr lang="zh-CN" altLang="en-US" sz="2400">
                <a:solidFill>
                  <a:srgbClr val="FF0000"/>
                </a:solidFill>
              </a:rPr>
              <a:t>块</a:t>
            </a:r>
            <a:r>
              <a:rPr lang="zh-CN" altLang="en-US" sz="2400"/>
              <a:t>为</a:t>
            </a:r>
            <a:r>
              <a:rPr lang="en-US" altLang="zh-CN" sz="2400">
                <a:solidFill>
                  <a:srgbClr val="FF0000"/>
                </a:solidFill>
              </a:rPr>
              <a:t>32B</a:t>
            </a:r>
            <a:r>
              <a:rPr lang="zh-CN" altLang="en-US" sz="2400"/>
              <a:t>。</a:t>
            </a:r>
            <a:endParaRPr lang="en-US" altLang="zh-CN" sz="2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6660C2-E8FA-4F75-BA79-9A9623FCADDF}"/>
              </a:ext>
            </a:extLst>
          </p:cNvPr>
          <p:cNvSpPr/>
          <p:nvPr/>
        </p:nvSpPr>
        <p:spPr>
          <a:xfrm rot="16200000">
            <a:off x="5423633" y="2264069"/>
            <a:ext cx="2505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 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页表的部分内容</a:t>
            </a:r>
            <a:endParaRPr lang="zh-CN" altLang="en-US" sz="18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C3453E-F91F-4C50-AB9E-730D95060D82}"/>
              </a:ext>
            </a:extLst>
          </p:cNvPr>
          <p:cNvSpPr/>
          <p:nvPr/>
        </p:nvSpPr>
        <p:spPr>
          <a:xfrm rot="16200000">
            <a:off x="5332263" y="5125026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  Cache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地址映射表</a:t>
            </a:r>
            <a:endParaRPr lang="zh-CN" altLang="en-US" sz="20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6490E0-CED8-4C88-B33E-6B85E10B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76671"/>
            <a:ext cx="1800200" cy="34213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140B2E-CF85-4355-B895-90A23B06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596" y="3757931"/>
            <a:ext cx="2087893" cy="2983437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25B44E2-AA0B-4C26-B761-8868028EB11A}"/>
              </a:ext>
            </a:extLst>
          </p:cNvPr>
          <p:cNvSpPr txBox="1">
            <a:spLocks/>
          </p:cNvSpPr>
          <p:nvPr/>
        </p:nvSpPr>
        <p:spPr bwMode="auto">
          <a:xfrm>
            <a:off x="179512" y="2492895"/>
            <a:ext cx="6170734" cy="964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1</a:t>
            </a:r>
            <a:r>
              <a:rPr lang="en-US" altLang="zh-CN" sz="2400" kern="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2</a:t>
            </a:r>
            <a:r>
              <a:rPr lang="en-US" altLang="zh-CN" sz="2400" kern="0">
                <a:latin typeface="+mn-ea"/>
              </a:rPr>
              <a:t>)</a:t>
            </a:r>
            <a:endParaRPr lang="en-US" altLang="zh-CN" sz="2400" kern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AC0806-20C6-4F6C-8029-EE8FEAC1F678}"/>
              </a:ext>
            </a:extLst>
          </p:cNvPr>
          <p:cNvSpPr/>
          <p:nvPr/>
        </p:nvSpPr>
        <p:spPr>
          <a:xfrm>
            <a:off x="1208083" y="2562620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BC376466-53BA-4F0A-977F-B923341FC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08520"/>
              </p:ext>
            </p:extLst>
          </p:nvPr>
        </p:nvGraphicFramePr>
        <p:xfrm>
          <a:off x="1095619" y="2964283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4253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762951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虚页号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7478EA-1026-48BC-823A-4704FDD7F258}"/>
              </a:ext>
            </a:extLst>
          </p:cNvPr>
          <p:cNvCxnSpPr>
            <a:cxnSpLocks/>
          </p:cNvCxnSpPr>
          <p:nvPr/>
        </p:nvCxnSpPr>
        <p:spPr bwMode="auto">
          <a:xfrm>
            <a:off x="1095619" y="3432531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D9D1725-99B3-4EA3-8E22-9A51547A7036}"/>
              </a:ext>
            </a:extLst>
          </p:cNvPr>
          <p:cNvCxnSpPr/>
          <p:nvPr/>
        </p:nvCxnSpPr>
        <p:spPr bwMode="auto">
          <a:xfrm>
            <a:off x="3419872" y="342671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2B51B9-78C8-4A03-8BEF-B4F19FDA5614}"/>
              </a:ext>
            </a:extLst>
          </p:cNvPr>
          <p:cNvCxnSpPr>
            <a:cxnSpLocks/>
          </p:cNvCxnSpPr>
          <p:nvPr/>
        </p:nvCxnSpPr>
        <p:spPr bwMode="auto">
          <a:xfrm>
            <a:off x="5182823" y="3432531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5C4B69B-8C3E-41B4-9801-1D50F5B1E3AB}"/>
              </a:ext>
            </a:extLst>
          </p:cNvPr>
          <p:cNvCxnSpPr>
            <a:cxnSpLocks/>
          </p:cNvCxnSpPr>
          <p:nvPr/>
        </p:nvCxnSpPr>
        <p:spPr bwMode="auto">
          <a:xfrm>
            <a:off x="1095619" y="3567824"/>
            <a:ext cx="23242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10721B9-F0A3-497A-9E7D-F38B055C9C80}"/>
              </a:ext>
            </a:extLst>
          </p:cNvPr>
          <p:cNvSpPr/>
          <p:nvPr/>
        </p:nvSpPr>
        <p:spPr>
          <a:xfrm>
            <a:off x="1907704" y="340946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0A2C776-037E-430C-907C-B3D7D2BAECCD}"/>
              </a:ext>
            </a:extLst>
          </p:cNvPr>
          <p:cNvCxnSpPr>
            <a:cxnSpLocks/>
          </p:cNvCxnSpPr>
          <p:nvPr/>
        </p:nvCxnSpPr>
        <p:spPr bwMode="auto">
          <a:xfrm flipV="1">
            <a:off x="3419871" y="3549244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FF21D6C-6329-47CA-A8B0-6AAABA61CA58}"/>
              </a:ext>
            </a:extLst>
          </p:cNvPr>
          <p:cNvSpPr/>
          <p:nvPr/>
        </p:nvSpPr>
        <p:spPr>
          <a:xfrm>
            <a:off x="3995936" y="340946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26" name="表格 9">
            <a:extLst>
              <a:ext uri="{FF2B5EF4-FFF2-40B4-BE49-F238E27FC236}">
                <a16:creationId xmlns:a16="http://schemas.microsoft.com/office/drawing/2014/main" id="{4AA37AF8-870B-460B-9AFA-09AA33D2F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07566"/>
              </p:ext>
            </p:extLst>
          </p:nvPr>
        </p:nvGraphicFramePr>
        <p:xfrm>
          <a:off x="1619672" y="4540797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762951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实页号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84A4AB10-C72B-47D8-AE07-2C08DBF305B9}"/>
              </a:ext>
            </a:extLst>
          </p:cNvPr>
          <p:cNvSpPr/>
          <p:nvPr/>
        </p:nvSpPr>
        <p:spPr>
          <a:xfrm>
            <a:off x="1208083" y="4137852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9900"/>
                </a:solidFill>
              </a:rPr>
              <a:t>主存物理地址：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0B14734-106D-42F2-8AE3-7F96D538A82F}"/>
              </a:ext>
            </a:extLst>
          </p:cNvPr>
          <p:cNvCxnSpPr>
            <a:cxnSpLocks/>
          </p:cNvCxnSpPr>
          <p:nvPr/>
        </p:nvCxnSpPr>
        <p:spPr bwMode="auto">
          <a:xfrm>
            <a:off x="1619672" y="5016498"/>
            <a:ext cx="0" cy="57274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0ABABB7-FCE3-42D1-BAD0-AFD81CB71002}"/>
              </a:ext>
            </a:extLst>
          </p:cNvPr>
          <p:cNvCxnSpPr/>
          <p:nvPr/>
        </p:nvCxnSpPr>
        <p:spPr bwMode="auto">
          <a:xfrm>
            <a:off x="3419872" y="501068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3CADED7-7BC3-4C34-95BA-58DE98D623AE}"/>
              </a:ext>
            </a:extLst>
          </p:cNvPr>
          <p:cNvCxnSpPr>
            <a:cxnSpLocks/>
          </p:cNvCxnSpPr>
          <p:nvPr/>
        </p:nvCxnSpPr>
        <p:spPr bwMode="auto">
          <a:xfrm>
            <a:off x="5182823" y="5016498"/>
            <a:ext cx="0" cy="57274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BA61ABC-E600-4FFF-85C2-7E66104ADD8A}"/>
              </a:ext>
            </a:extLst>
          </p:cNvPr>
          <p:cNvCxnSpPr>
            <a:cxnSpLocks/>
          </p:cNvCxnSpPr>
          <p:nvPr/>
        </p:nvCxnSpPr>
        <p:spPr bwMode="auto">
          <a:xfrm>
            <a:off x="1619672" y="5151791"/>
            <a:ext cx="180020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2D3FBFE6-B647-4DC4-B09B-0F50DC5B661B}"/>
              </a:ext>
            </a:extLst>
          </p:cNvPr>
          <p:cNvSpPr/>
          <p:nvPr/>
        </p:nvSpPr>
        <p:spPr>
          <a:xfrm>
            <a:off x="2195736" y="499343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12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0CAEBB-3B93-4963-8399-EB7AF2C551BE}"/>
              </a:ext>
            </a:extLst>
          </p:cNvPr>
          <p:cNvCxnSpPr>
            <a:cxnSpLocks/>
          </p:cNvCxnSpPr>
          <p:nvPr/>
        </p:nvCxnSpPr>
        <p:spPr bwMode="auto">
          <a:xfrm flipV="1">
            <a:off x="3419871" y="5133211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DBFFEEF-798B-4BFF-952C-63C49B88E865}"/>
              </a:ext>
            </a:extLst>
          </p:cNvPr>
          <p:cNvSpPr/>
          <p:nvPr/>
        </p:nvSpPr>
        <p:spPr>
          <a:xfrm>
            <a:off x="3995936" y="499343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34AC237-ED47-432D-8B54-A871988A9762}"/>
              </a:ext>
            </a:extLst>
          </p:cNvPr>
          <p:cNvCxnSpPr>
            <a:cxnSpLocks/>
          </p:cNvCxnSpPr>
          <p:nvPr/>
        </p:nvCxnSpPr>
        <p:spPr bwMode="auto">
          <a:xfrm>
            <a:off x="1095618" y="3898046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59EB2D1-44CD-415D-831D-549D20F86DBE}"/>
              </a:ext>
            </a:extLst>
          </p:cNvPr>
          <p:cNvCxnSpPr>
            <a:cxnSpLocks/>
          </p:cNvCxnSpPr>
          <p:nvPr/>
        </p:nvCxnSpPr>
        <p:spPr bwMode="auto">
          <a:xfrm>
            <a:off x="1619672" y="5451894"/>
            <a:ext cx="3563151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BD594F5D-6717-41D7-9B2D-787337D5D690}"/>
              </a:ext>
            </a:extLst>
          </p:cNvPr>
          <p:cNvSpPr/>
          <p:nvPr/>
        </p:nvSpPr>
        <p:spPr>
          <a:xfrm>
            <a:off x="2747098" y="3757757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A1A86B-83CC-48AC-BB88-E3BB8F85DF13}"/>
              </a:ext>
            </a:extLst>
          </p:cNvPr>
          <p:cNvSpPr/>
          <p:nvPr/>
        </p:nvSpPr>
        <p:spPr>
          <a:xfrm>
            <a:off x="3131840" y="5301208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24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49" name="表格 9">
            <a:extLst>
              <a:ext uri="{FF2B5EF4-FFF2-40B4-BE49-F238E27FC236}">
                <a16:creationId xmlns:a16="http://schemas.microsoft.com/office/drawing/2014/main" id="{89E660ED-C85C-4026-9CB8-2A85C0BCC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554595"/>
              </p:ext>
            </p:extLst>
          </p:nvPr>
        </p:nvGraphicFramePr>
        <p:xfrm>
          <a:off x="1619672" y="5675807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826847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B4E9C18-31C7-48D6-AED9-CD8A3722CCE8}"/>
              </a:ext>
            </a:extLst>
          </p:cNvPr>
          <p:cNvCxnSpPr/>
          <p:nvPr/>
        </p:nvCxnSpPr>
        <p:spPr bwMode="auto">
          <a:xfrm>
            <a:off x="1619672" y="615864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F1C8586-B8F3-4D79-ADD6-26B0DEF7DFDC}"/>
              </a:ext>
            </a:extLst>
          </p:cNvPr>
          <p:cNvCxnSpPr/>
          <p:nvPr/>
        </p:nvCxnSpPr>
        <p:spPr bwMode="auto">
          <a:xfrm>
            <a:off x="4355976" y="61528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59B96ED-F9F9-40C9-AF25-3FB21539201D}"/>
              </a:ext>
            </a:extLst>
          </p:cNvPr>
          <p:cNvCxnSpPr/>
          <p:nvPr/>
        </p:nvCxnSpPr>
        <p:spPr bwMode="auto">
          <a:xfrm>
            <a:off x="5182823" y="615864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1F5A2DF-5394-441E-9FE2-A6174B79D4F4}"/>
              </a:ext>
            </a:extLst>
          </p:cNvPr>
          <p:cNvCxnSpPr>
            <a:cxnSpLocks/>
          </p:cNvCxnSpPr>
          <p:nvPr/>
        </p:nvCxnSpPr>
        <p:spPr bwMode="auto">
          <a:xfrm>
            <a:off x="1619672" y="6286671"/>
            <a:ext cx="208823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8F8BAC0-0460-4BA7-8E34-B5430BFC8A06}"/>
              </a:ext>
            </a:extLst>
          </p:cNvPr>
          <p:cNvSpPr/>
          <p:nvPr/>
        </p:nvSpPr>
        <p:spPr>
          <a:xfrm>
            <a:off x="2357170" y="613549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89C39FA-2519-4511-93DD-04E183A9CA31}"/>
              </a:ext>
            </a:extLst>
          </p:cNvPr>
          <p:cNvCxnSpPr>
            <a:cxnSpLocks/>
          </p:cNvCxnSpPr>
          <p:nvPr/>
        </p:nvCxnSpPr>
        <p:spPr bwMode="auto">
          <a:xfrm>
            <a:off x="4355975" y="6281035"/>
            <a:ext cx="826848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C4292C5D-6AF3-47AA-AB94-CE36AFB250E7}"/>
              </a:ext>
            </a:extLst>
          </p:cNvPr>
          <p:cNvSpPr/>
          <p:nvPr/>
        </p:nvSpPr>
        <p:spPr>
          <a:xfrm>
            <a:off x="4549382" y="6135496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5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C44A833-8458-433F-AACD-E1E00BA93587}"/>
              </a:ext>
            </a:extLst>
          </p:cNvPr>
          <p:cNvCxnSpPr/>
          <p:nvPr/>
        </p:nvCxnSpPr>
        <p:spPr bwMode="auto">
          <a:xfrm>
            <a:off x="3707904" y="61528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1EF725C-040E-4B2D-8812-2C9697B0DAC6}"/>
              </a:ext>
            </a:extLst>
          </p:cNvPr>
          <p:cNvCxnSpPr>
            <a:cxnSpLocks/>
          </p:cNvCxnSpPr>
          <p:nvPr/>
        </p:nvCxnSpPr>
        <p:spPr bwMode="auto">
          <a:xfrm>
            <a:off x="3707904" y="6286871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2E32E750-D282-4F25-8C47-625F61EEF330}"/>
              </a:ext>
            </a:extLst>
          </p:cNvPr>
          <p:cNvSpPr/>
          <p:nvPr/>
        </p:nvSpPr>
        <p:spPr>
          <a:xfrm>
            <a:off x="3811134" y="6135496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3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C5F29476-ECA9-4D04-BC71-F2C56F316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931" y="5589240"/>
            <a:ext cx="981756" cy="633229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927AA091-1A0B-4EF5-BD62-4D0945CA8260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30650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/>
      <p:bldP spid="32" grpId="0" animBg="1"/>
      <p:bldP spid="34" grpId="0" animBg="1"/>
      <p:bldP spid="39" grpId="0" animBg="1"/>
      <p:bldP spid="40" grpId="0" animBg="1"/>
      <p:bldP spid="54" grpId="0" animBg="1"/>
      <p:bldP spid="56" grpId="0" animBg="1"/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2087890" cy="93641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习题 </a:t>
            </a:r>
            <a:r>
              <a:rPr lang="en-US" altLang="zh-CN" sz="2400"/>
              <a:t>4.38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地址映射举例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6660C2-E8FA-4F75-BA79-9A9623FCADDF}"/>
              </a:ext>
            </a:extLst>
          </p:cNvPr>
          <p:cNvSpPr/>
          <p:nvPr/>
        </p:nvSpPr>
        <p:spPr>
          <a:xfrm rot="16200000">
            <a:off x="5423633" y="2264069"/>
            <a:ext cx="2505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 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页表的部分内容</a:t>
            </a:r>
            <a:endParaRPr lang="zh-CN" altLang="en-US" sz="18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C3453E-F91F-4C50-AB9E-730D95060D82}"/>
              </a:ext>
            </a:extLst>
          </p:cNvPr>
          <p:cNvSpPr/>
          <p:nvPr/>
        </p:nvSpPr>
        <p:spPr>
          <a:xfrm rot="16200000">
            <a:off x="5332263" y="5125026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  Cache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地址映射表</a:t>
            </a:r>
            <a:endParaRPr lang="zh-CN" altLang="en-US" sz="2000" b="1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6490E0-CED8-4C88-B33E-6B85E10B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76671"/>
            <a:ext cx="1800200" cy="34213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140B2E-CF85-4355-B895-90A23B06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596" y="3757931"/>
            <a:ext cx="2087893" cy="2983437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25B44E2-AA0B-4C26-B761-8868028EB11A}"/>
              </a:ext>
            </a:extLst>
          </p:cNvPr>
          <p:cNvSpPr txBox="1">
            <a:spLocks/>
          </p:cNvSpPr>
          <p:nvPr/>
        </p:nvSpPr>
        <p:spPr bwMode="auto">
          <a:xfrm>
            <a:off x="174673" y="3418674"/>
            <a:ext cx="6170734" cy="902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3</a:t>
            </a:r>
            <a:r>
              <a:rPr lang="en-US" altLang="zh-CN" sz="2400" kern="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某指令访问主存，</a:t>
            </a:r>
            <a:r>
              <a:rPr lang="zh-CN" altLang="en-US" sz="2400">
                <a:solidFill>
                  <a:srgbClr val="CC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虚拟地址为 </a:t>
            </a:r>
            <a:r>
              <a:rPr lang="en-US" altLang="zh-CN" sz="24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00056A8H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AC0806-20C6-4F6C-8029-EE8FEAC1F678}"/>
              </a:ext>
            </a:extLst>
          </p:cNvPr>
          <p:cNvSpPr/>
          <p:nvPr/>
        </p:nvSpPr>
        <p:spPr>
          <a:xfrm>
            <a:off x="2239588" y="548680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BC376466-53BA-4F0A-977F-B923341FC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37976"/>
              </p:ext>
            </p:extLst>
          </p:nvPr>
        </p:nvGraphicFramePr>
        <p:xfrm>
          <a:off x="2127124" y="950343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4253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762951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虚页号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7478EA-1026-48BC-823A-4704FDD7F258}"/>
              </a:ext>
            </a:extLst>
          </p:cNvPr>
          <p:cNvCxnSpPr>
            <a:cxnSpLocks/>
          </p:cNvCxnSpPr>
          <p:nvPr/>
        </p:nvCxnSpPr>
        <p:spPr bwMode="auto">
          <a:xfrm>
            <a:off x="2127124" y="1418591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D9D1725-99B3-4EA3-8E22-9A51547A7036}"/>
              </a:ext>
            </a:extLst>
          </p:cNvPr>
          <p:cNvCxnSpPr/>
          <p:nvPr/>
        </p:nvCxnSpPr>
        <p:spPr bwMode="auto">
          <a:xfrm>
            <a:off x="4451377" y="141277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2B51B9-78C8-4A03-8BEF-B4F19FDA5614}"/>
              </a:ext>
            </a:extLst>
          </p:cNvPr>
          <p:cNvCxnSpPr>
            <a:cxnSpLocks/>
          </p:cNvCxnSpPr>
          <p:nvPr/>
        </p:nvCxnSpPr>
        <p:spPr bwMode="auto">
          <a:xfrm>
            <a:off x="6214328" y="1418591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5C4B69B-8C3E-41B4-9801-1D50F5B1E3AB}"/>
              </a:ext>
            </a:extLst>
          </p:cNvPr>
          <p:cNvCxnSpPr>
            <a:cxnSpLocks/>
          </p:cNvCxnSpPr>
          <p:nvPr/>
        </p:nvCxnSpPr>
        <p:spPr bwMode="auto">
          <a:xfrm>
            <a:off x="2127124" y="1553884"/>
            <a:ext cx="23242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10721B9-F0A3-497A-9E7D-F38B055C9C80}"/>
              </a:ext>
            </a:extLst>
          </p:cNvPr>
          <p:cNvSpPr/>
          <p:nvPr/>
        </p:nvSpPr>
        <p:spPr>
          <a:xfrm>
            <a:off x="2939209" y="139552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0A2C776-037E-430C-907C-B3D7D2BAECCD}"/>
              </a:ext>
            </a:extLst>
          </p:cNvPr>
          <p:cNvCxnSpPr>
            <a:cxnSpLocks/>
          </p:cNvCxnSpPr>
          <p:nvPr/>
        </p:nvCxnSpPr>
        <p:spPr bwMode="auto">
          <a:xfrm flipV="1">
            <a:off x="4451376" y="1535304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FF21D6C-6329-47CA-A8B0-6AAABA61CA58}"/>
              </a:ext>
            </a:extLst>
          </p:cNvPr>
          <p:cNvSpPr/>
          <p:nvPr/>
        </p:nvSpPr>
        <p:spPr>
          <a:xfrm>
            <a:off x="5004048" y="139552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26" name="表格 9">
            <a:extLst>
              <a:ext uri="{FF2B5EF4-FFF2-40B4-BE49-F238E27FC236}">
                <a16:creationId xmlns:a16="http://schemas.microsoft.com/office/drawing/2014/main" id="{4AA37AF8-870B-460B-9AFA-09AA33D2F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166981"/>
              </p:ext>
            </p:extLst>
          </p:nvPr>
        </p:nvGraphicFramePr>
        <p:xfrm>
          <a:off x="2651177" y="2178045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762951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实页号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84A4AB10-C72B-47D8-AE07-2C08DBF305B9}"/>
              </a:ext>
            </a:extLst>
          </p:cNvPr>
          <p:cNvSpPr/>
          <p:nvPr/>
        </p:nvSpPr>
        <p:spPr>
          <a:xfrm>
            <a:off x="2239588" y="177510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9900"/>
                </a:solidFill>
              </a:rPr>
              <a:t>主存物理地址：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0B14734-106D-42F2-8AE3-7F96D538A82F}"/>
              </a:ext>
            </a:extLst>
          </p:cNvPr>
          <p:cNvCxnSpPr>
            <a:cxnSpLocks/>
          </p:cNvCxnSpPr>
          <p:nvPr/>
        </p:nvCxnSpPr>
        <p:spPr bwMode="auto">
          <a:xfrm>
            <a:off x="2651177" y="2653746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0ABABB7-FCE3-42D1-BAD0-AFD81CB71002}"/>
              </a:ext>
            </a:extLst>
          </p:cNvPr>
          <p:cNvCxnSpPr/>
          <p:nvPr/>
        </p:nvCxnSpPr>
        <p:spPr bwMode="auto">
          <a:xfrm>
            <a:off x="4451377" y="26479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3CADED7-7BC3-4C34-95BA-58DE98D623AE}"/>
              </a:ext>
            </a:extLst>
          </p:cNvPr>
          <p:cNvCxnSpPr>
            <a:cxnSpLocks/>
          </p:cNvCxnSpPr>
          <p:nvPr/>
        </p:nvCxnSpPr>
        <p:spPr bwMode="auto">
          <a:xfrm>
            <a:off x="6214328" y="2653746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BA61ABC-E600-4FFF-85C2-7E66104ADD8A}"/>
              </a:ext>
            </a:extLst>
          </p:cNvPr>
          <p:cNvCxnSpPr>
            <a:cxnSpLocks/>
          </p:cNvCxnSpPr>
          <p:nvPr/>
        </p:nvCxnSpPr>
        <p:spPr bwMode="auto">
          <a:xfrm>
            <a:off x="2651177" y="2789039"/>
            <a:ext cx="180020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2D3FBFE6-B647-4DC4-B09B-0F50DC5B661B}"/>
              </a:ext>
            </a:extLst>
          </p:cNvPr>
          <p:cNvSpPr/>
          <p:nvPr/>
        </p:nvSpPr>
        <p:spPr>
          <a:xfrm>
            <a:off x="3227241" y="263067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12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0CAEBB-3B93-4963-8399-EB7AF2C551BE}"/>
              </a:ext>
            </a:extLst>
          </p:cNvPr>
          <p:cNvCxnSpPr>
            <a:cxnSpLocks/>
          </p:cNvCxnSpPr>
          <p:nvPr/>
        </p:nvCxnSpPr>
        <p:spPr bwMode="auto">
          <a:xfrm flipV="1">
            <a:off x="4451376" y="2770459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DBFFEEF-798B-4BFF-952C-63C49B88E865}"/>
              </a:ext>
            </a:extLst>
          </p:cNvPr>
          <p:cNvSpPr/>
          <p:nvPr/>
        </p:nvSpPr>
        <p:spPr>
          <a:xfrm>
            <a:off x="5027441" y="263067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49" name="表格 9">
            <a:extLst>
              <a:ext uri="{FF2B5EF4-FFF2-40B4-BE49-F238E27FC236}">
                <a16:creationId xmlns:a16="http://schemas.microsoft.com/office/drawing/2014/main" id="{89E660ED-C85C-4026-9CB8-2A85C0BCC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097972"/>
              </p:ext>
            </p:extLst>
          </p:nvPr>
        </p:nvGraphicFramePr>
        <p:xfrm>
          <a:off x="2651177" y="3025023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826847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B4E9C18-31C7-48D6-AED9-CD8A3722CCE8}"/>
              </a:ext>
            </a:extLst>
          </p:cNvPr>
          <p:cNvCxnSpPr/>
          <p:nvPr/>
        </p:nvCxnSpPr>
        <p:spPr bwMode="auto">
          <a:xfrm>
            <a:off x="2651177" y="350786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F1C8586-B8F3-4D79-ADD6-26B0DEF7DFDC}"/>
              </a:ext>
            </a:extLst>
          </p:cNvPr>
          <p:cNvCxnSpPr/>
          <p:nvPr/>
        </p:nvCxnSpPr>
        <p:spPr bwMode="auto">
          <a:xfrm>
            <a:off x="5387481" y="350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59B96ED-F9F9-40C9-AF25-3FB21539201D}"/>
              </a:ext>
            </a:extLst>
          </p:cNvPr>
          <p:cNvCxnSpPr/>
          <p:nvPr/>
        </p:nvCxnSpPr>
        <p:spPr bwMode="auto">
          <a:xfrm>
            <a:off x="6214328" y="350786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1F5A2DF-5394-441E-9FE2-A6174B79D4F4}"/>
              </a:ext>
            </a:extLst>
          </p:cNvPr>
          <p:cNvCxnSpPr>
            <a:cxnSpLocks/>
          </p:cNvCxnSpPr>
          <p:nvPr/>
        </p:nvCxnSpPr>
        <p:spPr bwMode="auto">
          <a:xfrm>
            <a:off x="2651177" y="3635887"/>
            <a:ext cx="208823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8F8BAC0-0460-4BA7-8E34-B5430BFC8A06}"/>
              </a:ext>
            </a:extLst>
          </p:cNvPr>
          <p:cNvSpPr/>
          <p:nvPr/>
        </p:nvSpPr>
        <p:spPr>
          <a:xfrm>
            <a:off x="3388675" y="3484712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89C39FA-2519-4511-93DD-04E183A9CA31}"/>
              </a:ext>
            </a:extLst>
          </p:cNvPr>
          <p:cNvCxnSpPr>
            <a:cxnSpLocks/>
          </p:cNvCxnSpPr>
          <p:nvPr/>
        </p:nvCxnSpPr>
        <p:spPr bwMode="auto">
          <a:xfrm>
            <a:off x="5387480" y="3630251"/>
            <a:ext cx="826848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C4292C5D-6AF3-47AA-AB94-CE36AFB250E7}"/>
              </a:ext>
            </a:extLst>
          </p:cNvPr>
          <p:cNvSpPr/>
          <p:nvPr/>
        </p:nvSpPr>
        <p:spPr>
          <a:xfrm>
            <a:off x="5580887" y="3484712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5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C44A833-8458-433F-AACD-E1E00BA93587}"/>
              </a:ext>
            </a:extLst>
          </p:cNvPr>
          <p:cNvCxnSpPr/>
          <p:nvPr/>
        </p:nvCxnSpPr>
        <p:spPr bwMode="auto">
          <a:xfrm>
            <a:off x="4739409" y="350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1EF725C-040E-4B2D-8812-2C9697B0DAC6}"/>
              </a:ext>
            </a:extLst>
          </p:cNvPr>
          <p:cNvCxnSpPr>
            <a:cxnSpLocks/>
          </p:cNvCxnSpPr>
          <p:nvPr/>
        </p:nvCxnSpPr>
        <p:spPr bwMode="auto">
          <a:xfrm>
            <a:off x="4739409" y="3636087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2E32E750-D282-4F25-8C47-625F61EEF330}"/>
              </a:ext>
            </a:extLst>
          </p:cNvPr>
          <p:cNvSpPr/>
          <p:nvPr/>
        </p:nvSpPr>
        <p:spPr>
          <a:xfrm>
            <a:off x="4842639" y="3484712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3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C5F29476-ECA9-4D04-BC71-F2C56F316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436" y="2938456"/>
            <a:ext cx="981756" cy="63322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56D76C4-643D-4038-9A7E-6D955481C3B2}"/>
              </a:ext>
            </a:extLst>
          </p:cNvPr>
          <p:cNvSpPr/>
          <p:nvPr/>
        </p:nvSpPr>
        <p:spPr>
          <a:xfrm>
            <a:off x="2600620" y="4277694"/>
            <a:ext cx="1611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6600CC"/>
                </a:solidFill>
                <a:cs typeface="Times New Roman" panose="02020603050405020304" pitchFamily="18" charset="0"/>
              </a:rPr>
              <a:t>0005 6A8</a:t>
            </a:r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ED8215-EB58-4AE5-95AA-17719ED24B90}"/>
              </a:ext>
            </a:extLst>
          </p:cNvPr>
          <p:cNvSpPr/>
          <p:nvPr/>
        </p:nvSpPr>
        <p:spPr bwMode="auto">
          <a:xfrm>
            <a:off x="7183125" y="2872995"/>
            <a:ext cx="1781363" cy="296925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B5974E5-6E79-461D-8709-6F6C974B451E}"/>
              </a:ext>
            </a:extLst>
          </p:cNvPr>
          <p:cNvSpPr/>
          <p:nvPr/>
        </p:nvSpPr>
        <p:spPr>
          <a:xfrm>
            <a:off x="2700007" y="4688720"/>
            <a:ext cx="15119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6600CC"/>
                </a:solidFill>
                <a:cs typeface="Times New Roman" panose="02020603050405020304" pitchFamily="18" charset="0"/>
              </a:rPr>
              <a:t>20D 6A8</a:t>
            </a: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A056B9-03F9-4AA1-A801-4C0C41B48B82}"/>
              </a:ext>
            </a:extLst>
          </p:cNvPr>
          <p:cNvSpPr/>
          <p:nvPr/>
        </p:nvSpPr>
        <p:spPr>
          <a:xfrm>
            <a:off x="855763" y="4245286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虚拟地址：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F2729E2-C4FD-4662-B732-648EFFB080F4}"/>
              </a:ext>
            </a:extLst>
          </p:cNvPr>
          <p:cNvSpPr/>
          <p:nvPr/>
        </p:nvSpPr>
        <p:spPr>
          <a:xfrm>
            <a:off x="134412" y="4665107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rgbClr val="008000"/>
                </a:solidFill>
                <a:cs typeface="Times New Roman" panose="02020603050405020304" pitchFamily="18" charset="0"/>
              </a:rPr>
              <a:t>主存物理地址：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27CA99-F4C7-4BEF-A3BF-6370E5CAE6A3}"/>
              </a:ext>
            </a:extLst>
          </p:cNvPr>
          <p:cNvSpPr/>
          <p:nvPr/>
        </p:nvSpPr>
        <p:spPr bwMode="auto">
          <a:xfrm>
            <a:off x="2780817" y="4775048"/>
            <a:ext cx="675166" cy="3508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888169AD-64A5-40FF-ABA6-98A94A651019}"/>
              </a:ext>
            </a:extLst>
          </p:cNvPr>
          <p:cNvSpPr/>
          <p:nvPr/>
        </p:nvSpPr>
        <p:spPr bwMode="auto">
          <a:xfrm>
            <a:off x="3771075" y="5153332"/>
            <a:ext cx="288033" cy="343497"/>
          </a:xfrm>
          <a:prstGeom prst="downArrow">
            <a:avLst>
              <a:gd name="adj1" fmla="val 50000"/>
              <a:gd name="adj2" fmla="val 71368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8FD3D0D-41E0-4073-AA05-E213D734FF36}"/>
              </a:ext>
            </a:extLst>
          </p:cNvPr>
          <p:cNvSpPr/>
          <p:nvPr/>
        </p:nvSpPr>
        <p:spPr>
          <a:xfrm>
            <a:off x="3059728" y="5424634"/>
            <a:ext cx="1710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FF0000"/>
                </a:solidFill>
                <a:cs typeface="Times New Roman" panose="02020603050405020304" pitchFamily="18" charset="0"/>
              </a:rPr>
              <a:t>101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0 1000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2E33723-37DB-4A18-AD78-D1F5A87E6652}"/>
              </a:ext>
            </a:extLst>
          </p:cNvPr>
          <p:cNvSpPr/>
          <p:nvPr/>
        </p:nvSpPr>
        <p:spPr>
          <a:xfrm>
            <a:off x="2423380" y="4998983"/>
            <a:ext cx="6693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Tag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6DCFFBC-65D4-49C8-A7AF-9A32033F3EA1}"/>
              </a:ext>
            </a:extLst>
          </p:cNvPr>
          <p:cNvSpPr/>
          <p:nvPr/>
        </p:nvSpPr>
        <p:spPr>
          <a:xfrm>
            <a:off x="2483485" y="5738221"/>
            <a:ext cx="938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Index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2FBA345-0C11-4688-8477-B988E9C6BBB5}"/>
              </a:ext>
            </a:extLst>
          </p:cNvPr>
          <p:cNvSpPr/>
          <p:nvPr/>
        </p:nvSpPr>
        <p:spPr bwMode="auto">
          <a:xfrm>
            <a:off x="6928339" y="5755806"/>
            <a:ext cx="2036150" cy="284510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1CC6556-B9DE-4C07-B08A-F5D2661B2B1A}"/>
              </a:ext>
            </a:extLst>
          </p:cNvPr>
          <p:cNvSpPr/>
          <p:nvPr/>
        </p:nvSpPr>
        <p:spPr bwMode="auto">
          <a:xfrm>
            <a:off x="2648265" y="4360518"/>
            <a:ext cx="807718" cy="3508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006B41A5-5D7C-4736-9280-3F4A8E2A1B20}"/>
              </a:ext>
            </a:extLst>
          </p:cNvPr>
          <p:cNvSpPr/>
          <p:nvPr/>
        </p:nvSpPr>
        <p:spPr bwMode="auto">
          <a:xfrm>
            <a:off x="3446585" y="3024631"/>
            <a:ext cx="3736730" cy="1336353"/>
          </a:xfrm>
          <a:custGeom>
            <a:avLst/>
            <a:gdLst>
              <a:gd name="connsiteX0" fmla="*/ 0 w 3736730"/>
              <a:gd name="connsiteY0" fmla="*/ 1377760 h 1377760"/>
              <a:gd name="connsiteX1" fmla="*/ 1512277 w 3736730"/>
              <a:gd name="connsiteY1" fmla="*/ 208383 h 1377760"/>
              <a:gd name="connsiteX2" fmla="*/ 3736730 w 3736730"/>
              <a:gd name="connsiteY2" fmla="*/ 6160 h 137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6730" h="1377760">
                <a:moveTo>
                  <a:pt x="0" y="1377760"/>
                </a:moveTo>
                <a:cubicBezTo>
                  <a:pt x="444744" y="907371"/>
                  <a:pt x="889489" y="436983"/>
                  <a:pt x="1512277" y="208383"/>
                </a:cubicBezTo>
                <a:cubicBezTo>
                  <a:pt x="2135065" y="-20217"/>
                  <a:pt x="2935897" y="-7029"/>
                  <a:pt x="3736730" y="6160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EF5396F4-FB7E-4DA0-978A-320759ED3488}"/>
              </a:ext>
            </a:extLst>
          </p:cNvPr>
          <p:cNvSpPr/>
          <p:nvPr/>
        </p:nvSpPr>
        <p:spPr bwMode="auto">
          <a:xfrm>
            <a:off x="3599180" y="5852160"/>
            <a:ext cx="3332843" cy="89656"/>
          </a:xfrm>
          <a:custGeom>
            <a:avLst/>
            <a:gdLst>
              <a:gd name="connsiteX0" fmla="*/ 0 w 3248297"/>
              <a:gd name="connsiteY0" fmla="*/ 0 h 154094"/>
              <a:gd name="connsiteX1" fmla="*/ 609600 w 3248297"/>
              <a:gd name="connsiteY1" fmla="*/ 139337 h 154094"/>
              <a:gd name="connsiteX2" fmla="*/ 2325188 w 3248297"/>
              <a:gd name="connsiteY2" fmla="*/ 148046 h 154094"/>
              <a:gd name="connsiteX3" fmla="*/ 3248297 w 3248297"/>
              <a:gd name="connsiteY3" fmla="*/ 121920 h 1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8297" h="154094">
                <a:moveTo>
                  <a:pt x="0" y="0"/>
                </a:moveTo>
                <a:cubicBezTo>
                  <a:pt x="111034" y="57331"/>
                  <a:pt x="222069" y="114663"/>
                  <a:pt x="609600" y="139337"/>
                </a:cubicBezTo>
                <a:cubicBezTo>
                  <a:pt x="997131" y="164011"/>
                  <a:pt x="1885405" y="150949"/>
                  <a:pt x="2325188" y="148046"/>
                </a:cubicBezTo>
                <a:cubicBezTo>
                  <a:pt x="2764971" y="145143"/>
                  <a:pt x="3006634" y="133531"/>
                  <a:pt x="3248297" y="121920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79A92327-4FB7-4C07-A84C-C1F4083F74C9}"/>
              </a:ext>
            </a:extLst>
          </p:cNvPr>
          <p:cNvSpPr/>
          <p:nvPr/>
        </p:nvSpPr>
        <p:spPr bwMode="auto">
          <a:xfrm>
            <a:off x="3457303" y="3161211"/>
            <a:ext cx="4528457" cy="1635005"/>
          </a:xfrm>
          <a:custGeom>
            <a:avLst/>
            <a:gdLst>
              <a:gd name="connsiteX0" fmla="*/ 4528457 w 4528457"/>
              <a:gd name="connsiteY0" fmla="*/ 0 h 1724298"/>
              <a:gd name="connsiteX1" fmla="*/ 1515291 w 4528457"/>
              <a:gd name="connsiteY1" fmla="*/ 1349829 h 1724298"/>
              <a:gd name="connsiteX2" fmla="*/ 0 w 4528457"/>
              <a:gd name="connsiteY2" fmla="*/ 1724298 h 172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8457" h="1724298">
                <a:moveTo>
                  <a:pt x="4528457" y="0"/>
                </a:moveTo>
                <a:cubicBezTo>
                  <a:pt x="3399245" y="531223"/>
                  <a:pt x="2270034" y="1062446"/>
                  <a:pt x="1515291" y="1349829"/>
                </a:cubicBezTo>
                <a:cubicBezTo>
                  <a:pt x="760548" y="1637212"/>
                  <a:pt x="380274" y="1680755"/>
                  <a:pt x="0" y="1724298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0F800BE-5322-4B18-BAC5-4D0CF31F3A5E}"/>
              </a:ext>
            </a:extLst>
          </p:cNvPr>
          <p:cNvSpPr/>
          <p:nvPr/>
        </p:nvSpPr>
        <p:spPr bwMode="auto">
          <a:xfrm>
            <a:off x="7893050" y="5778500"/>
            <a:ext cx="635000" cy="285750"/>
          </a:xfrm>
          <a:prstGeom prst="rect">
            <a:avLst/>
          </a:prstGeom>
          <a:solidFill>
            <a:srgbClr val="00FF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6B77C81-99FD-4B05-9495-C141FA57C98E}"/>
              </a:ext>
            </a:extLst>
          </p:cNvPr>
          <p:cNvSpPr/>
          <p:nvPr/>
        </p:nvSpPr>
        <p:spPr bwMode="auto">
          <a:xfrm>
            <a:off x="3149257" y="5510810"/>
            <a:ext cx="552137" cy="350868"/>
          </a:xfrm>
          <a:prstGeom prst="rect">
            <a:avLst/>
          </a:prstGeom>
          <a:solidFill>
            <a:srgbClr val="FFCC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AC9488F-B058-4574-BFC2-757AA8A3B0C6}"/>
              </a:ext>
            </a:extLst>
          </p:cNvPr>
          <p:cNvSpPr/>
          <p:nvPr/>
        </p:nvSpPr>
        <p:spPr bwMode="auto">
          <a:xfrm>
            <a:off x="2784269" y="4781137"/>
            <a:ext cx="899707" cy="350868"/>
          </a:xfrm>
          <a:prstGeom prst="rect">
            <a:avLst/>
          </a:prstGeom>
          <a:solidFill>
            <a:srgbClr val="00FF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E771E14-7080-43C0-B6C0-3FE9EDC98C7B}"/>
              </a:ext>
            </a:extLst>
          </p:cNvPr>
          <p:cNvSpPr/>
          <p:nvPr/>
        </p:nvSpPr>
        <p:spPr>
          <a:xfrm>
            <a:off x="186802" y="6074132"/>
            <a:ext cx="2945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008000"/>
                </a:solidFill>
                <a:cs typeface="Times New Roman" panose="02020603050405020304" pitchFamily="18" charset="0"/>
              </a:rPr>
              <a:t>Cache</a:t>
            </a:r>
            <a:r>
              <a:rPr lang="zh-CN" altLang="en-US">
                <a:solidFill>
                  <a:srgbClr val="008000"/>
                </a:solidFill>
                <a:cs typeface="Times New Roman" panose="02020603050405020304" pitchFamily="18" charset="0"/>
              </a:rPr>
              <a:t>内部地址：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EDC09A-5ADD-4856-90F3-5D2B210E3EFF}"/>
              </a:ext>
            </a:extLst>
          </p:cNvPr>
          <p:cNvSpPr/>
          <p:nvPr/>
        </p:nvSpPr>
        <p:spPr>
          <a:xfrm>
            <a:off x="3084015" y="6097745"/>
            <a:ext cx="20665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6600CC"/>
                </a:solidFill>
                <a:cs typeface="Times New Roman" panose="02020603050405020304" pitchFamily="18" charset="0"/>
              </a:rPr>
              <a:t>A8</a:t>
            </a:r>
            <a:r>
              <a:rPr lang="zh-CN" altLang="en-US">
                <a:solidFill>
                  <a:srgbClr val="6600CC"/>
                </a:solidFill>
                <a:cs typeface="Times New Roman" panose="02020603050405020304" pitchFamily="18" charset="0"/>
              </a:rPr>
              <a:t>（命中）</a:t>
            </a:r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9CE59FD5-20D3-4E93-A868-A8F13094635E}"/>
              </a:ext>
            </a:extLst>
          </p:cNvPr>
          <p:cNvSpPr/>
          <p:nvPr/>
        </p:nvSpPr>
        <p:spPr bwMode="auto">
          <a:xfrm>
            <a:off x="3666309" y="5120640"/>
            <a:ext cx="4241074" cy="731520"/>
          </a:xfrm>
          <a:custGeom>
            <a:avLst/>
            <a:gdLst>
              <a:gd name="connsiteX0" fmla="*/ 0 w 4241074"/>
              <a:gd name="connsiteY0" fmla="*/ 0 h 731520"/>
              <a:gd name="connsiteX1" fmla="*/ 992777 w 4241074"/>
              <a:gd name="connsiteY1" fmla="*/ 313509 h 731520"/>
              <a:gd name="connsiteX2" fmla="*/ 2995748 w 4241074"/>
              <a:gd name="connsiteY2" fmla="*/ 461554 h 731520"/>
              <a:gd name="connsiteX3" fmla="*/ 4241074 w 4241074"/>
              <a:gd name="connsiteY3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074" h="731520">
                <a:moveTo>
                  <a:pt x="0" y="0"/>
                </a:moveTo>
                <a:cubicBezTo>
                  <a:pt x="246743" y="118291"/>
                  <a:pt x="493486" y="236583"/>
                  <a:pt x="992777" y="313509"/>
                </a:cubicBezTo>
                <a:cubicBezTo>
                  <a:pt x="1492068" y="390435"/>
                  <a:pt x="2454365" y="391886"/>
                  <a:pt x="2995748" y="461554"/>
                </a:cubicBezTo>
                <a:cubicBezTo>
                  <a:pt x="3537131" y="531222"/>
                  <a:pt x="3889102" y="631371"/>
                  <a:pt x="4241074" y="731520"/>
                </a:cubicBezTo>
              </a:path>
            </a:pathLst>
          </a:cu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ABC6493-BB2A-448F-AF34-23C0FFECF30A}"/>
              </a:ext>
            </a:extLst>
          </p:cNvPr>
          <p:cNvSpPr/>
          <p:nvPr/>
        </p:nvSpPr>
        <p:spPr>
          <a:xfrm>
            <a:off x="4559443" y="5072089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8000"/>
                </a:solidFill>
              </a:rPr>
              <a:t>有效且相等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07FD11DF-AE00-46AB-936A-C29D16032B50}"/>
              </a:ext>
            </a:extLst>
          </p:cNvPr>
          <p:cNvSpPr/>
          <p:nvPr/>
        </p:nvSpPr>
        <p:spPr bwMode="auto">
          <a:xfrm>
            <a:off x="7412524" y="5771849"/>
            <a:ext cx="282585" cy="28258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0362783-46FB-4ECA-A248-74098AA94CD7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64835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1" grpId="0" animBg="1"/>
      <p:bldP spid="62" grpId="0"/>
      <p:bldP spid="20" grpId="0"/>
      <p:bldP spid="63" grpId="0"/>
      <p:bldP spid="21" grpId="0" animBg="1"/>
      <p:bldP spid="36" grpId="0" animBg="1"/>
      <p:bldP spid="64" grpId="0"/>
      <p:bldP spid="38" grpId="0"/>
      <p:bldP spid="66" grpId="0"/>
      <p:bldP spid="67" grpId="0" animBg="1"/>
      <p:bldP spid="68" grpId="0" animBg="1"/>
      <p:bldP spid="41" grpId="0" animBg="1"/>
      <p:bldP spid="43" grpId="0" animBg="1"/>
      <p:bldP spid="44" grpId="0" animBg="1"/>
      <p:bldP spid="70" grpId="0" animBg="1"/>
      <p:bldP spid="65" grpId="0" animBg="1"/>
      <p:bldP spid="69" grpId="0" animBg="1"/>
      <p:bldP spid="71" grpId="0"/>
      <p:bldP spid="45" grpId="0"/>
      <p:bldP spid="72" grpId="0" animBg="1"/>
      <p:bldP spid="73" grpId="0"/>
      <p:bldP spid="7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296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</a:p>
          <a:p>
            <a:pPr marL="0" indent="0">
              <a:buNone/>
            </a:pPr>
            <a:r>
              <a:rPr lang="en-US" altLang="zh-CN" sz="2400">
                <a:latin typeface="+mn-ea"/>
              </a:rPr>
              <a:t>(</a:t>
            </a:r>
            <a:r>
              <a:rPr lang="en-US" altLang="zh-CN" sz="2400"/>
              <a:t>4</a:t>
            </a:r>
            <a:r>
              <a:rPr lang="en-US" altLang="zh-CN" sz="2400">
                <a:latin typeface="+mn-ea"/>
              </a:rPr>
              <a:t>)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为该计算机配置一个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路组相联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TLB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共可存放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个页表项，其当前内容（十六进制）如图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所示。</a:t>
            </a:r>
            <a:endParaRPr lang="en-US" altLang="zh-CN" sz="2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Cache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地址映射举例</a:t>
            </a:r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0C6ED8FD-D36B-46F7-8E11-1CC68584B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81410"/>
            <a:ext cx="2133600" cy="324190"/>
          </a:xfrm>
        </p:spPr>
        <p:txBody>
          <a:bodyPr/>
          <a:lstStyle/>
          <a:p>
            <a:fld id="{AF18C6C0-B767-406C-B47F-6CEDD20A9255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F6C1FF-AF22-451A-B046-64BD92C7E90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7" y="1844824"/>
            <a:ext cx="9077037" cy="144016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444433-BC27-4056-8628-75EE9EE8EA00}"/>
              </a:ext>
            </a:extLst>
          </p:cNvPr>
          <p:cNvSpPr/>
          <p:nvPr/>
        </p:nvSpPr>
        <p:spPr>
          <a:xfrm>
            <a:off x="759690" y="3996309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66"/>
                </a:solidFill>
                <a:cs typeface="Times New Roman" panose="02020603050405020304" pitchFamily="18" charset="0"/>
              </a:rPr>
              <a:t>虚拟地址：</a:t>
            </a:r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00356A8H</a:t>
            </a:r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F5A5F4-590D-4FB3-B08E-3E725BFFF08A}"/>
              </a:ext>
            </a:extLst>
          </p:cNvPr>
          <p:cNvSpPr/>
          <p:nvPr/>
        </p:nvSpPr>
        <p:spPr>
          <a:xfrm>
            <a:off x="4751275" y="3340984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88347779-02C7-4543-BA2F-BFA24A0E7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26174"/>
              </p:ext>
            </p:extLst>
          </p:nvPr>
        </p:nvGraphicFramePr>
        <p:xfrm>
          <a:off x="4638811" y="3742647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5">
                  <a:extLst>
                    <a:ext uri="{9D8B030D-6E8A-4147-A177-3AD203B41FA5}">
                      <a16:colId xmlns:a16="http://schemas.microsoft.com/office/drawing/2014/main" val="392964195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782949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index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9655A0-9B95-4F28-8707-1CE1E988606D}"/>
              </a:ext>
            </a:extLst>
          </p:cNvPr>
          <p:cNvCxnSpPr>
            <a:cxnSpLocks/>
          </p:cNvCxnSpPr>
          <p:nvPr/>
        </p:nvCxnSpPr>
        <p:spPr bwMode="auto">
          <a:xfrm>
            <a:off x="4638811" y="418383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7B689C-8D67-44D8-BF7A-319DF58E5CF6}"/>
              </a:ext>
            </a:extLst>
          </p:cNvPr>
          <p:cNvCxnSpPr/>
          <p:nvPr/>
        </p:nvCxnSpPr>
        <p:spPr bwMode="auto">
          <a:xfrm>
            <a:off x="6963064" y="423386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6D95722-F1BA-40E7-B97B-350FADB1344D}"/>
              </a:ext>
            </a:extLst>
          </p:cNvPr>
          <p:cNvCxnSpPr>
            <a:cxnSpLocks/>
          </p:cNvCxnSpPr>
          <p:nvPr/>
        </p:nvCxnSpPr>
        <p:spPr bwMode="auto">
          <a:xfrm>
            <a:off x="8726015" y="418383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35A0F72-3CCE-4F08-AA98-1DC70CD1DBDE}"/>
              </a:ext>
            </a:extLst>
          </p:cNvPr>
          <p:cNvCxnSpPr>
            <a:cxnSpLocks/>
          </p:cNvCxnSpPr>
          <p:nvPr/>
        </p:nvCxnSpPr>
        <p:spPr bwMode="auto">
          <a:xfrm>
            <a:off x="4638811" y="4346188"/>
            <a:ext cx="1587547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D8D5518-BDF1-4856-B557-81630733121D}"/>
              </a:ext>
            </a:extLst>
          </p:cNvPr>
          <p:cNvSpPr/>
          <p:nvPr/>
        </p:nvSpPr>
        <p:spPr>
          <a:xfrm>
            <a:off x="5142866" y="417739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15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2EBA7E-518C-4E19-86CF-912A14C10A25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063" y="4346188"/>
            <a:ext cx="1762952" cy="233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7A134B9-1FF6-40B2-A586-0DDA93B96225}"/>
              </a:ext>
            </a:extLst>
          </p:cNvPr>
          <p:cNvSpPr/>
          <p:nvPr/>
        </p:nvSpPr>
        <p:spPr>
          <a:xfrm>
            <a:off x="7519130" y="417739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3BB031-C3B5-4837-A566-173C6F89E961}"/>
              </a:ext>
            </a:extLst>
          </p:cNvPr>
          <p:cNvCxnSpPr>
            <a:cxnSpLocks/>
          </p:cNvCxnSpPr>
          <p:nvPr/>
        </p:nvCxnSpPr>
        <p:spPr bwMode="auto">
          <a:xfrm>
            <a:off x="4638810" y="4676410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76C156C3-386B-48B2-8C99-54BC2A022743}"/>
              </a:ext>
            </a:extLst>
          </p:cNvPr>
          <p:cNvSpPr/>
          <p:nvPr/>
        </p:nvSpPr>
        <p:spPr>
          <a:xfrm>
            <a:off x="6290290" y="453612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27721BE-6162-42D4-8AF0-27BB00D8DE22}"/>
              </a:ext>
            </a:extLst>
          </p:cNvPr>
          <p:cNvCxnSpPr/>
          <p:nvPr/>
        </p:nvCxnSpPr>
        <p:spPr bwMode="auto">
          <a:xfrm>
            <a:off x="6226358" y="423386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A3DE1B6-B8CC-45F1-8815-5728809D3D9F}"/>
              </a:ext>
            </a:extLst>
          </p:cNvPr>
          <p:cNvCxnSpPr>
            <a:cxnSpLocks/>
          </p:cNvCxnSpPr>
          <p:nvPr/>
        </p:nvCxnSpPr>
        <p:spPr bwMode="auto">
          <a:xfrm>
            <a:off x="6226358" y="4346188"/>
            <a:ext cx="7367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8A042B1-2214-4FCF-8F2E-87916BA30085}"/>
              </a:ext>
            </a:extLst>
          </p:cNvPr>
          <p:cNvSpPr/>
          <p:nvPr/>
        </p:nvSpPr>
        <p:spPr>
          <a:xfrm>
            <a:off x="6401547" y="4177395"/>
            <a:ext cx="386324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C5D5B00-B18C-4CA3-85F5-D736D357AAF2}"/>
              </a:ext>
            </a:extLst>
          </p:cNvPr>
          <p:cNvSpPr/>
          <p:nvPr/>
        </p:nvSpPr>
        <p:spPr>
          <a:xfrm>
            <a:off x="417983" y="4941168"/>
            <a:ext cx="492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0000 0000 0011 0101 0110 1010 1000</a:t>
            </a:r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9F71BB-E1B9-4EC1-925C-60275BE4624A}"/>
              </a:ext>
            </a:extLst>
          </p:cNvPr>
          <p:cNvSpPr/>
          <p:nvPr/>
        </p:nvSpPr>
        <p:spPr bwMode="auto">
          <a:xfrm>
            <a:off x="3191433" y="5005277"/>
            <a:ext cx="205983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8C6B328-3D93-4ABD-9845-1F54AFD9510E}"/>
              </a:ext>
            </a:extLst>
          </p:cNvPr>
          <p:cNvSpPr/>
          <p:nvPr/>
        </p:nvSpPr>
        <p:spPr bwMode="auto">
          <a:xfrm>
            <a:off x="417983" y="5005277"/>
            <a:ext cx="258211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7EBBDB-6C40-4C79-AA87-C87DBA18EF0A}"/>
              </a:ext>
            </a:extLst>
          </p:cNvPr>
          <p:cNvSpPr/>
          <p:nvPr/>
        </p:nvSpPr>
        <p:spPr>
          <a:xfrm>
            <a:off x="1331640" y="5271388"/>
            <a:ext cx="669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</a:rPr>
              <a:t>Tag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26F12A-8510-4305-A7B8-4BD5B2AB8835}"/>
              </a:ext>
            </a:extLst>
          </p:cNvPr>
          <p:cNvSpPr/>
          <p:nvPr/>
        </p:nvSpPr>
        <p:spPr>
          <a:xfrm>
            <a:off x="2634950" y="5271388"/>
            <a:ext cx="902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8000"/>
                </a:solidFill>
                <a:cs typeface="Times New Roman" panose="02020603050405020304" pitchFamily="18" charset="0"/>
              </a:rPr>
              <a:t>index</a:t>
            </a:r>
            <a:endParaRPr lang="zh-CN" altLang="en-US" sz="2400">
              <a:solidFill>
                <a:srgbClr val="008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4100A3-1028-4E0F-9B28-6FAE7E6F6F2D}"/>
              </a:ext>
            </a:extLst>
          </p:cNvPr>
          <p:cNvSpPr/>
          <p:nvPr/>
        </p:nvSpPr>
        <p:spPr>
          <a:xfrm>
            <a:off x="3546948" y="5271388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9933FF"/>
                </a:solidFill>
              </a:rPr>
              <a:t>页内地址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DCD0B95-172B-4205-A914-D6F97F921358}"/>
              </a:ext>
            </a:extLst>
          </p:cNvPr>
          <p:cNvSpPr/>
          <p:nvPr/>
        </p:nvSpPr>
        <p:spPr bwMode="auto">
          <a:xfrm>
            <a:off x="3013163" y="5005277"/>
            <a:ext cx="152141" cy="336092"/>
          </a:xfrm>
          <a:prstGeom prst="roundRect">
            <a:avLst>
              <a:gd name="adj" fmla="val 37396"/>
            </a:avLst>
          </a:prstGeom>
          <a:noFill/>
          <a:ln w="38100" cap="flat" cmpd="sng" algn="ctr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E4E3D5-6884-4A72-8847-4C24D52476F8}"/>
              </a:ext>
            </a:extLst>
          </p:cNvPr>
          <p:cNvSpPr/>
          <p:nvPr/>
        </p:nvSpPr>
        <p:spPr bwMode="auto">
          <a:xfrm>
            <a:off x="590550" y="2564904"/>
            <a:ext cx="8422821" cy="369885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C718B0-E6F5-47E0-892B-24BFD39E9A72}"/>
              </a:ext>
            </a:extLst>
          </p:cNvPr>
          <p:cNvSpPr/>
          <p:nvPr/>
        </p:nvSpPr>
        <p:spPr>
          <a:xfrm>
            <a:off x="1231741" y="5606170"/>
            <a:ext cx="869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C00CC"/>
                </a:solidFill>
                <a:cs typeface="Times New Roman" panose="02020603050405020304" pitchFamily="18" charset="0"/>
              </a:rPr>
              <a:t>001A</a:t>
            </a:r>
            <a:endParaRPr lang="zh-CN" altLang="en-US" sz="2400">
              <a:solidFill>
                <a:srgbClr val="CC00CC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F51044-E44E-466A-A20E-E89DB3A75C78}"/>
              </a:ext>
            </a:extLst>
          </p:cNvPr>
          <p:cNvSpPr/>
          <p:nvPr/>
        </p:nvSpPr>
        <p:spPr bwMode="auto">
          <a:xfrm>
            <a:off x="2333625" y="5012791"/>
            <a:ext cx="662307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417BD33-ED37-42B7-A0A7-558DE465DFFC}"/>
              </a:ext>
            </a:extLst>
          </p:cNvPr>
          <p:cNvSpPr/>
          <p:nvPr/>
        </p:nvSpPr>
        <p:spPr bwMode="auto">
          <a:xfrm>
            <a:off x="1655663" y="5012791"/>
            <a:ext cx="662307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918ED66-7C9C-4422-970F-D434365A8647}"/>
              </a:ext>
            </a:extLst>
          </p:cNvPr>
          <p:cNvSpPr/>
          <p:nvPr/>
        </p:nvSpPr>
        <p:spPr bwMode="auto">
          <a:xfrm>
            <a:off x="967227" y="5012791"/>
            <a:ext cx="680598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A6F5D70-9A15-4A4E-9D55-9DAE36BA13E2}"/>
              </a:ext>
            </a:extLst>
          </p:cNvPr>
          <p:cNvSpPr/>
          <p:nvPr/>
        </p:nvSpPr>
        <p:spPr bwMode="auto">
          <a:xfrm>
            <a:off x="425397" y="5012791"/>
            <a:ext cx="536173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4DEACE6-1153-4387-9917-A1A27D18DB53}"/>
              </a:ext>
            </a:extLst>
          </p:cNvPr>
          <p:cNvSpPr/>
          <p:nvPr/>
        </p:nvSpPr>
        <p:spPr bwMode="auto">
          <a:xfrm>
            <a:off x="1241289" y="5668956"/>
            <a:ext cx="842183" cy="336092"/>
          </a:xfrm>
          <a:prstGeom prst="roundRect">
            <a:avLst>
              <a:gd name="adj" fmla="val 44198"/>
            </a:avLst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5CFBD5B-F981-4545-AF70-E6CBD9213A6B}"/>
              </a:ext>
            </a:extLst>
          </p:cNvPr>
          <p:cNvSpPr/>
          <p:nvPr/>
        </p:nvSpPr>
        <p:spPr bwMode="auto">
          <a:xfrm>
            <a:off x="5519149" y="2585317"/>
            <a:ext cx="734922" cy="336092"/>
          </a:xfrm>
          <a:prstGeom prst="roundRect">
            <a:avLst>
              <a:gd name="adj" fmla="val 44198"/>
            </a:avLst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07E0050-FA93-401E-B6A3-7B9BD8341596}"/>
              </a:ext>
            </a:extLst>
          </p:cNvPr>
          <p:cNvSpPr/>
          <p:nvPr/>
        </p:nvSpPr>
        <p:spPr bwMode="auto">
          <a:xfrm>
            <a:off x="5077010" y="2598069"/>
            <a:ext cx="307777" cy="3077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63A9D22-EECB-4716-960D-F2A6E9B2265C}"/>
              </a:ext>
            </a:extLst>
          </p:cNvPr>
          <p:cNvSpPr/>
          <p:nvPr/>
        </p:nvSpPr>
        <p:spPr>
          <a:xfrm>
            <a:off x="6226358" y="2528870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CC0066"/>
                </a:solidFill>
                <a:cs typeface="Times New Roman" panose="02020603050405020304" pitchFamily="18" charset="0"/>
              </a:rPr>
              <a:t>87E</a:t>
            </a:r>
            <a:endParaRPr lang="zh-CN" altLang="en-US" sz="2400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049B247D-AB4D-4D5A-B249-3570085C91A2}"/>
              </a:ext>
            </a:extLst>
          </p:cNvPr>
          <p:cNvSpPr/>
          <p:nvPr/>
        </p:nvSpPr>
        <p:spPr bwMode="auto">
          <a:xfrm>
            <a:off x="177371" y="2969623"/>
            <a:ext cx="2861920" cy="2046514"/>
          </a:xfrm>
          <a:custGeom>
            <a:avLst/>
            <a:gdLst>
              <a:gd name="connsiteX0" fmla="*/ 2861920 w 2861920"/>
              <a:gd name="connsiteY0" fmla="*/ 2046514 h 2046514"/>
              <a:gd name="connsiteX1" fmla="*/ 2426492 w 2861920"/>
              <a:gd name="connsiteY1" fmla="*/ 1811383 h 2046514"/>
              <a:gd name="connsiteX2" fmla="*/ 667360 w 2861920"/>
              <a:gd name="connsiteY2" fmla="*/ 1698171 h 2046514"/>
              <a:gd name="connsiteX3" fmla="*/ 5509 w 2861920"/>
              <a:gd name="connsiteY3" fmla="*/ 870857 h 2046514"/>
              <a:gd name="connsiteX4" fmla="*/ 406103 w 2861920"/>
              <a:gd name="connsiteY4" fmla="*/ 0 h 204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1920" h="2046514">
                <a:moveTo>
                  <a:pt x="2861920" y="2046514"/>
                </a:moveTo>
                <a:cubicBezTo>
                  <a:pt x="2827086" y="1957977"/>
                  <a:pt x="2792252" y="1869440"/>
                  <a:pt x="2426492" y="1811383"/>
                </a:cubicBezTo>
                <a:cubicBezTo>
                  <a:pt x="2060732" y="1753326"/>
                  <a:pt x="1070857" y="1854925"/>
                  <a:pt x="667360" y="1698171"/>
                </a:cubicBezTo>
                <a:cubicBezTo>
                  <a:pt x="263863" y="1541417"/>
                  <a:pt x="49052" y="1153885"/>
                  <a:pt x="5509" y="870857"/>
                </a:cubicBezTo>
                <a:cubicBezTo>
                  <a:pt x="-38034" y="587829"/>
                  <a:pt x="184034" y="293914"/>
                  <a:pt x="406103" y="0"/>
                </a:cubicBezTo>
              </a:path>
            </a:pathLst>
          </a:cu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7FCEB5F7-2E87-41BD-A903-6E0DFFC17543}"/>
              </a:ext>
            </a:extLst>
          </p:cNvPr>
          <p:cNvSpPr/>
          <p:nvPr/>
        </p:nvSpPr>
        <p:spPr bwMode="auto">
          <a:xfrm>
            <a:off x="2087592" y="2954574"/>
            <a:ext cx="3831248" cy="2892627"/>
          </a:xfrm>
          <a:custGeom>
            <a:avLst/>
            <a:gdLst>
              <a:gd name="connsiteX0" fmla="*/ 0 w 3606238"/>
              <a:gd name="connsiteY0" fmla="*/ 2329132 h 2336250"/>
              <a:gd name="connsiteX1" fmla="*/ 3010619 w 3606238"/>
              <a:gd name="connsiteY1" fmla="*/ 1975449 h 2336250"/>
              <a:gd name="connsiteX2" fmla="*/ 3605842 w 3606238"/>
              <a:gd name="connsiteY2" fmla="*/ 0 h 233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6238" h="2336250">
                <a:moveTo>
                  <a:pt x="0" y="2329132"/>
                </a:moveTo>
                <a:cubicBezTo>
                  <a:pt x="1204822" y="2346385"/>
                  <a:pt x="2409645" y="2363638"/>
                  <a:pt x="3010619" y="1975449"/>
                </a:cubicBezTo>
                <a:cubicBezTo>
                  <a:pt x="3611593" y="1587260"/>
                  <a:pt x="3608717" y="793630"/>
                  <a:pt x="3605842" y="0"/>
                </a:cubicBezTo>
              </a:path>
            </a:pathLst>
          </a:cu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BB34892-5DC9-479B-B6B0-FD8CCD028359}"/>
              </a:ext>
            </a:extLst>
          </p:cNvPr>
          <p:cNvSpPr/>
          <p:nvPr/>
        </p:nvSpPr>
        <p:spPr>
          <a:xfrm rot="19703512">
            <a:off x="4436084" y="540263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FF5050"/>
                </a:solidFill>
                <a:cs typeface="Times New Roman" panose="02020603050405020304" pitchFamily="18" charset="0"/>
              </a:rPr>
              <a:t>有效且相等</a:t>
            </a:r>
            <a:endParaRPr lang="zh-CN" altLang="en-US" sz="2400">
              <a:solidFill>
                <a:srgbClr val="FF505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34282C0-0F36-4ADE-B678-B88BE88C7E43}"/>
              </a:ext>
            </a:extLst>
          </p:cNvPr>
          <p:cNvSpPr/>
          <p:nvPr/>
        </p:nvSpPr>
        <p:spPr>
          <a:xfrm>
            <a:off x="2897806" y="3997372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6A8</a:t>
            </a: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BD063B6-F00B-4617-85C9-CF6AFD58C9D3}"/>
              </a:ext>
            </a:extLst>
          </p:cNvPr>
          <p:cNvSpPr/>
          <p:nvPr/>
        </p:nvSpPr>
        <p:spPr>
          <a:xfrm>
            <a:off x="3439698" y="3657714"/>
            <a:ext cx="423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cs typeface="Times New Roman" panose="02020603050405020304" pitchFamily="18" charset="0"/>
              </a:rPr>
              <a:t>H</a:t>
            </a:r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456D84-F7ED-4014-BD3C-EFD4ACF95171}"/>
              </a:ext>
            </a:extLst>
          </p:cNvPr>
          <p:cNvSpPr/>
          <p:nvPr/>
        </p:nvSpPr>
        <p:spPr>
          <a:xfrm>
            <a:off x="135224" y="3641267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66"/>
                </a:solidFill>
                <a:cs typeface="Times New Roman" panose="02020603050405020304" pitchFamily="18" charset="0"/>
              </a:rPr>
              <a:t>主存物理地址：</a:t>
            </a:r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019DC4A-0F98-40A9-89B8-26FB30BC8744}"/>
              </a:ext>
            </a:extLst>
          </p:cNvPr>
          <p:cNvSpPr/>
          <p:nvPr/>
        </p:nvSpPr>
        <p:spPr>
          <a:xfrm>
            <a:off x="3736186" y="569678"/>
            <a:ext cx="5251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虚拟</a:t>
            </a:r>
            <a:r>
              <a:rPr lang="en-US" altLang="zh-CN" sz="2400" kern="0">
                <a:solidFill>
                  <a:srgbClr val="008000"/>
                </a:solidFill>
                <a:latin typeface="宋体" panose="02010600030101010101" pitchFamily="2" charset="-122"/>
                <a:ea typeface="宋体"/>
              </a:rPr>
              <a:t>(</a:t>
            </a: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逻辑</a:t>
            </a:r>
            <a:r>
              <a:rPr lang="en-US" altLang="zh-CN" sz="2400" kern="0">
                <a:solidFill>
                  <a:srgbClr val="008000"/>
                </a:solidFill>
                <a:latin typeface="宋体" panose="02010600030101010101" pitchFamily="2" charset="-122"/>
                <a:ea typeface="宋体"/>
              </a:rPr>
              <a:t>)</a:t>
            </a: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地址空间</a:t>
            </a: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宋体"/>
              </a:rPr>
              <a:t>大小为</a:t>
            </a:r>
            <a:r>
              <a:rPr lang="en-US" altLang="zh-CN" sz="2400" kern="0">
                <a:solidFill>
                  <a:srgbClr val="CC0066"/>
                </a:solidFill>
                <a:latin typeface="Times New Roman"/>
                <a:ea typeface="宋体"/>
              </a:rPr>
              <a:t>256MB</a:t>
            </a: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endParaRPr lang="zh-CN" altLang="en-US" sz="24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4A84A46-520C-44D9-9046-8FF36BECECBB}"/>
              </a:ext>
            </a:extLst>
          </p:cNvPr>
          <p:cNvSpPr/>
          <p:nvPr/>
        </p:nvSpPr>
        <p:spPr>
          <a:xfrm>
            <a:off x="6372200" y="1316502"/>
            <a:ext cx="2331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Bef>
                <a:spcPts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页面大小</a:t>
            </a:r>
            <a:r>
              <a:rPr lang="en-US" altLang="zh-CN" sz="2400">
                <a:solidFill>
                  <a:srgbClr val="9933FF"/>
                </a:solidFill>
              </a:rPr>
              <a:t>4KB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CFC28-0D1F-447B-9F3F-4A9DCDCFF99B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5F51AF7-1A48-47AD-846A-EA282C36EC90}"/>
              </a:ext>
            </a:extLst>
          </p:cNvPr>
          <p:cNvSpPr txBox="1"/>
          <p:nvPr/>
        </p:nvSpPr>
        <p:spPr bwMode="auto">
          <a:xfrm>
            <a:off x="6369156" y="5288098"/>
            <a:ext cx="2238361" cy="738664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/>
              <a:t>考虑 TLB 是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C00000"/>
                </a:solidFill>
              </a:rPr>
              <a:t>全相联</a:t>
            </a:r>
            <a:r>
              <a:rPr lang="zh-CN" altLang="en-US" sz="2400"/>
              <a:t>的情况？</a:t>
            </a:r>
          </a:p>
        </p:txBody>
      </p:sp>
    </p:spTree>
    <p:extLst>
      <p:ext uri="{BB962C8B-B14F-4D97-AF65-F5344CB8AC3E}">
        <p14:creationId xmlns:p14="http://schemas.microsoft.com/office/powerpoint/2010/main" val="27056824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4.81481E-6 L -0.00018 0.00024 C 0.00034 0.00556 0.00052 0.01227 0.00087 0.01806 C 0.00104 0.02038 0.00191 0.02246 0.00208 0.02477 C 0.00243 0.02778 0.00278 0.03149 0.00347 0.03496 C 0.00278 0.05741 0.0026 0.07963 0.00208 0.10186 C 0.00208 0.10371 0.00156 0.10602 0.00087 0.10811 C -0.00035 0.11181 -0.00504 0.11852 -0.00677 0.12061 C -0.00816 0.12223 -0.00972 0.12315 -0.01111 0.12477 C -0.01233 0.12616 -0.0132 0.12755 -0.01459 0.12871 C -0.01563 0.12987 -0.01702 0.12987 -0.01806 0.13102 C -0.02014 0.13334 -0.02188 0.13797 -0.02466 0.13936 L -0.03108 0.14352 C -0.03247 0.14422 -0.03351 0.14538 -0.03455 0.14584 C -0.03646 0.14653 -0.0382 0.147 -0.03993 0.14792 C -0.04167 0.14838 -0.04306 0.14954 -0.04462 0.15 C -0.05347 0.15116 -0.06233 0.15116 -0.07136 0.15209 C -0.08507 0.15857 -0.07066 0.15209 -0.1033 0.15602 C -0.10591 0.15625 -0.10851 0.15811 -0.11111 0.15834 C -0.11997 0.1595 -0.12865 0.1595 -0.13768 0.16042 L -0.16007 0.16227 C -0.20521 0.16482 -0.26025 0.16551 -0.30313 0.16667 C -0.31667 0.16737 -0.33038 0.16922 -0.34427 0.16922 C -0.36077 0.16922 -0.37743 0.16783 -0.3941 0.16667 C -0.39705 0.16621 -0.4 0.16459 -0.40295 0.16436 C -0.4099 0.16413 -0.41702 0.16436 -0.42379 0.16436 " pathEditMode="relative" rAng="0" ptsTypes="AAAAAAAAAAAAAAAAAAAAAAAAAA">
                                      <p:cBhvr>
                                        <p:cTn id="17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7" y="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81481E-6 L -2.77778E-6 -0.0507 " pathEditMode="relative" rAng="0" ptsTypes="AA">
                                      <p:cBhvr>
                                        <p:cTn id="1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 animBg="1"/>
      <p:bldP spid="30" grpId="0" animBg="1"/>
      <p:bldP spid="31" grpId="0"/>
      <p:bldP spid="12" grpId="0" animBg="1"/>
      <p:bldP spid="33" grpId="0" animBg="1"/>
      <p:bldP spid="34" grpId="0"/>
      <p:bldP spid="35" grpId="0"/>
      <p:bldP spid="36" grpId="0"/>
      <p:bldP spid="32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6" grpId="1"/>
      <p:bldP spid="47" grpId="0" animBg="1"/>
      <p:bldP spid="48" grpId="0" animBg="1"/>
      <p:bldP spid="49" grpId="0"/>
      <p:bldP spid="51" grpId="0"/>
      <p:bldP spid="51" grpId="1"/>
      <p:bldP spid="53" grpId="0"/>
      <p:bldP spid="55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CF560-E5F6-4C91-B69D-C4A2AFB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C39EB-521D-498F-8AD1-591472B8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296144"/>
          </a:xfrm>
        </p:spPr>
        <p:txBody>
          <a:bodyPr/>
          <a:lstStyle/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zh-CN" sz="1600">
                <a:latin typeface="+mn-ea"/>
              </a:rPr>
              <a:t>  </a:t>
            </a:r>
            <a:r>
              <a:rPr lang="en-US" altLang="zh-CN" sz="2000">
                <a:latin typeface="+mn-ea"/>
              </a:rPr>
              <a:t>      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为该计算机配置一个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全相联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TLB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共可存放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个页表项，</a:t>
            </a:r>
            <a:b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其当前内容（十六进制）如图所示。</a:t>
            </a:r>
            <a:endParaRPr lang="en-US" altLang="zh-CN" sz="2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849996-476B-48E5-9CD6-8DC362AE7CCC}"/>
              </a:ext>
            </a:extLst>
          </p:cNvPr>
          <p:cNvSpPr/>
          <p:nvPr/>
        </p:nvSpPr>
        <p:spPr>
          <a:xfrm>
            <a:off x="5391328" y="44449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Cache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地址映射举例</a:t>
            </a:r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0C6ED8FD-D36B-46F7-8E11-1CC68584B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81410"/>
            <a:ext cx="2133600" cy="324190"/>
          </a:xfrm>
        </p:spPr>
        <p:txBody>
          <a:bodyPr/>
          <a:lstStyle/>
          <a:p>
            <a:fld id="{AF18C6C0-B767-406C-B47F-6CEDD20A9255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444433-BC27-4056-8628-75EE9EE8EA00}"/>
              </a:ext>
            </a:extLst>
          </p:cNvPr>
          <p:cNvSpPr/>
          <p:nvPr/>
        </p:nvSpPr>
        <p:spPr>
          <a:xfrm>
            <a:off x="759690" y="1844824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66"/>
                </a:solidFill>
                <a:cs typeface="Times New Roman" panose="02020603050405020304" pitchFamily="18" charset="0"/>
              </a:rPr>
              <a:t>虚拟地址：</a:t>
            </a:r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00356A8H</a:t>
            </a:r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F5A5F4-590D-4FB3-B08E-3E725BFFF08A}"/>
              </a:ext>
            </a:extLst>
          </p:cNvPr>
          <p:cNvSpPr/>
          <p:nvPr/>
        </p:nvSpPr>
        <p:spPr>
          <a:xfrm>
            <a:off x="883628" y="2718174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88347779-02C7-4543-BA2F-BFA24A0E7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41978"/>
              </p:ext>
            </p:extLst>
          </p:nvPr>
        </p:nvGraphicFramePr>
        <p:xfrm>
          <a:off x="771164" y="3119837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4255">
                  <a:extLst>
                    <a:ext uri="{9D8B030D-6E8A-4147-A177-3AD203B41FA5}">
                      <a16:colId xmlns:a16="http://schemas.microsoft.com/office/drawing/2014/main" val="3929641953"/>
                    </a:ext>
                  </a:extLst>
                </a:gridCol>
                <a:gridCol w="1782949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9655A0-9B95-4F28-8707-1CE1E988606D}"/>
              </a:ext>
            </a:extLst>
          </p:cNvPr>
          <p:cNvCxnSpPr>
            <a:cxnSpLocks/>
          </p:cNvCxnSpPr>
          <p:nvPr/>
        </p:nvCxnSpPr>
        <p:spPr bwMode="auto">
          <a:xfrm>
            <a:off x="771164" y="356102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7B689C-8D67-44D8-BF7A-319DF58E5CF6}"/>
              </a:ext>
            </a:extLst>
          </p:cNvPr>
          <p:cNvCxnSpPr/>
          <p:nvPr/>
        </p:nvCxnSpPr>
        <p:spPr bwMode="auto">
          <a:xfrm>
            <a:off x="3095417" y="361105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6D95722-F1BA-40E7-B97B-350FADB1344D}"/>
              </a:ext>
            </a:extLst>
          </p:cNvPr>
          <p:cNvCxnSpPr>
            <a:cxnSpLocks/>
          </p:cNvCxnSpPr>
          <p:nvPr/>
        </p:nvCxnSpPr>
        <p:spPr bwMode="auto">
          <a:xfrm>
            <a:off x="4858368" y="356102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35A0F72-3CCE-4F08-AA98-1DC70CD1DBDE}"/>
              </a:ext>
            </a:extLst>
          </p:cNvPr>
          <p:cNvCxnSpPr>
            <a:cxnSpLocks/>
          </p:cNvCxnSpPr>
          <p:nvPr/>
        </p:nvCxnSpPr>
        <p:spPr bwMode="auto">
          <a:xfrm>
            <a:off x="771164" y="3723378"/>
            <a:ext cx="231145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ED8D5518-BDF1-4856-B557-81630733121D}"/>
              </a:ext>
            </a:extLst>
          </p:cNvPr>
          <p:cNvSpPr/>
          <p:nvPr/>
        </p:nvSpPr>
        <p:spPr>
          <a:xfrm>
            <a:off x="1618008" y="355458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2EBA7E-518C-4E19-86CF-912A14C10A25}"/>
              </a:ext>
            </a:extLst>
          </p:cNvPr>
          <p:cNvCxnSpPr>
            <a:cxnSpLocks/>
          </p:cNvCxnSpPr>
          <p:nvPr/>
        </p:nvCxnSpPr>
        <p:spPr bwMode="auto">
          <a:xfrm flipV="1">
            <a:off x="3095416" y="3723378"/>
            <a:ext cx="1762952" cy="233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7A134B9-1FF6-40B2-A586-0DDA93B96225}"/>
              </a:ext>
            </a:extLst>
          </p:cNvPr>
          <p:cNvSpPr/>
          <p:nvPr/>
        </p:nvSpPr>
        <p:spPr>
          <a:xfrm>
            <a:off x="3651483" y="355458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3BB031-C3B5-4837-A566-173C6F89E961}"/>
              </a:ext>
            </a:extLst>
          </p:cNvPr>
          <p:cNvCxnSpPr>
            <a:cxnSpLocks/>
          </p:cNvCxnSpPr>
          <p:nvPr/>
        </p:nvCxnSpPr>
        <p:spPr bwMode="auto">
          <a:xfrm>
            <a:off x="771163" y="4053600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76C156C3-386B-48B2-8C99-54BC2A022743}"/>
              </a:ext>
            </a:extLst>
          </p:cNvPr>
          <p:cNvSpPr/>
          <p:nvPr/>
        </p:nvSpPr>
        <p:spPr>
          <a:xfrm>
            <a:off x="2422643" y="391331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C5D5B00-B18C-4CA3-85F5-D736D357AAF2}"/>
              </a:ext>
            </a:extLst>
          </p:cNvPr>
          <p:cNvSpPr/>
          <p:nvPr/>
        </p:nvSpPr>
        <p:spPr>
          <a:xfrm>
            <a:off x="417983" y="5373419"/>
            <a:ext cx="492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0000 0000 0011 0101 0110 1010 1000</a:t>
            </a:r>
            <a:endParaRPr lang="zh-CN" altLang="en-US" sz="24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019DC4A-0F98-40A9-89B8-26FB30BC8744}"/>
              </a:ext>
            </a:extLst>
          </p:cNvPr>
          <p:cNvSpPr/>
          <p:nvPr/>
        </p:nvSpPr>
        <p:spPr>
          <a:xfrm>
            <a:off x="3736186" y="569678"/>
            <a:ext cx="5251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虚拟</a:t>
            </a:r>
            <a:r>
              <a:rPr lang="en-US" altLang="zh-CN" sz="2400" kern="0">
                <a:solidFill>
                  <a:srgbClr val="008000"/>
                </a:solidFill>
                <a:latin typeface="宋体" panose="02010600030101010101" pitchFamily="2" charset="-122"/>
                <a:ea typeface="宋体"/>
              </a:rPr>
              <a:t>(</a:t>
            </a: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逻辑</a:t>
            </a:r>
            <a:r>
              <a:rPr lang="en-US" altLang="zh-CN" sz="2400" kern="0">
                <a:solidFill>
                  <a:srgbClr val="008000"/>
                </a:solidFill>
                <a:latin typeface="宋体" panose="02010600030101010101" pitchFamily="2" charset="-122"/>
                <a:ea typeface="宋体"/>
              </a:rPr>
              <a:t>)</a:t>
            </a:r>
            <a:r>
              <a:rPr lang="zh-CN" altLang="en-US" sz="2400" kern="0">
                <a:solidFill>
                  <a:srgbClr val="008000"/>
                </a:solidFill>
                <a:latin typeface="Times New Roman"/>
                <a:ea typeface="宋体"/>
              </a:rPr>
              <a:t>地址空间</a:t>
            </a: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宋体"/>
              </a:rPr>
              <a:t>大小为</a:t>
            </a:r>
            <a:r>
              <a:rPr lang="en-US" altLang="zh-CN" sz="2400" kern="0">
                <a:solidFill>
                  <a:srgbClr val="CC0066"/>
                </a:solidFill>
                <a:latin typeface="Times New Roman"/>
                <a:ea typeface="宋体"/>
              </a:rPr>
              <a:t>256MB</a:t>
            </a: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endParaRPr lang="zh-CN" altLang="en-US" sz="24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4A84A46-520C-44D9-9046-8FF36BECECBB}"/>
              </a:ext>
            </a:extLst>
          </p:cNvPr>
          <p:cNvSpPr/>
          <p:nvPr/>
        </p:nvSpPr>
        <p:spPr>
          <a:xfrm>
            <a:off x="6372200" y="1316502"/>
            <a:ext cx="2331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Bef>
                <a:spcPts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页面大小</a:t>
            </a:r>
            <a:r>
              <a:rPr lang="en-US" altLang="zh-CN" sz="2400">
                <a:solidFill>
                  <a:srgbClr val="9933FF"/>
                </a:solidFill>
              </a:rPr>
              <a:t>4KB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CFC28-0D1F-447B-9F3F-4A9DCDCFF99B}"/>
              </a:ext>
            </a:extLst>
          </p:cNvPr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F9C67A8-3BAF-456A-8251-8CB8A13D0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866997"/>
              </p:ext>
            </p:extLst>
          </p:nvPr>
        </p:nvGraphicFramePr>
        <p:xfrm>
          <a:off x="5965274" y="2168873"/>
          <a:ext cx="2666236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191">
                  <a:extLst>
                    <a:ext uri="{9D8B030D-6E8A-4147-A177-3AD203B41FA5}">
                      <a16:colId xmlns:a16="http://schemas.microsoft.com/office/drawing/2014/main" val="179098568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70132192"/>
                    </a:ext>
                  </a:extLst>
                </a:gridCol>
                <a:gridCol w="877933">
                  <a:extLst>
                    <a:ext uri="{9D8B030D-6E8A-4147-A177-3AD203B41FA5}">
                      <a16:colId xmlns:a16="http://schemas.microsoft.com/office/drawing/2014/main" val="3659594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有效位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标记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实页号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985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27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0003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287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03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0034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86D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58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448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413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0035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87E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5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0006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235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47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225566"/>
                  </a:ext>
                </a:extLst>
              </a:tr>
            </a:tbl>
          </a:graphicData>
        </a:graphic>
      </p:graphicFrame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4BFB41A-855F-4AE6-9D21-E53536D395B1}"/>
              </a:ext>
            </a:extLst>
          </p:cNvPr>
          <p:cNvSpPr/>
          <p:nvPr/>
        </p:nvSpPr>
        <p:spPr bwMode="auto">
          <a:xfrm>
            <a:off x="3191433" y="5437528"/>
            <a:ext cx="205983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949F2BD-E4EC-4486-8EC2-FD89EE0F7FAC}"/>
              </a:ext>
            </a:extLst>
          </p:cNvPr>
          <p:cNvSpPr/>
          <p:nvPr/>
        </p:nvSpPr>
        <p:spPr bwMode="auto">
          <a:xfrm>
            <a:off x="417983" y="5437528"/>
            <a:ext cx="275889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6C3F59D-9872-4344-948F-174BF84D5C59}"/>
              </a:ext>
            </a:extLst>
          </p:cNvPr>
          <p:cNvSpPr/>
          <p:nvPr/>
        </p:nvSpPr>
        <p:spPr>
          <a:xfrm>
            <a:off x="1515912" y="5703639"/>
            <a:ext cx="669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</a:rPr>
              <a:t>Tag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D9613F5-C236-4F91-BD61-94232223B7CE}"/>
              </a:ext>
            </a:extLst>
          </p:cNvPr>
          <p:cNvSpPr/>
          <p:nvPr/>
        </p:nvSpPr>
        <p:spPr>
          <a:xfrm>
            <a:off x="3546948" y="5703639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9933FF"/>
                </a:solidFill>
              </a:rPr>
              <a:t>页内地址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2D48F0F-7B81-4B1B-87AA-54225C68450E}"/>
              </a:ext>
            </a:extLst>
          </p:cNvPr>
          <p:cNvGrpSpPr/>
          <p:nvPr/>
        </p:nvGrpSpPr>
        <p:grpSpPr>
          <a:xfrm>
            <a:off x="1425561" y="4941168"/>
            <a:ext cx="914191" cy="461665"/>
            <a:chOff x="1425561" y="4322455"/>
            <a:chExt cx="914191" cy="461665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31CC6D1-1AC3-4B50-B577-735F38353EDF}"/>
                </a:ext>
              </a:extLst>
            </p:cNvPr>
            <p:cNvSpPr/>
            <p:nvPr/>
          </p:nvSpPr>
          <p:spPr>
            <a:xfrm>
              <a:off x="1467525" y="4322455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CC00CC"/>
                  </a:solidFill>
                  <a:cs typeface="Times New Roman" panose="02020603050405020304" pitchFamily="18" charset="0"/>
                </a:rPr>
                <a:t>0035</a:t>
              </a:r>
              <a:endParaRPr lang="zh-CN" altLang="en-US" sz="2400">
                <a:solidFill>
                  <a:srgbClr val="CC00CC"/>
                </a:solidFill>
              </a:endParaRP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4B3FC89A-97AE-49E1-A3B2-E95FDCDA15EE}"/>
                </a:ext>
              </a:extLst>
            </p:cNvPr>
            <p:cNvSpPr/>
            <p:nvPr/>
          </p:nvSpPr>
          <p:spPr bwMode="auto">
            <a:xfrm>
              <a:off x="1425561" y="4385241"/>
              <a:ext cx="914191" cy="336092"/>
            </a:xfrm>
            <a:prstGeom prst="roundRect">
              <a:avLst>
                <a:gd name="adj" fmla="val 44198"/>
              </a:avLst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72BE90F-7CB9-4183-8AD2-F1590D608CAC}"/>
              </a:ext>
            </a:extLst>
          </p:cNvPr>
          <p:cNvSpPr/>
          <p:nvPr/>
        </p:nvSpPr>
        <p:spPr bwMode="auto">
          <a:xfrm>
            <a:off x="6799278" y="2581719"/>
            <a:ext cx="919162" cy="2863708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96F226A-8D0E-4ED0-9899-CE128154C064}"/>
              </a:ext>
            </a:extLst>
          </p:cNvPr>
          <p:cNvSpPr/>
          <p:nvPr/>
        </p:nvSpPr>
        <p:spPr>
          <a:xfrm>
            <a:off x="3736186" y="4533179"/>
            <a:ext cx="1422185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并行比较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1D0D955-8A6A-4736-914C-A2FF050C23B4}"/>
              </a:ext>
            </a:extLst>
          </p:cNvPr>
          <p:cNvCxnSpPr>
            <a:cxnSpLocks/>
          </p:cNvCxnSpPr>
          <p:nvPr/>
        </p:nvCxnSpPr>
        <p:spPr bwMode="auto">
          <a:xfrm flipH="1">
            <a:off x="5158371" y="4760973"/>
            <a:ext cx="1628394" cy="0"/>
          </a:xfrm>
          <a:prstGeom prst="straightConnector1">
            <a:avLst/>
          </a:prstGeom>
          <a:solidFill>
            <a:schemeClr val="accent1"/>
          </a:solidFill>
          <a:ln w="1016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50B631B-688A-4FC1-87B1-77201CE76A61}"/>
              </a:ext>
            </a:extLst>
          </p:cNvPr>
          <p:cNvCxnSpPr>
            <a:cxnSpLocks/>
          </p:cNvCxnSpPr>
          <p:nvPr/>
        </p:nvCxnSpPr>
        <p:spPr bwMode="auto">
          <a:xfrm>
            <a:off x="2339752" y="4760973"/>
            <a:ext cx="1385572" cy="0"/>
          </a:xfrm>
          <a:prstGeom prst="straightConnector1">
            <a:avLst/>
          </a:prstGeom>
          <a:solidFill>
            <a:schemeClr val="accent1"/>
          </a:solidFill>
          <a:ln w="1016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爆炸形: 14 pt  67">
            <a:extLst>
              <a:ext uri="{FF2B5EF4-FFF2-40B4-BE49-F238E27FC236}">
                <a16:creationId xmlns:a16="http://schemas.microsoft.com/office/drawing/2014/main" id="{7E4E09FA-CFD6-423C-BD84-365F655C7F46}"/>
              </a:ext>
            </a:extLst>
          </p:cNvPr>
          <p:cNvSpPr/>
          <p:nvPr/>
        </p:nvSpPr>
        <p:spPr bwMode="auto">
          <a:xfrm rot="828040">
            <a:off x="6674428" y="4253162"/>
            <a:ext cx="1309072" cy="642098"/>
          </a:xfrm>
          <a:prstGeom prst="irregularSeal2">
            <a:avLst/>
          </a:prstGeom>
          <a:noFill/>
          <a:ln w="381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3F974A4-7D59-4FD2-82BF-6FF0307E4A8B}"/>
              </a:ext>
            </a:extLst>
          </p:cNvPr>
          <p:cNvSpPr/>
          <p:nvPr/>
        </p:nvSpPr>
        <p:spPr>
          <a:xfrm>
            <a:off x="7846587" y="4351715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CC0066"/>
                </a:solidFill>
                <a:cs typeface="Times New Roman" panose="02020603050405020304" pitchFamily="18" charset="0"/>
              </a:rPr>
              <a:t>87E</a:t>
            </a:r>
            <a:endParaRPr lang="zh-CN" altLang="en-US" sz="240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B8D5DD7-3B56-44B8-BF29-44F6597D0745}"/>
              </a:ext>
            </a:extLst>
          </p:cNvPr>
          <p:cNvSpPr/>
          <p:nvPr/>
        </p:nvSpPr>
        <p:spPr>
          <a:xfrm>
            <a:off x="2903638" y="1849018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cs typeface="Times New Roman" panose="02020603050405020304" pitchFamily="18" charset="0"/>
              </a:rPr>
              <a:t>6A8</a:t>
            </a:r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52DBCBF-6D64-49D8-944F-A9233C65A483}"/>
              </a:ext>
            </a:extLst>
          </p:cNvPr>
          <p:cNvSpPr/>
          <p:nvPr/>
        </p:nvSpPr>
        <p:spPr>
          <a:xfrm>
            <a:off x="3445530" y="2227000"/>
            <a:ext cx="423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cs typeface="Times New Roman" panose="02020603050405020304" pitchFamily="18" charset="0"/>
              </a:rPr>
              <a:t>H</a:t>
            </a:r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6DF0A1A-3D11-4CA5-8EEF-288147984F34}"/>
              </a:ext>
            </a:extLst>
          </p:cNvPr>
          <p:cNvSpPr/>
          <p:nvPr/>
        </p:nvSpPr>
        <p:spPr>
          <a:xfrm>
            <a:off x="141056" y="221055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66"/>
                </a:solidFill>
                <a:cs typeface="Times New Roman" panose="02020603050405020304" pitchFamily="18" charset="0"/>
              </a:rPr>
              <a:t>主存物理地址：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0426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2.77778E-6 -0.05973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4.44444E-6 L -0.00035 -0.0007 C 0.00035 -0.01088 0.0007 -0.02338 0.00104 -0.03426 C 0.00139 -0.03843 0.0026 -0.04237 0.00278 -0.04676 C 0.0033 -0.05255 0.00382 -0.05926 0.00521 -0.06598 C 0.00382 -0.10764 0.00347 -0.14931 0.00278 -0.19121 C 0.00278 -0.19445 0.00208 -0.19885 0.00104 -0.20278 C -0.00052 -0.20996 -0.00712 -0.22246 -0.00955 -0.22639 C -0.01146 -0.22917 -0.01371 -0.23079 -0.01562 -0.23403 C -0.01736 -0.23658 -0.01858 -0.23912 -0.02049 -0.24144 C -0.02205 -0.24352 -0.02396 -0.24352 -0.02535 -0.24584 C -0.0283 -0.25 -0.03073 -0.2588 -0.03472 -0.26135 L -0.04375 -0.26899 C -0.04566 -0.27037 -0.04705 -0.27246 -0.04861 -0.27338 C -0.05121 -0.27477 -0.05365 -0.2757 -0.05642 -0.27732 C -0.05885 -0.27825 -0.06076 -0.28033 -0.06302 -0.28125 C -0.07535 -0.28334 -0.08785 -0.28334 -0.10052 -0.28496 C -0.12014 -0.29723 -0.09948 -0.28496 -0.14566 -0.2926 C -0.1493 -0.29283 -0.15295 -0.29653 -0.1566 -0.29676 C -0.1691 -0.29908 -0.1816 -0.29908 -0.19427 -0.3007 L -0.22552 -0.30417 C -0.28924 -0.30903 -0.36719 -0.31019 -0.4276 -0.3125 C -0.44653 -0.31366 -0.4658 -0.3169 -0.48559 -0.3169 C -0.50868 -0.3169 -0.53212 -0.31459 -0.5559 -0.3125 C -0.56007 -0.31158 -0.56406 -0.30857 -0.56823 -0.30811 C -0.57795 -0.30764 -0.58802 -0.30811 -0.5974 -0.30811 " pathEditMode="relative" rAng="0" ptsTypes="AAAAAAAAAAAAAAAAAAAAAAAAAA">
                                      <p:cBhvr>
                                        <p:cTn id="13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83" y="-1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7.40741E-7 L 2.77778E-6 0.05509 " pathEditMode="relative" rAng="0" ptsTypes="AA">
                                      <p:cBhvr>
                                        <p:cTn id="1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 animBg="1"/>
      <p:bldP spid="31" grpId="0"/>
      <p:bldP spid="54" grpId="0" animBg="1"/>
      <p:bldP spid="56" grpId="0" animBg="1"/>
      <p:bldP spid="57" grpId="0"/>
      <p:bldP spid="58" grpId="0"/>
      <p:bldP spid="9" grpId="0" animBg="1"/>
      <p:bldP spid="62" grpId="0" animBg="1"/>
      <p:bldP spid="68" grpId="0" animBg="1"/>
      <p:bldP spid="69" grpId="0"/>
      <p:bldP spid="69" grpId="1"/>
      <p:bldP spid="70" grpId="0"/>
      <p:bldP spid="70" grpId="1"/>
      <p:bldP spid="71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0118E-B3E0-4862-80CD-29631ED6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86016-10B9-4D2B-8419-3246BC8A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124744"/>
            <a:ext cx="8445946" cy="5256584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zh-CN" altLang="en-US"/>
              <a:t>全相联、组相联：</a:t>
            </a:r>
            <a:r>
              <a:rPr lang="en-US" altLang="zh-CN"/>
              <a:t>Cache</a:t>
            </a:r>
            <a:r>
              <a:rPr lang="zh-CN" altLang="en-US"/>
              <a:t>替换算法</a:t>
            </a:r>
            <a:endParaRPr lang="en-US" altLang="zh-CN"/>
          </a:p>
          <a:p>
            <a:pPr marL="263525" indent="-271463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随机</a:t>
            </a:r>
            <a:r>
              <a:rPr lang="zh-CN" altLang="en-US"/>
              <a:t>替换算法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>
                <a:solidFill>
                  <a:srgbClr val="FF0066"/>
                </a:solidFill>
              </a:rPr>
              <a:t>RAND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Rand</a:t>
            </a:r>
            <a:r>
              <a:rPr lang="en-US" altLang="zh-CN" i="1"/>
              <a:t>om Algorithm</a:t>
            </a:r>
            <a:r>
              <a:rPr lang="zh-CN" altLang="en-US"/>
              <a:t>）</a:t>
            </a:r>
          </a:p>
          <a:p>
            <a:pPr marL="263525" indent="-271463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先进先出</a:t>
            </a:r>
            <a:r>
              <a:rPr lang="zh-CN" altLang="en-US"/>
              <a:t>替换算法</a:t>
            </a:r>
            <a:br>
              <a:rPr lang="en-US" altLang="zh-CN"/>
            </a:br>
            <a:r>
              <a:rPr lang="zh-CN" altLang="en-US"/>
              <a:t> 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en-US" altLang="zh-CN">
                <a:solidFill>
                  <a:srgbClr val="FF0066"/>
                </a:solidFill>
              </a:rPr>
              <a:t>FIFO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F</a:t>
            </a:r>
            <a:r>
              <a:rPr lang="en-US" altLang="zh-CN" i="1"/>
              <a:t>irst-</a:t>
            </a:r>
            <a:r>
              <a:rPr lang="en-US" altLang="zh-CN" i="1">
                <a:solidFill>
                  <a:srgbClr val="FF0066"/>
                </a:solidFill>
              </a:rPr>
              <a:t>i</a:t>
            </a:r>
            <a:r>
              <a:rPr lang="en-US" altLang="zh-CN" i="1"/>
              <a:t>n </a:t>
            </a:r>
            <a:r>
              <a:rPr lang="en-US" altLang="zh-CN" i="1">
                <a:solidFill>
                  <a:srgbClr val="FF0066"/>
                </a:solidFill>
              </a:rPr>
              <a:t>F</a:t>
            </a:r>
            <a:r>
              <a:rPr lang="en-US" altLang="zh-CN" i="1"/>
              <a:t>irst-</a:t>
            </a:r>
            <a:r>
              <a:rPr lang="en-US" altLang="zh-CN" i="1">
                <a:solidFill>
                  <a:srgbClr val="FF0066"/>
                </a:solidFill>
              </a:rPr>
              <a:t>o</a:t>
            </a:r>
            <a:r>
              <a:rPr lang="en-US" altLang="zh-CN" i="1"/>
              <a:t>ut Algorithm</a:t>
            </a:r>
            <a:r>
              <a:rPr lang="en-US" altLang="zh-CN">
                <a:latin typeface="宋体" pitchFamily="2" charset="-122"/>
              </a:rPr>
              <a:t>)</a:t>
            </a:r>
          </a:p>
          <a:p>
            <a:pPr marL="263525" indent="-271463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近期最少使用</a:t>
            </a:r>
            <a:r>
              <a:rPr lang="en-US" altLang="zh-CN">
                <a:latin typeface="+mn-ea"/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最久未用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替换算法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>
                <a:solidFill>
                  <a:srgbClr val="FF0066"/>
                </a:solidFill>
              </a:rPr>
              <a:t>LRU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L</a:t>
            </a:r>
            <a:r>
              <a:rPr lang="en-US" altLang="zh-CN" i="1"/>
              <a:t>east </a:t>
            </a:r>
            <a:r>
              <a:rPr lang="en-US" altLang="zh-CN" i="1">
                <a:solidFill>
                  <a:srgbClr val="FF0066"/>
                </a:solidFill>
              </a:rPr>
              <a:t>R</a:t>
            </a:r>
            <a:r>
              <a:rPr lang="en-US" altLang="zh-CN" i="1"/>
              <a:t>ecently </a:t>
            </a:r>
            <a:r>
              <a:rPr lang="en-US" altLang="zh-CN" i="1">
                <a:solidFill>
                  <a:srgbClr val="FF0066"/>
                </a:solidFill>
              </a:rPr>
              <a:t>U</a:t>
            </a:r>
            <a:r>
              <a:rPr lang="en-US" altLang="zh-CN" i="1"/>
              <a:t>sed Algorithm</a:t>
            </a:r>
            <a:r>
              <a:rPr lang="zh-CN" altLang="en-US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6D93A-90CE-41CA-97B7-8A93FF7BC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C4302E-6420-4B82-8769-407A99265C6A}"/>
              </a:ext>
            </a:extLst>
          </p:cNvPr>
          <p:cNvSpPr txBox="1"/>
          <p:nvPr/>
        </p:nvSpPr>
        <p:spPr bwMode="auto">
          <a:xfrm>
            <a:off x="6049957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6247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0118E-B3E0-4862-80CD-29631ED6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86016-10B9-4D2B-8419-3246BC8A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3"/>
            <a:ext cx="7776864" cy="52560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/>
              <a:t>虚拟存储器：</a:t>
            </a:r>
            <a:r>
              <a:rPr lang="zh-CN" altLang="en-US">
                <a:solidFill>
                  <a:srgbClr val="0000FF"/>
                </a:solidFill>
              </a:rPr>
              <a:t>主存 </a:t>
            </a:r>
            <a:r>
              <a:rPr lang="en-US" altLang="zh-CN">
                <a:solidFill>
                  <a:srgbClr val="0000FF"/>
                </a:solidFill>
              </a:rPr>
              <a:t>– </a:t>
            </a:r>
            <a:r>
              <a:rPr lang="zh-CN" altLang="en-US">
                <a:solidFill>
                  <a:srgbClr val="0000FF"/>
                </a:solidFill>
              </a:rPr>
              <a:t>联机工作的辅存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(</a:t>
            </a:r>
            <a:r>
              <a:rPr lang="zh-CN" altLang="en-US">
                <a:solidFill>
                  <a:srgbClr val="0000FF"/>
                </a:solidFill>
              </a:rPr>
              <a:t>硬盘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zh-CN" altLang="en-US"/>
              <a:t>地址映射：</a:t>
            </a:r>
            <a:r>
              <a:rPr lang="en-US" altLang="zh-CN"/>
              <a:t>OS</a:t>
            </a:r>
            <a:r>
              <a:rPr lang="zh-CN" altLang="en-US"/>
              <a:t>（全相联）</a:t>
            </a:r>
            <a:endParaRPr lang="en-US" altLang="zh-CN"/>
          </a:p>
          <a:p>
            <a:pPr lvl="1">
              <a:spcBef>
                <a:spcPts val="600"/>
              </a:spcBef>
            </a:pPr>
            <a:r>
              <a:rPr lang="zh-CN" altLang="en-US"/>
              <a:t>地址变换：</a:t>
            </a:r>
            <a:r>
              <a:rPr lang="en-US" altLang="zh-CN"/>
              <a:t>MMU</a:t>
            </a:r>
          </a:p>
          <a:p>
            <a:pPr lvl="1">
              <a:spcBef>
                <a:spcPts val="600"/>
              </a:spcBef>
            </a:pPr>
            <a:r>
              <a:rPr lang="zh-CN" altLang="en-US"/>
              <a:t>页式虚拟存储器</a:t>
            </a:r>
            <a:endParaRPr lang="en-US" altLang="zh-CN"/>
          </a:p>
          <a:p>
            <a:pPr lvl="2">
              <a:spcBef>
                <a:spcPts val="600"/>
              </a:spcBef>
            </a:pPr>
            <a:r>
              <a:rPr lang="zh-CN" altLang="en-US"/>
              <a:t>多级页表</a:t>
            </a:r>
            <a:endParaRPr lang="en-US" altLang="zh-CN"/>
          </a:p>
          <a:p>
            <a:pPr lvl="2">
              <a:spcBef>
                <a:spcPts val="600"/>
              </a:spcBef>
            </a:pPr>
            <a:r>
              <a:rPr lang="zh-CN" altLang="en-US"/>
              <a:t>快慢表法</a:t>
            </a:r>
            <a:endParaRPr lang="en-US" altLang="zh-CN"/>
          </a:p>
          <a:p>
            <a:pPr lvl="3">
              <a:spcBef>
                <a:spcPts val="600"/>
              </a:spcBef>
            </a:pPr>
            <a:r>
              <a:rPr lang="zh-CN" altLang="en-US"/>
              <a:t>主存中的页表：慢表</a:t>
            </a:r>
            <a:endParaRPr lang="en-US" altLang="zh-CN"/>
          </a:p>
          <a:p>
            <a:pPr lvl="3">
              <a:spcBef>
                <a:spcPts val="600"/>
              </a:spcBef>
            </a:pPr>
            <a:r>
              <a:rPr lang="en-US" altLang="zh-CN"/>
              <a:t>CPU</a:t>
            </a:r>
            <a:r>
              <a:rPr lang="zh-CN" altLang="en-US"/>
              <a:t>内部的</a:t>
            </a:r>
            <a:r>
              <a:rPr lang="en-US" altLang="zh-CN"/>
              <a:t>TLB</a:t>
            </a:r>
            <a:r>
              <a:rPr lang="zh-CN" altLang="en-US"/>
              <a:t>：快表</a:t>
            </a:r>
            <a:endParaRPr lang="zh-CN" altLang="en-US"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6D93A-90CE-41CA-97B7-8A93FF7BC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57C8E38-C7E7-44A4-B9F1-FFBF2C0EDEC3}"/>
              </a:ext>
            </a:extLst>
          </p:cNvPr>
          <p:cNvSpPr txBox="1"/>
          <p:nvPr/>
        </p:nvSpPr>
        <p:spPr bwMode="auto">
          <a:xfrm>
            <a:off x="3573860" y="44450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二、虚拟存储器</a:t>
            </a:r>
            <a:endParaRPr lang="zh-CN" altLang="en-US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910906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69B8D-68F6-413B-A33B-4B9941BA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25C23-3E8A-4620-997B-B55652DD7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D75961-7F7D-4334-B329-174E2F6AF7C5}"/>
              </a:ext>
            </a:extLst>
          </p:cNvPr>
          <p:cNvSpPr txBox="1"/>
          <p:nvPr/>
        </p:nvSpPr>
        <p:spPr bwMode="auto">
          <a:xfrm>
            <a:off x="3573860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FB2E2B-038B-41DB-91BC-F0150C65AA55}"/>
              </a:ext>
            </a:extLst>
          </p:cNvPr>
          <p:cNvSpPr txBox="1"/>
          <p:nvPr/>
        </p:nvSpPr>
        <p:spPr bwMode="auto">
          <a:xfrm>
            <a:off x="3832307" y="719497"/>
            <a:ext cx="1988045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磁记录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方式</a:t>
            </a:r>
            <a:endParaRPr lang="zh-CN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48468E0-B5A3-42EB-98E5-F48D761F9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221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1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5842D62-3B3F-4CA7-ABFF-D1ECB5C8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1412776"/>
            <a:ext cx="1296988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数据序列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AEA08EA0-527D-408E-A934-90FF983BA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896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1825261C-3155-4D8F-AF29-52CABA3EC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158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1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C731E749-3604-4ADF-B9EF-DE8F8985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833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1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23D87096-120C-4431-AB68-59C7C1C4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683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1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47299E0B-795D-4580-8DD5-6830373C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121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27EA37EE-762F-45A6-A969-75DD15DF1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0383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05A8132D-DFD7-458E-AFB1-1BBDB78A7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058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0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170F606-DC66-47DC-9D09-121EC0FCE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733" y="1412776"/>
            <a:ext cx="574675" cy="360362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1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E63FFEE1-A042-40B8-B7A6-8BDBF5832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1773138"/>
            <a:ext cx="1296988" cy="719138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RZ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59A58B79-C94A-40C6-A885-D14990B4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2492276"/>
            <a:ext cx="1296988" cy="719137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NRZ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30E2EE13-69C9-4E49-B6AC-CF1294B76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3213001"/>
            <a:ext cx="1296988" cy="719137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NRZ1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94AFC755-7D09-41F1-9725-35B5DD95C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3932138"/>
            <a:ext cx="1296988" cy="719138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FM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1B5D5D7F-884E-4DC1-BCB5-FF82923C2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4651276"/>
            <a:ext cx="1296988" cy="719137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MFM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651A595F-84D7-4748-883E-4023CFAA5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233" y="5372001"/>
            <a:ext cx="1296988" cy="719137"/>
          </a:xfrm>
          <a:prstGeom prst="rect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00"/>
                </a:solidFill>
                <a:latin typeface="Arial" charset="0"/>
                <a:ea typeface="宋体" charset="-122"/>
              </a:rPr>
              <a:t>PM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0D61FBAD-38CA-4316-86F3-911B29F6D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2490688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B6ED0952-9452-4072-8F71-3F03420F6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4408" y="1769963"/>
            <a:ext cx="0" cy="432117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13E249BD-05B4-44B9-A50E-85431CECC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6091138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691D4313-065E-4263-8357-3AD8E3589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3211413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610B74A5-A7F6-4ED1-BCE8-336EBC339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3930551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F30CAE45-D62E-453E-9C4A-37DBDE2A0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4651276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A278FB68-F578-40CD-815F-84B9AF20E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5370413"/>
            <a:ext cx="51847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75BA77C4-94C0-414D-92B0-3B37F160A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2130326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ED4D5787-6234-47BA-931E-2DFF2A643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2851051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87189B35-FEBC-4AD5-9AEE-F0EE6DD62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3570188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E8EF39F9-88AF-4DF0-BD2C-E6EC8672C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4290913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667A167B-2B13-4C8D-986C-EC0DE6D4D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5011638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91EC8F43-5454-4717-9031-54DB1FEE7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5730776"/>
            <a:ext cx="5184775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5F0B0BDD-6098-44EA-B194-A4684A5DE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33B49F23-C15E-4CFC-8379-12D26A87D2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9B1FF6AE-F2AB-462F-9A97-6F686AFE9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7208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E0A726FE-A67A-4B16-A6E0-80F6A6F70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946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AC1CB676-A812-4717-8D09-5E56DD889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D1AC11DF-8FC6-454D-90FF-8488A2D9A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80FC6F73-66A5-4D7C-B18B-59864BA87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122CCCC2-6E0B-45AE-9D9D-7D8405CA7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69963"/>
            <a:ext cx="0" cy="432117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BCB4E2D8-2872-41BE-AC01-8A4CB3ED1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658" y="19144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ABEB8DDD-AC79-49CE-BE95-2A70747DD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658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0" name="Line 47">
            <a:extLst>
              <a:ext uri="{FF2B5EF4-FFF2-40B4-BE49-F238E27FC236}">
                <a16:creationId xmlns:a16="http://schemas.microsoft.com/office/drawing/2014/main" id="{C9C4C89C-0B6A-43DF-ABB5-ED87CCD3E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4458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4239C2D0-10FE-4F43-A750-AA89CF6BB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4458" y="2130326"/>
            <a:ext cx="144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2" name="Line 49">
            <a:extLst>
              <a:ext uri="{FF2B5EF4-FFF2-40B4-BE49-F238E27FC236}">
                <a16:creationId xmlns:a16="http://schemas.microsoft.com/office/drawing/2014/main" id="{2588FF5B-5DB1-47D9-9503-C9651E6BF7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633" y="2130326"/>
            <a:ext cx="730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BADE5F48-1641-4B9A-9155-A7CB08D292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921" y="2347813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20AD79B3-E5D9-44AE-AA74-B4E4F65BD7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921" y="2131913"/>
            <a:ext cx="0" cy="21431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2E0B702F-D90A-4593-9F0B-52DAA80AD8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721" y="2131913"/>
            <a:ext cx="0" cy="21431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F5A0207D-0D3D-43C7-A5BF-E441FD144C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721" y="2130326"/>
            <a:ext cx="142875" cy="158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7" name="Line 57">
            <a:extLst>
              <a:ext uri="{FF2B5EF4-FFF2-40B4-BE49-F238E27FC236}">
                <a16:creationId xmlns:a16="http://schemas.microsoft.com/office/drawing/2014/main" id="{066BBB4E-C009-4188-A31A-08AE40C19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5183" y="19144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8" name="Line 58">
            <a:extLst>
              <a:ext uri="{FF2B5EF4-FFF2-40B4-BE49-F238E27FC236}">
                <a16:creationId xmlns:a16="http://schemas.microsoft.com/office/drawing/2014/main" id="{AD036FA1-CE27-440D-B1D3-BD359BEC4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3596" y="1914426"/>
            <a:ext cx="1587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C6BCD0C2-D788-41D4-9B85-2185B6EA1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983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B3D88DC8-31BC-41D7-AD99-2FE392D8D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58" y="19144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1" name="Line 61">
            <a:extLst>
              <a:ext uri="{FF2B5EF4-FFF2-40B4-BE49-F238E27FC236}">
                <a16:creationId xmlns:a16="http://schemas.microsoft.com/office/drawing/2014/main" id="{017B758F-75A7-42F0-8D38-BC86D4707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58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2" name="Line 62">
            <a:extLst>
              <a:ext uri="{FF2B5EF4-FFF2-40B4-BE49-F238E27FC236}">
                <a16:creationId xmlns:a16="http://schemas.microsoft.com/office/drawing/2014/main" id="{DFB1D6A9-CBB9-46DA-995C-51CA1BC05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658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4A3F017F-D4C7-407D-974F-E03C7D66F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121" y="19144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91667DDD-C779-4787-B896-0EF824227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121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5" name="Line 65">
            <a:extLst>
              <a:ext uri="{FF2B5EF4-FFF2-40B4-BE49-F238E27FC236}">
                <a16:creationId xmlns:a16="http://schemas.microsoft.com/office/drawing/2014/main" id="{2D869C99-BE86-4E3B-90FC-B2D8D015F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921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6" name="Line 66">
            <a:extLst>
              <a:ext uri="{FF2B5EF4-FFF2-40B4-BE49-F238E27FC236}">
                <a16:creationId xmlns:a16="http://schemas.microsoft.com/office/drawing/2014/main" id="{76D3C2EE-E6E4-42DB-8A08-108ED15C8D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2383" y="23462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7" name="Line 67">
            <a:extLst>
              <a:ext uri="{FF2B5EF4-FFF2-40B4-BE49-F238E27FC236}">
                <a16:creationId xmlns:a16="http://schemas.microsoft.com/office/drawing/2014/main" id="{BBBE003A-9A2E-4EEB-B9E5-EF728FBDE8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2383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8" name="Line 68">
            <a:extLst>
              <a:ext uri="{FF2B5EF4-FFF2-40B4-BE49-F238E27FC236}">
                <a16:creationId xmlns:a16="http://schemas.microsoft.com/office/drawing/2014/main" id="{688D6881-C2BC-4A99-87AB-09D7B58520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4183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9" name="Line 69">
            <a:extLst>
              <a:ext uri="{FF2B5EF4-FFF2-40B4-BE49-F238E27FC236}">
                <a16:creationId xmlns:a16="http://schemas.microsoft.com/office/drawing/2014/main" id="{8B12D543-DCF0-4634-9F2C-E70AB3991E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646" y="23462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0" name="Line 70">
            <a:extLst>
              <a:ext uri="{FF2B5EF4-FFF2-40B4-BE49-F238E27FC236}">
                <a16:creationId xmlns:a16="http://schemas.microsoft.com/office/drawing/2014/main" id="{6E6AE2EE-4730-4FAA-84DD-016323237C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646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1" name="Line 71">
            <a:extLst>
              <a:ext uri="{FF2B5EF4-FFF2-40B4-BE49-F238E27FC236}">
                <a16:creationId xmlns:a16="http://schemas.microsoft.com/office/drawing/2014/main" id="{E7A6DE55-77A0-4AFC-B103-63CD6DDF90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0446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2" name="Line 72">
            <a:extLst>
              <a:ext uri="{FF2B5EF4-FFF2-40B4-BE49-F238E27FC236}">
                <a16:creationId xmlns:a16="http://schemas.microsoft.com/office/drawing/2014/main" id="{3EE66AB8-1FCD-4390-98B1-5C7E488364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908" y="23462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3" name="Line 73">
            <a:extLst>
              <a:ext uri="{FF2B5EF4-FFF2-40B4-BE49-F238E27FC236}">
                <a16:creationId xmlns:a16="http://schemas.microsoft.com/office/drawing/2014/main" id="{E6F2C380-89D4-4C0E-930C-5132C3CB9D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908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4" name="Line 74">
            <a:extLst>
              <a:ext uri="{FF2B5EF4-FFF2-40B4-BE49-F238E27FC236}">
                <a16:creationId xmlns:a16="http://schemas.microsoft.com/office/drawing/2014/main" id="{F613B2AB-D6F3-45C1-ABD2-47121D9D18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708" y="21303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5" name="Line 75">
            <a:extLst>
              <a:ext uri="{FF2B5EF4-FFF2-40B4-BE49-F238E27FC236}">
                <a16:creationId xmlns:a16="http://schemas.microsoft.com/office/drawing/2014/main" id="{ED095D4F-5E1E-4089-92CB-C95045878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1171" y="1914426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6" name="Line 76">
            <a:extLst>
              <a:ext uri="{FF2B5EF4-FFF2-40B4-BE49-F238E27FC236}">
                <a16:creationId xmlns:a16="http://schemas.microsoft.com/office/drawing/2014/main" id="{029D65AE-9D50-4932-9C89-3C9C7794F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1171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7" name="Line 77">
            <a:extLst>
              <a:ext uri="{FF2B5EF4-FFF2-40B4-BE49-F238E27FC236}">
                <a16:creationId xmlns:a16="http://schemas.microsoft.com/office/drawing/2014/main" id="{242BCC5A-4CE2-4C4B-AF69-4BBAF5A85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971" y="1914426"/>
            <a:ext cx="0" cy="2159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703812E7-3BB0-4899-BF7C-95E25B323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971" y="2130326"/>
            <a:ext cx="71437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9" name="Line 79">
            <a:extLst>
              <a:ext uri="{FF2B5EF4-FFF2-40B4-BE49-F238E27FC236}">
                <a16:creationId xmlns:a16="http://schemas.microsoft.com/office/drawing/2014/main" id="{A940BE83-EAD9-4AD5-976F-4F8389832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708" y="2130326"/>
            <a:ext cx="144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0" name="Line 80">
            <a:extLst>
              <a:ext uri="{FF2B5EF4-FFF2-40B4-BE49-F238E27FC236}">
                <a16:creationId xmlns:a16="http://schemas.microsoft.com/office/drawing/2014/main" id="{85BC99DC-6E4D-46DA-808D-F7F8D898B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0446" y="2130326"/>
            <a:ext cx="1444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1" name="Line 81">
            <a:extLst>
              <a:ext uri="{FF2B5EF4-FFF2-40B4-BE49-F238E27FC236}">
                <a16:creationId xmlns:a16="http://schemas.microsoft.com/office/drawing/2014/main" id="{4E7B2150-DE83-4F6E-BFF1-420487DFD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4183" y="2130326"/>
            <a:ext cx="144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2" name="Line 82">
            <a:extLst>
              <a:ext uri="{FF2B5EF4-FFF2-40B4-BE49-F238E27FC236}">
                <a16:creationId xmlns:a16="http://schemas.microsoft.com/office/drawing/2014/main" id="{D424A4F3-4C59-4621-A288-10A408D82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921" y="2130326"/>
            <a:ext cx="1444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3" name="Line 83">
            <a:extLst>
              <a:ext uri="{FF2B5EF4-FFF2-40B4-BE49-F238E27FC236}">
                <a16:creationId xmlns:a16="http://schemas.microsoft.com/office/drawing/2014/main" id="{0519298C-A645-49C8-98EB-10F7F656E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658" y="2130326"/>
            <a:ext cx="144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52A81430-DAFE-44B2-8B10-902CA706A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983" y="2130326"/>
            <a:ext cx="144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1DF32DF5-B37F-4528-AACE-784FC6A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71" y="1914426"/>
            <a:ext cx="13636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归零制</a:t>
            </a: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92C1BDDE-181D-46F0-92B3-0E37E132B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71" y="2635151"/>
            <a:ext cx="13636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不归零制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74BDD56C-B92A-46BC-A3C3-93686B123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2635151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9D00160F-BEC3-47C1-B7E9-5DB691C9D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3066951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89" name="Line 89">
            <a:extLst>
              <a:ext uri="{FF2B5EF4-FFF2-40B4-BE49-F238E27FC236}">
                <a16:creationId xmlns:a16="http://schemas.microsoft.com/office/drawing/2014/main" id="{29E339F2-1D3D-4957-88D7-0DF526A69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2635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0" name="Line 90">
            <a:extLst>
              <a:ext uri="{FF2B5EF4-FFF2-40B4-BE49-F238E27FC236}">
                <a16:creationId xmlns:a16="http://schemas.microsoft.com/office/drawing/2014/main" id="{6D019150-C0E4-41D6-9350-613E4A04F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2635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1" name="Line 91">
            <a:extLst>
              <a:ext uri="{FF2B5EF4-FFF2-40B4-BE49-F238E27FC236}">
                <a16:creationId xmlns:a16="http://schemas.microsoft.com/office/drawing/2014/main" id="{B5F3E89D-E0DB-45B2-8E38-A05F5DEF5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2635151"/>
            <a:ext cx="1728788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2" name="Line 92">
            <a:extLst>
              <a:ext uri="{FF2B5EF4-FFF2-40B4-BE49-F238E27FC236}">
                <a16:creationId xmlns:a16="http://schemas.microsoft.com/office/drawing/2014/main" id="{7ED68902-5855-438D-AE96-DD6921D61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946" y="2635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3" name="Line 93">
            <a:extLst>
              <a:ext uri="{FF2B5EF4-FFF2-40B4-BE49-F238E27FC236}">
                <a16:creationId xmlns:a16="http://schemas.microsoft.com/office/drawing/2014/main" id="{2277C81D-222C-400B-B24A-C69744CE0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946" y="3066951"/>
            <a:ext cx="17272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4" name="Line 94">
            <a:extLst>
              <a:ext uri="{FF2B5EF4-FFF2-40B4-BE49-F238E27FC236}">
                <a16:creationId xmlns:a16="http://schemas.microsoft.com/office/drawing/2014/main" id="{07C5688D-8303-4D54-B385-A89D681DA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2635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5" name="Line 95">
            <a:extLst>
              <a:ext uri="{FF2B5EF4-FFF2-40B4-BE49-F238E27FC236}">
                <a16:creationId xmlns:a16="http://schemas.microsoft.com/office/drawing/2014/main" id="{9A1BAFD3-53C5-40E8-911B-AB2D729E2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2635151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6" name="Line 97">
            <a:extLst>
              <a:ext uri="{FF2B5EF4-FFF2-40B4-BE49-F238E27FC236}">
                <a16:creationId xmlns:a16="http://schemas.microsoft.com/office/drawing/2014/main" id="{B6947841-7453-41EA-AA55-4D8F2BD09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3354288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7" name="Line 98">
            <a:extLst>
              <a:ext uri="{FF2B5EF4-FFF2-40B4-BE49-F238E27FC236}">
                <a16:creationId xmlns:a16="http://schemas.microsoft.com/office/drawing/2014/main" id="{89405A36-1E0A-49ED-99F2-8E2EBD177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3354288"/>
            <a:ext cx="11525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8" name="Line 99">
            <a:extLst>
              <a:ext uri="{FF2B5EF4-FFF2-40B4-BE49-F238E27FC236}">
                <a16:creationId xmlns:a16="http://schemas.microsoft.com/office/drawing/2014/main" id="{B0C20C35-2123-4242-A0CB-D7335ED6E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3354288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9" name="Line 100">
            <a:extLst>
              <a:ext uri="{FF2B5EF4-FFF2-40B4-BE49-F238E27FC236}">
                <a16:creationId xmlns:a16="http://schemas.microsoft.com/office/drawing/2014/main" id="{C473F8A1-08D5-41C7-9BBE-8339BBE27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3354288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0" name="Line 101">
            <a:extLst>
              <a:ext uri="{FF2B5EF4-FFF2-40B4-BE49-F238E27FC236}">
                <a16:creationId xmlns:a16="http://schemas.microsoft.com/office/drawing/2014/main" id="{1F76B9E3-73FF-4F15-8964-44B5A71F2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3354288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1" name="Line 102">
            <a:extLst>
              <a:ext uri="{FF2B5EF4-FFF2-40B4-BE49-F238E27FC236}">
                <a16:creationId xmlns:a16="http://schemas.microsoft.com/office/drawing/2014/main" id="{D50CC985-1DC3-43CD-9682-E26C786FF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3786088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2" name="Line 103">
            <a:extLst>
              <a:ext uri="{FF2B5EF4-FFF2-40B4-BE49-F238E27FC236}">
                <a16:creationId xmlns:a16="http://schemas.microsoft.com/office/drawing/2014/main" id="{4B002D4D-F312-4F6D-AE12-7DFE97B29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3354288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3" name="Line 104">
            <a:extLst>
              <a:ext uri="{FF2B5EF4-FFF2-40B4-BE49-F238E27FC236}">
                <a16:creationId xmlns:a16="http://schemas.microsoft.com/office/drawing/2014/main" id="{1CA4D43B-9EDA-4123-ADB5-8B76CD08B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3786088"/>
            <a:ext cx="2303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4" name="Line 105">
            <a:extLst>
              <a:ext uri="{FF2B5EF4-FFF2-40B4-BE49-F238E27FC236}">
                <a16:creationId xmlns:a16="http://schemas.microsoft.com/office/drawing/2014/main" id="{1EA11A26-877A-45B8-A4A4-1FCFE35DD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3354288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5" name="Line 106">
            <a:extLst>
              <a:ext uri="{FF2B5EF4-FFF2-40B4-BE49-F238E27FC236}">
                <a16:creationId xmlns:a16="http://schemas.microsoft.com/office/drawing/2014/main" id="{BBD62D77-AEEE-4697-9024-AE93ECF44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3354288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6" name="Line 107">
            <a:extLst>
              <a:ext uri="{FF2B5EF4-FFF2-40B4-BE49-F238E27FC236}">
                <a16:creationId xmlns:a16="http://schemas.microsoft.com/office/drawing/2014/main" id="{064604E1-A85A-4554-B60C-F9D986C11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971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7" name="Line 108">
            <a:extLst>
              <a:ext uri="{FF2B5EF4-FFF2-40B4-BE49-F238E27FC236}">
                <a16:creationId xmlns:a16="http://schemas.microsoft.com/office/drawing/2014/main" id="{00D34546-F5C8-4581-8EEF-5F2B93114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8" name="Line 109">
            <a:extLst>
              <a:ext uri="{FF2B5EF4-FFF2-40B4-BE49-F238E27FC236}">
                <a16:creationId xmlns:a16="http://schemas.microsoft.com/office/drawing/2014/main" id="{6ADA9E4A-1D9E-40B6-8608-85F4CD31F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09" name="Line 110">
            <a:extLst>
              <a:ext uri="{FF2B5EF4-FFF2-40B4-BE49-F238E27FC236}">
                <a16:creationId xmlns:a16="http://schemas.microsoft.com/office/drawing/2014/main" id="{F9C83023-946F-4C58-8381-EAD2A24B1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496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0" name="Line 111">
            <a:extLst>
              <a:ext uri="{FF2B5EF4-FFF2-40B4-BE49-F238E27FC236}">
                <a16:creationId xmlns:a16="http://schemas.microsoft.com/office/drawing/2014/main" id="{9D9A543B-1D5C-4314-ACE1-29C8CF15D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1" name="Line 112">
            <a:extLst>
              <a:ext uri="{FF2B5EF4-FFF2-40B4-BE49-F238E27FC236}">
                <a16:creationId xmlns:a16="http://schemas.microsoft.com/office/drawing/2014/main" id="{ACFB446D-80C5-4E9D-95C3-F6E1C5953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758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2" name="Line 113">
            <a:extLst>
              <a:ext uri="{FF2B5EF4-FFF2-40B4-BE49-F238E27FC236}">
                <a16:creationId xmlns:a16="http://schemas.microsoft.com/office/drawing/2014/main" id="{B381A62E-9916-4BF5-A37F-3D24E4A72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3" name="Line 114">
            <a:extLst>
              <a:ext uri="{FF2B5EF4-FFF2-40B4-BE49-F238E27FC236}">
                <a16:creationId xmlns:a16="http://schemas.microsoft.com/office/drawing/2014/main" id="{38E98F34-F647-44D5-84CE-6918AC99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2021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4" name="Line 115">
            <a:extLst>
              <a:ext uri="{FF2B5EF4-FFF2-40B4-BE49-F238E27FC236}">
                <a16:creationId xmlns:a16="http://schemas.microsoft.com/office/drawing/2014/main" id="{0BA7C7FD-C22D-40C0-9329-5666FE358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9358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5" name="Line 116">
            <a:extLst>
              <a:ext uri="{FF2B5EF4-FFF2-40B4-BE49-F238E27FC236}">
                <a16:creationId xmlns:a16="http://schemas.microsoft.com/office/drawing/2014/main" id="{446B8A56-CED9-4450-A2C9-90C080699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6" name="Line 117">
            <a:extLst>
              <a:ext uri="{FF2B5EF4-FFF2-40B4-BE49-F238E27FC236}">
                <a16:creationId xmlns:a16="http://schemas.microsoft.com/office/drawing/2014/main" id="{4478BE24-A47D-46B3-9C99-DE686D7C3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7" name="Line 118">
            <a:extLst>
              <a:ext uri="{FF2B5EF4-FFF2-40B4-BE49-F238E27FC236}">
                <a16:creationId xmlns:a16="http://schemas.microsoft.com/office/drawing/2014/main" id="{34525E36-860B-4785-AF24-50B9CDECD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8" name="Line 119">
            <a:extLst>
              <a:ext uri="{FF2B5EF4-FFF2-40B4-BE49-F238E27FC236}">
                <a16:creationId xmlns:a16="http://schemas.microsoft.com/office/drawing/2014/main" id="{A67652F2-0D60-46B0-8DB4-560CE15FF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483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9" name="Line 120">
            <a:extLst>
              <a:ext uri="{FF2B5EF4-FFF2-40B4-BE49-F238E27FC236}">
                <a16:creationId xmlns:a16="http://schemas.microsoft.com/office/drawing/2014/main" id="{EBA484BB-74D1-4F81-99DF-38ED1C2A0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4408" y="4075013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0" name="Line 121">
            <a:extLst>
              <a:ext uri="{FF2B5EF4-FFF2-40B4-BE49-F238E27FC236}">
                <a16:creationId xmlns:a16="http://schemas.microsoft.com/office/drawing/2014/main" id="{4DBA5900-1329-4E2B-BDA6-AB6F2914E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4075013"/>
            <a:ext cx="287338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1" name="Line 122">
            <a:extLst>
              <a:ext uri="{FF2B5EF4-FFF2-40B4-BE49-F238E27FC236}">
                <a16:creationId xmlns:a16="http://schemas.microsoft.com/office/drawing/2014/main" id="{5D2932E6-AFFB-43C7-A3C7-71893C952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971" y="45068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2" name="Line 123">
            <a:extLst>
              <a:ext uri="{FF2B5EF4-FFF2-40B4-BE49-F238E27FC236}">
                <a16:creationId xmlns:a16="http://schemas.microsoft.com/office/drawing/2014/main" id="{10ABC62F-4A09-4F3B-9792-060189172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4075013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3" name="Line 124">
            <a:extLst>
              <a:ext uri="{FF2B5EF4-FFF2-40B4-BE49-F238E27FC236}">
                <a16:creationId xmlns:a16="http://schemas.microsoft.com/office/drawing/2014/main" id="{EEF535D9-5409-4F7A-AFC9-4516AC316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158" y="45068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4" name="Line 125">
            <a:extLst>
              <a:ext uri="{FF2B5EF4-FFF2-40B4-BE49-F238E27FC236}">
                <a16:creationId xmlns:a16="http://schemas.microsoft.com/office/drawing/2014/main" id="{7FC168A4-2858-4630-8DE4-9789A8147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496" y="40750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5" name="Line 126">
            <a:extLst>
              <a:ext uri="{FF2B5EF4-FFF2-40B4-BE49-F238E27FC236}">
                <a16:creationId xmlns:a16="http://schemas.microsoft.com/office/drawing/2014/main" id="{1CED3354-CA1E-4128-BF3F-7A4F160D1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45068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6" name="Line 127">
            <a:extLst>
              <a:ext uri="{FF2B5EF4-FFF2-40B4-BE49-F238E27FC236}">
                <a16:creationId xmlns:a16="http://schemas.microsoft.com/office/drawing/2014/main" id="{800AE2B8-1526-4EE4-ABAE-36102712E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758" y="40750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7" name="Line 128">
            <a:extLst>
              <a:ext uri="{FF2B5EF4-FFF2-40B4-BE49-F238E27FC236}">
                <a16:creationId xmlns:a16="http://schemas.microsoft.com/office/drawing/2014/main" id="{B47EE93F-35D4-4A68-9277-73BA8F70A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45068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8" name="Line 129">
            <a:extLst>
              <a:ext uri="{FF2B5EF4-FFF2-40B4-BE49-F238E27FC236}">
                <a16:creationId xmlns:a16="http://schemas.microsoft.com/office/drawing/2014/main" id="{FBF5959F-6655-489E-82CC-1F39A918A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2021" y="40750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29" name="Line 130">
            <a:extLst>
              <a:ext uri="{FF2B5EF4-FFF2-40B4-BE49-F238E27FC236}">
                <a16:creationId xmlns:a16="http://schemas.microsoft.com/office/drawing/2014/main" id="{23DD5D1C-F649-46AC-BC89-F482D9E96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9358" y="4506813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0" name="Line 131">
            <a:extLst>
              <a:ext uri="{FF2B5EF4-FFF2-40B4-BE49-F238E27FC236}">
                <a16:creationId xmlns:a16="http://schemas.microsoft.com/office/drawing/2014/main" id="{26CE815B-1194-4A6E-8C13-596DA12EB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4075013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1" name="Line 132">
            <a:extLst>
              <a:ext uri="{FF2B5EF4-FFF2-40B4-BE49-F238E27FC236}">
                <a16:creationId xmlns:a16="http://schemas.microsoft.com/office/drawing/2014/main" id="{FCEF2F1A-AA86-4EB7-9D9E-7BAE436E1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4506813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2" name="Line 133">
            <a:extLst>
              <a:ext uri="{FF2B5EF4-FFF2-40B4-BE49-F238E27FC236}">
                <a16:creationId xmlns:a16="http://schemas.microsoft.com/office/drawing/2014/main" id="{11E68451-3DE5-4935-B448-529800CAA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8146" y="40750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3" name="Line 134">
            <a:extLst>
              <a:ext uri="{FF2B5EF4-FFF2-40B4-BE49-F238E27FC236}">
                <a16:creationId xmlns:a16="http://schemas.microsoft.com/office/drawing/2014/main" id="{8DBED848-2BCD-445D-8CD7-A6801AA53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483" y="4506813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4" name="Line 135">
            <a:extLst>
              <a:ext uri="{FF2B5EF4-FFF2-40B4-BE49-F238E27FC236}">
                <a16:creationId xmlns:a16="http://schemas.microsoft.com/office/drawing/2014/main" id="{9C39DBBA-DC4A-4FF7-AF5F-E9AAB9A0C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971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5" name="Line 136">
            <a:extLst>
              <a:ext uri="{FF2B5EF4-FFF2-40B4-BE49-F238E27FC236}">
                <a16:creationId xmlns:a16="http://schemas.microsoft.com/office/drawing/2014/main" id="{0A6379F4-56F8-41F3-90A4-F44CED029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4794151"/>
            <a:ext cx="287338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6" name="Line 137">
            <a:extLst>
              <a:ext uri="{FF2B5EF4-FFF2-40B4-BE49-F238E27FC236}">
                <a16:creationId xmlns:a16="http://schemas.microsoft.com/office/drawing/2014/main" id="{FF4B8307-D775-4D58-B755-147536A51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496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7" name="Line 138">
            <a:extLst>
              <a:ext uri="{FF2B5EF4-FFF2-40B4-BE49-F238E27FC236}">
                <a16:creationId xmlns:a16="http://schemas.microsoft.com/office/drawing/2014/main" id="{085FF59D-4CA2-425B-96A2-EBE390C5A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971" y="5227538"/>
            <a:ext cx="11525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8" name="Line 139">
            <a:extLst>
              <a:ext uri="{FF2B5EF4-FFF2-40B4-BE49-F238E27FC236}">
                <a16:creationId xmlns:a16="http://schemas.microsoft.com/office/drawing/2014/main" id="{9F4B8988-356E-409A-8741-7C9560464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758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9" name="Line 140">
            <a:extLst>
              <a:ext uri="{FF2B5EF4-FFF2-40B4-BE49-F238E27FC236}">
                <a16:creationId xmlns:a16="http://schemas.microsoft.com/office/drawing/2014/main" id="{AA735538-A528-40FE-8D89-5A82E38AC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2021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0" name="Line 141">
            <a:extLst>
              <a:ext uri="{FF2B5EF4-FFF2-40B4-BE49-F238E27FC236}">
                <a16:creationId xmlns:a16="http://schemas.microsoft.com/office/drawing/2014/main" id="{5D62CBB4-2BF1-49B0-B594-847E1C48B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496" y="4794151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1" name="Line 142">
            <a:extLst>
              <a:ext uri="{FF2B5EF4-FFF2-40B4-BE49-F238E27FC236}">
                <a16:creationId xmlns:a16="http://schemas.microsoft.com/office/drawing/2014/main" id="{DC031A6F-25E3-4F82-AFD1-070E0B250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758" y="5227538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2" name="Line 143">
            <a:extLst>
              <a:ext uri="{FF2B5EF4-FFF2-40B4-BE49-F238E27FC236}">
                <a16:creationId xmlns:a16="http://schemas.microsoft.com/office/drawing/2014/main" id="{53233296-EC79-4A7B-B068-3029B8419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2021" y="4794151"/>
            <a:ext cx="8636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3" name="Line 144">
            <a:extLst>
              <a:ext uri="{FF2B5EF4-FFF2-40B4-BE49-F238E27FC236}">
                <a16:creationId xmlns:a16="http://schemas.microsoft.com/office/drawing/2014/main" id="{62E428D6-778D-4DBA-BE2A-A020B9D92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4" name="Line 145">
            <a:extLst>
              <a:ext uri="{FF2B5EF4-FFF2-40B4-BE49-F238E27FC236}">
                <a16:creationId xmlns:a16="http://schemas.microsoft.com/office/drawing/2014/main" id="{77FBC9F0-A672-4006-BFAC-AD3CEF3D3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5" name="Line 146">
            <a:extLst>
              <a:ext uri="{FF2B5EF4-FFF2-40B4-BE49-F238E27FC236}">
                <a16:creationId xmlns:a16="http://schemas.microsoft.com/office/drawing/2014/main" id="{251077FF-2B57-4ECB-B471-21DC78395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5225951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6" name="Line 147">
            <a:extLst>
              <a:ext uri="{FF2B5EF4-FFF2-40B4-BE49-F238E27FC236}">
                <a16:creationId xmlns:a16="http://schemas.microsoft.com/office/drawing/2014/main" id="{7FFC92AE-9885-43F6-871F-C061054D0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4794151"/>
            <a:ext cx="8636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7" name="Line 148">
            <a:extLst>
              <a:ext uri="{FF2B5EF4-FFF2-40B4-BE49-F238E27FC236}">
                <a16:creationId xmlns:a16="http://schemas.microsoft.com/office/drawing/2014/main" id="{1B438104-ACF9-4CFD-B8F6-8050E7DE7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483" y="4794151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8" name="Line 149">
            <a:extLst>
              <a:ext uri="{FF2B5EF4-FFF2-40B4-BE49-F238E27FC236}">
                <a16:creationId xmlns:a16="http://schemas.microsoft.com/office/drawing/2014/main" id="{12C486C5-93A5-489B-B88E-F317FEF47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483" y="5227538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49" name="Line 150">
            <a:extLst>
              <a:ext uri="{FF2B5EF4-FFF2-40B4-BE49-F238E27FC236}">
                <a16:creationId xmlns:a16="http://schemas.microsoft.com/office/drawing/2014/main" id="{389A3FA9-E208-4743-9D98-41BE639CFF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6971" y="5514876"/>
            <a:ext cx="0" cy="431800"/>
          </a:xfrm>
          <a:prstGeom prst="line">
            <a:avLst/>
          </a:prstGeom>
          <a:noFill/>
          <a:ln w="28575" cap="rnd">
            <a:solidFill>
              <a:srgbClr val="CC0066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0" name="Line 151">
            <a:extLst>
              <a:ext uri="{FF2B5EF4-FFF2-40B4-BE49-F238E27FC236}">
                <a16:creationId xmlns:a16="http://schemas.microsoft.com/office/drawing/2014/main" id="{62718255-D6FC-4B16-A9B1-1DFE40F65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3233" y="5514876"/>
            <a:ext cx="0" cy="431800"/>
          </a:xfrm>
          <a:prstGeom prst="line">
            <a:avLst/>
          </a:prstGeom>
          <a:noFill/>
          <a:ln w="28575" cap="rnd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1" name="Line 152">
            <a:extLst>
              <a:ext uri="{FF2B5EF4-FFF2-40B4-BE49-F238E27FC236}">
                <a16:creationId xmlns:a16="http://schemas.microsoft.com/office/drawing/2014/main" id="{25841DE7-5BEF-46EA-B8E3-6610636AD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9496" y="5514876"/>
            <a:ext cx="0" cy="431800"/>
          </a:xfrm>
          <a:prstGeom prst="line">
            <a:avLst/>
          </a:prstGeom>
          <a:noFill/>
          <a:ln w="28575" cap="rnd">
            <a:solidFill>
              <a:srgbClr val="CC0066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2" name="Line 153">
            <a:extLst>
              <a:ext uri="{FF2B5EF4-FFF2-40B4-BE49-F238E27FC236}">
                <a16:creationId xmlns:a16="http://schemas.microsoft.com/office/drawing/2014/main" id="{ABB84C89-49C4-4A72-AA3E-49DBB78CB8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75758" y="5514876"/>
            <a:ext cx="0" cy="431800"/>
          </a:xfrm>
          <a:prstGeom prst="line">
            <a:avLst/>
          </a:prstGeom>
          <a:noFill/>
          <a:ln w="28575" cap="rnd">
            <a:solidFill>
              <a:srgbClr val="CC0066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3" name="Line 154">
            <a:extLst>
              <a:ext uri="{FF2B5EF4-FFF2-40B4-BE49-F238E27FC236}">
                <a16:creationId xmlns:a16="http://schemas.microsoft.com/office/drawing/2014/main" id="{4EED61D8-8C76-4132-80BB-87E685A08D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2021" y="5514876"/>
            <a:ext cx="0" cy="431800"/>
          </a:xfrm>
          <a:prstGeom prst="line">
            <a:avLst/>
          </a:prstGeom>
          <a:noFill/>
          <a:ln w="28575" cap="rnd">
            <a:solidFill>
              <a:srgbClr val="CC0066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4" name="Line 155">
            <a:extLst>
              <a:ext uri="{FF2B5EF4-FFF2-40B4-BE49-F238E27FC236}">
                <a16:creationId xmlns:a16="http://schemas.microsoft.com/office/drawing/2014/main" id="{8EAC3FB8-5EE3-4157-A6F0-723CE2C13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8283" y="5514876"/>
            <a:ext cx="0" cy="431800"/>
          </a:xfrm>
          <a:prstGeom prst="line">
            <a:avLst/>
          </a:prstGeom>
          <a:noFill/>
          <a:ln w="28575" cap="rnd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5" name="Line 156">
            <a:extLst>
              <a:ext uri="{FF2B5EF4-FFF2-40B4-BE49-F238E27FC236}">
                <a16:creationId xmlns:a16="http://schemas.microsoft.com/office/drawing/2014/main" id="{381B6DAA-2CAD-4891-A72E-899FEAA07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546" y="5514876"/>
            <a:ext cx="0" cy="431800"/>
          </a:xfrm>
          <a:prstGeom prst="line">
            <a:avLst/>
          </a:prstGeom>
          <a:noFill/>
          <a:ln w="28575" cap="rnd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6" name="Line 157">
            <a:extLst>
              <a:ext uri="{FF2B5EF4-FFF2-40B4-BE49-F238E27FC236}">
                <a16:creationId xmlns:a16="http://schemas.microsoft.com/office/drawing/2014/main" id="{C86DE2B5-D38C-49E1-A2BE-50C3D93F7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808" y="5514876"/>
            <a:ext cx="0" cy="431800"/>
          </a:xfrm>
          <a:prstGeom prst="line">
            <a:avLst/>
          </a:prstGeom>
          <a:noFill/>
          <a:ln w="28575" cap="rnd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7" name="Line 158">
            <a:extLst>
              <a:ext uri="{FF2B5EF4-FFF2-40B4-BE49-F238E27FC236}">
                <a16:creationId xmlns:a16="http://schemas.microsoft.com/office/drawing/2014/main" id="{7977C116-FA7E-4787-80F4-96DE111D8F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5483" y="5514876"/>
            <a:ext cx="0" cy="431800"/>
          </a:xfrm>
          <a:prstGeom prst="line">
            <a:avLst/>
          </a:prstGeom>
          <a:noFill/>
          <a:ln w="28575" cap="rnd">
            <a:solidFill>
              <a:srgbClr val="CC0066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8" name="Line 159">
            <a:extLst>
              <a:ext uri="{FF2B5EF4-FFF2-40B4-BE49-F238E27FC236}">
                <a16:creationId xmlns:a16="http://schemas.microsoft.com/office/drawing/2014/main" id="{4A8DA97E-F61F-4C71-B0F3-9FB3A8290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633" y="5946676"/>
            <a:ext cx="287338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59" name="Line 160">
            <a:extLst>
              <a:ext uri="{FF2B5EF4-FFF2-40B4-BE49-F238E27FC236}">
                <a16:creationId xmlns:a16="http://schemas.microsoft.com/office/drawing/2014/main" id="{FC57E2BA-F2AC-4418-9431-DDB26B402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971" y="5514876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0" name="Line 161">
            <a:extLst>
              <a:ext uri="{FF2B5EF4-FFF2-40B4-BE49-F238E27FC236}">
                <a16:creationId xmlns:a16="http://schemas.microsoft.com/office/drawing/2014/main" id="{AF6B1772-78FC-4ECC-9910-877B55F64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3233" y="5946676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1" name="Line 162">
            <a:extLst>
              <a:ext uri="{FF2B5EF4-FFF2-40B4-BE49-F238E27FC236}">
                <a16:creationId xmlns:a16="http://schemas.microsoft.com/office/drawing/2014/main" id="{878248B6-314F-4F08-8FFC-43DF397F3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496" y="55148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2" name="Line 163">
            <a:extLst>
              <a:ext uri="{FF2B5EF4-FFF2-40B4-BE49-F238E27FC236}">
                <a16:creationId xmlns:a16="http://schemas.microsoft.com/office/drawing/2014/main" id="{DC8D4DB0-DE99-43EB-9180-79014C5E4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5514876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3" name="Line 164">
            <a:extLst>
              <a:ext uri="{FF2B5EF4-FFF2-40B4-BE49-F238E27FC236}">
                <a16:creationId xmlns:a16="http://schemas.microsoft.com/office/drawing/2014/main" id="{1EB396E7-5E21-42AA-A759-7D0191475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421" y="59466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4" name="Line 165">
            <a:extLst>
              <a:ext uri="{FF2B5EF4-FFF2-40B4-BE49-F238E27FC236}">
                <a16:creationId xmlns:a16="http://schemas.microsoft.com/office/drawing/2014/main" id="{940157C4-C5E1-476E-9111-0A6BC3A77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758" y="55148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5" name="Line 166">
            <a:extLst>
              <a:ext uri="{FF2B5EF4-FFF2-40B4-BE49-F238E27FC236}">
                <a16:creationId xmlns:a16="http://schemas.microsoft.com/office/drawing/2014/main" id="{F9F82BB4-2BEE-422C-959B-4105BCF8C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5514876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6" name="Line 167">
            <a:extLst>
              <a:ext uri="{FF2B5EF4-FFF2-40B4-BE49-F238E27FC236}">
                <a16:creationId xmlns:a16="http://schemas.microsoft.com/office/drawing/2014/main" id="{FBA8D35E-E214-46C4-820D-3784E1419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683" y="59466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7" name="Line 168">
            <a:extLst>
              <a:ext uri="{FF2B5EF4-FFF2-40B4-BE49-F238E27FC236}">
                <a16:creationId xmlns:a16="http://schemas.microsoft.com/office/drawing/2014/main" id="{174BE841-B805-4914-BE08-9A5431CB0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2021" y="5514876"/>
            <a:ext cx="57626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8" name="Line 169">
            <a:extLst>
              <a:ext uri="{FF2B5EF4-FFF2-40B4-BE49-F238E27FC236}">
                <a16:creationId xmlns:a16="http://schemas.microsoft.com/office/drawing/2014/main" id="{D25C8643-DF69-4AFA-A19D-C5A05CCB10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8283" y="59466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69" name="Line 170">
            <a:extLst>
              <a:ext uri="{FF2B5EF4-FFF2-40B4-BE49-F238E27FC236}">
                <a16:creationId xmlns:a16="http://schemas.microsoft.com/office/drawing/2014/main" id="{DFDACB9F-20C8-4B11-8731-1E31EF220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5514876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0" name="Line 171">
            <a:extLst>
              <a:ext uri="{FF2B5EF4-FFF2-40B4-BE49-F238E27FC236}">
                <a16:creationId xmlns:a16="http://schemas.microsoft.com/office/drawing/2014/main" id="{13B0EECC-7EBA-4954-884C-B40D3D293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621" y="55148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1" name="Line 172">
            <a:extLst>
              <a:ext uri="{FF2B5EF4-FFF2-40B4-BE49-F238E27FC236}">
                <a16:creationId xmlns:a16="http://schemas.microsoft.com/office/drawing/2014/main" id="{1F3A40BE-D97C-4247-8480-8C1610110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546" y="59466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2" name="Line 173">
            <a:extLst>
              <a:ext uri="{FF2B5EF4-FFF2-40B4-BE49-F238E27FC236}">
                <a16:creationId xmlns:a16="http://schemas.microsoft.com/office/drawing/2014/main" id="{A53AD1AA-CEBD-4E05-8DB0-36A77E077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5514876"/>
            <a:ext cx="0" cy="4318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3" name="Line 174">
            <a:extLst>
              <a:ext uri="{FF2B5EF4-FFF2-40B4-BE49-F238E27FC236}">
                <a16:creationId xmlns:a16="http://schemas.microsoft.com/office/drawing/2014/main" id="{17916DEF-78CF-4116-B1FB-0C7C6F9C2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883" y="55148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4" name="Line 175">
            <a:extLst>
              <a:ext uri="{FF2B5EF4-FFF2-40B4-BE49-F238E27FC236}">
                <a16:creationId xmlns:a16="http://schemas.microsoft.com/office/drawing/2014/main" id="{266F12C0-6A5C-4C1B-BA07-8753A4DFF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808" y="5946676"/>
            <a:ext cx="5762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5" name="Line 176">
            <a:extLst>
              <a:ext uri="{FF2B5EF4-FFF2-40B4-BE49-F238E27FC236}">
                <a16:creationId xmlns:a16="http://schemas.microsoft.com/office/drawing/2014/main" id="{BD4921A2-BD33-4773-9FEF-19BC25958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483" y="5514876"/>
            <a:ext cx="28892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6" name="Text Box 177">
            <a:extLst>
              <a:ext uri="{FF2B5EF4-FFF2-40B4-BE49-F238E27FC236}">
                <a16:creationId xmlns:a16="http://schemas.microsoft.com/office/drawing/2014/main" id="{7EC2BAD6-0C8B-426A-B61F-3FDC7704C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08" y="4075013"/>
            <a:ext cx="13636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调频制</a:t>
            </a:r>
          </a:p>
        </p:txBody>
      </p:sp>
      <p:sp>
        <p:nvSpPr>
          <p:cNvPr id="177" name="Text Box 178">
            <a:extLst>
              <a:ext uri="{FF2B5EF4-FFF2-40B4-BE49-F238E27FC236}">
                <a16:creationId xmlns:a16="http://schemas.microsoft.com/office/drawing/2014/main" id="{41D45332-C0A7-44EA-9EFD-C74964C6C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08" y="4651276"/>
            <a:ext cx="1363663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改进</a:t>
            </a:r>
            <a:b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</a:br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调频制</a:t>
            </a:r>
          </a:p>
        </p:txBody>
      </p:sp>
      <p:sp>
        <p:nvSpPr>
          <p:cNvPr id="178" name="Text Box 179">
            <a:extLst>
              <a:ext uri="{FF2B5EF4-FFF2-40B4-BE49-F238E27FC236}">
                <a16:creationId xmlns:a16="http://schemas.microsoft.com/office/drawing/2014/main" id="{64C04A18-8803-449F-8A43-B8217223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08" y="5514876"/>
            <a:ext cx="13636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latin typeface="Arial" charset="0"/>
                <a:ea typeface="宋体" charset="-122"/>
              </a:rPr>
              <a:t>调相制</a:t>
            </a:r>
          </a:p>
        </p:txBody>
      </p:sp>
      <p:sp>
        <p:nvSpPr>
          <p:cNvPr id="179" name="Text Box 180">
            <a:extLst>
              <a:ext uri="{FF2B5EF4-FFF2-40B4-BE49-F238E27FC236}">
                <a16:creationId xmlns:a16="http://schemas.microsoft.com/office/drawing/2014/main" id="{EBB93DA2-66A2-40C8-9DFC-6E53B43B0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158" y="2597051"/>
            <a:ext cx="1752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Arial" charset="0"/>
                <a:ea typeface="宋体" charset="-122"/>
              </a:rPr>
              <a:t>无自同步能力</a:t>
            </a:r>
          </a:p>
        </p:txBody>
      </p:sp>
      <p:sp>
        <p:nvSpPr>
          <p:cNvPr id="180" name="Text Box 181">
            <a:extLst>
              <a:ext uri="{FF2B5EF4-FFF2-40B4-BE49-F238E27FC236}">
                <a16:creationId xmlns:a16="http://schemas.microsoft.com/office/drawing/2014/main" id="{EFC51212-B5BB-41B5-84CB-706177294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8208" y="3354288"/>
            <a:ext cx="1752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Arial" charset="0"/>
                <a:ea typeface="宋体" charset="-122"/>
              </a:rPr>
              <a:t>无自同步能力</a:t>
            </a:r>
          </a:p>
        </p:txBody>
      </p:sp>
      <p:sp>
        <p:nvSpPr>
          <p:cNvPr id="181" name="TextBox 176">
            <a:extLst>
              <a:ext uri="{FF2B5EF4-FFF2-40B4-BE49-F238E27FC236}">
                <a16:creationId xmlns:a16="http://schemas.microsoft.com/office/drawing/2014/main" id="{C1F47531-52CE-4860-86F4-1ACA64406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58" y="3211413"/>
            <a:ext cx="14763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rgbClr val="000000"/>
                </a:solidFill>
                <a:ea typeface="宋体" charset="-122"/>
              </a:rPr>
              <a:t>见</a:t>
            </a:r>
            <a:r>
              <a:rPr lang="en-US" altLang="zh-CN" sz="2000">
                <a:solidFill>
                  <a:srgbClr val="000000"/>
                </a:solidFill>
                <a:ea typeface="宋体" charset="-122"/>
              </a:rPr>
              <a:t>“1”</a:t>
            </a:r>
            <a:r>
              <a:rPr lang="zh-CN" altLang="en-US" sz="2000">
                <a:solidFill>
                  <a:srgbClr val="000000"/>
                </a:solidFill>
                <a:ea typeface="宋体" charset="-122"/>
              </a:rPr>
              <a:t>就变不归零制</a:t>
            </a:r>
          </a:p>
        </p:txBody>
      </p:sp>
    </p:spTree>
    <p:extLst>
      <p:ext uri="{BB962C8B-B14F-4D97-AF65-F5344CB8AC3E}">
        <p14:creationId xmlns:p14="http://schemas.microsoft.com/office/powerpoint/2010/main" val="357718492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69B8D-68F6-413B-A33B-4B9941BA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25C23-3E8A-4620-997B-B55652DD7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D75961-7F7D-4334-B329-174E2F6AF7C5}"/>
              </a:ext>
            </a:extLst>
          </p:cNvPr>
          <p:cNvSpPr txBox="1"/>
          <p:nvPr/>
        </p:nvSpPr>
        <p:spPr bwMode="auto">
          <a:xfrm>
            <a:off x="3573860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FB2E2B-038B-41DB-91BC-F0150C65AA55}"/>
              </a:ext>
            </a:extLst>
          </p:cNvPr>
          <p:cNvSpPr txBox="1"/>
          <p:nvPr/>
        </p:nvSpPr>
        <p:spPr bwMode="auto">
          <a:xfrm>
            <a:off x="5148065" y="44777"/>
            <a:ext cx="3816548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教材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p165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，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例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4.11</a:t>
            </a:r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77F26FE-F377-4002-84AD-1FF7C80A63A4}"/>
              </a:ext>
            </a:extLst>
          </p:cNvPr>
          <p:cNvSpPr txBox="1">
            <a:spLocks/>
          </p:cNvSpPr>
          <p:nvPr/>
        </p:nvSpPr>
        <p:spPr bwMode="auto">
          <a:xfrm>
            <a:off x="107504" y="568325"/>
            <a:ext cx="8928992" cy="2284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791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46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例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4.11】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某单面磁盘的转速为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3600r/min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，平均寻道时间为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20ms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，每磁道有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扇区，每扇区字节数为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512B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从磁盘读一个占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256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扇区的文件，考虑两种情况：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）文件连续存储；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）文件随机存储。那么读取该文件需要多长时间？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18C80268-25AD-4E19-9CE3-76A25811DDD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504" y="2780928"/>
                <a:ext cx="8928992" cy="39330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19138" indent="-3603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77913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6600"/>
                  </a:buClr>
                  <a:buSzPct val="65000"/>
                  <a:buFont typeface="Wingdings" pitchFamily="2" charset="2"/>
                  <a:buChar char="p"/>
                  <a:defRPr sz="28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3pPr>
                <a:lvl4pPr marL="1436688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Wingdings" pitchFamily="2" charset="2"/>
                  <a:buChar char="u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795463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5pPr>
                <a:lvl6pPr marL="27876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6pPr>
                <a:lvl7pPr marL="32448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7pPr>
                <a:lvl8pPr marL="37020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8pPr>
                <a:lvl9pPr marL="41592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  磁盘转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圈的时间＝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60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s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3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600</m:t>
                        </m:r>
                      </m:den>
                    </m:f>
                  </m:oMath>
                </a14:m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ms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）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256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扇区的文件，分布在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256/32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个磁道中，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    读连续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道时间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次寻道＋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次等待＋转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圈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的时间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		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20ms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3</m:t>
                        </m:r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ms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50</m:t>
                        </m:r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Cambria Math" panose="02040503050406030204" pitchFamily="18" charset="0"/>
                            <a:cs typeface="+mn-cs"/>
                          </a:rPr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ms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		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161.67ms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2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）读随机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256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扇区的时间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(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连起来共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   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20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ms</m:t>
                        </m:r>
                        <m:r>
                          <a:rPr kumimoji="0" lang="zh-CN" altLang="en-US" sz="2800" b="1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＋</m:t>
                        </m:r>
                        <m:f>
                          <m:fPr>
                            <m:ctrlPr>
                              <a:rPr kumimoji="0" lang="en-US" altLang="zh-CN" sz="2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/>
                                <a:ea typeface="宋体"/>
                                <a:cs typeface="+mn-cs"/>
                              </a:rPr>
                              <m:t>50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/>
                                <a:ea typeface="宋体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CN" sz="2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ms</m:t>
                        </m:r>
                      </m:e>
                    </m:d>
                    <m:r>
                      <a:rPr kumimoji="0" lang="en-US" altLang="zh-CN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m:rPr>
                        <m:nor/>
                      </m:rPr>
                      <a:rPr kumimoji="0" lang="en-US" altLang="zh-CN" sz="2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Cambria Math" panose="02040503050406030204" pitchFamily="18" charset="0"/>
                        <a:cs typeface="+mn-cs"/>
                      </a:rPr>
                      <m:t>256</m:t>
                    </m:r>
                    <m:r>
                      <a:rPr kumimoji="0" lang="zh-CN" altLang="en-US" sz="2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＋</m:t>
                    </m:r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50</m:t>
                        </m:r>
                        <m: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Cambria Math" panose="02040503050406030204" pitchFamily="18" charset="0"/>
                            <a:cs typeface="+mn-cs"/>
                          </a:rPr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kumimoji="0" lang="en-US" altLang="zh-CN" sz="2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rPr>
                      <m:t>ms</m:t>
                    </m:r>
                  </m:oMath>
                </a14:m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宋体"/>
                    <a:cs typeface="+mn-cs"/>
                  </a:rPr>
                  <a:t>7386.67ms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18C80268-25AD-4E19-9CE3-76A25811D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2780928"/>
                <a:ext cx="8928992" cy="3933056"/>
              </a:xfrm>
              <a:prstGeom prst="rect">
                <a:avLst/>
              </a:prstGeom>
              <a:blipFill>
                <a:blip r:embed="rId2"/>
                <a:stretch>
                  <a:fillRect l="-143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EC6F359-8811-49AB-87AF-4E31B2D74105}"/>
              </a:ext>
            </a:extLst>
          </p:cNvPr>
          <p:cNvCxnSpPr/>
          <p:nvPr/>
        </p:nvCxnSpPr>
        <p:spPr bwMode="auto">
          <a:xfrm>
            <a:off x="107504" y="2788928"/>
            <a:ext cx="8928992" cy="0"/>
          </a:xfrm>
          <a:prstGeom prst="line">
            <a:avLst/>
          </a:prstGeom>
          <a:solidFill>
            <a:srgbClr val="9999FF"/>
          </a:solidFill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F96E9CE-9110-457A-BA4E-87AA877E3F11}"/>
              </a:ext>
            </a:extLst>
          </p:cNvPr>
          <p:cNvSpPr/>
          <p:nvPr/>
        </p:nvSpPr>
        <p:spPr>
          <a:xfrm>
            <a:off x="7841811" y="2780928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ea typeface="宋体" charset="-122"/>
              </a:rPr>
              <a:t>解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】</a:t>
            </a:r>
            <a:endParaRPr lang="zh-CN" altLang="en-US" dirty="0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68245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565DE-BD92-432B-9DBD-62B8CE0F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A8513A-EFB0-4E13-8B2C-6FD6AE578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F29E07-585A-4F9A-928F-A40FA0A02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5"/>
            <a:ext cx="8713788" cy="611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791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46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某硬磁盘有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个记录面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，记录面上有效记录区域的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内径为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20cm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外径为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30cm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。磁道上记录的位密度为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250b/mm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，道密度为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，每一磁道上分为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个扇区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，每个扇区记录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1KB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，磁盘旋转速度为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10000rpm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；则：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该硬盘的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格式化容量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_____MB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该硬盘的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数据传输速率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______MB/s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解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磁道数＝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300/2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－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200/2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mm×10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道；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每磁道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格式化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容量＝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扇区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×1KB/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扇区＝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16KB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格式化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容量＝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面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×500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16/1024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39MB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数据传输速率＝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/60s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16/1024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2.60MB/s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2F98ADCD-D818-4601-8B94-4CAB88140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6933" y="2017374"/>
            <a:ext cx="5762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66"/>
                </a:solidFill>
                <a:ea typeface="宋体" charset="-122"/>
              </a:rPr>
              <a:t>D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932F9EA9-20D8-4333-B7D7-1B33EC3D2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087" y="2404588"/>
            <a:ext cx="5762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66"/>
                </a:solidFill>
                <a:ea typeface="宋体" charset="-122"/>
              </a:rPr>
              <a:t>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D4E01E-EE4B-41C6-9B40-95D0AA0ECD68}"/>
              </a:ext>
            </a:extLst>
          </p:cNvPr>
          <p:cNvSpPr/>
          <p:nvPr/>
        </p:nvSpPr>
        <p:spPr bwMode="auto">
          <a:xfrm>
            <a:off x="6444208" y="2139985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9AA856-8346-45EB-B57E-3CEC9279210D}"/>
              </a:ext>
            </a:extLst>
          </p:cNvPr>
          <p:cNvSpPr/>
          <p:nvPr/>
        </p:nvSpPr>
        <p:spPr bwMode="auto">
          <a:xfrm>
            <a:off x="6444208" y="2384063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F31127-BBB1-46D5-9EA0-3461A8453EE3}"/>
              </a:ext>
            </a:extLst>
          </p:cNvPr>
          <p:cNvSpPr/>
          <p:nvPr/>
        </p:nvSpPr>
        <p:spPr bwMode="auto">
          <a:xfrm>
            <a:off x="6444208" y="2628141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8405E-00CE-4817-9527-A2CD3A2A6CED}"/>
              </a:ext>
            </a:extLst>
          </p:cNvPr>
          <p:cNvSpPr/>
          <p:nvPr/>
        </p:nvSpPr>
        <p:spPr bwMode="auto">
          <a:xfrm rot="5400000">
            <a:off x="6516215" y="2392014"/>
            <a:ext cx="864098" cy="72008"/>
          </a:xfrm>
          <a:prstGeom prst="rect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F2255FD-1BA3-41F8-AD92-F739F0C7EFE2}"/>
              </a:ext>
            </a:extLst>
          </p:cNvPr>
          <p:cNvSpPr/>
          <p:nvPr/>
        </p:nvSpPr>
        <p:spPr bwMode="auto">
          <a:xfrm>
            <a:off x="6911726" y="1974060"/>
            <a:ext cx="72008" cy="45719"/>
          </a:xfrm>
          <a:prstGeom prst="ellipse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210194-96CD-4962-A825-B6F431A39D6B}"/>
              </a:ext>
            </a:extLst>
          </p:cNvPr>
          <p:cNvSpPr>
            <a:spLocks noChangeAspect="1"/>
          </p:cNvSpPr>
          <p:nvPr/>
        </p:nvSpPr>
        <p:spPr bwMode="auto">
          <a:xfrm>
            <a:off x="7823474" y="1960351"/>
            <a:ext cx="935334" cy="935334"/>
          </a:xfrm>
          <a:prstGeom prst="ellipse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1F048B5-DFC2-4ADE-80F0-47AF96844AAD}"/>
              </a:ext>
            </a:extLst>
          </p:cNvPr>
          <p:cNvSpPr>
            <a:spLocks noChangeAspect="1"/>
          </p:cNvSpPr>
          <p:nvPr/>
        </p:nvSpPr>
        <p:spPr bwMode="auto">
          <a:xfrm>
            <a:off x="8126981" y="2255907"/>
            <a:ext cx="328320" cy="328320"/>
          </a:xfrm>
          <a:prstGeom prst="ellipse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4D9E792-219A-4003-AA00-153969891742}"/>
              </a:ext>
            </a:extLst>
          </p:cNvPr>
          <p:cNvCxnSpPr>
            <a:cxnSpLocks/>
          </p:cNvCxnSpPr>
          <p:nvPr/>
        </p:nvCxnSpPr>
        <p:spPr bwMode="auto">
          <a:xfrm flipV="1">
            <a:off x="6786236" y="2716051"/>
            <a:ext cx="0" cy="360038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DA4CEEA-61F3-43A2-B212-DB4EFB50BEA2}"/>
              </a:ext>
            </a:extLst>
          </p:cNvPr>
          <p:cNvCxnSpPr>
            <a:cxnSpLocks/>
          </p:cNvCxnSpPr>
          <p:nvPr/>
        </p:nvCxnSpPr>
        <p:spPr bwMode="auto">
          <a:xfrm flipV="1">
            <a:off x="7114556" y="2716050"/>
            <a:ext cx="0" cy="360039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636E49C-80F4-47BE-9874-0F253DE90594}"/>
              </a:ext>
            </a:extLst>
          </p:cNvPr>
          <p:cNvCxnSpPr>
            <a:cxnSpLocks/>
          </p:cNvCxnSpPr>
          <p:nvPr/>
        </p:nvCxnSpPr>
        <p:spPr bwMode="auto">
          <a:xfrm flipV="1">
            <a:off x="6482729" y="2716049"/>
            <a:ext cx="0" cy="828253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319E8E7-839A-4699-BB9C-0B46F0F47A87}"/>
              </a:ext>
            </a:extLst>
          </p:cNvPr>
          <p:cNvCxnSpPr>
            <a:cxnSpLocks/>
          </p:cNvCxnSpPr>
          <p:nvPr/>
        </p:nvCxnSpPr>
        <p:spPr bwMode="auto">
          <a:xfrm flipV="1">
            <a:off x="7418063" y="2716049"/>
            <a:ext cx="0" cy="828253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7534D41-25D2-4DEF-B1C2-75C465068CFB}"/>
              </a:ext>
            </a:extLst>
          </p:cNvPr>
          <p:cNvCxnSpPr/>
          <p:nvPr/>
        </p:nvCxnSpPr>
        <p:spPr bwMode="auto">
          <a:xfrm>
            <a:off x="6786236" y="3004081"/>
            <a:ext cx="328320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8C1AF66-C005-404E-B32B-7905404B37CB}"/>
              </a:ext>
            </a:extLst>
          </p:cNvPr>
          <p:cNvSpPr/>
          <p:nvPr/>
        </p:nvSpPr>
        <p:spPr>
          <a:xfrm>
            <a:off x="6506299" y="2994789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800">
                <a:solidFill>
                  <a:srgbClr val="FF0000"/>
                </a:solidFill>
                <a:ea typeface="宋体" charset="-122"/>
              </a:rPr>
              <a:t>200mm</a:t>
            </a:r>
            <a:endParaRPr lang="zh-CN" altLang="en-US" sz="1800">
              <a:solidFill>
                <a:srgbClr val="000000"/>
              </a:solidFill>
              <a:ea typeface="宋体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F33BBCA-A63A-467E-9C63-E73CB3C1C6AA}"/>
              </a:ext>
            </a:extLst>
          </p:cNvPr>
          <p:cNvCxnSpPr>
            <a:cxnSpLocks/>
          </p:cNvCxnSpPr>
          <p:nvPr/>
        </p:nvCxnSpPr>
        <p:spPr bwMode="auto">
          <a:xfrm>
            <a:off x="6482729" y="3445754"/>
            <a:ext cx="935334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A7B3C47-D45D-40A7-A357-6D6C310244EE}"/>
              </a:ext>
            </a:extLst>
          </p:cNvPr>
          <p:cNvSpPr/>
          <p:nvPr/>
        </p:nvSpPr>
        <p:spPr>
          <a:xfrm>
            <a:off x="6517411" y="3379374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800">
                <a:solidFill>
                  <a:srgbClr val="FF0000"/>
                </a:solidFill>
                <a:ea typeface="宋体" charset="-122"/>
              </a:rPr>
              <a:t>300mm</a:t>
            </a:r>
            <a:endParaRPr lang="zh-CN" altLang="en-US" sz="18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4CEBF3C-4745-43FA-8CB7-F4D1822E3417}"/>
              </a:ext>
            </a:extLst>
          </p:cNvPr>
          <p:cNvGrpSpPr/>
          <p:nvPr/>
        </p:nvGrpSpPr>
        <p:grpSpPr>
          <a:xfrm>
            <a:off x="5868144" y="2039118"/>
            <a:ext cx="720080" cy="573121"/>
            <a:chOff x="5868144" y="2039118"/>
            <a:chExt cx="720080" cy="573121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C685EE5-39E6-493C-91CD-CE96AEA6A56B}"/>
                </a:ext>
              </a:extLst>
            </p:cNvPr>
            <p:cNvCxnSpPr/>
            <p:nvPr/>
          </p:nvCxnSpPr>
          <p:spPr bwMode="auto">
            <a:xfrm>
              <a:off x="6073054" y="2039118"/>
              <a:ext cx="0" cy="573121"/>
            </a:xfrm>
            <a:prstGeom prst="line">
              <a:avLst/>
            </a:prstGeom>
            <a:solidFill>
              <a:srgbClr val="9999FF"/>
            </a:solidFill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1937B10-F879-4EAE-BD7C-776E8286A1EE}"/>
                </a:ext>
              </a:extLst>
            </p:cNvPr>
            <p:cNvGrpSpPr/>
            <p:nvPr/>
          </p:nvGrpSpPr>
          <p:grpSpPr>
            <a:xfrm>
              <a:off x="6073054" y="2235435"/>
              <a:ext cx="515170" cy="45719"/>
              <a:chOff x="6073054" y="2224145"/>
              <a:chExt cx="515170" cy="55762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53FA5BB0-9A1B-41D4-8DF1-0EBB0635E95F}"/>
                  </a:ext>
                </a:extLst>
              </p:cNvPr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1" name="等腰三角形 40">
                <a:extLst>
                  <a:ext uri="{FF2B5EF4-FFF2-40B4-BE49-F238E27FC236}">
                    <a16:creationId xmlns:a16="http://schemas.microsoft.com/office/drawing/2014/main" id="{9A696DBB-08C4-4F50-BF25-F7F7C97E5DB1}"/>
                  </a:ext>
                </a:extLst>
              </p:cNvPr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36F2BAD-A24D-4C5B-97C0-B4A8DF0A731F}"/>
                </a:ext>
              </a:extLst>
            </p:cNvPr>
            <p:cNvGrpSpPr/>
            <p:nvPr/>
          </p:nvGrpSpPr>
          <p:grpSpPr>
            <a:xfrm flipV="1">
              <a:off x="6073054" y="2319776"/>
              <a:ext cx="515170" cy="45719"/>
              <a:chOff x="6073054" y="2224145"/>
              <a:chExt cx="515170" cy="55762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8F2B57F-FA5F-4BA9-87DE-B79422B101F0}"/>
                  </a:ext>
                </a:extLst>
              </p:cNvPr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等腰三角形 38">
                <a:extLst>
                  <a:ext uri="{FF2B5EF4-FFF2-40B4-BE49-F238E27FC236}">
                    <a16:creationId xmlns:a16="http://schemas.microsoft.com/office/drawing/2014/main" id="{DA3F0221-8F0D-4117-9883-58CBF686262E}"/>
                  </a:ext>
                </a:extLst>
              </p:cNvPr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F935A74-D3BF-4C52-91C7-7AF5212CFA75}"/>
                </a:ext>
              </a:extLst>
            </p:cNvPr>
            <p:cNvGrpSpPr/>
            <p:nvPr/>
          </p:nvGrpSpPr>
          <p:grpSpPr>
            <a:xfrm flipV="1">
              <a:off x="6073054" y="2077739"/>
              <a:ext cx="515170" cy="45719"/>
              <a:chOff x="6073054" y="2224145"/>
              <a:chExt cx="515170" cy="55762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A6B9033-04ED-4F3E-A995-FA1A6CDD33C1}"/>
                  </a:ext>
                </a:extLst>
              </p:cNvPr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等腰三角形 36">
                <a:extLst>
                  <a:ext uri="{FF2B5EF4-FFF2-40B4-BE49-F238E27FC236}">
                    <a16:creationId xmlns:a16="http://schemas.microsoft.com/office/drawing/2014/main" id="{FCED94E8-BE5A-4C58-851F-9A290CCFE6B6}"/>
                  </a:ext>
                </a:extLst>
              </p:cNvPr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78E30D1-C3E2-41F9-8007-9D40902836DC}"/>
                </a:ext>
              </a:extLst>
            </p:cNvPr>
            <p:cNvGrpSpPr/>
            <p:nvPr/>
          </p:nvGrpSpPr>
          <p:grpSpPr>
            <a:xfrm>
              <a:off x="6073054" y="2478277"/>
              <a:ext cx="515170" cy="45719"/>
              <a:chOff x="6073054" y="2224145"/>
              <a:chExt cx="515170" cy="55762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C5DB8E5-E33D-4BB1-920E-74196B299166}"/>
                  </a:ext>
                </a:extLst>
              </p:cNvPr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5" name="等腰三角形 34">
                <a:extLst>
                  <a:ext uri="{FF2B5EF4-FFF2-40B4-BE49-F238E27FC236}">
                    <a16:creationId xmlns:a16="http://schemas.microsoft.com/office/drawing/2014/main" id="{8BFD7359-914B-4D0E-957F-5A71DD79BF25}"/>
                  </a:ext>
                </a:extLst>
              </p:cNvPr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6514D14-54C9-428F-8DAC-AB612B04B91C}"/>
                </a:ext>
              </a:extLst>
            </p:cNvPr>
            <p:cNvGrpSpPr/>
            <p:nvPr/>
          </p:nvGrpSpPr>
          <p:grpSpPr>
            <a:xfrm flipV="1">
              <a:off x="6073054" y="2562618"/>
              <a:ext cx="515170" cy="45719"/>
              <a:chOff x="6073054" y="2224145"/>
              <a:chExt cx="515170" cy="55762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FCFD2EC-46E6-4D88-8D86-16C35AE77478}"/>
                  </a:ext>
                </a:extLst>
              </p:cNvPr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等腰三角形 32">
                <a:extLst>
                  <a:ext uri="{FF2B5EF4-FFF2-40B4-BE49-F238E27FC236}">
                    <a16:creationId xmlns:a16="http://schemas.microsoft.com/office/drawing/2014/main" id="{899BFC83-ED73-42BF-B55E-14DB812BFFE3}"/>
                  </a:ext>
                </a:extLst>
              </p:cNvPr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FA43094-96C1-4A4F-A2E8-C8176330DB0C}"/>
                </a:ext>
              </a:extLst>
            </p:cNvPr>
            <p:cNvCxnSpPr/>
            <p:nvPr/>
          </p:nvCxnSpPr>
          <p:spPr bwMode="auto">
            <a:xfrm flipH="1">
              <a:off x="5868144" y="2204864"/>
              <a:ext cx="204910" cy="0"/>
            </a:xfrm>
            <a:prstGeom prst="line">
              <a:avLst/>
            </a:prstGeom>
            <a:solidFill>
              <a:srgbClr val="9999FF"/>
            </a:solidFill>
            <a:ln w="762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7740A4F-30BC-4E87-A87A-8AC0840E9984}"/>
              </a:ext>
            </a:extLst>
          </p:cNvPr>
          <p:cNvCxnSpPr/>
          <p:nvPr/>
        </p:nvCxnSpPr>
        <p:spPr bwMode="auto">
          <a:xfrm>
            <a:off x="5868144" y="1964057"/>
            <a:ext cx="328320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0000FF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C47C8280-26A5-470E-8ED0-3DF79DCA2199}"/>
                  </a:ext>
                </a:extLst>
              </p14:cNvPr>
              <p14:cNvContentPartPr/>
              <p14:nvPr/>
            </p14:nvContentPartPr>
            <p14:xfrm>
              <a:off x="6781972" y="1905815"/>
              <a:ext cx="332640" cy="15840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C47C8280-26A5-470E-8ED0-3DF79DCA2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2962" y="1896835"/>
                <a:ext cx="350299" cy="1760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AC7BA3CE-0920-477E-B433-E9348EA468B7}"/>
              </a:ext>
            </a:extLst>
          </p:cNvPr>
          <p:cNvSpPr txBox="1"/>
          <p:nvPr/>
        </p:nvSpPr>
        <p:spPr bwMode="auto">
          <a:xfrm>
            <a:off x="4392613" y="44777"/>
            <a:ext cx="457200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教材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p177-178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,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习题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4.43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458CB8C-9F33-47A3-815B-31272807ABEF}"/>
              </a:ext>
            </a:extLst>
          </p:cNvPr>
          <p:cNvSpPr txBox="1"/>
          <p:nvPr/>
        </p:nvSpPr>
        <p:spPr bwMode="auto">
          <a:xfrm>
            <a:off x="1787839" y="3087047"/>
            <a:ext cx="4736758" cy="707886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存储文件时应尽可能放在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同一柱面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上，</a:t>
            </a:r>
            <a:b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或者放在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相邻柱面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上 </a:t>
            </a:r>
            <a:r>
              <a:rPr kumimoji="0" lang="zh-CN" altLang="en-US" sz="20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→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寻道时间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C2AB3A-F104-4FDC-B17A-77D0494DB560}"/>
              </a:ext>
            </a:extLst>
          </p:cNvPr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7028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7037E-7 L 0.02534 -3.7037E-7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34 -3.7037E-7 L -4.72222E-6 -3.7037E-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7D272-9D75-4497-9019-5CB1ED86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D43AE-AEC7-4443-A9F3-E107EA43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6AABF-B48C-4E6B-BE08-DFD71061C38D}"/>
              </a:ext>
            </a:extLst>
          </p:cNvPr>
          <p:cNvSpPr txBox="1"/>
          <p:nvPr/>
        </p:nvSpPr>
        <p:spPr bwMode="auto">
          <a:xfrm>
            <a:off x="5004047" y="44777"/>
            <a:ext cx="381610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磁盘阵列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45ED0-FB8E-470A-8F84-BA42957938BB}"/>
              </a:ext>
            </a:extLst>
          </p:cNvPr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65">
            <a:extLst>
              <a:ext uri="{FF2B5EF4-FFF2-40B4-BE49-F238E27FC236}">
                <a16:creationId xmlns:a16="http://schemas.microsoft.com/office/drawing/2014/main" id="{2B2A1DC4-14CB-43F0-AA0F-FBE734B9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06" y="2204864"/>
            <a:ext cx="8362950" cy="3986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791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46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性能最佳：</a:t>
            </a:r>
            <a:b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I/O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性能、容量。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高速数据传输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高速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I/O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请求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无错误校验功能。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至少两块磁盘。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应用：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对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可靠性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要求不高、对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I/O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性能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要求高的场合。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4" name="AutoShape 44">
            <a:extLst>
              <a:ext uri="{FF2B5EF4-FFF2-40B4-BE49-F238E27FC236}">
                <a16:creationId xmlns:a16="http://schemas.microsoft.com/office/drawing/2014/main" id="{083868AB-A782-405E-B76E-CD0E0E45C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87" y="3256418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55" name="AutoShape 45">
            <a:extLst>
              <a:ext uri="{FF2B5EF4-FFF2-40B4-BE49-F238E27FC236}">
                <a16:creationId xmlns:a16="http://schemas.microsoft.com/office/drawing/2014/main" id="{6B8E5D4F-0D2C-447C-8447-D2E4EE27D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87" y="2897643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12</a:t>
            </a:r>
          </a:p>
        </p:txBody>
      </p:sp>
      <p:sp>
        <p:nvSpPr>
          <p:cNvPr id="56" name="AutoShape 46">
            <a:extLst>
              <a:ext uri="{FF2B5EF4-FFF2-40B4-BE49-F238E27FC236}">
                <a16:creationId xmlns:a16="http://schemas.microsoft.com/office/drawing/2014/main" id="{0545915D-F5AB-49E3-8552-867816FA4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87" y="2537280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8</a:t>
            </a:r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B372D09B-EBA6-448D-9DB5-48AE5A66F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87" y="2176918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B2394F57-AF38-49AD-8446-D8F90C956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87" y="1816555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401FAB45-8127-4488-A9E8-B64B60833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065" y="3256418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6336BF8A-70B2-4572-AEF0-24807D2F1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065" y="2897643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13</a:t>
            </a:r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6141865E-4D58-4BCB-B434-BA4BBEA84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065" y="2537280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9</a:t>
            </a:r>
          </a:p>
        </p:txBody>
      </p:sp>
      <p:sp>
        <p:nvSpPr>
          <p:cNvPr id="62" name="AutoShape 52">
            <a:extLst>
              <a:ext uri="{FF2B5EF4-FFF2-40B4-BE49-F238E27FC236}">
                <a16:creationId xmlns:a16="http://schemas.microsoft.com/office/drawing/2014/main" id="{942976B7-F0F2-4A15-8706-1B4729F0D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065" y="2176918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5</a:t>
            </a:r>
          </a:p>
        </p:txBody>
      </p:sp>
      <p:sp>
        <p:nvSpPr>
          <p:cNvPr id="63" name="AutoShape 53">
            <a:extLst>
              <a:ext uri="{FF2B5EF4-FFF2-40B4-BE49-F238E27FC236}">
                <a16:creationId xmlns:a16="http://schemas.microsoft.com/office/drawing/2014/main" id="{9FD3E9E3-7658-452A-8321-688D94A1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065" y="1816555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</a:p>
        </p:txBody>
      </p:sp>
      <p:sp>
        <p:nvSpPr>
          <p:cNvPr id="64" name="AutoShape 54">
            <a:extLst>
              <a:ext uri="{FF2B5EF4-FFF2-40B4-BE49-F238E27FC236}">
                <a16:creationId xmlns:a16="http://schemas.microsoft.com/office/drawing/2014/main" id="{99C09107-F3C7-4024-8E85-FF0013467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44" y="3256418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65" name="AutoShape 55">
            <a:extLst>
              <a:ext uri="{FF2B5EF4-FFF2-40B4-BE49-F238E27FC236}">
                <a16:creationId xmlns:a16="http://schemas.microsoft.com/office/drawing/2014/main" id="{EB9F57AE-295A-4C45-87E1-7546C6F4D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44" y="2897643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14</a:t>
            </a:r>
          </a:p>
        </p:txBody>
      </p:sp>
      <p:sp>
        <p:nvSpPr>
          <p:cNvPr id="66" name="AutoShape 56">
            <a:extLst>
              <a:ext uri="{FF2B5EF4-FFF2-40B4-BE49-F238E27FC236}">
                <a16:creationId xmlns:a16="http://schemas.microsoft.com/office/drawing/2014/main" id="{AA53B184-D01D-411B-A34A-92E20757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44" y="2537280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10</a:t>
            </a:r>
          </a:p>
        </p:txBody>
      </p:sp>
      <p:sp>
        <p:nvSpPr>
          <p:cNvPr id="67" name="AutoShape 57">
            <a:extLst>
              <a:ext uri="{FF2B5EF4-FFF2-40B4-BE49-F238E27FC236}">
                <a16:creationId xmlns:a16="http://schemas.microsoft.com/office/drawing/2014/main" id="{756E308A-0FC6-4E72-8072-C8DC3A02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44" y="2176918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6</a:t>
            </a:r>
          </a:p>
        </p:txBody>
      </p:sp>
      <p:sp>
        <p:nvSpPr>
          <p:cNvPr id="68" name="AutoShape 58">
            <a:extLst>
              <a:ext uri="{FF2B5EF4-FFF2-40B4-BE49-F238E27FC236}">
                <a16:creationId xmlns:a16="http://schemas.microsoft.com/office/drawing/2014/main" id="{CE555CFD-CF05-4726-948B-4673C143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44" y="1816555"/>
            <a:ext cx="792162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69" name="AutoShape 59">
            <a:extLst>
              <a:ext uri="{FF2B5EF4-FFF2-40B4-BE49-F238E27FC236}">
                <a16:creationId xmlns:a16="http://schemas.microsoft.com/office/drawing/2014/main" id="{0A607586-1AF6-4F4C-85A5-2CE59EECD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44" y="3256418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0" name="AutoShape 60">
            <a:extLst>
              <a:ext uri="{FF2B5EF4-FFF2-40B4-BE49-F238E27FC236}">
                <a16:creationId xmlns:a16="http://schemas.microsoft.com/office/drawing/2014/main" id="{16F142AD-D820-48E7-8E97-CE4E3246B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44" y="2897643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15</a:t>
            </a:r>
          </a:p>
        </p:txBody>
      </p:sp>
      <p:sp>
        <p:nvSpPr>
          <p:cNvPr id="71" name="AutoShape 61">
            <a:extLst>
              <a:ext uri="{FF2B5EF4-FFF2-40B4-BE49-F238E27FC236}">
                <a16:creationId xmlns:a16="http://schemas.microsoft.com/office/drawing/2014/main" id="{E404782D-23B5-4FA6-B0D1-83F9A9BEE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44" y="2537280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11</a:t>
            </a:r>
          </a:p>
        </p:txBody>
      </p:sp>
      <p:sp>
        <p:nvSpPr>
          <p:cNvPr id="72" name="AutoShape 62">
            <a:extLst>
              <a:ext uri="{FF2B5EF4-FFF2-40B4-BE49-F238E27FC236}">
                <a16:creationId xmlns:a16="http://schemas.microsoft.com/office/drawing/2014/main" id="{D773B7DA-EC99-4A6E-8BE4-DB7DBE42C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44" y="2176918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7</a:t>
            </a:r>
          </a:p>
        </p:txBody>
      </p:sp>
      <p:sp>
        <p:nvSpPr>
          <p:cNvPr id="73" name="AutoShape 63">
            <a:extLst>
              <a:ext uri="{FF2B5EF4-FFF2-40B4-BE49-F238E27FC236}">
                <a16:creationId xmlns:a16="http://schemas.microsoft.com/office/drawing/2014/main" id="{85295EB8-00B7-4215-BAA4-77EFC5333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144" y="1816555"/>
            <a:ext cx="792163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3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E5CC3B8-7083-492D-808F-04FD10758CD8}"/>
              </a:ext>
            </a:extLst>
          </p:cNvPr>
          <p:cNvCxnSpPr>
            <a:cxnSpLocks/>
          </p:cNvCxnSpPr>
          <p:nvPr/>
        </p:nvCxnSpPr>
        <p:spPr bwMode="auto">
          <a:xfrm flipV="1">
            <a:off x="4105068" y="1525042"/>
            <a:ext cx="0" cy="360337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F98F18A-D2DD-416B-834C-72913E6A0EF6}"/>
              </a:ext>
            </a:extLst>
          </p:cNvPr>
          <p:cNvCxnSpPr>
            <a:cxnSpLocks/>
          </p:cNvCxnSpPr>
          <p:nvPr/>
        </p:nvCxnSpPr>
        <p:spPr bwMode="auto">
          <a:xfrm flipV="1">
            <a:off x="5266833" y="1525042"/>
            <a:ext cx="0" cy="360337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40FB237-48D3-4FD3-A840-C40C4EE3AEBD}"/>
              </a:ext>
            </a:extLst>
          </p:cNvPr>
          <p:cNvCxnSpPr>
            <a:cxnSpLocks/>
          </p:cNvCxnSpPr>
          <p:nvPr/>
        </p:nvCxnSpPr>
        <p:spPr bwMode="auto">
          <a:xfrm flipV="1">
            <a:off x="6409225" y="1525042"/>
            <a:ext cx="0" cy="360337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EF0BF777-8BB1-4074-AB25-F1D500C11282}"/>
              </a:ext>
            </a:extLst>
          </p:cNvPr>
          <p:cNvCxnSpPr>
            <a:cxnSpLocks/>
          </p:cNvCxnSpPr>
          <p:nvPr/>
        </p:nvCxnSpPr>
        <p:spPr bwMode="auto">
          <a:xfrm flipV="1">
            <a:off x="7560225" y="1525041"/>
            <a:ext cx="0" cy="360337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BAD8D90-74A0-4B70-BD2D-17490C6338B2}"/>
              </a:ext>
            </a:extLst>
          </p:cNvPr>
          <p:cNvCxnSpPr>
            <a:cxnSpLocks/>
          </p:cNvCxnSpPr>
          <p:nvPr/>
        </p:nvCxnSpPr>
        <p:spPr bwMode="auto">
          <a:xfrm>
            <a:off x="4105068" y="1525041"/>
            <a:ext cx="3455157" cy="0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F76845B-0ABC-41F0-849C-377DB64C42EA}"/>
              </a:ext>
            </a:extLst>
          </p:cNvPr>
          <p:cNvCxnSpPr>
            <a:cxnSpLocks/>
          </p:cNvCxnSpPr>
          <p:nvPr/>
        </p:nvCxnSpPr>
        <p:spPr bwMode="auto">
          <a:xfrm>
            <a:off x="5847382" y="1273335"/>
            <a:ext cx="0" cy="251706"/>
          </a:xfrm>
          <a:prstGeom prst="line">
            <a:avLst/>
          </a:prstGeom>
          <a:solidFill>
            <a:srgbClr val="9999FF"/>
          </a:solidFill>
          <a:ln w="5715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D4C6E350-A95A-43BF-B691-ECC1B7BDC341}"/>
              </a:ext>
            </a:extLst>
          </p:cNvPr>
          <p:cNvSpPr/>
          <p:nvPr/>
        </p:nvSpPr>
        <p:spPr bwMode="auto">
          <a:xfrm>
            <a:off x="3563893" y="1990769"/>
            <a:ext cx="5400595" cy="28880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7AE8741-603E-48CB-94FB-2E7A0A47F78F}"/>
              </a:ext>
            </a:extLst>
          </p:cNvPr>
          <p:cNvSpPr/>
          <p:nvPr/>
        </p:nvSpPr>
        <p:spPr>
          <a:xfrm>
            <a:off x="8127088" y="1925729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分条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0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1278F21-4513-4A05-8BB1-A28F33E7D3C9}"/>
              </a:ext>
            </a:extLst>
          </p:cNvPr>
          <p:cNvSpPr/>
          <p:nvPr/>
        </p:nvSpPr>
        <p:spPr bwMode="auto">
          <a:xfrm>
            <a:off x="3563893" y="2351105"/>
            <a:ext cx="5400595" cy="28880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8495820-8E1B-4B6A-A057-D93BA99DCDD1}"/>
              </a:ext>
            </a:extLst>
          </p:cNvPr>
          <p:cNvSpPr/>
          <p:nvPr/>
        </p:nvSpPr>
        <p:spPr>
          <a:xfrm>
            <a:off x="8127088" y="2286065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分条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6ED2ACC-4430-4F00-AF55-CA1267709ED2}"/>
              </a:ext>
            </a:extLst>
          </p:cNvPr>
          <p:cNvSpPr/>
          <p:nvPr/>
        </p:nvSpPr>
        <p:spPr bwMode="auto">
          <a:xfrm>
            <a:off x="3563893" y="2714116"/>
            <a:ext cx="5400595" cy="28880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BEFE896-4698-46EA-BD3C-8246F16D3536}"/>
              </a:ext>
            </a:extLst>
          </p:cNvPr>
          <p:cNvSpPr/>
          <p:nvPr/>
        </p:nvSpPr>
        <p:spPr>
          <a:xfrm>
            <a:off x="8127088" y="2649076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分条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2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23240E7-484E-4E1E-8462-80527B946677}"/>
              </a:ext>
            </a:extLst>
          </p:cNvPr>
          <p:cNvSpPr/>
          <p:nvPr/>
        </p:nvSpPr>
        <p:spPr bwMode="auto">
          <a:xfrm>
            <a:off x="3563893" y="3082948"/>
            <a:ext cx="5400595" cy="28880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05BC713-7C88-4039-A589-F219306FCE5A}"/>
              </a:ext>
            </a:extLst>
          </p:cNvPr>
          <p:cNvSpPr/>
          <p:nvPr/>
        </p:nvSpPr>
        <p:spPr>
          <a:xfrm>
            <a:off x="8127088" y="3017908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分条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3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8B8590D-DC1B-4D94-8C9F-51F1C8843A31}"/>
              </a:ext>
            </a:extLst>
          </p:cNvPr>
          <p:cNvSpPr/>
          <p:nvPr/>
        </p:nvSpPr>
        <p:spPr>
          <a:xfrm>
            <a:off x="3756254" y="3375236"/>
            <a:ext cx="6976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BC88E71-2948-4402-92A8-5633FDC9115D}"/>
              </a:ext>
            </a:extLst>
          </p:cNvPr>
          <p:cNvSpPr/>
          <p:nvPr/>
        </p:nvSpPr>
        <p:spPr>
          <a:xfrm>
            <a:off x="4909227" y="3368356"/>
            <a:ext cx="6976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A4BC21B-6697-46C7-B2A6-06F19FBE00BE}"/>
              </a:ext>
            </a:extLst>
          </p:cNvPr>
          <p:cNvSpPr/>
          <p:nvPr/>
        </p:nvSpPr>
        <p:spPr>
          <a:xfrm>
            <a:off x="6061617" y="3368175"/>
            <a:ext cx="6976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F89E7A5-99D4-4A42-9163-EEE43AF7CE57}"/>
              </a:ext>
            </a:extLst>
          </p:cNvPr>
          <p:cNvSpPr/>
          <p:nvPr/>
        </p:nvSpPr>
        <p:spPr>
          <a:xfrm>
            <a:off x="7209925" y="3368175"/>
            <a:ext cx="6976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5D3E77F-5AF9-47B1-A34E-0B55829D8B87}"/>
              </a:ext>
            </a:extLst>
          </p:cNvPr>
          <p:cNvSpPr/>
          <p:nvPr/>
        </p:nvSpPr>
        <p:spPr>
          <a:xfrm>
            <a:off x="8182415" y="3368175"/>
            <a:ext cx="6976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3023E53-4FBC-4C24-A83B-F6B7E8D87B64}"/>
              </a:ext>
            </a:extLst>
          </p:cNvPr>
          <p:cNvSpPr/>
          <p:nvPr/>
        </p:nvSpPr>
        <p:spPr>
          <a:xfrm>
            <a:off x="3563893" y="3748970"/>
            <a:ext cx="10823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物理盘</a:t>
            </a:r>
            <a:r>
              <a:rPr lang="en-US" altLang="zh-CN" sz="2000" kern="0" dirty="0">
                <a:solidFill>
                  <a:srgbClr val="0000FF"/>
                </a:solidFill>
                <a:latin typeface="Times New Roman"/>
                <a:ea typeface="宋体"/>
              </a:rPr>
              <a:t>0</a:t>
            </a:r>
            <a:endParaRPr lang="zh-CN" altLang="en-US" sz="200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2D9082B-8926-46AB-9DF4-0FE56DC376C6}"/>
              </a:ext>
            </a:extLst>
          </p:cNvPr>
          <p:cNvSpPr/>
          <p:nvPr/>
        </p:nvSpPr>
        <p:spPr>
          <a:xfrm>
            <a:off x="4715476" y="3748970"/>
            <a:ext cx="10823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物理盘</a:t>
            </a:r>
            <a:r>
              <a:rPr lang="en-US" altLang="zh-CN" sz="2000" kern="0" dirty="0">
                <a:solidFill>
                  <a:srgbClr val="0000FF"/>
                </a:solidFill>
                <a:latin typeface="Times New Roman"/>
                <a:ea typeface="宋体"/>
              </a:rPr>
              <a:t>1</a:t>
            </a:r>
            <a:endParaRPr lang="zh-CN" altLang="en-US" sz="200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24D9850-CA73-450B-BDCD-033E5F4D5418}"/>
              </a:ext>
            </a:extLst>
          </p:cNvPr>
          <p:cNvSpPr/>
          <p:nvPr/>
        </p:nvSpPr>
        <p:spPr>
          <a:xfrm>
            <a:off x="5867059" y="3748970"/>
            <a:ext cx="10823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物理盘</a:t>
            </a:r>
            <a:r>
              <a:rPr lang="en-US" altLang="zh-CN" sz="2000" kern="0" dirty="0">
                <a:solidFill>
                  <a:srgbClr val="0000FF"/>
                </a:solidFill>
                <a:latin typeface="Times New Roman"/>
                <a:ea typeface="宋体"/>
              </a:rPr>
              <a:t>2</a:t>
            </a:r>
            <a:endParaRPr lang="zh-CN" altLang="en-US" sz="200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E35E6CF-6DF7-4809-AE04-B2A09BD88CD3}"/>
              </a:ext>
            </a:extLst>
          </p:cNvPr>
          <p:cNvSpPr/>
          <p:nvPr/>
        </p:nvSpPr>
        <p:spPr>
          <a:xfrm>
            <a:off x="7017564" y="3748970"/>
            <a:ext cx="10823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物理盘</a:t>
            </a:r>
            <a:r>
              <a:rPr lang="en-US" altLang="zh-CN" sz="2000" kern="0" dirty="0">
                <a:solidFill>
                  <a:srgbClr val="0000FF"/>
                </a:solidFill>
                <a:latin typeface="Times New Roman"/>
                <a:ea typeface="宋体"/>
              </a:rPr>
              <a:t>3</a:t>
            </a:r>
            <a:endParaRPr lang="zh-CN" altLang="en-US" sz="200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291E915-C80C-4C80-A60E-E3EFCCDC4537}"/>
              </a:ext>
            </a:extLst>
          </p:cNvPr>
          <p:cNvSpPr/>
          <p:nvPr/>
        </p:nvSpPr>
        <p:spPr bwMode="auto">
          <a:xfrm>
            <a:off x="4986469" y="876970"/>
            <a:ext cx="1728167" cy="396365"/>
          </a:xfrm>
          <a:prstGeom prst="rect">
            <a:avLst/>
          </a:prstGeom>
          <a:solidFill>
            <a:srgbClr val="C9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0"/>
          <a:lstStyle/>
          <a:p>
            <a:pPr>
              <a:spcBef>
                <a:spcPts val="0"/>
              </a:spcBef>
            </a:pP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RAID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控制器</a:t>
            </a:r>
            <a:endParaRPr lang="en-US" altLang="zh-CN" sz="2000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98" name="Rectangle 64">
            <a:extLst>
              <a:ext uri="{FF2B5EF4-FFF2-40B4-BE49-F238E27FC236}">
                <a16:creationId xmlns:a16="http://schemas.microsoft.com/office/drawing/2014/main" id="{3DE8EC8A-F208-4DC8-87E5-8297A1824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86" y="672292"/>
            <a:ext cx="4123656" cy="473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RAID0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：分条、无冗余</a:t>
            </a:r>
          </a:p>
        </p:txBody>
      </p:sp>
    </p:spTree>
    <p:extLst>
      <p:ext uri="{BB962C8B-B14F-4D97-AF65-F5344CB8AC3E}">
        <p14:creationId xmlns:p14="http://schemas.microsoft.com/office/powerpoint/2010/main" val="7098267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7D272-9D75-4497-9019-5CB1ED86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D43AE-AEC7-4443-A9F3-E107EA43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6AABF-B48C-4E6B-BE08-DFD71061C38D}"/>
              </a:ext>
            </a:extLst>
          </p:cNvPr>
          <p:cNvSpPr txBox="1"/>
          <p:nvPr/>
        </p:nvSpPr>
        <p:spPr bwMode="auto">
          <a:xfrm>
            <a:off x="5004047" y="44777"/>
            <a:ext cx="381610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磁盘阵列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45ED0-FB8E-470A-8F84-BA42957938BB}"/>
              </a:ext>
            </a:extLst>
          </p:cNvPr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3">
            <a:extLst>
              <a:ext uri="{FF2B5EF4-FFF2-40B4-BE49-F238E27FC236}">
                <a16:creationId xmlns:a16="http://schemas.microsoft.com/office/drawing/2014/main" id="{FA94394E-7672-4094-BD7B-F76E962A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357892"/>
            <a:ext cx="1296988" cy="4897438"/>
          </a:xfrm>
          <a:prstGeom prst="can">
            <a:avLst>
              <a:gd name="adj" fmla="val 22708"/>
            </a:avLst>
          </a:prstGeom>
          <a:solidFill>
            <a:srgbClr val="CCFF66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en-US" altLang="zh-CN" sz="200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DBC266DF-815C-43C9-B938-D4610CDC7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2214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0</a:t>
            </a:r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id="{2B4E4576-1CE2-4808-A485-4F9BAF31E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4373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</a:t>
            </a:r>
          </a:p>
        </p:txBody>
      </p:sp>
      <p:sp>
        <p:nvSpPr>
          <p:cNvPr id="102" name="Rectangle 7">
            <a:extLst>
              <a:ext uri="{FF2B5EF4-FFF2-40B4-BE49-F238E27FC236}">
                <a16:creationId xmlns:a16="http://schemas.microsoft.com/office/drawing/2014/main" id="{4CCEAA56-FC6A-4A76-8354-CAB29BD0F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654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2</a:t>
            </a:r>
          </a:p>
        </p:txBody>
      </p:sp>
      <p:sp>
        <p:nvSpPr>
          <p:cNvPr id="103" name="Rectangle 8">
            <a:extLst>
              <a:ext uri="{FF2B5EF4-FFF2-40B4-BE49-F238E27FC236}">
                <a16:creationId xmlns:a16="http://schemas.microsoft.com/office/drawing/2014/main" id="{CD7B8421-C9CC-403E-9BBC-0A0D942C0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870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3</a:t>
            </a:r>
          </a:p>
        </p:txBody>
      </p:sp>
      <p:sp>
        <p:nvSpPr>
          <p:cNvPr id="104" name="Text Box 23">
            <a:extLst>
              <a:ext uri="{FF2B5EF4-FFF2-40B4-BE49-F238E27FC236}">
                <a16:creationId xmlns:a16="http://schemas.microsoft.com/office/drawing/2014/main" id="{B85100CC-3D35-477C-AA03-8269E4E8C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752092"/>
            <a:ext cx="611187" cy="5032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…</a:t>
            </a: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5" name="Text Box 109">
            <a:extLst>
              <a:ext uri="{FF2B5EF4-FFF2-40B4-BE49-F238E27FC236}">
                <a16:creationId xmlns:a16="http://schemas.microsoft.com/office/drawing/2014/main" id="{E9A5893E-4B9F-46DB-9403-10AB544C3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1610305"/>
            <a:ext cx="11525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ea typeface="宋体" charset="-122"/>
              </a:rPr>
              <a:t>Extent0</a:t>
            </a:r>
          </a:p>
        </p:txBody>
      </p:sp>
      <p:sp>
        <p:nvSpPr>
          <p:cNvPr id="106" name="Rectangle 114">
            <a:extLst>
              <a:ext uri="{FF2B5EF4-FFF2-40B4-BE49-F238E27FC236}">
                <a16:creationId xmlns:a16="http://schemas.microsoft.com/office/drawing/2014/main" id="{A49AE695-AE02-4E1D-AB09-5D0BFDA6F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0850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4</a:t>
            </a:r>
          </a:p>
        </p:txBody>
      </p:sp>
      <p:sp>
        <p:nvSpPr>
          <p:cNvPr id="107" name="Rectangle 115">
            <a:extLst>
              <a:ext uri="{FF2B5EF4-FFF2-40B4-BE49-F238E27FC236}">
                <a16:creationId xmlns:a16="http://schemas.microsoft.com/office/drawing/2014/main" id="{ADD4FDD7-4F12-4318-A76D-11063E97E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3009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5</a:t>
            </a:r>
          </a:p>
        </p:txBody>
      </p:sp>
      <p:sp>
        <p:nvSpPr>
          <p:cNvPr id="108" name="Rectangle 116">
            <a:extLst>
              <a:ext uri="{FF2B5EF4-FFF2-40B4-BE49-F238E27FC236}">
                <a16:creationId xmlns:a16="http://schemas.microsoft.com/office/drawing/2014/main" id="{884BB3E8-BA16-4DCA-B0F5-51FB0F2AE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5184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6</a:t>
            </a:r>
          </a:p>
        </p:txBody>
      </p:sp>
      <p:sp>
        <p:nvSpPr>
          <p:cNvPr id="109" name="Rectangle 117">
            <a:extLst>
              <a:ext uri="{FF2B5EF4-FFF2-40B4-BE49-F238E27FC236}">
                <a16:creationId xmlns:a16="http://schemas.microsoft.com/office/drawing/2014/main" id="{8F931BA5-A780-442F-AB32-7578800B6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7343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7</a:t>
            </a:r>
          </a:p>
        </p:txBody>
      </p:sp>
      <p:sp>
        <p:nvSpPr>
          <p:cNvPr id="110" name="Rectangle 118">
            <a:extLst>
              <a:ext uri="{FF2B5EF4-FFF2-40B4-BE49-F238E27FC236}">
                <a16:creationId xmlns:a16="http://schemas.microsoft.com/office/drawing/2014/main" id="{D52D57A0-FEA2-4A2F-886E-68F72FDDD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9502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8</a:t>
            </a:r>
          </a:p>
        </p:txBody>
      </p:sp>
      <p:sp>
        <p:nvSpPr>
          <p:cNvPr id="111" name="Rectangle 119">
            <a:extLst>
              <a:ext uri="{FF2B5EF4-FFF2-40B4-BE49-F238E27FC236}">
                <a16:creationId xmlns:a16="http://schemas.microsoft.com/office/drawing/2014/main" id="{539B80CA-E0A4-46C9-8B63-A7D9263E0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1661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9</a:t>
            </a:r>
          </a:p>
        </p:txBody>
      </p:sp>
      <p:sp>
        <p:nvSpPr>
          <p:cNvPr id="112" name="Rectangle 120">
            <a:extLst>
              <a:ext uri="{FF2B5EF4-FFF2-40B4-BE49-F238E27FC236}">
                <a16:creationId xmlns:a16="http://schemas.microsoft.com/office/drawing/2014/main" id="{9A1A80A0-0500-4D7F-B623-8347874F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3836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10</a:t>
            </a:r>
          </a:p>
        </p:txBody>
      </p:sp>
      <p:sp>
        <p:nvSpPr>
          <p:cNvPr id="113" name="Rectangle 121">
            <a:extLst>
              <a:ext uri="{FF2B5EF4-FFF2-40B4-BE49-F238E27FC236}">
                <a16:creationId xmlns:a16="http://schemas.microsoft.com/office/drawing/2014/main" id="{A32CE631-A834-4633-9C80-782A5D28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5995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11</a:t>
            </a:r>
          </a:p>
        </p:txBody>
      </p:sp>
      <p:sp>
        <p:nvSpPr>
          <p:cNvPr id="114" name="Rectangle 122">
            <a:extLst>
              <a:ext uri="{FF2B5EF4-FFF2-40B4-BE49-F238E27FC236}">
                <a16:creationId xmlns:a16="http://schemas.microsoft.com/office/drawing/2014/main" id="{7C0DEEF0-AFB5-4493-9ECF-EAAB7C7B1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813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12</a:t>
            </a:r>
          </a:p>
        </p:txBody>
      </p:sp>
      <p:sp>
        <p:nvSpPr>
          <p:cNvPr id="115" name="Rectangle 123">
            <a:extLst>
              <a:ext uri="{FF2B5EF4-FFF2-40B4-BE49-F238E27FC236}">
                <a16:creationId xmlns:a16="http://schemas.microsoft.com/office/drawing/2014/main" id="{90B504F4-7507-45CE-902F-79F73F77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029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13</a:t>
            </a:r>
          </a:p>
        </p:txBody>
      </p:sp>
      <p:sp>
        <p:nvSpPr>
          <p:cNvPr id="116" name="Rectangle 124">
            <a:extLst>
              <a:ext uri="{FF2B5EF4-FFF2-40B4-BE49-F238E27FC236}">
                <a16:creationId xmlns:a16="http://schemas.microsoft.com/office/drawing/2014/main" id="{F93A5012-95C7-45DE-91BE-1E2242F12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2472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14</a:t>
            </a:r>
          </a:p>
        </p:txBody>
      </p:sp>
      <p:sp>
        <p:nvSpPr>
          <p:cNvPr id="117" name="Rectangle 125">
            <a:extLst>
              <a:ext uri="{FF2B5EF4-FFF2-40B4-BE49-F238E27FC236}">
                <a16:creationId xmlns:a16="http://schemas.microsoft.com/office/drawing/2014/main" id="{C47C71BF-A249-44E2-BE34-1C65DB1AD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4631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15</a:t>
            </a:r>
          </a:p>
        </p:txBody>
      </p:sp>
      <p:sp>
        <p:nvSpPr>
          <p:cNvPr id="118" name="AutoShape 126">
            <a:extLst>
              <a:ext uri="{FF2B5EF4-FFF2-40B4-BE49-F238E27FC236}">
                <a16:creationId xmlns:a16="http://schemas.microsoft.com/office/drawing/2014/main" id="{D73C7232-741D-4F5F-A6D0-A8BFEBBC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1357892"/>
            <a:ext cx="1296988" cy="4897438"/>
          </a:xfrm>
          <a:prstGeom prst="can">
            <a:avLst>
              <a:gd name="adj" fmla="val 22708"/>
            </a:avLst>
          </a:prstGeom>
          <a:solidFill>
            <a:srgbClr val="CCFFCC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en-US" altLang="zh-CN" sz="200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119" name="Rectangle 127">
            <a:extLst>
              <a:ext uri="{FF2B5EF4-FFF2-40B4-BE49-F238E27FC236}">
                <a16:creationId xmlns:a16="http://schemas.microsoft.com/office/drawing/2014/main" id="{A9CB58AF-F7FD-4A76-AA0C-811537308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22214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0</a:t>
            </a:r>
          </a:p>
        </p:txBody>
      </p:sp>
      <p:sp>
        <p:nvSpPr>
          <p:cNvPr id="120" name="Rectangle 128">
            <a:extLst>
              <a:ext uri="{FF2B5EF4-FFF2-40B4-BE49-F238E27FC236}">
                <a16:creationId xmlns:a16="http://schemas.microsoft.com/office/drawing/2014/main" id="{16037C06-5647-48E7-B592-8A4AACD6A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24373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</a:t>
            </a:r>
          </a:p>
        </p:txBody>
      </p:sp>
      <p:sp>
        <p:nvSpPr>
          <p:cNvPr id="121" name="Rectangle 129">
            <a:extLst>
              <a:ext uri="{FF2B5EF4-FFF2-40B4-BE49-F238E27FC236}">
                <a16:creationId xmlns:a16="http://schemas.microsoft.com/office/drawing/2014/main" id="{DC0303C0-BF4D-44C9-8024-389686E11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2654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2</a:t>
            </a:r>
          </a:p>
        </p:txBody>
      </p:sp>
      <p:sp>
        <p:nvSpPr>
          <p:cNvPr id="122" name="Rectangle 130">
            <a:extLst>
              <a:ext uri="{FF2B5EF4-FFF2-40B4-BE49-F238E27FC236}">
                <a16:creationId xmlns:a16="http://schemas.microsoft.com/office/drawing/2014/main" id="{DE7D0992-1CE0-4A25-AF62-82965F7BB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2870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3</a:t>
            </a:r>
          </a:p>
        </p:txBody>
      </p:sp>
      <p:sp>
        <p:nvSpPr>
          <p:cNvPr id="123" name="Text Box 131">
            <a:extLst>
              <a:ext uri="{FF2B5EF4-FFF2-40B4-BE49-F238E27FC236}">
                <a16:creationId xmlns:a16="http://schemas.microsoft.com/office/drawing/2014/main" id="{1E956C88-2DAD-4781-A4D7-E6C8DA84A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3" y="5752092"/>
            <a:ext cx="611187" cy="5032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…</a:t>
            </a: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24" name="Text Box 132">
            <a:extLst>
              <a:ext uri="{FF2B5EF4-FFF2-40B4-BE49-F238E27FC236}">
                <a16:creationId xmlns:a16="http://schemas.microsoft.com/office/drawing/2014/main" id="{54BE9B20-D37D-4337-ACCC-E162ADF85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1610305"/>
            <a:ext cx="11525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ea typeface="宋体" charset="-122"/>
              </a:rPr>
              <a:t>Extent1</a:t>
            </a:r>
          </a:p>
        </p:txBody>
      </p:sp>
      <p:sp>
        <p:nvSpPr>
          <p:cNvPr id="125" name="Rectangle 133">
            <a:extLst>
              <a:ext uri="{FF2B5EF4-FFF2-40B4-BE49-F238E27FC236}">
                <a16:creationId xmlns:a16="http://schemas.microsoft.com/office/drawing/2014/main" id="{12A6F1EF-E8E3-4AEA-AB27-18B52720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0850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4</a:t>
            </a:r>
          </a:p>
        </p:txBody>
      </p:sp>
      <p:sp>
        <p:nvSpPr>
          <p:cNvPr id="126" name="Rectangle 134">
            <a:extLst>
              <a:ext uri="{FF2B5EF4-FFF2-40B4-BE49-F238E27FC236}">
                <a16:creationId xmlns:a16="http://schemas.microsoft.com/office/drawing/2014/main" id="{96277813-7D44-43DC-AD93-C7E0907B8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3009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5</a:t>
            </a:r>
          </a:p>
        </p:txBody>
      </p:sp>
      <p:sp>
        <p:nvSpPr>
          <p:cNvPr id="127" name="Rectangle 135">
            <a:extLst>
              <a:ext uri="{FF2B5EF4-FFF2-40B4-BE49-F238E27FC236}">
                <a16:creationId xmlns:a16="http://schemas.microsoft.com/office/drawing/2014/main" id="{533AE046-F6AD-49FD-99B8-2E12AB116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5184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6</a:t>
            </a:r>
          </a:p>
        </p:txBody>
      </p:sp>
      <p:sp>
        <p:nvSpPr>
          <p:cNvPr id="128" name="Rectangle 136">
            <a:extLst>
              <a:ext uri="{FF2B5EF4-FFF2-40B4-BE49-F238E27FC236}">
                <a16:creationId xmlns:a16="http://schemas.microsoft.com/office/drawing/2014/main" id="{9029CE85-F918-4A53-9C8A-5BB3045CA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7343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7</a:t>
            </a:r>
          </a:p>
        </p:txBody>
      </p:sp>
      <p:sp>
        <p:nvSpPr>
          <p:cNvPr id="129" name="Rectangle 137">
            <a:extLst>
              <a:ext uri="{FF2B5EF4-FFF2-40B4-BE49-F238E27FC236}">
                <a16:creationId xmlns:a16="http://schemas.microsoft.com/office/drawing/2014/main" id="{658D4000-0EE1-4B9A-A266-180BE9BB7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9502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8</a:t>
            </a:r>
          </a:p>
        </p:txBody>
      </p:sp>
      <p:sp>
        <p:nvSpPr>
          <p:cNvPr id="130" name="Rectangle 138">
            <a:extLst>
              <a:ext uri="{FF2B5EF4-FFF2-40B4-BE49-F238E27FC236}">
                <a16:creationId xmlns:a16="http://schemas.microsoft.com/office/drawing/2014/main" id="{C8212147-494C-49A3-9327-019804B65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1661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9</a:t>
            </a:r>
          </a:p>
        </p:txBody>
      </p:sp>
      <p:sp>
        <p:nvSpPr>
          <p:cNvPr id="131" name="Rectangle 139">
            <a:extLst>
              <a:ext uri="{FF2B5EF4-FFF2-40B4-BE49-F238E27FC236}">
                <a16:creationId xmlns:a16="http://schemas.microsoft.com/office/drawing/2014/main" id="{6AAF9EEF-BD6B-429E-8B5C-28C84F482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3836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10</a:t>
            </a:r>
          </a:p>
        </p:txBody>
      </p:sp>
      <p:sp>
        <p:nvSpPr>
          <p:cNvPr id="132" name="Rectangle 140">
            <a:extLst>
              <a:ext uri="{FF2B5EF4-FFF2-40B4-BE49-F238E27FC236}">
                <a16:creationId xmlns:a16="http://schemas.microsoft.com/office/drawing/2014/main" id="{34712EAB-2AE7-45C3-85AE-3A4E0BF33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5995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11</a:t>
            </a:r>
          </a:p>
        </p:txBody>
      </p:sp>
      <p:sp>
        <p:nvSpPr>
          <p:cNvPr id="133" name="Rectangle 141">
            <a:extLst>
              <a:ext uri="{FF2B5EF4-FFF2-40B4-BE49-F238E27FC236}">
                <a16:creationId xmlns:a16="http://schemas.microsoft.com/office/drawing/2014/main" id="{FFFBD8E2-93F0-4325-BEC6-850D5B708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813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12</a:t>
            </a:r>
          </a:p>
        </p:txBody>
      </p:sp>
      <p:sp>
        <p:nvSpPr>
          <p:cNvPr id="134" name="Rectangle 142">
            <a:extLst>
              <a:ext uri="{FF2B5EF4-FFF2-40B4-BE49-F238E27FC236}">
                <a16:creationId xmlns:a16="http://schemas.microsoft.com/office/drawing/2014/main" id="{114F053E-72E9-4E9C-A06C-6EF08995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5029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13</a:t>
            </a:r>
          </a:p>
        </p:txBody>
      </p:sp>
      <p:sp>
        <p:nvSpPr>
          <p:cNvPr id="135" name="Rectangle 143">
            <a:extLst>
              <a:ext uri="{FF2B5EF4-FFF2-40B4-BE49-F238E27FC236}">
                <a16:creationId xmlns:a16="http://schemas.microsoft.com/office/drawing/2014/main" id="{07CF3DB3-8D7D-4CFF-82EE-B94BDEBB1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52472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14</a:t>
            </a:r>
          </a:p>
        </p:txBody>
      </p:sp>
      <p:sp>
        <p:nvSpPr>
          <p:cNvPr id="136" name="Rectangle 144">
            <a:extLst>
              <a:ext uri="{FF2B5EF4-FFF2-40B4-BE49-F238E27FC236}">
                <a16:creationId xmlns:a16="http://schemas.microsoft.com/office/drawing/2014/main" id="{98C94DE7-E435-4B7A-878E-2A4783FF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54631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15</a:t>
            </a:r>
          </a:p>
        </p:txBody>
      </p:sp>
      <p:sp>
        <p:nvSpPr>
          <p:cNvPr id="137" name="AutoShape 145">
            <a:extLst>
              <a:ext uri="{FF2B5EF4-FFF2-40B4-BE49-F238E27FC236}">
                <a16:creationId xmlns:a16="http://schemas.microsoft.com/office/drawing/2014/main" id="{E4302A74-61A9-4061-846E-43B122029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357892"/>
            <a:ext cx="1296987" cy="4879990"/>
          </a:xfrm>
          <a:prstGeom prst="can">
            <a:avLst>
              <a:gd name="adj" fmla="val 23620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en-US" altLang="zh-CN" sz="200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138" name="Rectangle 146">
            <a:extLst>
              <a:ext uri="{FF2B5EF4-FFF2-40B4-BE49-F238E27FC236}">
                <a16:creationId xmlns:a16="http://schemas.microsoft.com/office/drawing/2014/main" id="{5585537E-CC05-49D9-B9C4-86C991A2B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2214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0</a:t>
            </a:r>
          </a:p>
        </p:txBody>
      </p:sp>
      <p:sp>
        <p:nvSpPr>
          <p:cNvPr id="139" name="Rectangle 147">
            <a:extLst>
              <a:ext uri="{FF2B5EF4-FFF2-40B4-BE49-F238E27FC236}">
                <a16:creationId xmlns:a16="http://schemas.microsoft.com/office/drawing/2014/main" id="{EF5D96CB-AF86-4830-8490-23473E13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4373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</a:t>
            </a:r>
          </a:p>
        </p:txBody>
      </p:sp>
      <p:sp>
        <p:nvSpPr>
          <p:cNvPr id="140" name="Rectangle 148">
            <a:extLst>
              <a:ext uri="{FF2B5EF4-FFF2-40B4-BE49-F238E27FC236}">
                <a16:creationId xmlns:a16="http://schemas.microsoft.com/office/drawing/2014/main" id="{EC272A06-6188-4EA7-9A8C-6C94BA0B4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654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2</a:t>
            </a:r>
          </a:p>
        </p:txBody>
      </p:sp>
      <p:sp>
        <p:nvSpPr>
          <p:cNvPr id="141" name="Rectangle 149">
            <a:extLst>
              <a:ext uri="{FF2B5EF4-FFF2-40B4-BE49-F238E27FC236}">
                <a16:creationId xmlns:a16="http://schemas.microsoft.com/office/drawing/2014/main" id="{A8A138E4-C8FE-48B0-A383-41002B16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870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3</a:t>
            </a:r>
          </a:p>
        </p:txBody>
      </p:sp>
      <p:sp>
        <p:nvSpPr>
          <p:cNvPr id="142" name="Text Box 150">
            <a:extLst>
              <a:ext uri="{FF2B5EF4-FFF2-40B4-BE49-F238E27FC236}">
                <a16:creationId xmlns:a16="http://schemas.microsoft.com/office/drawing/2014/main" id="{5F209E15-C1E0-4D23-9EE9-BDBE7F9B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859" y="5737816"/>
            <a:ext cx="615553" cy="57150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l"/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…</a:t>
            </a:r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43" name="Text Box 151">
            <a:extLst>
              <a:ext uri="{FF2B5EF4-FFF2-40B4-BE49-F238E27FC236}">
                <a16:creationId xmlns:a16="http://schemas.microsoft.com/office/drawing/2014/main" id="{B92FD11B-F6F9-45B6-AB59-17ECAA574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300" y="1642055"/>
            <a:ext cx="1152525" cy="5810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  <a:ea typeface="宋体" charset="-122"/>
              </a:rPr>
              <a:t>Virtual Disk</a:t>
            </a:r>
          </a:p>
        </p:txBody>
      </p:sp>
      <p:sp>
        <p:nvSpPr>
          <p:cNvPr id="144" name="Rectangle 152">
            <a:extLst>
              <a:ext uri="{FF2B5EF4-FFF2-40B4-BE49-F238E27FC236}">
                <a16:creationId xmlns:a16="http://schemas.microsoft.com/office/drawing/2014/main" id="{B59116EA-1CBB-4EAB-A44D-C5269994D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0850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4</a:t>
            </a:r>
          </a:p>
        </p:txBody>
      </p:sp>
      <p:sp>
        <p:nvSpPr>
          <p:cNvPr id="145" name="Rectangle 153">
            <a:extLst>
              <a:ext uri="{FF2B5EF4-FFF2-40B4-BE49-F238E27FC236}">
                <a16:creationId xmlns:a16="http://schemas.microsoft.com/office/drawing/2014/main" id="{65FE97C8-DF4B-4C00-9F46-F5905FC66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300992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5</a:t>
            </a:r>
          </a:p>
        </p:txBody>
      </p:sp>
      <p:sp>
        <p:nvSpPr>
          <p:cNvPr id="146" name="Rectangle 154">
            <a:extLst>
              <a:ext uri="{FF2B5EF4-FFF2-40B4-BE49-F238E27FC236}">
                <a16:creationId xmlns:a16="http://schemas.microsoft.com/office/drawing/2014/main" id="{7939FE95-EA4E-4FBA-9DDD-1B7228A5C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5184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6</a:t>
            </a:r>
          </a:p>
        </p:txBody>
      </p:sp>
      <p:sp>
        <p:nvSpPr>
          <p:cNvPr id="147" name="Rectangle 155">
            <a:extLst>
              <a:ext uri="{FF2B5EF4-FFF2-40B4-BE49-F238E27FC236}">
                <a16:creationId xmlns:a16="http://schemas.microsoft.com/office/drawing/2014/main" id="{C60F36E7-FF64-40BE-ADBE-76B4E570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7343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7</a:t>
            </a:r>
          </a:p>
        </p:txBody>
      </p:sp>
      <p:sp>
        <p:nvSpPr>
          <p:cNvPr id="148" name="Rectangle 156">
            <a:extLst>
              <a:ext uri="{FF2B5EF4-FFF2-40B4-BE49-F238E27FC236}">
                <a16:creationId xmlns:a16="http://schemas.microsoft.com/office/drawing/2014/main" id="{1CBB37DF-DD0F-45E1-BA01-949EA9C55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9502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8</a:t>
            </a:r>
          </a:p>
        </p:txBody>
      </p:sp>
      <p:sp>
        <p:nvSpPr>
          <p:cNvPr id="149" name="Rectangle 157">
            <a:extLst>
              <a:ext uri="{FF2B5EF4-FFF2-40B4-BE49-F238E27FC236}">
                <a16:creationId xmlns:a16="http://schemas.microsoft.com/office/drawing/2014/main" id="{87EC7EEA-4BB3-465E-BFCB-98AFE8C3E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1661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9</a:t>
            </a:r>
          </a:p>
        </p:txBody>
      </p:sp>
      <p:sp>
        <p:nvSpPr>
          <p:cNvPr id="150" name="Rectangle 158">
            <a:extLst>
              <a:ext uri="{FF2B5EF4-FFF2-40B4-BE49-F238E27FC236}">
                <a16:creationId xmlns:a16="http://schemas.microsoft.com/office/drawing/2014/main" id="{366F21BB-64B0-45C5-AF9A-D64A895AF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3836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10</a:t>
            </a:r>
          </a:p>
        </p:txBody>
      </p:sp>
      <p:sp>
        <p:nvSpPr>
          <p:cNvPr id="151" name="Rectangle 159">
            <a:extLst>
              <a:ext uri="{FF2B5EF4-FFF2-40B4-BE49-F238E27FC236}">
                <a16:creationId xmlns:a16="http://schemas.microsoft.com/office/drawing/2014/main" id="{D5426D5C-04F0-49EA-885A-4BD22BF4C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5995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11</a:t>
            </a:r>
          </a:p>
        </p:txBody>
      </p:sp>
      <p:sp>
        <p:nvSpPr>
          <p:cNvPr id="152" name="Rectangle 160">
            <a:extLst>
              <a:ext uri="{FF2B5EF4-FFF2-40B4-BE49-F238E27FC236}">
                <a16:creationId xmlns:a16="http://schemas.microsoft.com/office/drawing/2014/main" id="{8B596CD1-A634-4ED1-AACC-84B9A64AE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8138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12</a:t>
            </a:r>
          </a:p>
        </p:txBody>
      </p:sp>
      <p:sp>
        <p:nvSpPr>
          <p:cNvPr id="153" name="Rectangle 161">
            <a:extLst>
              <a:ext uri="{FF2B5EF4-FFF2-40B4-BE49-F238E27FC236}">
                <a16:creationId xmlns:a16="http://schemas.microsoft.com/office/drawing/2014/main" id="{AD5FF630-7DFA-4D22-883A-C5ED3B45D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029780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13</a:t>
            </a:r>
          </a:p>
        </p:txBody>
      </p:sp>
      <p:sp>
        <p:nvSpPr>
          <p:cNvPr id="154" name="Rectangle 162">
            <a:extLst>
              <a:ext uri="{FF2B5EF4-FFF2-40B4-BE49-F238E27FC236}">
                <a16:creationId xmlns:a16="http://schemas.microsoft.com/office/drawing/2014/main" id="{EBAAE487-F265-4B30-BF05-85B66A77E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2472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14</a:t>
            </a:r>
          </a:p>
        </p:txBody>
      </p:sp>
      <p:sp>
        <p:nvSpPr>
          <p:cNvPr id="155" name="Rectangle 163">
            <a:extLst>
              <a:ext uri="{FF2B5EF4-FFF2-40B4-BE49-F238E27FC236}">
                <a16:creationId xmlns:a16="http://schemas.microsoft.com/office/drawing/2014/main" id="{DDF15049-EFEB-47EF-A5B6-4A54E7DF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63167"/>
            <a:ext cx="1152525" cy="215900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Data Block 15</a:t>
            </a:r>
          </a:p>
        </p:txBody>
      </p:sp>
      <p:sp>
        <p:nvSpPr>
          <p:cNvPr id="156" name="AutoShape 164">
            <a:extLst>
              <a:ext uri="{FF2B5EF4-FFF2-40B4-BE49-F238E27FC236}">
                <a16:creationId xmlns:a16="http://schemas.microsoft.com/office/drawing/2014/main" id="{A1DC6851-13A0-4A17-891C-4E64301B768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59338" y="3589917"/>
            <a:ext cx="936625" cy="576263"/>
          </a:xfrm>
          <a:custGeom>
            <a:avLst/>
            <a:gdLst>
              <a:gd name="T0" fmla="*/ 702469 w 21600"/>
              <a:gd name="T1" fmla="*/ 0 h 21600"/>
              <a:gd name="T2" fmla="*/ 0 w 21600"/>
              <a:gd name="T3" fmla="*/ 288132 h 21600"/>
              <a:gd name="T4" fmla="*/ 702469 w 21600"/>
              <a:gd name="T5" fmla="*/ 576263 h 21600"/>
              <a:gd name="T6" fmla="*/ 936625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6600"/>
          </a:solidFill>
          <a:ln w="12700" algn="ctr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7" name="Rectangle 64">
            <a:extLst>
              <a:ext uri="{FF2B5EF4-FFF2-40B4-BE49-F238E27FC236}">
                <a16:creationId xmlns:a16="http://schemas.microsoft.com/office/drawing/2014/main" id="{A8E683C0-7B7A-4006-B9B0-323E8517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99" y="692696"/>
            <a:ext cx="2732351" cy="473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RAID1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：镜像</a:t>
            </a:r>
          </a:p>
        </p:txBody>
      </p:sp>
    </p:spTree>
    <p:extLst>
      <p:ext uri="{BB962C8B-B14F-4D97-AF65-F5344CB8AC3E}">
        <p14:creationId xmlns:p14="http://schemas.microsoft.com/office/powerpoint/2010/main" val="337882637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7D272-9D75-4497-9019-5CB1ED86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D43AE-AEC7-4443-A9F3-E107EA43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6AABF-B48C-4E6B-BE08-DFD71061C38D}"/>
              </a:ext>
            </a:extLst>
          </p:cNvPr>
          <p:cNvSpPr txBox="1"/>
          <p:nvPr/>
        </p:nvSpPr>
        <p:spPr bwMode="auto">
          <a:xfrm>
            <a:off x="5004047" y="44777"/>
            <a:ext cx="381610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磁盘阵列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45ED0-FB8E-470A-8F84-BA42957938BB}"/>
              </a:ext>
            </a:extLst>
          </p:cNvPr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60">
            <a:extLst>
              <a:ext uri="{FF2B5EF4-FFF2-40B4-BE49-F238E27FC236}">
                <a16:creationId xmlns:a16="http://schemas.microsoft.com/office/drawing/2014/main" id="{74AB59C8-24FA-4817-BAFD-B9E90F585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084340"/>
            <a:ext cx="8208962" cy="12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ea typeface="宋体" charset="-122"/>
              </a:rPr>
              <a:t>至少需要</a:t>
            </a:r>
            <a:r>
              <a:rPr lang="en-US" altLang="zh-CN" dirty="0">
                <a:solidFill>
                  <a:srgbClr val="000000"/>
                </a:solidFill>
                <a:ea typeface="宋体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a typeface="宋体" charset="-122"/>
              </a:rPr>
              <a:t>个硬盘。</a:t>
            </a:r>
          </a:p>
          <a:p>
            <a:pPr marL="342900" indent="-342900"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000000"/>
                </a:solidFill>
                <a:ea typeface="宋体" charset="-122"/>
              </a:rPr>
              <a:t>是目前采用最多、最流行的方式。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000C50-4BFF-49C8-B802-57C32ACB6513}"/>
              </a:ext>
            </a:extLst>
          </p:cNvPr>
          <p:cNvSpPr/>
          <p:nvPr/>
        </p:nvSpPr>
        <p:spPr>
          <a:xfrm>
            <a:off x="646740" y="690088"/>
            <a:ext cx="4528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RAID5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：块分布式奇偶校验</a:t>
            </a:r>
            <a:endParaRPr lang="zh-CN" altLang="en-US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7" name="AutoShape 2">
            <a:extLst>
              <a:ext uri="{FF2B5EF4-FFF2-40B4-BE49-F238E27FC236}">
                <a16:creationId xmlns:a16="http://schemas.microsoft.com/office/drawing/2014/main" id="{2B4664C2-94C1-4286-8F25-163F8BA84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991" y="4068180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fontAlgn="auto">
              <a:spcAft>
                <a:spcPts val="0"/>
              </a:spcAft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68" name="AutoShape 3">
            <a:extLst>
              <a:ext uri="{FF2B5EF4-FFF2-40B4-BE49-F238E27FC236}">
                <a16:creationId xmlns:a16="http://schemas.microsoft.com/office/drawing/2014/main" id="{239962FC-0DCC-4F78-9DE0-7E635998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403" y="37094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16</a:t>
            </a:r>
          </a:p>
        </p:txBody>
      </p:sp>
      <p:sp>
        <p:nvSpPr>
          <p:cNvPr id="69" name="AutoShape 4">
            <a:extLst>
              <a:ext uri="{FF2B5EF4-FFF2-40B4-BE49-F238E27FC236}">
                <a16:creationId xmlns:a16="http://schemas.microsoft.com/office/drawing/2014/main" id="{C953939E-6795-44FF-B426-B7901F7C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416" y="4068180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fontAlgn="auto">
              <a:spcAft>
                <a:spcPts val="0"/>
              </a:spcAft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C1E900CD-44B5-4500-9CD4-4817F880C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828" y="37094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17</a:t>
            </a:r>
          </a:p>
        </p:txBody>
      </p:sp>
      <p:sp>
        <p:nvSpPr>
          <p:cNvPr id="71" name="AutoShape 6">
            <a:extLst>
              <a:ext uri="{FF2B5EF4-FFF2-40B4-BE49-F238E27FC236}">
                <a16:creationId xmlns:a16="http://schemas.microsoft.com/office/drawing/2014/main" id="{8E16163D-084B-4B0C-BB70-00C095D2D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4068180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fontAlgn="auto">
              <a:spcAft>
                <a:spcPts val="0"/>
              </a:spcAft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2" name="AutoShape 7">
            <a:extLst>
              <a:ext uri="{FF2B5EF4-FFF2-40B4-BE49-F238E27FC236}">
                <a16:creationId xmlns:a16="http://schemas.microsoft.com/office/drawing/2014/main" id="{CA6F2594-5425-4A77-9A3F-1F69E6C54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37094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18</a:t>
            </a:r>
          </a:p>
        </p:txBody>
      </p:sp>
      <p:sp>
        <p:nvSpPr>
          <p:cNvPr id="73" name="AutoShape 8">
            <a:extLst>
              <a:ext uri="{FF2B5EF4-FFF2-40B4-BE49-F238E27FC236}">
                <a16:creationId xmlns:a16="http://schemas.microsoft.com/office/drawing/2014/main" id="{5C75772F-1CDE-4749-8A52-3576C86D1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4068180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fontAlgn="auto">
              <a:spcAft>
                <a:spcPts val="0"/>
              </a:spcAft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4" name="AutoShape 9">
            <a:extLst>
              <a:ext uri="{FF2B5EF4-FFF2-40B4-BE49-F238E27FC236}">
                <a16:creationId xmlns:a16="http://schemas.microsoft.com/office/drawing/2014/main" id="{1381A904-D12C-4123-8110-2FE8DCC53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37094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19</a:t>
            </a:r>
          </a:p>
        </p:txBody>
      </p:sp>
      <p:sp>
        <p:nvSpPr>
          <p:cNvPr id="75" name="AutoShape 10">
            <a:extLst>
              <a:ext uri="{FF2B5EF4-FFF2-40B4-BE49-F238E27FC236}">
                <a16:creationId xmlns:a16="http://schemas.microsoft.com/office/drawing/2014/main" id="{8EE44BB4-0F0F-4155-A575-689F498C9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4069767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fontAlgn="auto">
              <a:spcAft>
                <a:spcPts val="0"/>
              </a:spcAft>
              <a:defRPr/>
            </a:pPr>
            <a:endParaRPr lang="en-US" altLang="zh-CN" sz="2000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6" name="AutoShape 11">
            <a:extLst>
              <a:ext uri="{FF2B5EF4-FFF2-40B4-BE49-F238E27FC236}">
                <a16:creationId xmlns:a16="http://schemas.microsoft.com/office/drawing/2014/main" id="{81632C49-0198-4B14-9E02-D903816D6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3709405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P(16~19)</a:t>
            </a:r>
          </a:p>
        </p:txBody>
      </p:sp>
      <p:sp>
        <p:nvSpPr>
          <p:cNvPr id="77" name="AutoShape 40">
            <a:extLst>
              <a:ext uri="{FF2B5EF4-FFF2-40B4-BE49-F238E27FC236}">
                <a16:creationId xmlns:a16="http://schemas.microsoft.com/office/drawing/2014/main" id="{86602C41-C71F-4B43-9289-7A6217BF5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3350630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12</a:t>
            </a:r>
          </a:p>
        </p:txBody>
      </p:sp>
      <p:sp>
        <p:nvSpPr>
          <p:cNvPr id="78" name="AutoShape 41">
            <a:extLst>
              <a:ext uri="{FF2B5EF4-FFF2-40B4-BE49-F238E27FC236}">
                <a16:creationId xmlns:a16="http://schemas.microsoft.com/office/drawing/2014/main" id="{BBE0DFA1-4A20-4F01-AAC6-3DCDAE14C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2990267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8</a:t>
            </a:r>
          </a:p>
        </p:txBody>
      </p:sp>
      <p:sp>
        <p:nvSpPr>
          <p:cNvPr id="79" name="AutoShape 42">
            <a:extLst>
              <a:ext uri="{FF2B5EF4-FFF2-40B4-BE49-F238E27FC236}">
                <a16:creationId xmlns:a16="http://schemas.microsoft.com/office/drawing/2014/main" id="{CB8990E3-1D3E-4548-806A-F98552D4F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26299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</a:p>
        </p:txBody>
      </p:sp>
      <p:sp>
        <p:nvSpPr>
          <p:cNvPr id="80" name="AutoShape 43">
            <a:extLst>
              <a:ext uri="{FF2B5EF4-FFF2-40B4-BE49-F238E27FC236}">
                <a16:creationId xmlns:a16="http://schemas.microsoft.com/office/drawing/2014/main" id="{ED4BEB2F-D657-4D50-ABF3-C53F1CE16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566" y="2269542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</a:p>
        </p:txBody>
      </p:sp>
      <p:sp>
        <p:nvSpPr>
          <p:cNvPr id="81" name="AutoShape 44">
            <a:extLst>
              <a:ext uri="{FF2B5EF4-FFF2-40B4-BE49-F238E27FC236}">
                <a16:creationId xmlns:a16="http://schemas.microsoft.com/office/drawing/2014/main" id="{F7C5EEEE-9553-4E03-A34A-2B14C870A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991" y="3350630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P(12~15)</a:t>
            </a:r>
          </a:p>
        </p:txBody>
      </p:sp>
      <p:sp>
        <p:nvSpPr>
          <p:cNvPr id="82" name="AutoShape 45">
            <a:extLst>
              <a:ext uri="{FF2B5EF4-FFF2-40B4-BE49-F238E27FC236}">
                <a16:creationId xmlns:a16="http://schemas.microsoft.com/office/drawing/2014/main" id="{31B340DE-4418-444C-9952-A2E0CCD3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991" y="2990267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9</a:t>
            </a:r>
          </a:p>
        </p:txBody>
      </p:sp>
      <p:sp>
        <p:nvSpPr>
          <p:cNvPr id="83" name="AutoShape 46">
            <a:extLst>
              <a:ext uri="{FF2B5EF4-FFF2-40B4-BE49-F238E27FC236}">
                <a16:creationId xmlns:a16="http://schemas.microsoft.com/office/drawing/2014/main" id="{63E6D30B-DCAC-4053-A03B-2878061C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991" y="26299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5</a:t>
            </a:r>
          </a:p>
        </p:txBody>
      </p:sp>
      <p:sp>
        <p:nvSpPr>
          <p:cNvPr id="84" name="AutoShape 47">
            <a:extLst>
              <a:ext uri="{FF2B5EF4-FFF2-40B4-BE49-F238E27FC236}">
                <a16:creationId xmlns:a16="http://schemas.microsoft.com/office/drawing/2014/main" id="{C5D371F5-371D-45EF-83E8-CA933206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991" y="2269542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</a:p>
        </p:txBody>
      </p:sp>
      <p:sp>
        <p:nvSpPr>
          <p:cNvPr id="85" name="AutoShape 48">
            <a:extLst>
              <a:ext uri="{FF2B5EF4-FFF2-40B4-BE49-F238E27FC236}">
                <a16:creationId xmlns:a16="http://schemas.microsoft.com/office/drawing/2014/main" id="{37EE97BF-CD0E-44A7-ADF2-60F950879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416" y="3350630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13</a:t>
            </a:r>
          </a:p>
        </p:txBody>
      </p:sp>
      <p:sp>
        <p:nvSpPr>
          <p:cNvPr id="86" name="AutoShape 49">
            <a:extLst>
              <a:ext uri="{FF2B5EF4-FFF2-40B4-BE49-F238E27FC236}">
                <a16:creationId xmlns:a16="http://schemas.microsoft.com/office/drawing/2014/main" id="{E3385405-1B65-4B3D-97E2-30A451AC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416" y="2990267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P(8~11)</a:t>
            </a:r>
          </a:p>
        </p:txBody>
      </p:sp>
      <p:sp>
        <p:nvSpPr>
          <p:cNvPr id="87" name="AutoShape 50">
            <a:extLst>
              <a:ext uri="{FF2B5EF4-FFF2-40B4-BE49-F238E27FC236}">
                <a16:creationId xmlns:a16="http://schemas.microsoft.com/office/drawing/2014/main" id="{7E2DFC70-A58A-4257-B885-EAE205DAD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416" y="26299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6</a:t>
            </a:r>
          </a:p>
        </p:txBody>
      </p:sp>
      <p:sp>
        <p:nvSpPr>
          <p:cNvPr id="88" name="AutoShape 51">
            <a:extLst>
              <a:ext uri="{FF2B5EF4-FFF2-40B4-BE49-F238E27FC236}">
                <a16:creationId xmlns:a16="http://schemas.microsoft.com/office/drawing/2014/main" id="{25DA1700-5E8D-4763-AA33-EE2BC0211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416" y="2269542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89" name="AutoShape 52">
            <a:extLst>
              <a:ext uri="{FF2B5EF4-FFF2-40B4-BE49-F238E27FC236}">
                <a16:creationId xmlns:a16="http://schemas.microsoft.com/office/drawing/2014/main" id="{0D57519A-46D0-4AE7-B124-E0E989F57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3350630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14</a:t>
            </a:r>
          </a:p>
        </p:txBody>
      </p:sp>
      <p:sp>
        <p:nvSpPr>
          <p:cNvPr id="90" name="AutoShape 53">
            <a:extLst>
              <a:ext uri="{FF2B5EF4-FFF2-40B4-BE49-F238E27FC236}">
                <a16:creationId xmlns:a16="http://schemas.microsoft.com/office/drawing/2014/main" id="{DBF5C48C-8206-43B8-8652-7A03500C6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2990267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10</a:t>
            </a:r>
          </a:p>
        </p:txBody>
      </p:sp>
      <p:sp>
        <p:nvSpPr>
          <p:cNvPr id="91" name="AutoShape 54">
            <a:extLst>
              <a:ext uri="{FF2B5EF4-FFF2-40B4-BE49-F238E27FC236}">
                <a16:creationId xmlns:a16="http://schemas.microsoft.com/office/drawing/2014/main" id="{577534CA-E014-4D9F-AE15-2444B7067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2629905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P(4~7)</a:t>
            </a:r>
          </a:p>
        </p:txBody>
      </p:sp>
      <p:sp>
        <p:nvSpPr>
          <p:cNvPr id="92" name="AutoShape 55">
            <a:extLst>
              <a:ext uri="{FF2B5EF4-FFF2-40B4-BE49-F238E27FC236}">
                <a16:creationId xmlns:a16="http://schemas.microsoft.com/office/drawing/2014/main" id="{0453B3C0-4BCC-497A-AF5A-31AF80C8C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253" y="2269542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3</a:t>
            </a:r>
          </a:p>
        </p:txBody>
      </p:sp>
      <p:sp>
        <p:nvSpPr>
          <p:cNvPr id="93" name="AutoShape 56">
            <a:extLst>
              <a:ext uri="{FF2B5EF4-FFF2-40B4-BE49-F238E27FC236}">
                <a16:creationId xmlns:a16="http://schemas.microsoft.com/office/drawing/2014/main" id="{806ED63A-F6DE-43EF-9E56-5E44C0FFB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3350630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15</a:t>
            </a:r>
          </a:p>
        </p:txBody>
      </p:sp>
      <p:sp>
        <p:nvSpPr>
          <p:cNvPr id="94" name="AutoShape 57">
            <a:extLst>
              <a:ext uri="{FF2B5EF4-FFF2-40B4-BE49-F238E27FC236}">
                <a16:creationId xmlns:a16="http://schemas.microsoft.com/office/drawing/2014/main" id="{A4CB1852-6118-4787-ADE4-33727929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2990267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11</a:t>
            </a:r>
          </a:p>
        </p:txBody>
      </p:sp>
      <p:sp>
        <p:nvSpPr>
          <p:cNvPr id="95" name="AutoShape 58">
            <a:extLst>
              <a:ext uri="{FF2B5EF4-FFF2-40B4-BE49-F238E27FC236}">
                <a16:creationId xmlns:a16="http://schemas.microsoft.com/office/drawing/2014/main" id="{FBD3543C-D7A8-49E8-A5FF-59936D401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2629905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7</a:t>
            </a:r>
          </a:p>
        </p:txBody>
      </p:sp>
      <p:sp>
        <p:nvSpPr>
          <p:cNvPr id="96" name="AutoShape 59">
            <a:extLst>
              <a:ext uri="{FF2B5EF4-FFF2-40B4-BE49-F238E27FC236}">
                <a16:creationId xmlns:a16="http://schemas.microsoft.com/office/drawing/2014/main" id="{130E803F-776D-4491-964D-89905A8C8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678" y="2269542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/>
                <a:ea typeface="宋体"/>
              </a:rPr>
              <a:t>P(0~3)</a:t>
            </a:r>
          </a:p>
        </p:txBody>
      </p:sp>
      <p:sp>
        <p:nvSpPr>
          <p:cNvPr id="97" name="Line 101">
            <a:extLst>
              <a:ext uri="{FF2B5EF4-FFF2-40B4-BE49-F238E27FC236}">
                <a16:creationId xmlns:a16="http://schemas.microsoft.com/office/drawing/2014/main" id="{166A513A-6D82-4C85-97A5-55EE22B874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0888" y="2110104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98" name="Line 101">
            <a:extLst>
              <a:ext uri="{FF2B5EF4-FFF2-40B4-BE49-F238E27FC236}">
                <a16:creationId xmlns:a16="http://schemas.microsoft.com/office/drawing/2014/main" id="{91736E25-15FA-43FF-BA67-6D7B169E73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4704" y="2110104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99" name="Line 101">
            <a:extLst>
              <a:ext uri="{FF2B5EF4-FFF2-40B4-BE49-F238E27FC236}">
                <a16:creationId xmlns:a16="http://schemas.microsoft.com/office/drawing/2014/main" id="{6D98D643-54F6-48C0-B27A-512CF4FCEF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8750" y="2110104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58" name="Line 101">
            <a:extLst>
              <a:ext uri="{FF2B5EF4-FFF2-40B4-BE49-F238E27FC236}">
                <a16:creationId xmlns:a16="http://schemas.microsoft.com/office/drawing/2014/main" id="{ABC6DC59-82DF-4223-9B79-3DC446B96A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796" y="1953057"/>
            <a:ext cx="0" cy="372947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59" name="Line 101">
            <a:extLst>
              <a:ext uri="{FF2B5EF4-FFF2-40B4-BE49-F238E27FC236}">
                <a16:creationId xmlns:a16="http://schemas.microsoft.com/office/drawing/2014/main" id="{09F98E23-5367-4071-AD6E-E13DAC0AB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6842" y="2110104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A86CFDA5-8105-4F61-9323-EDAEA1426650}"/>
              </a:ext>
            </a:extLst>
          </p:cNvPr>
          <p:cNvSpPr/>
          <p:nvPr/>
        </p:nvSpPr>
        <p:spPr bwMode="auto">
          <a:xfrm>
            <a:off x="3689060" y="1556692"/>
            <a:ext cx="1728167" cy="396365"/>
          </a:xfrm>
          <a:prstGeom prst="rect">
            <a:avLst/>
          </a:prstGeom>
          <a:solidFill>
            <a:srgbClr val="C9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0"/>
          <a:lstStyle/>
          <a:p>
            <a:pPr>
              <a:spcBef>
                <a:spcPts val="0"/>
              </a:spcBef>
            </a:pP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RAID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宋体"/>
              </a:rPr>
              <a:t>控制器</a:t>
            </a:r>
            <a:endParaRPr lang="en-US" altLang="zh-CN" sz="2000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4A40367A-2A25-444F-ABF1-0D7E6A7630CD}"/>
              </a:ext>
            </a:extLst>
          </p:cNvPr>
          <p:cNvCxnSpPr>
            <a:endCxn id="98" idx="1"/>
          </p:cNvCxnSpPr>
          <p:nvPr/>
        </p:nvCxnSpPr>
        <p:spPr bwMode="auto">
          <a:xfrm>
            <a:off x="1820888" y="2110104"/>
            <a:ext cx="5463817" cy="0"/>
          </a:xfrm>
          <a:prstGeom prst="line">
            <a:avLst/>
          </a:prstGeom>
          <a:solidFill>
            <a:srgbClr val="9999FF"/>
          </a:solidFill>
          <a:ln w="3810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CD051CBB-5461-4291-B9A9-26B50612ABCB}"/>
              </a:ext>
            </a:extLst>
          </p:cNvPr>
          <p:cNvSpPr/>
          <p:nvPr/>
        </p:nvSpPr>
        <p:spPr bwMode="auto">
          <a:xfrm>
            <a:off x="5319561" y="2439071"/>
            <a:ext cx="2592288" cy="28880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A43EE55-E092-49C0-991E-BC8C9F6940EA}"/>
              </a:ext>
            </a:extLst>
          </p:cNvPr>
          <p:cNvSpPr/>
          <p:nvPr/>
        </p:nvSpPr>
        <p:spPr bwMode="auto">
          <a:xfrm>
            <a:off x="1213690" y="3528456"/>
            <a:ext cx="2592288" cy="28880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DD7EBA95-ADAB-42B2-8237-D3035B081B92}"/>
              </a:ext>
            </a:extLst>
          </p:cNvPr>
          <p:cNvSpPr/>
          <p:nvPr/>
        </p:nvSpPr>
        <p:spPr>
          <a:xfrm>
            <a:off x="100240" y="3465428"/>
            <a:ext cx="1140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进程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C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写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F46D2713-1E1E-49D3-A131-F19B15571A02}"/>
              </a:ext>
            </a:extLst>
          </p:cNvPr>
          <p:cNvSpPr/>
          <p:nvPr/>
        </p:nvSpPr>
        <p:spPr>
          <a:xfrm>
            <a:off x="7896440" y="2383419"/>
            <a:ext cx="1140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进程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写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90B1A7EF-F72D-4022-BBF0-231E7A082E8E}"/>
              </a:ext>
            </a:extLst>
          </p:cNvPr>
          <p:cNvSpPr/>
          <p:nvPr/>
        </p:nvSpPr>
        <p:spPr bwMode="auto">
          <a:xfrm>
            <a:off x="2573424" y="3169488"/>
            <a:ext cx="2615351" cy="28880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8A704E5B-1D2D-44B0-B3E5-A3E015808483}"/>
              </a:ext>
            </a:extLst>
          </p:cNvPr>
          <p:cNvCxnSpPr>
            <a:cxnSpLocks/>
          </p:cNvCxnSpPr>
          <p:nvPr/>
        </p:nvCxnSpPr>
        <p:spPr bwMode="auto">
          <a:xfrm flipH="1">
            <a:off x="5242964" y="4716252"/>
            <a:ext cx="2655858" cy="0"/>
          </a:xfrm>
          <a:prstGeom prst="line">
            <a:avLst/>
          </a:prstGeom>
          <a:solidFill>
            <a:srgbClr val="9999FF"/>
          </a:solidFill>
          <a:ln w="19050" cap="rnd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CC7D161F-8F25-47A0-AD9F-C9B9394B964C}"/>
              </a:ext>
            </a:extLst>
          </p:cNvPr>
          <p:cNvCxnSpPr>
            <a:cxnSpLocks/>
          </p:cNvCxnSpPr>
          <p:nvPr/>
        </p:nvCxnSpPr>
        <p:spPr bwMode="auto">
          <a:xfrm flipV="1">
            <a:off x="5243561" y="3816537"/>
            <a:ext cx="0" cy="899715"/>
          </a:xfrm>
          <a:prstGeom prst="line">
            <a:avLst/>
          </a:prstGeom>
          <a:solidFill>
            <a:srgbClr val="9999FF"/>
          </a:solidFill>
          <a:ln w="19050" cap="rnd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C5342056-9C3E-48F0-8815-C7046929B11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75544" y="3462344"/>
            <a:ext cx="67420" cy="354192"/>
          </a:xfrm>
          <a:prstGeom prst="line">
            <a:avLst/>
          </a:prstGeom>
          <a:solidFill>
            <a:srgbClr val="9999FF"/>
          </a:solidFill>
          <a:ln w="19050" cap="rnd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356EED80-8E6E-4A96-A1BB-1E024FCA3D76}"/>
              </a:ext>
            </a:extLst>
          </p:cNvPr>
          <p:cNvSpPr/>
          <p:nvPr/>
        </p:nvSpPr>
        <p:spPr>
          <a:xfrm>
            <a:off x="7897795" y="4494066"/>
            <a:ext cx="11256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进程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/>
                <a:ea typeface="宋体"/>
              </a:rPr>
              <a:t>写</a:t>
            </a:r>
            <a:endParaRPr lang="zh-CN" altLang="en-US" sz="20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171" name="爆炸形: 8 pt  170">
            <a:extLst>
              <a:ext uri="{FF2B5EF4-FFF2-40B4-BE49-F238E27FC236}">
                <a16:creationId xmlns:a16="http://schemas.microsoft.com/office/drawing/2014/main" id="{1ADD4B18-0DF6-4967-AECF-3A51620D4108}"/>
              </a:ext>
            </a:extLst>
          </p:cNvPr>
          <p:cNvSpPr/>
          <p:nvPr/>
        </p:nvSpPr>
        <p:spPr bwMode="auto">
          <a:xfrm>
            <a:off x="6302695" y="4798723"/>
            <a:ext cx="1846936" cy="1403598"/>
          </a:xfrm>
          <a:prstGeom prst="irregularSeal1">
            <a:avLst/>
          </a:prstGeom>
          <a:solidFill>
            <a:srgbClr val="FFFFCC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</a:rPr>
              <a:t>并发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</a:rPr>
              <a:t>I/O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738711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  <p:bldP spid="163" grpId="0" animBg="1"/>
      <p:bldP spid="164" grpId="0"/>
      <p:bldP spid="165" grpId="0"/>
      <p:bldP spid="166" grpId="0" animBg="1"/>
      <p:bldP spid="170" grpId="0"/>
      <p:bldP spid="1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7D272-9D75-4497-9019-5CB1ED86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D43AE-AEC7-4443-A9F3-E107EA43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6AABF-B48C-4E6B-BE08-DFD71061C38D}"/>
              </a:ext>
            </a:extLst>
          </p:cNvPr>
          <p:cNvSpPr txBox="1"/>
          <p:nvPr/>
        </p:nvSpPr>
        <p:spPr bwMode="auto">
          <a:xfrm>
            <a:off x="5004047" y="44777"/>
            <a:ext cx="381610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黑体"/>
                <a:cs typeface="+mj-cs"/>
              </a:rPr>
              <a:t>磁盘阵列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45ED0-FB8E-470A-8F84-BA42957938BB}"/>
              </a:ext>
            </a:extLst>
          </p:cNvPr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5C1069-A07D-4F82-8CCF-5140747CB8E4}"/>
              </a:ext>
            </a:extLst>
          </p:cNvPr>
          <p:cNvSpPr/>
          <p:nvPr/>
        </p:nvSpPr>
        <p:spPr>
          <a:xfrm>
            <a:off x="621519" y="607482"/>
            <a:ext cx="30861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RAID6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：双冗余度</a:t>
            </a:r>
            <a:endParaRPr lang="zh-CN" altLang="en-US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8" name="AutoShape 63">
            <a:extLst>
              <a:ext uri="{FF2B5EF4-FFF2-40B4-BE49-F238E27FC236}">
                <a16:creationId xmlns:a16="http://schemas.microsoft.com/office/drawing/2014/main" id="{1DC3255F-C4B7-4BA0-B9AF-54E98F533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827" y="369425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9" name="AutoShape 64">
            <a:extLst>
              <a:ext uri="{FF2B5EF4-FFF2-40B4-BE49-F238E27FC236}">
                <a16:creationId xmlns:a16="http://schemas.microsoft.com/office/drawing/2014/main" id="{EB04D492-C7BE-4C3A-8F3D-1B4A1773C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240" y="3335481"/>
            <a:ext cx="1079500" cy="50482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FF"/>
                </a:solidFill>
                <a:ea typeface="宋体" charset="-122"/>
              </a:rPr>
              <a:t>Q(16~19)</a:t>
            </a:r>
          </a:p>
        </p:txBody>
      </p:sp>
      <p:sp>
        <p:nvSpPr>
          <p:cNvPr id="10" name="AutoShape 65">
            <a:extLst>
              <a:ext uri="{FF2B5EF4-FFF2-40B4-BE49-F238E27FC236}">
                <a16:creationId xmlns:a16="http://schemas.microsoft.com/office/drawing/2014/main" id="{CCED9A21-A5F5-4877-AE9F-B7209415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52" y="369425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" name="AutoShape 66">
            <a:extLst>
              <a:ext uri="{FF2B5EF4-FFF2-40B4-BE49-F238E27FC236}">
                <a16:creationId xmlns:a16="http://schemas.microsoft.com/office/drawing/2014/main" id="{304B9676-0AAC-49D8-9DF1-F03FF3A6A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665" y="33354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16</a:t>
            </a:r>
          </a:p>
        </p:txBody>
      </p:sp>
      <p:sp>
        <p:nvSpPr>
          <p:cNvPr id="12" name="AutoShape 67">
            <a:extLst>
              <a:ext uri="{FF2B5EF4-FFF2-40B4-BE49-F238E27FC236}">
                <a16:creationId xmlns:a16="http://schemas.microsoft.com/office/drawing/2014/main" id="{AF67156E-26F7-40B1-86F3-0BD207997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369425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3" name="AutoShape 68">
            <a:extLst>
              <a:ext uri="{FF2B5EF4-FFF2-40B4-BE49-F238E27FC236}">
                <a16:creationId xmlns:a16="http://schemas.microsoft.com/office/drawing/2014/main" id="{4FED5970-F8EA-44BB-8BB5-AC5C30C7C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33354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17</a:t>
            </a:r>
          </a:p>
        </p:txBody>
      </p:sp>
      <p:sp>
        <p:nvSpPr>
          <p:cNvPr id="14" name="AutoShape 69">
            <a:extLst>
              <a:ext uri="{FF2B5EF4-FFF2-40B4-BE49-F238E27FC236}">
                <a16:creationId xmlns:a16="http://schemas.microsoft.com/office/drawing/2014/main" id="{65B495F2-CD76-45F6-99D8-AEC995E8B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369425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5" name="AutoShape 70">
            <a:extLst>
              <a:ext uri="{FF2B5EF4-FFF2-40B4-BE49-F238E27FC236}">
                <a16:creationId xmlns:a16="http://schemas.microsoft.com/office/drawing/2014/main" id="{EFBA0C1D-211C-47AE-AC5C-7C949E044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33354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18</a:t>
            </a:r>
          </a:p>
        </p:txBody>
      </p:sp>
      <p:sp>
        <p:nvSpPr>
          <p:cNvPr id="16" name="AutoShape 71">
            <a:extLst>
              <a:ext uri="{FF2B5EF4-FFF2-40B4-BE49-F238E27FC236}">
                <a16:creationId xmlns:a16="http://schemas.microsoft.com/office/drawing/2014/main" id="{F3D4AA1E-F3DF-4E4B-AB71-9120F251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3695844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7" name="AutoShape 72">
            <a:extLst>
              <a:ext uri="{FF2B5EF4-FFF2-40B4-BE49-F238E27FC236}">
                <a16:creationId xmlns:a16="http://schemas.microsoft.com/office/drawing/2014/main" id="{81577178-524E-4AFC-8AEC-6EF7FBBC2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3335481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 dirty="0">
                <a:solidFill>
                  <a:srgbClr val="FF0000"/>
                </a:solidFill>
                <a:ea typeface="宋体" charset="-122"/>
              </a:rPr>
              <a:t>P(16~19)</a:t>
            </a:r>
          </a:p>
        </p:txBody>
      </p:sp>
      <p:sp>
        <p:nvSpPr>
          <p:cNvPr id="18" name="AutoShape 73">
            <a:extLst>
              <a:ext uri="{FF2B5EF4-FFF2-40B4-BE49-F238E27FC236}">
                <a16:creationId xmlns:a16="http://schemas.microsoft.com/office/drawing/2014/main" id="{157C465D-B85C-42D4-A398-3E1566962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2976706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12</a:t>
            </a:r>
          </a:p>
        </p:txBody>
      </p:sp>
      <p:sp>
        <p:nvSpPr>
          <p:cNvPr id="19" name="AutoShape 74">
            <a:extLst>
              <a:ext uri="{FF2B5EF4-FFF2-40B4-BE49-F238E27FC236}">
                <a16:creationId xmlns:a16="http://schemas.microsoft.com/office/drawing/2014/main" id="{BFEE5049-0732-4FE0-B68E-8623611A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2616344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8</a:t>
            </a:r>
          </a:p>
        </p:txBody>
      </p:sp>
      <p:sp>
        <p:nvSpPr>
          <p:cNvPr id="20" name="AutoShape 75">
            <a:extLst>
              <a:ext uri="{FF2B5EF4-FFF2-40B4-BE49-F238E27FC236}">
                <a16:creationId xmlns:a16="http://schemas.microsoft.com/office/drawing/2014/main" id="{D684AA2D-3684-44E4-AFAB-F64DA7876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22559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4</a:t>
            </a:r>
          </a:p>
        </p:txBody>
      </p:sp>
      <p:sp>
        <p:nvSpPr>
          <p:cNvPr id="21" name="AutoShape 76">
            <a:extLst>
              <a:ext uri="{FF2B5EF4-FFF2-40B4-BE49-F238E27FC236}">
                <a16:creationId xmlns:a16="http://schemas.microsoft.com/office/drawing/2014/main" id="{873FDB6D-E73A-48D2-80F5-C4DAC5711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02" y="189561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0</a:t>
            </a:r>
          </a:p>
        </p:txBody>
      </p:sp>
      <p:sp>
        <p:nvSpPr>
          <p:cNvPr id="22" name="AutoShape 77">
            <a:extLst>
              <a:ext uri="{FF2B5EF4-FFF2-40B4-BE49-F238E27FC236}">
                <a16:creationId xmlns:a16="http://schemas.microsoft.com/office/drawing/2014/main" id="{725D18D8-A56A-4953-AEF2-917619E8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827" y="2976706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FF0000"/>
                </a:solidFill>
                <a:ea typeface="宋体" charset="-122"/>
              </a:rPr>
              <a:t>P(12~15)</a:t>
            </a:r>
          </a:p>
        </p:txBody>
      </p:sp>
      <p:sp>
        <p:nvSpPr>
          <p:cNvPr id="23" name="AutoShape 78">
            <a:extLst>
              <a:ext uri="{FF2B5EF4-FFF2-40B4-BE49-F238E27FC236}">
                <a16:creationId xmlns:a16="http://schemas.microsoft.com/office/drawing/2014/main" id="{C1C50E42-0873-499A-B66E-EF86A95A3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827" y="2616344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9</a:t>
            </a:r>
          </a:p>
        </p:txBody>
      </p:sp>
      <p:sp>
        <p:nvSpPr>
          <p:cNvPr id="24" name="AutoShape 79">
            <a:extLst>
              <a:ext uri="{FF2B5EF4-FFF2-40B4-BE49-F238E27FC236}">
                <a16:creationId xmlns:a16="http://schemas.microsoft.com/office/drawing/2014/main" id="{BCC5E13A-EDC8-404D-8B02-7384AAB8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827" y="22559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5</a:t>
            </a:r>
          </a:p>
        </p:txBody>
      </p:sp>
      <p:sp>
        <p:nvSpPr>
          <p:cNvPr id="25" name="AutoShape 80">
            <a:extLst>
              <a:ext uri="{FF2B5EF4-FFF2-40B4-BE49-F238E27FC236}">
                <a16:creationId xmlns:a16="http://schemas.microsoft.com/office/drawing/2014/main" id="{B7CF3FBC-0C4D-47F4-863F-F08F974F4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827" y="189561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</a:t>
            </a:r>
          </a:p>
        </p:txBody>
      </p:sp>
      <p:sp>
        <p:nvSpPr>
          <p:cNvPr id="26" name="AutoShape 81">
            <a:extLst>
              <a:ext uri="{FF2B5EF4-FFF2-40B4-BE49-F238E27FC236}">
                <a16:creationId xmlns:a16="http://schemas.microsoft.com/office/drawing/2014/main" id="{A03CB3EE-66D5-41D6-99A9-0BA2E6691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52" y="297670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FF"/>
                </a:solidFill>
                <a:ea typeface="宋体" charset="-122"/>
              </a:rPr>
              <a:t>Q(12~15)</a:t>
            </a:r>
          </a:p>
        </p:txBody>
      </p:sp>
      <p:sp>
        <p:nvSpPr>
          <p:cNvPr id="27" name="AutoShape 82">
            <a:extLst>
              <a:ext uri="{FF2B5EF4-FFF2-40B4-BE49-F238E27FC236}">
                <a16:creationId xmlns:a16="http://schemas.microsoft.com/office/drawing/2014/main" id="{24551E1C-AE16-4D84-9BC8-E353A5D5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52" y="2616344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FF0000"/>
                </a:solidFill>
                <a:ea typeface="宋体" charset="-122"/>
              </a:rPr>
              <a:t>P(8~11)</a:t>
            </a:r>
          </a:p>
        </p:txBody>
      </p:sp>
      <p:sp>
        <p:nvSpPr>
          <p:cNvPr id="28" name="AutoShape 83">
            <a:extLst>
              <a:ext uri="{FF2B5EF4-FFF2-40B4-BE49-F238E27FC236}">
                <a16:creationId xmlns:a16="http://schemas.microsoft.com/office/drawing/2014/main" id="{09A840A5-EA10-40CB-BAB6-338DDDDC8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52" y="225598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6</a:t>
            </a:r>
          </a:p>
        </p:txBody>
      </p:sp>
      <p:sp>
        <p:nvSpPr>
          <p:cNvPr id="29" name="AutoShape 84">
            <a:extLst>
              <a:ext uri="{FF2B5EF4-FFF2-40B4-BE49-F238E27FC236}">
                <a16:creationId xmlns:a16="http://schemas.microsoft.com/office/drawing/2014/main" id="{F7C0D32C-19D4-4852-9C89-9396D7DED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252" y="189561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2</a:t>
            </a:r>
          </a:p>
        </p:txBody>
      </p:sp>
      <p:sp>
        <p:nvSpPr>
          <p:cNvPr id="30" name="AutoShape 85">
            <a:extLst>
              <a:ext uri="{FF2B5EF4-FFF2-40B4-BE49-F238E27FC236}">
                <a16:creationId xmlns:a16="http://schemas.microsoft.com/office/drawing/2014/main" id="{7659CB44-E6BF-43E3-87C2-D85DE6D01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2976706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13</a:t>
            </a:r>
          </a:p>
        </p:txBody>
      </p:sp>
      <p:sp>
        <p:nvSpPr>
          <p:cNvPr id="31" name="AutoShape 86">
            <a:extLst>
              <a:ext uri="{FF2B5EF4-FFF2-40B4-BE49-F238E27FC236}">
                <a16:creationId xmlns:a16="http://schemas.microsoft.com/office/drawing/2014/main" id="{4ACBCE88-1A1A-4E91-9A97-E396ED951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2616344"/>
            <a:ext cx="1079500" cy="50482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FF"/>
                </a:solidFill>
                <a:ea typeface="宋体" charset="-122"/>
              </a:rPr>
              <a:t>Q(8~11)</a:t>
            </a:r>
          </a:p>
        </p:txBody>
      </p:sp>
      <p:sp>
        <p:nvSpPr>
          <p:cNvPr id="32" name="AutoShape 87">
            <a:extLst>
              <a:ext uri="{FF2B5EF4-FFF2-40B4-BE49-F238E27FC236}">
                <a16:creationId xmlns:a16="http://schemas.microsoft.com/office/drawing/2014/main" id="{D0CAF35C-B403-4BF1-B2CE-71FC6D46E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2255981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FF0000"/>
                </a:solidFill>
                <a:ea typeface="宋体" charset="-122"/>
              </a:rPr>
              <a:t>P(4~7)</a:t>
            </a:r>
          </a:p>
        </p:txBody>
      </p:sp>
      <p:sp>
        <p:nvSpPr>
          <p:cNvPr id="33" name="AutoShape 88">
            <a:extLst>
              <a:ext uri="{FF2B5EF4-FFF2-40B4-BE49-F238E27FC236}">
                <a16:creationId xmlns:a16="http://schemas.microsoft.com/office/drawing/2014/main" id="{4106051C-B780-4502-ABD8-930101DAE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90" y="189561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3</a:t>
            </a:r>
          </a:p>
        </p:txBody>
      </p:sp>
      <p:sp>
        <p:nvSpPr>
          <p:cNvPr id="34" name="AutoShape 89">
            <a:extLst>
              <a:ext uri="{FF2B5EF4-FFF2-40B4-BE49-F238E27FC236}">
                <a16:creationId xmlns:a16="http://schemas.microsoft.com/office/drawing/2014/main" id="{449FB844-7133-4F85-A537-8485DB8D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2976706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14</a:t>
            </a:r>
          </a:p>
        </p:txBody>
      </p:sp>
      <p:sp>
        <p:nvSpPr>
          <p:cNvPr id="35" name="AutoShape 90">
            <a:extLst>
              <a:ext uri="{FF2B5EF4-FFF2-40B4-BE49-F238E27FC236}">
                <a16:creationId xmlns:a16="http://schemas.microsoft.com/office/drawing/2014/main" id="{E462ED08-C28B-49B7-A691-2DEEF0222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2616344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10</a:t>
            </a:r>
          </a:p>
        </p:txBody>
      </p:sp>
      <p:sp>
        <p:nvSpPr>
          <p:cNvPr id="36" name="AutoShape 91">
            <a:extLst>
              <a:ext uri="{FF2B5EF4-FFF2-40B4-BE49-F238E27FC236}">
                <a16:creationId xmlns:a16="http://schemas.microsoft.com/office/drawing/2014/main" id="{642D7A17-5ADB-4C96-838C-AF1893850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2255981"/>
            <a:ext cx="1079500" cy="50482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0000FF"/>
                </a:solidFill>
                <a:ea typeface="宋体" charset="-122"/>
              </a:rPr>
              <a:t>Q(4~7)</a:t>
            </a:r>
          </a:p>
        </p:txBody>
      </p:sp>
      <p:sp>
        <p:nvSpPr>
          <p:cNvPr id="37" name="AutoShape 92">
            <a:extLst>
              <a:ext uri="{FF2B5EF4-FFF2-40B4-BE49-F238E27FC236}">
                <a16:creationId xmlns:a16="http://schemas.microsoft.com/office/drawing/2014/main" id="{613051EC-6798-49D7-B00F-A792F6A43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15" y="1895619"/>
            <a:ext cx="1079500" cy="504825"/>
          </a:xfrm>
          <a:prstGeom prst="can">
            <a:avLst>
              <a:gd name="adj" fmla="val 25000"/>
            </a:avLst>
          </a:prstGeom>
          <a:solidFill>
            <a:srgbClr val="FFCC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>
                <a:solidFill>
                  <a:srgbClr val="FF0000"/>
                </a:solidFill>
                <a:ea typeface="宋体" charset="-122"/>
              </a:rPr>
              <a:t>P(0~3)</a:t>
            </a:r>
          </a:p>
        </p:txBody>
      </p:sp>
      <p:sp>
        <p:nvSpPr>
          <p:cNvPr id="38" name="AutoShape 93">
            <a:extLst>
              <a:ext uri="{FF2B5EF4-FFF2-40B4-BE49-F238E27FC236}">
                <a16:creationId xmlns:a16="http://schemas.microsoft.com/office/drawing/2014/main" id="{ECEAD664-120F-4E75-8693-A24CB758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3695844"/>
            <a:ext cx="1079500" cy="504825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9" name="AutoShape 94">
            <a:extLst>
              <a:ext uri="{FF2B5EF4-FFF2-40B4-BE49-F238E27FC236}">
                <a16:creationId xmlns:a16="http://schemas.microsoft.com/office/drawing/2014/main" id="{0FD97E85-87F6-44F8-8673-74E70A724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333706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19</a:t>
            </a:r>
          </a:p>
        </p:txBody>
      </p:sp>
      <p:sp>
        <p:nvSpPr>
          <p:cNvPr id="40" name="AutoShape 95">
            <a:extLst>
              <a:ext uri="{FF2B5EF4-FFF2-40B4-BE49-F238E27FC236}">
                <a16:creationId xmlns:a16="http://schemas.microsoft.com/office/drawing/2014/main" id="{CBBA410B-6C34-46F7-86F2-56AF550DC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2978294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15</a:t>
            </a:r>
          </a:p>
        </p:txBody>
      </p:sp>
      <p:sp>
        <p:nvSpPr>
          <p:cNvPr id="41" name="AutoShape 96">
            <a:extLst>
              <a:ext uri="{FF2B5EF4-FFF2-40B4-BE49-F238E27FC236}">
                <a16:creationId xmlns:a16="http://schemas.microsoft.com/office/drawing/2014/main" id="{BB6EAFEE-7AF1-4DEF-9F31-232B08F51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2617931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11</a:t>
            </a:r>
          </a:p>
        </p:txBody>
      </p:sp>
      <p:sp>
        <p:nvSpPr>
          <p:cNvPr id="42" name="AutoShape 97">
            <a:extLst>
              <a:ext uri="{FF2B5EF4-FFF2-40B4-BE49-F238E27FC236}">
                <a16:creationId xmlns:a16="http://schemas.microsoft.com/office/drawing/2014/main" id="{FBB66CF0-A9C9-49A6-92BD-D5A16D5C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2257569"/>
            <a:ext cx="1079500" cy="504825"/>
          </a:xfrm>
          <a:prstGeom prst="can">
            <a:avLst>
              <a:gd name="adj" fmla="val 25000"/>
            </a:avLst>
          </a:prstGeom>
          <a:solidFill>
            <a:srgbClr val="CCFF99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条带</a:t>
            </a: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7</a:t>
            </a:r>
          </a:p>
        </p:txBody>
      </p:sp>
      <p:sp>
        <p:nvSpPr>
          <p:cNvPr id="43" name="AutoShape 98">
            <a:extLst>
              <a:ext uri="{FF2B5EF4-FFF2-40B4-BE49-F238E27FC236}">
                <a16:creationId xmlns:a16="http://schemas.microsoft.com/office/drawing/2014/main" id="{D93987AD-87D5-498D-B7C9-45F8106E4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0" y="1897206"/>
            <a:ext cx="1079500" cy="50482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r>
              <a:rPr lang="en-US" altLang="zh-CN" sz="2000" kern="0" dirty="0">
                <a:solidFill>
                  <a:srgbClr val="0000FF"/>
                </a:solidFill>
                <a:ea typeface="宋体" charset="-122"/>
              </a:rPr>
              <a:t>Q(0~3)</a:t>
            </a:r>
          </a:p>
        </p:txBody>
      </p:sp>
      <p:sp>
        <p:nvSpPr>
          <p:cNvPr id="44" name="Line 101">
            <a:extLst>
              <a:ext uri="{FF2B5EF4-FFF2-40B4-BE49-F238E27FC236}">
                <a16:creationId xmlns:a16="http://schemas.microsoft.com/office/drawing/2014/main" id="{F3B0E978-C76F-4747-9542-351010463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2172" y="1728956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5" name="Line 101">
            <a:extLst>
              <a:ext uri="{FF2B5EF4-FFF2-40B4-BE49-F238E27FC236}">
                <a16:creationId xmlns:a16="http://schemas.microsoft.com/office/drawing/2014/main" id="{15183E65-0FF7-4E3C-84D6-9E4D04400D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988" y="1728956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6" name="Line 101">
            <a:extLst>
              <a:ext uri="{FF2B5EF4-FFF2-40B4-BE49-F238E27FC236}">
                <a16:creationId xmlns:a16="http://schemas.microsoft.com/office/drawing/2014/main" id="{DE68B911-832C-4305-84ED-84166AF5DD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0034" y="1728955"/>
            <a:ext cx="0" cy="217463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7" name="Line 101">
            <a:extLst>
              <a:ext uri="{FF2B5EF4-FFF2-40B4-BE49-F238E27FC236}">
                <a16:creationId xmlns:a16="http://schemas.microsoft.com/office/drawing/2014/main" id="{8D50C541-8B7A-4D93-B3F9-6DFE4E1848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4080" y="1728955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8" name="Line 101">
            <a:extLst>
              <a:ext uri="{FF2B5EF4-FFF2-40B4-BE49-F238E27FC236}">
                <a16:creationId xmlns:a16="http://schemas.microsoft.com/office/drawing/2014/main" id="{77D611A1-260D-44EA-B964-2E3C3AD91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8126" y="1728956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D1F1C4C-BA34-44FE-9355-A541DDCD58A3}"/>
              </a:ext>
            </a:extLst>
          </p:cNvPr>
          <p:cNvCxnSpPr>
            <a:cxnSpLocks/>
          </p:cNvCxnSpPr>
          <p:nvPr/>
        </p:nvCxnSpPr>
        <p:spPr bwMode="auto">
          <a:xfrm>
            <a:off x="1152172" y="1728956"/>
            <a:ext cx="6833640" cy="0"/>
          </a:xfrm>
          <a:prstGeom prst="line">
            <a:avLst/>
          </a:prstGeom>
          <a:solidFill>
            <a:srgbClr val="9999FF"/>
          </a:solidFill>
          <a:ln w="38100" cap="rnd" cmpd="sng" algn="ctr">
            <a:solidFill>
              <a:srgbClr val="3399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Line 101">
            <a:extLst>
              <a:ext uri="{FF2B5EF4-FFF2-40B4-BE49-F238E27FC236}">
                <a16:creationId xmlns:a16="http://schemas.microsoft.com/office/drawing/2014/main" id="{4F13B2C2-B9A8-47EA-A968-A7D57B9881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5812" y="1728956"/>
            <a:ext cx="0" cy="215900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" name="Line 101">
            <a:extLst>
              <a:ext uri="{FF2B5EF4-FFF2-40B4-BE49-F238E27FC236}">
                <a16:creationId xmlns:a16="http://schemas.microsoft.com/office/drawing/2014/main" id="{ADF7800E-2651-450A-B339-9F84E55D87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3388" y="1521109"/>
            <a:ext cx="0" cy="207846"/>
          </a:xfrm>
          <a:prstGeom prst="line">
            <a:avLst/>
          </a:prstGeom>
          <a:noFill/>
          <a:ln w="38100" cap="rnd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pPr algn="l">
              <a:spcBef>
                <a:spcPct val="0"/>
              </a:spcBef>
              <a:defRPr/>
            </a:pPr>
            <a:endParaRPr lang="zh-CN" altLang="en-US" ker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1BAD4C2-774B-4747-86F5-CEC578960E45}"/>
              </a:ext>
            </a:extLst>
          </p:cNvPr>
          <p:cNvSpPr/>
          <p:nvPr/>
        </p:nvSpPr>
        <p:spPr bwMode="auto">
          <a:xfrm>
            <a:off x="3707620" y="1124744"/>
            <a:ext cx="1728167" cy="396365"/>
          </a:xfrm>
          <a:prstGeom prst="rect">
            <a:avLst/>
          </a:prstGeom>
          <a:solidFill>
            <a:srgbClr val="C9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0"/>
          <a:lstStyle/>
          <a:p>
            <a:pPr>
              <a:spcBef>
                <a:spcPct val="0"/>
              </a:spcBef>
            </a:pPr>
            <a:r>
              <a:rPr lang="en-US" altLang="zh-CN" sz="2000" kern="0" dirty="0">
                <a:solidFill>
                  <a:srgbClr val="000000"/>
                </a:solidFill>
                <a:ea typeface="宋体" charset="-122"/>
              </a:rPr>
              <a:t>RAID</a:t>
            </a:r>
            <a:r>
              <a:rPr lang="zh-CN" altLang="en-US" sz="2000" kern="0" dirty="0">
                <a:solidFill>
                  <a:srgbClr val="000000"/>
                </a:solidFill>
                <a:ea typeface="宋体" charset="-122"/>
              </a:rPr>
              <a:t>控制器</a:t>
            </a:r>
            <a:endParaRPr lang="en-US" altLang="zh-CN" sz="2000" kern="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9989751-ABEC-4371-AE36-E94E960D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0" y="4293097"/>
            <a:ext cx="9036496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zh-CN" altLang="en-US" sz="2400" kern="0"/>
              <a:t>校验算法：</a:t>
            </a:r>
          </a:p>
          <a:p>
            <a:pPr marL="268288" indent="-268288"/>
            <a:r>
              <a:rPr lang="zh-CN" altLang="en-US" sz="2400" kern="0"/>
              <a:t>校验数据</a:t>
            </a:r>
            <a:r>
              <a:rPr lang="en-US" altLang="zh-CN" sz="2400" kern="0"/>
              <a:t>P</a:t>
            </a:r>
            <a:r>
              <a:rPr lang="zh-CN" altLang="en-US" sz="2400" kern="0"/>
              <a:t>：采用传统的</a:t>
            </a:r>
            <a:r>
              <a:rPr lang="zh-CN" altLang="en-US" sz="2400" kern="0">
                <a:solidFill>
                  <a:srgbClr val="FF0000"/>
                </a:solidFill>
              </a:rPr>
              <a:t>异或</a:t>
            </a:r>
            <a:r>
              <a:rPr lang="zh-CN" altLang="en-US" sz="2400" kern="0"/>
              <a:t>算法生成。</a:t>
            </a:r>
          </a:p>
          <a:p>
            <a:pPr marL="268288" indent="-268288"/>
            <a:r>
              <a:rPr lang="zh-CN" altLang="en-US" sz="2400" kern="0"/>
              <a:t>校验数据</a:t>
            </a:r>
            <a:r>
              <a:rPr lang="en-US" altLang="zh-CN" sz="2400" kern="0"/>
              <a:t>Q</a:t>
            </a:r>
            <a:r>
              <a:rPr lang="zh-CN" altLang="en-US" sz="2400" kern="0"/>
              <a:t>：目前最常见的实现 </a:t>
            </a:r>
            <a:r>
              <a:rPr lang="en-US" altLang="zh-CN" sz="2400" kern="0"/>
              <a:t>——</a:t>
            </a:r>
            <a:br>
              <a:rPr lang="en-US" altLang="zh-CN" sz="2400" kern="0"/>
            </a:br>
            <a:r>
              <a:rPr lang="zh-CN" altLang="en-US" sz="2400" kern="0"/>
              <a:t>基于</a:t>
            </a:r>
            <a:r>
              <a:rPr lang="zh-CN" altLang="en-US" sz="2400" kern="0">
                <a:solidFill>
                  <a:srgbClr val="CC0066"/>
                </a:solidFill>
              </a:rPr>
              <a:t>伽罗华域</a:t>
            </a:r>
            <a:r>
              <a:rPr lang="en-US" altLang="zh-CN" sz="2400" kern="0">
                <a:latin typeface="宋体" charset="-122"/>
              </a:rPr>
              <a:t>(</a:t>
            </a:r>
            <a:r>
              <a:rPr lang="en-US" altLang="zh-CN" sz="2400" kern="0">
                <a:solidFill>
                  <a:srgbClr val="0000FF"/>
                </a:solidFill>
              </a:rPr>
              <a:t>Galois Field</a:t>
            </a:r>
            <a:r>
              <a:rPr lang="en-US" altLang="zh-CN" sz="2400" kern="0">
                <a:latin typeface="宋体" charset="-122"/>
              </a:rPr>
              <a:t>)</a:t>
            </a:r>
            <a:r>
              <a:rPr lang="zh-CN" altLang="en-US" sz="2400" kern="0"/>
              <a:t>的</a:t>
            </a:r>
            <a:r>
              <a:rPr lang="zh-CN" altLang="en-US" sz="2400" kern="0">
                <a:solidFill>
                  <a:srgbClr val="CC0066"/>
                </a:solidFill>
              </a:rPr>
              <a:t>里德</a:t>
            </a:r>
            <a:r>
              <a:rPr lang="en-US" altLang="zh-CN" sz="2400" kern="0">
                <a:solidFill>
                  <a:srgbClr val="CC0066"/>
                </a:solidFill>
              </a:rPr>
              <a:t>-</a:t>
            </a:r>
            <a:r>
              <a:rPr lang="zh-CN" altLang="en-US" sz="2400" kern="0">
                <a:solidFill>
                  <a:srgbClr val="CC0066"/>
                </a:solidFill>
              </a:rPr>
              <a:t>索罗门</a:t>
            </a:r>
            <a:r>
              <a:rPr lang="en-US" altLang="zh-CN" sz="2400" kern="0">
                <a:latin typeface="宋体" charset="-122"/>
              </a:rPr>
              <a:t>(</a:t>
            </a:r>
            <a:r>
              <a:rPr lang="en-US" altLang="zh-CN" sz="2400" kern="0">
                <a:solidFill>
                  <a:srgbClr val="0000FF"/>
                </a:solidFill>
              </a:rPr>
              <a:t>Reed-Solomon</a:t>
            </a:r>
            <a:r>
              <a:rPr lang="en-US" altLang="zh-CN" sz="2400" kern="0">
                <a:latin typeface="宋体" charset="-122"/>
              </a:rPr>
              <a:t>)</a:t>
            </a:r>
            <a:r>
              <a:rPr lang="zh-CN" altLang="en-US" sz="2400" kern="0"/>
              <a:t>算法。</a:t>
            </a:r>
            <a:br>
              <a:rPr lang="zh-CN" altLang="en-US" sz="2400" kern="0"/>
            </a:br>
            <a:r>
              <a:rPr lang="zh-CN" altLang="en-US" sz="2400" kern="0"/>
              <a:t>将数据在</a:t>
            </a:r>
            <a:r>
              <a:rPr lang="zh-CN" altLang="en-US" sz="2400" kern="0">
                <a:solidFill>
                  <a:srgbClr val="CC0066"/>
                </a:solidFill>
              </a:rPr>
              <a:t>伽罗华域</a:t>
            </a:r>
            <a:r>
              <a:rPr lang="zh-CN" altLang="en-US" sz="2400" kern="0"/>
              <a:t>做换算，然后将换算结果</a:t>
            </a:r>
            <a:r>
              <a:rPr lang="zh-CN" altLang="en-US" sz="2400" kern="0">
                <a:solidFill>
                  <a:srgbClr val="CC0000"/>
                </a:solidFill>
              </a:rPr>
              <a:t>异或</a:t>
            </a:r>
            <a:r>
              <a:rPr lang="zh-CN" altLang="en-US" sz="2400" kern="0"/>
              <a:t>。</a:t>
            </a:r>
            <a:br>
              <a:rPr lang="en-US" altLang="zh-CN" sz="2400" kern="0"/>
            </a:br>
            <a:r>
              <a:rPr lang="zh-CN" altLang="en-US" sz="2400" kern="0">
                <a:solidFill>
                  <a:srgbClr val="006600"/>
                </a:solidFill>
              </a:rPr>
              <a:t>代数系统</a:t>
            </a:r>
            <a:r>
              <a:rPr lang="zh-CN" altLang="en-US" sz="2400" kern="0">
                <a:solidFill>
                  <a:srgbClr val="006600"/>
                </a:solidFill>
                <a:latin typeface="+mn-ea"/>
              </a:rPr>
              <a:t>→</a:t>
            </a:r>
            <a:r>
              <a:rPr lang="zh-CN" altLang="en-US" sz="2400" kern="0">
                <a:solidFill>
                  <a:srgbClr val="006600"/>
                </a:solidFill>
              </a:rPr>
              <a:t>群论</a:t>
            </a:r>
            <a:r>
              <a:rPr lang="zh-CN" altLang="en-US" sz="2400" kern="0">
                <a:solidFill>
                  <a:srgbClr val="006600"/>
                </a:solidFill>
                <a:latin typeface="+mn-ea"/>
              </a:rPr>
              <a:t>→</a:t>
            </a:r>
            <a:r>
              <a:rPr lang="zh-CN" altLang="en-US" sz="2400" kern="0">
                <a:solidFill>
                  <a:srgbClr val="006600"/>
                </a:solidFill>
              </a:rPr>
              <a:t>有限域</a:t>
            </a:r>
            <a:endParaRPr lang="zh-CN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214321851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39AEA-F199-4634-AA50-8862A1A3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7506"/>
            <a:ext cx="8362950" cy="1512246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rgbClr val="008000"/>
                </a:solidFill>
                <a:latin typeface="+mj-lt"/>
                <a:ea typeface="黑体" panose="02010609060101010101" pitchFamily="49" charset="-122"/>
                <a:cs typeface="+mj-cs"/>
              </a:rPr>
              <a:t>数据存储顺序</a:t>
            </a:r>
            <a:endParaRPr lang="en-US" altLang="zh-CN">
              <a:solidFill>
                <a:srgbClr val="008000"/>
              </a:solidFill>
              <a:latin typeface="+mj-lt"/>
              <a:ea typeface="黑体" panose="02010609060101010101" pitchFamily="49" charset="-122"/>
              <a:cs typeface="+mj-cs"/>
            </a:endParaRPr>
          </a:p>
          <a:p>
            <a:r>
              <a:rPr lang="zh-CN" altLang="en-US"/>
              <a:t>大端存储</a:t>
            </a:r>
            <a:endParaRPr lang="en-US" altLang="zh-CN"/>
          </a:p>
          <a:p>
            <a:r>
              <a:rPr lang="zh-CN" altLang="en-US"/>
              <a:t>小端存储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57DFB-BDEA-4455-A26E-B1D6FDD2684E}"/>
              </a:ext>
            </a:extLst>
          </p:cNvPr>
          <p:cNvSpPr/>
          <p:nvPr/>
        </p:nvSpPr>
        <p:spPr>
          <a:xfrm>
            <a:off x="3203848" y="476672"/>
            <a:ext cx="5400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en-US" altLang="zh-CN" kern="0">
                <a:ea typeface="楷体" panose="02010609060101010101" pitchFamily="49" charset="-122"/>
              </a:rPr>
              <a:t>【</a:t>
            </a:r>
            <a:r>
              <a:rPr lang="zh-CN" altLang="en-US" kern="0">
                <a:ea typeface="楷体" panose="02010609060101010101" pitchFamily="49" charset="-122"/>
              </a:rPr>
              <a:t>例</a:t>
            </a:r>
            <a:r>
              <a:rPr lang="en-US" altLang="zh-CN" kern="0">
                <a:ea typeface="楷体" panose="02010609060101010101" pitchFamily="49" charset="-122"/>
              </a:rPr>
              <a:t>】</a:t>
            </a: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en-US" altLang="zh-CN" kern="0">
                <a:ea typeface="楷体" panose="02010609060101010101" pitchFamily="49" charset="-122"/>
              </a:rPr>
              <a:t>32</a:t>
            </a:r>
            <a:r>
              <a:rPr lang="zh-CN" altLang="en-US" kern="0">
                <a:ea typeface="楷体" panose="02010609060101010101" pitchFamily="49" charset="-122"/>
              </a:rPr>
              <a:t>位的十六进制数据</a:t>
            </a:r>
            <a:r>
              <a:rPr lang="en-US" altLang="zh-CN" kern="0">
                <a:ea typeface="楷体" panose="02010609060101010101" pitchFamily="49" charset="-122"/>
              </a:rPr>
              <a:t>12345678H</a:t>
            </a:r>
            <a:r>
              <a:rPr lang="zh-CN" altLang="en-US" kern="0">
                <a:ea typeface="楷体" panose="02010609060101010101" pitchFamily="49" charset="-122"/>
              </a:rPr>
              <a:t>，在以字节编址的主存空间</a:t>
            </a:r>
            <a:r>
              <a:rPr lang="en-US" altLang="zh-CN" kern="0">
                <a:ea typeface="楷体" panose="02010609060101010101" pitchFamily="49" charset="-122"/>
              </a:rPr>
              <a:t>4000H</a:t>
            </a:r>
            <a:r>
              <a:rPr lang="zh-CN" altLang="en-US" kern="0">
                <a:ea typeface="楷体" panose="02010609060101010101" pitchFamily="49" charset="-122"/>
              </a:rPr>
              <a:t>开始位置存储：</a:t>
            </a:r>
            <a:endParaRPr lang="en-US" altLang="zh-CN" kern="0">
              <a:ea typeface="楷体" panose="02010609060101010101" pitchFamily="49" charset="-122"/>
            </a:endParaRPr>
          </a:p>
        </p:txBody>
      </p:sp>
      <p:graphicFrame>
        <p:nvGraphicFramePr>
          <p:cNvPr id="6" name="Group 83">
            <a:extLst>
              <a:ext uri="{FF2B5EF4-FFF2-40B4-BE49-F238E27FC236}">
                <a16:creationId xmlns:a16="http://schemas.microsoft.com/office/drawing/2014/main" id="{4958CB5E-9A48-44CC-9746-DC0A20E64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091674"/>
              </p:ext>
            </p:extLst>
          </p:nvPr>
        </p:nvGraphicFramePr>
        <p:xfrm>
          <a:off x="1763688" y="2276872"/>
          <a:ext cx="6815138" cy="2286000"/>
        </p:xfrm>
        <a:graphic>
          <a:graphicData uri="http://schemas.openxmlformats.org/drawingml/2006/table">
            <a:tbl>
              <a:tblPr/>
              <a:tblGrid>
                <a:gridCol w="2751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地址（十六进制）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大端存储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小端存储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4000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12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78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4001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34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56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4002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56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34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4003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78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12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内容占位符 7">
            <a:extLst>
              <a:ext uri="{FF2B5EF4-FFF2-40B4-BE49-F238E27FC236}">
                <a16:creationId xmlns:a16="http://schemas.microsoft.com/office/drawing/2014/main" id="{3178B4E7-BA90-4E70-A5D8-805FE1CDBDF6}"/>
              </a:ext>
            </a:extLst>
          </p:cNvPr>
          <p:cNvSpPr txBox="1">
            <a:spLocks/>
          </p:cNvSpPr>
          <p:nvPr/>
        </p:nvSpPr>
        <p:spPr bwMode="auto">
          <a:xfrm>
            <a:off x="457200" y="5175798"/>
            <a:ext cx="8578850" cy="163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r>
              <a:rPr lang="en-US" altLang="zh-CN" kern="0"/>
              <a:t>16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2</a:t>
            </a:r>
            <a:r>
              <a:rPr lang="zh-CN" altLang="en-US" kern="0"/>
              <a:t>的整数倍。</a:t>
            </a:r>
            <a:endParaRPr lang="en-US" altLang="zh-CN" kern="0"/>
          </a:p>
          <a:p>
            <a:r>
              <a:rPr lang="en-US" altLang="zh-CN" kern="0"/>
              <a:t>32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4</a:t>
            </a:r>
            <a:r>
              <a:rPr lang="zh-CN" altLang="en-US" kern="0"/>
              <a:t>的整数倍。</a:t>
            </a:r>
          </a:p>
          <a:p>
            <a:r>
              <a:rPr lang="en-US" altLang="zh-CN" kern="0"/>
              <a:t>64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8</a:t>
            </a:r>
            <a:r>
              <a:rPr lang="zh-CN" altLang="en-US" kern="0"/>
              <a:t>的整数倍。</a:t>
            </a:r>
          </a:p>
          <a:p>
            <a:endParaRPr lang="zh-CN" altLang="en-US" kern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9605C0D-3474-4F0E-9EC9-A1E230DF22BA}"/>
              </a:ext>
            </a:extLst>
          </p:cNvPr>
          <p:cNvSpPr txBox="1">
            <a:spLocks/>
          </p:cNvSpPr>
          <p:nvPr/>
        </p:nvSpPr>
        <p:spPr bwMode="auto">
          <a:xfrm>
            <a:off x="457201" y="4708500"/>
            <a:ext cx="857885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隶书" pitchFamily="49" charset="-122"/>
              </a:defRPr>
            </a:lvl9pPr>
          </a:lstStyle>
          <a:p>
            <a:r>
              <a:rPr lang="zh-CN" altLang="en-US" kern="0">
                <a:solidFill>
                  <a:srgbClr val="008000"/>
                </a:solidFill>
              </a:rPr>
              <a:t>按字节编址</a:t>
            </a:r>
            <a:r>
              <a:rPr lang="zh-CN" altLang="en-US" kern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kern="0">
                <a:solidFill>
                  <a:srgbClr val="008000"/>
                </a:solidFill>
              </a:rPr>
              <a:t>边界对齐：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7720C0-0553-4507-892A-AB6262CF6BA1}"/>
              </a:ext>
            </a:extLst>
          </p:cNvPr>
          <p:cNvSpPr txBox="1"/>
          <p:nvPr/>
        </p:nvSpPr>
        <p:spPr bwMode="auto">
          <a:xfrm>
            <a:off x="4290044" y="44777"/>
            <a:ext cx="466345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一、数据储存顺序</a:t>
            </a:r>
            <a:r>
              <a:rPr lang="en-US" altLang="zh-CN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</a:p>
        </p:txBody>
      </p:sp>
    </p:spTree>
    <p:extLst>
      <p:ext uri="{BB962C8B-B14F-4D97-AF65-F5344CB8AC3E}">
        <p14:creationId xmlns:p14="http://schemas.microsoft.com/office/powerpoint/2010/main" val="299699470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7720C0-0553-4507-892A-AB6262CF6BA1}"/>
              </a:ext>
            </a:extLst>
          </p:cNvPr>
          <p:cNvSpPr txBox="1"/>
          <p:nvPr/>
        </p:nvSpPr>
        <p:spPr bwMode="auto">
          <a:xfrm>
            <a:off x="4290044" y="44777"/>
            <a:ext cx="466345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一、数据储存顺序</a:t>
            </a:r>
            <a:r>
              <a:rPr lang="en-US" altLang="zh-CN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7A6C4C9-6F85-4CE7-8549-453730623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20610"/>
            <a:ext cx="8362950" cy="4194597"/>
          </a:xfrm>
        </p:spPr>
        <p:txBody>
          <a:bodyPr/>
          <a:lstStyle/>
          <a:p>
            <a:pPr marL="355600" marR="0" lvl="0" indent="-35560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、数据的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小端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存储方式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某计算机存储器按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字节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编址，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采用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小端方式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存放数据。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假定编译器规定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int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型和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short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型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长度分别为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位，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并且数据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按边界对齐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存储。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某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语言程序段如右：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record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变量的首地址为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0xC008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，则地址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0xC008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中内容及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record.c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的地址分别为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______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6859031-120B-407D-8D37-A04E834D4AFF}"/>
              </a:ext>
            </a:extLst>
          </p:cNvPr>
          <p:cNvSpPr txBox="1">
            <a:spLocks/>
          </p:cNvSpPr>
          <p:nvPr/>
        </p:nvSpPr>
        <p:spPr bwMode="auto">
          <a:xfrm>
            <a:off x="5706267" y="1268760"/>
            <a:ext cx="2880320" cy="2339768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struct {</a:t>
            </a:r>
          </a:p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	int	a;</a:t>
            </a:r>
          </a:p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	char	b;</a:t>
            </a:r>
          </a:p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	short	c;</a:t>
            </a:r>
          </a:p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	} record;</a:t>
            </a:r>
          </a:p>
          <a:p>
            <a:pPr algn="l">
              <a:spcBef>
                <a:spcPts val="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kern="0" err="1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record.a</a:t>
            </a:r>
            <a:r>
              <a:rPr lang="en-US" altLang="zh-CN" sz="2400" kern="0">
                <a:solidFill>
                  <a:srgbClr val="000000"/>
                </a:solidFill>
                <a:latin typeface="Consolas" panose="020B0609020204030204" pitchFamily="49" charset="0"/>
                <a:ea typeface="宋体"/>
              </a:rPr>
              <a:t> = 273;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415257-B08F-40F5-9ED9-90F179562A4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472671" y="4797152"/>
            <a:ext cx="302999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vert="horz" wrap="none" rtlCol="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800"/>
              <a:t>A.  0x00</a:t>
            </a:r>
            <a:r>
              <a:rPr lang="zh-CN" altLang="en-US" sz="2800"/>
              <a:t>、</a:t>
            </a:r>
            <a:r>
              <a:rPr lang="en-US" altLang="zh-CN" sz="2800"/>
              <a:t>0xC00D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1C93B8-11D9-41A6-B088-80A3883FB16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4716016" y="4800360"/>
            <a:ext cx="298831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vert="horz" wrap="none" rtlCol="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800"/>
              <a:t>B.  0x00</a:t>
            </a:r>
            <a:r>
              <a:rPr lang="zh-CN" altLang="en-US" sz="2800"/>
              <a:t>、</a:t>
            </a:r>
            <a:r>
              <a:rPr lang="en-US" altLang="zh-CN" sz="2800"/>
              <a:t>0xC00E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8787CB-6391-4D8D-992E-4BCD87A810DF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68735" y="5306342"/>
            <a:ext cx="301018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vert="horz" wrap="none" rtlCol="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800"/>
              <a:t>C.  0x11</a:t>
            </a:r>
            <a:r>
              <a:rPr lang="zh-CN" altLang="en-US" sz="2800"/>
              <a:t>、</a:t>
            </a:r>
            <a:r>
              <a:rPr lang="en-US" altLang="zh-CN" sz="2800"/>
              <a:t>0xC00D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B842E8-FA4B-47B8-B018-0E53C640E23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4716016" y="5306597"/>
            <a:ext cx="2989344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vert="horz" wrap="none" rtlCol="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800"/>
              <a:t>D.  0x11</a:t>
            </a:r>
            <a:r>
              <a:rPr lang="zh-CN" altLang="en-US" sz="2800"/>
              <a:t>、</a:t>
            </a:r>
            <a:r>
              <a:rPr lang="en-US" altLang="zh-CN" sz="2800"/>
              <a:t>0xC00E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2C061D-F728-450F-A7B9-D6F3EBEE3CA5}"/>
              </a:ext>
            </a:extLst>
          </p:cNvPr>
          <p:cNvSpPr/>
          <p:nvPr/>
        </p:nvSpPr>
        <p:spPr bwMode="auto">
          <a:xfrm>
            <a:off x="4737148" y="5363842"/>
            <a:ext cx="2930389" cy="432048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565265-DEBD-4D7A-8009-3EEFD900F076}"/>
              </a:ext>
            </a:extLst>
          </p:cNvPr>
          <p:cNvSpPr txBox="1"/>
          <p:nvPr/>
        </p:nvSpPr>
        <p:spPr bwMode="auto">
          <a:xfrm>
            <a:off x="539552" y="5949280"/>
            <a:ext cx="2002151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>
                <a:solidFill>
                  <a:srgbClr val="0000FF"/>
                </a:solidFill>
              </a:rPr>
              <a:t>273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256+17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A8AE6D-1489-4282-BB54-60E0FB2BD24F}"/>
              </a:ext>
            </a:extLst>
          </p:cNvPr>
          <p:cNvSpPr txBox="1"/>
          <p:nvPr/>
        </p:nvSpPr>
        <p:spPr bwMode="auto">
          <a:xfrm>
            <a:off x="2541703" y="5949280"/>
            <a:ext cx="2096728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100010001</a:t>
            </a:r>
            <a:r>
              <a:rPr lang="en-US" altLang="zh-CN" baseline="-25000">
                <a:solidFill>
                  <a:srgbClr val="0000FF"/>
                </a:solidFill>
              </a:rPr>
              <a:t>2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DD308B-9354-4C25-9748-A3764B78F6FD}"/>
              </a:ext>
            </a:extLst>
          </p:cNvPr>
          <p:cNvSpPr txBox="1"/>
          <p:nvPr/>
        </p:nvSpPr>
        <p:spPr bwMode="auto">
          <a:xfrm>
            <a:off x="4649019" y="5949280"/>
            <a:ext cx="2036263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00000111H</a:t>
            </a:r>
            <a:endParaRPr lang="zh-CN" altLang="en-US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690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A96B5-B493-46E2-9CAB-6BE3356C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8BFAEE-E3C3-41B6-936E-4579E858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719268"/>
            <a:ext cx="8208590" cy="5544697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+mn-cs"/>
              </a:rPr>
              <a:t>指令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+mn-cs"/>
              </a:rPr>
              <a:t>的典型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+mn-cs"/>
              </a:rPr>
              <a:t>分类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+mn-cs"/>
              </a:rPr>
              <a:t>：</a:t>
            </a:r>
            <a:endParaRPr lang="en-US" altLang="zh-CN"/>
          </a:p>
          <a:p>
            <a:pPr>
              <a:spcBef>
                <a:spcPts val="1200"/>
              </a:spcBef>
            </a:pPr>
            <a:r>
              <a:rPr lang="zh-CN" altLang="en-US"/>
              <a:t>数据传送类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算术运算类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逻辑运算类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数据转换类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输入</a:t>
            </a:r>
            <a:r>
              <a:rPr lang="en-US" altLang="zh-CN"/>
              <a:t>/</a:t>
            </a:r>
            <a:r>
              <a:rPr lang="zh-CN" altLang="en-US"/>
              <a:t>输出类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系统控制类</a:t>
            </a:r>
          </a:p>
          <a:p>
            <a:pPr>
              <a:spcBef>
                <a:spcPts val="1200"/>
              </a:spcBef>
            </a:pPr>
            <a:r>
              <a:rPr lang="zh-CN" altLang="en-US"/>
              <a:t>程序控制类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075A6B-3138-445A-B954-9C6FF1A65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1184AA-2CF1-4D39-BADA-E998D9A9BE66}"/>
              </a:ext>
            </a:extLst>
          </p:cNvPr>
          <p:cNvSpPr/>
          <p:nvPr/>
        </p:nvSpPr>
        <p:spPr>
          <a:xfrm>
            <a:off x="3491880" y="3806169"/>
            <a:ext cx="4608512" cy="830997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通常是</a:t>
            </a:r>
            <a:r>
              <a:rPr lang="zh-CN" altLang="en-US" sz="2400" dirty="0">
                <a:solidFill>
                  <a:srgbClr val="FF0000"/>
                </a:solidFill>
              </a:rPr>
              <a:t>特权指令</a:t>
            </a:r>
            <a:r>
              <a:rPr lang="zh-CN" altLang="en-US" sz="2400" dirty="0"/>
              <a:t>，虚存管理、</a:t>
            </a:r>
            <a:br>
              <a:rPr lang="en-US" altLang="zh-CN" sz="2400" dirty="0"/>
            </a:br>
            <a:r>
              <a:rPr lang="zh-CN" altLang="en-US" sz="2400" dirty="0"/>
              <a:t>任务切换、改变处理器工作模式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A551DE-66D7-4B60-BC47-856B5E3F30B5}"/>
              </a:ext>
            </a:extLst>
          </p:cNvPr>
          <p:cNvSpPr/>
          <p:nvPr/>
        </p:nvSpPr>
        <p:spPr>
          <a:xfrm>
            <a:off x="3491880" y="4781470"/>
            <a:ext cx="5527638" cy="1815882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转移指令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800" b="0">
                <a:latin typeface="Consolas" panose="020B0609020204030204" pitchFamily="49" charset="0"/>
                <a:ea typeface="楷体" panose="02010609060101010101" pitchFamily="49" charset="-122"/>
              </a:rPr>
              <a:t>JZ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JMP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循环控制指令</a:t>
            </a:r>
            <a:r>
              <a:rPr lang="en-US" altLang="zh-CN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LOOP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过程调用和</a:t>
            </a: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返回指令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CALL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RET</a:t>
            </a:r>
            <a:endParaRPr lang="zh-CN" altLang="en-US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程序自</a:t>
            </a: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中断指令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INT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C3E917C-4C66-4919-9127-9711EB4F6EA7}"/>
              </a:ext>
            </a:extLst>
          </p:cNvPr>
          <p:cNvCxnSpPr>
            <a:cxnSpLocks/>
          </p:cNvCxnSpPr>
          <p:nvPr/>
        </p:nvCxnSpPr>
        <p:spPr bwMode="auto">
          <a:xfrm>
            <a:off x="2932794" y="5056128"/>
            <a:ext cx="559086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DFFCC00-81DC-4C6B-846B-7A20B1350254}"/>
              </a:ext>
            </a:extLst>
          </p:cNvPr>
          <p:cNvSpPr/>
          <p:nvPr/>
        </p:nvSpPr>
        <p:spPr bwMode="auto">
          <a:xfrm>
            <a:off x="3017441" y="3140968"/>
            <a:ext cx="474439" cy="740200"/>
          </a:xfrm>
          <a:custGeom>
            <a:avLst/>
            <a:gdLst>
              <a:gd name="connsiteX0" fmla="*/ 0 w 752030"/>
              <a:gd name="connsiteY0" fmla="*/ 1572426 h 1572426"/>
              <a:gd name="connsiteX1" fmla="*/ 273466 w 752030"/>
              <a:gd name="connsiteY1" fmla="*/ 1247686 h 1572426"/>
              <a:gd name="connsiteX2" fmla="*/ 324740 w 752030"/>
              <a:gd name="connsiteY2" fmla="*/ 247828 h 1572426"/>
              <a:gd name="connsiteX3" fmla="*/ 752030 w 752030"/>
              <a:gd name="connsiteY3" fmla="*/ 0 h 1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030" h="1572426">
                <a:moveTo>
                  <a:pt x="0" y="1572426"/>
                </a:moveTo>
                <a:cubicBezTo>
                  <a:pt x="109671" y="1520439"/>
                  <a:pt x="219343" y="1468452"/>
                  <a:pt x="273466" y="1247686"/>
                </a:cubicBezTo>
                <a:cubicBezTo>
                  <a:pt x="327589" y="1026920"/>
                  <a:pt x="244979" y="455776"/>
                  <a:pt x="324740" y="247828"/>
                </a:cubicBezTo>
                <a:cubicBezTo>
                  <a:pt x="404501" y="39880"/>
                  <a:pt x="578265" y="19940"/>
                  <a:pt x="752030" y="0"/>
                </a:cubicBezTo>
              </a:path>
            </a:pathLst>
          </a:custGeom>
          <a:noFill/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290905-7DCA-4FAD-A2FF-4665972F8D40}"/>
              </a:ext>
            </a:extLst>
          </p:cNvPr>
          <p:cNvSpPr/>
          <p:nvPr/>
        </p:nvSpPr>
        <p:spPr>
          <a:xfrm>
            <a:off x="3491880" y="2276871"/>
            <a:ext cx="4591534" cy="1384995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lvl="1" algn="l">
              <a:spcBef>
                <a:spcPts val="0"/>
              </a:spcBef>
              <a:buClr>
                <a:srgbClr val="FF00FF"/>
              </a:buClr>
              <a:buSzPct val="80000"/>
            </a:pPr>
            <a:r>
              <a:rPr lang="zh-CN" altLang="en-US" sz="2800" b="0">
                <a:latin typeface="Consolas" panose="020B0609020204030204" pitchFamily="49" charset="0"/>
                <a:ea typeface="楷体" panose="02010609060101010101" pitchFamily="49" charset="-122"/>
              </a:rPr>
              <a:t>访问接口的方式：</a:t>
            </a:r>
            <a:endParaRPr lang="en-US" altLang="zh-CN" sz="2800" b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Consolas" panose="020B0609020204030204" pitchFamily="49" charset="0"/>
                <a:ea typeface="楷体" panose="02010609060101010101" pitchFamily="49" charset="-122"/>
              </a:rPr>
              <a:t>统一编址：</a:t>
            </a:r>
            <a:r>
              <a:rPr lang="en-US" altLang="zh-CN" sz="2800" b="0">
                <a:latin typeface="Consolas" panose="020B0609020204030204" pitchFamily="49" charset="0"/>
                <a:ea typeface="楷体" panose="02010609060101010101" pitchFamily="49" charset="-122"/>
              </a:rPr>
              <a:t>LOAD/STORE</a:t>
            </a: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b="0">
                <a:latin typeface="Consolas" panose="020B0609020204030204" pitchFamily="49" charset="0"/>
                <a:ea typeface="楷体" panose="02010609060101010101" pitchFamily="49" charset="-122"/>
              </a:rPr>
              <a:t>独立编址：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IN/OUT</a:t>
            </a:r>
            <a:endParaRPr lang="zh-CN" altLang="en-US" sz="2800" b="0" dirty="0"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5611E97-C11C-4DDC-8D2B-5CE4033F75B2}"/>
              </a:ext>
            </a:extLst>
          </p:cNvPr>
          <p:cNvCxnSpPr>
            <a:cxnSpLocks/>
          </p:cNvCxnSpPr>
          <p:nvPr/>
        </p:nvCxnSpPr>
        <p:spPr bwMode="auto">
          <a:xfrm>
            <a:off x="2932794" y="4463684"/>
            <a:ext cx="559086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5AE9AC2-3DFB-4BD8-BC4E-F8F98786487B}"/>
              </a:ext>
            </a:extLst>
          </p:cNvPr>
          <p:cNvSpPr txBox="1"/>
          <p:nvPr/>
        </p:nvSpPr>
        <p:spPr bwMode="auto">
          <a:xfrm>
            <a:off x="5537180" y="44777"/>
            <a:ext cx="34163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二、指令功能的设计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DF9715-C540-447B-8EC9-42BAAD5B4164}"/>
              </a:ext>
            </a:extLst>
          </p:cNvPr>
          <p:cNvSpPr txBox="1"/>
          <p:nvPr/>
        </p:nvSpPr>
        <p:spPr bwMode="auto">
          <a:xfrm>
            <a:off x="577968" y="5147135"/>
            <a:ext cx="2747867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（修改PC的内容）</a:t>
            </a:r>
          </a:p>
        </p:txBody>
      </p:sp>
    </p:spTree>
    <p:extLst>
      <p:ext uri="{BB962C8B-B14F-4D97-AF65-F5344CB8AC3E}">
        <p14:creationId xmlns:p14="http://schemas.microsoft.com/office/powerpoint/2010/main" val="109525943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39AEA-F199-4634-AA50-8862A1A3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20610"/>
            <a:ext cx="8362950" cy="5760799"/>
          </a:xfrm>
        </p:spPr>
        <p:txBody>
          <a:bodyPr/>
          <a:lstStyle/>
          <a:p>
            <a:r>
              <a:rPr lang="zh-CN" altLang="en-US"/>
              <a:t>指令格式、操作码设计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定长</a:t>
            </a:r>
            <a:r>
              <a:rPr lang="zh-CN" altLang="en-US"/>
              <a:t>操作码</a:t>
            </a:r>
            <a:endParaRPr lang="en-US" altLang="zh-CN"/>
          </a:p>
          <a:p>
            <a:pPr lvl="2"/>
            <a:r>
              <a:rPr lang="zh-CN" altLang="en-US"/>
              <a:t>指令系统共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zh-CN" altLang="en-US"/>
              <a:t>条指令，所有指令均用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zh-CN" altLang="en-US"/>
              <a:t>位编码，</a:t>
            </a:r>
            <a:br>
              <a:rPr lang="en-US" altLang="zh-CN"/>
            </a:br>
            <a:r>
              <a:rPr lang="zh-CN" altLang="en-US"/>
              <a:t>应满足：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 i="1" baseline="30000">
                <a:solidFill>
                  <a:srgbClr val="FF0000"/>
                </a:solidFill>
              </a:rPr>
              <a:t>n</a:t>
            </a:r>
          </a:p>
          <a:p>
            <a:pPr lvl="2"/>
            <a:r>
              <a:rPr lang="zh-CN" altLang="en-US"/>
              <a:t>从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zh-CN" altLang="en-US"/>
              <a:t>个编码中选出</a:t>
            </a:r>
            <a:r>
              <a:rPr lang="en-US" altLang="zh-CN" i="1"/>
              <a:t>N</a:t>
            </a:r>
            <a:r>
              <a:rPr lang="zh-CN" altLang="en-US"/>
              <a:t>个编码，</a:t>
            </a:r>
            <a:br>
              <a:rPr lang="en-US" altLang="zh-CN"/>
            </a:br>
            <a:r>
              <a:rPr lang="zh-CN" altLang="en-US"/>
              <a:t>用来表示</a:t>
            </a:r>
            <a:r>
              <a:rPr lang="en-US" altLang="zh-CN" i="1"/>
              <a:t>N</a:t>
            </a:r>
            <a:r>
              <a:rPr lang="zh-CN" altLang="en-US"/>
              <a:t>条指令的操作码。</a:t>
            </a:r>
            <a:endParaRPr lang="en-US" altLang="zh-CN"/>
          </a:p>
          <a:p>
            <a:pPr lvl="2"/>
            <a:r>
              <a:rPr lang="zh-CN" altLang="en-US"/>
              <a:t>平均码长为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变长</a:t>
            </a:r>
            <a:r>
              <a:rPr lang="zh-CN" altLang="en-US"/>
              <a:t>操作码</a:t>
            </a:r>
            <a:endParaRPr lang="en-US" altLang="zh-CN"/>
          </a:p>
          <a:p>
            <a:pPr lvl="2"/>
            <a:r>
              <a:rPr lang="zh-CN" altLang="en-US"/>
              <a:t>原则：</a:t>
            </a:r>
            <a:r>
              <a:rPr lang="zh-CN" altLang="en-US">
                <a:solidFill>
                  <a:srgbClr val="CC00CC"/>
                </a:solidFill>
              </a:rPr>
              <a:t>短码不能是长码的前缀</a:t>
            </a:r>
            <a:endParaRPr lang="en-US" altLang="zh-CN">
              <a:solidFill>
                <a:srgbClr val="CC00CC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设计</a:t>
            </a:r>
            <a:endParaRPr lang="en-US" altLang="zh-CN"/>
          </a:p>
          <a:p>
            <a:pPr lvl="2">
              <a:spcBef>
                <a:spcPts val="2400"/>
              </a:spcBef>
            </a:pPr>
            <a:r>
              <a:rPr lang="zh-CN" altLang="en-US"/>
              <a:t>平均码长＝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1">
                <a:extLst>
                  <a:ext uri="{FF2B5EF4-FFF2-40B4-BE49-F238E27FC236}">
                    <a16:creationId xmlns:a16="http://schemas.microsoft.com/office/drawing/2014/main" id="{C3D40548-08B6-4A68-B8D7-97134F9766B4}"/>
                  </a:ext>
                </a:extLst>
              </p:cNvPr>
              <p:cNvSpPr txBox="1"/>
              <p:nvPr/>
            </p:nvSpPr>
            <p:spPr bwMode="auto">
              <a:xfrm>
                <a:off x="2926160" y="5170488"/>
                <a:ext cx="1511300" cy="109378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Object 51">
                <a:extLst>
                  <a:ext uri="{FF2B5EF4-FFF2-40B4-BE49-F238E27FC236}">
                    <a16:creationId xmlns:a16="http://schemas.microsoft.com/office/drawing/2014/main" id="{C3D40548-08B6-4A68-B8D7-97134F976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6160" y="5170488"/>
                <a:ext cx="1511300" cy="1093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B2319C8-E1BB-447D-943F-CB21DBF2CC8B}"/>
              </a:ext>
            </a:extLst>
          </p:cNvPr>
          <p:cNvSpPr/>
          <p:nvPr/>
        </p:nvSpPr>
        <p:spPr>
          <a:xfrm>
            <a:off x="5806802" y="2060848"/>
            <a:ext cx="2879998" cy="1815882"/>
          </a:xfrm>
          <a:prstGeom prst="rect">
            <a:avLst/>
          </a:prstGeom>
          <a:solidFill>
            <a:srgbClr val="FFFFCC"/>
          </a:solidFill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solidFill>
                  <a:srgbClr val="009900"/>
                </a:solidFill>
                <a:ea typeface="楷体" panose="02010609060101010101" pitchFamily="49" charset="-122"/>
              </a:rPr>
              <a:t>优点</a:t>
            </a:r>
            <a:r>
              <a:rPr lang="zh-CN" altLang="en-US" kern="0">
                <a:ea typeface="楷体" panose="02010609060101010101" pitchFamily="49" charset="-122"/>
              </a:rPr>
              <a:t>：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操作码构造简单，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硬件设计简单，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译码速度快。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0F2426-5345-464F-8FBA-B5E39829B55E}"/>
              </a:ext>
            </a:extLst>
          </p:cNvPr>
          <p:cNvSpPr/>
          <p:nvPr/>
        </p:nvSpPr>
        <p:spPr>
          <a:xfrm>
            <a:off x="4979368" y="170330"/>
            <a:ext cx="3707432" cy="1384995"/>
          </a:xfrm>
          <a:prstGeom prst="rect">
            <a:avLst/>
          </a:prstGeom>
          <a:solidFill>
            <a:srgbClr val="FFFFCC"/>
          </a:solidFill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solidFill>
                  <a:srgbClr val="009900"/>
                </a:solidFill>
                <a:ea typeface="楷体" panose="02010609060101010101" pitchFamily="49" charset="-122"/>
              </a:rPr>
              <a:t>缺点</a:t>
            </a:r>
            <a:r>
              <a:rPr lang="zh-CN" altLang="en-US" kern="0">
                <a:ea typeface="楷体" panose="02010609060101010101" pitchFamily="49" charset="-122"/>
              </a:rPr>
              <a:t>：</a:t>
            </a:r>
            <a:endParaRPr lang="en-US" altLang="zh-CN" kern="0">
              <a:ea typeface="楷体" panose="02010609060101010101" pitchFamily="49" charset="-122"/>
            </a:endParaRP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ea typeface="楷体" panose="02010609060101010101" pitchFamily="49" charset="-122"/>
              </a:rPr>
              <a:t>操作码占存储空间大；</a:t>
            </a:r>
            <a:endParaRPr lang="en-US" altLang="zh-CN" kern="0">
              <a:ea typeface="楷体" panose="02010609060101010101" pitchFamily="49" charset="-122"/>
            </a:endParaRP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ea typeface="楷体" panose="02010609060101010101" pitchFamily="49" charset="-122"/>
              </a:rPr>
              <a:t>指令规模扩充受限。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AD6FEB-C6B9-42D5-AB0E-4CAC9BB40E8A}"/>
              </a:ext>
            </a:extLst>
          </p:cNvPr>
          <p:cNvSpPr txBox="1"/>
          <p:nvPr/>
        </p:nvSpPr>
        <p:spPr bwMode="auto">
          <a:xfrm>
            <a:off x="5806802" y="5741055"/>
            <a:ext cx="307007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三、指令格式设计</a:t>
            </a:r>
          </a:p>
        </p:txBody>
      </p:sp>
    </p:spTree>
    <p:extLst>
      <p:ext uri="{BB962C8B-B14F-4D97-AF65-F5344CB8AC3E}">
        <p14:creationId xmlns:p14="http://schemas.microsoft.com/office/powerpoint/2010/main" val="332514181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2C0B36F-F1B0-442E-99ED-068BAF9E57D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57885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【p192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5.3】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某计算机中有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20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80%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80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15%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40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5%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，试设计固定长度和可变长度的编码。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8AE96F4-6F64-486A-9182-D42279107261}"/>
              </a:ext>
            </a:extLst>
          </p:cNvPr>
          <p:cNvSpPr txBox="1">
            <a:spLocks/>
          </p:cNvSpPr>
          <p:nvPr/>
        </p:nvSpPr>
        <p:spPr bwMode="auto">
          <a:xfrm>
            <a:off x="457646" y="2852936"/>
            <a:ext cx="857885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【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解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】</a:t>
            </a: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（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1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）定长操作码：</a:t>
            </a:r>
            <a:endParaRPr lang="en-US" altLang="zh-CN" kern="0">
              <a:solidFill>
                <a:srgbClr val="000000"/>
              </a:solidFill>
              <a:latin typeface="Times New Roman"/>
              <a:ea typeface="楷体" panose="02010609060101010101" pitchFamily="49" charset="-122"/>
            </a:endParaRP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20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＋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80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＋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40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＝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140 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条指令，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8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位操作码长度。</a:t>
            </a:r>
            <a:endParaRPr lang="en-US" altLang="zh-CN" kern="0">
              <a:solidFill>
                <a:srgbClr val="000000"/>
              </a:solidFill>
              <a:latin typeface="Times New Roman"/>
              <a:ea typeface="楷体" panose="02010609060101010101" pitchFamily="49" charset="-122"/>
            </a:endParaRP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从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256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种编码中选出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140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种即可。</a:t>
            </a:r>
            <a:endParaRPr lang="en-US" altLang="zh-CN" kern="0">
              <a:solidFill>
                <a:srgbClr val="000000"/>
              </a:solidFill>
              <a:latin typeface="Times New Roman"/>
              <a:ea typeface="楷体" panose="02010609060101010101" pitchFamily="49" charset="-122"/>
            </a:endParaRPr>
          </a:p>
          <a:p>
            <a:pPr algn="l">
              <a:spcBef>
                <a:spcPts val="1800"/>
              </a:spcBef>
              <a:buClr>
                <a:srgbClr val="00007D"/>
              </a:buClr>
              <a:buSzPct val="75000"/>
            </a:pP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（</a:t>
            </a:r>
            <a:r>
              <a:rPr lang="en-US" altLang="zh-CN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2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）扩展操作码：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4B9F5-F9C2-4D9F-8952-3044453A8913}"/>
              </a:ext>
            </a:extLst>
          </p:cNvPr>
          <p:cNvSpPr txBox="1"/>
          <p:nvPr/>
        </p:nvSpPr>
        <p:spPr bwMode="auto">
          <a:xfrm>
            <a:off x="5952097" y="51751"/>
            <a:ext cx="307007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三、指令格式设计</a:t>
            </a:r>
          </a:p>
        </p:txBody>
      </p:sp>
    </p:spTree>
    <p:extLst>
      <p:ext uri="{BB962C8B-B14F-4D97-AF65-F5344CB8AC3E}">
        <p14:creationId xmlns:p14="http://schemas.microsoft.com/office/powerpoint/2010/main" val="934092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3BA8C7-C6B4-4207-B343-39104F06F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4479D70-D670-4783-A40A-F9B5A6E7BED6}"/>
              </a:ext>
            </a:extLst>
          </p:cNvPr>
          <p:cNvSpPr txBox="1">
            <a:spLocks/>
          </p:cNvSpPr>
          <p:nvPr/>
        </p:nvSpPr>
        <p:spPr bwMode="auto">
          <a:xfrm>
            <a:off x="213065" y="68431"/>
            <a:ext cx="535114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80%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20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15%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80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5%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40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条。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87ACD01-852D-4C95-ACFC-839A49FA475E}"/>
              </a:ext>
            </a:extLst>
          </p:cNvPr>
          <p:cNvSpPr txBox="1">
            <a:spLocks/>
          </p:cNvSpPr>
          <p:nvPr/>
        </p:nvSpPr>
        <p:spPr bwMode="auto">
          <a:xfrm>
            <a:off x="67666" y="1196752"/>
            <a:ext cx="343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1800"/>
              </a:spcBef>
              <a:buClr>
                <a:srgbClr val="00007D"/>
              </a:buClr>
              <a:buSzPct val="75000"/>
            </a:pP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（</a:t>
            </a:r>
            <a:r>
              <a:rPr lang="en-US" altLang="zh-CN" sz="2400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2</a:t>
            </a:r>
            <a:r>
              <a:rPr lang="zh-CN" altLang="en-US" sz="2400" kern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）设计扩展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楷体" panose="02010609060101010101" pitchFamily="49" charset="-122"/>
              </a:rPr>
              <a:t>操作码：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6D5D5C0-053A-4067-B86F-05BA0E3A9D66}"/>
              </a:ext>
            </a:extLst>
          </p:cNvPr>
          <p:cNvSpPr txBox="1">
            <a:spLocks/>
          </p:cNvSpPr>
          <p:nvPr/>
        </p:nvSpPr>
        <p:spPr bwMode="auto">
          <a:xfrm>
            <a:off x="211682" y="1647384"/>
            <a:ext cx="41985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从短码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类指令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开始设计。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D4474A-321D-45F4-872A-C40DA88F53AE}"/>
              </a:ext>
            </a:extLst>
          </p:cNvPr>
          <p:cNvSpPr txBox="1"/>
          <p:nvPr/>
        </p:nvSpPr>
        <p:spPr>
          <a:xfrm>
            <a:off x="218890" y="2103239"/>
            <a:ext cx="33778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求满足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CN" sz="2400" i="1" baseline="50000">
                <a:solidFill>
                  <a:srgbClr val="FF0000"/>
                </a:solidFill>
                <a:latin typeface="Times New Roman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20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的最小</a:t>
            </a:r>
            <a:r>
              <a:rPr lang="en-US" altLang="zh-CN" sz="2400" i="1">
                <a:solidFill>
                  <a:srgbClr val="FF0000"/>
                </a:solidFill>
                <a:latin typeface="Times New Roman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07DF66-A702-450A-8FF4-ACDA74FEB625}"/>
              </a:ext>
            </a:extLst>
          </p:cNvPr>
          <p:cNvSpPr txBox="1"/>
          <p:nvPr/>
        </p:nvSpPr>
        <p:spPr>
          <a:xfrm>
            <a:off x="3290401" y="2103239"/>
            <a:ext cx="14975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最小 </a:t>
            </a:r>
            <a:r>
              <a:rPr lang="en-US" altLang="zh-CN" sz="2400" i="1">
                <a:solidFill>
                  <a:srgbClr val="FF0000"/>
                </a:solidFill>
                <a:latin typeface="Times New Roman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400">
                <a:solidFill>
                  <a:srgbClr val="FF0000"/>
                </a:solidFill>
                <a:latin typeface="Times New Roman"/>
              </a:rPr>
              <a:t>5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253B426-0BD9-4851-901E-2BA878ED0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997000"/>
              </p:ext>
            </p:extLst>
          </p:nvPr>
        </p:nvGraphicFramePr>
        <p:xfrm>
          <a:off x="5364088" y="188640"/>
          <a:ext cx="630787" cy="6339840"/>
        </p:xfrm>
        <a:graphic>
          <a:graphicData uri="http://schemas.openxmlformats.org/drawingml/2006/table">
            <a:tbl>
              <a:tblPr firstRow="1" bandRow="1"/>
              <a:tblGrid>
                <a:gridCol w="630787">
                  <a:extLst>
                    <a:ext uri="{9D8B030D-6E8A-4147-A177-3AD203B41FA5}">
                      <a16:colId xmlns:a16="http://schemas.microsoft.com/office/drawing/2014/main" val="1920129740"/>
                    </a:ext>
                  </a:extLst>
                </a:gridCol>
              </a:tblGrid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00000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26654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00001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58719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00010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03611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00011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434481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00100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44380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00101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170776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00110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43535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00111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21521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01000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62708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01001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80764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01010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173231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01011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72176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01100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20843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01101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89495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01110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937834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01111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522754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10000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32361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10001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23963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10010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22238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10011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46050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10100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9642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10101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07899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10110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7889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10111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17531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11000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58438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11001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220846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11010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911271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11011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577918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11100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0754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11101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50986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11110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150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11111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409286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4FD090F-7F30-4596-AEE8-91A90FC934C1}"/>
              </a:ext>
            </a:extLst>
          </p:cNvPr>
          <p:cNvSpPr/>
          <p:nvPr/>
        </p:nvSpPr>
        <p:spPr bwMode="auto">
          <a:xfrm>
            <a:off x="5364089" y="193872"/>
            <a:ext cx="630786" cy="3932884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30B6EF-614F-4842-8924-957DD780902B}"/>
              </a:ext>
            </a:extLst>
          </p:cNvPr>
          <p:cNvSpPr txBox="1"/>
          <p:nvPr/>
        </p:nvSpPr>
        <p:spPr>
          <a:xfrm>
            <a:off x="5993858" y="1006152"/>
            <a:ext cx="41549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D0BD6F-8A6B-47C5-839B-729FB36ADB59}"/>
              </a:ext>
            </a:extLst>
          </p:cNvPr>
          <p:cNvSpPr txBox="1"/>
          <p:nvPr/>
        </p:nvSpPr>
        <p:spPr>
          <a:xfrm>
            <a:off x="218890" y="2651298"/>
            <a:ext cx="47949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求满足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CN" sz="2400" baseline="3000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20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×2</a:t>
            </a:r>
            <a:r>
              <a:rPr lang="en-US" altLang="zh-CN" sz="2400" i="1" baseline="50000">
                <a:solidFill>
                  <a:srgbClr val="0000FF"/>
                </a:solidFill>
                <a:latin typeface="Times New Roman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80 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的最小</a:t>
            </a:r>
            <a:r>
              <a:rPr lang="en-US" altLang="zh-CN" sz="2400" i="1">
                <a:solidFill>
                  <a:srgbClr val="0000FF"/>
                </a:solidFill>
                <a:latin typeface="Times New Roman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</a:t>
            </a:r>
            <a:endParaRPr lang="en-US" altLang="zh-CN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C409C1-8596-4F2B-ABB7-A1224875772B}"/>
              </a:ext>
            </a:extLst>
          </p:cNvPr>
          <p:cNvSpPr txBox="1"/>
          <p:nvPr/>
        </p:nvSpPr>
        <p:spPr>
          <a:xfrm>
            <a:off x="218890" y="3107416"/>
            <a:ext cx="22829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即：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12×2</a:t>
            </a:r>
            <a:r>
              <a:rPr lang="en-US" altLang="zh-CN" sz="2400" i="1" baseline="50000">
                <a:solidFill>
                  <a:srgbClr val="0000FF"/>
                </a:solidFill>
                <a:latin typeface="Times New Roman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80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4F9C9C-8F72-42A2-A33E-7156C80D87DF}"/>
              </a:ext>
            </a:extLst>
          </p:cNvPr>
          <p:cNvSpPr txBox="1"/>
          <p:nvPr/>
        </p:nvSpPr>
        <p:spPr>
          <a:xfrm>
            <a:off x="2311013" y="3107415"/>
            <a:ext cx="17892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，最小 </a:t>
            </a:r>
            <a:r>
              <a:rPr lang="en-US" altLang="zh-CN" sz="2400" i="1">
                <a:solidFill>
                  <a:srgbClr val="0000FF"/>
                </a:solidFill>
                <a:latin typeface="Times New Roman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400">
                <a:solidFill>
                  <a:srgbClr val="0000FF"/>
                </a:solidFill>
                <a:latin typeface="Times New Roman"/>
              </a:rPr>
              <a:t>3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27AA347-6069-4FBD-B572-C4D701C13163}"/>
              </a:ext>
            </a:extLst>
          </p:cNvPr>
          <p:cNvCxnSpPr>
            <a:cxnSpLocks/>
          </p:cNvCxnSpPr>
          <p:nvPr/>
        </p:nvCxnSpPr>
        <p:spPr bwMode="auto">
          <a:xfrm>
            <a:off x="341646" y="1645576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9AC81A-3289-479C-B649-28AF1CB6872E}"/>
              </a:ext>
            </a:extLst>
          </p:cNvPr>
          <p:cNvCxnSpPr>
            <a:cxnSpLocks/>
          </p:cNvCxnSpPr>
          <p:nvPr/>
        </p:nvCxnSpPr>
        <p:spPr bwMode="auto">
          <a:xfrm>
            <a:off x="341646" y="2599167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D197D74-6A12-4D23-A38A-3322EBA60DA5}"/>
              </a:ext>
            </a:extLst>
          </p:cNvPr>
          <p:cNvCxnSpPr>
            <a:cxnSpLocks/>
          </p:cNvCxnSpPr>
          <p:nvPr/>
        </p:nvCxnSpPr>
        <p:spPr bwMode="auto">
          <a:xfrm>
            <a:off x="341646" y="4014159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BF95035-C1AF-4FEC-9D02-5034CE13BF08}"/>
              </a:ext>
            </a:extLst>
          </p:cNvPr>
          <p:cNvSpPr txBox="1"/>
          <p:nvPr/>
        </p:nvSpPr>
        <p:spPr>
          <a:xfrm>
            <a:off x="216520" y="4063313"/>
            <a:ext cx="37737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((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CN" sz="2400" baseline="3000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20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×2</a:t>
            </a:r>
            <a:r>
              <a:rPr lang="en-US" altLang="zh-CN" sz="2400" baseline="30000">
                <a:solidFill>
                  <a:srgbClr val="0000FF"/>
                </a:solidFill>
                <a:latin typeface="Times New Roman"/>
              </a:rPr>
              <a:t>3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80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×2</a:t>
            </a:r>
            <a:r>
              <a:rPr lang="en-US" altLang="zh-CN" sz="2400" i="1" baseline="50000">
                <a:solidFill>
                  <a:srgbClr val="009900"/>
                </a:solidFill>
                <a:latin typeface="Times New Roman"/>
              </a:rPr>
              <a:t>z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＞40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9EACC6-1A1C-471B-B586-83DA2E9BBEAB}"/>
              </a:ext>
            </a:extLst>
          </p:cNvPr>
          <p:cNvSpPr txBox="1"/>
          <p:nvPr/>
        </p:nvSpPr>
        <p:spPr>
          <a:xfrm>
            <a:off x="218890" y="4519168"/>
            <a:ext cx="2271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即：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16×2</a:t>
            </a:r>
            <a:r>
              <a:rPr lang="en-US" altLang="zh-CN" sz="2400" i="1" baseline="50000">
                <a:solidFill>
                  <a:srgbClr val="009900"/>
                </a:solidFill>
                <a:latin typeface="Times New Roman"/>
              </a:rPr>
              <a:t>z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＞40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2E5ABD-0816-4B13-99F0-EF8509779D19}"/>
              </a:ext>
            </a:extLst>
          </p:cNvPr>
          <p:cNvSpPr txBox="1"/>
          <p:nvPr/>
        </p:nvSpPr>
        <p:spPr>
          <a:xfrm>
            <a:off x="2333467" y="4519168"/>
            <a:ext cx="10775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sz="2400" i="1">
                <a:solidFill>
                  <a:srgbClr val="009900"/>
                </a:solidFill>
                <a:latin typeface="Times New Roman"/>
              </a:rPr>
              <a:t>z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Times New Roman"/>
              </a:rPr>
              <a:t>2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F488F6-5260-4C85-9C10-D8F551393705}"/>
              </a:ext>
            </a:extLst>
          </p:cNvPr>
          <p:cNvSpPr txBox="1"/>
          <p:nvPr/>
        </p:nvSpPr>
        <p:spPr>
          <a:xfrm>
            <a:off x="986471" y="3540932"/>
            <a:ext cx="1521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?×2</a:t>
            </a:r>
            <a:r>
              <a:rPr lang="en-US" altLang="zh-CN" sz="2400" baseline="50000">
                <a:solidFill>
                  <a:srgbClr val="0000FF"/>
                </a:solidFill>
                <a:latin typeface="Times New Roman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80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F90AFF-6519-465A-9B27-FB6E695E74B8}"/>
              </a:ext>
            </a:extLst>
          </p:cNvPr>
          <p:cNvSpPr txBox="1"/>
          <p:nvPr/>
        </p:nvSpPr>
        <p:spPr>
          <a:xfrm>
            <a:off x="2327423" y="3540932"/>
            <a:ext cx="1265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?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10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E9F6C77-7273-4858-9C1F-CD02BF3ADA51}"/>
              </a:ext>
            </a:extLst>
          </p:cNvPr>
          <p:cNvSpPr txBox="1"/>
          <p:nvPr/>
        </p:nvSpPr>
        <p:spPr>
          <a:xfrm>
            <a:off x="6765764" y="993310"/>
            <a:ext cx="862984" cy="3400931"/>
          </a:xfrm>
          <a:prstGeom prst="rect">
            <a:avLst/>
          </a:prstGeom>
          <a:solidFill>
            <a:srgbClr val="FFFFFF"/>
          </a:solidFill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10100 000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10100 001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10100 010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10100 011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10100 100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10100 101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10100 110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10100 111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……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11101 000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11101 001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11101 010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11101 011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11101 100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11101 101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11101 110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11101 111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9250CC4-D6C7-4CBA-850B-5EFD31D87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128421"/>
              </p:ext>
            </p:extLst>
          </p:nvPr>
        </p:nvGraphicFramePr>
        <p:xfrm>
          <a:off x="5994386" y="4151062"/>
          <a:ext cx="467584" cy="1981200"/>
        </p:xfrm>
        <a:graphic>
          <a:graphicData uri="http://schemas.openxmlformats.org/drawingml/2006/table">
            <a:tbl>
              <a:tblPr firstRow="1" bandRow="1"/>
              <a:tblGrid>
                <a:gridCol w="467584">
                  <a:extLst>
                    <a:ext uri="{9D8B030D-6E8A-4147-A177-3AD203B41FA5}">
                      <a16:colId xmlns:a16="http://schemas.microsoft.com/office/drawing/2014/main" val="3083413068"/>
                    </a:ext>
                  </a:extLst>
                </a:gridCol>
              </a:tblGrid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044475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93313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4268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42194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 dirty="0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517579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640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613217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958792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53365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06666"/>
                  </a:ext>
                </a:extLst>
              </a:tr>
            </a:tbl>
          </a:graphicData>
        </a:graphic>
      </p:graphicFrame>
      <p:sp>
        <p:nvSpPr>
          <p:cNvPr id="26" name="箭头: 右 25">
            <a:extLst>
              <a:ext uri="{FF2B5EF4-FFF2-40B4-BE49-F238E27FC236}">
                <a16:creationId xmlns:a16="http://schemas.microsoft.com/office/drawing/2014/main" id="{C5A4F450-22B0-4386-B2F9-D0949C881815}"/>
              </a:ext>
            </a:extLst>
          </p:cNvPr>
          <p:cNvSpPr/>
          <p:nvPr/>
        </p:nvSpPr>
        <p:spPr bwMode="auto">
          <a:xfrm>
            <a:off x="6508052" y="4151062"/>
            <a:ext cx="216024" cy="216024"/>
          </a:xfrm>
          <a:prstGeom prst="rightArrow">
            <a:avLst/>
          </a:prstGeom>
          <a:gradFill rotWithShape="1">
            <a:gsLst>
              <a:gs pos="0">
                <a:srgbClr val="8A8AB9">
                  <a:tint val="50000"/>
                  <a:satMod val="300000"/>
                </a:srgbClr>
              </a:gs>
              <a:gs pos="35000">
                <a:srgbClr val="8A8AB9">
                  <a:tint val="37000"/>
                  <a:satMod val="300000"/>
                </a:srgbClr>
              </a:gs>
              <a:gs pos="100000">
                <a:srgbClr val="8A8AB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8AB9">
                <a:shade val="95000"/>
                <a:satMod val="105000"/>
              </a:srgbClr>
            </a:solidFill>
            <a:prstDash val="solid"/>
            <a:headEnd type="none" w="med" len="me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楷体_GB2312"/>
              <a:cs typeface="+mn-cs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DFFF8B7-CB02-4FFF-B68C-079AC64BA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10527"/>
              </p:ext>
            </p:extLst>
          </p:nvPr>
        </p:nvGraphicFramePr>
        <p:xfrm>
          <a:off x="5993858" y="6132049"/>
          <a:ext cx="467584" cy="396240"/>
        </p:xfrm>
        <a:graphic>
          <a:graphicData uri="http://schemas.openxmlformats.org/drawingml/2006/table">
            <a:tbl>
              <a:tblPr firstRow="1" bandRow="1"/>
              <a:tblGrid>
                <a:gridCol w="467584">
                  <a:extLst>
                    <a:ext uri="{9D8B030D-6E8A-4147-A177-3AD203B41FA5}">
                      <a16:colId xmlns:a16="http://schemas.microsoft.com/office/drawing/2014/main" val="3083413068"/>
                    </a:ext>
                  </a:extLst>
                </a:gridCol>
              </a:tblGrid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53365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XXX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06666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26ED0BE-AF47-49F0-8CF2-90947975CC19}"/>
              </a:ext>
            </a:extLst>
          </p:cNvPr>
          <p:cNvSpPr txBox="1"/>
          <p:nvPr/>
        </p:nvSpPr>
        <p:spPr>
          <a:xfrm>
            <a:off x="973954" y="4924422"/>
            <a:ext cx="1521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?×2</a:t>
            </a:r>
            <a:r>
              <a:rPr lang="en-US" altLang="zh-CN" sz="2400" baseline="50000">
                <a:solidFill>
                  <a:srgbClr val="009900"/>
                </a:solidFill>
                <a:latin typeface="Times New Roman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40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71CDA3-9B04-4342-A086-8033E74D46D2}"/>
              </a:ext>
            </a:extLst>
          </p:cNvPr>
          <p:cNvSpPr txBox="1"/>
          <p:nvPr/>
        </p:nvSpPr>
        <p:spPr>
          <a:xfrm>
            <a:off x="2327423" y="4924348"/>
            <a:ext cx="1265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?</a:t>
            </a:r>
            <a:r>
              <a:rPr lang="zh-CN" altLang="en-US" sz="240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Times New Roman"/>
              </a:rPr>
              <a:t>10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7EF16AD-65DF-4F5A-B5E4-A764901DB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48957"/>
              </p:ext>
            </p:extLst>
          </p:nvPr>
        </p:nvGraphicFramePr>
        <p:xfrm>
          <a:off x="6461792" y="6132049"/>
          <a:ext cx="325180" cy="396240"/>
        </p:xfrm>
        <a:graphic>
          <a:graphicData uri="http://schemas.openxmlformats.org/drawingml/2006/table">
            <a:tbl>
              <a:tblPr firstRow="1" bandRow="1"/>
              <a:tblGrid>
                <a:gridCol w="325180">
                  <a:extLst>
                    <a:ext uri="{9D8B030D-6E8A-4147-A177-3AD203B41FA5}">
                      <a16:colId xmlns:a16="http://schemas.microsoft.com/office/drawing/2014/main" val="3083413068"/>
                    </a:ext>
                  </a:extLst>
                </a:gridCol>
              </a:tblGrid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YY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53365"/>
                  </a:ext>
                </a:extLst>
              </a:tr>
              <a:tr h="785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itchFamily="34" charset="0"/>
                          <a:ea typeface="宋体" pitchFamily="2" charset="-122"/>
                          <a:cs typeface="Arial" pitchFamily="34" charset="0"/>
                        </a:rPr>
                        <a:t>YY</a:t>
                      </a:r>
                      <a:endParaRPr lang="zh-CN" altLang="en-US" sz="1300" b="1">
                        <a:latin typeface="Arial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06666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97F6CE63-8DBE-4901-AD0C-F7ADBC9F5DC6}"/>
              </a:ext>
            </a:extLst>
          </p:cNvPr>
          <p:cNvSpPr/>
          <p:nvPr/>
        </p:nvSpPr>
        <p:spPr bwMode="auto">
          <a:xfrm>
            <a:off x="5364089" y="4170809"/>
            <a:ext cx="1097882" cy="1933574"/>
          </a:xfrm>
          <a:prstGeom prst="rect">
            <a:avLst/>
          </a:prstGeom>
          <a:noFill/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0DD4085-5988-4973-BBCE-2C197991CA46}"/>
              </a:ext>
            </a:extLst>
          </p:cNvPr>
          <p:cNvSpPr/>
          <p:nvPr/>
        </p:nvSpPr>
        <p:spPr bwMode="auto">
          <a:xfrm>
            <a:off x="5364088" y="6159103"/>
            <a:ext cx="1422883" cy="363391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AE72C2-A8D2-4C88-ACDF-1E6AA838AE68}"/>
              </a:ext>
            </a:extLst>
          </p:cNvPr>
          <p:cNvSpPr txBox="1"/>
          <p:nvPr/>
        </p:nvSpPr>
        <p:spPr>
          <a:xfrm>
            <a:off x="8371526" y="4521101"/>
            <a:ext cx="630548" cy="800219"/>
          </a:xfrm>
          <a:prstGeom prst="rect">
            <a:avLst/>
          </a:prstGeom>
          <a:solidFill>
            <a:srgbClr val="FFFFFF"/>
          </a:solidFill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: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        01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       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        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CACAFF">
                  <a:lumMod val="75000"/>
                </a:srgb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F2EC49F-5ADC-43F5-AEE0-36D5104D14BE}"/>
              </a:ext>
            </a:extLst>
          </p:cNvPr>
          <p:cNvSpPr txBox="1"/>
          <p:nvPr/>
        </p:nvSpPr>
        <p:spPr>
          <a:xfrm>
            <a:off x="7151064" y="4526909"/>
            <a:ext cx="1098625" cy="2000548"/>
          </a:xfrm>
          <a:prstGeom prst="rect">
            <a:avLst/>
          </a:prstGeom>
          <a:solidFill>
            <a:srgbClr val="FFFFFF"/>
          </a:solidFill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000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001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010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011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100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101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110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111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11111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</a:rPr>
              <a:t>000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11111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CACAFF">
                    <a:lumMod val="75000"/>
                  </a:srgbClr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/>
              </a:rPr>
              <a:t>001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CACAFF">
                    <a:lumMod val="75000"/>
                  </a:srgbClr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76472313-26EA-4844-B7A6-0529E193F8B2}"/>
              </a:ext>
            </a:extLst>
          </p:cNvPr>
          <p:cNvSpPr/>
          <p:nvPr/>
        </p:nvSpPr>
        <p:spPr bwMode="auto">
          <a:xfrm>
            <a:off x="6821091" y="6222157"/>
            <a:ext cx="284094" cy="216024"/>
          </a:xfrm>
          <a:prstGeom prst="rightArrow">
            <a:avLst/>
          </a:prstGeom>
          <a:gradFill rotWithShape="1">
            <a:gsLst>
              <a:gs pos="0">
                <a:srgbClr val="8A8AB9">
                  <a:tint val="50000"/>
                  <a:satMod val="300000"/>
                </a:srgbClr>
              </a:gs>
              <a:gs pos="35000">
                <a:srgbClr val="8A8AB9">
                  <a:tint val="37000"/>
                  <a:satMod val="300000"/>
                </a:srgbClr>
              </a:gs>
              <a:gs pos="100000">
                <a:srgbClr val="8A8AB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8AB9">
                <a:shade val="95000"/>
                <a:satMod val="105000"/>
              </a:srgbClr>
            </a:solidFill>
            <a:prstDash val="solid"/>
            <a:headEnd type="none" w="med" len="me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楷体_GB231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30E0E4-C517-48EC-BFBE-B99B33747479}"/>
              </a:ext>
            </a:extLst>
          </p:cNvPr>
          <p:cNvSpPr txBox="1"/>
          <p:nvPr/>
        </p:nvSpPr>
        <p:spPr>
          <a:xfrm>
            <a:off x="4974238" y="4012609"/>
            <a:ext cx="389850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缀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D6F9147-0537-4346-8681-F89BA0BAEF45}"/>
              </a:ext>
            </a:extLst>
          </p:cNvPr>
          <p:cNvSpPr txBox="1"/>
          <p:nvPr/>
        </p:nvSpPr>
        <p:spPr>
          <a:xfrm>
            <a:off x="5995034" y="116632"/>
            <a:ext cx="5581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69E9E5-D3CB-4958-8B17-9E61BD10C111}"/>
              </a:ext>
            </a:extLst>
          </p:cNvPr>
          <p:cNvSpPr txBox="1"/>
          <p:nvPr/>
        </p:nvSpPr>
        <p:spPr>
          <a:xfrm>
            <a:off x="7678992" y="980728"/>
            <a:ext cx="5581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2557A88-B470-4B93-90A6-E9E40966A07E}"/>
              </a:ext>
            </a:extLst>
          </p:cNvPr>
          <p:cNvSpPr txBox="1"/>
          <p:nvPr/>
        </p:nvSpPr>
        <p:spPr>
          <a:xfrm>
            <a:off x="8202888" y="5795673"/>
            <a:ext cx="7008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ED80819-AC87-404C-A905-BC40E7122F36}"/>
              </a:ext>
            </a:extLst>
          </p:cNvPr>
          <p:cNvCxnSpPr>
            <a:cxnSpLocks/>
          </p:cNvCxnSpPr>
          <p:nvPr/>
        </p:nvCxnSpPr>
        <p:spPr bwMode="auto">
          <a:xfrm>
            <a:off x="341646" y="5386013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CC0268E-81D6-495F-99D4-F901C9342F49}"/>
              </a:ext>
            </a:extLst>
          </p:cNvPr>
          <p:cNvSpPr txBox="1"/>
          <p:nvPr/>
        </p:nvSpPr>
        <p:spPr>
          <a:xfrm>
            <a:off x="221181" y="5436688"/>
            <a:ext cx="23503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平均操作码长度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FFC6515-D187-4B0E-A22C-5BDBCD841482}"/>
              </a:ext>
            </a:extLst>
          </p:cNvPr>
          <p:cNvSpPr txBox="1"/>
          <p:nvPr/>
        </p:nvSpPr>
        <p:spPr>
          <a:xfrm>
            <a:off x="221181" y="5805264"/>
            <a:ext cx="44262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＝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5×80%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8×15%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10×5%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D64CD69-4F33-4179-B135-3148AEEABA3A}"/>
              </a:ext>
            </a:extLst>
          </p:cNvPr>
          <p:cNvSpPr txBox="1"/>
          <p:nvPr/>
        </p:nvSpPr>
        <p:spPr>
          <a:xfrm>
            <a:off x="221181" y="6182789"/>
            <a:ext cx="18838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＝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5.7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（位）</a:t>
            </a:r>
          </a:p>
        </p:txBody>
      </p:sp>
    </p:spTree>
    <p:extLst>
      <p:ext uri="{BB962C8B-B14F-4D97-AF65-F5344CB8AC3E}">
        <p14:creationId xmlns:p14="http://schemas.microsoft.com/office/powerpoint/2010/main" val="42719216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12" grpId="0"/>
      <p:bldP spid="13" grpId="0"/>
      <p:bldP spid="14" grpId="0"/>
      <p:bldP spid="15" grpId="0"/>
      <p:bldP spid="19" grpId="0"/>
      <p:bldP spid="20" grpId="0"/>
      <p:bldP spid="21" grpId="0"/>
      <p:bldP spid="22" grpId="0"/>
      <p:bldP spid="23" grpId="0"/>
      <p:bldP spid="24" grpId="0" animBg="1"/>
      <p:bldP spid="26" grpId="0" animBg="1"/>
      <p:bldP spid="28" grpId="0"/>
      <p:bldP spid="29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1" grpId="0"/>
      <p:bldP spid="42" grpId="0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  <a:pPr/>
              <a:t>30</a:t>
            </a:fld>
            <a:endParaRPr lang="en-US" altLang="zh-CN"/>
          </a:p>
        </p:txBody>
      </p:sp>
      <p:sp>
        <p:nvSpPr>
          <p:cNvPr id="111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450"/>
            <a:ext cx="8353425" cy="576263"/>
          </a:xfrm>
        </p:spPr>
        <p:txBody>
          <a:bodyPr/>
          <a:lstStyle/>
          <a:p>
            <a:r>
              <a:rPr lang="en-US" altLang="zh-CN" sz="2800" dirty="0">
                <a:ea typeface="黑体" pitchFamily="2" charset="-122"/>
              </a:rPr>
              <a:t>Page 211</a:t>
            </a:r>
            <a:r>
              <a:rPr lang="zh-CN" altLang="en-US" sz="2800" dirty="0">
                <a:ea typeface="黑体" pitchFamily="2" charset="-122"/>
              </a:rPr>
              <a:t>～</a:t>
            </a:r>
            <a:r>
              <a:rPr lang="en-US" altLang="zh-CN" sz="2800" dirty="0">
                <a:ea typeface="黑体" pitchFamily="2" charset="-122"/>
              </a:rPr>
              <a:t>212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ea typeface="黑体" pitchFamily="2" charset="-122"/>
              </a:rPr>
              <a:t>习题 </a:t>
            </a:r>
            <a:r>
              <a:rPr lang="en-US" altLang="zh-CN" sz="2800" dirty="0">
                <a:ea typeface="黑体" pitchFamily="2" charset="-122"/>
              </a:rPr>
              <a:t>5.8</a:t>
            </a:r>
            <a:endParaRPr lang="en-US" altLang="zh-CN" sz="2800" dirty="0">
              <a:solidFill>
                <a:srgbClr val="006600"/>
              </a:solidFill>
              <a:ea typeface="黑体" pitchFamily="2" charset="-122"/>
            </a:endParaRPr>
          </a:p>
        </p:txBody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497887" cy="3095625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/>
              <a:t>假设某型号的计算机共有</a:t>
            </a:r>
            <a:r>
              <a:rPr lang="en-US" altLang="zh-CN">
                <a:solidFill>
                  <a:srgbClr val="D60093"/>
                </a:solidFill>
              </a:rPr>
              <a:t>14</a:t>
            </a:r>
            <a:r>
              <a:rPr lang="zh-CN" altLang="en-US">
                <a:solidFill>
                  <a:srgbClr val="D60093"/>
                </a:solidFill>
              </a:rPr>
              <a:t>条</a:t>
            </a:r>
            <a:r>
              <a:rPr lang="zh-CN" altLang="en-US"/>
              <a:t>指令，各条指令的</a:t>
            </a:r>
            <a:r>
              <a:rPr lang="zh-CN" altLang="en-US">
                <a:solidFill>
                  <a:srgbClr val="D60093"/>
                </a:solidFill>
              </a:rPr>
              <a:t>使用频率</a:t>
            </a:r>
            <a:r>
              <a:rPr lang="zh-CN" altLang="en-US"/>
              <a:t>分别为：</a:t>
            </a:r>
            <a:r>
              <a:rPr lang="en-US" altLang="zh-CN"/>
              <a:t>0.01</a:t>
            </a:r>
            <a:r>
              <a:rPr lang="zh-CN" altLang="en-US"/>
              <a:t>、</a:t>
            </a:r>
            <a:r>
              <a:rPr lang="en-US" altLang="zh-CN"/>
              <a:t>0.15</a:t>
            </a:r>
            <a:r>
              <a:rPr lang="zh-CN" altLang="en-US"/>
              <a:t>、</a:t>
            </a:r>
            <a:r>
              <a:rPr lang="en-US" altLang="zh-CN"/>
              <a:t>0.12</a:t>
            </a:r>
            <a:r>
              <a:rPr lang="zh-CN" altLang="en-US"/>
              <a:t>、</a:t>
            </a:r>
            <a:r>
              <a:rPr lang="en-US" altLang="zh-CN"/>
              <a:t>0.03</a:t>
            </a:r>
            <a:r>
              <a:rPr lang="zh-CN" altLang="en-US"/>
              <a:t>、</a:t>
            </a:r>
            <a:r>
              <a:rPr lang="en-US" altLang="zh-CN"/>
              <a:t>0.02</a:t>
            </a:r>
            <a:r>
              <a:rPr lang="zh-CN" altLang="en-US"/>
              <a:t>、</a:t>
            </a:r>
            <a:r>
              <a:rPr lang="en-US" altLang="zh-CN"/>
              <a:t>0.04</a:t>
            </a:r>
            <a:r>
              <a:rPr lang="zh-CN" altLang="en-US"/>
              <a:t>、</a:t>
            </a:r>
            <a:r>
              <a:rPr lang="en-US" altLang="zh-CN"/>
              <a:t>0.02</a:t>
            </a:r>
            <a:r>
              <a:rPr lang="zh-CN" altLang="en-US"/>
              <a:t>、</a:t>
            </a:r>
            <a:r>
              <a:rPr lang="en-US" altLang="zh-CN"/>
              <a:t>0.04</a:t>
            </a:r>
            <a:r>
              <a:rPr lang="zh-CN" altLang="en-US"/>
              <a:t>、</a:t>
            </a:r>
            <a:r>
              <a:rPr lang="en-US" altLang="zh-CN"/>
              <a:t>0.01</a:t>
            </a:r>
            <a:r>
              <a:rPr lang="zh-CN" altLang="en-US"/>
              <a:t>、</a:t>
            </a:r>
            <a:r>
              <a:rPr lang="en-US" altLang="zh-CN"/>
              <a:t>0.13</a:t>
            </a:r>
            <a:r>
              <a:rPr lang="zh-CN" altLang="en-US"/>
              <a:t>、</a:t>
            </a:r>
            <a:r>
              <a:rPr lang="en-US" altLang="zh-CN"/>
              <a:t>0.15</a:t>
            </a:r>
            <a:r>
              <a:rPr lang="zh-CN" altLang="en-US"/>
              <a:t>、</a:t>
            </a:r>
            <a:r>
              <a:rPr lang="en-US" altLang="zh-CN"/>
              <a:t>0.14</a:t>
            </a:r>
            <a:r>
              <a:rPr lang="zh-CN" altLang="en-US"/>
              <a:t>、</a:t>
            </a:r>
            <a:r>
              <a:rPr lang="en-US" altLang="zh-CN"/>
              <a:t>0.11</a:t>
            </a:r>
            <a:r>
              <a:rPr lang="zh-CN" altLang="en-US"/>
              <a:t>、</a:t>
            </a:r>
            <a:r>
              <a:rPr lang="en-US" altLang="zh-CN"/>
              <a:t>0.03</a:t>
            </a:r>
            <a:r>
              <a:rPr lang="zh-CN" altLang="en-US"/>
              <a:t>。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/>
              <a:t>试给出</a:t>
            </a:r>
            <a:r>
              <a:rPr lang="zh-CN" altLang="en-US">
                <a:solidFill>
                  <a:srgbClr val="FF0000"/>
                </a:solidFill>
              </a:rPr>
              <a:t>定长</a:t>
            </a:r>
            <a:r>
              <a:rPr lang="zh-CN" altLang="en-US"/>
              <a:t>、只能有</a:t>
            </a: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 两种编码方案，并计算各种方案的</a:t>
            </a:r>
            <a:r>
              <a:rPr lang="zh-CN" altLang="en-US">
                <a:solidFill>
                  <a:srgbClr val="008000"/>
                </a:solidFill>
              </a:rPr>
              <a:t>平均码长</a:t>
            </a:r>
            <a:r>
              <a:rPr lang="zh-CN" altLang="en-US"/>
              <a:t>。</a:t>
            </a:r>
          </a:p>
          <a:p>
            <a:pPr marL="0" indent="0">
              <a:spcBef>
                <a:spcPts val="1800"/>
              </a:spcBef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</p:txBody>
      </p:sp>
      <p:graphicFrame>
        <p:nvGraphicFramePr>
          <p:cNvPr id="1112136" name="Group 72"/>
          <p:cNvGraphicFramePr>
            <a:graphicFrameLocks noGrp="1"/>
          </p:cNvGraphicFramePr>
          <p:nvPr/>
        </p:nvGraphicFramePr>
        <p:xfrm>
          <a:off x="539750" y="3767138"/>
          <a:ext cx="8208963" cy="1828800"/>
        </p:xfrm>
        <a:graphic>
          <a:graphicData uri="http://schemas.openxmlformats.org/drawingml/2006/table">
            <a:tbl>
              <a:tblPr/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1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  <a:pPr/>
              <a:t>31</a:t>
            </a:fld>
            <a:endParaRPr lang="en-US" altLang="zh-CN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定长</a:t>
            </a:r>
            <a:r>
              <a:rPr lang="zh-CN" altLang="en-US"/>
              <a:t>编码：</a:t>
            </a:r>
            <a:endParaRPr lang="en-US" altLang="zh-CN"/>
          </a:p>
        </p:txBody>
      </p:sp>
      <p:graphicFrame>
        <p:nvGraphicFramePr>
          <p:cNvPr id="1114115" name="Group 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14261" name="Rectangle 149"/>
          <p:cNvSpPr>
            <a:spLocks noChangeArrowheads="1"/>
          </p:cNvSpPr>
          <p:nvPr/>
        </p:nvSpPr>
        <p:spPr bwMode="auto">
          <a:xfrm>
            <a:off x="395288" y="4652963"/>
            <a:ext cx="80645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/>
              <a:t>其操作码的平均码长：</a:t>
            </a:r>
            <a:r>
              <a:rPr lang="en-US" altLang="zh-CN" sz="2800"/>
              <a:t>H</a:t>
            </a:r>
            <a:r>
              <a:rPr lang="zh-CN" altLang="en-US" sz="2800"/>
              <a:t>＝</a:t>
            </a:r>
            <a:r>
              <a:rPr lang="en-US" altLang="zh-CN" sz="2800"/>
              <a:t>4</a:t>
            </a:r>
            <a:r>
              <a:rPr lang="zh-CN" altLang="en-US" sz="2800"/>
              <a:t>（位）。</a:t>
            </a:r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111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：</a:t>
            </a:r>
            <a:endParaRPr lang="en-US" altLang="zh-CN"/>
          </a:p>
        </p:txBody>
      </p:sp>
      <p:graphicFrame>
        <p:nvGraphicFramePr>
          <p:cNvPr id="1113501" name="Group 41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任意多边形 6"/>
          <p:cNvSpPr/>
          <p:nvPr/>
        </p:nvSpPr>
        <p:spPr bwMode="auto">
          <a:xfrm>
            <a:off x="1835697" y="680314"/>
            <a:ext cx="6905968" cy="3540774"/>
          </a:xfrm>
          <a:custGeom>
            <a:avLst/>
            <a:gdLst>
              <a:gd name="connsiteX0" fmla="*/ 5991149 w 6883603"/>
              <a:gd name="connsiteY0" fmla="*/ 0 h 3540556"/>
              <a:gd name="connsiteX1" fmla="*/ 6876288 w 6883603"/>
              <a:gd name="connsiteY1" fmla="*/ 0 h 3540556"/>
              <a:gd name="connsiteX2" fmla="*/ 6883603 w 6883603"/>
              <a:gd name="connsiteY2" fmla="*/ 3540556 h 3540556"/>
              <a:gd name="connsiteX3" fmla="*/ 0 w 6883603"/>
              <a:gd name="connsiteY3" fmla="*/ 3540556 h 3540556"/>
              <a:gd name="connsiteX4" fmla="*/ 0 w 6883603"/>
              <a:gd name="connsiteY4" fmla="*/ 1858060 h 3540556"/>
              <a:gd name="connsiteX5" fmla="*/ 5991149 w 6883603"/>
              <a:gd name="connsiteY5" fmla="*/ 1858060 h 3540556"/>
              <a:gd name="connsiteX6" fmla="*/ 5991149 w 6883603"/>
              <a:gd name="connsiteY6" fmla="*/ 0 h 354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3603" h="3540556">
                <a:moveTo>
                  <a:pt x="5991149" y="0"/>
                </a:moveTo>
                <a:lnTo>
                  <a:pt x="6876288" y="0"/>
                </a:lnTo>
                <a:cubicBezTo>
                  <a:pt x="6878726" y="1180185"/>
                  <a:pt x="6881165" y="2360371"/>
                  <a:pt x="6883603" y="3540556"/>
                </a:cubicBezTo>
                <a:lnTo>
                  <a:pt x="0" y="3540556"/>
                </a:lnTo>
                <a:lnTo>
                  <a:pt x="0" y="1858060"/>
                </a:lnTo>
                <a:lnTo>
                  <a:pt x="5991149" y="1858060"/>
                </a:lnTo>
                <a:lnTo>
                  <a:pt x="5991149" y="0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835696" y="692696"/>
            <a:ext cx="5904656" cy="1728192"/>
          </a:xfrm>
          <a:prstGeom prst="rect">
            <a:avLst/>
          </a:prstGeom>
          <a:solidFill>
            <a:srgbClr val="FF3399">
              <a:alpha val="29804"/>
            </a:srgbClr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56176" y="2310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大概率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8304" y="429309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小概率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  <a:pPr/>
              <a:t>33</a:t>
            </a:fld>
            <a:endParaRPr lang="en-US" altLang="zh-CN"/>
          </a:p>
        </p:txBody>
      </p:sp>
      <p:sp>
        <p:nvSpPr>
          <p:cNvPr id="111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：</a:t>
            </a:r>
            <a:endParaRPr lang="en-US" altLang="zh-CN"/>
          </a:p>
        </p:txBody>
      </p:sp>
      <p:graphicFrame>
        <p:nvGraphicFramePr>
          <p:cNvPr id="1113501" name="Group 41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概率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码长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13499" name="Rectangle 411"/>
          <p:cNvSpPr>
            <a:spLocks noChangeArrowheads="1"/>
          </p:cNvSpPr>
          <p:nvPr/>
        </p:nvSpPr>
        <p:spPr bwMode="auto">
          <a:xfrm>
            <a:off x="395288" y="4652963"/>
            <a:ext cx="8353176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/>
              <a:t>其操作码平均码长为：</a:t>
            </a:r>
            <a:r>
              <a:rPr lang="en-US" altLang="zh-CN" sz="2800"/>
              <a:t>H</a:t>
            </a:r>
            <a:r>
              <a:rPr lang="zh-CN" altLang="en-US" sz="2800"/>
              <a:t>＝</a:t>
            </a:r>
          </a:p>
          <a:p>
            <a:pPr algn="l">
              <a:spcBef>
                <a:spcPct val="9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H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 sz="2400">
                <a:solidFill>
                  <a:srgbClr val="0000FF"/>
                </a:solidFill>
              </a:rPr>
              <a:t>0.15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0.15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0.11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en-US" altLang="zh-CN" sz="2400">
                <a:solidFill>
                  <a:srgbClr val="0000FF"/>
                </a:solidFill>
              </a:rPr>
              <a:t>×3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br>
              <a:rPr lang="zh-CN" altLang="en-US" sz="2400">
                <a:solidFill>
                  <a:srgbClr val="0000FF"/>
                </a:solidFill>
              </a:rPr>
            </a:br>
            <a:r>
              <a:rPr lang="zh-CN" altLang="en-US" sz="2400">
                <a:solidFill>
                  <a:srgbClr val="0000FF"/>
                </a:solidFill>
              </a:rPr>
              <a:t>       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 sz="2400">
                <a:solidFill>
                  <a:srgbClr val="0000FF"/>
                </a:solidFill>
              </a:rPr>
              <a:t>0.04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0.01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0.01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en-US" altLang="zh-CN" sz="2400">
                <a:solidFill>
                  <a:srgbClr val="0000FF"/>
                </a:solidFill>
              </a:rPr>
              <a:t>×5</a:t>
            </a:r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>
                <a:solidFill>
                  <a:srgbClr val="0000FF"/>
                </a:solidFill>
              </a:rPr>
              <a:t>   ＝</a:t>
            </a:r>
            <a:r>
              <a:rPr lang="en-US" altLang="zh-CN" sz="2400">
                <a:solidFill>
                  <a:srgbClr val="0000FF"/>
                </a:solidFill>
              </a:rPr>
              <a:t>0.8×3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0.2×5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3.4</a:t>
            </a:r>
            <a:r>
              <a:rPr lang="zh-CN" altLang="en-US" sz="2400">
                <a:solidFill>
                  <a:srgbClr val="0000FF"/>
                </a:solidFill>
              </a:rPr>
              <a:t>（位）</a:t>
            </a:r>
            <a:endParaRPr lang="en-US" altLang="zh-CN">
              <a:solidFill>
                <a:srgbClr val="0000FF"/>
              </a:solidFill>
            </a:endParaRPr>
          </a:p>
        </p:txBody>
      </p:sp>
      <p:graphicFrame>
        <p:nvGraphicFramePr>
          <p:cNvPr id="1113500" name="Object 412"/>
          <p:cNvGraphicFramePr>
            <a:graphicFrameLocks noChangeAspect="1"/>
          </p:cNvGraphicFramePr>
          <p:nvPr/>
        </p:nvGraphicFramePr>
        <p:xfrm>
          <a:off x="4643438" y="4292600"/>
          <a:ext cx="12954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公式" r:id="rId3" imgW="469800" imgH="431640" progId="Equation.3">
                  <p:embed/>
                </p:oleObj>
              </mc:Choice>
              <mc:Fallback>
                <p:oleObj name="公式" r:id="rId3" imgW="469800" imgH="431640" progId="Equation.3">
                  <p:embed/>
                  <p:pic>
                    <p:nvPicPr>
                      <p:cNvPr id="1113500" name="Object 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92600"/>
                        <a:ext cx="1295400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 bwMode="auto">
          <a:xfrm>
            <a:off x="1835697" y="680314"/>
            <a:ext cx="6905968" cy="3540774"/>
          </a:xfrm>
          <a:custGeom>
            <a:avLst/>
            <a:gdLst>
              <a:gd name="connsiteX0" fmla="*/ 5991149 w 6883603"/>
              <a:gd name="connsiteY0" fmla="*/ 0 h 3540556"/>
              <a:gd name="connsiteX1" fmla="*/ 6876288 w 6883603"/>
              <a:gd name="connsiteY1" fmla="*/ 0 h 3540556"/>
              <a:gd name="connsiteX2" fmla="*/ 6883603 w 6883603"/>
              <a:gd name="connsiteY2" fmla="*/ 3540556 h 3540556"/>
              <a:gd name="connsiteX3" fmla="*/ 0 w 6883603"/>
              <a:gd name="connsiteY3" fmla="*/ 3540556 h 3540556"/>
              <a:gd name="connsiteX4" fmla="*/ 0 w 6883603"/>
              <a:gd name="connsiteY4" fmla="*/ 1858060 h 3540556"/>
              <a:gd name="connsiteX5" fmla="*/ 5991149 w 6883603"/>
              <a:gd name="connsiteY5" fmla="*/ 1858060 h 3540556"/>
              <a:gd name="connsiteX6" fmla="*/ 5991149 w 6883603"/>
              <a:gd name="connsiteY6" fmla="*/ 0 h 354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3603" h="3540556">
                <a:moveTo>
                  <a:pt x="5991149" y="0"/>
                </a:moveTo>
                <a:lnTo>
                  <a:pt x="6876288" y="0"/>
                </a:lnTo>
                <a:cubicBezTo>
                  <a:pt x="6878726" y="1180185"/>
                  <a:pt x="6881165" y="2360371"/>
                  <a:pt x="6883603" y="3540556"/>
                </a:cubicBezTo>
                <a:lnTo>
                  <a:pt x="0" y="3540556"/>
                </a:lnTo>
                <a:lnTo>
                  <a:pt x="0" y="1858060"/>
                </a:lnTo>
                <a:lnTo>
                  <a:pt x="5991149" y="1858060"/>
                </a:lnTo>
                <a:lnTo>
                  <a:pt x="5991149" y="0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835696" y="692696"/>
            <a:ext cx="5904656" cy="1728192"/>
          </a:xfrm>
          <a:prstGeom prst="rect">
            <a:avLst/>
          </a:prstGeom>
          <a:solidFill>
            <a:srgbClr val="FF3399">
              <a:alpha val="29804"/>
            </a:srgbClr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56176" y="2310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大概率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8304" y="429309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小概率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3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13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内容占位符 10">
            <a:extLst>
              <a:ext uri="{FF2B5EF4-FFF2-40B4-BE49-F238E27FC236}">
                <a16:creationId xmlns:a16="http://schemas.microsoft.com/office/drawing/2014/main" id="{D4C8FC97-99D0-49B6-8D57-0ABEE73BA94F}"/>
              </a:ext>
            </a:extLst>
          </p:cNvPr>
          <p:cNvSpPr txBox="1">
            <a:spLocks/>
          </p:cNvSpPr>
          <p:nvPr/>
        </p:nvSpPr>
        <p:spPr bwMode="auto">
          <a:xfrm>
            <a:off x="3852045" y="3929022"/>
            <a:ext cx="238660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速度快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指令长度短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E78006CD-8A1D-44A8-93FA-A949A76A7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896453"/>
            <a:ext cx="2520379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立即寻址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9ED1F37-6CB8-4324-872A-B8DA2D5F1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175579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A343244-3B08-4566-B69C-CAE4A019B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639" y="2175579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CE2C5CB5-4A82-437C-80C2-24408348A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672342"/>
            <a:ext cx="252095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0FF70BC-791B-4B6F-9090-BB3F973F4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593" y="2679958"/>
            <a:ext cx="1439863" cy="1944687"/>
          </a:xfrm>
          <a:prstGeom prst="rect">
            <a:avLst/>
          </a:prstGeom>
          <a:solidFill>
            <a:srgbClr val="E5F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8DF79543-25E9-4440-A89D-60C2631E4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3544525"/>
            <a:ext cx="25923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寄存器寻址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4C91D9F-4A63-460B-97F1-937E66C3F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043" y="2175133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ADCACB8-0927-487B-9881-E615C43EF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131" y="2175133"/>
            <a:ext cx="1727200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寄存器编号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2364D5F9-D86F-4DFF-B855-E766DF27A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043" y="1671895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83343EC-61C8-4BB3-9D91-7844BC701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593" y="3183195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B27E81DC-267A-43CB-92EF-8C3F78D71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593" y="2176720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寄存器组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80FB0271-20AA-43B4-9DFD-16BEF17C7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143" y="2679958"/>
            <a:ext cx="0" cy="792162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ADA8BFA9-A2BF-423C-B6DE-12EAE2833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143" y="3472120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DD8E7A-418D-4B19-8F65-28976B40B6BC}"/>
              </a:ext>
            </a:extLst>
          </p:cNvPr>
          <p:cNvSpPr/>
          <p:nvPr/>
        </p:nvSpPr>
        <p:spPr bwMode="auto">
          <a:xfrm>
            <a:off x="3707904" y="1671895"/>
            <a:ext cx="5128365" cy="3125257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BED59B-9139-4315-842A-468393283142}"/>
              </a:ext>
            </a:extLst>
          </p:cNvPr>
          <p:cNvSpPr/>
          <p:nvPr/>
        </p:nvSpPr>
        <p:spPr>
          <a:xfrm>
            <a:off x="6588224" y="1281184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76B2F5-6717-4BA6-8503-6FCDCC6E0CE9}"/>
              </a:ext>
            </a:extLst>
          </p:cNvPr>
          <p:cNvSpPr/>
          <p:nvPr/>
        </p:nvSpPr>
        <p:spPr bwMode="auto">
          <a:xfrm>
            <a:off x="355293" y="1677176"/>
            <a:ext cx="2920488" cy="1204012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D6C604-CF77-4D90-AFAD-97F37033F9AA}"/>
              </a:ext>
            </a:extLst>
          </p:cNvPr>
          <p:cNvSpPr/>
          <p:nvPr/>
        </p:nvSpPr>
        <p:spPr>
          <a:xfrm>
            <a:off x="2555776" y="2855434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0B71B03-A929-4261-A1FA-7F4DC4BD33FB}"/>
              </a:ext>
            </a:extLst>
          </p:cNvPr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CFBA1C-1FCE-4986-B951-96E936AFB365}"/>
              </a:ext>
            </a:extLst>
          </p:cNvPr>
          <p:cNvSpPr txBox="1"/>
          <p:nvPr/>
        </p:nvSpPr>
        <p:spPr bwMode="auto">
          <a:xfrm>
            <a:off x="351106" y="5373216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取得操作数最</a:t>
            </a:r>
            <a:r>
              <a:rPr lang="zh-CN" altLang="en-US" kern="1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快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168388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AEF4F791-62C3-451D-887C-C2934E19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1268288"/>
            <a:ext cx="1439863" cy="1944688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D1ECF15B-403F-49B0-9D09-4D0C1FF7D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218" y="2708920"/>
            <a:ext cx="25923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直接寻址</a:t>
            </a: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50F2FF85-E748-4C2A-8367-C2BA8F444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418" y="1207001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1CD1075D-8E33-4F03-9EF9-F14E0FB18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506" y="1207001"/>
            <a:ext cx="1727200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操作数地址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715AD82A-1F6E-4458-A719-C1A9E4178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418" y="703764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9DA585A9-672A-4E8E-A110-90B9E95A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2215064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BED1D53F-0CFD-4B2D-A9A3-6AAD4020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765051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主存</a:t>
            </a:r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11DD9A93-044E-4646-B63B-88DF71334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518" y="1711826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8B7059D5-7297-45F5-A585-DF6634014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518" y="2503989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48AAB33-F467-4CE2-84FA-2296F42B880C}"/>
              </a:ext>
            </a:extLst>
          </p:cNvPr>
          <p:cNvSpPr/>
          <p:nvPr/>
        </p:nvSpPr>
        <p:spPr>
          <a:xfrm>
            <a:off x="1783574" y="1676195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ea typeface="宋体" charset="-122"/>
              </a:rPr>
              <a:t>（主存 地址）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4619A0-C60A-4599-8D02-5B6D3D988680}"/>
              </a:ext>
            </a:extLst>
          </p:cNvPr>
          <p:cNvSpPr/>
          <p:nvPr/>
        </p:nvSpPr>
        <p:spPr bwMode="auto">
          <a:xfrm>
            <a:off x="744729" y="703317"/>
            <a:ext cx="3123138" cy="1945085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4596D1-CEB2-4FEA-9035-23918181DAAE}"/>
              </a:ext>
            </a:extLst>
          </p:cNvPr>
          <p:cNvSpPr/>
          <p:nvPr/>
        </p:nvSpPr>
        <p:spPr>
          <a:xfrm>
            <a:off x="766013" y="2223278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35" name="Text Box 24">
            <a:extLst>
              <a:ext uri="{FF2B5EF4-FFF2-40B4-BE49-F238E27FC236}">
                <a16:creationId xmlns:a16="http://schemas.microsoft.com/office/drawing/2014/main" id="{86FEF8A7-70AF-4411-AF96-3C4283BBA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5974432"/>
            <a:ext cx="25923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间接寻址</a:t>
            </a:r>
            <a:endParaRPr lang="zh-CN" altLang="en-US" sz="2400" dirty="0"/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5CC5FD47-FF3E-4FAE-82D8-CAAA1573D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247" y="3957390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400"/>
              <a:t>操作码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2FAEB037-94D3-4392-B4B0-F4B66C7D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29" y="3954760"/>
            <a:ext cx="122453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指令</a:t>
            </a: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7A2E7D53-D4A2-4953-B5F8-AAF48D997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334" y="3957390"/>
            <a:ext cx="2304256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tIns="0" bIns="0" anchor="ctr" anchorCtr="0"/>
          <a:lstStyle/>
          <a:p>
            <a:r>
              <a:rPr lang="zh-CN" altLang="en-US" sz="2000"/>
              <a:t>操作数地址的地址</a:t>
            </a: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28FAB78A-48D3-4560-9789-F08197B8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299" y="4173290"/>
            <a:ext cx="1439862" cy="2232025"/>
          </a:xfrm>
          <a:prstGeom prst="rect">
            <a:avLst/>
          </a:prstGeom>
          <a:solidFill>
            <a:srgbClr val="FFE5FF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id="{5D10BA0A-E198-4E63-946E-48F35646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299" y="4676527"/>
            <a:ext cx="1439862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400"/>
              <a:t>操作数</a:t>
            </a:r>
          </a:p>
        </p:txBody>
      </p:sp>
      <p:sp>
        <p:nvSpPr>
          <p:cNvPr id="42" name="Text Box 32">
            <a:extLst>
              <a:ext uri="{FF2B5EF4-FFF2-40B4-BE49-F238E27FC236}">
                <a16:creationId xmlns:a16="http://schemas.microsoft.com/office/drawing/2014/main" id="{EF1CC105-CAA3-4ED8-8462-0DB0DF4B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299" y="3717032"/>
            <a:ext cx="14398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主存</a:t>
            </a:r>
          </a:p>
        </p:txBody>
      </p:sp>
      <p:sp>
        <p:nvSpPr>
          <p:cNvPr id="43" name="Rectangle 33">
            <a:extLst>
              <a:ext uri="{FF2B5EF4-FFF2-40B4-BE49-F238E27FC236}">
                <a16:creationId xmlns:a16="http://schemas.microsoft.com/office/drawing/2014/main" id="{772CF34B-7CEF-4817-972F-FF0EA693C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299" y="5611565"/>
            <a:ext cx="1439862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000"/>
              <a:t>操作数地址</a:t>
            </a:r>
          </a:p>
        </p:txBody>
      </p:sp>
      <p:sp>
        <p:nvSpPr>
          <p:cNvPr id="44" name="Line 34">
            <a:extLst>
              <a:ext uri="{FF2B5EF4-FFF2-40B4-BE49-F238E27FC236}">
                <a16:creationId xmlns:a16="http://schemas.microsoft.com/office/drawing/2014/main" id="{E1AEC588-ABAE-472E-B8C2-21F7ED11F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9536" y="4460627"/>
            <a:ext cx="0" cy="1368425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5" name="Line 35">
            <a:extLst>
              <a:ext uri="{FF2B5EF4-FFF2-40B4-BE49-F238E27FC236}">
                <a16:creationId xmlns:a16="http://schemas.microsoft.com/office/drawing/2014/main" id="{B7BA7CAD-41C8-44D5-AF1A-F9D060E12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9536" y="5829052"/>
            <a:ext cx="1655763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DD6A6595-8591-4869-8710-D275C9282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5161" y="5829052"/>
            <a:ext cx="7207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7" name="Line 37">
            <a:extLst>
              <a:ext uri="{FF2B5EF4-FFF2-40B4-BE49-F238E27FC236}">
                <a16:creationId xmlns:a16="http://schemas.microsoft.com/office/drawing/2014/main" id="{443F134D-C43A-4DFD-AC3C-F48CAEE2B5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5886" y="4965452"/>
            <a:ext cx="0" cy="86360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8" name="Line 38">
            <a:extLst>
              <a:ext uri="{FF2B5EF4-FFF2-40B4-BE49-F238E27FC236}">
                <a16:creationId xmlns:a16="http://schemas.microsoft.com/office/drawing/2014/main" id="{2C9E867A-5C16-47BC-9CC2-18467031CE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5161" y="4965452"/>
            <a:ext cx="7207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5AEA725-B70D-4E3C-A089-AB6665E1A8E2}"/>
              </a:ext>
            </a:extLst>
          </p:cNvPr>
          <p:cNvSpPr/>
          <p:nvPr/>
        </p:nvSpPr>
        <p:spPr bwMode="auto">
          <a:xfrm>
            <a:off x="744729" y="3804068"/>
            <a:ext cx="4320877" cy="2170363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22CB698-7580-4FC0-B7CF-902663BEBD50}"/>
              </a:ext>
            </a:extLst>
          </p:cNvPr>
          <p:cNvSpPr/>
          <p:nvPr/>
        </p:nvSpPr>
        <p:spPr>
          <a:xfrm>
            <a:off x="761333" y="5533651"/>
            <a:ext cx="831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2"/>
                </a:solidFill>
              </a:rPr>
              <a:t>CPU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0685886-7D18-419A-AF1E-FD6601420C61}"/>
              </a:ext>
            </a:extLst>
          </p:cNvPr>
          <p:cNvSpPr txBox="1"/>
          <p:nvPr/>
        </p:nvSpPr>
        <p:spPr bwMode="auto">
          <a:xfrm>
            <a:off x="7020272" y="3987061"/>
            <a:ext cx="1988045" cy="95410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取得操作数</a:t>
            </a:r>
            <a:endParaRPr lang="en-US" altLang="zh-CN" sz="2800" b="1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</a:t>
            </a:r>
            <a:r>
              <a:rPr lang="zh-CN" altLang="en-US" kern="1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慢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C8FDC6-7253-4891-8585-F42EA57AC7DB}"/>
              </a:ext>
            </a:extLst>
          </p:cNvPr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251285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30042759-FB91-4D9E-B2E1-4D5813A2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799" y="1418358"/>
            <a:ext cx="1439863" cy="1944688"/>
          </a:xfrm>
          <a:prstGeom prst="rect">
            <a:avLst/>
          </a:prstGeom>
          <a:solidFill>
            <a:srgbClr val="E5F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6" name="Text Box 31">
            <a:extLst>
              <a:ext uri="{FF2B5EF4-FFF2-40B4-BE49-F238E27FC236}">
                <a16:creationId xmlns:a16="http://schemas.microsoft.com/office/drawing/2014/main" id="{77E0A47A-572F-4304-829C-C74B95D46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992014"/>
            <a:ext cx="30241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寄存器间接寻址</a:t>
            </a:r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CFEA5D6D-FA29-4AFE-9A2B-5C863E4D2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249" y="913533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38" name="Rectangle 33">
            <a:extLst>
              <a:ext uri="{FF2B5EF4-FFF2-40B4-BE49-F238E27FC236}">
                <a16:creationId xmlns:a16="http://schemas.microsoft.com/office/drawing/2014/main" id="{929B98BD-3EED-48B5-BBD0-D3A089D0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337" y="913533"/>
            <a:ext cx="1727200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寄存器编号</a:t>
            </a:r>
          </a:p>
        </p:txBody>
      </p:sp>
      <p:sp>
        <p:nvSpPr>
          <p:cNvPr id="39" name="Text Box 34">
            <a:extLst>
              <a:ext uri="{FF2B5EF4-FFF2-40B4-BE49-F238E27FC236}">
                <a16:creationId xmlns:a16="http://schemas.microsoft.com/office/drawing/2014/main" id="{74798018-7855-4FB4-B400-4E8C56BB1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321" y="1395829"/>
            <a:ext cx="12814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C2E398FE-A634-47ED-97F2-65C4017F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799" y="1921596"/>
            <a:ext cx="1439863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操作数地址</a:t>
            </a:r>
          </a:p>
        </p:txBody>
      </p:sp>
      <p:sp>
        <p:nvSpPr>
          <p:cNvPr id="42" name="Text Box 36">
            <a:extLst>
              <a:ext uri="{FF2B5EF4-FFF2-40B4-BE49-F238E27FC236}">
                <a16:creationId xmlns:a16="http://schemas.microsoft.com/office/drawing/2014/main" id="{9AB4C631-6193-4835-B81A-B0D3FFE6C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2799" y="961778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寄存器组</a:t>
            </a:r>
          </a:p>
        </p:txBody>
      </p:sp>
      <p:sp>
        <p:nvSpPr>
          <p:cNvPr id="43" name="Line 37">
            <a:extLst>
              <a:ext uri="{FF2B5EF4-FFF2-40B4-BE49-F238E27FC236}">
                <a16:creationId xmlns:a16="http://schemas.microsoft.com/office/drawing/2014/main" id="{26A2F523-B36B-42C5-B3AB-C44A84A01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349" y="1418358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4" name="Line 38">
            <a:extLst>
              <a:ext uri="{FF2B5EF4-FFF2-40B4-BE49-F238E27FC236}">
                <a16:creationId xmlns:a16="http://schemas.microsoft.com/office/drawing/2014/main" id="{A3234FCA-2F2B-4648-9277-07845668F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349" y="2210521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705E0978-6651-4FF8-A8DF-C7B23DE80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959" y="1416771"/>
            <a:ext cx="1439863" cy="1944687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0026FA01-0762-4D43-98FF-C5E61A608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959" y="1920008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</a:t>
            </a:r>
          </a:p>
        </p:txBody>
      </p:sp>
      <p:sp>
        <p:nvSpPr>
          <p:cNvPr id="47" name="Text Box 41">
            <a:extLst>
              <a:ext uri="{FF2B5EF4-FFF2-40B4-BE49-F238E27FC236}">
                <a16:creationId xmlns:a16="http://schemas.microsoft.com/office/drawing/2014/main" id="{C9F774C4-D8BE-4323-B23E-33F78CF25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959" y="961778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主存</a:t>
            </a:r>
          </a:p>
        </p:txBody>
      </p:sp>
      <p:sp>
        <p:nvSpPr>
          <p:cNvPr id="48" name="Line 42">
            <a:extLst>
              <a:ext uri="{FF2B5EF4-FFF2-40B4-BE49-F238E27FC236}">
                <a16:creationId xmlns:a16="http://schemas.microsoft.com/office/drawing/2014/main" id="{F2A211A5-E92E-462E-A1C3-C9837658B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2662" y="2210521"/>
            <a:ext cx="135229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0458D6D-624E-41AF-BA9A-9780E7E10BC3}"/>
              </a:ext>
            </a:extLst>
          </p:cNvPr>
          <p:cNvSpPr/>
          <p:nvPr/>
        </p:nvSpPr>
        <p:spPr bwMode="auto">
          <a:xfrm>
            <a:off x="539552" y="692696"/>
            <a:ext cx="5214762" cy="2800344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C01A0C7-4B3F-4566-8701-135839FBD19E}"/>
              </a:ext>
            </a:extLst>
          </p:cNvPr>
          <p:cNvSpPr/>
          <p:nvPr/>
        </p:nvSpPr>
        <p:spPr>
          <a:xfrm>
            <a:off x="673178" y="2073499"/>
            <a:ext cx="831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C3A29729-CF6F-4A94-AB6C-9F31387A6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763888"/>
            <a:ext cx="22320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基址寻址</a:t>
            </a: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2CA5A34C-1841-4A65-8223-2E9F5FFEA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756" y="4303780"/>
            <a:ext cx="358775" cy="504825"/>
          </a:xfrm>
          <a:prstGeom prst="rect">
            <a:avLst/>
          </a:prstGeom>
          <a:solidFill>
            <a:srgbClr val="FFCC66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B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5EB81AEB-7FC2-4699-BED3-DCC04F224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31" y="4303780"/>
            <a:ext cx="1727200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地址偏移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</a:t>
            </a: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8F048962-6368-4F8F-986C-9B87F35F1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3835896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1354D34B-0C32-4A08-B7E7-7D7705311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6543" y="4808605"/>
            <a:ext cx="3175" cy="28733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6" name="Line 9">
            <a:extLst>
              <a:ext uri="{FF2B5EF4-FFF2-40B4-BE49-F238E27FC236}">
                <a16:creationId xmlns:a16="http://schemas.microsoft.com/office/drawing/2014/main" id="{9C9EA21E-0AE6-422A-A493-EB912091D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6543" y="5097530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7" name="Rectangle 10">
            <a:extLst>
              <a:ext uri="{FF2B5EF4-FFF2-40B4-BE49-F238E27FC236}">
                <a16:creationId xmlns:a16="http://schemas.microsoft.com/office/drawing/2014/main" id="{552297C0-5E1C-451E-A864-2EC99333E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553" y="4303780"/>
            <a:ext cx="1439863" cy="1944688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8" name="Rectangle 11">
            <a:extLst>
              <a:ext uri="{FF2B5EF4-FFF2-40B4-BE49-F238E27FC236}">
                <a16:creationId xmlns:a16="http://schemas.microsoft.com/office/drawing/2014/main" id="{366B3358-09D9-4B9A-87FA-85F367EE0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553" y="4807018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操作数</a:t>
            </a:r>
          </a:p>
        </p:txBody>
      </p:sp>
      <p:sp>
        <p:nvSpPr>
          <p:cNvPr id="59" name="Text Box 12">
            <a:extLst>
              <a:ext uri="{FF2B5EF4-FFF2-40B4-BE49-F238E27FC236}">
                <a16:creationId xmlns:a16="http://schemas.microsoft.com/office/drawing/2014/main" id="{80444E4E-6451-493C-9B95-0C2003B4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553" y="3800543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主存</a:t>
            </a:r>
          </a:p>
        </p:txBody>
      </p:sp>
      <p:sp>
        <p:nvSpPr>
          <p:cNvPr id="60" name="Line 13">
            <a:extLst>
              <a:ext uri="{FF2B5EF4-FFF2-40B4-BE49-F238E27FC236}">
                <a16:creationId xmlns:a16="http://schemas.microsoft.com/office/drawing/2014/main" id="{78642190-1EA4-4A7D-A95A-9662553C5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256" y="5097530"/>
            <a:ext cx="135070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1" name="Oval 14">
            <a:extLst>
              <a:ext uri="{FF2B5EF4-FFF2-40B4-BE49-F238E27FC236}">
                <a16:creationId xmlns:a16="http://schemas.microsoft.com/office/drawing/2014/main" id="{4BAFCE15-DD12-4DF5-8083-B56977B80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993" y="4808605"/>
            <a:ext cx="576263" cy="576263"/>
          </a:xfrm>
          <a:prstGeom prst="ellipse">
            <a:avLst/>
          </a:prstGeom>
          <a:solidFill>
            <a:srgbClr val="FF99FF"/>
          </a:solidFill>
          <a:ln w="28575" algn="ctr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＋</a:t>
            </a:r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42C9E7C3-E56C-4E3E-96D7-4971F1402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443" y="5959543"/>
            <a:ext cx="2808288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基址寄存器</a:t>
            </a:r>
          </a:p>
        </p:txBody>
      </p:sp>
      <p:sp>
        <p:nvSpPr>
          <p:cNvPr id="63" name="Line 16">
            <a:extLst>
              <a:ext uri="{FF2B5EF4-FFF2-40B4-BE49-F238E27FC236}">
                <a16:creationId xmlns:a16="http://schemas.microsoft.com/office/drawing/2014/main" id="{1B4B5631-275B-4500-A012-FDF3635CE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1868" y="5672205"/>
            <a:ext cx="2303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4" name="Line 17">
            <a:extLst>
              <a:ext uri="{FF2B5EF4-FFF2-40B4-BE49-F238E27FC236}">
                <a16:creationId xmlns:a16="http://schemas.microsoft.com/office/drawing/2014/main" id="{72CBBE0C-7B76-447D-969B-8145EBDBCC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35331" y="5383280"/>
            <a:ext cx="1587" cy="2889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5" name="Line 18">
            <a:extLst>
              <a:ext uri="{FF2B5EF4-FFF2-40B4-BE49-F238E27FC236}">
                <a16:creationId xmlns:a16="http://schemas.microsoft.com/office/drawing/2014/main" id="{E8F8CFC2-BEC4-460C-AF03-5FC2DD9ED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1868" y="5672205"/>
            <a:ext cx="0" cy="2889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6" name="Rectangle 19">
            <a:extLst>
              <a:ext uri="{FF2B5EF4-FFF2-40B4-BE49-F238E27FC236}">
                <a16:creationId xmlns:a16="http://schemas.microsoft.com/office/drawing/2014/main" id="{ECE10124-1A1B-495F-A2DD-8D315C6A7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668" y="4305368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67" name="Line 20">
            <a:extLst>
              <a:ext uri="{FF2B5EF4-FFF2-40B4-BE49-F238E27FC236}">
                <a16:creationId xmlns:a16="http://schemas.microsoft.com/office/drawing/2014/main" id="{4B47AD43-47B4-45DA-8619-DAB25C9C1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631" y="4808605"/>
            <a:ext cx="0" cy="6477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8" name="Line 21">
            <a:extLst>
              <a:ext uri="{FF2B5EF4-FFF2-40B4-BE49-F238E27FC236}">
                <a16:creationId xmlns:a16="http://schemas.microsoft.com/office/drawing/2014/main" id="{6F14247D-2A81-43A6-A1A5-397CB3B631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3231" y="5456305"/>
            <a:ext cx="12954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69" name="Line 22">
            <a:extLst>
              <a:ext uri="{FF2B5EF4-FFF2-40B4-BE49-F238E27FC236}">
                <a16:creationId xmlns:a16="http://schemas.microsoft.com/office/drawing/2014/main" id="{BAC038A5-A98D-4AC4-881D-DC4488A0F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3231" y="5456305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0" name="Line 23">
            <a:extLst>
              <a:ext uri="{FF2B5EF4-FFF2-40B4-BE49-F238E27FC236}">
                <a16:creationId xmlns:a16="http://schemas.microsoft.com/office/drawing/2014/main" id="{9D97D1C7-8F65-44CD-A6DA-B0DD03D8A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3231" y="6250055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82F2D94-DCA0-4FAB-9A11-2604303E5CC9}"/>
              </a:ext>
            </a:extLst>
          </p:cNvPr>
          <p:cNvSpPr/>
          <p:nvPr/>
        </p:nvSpPr>
        <p:spPr bwMode="auto">
          <a:xfrm>
            <a:off x="539553" y="3728346"/>
            <a:ext cx="5214762" cy="2869006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E3A96D9-C9F9-4D32-AE59-54B922C1A679}"/>
              </a:ext>
            </a:extLst>
          </p:cNvPr>
          <p:cNvSpPr/>
          <p:nvPr/>
        </p:nvSpPr>
        <p:spPr>
          <a:xfrm>
            <a:off x="4832231" y="3798310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8663DD1-FCEB-445D-AD5A-BBAAB7DCCD85}"/>
              </a:ext>
            </a:extLst>
          </p:cNvPr>
          <p:cNvSpPr txBox="1"/>
          <p:nvPr/>
        </p:nvSpPr>
        <p:spPr bwMode="auto">
          <a:xfrm>
            <a:off x="5508383" y="2546641"/>
            <a:ext cx="12666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相对</a:t>
            </a:r>
            <a:r>
              <a:rPr lang="zh-CN" altLang="en-US" kern="1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快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7558AD4-11FA-47AF-9FEC-2F5494926B36}"/>
              </a:ext>
            </a:extLst>
          </p:cNvPr>
          <p:cNvSpPr txBox="1"/>
          <p:nvPr/>
        </p:nvSpPr>
        <p:spPr bwMode="auto">
          <a:xfrm>
            <a:off x="5508383" y="4475558"/>
            <a:ext cx="12666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相对</a:t>
            </a:r>
            <a:r>
              <a:rPr lang="zh-CN" altLang="en-US" kern="1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慢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1F6E4E3-F593-4953-8B99-3DFDA9F9CE30}"/>
              </a:ext>
            </a:extLst>
          </p:cNvPr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55977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3" name="Text Box 14">
            <a:extLst>
              <a:ext uri="{FF2B5EF4-FFF2-40B4-BE49-F238E27FC236}">
                <a16:creationId xmlns:a16="http://schemas.microsoft.com/office/drawing/2014/main" id="{0949D810-B4E6-47B3-938E-2ACF9FA45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5393" y="566834"/>
            <a:ext cx="183255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PC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相对寻址</a:t>
            </a:r>
          </a:p>
        </p:txBody>
      </p:sp>
      <p:sp>
        <p:nvSpPr>
          <p:cNvPr id="86" name="内容占位符 10">
            <a:extLst>
              <a:ext uri="{FF2B5EF4-FFF2-40B4-BE49-F238E27FC236}">
                <a16:creationId xmlns:a16="http://schemas.microsoft.com/office/drawing/2014/main" id="{010EF040-E8D7-44B0-BDFB-A4EAA1E85742}"/>
              </a:ext>
            </a:extLst>
          </p:cNvPr>
          <p:cNvSpPr txBox="1">
            <a:spLocks/>
          </p:cNvSpPr>
          <p:nvPr/>
        </p:nvSpPr>
        <p:spPr bwMode="auto">
          <a:xfrm>
            <a:off x="5005336" y="1024703"/>
            <a:ext cx="3897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“与地址无关的程序设计”</a:t>
            </a:r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18F31743-9329-40A2-92FD-094C0BC4D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479" y="1469146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操作码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812548E1-67B0-4218-A553-E48B45DF6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566" y="1469146"/>
            <a:ext cx="2950046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地址偏移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D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(</a:t>
            </a:r>
            <a:r>
              <a:rPr kumimoji="0" lang="en-US" altLang="zh-CN" sz="240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n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位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补码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3AB49388-F201-4B22-B345-9BF4C3253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480" y="1054782"/>
            <a:ext cx="2113744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指令</a:t>
            </a:r>
          </a:p>
        </p:txBody>
      </p:sp>
      <p:sp>
        <p:nvSpPr>
          <p:cNvPr id="30" name="Line 20">
            <a:extLst>
              <a:ext uri="{FF2B5EF4-FFF2-40B4-BE49-F238E27FC236}">
                <a16:creationId xmlns:a16="http://schemas.microsoft.com/office/drawing/2014/main" id="{162ADB95-62CD-4D25-995E-67CF4AB8C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4386" y="1973971"/>
            <a:ext cx="0" cy="38473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B73A86AB-D9D8-4272-8130-AEF261F1F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578" y="2016038"/>
            <a:ext cx="1439862" cy="2769219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4B9B1A2F-45AC-4ED0-8055-8F45466E3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578" y="3343807"/>
            <a:ext cx="1439862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指令</a:t>
            </a:r>
          </a:p>
        </p:txBody>
      </p:sp>
      <p:sp>
        <p:nvSpPr>
          <p:cNvPr id="33" name="Text Box 24">
            <a:extLst>
              <a:ext uri="{FF2B5EF4-FFF2-40B4-BE49-F238E27FC236}">
                <a16:creationId xmlns:a16="http://schemas.microsoft.com/office/drawing/2014/main" id="{B0BB64CB-AD4E-4FC1-8F10-727617983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578" y="1583990"/>
            <a:ext cx="14398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主存</a:t>
            </a:r>
          </a:p>
        </p:txBody>
      </p:sp>
      <p:sp>
        <p:nvSpPr>
          <p:cNvPr id="34" name="Line 25">
            <a:extLst>
              <a:ext uri="{FF2B5EF4-FFF2-40B4-BE49-F238E27FC236}">
                <a16:creationId xmlns:a16="http://schemas.microsoft.com/office/drawing/2014/main" id="{2AC5B1A8-47E9-45AD-A11D-1A59F367A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7170" y="3600214"/>
            <a:ext cx="258540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5" name="Oval 26">
            <a:extLst>
              <a:ext uri="{FF2B5EF4-FFF2-40B4-BE49-F238E27FC236}">
                <a16:creationId xmlns:a16="http://schemas.microsoft.com/office/drawing/2014/main" id="{EA816B08-8307-42AE-A6B1-88C906F2F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534" y="2363357"/>
            <a:ext cx="576262" cy="576262"/>
          </a:xfrm>
          <a:prstGeom prst="ellipse">
            <a:avLst/>
          </a:prstGeom>
          <a:solidFill>
            <a:srgbClr val="FF99FF"/>
          </a:solidFill>
          <a:ln w="28575" algn="ctr">
            <a:solidFill>
              <a:srgbClr val="000000"/>
            </a:solidFill>
            <a:round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＋</a:t>
            </a: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3D44686B-0287-4C3D-AF75-1C0739145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266" y="3340809"/>
            <a:ext cx="2493904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charset="-122"/>
              </a:rPr>
              <a:t>PC</a:t>
            </a:r>
          </a:p>
        </p:txBody>
      </p:sp>
      <p:sp>
        <p:nvSpPr>
          <p:cNvPr id="37" name="Line 28">
            <a:extLst>
              <a:ext uri="{FF2B5EF4-FFF2-40B4-BE49-F238E27FC236}">
                <a16:creationId xmlns:a16="http://schemas.microsoft.com/office/drawing/2014/main" id="{9BE59236-5C00-4444-8710-AECD98BB8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5354" y="2650694"/>
            <a:ext cx="291179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8" name="Line 30">
            <a:extLst>
              <a:ext uri="{FF2B5EF4-FFF2-40B4-BE49-F238E27FC236}">
                <a16:creationId xmlns:a16="http://schemas.microsoft.com/office/drawing/2014/main" id="{15EB9D9C-3FE9-4B5D-916F-51BDF12C6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5354" y="2650695"/>
            <a:ext cx="0" cy="689445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9EC8313-F31E-4D84-9E62-007D0191779A}"/>
              </a:ext>
            </a:extLst>
          </p:cNvPr>
          <p:cNvSpPr/>
          <p:nvPr/>
        </p:nvSpPr>
        <p:spPr bwMode="auto">
          <a:xfrm>
            <a:off x="599422" y="965909"/>
            <a:ext cx="4450869" cy="3168352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760CBAF-9954-4A15-A0B8-3C7562666C9B}"/>
              </a:ext>
            </a:extLst>
          </p:cNvPr>
          <p:cNvSpPr/>
          <p:nvPr/>
        </p:nvSpPr>
        <p:spPr>
          <a:xfrm>
            <a:off x="537169" y="548680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7D"/>
                </a:solidFill>
                <a:ea typeface="宋体" charset="-122"/>
              </a:rPr>
              <a:t>CPU</a:t>
            </a:r>
            <a:endParaRPr lang="zh-CN" altLang="en-US" sz="2400" dirty="0">
              <a:solidFill>
                <a:srgbClr val="00007D"/>
              </a:solidFill>
              <a:ea typeface="宋体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01D81C-CAD6-4FB6-8AB6-6A711332FB15}"/>
              </a:ext>
            </a:extLst>
          </p:cNvPr>
          <p:cNvSpPr/>
          <p:nvPr/>
        </p:nvSpPr>
        <p:spPr>
          <a:xfrm>
            <a:off x="2794161" y="209012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①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E9DD262-174C-4E68-8F9C-BF7AA66AEBF1}"/>
              </a:ext>
            </a:extLst>
          </p:cNvPr>
          <p:cNvSpPr/>
          <p:nvPr/>
        </p:nvSpPr>
        <p:spPr>
          <a:xfrm>
            <a:off x="3663151" y="293002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②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7762DED-F48B-4549-9D9C-7E2D11FC9904}"/>
              </a:ext>
            </a:extLst>
          </p:cNvPr>
          <p:cNvSpPr/>
          <p:nvPr/>
        </p:nvSpPr>
        <p:spPr>
          <a:xfrm>
            <a:off x="5052524" y="31888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7034615-669E-4B6A-BC3B-00A937EE2234}"/>
              </a:ext>
            </a:extLst>
          </p:cNvPr>
          <p:cNvSpPr/>
          <p:nvPr/>
        </p:nvSpPr>
        <p:spPr>
          <a:xfrm>
            <a:off x="5005336" y="3575250"/>
            <a:ext cx="2040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取下一条指令</a:t>
            </a:r>
          </a:p>
        </p:txBody>
      </p:sp>
      <p:sp>
        <p:nvSpPr>
          <p:cNvPr id="46" name="Line 20">
            <a:extLst>
              <a:ext uri="{FF2B5EF4-FFF2-40B4-BE49-F238E27FC236}">
                <a16:creationId xmlns:a16="http://schemas.microsoft.com/office/drawing/2014/main" id="{FEBAEF9C-3E12-4396-8EA3-D6A643D5B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381" y="2955407"/>
            <a:ext cx="0" cy="38473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BD29173-A1E8-4E9A-A770-3258C1CE7EA7}"/>
              </a:ext>
            </a:extLst>
          </p:cNvPr>
          <p:cNvCxnSpPr>
            <a:cxnSpLocks/>
            <a:stCxn id="35" idx="5"/>
          </p:cNvCxnSpPr>
          <p:nvPr/>
        </p:nvCxnSpPr>
        <p:spPr bwMode="auto">
          <a:xfrm>
            <a:off x="3588404" y="2855227"/>
            <a:ext cx="113168" cy="99511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48" name="内容占位符 10">
            <a:extLst>
              <a:ext uri="{FF2B5EF4-FFF2-40B4-BE49-F238E27FC236}">
                <a16:creationId xmlns:a16="http://schemas.microsoft.com/office/drawing/2014/main" id="{42D3B654-C7B0-43E7-B261-9DEF58B485E4}"/>
              </a:ext>
            </a:extLst>
          </p:cNvPr>
          <p:cNvSpPr txBox="1">
            <a:spLocks/>
          </p:cNvSpPr>
          <p:nvPr/>
        </p:nvSpPr>
        <p:spPr bwMode="auto">
          <a:xfrm>
            <a:off x="502822" y="4132658"/>
            <a:ext cx="61250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50"/>
              </a:buClr>
              <a:buSzPct val="100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+mn-cs"/>
              </a:rPr>
              <a:t>无需考虑本指令在主存中的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再定位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+mn-cs"/>
              </a:rPr>
              <a:t>问题。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50"/>
              </a:buClr>
              <a:buSzPct val="100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cs typeface="+mn-cs"/>
              </a:rPr>
              <a:t>节省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+mn-cs"/>
              </a:rPr>
              <a:t>指令的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cs typeface="+mn-cs"/>
              </a:rPr>
              <a:t>存储空间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+mn-cs"/>
              </a:rPr>
              <a:t>。</a:t>
            </a:r>
          </a:p>
        </p:txBody>
      </p:sp>
      <p:sp>
        <p:nvSpPr>
          <p:cNvPr id="49" name="Rectangle 23">
            <a:extLst>
              <a:ext uri="{FF2B5EF4-FFF2-40B4-BE49-F238E27FC236}">
                <a16:creationId xmlns:a16="http://schemas.microsoft.com/office/drawing/2014/main" id="{9E6E5834-4271-4CF2-BE53-64AB6F1E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578" y="2408265"/>
            <a:ext cx="1439862" cy="504825"/>
          </a:xfrm>
          <a:prstGeom prst="rect">
            <a:avLst/>
          </a:prstGeom>
          <a:solidFill>
            <a:srgbClr val="C1FFE6"/>
          </a:solidFill>
          <a:ln w="28575" algn="ctr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charset="-122"/>
              </a:rPr>
              <a:t>数据</a:t>
            </a:r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8BB2248D-E0C7-4069-80BC-85233A3C3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8852" y="2651757"/>
            <a:ext cx="342372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E43B6B8-4001-40FE-899F-76E7E65CD73E}"/>
              </a:ext>
            </a:extLst>
          </p:cNvPr>
          <p:cNvSpPr/>
          <p:nvPr/>
        </p:nvSpPr>
        <p:spPr>
          <a:xfrm>
            <a:off x="3728146" y="223718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②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CB346AF-2687-444F-8C6C-7373721B2759}"/>
              </a:ext>
            </a:extLst>
          </p:cNvPr>
          <p:cNvSpPr/>
          <p:nvPr/>
        </p:nvSpPr>
        <p:spPr>
          <a:xfrm>
            <a:off x="5090822" y="2215142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charset="-122"/>
              </a:rPr>
              <a:t>访问数据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04DBE48-4E67-4F5E-B696-1A284FDA824E}"/>
              </a:ext>
            </a:extLst>
          </p:cNvPr>
          <p:cNvSpPr/>
          <p:nvPr/>
        </p:nvSpPr>
        <p:spPr bwMode="auto">
          <a:xfrm>
            <a:off x="3092082" y="2340272"/>
            <a:ext cx="4000492" cy="228744"/>
          </a:xfrm>
          <a:custGeom>
            <a:avLst/>
            <a:gdLst>
              <a:gd name="connsiteX0" fmla="*/ 0 w 3809256"/>
              <a:gd name="connsiteY0" fmla="*/ 0 h 307773"/>
              <a:gd name="connsiteX1" fmla="*/ 758283 w 3809256"/>
              <a:gd name="connsiteY1" fmla="*/ 254247 h 307773"/>
              <a:gd name="connsiteX2" fmla="*/ 3809256 w 3809256"/>
              <a:gd name="connsiteY2" fmla="*/ 307773 h 30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9256" h="307773">
                <a:moveTo>
                  <a:pt x="0" y="0"/>
                </a:moveTo>
                <a:cubicBezTo>
                  <a:pt x="61703" y="101476"/>
                  <a:pt x="123407" y="202952"/>
                  <a:pt x="758283" y="254247"/>
                </a:cubicBezTo>
                <a:cubicBezTo>
                  <a:pt x="1393159" y="305542"/>
                  <a:pt x="2601207" y="306657"/>
                  <a:pt x="3809256" y="307773"/>
                </a:cubicBezTo>
              </a:path>
            </a:pathLst>
          </a:custGeom>
          <a:noFill/>
          <a:ln w="5715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5A2B2DA7-A9BB-4674-A0C8-46C51D1BCBF1}"/>
              </a:ext>
            </a:extLst>
          </p:cNvPr>
          <p:cNvSpPr/>
          <p:nvPr/>
        </p:nvSpPr>
        <p:spPr bwMode="auto">
          <a:xfrm>
            <a:off x="3097387" y="2459371"/>
            <a:ext cx="3995187" cy="1065024"/>
          </a:xfrm>
          <a:custGeom>
            <a:avLst/>
            <a:gdLst>
              <a:gd name="connsiteX0" fmla="*/ 0 w 3788228"/>
              <a:gd name="connsiteY0" fmla="*/ 0 h 1088572"/>
              <a:gd name="connsiteX1" fmla="*/ 1116280 w 3788228"/>
              <a:gd name="connsiteY1" fmla="*/ 898567 h 1088572"/>
              <a:gd name="connsiteX2" fmla="*/ 3788228 w 3788228"/>
              <a:gd name="connsiteY2" fmla="*/ 1088572 h 108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88228" h="1088572">
                <a:moveTo>
                  <a:pt x="0" y="0"/>
                </a:moveTo>
                <a:cubicBezTo>
                  <a:pt x="242454" y="358569"/>
                  <a:pt x="484909" y="717138"/>
                  <a:pt x="1116280" y="898567"/>
                </a:cubicBezTo>
                <a:cubicBezTo>
                  <a:pt x="1747651" y="1079996"/>
                  <a:pt x="2767939" y="1084284"/>
                  <a:pt x="3788228" y="1088572"/>
                </a:cubicBezTo>
              </a:path>
            </a:pathLst>
          </a:custGeom>
          <a:noFill/>
          <a:ln w="5715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9315BA9-C01A-4D92-A614-1B66C125B134}"/>
              </a:ext>
            </a:extLst>
          </p:cNvPr>
          <p:cNvSpPr/>
          <p:nvPr/>
        </p:nvSpPr>
        <p:spPr>
          <a:xfrm>
            <a:off x="4078397" y="2667741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</a:p>
        </p:txBody>
      </p:sp>
      <p:sp>
        <p:nvSpPr>
          <p:cNvPr id="57" name="Text Box 14">
            <a:extLst>
              <a:ext uri="{FF2B5EF4-FFF2-40B4-BE49-F238E27FC236}">
                <a16:creationId xmlns:a16="http://schemas.microsoft.com/office/drawing/2014/main" id="{A3B47C1C-B458-4586-A6C2-2B0AD3E1D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5320058"/>
            <a:ext cx="3357009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向前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FF0066"/>
                </a:solidFill>
                <a:ea typeface="宋体" charset="-122"/>
              </a:rPr>
              <a:t>大地址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方向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跳转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,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8" name="Text Box 14">
            <a:extLst>
              <a:ext uri="{FF2B5EF4-FFF2-40B4-BE49-F238E27FC236}">
                <a16:creationId xmlns:a16="http://schemas.microsoft.com/office/drawing/2014/main" id="{2F78977E-D178-483E-801E-13F99B406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941168"/>
            <a:ext cx="6885218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主存按字编址，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PC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内容为顺序下一条指令的地址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: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9" name="Text Box 14">
            <a:extLst>
              <a:ext uri="{FF2B5EF4-FFF2-40B4-BE49-F238E27FC236}">
                <a16:creationId xmlns:a16="http://schemas.microsoft.com/office/drawing/2014/main" id="{1B457057-115B-4125-982D-11BF07DA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056" y="6004189"/>
            <a:ext cx="4046301" cy="5847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|(</a:t>
            </a:r>
            <a:r>
              <a:rPr lang="en-US" altLang="zh-CN" sz="2400">
                <a:solidFill>
                  <a:srgbClr val="FF0000"/>
                </a:solidFill>
                <a:ea typeface="宋体" charset="-122"/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  <a:ea typeface="宋体" charset="-122"/>
              </a:rPr>
              <a:t>-1</a:t>
            </a:r>
            <a:r>
              <a:rPr lang="en-US" altLang="zh-CN" sz="2400">
                <a:solidFill>
                  <a:srgbClr val="FF0000"/>
                </a:solidFill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zh-CN" sz="2400">
                <a:solidFill>
                  <a:srgbClr val="000000"/>
                </a:solidFill>
                <a:latin typeface="+mn-lt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40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3200">
                <a:solidFill>
                  <a:srgbClr val="000000"/>
                </a:solidFill>
                <a:ea typeface="宋体" charset="-122"/>
              </a:rPr>
              <a:t>/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每指令字数</a:t>
            </a:r>
          </a:p>
        </p:txBody>
      </p:sp>
      <p:sp>
        <p:nvSpPr>
          <p:cNvPr id="60" name="Text Box 14">
            <a:extLst>
              <a:ext uri="{FF2B5EF4-FFF2-40B4-BE49-F238E27FC236}">
                <a16:creationId xmlns:a16="http://schemas.microsoft.com/office/drawing/2014/main" id="{F087B516-D7FF-455F-BC99-F2B23DCB0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5698948"/>
            <a:ext cx="2659702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最多跳过的指令数</a:t>
            </a:r>
          </a:p>
        </p:txBody>
      </p:sp>
      <p:sp>
        <p:nvSpPr>
          <p:cNvPr id="61" name="Text Box 14">
            <a:extLst>
              <a:ext uri="{FF2B5EF4-FFF2-40B4-BE49-F238E27FC236}">
                <a16:creationId xmlns:a16="http://schemas.microsoft.com/office/drawing/2014/main" id="{A4BB1A22-E818-4664-B872-A2AB20534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414" y="5320058"/>
            <a:ext cx="3357009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  <a:ea typeface="宋体" charset="-122"/>
              </a:rPr>
              <a:t>向后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FF0066"/>
                </a:solidFill>
                <a:ea typeface="宋体" charset="-122"/>
              </a:rPr>
              <a:t>小地址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方向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跳转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,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2" name="Text Box 14">
            <a:extLst>
              <a:ext uri="{FF2B5EF4-FFF2-40B4-BE49-F238E27FC236}">
                <a16:creationId xmlns:a16="http://schemas.microsoft.com/office/drawing/2014/main" id="{B1A7C6AA-4D78-44B9-A90F-051C8406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942" y="6004189"/>
            <a:ext cx="3581430" cy="5847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  <a:ea typeface="宋体" charset="-122"/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  <a:ea typeface="宋体" charset="-122"/>
              </a:rPr>
              <a:t>-1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ea typeface="宋体" charset="-122"/>
                <a:cs typeface="Courier New" panose="02070309020205020404" pitchFamily="49" charset="0"/>
              </a:rPr>
              <a:t>+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|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sz="3200">
                <a:solidFill>
                  <a:srgbClr val="000000"/>
                </a:solidFill>
                <a:ea typeface="宋体" charset="-122"/>
              </a:rPr>
              <a:t>/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每指令字数</a:t>
            </a:r>
          </a:p>
        </p:txBody>
      </p:sp>
      <p:sp>
        <p:nvSpPr>
          <p:cNvPr id="63" name="Text Box 14">
            <a:extLst>
              <a:ext uri="{FF2B5EF4-FFF2-40B4-BE49-F238E27FC236}">
                <a16:creationId xmlns:a16="http://schemas.microsoft.com/office/drawing/2014/main" id="{069967FD-5B17-43EE-801C-BF9FB78A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414" y="5698948"/>
            <a:ext cx="2659702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最多跳过的指令数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446465-4683-4080-B48D-0A5DD6DA5968}"/>
              </a:ext>
            </a:extLst>
          </p:cNvPr>
          <p:cNvSpPr txBox="1"/>
          <p:nvPr/>
        </p:nvSpPr>
        <p:spPr bwMode="auto">
          <a:xfrm>
            <a:off x="1813437" y="532070"/>
            <a:ext cx="3047629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</a:rPr>
              <a:t>-1</a:t>
            </a:r>
            <a:r>
              <a:rPr lang="en-US" altLang="zh-CN" sz="2400">
                <a:solidFill>
                  <a:srgbClr val="000000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sz="2400">
                <a:solidFill>
                  <a:srgbClr val="000000"/>
                </a:solidFill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+mn-ea"/>
                <a:cs typeface="Times New Roman" pitchFamily="18" charset="0"/>
              </a:rPr>
              <a:t>≤</a:t>
            </a:r>
            <a:r>
              <a:rPr lang="zh-CN" altLang="en-US" sz="240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</a:rPr>
              <a:t>-1</a:t>
            </a:r>
            <a:r>
              <a:rPr lang="en-US" altLang="zh-CN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cs typeface="Times New Roman" pitchFamily="18" charset="0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41C51DB-98A6-4CBA-A7A7-6A1413D29484}"/>
              </a:ext>
            </a:extLst>
          </p:cNvPr>
          <p:cNvSpPr txBox="1"/>
          <p:nvPr/>
        </p:nvSpPr>
        <p:spPr bwMode="auto">
          <a:xfrm>
            <a:off x="2255865" y="812604"/>
            <a:ext cx="195438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70C0"/>
                </a:solidFill>
                <a:cs typeface="Times New Roman" pitchFamily="18" charset="0"/>
              </a:rPr>
              <a:t>真值</a:t>
            </a:r>
            <a:r>
              <a:rPr lang="en-US" altLang="zh-CN" sz="240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400">
                <a:solidFill>
                  <a:srgbClr val="0070C0"/>
                </a:solidFill>
                <a:cs typeface="Times New Roman" pitchFamily="18" charset="0"/>
              </a:rPr>
              <a:t>的范围</a:t>
            </a:r>
            <a:endParaRPr lang="zh-CN" altLang="en-US" sz="2400">
              <a:solidFill>
                <a:srgbClr val="0070C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16A9A68-23FD-4CDC-9252-B2DA8C477F62}"/>
              </a:ext>
            </a:extLst>
          </p:cNvPr>
          <p:cNvCxnSpPr>
            <a:cxnSpLocks/>
          </p:cNvCxnSpPr>
          <p:nvPr/>
        </p:nvCxnSpPr>
        <p:spPr bwMode="auto">
          <a:xfrm flipV="1">
            <a:off x="4231218" y="904879"/>
            <a:ext cx="0" cy="56426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E51D5E8-0C7F-42E6-88A6-0FEE235CC0AF}"/>
              </a:ext>
            </a:extLst>
          </p:cNvPr>
          <p:cNvCxnSpPr>
            <a:cxnSpLocks/>
          </p:cNvCxnSpPr>
          <p:nvPr/>
        </p:nvCxnSpPr>
        <p:spPr bwMode="auto">
          <a:xfrm>
            <a:off x="1929468" y="904879"/>
            <a:ext cx="300366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D75CE88-A995-44F7-B3B3-77737A7FC06F}"/>
              </a:ext>
            </a:extLst>
          </p:cNvPr>
          <p:cNvCxnSpPr>
            <a:cxnSpLocks/>
          </p:cNvCxnSpPr>
          <p:nvPr/>
        </p:nvCxnSpPr>
        <p:spPr bwMode="auto">
          <a:xfrm>
            <a:off x="345056" y="5327315"/>
            <a:ext cx="803164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658F71A2-C2E4-4880-9280-7B5B56836220}"/>
              </a:ext>
            </a:extLst>
          </p:cNvPr>
          <p:cNvCxnSpPr>
            <a:cxnSpLocks/>
          </p:cNvCxnSpPr>
          <p:nvPr/>
        </p:nvCxnSpPr>
        <p:spPr bwMode="auto">
          <a:xfrm flipV="1">
            <a:off x="4645894" y="5327316"/>
            <a:ext cx="0" cy="1198028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F851F5B-5630-4C5E-9E66-A470FDBEA4EB}"/>
              </a:ext>
            </a:extLst>
          </p:cNvPr>
          <p:cNvSpPr/>
          <p:nvPr/>
        </p:nvSpPr>
        <p:spPr bwMode="auto">
          <a:xfrm>
            <a:off x="345056" y="5013176"/>
            <a:ext cx="8031642" cy="1512168"/>
          </a:xfrm>
          <a:prstGeom prst="rect">
            <a:avLst/>
          </a:prstGeom>
          <a:noFill/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3DE9C1B-7B59-422D-AB86-C1697D926B89}"/>
              </a:ext>
            </a:extLst>
          </p:cNvPr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5355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7" grpId="0" animBg="1"/>
      <p:bldP spid="37" grpId="1" animBg="1"/>
      <p:bldP spid="38" grpId="0" animBg="1"/>
      <p:bldP spid="38" grpId="1" animBg="1"/>
      <p:bldP spid="42" grpId="0"/>
      <p:bldP spid="42" grpId="1"/>
      <p:bldP spid="43" grpId="0"/>
      <p:bldP spid="43" grpId="1"/>
      <p:bldP spid="43" grpId="2"/>
      <p:bldP spid="44" grpId="0"/>
      <p:bldP spid="44" grpId="1"/>
      <p:bldP spid="44" grpId="2"/>
      <p:bldP spid="45" grpId="0"/>
      <p:bldP spid="45" grpId="1"/>
      <p:bldP spid="45" grpId="2"/>
      <p:bldP spid="46" grpId="0" animBg="1"/>
      <p:bldP spid="46" grpId="1" animBg="1"/>
      <p:bldP spid="46" grpId="2" animBg="1"/>
      <p:bldP spid="50" grpId="0" animBg="1"/>
      <p:bldP spid="50" grpId="1" animBg="1"/>
      <p:bldP spid="51" grpId="0"/>
      <p:bldP spid="51" grpId="1"/>
      <p:bldP spid="52" grpId="0"/>
      <p:bldP spid="52" grpId="1"/>
      <p:bldP spid="53" grpId="0" animBg="1"/>
      <p:bldP spid="54" grpId="0" animBg="1"/>
      <p:bldP spid="55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E880EC-0DA3-4930-88D3-4AE0F37CC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712"/>
            <a:ext cx="8496300" cy="4320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ts val="200"/>
              </a:spcBef>
              <a:buFont typeface="Wingdings" pitchFamily="2" charset="2"/>
              <a:buNone/>
            </a:pP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早期</a:t>
            </a:r>
            <a:r>
              <a:rPr lang="zh-CN" altLang="en-US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 </a:t>
            </a:r>
            <a:r>
              <a:rPr lang="en-US" altLang="zh-CN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CISC </a:t>
            </a: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处理器的特点：</a:t>
            </a:r>
            <a:endParaRPr lang="en-US" altLang="zh-CN" ker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黑体" pitchFamily="49" charset="-122"/>
              <a:cs typeface="Arial" pitchFamily="34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kern="0"/>
              <a:t>指令系统复杂 </a:t>
            </a:r>
            <a:r>
              <a:rPr lang="en-US" altLang="zh-CN" kern="0"/>
              <a:t>—— </a:t>
            </a:r>
            <a:r>
              <a:rPr lang="zh-CN" altLang="en-US" kern="0"/>
              <a:t>条数多、寻址方式多、格式多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kern="0"/>
              <a:t>多数指令执行需多个时钟周期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kern="0"/>
              <a:t>有多种指令可以访问主存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kern="0"/>
              <a:t>控制器采用微程序方式实现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kern="0"/>
              <a:t>寄存器数量有限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4C7E48-47ED-470F-9C7B-C6D0BC7F87EA}"/>
              </a:ext>
            </a:extLst>
          </p:cNvPr>
          <p:cNvSpPr txBox="1"/>
          <p:nvPr/>
        </p:nvSpPr>
        <p:spPr bwMode="auto">
          <a:xfrm>
            <a:off x="590550" y="5282044"/>
            <a:ext cx="5804794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x86（</a:t>
            </a:r>
            <a:r>
              <a:rPr lang="en-US" altLang="zh-CN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AMD</a:t>
            </a:r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、海光、兆芯）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04A737-8174-42C4-901C-D141D5325A14}"/>
              </a:ext>
            </a:extLst>
          </p:cNvPr>
          <p:cNvSpPr txBox="1"/>
          <p:nvPr/>
        </p:nvSpPr>
        <p:spPr bwMode="auto">
          <a:xfrm>
            <a:off x="3939109" y="45105"/>
            <a:ext cx="312617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en-US" altLang="zh-CN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CISC </a:t>
            </a:r>
            <a:r>
              <a:rPr lang="zh-CN" altLang="en-US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endParaRPr lang="zh-CN" altLang="en-US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039158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10058-BA6B-4D8F-A0A6-2BD5D99E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C3EB3-BD85-4AEE-ADBB-2AA45FB7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E880EC-0DA3-4930-88D3-4AE0F37CC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8496300" cy="619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spcBef>
                <a:spcPts val="200"/>
              </a:spcBef>
              <a:buFont typeface="Wingdings" pitchFamily="2" charset="2"/>
              <a:buNone/>
            </a:pPr>
            <a:r>
              <a:rPr lang="en-US" altLang="zh-CN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RISC</a:t>
            </a: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rPr>
              <a:t>的特点：</a:t>
            </a:r>
            <a:endParaRPr lang="en-US" altLang="zh-CN" ker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黑体" pitchFamily="49" charset="-122"/>
              <a:cs typeface="Arial" pitchFamily="34" charset="0"/>
            </a:endParaRPr>
          </a:p>
          <a:p>
            <a:pPr>
              <a:spcBef>
                <a:spcPts val="200"/>
              </a:spcBef>
            </a:pPr>
            <a:r>
              <a:rPr lang="zh-CN" altLang="en-US" kern="0">
                <a:solidFill>
                  <a:srgbClr val="FF0000"/>
                </a:solidFill>
              </a:rPr>
              <a:t>指令系统简单</a:t>
            </a:r>
            <a:endParaRPr lang="en-US" altLang="zh-CN" kern="0">
              <a:solidFill>
                <a:srgbClr val="FF0000"/>
              </a:solidFill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itchFamily="18" charset="0"/>
              </a:rPr>
              <a:t>指令条数少、格式少、长度固定、功能简单</a:t>
            </a:r>
            <a:endParaRPr lang="en-US" altLang="zh-CN" sz="2400" kern="0">
              <a:latin typeface="Times New Roman" pitchFamily="18" charset="0"/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itchFamily="18" charset="0"/>
              </a:rPr>
              <a:t>寻址方式少</a:t>
            </a:r>
            <a:endParaRPr lang="en-US" altLang="zh-CN" sz="2400" kern="0">
              <a:latin typeface="Times New Roman" pitchFamily="18" charset="0"/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itchFamily="18" charset="0"/>
              </a:rPr>
              <a:t>采用硬布线控制逻辑（不用或少用微程序控制）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en-US" altLang="zh-CN" kern="0">
                <a:solidFill>
                  <a:srgbClr val="FF0000"/>
                </a:solidFill>
              </a:rPr>
              <a:t>Load/Store</a:t>
            </a:r>
            <a:r>
              <a:rPr lang="zh-CN" altLang="en-US" kern="0">
                <a:solidFill>
                  <a:srgbClr val="FF0000"/>
                </a:solidFill>
              </a:rPr>
              <a:t>结构</a:t>
            </a:r>
            <a:endParaRPr lang="en-US" altLang="zh-CN" kern="0">
              <a:solidFill>
                <a:srgbClr val="FF0000"/>
              </a:solidFill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只有</a:t>
            </a:r>
            <a:r>
              <a:rPr lang="en-US" altLang="zh-CN" sz="2400" kern="0"/>
              <a:t>LOAD</a:t>
            </a:r>
            <a:r>
              <a:rPr lang="zh-CN" altLang="en-US" sz="2400" kern="0"/>
              <a:t>和</a:t>
            </a:r>
            <a:r>
              <a:rPr lang="en-US" altLang="zh-CN" sz="2400" kern="0"/>
              <a:t>STORE</a:t>
            </a:r>
            <a:r>
              <a:rPr lang="zh-CN" altLang="en-US" sz="2400" kern="0"/>
              <a:t>指令可以访问存储器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寄存器多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寄存器窗口技术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zh-CN" altLang="en-US" kern="0"/>
              <a:t>十分重视提高</a:t>
            </a:r>
            <a:r>
              <a:rPr lang="zh-CN" altLang="en-US" kern="0">
                <a:solidFill>
                  <a:srgbClr val="FF0000"/>
                </a:solidFill>
              </a:rPr>
              <a:t>流水线</a:t>
            </a:r>
            <a:r>
              <a:rPr lang="zh-CN" altLang="en-US" kern="0"/>
              <a:t>的执行效率</a:t>
            </a:r>
            <a:endParaRPr lang="en-US" altLang="zh-CN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大部分指令可以单周期执行完成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延迟转移技术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指令流调整技术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zh-CN" altLang="en-US" kern="0">
                <a:latin typeface="宋体" charset="-122"/>
              </a:rPr>
              <a:t>十分强调</a:t>
            </a:r>
            <a:r>
              <a:rPr lang="zh-CN" altLang="en-US" kern="0">
                <a:solidFill>
                  <a:srgbClr val="FF0000"/>
                </a:solidFill>
                <a:latin typeface="宋体" charset="-122"/>
              </a:rPr>
              <a:t>优化编译</a:t>
            </a:r>
            <a:r>
              <a:rPr lang="zh-CN" altLang="en-US" kern="0">
                <a:latin typeface="宋体" charset="-122"/>
              </a:rPr>
              <a:t>技术的作用</a:t>
            </a:r>
            <a:endParaRPr lang="zh-CN" altLang="en-US" kern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A753BA-B5FA-4C50-84D1-A5D47630E67D}"/>
              </a:ext>
            </a:extLst>
          </p:cNvPr>
          <p:cNvSpPr txBox="1"/>
          <p:nvPr/>
        </p:nvSpPr>
        <p:spPr bwMode="auto">
          <a:xfrm>
            <a:off x="4631123" y="188640"/>
            <a:ext cx="4475905" cy="1200329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飞腾、鲲鹏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龙芯、申威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SPARC</a:t>
            </a:r>
            <a:endParaRPr lang="zh-CN" altLang="en-US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DE534B-6EDE-4F56-B361-7DB27723C223}"/>
              </a:ext>
            </a:extLst>
          </p:cNvPr>
          <p:cNvSpPr txBox="1"/>
          <p:nvPr/>
        </p:nvSpPr>
        <p:spPr bwMode="auto">
          <a:xfrm>
            <a:off x="5909873" y="5299156"/>
            <a:ext cx="312617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CISC 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834618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9C5A5C-5E88-4E4F-A117-613DF11B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79543"/>
            <a:ext cx="7278322" cy="50405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B673070-F812-44BF-BD94-3EB9906B4C6B}"/>
              </a:ext>
            </a:extLst>
          </p:cNvPr>
          <p:cNvSpPr/>
          <p:nvPr/>
        </p:nvSpPr>
        <p:spPr>
          <a:xfrm>
            <a:off x="2490629" y="2655288"/>
            <a:ext cx="1346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目的操作数</a:t>
            </a:r>
            <a:endParaRPr lang="en-US" altLang="zh-CN" sz="18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寻址方式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0A1CE7-E664-4931-ADF0-E9B80C86E684}"/>
              </a:ext>
            </a:extLst>
          </p:cNvPr>
          <p:cNvSpPr/>
          <p:nvPr/>
        </p:nvSpPr>
        <p:spPr>
          <a:xfrm>
            <a:off x="4788024" y="2666622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目的</a:t>
            </a:r>
            <a:endParaRPr lang="en-US" altLang="zh-CN" sz="18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寄存器号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636F2A-9C72-4E00-90F6-EF157B6A68AF}"/>
              </a:ext>
            </a:extLst>
          </p:cNvPr>
          <p:cNvSpPr/>
          <p:nvPr/>
        </p:nvSpPr>
        <p:spPr>
          <a:xfrm>
            <a:off x="5716980" y="1463199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源操作数</a:t>
            </a:r>
            <a:endParaRPr lang="en-US" altLang="zh-CN" sz="18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寻址方式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2F3FD-031F-45BB-AFF3-3C0F8C8ADCA6}"/>
              </a:ext>
            </a:extLst>
          </p:cNvPr>
          <p:cNvSpPr/>
          <p:nvPr/>
        </p:nvSpPr>
        <p:spPr>
          <a:xfrm>
            <a:off x="7019455" y="1455292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源</a:t>
            </a:r>
            <a:endParaRPr lang="en-US" altLang="zh-CN" sz="18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寄存器号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409CB9-B127-4924-A3A6-EE93753923AA}"/>
              </a:ext>
            </a:extLst>
          </p:cNvPr>
          <p:cNvSpPr/>
          <p:nvPr/>
        </p:nvSpPr>
        <p:spPr>
          <a:xfrm>
            <a:off x="7549763" y="3963255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/>
                <a:ea typeface="宋体"/>
              </a:rPr>
              <a:t>不用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65F28C-B62C-4004-BDFE-55E2CE39714E}"/>
              </a:ext>
            </a:extLst>
          </p:cNvPr>
          <p:cNvSpPr/>
          <p:nvPr/>
        </p:nvSpPr>
        <p:spPr>
          <a:xfrm>
            <a:off x="4036277" y="4893411"/>
            <a:ext cx="2044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指明条件转移指令</a:t>
            </a:r>
            <a:br>
              <a:rPr lang="en-US" altLang="zh-CN" sz="1800" dirty="0">
                <a:solidFill>
                  <a:srgbClr val="FF0000"/>
                </a:solidFill>
                <a:latin typeface="Times New Roman"/>
                <a:ea typeface="宋体"/>
              </a:rPr>
            </a:b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需要判断的标志位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424596-9102-4CF7-A936-1D88FC51C3FE}"/>
              </a:ext>
            </a:extLst>
          </p:cNvPr>
          <p:cNvSpPr/>
          <p:nvPr/>
        </p:nvSpPr>
        <p:spPr>
          <a:xfrm>
            <a:off x="5954114" y="5406810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/>
                <a:ea typeface="宋体"/>
              </a:rPr>
              <a:t>补码表示的偏移量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8F13F30-7538-4384-B2EF-90EDA3DFB82F}"/>
              </a:ext>
            </a:extLst>
          </p:cNvPr>
          <p:cNvCxnSpPr>
            <a:cxnSpLocks/>
          </p:cNvCxnSpPr>
          <p:nvPr/>
        </p:nvCxnSpPr>
        <p:spPr bwMode="auto">
          <a:xfrm>
            <a:off x="4932040" y="5517232"/>
            <a:ext cx="0" cy="345187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6469F05-444F-4D93-8B41-0A19B089C20E}"/>
              </a:ext>
            </a:extLst>
          </p:cNvPr>
          <p:cNvCxnSpPr>
            <a:cxnSpLocks/>
          </p:cNvCxnSpPr>
          <p:nvPr/>
        </p:nvCxnSpPr>
        <p:spPr bwMode="auto">
          <a:xfrm flipV="1">
            <a:off x="3484948" y="2454792"/>
            <a:ext cx="196329" cy="288408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239227E-B371-4ABE-BF20-F8E974F9BA8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004048" y="2445456"/>
            <a:ext cx="188676" cy="270850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2855F715-EA94-461C-9C3E-73BE082082CB}"/>
              </a:ext>
            </a:extLst>
          </p:cNvPr>
          <p:cNvSpPr/>
          <p:nvPr/>
        </p:nvSpPr>
        <p:spPr>
          <a:xfrm>
            <a:off x="3119983" y="360064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/>
                <a:ea typeface="宋体"/>
              </a:rPr>
              <a:t>寻址方式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CF6B77-E4FA-4025-A1AA-05EFC08AF25F}"/>
              </a:ext>
            </a:extLst>
          </p:cNvPr>
          <p:cNvSpPr/>
          <p:nvPr/>
        </p:nvSpPr>
        <p:spPr>
          <a:xfrm>
            <a:off x="3119983" y="542272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/>
                <a:ea typeface="宋体"/>
              </a:rPr>
              <a:t>寻址方式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6FAF1F-00CD-41A3-8066-8547AE98E78E}"/>
              </a:ext>
            </a:extLst>
          </p:cNvPr>
          <p:cNvSpPr/>
          <p:nvPr/>
        </p:nvSpPr>
        <p:spPr>
          <a:xfrm>
            <a:off x="4412831" y="360064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/>
                <a:ea typeface="宋体"/>
              </a:rPr>
              <a:t>寄存器号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A0A6E2-0A59-497E-97BA-D0F65BD3D0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74BBFD89-8281-4D5C-9FD1-933A72CB8B97}"/>
              </a:ext>
            </a:extLst>
          </p:cNvPr>
          <p:cNvSpPr txBox="1">
            <a:spLocks/>
          </p:cNvSpPr>
          <p:nvPr/>
        </p:nvSpPr>
        <p:spPr>
          <a:xfrm>
            <a:off x="263072" y="152365"/>
            <a:ext cx="8639339" cy="126076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2400" kern="0" dirty="0">
                <a:solidFill>
                  <a:srgbClr val="C00000"/>
                </a:solidFill>
              </a:rPr>
              <a:t>【</a:t>
            </a:r>
            <a:r>
              <a:rPr lang="zh-CN" altLang="en-US" sz="2400" kern="0" dirty="0">
                <a:solidFill>
                  <a:srgbClr val="C00000"/>
                </a:solidFill>
              </a:rPr>
              <a:t>例</a:t>
            </a:r>
            <a:r>
              <a:rPr lang="en-US" altLang="zh-CN" sz="2400" kern="0" dirty="0">
                <a:solidFill>
                  <a:srgbClr val="C00000"/>
                </a:solidFill>
              </a:rPr>
              <a:t>】</a:t>
            </a:r>
            <a:r>
              <a:rPr lang="zh-CN" altLang="en-US" sz="2400" kern="0" dirty="0"/>
              <a:t>某计算机</a:t>
            </a:r>
            <a:r>
              <a:rPr lang="zh-CN" altLang="en-US" sz="2400" kern="0" dirty="0">
                <a:solidFill>
                  <a:srgbClr val="CC0099"/>
                </a:solidFill>
              </a:rPr>
              <a:t>字长</a:t>
            </a:r>
            <a:r>
              <a:rPr lang="zh-CN" altLang="en-US" sz="2400" kern="0" dirty="0"/>
              <a:t>为</a:t>
            </a:r>
            <a:r>
              <a:rPr lang="en-US" altLang="zh-CN" sz="2400" kern="0" dirty="0">
                <a:solidFill>
                  <a:srgbClr val="CC0099"/>
                </a:solidFill>
              </a:rPr>
              <a:t>16</a:t>
            </a:r>
            <a:r>
              <a:rPr lang="zh-CN" altLang="en-US" sz="2400" kern="0" dirty="0">
                <a:solidFill>
                  <a:srgbClr val="CC0099"/>
                </a:solidFill>
              </a:rPr>
              <a:t>位</a:t>
            </a:r>
            <a:r>
              <a:rPr lang="zh-CN" altLang="en-US" sz="2400" kern="0" dirty="0"/>
              <a:t>，主存</a:t>
            </a:r>
            <a:r>
              <a:rPr lang="zh-CN" altLang="en-US" sz="2400" kern="0" dirty="0">
                <a:solidFill>
                  <a:srgbClr val="008000"/>
                </a:solidFill>
              </a:rPr>
              <a:t>最大地址空间</a:t>
            </a:r>
            <a:r>
              <a:rPr lang="zh-CN" altLang="en-US" sz="2400" kern="0" dirty="0"/>
              <a:t>为</a:t>
            </a:r>
            <a:r>
              <a:rPr lang="en-US" altLang="zh-CN" sz="2400" kern="0" dirty="0">
                <a:solidFill>
                  <a:srgbClr val="008000"/>
                </a:solidFill>
              </a:rPr>
              <a:t>128KB</a:t>
            </a:r>
            <a:r>
              <a:rPr lang="zh-CN" altLang="en-US" sz="2400" kern="0" dirty="0"/>
              <a:t>，</a:t>
            </a:r>
            <a:r>
              <a:rPr lang="zh-CN" altLang="en-US" sz="2400" kern="0" dirty="0">
                <a:solidFill>
                  <a:srgbClr val="FF0000"/>
                </a:solidFill>
              </a:rPr>
              <a:t>按字编址</a:t>
            </a:r>
            <a:r>
              <a:rPr lang="zh-CN" altLang="en-US" sz="2400" kern="0" dirty="0"/>
              <a:t>（即每个</a:t>
            </a:r>
            <a:r>
              <a:rPr lang="en-US" altLang="zh-CN" sz="2400" kern="0" dirty="0"/>
              <a:t>16</a:t>
            </a:r>
            <a:r>
              <a:rPr lang="zh-CN" altLang="en-US" sz="2400" kern="0" dirty="0"/>
              <a:t>位的字占用一个内存地址）。</a:t>
            </a:r>
            <a:endParaRPr lang="en-US" altLang="zh-CN" sz="2400" kern="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kern="0" dirty="0"/>
              <a:t>该计算机</a:t>
            </a:r>
            <a:r>
              <a:rPr lang="zh-CN" altLang="en-US" sz="2400" kern="0" dirty="0">
                <a:solidFill>
                  <a:srgbClr val="0000FF"/>
                </a:solidFill>
              </a:rPr>
              <a:t>所有指令</a:t>
            </a:r>
            <a:r>
              <a:rPr lang="zh-CN" altLang="en-US" sz="2400" kern="0" dirty="0"/>
              <a:t>均为</a:t>
            </a:r>
            <a:r>
              <a:rPr lang="zh-CN" altLang="en-US" sz="2400" kern="0" dirty="0">
                <a:solidFill>
                  <a:srgbClr val="0000FF"/>
                </a:solidFill>
              </a:rPr>
              <a:t>单字长</a:t>
            </a:r>
            <a:r>
              <a:rPr lang="zh-CN" altLang="en-US" sz="2400" kern="0" dirty="0"/>
              <a:t>，共有以下三种指令格式：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6EBD4A-1D14-4480-8425-C4DB49782A7D}"/>
              </a:ext>
            </a:extLst>
          </p:cNvPr>
          <p:cNvSpPr txBox="1"/>
          <p:nvPr/>
        </p:nvSpPr>
        <p:spPr bwMode="auto">
          <a:xfrm>
            <a:off x="6372200" y="3121804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53853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64682-F550-45A6-B455-7D9AFBBD98EC}"/>
              </a:ext>
            </a:extLst>
          </p:cNvPr>
          <p:cNvSpPr txBox="1">
            <a:spLocks/>
          </p:cNvSpPr>
          <p:nvPr/>
        </p:nvSpPr>
        <p:spPr bwMode="auto">
          <a:xfrm>
            <a:off x="35496" y="1412699"/>
            <a:ext cx="5256584" cy="5184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2788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6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该指令系统最多可有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多少条指令？         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该计算机最多可有多少个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通用寄存器？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该计算机地址寄存器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和数据寄存器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至少各需多少位？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无条件转移指令跳转的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地址范围是多少？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C45804-7ADA-4558-A172-C91358304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51149E-096D-4912-8502-83FFE19E1593}"/>
              </a:ext>
            </a:extLst>
          </p:cNvPr>
          <p:cNvSpPr/>
          <p:nvPr/>
        </p:nvSpPr>
        <p:spPr>
          <a:xfrm>
            <a:off x="1539533" y="2665434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2</a:t>
            </a:r>
            <a:r>
              <a:rPr lang="en-US" altLang="zh-CN" sz="2000" kern="0" baseline="30000" dirty="0">
                <a:solidFill>
                  <a:srgbClr val="FF0000"/>
                </a:solidFill>
                <a:latin typeface="Times New Roman"/>
                <a:ea typeface="宋体"/>
              </a:rPr>
              <a:t>4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=16</a:t>
            </a:r>
            <a:endParaRPr lang="zh-CN" altLang="en-US" sz="16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8B629E-9623-447B-9C9F-FC5AE2984298}"/>
              </a:ext>
            </a:extLst>
          </p:cNvPr>
          <p:cNvSpPr/>
          <p:nvPr/>
        </p:nvSpPr>
        <p:spPr>
          <a:xfrm>
            <a:off x="1566961" y="3346873"/>
            <a:ext cx="671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2</a:t>
            </a:r>
            <a:r>
              <a:rPr lang="en-US" altLang="zh-CN" sz="2000" kern="0" baseline="30000" dirty="0">
                <a:solidFill>
                  <a:srgbClr val="FF0000"/>
                </a:solidFill>
                <a:latin typeface="Times New Roman"/>
                <a:ea typeface="宋体"/>
              </a:rPr>
              <a:t>3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/>
                <a:ea typeface="宋体"/>
              </a:rPr>
              <a:t>=8</a:t>
            </a:r>
            <a:endParaRPr lang="zh-CN" altLang="en-US" sz="16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E46B8A-634D-4606-A3B4-E6384F9436CD}"/>
              </a:ext>
            </a:extLst>
          </p:cNvPr>
          <p:cNvSpPr/>
          <p:nvPr/>
        </p:nvSpPr>
        <p:spPr>
          <a:xfrm>
            <a:off x="209097" y="4717957"/>
            <a:ext cx="2210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128KB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÷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2B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64K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0BE57F-41AC-4A5C-8978-0E4BD44861AC}"/>
              </a:ext>
            </a:extLst>
          </p:cNvPr>
          <p:cNvSpPr/>
          <p:nvPr/>
        </p:nvSpPr>
        <p:spPr>
          <a:xfrm>
            <a:off x="2294966" y="3421005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F4A932-D524-481D-995A-7BAC43BC80AB}"/>
              </a:ext>
            </a:extLst>
          </p:cNvPr>
          <p:cNvSpPr/>
          <p:nvPr/>
        </p:nvSpPr>
        <p:spPr>
          <a:xfrm>
            <a:off x="1987000" y="4004079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9C7373-5A6C-451C-AF88-A457E956FB00}"/>
              </a:ext>
            </a:extLst>
          </p:cNvPr>
          <p:cNvSpPr/>
          <p:nvPr/>
        </p:nvSpPr>
        <p:spPr>
          <a:xfrm>
            <a:off x="138862" y="5904425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寄存器与内存地址均为</a:t>
            </a:r>
            <a:r>
              <a:rPr lang="nl-NL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16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36D248-4B96-4C11-9621-5EFE167CE843}"/>
              </a:ext>
            </a:extLst>
          </p:cNvPr>
          <p:cNvSpPr/>
          <p:nvPr/>
        </p:nvSpPr>
        <p:spPr>
          <a:xfrm>
            <a:off x="138863" y="6269250"/>
            <a:ext cx="45111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可跳转到</a:t>
            </a:r>
            <a:r>
              <a:rPr lang="nl-NL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64K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字内存空间的任意位置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387872-9BC3-400D-8546-08CABD35AC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1C625BC-54A2-4451-814B-C5303C52D098}"/>
              </a:ext>
            </a:extLst>
          </p:cNvPr>
          <p:cNvSpPr/>
          <p:nvPr/>
        </p:nvSpPr>
        <p:spPr>
          <a:xfrm>
            <a:off x="827584" y="51906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</a:pPr>
            <a:r>
              <a:rPr lang="zh-CN" altLang="en-US" sz="2400" b="1" kern="0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寻址方式</a:t>
            </a:r>
            <a:r>
              <a:rPr lang="zh-CN" altLang="en-US" sz="2400" b="1" kern="0" dirty="0">
                <a:solidFill>
                  <a:srgbClr val="FF6600"/>
                </a:solidFill>
              </a:rPr>
              <a:t>定义：</a:t>
            </a:r>
            <a:endParaRPr lang="en-US" altLang="zh-CN" sz="2400" b="1" kern="0" dirty="0">
              <a:solidFill>
                <a:srgbClr val="FF6600"/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D29A7A0-E564-4557-8E0C-7D14ADB20C80}"/>
              </a:ext>
            </a:extLst>
          </p:cNvPr>
          <p:cNvCxnSpPr>
            <a:cxnSpLocks/>
          </p:cNvCxnSpPr>
          <p:nvPr/>
        </p:nvCxnSpPr>
        <p:spPr bwMode="auto">
          <a:xfrm>
            <a:off x="2994196" y="163316"/>
            <a:ext cx="0" cy="208666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A025A6-31D3-4359-A107-C8FA98F0AB5E}"/>
              </a:ext>
            </a:extLst>
          </p:cNvPr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34F3612-DCA8-4853-BA3E-D9880450BA37}"/>
                </a:ext>
              </a:extLst>
            </p:cNvPr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EFF728C0-D757-4295-BBE9-D5D1288F7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5ED0C61-2ABA-4B96-A955-1F7B12701A6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32E328A-9FF5-4446-BF20-13EA7FBF6F8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2E53E9F-4BBC-454A-B9C3-EB238212D26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5BEC64D-30E8-4EAC-8F68-32D2D5B558B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A01911-EC82-45A4-8502-DA3ADF828F04}"/>
                </a:ext>
              </a:extLst>
            </p:cNvPr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DE373BD7-E0F5-46F7-854F-7F9943B5BFEC}"/>
              </a:ext>
            </a:extLst>
          </p:cNvPr>
          <p:cNvSpPr txBox="1"/>
          <p:nvPr/>
        </p:nvSpPr>
        <p:spPr>
          <a:xfrm>
            <a:off x="0" y="557880"/>
            <a:ext cx="92813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】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C9900C-28F2-4024-A51A-A54B54539313}"/>
              </a:ext>
            </a:extLst>
          </p:cNvPr>
          <p:cNvSpPr txBox="1"/>
          <p:nvPr/>
        </p:nvSpPr>
        <p:spPr bwMode="auto">
          <a:xfrm>
            <a:off x="107504" y="63273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34629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64682-F550-45A6-B455-7D9AFBBD98EC}"/>
              </a:ext>
            </a:extLst>
          </p:cNvPr>
          <p:cNvSpPr txBox="1">
            <a:spLocks/>
          </p:cNvSpPr>
          <p:nvPr/>
        </p:nvSpPr>
        <p:spPr bwMode="auto">
          <a:xfrm>
            <a:off x="35496" y="1412699"/>
            <a:ext cx="3410124" cy="3600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2788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6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(3)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条件转移指令的相对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偏移量范围是多少？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以条件转移指令的位置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为基准，向前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程序执行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的方向</a:t>
            </a:r>
            <a:r>
              <a:rPr lang="en-US" altLang="zh-CN" sz="2000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跳，最多可以跳过多少条指令？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向后跳，最多可以跳过多少条指令？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C45804-7ADA-4558-A172-C91358304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  <a:pPr/>
              <a:t>42</a:t>
            </a:fld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387872-9BC3-400D-8546-08CABD35AC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A025A6-31D3-4359-A107-C8FA98F0AB5E}"/>
              </a:ext>
            </a:extLst>
          </p:cNvPr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34F3612-DCA8-4853-BA3E-D9880450BA37}"/>
                </a:ext>
              </a:extLst>
            </p:cNvPr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EFF728C0-D757-4295-BBE9-D5D1288F7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5ED0C61-2ABA-4B96-A955-1F7B12701A6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32E328A-9FF5-4446-BF20-13EA7FBF6F8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2E53E9F-4BBC-454A-B9C3-EB238212D26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5BEC64D-30E8-4EAC-8F68-32D2D5B558B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A01911-EC82-45A4-8502-DA3ADF828F04}"/>
                </a:ext>
              </a:extLst>
            </p:cNvPr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30C44C61-CDCE-4F75-A7C6-340794DB48E2}"/>
              </a:ext>
            </a:extLst>
          </p:cNvPr>
          <p:cNvSpPr/>
          <p:nvPr/>
        </p:nvSpPr>
        <p:spPr>
          <a:xfrm>
            <a:off x="35495" y="4874676"/>
            <a:ext cx="32816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条件转移指令的相对偏移量</a:t>
            </a:r>
            <a:b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补码</a:t>
            </a:r>
            <a:r>
              <a:rPr lang="en-US" altLang="zh-CN" sz="20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范围为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 -2</a:t>
            </a:r>
            <a:r>
              <a:rPr lang="en-US" altLang="zh-CN" sz="2000" kern="1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kern="1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-1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1702CC-5C16-46DA-939D-FD623F90DAA9}"/>
              </a:ext>
            </a:extLst>
          </p:cNvPr>
          <p:cNvSpPr/>
          <p:nvPr/>
        </p:nvSpPr>
        <p:spPr>
          <a:xfrm>
            <a:off x="1316121" y="5517232"/>
            <a:ext cx="1766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/>
                <a:ea typeface="Times New Roman" panose="02020603050405020304" pitchFamily="18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Times New Roman"/>
                <a:ea typeface="Times New Roman" panose="02020603050405020304" pitchFamily="18" charset="0"/>
              </a:rPr>
              <a:t>-32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+31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C1041B4-8A4A-47E2-9821-B2BD0FC0F051}"/>
              </a:ext>
            </a:extLst>
          </p:cNvPr>
          <p:cNvSpPr/>
          <p:nvPr/>
        </p:nvSpPr>
        <p:spPr>
          <a:xfrm>
            <a:off x="102718" y="6269250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向后跳，最多跳</a:t>
            </a:r>
            <a:r>
              <a:rPr lang="nl-NL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31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条指令。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3980D9-C821-4135-8E1A-0DC9515783DB}"/>
              </a:ext>
            </a:extLst>
          </p:cNvPr>
          <p:cNvSpPr/>
          <p:nvPr/>
        </p:nvSpPr>
        <p:spPr>
          <a:xfrm>
            <a:off x="102718" y="5886540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向前跳，最多跳</a:t>
            </a:r>
            <a:r>
              <a:rPr lang="nl-NL" altLang="zh-CN" sz="2000" kern="100" dirty="0">
                <a:solidFill>
                  <a:srgbClr val="FF0000"/>
                </a:solidFill>
                <a:ea typeface="宋体" panose="02010600030101010101" pitchFamily="2" charset="-122"/>
              </a:rPr>
              <a:t>32</a:t>
            </a:r>
            <a:r>
              <a:rPr lang="zh-CN" altLang="zh-CN" sz="2000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条指令；</a:t>
            </a:r>
            <a:endParaRPr lang="zh-CN" altLang="en-US" sz="200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557D0F-6B73-4387-82EB-E1EF60092B9C}"/>
              </a:ext>
            </a:extLst>
          </p:cNvPr>
          <p:cNvSpPr/>
          <p:nvPr/>
        </p:nvSpPr>
        <p:spPr bwMode="auto">
          <a:xfrm>
            <a:off x="673442" y="456170"/>
            <a:ext cx="1769790" cy="382391"/>
          </a:xfrm>
          <a:prstGeom prst="rect">
            <a:avLst/>
          </a:prstGeom>
          <a:solidFill>
            <a:srgbClr val="C5FFC5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条件转移指令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3C17D2-E9C6-4DE6-B9C4-4BEB40B5AFF6}"/>
              </a:ext>
            </a:extLst>
          </p:cNvPr>
          <p:cNvSpPr/>
          <p:nvPr/>
        </p:nvSpPr>
        <p:spPr bwMode="auto">
          <a:xfrm>
            <a:off x="673442" y="927076"/>
            <a:ext cx="1769790" cy="382391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顺序下一条指令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DC46FE-DE78-4FDB-B534-BE6E16A94EDE}"/>
              </a:ext>
            </a:extLst>
          </p:cNvPr>
          <p:cNvSpPr/>
          <p:nvPr/>
        </p:nvSpPr>
        <p:spPr>
          <a:xfrm>
            <a:off x="35495" y="943196"/>
            <a:ext cx="72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0" dirty="0">
                <a:solidFill>
                  <a:srgbClr val="CC0099"/>
                </a:solidFill>
                <a:latin typeface="Times New Roman"/>
                <a:ea typeface="宋体"/>
              </a:rPr>
              <a:t>PC</a:t>
            </a:r>
            <a:r>
              <a:rPr lang="en-US" altLang="zh-CN" sz="1800" kern="0" dirty="0">
                <a:solidFill>
                  <a:srgbClr val="CC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endParaRPr lang="zh-CN" altLang="en-US" sz="1400" dirty="0">
              <a:solidFill>
                <a:srgbClr val="CC0099"/>
              </a:solidFill>
              <a:latin typeface="Times New Roman"/>
              <a:ea typeface="宋体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2A80E5C-571C-49A2-BE3E-9B135E43F7A9}"/>
              </a:ext>
            </a:extLst>
          </p:cNvPr>
          <p:cNvCxnSpPr>
            <a:cxnSpLocks/>
          </p:cNvCxnSpPr>
          <p:nvPr/>
        </p:nvCxnSpPr>
        <p:spPr bwMode="auto">
          <a:xfrm>
            <a:off x="2443232" y="602916"/>
            <a:ext cx="279824" cy="0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EC0E1E-985A-4EF9-A80A-376D31357FBA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3056" y="341948"/>
            <a:ext cx="0" cy="260967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900028D-FC74-4C68-A180-6A1C010C802B}"/>
              </a:ext>
            </a:extLst>
          </p:cNvPr>
          <p:cNvCxnSpPr>
            <a:cxnSpLocks/>
          </p:cNvCxnSpPr>
          <p:nvPr/>
        </p:nvCxnSpPr>
        <p:spPr bwMode="auto">
          <a:xfrm>
            <a:off x="2443232" y="694272"/>
            <a:ext cx="291832" cy="0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03508D1-B9E2-4CF7-8D88-6410AFF27917}"/>
              </a:ext>
            </a:extLst>
          </p:cNvPr>
          <p:cNvCxnSpPr>
            <a:cxnSpLocks/>
          </p:cNvCxnSpPr>
          <p:nvPr/>
        </p:nvCxnSpPr>
        <p:spPr bwMode="auto">
          <a:xfrm>
            <a:off x="2735064" y="694273"/>
            <a:ext cx="0" cy="248923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7D424A89-28B5-43A8-B3EB-ED44959EC716}"/>
              </a:ext>
            </a:extLst>
          </p:cNvPr>
          <p:cNvSpPr/>
          <p:nvPr/>
        </p:nvSpPr>
        <p:spPr>
          <a:xfrm>
            <a:off x="2410295" y="84600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/>
                <a:ea typeface="宋体"/>
              </a:rPr>
              <a:t>向前</a:t>
            </a:r>
            <a:endParaRPr lang="zh-CN" altLang="en-US" sz="1400" dirty="0">
              <a:solidFill>
                <a:srgbClr val="008000"/>
              </a:solidFill>
              <a:latin typeface="Times New Roman"/>
              <a:ea typeface="宋体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871603E-AFEF-4324-BF34-B8084E81985B}"/>
              </a:ext>
            </a:extLst>
          </p:cNvPr>
          <p:cNvSpPr/>
          <p:nvPr/>
        </p:nvSpPr>
        <p:spPr>
          <a:xfrm>
            <a:off x="2398287" y="4462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/>
                <a:ea typeface="宋体"/>
              </a:rPr>
              <a:t>向后</a:t>
            </a:r>
            <a:endParaRPr lang="zh-CN" altLang="en-US" sz="1400" dirty="0">
              <a:solidFill>
                <a:srgbClr val="008000"/>
              </a:solidFill>
              <a:latin typeface="Times New Roman"/>
              <a:ea typeface="宋体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D276E92-C193-4082-9A5F-2A4770BE804F}"/>
              </a:ext>
            </a:extLst>
          </p:cNvPr>
          <p:cNvSpPr/>
          <p:nvPr/>
        </p:nvSpPr>
        <p:spPr>
          <a:xfrm>
            <a:off x="48932" y="469229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/>
                <a:ea typeface="宋体"/>
              </a:rPr>
              <a:t>执行</a:t>
            </a:r>
            <a:endParaRPr lang="zh-CN" altLang="en-US" sz="1400" dirty="0">
              <a:solidFill>
                <a:srgbClr val="008000"/>
              </a:solidFill>
              <a:latin typeface="Times New Roman"/>
              <a:ea typeface="宋体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E7BAB32-CE6C-4D63-A2B1-4B40BA1CE496}"/>
              </a:ext>
            </a:extLst>
          </p:cNvPr>
          <p:cNvCxnSpPr>
            <a:cxnSpLocks/>
          </p:cNvCxnSpPr>
          <p:nvPr/>
        </p:nvCxnSpPr>
        <p:spPr bwMode="auto">
          <a:xfrm>
            <a:off x="539552" y="363518"/>
            <a:ext cx="0" cy="9772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B0F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BC70A07-2291-4B0E-8E77-6C0D977726A1}"/>
              </a:ext>
            </a:extLst>
          </p:cNvPr>
          <p:cNvSpPr txBox="1"/>
          <p:nvPr/>
        </p:nvSpPr>
        <p:spPr bwMode="auto">
          <a:xfrm>
            <a:off x="120101" y="86519"/>
            <a:ext cx="1627047" cy="276999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zh-CN" altLang="en-US" sz="1800">
                <a:solidFill>
                  <a:srgbClr val="0070C0"/>
                </a:solidFill>
              </a:rPr>
              <a:t>程序的执行方向</a:t>
            </a:r>
          </a:p>
        </p:txBody>
      </p:sp>
    </p:spTree>
    <p:extLst>
      <p:ext uri="{BB962C8B-B14F-4D97-AF65-F5344CB8AC3E}">
        <p14:creationId xmlns:p14="http://schemas.microsoft.com/office/powerpoint/2010/main" val="37704670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7" grpId="0"/>
      <p:bldP spid="28" grpId="0" animBg="1"/>
      <p:bldP spid="29" grpId="0" animBg="1"/>
      <p:bldP spid="30" grpId="0"/>
      <p:bldP spid="37" grpId="0"/>
      <p:bldP spid="38" grpId="0"/>
      <p:bldP spid="39" grpId="0"/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64682-F550-45A6-B455-7D9AFBBD98EC}"/>
              </a:ext>
            </a:extLst>
          </p:cNvPr>
          <p:cNvSpPr txBox="1">
            <a:spLocks/>
          </p:cNvSpPr>
          <p:nvPr/>
        </p:nvSpPr>
        <p:spPr bwMode="auto">
          <a:xfrm>
            <a:off x="35495" y="150690"/>
            <a:ext cx="3514509" cy="623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2788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638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(4)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若操作码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0010B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表示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加法操作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汇编语言助记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符为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ADD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寄存器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寄存器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R5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；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内存地址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内存地址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，则：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汇编语句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ADD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R4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R5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”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逗号左侧为目的操作数，逗号右侧为源操作数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对应的机器码是什么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16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进制表示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？指令执行后，哪些寄存器和内存单元的内容会改变？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改变后的内容是什么？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C45804-7ADA-4558-A172-C91358304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  <a:pPr/>
              <a:t>43</a:t>
            </a:fld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387872-9BC3-400D-8546-08CABD35AC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A025A6-31D3-4359-A107-C8FA98F0AB5E}"/>
              </a:ext>
            </a:extLst>
          </p:cNvPr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34F3612-DCA8-4853-BA3E-D9880450BA37}"/>
                </a:ext>
              </a:extLst>
            </p:cNvPr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EFF728C0-D757-4295-BBE9-D5D1288F7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5ED0C61-2ABA-4B96-A955-1F7B12701A6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932E328A-9FF5-4446-BF20-13EA7FBF6F8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22E53E9F-4BBC-454A-B9C3-EB238212D26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5BEC64D-30E8-4EAC-8F68-32D2D5B558B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4A01911-EC82-45A4-8502-DA3ADF828F04}"/>
                </a:ext>
              </a:extLst>
            </p:cNvPr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85C79B91-BFEA-4622-B05F-127F4B5C161E}"/>
              </a:ext>
            </a:extLst>
          </p:cNvPr>
          <p:cNvSpPr/>
          <p:nvPr/>
        </p:nvSpPr>
        <p:spPr>
          <a:xfrm>
            <a:off x="119336" y="6270279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0010 001 100 010 101</a:t>
            </a:r>
            <a:r>
              <a:rPr lang="zh-CN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宋体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D57501D-E942-4548-8AD3-D13DBB76B12A}"/>
              </a:ext>
            </a:extLst>
          </p:cNvPr>
          <p:cNvSpPr/>
          <p:nvPr/>
        </p:nvSpPr>
        <p:spPr>
          <a:xfrm>
            <a:off x="2595038" y="6277211"/>
            <a:ext cx="1460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2315H</a:t>
            </a:r>
            <a:r>
              <a:rPr lang="zh-CN" altLang="en-US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。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宋体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3D68A4E-6CAF-4477-A548-C4E5A63EBC30}"/>
              </a:ext>
            </a:extLst>
          </p:cNvPr>
          <p:cNvSpPr/>
          <p:nvPr/>
        </p:nvSpPr>
        <p:spPr>
          <a:xfrm>
            <a:off x="1259632" y="2924944"/>
            <a:ext cx="98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68ACH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宋体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1C793BD-A7DC-494F-B553-1799C6CE6DAE}"/>
              </a:ext>
            </a:extLst>
          </p:cNvPr>
          <p:cNvSpPr/>
          <p:nvPr/>
        </p:nvSpPr>
        <p:spPr>
          <a:xfrm>
            <a:off x="2719449" y="2877711"/>
            <a:ext cx="8835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5679H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宋体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728E996-8596-4CB0-8BA9-35BE54C70B61}"/>
              </a:ext>
            </a:extLst>
          </p:cNvPr>
          <p:cNvCxnSpPr>
            <a:cxnSpLocks/>
          </p:cNvCxnSpPr>
          <p:nvPr/>
        </p:nvCxnSpPr>
        <p:spPr bwMode="auto">
          <a:xfrm>
            <a:off x="2887925" y="2670837"/>
            <a:ext cx="210510" cy="256559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EA5F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D6B9498-C77B-4F83-A0A6-88AE4A092BA4}"/>
              </a:ext>
            </a:extLst>
          </p:cNvPr>
          <p:cNvCxnSpPr>
            <a:cxnSpLocks/>
          </p:cNvCxnSpPr>
          <p:nvPr/>
        </p:nvCxnSpPr>
        <p:spPr bwMode="auto">
          <a:xfrm>
            <a:off x="925554" y="3140968"/>
            <a:ext cx="373323" cy="0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EA5F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63E8E68-1756-46C1-A524-6688DC726AA8}"/>
              </a:ext>
            </a:extLst>
          </p:cNvPr>
          <p:cNvCxnSpPr>
            <a:cxnSpLocks/>
          </p:cNvCxnSpPr>
          <p:nvPr/>
        </p:nvCxnSpPr>
        <p:spPr bwMode="auto">
          <a:xfrm>
            <a:off x="395567" y="4509120"/>
            <a:ext cx="2016193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EA5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B9E47A5-35FD-4B60-BF7F-2CA25B826107}"/>
              </a:ext>
            </a:extLst>
          </p:cNvPr>
          <p:cNvCxnSpPr>
            <a:cxnSpLocks/>
          </p:cNvCxnSpPr>
          <p:nvPr/>
        </p:nvCxnSpPr>
        <p:spPr bwMode="auto">
          <a:xfrm>
            <a:off x="205454" y="6630242"/>
            <a:ext cx="2278314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EA5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534859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B01D6-E59B-4025-A25D-F4F2CDA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>
              <a:solidFill>
                <a:srgbClr val="0070C0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622E7-DB46-4936-A1BF-30DFD89E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EB9A9-CA8E-43F6-A799-06FC156F8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44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99CCE1F-F7AA-4E2E-A186-3C16B4DDC0A0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58400578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21757434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777176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6642679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220663786"/>
                    </a:ext>
                  </a:extLst>
                </a:gridCol>
                <a:gridCol w="1192694">
                  <a:extLst>
                    <a:ext uri="{9D8B030D-6E8A-4147-A177-3AD203B41FA5}">
                      <a16:colId xmlns:a16="http://schemas.microsoft.com/office/drawing/2014/main" val="385678238"/>
                    </a:ext>
                  </a:extLst>
                </a:gridCol>
                <a:gridCol w="3703850">
                  <a:extLst>
                    <a:ext uri="{9D8B030D-6E8A-4147-A177-3AD203B41FA5}">
                      <a16:colId xmlns:a16="http://schemas.microsoft.com/office/drawing/2014/main" val="407910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17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52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264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031468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E389B96-BC1D-4F27-A75D-772A6816136C}"/>
              </a:ext>
            </a:extLst>
          </p:cNvPr>
          <p:cNvSpPr txBox="1">
            <a:spLocks/>
          </p:cNvSpPr>
          <p:nvPr/>
        </p:nvSpPr>
        <p:spPr bwMode="auto">
          <a:xfrm>
            <a:off x="107504" y="3501086"/>
            <a:ext cx="8928992" cy="1296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2400" kern="0"/>
              <a:t>其中，</a:t>
            </a:r>
            <a:r>
              <a:rPr lang="en-US" altLang="zh-CN" sz="2400" kern="0"/>
              <a:t>op1</a:t>
            </a:r>
            <a:r>
              <a:rPr lang="zh-CN" altLang="en-US" sz="2400" kern="0"/>
              <a:t>～</a:t>
            </a:r>
            <a:r>
              <a:rPr lang="en-US" altLang="zh-CN" sz="2400" kern="0"/>
              <a:t>op3</a:t>
            </a:r>
            <a:r>
              <a:rPr lang="zh-CN" altLang="en-US" sz="2400" kern="0"/>
              <a:t>为操作码，</a:t>
            </a:r>
            <a:r>
              <a:rPr lang="en-US" altLang="zh-CN" sz="2400" kern="0" err="1"/>
              <a:t>rs</a:t>
            </a:r>
            <a:r>
              <a:rPr lang="zh-CN" altLang="en-US" sz="2400" kern="0"/>
              <a:t>、</a:t>
            </a:r>
            <a:r>
              <a:rPr lang="en-US" altLang="zh-CN" sz="2400" kern="0"/>
              <a:t>rt </a:t>
            </a:r>
            <a:r>
              <a:rPr lang="zh-CN" altLang="en-US" sz="2400" kern="0"/>
              <a:t>和 </a:t>
            </a:r>
            <a:r>
              <a:rPr lang="en-US" altLang="zh-CN" sz="2400" kern="0" err="1"/>
              <a:t>rd</a:t>
            </a:r>
            <a:r>
              <a:rPr lang="en-US" altLang="zh-CN" sz="2400" kern="0"/>
              <a:t> </a:t>
            </a:r>
            <a:r>
              <a:rPr lang="zh-CN" altLang="en-US" sz="2400" kern="0"/>
              <a:t>为通用寄存器编号，</a:t>
            </a: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R[r]</a:t>
            </a:r>
            <a:r>
              <a:rPr lang="zh-CN" altLang="en-US" sz="2400" kern="0"/>
              <a:t>表示寄存器</a:t>
            </a:r>
            <a:r>
              <a:rPr lang="en-US" altLang="zh-CN" sz="2400" kern="0"/>
              <a:t>r</a:t>
            </a:r>
            <a:r>
              <a:rPr lang="zh-CN" altLang="en-US" sz="2400" kern="0"/>
              <a:t>的内容，</a:t>
            </a:r>
            <a:r>
              <a:rPr lang="en-US" altLang="zh-CN" sz="2400" kern="0" err="1"/>
              <a:t>imm</a:t>
            </a:r>
            <a:r>
              <a:rPr lang="zh-CN" altLang="en-US" sz="2400" kern="0"/>
              <a:t>为立即数，</a:t>
            </a:r>
            <a:r>
              <a:rPr lang="en-US" altLang="zh-CN" sz="2400" kern="0"/>
              <a:t>target</a:t>
            </a:r>
            <a:r>
              <a:rPr lang="zh-CN" altLang="en-US" sz="2400" kern="0"/>
              <a:t>为转移目标的形式地址。请回答下列问题。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A0C1026-DC76-4A2F-8068-3DA939D4AA33}"/>
              </a:ext>
            </a:extLst>
          </p:cNvPr>
          <p:cNvSpPr txBox="1">
            <a:spLocks/>
          </p:cNvSpPr>
          <p:nvPr/>
        </p:nvSpPr>
        <p:spPr bwMode="auto">
          <a:xfrm>
            <a:off x="107504" y="4725144"/>
            <a:ext cx="8928992" cy="198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1</a:t>
            </a:r>
            <a:r>
              <a:rPr lang="zh-CN" altLang="en-US" sz="2400" kern="0"/>
              <a:t>）</a:t>
            </a:r>
            <a:r>
              <a:rPr lang="en-US" altLang="zh-CN" sz="2400" kern="0"/>
              <a:t>ALU</a:t>
            </a:r>
            <a:r>
              <a:rPr lang="zh-CN" altLang="en-US" sz="2400" kern="0"/>
              <a:t>的宽度是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位，可寻址主存空间大小为</a:t>
            </a:r>
            <a:r>
              <a:rPr lang="en-US" altLang="zh-CN" sz="2400" kern="0"/>
              <a:t>______</a:t>
            </a:r>
            <a:r>
              <a:rPr lang="zh-CN" altLang="en-US" sz="2400" kern="0"/>
              <a:t>字节，</a:t>
            </a: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r>
              <a:rPr lang="zh-CN" altLang="en-US" sz="2400" kern="0"/>
              <a:t>     指令寄存器应有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     主存地址寄存器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MAR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     主存数据寄存器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MDR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9ABF25-ECB6-49F9-8BEF-F96E3FE6B2D3}"/>
              </a:ext>
            </a:extLst>
          </p:cNvPr>
          <p:cNvSpPr/>
          <p:nvPr/>
        </p:nvSpPr>
        <p:spPr>
          <a:xfrm>
            <a:off x="2745424" y="4697802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C7D006-444B-4AE8-B8D0-AC3F60AA9CE7}"/>
              </a:ext>
            </a:extLst>
          </p:cNvPr>
          <p:cNvSpPr/>
          <p:nvPr/>
        </p:nvSpPr>
        <p:spPr>
          <a:xfrm>
            <a:off x="7268782" y="4697802"/>
            <a:ext cx="702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1M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0D88B1-58C5-45A7-960B-2FF7F72BFC04}"/>
              </a:ext>
            </a:extLst>
          </p:cNvPr>
          <p:cNvSpPr/>
          <p:nvPr/>
        </p:nvSpPr>
        <p:spPr>
          <a:xfrm>
            <a:off x="2923156" y="5114894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421321-354D-4022-904F-6A1AAEEF655F}"/>
              </a:ext>
            </a:extLst>
          </p:cNvPr>
          <p:cNvSpPr/>
          <p:nvPr/>
        </p:nvSpPr>
        <p:spPr>
          <a:xfrm>
            <a:off x="4552229" y="5497990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D37C0E-FCA3-4E94-85BE-F42DC369924C}"/>
              </a:ext>
            </a:extLst>
          </p:cNvPr>
          <p:cNvSpPr/>
          <p:nvPr/>
        </p:nvSpPr>
        <p:spPr>
          <a:xfrm>
            <a:off x="4641998" y="5937227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8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198B6D-BF72-465F-8593-A229E2AC908C}"/>
              </a:ext>
            </a:extLst>
          </p:cNvPr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6190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B01D6-E59B-4025-A25D-F4F2CDA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622E7-DB46-4936-A1BF-30DFD89E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EB9A9-CA8E-43F6-A799-06FC156F8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99CCE1F-F7AA-4E2E-A186-3C16B4DDC0A0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58400578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21757434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777176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6642679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220663786"/>
                    </a:ext>
                  </a:extLst>
                </a:gridCol>
                <a:gridCol w="1192694">
                  <a:extLst>
                    <a:ext uri="{9D8B030D-6E8A-4147-A177-3AD203B41FA5}">
                      <a16:colId xmlns:a16="http://schemas.microsoft.com/office/drawing/2014/main" val="385678238"/>
                    </a:ext>
                  </a:extLst>
                </a:gridCol>
                <a:gridCol w="3703850">
                  <a:extLst>
                    <a:ext uri="{9D8B030D-6E8A-4147-A177-3AD203B41FA5}">
                      <a16:colId xmlns:a16="http://schemas.microsoft.com/office/drawing/2014/main" val="407910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17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52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264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031468"/>
                  </a:ext>
                </a:extLst>
              </a:tr>
            </a:tbl>
          </a:graphicData>
        </a:graphic>
      </p:graphicFrame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A0C1026-DC76-4A2F-8068-3DA939D4AA33}"/>
              </a:ext>
            </a:extLst>
          </p:cNvPr>
          <p:cNvSpPr txBox="1">
            <a:spLocks/>
          </p:cNvSpPr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2</a:t>
            </a:r>
            <a:r>
              <a:rPr lang="zh-CN" altLang="en-US" sz="2400" kern="0"/>
              <a:t>）</a:t>
            </a:r>
            <a:r>
              <a:rPr lang="en-US" altLang="zh-CN" sz="2400" kern="0"/>
              <a:t>R</a:t>
            </a:r>
            <a:r>
              <a:rPr lang="zh-CN" altLang="en-US" sz="2400" kern="0"/>
              <a:t>型格式最多可定义</a:t>
            </a:r>
            <a:r>
              <a:rPr lang="en-US" altLang="zh-CN" sz="2400" kern="0"/>
              <a:t>_________</a:t>
            </a:r>
            <a:r>
              <a:rPr lang="zh-CN" altLang="en-US" sz="2400" kern="0"/>
              <a:t>种操作，</a:t>
            </a: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      I</a:t>
            </a:r>
            <a:r>
              <a:rPr lang="zh-CN" altLang="en-US" sz="2400" kern="0"/>
              <a:t>型和</a:t>
            </a:r>
            <a:r>
              <a:rPr lang="en-US" altLang="zh-CN" sz="2400" kern="0"/>
              <a:t>J</a:t>
            </a:r>
            <a:r>
              <a:rPr lang="zh-CN" altLang="en-US" sz="2400" kern="0"/>
              <a:t>型格式最多可定义</a:t>
            </a:r>
            <a:r>
              <a:rPr lang="en-US" altLang="zh-CN" sz="2400" kern="0"/>
              <a:t>___________</a:t>
            </a:r>
            <a:r>
              <a:rPr lang="zh-CN" altLang="en-US" sz="2400" kern="0"/>
              <a:t>种操作，</a:t>
            </a: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      </a:t>
            </a:r>
            <a:r>
              <a:rPr lang="zh-CN" altLang="en-US" sz="2400" kern="0"/>
              <a:t>通用寄存器最多有</a:t>
            </a:r>
            <a:r>
              <a:rPr lang="en-US" altLang="zh-CN" sz="2400" kern="0"/>
              <a:t>______</a:t>
            </a:r>
            <a:r>
              <a:rPr lang="zh-CN" altLang="en-US" sz="2400" kern="0"/>
              <a:t>个。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4285AE-7DBF-42A2-81E6-C9FFDBD799E9}"/>
              </a:ext>
            </a:extLst>
          </p:cNvPr>
          <p:cNvSpPr/>
          <p:nvPr/>
        </p:nvSpPr>
        <p:spPr>
          <a:xfrm>
            <a:off x="3420576" y="3546640"/>
            <a:ext cx="1204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</a:t>
            </a:r>
            <a:r>
              <a:rPr lang="en-US" altLang="zh-CN" kern="0" baseline="30000">
                <a:solidFill>
                  <a:srgbClr val="FF0000"/>
                </a:solidFill>
              </a:rPr>
              <a:t>4</a:t>
            </a:r>
            <a:r>
              <a:rPr lang="zh-CN" altLang="en-US" kern="0">
                <a:solidFill>
                  <a:srgbClr val="FF0000"/>
                </a:solidFill>
              </a:rPr>
              <a:t>＝</a:t>
            </a:r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F2F8D2-E461-4871-B35B-C81280D1F617}"/>
              </a:ext>
            </a:extLst>
          </p:cNvPr>
          <p:cNvSpPr/>
          <p:nvPr/>
        </p:nvSpPr>
        <p:spPr>
          <a:xfrm>
            <a:off x="4052031" y="3950640"/>
            <a:ext cx="1563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</a:t>
            </a:r>
            <a:r>
              <a:rPr lang="en-US" altLang="zh-CN" kern="0" baseline="30000">
                <a:solidFill>
                  <a:srgbClr val="FF0000"/>
                </a:solidFill>
              </a:rPr>
              <a:t>6</a:t>
            </a:r>
            <a:r>
              <a:rPr lang="en-US" altLang="zh-CN" kern="0">
                <a:solidFill>
                  <a:srgbClr val="FF0000"/>
                </a:solidFill>
              </a:rPr>
              <a:t>-1</a:t>
            </a:r>
            <a:r>
              <a:rPr lang="zh-CN" altLang="en-US" kern="0">
                <a:solidFill>
                  <a:srgbClr val="FF0000"/>
                </a:solidFill>
              </a:rPr>
              <a:t>＝</a:t>
            </a:r>
            <a:r>
              <a:rPr lang="en-US" altLang="zh-CN" kern="0">
                <a:solidFill>
                  <a:srgbClr val="FF0000"/>
                </a:solidFill>
              </a:rPr>
              <a:t>63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1CC2C9-9ED8-4A1C-A339-276B62DEB586}"/>
              </a:ext>
            </a:extLst>
          </p:cNvPr>
          <p:cNvSpPr/>
          <p:nvPr/>
        </p:nvSpPr>
        <p:spPr>
          <a:xfrm>
            <a:off x="3384057" y="435631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4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3F3126-5C9F-4094-9FAB-E650F523CBBE}"/>
              </a:ext>
            </a:extLst>
          </p:cNvPr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61504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B01D6-E59B-4025-A25D-F4F2CDA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622E7-DB46-4936-A1BF-30DFD89E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EB9A9-CA8E-43F6-A799-06FC156F8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46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99CCE1F-F7AA-4E2E-A186-3C16B4DDC0A0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58400578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21757434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777176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6642679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220663786"/>
                    </a:ext>
                  </a:extLst>
                </a:gridCol>
                <a:gridCol w="1192694">
                  <a:extLst>
                    <a:ext uri="{9D8B030D-6E8A-4147-A177-3AD203B41FA5}">
                      <a16:colId xmlns:a16="http://schemas.microsoft.com/office/drawing/2014/main" val="385678238"/>
                    </a:ext>
                  </a:extLst>
                </a:gridCol>
                <a:gridCol w="3703850">
                  <a:extLst>
                    <a:ext uri="{9D8B030D-6E8A-4147-A177-3AD203B41FA5}">
                      <a16:colId xmlns:a16="http://schemas.microsoft.com/office/drawing/2014/main" val="407910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17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52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264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031468"/>
                  </a:ext>
                </a:extLst>
              </a:tr>
            </a:tbl>
          </a:graphicData>
        </a:graphic>
      </p:graphicFrame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A0C1026-DC76-4A2F-8068-3DA939D4AA33}"/>
              </a:ext>
            </a:extLst>
          </p:cNvPr>
          <p:cNvSpPr txBox="1">
            <a:spLocks/>
          </p:cNvSpPr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2400" kern="0"/>
              <a:t>3</a:t>
            </a:r>
            <a:r>
              <a:rPr lang="zh-CN" altLang="en-US" sz="2400" kern="0"/>
              <a:t>）假定 </a:t>
            </a:r>
            <a:r>
              <a:rPr lang="en-US" altLang="zh-CN" sz="2400" kern="0"/>
              <a:t>op1 </a:t>
            </a:r>
            <a:r>
              <a:rPr lang="zh-CN" altLang="en-US" sz="2400" kern="0"/>
              <a:t>为 </a:t>
            </a:r>
            <a:r>
              <a:rPr lang="en-US" altLang="zh-CN" sz="2400" kern="0">
                <a:solidFill>
                  <a:srgbClr val="0000FF"/>
                </a:solidFill>
              </a:rPr>
              <a:t>0010</a:t>
            </a:r>
            <a:r>
              <a:rPr lang="en-US" altLang="zh-CN" sz="2400" kern="0"/>
              <a:t> </a:t>
            </a:r>
            <a:r>
              <a:rPr lang="zh-CN" altLang="en-US" sz="2400" kern="0"/>
              <a:t>和 </a:t>
            </a:r>
            <a:r>
              <a:rPr lang="en-US" altLang="zh-CN" sz="2400" kern="0">
                <a:solidFill>
                  <a:srgbClr val="FF00FF"/>
                </a:solidFill>
              </a:rPr>
              <a:t>0011</a:t>
            </a:r>
            <a:r>
              <a:rPr lang="en-US" altLang="zh-CN" sz="2400" kern="0"/>
              <a:t> </a:t>
            </a:r>
            <a:r>
              <a:rPr lang="zh-CN" altLang="en-US" sz="2400" kern="0"/>
              <a:t>时，分别表示</a:t>
            </a:r>
            <a:r>
              <a:rPr lang="zh-CN" altLang="en-US" sz="2400" kern="0">
                <a:solidFill>
                  <a:srgbClr val="7030A0"/>
                </a:solidFill>
              </a:rPr>
              <a:t>带符号整数</a:t>
            </a:r>
            <a:r>
              <a:rPr lang="zh-CN" altLang="en-US" sz="2400" kern="0">
                <a:solidFill>
                  <a:srgbClr val="0000FF"/>
                </a:solidFill>
              </a:rPr>
              <a:t>减法</a:t>
            </a:r>
            <a:r>
              <a:rPr lang="zh-CN" altLang="en-US" sz="2400" kern="0"/>
              <a:t>和</a:t>
            </a:r>
            <a:r>
              <a:rPr lang="zh-CN" altLang="en-US" sz="2400" kern="0">
                <a:solidFill>
                  <a:srgbClr val="7030A0"/>
                </a:solidFill>
              </a:rPr>
              <a:t>带符号整数</a:t>
            </a:r>
            <a:r>
              <a:rPr lang="zh-CN" altLang="en-US" sz="2400" kern="0">
                <a:solidFill>
                  <a:srgbClr val="FF00FF"/>
                </a:solidFill>
              </a:rPr>
              <a:t>乘法</a:t>
            </a:r>
            <a:r>
              <a:rPr lang="zh-CN" altLang="en-US" sz="2400" kern="0"/>
              <a:t>指令，则指令</a:t>
            </a:r>
            <a:r>
              <a:rPr lang="en-US" altLang="zh-CN" sz="2400" kern="0">
                <a:solidFill>
                  <a:srgbClr val="FF0000"/>
                </a:solidFill>
              </a:rPr>
              <a:t>01B2H</a:t>
            </a:r>
            <a:r>
              <a:rPr lang="zh-CN" altLang="en-US" sz="2400" kern="0"/>
              <a:t>的功能是什么？</a:t>
            </a: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endParaRPr lang="en-US" altLang="zh-CN" sz="2400" kern="0"/>
          </a:p>
          <a:p>
            <a:pPr marL="0" indent="0">
              <a:buFont typeface="Wingdings" pitchFamily="2" charset="2"/>
              <a:buNone/>
            </a:pPr>
            <a:r>
              <a:rPr lang="zh-CN" altLang="en-US" sz="2400" kern="0"/>
              <a:t>若</a:t>
            </a:r>
            <a:r>
              <a:rPr lang="en-US" altLang="zh-CN" sz="2400" kern="0"/>
              <a:t>1</a:t>
            </a:r>
            <a:r>
              <a:rPr lang="zh-CN" altLang="en-US" sz="2400" kern="0"/>
              <a:t>、</a:t>
            </a:r>
            <a:r>
              <a:rPr lang="en-US" altLang="zh-CN" sz="2400" kern="0"/>
              <a:t>2</a:t>
            </a:r>
            <a:r>
              <a:rPr lang="zh-CN" altLang="en-US" sz="2400" kern="0"/>
              <a:t>、</a:t>
            </a:r>
            <a:r>
              <a:rPr lang="en-US" altLang="zh-CN" sz="2400" kern="0"/>
              <a:t>3</a:t>
            </a:r>
            <a:r>
              <a:rPr lang="zh-CN" altLang="en-US" sz="2400" kern="0"/>
              <a:t>号通用寄存器当前内容分别为</a:t>
            </a:r>
            <a:r>
              <a:rPr lang="en-US" altLang="zh-CN" sz="2400" kern="0"/>
              <a:t>B052H</a:t>
            </a:r>
            <a:r>
              <a:rPr lang="zh-CN" altLang="en-US" sz="2400" kern="0"/>
              <a:t>、</a:t>
            </a:r>
            <a:r>
              <a:rPr lang="en-US" altLang="zh-CN" sz="2400" kern="0"/>
              <a:t>0008H</a:t>
            </a:r>
            <a:r>
              <a:rPr lang="zh-CN" altLang="en-US" sz="2400" kern="0"/>
              <a:t>、</a:t>
            </a:r>
            <a:r>
              <a:rPr lang="en-US" altLang="zh-CN" sz="2400" kern="0"/>
              <a:t>0020H</a:t>
            </a:r>
            <a:r>
              <a:rPr lang="zh-CN" altLang="en-US" sz="2400" kern="0"/>
              <a:t>，则分别执行指令</a:t>
            </a:r>
            <a:r>
              <a:rPr lang="en-US" altLang="zh-CN" sz="2400" kern="0"/>
              <a:t>01B2H</a:t>
            </a:r>
            <a:r>
              <a:rPr lang="zh-CN" altLang="en-US" sz="2400" kern="0"/>
              <a:t>和</a:t>
            </a:r>
            <a:r>
              <a:rPr lang="en-US" altLang="zh-CN" sz="2400" kern="0"/>
              <a:t>01B3H</a:t>
            </a:r>
            <a:r>
              <a:rPr lang="zh-CN" altLang="en-US" sz="2400" kern="0"/>
              <a:t>后，</a:t>
            </a:r>
            <a:r>
              <a:rPr lang="en-US" altLang="zh-CN" sz="2400" kern="0"/>
              <a:t>3</a:t>
            </a:r>
            <a:r>
              <a:rPr lang="zh-CN" altLang="en-US" sz="2400" kern="0"/>
              <a:t>号通用寄存器的内容各是什么？各自结果是否溢出？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FF345E-8B94-46E2-B1FE-A7BC82E55999}"/>
              </a:ext>
            </a:extLst>
          </p:cNvPr>
          <p:cNvSpPr/>
          <p:nvPr/>
        </p:nvSpPr>
        <p:spPr>
          <a:xfrm>
            <a:off x="2465366" y="4284716"/>
            <a:ext cx="4357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0000 00</a:t>
            </a: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01</a:t>
            </a:r>
            <a:r>
              <a:rPr lang="en-US" altLang="zh-CN" sz="1600" b="0" kern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11  0010</a:t>
            </a:r>
            <a:endParaRPr lang="zh-CN" altLang="en-US" b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535A5A-C031-43B4-9BCC-BCFEDDD2173B}"/>
              </a:ext>
            </a:extLst>
          </p:cNvPr>
          <p:cNvSpPr/>
          <p:nvPr/>
        </p:nvSpPr>
        <p:spPr>
          <a:xfrm>
            <a:off x="3522923" y="1455952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Times New Roman"/>
                <a:ea typeface="宋体"/>
              </a:rPr>
              <a:t>－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zh-CN" altLang="en-US" sz="32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CFF2CF-F579-4B75-BE63-E1BE42780BF0}"/>
              </a:ext>
            </a:extLst>
          </p:cNvPr>
          <p:cNvSpPr/>
          <p:nvPr/>
        </p:nvSpPr>
        <p:spPr>
          <a:xfrm>
            <a:off x="620956" y="5866993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Times New Roman"/>
                <a:ea typeface="宋体"/>
              </a:rPr>
              <a:t>－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902317-4704-4A27-BB75-91CF894A461A}"/>
              </a:ext>
            </a:extLst>
          </p:cNvPr>
          <p:cNvSpPr/>
          <p:nvPr/>
        </p:nvSpPr>
        <p:spPr>
          <a:xfrm>
            <a:off x="620956" y="6260587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×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2F2CAC-EE5D-4F7D-BC70-81AA7472F907}"/>
              </a:ext>
            </a:extLst>
          </p:cNvPr>
          <p:cNvSpPr/>
          <p:nvPr/>
        </p:nvSpPr>
        <p:spPr>
          <a:xfrm>
            <a:off x="3793937" y="5589240"/>
            <a:ext cx="1090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0000FF"/>
                </a:solidFill>
              </a:rPr>
              <a:t>B052H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1A4324-73EF-4B6D-915A-A5B2259814F6}"/>
              </a:ext>
            </a:extLst>
          </p:cNvPr>
          <p:cNvSpPr/>
          <p:nvPr/>
        </p:nvSpPr>
        <p:spPr>
          <a:xfrm>
            <a:off x="3612796" y="5881379"/>
            <a:ext cx="1271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0000FF"/>
                </a:solidFill>
              </a:rPr>
              <a:t>－     </a:t>
            </a:r>
            <a:r>
              <a:rPr lang="en-US" altLang="zh-CN" sz="2400" kern="0">
                <a:solidFill>
                  <a:srgbClr val="0000FF"/>
                </a:solidFill>
              </a:rPr>
              <a:t>8H</a:t>
            </a:r>
            <a:endParaRPr lang="zh-CN" altLang="en-US">
              <a:solidFill>
                <a:srgbClr val="0000FF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BDEE2A2-9ADC-43C7-9E93-3E83598CFDD7}"/>
              </a:ext>
            </a:extLst>
          </p:cNvPr>
          <p:cNvCxnSpPr/>
          <p:nvPr/>
        </p:nvCxnSpPr>
        <p:spPr bwMode="auto">
          <a:xfrm flipH="1">
            <a:off x="3707904" y="6299084"/>
            <a:ext cx="116971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C2B41C8-0F0C-4A94-BE1D-283077FBD4D1}"/>
              </a:ext>
            </a:extLst>
          </p:cNvPr>
          <p:cNvSpPr/>
          <p:nvPr/>
        </p:nvSpPr>
        <p:spPr>
          <a:xfrm>
            <a:off x="3768966" y="6278637"/>
            <a:ext cx="1159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0000FF"/>
                </a:solidFill>
              </a:rPr>
              <a:t>B04AH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2ED584-791C-423F-A00F-F0BE0A2F3680}"/>
              </a:ext>
            </a:extLst>
          </p:cNvPr>
          <p:cNvSpPr/>
          <p:nvPr/>
        </p:nvSpPr>
        <p:spPr>
          <a:xfrm>
            <a:off x="4930787" y="627863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0000FF"/>
                </a:solidFill>
              </a:rPr>
              <a:t>不溢出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B685EB1-120C-47B4-8D83-61FB7471BF88}"/>
              </a:ext>
            </a:extLst>
          </p:cNvPr>
          <p:cNvSpPr/>
          <p:nvPr/>
        </p:nvSpPr>
        <p:spPr>
          <a:xfrm>
            <a:off x="5548926" y="5589240"/>
            <a:ext cx="2877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D60093"/>
                </a:solidFill>
              </a:rPr>
              <a:t>1011 0000 0101 0010</a:t>
            </a:r>
            <a:endParaRPr lang="zh-CN" altLang="en-US">
              <a:solidFill>
                <a:srgbClr val="D60093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27EF91B-7029-4A08-BE44-29E728A582A1}"/>
              </a:ext>
            </a:extLst>
          </p:cNvPr>
          <p:cNvSpPr/>
          <p:nvPr/>
        </p:nvSpPr>
        <p:spPr bwMode="auto">
          <a:xfrm>
            <a:off x="5644662" y="5589240"/>
            <a:ext cx="474784" cy="433491"/>
          </a:xfrm>
          <a:prstGeom prst="roundRect">
            <a:avLst>
              <a:gd name="adj" fmla="val 34921"/>
            </a:avLst>
          </a:prstGeom>
          <a:solidFill>
            <a:srgbClr val="0000FF">
              <a:alpha val="40000"/>
            </a:srgb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6486384-653F-43BB-90D2-227BE6D9C929}"/>
              </a:ext>
            </a:extLst>
          </p:cNvPr>
          <p:cNvSpPr/>
          <p:nvPr/>
        </p:nvSpPr>
        <p:spPr>
          <a:xfrm>
            <a:off x="8286307" y="558924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>
                <a:solidFill>
                  <a:srgbClr val="0000FF"/>
                </a:solidFill>
              </a:rPr>
              <a:t>000</a:t>
            </a:r>
            <a:endParaRPr lang="zh-CN" altLang="en-US">
              <a:solidFill>
                <a:srgbClr val="0000FF"/>
              </a:solidFill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D8B5DDA-FB9A-48D6-8DC0-927716BEB0BD}"/>
              </a:ext>
            </a:extLst>
          </p:cNvPr>
          <p:cNvCxnSpPr>
            <a:cxnSpLocks/>
          </p:cNvCxnSpPr>
          <p:nvPr/>
        </p:nvCxnSpPr>
        <p:spPr bwMode="auto">
          <a:xfrm>
            <a:off x="8200448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03B23DB-7E38-4DE7-B397-DADDB55441F3}"/>
              </a:ext>
            </a:extLst>
          </p:cNvPr>
          <p:cNvCxnSpPr>
            <a:cxnSpLocks/>
          </p:cNvCxnSpPr>
          <p:nvPr/>
        </p:nvCxnSpPr>
        <p:spPr bwMode="auto">
          <a:xfrm>
            <a:off x="7524328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A28565B-E352-4512-94F5-F39AA9F5A729}"/>
              </a:ext>
            </a:extLst>
          </p:cNvPr>
          <p:cNvCxnSpPr>
            <a:cxnSpLocks/>
          </p:cNvCxnSpPr>
          <p:nvPr/>
        </p:nvCxnSpPr>
        <p:spPr bwMode="auto">
          <a:xfrm>
            <a:off x="6822649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F5AC5B-AEFC-4199-A749-B2CB8CBC7C64}"/>
              </a:ext>
            </a:extLst>
          </p:cNvPr>
          <p:cNvCxnSpPr>
            <a:cxnSpLocks/>
          </p:cNvCxnSpPr>
          <p:nvPr/>
        </p:nvCxnSpPr>
        <p:spPr bwMode="auto">
          <a:xfrm>
            <a:off x="6157364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3F752D9-C991-4395-89DA-F51DE7765E51}"/>
              </a:ext>
            </a:extLst>
          </p:cNvPr>
          <p:cNvSpPr/>
          <p:nvPr/>
        </p:nvSpPr>
        <p:spPr>
          <a:xfrm>
            <a:off x="6403194" y="5987553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C00000"/>
                </a:solidFill>
              </a:rPr>
              <a:t>8290H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380B4A-73D7-4602-B555-1952629DFB09}"/>
              </a:ext>
            </a:extLst>
          </p:cNvPr>
          <p:cNvSpPr/>
          <p:nvPr/>
        </p:nvSpPr>
        <p:spPr>
          <a:xfrm>
            <a:off x="7524328" y="598755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C00000"/>
                </a:solidFill>
              </a:rPr>
              <a:t>溢出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600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-0.08142 -3.33333E-6 C -0.11805 -3.33333E-6 -0.16267 -0.09143 -0.16267 -0.16504 L -0.16267 -0.33009 " pathEditMode="relative" rAng="0" ptsTypes="AAAA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42" y="-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13" grpId="0"/>
      <p:bldP spid="17" grpId="0"/>
      <p:bldP spid="15" grpId="0"/>
      <p:bldP spid="21" grpId="0"/>
      <p:bldP spid="23" grpId="0"/>
      <p:bldP spid="24" grpId="0"/>
      <p:bldP spid="25" grpId="0"/>
      <p:bldP spid="26" grpId="0" animBg="1"/>
      <p:bldP spid="28" grpId="0"/>
      <p:bldP spid="35" grpId="0"/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B01D6-E59B-4025-A25D-F4F2CDA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622E7-DB46-4936-A1BF-30DFD89E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EB9A9-CA8E-43F6-A799-06FC156F8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47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99CCE1F-F7AA-4E2E-A186-3C16B4DDC0A0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58400578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21757434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777176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6642679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220663786"/>
                    </a:ext>
                  </a:extLst>
                </a:gridCol>
                <a:gridCol w="1192694">
                  <a:extLst>
                    <a:ext uri="{9D8B030D-6E8A-4147-A177-3AD203B41FA5}">
                      <a16:colId xmlns:a16="http://schemas.microsoft.com/office/drawing/2014/main" val="385678238"/>
                    </a:ext>
                  </a:extLst>
                </a:gridCol>
                <a:gridCol w="3703850">
                  <a:extLst>
                    <a:ext uri="{9D8B030D-6E8A-4147-A177-3AD203B41FA5}">
                      <a16:colId xmlns:a16="http://schemas.microsoft.com/office/drawing/2014/main" val="4079105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17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52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2648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031468"/>
                  </a:ext>
                </a:extLst>
              </a:tr>
            </a:tbl>
          </a:graphicData>
        </a:graphic>
      </p:graphicFrame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A0C1026-DC76-4A2F-8068-3DA939D4AA33}"/>
              </a:ext>
            </a:extLst>
          </p:cNvPr>
          <p:cNvSpPr txBox="1">
            <a:spLocks/>
          </p:cNvSpPr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/>
              <a:t>4</a:t>
            </a:r>
            <a:r>
              <a:rPr lang="zh-CN" altLang="en-US" sz="2400" kern="0"/>
              <a:t>）若采用 </a:t>
            </a:r>
            <a:r>
              <a:rPr lang="en-US" altLang="zh-CN" sz="2400" kern="0"/>
              <a:t>I </a:t>
            </a:r>
            <a:r>
              <a:rPr lang="zh-CN" altLang="en-US" sz="2400" kern="0"/>
              <a:t>型格式的访存指令中 </a:t>
            </a:r>
            <a:r>
              <a:rPr lang="en-US" altLang="zh-CN" sz="2400" kern="0" err="1"/>
              <a:t>imm</a:t>
            </a:r>
            <a:r>
              <a:rPr lang="en-US" altLang="zh-CN" sz="2400" kern="0">
                <a:latin typeface="+mn-ea"/>
              </a:rPr>
              <a:t>(</a:t>
            </a:r>
            <a:r>
              <a:rPr lang="zh-CN" altLang="en-US" sz="2400" kern="0"/>
              <a:t>偏移量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为带符号整数，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则地址计算时应对 </a:t>
            </a:r>
            <a:r>
              <a:rPr lang="en-US" altLang="zh-CN" sz="2400" kern="0" err="1"/>
              <a:t>imm</a:t>
            </a:r>
            <a:r>
              <a:rPr lang="en-US" altLang="zh-CN" sz="2400" kern="0"/>
              <a:t> </a:t>
            </a:r>
            <a:r>
              <a:rPr lang="zh-CN" altLang="en-US" sz="2400" kern="0"/>
              <a:t>进行零扩展还是符号扩展？</a:t>
            </a:r>
            <a:endParaRPr lang="en-US" altLang="zh-CN" sz="2400" kern="0"/>
          </a:p>
          <a:p>
            <a:pPr marL="0" indent="0">
              <a:buNone/>
            </a:pPr>
            <a:endParaRPr lang="en-US" altLang="zh-CN" sz="2400" kern="0"/>
          </a:p>
          <a:p>
            <a:pPr marL="0" indent="0">
              <a:buNone/>
            </a:pPr>
            <a:r>
              <a:rPr lang="en-US" altLang="zh-CN" sz="2400" kern="0"/>
              <a:t>5</a:t>
            </a:r>
            <a:r>
              <a:rPr lang="zh-CN" altLang="en-US" sz="2400" kern="0"/>
              <a:t>）无条件转移指令可以采用上述哪种指令格式？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B78C20D-14D9-4639-89EF-F20F26389B48}"/>
              </a:ext>
            </a:extLst>
          </p:cNvPr>
          <p:cNvCxnSpPr>
            <a:cxnSpLocks/>
          </p:cNvCxnSpPr>
          <p:nvPr/>
        </p:nvCxnSpPr>
        <p:spPr bwMode="auto">
          <a:xfrm>
            <a:off x="5570663" y="4365104"/>
            <a:ext cx="1216999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E3F8992-18ED-4A28-A2FF-3F287A02C8B0}"/>
              </a:ext>
            </a:extLst>
          </p:cNvPr>
          <p:cNvSpPr/>
          <p:nvPr/>
        </p:nvSpPr>
        <p:spPr>
          <a:xfrm>
            <a:off x="6920216" y="4761984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/>
                <a:ea typeface="宋体"/>
              </a:rPr>
              <a:t>J </a:t>
            </a:r>
            <a:r>
              <a:rPr lang="zh-CN" altLang="en-US">
                <a:solidFill>
                  <a:srgbClr val="FF0000"/>
                </a:solidFill>
                <a:latin typeface="Times New Roman"/>
                <a:ea typeface="宋体"/>
              </a:rPr>
              <a:t>型</a:t>
            </a:r>
            <a:endParaRPr lang="zh-CN" altLang="en-US" sz="3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59A8BE-8E59-423D-81FD-0B6E587980F3}"/>
              </a:ext>
            </a:extLst>
          </p:cNvPr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62035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47D24-EBBE-489D-8367-6A8E87BF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8325"/>
            <a:ext cx="8362950" cy="4422129"/>
          </a:xfrm>
        </p:spPr>
        <p:txBody>
          <a:bodyPr/>
          <a:lstStyle/>
          <a:p>
            <a:r>
              <a:rPr lang="en-US" altLang="zh-CN"/>
              <a:t>CPU</a:t>
            </a:r>
            <a:r>
              <a:rPr lang="zh-CN" altLang="en-US"/>
              <a:t>的内部结构（</a:t>
            </a:r>
            <a:r>
              <a:rPr lang="zh-CN" altLang="en-US">
                <a:solidFill>
                  <a:srgbClr val="FF0000"/>
                </a:solidFill>
              </a:rPr>
              <a:t>数据通路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zh-CN" altLang="en-US"/>
              <a:t>指令周期、</a:t>
            </a:r>
            <a:r>
              <a:rPr lang="en-US" altLang="zh-CN"/>
              <a:t>CPU</a:t>
            </a:r>
            <a:r>
              <a:rPr lang="zh-CN" altLang="en-US"/>
              <a:t>周期、节拍周期、时钟周期</a:t>
            </a:r>
            <a:endParaRPr lang="en-US" altLang="zh-CN"/>
          </a:p>
          <a:p>
            <a:r>
              <a:rPr lang="zh-CN" altLang="en-US">
                <a:solidFill>
                  <a:srgbClr val="0000FF"/>
                </a:solidFill>
              </a:rPr>
              <a:t>微操作序列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微命令序列</a:t>
            </a:r>
            <a:endParaRPr lang="en-US" altLang="zh-CN">
              <a:solidFill>
                <a:srgbClr val="0000FF"/>
              </a:solidFill>
            </a:endParaRPr>
          </a:p>
          <a:p>
            <a:r>
              <a:rPr lang="zh-CN" altLang="en-US"/>
              <a:t>控制器的设计方法：</a:t>
            </a:r>
            <a:endParaRPr lang="en-US" altLang="zh-CN"/>
          </a:p>
          <a:p>
            <a:pPr lvl="1"/>
            <a:r>
              <a:rPr lang="zh-CN" altLang="en-US"/>
              <a:t>硬布线：快，设计困难、不可修改、难以扩充</a:t>
            </a:r>
            <a:endParaRPr lang="en-US" altLang="zh-CN"/>
          </a:p>
          <a:p>
            <a:pPr lvl="1"/>
            <a:r>
              <a:rPr lang="zh-CN" altLang="en-US"/>
              <a:t>微程序：慢，设计简单、规范，便于修改</a:t>
            </a:r>
            <a:r>
              <a:rPr lang="en-US" altLang="zh-CN"/>
              <a:t>/</a:t>
            </a:r>
            <a:r>
              <a:rPr lang="zh-CN" altLang="en-US"/>
              <a:t>扩充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微程序</a:t>
            </a:r>
            <a:r>
              <a:rPr lang="zh-CN" altLang="en-US"/>
              <a:t>控制基本原理，</a:t>
            </a:r>
            <a:r>
              <a:rPr lang="zh-CN" altLang="en-US">
                <a:solidFill>
                  <a:srgbClr val="FF0000"/>
                </a:solidFill>
              </a:rPr>
              <a:t>微指令</a:t>
            </a:r>
            <a:r>
              <a:rPr lang="zh-CN" altLang="en-US"/>
              <a:t>的组织方式；</a:t>
            </a:r>
            <a:br>
              <a:rPr lang="en-US" altLang="zh-CN"/>
            </a:br>
            <a:r>
              <a:rPr lang="zh-CN" altLang="en-US">
                <a:solidFill>
                  <a:srgbClr val="0000FF"/>
                </a:solidFill>
              </a:rPr>
              <a:t>水平型</a:t>
            </a:r>
            <a:r>
              <a:rPr lang="zh-CN" altLang="en-US"/>
              <a:t>微指令</a:t>
            </a:r>
            <a:r>
              <a:rPr lang="zh-CN" altLang="en-US">
                <a:solidFill>
                  <a:srgbClr val="0000FF"/>
                </a:solidFill>
              </a:rPr>
              <a:t>控制域</a:t>
            </a:r>
            <a:r>
              <a:rPr lang="zh-CN" altLang="en-US"/>
              <a:t>的设计。</a:t>
            </a:r>
            <a:endParaRPr lang="en-US" altLang="zh-CN"/>
          </a:p>
          <a:p>
            <a:pPr lvl="2"/>
            <a:r>
              <a:rPr lang="zh-CN" altLang="en-US">
                <a:solidFill>
                  <a:srgbClr val="006600"/>
                </a:solidFill>
              </a:rPr>
              <a:t>相容</a:t>
            </a:r>
            <a:r>
              <a:rPr lang="zh-CN" altLang="en-US"/>
              <a:t>和</a:t>
            </a:r>
            <a:r>
              <a:rPr lang="zh-CN" altLang="en-US">
                <a:solidFill>
                  <a:srgbClr val="006600"/>
                </a:solidFill>
              </a:rPr>
              <a:t>互斥</a:t>
            </a:r>
            <a:r>
              <a:rPr lang="zh-CN" altLang="en-US"/>
              <a:t>：</a:t>
            </a:r>
            <a:br>
              <a:rPr lang="en-US" altLang="zh-CN"/>
            </a:br>
            <a:r>
              <a:rPr lang="zh-CN" altLang="en-US"/>
              <a:t>分辨不同的控制信号的</a:t>
            </a:r>
            <a:r>
              <a:rPr lang="zh-CN" altLang="en-US">
                <a:solidFill>
                  <a:srgbClr val="006600"/>
                </a:solidFill>
              </a:rPr>
              <a:t>相容性</a:t>
            </a:r>
            <a:r>
              <a:rPr lang="zh-CN" altLang="en-US"/>
              <a:t>或者</a:t>
            </a:r>
            <a:r>
              <a:rPr lang="zh-CN" altLang="en-US">
                <a:solidFill>
                  <a:srgbClr val="006600"/>
                </a:solidFill>
              </a:rPr>
              <a:t>互斥性</a:t>
            </a:r>
            <a:r>
              <a:rPr lang="zh-CN" altLang="en-US"/>
              <a:t>。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41DF96-668B-415D-8617-6E14CB66120F}"/>
              </a:ext>
            </a:extLst>
          </p:cNvPr>
          <p:cNvSpPr txBox="1"/>
          <p:nvPr/>
        </p:nvSpPr>
        <p:spPr bwMode="auto">
          <a:xfrm>
            <a:off x="323528" y="5229200"/>
            <a:ext cx="8712968" cy="124677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noAutofit/>
          </a:bodyPr>
          <a:lstStyle/>
          <a:p>
            <a:pPr marL="342900" indent="-342900" algn="l">
              <a:buClr>
                <a:srgbClr val="FF9933"/>
              </a:buClr>
              <a:buSzPct val="150000"/>
              <a:buFont typeface="Wingdings" panose="05000000000000000000" pitchFamily="2" charset="2"/>
              <a:buChar char=""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一条（机器）指令对应一个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微程序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，该微程序包含从取指令到执行指令一个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完整微操作序列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对应的全部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微指令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，</a:t>
            </a:r>
            <a:b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它被存入一个称为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控制存储器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control memory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）的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中。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61002065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00D22-9B85-498A-8B57-042F4E03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603C54-1800-4FDD-B7E4-C63F72B2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608499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>
                <a:ea typeface="宋体" pitchFamily="2" charset="-122"/>
              </a:rPr>
              <a:t>某微程序控制器采用的</a:t>
            </a:r>
            <a:r>
              <a:rPr lang="zh-CN" altLang="zh-CN" sz="2400">
                <a:solidFill>
                  <a:srgbClr val="FF0000"/>
                </a:solidFill>
                <a:ea typeface="宋体" pitchFamily="2" charset="-122"/>
              </a:rPr>
              <a:t>微指令</a:t>
            </a:r>
            <a:r>
              <a:rPr lang="zh-CN" altLang="zh-CN" sz="2400">
                <a:ea typeface="宋体" pitchFamily="2" charset="-122"/>
              </a:rPr>
              <a:t>字长为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24</a:t>
            </a:r>
            <a:r>
              <a:rPr lang="zh-CN" altLang="zh-CN" sz="2400">
                <a:solidFill>
                  <a:srgbClr val="FF0000"/>
                </a:solidFill>
                <a:ea typeface="宋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。微命令部分由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个字段构成，各字段所包括的互斥微命令分别为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5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8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14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和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。另外控制</a:t>
            </a:r>
            <a:r>
              <a:rPr lang="zh-CN" altLang="zh-CN" sz="2400">
                <a:solidFill>
                  <a:srgbClr val="009900"/>
                </a:solidFill>
                <a:ea typeface="宋体" pitchFamily="2" charset="-122"/>
              </a:rPr>
              <a:t>产生次地址的条件</a:t>
            </a:r>
            <a:r>
              <a:rPr lang="zh-CN" altLang="zh-CN" sz="2400">
                <a:ea typeface="宋体" pitchFamily="2" charset="-122"/>
              </a:rPr>
              <a:t>有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种</a:t>
            </a:r>
            <a:r>
              <a:rPr lang="zh-CN" altLang="zh-CN" sz="2400">
                <a:ea typeface="宋体" pitchFamily="2" charset="-122"/>
              </a:rPr>
              <a:t>。试说明该微控制器最多可用</a:t>
            </a:r>
            <a:r>
              <a:rPr lang="zh-CN" altLang="zh-CN" sz="2400">
                <a:solidFill>
                  <a:srgbClr val="D60093"/>
                </a:solidFill>
                <a:latin typeface="黑体" pitchFamily="49" charset="-122"/>
                <a:ea typeface="黑体" pitchFamily="49" charset="-122"/>
              </a:rPr>
              <a:t>几位</a:t>
            </a:r>
            <a:r>
              <a:rPr lang="zh-CN" altLang="zh-CN" sz="2400">
                <a:ea typeface="宋体" pitchFamily="2" charset="-122"/>
              </a:rPr>
              <a:t>来表示</a:t>
            </a:r>
            <a:r>
              <a:rPr lang="zh-CN" altLang="zh-CN" sz="2400">
                <a:solidFill>
                  <a:srgbClr val="D60093"/>
                </a:solidFill>
                <a:latin typeface="黑体" pitchFamily="49" charset="-122"/>
                <a:ea typeface="黑体" pitchFamily="49" charset="-122"/>
              </a:rPr>
              <a:t>次地址</a:t>
            </a:r>
            <a:r>
              <a:rPr lang="zh-CN" altLang="zh-CN" sz="2400">
                <a:ea typeface="宋体" pitchFamily="2" charset="-122"/>
              </a:rPr>
              <a:t>？</a:t>
            </a:r>
            <a:r>
              <a:rPr lang="zh-CN" altLang="zh-CN" sz="2400">
                <a:solidFill>
                  <a:srgbClr val="D60093"/>
                </a:solidFill>
                <a:latin typeface="黑体" pitchFamily="49" charset="-122"/>
                <a:ea typeface="黑体" pitchFamily="49" charset="-122"/>
              </a:rPr>
              <a:t>控制存储器</a:t>
            </a:r>
            <a:r>
              <a:rPr lang="zh-CN" altLang="zh-CN" sz="2400">
                <a:ea typeface="宋体" pitchFamily="2" charset="-122"/>
              </a:rPr>
              <a:t>的</a:t>
            </a:r>
            <a:r>
              <a:rPr lang="zh-CN" altLang="zh-CN" sz="2400">
                <a:solidFill>
                  <a:srgbClr val="D60093"/>
                </a:solidFill>
                <a:latin typeface="黑体" pitchFamily="49" charset="-122"/>
                <a:ea typeface="黑体" pitchFamily="49" charset="-122"/>
              </a:rPr>
              <a:t>容量</a:t>
            </a:r>
            <a:r>
              <a:rPr lang="zh-CN" altLang="zh-CN" sz="2400">
                <a:ea typeface="宋体" pitchFamily="2" charset="-122"/>
              </a:rPr>
              <a:t>为多少？</a:t>
            </a: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ea typeface="宋体" pitchFamily="2" charset="-122"/>
              </a:rPr>
              <a:t>【</a:t>
            </a:r>
            <a:r>
              <a:rPr lang="zh-CN" altLang="zh-CN" sz="2400">
                <a:ea typeface="宋体" pitchFamily="2" charset="-122"/>
              </a:rPr>
              <a:t>解</a:t>
            </a:r>
            <a:r>
              <a:rPr lang="en-US" altLang="zh-CN" sz="2400">
                <a:ea typeface="宋体" pitchFamily="2" charset="-122"/>
              </a:rPr>
              <a:t>】</a:t>
            </a:r>
          </a:p>
          <a:p>
            <a:pPr marL="0" indent="0">
              <a:buNone/>
            </a:pPr>
            <a:r>
              <a:rPr lang="en-US" altLang="zh-CN" sz="2400">
                <a:ea typeface="宋体" pitchFamily="2" charset="-122"/>
              </a:rPr>
              <a:t>5</a:t>
            </a:r>
            <a:r>
              <a:rPr lang="zh-CN" altLang="zh-CN" sz="2400">
                <a:ea typeface="宋体" pitchFamily="2" charset="-122"/>
              </a:rPr>
              <a:t>个互斥微命令加一个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en-US" sz="2400">
                <a:ea typeface="宋体" pitchFamily="2" charset="-122"/>
              </a:rPr>
              <a:t>，</a:t>
            </a:r>
            <a:r>
              <a:rPr lang="zh-CN" altLang="zh-CN" sz="2400">
                <a:ea typeface="宋体" pitchFamily="2" charset="-122"/>
              </a:rPr>
              <a:t>需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3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(5+1)]</a:t>
            </a:r>
            <a:r>
              <a:rPr lang="zh-CN" altLang="en-US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8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4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(8+1)]</a:t>
            </a:r>
            <a:r>
              <a:rPr lang="zh-CN" altLang="en-US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14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4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(14+1)]</a:t>
            </a:r>
            <a:r>
              <a:rPr lang="zh-CN" altLang="en-US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3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(3+1)]</a:t>
            </a:r>
            <a:r>
              <a:rPr lang="zh-CN" altLang="en-US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次地址控制字</a:t>
            </a:r>
            <a:r>
              <a:rPr lang="zh-CN" altLang="zh-CN" sz="2400">
                <a:ea typeface="宋体" pitchFamily="2" charset="-122"/>
              </a:rPr>
              <a:t>的只需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编码即可。</a:t>
            </a: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          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3]</a:t>
            </a:r>
            <a:r>
              <a:rPr lang="zh-CN" altLang="en-US" sz="2400" baseline="-25000">
                <a:solidFill>
                  <a:srgbClr val="006600"/>
                </a:solidFill>
                <a:ea typeface="宋体" panose="02010600030101010101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次地址编码</a:t>
            </a:r>
            <a:r>
              <a:rPr lang="zh-CN" altLang="zh-CN" sz="2400">
                <a:ea typeface="宋体" pitchFamily="2" charset="-122"/>
              </a:rPr>
              <a:t>为</a:t>
            </a:r>
            <a:r>
              <a:rPr lang="zh-CN" altLang="en-US" sz="2400">
                <a:ea typeface="宋体" pitchFamily="2" charset="-122"/>
              </a:rPr>
              <a:t>：</a:t>
            </a:r>
            <a:r>
              <a:rPr lang="en-US" altLang="zh-CN" sz="2400">
                <a:ea typeface="宋体" pitchFamily="2" charset="-122"/>
              </a:rPr>
              <a:t>24</a:t>
            </a:r>
            <a:r>
              <a:rPr lang="zh-CN" altLang="zh-CN" sz="2400">
                <a:ea typeface="宋体" pitchFamily="2" charset="-122"/>
              </a:rPr>
              <a:t>－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>
                <a:ea typeface="宋体" pitchFamily="2" charset="-122"/>
              </a:rPr>
              <a:t>3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2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2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zh-CN" sz="2400">
                <a:ea typeface="宋体" pitchFamily="2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9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位</a:t>
            </a:r>
          </a:p>
          <a:p>
            <a:pPr>
              <a:buNone/>
            </a:pPr>
            <a:r>
              <a:rPr lang="zh-CN" altLang="zh-CN" sz="2400">
                <a:ea typeface="宋体" pitchFamily="2" charset="-122"/>
              </a:rPr>
              <a:t>控制存储器的容量为</a:t>
            </a:r>
            <a:r>
              <a:rPr lang="zh-CN" altLang="en-US" sz="2400">
                <a:ea typeface="宋体" pitchFamily="2" charset="-122"/>
              </a:rPr>
              <a:t>：</a:t>
            </a:r>
            <a:r>
              <a:rPr lang="en-US" altLang="zh-CN" sz="2400">
                <a:ea typeface="黑体" pitchFamily="49" charset="-122"/>
              </a:rPr>
              <a:t>2</a:t>
            </a:r>
            <a:r>
              <a:rPr lang="en-US" altLang="zh-CN" sz="2400" baseline="30000">
                <a:ea typeface="黑体" pitchFamily="49" charset="-122"/>
              </a:rPr>
              <a:t>9</a:t>
            </a:r>
            <a:r>
              <a:rPr lang="zh-CN" altLang="zh-CN" sz="2400">
                <a:ea typeface="黑体" pitchFamily="49" charset="-122"/>
              </a:rPr>
              <a:t>×</a:t>
            </a:r>
            <a:r>
              <a:rPr lang="en-US" altLang="zh-CN" sz="2400">
                <a:ea typeface="黑体" pitchFamily="49" charset="-122"/>
              </a:rPr>
              <a:t>24bit</a:t>
            </a:r>
            <a:r>
              <a:rPr lang="zh-CN" altLang="en-US" sz="2400">
                <a:ea typeface="黑体" pitchFamily="49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512</a:t>
            </a:r>
            <a:r>
              <a:rPr lang="zh-CN" altLang="zh-CN" sz="2400">
                <a:solidFill>
                  <a:srgbClr val="FF0000"/>
                </a:solidFill>
                <a:ea typeface="黑体" pitchFamily="49" charset="-122"/>
              </a:rPr>
              <a:t>×</a:t>
            </a:r>
            <a:r>
              <a:rPr lang="en-US" altLang="zh-CN" sz="2400">
                <a:solidFill>
                  <a:srgbClr val="FF0000"/>
                </a:solidFill>
                <a:ea typeface="黑体" pitchFamily="49" charset="-122"/>
              </a:rPr>
              <a:t>24bit</a:t>
            </a:r>
            <a:endParaRPr lang="zh-CN" altLang="zh-CN" sz="240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EDC77-5595-4706-A069-BE5063A89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49</a:t>
            </a:fld>
            <a:endParaRPr lang="zh-CN" altLang="en-US"/>
          </a:p>
        </p:txBody>
      </p:sp>
      <p:graphicFrame>
        <p:nvGraphicFramePr>
          <p:cNvPr id="5" name="Group 298">
            <a:extLst>
              <a:ext uri="{FF2B5EF4-FFF2-40B4-BE49-F238E27FC236}">
                <a16:creationId xmlns:a16="http://schemas.microsoft.com/office/drawing/2014/main" id="{F1445346-A2F8-4780-8B37-E5F6116E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055187"/>
              </p:ext>
            </p:extLst>
          </p:nvPr>
        </p:nvGraphicFramePr>
        <p:xfrm>
          <a:off x="1465311" y="2367930"/>
          <a:ext cx="7139137" cy="79248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1519909"/>
                    </a:ext>
                  </a:extLst>
                </a:gridCol>
                <a:gridCol w="1882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控  制  域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次地址控制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地址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anose="02010609060101010101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141952D-B911-4DEE-ABCA-1ABC69C9D458}"/>
              </a:ext>
            </a:extLst>
          </p:cNvPr>
          <p:cNvSpPr/>
          <p:nvPr/>
        </p:nvSpPr>
        <p:spPr>
          <a:xfrm>
            <a:off x="1605383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3bit</a:t>
            </a:r>
            <a:endParaRPr lang="zh-CN" altLang="en-US" sz="2400" b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06AAC8-C921-4237-BD66-5EF8116B4B24}"/>
              </a:ext>
            </a:extLst>
          </p:cNvPr>
          <p:cNvSpPr/>
          <p:nvPr/>
        </p:nvSpPr>
        <p:spPr>
          <a:xfrm>
            <a:off x="2555776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4bit</a:t>
            </a:r>
            <a:endParaRPr lang="zh-CN" altLang="en-US" sz="2400" b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3EDA0A-6495-4159-B782-B971FB6FF08F}"/>
              </a:ext>
            </a:extLst>
          </p:cNvPr>
          <p:cNvSpPr/>
          <p:nvPr/>
        </p:nvSpPr>
        <p:spPr>
          <a:xfrm>
            <a:off x="3506169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4bit</a:t>
            </a:r>
            <a:endParaRPr lang="zh-CN" altLang="en-US" sz="2400" b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EBC09E-75A8-4872-B401-D6D315A13D02}"/>
              </a:ext>
            </a:extLst>
          </p:cNvPr>
          <p:cNvSpPr/>
          <p:nvPr/>
        </p:nvSpPr>
        <p:spPr>
          <a:xfrm>
            <a:off x="4442554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2bit</a:t>
            </a:r>
            <a:endParaRPr lang="zh-CN" altLang="en-US" sz="2400" b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43932B-3FB9-4C00-A287-775EFFC0AF70}"/>
              </a:ext>
            </a:extLst>
          </p:cNvPr>
          <p:cNvSpPr/>
          <p:nvPr/>
        </p:nvSpPr>
        <p:spPr>
          <a:xfrm>
            <a:off x="5628292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2bit</a:t>
            </a:r>
            <a:endParaRPr lang="zh-CN" altLang="en-US" sz="2400" b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4531C1-BCBB-46DB-B785-105C496AB361}"/>
              </a:ext>
            </a:extLst>
          </p:cNvPr>
          <p:cNvSpPr/>
          <p:nvPr/>
        </p:nvSpPr>
        <p:spPr>
          <a:xfrm>
            <a:off x="7298764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9bit</a:t>
            </a:r>
            <a:endParaRPr lang="zh-CN" altLang="en-US" sz="2400" b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9D5B15-99A6-4C56-917F-C5567AD87E13}"/>
              </a:ext>
            </a:extLst>
          </p:cNvPr>
          <p:cNvSpPr/>
          <p:nvPr/>
        </p:nvSpPr>
        <p:spPr>
          <a:xfrm>
            <a:off x="5150740" y="42891"/>
            <a:ext cx="28969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p267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6.13</a:t>
            </a:r>
            <a:endParaRPr lang="zh-CN" altLang="en-US">
              <a:solidFill>
                <a:srgbClr val="FF6600"/>
              </a:solidFill>
              <a:latin typeface="+mj-lt"/>
              <a:ea typeface="黑体" panose="02010609060101010101" pitchFamily="49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95DAE49-1648-431B-A927-BA6717650550}"/>
              </a:ext>
            </a:extLst>
          </p:cNvPr>
          <p:cNvCxnSpPr/>
          <p:nvPr/>
        </p:nvCxnSpPr>
        <p:spPr bwMode="auto">
          <a:xfrm>
            <a:off x="1465311" y="2295922"/>
            <a:ext cx="713913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6B1D4CD-B3DC-45B2-9A44-5C9F1B2DEBC6}"/>
              </a:ext>
            </a:extLst>
          </p:cNvPr>
          <p:cNvSpPr/>
          <p:nvPr/>
        </p:nvSpPr>
        <p:spPr>
          <a:xfrm>
            <a:off x="4437509" y="2051323"/>
            <a:ext cx="1273271" cy="461666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txBody>
          <a:bodyPr wrap="square" anchor="ctr" anchorCtr="0">
            <a:no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49" charset="-122"/>
              </a:rPr>
              <a:t>24bit</a:t>
            </a:r>
            <a:endParaRPr lang="zh-CN" altLang="en-US" sz="2400" b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C10F2E-BC87-4CFF-BCB8-D7B5D334463E}"/>
              </a:ext>
            </a:extLst>
          </p:cNvPr>
          <p:cNvSpPr txBox="1"/>
          <p:nvPr/>
        </p:nvSpPr>
        <p:spPr bwMode="auto">
          <a:xfrm>
            <a:off x="8031516" y="112066"/>
            <a:ext cx="111248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【例1】</a:t>
            </a:r>
          </a:p>
        </p:txBody>
      </p:sp>
    </p:spTree>
    <p:extLst>
      <p:ext uri="{BB962C8B-B14F-4D97-AF65-F5344CB8AC3E}">
        <p14:creationId xmlns:p14="http://schemas.microsoft.com/office/powerpoint/2010/main" val="1995208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C4F47-9C85-4D2F-A1EA-B61466C3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F67CC-92C3-4EE4-8B4D-082C35063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90473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在微程序控制器设计中，若控制器需要处理</a:t>
            </a:r>
            <a:r>
              <a:rPr lang="en-US" altLang="zh-CN" sz="24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100</a:t>
            </a:r>
            <a:r>
              <a:rPr lang="zh-CN" altLang="en-US" sz="24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，每条指令需要最多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</a:t>
            </a:r>
            <a:r>
              <a:rPr lang="zh-CN" altLang="en-US" sz="2400" b="1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构成的微程序来实现其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功能；微指令控制域采用水平型字段译码法，控制器需要产生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100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9966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微命令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控制信号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，且被分配为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99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相容类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，如下表：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）确定微指令控制域各字段的位数，使其尽可能短。</a:t>
            </a:r>
          </a:p>
          <a:p>
            <a:pPr marL="0" indent="0"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如果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每个</a:t>
            </a: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单元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可以存储一条</a:t>
            </a:r>
            <a:r>
              <a:rPr lang="zh-CN" altLang="en-US" sz="240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  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至少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单元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  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99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至少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位；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717550" indent="0">
              <a:spcBef>
                <a:spcPts val="1200"/>
              </a:spcBef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若微指令的次地址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即下一条微指令的地址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仅有</a:t>
            </a:r>
            <a:r>
              <a:rPr lang="zh-CN" altLang="en-US" sz="2400">
                <a:solidFill>
                  <a:srgbClr val="99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顺序地址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无条件跳转地址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两种情况，则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717550" indent="0">
              <a:buNone/>
            </a:pP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地址控制字段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AC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需要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位。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zh-CN" altLang="en-US"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F4D03-0979-4CCC-AB99-53AC996C0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0608E3-D7CC-414E-A3BD-8AEEF8A67976}"/>
              </a:ext>
            </a:extLst>
          </p:cNvPr>
          <p:cNvSpPr/>
          <p:nvPr/>
        </p:nvSpPr>
        <p:spPr>
          <a:xfrm>
            <a:off x="5155549" y="42891"/>
            <a:ext cx="2887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p266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6.12</a:t>
            </a:r>
            <a:endParaRPr lang="zh-CN" altLang="en-US">
              <a:solidFill>
                <a:srgbClr val="FF6600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6" name="表格 15">
            <a:extLst>
              <a:ext uri="{FF2B5EF4-FFF2-40B4-BE49-F238E27FC236}">
                <a16:creationId xmlns:a16="http://schemas.microsoft.com/office/drawing/2014/main" id="{7A92AB81-0ACF-449A-92B3-B3930CCBF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621046"/>
              </p:ext>
            </p:extLst>
          </p:nvPr>
        </p:nvGraphicFramePr>
        <p:xfrm>
          <a:off x="1838598" y="2204864"/>
          <a:ext cx="5466804" cy="87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2">
                  <a:extLst>
                    <a:ext uri="{9D8B030D-6E8A-4147-A177-3AD203B41FA5}">
                      <a16:colId xmlns:a16="http://schemas.microsoft.com/office/drawing/2014/main" val="1640035248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74167010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16350909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3888851574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442371556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840483135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2559399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76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996633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微命令</a:t>
                      </a:r>
                      <a:r>
                        <a:rPr lang="zh-CN" altLang="en-US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66410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569CA54-E975-43F7-BBF1-1F56D27AF589}"/>
              </a:ext>
            </a:extLst>
          </p:cNvPr>
          <p:cNvSpPr txBox="1"/>
          <p:nvPr/>
        </p:nvSpPr>
        <p:spPr bwMode="auto">
          <a:xfrm>
            <a:off x="3275856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580CB6-25CD-46A5-9FCC-BE528C118590}"/>
              </a:ext>
            </a:extLst>
          </p:cNvPr>
          <p:cNvSpPr txBox="1"/>
          <p:nvPr/>
        </p:nvSpPr>
        <p:spPr bwMode="auto">
          <a:xfrm>
            <a:off x="3976314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E9C93E-FA34-4A2A-BABB-352C6856E4BF}"/>
              </a:ext>
            </a:extLst>
          </p:cNvPr>
          <p:cNvSpPr txBox="1"/>
          <p:nvPr/>
        </p:nvSpPr>
        <p:spPr bwMode="auto">
          <a:xfrm>
            <a:off x="4638675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49EB7-4092-44E2-A6A5-CAB5C087008E}"/>
              </a:ext>
            </a:extLst>
          </p:cNvPr>
          <p:cNvSpPr txBox="1"/>
          <p:nvPr/>
        </p:nvSpPr>
        <p:spPr bwMode="auto">
          <a:xfrm>
            <a:off x="5301036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41451B-94B1-4A1E-AA6D-C96D9B99A6D0}"/>
              </a:ext>
            </a:extLst>
          </p:cNvPr>
          <p:cNvSpPr txBox="1"/>
          <p:nvPr/>
        </p:nvSpPr>
        <p:spPr bwMode="auto">
          <a:xfrm>
            <a:off x="5963340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E18B4-118B-4DB6-8962-060A292165FE}"/>
              </a:ext>
            </a:extLst>
          </p:cNvPr>
          <p:cNvSpPr txBox="1"/>
          <p:nvPr/>
        </p:nvSpPr>
        <p:spPr bwMode="auto">
          <a:xfrm>
            <a:off x="6627578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AD5BBA-DCEE-41C0-AABD-114891C6B723}"/>
              </a:ext>
            </a:extLst>
          </p:cNvPr>
          <p:cNvSpPr txBox="1"/>
          <p:nvPr/>
        </p:nvSpPr>
        <p:spPr bwMode="auto">
          <a:xfrm>
            <a:off x="3851920" y="4141586"/>
            <a:ext cx="64633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E43B3A-FE9E-4AFE-A8F0-93223DF9ECFC}"/>
              </a:ext>
            </a:extLst>
          </p:cNvPr>
          <p:cNvSpPr txBox="1"/>
          <p:nvPr/>
        </p:nvSpPr>
        <p:spPr bwMode="auto">
          <a:xfrm>
            <a:off x="4864968" y="4558651"/>
            <a:ext cx="49244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14A73F-5466-4229-A77A-0FA030278E5A}"/>
              </a:ext>
            </a:extLst>
          </p:cNvPr>
          <p:cNvSpPr txBox="1"/>
          <p:nvPr/>
        </p:nvSpPr>
        <p:spPr bwMode="auto">
          <a:xfrm>
            <a:off x="5018857" y="5810398"/>
            <a:ext cx="338554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190928-0FD2-4FE3-8092-24BB7BBD6DCC}"/>
              </a:ext>
            </a:extLst>
          </p:cNvPr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【例２】</a:t>
            </a:r>
          </a:p>
        </p:txBody>
      </p:sp>
    </p:spTree>
    <p:extLst>
      <p:ext uri="{BB962C8B-B14F-4D97-AF65-F5344CB8AC3E}">
        <p14:creationId xmlns:p14="http://schemas.microsoft.com/office/powerpoint/2010/main" val="38117145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C4F47-9C85-4D2F-A1EA-B61466C3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F67CC-92C3-4EE4-8B4D-082C35063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06150"/>
            <a:ext cx="8784976" cy="5976742"/>
          </a:xfrm>
        </p:spPr>
        <p:txBody>
          <a:bodyPr/>
          <a:lstStyle/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根据以上设计，如果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采用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单地址格式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则微指令由以下三部分构成：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地址控制字段</a:t>
            </a:r>
            <a:r>
              <a:rPr lang="en-US" altLang="zh-CN" sz="2400" b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AC</a:t>
            </a:r>
            <a:r>
              <a:rPr lang="en-US" altLang="zh-CN" sz="2400" b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＋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无条件跳转地址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＋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个字段的控制域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一条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共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位，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控制存储器的容量至少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字节。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如果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采用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可变格式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，则微指令有以下两种格式：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① 控制微指令，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＋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个字段的控制域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”共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位；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② 转移微指令，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＋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跳转地址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”，共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位。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控制存储器的容量至少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_________________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字节。</a:t>
            </a:r>
            <a:endParaRPr lang="zh-CN" altLang="en-US"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F4D03-0979-4CCC-AB99-53AC996C0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0608E3-D7CC-414E-A3BD-8AEEF8A67976}"/>
              </a:ext>
            </a:extLst>
          </p:cNvPr>
          <p:cNvSpPr/>
          <p:nvPr/>
        </p:nvSpPr>
        <p:spPr>
          <a:xfrm>
            <a:off x="5155549" y="42891"/>
            <a:ext cx="2887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p266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6.12</a:t>
            </a:r>
            <a:endParaRPr lang="zh-CN" altLang="en-US">
              <a:solidFill>
                <a:srgbClr val="FF6600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6" name="表格 15">
            <a:extLst>
              <a:ext uri="{FF2B5EF4-FFF2-40B4-BE49-F238E27FC236}">
                <a16:creationId xmlns:a16="http://schemas.microsoft.com/office/drawing/2014/main" id="{7A92AB81-0ACF-449A-92B3-B3930CCBF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14038"/>
              </p:ext>
            </p:extLst>
          </p:nvPr>
        </p:nvGraphicFramePr>
        <p:xfrm>
          <a:off x="1632918" y="548619"/>
          <a:ext cx="5466804" cy="87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2">
                  <a:extLst>
                    <a:ext uri="{9D8B030D-6E8A-4147-A177-3AD203B41FA5}">
                      <a16:colId xmlns:a16="http://schemas.microsoft.com/office/drawing/2014/main" val="1640035248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74167010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16350909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3888851574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1442371556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840483135"/>
                    </a:ext>
                  </a:extLst>
                </a:gridCol>
                <a:gridCol w="671107">
                  <a:extLst>
                    <a:ext uri="{9D8B030D-6E8A-4147-A177-3AD203B41FA5}">
                      <a16:colId xmlns:a16="http://schemas.microsoft.com/office/drawing/2014/main" val="2559399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76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996633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微命令</a:t>
                      </a:r>
                      <a:r>
                        <a:rPr lang="zh-CN" altLang="en-US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2400" b="1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66410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569CA54-E975-43F7-BBF1-1F56D27AF589}"/>
              </a:ext>
            </a:extLst>
          </p:cNvPr>
          <p:cNvSpPr txBox="1"/>
          <p:nvPr/>
        </p:nvSpPr>
        <p:spPr bwMode="auto">
          <a:xfrm>
            <a:off x="3070176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580CB6-25CD-46A5-9FCC-BE528C118590}"/>
              </a:ext>
            </a:extLst>
          </p:cNvPr>
          <p:cNvSpPr txBox="1"/>
          <p:nvPr/>
        </p:nvSpPr>
        <p:spPr bwMode="auto">
          <a:xfrm>
            <a:off x="3770634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E9C93E-FA34-4A2A-BABB-352C6856E4BF}"/>
              </a:ext>
            </a:extLst>
          </p:cNvPr>
          <p:cNvSpPr txBox="1"/>
          <p:nvPr/>
        </p:nvSpPr>
        <p:spPr bwMode="auto">
          <a:xfrm>
            <a:off x="4432995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49EB7-4092-44E2-A6A5-CAB5C087008E}"/>
              </a:ext>
            </a:extLst>
          </p:cNvPr>
          <p:cNvSpPr txBox="1"/>
          <p:nvPr/>
        </p:nvSpPr>
        <p:spPr bwMode="auto">
          <a:xfrm>
            <a:off x="5095356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41451B-94B1-4A1E-AA6D-C96D9B99A6D0}"/>
              </a:ext>
            </a:extLst>
          </p:cNvPr>
          <p:cNvSpPr txBox="1"/>
          <p:nvPr/>
        </p:nvSpPr>
        <p:spPr bwMode="auto">
          <a:xfrm>
            <a:off x="5757660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E18B4-118B-4DB6-8962-060A292165FE}"/>
              </a:ext>
            </a:extLst>
          </p:cNvPr>
          <p:cNvSpPr txBox="1"/>
          <p:nvPr/>
        </p:nvSpPr>
        <p:spPr bwMode="auto">
          <a:xfrm>
            <a:off x="6421898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72A7E3-1F89-4F93-9C4D-41B9D9F7DEFA}"/>
              </a:ext>
            </a:extLst>
          </p:cNvPr>
          <p:cNvSpPr txBox="1"/>
          <p:nvPr/>
        </p:nvSpPr>
        <p:spPr bwMode="auto">
          <a:xfrm>
            <a:off x="2085256" y="2306442"/>
            <a:ext cx="739305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D4A4AB-2333-43D8-8D72-5DF7F9220075}"/>
              </a:ext>
            </a:extLst>
          </p:cNvPr>
          <p:cNvSpPr txBox="1"/>
          <p:nvPr/>
        </p:nvSpPr>
        <p:spPr bwMode="auto">
          <a:xfrm>
            <a:off x="4192951" y="2247800"/>
            <a:ext cx="89319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10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C42952-4561-4351-8518-8864C4943417}"/>
              </a:ext>
            </a:extLst>
          </p:cNvPr>
          <p:cNvSpPr txBox="1"/>
          <p:nvPr/>
        </p:nvSpPr>
        <p:spPr bwMode="auto">
          <a:xfrm>
            <a:off x="6727520" y="2247800"/>
            <a:ext cx="89319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26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632A87-4A57-4325-8894-363EEE573E4C}"/>
              </a:ext>
            </a:extLst>
          </p:cNvPr>
          <p:cNvSpPr txBox="1"/>
          <p:nvPr/>
        </p:nvSpPr>
        <p:spPr bwMode="auto">
          <a:xfrm>
            <a:off x="2627784" y="2922194"/>
            <a:ext cx="492444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37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38FFE7-6C5F-49B0-AB52-B2344FDBF2E9}"/>
              </a:ext>
            </a:extLst>
          </p:cNvPr>
          <p:cNvSpPr txBox="1"/>
          <p:nvPr/>
        </p:nvSpPr>
        <p:spPr bwMode="auto">
          <a:xfrm>
            <a:off x="3378226" y="3314540"/>
            <a:ext cx="2658100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800×37 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/ 8 </a:t>
            </a:r>
            <a:r>
              <a:rPr lang="zh-CN" altLang="en-US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3700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DCF44E-1964-451B-82B6-E467898500BD}"/>
              </a:ext>
            </a:extLst>
          </p:cNvPr>
          <p:cNvSpPr txBox="1"/>
          <p:nvPr/>
        </p:nvSpPr>
        <p:spPr bwMode="auto">
          <a:xfrm>
            <a:off x="5104276" y="4721405"/>
            <a:ext cx="492444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27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5F57A2-610E-471B-ADA9-E77EE4D538EC}"/>
              </a:ext>
            </a:extLst>
          </p:cNvPr>
          <p:cNvSpPr txBox="1"/>
          <p:nvPr/>
        </p:nvSpPr>
        <p:spPr bwMode="auto">
          <a:xfrm>
            <a:off x="4346177" y="5537868"/>
            <a:ext cx="475451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11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DFB03D-BFE0-4028-8A92-5F5DE37883EE}"/>
              </a:ext>
            </a:extLst>
          </p:cNvPr>
          <p:cNvSpPr txBox="1"/>
          <p:nvPr/>
        </p:nvSpPr>
        <p:spPr bwMode="auto">
          <a:xfrm>
            <a:off x="3368220" y="5943118"/>
            <a:ext cx="2658100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800×27 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/ 8 </a:t>
            </a:r>
            <a:r>
              <a:rPr lang="zh-CN" altLang="en-US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2700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8E68CE-A1F4-4564-A8D9-E5ED6A62A99E}"/>
              </a:ext>
            </a:extLst>
          </p:cNvPr>
          <p:cNvSpPr txBox="1"/>
          <p:nvPr/>
        </p:nvSpPr>
        <p:spPr bwMode="auto">
          <a:xfrm>
            <a:off x="1643619" y="6315167"/>
            <a:ext cx="6519735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最大可以寻址</a:t>
            </a:r>
            <a:r>
              <a:rPr lang="en-US" altLang="zh-CN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r>
              <a:rPr lang="en-US" altLang="zh-CN" sz="2400" baseline="300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26</a:t>
            </a:r>
            <a:r>
              <a:rPr lang="zh-CN" altLang="en-US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个单元，最大容量</a:t>
            </a:r>
            <a:r>
              <a:rPr lang="en-US" altLang="zh-CN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r>
              <a:rPr lang="en-US" altLang="zh-CN" sz="2400" baseline="300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26</a:t>
            </a:r>
            <a:r>
              <a:rPr lang="en-US" altLang="zh-CN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×27bit</a:t>
            </a:r>
            <a:r>
              <a:rPr lang="zh-CN" altLang="en-US" sz="2400">
                <a:solidFill>
                  <a:srgbClr val="CC0099"/>
                </a:solidFill>
                <a:cs typeface="Times New Roman" panose="02020603050405020304" pitchFamily="18" charset="0"/>
                <a:sym typeface="Microsoft Yahei" panose="020B0503020204020204" pitchFamily="34" charset="-122"/>
              </a:rPr>
              <a:t>。</a:t>
            </a:r>
            <a:endParaRPr lang="zh-CN" altLang="en-US" sz="2400" i="1">
              <a:solidFill>
                <a:srgbClr val="CC0099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8E8F77C-F95A-4583-820F-E0F5D2F98397}"/>
              </a:ext>
            </a:extLst>
          </p:cNvPr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【例２】</a:t>
            </a:r>
          </a:p>
        </p:txBody>
      </p:sp>
    </p:spTree>
    <p:extLst>
      <p:ext uri="{BB962C8B-B14F-4D97-AF65-F5344CB8AC3E}">
        <p14:creationId xmlns:p14="http://schemas.microsoft.com/office/powerpoint/2010/main" val="3210980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BF0F7-C172-47CC-850A-F1148BCA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根据给定的</a:t>
            </a: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，写某指令的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DEB146-220D-4338-8308-5BC67143A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4F9EC341-D019-4A8D-A67C-3D85897349D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55576" y="6381328"/>
            <a:ext cx="61206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图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6.3 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单总线数据通路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CPU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内部结构图</a:t>
            </a:r>
            <a:endParaRPr kumimoji="0" lang="zh-CN" altLang="en-US" sz="4800" i="0" u="none" strike="noStrike" kern="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</a:endParaRP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019CE971-5F31-4078-B85F-9EB968E52B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43608" y="620688"/>
            <a:ext cx="5544616" cy="5688632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CPU</a:t>
            </a:r>
            <a:endParaRPr kumimoji="0" lang="en-US" altLang="zh-CN" sz="480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A91948B8-F5A8-4C10-BB5A-BE8387EB9C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51960" y="5156371"/>
            <a:ext cx="139461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内部控制信号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71642E3E-B0EA-4203-AF73-37A8AE035B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31929" y="692696"/>
            <a:ext cx="1858963" cy="42041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寄存器组</a:t>
            </a:r>
            <a:endParaRPr kumimoji="0" lang="zh-CN" altLang="en-US" sz="44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7BBBAA7E-DF72-4042-9590-29E262C6077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1162698"/>
            <a:ext cx="1487170" cy="322086"/>
          </a:xfrm>
          <a:prstGeom prst="rect">
            <a:avLst/>
          </a:prstGeom>
          <a:solidFill>
            <a:srgbClr val="FFCC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R0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A932049D-8FDC-467E-AA68-3BC5F09E25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1998067"/>
            <a:ext cx="1487170" cy="322086"/>
          </a:xfrm>
          <a:prstGeom prst="rect">
            <a:avLst/>
          </a:prstGeom>
          <a:solidFill>
            <a:srgbClr val="FFCC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Rn-1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15F7C3A-AB10-46B1-A3A4-C67F610EA2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2481196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FE92135F-27A2-45D4-879B-6DBB54A8563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2964326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(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)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</a:t>
            </a:r>
            <a:endParaRPr kumimoji="0" lang="en-US" altLang="zh-CN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C7353A8D-F606-4395-B4B9-4331D34B626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3447455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(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)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</a:t>
            </a:r>
            <a:endParaRPr kumimoji="0" lang="en-US" altLang="zh-CN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84EF35FA-51C6-4A62-B7BE-6B8935A55C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3930584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PC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A042E161-6CAC-4690-A0A8-24A408200F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7825" y="4413713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IR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E402C85C-9436-4C78-8929-99F1A0957D2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561411" y="1594746"/>
            <a:ext cx="0" cy="322086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DA9F9758-B285-4D54-B818-CF59837BA62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1323816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B46B7441-F211-4947-9A9F-E4937A45A0A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2159297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32C89C66-A5AF-41B5-AA11-AFBE376B471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2642483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7ACD7900-4733-4CA0-B1A3-A4F41ECC9A2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3125668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CBD6A9E9-9CFA-4AFF-8793-051FEE5FCD3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4092038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A21029D4-59EB-4E7A-8C4D-874E5D1198D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074716" y="3608853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7F6E75DF-6394-4304-85C5-43DC0982C30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15616" y="1412776"/>
            <a:ext cx="2216789" cy="352839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ALU</a:t>
            </a:r>
            <a:endParaRPr kumimoji="0" lang="en-US" altLang="zh-CN" sz="44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9DB70870-ABF7-4211-92AC-80241C03C9E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59746" y="1954739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PSW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Text Box 33">
            <a:extLst>
              <a:ext uri="{FF2B5EF4-FFF2-40B4-BE49-F238E27FC236}">
                <a16:creationId xmlns:a16="http://schemas.microsoft.com/office/drawing/2014/main" id="{63081DAD-08F1-4618-B6D3-A32006D19B6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73169" y="3442243"/>
            <a:ext cx="1486807" cy="644265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96000"/>
              </a:lnSpc>
              <a:spcBef>
                <a:spcPts val="46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算术、布尔</a:t>
            </a:r>
          </a:p>
          <a:p>
            <a:pPr marL="0" marR="0" lvl="0" indent="0" defTabSz="914400" eaLnBrk="1" fontAlgn="auto" latinLnBrk="0" hangingPunct="1">
              <a:lnSpc>
                <a:spcPct val="9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逻辑</a:t>
            </a:r>
            <a:endParaRPr kumimoji="0" lang="zh-CN" altLang="en-US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Line 34">
            <a:extLst>
              <a:ext uri="{FF2B5EF4-FFF2-40B4-BE49-F238E27FC236}">
                <a16:creationId xmlns:a16="http://schemas.microsoft.com/office/drawing/2014/main" id="{5A4E82F7-19F0-4DB8-80E1-ABEBBBE6D35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301467" y="2154007"/>
            <a:ext cx="371702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Line 35">
            <a:extLst>
              <a:ext uri="{FF2B5EF4-FFF2-40B4-BE49-F238E27FC236}">
                <a16:creationId xmlns:a16="http://schemas.microsoft.com/office/drawing/2014/main" id="{4693C2DB-88AE-4555-A9EE-8DF15CB2BC8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88274" y="3120111"/>
            <a:ext cx="929255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Line 36">
            <a:extLst>
              <a:ext uri="{FF2B5EF4-FFF2-40B4-BE49-F238E27FC236}">
                <a16:creationId xmlns:a16="http://schemas.microsoft.com/office/drawing/2014/main" id="{62E22D1F-CD8D-48B6-817D-CA03AD32B82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146554" y="2115805"/>
            <a:ext cx="55445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39">
            <a:extLst>
              <a:ext uri="{FF2B5EF4-FFF2-40B4-BE49-F238E27FC236}">
                <a16:creationId xmlns:a16="http://schemas.microsoft.com/office/drawing/2014/main" id="{89CB89F2-BD52-46E5-A2DF-A680A067527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159976" y="4569707"/>
            <a:ext cx="5575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7D056AAC-9CDF-444F-9560-41186ED8A5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73169" y="2636912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暂存器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858CB53F-5B05-41E3-8E53-5BE4930D622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73169" y="4408641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暂存器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546C05D5-CC4B-496D-B98F-EBF1B9933F8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59976" y="2797978"/>
            <a:ext cx="5575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Line 43">
            <a:extLst>
              <a:ext uri="{FF2B5EF4-FFF2-40B4-BE49-F238E27FC236}">
                <a16:creationId xmlns:a16="http://schemas.microsoft.com/office/drawing/2014/main" id="{1F9B118E-90BB-48EE-9655-6E3B7D12D7FA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H="1">
            <a:off x="1803271" y="3200644"/>
            <a:ext cx="483199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Line 44">
            <a:extLst>
              <a:ext uri="{FF2B5EF4-FFF2-40B4-BE49-F238E27FC236}">
                <a16:creationId xmlns:a16="http://schemas.microsoft.com/office/drawing/2014/main" id="{081E990E-638B-4FA3-AEE2-5CB006028C35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H="1">
            <a:off x="2255506" y="4247575"/>
            <a:ext cx="32213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Line 45">
            <a:extLst>
              <a:ext uri="{FF2B5EF4-FFF2-40B4-BE49-F238E27FC236}">
                <a16:creationId xmlns:a16="http://schemas.microsoft.com/office/drawing/2014/main" id="{DD5D750A-0286-439E-80CA-D82E1E90B80E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H="1">
            <a:off x="2627208" y="3281177"/>
            <a:ext cx="322133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Line 46">
            <a:extLst>
              <a:ext uri="{FF2B5EF4-FFF2-40B4-BE49-F238E27FC236}">
                <a16:creationId xmlns:a16="http://schemas.microsoft.com/office/drawing/2014/main" id="{7669E01B-A047-48CD-9130-2AAC1EA8BDC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301467" y="2132855"/>
            <a:ext cx="0" cy="199688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Text Box 52">
            <a:extLst>
              <a:ext uri="{FF2B5EF4-FFF2-40B4-BE49-F238E27FC236}">
                <a16:creationId xmlns:a16="http://schemas.microsoft.com/office/drawing/2014/main" id="{28B73CF6-B8CB-4D0E-80EF-928FCDFA03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48797" y="3322762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Text Box 53">
            <a:extLst>
              <a:ext uri="{FF2B5EF4-FFF2-40B4-BE49-F238E27FC236}">
                <a16:creationId xmlns:a16="http://schemas.microsoft.com/office/drawing/2014/main" id="{4366652E-BC8E-4969-84D7-09885FDBCE7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48797" y="5483002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Text Box 54">
            <a:extLst>
              <a:ext uri="{FF2B5EF4-FFF2-40B4-BE49-F238E27FC236}">
                <a16:creationId xmlns:a16="http://schemas.microsoft.com/office/drawing/2014/main" id="{D6352DF3-7F87-4F5D-96A8-7B8EAC872A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48797" y="2852936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Line 56">
            <a:extLst>
              <a:ext uri="{FF2B5EF4-FFF2-40B4-BE49-F238E27FC236}">
                <a16:creationId xmlns:a16="http://schemas.microsoft.com/office/drawing/2014/main" id="{13F69719-C4CD-40A3-850D-AB31F457E48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 flipH="1">
            <a:off x="2148765" y="5192786"/>
            <a:ext cx="503235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3" name="Line 58">
            <a:extLst>
              <a:ext uri="{FF2B5EF4-FFF2-40B4-BE49-F238E27FC236}">
                <a16:creationId xmlns:a16="http://schemas.microsoft.com/office/drawing/2014/main" id="{B169D7C3-00EB-43A5-8060-AAD43C4357F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371474" y="5444403"/>
            <a:ext cx="2467584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Line 59">
            <a:extLst>
              <a:ext uri="{FF2B5EF4-FFF2-40B4-BE49-F238E27FC236}">
                <a16:creationId xmlns:a16="http://schemas.microsoft.com/office/drawing/2014/main" id="{4A2969D3-CB4F-4685-91C5-110010DCE585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H="1">
            <a:off x="5285507" y="5013060"/>
            <a:ext cx="576295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Line 61">
            <a:extLst>
              <a:ext uri="{FF2B5EF4-FFF2-40B4-BE49-F238E27FC236}">
                <a16:creationId xmlns:a16="http://schemas.microsoft.com/office/drawing/2014/main" id="{63A91760-541E-4032-B539-5177BF5BFAD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4417813" y="5182429"/>
            <a:ext cx="974277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6" name="Line 62">
            <a:extLst>
              <a:ext uri="{FF2B5EF4-FFF2-40B4-BE49-F238E27FC236}">
                <a16:creationId xmlns:a16="http://schemas.microsoft.com/office/drawing/2014/main" id="{43272723-1622-409C-ABA9-9C699BAEAC0D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 flipH="1" flipV="1">
            <a:off x="4294339" y="5300799"/>
            <a:ext cx="287214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7" name="Line 63">
            <a:extLst>
              <a:ext uri="{FF2B5EF4-FFF2-40B4-BE49-F238E27FC236}">
                <a16:creationId xmlns:a16="http://schemas.microsoft.com/office/drawing/2014/main" id="{45F94285-B843-4739-A50E-D5D0CFC926F3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521236" y="4883222"/>
            <a:ext cx="1556052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Line 64">
            <a:extLst>
              <a:ext uri="{FF2B5EF4-FFF2-40B4-BE49-F238E27FC236}">
                <a16:creationId xmlns:a16="http://schemas.microsoft.com/office/drawing/2014/main" id="{3124551F-6D60-4815-B9C5-4C4D761BD59E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279129" y="5661248"/>
            <a:ext cx="3541345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9" name="Text Box 57">
            <a:extLst>
              <a:ext uri="{FF2B5EF4-FFF2-40B4-BE49-F238E27FC236}">
                <a16:creationId xmlns:a16="http://schemas.microsoft.com/office/drawing/2014/main" id="{742DC212-5099-4130-9F75-321188018E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18409" y="5301209"/>
            <a:ext cx="1486745" cy="864096"/>
          </a:xfrm>
          <a:prstGeom prst="rect">
            <a:avLst/>
          </a:prstGeom>
          <a:solidFill>
            <a:srgbClr val="CC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6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控制器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Line 65">
            <a:extLst>
              <a:ext uri="{FF2B5EF4-FFF2-40B4-BE49-F238E27FC236}">
                <a16:creationId xmlns:a16="http://schemas.microsoft.com/office/drawing/2014/main" id="{F2F488CE-CA4B-4536-B56B-663BA6A1BD3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089004" y="4577755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18E48806-015C-4E44-90C3-D0173A5E5C3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301467" y="3764376"/>
            <a:ext cx="54239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2" name="等腰三角形 51">
            <a:extLst>
              <a:ext uri="{FF2B5EF4-FFF2-40B4-BE49-F238E27FC236}">
                <a16:creationId xmlns:a16="http://schemas.microsoft.com/office/drawing/2014/main" id="{1CE33994-797C-4723-BBD8-D7CCB0EF9581}"/>
              </a:ext>
            </a:extLst>
          </p:cNvPr>
          <p:cNvSpPr/>
          <p:nvPr/>
        </p:nvSpPr>
        <p:spPr bwMode="auto">
          <a:xfrm flipV="1">
            <a:off x="2209407" y="3304319"/>
            <a:ext cx="402546" cy="360040"/>
          </a:xfrm>
          <a:prstGeom prst="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626C22DF-C167-478B-9E0A-F91398CE9C51}"/>
              </a:ext>
            </a:extLst>
          </p:cNvPr>
          <p:cNvSpPr/>
          <p:nvPr/>
        </p:nvSpPr>
        <p:spPr bwMode="auto">
          <a:xfrm>
            <a:off x="1666715" y="3443316"/>
            <a:ext cx="360040" cy="643038"/>
          </a:xfrm>
          <a:prstGeom prst="rt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4" name="直角三角形 53">
            <a:extLst>
              <a:ext uri="{FF2B5EF4-FFF2-40B4-BE49-F238E27FC236}">
                <a16:creationId xmlns:a16="http://schemas.microsoft.com/office/drawing/2014/main" id="{9F8BCEF5-4A90-4026-B0E9-95D7F39F8C77}"/>
              </a:ext>
            </a:extLst>
          </p:cNvPr>
          <p:cNvSpPr/>
          <p:nvPr/>
        </p:nvSpPr>
        <p:spPr bwMode="auto">
          <a:xfrm flipH="1">
            <a:off x="2800553" y="3450630"/>
            <a:ext cx="360040" cy="635723"/>
          </a:xfrm>
          <a:prstGeom prst="rt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直角三角形 54">
            <a:extLst>
              <a:ext uri="{FF2B5EF4-FFF2-40B4-BE49-F238E27FC236}">
                <a16:creationId xmlns:a16="http://schemas.microsoft.com/office/drawing/2014/main" id="{B2760B75-FDF8-48F8-ACDD-28610D8D3237}"/>
              </a:ext>
            </a:extLst>
          </p:cNvPr>
          <p:cNvSpPr>
            <a:spLocks noChangeAspect="1"/>
          </p:cNvSpPr>
          <p:nvPr/>
        </p:nvSpPr>
        <p:spPr bwMode="auto">
          <a:xfrm>
            <a:off x="1624404" y="3384483"/>
            <a:ext cx="415898" cy="742802"/>
          </a:xfrm>
          <a:prstGeom prst="rtTriangle">
            <a:avLst/>
          </a:prstGeom>
          <a:solidFill>
            <a:srgbClr val="FF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E93BB1-5D73-4090-8DCE-3AA4AAC0255E}"/>
              </a:ext>
            </a:extLst>
          </p:cNvPr>
          <p:cNvSpPr/>
          <p:nvPr/>
        </p:nvSpPr>
        <p:spPr bwMode="auto">
          <a:xfrm>
            <a:off x="2169387" y="3253124"/>
            <a:ext cx="486461" cy="182880"/>
          </a:xfrm>
          <a:prstGeom prst="rect">
            <a:avLst/>
          </a:prstGeom>
          <a:solidFill>
            <a:srgbClr val="FFFF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直角三角形 56">
            <a:extLst>
              <a:ext uri="{FF2B5EF4-FFF2-40B4-BE49-F238E27FC236}">
                <a16:creationId xmlns:a16="http://schemas.microsoft.com/office/drawing/2014/main" id="{50672E17-9628-4A0C-9952-2DC9101F24AC}"/>
              </a:ext>
            </a:extLst>
          </p:cNvPr>
          <p:cNvSpPr>
            <a:spLocks noChangeAspect="1"/>
          </p:cNvSpPr>
          <p:nvPr/>
        </p:nvSpPr>
        <p:spPr bwMode="auto">
          <a:xfrm flipH="1">
            <a:off x="2794812" y="3380820"/>
            <a:ext cx="415898" cy="742802"/>
          </a:xfrm>
          <a:prstGeom prst="rtTriangle">
            <a:avLst/>
          </a:prstGeom>
          <a:solidFill>
            <a:srgbClr val="FF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96D7137-EFD2-40D2-97FF-BD8F694316B8}"/>
              </a:ext>
            </a:extLst>
          </p:cNvPr>
          <p:cNvCxnSpPr/>
          <p:nvPr/>
        </p:nvCxnSpPr>
        <p:spPr bwMode="auto">
          <a:xfrm>
            <a:off x="1291568" y="3765185"/>
            <a:ext cx="555949" cy="0"/>
          </a:xfrm>
          <a:prstGeom prst="line">
            <a:avLst/>
          </a:prstGeom>
          <a:solidFill>
            <a:srgbClr val="FFFFFF"/>
          </a:solidFill>
          <a:ln w="381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B53351D-991A-4D36-8497-BE4A8D65BBA9}"/>
              </a:ext>
            </a:extLst>
          </p:cNvPr>
          <p:cNvCxnSpPr/>
          <p:nvPr/>
        </p:nvCxnSpPr>
        <p:spPr bwMode="auto">
          <a:xfrm rot="5400000">
            <a:off x="5214236" y="5050101"/>
            <a:ext cx="308333" cy="1588"/>
          </a:xfrm>
          <a:prstGeom prst="straightConnector1">
            <a:avLst/>
          </a:prstGeom>
          <a:noFill/>
          <a:ln w="50800">
            <a:solidFill>
              <a:srgbClr val="FF0066"/>
            </a:solidFill>
            <a:round/>
            <a:headEnd type="triangle" w="med" len="med"/>
            <a:tailEnd/>
          </a:ln>
        </p:spPr>
      </p:cxnSp>
      <p:sp>
        <p:nvSpPr>
          <p:cNvPr id="60" name="Text Box 41">
            <a:extLst>
              <a:ext uri="{FF2B5EF4-FFF2-40B4-BE49-F238E27FC236}">
                <a16:creationId xmlns:a16="http://schemas.microsoft.com/office/drawing/2014/main" id="{CF019B10-9A1C-4D79-A034-60A571432DD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1520" y="5842795"/>
            <a:ext cx="576064" cy="322133"/>
          </a:xfrm>
          <a:prstGeom prst="rect">
            <a:avLst/>
          </a:prstGeom>
          <a:solidFill>
            <a:srgbClr val="CC99FF"/>
          </a:solidFill>
          <a:ln w="1905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时钟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Text Box 41">
            <a:extLst>
              <a:ext uri="{FF2B5EF4-FFF2-40B4-BE49-F238E27FC236}">
                <a16:creationId xmlns:a16="http://schemas.microsoft.com/office/drawing/2014/main" id="{CA2DF05C-AD1B-4B0A-B25E-953BC793DD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10533" y="5805265"/>
            <a:ext cx="1296144" cy="394116"/>
          </a:xfrm>
          <a:prstGeom prst="rect">
            <a:avLst/>
          </a:prstGeom>
          <a:solidFill>
            <a:srgbClr val="CC99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时序产生器</a:t>
            </a:r>
            <a:endParaRPr kumimoji="0" lang="en-US" altLang="zh-CN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2006F00-53A1-498C-81A7-2962E8D330C5}"/>
              </a:ext>
            </a:extLst>
          </p:cNvPr>
          <p:cNvCxnSpPr>
            <a:cxnSpLocks/>
          </p:cNvCxnSpPr>
          <p:nvPr/>
        </p:nvCxnSpPr>
        <p:spPr bwMode="auto">
          <a:xfrm>
            <a:off x="827584" y="6000927"/>
            <a:ext cx="2282949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63" name="Line 39">
            <a:extLst>
              <a:ext uri="{FF2B5EF4-FFF2-40B4-BE49-F238E27FC236}">
                <a16:creationId xmlns:a16="http://schemas.microsoft.com/office/drawing/2014/main" id="{B5436ADC-1088-495F-94AB-62709AAA00F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406677" y="5999364"/>
            <a:ext cx="413536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上下箭头 76">
            <a:extLst>
              <a:ext uri="{FF2B5EF4-FFF2-40B4-BE49-F238E27FC236}">
                <a16:creationId xmlns:a16="http://schemas.microsoft.com/office/drawing/2014/main" id="{7EF8737D-A11C-440B-9425-95BC09BB47CE}"/>
              </a:ext>
            </a:extLst>
          </p:cNvPr>
          <p:cNvSpPr/>
          <p:nvPr/>
        </p:nvSpPr>
        <p:spPr bwMode="auto">
          <a:xfrm>
            <a:off x="7020272" y="2788024"/>
            <a:ext cx="288032" cy="3325905"/>
          </a:xfrm>
          <a:prstGeom prst="upDownArrow">
            <a:avLst>
              <a:gd name="adj1" fmla="val 50000"/>
              <a:gd name="adj2" fmla="val 76144"/>
            </a:avLst>
          </a:prstGeom>
          <a:solidFill>
            <a:srgbClr val="FF6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TextBox 77">
            <a:extLst>
              <a:ext uri="{FF2B5EF4-FFF2-40B4-BE49-F238E27FC236}">
                <a16:creationId xmlns:a16="http://schemas.microsoft.com/office/drawing/2014/main" id="{97B23B14-9B52-4EC4-8103-06FA69573776}"/>
              </a:ext>
            </a:extLst>
          </p:cNvPr>
          <p:cNvSpPr txBox="1"/>
          <p:nvPr/>
        </p:nvSpPr>
        <p:spPr>
          <a:xfrm>
            <a:off x="6732240" y="3905761"/>
            <a:ext cx="43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系统总线</a:t>
            </a:r>
          </a:p>
        </p:txBody>
      </p:sp>
      <p:sp>
        <p:nvSpPr>
          <p:cNvPr id="66" name="Line 49">
            <a:extLst>
              <a:ext uri="{FF2B5EF4-FFF2-40B4-BE49-F238E27FC236}">
                <a16:creationId xmlns:a16="http://schemas.microsoft.com/office/drawing/2014/main" id="{E645A1BB-6442-4634-A383-90204C2B0BB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4100965"/>
            <a:ext cx="576064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7" name="Line 50">
            <a:extLst>
              <a:ext uri="{FF2B5EF4-FFF2-40B4-BE49-F238E27FC236}">
                <a16:creationId xmlns:a16="http://schemas.microsoft.com/office/drawing/2014/main" id="{C3C64451-B3C0-456F-AEC7-9310B62C05B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4391999"/>
            <a:ext cx="576064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8" name="Line 51">
            <a:extLst>
              <a:ext uri="{FF2B5EF4-FFF2-40B4-BE49-F238E27FC236}">
                <a16:creationId xmlns:a16="http://schemas.microsoft.com/office/drawing/2014/main" id="{CFABF4EE-BD14-4BC3-BEC6-CF1F2BF3CED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3815935"/>
            <a:ext cx="576064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9" name="Text Box 52">
            <a:extLst>
              <a:ext uri="{FF2B5EF4-FFF2-40B4-BE49-F238E27FC236}">
                <a16:creationId xmlns:a16="http://schemas.microsoft.com/office/drawing/2014/main" id="{46A66A41-228C-4A5C-BB67-30DA8A655D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3815935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0" name="Text Box 53">
            <a:extLst>
              <a:ext uri="{FF2B5EF4-FFF2-40B4-BE49-F238E27FC236}">
                <a16:creationId xmlns:a16="http://schemas.microsoft.com/office/drawing/2014/main" id="{027977AE-FC24-4B92-BA3E-B519D8DA7A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4108209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1" name="Text Box 54">
            <a:extLst>
              <a:ext uri="{FF2B5EF4-FFF2-40B4-BE49-F238E27FC236}">
                <a16:creationId xmlns:a16="http://schemas.microsoft.com/office/drawing/2014/main" id="{E0FCA594-23C7-4C80-8CF1-ED2A2E1FEC1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3543679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2" name="Text Box 30">
            <a:extLst>
              <a:ext uri="{FF2B5EF4-FFF2-40B4-BE49-F238E27FC236}">
                <a16:creationId xmlns:a16="http://schemas.microsoft.com/office/drawing/2014/main" id="{6F76179F-C9C3-46CB-8EF6-5EFB7CA6BE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03395" y="3671919"/>
            <a:ext cx="1008111" cy="864096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主存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储器</a:t>
            </a:r>
            <a:endParaRPr kumimoji="0" lang="en-US" altLang="zh-CN" sz="4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3" name="Line 49">
            <a:extLst>
              <a:ext uri="{FF2B5EF4-FFF2-40B4-BE49-F238E27FC236}">
                <a16:creationId xmlns:a16="http://schemas.microsoft.com/office/drawing/2014/main" id="{67FA225A-71A5-4388-AD02-9D85259F8B3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5334354"/>
            <a:ext cx="576064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4" name="Line 50">
            <a:extLst>
              <a:ext uri="{FF2B5EF4-FFF2-40B4-BE49-F238E27FC236}">
                <a16:creationId xmlns:a16="http://schemas.microsoft.com/office/drawing/2014/main" id="{832E8BC8-119A-428B-9747-D49A53F746F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5625388"/>
            <a:ext cx="576064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" name="Line 51">
            <a:extLst>
              <a:ext uri="{FF2B5EF4-FFF2-40B4-BE49-F238E27FC236}">
                <a16:creationId xmlns:a16="http://schemas.microsoft.com/office/drawing/2014/main" id="{98591F27-9CBA-4387-B569-2D00DC81659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27331" y="5049324"/>
            <a:ext cx="576064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6" name="Text Box 52">
            <a:extLst>
              <a:ext uri="{FF2B5EF4-FFF2-40B4-BE49-F238E27FC236}">
                <a16:creationId xmlns:a16="http://schemas.microsoft.com/office/drawing/2014/main" id="{30F9F2F7-5F57-4BD9-BA87-7DDD2BFA53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5049324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7" name="Text Box 53">
            <a:extLst>
              <a:ext uri="{FF2B5EF4-FFF2-40B4-BE49-F238E27FC236}">
                <a16:creationId xmlns:a16="http://schemas.microsoft.com/office/drawing/2014/main" id="{31A16593-2F84-4448-B06F-752F74F762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5341598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8" name="Text Box 54">
            <a:extLst>
              <a:ext uri="{FF2B5EF4-FFF2-40B4-BE49-F238E27FC236}">
                <a16:creationId xmlns:a16="http://schemas.microsoft.com/office/drawing/2014/main" id="{A13D8271-9C98-42DA-B457-73976F9F51D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1347" y="4777068"/>
            <a:ext cx="37147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Text Box 30">
            <a:extLst>
              <a:ext uri="{FF2B5EF4-FFF2-40B4-BE49-F238E27FC236}">
                <a16:creationId xmlns:a16="http://schemas.microsoft.com/office/drawing/2014/main" id="{47BC3D42-E717-4777-9A02-ED455496060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03396" y="4761292"/>
            <a:ext cx="504055" cy="1080120"/>
          </a:xfrm>
          <a:prstGeom prst="rect">
            <a:avLst/>
          </a:prstGeom>
          <a:solidFill>
            <a:srgbClr val="CCEC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接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口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Text Box 30">
            <a:extLst>
              <a:ext uri="{FF2B5EF4-FFF2-40B4-BE49-F238E27FC236}">
                <a16:creationId xmlns:a16="http://schemas.microsoft.com/office/drawing/2014/main" id="{BCA72971-066D-42D3-B53A-62314486130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307451" y="4761292"/>
            <a:ext cx="504055" cy="1080120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设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备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Line 51">
            <a:extLst>
              <a:ext uri="{FF2B5EF4-FFF2-40B4-BE49-F238E27FC236}">
                <a16:creationId xmlns:a16="http://schemas.microsoft.com/office/drawing/2014/main" id="{DCAA3C79-A091-4587-8075-89A52D3A35C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305154" y="3125192"/>
            <a:ext cx="787126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2" name="Line 49">
            <a:extLst>
              <a:ext uri="{FF2B5EF4-FFF2-40B4-BE49-F238E27FC236}">
                <a16:creationId xmlns:a16="http://schemas.microsoft.com/office/drawing/2014/main" id="{9009DEDE-ED1B-490C-8FEC-ACEB1B4ED2B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305154" y="3607792"/>
            <a:ext cx="787126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Line 50">
            <a:extLst>
              <a:ext uri="{FF2B5EF4-FFF2-40B4-BE49-F238E27FC236}">
                <a16:creationId xmlns:a16="http://schemas.microsoft.com/office/drawing/2014/main" id="{56621D68-761C-4C67-BF43-3E9DCC5DF93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305154" y="5766792"/>
            <a:ext cx="787126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Text Box 21">
            <a:extLst>
              <a:ext uri="{FF2B5EF4-FFF2-40B4-BE49-F238E27FC236}">
                <a16:creationId xmlns:a16="http://schemas.microsoft.com/office/drawing/2014/main" id="{66A028B3-54EE-439C-99B9-1201AA5AEB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703241" y="908695"/>
            <a:ext cx="371475" cy="4032473"/>
          </a:xfrm>
          <a:prstGeom prst="rect">
            <a:avLst/>
          </a:prstGeom>
          <a:solidFill>
            <a:srgbClr val="CCEC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eaVert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CPU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内部总线</a:t>
            </a:r>
            <a:endParaRPr kumimoji="0" lang="zh-CN" altLang="en-US" sz="4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415B987-1451-4962-98A9-760CDFDC39B1}"/>
              </a:ext>
            </a:extLst>
          </p:cNvPr>
          <p:cNvSpPr/>
          <p:nvPr/>
        </p:nvSpPr>
        <p:spPr>
          <a:xfrm>
            <a:off x="7020272" y="697920"/>
            <a:ext cx="20600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marR="0" lvl="0" indent="-268288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无缓存</a:t>
            </a:r>
          </a:p>
          <a:p>
            <a:pPr marL="268288" marR="0" lvl="0" indent="-268288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无虚存</a:t>
            </a:r>
          </a:p>
          <a:p>
            <a:pPr marL="268288" marR="0" lvl="0" indent="-268288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无多任务</a:t>
            </a:r>
          </a:p>
          <a:p>
            <a:pPr marL="268288" marR="0" lvl="0" indent="-268288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内存与CPU速度一样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39D8004-B1A1-4256-9C50-432FF64C5870}"/>
              </a:ext>
            </a:extLst>
          </p:cNvPr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</a:p>
        </p:txBody>
      </p:sp>
      <p:sp>
        <p:nvSpPr>
          <p:cNvPr id="85" name="动作按钮: 上一张 8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144950E8-D4CF-4357-8EAB-2F10A01A0848}"/>
              </a:ext>
            </a:extLst>
          </p:cNvPr>
          <p:cNvSpPr/>
          <p:nvPr/>
        </p:nvSpPr>
        <p:spPr bwMode="auto">
          <a:xfrm>
            <a:off x="7803395" y="6201534"/>
            <a:ext cx="432048" cy="432048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333962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8AA66-6566-45C9-B993-B1EAF275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BFF66-0573-4ADB-8720-F71A91433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64626"/>
            <a:ext cx="8712968" cy="44645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某计算机系统简化的</a:t>
            </a:r>
            <a:r>
              <a:rPr lang="en-US" altLang="zh-CN" sz="2400" dirty="0"/>
              <a:t>CPU</a:t>
            </a:r>
            <a:r>
              <a:rPr lang="zh-CN" altLang="en-US" sz="2400" dirty="0"/>
              <a:t>结构如 </a:t>
            </a:r>
            <a:r>
              <a:rPr lang="zh-CN" altLang="en-US" sz="2400" dirty="0">
                <a:hlinkClick r:id="rId2" action="ppaction://hlinksldjump"/>
              </a:rPr>
              <a:t>图</a:t>
            </a:r>
            <a:r>
              <a:rPr lang="en-US" altLang="zh-CN" sz="2400" dirty="0">
                <a:hlinkClick r:id="rId2" action="ppaction://hlinksldjump"/>
              </a:rPr>
              <a:t>6.3</a:t>
            </a:r>
            <a:r>
              <a:rPr lang="en-US" altLang="zh-CN" sz="2400" dirty="0"/>
              <a:t> </a:t>
            </a:r>
            <a:r>
              <a:rPr lang="zh-CN" altLang="en-US" sz="2400" dirty="0"/>
              <a:t>所示，有如下减法指令：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3200" dirty="0">
                <a:solidFill>
                  <a:srgbClr val="CC0000"/>
                </a:solidFill>
              </a:rPr>
              <a:t>SUB  B</a:t>
            </a:r>
            <a:r>
              <a:rPr lang="en-US" altLang="zh-CN" sz="32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 dirty="0">
                <a:solidFill>
                  <a:srgbClr val="CC0000"/>
                </a:solidFill>
              </a:rPr>
              <a:t>R0</a:t>
            </a:r>
            <a:r>
              <a:rPr lang="en-US" altLang="zh-CN" sz="32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3200" dirty="0">
                <a:solidFill>
                  <a:srgbClr val="CC0000"/>
                </a:solidFill>
              </a:rPr>
              <a:t>, R1</a:t>
            </a:r>
          </a:p>
          <a:p>
            <a:pPr marL="0" indent="0">
              <a:buNone/>
            </a:pPr>
            <a:r>
              <a:rPr lang="zh-CN" altLang="en-US" sz="2400" dirty="0"/>
              <a:t>其中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R0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表示</a:t>
            </a:r>
            <a:r>
              <a:rPr lang="zh-CN" altLang="en-US" sz="2400" dirty="0">
                <a:solidFill>
                  <a:srgbClr val="D60093"/>
                </a:solidFill>
              </a:rPr>
              <a:t>基址寻址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8000"/>
                </a:solidFill>
              </a:rPr>
              <a:t>偏移量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R0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8000"/>
                </a:solidFill>
              </a:rPr>
              <a:t>基址寄存器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指令的功能是：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8000"/>
                </a:solidFill>
              </a:rPr>
              <a:t>基址寄存器</a:t>
            </a:r>
            <a:r>
              <a:rPr lang="en-US" altLang="zh-CN" sz="2400" dirty="0"/>
              <a:t>R0</a:t>
            </a:r>
            <a:r>
              <a:rPr lang="zh-CN" altLang="en-US" sz="2400" dirty="0"/>
              <a:t>的内容加</a:t>
            </a:r>
            <a:r>
              <a:rPr lang="zh-CN" altLang="en-US" sz="2400" dirty="0">
                <a:solidFill>
                  <a:srgbClr val="008000"/>
                </a:solidFill>
              </a:rPr>
              <a:t>偏移量</a:t>
            </a:r>
            <a:r>
              <a:rPr lang="en-US" altLang="zh-CN" sz="2400" dirty="0"/>
              <a:t>B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zh-CN" altLang="en-US" sz="2400" dirty="0"/>
              <a:t>记为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为内存地址，内存地址为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i="1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的单元的内容作为</a:t>
            </a:r>
            <a:r>
              <a:rPr lang="zh-CN" altLang="en-US" sz="2400" dirty="0">
                <a:solidFill>
                  <a:srgbClr val="9900FF"/>
                </a:solidFill>
              </a:rPr>
              <a:t>被减数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R1</a:t>
            </a:r>
            <a:r>
              <a:rPr lang="zh-CN" altLang="en-US" sz="2400" dirty="0"/>
              <a:t>寄存器的内容作为</a:t>
            </a:r>
            <a:r>
              <a:rPr lang="zh-CN" altLang="en-US" sz="2400" dirty="0">
                <a:solidFill>
                  <a:srgbClr val="9900FF"/>
                </a:solidFill>
              </a:rPr>
              <a:t>减数</a:t>
            </a:r>
            <a:r>
              <a:rPr lang="zh-CN" altLang="en-US" sz="2400" dirty="0"/>
              <a:t>，二者相减，</a:t>
            </a:r>
            <a:br>
              <a:rPr lang="en-US" altLang="zh-CN" sz="2400" dirty="0"/>
            </a:br>
            <a:r>
              <a:rPr lang="zh-CN" altLang="en-US" sz="2400" dirty="0">
                <a:solidFill>
                  <a:srgbClr val="FF0000"/>
                </a:solidFill>
              </a:rPr>
              <a:t>差</a:t>
            </a:r>
            <a:r>
              <a:rPr lang="zh-CN" altLang="en-US" sz="2400" dirty="0"/>
              <a:t>存入内存地址为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i="1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的单元。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写出上述减法指令包括取指令在内的</a:t>
            </a:r>
            <a:r>
              <a:rPr lang="zh-CN" altLang="en-US" sz="2400" dirty="0">
                <a:solidFill>
                  <a:srgbClr val="FF0000"/>
                </a:solidFill>
              </a:rPr>
              <a:t>微操作序列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微命令序列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BED0D-5499-4DA5-9EE3-8E7F69C45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8AE9C3-38DC-482D-807A-C1B11DB1ACEF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</a:p>
        </p:txBody>
      </p:sp>
    </p:spTree>
    <p:extLst>
      <p:ext uri="{BB962C8B-B14F-4D97-AF65-F5344CB8AC3E}">
        <p14:creationId xmlns:p14="http://schemas.microsoft.com/office/powerpoint/2010/main" val="2124268051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8AA66-6566-45C9-B993-B1EAF275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BED0D-5499-4DA5-9EE3-8E7F69C45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10FB03-29A6-4C34-B5AC-7B4C08364FB6}"/>
              </a:ext>
            </a:extLst>
          </p:cNvPr>
          <p:cNvSpPr txBox="1"/>
          <p:nvPr/>
        </p:nvSpPr>
        <p:spPr bwMode="auto">
          <a:xfrm>
            <a:off x="577385" y="568325"/>
            <a:ext cx="27222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SUB  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R1</a:t>
            </a:r>
            <a:endParaRPr lang="zh-CN" altLang="en-US" dirty="0"/>
          </a:p>
        </p:txBody>
      </p:sp>
      <p:graphicFrame>
        <p:nvGraphicFramePr>
          <p:cNvPr id="9" name="Group 44">
            <a:extLst>
              <a:ext uri="{FF2B5EF4-FFF2-40B4-BE49-F238E27FC236}">
                <a16:creationId xmlns:a16="http://schemas.microsoft.com/office/drawing/2014/main" id="{14E199F8-2E5B-4FCE-8924-E321ED2C2297}"/>
              </a:ext>
            </a:extLst>
          </p:cNvPr>
          <p:cNvGraphicFramePr>
            <a:graphicFrameLocks noGrp="1"/>
          </p:cNvGraphicFramePr>
          <p:nvPr/>
        </p:nvGraphicFramePr>
        <p:xfrm>
          <a:off x="438404" y="1091545"/>
          <a:ext cx="6458823" cy="5289864"/>
        </p:xfrm>
        <a:graphic>
          <a:graphicData uri="http://schemas.openxmlformats.org/drawingml/2006/table">
            <a:tbl>
              <a:tblPr/>
              <a:tblGrid>
                <a:gridCol w="37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75">
                  <a:extLst>
                    <a:ext uri="{9D8B030D-6E8A-4147-A177-3AD203B41FA5}">
                      <a16:colId xmlns:a16="http://schemas.microsoft.com/office/drawing/2014/main" val="2767674618"/>
                    </a:ext>
                  </a:extLst>
                </a:gridCol>
                <a:gridCol w="260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822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节拍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微操作序列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微命令序列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22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取指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[AR]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PC+I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DR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PC+1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05888"/>
                  </a:ext>
                </a:extLst>
              </a:tr>
              <a:tr h="440822">
                <a:tc row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执行</a:t>
                      </a:r>
                    </a:p>
                    <a:p>
                      <a:pPr algn="ctr"/>
                      <a:endParaRPr lang="zh-CN" altLang="en-US" sz="20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地址字段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spc="0" normalizeH="0" baseline="-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40045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Y+R0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R0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31247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939541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[AR]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998173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DR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43953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s-E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Y-R1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R1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89513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T7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s-ES" altLang="zh-CN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973124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T8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Memory[AR]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DR</a:t>
                      </a:r>
                      <a:endParaRPr kumimoji="1" lang="es-E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Mwrite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584700"/>
                  </a:ext>
                </a:extLst>
              </a:tr>
            </a:tbl>
          </a:graphicData>
        </a:graphic>
      </p:graphicFrame>
      <p:sp>
        <p:nvSpPr>
          <p:cNvPr id="10" name="右大括号 9">
            <a:extLst>
              <a:ext uri="{FF2B5EF4-FFF2-40B4-BE49-F238E27FC236}">
                <a16:creationId xmlns:a16="http://schemas.microsoft.com/office/drawing/2014/main" id="{12C0C20E-0CD7-4E29-8E6A-5AE164E60204}"/>
              </a:ext>
            </a:extLst>
          </p:cNvPr>
          <p:cNvSpPr/>
          <p:nvPr/>
        </p:nvSpPr>
        <p:spPr bwMode="auto">
          <a:xfrm>
            <a:off x="6953628" y="2893177"/>
            <a:ext cx="216024" cy="790302"/>
          </a:xfrm>
          <a:prstGeom prst="rightBrace">
            <a:avLst>
              <a:gd name="adj1" fmla="val 32907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5532E215-36D7-4C01-933B-B3DF0395E068}"/>
              </a:ext>
            </a:extLst>
          </p:cNvPr>
          <p:cNvSpPr/>
          <p:nvPr/>
        </p:nvSpPr>
        <p:spPr bwMode="auto">
          <a:xfrm>
            <a:off x="6961539" y="3786996"/>
            <a:ext cx="216024" cy="785004"/>
          </a:xfrm>
          <a:prstGeom prst="rightBrace">
            <a:avLst>
              <a:gd name="adj1" fmla="val 34521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CF0A6F8D-F87E-44CF-86A4-6F763E19684A}"/>
              </a:ext>
            </a:extLst>
          </p:cNvPr>
          <p:cNvSpPr/>
          <p:nvPr/>
        </p:nvSpPr>
        <p:spPr bwMode="auto">
          <a:xfrm>
            <a:off x="6953628" y="4641011"/>
            <a:ext cx="216024" cy="836762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25B646-1AD7-4C6D-AAD9-EEC0CFDE560D}"/>
              </a:ext>
            </a:extLst>
          </p:cNvPr>
          <p:cNvSpPr/>
          <p:nvPr/>
        </p:nvSpPr>
        <p:spPr>
          <a:xfrm>
            <a:off x="7130976" y="3106691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准备主存地址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2202B9-AEA4-46C6-8D39-8DC02E5CA384}"/>
              </a:ext>
            </a:extLst>
          </p:cNvPr>
          <p:cNvSpPr/>
          <p:nvPr/>
        </p:nvSpPr>
        <p:spPr>
          <a:xfrm>
            <a:off x="7159313" y="3960067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取主存操作数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313DA2-F23A-442D-84DD-E0C03D5EBEC9}"/>
              </a:ext>
            </a:extLst>
          </p:cNvPr>
          <p:cNvSpPr/>
          <p:nvPr/>
        </p:nvSpPr>
        <p:spPr>
          <a:xfrm>
            <a:off x="7130976" y="483888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减法运算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47ECA85-E62F-4BA5-8883-C267A98EB3C3}"/>
              </a:ext>
            </a:extLst>
          </p:cNvPr>
          <p:cNvSpPr/>
          <p:nvPr/>
        </p:nvSpPr>
        <p:spPr bwMode="auto">
          <a:xfrm>
            <a:off x="6961539" y="5529533"/>
            <a:ext cx="216024" cy="851796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F288BD-B004-4E68-A075-FCECAB8BF8A2}"/>
              </a:ext>
            </a:extLst>
          </p:cNvPr>
          <p:cNvSpPr/>
          <p:nvPr/>
        </p:nvSpPr>
        <p:spPr>
          <a:xfrm>
            <a:off x="7169652" y="5729536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存结果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3181D0-C919-44AE-8ED1-A16ED4837235}"/>
              </a:ext>
            </a:extLst>
          </p:cNvPr>
          <p:cNvSpPr/>
          <p:nvPr/>
        </p:nvSpPr>
        <p:spPr bwMode="auto">
          <a:xfrm>
            <a:off x="1331640" y="1570008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CED12B-173F-4095-A20E-9F6D2234E818}"/>
              </a:ext>
            </a:extLst>
          </p:cNvPr>
          <p:cNvSpPr/>
          <p:nvPr/>
        </p:nvSpPr>
        <p:spPr bwMode="auto">
          <a:xfrm>
            <a:off x="1331640" y="2015370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CE539B-236E-4BEB-B2F4-DA24BD7916CA}"/>
              </a:ext>
            </a:extLst>
          </p:cNvPr>
          <p:cNvSpPr/>
          <p:nvPr/>
        </p:nvSpPr>
        <p:spPr bwMode="auto">
          <a:xfrm>
            <a:off x="1331640" y="2450699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0A2998-8A3C-4957-A92E-B294359F1DD9}"/>
              </a:ext>
            </a:extLst>
          </p:cNvPr>
          <p:cNvSpPr/>
          <p:nvPr/>
        </p:nvSpPr>
        <p:spPr bwMode="auto">
          <a:xfrm>
            <a:off x="1331640" y="290270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8A7EAF-0E7A-4125-9707-D15E298B9842}"/>
              </a:ext>
            </a:extLst>
          </p:cNvPr>
          <p:cNvSpPr/>
          <p:nvPr/>
        </p:nvSpPr>
        <p:spPr bwMode="auto">
          <a:xfrm>
            <a:off x="1331640" y="3340084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508601-0BA9-4E21-BFF8-C41099A2A694}"/>
              </a:ext>
            </a:extLst>
          </p:cNvPr>
          <p:cNvSpPr/>
          <p:nvPr/>
        </p:nvSpPr>
        <p:spPr bwMode="auto">
          <a:xfrm>
            <a:off x="1331640" y="377666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01A187-0E59-4A90-9394-CFB63B3B4319}"/>
              </a:ext>
            </a:extLst>
          </p:cNvPr>
          <p:cNvSpPr/>
          <p:nvPr/>
        </p:nvSpPr>
        <p:spPr bwMode="auto">
          <a:xfrm>
            <a:off x="1331640" y="421831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3F5FD7E-C76E-4D07-85BB-346251ECBC99}"/>
              </a:ext>
            </a:extLst>
          </p:cNvPr>
          <p:cNvSpPr/>
          <p:nvPr/>
        </p:nvSpPr>
        <p:spPr bwMode="auto">
          <a:xfrm>
            <a:off x="1331640" y="464963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9DF2AB-7A79-4B7E-96D3-E18356DFFF25}"/>
              </a:ext>
            </a:extLst>
          </p:cNvPr>
          <p:cNvSpPr/>
          <p:nvPr/>
        </p:nvSpPr>
        <p:spPr bwMode="auto">
          <a:xfrm>
            <a:off x="1331640" y="5098425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66355F7-642E-4B2B-AF11-9BFF9958F0AA}"/>
              </a:ext>
            </a:extLst>
          </p:cNvPr>
          <p:cNvSpPr/>
          <p:nvPr/>
        </p:nvSpPr>
        <p:spPr bwMode="auto">
          <a:xfrm>
            <a:off x="1331640" y="553228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974B68-345E-4C64-AAA5-1AD3831423C6}"/>
              </a:ext>
            </a:extLst>
          </p:cNvPr>
          <p:cNvSpPr/>
          <p:nvPr/>
        </p:nvSpPr>
        <p:spPr bwMode="auto">
          <a:xfrm>
            <a:off x="1331640" y="597268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1FDE42-3C77-4243-BAFE-604AEB009BD9}"/>
              </a:ext>
            </a:extLst>
          </p:cNvPr>
          <p:cNvSpPr/>
          <p:nvPr/>
        </p:nvSpPr>
        <p:spPr bwMode="auto">
          <a:xfrm>
            <a:off x="3923928" y="1578634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290F9D-599D-46E6-A091-800D79C0EA51}"/>
              </a:ext>
            </a:extLst>
          </p:cNvPr>
          <p:cNvSpPr/>
          <p:nvPr/>
        </p:nvSpPr>
        <p:spPr bwMode="auto">
          <a:xfrm>
            <a:off x="3923928" y="2020178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22AE17-658B-46E6-A5C6-2F6C67243206}"/>
              </a:ext>
            </a:extLst>
          </p:cNvPr>
          <p:cNvSpPr/>
          <p:nvPr/>
        </p:nvSpPr>
        <p:spPr bwMode="auto">
          <a:xfrm>
            <a:off x="3923928" y="2455639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DF0264-3B7A-475A-86E7-3CA79A670A77}"/>
              </a:ext>
            </a:extLst>
          </p:cNvPr>
          <p:cNvSpPr/>
          <p:nvPr/>
        </p:nvSpPr>
        <p:spPr bwMode="auto">
          <a:xfrm>
            <a:off x="3923928" y="2900522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D60029-B74F-46CA-9E39-FB07CAD12B68}"/>
              </a:ext>
            </a:extLst>
          </p:cNvPr>
          <p:cNvSpPr/>
          <p:nvPr/>
        </p:nvSpPr>
        <p:spPr bwMode="auto">
          <a:xfrm>
            <a:off x="3923928" y="3339959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D60F4C-185E-4D6C-A393-F9053AB3D329}"/>
              </a:ext>
            </a:extLst>
          </p:cNvPr>
          <p:cNvSpPr/>
          <p:nvPr/>
        </p:nvSpPr>
        <p:spPr bwMode="auto">
          <a:xfrm>
            <a:off x="3923928" y="378150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8D2351-D121-4B44-B14E-FA98EA02CD3B}"/>
              </a:ext>
            </a:extLst>
          </p:cNvPr>
          <p:cNvSpPr/>
          <p:nvPr/>
        </p:nvSpPr>
        <p:spPr bwMode="auto">
          <a:xfrm>
            <a:off x="3923928" y="4214421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2D32EE-0EFE-4848-A1F3-E72FD76A0680}"/>
              </a:ext>
            </a:extLst>
          </p:cNvPr>
          <p:cNvSpPr/>
          <p:nvPr/>
        </p:nvSpPr>
        <p:spPr bwMode="auto">
          <a:xfrm>
            <a:off x="3923928" y="4667888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4034172-2CE1-4673-AB96-E8AB91138C23}"/>
              </a:ext>
            </a:extLst>
          </p:cNvPr>
          <p:cNvSpPr/>
          <p:nvPr/>
        </p:nvSpPr>
        <p:spPr bwMode="auto">
          <a:xfrm>
            <a:off x="3923928" y="510879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52B874F-9E34-4456-A325-33DEDFC1946D}"/>
              </a:ext>
            </a:extLst>
          </p:cNvPr>
          <p:cNvSpPr/>
          <p:nvPr/>
        </p:nvSpPr>
        <p:spPr bwMode="auto">
          <a:xfrm>
            <a:off x="3923928" y="554607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E7A55D-49E4-44BF-9B7D-58AC84708CA9}"/>
              </a:ext>
            </a:extLst>
          </p:cNvPr>
          <p:cNvSpPr/>
          <p:nvPr/>
        </p:nvSpPr>
        <p:spPr bwMode="auto">
          <a:xfrm>
            <a:off x="3923928" y="5982995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03726E8-5A20-41D3-960B-8A22E458D228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</a:p>
        </p:txBody>
      </p:sp>
      <p:sp>
        <p:nvSpPr>
          <p:cNvPr id="5" name="动作按钮: 空白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DA94BA3-1B84-42DE-A077-019B76D55071}"/>
              </a:ext>
            </a:extLst>
          </p:cNvPr>
          <p:cNvSpPr/>
          <p:nvPr/>
        </p:nvSpPr>
        <p:spPr bwMode="auto">
          <a:xfrm>
            <a:off x="8055411" y="1064641"/>
            <a:ext cx="863774" cy="513993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/>
              <a:t>图</a:t>
            </a:r>
            <a:r>
              <a:rPr lang="zh-CN" altLang="en-US" sz="1200"/>
              <a:t> </a:t>
            </a:r>
            <a:r>
              <a:rPr lang="en-US" altLang="zh-CN" sz="2400"/>
              <a:t>6.3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09871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8AA66-6566-45C9-B993-B1EAF275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BED0D-5499-4DA5-9EE3-8E7F69C45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10FB03-29A6-4C34-B5AC-7B4C08364FB6}"/>
              </a:ext>
            </a:extLst>
          </p:cNvPr>
          <p:cNvSpPr txBox="1"/>
          <p:nvPr/>
        </p:nvSpPr>
        <p:spPr bwMode="auto">
          <a:xfrm>
            <a:off x="577385" y="568325"/>
            <a:ext cx="27222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SUB  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R1</a:t>
            </a:r>
            <a:endParaRPr lang="zh-CN" altLang="en-US" dirty="0"/>
          </a:p>
        </p:txBody>
      </p:sp>
      <p:graphicFrame>
        <p:nvGraphicFramePr>
          <p:cNvPr id="9" name="Group 44">
            <a:extLst>
              <a:ext uri="{FF2B5EF4-FFF2-40B4-BE49-F238E27FC236}">
                <a16:creationId xmlns:a16="http://schemas.microsoft.com/office/drawing/2014/main" id="{14E199F8-2E5B-4FCE-8924-E321ED2C2297}"/>
              </a:ext>
            </a:extLst>
          </p:cNvPr>
          <p:cNvGraphicFramePr>
            <a:graphicFrameLocks noGrp="1"/>
          </p:cNvGraphicFramePr>
          <p:nvPr/>
        </p:nvGraphicFramePr>
        <p:xfrm>
          <a:off x="438404" y="1091545"/>
          <a:ext cx="6458823" cy="5289864"/>
        </p:xfrm>
        <a:graphic>
          <a:graphicData uri="http://schemas.openxmlformats.org/drawingml/2006/table">
            <a:tbl>
              <a:tblPr/>
              <a:tblGrid>
                <a:gridCol w="37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75">
                  <a:extLst>
                    <a:ext uri="{9D8B030D-6E8A-4147-A177-3AD203B41FA5}">
                      <a16:colId xmlns:a16="http://schemas.microsoft.com/office/drawing/2014/main" val="2767674618"/>
                    </a:ext>
                  </a:extLst>
                </a:gridCol>
                <a:gridCol w="260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822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节拍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微操作序列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微命令序列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22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取指</a:t>
                      </a: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[AR]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PC+I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DR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PC+1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05888"/>
                  </a:ext>
                </a:extLst>
              </a:tr>
              <a:tr h="440822">
                <a:tc row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执行</a:t>
                      </a:r>
                    </a:p>
                    <a:p>
                      <a:pPr algn="ctr"/>
                      <a:endParaRPr lang="zh-CN" altLang="en-US" sz="20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地址字段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spc="0" normalizeH="0" baseline="-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40045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Y+R0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R0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31247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939541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[AR]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998173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DR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439532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s-E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Y-R1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R1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89513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T7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kumimoji="1" lang="es-ES" altLang="zh-CN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973124"/>
                  </a:ext>
                </a:extLst>
              </a:tr>
              <a:tr h="4408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T8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Memory[AR]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DR</a:t>
                      </a:r>
                      <a:endParaRPr kumimoji="1" lang="es-E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  <a:cs typeface="Times New Roman" pitchFamily="18" charset="0"/>
                        </a:rPr>
                        <a:t>Mwrite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584700"/>
                  </a:ext>
                </a:extLst>
              </a:tr>
            </a:tbl>
          </a:graphicData>
        </a:graphic>
      </p:graphicFrame>
      <p:sp>
        <p:nvSpPr>
          <p:cNvPr id="10" name="右大括号 9">
            <a:extLst>
              <a:ext uri="{FF2B5EF4-FFF2-40B4-BE49-F238E27FC236}">
                <a16:creationId xmlns:a16="http://schemas.microsoft.com/office/drawing/2014/main" id="{12C0C20E-0CD7-4E29-8E6A-5AE164E60204}"/>
              </a:ext>
            </a:extLst>
          </p:cNvPr>
          <p:cNvSpPr/>
          <p:nvPr/>
        </p:nvSpPr>
        <p:spPr bwMode="auto">
          <a:xfrm>
            <a:off x="6953628" y="2893177"/>
            <a:ext cx="216024" cy="790302"/>
          </a:xfrm>
          <a:prstGeom prst="rightBrace">
            <a:avLst>
              <a:gd name="adj1" fmla="val 32907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5532E215-36D7-4C01-933B-B3DF0395E068}"/>
              </a:ext>
            </a:extLst>
          </p:cNvPr>
          <p:cNvSpPr/>
          <p:nvPr/>
        </p:nvSpPr>
        <p:spPr bwMode="auto">
          <a:xfrm>
            <a:off x="6961539" y="3786996"/>
            <a:ext cx="216024" cy="785004"/>
          </a:xfrm>
          <a:prstGeom prst="rightBrace">
            <a:avLst>
              <a:gd name="adj1" fmla="val 34521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CF0A6F8D-F87E-44CF-86A4-6F763E19684A}"/>
              </a:ext>
            </a:extLst>
          </p:cNvPr>
          <p:cNvSpPr/>
          <p:nvPr/>
        </p:nvSpPr>
        <p:spPr bwMode="auto">
          <a:xfrm>
            <a:off x="6953628" y="4641011"/>
            <a:ext cx="216024" cy="836762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25B646-1AD7-4C6D-AAD9-EEC0CFDE560D}"/>
              </a:ext>
            </a:extLst>
          </p:cNvPr>
          <p:cNvSpPr/>
          <p:nvPr/>
        </p:nvSpPr>
        <p:spPr>
          <a:xfrm>
            <a:off x="7130976" y="3106691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准备主存地址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2202B9-AEA4-46C6-8D39-8DC02E5CA384}"/>
              </a:ext>
            </a:extLst>
          </p:cNvPr>
          <p:cNvSpPr/>
          <p:nvPr/>
        </p:nvSpPr>
        <p:spPr>
          <a:xfrm>
            <a:off x="7159313" y="3960067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取主存操作数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313DA2-F23A-442D-84DD-E0C03D5EBEC9}"/>
              </a:ext>
            </a:extLst>
          </p:cNvPr>
          <p:cNvSpPr/>
          <p:nvPr/>
        </p:nvSpPr>
        <p:spPr>
          <a:xfrm>
            <a:off x="7130976" y="483888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减法运算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47ECA85-E62F-4BA5-8883-C267A98EB3C3}"/>
              </a:ext>
            </a:extLst>
          </p:cNvPr>
          <p:cNvSpPr/>
          <p:nvPr/>
        </p:nvSpPr>
        <p:spPr bwMode="auto">
          <a:xfrm>
            <a:off x="6961539" y="5529533"/>
            <a:ext cx="216024" cy="851796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F288BD-B004-4E68-A075-FCECAB8BF8A2}"/>
              </a:ext>
            </a:extLst>
          </p:cNvPr>
          <p:cNvSpPr/>
          <p:nvPr/>
        </p:nvSpPr>
        <p:spPr>
          <a:xfrm>
            <a:off x="7169652" y="5729536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/>
                <a:ea typeface="宋体"/>
              </a:rPr>
              <a:t>存结果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BD35BF-2513-4B5E-A429-70E44DE51618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</a:p>
        </p:txBody>
      </p:sp>
      <p:sp>
        <p:nvSpPr>
          <p:cNvPr id="19" name="动作按钮: 空白 1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ECDE68E-7C63-4279-94F5-DEF49A05D724}"/>
              </a:ext>
            </a:extLst>
          </p:cNvPr>
          <p:cNvSpPr/>
          <p:nvPr/>
        </p:nvSpPr>
        <p:spPr bwMode="auto">
          <a:xfrm>
            <a:off x="8055411" y="1064641"/>
            <a:ext cx="863774" cy="513993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/>
              <a:t>图</a:t>
            </a:r>
            <a:r>
              <a:rPr lang="zh-CN" altLang="en-US" sz="1200"/>
              <a:t> </a:t>
            </a:r>
            <a:r>
              <a:rPr lang="en-US" altLang="zh-CN" sz="2400"/>
              <a:t>6.3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235224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44624"/>
            <a:ext cx="8352482" cy="505668"/>
          </a:xfrm>
        </p:spPr>
        <p:txBody>
          <a:bodyPr/>
          <a:lstStyle/>
          <a:p>
            <a:r>
              <a:rPr lang="en-US" altLang="zh-CN" sz="2800">
                <a:ea typeface="黑体" pitchFamily="49" charset="-122"/>
              </a:rPr>
              <a:t>P268</a:t>
            </a:r>
            <a:r>
              <a:rPr lang="zh-CN" altLang="en-US" sz="2800">
                <a:ea typeface="黑体" pitchFamily="49" charset="-122"/>
              </a:rPr>
              <a:t>～</a:t>
            </a:r>
            <a:r>
              <a:rPr lang="en-US" altLang="zh-CN" sz="2800">
                <a:ea typeface="黑体" pitchFamily="49" charset="-122"/>
              </a:rPr>
              <a:t>269  </a:t>
            </a:r>
            <a:r>
              <a:rPr lang="zh-CN" altLang="en-US" sz="2800" dirty="0">
                <a:ea typeface="黑体" pitchFamily="49" charset="-122"/>
              </a:rPr>
              <a:t>习题 </a:t>
            </a:r>
            <a:r>
              <a:rPr lang="en-US" altLang="zh-CN" sz="2800" dirty="0">
                <a:ea typeface="黑体" pitchFamily="49" charset="-122"/>
              </a:rPr>
              <a:t>6.17</a:t>
            </a:r>
            <a:endParaRPr lang="zh-CN" altLang="en-US" sz="2800" dirty="0"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fld id="{9F7610A6-6F66-4850-95C4-44F0D47E3297}" type="slidenum">
              <a:rPr lang="zh-CN" altLang="en-US" smtClean="0"/>
              <a:pPr/>
              <a:t>56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 bwMode="auto">
          <a:xfrm>
            <a:off x="3491880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420888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rot="5400000" flipH="1" flipV="1">
            <a:off x="3671900" y="2240868"/>
            <a:ext cx="360040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rot="5400000">
            <a:off x="3888718" y="2600908"/>
            <a:ext cx="1079326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 rot="5400000">
            <a:off x="2987824" y="227687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rot="10800000">
            <a:off x="2627784" y="2132856"/>
            <a:ext cx="504056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rot="5400000">
            <a:off x="1691680" y="3068960"/>
            <a:ext cx="1872208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2627784" y="4005064"/>
            <a:ext cx="129614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 rot="5400000" flipH="1" flipV="1">
            <a:off x="3815916" y="3897052"/>
            <a:ext cx="21602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 rot="5400000">
            <a:off x="3420269" y="2996555"/>
            <a:ext cx="288032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37" name="矩形 36"/>
          <p:cNvSpPr/>
          <p:nvPr/>
        </p:nvSpPr>
        <p:spPr bwMode="auto">
          <a:xfrm>
            <a:off x="3275856" y="4221088"/>
            <a:ext cx="1728192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状态寄存器</a:t>
            </a:r>
          </a:p>
        </p:txBody>
      </p:sp>
      <p:cxnSp>
        <p:nvCxnSpPr>
          <p:cNvPr id="39" name="直接箭头连接符 38"/>
          <p:cNvCxnSpPr/>
          <p:nvPr/>
        </p:nvCxnSpPr>
        <p:spPr bwMode="auto">
          <a:xfrm rot="5400000">
            <a:off x="3924722" y="4005064"/>
            <a:ext cx="431254" cy="794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 rot="5400000" flipH="1" flipV="1">
            <a:off x="3923928" y="1412776"/>
            <a:ext cx="432048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sp>
        <p:nvSpPr>
          <p:cNvPr id="43" name="矩形 42"/>
          <p:cNvSpPr/>
          <p:nvPr/>
        </p:nvSpPr>
        <p:spPr bwMode="auto">
          <a:xfrm>
            <a:off x="5220072" y="4005064"/>
            <a:ext cx="1512168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控制器</a:t>
            </a: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4427984" y="2348880"/>
            <a:ext cx="3024336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rot="5400000">
            <a:off x="5723334" y="249210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48" name="直接箭头连接符 47"/>
          <p:cNvCxnSpPr/>
          <p:nvPr/>
        </p:nvCxnSpPr>
        <p:spPr bwMode="auto">
          <a:xfrm rot="5400000">
            <a:off x="5185259" y="3536615"/>
            <a:ext cx="935310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50" name="矩形 49"/>
          <p:cNvSpPr/>
          <p:nvPr/>
        </p:nvSpPr>
        <p:spPr bwMode="auto">
          <a:xfrm>
            <a:off x="6804248" y="306896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6804248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55" name="直接箭头连接符 54"/>
          <p:cNvCxnSpPr>
            <a:stCxn id="50" idx="0"/>
            <a:endCxn id="54" idx="2"/>
          </p:cNvCxnSpPr>
          <p:nvPr/>
        </p:nvCxnSpPr>
        <p:spPr bwMode="auto">
          <a:xfrm rot="5400000" flipH="1" flipV="1">
            <a:off x="6948264" y="2564904"/>
            <a:ext cx="100811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60" name="直接箭头连接符 59"/>
          <p:cNvCxnSpPr/>
          <p:nvPr/>
        </p:nvCxnSpPr>
        <p:spPr bwMode="auto">
          <a:xfrm rot="5400000" flipH="1" flipV="1">
            <a:off x="7235899" y="1412379"/>
            <a:ext cx="432048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66" name="矩形 65"/>
          <p:cNvSpPr/>
          <p:nvPr/>
        </p:nvSpPr>
        <p:spPr bwMode="auto">
          <a:xfrm>
            <a:off x="3563888" y="548680"/>
            <a:ext cx="4464496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主存储器（</a:t>
            </a:r>
            <a:r>
              <a:rPr lang="en-US" altLang="zh-CN"/>
              <a:t>MM</a:t>
            </a:r>
            <a:r>
              <a:rPr lang="zh-CN" altLang="en-US"/>
              <a:t>）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2411760" y="1412776"/>
            <a:ext cx="6480720" cy="3456384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71" name="直接箭头连接符 70"/>
          <p:cNvCxnSpPr/>
          <p:nvPr/>
        </p:nvCxnSpPr>
        <p:spPr bwMode="auto">
          <a:xfrm rot="10800000">
            <a:off x="8100392" y="3284984"/>
            <a:ext cx="288032" cy="1588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8244408" y="3113722"/>
            <a:ext cx="64807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300"/>
              </a:lnSpc>
            </a:pPr>
            <a:r>
              <a:rPr lang="en-US" altLang="zh-CN"/>
              <a:t>+1</a:t>
            </a:r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 bwMode="auto">
          <a:xfrm flipV="1">
            <a:off x="6084168" y="3068960"/>
            <a:ext cx="0" cy="72008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接箭头连接符 81"/>
          <p:cNvCxnSpPr>
            <a:endCxn id="50" idx="2"/>
          </p:cNvCxnSpPr>
          <p:nvPr/>
        </p:nvCxnSpPr>
        <p:spPr bwMode="auto">
          <a:xfrm flipV="1">
            <a:off x="7452320" y="3501008"/>
            <a:ext cx="0" cy="288032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6084168" y="3789040"/>
            <a:ext cx="1368152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0" name="内容占位符 2"/>
          <p:cNvSpPr txBox="1">
            <a:spLocks/>
          </p:cNvSpPr>
          <p:nvPr/>
        </p:nvSpPr>
        <p:spPr bwMode="auto">
          <a:xfrm>
            <a:off x="251520" y="836712"/>
            <a:ext cx="237626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AC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：累加器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40" name="内容占位符 39"/>
          <p:cNvSpPr>
            <a:spLocks noGrp="1"/>
          </p:cNvSpPr>
          <p:nvPr>
            <p:ph idx="1"/>
          </p:nvPr>
        </p:nvSpPr>
        <p:spPr>
          <a:xfrm>
            <a:off x="251520" y="4941168"/>
            <a:ext cx="8578850" cy="1656184"/>
          </a:xfrm>
        </p:spPr>
        <p:txBody>
          <a:bodyPr/>
          <a:lstStyle/>
          <a:p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 </a:t>
            </a:r>
            <a:r>
              <a:rPr lang="zh-CN" altLang="en-US"/>
              <a:t>是什么寄存器？</a:t>
            </a:r>
            <a:endParaRPr lang="en-US" altLang="zh-CN"/>
          </a:p>
          <a:p>
            <a:r>
              <a:rPr lang="zh-CN" altLang="en-US"/>
              <a:t>执行阶段</a:t>
            </a:r>
            <a:r>
              <a:rPr lang="zh-CN" altLang="en-US">
                <a:solidFill>
                  <a:srgbClr val="FF0000"/>
                </a:solidFill>
              </a:rPr>
              <a:t>微操作</a:t>
            </a:r>
            <a:r>
              <a:rPr lang="zh-CN" altLang="en-US"/>
              <a:t>流程：</a:t>
            </a:r>
          </a:p>
        </p:txBody>
      </p:sp>
      <p:sp>
        <p:nvSpPr>
          <p:cNvPr id="42" name="内容占位符 2"/>
          <p:cNvSpPr txBox="1">
            <a:spLocks/>
          </p:cNvSpPr>
          <p:nvPr/>
        </p:nvSpPr>
        <p:spPr bwMode="auto">
          <a:xfrm>
            <a:off x="4355976" y="5445224"/>
            <a:ext cx="4464496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LDA</a:t>
            </a:r>
            <a:r>
              <a:rPr lang="en-US" altLang="zh-CN" sz="2800" kern="0">
                <a:solidFill>
                  <a:srgbClr val="000099"/>
                </a:solidFill>
                <a:latin typeface="+mn-lt"/>
              </a:rPr>
              <a:t>	X	; </a:t>
            </a:r>
            <a:r>
              <a:rPr lang="en-US" altLang="zh-CN" kern="0">
                <a:solidFill>
                  <a:srgbClr val="000099"/>
                </a:solidFill>
                <a:latin typeface="+mn-lt"/>
              </a:rPr>
              <a:t>AC</a:t>
            </a:r>
            <a:r>
              <a:rPr lang="zh-CN" altLang="en-US" kern="0">
                <a:solidFill>
                  <a:srgbClr val="000099"/>
                </a:solidFill>
                <a:latin typeface="宋体" pitchFamily="2" charset="-122"/>
              </a:rPr>
              <a:t>←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</a:rPr>
              <a:t>(</a:t>
            </a:r>
            <a:r>
              <a:rPr lang="en-US" altLang="zh-CN" kern="0">
                <a:solidFill>
                  <a:srgbClr val="000099"/>
                </a:solidFill>
                <a:latin typeface="+mn-lt"/>
              </a:rPr>
              <a:t>X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</a:rPr>
              <a:t>)</a:t>
            </a:r>
            <a:endParaRPr lang="en-US" altLang="zh-CN" sz="2800" kern="0">
              <a:solidFill>
                <a:srgbClr val="000099"/>
              </a:solidFill>
              <a:latin typeface="+mn-lt"/>
            </a:endParaRPr>
          </a:p>
          <a:p>
            <a:pPr lvl="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800" kern="0" baseline="0">
                <a:solidFill>
                  <a:srgbClr val="000099"/>
                </a:solidFill>
                <a:latin typeface="+mn-lt"/>
              </a:rPr>
              <a:t>STA</a:t>
            </a:r>
            <a:r>
              <a:rPr lang="en-US" altLang="zh-CN" sz="2800" kern="0">
                <a:solidFill>
                  <a:srgbClr val="000099"/>
                </a:solidFill>
                <a:latin typeface="+mn-lt"/>
              </a:rPr>
              <a:t>	Y	; </a:t>
            </a:r>
            <a:r>
              <a:rPr lang="en-US" altLang="zh-CN" kern="0">
                <a:solidFill>
                  <a:srgbClr val="000099"/>
                </a:solidFill>
                <a:latin typeface="+mn-lt"/>
              </a:rPr>
              <a:t>Y</a:t>
            </a:r>
            <a:r>
              <a:rPr lang="zh-CN" altLang="en-US" kern="0">
                <a:solidFill>
                  <a:srgbClr val="000099"/>
                </a:solidFill>
                <a:latin typeface="宋体" pitchFamily="2" charset="-122"/>
              </a:rPr>
              <a:t>←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</a:rPr>
              <a:t>(</a:t>
            </a:r>
            <a:r>
              <a:rPr lang="en-US" altLang="zh-CN" kern="0">
                <a:solidFill>
                  <a:srgbClr val="000099"/>
                </a:solidFill>
                <a:latin typeface="+mn-lt"/>
              </a:rPr>
              <a:t>AC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</a:rPr>
              <a:t>)</a:t>
            </a:r>
            <a:endParaRPr lang="zh-CN" altLang="zh-CN" sz="2800" kern="0">
              <a:solidFill>
                <a:srgbClr val="000099"/>
              </a:solidFill>
              <a:latin typeface="宋体" pitchFamily="2" charset="-122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5220072" y="2636912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3" name="组合 10"/>
          <p:cNvGrpSpPr/>
          <p:nvPr/>
        </p:nvGrpSpPr>
        <p:grpSpPr>
          <a:xfrm>
            <a:off x="2987824" y="3140968"/>
            <a:ext cx="1944216" cy="648072"/>
            <a:chOff x="3419872" y="3573016"/>
            <a:chExt cx="1944216" cy="648072"/>
          </a:xfrm>
        </p:grpSpPr>
        <p:sp>
          <p:nvSpPr>
            <p:cNvPr id="8" name="梯形 7"/>
            <p:cNvSpPr/>
            <p:nvPr/>
          </p:nvSpPr>
          <p:spPr bwMode="auto">
            <a:xfrm rot="10800000">
              <a:off x="3419872" y="3573016"/>
              <a:ext cx="1944216" cy="648072"/>
            </a:xfrm>
            <a:prstGeom prst="trapezoid">
              <a:avLst>
                <a:gd name="adj" fmla="val 58953"/>
              </a:avLst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07904" y="3645024"/>
              <a:ext cx="1368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ALU</a:t>
              </a:r>
              <a:endParaRPr lang="zh-CN" altLang="en-US"/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17B90320-699A-4209-BECC-0A3E6A2370F3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【例４】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 bwMode="auto">
          <a:xfrm>
            <a:off x="3491880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5220072" y="2636912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6804248" y="306896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6804248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44624"/>
            <a:ext cx="8352482" cy="505668"/>
          </a:xfrm>
        </p:spPr>
        <p:txBody>
          <a:bodyPr/>
          <a:lstStyle/>
          <a:p>
            <a:r>
              <a:rPr lang="en-US" altLang="zh-CN" sz="2800">
                <a:ea typeface="黑体" pitchFamily="49" charset="-122"/>
              </a:rPr>
              <a:t>P268</a:t>
            </a:r>
            <a:r>
              <a:rPr lang="zh-CN" altLang="en-US" sz="2800">
                <a:ea typeface="黑体" pitchFamily="49" charset="-122"/>
              </a:rPr>
              <a:t>～</a:t>
            </a:r>
            <a:r>
              <a:rPr lang="en-US" altLang="zh-CN" sz="2800">
                <a:ea typeface="黑体" pitchFamily="49" charset="-122"/>
              </a:rPr>
              <a:t>269  </a:t>
            </a:r>
            <a:r>
              <a:rPr lang="zh-CN" altLang="en-US" sz="2800" dirty="0">
                <a:ea typeface="黑体" pitchFamily="49" charset="-122"/>
              </a:rPr>
              <a:t>习题 </a:t>
            </a:r>
            <a:r>
              <a:rPr lang="en-US" altLang="zh-CN" sz="2800" dirty="0">
                <a:ea typeface="黑体" pitchFamily="49" charset="-122"/>
              </a:rPr>
              <a:t>6.17</a:t>
            </a:r>
            <a:endParaRPr lang="zh-CN" altLang="en-US" sz="2800" dirty="0"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fld id="{9F7610A6-6F66-4850-95C4-44F0D47E3297}" type="slidenum">
              <a:rPr lang="zh-CN" altLang="en-US" smtClean="0"/>
              <a:pPr/>
              <a:t>57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 bwMode="auto">
          <a:xfrm>
            <a:off x="3491880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DR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420888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rot="5400000" flipH="1" flipV="1">
            <a:off x="3671900" y="2240868"/>
            <a:ext cx="360040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rot="5400000">
            <a:off x="3888718" y="2600908"/>
            <a:ext cx="1079326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 rot="5400000">
            <a:off x="2987824" y="227687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rot="10800000">
            <a:off x="2627784" y="2132856"/>
            <a:ext cx="504056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rot="5400000">
            <a:off x="1691680" y="3068960"/>
            <a:ext cx="1872208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2627784" y="4005064"/>
            <a:ext cx="129614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 rot="5400000" flipH="1" flipV="1">
            <a:off x="3815916" y="3897052"/>
            <a:ext cx="21602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 rot="5400000">
            <a:off x="3420269" y="2996555"/>
            <a:ext cx="288032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37" name="矩形 36"/>
          <p:cNvSpPr/>
          <p:nvPr/>
        </p:nvSpPr>
        <p:spPr bwMode="auto">
          <a:xfrm>
            <a:off x="3275856" y="4221088"/>
            <a:ext cx="1728192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状态寄存器</a:t>
            </a:r>
          </a:p>
        </p:txBody>
      </p:sp>
      <p:cxnSp>
        <p:nvCxnSpPr>
          <p:cNvPr id="39" name="直接箭头连接符 38"/>
          <p:cNvCxnSpPr/>
          <p:nvPr/>
        </p:nvCxnSpPr>
        <p:spPr bwMode="auto">
          <a:xfrm rot="5400000">
            <a:off x="3924722" y="4005064"/>
            <a:ext cx="431254" cy="794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 rot="5400000" flipH="1" flipV="1">
            <a:off x="3923928" y="1412776"/>
            <a:ext cx="432048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sp>
        <p:nvSpPr>
          <p:cNvPr id="43" name="矩形 42"/>
          <p:cNvSpPr/>
          <p:nvPr/>
        </p:nvSpPr>
        <p:spPr bwMode="auto">
          <a:xfrm>
            <a:off x="5220072" y="4005064"/>
            <a:ext cx="1512168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控制器</a:t>
            </a: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4427984" y="2348880"/>
            <a:ext cx="3024336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rot="5400000">
            <a:off x="5723334" y="249210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48" name="直接箭头连接符 47"/>
          <p:cNvCxnSpPr/>
          <p:nvPr/>
        </p:nvCxnSpPr>
        <p:spPr bwMode="auto">
          <a:xfrm rot="5400000">
            <a:off x="5185259" y="3536615"/>
            <a:ext cx="935310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50" name="矩形 49"/>
          <p:cNvSpPr/>
          <p:nvPr/>
        </p:nvSpPr>
        <p:spPr bwMode="auto">
          <a:xfrm>
            <a:off x="6804248" y="306896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PC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6804248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AR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55" name="直接箭头连接符 54"/>
          <p:cNvCxnSpPr>
            <a:stCxn id="50" idx="0"/>
            <a:endCxn id="54" idx="2"/>
          </p:cNvCxnSpPr>
          <p:nvPr/>
        </p:nvCxnSpPr>
        <p:spPr bwMode="auto">
          <a:xfrm rot="5400000" flipH="1" flipV="1">
            <a:off x="6948264" y="2564904"/>
            <a:ext cx="100811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60" name="直接箭头连接符 59"/>
          <p:cNvCxnSpPr/>
          <p:nvPr/>
        </p:nvCxnSpPr>
        <p:spPr bwMode="auto">
          <a:xfrm rot="5400000" flipH="1" flipV="1">
            <a:off x="7235899" y="1412379"/>
            <a:ext cx="432048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66" name="矩形 65"/>
          <p:cNvSpPr/>
          <p:nvPr/>
        </p:nvSpPr>
        <p:spPr bwMode="auto">
          <a:xfrm>
            <a:off x="3563888" y="548680"/>
            <a:ext cx="4464496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主存储器（</a:t>
            </a:r>
            <a:r>
              <a:rPr lang="en-US" altLang="zh-CN"/>
              <a:t>MM</a:t>
            </a:r>
            <a:r>
              <a:rPr lang="zh-CN" altLang="en-US"/>
              <a:t>）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2411760" y="1412776"/>
            <a:ext cx="6480720" cy="3456384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71" name="直接箭头连接符 70"/>
          <p:cNvCxnSpPr/>
          <p:nvPr/>
        </p:nvCxnSpPr>
        <p:spPr bwMode="auto">
          <a:xfrm rot="10800000">
            <a:off x="8100392" y="3284984"/>
            <a:ext cx="288032" cy="1588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8244408" y="3113722"/>
            <a:ext cx="64807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300"/>
              </a:lnSpc>
            </a:pPr>
            <a:r>
              <a:rPr lang="en-US" altLang="zh-CN"/>
              <a:t>+1</a:t>
            </a:r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 bwMode="auto">
          <a:xfrm flipV="1">
            <a:off x="6084168" y="3068960"/>
            <a:ext cx="0" cy="72008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接箭头连接符 81"/>
          <p:cNvCxnSpPr>
            <a:endCxn id="50" idx="2"/>
          </p:cNvCxnSpPr>
          <p:nvPr/>
        </p:nvCxnSpPr>
        <p:spPr bwMode="auto">
          <a:xfrm flipV="1">
            <a:off x="7452320" y="3501008"/>
            <a:ext cx="0" cy="288032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6084168" y="3789040"/>
            <a:ext cx="1368152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内容占位符 2"/>
          <p:cNvSpPr>
            <a:spLocks noGrp="1"/>
          </p:cNvSpPr>
          <p:nvPr>
            <p:ph idx="1"/>
          </p:nvPr>
        </p:nvSpPr>
        <p:spPr>
          <a:xfrm>
            <a:off x="467544" y="5013176"/>
            <a:ext cx="4032448" cy="151291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AR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IR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>
                <a:solidFill>
                  <a:srgbClr val="D60093"/>
                </a:solidFill>
                <a:ea typeface="宋体" pitchFamily="2" charset="-122"/>
              </a:rPr>
              <a:t>地址字段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DR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Memory[AR]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AC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DR</a:t>
            </a:r>
            <a:endParaRPr lang="zh-CN" altLang="zh-CN">
              <a:solidFill>
                <a:srgbClr val="D60093"/>
              </a:solidFill>
              <a:ea typeface="宋体" pitchFamily="2" charset="-122"/>
            </a:endParaRPr>
          </a:p>
        </p:txBody>
      </p:sp>
      <p:sp>
        <p:nvSpPr>
          <p:cNvPr id="91" name="内容占位符 2"/>
          <p:cNvSpPr txBox="1">
            <a:spLocks/>
          </p:cNvSpPr>
          <p:nvPr/>
        </p:nvSpPr>
        <p:spPr bwMode="auto">
          <a:xfrm>
            <a:off x="4283968" y="5085184"/>
            <a:ext cx="4320480" cy="5760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LDA</a:t>
            </a:r>
            <a:r>
              <a:rPr lang="en-US" altLang="zh-CN" sz="2800" kern="0">
                <a:solidFill>
                  <a:srgbClr val="000099"/>
                </a:solidFill>
                <a:latin typeface="+mn-lt"/>
              </a:rPr>
              <a:t>	X	; </a:t>
            </a:r>
            <a:r>
              <a:rPr lang="en-US" altLang="zh-CN" kern="0">
                <a:solidFill>
                  <a:srgbClr val="000099"/>
                </a:solidFill>
              </a:rPr>
              <a:t>AC</a:t>
            </a:r>
            <a:r>
              <a:rPr lang="zh-CN" altLang="en-US" kern="0">
                <a:solidFill>
                  <a:srgbClr val="000099"/>
                </a:solidFill>
                <a:latin typeface="宋体" pitchFamily="2" charset="-122"/>
              </a:rPr>
              <a:t>←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kern="0">
                <a:solidFill>
                  <a:srgbClr val="000099"/>
                </a:solidFill>
              </a:rPr>
              <a:t>X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  <a:ea typeface="宋体" pitchFamily="2" charset="-122"/>
              </a:rPr>
              <a:t>)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2" name="内容占位符 2"/>
          <p:cNvSpPr txBox="1">
            <a:spLocks/>
          </p:cNvSpPr>
          <p:nvPr/>
        </p:nvSpPr>
        <p:spPr bwMode="auto">
          <a:xfrm>
            <a:off x="251520" y="836712"/>
            <a:ext cx="237626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AC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：累加器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grpSp>
        <p:nvGrpSpPr>
          <p:cNvPr id="3" name="组合 10"/>
          <p:cNvGrpSpPr/>
          <p:nvPr/>
        </p:nvGrpSpPr>
        <p:grpSpPr>
          <a:xfrm>
            <a:off x="2987824" y="3140968"/>
            <a:ext cx="1944216" cy="648072"/>
            <a:chOff x="3419872" y="3573016"/>
            <a:chExt cx="1944216" cy="648072"/>
          </a:xfrm>
        </p:grpSpPr>
        <p:sp>
          <p:nvSpPr>
            <p:cNvPr id="8" name="梯形 7"/>
            <p:cNvSpPr/>
            <p:nvPr/>
          </p:nvSpPr>
          <p:spPr bwMode="auto">
            <a:xfrm rot="10800000">
              <a:off x="3419872" y="3573016"/>
              <a:ext cx="1944216" cy="648072"/>
            </a:xfrm>
            <a:prstGeom prst="trapezoid">
              <a:avLst>
                <a:gd name="adj" fmla="val 58953"/>
              </a:avLst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07904" y="3645024"/>
              <a:ext cx="1368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ALU</a:t>
              </a:r>
              <a:endParaRPr lang="zh-CN" altLang="en-US"/>
            </a:p>
          </p:txBody>
        </p:sp>
      </p:grpSp>
      <p:sp>
        <p:nvSpPr>
          <p:cNvPr id="47" name="矩形 46"/>
          <p:cNvSpPr/>
          <p:nvPr/>
        </p:nvSpPr>
        <p:spPr bwMode="auto">
          <a:xfrm>
            <a:off x="5220072" y="2636912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IR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C0F6E28-2F7B-4A31-B938-E42C78D6C01A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【例４】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0" grpId="0" animBg="1"/>
      <p:bldP spid="54" grpId="0" animBg="1"/>
      <p:bldP spid="91" grpId="0" animBg="1"/>
      <p:bldP spid="4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 bwMode="auto">
          <a:xfrm>
            <a:off x="3491880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5220072" y="2636912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6804248" y="306896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6804248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44624"/>
            <a:ext cx="8352482" cy="505668"/>
          </a:xfrm>
        </p:spPr>
        <p:txBody>
          <a:bodyPr/>
          <a:lstStyle/>
          <a:p>
            <a:r>
              <a:rPr lang="en-US" altLang="zh-CN" sz="2800">
                <a:ea typeface="黑体" pitchFamily="49" charset="-122"/>
              </a:rPr>
              <a:t>P268</a:t>
            </a:r>
            <a:r>
              <a:rPr lang="zh-CN" altLang="en-US" sz="2800">
                <a:ea typeface="黑体" pitchFamily="49" charset="-122"/>
              </a:rPr>
              <a:t>～</a:t>
            </a:r>
            <a:r>
              <a:rPr lang="en-US" altLang="zh-CN" sz="2800">
                <a:ea typeface="黑体" pitchFamily="49" charset="-122"/>
              </a:rPr>
              <a:t>269  </a:t>
            </a:r>
            <a:r>
              <a:rPr lang="zh-CN" altLang="en-US" sz="2800" dirty="0">
                <a:ea typeface="黑体" pitchFamily="49" charset="-122"/>
              </a:rPr>
              <a:t>习题 </a:t>
            </a:r>
            <a:r>
              <a:rPr lang="en-US" altLang="zh-CN" sz="2800" dirty="0">
                <a:ea typeface="黑体" pitchFamily="49" charset="-122"/>
              </a:rPr>
              <a:t>6.17</a:t>
            </a:r>
            <a:endParaRPr lang="zh-CN" altLang="en-US" sz="2800" dirty="0"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fld id="{9F7610A6-6F66-4850-95C4-44F0D47E3297}" type="slidenum">
              <a:rPr lang="zh-CN" altLang="en-US" smtClean="0"/>
              <a:pPr/>
              <a:t>58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 bwMode="auto">
          <a:xfrm>
            <a:off x="3491880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DR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420888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rot="5400000" flipH="1" flipV="1">
            <a:off x="3671900" y="2240868"/>
            <a:ext cx="360040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rot="5400000">
            <a:off x="3888718" y="2600908"/>
            <a:ext cx="1079326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 rot="5400000">
            <a:off x="2987824" y="227687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rot="10800000">
            <a:off x="2627784" y="2132856"/>
            <a:ext cx="504056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rot="5400000">
            <a:off x="1691680" y="3068960"/>
            <a:ext cx="1872208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2627784" y="4005064"/>
            <a:ext cx="129614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 rot="5400000" flipH="1" flipV="1">
            <a:off x="3815916" y="3897052"/>
            <a:ext cx="216024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 rot="5400000">
            <a:off x="3420269" y="2996555"/>
            <a:ext cx="288032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37" name="矩形 36"/>
          <p:cNvSpPr/>
          <p:nvPr/>
        </p:nvSpPr>
        <p:spPr bwMode="auto">
          <a:xfrm>
            <a:off x="3275856" y="4221088"/>
            <a:ext cx="1728192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状态寄存器</a:t>
            </a:r>
          </a:p>
        </p:txBody>
      </p:sp>
      <p:cxnSp>
        <p:nvCxnSpPr>
          <p:cNvPr id="39" name="直接箭头连接符 38"/>
          <p:cNvCxnSpPr/>
          <p:nvPr/>
        </p:nvCxnSpPr>
        <p:spPr bwMode="auto">
          <a:xfrm rot="5400000">
            <a:off x="3924722" y="4005064"/>
            <a:ext cx="431254" cy="794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1" name="直接连接符 40"/>
          <p:cNvCxnSpPr/>
          <p:nvPr/>
        </p:nvCxnSpPr>
        <p:spPr bwMode="auto">
          <a:xfrm rot="5400000" flipH="1" flipV="1">
            <a:off x="3923928" y="1412776"/>
            <a:ext cx="432048" cy="0"/>
          </a:xfrm>
          <a:prstGeom prst="line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sp>
        <p:nvSpPr>
          <p:cNvPr id="43" name="矩形 42"/>
          <p:cNvSpPr/>
          <p:nvPr/>
        </p:nvSpPr>
        <p:spPr bwMode="auto">
          <a:xfrm>
            <a:off x="5220072" y="4005064"/>
            <a:ext cx="1512168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控制器</a:t>
            </a: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4427984" y="2348880"/>
            <a:ext cx="3024336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rot="5400000">
            <a:off x="5723334" y="2492102"/>
            <a:ext cx="28803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triangle" w="med" len="sm"/>
            <a:tailEnd type="triangle" w="med" len="sm"/>
          </a:ln>
          <a:effectLst/>
        </p:spPr>
      </p:cxnSp>
      <p:cxnSp>
        <p:nvCxnSpPr>
          <p:cNvPr id="48" name="直接箭头连接符 47"/>
          <p:cNvCxnSpPr/>
          <p:nvPr/>
        </p:nvCxnSpPr>
        <p:spPr bwMode="auto">
          <a:xfrm rot="5400000">
            <a:off x="5185259" y="3536615"/>
            <a:ext cx="935310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50" name="矩形 49"/>
          <p:cNvSpPr/>
          <p:nvPr/>
        </p:nvSpPr>
        <p:spPr bwMode="auto">
          <a:xfrm>
            <a:off x="6804248" y="306896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PC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6804248" y="1628800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AR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55" name="直接箭头连接符 54"/>
          <p:cNvCxnSpPr>
            <a:stCxn id="50" idx="0"/>
            <a:endCxn id="54" idx="2"/>
          </p:cNvCxnSpPr>
          <p:nvPr/>
        </p:nvCxnSpPr>
        <p:spPr bwMode="auto">
          <a:xfrm rot="5400000" flipH="1" flipV="1">
            <a:off x="6948264" y="2564904"/>
            <a:ext cx="1008112" cy="1588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60" name="直接箭头连接符 59"/>
          <p:cNvCxnSpPr/>
          <p:nvPr/>
        </p:nvCxnSpPr>
        <p:spPr bwMode="auto">
          <a:xfrm rot="5400000" flipH="1" flipV="1">
            <a:off x="7235899" y="1412379"/>
            <a:ext cx="432048" cy="794"/>
          </a:xfrm>
          <a:prstGeom prst="straightConnector1">
            <a:avLst/>
          </a:prstGeom>
          <a:solidFill>
            <a:srgbClr val="FFFFFF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66" name="矩形 65"/>
          <p:cNvSpPr/>
          <p:nvPr/>
        </p:nvSpPr>
        <p:spPr bwMode="auto">
          <a:xfrm>
            <a:off x="3563888" y="548680"/>
            <a:ext cx="4464496" cy="648072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主存储器（</a:t>
            </a:r>
            <a:r>
              <a:rPr lang="en-US" altLang="zh-CN"/>
              <a:t>MM</a:t>
            </a:r>
            <a:r>
              <a:rPr lang="zh-CN" altLang="en-US"/>
              <a:t>）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2411760" y="1412776"/>
            <a:ext cx="6480720" cy="3456384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71" name="直接箭头连接符 70"/>
          <p:cNvCxnSpPr/>
          <p:nvPr/>
        </p:nvCxnSpPr>
        <p:spPr bwMode="auto">
          <a:xfrm rot="10800000">
            <a:off x="8100392" y="3284984"/>
            <a:ext cx="288032" cy="1588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8244408" y="3113722"/>
            <a:ext cx="64807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300"/>
              </a:lnSpc>
            </a:pPr>
            <a:r>
              <a:rPr lang="en-US" altLang="zh-CN"/>
              <a:t>+1</a:t>
            </a:r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 bwMode="auto">
          <a:xfrm flipV="1">
            <a:off x="6084168" y="3068960"/>
            <a:ext cx="0" cy="72008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接箭头连接符 81"/>
          <p:cNvCxnSpPr>
            <a:endCxn id="50" idx="2"/>
          </p:cNvCxnSpPr>
          <p:nvPr/>
        </p:nvCxnSpPr>
        <p:spPr bwMode="auto">
          <a:xfrm flipV="1">
            <a:off x="7452320" y="3501008"/>
            <a:ext cx="0" cy="288032"/>
          </a:xfrm>
          <a:prstGeom prst="straightConnector1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cxnSp>
        <p:nvCxnSpPr>
          <p:cNvPr id="84" name="直接连接符 83"/>
          <p:cNvCxnSpPr/>
          <p:nvPr/>
        </p:nvCxnSpPr>
        <p:spPr bwMode="auto">
          <a:xfrm>
            <a:off x="6084168" y="3789040"/>
            <a:ext cx="1368152" cy="0"/>
          </a:xfrm>
          <a:prstGeom prst="line">
            <a:avLst/>
          </a:prstGeom>
          <a:solidFill>
            <a:srgbClr val="FFFFFF"/>
          </a:solidFill>
          <a:ln w="57150" cap="rnd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内容占位符 2"/>
          <p:cNvSpPr>
            <a:spLocks noGrp="1"/>
          </p:cNvSpPr>
          <p:nvPr>
            <p:ph idx="1"/>
          </p:nvPr>
        </p:nvSpPr>
        <p:spPr>
          <a:xfrm>
            <a:off x="467544" y="5013176"/>
            <a:ext cx="4032448" cy="151291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AR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IR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>
                <a:solidFill>
                  <a:srgbClr val="D60093"/>
                </a:solidFill>
                <a:ea typeface="宋体" pitchFamily="2" charset="-122"/>
              </a:rPr>
              <a:t>地址字段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DR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AC</a:t>
            </a:r>
            <a:endParaRPr lang="zh-CN" altLang="zh-CN">
              <a:solidFill>
                <a:srgbClr val="D60093"/>
              </a:solidFill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Memory[AR] </a:t>
            </a:r>
            <a:r>
              <a:rPr lang="en-US" altLang="zh-CN">
                <a:solidFill>
                  <a:srgbClr val="D60093"/>
                </a:solidFill>
                <a:latin typeface="宋体" pitchFamily="2" charset="-122"/>
                <a:ea typeface="宋体" pitchFamily="2" charset="-122"/>
              </a:rPr>
              <a:t>←</a:t>
            </a:r>
            <a:r>
              <a:rPr lang="en-US" altLang="zh-CN">
                <a:solidFill>
                  <a:srgbClr val="D60093"/>
                </a:solidFill>
                <a:ea typeface="宋体" pitchFamily="2" charset="-122"/>
              </a:rPr>
              <a:t> DR</a:t>
            </a:r>
          </a:p>
        </p:txBody>
      </p:sp>
      <p:sp>
        <p:nvSpPr>
          <p:cNvPr id="91" name="内容占位符 2"/>
          <p:cNvSpPr txBox="1">
            <a:spLocks/>
          </p:cNvSpPr>
          <p:nvPr/>
        </p:nvSpPr>
        <p:spPr bwMode="auto">
          <a:xfrm>
            <a:off x="4283968" y="5085184"/>
            <a:ext cx="4320480" cy="5760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altLang="zh-CN" sz="2800" kern="0" baseline="0">
                <a:solidFill>
                  <a:srgbClr val="000099"/>
                </a:solidFill>
                <a:latin typeface="+mn-lt"/>
              </a:rPr>
              <a:t>STA</a:t>
            </a:r>
            <a:r>
              <a:rPr lang="en-US" altLang="zh-CN" sz="2800" kern="0">
                <a:solidFill>
                  <a:srgbClr val="000099"/>
                </a:solidFill>
                <a:latin typeface="+mn-lt"/>
              </a:rPr>
              <a:t>	Y	; </a:t>
            </a:r>
            <a:r>
              <a:rPr lang="en-US" altLang="zh-CN" kern="0">
                <a:solidFill>
                  <a:srgbClr val="000099"/>
                </a:solidFill>
              </a:rPr>
              <a:t>Y</a:t>
            </a:r>
            <a:r>
              <a:rPr lang="zh-CN" altLang="en-US" kern="0">
                <a:solidFill>
                  <a:srgbClr val="000099"/>
                </a:solidFill>
                <a:latin typeface="宋体" pitchFamily="2" charset="-122"/>
              </a:rPr>
              <a:t>←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kern="0">
                <a:solidFill>
                  <a:srgbClr val="000099"/>
                </a:solidFill>
              </a:rPr>
              <a:t>AC</a:t>
            </a:r>
            <a:r>
              <a:rPr lang="en-US" altLang="zh-CN" kern="0">
                <a:solidFill>
                  <a:srgbClr val="000099"/>
                </a:solidFill>
                <a:latin typeface="宋体" pitchFamily="2" charset="-122"/>
                <a:ea typeface="宋体" pitchFamily="2" charset="-122"/>
              </a:rPr>
              <a:t>)</a:t>
            </a:r>
            <a:endParaRPr lang="zh-CN" altLang="zh-CN" sz="2800" kern="0">
              <a:solidFill>
                <a:srgbClr val="000099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2" name="内容占位符 2"/>
          <p:cNvSpPr txBox="1">
            <a:spLocks/>
          </p:cNvSpPr>
          <p:nvPr/>
        </p:nvSpPr>
        <p:spPr bwMode="auto">
          <a:xfrm>
            <a:off x="251520" y="836712"/>
            <a:ext cx="237626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AC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</a:rPr>
              <a:t>：累加器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987824" y="3140968"/>
            <a:ext cx="1944216" cy="648072"/>
            <a:chOff x="3419872" y="3573016"/>
            <a:chExt cx="1944216" cy="648072"/>
          </a:xfrm>
        </p:grpSpPr>
        <p:sp>
          <p:nvSpPr>
            <p:cNvPr id="8" name="梯形 7"/>
            <p:cNvSpPr/>
            <p:nvPr/>
          </p:nvSpPr>
          <p:spPr bwMode="auto">
            <a:xfrm rot="10800000">
              <a:off x="3419872" y="3573016"/>
              <a:ext cx="1944216" cy="648072"/>
            </a:xfrm>
            <a:prstGeom prst="trapezoid">
              <a:avLst>
                <a:gd name="adj" fmla="val 58953"/>
              </a:avLst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07904" y="3645024"/>
              <a:ext cx="1368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ALU</a:t>
              </a:r>
              <a:endParaRPr lang="zh-CN" altLang="en-US"/>
            </a:p>
          </p:txBody>
        </p:sp>
      </p:grpSp>
      <p:sp>
        <p:nvSpPr>
          <p:cNvPr id="47" name="矩形 46"/>
          <p:cNvSpPr/>
          <p:nvPr/>
        </p:nvSpPr>
        <p:spPr bwMode="auto">
          <a:xfrm>
            <a:off x="5220072" y="2636912"/>
            <a:ext cx="1296144" cy="432048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IR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F60589A-FE0F-4333-B00C-44D01828F014}"/>
              </a:ext>
            </a:extLst>
          </p:cNvPr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【例４】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47D24-EBBE-489D-8367-6A8E87BF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51" y="1196752"/>
            <a:ext cx="8013898" cy="5184658"/>
          </a:xfrm>
        </p:spPr>
        <p:txBody>
          <a:bodyPr/>
          <a:lstStyle/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itchFamily="2" charset="2"/>
              <a:buChar char="!"/>
            </a:pPr>
            <a:r>
              <a:rPr lang="en-US" altLang="zh-CN"/>
              <a:t>CPU </a:t>
            </a:r>
            <a:r>
              <a:rPr lang="zh-CN" altLang="en-US"/>
              <a:t>时间</a:t>
            </a:r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itchFamily="2" charset="2"/>
              <a:buChar char="!"/>
            </a:pPr>
            <a:r>
              <a:rPr lang="en-US" altLang="zh-CN"/>
              <a:t>CPI </a:t>
            </a:r>
            <a:r>
              <a:rPr lang="zh-CN" altLang="en-US"/>
              <a:t>与 </a:t>
            </a:r>
            <a:r>
              <a:rPr lang="en-US" altLang="zh-CN"/>
              <a:t>IPC</a:t>
            </a:r>
          </a:p>
          <a:p>
            <a:pPr marL="981075" lvl="1" indent="-350838">
              <a:spcBef>
                <a:spcPct val="10000"/>
              </a:spcBef>
            </a:pPr>
            <a:r>
              <a:rPr lang="en-US" altLang="zh-CN"/>
              <a:t>Cache</a:t>
            </a:r>
            <a:r>
              <a:rPr lang="zh-CN" altLang="en-US"/>
              <a:t>行为发生变化</a:t>
            </a:r>
          </a:p>
          <a:p>
            <a:pPr marL="981075" lvl="1" indent="-350838">
              <a:spcBef>
                <a:spcPct val="10000"/>
              </a:spcBef>
            </a:pPr>
            <a:r>
              <a:rPr lang="zh-CN" altLang="en-US"/>
              <a:t>指令混合发生变化</a:t>
            </a:r>
          </a:p>
          <a:p>
            <a:pPr marL="981075" lvl="1" indent="-350838">
              <a:spcBef>
                <a:spcPct val="10000"/>
              </a:spcBef>
            </a:pPr>
            <a:r>
              <a:rPr lang="zh-CN" altLang="en-US"/>
              <a:t>分支预测发生变化</a:t>
            </a:r>
            <a:endParaRPr lang="en-US" altLang="zh-CN"/>
          </a:p>
          <a:p>
            <a:pPr marL="981075" lvl="1" indent="-350838">
              <a:spcBef>
                <a:spcPct val="10000"/>
              </a:spcBef>
            </a:pPr>
            <a:endParaRPr lang="en-US" altLang="zh-CN"/>
          </a:p>
          <a:p>
            <a:pPr marL="981075" lvl="1" indent="-350838">
              <a:spcBef>
                <a:spcPct val="10000"/>
              </a:spcBef>
            </a:pPr>
            <a:endParaRPr lang="en-US" altLang="zh-CN"/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itchFamily="2" charset="2"/>
              <a:buChar char="!"/>
            </a:pPr>
            <a:r>
              <a:rPr lang="en-US" altLang="zh-CN"/>
              <a:t>MIPS</a:t>
            </a:r>
            <a:r>
              <a:rPr lang="zh-CN" altLang="en-US"/>
              <a:t>：可能与性能反向变化</a:t>
            </a:r>
            <a:endParaRPr lang="en-US" altLang="zh-CN"/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itchFamily="2" charset="2"/>
              <a:buChar char="!"/>
            </a:pPr>
            <a:r>
              <a:rPr lang="en-US" altLang="zh-CN"/>
              <a:t>FLOPS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18C6C0-B767-406C-B47F-6CEDD20A9255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45757B0-10D8-4F0A-ABCD-A62574D1E6A7}"/>
              </a:ext>
            </a:extLst>
          </p:cNvPr>
          <p:cNvSpPr txBox="1">
            <a:spLocks/>
          </p:cNvSpPr>
          <p:nvPr/>
        </p:nvSpPr>
        <p:spPr bwMode="auto">
          <a:xfrm>
            <a:off x="590550" y="568325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>
                <a:solidFill>
                  <a:srgbClr val="FF6600"/>
                </a:solidFill>
              </a:rPr>
              <a:t>CPU</a:t>
            </a:r>
            <a:r>
              <a:rPr lang="zh-CN" altLang="en-US">
                <a:solidFill>
                  <a:srgbClr val="FF6600"/>
                </a:solidFill>
              </a:rPr>
              <a:t>性能测量：</a:t>
            </a:r>
            <a:endParaRPr lang="zh-CN" altLang="en-US" kern="0">
              <a:solidFill>
                <a:srgbClr val="FF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FBFBBFA-1BD4-4528-88E1-074043A45A8B}"/>
                  </a:ext>
                </a:extLst>
              </p:cNvPr>
              <p:cNvSpPr/>
              <p:nvPr/>
            </p:nvSpPr>
            <p:spPr>
              <a:xfrm>
                <a:off x="926307" y="3573016"/>
                <a:ext cx="8217693" cy="1103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 b="0" smtClean="0">
                          <a:solidFill>
                            <a:srgbClr val="000000"/>
                          </a:solidFill>
                          <a:latin typeface="+mn-lt"/>
                        </a:rPr>
                        <m:t>CPU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时间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𝐶𝑃𝑈</m:t>
                          </m:r>
                        </m:sub>
                      </m:sSub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𝐶𝐿𝐾</m:t>
                          </m:r>
                        </m:sub>
                      </m:sSub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𝐶𝑃𝐼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3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𝐶𝐿𝐾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200">
                  <a:latin typeface="+mn-lt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FBFBBFA-1BD4-4528-88E1-074043A45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7" y="3573016"/>
                <a:ext cx="8217693" cy="1103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38623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46EA6A-8644-4A1B-913E-70882203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15049"/>
            <a:ext cx="8362950" cy="6120758"/>
          </a:xfrm>
        </p:spPr>
        <p:txBody>
          <a:bodyPr/>
          <a:lstStyle/>
          <a:p>
            <a:pPr indent="-358775">
              <a:spcBef>
                <a:spcPts val="20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时空图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indent="-358775">
              <a:spcBef>
                <a:spcPts val="20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个段的流水线处理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个任务所需时间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lvl="1" indent="-355600">
              <a:buClr>
                <a:srgbClr val="33CC33"/>
              </a:buClr>
              <a:buFont typeface="Wingdings" panose="05000000000000000000" pitchFamily="2" charset="2"/>
              <a:buChar char="p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各段处理时间相等：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</a:b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T</a:t>
            </a:r>
            <a:r>
              <a:rPr kumimoji="0" lang="en-US" altLang="zh-CN" b="1" i="1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n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(m)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 =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 ·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</a:rPr>
              <a:t>τ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Times New Roman" pitchFamily="18" charset="0"/>
              </a:rPr>
              <a:t>＋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n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Times New Roman" pitchFamily="18" charset="0"/>
              </a:rPr>
              <a:t>－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1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·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</a:rPr>
              <a:t>τ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</a:endParaRPr>
          </a:p>
          <a:p>
            <a:pPr lvl="1" indent="-355600">
              <a:buClr>
                <a:srgbClr val="33CC33"/>
              </a:buClr>
              <a:buFont typeface="Wingdings" panose="05000000000000000000" pitchFamily="2" charset="2"/>
              <a:buChar char="p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各段处理时间不等：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</a:b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</a:b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</a:endParaRPr>
          </a:p>
          <a:p>
            <a:pPr indent="-358775">
              <a:lnSpc>
                <a:spcPct val="120000"/>
              </a:lnSpc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实际吞吐率：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TP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 /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</a:b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最大吞吐率：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TP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max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1/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流水线周期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indent="-358775">
              <a:lnSpc>
                <a:spcPct val="120000"/>
              </a:lnSpc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实际加速比：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S 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(1) /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</a:b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最大加速比：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S</a:t>
            </a:r>
            <a:r>
              <a:rPr kumimoji="0" lang="en-US" altLang="zh-CN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max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＝各段时间之和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/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流水线周期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indent="-358775"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>
                <a:solidFill>
                  <a:srgbClr val="000000"/>
                </a:solidFill>
                <a:latin typeface="Times New Roman"/>
                <a:ea typeface="宋体"/>
              </a:rPr>
              <a:t>流水线效率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indent="-358775"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改进瓶颈段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A93D3B4-A8DF-4A5B-AB11-B21EF7545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868631"/>
              </p:ext>
            </p:extLst>
          </p:nvPr>
        </p:nvGraphicFramePr>
        <p:xfrm>
          <a:off x="1259632" y="2675289"/>
          <a:ext cx="4899819" cy="1047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公式" r:id="rId3" imgW="2006280" imgH="431640" progId="Equation.3">
                  <p:embed/>
                </p:oleObj>
              </mc:Choice>
              <mc:Fallback>
                <p:oleObj name="公式" r:id="rId3" imgW="2006280" imgH="43164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160580A-8A1D-481B-A945-5A3AE8A3E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675289"/>
                        <a:ext cx="4899819" cy="1047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C4EB7EC-43FA-4E53-9192-F0FE1B1F9A86}"/>
              </a:ext>
            </a:extLst>
          </p:cNvPr>
          <p:cNvSpPr txBox="1"/>
          <p:nvPr/>
        </p:nvSpPr>
        <p:spPr bwMode="auto">
          <a:xfrm>
            <a:off x="3461276" y="28245"/>
            <a:ext cx="2698175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流水线性能度量</a:t>
            </a: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0C7329-D016-49DD-8969-EC4830331A05}"/>
              </a:ext>
            </a:extLst>
          </p:cNvPr>
          <p:cNvSpPr/>
          <p:nvPr/>
        </p:nvSpPr>
        <p:spPr>
          <a:xfrm>
            <a:off x="6110598" y="3135152"/>
            <a:ext cx="1988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流水线周期</a:t>
            </a:r>
            <a:endParaRPr lang="zh-CN" altLang="en-US" dirty="0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30F5D0A-693B-4E7C-BE94-AB392E331700}"/>
              </a:ext>
            </a:extLst>
          </p:cNvPr>
          <p:cNvCxnSpPr/>
          <p:nvPr/>
        </p:nvCxnSpPr>
        <p:spPr bwMode="auto">
          <a:xfrm>
            <a:off x="4899463" y="3438730"/>
            <a:ext cx="1227411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121DF8-775A-4149-8237-FA61AC7D7D80}"/>
              </a:ext>
            </a:extLst>
          </p:cNvPr>
          <p:cNvCxnSpPr>
            <a:cxnSpLocks/>
          </p:cNvCxnSpPr>
          <p:nvPr/>
        </p:nvCxnSpPr>
        <p:spPr bwMode="auto">
          <a:xfrm>
            <a:off x="3028211" y="2317886"/>
            <a:ext cx="21929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121F923-0D5D-4396-8935-1CB7A089C57A}"/>
              </a:ext>
            </a:extLst>
          </p:cNvPr>
          <p:cNvCxnSpPr>
            <a:cxnSpLocks/>
          </p:cNvCxnSpPr>
          <p:nvPr/>
        </p:nvCxnSpPr>
        <p:spPr bwMode="auto">
          <a:xfrm>
            <a:off x="4846167" y="2317886"/>
            <a:ext cx="21929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831A96D-062D-48A0-8961-458D3579EAF8}"/>
              </a:ext>
            </a:extLst>
          </p:cNvPr>
          <p:cNvSpPr/>
          <p:nvPr/>
        </p:nvSpPr>
        <p:spPr>
          <a:xfrm>
            <a:off x="5967861" y="2028446"/>
            <a:ext cx="1988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流水线周期</a:t>
            </a:r>
            <a:endParaRPr lang="zh-CN" altLang="en-US" dirty="0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EA044F7-C1A3-4D97-B82F-E46EDC60C976}"/>
              </a:ext>
            </a:extLst>
          </p:cNvPr>
          <p:cNvGrpSpPr/>
          <p:nvPr/>
        </p:nvGrpSpPr>
        <p:grpSpPr>
          <a:xfrm>
            <a:off x="3314588" y="2304068"/>
            <a:ext cx="2743200" cy="453559"/>
            <a:chOff x="3666478" y="2893370"/>
            <a:chExt cx="2787588" cy="453559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21760FA5-9652-46F2-9133-57AC59BBCF2E}"/>
                </a:ext>
              </a:extLst>
            </p:cNvPr>
            <p:cNvSpPr/>
            <p:nvPr/>
          </p:nvSpPr>
          <p:spPr bwMode="auto">
            <a:xfrm>
              <a:off x="3666478" y="2893370"/>
              <a:ext cx="2787588" cy="453559"/>
            </a:xfrm>
            <a:custGeom>
              <a:avLst/>
              <a:gdLst>
                <a:gd name="connsiteX0" fmla="*/ 2787588 w 2787588"/>
                <a:gd name="connsiteY0" fmla="*/ 45139 h 453559"/>
                <a:gd name="connsiteX1" fmla="*/ 1704512 w 2787588"/>
                <a:gd name="connsiteY1" fmla="*/ 453512 h 453559"/>
                <a:gd name="connsiteX2" fmla="*/ 1154097 w 2787588"/>
                <a:gd name="connsiteY2" fmla="*/ 71772 h 453559"/>
                <a:gd name="connsiteX3" fmla="*/ 0 w 2787588"/>
                <a:gd name="connsiteY3" fmla="*/ 750 h 453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7588" h="453559">
                  <a:moveTo>
                    <a:pt x="2787588" y="45139"/>
                  </a:moveTo>
                  <a:cubicBezTo>
                    <a:pt x="2382174" y="247106"/>
                    <a:pt x="1976760" y="449073"/>
                    <a:pt x="1704512" y="453512"/>
                  </a:cubicBezTo>
                  <a:cubicBezTo>
                    <a:pt x="1432264" y="457951"/>
                    <a:pt x="1438182" y="147232"/>
                    <a:pt x="1154097" y="71772"/>
                  </a:cubicBezTo>
                  <a:cubicBezTo>
                    <a:pt x="870012" y="-3688"/>
                    <a:pt x="435006" y="-1469"/>
                    <a:pt x="0" y="750"/>
                  </a:cubicBezTo>
                </a:path>
              </a:pathLst>
            </a:custGeom>
            <a:noFill/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D3DC188-B077-4313-9F63-3B446321AA90}"/>
                </a:ext>
              </a:extLst>
            </p:cNvPr>
            <p:cNvSpPr/>
            <p:nvPr/>
          </p:nvSpPr>
          <p:spPr bwMode="auto">
            <a:xfrm>
              <a:off x="5344357" y="2938509"/>
              <a:ext cx="1109709" cy="275257"/>
            </a:xfrm>
            <a:custGeom>
              <a:avLst/>
              <a:gdLst>
                <a:gd name="connsiteX0" fmla="*/ 1109709 w 1109709"/>
                <a:gd name="connsiteY0" fmla="*/ 0 h 275257"/>
                <a:gd name="connsiteX1" fmla="*/ 310719 w 1109709"/>
                <a:gd name="connsiteY1" fmla="*/ 275208 h 275257"/>
                <a:gd name="connsiteX2" fmla="*/ 0 w 1109709"/>
                <a:gd name="connsiteY2" fmla="*/ 17755 h 275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9709" h="275257">
                  <a:moveTo>
                    <a:pt x="1109709" y="0"/>
                  </a:moveTo>
                  <a:cubicBezTo>
                    <a:pt x="802689" y="136124"/>
                    <a:pt x="495670" y="272249"/>
                    <a:pt x="310719" y="275208"/>
                  </a:cubicBezTo>
                  <a:cubicBezTo>
                    <a:pt x="125768" y="278167"/>
                    <a:pt x="62884" y="147961"/>
                    <a:pt x="0" y="17755"/>
                  </a:cubicBezTo>
                </a:path>
              </a:pathLst>
            </a:custGeom>
            <a:noFill/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31D8983-BA25-497C-A7D8-B983ED652F8D}"/>
              </a:ext>
            </a:extLst>
          </p:cNvPr>
          <p:cNvCxnSpPr>
            <a:cxnSpLocks/>
          </p:cNvCxnSpPr>
          <p:nvPr/>
        </p:nvCxnSpPr>
        <p:spPr bwMode="auto">
          <a:xfrm>
            <a:off x="4580388" y="4636281"/>
            <a:ext cx="1712566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F4AD2AA-2D3C-4096-B6BB-82506F3BEC27}"/>
              </a:ext>
            </a:extLst>
          </p:cNvPr>
          <p:cNvCxnSpPr>
            <a:cxnSpLocks/>
          </p:cNvCxnSpPr>
          <p:nvPr/>
        </p:nvCxnSpPr>
        <p:spPr bwMode="auto">
          <a:xfrm>
            <a:off x="6335748" y="5649297"/>
            <a:ext cx="1712566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02D5C0D1-3964-4756-829D-975BAD036B73}"/>
              </a:ext>
            </a:extLst>
          </p:cNvPr>
          <p:cNvGrpSpPr/>
          <p:nvPr/>
        </p:nvGrpSpPr>
        <p:grpSpPr>
          <a:xfrm>
            <a:off x="2948434" y="5692214"/>
            <a:ext cx="5329683" cy="863600"/>
            <a:chOff x="2948434" y="5742621"/>
            <a:chExt cx="5329683" cy="863600"/>
          </a:xfrm>
        </p:grpSpPr>
        <p:sp>
          <p:nvSpPr>
            <p:cNvPr id="20" name="Rectangle 292">
              <a:extLst>
                <a:ext uri="{FF2B5EF4-FFF2-40B4-BE49-F238E27FC236}">
                  <a16:creationId xmlns:a16="http://schemas.microsoft.com/office/drawing/2014/main" id="{49A250A7-AA5C-4398-A9C7-71C76A2F6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623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21" name="Line 293">
              <a:extLst>
                <a:ext uri="{FF2B5EF4-FFF2-40B4-BE49-F238E27FC236}">
                  <a16:creationId xmlns:a16="http://schemas.microsoft.com/office/drawing/2014/main" id="{FCEC04A9-8F5B-4C8D-AFD7-5CD841EED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434" y="6391908"/>
              <a:ext cx="28718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294">
              <a:extLst>
                <a:ext uri="{FF2B5EF4-FFF2-40B4-BE49-F238E27FC236}">
                  <a16:creationId xmlns:a16="http://schemas.microsoft.com/office/drawing/2014/main" id="{1C5AA5B6-0D1E-40E0-BEE9-B7EC5B1C7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024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23" name="Line 295">
              <a:extLst>
                <a:ext uri="{FF2B5EF4-FFF2-40B4-BE49-F238E27FC236}">
                  <a16:creationId xmlns:a16="http://schemas.microsoft.com/office/drawing/2014/main" id="{04141C12-96CB-4DC4-8775-940F94B70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348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296">
              <a:extLst>
                <a:ext uri="{FF2B5EF4-FFF2-40B4-BE49-F238E27FC236}">
                  <a16:creationId xmlns:a16="http://schemas.microsoft.com/office/drawing/2014/main" id="{39CAD0E1-2099-4D9A-9743-3AA2D5A2A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136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26" name="Rectangle 298">
              <a:extLst>
                <a:ext uri="{FF2B5EF4-FFF2-40B4-BE49-F238E27FC236}">
                  <a16:creationId xmlns:a16="http://schemas.microsoft.com/office/drawing/2014/main" id="{A473363B-50FD-4CBA-87DC-6FDE08E3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249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</a:p>
          </p:txBody>
        </p:sp>
        <p:sp>
          <p:nvSpPr>
            <p:cNvPr id="28" name="Rectangle 300">
              <a:extLst>
                <a:ext uri="{FF2B5EF4-FFF2-40B4-BE49-F238E27FC236}">
                  <a16:creationId xmlns:a16="http://schemas.microsoft.com/office/drawing/2014/main" id="{64468A13-4747-43A9-999B-7410A1CE4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9361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30" name="Line 302">
              <a:extLst>
                <a:ext uri="{FF2B5EF4-FFF2-40B4-BE49-F238E27FC236}">
                  <a16:creationId xmlns:a16="http://schemas.microsoft.com/office/drawing/2014/main" id="{05C78D8A-CD37-4EC8-A0D6-861A6382B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8498" y="6391908"/>
              <a:ext cx="28961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303">
              <a:extLst>
                <a:ext uri="{FF2B5EF4-FFF2-40B4-BE49-F238E27FC236}">
                  <a16:creationId xmlns:a16="http://schemas.microsoft.com/office/drawing/2014/main" id="{805DAE4A-15E5-4E2E-A7B6-3D79E3AD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160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</a:p>
          </p:txBody>
        </p:sp>
        <p:sp>
          <p:nvSpPr>
            <p:cNvPr id="32" name="Rectangle 304">
              <a:extLst>
                <a:ext uri="{FF2B5EF4-FFF2-40B4-BE49-F238E27FC236}">
                  <a16:creationId xmlns:a16="http://schemas.microsoft.com/office/drawing/2014/main" id="{D5A6E3E0-7956-4074-9255-6F441D6D6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562" y="5742621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</a:p>
          </p:txBody>
        </p:sp>
        <p:sp>
          <p:nvSpPr>
            <p:cNvPr id="33" name="Rectangle 305">
              <a:extLst>
                <a:ext uri="{FF2B5EF4-FFF2-40B4-BE49-F238E27FC236}">
                  <a16:creationId xmlns:a16="http://schemas.microsoft.com/office/drawing/2014/main" id="{9CE78DB6-7175-4CBB-97B1-043E981BF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674" y="5742621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</a:p>
          </p:txBody>
        </p:sp>
        <p:sp>
          <p:nvSpPr>
            <p:cNvPr id="34" name="Rectangle 306">
              <a:extLst>
                <a:ext uri="{FF2B5EF4-FFF2-40B4-BE49-F238E27FC236}">
                  <a16:creationId xmlns:a16="http://schemas.microsoft.com/office/drawing/2014/main" id="{623EAADC-B42E-4331-A8D1-C703B4DA4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6786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</a:p>
          </p:txBody>
        </p:sp>
        <p:sp>
          <p:nvSpPr>
            <p:cNvPr id="35" name="Rectangle 307">
              <a:extLst>
                <a:ext uri="{FF2B5EF4-FFF2-40B4-BE49-F238E27FC236}">
                  <a16:creationId xmlns:a16="http://schemas.microsoft.com/office/drawing/2014/main" id="{2F777DEB-BD70-4876-A9D2-4E14EE30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4898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</a:p>
          </p:txBody>
        </p:sp>
        <p:sp>
          <p:nvSpPr>
            <p:cNvPr id="36" name="Line 295">
              <a:extLst>
                <a:ext uri="{FF2B5EF4-FFF2-40B4-BE49-F238E27FC236}">
                  <a16:creationId xmlns:a16="http://schemas.microsoft.com/office/drawing/2014/main" id="{C2861B66-BB40-4161-AEC0-C6ABC9A44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509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Line 295">
              <a:extLst>
                <a:ext uri="{FF2B5EF4-FFF2-40B4-BE49-F238E27FC236}">
                  <a16:creationId xmlns:a16="http://schemas.microsoft.com/office/drawing/2014/main" id="{4B455AFA-2282-4A5C-A4BB-5E8D7E456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2621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Line 295">
              <a:extLst>
                <a:ext uri="{FF2B5EF4-FFF2-40B4-BE49-F238E27FC236}">
                  <a16:creationId xmlns:a16="http://schemas.microsoft.com/office/drawing/2014/main" id="{D6338C9B-A705-424A-82AD-117547EAF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79479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0787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70AC69-B3C5-442C-8042-CA675290DA5F}"/>
              </a:ext>
            </a:extLst>
          </p:cNvPr>
          <p:cNvSpPr txBox="1"/>
          <p:nvPr/>
        </p:nvSpPr>
        <p:spPr bwMode="auto">
          <a:xfrm>
            <a:off x="2645718" y="106660"/>
            <a:ext cx="6174432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指令流水线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：处理的指令之间存在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相关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01478F9C-4F20-4184-9B40-0D312BA4BF63}"/>
              </a:ext>
            </a:extLst>
          </p:cNvPr>
          <p:cNvSpPr txBox="1">
            <a:spLocks/>
          </p:cNvSpPr>
          <p:nvPr/>
        </p:nvSpPr>
        <p:spPr bwMode="auto">
          <a:xfrm>
            <a:off x="179512" y="568325"/>
            <a:ext cx="8788602" cy="613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7913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6688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结构相关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增加资源副本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主存访问冲突：哈佛结构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两个加法器：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ALU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、地址加法器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数据相关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先写后读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ead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rite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增加专用硬件（推后法） </a:t>
            </a: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采用转发（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Forwarding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）技术（旁路、相关直接通路）</a:t>
            </a: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乱序：利用编译器（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RISC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）、利用硬件（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CISC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</a:rPr>
              <a:t>）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先读后写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rite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ead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）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写－写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rite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rite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控制相关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分支预测：静态（软件、硬件）、动态（硬件）</a:t>
            </a:r>
          </a:p>
          <a:p>
            <a:pPr marL="719138" marR="0" lvl="1" indent="-3603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þ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延迟转移技术（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A03328-CEA1-44A8-A921-EB2DE8DDFF7D}"/>
              </a:ext>
            </a:extLst>
          </p:cNvPr>
          <p:cNvSpPr/>
          <p:nvPr/>
        </p:nvSpPr>
        <p:spPr>
          <a:xfrm>
            <a:off x="6013444" y="4132836"/>
            <a:ext cx="3096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寄存器重命名技术</a:t>
            </a:r>
          </a:p>
          <a:p>
            <a:pPr marL="342900" indent="-342900" algn="l">
              <a:spcBef>
                <a:spcPts val="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数据重定向技术</a:t>
            </a: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43F1EB0F-21F2-4CBA-9566-CFD3A94227FB}"/>
              </a:ext>
            </a:extLst>
          </p:cNvPr>
          <p:cNvSpPr/>
          <p:nvPr/>
        </p:nvSpPr>
        <p:spPr bwMode="auto">
          <a:xfrm>
            <a:off x="5709135" y="4067548"/>
            <a:ext cx="216024" cy="830997"/>
          </a:xfrm>
          <a:prstGeom prst="rightBrace">
            <a:avLst>
              <a:gd name="adj1" fmla="val 36442"/>
              <a:gd name="adj2" fmla="val 50000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428654F-6A93-4E6A-9C15-54D0D59CA73F}"/>
              </a:ext>
            </a:extLst>
          </p:cNvPr>
          <p:cNvCxnSpPr/>
          <p:nvPr/>
        </p:nvCxnSpPr>
        <p:spPr bwMode="auto">
          <a:xfrm>
            <a:off x="6012160" y="4272849"/>
            <a:ext cx="0" cy="686981"/>
          </a:xfrm>
          <a:prstGeom prst="line">
            <a:avLst/>
          </a:prstGeom>
          <a:solidFill>
            <a:srgbClr val="FFFF99"/>
          </a:solidFill>
          <a:ln w="76200" cap="rnd" cmpd="tri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22B44A0-D4BF-4B46-B6D0-350A8A92DD50}"/>
              </a:ext>
            </a:extLst>
          </p:cNvPr>
          <p:cNvCxnSpPr/>
          <p:nvPr/>
        </p:nvCxnSpPr>
        <p:spPr bwMode="auto">
          <a:xfrm>
            <a:off x="6012160" y="4959830"/>
            <a:ext cx="2807990" cy="0"/>
          </a:xfrm>
          <a:prstGeom prst="line">
            <a:avLst/>
          </a:prstGeom>
          <a:solidFill>
            <a:srgbClr val="FFFF99"/>
          </a:solidFill>
          <a:ln w="76200" cap="rnd" cmpd="tri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 Box 20">
            <a:extLst>
              <a:ext uri="{FF2B5EF4-FFF2-40B4-BE49-F238E27FC236}">
                <a16:creationId xmlns:a16="http://schemas.microsoft.com/office/drawing/2014/main" id="{88E8DA15-6B61-4ECB-AC0E-FFD36778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5026" y="1262696"/>
            <a:ext cx="2733438" cy="1806264"/>
          </a:xfrm>
          <a:prstGeom prst="rect">
            <a:avLst/>
          </a:prstGeom>
          <a:solidFill>
            <a:schemeClr val="bg1"/>
          </a:solidFill>
          <a:ln w="76200" algn="ctr">
            <a:noFill/>
            <a:miter lim="800000"/>
            <a:headEnd/>
            <a:tailEnd type="none" w="med" len="lg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k:   F1← A</a:t>
            </a: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k+1: F1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← F1</a:t>
            </a:r>
            <a:r>
              <a:rPr lang="zh-CN" altLang="en-US" sz="2400">
                <a:solidFill>
                  <a:srgbClr val="0000FF"/>
                </a:solidFill>
                <a:latin typeface="+mn-lt"/>
                <a:ea typeface="Arial Unicode MS" pitchFamily="34" charset="-122"/>
                <a:cs typeface="Arial Unicode MS" pitchFamily="34" charset="-122"/>
              </a:rPr>
              <a:t>＋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F2</a:t>
            </a:r>
            <a:endParaRPr lang="en-US" altLang="zh-CN" sz="2400" dirty="0">
              <a:solidFill>
                <a:srgbClr val="0000FF"/>
              </a:solidFill>
              <a:latin typeface="宋体" charset="-122"/>
              <a:ea typeface="Arial Unicode MS" pitchFamily="34" charset="-122"/>
              <a:cs typeface="Arial Unicode MS" pitchFamily="34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k+2: F1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← F1</a:t>
            </a:r>
            <a:r>
              <a:rPr lang="en-US" altLang="zh-CN" sz="2400">
                <a:solidFill>
                  <a:srgbClr val="0000FF"/>
                </a:solidFill>
                <a:latin typeface="+mn-lt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b="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×</a:t>
            </a:r>
            <a:r>
              <a:rPr lang="en-US" altLang="zh-CN" sz="2400" b="0">
                <a:solidFill>
                  <a:srgbClr val="0000FF"/>
                </a:solidFill>
                <a:latin typeface="+mn-lt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F3</a:t>
            </a:r>
            <a:endParaRPr lang="en-US" altLang="zh-CN" sz="2400" dirty="0">
              <a:solidFill>
                <a:srgbClr val="0000FF"/>
              </a:solidFill>
              <a:latin typeface="宋体" charset="-122"/>
              <a:ea typeface="Arial Unicode MS" pitchFamily="34" charset="-122"/>
              <a:cs typeface="Arial Unicode MS" pitchFamily="34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宋体" charset="-122"/>
                <a:ea typeface="Arial Unicode MS" pitchFamily="34" charset="-122"/>
                <a:cs typeface="Arial Unicode MS" pitchFamily="34" charset="-122"/>
              </a:rPr>
              <a:t>k+3: B ← F1</a:t>
            </a:r>
            <a:endParaRPr lang="zh-CN" altLang="en-US" sz="2400" dirty="0">
              <a:solidFill>
                <a:srgbClr val="0000FF"/>
              </a:solidFill>
              <a:latin typeface="宋体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A0E76426-7B51-4F96-B877-D6694508A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699" y="2087253"/>
            <a:ext cx="441351" cy="20017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86C04832-E4E7-4B7F-8F0D-2270F364C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36" y="2533524"/>
            <a:ext cx="436589" cy="19681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394D64CD-0F3E-45FB-8748-B71CB55D9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699" y="1652382"/>
            <a:ext cx="422301" cy="20642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3D917F8E-030C-4C11-82ED-5F31A6101C01}"/>
              </a:ext>
            </a:extLst>
          </p:cNvPr>
          <p:cNvSpPr>
            <a:spLocks/>
          </p:cNvSpPr>
          <p:nvPr/>
        </p:nvSpPr>
        <p:spPr bwMode="auto">
          <a:xfrm>
            <a:off x="6646068" y="1511264"/>
            <a:ext cx="211015" cy="449932"/>
          </a:xfrm>
          <a:custGeom>
            <a:avLst/>
            <a:gdLst/>
            <a:ahLst/>
            <a:cxnLst>
              <a:cxn ang="0">
                <a:pos x="136" y="0"/>
              </a:cxn>
              <a:cxn ang="0">
                <a:pos x="0" y="90"/>
              </a:cxn>
              <a:cxn ang="0">
                <a:pos x="136" y="226"/>
              </a:cxn>
            </a:cxnLst>
            <a:rect l="0" t="0" r="r" b="b"/>
            <a:pathLst>
              <a:path w="136" h="226">
                <a:moveTo>
                  <a:pt x="136" y="0"/>
                </a:moveTo>
                <a:cubicBezTo>
                  <a:pt x="68" y="26"/>
                  <a:pt x="0" y="52"/>
                  <a:pt x="0" y="90"/>
                </a:cubicBezTo>
                <a:cubicBezTo>
                  <a:pt x="0" y="128"/>
                  <a:pt x="68" y="177"/>
                  <a:pt x="136" y="226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A3A589EC-A3A9-4AF4-A3CE-22CD8C159499}"/>
              </a:ext>
            </a:extLst>
          </p:cNvPr>
          <p:cNvSpPr>
            <a:spLocks/>
          </p:cNvSpPr>
          <p:nvPr/>
        </p:nvSpPr>
        <p:spPr bwMode="auto">
          <a:xfrm>
            <a:off x="6667500" y="2000824"/>
            <a:ext cx="196726" cy="391380"/>
          </a:xfrm>
          <a:custGeom>
            <a:avLst/>
            <a:gdLst/>
            <a:ahLst/>
            <a:cxnLst>
              <a:cxn ang="0">
                <a:pos x="136" y="0"/>
              </a:cxn>
              <a:cxn ang="0">
                <a:pos x="0" y="90"/>
              </a:cxn>
              <a:cxn ang="0">
                <a:pos x="136" y="226"/>
              </a:cxn>
            </a:cxnLst>
            <a:rect l="0" t="0" r="r" b="b"/>
            <a:pathLst>
              <a:path w="136" h="226">
                <a:moveTo>
                  <a:pt x="136" y="0"/>
                </a:moveTo>
                <a:cubicBezTo>
                  <a:pt x="68" y="26"/>
                  <a:pt x="0" y="52"/>
                  <a:pt x="0" y="90"/>
                </a:cubicBezTo>
                <a:cubicBezTo>
                  <a:pt x="0" y="128"/>
                  <a:pt x="68" y="177"/>
                  <a:pt x="136" y="226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C4E615F3-5286-4CED-995A-BEE16DDBA1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5656" y="2089068"/>
            <a:ext cx="483394" cy="248366"/>
          </a:xfrm>
          <a:prstGeom prst="line">
            <a:avLst/>
          </a:prstGeom>
          <a:noFill/>
          <a:ln w="19050">
            <a:solidFill>
              <a:srgbClr val="00CC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EDA118A-97F8-499C-A46D-E7AF15AE4740}"/>
              </a:ext>
            </a:extLst>
          </p:cNvPr>
          <p:cNvGrpSpPr>
            <a:grpSpLocks noChangeAspect="1"/>
          </p:cNvGrpSpPr>
          <p:nvPr/>
        </p:nvGrpSpPr>
        <p:grpSpPr>
          <a:xfrm>
            <a:off x="4427984" y="629213"/>
            <a:ext cx="4540130" cy="442782"/>
            <a:chOff x="3635896" y="2924944"/>
            <a:chExt cx="5168411" cy="50405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CB0BA4B-2E1D-4D95-A948-9D9A625A425A}"/>
                </a:ext>
              </a:extLst>
            </p:cNvPr>
            <p:cNvSpPr/>
            <p:nvPr/>
          </p:nvSpPr>
          <p:spPr bwMode="auto">
            <a:xfrm>
              <a:off x="3923928" y="2924944"/>
              <a:ext cx="936104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取指令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EFE421D-0500-472A-AB71-F7E1D0E9676D}"/>
                </a:ext>
              </a:extLst>
            </p:cNvPr>
            <p:cNvSpPr/>
            <p:nvPr/>
          </p:nvSpPr>
          <p:spPr bwMode="auto">
            <a:xfrm>
              <a:off x="5148064" y="2924944"/>
              <a:ext cx="936104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取数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AC05480-902A-4627-8771-9493942BF796}"/>
                </a:ext>
              </a:extLst>
            </p:cNvPr>
            <p:cNvSpPr/>
            <p:nvPr/>
          </p:nvSpPr>
          <p:spPr bwMode="auto">
            <a:xfrm>
              <a:off x="6372200" y="2924944"/>
              <a:ext cx="936104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执行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9B67E7D-B61B-478D-9EC6-71887257E824}"/>
                </a:ext>
              </a:extLst>
            </p:cNvPr>
            <p:cNvSpPr/>
            <p:nvPr/>
          </p:nvSpPr>
          <p:spPr bwMode="auto">
            <a:xfrm>
              <a:off x="7596336" y="2924944"/>
              <a:ext cx="936104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rPr>
                <a:t>存结果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3FC418D-BEC1-4E87-A99D-24FBAA339726}"/>
                </a:ext>
              </a:extLst>
            </p:cNvPr>
            <p:cNvCxnSpPr>
              <a:stCxn id="20" idx="3"/>
            </p:cNvCxnSpPr>
            <p:nvPr/>
          </p:nvCxnSpPr>
          <p:spPr bwMode="auto">
            <a:xfrm>
              <a:off x="4860032" y="3176972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8486A79-D358-498B-BBFA-F7B50836A69C}"/>
                </a:ext>
              </a:extLst>
            </p:cNvPr>
            <p:cNvCxnSpPr/>
            <p:nvPr/>
          </p:nvCxnSpPr>
          <p:spPr bwMode="auto">
            <a:xfrm>
              <a:off x="6084168" y="3176972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E634CC84-1AA9-4D31-B5B0-533A6EADCAC5}"/>
                </a:ext>
              </a:extLst>
            </p:cNvPr>
            <p:cNvCxnSpPr/>
            <p:nvPr/>
          </p:nvCxnSpPr>
          <p:spPr bwMode="auto">
            <a:xfrm>
              <a:off x="7308304" y="3176972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C980AA0-1309-4D44-B6CB-BF0A2AF70864}"/>
                </a:ext>
              </a:extLst>
            </p:cNvPr>
            <p:cNvCxnSpPr/>
            <p:nvPr/>
          </p:nvCxnSpPr>
          <p:spPr bwMode="auto">
            <a:xfrm>
              <a:off x="8516275" y="3187232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2CAD82AB-76D4-4830-9601-0888701DBE4A}"/>
                </a:ext>
              </a:extLst>
            </p:cNvPr>
            <p:cNvCxnSpPr/>
            <p:nvPr/>
          </p:nvCxnSpPr>
          <p:spPr bwMode="auto">
            <a:xfrm>
              <a:off x="3635896" y="3187867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26922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2A433-0505-4B81-9CE7-3ED1A549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91B7B-A5BB-400D-8D83-0F4BAD0A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124214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sz="2400" kern="0">
                <a:ea typeface="宋体" pitchFamily="2" charset="-122"/>
              </a:rPr>
              <a:t>某</a:t>
            </a:r>
            <a:r>
              <a:rPr lang="en-US" altLang="zh-CN" sz="2400" kern="0">
                <a:ea typeface="宋体" pitchFamily="2" charset="-122"/>
              </a:rPr>
              <a:t>CPU</a:t>
            </a:r>
            <a:r>
              <a:rPr lang="zh-CN" altLang="en-US" sz="2400" kern="0">
                <a:ea typeface="宋体" pitchFamily="2" charset="-122"/>
              </a:rPr>
              <a:t>内有</a:t>
            </a:r>
            <a:r>
              <a:rPr lang="en-US" altLang="zh-CN" sz="2400" kern="0">
                <a:solidFill>
                  <a:srgbClr val="0000FF"/>
                </a:solidFill>
                <a:ea typeface="宋体" pitchFamily="2" charset="-122"/>
              </a:rPr>
              <a:t>5</a:t>
            </a:r>
            <a:r>
              <a:rPr lang="zh-CN" altLang="en-US" sz="2400" kern="0">
                <a:solidFill>
                  <a:srgbClr val="0000FF"/>
                </a:solidFill>
                <a:ea typeface="宋体" pitchFamily="2" charset="-122"/>
              </a:rPr>
              <a:t>级</a:t>
            </a:r>
            <a:r>
              <a:rPr lang="zh-CN" altLang="en-US" sz="2400" kern="0">
                <a:solidFill>
                  <a:srgbClr val="FF0066"/>
                </a:solidFill>
                <a:ea typeface="宋体" pitchFamily="2" charset="-122"/>
              </a:rPr>
              <a:t>指令流水线</a:t>
            </a:r>
            <a:r>
              <a:rPr lang="zh-CN" altLang="en-US" sz="2400" kern="0">
                <a:ea typeface="宋体" pitchFamily="2" charset="-122"/>
              </a:rPr>
              <a:t>，各级处理时间分别为</a:t>
            </a:r>
            <a:r>
              <a:rPr lang="en-US" altLang="zh-CN" sz="2400" kern="0">
                <a:ea typeface="宋体" pitchFamily="2" charset="-122"/>
              </a:rPr>
              <a:t>10ns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5ns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5ns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10ns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5ns</a:t>
            </a:r>
            <a:r>
              <a:rPr lang="zh-CN" altLang="en-US" sz="2400" kern="0">
                <a:ea typeface="宋体" pitchFamily="2" charset="-122"/>
              </a:rPr>
              <a:t>，采用</a:t>
            </a:r>
            <a:r>
              <a:rPr lang="zh-CN" altLang="en-US" sz="2400" kern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异步时钟控制</a:t>
            </a:r>
            <a:r>
              <a:rPr lang="zh-CN" altLang="en-US" sz="2400" kern="0">
                <a:ea typeface="宋体" pitchFamily="2" charset="-122"/>
              </a:rPr>
              <a:t>，要求每段尽可能早的把任务送入下一段。</a:t>
            </a:r>
            <a:endParaRPr lang="zh-CN" altLang="en-US"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77B2E0-2E8B-4EF4-B347-7927CC7F7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62</a:t>
            </a:fld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85B768-D1B7-4E0A-A25D-8F3582FD6327}"/>
              </a:ext>
            </a:extLst>
          </p:cNvPr>
          <p:cNvGrpSpPr/>
          <p:nvPr/>
        </p:nvGrpSpPr>
        <p:grpSpPr>
          <a:xfrm>
            <a:off x="603172" y="1844824"/>
            <a:ext cx="7713244" cy="1822232"/>
            <a:chOff x="603172" y="1412776"/>
            <a:chExt cx="7713244" cy="18222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3C60A0A-51EC-48C1-9192-93FD7416A36E}"/>
                </a:ext>
              </a:extLst>
            </p:cNvPr>
            <p:cNvGrpSpPr/>
            <p:nvPr/>
          </p:nvGrpSpPr>
          <p:grpSpPr>
            <a:xfrm>
              <a:off x="603172" y="1412776"/>
              <a:ext cx="7632848" cy="863848"/>
              <a:chOff x="755576" y="2493144"/>
              <a:chExt cx="7632848" cy="863848"/>
            </a:xfrm>
          </p:grpSpPr>
          <p:sp>
            <p:nvSpPr>
              <p:cNvPr id="6" name="Rectangle 137">
                <a:extLst>
                  <a:ext uri="{FF2B5EF4-FFF2-40B4-BE49-F238E27FC236}">
                    <a16:creationId xmlns:a16="http://schemas.microsoft.com/office/drawing/2014/main" id="{A6B4D1A9-E6A2-40C4-A62B-0D5DE08A1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7897" y="2924944"/>
                <a:ext cx="1152128" cy="431800"/>
              </a:xfrm>
              <a:prstGeom prst="rect">
                <a:avLst/>
              </a:prstGeom>
              <a:solidFill>
                <a:srgbClr val="FFCCFF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altLang="zh-CN" sz="24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7" name="Line 138">
                <a:extLst>
                  <a:ext uri="{FF2B5EF4-FFF2-40B4-BE49-F238E27FC236}">
                    <a16:creationId xmlns:a16="http://schemas.microsoft.com/office/drawing/2014/main" id="{662C8C22-D9FD-4B18-AEA7-5CEFB9FF7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5576" y="3140968"/>
                <a:ext cx="43232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" name="Rectangle 139">
                <a:extLst>
                  <a:ext uri="{FF2B5EF4-FFF2-40B4-BE49-F238E27FC236}">
                    <a16:creationId xmlns:a16="http://schemas.microsoft.com/office/drawing/2014/main" id="{CD6FF32A-EF7B-4C94-8333-58384CBE4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1221" y="2925192"/>
                <a:ext cx="574948" cy="431800"/>
              </a:xfrm>
              <a:prstGeom prst="rect">
                <a:avLst/>
              </a:prstGeom>
              <a:solidFill>
                <a:srgbClr val="FFCC66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altLang="zh-CN" sz="24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9" name="Line 140">
                <a:extLst>
                  <a:ext uri="{FF2B5EF4-FFF2-40B4-BE49-F238E27FC236}">
                    <a16:creationId xmlns:a16="http://schemas.microsoft.com/office/drawing/2014/main" id="{DB5AD764-BCC0-4B67-A47B-44640B4FC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0025" y="3140968"/>
                <a:ext cx="721195" cy="171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Rectangle 141">
                <a:extLst>
                  <a:ext uri="{FF2B5EF4-FFF2-40B4-BE49-F238E27FC236}">
                    <a16:creationId xmlns:a16="http://schemas.microsoft.com/office/drawing/2014/main" id="{78166F7E-CF74-4AFE-A8D3-A225214DE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605" y="2925192"/>
                <a:ext cx="575692" cy="431800"/>
              </a:xfrm>
              <a:prstGeom prst="rect">
                <a:avLst/>
              </a:prstGeom>
              <a:solidFill>
                <a:srgbClr val="FFCC66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altLang="zh-CN" sz="24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11" name="Line 142">
                <a:extLst>
                  <a:ext uri="{FF2B5EF4-FFF2-40B4-BE49-F238E27FC236}">
                    <a16:creationId xmlns:a16="http://schemas.microsoft.com/office/drawing/2014/main" id="{20333D7F-133F-4F7B-B81F-9A5C68637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6342" y="3142679"/>
                <a:ext cx="57626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Line 144">
                <a:extLst>
                  <a:ext uri="{FF2B5EF4-FFF2-40B4-BE49-F238E27FC236}">
                    <a16:creationId xmlns:a16="http://schemas.microsoft.com/office/drawing/2014/main" id="{D35D7DA3-F3B2-4BBA-AB02-50161BA34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8298" y="3140968"/>
                <a:ext cx="720080" cy="171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Rectangle 145">
                <a:extLst>
                  <a:ext uri="{FF2B5EF4-FFF2-40B4-BE49-F238E27FC236}">
                    <a16:creationId xmlns:a16="http://schemas.microsoft.com/office/drawing/2014/main" id="{873C0E44-8CD0-444C-8766-A79B22987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0585" y="2924944"/>
                <a:ext cx="575591" cy="431800"/>
              </a:xfrm>
              <a:prstGeom prst="rect">
                <a:avLst/>
              </a:prstGeom>
              <a:solidFill>
                <a:srgbClr val="FFCC66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altLang="zh-CN" sz="24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5</a:t>
                </a:r>
              </a:p>
            </p:txBody>
          </p:sp>
          <p:sp>
            <p:nvSpPr>
              <p:cNvPr id="14" name="Line 146">
                <a:extLst>
                  <a:ext uri="{FF2B5EF4-FFF2-40B4-BE49-F238E27FC236}">
                    <a16:creationId xmlns:a16="http://schemas.microsoft.com/office/drawing/2014/main" id="{B1B98234-9A53-4AB4-9102-FF685830A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60306" y="3140968"/>
                <a:ext cx="720279" cy="171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Line 147">
                <a:extLst>
                  <a:ext uri="{FF2B5EF4-FFF2-40B4-BE49-F238E27FC236}">
                    <a16:creationId xmlns:a16="http://schemas.microsoft.com/office/drawing/2014/main" id="{9125D63A-6661-4603-BC84-F55FC4ABF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6177" y="3140720"/>
                <a:ext cx="43224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Rectangle 148">
                <a:extLst>
                  <a:ext uri="{FF2B5EF4-FFF2-40B4-BE49-F238E27FC236}">
                    <a16:creationId xmlns:a16="http://schemas.microsoft.com/office/drawing/2014/main" id="{0FD40F7A-2E7A-4FB2-8438-5879A986E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7897" y="2493392"/>
                <a:ext cx="1151905" cy="4318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10ns</a:t>
                </a:r>
                <a:endPara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Rectangle 149">
                <a:extLst>
                  <a:ext uri="{FF2B5EF4-FFF2-40B4-BE49-F238E27FC236}">
                    <a16:creationId xmlns:a16="http://schemas.microsoft.com/office/drawing/2014/main" id="{651707CA-B9E4-497A-930E-B689D3609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4131" y="2493392"/>
                <a:ext cx="1008062" cy="4318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5ns</a:t>
                </a:r>
                <a:endPara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Rectangle 150">
                <a:extLst>
                  <a:ext uri="{FF2B5EF4-FFF2-40B4-BE49-F238E27FC236}">
                    <a16:creationId xmlns:a16="http://schemas.microsoft.com/office/drawing/2014/main" id="{3E71573B-1F7C-439B-8058-9C01F7D4D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259" y="2493392"/>
                <a:ext cx="1008062" cy="4318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5ns</a:t>
                </a:r>
                <a:endPara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Rectangle 151">
                <a:extLst>
                  <a:ext uri="{FF2B5EF4-FFF2-40B4-BE49-F238E27FC236}">
                    <a16:creationId xmlns:a16="http://schemas.microsoft.com/office/drawing/2014/main" id="{F402AB72-D627-4B42-B31F-2B8525D11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674" y="2493392"/>
                <a:ext cx="1151831" cy="4318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10ns</a:t>
                </a:r>
                <a:endPara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Rectangle 152">
                <a:extLst>
                  <a:ext uri="{FF2B5EF4-FFF2-40B4-BE49-F238E27FC236}">
                    <a16:creationId xmlns:a16="http://schemas.microsoft.com/office/drawing/2014/main" id="{4A02751A-6016-4169-8826-FF25CD368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4561" y="2493144"/>
                <a:ext cx="1008063" cy="4318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5ns</a:t>
                </a:r>
                <a:endPara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Rectangle 137">
                <a:extLst>
                  <a:ext uri="{FF2B5EF4-FFF2-40B4-BE49-F238E27FC236}">
                    <a16:creationId xmlns:a16="http://schemas.microsoft.com/office/drawing/2014/main" id="{8031090E-9391-4808-A328-C666E171D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7905" y="2924944"/>
                <a:ext cx="1152128" cy="431800"/>
              </a:xfrm>
              <a:prstGeom prst="rect">
                <a:avLst/>
              </a:prstGeom>
              <a:solidFill>
                <a:srgbClr val="CCFF99"/>
              </a:solidFill>
              <a:ln w="2857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altLang="zh-CN" sz="24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69893D-8609-44DF-8BE4-EC37D6A16BCD}"/>
                </a:ext>
              </a:extLst>
            </p:cNvPr>
            <p:cNvSpPr txBox="1"/>
            <p:nvPr/>
          </p:nvSpPr>
          <p:spPr bwMode="auto">
            <a:xfrm>
              <a:off x="1000272" y="2311678"/>
              <a:ext cx="1239122" cy="61555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ea typeface="宋体" pitchFamily="2" charset="-122"/>
                </a:rPr>
                <a:t>IF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(</a:t>
              </a:r>
              <a:r>
                <a:rPr lang="zh-CN" altLang="en-US" sz="2400" kern="0">
                  <a:ea typeface="宋体" pitchFamily="2" charset="-122"/>
                </a:rPr>
                <a:t>取指令</a:t>
              </a: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)</a:t>
              </a:r>
              <a:endParaRPr lang="zh-CN" altLang="en-US" sz="240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66A0EA8-C5D4-46C6-8E0B-0D77F8C87BD8}"/>
                </a:ext>
              </a:extLst>
            </p:cNvPr>
            <p:cNvSpPr txBox="1"/>
            <p:nvPr/>
          </p:nvSpPr>
          <p:spPr bwMode="auto">
            <a:xfrm>
              <a:off x="2512391" y="2311678"/>
              <a:ext cx="1393010" cy="9233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ea typeface="宋体" pitchFamily="2" charset="-122"/>
                </a:rPr>
                <a:t>ID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(</a:t>
              </a:r>
              <a:r>
                <a:rPr lang="zh-CN" altLang="en-US" sz="2400" kern="0">
                  <a:ea typeface="宋体" pitchFamily="2" charset="-122"/>
                </a:rPr>
                <a:t>译码</a:t>
              </a:r>
              <a:r>
                <a:rPr lang="en-US" altLang="zh-CN" sz="2400" kern="0">
                  <a:ea typeface="宋体" pitchFamily="2" charset="-122"/>
                </a:rPr>
                <a:t>/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zh-CN" altLang="en-US" sz="2400" kern="0">
                  <a:ea typeface="宋体" pitchFamily="2" charset="-122"/>
                </a:rPr>
                <a:t>读寄存器</a:t>
              </a: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)</a:t>
              </a:r>
              <a:endParaRPr lang="zh-CN" altLang="en-US" sz="240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933C368-5CBB-4B3C-A8BE-817C386E9ACD}"/>
                </a:ext>
              </a:extLst>
            </p:cNvPr>
            <p:cNvSpPr txBox="1"/>
            <p:nvPr/>
          </p:nvSpPr>
          <p:spPr bwMode="auto">
            <a:xfrm>
              <a:off x="3922097" y="2311678"/>
              <a:ext cx="929742" cy="61555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ea typeface="宋体" pitchFamily="2" charset="-122"/>
                </a:rPr>
                <a:t>EX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(</a:t>
              </a:r>
              <a:r>
                <a:rPr lang="zh-CN" altLang="en-US" sz="2400" kern="0">
                  <a:ea typeface="宋体" pitchFamily="2" charset="-122"/>
                </a:rPr>
                <a:t>执行</a:t>
              </a: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)</a:t>
              </a:r>
              <a:endParaRPr lang="zh-CN" altLang="en-US" sz="240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050F07D-C3D4-4D34-A8A1-A30007C9B50C}"/>
                </a:ext>
              </a:extLst>
            </p:cNvPr>
            <p:cNvSpPr txBox="1"/>
            <p:nvPr/>
          </p:nvSpPr>
          <p:spPr bwMode="auto">
            <a:xfrm>
              <a:off x="5264418" y="2311678"/>
              <a:ext cx="1393009" cy="9233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ea typeface="宋体" pitchFamily="2" charset="-122"/>
                </a:rPr>
                <a:t>MEM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(</a:t>
              </a:r>
              <a:r>
                <a:rPr lang="zh-CN" altLang="en-US" sz="2400" kern="0">
                  <a:ea typeface="宋体" pitchFamily="2" charset="-122"/>
                </a:rPr>
                <a:t>访问数据</a:t>
              </a:r>
              <a:endParaRPr lang="en-US" altLang="zh-CN" sz="2400" kern="0">
                <a:ea typeface="宋体" pitchFamily="2" charset="-122"/>
              </a:endParaRP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zh-CN" altLang="en-US" sz="2400" kern="0">
                  <a:ea typeface="宋体" pitchFamily="2" charset="-122"/>
                </a:rPr>
                <a:t>存储器</a:t>
              </a: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)</a:t>
              </a:r>
              <a:endParaRPr lang="zh-CN" altLang="en-US" sz="240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35EA1D0-0DEA-447D-ACE6-BC264744C079}"/>
                </a:ext>
              </a:extLst>
            </p:cNvPr>
            <p:cNvSpPr txBox="1"/>
            <p:nvPr/>
          </p:nvSpPr>
          <p:spPr bwMode="auto">
            <a:xfrm>
              <a:off x="6767915" y="2311678"/>
              <a:ext cx="1548501" cy="61555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ea typeface="宋体" pitchFamily="2" charset="-122"/>
                </a:rPr>
                <a:t>WB</a:t>
              </a:r>
            </a:p>
            <a:p>
              <a:pPr>
                <a:lnSpc>
                  <a:spcPts val="2400"/>
                </a:lnSpc>
                <a:spcBef>
                  <a:spcPts val="0"/>
                </a:spcBef>
              </a:pP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(</a:t>
              </a:r>
              <a:r>
                <a:rPr lang="zh-CN" altLang="en-US" sz="2400" kern="0">
                  <a:ea typeface="宋体" pitchFamily="2" charset="-122"/>
                </a:rPr>
                <a:t>写寄存器</a:t>
              </a:r>
              <a:r>
                <a:rPr lang="en-US" altLang="zh-CN" sz="2400" kern="0">
                  <a:latin typeface="新宋体" panose="02010609030101010101" pitchFamily="49" charset="-122"/>
                  <a:ea typeface="新宋体" panose="02010609030101010101" pitchFamily="49" charset="-122"/>
                </a:rPr>
                <a:t>)</a:t>
              </a:r>
              <a:endParaRPr lang="zh-CN" altLang="en-US" sz="240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3275F445-708B-41C8-8D04-B53676322541}"/>
              </a:ext>
            </a:extLst>
          </p:cNvPr>
          <p:cNvSpPr txBox="1">
            <a:spLocks/>
          </p:cNvSpPr>
          <p:nvPr/>
        </p:nvSpPr>
        <p:spPr bwMode="auto">
          <a:xfrm>
            <a:off x="926620" y="4171112"/>
            <a:ext cx="324319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I1:</a:t>
            </a:r>
            <a:r>
              <a:rPr lang="en-US" altLang="zh-CN" sz="2400" b="0" kern="0">
                <a:latin typeface="Consolas" panose="020B0609020204030204" pitchFamily="49" charset="0"/>
                <a:ea typeface="宋体" pitchFamily="2" charset="-122"/>
              </a:rPr>
              <a:t> addi a3,a3,4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I2:</a:t>
            </a:r>
            <a:r>
              <a:rPr lang="en-US" altLang="zh-CN" sz="24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400" b="0" kern="0">
                <a:latin typeface="Consolas" panose="020B0609020204030204" pitchFamily="49" charset="0"/>
              </a:rPr>
              <a:t>addi a4,a4,1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I3:</a:t>
            </a:r>
            <a:r>
              <a:rPr lang="en-US" altLang="zh-CN" sz="24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400" b="0" kern="0">
                <a:latin typeface="Consolas" panose="020B0609020204030204" pitchFamily="49" charset="0"/>
              </a:rPr>
              <a:t>slli </a:t>
            </a:r>
            <a:r>
              <a:rPr lang="en-US" altLang="zh-CN" sz="24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400" b="0" kern="0">
                <a:latin typeface="Consolas" panose="020B0609020204030204" pitchFamily="49" charset="0"/>
              </a:rPr>
              <a:t>,a5,0x2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I4:</a:t>
            </a:r>
            <a:r>
              <a:rPr lang="en-US" altLang="zh-CN" sz="24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400" b="0" kern="0">
                <a:latin typeface="Consolas" panose="020B0609020204030204" pitchFamily="49" charset="0"/>
              </a:rPr>
              <a:t>add </a:t>
            </a:r>
            <a:r>
              <a:rPr lang="en-US" altLang="zh-CN" sz="24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400" b="0" kern="0">
                <a:latin typeface="Consolas" panose="020B0609020204030204" pitchFamily="49" charset="0"/>
              </a:rPr>
              <a:t>,a0,</a:t>
            </a:r>
            <a:r>
              <a:rPr lang="en-US" altLang="zh-CN" sz="24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I5:</a:t>
            </a:r>
            <a:r>
              <a:rPr lang="en-US" altLang="zh-CN" sz="24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400" b="0" kern="0">
                <a:latin typeface="Consolas" panose="020B0609020204030204" pitchFamily="49" charset="0"/>
              </a:rPr>
              <a:t>sw a6,0(</a:t>
            </a:r>
            <a:r>
              <a:rPr lang="en-US" altLang="zh-CN" sz="24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400" b="0" kern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I6:</a:t>
            </a:r>
            <a:r>
              <a:rPr lang="en-US" altLang="zh-CN" sz="2400" b="0" kern="0">
                <a:latin typeface="Consolas" panose="020B0609020204030204" pitchFamily="49" charset="0"/>
              </a:rPr>
              <a:t> addi a2,a2,-4</a:t>
            </a:r>
            <a:endParaRPr lang="zh-CN" altLang="en-US" sz="2400" b="0" kern="0">
              <a:latin typeface="Consolas" panose="020B0609020204030204" pitchFamily="49" charset="0"/>
            </a:endParaRP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679C7F42-2C56-4384-958E-464EE3ED45A6}"/>
              </a:ext>
            </a:extLst>
          </p:cNvPr>
          <p:cNvSpPr txBox="1">
            <a:spLocks/>
          </p:cNvSpPr>
          <p:nvPr/>
        </p:nvSpPr>
        <p:spPr bwMode="auto">
          <a:xfrm>
            <a:off x="457200" y="3739064"/>
            <a:ext cx="59073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1</a:t>
            </a:r>
            <a:r>
              <a:rPr lang="zh-CN" altLang="en-US" sz="2400" kern="0">
                <a:ea typeface="宋体" pitchFamily="2" charset="-122"/>
              </a:rPr>
              <a:t>）画出该流水线执行下面程序的时空图。</a:t>
            </a:r>
            <a:endParaRPr lang="zh-CN" altLang="en-US" sz="2400" kern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07FCC68-D299-4A00-93FB-2A99B2B84180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678843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2A433-0505-4B81-9CE7-3ED1A549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91B7B-A5BB-400D-8D83-0F4BAD0A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666427"/>
            <a:ext cx="1733167" cy="400110"/>
          </a:xfrm>
        </p:spPr>
        <p:txBody>
          <a:bodyPr wrap="none">
            <a:spAutoFit/>
          </a:bodyPr>
          <a:lstStyle/>
          <a:p>
            <a:pPr marL="0" indent="0">
              <a:buFont typeface="Wingdings" pitchFamily="2" charset="2"/>
              <a:buNone/>
            </a:pPr>
            <a:r>
              <a:rPr lang="zh-CN" altLang="en-US" sz="2000" i="1" kern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异步时钟控制</a:t>
            </a:r>
            <a:endParaRPr lang="zh-CN" altLang="en-US" sz="2000" i="1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77B2E0-2E8B-4EF4-B347-7927CC7F7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3275F445-708B-41C8-8D04-B53676322541}"/>
              </a:ext>
            </a:extLst>
          </p:cNvPr>
          <p:cNvSpPr txBox="1">
            <a:spLocks/>
          </p:cNvSpPr>
          <p:nvPr/>
        </p:nvSpPr>
        <p:spPr bwMode="auto">
          <a:xfrm>
            <a:off x="6372200" y="908720"/>
            <a:ext cx="272382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I1: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addi a3,a3,4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I2: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addi a4,a4,1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I3: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slli </a:t>
            </a:r>
            <a:r>
              <a:rPr lang="en-US" altLang="zh-CN" sz="20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,a5,0x2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I4: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 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,a0,</a:t>
            </a:r>
            <a:r>
              <a:rPr lang="en-US" altLang="zh-CN" sz="20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I5: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sw a6,0(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</a:rPr>
              <a:t>I6:</a:t>
            </a:r>
            <a:r>
              <a:rPr lang="en-US" altLang="zh-CN" sz="2000" b="0" kern="0">
                <a:latin typeface="Consolas" panose="020B0609020204030204" pitchFamily="49" charset="0"/>
              </a:rPr>
              <a:t> addi a2,a2,-4</a:t>
            </a:r>
            <a:endParaRPr lang="zh-CN" altLang="en-US" sz="2000" b="0" kern="0">
              <a:latin typeface="Consolas" panose="020B0609020204030204" pitchFamily="49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B43873E-0DC0-4491-8A7E-F74B32FB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947268"/>
            <a:ext cx="6480720" cy="1689644"/>
          </a:xfrm>
          <a:prstGeom prst="rect">
            <a:avLst/>
          </a:prstGeom>
        </p:spPr>
      </p:pic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9C4F3CC8-3958-40AA-9C16-B36F1B5ADDE5}"/>
              </a:ext>
            </a:extLst>
          </p:cNvPr>
          <p:cNvSpPr txBox="1">
            <a:spLocks/>
          </p:cNvSpPr>
          <p:nvPr/>
        </p:nvSpPr>
        <p:spPr bwMode="auto">
          <a:xfrm>
            <a:off x="457200" y="2679303"/>
            <a:ext cx="59073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1</a:t>
            </a:r>
            <a:r>
              <a:rPr lang="zh-CN" altLang="en-US" sz="2400" kern="0">
                <a:ea typeface="宋体" pitchFamily="2" charset="-122"/>
              </a:rPr>
              <a:t>）画出该流水线执行下面程序的时空图。</a:t>
            </a:r>
            <a:endParaRPr lang="zh-CN" altLang="en-US" sz="2400" kern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78EA7B9-460A-4784-8C3A-862C4BCDD05C}"/>
              </a:ext>
            </a:extLst>
          </p:cNvPr>
          <p:cNvCxnSpPr>
            <a:cxnSpLocks/>
          </p:cNvCxnSpPr>
          <p:nvPr/>
        </p:nvCxnSpPr>
        <p:spPr bwMode="auto">
          <a:xfrm>
            <a:off x="7065576" y="3140968"/>
            <a:ext cx="0" cy="55393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8C5E7E3-FFAC-4F9B-AFBD-46BFD61C213E}"/>
              </a:ext>
            </a:extLst>
          </p:cNvPr>
          <p:cNvCxnSpPr>
            <a:cxnSpLocks/>
          </p:cNvCxnSpPr>
          <p:nvPr/>
        </p:nvCxnSpPr>
        <p:spPr bwMode="auto">
          <a:xfrm>
            <a:off x="7450155" y="3140968"/>
            <a:ext cx="0" cy="55393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1312C4C-BD17-4496-9F1D-5E685168B1FA}"/>
              </a:ext>
            </a:extLst>
          </p:cNvPr>
          <p:cNvCxnSpPr>
            <a:cxnSpLocks/>
          </p:cNvCxnSpPr>
          <p:nvPr/>
        </p:nvCxnSpPr>
        <p:spPr bwMode="auto">
          <a:xfrm>
            <a:off x="7065576" y="3212976"/>
            <a:ext cx="38457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6600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p:sp>
        <p:nvSpPr>
          <p:cNvPr id="51" name="内容占位符 2">
            <a:extLst>
              <a:ext uri="{FF2B5EF4-FFF2-40B4-BE49-F238E27FC236}">
                <a16:creationId xmlns:a16="http://schemas.microsoft.com/office/drawing/2014/main" id="{E8F71861-1DBF-4BD0-8A41-80059BC9FF30}"/>
              </a:ext>
            </a:extLst>
          </p:cNvPr>
          <p:cNvSpPr txBox="1">
            <a:spLocks/>
          </p:cNvSpPr>
          <p:nvPr/>
        </p:nvSpPr>
        <p:spPr bwMode="auto">
          <a:xfrm>
            <a:off x="7130288" y="2926766"/>
            <a:ext cx="245259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FF6600"/>
                </a:solidFill>
              </a:rPr>
              <a:t>Δt</a:t>
            </a:r>
            <a:endParaRPr lang="zh-CN" altLang="en-US" sz="2000" kern="0">
              <a:solidFill>
                <a:srgbClr val="FF660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9CA0DE6-AEA1-4D49-9738-E43E64063E31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4" name="表格 28">
            <a:extLst>
              <a:ext uri="{FF2B5EF4-FFF2-40B4-BE49-F238E27FC236}">
                <a16:creationId xmlns:a16="http://schemas.microsoft.com/office/drawing/2014/main" id="{85E546B2-C7B5-44D5-84B1-492BCBD82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456046"/>
              </p:ext>
            </p:extLst>
          </p:nvPr>
        </p:nvGraphicFramePr>
        <p:xfrm>
          <a:off x="420032" y="3697285"/>
          <a:ext cx="8507286" cy="2097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91004535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009869526"/>
                    </a:ext>
                  </a:extLst>
                </a:gridCol>
              </a:tblGrid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21120"/>
                  </a:ext>
                </a:extLst>
              </a:tr>
            </a:tbl>
          </a:graphicData>
        </a:graphic>
      </p:graphicFrame>
      <p:graphicFrame>
        <p:nvGraphicFramePr>
          <p:cNvPr id="55" name="表格 28">
            <a:extLst>
              <a:ext uri="{FF2B5EF4-FFF2-40B4-BE49-F238E27FC236}">
                <a16:creationId xmlns:a16="http://schemas.microsoft.com/office/drawing/2014/main" id="{8F1B7234-C1BC-423C-BB42-03173B38E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86376"/>
              </p:ext>
            </p:extLst>
          </p:nvPr>
        </p:nvGraphicFramePr>
        <p:xfrm>
          <a:off x="35496" y="3697286"/>
          <a:ext cx="384535" cy="209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535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</a:tblGrid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I3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77533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I4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I5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I6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</a:tbl>
          </a:graphicData>
        </a:graphic>
      </p:graphicFrame>
      <p:graphicFrame>
        <p:nvGraphicFramePr>
          <p:cNvPr id="56" name="表格 28">
            <a:extLst>
              <a:ext uri="{FF2B5EF4-FFF2-40B4-BE49-F238E27FC236}">
                <a16:creationId xmlns:a16="http://schemas.microsoft.com/office/drawing/2014/main" id="{6CCCB05F-F07E-4A7B-BCCF-347E9A605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71848"/>
              </p:ext>
            </p:extLst>
          </p:nvPr>
        </p:nvGraphicFramePr>
        <p:xfrm>
          <a:off x="420031" y="3377465"/>
          <a:ext cx="8507286" cy="31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96316449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73991436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</a:tblGrid>
              <a:tr h="312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</a:tbl>
          </a:graphicData>
        </a:graphic>
      </p:graphicFrame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E1B5F3A1-0077-4789-A55D-83D0F258731D}"/>
              </a:ext>
            </a:extLst>
          </p:cNvPr>
          <p:cNvSpPr txBox="1">
            <a:spLocks/>
          </p:cNvSpPr>
          <p:nvPr/>
        </p:nvSpPr>
        <p:spPr bwMode="auto">
          <a:xfrm>
            <a:off x="8087907" y="3789040"/>
            <a:ext cx="1020597" cy="5040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时间</a:t>
            </a:r>
            <a:endParaRPr lang="en-US" altLang="zh-CN" sz="2000" kern="0">
              <a:solidFill>
                <a:srgbClr val="009900"/>
              </a:solidFill>
              <a:ea typeface="宋体" pitchFamily="2" charset="-122"/>
            </a:endParaRP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009900"/>
                </a:solidFill>
              </a:rPr>
              <a:t>Δt</a:t>
            </a:r>
            <a:r>
              <a:rPr lang="zh-CN" altLang="en-US" sz="2000" kern="0">
                <a:solidFill>
                  <a:srgbClr val="009900"/>
                </a:solidFill>
              </a:rPr>
              <a:t>＝</a:t>
            </a:r>
            <a:r>
              <a:rPr lang="en-US" altLang="zh-CN" sz="2000" kern="0">
                <a:solidFill>
                  <a:srgbClr val="009900"/>
                </a:solidFill>
              </a:rPr>
              <a:t>5ns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C8B2C611-C333-4F14-868B-BFBE65FA5657}"/>
              </a:ext>
            </a:extLst>
          </p:cNvPr>
          <p:cNvSpPr txBox="1">
            <a:spLocks/>
          </p:cNvSpPr>
          <p:nvPr/>
        </p:nvSpPr>
        <p:spPr bwMode="auto">
          <a:xfrm>
            <a:off x="298364" y="5627190"/>
            <a:ext cx="946448" cy="5125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空间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8DB77C5-F445-4C1F-9289-F63DFC687827}"/>
              </a:ext>
            </a:extLst>
          </p:cNvPr>
          <p:cNvCxnSpPr>
            <a:cxnSpLocks/>
          </p:cNvCxnSpPr>
          <p:nvPr/>
        </p:nvCxnSpPr>
        <p:spPr bwMode="auto">
          <a:xfrm>
            <a:off x="420034" y="3697287"/>
            <a:ext cx="8675989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CE67A33-B5C8-4ACB-B5C7-8EE22ADBEC34}"/>
              </a:ext>
            </a:extLst>
          </p:cNvPr>
          <p:cNvCxnSpPr>
            <a:cxnSpLocks/>
          </p:cNvCxnSpPr>
          <p:nvPr/>
        </p:nvCxnSpPr>
        <p:spPr bwMode="auto">
          <a:xfrm>
            <a:off x="420034" y="3697287"/>
            <a:ext cx="0" cy="2304256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77EE06C4-91A6-40B5-8B65-28E8618CF8AF}"/>
              </a:ext>
            </a:extLst>
          </p:cNvPr>
          <p:cNvSpPr/>
          <p:nvPr/>
        </p:nvSpPr>
        <p:spPr bwMode="auto">
          <a:xfrm>
            <a:off x="437367" y="3714293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C4B35-5937-450E-B89E-35695D10C58D}"/>
              </a:ext>
            </a:extLst>
          </p:cNvPr>
          <p:cNvSpPr/>
          <p:nvPr/>
        </p:nvSpPr>
        <p:spPr bwMode="auto">
          <a:xfrm>
            <a:off x="1174455" y="4060980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E20A72-B65B-4DD8-8FE2-81E82F0DF121}"/>
              </a:ext>
            </a:extLst>
          </p:cNvPr>
          <p:cNvSpPr/>
          <p:nvPr/>
        </p:nvSpPr>
        <p:spPr bwMode="auto">
          <a:xfrm>
            <a:off x="1915202" y="4410817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E10015-EA89-419D-8A80-753AD9CCDF71}"/>
              </a:ext>
            </a:extLst>
          </p:cNvPr>
          <p:cNvSpPr/>
          <p:nvPr/>
        </p:nvSpPr>
        <p:spPr bwMode="auto">
          <a:xfrm>
            <a:off x="2653721" y="4760219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D7EF52-9B42-4ECB-A712-2F83E1DA71FC}"/>
              </a:ext>
            </a:extLst>
          </p:cNvPr>
          <p:cNvSpPr/>
          <p:nvPr/>
        </p:nvSpPr>
        <p:spPr bwMode="auto">
          <a:xfrm>
            <a:off x="4506051" y="5109711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D343C6-7F3B-439C-8E5E-E91FC9F559B8}"/>
              </a:ext>
            </a:extLst>
          </p:cNvPr>
          <p:cNvSpPr/>
          <p:nvPr/>
        </p:nvSpPr>
        <p:spPr bwMode="auto">
          <a:xfrm>
            <a:off x="1913791" y="3714293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FC149F-6888-4646-B821-08431B84C7C5}"/>
              </a:ext>
            </a:extLst>
          </p:cNvPr>
          <p:cNvSpPr/>
          <p:nvPr/>
        </p:nvSpPr>
        <p:spPr bwMode="auto">
          <a:xfrm>
            <a:off x="2653722" y="4061975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6306DD-C02C-4283-A319-CA6BABDA6C41}"/>
              </a:ext>
            </a:extLst>
          </p:cNvPr>
          <p:cNvSpPr/>
          <p:nvPr/>
        </p:nvSpPr>
        <p:spPr bwMode="auto">
          <a:xfrm>
            <a:off x="3395487" y="4410204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FF414A-AA7E-4471-B2A9-8D58526E2B77}"/>
              </a:ext>
            </a:extLst>
          </p:cNvPr>
          <p:cNvSpPr/>
          <p:nvPr/>
        </p:nvSpPr>
        <p:spPr bwMode="auto">
          <a:xfrm>
            <a:off x="5247749" y="4760088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4FFC24-5411-46EE-88B9-232F0367B4A5}"/>
              </a:ext>
            </a:extLst>
          </p:cNvPr>
          <p:cNvSpPr/>
          <p:nvPr/>
        </p:nvSpPr>
        <p:spPr bwMode="auto">
          <a:xfrm>
            <a:off x="7097457" y="5108648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28AAF1-BECC-4355-8FB4-C81E2901DCDB}"/>
              </a:ext>
            </a:extLst>
          </p:cNvPr>
          <p:cNvSpPr/>
          <p:nvPr/>
        </p:nvSpPr>
        <p:spPr bwMode="auto">
          <a:xfrm>
            <a:off x="2650853" y="3714293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1008682-8B89-44BB-971E-B35261E378C3}"/>
              </a:ext>
            </a:extLst>
          </p:cNvPr>
          <p:cNvSpPr/>
          <p:nvPr/>
        </p:nvSpPr>
        <p:spPr bwMode="auto">
          <a:xfrm>
            <a:off x="3393383" y="4061111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90DD73-B985-4656-B56A-9FEBA0BDA4F2}"/>
              </a:ext>
            </a:extLst>
          </p:cNvPr>
          <p:cNvSpPr/>
          <p:nvPr/>
        </p:nvSpPr>
        <p:spPr bwMode="auto">
          <a:xfrm>
            <a:off x="4133486" y="4411108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08F619-17F4-4790-BD20-48957E271DB1}"/>
              </a:ext>
            </a:extLst>
          </p:cNvPr>
          <p:cNvSpPr/>
          <p:nvPr/>
        </p:nvSpPr>
        <p:spPr bwMode="auto">
          <a:xfrm>
            <a:off x="5983691" y="4759093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E0DFC2F-4AEB-4094-BAA0-09C5EB92062D}"/>
              </a:ext>
            </a:extLst>
          </p:cNvPr>
          <p:cNvSpPr/>
          <p:nvPr/>
        </p:nvSpPr>
        <p:spPr bwMode="auto">
          <a:xfrm>
            <a:off x="7834337" y="5108823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39DA069-161A-466D-9751-C280F50775A8}"/>
              </a:ext>
            </a:extLst>
          </p:cNvPr>
          <p:cNvSpPr/>
          <p:nvPr/>
        </p:nvSpPr>
        <p:spPr bwMode="auto">
          <a:xfrm>
            <a:off x="1541289" y="3714293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10DB61E-C2B5-464D-9C59-B73E391A83E3}"/>
              </a:ext>
            </a:extLst>
          </p:cNvPr>
          <p:cNvSpPr/>
          <p:nvPr/>
        </p:nvSpPr>
        <p:spPr bwMode="auto">
          <a:xfrm>
            <a:off x="2281814" y="4063284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BA54FE7-E025-48B6-9368-7116CDA5EFC7}"/>
              </a:ext>
            </a:extLst>
          </p:cNvPr>
          <p:cNvSpPr/>
          <p:nvPr/>
        </p:nvSpPr>
        <p:spPr bwMode="auto">
          <a:xfrm>
            <a:off x="3022848" y="4411345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8E50CEE-80B2-4DFC-982A-B96676B895E2}"/>
              </a:ext>
            </a:extLst>
          </p:cNvPr>
          <p:cNvSpPr/>
          <p:nvPr/>
        </p:nvSpPr>
        <p:spPr bwMode="auto">
          <a:xfrm>
            <a:off x="4873484" y="4760908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1E2172B-09BF-439B-B4AA-5683AABEBB06}"/>
              </a:ext>
            </a:extLst>
          </p:cNvPr>
          <p:cNvSpPr/>
          <p:nvPr/>
        </p:nvSpPr>
        <p:spPr bwMode="auto">
          <a:xfrm>
            <a:off x="6726308" y="5107672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31F4E56-8D47-4DE7-B6CD-8A6DA2C97059}"/>
              </a:ext>
            </a:extLst>
          </p:cNvPr>
          <p:cNvSpPr/>
          <p:nvPr/>
        </p:nvSpPr>
        <p:spPr bwMode="auto">
          <a:xfrm>
            <a:off x="6356784" y="5109665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687C3EA-9528-476B-BE6E-14A7ECA84CF8}"/>
              </a:ext>
            </a:extLst>
          </p:cNvPr>
          <p:cNvSpPr/>
          <p:nvPr/>
        </p:nvSpPr>
        <p:spPr bwMode="auto">
          <a:xfrm>
            <a:off x="4502697" y="4758663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C3BF39D-552C-4260-93F5-873A897E71A2}"/>
              </a:ext>
            </a:extLst>
          </p:cNvPr>
          <p:cNvSpPr/>
          <p:nvPr/>
        </p:nvSpPr>
        <p:spPr bwMode="auto">
          <a:xfrm>
            <a:off x="2651430" y="4411153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50168C-5908-4E91-BC08-727A96F93205}"/>
              </a:ext>
            </a:extLst>
          </p:cNvPr>
          <p:cNvSpPr/>
          <p:nvPr/>
        </p:nvSpPr>
        <p:spPr bwMode="auto">
          <a:xfrm>
            <a:off x="1910133" y="4063088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5EA570F-6B2D-4833-A743-F1BC0A42F3AD}"/>
              </a:ext>
            </a:extLst>
          </p:cNvPr>
          <p:cNvSpPr/>
          <p:nvPr/>
        </p:nvSpPr>
        <p:spPr bwMode="auto">
          <a:xfrm>
            <a:off x="1172172" y="3714440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4653F7A-62FF-4720-B137-E873156BF951}"/>
              </a:ext>
            </a:extLst>
          </p:cNvPr>
          <p:cNvSpPr/>
          <p:nvPr/>
        </p:nvSpPr>
        <p:spPr bwMode="auto">
          <a:xfrm>
            <a:off x="6356753" y="5461099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DFF65B5-57AB-465E-9A5B-A07CA8572973}"/>
              </a:ext>
            </a:extLst>
          </p:cNvPr>
          <p:cNvSpPr/>
          <p:nvPr/>
        </p:nvSpPr>
        <p:spPr bwMode="auto">
          <a:xfrm>
            <a:off x="7836586" y="5459903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3BB8226-1D85-42D3-982F-37B46D744A8B}"/>
              </a:ext>
            </a:extLst>
          </p:cNvPr>
          <p:cNvSpPr/>
          <p:nvPr/>
        </p:nvSpPr>
        <p:spPr bwMode="auto">
          <a:xfrm>
            <a:off x="8573466" y="5460078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4E02CC2-4DB3-4A6A-A5B0-B8B623CC276B}"/>
              </a:ext>
            </a:extLst>
          </p:cNvPr>
          <p:cNvSpPr/>
          <p:nvPr/>
        </p:nvSpPr>
        <p:spPr bwMode="auto">
          <a:xfrm>
            <a:off x="7464246" y="5458927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A507676-8629-435A-9E54-B0252A583980}"/>
              </a:ext>
            </a:extLst>
          </p:cNvPr>
          <p:cNvSpPr/>
          <p:nvPr/>
        </p:nvSpPr>
        <p:spPr bwMode="auto">
          <a:xfrm>
            <a:off x="7094722" y="5460920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262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500"/>
                            </p:stCondLst>
                            <p:childTnLst>
                              <p:par>
                                <p:cTn id="2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7" grpId="0" animBg="1"/>
      <p:bldP spid="58" grpId="0" animBg="1"/>
      <p:bldP spid="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2" grpId="0" animBg="1"/>
      <p:bldP spid="34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2A433-0505-4B81-9CE7-3ED1A549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91B7B-A5BB-400D-8D83-0F4BAD0A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666427"/>
            <a:ext cx="1733167" cy="400110"/>
          </a:xfrm>
        </p:spPr>
        <p:txBody>
          <a:bodyPr wrap="none">
            <a:spAutoFit/>
          </a:bodyPr>
          <a:lstStyle/>
          <a:p>
            <a:pPr marL="0" indent="0">
              <a:buFont typeface="Wingdings" pitchFamily="2" charset="2"/>
              <a:buNone/>
            </a:pPr>
            <a:r>
              <a:rPr lang="zh-CN" altLang="en-US" sz="2000" i="1" kern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异步时钟控制</a:t>
            </a:r>
            <a:endParaRPr lang="zh-CN" altLang="en-US" sz="2000" i="1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77B2E0-2E8B-4EF4-B347-7927CC7F7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B43873E-0DC0-4491-8A7E-F74B32FB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947268"/>
            <a:ext cx="6480720" cy="1689644"/>
          </a:xfrm>
          <a:prstGeom prst="rect">
            <a:avLst/>
          </a:prstGeom>
        </p:spPr>
      </p:pic>
      <p:graphicFrame>
        <p:nvGraphicFramePr>
          <p:cNvPr id="28" name="表格 28">
            <a:extLst>
              <a:ext uri="{FF2B5EF4-FFF2-40B4-BE49-F238E27FC236}">
                <a16:creationId xmlns:a16="http://schemas.microsoft.com/office/drawing/2014/main" id="{D63CB780-A4D2-4CA8-B97B-BEEE87431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005036"/>
              </p:ext>
            </p:extLst>
          </p:nvPr>
        </p:nvGraphicFramePr>
        <p:xfrm>
          <a:off x="420032" y="3697285"/>
          <a:ext cx="8507286" cy="2097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91004535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009869526"/>
                    </a:ext>
                  </a:extLst>
                </a:gridCol>
              </a:tblGrid>
              <a:tr h="349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mem</a:t>
                      </a:r>
                      <a:endParaRPr lang="zh-CN" altLang="en-US" sz="12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WB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321120"/>
                  </a:ext>
                </a:extLst>
              </a:tr>
            </a:tbl>
          </a:graphicData>
        </a:graphic>
      </p:graphicFrame>
      <p:graphicFrame>
        <p:nvGraphicFramePr>
          <p:cNvPr id="37" name="表格 28">
            <a:extLst>
              <a:ext uri="{FF2B5EF4-FFF2-40B4-BE49-F238E27FC236}">
                <a16:creationId xmlns:a16="http://schemas.microsoft.com/office/drawing/2014/main" id="{5687600E-AFE4-45A8-8884-71D1436E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028931"/>
              </p:ext>
            </p:extLst>
          </p:nvPr>
        </p:nvGraphicFramePr>
        <p:xfrm>
          <a:off x="35496" y="3697286"/>
          <a:ext cx="384535" cy="209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535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</a:tblGrid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I3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77533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I4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I5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I6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</a:tbl>
          </a:graphicData>
        </a:graphic>
      </p:graphicFrame>
      <p:graphicFrame>
        <p:nvGraphicFramePr>
          <p:cNvPr id="38" name="表格 28">
            <a:extLst>
              <a:ext uri="{FF2B5EF4-FFF2-40B4-BE49-F238E27FC236}">
                <a16:creationId xmlns:a16="http://schemas.microsoft.com/office/drawing/2014/main" id="{690AEEF7-488A-410A-8CE1-7F8445909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678461"/>
              </p:ext>
            </p:extLst>
          </p:nvPr>
        </p:nvGraphicFramePr>
        <p:xfrm>
          <a:off x="420031" y="3377465"/>
          <a:ext cx="8507286" cy="31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96316449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73991436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</a:tblGrid>
              <a:tr h="312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</a:tbl>
          </a:graphicData>
        </a:graphic>
      </p:graphicFrame>
      <p:sp>
        <p:nvSpPr>
          <p:cNvPr id="39" name="内容占位符 2">
            <a:extLst>
              <a:ext uri="{FF2B5EF4-FFF2-40B4-BE49-F238E27FC236}">
                <a16:creationId xmlns:a16="http://schemas.microsoft.com/office/drawing/2014/main" id="{6B4C4FE8-61A6-4899-BF5D-8A071BED8F94}"/>
              </a:ext>
            </a:extLst>
          </p:cNvPr>
          <p:cNvSpPr txBox="1">
            <a:spLocks/>
          </p:cNvSpPr>
          <p:nvPr/>
        </p:nvSpPr>
        <p:spPr bwMode="auto">
          <a:xfrm>
            <a:off x="8087907" y="3789040"/>
            <a:ext cx="1020597" cy="5040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时间</a:t>
            </a:r>
            <a:endParaRPr lang="en-US" altLang="zh-CN" sz="2000" kern="0">
              <a:solidFill>
                <a:srgbClr val="009900"/>
              </a:solidFill>
              <a:ea typeface="宋体" pitchFamily="2" charset="-122"/>
            </a:endParaRP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009900"/>
                </a:solidFill>
              </a:rPr>
              <a:t>Δt</a:t>
            </a:r>
            <a:r>
              <a:rPr lang="zh-CN" altLang="en-US" sz="2000" kern="0">
                <a:solidFill>
                  <a:srgbClr val="009900"/>
                </a:solidFill>
              </a:rPr>
              <a:t>＝</a:t>
            </a:r>
            <a:r>
              <a:rPr lang="en-US" altLang="zh-CN" sz="2000" kern="0">
                <a:solidFill>
                  <a:srgbClr val="009900"/>
                </a:solidFill>
              </a:rPr>
              <a:t>5ns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9C4F3CC8-3958-40AA-9C16-B36F1B5ADDE5}"/>
              </a:ext>
            </a:extLst>
          </p:cNvPr>
          <p:cNvSpPr txBox="1">
            <a:spLocks/>
          </p:cNvSpPr>
          <p:nvPr/>
        </p:nvSpPr>
        <p:spPr bwMode="auto">
          <a:xfrm>
            <a:off x="457200" y="2679303"/>
            <a:ext cx="59073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1</a:t>
            </a:r>
            <a:r>
              <a:rPr lang="zh-CN" altLang="en-US" sz="2400" kern="0">
                <a:ea typeface="宋体" pitchFamily="2" charset="-122"/>
              </a:rPr>
              <a:t>）画出该流水线执行下面程序的时空图。</a:t>
            </a:r>
            <a:endParaRPr lang="zh-CN" altLang="en-US" sz="2400" kern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579F7F-DC06-4942-A45A-5C0CD339D78F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3275F445-708B-41C8-8D04-B53676322541}"/>
              </a:ext>
            </a:extLst>
          </p:cNvPr>
          <p:cNvSpPr txBox="1">
            <a:spLocks/>
          </p:cNvSpPr>
          <p:nvPr/>
        </p:nvSpPr>
        <p:spPr bwMode="auto">
          <a:xfrm>
            <a:off x="6372200" y="908720"/>
            <a:ext cx="272382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I1: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addi a3,a3,4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I2: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addi a4,a4,1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I3: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slli </a:t>
            </a:r>
            <a:r>
              <a:rPr lang="en-US" altLang="zh-CN" sz="20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,a5,0x2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I4: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 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,a0,</a:t>
            </a:r>
            <a:r>
              <a:rPr lang="en-US" altLang="zh-CN" sz="2000" b="0" kern="0">
                <a:solidFill>
                  <a:srgbClr val="0000FF"/>
                </a:solidFill>
                <a:latin typeface="Consolas" panose="020B0609020204030204" pitchFamily="49" charset="0"/>
              </a:rPr>
              <a:t>a5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I5: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sw a6,0(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</a:rPr>
              <a:t>I6:</a:t>
            </a:r>
            <a:r>
              <a:rPr lang="en-US" altLang="zh-CN" sz="2000" b="0" kern="0">
                <a:latin typeface="Consolas" panose="020B0609020204030204" pitchFamily="49" charset="0"/>
              </a:rPr>
              <a:t> addi a2,a2,-4</a:t>
            </a:r>
            <a:endParaRPr lang="zh-CN" altLang="en-US" sz="2000" b="0" kern="0">
              <a:latin typeface="Consolas" panose="020B0609020204030204" pitchFamily="49" charset="0"/>
            </a:endParaRP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679C7F42-2C56-4384-958E-464EE3ED45A6}"/>
              </a:ext>
            </a:extLst>
          </p:cNvPr>
          <p:cNvSpPr txBox="1">
            <a:spLocks/>
          </p:cNvSpPr>
          <p:nvPr/>
        </p:nvSpPr>
        <p:spPr bwMode="auto">
          <a:xfrm>
            <a:off x="298364" y="5627190"/>
            <a:ext cx="946448" cy="5125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空间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D119941-084B-401C-B32D-D3589B77CCF7}"/>
              </a:ext>
            </a:extLst>
          </p:cNvPr>
          <p:cNvCxnSpPr>
            <a:cxnSpLocks/>
          </p:cNvCxnSpPr>
          <p:nvPr/>
        </p:nvCxnSpPr>
        <p:spPr bwMode="auto">
          <a:xfrm>
            <a:off x="420034" y="3697287"/>
            <a:ext cx="8675989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A33F2A5-1D4F-424C-AD06-171E8B5239A6}"/>
              </a:ext>
            </a:extLst>
          </p:cNvPr>
          <p:cNvCxnSpPr>
            <a:cxnSpLocks/>
          </p:cNvCxnSpPr>
          <p:nvPr/>
        </p:nvCxnSpPr>
        <p:spPr bwMode="auto">
          <a:xfrm>
            <a:off x="420034" y="3697287"/>
            <a:ext cx="0" cy="2304256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27007823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77B2E0-2E8B-4EF4-B347-7927CC7F7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9C4F3CC8-3958-40AA-9C16-B36F1B5ADDE5}"/>
              </a:ext>
            </a:extLst>
          </p:cNvPr>
          <p:cNvSpPr txBox="1">
            <a:spLocks/>
          </p:cNvSpPr>
          <p:nvPr/>
        </p:nvSpPr>
        <p:spPr bwMode="auto">
          <a:xfrm>
            <a:off x="107504" y="1152139"/>
            <a:ext cx="868679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2</a:t>
            </a:r>
            <a:r>
              <a:rPr lang="zh-CN" altLang="en-US" sz="2400" kern="0">
                <a:ea typeface="宋体" pitchFamily="2" charset="-122"/>
              </a:rPr>
              <a:t>）该</a:t>
            </a:r>
            <a:r>
              <a:rPr lang="en-US" altLang="zh-CN" sz="2400" kern="0">
                <a:ea typeface="宋体" pitchFamily="2" charset="-122"/>
              </a:rPr>
              <a:t>CPU</a:t>
            </a:r>
            <a:r>
              <a:rPr lang="zh-CN" altLang="en-US" sz="2400" kern="0">
                <a:ea typeface="宋体" pitchFamily="2" charset="-122"/>
              </a:rPr>
              <a:t>采用非流水线时，为单周期结构，</a:t>
            </a:r>
            <a:br>
              <a:rPr lang="en-US" altLang="zh-CN" sz="2400" kern="0">
                <a:ea typeface="宋体" pitchFamily="2" charset="-122"/>
              </a:rPr>
            </a:br>
            <a:r>
              <a:rPr lang="zh-CN" altLang="en-US" sz="2400" kern="0">
                <a:ea typeface="宋体" pitchFamily="2" charset="-122"/>
              </a:rPr>
              <a:t>时钟周期为 </a:t>
            </a:r>
            <a:r>
              <a:rPr lang="en-US" altLang="zh-CN" sz="2400" kern="0">
                <a:ea typeface="宋体" pitchFamily="2" charset="-122"/>
              </a:rPr>
              <a:t>addi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slli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add</a:t>
            </a:r>
            <a:r>
              <a:rPr lang="zh-CN" altLang="en-US" sz="2400" kern="0">
                <a:ea typeface="宋体" pitchFamily="2" charset="-122"/>
              </a:rPr>
              <a:t>、</a:t>
            </a:r>
            <a:r>
              <a:rPr lang="en-US" altLang="zh-CN" sz="2400" kern="0">
                <a:ea typeface="宋体" pitchFamily="2" charset="-122"/>
              </a:rPr>
              <a:t>sw </a:t>
            </a:r>
            <a:r>
              <a:rPr lang="zh-CN" altLang="en-US" sz="2400" kern="0">
                <a:ea typeface="宋体" pitchFamily="2" charset="-122"/>
              </a:rPr>
              <a:t>指令中处理</a:t>
            </a:r>
            <a:br>
              <a:rPr lang="en-US" altLang="zh-CN" sz="2400" kern="0">
                <a:ea typeface="宋体" pitchFamily="2" charset="-122"/>
              </a:rPr>
            </a:br>
            <a:r>
              <a:rPr lang="zh-CN" altLang="en-US" sz="2400" kern="0">
                <a:ea typeface="宋体" pitchFamily="2" charset="-122"/>
              </a:rPr>
              <a:t>时间最长的。求此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级指令流水线执行上述代码时的实际吞吐率、加速比、效率。</a:t>
            </a:r>
            <a:endParaRPr lang="zh-CN" altLang="en-US" sz="2400" kern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B8ADB70-CC2D-4ACA-8DFC-CCC35FD3F0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02" r="2222" b="40336"/>
          <a:stretch/>
        </p:blipFill>
        <p:spPr>
          <a:xfrm>
            <a:off x="35496" y="260648"/>
            <a:ext cx="6336704" cy="891491"/>
          </a:xfrm>
          <a:prstGeom prst="rect">
            <a:avLst/>
          </a:prstGeom>
        </p:spPr>
      </p:pic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3275F445-708B-41C8-8D04-B53676322541}"/>
              </a:ext>
            </a:extLst>
          </p:cNvPr>
          <p:cNvSpPr txBox="1">
            <a:spLocks/>
          </p:cNvSpPr>
          <p:nvPr/>
        </p:nvSpPr>
        <p:spPr bwMode="auto">
          <a:xfrm>
            <a:off x="6312673" y="44624"/>
            <a:ext cx="2723823" cy="193899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I1: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  <a:hlinkClick r:id="rId3" action="ppaction://hlinksldjump"/>
              </a:rPr>
              <a:t>addi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a3,a3,4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I2: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addi a4,a4,1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I3: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slli </a:t>
            </a:r>
            <a:r>
              <a:rPr lang="en-US" altLang="zh-CN" sz="2000" b="0" kern="0">
                <a:solidFill>
                  <a:srgbClr val="009900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,a5,0x2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I4: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</a:rPr>
              <a:t>add 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,a0,</a:t>
            </a:r>
            <a:r>
              <a:rPr lang="en-US" altLang="zh-CN" sz="2000" b="0" kern="0">
                <a:solidFill>
                  <a:srgbClr val="009900"/>
                </a:solidFill>
                <a:latin typeface="Consolas" panose="020B0609020204030204" pitchFamily="49" charset="0"/>
              </a:rPr>
              <a:t>a5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I5:</a:t>
            </a:r>
            <a:r>
              <a:rPr lang="en-US" altLang="zh-CN" sz="20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0" kern="0">
                <a:latin typeface="Consolas" panose="020B0609020204030204" pitchFamily="49" charset="0"/>
                <a:hlinkClick r:id="rId4" action="ppaction://hlinksldjump"/>
              </a:rPr>
              <a:t>sw</a:t>
            </a:r>
            <a:r>
              <a:rPr lang="en-US" altLang="zh-CN" sz="2000" b="0" kern="0">
                <a:latin typeface="Consolas" panose="020B0609020204030204" pitchFamily="49" charset="0"/>
              </a:rPr>
              <a:t> a6,0(</a:t>
            </a:r>
            <a:r>
              <a:rPr lang="en-US" altLang="zh-CN" sz="20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2000" b="0" kern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b="0" kern="0">
                <a:solidFill>
                  <a:srgbClr val="FF0000"/>
                </a:solidFill>
                <a:latin typeface="Consolas" panose="020B0609020204030204" pitchFamily="49" charset="0"/>
              </a:rPr>
              <a:t>I6:</a:t>
            </a:r>
            <a:r>
              <a:rPr lang="en-US" altLang="zh-CN" sz="2000" b="0" kern="0">
                <a:latin typeface="Consolas" panose="020B0609020204030204" pitchFamily="49" charset="0"/>
              </a:rPr>
              <a:t> addi a2,a2,-4</a:t>
            </a:r>
            <a:endParaRPr lang="zh-CN" altLang="en-US" sz="2000" b="0" kern="0">
              <a:latin typeface="Consolas" panose="020B0609020204030204" pitchFamily="49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D13E3FF-3B88-48CC-AC47-AE9C96DB3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574" y="2327745"/>
            <a:ext cx="23487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T</a:t>
            </a:r>
            <a:r>
              <a:rPr lang="en-US" altLang="zh-CN" sz="2400" kern="0" baseline="-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1</a:t>
            </a:r>
            <a:r>
              <a:rPr lang="en-US" altLang="zh-CN" sz="2400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</a:rPr>
              <a:t> </a:t>
            </a:r>
            <a:r>
              <a:rPr lang="en-US" altLang="zh-CN" sz="2400" kern="0">
                <a:solidFill>
                  <a:srgbClr val="000000"/>
                </a:solidFill>
              </a:rPr>
              <a:t>= </a:t>
            </a:r>
            <a:r>
              <a:rPr lang="en-US" altLang="zh-CN" sz="2400" kern="0">
                <a:solidFill>
                  <a:srgbClr val="FF0000"/>
                </a:solidFill>
              </a:rPr>
              <a:t>30ns</a:t>
            </a:r>
            <a:r>
              <a:rPr lang="en-US" altLang="zh-CN" sz="2400" kern="0">
                <a:solidFill>
                  <a:srgbClr val="000000"/>
                </a:solidFill>
              </a:rPr>
              <a:t>×</a:t>
            </a:r>
            <a:r>
              <a:rPr lang="en-US" altLang="zh-CN" sz="2400" kern="0"/>
              <a:t>6</a:t>
            </a:r>
            <a:endParaRPr lang="en-US" altLang="zh-CN" sz="2400" kern="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6443A6-F63F-4E35-997B-F1C78C64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574" y="2749321"/>
            <a:ext cx="19912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T</a:t>
            </a:r>
            <a:r>
              <a:rPr lang="en-US" altLang="zh-CN" sz="2400" kern="0" baseline="-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5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>
                <a:solidFill>
                  <a:srgbClr val="000000"/>
                </a:solidFill>
              </a:rPr>
              <a:t> = 23·</a:t>
            </a:r>
            <a:r>
              <a:rPr lang="el-GR" altLang="zh-CN" sz="2400" kern="0">
                <a:solidFill>
                  <a:srgbClr val="000000"/>
                </a:solidFill>
              </a:rPr>
              <a:t>Δ</a:t>
            </a:r>
            <a:r>
              <a:rPr lang="en-US" altLang="zh-CN" sz="2400" kern="0">
                <a:solidFill>
                  <a:srgbClr val="000000"/>
                </a:solidFill>
              </a:rPr>
              <a:t>t</a:t>
            </a:r>
            <a:endParaRPr lang="en-US" altLang="zh-CN" sz="2400" kern="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A4704C15-8EE3-4993-B76A-0DD3F3718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49545"/>
            <a:ext cx="20714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TP = 6 / T</a:t>
            </a:r>
            <a:r>
              <a:rPr lang="en-US" altLang="zh-CN" sz="2400" kern="0" baseline="-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5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 kern="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ED1128F4-8783-4BE9-ADEC-8314E804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496" y="3249545"/>
            <a:ext cx="39869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6 /</a:t>
            </a:r>
            <a:r>
              <a:rPr lang="en-US" altLang="zh-CN" sz="2400" kern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115×10</a:t>
            </a:r>
            <a:r>
              <a:rPr lang="en-US" altLang="zh-CN" sz="2400" kern="0" baseline="30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 kern="0" baseline="30000">
                <a:solidFill>
                  <a:srgbClr val="000000"/>
                </a:solidFill>
              </a:rPr>
              <a:t>9</a:t>
            </a:r>
            <a:r>
              <a:rPr lang="en-US" altLang="zh-CN" sz="2400" kern="0">
                <a:solidFill>
                  <a:srgbClr val="000000"/>
                </a:solidFill>
              </a:rPr>
              <a:t>×10</a:t>
            </a:r>
            <a:r>
              <a:rPr lang="en-US" altLang="zh-CN" sz="2400" kern="0" baseline="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+mn-ea"/>
              </a:rPr>
              <a:t>)</a:t>
            </a:r>
            <a:r>
              <a:rPr lang="en-US" altLang="zh-CN" sz="2400" kern="0">
                <a:solidFill>
                  <a:srgbClr val="000000"/>
                </a:solidFill>
              </a:rPr>
              <a:t> MIPS</a:t>
            </a:r>
            <a:endParaRPr lang="en-US" altLang="zh-CN" sz="2400" kern="0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328571BF-111C-415D-BEB0-261E6F2AB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020" y="3249545"/>
            <a:ext cx="1975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52.17 MIPS</a:t>
            </a:r>
            <a:endParaRPr lang="en-US" altLang="zh-CN" sz="2400" kern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1D11ACBD-23EA-445F-9F29-60F319B98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02" y="2817497"/>
            <a:ext cx="24625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S = T</a:t>
            </a:r>
            <a:r>
              <a:rPr lang="en-US" altLang="zh-CN" sz="2400" kern="0" baseline="-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1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)/</a:t>
            </a:r>
            <a:r>
              <a:rPr lang="en-US" altLang="zh-CN" sz="2400" kern="0">
                <a:solidFill>
                  <a:srgbClr val="000000"/>
                </a:solidFill>
              </a:rPr>
              <a:t> T</a:t>
            </a:r>
            <a:r>
              <a:rPr lang="en-US" altLang="zh-CN" sz="2400" kern="0" baseline="-30000">
                <a:solidFill>
                  <a:srgbClr val="000000"/>
                </a:solidFill>
              </a:rPr>
              <a:t>6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5</a:t>
            </a:r>
            <a:r>
              <a:rPr lang="en-US" altLang="zh-CN" sz="2400" ker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 kern="0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7B15B623-E5C7-4252-B915-9F26A1E9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057" y="2812247"/>
            <a:ext cx="1598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</a:t>
            </a:r>
            <a:r>
              <a:rPr lang="en-US" altLang="zh-CN" sz="2400" kern="0"/>
              <a:t>180 / 115</a:t>
            </a:r>
            <a:endParaRPr lang="en-US" altLang="zh-CN" sz="2400" kern="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7D716F18-AED0-4583-897E-4D2525826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4061" y="2812247"/>
            <a:ext cx="9749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</a:t>
            </a:r>
            <a:r>
              <a:rPr lang="en-US" altLang="zh-CN" sz="2400" kern="0"/>
              <a:t>1.57</a:t>
            </a:r>
            <a:endParaRPr lang="en-US" altLang="zh-CN" sz="2400" kern="0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94FDB785-A93F-49EE-AE0D-EB614E96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3714810"/>
            <a:ext cx="14366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36</a:t>
            </a:r>
            <a:r>
              <a:rPr lang="en-US" altLang="zh-CN" sz="2400" kern="0"/>
              <a:t>.52%</a:t>
            </a:r>
            <a:endParaRPr lang="en-US" altLang="zh-CN" sz="2400" kern="0" dirty="0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2F2115B0-495E-47BE-A81A-17C1FF18B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209" y="2327745"/>
            <a:ext cx="11897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180ns</a:t>
            </a:r>
            <a:endParaRPr lang="en-US" altLang="zh-CN" sz="2400" kern="0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F04F5AAE-EF47-4965-820F-CA5534D6E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782" y="2749321"/>
            <a:ext cx="11897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 115ns</a:t>
            </a:r>
            <a:endParaRPr lang="en-US" altLang="zh-CN" sz="2400" kern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2E3E72-7B3C-44F9-A920-FA7288A20771}"/>
              </a:ext>
            </a:extLst>
          </p:cNvPr>
          <p:cNvSpPr/>
          <p:nvPr/>
        </p:nvSpPr>
        <p:spPr bwMode="auto">
          <a:xfrm>
            <a:off x="5380074" y="2362011"/>
            <a:ext cx="3427937" cy="888882"/>
          </a:xfrm>
          <a:prstGeom prst="rect">
            <a:avLst/>
          </a:prstGeom>
          <a:noFill/>
          <a:ln w="76200" cap="flat" cmpd="sng" algn="ctr">
            <a:solidFill>
              <a:srgbClr val="FF66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CB609C9-96E1-4836-85E4-2944ABB6A42F}"/>
              </a:ext>
            </a:extLst>
          </p:cNvPr>
          <p:cNvSpPr txBox="1"/>
          <p:nvPr/>
        </p:nvSpPr>
        <p:spPr bwMode="auto">
          <a:xfrm>
            <a:off x="8014060" y="3335687"/>
            <a:ext cx="111248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4" name="表格 28">
            <a:extLst>
              <a:ext uri="{FF2B5EF4-FFF2-40B4-BE49-F238E27FC236}">
                <a16:creationId xmlns:a16="http://schemas.microsoft.com/office/drawing/2014/main" id="{3C20421E-79AC-4918-9889-B9033B375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718982"/>
              </p:ext>
            </p:extLst>
          </p:nvPr>
        </p:nvGraphicFramePr>
        <p:xfrm>
          <a:off x="420032" y="4370907"/>
          <a:ext cx="8507286" cy="2097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91004535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009869526"/>
                    </a:ext>
                  </a:extLst>
                </a:gridCol>
              </a:tblGrid>
              <a:tr h="349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+mn-lt"/>
                        </a:rPr>
                        <a:t>mem</a:t>
                      </a:r>
                      <a:endParaRPr lang="zh-CN" altLang="en-US" sz="12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ID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EX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WB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+mn-lt"/>
                        </a:rPr>
                        <a:t>IF</a:t>
                      </a:r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WB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AB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321120"/>
                  </a:ext>
                </a:extLst>
              </a:tr>
            </a:tbl>
          </a:graphicData>
        </a:graphic>
      </p:graphicFrame>
      <p:graphicFrame>
        <p:nvGraphicFramePr>
          <p:cNvPr id="45" name="表格 28">
            <a:extLst>
              <a:ext uri="{FF2B5EF4-FFF2-40B4-BE49-F238E27FC236}">
                <a16:creationId xmlns:a16="http://schemas.microsoft.com/office/drawing/2014/main" id="{959D9582-179B-4BFF-9FF5-62EEA2168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939532"/>
              </p:ext>
            </p:extLst>
          </p:nvPr>
        </p:nvGraphicFramePr>
        <p:xfrm>
          <a:off x="35496" y="4370908"/>
          <a:ext cx="384535" cy="209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535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</a:tblGrid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I3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77533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I4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I5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I6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</a:tbl>
          </a:graphicData>
        </a:graphic>
      </p:graphicFrame>
      <p:graphicFrame>
        <p:nvGraphicFramePr>
          <p:cNvPr id="46" name="表格 28">
            <a:extLst>
              <a:ext uri="{FF2B5EF4-FFF2-40B4-BE49-F238E27FC236}">
                <a16:creationId xmlns:a16="http://schemas.microsoft.com/office/drawing/2014/main" id="{CD179A29-1E34-49ED-9006-6A7B64EAE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794125"/>
              </p:ext>
            </p:extLst>
          </p:nvPr>
        </p:nvGraphicFramePr>
        <p:xfrm>
          <a:off x="420031" y="4051087"/>
          <a:ext cx="8507286" cy="31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96316449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73991436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</a:tblGrid>
              <a:tr h="312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</a:tbl>
          </a:graphicData>
        </a:graphic>
      </p:graphicFrame>
      <p:sp>
        <p:nvSpPr>
          <p:cNvPr id="47" name="内容占位符 2">
            <a:extLst>
              <a:ext uri="{FF2B5EF4-FFF2-40B4-BE49-F238E27FC236}">
                <a16:creationId xmlns:a16="http://schemas.microsoft.com/office/drawing/2014/main" id="{F0B3ED48-34CB-41B1-AC51-B5A20F461740}"/>
              </a:ext>
            </a:extLst>
          </p:cNvPr>
          <p:cNvSpPr txBox="1">
            <a:spLocks/>
          </p:cNvSpPr>
          <p:nvPr/>
        </p:nvSpPr>
        <p:spPr bwMode="auto">
          <a:xfrm>
            <a:off x="8087907" y="4462662"/>
            <a:ext cx="1020597" cy="5040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时间</a:t>
            </a:r>
            <a:endParaRPr lang="en-US" altLang="zh-CN" sz="2000" kern="0">
              <a:solidFill>
                <a:srgbClr val="009900"/>
              </a:solidFill>
              <a:ea typeface="宋体" pitchFamily="2" charset="-122"/>
            </a:endParaRP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009900"/>
                </a:solidFill>
              </a:rPr>
              <a:t>Δt</a:t>
            </a:r>
            <a:r>
              <a:rPr lang="zh-CN" altLang="en-US" sz="2000" kern="0">
                <a:solidFill>
                  <a:srgbClr val="009900"/>
                </a:solidFill>
              </a:rPr>
              <a:t>＝</a:t>
            </a:r>
            <a:r>
              <a:rPr lang="en-US" altLang="zh-CN" sz="2000" kern="0">
                <a:solidFill>
                  <a:srgbClr val="009900"/>
                </a:solidFill>
              </a:rPr>
              <a:t>5ns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2499E1E4-CF05-4201-8FDF-E33951DDE55D}"/>
              </a:ext>
            </a:extLst>
          </p:cNvPr>
          <p:cNvSpPr txBox="1">
            <a:spLocks/>
          </p:cNvSpPr>
          <p:nvPr/>
        </p:nvSpPr>
        <p:spPr bwMode="auto">
          <a:xfrm>
            <a:off x="298364" y="6300812"/>
            <a:ext cx="946448" cy="5125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空间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5908108-7A92-4C0D-A028-60DED4C7E802}"/>
              </a:ext>
            </a:extLst>
          </p:cNvPr>
          <p:cNvCxnSpPr>
            <a:cxnSpLocks/>
          </p:cNvCxnSpPr>
          <p:nvPr/>
        </p:nvCxnSpPr>
        <p:spPr bwMode="auto">
          <a:xfrm>
            <a:off x="420034" y="4370909"/>
            <a:ext cx="8675989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7E3E819-810D-465C-B8D3-6256899BC70E}"/>
              </a:ext>
            </a:extLst>
          </p:cNvPr>
          <p:cNvCxnSpPr>
            <a:cxnSpLocks/>
          </p:cNvCxnSpPr>
          <p:nvPr/>
        </p:nvCxnSpPr>
        <p:spPr bwMode="auto">
          <a:xfrm>
            <a:off x="420034" y="4370909"/>
            <a:ext cx="0" cy="2304256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">
                <a:extLst>
                  <a:ext uri="{FF2B5EF4-FFF2-40B4-BE49-F238E27FC236}">
                    <a16:creationId xmlns:a16="http://schemas.microsoft.com/office/drawing/2014/main" id="{AD6CEF1D-4A1D-44CC-B25D-2687A493A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71" y="3711210"/>
                <a:ext cx="386516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1688" indent="-2794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39850" indent="-35877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6600"/>
                  </a:buClr>
                  <a:buSzPct val="65000"/>
                  <a:buFont typeface="Wingdings" pitchFamily="2" charset="2"/>
                  <a:buChar char="p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879600" indent="-3603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Wingdings" pitchFamily="2" charset="2"/>
                  <a:buChar char="u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3304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7876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32448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7020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41592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ct val="10000"/>
                  </a:spcBef>
                  <a:buNone/>
                </a:pPr>
                <a:r>
                  <a:rPr lang="en-US" altLang="zh-CN" sz="2400" kern="0">
                    <a:solidFill>
                      <a:srgbClr val="000000"/>
                    </a:solidFill>
                  </a:rPr>
                  <a:t>E =</a:t>
                </a:r>
                <a:r>
                  <a:rPr lang="en-US" altLang="zh-CN" sz="2400" kern="0">
                    <a:solidFill>
                      <a:srgbClr val="000000"/>
                    </a:solidFill>
                    <a:latin typeface="+mn-ea"/>
                  </a:rPr>
                  <a:t>(</a:t>
                </a:r>
                <a:r>
                  <a:rPr lang="en-US" altLang="zh-CN" sz="2400" kern="0" baseline="-2500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2400" i="1" kern="0">
                    <a:solidFill>
                      <a:srgbClr val="000000"/>
                    </a:solidFill>
                  </a:rPr>
                  <a:t>n</a:t>
                </a:r>
                <a:r>
                  <a:rPr lang="en-US" altLang="zh-CN" sz="2400" kern="0">
                    <a:solidFill>
                      <a:srgbClr val="000000"/>
                    </a:solidFill>
                  </a:rPr>
                  <a:t>·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zh-CN" sz="24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24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kern="0" baseline="-25000"/>
                  <a:t> </a:t>
                </a:r>
                <a:r>
                  <a:rPr lang="en-US" altLang="zh-CN" sz="2400" kern="0">
                    <a:latin typeface="+mn-ea"/>
                  </a:rPr>
                  <a:t>)/(</a:t>
                </a:r>
                <a:r>
                  <a:rPr lang="en-US" altLang="zh-CN" sz="2400" kern="0" baseline="-25000"/>
                  <a:t> </a:t>
                </a:r>
                <a:r>
                  <a:rPr lang="en-US" altLang="zh-CN" sz="2400" i="1" kern="0"/>
                  <a:t>m</a:t>
                </a:r>
                <a:r>
                  <a:rPr lang="en-US" altLang="zh-CN" sz="2400" kern="0"/>
                  <a:t>·</a:t>
                </a:r>
                <a:r>
                  <a:rPr lang="en-US" altLang="zh-CN" sz="2400" kern="0">
                    <a:solidFill>
                      <a:srgbClr val="000000"/>
                    </a:solidFill>
                  </a:rPr>
                  <a:t>T</a:t>
                </a:r>
                <a:r>
                  <a:rPr lang="en-US" altLang="zh-CN" sz="2400" kern="0" baseline="-30000">
                    <a:solidFill>
                      <a:srgbClr val="000000"/>
                    </a:solidFill>
                  </a:rPr>
                  <a:t>6</a:t>
                </a:r>
                <a:r>
                  <a:rPr lang="en-US" altLang="zh-CN" sz="2400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2400" kern="0">
                    <a:solidFill>
                      <a:srgbClr val="000000"/>
                    </a:solidFill>
                  </a:rPr>
                  <a:t>5</a:t>
                </a:r>
                <a:r>
                  <a:rPr lang="en-US" altLang="zh-CN" sz="2400" ker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en-US" altLang="zh-CN" sz="2400" kern="0">
                    <a:latin typeface="+mn-ea"/>
                  </a:rPr>
                  <a:t>)</a:t>
                </a:r>
                <a:endParaRPr lang="en-US" altLang="zh-CN" sz="2400" kern="0" dirty="0">
                  <a:latin typeface="+mn-ea"/>
                </a:endParaRPr>
              </a:p>
            </p:txBody>
          </p:sp>
        </mc:Choice>
        <mc:Fallback xmlns="">
          <p:sp>
            <p:nvSpPr>
              <p:cNvPr id="34" name="Rectangle 3">
                <a:extLst>
                  <a:ext uri="{FF2B5EF4-FFF2-40B4-BE49-F238E27FC236}">
                    <a16:creationId xmlns:a16="http://schemas.microsoft.com/office/drawing/2014/main" id="{AD6CEF1D-4A1D-44CC-B25D-2687A493A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271" y="3711210"/>
                <a:ext cx="3865161" cy="461665"/>
              </a:xfrm>
              <a:prstGeom prst="rect">
                <a:avLst/>
              </a:prstGeom>
              <a:blipFill>
                <a:blip r:embed="rId5"/>
                <a:stretch>
                  <a:fillRect l="-2366" t="-128947" r="-2050" b="-1960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45C491DF-444F-42C4-BA6E-330CAA4C6E0F}"/>
              </a:ext>
            </a:extLst>
          </p:cNvPr>
          <p:cNvSpPr txBox="1"/>
          <p:nvPr/>
        </p:nvSpPr>
        <p:spPr bwMode="auto">
          <a:xfrm>
            <a:off x="5454768" y="4351428"/>
            <a:ext cx="1959539" cy="587441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 type="none" w="med" len="lg"/>
          </a:ln>
          <a:effectLst>
            <a:softEdge rad="127000"/>
          </a:effectLst>
        </p:spPr>
        <p:txBody>
          <a:bodyPr wrap="none" lIns="144000" tIns="108000" rIns="144000" bIns="10800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/>
              <a:t>任务数 </a:t>
            </a:r>
            <a:r>
              <a:rPr lang="zh-CN" altLang="en-US" sz="2400" i="1"/>
              <a:t>n</a:t>
            </a:r>
            <a:r>
              <a:rPr lang="zh-CN" altLang="en-US" sz="2400" i="1">
                <a:latin typeface="+mn-lt"/>
              </a:rPr>
              <a:t> </a:t>
            </a:r>
            <a:r>
              <a:rPr lang="zh-CN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i="1">
                <a:latin typeface="+mn-lt"/>
              </a:rPr>
              <a:t> </a:t>
            </a:r>
            <a:r>
              <a:rPr lang="zh-CN" altLang="en-US" sz="2400"/>
              <a:t>6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FB9AE1C-FAAF-4683-9193-445D0E1FE26C}"/>
              </a:ext>
            </a:extLst>
          </p:cNvPr>
          <p:cNvSpPr txBox="1"/>
          <p:nvPr/>
        </p:nvSpPr>
        <p:spPr bwMode="auto">
          <a:xfrm>
            <a:off x="5454768" y="4713767"/>
            <a:ext cx="2645624" cy="587441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 type="none" w="med" len="lg"/>
          </a:ln>
          <a:effectLst>
            <a:softEdge rad="127000"/>
          </a:effectLst>
        </p:spPr>
        <p:txBody>
          <a:bodyPr wrap="none" lIns="144000" tIns="108000" rIns="144000" bIns="108000" anchor="ctr" anchorCtr="0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/>
              <a:t>流水线段数</a:t>
            </a:r>
            <a:r>
              <a:rPr lang="zh-CN" altLang="en-US" sz="2400" i="1">
                <a:latin typeface="+mn-lt"/>
              </a:rPr>
              <a:t> </a:t>
            </a:r>
            <a:r>
              <a:rPr lang="zh-CN" altLang="en-US" sz="2400" i="1"/>
              <a:t>m </a:t>
            </a:r>
            <a:r>
              <a:rPr lang="zh-CN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i="1">
                <a:latin typeface="+mn-lt"/>
              </a:rPr>
              <a:t> </a:t>
            </a:r>
            <a:r>
              <a:rPr lang="zh-CN" altLang="en-US" sz="2400"/>
              <a:t>5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7ADB925-81E1-48D7-B749-A68A06067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3711210"/>
            <a:ext cx="33009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400" kern="0">
                <a:solidFill>
                  <a:srgbClr val="000000"/>
                </a:solidFill>
              </a:rPr>
              <a:t>=</a:t>
            </a:r>
            <a:r>
              <a:rPr lang="en-US" altLang="zh-CN" sz="2400" kern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2400" kern="0">
                <a:solidFill>
                  <a:srgbClr val="000000"/>
                </a:solidFill>
              </a:rPr>
              <a:t>6×7·</a:t>
            </a:r>
            <a:r>
              <a:rPr lang="el-GR" altLang="zh-CN" sz="2400" kern="0">
                <a:solidFill>
                  <a:srgbClr val="000000"/>
                </a:solidFill>
              </a:rPr>
              <a:t>Δ</a:t>
            </a:r>
            <a:r>
              <a:rPr lang="en-US" altLang="zh-CN" sz="2400" kern="0">
                <a:solidFill>
                  <a:srgbClr val="000000"/>
                </a:solidFill>
              </a:rPr>
              <a:t>t</a:t>
            </a:r>
            <a:r>
              <a:rPr lang="en-US" altLang="zh-CN" sz="2400" kern="0">
                <a:solidFill>
                  <a:srgbClr val="000000"/>
                </a:solidFill>
                <a:latin typeface="+mn-ea"/>
              </a:rPr>
              <a:t>)/(</a:t>
            </a:r>
            <a:r>
              <a:rPr lang="en-US" altLang="zh-CN" sz="2400" kern="0">
                <a:solidFill>
                  <a:srgbClr val="000000"/>
                </a:solidFill>
              </a:rPr>
              <a:t>5×23·</a:t>
            </a:r>
            <a:r>
              <a:rPr lang="el-GR" altLang="zh-CN" sz="2400" kern="0">
                <a:solidFill>
                  <a:srgbClr val="000000"/>
                </a:solidFill>
              </a:rPr>
              <a:t>Δ</a:t>
            </a:r>
            <a:r>
              <a:rPr lang="en-US" altLang="zh-CN" sz="2400" kern="0">
                <a:solidFill>
                  <a:srgbClr val="000000"/>
                </a:solidFill>
              </a:rPr>
              <a:t>t</a:t>
            </a:r>
            <a:r>
              <a:rPr lang="en-US" altLang="zh-CN" sz="2400" kern="0">
                <a:solidFill>
                  <a:srgbClr val="000000"/>
                </a:solidFill>
                <a:latin typeface="+mn-ea"/>
              </a:rPr>
              <a:t>)</a:t>
            </a:r>
            <a:endParaRPr lang="en-US" altLang="zh-CN" sz="2400" kern="0" dirty="0"/>
          </a:p>
        </p:txBody>
      </p:sp>
      <p:sp>
        <p:nvSpPr>
          <p:cNvPr id="3" name="动作按钮: 获取信息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362FB22-EA21-4865-B59E-1D3F82AE7717}"/>
              </a:ext>
            </a:extLst>
          </p:cNvPr>
          <p:cNvSpPr>
            <a:spLocks noChangeAspect="1"/>
          </p:cNvSpPr>
          <p:nvPr/>
        </p:nvSpPr>
        <p:spPr bwMode="auto">
          <a:xfrm>
            <a:off x="1905325" y="6113031"/>
            <a:ext cx="360000" cy="36000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11230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5" grpId="0"/>
      <p:bldP spid="26" grpId="0"/>
      <p:bldP spid="27" grpId="0"/>
      <p:bldP spid="29" grpId="0"/>
      <p:bldP spid="32" grpId="0"/>
      <p:bldP spid="36" grpId="0"/>
      <p:bldP spid="41" grpId="0"/>
      <p:bldP spid="42" grpId="0"/>
      <p:bldP spid="11" grpId="0" animBg="1"/>
      <p:bldP spid="34" grpId="0"/>
      <p:bldP spid="3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A34B7752-8319-49D1-96DE-78C9A757E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351" y="166226"/>
            <a:ext cx="8446121" cy="654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5CB145-2925-487C-8F89-196C1376713B}"/>
              </a:ext>
            </a:extLst>
          </p:cNvPr>
          <p:cNvSpPr/>
          <p:nvPr/>
        </p:nvSpPr>
        <p:spPr>
          <a:xfrm>
            <a:off x="179512" y="5589240"/>
            <a:ext cx="23768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000" b="0" dirty="0">
                <a:solidFill>
                  <a:srgbClr val="CC0099"/>
                </a:solidFill>
              </a:rPr>
              <a:t>RISC-V :</a:t>
            </a:r>
          </a:p>
          <a:p>
            <a:pPr algn="l">
              <a:spcBef>
                <a:spcPts val="0"/>
              </a:spcBef>
            </a:pPr>
            <a:r>
              <a:rPr lang="zh-CN" altLang="en-US" sz="2000" b="0" dirty="0">
                <a:solidFill>
                  <a:srgbClr val="CC0099"/>
                </a:solidFill>
              </a:rPr>
              <a:t>The simple datapath </a:t>
            </a:r>
            <a:endParaRPr lang="en-US" altLang="zh-CN" sz="2000" b="0" dirty="0">
              <a:solidFill>
                <a:srgbClr val="CC0099"/>
              </a:solidFill>
            </a:endParaRPr>
          </a:p>
          <a:p>
            <a:pPr algn="l">
              <a:spcBef>
                <a:spcPts val="0"/>
              </a:spcBef>
            </a:pPr>
            <a:r>
              <a:rPr lang="zh-CN" altLang="en-US" sz="2000" b="0" dirty="0">
                <a:solidFill>
                  <a:srgbClr val="CC0099"/>
                </a:solidFill>
              </a:rPr>
              <a:t>with the control unit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B54F7C-08CE-40C5-9468-B41B2D4AE438}"/>
              </a:ext>
            </a:extLst>
          </p:cNvPr>
          <p:cNvSpPr/>
          <p:nvPr/>
        </p:nvSpPr>
        <p:spPr bwMode="auto">
          <a:xfrm>
            <a:off x="1060450" y="3543299"/>
            <a:ext cx="898524" cy="1298575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8AE291-AB29-406F-811F-BCBD2C632E21}"/>
              </a:ext>
            </a:extLst>
          </p:cNvPr>
          <p:cNvSpPr/>
          <p:nvPr/>
        </p:nvSpPr>
        <p:spPr bwMode="auto">
          <a:xfrm>
            <a:off x="6954613" y="3986014"/>
            <a:ext cx="1030511" cy="1538486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3F6071-743B-4A4D-A5FC-A3E5C0366C84}"/>
              </a:ext>
            </a:extLst>
          </p:cNvPr>
          <p:cNvSpPr/>
          <p:nvPr/>
        </p:nvSpPr>
        <p:spPr>
          <a:xfrm>
            <a:off x="904418" y="485561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6D4AC2-798F-4CE8-B7F2-55482801E091}"/>
              </a:ext>
            </a:extLst>
          </p:cNvPr>
          <p:cNvSpPr/>
          <p:nvPr/>
        </p:nvSpPr>
        <p:spPr>
          <a:xfrm>
            <a:off x="6864574" y="589701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F30EA-CF74-426E-8D4E-8E3B2E5250A5}"/>
              </a:ext>
            </a:extLst>
          </p:cNvPr>
          <p:cNvSpPr/>
          <p:nvPr/>
        </p:nvSpPr>
        <p:spPr>
          <a:xfrm>
            <a:off x="2296975" y="4013528"/>
            <a:ext cx="1338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0" dirty="0">
                <a:solidFill>
                  <a:srgbClr val="FF5B5B"/>
                </a:solidFill>
              </a:rPr>
              <a:t>寄存器地址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5FB6805-96F5-4EAE-A56E-9A4445FA07B6}"/>
              </a:ext>
            </a:extLst>
          </p:cNvPr>
          <p:cNvCxnSpPr/>
          <p:nvPr/>
        </p:nvCxnSpPr>
        <p:spPr bwMode="auto">
          <a:xfrm>
            <a:off x="3097174" y="3647405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C61AB0B-EECB-4C00-AE6C-9946387A32C5}"/>
              </a:ext>
            </a:extLst>
          </p:cNvPr>
          <p:cNvCxnSpPr/>
          <p:nvPr/>
        </p:nvCxnSpPr>
        <p:spPr bwMode="auto">
          <a:xfrm>
            <a:off x="3093905" y="4016299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1B623E9-D280-44E6-828E-6F087CC08C25}"/>
              </a:ext>
            </a:extLst>
          </p:cNvPr>
          <p:cNvCxnSpPr/>
          <p:nvPr/>
        </p:nvCxnSpPr>
        <p:spPr bwMode="auto">
          <a:xfrm>
            <a:off x="3062213" y="4528168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EC25394-D289-4F02-BDE2-641C8EC845DE}"/>
              </a:ext>
            </a:extLst>
          </p:cNvPr>
          <p:cNvSpPr/>
          <p:nvPr/>
        </p:nvSpPr>
        <p:spPr bwMode="auto">
          <a:xfrm>
            <a:off x="3722190" y="3429000"/>
            <a:ext cx="1223666" cy="1728788"/>
          </a:xfrm>
          <a:prstGeom prst="rect">
            <a:avLst/>
          </a:prstGeom>
          <a:noFill/>
          <a:ln w="76200" cap="flat" cmpd="sng" algn="ctr">
            <a:solidFill>
              <a:srgbClr val="FF6600">
                <a:alpha val="3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F43B0AC-DC61-4629-A462-70A559B320F3}"/>
              </a:ext>
            </a:extLst>
          </p:cNvPr>
          <p:cNvCxnSpPr>
            <a:cxnSpLocks/>
          </p:cNvCxnSpPr>
          <p:nvPr/>
        </p:nvCxnSpPr>
        <p:spPr bwMode="auto">
          <a:xfrm>
            <a:off x="323528" y="3789040"/>
            <a:ext cx="5616624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B630F5E-7373-4B55-B536-34BFEBD7E637}"/>
              </a:ext>
            </a:extLst>
          </p:cNvPr>
          <p:cNvCxnSpPr/>
          <p:nvPr/>
        </p:nvCxnSpPr>
        <p:spPr bwMode="auto">
          <a:xfrm>
            <a:off x="5940152" y="3789040"/>
            <a:ext cx="648072" cy="648072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F796770-9E01-4901-B331-CE2D7B898847}"/>
              </a:ext>
            </a:extLst>
          </p:cNvPr>
          <p:cNvCxnSpPr>
            <a:cxnSpLocks/>
          </p:cNvCxnSpPr>
          <p:nvPr/>
        </p:nvCxnSpPr>
        <p:spPr bwMode="auto">
          <a:xfrm>
            <a:off x="6588224" y="4437112"/>
            <a:ext cx="183712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78EC001-4CF8-407F-8629-0352DC24912F}"/>
              </a:ext>
            </a:extLst>
          </p:cNvPr>
          <p:cNvCxnSpPr/>
          <p:nvPr/>
        </p:nvCxnSpPr>
        <p:spPr bwMode="auto">
          <a:xfrm>
            <a:off x="6771936" y="4437112"/>
            <a:ext cx="0" cy="1224136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8AA406E-B2A7-4325-A441-F1CEFEE7DD7F}"/>
              </a:ext>
            </a:extLst>
          </p:cNvPr>
          <p:cNvCxnSpPr>
            <a:cxnSpLocks/>
          </p:cNvCxnSpPr>
          <p:nvPr/>
        </p:nvCxnSpPr>
        <p:spPr bwMode="auto">
          <a:xfrm>
            <a:off x="6771936" y="5661248"/>
            <a:ext cx="1328456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72A0124-EB32-43A1-9FF3-4F3EBEE84499}"/>
              </a:ext>
            </a:extLst>
          </p:cNvPr>
          <p:cNvCxnSpPr>
            <a:cxnSpLocks/>
          </p:cNvCxnSpPr>
          <p:nvPr/>
        </p:nvCxnSpPr>
        <p:spPr bwMode="auto">
          <a:xfrm flipV="1">
            <a:off x="8100392" y="4891388"/>
            <a:ext cx="0" cy="76986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867C9FF-459B-4D6E-9A2A-CBA9921B050C}"/>
              </a:ext>
            </a:extLst>
          </p:cNvPr>
          <p:cNvCxnSpPr>
            <a:cxnSpLocks/>
          </p:cNvCxnSpPr>
          <p:nvPr/>
        </p:nvCxnSpPr>
        <p:spPr bwMode="auto">
          <a:xfrm>
            <a:off x="8100392" y="4891388"/>
            <a:ext cx="216024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829D341-CE60-474D-ACCA-8870247EEE3A}"/>
              </a:ext>
            </a:extLst>
          </p:cNvPr>
          <p:cNvCxnSpPr>
            <a:cxnSpLocks/>
          </p:cNvCxnSpPr>
          <p:nvPr/>
        </p:nvCxnSpPr>
        <p:spPr bwMode="auto">
          <a:xfrm flipV="1">
            <a:off x="8316416" y="4665663"/>
            <a:ext cx="181472" cy="225725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1A450BF-9459-4090-A1D5-A8D7797BDA37}"/>
              </a:ext>
            </a:extLst>
          </p:cNvPr>
          <p:cNvCxnSpPr>
            <a:cxnSpLocks/>
          </p:cNvCxnSpPr>
          <p:nvPr/>
        </p:nvCxnSpPr>
        <p:spPr bwMode="auto">
          <a:xfrm>
            <a:off x="8504238" y="4665838"/>
            <a:ext cx="153165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D76BC7A-EDC3-45E1-A258-DD17CE46DB7F}"/>
              </a:ext>
            </a:extLst>
          </p:cNvPr>
          <p:cNvCxnSpPr>
            <a:cxnSpLocks/>
          </p:cNvCxnSpPr>
          <p:nvPr/>
        </p:nvCxnSpPr>
        <p:spPr bwMode="auto">
          <a:xfrm>
            <a:off x="8657403" y="4665663"/>
            <a:ext cx="0" cy="2046263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0D58EA6-50F4-4A0A-81DA-355FC3E5614F}"/>
              </a:ext>
            </a:extLst>
          </p:cNvPr>
          <p:cNvCxnSpPr>
            <a:cxnSpLocks/>
          </p:cNvCxnSpPr>
          <p:nvPr/>
        </p:nvCxnSpPr>
        <p:spPr bwMode="auto">
          <a:xfrm flipH="1">
            <a:off x="3347865" y="6711926"/>
            <a:ext cx="5307185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8E43F15-F8CD-468C-8B71-48D67E4A0B78}"/>
              </a:ext>
            </a:extLst>
          </p:cNvPr>
          <p:cNvCxnSpPr/>
          <p:nvPr/>
        </p:nvCxnSpPr>
        <p:spPr bwMode="auto">
          <a:xfrm flipV="1">
            <a:off x="3347864" y="5013176"/>
            <a:ext cx="0" cy="169875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ABBF813-A1CF-46AF-8DB2-DE0643C299E1}"/>
              </a:ext>
            </a:extLst>
          </p:cNvPr>
          <p:cNvCxnSpPr/>
          <p:nvPr/>
        </p:nvCxnSpPr>
        <p:spPr bwMode="auto">
          <a:xfrm>
            <a:off x="3347864" y="5013176"/>
            <a:ext cx="374326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D7811BD5-CB2C-47E9-AB1B-104B1A525447}"/>
              </a:ext>
            </a:extLst>
          </p:cNvPr>
          <p:cNvSpPr txBox="1"/>
          <p:nvPr/>
        </p:nvSpPr>
        <p:spPr bwMode="auto">
          <a:xfrm>
            <a:off x="1402875" y="2940240"/>
            <a:ext cx="585664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4000">
                <a:solidFill>
                  <a:srgbClr val="FF0000"/>
                </a:solidFill>
              </a:rPr>
              <a:t>IF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3B38FE6-7005-43AC-9707-4475F61E30F9}"/>
              </a:ext>
            </a:extLst>
          </p:cNvPr>
          <p:cNvSpPr txBox="1"/>
          <p:nvPr/>
        </p:nvSpPr>
        <p:spPr bwMode="auto">
          <a:xfrm>
            <a:off x="4417743" y="3170305"/>
            <a:ext cx="643373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4000">
                <a:solidFill>
                  <a:srgbClr val="FF0000"/>
                </a:solidFill>
              </a:rPr>
              <a:t>I</a:t>
            </a:r>
            <a:r>
              <a:rPr lang="en-US" altLang="zh-CN" sz="4000">
                <a:solidFill>
                  <a:srgbClr val="FF0000"/>
                </a:solidFill>
              </a:rPr>
              <a:t>D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42917D0-F0CC-4FB1-8624-44BC3D21EB42}"/>
              </a:ext>
            </a:extLst>
          </p:cNvPr>
          <p:cNvSpPr txBox="1"/>
          <p:nvPr/>
        </p:nvSpPr>
        <p:spPr bwMode="auto">
          <a:xfrm>
            <a:off x="5978468" y="3184479"/>
            <a:ext cx="784436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</a:rPr>
              <a:t>EX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F26672D-F13F-445D-A75E-11C3315D6C00}"/>
              </a:ext>
            </a:extLst>
          </p:cNvPr>
          <p:cNvSpPr txBox="1"/>
          <p:nvPr/>
        </p:nvSpPr>
        <p:spPr bwMode="auto">
          <a:xfrm>
            <a:off x="2382788" y="4712562"/>
            <a:ext cx="927104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</a:rPr>
              <a:t>WB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E3B8DE4-4063-4BFC-AFA9-5D46FFF9E3F8}"/>
              </a:ext>
            </a:extLst>
          </p:cNvPr>
          <p:cNvSpPr txBox="1"/>
          <p:nvPr/>
        </p:nvSpPr>
        <p:spPr bwMode="auto">
          <a:xfrm>
            <a:off x="1124436" y="2586995"/>
            <a:ext cx="870999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10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BCF8F3B-8B48-47C6-9361-A274B221B3F5}"/>
              </a:ext>
            </a:extLst>
          </p:cNvPr>
          <p:cNvSpPr txBox="1"/>
          <p:nvPr/>
        </p:nvSpPr>
        <p:spPr bwMode="auto">
          <a:xfrm>
            <a:off x="4390291" y="3890417"/>
            <a:ext cx="665814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5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3EDF3D4-A567-42C4-AF5B-9910363C5DE8}"/>
              </a:ext>
            </a:extLst>
          </p:cNvPr>
          <p:cNvSpPr txBox="1"/>
          <p:nvPr/>
        </p:nvSpPr>
        <p:spPr bwMode="auto">
          <a:xfrm>
            <a:off x="6037779" y="2867990"/>
            <a:ext cx="665814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5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C6F26FC-A8D5-4860-B263-A8287511DE2C}"/>
              </a:ext>
            </a:extLst>
          </p:cNvPr>
          <p:cNvSpPr txBox="1"/>
          <p:nvPr/>
        </p:nvSpPr>
        <p:spPr bwMode="auto">
          <a:xfrm>
            <a:off x="2548387" y="5116286"/>
            <a:ext cx="665814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5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71" name="动作按钮: 上一张 7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2744916-E0A3-49C2-9527-123F4E707B63}"/>
              </a:ext>
            </a:extLst>
          </p:cNvPr>
          <p:cNvSpPr>
            <a:spLocks noChangeAspect="1"/>
          </p:cNvSpPr>
          <p:nvPr/>
        </p:nvSpPr>
        <p:spPr bwMode="auto">
          <a:xfrm>
            <a:off x="8244408" y="332656"/>
            <a:ext cx="576064" cy="576064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19DA4BB-D96F-49AE-AB2F-4A668EEEB76E}"/>
              </a:ext>
            </a:extLst>
          </p:cNvPr>
          <p:cNvSpPr txBox="1"/>
          <p:nvPr/>
        </p:nvSpPr>
        <p:spPr bwMode="auto">
          <a:xfrm>
            <a:off x="63849" y="177501"/>
            <a:ext cx="7350626" cy="1129323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 type="none" w="med" len="lg"/>
          </a:ln>
          <a:effectLst>
            <a:softEdge rad="317500"/>
          </a:effectLst>
        </p:spPr>
        <p:txBody>
          <a:bodyPr wrap="none" lIns="36000" tIns="0" rIns="36000" bIns="0" anchor="ctr" anchorCtr="0">
            <a:noAutofit/>
          </a:bodyPr>
          <a:lstStyle/>
          <a:p>
            <a:r>
              <a:rPr lang="en-US" altLang="zh-CN" sz="360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addi</a:t>
            </a:r>
            <a:r>
              <a:rPr lang="zh-CN" altLang="en-US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slli</a:t>
            </a:r>
            <a:r>
              <a:rPr lang="zh-CN" altLang="en-US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add</a:t>
            </a:r>
            <a:r>
              <a:rPr lang="en-US" altLang="zh-CN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指令的数据通路</a:t>
            </a:r>
            <a:endParaRPr lang="zh-CN" altLang="en-US" sz="3200" i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403E3E2-A986-4931-924B-F5CBBF1BA0B9}"/>
              </a:ext>
            </a:extLst>
          </p:cNvPr>
          <p:cNvSpPr txBox="1"/>
          <p:nvPr/>
        </p:nvSpPr>
        <p:spPr bwMode="auto">
          <a:xfrm>
            <a:off x="7615937" y="148478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91363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A34B7752-8319-49D1-96DE-78C9A757E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351" y="166226"/>
            <a:ext cx="8446121" cy="654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5CB145-2925-487C-8F89-196C1376713B}"/>
              </a:ext>
            </a:extLst>
          </p:cNvPr>
          <p:cNvSpPr/>
          <p:nvPr/>
        </p:nvSpPr>
        <p:spPr>
          <a:xfrm>
            <a:off x="179512" y="5589240"/>
            <a:ext cx="23768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000" b="0" dirty="0">
                <a:solidFill>
                  <a:srgbClr val="CC0099"/>
                </a:solidFill>
              </a:rPr>
              <a:t>RISC-V :</a:t>
            </a:r>
          </a:p>
          <a:p>
            <a:pPr algn="l">
              <a:spcBef>
                <a:spcPts val="0"/>
              </a:spcBef>
            </a:pPr>
            <a:r>
              <a:rPr lang="zh-CN" altLang="en-US" sz="2000" b="0" dirty="0">
                <a:solidFill>
                  <a:srgbClr val="CC0099"/>
                </a:solidFill>
              </a:rPr>
              <a:t>The simple datapath </a:t>
            </a:r>
            <a:endParaRPr lang="en-US" altLang="zh-CN" sz="2000" b="0" dirty="0">
              <a:solidFill>
                <a:srgbClr val="CC0099"/>
              </a:solidFill>
            </a:endParaRPr>
          </a:p>
          <a:p>
            <a:pPr algn="l">
              <a:spcBef>
                <a:spcPts val="0"/>
              </a:spcBef>
            </a:pPr>
            <a:r>
              <a:rPr lang="zh-CN" altLang="en-US" sz="2000" b="0" dirty="0">
                <a:solidFill>
                  <a:srgbClr val="CC0099"/>
                </a:solidFill>
              </a:rPr>
              <a:t>with the control unit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B54F7C-08CE-40C5-9468-B41B2D4AE438}"/>
              </a:ext>
            </a:extLst>
          </p:cNvPr>
          <p:cNvSpPr/>
          <p:nvPr/>
        </p:nvSpPr>
        <p:spPr bwMode="auto">
          <a:xfrm>
            <a:off x="1060450" y="3543299"/>
            <a:ext cx="898524" cy="1298575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8AE291-AB29-406F-811F-BCBD2C632E21}"/>
              </a:ext>
            </a:extLst>
          </p:cNvPr>
          <p:cNvSpPr/>
          <p:nvPr/>
        </p:nvSpPr>
        <p:spPr bwMode="auto">
          <a:xfrm>
            <a:off x="6954613" y="3986014"/>
            <a:ext cx="1030511" cy="1538486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3F6071-743B-4A4D-A5FC-A3E5C0366C84}"/>
              </a:ext>
            </a:extLst>
          </p:cNvPr>
          <p:cNvSpPr/>
          <p:nvPr/>
        </p:nvSpPr>
        <p:spPr>
          <a:xfrm>
            <a:off x="904418" y="485561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6D4AC2-798F-4CE8-B7F2-55482801E091}"/>
              </a:ext>
            </a:extLst>
          </p:cNvPr>
          <p:cNvSpPr/>
          <p:nvPr/>
        </p:nvSpPr>
        <p:spPr>
          <a:xfrm>
            <a:off x="6864574" y="589701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F30EA-CF74-426E-8D4E-8E3B2E5250A5}"/>
              </a:ext>
            </a:extLst>
          </p:cNvPr>
          <p:cNvSpPr/>
          <p:nvPr/>
        </p:nvSpPr>
        <p:spPr>
          <a:xfrm>
            <a:off x="2296975" y="4013528"/>
            <a:ext cx="1338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0" dirty="0">
                <a:solidFill>
                  <a:srgbClr val="FF5B5B"/>
                </a:solidFill>
              </a:rPr>
              <a:t>寄存器地址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5FB6805-96F5-4EAE-A56E-9A4445FA07B6}"/>
              </a:ext>
            </a:extLst>
          </p:cNvPr>
          <p:cNvCxnSpPr/>
          <p:nvPr/>
        </p:nvCxnSpPr>
        <p:spPr bwMode="auto">
          <a:xfrm>
            <a:off x="3097174" y="3647405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C61AB0B-EECB-4C00-AE6C-9946387A32C5}"/>
              </a:ext>
            </a:extLst>
          </p:cNvPr>
          <p:cNvCxnSpPr/>
          <p:nvPr/>
        </p:nvCxnSpPr>
        <p:spPr bwMode="auto">
          <a:xfrm>
            <a:off x="3093905" y="4016299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1B623E9-D280-44E6-828E-6F087CC08C25}"/>
              </a:ext>
            </a:extLst>
          </p:cNvPr>
          <p:cNvCxnSpPr/>
          <p:nvPr/>
        </p:nvCxnSpPr>
        <p:spPr bwMode="auto">
          <a:xfrm>
            <a:off x="3062213" y="4528168"/>
            <a:ext cx="504056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5" name="动作按钮: 上一张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78B0AC2-DD1A-46A6-8465-556FBFC67BF0}"/>
              </a:ext>
            </a:extLst>
          </p:cNvPr>
          <p:cNvSpPr>
            <a:spLocks noChangeAspect="1"/>
          </p:cNvSpPr>
          <p:nvPr/>
        </p:nvSpPr>
        <p:spPr bwMode="auto">
          <a:xfrm>
            <a:off x="8244408" y="332656"/>
            <a:ext cx="576064" cy="576064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C25394-D289-4F02-BDE2-641C8EC845DE}"/>
              </a:ext>
            </a:extLst>
          </p:cNvPr>
          <p:cNvSpPr/>
          <p:nvPr/>
        </p:nvSpPr>
        <p:spPr bwMode="auto">
          <a:xfrm>
            <a:off x="3722190" y="3429000"/>
            <a:ext cx="1223666" cy="1728788"/>
          </a:xfrm>
          <a:prstGeom prst="rect">
            <a:avLst/>
          </a:prstGeom>
          <a:noFill/>
          <a:ln w="76200" cap="flat" cmpd="sng" algn="ctr">
            <a:solidFill>
              <a:srgbClr val="FF6600">
                <a:alpha val="3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F43B0AC-DC61-4629-A462-70A559B320F3}"/>
              </a:ext>
            </a:extLst>
          </p:cNvPr>
          <p:cNvCxnSpPr>
            <a:cxnSpLocks/>
          </p:cNvCxnSpPr>
          <p:nvPr/>
        </p:nvCxnSpPr>
        <p:spPr bwMode="auto">
          <a:xfrm>
            <a:off x="374351" y="3861048"/>
            <a:ext cx="5450187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B630F5E-7373-4B55-B536-34BFEBD7E637}"/>
              </a:ext>
            </a:extLst>
          </p:cNvPr>
          <p:cNvCxnSpPr>
            <a:cxnSpLocks/>
          </p:cNvCxnSpPr>
          <p:nvPr/>
        </p:nvCxnSpPr>
        <p:spPr bwMode="auto">
          <a:xfrm>
            <a:off x="4499992" y="5733256"/>
            <a:ext cx="720080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F796770-9E01-4901-B331-CE2D7B898847}"/>
              </a:ext>
            </a:extLst>
          </p:cNvPr>
          <p:cNvCxnSpPr>
            <a:cxnSpLocks/>
          </p:cNvCxnSpPr>
          <p:nvPr/>
        </p:nvCxnSpPr>
        <p:spPr bwMode="auto">
          <a:xfrm>
            <a:off x="6588224" y="4437112"/>
            <a:ext cx="366389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38D849D-A42D-4DCA-BFFD-7787A967D0DB}"/>
              </a:ext>
            </a:extLst>
          </p:cNvPr>
          <p:cNvCxnSpPr>
            <a:cxnSpLocks/>
          </p:cNvCxnSpPr>
          <p:nvPr/>
        </p:nvCxnSpPr>
        <p:spPr bwMode="auto">
          <a:xfrm>
            <a:off x="4499992" y="4460924"/>
            <a:ext cx="535583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FF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F9C4E39-9BC6-4E5B-BD9C-E35FD0975A91}"/>
              </a:ext>
            </a:extLst>
          </p:cNvPr>
          <p:cNvCxnSpPr>
            <a:cxnSpLocks/>
          </p:cNvCxnSpPr>
          <p:nvPr/>
        </p:nvCxnSpPr>
        <p:spPr bwMode="auto">
          <a:xfrm>
            <a:off x="4269262" y="4094027"/>
            <a:ext cx="230730" cy="366897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FF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462EF49-3073-4F03-8A5B-AAB4496A6660}"/>
              </a:ext>
            </a:extLst>
          </p:cNvPr>
          <p:cNvCxnSpPr>
            <a:cxnSpLocks/>
          </p:cNvCxnSpPr>
          <p:nvPr/>
        </p:nvCxnSpPr>
        <p:spPr bwMode="auto">
          <a:xfrm>
            <a:off x="5035575" y="4460924"/>
            <a:ext cx="0" cy="756371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FF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8EF9965-60EE-4AF7-90AD-25E7CD6375D8}"/>
              </a:ext>
            </a:extLst>
          </p:cNvPr>
          <p:cNvCxnSpPr>
            <a:cxnSpLocks/>
          </p:cNvCxnSpPr>
          <p:nvPr/>
        </p:nvCxnSpPr>
        <p:spPr bwMode="auto">
          <a:xfrm>
            <a:off x="5035575" y="5217295"/>
            <a:ext cx="1919832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FF">
                <a:alpha val="50196"/>
              </a:srgb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83DDAC9-5E19-49F2-901A-E9B295609E2F}"/>
              </a:ext>
            </a:extLst>
          </p:cNvPr>
          <p:cNvCxnSpPr>
            <a:cxnSpLocks/>
          </p:cNvCxnSpPr>
          <p:nvPr/>
        </p:nvCxnSpPr>
        <p:spPr bwMode="auto">
          <a:xfrm flipV="1">
            <a:off x="5220072" y="4926881"/>
            <a:ext cx="0" cy="805521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12FB727-6984-4385-89BA-31C889845804}"/>
              </a:ext>
            </a:extLst>
          </p:cNvPr>
          <p:cNvCxnSpPr>
            <a:cxnSpLocks/>
          </p:cNvCxnSpPr>
          <p:nvPr/>
        </p:nvCxnSpPr>
        <p:spPr bwMode="auto">
          <a:xfrm>
            <a:off x="5227215" y="4926881"/>
            <a:ext cx="208881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256B2D2-988B-40C0-ABC2-0886C1F76E8D}"/>
              </a:ext>
            </a:extLst>
          </p:cNvPr>
          <p:cNvCxnSpPr>
            <a:cxnSpLocks/>
          </p:cNvCxnSpPr>
          <p:nvPr/>
        </p:nvCxnSpPr>
        <p:spPr bwMode="auto">
          <a:xfrm flipV="1">
            <a:off x="5436096" y="4662488"/>
            <a:ext cx="131267" cy="264393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3BCCEC5-5052-42B7-9C11-F4C1D6FBA537}"/>
              </a:ext>
            </a:extLst>
          </p:cNvPr>
          <p:cNvCxnSpPr>
            <a:cxnSpLocks/>
          </p:cNvCxnSpPr>
          <p:nvPr/>
        </p:nvCxnSpPr>
        <p:spPr bwMode="auto">
          <a:xfrm>
            <a:off x="5567363" y="4662488"/>
            <a:ext cx="257175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00">
                <a:alpha val="49804"/>
              </a:srgb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E3E0E29-B1FF-4DED-BE1F-63B5D7426EDF}"/>
              </a:ext>
            </a:extLst>
          </p:cNvPr>
          <p:cNvCxnSpPr>
            <a:cxnSpLocks/>
          </p:cNvCxnSpPr>
          <p:nvPr/>
        </p:nvCxnSpPr>
        <p:spPr bwMode="auto">
          <a:xfrm>
            <a:off x="3779912" y="4094027"/>
            <a:ext cx="489350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FF00FF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C74474B-0CFF-4FD6-B9E9-5FF281EB9330}"/>
              </a:ext>
            </a:extLst>
          </p:cNvPr>
          <p:cNvCxnSpPr>
            <a:cxnSpLocks/>
          </p:cNvCxnSpPr>
          <p:nvPr/>
        </p:nvCxnSpPr>
        <p:spPr bwMode="auto">
          <a:xfrm>
            <a:off x="7092280" y="4794684"/>
            <a:ext cx="45642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4A5AFDB-F0D3-401E-A1EF-1AE73C503AAE}"/>
              </a:ext>
            </a:extLst>
          </p:cNvPr>
          <p:cNvSpPr txBox="1"/>
          <p:nvPr/>
        </p:nvSpPr>
        <p:spPr bwMode="auto">
          <a:xfrm>
            <a:off x="1402875" y="2940240"/>
            <a:ext cx="585664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4000">
                <a:solidFill>
                  <a:srgbClr val="FF0000"/>
                </a:solidFill>
              </a:rPr>
              <a:t>IF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CABEC53-D918-48FE-83C3-71FC0FC2A682}"/>
              </a:ext>
            </a:extLst>
          </p:cNvPr>
          <p:cNvSpPr txBox="1"/>
          <p:nvPr/>
        </p:nvSpPr>
        <p:spPr bwMode="auto">
          <a:xfrm>
            <a:off x="4417743" y="3170305"/>
            <a:ext cx="643373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4000">
                <a:solidFill>
                  <a:srgbClr val="FF0000"/>
                </a:solidFill>
              </a:rPr>
              <a:t>I</a:t>
            </a:r>
            <a:r>
              <a:rPr lang="en-US" altLang="zh-CN" sz="4000">
                <a:solidFill>
                  <a:srgbClr val="FF0000"/>
                </a:solidFill>
              </a:rPr>
              <a:t>D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D9DEA79-C581-417E-9697-FF49AC37520C}"/>
              </a:ext>
            </a:extLst>
          </p:cNvPr>
          <p:cNvSpPr txBox="1"/>
          <p:nvPr/>
        </p:nvSpPr>
        <p:spPr bwMode="auto">
          <a:xfrm>
            <a:off x="5978468" y="3184479"/>
            <a:ext cx="784436" cy="61555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</a:rPr>
              <a:t>EX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6FE8E0F-CD82-4CAD-AB75-E0C8FC2FB85F}"/>
              </a:ext>
            </a:extLst>
          </p:cNvPr>
          <p:cNvSpPr txBox="1"/>
          <p:nvPr/>
        </p:nvSpPr>
        <p:spPr bwMode="auto">
          <a:xfrm>
            <a:off x="7027483" y="3487533"/>
            <a:ext cx="1122671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MEM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04C262B-C361-4827-BE0B-D98A1E5B1BA8}"/>
              </a:ext>
            </a:extLst>
          </p:cNvPr>
          <p:cNvSpPr txBox="1"/>
          <p:nvPr/>
        </p:nvSpPr>
        <p:spPr bwMode="auto">
          <a:xfrm>
            <a:off x="1124436" y="2586995"/>
            <a:ext cx="870999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10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AB85F6F-C4B0-4187-9A82-DC654571F765}"/>
              </a:ext>
            </a:extLst>
          </p:cNvPr>
          <p:cNvSpPr txBox="1"/>
          <p:nvPr/>
        </p:nvSpPr>
        <p:spPr bwMode="auto">
          <a:xfrm>
            <a:off x="4390291" y="3890417"/>
            <a:ext cx="665814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5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C639D09-FFC0-4ACA-ACAF-809D12B6845B}"/>
              </a:ext>
            </a:extLst>
          </p:cNvPr>
          <p:cNvSpPr txBox="1"/>
          <p:nvPr/>
        </p:nvSpPr>
        <p:spPr bwMode="auto">
          <a:xfrm>
            <a:off x="6037779" y="2867990"/>
            <a:ext cx="665814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5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8E1D3B6-7E93-400A-A632-B8C58D63189D}"/>
              </a:ext>
            </a:extLst>
          </p:cNvPr>
          <p:cNvSpPr txBox="1"/>
          <p:nvPr/>
        </p:nvSpPr>
        <p:spPr bwMode="auto">
          <a:xfrm>
            <a:off x="7113209" y="3138083"/>
            <a:ext cx="870999" cy="49244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3200">
                <a:solidFill>
                  <a:srgbClr val="FF00FF"/>
                </a:solidFill>
              </a:rPr>
              <a:t>10</a:t>
            </a:r>
            <a:r>
              <a:rPr lang="en-US" altLang="zh-CN" sz="3200" i="1">
                <a:solidFill>
                  <a:srgbClr val="FF00FF"/>
                </a:solidFill>
              </a:rPr>
              <a:t>ns</a:t>
            </a:r>
            <a:endParaRPr lang="zh-CN" altLang="en-US" sz="3200" i="1">
              <a:solidFill>
                <a:srgbClr val="FF00FF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2F85AA7-64B0-4349-8191-8DD71E72D4D0}"/>
              </a:ext>
            </a:extLst>
          </p:cNvPr>
          <p:cNvSpPr txBox="1"/>
          <p:nvPr/>
        </p:nvSpPr>
        <p:spPr bwMode="auto">
          <a:xfrm>
            <a:off x="1763688" y="20119"/>
            <a:ext cx="4398244" cy="1043539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 type="none" w="med" len="lg"/>
          </a:ln>
          <a:effectLst>
            <a:softEdge rad="317500"/>
          </a:effectLst>
        </p:spPr>
        <p:txBody>
          <a:bodyPr wrap="none" lIns="36000" tIns="0" rIns="36000" bIns="0" anchor="ctr" anchorCtr="0">
            <a:noAutofit/>
          </a:bodyPr>
          <a:lstStyle/>
          <a:p>
            <a:r>
              <a:rPr lang="en-US" altLang="zh-CN" sz="4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</a:t>
            </a:r>
            <a:r>
              <a:rPr lang="en-US" altLang="zh-CN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指令的数据通路</a:t>
            </a:r>
            <a:endParaRPr lang="zh-CN" altLang="en-US" sz="3200" i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CA546A5-1FF9-4FA6-A5E8-1A566CFDFAAA}"/>
              </a:ext>
            </a:extLst>
          </p:cNvPr>
          <p:cNvSpPr txBox="1"/>
          <p:nvPr/>
        </p:nvSpPr>
        <p:spPr bwMode="auto">
          <a:xfrm>
            <a:off x="7615937" y="148478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70684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1CDF1-78D2-449C-8A40-CF071D94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5CA62-48DC-4F72-A300-1FD14B90C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981719-3438-47B8-9D5A-833921A4E449}"/>
              </a:ext>
            </a:extLst>
          </p:cNvPr>
          <p:cNvSpPr txBox="1"/>
          <p:nvPr/>
        </p:nvSpPr>
        <p:spPr bwMode="auto">
          <a:xfrm>
            <a:off x="7236296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28">
            <a:extLst>
              <a:ext uri="{FF2B5EF4-FFF2-40B4-BE49-F238E27FC236}">
                <a16:creationId xmlns:a16="http://schemas.microsoft.com/office/drawing/2014/main" id="{C4D52040-79F6-4615-9AD6-C1854B693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82451"/>
              </p:ext>
            </p:extLst>
          </p:nvPr>
        </p:nvGraphicFramePr>
        <p:xfrm>
          <a:off x="479555" y="1350638"/>
          <a:ext cx="8507286" cy="2097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91004535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009869526"/>
                    </a:ext>
                  </a:extLst>
                </a:gridCol>
              </a:tblGrid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  <a:tr h="349551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21120"/>
                  </a:ext>
                </a:extLst>
              </a:tr>
            </a:tbl>
          </a:graphicData>
        </a:graphic>
      </p:graphicFrame>
      <p:graphicFrame>
        <p:nvGraphicFramePr>
          <p:cNvPr id="12" name="表格 28">
            <a:extLst>
              <a:ext uri="{FF2B5EF4-FFF2-40B4-BE49-F238E27FC236}">
                <a16:creationId xmlns:a16="http://schemas.microsoft.com/office/drawing/2014/main" id="{000C5BA7-54A8-4931-BE5A-364B22339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90024"/>
              </p:ext>
            </p:extLst>
          </p:nvPr>
        </p:nvGraphicFramePr>
        <p:xfrm>
          <a:off x="95019" y="1350639"/>
          <a:ext cx="384535" cy="209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535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</a:tblGrid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I3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77533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I4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I5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5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I6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</a:tbl>
          </a:graphicData>
        </a:graphic>
      </p:graphicFrame>
      <p:graphicFrame>
        <p:nvGraphicFramePr>
          <p:cNvPr id="13" name="表格 28">
            <a:extLst>
              <a:ext uri="{FF2B5EF4-FFF2-40B4-BE49-F238E27FC236}">
                <a16:creationId xmlns:a16="http://schemas.microsoft.com/office/drawing/2014/main" id="{FF3F2A32-C17C-432A-8513-D67A395D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23665"/>
              </p:ext>
            </p:extLst>
          </p:nvPr>
        </p:nvGraphicFramePr>
        <p:xfrm>
          <a:off x="479554" y="1030818"/>
          <a:ext cx="8507286" cy="31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96316449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73991436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</a:tblGrid>
              <a:tr h="312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</a:tbl>
          </a:graphicData>
        </a:graphic>
      </p:graphicFrame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41E8975B-5CC9-4E09-A9A9-390BC5A0F88F}"/>
              </a:ext>
            </a:extLst>
          </p:cNvPr>
          <p:cNvSpPr txBox="1">
            <a:spLocks/>
          </p:cNvSpPr>
          <p:nvPr/>
        </p:nvSpPr>
        <p:spPr bwMode="auto">
          <a:xfrm>
            <a:off x="8087907" y="1442393"/>
            <a:ext cx="1020597" cy="5040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时间</a:t>
            </a:r>
            <a:endParaRPr lang="en-US" altLang="zh-CN" sz="2000" kern="0">
              <a:solidFill>
                <a:srgbClr val="009900"/>
              </a:solidFill>
              <a:ea typeface="宋体" pitchFamily="2" charset="-122"/>
            </a:endParaRP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009900"/>
                </a:solidFill>
              </a:rPr>
              <a:t>Δt</a:t>
            </a:r>
            <a:r>
              <a:rPr lang="zh-CN" altLang="en-US" sz="2000" kern="0">
                <a:solidFill>
                  <a:srgbClr val="009900"/>
                </a:solidFill>
              </a:rPr>
              <a:t>＝</a:t>
            </a:r>
            <a:r>
              <a:rPr lang="en-US" altLang="zh-CN" sz="2000" kern="0">
                <a:solidFill>
                  <a:srgbClr val="009900"/>
                </a:solidFill>
              </a:rPr>
              <a:t>5ns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D71D3CE-8C0C-4F87-BE2D-D627B00AAA4A}"/>
              </a:ext>
            </a:extLst>
          </p:cNvPr>
          <p:cNvSpPr txBox="1">
            <a:spLocks/>
          </p:cNvSpPr>
          <p:nvPr/>
        </p:nvSpPr>
        <p:spPr bwMode="auto">
          <a:xfrm>
            <a:off x="357887" y="3280543"/>
            <a:ext cx="946448" cy="5125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空间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28127A9-2968-44EC-BC29-32C36720DC96}"/>
              </a:ext>
            </a:extLst>
          </p:cNvPr>
          <p:cNvCxnSpPr>
            <a:cxnSpLocks/>
          </p:cNvCxnSpPr>
          <p:nvPr/>
        </p:nvCxnSpPr>
        <p:spPr bwMode="auto">
          <a:xfrm>
            <a:off x="479557" y="1350640"/>
            <a:ext cx="8544454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512CDE1-BC21-4D59-80A8-FA8E5960582B}"/>
              </a:ext>
            </a:extLst>
          </p:cNvPr>
          <p:cNvCxnSpPr>
            <a:cxnSpLocks/>
          </p:cNvCxnSpPr>
          <p:nvPr/>
        </p:nvCxnSpPr>
        <p:spPr bwMode="auto">
          <a:xfrm>
            <a:off x="479557" y="1350640"/>
            <a:ext cx="0" cy="2304256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336B453-EC18-4554-90BD-19A3A8364E9E}"/>
              </a:ext>
            </a:extLst>
          </p:cNvPr>
          <p:cNvSpPr/>
          <p:nvPr/>
        </p:nvSpPr>
        <p:spPr bwMode="auto">
          <a:xfrm>
            <a:off x="496890" y="1367646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975DDE-32E8-4FA6-BEEA-3E79BFB3494D}"/>
              </a:ext>
            </a:extLst>
          </p:cNvPr>
          <p:cNvSpPr/>
          <p:nvPr/>
        </p:nvSpPr>
        <p:spPr bwMode="auto">
          <a:xfrm>
            <a:off x="1233978" y="1714333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D9042B-545F-4BD3-BF2F-5D51DDEA6DC7}"/>
              </a:ext>
            </a:extLst>
          </p:cNvPr>
          <p:cNvSpPr/>
          <p:nvPr/>
        </p:nvSpPr>
        <p:spPr bwMode="auto">
          <a:xfrm>
            <a:off x="1974725" y="2064170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C77B54-F557-4969-B529-F7CD1E88C24A}"/>
              </a:ext>
            </a:extLst>
          </p:cNvPr>
          <p:cNvSpPr/>
          <p:nvPr/>
        </p:nvSpPr>
        <p:spPr bwMode="auto">
          <a:xfrm>
            <a:off x="2713244" y="2413572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D2CA1B-8A82-4727-8EBE-75AC21FD9172}"/>
              </a:ext>
            </a:extLst>
          </p:cNvPr>
          <p:cNvSpPr/>
          <p:nvPr/>
        </p:nvSpPr>
        <p:spPr bwMode="auto">
          <a:xfrm>
            <a:off x="4565574" y="2763064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A91D15-0969-433C-BE1E-27BCCB98F780}"/>
              </a:ext>
            </a:extLst>
          </p:cNvPr>
          <p:cNvSpPr/>
          <p:nvPr/>
        </p:nvSpPr>
        <p:spPr bwMode="auto">
          <a:xfrm>
            <a:off x="1973314" y="1367646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392EC5-9F65-4E0D-83E1-AB3D30F0BD44}"/>
              </a:ext>
            </a:extLst>
          </p:cNvPr>
          <p:cNvSpPr/>
          <p:nvPr/>
        </p:nvSpPr>
        <p:spPr bwMode="auto">
          <a:xfrm>
            <a:off x="2713245" y="1715328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644543-583B-411B-BCBE-62123540C46D}"/>
              </a:ext>
            </a:extLst>
          </p:cNvPr>
          <p:cNvSpPr/>
          <p:nvPr/>
        </p:nvSpPr>
        <p:spPr bwMode="auto">
          <a:xfrm>
            <a:off x="3455010" y="2063557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2240D5-E012-4528-8013-21001F9649DB}"/>
              </a:ext>
            </a:extLst>
          </p:cNvPr>
          <p:cNvSpPr/>
          <p:nvPr/>
        </p:nvSpPr>
        <p:spPr bwMode="auto">
          <a:xfrm>
            <a:off x="5307272" y="2413441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1831AD-2083-4D81-A370-695B529D5612}"/>
              </a:ext>
            </a:extLst>
          </p:cNvPr>
          <p:cNvSpPr/>
          <p:nvPr/>
        </p:nvSpPr>
        <p:spPr bwMode="auto">
          <a:xfrm>
            <a:off x="7156980" y="2762001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6CD8A3-6EAC-4C0B-AECF-7B438F95B3BD}"/>
              </a:ext>
            </a:extLst>
          </p:cNvPr>
          <p:cNvSpPr/>
          <p:nvPr/>
        </p:nvSpPr>
        <p:spPr bwMode="auto">
          <a:xfrm>
            <a:off x="2710376" y="1367646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7D04AA-E526-4EC9-A55B-42A9C2DEE741}"/>
              </a:ext>
            </a:extLst>
          </p:cNvPr>
          <p:cNvSpPr/>
          <p:nvPr/>
        </p:nvSpPr>
        <p:spPr bwMode="auto">
          <a:xfrm>
            <a:off x="3452906" y="1714464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5968E2-BAA5-49AD-A40F-351834CD0A25}"/>
              </a:ext>
            </a:extLst>
          </p:cNvPr>
          <p:cNvSpPr/>
          <p:nvPr/>
        </p:nvSpPr>
        <p:spPr bwMode="auto">
          <a:xfrm>
            <a:off x="4193009" y="2064461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312329-10BD-427B-981B-86432FE201DC}"/>
              </a:ext>
            </a:extLst>
          </p:cNvPr>
          <p:cNvSpPr/>
          <p:nvPr/>
        </p:nvSpPr>
        <p:spPr bwMode="auto">
          <a:xfrm>
            <a:off x="6043214" y="2412446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C4E6A0-4E09-4778-85F1-201473CF0E88}"/>
              </a:ext>
            </a:extLst>
          </p:cNvPr>
          <p:cNvSpPr/>
          <p:nvPr/>
        </p:nvSpPr>
        <p:spPr bwMode="auto">
          <a:xfrm>
            <a:off x="7893860" y="2762176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BABDB7-B9DC-49B8-B1CA-8DDC39D1FE22}"/>
              </a:ext>
            </a:extLst>
          </p:cNvPr>
          <p:cNvSpPr/>
          <p:nvPr/>
        </p:nvSpPr>
        <p:spPr bwMode="auto">
          <a:xfrm>
            <a:off x="1600812" y="1367646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1BFCD2-AFB1-4E77-8995-BE14C91D2BFF}"/>
              </a:ext>
            </a:extLst>
          </p:cNvPr>
          <p:cNvSpPr/>
          <p:nvPr/>
        </p:nvSpPr>
        <p:spPr bwMode="auto">
          <a:xfrm>
            <a:off x="2341337" y="1716637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37821A-2E57-49D9-B63B-F8089B0660F9}"/>
              </a:ext>
            </a:extLst>
          </p:cNvPr>
          <p:cNvSpPr/>
          <p:nvPr/>
        </p:nvSpPr>
        <p:spPr bwMode="auto">
          <a:xfrm>
            <a:off x="3082371" y="2064698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DD4CD4-D214-4552-A6E6-A6AD65D8A9EE}"/>
              </a:ext>
            </a:extLst>
          </p:cNvPr>
          <p:cNvSpPr/>
          <p:nvPr/>
        </p:nvSpPr>
        <p:spPr bwMode="auto">
          <a:xfrm>
            <a:off x="4933007" y="2414261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EC33AED-7C7A-468D-B7D5-4ACC231155AE}"/>
              </a:ext>
            </a:extLst>
          </p:cNvPr>
          <p:cNvSpPr/>
          <p:nvPr/>
        </p:nvSpPr>
        <p:spPr bwMode="auto">
          <a:xfrm>
            <a:off x="6785831" y="2761025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9A4F1FB-2F95-416C-9738-D36BF0E4D5F1}"/>
              </a:ext>
            </a:extLst>
          </p:cNvPr>
          <p:cNvSpPr/>
          <p:nvPr/>
        </p:nvSpPr>
        <p:spPr bwMode="auto">
          <a:xfrm>
            <a:off x="6416307" y="2763018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A3B14B-F972-4DF9-8903-9834EB1BC86C}"/>
              </a:ext>
            </a:extLst>
          </p:cNvPr>
          <p:cNvSpPr/>
          <p:nvPr/>
        </p:nvSpPr>
        <p:spPr bwMode="auto">
          <a:xfrm>
            <a:off x="4562220" y="2412016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55F973-1C20-48AC-BA3B-182223E68FD1}"/>
              </a:ext>
            </a:extLst>
          </p:cNvPr>
          <p:cNvSpPr/>
          <p:nvPr/>
        </p:nvSpPr>
        <p:spPr bwMode="auto">
          <a:xfrm>
            <a:off x="2710953" y="2064506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116D75A-15BF-43A4-96DD-3813DA1222C4}"/>
              </a:ext>
            </a:extLst>
          </p:cNvPr>
          <p:cNvSpPr/>
          <p:nvPr/>
        </p:nvSpPr>
        <p:spPr bwMode="auto">
          <a:xfrm>
            <a:off x="1969656" y="1716441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5B28449-3F18-4254-A525-89B8ADB125FC}"/>
              </a:ext>
            </a:extLst>
          </p:cNvPr>
          <p:cNvSpPr/>
          <p:nvPr/>
        </p:nvSpPr>
        <p:spPr bwMode="auto">
          <a:xfrm>
            <a:off x="1231695" y="1367793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62F6282-4F09-4B89-AB01-2DF10615A05D}"/>
              </a:ext>
            </a:extLst>
          </p:cNvPr>
          <p:cNvSpPr/>
          <p:nvPr/>
        </p:nvSpPr>
        <p:spPr bwMode="auto">
          <a:xfrm>
            <a:off x="6416276" y="3114452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IF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067E1AB-A8C1-4AAB-A8C5-962283B54E7E}"/>
              </a:ext>
            </a:extLst>
          </p:cNvPr>
          <p:cNvSpPr/>
          <p:nvPr/>
        </p:nvSpPr>
        <p:spPr bwMode="auto">
          <a:xfrm>
            <a:off x="7896109" y="3113256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Times New Roman" pitchFamily="18" charset="0"/>
                <a:ea typeface="宋体" pitchFamily="2" charset="-122"/>
              </a:rPr>
              <a:t>MEM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6DB799-A6D8-4A54-B6A9-39E49700F9A3}"/>
              </a:ext>
            </a:extLst>
          </p:cNvPr>
          <p:cNvSpPr/>
          <p:nvPr/>
        </p:nvSpPr>
        <p:spPr bwMode="auto">
          <a:xfrm>
            <a:off x="8632989" y="3113431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</a:rPr>
              <a:t>WB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431734C-9BE1-4719-8F72-49688464761E}"/>
              </a:ext>
            </a:extLst>
          </p:cNvPr>
          <p:cNvSpPr/>
          <p:nvPr/>
        </p:nvSpPr>
        <p:spPr bwMode="auto">
          <a:xfrm>
            <a:off x="7523769" y="3112280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996633"/>
                </a:solidFill>
                <a:effectLst/>
                <a:latin typeface="Times New Roman" pitchFamily="18" charset="0"/>
                <a:ea typeface="宋体" pitchFamily="2" charset="-122"/>
              </a:rPr>
              <a:t>EX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5F94BB7-7E73-4419-8CA8-D2F8AA120BA6}"/>
              </a:ext>
            </a:extLst>
          </p:cNvPr>
          <p:cNvSpPr/>
          <p:nvPr/>
        </p:nvSpPr>
        <p:spPr bwMode="auto">
          <a:xfrm>
            <a:off x="7154245" y="3114273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pitchFamily="2" charset="-122"/>
              </a:rPr>
              <a:t>ID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49" name="表格 28">
            <a:extLst>
              <a:ext uri="{FF2B5EF4-FFF2-40B4-BE49-F238E27FC236}">
                <a16:creationId xmlns:a16="http://schemas.microsoft.com/office/drawing/2014/main" id="{AB532D0B-EDCB-43AD-9CE3-C32E5EFDD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462969"/>
              </p:ext>
            </p:extLst>
          </p:nvPr>
        </p:nvGraphicFramePr>
        <p:xfrm>
          <a:off x="479555" y="4421138"/>
          <a:ext cx="8507286" cy="1749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91004535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009869526"/>
                    </a:ext>
                  </a:extLst>
                </a:gridCol>
              </a:tblGrid>
              <a:tr h="349827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397329"/>
                  </a:ext>
                </a:extLst>
              </a:tr>
              <a:tr h="349827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49827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49827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  <a:tr h="349827"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66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21120"/>
                  </a:ext>
                </a:extLst>
              </a:tr>
            </a:tbl>
          </a:graphicData>
        </a:graphic>
      </p:graphicFrame>
      <p:graphicFrame>
        <p:nvGraphicFramePr>
          <p:cNvPr id="51" name="表格 28">
            <a:extLst>
              <a:ext uri="{FF2B5EF4-FFF2-40B4-BE49-F238E27FC236}">
                <a16:creationId xmlns:a16="http://schemas.microsoft.com/office/drawing/2014/main" id="{803F07E6-3E0C-4CA7-94D2-4C1F229DC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08750"/>
              </p:ext>
            </p:extLst>
          </p:nvPr>
        </p:nvGraphicFramePr>
        <p:xfrm>
          <a:off x="479554" y="6132587"/>
          <a:ext cx="8507286" cy="312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882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5828141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183041501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85155512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21845946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366706007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407162308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5750508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36032558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107633394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504120796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99408624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2853242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23656461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8853560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523435020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000762824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275156105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963164493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98640728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73991436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127053245"/>
                    </a:ext>
                  </a:extLst>
                </a:gridCol>
                <a:gridCol w="369882">
                  <a:extLst>
                    <a:ext uri="{9D8B030D-6E8A-4147-A177-3AD203B41FA5}">
                      <a16:colId xmlns:a16="http://schemas.microsoft.com/office/drawing/2014/main" val="3486936528"/>
                    </a:ext>
                  </a:extLst>
                </a:gridCol>
              </a:tblGrid>
              <a:tr h="312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14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15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16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17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18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19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20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21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22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6600"/>
                          </a:solidFill>
                          <a:latin typeface="+mn-lt"/>
                        </a:rPr>
                        <a:t>23</a:t>
                      </a:r>
                      <a:endParaRPr lang="zh-CN" altLang="en-US" sz="1800" b="1">
                        <a:solidFill>
                          <a:srgbClr val="FF6600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</a:tbl>
          </a:graphicData>
        </a:graphic>
      </p:graphicFrame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E55EACE-B7DE-4910-ACA4-2B3580021865}"/>
              </a:ext>
            </a:extLst>
          </p:cNvPr>
          <p:cNvSpPr txBox="1">
            <a:spLocks/>
          </p:cNvSpPr>
          <p:nvPr/>
        </p:nvSpPr>
        <p:spPr bwMode="auto">
          <a:xfrm>
            <a:off x="8087907" y="5653119"/>
            <a:ext cx="1020597" cy="5040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000" kern="0">
                <a:solidFill>
                  <a:srgbClr val="009900"/>
                </a:solidFill>
              </a:rPr>
              <a:t>Δt</a:t>
            </a:r>
            <a:r>
              <a:rPr lang="zh-CN" altLang="en-US" sz="2000" kern="0">
                <a:solidFill>
                  <a:srgbClr val="009900"/>
                </a:solidFill>
              </a:rPr>
              <a:t>＝</a:t>
            </a:r>
            <a:r>
              <a:rPr lang="en-US" altLang="zh-CN" sz="2000" kern="0">
                <a:solidFill>
                  <a:srgbClr val="009900"/>
                </a:solidFill>
              </a:rPr>
              <a:t>5ns</a:t>
            </a: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时间</a:t>
            </a:r>
            <a:endParaRPr lang="en-US" altLang="zh-CN" sz="2000" kern="0">
              <a:solidFill>
                <a:srgbClr val="009900"/>
              </a:solidFill>
              <a:ea typeface="宋体" pitchFamily="2" charset="-122"/>
            </a:endParaRPr>
          </a:p>
        </p:txBody>
      </p: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2D406464-21F4-4438-9218-F919E6BCD469}"/>
              </a:ext>
            </a:extLst>
          </p:cNvPr>
          <p:cNvSpPr txBox="1">
            <a:spLocks/>
          </p:cNvSpPr>
          <p:nvPr/>
        </p:nvSpPr>
        <p:spPr bwMode="auto">
          <a:xfrm>
            <a:off x="357887" y="4068564"/>
            <a:ext cx="946448" cy="5125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 algn="ctr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000" kern="0">
                <a:solidFill>
                  <a:srgbClr val="009900"/>
                </a:solidFill>
                <a:ea typeface="宋体" pitchFamily="2" charset="-122"/>
              </a:rPr>
              <a:t>空间</a:t>
            </a:r>
            <a:endParaRPr lang="zh-CN" altLang="en-US" sz="2000" kern="0">
              <a:solidFill>
                <a:srgbClr val="009900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5037E8A-1D3C-443F-B6E7-7D4BD8A17E5F}"/>
              </a:ext>
            </a:extLst>
          </p:cNvPr>
          <p:cNvCxnSpPr>
            <a:cxnSpLocks/>
          </p:cNvCxnSpPr>
          <p:nvPr/>
        </p:nvCxnSpPr>
        <p:spPr bwMode="auto">
          <a:xfrm flipV="1">
            <a:off x="479557" y="4178697"/>
            <a:ext cx="0" cy="199158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434856D-1898-4F80-B76C-190679BEE0FF}"/>
              </a:ext>
            </a:extLst>
          </p:cNvPr>
          <p:cNvCxnSpPr>
            <a:cxnSpLocks/>
          </p:cNvCxnSpPr>
          <p:nvPr/>
        </p:nvCxnSpPr>
        <p:spPr bwMode="auto">
          <a:xfrm>
            <a:off x="479557" y="6171465"/>
            <a:ext cx="8544454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72FD32B-0F1B-475D-AD53-4D85DB29B0D5}"/>
              </a:ext>
            </a:extLst>
          </p:cNvPr>
          <p:cNvSpPr txBox="1">
            <a:spLocks/>
          </p:cNvSpPr>
          <p:nvPr/>
        </p:nvSpPr>
        <p:spPr bwMode="auto">
          <a:xfrm>
            <a:off x="1195888" y="620688"/>
            <a:ext cx="78406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kern="0">
                <a:ea typeface="宋体" pitchFamily="2" charset="-122"/>
              </a:rPr>
              <a:t>时空图 画法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zh-CN" altLang="en-US" sz="2400" kern="0">
                <a:ea typeface="宋体" pitchFamily="2" charset="-122"/>
              </a:rPr>
              <a:t>：</a:t>
            </a:r>
            <a:r>
              <a:rPr lang="zh-CN" altLang="en-US" sz="2400" kern="0">
                <a:solidFill>
                  <a:srgbClr val="008000"/>
                </a:solidFill>
                <a:ea typeface="宋体" pitchFamily="2" charset="-122"/>
              </a:rPr>
              <a:t>纵坐标</a:t>
            </a:r>
            <a:r>
              <a:rPr lang="zh-CN" altLang="en-US" sz="2400" kern="0">
                <a:ea typeface="宋体" pitchFamily="2" charset="-122"/>
              </a:rPr>
              <a:t>是</a:t>
            </a:r>
            <a:r>
              <a:rPr lang="zh-CN" altLang="en-US"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任务编号</a:t>
            </a:r>
            <a:r>
              <a:rPr lang="zh-CN" altLang="en-US" sz="2400" kern="0">
                <a:ea typeface="宋体" pitchFamily="2" charset="-122"/>
              </a:rPr>
              <a:t>，</a:t>
            </a:r>
            <a:r>
              <a:rPr lang="zh-CN" altLang="en-US" sz="2400" kern="0">
                <a:solidFill>
                  <a:srgbClr val="FF0000"/>
                </a:solidFill>
                <a:ea typeface="宋体" pitchFamily="2" charset="-122"/>
              </a:rPr>
              <a:t>方框里</a:t>
            </a:r>
            <a:r>
              <a:rPr lang="zh-CN" altLang="en-US" sz="2400" kern="0">
                <a:ea typeface="宋体" pitchFamily="2" charset="-122"/>
              </a:rPr>
              <a:t>面是</a:t>
            </a:r>
            <a:r>
              <a:rPr lang="zh-CN" altLang="en-US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段编号</a:t>
            </a:r>
            <a:r>
              <a:rPr lang="zh-CN" altLang="en-US" sz="2400" kern="0">
                <a:ea typeface="宋体" pitchFamily="2" charset="-122"/>
              </a:rPr>
              <a:t>。</a:t>
            </a:r>
            <a:endParaRPr lang="zh-CN" altLang="en-US" sz="2400" kern="0"/>
          </a:p>
        </p:txBody>
      </p:sp>
      <p:graphicFrame>
        <p:nvGraphicFramePr>
          <p:cNvPr id="50" name="表格 28">
            <a:extLst>
              <a:ext uri="{FF2B5EF4-FFF2-40B4-BE49-F238E27FC236}">
                <a16:creationId xmlns:a16="http://schemas.microsoft.com/office/drawing/2014/main" id="{ABAF9D62-6113-4901-93C0-51666473B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03904"/>
              </p:ext>
            </p:extLst>
          </p:nvPr>
        </p:nvGraphicFramePr>
        <p:xfrm>
          <a:off x="83106" y="4421137"/>
          <a:ext cx="384535" cy="1750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535">
                  <a:extLst>
                    <a:ext uri="{9D8B030D-6E8A-4147-A177-3AD203B41FA5}">
                      <a16:colId xmlns:a16="http://schemas.microsoft.com/office/drawing/2014/main" val="3485015888"/>
                    </a:ext>
                  </a:extLst>
                </a:gridCol>
              </a:tblGrid>
              <a:tr h="350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021057"/>
                  </a:ext>
                </a:extLst>
              </a:tr>
              <a:tr h="350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MEM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3775330"/>
                  </a:ext>
                </a:extLst>
              </a:tr>
              <a:tr h="350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EX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2636701"/>
                  </a:ext>
                </a:extLst>
              </a:tr>
              <a:tr h="350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ID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49340"/>
                  </a:ext>
                </a:extLst>
              </a:tr>
              <a:tr h="3501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986422"/>
                  </a:ext>
                </a:extLst>
              </a:tr>
            </a:tbl>
          </a:graphicData>
        </a:graphic>
      </p:graphicFrame>
      <p:sp>
        <p:nvSpPr>
          <p:cNvPr id="92" name="矩形 91">
            <a:extLst>
              <a:ext uri="{FF2B5EF4-FFF2-40B4-BE49-F238E27FC236}">
                <a16:creationId xmlns:a16="http://schemas.microsoft.com/office/drawing/2014/main" id="{4D29570C-9BBE-4001-B3D5-65E48A0BA0F5}"/>
              </a:ext>
            </a:extLst>
          </p:cNvPr>
          <p:cNvSpPr/>
          <p:nvPr/>
        </p:nvSpPr>
        <p:spPr bwMode="auto">
          <a:xfrm>
            <a:off x="496890" y="5834439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宋体" pitchFamily="2" charset="-122"/>
              </a:rPr>
              <a:t>I1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3471895-9D28-40A8-9213-A239C7F084C2}"/>
              </a:ext>
            </a:extLst>
          </p:cNvPr>
          <p:cNvSpPr/>
          <p:nvPr/>
        </p:nvSpPr>
        <p:spPr bwMode="auto">
          <a:xfrm>
            <a:off x="1236313" y="5484252"/>
            <a:ext cx="339303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I1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961649D-8D1B-4396-B0C6-96E70B94F02A}"/>
              </a:ext>
            </a:extLst>
          </p:cNvPr>
          <p:cNvSpPr/>
          <p:nvPr/>
        </p:nvSpPr>
        <p:spPr bwMode="auto">
          <a:xfrm>
            <a:off x="1606715" y="5134661"/>
            <a:ext cx="339303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I1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BDA487B-4CCA-45E6-865C-8731746E4891}"/>
              </a:ext>
            </a:extLst>
          </p:cNvPr>
          <p:cNvSpPr/>
          <p:nvPr/>
        </p:nvSpPr>
        <p:spPr bwMode="auto">
          <a:xfrm>
            <a:off x="1976933" y="4785540"/>
            <a:ext cx="704990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I1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435AE1B-0687-4E79-8648-20C53BC77112}"/>
              </a:ext>
            </a:extLst>
          </p:cNvPr>
          <p:cNvSpPr/>
          <p:nvPr/>
        </p:nvSpPr>
        <p:spPr bwMode="auto">
          <a:xfrm>
            <a:off x="2715114" y="4435042"/>
            <a:ext cx="339303" cy="320730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I1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97" name="内容占位符 2">
            <a:extLst>
              <a:ext uri="{FF2B5EF4-FFF2-40B4-BE49-F238E27FC236}">
                <a16:creationId xmlns:a16="http://schemas.microsoft.com/office/drawing/2014/main" id="{BB1AE19A-788C-4BFD-9989-6AD447E30CA5}"/>
              </a:ext>
            </a:extLst>
          </p:cNvPr>
          <p:cNvSpPr txBox="1">
            <a:spLocks/>
          </p:cNvSpPr>
          <p:nvPr/>
        </p:nvSpPr>
        <p:spPr bwMode="auto">
          <a:xfrm>
            <a:off x="1092298" y="2707652"/>
            <a:ext cx="2464136" cy="1754326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I1:</a:t>
            </a:r>
            <a:r>
              <a:rPr lang="en-US" altLang="zh-CN" sz="1800" b="0" kern="0">
                <a:latin typeface="Consolas" panose="020B0609020204030204" pitchFamily="49" charset="0"/>
                <a:ea typeface="宋体" pitchFamily="2" charset="-122"/>
              </a:rPr>
              <a:t> addi a3,a3,4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I2:</a:t>
            </a:r>
            <a:r>
              <a:rPr lang="en-US" altLang="zh-CN" sz="18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1800" b="0" kern="0">
                <a:latin typeface="Consolas" panose="020B0609020204030204" pitchFamily="49" charset="0"/>
              </a:rPr>
              <a:t>addi a4,a4,1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I3:</a:t>
            </a:r>
            <a:r>
              <a:rPr lang="en-US" altLang="zh-CN" sz="18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1800" b="0" kern="0">
                <a:latin typeface="Consolas" panose="020B0609020204030204" pitchFamily="49" charset="0"/>
              </a:rPr>
              <a:t>slli </a:t>
            </a:r>
            <a:r>
              <a:rPr lang="en-US" altLang="zh-CN" sz="1800" b="0" kern="0">
                <a:solidFill>
                  <a:srgbClr val="009900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1800" b="0" kern="0">
                <a:latin typeface="Consolas" panose="020B0609020204030204" pitchFamily="49" charset="0"/>
              </a:rPr>
              <a:t>,a5,0x2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I4:</a:t>
            </a:r>
            <a:r>
              <a:rPr lang="en-US" altLang="zh-CN" sz="18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1800" b="0" kern="0">
                <a:latin typeface="Consolas" panose="020B0609020204030204" pitchFamily="49" charset="0"/>
              </a:rPr>
              <a:t>add </a:t>
            </a:r>
            <a:r>
              <a:rPr lang="en-US" altLang="zh-CN" sz="18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1800" b="0" kern="0">
                <a:latin typeface="Consolas" panose="020B0609020204030204" pitchFamily="49" charset="0"/>
              </a:rPr>
              <a:t>,a0,</a:t>
            </a:r>
            <a:r>
              <a:rPr lang="en-US" altLang="zh-CN" sz="1800" b="0" kern="0">
                <a:solidFill>
                  <a:srgbClr val="009900"/>
                </a:solidFill>
                <a:latin typeface="Consolas" panose="020B0609020204030204" pitchFamily="49" charset="0"/>
              </a:rPr>
              <a:t>a5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I5:</a:t>
            </a:r>
            <a:r>
              <a:rPr lang="en-US" altLang="zh-CN" sz="1800" b="0" kern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1800" b="0" kern="0">
                <a:latin typeface="Consolas" panose="020B0609020204030204" pitchFamily="49" charset="0"/>
              </a:rPr>
              <a:t>sw a6,0(</a:t>
            </a:r>
            <a:r>
              <a:rPr lang="en-US" altLang="zh-CN" sz="1800" b="0" kern="0">
                <a:solidFill>
                  <a:srgbClr val="FF00FF"/>
                </a:solidFill>
                <a:latin typeface="Consolas" panose="020B0609020204030204" pitchFamily="49" charset="0"/>
              </a:rPr>
              <a:t>a5</a:t>
            </a:r>
            <a:r>
              <a:rPr lang="en-US" altLang="zh-CN" sz="1800" b="0" kern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</a:rPr>
              <a:t>I6:</a:t>
            </a:r>
            <a:r>
              <a:rPr lang="en-US" altLang="zh-CN" sz="1800" b="0" kern="0">
                <a:latin typeface="Consolas" panose="020B0609020204030204" pitchFamily="49" charset="0"/>
              </a:rPr>
              <a:t> addi a2,a2,-4</a:t>
            </a:r>
            <a:endParaRPr lang="zh-CN" altLang="en-US" sz="1800" b="0" kern="0">
              <a:latin typeface="Consolas" panose="020B0609020204030204" pitchFamily="49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4C9930-7355-443B-A7D0-6BE19D8AE3A4}"/>
              </a:ext>
            </a:extLst>
          </p:cNvPr>
          <p:cNvSpPr/>
          <p:nvPr/>
        </p:nvSpPr>
        <p:spPr bwMode="auto">
          <a:xfrm>
            <a:off x="1236417" y="5834439"/>
            <a:ext cx="704990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chemeClr val="bg2"/>
                </a:solidFill>
              </a:rPr>
              <a:t>I2</a:t>
            </a:r>
            <a:endParaRPr lang="zh-CN" altLang="en-US" sz="1600">
              <a:solidFill>
                <a:schemeClr val="bg2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E1FB67F-65FE-4E59-9CD1-55983214FBDD}"/>
              </a:ext>
            </a:extLst>
          </p:cNvPr>
          <p:cNvSpPr/>
          <p:nvPr/>
        </p:nvSpPr>
        <p:spPr bwMode="auto">
          <a:xfrm>
            <a:off x="1975840" y="5484252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chemeClr val="bg2"/>
                </a:solidFill>
              </a:rPr>
              <a:t>I2</a:t>
            </a:r>
            <a:endParaRPr lang="zh-CN" altLang="en-US" sz="1600">
              <a:solidFill>
                <a:schemeClr val="bg2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FD65DB2-2930-4672-8316-11A804CA0057}"/>
              </a:ext>
            </a:extLst>
          </p:cNvPr>
          <p:cNvSpPr/>
          <p:nvPr/>
        </p:nvSpPr>
        <p:spPr bwMode="auto">
          <a:xfrm>
            <a:off x="2346242" y="5134661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chemeClr val="bg2"/>
                </a:solidFill>
              </a:rPr>
              <a:t>I2</a:t>
            </a:r>
            <a:endParaRPr lang="zh-CN" altLang="en-US" sz="1600">
              <a:solidFill>
                <a:schemeClr val="bg2"/>
              </a:solidFill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E040A4C-4C11-45B4-82F9-EF684B87E4CE}"/>
              </a:ext>
            </a:extLst>
          </p:cNvPr>
          <p:cNvSpPr/>
          <p:nvPr/>
        </p:nvSpPr>
        <p:spPr bwMode="auto">
          <a:xfrm>
            <a:off x="2716460" y="4785540"/>
            <a:ext cx="704990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chemeClr val="bg2"/>
                </a:solidFill>
              </a:rPr>
              <a:t>I2</a:t>
            </a:r>
            <a:endParaRPr lang="zh-CN" altLang="en-US" sz="1600">
              <a:solidFill>
                <a:schemeClr val="bg2"/>
              </a:solidFill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73B5CFAD-ACF8-4351-8FB4-C999904D145F}"/>
              </a:ext>
            </a:extLst>
          </p:cNvPr>
          <p:cNvSpPr/>
          <p:nvPr/>
        </p:nvSpPr>
        <p:spPr bwMode="auto">
          <a:xfrm>
            <a:off x="3454641" y="4435042"/>
            <a:ext cx="339303" cy="320730"/>
          </a:xfrm>
          <a:prstGeom prst="rect">
            <a:avLst/>
          </a:prstGeom>
          <a:solidFill>
            <a:srgbClr val="CCCC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chemeClr val="bg2"/>
                </a:solidFill>
              </a:rPr>
              <a:t>I2</a:t>
            </a:r>
            <a:endParaRPr lang="zh-CN" altLang="en-US" sz="1600">
              <a:solidFill>
                <a:schemeClr val="bg2"/>
              </a:solidFill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2F00D6-E5B8-45BB-AD15-3134C40A16BD}"/>
              </a:ext>
            </a:extLst>
          </p:cNvPr>
          <p:cNvSpPr/>
          <p:nvPr/>
        </p:nvSpPr>
        <p:spPr bwMode="auto">
          <a:xfrm>
            <a:off x="1975696" y="5834439"/>
            <a:ext cx="704990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996633"/>
                </a:solidFill>
              </a:rPr>
              <a:t>I3</a:t>
            </a:r>
            <a:endParaRPr lang="zh-CN" altLang="en-US" sz="1600">
              <a:solidFill>
                <a:srgbClr val="996633"/>
              </a:solidFill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FED216B-F950-442A-B9D8-CCD9C259AE06}"/>
              </a:ext>
            </a:extLst>
          </p:cNvPr>
          <p:cNvSpPr/>
          <p:nvPr/>
        </p:nvSpPr>
        <p:spPr bwMode="auto">
          <a:xfrm>
            <a:off x="2715119" y="5484252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996633"/>
                </a:solidFill>
              </a:rPr>
              <a:t>I3</a:t>
            </a:r>
            <a:endParaRPr lang="zh-CN" altLang="en-US" sz="1600">
              <a:solidFill>
                <a:srgbClr val="996633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EADD877-B414-49F5-9F10-6A3E753210CA}"/>
              </a:ext>
            </a:extLst>
          </p:cNvPr>
          <p:cNvSpPr/>
          <p:nvPr/>
        </p:nvSpPr>
        <p:spPr bwMode="auto">
          <a:xfrm>
            <a:off x="3085521" y="5134661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996633"/>
                </a:solidFill>
              </a:rPr>
              <a:t>I3</a:t>
            </a:r>
            <a:endParaRPr lang="zh-CN" altLang="en-US" sz="1600">
              <a:solidFill>
                <a:srgbClr val="996633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D18491D-B780-468F-98F8-8DEEE19CB54E}"/>
              </a:ext>
            </a:extLst>
          </p:cNvPr>
          <p:cNvSpPr/>
          <p:nvPr/>
        </p:nvSpPr>
        <p:spPr bwMode="auto">
          <a:xfrm>
            <a:off x="3455739" y="4785540"/>
            <a:ext cx="704990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996633"/>
                </a:solidFill>
              </a:rPr>
              <a:t>I3</a:t>
            </a:r>
            <a:endParaRPr lang="zh-CN" altLang="en-US" sz="1600">
              <a:solidFill>
                <a:srgbClr val="996633"/>
              </a:solidFill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461C0DC-4750-4A05-9909-EBF82920F58D}"/>
              </a:ext>
            </a:extLst>
          </p:cNvPr>
          <p:cNvSpPr/>
          <p:nvPr/>
        </p:nvSpPr>
        <p:spPr bwMode="auto">
          <a:xfrm>
            <a:off x="4193920" y="4435042"/>
            <a:ext cx="339303" cy="320730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996633"/>
                </a:solidFill>
              </a:rPr>
              <a:t>I3</a:t>
            </a:r>
            <a:endParaRPr lang="zh-CN" altLang="en-US" sz="1600">
              <a:solidFill>
                <a:srgbClr val="996633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2798BFC-9370-493C-A5C4-D6C9F3DD66EA}"/>
              </a:ext>
            </a:extLst>
          </p:cNvPr>
          <p:cNvSpPr/>
          <p:nvPr/>
        </p:nvSpPr>
        <p:spPr bwMode="auto">
          <a:xfrm>
            <a:off x="2715045" y="5834439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6600"/>
                </a:solidFill>
              </a:rPr>
              <a:t>I4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240FAC2-6FD4-4CFE-B5A4-B4DCF9BD7587}"/>
              </a:ext>
            </a:extLst>
          </p:cNvPr>
          <p:cNvSpPr/>
          <p:nvPr/>
        </p:nvSpPr>
        <p:spPr bwMode="auto">
          <a:xfrm>
            <a:off x="4564812" y="5484252"/>
            <a:ext cx="339303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6600"/>
                </a:solidFill>
              </a:rPr>
              <a:t>I4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2B06270-624C-4DAF-B878-35072159839B}"/>
              </a:ext>
            </a:extLst>
          </p:cNvPr>
          <p:cNvSpPr/>
          <p:nvPr/>
        </p:nvSpPr>
        <p:spPr bwMode="auto">
          <a:xfrm>
            <a:off x="4935214" y="5134661"/>
            <a:ext cx="339303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6600"/>
                </a:solidFill>
              </a:rPr>
              <a:t>I4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FECE617-8E61-49A7-A99D-CAC5C238274F}"/>
              </a:ext>
            </a:extLst>
          </p:cNvPr>
          <p:cNvSpPr/>
          <p:nvPr/>
        </p:nvSpPr>
        <p:spPr bwMode="auto">
          <a:xfrm>
            <a:off x="5305432" y="4785540"/>
            <a:ext cx="704990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6600"/>
                </a:solidFill>
              </a:rPr>
              <a:t>I4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94624F2-3533-404F-8A8F-28836F09DB70}"/>
              </a:ext>
            </a:extLst>
          </p:cNvPr>
          <p:cNvSpPr/>
          <p:nvPr/>
        </p:nvSpPr>
        <p:spPr bwMode="auto">
          <a:xfrm>
            <a:off x="6043613" y="4435042"/>
            <a:ext cx="339303" cy="32073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6600"/>
                </a:solidFill>
              </a:rPr>
              <a:t>I4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F80A347-4CBB-4216-BEAB-4FC6948BDA44}"/>
              </a:ext>
            </a:extLst>
          </p:cNvPr>
          <p:cNvSpPr/>
          <p:nvPr/>
        </p:nvSpPr>
        <p:spPr bwMode="auto">
          <a:xfrm>
            <a:off x="4564160" y="5834439"/>
            <a:ext cx="704990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00FF"/>
                </a:solidFill>
              </a:rPr>
              <a:t>I5</a:t>
            </a:r>
            <a:endParaRPr lang="zh-CN" altLang="en-US" sz="1600">
              <a:solidFill>
                <a:srgbClr val="0000FF"/>
              </a:solidFill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A9C20D1-CBD3-4BA5-96DB-97E19AB4A6FF}"/>
              </a:ext>
            </a:extLst>
          </p:cNvPr>
          <p:cNvSpPr/>
          <p:nvPr/>
        </p:nvSpPr>
        <p:spPr bwMode="auto">
          <a:xfrm>
            <a:off x="6413927" y="5484252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00FF"/>
                </a:solidFill>
              </a:rPr>
              <a:t>I5</a:t>
            </a:r>
            <a:endParaRPr lang="zh-CN" altLang="en-US" sz="1600">
              <a:solidFill>
                <a:srgbClr val="0000FF"/>
              </a:solidFill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ECBD153-D503-44C3-A778-DBFEF3D19D22}"/>
              </a:ext>
            </a:extLst>
          </p:cNvPr>
          <p:cNvSpPr/>
          <p:nvPr/>
        </p:nvSpPr>
        <p:spPr bwMode="auto">
          <a:xfrm>
            <a:off x="6784329" y="5134661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00FF"/>
                </a:solidFill>
              </a:rPr>
              <a:t>I5</a:t>
            </a:r>
            <a:endParaRPr lang="zh-CN" altLang="en-US" sz="1600">
              <a:solidFill>
                <a:srgbClr val="0000FF"/>
              </a:solidFill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2CB9DD51-7201-47FC-A5EE-CA3A8979966F}"/>
              </a:ext>
            </a:extLst>
          </p:cNvPr>
          <p:cNvSpPr/>
          <p:nvPr/>
        </p:nvSpPr>
        <p:spPr bwMode="auto">
          <a:xfrm>
            <a:off x="7154547" y="4785540"/>
            <a:ext cx="704990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00FF"/>
                </a:solidFill>
              </a:rPr>
              <a:t>I5</a:t>
            </a:r>
            <a:endParaRPr lang="zh-CN" altLang="en-US" sz="1600">
              <a:solidFill>
                <a:srgbClr val="0000FF"/>
              </a:solidFill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E40AF147-0552-4ECC-8494-2EFF046CEE80}"/>
              </a:ext>
            </a:extLst>
          </p:cNvPr>
          <p:cNvSpPr/>
          <p:nvPr/>
        </p:nvSpPr>
        <p:spPr bwMode="auto">
          <a:xfrm>
            <a:off x="7892728" y="4435042"/>
            <a:ext cx="339303" cy="320730"/>
          </a:xfrm>
          <a:prstGeom prst="rect">
            <a:avLst/>
          </a:prstGeom>
          <a:solidFill>
            <a:srgbClr val="ABFFFF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00FF"/>
                </a:solidFill>
              </a:rPr>
              <a:t>I5</a:t>
            </a:r>
            <a:endParaRPr lang="zh-CN" altLang="en-US" sz="1600">
              <a:solidFill>
                <a:srgbClr val="0000FF"/>
              </a:solidFill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1FFD967-8BF2-4C0E-AB46-1D6FA12CA723}"/>
              </a:ext>
            </a:extLst>
          </p:cNvPr>
          <p:cNvSpPr/>
          <p:nvPr/>
        </p:nvSpPr>
        <p:spPr bwMode="auto">
          <a:xfrm>
            <a:off x="6413833" y="5834439"/>
            <a:ext cx="704990" cy="32073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I6</a:t>
            </a:r>
            <a:endParaRPr kumimoji="0" lang="zh-CN" altLang="en-US" sz="2400" b="1" i="0" u="none" strike="noStrike" cap="none" normalizeH="0" baseline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F6F2FA6-D05D-485C-8E54-B0A869E32BA1}"/>
              </a:ext>
            </a:extLst>
          </p:cNvPr>
          <p:cNvSpPr/>
          <p:nvPr/>
        </p:nvSpPr>
        <p:spPr bwMode="auto">
          <a:xfrm>
            <a:off x="7153256" y="5484252"/>
            <a:ext cx="339303" cy="32073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/>
              <a:t>I6</a:t>
            </a:r>
            <a:endParaRPr lang="zh-CN" altLang="en-US" sz="160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2555FFC-7146-46A0-9383-0AC02254B189}"/>
              </a:ext>
            </a:extLst>
          </p:cNvPr>
          <p:cNvSpPr/>
          <p:nvPr/>
        </p:nvSpPr>
        <p:spPr bwMode="auto">
          <a:xfrm>
            <a:off x="7523658" y="5134661"/>
            <a:ext cx="339303" cy="32073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/>
              <a:t>I6</a:t>
            </a:r>
            <a:endParaRPr lang="zh-CN" altLang="en-US" sz="160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0AFA27D2-3F2E-4EB2-94C8-304B485163FF}"/>
              </a:ext>
            </a:extLst>
          </p:cNvPr>
          <p:cNvSpPr/>
          <p:nvPr/>
        </p:nvSpPr>
        <p:spPr bwMode="auto">
          <a:xfrm>
            <a:off x="7893876" y="4785540"/>
            <a:ext cx="704990" cy="32073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/>
              <a:t>I6</a:t>
            </a:r>
            <a:endParaRPr lang="zh-CN" altLang="en-US" sz="160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FF6F72D-7280-44A9-9998-A920B901569C}"/>
              </a:ext>
            </a:extLst>
          </p:cNvPr>
          <p:cNvSpPr/>
          <p:nvPr/>
        </p:nvSpPr>
        <p:spPr bwMode="auto">
          <a:xfrm>
            <a:off x="8632057" y="4435042"/>
            <a:ext cx="339303" cy="32073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600"/>
              <a:t>I6</a:t>
            </a:r>
            <a:endParaRPr lang="zh-CN" altLang="en-US" sz="1600"/>
          </a:p>
        </p:txBody>
      </p: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DE095CE9-3A51-40D5-AA0A-175807FF15F8}"/>
              </a:ext>
            </a:extLst>
          </p:cNvPr>
          <p:cNvSpPr txBox="1">
            <a:spLocks/>
          </p:cNvSpPr>
          <p:nvPr/>
        </p:nvSpPr>
        <p:spPr bwMode="auto">
          <a:xfrm>
            <a:off x="3582800" y="3577502"/>
            <a:ext cx="555761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CN" altLang="en-US" sz="2400" kern="0">
                <a:ea typeface="宋体" pitchFamily="2" charset="-122"/>
              </a:rPr>
              <a:t>时空图 画法</a:t>
            </a:r>
            <a:r>
              <a:rPr lang="en-US" altLang="zh-CN" sz="2400" kern="0">
                <a:ea typeface="宋体" pitchFamily="2" charset="-122"/>
              </a:rPr>
              <a:t>2</a:t>
            </a:r>
            <a:r>
              <a:rPr lang="zh-CN" altLang="en-US" sz="2400" kern="0">
                <a:ea typeface="宋体" pitchFamily="2" charset="-122"/>
              </a:rPr>
              <a:t>：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kern="0">
                <a:solidFill>
                  <a:srgbClr val="008000"/>
                </a:solidFill>
                <a:ea typeface="宋体" pitchFamily="2" charset="-122"/>
              </a:rPr>
              <a:t>纵坐标</a:t>
            </a:r>
            <a:r>
              <a:rPr lang="zh-CN" altLang="en-US" sz="2400" kern="0">
                <a:ea typeface="宋体" pitchFamily="2" charset="-122"/>
              </a:rPr>
              <a:t>是</a:t>
            </a:r>
            <a:r>
              <a:rPr lang="zh-CN" altLang="en-US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段编号</a:t>
            </a:r>
            <a:r>
              <a:rPr lang="zh-CN" altLang="en-US" sz="2400" kern="0">
                <a:ea typeface="宋体" pitchFamily="2" charset="-122"/>
              </a:rPr>
              <a:t>，</a:t>
            </a:r>
            <a:r>
              <a:rPr lang="zh-CN" altLang="en-US" sz="2400" kern="0">
                <a:solidFill>
                  <a:srgbClr val="FF0000"/>
                </a:solidFill>
                <a:ea typeface="宋体" pitchFamily="2" charset="-122"/>
              </a:rPr>
              <a:t>方框里</a:t>
            </a:r>
            <a:r>
              <a:rPr lang="zh-CN" altLang="en-US" sz="2400" kern="0">
                <a:ea typeface="宋体" pitchFamily="2" charset="-122"/>
              </a:rPr>
              <a:t>面是</a:t>
            </a:r>
            <a:r>
              <a:rPr lang="zh-CN" altLang="en-US" sz="2400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任务编号</a:t>
            </a:r>
            <a:r>
              <a:rPr lang="zh-CN" altLang="en-US" sz="2400" kern="0">
                <a:ea typeface="宋体" pitchFamily="2" charset="-122"/>
              </a:rPr>
              <a:t>。</a:t>
            </a:r>
            <a:endParaRPr lang="zh-CN" altLang="en-US" sz="2400" kern="0"/>
          </a:p>
        </p:txBody>
      </p:sp>
      <p:sp>
        <p:nvSpPr>
          <p:cNvPr id="123" name="动作按钮: 上一张 12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6DD989E-5F9F-431B-A025-5899520D6A15}"/>
              </a:ext>
            </a:extLst>
          </p:cNvPr>
          <p:cNvSpPr>
            <a:spLocks noChangeAspect="1"/>
          </p:cNvSpPr>
          <p:nvPr/>
        </p:nvSpPr>
        <p:spPr bwMode="auto">
          <a:xfrm>
            <a:off x="8604448" y="143730"/>
            <a:ext cx="397362" cy="397362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78578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500"/>
                            </p:stCondLst>
                            <p:childTnLst>
                              <p:par>
                                <p:cTn id="2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4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49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AF39440-1238-41CE-9F94-7923907095D9}"/>
              </a:ext>
            </a:extLst>
          </p:cNvPr>
          <p:cNvSpPr txBox="1">
            <a:spLocks/>
          </p:cNvSpPr>
          <p:nvPr/>
        </p:nvSpPr>
        <p:spPr bwMode="auto">
          <a:xfrm>
            <a:off x="323528" y="548928"/>
            <a:ext cx="871296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kern="0">
                <a:ea typeface="宋体" pitchFamily="2" charset="-122"/>
              </a:rPr>
              <a:t>某</a:t>
            </a:r>
            <a:r>
              <a:rPr lang="en-US" altLang="zh-CN" kern="0">
                <a:ea typeface="宋体" pitchFamily="2" charset="-122"/>
              </a:rPr>
              <a:t>CPU</a:t>
            </a:r>
            <a:r>
              <a:rPr lang="zh-CN" altLang="en-US" kern="0">
                <a:ea typeface="宋体" pitchFamily="2" charset="-122"/>
              </a:rPr>
              <a:t>内有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5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级</a:t>
            </a:r>
            <a:r>
              <a:rPr lang="zh-CN" altLang="en-US" kern="0">
                <a:solidFill>
                  <a:srgbClr val="FF0066"/>
                </a:solidFill>
                <a:ea typeface="宋体" pitchFamily="2" charset="-122"/>
              </a:rPr>
              <a:t>指令流水线</a:t>
            </a:r>
            <a:r>
              <a:rPr lang="zh-CN" altLang="en-US" kern="0">
                <a:ea typeface="宋体" pitchFamily="2" charset="-122"/>
              </a:rPr>
              <a:t>，各级处理时间分别为</a:t>
            </a:r>
            <a:r>
              <a:rPr lang="en-US" altLang="zh-CN" kern="0">
                <a:ea typeface="宋体" pitchFamily="2" charset="-122"/>
              </a:rPr>
              <a:t>10ns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10ns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，采用</a:t>
            </a:r>
            <a:r>
              <a:rPr lang="zh-CN" altLang="en-US" kern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异步时钟控制</a:t>
            </a:r>
            <a:r>
              <a:rPr lang="zh-CN" altLang="en-US" kern="0">
                <a:ea typeface="宋体" pitchFamily="2" charset="-122"/>
              </a:rPr>
              <a:t>。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① </a:t>
            </a:r>
            <a:r>
              <a:rPr lang="zh-CN" altLang="en-US" kern="0">
                <a:ea typeface="宋体" pitchFamily="2" charset="-122"/>
              </a:rPr>
              <a:t>执行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1000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条</a:t>
            </a:r>
            <a:r>
              <a:rPr lang="zh-CN" altLang="en-US" kern="0">
                <a:ea typeface="宋体" pitchFamily="2" charset="-122"/>
              </a:rPr>
              <a:t>指令，流水线的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加速比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效率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改进流水线的性能，如何改造？改造后的上述参数？</a:t>
            </a:r>
            <a:endParaRPr lang="zh-CN" altLang="zh-CN" kern="0">
              <a:ea typeface="宋体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F7C53B5-77FA-4407-92BF-B95D2E53DC31}"/>
              </a:ext>
            </a:extLst>
          </p:cNvPr>
          <p:cNvGrpSpPr/>
          <p:nvPr/>
        </p:nvGrpSpPr>
        <p:grpSpPr>
          <a:xfrm>
            <a:off x="467618" y="2493144"/>
            <a:ext cx="8064822" cy="863848"/>
            <a:chOff x="467618" y="2493144"/>
            <a:chExt cx="8064822" cy="863848"/>
          </a:xfrm>
        </p:grpSpPr>
        <p:sp>
          <p:nvSpPr>
            <p:cNvPr id="7" name="Rectangle 137">
              <a:extLst>
                <a:ext uri="{FF2B5EF4-FFF2-40B4-BE49-F238E27FC236}">
                  <a16:creationId xmlns:a16="http://schemas.microsoft.com/office/drawing/2014/main" id="{5FC27D9E-001A-461D-9F9C-F71C50601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897" y="2924944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8" name="Line 138">
              <a:extLst>
                <a:ext uri="{FF2B5EF4-FFF2-40B4-BE49-F238E27FC236}">
                  <a16:creationId xmlns:a16="http://schemas.microsoft.com/office/drawing/2014/main" id="{8ACB8237-E4AC-4E08-9322-89FB83EC5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618" y="3140968"/>
              <a:ext cx="7202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139">
              <a:extLst>
                <a:ext uri="{FF2B5EF4-FFF2-40B4-BE49-F238E27FC236}">
                  <a16:creationId xmlns:a16="http://schemas.microsoft.com/office/drawing/2014/main" id="{548D3757-8DE7-4BCF-9357-6F37DBBA4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221" y="292519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0" name="Line 140">
              <a:extLst>
                <a:ext uri="{FF2B5EF4-FFF2-40B4-BE49-F238E27FC236}">
                  <a16:creationId xmlns:a16="http://schemas.microsoft.com/office/drawing/2014/main" id="{AA159CF0-830E-459B-8165-35B7F4801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025" y="3140968"/>
              <a:ext cx="721195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41">
              <a:extLst>
                <a:ext uri="{FF2B5EF4-FFF2-40B4-BE49-F238E27FC236}">
                  <a16:creationId xmlns:a16="http://schemas.microsoft.com/office/drawing/2014/main" id="{F8AFBBF9-7E37-435F-8E35-D1602B1A8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605" y="292519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2" name="Line 142">
              <a:extLst>
                <a:ext uri="{FF2B5EF4-FFF2-40B4-BE49-F238E27FC236}">
                  <a16:creationId xmlns:a16="http://schemas.microsoft.com/office/drawing/2014/main" id="{E63D410A-8ED3-4F6B-977A-012AC9161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342" y="314267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44">
              <a:extLst>
                <a:ext uri="{FF2B5EF4-FFF2-40B4-BE49-F238E27FC236}">
                  <a16:creationId xmlns:a16="http://schemas.microsoft.com/office/drawing/2014/main" id="{7018550F-5E52-4175-9CE9-A5F950ED1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298" y="3140968"/>
              <a:ext cx="720080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>
              <a:extLst>
                <a:ext uri="{FF2B5EF4-FFF2-40B4-BE49-F238E27FC236}">
                  <a16:creationId xmlns:a16="http://schemas.microsoft.com/office/drawing/2014/main" id="{2330C3FC-67BB-40F3-B657-7F859BD2D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585" y="2924944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15" name="Line 146">
              <a:extLst>
                <a:ext uri="{FF2B5EF4-FFF2-40B4-BE49-F238E27FC236}">
                  <a16:creationId xmlns:a16="http://schemas.microsoft.com/office/drawing/2014/main" id="{97101FB6-5217-477B-B18D-BD5231661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306" y="3140968"/>
              <a:ext cx="720279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47">
              <a:extLst>
                <a:ext uri="{FF2B5EF4-FFF2-40B4-BE49-F238E27FC236}">
                  <a16:creationId xmlns:a16="http://schemas.microsoft.com/office/drawing/2014/main" id="{16FF950C-1B8B-4895-8289-4F133E560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177" y="3140720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8">
              <a:extLst>
                <a:ext uri="{FF2B5EF4-FFF2-40B4-BE49-F238E27FC236}">
                  <a16:creationId xmlns:a16="http://schemas.microsoft.com/office/drawing/2014/main" id="{6475CE17-7DFD-450B-89CF-B5261D817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897" y="2493392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49">
              <a:extLst>
                <a:ext uri="{FF2B5EF4-FFF2-40B4-BE49-F238E27FC236}">
                  <a16:creationId xmlns:a16="http://schemas.microsoft.com/office/drawing/2014/main" id="{174F56EA-8238-49B7-A04B-C1A5762F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131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0">
              <a:extLst>
                <a:ext uri="{FF2B5EF4-FFF2-40B4-BE49-F238E27FC236}">
                  <a16:creationId xmlns:a16="http://schemas.microsoft.com/office/drawing/2014/main" id="{9013DBC0-5E3F-4688-B5FF-C94564B36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259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1">
              <a:extLst>
                <a:ext uri="{FF2B5EF4-FFF2-40B4-BE49-F238E27FC236}">
                  <a16:creationId xmlns:a16="http://schemas.microsoft.com/office/drawing/2014/main" id="{088EDD49-96D3-4561-BDE3-954FEA23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74" y="2493392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52">
              <a:extLst>
                <a:ext uri="{FF2B5EF4-FFF2-40B4-BE49-F238E27FC236}">
                  <a16:creationId xmlns:a16="http://schemas.microsoft.com/office/drawing/2014/main" id="{C2837066-5D8D-4AA1-ADAC-5F94F1A9B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561" y="2493144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37">
              <a:extLst>
                <a:ext uri="{FF2B5EF4-FFF2-40B4-BE49-F238E27FC236}">
                  <a16:creationId xmlns:a16="http://schemas.microsoft.com/office/drawing/2014/main" id="{231E8383-6D6D-4817-8702-1C03B58D4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7905" y="2924944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B6DACF5-4B07-4026-BF8E-4BF0BBE2DFD3}"/>
              </a:ext>
            </a:extLst>
          </p:cNvPr>
          <p:cNvGrpSpPr/>
          <p:nvPr/>
        </p:nvGrpSpPr>
        <p:grpSpPr>
          <a:xfrm>
            <a:off x="539353" y="4653136"/>
            <a:ext cx="7992814" cy="1871712"/>
            <a:chOff x="539353" y="4653136"/>
            <a:chExt cx="7992814" cy="1871712"/>
          </a:xfrm>
        </p:grpSpPr>
        <p:sp>
          <p:nvSpPr>
            <p:cNvPr id="24" name="Rectangle 137">
              <a:extLst>
                <a:ext uri="{FF2B5EF4-FFF2-40B4-BE49-F238E27FC236}">
                  <a16:creationId xmlns:a16="http://schemas.microsoft.com/office/drawing/2014/main" id="{2A3892B9-0EFB-4A36-8A55-100D36D08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5012680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</a:p>
          </p:txBody>
        </p:sp>
        <p:sp>
          <p:nvSpPr>
            <p:cNvPr id="25" name="Line 138">
              <a:extLst>
                <a:ext uri="{FF2B5EF4-FFF2-40B4-BE49-F238E27FC236}">
                  <a16:creationId xmlns:a16="http://schemas.microsoft.com/office/drawing/2014/main" id="{B17C2EC7-FE0C-44A7-859D-59A5A96CF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353" y="5588992"/>
              <a:ext cx="3602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139">
              <a:extLst>
                <a:ext uri="{FF2B5EF4-FFF2-40B4-BE49-F238E27FC236}">
                  <a16:creationId xmlns:a16="http://schemas.microsoft.com/office/drawing/2014/main" id="{E7DD17F6-DFF0-44F2-B928-5448C685B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948" y="5373216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27" name="Rectangle 141">
              <a:extLst>
                <a:ext uri="{FF2B5EF4-FFF2-40B4-BE49-F238E27FC236}">
                  <a16:creationId xmlns:a16="http://schemas.microsoft.com/office/drawing/2014/main" id="{C384A528-B517-41DB-943D-83D3A7476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332" y="5373216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28" name="Line 142">
              <a:extLst>
                <a:ext uri="{FF2B5EF4-FFF2-40B4-BE49-F238E27FC236}">
                  <a16:creationId xmlns:a16="http://schemas.microsoft.com/office/drawing/2014/main" id="{9490740B-A22E-4725-AEB9-4DE586295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069" y="5590703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Rectangle 145">
              <a:extLst>
                <a:ext uri="{FF2B5EF4-FFF2-40B4-BE49-F238E27FC236}">
                  <a16:creationId xmlns:a16="http://schemas.microsoft.com/office/drawing/2014/main" id="{3EFBE118-E3BD-4366-82B2-662BDBEC8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312" y="5373216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30" name="Line 147">
              <a:extLst>
                <a:ext uri="{FF2B5EF4-FFF2-40B4-BE49-F238E27FC236}">
                  <a16:creationId xmlns:a16="http://schemas.microsoft.com/office/drawing/2014/main" id="{594AE0C1-C82E-43A1-8507-7BD20AFDB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5904" y="5588992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148">
              <a:extLst>
                <a:ext uri="{FF2B5EF4-FFF2-40B4-BE49-F238E27FC236}">
                  <a16:creationId xmlns:a16="http://schemas.microsoft.com/office/drawing/2014/main" id="{4B64371A-DF01-4A77-BBB2-39FF9C538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4653136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149">
              <a:extLst>
                <a:ext uri="{FF2B5EF4-FFF2-40B4-BE49-F238E27FC236}">
                  <a16:creationId xmlns:a16="http://schemas.microsoft.com/office/drawing/2014/main" id="{514F040F-82C2-4ACC-A2C0-A1AC4D07F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58" y="4941416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150">
              <a:extLst>
                <a:ext uri="{FF2B5EF4-FFF2-40B4-BE49-F238E27FC236}">
                  <a16:creationId xmlns:a16="http://schemas.microsoft.com/office/drawing/2014/main" id="{5E9FC568-162E-4794-A766-B3D1EB7A4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86" y="4941416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151">
              <a:extLst>
                <a:ext uri="{FF2B5EF4-FFF2-40B4-BE49-F238E27FC236}">
                  <a16:creationId xmlns:a16="http://schemas.microsoft.com/office/drawing/2014/main" id="{009E8478-D3D2-402D-A9AD-BCA6BA451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409" y="4653136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152">
              <a:extLst>
                <a:ext uri="{FF2B5EF4-FFF2-40B4-BE49-F238E27FC236}">
                  <a16:creationId xmlns:a16="http://schemas.microsoft.com/office/drawing/2014/main" id="{1814E257-A352-4413-940C-D08729BC8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288" y="4941416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137">
              <a:extLst>
                <a:ext uri="{FF2B5EF4-FFF2-40B4-BE49-F238E27FC236}">
                  <a16:creationId xmlns:a16="http://schemas.microsoft.com/office/drawing/2014/main" id="{8D683302-884F-4A1F-8F5E-ED64063B8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104" y="5012680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</a:p>
          </p:txBody>
        </p:sp>
        <p:sp>
          <p:nvSpPr>
            <p:cNvPr id="37" name="Rectangle 137">
              <a:extLst>
                <a:ext uri="{FF2B5EF4-FFF2-40B4-BE49-F238E27FC236}">
                  <a16:creationId xmlns:a16="http://schemas.microsoft.com/office/drawing/2014/main" id="{65331D8E-96B8-4203-8712-2617A0411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5733256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</a:p>
          </p:txBody>
        </p:sp>
        <p:sp>
          <p:nvSpPr>
            <p:cNvPr id="38" name="Rectangle 137">
              <a:extLst>
                <a:ext uri="{FF2B5EF4-FFF2-40B4-BE49-F238E27FC236}">
                  <a16:creationId xmlns:a16="http://schemas.microsoft.com/office/drawing/2014/main" id="{3AAE1463-C5C9-47F6-ADDD-94002234B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104" y="5733256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</a:p>
          </p:txBody>
        </p:sp>
        <p:sp>
          <p:nvSpPr>
            <p:cNvPr id="39" name="Line 138">
              <a:extLst>
                <a:ext uri="{FF2B5EF4-FFF2-40B4-BE49-F238E27FC236}">
                  <a16:creationId xmlns:a16="http://schemas.microsoft.com/office/drawing/2014/main" id="{A8C55E7D-C0F3-4535-A672-DC040D4BA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9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Line 138">
              <a:extLst>
                <a:ext uri="{FF2B5EF4-FFF2-40B4-BE49-F238E27FC236}">
                  <a16:creationId xmlns:a16="http://schemas.microsoft.com/office/drawing/2014/main" id="{EB34E26C-81E5-4407-9E67-1386BE2A3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9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B176003-72F9-470E-8245-1F6C376DD8E4}"/>
                </a:ext>
              </a:extLst>
            </p:cNvPr>
            <p:cNvCxnSpPr/>
            <p:nvPr/>
          </p:nvCxnSpPr>
          <p:spPr bwMode="auto">
            <a:xfrm rot="5400000">
              <a:off x="539552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Line 138">
              <a:extLst>
                <a:ext uri="{FF2B5EF4-FFF2-40B4-BE49-F238E27FC236}">
                  <a16:creationId xmlns:a16="http://schemas.microsoft.com/office/drawing/2014/main" id="{0544D918-5B5C-40A8-8FD3-CD430172F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Line 138">
              <a:extLst>
                <a:ext uri="{FF2B5EF4-FFF2-40B4-BE49-F238E27FC236}">
                  <a16:creationId xmlns:a16="http://schemas.microsoft.com/office/drawing/2014/main" id="{D0CF634E-D9E6-4134-923E-8CE8ED800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5E5684D-FB29-4C38-AE91-345A575A9AA1}"/>
                </a:ext>
              </a:extLst>
            </p:cNvPr>
            <p:cNvCxnSpPr/>
            <p:nvPr/>
          </p:nvCxnSpPr>
          <p:spPr bwMode="auto">
            <a:xfrm rot="5400000">
              <a:off x="2267744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Line 138">
              <a:extLst>
                <a:ext uri="{FF2B5EF4-FFF2-40B4-BE49-F238E27FC236}">
                  <a16:creationId xmlns:a16="http://schemas.microsoft.com/office/drawing/2014/main" id="{8E545092-92E0-4A56-AFFE-4C5A6AF4E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784" y="5588992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Line 138">
              <a:extLst>
                <a:ext uri="{FF2B5EF4-FFF2-40B4-BE49-F238E27FC236}">
                  <a16:creationId xmlns:a16="http://schemas.microsoft.com/office/drawing/2014/main" id="{62ECBA12-8677-4BD2-BF19-07698127A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825" y="5588992"/>
              <a:ext cx="43224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Line 138">
              <a:extLst>
                <a:ext uri="{FF2B5EF4-FFF2-40B4-BE49-F238E27FC236}">
                  <a16:creationId xmlns:a16="http://schemas.microsoft.com/office/drawing/2014/main" id="{D87E2C03-1F19-47E9-B22E-79F10A987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7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138">
              <a:extLst>
                <a:ext uri="{FF2B5EF4-FFF2-40B4-BE49-F238E27FC236}">
                  <a16:creationId xmlns:a16="http://schemas.microsoft.com/office/drawing/2014/main" id="{33C3DD21-FF2F-48BA-98E0-3C125BA04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7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3852D20-7B06-4DAE-82DF-684E43477ED3}"/>
                </a:ext>
              </a:extLst>
            </p:cNvPr>
            <p:cNvCxnSpPr/>
            <p:nvPr/>
          </p:nvCxnSpPr>
          <p:spPr bwMode="auto">
            <a:xfrm rot="5400000">
              <a:off x="4860032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Line 138">
              <a:extLst>
                <a:ext uri="{FF2B5EF4-FFF2-40B4-BE49-F238E27FC236}">
                  <a16:creationId xmlns:a16="http://schemas.microsoft.com/office/drawing/2014/main" id="{EBB0E238-48CB-4D72-9087-F8E61AB8A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023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138">
              <a:extLst>
                <a:ext uri="{FF2B5EF4-FFF2-40B4-BE49-F238E27FC236}">
                  <a16:creationId xmlns:a16="http://schemas.microsoft.com/office/drawing/2014/main" id="{FD37940E-01F0-4E8E-B823-69590A0B5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023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47934B5-4E1B-4212-8716-AB02E52C5FE8}"/>
                </a:ext>
              </a:extLst>
            </p:cNvPr>
            <p:cNvCxnSpPr/>
            <p:nvPr/>
          </p:nvCxnSpPr>
          <p:spPr bwMode="auto">
            <a:xfrm rot="5400000">
              <a:off x="6588224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Line 138">
              <a:extLst>
                <a:ext uri="{FF2B5EF4-FFF2-40B4-BE49-F238E27FC236}">
                  <a16:creationId xmlns:a16="http://schemas.microsoft.com/office/drawing/2014/main" id="{99339D31-84C5-49B0-9BA4-234E9E2A0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4" y="5588992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Rectangle 148">
              <a:extLst>
                <a:ext uri="{FF2B5EF4-FFF2-40B4-BE49-F238E27FC236}">
                  <a16:creationId xmlns:a16="http://schemas.microsoft.com/office/drawing/2014/main" id="{D9D94B74-B4A1-40B0-B19C-F6CE4B7C9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6093048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Rectangle 151">
              <a:extLst>
                <a:ext uri="{FF2B5EF4-FFF2-40B4-BE49-F238E27FC236}">
                  <a16:creationId xmlns:a16="http://schemas.microsoft.com/office/drawing/2014/main" id="{36075948-912B-4706-9D29-25CB68628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409" y="6093048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E1CCB6F-073D-4D26-BE7C-EE91138205B9}"/>
              </a:ext>
            </a:extLst>
          </p:cNvPr>
          <p:cNvGrpSpPr/>
          <p:nvPr/>
        </p:nvGrpSpPr>
        <p:grpSpPr>
          <a:xfrm>
            <a:off x="467345" y="3573016"/>
            <a:ext cx="8065095" cy="1080120"/>
            <a:chOff x="467345" y="3573016"/>
            <a:chExt cx="8065095" cy="1080120"/>
          </a:xfrm>
        </p:grpSpPr>
        <p:sp>
          <p:nvSpPr>
            <p:cNvPr id="57" name="Rectangle 139">
              <a:extLst>
                <a:ext uri="{FF2B5EF4-FFF2-40B4-BE49-F238E27FC236}">
                  <a16:creationId xmlns:a16="http://schemas.microsoft.com/office/drawing/2014/main" id="{E58559BE-611A-4F07-BB3A-962596BB3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409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</a:p>
          </p:txBody>
        </p:sp>
        <p:sp>
          <p:nvSpPr>
            <p:cNvPr id="58" name="Rectangle 139">
              <a:extLst>
                <a:ext uri="{FF2B5EF4-FFF2-40B4-BE49-F238E27FC236}">
                  <a16:creationId xmlns:a16="http://schemas.microsoft.com/office/drawing/2014/main" id="{D71DB87C-0F68-4CE1-A44F-22BED319A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505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</a:p>
          </p:txBody>
        </p:sp>
        <p:sp>
          <p:nvSpPr>
            <p:cNvPr id="59" name="Line 138">
              <a:extLst>
                <a:ext uri="{FF2B5EF4-FFF2-40B4-BE49-F238E27FC236}">
                  <a16:creationId xmlns:a16="http://schemas.microsoft.com/office/drawing/2014/main" id="{A7F8CA7C-A3DE-44E5-9B0D-8592AB5C6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345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138">
              <a:extLst>
                <a:ext uri="{FF2B5EF4-FFF2-40B4-BE49-F238E27FC236}">
                  <a16:creationId xmlns:a16="http://schemas.microsoft.com/office/drawing/2014/main" id="{350F9434-0B94-4D97-AEA1-0E5B380F5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74" y="4221584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138">
              <a:extLst>
                <a:ext uri="{FF2B5EF4-FFF2-40B4-BE49-F238E27FC236}">
                  <a16:creationId xmlns:a16="http://schemas.microsoft.com/office/drawing/2014/main" id="{862BD369-DE45-420A-939E-AAFC453C3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569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139">
              <a:extLst>
                <a:ext uri="{FF2B5EF4-FFF2-40B4-BE49-F238E27FC236}">
                  <a16:creationId xmlns:a16="http://schemas.microsoft.com/office/drawing/2014/main" id="{1F336F42-557C-40FC-B496-26F728940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633" y="400531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63" name="Rectangle 141">
              <a:extLst>
                <a:ext uri="{FF2B5EF4-FFF2-40B4-BE49-F238E27FC236}">
                  <a16:creationId xmlns:a16="http://schemas.microsoft.com/office/drawing/2014/main" id="{E240C697-3726-483E-8D05-DD039ADBD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761" y="400531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64" name="Line 142">
              <a:extLst>
                <a:ext uri="{FF2B5EF4-FFF2-40B4-BE49-F238E27FC236}">
                  <a16:creationId xmlns:a16="http://schemas.microsoft.com/office/drawing/2014/main" id="{CAC826A8-F882-43BD-89C4-A8FCE2120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498" y="422279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Line 142">
              <a:extLst>
                <a:ext uri="{FF2B5EF4-FFF2-40B4-BE49-F238E27FC236}">
                  <a16:creationId xmlns:a16="http://schemas.microsoft.com/office/drawing/2014/main" id="{84CDE044-C9DA-48E1-BCCF-3902BAAFD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825" y="4221336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Rectangle 139">
              <a:extLst>
                <a:ext uri="{FF2B5EF4-FFF2-40B4-BE49-F238E27FC236}">
                  <a16:creationId xmlns:a16="http://schemas.microsoft.com/office/drawing/2014/main" id="{C15F7E5D-EA26-4466-8E7F-6F619386E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889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</a:p>
          </p:txBody>
        </p:sp>
        <p:sp>
          <p:nvSpPr>
            <p:cNvPr id="67" name="Rectangle 139">
              <a:extLst>
                <a:ext uri="{FF2B5EF4-FFF2-40B4-BE49-F238E27FC236}">
                  <a16:creationId xmlns:a16="http://schemas.microsoft.com/office/drawing/2014/main" id="{9FAE6A89-D439-4AF0-8EBD-47D197AEE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985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</a:p>
          </p:txBody>
        </p:sp>
        <p:sp>
          <p:nvSpPr>
            <p:cNvPr id="68" name="Line 138">
              <a:extLst>
                <a:ext uri="{FF2B5EF4-FFF2-40B4-BE49-F238E27FC236}">
                  <a16:creationId xmlns:a16="http://schemas.microsoft.com/office/drawing/2014/main" id="{7957B69D-4532-44DE-8A9D-394C5DC27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9953" y="4221336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Rectangle 145">
              <a:extLst>
                <a:ext uri="{FF2B5EF4-FFF2-40B4-BE49-F238E27FC236}">
                  <a16:creationId xmlns:a16="http://schemas.microsoft.com/office/drawing/2014/main" id="{F780320B-A820-45AB-B146-64ED5B7AF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113" y="4005312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70" name="Line 146">
              <a:extLst>
                <a:ext uri="{FF2B5EF4-FFF2-40B4-BE49-F238E27FC236}">
                  <a16:creationId xmlns:a16="http://schemas.microsoft.com/office/drawing/2014/main" id="{B25D6BD8-0221-4245-8FC5-7AF74459A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3850" y="4222799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Line 147">
              <a:extLst>
                <a:ext uri="{FF2B5EF4-FFF2-40B4-BE49-F238E27FC236}">
                  <a16:creationId xmlns:a16="http://schemas.microsoft.com/office/drawing/2014/main" id="{44F9FE1B-281A-47AC-AE72-ABFC8767F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177" y="4221336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152">
              <a:extLst>
                <a:ext uri="{FF2B5EF4-FFF2-40B4-BE49-F238E27FC236}">
                  <a16:creationId xmlns:a16="http://schemas.microsoft.com/office/drawing/2014/main" id="{03D503BB-FDDE-4B47-8787-AA600324A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93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Rectangle 152">
              <a:extLst>
                <a:ext uri="{FF2B5EF4-FFF2-40B4-BE49-F238E27FC236}">
                  <a16:creationId xmlns:a16="http://schemas.microsoft.com/office/drawing/2014/main" id="{070A037A-8BDD-447D-9746-1E99548F9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489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Rectangle 152">
              <a:extLst>
                <a:ext uri="{FF2B5EF4-FFF2-40B4-BE49-F238E27FC236}">
                  <a16:creationId xmlns:a16="http://schemas.microsoft.com/office/drawing/2014/main" id="{3C2F4559-240F-423E-BBA4-94E24BEBE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617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Rectangle 152">
              <a:extLst>
                <a:ext uri="{FF2B5EF4-FFF2-40B4-BE49-F238E27FC236}">
                  <a16:creationId xmlns:a16="http://schemas.microsoft.com/office/drawing/2014/main" id="{212944F6-517C-4B1A-89DE-EAC25163E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Rectangle 152">
              <a:extLst>
                <a:ext uri="{FF2B5EF4-FFF2-40B4-BE49-F238E27FC236}">
                  <a16:creationId xmlns:a16="http://schemas.microsoft.com/office/drawing/2014/main" id="{997BC9E6-1884-4A2C-9D52-9AE5FB836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72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Rectangle 152">
              <a:extLst>
                <a:ext uri="{FF2B5EF4-FFF2-40B4-BE49-F238E27FC236}">
                  <a16:creationId xmlns:a16="http://schemas.microsoft.com/office/drawing/2014/main" id="{F1013454-139F-41B0-80C6-34D3AEB34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168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ectangle 152">
              <a:extLst>
                <a:ext uri="{FF2B5EF4-FFF2-40B4-BE49-F238E27FC236}">
                  <a16:creationId xmlns:a16="http://schemas.microsoft.com/office/drawing/2014/main" id="{8EF18042-9371-435C-935A-9A8582223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D5955B2-FEB6-4CEE-8A58-AA602F7C2170}"/>
                </a:ext>
              </a:extLst>
            </p:cNvPr>
            <p:cNvSpPr/>
            <p:nvPr/>
          </p:nvSpPr>
          <p:spPr bwMode="auto">
            <a:xfrm>
              <a:off x="82758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D7BD8DC-17FA-4848-BB7D-3A09A5E1A63A}"/>
                </a:ext>
              </a:extLst>
            </p:cNvPr>
            <p:cNvSpPr/>
            <p:nvPr/>
          </p:nvSpPr>
          <p:spPr bwMode="auto">
            <a:xfrm>
              <a:off x="514806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AF72BFE6-BBD4-4A8C-A81F-2C62D7D27725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02714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49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4D7F5C1-1422-4BB5-8479-1CF18684A1F7}"/>
              </a:ext>
            </a:extLst>
          </p:cNvPr>
          <p:cNvSpPr txBox="1">
            <a:spLocks/>
          </p:cNvSpPr>
          <p:nvPr/>
        </p:nvSpPr>
        <p:spPr bwMode="auto">
          <a:xfrm>
            <a:off x="323528" y="548928"/>
            <a:ext cx="8578850" cy="324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① </a:t>
            </a:r>
            <a:r>
              <a:rPr lang="zh-CN" altLang="en-US" kern="0">
                <a:ea typeface="宋体" pitchFamily="2" charset="-122"/>
              </a:rPr>
              <a:t>执行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1000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条</a:t>
            </a:r>
            <a:r>
              <a:rPr lang="zh-CN" altLang="en-US" kern="0">
                <a:ea typeface="宋体" pitchFamily="2" charset="-122"/>
              </a:rPr>
              <a:t>指令，流水线的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加速比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【</a:t>
            </a:r>
            <a:r>
              <a:rPr lang="zh-CN" altLang="en-US" kern="0">
                <a:ea typeface="宋体" pitchFamily="2" charset="-122"/>
              </a:rPr>
              <a:t>解</a:t>
            </a:r>
            <a:r>
              <a:rPr lang="en-US" altLang="zh-CN" kern="0">
                <a:ea typeface="宋体" pitchFamily="2" charset="-122"/>
              </a:rPr>
              <a:t>】</a:t>
            </a: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T</a:t>
            </a:r>
            <a:r>
              <a:rPr lang="en-US" altLang="zh-CN" kern="0" baseline="-25000">
                <a:ea typeface="宋体" pitchFamily="2" charset="-122"/>
              </a:rPr>
              <a:t>1000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</a:t>
            </a:r>
            <a:r>
              <a:rPr lang="en-US" altLang="zh-CN" kern="0">
                <a:latin typeface="+mn-ea"/>
              </a:rPr>
              <a:t>)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ns×1000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35000ns</a:t>
            </a:r>
            <a:r>
              <a:rPr lang="zh-CN" altLang="en-US" kern="0">
                <a:ea typeface="宋体" pitchFamily="2" charset="-122"/>
              </a:rPr>
              <a:t>；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T</a:t>
            </a:r>
            <a:r>
              <a:rPr lang="en-US" altLang="zh-CN" kern="0" baseline="-25000">
                <a:ea typeface="宋体" pitchFamily="2" charset="-122"/>
              </a:rPr>
              <a:t>1000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ns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1000</a:t>
            </a:r>
            <a:r>
              <a:rPr lang="zh-CN" altLang="en-US" kern="0">
                <a:ea typeface="宋体" pitchFamily="2" charset="-122"/>
              </a:rPr>
              <a:t>－</a:t>
            </a:r>
            <a:r>
              <a:rPr lang="en-US" altLang="zh-CN" kern="0">
                <a:ea typeface="宋体" pitchFamily="2" charset="-122"/>
              </a:rPr>
              <a:t>1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×10ns</a:t>
            </a: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             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35ns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999×10ns 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10025ns</a:t>
            </a:r>
            <a:r>
              <a:rPr lang="zh-CN" altLang="en-US" kern="0">
                <a:ea typeface="宋体" pitchFamily="2" charset="-122"/>
              </a:rPr>
              <a:t>；</a:t>
            </a:r>
            <a:endParaRPr lang="en-US" altLang="zh-CN" kern="0">
              <a:ea typeface="宋体" pitchFamily="2" charset="-122"/>
            </a:endParaRPr>
          </a:p>
        </p:txBody>
      </p:sp>
      <p:grpSp>
        <p:nvGrpSpPr>
          <p:cNvPr id="6" name="组合 87">
            <a:extLst>
              <a:ext uri="{FF2B5EF4-FFF2-40B4-BE49-F238E27FC236}">
                <a16:creationId xmlns:a16="http://schemas.microsoft.com/office/drawing/2014/main" id="{EC615DA5-59F2-407A-B4AB-7EA36927AB51}"/>
              </a:ext>
            </a:extLst>
          </p:cNvPr>
          <p:cNvGrpSpPr/>
          <p:nvPr/>
        </p:nvGrpSpPr>
        <p:grpSpPr>
          <a:xfrm>
            <a:off x="467618" y="980728"/>
            <a:ext cx="8064822" cy="863848"/>
            <a:chOff x="467618" y="2493144"/>
            <a:chExt cx="8064822" cy="863848"/>
          </a:xfrm>
        </p:grpSpPr>
        <p:sp>
          <p:nvSpPr>
            <p:cNvPr id="7" name="Rectangle 137">
              <a:extLst>
                <a:ext uri="{FF2B5EF4-FFF2-40B4-BE49-F238E27FC236}">
                  <a16:creationId xmlns:a16="http://schemas.microsoft.com/office/drawing/2014/main" id="{CF2BC7CA-C125-4C9C-AA63-A95629B11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897" y="2924944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8" name="Line 138">
              <a:extLst>
                <a:ext uri="{FF2B5EF4-FFF2-40B4-BE49-F238E27FC236}">
                  <a16:creationId xmlns:a16="http://schemas.microsoft.com/office/drawing/2014/main" id="{2CA539DC-A7AE-4480-88E2-31F709AEE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618" y="3140968"/>
              <a:ext cx="7202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139">
              <a:extLst>
                <a:ext uri="{FF2B5EF4-FFF2-40B4-BE49-F238E27FC236}">
                  <a16:creationId xmlns:a16="http://schemas.microsoft.com/office/drawing/2014/main" id="{4FC6F442-1037-4569-912C-E1D832A3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221" y="292519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0" name="Line 140">
              <a:extLst>
                <a:ext uri="{FF2B5EF4-FFF2-40B4-BE49-F238E27FC236}">
                  <a16:creationId xmlns:a16="http://schemas.microsoft.com/office/drawing/2014/main" id="{61CFC47C-BB39-4A56-A95D-275ABACD9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025" y="3140968"/>
              <a:ext cx="721195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41">
              <a:extLst>
                <a:ext uri="{FF2B5EF4-FFF2-40B4-BE49-F238E27FC236}">
                  <a16:creationId xmlns:a16="http://schemas.microsoft.com/office/drawing/2014/main" id="{E01A9523-A124-44E3-9815-EEF068CFD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605" y="292519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2" name="Line 142">
              <a:extLst>
                <a:ext uri="{FF2B5EF4-FFF2-40B4-BE49-F238E27FC236}">
                  <a16:creationId xmlns:a16="http://schemas.microsoft.com/office/drawing/2014/main" id="{3BA37262-C06E-458E-B980-88C1195B9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342" y="314267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44">
              <a:extLst>
                <a:ext uri="{FF2B5EF4-FFF2-40B4-BE49-F238E27FC236}">
                  <a16:creationId xmlns:a16="http://schemas.microsoft.com/office/drawing/2014/main" id="{81C750E0-F00D-49C7-BAEA-E1941F09C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298" y="3140968"/>
              <a:ext cx="720080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>
              <a:extLst>
                <a:ext uri="{FF2B5EF4-FFF2-40B4-BE49-F238E27FC236}">
                  <a16:creationId xmlns:a16="http://schemas.microsoft.com/office/drawing/2014/main" id="{BC5402B3-204D-4DD7-911C-851594547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585" y="2924944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15" name="Line 146">
              <a:extLst>
                <a:ext uri="{FF2B5EF4-FFF2-40B4-BE49-F238E27FC236}">
                  <a16:creationId xmlns:a16="http://schemas.microsoft.com/office/drawing/2014/main" id="{72233A29-E33D-4E1D-80CB-0B90DD3456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306" y="3140968"/>
              <a:ext cx="720279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47">
              <a:extLst>
                <a:ext uri="{FF2B5EF4-FFF2-40B4-BE49-F238E27FC236}">
                  <a16:creationId xmlns:a16="http://schemas.microsoft.com/office/drawing/2014/main" id="{BFCD9F86-7A72-47C7-9451-16A39CBD2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177" y="3140720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8">
              <a:extLst>
                <a:ext uri="{FF2B5EF4-FFF2-40B4-BE49-F238E27FC236}">
                  <a16:creationId xmlns:a16="http://schemas.microsoft.com/office/drawing/2014/main" id="{21544945-865E-47CD-B12D-C9B76DF50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897" y="2493392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49">
              <a:extLst>
                <a:ext uri="{FF2B5EF4-FFF2-40B4-BE49-F238E27FC236}">
                  <a16:creationId xmlns:a16="http://schemas.microsoft.com/office/drawing/2014/main" id="{8667804B-CA26-4A23-9696-84B92B74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131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0">
              <a:extLst>
                <a:ext uri="{FF2B5EF4-FFF2-40B4-BE49-F238E27FC236}">
                  <a16:creationId xmlns:a16="http://schemas.microsoft.com/office/drawing/2014/main" id="{67426CF9-A19E-4472-8AB3-72FD99708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259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1">
              <a:extLst>
                <a:ext uri="{FF2B5EF4-FFF2-40B4-BE49-F238E27FC236}">
                  <a16:creationId xmlns:a16="http://schemas.microsoft.com/office/drawing/2014/main" id="{CC106280-BF73-47A9-A32A-79FA79BBF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74" y="2493392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52">
              <a:extLst>
                <a:ext uri="{FF2B5EF4-FFF2-40B4-BE49-F238E27FC236}">
                  <a16:creationId xmlns:a16="http://schemas.microsoft.com/office/drawing/2014/main" id="{5C39D22A-965D-4BD8-A8B2-B3BFB2354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561" y="2493144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37">
              <a:extLst>
                <a:ext uri="{FF2B5EF4-FFF2-40B4-BE49-F238E27FC236}">
                  <a16:creationId xmlns:a16="http://schemas.microsoft.com/office/drawing/2014/main" id="{118FD316-FD6A-4FBF-A22A-258F17C11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7905" y="2924944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2">
                <a:extLst>
                  <a:ext uri="{FF2B5EF4-FFF2-40B4-BE49-F238E27FC236}">
                    <a16:creationId xmlns:a16="http://schemas.microsoft.com/office/drawing/2014/main" id="{0D846787-6860-4A5D-8004-6EDA3D8AF9EA}"/>
                  </a:ext>
                </a:extLst>
              </p:cNvPr>
              <p:cNvSpPr txBox="1"/>
              <p:nvPr/>
            </p:nvSpPr>
            <p:spPr bwMode="auto">
              <a:xfrm>
                <a:off x="468313" y="3657376"/>
                <a:ext cx="8351837" cy="10683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=99.75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" name="对象 22">
                <a:extLst>
                  <a:ext uri="{FF2B5EF4-FFF2-40B4-BE49-F238E27FC236}">
                    <a16:creationId xmlns:a16="http://schemas.microsoft.com/office/drawing/2014/main" id="{0D846787-6860-4A5D-8004-6EDA3D8AF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3657376"/>
                <a:ext cx="8351837" cy="1068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23">
                <a:extLst>
                  <a:ext uri="{FF2B5EF4-FFF2-40B4-BE49-F238E27FC236}">
                    <a16:creationId xmlns:a16="http://schemas.microsoft.com/office/drawing/2014/main" id="{AFCF17B5-F9FA-427C-B731-97C35CF4E57A}"/>
                  </a:ext>
                </a:extLst>
              </p:cNvPr>
              <p:cNvSpPr txBox="1"/>
              <p:nvPr/>
            </p:nvSpPr>
            <p:spPr bwMode="auto">
              <a:xfrm>
                <a:off x="495300" y="4695031"/>
                <a:ext cx="4940796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=3.49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对象 23">
                <a:extLst>
                  <a:ext uri="{FF2B5EF4-FFF2-40B4-BE49-F238E27FC236}">
                    <a16:creationId xmlns:a16="http://schemas.microsoft.com/office/drawing/2014/main" id="{AFCF17B5-F9FA-427C-B731-97C35CF4E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4695031"/>
                <a:ext cx="4940796" cy="1038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3">
                <a:extLst>
                  <a:ext uri="{FF2B5EF4-FFF2-40B4-BE49-F238E27FC236}">
                    <a16:creationId xmlns:a16="http://schemas.microsoft.com/office/drawing/2014/main" id="{D5155862-249E-4F53-AFFE-C5EC351E91ED}"/>
                  </a:ext>
                </a:extLst>
              </p:cNvPr>
              <p:cNvSpPr txBox="1"/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(5)×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×1000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69.83%</m:t>
                      </m:r>
                    </m:oMath>
                  </m:oMathPara>
                </a14:m>
                <a:endParaRPr lang="zh-CN" altLang="en-US" b="0"/>
              </a:p>
            </p:txBody>
          </p:sp>
        </mc:Choice>
        <mc:Fallback xmlns="">
          <p:sp>
            <p:nvSpPr>
              <p:cNvPr id="25" name="对象 23">
                <a:extLst>
                  <a:ext uri="{FF2B5EF4-FFF2-40B4-BE49-F238E27FC236}">
                    <a16:creationId xmlns:a16="http://schemas.microsoft.com/office/drawing/2014/main" id="{D5155862-249E-4F53-AFFE-C5EC351E9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9552AA6-94AE-4F2D-BC7C-8ADF3E46E561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694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49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D1FAA24-C9A8-461F-B26A-ECD1AB09ADEB}"/>
              </a:ext>
            </a:extLst>
          </p:cNvPr>
          <p:cNvSpPr txBox="1">
            <a:spLocks/>
          </p:cNvSpPr>
          <p:nvPr/>
        </p:nvSpPr>
        <p:spPr bwMode="auto">
          <a:xfrm>
            <a:off x="323528" y="548928"/>
            <a:ext cx="8712968" cy="3960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zh-CN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【</a:t>
            </a:r>
            <a:r>
              <a:rPr lang="zh-CN" altLang="en-US" sz="2400" kern="0">
                <a:ea typeface="宋体" pitchFamily="2" charset="-122"/>
              </a:rPr>
              <a:t>解</a:t>
            </a:r>
            <a:r>
              <a:rPr lang="en-US" altLang="zh-CN" sz="2400" kern="0">
                <a:ea typeface="宋体" pitchFamily="2" charset="-122"/>
              </a:rPr>
              <a:t>】</a:t>
            </a:r>
            <a:r>
              <a:rPr lang="zh-CN" altLang="en-US" sz="2400" kern="0">
                <a:ea typeface="宋体" pitchFamily="2" charset="-122"/>
              </a:rPr>
              <a:t>细分瓶颈段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+mn-ea"/>
              </a:rPr>
              <a:t>[(</a:t>
            </a:r>
            <a:r>
              <a:rPr lang="en-US" altLang="zh-CN" sz="2400" kern="0">
                <a:ea typeface="宋体" pitchFamily="2" charset="-122"/>
              </a:rPr>
              <a:t>5+5)+5+5+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</a:t>
            </a:r>
            <a:r>
              <a:rPr lang="en-US" altLang="zh-CN" sz="2400" kern="0">
                <a:latin typeface="+mn-ea"/>
              </a:rPr>
              <a:t>]</a:t>
            </a:r>
            <a:r>
              <a:rPr lang="en-US" altLang="zh-CN" sz="2400" kern="0">
                <a:ea typeface="宋体" pitchFamily="2" charset="-122"/>
              </a:rPr>
              <a:t>ns×1000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35000ns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7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+mn-ea"/>
              </a:rPr>
              <a:t>[(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+5+5+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</a:t>
            </a:r>
            <a:r>
              <a:rPr lang="en-US" altLang="zh-CN" sz="2400" kern="0">
                <a:latin typeface="+mn-ea"/>
              </a:rPr>
              <a:t>]</a:t>
            </a:r>
            <a:r>
              <a:rPr lang="en-US" altLang="zh-CN" sz="2400" kern="0">
                <a:ea typeface="宋体" pitchFamily="2" charset="-122"/>
              </a:rPr>
              <a:t>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1000</a:t>
            </a:r>
            <a:r>
              <a:rPr lang="zh-CN" altLang="en-US" sz="2400" kern="0">
                <a:ea typeface="宋体" pitchFamily="2" charset="-122"/>
              </a:rPr>
              <a:t>－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×5ns</a:t>
            </a: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             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999×5ns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5030ns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00E7C1-B135-4041-AA8C-7BE57C3BAA91}"/>
              </a:ext>
            </a:extLst>
          </p:cNvPr>
          <p:cNvGrpSpPr/>
          <p:nvPr/>
        </p:nvGrpSpPr>
        <p:grpSpPr>
          <a:xfrm>
            <a:off x="467345" y="1090482"/>
            <a:ext cx="8065095" cy="1080120"/>
            <a:chOff x="467345" y="3573016"/>
            <a:chExt cx="8065095" cy="1080120"/>
          </a:xfrm>
        </p:grpSpPr>
        <p:sp>
          <p:nvSpPr>
            <p:cNvPr id="7" name="Rectangle 139">
              <a:extLst>
                <a:ext uri="{FF2B5EF4-FFF2-40B4-BE49-F238E27FC236}">
                  <a16:creationId xmlns:a16="http://schemas.microsoft.com/office/drawing/2014/main" id="{54659914-4B78-4657-9304-28F2589A7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409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</a:p>
          </p:txBody>
        </p:sp>
        <p:sp>
          <p:nvSpPr>
            <p:cNvPr id="8" name="Rectangle 139">
              <a:extLst>
                <a:ext uri="{FF2B5EF4-FFF2-40B4-BE49-F238E27FC236}">
                  <a16:creationId xmlns:a16="http://schemas.microsoft.com/office/drawing/2014/main" id="{8DF305EA-C2F5-44CE-AC7C-745BBFBAD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505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</a:p>
          </p:txBody>
        </p:sp>
        <p:sp>
          <p:nvSpPr>
            <p:cNvPr id="9" name="Line 138">
              <a:extLst>
                <a:ext uri="{FF2B5EF4-FFF2-40B4-BE49-F238E27FC236}">
                  <a16:creationId xmlns:a16="http://schemas.microsoft.com/office/drawing/2014/main" id="{BEED033C-1F54-4CC2-8D22-3413AB33E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345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38">
              <a:extLst>
                <a:ext uri="{FF2B5EF4-FFF2-40B4-BE49-F238E27FC236}">
                  <a16:creationId xmlns:a16="http://schemas.microsoft.com/office/drawing/2014/main" id="{6D69C427-0285-408B-B751-E15302058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74" y="4221584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38">
              <a:extLst>
                <a:ext uri="{FF2B5EF4-FFF2-40B4-BE49-F238E27FC236}">
                  <a16:creationId xmlns:a16="http://schemas.microsoft.com/office/drawing/2014/main" id="{A3116583-D735-40CF-A726-CA5F26046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569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39">
              <a:extLst>
                <a:ext uri="{FF2B5EF4-FFF2-40B4-BE49-F238E27FC236}">
                  <a16:creationId xmlns:a16="http://schemas.microsoft.com/office/drawing/2014/main" id="{C52D1F66-31F5-4DDB-9831-F6E237E42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633" y="400531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3" name="Rectangle 141">
              <a:extLst>
                <a:ext uri="{FF2B5EF4-FFF2-40B4-BE49-F238E27FC236}">
                  <a16:creationId xmlns:a16="http://schemas.microsoft.com/office/drawing/2014/main" id="{8504BC85-6ADE-4F7F-87D2-2C0442FA9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761" y="400531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4" name="Line 142">
              <a:extLst>
                <a:ext uri="{FF2B5EF4-FFF2-40B4-BE49-F238E27FC236}">
                  <a16:creationId xmlns:a16="http://schemas.microsoft.com/office/drawing/2014/main" id="{A4B9020C-451A-4209-B1AB-A598BF3A8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498" y="422279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42">
              <a:extLst>
                <a:ext uri="{FF2B5EF4-FFF2-40B4-BE49-F238E27FC236}">
                  <a16:creationId xmlns:a16="http://schemas.microsoft.com/office/drawing/2014/main" id="{0A30BDF0-9066-42DF-8EEA-034D5F9C5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825" y="4221336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39">
              <a:extLst>
                <a:ext uri="{FF2B5EF4-FFF2-40B4-BE49-F238E27FC236}">
                  <a16:creationId xmlns:a16="http://schemas.microsoft.com/office/drawing/2014/main" id="{A3E3E27A-2F6F-4CAA-B2BB-FFC4D9630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889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</a:p>
          </p:txBody>
        </p:sp>
        <p:sp>
          <p:nvSpPr>
            <p:cNvPr id="17" name="Rectangle 139">
              <a:extLst>
                <a:ext uri="{FF2B5EF4-FFF2-40B4-BE49-F238E27FC236}">
                  <a16:creationId xmlns:a16="http://schemas.microsoft.com/office/drawing/2014/main" id="{118BE0FB-556C-4781-BD6D-78D09FC47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985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</a:p>
          </p:txBody>
        </p:sp>
        <p:sp>
          <p:nvSpPr>
            <p:cNvPr id="18" name="Line 138">
              <a:extLst>
                <a:ext uri="{FF2B5EF4-FFF2-40B4-BE49-F238E27FC236}">
                  <a16:creationId xmlns:a16="http://schemas.microsoft.com/office/drawing/2014/main" id="{7456572A-0F35-495B-AFDC-2AC1693A2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9953" y="4221336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45">
              <a:extLst>
                <a:ext uri="{FF2B5EF4-FFF2-40B4-BE49-F238E27FC236}">
                  <a16:creationId xmlns:a16="http://schemas.microsoft.com/office/drawing/2014/main" id="{2873C186-0EA1-410C-9144-2E5381EBE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113" y="4005312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20" name="Line 146">
              <a:extLst>
                <a:ext uri="{FF2B5EF4-FFF2-40B4-BE49-F238E27FC236}">
                  <a16:creationId xmlns:a16="http://schemas.microsoft.com/office/drawing/2014/main" id="{BE783E31-237E-41AC-BABA-DE9CA4B30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3850" y="4222799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Line 147">
              <a:extLst>
                <a:ext uri="{FF2B5EF4-FFF2-40B4-BE49-F238E27FC236}">
                  <a16:creationId xmlns:a16="http://schemas.microsoft.com/office/drawing/2014/main" id="{DEFD40B0-2175-4489-9EFD-2C8A0230A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6177" y="4221336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52">
              <a:extLst>
                <a:ext uri="{FF2B5EF4-FFF2-40B4-BE49-F238E27FC236}">
                  <a16:creationId xmlns:a16="http://schemas.microsoft.com/office/drawing/2014/main" id="{D498FD6B-0913-4DE4-A819-05CE3D24A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93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152">
              <a:extLst>
                <a:ext uri="{FF2B5EF4-FFF2-40B4-BE49-F238E27FC236}">
                  <a16:creationId xmlns:a16="http://schemas.microsoft.com/office/drawing/2014/main" id="{79D7977B-4107-4969-8052-85F4818D4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489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152">
              <a:extLst>
                <a:ext uri="{FF2B5EF4-FFF2-40B4-BE49-F238E27FC236}">
                  <a16:creationId xmlns:a16="http://schemas.microsoft.com/office/drawing/2014/main" id="{37FE4CC1-41EE-4991-873C-9099AB8C0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617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Rectangle 152">
              <a:extLst>
                <a:ext uri="{FF2B5EF4-FFF2-40B4-BE49-F238E27FC236}">
                  <a16:creationId xmlns:a16="http://schemas.microsoft.com/office/drawing/2014/main" id="{E435CE29-21A2-497F-B1DF-9ABD4E59D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152">
              <a:extLst>
                <a:ext uri="{FF2B5EF4-FFF2-40B4-BE49-F238E27FC236}">
                  <a16:creationId xmlns:a16="http://schemas.microsoft.com/office/drawing/2014/main" id="{FBFBC7BB-4B02-474A-A640-E2267C6E7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72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Rectangle 152">
              <a:extLst>
                <a:ext uri="{FF2B5EF4-FFF2-40B4-BE49-F238E27FC236}">
                  <a16:creationId xmlns:a16="http://schemas.microsoft.com/office/drawing/2014/main" id="{C5A6395C-DCE2-4FB5-B46C-4D0B5BFA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168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Rectangle 152">
              <a:extLst>
                <a:ext uri="{FF2B5EF4-FFF2-40B4-BE49-F238E27FC236}">
                  <a16:creationId xmlns:a16="http://schemas.microsoft.com/office/drawing/2014/main" id="{27A8991C-1154-4349-BF36-E59115EFC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3AC17D3-C99E-41CB-B439-F06EC52C66A5}"/>
                </a:ext>
              </a:extLst>
            </p:cNvPr>
            <p:cNvSpPr/>
            <p:nvPr/>
          </p:nvSpPr>
          <p:spPr bwMode="auto">
            <a:xfrm>
              <a:off x="82758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690FB3A-0733-4469-B689-4A6C888AA4E7}"/>
                </a:ext>
              </a:extLst>
            </p:cNvPr>
            <p:cNvSpPr/>
            <p:nvPr/>
          </p:nvSpPr>
          <p:spPr bwMode="auto">
            <a:xfrm>
              <a:off x="514806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">
                <a:extLst>
                  <a:ext uri="{FF2B5EF4-FFF2-40B4-BE49-F238E27FC236}">
                    <a16:creationId xmlns:a16="http://schemas.microsoft.com/office/drawing/2014/main" id="{3B8EEF99-5253-4DEA-9FCB-3ED7A37C2B1F}"/>
                  </a:ext>
                </a:extLst>
              </p:cNvPr>
              <p:cNvSpPr txBox="1"/>
              <p:nvPr/>
            </p:nvSpPr>
            <p:spPr bwMode="auto">
              <a:xfrm>
                <a:off x="444500" y="3835032"/>
                <a:ext cx="8087940" cy="10683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(7)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=198.8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1" name="Object 4">
                <a:extLst>
                  <a:ext uri="{FF2B5EF4-FFF2-40B4-BE49-F238E27FC236}">
                    <a16:creationId xmlns:a16="http://schemas.microsoft.com/office/drawing/2014/main" id="{3B8EEF99-5253-4DEA-9FCB-3ED7A37C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500" y="3835032"/>
                <a:ext cx="8087940" cy="1068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">
                <a:extLst>
                  <a:ext uri="{FF2B5EF4-FFF2-40B4-BE49-F238E27FC236}">
                    <a16:creationId xmlns:a16="http://schemas.microsoft.com/office/drawing/2014/main" id="{EB248433-167A-4E22-A700-76D9042CCCAE}"/>
                  </a:ext>
                </a:extLst>
              </p:cNvPr>
              <p:cNvSpPr txBox="1"/>
              <p:nvPr/>
            </p:nvSpPr>
            <p:spPr bwMode="auto">
              <a:xfrm>
                <a:off x="495300" y="4784169"/>
                <a:ext cx="5012804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(7)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=6.96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2" name="Object 2">
                <a:extLst>
                  <a:ext uri="{FF2B5EF4-FFF2-40B4-BE49-F238E27FC236}">
                    <a16:creationId xmlns:a16="http://schemas.microsoft.com/office/drawing/2014/main" id="{EB248433-167A-4E22-A700-76D9042CC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4784169"/>
                <a:ext cx="5012804" cy="1038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23">
                <a:extLst>
                  <a:ext uri="{FF2B5EF4-FFF2-40B4-BE49-F238E27FC236}">
                    <a16:creationId xmlns:a16="http://schemas.microsoft.com/office/drawing/2014/main" id="{5757D164-85F1-47A6-B7F6-87BA683226CF}"/>
                  </a:ext>
                </a:extLst>
              </p:cNvPr>
              <p:cNvSpPr txBox="1"/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(7)×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×1000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99.40%</m:t>
                      </m:r>
                    </m:oMath>
                  </m:oMathPara>
                </a14:m>
                <a:endParaRPr lang="zh-CN" altLang="en-US" sz="2400" b="0"/>
              </a:p>
            </p:txBody>
          </p:sp>
        </mc:Choice>
        <mc:Fallback xmlns="">
          <p:sp>
            <p:nvSpPr>
              <p:cNvPr id="33" name="对象 23">
                <a:extLst>
                  <a:ext uri="{FF2B5EF4-FFF2-40B4-BE49-F238E27FC236}">
                    <a16:creationId xmlns:a16="http://schemas.microsoft.com/office/drawing/2014/main" id="{5757D164-85F1-47A6-B7F6-87BA68322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BBC3E1F7-C41B-42AF-A30C-A3248FF114B1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340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49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49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49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E726B6E-D389-49CA-9C50-0EFF56C9DA3D}"/>
              </a:ext>
            </a:extLst>
          </p:cNvPr>
          <p:cNvSpPr txBox="1">
            <a:spLocks/>
          </p:cNvSpPr>
          <p:nvPr/>
        </p:nvSpPr>
        <p:spPr bwMode="auto">
          <a:xfrm>
            <a:off x="323528" y="548928"/>
            <a:ext cx="8578850" cy="3600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zh-CN" altLang="zh-CN" kern="0"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【</a:t>
            </a:r>
            <a:r>
              <a:rPr lang="zh-CN" altLang="en-US" sz="2400" kern="0">
                <a:ea typeface="宋体" pitchFamily="2" charset="-122"/>
              </a:rPr>
              <a:t>解</a:t>
            </a:r>
            <a:r>
              <a:rPr lang="en-US" altLang="zh-CN" sz="2400" kern="0">
                <a:ea typeface="宋体" pitchFamily="2" charset="-122"/>
              </a:rPr>
              <a:t>】</a:t>
            </a:r>
            <a:r>
              <a:rPr lang="zh-CN" altLang="en-US" sz="2400" kern="0">
                <a:ea typeface="宋体" pitchFamily="2" charset="-122"/>
              </a:rPr>
              <a:t>重复设置瓶颈段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ns×1000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35000ns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5’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1000</a:t>
            </a:r>
            <a:r>
              <a:rPr lang="zh-CN" altLang="en-US" sz="2400" kern="0">
                <a:ea typeface="宋体" pitchFamily="2" charset="-122"/>
              </a:rPr>
              <a:t>－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×5ns</a:t>
            </a:r>
          </a:p>
          <a:p>
            <a:pPr marL="0" indent="0">
              <a:spcBef>
                <a:spcPts val="300"/>
              </a:spcBef>
              <a:buFont typeface="Wingdings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              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999×5ns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5030ns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CA1D6A8-DD85-47F7-8596-9402DFF517CC}"/>
                  </a:ext>
                </a:extLst>
              </p:cNvPr>
              <p:cNvSpPr txBox="1"/>
              <p:nvPr/>
            </p:nvSpPr>
            <p:spPr bwMode="auto">
              <a:xfrm>
                <a:off x="393700" y="3873400"/>
                <a:ext cx="8066732" cy="1068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(5′)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=198.8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CA1D6A8-DD85-47F7-8596-9402DFF51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3873400"/>
                <a:ext cx="8066732" cy="1068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3CBC6D8F-9AB9-4C3D-8339-005FEBC8CE18}"/>
                  </a:ext>
                </a:extLst>
              </p:cNvPr>
              <p:cNvSpPr txBox="1"/>
              <p:nvPr/>
            </p:nvSpPr>
            <p:spPr bwMode="auto">
              <a:xfrm>
                <a:off x="393700" y="4803353"/>
                <a:ext cx="4929113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(5′)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=6.96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3CBC6D8F-9AB9-4C3D-8339-005FEBC8C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4803353"/>
                <a:ext cx="4929113" cy="1038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C7945DF4-45CD-4862-BA22-0A6E20426A99}"/>
              </a:ext>
            </a:extLst>
          </p:cNvPr>
          <p:cNvGrpSpPr/>
          <p:nvPr/>
        </p:nvGrpSpPr>
        <p:grpSpPr>
          <a:xfrm>
            <a:off x="539353" y="1052736"/>
            <a:ext cx="7992814" cy="1223640"/>
            <a:chOff x="539353" y="1125488"/>
            <a:chExt cx="7992814" cy="1223640"/>
          </a:xfrm>
        </p:grpSpPr>
        <p:sp>
          <p:nvSpPr>
            <p:cNvPr id="9" name="Rectangle 137">
              <a:extLst>
                <a:ext uri="{FF2B5EF4-FFF2-40B4-BE49-F238E27FC236}">
                  <a16:creationId xmlns:a16="http://schemas.microsoft.com/office/drawing/2014/main" id="{E797EFDD-4266-4CD0-936E-C174DEE5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1196752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</a:p>
          </p:txBody>
        </p:sp>
        <p:sp>
          <p:nvSpPr>
            <p:cNvPr id="10" name="Line 138">
              <a:extLst>
                <a:ext uri="{FF2B5EF4-FFF2-40B4-BE49-F238E27FC236}">
                  <a16:creationId xmlns:a16="http://schemas.microsoft.com/office/drawing/2014/main" id="{741A4826-4897-46DB-9549-29AAB609E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353" y="1773064"/>
              <a:ext cx="3602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39">
              <a:extLst>
                <a:ext uri="{FF2B5EF4-FFF2-40B4-BE49-F238E27FC236}">
                  <a16:creationId xmlns:a16="http://schemas.microsoft.com/office/drawing/2014/main" id="{89457A6D-BC2B-47BC-AADE-C9B11CE49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948" y="1557288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" name="Rectangle 141">
              <a:extLst>
                <a:ext uri="{FF2B5EF4-FFF2-40B4-BE49-F238E27FC236}">
                  <a16:creationId xmlns:a16="http://schemas.microsoft.com/office/drawing/2014/main" id="{427C48DC-C1A2-4F4F-AB53-DD8CB8FF7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332" y="1557288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3" name="Line 142">
              <a:extLst>
                <a:ext uri="{FF2B5EF4-FFF2-40B4-BE49-F238E27FC236}">
                  <a16:creationId xmlns:a16="http://schemas.microsoft.com/office/drawing/2014/main" id="{03286D6C-CC81-4B9F-B36E-90FB8826F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069" y="1774775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>
              <a:extLst>
                <a:ext uri="{FF2B5EF4-FFF2-40B4-BE49-F238E27FC236}">
                  <a16:creationId xmlns:a16="http://schemas.microsoft.com/office/drawing/2014/main" id="{2EC38CBD-9877-423C-9458-BFE0971F4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312" y="1557288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</a:p>
          </p:txBody>
        </p:sp>
        <p:sp>
          <p:nvSpPr>
            <p:cNvPr id="15" name="Line 147">
              <a:extLst>
                <a:ext uri="{FF2B5EF4-FFF2-40B4-BE49-F238E27FC236}">
                  <a16:creationId xmlns:a16="http://schemas.microsoft.com/office/drawing/2014/main" id="{4719AA34-3FCF-47DE-B6CC-AE0D14170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5904" y="177306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48">
              <a:extLst>
                <a:ext uri="{FF2B5EF4-FFF2-40B4-BE49-F238E27FC236}">
                  <a16:creationId xmlns:a16="http://schemas.microsoft.com/office/drawing/2014/main" id="{5295D59F-3090-46B0-BC1E-DD06DF31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1557040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9">
              <a:extLst>
                <a:ext uri="{FF2B5EF4-FFF2-40B4-BE49-F238E27FC236}">
                  <a16:creationId xmlns:a16="http://schemas.microsoft.com/office/drawing/2014/main" id="{CCA7130E-30B8-4ECF-86E3-5FC5E33A5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58" y="1125488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50">
              <a:extLst>
                <a:ext uri="{FF2B5EF4-FFF2-40B4-BE49-F238E27FC236}">
                  <a16:creationId xmlns:a16="http://schemas.microsoft.com/office/drawing/2014/main" id="{22D4F292-08D9-4FDB-B520-92D0F95A5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86" y="1125488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1">
              <a:extLst>
                <a:ext uri="{FF2B5EF4-FFF2-40B4-BE49-F238E27FC236}">
                  <a16:creationId xmlns:a16="http://schemas.microsoft.com/office/drawing/2014/main" id="{12A5F764-F753-47CC-8AEC-EB89AC84A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409" y="1557040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2">
              <a:extLst>
                <a:ext uri="{FF2B5EF4-FFF2-40B4-BE49-F238E27FC236}">
                  <a16:creationId xmlns:a16="http://schemas.microsoft.com/office/drawing/2014/main" id="{DC00167C-FD14-4E38-BCD2-B2A31F4D5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288" y="1125488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37">
              <a:extLst>
                <a:ext uri="{FF2B5EF4-FFF2-40B4-BE49-F238E27FC236}">
                  <a16:creationId xmlns:a16="http://schemas.microsoft.com/office/drawing/2014/main" id="{52316008-0A1F-48DF-8C9C-4F9F4418F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104" y="1196752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</a:p>
          </p:txBody>
        </p:sp>
        <p:sp>
          <p:nvSpPr>
            <p:cNvPr id="22" name="Rectangle 137">
              <a:extLst>
                <a:ext uri="{FF2B5EF4-FFF2-40B4-BE49-F238E27FC236}">
                  <a16:creationId xmlns:a16="http://schemas.microsoft.com/office/drawing/2014/main" id="{22165966-E1BF-46D4-9602-483DC8A38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624" y="1917328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</a:p>
          </p:txBody>
        </p:sp>
        <p:sp>
          <p:nvSpPr>
            <p:cNvPr id="23" name="Rectangle 137">
              <a:extLst>
                <a:ext uri="{FF2B5EF4-FFF2-40B4-BE49-F238E27FC236}">
                  <a16:creationId xmlns:a16="http://schemas.microsoft.com/office/drawing/2014/main" id="{E670F025-E319-439D-8FB0-78DCCB05C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104" y="1917328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</a:p>
          </p:txBody>
        </p:sp>
        <p:sp>
          <p:nvSpPr>
            <p:cNvPr id="24" name="Line 138">
              <a:extLst>
                <a:ext uri="{FF2B5EF4-FFF2-40B4-BE49-F238E27FC236}">
                  <a16:creationId xmlns:a16="http://schemas.microsoft.com/office/drawing/2014/main" id="{B375E68C-3C4B-4A71-A58D-389F7644A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9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Line 138">
              <a:extLst>
                <a:ext uri="{FF2B5EF4-FFF2-40B4-BE49-F238E27FC236}">
                  <a16:creationId xmlns:a16="http://schemas.microsoft.com/office/drawing/2014/main" id="{818C17A7-11DB-4D8D-81E5-0E376670C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9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C6282D3-67A1-467D-8877-EB3591382AD9}"/>
                </a:ext>
              </a:extLst>
            </p:cNvPr>
            <p:cNvCxnSpPr/>
            <p:nvPr/>
          </p:nvCxnSpPr>
          <p:spPr bwMode="auto">
            <a:xfrm rot="5400000">
              <a:off x="539552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Line 138">
              <a:extLst>
                <a:ext uri="{FF2B5EF4-FFF2-40B4-BE49-F238E27FC236}">
                  <a16:creationId xmlns:a16="http://schemas.microsoft.com/office/drawing/2014/main" id="{79BC0BA4-CD3E-439E-AE6C-37A1FDF1B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Line 138">
              <a:extLst>
                <a:ext uri="{FF2B5EF4-FFF2-40B4-BE49-F238E27FC236}">
                  <a16:creationId xmlns:a16="http://schemas.microsoft.com/office/drawing/2014/main" id="{30B9934E-3272-40C2-9A83-2B75AA0F3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75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FEA0156-9B39-4396-9339-DA54F8AE93AF}"/>
                </a:ext>
              </a:extLst>
            </p:cNvPr>
            <p:cNvCxnSpPr/>
            <p:nvPr/>
          </p:nvCxnSpPr>
          <p:spPr bwMode="auto">
            <a:xfrm rot="5400000">
              <a:off x="2267744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Line 138">
              <a:extLst>
                <a:ext uri="{FF2B5EF4-FFF2-40B4-BE49-F238E27FC236}">
                  <a16:creationId xmlns:a16="http://schemas.microsoft.com/office/drawing/2014/main" id="{74C78712-7726-4F54-AB0A-A442F0AED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7784" y="1773064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Line 138">
              <a:extLst>
                <a:ext uri="{FF2B5EF4-FFF2-40B4-BE49-F238E27FC236}">
                  <a16:creationId xmlns:a16="http://schemas.microsoft.com/office/drawing/2014/main" id="{2FAB78F0-FFBC-4755-8ECB-86BA1964A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825" y="1773064"/>
              <a:ext cx="43224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Line 138">
              <a:extLst>
                <a:ext uri="{FF2B5EF4-FFF2-40B4-BE49-F238E27FC236}">
                  <a16:creationId xmlns:a16="http://schemas.microsoft.com/office/drawing/2014/main" id="{A32D7A19-D68F-4E31-A868-BB212322B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7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Line 138">
              <a:extLst>
                <a:ext uri="{FF2B5EF4-FFF2-40B4-BE49-F238E27FC236}">
                  <a16:creationId xmlns:a16="http://schemas.microsoft.com/office/drawing/2014/main" id="{F4503105-408E-4339-A803-5BDA04ACE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7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B95EFBB-23B6-42E7-80FB-B56A9D57A7CA}"/>
                </a:ext>
              </a:extLst>
            </p:cNvPr>
            <p:cNvCxnSpPr/>
            <p:nvPr/>
          </p:nvCxnSpPr>
          <p:spPr bwMode="auto">
            <a:xfrm rot="5400000">
              <a:off x="4860032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Line 138">
              <a:extLst>
                <a:ext uri="{FF2B5EF4-FFF2-40B4-BE49-F238E27FC236}">
                  <a16:creationId xmlns:a16="http://schemas.microsoft.com/office/drawing/2014/main" id="{B93E7C88-FC16-44BC-A141-952B3A639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023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138">
              <a:extLst>
                <a:ext uri="{FF2B5EF4-FFF2-40B4-BE49-F238E27FC236}">
                  <a16:creationId xmlns:a16="http://schemas.microsoft.com/office/drawing/2014/main" id="{4D5C5F5A-DADF-40F2-A425-5972CFCC6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023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16B41A8-306B-4B87-ACBB-1FF94ACD0E98}"/>
                </a:ext>
              </a:extLst>
            </p:cNvPr>
            <p:cNvCxnSpPr/>
            <p:nvPr/>
          </p:nvCxnSpPr>
          <p:spPr bwMode="auto">
            <a:xfrm rot="5400000">
              <a:off x="6588224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" name="Line 138">
              <a:extLst>
                <a:ext uri="{FF2B5EF4-FFF2-40B4-BE49-F238E27FC236}">
                  <a16:creationId xmlns:a16="http://schemas.microsoft.com/office/drawing/2014/main" id="{00CC5BE1-A7FA-4A16-95E9-D8B135E7F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4" y="1773064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对象 23">
                <a:extLst>
                  <a:ext uri="{FF2B5EF4-FFF2-40B4-BE49-F238E27FC236}">
                    <a16:creationId xmlns:a16="http://schemas.microsoft.com/office/drawing/2014/main" id="{CCF00B57-EF6E-498A-A80E-2CAA184B8EA2}"/>
                  </a:ext>
                </a:extLst>
              </p:cNvPr>
              <p:cNvSpPr txBox="1"/>
              <p:nvPr/>
            </p:nvSpPr>
            <p:spPr bwMode="auto">
              <a:xfrm>
                <a:off x="3937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(5′)×</m:t>
                          </m:r>
                          <m:r>
                            <m:rPr>
                              <m:nor/>
                            </m:rPr>
                            <a:rPr lang="zh-CN" alt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总</m:t>
                          </m:r>
                          <m:r>
                            <m:rPr>
                              <m:nor/>
                            </m:rPr>
                            <a:rPr lang="zh-CN" altLang="en-US" sz="24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段</m:t>
                          </m:r>
                          <m:r>
                            <m:rPr>
                              <m:nor/>
                            </m:rPr>
                            <a:rPr lang="zh-CN" alt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数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×1000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99.40%</m:t>
                      </m:r>
                    </m:oMath>
                  </m:oMathPara>
                </a14:m>
                <a:endParaRPr lang="zh-CN" altLang="en-US" sz="2400" b="0"/>
              </a:p>
            </p:txBody>
          </p:sp>
        </mc:Choice>
        <mc:Fallback xmlns="">
          <p:sp>
            <p:nvSpPr>
              <p:cNvPr id="39" name="对象 23">
                <a:extLst>
                  <a:ext uri="{FF2B5EF4-FFF2-40B4-BE49-F238E27FC236}">
                    <a16:creationId xmlns:a16="http://schemas.microsoft.com/office/drawing/2014/main" id="{CCF00B57-EF6E-498A-A80E-2CAA184B8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5703143"/>
                <a:ext cx="8578850" cy="103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22048B34-6A44-4DF2-8384-BAE00E879B1C}"/>
              </a:ext>
            </a:extLst>
          </p:cNvPr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15947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 总线、</a:t>
            </a:r>
            <a:r>
              <a:rPr lang="en-US" altLang="zh-CN"/>
              <a:t>I/O</a:t>
            </a:r>
            <a:r>
              <a:rPr lang="zh-CN" altLang="en-US"/>
              <a:t>系统</a:t>
            </a:r>
            <a:endParaRPr lang="zh-CN" altLang="en-US">
              <a:solidFill>
                <a:srgbClr val="CC0066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47D24-EBBE-489D-8367-6A8E87BF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362950" cy="5688632"/>
          </a:xfrm>
        </p:spPr>
        <p:txBody>
          <a:bodyPr/>
          <a:lstStyle/>
          <a:p>
            <a:r>
              <a:rPr lang="zh-CN" altLang="en-US"/>
              <a:t>集中式总线仲裁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分布式总线仲裁（无需专门的总线仲裁器）</a:t>
            </a:r>
            <a:endParaRPr lang="en-US" altLang="zh-CN"/>
          </a:p>
          <a:p>
            <a:pPr lvl="1"/>
            <a:r>
              <a:rPr lang="zh-CN" altLang="en-US"/>
              <a:t>自举分布式仲裁方式</a:t>
            </a:r>
            <a:endParaRPr lang="en-US" altLang="zh-CN"/>
          </a:p>
          <a:p>
            <a:pPr lvl="1"/>
            <a:r>
              <a:rPr lang="zh-CN" altLang="en-US"/>
              <a:t>链式分布式仲裁方式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73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B69096-CF0C-4927-AFDF-B0AC9887D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88379"/>
              </p:ext>
            </p:extLst>
          </p:nvPr>
        </p:nvGraphicFramePr>
        <p:xfrm>
          <a:off x="323850" y="1412853"/>
          <a:ext cx="856863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2158">
                  <a:extLst>
                    <a:ext uri="{9D8B030D-6E8A-4147-A177-3AD203B41FA5}">
                      <a16:colId xmlns:a16="http://schemas.microsoft.com/office/drawing/2014/main" val="2510599040"/>
                    </a:ext>
                  </a:extLst>
                </a:gridCol>
                <a:gridCol w="2142158">
                  <a:extLst>
                    <a:ext uri="{9D8B030D-6E8A-4147-A177-3AD203B41FA5}">
                      <a16:colId xmlns:a16="http://schemas.microsoft.com/office/drawing/2014/main" val="1245503407"/>
                    </a:ext>
                  </a:extLst>
                </a:gridCol>
                <a:gridCol w="2142158">
                  <a:extLst>
                    <a:ext uri="{9D8B030D-6E8A-4147-A177-3AD203B41FA5}">
                      <a16:colId xmlns:a16="http://schemas.microsoft.com/office/drawing/2014/main" val="336321581"/>
                    </a:ext>
                  </a:extLst>
                </a:gridCol>
                <a:gridCol w="2142158">
                  <a:extLst>
                    <a:ext uri="{9D8B030D-6E8A-4147-A177-3AD203B41FA5}">
                      <a16:colId xmlns:a16="http://schemas.microsoft.com/office/drawing/2014/main" val="140236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菊花链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轮询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独立请求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0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线数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  <a:ea typeface="+mn-ea"/>
                        </a:rPr>
                        <a:t>3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</a:t>
                      </a:r>
                      <a:r>
                        <a:rPr lang="zh-CN" altLang="en-US" sz="2400" b="1"/>
                        <a:t>＋</a:t>
                      </a:r>
                      <a:r>
                        <a:rPr lang="en-US" altLang="zh-CN" sz="2400" b="1"/>
                        <a:t>[log</a:t>
                      </a:r>
                      <a:r>
                        <a:rPr lang="en-US" altLang="zh-CN" sz="2400" b="1" baseline="-25000"/>
                        <a:t>2</a:t>
                      </a:r>
                      <a:r>
                        <a:rPr lang="en-US" altLang="zh-CN" sz="2400" b="1"/>
                        <a:t>n]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  <a:ea typeface="+mn-ea"/>
                        </a:rPr>
                        <a:t>2n</a:t>
                      </a:r>
                      <a:r>
                        <a:rPr lang="zh-CN" altLang="en-US" sz="2400" b="1">
                          <a:latin typeface="+mn-lt"/>
                          <a:ea typeface="+mn-ea"/>
                        </a:rPr>
                        <a:t>＋</a:t>
                      </a:r>
                      <a:r>
                        <a:rPr lang="en-US" altLang="zh-CN" sz="2400" b="1">
                          <a:latin typeface="+mn-lt"/>
                          <a:ea typeface="+mn-ea"/>
                        </a:rPr>
                        <a:t>1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1628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可扩充性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差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0551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可靠性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低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高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753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优先级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固定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可变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745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总线分配速度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慢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慢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快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2679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4B6EB03-0827-4C23-9B69-8CDDE32EB267}"/>
              </a:ext>
            </a:extLst>
          </p:cNvPr>
          <p:cNvSpPr txBox="1"/>
          <p:nvPr/>
        </p:nvSpPr>
        <p:spPr bwMode="auto">
          <a:xfrm>
            <a:off x="5682716" y="45724"/>
            <a:ext cx="34163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一、总线：总线仲裁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725541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ADEEC-93B8-49DE-B8D1-C51CCCB3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总线、</a:t>
            </a:r>
            <a:r>
              <a:rPr lang="en-US" altLang="zh-CN" dirty="0"/>
              <a:t>I/O</a:t>
            </a:r>
            <a:r>
              <a:rPr lang="zh-CN" altLang="en-US" dirty="0"/>
              <a:t>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035D4-A37B-4FEA-8165-EC2E6272E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836712"/>
            <a:ext cx="8589962" cy="5544697"/>
          </a:xfrm>
        </p:spPr>
        <p:txBody>
          <a:bodyPr/>
          <a:lstStyle/>
          <a:p>
            <a:r>
              <a:rPr lang="zh-CN" altLang="en-US" dirty="0"/>
              <a:t>典型的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系统总线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内总线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/>
              <a:t>ISA</a:t>
            </a:r>
            <a:r>
              <a:rPr lang="zh-CN" altLang="en-US"/>
              <a:t>总线（并行）</a:t>
            </a:r>
            <a:endParaRPr lang="zh-CN" altLang="en-US" dirty="0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PCI</a:t>
            </a:r>
            <a:r>
              <a:rPr lang="zh-CN" altLang="en-US"/>
              <a:t>总线（并行）（同步总线、集中式独立请求）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66"/>
                </a:solidFill>
              </a:rPr>
              <a:t>PCI Express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PCIe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总线（串行、交换结构）</a:t>
            </a:r>
            <a:endParaRPr lang="zh-CN" altLang="en-US" dirty="0"/>
          </a:p>
          <a:p>
            <a:pPr>
              <a:spcBef>
                <a:spcPts val="1200"/>
              </a:spcBef>
            </a:pPr>
            <a:r>
              <a:rPr lang="zh-CN" altLang="en-US" dirty="0"/>
              <a:t>典型的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通信总线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外总线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/>
              <a:t>RS-232C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USB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/>
              <a:t>SCSI</a:t>
            </a:r>
            <a:r>
              <a:rPr lang="zh-CN" altLang="en-US"/>
              <a:t>（并行）</a:t>
            </a:r>
            <a:endParaRPr lang="en-US" altLang="zh-CN" dirty="0"/>
          </a:p>
          <a:p>
            <a:pPr lvl="1"/>
            <a:r>
              <a:rPr lang="en-US" altLang="zh-CN"/>
              <a:t>SAS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/>
              <a:t>ATA</a:t>
            </a:r>
            <a:r>
              <a:rPr lang="zh-CN" altLang="en-US"/>
              <a:t>（并行）</a:t>
            </a:r>
            <a:endParaRPr lang="en-US" altLang="zh-CN" dirty="0"/>
          </a:p>
          <a:p>
            <a:pPr lvl="1"/>
            <a:r>
              <a:rPr lang="en-US" altLang="zh-CN"/>
              <a:t>SATA</a:t>
            </a:r>
            <a:r>
              <a:rPr lang="zh-CN" altLang="en-US"/>
              <a:t>（串行）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589433-ACC8-44F5-A706-28395854B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404D4C-EA7E-4CAF-86A5-610589AAF356}"/>
              </a:ext>
            </a:extLst>
          </p:cNvPr>
          <p:cNvSpPr txBox="1"/>
          <p:nvPr/>
        </p:nvSpPr>
        <p:spPr bwMode="auto">
          <a:xfrm>
            <a:off x="5323644" y="45724"/>
            <a:ext cx="37753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二、总线：典型的总线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F9333E4E-6F07-4BDC-8B6A-B57EB7B8E208}"/>
              </a:ext>
            </a:extLst>
          </p:cNvPr>
          <p:cNvSpPr/>
          <p:nvPr/>
        </p:nvSpPr>
        <p:spPr bwMode="auto">
          <a:xfrm>
            <a:off x="590550" y="1750069"/>
            <a:ext cx="216024" cy="598809"/>
          </a:xfrm>
          <a:prstGeom prst="downArrow">
            <a:avLst>
              <a:gd name="adj1" fmla="val 50000"/>
              <a:gd name="adj2" fmla="val 8495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4FC436-2827-4E8A-BB1A-9BDD62C4428F}"/>
              </a:ext>
            </a:extLst>
          </p:cNvPr>
          <p:cNvSpPr txBox="1"/>
          <p:nvPr/>
        </p:nvSpPr>
        <p:spPr bwMode="auto">
          <a:xfrm>
            <a:off x="452389" y="1288405"/>
            <a:ext cx="494045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FF"/>
                </a:solidFill>
                <a:latin typeface="+mj-lt"/>
                <a:ea typeface="黑体" panose="02010609060101010101" pitchFamily="49" charset="-122"/>
              </a:rPr>
              <a:t>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800577-D7A2-48CB-A539-FE0E39C65EBC}"/>
              </a:ext>
            </a:extLst>
          </p:cNvPr>
          <p:cNvSpPr txBox="1"/>
          <p:nvPr/>
        </p:nvSpPr>
        <p:spPr bwMode="auto">
          <a:xfrm>
            <a:off x="452389" y="2348880"/>
            <a:ext cx="494045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FF"/>
                </a:solidFill>
                <a:latin typeface="+mj-lt"/>
                <a:ea typeface="黑体" panose="02010609060101010101" pitchFamily="49" charset="-122"/>
              </a:rPr>
              <a:t>快</a:t>
            </a:r>
          </a:p>
        </p:txBody>
      </p:sp>
    </p:spTree>
    <p:extLst>
      <p:ext uri="{BB962C8B-B14F-4D97-AF65-F5344CB8AC3E}">
        <p14:creationId xmlns:p14="http://schemas.microsoft.com/office/powerpoint/2010/main" val="1055263500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 总线、</a:t>
            </a:r>
            <a:r>
              <a:rPr lang="en-US" altLang="zh-CN"/>
              <a:t>I/O</a:t>
            </a:r>
            <a:r>
              <a:rPr lang="zh-CN" altLang="en-US"/>
              <a:t>系统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49F1813-D6E1-49F9-AA08-F0A1B8183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8107" y="980728"/>
            <a:ext cx="6357714" cy="37444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输入输出技术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/>
              <a:t>程序查询 </a:t>
            </a:r>
            <a:r>
              <a:rPr lang="en-US" altLang="zh-CN"/>
              <a:t>—— </a:t>
            </a:r>
            <a:r>
              <a:rPr lang="zh-CN" altLang="en-US"/>
              <a:t>硬件简单、低成本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zh-CN" altLang="en-US"/>
              <a:t>中断 </a:t>
            </a:r>
            <a:r>
              <a:rPr lang="en-US" altLang="zh-CN"/>
              <a:t>—— </a:t>
            </a:r>
            <a:r>
              <a:rPr lang="zh-CN" altLang="en-US"/>
              <a:t>及时处理紧急事务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DMA —— </a:t>
            </a:r>
            <a:r>
              <a:rPr lang="zh-CN" altLang="en-US"/>
              <a:t>高速传输大量数据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I/O</a:t>
            </a:r>
            <a:r>
              <a:rPr lang="zh-CN" altLang="en-US"/>
              <a:t>通道 </a:t>
            </a:r>
            <a:r>
              <a:rPr lang="en-US" altLang="zh-CN"/>
              <a:t>—— </a:t>
            </a:r>
            <a:r>
              <a:rPr lang="zh-CN" altLang="en-US"/>
              <a:t>用于大型计算机系统</a:t>
            </a:r>
          </a:p>
        </p:txBody>
      </p:sp>
      <p:sp>
        <p:nvSpPr>
          <p:cNvPr id="3" name="箭头: 燕尾形 2">
            <a:extLst>
              <a:ext uri="{FF2B5EF4-FFF2-40B4-BE49-F238E27FC236}">
                <a16:creationId xmlns:a16="http://schemas.microsoft.com/office/drawing/2014/main" id="{C7C5020B-8E86-458C-80B4-2B54B112573D}"/>
              </a:ext>
            </a:extLst>
          </p:cNvPr>
          <p:cNvSpPr/>
          <p:nvPr/>
        </p:nvSpPr>
        <p:spPr bwMode="auto">
          <a:xfrm rot="5400000">
            <a:off x="1721648" y="2897768"/>
            <a:ext cx="1656184" cy="432048"/>
          </a:xfrm>
          <a:prstGeom prst="notchedRightArrow">
            <a:avLst>
              <a:gd name="adj1" fmla="val 50000"/>
              <a:gd name="adj2" fmla="val 93192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6DA237-D184-42DE-A41B-1E33465A66CA}"/>
              </a:ext>
            </a:extLst>
          </p:cNvPr>
          <p:cNvSpPr txBox="1"/>
          <p:nvPr/>
        </p:nvSpPr>
        <p:spPr bwMode="auto">
          <a:xfrm>
            <a:off x="35496" y="2727218"/>
            <a:ext cx="238558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占用CPU资源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031514-40F9-4B81-B347-359BF5A27FBD}"/>
              </a:ext>
            </a:extLst>
          </p:cNvPr>
          <p:cNvSpPr txBox="1"/>
          <p:nvPr/>
        </p:nvSpPr>
        <p:spPr bwMode="auto">
          <a:xfrm>
            <a:off x="2277069" y="1734487"/>
            <a:ext cx="54534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+mj-lt"/>
                <a:ea typeface="黑体" panose="02010609060101010101" pitchFamily="49" charset="-122"/>
              </a:rPr>
              <a:t>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70865D-8396-4002-97BF-810C64EF3917}"/>
              </a:ext>
            </a:extLst>
          </p:cNvPr>
          <p:cNvSpPr txBox="1"/>
          <p:nvPr/>
        </p:nvSpPr>
        <p:spPr bwMode="auto">
          <a:xfrm>
            <a:off x="2277069" y="3913891"/>
            <a:ext cx="54534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+mj-lt"/>
                <a:ea typeface="黑体" panose="02010609060101010101" pitchFamily="49" charset="-122"/>
              </a:rPr>
              <a:t>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684538-3799-4B76-9ABC-138CD2F14EAA}"/>
              </a:ext>
            </a:extLst>
          </p:cNvPr>
          <p:cNvSpPr txBox="1"/>
          <p:nvPr/>
        </p:nvSpPr>
        <p:spPr bwMode="auto">
          <a:xfrm>
            <a:off x="5871869" y="45724"/>
            <a:ext cx="322716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三、输入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输出技术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CB8320-7D3F-4858-B588-23099E2FB656}"/>
              </a:ext>
            </a:extLst>
          </p:cNvPr>
          <p:cNvSpPr txBox="1"/>
          <p:nvPr/>
        </p:nvSpPr>
        <p:spPr bwMode="auto">
          <a:xfrm>
            <a:off x="2686674" y="5364387"/>
            <a:ext cx="2844048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marL="355600" indent="-355600"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altLang="zh-CN">
                <a:latin typeface="+mn-lt"/>
                <a:ea typeface="+mn-ea"/>
              </a:rPr>
              <a:t>DMA</a:t>
            </a:r>
            <a:r>
              <a:rPr lang="zh-CN" altLang="en-US">
                <a:latin typeface="+mn-lt"/>
                <a:ea typeface="+mn-ea"/>
              </a:rPr>
              <a:t>的过程。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86B2D7-AA08-42B7-B8F8-69C923894357}"/>
              </a:ext>
            </a:extLst>
          </p:cNvPr>
          <p:cNvSpPr txBox="1"/>
          <p:nvPr/>
        </p:nvSpPr>
        <p:spPr bwMode="auto">
          <a:xfrm>
            <a:off x="2686674" y="4869160"/>
            <a:ext cx="27077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marL="355600" indent="-355600"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>
                <a:latin typeface="+mn-lt"/>
                <a:ea typeface="+mn-ea"/>
              </a:rPr>
              <a:t>中断的过程。</a:t>
            </a:r>
          </a:p>
        </p:txBody>
      </p:sp>
    </p:spTree>
    <p:extLst>
      <p:ext uri="{BB962C8B-B14F-4D97-AF65-F5344CB8AC3E}">
        <p14:creationId xmlns:p14="http://schemas.microsoft.com/office/powerpoint/2010/main" val="4253305854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6F5ED-2A1B-473B-A8FB-41E13A5D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280598" cy="5688806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SISD: </a:t>
            </a:r>
            <a:r>
              <a:rPr lang="zh-CN" altLang="en-US">
                <a:solidFill>
                  <a:srgbClr val="FF0066"/>
                </a:solidFill>
              </a:rPr>
              <a:t>单指令流单数据流</a:t>
            </a:r>
            <a:endParaRPr lang="en-US" altLang="zh-CN">
              <a:solidFill>
                <a:srgbClr val="FF0066"/>
              </a:solidFill>
            </a:endParaRPr>
          </a:p>
          <a:p>
            <a:pPr marL="361950" lvl="1" indent="0" algn="l">
              <a:spcBef>
                <a:spcPts val="0"/>
              </a:spcBef>
              <a:buNone/>
            </a:pPr>
            <a:r>
              <a:rPr lang="zh-CN" altLang="en-US"/>
              <a:t>这是传统的</a:t>
            </a:r>
            <a:r>
              <a:rPr lang="zh-CN" altLang="en-US">
                <a:solidFill>
                  <a:srgbClr val="0000FF"/>
                </a:solidFill>
              </a:rPr>
              <a:t>串行计算机</a:t>
            </a:r>
            <a:r>
              <a:rPr lang="zh-CN" altLang="en-US"/>
              <a:t>。</a:t>
            </a:r>
            <a:endParaRPr lang="en-US" altLang="zh-CN"/>
          </a:p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SIMD: </a:t>
            </a:r>
            <a:r>
              <a:rPr lang="zh-CN" altLang="en-US">
                <a:solidFill>
                  <a:srgbClr val="FF0066"/>
                </a:solidFill>
              </a:rPr>
              <a:t>单指令流多数据流</a:t>
            </a:r>
            <a:endParaRPr lang="en-US" altLang="zh-CN">
              <a:solidFill>
                <a:srgbClr val="FF0066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阵列处理机</a:t>
            </a:r>
            <a:endParaRPr lang="en-US" altLang="zh-CN">
              <a:solidFill>
                <a:srgbClr val="0000FF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向量处理机</a:t>
            </a:r>
            <a:endParaRPr lang="en-US" altLang="zh-CN">
              <a:solidFill>
                <a:srgbClr val="0000FF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MIMD: </a:t>
            </a:r>
            <a:r>
              <a:rPr lang="zh-CN" altLang="en-US">
                <a:solidFill>
                  <a:srgbClr val="FF0066"/>
                </a:solidFill>
              </a:rPr>
              <a:t>多指令流多数据流</a:t>
            </a:r>
            <a:endParaRPr lang="en-US" altLang="zh-CN">
              <a:solidFill>
                <a:srgbClr val="FF0066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多处理器系统</a:t>
            </a:r>
            <a:endParaRPr lang="en-US" altLang="zh-CN">
              <a:solidFill>
                <a:srgbClr val="0000FF"/>
              </a:solidFill>
            </a:endParaRPr>
          </a:p>
          <a:p>
            <a:pPr lvl="2" algn="l">
              <a:spcBef>
                <a:spcPts val="0"/>
              </a:spcBef>
            </a:pPr>
            <a:r>
              <a:rPr lang="en-US" altLang="zh-CN"/>
              <a:t>UMA</a:t>
            </a:r>
            <a:r>
              <a:rPr lang="zh-CN" altLang="en-US"/>
              <a:t>：一致性存储器访问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en-US" altLang="zh-CN"/>
              <a:t>NUMA</a:t>
            </a:r>
            <a:r>
              <a:rPr lang="zh-CN" altLang="en-US"/>
              <a:t>：非一致性存储器访问</a:t>
            </a:r>
            <a:endParaRPr lang="en-US" altLang="zh-CN"/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多计算机系统</a:t>
            </a:r>
            <a:r>
              <a:rPr lang="zh-CN" altLang="en-US"/>
              <a:t>：性能与节点数成正比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zh-CN" altLang="en-US"/>
              <a:t>大规模并行处理机 </a:t>
            </a:r>
            <a:r>
              <a:rPr lang="en-US" altLang="zh-CN"/>
              <a:t>MPP</a:t>
            </a:r>
          </a:p>
          <a:p>
            <a:pPr lvl="2" algn="l">
              <a:spcBef>
                <a:spcPts val="0"/>
              </a:spcBef>
            </a:pPr>
            <a:r>
              <a:rPr lang="zh-CN" altLang="en-US"/>
              <a:t>集群 </a:t>
            </a:r>
            <a:r>
              <a:rPr lang="en-US" altLang="zh-CN"/>
              <a:t>Cluster</a:t>
            </a:r>
          </a:p>
          <a:p>
            <a:pPr lvl="2" algn="l">
              <a:spcBef>
                <a:spcPts val="0"/>
              </a:spcBef>
            </a:pPr>
            <a:r>
              <a:rPr lang="zh-CN" altLang="en-US"/>
              <a:t>网格</a:t>
            </a:r>
            <a:endParaRPr lang="zh-CN" altLang="en-US" sz="24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5004C0-0CA6-4D4B-94B6-600A087872A8}"/>
              </a:ext>
            </a:extLst>
          </p:cNvPr>
          <p:cNvSpPr txBox="1"/>
          <p:nvPr/>
        </p:nvSpPr>
        <p:spPr bwMode="auto">
          <a:xfrm>
            <a:off x="457200" y="548680"/>
            <a:ext cx="692311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/>
              <a:t>计算机系统的分类（</a:t>
            </a:r>
            <a:r>
              <a:rPr lang="en-US" altLang="zh-CN"/>
              <a:t>Flynn</a:t>
            </a:r>
            <a:r>
              <a:rPr lang="zh-CN" altLang="en-US"/>
              <a:t>分类法）</a:t>
            </a:r>
          </a:p>
        </p:txBody>
      </p:sp>
    </p:spTree>
    <p:extLst>
      <p:ext uri="{BB962C8B-B14F-4D97-AF65-F5344CB8AC3E}">
        <p14:creationId xmlns:p14="http://schemas.microsoft.com/office/powerpoint/2010/main" val="11571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6F5ED-2A1B-473B-A8FB-41E13A5D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92696"/>
            <a:ext cx="8892480" cy="5976664"/>
          </a:xfrm>
        </p:spPr>
        <p:txBody>
          <a:bodyPr/>
          <a:lstStyle/>
          <a:p>
            <a:pPr algn="l"/>
            <a:r>
              <a:rPr lang="zh-CN" altLang="en-US" sz="2400"/>
              <a:t>因为</a:t>
            </a:r>
            <a:r>
              <a:rPr lang="zh-CN" altLang="en-US" sz="2400">
                <a:solidFill>
                  <a:srgbClr val="9900FF"/>
                </a:solidFill>
              </a:rPr>
              <a:t>微处理器芯片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9900FF"/>
                </a:solidFill>
              </a:rPr>
              <a:t>内存条</a:t>
            </a:r>
            <a:r>
              <a:rPr lang="zh-CN" altLang="en-US" sz="2400"/>
              <a:t>都安装在一块电路板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/>
              <a:t>主板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/>
              <a:t>上，</a:t>
            </a:r>
            <a:br>
              <a:rPr lang="en-US" altLang="zh-CN" sz="2400"/>
            </a:br>
            <a:r>
              <a:rPr lang="zh-CN" altLang="en-US" sz="2400"/>
              <a:t>每个处理器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/>
              <a:t>内核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/>
              <a:t>访问内存的延时都很小，</a:t>
            </a:r>
            <a:br>
              <a:rPr lang="en-US" altLang="zh-CN" sz="2400"/>
            </a:br>
            <a:r>
              <a:rPr lang="zh-CN" altLang="en-US" sz="2400"/>
              <a:t>所以</a:t>
            </a:r>
            <a:r>
              <a: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所有处理器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内核</a:t>
            </a:r>
            <a:r>
              <a:rPr lang="en-US" altLang="zh-CN" sz="24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共享内存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/>
            <a:r>
              <a:rPr lang="zh-CN" altLang="en-US" sz="2400"/>
              <a:t>根据每个处理器</a:t>
            </a:r>
            <a:r>
              <a:rPr lang="en-US" altLang="zh-CN" sz="2400"/>
              <a:t>/</a:t>
            </a:r>
            <a:r>
              <a:rPr lang="zh-CN" altLang="en-US" sz="2400"/>
              <a:t>内核访问内存的时间是否一样，分为</a:t>
            </a:r>
            <a:endParaRPr lang="en-US" altLang="zh-CN" sz="2400"/>
          </a:p>
          <a:p>
            <a:pPr marL="630238" lvl="1" indent="-274638" algn="l"/>
            <a:r>
              <a:rPr lang="en-US" altLang="zh-CN" sz="2400"/>
              <a:t>UMA</a:t>
            </a:r>
            <a:r>
              <a:rPr lang="zh-CN" altLang="en-US" sz="2400"/>
              <a:t>：每个处理器</a:t>
            </a:r>
            <a:r>
              <a:rPr lang="en-US" altLang="zh-CN" sz="2400"/>
              <a:t>/</a:t>
            </a:r>
            <a:r>
              <a:rPr lang="zh-CN" altLang="en-US" sz="2400"/>
              <a:t>内核访问内存的时间一样</a:t>
            </a:r>
            <a:endParaRPr lang="en-US" altLang="zh-CN" sz="2400"/>
          </a:p>
          <a:p>
            <a:pPr marL="630238" lvl="1" indent="-274638" algn="l"/>
            <a:r>
              <a:rPr lang="en-US" altLang="zh-CN" sz="2400"/>
              <a:t>NUMA</a:t>
            </a:r>
            <a:r>
              <a:rPr lang="zh-CN" altLang="en-US" sz="2400"/>
              <a:t>：～不一样。</a:t>
            </a:r>
            <a:endParaRPr lang="en-US" altLang="zh-CN" sz="2400"/>
          </a:p>
          <a:p>
            <a:pPr algn="l"/>
            <a:r>
              <a:rPr lang="zh-CN" altLang="en-US" sz="2400"/>
              <a:t>每个处理器</a:t>
            </a:r>
            <a:r>
              <a:rPr lang="en-US" altLang="zh-CN" sz="2400"/>
              <a:t>/</a:t>
            </a:r>
            <a:r>
              <a:rPr lang="zh-CN" altLang="en-US" sz="2400"/>
              <a:t>内核</a:t>
            </a:r>
            <a:r>
              <a:rPr lang="zh-CN" altLang="en-US" sz="2400">
                <a:solidFill>
                  <a:srgbClr val="FF0000"/>
                </a:solidFill>
              </a:rPr>
              <a:t>功能相同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/>
              <a:t>在操作系统看来是可以互换的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/>
              <a:t>的</a:t>
            </a:r>
            <a:r>
              <a:rPr lang="en-US" altLang="zh-CN" sz="2400"/>
              <a:t>UMA</a:t>
            </a:r>
            <a:r>
              <a:rPr lang="zh-CN" altLang="en-US" sz="2400"/>
              <a:t>叫做</a:t>
            </a:r>
            <a:r>
              <a:rPr lang="en-US" altLang="zh-CN" sz="2400"/>
              <a:t>SMP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238" lvl="1" indent="-274638"/>
            <a:r>
              <a:rPr lang="zh-CN" altLang="en-US" sz="2400"/>
              <a:t>多个处理机</a:t>
            </a:r>
            <a:r>
              <a:rPr lang="zh-CN" altLang="en-US" sz="2400">
                <a:solidFill>
                  <a:srgbClr val="FF0000"/>
                </a:solidFill>
              </a:rPr>
              <a:t>共享同一主存储器</a:t>
            </a:r>
            <a:r>
              <a:rPr lang="zh-CN" altLang="en-US" sz="2400"/>
              <a:t>。</a:t>
            </a:r>
            <a:br>
              <a:rPr lang="en-US" altLang="zh-CN" sz="2400"/>
            </a:br>
            <a:r>
              <a:rPr lang="zh-CN" altLang="en-US" sz="2400"/>
              <a:t>并且，每一个处理机访问主存储器的</a:t>
            </a:r>
            <a:r>
              <a:rPr lang="zh-CN" altLang="en-US" sz="2400">
                <a:solidFill>
                  <a:srgbClr val="FF0000"/>
                </a:solidFill>
              </a:rPr>
              <a:t>时间</a:t>
            </a:r>
            <a:r>
              <a:rPr lang="zh-CN" altLang="en-US" sz="2400"/>
              <a:t>是</a:t>
            </a:r>
            <a:r>
              <a:rPr lang="zh-CN" altLang="en-US" sz="2400">
                <a:solidFill>
                  <a:srgbClr val="FF0000"/>
                </a:solidFill>
              </a:rPr>
              <a:t>相同</a:t>
            </a:r>
            <a:r>
              <a:rPr lang="zh-CN" altLang="en-US" sz="2400"/>
              <a:t>的。</a:t>
            </a:r>
            <a:endParaRPr lang="en-US" altLang="zh-CN" sz="2400"/>
          </a:p>
          <a:p>
            <a:pPr marL="630238" lvl="1" indent="-274638"/>
            <a:r>
              <a:rPr lang="zh-CN" altLang="en-US" sz="2400"/>
              <a:t>每一</a:t>
            </a:r>
            <a:r>
              <a:rPr lang="zh-CN" altLang="en-US" sz="2400">
                <a:solidFill>
                  <a:srgbClr val="0000FF"/>
                </a:solidFill>
              </a:rPr>
              <a:t>处理机</a:t>
            </a:r>
            <a:r>
              <a:rPr lang="zh-CN" altLang="en-US" sz="2400"/>
              <a:t>都能完成</a:t>
            </a:r>
            <a:r>
              <a:rPr lang="zh-CN" altLang="en-US" sz="2400">
                <a:solidFill>
                  <a:srgbClr val="0000FF"/>
                </a:solidFill>
              </a:rPr>
              <a:t>相同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0000FF"/>
                </a:solidFill>
              </a:rPr>
              <a:t>功能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238" lvl="1" indent="-274638"/>
            <a:r>
              <a:rPr lang="zh-CN" altLang="en-US" sz="2400"/>
              <a:t>所有的处理机通过相同的通道或不同的通道</a:t>
            </a:r>
            <a:r>
              <a:rPr lang="zh-CN" altLang="en-US" sz="2400">
                <a:solidFill>
                  <a:srgbClr val="FF0000"/>
                </a:solidFill>
              </a:rPr>
              <a:t>共享</a:t>
            </a:r>
            <a:r>
              <a:rPr lang="en-US" altLang="zh-CN" sz="2400">
                <a:solidFill>
                  <a:srgbClr val="FF0000"/>
                </a:solidFill>
              </a:rPr>
              <a:t>IO</a:t>
            </a:r>
            <a:r>
              <a:rPr lang="zh-CN" altLang="en-US" sz="2400">
                <a:solidFill>
                  <a:srgbClr val="FF0000"/>
                </a:solidFill>
              </a:rPr>
              <a:t>设备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/>
            <a:r>
              <a:rPr lang="zh-CN" altLang="en-US" sz="2400">
                <a:solidFill>
                  <a:srgbClr val="D60093"/>
                </a:solidFill>
              </a:rPr>
              <a:t>多处理器系统</a:t>
            </a:r>
            <a:r>
              <a:rPr lang="zh-CN" altLang="en-US" sz="2400"/>
              <a:t>在一个集中的</a:t>
            </a:r>
            <a:r>
              <a:rPr lang="zh-CN" altLang="en-US" sz="2400">
                <a:solidFill>
                  <a:srgbClr val="9900FF"/>
                </a:solidFill>
              </a:rPr>
              <a:t>操作系统</a:t>
            </a:r>
            <a:r>
              <a:rPr lang="zh-CN" altLang="en-US" sz="2400"/>
              <a:t>统一管理下工作。</a:t>
            </a:r>
            <a:endParaRPr lang="en-US" altLang="zh-CN" sz="2400"/>
          </a:p>
          <a:p>
            <a:pPr algn="l"/>
            <a:r>
              <a:rPr lang="zh-CN" altLang="en-US" sz="2400">
                <a:solidFill>
                  <a:srgbClr val="9900FF"/>
                </a:solidFill>
              </a:rPr>
              <a:t>操作系统</a:t>
            </a:r>
            <a:r>
              <a:rPr lang="zh-CN" altLang="en-US" sz="2400"/>
              <a:t>为每一个</a:t>
            </a:r>
            <a:r>
              <a:rPr lang="zh-CN" altLang="en-US" sz="2400">
                <a:solidFill>
                  <a:srgbClr val="0000FF"/>
                </a:solidFill>
              </a:rPr>
              <a:t>逻辑内核</a:t>
            </a:r>
            <a:r>
              <a:rPr lang="zh-CN" altLang="en-US" sz="2400"/>
              <a:t>按排</a:t>
            </a:r>
            <a:r>
              <a:rPr lang="zh-CN" altLang="en-US" sz="2400">
                <a:solidFill>
                  <a:srgbClr val="008000"/>
                </a:solidFill>
              </a:rPr>
              <a:t>进程</a:t>
            </a:r>
            <a:r>
              <a:rPr lang="zh-CN" altLang="en-US" sz="2400"/>
              <a:t>或</a:t>
            </a:r>
            <a:r>
              <a:rPr lang="zh-CN" altLang="en-US" sz="2400">
                <a:solidFill>
                  <a:srgbClr val="008000"/>
                </a:solidFill>
              </a:rPr>
              <a:t>线程</a:t>
            </a:r>
            <a:r>
              <a:rPr lang="zh-CN" altLang="en-US" sz="2400"/>
              <a:t>，</a:t>
            </a:r>
            <a:br>
              <a:rPr lang="en-US" altLang="zh-CN" sz="2400"/>
            </a:br>
            <a:r>
              <a:rPr lang="zh-CN" altLang="en-US" sz="2400"/>
              <a:t>进行统一调度与控制。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5004C0-0CA6-4D4B-94B6-600A087872A8}"/>
              </a:ext>
            </a:extLst>
          </p:cNvPr>
          <p:cNvSpPr txBox="1"/>
          <p:nvPr/>
        </p:nvSpPr>
        <p:spPr bwMode="auto">
          <a:xfrm>
            <a:off x="5796136" y="44777"/>
            <a:ext cx="2592288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处理器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58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AC93-793E-400A-8A59-509207F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6F5ED-2A1B-473B-A8FB-41E13A5D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92696"/>
            <a:ext cx="8892480" cy="5904830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D60093"/>
                </a:solidFill>
              </a:rPr>
              <a:t>MPP</a:t>
            </a:r>
            <a:r>
              <a:rPr lang="zh-CN" altLang="en-US" sz="2400"/>
              <a:t>：</a:t>
            </a:r>
            <a:r>
              <a:rPr lang="zh-CN" altLang="en-US" sz="2400">
                <a:solidFill>
                  <a:srgbClr val="D60093"/>
                </a:solidFill>
              </a:rPr>
              <a:t>大规模并行处理机</a:t>
            </a:r>
            <a:endParaRPr lang="en-US" altLang="zh-CN" sz="2400">
              <a:solidFill>
                <a:srgbClr val="D60093"/>
              </a:solidFill>
            </a:endParaRPr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/>
              <a:t>强调</a:t>
            </a:r>
            <a:r>
              <a:rPr lang="zh-CN" altLang="en-US" sz="2400">
                <a:solidFill>
                  <a:srgbClr val="008000"/>
                </a:solidFill>
              </a:rPr>
              <a:t>高性能</a:t>
            </a:r>
            <a:r>
              <a:rPr lang="zh-CN" altLang="en-US" sz="2400"/>
              <a:t>，节点定制。</a:t>
            </a:r>
            <a:endParaRPr lang="en-US" altLang="zh-CN" sz="2400"/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/>
              <a:t>节点之间使用高性能的</a:t>
            </a:r>
            <a:r>
              <a:rPr lang="zh-CN" altLang="en-US" sz="2400">
                <a:solidFill>
                  <a:srgbClr val="0000FF"/>
                </a:solidFill>
              </a:rPr>
              <a:t>定制</a:t>
            </a:r>
            <a:r>
              <a:rPr lang="zh-CN" altLang="en-US" sz="2400"/>
              <a:t>的高速</a:t>
            </a:r>
            <a:r>
              <a:rPr lang="zh-CN" altLang="en-US" sz="2400">
                <a:solidFill>
                  <a:srgbClr val="0000FF"/>
                </a:solidFill>
              </a:rPr>
              <a:t>互连网络</a:t>
            </a:r>
            <a:r>
              <a:rPr lang="zh-CN" altLang="en-US" sz="2400"/>
              <a:t>。</a:t>
            </a: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D60093"/>
                </a:solidFill>
              </a:rPr>
              <a:t>Cluster</a:t>
            </a:r>
            <a:r>
              <a:rPr lang="zh-CN" altLang="en-US" sz="2400"/>
              <a:t>：</a:t>
            </a:r>
            <a:r>
              <a:rPr lang="zh-CN" altLang="en-US" sz="2400">
                <a:solidFill>
                  <a:srgbClr val="D60093"/>
                </a:solidFill>
              </a:rPr>
              <a:t>集群</a:t>
            </a:r>
            <a:endParaRPr lang="en-US" altLang="zh-CN" sz="2400">
              <a:solidFill>
                <a:srgbClr val="D60093"/>
              </a:solidFill>
            </a:endParaRPr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/>
              <a:t>强调</a:t>
            </a:r>
            <a:r>
              <a:rPr lang="zh-CN" altLang="en-US" sz="2400">
                <a:solidFill>
                  <a:srgbClr val="008000"/>
                </a:solidFill>
              </a:rPr>
              <a:t>性价比</a:t>
            </a:r>
            <a:r>
              <a:rPr lang="zh-CN" altLang="en-US" sz="2400"/>
              <a:t>，节点用商用的</a:t>
            </a:r>
            <a:r>
              <a:rPr lang="en-US" altLang="zh-CN" sz="2400"/>
              <a:t>PC</a:t>
            </a:r>
            <a:r>
              <a:rPr lang="zh-CN" altLang="en-US" sz="2400"/>
              <a:t>机或服务器 </a:t>
            </a:r>
            <a:r>
              <a:rPr lang="zh-CN" altLang="en-US" sz="2400">
                <a:latin typeface="+mn-ea"/>
              </a:rPr>
              <a:t>→</a:t>
            </a:r>
            <a:r>
              <a:rPr lang="zh-CN" altLang="en-US" sz="2400"/>
              <a:t>可靠性差</a:t>
            </a:r>
            <a:r>
              <a:rPr lang="en-US" altLang="zh-CN" sz="2400"/>
              <a:t>: </a:t>
            </a:r>
            <a:r>
              <a:rPr lang="zh-CN" altLang="en-US" sz="2400"/>
              <a:t>冗余</a:t>
            </a:r>
            <a:endParaRPr lang="en-US" altLang="zh-CN" sz="2400"/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/>
              <a:t>结点之间采用</a:t>
            </a:r>
            <a:r>
              <a:rPr lang="zh-CN" altLang="en-US" sz="2400">
                <a:solidFill>
                  <a:srgbClr val="0000FF"/>
                </a:solidFill>
              </a:rPr>
              <a:t>商品化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0000FF"/>
                </a:solidFill>
              </a:rPr>
              <a:t>网络</a:t>
            </a:r>
            <a:r>
              <a:rPr lang="en-US" altLang="zh-CN" sz="2400">
                <a:latin typeface="楷体" panose="02010609060101010101" pitchFamily="49" charset="-122"/>
              </a:rPr>
              <a:t>(</a:t>
            </a:r>
            <a:r>
              <a:rPr lang="zh-CN" altLang="en-US" sz="2400"/>
              <a:t>比如千兆以太网</a:t>
            </a:r>
            <a:r>
              <a:rPr lang="en-US" altLang="zh-CN" sz="2400">
                <a:latin typeface="楷体" panose="02010609060101010101" pitchFamily="49" charset="-122"/>
              </a:rPr>
              <a:t>)</a:t>
            </a:r>
            <a:r>
              <a:rPr lang="zh-CN" altLang="en-US" sz="2400"/>
              <a:t>互连。</a:t>
            </a:r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D60093"/>
                </a:solidFill>
              </a:rPr>
              <a:t>网格</a:t>
            </a:r>
            <a:r>
              <a:rPr lang="zh-CN" altLang="en-US" sz="2400"/>
              <a:t>：</a:t>
            </a:r>
            <a:endParaRPr lang="en-US" altLang="zh-CN" sz="2400"/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配置各不相同，属私人所有。</a:t>
            </a:r>
            <a:endParaRPr lang="en-US" altLang="zh-CN" sz="2400"/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通过</a:t>
            </a:r>
            <a:r>
              <a:rPr lang="zh-CN" altLang="en-US" sz="2400">
                <a:solidFill>
                  <a:srgbClr val="9900FF"/>
                </a:solidFill>
              </a:rPr>
              <a:t>国际互联网</a:t>
            </a:r>
            <a:r>
              <a:rPr lang="zh-CN" altLang="en-US" sz="2400"/>
              <a:t>连接到</a:t>
            </a:r>
            <a:r>
              <a:rPr lang="zh-CN" altLang="en-US" sz="2400">
                <a:solidFill>
                  <a:srgbClr val="FF0066"/>
                </a:solidFill>
              </a:rPr>
              <a:t>服务器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238" lvl="1" indent="-274638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服务器</a:t>
            </a:r>
            <a:r>
              <a:rPr lang="zh-CN" altLang="en-US" sz="2400"/>
              <a:t>只负责任务的分发和结果的收集，</a:t>
            </a:r>
            <a:br>
              <a:rPr lang="en-US" altLang="zh-CN" sz="2400"/>
            </a:br>
            <a:r>
              <a:rPr lang="zh-CN" altLang="en-US" sz="2400"/>
              <a:t>计算任务在</a:t>
            </a: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上进行。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节点之间的访问延迟比较大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/>
              <a:t>相比内存速度而言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/>
              <a:t>，</a:t>
            </a:r>
            <a:br>
              <a:rPr lang="en-US" altLang="zh-CN" sz="2400"/>
            </a:br>
            <a:r>
              <a:rPr lang="zh-CN" altLang="en-US" sz="2400"/>
              <a:t>因此</a:t>
            </a:r>
            <a:r>
              <a:rPr lang="zh-CN" altLang="en-US" sz="2400">
                <a:solidFill>
                  <a:srgbClr val="FF66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多计算机系统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不共享内存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节点间通信采用</a:t>
            </a:r>
            <a:r>
              <a:rPr lang="zh-CN" altLang="en-US" sz="2400">
                <a:solidFill>
                  <a:srgbClr val="0000FF"/>
                </a:solidFill>
              </a:rPr>
              <a:t>消息机制</a:t>
            </a:r>
            <a:r>
              <a:rPr lang="zh-CN" altLang="en-US" sz="2400"/>
              <a:t>。</a:t>
            </a:r>
            <a:br>
              <a:rPr lang="en-US" altLang="zh-CN" sz="2400"/>
            </a:br>
            <a:r>
              <a:rPr lang="zh-CN" altLang="en-US" sz="2400"/>
              <a:t>编程模型：</a:t>
            </a:r>
            <a:r>
              <a:rPr lang="en-US" altLang="zh-CN" sz="2400"/>
              <a:t>MPI</a:t>
            </a:r>
            <a:r>
              <a:rPr lang="zh-CN" altLang="en-US" sz="2400"/>
              <a:t>（</a:t>
            </a:r>
            <a:r>
              <a:rPr lang="en-US" altLang="zh-CN" sz="2400"/>
              <a:t>Message-Passing Interface</a:t>
            </a:r>
            <a:r>
              <a:rPr lang="zh-CN" altLang="en-US" sz="2400"/>
              <a:t>，消息传递接口）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A1AE9-65E8-4FCE-8F0D-291C079D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5004C0-0CA6-4D4B-94B6-600A087872A8}"/>
              </a:ext>
            </a:extLst>
          </p:cNvPr>
          <p:cNvSpPr txBox="1"/>
          <p:nvPr/>
        </p:nvSpPr>
        <p:spPr bwMode="auto">
          <a:xfrm>
            <a:off x="5580112" y="44777"/>
            <a:ext cx="280831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62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CheXQ_class_4比3_组成">
  <a:themeElements>
    <a:clrScheme name="自定义 3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0000FF"/>
      </a:hlink>
      <a:folHlink>
        <a:srgbClr val="9900CC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 bwMode="auto">
        <a:noFill/>
        <a:ln w="28575" algn="ctr">
          <a:noFill/>
          <a:miter lim="800000"/>
          <a:headEnd/>
          <a:tailEnd type="none" w="med" len="lg"/>
        </a:ln>
        <a:effectLst/>
      </a:spPr>
      <a:bodyPr wrap="none">
        <a:spAutoFit/>
      </a:bodyPr>
      <a:lstStyle>
        <a:defPPr algn="l">
          <a:defRPr dirty="0"/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heXQ_class_4比3_组成" id="{2E2F00E5-D45F-41D2-99A1-33C4BF84DE8C}" vid="{4F1B07DB-C361-4FB6-A6BA-95BC4BDFCD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5547</TotalTime>
  <Words>9551</Words>
  <Application>Microsoft Office PowerPoint</Application>
  <PresentationFormat>全屏显示(4:3)</PresentationFormat>
  <Paragraphs>2583</Paragraphs>
  <Slides>78</Slides>
  <Notes>8</Notes>
  <HiddenSlides>3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94" baseType="lpstr">
      <vt:lpstr>等线</vt:lpstr>
      <vt:lpstr>黑体</vt:lpstr>
      <vt:lpstr>楷体</vt:lpstr>
      <vt:lpstr>宋体</vt:lpstr>
      <vt:lpstr>微软雅黑</vt:lpstr>
      <vt:lpstr>微软雅黑</vt:lpstr>
      <vt:lpstr>新宋体</vt:lpstr>
      <vt:lpstr>Arial</vt:lpstr>
      <vt:lpstr>Arial Black</vt:lpstr>
      <vt:lpstr>Cambria Math</vt:lpstr>
      <vt:lpstr>Consolas</vt:lpstr>
      <vt:lpstr>Courier New</vt:lpstr>
      <vt:lpstr>Times New Roman</vt:lpstr>
      <vt:lpstr>Wingdings</vt:lpstr>
      <vt:lpstr>CheXQ_class_4比3_组成</vt:lpstr>
      <vt:lpstr>公式</vt:lpstr>
      <vt:lpstr>计算机组织与体系结构 期末复习</vt:lpstr>
      <vt:lpstr>PowerPoint 演示文稿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第5章  指令系统</vt:lpstr>
      <vt:lpstr>第5章  指令系统</vt:lpstr>
      <vt:lpstr>第5章  指令系统</vt:lpstr>
      <vt:lpstr>第5章  指令系统</vt:lpstr>
      <vt:lpstr>第5章  指令系统</vt:lpstr>
      <vt:lpstr>PowerPoint 演示文稿</vt:lpstr>
      <vt:lpstr>Page 211～212，习题 5.8</vt:lpstr>
      <vt:lpstr>PowerPoint 演示文稿</vt:lpstr>
      <vt:lpstr>PowerPoint 演示文稿</vt:lpstr>
      <vt:lpstr>PowerPoint 演示文稿</vt:lpstr>
      <vt:lpstr>第5章  指令系统</vt:lpstr>
      <vt:lpstr>第5章  指令系统</vt:lpstr>
      <vt:lpstr>第5章  指令系统</vt:lpstr>
      <vt:lpstr>第5章  指令系统</vt:lpstr>
      <vt:lpstr>第5章  指令系统</vt:lpstr>
      <vt:lpstr>第5章  指令系统</vt:lpstr>
      <vt:lpstr>PowerPoint 演示文稿</vt:lpstr>
      <vt:lpstr>PowerPoint 演示文稿</vt:lpstr>
      <vt:lpstr>PowerPoint 演示文稿</vt:lpstr>
      <vt:lpstr>PowerPoint 演示文稿</vt:lpstr>
      <vt:lpstr>全国- 408 计算机专业基础考研 2021      43.(15分)</vt:lpstr>
      <vt:lpstr>全国- 408 计算机专业基础考研 2021      43.(15分)</vt:lpstr>
      <vt:lpstr>全国- 408 计算机专业基础考研 2021      43.(15分)</vt:lpstr>
      <vt:lpstr>全国- 408 计算机专业基础考研 2021      43.(15分)</vt:lpstr>
      <vt:lpstr>第6章  控制器设计、CPU</vt:lpstr>
      <vt:lpstr>第6章  控制器设计、CPU</vt:lpstr>
      <vt:lpstr>第6章  控制器设计、CPU</vt:lpstr>
      <vt:lpstr>第6章  控制器设计、CPU</vt:lpstr>
      <vt:lpstr>根据给定的数据通路，写某指令的微操作、微命令序列</vt:lpstr>
      <vt:lpstr>第6章  控制器设计、CPU</vt:lpstr>
      <vt:lpstr>第6章  控制器设计、CPU</vt:lpstr>
      <vt:lpstr>第6章  控制器设计、CPU</vt:lpstr>
      <vt:lpstr>P268～269  习题 6.17</vt:lpstr>
      <vt:lpstr>P268～269  习题 6.17</vt:lpstr>
      <vt:lpstr>P268～269  习题 6.17</vt:lpstr>
      <vt:lpstr>第6章  控制器设计、CPU</vt:lpstr>
      <vt:lpstr>第7章  流水线</vt:lpstr>
      <vt:lpstr>第7章  流水线</vt:lpstr>
      <vt:lpstr>第7章  流水线</vt:lpstr>
      <vt:lpstr>第7章  流水线</vt:lpstr>
      <vt:lpstr>第7章  流水线</vt:lpstr>
      <vt:lpstr>PowerPoint 演示文稿</vt:lpstr>
      <vt:lpstr>PowerPoint 演示文稿</vt:lpstr>
      <vt:lpstr>PowerPoint 演示文稿</vt:lpstr>
      <vt:lpstr>第7章  流水线</vt:lpstr>
      <vt:lpstr>第7章  流水线   P321，习题 7.7</vt:lpstr>
      <vt:lpstr>第7章  流水线   P321，习题 7.7</vt:lpstr>
      <vt:lpstr>第7章  流水线   P321，习题 7.7</vt:lpstr>
      <vt:lpstr>第7章  流水线   P321，习题 7.7</vt:lpstr>
      <vt:lpstr>第8章  总线、I/O系统</vt:lpstr>
      <vt:lpstr>第8章  总线、I/O系统</vt:lpstr>
      <vt:lpstr>第8章  总线、I/O系统</vt:lpstr>
      <vt:lpstr>第9章  并行体系结构</vt:lpstr>
      <vt:lpstr>第9章  并行体系结构</vt:lpstr>
      <vt:lpstr>第9章  并行体系结构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计算机组织与体系结构-期末复习</dc:title>
  <dc:creator>车向泉</dc:creator>
  <dc:description>2023年6月</dc:description>
  <cp:lastModifiedBy>Xiangquan Che</cp:lastModifiedBy>
  <cp:revision>455</cp:revision>
  <dcterms:created xsi:type="dcterms:W3CDTF">2018-12-26T10:43:42Z</dcterms:created>
  <dcterms:modified xsi:type="dcterms:W3CDTF">2025-05-28T11:10:44Z</dcterms:modified>
</cp:coreProperties>
</file>