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72"/>
  </p:notesMasterIdLst>
  <p:handoutMasterIdLst>
    <p:handoutMasterId r:id="rId73"/>
  </p:handoutMasterIdLst>
  <p:sldIdLst>
    <p:sldId id="1072" r:id="rId2"/>
    <p:sldId id="1116" r:id="rId3"/>
    <p:sldId id="1180" r:id="rId4"/>
    <p:sldId id="1119" r:id="rId5"/>
    <p:sldId id="1168" r:id="rId6"/>
    <p:sldId id="1120" r:id="rId7"/>
    <p:sldId id="1121" r:id="rId8"/>
    <p:sldId id="1122" r:id="rId9"/>
    <p:sldId id="1123" r:id="rId10"/>
    <p:sldId id="1124" r:id="rId11"/>
    <p:sldId id="1125" r:id="rId12"/>
    <p:sldId id="1126" r:id="rId13"/>
    <p:sldId id="1127" r:id="rId14"/>
    <p:sldId id="1128" r:id="rId15"/>
    <p:sldId id="1129" r:id="rId16"/>
    <p:sldId id="1130" r:id="rId17"/>
    <p:sldId id="1131" r:id="rId18"/>
    <p:sldId id="1132" r:id="rId19"/>
    <p:sldId id="1133" r:id="rId20"/>
    <p:sldId id="1134" r:id="rId21"/>
    <p:sldId id="1135" r:id="rId22"/>
    <p:sldId id="1136" r:id="rId23"/>
    <p:sldId id="1137" r:id="rId24"/>
    <p:sldId id="1138" r:id="rId25"/>
    <p:sldId id="1139" r:id="rId26"/>
    <p:sldId id="1140" r:id="rId27"/>
    <p:sldId id="1142" r:id="rId28"/>
    <p:sldId id="1143" r:id="rId29"/>
    <p:sldId id="1146" r:id="rId30"/>
    <p:sldId id="1147" r:id="rId31"/>
    <p:sldId id="1169" r:id="rId32"/>
    <p:sldId id="1148" r:id="rId33"/>
    <p:sldId id="1149" r:id="rId34"/>
    <p:sldId id="1150" r:id="rId35"/>
    <p:sldId id="1183" r:id="rId36"/>
    <p:sldId id="1181" r:id="rId37"/>
    <p:sldId id="1184" r:id="rId38"/>
    <p:sldId id="1187" r:id="rId39"/>
    <p:sldId id="1185" r:id="rId40"/>
    <p:sldId id="1188" r:id="rId41"/>
    <p:sldId id="1190" r:id="rId42"/>
    <p:sldId id="1189" r:id="rId43"/>
    <p:sldId id="1192" r:id="rId44"/>
    <p:sldId id="1191" r:id="rId45"/>
    <p:sldId id="1194" r:id="rId46"/>
    <p:sldId id="1196" r:id="rId47"/>
    <p:sldId id="1195" r:id="rId48"/>
    <p:sldId id="1198" r:id="rId49"/>
    <p:sldId id="1199" r:id="rId50"/>
    <p:sldId id="1200" r:id="rId51"/>
    <p:sldId id="1197" r:id="rId52"/>
    <p:sldId id="1151" r:id="rId53"/>
    <p:sldId id="1170" r:id="rId54"/>
    <p:sldId id="1171" r:id="rId55"/>
    <p:sldId id="1179" r:id="rId56"/>
    <p:sldId id="1174" r:id="rId57"/>
    <p:sldId id="1182" r:id="rId58"/>
    <p:sldId id="1161" r:id="rId59"/>
    <p:sldId id="1162" r:id="rId60"/>
    <p:sldId id="1163" r:id="rId61"/>
    <p:sldId id="1164" r:id="rId62"/>
    <p:sldId id="1172" r:id="rId63"/>
    <p:sldId id="1165" r:id="rId64"/>
    <p:sldId id="1166" r:id="rId65"/>
    <p:sldId id="1178" r:id="rId66"/>
    <p:sldId id="1202" r:id="rId67"/>
    <p:sldId id="1203" r:id="rId68"/>
    <p:sldId id="1205" r:id="rId69"/>
    <p:sldId id="1204" r:id="rId70"/>
    <p:sldId id="1201" r:id="rId71"/>
  </p:sldIdLst>
  <p:sldSz cx="9144000" cy="6858000" type="screen4x3"/>
  <p:notesSz cx="9939338" cy="68072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FF"/>
    <a:srgbClr val="009900"/>
    <a:srgbClr val="CC0099"/>
    <a:srgbClr val="FFFFFF"/>
    <a:srgbClr val="FF6600"/>
    <a:srgbClr val="9999FF"/>
    <a:srgbClr val="3366FF"/>
    <a:srgbClr val="FF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432" autoAdjust="0"/>
    <p:restoredTop sz="96525" autoAdjust="0"/>
  </p:normalViewPr>
  <p:slideViewPr>
    <p:cSldViewPr>
      <p:cViewPr varScale="1">
        <p:scale>
          <a:sx n="112" d="100"/>
          <a:sy n="112" d="100"/>
        </p:scale>
        <p:origin x="10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4" d="100"/>
          <a:sy n="104" d="100"/>
        </p:scale>
        <p:origin x="-984" y="-90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5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4" Type="http://schemas.openxmlformats.org/officeDocument/2006/relationships/slide" Target="slides/slide5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zh-CN" altLang="en-US"/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863" y="0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65888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863" y="6465888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fld id="{D1CC1EA3-B7D6-48E9-BAA5-CD8FCB09B1F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130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3-23T00:29:34.34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20840 13427 52 0,'0'0'186'0,"0"0"-47"15,0 0-17-15,0 0 1 16,0 0 7-16,0 0-16 16,0 0-29-16,0 0-7 15,0 0 8-15,0 0 6 16,0 0 8-16,0 0 7 16,0 0 1-16,0 0-21 15,0 0-18-15,0 0-14 16,0 0-21-16,0 0-18 15,0 0-10-15,0 0-5 16,0 0 18-16,8 2 8 16,1 1 1-16,-1 1 1 15,1-1 10-15,5 1-9 0,-3-1-6 16,4 1-7 0,2-2-5-16,-6 1 2 0,3-2 1 15,0 2 1-15,-2 0 6 16,2-3-7-16,-3 3-8 15,-2 0 1-15,5-2 2 16,-3 0-1-16,-2 1-8 16,5-1 10-16,-5-1-4 15,-1 2 2-15,1-2-8 16,-4 1 0-16,4 0 0 16,-6 1 0-16,5-1-1 15,-2 1 1-15,3 0 1 16,-7-1-1-16,7 1 1 15,-1 0-1-15,-2-1 5 16,3-1-6-16,-6 1 1 0,2-1 0 16,4 0 0-16,-6 0 0 15,5 0 0-15,3 0-1 16,-2 0 1-16,0 0 1 16,-1 0-1-16,1 0 0 15,-7 0 1-15,7 0-1 16,-3 0 0-16,-4 0-1 15,4 0 0-15,3 0 1 16,-6 0 1-16,11 0-1 16,-3 0 0-16,-2 0 6 15,-1 0-7-15,1 0 0 16,-4 0 0-16,1 0 0 0,-3 0-6 16,-3 0 5-16,6 0 1 15,-6 0 0-15,8 0 0 16,-5 0 1-16,5 0 0 15,1 0 5-15,0 0-5 16,-1 0 0-16,1 0-1 16,-4 0 1-16,-2 0-1 15,3 0 0-15,2 0 1 16,1 0-1-16,2 0 1 16,-2 0-1-16,5-1 1 15,0 0-1-15,-5-1 0 16,-1 0 0-16,-5 2 0 15,6 0 0-15,-4 0-1 0,-2 0 1 16,3 0 0 0,2 0 0-16,-5 0 0 0,6 0 0 15,-1 0 0-15,6 0 0 16,-11 0 1-16,12 0-1 16,-10 0 0-16,4 0 0 15,-1 0 1-15,4 0-1 16,-4 0 0-16,6 0 1 15,-2 0 0-15,2 0 6 16,-3 0-6-16,-2 0 1 16,5 0-1-16,-5 0-1 15,-1 0 2-15,1 0-1 16,-1 0 1-16,6 0-1 16,-5-1-1-16,2 0 0 15,-2 0 0-15,5-1 0 0,-3 1 1 16,4 1 0-16,-7-2 0 15,6 2-1-15,-11-1 0 16,6 1 0-16,-1 0 0 16,1-1 0-16,-1-1 0 15,6 1 1-15,-5-1-1 16,2 1 0-16,-2-2 0 16,-1 2 1-16,7-2 4 15,-7 3-5-15,4-2 0 16,-1 1 0-16,0-2 1 15,3 2-1-15,-2-1-1 16,2-1 1-16,-3 3-1 16,-2-2 1-16,-1 2 0 0,-2 0 0 15,3 0 0 1,-6 0-1-16,5 0 1 0,1 0 0 16,2 0 1-16,-3 0-1 15,4 0 5-15,-4 0-5 16,1 0-1-16,5 0 1 15,-11 0 0-15,5 0 0 16,1 0 0-16,-3 0 1 16,2 0-1-16,1-2 0 15,2 2 1-15,3-1-1 16,1-1 0-16,-4 1 0 16,3-1 1-16,-2 1 6 0,2 1 7 15,-3-1-13 1,-2-1 5-16,5 1-5 0,-6-1 0 15,4 1-1-15,8-1 7 16,-9 1-7-16,3 0 7 16,3-2-5-16,-5 0 4 15,5-1 1-15,0 0 4 16,-3 1-3-16,-6 0-2 16,1 2-6-16,-3-1 0 15,-3 2 0-15,5 0-1 16,-2 0 0-16,-3 0 1 15,5 0 0-15,1-2 0 16,-1 2 0-16,1 0 8 16,-1-1-7-16,1 0 5 15,-1 0-5-15,-2-1 8 0,-3 2-3 16,-3 0-5-16,8 0-1 16,-8 0 2-16,6 0-2 15,-6 0 0-15,3 0 0 16,-3 0 0-16,6 0 1 15,-4-1 11-15,4 1 3 16,0 0 8-16,-6 0-9 16,0 0-13-16,0 0-1 15,-6 0-31-15,-25 0-126 16,2 4-216-16,-2 2-533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3-23T00:29:34.3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23693 13422 162 0,'0'0'249'16,"0"0"-78"-16,0 0-31 15,0 0 5-15,0 0-10 16,0 0-22-16,0 0-28 16,-3 0-8-16,3 0-5 15,0 0 8-15,0 0-10 16,0 0-15-16,0 0-9 16,0 0-3-16,0 0-4 15,0 0 3-15,0 0-11 16,0 0-9-16,0 0-3 15,0 0 3-15,0 0-6 16,0 0 0-16,3 0 7 0,3 0-1 16,-3 0-13-16,3 0 15 15,2 0-10-15,1 0 8 16,2-1 5-16,3 1-1 16,0-2-9-16,3-1-16 15,-5 2 8-15,5-2-8 16,-3 2 5-16,-5 1-5 15,2 0 0-15,-2 0 4 16,-4 0-4-16,4 0 4 16,-4 0-4-16,4 0-1 15,-1 0 5-15,-5 0-5 16,12 0 0-16,-7 0 1 16,1 0-1-16,-1 0 8 0,1 0-7 15,-7 0-1-15,4 0 0 16,3 0 0-16,-6 0 6 15,2 0-6-15,4 0 0 16,-1 0 0-16,6 0 1 16,-2 0 0-16,-4 0-1 15,7-2 1-15,-4 2-1 16,-3 0 0-16,1 0 1 16,-3 0-1-16,2 0 0 15,1 0 0-15,-1 0 0 16,1 0 0-16,2 0 0 15,1 0 4-15,5-1-4 16,-6 1 0-16,3 0 0 16,-2-1 0-16,-4 1 1 15,1 0-1-15,-1 0-1 0,-2 0-6 16,2 0 7-16,1 0 0 16,-1 0 1-16,7 0-1 15,-4 0 9-15,3 0-9 16,3 0 0-16,-5 0 0 15,-4 0 0-15,6 0 0 16,-11 0 0-16,6 0 0 16,-1 0 0-16,6 0 0 15,-2 0 0-15,2 0 0 16,0 0 1-16,6-2 0 16,-3 0 0-16,0 2-1 15,-3 0 2-15,-2 0 5 0,2 0-5 16,-5 0-1-16,-1 0 5 15,1 0-5-15,5 0 0 16,-6 0-1-16,1 0 6 16,2 0-3-16,-2 0 3 15,5 0 0-15,-11 0-6 16,11 0 9-16,-11 0-2 16,5 0-6-16,1 0 6 15,2 0-6-15,-2 0-1 16,2 0 1-16,3 0-1 15,3 0 0-15,-8 0 1 16,2 0 0-16,4 0 0 16,-7 0 1-16,1 0-1 0,-1 0 0 15,1 0 0-15,-1 0 10 16,9-1-11-16,-3-1 0 16,4-1 0-16,-1 2 0 15,0-2 0-15,0 1 0 16,0 2 0-16,-9 0 2 15,6 0-2-15,-5 0 1 16,0 0-1-16,2 0 0 16,3 0 1-16,-5 0 1 15,8 0-1-15,-6 0-1 16,3 0-1-16,3 0 1 16,-8 0 0-16,5 0 1 15,-5 0-1-15,2 0 0 16,-3 0 0-16,7 0 0 15,-4 0 0-15,3 0 1 0,3 0 0 16,-5 0 0-16,2 0-1 16,0 0 5-16,-5 0-5 15,-1 0 0-15,1-1 9 16,-1 0-8-16,4-1 1 16,2 0-1-16,-6 1 9 15,4 0-2-15,2 1-7 16,0-3 14-16,-3 3-13 15,4 0 5-15,-7 0-5 16,1 0-1-16,-1 0 0 16,1 0 0-16,2 0-1 15,-2 0 5-15,5 0-5 16,-3 0 0-16,-2 0 1 0,11 0-1 16,-9 0 1-16,3 0 1 15,3-1 8-15,-5-1-9 16,5 2-1-16,-3-1 0 15,3 1 0-15,0 0 0 16,0 0 0-16,-3 0 0 16,3 0-1-16,0 0 1 15,-5 0 1-15,5 0-1 16,-3-2 0-16,-3 2 0 16,9-1 1-16,-8 0 0 15,5-1-1-15,-3 1 0 16,-3 1 0-16,4-1 0 0,-7 1 0 15,1 0-1-15,-1 0 1 16,1 0-1-16,-1 0 1 16,1 0 0-16,5 0 0 15,-3-2 1-15,4 0-1 16,-4 0 0-16,3 2 1 16,-5 0-1-16,2 0 0 15,-2 0 0-15,5 0-1 16,-6 0 0-16,6 0 1 15,4 0 0-15,-7-2 2 16,6 1-2-16,-3-1 0 16,3 2 0-16,-5-1 0 15,-4 1 0-15,1 0 0 0,2 0-1 16,-2 0 0 0,2 0 1-16,-3 0 0 0,7 0 0 15,-4 0 0-15,3 0 0 16,-2 0 1-16,2 0-1 15,-3 0 0-15,-2 0 0 16,-1 0 0-16,6 0 0 16,-5 0 0-16,5 0 0 15,-2 0 0-15,2 0 0 16,-3 0-2-16,3 0 1 16,-2 0 1-16,2 0 1 15,-3 0-1-15,1 0 0 16,-4 0 0-16,1 1 0 15,-1-1 0-15,1 2 1 16,-1-2-1-16,1 0 0 0,-1 0 1 16,1 0-1-16,-1 0 1 15,1 0-1-15,-1 0 0 16,-5 0 0-16,6 0-1 16,-3 0 1-16,-4 0 0 15,10 0-1-15,-4 0 0 16,4 0 1-16,5 0 1 15,0 0 0-15,0 0-1 16,-3 0 1-16,3 0 1 16,-6 0-2-16,4 0 0 15,-7 0 0-15,6 1-2 16,-5 1-4-16,2-2 6 0,3 2 1 16,-2 0 1-16,5 0-1 15,-3-1 0-15,-3 0 0 16,-2-1-1-16,5 0 2 15,-5 2-1-15,5-2 0 16,-6 0 0-16,1 0 0 16,2 0-1-16,4 1 1 15,-4 0 0-15,3 1 4 16,-2-2-4-16,7 0-1 16,-7 1 0-16,2-1 0 15,-5 0 0-15,2 2-1 16,-3-2 1-16,1 0 0 15,-3 1 0-15,2-1 0 0,1 3 0 16,2-3 0 0,3 1 1-16,0 0 0 0,-2-1-1 15,2 0 0-15,-5 2 1 16,2-2 0-16,-5 0-1 16,2 2 1-16,1-2-1 15,-1 1-1-15,1-1 1 16,2 1 0-16,3-1 0 15,-5 2 6-15,5-2-6 16,-11 0 1-16,5 0 0 16,-2 0 0-16,-3 0 0 15,-3 0 0-15,9 0 5 16,-4 0-6-16,4 0 1 16,-1 0 6-16,-5 0-1 15,6 0-5-15,-9 0 0 0,5 0-1 16,-2 0 1-16,3 0 7 15,2 0-2-15,1 0 14 16,-1 0-8-16,7 0-4 16,-7 0 5-16,-5 0-3 15,3 0-2-15,-3 0-8 16,-3 0-1-16,0 0 0 16,0 1 1-16,0-1-5 15,0 0 5-15,0 0 0 16,0 0 1-16,5 0 4 15,-5 0 7-15,3 0 15 16,3 0 6-16,-6 0-11 16,0 0-7-16,0 0-15 0,-23 7-11 15,-3 0-224-15,1 0-526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3-23T00:29:34.36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30728 5800 5 0,'0'0'75'0,"0"0"4"15,0 0-3-15,0 0-18 0,0 0-12 16,0 0 15-16,-14-6-5 16,8 4-24-16,3 2-16 15,3-1 11-15,-5 1 44 16,5-2 2-16,0 2 5 15,0-1 9-15,-3 1-9 16,3-2-26-16,-6 1-9 16,3 0-5-16,3 1-9 15,-5 0 0-15,5-2-5 16,-3 2 4-16,3 0 12 16,0 0-6-16,0 0-5 15,0 0-2-15,0 0 9 16,0 0-2-16,0 0-8 15,0 0-4-15,0 0-1 0,0 0-6 16,0-1-2-16,0 1 0 16,0 0-1-16,0-2 2 15,3 2-4-15,2 0-1 16,4 0 3-16,-6-1 2 16,5 1 7-16,3 0-8 15,-2-1-3-15,0 1 9 16,2-2 10-16,3 2-6 15,-3-1-14-15,4 1-8 16,2 0 11-16,-9 0-4 16,4 0-7-16,-4 0 1 15,1 0-1-15,-4 0 11 16,4 0-11-16,-1 0 10 0,1 0-1 16,-1 0 6-16,7 0 0 15,2 1-6-15,-6 2-1 16,3-2 0-16,-2 1 1 15,2-1-1-15,0 1-1 16,-5-1-7-16,-7 0-1 16,7 1 1-16,-3-1 0 15,2 1 0-15,1-1 0 16,-1 1 5-16,1 1 6 16,-1-2-5-16,1 0 5 15,2 0 1-15,-2 1-10 16,-1 0 7-16,7-1-4 0,-7-1-6 15,6 1 1 1,-2-1 1-16,-4 0-2 0,6 0 0 16,-2 0 2-16,-4 0 4 15,1 0-6-15,-1 0 0 16,-8 0-1-16,9 0 1 16,-9 0 0-16,6 0 1 15,2 2-1-15,1-2 1 16,-4 1 5-16,4 1-6 15,-1-1 2-15,4 1-1 16,-4-1 0-16,1 0 1 16,5 1 5-16,-6 0-1 15,4-2-6-15,2 1 1 16,3 0 0-16,-3-1 0 16,-2 1-1-16,2 1 1 0,3-1-1 15,-6 1 1-15,4-2 0 16,-4 1-1-16,-3 1 1 15,7-1 6-15,-4-1-7 16,3 0 1-16,0 0 0 16,-2 0 0-16,2 0 5 15,-3 0-6-15,4 3 1 16,-7-3-1-16,3 1-1 16,4-1 1-16,-4 2 0 15,3-1 0-15,3 2 0 16,-2 0 0-16,2-2 0 15,0 2 1-15,0-2-1 16,3 1 1-16,-3 0-1 0,3-1 7 16,-3 1-5-1,-6 1-1-15,6-2 5 0,-3 3-5 16,-5-3 0-16,2 0 5 16,3 0-6-16,3 1 1 15,-8-2 0-15,8 0-1 16,-3 1 2-16,-2-1-2 15,-4 0 2-15,6 1-2 16,-2-1 0-16,-4 2 0 16,6-1 1-16,-2-1-1 15,2 0 1-15,0 0 0 16,-2 0-1-16,2 0 2 0,-6 0-2 16,1 0 1-1,-1 0-1-15,1 0 0 0,-1 0 1 16,1 0-1-16,2 2 0 15,6-2 0-15,3 0 0 16,0 0 0-16,-3 1 0 16,0 2 0-16,0-2 0 15,-2 2 0-15,-4 0 0 16,9-1 0-16,-9 0 1 16,6 0 0-16,6-1-1 15,-6 1 0-15,0-1 8 16,0 1-8-16,-6-2 0 15,4 2 9-15,-1 0-9 0,-6-1 1 16,-5-1 1 0,6 0-1-16,-4 2 5 0,4-2-6 15,-6 0 0-15,5 0 6 16,7 0 8-16,2 0 3 16,0 0-3-16,-3 0-13 15,3 0 5-15,0 0-5 16,0 1-1-16,3 1 1 15,3-2-1-15,-3 0 2 16,2 1-2-16,1-1 1 16,-6 0-1-16,0 0 0 15,0 0 0-15,-5 1 0 16,-4-1 1-16,6 0-1 16,-11 0 0-16,9 2-1 15,-10-2 1-15,7 0 0 0,-1 0 0 16,1 0 1-16,0 0-1 15,5 0 2-15,-3 1-2 16,3 1 0-16,3-2 1 16,0 1-1-16,6-1 1 15,3 2 6-15,-1 0-1 16,4-1-5-16,-4 3 8 16,4-2-3-16,-4 1-5 15,-8-1 0-15,0 0 0 16,0 1 8-16,-8-1-9 15,0-1 0-15,-7 0 1 16,4-1-1-16,0 2 7 16,-3-2-6-16,-3 1 9 0,5-1-1 15,-5 1-7 1,3-1 6-16,-3 0-8 0,0 2-2 16,0-2 2-16,0 0 0 15,0 0-1-15,0 1-9 16,-23 1-78-16,3-2-292 15,-11 0-816-15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3-23T00:29:34.36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22591 6285 137 0,'0'0'156'0,"0"0"-3"0,0 0-25 16,0 0-5-16,0 0 17 15,0 0 0-15,0 0-18 16,-9-12-15-16,3 11-41 16,6 1-16-16,0-1-3 15,0 1 16-15,0 0-8 16,0 0-10-16,0 0-9 16,0 0-17-16,0 0-1 15,0 0-5-15,0 0-3 16,0 0 3-16,0 0-11 15,0 0-1-15,0 0 1 16,0 0-1-16,6 0 16 16,3 0 18-16,5 0 0 0,-3 0 9 15,3 0-12-15,3 0 12 16,0 1-2-16,0-1-9 16,1 1-7-16,-1-1-5 15,-3 0-2-15,-3 0-5 16,3 0-6-16,-2 0 9 15,2 0-7-15,-3 0 5 16,-2 0-3-16,5 0-4 16,-5 0-6-16,-1 0 10 15,1 0-11-15,-1 0 7 16,-2 0 10-16,2 0-9 16,-5 0 1-16,6 0-4 15,-4 0 2-15,-2 0-1 16,6 0-7-16,-4 0 0 15,4 0 0-15,0 2 0 0,-7-2 1 16,7 0 4-16,-3 2-5 16,2-2 0-16,-5 0 0 15,5 0 1-15,1 0 10 16,-3 1-11-16,2-1 0 16,-2 0 0-16,-3 0 1 15,2 0 6-15,-2 0-5 16,3 0-2-16,3 0 0 15,-7 1 1-15,7-1 0 16,-1 0-1-16,-2 0 0 16,-3 0-1-16,5 0 2 15,1 0-1-15,0 0 0 0,-4 2 1 16,4-2 0-16,-1 0-1 16,1 0 0-16,-1 1-1 15,1-1 0-15,-1 2 1 16,1-2 0-16,-1 1 0 15,1-1 0-15,-1 0 5 16,-2 0-5-16,3 0 0 16,-6 0 0-16,2 0 0 15,-2 0 0-15,3 1-1 16,2-1-1-16,-5 0 1 16,3 2 0-16,2-2 0 15,1 0 1-15,-6 1 0 16,2-1 0-16,-2 0 0 0,3 0 2 15,0 0-2-15,-6 0 0 16,2 0 0-16,4 0-1 16,-3 2 1-16,5-2 0 15,-2 0 0-15,3 0 1 16,-6 0-1-16,5 0-6 16,-8 0 6-16,6 0 0 15,-6 1 0-15,3-1-1 16,-3 0 0-16,8 1 1 15,-2-1-1-15,-3 2 1 16,5-2 1-16,-2 0-1 16,2 1-1-16,1-1 1 15,-6 0-1-15,2 0 0 16,-2 1 1-16,3-1-8 16,0 2 8-16,2-1-6 0,1 1 5 15,-1-1 0-15,4 0 1 16,2 1 0-16,-6-1-1 15,4 1 0-15,2-1 1 16,-3 0-9-16,3 1 0 16,1 0 0-16,-4-1-8 15,6 0 8-15,0 0-13 16,6-1 9-16,-3 2 12 16,5-2-1-16,4 1 1 15,-12 1 0-15,3-1-11 16,-6 1 11-16,3 0-12 15,-6 0 2-15,6 1 4 0,-2-2 5 16,2 1-4-16,5 0 6 16,-5-2-5-16,1 0 5 15,-1 0 0-15,-6 0 0 16,6 0 0-16,-6 0 2 16,-2 0-2-16,2 0 0 15,-5 0 0-15,3 0 0 16,-1 0 0-16,3 0 0 15,4 0 0-15,2 0 0 16,3 0-1-16,-1 0 0 16,1 0 1-16,-3 0 1 15,6 0-1-15,-3 0 0 16,3 0 0-16,0 0 0 0,-4 2 0 16,4-2-1-1,3 1 2-15,-6-1-1 0,5 2 0 16,-2-2 0-16,-6 1 0 15,6-1 1-15,-6 0-2 16,3 0 1-16,-3 0-1 16,-3 0 1-16,3 0 0 15,-3 0 0-15,3 0 0 16,-5 0 0-16,5 0 0 16,-3 0-1-16,3 0 2 15,0 0-1-15,0 0 1 16,6 0-1-16,-6 0 1 15,3 0 0-15,5 0 1 16,-2 0-1-16,0 0 0 16,2 0 1-16,-5 0-2 0,3 0 1 15,-3 0 0-15,3 0-1 16,-1 0 8-16,-2 0-8 16,-3 0 1-16,0 0-1 15,-2 0 0-15,-4 0 1 16,3 0 5-16,-2 0-5 15,-1 0 5-15,-3 0-6 16,4 0 0-16,-4 0 0 16,7 2 3-16,-4-1-3 15,3-1 9-15,3 0 3 16,0 1 0-16,-5-1-12 16,2 2 6-16,0-2 10 15,-3 0-15-15,-5 0 8 0,-3 0-7 16,3 0 4-16,-6 0-6 15,0 0 1-15,2 0-1 16,-2 0 0-16,0 0 0 16,6 0 0-16,-6 0 1 15,0 3-1-15,-14 0-39 16,-3-1-213-16,-9-2-701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3-23T00:29:34.36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19961 6740 152 0,'0'0'236'15,"0"0"-58"-15,0 0-33 16,0 0 6-16,0 0 18 16,0 0-51-16,3-18-9 15,-3 16-38-15,0-3-26 0,0 3 11 16,0-1 27-16,0 0-1 16,0 3 2-16,0-1-20 15,0 1-21-15,0 0-21 16,0 0-11-16,0 0 1 15,0 0-12-15,0 0 0 16,0 0-9-16,0 0 2 16,0 0-3-16,6 0 10 15,2 0 1-15,1 1 8 16,2 0-8-16,4-1 0 16,-4 2 0-16,6-2 0 15,3 0 5-15,-9 0 3 16,6 0-8-16,0 0 0 0,-2 0 5 15,2 0-6-15,0 0 1 16,0 0 7-16,-6 0-6 16,3 0 5-16,3 0 1 15,-8 0-1-15,8 0-6 16,-3 1 14-16,3-1 0 16,0 0-14-16,0 0 6 15,0 0-1-15,-2 0 0 16,2 0-4-16,-9 0-1 15,4 0 0-15,2 0 8 16,-6 0-9-16,1 0 0 16,-1 0 0-16,4 0 0 15,2 0 1-15,0 0 0 16,-3 0 0-16,7 0 5 16,-4 0 1-16,-3 0 2 0,3 0-8 15,-2 0-1-15,5-1 0 16,3-1 11-16,-3 1-9 15,3-2 4-15,2 2-5 16,-5 1 0-16,0-3 0 16,1 3 0-16,-1 0 6 15,-3 0-2-15,-3 0-5 16,3 0 0-16,-2-2 2 16,2 2-1-16,-3 0 0 15,4-1-1-15,-4 1 0 16,6-2 0-16,3 1 6 15,-3-2-5-15,0 2-1 0,0 1 0 16,0 0 0-16,-6 0 0 16,4 0 0-16,-4 0-1 15,9 0 1-15,-3 0 1 16,3 0 0-16,5-2 0 16,-2 2-1-16,-3 0-1 15,8 0 1-15,-8 0 0 16,3 0 1-16,3 0 0 15,-6 0-1-15,2-2 1 16,4 0 3-16,-1-1-2 16,1 0-3-16,0 2 2 15,2 0-1-15,-8-1 0 16,3 2 0-16,2-1 0 0,-5 1 0 16,-3-2 1-1,6 1 0-15,-6-1 1 0,0 1-2 16,0 0 2-16,-3 1-2 15,-2-2 0-15,-4 2 0 16,1 0-2-16,-4 0-1 16,4 0 2-16,0 0 1 15,5 0 0-15,-3 0 0 16,3 0 1-16,-2 0-1 16,5 0-1-16,0 0 1 15,0 0-1-15,0 0 1 16,6 0 0-16,2 0 1 15,1 0 0-15,-1 0 0 16,7 0-1-16,-7-1 0 16,1 1 2-16,-1-2-2 0,1 2 3 15,0 0-3-15,-4 0 1 16,-5 0 0-16,0 0 0 16,0 0 0-16,0 0 0 15,-2 0 0-15,-4 0 6 16,-2 0-6-16,2 0 0 15,-3 0 0-15,4 0-1 16,-6 0 1-16,5 0-1 16,-3 0 1-16,1 0 0 15,5 0-1-15,-5 0 0 16,-1 0 3-16,1 0-3 16,-6 0 6-16,2 0-6 15,4 0 1-15,-6 0-1 0,8 0 0 16,-2 0-1-16,-1 0 1 15,-5 0 0-15,5 0 1 16,-2 0 0-16,-6 0 0 16,3 0 0-16,-3 0 7 15,0 2 0-15,0-2 0 16,0 0 7-16,-3 0 24 16,3 1-37-16,-6-1-2 15,6 2-6-15,-2-1-7 16,-4 5-28-16,3-1-101 15,-3 0-392-15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3-23T00:29:34.36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28477 6506 10 0,'0'0'48'16,"0"0"24"-16,0 0-6 15,0 0-21-15,0 0 0 16,3-3 17-16,-3 2 1 15,0-1-9-15,0 1-8 16,0 0-7-16,0 1 1 16,0-2 6-16,0 2-1 15,0 0-10-15,-3-1-9 16,3 1 0-16,0 0 7 0,0 0-1 16,-6-2 18-16,6 2 2 15,0 0 0-15,-3-1 12 16,3 1-6-16,0-1-12 15,0 1-8-15,0 0-12 16,0-2-6-16,0 2-11 16,0-1-9-16,0-1 22 15,3 1 8-15,3 0-17 16,-3 1-11-16,2-1 9 16,4-1 4-16,-6 0-3 15,-3 2-10-15,5 0 7 16,4 0-2-16,-6 0-5 0,3 0 6 15,2 0-7-15,1 0-1 16,-1 0 7-16,-5 0-7 16,3 0 2-16,2 0-1 15,-2 0 0-15,-3 0 0 16,5 0 8-16,1 0-8 16,-1 0 0-16,-2-2 0 15,2 0 0-15,-5 0 0 16,3 1 0-16,-3 1-1 15,-3 0 0-15,0 0 0 16,0 0-6-16,0 0 5 16,0 0-1-16,6 0 1 15,-6 0-1-15,0 0 2 16,2 0 0-16,-2 0 2 16,0 0-2-16,6 0 0 0,-3 0 1 15,5 0 0-15,-2 0 0 16,-3 0 1-16,6 0-2 15,-4 0 0-15,4 0 1 16,-1 0-1-16,1 0 1 16,-1 0-1-16,1 0 0 15,-3 0 1-15,-4 0-1 16,4 0 0-16,-3 0 0 16,3 0-1-16,2 0 1 15,1 0-2-15,-1 0 1 16,1 0 0-16,-6 0-7 15,5 0 7-15,-2 0 1 16,-3 0-1-16,2 0 1 0,-5 0-8 16,3 0 6-16,3 0 1 15,-3 0-7-15,2 0 8 16,4 0-13-16,-3 0 12 16,-4 0-6-16,7 0-8 15,-3 0 15-15,-4-1 0 16,4 1 0-16,-3 0 0 15,3 0 1-15,-4 0-1 16,7 0 2-16,0 0-2 16,-1 0 0-16,1 0-2 15,-1 0 2-15,1 0 0 16,-4 0-1-16,4 0 0 0,-6 0 1 16,8 0 0-1,-8 0 0-15,5 0-1 16,1 0-12-16,5 0 12 0,-5 0 0 15,-1 0-7-15,1 1 8 16,2 0-10-16,-2 1 10 16,-1 0 0-16,1-1 0 15,-1 0 0-15,6 1 0 16,-5 0 1-16,5-1-1 16,-2-1 0-16,-4 1-1 15,1-1 1-15,-1 1-1 16,6 1 1-16,-5-1-1 15,-1 1 0-15,4-2-17 16,-4 1 6-16,9-1 3 16,-2 0 8-16,2 0 1 0,-3 0 0 15,-6 0 0-15,4 0 0 16,-4 0 0-16,1 1-1 16,-4 1 1-16,4-2-1 15,-1 1 1-15,4 1-1 16,-4-1 1-16,7 0 0 15,-1 1 0-15,-3-2 1 16,3 1-1-16,-5-1 0 16,2 3 0-16,-2-3 0 15,-1 0 0-15,-2 0 0 16,3 0 0-16,-7 2 0 16,4-2 0-16,3 0 0 15,-1 1 0-15,1-1 0 0,5 0 0 16,-3 2 1-16,3-2-1 15,-2 0 1-15,2 0-1 16,-3 0 0-16,-2 0 0 16,-1 0 0-16,-2 0 0 15,3 0-1-15,-6 0 1 16,2 1-1-16,4 0 0 16,-4 1 1-16,4-1 0 15,-1-1 0-15,1 2-1 16,0-2 1-16,-1 0 1 15,1 0 4-15,-1 0-4 16,1 0-2-16,-1 0 1 16,1 0 0-16,-1 3-1 0,1-3 1 15,-1 1-1 1,1-1 1-16,5 1 0 0,-5-1 0 16,-7 0 1-16,7 2-1 15,-3-2 0-15,2 0 0 16,1 0 1-16,-1 0 0 15,-5 0 0-15,6 0 1 16,-1 0-1-16,-2 0-1 16,5 0 0-16,-2 0 0 15,-1 0 7-15,4 0-6 16,-4 0-1-16,1 0 1 16,-1 0-1-16,1 0 1 15,-1 0 0-15,1 0 1 16,-1 0-2-16,4 0 1 0,-4 0 0 15,6 0 2-15,3 0-2 16,-2 0 8-16,2 0-2 16,-6-2 5-16,3 2-6 15,-2-1-5-15,-4 1 0 16,1 0 0-16,-1 0-1 16,1 0 0-16,5-1 6 15,-6-2-6-15,1 3 9 16,5 0-8-16,-5-2 6 15,-1 1 11-15,-5 1-8 16,6 0-2-16,-4 0-8 16,4 0 0-16,-6 0-1 15,5 0 1-15,6 0 0 0,-5 0-1 16,2 0 1-16,6 0 0 16,-2 0 0-16,-1 0 1 15,-3 0 0-15,-2 0 6 16,-1 0-7-16,-2 0 0 15,2 0-4-15,-5 0 4 16,3 0 0-16,2 0 0 16,1 0 1-16,-6 0 0 15,5 0 0-15,-2-3 0 16,3 2 1-16,-7-1-1 16,7 1 0-16,-3-1 0 15,-1 2 0-15,4 0-1 16,-6 0 0-16,5 0 0 0,6 0 0 15,-2 0 0 1,2 0 0-16,-3 0 1 0,6 0-1 16,-2 0 0-16,-4 0-1 15,3 0 1-15,0 0 0 16,3 0 0-16,1 0 1 16,-7 0-2-16,6 0 1 15,0 0 0-15,0 2 1 16,-3-2-1-16,0 1-1 15,-5-1 1-15,2 2 0 16,-5-2 0-16,-3 1 0 16,5-1 1-16,-2 0-1 15,-3 0 0-15,5 0 1 16,-2 0-1-16,-3 0 0 16,6 0 1-16,-4 0-1 0,4 0 0 15,-1 0 0-15,1 0-1 16,5 1 1-16,3-1 0 15,0 2 0-15,3-1 0 16,3 1 0-16,-6-2-1 16,0 0 1-16,-3 0-1 15,-5 3 0-15,2-2 0 16,-5 0 1-16,2-1-1 16,1 2-8-16,-6-2 9 15,5 1 0-15,-2-1 2 16,-3 0-1-16,5 0 0 15,-2 0 0-15,-6 0-1 0,3 0 1 16,-3 0 1-16,5 0-1 16,-2 0 0-16,3 0-1 15,-3 0 0-15,5 0 0 16,1 0 0-16,2 0 0 16,-2 0 1-16,-7 0 6 15,7 0-6-15,-9 0 7 16,6 0 5-16,-6 0-2 15,0 0-1-15,0 0-10 16,0 0-2-16,0 0 2 16,0 0-1-16,0 0 0 15,0 0-10-15,0 0 4 16,-6 0-9-16,-11 0-234 0,-9-1-895 16</inkml:trace>
  <inkml:trace contextRef="#ctx0" brushRef="#br1" timeOffset="1">23364 6962 54 0,'0'0'43'0,"0"0"-6"15,0 0-24-15,0 0-13 16,0 0 0-16,0 0 19 16,0 0 1-16,-29-17 5 15,29 17 2-15,0 0 9 16,-3 0-1-16,3 0-35 16,0 0-30-16,0 0-90 15</inkml:trace>
  <inkml:trace contextRef="#ctx0" brushRef="#br1" timeOffset="2">23364 6962 42 0,'-37'-18'75'0,"37"18"-22"16,0-2 9-16,-3 1-2 0,3 1 13 16,-6-2 11-16,6 2-21 15,0-1-5-15,0-1 17 16,0 2 0-16,0-1-3 15,0 1 6-15,0 0-13 16,0 0-10-16,0 0-7 16,0 0-9-16,0 0-20 15,0 0-18-15,0 0 6 16,0 0-6-16,0 0 5 16,0 0 7-16,0 0 0 15,0 0 23-15,6 0-3 16,-3 1-4-16,2 1 2 0,-2-1-2 15,3-1 2-15,-6 2 3 16,3-2-2-16,-3 1-8 16,0 1-16-16,0-1-8 15,0 1 7-15,0 0 5 16,5 1-6-16,-2-1-5 16,3 1 15-16,0-1 7 15,2 1-14-15,-5 0-9 16,3 0 0-16,-6-3 1 15,3 3-1-15,2 0 0 16,-5-2-1-16,0 1 1 16,3-1 0-16,-3 0 1 15,6 1 6-15,2-2-7 0,-5 1 1 16,3-1 0-16,2 0 0 16,-5 0-1-16,3 0 8 15,-3 0-8-15,2 0 0 16,-2 0 1-16,3 0-1 15,-6 0 2-15,8 0-2 16,-5 0 1-16,6 0-1 16,-1 0-19-16,7 0 10 15,-7-3-18-15,1 1 1 16,-1-1 11-16,1 0-8 16,-4 0 21-16,-2 3 1 15,3-1-1-15,-3-1-9 16,2 1 11-16,-2-1-19 0,6 1 18 15,-1-2-7 1,1 2 6-16,-1 0-19 0,1 1 3 16,-3-2 4-16,-4 0 4 15,4 2 9-15,-6 0 1 16,0 0-1-16,6 0-6 16,-6 0-5-16,0 0-1 15,0 0 6-15,3 0 7 16,2 0 1-16,-2 0-1 15,3 2 2-15,-3 0 13 16,2-1-8-16,-2 0 3 16,3 0-2-16,-6 1-8 0,3-1 0 15,-3 1 0 1,5-1 0-16,-5 1 0 16,3-2 9-16,3 1-2 0,-3-1-6 15,5 0 14-15,1 0-14 16,-4 0 7-16,4 0-8 15,0 0-1-15,-7 0 0 16,7 0 0-16,-3 0 0 16,2 0 0-16,-5 0-1 15,11 0-24-15,-8-1 3 16,5-2 17-16,-5 0-1 16,-3 1 7-16,5 1 0 15,-8 1 0-15,6 0 0 16,-6 0-8-16,3 0 7 15,2 0 1-15,-2 0-1 0,3 0 1 16,3 0 0-16,-7 0-18 16,7 0 18-16,-3 0 0 15,-4 0 0-15,-2 0-1 16,0 0-15-16,6 0 0 16,-6 0 15-16,3 0-1 15,-3 0 2-15,9 0-1 16,-4 0-16-16,-2 0 7 15,8 0 9-15,-2 0-7 16,-6 0 7-16,2 0 1 16,-5 0-1-16,3 1-12 15,-3-1 2-15,0 2 10 16,0-2 1-16,0 0 0 0,6 0 2 16,-6 0 11-1,3 0 7-15,3 1-3 0,2 1 2 16,-5-2-6-16,5 1-12 15,-2 1-1-15,3-1 1 16,-1-1-1-16,1 0-2 16,-1 0 2-16,1 0 1 15,-6 0 7-15,5 0-8 16,-2 0 0-16,-1 3 1 16,4-3-1-16,-6 0 1 15,3 0-1-15,2 0-6 16,-5 0 6-16,5 0 1 15,1 0 0-15,-1 0 0 0,7 0 0 16,-7 0-1 0,1-3-1-16,2 3 0 0,-2-1-9 15,-1-1-2-15,4 1-7 16,-1-1-11-16,-5 2 20 16,2-1 10-16,1 1 0 15,-7 0 0-15,4 0-1 16,-6 0 0-16,3 0-9 15,-3 0 4-15,6 0 3 16,-6 0 2-16,3 0 1 16,2 0-6-16,-2 0 6 15,3 0 6-15,2 1 1 16,-5 1-1-16,-3-1-6 16,6 2-1-16,-3 0-9 0,-3 0 9 15,5 0 1-15,-2-1 1 16,3 1 10-16,2 0-4 15,1-3-6-15,-1 0-1 16,1 0 1-16,-1 0 8 16,1 1-8-16,-3-1-1 15,-3 2-3-15,-3-1 2 16,5 0-5-16,-2 0 5 16,3 1 1-16,-3 0 0 15,5-2 0-15,1 0 0 16,-1 1 7-16,1-1-7 15,-4 0-1-15,-2 1 1 16,6 1 1-16,-4 0 0 0,-2-1 1 16,6 0-2-16,2-1 0 15,-2 0-31-15,-1 0 14 16,4 0-2-16,-4 0-35 16,1 0 33-16,5 0 15 15,-11-1 0-15,5 0 6 16,-2-1 7-16,-3 2-7 15,5 0 0-15,-2 0 0 16,-3 0-1-16,5 0 1 16,-2 0 0-16,3 0 0 15,-4 0 1-15,4 0-1 16,-6 0 2-16,5 0-2 16,-2 0 1-16,2 0-1 0,1 0-9 15,2 0 9 1,-2 0 1-16,5 0-1 0,-6-2 9 15,1 1-9-15,-6 1 0 16,5-1 1-16,1 1-1 16,-3-2 2-16,2 2-2 15,-2-2 1-15,2 1-1 16,4 0 6-16,-4-2-6 16,6 1 0-16,-2-1 0 15,2 0 0-15,-3 0 0 16,4 0 0-16,-7 2 5 15,1-2 3-15,-4 3 5 0,4 0-5 16,-1-1-8 0,-5 1 7-16,6 0-7 15,-4-2 1-15,4 2-1 0,0-1 1 16,-7 1 5-16,7 0-3 16,-3 0 4-16,-6 0 3 15,2 0-10-15,-2 0 0 16,6 0-1-16,-6 0-6 15,3 0 7-15,3 0 8 16,-4 1-8-16,4 2 1 16,-3 0 11-16,6 0-5 15,-4 0-4-15,-2-1 3 16,6 1-5-16,-4 0 7 16,1-2-7-16,2 1 11 15,-5-2 1-15,6 0-12 0,-1 0 0 16,1 0 7-16,-3 0-8 15,2 0 7-15,-5 0 4 16,-3 0-2-16,6 0-2 16,-6 0-5-16,0 0 8 15,2 0-9-15,4 0 0 16,3 0 13-16,-1 0-12 16,4 0 9-16,5 0-6 15,3 0-4-15,-3-3-1 16,0 0 0-16,0 2 0 15,-6-1 0-15,3 2 0 16,-5 0 1-16,-1 0 0 16,-5 0-1-16,6 0 0 15,2 0 1-15,0 0 0 16,4-1-1-16,-7 1 0 0,-5 0 0 16,-3 0-1-16,-9 4-93 15,-16 7-129-15,-6-1-388 0</inkml:trace>
  <inkml:trace contextRef="#ctx0" brushRef="#br1" timeOffset="3">28619 6989 159 0,'0'0'213'0,"0"0"-68"15,0 0-37-15,0 0 25 16,0 0 21-16,0 0-43 0,0-14-21 16,0 13 0-16,0-1-12 15,0 2-16-15,0 0-24 16,0 0-29-16,0-1-9 16,0 1-6-16,0 0-6 15,0 0 5-15,0 0 7 16,0 0 0-16,0 0 1 15,0 0 0-15,0 0 1 16,0 0 0-16,0 0-2 16,0 0 1-16,3 0 4 15,5 0-4-15,1 0 14 16,5 0 1-16,-5 0-3 16,-1 0 6-16,4 0-9 0,2 0 13 15,-6 0-11 1,7 0-11-16,-7 0 18 0,3 0-19 15,4 0 1-15,-13 0 13 16,7 0-2-16,0 0-2 16,-4 0-9-16,4 0 6 15,-6 0 0-15,2 0 3 16,4 0-8-16,-6 0 7 16,2 0-9-16,4 1 1 15,-3 2-1-15,-4-1 0 16,7 0 1-16,-3 0-1 15,5-1-1-15,-5 1 1 0,2-1 1 16,1 0-1 0,-1 1 0-16,1-2-1 0,-1 1 1 15,1-1 0-15,-1 0 1 16,1 0 12-16,-6 0-11 16,8 1 4-16,-8 0-5 15,3 1-1-15,2 0 3 16,1-2 3-16,-1 0-12 15,4 0 2-15,2 0 4 16,-3 0 6-16,-2 0-6 16,-1 0 0-16,1 0-1 15,-4 1-8-15,-2 0 9 16,3 1 0-16,-6 0 0 16,3-2 0-16,2 1-2 15,-2-1 1-15,3 1 0 0,0 2-6 16,2-2 0-16,1 2 7 15,-1 0 9-15,1-2 2 16,-1 2-11-16,1-2 0 16,-1 2 0-16,1 1-7 15,-1-2 7-15,1 1-6 16,2-2 6-16,-2 1 8 16,5-2-8-16,0 1 0 15,-2-1-10-15,2 0 3 16,-3 0 7-16,3 0-2 15,-2 0 4-15,5 0-10 16,0 0-3-16,-3 0 9 16,3 0 2-16,0 0 0 15,-8 0 0-15,5 0 0 16,-3 0-1-16,-2 0 1 0,5 0 4 16,-5 0-4-16,2 0-7 15,9 0 6-15,-9 0 1 16,6 0-14-16,-3 0 2 15,4 0-5-15,-10 0 10 16,3 0 7-16,-2 0 1 16,-1 0-1-16,-2 0 7 15,3 0-7-15,-1 0 0 16,1 0-1-16,-1 0 1 16,1 0 0-16,5 0-1 15,-3 0 1-15,-2 0-10 16,-1 0-6-16,1 0 14 0,-3 0 1 15,2 0-25-15,-5 0-1 16,6 0 11-16,-1 1 0 16,1-1-2-16,5 0-9 15,0 0-21-15,-3 0 28 16,4 0-15-16,-4 0 16 16,-3 0 12-16,1 0 6 15,0 0 0-15,-1 0-28 16,-2 0-13-16,5 0 42 15,-2 0 0-15,5 0-1 16,0 0 1-16,3 0-10 16,-6 0 10-16,7 0 1 15,-4 0 0-15,-3-1 6 0,-2-2-7 16,5 2 0-16,-6-1 0 16,7 1 1-16,-7-1 0 15,3 1 0-15,4-2-1 16,2 2-7-16,-6-2 7 15,3 1 0-15,3 1 1 16,-5 0 1-16,2-1 10 16,-6 2-10-16,7-1-1 15,-7 1-1-15,4 0 7 16,-4 0-7-16,1 0 0 16,5 0 0-16,-3 0 0 15,-2 0-5-15,5 0 5 16,-3 0 0-16,9-1 1 0,-3-1 0 15,-5 1 0 1,5-1 0-16,-3 2-1 0,-6-1 5 16,4 1-5-16,-4 0 0 15,7-1-1-15,-7 1 0 16,6 0 1-16,-2-1 0 16,5-1 0-16,-3 0 9 15,-3 2-8-15,4-1-1 16,-4 1 0-16,-3 0 8 15,7 0-8-15,-7 0-7 16,1 0 7-16,-1 0 0 16,1 0 0-16,5 0 0 15,-6 0-6-15,10 0 6 16,-7 0 2-16,3 0-1 16,-3 0 0-16,-2 0 5 0,5 0-6 15,-11 0 3-15,3 0-2 16,2 0 1-16,-2 0-2 15,2 0 1-15,1 0 5 16,2 0-6-16,-2 0 1 16,8 0-1-16,-3 0 2 15,3 0 3-15,-5 0-4 16,7 0-1-16,-7 0 6 16,5 0-6-16,-3 0 0 15,3 1 2-15,0 1-1 16,3-2-2-16,3 2 2 15,-6-2-1-15,6 0 0 0,-6 0-1 16,0 0 1-16,-6 0 6 16,-2 0-5-16,-4 0 2 15,4 0 4-15,-6 0-7 16,-3 0 0-16,8 0 0 16,-2 0 0-16,2 0 14 15,1 0-13-15,5 0-1 16,-5 0 0-16,2 0 1 15,3 0 0-15,-5 0 5 16,-1 0-6-16,1 0 2 16,-1 0-2-16,4 0 0 15,2 0 0-15,0 0 0 16,6 0 0-16,3 0 10 0,2 1-8 16,-5-1 11-1,6 1 11-15,2 0-2 0,-2 2 0 16,-6 0-11-16,3-2 2 15,-6 2-7-15,8-2 3 16,-2 1-9-16,-3-2 6 16,5 0 9-16,-2 0 2 15,-6 0 5-15,0 0 0 16,-3 0-5-16,-5 0 2 16,-1 0-19-16,-8 0-8 15,3 0 0-15,-3 0 8 16,0 0-2-16,0 0 2 15,0 1 0-15,0 1-15 16,-8 2-138-16,-12-3-201 16,-9-1-347-16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245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161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3600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1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5563" y="3233738"/>
            <a:ext cx="7288212" cy="306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1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161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245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49" charset="-122"/>
              </a:defRPr>
            </a:lvl1pPr>
          </a:lstStyle>
          <a:p>
            <a:fld id="{DECBA7D7-105B-47B6-8A35-E0951C63A6A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5370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说明：</a:t>
            </a:r>
          </a:p>
          <a:p>
            <a:pPr lvl="0"/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PAGESIZE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是常数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en-US" altLang="zh-CN" sz="1200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12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，即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4K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（页面大小为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4KB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）；</a:t>
            </a: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Sv32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中，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LEVELS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（两级页表）且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PTESIZE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（每个页表项共四个字节）；</a:t>
            </a:r>
          </a:p>
          <a:p>
            <a:pPr lvl="0"/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Sv39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中，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LEVELS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（三级页表）且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PTESIZE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（每个页表项共八个字节）；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Sv48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中，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LEVELS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（四级页表）且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PTESIZE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（每个页表项共八个字节）。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A7D7-105B-47B6-8A35-E0951C63A6AE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7545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中断</a:t>
            </a:r>
          </a:p>
          <a:p>
            <a:r>
              <a:rPr lang="zh-CN" altLang="en-US" dirty="0"/>
              <a:t>异常：故障（</a:t>
            </a:r>
            <a:r>
              <a:rPr lang="en-US" altLang="zh-CN" dirty="0"/>
              <a:t>Faults</a:t>
            </a:r>
            <a:r>
              <a:rPr lang="zh-CN" altLang="en-US" dirty="0"/>
              <a:t>）、陷阱（</a:t>
            </a:r>
            <a:r>
              <a:rPr lang="en-US" altLang="zh-CN" dirty="0"/>
              <a:t>Traps</a:t>
            </a:r>
            <a:r>
              <a:rPr lang="zh-CN" altLang="en-US" dirty="0"/>
              <a:t>）、终止（</a:t>
            </a:r>
            <a:r>
              <a:rPr lang="en-US" altLang="zh-CN" dirty="0"/>
              <a:t>Aborts</a:t>
            </a:r>
            <a:r>
              <a:rPr lang="zh-CN" altLang="en-US" dirty="0"/>
              <a:t>）</a:t>
            </a:r>
          </a:p>
          <a:p>
            <a:endParaRPr lang="zh-CN" altLang="en-US" dirty="0"/>
          </a:p>
          <a:p>
            <a:r>
              <a:rPr lang="zh-CN" altLang="en-US" dirty="0"/>
              <a:t>故障：通常可以纠正，返回地址是引起故障的那条指令的。</a:t>
            </a:r>
          </a:p>
          <a:p>
            <a:r>
              <a:rPr lang="zh-CN" altLang="en-US" dirty="0"/>
              <a:t>陷阱：通常用于调试，返回地址指向陷阱截获指令的下一条指令。</a:t>
            </a:r>
          </a:p>
          <a:p>
            <a:r>
              <a:rPr lang="zh-CN" altLang="en-US" dirty="0"/>
              <a:t>终止：不返回。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A7D7-105B-47B6-8A35-E0951C63A6AE}" type="slidenum">
              <a:rPr lang="zh-CN" altLang="en-US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4580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BA7D7-105B-47B6-8A35-E0951C63A6AE}" type="slidenum">
              <a:rPr lang="zh-CN" altLang="en-US" smtClean="0"/>
              <a:pPr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0966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7C889C-1156-43B3-AF84-98A3855095A4}" type="slidenum">
              <a:rPr lang="zh-CN" altLang="en-US"/>
              <a:pPr/>
              <a:t>62</a:t>
            </a:fld>
            <a:endParaRPr lang="en-US" altLang="zh-CN"/>
          </a:p>
        </p:txBody>
      </p:sp>
      <p:sp>
        <p:nvSpPr>
          <p:cNvPr id="1699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2897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A7D7-105B-47B6-8A35-E0951C63A6AE}" type="slidenum">
              <a:rPr lang="zh-CN" altLang="en-US" smtClean="0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380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A7D7-105B-47B6-8A35-E0951C63A6AE}" type="slidenum">
              <a:rPr lang="zh-CN" altLang="en-US" smtClean="0"/>
              <a:pPr/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6268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A7D7-105B-47B6-8A35-E0951C63A6AE}" type="slidenum">
              <a:rPr lang="zh-CN" altLang="en-US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6859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A7D7-105B-47B6-8A35-E0951C63A6AE}" type="slidenum">
              <a:rPr lang="zh-CN" altLang="en-US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188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A7D7-105B-47B6-8A35-E0951C63A6AE}" type="slidenum">
              <a:rPr lang="zh-CN" altLang="en-US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0965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A7D7-105B-47B6-8A35-E0951C63A6AE}" type="slidenum">
              <a:rPr lang="zh-CN" altLang="en-US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1628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A7D7-105B-47B6-8A35-E0951C63A6AE}" type="slidenum">
              <a:rPr lang="zh-CN" altLang="en-US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13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A7D7-105B-47B6-8A35-E0951C63A6AE}" type="slidenum">
              <a:rPr lang="zh-CN" altLang="en-US" smtClean="0"/>
              <a:pPr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8946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226" name="Group 26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-4320"/>
            <a:chExt cx="5760" cy="4320"/>
          </a:xfrm>
        </p:grpSpPr>
        <p:sp>
          <p:nvSpPr>
            <p:cNvPr id="179203" name="Rectangle 3"/>
            <p:cNvSpPr>
              <a:spLocks noChangeArrowheads="1"/>
            </p:cNvSpPr>
            <p:nvPr/>
          </p:nvSpPr>
          <p:spPr bwMode="hidden">
            <a:xfrm>
              <a:off x="0" y="-432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4" name="Rectangle 4"/>
            <p:cNvSpPr>
              <a:spLocks noChangeArrowheads="1"/>
            </p:cNvSpPr>
            <p:nvPr/>
          </p:nvSpPr>
          <p:spPr bwMode="hidden">
            <a:xfrm>
              <a:off x="1081" y="-325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grpSp>
          <p:nvGrpSpPr>
            <p:cNvPr id="179225" name="Group 25"/>
            <p:cNvGrpSpPr>
              <a:grpSpLocks/>
            </p:cNvGrpSpPr>
            <p:nvPr userDrawn="1"/>
          </p:nvGrpSpPr>
          <p:grpSpPr bwMode="auto">
            <a:xfrm>
              <a:off x="0" y="-3255"/>
              <a:ext cx="1806" cy="1596"/>
              <a:chOff x="0" y="-3255"/>
              <a:chExt cx="1806" cy="1596"/>
            </a:xfrm>
          </p:grpSpPr>
          <p:sp>
            <p:nvSpPr>
              <p:cNvPr id="179206" name="Rectangle 6"/>
              <p:cNvSpPr>
                <a:spLocks noChangeArrowheads="1"/>
              </p:cNvSpPr>
              <p:nvPr/>
            </p:nvSpPr>
            <p:spPr bwMode="auto">
              <a:xfrm>
                <a:off x="361" y="-2063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7" name="Rectangle 7"/>
              <p:cNvSpPr>
                <a:spLocks noChangeArrowheads="1"/>
              </p:cNvSpPr>
              <p:nvPr/>
            </p:nvSpPr>
            <p:spPr bwMode="auto">
              <a:xfrm>
                <a:off x="1081" y="-325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9" name="Rectangle 9"/>
              <p:cNvSpPr>
                <a:spLocks noChangeArrowheads="1"/>
              </p:cNvSpPr>
              <p:nvPr/>
            </p:nvSpPr>
            <p:spPr bwMode="auto">
              <a:xfrm>
                <a:off x="719" y="-2063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0" name="Rectangle 10"/>
              <p:cNvSpPr>
                <a:spLocks noChangeArrowheads="1"/>
              </p:cNvSpPr>
              <p:nvPr/>
            </p:nvSpPr>
            <p:spPr bwMode="auto">
              <a:xfrm>
                <a:off x="1437" y="-325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1" name="Rectangle 11"/>
              <p:cNvSpPr>
                <a:spLocks noChangeArrowheads="1"/>
              </p:cNvSpPr>
              <p:nvPr/>
            </p:nvSpPr>
            <p:spPr bwMode="auto">
              <a:xfrm>
                <a:off x="719" y="-2856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2" name="Rectangle 12"/>
              <p:cNvSpPr>
                <a:spLocks noChangeArrowheads="1"/>
              </p:cNvSpPr>
              <p:nvPr/>
            </p:nvSpPr>
            <p:spPr bwMode="auto">
              <a:xfrm>
                <a:off x="0" y="-2856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3" name="Rectangle 13"/>
              <p:cNvSpPr>
                <a:spLocks noChangeArrowheads="1"/>
              </p:cNvSpPr>
              <p:nvPr/>
            </p:nvSpPr>
            <p:spPr bwMode="auto">
              <a:xfrm>
                <a:off x="1081" y="-2856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4" name="Rectangle 14"/>
              <p:cNvSpPr>
                <a:spLocks noChangeArrowheads="1"/>
              </p:cNvSpPr>
              <p:nvPr/>
            </p:nvSpPr>
            <p:spPr bwMode="auto">
              <a:xfrm>
                <a:off x="361" y="-2463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5" name="Rectangle 15"/>
              <p:cNvSpPr>
                <a:spLocks noChangeArrowheads="1"/>
              </p:cNvSpPr>
              <p:nvPr/>
            </p:nvSpPr>
            <p:spPr bwMode="auto">
              <a:xfrm>
                <a:off x="719" y="-2463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</p:grpSp>
      </p:grpSp>
      <p:sp>
        <p:nvSpPr>
          <p:cNvPr id="179216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b="1"/>
            </a:lvl1pPr>
          </a:lstStyle>
          <a:p>
            <a:endParaRPr lang="en-US" altLang="zh-CN" dirty="0"/>
          </a:p>
        </p:txBody>
      </p:sp>
      <p:sp>
        <p:nvSpPr>
          <p:cNvPr id="179217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b="1"/>
            </a:lvl1pPr>
          </a:lstStyle>
          <a:p>
            <a:endParaRPr lang="en-US" altLang="zh-CN"/>
          </a:p>
        </p:txBody>
      </p:sp>
      <p:sp>
        <p:nvSpPr>
          <p:cNvPr id="179218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B09BECF-C9FD-4C70-A3D0-0FB309BB432E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92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50825" y="1828800"/>
            <a:ext cx="8740775" cy="2209800"/>
          </a:xfrm>
        </p:spPr>
        <p:txBody>
          <a:bodyPr/>
          <a:lstStyle>
            <a:lvl1pPr algn="r">
              <a:defRPr sz="40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792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67200"/>
            <a:ext cx="8740775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4000" b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79228" name="Rectangle 28"/>
          <p:cNvSpPr>
            <a:spLocks noChangeArrowheads="1"/>
          </p:cNvSpPr>
          <p:nvPr userDrawn="1"/>
        </p:nvSpPr>
        <p:spPr bwMode="auto">
          <a:xfrm>
            <a:off x="0" y="2590800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356172" y="5737225"/>
            <a:ext cx="8635428" cy="860426"/>
            <a:chOff x="356172" y="5737225"/>
            <a:chExt cx="8635428" cy="860426"/>
          </a:xfrm>
        </p:grpSpPr>
        <p:cxnSp>
          <p:nvCxnSpPr>
            <p:cNvPr id="26" name="直接连接符 25"/>
            <p:cNvCxnSpPr/>
            <p:nvPr userDrawn="1"/>
          </p:nvCxnSpPr>
          <p:spPr bwMode="auto">
            <a:xfrm flipH="1">
              <a:off x="356172" y="6597440"/>
              <a:ext cx="151221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D5D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7" name="组合 26"/>
            <p:cNvGrpSpPr/>
            <p:nvPr userDrawn="1"/>
          </p:nvGrpSpPr>
          <p:grpSpPr>
            <a:xfrm>
              <a:off x="2616916" y="5912643"/>
              <a:ext cx="157163" cy="39688"/>
              <a:chOff x="6834188" y="5932488"/>
              <a:chExt cx="157163" cy="39688"/>
            </a:xfrm>
          </p:grpSpPr>
          <p:sp>
            <p:nvSpPr>
              <p:cNvPr id="53" name="Line 5"/>
              <p:cNvSpPr>
                <a:spLocks noChangeShapeType="1"/>
              </p:cNvSpPr>
              <p:nvPr userDrawn="1"/>
            </p:nvSpPr>
            <p:spPr bwMode="auto">
              <a:xfrm flipV="1">
                <a:off x="6897688" y="59324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4" name="Line 15"/>
              <p:cNvSpPr>
                <a:spLocks noChangeShapeType="1"/>
              </p:cNvSpPr>
              <p:nvPr userDrawn="1"/>
            </p:nvSpPr>
            <p:spPr bwMode="auto">
              <a:xfrm flipV="1">
                <a:off x="6834188" y="59324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5" name="Line 16"/>
              <p:cNvSpPr>
                <a:spLocks noChangeShapeType="1"/>
              </p:cNvSpPr>
              <p:nvPr userDrawn="1"/>
            </p:nvSpPr>
            <p:spPr bwMode="auto">
              <a:xfrm flipH="1" flipV="1">
                <a:off x="6865938" y="59324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6" name="Line 17"/>
              <p:cNvSpPr>
                <a:spLocks noChangeShapeType="1"/>
              </p:cNvSpPr>
              <p:nvPr userDrawn="1"/>
            </p:nvSpPr>
            <p:spPr bwMode="auto">
              <a:xfrm flipH="1" flipV="1">
                <a:off x="6943726" y="59324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8" name="组合 27"/>
            <p:cNvGrpSpPr/>
            <p:nvPr userDrawn="1"/>
          </p:nvGrpSpPr>
          <p:grpSpPr>
            <a:xfrm>
              <a:off x="2288304" y="6115843"/>
              <a:ext cx="157162" cy="39688"/>
              <a:chOff x="6505576" y="6135688"/>
              <a:chExt cx="157162" cy="39688"/>
            </a:xfrm>
          </p:grpSpPr>
          <p:sp>
            <p:nvSpPr>
              <p:cNvPr id="49" name="Line 6"/>
              <p:cNvSpPr>
                <a:spLocks noChangeShapeType="1"/>
              </p:cNvSpPr>
              <p:nvPr userDrawn="1"/>
            </p:nvSpPr>
            <p:spPr bwMode="auto">
              <a:xfrm flipV="1">
                <a:off x="6505576" y="61356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0" name="Line 7"/>
              <p:cNvSpPr>
                <a:spLocks noChangeShapeType="1"/>
              </p:cNvSpPr>
              <p:nvPr userDrawn="1"/>
            </p:nvSpPr>
            <p:spPr bwMode="auto">
              <a:xfrm flipH="1" flipV="1">
                <a:off x="6537326" y="61356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1" name="Line 18"/>
              <p:cNvSpPr>
                <a:spLocks noChangeShapeType="1"/>
              </p:cNvSpPr>
              <p:nvPr userDrawn="1"/>
            </p:nvSpPr>
            <p:spPr bwMode="auto">
              <a:xfrm flipH="1" flipV="1">
                <a:off x="6615113" y="61356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2" name="Line 19"/>
              <p:cNvSpPr>
                <a:spLocks noChangeShapeType="1"/>
              </p:cNvSpPr>
              <p:nvPr userDrawn="1"/>
            </p:nvSpPr>
            <p:spPr bwMode="auto">
              <a:xfrm flipV="1">
                <a:off x="6569076" y="61356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29" name="Line 25"/>
            <p:cNvSpPr>
              <a:spLocks noChangeShapeType="1"/>
            </p:cNvSpPr>
            <p:nvPr userDrawn="1"/>
          </p:nvSpPr>
          <p:spPr bwMode="auto">
            <a:xfrm>
              <a:off x="2023985" y="6597650"/>
              <a:ext cx="6967615" cy="0"/>
            </a:xfrm>
            <a:prstGeom prst="line">
              <a:avLst/>
            </a:prstGeom>
            <a:noFill/>
            <a:ln w="19050">
              <a:solidFill>
                <a:srgbClr val="5D5D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grpSp>
          <p:nvGrpSpPr>
            <p:cNvPr id="30" name="组合 29"/>
            <p:cNvGrpSpPr/>
            <p:nvPr userDrawn="1"/>
          </p:nvGrpSpPr>
          <p:grpSpPr>
            <a:xfrm>
              <a:off x="1819198" y="5737225"/>
              <a:ext cx="204788" cy="860426"/>
              <a:chOff x="7115176" y="5737225"/>
              <a:chExt cx="204788" cy="860426"/>
            </a:xfrm>
          </p:grpSpPr>
          <p:sp>
            <p:nvSpPr>
              <p:cNvPr id="36" name="Line 8"/>
              <p:cNvSpPr>
                <a:spLocks noChangeShapeType="1"/>
              </p:cNvSpPr>
              <p:nvPr userDrawn="1"/>
            </p:nvSpPr>
            <p:spPr bwMode="auto">
              <a:xfrm flipV="1">
                <a:off x="7210426" y="5894388"/>
                <a:ext cx="0" cy="15557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7" name="Line 9"/>
              <p:cNvSpPr>
                <a:spLocks noChangeShapeType="1"/>
              </p:cNvSpPr>
              <p:nvPr userDrawn="1"/>
            </p:nvSpPr>
            <p:spPr bwMode="auto">
              <a:xfrm flipV="1">
                <a:off x="7162801" y="6049963"/>
                <a:ext cx="0" cy="133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8" name="Line 10"/>
              <p:cNvSpPr>
                <a:spLocks noChangeShapeType="1"/>
              </p:cNvSpPr>
              <p:nvPr userDrawn="1"/>
            </p:nvSpPr>
            <p:spPr bwMode="auto">
              <a:xfrm flipV="1">
                <a:off x="7256463" y="5894388"/>
                <a:ext cx="0" cy="619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9" name="Line 11"/>
              <p:cNvSpPr>
                <a:spLocks noChangeShapeType="1"/>
              </p:cNvSpPr>
              <p:nvPr userDrawn="1"/>
            </p:nvSpPr>
            <p:spPr bwMode="auto">
              <a:xfrm flipV="1">
                <a:off x="7162801" y="6284913"/>
                <a:ext cx="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0" name="Line 12"/>
              <p:cNvSpPr>
                <a:spLocks noChangeShapeType="1"/>
              </p:cNvSpPr>
              <p:nvPr userDrawn="1"/>
            </p:nvSpPr>
            <p:spPr bwMode="auto">
              <a:xfrm flipV="1">
                <a:off x="7319963" y="5956300"/>
                <a:ext cx="0" cy="641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1" name="Line 13"/>
              <p:cNvSpPr>
                <a:spLocks noChangeShapeType="1"/>
              </p:cNvSpPr>
              <p:nvPr userDrawn="1"/>
            </p:nvSpPr>
            <p:spPr bwMode="auto">
              <a:xfrm>
                <a:off x="7115176" y="62849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2" name="Line 14"/>
              <p:cNvSpPr>
                <a:spLocks noChangeShapeType="1"/>
              </p:cNvSpPr>
              <p:nvPr userDrawn="1"/>
            </p:nvSpPr>
            <p:spPr bwMode="auto">
              <a:xfrm>
                <a:off x="7115176" y="61833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3" name="Line 20"/>
              <p:cNvSpPr>
                <a:spLocks noChangeShapeType="1"/>
              </p:cNvSpPr>
              <p:nvPr userDrawn="1"/>
            </p:nvSpPr>
            <p:spPr bwMode="auto">
              <a:xfrm>
                <a:off x="7210426" y="5894388"/>
                <a:ext cx="460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4" name="Line 21"/>
              <p:cNvSpPr>
                <a:spLocks noChangeShapeType="1"/>
              </p:cNvSpPr>
              <p:nvPr userDrawn="1"/>
            </p:nvSpPr>
            <p:spPr bwMode="auto">
              <a:xfrm flipV="1">
                <a:off x="7115176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5" name="Line 22"/>
              <p:cNvSpPr>
                <a:spLocks noChangeShapeType="1"/>
              </p:cNvSpPr>
              <p:nvPr userDrawn="1"/>
            </p:nvSpPr>
            <p:spPr bwMode="auto">
              <a:xfrm flipV="1">
                <a:off x="7232651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6" name="Line 23"/>
              <p:cNvSpPr>
                <a:spLocks noChangeShapeType="1"/>
              </p:cNvSpPr>
              <p:nvPr userDrawn="1"/>
            </p:nvSpPr>
            <p:spPr bwMode="auto">
              <a:xfrm flipV="1">
                <a:off x="7232651" y="5737225"/>
                <a:ext cx="0" cy="15716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7" name="Line 26"/>
              <p:cNvSpPr>
                <a:spLocks noChangeShapeType="1"/>
              </p:cNvSpPr>
              <p:nvPr userDrawn="1"/>
            </p:nvSpPr>
            <p:spPr bwMode="auto">
              <a:xfrm>
                <a:off x="7162801" y="6049963"/>
                <a:ext cx="157163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8" name="Line 27"/>
              <p:cNvSpPr>
                <a:spLocks noChangeShapeType="1"/>
              </p:cNvSpPr>
              <p:nvPr userDrawn="1"/>
            </p:nvSpPr>
            <p:spPr bwMode="auto">
              <a:xfrm>
                <a:off x="7210426" y="5956300"/>
                <a:ext cx="1095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31" name="组合 30"/>
            <p:cNvGrpSpPr/>
            <p:nvPr userDrawn="1"/>
          </p:nvGrpSpPr>
          <p:grpSpPr>
            <a:xfrm>
              <a:off x="356172" y="6165380"/>
              <a:ext cx="1132962" cy="312738"/>
              <a:chOff x="356172" y="6165380"/>
              <a:chExt cx="1132962" cy="312738"/>
            </a:xfrm>
          </p:grpSpPr>
          <p:sp>
            <p:nvSpPr>
              <p:cNvPr id="32" name="Line 24"/>
              <p:cNvSpPr>
                <a:spLocks noChangeShapeType="1"/>
              </p:cNvSpPr>
              <p:nvPr userDrawn="1"/>
            </p:nvSpPr>
            <p:spPr bwMode="auto">
              <a:xfrm>
                <a:off x="622872" y="6165380"/>
                <a:ext cx="430213" cy="3048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3" name="Line 28"/>
              <p:cNvSpPr>
                <a:spLocks noChangeShapeType="1"/>
              </p:cNvSpPr>
              <p:nvPr userDrawn="1"/>
            </p:nvSpPr>
            <p:spPr bwMode="auto">
              <a:xfrm flipV="1">
                <a:off x="356172" y="6165380"/>
                <a:ext cx="26670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4" name="Line 29"/>
              <p:cNvSpPr>
                <a:spLocks noChangeShapeType="1"/>
              </p:cNvSpPr>
              <p:nvPr userDrawn="1"/>
            </p:nvSpPr>
            <p:spPr bwMode="auto">
              <a:xfrm flipV="1">
                <a:off x="924497" y="6181255"/>
                <a:ext cx="166688" cy="1968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5" name="Line 24"/>
              <p:cNvSpPr>
                <a:spLocks noChangeShapeType="1"/>
              </p:cNvSpPr>
              <p:nvPr userDrawn="1"/>
            </p:nvSpPr>
            <p:spPr bwMode="auto">
              <a:xfrm>
                <a:off x="1081328" y="6181255"/>
                <a:ext cx="407806" cy="28892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</p:grpSp>
      <p:pic>
        <p:nvPicPr>
          <p:cNvPr id="57" name="图片 56">
            <a:extLst>
              <a:ext uri="{FF2B5EF4-FFF2-40B4-BE49-F238E27FC236}">
                <a16:creationId xmlns:a16="http://schemas.microsoft.com/office/drawing/2014/main" id="{FAD17195-DA15-4A7A-A327-D5290AFE4E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rgbClr val="CACAFF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9712" y="309480"/>
            <a:ext cx="4571429" cy="128571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8" name="Text Box 22">
            <a:extLst>
              <a:ext uri="{FF2B5EF4-FFF2-40B4-BE49-F238E27FC236}">
                <a16:creationId xmlns:a16="http://schemas.microsoft.com/office/drawing/2014/main" id="{34B0720A-069B-4F9B-B3A2-332E5AD0AB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00874" y="637309"/>
            <a:ext cx="4392609" cy="90338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黑体"/>
                <a:ea typeface="黑体"/>
              </a:rPr>
              <a:t>计算机科学与技术学院</a:t>
            </a:r>
            <a:endParaRPr lang="en-US" altLang="zh-CN" sz="2800" dirty="0">
              <a:solidFill>
                <a:srgbClr val="000000"/>
              </a:solidFill>
              <a:latin typeface="黑体"/>
              <a:ea typeface="黑体"/>
            </a:endParaRPr>
          </a:p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黑体"/>
                <a:cs typeface="Arial" panose="020B0604020202020204" pitchFamily="34" charset="0"/>
              </a:rPr>
              <a:t>School of Computer Science and Technology</a:t>
            </a:r>
            <a:endParaRPr lang="zh-CN" altLang="en-US" sz="1400" dirty="0">
              <a:solidFill>
                <a:srgbClr val="000000"/>
              </a:solidFill>
              <a:latin typeface="Arial" panose="020B0604020202020204" pitchFamily="34" charset="0"/>
              <a:ea typeface="黑体"/>
              <a:cs typeface="Arial" panose="020B0604020202020204" pitchFamily="34" charset="0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D7E219D4-61F8-4506-BF44-A79D3D40F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58" y="89034"/>
            <a:ext cx="1677745" cy="1686468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FABBC47D-C599-4FC2-B595-7BC75185BE6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3936" y="620610"/>
            <a:ext cx="2914088" cy="865415"/>
          </a:xfrm>
          <a:prstGeom prst="rect">
            <a:avLst/>
          </a:prstGeom>
        </p:spPr>
      </p:pic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4970DE1B-3207-4E87-BE16-95E883A34AC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92990" y="1536228"/>
            <a:ext cx="3799490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352B2347-6D5E-4321-8F5B-C0EA3F1205C9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873936" y="1536228"/>
            <a:ext cx="2914072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Rectangle 16">
            <a:extLst>
              <a:ext uri="{FF2B5EF4-FFF2-40B4-BE49-F238E27FC236}">
                <a16:creationId xmlns:a16="http://schemas.microsoft.com/office/drawing/2014/main" id="{71707090-7E2E-4C31-AE75-AF65332BE68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1400" y="5229250"/>
            <a:ext cx="2921965" cy="705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+mj-lt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D8CD90-EB6C-4EF8-843B-BC01DDFAB9E6}" type="datetime3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2021年7月23日星期五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39F639-8FB6-4CFA-9289-F7A8A19716DA}" type="datetime10"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宋体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18:43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8ADDFEA-6932-4013-9B0E-E9F9C48327E4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4875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FD54BB1-9CF8-4DA5-AC41-D2AEBBCC926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8E9F1B-FF9F-4B3E-AF81-D74A3E24AAAE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550" y="44450"/>
            <a:ext cx="8229600" cy="523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765175"/>
            <a:ext cx="8362950" cy="54721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B582772-0FC3-4ED4-BDC0-365498DBF6DD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195" name="Group 19"/>
          <p:cNvGrpSpPr>
            <a:grpSpLocks/>
          </p:cNvGrpSpPr>
          <p:nvPr userDrawn="1"/>
        </p:nvGrpSpPr>
        <p:grpSpPr bwMode="auto">
          <a:xfrm>
            <a:off x="0" y="0"/>
            <a:ext cx="9144000" cy="566738"/>
            <a:chOff x="0" y="0"/>
            <a:chExt cx="5760" cy="357"/>
          </a:xfrm>
        </p:grpSpPr>
        <p:sp>
          <p:nvSpPr>
            <p:cNvPr id="178181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180" cy="34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2" name="Rectangle 6"/>
            <p:cNvSpPr>
              <a:spLocks noChangeArrowheads="1"/>
            </p:cNvSpPr>
            <p:nvPr userDrawn="1"/>
          </p:nvSpPr>
          <p:spPr bwMode="auto">
            <a:xfrm>
              <a:off x="238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3" name="Rectangle 7"/>
            <p:cNvSpPr>
              <a:spLocks noChangeArrowheads="1"/>
            </p:cNvSpPr>
            <p:nvPr userDrawn="1"/>
          </p:nvSpPr>
          <p:spPr bwMode="auto">
            <a:xfrm>
              <a:off x="236" y="85"/>
              <a:ext cx="87" cy="89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 userDrawn="1"/>
          </p:nvSpPr>
          <p:spPr bwMode="auto">
            <a:xfrm>
              <a:off x="323" y="0"/>
              <a:ext cx="88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 userDrawn="1"/>
          </p:nvSpPr>
          <p:spPr bwMode="auto">
            <a:xfrm>
              <a:off x="323" y="85"/>
              <a:ext cx="88" cy="89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 userDrawn="1"/>
          </p:nvSpPr>
          <p:spPr bwMode="auto">
            <a:xfrm>
              <a:off x="151" y="173"/>
              <a:ext cx="86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 userDrawn="1"/>
          </p:nvSpPr>
          <p:spPr bwMode="auto">
            <a:xfrm>
              <a:off x="61" y="86"/>
              <a:ext cx="89" cy="87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8" name="Rectangle 12"/>
            <p:cNvSpPr>
              <a:spLocks noChangeArrowheads="1"/>
            </p:cNvSpPr>
            <p:nvPr userDrawn="1"/>
          </p:nvSpPr>
          <p:spPr bwMode="auto">
            <a:xfrm>
              <a:off x="236" y="171"/>
              <a:ext cx="87" cy="87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 userDrawn="1"/>
          </p:nvSpPr>
          <p:spPr bwMode="auto">
            <a:xfrm>
              <a:off x="151" y="258"/>
              <a:ext cx="86" cy="86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 userDrawn="1"/>
          </p:nvSpPr>
          <p:spPr bwMode="auto">
            <a:xfrm>
              <a:off x="0" y="328"/>
              <a:ext cx="5760" cy="29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36792"/>
            <a:ext cx="2895600" cy="368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1">
                <a:latin typeface="+mj-lt"/>
              </a:defRPr>
            </a:lvl1pPr>
          </a:lstStyle>
          <a:p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36792"/>
            <a:ext cx="2133600" cy="368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 Black" pitchFamily="34" charset="0"/>
              </a:defRPr>
            </a:lvl1pPr>
          </a:lstStyle>
          <a:p>
            <a:fld id="{173ADE3B-F9E4-42A2-BC4B-30E8A6E9B91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819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81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5175"/>
            <a:ext cx="8362950" cy="5570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37299"/>
            <a:ext cx="21336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1">
                <a:latin typeface="+mj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  <p:sldLayoutId id="2147483659" r:id="rId4"/>
    <p:sldLayoutId id="2147483660" r:id="rId5"/>
    <p:sldLayoutId id="2147483665" r:id="rId6"/>
  </p:sldLayoutIdLst>
  <p:transition spd="med"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itchFamily="34" charset="0"/>
          <a:ea typeface="黑体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itchFamily="34" charset="0"/>
          <a:ea typeface="黑体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itchFamily="34" charset="0"/>
          <a:ea typeface="黑体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itchFamily="34" charset="0"/>
          <a:ea typeface="黑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itchFamily="34" charset="0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itchFamily="34" charset="0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itchFamily="34" charset="0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itchFamily="34" charset="0"/>
          <a:ea typeface="黑体" pitchFamily="49" charset="-122"/>
        </a:defRPr>
      </a:lvl9pPr>
    </p:titleStyle>
    <p:bodyStyle>
      <a:lvl1pPr marL="355600" indent="-3556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63538" algn="l" rtl="0" fontAlgn="base">
        <a:spcBef>
          <a:spcPct val="20000"/>
        </a:spcBef>
        <a:spcAft>
          <a:spcPct val="0"/>
        </a:spcAft>
        <a:buClr>
          <a:srgbClr val="006600"/>
        </a:buClr>
        <a:buSzPct val="75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074738" indent="-355600" algn="l" rtl="0" fontAlgn="base">
        <a:spcBef>
          <a:spcPct val="20000"/>
        </a:spcBef>
        <a:spcAft>
          <a:spcPct val="0"/>
        </a:spcAft>
        <a:buClr>
          <a:srgbClr val="FF6600"/>
        </a:buClr>
        <a:buSzPct val="65000"/>
        <a:buFont typeface="Wingdings" pitchFamily="2" charset="2"/>
        <a:buChar char="p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439863" indent="-365125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Wingdings" pitchFamily="2" charset="2"/>
        <a:buChar char="u"/>
        <a:defRPr sz="2400" b="1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1701800" indent="-261938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" panose="02010609060101010101" pitchFamily="49" charset="-122"/>
        </a:defRPr>
      </a:lvl5pPr>
      <a:lvl6pPr marL="27876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6pPr>
      <a:lvl7pPr marL="32448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7pPr>
      <a:lvl8pPr marL="37020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8pPr>
      <a:lvl9pPr marL="41592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slide" Target="slide55.xml"/><Relationship Id="rId4" Type="http://schemas.openxmlformats.org/officeDocument/2006/relationships/image" Target="../media/image5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slide" Target="slide4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oleObject" Target="../embeddings/oleObject4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oleObject" Target="../embeddings/oleObject5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slide" Target="slide7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slide" Target="slide70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customXml" Target="../ink/ink5.xml"/><Relationship Id="rId18" Type="http://schemas.openxmlformats.org/officeDocument/2006/relationships/image" Target="../media/image26.png"/><Relationship Id="rId3" Type="http://schemas.openxmlformats.org/officeDocument/2006/relationships/image" Target="../media/image28.png"/><Relationship Id="rId7" Type="http://schemas.openxmlformats.org/officeDocument/2006/relationships/customXml" Target="../ink/ink2.xml"/><Relationship Id="rId12" Type="http://schemas.openxmlformats.org/officeDocument/2006/relationships/image" Target="../media/image34.png"/><Relationship Id="rId17" Type="http://schemas.openxmlformats.org/officeDocument/2006/relationships/slide" Target="slide65.xml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customXml" Target="../ink/ink3.xml"/><Relationship Id="rId1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41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pitchFamily="34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pitchFamily="34" charset="0"/>
                <a:ea typeface="黑体" pitchFamily="49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pitchFamily="34" charset="0"/>
                <a:ea typeface="黑体" pitchFamily="49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pitchFamily="34" charset="0"/>
              <a:ea typeface="黑体" pitchFamily="49" charset="-122"/>
            </a:endParaRPr>
          </a:p>
          <a:p>
            <a:pPr>
              <a:spcBef>
                <a:spcPct val="0"/>
              </a:spcBef>
              <a:buClrTx/>
              <a:buFont typeface="Arial" pitchFamily="34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4</a:t>
            </a: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章  存储系统</a:t>
            </a:r>
            <a:endParaRPr lang="zh-CN" altLang="en-US" sz="4000" b="0" dirty="0">
              <a:solidFill>
                <a:srgbClr val="CCFF66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596419" name="Rectangle 3"/>
          <p:cNvSpPr>
            <a:spLocks noChangeArrowheads="1"/>
          </p:cNvSpPr>
          <p:nvPr/>
        </p:nvSpPr>
        <p:spPr bwMode="auto">
          <a:xfrm>
            <a:off x="1979613" y="4651375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000" b="0" dirty="0">
                <a:ea typeface="楷体" panose="02010609060101010101" pitchFamily="49" charset="-122"/>
              </a:rPr>
              <a:t>4.4  </a:t>
            </a:r>
            <a:r>
              <a:rPr lang="zh-CN" altLang="en-US" sz="4000" b="0" dirty="0">
                <a:ea typeface="楷体" panose="02010609060101010101" pitchFamily="49" charset="-122"/>
              </a:rPr>
              <a:t>虚拟存储器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DE187D-87A6-489B-9B53-7360788F6966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164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692696"/>
            <a:ext cx="8353300" cy="583264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Arial" pitchFamily="34" charset="0"/>
                <a:ea typeface="黑体" pitchFamily="49" charset="-122"/>
              </a:rPr>
              <a:t>4.4.1 </a:t>
            </a:r>
            <a:r>
              <a:rPr lang="zh-CN" altLang="en-US" dirty="0">
                <a:solidFill>
                  <a:srgbClr val="008000"/>
                </a:solidFill>
                <a:latin typeface="Arial" pitchFamily="34" charset="0"/>
                <a:ea typeface="黑体" pitchFamily="49" charset="-122"/>
              </a:rPr>
              <a:t>虚拟存储器</a:t>
            </a:r>
            <a:r>
              <a:rPr lang="zh-CN" altLang="en-US" dirty="0">
                <a:solidFill>
                  <a:srgbClr val="0000FF"/>
                </a:solidFill>
                <a:latin typeface="Arial" pitchFamily="34" charset="0"/>
                <a:ea typeface="黑体" pitchFamily="49" charset="-122"/>
              </a:rPr>
              <a:t>管理</a:t>
            </a:r>
            <a:endParaRPr lang="en-US" altLang="zh-CN" dirty="0">
              <a:solidFill>
                <a:srgbClr val="0000FF"/>
              </a:solidFill>
              <a:latin typeface="Arial" pitchFamily="34" charset="0"/>
              <a:ea typeface="黑体" pitchFamily="49" charset="-122"/>
            </a:endParaRPr>
          </a:p>
          <a:p>
            <a:pPr>
              <a:buNone/>
            </a:pPr>
            <a:r>
              <a:rPr lang="en-US" altLang="zh-CN" dirty="0">
                <a:latin typeface="Arial" pitchFamily="34" charset="0"/>
                <a:ea typeface="黑体" pitchFamily="49" charset="-122"/>
              </a:rPr>
              <a:t>	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一、基本</a:t>
            </a:r>
            <a:r>
              <a:rPr lang="zh-CN" altLang="en-US" dirty="0">
                <a:solidFill>
                  <a:srgbClr val="9933FF"/>
                </a:solidFill>
                <a:latin typeface="Arial" pitchFamily="34" charset="0"/>
                <a:ea typeface="黑体" pitchFamily="49" charset="-122"/>
              </a:rPr>
              <a:t>概念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Arial" pitchFamily="34" charset="0"/>
                <a:ea typeface="黑体" pitchFamily="49" charset="-122"/>
              </a:rPr>
              <a:t>	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二、</a:t>
            </a:r>
            <a:r>
              <a:rPr lang="zh-CN" altLang="en-US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段式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虚拟存储器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Arial" pitchFamily="34" charset="0"/>
                <a:ea typeface="黑体" pitchFamily="49" charset="-122"/>
              </a:rPr>
              <a:t>	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三、</a:t>
            </a:r>
            <a:r>
              <a:rPr lang="zh-CN" altLang="en-US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页式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虚拟存储器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Arial" pitchFamily="34" charset="0"/>
                <a:ea typeface="黑体" pitchFamily="49" charset="-122"/>
              </a:rPr>
              <a:t>	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四、</a:t>
            </a:r>
            <a:r>
              <a:rPr lang="zh-CN" altLang="en-US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段页式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虚拟存储器</a:t>
            </a:r>
          </a:p>
          <a:p>
            <a:pPr>
              <a:buNone/>
            </a:pPr>
            <a:r>
              <a:rPr lang="en-US" altLang="zh-CN" dirty="0">
                <a:latin typeface="Arial" pitchFamily="34" charset="0"/>
                <a:ea typeface="黑体" pitchFamily="49" charset="-122"/>
              </a:rPr>
              <a:t>	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五、解决虚拟存储器的问题：</a:t>
            </a:r>
            <a:r>
              <a:rPr lang="zh-CN" altLang="en-US" dirty="0">
                <a:solidFill>
                  <a:srgbClr val="CC0066"/>
                </a:solidFill>
                <a:latin typeface="Arial" pitchFamily="34" charset="0"/>
                <a:ea typeface="黑体" pitchFamily="49" charset="-122"/>
              </a:rPr>
              <a:t>多级页表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、</a:t>
            </a:r>
            <a:r>
              <a:rPr lang="zh-CN" altLang="en-US" dirty="0">
                <a:solidFill>
                  <a:srgbClr val="9933FF"/>
                </a:solidFill>
                <a:latin typeface="Arial" pitchFamily="34" charset="0"/>
                <a:ea typeface="黑体" pitchFamily="49" charset="-122"/>
              </a:rPr>
              <a:t>速度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Arial" pitchFamily="34" charset="0"/>
                <a:ea typeface="黑体" pitchFamily="49" charset="-122"/>
              </a:rPr>
              <a:t>	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六、</a:t>
            </a:r>
            <a:r>
              <a:rPr lang="zh-CN" altLang="en-US" dirty="0">
                <a:solidFill>
                  <a:srgbClr val="9933FF"/>
                </a:solidFill>
                <a:latin typeface="Arial" pitchFamily="34" charset="0"/>
                <a:ea typeface="黑体" pitchFamily="49" charset="-122"/>
              </a:rPr>
              <a:t>替换算法</a:t>
            </a:r>
          </a:p>
          <a:p>
            <a:pPr>
              <a:buNone/>
            </a:pPr>
            <a:r>
              <a:rPr lang="en-US" altLang="zh-CN" dirty="0">
                <a:latin typeface="Arial" pitchFamily="34" charset="0"/>
                <a:ea typeface="黑体" pitchFamily="49" charset="-122"/>
              </a:rPr>
              <a:t>4.4.2 </a:t>
            </a:r>
            <a:r>
              <a:rPr lang="zh-CN" altLang="en-US" dirty="0">
                <a:solidFill>
                  <a:srgbClr val="006600"/>
                </a:solidFill>
                <a:latin typeface="Arial" pitchFamily="34" charset="0"/>
                <a:ea typeface="黑体" pitchFamily="49" charset="-122"/>
              </a:rPr>
              <a:t>虚拟存储器</a:t>
            </a:r>
            <a:r>
              <a:rPr lang="zh-CN" altLang="en-US" dirty="0">
                <a:solidFill>
                  <a:srgbClr val="0000FF"/>
                </a:solidFill>
                <a:latin typeface="Arial" pitchFamily="34" charset="0"/>
                <a:ea typeface="黑体" pitchFamily="49" charset="-122"/>
              </a:rPr>
              <a:t>实例</a:t>
            </a:r>
            <a:endParaRPr lang="en-US" altLang="zh-CN" dirty="0">
              <a:latin typeface="Arial" pitchFamily="34" charset="0"/>
              <a:ea typeface="黑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Arial" pitchFamily="34" charset="0"/>
                <a:ea typeface="黑体" pitchFamily="49" charset="-122"/>
              </a:rPr>
              <a:t>	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一、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RISC-V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页式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虚拟存储器</a:t>
            </a:r>
            <a:endParaRPr lang="en-US" altLang="zh-CN" dirty="0">
              <a:latin typeface="Arial" pitchFamily="34" charset="0"/>
              <a:ea typeface="黑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Arial" pitchFamily="34" charset="0"/>
                <a:ea typeface="黑体" pitchFamily="49" charset="-122"/>
              </a:rPr>
              <a:t>	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二、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IA-32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：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Pentium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段页式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虚拟存储管理</a:t>
            </a:r>
            <a:endParaRPr lang="en-US" altLang="zh-CN" dirty="0">
              <a:latin typeface="Arial" pitchFamily="34" charset="0"/>
              <a:ea typeface="黑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Arial" pitchFamily="34" charset="0"/>
                <a:ea typeface="黑体" pitchFamily="49" charset="-122"/>
              </a:rPr>
              <a:t>4.4.3 </a:t>
            </a:r>
            <a:r>
              <a:rPr lang="zh-CN" altLang="en-US" dirty="0">
                <a:solidFill>
                  <a:srgbClr val="D60093"/>
                </a:solidFill>
                <a:latin typeface="Arial" pitchFamily="34" charset="0"/>
                <a:ea typeface="黑体" pitchFamily="49" charset="-122"/>
              </a:rPr>
              <a:t>存储体系</a:t>
            </a:r>
            <a:r>
              <a:rPr lang="zh-CN" altLang="en-US" dirty="0">
                <a:solidFill>
                  <a:srgbClr val="0000FF"/>
                </a:solidFill>
                <a:latin typeface="Arial" pitchFamily="34" charset="0"/>
                <a:ea typeface="黑体" pitchFamily="49" charset="-122"/>
              </a:rPr>
              <a:t>实例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：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AMD Opteron</a:t>
            </a:r>
            <a:r>
              <a:rPr lang="en-US" altLang="zh-CN" dirty="0">
                <a:latin typeface="宋体" pitchFamily="2" charset="-122"/>
              </a:rPr>
              <a:t>(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皓龙</a:t>
            </a:r>
            <a:r>
              <a:rPr lang="en-US" altLang="zh-CN" dirty="0">
                <a:latin typeface="宋体" pitchFamily="2" charset="-122"/>
              </a:rPr>
              <a:t>)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处理器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933C801-4B4A-4754-A34F-0B16FDED8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  </a:t>
            </a:r>
            <a:r>
              <a:rPr lang="zh-CN" altLang="en-US" dirty="0"/>
              <a:t>虚拟存储器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41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pitchFamily="34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pitchFamily="34" charset="0"/>
                <a:ea typeface="黑体" pitchFamily="49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pitchFamily="34" charset="0"/>
                <a:ea typeface="黑体" pitchFamily="49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pitchFamily="34" charset="0"/>
              <a:ea typeface="黑体" pitchFamily="49" charset="-122"/>
            </a:endParaRPr>
          </a:p>
          <a:p>
            <a:pPr>
              <a:spcBef>
                <a:spcPct val="0"/>
              </a:spcBef>
              <a:buClrTx/>
              <a:buFont typeface="Arial" pitchFamily="34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4</a:t>
            </a: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章  存储系统</a:t>
            </a:r>
            <a:endParaRPr lang="zh-CN" altLang="en-US" sz="4000" b="0" dirty="0">
              <a:solidFill>
                <a:srgbClr val="CCFF66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596419" name="Rectangle 3"/>
          <p:cNvSpPr>
            <a:spLocks noChangeArrowheads="1"/>
          </p:cNvSpPr>
          <p:nvPr/>
        </p:nvSpPr>
        <p:spPr bwMode="auto">
          <a:xfrm>
            <a:off x="1979613" y="4435450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000" b="0" dirty="0">
                <a:ea typeface="楷体" panose="02010609060101010101" pitchFamily="49" charset="-122"/>
              </a:rPr>
              <a:t>4.4  </a:t>
            </a:r>
            <a:r>
              <a:rPr lang="zh-CN" altLang="en-US" sz="4000" b="0" dirty="0">
                <a:ea typeface="楷体" panose="02010609060101010101" pitchFamily="49" charset="-122"/>
              </a:rPr>
              <a:t>虚拟存储器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7EFCB-3A51-4788-8281-2785FB8CA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5155530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600" b="0" dirty="0">
                <a:solidFill>
                  <a:srgbClr val="CC0066"/>
                </a:solidFill>
                <a:ea typeface="楷体" panose="02010609060101010101" pitchFamily="49" charset="-122"/>
              </a:rPr>
              <a:t>4.4.1  </a:t>
            </a:r>
            <a:r>
              <a:rPr lang="zh-CN" altLang="en-US" sz="3600" b="0" dirty="0">
                <a:solidFill>
                  <a:srgbClr val="CC0066"/>
                </a:solidFill>
                <a:ea typeface="楷体" panose="02010609060101010101" pitchFamily="49" charset="-122"/>
              </a:rPr>
              <a:t>虚拟存储器管理</a:t>
            </a:r>
          </a:p>
        </p:txBody>
      </p:sp>
    </p:spTree>
    <p:extLst>
      <p:ext uri="{BB962C8B-B14F-4D97-AF65-F5344CB8AC3E}">
        <p14:creationId xmlns:p14="http://schemas.microsoft.com/office/powerpoint/2010/main" val="54326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044E09-730E-487E-A06F-74BB0941AB9B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164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一、基本概念</a:t>
            </a:r>
          </a:p>
        </p:txBody>
      </p:sp>
      <p:sp>
        <p:nvSpPr>
          <p:cNvPr id="1644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765175"/>
            <a:ext cx="8686800" cy="5903913"/>
          </a:xfrm>
        </p:spPr>
        <p:txBody>
          <a:bodyPr/>
          <a:lstStyle/>
          <a:p>
            <a:r>
              <a:rPr lang="zh-CN" altLang="en-US" dirty="0"/>
              <a:t>起因：</a:t>
            </a:r>
          </a:p>
          <a:p>
            <a:pPr lvl="1"/>
            <a:r>
              <a:rPr lang="zh-CN" altLang="en-US" dirty="0"/>
              <a:t>高速的</a:t>
            </a:r>
            <a:r>
              <a:rPr lang="zh-CN" altLang="en-US" dirty="0">
                <a:solidFill>
                  <a:srgbClr val="FF0000"/>
                </a:solidFill>
              </a:rPr>
              <a:t>主存容量</a:t>
            </a:r>
            <a:r>
              <a:rPr lang="zh-CN" altLang="en-US" dirty="0"/>
              <a:t>满足不了要求</a:t>
            </a:r>
          </a:p>
          <a:p>
            <a:pPr lvl="1"/>
            <a:r>
              <a:rPr lang="zh-CN" altLang="en-US" dirty="0"/>
              <a:t>多道程序运行</a:t>
            </a:r>
            <a:r>
              <a:rPr lang="zh-CN" altLang="en-US" dirty="0">
                <a:latin typeface="+mn-ea"/>
              </a:rPr>
              <a:t>→</a:t>
            </a:r>
            <a:r>
              <a:rPr lang="zh-CN" altLang="en-US" dirty="0"/>
              <a:t>各程序独立编址</a:t>
            </a:r>
            <a:r>
              <a:rPr lang="zh-CN" altLang="en-US" dirty="0">
                <a:latin typeface="+mn-ea"/>
              </a:rPr>
              <a:t>→</a:t>
            </a:r>
            <a:r>
              <a:rPr lang="zh-CN" altLang="en-US" dirty="0">
                <a:solidFill>
                  <a:srgbClr val="FF0000"/>
                </a:solidFill>
              </a:rPr>
              <a:t>程序再定位</a:t>
            </a:r>
            <a:br>
              <a:rPr lang="zh-CN" altLang="en-US" dirty="0"/>
            </a:br>
            <a:r>
              <a:rPr lang="zh-CN" altLang="en-US" dirty="0">
                <a:latin typeface="宋体"/>
              </a:rPr>
              <a:t>“</a:t>
            </a:r>
            <a:r>
              <a:rPr lang="zh-CN" altLang="en-US" dirty="0"/>
              <a:t>逻辑地址</a:t>
            </a:r>
            <a:r>
              <a:rPr lang="zh-CN" altLang="en-US" dirty="0">
                <a:latin typeface="+mn-ea"/>
              </a:rPr>
              <a:t>→</a:t>
            </a:r>
            <a:r>
              <a:rPr lang="zh-CN" altLang="en-US" dirty="0"/>
              <a:t>实际地址</a:t>
            </a:r>
            <a:r>
              <a:rPr lang="zh-CN" altLang="en-US" dirty="0">
                <a:latin typeface="宋体"/>
              </a:rPr>
              <a:t>”</a:t>
            </a:r>
            <a:endParaRPr lang="zh-CN" altLang="en-US" dirty="0"/>
          </a:p>
          <a:p>
            <a:r>
              <a:rPr lang="zh-CN" altLang="en-US" dirty="0"/>
              <a:t>由英国曼彻斯特大学的</a:t>
            </a:r>
            <a:r>
              <a:rPr lang="en-US" altLang="zh-CN" dirty="0">
                <a:solidFill>
                  <a:srgbClr val="0000FF"/>
                </a:solidFill>
              </a:rPr>
              <a:t>Kilburn</a:t>
            </a:r>
            <a:r>
              <a:rPr lang="zh-CN" altLang="en-US" dirty="0"/>
              <a:t>等人于</a:t>
            </a:r>
            <a:r>
              <a:rPr lang="en-US" altLang="zh-CN" dirty="0">
                <a:solidFill>
                  <a:srgbClr val="0000FF"/>
                </a:solidFill>
              </a:rPr>
              <a:t>1961</a:t>
            </a:r>
            <a:r>
              <a:rPr lang="zh-CN" altLang="en-US" dirty="0"/>
              <a:t>年提出。</a:t>
            </a:r>
          </a:p>
          <a:p>
            <a:r>
              <a:rPr lang="zh-CN" altLang="en-US" dirty="0"/>
              <a:t>到</a:t>
            </a:r>
            <a:r>
              <a:rPr lang="en-US" altLang="zh-CN" dirty="0"/>
              <a:t>70</a:t>
            </a:r>
            <a:r>
              <a:rPr lang="zh-CN" altLang="en-US" dirty="0"/>
              <a:t>年代广泛应用于大中型计算机系统；</a:t>
            </a:r>
            <a:br>
              <a:rPr lang="zh-CN" altLang="en-US" dirty="0"/>
            </a:br>
            <a:r>
              <a:rPr lang="zh-CN" altLang="en-US" dirty="0"/>
              <a:t>目前，微型机也使用虚拟存储器。</a:t>
            </a:r>
          </a:p>
          <a:p>
            <a:r>
              <a:rPr lang="zh-CN" altLang="en-US" dirty="0"/>
              <a:t>虚拟存储器：</a:t>
            </a:r>
            <a:br>
              <a:rPr lang="zh-CN" altLang="en-US" dirty="0"/>
            </a:br>
            <a:r>
              <a:rPr lang="zh-CN" altLang="en-US" dirty="0">
                <a:solidFill>
                  <a:srgbClr val="FF3399"/>
                </a:solidFill>
                <a:ea typeface="黑体" pitchFamily="49" charset="-122"/>
              </a:rPr>
              <a:t>主存储器</a:t>
            </a:r>
            <a:r>
              <a:rPr lang="zh-CN" altLang="en-US" dirty="0"/>
              <a:t>＋</a:t>
            </a:r>
            <a:r>
              <a:rPr lang="zh-CN" altLang="en-US" dirty="0">
                <a:solidFill>
                  <a:srgbClr val="FF3399"/>
                </a:solidFill>
                <a:ea typeface="黑体" pitchFamily="49" charset="-122"/>
              </a:rPr>
              <a:t>联机工作的外部存储器</a:t>
            </a:r>
            <a:br>
              <a:rPr lang="zh-CN" altLang="en-US" dirty="0">
                <a:solidFill>
                  <a:srgbClr val="FF3399"/>
                </a:solidFill>
                <a:ea typeface="黑体" pitchFamily="49" charset="-122"/>
              </a:rPr>
            </a:br>
            <a:r>
              <a:rPr lang="zh-CN" altLang="en-US" dirty="0"/>
              <a:t>＋</a:t>
            </a:r>
            <a:r>
              <a:rPr lang="zh-CN" altLang="en-US" dirty="0">
                <a:solidFill>
                  <a:srgbClr val="FF3399"/>
                </a:solidFill>
                <a:ea typeface="黑体" pitchFamily="49" charset="-122"/>
              </a:rPr>
              <a:t>辅助硬件</a:t>
            </a:r>
            <a:r>
              <a:rPr lang="zh-CN" altLang="en-US" dirty="0"/>
              <a:t>＋</a:t>
            </a:r>
            <a:r>
              <a:rPr lang="zh-CN" altLang="en-US" dirty="0">
                <a:solidFill>
                  <a:srgbClr val="FF3399"/>
                </a:solidFill>
                <a:ea typeface="黑体" pitchFamily="49" charset="-122"/>
              </a:rPr>
              <a:t>系统软件</a:t>
            </a:r>
            <a:br>
              <a:rPr lang="zh-CN" altLang="en-US" dirty="0"/>
            </a:br>
            <a:r>
              <a:rPr lang="zh-CN" altLang="en-US" dirty="0"/>
              <a:t>对于程序员，可看作一个单一的存储器 </a:t>
            </a:r>
            <a:r>
              <a:rPr lang="en-US" altLang="zh-CN" dirty="0"/>
              <a:t>—— </a:t>
            </a:r>
            <a:r>
              <a:rPr lang="zh-CN" altLang="en-US" dirty="0"/>
              <a:t>速度、容量、每位价格</a:t>
            </a:r>
          </a:p>
        </p:txBody>
      </p:sp>
      <p:sp>
        <p:nvSpPr>
          <p:cNvPr id="1644548" name="Rectangle 4"/>
          <p:cNvSpPr>
            <a:spLocks noChangeArrowheads="1"/>
          </p:cNvSpPr>
          <p:nvPr/>
        </p:nvSpPr>
        <p:spPr bwMode="auto">
          <a:xfrm>
            <a:off x="5867400" y="620713"/>
            <a:ext cx="3024188" cy="485775"/>
          </a:xfrm>
          <a:prstGeom prst="rect">
            <a:avLst/>
          </a:prstGeom>
          <a:solidFill>
            <a:srgbClr val="FFFFCC"/>
          </a:solidFill>
          <a:ln w="28575" algn="ctr">
            <a:solidFill>
              <a:srgbClr val="FF660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r>
              <a:rPr lang="zh-CN" altLang="en-US" sz="2400"/>
              <a:t>主存寻址：</a:t>
            </a:r>
            <a:r>
              <a:rPr lang="en-US" altLang="zh-CN" sz="2400"/>
              <a:t>2</a:t>
            </a:r>
            <a:r>
              <a:rPr lang="en-US" altLang="zh-CN" sz="2400" baseline="30000"/>
              <a:t>32</a:t>
            </a:r>
            <a:r>
              <a:rPr lang="zh-CN" altLang="en-US" sz="2400"/>
              <a:t>＝</a:t>
            </a:r>
            <a:r>
              <a:rPr lang="en-US" altLang="zh-CN" sz="2400"/>
              <a:t>4GB</a:t>
            </a:r>
          </a:p>
        </p:txBody>
      </p:sp>
      <p:sp>
        <p:nvSpPr>
          <p:cNvPr id="1644549" name="Rectangle 5"/>
          <p:cNvSpPr>
            <a:spLocks noChangeArrowheads="1"/>
          </p:cNvSpPr>
          <p:nvPr/>
        </p:nvSpPr>
        <p:spPr bwMode="auto">
          <a:xfrm>
            <a:off x="6372225" y="1195388"/>
            <a:ext cx="2519363" cy="485775"/>
          </a:xfrm>
          <a:prstGeom prst="rect">
            <a:avLst/>
          </a:prstGeom>
          <a:solidFill>
            <a:srgbClr val="FFFFCC"/>
          </a:solidFill>
          <a:ln w="28575" algn="ctr">
            <a:solidFill>
              <a:srgbClr val="FF660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r>
              <a:rPr lang="zh-CN" altLang="en-US" sz="2400"/>
              <a:t>虚存：</a:t>
            </a:r>
            <a:r>
              <a:rPr lang="en-US" altLang="zh-CN" sz="2400"/>
              <a:t>2</a:t>
            </a:r>
            <a:r>
              <a:rPr lang="en-US" altLang="zh-CN" sz="2400" baseline="30000"/>
              <a:t>46</a:t>
            </a:r>
            <a:r>
              <a:rPr lang="zh-CN" altLang="en-US" sz="2400"/>
              <a:t>＝</a:t>
            </a:r>
            <a:r>
              <a:rPr lang="en-US" altLang="zh-CN" sz="2400"/>
              <a:t>64TB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B9DFAB-C3B4-41C4-98D2-5B1016C3D2B5}"/>
              </a:ext>
            </a:extLst>
          </p:cNvPr>
          <p:cNvSpPr/>
          <p:nvPr/>
        </p:nvSpPr>
        <p:spPr>
          <a:xfrm>
            <a:off x="7092280" y="159048"/>
            <a:ext cx="9380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IA-32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4548" grpId="0" animBg="1"/>
      <p:bldP spid="1644549" grpId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B8C1E3-2438-4007-B9A1-558D73C4C1E2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169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一、基本概念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94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4181475"/>
            <a:ext cx="8362950" cy="2449513"/>
          </a:xfrm>
        </p:spPr>
        <p:txBody>
          <a:bodyPr/>
          <a:lstStyle/>
          <a:p>
            <a:r>
              <a:rPr lang="zh-CN" altLang="en-US" dirty="0"/>
              <a:t>虚拟存储器：</a:t>
            </a:r>
            <a:br>
              <a:rPr lang="zh-CN" altLang="en-US" dirty="0"/>
            </a:br>
            <a:r>
              <a:rPr lang="zh-CN" altLang="en-US" dirty="0">
                <a:solidFill>
                  <a:srgbClr val="FF3399"/>
                </a:solidFill>
                <a:ea typeface="黑体" pitchFamily="49" charset="-122"/>
              </a:rPr>
              <a:t>主存储器</a:t>
            </a:r>
            <a:r>
              <a:rPr lang="zh-CN" altLang="en-US" dirty="0"/>
              <a:t>＋</a:t>
            </a:r>
            <a:r>
              <a:rPr lang="zh-CN" altLang="en-US" dirty="0">
                <a:solidFill>
                  <a:srgbClr val="FF3399"/>
                </a:solidFill>
                <a:ea typeface="黑体" pitchFamily="49" charset="-122"/>
              </a:rPr>
              <a:t>联机工作的外部存储器</a:t>
            </a:r>
            <a:br>
              <a:rPr lang="zh-CN" altLang="en-US" dirty="0">
                <a:solidFill>
                  <a:srgbClr val="FF3399"/>
                </a:solidFill>
                <a:ea typeface="黑体" pitchFamily="49" charset="-122"/>
              </a:rPr>
            </a:br>
            <a:r>
              <a:rPr lang="zh-CN" altLang="en-US" dirty="0"/>
              <a:t>＋</a:t>
            </a:r>
            <a:r>
              <a:rPr lang="zh-CN" altLang="en-US" dirty="0">
                <a:solidFill>
                  <a:srgbClr val="FF3399"/>
                </a:solidFill>
                <a:ea typeface="黑体" pitchFamily="49" charset="-122"/>
              </a:rPr>
              <a:t>辅助硬件</a:t>
            </a:r>
            <a:r>
              <a:rPr lang="zh-CN" altLang="en-US" dirty="0"/>
              <a:t>＋</a:t>
            </a:r>
            <a:r>
              <a:rPr lang="zh-CN" altLang="en-US" dirty="0">
                <a:solidFill>
                  <a:srgbClr val="FF3399"/>
                </a:solidFill>
                <a:ea typeface="黑体" pitchFamily="49" charset="-122"/>
              </a:rPr>
              <a:t>系统软件</a:t>
            </a:r>
            <a:br>
              <a:rPr lang="zh-CN" altLang="en-US" dirty="0"/>
            </a:br>
            <a:r>
              <a:rPr lang="zh-CN" altLang="en-US" dirty="0"/>
              <a:t>对于程序员，可看作一个单一的存储器 </a:t>
            </a:r>
            <a:br>
              <a:rPr lang="en-US" altLang="zh-CN" dirty="0"/>
            </a:br>
            <a:r>
              <a:rPr lang="en-US" altLang="zh-CN" dirty="0"/>
              <a:t>—— </a:t>
            </a:r>
            <a:r>
              <a:rPr lang="zh-CN" altLang="en-US" dirty="0"/>
              <a:t>速度、容量、每位价格</a:t>
            </a:r>
          </a:p>
        </p:txBody>
      </p:sp>
      <p:grpSp>
        <p:nvGrpSpPr>
          <p:cNvPr id="1694747" name="Group 27"/>
          <p:cNvGrpSpPr>
            <a:grpSpLocks/>
          </p:cNvGrpSpPr>
          <p:nvPr/>
        </p:nvGrpSpPr>
        <p:grpSpPr bwMode="auto">
          <a:xfrm>
            <a:off x="3276600" y="909638"/>
            <a:ext cx="5040313" cy="3095625"/>
            <a:chOff x="2064" y="573"/>
            <a:chExt cx="3175" cy="1950"/>
          </a:xfrm>
        </p:grpSpPr>
        <p:sp>
          <p:nvSpPr>
            <p:cNvPr id="1694726" name="AutoShape 6"/>
            <p:cNvSpPr>
              <a:spLocks noChangeArrowheads="1"/>
            </p:cNvSpPr>
            <p:nvPr/>
          </p:nvSpPr>
          <p:spPr bwMode="auto">
            <a:xfrm>
              <a:off x="2109" y="1934"/>
              <a:ext cx="907" cy="589"/>
            </a:xfrm>
            <a:prstGeom prst="flowChartMagneticDisk">
              <a:avLst/>
            </a:prstGeom>
            <a:solidFill>
              <a:srgbClr val="FFCC99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zh-CN" altLang="en-US" sz="2400"/>
                <a:t>外</a:t>
              </a:r>
              <a:r>
                <a:rPr lang="en-US" altLang="zh-CN" sz="2400">
                  <a:latin typeface="宋体" pitchFamily="2" charset="-122"/>
                </a:rPr>
                <a:t>(</a:t>
              </a:r>
              <a:r>
                <a:rPr lang="zh-CN" altLang="en-US" sz="2400"/>
                <a:t>辅</a:t>
              </a:r>
              <a:r>
                <a:rPr lang="en-US" altLang="zh-CN" sz="2400">
                  <a:latin typeface="宋体" pitchFamily="2" charset="-122"/>
                </a:rPr>
                <a:t>)</a:t>
              </a:r>
              <a:r>
                <a:rPr lang="zh-CN" altLang="en-US" sz="2400"/>
                <a:t>存</a:t>
              </a:r>
            </a:p>
          </p:txBody>
        </p:sp>
        <p:sp>
          <p:nvSpPr>
            <p:cNvPr id="1694727" name="Rectangle 7"/>
            <p:cNvSpPr>
              <a:spLocks noChangeArrowheads="1"/>
            </p:cNvSpPr>
            <p:nvPr/>
          </p:nvSpPr>
          <p:spPr bwMode="auto">
            <a:xfrm>
              <a:off x="2064" y="1481"/>
              <a:ext cx="997" cy="317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zh-CN" altLang="en-US" sz="2400"/>
                <a:t>主存</a:t>
              </a:r>
            </a:p>
          </p:txBody>
        </p:sp>
        <p:sp>
          <p:nvSpPr>
            <p:cNvPr id="1694728" name="Rectangle 8"/>
            <p:cNvSpPr>
              <a:spLocks noChangeArrowheads="1"/>
            </p:cNvSpPr>
            <p:nvPr/>
          </p:nvSpPr>
          <p:spPr bwMode="auto">
            <a:xfrm>
              <a:off x="2064" y="1026"/>
              <a:ext cx="997" cy="317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 sz="2400"/>
                <a:t>Cache</a:t>
              </a:r>
            </a:p>
          </p:txBody>
        </p:sp>
        <p:sp>
          <p:nvSpPr>
            <p:cNvPr id="1694729" name="Rectangle 9"/>
            <p:cNvSpPr>
              <a:spLocks noChangeArrowheads="1"/>
            </p:cNvSpPr>
            <p:nvPr/>
          </p:nvSpPr>
          <p:spPr bwMode="auto">
            <a:xfrm>
              <a:off x="2064" y="573"/>
              <a:ext cx="997" cy="317"/>
            </a:xfrm>
            <a:prstGeom prst="rect">
              <a:avLst/>
            </a:prstGeom>
            <a:solidFill>
              <a:srgbClr val="CCFFCC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 sz="2400"/>
                <a:t>CPU</a:t>
              </a:r>
            </a:p>
          </p:txBody>
        </p:sp>
        <p:sp>
          <p:nvSpPr>
            <p:cNvPr id="1694730" name="Rectangle 10"/>
            <p:cNvSpPr>
              <a:spLocks noChangeArrowheads="1"/>
            </p:cNvSpPr>
            <p:nvPr/>
          </p:nvSpPr>
          <p:spPr bwMode="auto">
            <a:xfrm>
              <a:off x="3651" y="1162"/>
              <a:ext cx="1089" cy="317"/>
            </a:xfrm>
            <a:prstGeom prst="rect">
              <a:avLst/>
            </a:prstGeom>
            <a:solidFill>
              <a:srgbClr val="CCECFF"/>
            </a:solidFill>
            <a:ln w="28575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/>
              <a:r>
                <a:rPr lang="zh-CN" altLang="en-US" sz="2400">
                  <a:solidFill>
                    <a:srgbClr val="0000FF"/>
                  </a:solidFill>
                </a:rPr>
                <a:t>辅助硬件</a:t>
              </a:r>
            </a:p>
          </p:txBody>
        </p:sp>
        <p:sp>
          <p:nvSpPr>
            <p:cNvPr id="1694731" name="Rectangle 11"/>
            <p:cNvSpPr>
              <a:spLocks noChangeArrowheads="1"/>
            </p:cNvSpPr>
            <p:nvPr/>
          </p:nvSpPr>
          <p:spPr bwMode="auto">
            <a:xfrm>
              <a:off x="3651" y="1707"/>
              <a:ext cx="1588" cy="317"/>
            </a:xfrm>
            <a:prstGeom prst="rect">
              <a:avLst/>
            </a:prstGeom>
            <a:solidFill>
              <a:srgbClr val="CCECFF"/>
            </a:solidFill>
            <a:ln w="28575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/>
              <a:r>
                <a:rPr lang="zh-CN" altLang="en-US" sz="2400">
                  <a:solidFill>
                    <a:srgbClr val="0000FF"/>
                  </a:solidFill>
                </a:rPr>
                <a:t>辅助硬件、软件</a:t>
              </a:r>
            </a:p>
          </p:txBody>
        </p:sp>
        <p:sp>
          <p:nvSpPr>
            <p:cNvPr id="1694732" name="Line 12"/>
            <p:cNvSpPr>
              <a:spLocks noChangeShapeType="1"/>
            </p:cNvSpPr>
            <p:nvPr/>
          </p:nvSpPr>
          <p:spPr bwMode="auto">
            <a:xfrm>
              <a:off x="2562" y="890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33" name="Line 13"/>
            <p:cNvSpPr>
              <a:spLocks noChangeShapeType="1"/>
            </p:cNvSpPr>
            <p:nvPr/>
          </p:nvSpPr>
          <p:spPr bwMode="auto">
            <a:xfrm>
              <a:off x="2562" y="134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34" name="Line 14"/>
            <p:cNvSpPr>
              <a:spLocks noChangeShapeType="1"/>
            </p:cNvSpPr>
            <p:nvPr/>
          </p:nvSpPr>
          <p:spPr bwMode="auto">
            <a:xfrm>
              <a:off x="2562" y="1797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35" name="Line 15"/>
            <p:cNvSpPr>
              <a:spLocks noChangeShapeType="1"/>
            </p:cNvSpPr>
            <p:nvPr/>
          </p:nvSpPr>
          <p:spPr bwMode="auto">
            <a:xfrm>
              <a:off x="3061" y="116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36" name="Line 16"/>
            <p:cNvSpPr>
              <a:spLocks noChangeShapeType="1"/>
            </p:cNvSpPr>
            <p:nvPr/>
          </p:nvSpPr>
          <p:spPr bwMode="auto">
            <a:xfrm>
              <a:off x="3243" y="1162"/>
              <a:ext cx="0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37" name="Line 17"/>
            <p:cNvSpPr>
              <a:spLocks noChangeShapeType="1"/>
            </p:cNvSpPr>
            <p:nvPr/>
          </p:nvSpPr>
          <p:spPr bwMode="auto">
            <a:xfrm>
              <a:off x="3243" y="1253"/>
              <a:ext cx="40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38" name="Line 18"/>
            <p:cNvSpPr>
              <a:spLocks noChangeShapeType="1"/>
            </p:cNvSpPr>
            <p:nvPr/>
          </p:nvSpPr>
          <p:spPr bwMode="auto">
            <a:xfrm>
              <a:off x="3061" y="1571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39" name="Line 19"/>
            <p:cNvSpPr>
              <a:spLocks noChangeShapeType="1"/>
            </p:cNvSpPr>
            <p:nvPr/>
          </p:nvSpPr>
          <p:spPr bwMode="auto">
            <a:xfrm flipV="1">
              <a:off x="3243" y="1389"/>
              <a:ext cx="0" cy="18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40" name="Line 20"/>
            <p:cNvSpPr>
              <a:spLocks noChangeShapeType="1"/>
            </p:cNvSpPr>
            <p:nvPr/>
          </p:nvSpPr>
          <p:spPr bwMode="auto">
            <a:xfrm>
              <a:off x="3243" y="1389"/>
              <a:ext cx="40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41" name="Line 21"/>
            <p:cNvSpPr>
              <a:spLocks noChangeShapeType="1"/>
            </p:cNvSpPr>
            <p:nvPr/>
          </p:nvSpPr>
          <p:spPr bwMode="auto">
            <a:xfrm>
              <a:off x="3061" y="1707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42" name="Line 22"/>
            <p:cNvSpPr>
              <a:spLocks noChangeShapeType="1"/>
            </p:cNvSpPr>
            <p:nvPr/>
          </p:nvSpPr>
          <p:spPr bwMode="auto">
            <a:xfrm>
              <a:off x="3243" y="1707"/>
              <a:ext cx="0" cy="9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43" name="Line 23"/>
            <p:cNvSpPr>
              <a:spLocks noChangeShapeType="1"/>
            </p:cNvSpPr>
            <p:nvPr/>
          </p:nvSpPr>
          <p:spPr bwMode="auto">
            <a:xfrm>
              <a:off x="3243" y="1797"/>
              <a:ext cx="40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44" name="Line 24"/>
            <p:cNvSpPr>
              <a:spLocks noChangeShapeType="1"/>
            </p:cNvSpPr>
            <p:nvPr/>
          </p:nvSpPr>
          <p:spPr bwMode="auto">
            <a:xfrm>
              <a:off x="3016" y="2251"/>
              <a:ext cx="22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45" name="Line 25"/>
            <p:cNvSpPr>
              <a:spLocks noChangeShapeType="1"/>
            </p:cNvSpPr>
            <p:nvPr/>
          </p:nvSpPr>
          <p:spPr bwMode="auto">
            <a:xfrm flipV="1">
              <a:off x="3243" y="1933"/>
              <a:ext cx="0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4746" name="Line 26"/>
            <p:cNvSpPr>
              <a:spLocks noChangeShapeType="1"/>
            </p:cNvSpPr>
            <p:nvPr/>
          </p:nvSpPr>
          <p:spPr bwMode="auto">
            <a:xfrm>
              <a:off x="3243" y="1933"/>
              <a:ext cx="40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CC11BB3A-BF9A-406F-A97F-3CBA61C4C3E1}"/>
              </a:ext>
            </a:extLst>
          </p:cNvPr>
          <p:cNvSpPr/>
          <p:nvPr/>
        </p:nvSpPr>
        <p:spPr>
          <a:xfrm>
            <a:off x="5796136" y="3330914"/>
            <a:ext cx="31500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 dirty="0"/>
              <a:t>虚拟存储器：</a:t>
            </a:r>
          </a:p>
          <a:p>
            <a:pPr algn="l">
              <a:spcBef>
                <a:spcPts val="0"/>
              </a:spcBef>
            </a:pPr>
            <a:r>
              <a:rPr lang="zh-CN" altLang="en-US" sz="2400" dirty="0"/>
              <a:t>Virtual Memory，VM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9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8C0A7C-FC80-4ED7-A5A8-A4527EEB9AF9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164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一、基本概念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4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92696"/>
            <a:ext cx="8640763" cy="5976392"/>
          </a:xfrm>
        </p:spPr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</a:rPr>
              <a:t>虚拟存储器中有三种</a:t>
            </a:r>
            <a:r>
              <a:rPr lang="zh-CN" altLang="en-US" dirty="0">
                <a:solidFill>
                  <a:srgbClr val="FF3300"/>
                </a:solidFill>
              </a:rPr>
              <a:t>地址空间</a:t>
            </a:r>
            <a:r>
              <a:rPr lang="zh-CN" altLang="en-US" dirty="0">
                <a:solidFill>
                  <a:schemeClr val="tx2"/>
                </a:solidFill>
              </a:rPr>
              <a:t>：</a:t>
            </a:r>
          </a:p>
          <a:p>
            <a:pPr lvl="1"/>
            <a:r>
              <a:rPr lang="zh-CN" altLang="en-US" dirty="0"/>
              <a:t>虚拟地址空间：程序员编程中用到的地址。</a:t>
            </a:r>
            <a:br>
              <a:rPr lang="zh-CN" altLang="en-US" dirty="0"/>
            </a:br>
            <a:r>
              <a:rPr lang="zh-CN" altLang="zh-CN" dirty="0">
                <a:latin typeface="+mn-ea"/>
              </a:rPr>
              <a:t>→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CC0066"/>
                </a:solidFill>
              </a:rPr>
              <a:t>编译程序</a:t>
            </a:r>
            <a:r>
              <a:rPr lang="zh-CN" altLang="en-US" dirty="0"/>
              <a:t>生成</a:t>
            </a:r>
            <a:endParaRPr lang="en-US" altLang="zh-CN" dirty="0"/>
          </a:p>
          <a:p>
            <a:pPr lvl="1"/>
            <a:r>
              <a:rPr lang="zh-CN" altLang="en-US" dirty="0"/>
              <a:t>主存储器地址空间：实际主存的物理地址。</a:t>
            </a:r>
            <a:br>
              <a:rPr lang="zh-CN" altLang="en-US" dirty="0"/>
            </a:br>
            <a:r>
              <a:rPr lang="zh-CN" altLang="en-US" dirty="0">
                <a:latin typeface="+mn-ea"/>
              </a:rPr>
              <a:t>→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CC0066"/>
                </a:solidFill>
              </a:rPr>
              <a:t>CPU</a:t>
            </a:r>
            <a:r>
              <a:rPr lang="zh-CN" altLang="en-US" dirty="0"/>
              <a:t>地址引脚</a:t>
            </a:r>
          </a:p>
          <a:p>
            <a:pPr lvl="1"/>
            <a:r>
              <a:rPr lang="zh-CN" altLang="en-US" dirty="0"/>
              <a:t>辅存地址空间：</a:t>
            </a:r>
            <a:r>
              <a:rPr lang="zh-CN" altLang="en-US" dirty="0">
                <a:solidFill>
                  <a:srgbClr val="CC0066"/>
                </a:solidFill>
              </a:rPr>
              <a:t>磁盘存储器</a:t>
            </a:r>
            <a:r>
              <a:rPr lang="zh-CN" altLang="en-US" dirty="0"/>
              <a:t>的地址。</a:t>
            </a:r>
          </a:p>
          <a:p>
            <a:r>
              <a:rPr lang="zh-CN" altLang="en-US" dirty="0">
                <a:solidFill>
                  <a:srgbClr val="FF3300"/>
                </a:solidFill>
              </a:rPr>
              <a:t>地址映象</a:t>
            </a:r>
            <a:r>
              <a:rPr lang="zh-CN" altLang="en-US" dirty="0">
                <a:solidFill>
                  <a:schemeClr val="tx2"/>
                </a:solidFill>
              </a:rPr>
              <a:t>：</a:t>
            </a:r>
            <a:br>
              <a:rPr lang="zh-CN" altLang="en-US" dirty="0">
                <a:solidFill>
                  <a:schemeClr val="tx2"/>
                </a:solidFill>
              </a:rPr>
            </a:br>
            <a:r>
              <a:rPr lang="zh-CN" altLang="en-US" dirty="0"/>
              <a:t>把虚拟地址空间映象到主存地址空间。即把用户按虚拟地址编写的</a:t>
            </a:r>
            <a:r>
              <a:rPr lang="zh-CN" altLang="en-US" dirty="0">
                <a:solidFill>
                  <a:srgbClr val="0000FF"/>
                </a:solidFill>
                <a:ea typeface="黑体" pitchFamily="49" charset="-122"/>
              </a:rPr>
              <a:t>程序</a:t>
            </a:r>
            <a:r>
              <a:rPr lang="zh-CN" altLang="en-US" dirty="0"/>
              <a:t>按照某种规则</a:t>
            </a:r>
            <a:r>
              <a:rPr lang="zh-CN" altLang="en-US" dirty="0">
                <a:solidFill>
                  <a:srgbClr val="0000FF"/>
                </a:solidFill>
                <a:ea typeface="黑体" pitchFamily="49" charset="-122"/>
              </a:rPr>
              <a:t>装入</a:t>
            </a:r>
            <a:r>
              <a:rPr lang="zh-CN" altLang="en-US" dirty="0"/>
              <a:t>主存储器，并建立多用户虚地址与主存实地址之间的关系。</a:t>
            </a:r>
          </a:p>
          <a:p>
            <a:r>
              <a:rPr lang="zh-CN" altLang="en-US" dirty="0">
                <a:solidFill>
                  <a:srgbClr val="FF3300"/>
                </a:solidFill>
              </a:rPr>
              <a:t>地址变换</a:t>
            </a:r>
            <a:r>
              <a:rPr lang="zh-CN" altLang="en-US" dirty="0">
                <a:solidFill>
                  <a:schemeClr val="tx2"/>
                </a:solidFill>
              </a:rPr>
              <a:t>：</a:t>
            </a:r>
            <a:br>
              <a:rPr lang="zh-CN" altLang="en-US" dirty="0">
                <a:solidFill>
                  <a:schemeClr val="tx2"/>
                </a:solidFill>
              </a:rPr>
            </a:br>
            <a:r>
              <a:rPr lang="zh-CN" altLang="en-US" dirty="0"/>
              <a:t>在</a:t>
            </a:r>
            <a:r>
              <a:rPr lang="zh-CN" altLang="en-US" dirty="0">
                <a:solidFill>
                  <a:srgbClr val="0000FF"/>
                </a:solidFill>
                <a:ea typeface="黑体" pitchFamily="49" charset="-122"/>
              </a:rPr>
              <a:t>程序运行</a:t>
            </a:r>
            <a:r>
              <a:rPr lang="zh-CN" altLang="en-US" dirty="0"/>
              <a:t>时，把虚地址变换成主存实地址。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62BDB-9B30-42C2-A670-FBF71A7EBB24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1646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一、基本概念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4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640763" cy="5400675"/>
          </a:xfrm>
        </p:spPr>
        <p:txBody>
          <a:bodyPr/>
          <a:lstStyle/>
          <a:p>
            <a:r>
              <a:rPr lang="zh-CN" altLang="en-US"/>
              <a:t>因</a:t>
            </a:r>
            <a:r>
              <a:rPr lang="zh-CN" altLang="en-US">
                <a:solidFill>
                  <a:srgbClr val="008000"/>
                </a:solidFill>
              </a:rPr>
              <a:t>地址映象</a:t>
            </a:r>
            <a:r>
              <a:rPr lang="zh-CN" altLang="en-US"/>
              <a:t>和</a:t>
            </a:r>
            <a:r>
              <a:rPr lang="zh-CN" altLang="en-US">
                <a:solidFill>
                  <a:srgbClr val="008000"/>
                </a:solidFill>
              </a:rPr>
              <a:t>变换</a:t>
            </a:r>
            <a:r>
              <a:rPr lang="zh-CN" altLang="en-US"/>
              <a:t>方法不同，</a:t>
            </a:r>
            <a:br>
              <a:rPr lang="zh-CN" altLang="en-US"/>
            </a:br>
            <a:r>
              <a:rPr lang="zh-CN" altLang="en-US"/>
              <a:t>有</a:t>
            </a:r>
            <a:r>
              <a:rPr lang="zh-CN" altLang="en-US">
                <a:solidFill>
                  <a:srgbClr val="CC0066"/>
                </a:solidFill>
              </a:rPr>
              <a:t>三种</a:t>
            </a:r>
            <a:r>
              <a:rPr lang="zh-CN" altLang="en-US">
                <a:solidFill>
                  <a:srgbClr val="0000FF"/>
                </a:solidFill>
                <a:ea typeface="黑体" pitchFamily="49" charset="-122"/>
              </a:rPr>
              <a:t>虚拟存储器</a:t>
            </a:r>
            <a:r>
              <a:rPr lang="zh-CN" altLang="en-US"/>
              <a:t>：</a:t>
            </a:r>
          </a:p>
          <a:p>
            <a:pPr lvl="1"/>
            <a:r>
              <a:rPr lang="zh-CN" altLang="en-US">
                <a:solidFill>
                  <a:srgbClr val="FF3300"/>
                </a:solidFill>
                <a:ea typeface="黑体" pitchFamily="49" charset="-122"/>
              </a:rPr>
              <a:t>段式</a:t>
            </a:r>
            <a:r>
              <a:rPr lang="zh-CN" altLang="en-US"/>
              <a:t>虚拟存储器 </a:t>
            </a:r>
          </a:p>
          <a:p>
            <a:pPr lvl="1"/>
            <a:r>
              <a:rPr lang="zh-CN" altLang="en-US">
                <a:solidFill>
                  <a:srgbClr val="FF3300"/>
                </a:solidFill>
                <a:ea typeface="黑体" pitchFamily="49" charset="-122"/>
              </a:rPr>
              <a:t>页式</a:t>
            </a:r>
            <a:r>
              <a:rPr lang="zh-CN" altLang="en-US"/>
              <a:t>虚拟存储器 </a:t>
            </a:r>
          </a:p>
          <a:p>
            <a:pPr lvl="1"/>
            <a:r>
              <a:rPr lang="zh-CN" altLang="en-US">
                <a:solidFill>
                  <a:srgbClr val="FF3300"/>
                </a:solidFill>
                <a:ea typeface="黑体" pitchFamily="49" charset="-122"/>
              </a:rPr>
              <a:t>段页式</a:t>
            </a:r>
            <a:r>
              <a:rPr lang="zh-CN" altLang="en-US"/>
              <a:t>虚拟存储器</a:t>
            </a:r>
          </a:p>
        </p:txBody>
      </p:sp>
      <p:sp>
        <p:nvSpPr>
          <p:cNvPr id="3" name="动作按钮: 获取信息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D973CFF-A28A-428A-AB03-959006995BBC}"/>
              </a:ext>
            </a:extLst>
          </p:cNvPr>
          <p:cNvSpPr/>
          <p:nvPr/>
        </p:nvSpPr>
        <p:spPr bwMode="auto">
          <a:xfrm>
            <a:off x="8362454" y="188639"/>
            <a:ext cx="576759" cy="576000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5F4B87-E417-4FA2-98D6-BED063CAD6C5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164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zh-CN" altLang="en-US" dirty="0">
                <a:solidFill>
                  <a:srgbClr val="FF0000"/>
                </a:solidFill>
              </a:rPr>
              <a:t>段式</a:t>
            </a:r>
            <a:r>
              <a:rPr lang="zh-CN" altLang="en-US" dirty="0"/>
              <a:t>虚拟存储器</a:t>
            </a:r>
          </a:p>
        </p:txBody>
      </p:sp>
      <p:sp>
        <p:nvSpPr>
          <p:cNvPr id="164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844675"/>
            <a:ext cx="8640763" cy="4824413"/>
          </a:xfrm>
        </p:spPr>
        <p:txBody>
          <a:bodyPr/>
          <a:lstStyle/>
          <a:p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段式</a:t>
            </a:r>
            <a:r>
              <a:rPr lang="zh-CN" altLang="en-US" dirty="0"/>
              <a:t>存储管理方式：</a:t>
            </a:r>
            <a:br>
              <a:rPr lang="zh-CN" altLang="en-US" dirty="0"/>
            </a:br>
            <a:r>
              <a:rPr lang="zh-CN" altLang="en-US" dirty="0"/>
              <a:t>将程序按</a:t>
            </a:r>
            <a:r>
              <a:rPr lang="zh-CN" altLang="en-US" dirty="0">
                <a:solidFill>
                  <a:srgbClr val="FF3300"/>
                </a:solidFill>
              </a:rPr>
              <a:t>逻辑意义</a:t>
            </a:r>
            <a:r>
              <a:rPr lang="zh-CN" altLang="en-US" dirty="0"/>
              <a:t>分成段，按段进行调入、调出和管理。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1BE2A5-6690-4270-A6A6-59979733400E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164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zh-CN" altLang="en-US" dirty="0">
                <a:solidFill>
                  <a:srgbClr val="FF0000"/>
                </a:solidFill>
              </a:rPr>
              <a:t>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48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20713"/>
            <a:ext cx="8640763" cy="6048375"/>
          </a:xfrm>
        </p:spPr>
        <p:txBody>
          <a:bodyPr/>
          <a:lstStyle/>
          <a:p>
            <a:r>
              <a:rPr lang="zh-CN" altLang="en-US"/>
              <a:t>地址映象方法：</a:t>
            </a:r>
            <a:br>
              <a:rPr lang="zh-CN" altLang="en-US"/>
            </a:br>
            <a:r>
              <a:rPr lang="zh-CN" altLang="en-US"/>
              <a:t>每个</a:t>
            </a:r>
            <a:r>
              <a:rPr lang="zh-CN" altLang="en-US">
                <a:solidFill>
                  <a:srgbClr val="FF3300"/>
                </a:solidFill>
              </a:rPr>
              <a:t>程序段</a:t>
            </a:r>
            <a:r>
              <a:rPr lang="zh-CN" altLang="en-US"/>
              <a:t>都从</a:t>
            </a:r>
            <a:r>
              <a:rPr lang="en-US" altLang="zh-CN"/>
              <a:t>0</a:t>
            </a:r>
            <a:r>
              <a:rPr lang="zh-CN" altLang="en-US"/>
              <a:t>地址开始编址，长度可长可短，可以在程序执行过程中动态改变程序段的长度。</a:t>
            </a:r>
          </a:p>
        </p:txBody>
      </p:sp>
      <p:sp>
        <p:nvSpPr>
          <p:cNvPr id="1648644" name="Rectangle 4"/>
          <p:cNvSpPr>
            <a:spLocks noChangeAspect="1" noChangeArrowheads="1"/>
          </p:cNvSpPr>
          <p:nvPr/>
        </p:nvSpPr>
        <p:spPr bwMode="auto">
          <a:xfrm>
            <a:off x="1455738" y="2713038"/>
            <a:ext cx="1260475" cy="67786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主程序</a:t>
            </a:r>
            <a:b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</a:b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(</a:t>
            </a:r>
            <a:r>
              <a:rPr kumimoji="1" lang="zh-CN" altLang="zh-CN" sz="2000" dirty="0">
                <a:latin typeface="Book Antiqua" pitchFamily="18" charset="0"/>
                <a:ea typeface="楷体" panose="02010609060101010101" pitchFamily="49" charset="-122"/>
              </a:rPr>
              <a:t>0</a:t>
            </a: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段)</a:t>
            </a:r>
          </a:p>
        </p:txBody>
      </p:sp>
      <p:sp>
        <p:nvSpPr>
          <p:cNvPr id="1648645" name="Rectangle 5"/>
          <p:cNvSpPr>
            <a:spLocks noChangeAspect="1" noChangeArrowheads="1"/>
          </p:cNvSpPr>
          <p:nvPr/>
        </p:nvSpPr>
        <p:spPr bwMode="auto">
          <a:xfrm>
            <a:off x="6499225" y="2430463"/>
            <a:ext cx="1260475" cy="6207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46" name="Line 6"/>
          <p:cNvSpPr>
            <a:spLocks noChangeAspect="1" noChangeShapeType="1"/>
          </p:cNvSpPr>
          <p:nvPr/>
        </p:nvSpPr>
        <p:spPr bwMode="auto">
          <a:xfrm flipV="1">
            <a:off x="2716213" y="3051175"/>
            <a:ext cx="630237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647" name="Rectangle 7"/>
          <p:cNvSpPr>
            <a:spLocks noChangeAspect="1" noChangeArrowheads="1"/>
          </p:cNvSpPr>
          <p:nvPr/>
        </p:nvSpPr>
        <p:spPr bwMode="auto">
          <a:xfrm flipH="1">
            <a:off x="755650" y="3108325"/>
            <a:ext cx="700088" cy="39528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1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k</a:t>
            </a:r>
          </a:p>
        </p:txBody>
      </p:sp>
      <p:sp>
        <p:nvSpPr>
          <p:cNvPr id="1648648" name="Rectangle 8"/>
          <p:cNvSpPr>
            <a:spLocks noChangeAspect="1" noChangeArrowheads="1"/>
          </p:cNvSpPr>
          <p:nvPr/>
        </p:nvSpPr>
        <p:spPr bwMode="auto">
          <a:xfrm>
            <a:off x="1455738" y="3616325"/>
            <a:ext cx="1260475" cy="67786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 dirty="0">
                <a:latin typeface="Book Antiqua" pitchFamily="18" charset="0"/>
                <a:ea typeface="楷体" panose="02010609060101010101" pitchFamily="49" charset="-122"/>
              </a:rPr>
              <a:t>1</a:t>
            </a: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段</a:t>
            </a:r>
          </a:p>
        </p:txBody>
      </p:sp>
      <p:sp>
        <p:nvSpPr>
          <p:cNvPr id="1648649" name="Rectangle 9"/>
          <p:cNvSpPr>
            <a:spLocks noChangeAspect="1" noChangeArrowheads="1"/>
          </p:cNvSpPr>
          <p:nvPr/>
        </p:nvSpPr>
        <p:spPr bwMode="auto">
          <a:xfrm>
            <a:off x="1455738" y="4519613"/>
            <a:ext cx="1260475" cy="67786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 dirty="0">
                <a:latin typeface="Book Antiqua" pitchFamily="18" charset="0"/>
                <a:ea typeface="楷体" panose="02010609060101010101" pitchFamily="49" charset="-122"/>
              </a:rPr>
              <a:t>2</a:t>
            </a: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段</a:t>
            </a:r>
          </a:p>
        </p:txBody>
      </p:sp>
      <p:sp>
        <p:nvSpPr>
          <p:cNvPr id="1648650" name="Rectangle 10"/>
          <p:cNvSpPr>
            <a:spLocks noChangeAspect="1" noChangeArrowheads="1"/>
          </p:cNvSpPr>
          <p:nvPr/>
        </p:nvSpPr>
        <p:spPr bwMode="auto">
          <a:xfrm>
            <a:off x="1455738" y="5422900"/>
            <a:ext cx="1260475" cy="67786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 dirty="0">
                <a:latin typeface="Book Antiqua" pitchFamily="18" charset="0"/>
                <a:ea typeface="楷体" panose="02010609060101010101" pitchFamily="49" charset="-122"/>
              </a:rPr>
              <a:t>3</a:t>
            </a: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段</a:t>
            </a:r>
          </a:p>
        </p:txBody>
      </p:sp>
      <p:sp>
        <p:nvSpPr>
          <p:cNvPr id="1648651" name="Rectangle 11"/>
          <p:cNvSpPr>
            <a:spLocks noChangeAspect="1" noChangeArrowheads="1"/>
          </p:cNvSpPr>
          <p:nvPr/>
        </p:nvSpPr>
        <p:spPr bwMode="auto">
          <a:xfrm flipH="1">
            <a:off x="755650" y="2655888"/>
            <a:ext cx="700088" cy="3952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648652" name="Rectangle 12"/>
          <p:cNvSpPr>
            <a:spLocks noChangeAspect="1" noChangeArrowheads="1"/>
          </p:cNvSpPr>
          <p:nvPr/>
        </p:nvSpPr>
        <p:spPr bwMode="auto">
          <a:xfrm flipH="1">
            <a:off x="755650" y="4011613"/>
            <a:ext cx="700088" cy="3952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500</a:t>
            </a: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53" name="Rectangle 13"/>
          <p:cNvSpPr>
            <a:spLocks noChangeAspect="1" noChangeArrowheads="1"/>
          </p:cNvSpPr>
          <p:nvPr/>
        </p:nvSpPr>
        <p:spPr bwMode="auto">
          <a:xfrm flipH="1">
            <a:off x="755650" y="3559175"/>
            <a:ext cx="700088" cy="39528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648654" name="Rectangle 14"/>
          <p:cNvSpPr>
            <a:spLocks noChangeAspect="1" noChangeArrowheads="1"/>
          </p:cNvSpPr>
          <p:nvPr/>
        </p:nvSpPr>
        <p:spPr bwMode="auto">
          <a:xfrm flipH="1">
            <a:off x="755650" y="4914900"/>
            <a:ext cx="700088" cy="39528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200</a:t>
            </a: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55" name="Rectangle 15"/>
          <p:cNvSpPr>
            <a:spLocks noChangeAspect="1" noChangeArrowheads="1"/>
          </p:cNvSpPr>
          <p:nvPr/>
        </p:nvSpPr>
        <p:spPr bwMode="auto">
          <a:xfrm flipH="1">
            <a:off x="755650" y="4464050"/>
            <a:ext cx="700088" cy="39528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648656" name="Rectangle 16"/>
          <p:cNvSpPr>
            <a:spLocks noChangeAspect="1" noChangeArrowheads="1"/>
          </p:cNvSpPr>
          <p:nvPr/>
        </p:nvSpPr>
        <p:spPr bwMode="auto">
          <a:xfrm flipH="1">
            <a:off x="755650" y="5818188"/>
            <a:ext cx="700088" cy="3952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200</a:t>
            </a: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57" name="Rectangle 17"/>
          <p:cNvSpPr>
            <a:spLocks noChangeAspect="1" noChangeArrowheads="1"/>
          </p:cNvSpPr>
          <p:nvPr/>
        </p:nvSpPr>
        <p:spPr bwMode="auto">
          <a:xfrm flipH="1">
            <a:off x="755650" y="5367338"/>
            <a:ext cx="700088" cy="3952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648658" name="Rectangle 18"/>
          <p:cNvSpPr>
            <a:spLocks noChangeAspect="1" noChangeArrowheads="1"/>
          </p:cNvSpPr>
          <p:nvPr/>
        </p:nvSpPr>
        <p:spPr bwMode="auto">
          <a:xfrm>
            <a:off x="3346450" y="2449513"/>
            <a:ext cx="841375" cy="39528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段号</a:t>
            </a:r>
          </a:p>
        </p:txBody>
      </p:sp>
      <p:sp>
        <p:nvSpPr>
          <p:cNvPr id="1648659" name="Rectangle 19"/>
          <p:cNvSpPr>
            <a:spLocks noChangeAspect="1" noChangeArrowheads="1"/>
          </p:cNvSpPr>
          <p:nvPr/>
        </p:nvSpPr>
        <p:spPr bwMode="auto">
          <a:xfrm>
            <a:off x="4187825" y="2449513"/>
            <a:ext cx="839788" cy="39528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段长</a:t>
            </a:r>
          </a:p>
        </p:txBody>
      </p:sp>
      <p:sp>
        <p:nvSpPr>
          <p:cNvPr id="1648660" name="Rectangle 20"/>
          <p:cNvSpPr>
            <a:spLocks noChangeAspect="1" noChangeArrowheads="1"/>
          </p:cNvSpPr>
          <p:nvPr/>
        </p:nvSpPr>
        <p:spPr bwMode="auto">
          <a:xfrm>
            <a:off x="5027613" y="2449513"/>
            <a:ext cx="841375" cy="39528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起址</a:t>
            </a:r>
          </a:p>
        </p:txBody>
      </p:sp>
      <p:sp>
        <p:nvSpPr>
          <p:cNvPr id="1648661" name="Rectangle 21"/>
          <p:cNvSpPr>
            <a:spLocks noChangeAspect="1" noChangeArrowheads="1"/>
          </p:cNvSpPr>
          <p:nvPr/>
        </p:nvSpPr>
        <p:spPr bwMode="auto">
          <a:xfrm>
            <a:off x="3346450" y="2844800"/>
            <a:ext cx="841375" cy="39528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648662" name="Rectangle 22"/>
          <p:cNvSpPr>
            <a:spLocks noChangeAspect="1" noChangeArrowheads="1"/>
          </p:cNvSpPr>
          <p:nvPr/>
        </p:nvSpPr>
        <p:spPr bwMode="auto">
          <a:xfrm>
            <a:off x="4187825" y="2844800"/>
            <a:ext cx="839788" cy="39528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1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k</a:t>
            </a:r>
          </a:p>
        </p:txBody>
      </p:sp>
      <p:sp>
        <p:nvSpPr>
          <p:cNvPr id="1648663" name="Rectangle 23"/>
          <p:cNvSpPr>
            <a:spLocks noChangeAspect="1" noChangeArrowheads="1"/>
          </p:cNvSpPr>
          <p:nvPr/>
        </p:nvSpPr>
        <p:spPr bwMode="auto">
          <a:xfrm>
            <a:off x="5027613" y="2844800"/>
            <a:ext cx="841375" cy="39528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8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k</a:t>
            </a:r>
          </a:p>
        </p:txBody>
      </p:sp>
      <p:sp>
        <p:nvSpPr>
          <p:cNvPr id="1648664" name="Rectangle 24"/>
          <p:cNvSpPr>
            <a:spLocks noChangeAspect="1" noChangeArrowheads="1"/>
          </p:cNvSpPr>
          <p:nvPr/>
        </p:nvSpPr>
        <p:spPr bwMode="auto">
          <a:xfrm>
            <a:off x="3346450" y="3240088"/>
            <a:ext cx="841375" cy="39528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1</a:t>
            </a:r>
          </a:p>
        </p:txBody>
      </p:sp>
      <p:sp>
        <p:nvSpPr>
          <p:cNvPr id="1648665" name="Rectangle 25"/>
          <p:cNvSpPr>
            <a:spLocks noChangeAspect="1" noChangeArrowheads="1"/>
          </p:cNvSpPr>
          <p:nvPr/>
        </p:nvSpPr>
        <p:spPr bwMode="auto">
          <a:xfrm>
            <a:off x="4187825" y="3240088"/>
            <a:ext cx="839788" cy="39528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500</a:t>
            </a: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66" name="Rectangle 26"/>
          <p:cNvSpPr>
            <a:spLocks noChangeAspect="1" noChangeArrowheads="1"/>
          </p:cNvSpPr>
          <p:nvPr/>
        </p:nvSpPr>
        <p:spPr bwMode="auto">
          <a:xfrm>
            <a:off x="5027613" y="3240088"/>
            <a:ext cx="841375" cy="39528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16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k</a:t>
            </a:r>
          </a:p>
        </p:txBody>
      </p:sp>
      <p:sp>
        <p:nvSpPr>
          <p:cNvPr id="1648667" name="Rectangle 27"/>
          <p:cNvSpPr>
            <a:spLocks noChangeAspect="1" noChangeArrowheads="1"/>
          </p:cNvSpPr>
          <p:nvPr/>
        </p:nvSpPr>
        <p:spPr bwMode="auto">
          <a:xfrm>
            <a:off x="3346450" y="3635375"/>
            <a:ext cx="841375" cy="39528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1648668" name="Rectangle 28"/>
          <p:cNvSpPr>
            <a:spLocks noChangeAspect="1" noChangeArrowheads="1"/>
          </p:cNvSpPr>
          <p:nvPr/>
        </p:nvSpPr>
        <p:spPr bwMode="auto">
          <a:xfrm>
            <a:off x="4187825" y="3635375"/>
            <a:ext cx="839788" cy="39528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200</a:t>
            </a: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69" name="Rectangle 29"/>
          <p:cNvSpPr>
            <a:spLocks noChangeAspect="1" noChangeArrowheads="1"/>
          </p:cNvSpPr>
          <p:nvPr/>
        </p:nvSpPr>
        <p:spPr bwMode="auto">
          <a:xfrm>
            <a:off x="5027613" y="3635375"/>
            <a:ext cx="841375" cy="39528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9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k</a:t>
            </a:r>
          </a:p>
        </p:txBody>
      </p:sp>
      <p:sp>
        <p:nvSpPr>
          <p:cNvPr id="1648670" name="Rectangle 30"/>
          <p:cNvSpPr>
            <a:spLocks noChangeAspect="1" noChangeArrowheads="1"/>
          </p:cNvSpPr>
          <p:nvPr/>
        </p:nvSpPr>
        <p:spPr bwMode="auto">
          <a:xfrm>
            <a:off x="3346450" y="4030663"/>
            <a:ext cx="841375" cy="39528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3</a:t>
            </a:r>
          </a:p>
        </p:txBody>
      </p:sp>
      <p:sp>
        <p:nvSpPr>
          <p:cNvPr id="1648671" name="Rectangle 31"/>
          <p:cNvSpPr>
            <a:spLocks noChangeAspect="1" noChangeArrowheads="1"/>
          </p:cNvSpPr>
          <p:nvPr/>
        </p:nvSpPr>
        <p:spPr bwMode="auto">
          <a:xfrm>
            <a:off x="4187825" y="4030663"/>
            <a:ext cx="839788" cy="39528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200</a:t>
            </a: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72" name="Rectangle 32"/>
          <p:cNvSpPr>
            <a:spLocks noChangeAspect="1" noChangeArrowheads="1"/>
          </p:cNvSpPr>
          <p:nvPr/>
        </p:nvSpPr>
        <p:spPr bwMode="auto">
          <a:xfrm>
            <a:off x="5027613" y="4030663"/>
            <a:ext cx="841375" cy="39528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30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k</a:t>
            </a:r>
          </a:p>
        </p:txBody>
      </p:sp>
      <p:sp>
        <p:nvSpPr>
          <p:cNvPr id="1648673" name="Rectangle 33"/>
          <p:cNvSpPr>
            <a:spLocks noChangeAspect="1" noChangeArrowheads="1"/>
          </p:cNvSpPr>
          <p:nvPr/>
        </p:nvSpPr>
        <p:spPr bwMode="auto">
          <a:xfrm flipH="1">
            <a:off x="7759700" y="2349500"/>
            <a:ext cx="700088" cy="338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0</a:t>
            </a: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74" name="Rectangle 34" descr="宽上对角线"/>
          <p:cNvSpPr>
            <a:spLocks noChangeAspect="1" noChangeArrowheads="1"/>
          </p:cNvSpPr>
          <p:nvPr/>
        </p:nvSpPr>
        <p:spPr bwMode="auto">
          <a:xfrm>
            <a:off x="6499225" y="3051175"/>
            <a:ext cx="1260475" cy="339725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75" name="Rectangle 35" descr="宽下对角线"/>
          <p:cNvSpPr>
            <a:spLocks noChangeAspect="1" noChangeArrowheads="1"/>
          </p:cNvSpPr>
          <p:nvPr/>
        </p:nvSpPr>
        <p:spPr bwMode="auto">
          <a:xfrm>
            <a:off x="6499225" y="3390900"/>
            <a:ext cx="1260475" cy="338138"/>
          </a:xfrm>
          <a:prstGeom prst="rect">
            <a:avLst/>
          </a:prstGeom>
          <a:pattFill prst="wdDnDiag">
            <a:fgClr>
              <a:schemeClr val="tx2"/>
            </a:fgClr>
            <a:bgClr>
              <a:schemeClr val="bg1"/>
            </a:bgClr>
          </a:pattFill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76" name="Rectangle 36"/>
          <p:cNvSpPr>
            <a:spLocks noChangeAspect="1" noChangeArrowheads="1"/>
          </p:cNvSpPr>
          <p:nvPr/>
        </p:nvSpPr>
        <p:spPr bwMode="auto">
          <a:xfrm flipH="1">
            <a:off x="7759700" y="2970213"/>
            <a:ext cx="700088" cy="3397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8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k</a:t>
            </a:r>
          </a:p>
        </p:txBody>
      </p:sp>
      <p:sp>
        <p:nvSpPr>
          <p:cNvPr id="1648677" name="Rectangle 37"/>
          <p:cNvSpPr>
            <a:spLocks noChangeAspect="1" noChangeArrowheads="1"/>
          </p:cNvSpPr>
          <p:nvPr/>
        </p:nvSpPr>
        <p:spPr bwMode="auto">
          <a:xfrm flipH="1">
            <a:off x="7759700" y="3309938"/>
            <a:ext cx="700088" cy="3381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9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k</a:t>
            </a:r>
          </a:p>
        </p:txBody>
      </p:sp>
      <p:sp>
        <p:nvSpPr>
          <p:cNvPr id="1648678" name="Rectangle 38"/>
          <p:cNvSpPr>
            <a:spLocks noChangeAspect="1" noChangeArrowheads="1"/>
          </p:cNvSpPr>
          <p:nvPr/>
        </p:nvSpPr>
        <p:spPr bwMode="auto">
          <a:xfrm>
            <a:off x="6499225" y="3729038"/>
            <a:ext cx="1260475" cy="5651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79" name="Rectangle 39" descr="宽上对角线"/>
          <p:cNvSpPr>
            <a:spLocks noChangeAspect="1" noChangeArrowheads="1"/>
          </p:cNvSpPr>
          <p:nvPr/>
        </p:nvSpPr>
        <p:spPr bwMode="auto">
          <a:xfrm>
            <a:off x="6499225" y="4294188"/>
            <a:ext cx="1260475" cy="338137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80" name="Rectangle 40"/>
          <p:cNvSpPr>
            <a:spLocks noChangeAspect="1" noChangeArrowheads="1"/>
          </p:cNvSpPr>
          <p:nvPr/>
        </p:nvSpPr>
        <p:spPr bwMode="auto">
          <a:xfrm flipH="1">
            <a:off x="7759700" y="4213225"/>
            <a:ext cx="700088" cy="338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16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k</a:t>
            </a:r>
          </a:p>
        </p:txBody>
      </p:sp>
      <p:sp>
        <p:nvSpPr>
          <p:cNvPr id="1648681" name="Rectangle 41"/>
          <p:cNvSpPr>
            <a:spLocks noChangeAspect="1" noChangeArrowheads="1"/>
          </p:cNvSpPr>
          <p:nvPr/>
        </p:nvSpPr>
        <p:spPr bwMode="auto">
          <a:xfrm>
            <a:off x="6499225" y="4632325"/>
            <a:ext cx="1260475" cy="5651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82" name="Rectangle 42" descr="宽上对角线"/>
          <p:cNvSpPr>
            <a:spLocks noChangeAspect="1" noChangeArrowheads="1"/>
          </p:cNvSpPr>
          <p:nvPr/>
        </p:nvSpPr>
        <p:spPr bwMode="auto">
          <a:xfrm>
            <a:off x="6499225" y="5197475"/>
            <a:ext cx="1260475" cy="338138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83" name="Rectangle 43"/>
          <p:cNvSpPr>
            <a:spLocks noChangeAspect="1" noChangeArrowheads="1"/>
          </p:cNvSpPr>
          <p:nvPr/>
        </p:nvSpPr>
        <p:spPr bwMode="auto">
          <a:xfrm flipH="1">
            <a:off x="7759700" y="5116513"/>
            <a:ext cx="700088" cy="3381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30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k</a:t>
            </a:r>
          </a:p>
        </p:txBody>
      </p:sp>
      <p:sp>
        <p:nvSpPr>
          <p:cNvPr id="1648684" name="Rectangle 44"/>
          <p:cNvSpPr>
            <a:spLocks noChangeAspect="1" noChangeArrowheads="1"/>
          </p:cNvSpPr>
          <p:nvPr/>
        </p:nvSpPr>
        <p:spPr bwMode="auto">
          <a:xfrm>
            <a:off x="6499225" y="5535613"/>
            <a:ext cx="1260475" cy="39528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85" name="Line 45"/>
          <p:cNvSpPr>
            <a:spLocks noChangeAspect="1" noChangeShapeType="1"/>
          </p:cNvSpPr>
          <p:nvPr/>
        </p:nvSpPr>
        <p:spPr bwMode="auto">
          <a:xfrm flipV="1">
            <a:off x="2716213" y="3390900"/>
            <a:ext cx="630237" cy="5635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686" name="Line 46"/>
          <p:cNvSpPr>
            <a:spLocks noChangeAspect="1" noChangeShapeType="1"/>
          </p:cNvSpPr>
          <p:nvPr/>
        </p:nvSpPr>
        <p:spPr bwMode="auto">
          <a:xfrm flipV="1">
            <a:off x="2716213" y="3786188"/>
            <a:ext cx="630237" cy="10731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687" name="Line 47"/>
          <p:cNvSpPr>
            <a:spLocks noChangeAspect="1" noChangeShapeType="1"/>
          </p:cNvSpPr>
          <p:nvPr/>
        </p:nvSpPr>
        <p:spPr bwMode="auto">
          <a:xfrm flipV="1">
            <a:off x="2716213" y="4181475"/>
            <a:ext cx="630237" cy="15811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688" name="Line 48"/>
          <p:cNvSpPr>
            <a:spLocks noChangeAspect="1" noChangeShapeType="1"/>
          </p:cNvSpPr>
          <p:nvPr/>
        </p:nvSpPr>
        <p:spPr bwMode="auto">
          <a:xfrm>
            <a:off x="5868988" y="3051175"/>
            <a:ext cx="630237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689" name="Line 49"/>
          <p:cNvSpPr>
            <a:spLocks noChangeAspect="1" noChangeShapeType="1"/>
          </p:cNvSpPr>
          <p:nvPr/>
        </p:nvSpPr>
        <p:spPr bwMode="auto">
          <a:xfrm>
            <a:off x="5868988" y="3390900"/>
            <a:ext cx="630237" cy="90328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690" name="Line 50"/>
          <p:cNvSpPr>
            <a:spLocks noChangeAspect="1" noChangeShapeType="1"/>
          </p:cNvSpPr>
          <p:nvPr/>
        </p:nvSpPr>
        <p:spPr bwMode="auto">
          <a:xfrm flipV="1">
            <a:off x="5868988" y="3390900"/>
            <a:ext cx="630237" cy="4508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691" name="Line 51"/>
          <p:cNvSpPr>
            <a:spLocks noChangeAspect="1" noChangeShapeType="1"/>
          </p:cNvSpPr>
          <p:nvPr/>
        </p:nvSpPr>
        <p:spPr bwMode="auto">
          <a:xfrm>
            <a:off x="5868988" y="4237038"/>
            <a:ext cx="630237" cy="96043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692" name="Rectangle 52"/>
          <p:cNvSpPr>
            <a:spLocks noChangeAspect="1" noChangeArrowheads="1"/>
          </p:cNvSpPr>
          <p:nvPr/>
        </p:nvSpPr>
        <p:spPr bwMode="auto">
          <a:xfrm flipH="1">
            <a:off x="2857500" y="5705475"/>
            <a:ext cx="909638" cy="6778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程序</a:t>
            </a:r>
            <a:b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</a:b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空间</a:t>
            </a: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93" name="Rectangle 53"/>
          <p:cNvSpPr>
            <a:spLocks noChangeAspect="1" noChangeArrowheads="1"/>
          </p:cNvSpPr>
          <p:nvPr/>
        </p:nvSpPr>
        <p:spPr bwMode="auto">
          <a:xfrm flipH="1">
            <a:off x="6357938" y="5988050"/>
            <a:ext cx="1541462" cy="338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主存储器</a:t>
            </a: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48694" name="Text Box 54"/>
          <p:cNvSpPr txBox="1">
            <a:spLocks noChangeAspect="1" noChangeArrowheads="1"/>
          </p:cNvSpPr>
          <p:nvPr/>
        </p:nvSpPr>
        <p:spPr bwMode="auto">
          <a:xfrm>
            <a:off x="1450975" y="5949950"/>
            <a:ext cx="6316663" cy="4587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endParaRPr kumimoji="1" lang="zh-CN" altLang="en-US" sz="2400" b="0">
              <a:ea typeface="黑体" pitchFamily="49" charset="-122"/>
            </a:endParaRPr>
          </a:p>
        </p:txBody>
      </p:sp>
      <p:sp>
        <p:nvSpPr>
          <p:cNvPr id="57" name="动作按钮: 前进或下一项 5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031D96E-55DB-47F3-B021-C75F3158C2CE}"/>
              </a:ext>
            </a:extLst>
          </p:cNvPr>
          <p:cNvSpPr/>
          <p:nvPr/>
        </p:nvSpPr>
        <p:spPr bwMode="auto">
          <a:xfrm>
            <a:off x="8028384" y="5805264"/>
            <a:ext cx="792088" cy="576064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414BC6-B5E4-4189-A83B-8A2DDB74D969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164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zh-CN" altLang="en-US" dirty="0">
                <a:solidFill>
                  <a:srgbClr val="FF0000"/>
                </a:solidFill>
              </a:rPr>
              <a:t>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4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640763" cy="5616575"/>
          </a:xfrm>
        </p:spPr>
        <p:txBody>
          <a:bodyPr/>
          <a:lstStyle/>
          <a:p>
            <a:r>
              <a:rPr lang="zh-CN" altLang="en-US" dirty="0">
                <a:solidFill>
                  <a:schemeClr val="tx2"/>
                </a:solidFill>
              </a:rPr>
              <a:t>地址变换方法：</a:t>
            </a:r>
          </a:p>
          <a:p>
            <a:pPr marL="80645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由</a:t>
            </a:r>
            <a:r>
              <a:rPr lang="zh-CN" altLang="en-US" dirty="0">
                <a:solidFill>
                  <a:srgbClr val="FF3300"/>
                </a:solidFill>
              </a:rPr>
              <a:t>用户号</a:t>
            </a:r>
            <a:r>
              <a:rPr lang="zh-CN" altLang="en-US" dirty="0"/>
              <a:t>找到</a:t>
            </a:r>
            <a:r>
              <a:rPr lang="zh-CN" altLang="en-US" dirty="0">
                <a:solidFill>
                  <a:srgbClr val="FF3300"/>
                </a:solidFill>
              </a:rPr>
              <a:t>基址寄存器</a:t>
            </a:r>
            <a:r>
              <a:rPr lang="zh-CN" altLang="en-US" dirty="0"/>
              <a:t>；</a:t>
            </a:r>
          </a:p>
          <a:p>
            <a:pPr marL="80645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从基址寄存器中读出</a:t>
            </a:r>
            <a:r>
              <a:rPr lang="zh-CN" altLang="en-US" dirty="0">
                <a:solidFill>
                  <a:srgbClr val="FF3300"/>
                </a:solidFill>
              </a:rPr>
              <a:t>段表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3300"/>
                </a:solidFill>
              </a:rPr>
              <a:t>起始地址</a:t>
            </a:r>
            <a:r>
              <a:rPr lang="zh-CN" altLang="en-US" dirty="0"/>
              <a:t>；</a:t>
            </a:r>
          </a:p>
          <a:p>
            <a:pPr marL="80645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把</a:t>
            </a:r>
            <a:r>
              <a:rPr lang="zh-CN" altLang="en-US" dirty="0">
                <a:solidFill>
                  <a:srgbClr val="FF3300"/>
                </a:solidFill>
              </a:rPr>
              <a:t>起始地址</a:t>
            </a:r>
            <a:r>
              <a:rPr lang="zh-CN" altLang="en-US" dirty="0"/>
              <a:t>与多用户虚地址中</a:t>
            </a:r>
            <a:r>
              <a:rPr lang="zh-CN" altLang="en-US" dirty="0">
                <a:solidFill>
                  <a:srgbClr val="FF3300"/>
                </a:solidFill>
              </a:rPr>
              <a:t>段号</a:t>
            </a:r>
            <a:r>
              <a:rPr lang="zh-CN" altLang="en-US" dirty="0"/>
              <a:t>相加得到</a:t>
            </a:r>
            <a:r>
              <a:rPr lang="zh-CN" altLang="en-US" dirty="0">
                <a:solidFill>
                  <a:srgbClr val="FF3300"/>
                </a:solidFill>
              </a:rPr>
              <a:t>段表地址</a:t>
            </a:r>
            <a:r>
              <a:rPr lang="zh-CN" altLang="en-US" dirty="0"/>
              <a:t>；</a:t>
            </a:r>
          </a:p>
          <a:p>
            <a:pPr marL="80645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把</a:t>
            </a:r>
            <a:r>
              <a:rPr lang="zh-CN" altLang="en-US" dirty="0">
                <a:solidFill>
                  <a:srgbClr val="FF3300"/>
                </a:solidFill>
              </a:rPr>
              <a:t>段表</a:t>
            </a:r>
            <a:r>
              <a:rPr lang="zh-CN" altLang="en-US" dirty="0"/>
              <a:t>中给出的</a:t>
            </a:r>
            <a:r>
              <a:rPr lang="zh-CN" altLang="en-US" dirty="0">
                <a:solidFill>
                  <a:srgbClr val="FF3300"/>
                </a:solidFill>
              </a:rPr>
              <a:t>起始地址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3300"/>
                </a:solidFill>
              </a:rPr>
              <a:t>段内偏移</a:t>
            </a:r>
            <a:r>
              <a:rPr lang="en-US" altLang="zh-CN" dirty="0"/>
              <a:t>D</a:t>
            </a:r>
            <a:r>
              <a:rPr lang="zh-CN" altLang="en-US" dirty="0"/>
              <a:t>相加就能得到</a:t>
            </a:r>
            <a:r>
              <a:rPr lang="zh-CN" altLang="en-US" dirty="0">
                <a:solidFill>
                  <a:srgbClr val="FF3300"/>
                </a:solidFill>
              </a:rPr>
              <a:t>主存实地址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43855C-77BF-46A2-A7C5-EBA5AC5D3654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165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zh-CN" altLang="en-US" dirty="0">
                <a:solidFill>
                  <a:srgbClr val="FF0000"/>
                </a:solidFill>
              </a:rPr>
              <a:t>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50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237288"/>
            <a:ext cx="8640763" cy="431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zh-CN" altLang="en-US" sz="2400"/>
          </a:p>
        </p:txBody>
      </p:sp>
      <p:sp>
        <p:nvSpPr>
          <p:cNvPr id="1650692" name="Line 4"/>
          <p:cNvSpPr>
            <a:spLocks noChangeAspect="1" noChangeShapeType="1"/>
          </p:cNvSpPr>
          <p:nvPr/>
        </p:nvSpPr>
        <p:spPr bwMode="auto">
          <a:xfrm flipV="1">
            <a:off x="320675" y="2708275"/>
            <a:ext cx="1812925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693" name="Rectangle 5"/>
          <p:cNvSpPr>
            <a:spLocks noChangeAspect="1" noChangeArrowheads="1"/>
          </p:cNvSpPr>
          <p:nvPr/>
        </p:nvSpPr>
        <p:spPr bwMode="auto">
          <a:xfrm flipH="1">
            <a:off x="395288" y="3175000"/>
            <a:ext cx="642937" cy="4032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650694" name="Rectangle 6"/>
          <p:cNvSpPr>
            <a:spLocks noChangeAspect="1" noChangeArrowheads="1"/>
          </p:cNvSpPr>
          <p:nvPr/>
        </p:nvSpPr>
        <p:spPr bwMode="auto">
          <a:xfrm>
            <a:off x="1038225" y="5241925"/>
            <a:ext cx="773113" cy="635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段表</a:t>
            </a:r>
            <a:b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</a:b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长度</a:t>
            </a:r>
          </a:p>
        </p:txBody>
      </p:sp>
      <p:sp>
        <p:nvSpPr>
          <p:cNvPr id="1650695" name="Rectangle 7"/>
          <p:cNvSpPr>
            <a:spLocks noChangeAspect="1" noChangeArrowheads="1"/>
          </p:cNvSpPr>
          <p:nvPr/>
        </p:nvSpPr>
        <p:spPr bwMode="auto">
          <a:xfrm>
            <a:off x="1811338" y="5241925"/>
            <a:ext cx="771525" cy="635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段表</a:t>
            </a:r>
            <a:b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</a:b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基址</a:t>
            </a:r>
          </a:p>
        </p:txBody>
      </p:sp>
      <p:sp>
        <p:nvSpPr>
          <p:cNvPr id="1650696" name="Rectangle 8"/>
          <p:cNvSpPr>
            <a:spLocks noChangeAspect="1" noChangeArrowheads="1"/>
          </p:cNvSpPr>
          <p:nvPr/>
        </p:nvSpPr>
        <p:spPr bwMode="auto">
          <a:xfrm>
            <a:off x="1038225" y="4792663"/>
            <a:ext cx="773113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en-US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697" name="Rectangle 9"/>
          <p:cNvSpPr>
            <a:spLocks noChangeAspect="1" noChangeArrowheads="1"/>
          </p:cNvSpPr>
          <p:nvPr/>
        </p:nvSpPr>
        <p:spPr bwMode="auto">
          <a:xfrm>
            <a:off x="1811338" y="4792663"/>
            <a:ext cx="771525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698" name="Rectangle 10"/>
          <p:cNvSpPr>
            <a:spLocks noChangeAspect="1" noChangeArrowheads="1"/>
          </p:cNvSpPr>
          <p:nvPr/>
        </p:nvSpPr>
        <p:spPr bwMode="auto">
          <a:xfrm>
            <a:off x="1038225" y="3983038"/>
            <a:ext cx="773113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5</a:t>
            </a:r>
          </a:p>
        </p:txBody>
      </p:sp>
      <p:sp>
        <p:nvSpPr>
          <p:cNvPr id="1650699" name="Rectangle 11"/>
          <p:cNvSpPr>
            <a:spLocks noChangeAspect="1" noChangeArrowheads="1"/>
          </p:cNvSpPr>
          <p:nvPr/>
        </p:nvSpPr>
        <p:spPr bwMode="auto">
          <a:xfrm>
            <a:off x="1809750" y="3983038"/>
            <a:ext cx="771525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2400" dirty="0">
                <a:latin typeface="Book Antiqua" pitchFamily="18" charset="0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650700" name="Rectangle 12"/>
          <p:cNvSpPr>
            <a:spLocks noChangeAspect="1" noChangeArrowheads="1"/>
          </p:cNvSpPr>
          <p:nvPr/>
        </p:nvSpPr>
        <p:spPr bwMode="auto">
          <a:xfrm>
            <a:off x="1038225" y="4387850"/>
            <a:ext cx="773113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en-US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01" name="Rectangle 13"/>
          <p:cNvSpPr>
            <a:spLocks noChangeAspect="1" noChangeArrowheads="1"/>
          </p:cNvSpPr>
          <p:nvPr/>
        </p:nvSpPr>
        <p:spPr bwMode="auto">
          <a:xfrm>
            <a:off x="1811338" y="4387850"/>
            <a:ext cx="771525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02" name="Rectangle 14"/>
          <p:cNvSpPr>
            <a:spLocks noChangeAspect="1" noChangeArrowheads="1"/>
          </p:cNvSpPr>
          <p:nvPr/>
        </p:nvSpPr>
        <p:spPr bwMode="auto">
          <a:xfrm>
            <a:off x="1038225" y="3578225"/>
            <a:ext cx="773113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en-US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03" name="Rectangle 15"/>
          <p:cNvSpPr>
            <a:spLocks noChangeAspect="1" noChangeArrowheads="1"/>
          </p:cNvSpPr>
          <p:nvPr/>
        </p:nvSpPr>
        <p:spPr bwMode="auto">
          <a:xfrm>
            <a:off x="1811338" y="3578225"/>
            <a:ext cx="771525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04" name="Rectangle 16"/>
          <p:cNvSpPr>
            <a:spLocks noChangeAspect="1" noChangeArrowheads="1"/>
          </p:cNvSpPr>
          <p:nvPr/>
        </p:nvSpPr>
        <p:spPr bwMode="auto">
          <a:xfrm>
            <a:off x="1038225" y="3175000"/>
            <a:ext cx="773113" cy="40322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en-US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05" name="Rectangle 17"/>
          <p:cNvSpPr>
            <a:spLocks noChangeAspect="1" noChangeArrowheads="1"/>
          </p:cNvSpPr>
          <p:nvPr/>
        </p:nvSpPr>
        <p:spPr bwMode="auto">
          <a:xfrm>
            <a:off x="1811338" y="3175000"/>
            <a:ext cx="771525" cy="40322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06" name="Rectangle 18"/>
          <p:cNvSpPr>
            <a:spLocks noChangeAspect="1" noChangeArrowheads="1"/>
          </p:cNvSpPr>
          <p:nvPr/>
        </p:nvSpPr>
        <p:spPr bwMode="auto">
          <a:xfrm>
            <a:off x="3419475" y="5234051"/>
            <a:ext cx="773113" cy="635000"/>
          </a:xfrm>
          <a:prstGeom prst="rect">
            <a:avLst/>
          </a:prstGeom>
          <a:noFill/>
          <a:ln w="28575">
            <a:noFill/>
            <a:prstDash val="dash"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+mn-lt"/>
                <a:ea typeface="楷体" panose="02010609060101010101" pitchFamily="49" charset="-122"/>
              </a:rPr>
              <a:t>段名</a:t>
            </a:r>
            <a:r>
              <a:rPr kumimoji="1" lang="en-US" altLang="zh-CN" sz="2000" dirty="0">
                <a:latin typeface="+mn-lt"/>
                <a:ea typeface="楷体" panose="02010609060101010101" pitchFamily="49" charset="-122"/>
              </a:rPr>
              <a:t>/</a:t>
            </a:r>
            <a:br>
              <a:rPr kumimoji="1" lang="en-US" altLang="zh-CN" sz="2000" dirty="0">
                <a:latin typeface="+mn-lt"/>
                <a:ea typeface="楷体" panose="02010609060101010101" pitchFamily="49" charset="-122"/>
              </a:rPr>
            </a:br>
            <a:r>
              <a:rPr kumimoji="1" lang="zh-CN" altLang="en-US" sz="2000" dirty="0">
                <a:latin typeface="+mn-lt"/>
                <a:ea typeface="楷体" panose="02010609060101010101" pitchFamily="49" charset="-122"/>
              </a:rPr>
              <a:t>段号</a:t>
            </a:r>
          </a:p>
        </p:txBody>
      </p:sp>
      <p:sp>
        <p:nvSpPr>
          <p:cNvPr id="1650707" name="Rectangle 19"/>
          <p:cNvSpPr>
            <a:spLocks noChangeAspect="1" noChangeArrowheads="1"/>
          </p:cNvSpPr>
          <p:nvPr/>
        </p:nvSpPr>
        <p:spPr bwMode="auto">
          <a:xfrm>
            <a:off x="4192588" y="5234051"/>
            <a:ext cx="771525" cy="635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起始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Book Antiqua" pitchFamily="18" charset="0"/>
                <a:ea typeface="楷体" panose="02010609060101010101" pitchFamily="49" charset="-122"/>
              </a:rPr>
              <a:t>地址</a:t>
            </a:r>
          </a:p>
        </p:txBody>
      </p:sp>
      <p:sp>
        <p:nvSpPr>
          <p:cNvPr id="1650708" name="Rectangle 20"/>
          <p:cNvSpPr>
            <a:spLocks noChangeAspect="1" noChangeArrowheads="1"/>
          </p:cNvSpPr>
          <p:nvPr/>
        </p:nvSpPr>
        <p:spPr bwMode="auto">
          <a:xfrm>
            <a:off x="4964113" y="5234051"/>
            <a:ext cx="773112" cy="635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装入</a:t>
            </a:r>
            <a:b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</a:b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位</a:t>
            </a:r>
          </a:p>
        </p:txBody>
      </p:sp>
      <p:sp>
        <p:nvSpPr>
          <p:cNvPr id="1650709" name="Rectangle 21"/>
          <p:cNvSpPr>
            <a:spLocks noChangeAspect="1" noChangeArrowheads="1"/>
          </p:cNvSpPr>
          <p:nvPr/>
        </p:nvSpPr>
        <p:spPr bwMode="auto">
          <a:xfrm>
            <a:off x="5737225" y="5234051"/>
            <a:ext cx="771525" cy="635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段长</a:t>
            </a:r>
          </a:p>
        </p:txBody>
      </p:sp>
      <p:sp>
        <p:nvSpPr>
          <p:cNvPr id="1650710" name="Rectangle 22"/>
          <p:cNvSpPr>
            <a:spLocks noChangeAspect="1" noChangeArrowheads="1"/>
          </p:cNvSpPr>
          <p:nvPr/>
        </p:nvSpPr>
        <p:spPr bwMode="auto">
          <a:xfrm>
            <a:off x="6508750" y="5234051"/>
            <a:ext cx="773113" cy="635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访问</a:t>
            </a:r>
            <a:b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</a:b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方式</a:t>
            </a:r>
          </a:p>
        </p:txBody>
      </p:sp>
      <p:sp>
        <p:nvSpPr>
          <p:cNvPr id="1650711" name="Rectangle 23"/>
          <p:cNvSpPr>
            <a:spLocks noChangeAspect="1" noChangeArrowheads="1"/>
          </p:cNvSpPr>
          <p:nvPr/>
        </p:nvSpPr>
        <p:spPr bwMode="auto">
          <a:xfrm>
            <a:off x="1746250" y="1903413"/>
            <a:ext cx="1609725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用户号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1650712" name="Rectangle 24"/>
          <p:cNvSpPr>
            <a:spLocks noChangeAspect="1" noChangeArrowheads="1"/>
          </p:cNvSpPr>
          <p:nvPr/>
        </p:nvSpPr>
        <p:spPr bwMode="auto">
          <a:xfrm>
            <a:off x="3355975" y="1903413"/>
            <a:ext cx="1093788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段号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1650713" name="Rectangle 25"/>
          <p:cNvSpPr>
            <a:spLocks noChangeAspect="1" noChangeArrowheads="1"/>
          </p:cNvSpPr>
          <p:nvPr/>
        </p:nvSpPr>
        <p:spPr bwMode="auto">
          <a:xfrm>
            <a:off x="4449763" y="1903413"/>
            <a:ext cx="2832100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段内偏移</a:t>
            </a: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D</a:t>
            </a:r>
          </a:p>
        </p:txBody>
      </p:sp>
      <p:sp>
        <p:nvSpPr>
          <p:cNvPr id="1650714" name="Rectangle 26"/>
          <p:cNvSpPr>
            <a:spLocks noChangeAspect="1" noChangeArrowheads="1"/>
          </p:cNvSpPr>
          <p:nvPr/>
        </p:nvSpPr>
        <p:spPr bwMode="auto">
          <a:xfrm>
            <a:off x="588963" y="1787525"/>
            <a:ext cx="1093787" cy="6937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多用户</a:t>
            </a:r>
            <a:b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</a:b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虚地址</a:t>
            </a: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15" name="Rectangle 27"/>
          <p:cNvSpPr>
            <a:spLocks noChangeAspect="1" noChangeArrowheads="1"/>
          </p:cNvSpPr>
          <p:nvPr/>
        </p:nvSpPr>
        <p:spPr bwMode="auto">
          <a:xfrm>
            <a:off x="5414963" y="2538413"/>
            <a:ext cx="1866900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主存实地址</a:t>
            </a: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16" name="Rectangle 28"/>
          <p:cNvSpPr>
            <a:spLocks noChangeAspect="1" noChangeArrowheads="1"/>
          </p:cNvSpPr>
          <p:nvPr/>
        </p:nvSpPr>
        <p:spPr bwMode="auto">
          <a:xfrm>
            <a:off x="4192588" y="4792663"/>
            <a:ext cx="771525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17" name="Rectangle 29"/>
          <p:cNvSpPr>
            <a:spLocks noChangeAspect="1" noChangeArrowheads="1"/>
          </p:cNvSpPr>
          <p:nvPr/>
        </p:nvSpPr>
        <p:spPr bwMode="auto">
          <a:xfrm>
            <a:off x="4964113" y="4792663"/>
            <a:ext cx="773112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18" name="Rectangle 30"/>
          <p:cNvSpPr>
            <a:spLocks noChangeAspect="1" noChangeArrowheads="1"/>
          </p:cNvSpPr>
          <p:nvPr/>
        </p:nvSpPr>
        <p:spPr bwMode="auto">
          <a:xfrm>
            <a:off x="5737225" y="4792663"/>
            <a:ext cx="771525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19" name="Rectangle 31"/>
          <p:cNvSpPr>
            <a:spLocks noChangeAspect="1" noChangeArrowheads="1"/>
          </p:cNvSpPr>
          <p:nvPr/>
        </p:nvSpPr>
        <p:spPr bwMode="auto">
          <a:xfrm>
            <a:off x="6508750" y="4792663"/>
            <a:ext cx="773113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20" name="Rectangle 32"/>
          <p:cNvSpPr>
            <a:spLocks noChangeAspect="1" noChangeArrowheads="1"/>
          </p:cNvSpPr>
          <p:nvPr/>
        </p:nvSpPr>
        <p:spPr bwMode="auto">
          <a:xfrm>
            <a:off x="3419475" y="4792663"/>
            <a:ext cx="773113" cy="404812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 dirty="0">
                <a:latin typeface="Book Antiqua" pitchFamily="18" charset="0"/>
                <a:ea typeface="楷体" panose="02010609060101010101" pitchFamily="49" charset="-122"/>
              </a:rPr>
              <a:t>4</a:t>
            </a:r>
          </a:p>
        </p:txBody>
      </p:sp>
      <p:sp>
        <p:nvSpPr>
          <p:cNvPr id="1650721" name="Rectangle 33"/>
          <p:cNvSpPr>
            <a:spLocks noChangeAspect="1" noChangeArrowheads="1"/>
          </p:cNvSpPr>
          <p:nvPr/>
        </p:nvSpPr>
        <p:spPr bwMode="auto">
          <a:xfrm>
            <a:off x="4192588" y="4387850"/>
            <a:ext cx="771525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22" name="Rectangle 34"/>
          <p:cNvSpPr>
            <a:spLocks noChangeAspect="1" noChangeArrowheads="1"/>
          </p:cNvSpPr>
          <p:nvPr/>
        </p:nvSpPr>
        <p:spPr bwMode="auto">
          <a:xfrm>
            <a:off x="4964113" y="4387850"/>
            <a:ext cx="773112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23" name="Rectangle 35"/>
          <p:cNvSpPr>
            <a:spLocks noChangeAspect="1" noChangeArrowheads="1"/>
          </p:cNvSpPr>
          <p:nvPr/>
        </p:nvSpPr>
        <p:spPr bwMode="auto">
          <a:xfrm>
            <a:off x="5737225" y="4387850"/>
            <a:ext cx="771525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24" name="Rectangle 36"/>
          <p:cNvSpPr>
            <a:spLocks noChangeAspect="1" noChangeArrowheads="1"/>
          </p:cNvSpPr>
          <p:nvPr/>
        </p:nvSpPr>
        <p:spPr bwMode="auto">
          <a:xfrm>
            <a:off x="6508750" y="4387850"/>
            <a:ext cx="773113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25" name="Rectangle 37"/>
          <p:cNvSpPr>
            <a:spLocks noChangeAspect="1" noChangeArrowheads="1"/>
          </p:cNvSpPr>
          <p:nvPr/>
        </p:nvSpPr>
        <p:spPr bwMode="auto">
          <a:xfrm>
            <a:off x="3419475" y="4387850"/>
            <a:ext cx="773113" cy="404813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 dirty="0">
                <a:latin typeface="Book Antiqua" pitchFamily="18" charset="0"/>
                <a:ea typeface="楷体" panose="02010609060101010101" pitchFamily="49" charset="-122"/>
              </a:rPr>
              <a:t>3</a:t>
            </a:r>
          </a:p>
        </p:txBody>
      </p:sp>
      <p:sp>
        <p:nvSpPr>
          <p:cNvPr id="1650726" name="Rectangle 38"/>
          <p:cNvSpPr>
            <a:spLocks noChangeAspect="1" noChangeArrowheads="1"/>
          </p:cNvSpPr>
          <p:nvPr/>
        </p:nvSpPr>
        <p:spPr bwMode="auto">
          <a:xfrm>
            <a:off x="4192588" y="3983038"/>
            <a:ext cx="771525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27" name="Rectangle 39"/>
          <p:cNvSpPr>
            <a:spLocks noChangeAspect="1" noChangeArrowheads="1"/>
          </p:cNvSpPr>
          <p:nvPr/>
        </p:nvSpPr>
        <p:spPr bwMode="auto">
          <a:xfrm>
            <a:off x="5737225" y="3983038"/>
            <a:ext cx="771525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28" name="Rectangle 40"/>
          <p:cNvSpPr>
            <a:spLocks noChangeAspect="1" noChangeArrowheads="1"/>
          </p:cNvSpPr>
          <p:nvPr/>
        </p:nvSpPr>
        <p:spPr bwMode="auto">
          <a:xfrm>
            <a:off x="6508750" y="3983038"/>
            <a:ext cx="773113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29" name="Rectangle 41"/>
          <p:cNvSpPr>
            <a:spLocks noChangeAspect="1" noChangeArrowheads="1"/>
          </p:cNvSpPr>
          <p:nvPr/>
        </p:nvSpPr>
        <p:spPr bwMode="auto">
          <a:xfrm>
            <a:off x="3419475" y="3983038"/>
            <a:ext cx="773113" cy="404812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 dirty="0">
                <a:latin typeface="Book Antiqua" pitchFamily="18" charset="0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1650730" name="Rectangle 42"/>
          <p:cNvSpPr>
            <a:spLocks noChangeAspect="1" noChangeArrowheads="1"/>
          </p:cNvSpPr>
          <p:nvPr/>
        </p:nvSpPr>
        <p:spPr bwMode="auto">
          <a:xfrm>
            <a:off x="4192588" y="3578225"/>
            <a:ext cx="771525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31" name="Rectangle 43"/>
          <p:cNvSpPr>
            <a:spLocks noChangeAspect="1" noChangeArrowheads="1"/>
          </p:cNvSpPr>
          <p:nvPr/>
        </p:nvSpPr>
        <p:spPr bwMode="auto">
          <a:xfrm>
            <a:off x="4964113" y="3578225"/>
            <a:ext cx="773112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32" name="Rectangle 44"/>
          <p:cNvSpPr>
            <a:spLocks noChangeAspect="1" noChangeArrowheads="1"/>
          </p:cNvSpPr>
          <p:nvPr/>
        </p:nvSpPr>
        <p:spPr bwMode="auto">
          <a:xfrm>
            <a:off x="5737225" y="3578225"/>
            <a:ext cx="771525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33" name="Rectangle 45"/>
          <p:cNvSpPr>
            <a:spLocks noChangeAspect="1" noChangeArrowheads="1"/>
          </p:cNvSpPr>
          <p:nvPr/>
        </p:nvSpPr>
        <p:spPr bwMode="auto">
          <a:xfrm>
            <a:off x="6508750" y="3578225"/>
            <a:ext cx="773113" cy="404813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34" name="Rectangle 46"/>
          <p:cNvSpPr>
            <a:spLocks noChangeAspect="1" noChangeArrowheads="1"/>
          </p:cNvSpPr>
          <p:nvPr/>
        </p:nvSpPr>
        <p:spPr bwMode="auto">
          <a:xfrm>
            <a:off x="3419475" y="3578225"/>
            <a:ext cx="773113" cy="404813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 dirty="0">
                <a:latin typeface="Book Antiqua" pitchFamily="18" charset="0"/>
                <a:ea typeface="楷体" panose="02010609060101010101" pitchFamily="49" charset="-122"/>
              </a:rPr>
              <a:t>1</a:t>
            </a:r>
          </a:p>
        </p:txBody>
      </p:sp>
      <p:sp>
        <p:nvSpPr>
          <p:cNvPr id="1650735" name="Rectangle 47"/>
          <p:cNvSpPr>
            <a:spLocks noChangeAspect="1" noChangeArrowheads="1"/>
          </p:cNvSpPr>
          <p:nvPr/>
        </p:nvSpPr>
        <p:spPr bwMode="auto">
          <a:xfrm>
            <a:off x="4192588" y="3175000"/>
            <a:ext cx="771525" cy="40322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36" name="Rectangle 48"/>
          <p:cNvSpPr>
            <a:spLocks noChangeAspect="1" noChangeArrowheads="1"/>
          </p:cNvSpPr>
          <p:nvPr/>
        </p:nvSpPr>
        <p:spPr bwMode="auto">
          <a:xfrm>
            <a:off x="4964113" y="3175000"/>
            <a:ext cx="773112" cy="40322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37" name="Rectangle 49"/>
          <p:cNvSpPr>
            <a:spLocks noChangeAspect="1" noChangeArrowheads="1"/>
          </p:cNvSpPr>
          <p:nvPr/>
        </p:nvSpPr>
        <p:spPr bwMode="auto">
          <a:xfrm>
            <a:off x="5737225" y="3175000"/>
            <a:ext cx="771525" cy="40322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38" name="Rectangle 50"/>
          <p:cNvSpPr>
            <a:spLocks noChangeAspect="1" noChangeArrowheads="1"/>
          </p:cNvSpPr>
          <p:nvPr/>
        </p:nvSpPr>
        <p:spPr bwMode="auto">
          <a:xfrm>
            <a:off x="6508750" y="3175000"/>
            <a:ext cx="773113" cy="40322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39" name="Rectangle 51"/>
          <p:cNvSpPr>
            <a:spLocks noChangeAspect="1" noChangeArrowheads="1"/>
          </p:cNvSpPr>
          <p:nvPr/>
        </p:nvSpPr>
        <p:spPr bwMode="auto">
          <a:xfrm>
            <a:off x="3419475" y="3175000"/>
            <a:ext cx="773113" cy="403225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 dirty="0">
                <a:latin typeface="Book Antiqua" pitchFamily="18" charset="0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650740" name="AutoShape 52"/>
          <p:cNvSpPr>
            <a:spLocks noChangeAspect="1" noChangeArrowheads="1"/>
          </p:cNvSpPr>
          <p:nvPr/>
        </p:nvSpPr>
        <p:spPr bwMode="auto">
          <a:xfrm>
            <a:off x="2822575" y="4098925"/>
            <a:ext cx="193675" cy="193675"/>
          </a:xfrm>
          <a:prstGeom prst="flowChartOr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41" name="Line 53"/>
          <p:cNvSpPr>
            <a:spLocks noChangeAspect="1" noChangeShapeType="1"/>
          </p:cNvSpPr>
          <p:nvPr/>
        </p:nvSpPr>
        <p:spPr bwMode="auto">
          <a:xfrm flipV="1">
            <a:off x="2519363" y="4186238"/>
            <a:ext cx="296862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42" name="Line 54"/>
          <p:cNvSpPr>
            <a:spLocks noChangeAspect="1" noChangeShapeType="1"/>
          </p:cNvSpPr>
          <p:nvPr/>
        </p:nvSpPr>
        <p:spPr bwMode="auto">
          <a:xfrm flipV="1">
            <a:off x="3028950" y="4192588"/>
            <a:ext cx="390525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43" name="Line 55"/>
          <p:cNvSpPr>
            <a:spLocks noChangeAspect="1" noChangeShapeType="1"/>
          </p:cNvSpPr>
          <p:nvPr/>
        </p:nvSpPr>
        <p:spPr bwMode="auto">
          <a:xfrm>
            <a:off x="2919413" y="2597150"/>
            <a:ext cx="0" cy="14890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44" name="Line 56"/>
          <p:cNvSpPr>
            <a:spLocks noChangeAspect="1" noChangeShapeType="1"/>
          </p:cNvSpPr>
          <p:nvPr/>
        </p:nvSpPr>
        <p:spPr bwMode="auto">
          <a:xfrm flipV="1">
            <a:off x="2921000" y="2597150"/>
            <a:ext cx="949325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45" name="Line 57"/>
          <p:cNvSpPr>
            <a:spLocks noChangeAspect="1" noChangeShapeType="1"/>
          </p:cNvSpPr>
          <p:nvPr/>
        </p:nvSpPr>
        <p:spPr bwMode="auto">
          <a:xfrm flipV="1">
            <a:off x="3870325" y="2308225"/>
            <a:ext cx="0" cy="28892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46" name="Rectangle 58"/>
          <p:cNvSpPr>
            <a:spLocks noChangeAspect="1" noChangeArrowheads="1"/>
          </p:cNvSpPr>
          <p:nvPr/>
        </p:nvSpPr>
        <p:spPr bwMode="auto">
          <a:xfrm>
            <a:off x="4964113" y="3983038"/>
            <a:ext cx="773112" cy="40481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 dirty="0">
                <a:latin typeface="Book Antiqua" pitchFamily="18" charset="0"/>
                <a:ea typeface="楷体" panose="02010609060101010101" pitchFamily="49" charset="-122"/>
              </a:rPr>
              <a:t>1</a:t>
            </a:r>
          </a:p>
        </p:txBody>
      </p:sp>
      <p:sp>
        <p:nvSpPr>
          <p:cNvPr id="1650747" name="AutoShape 59"/>
          <p:cNvSpPr>
            <a:spLocks noChangeAspect="1" noChangeArrowheads="1"/>
          </p:cNvSpPr>
          <p:nvPr/>
        </p:nvSpPr>
        <p:spPr bwMode="auto">
          <a:xfrm>
            <a:off x="4610100" y="2654300"/>
            <a:ext cx="193675" cy="198438"/>
          </a:xfrm>
          <a:prstGeom prst="flowChartOr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48" name="Line 60"/>
          <p:cNvSpPr>
            <a:spLocks noChangeAspect="1" noChangeShapeType="1"/>
          </p:cNvSpPr>
          <p:nvPr/>
        </p:nvSpPr>
        <p:spPr bwMode="auto">
          <a:xfrm flipV="1">
            <a:off x="4706938" y="2827338"/>
            <a:ext cx="0" cy="133032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49" name="Line 61"/>
          <p:cNvSpPr>
            <a:spLocks noChangeAspect="1" noChangeShapeType="1"/>
          </p:cNvSpPr>
          <p:nvPr/>
        </p:nvSpPr>
        <p:spPr bwMode="auto">
          <a:xfrm>
            <a:off x="4706938" y="2308225"/>
            <a:ext cx="0" cy="3460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50" name="Line 62"/>
          <p:cNvSpPr>
            <a:spLocks noChangeAspect="1" noChangeShapeType="1"/>
          </p:cNvSpPr>
          <p:nvPr/>
        </p:nvSpPr>
        <p:spPr bwMode="auto">
          <a:xfrm flipV="1">
            <a:off x="4835525" y="2732088"/>
            <a:ext cx="579438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51" name="Line 63"/>
          <p:cNvSpPr>
            <a:spLocks noChangeAspect="1" noChangeShapeType="1"/>
          </p:cNvSpPr>
          <p:nvPr/>
        </p:nvSpPr>
        <p:spPr bwMode="auto">
          <a:xfrm flipV="1">
            <a:off x="2133600" y="2308225"/>
            <a:ext cx="0" cy="4000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52" name="Line 64"/>
          <p:cNvSpPr>
            <a:spLocks noChangeAspect="1" noChangeShapeType="1"/>
          </p:cNvSpPr>
          <p:nvPr/>
        </p:nvSpPr>
        <p:spPr bwMode="auto">
          <a:xfrm flipV="1">
            <a:off x="323850" y="2708275"/>
            <a:ext cx="0" cy="146843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53" name="Line 65"/>
          <p:cNvSpPr>
            <a:spLocks noChangeAspect="1" noChangeShapeType="1"/>
          </p:cNvSpPr>
          <p:nvPr/>
        </p:nvSpPr>
        <p:spPr bwMode="auto">
          <a:xfrm flipV="1">
            <a:off x="330200" y="4176713"/>
            <a:ext cx="428625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754" name="Rectangle 66"/>
          <p:cNvSpPr>
            <a:spLocks noChangeAspect="1" noChangeArrowheads="1"/>
          </p:cNvSpPr>
          <p:nvPr/>
        </p:nvSpPr>
        <p:spPr bwMode="auto">
          <a:xfrm flipH="1">
            <a:off x="428625" y="4792663"/>
            <a:ext cx="642938" cy="4048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n-1</a:t>
            </a:r>
          </a:p>
        </p:txBody>
      </p:sp>
      <p:sp>
        <p:nvSpPr>
          <p:cNvPr id="1650755" name="Rectangle 67"/>
          <p:cNvSpPr>
            <a:spLocks noChangeAspect="1" noChangeArrowheads="1"/>
          </p:cNvSpPr>
          <p:nvPr/>
        </p:nvSpPr>
        <p:spPr bwMode="auto">
          <a:xfrm flipH="1">
            <a:off x="2760663" y="3024188"/>
            <a:ext cx="642937" cy="4048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2400" dirty="0">
                <a:latin typeface="Book Antiqua" pitchFamily="18" charset="0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650756" name="Rectangle 68"/>
          <p:cNvSpPr>
            <a:spLocks noChangeAspect="1" noChangeArrowheads="1"/>
          </p:cNvSpPr>
          <p:nvPr/>
        </p:nvSpPr>
        <p:spPr bwMode="auto">
          <a:xfrm>
            <a:off x="468313" y="2794000"/>
            <a:ext cx="2509837" cy="34766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Book Antiqua" pitchFamily="18" charset="0"/>
                <a:ea typeface="楷体" panose="02010609060101010101" pitchFamily="49" charset="-122"/>
              </a:rPr>
              <a:t>段表基址寄存器</a:t>
            </a:r>
            <a:endParaRPr kumimoji="1" lang="zh-CN" altLang="zh-CN" sz="2000" dirty="0">
              <a:solidFill>
                <a:srgbClr val="FF3300"/>
              </a:solidFill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57" name="Rectangle 69"/>
          <p:cNvSpPr>
            <a:spLocks noChangeAspect="1" noChangeArrowheads="1"/>
          </p:cNvSpPr>
          <p:nvPr/>
        </p:nvSpPr>
        <p:spPr bwMode="auto">
          <a:xfrm>
            <a:off x="3203575" y="5746750"/>
            <a:ext cx="4440238" cy="3460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latin typeface="Book Antiqua" pitchFamily="18" charset="0"/>
                <a:ea typeface="楷体" panose="02010609060101010101" pitchFamily="49" charset="-122"/>
              </a:rPr>
              <a:t>一个用户（一道作业）的</a:t>
            </a:r>
            <a:r>
              <a:rPr kumimoji="1" lang="zh-CN" altLang="en-US" sz="2000" dirty="0">
                <a:solidFill>
                  <a:srgbClr val="FF3300"/>
                </a:solidFill>
                <a:latin typeface="Book Antiqua" pitchFamily="18" charset="0"/>
                <a:ea typeface="楷体" panose="02010609060101010101" pitchFamily="49" charset="-122"/>
              </a:rPr>
              <a:t>段表</a:t>
            </a:r>
            <a:endParaRPr kumimoji="1" lang="zh-CN" altLang="zh-CN" sz="2000" dirty="0">
              <a:solidFill>
                <a:srgbClr val="FF3300"/>
              </a:solidFill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0758" name="Rectangle 70"/>
          <p:cNvSpPr>
            <a:spLocks noChangeArrowheads="1"/>
          </p:cNvSpPr>
          <p:nvPr/>
        </p:nvSpPr>
        <p:spPr bwMode="auto">
          <a:xfrm>
            <a:off x="1404938" y="1052513"/>
            <a:ext cx="5183187" cy="57626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rgbClr val="0000FF"/>
                </a:solidFill>
                <a:latin typeface="Arial" pitchFamily="34" charset="0"/>
                <a:ea typeface="黑体" pitchFamily="49" charset="-122"/>
              </a:rPr>
              <a:t>段式虚拟存储器的地址变换</a:t>
            </a:r>
          </a:p>
        </p:txBody>
      </p:sp>
      <p:sp>
        <p:nvSpPr>
          <p:cNvPr id="1650759" name="AutoShape 71"/>
          <p:cNvSpPr>
            <a:spLocks noChangeArrowheads="1"/>
          </p:cNvSpPr>
          <p:nvPr/>
        </p:nvSpPr>
        <p:spPr bwMode="auto">
          <a:xfrm>
            <a:off x="7164388" y="3644900"/>
            <a:ext cx="1655762" cy="503238"/>
          </a:xfrm>
          <a:prstGeom prst="wedgeRoundRectCallout">
            <a:avLst>
              <a:gd name="adj1" fmla="val -108389"/>
              <a:gd name="adj2" fmla="val 230440"/>
              <a:gd name="adj3" fmla="val 16667"/>
            </a:avLst>
          </a:prstGeom>
          <a:solidFill>
            <a:srgbClr val="FFFF99"/>
          </a:solidFill>
          <a:ln w="38100" algn="ctr">
            <a:solidFill>
              <a:srgbClr val="FF3399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8000"/>
                </a:solidFill>
                <a:latin typeface="Arial" pitchFamily="34" charset="0"/>
              </a:rPr>
              <a:t>越段界检查</a:t>
            </a:r>
          </a:p>
        </p:txBody>
      </p:sp>
      <p:sp>
        <p:nvSpPr>
          <p:cNvPr id="1650760" name="AutoShape 72"/>
          <p:cNvSpPr>
            <a:spLocks noChangeArrowheads="1"/>
          </p:cNvSpPr>
          <p:nvPr/>
        </p:nvSpPr>
        <p:spPr bwMode="auto">
          <a:xfrm>
            <a:off x="6948488" y="4292600"/>
            <a:ext cx="2016125" cy="503238"/>
          </a:xfrm>
          <a:prstGeom prst="wedgeRoundRectCallout">
            <a:avLst>
              <a:gd name="adj1" fmla="val -45750"/>
              <a:gd name="adj2" fmla="val 105838"/>
              <a:gd name="adj3" fmla="val 16667"/>
            </a:avLst>
          </a:prstGeom>
          <a:solidFill>
            <a:srgbClr val="FFFF99"/>
          </a:solidFill>
          <a:ln w="38100" algn="ctr">
            <a:solidFill>
              <a:srgbClr val="FF3399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8000"/>
                </a:solidFill>
                <a:latin typeface="Arial" pitchFamily="34" charset="0"/>
              </a:rPr>
              <a:t>访问方式保护</a:t>
            </a:r>
          </a:p>
        </p:txBody>
      </p:sp>
      <p:sp>
        <p:nvSpPr>
          <p:cNvPr id="1650761" name="AutoShape 73"/>
          <p:cNvSpPr>
            <a:spLocks noChangeArrowheads="1"/>
          </p:cNvSpPr>
          <p:nvPr/>
        </p:nvSpPr>
        <p:spPr bwMode="auto">
          <a:xfrm>
            <a:off x="6372225" y="1196975"/>
            <a:ext cx="2232025" cy="503238"/>
          </a:xfrm>
          <a:prstGeom prst="wedgeRoundRectCallout">
            <a:avLst>
              <a:gd name="adj1" fmla="val -188407"/>
              <a:gd name="adj2" fmla="val 115931"/>
              <a:gd name="adj3" fmla="val 16667"/>
            </a:avLst>
          </a:prstGeom>
          <a:solidFill>
            <a:srgbClr val="FFFF99"/>
          </a:solidFill>
          <a:ln w="38100" algn="ctr">
            <a:solidFill>
              <a:srgbClr val="FF3399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8000"/>
                </a:solidFill>
                <a:latin typeface="Arial" pitchFamily="34" charset="0"/>
              </a:rPr>
              <a:t>程序号（基号）</a:t>
            </a:r>
          </a:p>
        </p:txBody>
      </p:sp>
      <p:sp>
        <p:nvSpPr>
          <p:cNvPr id="1650762" name="Rectangle 74"/>
          <p:cNvSpPr>
            <a:spLocks noChangeAspect="1" noChangeArrowheads="1"/>
          </p:cNvSpPr>
          <p:nvPr/>
        </p:nvSpPr>
        <p:spPr bwMode="auto">
          <a:xfrm flipH="1">
            <a:off x="409575" y="3973513"/>
            <a:ext cx="642938" cy="4048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2000" dirty="0">
                <a:latin typeface="Book Antiqua" pitchFamily="18" charset="0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650763" name="Rectangle 75"/>
          <p:cNvSpPr>
            <a:spLocks noChangeAspect="1" noChangeArrowheads="1"/>
          </p:cNvSpPr>
          <p:nvPr/>
        </p:nvSpPr>
        <p:spPr bwMode="auto">
          <a:xfrm flipH="1">
            <a:off x="2352675" y="2246313"/>
            <a:ext cx="414338" cy="4048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2000" dirty="0">
                <a:solidFill>
                  <a:srgbClr val="0000FF"/>
                </a:solidFill>
                <a:latin typeface="Book Antiqua" pitchFamily="18" charset="0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650764" name="Rectangle 76"/>
          <p:cNvSpPr>
            <a:spLocks noChangeAspect="1" noChangeArrowheads="1"/>
          </p:cNvSpPr>
          <p:nvPr/>
        </p:nvSpPr>
        <p:spPr bwMode="auto">
          <a:xfrm flipH="1">
            <a:off x="3851275" y="2259013"/>
            <a:ext cx="414338" cy="4048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2000" dirty="0">
                <a:solidFill>
                  <a:srgbClr val="0000FF"/>
                </a:solidFill>
                <a:latin typeface="Book Antiqua" pitchFamily="18" charset="0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1650765" name="AutoShape 77"/>
          <p:cNvSpPr>
            <a:spLocks noChangeArrowheads="1"/>
          </p:cNvSpPr>
          <p:nvPr/>
        </p:nvSpPr>
        <p:spPr bwMode="auto">
          <a:xfrm>
            <a:off x="7488238" y="2678113"/>
            <a:ext cx="1146175" cy="503237"/>
          </a:xfrm>
          <a:prstGeom prst="wedgeRoundRectCallout">
            <a:avLst>
              <a:gd name="adj1" fmla="val -217588"/>
              <a:gd name="adj2" fmla="val 227602"/>
              <a:gd name="adj3" fmla="val 16667"/>
            </a:avLst>
          </a:prstGeom>
          <a:solidFill>
            <a:srgbClr val="FFFF99"/>
          </a:solidFill>
          <a:ln w="38100" algn="ctr">
            <a:solidFill>
              <a:srgbClr val="FF3399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8000"/>
                </a:solidFill>
                <a:latin typeface="Arial" pitchFamily="34" charset="0"/>
              </a:rPr>
              <a:t>已装入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65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65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" dur="500"/>
                                        <p:tgtEl>
                                          <p:spTgt spid="165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65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165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65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65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500"/>
                                        <p:tgtEl>
                                          <p:spTgt spid="165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65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165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165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8" dur="500"/>
                                        <p:tgtEl>
                                          <p:spTgt spid="165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165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165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165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2" dur="500"/>
                                        <p:tgtEl>
                                          <p:spTgt spid="165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0692" grpId="0" animBg="1"/>
      <p:bldP spid="1650715" grpId="0" animBg="1"/>
      <p:bldP spid="1650740" grpId="0" animBg="1"/>
      <p:bldP spid="1650741" grpId="0" animBg="1"/>
      <p:bldP spid="1650742" grpId="0" animBg="1"/>
      <p:bldP spid="1650743" grpId="0" animBg="1"/>
      <p:bldP spid="1650744" grpId="0" animBg="1"/>
      <p:bldP spid="1650745" grpId="0" animBg="1"/>
      <p:bldP spid="1650747" grpId="0" animBg="1"/>
      <p:bldP spid="1650748" grpId="0" animBg="1"/>
      <p:bldP spid="1650749" grpId="0" animBg="1"/>
      <p:bldP spid="1650750" grpId="0" animBg="1"/>
      <p:bldP spid="1650751" grpId="0" animBg="1"/>
      <p:bldP spid="1650752" grpId="0" animBg="1"/>
      <p:bldP spid="1650753" grpId="0" animBg="1"/>
      <p:bldP spid="1650759" grpId="0" animBg="1"/>
      <p:bldP spid="1650760" grpId="0" animBg="1"/>
      <p:bldP spid="1650761" grpId="0" animBg="1"/>
      <p:bldP spid="165076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2DC62-0551-42EF-999B-20004B75FC66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1651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zh-CN" altLang="en-US" dirty="0">
                <a:solidFill>
                  <a:srgbClr val="FF0000"/>
                </a:solidFill>
              </a:rPr>
              <a:t>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51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765175"/>
            <a:ext cx="8640763" cy="5903913"/>
          </a:xfrm>
        </p:spPr>
        <p:txBody>
          <a:bodyPr/>
          <a:lstStyle/>
          <a:p>
            <a:r>
              <a:rPr lang="zh-CN" altLang="en-US"/>
              <a:t>主要优点：</a:t>
            </a:r>
          </a:p>
          <a:p>
            <a:pPr marL="99060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/>
              <a:t>程序的</a:t>
            </a:r>
            <a:r>
              <a:rPr lang="zh-CN" altLang="en-US">
                <a:solidFill>
                  <a:srgbClr val="0000FF"/>
                </a:solidFill>
              </a:rPr>
              <a:t>模块化</a:t>
            </a:r>
            <a:r>
              <a:rPr lang="zh-CN" altLang="en-US"/>
              <a:t>性能好。</a:t>
            </a:r>
          </a:p>
          <a:p>
            <a:pPr marL="99060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/>
              <a:t>便于多道程序</a:t>
            </a:r>
            <a:r>
              <a:rPr lang="zh-CN" altLang="en-US">
                <a:solidFill>
                  <a:srgbClr val="0000FF"/>
                </a:solidFill>
              </a:rPr>
              <a:t>共享</a:t>
            </a:r>
            <a:r>
              <a:rPr lang="zh-CN" altLang="en-US"/>
              <a:t>主存中的某些段。</a:t>
            </a:r>
          </a:p>
          <a:p>
            <a:pPr marL="99060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/>
              <a:t>程序的</a:t>
            </a:r>
            <a:r>
              <a:rPr lang="zh-CN" altLang="en-US">
                <a:solidFill>
                  <a:srgbClr val="0000FF"/>
                </a:solidFill>
              </a:rPr>
              <a:t>动态链接</a:t>
            </a:r>
            <a:r>
              <a:rPr lang="zh-CN" altLang="en-US"/>
              <a:t>和</a:t>
            </a:r>
            <a:r>
              <a:rPr lang="zh-CN" altLang="en-US">
                <a:solidFill>
                  <a:srgbClr val="0000FF"/>
                </a:solidFill>
              </a:rPr>
              <a:t>调度</a:t>
            </a:r>
            <a:r>
              <a:rPr lang="zh-CN" altLang="en-US"/>
              <a:t>比较容易。</a:t>
            </a:r>
          </a:p>
          <a:p>
            <a:pPr marL="99060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/>
              <a:t>便于按逻辑意义实现存储器的</a:t>
            </a:r>
            <a:r>
              <a:rPr lang="zh-CN" altLang="en-US">
                <a:solidFill>
                  <a:srgbClr val="0000FF"/>
                </a:solidFill>
              </a:rPr>
              <a:t>访问方式保护</a:t>
            </a:r>
            <a:r>
              <a:rPr lang="zh-CN" altLang="en-US"/>
              <a:t>。</a:t>
            </a:r>
          </a:p>
          <a:p>
            <a:r>
              <a:rPr lang="zh-CN" altLang="en-US"/>
              <a:t> 主要缺点：</a:t>
            </a:r>
          </a:p>
          <a:p>
            <a:pPr marL="99060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>
                <a:solidFill>
                  <a:srgbClr val="CC0066"/>
                </a:solidFill>
              </a:rPr>
              <a:t>地址变换</a:t>
            </a:r>
            <a:r>
              <a:rPr lang="zh-CN" altLang="en-US"/>
              <a:t>所花费的</a:t>
            </a:r>
            <a:r>
              <a:rPr lang="zh-CN" altLang="en-US">
                <a:solidFill>
                  <a:srgbClr val="CC0066"/>
                </a:solidFill>
              </a:rPr>
              <a:t>时间长</a:t>
            </a:r>
            <a:r>
              <a:rPr lang="zh-CN" altLang="en-US"/>
              <a:t>，两次加法。</a:t>
            </a:r>
          </a:p>
          <a:p>
            <a:pPr marL="99060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>
                <a:solidFill>
                  <a:srgbClr val="CC0066"/>
                </a:solidFill>
              </a:rPr>
              <a:t>段映象表庞大</a:t>
            </a:r>
            <a:r>
              <a:rPr lang="zh-CN" altLang="en-US"/>
              <a:t>，地址、段长字段太长。</a:t>
            </a:r>
          </a:p>
          <a:p>
            <a:pPr marL="99060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>
                <a:solidFill>
                  <a:srgbClr val="CC0066"/>
                </a:solidFill>
              </a:rPr>
              <a:t>主存储器</a:t>
            </a:r>
            <a:r>
              <a:rPr lang="zh-CN" altLang="en-US"/>
              <a:t>的</a:t>
            </a:r>
            <a:r>
              <a:rPr lang="zh-CN" altLang="en-US">
                <a:solidFill>
                  <a:srgbClr val="CC0066"/>
                </a:solidFill>
              </a:rPr>
              <a:t>利用率</a:t>
            </a:r>
            <a:r>
              <a:rPr lang="zh-CN" altLang="en-US"/>
              <a:t>往往比较</a:t>
            </a:r>
            <a:r>
              <a:rPr lang="zh-CN" altLang="en-US">
                <a:solidFill>
                  <a:srgbClr val="CC0066"/>
                </a:solidFill>
              </a:rPr>
              <a:t>低</a:t>
            </a:r>
            <a:r>
              <a:rPr lang="en-US" altLang="zh-CN"/>
              <a:t>——</a:t>
            </a:r>
            <a:r>
              <a:rPr lang="zh-CN" altLang="en-US"/>
              <a:t>存储管理复杂；段间“零头”。</a:t>
            </a:r>
          </a:p>
          <a:p>
            <a:pPr marL="990600" lvl="1" indent="-46831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/>
              <a:t>对</a:t>
            </a:r>
            <a:r>
              <a:rPr lang="zh-CN" altLang="en-US">
                <a:solidFill>
                  <a:srgbClr val="CC0066"/>
                </a:solidFill>
              </a:rPr>
              <a:t>辅存</a:t>
            </a:r>
            <a:r>
              <a:rPr lang="zh-CN" altLang="en-US"/>
              <a:t>（磁盘存储器）的</a:t>
            </a:r>
            <a:r>
              <a:rPr lang="zh-CN" altLang="en-US">
                <a:solidFill>
                  <a:srgbClr val="CC0066"/>
                </a:solidFill>
              </a:rPr>
              <a:t>管理</a:t>
            </a:r>
            <a:r>
              <a:rPr lang="zh-CN" altLang="en-US"/>
              <a:t>比较</a:t>
            </a:r>
            <a:r>
              <a:rPr lang="zh-CN" altLang="en-US">
                <a:solidFill>
                  <a:srgbClr val="CC0066"/>
                </a:solidFill>
              </a:rPr>
              <a:t>困难</a:t>
            </a:r>
            <a:r>
              <a:rPr lang="zh-CN" altLang="en-US"/>
              <a:t>。</a:t>
            </a:r>
          </a:p>
        </p:txBody>
      </p:sp>
      <p:sp>
        <p:nvSpPr>
          <p:cNvPr id="1651716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172450" y="620713"/>
            <a:ext cx="576263" cy="576262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动作按钮: 前进或下一项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AB930AB-576D-47A8-8FFF-3064D0AF6597}"/>
              </a:ext>
            </a:extLst>
          </p:cNvPr>
          <p:cNvSpPr/>
          <p:nvPr/>
        </p:nvSpPr>
        <p:spPr bwMode="auto">
          <a:xfrm>
            <a:off x="8028384" y="5805264"/>
            <a:ext cx="792088" cy="576064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5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65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65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65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651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651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651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651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A5BDF1-33E5-4889-A70F-A362518B76B7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1652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zh-CN" altLang="en-US" dirty="0">
                <a:solidFill>
                  <a:srgbClr val="FF0000"/>
                </a:solidFill>
              </a:rPr>
              <a:t>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52739" name="Rectangle 3"/>
          <p:cNvSpPr>
            <a:spLocks noChangeArrowheads="1"/>
          </p:cNvSpPr>
          <p:nvPr/>
        </p:nvSpPr>
        <p:spPr bwMode="auto">
          <a:xfrm>
            <a:off x="2266950" y="1811338"/>
            <a:ext cx="1728788" cy="215900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2740" name="Rectangle 4"/>
          <p:cNvSpPr>
            <a:spLocks noChangeArrowheads="1"/>
          </p:cNvSpPr>
          <p:nvPr/>
        </p:nvSpPr>
        <p:spPr bwMode="auto">
          <a:xfrm>
            <a:off x="2266950" y="2027238"/>
            <a:ext cx="1728788" cy="936625"/>
          </a:xfrm>
          <a:prstGeom prst="rect">
            <a:avLst/>
          </a:prstGeom>
          <a:solidFill>
            <a:srgbClr val="FF33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A</a:t>
            </a:r>
          </a:p>
        </p:txBody>
      </p:sp>
      <p:sp>
        <p:nvSpPr>
          <p:cNvPr id="1652741" name="Rectangle 5"/>
          <p:cNvSpPr>
            <a:spLocks noChangeArrowheads="1"/>
          </p:cNvSpPr>
          <p:nvPr/>
        </p:nvSpPr>
        <p:spPr bwMode="auto">
          <a:xfrm>
            <a:off x="2266950" y="2963863"/>
            <a:ext cx="1728788" cy="1511300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2742" name="Rectangle 6"/>
          <p:cNvSpPr>
            <a:spLocks noChangeArrowheads="1"/>
          </p:cNvSpPr>
          <p:nvPr/>
        </p:nvSpPr>
        <p:spPr bwMode="auto">
          <a:xfrm>
            <a:off x="2266950" y="4475163"/>
            <a:ext cx="1728788" cy="360362"/>
          </a:xfrm>
          <a:prstGeom prst="rect">
            <a:avLst/>
          </a:prstGeom>
          <a:solidFill>
            <a:srgbClr val="FF33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B</a:t>
            </a:r>
          </a:p>
        </p:txBody>
      </p:sp>
      <p:sp>
        <p:nvSpPr>
          <p:cNvPr id="1652743" name="Rectangle 7"/>
          <p:cNvSpPr>
            <a:spLocks noChangeArrowheads="1"/>
          </p:cNvSpPr>
          <p:nvPr/>
        </p:nvSpPr>
        <p:spPr bwMode="auto">
          <a:xfrm>
            <a:off x="2266950" y="4835525"/>
            <a:ext cx="1728788" cy="792163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2744" name="Rectangle 8"/>
          <p:cNvSpPr>
            <a:spLocks noChangeArrowheads="1"/>
          </p:cNvSpPr>
          <p:nvPr/>
        </p:nvSpPr>
        <p:spPr bwMode="auto">
          <a:xfrm>
            <a:off x="2266950" y="5627688"/>
            <a:ext cx="1728788" cy="360362"/>
          </a:xfrm>
          <a:prstGeom prst="rect">
            <a:avLst/>
          </a:prstGeom>
          <a:solidFill>
            <a:srgbClr val="FF33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C</a:t>
            </a:r>
          </a:p>
        </p:txBody>
      </p:sp>
      <p:sp>
        <p:nvSpPr>
          <p:cNvPr id="1652745" name="Rectangle 9"/>
          <p:cNvSpPr>
            <a:spLocks noChangeArrowheads="1"/>
          </p:cNvSpPr>
          <p:nvPr/>
        </p:nvSpPr>
        <p:spPr bwMode="auto">
          <a:xfrm>
            <a:off x="4716463" y="1811338"/>
            <a:ext cx="1728787" cy="360362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D</a:t>
            </a:r>
          </a:p>
        </p:txBody>
      </p:sp>
      <p:sp>
        <p:nvSpPr>
          <p:cNvPr id="1652746" name="Rectangle 10"/>
          <p:cNvSpPr>
            <a:spLocks noChangeArrowheads="1"/>
          </p:cNvSpPr>
          <p:nvPr/>
        </p:nvSpPr>
        <p:spPr bwMode="auto">
          <a:xfrm>
            <a:off x="4716463" y="2963863"/>
            <a:ext cx="1728787" cy="935037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E</a:t>
            </a:r>
          </a:p>
        </p:txBody>
      </p:sp>
      <p:sp>
        <p:nvSpPr>
          <p:cNvPr id="1652747" name="Rectangle 11"/>
          <p:cNvSpPr>
            <a:spLocks noChangeArrowheads="1"/>
          </p:cNvSpPr>
          <p:nvPr/>
        </p:nvSpPr>
        <p:spPr bwMode="auto">
          <a:xfrm>
            <a:off x="4716463" y="4619625"/>
            <a:ext cx="1728787" cy="792163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F</a:t>
            </a:r>
          </a:p>
        </p:txBody>
      </p:sp>
      <p:sp>
        <p:nvSpPr>
          <p:cNvPr id="1652748" name="Text Box 12"/>
          <p:cNvSpPr txBox="1">
            <a:spLocks noChangeArrowheads="1"/>
          </p:cNvSpPr>
          <p:nvPr/>
        </p:nvSpPr>
        <p:spPr bwMode="auto">
          <a:xfrm>
            <a:off x="2628900" y="1341438"/>
            <a:ext cx="935038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latin typeface="Arial" pitchFamily="34" charset="0"/>
              </a:rPr>
              <a:t>主存</a:t>
            </a:r>
          </a:p>
        </p:txBody>
      </p:sp>
      <p:sp>
        <p:nvSpPr>
          <p:cNvPr id="1652749" name="Text Box 13"/>
          <p:cNvSpPr txBox="1">
            <a:spLocks noChangeArrowheads="1"/>
          </p:cNvSpPr>
          <p:nvPr/>
        </p:nvSpPr>
        <p:spPr bwMode="auto">
          <a:xfrm>
            <a:off x="5076825" y="1341438"/>
            <a:ext cx="935038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latin typeface="Arial" pitchFamily="34" charset="0"/>
              </a:rPr>
              <a:t>程序</a:t>
            </a:r>
          </a:p>
        </p:txBody>
      </p:sp>
      <p:sp>
        <p:nvSpPr>
          <p:cNvPr id="1652750" name="Text Box 14"/>
          <p:cNvSpPr txBox="1">
            <a:spLocks noChangeArrowheads="1"/>
          </p:cNvSpPr>
          <p:nvPr/>
        </p:nvSpPr>
        <p:spPr bwMode="auto">
          <a:xfrm>
            <a:off x="1547813" y="1582738"/>
            <a:ext cx="720725" cy="42576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0</a:t>
            </a: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0.5k</a:t>
            </a: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3k</a:t>
            </a: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7k</a:t>
            </a:r>
          </a:p>
          <a:p>
            <a:pPr algn="r">
              <a:spcBef>
                <a:spcPct val="0"/>
              </a:spcBef>
            </a:pPr>
            <a:endParaRPr lang="en-US" altLang="zh-CN" sz="9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8k</a:t>
            </a: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10k</a:t>
            </a:r>
          </a:p>
        </p:txBody>
      </p:sp>
      <p:sp>
        <p:nvSpPr>
          <p:cNvPr id="1652751" name="Text Box 15"/>
          <p:cNvSpPr txBox="1">
            <a:spLocks noChangeArrowheads="1"/>
          </p:cNvSpPr>
          <p:nvPr/>
        </p:nvSpPr>
        <p:spPr bwMode="auto">
          <a:xfrm>
            <a:off x="3997325" y="1811338"/>
            <a:ext cx="720725" cy="338772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1k</a:t>
            </a: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2.5k</a:t>
            </a: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2k</a:t>
            </a:r>
          </a:p>
        </p:txBody>
      </p:sp>
      <p:sp>
        <p:nvSpPr>
          <p:cNvPr id="1652752" name="Rectangle 16"/>
          <p:cNvSpPr>
            <a:spLocks noChangeArrowheads="1"/>
          </p:cNvSpPr>
          <p:nvPr/>
        </p:nvSpPr>
        <p:spPr bwMode="auto">
          <a:xfrm>
            <a:off x="2268538" y="2963863"/>
            <a:ext cx="1728787" cy="360362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D</a:t>
            </a:r>
          </a:p>
        </p:txBody>
      </p:sp>
      <p:sp>
        <p:nvSpPr>
          <p:cNvPr id="1652753" name="Rectangle 17"/>
          <p:cNvSpPr>
            <a:spLocks noChangeArrowheads="1"/>
          </p:cNvSpPr>
          <p:nvPr/>
        </p:nvSpPr>
        <p:spPr bwMode="auto">
          <a:xfrm>
            <a:off x="2268538" y="3322638"/>
            <a:ext cx="1728787" cy="935037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E</a:t>
            </a:r>
          </a:p>
        </p:txBody>
      </p:sp>
      <p:sp>
        <p:nvSpPr>
          <p:cNvPr id="1652754" name="Rectangle 18"/>
          <p:cNvSpPr>
            <a:spLocks noChangeArrowheads="1"/>
          </p:cNvSpPr>
          <p:nvPr/>
        </p:nvSpPr>
        <p:spPr bwMode="auto">
          <a:xfrm>
            <a:off x="2268538" y="4835525"/>
            <a:ext cx="1728787" cy="792163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F</a:t>
            </a:r>
          </a:p>
        </p:txBody>
      </p:sp>
      <p:sp>
        <p:nvSpPr>
          <p:cNvPr id="1652755" name="Line 19"/>
          <p:cNvSpPr>
            <a:spLocks noChangeShapeType="1"/>
          </p:cNvSpPr>
          <p:nvPr/>
        </p:nvSpPr>
        <p:spPr bwMode="auto">
          <a:xfrm flipH="1">
            <a:off x="3779838" y="2171700"/>
            <a:ext cx="936625" cy="10080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2756" name="Line 20"/>
          <p:cNvSpPr>
            <a:spLocks noChangeShapeType="1"/>
          </p:cNvSpPr>
          <p:nvPr/>
        </p:nvSpPr>
        <p:spPr bwMode="auto">
          <a:xfrm flipH="1">
            <a:off x="3779838" y="3611563"/>
            <a:ext cx="1008062" cy="2159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2757" name="Line 21"/>
          <p:cNvSpPr>
            <a:spLocks noChangeShapeType="1"/>
          </p:cNvSpPr>
          <p:nvPr/>
        </p:nvSpPr>
        <p:spPr bwMode="auto">
          <a:xfrm flipH="1">
            <a:off x="3708400" y="5122863"/>
            <a:ext cx="1152525" cy="2159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2758" name="Text Box 22"/>
          <p:cNvSpPr txBox="1">
            <a:spLocks noChangeArrowheads="1"/>
          </p:cNvSpPr>
          <p:nvPr/>
        </p:nvSpPr>
        <p:spPr bwMode="auto">
          <a:xfrm>
            <a:off x="755650" y="2243138"/>
            <a:ext cx="647700" cy="222726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b="0">
                <a:solidFill>
                  <a:schemeClr val="bg2"/>
                </a:solidFill>
                <a:latin typeface="Arial" pitchFamily="34" charset="0"/>
                <a:ea typeface="黑体" pitchFamily="49" charset="-122"/>
              </a:rPr>
              <a:t>首先分配法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5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65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65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2752" grpId="0" animBg="1"/>
      <p:bldP spid="1652753" grpId="0" animBg="1"/>
      <p:bldP spid="1652754" grpId="0" animBg="1"/>
      <p:bldP spid="1652755" grpId="0" animBg="1"/>
      <p:bldP spid="1652756" grpId="0" animBg="1"/>
      <p:bldP spid="16527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62923A-DF94-41FC-A276-5A9DD46BA759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1653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zh-CN" altLang="en-US" dirty="0">
                <a:solidFill>
                  <a:srgbClr val="FF0000"/>
                </a:solidFill>
              </a:rPr>
              <a:t>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53763" name="Rectangle 3"/>
          <p:cNvSpPr>
            <a:spLocks noChangeArrowheads="1"/>
          </p:cNvSpPr>
          <p:nvPr/>
        </p:nvSpPr>
        <p:spPr bwMode="auto">
          <a:xfrm>
            <a:off x="2266950" y="1811338"/>
            <a:ext cx="1728788" cy="215900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3764" name="Rectangle 4"/>
          <p:cNvSpPr>
            <a:spLocks noChangeArrowheads="1"/>
          </p:cNvSpPr>
          <p:nvPr/>
        </p:nvSpPr>
        <p:spPr bwMode="auto">
          <a:xfrm>
            <a:off x="2266950" y="2027238"/>
            <a:ext cx="1728788" cy="936625"/>
          </a:xfrm>
          <a:prstGeom prst="rect">
            <a:avLst/>
          </a:prstGeom>
          <a:solidFill>
            <a:srgbClr val="FF33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A</a:t>
            </a:r>
          </a:p>
        </p:txBody>
      </p:sp>
      <p:sp>
        <p:nvSpPr>
          <p:cNvPr id="1653765" name="Rectangle 5"/>
          <p:cNvSpPr>
            <a:spLocks noChangeArrowheads="1"/>
          </p:cNvSpPr>
          <p:nvPr/>
        </p:nvSpPr>
        <p:spPr bwMode="auto">
          <a:xfrm>
            <a:off x="2266950" y="2963863"/>
            <a:ext cx="1728788" cy="1511300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3766" name="Rectangle 6"/>
          <p:cNvSpPr>
            <a:spLocks noChangeArrowheads="1"/>
          </p:cNvSpPr>
          <p:nvPr/>
        </p:nvSpPr>
        <p:spPr bwMode="auto">
          <a:xfrm>
            <a:off x="2266950" y="4475163"/>
            <a:ext cx="1728788" cy="360362"/>
          </a:xfrm>
          <a:prstGeom prst="rect">
            <a:avLst/>
          </a:prstGeom>
          <a:solidFill>
            <a:srgbClr val="FF33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B</a:t>
            </a:r>
          </a:p>
        </p:txBody>
      </p:sp>
      <p:sp>
        <p:nvSpPr>
          <p:cNvPr id="1653767" name="Rectangle 7"/>
          <p:cNvSpPr>
            <a:spLocks noChangeArrowheads="1"/>
          </p:cNvSpPr>
          <p:nvPr/>
        </p:nvSpPr>
        <p:spPr bwMode="auto">
          <a:xfrm>
            <a:off x="2266950" y="4835525"/>
            <a:ext cx="1728788" cy="792163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3768" name="Rectangle 8"/>
          <p:cNvSpPr>
            <a:spLocks noChangeArrowheads="1"/>
          </p:cNvSpPr>
          <p:nvPr/>
        </p:nvSpPr>
        <p:spPr bwMode="auto">
          <a:xfrm>
            <a:off x="2266950" y="5627688"/>
            <a:ext cx="1728788" cy="360362"/>
          </a:xfrm>
          <a:prstGeom prst="rect">
            <a:avLst/>
          </a:prstGeom>
          <a:solidFill>
            <a:srgbClr val="FF33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C</a:t>
            </a:r>
          </a:p>
        </p:txBody>
      </p:sp>
      <p:sp>
        <p:nvSpPr>
          <p:cNvPr id="1653769" name="Rectangle 9"/>
          <p:cNvSpPr>
            <a:spLocks noChangeArrowheads="1"/>
          </p:cNvSpPr>
          <p:nvPr/>
        </p:nvSpPr>
        <p:spPr bwMode="auto">
          <a:xfrm>
            <a:off x="4716463" y="1811338"/>
            <a:ext cx="1728787" cy="360362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D</a:t>
            </a:r>
          </a:p>
        </p:txBody>
      </p:sp>
      <p:sp>
        <p:nvSpPr>
          <p:cNvPr id="1653770" name="Rectangle 10"/>
          <p:cNvSpPr>
            <a:spLocks noChangeArrowheads="1"/>
          </p:cNvSpPr>
          <p:nvPr/>
        </p:nvSpPr>
        <p:spPr bwMode="auto">
          <a:xfrm>
            <a:off x="4716463" y="2963863"/>
            <a:ext cx="1728787" cy="935037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E</a:t>
            </a:r>
          </a:p>
        </p:txBody>
      </p:sp>
      <p:sp>
        <p:nvSpPr>
          <p:cNvPr id="1653771" name="Rectangle 11"/>
          <p:cNvSpPr>
            <a:spLocks noChangeArrowheads="1"/>
          </p:cNvSpPr>
          <p:nvPr/>
        </p:nvSpPr>
        <p:spPr bwMode="auto">
          <a:xfrm>
            <a:off x="4716463" y="4619625"/>
            <a:ext cx="1728787" cy="792163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F</a:t>
            </a:r>
          </a:p>
        </p:txBody>
      </p:sp>
      <p:sp>
        <p:nvSpPr>
          <p:cNvPr id="1653772" name="Text Box 12"/>
          <p:cNvSpPr txBox="1">
            <a:spLocks noChangeArrowheads="1"/>
          </p:cNvSpPr>
          <p:nvPr/>
        </p:nvSpPr>
        <p:spPr bwMode="auto">
          <a:xfrm>
            <a:off x="2628900" y="1341438"/>
            <a:ext cx="935038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latin typeface="Arial" pitchFamily="34" charset="0"/>
              </a:rPr>
              <a:t>主存</a:t>
            </a:r>
          </a:p>
        </p:txBody>
      </p:sp>
      <p:sp>
        <p:nvSpPr>
          <p:cNvPr id="1653773" name="Text Box 13"/>
          <p:cNvSpPr txBox="1">
            <a:spLocks noChangeArrowheads="1"/>
          </p:cNvSpPr>
          <p:nvPr/>
        </p:nvSpPr>
        <p:spPr bwMode="auto">
          <a:xfrm>
            <a:off x="5076825" y="1341438"/>
            <a:ext cx="935038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latin typeface="Arial" pitchFamily="34" charset="0"/>
              </a:rPr>
              <a:t>程序</a:t>
            </a:r>
          </a:p>
        </p:txBody>
      </p:sp>
      <p:sp>
        <p:nvSpPr>
          <p:cNvPr id="1653774" name="Text Box 14"/>
          <p:cNvSpPr txBox="1">
            <a:spLocks noChangeArrowheads="1"/>
          </p:cNvSpPr>
          <p:nvPr/>
        </p:nvSpPr>
        <p:spPr bwMode="auto">
          <a:xfrm>
            <a:off x="1547813" y="1582738"/>
            <a:ext cx="720725" cy="42576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0</a:t>
            </a: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0.5k</a:t>
            </a: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3k</a:t>
            </a: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5.5k</a:t>
            </a: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7k</a:t>
            </a:r>
          </a:p>
          <a:p>
            <a:pPr algn="r">
              <a:spcBef>
                <a:spcPct val="0"/>
              </a:spcBef>
            </a:pPr>
            <a:endParaRPr lang="en-US" altLang="zh-CN" sz="9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8k</a:t>
            </a: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9k</a:t>
            </a: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10k</a:t>
            </a:r>
          </a:p>
        </p:txBody>
      </p:sp>
      <p:sp>
        <p:nvSpPr>
          <p:cNvPr id="1653775" name="Text Box 15"/>
          <p:cNvSpPr txBox="1">
            <a:spLocks noChangeArrowheads="1"/>
          </p:cNvSpPr>
          <p:nvPr/>
        </p:nvSpPr>
        <p:spPr bwMode="auto">
          <a:xfrm>
            <a:off x="3997325" y="1811338"/>
            <a:ext cx="720725" cy="338772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1k</a:t>
            </a: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2.5k</a:t>
            </a: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endParaRPr lang="en-US" altLang="zh-CN" sz="1800" b="0">
              <a:latin typeface="Arial" pitchFamily="34" charset="0"/>
            </a:endParaRPr>
          </a:p>
          <a:p>
            <a:pPr algn="r"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2k</a:t>
            </a:r>
          </a:p>
        </p:txBody>
      </p:sp>
      <p:sp>
        <p:nvSpPr>
          <p:cNvPr id="1653776" name="Text Box 16"/>
          <p:cNvSpPr txBox="1">
            <a:spLocks noChangeArrowheads="1"/>
          </p:cNvSpPr>
          <p:nvPr/>
        </p:nvSpPr>
        <p:spPr bwMode="auto">
          <a:xfrm>
            <a:off x="755650" y="2243138"/>
            <a:ext cx="647700" cy="222726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b="0">
                <a:solidFill>
                  <a:schemeClr val="bg2"/>
                </a:solidFill>
                <a:latin typeface="Arial" pitchFamily="34" charset="0"/>
                <a:ea typeface="黑体" pitchFamily="49" charset="-122"/>
              </a:rPr>
              <a:t>最佳分配法</a:t>
            </a:r>
          </a:p>
        </p:txBody>
      </p:sp>
      <p:sp>
        <p:nvSpPr>
          <p:cNvPr id="1653777" name="Rectangle 17"/>
          <p:cNvSpPr>
            <a:spLocks noChangeArrowheads="1"/>
          </p:cNvSpPr>
          <p:nvPr/>
        </p:nvSpPr>
        <p:spPr bwMode="auto">
          <a:xfrm>
            <a:off x="2268538" y="4835525"/>
            <a:ext cx="1728787" cy="360363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D</a:t>
            </a:r>
          </a:p>
        </p:txBody>
      </p:sp>
      <p:sp>
        <p:nvSpPr>
          <p:cNvPr id="1653778" name="Freeform 18"/>
          <p:cNvSpPr>
            <a:spLocks/>
          </p:cNvSpPr>
          <p:nvPr/>
        </p:nvSpPr>
        <p:spPr bwMode="auto">
          <a:xfrm>
            <a:off x="3779838" y="2171700"/>
            <a:ext cx="936625" cy="2879725"/>
          </a:xfrm>
          <a:custGeom>
            <a:avLst/>
            <a:gdLst/>
            <a:ahLst/>
            <a:cxnLst>
              <a:cxn ang="0">
                <a:pos x="590" y="0"/>
              </a:cxn>
              <a:cxn ang="0">
                <a:pos x="318" y="362"/>
              </a:cxn>
              <a:cxn ang="0">
                <a:pos x="272" y="1270"/>
              </a:cxn>
              <a:cxn ang="0">
                <a:pos x="0" y="1859"/>
              </a:cxn>
            </a:cxnLst>
            <a:rect l="0" t="0" r="r" b="b"/>
            <a:pathLst>
              <a:path w="590" h="1859">
                <a:moveTo>
                  <a:pt x="590" y="0"/>
                </a:moveTo>
                <a:cubicBezTo>
                  <a:pt x="480" y="75"/>
                  <a:pt x="371" y="150"/>
                  <a:pt x="318" y="362"/>
                </a:cubicBezTo>
                <a:cubicBezTo>
                  <a:pt x="265" y="574"/>
                  <a:pt x="325" y="1020"/>
                  <a:pt x="272" y="1270"/>
                </a:cubicBezTo>
                <a:cubicBezTo>
                  <a:pt x="219" y="1520"/>
                  <a:pt x="109" y="1689"/>
                  <a:pt x="0" y="1859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3779" name="Rectangle 19"/>
          <p:cNvSpPr>
            <a:spLocks noChangeArrowheads="1"/>
          </p:cNvSpPr>
          <p:nvPr/>
        </p:nvSpPr>
        <p:spPr bwMode="auto">
          <a:xfrm>
            <a:off x="2268538" y="2963863"/>
            <a:ext cx="1728787" cy="935037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E</a:t>
            </a:r>
          </a:p>
        </p:txBody>
      </p:sp>
      <p:sp>
        <p:nvSpPr>
          <p:cNvPr id="1653780" name="Line 20"/>
          <p:cNvSpPr>
            <a:spLocks noChangeShapeType="1"/>
          </p:cNvSpPr>
          <p:nvPr/>
        </p:nvSpPr>
        <p:spPr bwMode="auto">
          <a:xfrm flipH="1">
            <a:off x="3779838" y="3106738"/>
            <a:ext cx="100806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3781" name="Rectangle 21"/>
          <p:cNvSpPr>
            <a:spLocks noChangeArrowheads="1"/>
          </p:cNvSpPr>
          <p:nvPr/>
        </p:nvSpPr>
        <p:spPr bwMode="auto">
          <a:xfrm>
            <a:off x="4716463" y="4619625"/>
            <a:ext cx="1728787" cy="792163"/>
          </a:xfrm>
          <a:prstGeom prst="rect">
            <a:avLst/>
          </a:prstGeom>
          <a:solidFill>
            <a:srgbClr val="0080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 b="0">
                <a:latin typeface="Arial" pitchFamily="34" charset="0"/>
              </a:rPr>
              <a:t>F</a:t>
            </a:r>
          </a:p>
        </p:txBody>
      </p:sp>
      <p:sp>
        <p:nvSpPr>
          <p:cNvPr id="1653782" name="AutoShape 22"/>
          <p:cNvSpPr>
            <a:spLocks noChangeArrowheads="1"/>
          </p:cNvSpPr>
          <p:nvPr/>
        </p:nvSpPr>
        <p:spPr bwMode="auto">
          <a:xfrm>
            <a:off x="6804025" y="3971925"/>
            <a:ext cx="1944688" cy="647700"/>
          </a:xfrm>
          <a:prstGeom prst="wedgeRoundRectCallout">
            <a:avLst>
              <a:gd name="adj1" fmla="val -78162"/>
              <a:gd name="adj2" fmla="val 90194"/>
              <a:gd name="adj3" fmla="val 16667"/>
            </a:avLst>
          </a:prstGeom>
          <a:solidFill>
            <a:srgbClr val="FFFF99"/>
          </a:solidFill>
          <a:ln w="38100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2400">
                <a:latin typeface="Arial" pitchFamily="34" charset="0"/>
              </a:rPr>
              <a:t>无法装入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5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65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165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3777" grpId="0" animBg="1"/>
      <p:bldP spid="1653778" grpId="0" animBg="1"/>
      <p:bldP spid="1653779" grpId="0" animBg="1"/>
      <p:bldP spid="1653780" grpId="0" animBg="1"/>
      <p:bldP spid="1653781" grpId="0" animBg="1"/>
      <p:bldP spid="165378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0E2F2F-F520-4379-AA7F-B6E1B8E9ED74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1654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/>
              <a:t>虚拟存储器</a:t>
            </a:r>
          </a:p>
        </p:txBody>
      </p:sp>
      <p:sp>
        <p:nvSpPr>
          <p:cNvPr id="1654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765175"/>
            <a:ext cx="8640763" cy="5903913"/>
          </a:xfrm>
        </p:spPr>
        <p:txBody>
          <a:bodyPr/>
          <a:lstStyle/>
          <a:p>
            <a:r>
              <a:rPr lang="zh-CN" altLang="en-US"/>
              <a:t>段式管理的缺点：</a:t>
            </a:r>
          </a:p>
          <a:p>
            <a:pPr marL="990600" lvl="1" indent="-468313"/>
            <a:r>
              <a:rPr lang="zh-CN" altLang="en-US"/>
              <a:t>装入主存的起点随意，段表中的地址字段为主存绝对地址；各段长度随意，因此地址、段长字段很长。</a:t>
            </a:r>
            <a:br>
              <a:rPr lang="zh-CN" altLang="en-US"/>
            </a:br>
            <a:r>
              <a:rPr lang="en-US" altLang="zh-CN"/>
              <a:t>—— </a:t>
            </a:r>
            <a:r>
              <a:rPr lang="zh-CN" altLang="en-US"/>
              <a:t>存储管理复杂</a:t>
            </a:r>
          </a:p>
          <a:p>
            <a:pPr marL="990600" lvl="1" indent="-468313"/>
            <a:r>
              <a:rPr lang="zh-CN" altLang="en-US"/>
              <a:t>段间零头浪费。</a:t>
            </a:r>
          </a:p>
          <a:p>
            <a:r>
              <a:rPr lang="zh-CN" altLang="en-US"/>
              <a:t>页式存储管理方式：</a:t>
            </a:r>
            <a:br>
              <a:rPr lang="zh-CN" altLang="en-US"/>
            </a:br>
            <a:r>
              <a:rPr lang="zh-CN" altLang="en-US"/>
              <a:t>将</a:t>
            </a:r>
            <a:r>
              <a:rPr lang="zh-CN" altLang="en-US">
                <a:solidFill>
                  <a:srgbClr val="FF3300"/>
                </a:solidFill>
              </a:rPr>
              <a:t>主存空间</a:t>
            </a:r>
            <a:r>
              <a:rPr lang="zh-CN" altLang="en-US"/>
              <a:t>和</a:t>
            </a:r>
            <a:r>
              <a:rPr lang="zh-CN" altLang="en-US">
                <a:solidFill>
                  <a:srgbClr val="FF3300"/>
                </a:solidFill>
              </a:rPr>
              <a:t>程序空间</a:t>
            </a:r>
            <a:r>
              <a:rPr lang="zh-CN" altLang="en-US"/>
              <a:t>都机械等</a:t>
            </a:r>
            <a:r>
              <a:rPr lang="zh-CN" altLang="en-US">
                <a:solidFill>
                  <a:srgbClr val="FF3300"/>
                </a:solidFill>
              </a:rPr>
              <a:t>分成</a:t>
            </a:r>
            <a:r>
              <a:rPr lang="zh-CN" altLang="en-US"/>
              <a:t>相同大小的</a:t>
            </a:r>
            <a:r>
              <a:rPr lang="zh-CN" altLang="en-US">
                <a:solidFill>
                  <a:srgbClr val="FF3300"/>
                </a:solidFill>
              </a:rPr>
              <a:t>页面</a:t>
            </a:r>
            <a:r>
              <a:rPr lang="zh-CN" altLang="en-US"/>
              <a:t>，按页顺序编号，让程序的起点必须处在主存中某一个页面位置的起点上。</a:t>
            </a:r>
            <a:br>
              <a:rPr lang="zh-CN" altLang="en-US"/>
            </a:br>
            <a:r>
              <a:rPr lang="zh-CN" altLang="en-US"/>
              <a:t>任一主存单元的地址由</a:t>
            </a:r>
            <a:r>
              <a:rPr lang="zh-CN" altLang="en-US">
                <a:solidFill>
                  <a:srgbClr val="FF0066"/>
                </a:solidFill>
                <a:ea typeface="黑体" pitchFamily="49" charset="-122"/>
              </a:rPr>
              <a:t>实页号</a:t>
            </a:r>
            <a:r>
              <a:rPr lang="zh-CN" altLang="en-US"/>
              <a:t>和</a:t>
            </a:r>
            <a:r>
              <a:rPr lang="zh-CN" altLang="en-US">
                <a:solidFill>
                  <a:srgbClr val="FF0066"/>
                </a:solidFill>
                <a:ea typeface="黑体" pitchFamily="49" charset="-122"/>
              </a:rPr>
              <a:t>页内位移</a:t>
            </a:r>
            <a:r>
              <a:rPr lang="zh-CN" altLang="en-US"/>
              <a:t>两个字段组成。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E5C919-FDC3-43A4-9DB2-2B93051D4FFA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55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765175"/>
            <a:ext cx="8640763" cy="576263"/>
          </a:xfrm>
        </p:spPr>
        <p:txBody>
          <a:bodyPr/>
          <a:lstStyle/>
          <a:p>
            <a:r>
              <a:rPr lang="zh-CN" altLang="en-US"/>
              <a:t>地址映象方法：</a:t>
            </a:r>
          </a:p>
        </p:txBody>
      </p:sp>
      <p:grpSp>
        <p:nvGrpSpPr>
          <p:cNvPr id="1655812" name="Group 4"/>
          <p:cNvGrpSpPr>
            <a:grpSpLocks/>
          </p:cNvGrpSpPr>
          <p:nvPr/>
        </p:nvGrpSpPr>
        <p:grpSpPr bwMode="auto">
          <a:xfrm>
            <a:off x="828675" y="1917700"/>
            <a:ext cx="1582738" cy="2952750"/>
            <a:chOff x="930" y="1706"/>
            <a:chExt cx="997" cy="1860"/>
          </a:xfrm>
        </p:grpSpPr>
        <p:sp>
          <p:nvSpPr>
            <p:cNvPr id="1655813" name="Rectangle 5"/>
            <p:cNvSpPr>
              <a:spLocks noChangeArrowheads="1"/>
            </p:cNvSpPr>
            <p:nvPr/>
          </p:nvSpPr>
          <p:spPr bwMode="auto">
            <a:xfrm>
              <a:off x="930" y="1706"/>
              <a:ext cx="997" cy="408"/>
            </a:xfrm>
            <a:prstGeom prst="rect">
              <a:avLst/>
            </a:prstGeom>
            <a:solidFill>
              <a:srgbClr val="FF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>
                  <a:latin typeface="Arial" pitchFamily="34" charset="0"/>
                </a:rPr>
                <a:t>0</a:t>
              </a:r>
              <a:r>
                <a:rPr lang="zh-CN" altLang="en-US" sz="2400">
                  <a:latin typeface="Arial" pitchFamily="34" charset="0"/>
                </a:rPr>
                <a:t>页</a:t>
              </a:r>
            </a:p>
          </p:txBody>
        </p:sp>
        <p:sp>
          <p:nvSpPr>
            <p:cNvPr id="1655814" name="Rectangle 6"/>
            <p:cNvSpPr>
              <a:spLocks noChangeArrowheads="1"/>
            </p:cNvSpPr>
            <p:nvPr/>
          </p:nvSpPr>
          <p:spPr bwMode="auto">
            <a:xfrm>
              <a:off x="930" y="2115"/>
              <a:ext cx="997" cy="408"/>
            </a:xfrm>
            <a:prstGeom prst="rect">
              <a:avLst/>
            </a:prstGeom>
            <a:solidFill>
              <a:srgbClr val="FF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>
                  <a:latin typeface="Arial" pitchFamily="34" charset="0"/>
                </a:rPr>
                <a:t>1</a:t>
              </a:r>
              <a:r>
                <a:rPr lang="zh-CN" altLang="en-US" sz="2400">
                  <a:latin typeface="Arial" pitchFamily="34" charset="0"/>
                </a:rPr>
                <a:t>页</a:t>
              </a:r>
            </a:p>
          </p:txBody>
        </p:sp>
        <p:sp>
          <p:nvSpPr>
            <p:cNvPr id="1655815" name="Rectangle 7"/>
            <p:cNvSpPr>
              <a:spLocks noChangeArrowheads="1"/>
            </p:cNvSpPr>
            <p:nvPr/>
          </p:nvSpPr>
          <p:spPr bwMode="auto">
            <a:xfrm>
              <a:off x="930" y="2523"/>
              <a:ext cx="997" cy="408"/>
            </a:xfrm>
            <a:prstGeom prst="rect">
              <a:avLst/>
            </a:prstGeom>
            <a:solidFill>
              <a:srgbClr val="FF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>
                  <a:latin typeface="Arial" pitchFamily="34" charset="0"/>
                </a:rPr>
                <a:t>2</a:t>
              </a:r>
              <a:r>
                <a:rPr lang="zh-CN" altLang="en-US" sz="2400">
                  <a:latin typeface="Arial" pitchFamily="34" charset="0"/>
                </a:rPr>
                <a:t>页</a:t>
              </a:r>
            </a:p>
          </p:txBody>
        </p:sp>
        <p:sp>
          <p:nvSpPr>
            <p:cNvPr id="1655816" name="Rectangle 8"/>
            <p:cNvSpPr>
              <a:spLocks noChangeArrowheads="1"/>
            </p:cNvSpPr>
            <p:nvPr/>
          </p:nvSpPr>
          <p:spPr bwMode="auto">
            <a:xfrm>
              <a:off x="930" y="3339"/>
              <a:ext cx="997" cy="227"/>
            </a:xfrm>
            <a:prstGeom prst="rect">
              <a:avLst/>
            </a:prstGeom>
            <a:solidFill>
              <a:srgbClr val="FFFFFF"/>
            </a:solidFill>
            <a:ln w="38100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5817" name="Rectangle 9"/>
            <p:cNvSpPr>
              <a:spLocks noChangeArrowheads="1"/>
            </p:cNvSpPr>
            <p:nvPr/>
          </p:nvSpPr>
          <p:spPr bwMode="auto">
            <a:xfrm>
              <a:off x="930" y="2931"/>
              <a:ext cx="997" cy="408"/>
            </a:xfrm>
            <a:prstGeom prst="rect">
              <a:avLst/>
            </a:prstGeom>
            <a:solidFill>
              <a:srgbClr val="FF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2400">
                  <a:latin typeface="Arial" pitchFamily="34" charset="0"/>
                </a:rPr>
                <a:t>3</a:t>
              </a:r>
              <a:r>
                <a:rPr lang="zh-CN" altLang="en-US" sz="2400">
                  <a:latin typeface="Arial" pitchFamily="34" charset="0"/>
                </a:rPr>
                <a:t>页</a:t>
              </a:r>
            </a:p>
          </p:txBody>
        </p:sp>
      </p:grpSp>
      <p:graphicFrame>
        <p:nvGraphicFramePr>
          <p:cNvPr id="1655818" name="Group 10"/>
          <p:cNvGraphicFramePr>
            <a:graphicFrameLocks noGrp="1"/>
          </p:cNvGraphicFramePr>
          <p:nvPr/>
        </p:nvGraphicFramePr>
        <p:xfrm>
          <a:off x="3421063" y="1917700"/>
          <a:ext cx="2016125" cy="1981200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页号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主存页号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55842" name="Rectangle 34" descr="宽上对角线"/>
          <p:cNvSpPr>
            <a:spLocks noChangeArrowheads="1"/>
          </p:cNvSpPr>
          <p:nvPr/>
        </p:nvSpPr>
        <p:spPr bwMode="auto">
          <a:xfrm>
            <a:off x="6516688" y="2381250"/>
            <a:ext cx="1800225" cy="53340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/>
            </a:bgClr>
          </a:patt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43" name="Rectangle 35" descr="宽下对角线"/>
          <p:cNvSpPr>
            <a:spLocks noChangeArrowheads="1"/>
          </p:cNvSpPr>
          <p:nvPr/>
        </p:nvSpPr>
        <p:spPr bwMode="auto">
          <a:xfrm>
            <a:off x="6516688" y="2914650"/>
            <a:ext cx="1800225" cy="534988"/>
          </a:xfrm>
          <a:prstGeom prst="rect">
            <a:avLst/>
          </a:prstGeom>
          <a:pattFill prst="wdDnDiag">
            <a:fgClr>
              <a:srgbClr val="000000"/>
            </a:fgClr>
            <a:bgClr>
              <a:srgbClr val="FFFFFF"/>
            </a:bgClr>
          </a:patt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44" name="Rectangle 36"/>
          <p:cNvSpPr>
            <a:spLocks noChangeArrowheads="1"/>
          </p:cNvSpPr>
          <p:nvPr/>
        </p:nvSpPr>
        <p:spPr bwMode="auto">
          <a:xfrm>
            <a:off x="6516688" y="3449638"/>
            <a:ext cx="1800225" cy="534987"/>
          </a:xfrm>
          <a:prstGeom prst="rect">
            <a:avLst/>
          </a:prstGeom>
          <a:solidFill>
            <a:srgbClr val="FFFFFF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45" name="Rectangle 37" descr="宽上对角线"/>
          <p:cNvSpPr>
            <a:spLocks noChangeArrowheads="1"/>
          </p:cNvSpPr>
          <p:nvPr/>
        </p:nvSpPr>
        <p:spPr bwMode="auto">
          <a:xfrm>
            <a:off x="6516688" y="3984625"/>
            <a:ext cx="1800225" cy="534988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/>
            </a:bgClr>
          </a:patt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46" name="Rectangle 38"/>
          <p:cNvSpPr>
            <a:spLocks noChangeArrowheads="1"/>
          </p:cNvSpPr>
          <p:nvPr/>
        </p:nvSpPr>
        <p:spPr bwMode="auto">
          <a:xfrm>
            <a:off x="6516688" y="4519613"/>
            <a:ext cx="1800225" cy="534987"/>
          </a:xfrm>
          <a:prstGeom prst="rect">
            <a:avLst/>
          </a:prstGeom>
          <a:solidFill>
            <a:srgbClr val="FFFFFF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47" name="Rectangle 39" descr="宽上对角线"/>
          <p:cNvSpPr>
            <a:spLocks noChangeArrowheads="1"/>
          </p:cNvSpPr>
          <p:nvPr/>
        </p:nvSpPr>
        <p:spPr bwMode="auto">
          <a:xfrm>
            <a:off x="6516688" y="5054600"/>
            <a:ext cx="1800225" cy="534988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/>
            </a:bgClr>
          </a:patt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48" name="Rectangle 40"/>
          <p:cNvSpPr>
            <a:spLocks noChangeArrowheads="1"/>
          </p:cNvSpPr>
          <p:nvPr/>
        </p:nvSpPr>
        <p:spPr bwMode="auto">
          <a:xfrm>
            <a:off x="6516688" y="1844675"/>
            <a:ext cx="1800225" cy="534988"/>
          </a:xfrm>
          <a:prstGeom prst="rect">
            <a:avLst/>
          </a:prstGeom>
          <a:solidFill>
            <a:srgbClr val="FFFFFF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49" name="Line 41"/>
          <p:cNvSpPr>
            <a:spLocks noChangeShapeType="1"/>
          </p:cNvSpPr>
          <p:nvPr/>
        </p:nvSpPr>
        <p:spPr bwMode="auto">
          <a:xfrm>
            <a:off x="2341563" y="2276475"/>
            <a:ext cx="1079500" cy="2174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50" name="Line 42"/>
          <p:cNvSpPr>
            <a:spLocks noChangeShapeType="1"/>
          </p:cNvSpPr>
          <p:nvPr/>
        </p:nvSpPr>
        <p:spPr bwMode="auto">
          <a:xfrm>
            <a:off x="2341563" y="2925763"/>
            <a:ext cx="10795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51" name="Line 43"/>
          <p:cNvSpPr>
            <a:spLocks noChangeShapeType="1"/>
          </p:cNvSpPr>
          <p:nvPr/>
        </p:nvSpPr>
        <p:spPr bwMode="auto">
          <a:xfrm flipV="1">
            <a:off x="2341563" y="3286125"/>
            <a:ext cx="1079500" cy="2873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52" name="Line 44"/>
          <p:cNvSpPr>
            <a:spLocks noChangeShapeType="1"/>
          </p:cNvSpPr>
          <p:nvPr/>
        </p:nvSpPr>
        <p:spPr bwMode="auto">
          <a:xfrm flipV="1">
            <a:off x="2341563" y="3717925"/>
            <a:ext cx="1079500" cy="5032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53" name="Line 45"/>
          <p:cNvSpPr>
            <a:spLocks noChangeShapeType="1"/>
          </p:cNvSpPr>
          <p:nvPr/>
        </p:nvSpPr>
        <p:spPr bwMode="auto">
          <a:xfrm>
            <a:off x="5437188" y="2493963"/>
            <a:ext cx="1079500" cy="431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54" name="Line 46"/>
          <p:cNvSpPr>
            <a:spLocks noChangeShapeType="1"/>
          </p:cNvSpPr>
          <p:nvPr/>
        </p:nvSpPr>
        <p:spPr bwMode="auto">
          <a:xfrm>
            <a:off x="5437188" y="2925763"/>
            <a:ext cx="1079500" cy="2160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55" name="Line 47"/>
          <p:cNvSpPr>
            <a:spLocks noChangeShapeType="1"/>
          </p:cNvSpPr>
          <p:nvPr/>
        </p:nvSpPr>
        <p:spPr bwMode="auto">
          <a:xfrm flipV="1">
            <a:off x="5437188" y="2349500"/>
            <a:ext cx="1079500" cy="9366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56" name="Line 48"/>
          <p:cNvSpPr>
            <a:spLocks noChangeShapeType="1"/>
          </p:cNvSpPr>
          <p:nvPr/>
        </p:nvSpPr>
        <p:spPr bwMode="auto">
          <a:xfrm>
            <a:off x="5437188" y="3717925"/>
            <a:ext cx="1079500" cy="2873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5857" name="Text Box 49"/>
          <p:cNvSpPr txBox="1">
            <a:spLocks noChangeArrowheads="1"/>
          </p:cNvSpPr>
          <p:nvPr/>
        </p:nvSpPr>
        <p:spPr bwMode="auto">
          <a:xfrm>
            <a:off x="684213" y="4868863"/>
            <a:ext cx="1800225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chemeClr val="bg2"/>
                </a:solidFill>
                <a:latin typeface="Arial" pitchFamily="34" charset="0"/>
                <a:ea typeface="黑体" pitchFamily="49" charset="-122"/>
              </a:rPr>
              <a:t>用户程序</a:t>
            </a:r>
          </a:p>
        </p:txBody>
      </p:sp>
      <p:sp>
        <p:nvSpPr>
          <p:cNvPr id="1655858" name="Text Box 50"/>
          <p:cNvSpPr txBox="1">
            <a:spLocks noChangeArrowheads="1"/>
          </p:cNvSpPr>
          <p:nvPr/>
        </p:nvSpPr>
        <p:spPr bwMode="auto">
          <a:xfrm>
            <a:off x="3492500" y="3933825"/>
            <a:ext cx="1800225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chemeClr val="bg2"/>
                </a:solidFill>
                <a:latin typeface="Arial" pitchFamily="34" charset="0"/>
                <a:ea typeface="黑体" pitchFamily="49" charset="-122"/>
              </a:rPr>
              <a:t>页表</a:t>
            </a:r>
          </a:p>
        </p:txBody>
      </p:sp>
      <p:sp>
        <p:nvSpPr>
          <p:cNvPr id="1655859" name="Text Box 51"/>
          <p:cNvSpPr txBox="1">
            <a:spLocks noChangeArrowheads="1"/>
          </p:cNvSpPr>
          <p:nvPr/>
        </p:nvSpPr>
        <p:spPr bwMode="auto">
          <a:xfrm>
            <a:off x="6516688" y="5589588"/>
            <a:ext cx="1800225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chemeClr val="bg2"/>
                </a:solidFill>
                <a:latin typeface="Arial" pitchFamily="34" charset="0"/>
                <a:ea typeface="黑体" pitchFamily="49" charset="-122"/>
              </a:rPr>
              <a:t>主存储器</a:t>
            </a:r>
          </a:p>
        </p:txBody>
      </p:sp>
      <p:sp>
        <p:nvSpPr>
          <p:cNvPr id="1655860" name="Text Box 52"/>
          <p:cNvSpPr txBox="1">
            <a:spLocks noChangeArrowheads="1"/>
          </p:cNvSpPr>
          <p:nvPr/>
        </p:nvSpPr>
        <p:spPr bwMode="auto">
          <a:xfrm>
            <a:off x="468313" y="1325563"/>
            <a:ext cx="230346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CC0066"/>
                </a:solidFill>
              </a:rPr>
              <a:t>虚页</a:t>
            </a:r>
            <a:r>
              <a:rPr lang="en-US" altLang="zh-CN">
                <a:solidFill>
                  <a:srgbClr val="CC0066"/>
                </a:solidFill>
              </a:rPr>
              <a:t>/</a:t>
            </a:r>
            <a:r>
              <a:rPr lang="zh-CN" altLang="en-US">
                <a:solidFill>
                  <a:srgbClr val="CC0066"/>
                </a:solidFill>
              </a:rPr>
              <a:t>逻辑页</a:t>
            </a:r>
          </a:p>
        </p:txBody>
      </p:sp>
      <p:sp>
        <p:nvSpPr>
          <p:cNvPr id="1655861" name="Text Box 53"/>
          <p:cNvSpPr txBox="1">
            <a:spLocks noChangeArrowheads="1"/>
          </p:cNvSpPr>
          <p:nvPr/>
        </p:nvSpPr>
        <p:spPr bwMode="auto">
          <a:xfrm>
            <a:off x="6229350" y="1254125"/>
            <a:ext cx="23034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CC0066"/>
                </a:solidFill>
              </a:rPr>
              <a:t>实页</a:t>
            </a:r>
            <a:r>
              <a:rPr lang="en-US" altLang="zh-CN">
                <a:solidFill>
                  <a:srgbClr val="CC0066"/>
                </a:solidFill>
              </a:rPr>
              <a:t>/</a:t>
            </a:r>
            <a:r>
              <a:rPr lang="zh-CN" altLang="en-US">
                <a:solidFill>
                  <a:srgbClr val="CC0066"/>
                </a:solidFill>
              </a:rPr>
              <a:t>物理页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D67344-D42C-428C-815B-EC7879298B78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65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56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49275"/>
            <a:ext cx="8640763" cy="576263"/>
          </a:xfrm>
        </p:spPr>
        <p:txBody>
          <a:bodyPr/>
          <a:lstStyle/>
          <a:p>
            <a:r>
              <a:rPr lang="zh-CN" altLang="en-US"/>
              <a:t>地址变换方法：</a:t>
            </a:r>
          </a:p>
        </p:txBody>
      </p:sp>
      <p:sp>
        <p:nvSpPr>
          <p:cNvPr id="1656836" name="Line 4"/>
          <p:cNvSpPr>
            <a:spLocks noChangeAspect="1" noChangeShapeType="1"/>
          </p:cNvSpPr>
          <p:nvPr/>
        </p:nvSpPr>
        <p:spPr bwMode="auto">
          <a:xfrm flipV="1">
            <a:off x="1476375" y="2522538"/>
            <a:ext cx="97155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37" name="Rectangle 5"/>
          <p:cNvSpPr>
            <a:spLocks noChangeAspect="1" noChangeArrowheads="1"/>
          </p:cNvSpPr>
          <p:nvPr/>
        </p:nvSpPr>
        <p:spPr bwMode="auto">
          <a:xfrm>
            <a:off x="1779588" y="4881563"/>
            <a:ext cx="1093787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38" name="Rectangle 6"/>
          <p:cNvSpPr>
            <a:spLocks noChangeAspect="1" noChangeArrowheads="1"/>
          </p:cNvSpPr>
          <p:nvPr/>
        </p:nvSpPr>
        <p:spPr bwMode="auto">
          <a:xfrm>
            <a:off x="1779588" y="3978275"/>
            <a:ext cx="1093787" cy="45243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Pa</a:t>
            </a:r>
          </a:p>
        </p:txBody>
      </p:sp>
      <p:sp>
        <p:nvSpPr>
          <p:cNvPr id="1656839" name="Rectangle 7"/>
          <p:cNvSpPr>
            <a:spLocks noChangeAspect="1" noChangeArrowheads="1"/>
          </p:cNvSpPr>
          <p:nvPr/>
        </p:nvSpPr>
        <p:spPr bwMode="auto">
          <a:xfrm>
            <a:off x="1779588" y="4430713"/>
            <a:ext cx="1093787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40" name="Rectangle 8"/>
          <p:cNvSpPr>
            <a:spLocks noChangeAspect="1" noChangeArrowheads="1"/>
          </p:cNvSpPr>
          <p:nvPr/>
        </p:nvSpPr>
        <p:spPr bwMode="auto">
          <a:xfrm>
            <a:off x="1779588" y="3527425"/>
            <a:ext cx="1093787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41" name="Rectangle 9"/>
          <p:cNvSpPr>
            <a:spLocks noChangeAspect="1" noChangeArrowheads="1"/>
          </p:cNvSpPr>
          <p:nvPr/>
        </p:nvSpPr>
        <p:spPr bwMode="auto">
          <a:xfrm>
            <a:off x="1779588" y="3076575"/>
            <a:ext cx="1093787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42" name="Rectangle 10"/>
          <p:cNvSpPr>
            <a:spLocks noChangeAspect="1" noChangeArrowheads="1"/>
          </p:cNvSpPr>
          <p:nvPr/>
        </p:nvSpPr>
        <p:spPr bwMode="auto">
          <a:xfrm>
            <a:off x="3965575" y="5300663"/>
            <a:ext cx="730250" cy="452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装入位</a:t>
            </a:r>
          </a:p>
        </p:txBody>
      </p:sp>
      <p:sp>
        <p:nvSpPr>
          <p:cNvPr id="1656843" name="Rectangle 11"/>
          <p:cNvSpPr>
            <a:spLocks noChangeAspect="1" noChangeArrowheads="1"/>
          </p:cNvSpPr>
          <p:nvPr/>
        </p:nvSpPr>
        <p:spPr bwMode="auto">
          <a:xfrm>
            <a:off x="4695825" y="5300663"/>
            <a:ext cx="728663" cy="452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修改位</a:t>
            </a:r>
          </a:p>
        </p:txBody>
      </p:sp>
      <p:sp>
        <p:nvSpPr>
          <p:cNvPr id="1656844" name="Rectangle 12"/>
          <p:cNvSpPr>
            <a:spLocks noChangeAspect="1" noChangeArrowheads="1"/>
          </p:cNvSpPr>
          <p:nvPr/>
        </p:nvSpPr>
        <p:spPr bwMode="auto">
          <a:xfrm>
            <a:off x="5424488" y="5300663"/>
            <a:ext cx="1457325" cy="452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主存页号</a:t>
            </a:r>
          </a:p>
        </p:txBody>
      </p:sp>
      <p:sp>
        <p:nvSpPr>
          <p:cNvPr id="1656845" name="Rectangle 13"/>
          <p:cNvSpPr>
            <a:spLocks noChangeAspect="1" noChangeArrowheads="1"/>
          </p:cNvSpPr>
          <p:nvPr/>
        </p:nvSpPr>
        <p:spPr bwMode="auto">
          <a:xfrm>
            <a:off x="2084388" y="1555750"/>
            <a:ext cx="1517650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用户号</a:t>
            </a: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1656846" name="Rectangle 14"/>
          <p:cNvSpPr>
            <a:spLocks noChangeAspect="1" noChangeArrowheads="1"/>
          </p:cNvSpPr>
          <p:nvPr/>
        </p:nvSpPr>
        <p:spPr bwMode="auto">
          <a:xfrm>
            <a:off x="3602038" y="1555750"/>
            <a:ext cx="1397000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虚页号</a:t>
            </a: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1656847" name="Rectangle 15"/>
          <p:cNvSpPr>
            <a:spLocks noChangeAspect="1" noChangeArrowheads="1"/>
          </p:cNvSpPr>
          <p:nvPr/>
        </p:nvSpPr>
        <p:spPr bwMode="auto">
          <a:xfrm>
            <a:off x="4999038" y="1555750"/>
            <a:ext cx="2671762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页内偏移</a:t>
            </a: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D</a:t>
            </a:r>
          </a:p>
        </p:txBody>
      </p:sp>
      <p:sp>
        <p:nvSpPr>
          <p:cNvPr id="1656848" name="Rectangle 16"/>
          <p:cNvSpPr>
            <a:spLocks noChangeAspect="1" noChangeArrowheads="1"/>
          </p:cNvSpPr>
          <p:nvPr/>
        </p:nvSpPr>
        <p:spPr bwMode="auto">
          <a:xfrm>
            <a:off x="4999038" y="2265363"/>
            <a:ext cx="2671762" cy="450850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页内偏移</a:t>
            </a: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d</a:t>
            </a: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49" name="Rectangle 17"/>
          <p:cNvSpPr>
            <a:spLocks noChangeAspect="1" noChangeArrowheads="1"/>
          </p:cNvSpPr>
          <p:nvPr/>
        </p:nvSpPr>
        <p:spPr bwMode="auto">
          <a:xfrm>
            <a:off x="4695825" y="4881563"/>
            <a:ext cx="728663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50" name="Rectangle 18"/>
          <p:cNvSpPr>
            <a:spLocks noChangeAspect="1" noChangeArrowheads="1"/>
          </p:cNvSpPr>
          <p:nvPr/>
        </p:nvSpPr>
        <p:spPr bwMode="auto">
          <a:xfrm>
            <a:off x="5424488" y="4881563"/>
            <a:ext cx="1457325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51" name="Rectangle 19"/>
          <p:cNvSpPr>
            <a:spLocks noChangeAspect="1" noChangeArrowheads="1"/>
          </p:cNvSpPr>
          <p:nvPr/>
        </p:nvSpPr>
        <p:spPr bwMode="auto">
          <a:xfrm>
            <a:off x="3965575" y="4881563"/>
            <a:ext cx="730250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52" name="Rectangle 20"/>
          <p:cNvSpPr>
            <a:spLocks noChangeAspect="1" noChangeArrowheads="1"/>
          </p:cNvSpPr>
          <p:nvPr/>
        </p:nvSpPr>
        <p:spPr bwMode="auto">
          <a:xfrm>
            <a:off x="4695825" y="4430713"/>
            <a:ext cx="728663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53" name="Rectangle 21"/>
          <p:cNvSpPr>
            <a:spLocks noChangeAspect="1" noChangeArrowheads="1"/>
          </p:cNvSpPr>
          <p:nvPr/>
        </p:nvSpPr>
        <p:spPr bwMode="auto">
          <a:xfrm>
            <a:off x="5424488" y="4430713"/>
            <a:ext cx="1457325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54" name="Rectangle 22"/>
          <p:cNvSpPr>
            <a:spLocks noChangeAspect="1" noChangeArrowheads="1"/>
          </p:cNvSpPr>
          <p:nvPr/>
        </p:nvSpPr>
        <p:spPr bwMode="auto">
          <a:xfrm>
            <a:off x="3965575" y="4430713"/>
            <a:ext cx="730250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55" name="Rectangle 23"/>
          <p:cNvSpPr>
            <a:spLocks noChangeAspect="1" noChangeArrowheads="1"/>
          </p:cNvSpPr>
          <p:nvPr/>
        </p:nvSpPr>
        <p:spPr bwMode="auto">
          <a:xfrm>
            <a:off x="4695825" y="3978275"/>
            <a:ext cx="728663" cy="45243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56" name="Rectangle 24"/>
          <p:cNvSpPr>
            <a:spLocks noChangeAspect="1" noChangeArrowheads="1"/>
          </p:cNvSpPr>
          <p:nvPr/>
        </p:nvSpPr>
        <p:spPr bwMode="auto">
          <a:xfrm>
            <a:off x="3965575" y="3978275"/>
            <a:ext cx="730250" cy="45243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1</a:t>
            </a: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57" name="Rectangle 25"/>
          <p:cNvSpPr>
            <a:spLocks noChangeAspect="1" noChangeArrowheads="1"/>
          </p:cNvSpPr>
          <p:nvPr/>
        </p:nvSpPr>
        <p:spPr bwMode="auto">
          <a:xfrm>
            <a:off x="4695825" y="3527425"/>
            <a:ext cx="728663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58" name="Rectangle 26"/>
          <p:cNvSpPr>
            <a:spLocks noChangeAspect="1" noChangeArrowheads="1"/>
          </p:cNvSpPr>
          <p:nvPr/>
        </p:nvSpPr>
        <p:spPr bwMode="auto">
          <a:xfrm>
            <a:off x="5424488" y="3527425"/>
            <a:ext cx="1457325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59" name="Rectangle 27"/>
          <p:cNvSpPr>
            <a:spLocks noChangeAspect="1" noChangeArrowheads="1"/>
          </p:cNvSpPr>
          <p:nvPr/>
        </p:nvSpPr>
        <p:spPr bwMode="auto">
          <a:xfrm>
            <a:off x="3965575" y="3527425"/>
            <a:ext cx="730250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60" name="Rectangle 28"/>
          <p:cNvSpPr>
            <a:spLocks noChangeAspect="1" noChangeArrowheads="1"/>
          </p:cNvSpPr>
          <p:nvPr/>
        </p:nvSpPr>
        <p:spPr bwMode="auto">
          <a:xfrm>
            <a:off x="4695825" y="3076575"/>
            <a:ext cx="728663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61" name="Rectangle 29"/>
          <p:cNvSpPr>
            <a:spLocks noChangeAspect="1" noChangeArrowheads="1"/>
          </p:cNvSpPr>
          <p:nvPr/>
        </p:nvSpPr>
        <p:spPr bwMode="auto">
          <a:xfrm>
            <a:off x="5424488" y="3076575"/>
            <a:ext cx="1457325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62" name="Rectangle 30"/>
          <p:cNvSpPr>
            <a:spLocks noChangeAspect="1" noChangeArrowheads="1"/>
          </p:cNvSpPr>
          <p:nvPr/>
        </p:nvSpPr>
        <p:spPr bwMode="auto">
          <a:xfrm>
            <a:off x="6881813" y="5300663"/>
            <a:ext cx="1003300" cy="452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各种标志</a:t>
            </a:r>
          </a:p>
        </p:txBody>
      </p:sp>
      <p:sp>
        <p:nvSpPr>
          <p:cNvPr id="1656863" name="Rectangle 31"/>
          <p:cNvSpPr>
            <a:spLocks noChangeAspect="1" noChangeArrowheads="1"/>
          </p:cNvSpPr>
          <p:nvPr/>
        </p:nvSpPr>
        <p:spPr bwMode="auto">
          <a:xfrm>
            <a:off x="6881813" y="4881563"/>
            <a:ext cx="1003300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64" name="Rectangle 32"/>
          <p:cNvSpPr>
            <a:spLocks noChangeAspect="1" noChangeArrowheads="1"/>
          </p:cNvSpPr>
          <p:nvPr/>
        </p:nvSpPr>
        <p:spPr bwMode="auto">
          <a:xfrm>
            <a:off x="6881813" y="4430713"/>
            <a:ext cx="1003300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65" name="Rectangle 33"/>
          <p:cNvSpPr>
            <a:spLocks noChangeAspect="1" noChangeArrowheads="1"/>
          </p:cNvSpPr>
          <p:nvPr/>
        </p:nvSpPr>
        <p:spPr bwMode="auto">
          <a:xfrm>
            <a:off x="6881813" y="3978275"/>
            <a:ext cx="1003300" cy="45243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66" name="Rectangle 34"/>
          <p:cNvSpPr>
            <a:spLocks noChangeAspect="1" noChangeArrowheads="1"/>
          </p:cNvSpPr>
          <p:nvPr/>
        </p:nvSpPr>
        <p:spPr bwMode="auto">
          <a:xfrm>
            <a:off x="6881813" y="3527425"/>
            <a:ext cx="1003300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67" name="Rectangle 35"/>
          <p:cNvSpPr>
            <a:spLocks noChangeAspect="1" noChangeArrowheads="1"/>
          </p:cNvSpPr>
          <p:nvPr/>
        </p:nvSpPr>
        <p:spPr bwMode="auto">
          <a:xfrm>
            <a:off x="6881813" y="3076575"/>
            <a:ext cx="1003300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68" name="Rectangle 36"/>
          <p:cNvSpPr>
            <a:spLocks noChangeAspect="1" noChangeArrowheads="1"/>
          </p:cNvSpPr>
          <p:nvPr/>
        </p:nvSpPr>
        <p:spPr bwMode="auto">
          <a:xfrm>
            <a:off x="3965575" y="3076575"/>
            <a:ext cx="730250" cy="4508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56869" name="AutoShape 37"/>
          <p:cNvSpPr>
            <a:spLocks noChangeAspect="1" noChangeArrowheads="1"/>
          </p:cNvSpPr>
          <p:nvPr/>
        </p:nvSpPr>
        <p:spPr bwMode="auto">
          <a:xfrm>
            <a:off x="3236913" y="4108450"/>
            <a:ext cx="182562" cy="192088"/>
          </a:xfrm>
          <a:prstGeom prst="flowChartOr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70" name="Line 38"/>
          <p:cNvSpPr>
            <a:spLocks noChangeAspect="1" noChangeShapeType="1"/>
          </p:cNvSpPr>
          <p:nvPr/>
        </p:nvSpPr>
        <p:spPr bwMode="auto">
          <a:xfrm flipV="1">
            <a:off x="2690813" y="4203700"/>
            <a:ext cx="5461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71" name="Line 39"/>
          <p:cNvSpPr>
            <a:spLocks noChangeAspect="1" noChangeShapeType="1"/>
          </p:cNvSpPr>
          <p:nvPr/>
        </p:nvSpPr>
        <p:spPr bwMode="auto">
          <a:xfrm flipV="1">
            <a:off x="3419475" y="4203700"/>
            <a:ext cx="5461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72" name="Line 40"/>
          <p:cNvSpPr>
            <a:spLocks noChangeAspect="1" noChangeShapeType="1"/>
          </p:cNvSpPr>
          <p:nvPr/>
        </p:nvSpPr>
        <p:spPr bwMode="auto">
          <a:xfrm>
            <a:off x="3328988" y="2136775"/>
            <a:ext cx="0" cy="19716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73" name="Line 41"/>
          <p:cNvSpPr>
            <a:spLocks noChangeAspect="1" noChangeShapeType="1"/>
          </p:cNvSpPr>
          <p:nvPr/>
        </p:nvSpPr>
        <p:spPr bwMode="auto">
          <a:xfrm flipV="1">
            <a:off x="3324225" y="2136775"/>
            <a:ext cx="94615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74" name="Line 42"/>
          <p:cNvSpPr>
            <a:spLocks noChangeAspect="1" noChangeShapeType="1"/>
          </p:cNvSpPr>
          <p:nvPr/>
        </p:nvSpPr>
        <p:spPr bwMode="auto">
          <a:xfrm flipV="1">
            <a:off x="4270375" y="2006600"/>
            <a:ext cx="0" cy="1301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75" name="Rectangle 43"/>
          <p:cNvSpPr>
            <a:spLocks noChangeAspect="1" noChangeArrowheads="1"/>
          </p:cNvSpPr>
          <p:nvPr/>
        </p:nvSpPr>
        <p:spPr bwMode="auto">
          <a:xfrm>
            <a:off x="5424488" y="3978275"/>
            <a:ext cx="1457325" cy="45243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1800" dirty="0">
                <a:latin typeface="Book Antiqua" pitchFamily="18" charset="0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1656876" name="Line 44"/>
          <p:cNvSpPr>
            <a:spLocks noChangeAspect="1" noChangeShapeType="1"/>
          </p:cNvSpPr>
          <p:nvPr/>
        </p:nvSpPr>
        <p:spPr bwMode="auto">
          <a:xfrm flipV="1">
            <a:off x="4270375" y="2716213"/>
            <a:ext cx="0" cy="1936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77" name="Line 45"/>
          <p:cNvSpPr>
            <a:spLocks noChangeAspect="1" noChangeShapeType="1"/>
          </p:cNvSpPr>
          <p:nvPr/>
        </p:nvSpPr>
        <p:spPr bwMode="auto">
          <a:xfrm flipV="1">
            <a:off x="2447925" y="2006600"/>
            <a:ext cx="0" cy="51593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78" name="Line 46"/>
          <p:cNvSpPr>
            <a:spLocks noChangeAspect="1" noChangeShapeType="1"/>
          </p:cNvSpPr>
          <p:nvPr/>
        </p:nvSpPr>
        <p:spPr bwMode="auto">
          <a:xfrm flipV="1">
            <a:off x="1476375" y="2522538"/>
            <a:ext cx="0" cy="1649412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79" name="Line 47"/>
          <p:cNvSpPr>
            <a:spLocks noChangeAspect="1" noChangeShapeType="1"/>
          </p:cNvSpPr>
          <p:nvPr/>
        </p:nvSpPr>
        <p:spPr bwMode="auto">
          <a:xfrm flipV="1">
            <a:off x="1476375" y="4171950"/>
            <a:ext cx="303213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80" name="Rectangle 48"/>
          <p:cNvSpPr>
            <a:spLocks noChangeAspect="1" noChangeArrowheads="1"/>
          </p:cNvSpPr>
          <p:nvPr/>
        </p:nvSpPr>
        <p:spPr bwMode="auto">
          <a:xfrm flipH="1">
            <a:off x="3359150" y="3076575"/>
            <a:ext cx="606425" cy="4508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Pa</a:t>
            </a:r>
          </a:p>
        </p:txBody>
      </p:sp>
      <p:sp>
        <p:nvSpPr>
          <p:cNvPr id="1656881" name="Rectangle 49"/>
          <p:cNvSpPr>
            <a:spLocks noChangeAspect="1" noChangeArrowheads="1"/>
          </p:cNvSpPr>
          <p:nvPr/>
        </p:nvSpPr>
        <p:spPr bwMode="auto">
          <a:xfrm>
            <a:off x="1598613" y="5300663"/>
            <a:ext cx="1395412" cy="3873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Arial" pitchFamily="34" charset="0"/>
                <a:ea typeface="楷体" panose="02010609060101010101" pitchFamily="49" charset="-122"/>
              </a:rPr>
              <a:t>页表基址寄存器</a:t>
            </a:r>
            <a:endParaRPr lang="zh-CN" altLang="zh-CN" sz="1800" dirty="0">
              <a:solidFill>
                <a:srgbClr val="0000FF"/>
              </a:solidFill>
              <a:latin typeface="Arial" pitchFamily="34" charset="0"/>
              <a:ea typeface="楷体" panose="02010609060101010101" pitchFamily="49" charset="-122"/>
            </a:endParaRPr>
          </a:p>
        </p:txBody>
      </p:sp>
      <p:sp>
        <p:nvSpPr>
          <p:cNvPr id="1656882" name="Rectangle 50"/>
          <p:cNvSpPr>
            <a:spLocks noChangeAspect="1" noChangeArrowheads="1"/>
          </p:cNvSpPr>
          <p:nvPr/>
        </p:nvSpPr>
        <p:spPr bwMode="auto">
          <a:xfrm>
            <a:off x="5302250" y="5661025"/>
            <a:ext cx="911225" cy="3873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Arial" pitchFamily="34" charset="0"/>
                <a:ea typeface="楷体" panose="02010609060101010101" pitchFamily="49" charset="-122"/>
              </a:rPr>
              <a:t>页表</a:t>
            </a:r>
            <a:endParaRPr lang="zh-CN" altLang="zh-CN" sz="1800" dirty="0">
              <a:solidFill>
                <a:srgbClr val="0000FF"/>
              </a:solidFill>
              <a:latin typeface="Arial" pitchFamily="34" charset="0"/>
              <a:ea typeface="楷体" panose="02010609060101010101" pitchFamily="49" charset="-122"/>
            </a:endParaRPr>
          </a:p>
        </p:txBody>
      </p:sp>
      <p:sp>
        <p:nvSpPr>
          <p:cNvPr id="1656883" name="Line 51"/>
          <p:cNvSpPr>
            <a:spLocks noChangeAspect="1" noChangeShapeType="1"/>
          </p:cNvSpPr>
          <p:nvPr/>
        </p:nvSpPr>
        <p:spPr bwMode="auto">
          <a:xfrm>
            <a:off x="6396038" y="2006600"/>
            <a:ext cx="0" cy="2587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84" name="Rectangle 52"/>
          <p:cNvSpPr>
            <a:spLocks noChangeAspect="1" noChangeArrowheads="1"/>
          </p:cNvSpPr>
          <p:nvPr/>
        </p:nvSpPr>
        <p:spPr bwMode="auto">
          <a:xfrm>
            <a:off x="3722688" y="2265363"/>
            <a:ext cx="1276350" cy="450850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实页号</a:t>
            </a: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1656885" name="Line 53"/>
          <p:cNvSpPr>
            <a:spLocks noChangeAspect="1" noChangeShapeType="1"/>
          </p:cNvSpPr>
          <p:nvPr/>
        </p:nvSpPr>
        <p:spPr bwMode="auto">
          <a:xfrm flipV="1">
            <a:off x="4270375" y="2909888"/>
            <a:ext cx="1874838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86" name="Line 54"/>
          <p:cNvSpPr>
            <a:spLocks noChangeAspect="1" noChangeShapeType="1"/>
          </p:cNvSpPr>
          <p:nvPr/>
        </p:nvSpPr>
        <p:spPr bwMode="auto">
          <a:xfrm flipV="1">
            <a:off x="6145213" y="2909888"/>
            <a:ext cx="0" cy="11842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6887" name="Text Box 55"/>
          <p:cNvSpPr txBox="1">
            <a:spLocks noChangeArrowheads="1"/>
          </p:cNvSpPr>
          <p:nvPr/>
        </p:nvSpPr>
        <p:spPr bwMode="auto">
          <a:xfrm>
            <a:off x="7669213" y="2151063"/>
            <a:ext cx="1150937" cy="6413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Arial" pitchFamily="34" charset="0"/>
                <a:ea typeface="楷体" panose="02010609060101010101" pitchFamily="49" charset="-122"/>
              </a:rPr>
              <a:t>主存</a:t>
            </a:r>
          </a:p>
          <a:p>
            <a:pPr algn="l">
              <a:spcBef>
                <a:spcPct val="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Arial" pitchFamily="34" charset="0"/>
                <a:ea typeface="楷体" panose="02010609060101010101" pitchFamily="49" charset="-122"/>
              </a:rPr>
              <a:t>实地址</a:t>
            </a:r>
            <a:r>
              <a:rPr lang="en-US" altLang="zh-CN" sz="1800" dirty="0">
                <a:solidFill>
                  <a:srgbClr val="0000FF"/>
                </a:solidFill>
                <a:latin typeface="Arial" pitchFamily="34" charset="0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656888" name="Text Box 56"/>
          <p:cNvSpPr txBox="1">
            <a:spLocks noChangeArrowheads="1"/>
          </p:cNvSpPr>
          <p:nvPr/>
        </p:nvSpPr>
        <p:spPr bwMode="auto">
          <a:xfrm>
            <a:off x="900113" y="1484313"/>
            <a:ext cx="1150937" cy="6413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Arial" pitchFamily="34" charset="0"/>
                <a:ea typeface="楷体" panose="02010609060101010101" pitchFamily="49" charset="-122"/>
              </a:rPr>
              <a:t>多用户</a:t>
            </a:r>
          </a:p>
          <a:p>
            <a:pPr algn="r">
              <a:spcBef>
                <a:spcPct val="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Arial" pitchFamily="34" charset="0"/>
                <a:ea typeface="楷体" panose="02010609060101010101" pitchFamily="49" charset="-122"/>
              </a:rPr>
              <a:t>虚地址</a:t>
            </a:r>
            <a:endParaRPr lang="zh-CN" altLang="en-US" sz="1800" dirty="0">
              <a:solidFill>
                <a:srgbClr val="0000FF"/>
              </a:solidFill>
              <a:ea typeface="楷体" panose="02010609060101010101" pitchFamily="49" charset="-122"/>
            </a:endParaRPr>
          </a:p>
        </p:txBody>
      </p:sp>
      <p:sp>
        <p:nvSpPr>
          <p:cNvPr id="1656889" name="AutoShape 57"/>
          <p:cNvSpPr>
            <a:spLocks noChangeArrowheads="1"/>
          </p:cNvSpPr>
          <p:nvPr/>
        </p:nvSpPr>
        <p:spPr bwMode="auto">
          <a:xfrm>
            <a:off x="395288" y="4724400"/>
            <a:ext cx="1146175" cy="503238"/>
          </a:xfrm>
          <a:prstGeom prst="wedgeRoundRectCallout">
            <a:avLst>
              <a:gd name="adj1" fmla="val 266898"/>
              <a:gd name="adj2" fmla="val -123500"/>
              <a:gd name="adj3" fmla="val 16667"/>
            </a:avLst>
          </a:prstGeom>
          <a:solidFill>
            <a:srgbClr val="FFFF99"/>
          </a:solidFill>
          <a:ln w="38100" algn="ctr">
            <a:solidFill>
              <a:srgbClr val="FF3399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8000"/>
                </a:solidFill>
                <a:latin typeface="Arial" pitchFamily="34" charset="0"/>
              </a:rPr>
              <a:t>已装入</a:t>
            </a:r>
          </a:p>
        </p:txBody>
      </p:sp>
      <p:sp>
        <p:nvSpPr>
          <p:cNvPr id="60" name="动作按钮: 前进或下一项 5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F19A17A-B672-4B5C-94BA-BB5983D9A139}"/>
              </a:ext>
            </a:extLst>
          </p:cNvPr>
          <p:cNvSpPr/>
          <p:nvPr/>
        </p:nvSpPr>
        <p:spPr bwMode="auto">
          <a:xfrm>
            <a:off x="8028384" y="5805264"/>
            <a:ext cx="792088" cy="576064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5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1656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65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165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65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65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165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65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65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16568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5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3" dur="500"/>
                                        <p:tgtEl>
                                          <p:spTgt spid="165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65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1" dur="500"/>
                                        <p:tgtEl>
                                          <p:spTgt spid="165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165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6836" grpId="0" animBg="1"/>
      <p:bldP spid="1656848" grpId="0" animBg="1"/>
      <p:bldP spid="1656869" grpId="0" animBg="1"/>
      <p:bldP spid="1656870" grpId="0" animBg="1"/>
      <p:bldP spid="1656871" grpId="0" animBg="1"/>
      <p:bldP spid="1656872" grpId="0" animBg="1"/>
      <p:bldP spid="1656873" grpId="0" animBg="1"/>
      <p:bldP spid="1656874" grpId="0" animBg="1"/>
      <p:bldP spid="1656876" grpId="0" animBg="1"/>
      <p:bldP spid="1656877" grpId="0" animBg="1"/>
      <p:bldP spid="1656878" grpId="0" animBg="1"/>
      <p:bldP spid="1656879" grpId="0" animBg="1"/>
      <p:bldP spid="1656883" grpId="0" animBg="1"/>
      <p:bldP spid="1656884" grpId="0" animBg="1"/>
      <p:bldP spid="1656885" grpId="0" animBg="1"/>
      <p:bldP spid="1656886" grpId="0" animBg="1"/>
      <p:bldP spid="1656887" grpId="0"/>
      <p:bldP spid="165688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C21E65-4411-4038-80AB-CFD94476BF44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165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5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49275"/>
            <a:ext cx="8640763" cy="6119813"/>
          </a:xfrm>
        </p:spPr>
        <p:txBody>
          <a:bodyPr/>
          <a:lstStyle/>
          <a:p>
            <a:pPr marL="266700" indent="-266700">
              <a:spcBef>
                <a:spcPct val="10000"/>
              </a:spcBef>
            </a:pPr>
            <a:r>
              <a:rPr lang="zh-CN" altLang="en-US" dirty="0"/>
              <a:t>主要</a:t>
            </a:r>
            <a:r>
              <a:rPr lang="zh-CN" altLang="en-US" dirty="0">
                <a:solidFill>
                  <a:srgbClr val="FF0066"/>
                </a:solidFill>
                <a:ea typeface="黑体" pitchFamily="49" charset="-122"/>
              </a:rPr>
              <a:t>优点</a:t>
            </a:r>
            <a:r>
              <a:rPr lang="zh-CN" altLang="en-US" dirty="0"/>
              <a:t>：</a:t>
            </a:r>
          </a:p>
          <a:p>
            <a:pPr marL="895350" lvl="1" indent="-449263">
              <a:spcBef>
                <a:spcPct val="10000"/>
              </a:spcBef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主存</a:t>
            </a:r>
            <a:r>
              <a:rPr lang="zh-CN" altLang="en-US" dirty="0"/>
              <a:t>储器的</a:t>
            </a:r>
            <a:r>
              <a:rPr lang="zh-CN" altLang="en-US" dirty="0">
                <a:solidFill>
                  <a:srgbClr val="0000FF"/>
                </a:solidFill>
              </a:rPr>
              <a:t>利用率</a:t>
            </a:r>
            <a:r>
              <a:rPr lang="zh-CN" altLang="en-US" dirty="0"/>
              <a:t>比较</a:t>
            </a:r>
            <a:r>
              <a:rPr lang="zh-CN" altLang="en-US" dirty="0">
                <a:solidFill>
                  <a:srgbClr val="0000FF"/>
                </a:solidFill>
              </a:rPr>
              <a:t>高</a:t>
            </a:r>
            <a:r>
              <a:rPr lang="zh-CN" altLang="en-US" dirty="0"/>
              <a:t>。</a:t>
            </a:r>
          </a:p>
          <a:p>
            <a:pPr marL="895350" lvl="1" indent="-449263">
              <a:spcBef>
                <a:spcPct val="10000"/>
              </a:spcBef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页表</a:t>
            </a:r>
            <a:r>
              <a:rPr lang="zh-CN" altLang="en-US" dirty="0"/>
              <a:t>相对比较</a:t>
            </a:r>
            <a:r>
              <a:rPr lang="zh-CN" altLang="en-US" dirty="0">
                <a:solidFill>
                  <a:srgbClr val="0000FF"/>
                </a:solidFill>
              </a:rPr>
              <a:t>简单</a:t>
            </a:r>
            <a:r>
              <a:rPr lang="zh-CN" altLang="en-US" dirty="0"/>
              <a:t>，使用硬件少。</a:t>
            </a:r>
          </a:p>
          <a:p>
            <a:pPr marL="895350" lvl="1" indent="-449263">
              <a:spcBef>
                <a:spcPct val="10000"/>
              </a:spcBef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地址变换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速度</a:t>
            </a:r>
            <a:r>
              <a:rPr lang="zh-CN" altLang="en-US" dirty="0"/>
              <a:t>比较</a:t>
            </a:r>
            <a:r>
              <a:rPr lang="zh-CN" altLang="en-US" dirty="0">
                <a:solidFill>
                  <a:srgbClr val="0000FF"/>
                </a:solidFill>
              </a:rPr>
              <a:t>快</a:t>
            </a:r>
            <a:r>
              <a:rPr lang="zh-CN" altLang="en-US" dirty="0"/>
              <a:t>。</a:t>
            </a:r>
          </a:p>
          <a:p>
            <a:pPr marL="895350" lvl="1" indent="-449263">
              <a:spcBef>
                <a:spcPct val="10000"/>
              </a:spcBef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对</a:t>
            </a:r>
            <a:r>
              <a:rPr lang="zh-CN" altLang="en-US" dirty="0">
                <a:solidFill>
                  <a:srgbClr val="0000FF"/>
                </a:solidFill>
              </a:rPr>
              <a:t>磁盘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管理</a:t>
            </a:r>
            <a:r>
              <a:rPr lang="zh-CN" altLang="en-US" dirty="0"/>
              <a:t>比较</a:t>
            </a:r>
            <a:r>
              <a:rPr lang="zh-CN" altLang="en-US" dirty="0">
                <a:solidFill>
                  <a:srgbClr val="0000FF"/>
                </a:solidFill>
              </a:rPr>
              <a:t>容易</a:t>
            </a:r>
            <a:r>
              <a:rPr lang="zh-CN" altLang="en-US" dirty="0"/>
              <a:t>。</a:t>
            </a:r>
          </a:p>
          <a:p>
            <a:pPr marL="266700" indent="-266700">
              <a:spcBef>
                <a:spcPct val="30000"/>
              </a:spcBef>
            </a:pPr>
            <a:r>
              <a:rPr lang="zh-CN" altLang="en-US" dirty="0"/>
              <a:t> 主要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缺点</a:t>
            </a:r>
            <a:r>
              <a:rPr lang="zh-CN" altLang="en-US" dirty="0"/>
              <a:t>：</a:t>
            </a:r>
          </a:p>
          <a:p>
            <a:pPr marL="895350" lvl="1" indent="-449263">
              <a:spcBef>
                <a:spcPct val="10000"/>
              </a:spcBef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程序的</a:t>
            </a:r>
            <a:r>
              <a:rPr lang="zh-CN" altLang="en-US" dirty="0">
                <a:solidFill>
                  <a:srgbClr val="0000FF"/>
                </a:solidFill>
              </a:rPr>
              <a:t>模块化</a:t>
            </a:r>
            <a:r>
              <a:rPr lang="zh-CN" altLang="en-US" dirty="0"/>
              <a:t>性能</a:t>
            </a:r>
            <a:r>
              <a:rPr lang="zh-CN" altLang="en-US" dirty="0">
                <a:solidFill>
                  <a:srgbClr val="0000FF"/>
                </a:solidFill>
              </a:rPr>
              <a:t>不好</a:t>
            </a:r>
          </a:p>
          <a:p>
            <a:pPr marL="895350" lvl="1" indent="-449263">
              <a:spcBef>
                <a:spcPct val="10000"/>
              </a:spcBef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页表</a:t>
            </a:r>
            <a:r>
              <a:rPr lang="zh-CN" altLang="en-US" dirty="0"/>
              <a:t>很长，需要</a:t>
            </a:r>
            <a:r>
              <a:rPr lang="zh-CN" altLang="en-US" dirty="0">
                <a:solidFill>
                  <a:srgbClr val="0000FF"/>
                </a:solidFill>
              </a:rPr>
              <a:t>占</a:t>
            </a:r>
            <a:r>
              <a:rPr lang="zh-CN" altLang="en-US" dirty="0"/>
              <a:t>用</a:t>
            </a:r>
            <a:r>
              <a:rPr lang="zh-CN" altLang="en-US" dirty="0">
                <a:solidFill>
                  <a:srgbClr val="0000FF"/>
                </a:solidFill>
              </a:rPr>
              <a:t>很大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存储空间</a:t>
            </a:r>
            <a:br>
              <a:rPr lang="zh-CN" altLang="en-US" dirty="0"/>
            </a:br>
            <a:r>
              <a:rPr lang="zh-CN" altLang="en-US" dirty="0"/>
              <a:t>例如：虚拟存储空间</a:t>
            </a:r>
            <a:r>
              <a:rPr lang="en-US" altLang="zh-CN" dirty="0"/>
              <a:t>1TB</a:t>
            </a:r>
            <a:r>
              <a:rPr lang="zh-CN" altLang="en-US" dirty="0"/>
              <a:t>，页大小</a:t>
            </a:r>
            <a:r>
              <a:rPr lang="en-US" altLang="zh-CN" dirty="0"/>
              <a:t>4KB</a:t>
            </a:r>
            <a:r>
              <a:rPr lang="zh-CN" altLang="en-US" dirty="0"/>
              <a:t>，则页表的容量为</a:t>
            </a:r>
            <a:r>
              <a:rPr lang="en-US" altLang="zh-CN" dirty="0"/>
              <a:t>256M</a:t>
            </a:r>
            <a:r>
              <a:rPr lang="zh-CN" altLang="en-US" dirty="0"/>
              <a:t>存储字。如果每个页表存储字占用</a:t>
            </a:r>
            <a:r>
              <a:rPr lang="en-US" altLang="zh-CN" dirty="0"/>
              <a:t>4</a:t>
            </a:r>
            <a:r>
              <a:rPr lang="zh-CN" altLang="en-US" dirty="0"/>
              <a:t>个字节，则页表的存储容量为</a:t>
            </a:r>
            <a:r>
              <a:rPr lang="en-US" altLang="zh-CN" dirty="0"/>
              <a:t>1GB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>
                <a:solidFill>
                  <a:srgbClr val="FF6600"/>
                </a:solidFill>
              </a:rPr>
              <a:t>多级页表</a:t>
            </a:r>
            <a:r>
              <a:rPr lang="zh-CN" altLang="en-US" dirty="0"/>
              <a:t>：一级页表</a:t>
            </a:r>
            <a:r>
              <a:rPr lang="zh-CN" altLang="en-US" dirty="0">
                <a:latin typeface="+mn-ea"/>
              </a:rPr>
              <a:t>→</a:t>
            </a:r>
            <a:r>
              <a:rPr lang="zh-CN" altLang="en-US" dirty="0"/>
              <a:t>主存</a:t>
            </a:r>
            <a:br>
              <a:rPr lang="zh-CN" altLang="en-US" dirty="0"/>
            </a:br>
            <a:r>
              <a:rPr lang="zh-CN" altLang="en-US" dirty="0"/>
              <a:t>                  二、三级</a:t>
            </a:r>
            <a:r>
              <a:rPr lang="zh-CN" altLang="en-US" dirty="0">
                <a:latin typeface="+mn-ea"/>
              </a:rPr>
              <a:t>→</a:t>
            </a:r>
            <a:r>
              <a:rPr lang="zh-CN" altLang="en-US" dirty="0"/>
              <a:t>在主存中驻留一小部分</a:t>
            </a:r>
          </a:p>
        </p:txBody>
      </p:sp>
      <p:sp>
        <p:nvSpPr>
          <p:cNvPr id="1657860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172450" y="620713"/>
            <a:ext cx="576263" cy="576262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899CB6-51B0-4F83-A766-95A3BC433EDA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165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</a:t>
            </a:r>
            <a:r>
              <a:rPr lang="zh-CN" altLang="en-US" dirty="0">
                <a:solidFill>
                  <a:srgbClr val="FF0000"/>
                </a:solidFill>
              </a:rPr>
              <a:t>段页式</a:t>
            </a:r>
            <a:r>
              <a:rPr lang="zh-CN" altLang="en-US" dirty="0"/>
              <a:t>虚拟存储器</a:t>
            </a:r>
          </a:p>
        </p:txBody>
      </p:sp>
      <p:sp>
        <p:nvSpPr>
          <p:cNvPr id="1658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640763" cy="4968875"/>
          </a:xfrm>
        </p:spPr>
        <p:txBody>
          <a:bodyPr/>
          <a:lstStyle/>
          <a:p>
            <a:pPr marL="361950" indent="-361950"/>
            <a:r>
              <a:rPr lang="zh-CN" altLang="en-US" dirty="0">
                <a:solidFill>
                  <a:srgbClr val="CC0066"/>
                </a:solidFill>
                <a:ea typeface="黑体" pitchFamily="49" charset="-122"/>
              </a:rPr>
              <a:t>段页式</a:t>
            </a:r>
            <a:r>
              <a:rPr lang="zh-CN" altLang="en-US" dirty="0"/>
              <a:t>存储管理方式：</a:t>
            </a:r>
            <a:br>
              <a:rPr lang="zh-CN" altLang="en-US" dirty="0"/>
            </a:br>
            <a:r>
              <a:rPr lang="zh-CN" altLang="en-US" dirty="0"/>
              <a:t>将程序按</a:t>
            </a:r>
            <a:r>
              <a:rPr lang="zh-CN" altLang="en-US" dirty="0">
                <a:solidFill>
                  <a:srgbClr val="FF3300"/>
                </a:solidFill>
              </a:rPr>
              <a:t>逻辑意义</a:t>
            </a:r>
            <a:r>
              <a:rPr lang="zh-CN" altLang="en-US" dirty="0"/>
              <a:t>先分成</a:t>
            </a:r>
            <a:r>
              <a:rPr lang="zh-CN" altLang="en-US" dirty="0">
                <a:solidFill>
                  <a:srgbClr val="FF3300"/>
                </a:solidFill>
              </a:rPr>
              <a:t>段</a:t>
            </a:r>
            <a:r>
              <a:rPr lang="zh-CN" altLang="en-US" dirty="0"/>
              <a:t>，再让各</a:t>
            </a:r>
            <a:r>
              <a:rPr lang="zh-CN" altLang="en-US" dirty="0">
                <a:solidFill>
                  <a:srgbClr val="0000FF"/>
                </a:solidFill>
              </a:rPr>
              <a:t>段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实主存</a:t>
            </a:r>
            <a:r>
              <a:rPr lang="zh-CN" altLang="en-US" dirty="0"/>
              <a:t>都机械等分成相同大小的</a:t>
            </a:r>
            <a:r>
              <a:rPr lang="zh-CN" altLang="en-US" dirty="0">
                <a:solidFill>
                  <a:srgbClr val="FF3300"/>
                </a:solidFill>
              </a:rPr>
              <a:t>页</a:t>
            </a:r>
            <a:r>
              <a:rPr lang="zh-CN" altLang="en-US" dirty="0"/>
              <a:t>面。每道程序通过一个</a:t>
            </a:r>
            <a:r>
              <a:rPr lang="zh-CN" altLang="en-US" dirty="0">
                <a:solidFill>
                  <a:srgbClr val="FF3300"/>
                </a:solidFill>
              </a:rPr>
              <a:t>段表</a:t>
            </a:r>
            <a:r>
              <a:rPr lang="zh-CN" altLang="en-US" dirty="0"/>
              <a:t>和相应的一组</a:t>
            </a:r>
            <a:r>
              <a:rPr lang="zh-CN" altLang="en-US" dirty="0">
                <a:solidFill>
                  <a:srgbClr val="FF3300"/>
                </a:solidFill>
              </a:rPr>
              <a:t>页表</a:t>
            </a:r>
            <a:r>
              <a:rPr lang="zh-CN" altLang="en-US" dirty="0"/>
              <a:t>来进行程序在主存空间中的定位。</a:t>
            </a:r>
          </a:p>
        </p:txBody>
      </p:sp>
      <p:sp>
        <p:nvSpPr>
          <p:cNvPr id="1658884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3851275" y="3717925"/>
            <a:ext cx="4033838" cy="719138"/>
          </a:xfrm>
          <a:prstGeom prst="actionButtonBlank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dirty="0">
                <a:solidFill>
                  <a:srgbClr val="FF0066"/>
                </a:solidFill>
                <a:ea typeface="黑体" pitchFamily="49" charset="-122"/>
              </a:rPr>
              <a:t>段式</a:t>
            </a:r>
            <a:r>
              <a:rPr lang="zh-CN" altLang="en-US" dirty="0">
                <a:solidFill>
                  <a:schemeClr val="bg2"/>
                </a:solidFill>
              </a:rPr>
              <a:t>虚拟存储器的</a:t>
            </a:r>
            <a:r>
              <a:rPr lang="zh-CN" altLang="en-US" dirty="0">
                <a:solidFill>
                  <a:srgbClr val="CC0066"/>
                </a:solidFill>
              </a:rPr>
              <a:t>特点</a:t>
            </a:r>
          </a:p>
        </p:txBody>
      </p:sp>
      <p:sp>
        <p:nvSpPr>
          <p:cNvPr id="1658885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3851275" y="4510088"/>
            <a:ext cx="4033838" cy="719137"/>
          </a:xfrm>
          <a:prstGeom prst="actionButtonBlank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dirty="0">
                <a:solidFill>
                  <a:srgbClr val="FF0066"/>
                </a:solidFill>
                <a:ea typeface="黑体" pitchFamily="49" charset="-122"/>
              </a:rPr>
              <a:t>页式</a:t>
            </a:r>
            <a:r>
              <a:rPr lang="zh-CN" altLang="en-US" dirty="0">
                <a:solidFill>
                  <a:schemeClr val="bg2"/>
                </a:solidFill>
              </a:rPr>
              <a:t>虚拟存储器的</a:t>
            </a:r>
            <a:r>
              <a:rPr lang="zh-CN" altLang="en-US" dirty="0">
                <a:solidFill>
                  <a:srgbClr val="CC0066"/>
                </a:solidFill>
              </a:rPr>
              <a:t>特点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499152-A81E-4A21-AFB8-B7ADA172AF88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165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</a:t>
            </a:r>
            <a:r>
              <a:rPr lang="zh-CN" altLang="en-US" dirty="0">
                <a:solidFill>
                  <a:srgbClr val="FF0000"/>
                </a:solidFill>
              </a:rPr>
              <a:t>段页式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5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49275"/>
            <a:ext cx="8640763" cy="1871663"/>
          </a:xfrm>
        </p:spPr>
        <p:txBody>
          <a:bodyPr/>
          <a:lstStyle/>
          <a:p>
            <a:pPr marL="361950" indent="-361950"/>
            <a:r>
              <a:rPr lang="zh-CN" altLang="en-US">
                <a:solidFill>
                  <a:srgbClr val="CC0099"/>
                </a:solidFill>
                <a:ea typeface="黑体" pitchFamily="49" charset="-122"/>
              </a:rPr>
              <a:t>地址映象</a:t>
            </a:r>
            <a:r>
              <a:rPr lang="zh-CN" altLang="en-US"/>
              <a:t>方法：</a:t>
            </a:r>
            <a:br>
              <a:rPr lang="zh-CN" altLang="en-US"/>
            </a:br>
            <a:r>
              <a:rPr lang="zh-CN" altLang="en-US"/>
              <a:t>每个程序段在段表中占一行， 在段表中给出页表长度和页表的起始地址，页表中给出每一页在主存储器中的实页号。</a:t>
            </a:r>
          </a:p>
        </p:txBody>
      </p:sp>
      <p:sp>
        <p:nvSpPr>
          <p:cNvPr id="1659908" name="Rectangle 4"/>
          <p:cNvSpPr>
            <a:spLocks noChangeArrowheads="1"/>
          </p:cNvSpPr>
          <p:nvPr/>
        </p:nvSpPr>
        <p:spPr bwMode="auto">
          <a:xfrm>
            <a:off x="7451725" y="2754313"/>
            <a:ext cx="1223963" cy="333375"/>
          </a:xfrm>
          <a:prstGeom prst="rect">
            <a:avLst/>
          </a:prstGeom>
          <a:solidFill>
            <a:srgbClr val="FFFF66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09" name="Rectangle 5"/>
          <p:cNvSpPr>
            <a:spLocks noChangeArrowheads="1"/>
          </p:cNvSpPr>
          <p:nvPr/>
        </p:nvSpPr>
        <p:spPr bwMode="auto">
          <a:xfrm>
            <a:off x="7451725" y="3087688"/>
            <a:ext cx="1223963" cy="334962"/>
          </a:xfrm>
          <a:prstGeom prst="rect">
            <a:avLst/>
          </a:prstGeom>
          <a:solidFill>
            <a:srgbClr val="FFFF66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10" name="Rectangle 6"/>
          <p:cNvSpPr>
            <a:spLocks noChangeArrowheads="1"/>
          </p:cNvSpPr>
          <p:nvPr/>
        </p:nvSpPr>
        <p:spPr bwMode="auto">
          <a:xfrm>
            <a:off x="7451725" y="3422650"/>
            <a:ext cx="1223963" cy="333375"/>
          </a:xfrm>
          <a:prstGeom prst="rect">
            <a:avLst/>
          </a:prstGeom>
          <a:solidFill>
            <a:srgbClr val="00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11" name="Rectangle 7"/>
          <p:cNvSpPr>
            <a:spLocks noChangeArrowheads="1"/>
          </p:cNvSpPr>
          <p:nvPr/>
        </p:nvSpPr>
        <p:spPr bwMode="auto">
          <a:xfrm>
            <a:off x="7451725" y="3756025"/>
            <a:ext cx="1223963" cy="334963"/>
          </a:xfrm>
          <a:prstGeom prst="rect">
            <a:avLst/>
          </a:prstGeom>
          <a:solidFill>
            <a:srgbClr val="FFFF66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12" name="Rectangle 8"/>
          <p:cNvSpPr>
            <a:spLocks noChangeArrowheads="1"/>
          </p:cNvSpPr>
          <p:nvPr/>
        </p:nvSpPr>
        <p:spPr bwMode="auto">
          <a:xfrm>
            <a:off x="7451725" y="4090988"/>
            <a:ext cx="1223963" cy="333375"/>
          </a:xfrm>
          <a:prstGeom prst="rect">
            <a:avLst/>
          </a:prstGeom>
          <a:solidFill>
            <a:srgbClr val="FF99FF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13" name="Rectangle 9"/>
          <p:cNvSpPr>
            <a:spLocks noChangeArrowheads="1"/>
          </p:cNvSpPr>
          <p:nvPr/>
        </p:nvSpPr>
        <p:spPr bwMode="auto">
          <a:xfrm>
            <a:off x="7451725" y="4422775"/>
            <a:ext cx="1223963" cy="334963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14" name="Rectangle 10"/>
          <p:cNvSpPr>
            <a:spLocks noChangeArrowheads="1"/>
          </p:cNvSpPr>
          <p:nvPr/>
        </p:nvSpPr>
        <p:spPr bwMode="auto">
          <a:xfrm>
            <a:off x="7451725" y="4757738"/>
            <a:ext cx="1223963" cy="333375"/>
          </a:xfrm>
          <a:prstGeom prst="rect">
            <a:avLst/>
          </a:prstGeom>
          <a:solidFill>
            <a:srgbClr val="FF99FF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15" name="Rectangle 11"/>
          <p:cNvSpPr>
            <a:spLocks noChangeArrowheads="1"/>
          </p:cNvSpPr>
          <p:nvPr/>
        </p:nvSpPr>
        <p:spPr bwMode="auto">
          <a:xfrm>
            <a:off x="7451725" y="5091113"/>
            <a:ext cx="1223963" cy="334962"/>
          </a:xfrm>
          <a:prstGeom prst="rect">
            <a:avLst/>
          </a:prstGeom>
          <a:solidFill>
            <a:srgbClr val="00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16" name="Rectangle 12"/>
          <p:cNvSpPr>
            <a:spLocks noChangeArrowheads="1"/>
          </p:cNvSpPr>
          <p:nvPr/>
        </p:nvSpPr>
        <p:spPr bwMode="auto">
          <a:xfrm>
            <a:off x="7451725" y="5426075"/>
            <a:ext cx="1223963" cy="333375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17" name="Rectangle 13"/>
          <p:cNvSpPr>
            <a:spLocks noChangeArrowheads="1"/>
          </p:cNvSpPr>
          <p:nvPr/>
        </p:nvSpPr>
        <p:spPr bwMode="auto">
          <a:xfrm>
            <a:off x="7451725" y="5759450"/>
            <a:ext cx="1223963" cy="334963"/>
          </a:xfrm>
          <a:prstGeom prst="rect">
            <a:avLst/>
          </a:prstGeom>
          <a:solidFill>
            <a:srgbClr val="00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18" name="Rectangle 14"/>
          <p:cNvSpPr>
            <a:spLocks noChangeArrowheads="1"/>
          </p:cNvSpPr>
          <p:nvPr/>
        </p:nvSpPr>
        <p:spPr bwMode="auto">
          <a:xfrm>
            <a:off x="7451725" y="2420938"/>
            <a:ext cx="1223963" cy="334962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59919" name="Group 15"/>
          <p:cNvGrpSpPr>
            <a:grpSpLocks/>
          </p:cNvGrpSpPr>
          <p:nvPr/>
        </p:nvGrpSpPr>
        <p:grpSpPr bwMode="auto">
          <a:xfrm>
            <a:off x="5219700" y="2636838"/>
            <a:ext cx="1223963" cy="1008062"/>
            <a:chOff x="2880" y="1797"/>
            <a:chExt cx="771" cy="816"/>
          </a:xfrm>
        </p:grpSpPr>
        <p:sp>
          <p:nvSpPr>
            <p:cNvPr id="1659920" name="Rectangle 16"/>
            <p:cNvSpPr>
              <a:spLocks noChangeArrowheads="1"/>
            </p:cNvSpPr>
            <p:nvPr/>
          </p:nvSpPr>
          <p:spPr bwMode="auto">
            <a:xfrm>
              <a:off x="2880" y="1797"/>
              <a:ext cx="771" cy="272"/>
            </a:xfrm>
            <a:prstGeom prst="rect">
              <a:avLst/>
            </a:prstGeom>
            <a:solidFill>
              <a:srgbClr val="FFFF66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Arial" pitchFamily="34" charset="0"/>
                </a:rPr>
                <a:t>0</a:t>
              </a:r>
              <a:r>
                <a:rPr lang="zh-CN" altLang="en-US" sz="1800">
                  <a:latin typeface="Arial" pitchFamily="34" charset="0"/>
                </a:rPr>
                <a:t>段</a:t>
              </a:r>
              <a:r>
                <a:rPr lang="en-US" altLang="zh-CN" sz="1800">
                  <a:latin typeface="Arial" pitchFamily="34" charset="0"/>
                </a:rPr>
                <a:t>0</a:t>
              </a:r>
              <a:r>
                <a:rPr lang="zh-CN" altLang="en-US" sz="1800">
                  <a:latin typeface="Arial" pitchFamily="34" charset="0"/>
                </a:rPr>
                <a:t>页</a:t>
              </a:r>
            </a:p>
          </p:txBody>
        </p:sp>
        <p:sp>
          <p:nvSpPr>
            <p:cNvPr id="1659921" name="Rectangle 17"/>
            <p:cNvSpPr>
              <a:spLocks noChangeArrowheads="1"/>
            </p:cNvSpPr>
            <p:nvPr/>
          </p:nvSpPr>
          <p:spPr bwMode="auto">
            <a:xfrm>
              <a:off x="2880" y="2069"/>
              <a:ext cx="771" cy="272"/>
            </a:xfrm>
            <a:prstGeom prst="rect">
              <a:avLst/>
            </a:prstGeom>
            <a:solidFill>
              <a:srgbClr val="FFFF66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Arial" pitchFamily="34" charset="0"/>
                </a:rPr>
                <a:t>0</a:t>
              </a:r>
              <a:r>
                <a:rPr lang="zh-CN" altLang="en-US" sz="1800">
                  <a:latin typeface="Arial" pitchFamily="34" charset="0"/>
                </a:rPr>
                <a:t>段</a:t>
              </a:r>
              <a:r>
                <a:rPr lang="en-US" altLang="zh-CN" sz="1800">
                  <a:latin typeface="Arial" pitchFamily="34" charset="0"/>
                </a:rPr>
                <a:t>1</a:t>
              </a:r>
              <a:r>
                <a:rPr lang="zh-CN" altLang="en-US" sz="1800">
                  <a:latin typeface="Arial" pitchFamily="34" charset="0"/>
                </a:rPr>
                <a:t>页</a:t>
              </a:r>
            </a:p>
          </p:txBody>
        </p:sp>
        <p:sp>
          <p:nvSpPr>
            <p:cNvPr id="1659922" name="Rectangle 18"/>
            <p:cNvSpPr>
              <a:spLocks noChangeArrowheads="1"/>
            </p:cNvSpPr>
            <p:nvPr/>
          </p:nvSpPr>
          <p:spPr bwMode="auto">
            <a:xfrm>
              <a:off x="2880" y="2341"/>
              <a:ext cx="771" cy="272"/>
            </a:xfrm>
            <a:prstGeom prst="rect">
              <a:avLst/>
            </a:prstGeom>
            <a:solidFill>
              <a:srgbClr val="FFFF66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Arial" pitchFamily="34" charset="0"/>
                </a:rPr>
                <a:t>0</a:t>
              </a:r>
              <a:r>
                <a:rPr lang="zh-CN" altLang="en-US" sz="1800">
                  <a:latin typeface="Arial" pitchFamily="34" charset="0"/>
                </a:rPr>
                <a:t>段</a:t>
              </a:r>
              <a:r>
                <a:rPr lang="en-US" altLang="zh-CN" sz="1800">
                  <a:latin typeface="Arial" pitchFamily="34" charset="0"/>
                </a:rPr>
                <a:t>2</a:t>
              </a:r>
              <a:r>
                <a:rPr lang="zh-CN" altLang="en-US" sz="1800">
                  <a:latin typeface="Arial" pitchFamily="34" charset="0"/>
                </a:rPr>
                <a:t>页</a:t>
              </a:r>
            </a:p>
          </p:txBody>
        </p:sp>
      </p:grpSp>
      <p:grpSp>
        <p:nvGrpSpPr>
          <p:cNvPr id="1659923" name="Group 19"/>
          <p:cNvGrpSpPr>
            <a:grpSpLocks/>
          </p:cNvGrpSpPr>
          <p:nvPr/>
        </p:nvGrpSpPr>
        <p:grpSpPr bwMode="auto">
          <a:xfrm>
            <a:off x="5219700" y="4076700"/>
            <a:ext cx="1223963" cy="1008063"/>
            <a:chOff x="2880" y="1797"/>
            <a:chExt cx="771" cy="816"/>
          </a:xfrm>
        </p:grpSpPr>
        <p:sp>
          <p:nvSpPr>
            <p:cNvPr id="1659924" name="Rectangle 20"/>
            <p:cNvSpPr>
              <a:spLocks noChangeArrowheads="1"/>
            </p:cNvSpPr>
            <p:nvPr/>
          </p:nvSpPr>
          <p:spPr bwMode="auto">
            <a:xfrm>
              <a:off x="2880" y="1797"/>
              <a:ext cx="771" cy="272"/>
            </a:xfrm>
            <a:prstGeom prst="rect">
              <a:avLst/>
            </a:prstGeom>
            <a:solidFill>
              <a:srgbClr val="00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Arial" pitchFamily="34" charset="0"/>
                </a:rPr>
                <a:t>1</a:t>
              </a:r>
              <a:r>
                <a:rPr lang="zh-CN" altLang="en-US" sz="1800">
                  <a:latin typeface="Arial" pitchFamily="34" charset="0"/>
                </a:rPr>
                <a:t>段</a:t>
              </a:r>
              <a:r>
                <a:rPr lang="en-US" altLang="zh-CN" sz="1800">
                  <a:latin typeface="Arial" pitchFamily="34" charset="0"/>
                </a:rPr>
                <a:t>0</a:t>
              </a:r>
              <a:r>
                <a:rPr lang="zh-CN" altLang="en-US" sz="1800">
                  <a:latin typeface="Arial" pitchFamily="34" charset="0"/>
                </a:rPr>
                <a:t>页</a:t>
              </a:r>
            </a:p>
          </p:txBody>
        </p:sp>
        <p:sp>
          <p:nvSpPr>
            <p:cNvPr id="1659925" name="Rectangle 21"/>
            <p:cNvSpPr>
              <a:spLocks noChangeArrowheads="1"/>
            </p:cNvSpPr>
            <p:nvPr/>
          </p:nvSpPr>
          <p:spPr bwMode="auto">
            <a:xfrm>
              <a:off x="2880" y="2069"/>
              <a:ext cx="771" cy="272"/>
            </a:xfrm>
            <a:prstGeom prst="rect">
              <a:avLst/>
            </a:prstGeom>
            <a:solidFill>
              <a:srgbClr val="00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Arial" pitchFamily="34" charset="0"/>
                </a:rPr>
                <a:t>1</a:t>
              </a:r>
              <a:r>
                <a:rPr lang="zh-CN" altLang="en-US" sz="1800">
                  <a:latin typeface="Arial" pitchFamily="34" charset="0"/>
                </a:rPr>
                <a:t>段</a:t>
              </a:r>
              <a:r>
                <a:rPr lang="en-US" altLang="zh-CN" sz="1800">
                  <a:latin typeface="Arial" pitchFamily="34" charset="0"/>
                </a:rPr>
                <a:t>1</a:t>
              </a:r>
              <a:r>
                <a:rPr lang="zh-CN" altLang="en-US" sz="1800">
                  <a:latin typeface="Arial" pitchFamily="34" charset="0"/>
                </a:rPr>
                <a:t>页</a:t>
              </a:r>
            </a:p>
          </p:txBody>
        </p:sp>
        <p:sp>
          <p:nvSpPr>
            <p:cNvPr id="1659926" name="Rectangle 22"/>
            <p:cNvSpPr>
              <a:spLocks noChangeArrowheads="1"/>
            </p:cNvSpPr>
            <p:nvPr/>
          </p:nvSpPr>
          <p:spPr bwMode="auto">
            <a:xfrm>
              <a:off x="2880" y="2341"/>
              <a:ext cx="771" cy="272"/>
            </a:xfrm>
            <a:prstGeom prst="rect">
              <a:avLst/>
            </a:prstGeom>
            <a:solidFill>
              <a:srgbClr val="00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Arial" pitchFamily="34" charset="0"/>
                </a:rPr>
                <a:t>1</a:t>
              </a:r>
              <a:r>
                <a:rPr lang="zh-CN" altLang="en-US" sz="1800">
                  <a:latin typeface="Arial" pitchFamily="34" charset="0"/>
                </a:rPr>
                <a:t>段</a:t>
              </a:r>
              <a:r>
                <a:rPr lang="en-US" altLang="zh-CN" sz="1800">
                  <a:latin typeface="Arial" pitchFamily="34" charset="0"/>
                </a:rPr>
                <a:t>2</a:t>
              </a:r>
              <a:r>
                <a:rPr lang="zh-CN" altLang="en-US" sz="1800">
                  <a:latin typeface="Arial" pitchFamily="34" charset="0"/>
                </a:rPr>
                <a:t>页</a:t>
              </a:r>
            </a:p>
          </p:txBody>
        </p:sp>
      </p:grpSp>
      <p:grpSp>
        <p:nvGrpSpPr>
          <p:cNvPr id="1659927" name="Group 23"/>
          <p:cNvGrpSpPr>
            <a:grpSpLocks/>
          </p:cNvGrpSpPr>
          <p:nvPr/>
        </p:nvGrpSpPr>
        <p:grpSpPr bwMode="auto">
          <a:xfrm>
            <a:off x="5219700" y="5551488"/>
            <a:ext cx="1223963" cy="671512"/>
            <a:chOff x="2835" y="3339"/>
            <a:chExt cx="771" cy="423"/>
          </a:xfrm>
        </p:grpSpPr>
        <p:sp>
          <p:nvSpPr>
            <p:cNvPr id="1659928" name="Rectangle 24"/>
            <p:cNvSpPr>
              <a:spLocks noChangeArrowheads="1"/>
            </p:cNvSpPr>
            <p:nvPr/>
          </p:nvSpPr>
          <p:spPr bwMode="auto">
            <a:xfrm>
              <a:off x="2835" y="3339"/>
              <a:ext cx="771" cy="212"/>
            </a:xfrm>
            <a:prstGeom prst="rect">
              <a:avLst/>
            </a:prstGeom>
            <a:solidFill>
              <a:srgbClr val="FF99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Arial" pitchFamily="34" charset="0"/>
                </a:rPr>
                <a:t>2</a:t>
              </a:r>
              <a:r>
                <a:rPr lang="zh-CN" altLang="en-US" sz="1800">
                  <a:latin typeface="Arial" pitchFamily="34" charset="0"/>
                </a:rPr>
                <a:t>段</a:t>
              </a:r>
              <a:r>
                <a:rPr lang="en-US" altLang="zh-CN" sz="1800">
                  <a:latin typeface="Arial" pitchFamily="34" charset="0"/>
                </a:rPr>
                <a:t>0</a:t>
              </a:r>
              <a:r>
                <a:rPr lang="zh-CN" altLang="en-US" sz="1800">
                  <a:latin typeface="Arial" pitchFamily="34" charset="0"/>
                </a:rPr>
                <a:t>页</a:t>
              </a:r>
            </a:p>
          </p:txBody>
        </p:sp>
        <p:sp>
          <p:nvSpPr>
            <p:cNvPr id="1659929" name="Rectangle 25"/>
            <p:cNvSpPr>
              <a:spLocks noChangeArrowheads="1"/>
            </p:cNvSpPr>
            <p:nvPr/>
          </p:nvSpPr>
          <p:spPr bwMode="auto">
            <a:xfrm>
              <a:off x="2835" y="3551"/>
              <a:ext cx="771" cy="211"/>
            </a:xfrm>
            <a:prstGeom prst="rect">
              <a:avLst/>
            </a:prstGeom>
            <a:solidFill>
              <a:srgbClr val="FF99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Arial" pitchFamily="34" charset="0"/>
                </a:rPr>
                <a:t>2</a:t>
              </a:r>
              <a:r>
                <a:rPr lang="zh-CN" altLang="en-US" sz="1800">
                  <a:latin typeface="Arial" pitchFamily="34" charset="0"/>
                </a:rPr>
                <a:t>段</a:t>
              </a:r>
              <a:r>
                <a:rPr lang="en-US" altLang="zh-CN" sz="1800">
                  <a:latin typeface="Arial" pitchFamily="34" charset="0"/>
                </a:rPr>
                <a:t>1</a:t>
              </a:r>
              <a:r>
                <a:rPr lang="zh-CN" altLang="en-US" sz="1800">
                  <a:latin typeface="Arial" pitchFamily="34" charset="0"/>
                </a:rPr>
                <a:t>页</a:t>
              </a:r>
            </a:p>
          </p:txBody>
        </p:sp>
      </p:grpSp>
      <p:grpSp>
        <p:nvGrpSpPr>
          <p:cNvPr id="1659930" name="Group 26"/>
          <p:cNvGrpSpPr>
            <a:grpSpLocks/>
          </p:cNvGrpSpPr>
          <p:nvPr/>
        </p:nvGrpSpPr>
        <p:grpSpPr bwMode="auto">
          <a:xfrm>
            <a:off x="900113" y="2492375"/>
            <a:ext cx="1223962" cy="1008063"/>
            <a:chOff x="2880" y="1797"/>
            <a:chExt cx="771" cy="816"/>
          </a:xfrm>
        </p:grpSpPr>
        <p:sp>
          <p:nvSpPr>
            <p:cNvPr id="1659931" name="Rectangle 27"/>
            <p:cNvSpPr>
              <a:spLocks noChangeArrowheads="1"/>
            </p:cNvSpPr>
            <p:nvPr/>
          </p:nvSpPr>
          <p:spPr bwMode="auto">
            <a:xfrm>
              <a:off x="2880" y="1797"/>
              <a:ext cx="771" cy="272"/>
            </a:xfrm>
            <a:prstGeom prst="rect">
              <a:avLst/>
            </a:prstGeom>
            <a:solidFill>
              <a:srgbClr val="FFFF66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1800">
                <a:latin typeface="Arial" pitchFamily="34" charset="0"/>
              </a:endParaRPr>
            </a:p>
          </p:txBody>
        </p:sp>
        <p:sp>
          <p:nvSpPr>
            <p:cNvPr id="1659932" name="Rectangle 28"/>
            <p:cNvSpPr>
              <a:spLocks noChangeArrowheads="1"/>
            </p:cNvSpPr>
            <p:nvPr/>
          </p:nvSpPr>
          <p:spPr bwMode="auto">
            <a:xfrm>
              <a:off x="2880" y="2069"/>
              <a:ext cx="771" cy="272"/>
            </a:xfrm>
            <a:prstGeom prst="rect">
              <a:avLst/>
            </a:prstGeom>
            <a:solidFill>
              <a:srgbClr val="FFFF66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Arial" pitchFamily="34" charset="0"/>
                </a:rPr>
                <a:t>0</a:t>
              </a:r>
              <a:r>
                <a:rPr lang="zh-CN" altLang="en-US" sz="1800">
                  <a:latin typeface="Arial" pitchFamily="34" charset="0"/>
                </a:rPr>
                <a:t>段</a:t>
              </a:r>
              <a:r>
                <a:rPr lang="en-US" altLang="zh-CN" sz="1800">
                  <a:latin typeface="Arial" pitchFamily="34" charset="0"/>
                </a:rPr>
                <a:t>12K</a:t>
              </a:r>
            </a:p>
          </p:txBody>
        </p:sp>
        <p:sp>
          <p:nvSpPr>
            <p:cNvPr id="1659933" name="Rectangle 29"/>
            <p:cNvSpPr>
              <a:spLocks noChangeArrowheads="1"/>
            </p:cNvSpPr>
            <p:nvPr/>
          </p:nvSpPr>
          <p:spPr bwMode="auto">
            <a:xfrm>
              <a:off x="2880" y="2341"/>
              <a:ext cx="771" cy="272"/>
            </a:xfrm>
            <a:prstGeom prst="rect">
              <a:avLst/>
            </a:prstGeom>
            <a:solidFill>
              <a:srgbClr val="FFFF66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1800">
                <a:latin typeface="Arial" pitchFamily="34" charset="0"/>
              </a:endParaRPr>
            </a:p>
          </p:txBody>
        </p:sp>
      </p:grpSp>
      <p:grpSp>
        <p:nvGrpSpPr>
          <p:cNvPr id="1659934" name="Group 30"/>
          <p:cNvGrpSpPr>
            <a:grpSpLocks/>
          </p:cNvGrpSpPr>
          <p:nvPr/>
        </p:nvGrpSpPr>
        <p:grpSpPr bwMode="auto">
          <a:xfrm>
            <a:off x="900113" y="5300663"/>
            <a:ext cx="1223962" cy="687387"/>
            <a:chOff x="567" y="3339"/>
            <a:chExt cx="771" cy="433"/>
          </a:xfrm>
        </p:grpSpPr>
        <p:sp>
          <p:nvSpPr>
            <p:cNvPr id="1659935" name="Rectangle 31"/>
            <p:cNvSpPr>
              <a:spLocks noChangeArrowheads="1"/>
            </p:cNvSpPr>
            <p:nvPr/>
          </p:nvSpPr>
          <p:spPr bwMode="auto">
            <a:xfrm>
              <a:off x="567" y="3339"/>
              <a:ext cx="771" cy="212"/>
            </a:xfrm>
            <a:prstGeom prst="rect">
              <a:avLst/>
            </a:prstGeom>
            <a:solidFill>
              <a:srgbClr val="FF99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Arial" pitchFamily="34" charset="0"/>
                </a:rPr>
                <a:t>2</a:t>
              </a:r>
              <a:r>
                <a:rPr lang="zh-CN" altLang="en-US" sz="1800">
                  <a:latin typeface="Arial" pitchFamily="34" charset="0"/>
                </a:rPr>
                <a:t>段</a:t>
              </a:r>
              <a:r>
                <a:rPr lang="en-US" altLang="zh-CN" sz="1800">
                  <a:latin typeface="Arial" pitchFamily="34" charset="0"/>
                </a:rPr>
                <a:t>5K</a:t>
              </a:r>
            </a:p>
          </p:txBody>
        </p:sp>
        <p:sp>
          <p:nvSpPr>
            <p:cNvPr id="1659936" name="Rectangle 32"/>
            <p:cNvSpPr>
              <a:spLocks noChangeArrowheads="1"/>
            </p:cNvSpPr>
            <p:nvPr/>
          </p:nvSpPr>
          <p:spPr bwMode="auto">
            <a:xfrm>
              <a:off x="567" y="3626"/>
              <a:ext cx="771" cy="146"/>
            </a:xfrm>
            <a:prstGeom prst="rect">
              <a:avLst/>
            </a:prstGeom>
            <a:solidFill>
              <a:schemeClr val="folHlink"/>
            </a:solidFill>
            <a:ln w="2857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1800">
                <a:latin typeface="Arial" pitchFamily="34" charset="0"/>
              </a:endParaRPr>
            </a:p>
          </p:txBody>
        </p:sp>
        <p:sp>
          <p:nvSpPr>
            <p:cNvPr id="1659937" name="Rectangle 33"/>
            <p:cNvSpPr>
              <a:spLocks noChangeArrowheads="1"/>
            </p:cNvSpPr>
            <p:nvPr/>
          </p:nvSpPr>
          <p:spPr bwMode="auto">
            <a:xfrm>
              <a:off x="567" y="3551"/>
              <a:ext cx="771" cy="75"/>
            </a:xfrm>
            <a:prstGeom prst="rect">
              <a:avLst/>
            </a:prstGeom>
            <a:solidFill>
              <a:srgbClr val="FF99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altLang="zh-CN" sz="1800">
                <a:latin typeface="Arial" pitchFamily="34" charset="0"/>
              </a:endParaRPr>
            </a:p>
          </p:txBody>
        </p:sp>
      </p:grpSp>
      <p:grpSp>
        <p:nvGrpSpPr>
          <p:cNvPr id="1659938" name="Group 34"/>
          <p:cNvGrpSpPr>
            <a:grpSpLocks/>
          </p:cNvGrpSpPr>
          <p:nvPr/>
        </p:nvGrpSpPr>
        <p:grpSpPr bwMode="auto">
          <a:xfrm>
            <a:off x="900113" y="3813175"/>
            <a:ext cx="1223962" cy="1055688"/>
            <a:chOff x="567" y="2402"/>
            <a:chExt cx="771" cy="665"/>
          </a:xfrm>
        </p:grpSpPr>
        <p:sp>
          <p:nvSpPr>
            <p:cNvPr id="1659939" name="Rectangle 35"/>
            <p:cNvSpPr>
              <a:spLocks noChangeArrowheads="1"/>
            </p:cNvSpPr>
            <p:nvPr/>
          </p:nvSpPr>
          <p:spPr bwMode="auto">
            <a:xfrm>
              <a:off x="567" y="2402"/>
              <a:ext cx="771" cy="212"/>
            </a:xfrm>
            <a:prstGeom prst="rect">
              <a:avLst/>
            </a:prstGeom>
            <a:solidFill>
              <a:srgbClr val="00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1800">
                <a:latin typeface="Arial" pitchFamily="34" charset="0"/>
              </a:endParaRPr>
            </a:p>
          </p:txBody>
        </p:sp>
        <p:sp>
          <p:nvSpPr>
            <p:cNvPr id="1659940" name="Rectangle 36"/>
            <p:cNvSpPr>
              <a:spLocks noChangeArrowheads="1"/>
            </p:cNvSpPr>
            <p:nvPr/>
          </p:nvSpPr>
          <p:spPr bwMode="auto">
            <a:xfrm>
              <a:off x="567" y="2614"/>
              <a:ext cx="771" cy="211"/>
            </a:xfrm>
            <a:prstGeom prst="rect">
              <a:avLst/>
            </a:prstGeom>
            <a:solidFill>
              <a:srgbClr val="00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Arial" pitchFamily="34" charset="0"/>
                </a:rPr>
                <a:t>1</a:t>
              </a:r>
              <a:r>
                <a:rPr lang="zh-CN" altLang="en-US" sz="1800">
                  <a:latin typeface="Arial" pitchFamily="34" charset="0"/>
                </a:rPr>
                <a:t>段</a:t>
              </a:r>
              <a:r>
                <a:rPr lang="en-US" altLang="zh-CN" sz="1800">
                  <a:latin typeface="Arial" pitchFamily="34" charset="0"/>
                </a:rPr>
                <a:t>10K</a:t>
              </a:r>
            </a:p>
          </p:txBody>
        </p:sp>
        <p:sp>
          <p:nvSpPr>
            <p:cNvPr id="1659941" name="Rectangle 37"/>
            <p:cNvSpPr>
              <a:spLocks noChangeArrowheads="1"/>
            </p:cNvSpPr>
            <p:nvPr/>
          </p:nvSpPr>
          <p:spPr bwMode="auto">
            <a:xfrm>
              <a:off x="567" y="2946"/>
              <a:ext cx="771" cy="121"/>
            </a:xfrm>
            <a:prstGeom prst="rect">
              <a:avLst/>
            </a:prstGeom>
            <a:solidFill>
              <a:schemeClr val="folHlink"/>
            </a:solidFill>
            <a:ln w="2857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1800">
                <a:latin typeface="Arial" pitchFamily="34" charset="0"/>
              </a:endParaRPr>
            </a:p>
          </p:txBody>
        </p:sp>
        <p:sp>
          <p:nvSpPr>
            <p:cNvPr id="1659942" name="Rectangle 38"/>
            <p:cNvSpPr>
              <a:spLocks noChangeArrowheads="1"/>
            </p:cNvSpPr>
            <p:nvPr/>
          </p:nvSpPr>
          <p:spPr bwMode="auto">
            <a:xfrm>
              <a:off x="567" y="2825"/>
              <a:ext cx="771" cy="121"/>
            </a:xfrm>
            <a:prstGeom prst="rect">
              <a:avLst/>
            </a:prstGeom>
            <a:solidFill>
              <a:srgbClr val="00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1800">
                <a:latin typeface="Arial" pitchFamily="34" charset="0"/>
              </a:endParaRPr>
            </a:p>
          </p:txBody>
        </p:sp>
      </p:grpSp>
      <p:graphicFrame>
        <p:nvGraphicFramePr>
          <p:cNvPr id="1659943" name="Group 39"/>
          <p:cNvGraphicFramePr>
            <a:graphicFrameLocks noGrp="1"/>
          </p:cNvGraphicFramePr>
          <p:nvPr/>
        </p:nvGraphicFramePr>
        <p:xfrm>
          <a:off x="2916238" y="2925763"/>
          <a:ext cx="1511300" cy="1889760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0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页表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长度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页表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地址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59964" name="Line 60"/>
          <p:cNvSpPr>
            <a:spLocks noChangeShapeType="1"/>
          </p:cNvSpPr>
          <p:nvPr/>
        </p:nvSpPr>
        <p:spPr bwMode="auto">
          <a:xfrm>
            <a:off x="2124075" y="2997200"/>
            <a:ext cx="792163" cy="7921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65" name="Line 61"/>
          <p:cNvSpPr>
            <a:spLocks noChangeShapeType="1"/>
          </p:cNvSpPr>
          <p:nvPr/>
        </p:nvSpPr>
        <p:spPr bwMode="auto">
          <a:xfrm flipV="1">
            <a:off x="2124075" y="4221163"/>
            <a:ext cx="792163" cy="714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66" name="Line 62"/>
          <p:cNvSpPr>
            <a:spLocks noChangeShapeType="1"/>
          </p:cNvSpPr>
          <p:nvPr/>
        </p:nvSpPr>
        <p:spPr bwMode="auto">
          <a:xfrm flipV="1">
            <a:off x="2124075" y="4581525"/>
            <a:ext cx="792163" cy="863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67" name="Line 63"/>
          <p:cNvSpPr>
            <a:spLocks noChangeShapeType="1"/>
          </p:cNvSpPr>
          <p:nvPr/>
        </p:nvSpPr>
        <p:spPr bwMode="auto">
          <a:xfrm flipV="1">
            <a:off x="4283075" y="2708275"/>
            <a:ext cx="936625" cy="10810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68" name="Line 64"/>
          <p:cNvSpPr>
            <a:spLocks noChangeShapeType="1"/>
          </p:cNvSpPr>
          <p:nvPr/>
        </p:nvSpPr>
        <p:spPr bwMode="auto">
          <a:xfrm flipV="1">
            <a:off x="4283075" y="4149725"/>
            <a:ext cx="936625" cy="714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69" name="Line 65"/>
          <p:cNvSpPr>
            <a:spLocks noChangeShapeType="1"/>
          </p:cNvSpPr>
          <p:nvPr/>
        </p:nvSpPr>
        <p:spPr bwMode="auto">
          <a:xfrm>
            <a:off x="4283075" y="4652963"/>
            <a:ext cx="936625" cy="10080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70" name="Line 66"/>
          <p:cNvSpPr>
            <a:spLocks noChangeShapeType="1"/>
          </p:cNvSpPr>
          <p:nvPr/>
        </p:nvSpPr>
        <p:spPr bwMode="auto">
          <a:xfrm>
            <a:off x="6443663" y="2781300"/>
            <a:ext cx="1008062" cy="431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71" name="Line 67"/>
          <p:cNvSpPr>
            <a:spLocks noChangeShapeType="1"/>
          </p:cNvSpPr>
          <p:nvPr/>
        </p:nvSpPr>
        <p:spPr bwMode="auto">
          <a:xfrm>
            <a:off x="6443663" y="3141663"/>
            <a:ext cx="1008062" cy="7921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72" name="Line 68"/>
          <p:cNvSpPr>
            <a:spLocks noChangeShapeType="1"/>
          </p:cNvSpPr>
          <p:nvPr/>
        </p:nvSpPr>
        <p:spPr bwMode="auto">
          <a:xfrm flipV="1">
            <a:off x="6443663" y="2925763"/>
            <a:ext cx="1008062" cy="57467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73" name="Line 69"/>
          <p:cNvSpPr>
            <a:spLocks noChangeShapeType="1"/>
          </p:cNvSpPr>
          <p:nvPr/>
        </p:nvSpPr>
        <p:spPr bwMode="auto">
          <a:xfrm flipV="1">
            <a:off x="6443663" y="3573463"/>
            <a:ext cx="1008062" cy="6477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74" name="Line 70"/>
          <p:cNvSpPr>
            <a:spLocks noChangeShapeType="1"/>
          </p:cNvSpPr>
          <p:nvPr/>
        </p:nvSpPr>
        <p:spPr bwMode="auto">
          <a:xfrm>
            <a:off x="6443663" y="4581525"/>
            <a:ext cx="1008062" cy="7191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75" name="Line 71"/>
          <p:cNvSpPr>
            <a:spLocks noChangeShapeType="1"/>
          </p:cNvSpPr>
          <p:nvPr/>
        </p:nvSpPr>
        <p:spPr bwMode="auto">
          <a:xfrm>
            <a:off x="6443663" y="4868863"/>
            <a:ext cx="1008062" cy="10810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76" name="Line 72"/>
          <p:cNvSpPr>
            <a:spLocks noChangeShapeType="1"/>
          </p:cNvSpPr>
          <p:nvPr/>
        </p:nvSpPr>
        <p:spPr bwMode="auto">
          <a:xfrm flipV="1">
            <a:off x="6443663" y="4221163"/>
            <a:ext cx="1008062" cy="15128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77" name="Line 73"/>
          <p:cNvSpPr>
            <a:spLocks noChangeShapeType="1"/>
          </p:cNvSpPr>
          <p:nvPr/>
        </p:nvSpPr>
        <p:spPr bwMode="auto">
          <a:xfrm flipV="1">
            <a:off x="6443663" y="4941888"/>
            <a:ext cx="1008062" cy="11509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9978" name="Text Box 74"/>
          <p:cNvSpPr txBox="1">
            <a:spLocks noChangeArrowheads="1"/>
          </p:cNvSpPr>
          <p:nvPr/>
        </p:nvSpPr>
        <p:spPr bwMode="auto">
          <a:xfrm>
            <a:off x="611188" y="6092825"/>
            <a:ext cx="1800225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FF0066"/>
                </a:solidFill>
                <a:latin typeface="Arial" pitchFamily="34" charset="0"/>
                <a:ea typeface="黑体" pitchFamily="49" charset="-122"/>
              </a:rPr>
              <a:t>用户程序</a:t>
            </a:r>
          </a:p>
        </p:txBody>
      </p:sp>
      <p:sp>
        <p:nvSpPr>
          <p:cNvPr id="1659979" name="Text Box 75"/>
          <p:cNvSpPr txBox="1">
            <a:spLocks noChangeArrowheads="1"/>
          </p:cNvSpPr>
          <p:nvPr/>
        </p:nvSpPr>
        <p:spPr bwMode="auto">
          <a:xfrm>
            <a:off x="2817813" y="4784725"/>
            <a:ext cx="1800225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FF0066"/>
                </a:solidFill>
                <a:latin typeface="Arial" pitchFamily="34" charset="0"/>
                <a:ea typeface="黑体" pitchFamily="49" charset="-122"/>
              </a:rPr>
              <a:t>段表</a:t>
            </a:r>
          </a:p>
        </p:txBody>
      </p:sp>
      <p:sp>
        <p:nvSpPr>
          <p:cNvPr id="1659980" name="Text Box 76"/>
          <p:cNvSpPr txBox="1">
            <a:spLocks noChangeArrowheads="1"/>
          </p:cNvSpPr>
          <p:nvPr/>
        </p:nvSpPr>
        <p:spPr bwMode="auto">
          <a:xfrm>
            <a:off x="4932363" y="3611563"/>
            <a:ext cx="1800225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FF0066"/>
                </a:solidFill>
                <a:latin typeface="Arial" pitchFamily="34" charset="0"/>
                <a:ea typeface="黑体" pitchFamily="49" charset="-122"/>
              </a:rPr>
              <a:t>0</a:t>
            </a:r>
            <a:r>
              <a:rPr lang="zh-CN" altLang="en-US" sz="2000">
                <a:solidFill>
                  <a:srgbClr val="FF0066"/>
                </a:solidFill>
                <a:latin typeface="Arial" pitchFamily="34" charset="0"/>
                <a:ea typeface="黑体" pitchFamily="49" charset="-122"/>
              </a:rPr>
              <a:t>段页表</a:t>
            </a:r>
          </a:p>
        </p:txBody>
      </p:sp>
      <p:sp>
        <p:nvSpPr>
          <p:cNvPr id="1659981" name="Text Box 77"/>
          <p:cNvSpPr txBox="1">
            <a:spLocks noChangeArrowheads="1"/>
          </p:cNvSpPr>
          <p:nvPr/>
        </p:nvSpPr>
        <p:spPr bwMode="auto">
          <a:xfrm>
            <a:off x="4932363" y="5051425"/>
            <a:ext cx="1800225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FF0066"/>
                </a:solidFill>
                <a:latin typeface="Arial" pitchFamily="34" charset="0"/>
                <a:ea typeface="黑体" pitchFamily="49" charset="-122"/>
              </a:rPr>
              <a:t>1</a:t>
            </a:r>
            <a:r>
              <a:rPr lang="zh-CN" altLang="en-US" sz="2000">
                <a:solidFill>
                  <a:srgbClr val="FF0066"/>
                </a:solidFill>
                <a:latin typeface="Arial" pitchFamily="34" charset="0"/>
                <a:ea typeface="黑体" pitchFamily="49" charset="-122"/>
              </a:rPr>
              <a:t>段页表</a:t>
            </a:r>
          </a:p>
        </p:txBody>
      </p:sp>
      <p:sp>
        <p:nvSpPr>
          <p:cNvPr id="1659982" name="Text Box 78"/>
          <p:cNvSpPr txBox="1">
            <a:spLocks noChangeArrowheads="1"/>
          </p:cNvSpPr>
          <p:nvPr/>
        </p:nvSpPr>
        <p:spPr bwMode="auto">
          <a:xfrm>
            <a:off x="4859338" y="6200775"/>
            <a:ext cx="1800225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FF0066"/>
                </a:solidFill>
                <a:latin typeface="Arial" pitchFamily="34" charset="0"/>
                <a:ea typeface="黑体" pitchFamily="49" charset="-122"/>
              </a:rPr>
              <a:t>2</a:t>
            </a:r>
            <a:r>
              <a:rPr lang="zh-CN" altLang="en-US" sz="2000">
                <a:solidFill>
                  <a:srgbClr val="FF0066"/>
                </a:solidFill>
                <a:latin typeface="Arial" pitchFamily="34" charset="0"/>
                <a:ea typeface="黑体" pitchFamily="49" charset="-122"/>
              </a:rPr>
              <a:t>段页表</a:t>
            </a:r>
          </a:p>
        </p:txBody>
      </p:sp>
      <p:sp>
        <p:nvSpPr>
          <p:cNvPr id="1659983" name="Text Box 79"/>
          <p:cNvSpPr txBox="1">
            <a:spLocks noChangeArrowheads="1"/>
          </p:cNvSpPr>
          <p:nvPr/>
        </p:nvSpPr>
        <p:spPr bwMode="auto">
          <a:xfrm>
            <a:off x="7131050" y="6046788"/>
            <a:ext cx="1800225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FF0066"/>
                </a:solidFill>
                <a:latin typeface="Arial" pitchFamily="34" charset="0"/>
                <a:ea typeface="黑体" pitchFamily="49" charset="-122"/>
              </a:rPr>
              <a:t>主存储器</a:t>
            </a:r>
          </a:p>
        </p:txBody>
      </p:sp>
      <p:sp>
        <p:nvSpPr>
          <p:cNvPr id="1659984" name="Text Box 80"/>
          <p:cNvSpPr txBox="1">
            <a:spLocks noChangeArrowheads="1"/>
          </p:cNvSpPr>
          <p:nvPr/>
        </p:nvSpPr>
        <p:spPr bwMode="auto">
          <a:xfrm>
            <a:off x="2771775" y="2492375"/>
            <a:ext cx="1800225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bg2"/>
                </a:solidFill>
                <a:latin typeface="Arial" pitchFamily="34" charset="0"/>
                <a:ea typeface="黑体" pitchFamily="49" charset="-122"/>
              </a:rPr>
              <a:t>每页</a:t>
            </a:r>
            <a:r>
              <a:rPr lang="en-US" altLang="zh-CN" sz="2000">
                <a:solidFill>
                  <a:schemeClr val="bg2"/>
                </a:solidFill>
                <a:latin typeface="Arial" pitchFamily="34" charset="0"/>
                <a:ea typeface="黑体" pitchFamily="49" charset="-122"/>
              </a:rPr>
              <a:t>4KB</a:t>
            </a:r>
          </a:p>
        </p:txBody>
      </p:sp>
      <p:sp>
        <p:nvSpPr>
          <p:cNvPr id="62" name="动作按钮: 前进或下一项 6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3A0D349-5CE1-4DF6-BB36-7BF423058056}"/>
              </a:ext>
            </a:extLst>
          </p:cNvPr>
          <p:cNvSpPr/>
          <p:nvPr/>
        </p:nvSpPr>
        <p:spPr bwMode="auto">
          <a:xfrm>
            <a:off x="8028062" y="281825"/>
            <a:ext cx="792088" cy="576064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BE4D50-78F1-43B0-AF80-A83D897D7217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166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</a:t>
            </a:r>
            <a:r>
              <a:rPr lang="zh-CN" altLang="en-US" dirty="0">
                <a:solidFill>
                  <a:srgbClr val="FF0000"/>
                </a:solidFill>
              </a:rPr>
              <a:t>段页式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60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628775"/>
            <a:ext cx="8640763" cy="5040313"/>
          </a:xfrm>
        </p:spPr>
        <p:txBody>
          <a:bodyPr/>
          <a:lstStyle/>
          <a:p>
            <a:pPr marL="361950" indent="-361950"/>
            <a:r>
              <a:rPr lang="zh-CN" altLang="en-US" dirty="0">
                <a:solidFill>
                  <a:srgbClr val="CC0099"/>
                </a:solidFill>
                <a:ea typeface="黑体" pitchFamily="49" charset="-122"/>
              </a:rPr>
              <a:t>地址变换</a:t>
            </a:r>
            <a:r>
              <a:rPr lang="zh-CN" altLang="en-US" dirty="0"/>
              <a:t>方法：</a:t>
            </a:r>
          </a:p>
          <a:p>
            <a:pPr marL="806450" lvl="1" indent="-44926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先查段表，得到页表起始地址和页表长度；</a:t>
            </a:r>
          </a:p>
          <a:p>
            <a:pPr marL="806450" lvl="1" indent="-44926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再查页表找到要访问的主存实页号；</a:t>
            </a:r>
          </a:p>
          <a:p>
            <a:pPr marL="806450" lvl="1" indent="-449263">
              <a:buClr>
                <a:schemeClr val="bg2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把实页号</a:t>
            </a:r>
            <a:r>
              <a:rPr lang="en-US" altLang="zh-CN" dirty="0"/>
              <a:t>p</a:t>
            </a:r>
            <a:r>
              <a:rPr lang="zh-CN" altLang="en-US" dirty="0"/>
              <a:t>与页内偏移</a:t>
            </a:r>
            <a:r>
              <a:rPr lang="en-US" altLang="zh-CN" dirty="0"/>
              <a:t>d</a:t>
            </a:r>
            <a:r>
              <a:rPr lang="zh-CN" altLang="en-US" dirty="0"/>
              <a:t>拼接得到主存实地址。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3D18CB-601B-4CE2-B877-02C086FF0156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166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</a:t>
            </a:r>
            <a:r>
              <a:rPr lang="zh-CN" altLang="en-US" dirty="0">
                <a:solidFill>
                  <a:srgbClr val="FF0000"/>
                </a:solidFill>
              </a:rPr>
              <a:t>段页式</a:t>
            </a:r>
            <a:r>
              <a:rPr lang="zh-CN" altLang="en-US" dirty="0"/>
              <a:t>虚拟存储器</a:t>
            </a:r>
            <a:endParaRPr lang="zh-CN" altLang="en-US" dirty="0">
              <a:solidFill>
                <a:srgbClr val="006600"/>
              </a:solidFill>
            </a:endParaRPr>
          </a:p>
        </p:txBody>
      </p:sp>
      <p:grpSp>
        <p:nvGrpSpPr>
          <p:cNvPr id="1661955" name="Group 3"/>
          <p:cNvGrpSpPr>
            <a:grpSpLocks/>
          </p:cNvGrpSpPr>
          <p:nvPr/>
        </p:nvGrpSpPr>
        <p:grpSpPr bwMode="auto">
          <a:xfrm>
            <a:off x="469900" y="1917700"/>
            <a:ext cx="363538" cy="1198563"/>
            <a:chOff x="206" y="1208"/>
            <a:chExt cx="272" cy="755"/>
          </a:xfrm>
        </p:grpSpPr>
        <p:sp>
          <p:nvSpPr>
            <p:cNvPr id="1661956" name="Rectangle 4"/>
            <p:cNvSpPr>
              <a:spLocks noChangeAspect="1" noChangeArrowheads="1"/>
            </p:cNvSpPr>
            <p:nvPr/>
          </p:nvSpPr>
          <p:spPr bwMode="auto">
            <a:xfrm>
              <a:off x="206" y="1459"/>
              <a:ext cx="272" cy="252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1957" name="Rectangle 5"/>
            <p:cNvSpPr>
              <a:spLocks noChangeAspect="1" noChangeArrowheads="1"/>
            </p:cNvSpPr>
            <p:nvPr/>
          </p:nvSpPr>
          <p:spPr bwMode="auto">
            <a:xfrm>
              <a:off x="206" y="1711"/>
              <a:ext cx="272" cy="252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1958" name="Rectangle 6"/>
            <p:cNvSpPr>
              <a:spLocks noChangeAspect="1" noChangeArrowheads="1"/>
            </p:cNvSpPr>
            <p:nvPr/>
          </p:nvSpPr>
          <p:spPr bwMode="auto">
            <a:xfrm>
              <a:off x="206" y="1208"/>
              <a:ext cx="272" cy="25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661959" name="Rectangle 7"/>
          <p:cNvSpPr>
            <a:spLocks noChangeAspect="1" noChangeArrowheads="1"/>
          </p:cNvSpPr>
          <p:nvPr/>
        </p:nvSpPr>
        <p:spPr bwMode="auto">
          <a:xfrm>
            <a:off x="6288088" y="6186488"/>
            <a:ext cx="515937" cy="482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装入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位</a:t>
            </a:r>
          </a:p>
        </p:txBody>
      </p:sp>
      <p:sp>
        <p:nvSpPr>
          <p:cNvPr id="1661960" name="Rectangle 8"/>
          <p:cNvSpPr>
            <a:spLocks noChangeAspect="1" noChangeArrowheads="1"/>
          </p:cNvSpPr>
          <p:nvPr/>
        </p:nvSpPr>
        <p:spPr bwMode="auto">
          <a:xfrm>
            <a:off x="7308850" y="6183313"/>
            <a:ext cx="503238" cy="485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修改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位</a:t>
            </a:r>
          </a:p>
        </p:txBody>
      </p:sp>
      <p:sp>
        <p:nvSpPr>
          <p:cNvPr id="1661961" name="Rectangle 9"/>
          <p:cNvSpPr>
            <a:spLocks noChangeAspect="1" noChangeArrowheads="1"/>
          </p:cNvSpPr>
          <p:nvPr/>
        </p:nvSpPr>
        <p:spPr bwMode="auto">
          <a:xfrm>
            <a:off x="6804025" y="6186488"/>
            <a:ext cx="504825" cy="482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实页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号</a:t>
            </a:r>
          </a:p>
        </p:txBody>
      </p:sp>
      <p:sp>
        <p:nvSpPr>
          <p:cNvPr id="1661962" name="Rectangle 10"/>
          <p:cNvSpPr>
            <a:spLocks noChangeAspect="1" noChangeArrowheads="1"/>
          </p:cNvSpPr>
          <p:nvPr/>
        </p:nvSpPr>
        <p:spPr bwMode="auto">
          <a:xfrm>
            <a:off x="7812088" y="6178550"/>
            <a:ext cx="504825" cy="4905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标志</a:t>
            </a:r>
          </a:p>
        </p:txBody>
      </p:sp>
      <p:sp>
        <p:nvSpPr>
          <p:cNvPr id="1661963" name="Rectangle 11"/>
          <p:cNvSpPr>
            <a:spLocks noChangeAspect="1" noChangeArrowheads="1"/>
          </p:cNvSpPr>
          <p:nvPr/>
        </p:nvSpPr>
        <p:spPr bwMode="auto">
          <a:xfrm>
            <a:off x="2451100" y="1001713"/>
            <a:ext cx="1436688" cy="4000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用户号</a:t>
            </a: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U</a:t>
            </a:r>
          </a:p>
        </p:txBody>
      </p:sp>
      <p:sp>
        <p:nvSpPr>
          <p:cNvPr id="1661964" name="Rectangle 12"/>
          <p:cNvSpPr>
            <a:spLocks noChangeAspect="1" noChangeArrowheads="1"/>
          </p:cNvSpPr>
          <p:nvPr/>
        </p:nvSpPr>
        <p:spPr bwMode="auto">
          <a:xfrm>
            <a:off x="3887788" y="1001713"/>
            <a:ext cx="1306512" cy="4000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段号</a:t>
            </a: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S</a:t>
            </a:r>
          </a:p>
        </p:txBody>
      </p:sp>
      <p:sp>
        <p:nvSpPr>
          <p:cNvPr id="1661965" name="Rectangle 13"/>
          <p:cNvSpPr>
            <a:spLocks noChangeAspect="1" noChangeArrowheads="1"/>
          </p:cNvSpPr>
          <p:nvPr/>
        </p:nvSpPr>
        <p:spPr bwMode="auto">
          <a:xfrm>
            <a:off x="6696075" y="1001713"/>
            <a:ext cx="1763713" cy="4000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页内偏移</a:t>
            </a: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D</a:t>
            </a: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61966" name="Rectangle 14"/>
          <p:cNvSpPr>
            <a:spLocks noChangeAspect="1" noChangeArrowheads="1"/>
          </p:cNvSpPr>
          <p:nvPr/>
        </p:nvSpPr>
        <p:spPr bwMode="auto">
          <a:xfrm>
            <a:off x="6696075" y="1835150"/>
            <a:ext cx="1763713" cy="398463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页内偏移</a:t>
            </a: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d</a:t>
            </a: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61967" name="AutoShape 15"/>
          <p:cNvSpPr>
            <a:spLocks noChangeAspect="1" noChangeArrowheads="1"/>
          </p:cNvSpPr>
          <p:nvPr/>
        </p:nvSpPr>
        <p:spPr bwMode="auto">
          <a:xfrm>
            <a:off x="5124450" y="4984750"/>
            <a:ext cx="195263" cy="203200"/>
          </a:xfrm>
          <a:prstGeom prst="flowChartOr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1968" name="Rectangle 16"/>
          <p:cNvSpPr>
            <a:spLocks noChangeAspect="1" noChangeArrowheads="1"/>
          </p:cNvSpPr>
          <p:nvPr/>
        </p:nvSpPr>
        <p:spPr bwMode="auto">
          <a:xfrm flipH="1">
            <a:off x="5940425" y="2708275"/>
            <a:ext cx="352425" cy="4000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dirty="0">
                <a:solidFill>
                  <a:srgbClr val="CC0099"/>
                </a:solidFill>
                <a:latin typeface="Book Antiqua" pitchFamily="18" charset="0"/>
                <a:ea typeface="楷体" panose="02010609060101010101" pitchFamily="49" charset="-122"/>
              </a:rPr>
              <a:t>a</a:t>
            </a:r>
            <a:endParaRPr kumimoji="1" lang="en-US" altLang="zh-CN" sz="2000" dirty="0">
              <a:solidFill>
                <a:srgbClr val="CC0099"/>
              </a:solidFill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61969" name="Rectangle 17"/>
          <p:cNvSpPr>
            <a:spLocks noChangeAspect="1" noChangeArrowheads="1"/>
          </p:cNvSpPr>
          <p:nvPr/>
        </p:nvSpPr>
        <p:spPr bwMode="auto">
          <a:xfrm>
            <a:off x="5580063" y="1835150"/>
            <a:ext cx="1116012" cy="398463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实页号</a:t>
            </a: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p</a:t>
            </a:r>
          </a:p>
        </p:txBody>
      </p:sp>
      <p:sp>
        <p:nvSpPr>
          <p:cNvPr id="1661970" name="Rectangle 18"/>
          <p:cNvSpPr>
            <a:spLocks noChangeAspect="1" noChangeArrowheads="1"/>
          </p:cNvSpPr>
          <p:nvPr/>
        </p:nvSpPr>
        <p:spPr bwMode="auto">
          <a:xfrm>
            <a:off x="5194300" y="1001713"/>
            <a:ext cx="1501775" cy="4000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虚页号</a:t>
            </a:r>
            <a:r>
              <a:rPr kumimoji="1" lang="en-US" altLang="zh-CN" sz="1800" dirty="0">
                <a:latin typeface="Book Antiqua" pitchFamily="18" charset="0"/>
                <a:ea typeface="楷体" panose="02010609060101010101" pitchFamily="49" charset="-122"/>
              </a:rPr>
              <a:t>P</a:t>
            </a:r>
          </a:p>
        </p:txBody>
      </p:sp>
      <p:grpSp>
        <p:nvGrpSpPr>
          <p:cNvPr id="1661971" name="Group 19"/>
          <p:cNvGrpSpPr>
            <a:grpSpLocks/>
          </p:cNvGrpSpPr>
          <p:nvPr/>
        </p:nvGrpSpPr>
        <p:grpSpPr bwMode="auto">
          <a:xfrm>
            <a:off x="833438" y="1917700"/>
            <a:ext cx="500062" cy="1198563"/>
            <a:chOff x="478" y="1208"/>
            <a:chExt cx="452" cy="755"/>
          </a:xfrm>
        </p:grpSpPr>
        <p:sp>
          <p:nvSpPr>
            <p:cNvPr id="1661972" name="Rectangle 20"/>
            <p:cNvSpPr>
              <a:spLocks noChangeAspect="1" noChangeArrowheads="1"/>
            </p:cNvSpPr>
            <p:nvPr/>
          </p:nvSpPr>
          <p:spPr bwMode="auto">
            <a:xfrm>
              <a:off x="478" y="1459"/>
              <a:ext cx="452" cy="252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kumimoji="1" lang="en-US" altLang="zh-CN" sz="1800" dirty="0">
                  <a:latin typeface="Book Antiqua" pitchFamily="18" charset="0"/>
                  <a:ea typeface="楷体" panose="02010609060101010101" pitchFamily="49" charset="-122"/>
                </a:rPr>
                <a:t>S</a:t>
              </a:r>
              <a:r>
                <a:rPr kumimoji="1" lang="en-US" altLang="zh-CN" sz="1800" baseline="-25000" dirty="0">
                  <a:latin typeface="Book Antiqua" pitchFamily="18" charset="0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661973" name="Rectangle 21"/>
            <p:cNvSpPr>
              <a:spLocks noChangeAspect="1" noChangeArrowheads="1"/>
            </p:cNvSpPr>
            <p:nvPr/>
          </p:nvSpPr>
          <p:spPr bwMode="auto">
            <a:xfrm>
              <a:off x="478" y="1711"/>
              <a:ext cx="452" cy="252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kumimoji="1" lang="en-US" altLang="zh-CN" sz="1800" dirty="0">
                  <a:latin typeface="Book Antiqua" pitchFamily="18" charset="0"/>
                  <a:ea typeface="楷体" panose="02010609060101010101" pitchFamily="49" charset="-122"/>
                </a:rPr>
                <a:t>S</a:t>
              </a:r>
              <a:r>
                <a:rPr kumimoji="1" lang="en-US" altLang="zh-CN" sz="1800" baseline="-25000" dirty="0">
                  <a:latin typeface="Book Antiqua" pitchFamily="18" charset="0"/>
                  <a:ea typeface="楷体" panose="02010609060101010101" pitchFamily="49" charset="-122"/>
                </a:rPr>
                <a:t>C</a:t>
              </a:r>
              <a:endParaRPr kumimoji="1" lang="zh-CN" altLang="zh-CN" sz="1800" baseline="-250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1974" name="Rectangle 22"/>
            <p:cNvSpPr>
              <a:spLocks noChangeAspect="1" noChangeArrowheads="1"/>
            </p:cNvSpPr>
            <p:nvPr/>
          </p:nvSpPr>
          <p:spPr bwMode="auto">
            <a:xfrm>
              <a:off x="478" y="1208"/>
              <a:ext cx="452" cy="25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kumimoji="1" lang="en-US" altLang="zh-CN" sz="1800" dirty="0">
                  <a:latin typeface="Book Antiqua" pitchFamily="18" charset="0"/>
                  <a:ea typeface="楷体" panose="02010609060101010101" pitchFamily="49" charset="-122"/>
                </a:rPr>
                <a:t>S</a:t>
              </a:r>
              <a:r>
                <a:rPr kumimoji="1" lang="en-US" altLang="zh-CN" sz="1800" baseline="-25000" dirty="0">
                  <a:latin typeface="Book Antiqua" pitchFamily="18" charset="0"/>
                  <a:ea typeface="楷体" panose="02010609060101010101" pitchFamily="49" charset="-122"/>
                </a:rPr>
                <a:t>A</a:t>
              </a:r>
              <a:endParaRPr kumimoji="1" lang="zh-CN" altLang="zh-CN" sz="1800" baseline="-250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661975" name="Rectangle 23"/>
          <p:cNvSpPr>
            <a:spLocks noChangeAspect="1" noChangeArrowheads="1"/>
          </p:cNvSpPr>
          <p:nvPr/>
        </p:nvSpPr>
        <p:spPr bwMode="auto">
          <a:xfrm>
            <a:off x="2286000" y="5588000"/>
            <a:ext cx="487363" cy="5429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装入</a:t>
            </a:r>
            <a:b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</a:b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位</a:t>
            </a:r>
          </a:p>
        </p:txBody>
      </p:sp>
      <p:sp>
        <p:nvSpPr>
          <p:cNvPr id="1661976" name="Rectangle 24"/>
          <p:cNvSpPr>
            <a:spLocks noChangeAspect="1" noChangeArrowheads="1"/>
          </p:cNvSpPr>
          <p:nvPr/>
        </p:nvSpPr>
        <p:spPr bwMode="auto">
          <a:xfrm>
            <a:off x="2773363" y="5588000"/>
            <a:ext cx="503237" cy="5429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修改</a:t>
            </a:r>
            <a:b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</a:b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位</a:t>
            </a:r>
          </a:p>
        </p:txBody>
      </p:sp>
      <p:sp>
        <p:nvSpPr>
          <p:cNvPr id="1661977" name="Rectangle 25"/>
          <p:cNvSpPr>
            <a:spLocks noChangeAspect="1" noChangeArrowheads="1"/>
          </p:cNvSpPr>
          <p:nvPr/>
        </p:nvSpPr>
        <p:spPr bwMode="auto">
          <a:xfrm>
            <a:off x="4284663" y="5588000"/>
            <a:ext cx="504825" cy="5429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页表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地址</a:t>
            </a:r>
          </a:p>
        </p:txBody>
      </p:sp>
      <p:sp>
        <p:nvSpPr>
          <p:cNvPr id="1661978" name="Rectangle 26"/>
          <p:cNvSpPr>
            <a:spLocks noChangeAspect="1" noChangeArrowheads="1"/>
          </p:cNvSpPr>
          <p:nvPr/>
        </p:nvSpPr>
        <p:spPr bwMode="auto">
          <a:xfrm flipH="1">
            <a:off x="1693863" y="4437063"/>
            <a:ext cx="587375" cy="4000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1800" dirty="0">
                <a:solidFill>
                  <a:srgbClr val="CC0099"/>
                </a:solidFill>
                <a:latin typeface="Book Antiqua" pitchFamily="18" charset="0"/>
                <a:ea typeface="楷体" panose="02010609060101010101" pitchFamily="49" charset="-122"/>
              </a:rPr>
              <a:t>S</a:t>
            </a:r>
            <a:r>
              <a:rPr kumimoji="1" lang="en-US" altLang="zh-CN" sz="1800" baseline="-25000" dirty="0">
                <a:solidFill>
                  <a:srgbClr val="CC0099"/>
                </a:solidFill>
                <a:latin typeface="Book Antiqua" pitchFamily="18" charset="0"/>
                <a:ea typeface="楷体" panose="02010609060101010101" pitchFamily="49" charset="-122"/>
              </a:rPr>
              <a:t>C</a:t>
            </a:r>
          </a:p>
        </p:txBody>
      </p:sp>
      <p:grpSp>
        <p:nvGrpSpPr>
          <p:cNvPr id="1661979" name="Group 27"/>
          <p:cNvGrpSpPr>
            <a:grpSpLocks/>
          </p:cNvGrpSpPr>
          <p:nvPr/>
        </p:nvGrpSpPr>
        <p:grpSpPr bwMode="auto">
          <a:xfrm>
            <a:off x="6288088" y="3962400"/>
            <a:ext cx="2028825" cy="1050925"/>
            <a:chOff x="3606" y="2178"/>
            <a:chExt cx="1278" cy="662"/>
          </a:xfrm>
        </p:grpSpPr>
        <p:sp>
          <p:nvSpPr>
            <p:cNvPr id="1661980" name="Rectangle 28"/>
            <p:cNvSpPr>
              <a:spLocks noChangeAspect="1" noChangeArrowheads="1"/>
            </p:cNvSpPr>
            <p:nvPr/>
          </p:nvSpPr>
          <p:spPr bwMode="auto">
            <a:xfrm>
              <a:off x="4249" y="2619"/>
              <a:ext cx="317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kumimoji="1" lang="zh-CN" altLang="zh-CN" sz="1800" dirty="0">
                  <a:latin typeface="Book Antiqua" pitchFamily="18" charset="0"/>
                  <a:ea typeface="楷体" panose="02010609060101010101" pitchFamily="49" charset="-122"/>
                </a:rPr>
                <a:t>0/1</a:t>
              </a:r>
            </a:p>
          </p:txBody>
        </p:sp>
        <p:sp>
          <p:nvSpPr>
            <p:cNvPr id="1661981" name="Rectangle 29"/>
            <p:cNvSpPr>
              <a:spLocks noChangeAspect="1" noChangeArrowheads="1"/>
            </p:cNvSpPr>
            <p:nvPr/>
          </p:nvSpPr>
          <p:spPr bwMode="auto">
            <a:xfrm>
              <a:off x="4249" y="2178"/>
              <a:ext cx="317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1982" name="Rectangle 30"/>
            <p:cNvSpPr>
              <a:spLocks noChangeAspect="1" noChangeArrowheads="1"/>
            </p:cNvSpPr>
            <p:nvPr/>
          </p:nvSpPr>
          <p:spPr bwMode="auto">
            <a:xfrm>
              <a:off x="4249" y="2399"/>
              <a:ext cx="317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1983" name="Rectangle 31"/>
            <p:cNvSpPr>
              <a:spLocks noChangeAspect="1" noChangeArrowheads="1"/>
            </p:cNvSpPr>
            <p:nvPr/>
          </p:nvSpPr>
          <p:spPr bwMode="auto">
            <a:xfrm>
              <a:off x="3931" y="2619"/>
              <a:ext cx="318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kumimoji="1" lang="zh-CN" altLang="zh-CN" sz="1800" dirty="0">
                  <a:latin typeface="Book Antiqua" pitchFamily="18" charset="0"/>
                  <a:ea typeface="楷体" panose="02010609060101010101" pitchFamily="49" charset="-122"/>
                </a:rPr>
                <a:t>p</a:t>
              </a:r>
            </a:p>
          </p:txBody>
        </p:sp>
        <p:sp>
          <p:nvSpPr>
            <p:cNvPr id="1661984" name="Rectangle 32"/>
            <p:cNvSpPr>
              <a:spLocks noChangeAspect="1" noChangeArrowheads="1"/>
            </p:cNvSpPr>
            <p:nvPr/>
          </p:nvSpPr>
          <p:spPr bwMode="auto">
            <a:xfrm>
              <a:off x="3931" y="2178"/>
              <a:ext cx="318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1985" name="Rectangle 33"/>
            <p:cNvSpPr>
              <a:spLocks noChangeAspect="1" noChangeArrowheads="1"/>
            </p:cNvSpPr>
            <p:nvPr/>
          </p:nvSpPr>
          <p:spPr bwMode="auto">
            <a:xfrm>
              <a:off x="3931" y="2399"/>
              <a:ext cx="318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1986" name="Rectangle 34"/>
            <p:cNvSpPr>
              <a:spLocks noChangeAspect="1" noChangeArrowheads="1"/>
            </p:cNvSpPr>
            <p:nvPr/>
          </p:nvSpPr>
          <p:spPr bwMode="auto">
            <a:xfrm>
              <a:off x="4566" y="2619"/>
              <a:ext cx="318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1987" name="Rectangle 35"/>
            <p:cNvSpPr>
              <a:spLocks noChangeAspect="1" noChangeArrowheads="1"/>
            </p:cNvSpPr>
            <p:nvPr/>
          </p:nvSpPr>
          <p:spPr bwMode="auto">
            <a:xfrm>
              <a:off x="4566" y="2178"/>
              <a:ext cx="318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1988" name="Rectangle 36"/>
            <p:cNvSpPr>
              <a:spLocks noChangeAspect="1" noChangeArrowheads="1"/>
            </p:cNvSpPr>
            <p:nvPr/>
          </p:nvSpPr>
          <p:spPr bwMode="auto">
            <a:xfrm>
              <a:off x="4566" y="2399"/>
              <a:ext cx="318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1989" name="Rectangle 37"/>
            <p:cNvSpPr>
              <a:spLocks noChangeAspect="1" noChangeArrowheads="1"/>
            </p:cNvSpPr>
            <p:nvPr/>
          </p:nvSpPr>
          <p:spPr bwMode="auto">
            <a:xfrm>
              <a:off x="3606" y="2619"/>
              <a:ext cx="325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kumimoji="1" lang="zh-CN" altLang="zh-CN" sz="1800" dirty="0">
                  <a:latin typeface="Book Antiqua" pitchFamily="18" charset="0"/>
                  <a:ea typeface="楷体" panose="02010609060101010101" pitchFamily="49" charset="-122"/>
                </a:rPr>
                <a:t>1</a:t>
              </a:r>
            </a:p>
          </p:txBody>
        </p:sp>
        <p:sp>
          <p:nvSpPr>
            <p:cNvPr id="1661990" name="Rectangle 38"/>
            <p:cNvSpPr>
              <a:spLocks noChangeAspect="1" noChangeArrowheads="1"/>
            </p:cNvSpPr>
            <p:nvPr/>
          </p:nvSpPr>
          <p:spPr bwMode="auto">
            <a:xfrm>
              <a:off x="3606" y="2178"/>
              <a:ext cx="325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1991" name="Rectangle 39"/>
            <p:cNvSpPr>
              <a:spLocks noChangeAspect="1" noChangeArrowheads="1"/>
            </p:cNvSpPr>
            <p:nvPr/>
          </p:nvSpPr>
          <p:spPr bwMode="auto">
            <a:xfrm>
              <a:off x="3606" y="2399"/>
              <a:ext cx="325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661992" name="AutoShape 40"/>
          <p:cNvSpPr>
            <a:spLocks noChangeAspect="1" noChangeArrowheads="1"/>
          </p:cNvSpPr>
          <p:nvPr/>
        </p:nvSpPr>
        <p:spPr bwMode="auto">
          <a:xfrm>
            <a:off x="1590675" y="2822575"/>
            <a:ext cx="196850" cy="203200"/>
          </a:xfrm>
          <a:prstGeom prst="flowChartOr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1993" name="Text Box 41"/>
          <p:cNvSpPr txBox="1">
            <a:spLocks noChangeAspect="1" noChangeArrowheads="1"/>
          </p:cNvSpPr>
          <p:nvPr/>
        </p:nvSpPr>
        <p:spPr bwMode="auto">
          <a:xfrm>
            <a:off x="325438" y="3141663"/>
            <a:ext cx="1150937" cy="64135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1800" dirty="0">
                <a:solidFill>
                  <a:srgbClr val="0000FF"/>
                </a:solidFill>
                <a:ea typeface="楷体" panose="02010609060101010101" pitchFamily="49" charset="-122"/>
              </a:rPr>
              <a:t>段表基址</a:t>
            </a:r>
          </a:p>
          <a:p>
            <a:pPr>
              <a:spcBef>
                <a:spcPct val="0"/>
              </a:spcBef>
            </a:pPr>
            <a:r>
              <a:rPr kumimoji="1" lang="zh-CN" altLang="en-US" sz="1800" dirty="0">
                <a:solidFill>
                  <a:srgbClr val="0000FF"/>
                </a:solidFill>
                <a:ea typeface="楷体" panose="02010609060101010101" pitchFamily="49" charset="-122"/>
              </a:rPr>
              <a:t>寄存器</a:t>
            </a:r>
          </a:p>
        </p:txBody>
      </p:sp>
      <p:sp>
        <p:nvSpPr>
          <p:cNvPr id="1661994" name="Text Box 42"/>
          <p:cNvSpPr txBox="1">
            <a:spLocks noChangeAspect="1" noChangeArrowheads="1"/>
          </p:cNvSpPr>
          <p:nvPr/>
        </p:nvSpPr>
        <p:spPr bwMode="auto">
          <a:xfrm>
            <a:off x="611188" y="981075"/>
            <a:ext cx="2087562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/>
            <a:r>
              <a:rPr kumimoji="1" lang="zh-CN" altLang="en-US" sz="1800" dirty="0">
                <a:solidFill>
                  <a:srgbClr val="0000FF"/>
                </a:solidFill>
                <a:ea typeface="楷体" panose="02010609060101010101" pitchFamily="49" charset="-122"/>
              </a:rPr>
              <a:t>多用户虚地址</a:t>
            </a:r>
            <a:r>
              <a:rPr kumimoji="1" lang="en-US" altLang="zh-CN" sz="1800" dirty="0">
                <a:solidFill>
                  <a:srgbClr val="0000FF"/>
                </a:solidFill>
                <a:ea typeface="楷体" panose="02010609060101010101" pitchFamily="49" charset="-122"/>
              </a:rPr>
              <a:t>A</a:t>
            </a:r>
            <a:r>
              <a:rPr kumimoji="1" lang="en-US" altLang="zh-CN" sz="1800" baseline="-25000" dirty="0">
                <a:solidFill>
                  <a:srgbClr val="0000FF"/>
                </a:solidFill>
                <a:ea typeface="楷体" panose="02010609060101010101" pitchFamily="49" charset="-122"/>
              </a:rPr>
              <a:t>V</a:t>
            </a:r>
          </a:p>
        </p:txBody>
      </p:sp>
      <p:sp>
        <p:nvSpPr>
          <p:cNvPr id="1661995" name="Text Box 43"/>
          <p:cNvSpPr txBox="1">
            <a:spLocks noChangeAspect="1" noChangeArrowheads="1"/>
          </p:cNvSpPr>
          <p:nvPr/>
        </p:nvSpPr>
        <p:spPr bwMode="auto">
          <a:xfrm>
            <a:off x="2700338" y="6092825"/>
            <a:ext cx="1512887" cy="366713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kumimoji="1" lang="zh-CN" altLang="en-US" sz="1800" dirty="0">
                <a:solidFill>
                  <a:srgbClr val="0000FF"/>
                </a:solidFill>
                <a:ea typeface="楷体" panose="02010609060101010101" pitchFamily="49" charset="-122"/>
              </a:rPr>
              <a:t>多用户段表</a:t>
            </a:r>
          </a:p>
        </p:txBody>
      </p:sp>
      <p:sp>
        <p:nvSpPr>
          <p:cNvPr id="1661996" name="Text Box 44"/>
          <p:cNvSpPr txBox="1">
            <a:spLocks noChangeAspect="1" noChangeArrowheads="1"/>
          </p:cNvSpPr>
          <p:nvPr/>
        </p:nvSpPr>
        <p:spPr bwMode="auto">
          <a:xfrm>
            <a:off x="8461375" y="3692525"/>
            <a:ext cx="431800" cy="1465263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kumimoji="1" lang="zh-CN" altLang="en-US" sz="1800" dirty="0">
                <a:solidFill>
                  <a:srgbClr val="0000FF"/>
                </a:solidFill>
                <a:ea typeface="楷体" panose="02010609060101010101" pitchFamily="49" charset="-122"/>
              </a:rPr>
              <a:t>多用户页表</a:t>
            </a:r>
          </a:p>
        </p:txBody>
      </p:sp>
      <p:sp>
        <p:nvSpPr>
          <p:cNvPr id="1661997" name="Text Box 45"/>
          <p:cNvSpPr txBox="1">
            <a:spLocks noChangeAspect="1" noChangeArrowheads="1"/>
          </p:cNvSpPr>
          <p:nvPr/>
        </p:nvSpPr>
        <p:spPr bwMode="auto">
          <a:xfrm>
            <a:off x="6156325" y="2198688"/>
            <a:ext cx="1558925" cy="366712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/>
            <a:r>
              <a:rPr kumimoji="1" lang="zh-CN" altLang="en-US" sz="1800" dirty="0">
                <a:solidFill>
                  <a:srgbClr val="0000FF"/>
                </a:solidFill>
                <a:ea typeface="楷体" panose="02010609060101010101" pitchFamily="49" charset="-122"/>
              </a:rPr>
              <a:t>主存实地址</a:t>
            </a:r>
            <a:r>
              <a:rPr kumimoji="1" lang="en-US" altLang="zh-CN" sz="1800" dirty="0">
                <a:solidFill>
                  <a:srgbClr val="0000FF"/>
                </a:solidFill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661998" name="Rectangle 46"/>
          <p:cNvSpPr>
            <a:spLocks noChangeAspect="1" noChangeArrowheads="1"/>
          </p:cNvSpPr>
          <p:nvPr/>
        </p:nvSpPr>
        <p:spPr bwMode="auto">
          <a:xfrm>
            <a:off x="3276600" y="5588000"/>
            <a:ext cx="504825" cy="5429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标志</a:t>
            </a:r>
          </a:p>
        </p:txBody>
      </p:sp>
      <p:sp>
        <p:nvSpPr>
          <p:cNvPr id="1661999" name="Rectangle 47"/>
          <p:cNvSpPr>
            <a:spLocks noChangeAspect="1" noChangeArrowheads="1"/>
          </p:cNvSpPr>
          <p:nvPr/>
        </p:nvSpPr>
        <p:spPr bwMode="auto">
          <a:xfrm>
            <a:off x="3781425" y="5588000"/>
            <a:ext cx="503238" cy="5429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页表</a:t>
            </a:r>
            <a:b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</a:b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长</a:t>
            </a:r>
          </a:p>
        </p:txBody>
      </p:sp>
      <p:grpSp>
        <p:nvGrpSpPr>
          <p:cNvPr id="1662000" name="Group 48"/>
          <p:cNvGrpSpPr>
            <a:grpSpLocks/>
          </p:cNvGrpSpPr>
          <p:nvPr/>
        </p:nvGrpSpPr>
        <p:grpSpPr bwMode="auto">
          <a:xfrm>
            <a:off x="2286000" y="4579938"/>
            <a:ext cx="487363" cy="1008062"/>
            <a:chOff x="486" y="2197"/>
            <a:chExt cx="494" cy="755"/>
          </a:xfrm>
        </p:grpSpPr>
        <p:sp>
          <p:nvSpPr>
            <p:cNvPr id="1662001" name="Rectangle 49"/>
            <p:cNvSpPr>
              <a:spLocks noChangeAspect="1" noChangeArrowheads="1"/>
            </p:cNvSpPr>
            <p:nvPr/>
          </p:nvSpPr>
          <p:spPr bwMode="auto">
            <a:xfrm>
              <a:off x="486" y="2701"/>
              <a:ext cx="494" cy="25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02" name="Rectangle 50"/>
            <p:cNvSpPr>
              <a:spLocks noChangeAspect="1" noChangeArrowheads="1"/>
            </p:cNvSpPr>
            <p:nvPr/>
          </p:nvSpPr>
          <p:spPr bwMode="auto">
            <a:xfrm>
              <a:off x="486" y="2449"/>
              <a:ext cx="494" cy="252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kumimoji="1" lang="zh-CN" altLang="zh-CN" sz="1800" dirty="0">
                  <a:latin typeface="Book Antiqua" pitchFamily="18" charset="0"/>
                  <a:ea typeface="楷体" panose="02010609060101010101" pitchFamily="49" charset="-122"/>
                </a:rPr>
                <a:t>1</a:t>
              </a:r>
            </a:p>
          </p:txBody>
        </p:sp>
        <p:sp>
          <p:nvSpPr>
            <p:cNvPr id="1662003" name="Rectangle 51"/>
            <p:cNvSpPr>
              <a:spLocks noChangeAspect="1" noChangeArrowheads="1"/>
            </p:cNvSpPr>
            <p:nvPr/>
          </p:nvSpPr>
          <p:spPr bwMode="auto">
            <a:xfrm>
              <a:off x="486" y="2197"/>
              <a:ext cx="494" cy="252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</p:grpSp>
      <p:grpSp>
        <p:nvGrpSpPr>
          <p:cNvPr id="1662004" name="Group 52"/>
          <p:cNvGrpSpPr>
            <a:grpSpLocks/>
          </p:cNvGrpSpPr>
          <p:nvPr/>
        </p:nvGrpSpPr>
        <p:grpSpPr bwMode="auto">
          <a:xfrm>
            <a:off x="2773363" y="4579938"/>
            <a:ext cx="503237" cy="1008062"/>
            <a:chOff x="980" y="2197"/>
            <a:chExt cx="494" cy="755"/>
          </a:xfrm>
        </p:grpSpPr>
        <p:sp>
          <p:nvSpPr>
            <p:cNvPr id="1662005" name="Rectangle 53"/>
            <p:cNvSpPr>
              <a:spLocks noChangeAspect="1" noChangeArrowheads="1"/>
            </p:cNvSpPr>
            <p:nvPr/>
          </p:nvSpPr>
          <p:spPr bwMode="auto">
            <a:xfrm>
              <a:off x="980" y="2701"/>
              <a:ext cx="494" cy="25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06" name="Rectangle 54"/>
            <p:cNvSpPr>
              <a:spLocks noChangeAspect="1" noChangeArrowheads="1"/>
            </p:cNvSpPr>
            <p:nvPr/>
          </p:nvSpPr>
          <p:spPr bwMode="auto">
            <a:xfrm>
              <a:off x="980" y="2449"/>
              <a:ext cx="494" cy="252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kumimoji="1" lang="zh-CN" altLang="zh-CN" sz="1800" dirty="0">
                  <a:latin typeface="Book Antiqua" pitchFamily="18" charset="0"/>
                  <a:ea typeface="楷体" panose="02010609060101010101" pitchFamily="49" charset="-122"/>
                </a:rPr>
                <a:t>0/1</a:t>
              </a:r>
            </a:p>
          </p:txBody>
        </p:sp>
        <p:sp>
          <p:nvSpPr>
            <p:cNvPr id="1662007" name="Rectangle 55"/>
            <p:cNvSpPr>
              <a:spLocks noChangeAspect="1" noChangeArrowheads="1"/>
            </p:cNvSpPr>
            <p:nvPr/>
          </p:nvSpPr>
          <p:spPr bwMode="auto">
            <a:xfrm>
              <a:off x="980" y="2197"/>
              <a:ext cx="494" cy="252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662008" name="Rectangle 56"/>
          <p:cNvSpPr>
            <a:spLocks noChangeAspect="1" noChangeArrowheads="1"/>
          </p:cNvSpPr>
          <p:nvPr/>
        </p:nvSpPr>
        <p:spPr bwMode="auto">
          <a:xfrm>
            <a:off x="4284663" y="5253038"/>
            <a:ext cx="504825" cy="33496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c</a:t>
            </a: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62009" name="Rectangle 57"/>
          <p:cNvSpPr>
            <a:spLocks noChangeAspect="1" noChangeArrowheads="1"/>
          </p:cNvSpPr>
          <p:nvPr/>
        </p:nvSpPr>
        <p:spPr bwMode="auto">
          <a:xfrm>
            <a:off x="4284663" y="4916488"/>
            <a:ext cx="504825" cy="3365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b</a:t>
            </a: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62010" name="Rectangle 58"/>
          <p:cNvSpPr>
            <a:spLocks noChangeAspect="1" noChangeArrowheads="1"/>
          </p:cNvSpPr>
          <p:nvPr/>
        </p:nvSpPr>
        <p:spPr bwMode="auto">
          <a:xfrm>
            <a:off x="4284663" y="4579938"/>
            <a:ext cx="504825" cy="3365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a</a:t>
            </a: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grpSp>
        <p:nvGrpSpPr>
          <p:cNvPr id="1662011" name="Group 59"/>
          <p:cNvGrpSpPr>
            <a:grpSpLocks/>
          </p:cNvGrpSpPr>
          <p:nvPr/>
        </p:nvGrpSpPr>
        <p:grpSpPr bwMode="auto">
          <a:xfrm>
            <a:off x="3276600" y="4579938"/>
            <a:ext cx="504825" cy="1008062"/>
            <a:chOff x="1474" y="2197"/>
            <a:chExt cx="362" cy="755"/>
          </a:xfrm>
        </p:grpSpPr>
        <p:sp>
          <p:nvSpPr>
            <p:cNvPr id="1662012" name="Rectangle 60"/>
            <p:cNvSpPr>
              <a:spLocks noChangeAspect="1" noChangeArrowheads="1"/>
            </p:cNvSpPr>
            <p:nvPr/>
          </p:nvSpPr>
          <p:spPr bwMode="auto">
            <a:xfrm>
              <a:off x="1474" y="2701"/>
              <a:ext cx="362" cy="25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13" name="Rectangle 61"/>
            <p:cNvSpPr>
              <a:spLocks noChangeAspect="1" noChangeArrowheads="1"/>
            </p:cNvSpPr>
            <p:nvPr/>
          </p:nvSpPr>
          <p:spPr bwMode="auto">
            <a:xfrm>
              <a:off x="1474" y="2449"/>
              <a:ext cx="362" cy="252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14" name="Rectangle 62"/>
            <p:cNvSpPr>
              <a:spLocks noChangeAspect="1" noChangeArrowheads="1"/>
            </p:cNvSpPr>
            <p:nvPr/>
          </p:nvSpPr>
          <p:spPr bwMode="auto">
            <a:xfrm>
              <a:off x="1474" y="2197"/>
              <a:ext cx="362" cy="252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662015" name="Rectangle 63"/>
          <p:cNvSpPr>
            <a:spLocks noChangeAspect="1" noChangeArrowheads="1"/>
          </p:cNvSpPr>
          <p:nvPr/>
        </p:nvSpPr>
        <p:spPr bwMode="auto">
          <a:xfrm>
            <a:off x="3781425" y="5253038"/>
            <a:ext cx="503238" cy="33496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62016" name="Rectangle 64"/>
          <p:cNvSpPr>
            <a:spLocks noChangeAspect="1" noChangeArrowheads="1"/>
          </p:cNvSpPr>
          <p:nvPr/>
        </p:nvSpPr>
        <p:spPr bwMode="auto">
          <a:xfrm>
            <a:off x="3781425" y="4916488"/>
            <a:ext cx="503238" cy="3365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1800" dirty="0">
                <a:latin typeface="Book Antiqua" pitchFamily="18" charset="0"/>
                <a:ea typeface="楷体" panose="02010609060101010101" pitchFamily="49" charset="-122"/>
              </a:rPr>
              <a:t>3</a:t>
            </a: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62017" name="Rectangle 65"/>
          <p:cNvSpPr>
            <a:spLocks noChangeAspect="1" noChangeArrowheads="1"/>
          </p:cNvSpPr>
          <p:nvPr/>
        </p:nvSpPr>
        <p:spPr bwMode="auto">
          <a:xfrm>
            <a:off x="3781425" y="4579938"/>
            <a:ext cx="503238" cy="3365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1800" dirty="0">
              <a:latin typeface="Book Antiqua" pitchFamily="18" charset="0"/>
              <a:ea typeface="楷体" panose="02010609060101010101" pitchFamily="49" charset="-122"/>
            </a:endParaRPr>
          </a:p>
        </p:txBody>
      </p:sp>
      <p:sp>
        <p:nvSpPr>
          <p:cNvPr id="1662018" name="Text Box 66"/>
          <p:cNvSpPr txBox="1">
            <a:spLocks noChangeArrowheads="1"/>
          </p:cNvSpPr>
          <p:nvPr/>
        </p:nvSpPr>
        <p:spPr bwMode="auto">
          <a:xfrm>
            <a:off x="2627312" y="595313"/>
            <a:ext cx="1008583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“</a:t>
            </a:r>
            <a:r>
              <a:rPr lang="en-US" altLang="zh-CN" sz="2400">
                <a:solidFill>
                  <a:srgbClr val="FF0066"/>
                </a:solidFill>
              </a:rPr>
              <a:t>C</a:t>
            </a:r>
            <a:r>
              <a:rPr lang="zh-CN" altLang="en-US" sz="2400">
                <a:solidFill>
                  <a:srgbClr val="FF0066"/>
                </a:solidFill>
              </a:rPr>
              <a:t>”</a:t>
            </a:r>
            <a:endParaRPr lang="en-US" altLang="zh-CN" sz="2400">
              <a:solidFill>
                <a:srgbClr val="FF0066"/>
              </a:solidFill>
            </a:endParaRPr>
          </a:p>
        </p:txBody>
      </p:sp>
      <p:sp>
        <p:nvSpPr>
          <p:cNvPr id="1662019" name="Text Box 67"/>
          <p:cNvSpPr txBox="1">
            <a:spLocks noChangeArrowheads="1"/>
          </p:cNvSpPr>
          <p:nvPr/>
        </p:nvSpPr>
        <p:spPr bwMode="auto">
          <a:xfrm>
            <a:off x="4067944" y="595313"/>
            <a:ext cx="935856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“</a:t>
            </a:r>
            <a:r>
              <a:rPr lang="en-US" altLang="zh-CN" sz="2400">
                <a:solidFill>
                  <a:srgbClr val="FF0066"/>
                </a:solidFill>
              </a:rPr>
              <a:t>1</a:t>
            </a:r>
            <a:r>
              <a:rPr lang="zh-CN" altLang="en-US" sz="2400">
                <a:solidFill>
                  <a:srgbClr val="FF0066"/>
                </a:solidFill>
              </a:rPr>
              <a:t>”</a:t>
            </a:r>
            <a:endParaRPr lang="en-US" altLang="zh-CN" sz="2400">
              <a:solidFill>
                <a:srgbClr val="FF0066"/>
              </a:solidFill>
            </a:endParaRPr>
          </a:p>
        </p:txBody>
      </p:sp>
      <p:sp>
        <p:nvSpPr>
          <p:cNvPr id="1662020" name="Text Box 68"/>
          <p:cNvSpPr txBox="1">
            <a:spLocks noChangeArrowheads="1"/>
          </p:cNvSpPr>
          <p:nvPr/>
        </p:nvSpPr>
        <p:spPr bwMode="auto">
          <a:xfrm>
            <a:off x="5436096" y="595313"/>
            <a:ext cx="935583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“</a:t>
            </a:r>
            <a:r>
              <a:rPr lang="en-US" altLang="zh-CN" sz="2400">
                <a:solidFill>
                  <a:srgbClr val="FF0066"/>
                </a:solidFill>
              </a:rPr>
              <a:t>2</a:t>
            </a:r>
            <a:r>
              <a:rPr lang="zh-CN" altLang="en-US" sz="2400">
                <a:solidFill>
                  <a:srgbClr val="FF0066"/>
                </a:solidFill>
              </a:rPr>
              <a:t>”</a:t>
            </a:r>
            <a:endParaRPr lang="en-US" altLang="zh-CN" sz="2400">
              <a:solidFill>
                <a:srgbClr val="FF0066"/>
              </a:solidFill>
            </a:endParaRPr>
          </a:p>
        </p:txBody>
      </p:sp>
      <p:grpSp>
        <p:nvGrpSpPr>
          <p:cNvPr id="1662021" name="Group 69"/>
          <p:cNvGrpSpPr>
            <a:grpSpLocks/>
          </p:cNvGrpSpPr>
          <p:nvPr/>
        </p:nvGrpSpPr>
        <p:grpSpPr bwMode="auto">
          <a:xfrm>
            <a:off x="6288088" y="5443538"/>
            <a:ext cx="2028825" cy="700087"/>
            <a:chOff x="3598" y="2976"/>
            <a:chExt cx="1278" cy="441"/>
          </a:xfrm>
        </p:grpSpPr>
        <p:sp>
          <p:nvSpPr>
            <p:cNvPr id="1662022" name="Rectangle 70"/>
            <p:cNvSpPr>
              <a:spLocks noChangeAspect="1" noChangeArrowheads="1"/>
            </p:cNvSpPr>
            <p:nvPr/>
          </p:nvSpPr>
          <p:spPr bwMode="auto">
            <a:xfrm>
              <a:off x="4241" y="2976"/>
              <a:ext cx="317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23" name="Rectangle 71"/>
            <p:cNvSpPr>
              <a:spLocks noChangeAspect="1" noChangeArrowheads="1"/>
            </p:cNvSpPr>
            <p:nvPr/>
          </p:nvSpPr>
          <p:spPr bwMode="auto">
            <a:xfrm>
              <a:off x="4241" y="3197"/>
              <a:ext cx="317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24" name="Rectangle 72"/>
            <p:cNvSpPr>
              <a:spLocks noChangeAspect="1" noChangeArrowheads="1"/>
            </p:cNvSpPr>
            <p:nvPr/>
          </p:nvSpPr>
          <p:spPr bwMode="auto">
            <a:xfrm>
              <a:off x="3923" y="2976"/>
              <a:ext cx="318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25" name="Rectangle 73"/>
            <p:cNvSpPr>
              <a:spLocks noChangeAspect="1" noChangeArrowheads="1"/>
            </p:cNvSpPr>
            <p:nvPr/>
          </p:nvSpPr>
          <p:spPr bwMode="auto">
            <a:xfrm>
              <a:off x="3923" y="3197"/>
              <a:ext cx="318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26" name="Rectangle 74"/>
            <p:cNvSpPr>
              <a:spLocks noChangeAspect="1" noChangeArrowheads="1"/>
            </p:cNvSpPr>
            <p:nvPr/>
          </p:nvSpPr>
          <p:spPr bwMode="auto">
            <a:xfrm>
              <a:off x="4558" y="2976"/>
              <a:ext cx="318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27" name="Rectangle 75"/>
            <p:cNvSpPr>
              <a:spLocks noChangeAspect="1" noChangeArrowheads="1"/>
            </p:cNvSpPr>
            <p:nvPr/>
          </p:nvSpPr>
          <p:spPr bwMode="auto">
            <a:xfrm>
              <a:off x="4558" y="3197"/>
              <a:ext cx="318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28" name="Rectangle 76"/>
            <p:cNvSpPr>
              <a:spLocks noChangeAspect="1" noChangeArrowheads="1"/>
            </p:cNvSpPr>
            <p:nvPr/>
          </p:nvSpPr>
          <p:spPr bwMode="auto">
            <a:xfrm>
              <a:off x="3598" y="2976"/>
              <a:ext cx="325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29" name="Rectangle 77"/>
            <p:cNvSpPr>
              <a:spLocks noChangeAspect="1" noChangeArrowheads="1"/>
            </p:cNvSpPr>
            <p:nvPr/>
          </p:nvSpPr>
          <p:spPr bwMode="auto">
            <a:xfrm>
              <a:off x="3598" y="3197"/>
              <a:ext cx="325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</p:grpSp>
      <p:grpSp>
        <p:nvGrpSpPr>
          <p:cNvPr id="1662030" name="Group 78"/>
          <p:cNvGrpSpPr>
            <a:grpSpLocks/>
          </p:cNvGrpSpPr>
          <p:nvPr/>
        </p:nvGrpSpPr>
        <p:grpSpPr bwMode="auto">
          <a:xfrm>
            <a:off x="6288088" y="2852738"/>
            <a:ext cx="2028825" cy="700087"/>
            <a:chOff x="3598" y="2976"/>
            <a:chExt cx="1278" cy="441"/>
          </a:xfrm>
        </p:grpSpPr>
        <p:sp>
          <p:nvSpPr>
            <p:cNvPr id="1662031" name="Rectangle 79"/>
            <p:cNvSpPr>
              <a:spLocks noChangeAspect="1" noChangeArrowheads="1"/>
            </p:cNvSpPr>
            <p:nvPr/>
          </p:nvSpPr>
          <p:spPr bwMode="auto">
            <a:xfrm>
              <a:off x="4241" y="2976"/>
              <a:ext cx="317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32" name="Rectangle 80"/>
            <p:cNvSpPr>
              <a:spLocks noChangeAspect="1" noChangeArrowheads="1"/>
            </p:cNvSpPr>
            <p:nvPr/>
          </p:nvSpPr>
          <p:spPr bwMode="auto">
            <a:xfrm>
              <a:off x="4241" y="3197"/>
              <a:ext cx="317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33" name="Rectangle 81"/>
            <p:cNvSpPr>
              <a:spLocks noChangeAspect="1" noChangeArrowheads="1"/>
            </p:cNvSpPr>
            <p:nvPr/>
          </p:nvSpPr>
          <p:spPr bwMode="auto">
            <a:xfrm>
              <a:off x="3923" y="2976"/>
              <a:ext cx="318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34" name="Rectangle 82"/>
            <p:cNvSpPr>
              <a:spLocks noChangeAspect="1" noChangeArrowheads="1"/>
            </p:cNvSpPr>
            <p:nvPr/>
          </p:nvSpPr>
          <p:spPr bwMode="auto">
            <a:xfrm>
              <a:off x="3923" y="3197"/>
              <a:ext cx="318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35" name="Rectangle 83"/>
            <p:cNvSpPr>
              <a:spLocks noChangeAspect="1" noChangeArrowheads="1"/>
            </p:cNvSpPr>
            <p:nvPr/>
          </p:nvSpPr>
          <p:spPr bwMode="auto">
            <a:xfrm>
              <a:off x="4558" y="2976"/>
              <a:ext cx="318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36" name="Rectangle 84"/>
            <p:cNvSpPr>
              <a:spLocks noChangeAspect="1" noChangeArrowheads="1"/>
            </p:cNvSpPr>
            <p:nvPr/>
          </p:nvSpPr>
          <p:spPr bwMode="auto">
            <a:xfrm>
              <a:off x="4558" y="3197"/>
              <a:ext cx="318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37" name="Rectangle 85"/>
            <p:cNvSpPr>
              <a:spLocks noChangeAspect="1" noChangeArrowheads="1"/>
            </p:cNvSpPr>
            <p:nvPr/>
          </p:nvSpPr>
          <p:spPr bwMode="auto">
            <a:xfrm>
              <a:off x="3598" y="2976"/>
              <a:ext cx="325" cy="22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62038" name="Rectangle 86"/>
            <p:cNvSpPr>
              <a:spLocks noChangeAspect="1" noChangeArrowheads="1"/>
            </p:cNvSpPr>
            <p:nvPr/>
          </p:nvSpPr>
          <p:spPr bwMode="auto">
            <a:xfrm>
              <a:off x="3598" y="3197"/>
              <a:ext cx="325" cy="22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72000" tIns="36000" rIns="36000" bIns="0" anchor="ctr"/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endParaRPr kumimoji="1" lang="zh-CN" altLang="zh-CN" sz="1800" dirty="0">
                <a:latin typeface="Book Antiqua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662039" name="Rectangle 87"/>
          <p:cNvSpPr>
            <a:spLocks noChangeAspect="1" noChangeArrowheads="1"/>
          </p:cNvSpPr>
          <p:nvPr/>
        </p:nvSpPr>
        <p:spPr bwMode="auto">
          <a:xfrm flipH="1">
            <a:off x="5940425" y="3892550"/>
            <a:ext cx="352425" cy="4000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2000" dirty="0">
                <a:solidFill>
                  <a:srgbClr val="CC0099"/>
                </a:solidFill>
                <a:latin typeface="Book Antiqua" pitchFamily="18" charset="0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1662040" name="Rectangle 88"/>
          <p:cNvSpPr>
            <a:spLocks noChangeAspect="1" noChangeArrowheads="1"/>
          </p:cNvSpPr>
          <p:nvPr/>
        </p:nvSpPr>
        <p:spPr bwMode="auto">
          <a:xfrm flipH="1">
            <a:off x="5940425" y="5300663"/>
            <a:ext cx="352425" cy="4000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2000" dirty="0">
                <a:solidFill>
                  <a:srgbClr val="CC0099"/>
                </a:solidFill>
                <a:latin typeface="Book Antiqua" pitchFamily="18" charset="0"/>
                <a:ea typeface="楷体" panose="02010609060101010101" pitchFamily="49" charset="-122"/>
              </a:rPr>
              <a:t>c</a:t>
            </a:r>
          </a:p>
        </p:txBody>
      </p:sp>
      <p:grpSp>
        <p:nvGrpSpPr>
          <p:cNvPr id="1662041" name="Group 89"/>
          <p:cNvGrpSpPr>
            <a:grpSpLocks/>
          </p:cNvGrpSpPr>
          <p:nvPr/>
        </p:nvGrpSpPr>
        <p:grpSpPr bwMode="auto">
          <a:xfrm>
            <a:off x="2268538" y="2420938"/>
            <a:ext cx="2503487" cy="1008062"/>
            <a:chOff x="1303" y="2584"/>
            <a:chExt cx="1577" cy="755"/>
          </a:xfrm>
        </p:grpSpPr>
        <p:grpSp>
          <p:nvGrpSpPr>
            <p:cNvPr id="1662042" name="Group 90"/>
            <p:cNvGrpSpPr>
              <a:grpSpLocks/>
            </p:cNvGrpSpPr>
            <p:nvPr/>
          </p:nvGrpSpPr>
          <p:grpSpPr bwMode="auto">
            <a:xfrm>
              <a:off x="1303" y="2584"/>
              <a:ext cx="307" cy="755"/>
              <a:chOff x="486" y="2197"/>
              <a:chExt cx="494" cy="755"/>
            </a:xfrm>
          </p:grpSpPr>
          <p:sp>
            <p:nvSpPr>
              <p:cNvPr id="1662043" name="Rectangle 91"/>
              <p:cNvSpPr>
                <a:spLocks noChangeAspect="1" noChangeArrowheads="1"/>
              </p:cNvSpPr>
              <p:nvPr/>
            </p:nvSpPr>
            <p:spPr bwMode="auto">
              <a:xfrm>
                <a:off x="486" y="2701"/>
                <a:ext cx="494" cy="251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662044" name="Rectangle 92"/>
              <p:cNvSpPr>
                <a:spLocks noChangeAspect="1" noChangeArrowheads="1"/>
              </p:cNvSpPr>
              <p:nvPr/>
            </p:nvSpPr>
            <p:spPr bwMode="auto">
              <a:xfrm>
                <a:off x="486" y="2449"/>
                <a:ext cx="494" cy="252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662045" name="Rectangle 93"/>
              <p:cNvSpPr>
                <a:spLocks noChangeAspect="1" noChangeArrowheads="1"/>
              </p:cNvSpPr>
              <p:nvPr/>
            </p:nvSpPr>
            <p:spPr bwMode="auto">
              <a:xfrm>
                <a:off x="486" y="2197"/>
                <a:ext cx="494" cy="252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662046" name="Group 94"/>
            <p:cNvGrpSpPr>
              <a:grpSpLocks/>
            </p:cNvGrpSpPr>
            <p:nvPr/>
          </p:nvGrpSpPr>
          <p:grpSpPr bwMode="auto">
            <a:xfrm>
              <a:off x="1610" y="2584"/>
              <a:ext cx="317" cy="755"/>
              <a:chOff x="980" y="2197"/>
              <a:chExt cx="494" cy="755"/>
            </a:xfrm>
          </p:grpSpPr>
          <p:sp>
            <p:nvSpPr>
              <p:cNvPr id="1662047" name="Rectangle 95"/>
              <p:cNvSpPr>
                <a:spLocks noChangeAspect="1" noChangeArrowheads="1"/>
              </p:cNvSpPr>
              <p:nvPr/>
            </p:nvSpPr>
            <p:spPr bwMode="auto">
              <a:xfrm>
                <a:off x="980" y="2701"/>
                <a:ext cx="494" cy="251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662048" name="Rectangle 96"/>
              <p:cNvSpPr>
                <a:spLocks noChangeAspect="1" noChangeArrowheads="1"/>
              </p:cNvSpPr>
              <p:nvPr/>
            </p:nvSpPr>
            <p:spPr bwMode="auto">
              <a:xfrm>
                <a:off x="980" y="2449"/>
                <a:ext cx="494" cy="252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662049" name="Rectangle 97"/>
              <p:cNvSpPr>
                <a:spLocks noChangeAspect="1" noChangeArrowheads="1"/>
              </p:cNvSpPr>
              <p:nvPr/>
            </p:nvSpPr>
            <p:spPr bwMode="auto">
              <a:xfrm>
                <a:off x="980" y="2197"/>
                <a:ext cx="494" cy="252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662050" name="Group 98"/>
            <p:cNvGrpSpPr>
              <a:grpSpLocks/>
            </p:cNvGrpSpPr>
            <p:nvPr/>
          </p:nvGrpSpPr>
          <p:grpSpPr bwMode="auto">
            <a:xfrm>
              <a:off x="2562" y="2584"/>
              <a:ext cx="318" cy="755"/>
              <a:chOff x="2290" y="2197"/>
              <a:chExt cx="493" cy="755"/>
            </a:xfrm>
          </p:grpSpPr>
          <p:sp>
            <p:nvSpPr>
              <p:cNvPr id="1662051" name="Rectangle 99"/>
              <p:cNvSpPr>
                <a:spLocks noChangeAspect="1" noChangeArrowheads="1"/>
              </p:cNvSpPr>
              <p:nvPr/>
            </p:nvSpPr>
            <p:spPr bwMode="auto">
              <a:xfrm>
                <a:off x="2290" y="2701"/>
                <a:ext cx="493" cy="251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662052" name="Rectangle 100"/>
              <p:cNvSpPr>
                <a:spLocks noChangeAspect="1" noChangeArrowheads="1"/>
              </p:cNvSpPr>
              <p:nvPr/>
            </p:nvSpPr>
            <p:spPr bwMode="auto">
              <a:xfrm>
                <a:off x="2290" y="2449"/>
                <a:ext cx="493" cy="252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662053" name="Rectangle 101"/>
              <p:cNvSpPr>
                <a:spLocks noChangeAspect="1" noChangeArrowheads="1"/>
              </p:cNvSpPr>
              <p:nvPr/>
            </p:nvSpPr>
            <p:spPr bwMode="auto">
              <a:xfrm>
                <a:off x="2290" y="2197"/>
                <a:ext cx="493" cy="252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662054" name="Group 102"/>
            <p:cNvGrpSpPr>
              <a:grpSpLocks/>
            </p:cNvGrpSpPr>
            <p:nvPr/>
          </p:nvGrpSpPr>
          <p:grpSpPr bwMode="auto">
            <a:xfrm>
              <a:off x="1927" y="2584"/>
              <a:ext cx="318" cy="755"/>
              <a:chOff x="1474" y="2197"/>
              <a:chExt cx="362" cy="755"/>
            </a:xfrm>
          </p:grpSpPr>
          <p:sp>
            <p:nvSpPr>
              <p:cNvPr id="1662055" name="Rectangle 103"/>
              <p:cNvSpPr>
                <a:spLocks noChangeAspect="1" noChangeArrowheads="1"/>
              </p:cNvSpPr>
              <p:nvPr/>
            </p:nvSpPr>
            <p:spPr bwMode="auto">
              <a:xfrm>
                <a:off x="1474" y="2701"/>
                <a:ext cx="362" cy="251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662056" name="Rectangle 104"/>
              <p:cNvSpPr>
                <a:spLocks noChangeAspect="1" noChangeArrowheads="1"/>
              </p:cNvSpPr>
              <p:nvPr/>
            </p:nvSpPr>
            <p:spPr bwMode="auto">
              <a:xfrm>
                <a:off x="1474" y="2449"/>
                <a:ext cx="362" cy="252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662057" name="Rectangle 105"/>
              <p:cNvSpPr>
                <a:spLocks noChangeAspect="1" noChangeArrowheads="1"/>
              </p:cNvSpPr>
              <p:nvPr/>
            </p:nvSpPr>
            <p:spPr bwMode="auto">
              <a:xfrm>
                <a:off x="1474" y="2197"/>
                <a:ext cx="362" cy="252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662058" name="Group 106"/>
            <p:cNvGrpSpPr>
              <a:grpSpLocks/>
            </p:cNvGrpSpPr>
            <p:nvPr/>
          </p:nvGrpSpPr>
          <p:grpSpPr bwMode="auto">
            <a:xfrm>
              <a:off x="2245" y="2584"/>
              <a:ext cx="317" cy="755"/>
              <a:chOff x="1836" y="2197"/>
              <a:chExt cx="454" cy="755"/>
            </a:xfrm>
          </p:grpSpPr>
          <p:sp>
            <p:nvSpPr>
              <p:cNvPr id="1662059" name="Rectangle 107"/>
              <p:cNvSpPr>
                <a:spLocks noChangeAspect="1" noChangeArrowheads="1"/>
              </p:cNvSpPr>
              <p:nvPr/>
            </p:nvSpPr>
            <p:spPr bwMode="auto">
              <a:xfrm>
                <a:off x="1836" y="2701"/>
                <a:ext cx="454" cy="251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662060" name="Rectangle 108"/>
              <p:cNvSpPr>
                <a:spLocks noChangeAspect="1" noChangeArrowheads="1"/>
              </p:cNvSpPr>
              <p:nvPr/>
            </p:nvSpPr>
            <p:spPr bwMode="auto">
              <a:xfrm>
                <a:off x="1836" y="2449"/>
                <a:ext cx="454" cy="252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662061" name="Rectangle 109"/>
              <p:cNvSpPr>
                <a:spLocks noChangeAspect="1" noChangeArrowheads="1"/>
              </p:cNvSpPr>
              <p:nvPr/>
            </p:nvSpPr>
            <p:spPr bwMode="auto">
              <a:xfrm>
                <a:off x="1836" y="2197"/>
                <a:ext cx="454" cy="252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lIns="72000" tIns="36000" rIns="36000" bIns="0" anchor="ctr"/>
              <a:lstStyle/>
              <a:p>
                <a:pPr>
                  <a:lnSpc>
                    <a:spcPct val="80000"/>
                  </a:lnSpc>
                  <a:spcBef>
                    <a:spcPct val="0"/>
                  </a:spcBef>
                </a:pPr>
                <a:endParaRPr kumimoji="1" lang="zh-CN" altLang="zh-CN" sz="1800" dirty="0">
                  <a:latin typeface="Book Antiqua" pitchFamily="18" charset="0"/>
                  <a:ea typeface="楷体" panose="02010609060101010101" pitchFamily="49" charset="-122"/>
                </a:endParaRPr>
              </a:p>
            </p:txBody>
          </p:sp>
        </p:grpSp>
      </p:grpSp>
      <p:sp>
        <p:nvSpPr>
          <p:cNvPr id="1662062" name="Text Box 110"/>
          <p:cNvSpPr txBox="1">
            <a:spLocks noChangeAspect="1" noChangeArrowheads="1"/>
          </p:cNvSpPr>
          <p:nvPr/>
        </p:nvSpPr>
        <p:spPr bwMode="auto">
          <a:xfrm>
            <a:off x="2268538" y="2060575"/>
            <a:ext cx="1558925" cy="366713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/>
            <a:r>
              <a:rPr kumimoji="1" lang="zh-CN" altLang="en-US" sz="1800" dirty="0">
                <a:solidFill>
                  <a:srgbClr val="006600"/>
                </a:solidFill>
                <a:ea typeface="楷体" panose="02010609060101010101" pitchFamily="49" charset="-122"/>
              </a:rPr>
              <a:t>程序</a:t>
            </a:r>
            <a:r>
              <a:rPr kumimoji="1" lang="en-US" altLang="zh-CN" sz="1800" dirty="0">
                <a:solidFill>
                  <a:srgbClr val="006600"/>
                </a:solidFill>
                <a:ea typeface="楷体" panose="02010609060101010101" pitchFamily="49" charset="-122"/>
              </a:rPr>
              <a:t>A</a:t>
            </a:r>
            <a:r>
              <a:rPr kumimoji="1" lang="zh-CN" altLang="en-US" sz="1800" dirty="0">
                <a:solidFill>
                  <a:srgbClr val="006600"/>
                </a:solidFill>
                <a:ea typeface="楷体" panose="02010609060101010101" pitchFamily="49" charset="-122"/>
              </a:rPr>
              <a:t>段表</a:t>
            </a:r>
          </a:p>
        </p:txBody>
      </p:sp>
      <p:sp>
        <p:nvSpPr>
          <p:cNvPr id="1662063" name="Text Box 111"/>
          <p:cNvSpPr txBox="1">
            <a:spLocks noChangeAspect="1" noChangeArrowheads="1"/>
          </p:cNvSpPr>
          <p:nvPr/>
        </p:nvSpPr>
        <p:spPr bwMode="auto">
          <a:xfrm>
            <a:off x="2268538" y="4221163"/>
            <a:ext cx="1558925" cy="366712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/>
            <a:r>
              <a:rPr kumimoji="1" lang="zh-CN" altLang="en-US" sz="1800" dirty="0">
                <a:solidFill>
                  <a:srgbClr val="006600"/>
                </a:solidFill>
                <a:ea typeface="楷体" panose="02010609060101010101" pitchFamily="49" charset="-122"/>
              </a:rPr>
              <a:t>程序</a:t>
            </a:r>
            <a:r>
              <a:rPr kumimoji="1" lang="en-US" altLang="zh-CN" sz="1800" dirty="0">
                <a:solidFill>
                  <a:srgbClr val="006600"/>
                </a:solidFill>
                <a:ea typeface="楷体" panose="02010609060101010101" pitchFamily="49" charset="-122"/>
              </a:rPr>
              <a:t>C</a:t>
            </a:r>
            <a:r>
              <a:rPr kumimoji="1" lang="zh-CN" altLang="en-US" sz="1800" dirty="0">
                <a:solidFill>
                  <a:srgbClr val="006600"/>
                </a:solidFill>
                <a:ea typeface="楷体" panose="02010609060101010101" pitchFamily="49" charset="-122"/>
              </a:rPr>
              <a:t>段表</a:t>
            </a:r>
          </a:p>
        </p:txBody>
      </p:sp>
      <p:sp>
        <p:nvSpPr>
          <p:cNvPr id="1662064" name="Text Box 112"/>
          <p:cNvSpPr txBox="1">
            <a:spLocks noChangeArrowheads="1"/>
          </p:cNvSpPr>
          <p:nvPr/>
        </p:nvSpPr>
        <p:spPr bwMode="auto">
          <a:xfrm>
            <a:off x="3349625" y="3498850"/>
            <a:ext cx="549275" cy="865188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vert="eaVert">
            <a:spAutoFit/>
          </a:bodyPr>
          <a:lstStyle/>
          <a:p>
            <a:r>
              <a:rPr lang="en-US" altLang="zh-CN" sz="2400">
                <a:solidFill>
                  <a:srgbClr val="006600"/>
                </a:solidFill>
              </a:rPr>
              <a:t>……</a:t>
            </a:r>
          </a:p>
        </p:txBody>
      </p:sp>
      <p:sp>
        <p:nvSpPr>
          <p:cNvPr id="1662065" name="Line 113"/>
          <p:cNvSpPr>
            <a:spLocks noChangeShapeType="1"/>
          </p:cNvSpPr>
          <p:nvPr/>
        </p:nvSpPr>
        <p:spPr bwMode="auto">
          <a:xfrm>
            <a:off x="3132138" y="141287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66" name="Line 114"/>
          <p:cNvSpPr>
            <a:spLocks noChangeShapeType="1"/>
          </p:cNvSpPr>
          <p:nvPr/>
        </p:nvSpPr>
        <p:spPr bwMode="auto">
          <a:xfrm flipH="1">
            <a:off x="179388" y="1628775"/>
            <a:ext cx="2952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67" name="Line 115"/>
          <p:cNvSpPr>
            <a:spLocks noChangeShapeType="1"/>
          </p:cNvSpPr>
          <p:nvPr/>
        </p:nvSpPr>
        <p:spPr bwMode="auto">
          <a:xfrm>
            <a:off x="179388" y="1628775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68" name="Line 116"/>
          <p:cNvSpPr>
            <a:spLocks noChangeShapeType="1"/>
          </p:cNvSpPr>
          <p:nvPr/>
        </p:nvSpPr>
        <p:spPr bwMode="auto">
          <a:xfrm>
            <a:off x="179388" y="2924175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69" name="Line 117"/>
          <p:cNvSpPr>
            <a:spLocks noChangeShapeType="1"/>
          </p:cNvSpPr>
          <p:nvPr/>
        </p:nvSpPr>
        <p:spPr bwMode="auto">
          <a:xfrm>
            <a:off x="1331913" y="2924175"/>
            <a:ext cx="241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70" name="Rectangle 118"/>
          <p:cNvSpPr>
            <a:spLocks noChangeAspect="1" noChangeArrowheads="1"/>
          </p:cNvSpPr>
          <p:nvPr/>
        </p:nvSpPr>
        <p:spPr bwMode="auto">
          <a:xfrm flipH="1">
            <a:off x="1692275" y="2347913"/>
            <a:ext cx="587375" cy="4000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1800" dirty="0">
                <a:solidFill>
                  <a:srgbClr val="CC0099"/>
                </a:solidFill>
                <a:latin typeface="Book Antiqua" pitchFamily="18" charset="0"/>
                <a:ea typeface="楷体" panose="02010609060101010101" pitchFamily="49" charset="-122"/>
              </a:rPr>
              <a:t>S</a:t>
            </a:r>
            <a:r>
              <a:rPr kumimoji="1" lang="en-US" altLang="zh-CN" sz="1800" baseline="-25000" dirty="0">
                <a:solidFill>
                  <a:srgbClr val="CC0099"/>
                </a:solidFill>
                <a:latin typeface="Book Antiqua" pitchFamily="18" charset="0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662071" name="Line 119"/>
          <p:cNvSpPr>
            <a:spLocks noChangeShapeType="1"/>
          </p:cNvSpPr>
          <p:nvPr/>
        </p:nvSpPr>
        <p:spPr bwMode="auto">
          <a:xfrm>
            <a:off x="4572000" y="1412875"/>
            <a:ext cx="0" cy="503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72" name="Line 120"/>
          <p:cNvSpPr>
            <a:spLocks noChangeShapeType="1"/>
          </p:cNvSpPr>
          <p:nvPr/>
        </p:nvSpPr>
        <p:spPr bwMode="auto">
          <a:xfrm flipH="1">
            <a:off x="1692275" y="1916113"/>
            <a:ext cx="2879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73" name="Line 121"/>
          <p:cNvSpPr>
            <a:spLocks noChangeShapeType="1"/>
          </p:cNvSpPr>
          <p:nvPr/>
        </p:nvSpPr>
        <p:spPr bwMode="auto">
          <a:xfrm>
            <a:off x="1692275" y="1916113"/>
            <a:ext cx="0" cy="898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74" name="Line 122"/>
          <p:cNvSpPr>
            <a:spLocks noChangeShapeType="1"/>
          </p:cNvSpPr>
          <p:nvPr/>
        </p:nvSpPr>
        <p:spPr bwMode="auto">
          <a:xfrm>
            <a:off x="1692275" y="3054350"/>
            <a:ext cx="0" cy="2030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75" name="Line 123"/>
          <p:cNvSpPr>
            <a:spLocks noChangeShapeType="1"/>
          </p:cNvSpPr>
          <p:nvPr/>
        </p:nvSpPr>
        <p:spPr bwMode="auto">
          <a:xfrm>
            <a:off x="1692275" y="5084763"/>
            <a:ext cx="5762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76" name="Text Box 124"/>
          <p:cNvSpPr txBox="1">
            <a:spLocks noChangeAspect="1" noChangeArrowheads="1"/>
          </p:cNvSpPr>
          <p:nvPr/>
        </p:nvSpPr>
        <p:spPr bwMode="auto">
          <a:xfrm>
            <a:off x="7669213" y="2492375"/>
            <a:ext cx="792162" cy="366713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kumimoji="1" lang="en-US" altLang="zh-CN" sz="1800" dirty="0">
                <a:solidFill>
                  <a:srgbClr val="006600"/>
                </a:solidFill>
                <a:ea typeface="楷体" panose="02010609060101010101" pitchFamily="49" charset="-122"/>
              </a:rPr>
              <a:t>C</a:t>
            </a:r>
            <a:r>
              <a:rPr kumimoji="1" lang="en-US" altLang="zh-CN" sz="1800" baseline="-25000" dirty="0">
                <a:solidFill>
                  <a:srgbClr val="006600"/>
                </a:solidFill>
                <a:ea typeface="楷体" panose="02010609060101010101" pitchFamily="49" charset="-122"/>
              </a:rPr>
              <a:t>0</a:t>
            </a:r>
            <a:r>
              <a:rPr kumimoji="1" lang="zh-CN" altLang="en-US" sz="1800" dirty="0">
                <a:solidFill>
                  <a:srgbClr val="006600"/>
                </a:solidFill>
                <a:ea typeface="楷体" panose="02010609060101010101" pitchFamily="49" charset="-122"/>
              </a:rPr>
              <a:t>段</a:t>
            </a:r>
          </a:p>
        </p:txBody>
      </p:sp>
      <p:sp>
        <p:nvSpPr>
          <p:cNvPr id="1662077" name="Text Box 125"/>
          <p:cNvSpPr txBox="1">
            <a:spLocks noChangeAspect="1" noChangeArrowheads="1"/>
          </p:cNvSpPr>
          <p:nvPr/>
        </p:nvSpPr>
        <p:spPr bwMode="auto">
          <a:xfrm>
            <a:off x="7669213" y="3571875"/>
            <a:ext cx="792162" cy="366713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kumimoji="1" lang="en-US" altLang="zh-CN" sz="1800" dirty="0">
                <a:solidFill>
                  <a:srgbClr val="006600"/>
                </a:solidFill>
                <a:ea typeface="楷体" panose="02010609060101010101" pitchFamily="49" charset="-122"/>
              </a:rPr>
              <a:t>C</a:t>
            </a:r>
            <a:r>
              <a:rPr kumimoji="1" lang="en-US" altLang="zh-CN" sz="1800" baseline="-25000" dirty="0">
                <a:solidFill>
                  <a:srgbClr val="006600"/>
                </a:solidFill>
                <a:ea typeface="楷体" panose="02010609060101010101" pitchFamily="49" charset="-122"/>
              </a:rPr>
              <a:t>1</a:t>
            </a:r>
            <a:r>
              <a:rPr kumimoji="1" lang="zh-CN" altLang="en-US" sz="1800" dirty="0">
                <a:solidFill>
                  <a:srgbClr val="006600"/>
                </a:solidFill>
                <a:ea typeface="楷体" panose="02010609060101010101" pitchFamily="49" charset="-122"/>
              </a:rPr>
              <a:t>段</a:t>
            </a:r>
          </a:p>
        </p:txBody>
      </p:sp>
      <p:sp>
        <p:nvSpPr>
          <p:cNvPr id="1662078" name="Text Box 126"/>
          <p:cNvSpPr txBox="1">
            <a:spLocks noChangeAspect="1" noChangeArrowheads="1"/>
          </p:cNvSpPr>
          <p:nvPr/>
        </p:nvSpPr>
        <p:spPr bwMode="auto">
          <a:xfrm>
            <a:off x="7669213" y="5078413"/>
            <a:ext cx="792162" cy="366712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kumimoji="1" lang="en-US" altLang="zh-CN" sz="1800" dirty="0">
                <a:solidFill>
                  <a:srgbClr val="006600"/>
                </a:solidFill>
                <a:ea typeface="楷体" panose="02010609060101010101" pitchFamily="49" charset="-122"/>
              </a:rPr>
              <a:t>C</a:t>
            </a:r>
            <a:r>
              <a:rPr kumimoji="1" lang="en-US" altLang="zh-CN" sz="1800" baseline="-25000" dirty="0">
                <a:solidFill>
                  <a:srgbClr val="006600"/>
                </a:solidFill>
                <a:ea typeface="楷体" panose="02010609060101010101" pitchFamily="49" charset="-122"/>
              </a:rPr>
              <a:t>2</a:t>
            </a:r>
            <a:r>
              <a:rPr kumimoji="1" lang="zh-CN" altLang="en-US" sz="1800" dirty="0">
                <a:solidFill>
                  <a:srgbClr val="006600"/>
                </a:solidFill>
                <a:ea typeface="楷体" panose="02010609060101010101" pitchFamily="49" charset="-122"/>
              </a:rPr>
              <a:t>段</a:t>
            </a:r>
          </a:p>
        </p:txBody>
      </p:sp>
      <p:sp>
        <p:nvSpPr>
          <p:cNvPr id="1662079" name="Line 127"/>
          <p:cNvSpPr>
            <a:spLocks noChangeShapeType="1"/>
          </p:cNvSpPr>
          <p:nvPr/>
        </p:nvSpPr>
        <p:spPr bwMode="auto">
          <a:xfrm>
            <a:off x="4787900" y="5084763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80" name="Line 128"/>
          <p:cNvSpPr>
            <a:spLocks noChangeShapeType="1"/>
          </p:cNvSpPr>
          <p:nvPr/>
        </p:nvSpPr>
        <p:spPr bwMode="auto">
          <a:xfrm>
            <a:off x="5940425" y="141287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81" name="Line 129"/>
          <p:cNvSpPr>
            <a:spLocks noChangeShapeType="1"/>
          </p:cNvSpPr>
          <p:nvPr/>
        </p:nvSpPr>
        <p:spPr bwMode="auto">
          <a:xfrm flipH="1">
            <a:off x="5219700" y="1628775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82" name="Line 130"/>
          <p:cNvSpPr>
            <a:spLocks noChangeShapeType="1"/>
          </p:cNvSpPr>
          <p:nvPr/>
        </p:nvSpPr>
        <p:spPr bwMode="auto">
          <a:xfrm>
            <a:off x="5219700" y="1628775"/>
            <a:ext cx="0" cy="3332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83" name="Line 131"/>
          <p:cNvSpPr>
            <a:spLocks noChangeShapeType="1"/>
          </p:cNvSpPr>
          <p:nvPr/>
        </p:nvSpPr>
        <p:spPr bwMode="auto">
          <a:xfrm>
            <a:off x="5354638" y="5084763"/>
            <a:ext cx="2968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84" name="Line 132"/>
          <p:cNvSpPr>
            <a:spLocks noChangeShapeType="1"/>
          </p:cNvSpPr>
          <p:nvPr/>
        </p:nvSpPr>
        <p:spPr bwMode="auto">
          <a:xfrm flipV="1">
            <a:off x="5651500" y="4868863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85" name="Line 133"/>
          <p:cNvSpPr>
            <a:spLocks noChangeShapeType="1"/>
          </p:cNvSpPr>
          <p:nvPr/>
        </p:nvSpPr>
        <p:spPr bwMode="auto">
          <a:xfrm>
            <a:off x="5651500" y="4868863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86" name="Line 134"/>
          <p:cNvSpPr>
            <a:spLocks noChangeShapeType="1"/>
          </p:cNvSpPr>
          <p:nvPr/>
        </p:nvSpPr>
        <p:spPr bwMode="auto">
          <a:xfrm flipV="1">
            <a:off x="7019925" y="3789363"/>
            <a:ext cx="0" cy="935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87" name="Line 135"/>
          <p:cNvSpPr>
            <a:spLocks noChangeShapeType="1"/>
          </p:cNvSpPr>
          <p:nvPr/>
        </p:nvSpPr>
        <p:spPr bwMode="auto">
          <a:xfrm flipH="1">
            <a:off x="5940425" y="3789363"/>
            <a:ext cx="1079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88" name="Line 136"/>
          <p:cNvSpPr>
            <a:spLocks noChangeShapeType="1"/>
          </p:cNvSpPr>
          <p:nvPr/>
        </p:nvSpPr>
        <p:spPr bwMode="auto">
          <a:xfrm flipV="1">
            <a:off x="5940425" y="2276475"/>
            <a:ext cx="0" cy="15128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62089" name="Line 137"/>
          <p:cNvSpPr>
            <a:spLocks noChangeShapeType="1"/>
          </p:cNvSpPr>
          <p:nvPr/>
        </p:nvSpPr>
        <p:spPr bwMode="auto">
          <a:xfrm>
            <a:off x="7596188" y="1412875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6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6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62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62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62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62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62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62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62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62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62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62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62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62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62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62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62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62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62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62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62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62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62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62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62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62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62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6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62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62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62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62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62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62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62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62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62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62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662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662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62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662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662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662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62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62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662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62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62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662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62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62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662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662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662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662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662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662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662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662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66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66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500"/>
                            </p:stCondLst>
                            <p:childTnLst>
                              <p:par>
                                <p:cTn id="13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662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662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662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662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662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662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662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662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66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66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662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662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662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662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662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662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662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662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662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662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5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662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662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662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662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1966" grpId="0" animBg="1"/>
      <p:bldP spid="1661967" grpId="0" animBg="1"/>
      <p:bldP spid="1661969" grpId="0" animBg="1"/>
      <p:bldP spid="1661992" grpId="0" animBg="1"/>
      <p:bldP spid="1661997" grpId="0"/>
      <p:bldP spid="1662018" grpId="0"/>
      <p:bldP spid="1662019" grpId="0"/>
      <p:bldP spid="1662020" grpId="0"/>
      <p:bldP spid="1662065" grpId="0" animBg="1"/>
      <p:bldP spid="1662066" grpId="0" animBg="1"/>
      <p:bldP spid="1662067" grpId="0" animBg="1"/>
      <p:bldP spid="1662068" grpId="0" animBg="1"/>
      <p:bldP spid="1662069" grpId="0" animBg="1"/>
      <p:bldP spid="1662071" grpId="0" animBg="1"/>
      <p:bldP spid="1662072" grpId="0" animBg="1"/>
      <p:bldP spid="1662073" grpId="0" animBg="1"/>
      <p:bldP spid="1662074" grpId="0" animBg="1"/>
      <p:bldP spid="1662075" grpId="0" animBg="1"/>
      <p:bldP spid="1662079" grpId="0" animBg="1"/>
      <p:bldP spid="1662080" grpId="0" animBg="1"/>
      <p:bldP spid="1662081" grpId="0" animBg="1"/>
      <p:bldP spid="1662082" grpId="0" animBg="1"/>
      <p:bldP spid="1662083" grpId="0" animBg="1"/>
      <p:bldP spid="1662084" grpId="0" animBg="1"/>
      <p:bldP spid="1662085" grpId="0" animBg="1"/>
      <p:bldP spid="1662086" grpId="0" animBg="1"/>
      <p:bldP spid="1662087" grpId="0" animBg="1"/>
      <p:bldP spid="1662088" grpId="0" animBg="1"/>
      <p:bldP spid="166208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4AE70E-0CBE-43A6-A2D0-D6ED504A06FA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166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321" y="981075"/>
            <a:ext cx="9036496" cy="5688013"/>
          </a:xfrm>
        </p:spPr>
        <p:txBody>
          <a:bodyPr/>
          <a:lstStyle/>
          <a:p>
            <a:pPr marL="442912" indent="-455613">
              <a:buSzTx/>
              <a:buFont typeface="Wingdings" pitchFamily="2" charset="2"/>
              <a:buAutoNum type="circleNumDbPlain"/>
            </a:pPr>
            <a:r>
              <a:rPr lang="zh-CN" altLang="en-US" dirty="0"/>
              <a:t>当</a:t>
            </a:r>
            <a:r>
              <a:rPr lang="zh-CN" altLang="en-US" dirty="0">
                <a:solidFill>
                  <a:srgbClr val="FF0000"/>
                </a:solidFill>
              </a:rPr>
              <a:t>页表</a:t>
            </a:r>
            <a:r>
              <a:rPr lang="zh-CN" altLang="en-US" dirty="0"/>
              <a:t>容量超过一个页面大小时，它们可能被映象到主存的不连续页面。这样，按照地址查找主存实页号的方法（把页表</a:t>
            </a:r>
            <a:r>
              <a:rPr lang="zh-CN" altLang="en-US" dirty="0">
                <a:solidFill>
                  <a:srgbClr val="0000FF"/>
                </a:solidFill>
              </a:rPr>
              <a:t>起始地址</a:t>
            </a:r>
            <a:r>
              <a:rPr lang="zh-CN" altLang="en-US" dirty="0"/>
              <a:t>与多用户虚地址中</a:t>
            </a:r>
            <a:r>
              <a:rPr lang="zh-CN" altLang="en-US" dirty="0">
                <a:solidFill>
                  <a:srgbClr val="0000FF"/>
                </a:solidFill>
              </a:rPr>
              <a:t>虚页号</a:t>
            </a:r>
            <a:r>
              <a:rPr lang="zh-CN" altLang="en-US" dirty="0"/>
              <a:t>相加）就不成立。</a:t>
            </a:r>
            <a:br>
              <a:rPr lang="zh-CN" altLang="en-US" dirty="0"/>
            </a:br>
            <a:r>
              <a:rPr lang="zh-CN" altLang="en-US" dirty="0"/>
              <a:t>解决办法：采用</a:t>
            </a:r>
            <a:r>
              <a:rPr lang="zh-CN" altLang="en-US" dirty="0">
                <a:solidFill>
                  <a:srgbClr val="FF3300"/>
                </a:solidFill>
                <a:ea typeface="黑体" pitchFamily="49" charset="-122"/>
              </a:rPr>
              <a:t>多级页表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6600"/>
                </a:solidFill>
                <a:latin typeface="+mn-ea"/>
              </a:rPr>
              <a:t>→</a:t>
            </a:r>
            <a:r>
              <a:rPr lang="zh-CN" altLang="en-US" dirty="0">
                <a:solidFill>
                  <a:srgbClr val="006600"/>
                </a:solidFill>
              </a:rPr>
              <a:t> 访存次数又要增加</a:t>
            </a:r>
          </a:p>
          <a:p>
            <a:pPr marL="442912" indent="-455613">
              <a:spcBef>
                <a:spcPts val="1200"/>
              </a:spcBef>
              <a:buSzTx/>
              <a:buFont typeface="Wingdings" pitchFamily="2" charset="2"/>
              <a:buAutoNum type="circleNumDbPlain"/>
            </a:pPr>
            <a:r>
              <a:rPr lang="zh-CN" altLang="en-US" dirty="0"/>
              <a:t>虚拟存储器</a:t>
            </a:r>
            <a:r>
              <a:rPr lang="zh-CN" altLang="en-US" dirty="0">
                <a:solidFill>
                  <a:srgbClr val="0000FF"/>
                </a:solidFill>
              </a:rPr>
              <a:t>地址变换</a:t>
            </a:r>
            <a:r>
              <a:rPr lang="zh-CN" altLang="en-US" dirty="0"/>
              <a:t>带来的</a:t>
            </a:r>
            <a:r>
              <a:rPr lang="zh-CN" altLang="en-US" dirty="0">
                <a:solidFill>
                  <a:srgbClr val="0000FF"/>
                </a:solidFill>
              </a:rPr>
              <a:t>速度</a:t>
            </a:r>
            <a:r>
              <a:rPr lang="zh-CN" altLang="en-US" dirty="0"/>
              <a:t>问题：访问主存储器的速度要降低几倍 </a:t>
            </a:r>
            <a:r>
              <a:rPr lang="en-US" altLang="zh-CN" dirty="0"/>
              <a:t>—— </a:t>
            </a:r>
            <a:r>
              <a:rPr lang="zh-CN" altLang="en-US" dirty="0"/>
              <a:t>不符合存储体系的要求。</a:t>
            </a:r>
          </a:p>
          <a:p>
            <a:pPr marL="809625" lvl="1" indent="-354013">
              <a:buFont typeface="Wingdings" pitchFamily="2" charset="2"/>
              <a:buChar char="u"/>
            </a:pPr>
            <a:r>
              <a:rPr lang="zh-CN" altLang="en-US" dirty="0">
                <a:ea typeface="楷体" panose="02010609060101010101" pitchFamily="49" charset="-122"/>
              </a:rPr>
              <a:t>如果</a:t>
            </a:r>
            <a:r>
              <a:rPr lang="zh-CN" altLang="en-US" dirty="0">
                <a:solidFill>
                  <a:srgbClr val="CC0099"/>
                </a:solidFill>
                <a:ea typeface="楷体" panose="02010609060101010101" pitchFamily="49" charset="-122"/>
              </a:rPr>
              <a:t>段表</a:t>
            </a:r>
            <a:r>
              <a:rPr lang="zh-CN" altLang="en-US" dirty="0">
                <a:ea typeface="楷体" panose="02010609060101010101" pitchFamily="49" charset="-122"/>
              </a:rPr>
              <a:t>、</a:t>
            </a:r>
            <a:r>
              <a:rPr lang="zh-CN" altLang="en-US" dirty="0">
                <a:solidFill>
                  <a:srgbClr val="CC0099"/>
                </a:solidFill>
                <a:ea typeface="楷体" panose="02010609060101010101" pitchFamily="49" charset="-122"/>
              </a:rPr>
              <a:t>页表</a:t>
            </a:r>
            <a:r>
              <a:rPr lang="zh-CN" altLang="en-US" dirty="0">
                <a:ea typeface="楷体" panose="02010609060101010101" pitchFamily="49" charset="-122"/>
              </a:rPr>
              <a:t>都在</a:t>
            </a:r>
            <a:r>
              <a:rPr lang="zh-CN" altLang="en-US" dirty="0">
                <a:solidFill>
                  <a:srgbClr val="009900"/>
                </a:solidFill>
                <a:ea typeface="楷体" panose="02010609060101010101" pitchFamily="49" charset="-122"/>
              </a:rPr>
              <a:t>主存</a:t>
            </a:r>
            <a:r>
              <a:rPr lang="zh-CN" altLang="en-US" dirty="0">
                <a:ea typeface="楷体" panose="02010609060101010101" pitchFamily="49" charset="-122"/>
              </a:rPr>
              <a:t>中，则包括访问主存本身这一次在内，主存的访问速度要降低</a:t>
            </a:r>
            <a:r>
              <a:rPr lang="en-US" altLang="zh-CN" dirty="0">
                <a:ea typeface="楷体" panose="02010609060101010101" pitchFamily="49" charset="-122"/>
              </a:rPr>
              <a:t>2</a:t>
            </a:r>
            <a:r>
              <a:rPr lang="zh-CN" altLang="en-US" dirty="0">
                <a:ea typeface="楷体" panose="02010609060101010101" pitchFamily="49" charset="-122"/>
              </a:rPr>
              <a:t>～</a:t>
            </a:r>
            <a:r>
              <a:rPr lang="en-US" altLang="zh-CN" dirty="0">
                <a:ea typeface="楷体" panose="02010609060101010101" pitchFamily="49" charset="-122"/>
              </a:rPr>
              <a:t>3</a:t>
            </a:r>
            <a:r>
              <a:rPr lang="zh-CN" altLang="en-US" dirty="0">
                <a:ea typeface="楷体" panose="02010609060101010101" pitchFamily="49" charset="-122"/>
              </a:rPr>
              <a:t>倍。</a:t>
            </a:r>
          </a:p>
          <a:p>
            <a:pPr marL="809625" lvl="1" indent="-354013">
              <a:buFont typeface="Wingdings" pitchFamily="2" charset="2"/>
              <a:buChar char="u"/>
            </a:pPr>
            <a:r>
              <a:rPr lang="zh-CN" altLang="en-US" dirty="0">
                <a:ea typeface="楷体" panose="02010609060101010101" pitchFamily="49" charset="-122"/>
              </a:rPr>
              <a:t>如果段表、页表不在主存中，访问</a:t>
            </a:r>
            <a:r>
              <a:rPr lang="zh-CN" altLang="en-US" dirty="0">
                <a:solidFill>
                  <a:srgbClr val="009900"/>
                </a:solidFill>
                <a:ea typeface="楷体" panose="02010609060101010101" pitchFamily="49" charset="-122"/>
              </a:rPr>
              <a:t>辅存</a:t>
            </a:r>
            <a:r>
              <a:rPr lang="zh-CN" altLang="en-US" dirty="0">
                <a:ea typeface="楷体" panose="02010609060101010101" pitchFamily="49" charset="-122"/>
              </a:rPr>
              <a:t>，速度更低。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F71C821-B7F4-4B84-9A00-298618D00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五、解决虚拟存储器的问题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D435D6-5844-47E6-B8A4-BF98007BB940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1664003" name="Rectangle 3"/>
          <p:cNvSpPr>
            <a:spLocks noChangeArrowheads="1"/>
          </p:cNvSpPr>
          <p:nvPr/>
        </p:nvSpPr>
        <p:spPr bwMode="auto">
          <a:xfrm>
            <a:off x="682947" y="1826001"/>
            <a:ext cx="719137" cy="288925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64004" name="Group 4"/>
          <p:cNvGrpSpPr>
            <a:grpSpLocks/>
          </p:cNvGrpSpPr>
          <p:nvPr/>
        </p:nvGrpSpPr>
        <p:grpSpPr bwMode="auto">
          <a:xfrm>
            <a:off x="1908497" y="1899026"/>
            <a:ext cx="935037" cy="2447925"/>
            <a:chOff x="1429" y="1480"/>
            <a:chExt cx="589" cy="1542"/>
          </a:xfrm>
        </p:grpSpPr>
        <p:grpSp>
          <p:nvGrpSpPr>
            <p:cNvPr id="1664005" name="Group 5"/>
            <p:cNvGrpSpPr>
              <a:grpSpLocks/>
            </p:cNvGrpSpPr>
            <p:nvPr/>
          </p:nvGrpSpPr>
          <p:grpSpPr bwMode="auto">
            <a:xfrm>
              <a:off x="1429" y="1480"/>
              <a:ext cx="453" cy="362"/>
              <a:chOff x="1429" y="1480"/>
              <a:chExt cx="453" cy="362"/>
            </a:xfrm>
          </p:grpSpPr>
          <p:sp>
            <p:nvSpPr>
              <p:cNvPr id="1664006" name="Rectangle 6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07" name="Rectangle 7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08" name="Rectangle 8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09" name="Rectangle 9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10" name="Group 10"/>
            <p:cNvGrpSpPr>
              <a:grpSpLocks/>
            </p:cNvGrpSpPr>
            <p:nvPr/>
          </p:nvGrpSpPr>
          <p:grpSpPr bwMode="auto">
            <a:xfrm>
              <a:off x="1429" y="1842"/>
              <a:ext cx="453" cy="362"/>
              <a:chOff x="1429" y="1480"/>
              <a:chExt cx="453" cy="362"/>
            </a:xfrm>
          </p:grpSpPr>
          <p:sp>
            <p:nvSpPr>
              <p:cNvPr id="1664011" name="Rectangle 11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12" name="Rectangle 12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13" name="Rectangle 13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14" name="Rectangle 14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15" name="Group 15"/>
            <p:cNvGrpSpPr>
              <a:grpSpLocks/>
            </p:cNvGrpSpPr>
            <p:nvPr/>
          </p:nvGrpSpPr>
          <p:grpSpPr bwMode="auto">
            <a:xfrm>
              <a:off x="1429" y="2659"/>
              <a:ext cx="453" cy="362"/>
              <a:chOff x="1429" y="1480"/>
              <a:chExt cx="453" cy="362"/>
            </a:xfrm>
          </p:grpSpPr>
          <p:sp>
            <p:nvSpPr>
              <p:cNvPr id="1664016" name="Rectangle 16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17" name="Rectangle 17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18" name="Rectangle 18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19" name="Rectangle 19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20" name="Group 20"/>
            <p:cNvGrpSpPr>
              <a:grpSpLocks/>
            </p:cNvGrpSpPr>
            <p:nvPr/>
          </p:nvGrpSpPr>
          <p:grpSpPr bwMode="auto">
            <a:xfrm>
              <a:off x="1429" y="2205"/>
              <a:ext cx="453" cy="454"/>
              <a:chOff x="1429" y="2205"/>
              <a:chExt cx="453" cy="454"/>
            </a:xfrm>
          </p:grpSpPr>
          <p:sp>
            <p:nvSpPr>
              <p:cNvPr id="1664021" name="Rectangle 21"/>
              <p:cNvSpPr>
                <a:spLocks noChangeArrowheads="1"/>
              </p:cNvSpPr>
              <p:nvPr/>
            </p:nvSpPr>
            <p:spPr bwMode="auto">
              <a:xfrm>
                <a:off x="1429" y="2205"/>
                <a:ext cx="453" cy="454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22" name="Text Box 22"/>
              <p:cNvSpPr txBox="1">
                <a:spLocks noChangeArrowheads="1"/>
              </p:cNvSpPr>
              <p:nvPr/>
            </p:nvSpPr>
            <p:spPr bwMode="auto">
              <a:xfrm>
                <a:off x="1495" y="2205"/>
                <a:ext cx="308" cy="454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r>
                  <a:rPr lang="en-US" altLang="zh-CN" sz="2000" b="0">
                    <a:latin typeface="宋体"/>
                  </a:rPr>
                  <a:t>……</a:t>
                </a:r>
                <a:endParaRPr lang="en-US" altLang="zh-CN" sz="2000" b="0">
                  <a:latin typeface="Arial" pitchFamily="34" charset="0"/>
                </a:endParaRPr>
              </a:p>
            </p:txBody>
          </p:sp>
        </p:grpSp>
        <p:sp>
          <p:nvSpPr>
            <p:cNvPr id="1664023" name="AutoShape 23"/>
            <p:cNvSpPr>
              <a:spLocks/>
            </p:cNvSpPr>
            <p:nvPr/>
          </p:nvSpPr>
          <p:spPr bwMode="auto">
            <a:xfrm>
              <a:off x="1927" y="1480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024" name="AutoShape 24"/>
            <p:cNvSpPr>
              <a:spLocks/>
            </p:cNvSpPr>
            <p:nvPr/>
          </p:nvSpPr>
          <p:spPr bwMode="auto">
            <a:xfrm>
              <a:off x="1927" y="1888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025" name="AutoShape 25"/>
            <p:cNvSpPr>
              <a:spLocks/>
            </p:cNvSpPr>
            <p:nvPr/>
          </p:nvSpPr>
          <p:spPr bwMode="auto">
            <a:xfrm>
              <a:off x="1927" y="2659"/>
              <a:ext cx="91" cy="363"/>
            </a:xfrm>
            <a:prstGeom prst="rightBrace">
              <a:avLst>
                <a:gd name="adj1" fmla="val 3324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64026" name="Line 26"/>
          <p:cNvSpPr>
            <a:spLocks noChangeShapeType="1"/>
          </p:cNvSpPr>
          <p:nvPr/>
        </p:nvSpPr>
        <p:spPr bwMode="auto">
          <a:xfrm>
            <a:off x="1259209" y="1970463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64027" name="Group 27"/>
          <p:cNvGrpSpPr>
            <a:grpSpLocks/>
          </p:cNvGrpSpPr>
          <p:nvPr/>
        </p:nvGrpSpPr>
        <p:grpSpPr bwMode="auto">
          <a:xfrm>
            <a:off x="3851597" y="962401"/>
            <a:ext cx="935037" cy="2447925"/>
            <a:chOff x="1429" y="1480"/>
            <a:chExt cx="589" cy="1542"/>
          </a:xfrm>
        </p:grpSpPr>
        <p:grpSp>
          <p:nvGrpSpPr>
            <p:cNvPr id="1664028" name="Group 28"/>
            <p:cNvGrpSpPr>
              <a:grpSpLocks/>
            </p:cNvGrpSpPr>
            <p:nvPr/>
          </p:nvGrpSpPr>
          <p:grpSpPr bwMode="auto">
            <a:xfrm>
              <a:off x="1429" y="1480"/>
              <a:ext cx="453" cy="362"/>
              <a:chOff x="1429" y="1480"/>
              <a:chExt cx="453" cy="362"/>
            </a:xfrm>
          </p:grpSpPr>
          <p:sp>
            <p:nvSpPr>
              <p:cNvPr id="1664029" name="Rectangle 29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30" name="Rectangle 30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31" name="Rectangle 31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32" name="Rectangle 32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33" name="Group 33"/>
            <p:cNvGrpSpPr>
              <a:grpSpLocks/>
            </p:cNvGrpSpPr>
            <p:nvPr/>
          </p:nvGrpSpPr>
          <p:grpSpPr bwMode="auto">
            <a:xfrm>
              <a:off x="1429" y="1842"/>
              <a:ext cx="453" cy="362"/>
              <a:chOff x="1429" y="1480"/>
              <a:chExt cx="453" cy="362"/>
            </a:xfrm>
          </p:grpSpPr>
          <p:sp>
            <p:nvSpPr>
              <p:cNvPr id="1664034" name="Rectangle 34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35" name="Rectangle 35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36" name="Rectangle 36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37" name="Rectangle 37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38" name="Group 38"/>
            <p:cNvGrpSpPr>
              <a:grpSpLocks/>
            </p:cNvGrpSpPr>
            <p:nvPr/>
          </p:nvGrpSpPr>
          <p:grpSpPr bwMode="auto">
            <a:xfrm>
              <a:off x="1429" y="2659"/>
              <a:ext cx="453" cy="362"/>
              <a:chOff x="1429" y="1480"/>
              <a:chExt cx="453" cy="362"/>
            </a:xfrm>
          </p:grpSpPr>
          <p:sp>
            <p:nvSpPr>
              <p:cNvPr id="1664039" name="Rectangle 39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40" name="Rectangle 40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41" name="Rectangle 41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42" name="Rectangle 42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43" name="Group 43"/>
            <p:cNvGrpSpPr>
              <a:grpSpLocks/>
            </p:cNvGrpSpPr>
            <p:nvPr/>
          </p:nvGrpSpPr>
          <p:grpSpPr bwMode="auto">
            <a:xfrm>
              <a:off x="1429" y="2205"/>
              <a:ext cx="453" cy="454"/>
              <a:chOff x="1429" y="2205"/>
              <a:chExt cx="453" cy="454"/>
            </a:xfrm>
          </p:grpSpPr>
          <p:sp>
            <p:nvSpPr>
              <p:cNvPr id="1664044" name="Rectangle 44"/>
              <p:cNvSpPr>
                <a:spLocks noChangeArrowheads="1"/>
              </p:cNvSpPr>
              <p:nvPr/>
            </p:nvSpPr>
            <p:spPr bwMode="auto">
              <a:xfrm>
                <a:off x="1429" y="2205"/>
                <a:ext cx="453" cy="454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45" name="Text Box 45"/>
              <p:cNvSpPr txBox="1">
                <a:spLocks noChangeArrowheads="1"/>
              </p:cNvSpPr>
              <p:nvPr/>
            </p:nvSpPr>
            <p:spPr bwMode="auto">
              <a:xfrm>
                <a:off x="1495" y="2205"/>
                <a:ext cx="308" cy="454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r>
                  <a:rPr lang="en-US" altLang="zh-CN" sz="2000" b="0">
                    <a:latin typeface="宋体"/>
                  </a:rPr>
                  <a:t>……</a:t>
                </a:r>
                <a:endParaRPr lang="en-US" altLang="zh-CN" sz="2000" b="0">
                  <a:latin typeface="Arial" pitchFamily="34" charset="0"/>
                </a:endParaRPr>
              </a:p>
            </p:txBody>
          </p:sp>
        </p:grpSp>
        <p:sp>
          <p:nvSpPr>
            <p:cNvPr id="1664046" name="AutoShape 46"/>
            <p:cNvSpPr>
              <a:spLocks/>
            </p:cNvSpPr>
            <p:nvPr/>
          </p:nvSpPr>
          <p:spPr bwMode="auto">
            <a:xfrm>
              <a:off x="1927" y="1480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047" name="AutoShape 47"/>
            <p:cNvSpPr>
              <a:spLocks/>
            </p:cNvSpPr>
            <p:nvPr/>
          </p:nvSpPr>
          <p:spPr bwMode="auto">
            <a:xfrm>
              <a:off x="1927" y="1888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048" name="AutoShape 48"/>
            <p:cNvSpPr>
              <a:spLocks/>
            </p:cNvSpPr>
            <p:nvPr/>
          </p:nvSpPr>
          <p:spPr bwMode="auto">
            <a:xfrm>
              <a:off x="1927" y="2659"/>
              <a:ext cx="91" cy="363"/>
            </a:xfrm>
            <a:prstGeom prst="rightBrace">
              <a:avLst>
                <a:gd name="adj1" fmla="val 3324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64049" name="Group 49"/>
          <p:cNvGrpSpPr>
            <a:grpSpLocks/>
          </p:cNvGrpSpPr>
          <p:nvPr/>
        </p:nvGrpSpPr>
        <p:grpSpPr bwMode="auto">
          <a:xfrm>
            <a:off x="3853184" y="3699251"/>
            <a:ext cx="935038" cy="2447925"/>
            <a:chOff x="1429" y="1480"/>
            <a:chExt cx="589" cy="1542"/>
          </a:xfrm>
        </p:grpSpPr>
        <p:grpSp>
          <p:nvGrpSpPr>
            <p:cNvPr id="1664050" name="Group 50"/>
            <p:cNvGrpSpPr>
              <a:grpSpLocks/>
            </p:cNvGrpSpPr>
            <p:nvPr/>
          </p:nvGrpSpPr>
          <p:grpSpPr bwMode="auto">
            <a:xfrm>
              <a:off x="1429" y="1480"/>
              <a:ext cx="453" cy="362"/>
              <a:chOff x="1429" y="1480"/>
              <a:chExt cx="453" cy="362"/>
            </a:xfrm>
          </p:grpSpPr>
          <p:sp>
            <p:nvSpPr>
              <p:cNvPr id="1664051" name="Rectangle 51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52" name="Rectangle 52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53" name="Rectangle 53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54" name="Rectangle 54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55" name="Group 55"/>
            <p:cNvGrpSpPr>
              <a:grpSpLocks/>
            </p:cNvGrpSpPr>
            <p:nvPr/>
          </p:nvGrpSpPr>
          <p:grpSpPr bwMode="auto">
            <a:xfrm>
              <a:off x="1429" y="1842"/>
              <a:ext cx="453" cy="362"/>
              <a:chOff x="1429" y="1480"/>
              <a:chExt cx="453" cy="362"/>
            </a:xfrm>
          </p:grpSpPr>
          <p:sp>
            <p:nvSpPr>
              <p:cNvPr id="1664056" name="Rectangle 56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57" name="Rectangle 57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58" name="Rectangle 58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59" name="Rectangle 59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60" name="Group 60"/>
            <p:cNvGrpSpPr>
              <a:grpSpLocks/>
            </p:cNvGrpSpPr>
            <p:nvPr/>
          </p:nvGrpSpPr>
          <p:grpSpPr bwMode="auto">
            <a:xfrm>
              <a:off x="1429" y="2659"/>
              <a:ext cx="453" cy="362"/>
              <a:chOff x="1429" y="1480"/>
              <a:chExt cx="453" cy="362"/>
            </a:xfrm>
          </p:grpSpPr>
          <p:sp>
            <p:nvSpPr>
              <p:cNvPr id="1664061" name="Rectangle 61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62" name="Rectangle 62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63" name="Rectangle 63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64" name="Rectangle 64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65" name="Group 65"/>
            <p:cNvGrpSpPr>
              <a:grpSpLocks/>
            </p:cNvGrpSpPr>
            <p:nvPr/>
          </p:nvGrpSpPr>
          <p:grpSpPr bwMode="auto">
            <a:xfrm>
              <a:off x="1429" y="2205"/>
              <a:ext cx="453" cy="454"/>
              <a:chOff x="1429" y="2205"/>
              <a:chExt cx="453" cy="454"/>
            </a:xfrm>
          </p:grpSpPr>
          <p:sp>
            <p:nvSpPr>
              <p:cNvPr id="1664066" name="Rectangle 66"/>
              <p:cNvSpPr>
                <a:spLocks noChangeArrowheads="1"/>
              </p:cNvSpPr>
              <p:nvPr/>
            </p:nvSpPr>
            <p:spPr bwMode="auto">
              <a:xfrm>
                <a:off x="1429" y="2205"/>
                <a:ext cx="453" cy="454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67" name="Text Box 67"/>
              <p:cNvSpPr txBox="1">
                <a:spLocks noChangeArrowheads="1"/>
              </p:cNvSpPr>
              <p:nvPr/>
            </p:nvSpPr>
            <p:spPr bwMode="auto">
              <a:xfrm>
                <a:off x="1495" y="2205"/>
                <a:ext cx="308" cy="454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r>
                  <a:rPr lang="en-US" altLang="zh-CN" sz="2000" b="0">
                    <a:latin typeface="宋体"/>
                  </a:rPr>
                  <a:t>……</a:t>
                </a:r>
                <a:endParaRPr lang="en-US" altLang="zh-CN" sz="2000" b="0">
                  <a:latin typeface="Arial" pitchFamily="34" charset="0"/>
                </a:endParaRPr>
              </a:p>
            </p:txBody>
          </p:sp>
        </p:grpSp>
        <p:sp>
          <p:nvSpPr>
            <p:cNvPr id="1664068" name="AutoShape 68"/>
            <p:cNvSpPr>
              <a:spLocks/>
            </p:cNvSpPr>
            <p:nvPr/>
          </p:nvSpPr>
          <p:spPr bwMode="auto">
            <a:xfrm>
              <a:off x="1927" y="1480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069" name="AutoShape 69"/>
            <p:cNvSpPr>
              <a:spLocks/>
            </p:cNvSpPr>
            <p:nvPr/>
          </p:nvSpPr>
          <p:spPr bwMode="auto">
            <a:xfrm>
              <a:off x="1927" y="1888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070" name="AutoShape 70"/>
            <p:cNvSpPr>
              <a:spLocks/>
            </p:cNvSpPr>
            <p:nvPr/>
          </p:nvSpPr>
          <p:spPr bwMode="auto">
            <a:xfrm>
              <a:off x="1927" y="2659"/>
              <a:ext cx="91" cy="363"/>
            </a:xfrm>
            <a:prstGeom prst="rightBrace">
              <a:avLst>
                <a:gd name="adj1" fmla="val 3324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64071" name="Group 71"/>
          <p:cNvGrpSpPr>
            <a:grpSpLocks/>
          </p:cNvGrpSpPr>
          <p:nvPr/>
        </p:nvGrpSpPr>
        <p:grpSpPr bwMode="auto">
          <a:xfrm>
            <a:off x="5796284" y="962401"/>
            <a:ext cx="935038" cy="2447925"/>
            <a:chOff x="1429" y="1480"/>
            <a:chExt cx="589" cy="1542"/>
          </a:xfrm>
        </p:grpSpPr>
        <p:grpSp>
          <p:nvGrpSpPr>
            <p:cNvPr id="1664072" name="Group 72"/>
            <p:cNvGrpSpPr>
              <a:grpSpLocks/>
            </p:cNvGrpSpPr>
            <p:nvPr/>
          </p:nvGrpSpPr>
          <p:grpSpPr bwMode="auto">
            <a:xfrm>
              <a:off x="1429" y="1480"/>
              <a:ext cx="453" cy="362"/>
              <a:chOff x="1429" y="1480"/>
              <a:chExt cx="453" cy="362"/>
            </a:xfrm>
          </p:grpSpPr>
          <p:sp>
            <p:nvSpPr>
              <p:cNvPr id="1664073" name="Rectangle 73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74" name="Rectangle 74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75" name="Rectangle 75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76" name="Rectangle 76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77" name="Group 77"/>
            <p:cNvGrpSpPr>
              <a:grpSpLocks/>
            </p:cNvGrpSpPr>
            <p:nvPr/>
          </p:nvGrpSpPr>
          <p:grpSpPr bwMode="auto">
            <a:xfrm>
              <a:off x="1429" y="1842"/>
              <a:ext cx="453" cy="362"/>
              <a:chOff x="1429" y="1480"/>
              <a:chExt cx="453" cy="362"/>
            </a:xfrm>
          </p:grpSpPr>
          <p:sp>
            <p:nvSpPr>
              <p:cNvPr id="1664078" name="Rectangle 78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79" name="Rectangle 79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80" name="Rectangle 80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81" name="Rectangle 81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82" name="Group 82"/>
            <p:cNvGrpSpPr>
              <a:grpSpLocks/>
            </p:cNvGrpSpPr>
            <p:nvPr/>
          </p:nvGrpSpPr>
          <p:grpSpPr bwMode="auto">
            <a:xfrm>
              <a:off x="1429" y="2659"/>
              <a:ext cx="453" cy="362"/>
              <a:chOff x="1429" y="1480"/>
              <a:chExt cx="453" cy="362"/>
            </a:xfrm>
          </p:grpSpPr>
          <p:sp>
            <p:nvSpPr>
              <p:cNvPr id="1664083" name="Rectangle 83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84" name="Rectangle 84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85" name="Rectangle 85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86" name="Rectangle 86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087" name="Group 87"/>
            <p:cNvGrpSpPr>
              <a:grpSpLocks/>
            </p:cNvGrpSpPr>
            <p:nvPr/>
          </p:nvGrpSpPr>
          <p:grpSpPr bwMode="auto">
            <a:xfrm>
              <a:off x="1429" y="2205"/>
              <a:ext cx="453" cy="454"/>
              <a:chOff x="1429" y="2205"/>
              <a:chExt cx="453" cy="454"/>
            </a:xfrm>
          </p:grpSpPr>
          <p:sp>
            <p:nvSpPr>
              <p:cNvPr id="1664088" name="Rectangle 88"/>
              <p:cNvSpPr>
                <a:spLocks noChangeArrowheads="1"/>
              </p:cNvSpPr>
              <p:nvPr/>
            </p:nvSpPr>
            <p:spPr bwMode="auto">
              <a:xfrm>
                <a:off x="1429" y="2205"/>
                <a:ext cx="453" cy="454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089" name="Text Box 89"/>
              <p:cNvSpPr txBox="1">
                <a:spLocks noChangeArrowheads="1"/>
              </p:cNvSpPr>
              <p:nvPr/>
            </p:nvSpPr>
            <p:spPr bwMode="auto">
              <a:xfrm>
                <a:off x="1495" y="2205"/>
                <a:ext cx="308" cy="454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r>
                  <a:rPr lang="en-US" altLang="zh-CN" sz="2000" b="0">
                    <a:latin typeface="宋体"/>
                  </a:rPr>
                  <a:t>……</a:t>
                </a:r>
                <a:endParaRPr lang="en-US" altLang="zh-CN" sz="2000" b="0">
                  <a:latin typeface="Arial" pitchFamily="34" charset="0"/>
                </a:endParaRPr>
              </a:p>
            </p:txBody>
          </p:sp>
        </p:grpSp>
        <p:sp>
          <p:nvSpPr>
            <p:cNvPr id="1664090" name="AutoShape 90"/>
            <p:cNvSpPr>
              <a:spLocks/>
            </p:cNvSpPr>
            <p:nvPr/>
          </p:nvSpPr>
          <p:spPr bwMode="auto">
            <a:xfrm>
              <a:off x="1927" y="1480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091" name="AutoShape 91"/>
            <p:cNvSpPr>
              <a:spLocks/>
            </p:cNvSpPr>
            <p:nvPr/>
          </p:nvSpPr>
          <p:spPr bwMode="auto">
            <a:xfrm>
              <a:off x="1927" y="1888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092" name="AutoShape 92"/>
            <p:cNvSpPr>
              <a:spLocks/>
            </p:cNvSpPr>
            <p:nvPr/>
          </p:nvSpPr>
          <p:spPr bwMode="auto">
            <a:xfrm>
              <a:off x="1927" y="2659"/>
              <a:ext cx="91" cy="363"/>
            </a:xfrm>
            <a:prstGeom prst="rightBrace">
              <a:avLst>
                <a:gd name="adj1" fmla="val 3324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64093" name="Line 93"/>
          <p:cNvSpPr>
            <a:spLocks noChangeShapeType="1"/>
          </p:cNvSpPr>
          <p:nvPr/>
        </p:nvSpPr>
        <p:spPr bwMode="auto">
          <a:xfrm flipV="1">
            <a:off x="2845122" y="1033838"/>
            <a:ext cx="935037" cy="1081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094" name="Line 94"/>
          <p:cNvSpPr>
            <a:spLocks noChangeShapeType="1"/>
          </p:cNvSpPr>
          <p:nvPr/>
        </p:nvSpPr>
        <p:spPr bwMode="auto">
          <a:xfrm>
            <a:off x="2845122" y="2834063"/>
            <a:ext cx="1008062" cy="8651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095" name="Freeform 95"/>
          <p:cNvSpPr>
            <a:spLocks/>
          </p:cNvSpPr>
          <p:nvPr/>
        </p:nvSpPr>
        <p:spPr bwMode="auto">
          <a:xfrm>
            <a:off x="2916559" y="4058026"/>
            <a:ext cx="863600" cy="2665412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181" y="227"/>
              </a:cxn>
              <a:cxn ang="0">
                <a:pos x="317" y="1361"/>
              </a:cxn>
              <a:cxn ang="0">
                <a:pos x="589" y="1679"/>
              </a:cxn>
            </a:cxnLst>
            <a:rect l="0" t="0" r="r" b="b"/>
            <a:pathLst>
              <a:path w="589" h="1679">
                <a:moveTo>
                  <a:pt x="0" y="1"/>
                </a:moveTo>
                <a:cubicBezTo>
                  <a:pt x="64" y="0"/>
                  <a:pt x="128" y="0"/>
                  <a:pt x="181" y="227"/>
                </a:cubicBezTo>
                <a:cubicBezTo>
                  <a:pt x="234" y="454"/>
                  <a:pt x="249" y="1119"/>
                  <a:pt x="317" y="1361"/>
                </a:cubicBezTo>
                <a:cubicBezTo>
                  <a:pt x="385" y="1603"/>
                  <a:pt x="487" y="1641"/>
                  <a:pt x="589" y="167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096" name="Text Box 96"/>
          <p:cNvSpPr txBox="1">
            <a:spLocks noChangeArrowheads="1"/>
          </p:cNvSpPr>
          <p:nvPr/>
        </p:nvSpPr>
        <p:spPr bwMode="auto">
          <a:xfrm>
            <a:off x="3708722" y="6218613"/>
            <a:ext cx="9366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 b="0">
                <a:latin typeface="宋体"/>
              </a:rPr>
              <a:t>……</a:t>
            </a:r>
            <a:endParaRPr lang="zh-CN" altLang="en-US" sz="1800" b="0">
              <a:latin typeface="Arial" pitchFamily="34" charset="0"/>
            </a:endParaRPr>
          </a:p>
        </p:txBody>
      </p:sp>
      <p:sp>
        <p:nvSpPr>
          <p:cNvPr id="1664097" name="Line 97"/>
          <p:cNvSpPr>
            <a:spLocks noChangeShapeType="1"/>
          </p:cNvSpPr>
          <p:nvPr/>
        </p:nvSpPr>
        <p:spPr bwMode="auto">
          <a:xfrm flipV="1">
            <a:off x="4861247" y="962401"/>
            <a:ext cx="935037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098" name="Freeform 98"/>
          <p:cNvSpPr>
            <a:spLocks/>
          </p:cNvSpPr>
          <p:nvPr/>
        </p:nvSpPr>
        <p:spPr bwMode="auto">
          <a:xfrm>
            <a:off x="4861247" y="1899026"/>
            <a:ext cx="935037" cy="18716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09" y="318"/>
              </a:cxn>
              <a:cxn ang="0">
                <a:pos x="499" y="1044"/>
              </a:cxn>
              <a:cxn ang="0">
                <a:pos x="681" y="1225"/>
              </a:cxn>
            </a:cxnLst>
            <a:rect l="0" t="0" r="r" b="b"/>
            <a:pathLst>
              <a:path w="681" h="1225">
                <a:moveTo>
                  <a:pt x="0" y="0"/>
                </a:moveTo>
                <a:cubicBezTo>
                  <a:pt x="163" y="72"/>
                  <a:pt x="326" y="144"/>
                  <a:pt x="409" y="318"/>
                </a:cubicBezTo>
                <a:cubicBezTo>
                  <a:pt x="492" y="492"/>
                  <a:pt x="454" y="893"/>
                  <a:pt x="499" y="1044"/>
                </a:cubicBezTo>
                <a:cubicBezTo>
                  <a:pt x="544" y="1195"/>
                  <a:pt x="643" y="1195"/>
                  <a:pt x="681" y="1225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099" name="Freeform 99"/>
          <p:cNvSpPr>
            <a:spLocks/>
          </p:cNvSpPr>
          <p:nvPr/>
        </p:nvSpPr>
        <p:spPr bwMode="auto">
          <a:xfrm>
            <a:off x="4861247" y="3122988"/>
            <a:ext cx="935037" cy="9366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2" y="136"/>
              </a:cxn>
              <a:cxn ang="0">
                <a:pos x="408" y="453"/>
              </a:cxn>
              <a:cxn ang="0">
                <a:pos x="635" y="590"/>
              </a:cxn>
            </a:cxnLst>
            <a:rect l="0" t="0" r="r" b="b"/>
            <a:pathLst>
              <a:path w="635" h="590">
                <a:moveTo>
                  <a:pt x="0" y="0"/>
                </a:moveTo>
                <a:cubicBezTo>
                  <a:pt x="102" y="30"/>
                  <a:pt x="204" y="61"/>
                  <a:pt x="272" y="136"/>
                </a:cubicBezTo>
                <a:cubicBezTo>
                  <a:pt x="340" y="211"/>
                  <a:pt x="348" y="377"/>
                  <a:pt x="408" y="453"/>
                </a:cubicBezTo>
                <a:cubicBezTo>
                  <a:pt x="468" y="529"/>
                  <a:pt x="551" y="559"/>
                  <a:pt x="635" y="59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100" name="Line 100"/>
          <p:cNvSpPr>
            <a:spLocks noChangeShapeType="1"/>
          </p:cNvSpPr>
          <p:nvPr/>
        </p:nvSpPr>
        <p:spPr bwMode="auto">
          <a:xfrm>
            <a:off x="4861247" y="3986588"/>
            <a:ext cx="935037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101" name="Line 101"/>
          <p:cNvSpPr>
            <a:spLocks noChangeShapeType="1"/>
          </p:cNvSpPr>
          <p:nvPr/>
        </p:nvSpPr>
        <p:spPr bwMode="auto">
          <a:xfrm>
            <a:off x="4788222" y="4562851"/>
            <a:ext cx="10080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102" name="Line 102"/>
          <p:cNvSpPr>
            <a:spLocks noChangeShapeType="1"/>
          </p:cNvSpPr>
          <p:nvPr/>
        </p:nvSpPr>
        <p:spPr bwMode="auto">
          <a:xfrm>
            <a:off x="4861247" y="5859838"/>
            <a:ext cx="935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103" name="Line 103"/>
          <p:cNvSpPr>
            <a:spLocks noChangeShapeType="1"/>
          </p:cNvSpPr>
          <p:nvPr/>
        </p:nvSpPr>
        <p:spPr bwMode="auto">
          <a:xfrm flipV="1">
            <a:off x="6156647" y="3554788"/>
            <a:ext cx="0" cy="2592388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64104" name="Group 104"/>
          <p:cNvGrpSpPr>
            <a:grpSpLocks/>
          </p:cNvGrpSpPr>
          <p:nvPr/>
        </p:nvGrpSpPr>
        <p:grpSpPr bwMode="auto">
          <a:xfrm>
            <a:off x="7885434" y="962401"/>
            <a:ext cx="719138" cy="2446337"/>
            <a:chOff x="4558" y="527"/>
            <a:chExt cx="453" cy="1541"/>
          </a:xfrm>
        </p:grpSpPr>
        <p:grpSp>
          <p:nvGrpSpPr>
            <p:cNvPr id="1664105" name="Group 105"/>
            <p:cNvGrpSpPr>
              <a:grpSpLocks/>
            </p:cNvGrpSpPr>
            <p:nvPr/>
          </p:nvGrpSpPr>
          <p:grpSpPr bwMode="auto">
            <a:xfrm>
              <a:off x="4558" y="527"/>
              <a:ext cx="453" cy="362"/>
              <a:chOff x="1429" y="1480"/>
              <a:chExt cx="453" cy="362"/>
            </a:xfrm>
          </p:grpSpPr>
          <p:sp>
            <p:nvSpPr>
              <p:cNvPr id="1664106" name="Rectangle 106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107" name="Rectangle 107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108" name="Rectangle 108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109" name="Rectangle 109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110" name="Group 110"/>
            <p:cNvGrpSpPr>
              <a:grpSpLocks/>
            </p:cNvGrpSpPr>
            <p:nvPr/>
          </p:nvGrpSpPr>
          <p:grpSpPr bwMode="auto">
            <a:xfrm>
              <a:off x="4558" y="889"/>
              <a:ext cx="453" cy="362"/>
              <a:chOff x="1429" y="1480"/>
              <a:chExt cx="453" cy="362"/>
            </a:xfrm>
          </p:grpSpPr>
          <p:sp>
            <p:nvSpPr>
              <p:cNvPr id="1664111" name="Rectangle 111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112" name="Rectangle 112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113" name="Rectangle 113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114" name="Rectangle 114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115" name="Group 115"/>
            <p:cNvGrpSpPr>
              <a:grpSpLocks/>
            </p:cNvGrpSpPr>
            <p:nvPr/>
          </p:nvGrpSpPr>
          <p:grpSpPr bwMode="auto">
            <a:xfrm>
              <a:off x="4558" y="1706"/>
              <a:ext cx="453" cy="362"/>
              <a:chOff x="1429" y="1480"/>
              <a:chExt cx="453" cy="362"/>
            </a:xfrm>
          </p:grpSpPr>
          <p:sp>
            <p:nvSpPr>
              <p:cNvPr id="1664116" name="Rectangle 116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117" name="Rectangle 117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118" name="Rectangle 118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119" name="Rectangle 119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4120" name="Group 120"/>
            <p:cNvGrpSpPr>
              <a:grpSpLocks/>
            </p:cNvGrpSpPr>
            <p:nvPr/>
          </p:nvGrpSpPr>
          <p:grpSpPr bwMode="auto">
            <a:xfrm>
              <a:off x="4558" y="1252"/>
              <a:ext cx="453" cy="454"/>
              <a:chOff x="1429" y="2205"/>
              <a:chExt cx="453" cy="454"/>
            </a:xfrm>
          </p:grpSpPr>
          <p:sp>
            <p:nvSpPr>
              <p:cNvPr id="1664121" name="Rectangle 121"/>
              <p:cNvSpPr>
                <a:spLocks noChangeArrowheads="1"/>
              </p:cNvSpPr>
              <p:nvPr/>
            </p:nvSpPr>
            <p:spPr bwMode="auto">
              <a:xfrm>
                <a:off x="1429" y="2205"/>
                <a:ext cx="453" cy="454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4122" name="Text Box 122"/>
              <p:cNvSpPr txBox="1">
                <a:spLocks noChangeArrowheads="1"/>
              </p:cNvSpPr>
              <p:nvPr/>
            </p:nvSpPr>
            <p:spPr bwMode="auto">
              <a:xfrm>
                <a:off x="1495" y="2205"/>
                <a:ext cx="308" cy="454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r>
                  <a:rPr lang="en-US" altLang="zh-CN" sz="2000" b="0">
                    <a:latin typeface="宋体"/>
                  </a:rPr>
                  <a:t>……</a:t>
                </a:r>
                <a:endParaRPr lang="en-US" altLang="zh-CN" sz="2000" b="0">
                  <a:latin typeface="Arial" pitchFamily="34" charset="0"/>
                </a:endParaRPr>
              </a:p>
            </p:txBody>
          </p:sp>
        </p:grpSp>
      </p:grpSp>
      <p:sp>
        <p:nvSpPr>
          <p:cNvPr id="1664123" name="Line 123"/>
          <p:cNvSpPr>
            <a:spLocks noChangeShapeType="1"/>
          </p:cNvSpPr>
          <p:nvPr/>
        </p:nvSpPr>
        <p:spPr bwMode="auto">
          <a:xfrm flipV="1">
            <a:off x="6804347" y="1033838"/>
            <a:ext cx="1008062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124" name="Text Box 124"/>
          <p:cNvSpPr txBox="1">
            <a:spLocks noChangeAspect="1" noChangeArrowheads="1"/>
          </p:cNvSpPr>
          <p:nvPr/>
        </p:nvSpPr>
        <p:spPr bwMode="auto">
          <a:xfrm>
            <a:off x="397197" y="2114926"/>
            <a:ext cx="1223962" cy="707886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页表基址</a:t>
            </a:r>
          </a:p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寄存器</a:t>
            </a:r>
          </a:p>
        </p:txBody>
      </p:sp>
      <p:sp>
        <p:nvSpPr>
          <p:cNvPr id="1664125" name="Text Box 125"/>
          <p:cNvSpPr txBox="1">
            <a:spLocks noChangeAspect="1" noChangeArrowheads="1"/>
          </p:cNvSpPr>
          <p:nvPr/>
        </p:nvSpPr>
        <p:spPr bwMode="auto">
          <a:xfrm>
            <a:off x="3421384" y="530601"/>
            <a:ext cx="1511300" cy="4001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第二级页表</a:t>
            </a:r>
          </a:p>
        </p:txBody>
      </p:sp>
      <p:sp>
        <p:nvSpPr>
          <p:cNvPr id="1664126" name="Text Box 126"/>
          <p:cNvSpPr txBox="1">
            <a:spLocks noChangeAspect="1" noChangeArrowheads="1"/>
          </p:cNvSpPr>
          <p:nvPr/>
        </p:nvSpPr>
        <p:spPr bwMode="auto">
          <a:xfrm>
            <a:off x="1549722" y="1467226"/>
            <a:ext cx="1511300" cy="4001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第一级页表</a:t>
            </a:r>
          </a:p>
        </p:txBody>
      </p:sp>
      <p:sp>
        <p:nvSpPr>
          <p:cNvPr id="1664127" name="Text Box 127"/>
          <p:cNvSpPr txBox="1">
            <a:spLocks noChangeAspect="1" noChangeArrowheads="1"/>
          </p:cNvSpPr>
          <p:nvPr/>
        </p:nvSpPr>
        <p:spPr bwMode="auto">
          <a:xfrm>
            <a:off x="5364484" y="530601"/>
            <a:ext cx="1511300" cy="4001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第三级页表</a:t>
            </a:r>
          </a:p>
        </p:txBody>
      </p:sp>
      <p:sp>
        <p:nvSpPr>
          <p:cNvPr id="1664128" name="Line 128"/>
          <p:cNvSpPr>
            <a:spLocks noChangeShapeType="1"/>
          </p:cNvSpPr>
          <p:nvPr/>
        </p:nvSpPr>
        <p:spPr bwMode="auto">
          <a:xfrm flipV="1">
            <a:off x="8245797" y="3554788"/>
            <a:ext cx="0" cy="2592388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129" name="Text Box 129"/>
          <p:cNvSpPr txBox="1">
            <a:spLocks noChangeAspect="1" noChangeArrowheads="1"/>
          </p:cNvSpPr>
          <p:nvPr/>
        </p:nvSpPr>
        <p:spPr bwMode="auto">
          <a:xfrm>
            <a:off x="7596509" y="530601"/>
            <a:ext cx="1223963" cy="4001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主存实页</a:t>
            </a:r>
          </a:p>
        </p:txBody>
      </p:sp>
      <p:sp>
        <p:nvSpPr>
          <p:cNvPr id="1664130" name="Freeform 130"/>
          <p:cNvSpPr>
            <a:spLocks/>
          </p:cNvSpPr>
          <p:nvPr/>
        </p:nvSpPr>
        <p:spPr bwMode="auto">
          <a:xfrm>
            <a:off x="6804347" y="1899026"/>
            <a:ext cx="935037" cy="18716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09" y="318"/>
              </a:cxn>
              <a:cxn ang="0">
                <a:pos x="499" y="1044"/>
              </a:cxn>
              <a:cxn ang="0">
                <a:pos x="681" y="1225"/>
              </a:cxn>
            </a:cxnLst>
            <a:rect l="0" t="0" r="r" b="b"/>
            <a:pathLst>
              <a:path w="681" h="1225">
                <a:moveTo>
                  <a:pt x="0" y="0"/>
                </a:moveTo>
                <a:cubicBezTo>
                  <a:pt x="163" y="72"/>
                  <a:pt x="326" y="144"/>
                  <a:pt x="409" y="318"/>
                </a:cubicBezTo>
                <a:cubicBezTo>
                  <a:pt x="492" y="492"/>
                  <a:pt x="454" y="893"/>
                  <a:pt x="499" y="1044"/>
                </a:cubicBezTo>
                <a:cubicBezTo>
                  <a:pt x="544" y="1195"/>
                  <a:pt x="643" y="1195"/>
                  <a:pt x="681" y="1225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131" name="Freeform 131"/>
          <p:cNvSpPr>
            <a:spLocks/>
          </p:cNvSpPr>
          <p:nvPr/>
        </p:nvSpPr>
        <p:spPr bwMode="auto">
          <a:xfrm>
            <a:off x="6804347" y="3122988"/>
            <a:ext cx="935037" cy="9366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2" y="136"/>
              </a:cxn>
              <a:cxn ang="0">
                <a:pos x="408" y="453"/>
              </a:cxn>
              <a:cxn ang="0">
                <a:pos x="635" y="590"/>
              </a:cxn>
            </a:cxnLst>
            <a:rect l="0" t="0" r="r" b="b"/>
            <a:pathLst>
              <a:path w="635" h="590">
                <a:moveTo>
                  <a:pt x="0" y="0"/>
                </a:moveTo>
                <a:cubicBezTo>
                  <a:pt x="102" y="30"/>
                  <a:pt x="204" y="61"/>
                  <a:pt x="272" y="136"/>
                </a:cubicBezTo>
                <a:cubicBezTo>
                  <a:pt x="340" y="211"/>
                  <a:pt x="348" y="377"/>
                  <a:pt x="408" y="453"/>
                </a:cubicBezTo>
                <a:cubicBezTo>
                  <a:pt x="468" y="529"/>
                  <a:pt x="551" y="559"/>
                  <a:pt x="635" y="59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64132" name="Group 132"/>
          <p:cNvGrpSpPr>
            <a:grpSpLocks/>
          </p:cNvGrpSpPr>
          <p:nvPr/>
        </p:nvGrpSpPr>
        <p:grpSpPr bwMode="auto">
          <a:xfrm>
            <a:off x="611510" y="5139115"/>
            <a:ext cx="2305050" cy="1439863"/>
            <a:chOff x="294" y="3158"/>
            <a:chExt cx="1452" cy="907"/>
          </a:xfrm>
        </p:grpSpPr>
        <p:sp>
          <p:nvSpPr>
            <p:cNvPr id="1664133" name="Rectangle 133"/>
            <p:cNvSpPr>
              <a:spLocks noChangeArrowheads="1"/>
            </p:cNvSpPr>
            <p:nvPr/>
          </p:nvSpPr>
          <p:spPr bwMode="auto">
            <a:xfrm>
              <a:off x="294" y="3570"/>
              <a:ext cx="726" cy="227"/>
            </a:xfrm>
            <a:prstGeom prst="rect">
              <a:avLst/>
            </a:prstGeom>
            <a:solidFill>
              <a:srgbClr val="FFFF99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134" name="Rectangle 134"/>
            <p:cNvSpPr>
              <a:spLocks noChangeArrowheads="1"/>
            </p:cNvSpPr>
            <p:nvPr/>
          </p:nvSpPr>
          <p:spPr bwMode="auto">
            <a:xfrm>
              <a:off x="1020" y="3570"/>
              <a:ext cx="726" cy="227"/>
            </a:xfrm>
            <a:prstGeom prst="rect">
              <a:avLst/>
            </a:prstGeom>
            <a:solidFill>
              <a:srgbClr val="FFCC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8000"/>
                  </a:solidFill>
                </a:rPr>
                <a:t>N</a:t>
              </a:r>
              <a:r>
                <a:rPr lang="en-US" altLang="zh-CN" sz="1800" baseline="-25000" dirty="0">
                  <a:solidFill>
                    <a:srgbClr val="008000"/>
                  </a:solidFill>
                </a:rPr>
                <a:t>P</a:t>
              </a:r>
            </a:p>
          </p:txBody>
        </p:sp>
        <p:sp>
          <p:nvSpPr>
            <p:cNvPr id="1664135" name="Text Box 135"/>
            <p:cNvSpPr txBox="1">
              <a:spLocks noChangeAspect="1" noChangeArrowheads="1"/>
            </p:cNvSpPr>
            <p:nvPr/>
          </p:nvSpPr>
          <p:spPr bwMode="auto">
            <a:xfrm>
              <a:off x="294" y="3158"/>
              <a:ext cx="998" cy="252"/>
            </a:xfrm>
            <a:prstGeom prst="rect">
              <a:avLst/>
            </a:prstGeom>
            <a:noFill/>
            <a:ln w="12700" cap="sq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zh-CN" altLang="en-US" sz="2000" dirty="0">
                  <a:solidFill>
                    <a:srgbClr val="0000FF"/>
                  </a:solidFill>
                  <a:latin typeface="+mn-lt"/>
                </a:rPr>
                <a:t>程序虚地址</a:t>
              </a:r>
            </a:p>
          </p:txBody>
        </p:sp>
        <p:sp>
          <p:nvSpPr>
            <p:cNvPr id="1664136" name="Line 136"/>
            <p:cNvSpPr>
              <a:spLocks noChangeShapeType="1"/>
            </p:cNvSpPr>
            <p:nvPr/>
          </p:nvSpPr>
          <p:spPr bwMode="auto">
            <a:xfrm>
              <a:off x="294" y="3843"/>
              <a:ext cx="0" cy="18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137" name="Line 137"/>
            <p:cNvSpPr>
              <a:spLocks noChangeShapeType="1"/>
            </p:cNvSpPr>
            <p:nvPr/>
          </p:nvSpPr>
          <p:spPr bwMode="auto">
            <a:xfrm>
              <a:off x="1020" y="3843"/>
              <a:ext cx="0" cy="18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138" name="Line 138"/>
            <p:cNvSpPr>
              <a:spLocks noChangeShapeType="1"/>
            </p:cNvSpPr>
            <p:nvPr/>
          </p:nvSpPr>
          <p:spPr bwMode="auto">
            <a:xfrm>
              <a:off x="1745" y="3843"/>
              <a:ext cx="0" cy="18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139" name="Text Box 139"/>
            <p:cNvSpPr txBox="1">
              <a:spLocks noChangeAspect="1" noChangeArrowheads="1"/>
            </p:cNvSpPr>
            <p:nvPr/>
          </p:nvSpPr>
          <p:spPr bwMode="auto">
            <a:xfrm>
              <a:off x="1165" y="3813"/>
              <a:ext cx="403" cy="252"/>
            </a:xfrm>
            <a:prstGeom prst="rect">
              <a:avLst/>
            </a:prstGeom>
            <a:noFill/>
            <a:ln w="12700" cap="sq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000" dirty="0">
                  <a:solidFill>
                    <a:srgbClr val="0000FF"/>
                  </a:solidFill>
                  <a:latin typeface="+mn-lt"/>
                  <a:ea typeface="+mn-ea"/>
                </a:rPr>
                <a:t>P</a:t>
              </a:r>
              <a:r>
                <a:rPr kumimoji="1" lang="zh-CN" altLang="en-US" sz="2000" dirty="0">
                  <a:solidFill>
                    <a:srgbClr val="0000FF"/>
                  </a:solidFill>
                  <a:latin typeface="+mn-lt"/>
                  <a:ea typeface="+mn-ea"/>
                </a:rPr>
                <a:t>位</a:t>
              </a:r>
            </a:p>
          </p:txBody>
        </p:sp>
        <p:sp>
          <p:nvSpPr>
            <p:cNvPr id="1664140" name="Text Box 140"/>
            <p:cNvSpPr txBox="1">
              <a:spLocks noChangeAspect="1" noChangeArrowheads="1"/>
            </p:cNvSpPr>
            <p:nvPr/>
          </p:nvSpPr>
          <p:spPr bwMode="auto">
            <a:xfrm>
              <a:off x="418" y="3813"/>
              <a:ext cx="453" cy="252"/>
            </a:xfrm>
            <a:prstGeom prst="rect">
              <a:avLst/>
            </a:prstGeom>
            <a:noFill/>
            <a:ln w="12700" cap="sq" algn="ctr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000" dirty="0">
                  <a:solidFill>
                    <a:srgbClr val="0000FF"/>
                  </a:solidFill>
                  <a:latin typeface="+mn-lt"/>
                </a:rPr>
                <a:t>V</a:t>
              </a:r>
              <a:r>
                <a:rPr kumimoji="1" lang="zh-CN" altLang="en-US" sz="2000" dirty="0">
                  <a:solidFill>
                    <a:srgbClr val="0000FF"/>
                  </a:solidFill>
                  <a:latin typeface="+mn-lt"/>
                </a:rPr>
                <a:t>位</a:t>
              </a:r>
            </a:p>
          </p:txBody>
        </p:sp>
        <p:sp>
          <p:nvSpPr>
            <p:cNvPr id="1664141" name="Line 141"/>
            <p:cNvSpPr>
              <a:spLocks noChangeShapeType="1"/>
            </p:cNvSpPr>
            <p:nvPr/>
          </p:nvSpPr>
          <p:spPr bwMode="auto">
            <a:xfrm flipH="1">
              <a:off x="294" y="3933"/>
              <a:ext cx="18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142" name="Line 142"/>
            <p:cNvSpPr>
              <a:spLocks noChangeShapeType="1"/>
            </p:cNvSpPr>
            <p:nvPr/>
          </p:nvSpPr>
          <p:spPr bwMode="auto">
            <a:xfrm>
              <a:off x="793" y="3933"/>
              <a:ext cx="22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143" name="Line 143"/>
            <p:cNvSpPr>
              <a:spLocks noChangeShapeType="1"/>
            </p:cNvSpPr>
            <p:nvPr/>
          </p:nvSpPr>
          <p:spPr bwMode="auto">
            <a:xfrm flipH="1">
              <a:off x="1020" y="3933"/>
              <a:ext cx="18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144" name="Line 144"/>
            <p:cNvSpPr>
              <a:spLocks noChangeShapeType="1"/>
            </p:cNvSpPr>
            <p:nvPr/>
          </p:nvSpPr>
          <p:spPr bwMode="auto">
            <a:xfrm>
              <a:off x="1519" y="3933"/>
              <a:ext cx="22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4145" name="Text Box 145"/>
            <p:cNvSpPr txBox="1">
              <a:spLocks noChangeArrowheads="1"/>
            </p:cNvSpPr>
            <p:nvPr/>
          </p:nvSpPr>
          <p:spPr bwMode="auto">
            <a:xfrm>
              <a:off x="1246" y="3162"/>
              <a:ext cx="363" cy="2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800" dirty="0">
                  <a:solidFill>
                    <a:srgbClr val="008000"/>
                  </a:solidFill>
                </a:rPr>
                <a:t>N</a:t>
              </a:r>
              <a:r>
                <a:rPr lang="en-US" altLang="zh-CN" sz="1800" baseline="-25000" dirty="0">
                  <a:solidFill>
                    <a:srgbClr val="008000"/>
                  </a:solidFill>
                </a:rPr>
                <a:t>V</a:t>
              </a:r>
              <a:endParaRPr lang="zh-CN" altLang="en-US" sz="1800" baseline="-25000" dirty="0">
                <a:solidFill>
                  <a:srgbClr val="008000"/>
                </a:solidFill>
              </a:endParaRPr>
            </a:p>
          </p:txBody>
        </p:sp>
        <p:sp>
          <p:nvSpPr>
            <p:cNvPr id="1664146" name="AutoShape 146"/>
            <p:cNvSpPr>
              <a:spLocks/>
            </p:cNvSpPr>
            <p:nvPr/>
          </p:nvSpPr>
          <p:spPr bwMode="auto">
            <a:xfrm rot="16200000">
              <a:off x="952" y="2731"/>
              <a:ext cx="136" cy="1451"/>
            </a:xfrm>
            <a:prstGeom prst="rightBrace">
              <a:avLst>
                <a:gd name="adj1" fmla="val 57347"/>
                <a:gd name="adj2" fmla="val 49800"/>
              </a:avLst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64147" name="AutoShape 147"/>
          <p:cNvSpPr>
            <a:spLocks/>
          </p:cNvSpPr>
          <p:nvPr/>
        </p:nvSpPr>
        <p:spPr bwMode="auto">
          <a:xfrm rot="10800000">
            <a:off x="1692597" y="3770688"/>
            <a:ext cx="144462" cy="576263"/>
          </a:xfrm>
          <a:prstGeom prst="rightBrace">
            <a:avLst>
              <a:gd name="adj1" fmla="val 79190"/>
              <a:gd name="adj2" fmla="val 49343"/>
            </a:avLst>
          </a:prstGeom>
          <a:noFill/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4148" name="Text Box 148"/>
          <p:cNvSpPr txBox="1">
            <a:spLocks noChangeAspect="1" noChangeArrowheads="1"/>
          </p:cNvSpPr>
          <p:nvPr/>
        </p:nvSpPr>
        <p:spPr bwMode="auto">
          <a:xfrm>
            <a:off x="75926" y="3699251"/>
            <a:ext cx="1760538" cy="707886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8000"/>
                </a:solidFill>
                <a:latin typeface="+mn-lt"/>
              </a:rPr>
              <a:t>每个</a:t>
            </a:r>
            <a:r>
              <a:rPr kumimoji="1" lang="en-US" altLang="zh-CN" sz="2000" dirty="0">
                <a:solidFill>
                  <a:srgbClr val="008000"/>
                </a:solidFill>
                <a:latin typeface="+mn-lt"/>
              </a:rPr>
              <a:t>PTE</a:t>
            </a:r>
            <a:r>
              <a:rPr kumimoji="1" lang="zh-CN" altLang="en-US" sz="2000" dirty="0">
                <a:solidFill>
                  <a:srgbClr val="008000"/>
                </a:solidFill>
                <a:latin typeface="+mn-lt"/>
              </a:rPr>
              <a:t>需</a:t>
            </a:r>
          </a:p>
          <a:p>
            <a:pPr>
              <a:spcBef>
                <a:spcPct val="0"/>
              </a:spcBef>
            </a:pPr>
            <a:r>
              <a:rPr kumimoji="1" lang="en-US" altLang="zh-CN" sz="2000" dirty="0">
                <a:solidFill>
                  <a:srgbClr val="008000"/>
                </a:solidFill>
                <a:latin typeface="+mn-lt"/>
              </a:rPr>
              <a:t>m</a:t>
            </a:r>
            <a:r>
              <a:rPr kumimoji="1" lang="zh-CN" altLang="en-US" sz="2000" dirty="0">
                <a:solidFill>
                  <a:srgbClr val="008000"/>
                </a:solidFill>
                <a:latin typeface="+mn-lt"/>
              </a:rPr>
              <a:t>个编址单元</a:t>
            </a:r>
          </a:p>
        </p:txBody>
      </p:sp>
      <p:sp>
        <p:nvSpPr>
          <p:cNvPr id="1664149" name="AutoShape 149"/>
          <p:cNvSpPr>
            <a:spLocks noChangeArrowheads="1"/>
          </p:cNvSpPr>
          <p:nvPr/>
        </p:nvSpPr>
        <p:spPr bwMode="auto">
          <a:xfrm>
            <a:off x="468634" y="4418388"/>
            <a:ext cx="1944688" cy="576263"/>
          </a:xfrm>
          <a:prstGeom prst="wedgeRoundRectCallout">
            <a:avLst>
              <a:gd name="adj1" fmla="val 81019"/>
              <a:gd name="adj2" fmla="val -15014"/>
              <a:gd name="adj3" fmla="val 16667"/>
            </a:avLst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+mn-lt"/>
              </a:rPr>
              <a:t>2</a:t>
            </a:r>
            <a:r>
              <a:rPr lang="en-US" altLang="zh-CN" sz="2000" baseline="30000" dirty="0">
                <a:latin typeface="+mn-lt"/>
              </a:rPr>
              <a:t>P</a:t>
            </a:r>
            <a:r>
              <a:rPr lang="en-US" altLang="zh-CN" sz="2000" dirty="0">
                <a:latin typeface="+mn-lt"/>
              </a:rPr>
              <a:t>/m</a:t>
            </a:r>
            <a:r>
              <a:rPr lang="zh-CN" altLang="en-US" sz="2000" dirty="0">
                <a:latin typeface="+mn-lt"/>
              </a:rPr>
              <a:t>个分支</a:t>
            </a:r>
          </a:p>
        </p:txBody>
      </p:sp>
      <p:sp>
        <p:nvSpPr>
          <p:cNvPr id="1664150" name="AutoShape 150"/>
          <p:cNvSpPr>
            <a:spLocks noChangeArrowheads="1"/>
          </p:cNvSpPr>
          <p:nvPr/>
        </p:nvSpPr>
        <p:spPr bwMode="auto">
          <a:xfrm>
            <a:off x="5724847" y="5139113"/>
            <a:ext cx="2016125" cy="576263"/>
          </a:xfrm>
          <a:prstGeom prst="wedgeRoundRectCallout">
            <a:avLst>
              <a:gd name="adj1" fmla="val -71338"/>
              <a:gd name="adj2" fmla="val -125759"/>
              <a:gd name="adj3" fmla="val 16667"/>
            </a:avLst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+mn-lt"/>
              </a:rPr>
              <a:t>(2</a:t>
            </a:r>
            <a:r>
              <a:rPr lang="en-US" altLang="zh-CN" sz="2000" baseline="30000" dirty="0">
                <a:latin typeface="+mn-lt"/>
              </a:rPr>
              <a:t>P</a:t>
            </a:r>
            <a:r>
              <a:rPr lang="en-US" altLang="zh-CN" sz="2000" dirty="0">
                <a:latin typeface="+mn-lt"/>
              </a:rPr>
              <a:t>/m)</a:t>
            </a:r>
            <a:r>
              <a:rPr lang="en-US" altLang="zh-CN" sz="2000" baseline="30000" dirty="0">
                <a:latin typeface="+mn-lt"/>
              </a:rPr>
              <a:t>2 </a:t>
            </a:r>
            <a:r>
              <a:rPr lang="zh-CN" altLang="en-US" sz="2000" dirty="0">
                <a:latin typeface="+mn-lt"/>
              </a:rPr>
              <a:t>个分支</a:t>
            </a:r>
          </a:p>
        </p:txBody>
      </p:sp>
      <p:sp>
        <p:nvSpPr>
          <p:cNvPr id="1664151" name="AutoShape 151"/>
          <p:cNvSpPr>
            <a:spLocks noChangeArrowheads="1"/>
          </p:cNvSpPr>
          <p:nvPr/>
        </p:nvSpPr>
        <p:spPr bwMode="auto">
          <a:xfrm>
            <a:off x="6372547" y="4275513"/>
            <a:ext cx="2016125" cy="576263"/>
          </a:xfrm>
          <a:prstGeom prst="wedgeRoundRectCallout">
            <a:avLst>
              <a:gd name="adj1" fmla="val -3699"/>
              <a:gd name="adj2" fmla="val -117769"/>
              <a:gd name="adj3" fmla="val 16667"/>
            </a:avLst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+mn-lt"/>
              </a:rPr>
              <a:t>(2</a:t>
            </a:r>
            <a:r>
              <a:rPr lang="en-US" altLang="zh-CN" sz="2000" baseline="30000" dirty="0">
                <a:latin typeface="+mn-lt"/>
              </a:rPr>
              <a:t>P</a:t>
            </a:r>
            <a:r>
              <a:rPr lang="en-US" altLang="zh-CN" sz="2000" dirty="0">
                <a:latin typeface="+mn-lt"/>
              </a:rPr>
              <a:t>/m)</a:t>
            </a:r>
            <a:r>
              <a:rPr lang="en-US" altLang="zh-CN" sz="2000" baseline="30000" dirty="0">
                <a:latin typeface="+mn-lt"/>
              </a:rPr>
              <a:t>3 </a:t>
            </a:r>
            <a:r>
              <a:rPr lang="zh-CN" altLang="en-US" sz="2000" dirty="0">
                <a:latin typeface="+mn-lt"/>
              </a:rPr>
              <a:t>个分支</a:t>
            </a:r>
          </a:p>
        </p:txBody>
      </p:sp>
      <p:sp>
        <p:nvSpPr>
          <p:cNvPr id="155" name="标题 2">
            <a:extLst>
              <a:ext uri="{FF2B5EF4-FFF2-40B4-BE49-F238E27FC236}">
                <a16:creationId xmlns:a16="http://schemas.microsoft.com/office/drawing/2014/main" id="{8D8152BD-E03A-4A5F-9EBD-8F74369C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4450"/>
            <a:ext cx="8229600" cy="523875"/>
          </a:xfrm>
        </p:spPr>
        <p:txBody>
          <a:bodyPr/>
          <a:lstStyle/>
          <a:p>
            <a:r>
              <a:rPr lang="zh-CN" altLang="en-US" dirty="0"/>
              <a:t>五、解决虚拟存储器的问题</a:t>
            </a:r>
            <a:r>
              <a:rPr lang="en-US" altLang="zh-CN" dirty="0"/>
              <a:t>      </a:t>
            </a:r>
            <a:r>
              <a:rPr lang="en-US" altLang="zh-CN" dirty="0">
                <a:solidFill>
                  <a:srgbClr val="FF6600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多级页表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1C3F32-7E11-45B7-B048-BD55B12FF4CF}"/>
              </a:ext>
            </a:extLst>
          </p:cNvPr>
          <p:cNvSpPr/>
          <p:nvPr/>
        </p:nvSpPr>
        <p:spPr>
          <a:xfrm>
            <a:off x="1060671" y="702002"/>
            <a:ext cx="19052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Radix-Tree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073EC0-AC11-4CDD-9AEC-524A104E4A7D}"/>
              </a:ext>
            </a:extLst>
          </p:cNvPr>
          <p:cNvSpPr/>
          <p:nvPr/>
        </p:nvSpPr>
        <p:spPr>
          <a:xfrm>
            <a:off x="4420075" y="6167045"/>
            <a:ext cx="3497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/>
              <a:t>页表的每行称为一个</a:t>
            </a:r>
            <a:r>
              <a:rPr lang="zh-CN" altLang="en-US" sz="2000" dirty="0">
                <a:solidFill>
                  <a:srgbClr val="FF0000"/>
                </a:solidFill>
              </a:rPr>
              <a:t>页表项</a:t>
            </a:r>
            <a:br>
              <a:rPr lang="en-US" altLang="zh-CN" sz="2000" dirty="0"/>
            </a:br>
            <a:r>
              <a:rPr lang="zh-CN" altLang="en-US" sz="2000" dirty="0"/>
              <a:t>（</a:t>
            </a:r>
            <a:r>
              <a:rPr lang="zh-CN" altLang="en-US" sz="2000" dirty="0">
                <a:solidFill>
                  <a:srgbClr val="FF0000"/>
                </a:solidFill>
              </a:rPr>
              <a:t>PTE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FF0000"/>
                </a:solidFill>
              </a:rPr>
              <a:t>P</a:t>
            </a:r>
            <a:r>
              <a:rPr lang="zh-CN" altLang="en-US" sz="2000" dirty="0"/>
              <a:t>age </a:t>
            </a:r>
            <a:r>
              <a:rPr lang="zh-CN" altLang="en-US" sz="2000" dirty="0">
                <a:solidFill>
                  <a:srgbClr val="FF0000"/>
                </a:solidFill>
              </a:rPr>
              <a:t>T</a:t>
            </a:r>
            <a:r>
              <a:rPr lang="zh-CN" altLang="en-US" sz="2000" dirty="0"/>
              <a:t>able </a:t>
            </a:r>
            <a:r>
              <a:rPr lang="zh-CN" altLang="en-US" sz="2000" dirty="0">
                <a:solidFill>
                  <a:srgbClr val="FF0000"/>
                </a:solidFill>
              </a:rPr>
              <a:t>E</a:t>
            </a:r>
            <a:r>
              <a:rPr lang="zh-CN" altLang="en-US" sz="2000" dirty="0"/>
              <a:t>ntry）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4149" grpId="0" animBg="1"/>
      <p:bldP spid="1664150" grpId="0" animBg="1"/>
      <p:bldP spid="166415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0C5E63-EBB9-4775-83A5-26F3866BFF99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166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620688"/>
            <a:ext cx="8713093" cy="6084912"/>
          </a:xfrm>
        </p:spPr>
        <p:txBody>
          <a:bodyPr/>
          <a:lstStyle/>
          <a:p>
            <a:pPr marL="355600" indent="-355600"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</a:rPr>
              <a:t>页表级数 </a:t>
            </a:r>
            <a:r>
              <a:rPr lang="en-US" altLang="zh-CN" i="1" dirty="0" err="1">
                <a:solidFill>
                  <a:srgbClr val="FF0000"/>
                </a:solidFill>
              </a:rPr>
              <a:t>i</a:t>
            </a:r>
            <a:r>
              <a:rPr lang="zh-CN" altLang="en-US" dirty="0"/>
              <a:t>，则：</a:t>
            </a:r>
            <a:r>
              <a:rPr lang="en-US" altLang="zh-CN" dirty="0"/>
              <a:t>(2</a:t>
            </a:r>
            <a:r>
              <a:rPr lang="en-US" altLang="zh-CN" baseline="50000" dirty="0"/>
              <a:t>P</a:t>
            </a:r>
            <a:r>
              <a:rPr lang="en-US" altLang="zh-CN" dirty="0"/>
              <a:t>/m)</a:t>
            </a:r>
            <a:r>
              <a:rPr lang="en-US" altLang="zh-CN" i="1" baseline="50000" dirty="0" err="1"/>
              <a:t>i</a:t>
            </a:r>
            <a:r>
              <a:rPr lang="en-US" altLang="zh-CN" baseline="30000" dirty="0"/>
              <a:t> 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r>
              <a:rPr lang="en-US" altLang="zh-CN" baseline="50000" dirty="0"/>
              <a:t>V</a:t>
            </a:r>
            <a:r>
              <a:rPr lang="zh-CN" altLang="en-US" dirty="0"/>
              <a:t>，</a:t>
            </a:r>
          </a:p>
          <a:p>
            <a:pPr marL="355600" indent="-355600">
              <a:buFont typeface="Wingdings" pitchFamily="2" charset="2"/>
              <a:buNone/>
            </a:pPr>
            <a:r>
              <a:rPr lang="zh-CN" altLang="en-US" dirty="0"/>
              <a:t>两边取以</a:t>
            </a:r>
            <a:r>
              <a:rPr lang="en-US" altLang="zh-CN" dirty="0"/>
              <a:t>2</a:t>
            </a:r>
            <a:r>
              <a:rPr lang="zh-CN" altLang="en-US" dirty="0"/>
              <a:t>为底的对数，得：</a:t>
            </a:r>
            <a:endParaRPr lang="en-US" altLang="zh-CN" dirty="0"/>
          </a:p>
          <a:p>
            <a:pPr marL="355600" indent="-355600">
              <a:buFont typeface="Wingdings" pitchFamily="2" charset="2"/>
              <a:buNone/>
            </a:pPr>
            <a:r>
              <a:rPr lang="en-US" altLang="zh-CN" i="1" dirty="0" err="1">
                <a:solidFill>
                  <a:srgbClr val="FF0000"/>
                </a:solidFill>
              </a:rPr>
              <a:t>i</a:t>
            </a:r>
            <a:r>
              <a:rPr lang="zh-CN" altLang="en-US" dirty="0"/>
              <a:t>＝</a:t>
            </a:r>
            <a:r>
              <a:rPr lang="en-US" altLang="zh-CN" dirty="0"/>
              <a:t>[log</a:t>
            </a:r>
            <a:r>
              <a:rPr lang="en-US" altLang="zh-CN" baseline="-25000" dirty="0"/>
              <a:t>2</a:t>
            </a:r>
            <a:r>
              <a:rPr lang="en-US" altLang="zh-CN" dirty="0"/>
              <a:t>2</a:t>
            </a:r>
            <a:r>
              <a:rPr lang="en-US" altLang="zh-CN" baseline="50000" dirty="0"/>
              <a:t>V</a:t>
            </a:r>
            <a:r>
              <a:rPr lang="en-US" altLang="zh-CN" dirty="0"/>
              <a:t>/(log</a:t>
            </a:r>
            <a:r>
              <a:rPr lang="en-US" altLang="zh-CN" baseline="-25000" dirty="0"/>
              <a:t>2</a:t>
            </a:r>
            <a:r>
              <a:rPr lang="en-US" altLang="zh-CN" dirty="0"/>
              <a:t>2</a:t>
            </a:r>
            <a:r>
              <a:rPr lang="en-US" altLang="zh-CN" baseline="50000" dirty="0"/>
              <a:t>P</a:t>
            </a:r>
            <a:r>
              <a:rPr lang="en-US" altLang="zh-CN" dirty="0"/>
              <a:t>-log</a:t>
            </a:r>
            <a:r>
              <a:rPr lang="en-US" altLang="zh-CN" baseline="-25000" dirty="0"/>
              <a:t>2</a:t>
            </a:r>
            <a:r>
              <a:rPr lang="en-US" altLang="zh-CN" dirty="0"/>
              <a:t>m)]</a:t>
            </a:r>
            <a:r>
              <a:rPr lang="zh-CN" altLang="en-US" dirty="0"/>
              <a:t>＝ </a:t>
            </a:r>
            <a:r>
              <a:rPr lang="en-US" altLang="zh-CN" dirty="0"/>
              <a:t>[V/(P-log</a:t>
            </a:r>
            <a:r>
              <a:rPr lang="en-US" altLang="zh-CN" baseline="-25000" dirty="0"/>
              <a:t>2</a:t>
            </a:r>
            <a:r>
              <a:rPr lang="en-US" altLang="zh-CN" dirty="0"/>
              <a:t>m)]</a:t>
            </a:r>
            <a:r>
              <a:rPr lang="zh-CN" altLang="en-US" dirty="0"/>
              <a:t>＝ </a:t>
            </a:r>
            <a:r>
              <a:rPr lang="en-US" altLang="zh-CN" dirty="0"/>
              <a:t>[V/(P-N</a:t>
            </a:r>
            <a:r>
              <a:rPr lang="en-US" altLang="zh-CN" i="1" baseline="-25000" dirty="0"/>
              <a:t>e</a:t>
            </a:r>
            <a:r>
              <a:rPr lang="en-US" altLang="zh-CN" dirty="0"/>
              <a:t>)]</a:t>
            </a:r>
            <a:endParaRPr lang="zh-CN" altLang="en-US" dirty="0"/>
          </a:p>
          <a:p>
            <a:pPr marL="355600" indent="-355600">
              <a:spcBef>
                <a:spcPts val="0"/>
              </a:spcBef>
              <a:buFont typeface="Wingdings" pitchFamily="2" charset="2"/>
              <a:buNone/>
            </a:pPr>
            <a:endParaRPr lang="en-US" altLang="zh-CN" dirty="0"/>
          </a:p>
          <a:p>
            <a:pPr marL="355600" indent="-355600">
              <a:spcBef>
                <a:spcPts val="0"/>
              </a:spcBef>
              <a:buFont typeface="Wingdings" pitchFamily="2" charset="2"/>
              <a:buNone/>
            </a:pPr>
            <a:endParaRPr lang="en-US" altLang="zh-CN" dirty="0"/>
          </a:p>
          <a:p>
            <a:pPr marL="355600" indent="-355600">
              <a:spcBef>
                <a:spcPts val="0"/>
              </a:spcBef>
              <a:buFont typeface="Wingdings" pitchFamily="2" charset="2"/>
              <a:buNone/>
            </a:pPr>
            <a:endParaRPr lang="en-US" altLang="zh-CN" dirty="0"/>
          </a:p>
          <a:p>
            <a:pPr marL="355600" indent="-355600">
              <a:spcBef>
                <a:spcPts val="0"/>
              </a:spcBef>
              <a:buFont typeface="Wingdings" pitchFamily="2" charset="2"/>
              <a:buNone/>
            </a:pPr>
            <a:endParaRPr lang="en-US" altLang="zh-CN" dirty="0"/>
          </a:p>
          <a:p>
            <a:pPr marL="355600" indent="-355600">
              <a:spcBef>
                <a:spcPts val="0"/>
              </a:spcBef>
              <a:buFont typeface="Wingdings" pitchFamily="2" charset="2"/>
              <a:buNone/>
            </a:pPr>
            <a:endParaRPr lang="en-US" altLang="zh-CN" dirty="0"/>
          </a:p>
          <a:p>
            <a:pPr marL="355600" indent="-355600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如果一个</a:t>
            </a:r>
            <a:r>
              <a:rPr lang="zh-CN" altLang="en-US" dirty="0">
                <a:solidFill>
                  <a:srgbClr val="0000FF"/>
                </a:solidFill>
              </a:rPr>
              <a:t>页式存储器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虚拟存储空间大小</a:t>
            </a:r>
            <a:r>
              <a:rPr lang="en-US" altLang="zh-CN" dirty="0"/>
              <a:t>N</a:t>
            </a:r>
            <a:r>
              <a:rPr lang="en-US" altLang="zh-CN" baseline="-25000" dirty="0"/>
              <a:t>V</a:t>
            </a:r>
            <a:r>
              <a:rPr lang="zh-CN" altLang="en-US" dirty="0"/>
              <a:t>＝</a:t>
            </a:r>
            <a:r>
              <a:rPr lang="en-US" altLang="zh-CN" dirty="0"/>
              <a:t>4GB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页面大小</a:t>
            </a:r>
            <a:r>
              <a:rPr lang="en-US" altLang="zh-CN" dirty="0"/>
              <a:t>N</a:t>
            </a:r>
            <a:r>
              <a:rPr lang="en-US" altLang="zh-CN" baseline="-25000" dirty="0"/>
              <a:t>P</a:t>
            </a:r>
            <a:r>
              <a:rPr lang="zh-CN" altLang="en-US" dirty="0"/>
              <a:t>＝</a:t>
            </a:r>
            <a:r>
              <a:rPr lang="en-US" altLang="zh-CN" dirty="0"/>
              <a:t>1KB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一个页表存储字的大小</a:t>
            </a:r>
            <a:r>
              <a:rPr lang="en-US" altLang="zh-CN" dirty="0"/>
              <a:t>B</a:t>
            </a:r>
            <a:r>
              <a:rPr lang="en-US" altLang="zh-CN" i="1" baseline="-25000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4B</a:t>
            </a:r>
            <a:r>
              <a:rPr lang="zh-CN" altLang="en-US" dirty="0"/>
              <a:t>，按</a:t>
            </a:r>
            <a:r>
              <a:rPr lang="zh-CN" altLang="en-US" dirty="0">
                <a:solidFill>
                  <a:srgbClr val="0000FF"/>
                </a:solidFill>
              </a:rPr>
              <a:t>字节</a:t>
            </a:r>
            <a:r>
              <a:rPr lang="zh-CN" altLang="en-US" dirty="0"/>
              <a:t>编址，则</a:t>
            </a:r>
            <a:r>
              <a:rPr lang="zh-CN" altLang="en-US" dirty="0">
                <a:solidFill>
                  <a:srgbClr val="FF0066"/>
                </a:solidFill>
              </a:rPr>
              <a:t>页表的级数</a:t>
            </a:r>
            <a:r>
              <a:rPr lang="zh-CN" altLang="en-US" dirty="0"/>
              <a:t>为：</a:t>
            </a:r>
          </a:p>
          <a:p>
            <a:pPr marL="355600" indent="-355600">
              <a:buFont typeface="Wingdings" pitchFamily="2" charset="2"/>
              <a:buNone/>
            </a:pPr>
            <a:r>
              <a:rPr lang="en-US" altLang="zh-CN" dirty="0" err="1">
                <a:solidFill>
                  <a:srgbClr val="FF3300"/>
                </a:solidFill>
              </a:rPr>
              <a:t>i</a:t>
            </a:r>
            <a:r>
              <a:rPr lang="zh-CN" altLang="en-US" dirty="0">
                <a:solidFill>
                  <a:srgbClr val="FF3300"/>
                </a:solidFill>
              </a:rPr>
              <a:t>＝</a:t>
            </a:r>
            <a:r>
              <a:rPr lang="en-US" altLang="zh-CN" dirty="0">
                <a:solidFill>
                  <a:srgbClr val="FF3300"/>
                </a:solidFill>
              </a:rPr>
              <a:t>[(32-10)/(10-2)]</a:t>
            </a:r>
            <a:r>
              <a:rPr lang="zh-CN" altLang="en-US" dirty="0">
                <a:solidFill>
                  <a:srgbClr val="FF3300"/>
                </a:solidFill>
              </a:rPr>
              <a:t>＝</a:t>
            </a:r>
            <a:r>
              <a:rPr lang="en-US" altLang="zh-CN" dirty="0">
                <a:solidFill>
                  <a:srgbClr val="FF3300"/>
                </a:solidFill>
              </a:rPr>
              <a:t>3</a:t>
            </a:r>
            <a:r>
              <a:rPr lang="zh-CN" altLang="en-US" dirty="0"/>
              <a:t>，即必须采用</a:t>
            </a:r>
            <a:r>
              <a:rPr lang="zh-CN" altLang="en-US" dirty="0">
                <a:solidFill>
                  <a:srgbClr val="FF0066"/>
                </a:solidFill>
              </a:rPr>
              <a:t>三级页表</a:t>
            </a:r>
            <a:r>
              <a:rPr lang="zh-CN" altLang="en-US" dirty="0"/>
              <a:t>。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65028" name="Text Box 4"/>
          <p:cNvSpPr txBox="1">
            <a:spLocks noChangeArrowheads="1"/>
          </p:cNvSpPr>
          <p:nvPr/>
        </p:nvSpPr>
        <p:spPr bwMode="auto">
          <a:xfrm>
            <a:off x="4427984" y="2195899"/>
            <a:ext cx="2232248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6600"/>
                </a:solidFill>
              </a:rPr>
              <a:t>虚页号的位数</a:t>
            </a:r>
          </a:p>
        </p:txBody>
      </p:sp>
      <p:sp>
        <p:nvSpPr>
          <p:cNvPr id="1665029" name="Text Box 5"/>
          <p:cNvSpPr txBox="1">
            <a:spLocks noChangeArrowheads="1"/>
          </p:cNvSpPr>
          <p:nvPr/>
        </p:nvSpPr>
        <p:spPr bwMode="auto">
          <a:xfrm>
            <a:off x="2060685" y="3978595"/>
            <a:ext cx="2376264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6600"/>
                </a:solidFill>
              </a:rPr>
              <a:t>页内偏移的位数</a:t>
            </a:r>
          </a:p>
        </p:txBody>
      </p:sp>
      <p:sp>
        <p:nvSpPr>
          <p:cNvPr id="1665030" name="Text Box 6"/>
          <p:cNvSpPr txBox="1">
            <a:spLocks noChangeArrowheads="1"/>
          </p:cNvSpPr>
          <p:nvPr/>
        </p:nvSpPr>
        <p:spPr bwMode="auto">
          <a:xfrm>
            <a:off x="4512408" y="3819083"/>
            <a:ext cx="4452202" cy="83099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 dirty="0">
                <a:solidFill>
                  <a:srgbClr val="FF6600"/>
                </a:solidFill>
              </a:rPr>
              <a:t>页表每一项需几位编址</a:t>
            </a:r>
            <a:endParaRPr lang="en-US" altLang="zh-CN" sz="2400" dirty="0">
              <a:solidFill>
                <a:srgbClr val="FF6600"/>
              </a:solidFill>
            </a:endParaRPr>
          </a:p>
          <a:p>
            <a:pPr algn="l">
              <a:spcBef>
                <a:spcPts val="0"/>
              </a:spcBef>
            </a:pPr>
            <a:r>
              <a:rPr lang="zh-CN" altLang="en-US" sz="2400" dirty="0">
                <a:solidFill>
                  <a:srgbClr val="FF6600"/>
                </a:solidFill>
              </a:rPr>
              <a:t>（每个</a:t>
            </a:r>
            <a:r>
              <a:rPr lang="en-US" altLang="zh-CN" sz="2400" dirty="0">
                <a:solidFill>
                  <a:srgbClr val="FF6600"/>
                </a:solidFill>
              </a:rPr>
              <a:t>PTE</a:t>
            </a:r>
            <a:r>
              <a:rPr lang="zh-CN" altLang="en-US" sz="2400" dirty="0">
                <a:solidFill>
                  <a:srgbClr val="FF6600"/>
                </a:solidFill>
              </a:rPr>
              <a:t>需要</a:t>
            </a:r>
            <a:r>
              <a:rPr lang="en-US" altLang="zh-CN" sz="2400" dirty="0">
                <a:solidFill>
                  <a:srgbClr val="FF6600"/>
                </a:solidFill>
              </a:rPr>
              <a:t>m</a:t>
            </a:r>
            <a:r>
              <a:rPr lang="zh-CN" altLang="en-US" sz="2400" dirty="0">
                <a:solidFill>
                  <a:srgbClr val="FF6600"/>
                </a:solidFill>
              </a:rPr>
              <a:t>个编址单元）</a:t>
            </a:r>
          </a:p>
        </p:txBody>
      </p:sp>
      <p:sp>
        <p:nvSpPr>
          <p:cNvPr id="1665031" name="Line 7"/>
          <p:cNvSpPr>
            <a:spLocks noChangeShapeType="1"/>
          </p:cNvSpPr>
          <p:nvPr/>
        </p:nvSpPr>
        <p:spPr bwMode="auto">
          <a:xfrm flipH="1" flipV="1">
            <a:off x="3995936" y="3774258"/>
            <a:ext cx="0" cy="269814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4AF9297-322B-48A6-9AA3-85FED438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五、解决虚拟存储器的问题</a:t>
            </a:r>
            <a:r>
              <a:rPr lang="en-US" altLang="zh-CN" dirty="0"/>
              <a:t>      </a:t>
            </a:r>
            <a:r>
              <a:rPr lang="en-US" altLang="zh-CN" dirty="0">
                <a:solidFill>
                  <a:srgbClr val="FF6600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多级页表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4C8ACC0-2ADC-4A6B-BB89-67FD5716C58B}"/>
                  </a:ext>
                </a:extLst>
              </p:cNvPr>
              <p:cNvSpPr/>
              <p:nvPr/>
            </p:nvSpPr>
            <p:spPr>
              <a:xfrm>
                <a:off x="1331640" y="2732718"/>
                <a:ext cx="4811574" cy="11880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3200"/>
                        <m:t>页表级数</m:t>
                      </m:r>
                      <m:r>
                        <m:rPr>
                          <m:nor/>
                        </m:rPr>
                        <a:rPr lang="zh-CN" altLang="en-US" sz="3200" i="1"/>
                        <m:t>i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 sz="3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3200" i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zh-CN" altLang="en-US" sz="3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func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4C8ACC0-2ADC-4A6B-BB89-67FD5716C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2732718"/>
                <a:ext cx="4811574" cy="11880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89D1D9E-6746-4F70-949F-B81DBA87C2A4}"/>
              </a:ext>
            </a:extLst>
          </p:cNvPr>
          <p:cNvCxnSpPr>
            <a:cxnSpLocks/>
          </p:cNvCxnSpPr>
          <p:nvPr/>
        </p:nvCxnSpPr>
        <p:spPr bwMode="auto">
          <a:xfrm>
            <a:off x="4633882" y="3809256"/>
            <a:ext cx="1117429" cy="0"/>
          </a:xfrm>
          <a:prstGeom prst="line">
            <a:avLst/>
          </a:prstGeom>
          <a:solidFill>
            <a:srgbClr val="FFFF99"/>
          </a:solidFill>
          <a:ln w="76200" cap="flat" cmpd="sng" algn="ctr">
            <a:solidFill>
              <a:srgbClr val="FF66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Line 7">
            <a:extLst>
              <a:ext uri="{FF2B5EF4-FFF2-40B4-BE49-F238E27FC236}">
                <a16:creationId xmlns:a16="http://schemas.microsoft.com/office/drawing/2014/main" id="{13C58F41-3F78-4815-A0A5-85596585D9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1067" y="2624706"/>
            <a:ext cx="72008" cy="203833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 type="triangle" w="med" len="lg"/>
            <a:tailEnd type="none" w="med" len="lg"/>
          </a:ln>
          <a:effectLst/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6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6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65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65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665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665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665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665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5028" grpId="0"/>
      <p:bldP spid="1665029" grpId="0"/>
      <p:bldP spid="1665030" grpId="0"/>
      <p:bldP spid="1665031" grpId="0" animBg="1"/>
      <p:bldP spid="4" grpId="0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60E477-11BB-48F7-A07A-2524A524BCCE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16660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1188" y="46038"/>
            <a:ext cx="1852612" cy="503237"/>
          </a:xfrm>
          <a:noFill/>
          <a:ln/>
        </p:spPr>
        <p:txBody>
          <a:bodyPr/>
          <a:lstStyle/>
          <a:p>
            <a:pPr marL="352425" indent="-352425">
              <a:buFont typeface="Wingdings" pitchFamily="2" charset="2"/>
              <a:buNone/>
            </a:pPr>
            <a:r>
              <a:rPr lang="zh-CN" altLang="en-US">
                <a:solidFill>
                  <a:srgbClr val="FF6600"/>
                </a:solidFill>
                <a:ea typeface="黑体" pitchFamily="49" charset="-122"/>
              </a:rPr>
              <a:t>多级页表</a:t>
            </a:r>
          </a:p>
        </p:txBody>
      </p:sp>
      <p:sp>
        <p:nvSpPr>
          <p:cNvPr id="1666051" name="Rectangle 3"/>
          <p:cNvSpPr>
            <a:spLocks noChangeArrowheads="1"/>
          </p:cNvSpPr>
          <p:nvPr/>
        </p:nvSpPr>
        <p:spPr bwMode="auto">
          <a:xfrm>
            <a:off x="538163" y="1700213"/>
            <a:ext cx="719137" cy="288925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66052" name="Group 4"/>
          <p:cNvGrpSpPr>
            <a:grpSpLocks/>
          </p:cNvGrpSpPr>
          <p:nvPr/>
        </p:nvGrpSpPr>
        <p:grpSpPr bwMode="auto">
          <a:xfrm>
            <a:off x="1763713" y="1773238"/>
            <a:ext cx="935037" cy="2447925"/>
            <a:chOff x="1429" y="1480"/>
            <a:chExt cx="589" cy="1542"/>
          </a:xfrm>
        </p:grpSpPr>
        <p:grpSp>
          <p:nvGrpSpPr>
            <p:cNvPr id="1666053" name="Group 5"/>
            <p:cNvGrpSpPr>
              <a:grpSpLocks/>
            </p:cNvGrpSpPr>
            <p:nvPr/>
          </p:nvGrpSpPr>
          <p:grpSpPr bwMode="auto">
            <a:xfrm>
              <a:off x="1429" y="1480"/>
              <a:ext cx="453" cy="362"/>
              <a:chOff x="1429" y="1480"/>
              <a:chExt cx="453" cy="362"/>
            </a:xfrm>
          </p:grpSpPr>
          <p:sp>
            <p:nvSpPr>
              <p:cNvPr id="1666054" name="Rectangle 6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55" name="Rectangle 7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56" name="Rectangle 8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57" name="Rectangle 9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058" name="Group 10"/>
            <p:cNvGrpSpPr>
              <a:grpSpLocks/>
            </p:cNvGrpSpPr>
            <p:nvPr/>
          </p:nvGrpSpPr>
          <p:grpSpPr bwMode="auto">
            <a:xfrm>
              <a:off x="1429" y="1842"/>
              <a:ext cx="453" cy="362"/>
              <a:chOff x="1429" y="1480"/>
              <a:chExt cx="453" cy="362"/>
            </a:xfrm>
          </p:grpSpPr>
          <p:sp>
            <p:nvSpPr>
              <p:cNvPr id="1666059" name="Rectangle 11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60" name="Rectangle 12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61" name="Rectangle 13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62" name="Rectangle 14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063" name="Group 15"/>
            <p:cNvGrpSpPr>
              <a:grpSpLocks/>
            </p:cNvGrpSpPr>
            <p:nvPr/>
          </p:nvGrpSpPr>
          <p:grpSpPr bwMode="auto">
            <a:xfrm>
              <a:off x="1429" y="2659"/>
              <a:ext cx="453" cy="362"/>
              <a:chOff x="1429" y="1480"/>
              <a:chExt cx="453" cy="362"/>
            </a:xfrm>
          </p:grpSpPr>
          <p:sp>
            <p:nvSpPr>
              <p:cNvPr id="1666064" name="Rectangle 16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65" name="Rectangle 17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66" name="Rectangle 18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67" name="Rectangle 19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068" name="Group 20"/>
            <p:cNvGrpSpPr>
              <a:grpSpLocks/>
            </p:cNvGrpSpPr>
            <p:nvPr/>
          </p:nvGrpSpPr>
          <p:grpSpPr bwMode="auto">
            <a:xfrm>
              <a:off x="1429" y="2205"/>
              <a:ext cx="453" cy="454"/>
              <a:chOff x="1429" y="2205"/>
              <a:chExt cx="453" cy="454"/>
            </a:xfrm>
          </p:grpSpPr>
          <p:sp>
            <p:nvSpPr>
              <p:cNvPr id="1666069" name="Rectangle 21"/>
              <p:cNvSpPr>
                <a:spLocks noChangeArrowheads="1"/>
              </p:cNvSpPr>
              <p:nvPr/>
            </p:nvSpPr>
            <p:spPr bwMode="auto">
              <a:xfrm>
                <a:off x="1429" y="2205"/>
                <a:ext cx="453" cy="454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70" name="Text Box 22"/>
              <p:cNvSpPr txBox="1">
                <a:spLocks noChangeArrowheads="1"/>
              </p:cNvSpPr>
              <p:nvPr/>
            </p:nvSpPr>
            <p:spPr bwMode="auto">
              <a:xfrm>
                <a:off x="1495" y="2205"/>
                <a:ext cx="308" cy="454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r>
                  <a:rPr lang="en-US" altLang="zh-CN" sz="2000" b="0">
                    <a:latin typeface="宋体"/>
                  </a:rPr>
                  <a:t>……</a:t>
                </a:r>
                <a:endParaRPr lang="en-US" altLang="zh-CN" sz="2000" b="0">
                  <a:latin typeface="Arial" pitchFamily="34" charset="0"/>
                </a:endParaRPr>
              </a:p>
            </p:txBody>
          </p:sp>
        </p:grpSp>
        <p:sp>
          <p:nvSpPr>
            <p:cNvPr id="1666071" name="AutoShape 23"/>
            <p:cNvSpPr>
              <a:spLocks/>
            </p:cNvSpPr>
            <p:nvPr/>
          </p:nvSpPr>
          <p:spPr bwMode="auto">
            <a:xfrm>
              <a:off x="1927" y="1480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6072" name="AutoShape 24"/>
            <p:cNvSpPr>
              <a:spLocks/>
            </p:cNvSpPr>
            <p:nvPr/>
          </p:nvSpPr>
          <p:spPr bwMode="auto">
            <a:xfrm>
              <a:off x="1927" y="1888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6073" name="AutoShape 25"/>
            <p:cNvSpPr>
              <a:spLocks/>
            </p:cNvSpPr>
            <p:nvPr/>
          </p:nvSpPr>
          <p:spPr bwMode="auto">
            <a:xfrm>
              <a:off x="1927" y="2659"/>
              <a:ext cx="91" cy="363"/>
            </a:xfrm>
            <a:prstGeom prst="rightBrace">
              <a:avLst>
                <a:gd name="adj1" fmla="val 3324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66074" name="Line 26"/>
          <p:cNvSpPr>
            <a:spLocks noChangeShapeType="1"/>
          </p:cNvSpPr>
          <p:nvPr/>
        </p:nvSpPr>
        <p:spPr bwMode="auto">
          <a:xfrm>
            <a:off x="1114425" y="1844675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66075" name="Group 27"/>
          <p:cNvGrpSpPr>
            <a:grpSpLocks/>
          </p:cNvGrpSpPr>
          <p:nvPr/>
        </p:nvGrpSpPr>
        <p:grpSpPr bwMode="auto">
          <a:xfrm>
            <a:off x="3706813" y="836613"/>
            <a:ext cx="935037" cy="2447925"/>
            <a:chOff x="1429" y="1480"/>
            <a:chExt cx="589" cy="1542"/>
          </a:xfrm>
        </p:grpSpPr>
        <p:grpSp>
          <p:nvGrpSpPr>
            <p:cNvPr id="1666076" name="Group 28"/>
            <p:cNvGrpSpPr>
              <a:grpSpLocks/>
            </p:cNvGrpSpPr>
            <p:nvPr/>
          </p:nvGrpSpPr>
          <p:grpSpPr bwMode="auto">
            <a:xfrm>
              <a:off x="1429" y="1480"/>
              <a:ext cx="453" cy="362"/>
              <a:chOff x="1429" y="1480"/>
              <a:chExt cx="453" cy="362"/>
            </a:xfrm>
          </p:grpSpPr>
          <p:sp>
            <p:nvSpPr>
              <p:cNvPr id="1666077" name="Rectangle 29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78" name="Rectangle 30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79" name="Rectangle 31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80" name="Rectangle 32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081" name="Group 33"/>
            <p:cNvGrpSpPr>
              <a:grpSpLocks/>
            </p:cNvGrpSpPr>
            <p:nvPr/>
          </p:nvGrpSpPr>
          <p:grpSpPr bwMode="auto">
            <a:xfrm>
              <a:off x="1429" y="1842"/>
              <a:ext cx="453" cy="362"/>
              <a:chOff x="1429" y="1480"/>
              <a:chExt cx="453" cy="362"/>
            </a:xfrm>
          </p:grpSpPr>
          <p:sp>
            <p:nvSpPr>
              <p:cNvPr id="1666082" name="Rectangle 34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83" name="Rectangle 35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84" name="Rectangle 36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85" name="Rectangle 37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086" name="Group 38"/>
            <p:cNvGrpSpPr>
              <a:grpSpLocks/>
            </p:cNvGrpSpPr>
            <p:nvPr/>
          </p:nvGrpSpPr>
          <p:grpSpPr bwMode="auto">
            <a:xfrm>
              <a:off x="1429" y="2659"/>
              <a:ext cx="453" cy="362"/>
              <a:chOff x="1429" y="1480"/>
              <a:chExt cx="453" cy="362"/>
            </a:xfrm>
          </p:grpSpPr>
          <p:sp>
            <p:nvSpPr>
              <p:cNvPr id="1666087" name="Rectangle 39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88" name="Rectangle 40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89" name="Rectangle 41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90" name="Rectangle 42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091" name="Group 43"/>
            <p:cNvGrpSpPr>
              <a:grpSpLocks/>
            </p:cNvGrpSpPr>
            <p:nvPr/>
          </p:nvGrpSpPr>
          <p:grpSpPr bwMode="auto">
            <a:xfrm>
              <a:off x="1429" y="2205"/>
              <a:ext cx="453" cy="454"/>
              <a:chOff x="1429" y="2205"/>
              <a:chExt cx="453" cy="454"/>
            </a:xfrm>
          </p:grpSpPr>
          <p:sp>
            <p:nvSpPr>
              <p:cNvPr id="1666092" name="Rectangle 44"/>
              <p:cNvSpPr>
                <a:spLocks noChangeArrowheads="1"/>
              </p:cNvSpPr>
              <p:nvPr/>
            </p:nvSpPr>
            <p:spPr bwMode="auto">
              <a:xfrm>
                <a:off x="1429" y="2205"/>
                <a:ext cx="453" cy="454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093" name="Text Box 45"/>
              <p:cNvSpPr txBox="1">
                <a:spLocks noChangeArrowheads="1"/>
              </p:cNvSpPr>
              <p:nvPr/>
            </p:nvSpPr>
            <p:spPr bwMode="auto">
              <a:xfrm>
                <a:off x="1495" y="2205"/>
                <a:ext cx="308" cy="454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r>
                  <a:rPr lang="en-US" altLang="zh-CN" sz="2000" b="0">
                    <a:latin typeface="宋体"/>
                  </a:rPr>
                  <a:t>……</a:t>
                </a:r>
                <a:endParaRPr lang="en-US" altLang="zh-CN" sz="2000" b="0">
                  <a:latin typeface="Arial" pitchFamily="34" charset="0"/>
                </a:endParaRPr>
              </a:p>
            </p:txBody>
          </p:sp>
        </p:grpSp>
        <p:sp>
          <p:nvSpPr>
            <p:cNvPr id="1666094" name="AutoShape 46"/>
            <p:cNvSpPr>
              <a:spLocks/>
            </p:cNvSpPr>
            <p:nvPr/>
          </p:nvSpPr>
          <p:spPr bwMode="auto">
            <a:xfrm>
              <a:off x="1927" y="1480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6095" name="AutoShape 47"/>
            <p:cNvSpPr>
              <a:spLocks/>
            </p:cNvSpPr>
            <p:nvPr/>
          </p:nvSpPr>
          <p:spPr bwMode="auto">
            <a:xfrm>
              <a:off x="1927" y="1888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6096" name="AutoShape 48"/>
            <p:cNvSpPr>
              <a:spLocks/>
            </p:cNvSpPr>
            <p:nvPr/>
          </p:nvSpPr>
          <p:spPr bwMode="auto">
            <a:xfrm>
              <a:off x="1927" y="2659"/>
              <a:ext cx="91" cy="363"/>
            </a:xfrm>
            <a:prstGeom prst="rightBrace">
              <a:avLst>
                <a:gd name="adj1" fmla="val 3324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66097" name="Group 49"/>
          <p:cNvGrpSpPr>
            <a:grpSpLocks/>
          </p:cNvGrpSpPr>
          <p:nvPr/>
        </p:nvGrpSpPr>
        <p:grpSpPr bwMode="auto">
          <a:xfrm>
            <a:off x="3708400" y="3573463"/>
            <a:ext cx="935038" cy="2447925"/>
            <a:chOff x="1429" y="1480"/>
            <a:chExt cx="589" cy="1542"/>
          </a:xfrm>
        </p:grpSpPr>
        <p:grpSp>
          <p:nvGrpSpPr>
            <p:cNvPr id="1666098" name="Group 50"/>
            <p:cNvGrpSpPr>
              <a:grpSpLocks/>
            </p:cNvGrpSpPr>
            <p:nvPr/>
          </p:nvGrpSpPr>
          <p:grpSpPr bwMode="auto">
            <a:xfrm>
              <a:off x="1429" y="1480"/>
              <a:ext cx="453" cy="362"/>
              <a:chOff x="1429" y="1480"/>
              <a:chExt cx="453" cy="362"/>
            </a:xfrm>
          </p:grpSpPr>
          <p:sp>
            <p:nvSpPr>
              <p:cNvPr id="1666099" name="Rectangle 51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00" name="Rectangle 52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01" name="Rectangle 53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02" name="Rectangle 54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103" name="Group 55"/>
            <p:cNvGrpSpPr>
              <a:grpSpLocks/>
            </p:cNvGrpSpPr>
            <p:nvPr/>
          </p:nvGrpSpPr>
          <p:grpSpPr bwMode="auto">
            <a:xfrm>
              <a:off x="1429" y="1842"/>
              <a:ext cx="453" cy="362"/>
              <a:chOff x="1429" y="1480"/>
              <a:chExt cx="453" cy="362"/>
            </a:xfrm>
          </p:grpSpPr>
          <p:sp>
            <p:nvSpPr>
              <p:cNvPr id="1666104" name="Rectangle 56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05" name="Rectangle 57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06" name="Rectangle 58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07" name="Rectangle 59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108" name="Group 60"/>
            <p:cNvGrpSpPr>
              <a:grpSpLocks/>
            </p:cNvGrpSpPr>
            <p:nvPr/>
          </p:nvGrpSpPr>
          <p:grpSpPr bwMode="auto">
            <a:xfrm>
              <a:off x="1429" y="2659"/>
              <a:ext cx="453" cy="362"/>
              <a:chOff x="1429" y="1480"/>
              <a:chExt cx="453" cy="362"/>
            </a:xfrm>
          </p:grpSpPr>
          <p:sp>
            <p:nvSpPr>
              <p:cNvPr id="1666109" name="Rectangle 61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10" name="Rectangle 62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11" name="Rectangle 63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12" name="Rectangle 64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113" name="Group 65"/>
            <p:cNvGrpSpPr>
              <a:grpSpLocks/>
            </p:cNvGrpSpPr>
            <p:nvPr/>
          </p:nvGrpSpPr>
          <p:grpSpPr bwMode="auto">
            <a:xfrm>
              <a:off x="1429" y="2205"/>
              <a:ext cx="453" cy="454"/>
              <a:chOff x="1429" y="2205"/>
              <a:chExt cx="453" cy="454"/>
            </a:xfrm>
          </p:grpSpPr>
          <p:sp>
            <p:nvSpPr>
              <p:cNvPr id="1666114" name="Rectangle 66"/>
              <p:cNvSpPr>
                <a:spLocks noChangeArrowheads="1"/>
              </p:cNvSpPr>
              <p:nvPr/>
            </p:nvSpPr>
            <p:spPr bwMode="auto">
              <a:xfrm>
                <a:off x="1429" y="2205"/>
                <a:ext cx="453" cy="454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15" name="Text Box 67"/>
              <p:cNvSpPr txBox="1">
                <a:spLocks noChangeArrowheads="1"/>
              </p:cNvSpPr>
              <p:nvPr/>
            </p:nvSpPr>
            <p:spPr bwMode="auto">
              <a:xfrm>
                <a:off x="1495" y="2205"/>
                <a:ext cx="308" cy="454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r>
                  <a:rPr lang="en-US" altLang="zh-CN" sz="2000" b="0">
                    <a:latin typeface="宋体"/>
                  </a:rPr>
                  <a:t>……</a:t>
                </a:r>
                <a:endParaRPr lang="en-US" altLang="zh-CN" sz="2000" b="0">
                  <a:latin typeface="Arial" pitchFamily="34" charset="0"/>
                </a:endParaRPr>
              </a:p>
            </p:txBody>
          </p:sp>
        </p:grpSp>
        <p:sp>
          <p:nvSpPr>
            <p:cNvPr id="1666116" name="AutoShape 68"/>
            <p:cNvSpPr>
              <a:spLocks/>
            </p:cNvSpPr>
            <p:nvPr/>
          </p:nvSpPr>
          <p:spPr bwMode="auto">
            <a:xfrm>
              <a:off x="1927" y="1480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6117" name="AutoShape 69"/>
            <p:cNvSpPr>
              <a:spLocks/>
            </p:cNvSpPr>
            <p:nvPr/>
          </p:nvSpPr>
          <p:spPr bwMode="auto">
            <a:xfrm>
              <a:off x="1927" y="1888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6118" name="AutoShape 70"/>
            <p:cNvSpPr>
              <a:spLocks/>
            </p:cNvSpPr>
            <p:nvPr/>
          </p:nvSpPr>
          <p:spPr bwMode="auto">
            <a:xfrm>
              <a:off x="1927" y="2659"/>
              <a:ext cx="91" cy="363"/>
            </a:xfrm>
            <a:prstGeom prst="rightBrace">
              <a:avLst>
                <a:gd name="adj1" fmla="val 3324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66119" name="Group 71"/>
          <p:cNvGrpSpPr>
            <a:grpSpLocks/>
          </p:cNvGrpSpPr>
          <p:nvPr/>
        </p:nvGrpSpPr>
        <p:grpSpPr bwMode="auto">
          <a:xfrm>
            <a:off x="5651500" y="836613"/>
            <a:ext cx="935038" cy="2447925"/>
            <a:chOff x="1429" y="1480"/>
            <a:chExt cx="589" cy="1542"/>
          </a:xfrm>
        </p:grpSpPr>
        <p:grpSp>
          <p:nvGrpSpPr>
            <p:cNvPr id="1666120" name="Group 72"/>
            <p:cNvGrpSpPr>
              <a:grpSpLocks/>
            </p:cNvGrpSpPr>
            <p:nvPr/>
          </p:nvGrpSpPr>
          <p:grpSpPr bwMode="auto">
            <a:xfrm>
              <a:off x="1429" y="1480"/>
              <a:ext cx="453" cy="362"/>
              <a:chOff x="1429" y="1480"/>
              <a:chExt cx="453" cy="362"/>
            </a:xfrm>
          </p:grpSpPr>
          <p:sp>
            <p:nvSpPr>
              <p:cNvPr id="1666121" name="Rectangle 73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22" name="Rectangle 74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23" name="Rectangle 75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24" name="Rectangle 76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66FF33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125" name="Group 77"/>
            <p:cNvGrpSpPr>
              <a:grpSpLocks/>
            </p:cNvGrpSpPr>
            <p:nvPr/>
          </p:nvGrpSpPr>
          <p:grpSpPr bwMode="auto">
            <a:xfrm>
              <a:off x="1429" y="1842"/>
              <a:ext cx="453" cy="362"/>
              <a:chOff x="1429" y="1480"/>
              <a:chExt cx="453" cy="362"/>
            </a:xfrm>
          </p:grpSpPr>
          <p:sp>
            <p:nvSpPr>
              <p:cNvPr id="1666126" name="Rectangle 78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27" name="Rectangle 79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28" name="Rectangle 80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29" name="Rectangle 81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0000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130" name="Group 82"/>
            <p:cNvGrpSpPr>
              <a:grpSpLocks/>
            </p:cNvGrpSpPr>
            <p:nvPr/>
          </p:nvGrpSpPr>
          <p:grpSpPr bwMode="auto">
            <a:xfrm>
              <a:off x="1429" y="2659"/>
              <a:ext cx="453" cy="362"/>
              <a:chOff x="1429" y="1480"/>
              <a:chExt cx="453" cy="362"/>
            </a:xfrm>
          </p:grpSpPr>
          <p:sp>
            <p:nvSpPr>
              <p:cNvPr id="1666131" name="Rectangle 83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32" name="Rectangle 84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33" name="Rectangle 85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34" name="Rectangle 86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solidFill>
                <a:srgbClr val="FF33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135" name="Group 87"/>
            <p:cNvGrpSpPr>
              <a:grpSpLocks/>
            </p:cNvGrpSpPr>
            <p:nvPr/>
          </p:nvGrpSpPr>
          <p:grpSpPr bwMode="auto">
            <a:xfrm>
              <a:off x="1429" y="2205"/>
              <a:ext cx="453" cy="454"/>
              <a:chOff x="1429" y="2205"/>
              <a:chExt cx="453" cy="454"/>
            </a:xfrm>
          </p:grpSpPr>
          <p:sp>
            <p:nvSpPr>
              <p:cNvPr id="1666136" name="Rectangle 88"/>
              <p:cNvSpPr>
                <a:spLocks noChangeArrowheads="1"/>
              </p:cNvSpPr>
              <p:nvPr/>
            </p:nvSpPr>
            <p:spPr bwMode="auto">
              <a:xfrm>
                <a:off x="1429" y="2205"/>
                <a:ext cx="453" cy="454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37" name="Text Box 89"/>
              <p:cNvSpPr txBox="1">
                <a:spLocks noChangeArrowheads="1"/>
              </p:cNvSpPr>
              <p:nvPr/>
            </p:nvSpPr>
            <p:spPr bwMode="auto">
              <a:xfrm>
                <a:off x="1495" y="2205"/>
                <a:ext cx="308" cy="454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r>
                  <a:rPr lang="en-US" altLang="zh-CN" sz="2000" b="0">
                    <a:latin typeface="宋体"/>
                  </a:rPr>
                  <a:t>……</a:t>
                </a:r>
                <a:endParaRPr lang="en-US" altLang="zh-CN" sz="2000" b="0">
                  <a:latin typeface="Arial" pitchFamily="34" charset="0"/>
                </a:endParaRPr>
              </a:p>
            </p:txBody>
          </p:sp>
        </p:grpSp>
        <p:sp>
          <p:nvSpPr>
            <p:cNvPr id="1666138" name="AutoShape 90"/>
            <p:cNvSpPr>
              <a:spLocks/>
            </p:cNvSpPr>
            <p:nvPr/>
          </p:nvSpPr>
          <p:spPr bwMode="auto">
            <a:xfrm>
              <a:off x="1927" y="1480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6139" name="AutoShape 91"/>
            <p:cNvSpPr>
              <a:spLocks/>
            </p:cNvSpPr>
            <p:nvPr/>
          </p:nvSpPr>
          <p:spPr bwMode="auto">
            <a:xfrm>
              <a:off x="1927" y="1888"/>
              <a:ext cx="91" cy="317"/>
            </a:xfrm>
            <a:prstGeom prst="rightBrace">
              <a:avLst>
                <a:gd name="adj1" fmla="val 290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6140" name="AutoShape 92"/>
            <p:cNvSpPr>
              <a:spLocks/>
            </p:cNvSpPr>
            <p:nvPr/>
          </p:nvSpPr>
          <p:spPr bwMode="auto">
            <a:xfrm>
              <a:off x="1927" y="2659"/>
              <a:ext cx="91" cy="363"/>
            </a:xfrm>
            <a:prstGeom prst="rightBrace">
              <a:avLst>
                <a:gd name="adj1" fmla="val 3324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66141" name="Line 93"/>
          <p:cNvSpPr>
            <a:spLocks noChangeShapeType="1"/>
          </p:cNvSpPr>
          <p:nvPr/>
        </p:nvSpPr>
        <p:spPr bwMode="auto">
          <a:xfrm flipV="1">
            <a:off x="2700338" y="908050"/>
            <a:ext cx="935037" cy="1081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42" name="Line 94"/>
          <p:cNvSpPr>
            <a:spLocks noChangeShapeType="1"/>
          </p:cNvSpPr>
          <p:nvPr/>
        </p:nvSpPr>
        <p:spPr bwMode="auto">
          <a:xfrm>
            <a:off x="2700338" y="2708275"/>
            <a:ext cx="1008062" cy="8651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43" name="Freeform 95"/>
          <p:cNvSpPr>
            <a:spLocks/>
          </p:cNvSpPr>
          <p:nvPr/>
        </p:nvSpPr>
        <p:spPr bwMode="auto">
          <a:xfrm>
            <a:off x="2771775" y="3932238"/>
            <a:ext cx="863600" cy="2665412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181" y="227"/>
              </a:cxn>
              <a:cxn ang="0">
                <a:pos x="317" y="1361"/>
              </a:cxn>
              <a:cxn ang="0">
                <a:pos x="589" y="1679"/>
              </a:cxn>
            </a:cxnLst>
            <a:rect l="0" t="0" r="r" b="b"/>
            <a:pathLst>
              <a:path w="589" h="1679">
                <a:moveTo>
                  <a:pt x="0" y="1"/>
                </a:moveTo>
                <a:cubicBezTo>
                  <a:pt x="64" y="0"/>
                  <a:pt x="128" y="0"/>
                  <a:pt x="181" y="227"/>
                </a:cubicBezTo>
                <a:cubicBezTo>
                  <a:pt x="234" y="454"/>
                  <a:pt x="249" y="1119"/>
                  <a:pt x="317" y="1361"/>
                </a:cubicBezTo>
                <a:cubicBezTo>
                  <a:pt x="385" y="1603"/>
                  <a:pt x="487" y="1641"/>
                  <a:pt x="589" y="167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44" name="Text Box 96"/>
          <p:cNvSpPr txBox="1">
            <a:spLocks noChangeArrowheads="1"/>
          </p:cNvSpPr>
          <p:nvPr/>
        </p:nvSpPr>
        <p:spPr bwMode="auto">
          <a:xfrm>
            <a:off x="3563938" y="6092825"/>
            <a:ext cx="9366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 b="0">
                <a:latin typeface="宋体"/>
              </a:rPr>
              <a:t>……</a:t>
            </a:r>
            <a:endParaRPr lang="zh-CN" altLang="en-US" sz="1800" b="0">
              <a:latin typeface="Arial" pitchFamily="34" charset="0"/>
            </a:endParaRPr>
          </a:p>
        </p:txBody>
      </p:sp>
      <p:sp>
        <p:nvSpPr>
          <p:cNvPr id="1666145" name="Line 97"/>
          <p:cNvSpPr>
            <a:spLocks noChangeShapeType="1"/>
          </p:cNvSpPr>
          <p:nvPr/>
        </p:nvSpPr>
        <p:spPr bwMode="auto">
          <a:xfrm flipV="1">
            <a:off x="4716463" y="836613"/>
            <a:ext cx="935037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46" name="Freeform 98"/>
          <p:cNvSpPr>
            <a:spLocks/>
          </p:cNvSpPr>
          <p:nvPr/>
        </p:nvSpPr>
        <p:spPr bwMode="auto">
          <a:xfrm>
            <a:off x="4716463" y="1773238"/>
            <a:ext cx="935037" cy="18716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09" y="318"/>
              </a:cxn>
              <a:cxn ang="0">
                <a:pos x="499" y="1044"/>
              </a:cxn>
              <a:cxn ang="0">
                <a:pos x="681" y="1225"/>
              </a:cxn>
            </a:cxnLst>
            <a:rect l="0" t="0" r="r" b="b"/>
            <a:pathLst>
              <a:path w="681" h="1225">
                <a:moveTo>
                  <a:pt x="0" y="0"/>
                </a:moveTo>
                <a:cubicBezTo>
                  <a:pt x="163" y="72"/>
                  <a:pt x="326" y="144"/>
                  <a:pt x="409" y="318"/>
                </a:cubicBezTo>
                <a:cubicBezTo>
                  <a:pt x="492" y="492"/>
                  <a:pt x="454" y="893"/>
                  <a:pt x="499" y="1044"/>
                </a:cubicBezTo>
                <a:cubicBezTo>
                  <a:pt x="544" y="1195"/>
                  <a:pt x="643" y="1195"/>
                  <a:pt x="681" y="1225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47" name="Freeform 99"/>
          <p:cNvSpPr>
            <a:spLocks/>
          </p:cNvSpPr>
          <p:nvPr/>
        </p:nvSpPr>
        <p:spPr bwMode="auto">
          <a:xfrm>
            <a:off x="4716463" y="2997200"/>
            <a:ext cx="935037" cy="9366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2" y="136"/>
              </a:cxn>
              <a:cxn ang="0">
                <a:pos x="408" y="453"/>
              </a:cxn>
              <a:cxn ang="0">
                <a:pos x="635" y="590"/>
              </a:cxn>
            </a:cxnLst>
            <a:rect l="0" t="0" r="r" b="b"/>
            <a:pathLst>
              <a:path w="635" h="590">
                <a:moveTo>
                  <a:pt x="0" y="0"/>
                </a:moveTo>
                <a:cubicBezTo>
                  <a:pt x="102" y="30"/>
                  <a:pt x="204" y="61"/>
                  <a:pt x="272" y="136"/>
                </a:cubicBezTo>
                <a:cubicBezTo>
                  <a:pt x="340" y="211"/>
                  <a:pt x="348" y="377"/>
                  <a:pt x="408" y="453"/>
                </a:cubicBezTo>
                <a:cubicBezTo>
                  <a:pt x="468" y="529"/>
                  <a:pt x="551" y="559"/>
                  <a:pt x="635" y="59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48" name="Line 100"/>
          <p:cNvSpPr>
            <a:spLocks noChangeShapeType="1"/>
          </p:cNvSpPr>
          <p:nvPr/>
        </p:nvSpPr>
        <p:spPr bwMode="auto">
          <a:xfrm>
            <a:off x="4716463" y="3860800"/>
            <a:ext cx="935037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49" name="Line 101"/>
          <p:cNvSpPr>
            <a:spLocks noChangeShapeType="1"/>
          </p:cNvSpPr>
          <p:nvPr/>
        </p:nvSpPr>
        <p:spPr bwMode="auto">
          <a:xfrm>
            <a:off x="4643438" y="4437063"/>
            <a:ext cx="10080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50" name="Line 102"/>
          <p:cNvSpPr>
            <a:spLocks noChangeShapeType="1"/>
          </p:cNvSpPr>
          <p:nvPr/>
        </p:nvSpPr>
        <p:spPr bwMode="auto">
          <a:xfrm>
            <a:off x="4716463" y="5734050"/>
            <a:ext cx="935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51" name="Line 103"/>
          <p:cNvSpPr>
            <a:spLocks noChangeShapeType="1"/>
          </p:cNvSpPr>
          <p:nvPr/>
        </p:nvSpPr>
        <p:spPr bwMode="auto">
          <a:xfrm flipV="1">
            <a:off x="6011863" y="3429000"/>
            <a:ext cx="0" cy="2592388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66152" name="Group 104"/>
          <p:cNvGrpSpPr>
            <a:grpSpLocks/>
          </p:cNvGrpSpPr>
          <p:nvPr/>
        </p:nvGrpSpPr>
        <p:grpSpPr bwMode="auto">
          <a:xfrm>
            <a:off x="7740650" y="836613"/>
            <a:ext cx="719138" cy="2446337"/>
            <a:chOff x="4558" y="527"/>
            <a:chExt cx="453" cy="1541"/>
          </a:xfrm>
        </p:grpSpPr>
        <p:grpSp>
          <p:nvGrpSpPr>
            <p:cNvPr id="1666153" name="Group 105"/>
            <p:cNvGrpSpPr>
              <a:grpSpLocks/>
            </p:cNvGrpSpPr>
            <p:nvPr/>
          </p:nvGrpSpPr>
          <p:grpSpPr bwMode="auto">
            <a:xfrm>
              <a:off x="4558" y="527"/>
              <a:ext cx="453" cy="362"/>
              <a:chOff x="1429" y="1480"/>
              <a:chExt cx="453" cy="362"/>
            </a:xfrm>
          </p:grpSpPr>
          <p:sp>
            <p:nvSpPr>
              <p:cNvPr id="1666154" name="Rectangle 106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55" name="Rectangle 107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56" name="Rectangle 108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57" name="Rectangle 109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158" name="Group 110"/>
            <p:cNvGrpSpPr>
              <a:grpSpLocks/>
            </p:cNvGrpSpPr>
            <p:nvPr/>
          </p:nvGrpSpPr>
          <p:grpSpPr bwMode="auto">
            <a:xfrm>
              <a:off x="4558" y="889"/>
              <a:ext cx="453" cy="362"/>
              <a:chOff x="1429" y="1480"/>
              <a:chExt cx="453" cy="362"/>
            </a:xfrm>
          </p:grpSpPr>
          <p:sp>
            <p:nvSpPr>
              <p:cNvPr id="1666159" name="Rectangle 111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60" name="Rectangle 112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61" name="Rectangle 113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62" name="Rectangle 114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163" name="Group 115"/>
            <p:cNvGrpSpPr>
              <a:grpSpLocks/>
            </p:cNvGrpSpPr>
            <p:nvPr/>
          </p:nvGrpSpPr>
          <p:grpSpPr bwMode="auto">
            <a:xfrm>
              <a:off x="4558" y="1706"/>
              <a:ext cx="453" cy="362"/>
              <a:chOff x="1429" y="1480"/>
              <a:chExt cx="453" cy="362"/>
            </a:xfrm>
          </p:grpSpPr>
          <p:sp>
            <p:nvSpPr>
              <p:cNvPr id="1666164" name="Rectangle 116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65" name="Rectangle 117"/>
              <p:cNvSpPr>
                <a:spLocks noChangeArrowheads="1"/>
              </p:cNvSpPr>
              <p:nvPr/>
            </p:nvSpPr>
            <p:spPr bwMode="auto">
              <a:xfrm>
                <a:off x="1429" y="1570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66" name="Rectangle 118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67" name="Rectangle 119"/>
              <p:cNvSpPr>
                <a:spLocks noChangeArrowheads="1"/>
              </p:cNvSpPr>
              <p:nvPr/>
            </p:nvSpPr>
            <p:spPr bwMode="auto">
              <a:xfrm>
                <a:off x="1429" y="1752"/>
                <a:ext cx="453" cy="9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6168" name="Group 120"/>
            <p:cNvGrpSpPr>
              <a:grpSpLocks/>
            </p:cNvGrpSpPr>
            <p:nvPr/>
          </p:nvGrpSpPr>
          <p:grpSpPr bwMode="auto">
            <a:xfrm>
              <a:off x="4558" y="1252"/>
              <a:ext cx="453" cy="454"/>
              <a:chOff x="1429" y="2205"/>
              <a:chExt cx="453" cy="454"/>
            </a:xfrm>
          </p:grpSpPr>
          <p:sp>
            <p:nvSpPr>
              <p:cNvPr id="1666169" name="Rectangle 121"/>
              <p:cNvSpPr>
                <a:spLocks noChangeArrowheads="1"/>
              </p:cNvSpPr>
              <p:nvPr/>
            </p:nvSpPr>
            <p:spPr bwMode="auto">
              <a:xfrm>
                <a:off x="1429" y="2205"/>
                <a:ext cx="453" cy="454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6170" name="Text Box 122"/>
              <p:cNvSpPr txBox="1">
                <a:spLocks noChangeArrowheads="1"/>
              </p:cNvSpPr>
              <p:nvPr/>
            </p:nvSpPr>
            <p:spPr bwMode="auto">
              <a:xfrm>
                <a:off x="1495" y="2205"/>
                <a:ext cx="308" cy="454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r>
                  <a:rPr lang="en-US" altLang="zh-CN" sz="2000" b="0">
                    <a:latin typeface="宋体"/>
                  </a:rPr>
                  <a:t>……</a:t>
                </a:r>
                <a:endParaRPr lang="en-US" altLang="zh-CN" sz="2000" b="0">
                  <a:latin typeface="Arial" pitchFamily="34" charset="0"/>
                </a:endParaRPr>
              </a:p>
            </p:txBody>
          </p:sp>
        </p:grpSp>
      </p:grpSp>
      <p:sp>
        <p:nvSpPr>
          <p:cNvPr id="1666171" name="Line 123"/>
          <p:cNvSpPr>
            <a:spLocks noChangeShapeType="1"/>
          </p:cNvSpPr>
          <p:nvPr/>
        </p:nvSpPr>
        <p:spPr bwMode="auto">
          <a:xfrm flipV="1">
            <a:off x="6659563" y="908050"/>
            <a:ext cx="1008062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72" name="Text Box 124"/>
          <p:cNvSpPr txBox="1">
            <a:spLocks noChangeAspect="1" noChangeArrowheads="1"/>
          </p:cNvSpPr>
          <p:nvPr/>
        </p:nvSpPr>
        <p:spPr bwMode="auto">
          <a:xfrm>
            <a:off x="252413" y="1953185"/>
            <a:ext cx="1223962" cy="707886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段表基址</a:t>
            </a:r>
          </a:p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寄存器</a:t>
            </a:r>
          </a:p>
        </p:txBody>
      </p:sp>
      <p:sp>
        <p:nvSpPr>
          <p:cNvPr id="1666173" name="Text Box 125"/>
          <p:cNvSpPr txBox="1">
            <a:spLocks noChangeAspect="1" noChangeArrowheads="1"/>
          </p:cNvSpPr>
          <p:nvPr/>
        </p:nvSpPr>
        <p:spPr bwMode="auto">
          <a:xfrm>
            <a:off x="3203575" y="132508"/>
            <a:ext cx="1655763" cy="707886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第二级页表（</a:t>
            </a:r>
            <a:r>
              <a:rPr kumimoji="1" lang="en-US" altLang="zh-CN" sz="2000" dirty="0">
                <a:solidFill>
                  <a:srgbClr val="0000FF"/>
                </a:solidFill>
                <a:latin typeface="+mn-lt"/>
              </a:rPr>
              <a:t>64</a:t>
            </a: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个页面）</a:t>
            </a:r>
          </a:p>
        </p:txBody>
      </p:sp>
      <p:sp>
        <p:nvSpPr>
          <p:cNvPr id="1666174" name="Text Box 126"/>
          <p:cNvSpPr txBox="1">
            <a:spLocks noChangeAspect="1" noChangeArrowheads="1"/>
          </p:cNvSpPr>
          <p:nvPr/>
        </p:nvSpPr>
        <p:spPr bwMode="auto">
          <a:xfrm>
            <a:off x="1404938" y="1062783"/>
            <a:ext cx="1511300" cy="707886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第一级页表</a:t>
            </a:r>
          </a:p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（</a:t>
            </a:r>
            <a:r>
              <a:rPr kumimoji="1" lang="en-US" altLang="zh-CN" sz="2000" dirty="0">
                <a:solidFill>
                  <a:srgbClr val="0000FF"/>
                </a:solidFill>
                <a:latin typeface="+mn-lt"/>
              </a:rPr>
              <a:t>1</a:t>
            </a: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个页面）</a:t>
            </a:r>
          </a:p>
        </p:txBody>
      </p:sp>
      <p:sp>
        <p:nvSpPr>
          <p:cNvPr id="1666175" name="Text Box 127"/>
          <p:cNvSpPr txBox="1">
            <a:spLocks noChangeAspect="1" noChangeArrowheads="1"/>
          </p:cNvSpPr>
          <p:nvPr/>
        </p:nvSpPr>
        <p:spPr bwMode="auto">
          <a:xfrm>
            <a:off x="5075238" y="119808"/>
            <a:ext cx="1873250" cy="707886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第三级页表</a:t>
            </a:r>
          </a:p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（</a:t>
            </a:r>
            <a:r>
              <a:rPr kumimoji="1" lang="en-US" altLang="zh-CN" sz="2000" dirty="0">
                <a:solidFill>
                  <a:srgbClr val="0000FF"/>
                </a:solidFill>
                <a:latin typeface="+mn-lt"/>
              </a:rPr>
              <a:t>16K</a:t>
            </a: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个页面）</a:t>
            </a:r>
          </a:p>
        </p:txBody>
      </p:sp>
      <p:sp>
        <p:nvSpPr>
          <p:cNvPr id="1666176" name="Line 128"/>
          <p:cNvSpPr>
            <a:spLocks noChangeShapeType="1"/>
          </p:cNvSpPr>
          <p:nvPr/>
        </p:nvSpPr>
        <p:spPr bwMode="auto">
          <a:xfrm flipV="1">
            <a:off x="8101013" y="3429000"/>
            <a:ext cx="0" cy="2592388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77" name="Text Box 129"/>
          <p:cNvSpPr txBox="1">
            <a:spLocks noChangeAspect="1" noChangeArrowheads="1"/>
          </p:cNvSpPr>
          <p:nvPr/>
        </p:nvSpPr>
        <p:spPr bwMode="auto">
          <a:xfrm>
            <a:off x="6877050" y="126158"/>
            <a:ext cx="2159000" cy="707886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主存实页</a:t>
            </a:r>
          </a:p>
          <a:p>
            <a:pPr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（小于</a:t>
            </a:r>
            <a:r>
              <a:rPr kumimoji="1" lang="en-US" altLang="zh-CN" sz="2000" dirty="0">
                <a:solidFill>
                  <a:srgbClr val="0000FF"/>
                </a:solidFill>
                <a:latin typeface="+mn-lt"/>
              </a:rPr>
              <a:t>4M</a:t>
            </a:r>
            <a:r>
              <a:rPr kumimoji="1" lang="zh-CN" altLang="en-US" sz="2000" dirty="0">
                <a:solidFill>
                  <a:srgbClr val="0000FF"/>
                </a:solidFill>
                <a:latin typeface="+mn-lt"/>
              </a:rPr>
              <a:t>个页面）</a:t>
            </a:r>
          </a:p>
        </p:txBody>
      </p:sp>
      <p:sp>
        <p:nvSpPr>
          <p:cNvPr id="1666178" name="Freeform 130"/>
          <p:cNvSpPr>
            <a:spLocks/>
          </p:cNvSpPr>
          <p:nvPr/>
        </p:nvSpPr>
        <p:spPr bwMode="auto">
          <a:xfrm>
            <a:off x="6659563" y="1773238"/>
            <a:ext cx="935037" cy="18716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09" y="318"/>
              </a:cxn>
              <a:cxn ang="0">
                <a:pos x="499" y="1044"/>
              </a:cxn>
              <a:cxn ang="0">
                <a:pos x="681" y="1225"/>
              </a:cxn>
            </a:cxnLst>
            <a:rect l="0" t="0" r="r" b="b"/>
            <a:pathLst>
              <a:path w="681" h="1225">
                <a:moveTo>
                  <a:pt x="0" y="0"/>
                </a:moveTo>
                <a:cubicBezTo>
                  <a:pt x="163" y="72"/>
                  <a:pt x="326" y="144"/>
                  <a:pt x="409" y="318"/>
                </a:cubicBezTo>
                <a:cubicBezTo>
                  <a:pt x="492" y="492"/>
                  <a:pt x="454" y="893"/>
                  <a:pt x="499" y="1044"/>
                </a:cubicBezTo>
                <a:cubicBezTo>
                  <a:pt x="544" y="1195"/>
                  <a:pt x="643" y="1195"/>
                  <a:pt x="681" y="1225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79" name="Freeform 131"/>
          <p:cNvSpPr>
            <a:spLocks/>
          </p:cNvSpPr>
          <p:nvPr/>
        </p:nvSpPr>
        <p:spPr bwMode="auto">
          <a:xfrm>
            <a:off x="6659563" y="2997200"/>
            <a:ext cx="935037" cy="9366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2" y="136"/>
              </a:cxn>
              <a:cxn ang="0">
                <a:pos x="408" y="453"/>
              </a:cxn>
              <a:cxn ang="0">
                <a:pos x="635" y="590"/>
              </a:cxn>
            </a:cxnLst>
            <a:rect l="0" t="0" r="r" b="b"/>
            <a:pathLst>
              <a:path w="635" h="590">
                <a:moveTo>
                  <a:pt x="0" y="0"/>
                </a:moveTo>
                <a:cubicBezTo>
                  <a:pt x="102" y="30"/>
                  <a:pt x="204" y="61"/>
                  <a:pt x="272" y="136"/>
                </a:cubicBezTo>
                <a:cubicBezTo>
                  <a:pt x="340" y="211"/>
                  <a:pt x="348" y="377"/>
                  <a:pt x="408" y="453"/>
                </a:cubicBezTo>
                <a:cubicBezTo>
                  <a:pt x="468" y="529"/>
                  <a:pt x="551" y="559"/>
                  <a:pt x="635" y="59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80" name="Rectangle 132"/>
          <p:cNvSpPr>
            <a:spLocks noChangeArrowheads="1"/>
          </p:cNvSpPr>
          <p:nvPr/>
        </p:nvSpPr>
        <p:spPr bwMode="auto">
          <a:xfrm>
            <a:off x="466725" y="5667375"/>
            <a:ext cx="1152525" cy="360363"/>
          </a:xfrm>
          <a:prstGeom prst="rect">
            <a:avLst/>
          </a:prstGeom>
          <a:solidFill>
            <a:srgbClr val="FFFF99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81" name="Rectangle 133"/>
          <p:cNvSpPr>
            <a:spLocks noChangeArrowheads="1"/>
          </p:cNvSpPr>
          <p:nvPr/>
        </p:nvSpPr>
        <p:spPr bwMode="auto">
          <a:xfrm>
            <a:off x="1619250" y="5667375"/>
            <a:ext cx="1152525" cy="360363"/>
          </a:xfrm>
          <a:prstGeom prst="rect">
            <a:avLst/>
          </a:prstGeom>
          <a:solidFill>
            <a:srgbClr val="FFCCFF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1800">
                <a:solidFill>
                  <a:srgbClr val="008000"/>
                </a:solidFill>
              </a:rPr>
              <a:t>N</a:t>
            </a:r>
            <a:r>
              <a:rPr lang="en-US" altLang="zh-CN" sz="1800" baseline="-25000">
                <a:solidFill>
                  <a:srgbClr val="008000"/>
                </a:solidFill>
              </a:rPr>
              <a:t>P</a:t>
            </a:r>
            <a:r>
              <a:rPr lang="en-US" altLang="zh-CN" sz="1800">
                <a:solidFill>
                  <a:srgbClr val="008000"/>
                </a:solidFill>
              </a:rPr>
              <a:t>=1KB</a:t>
            </a:r>
          </a:p>
        </p:txBody>
      </p:sp>
      <p:sp>
        <p:nvSpPr>
          <p:cNvPr id="1666182" name="Text Box 134"/>
          <p:cNvSpPr txBox="1">
            <a:spLocks noChangeAspect="1" noChangeArrowheads="1"/>
          </p:cNvSpPr>
          <p:nvPr/>
        </p:nvSpPr>
        <p:spPr bwMode="auto">
          <a:xfrm>
            <a:off x="521473" y="5045114"/>
            <a:ext cx="1584325" cy="4001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 sz="2000" dirty="0">
                <a:solidFill>
                  <a:srgbClr val="0000FF"/>
                </a:solidFill>
                <a:latin typeface="+mn-lt"/>
                <a:ea typeface="+mn-ea"/>
              </a:rPr>
              <a:t>程序虚地址</a:t>
            </a:r>
          </a:p>
        </p:txBody>
      </p:sp>
      <p:sp>
        <p:nvSpPr>
          <p:cNvPr id="1666183" name="Line 135"/>
          <p:cNvSpPr>
            <a:spLocks noChangeShapeType="1"/>
          </p:cNvSpPr>
          <p:nvPr/>
        </p:nvSpPr>
        <p:spPr bwMode="auto">
          <a:xfrm>
            <a:off x="466725" y="6100763"/>
            <a:ext cx="0" cy="2873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84" name="Line 136"/>
          <p:cNvSpPr>
            <a:spLocks noChangeShapeType="1"/>
          </p:cNvSpPr>
          <p:nvPr/>
        </p:nvSpPr>
        <p:spPr bwMode="auto">
          <a:xfrm>
            <a:off x="1619250" y="6100763"/>
            <a:ext cx="0" cy="2873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85" name="Line 137"/>
          <p:cNvSpPr>
            <a:spLocks noChangeShapeType="1"/>
          </p:cNvSpPr>
          <p:nvPr/>
        </p:nvSpPr>
        <p:spPr bwMode="auto">
          <a:xfrm>
            <a:off x="2770188" y="6100763"/>
            <a:ext cx="0" cy="2873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86" name="Text Box 138"/>
          <p:cNvSpPr txBox="1">
            <a:spLocks noChangeAspect="1" noChangeArrowheads="1"/>
          </p:cNvSpPr>
          <p:nvPr/>
        </p:nvSpPr>
        <p:spPr bwMode="auto">
          <a:xfrm>
            <a:off x="1809843" y="6029043"/>
            <a:ext cx="719137" cy="4001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sz="2000" dirty="0">
                <a:solidFill>
                  <a:srgbClr val="0000FF"/>
                </a:solidFill>
                <a:latin typeface="+mn-lt"/>
                <a:ea typeface="+mn-ea"/>
              </a:rPr>
              <a:t>10</a:t>
            </a:r>
            <a:r>
              <a:rPr kumimoji="1" lang="zh-CN" altLang="en-US" sz="2000" dirty="0">
                <a:solidFill>
                  <a:srgbClr val="0000FF"/>
                </a:solidFill>
                <a:latin typeface="+mn-lt"/>
                <a:ea typeface="+mn-ea"/>
              </a:rPr>
              <a:t>位</a:t>
            </a:r>
          </a:p>
        </p:txBody>
      </p:sp>
      <p:sp>
        <p:nvSpPr>
          <p:cNvPr id="1666187" name="Text Box 139"/>
          <p:cNvSpPr txBox="1">
            <a:spLocks noChangeAspect="1" noChangeArrowheads="1"/>
          </p:cNvSpPr>
          <p:nvPr/>
        </p:nvSpPr>
        <p:spPr bwMode="auto">
          <a:xfrm>
            <a:off x="655730" y="6029043"/>
            <a:ext cx="719138" cy="40011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sz="2000" dirty="0">
                <a:solidFill>
                  <a:srgbClr val="0000FF"/>
                </a:solidFill>
                <a:latin typeface="+mn-lt"/>
                <a:ea typeface="+mn-ea"/>
              </a:rPr>
              <a:t>22</a:t>
            </a:r>
            <a:r>
              <a:rPr kumimoji="1" lang="zh-CN" altLang="en-US" sz="2000" dirty="0">
                <a:solidFill>
                  <a:srgbClr val="0000FF"/>
                </a:solidFill>
                <a:latin typeface="+mn-lt"/>
                <a:ea typeface="+mn-ea"/>
              </a:rPr>
              <a:t>位</a:t>
            </a:r>
          </a:p>
        </p:txBody>
      </p:sp>
      <p:sp>
        <p:nvSpPr>
          <p:cNvPr id="1666188" name="Line 140"/>
          <p:cNvSpPr>
            <a:spLocks noChangeShapeType="1"/>
          </p:cNvSpPr>
          <p:nvPr/>
        </p:nvSpPr>
        <p:spPr bwMode="auto">
          <a:xfrm flipH="1">
            <a:off x="466725" y="6243638"/>
            <a:ext cx="2873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89" name="Line 141"/>
          <p:cNvSpPr>
            <a:spLocks noChangeShapeType="1"/>
          </p:cNvSpPr>
          <p:nvPr/>
        </p:nvSpPr>
        <p:spPr bwMode="auto">
          <a:xfrm>
            <a:off x="1258888" y="6243638"/>
            <a:ext cx="360362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90" name="Line 142"/>
          <p:cNvSpPr>
            <a:spLocks noChangeShapeType="1"/>
          </p:cNvSpPr>
          <p:nvPr/>
        </p:nvSpPr>
        <p:spPr bwMode="auto">
          <a:xfrm flipH="1">
            <a:off x="1619250" y="6243638"/>
            <a:ext cx="2873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91" name="Line 143"/>
          <p:cNvSpPr>
            <a:spLocks noChangeShapeType="1"/>
          </p:cNvSpPr>
          <p:nvPr/>
        </p:nvSpPr>
        <p:spPr bwMode="auto">
          <a:xfrm>
            <a:off x="2411413" y="6243638"/>
            <a:ext cx="360362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92" name="Text Box 144"/>
          <p:cNvSpPr txBox="1">
            <a:spLocks noChangeArrowheads="1"/>
          </p:cNvSpPr>
          <p:nvPr/>
        </p:nvSpPr>
        <p:spPr bwMode="auto">
          <a:xfrm>
            <a:off x="1810275" y="5055535"/>
            <a:ext cx="1222374" cy="40011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+mn-lt"/>
                <a:ea typeface="+mn-ea"/>
              </a:rPr>
              <a:t>N</a:t>
            </a:r>
            <a:r>
              <a:rPr lang="en-US" altLang="zh-CN" sz="2000" baseline="-25000" dirty="0">
                <a:solidFill>
                  <a:srgbClr val="008000"/>
                </a:solidFill>
                <a:latin typeface="+mn-lt"/>
                <a:ea typeface="+mn-ea"/>
              </a:rPr>
              <a:t>V</a:t>
            </a:r>
            <a:r>
              <a:rPr lang="en-US" altLang="zh-CN" sz="2000" dirty="0">
                <a:solidFill>
                  <a:srgbClr val="008000"/>
                </a:solidFill>
                <a:latin typeface="+mn-lt"/>
                <a:ea typeface="+mn-ea"/>
              </a:rPr>
              <a:t>=4GB</a:t>
            </a:r>
            <a:endParaRPr lang="zh-CN" altLang="en-US" sz="2000" dirty="0">
              <a:solidFill>
                <a:srgbClr val="008000"/>
              </a:solidFill>
              <a:latin typeface="+mn-lt"/>
              <a:ea typeface="+mn-ea"/>
            </a:endParaRPr>
          </a:p>
        </p:txBody>
      </p:sp>
      <p:sp>
        <p:nvSpPr>
          <p:cNvPr id="1666193" name="AutoShape 145"/>
          <p:cNvSpPr>
            <a:spLocks/>
          </p:cNvSpPr>
          <p:nvPr/>
        </p:nvSpPr>
        <p:spPr bwMode="auto">
          <a:xfrm rot="16200000">
            <a:off x="1510507" y="4336256"/>
            <a:ext cx="215900" cy="2303463"/>
          </a:xfrm>
          <a:prstGeom prst="rightBrace">
            <a:avLst>
              <a:gd name="adj1" fmla="val 57347"/>
              <a:gd name="adj2" fmla="val 51356"/>
            </a:avLst>
          </a:prstGeom>
          <a:noFill/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94" name="AutoShape 146"/>
          <p:cNvSpPr>
            <a:spLocks/>
          </p:cNvSpPr>
          <p:nvPr/>
        </p:nvSpPr>
        <p:spPr bwMode="auto">
          <a:xfrm rot="10800000">
            <a:off x="1476375" y="3644900"/>
            <a:ext cx="144463" cy="576263"/>
          </a:xfrm>
          <a:prstGeom prst="rightBrace">
            <a:avLst>
              <a:gd name="adj1" fmla="val 79189"/>
              <a:gd name="adj2" fmla="val 49343"/>
            </a:avLst>
          </a:prstGeom>
          <a:noFill/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195" name="Text Box 147"/>
          <p:cNvSpPr txBox="1">
            <a:spLocks noChangeAspect="1" noChangeArrowheads="1"/>
          </p:cNvSpPr>
          <p:nvPr/>
        </p:nvSpPr>
        <p:spPr bwMode="auto">
          <a:xfrm>
            <a:off x="179388" y="3621088"/>
            <a:ext cx="1368425" cy="641350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</a:pPr>
            <a:r>
              <a:rPr kumimoji="1" lang="zh-CN" altLang="en-US" sz="1800" dirty="0">
                <a:solidFill>
                  <a:srgbClr val="008000"/>
                </a:solidFill>
                <a:latin typeface="+mn-lt"/>
                <a:ea typeface="+mn-ea"/>
              </a:rPr>
              <a:t>页表每一项</a:t>
            </a:r>
          </a:p>
          <a:p>
            <a:pPr algn="r">
              <a:spcBef>
                <a:spcPct val="0"/>
              </a:spcBef>
            </a:pPr>
            <a:r>
              <a:rPr kumimoji="1" lang="zh-CN" altLang="en-US" sz="1800" dirty="0">
                <a:solidFill>
                  <a:srgbClr val="008000"/>
                </a:solidFill>
                <a:latin typeface="+mn-lt"/>
                <a:ea typeface="+mn-ea"/>
              </a:rPr>
              <a:t>需</a:t>
            </a:r>
            <a:r>
              <a:rPr kumimoji="1" lang="en-US" altLang="zh-CN" sz="1800" dirty="0">
                <a:solidFill>
                  <a:srgbClr val="008000"/>
                </a:solidFill>
                <a:latin typeface="+mn-lt"/>
                <a:ea typeface="+mn-ea"/>
              </a:rPr>
              <a:t>4</a:t>
            </a:r>
            <a:r>
              <a:rPr kumimoji="1" lang="zh-CN" altLang="en-US" sz="1800" dirty="0">
                <a:solidFill>
                  <a:srgbClr val="008000"/>
                </a:solidFill>
                <a:latin typeface="+mn-lt"/>
                <a:ea typeface="+mn-ea"/>
              </a:rPr>
              <a:t>个字节</a:t>
            </a:r>
            <a:endParaRPr kumimoji="1" lang="en-US" altLang="zh-CN" sz="1800" dirty="0">
              <a:solidFill>
                <a:srgbClr val="008000"/>
              </a:solidFill>
              <a:latin typeface="+mn-lt"/>
              <a:ea typeface="+mn-ea"/>
            </a:endParaRPr>
          </a:p>
        </p:txBody>
      </p:sp>
      <p:sp>
        <p:nvSpPr>
          <p:cNvPr id="1666196" name="AutoShape 148"/>
          <p:cNvSpPr>
            <a:spLocks noChangeArrowheads="1"/>
          </p:cNvSpPr>
          <p:nvPr/>
        </p:nvSpPr>
        <p:spPr bwMode="auto">
          <a:xfrm>
            <a:off x="323850" y="4437063"/>
            <a:ext cx="1944688" cy="576262"/>
          </a:xfrm>
          <a:prstGeom prst="wedgeRoundRectCallout">
            <a:avLst>
              <a:gd name="adj1" fmla="val 81019"/>
              <a:gd name="adj2" fmla="val -40083"/>
              <a:gd name="adj3" fmla="val 16667"/>
            </a:avLst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>
                <a:latin typeface="+mn-lt"/>
              </a:rPr>
              <a:t>64</a:t>
            </a:r>
            <a:r>
              <a:rPr lang="zh-CN" altLang="en-US" sz="2000">
                <a:latin typeface="+mn-lt"/>
              </a:rPr>
              <a:t>个分支</a:t>
            </a:r>
          </a:p>
        </p:txBody>
      </p:sp>
      <p:sp>
        <p:nvSpPr>
          <p:cNvPr id="1666197" name="AutoShape 149"/>
          <p:cNvSpPr>
            <a:spLocks noChangeArrowheads="1"/>
          </p:cNvSpPr>
          <p:nvPr/>
        </p:nvSpPr>
        <p:spPr bwMode="auto">
          <a:xfrm>
            <a:off x="5724227" y="5013325"/>
            <a:ext cx="2016125" cy="654050"/>
          </a:xfrm>
          <a:prstGeom prst="wedgeRoundRectCallout">
            <a:avLst>
              <a:gd name="adj1" fmla="val -71338"/>
              <a:gd name="adj2" fmla="val -125759"/>
              <a:gd name="adj3" fmla="val 16667"/>
            </a:avLst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+mn-lt"/>
              </a:rPr>
              <a:t>64×256</a:t>
            </a:r>
            <a:r>
              <a:rPr lang="zh-CN" altLang="en-US" sz="2000" dirty="0">
                <a:latin typeface="+mn-lt"/>
              </a:rPr>
              <a:t>（</a:t>
            </a:r>
            <a:r>
              <a:rPr lang="en-US" altLang="zh-CN" sz="2000" dirty="0">
                <a:latin typeface="+mn-lt"/>
              </a:rPr>
              <a:t>16K</a:t>
            </a:r>
            <a:r>
              <a:rPr lang="zh-CN" altLang="en-US" sz="2000" dirty="0">
                <a:latin typeface="+mn-lt"/>
              </a:rPr>
              <a:t>）</a:t>
            </a:r>
            <a:r>
              <a:rPr lang="zh-CN" altLang="en-US" sz="2000" baseline="30000" dirty="0">
                <a:latin typeface="+mn-lt"/>
              </a:rPr>
              <a:t> </a:t>
            </a:r>
            <a:r>
              <a:rPr lang="zh-CN" altLang="en-US" sz="2000" dirty="0">
                <a:latin typeface="+mn-lt"/>
              </a:rPr>
              <a:t>个分支</a:t>
            </a:r>
          </a:p>
        </p:txBody>
      </p:sp>
      <p:sp>
        <p:nvSpPr>
          <p:cNvPr id="1666198" name="AutoShape 150"/>
          <p:cNvSpPr>
            <a:spLocks noChangeArrowheads="1"/>
          </p:cNvSpPr>
          <p:nvPr/>
        </p:nvSpPr>
        <p:spPr bwMode="auto">
          <a:xfrm>
            <a:off x="6227763" y="4149725"/>
            <a:ext cx="2016125" cy="638781"/>
          </a:xfrm>
          <a:prstGeom prst="wedgeRoundRectCallout">
            <a:avLst>
              <a:gd name="adj1" fmla="val -3699"/>
              <a:gd name="adj2" fmla="val -117769"/>
              <a:gd name="adj3" fmla="val 16667"/>
            </a:avLst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+mn-lt"/>
              </a:rPr>
              <a:t>64×256×256</a:t>
            </a:r>
            <a:r>
              <a:rPr lang="en-US" altLang="zh-CN" sz="2000" baseline="30000" dirty="0">
                <a:latin typeface="+mn-lt"/>
              </a:rPr>
              <a:t> </a:t>
            </a:r>
            <a:r>
              <a:rPr lang="zh-CN" altLang="en-US" sz="2000" dirty="0">
                <a:latin typeface="+mn-lt"/>
              </a:rPr>
              <a:t>（</a:t>
            </a:r>
            <a:r>
              <a:rPr lang="en-US" altLang="zh-CN" sz="2000" dirty="0">
                <a:latin typeface="+mn-lt"/>
              </a:rPr>
              <a:t>4M</a:t>
            </a:r>
            <a:r>
              <a:rPr lang="zh-CN" altLang="en-US" sz="2000" dirty="0">
                <a:latin typeface="+mn-lt"/>
              </a:rPr>
              <a:t>）个分支</a:t>
            </a:r>
          </a:p>
        </p:txBody>
      </p:sp>
      <p:sp>
        <p:nvSpPr>
          <p:cNvPr id="1666199" name="AutoShape 151"/>
          <p:cNvSpPr>
            <a:spLocks/>
          </p:cNvSpPr>
          <p:nvPr/>
        </p:nvSpPr>
        <p:spPr bwMode="auto">
          <a:xfrm rot="10800000">
            <a:off x="1476375" y="1773238"/>
            <a:ext cx="215900" cy="2447925"/>
          </a:xfrm>
          <a:prstGeom prst="rightBrace">
            <a:avLst>
              <a:gd name="adj1" fmla="val 149917"/>
              <a:gd name="adj2" fmla="val 49343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6200" name="Text Box 152"/>
          <p:cNvSpPr txBox="1">
            <a:spLocks noChangeAspect="1" noChangeArrowheads="1"/>
          </p:cNvSpPr>
          <p:nvPr/>
        </p:nvSpPr>
        <p:spPr bwMode="auto">
          <a:xfrm>
            <a:off x="107950" y="2708275"/>
            <a:ext cx="1476375" cy="91598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sz="1800" dirty="0">
                <a:solidFill>
                  <a:srgbClr val="FF3300"/>
                </a:solidFill>
                <a:latin typeface="+mn-lt"/>
                <a:ea typeface="+mn-ea"/>
              </a:rPr>
              <a:t>1KB</a:t>
            </a:r>
            <a:r>
              <a:rPr kumimoji="1" lang="zh-CN" altLang="en-US" sz="1800" dirty="0">
                <a:solidFill>
                  <a:srgbClr val="FF3300"/>
                </a:solidFill>
                <a:latin typeface="+mn-lt"/>
                <a:ea typeface="+mn-ea"/>
              </a:rPr>
              <a:t>，最多</a:t>
            </a:r>
            <a:r>
              <a:rPr kumimoji="1" lang="en-US" altLang="zh-CN" sz="1800" dirty="0">
                <a:solidFill>
                  <a:srgbClr val="FF3300"/>
                </a:solidFill>
                <a:latin typeface="+mn-lt"/>
                <a:ea typeface="+mn-ea"/>
              </a:rPr>
              <a:t>256</a:t>
            </a:r>
            <a:r>
              <a:rPr kumimoji="1" lang="zh-CN" altLang="en-US" sz="1800" dirty="0">
                <a:solidFill>
                  <a:srgbClr val="FF3300"/>
                </a:solidFill>
                <a:latin typeface="+mn-lt"/>
                <a:ea typeface="+mn-ea"/>
              </a:rPr>
              <a:t>项（这里只需</a:t>
            </a:r>
            <a:r>
              <a:rPr kumimoji="1" lang="en-US" altLang="zh-CN" sz="1800" dirty="0">
                <a:solidFill>
                  <a:srgbClr val="FF3300"/>
                </a:solidFill>
                <a:latin typeface="+mn-lt"/>
                <a:ea typeface="+mn-ea"/>
              </a:rPr>
              <a:t>64</a:t>
            </a:r>
            <a:r>
              <a:rPr kumimoji="1" lang="zh-CN" altLang="en-US" sz="1800" dirty="0">
                <a:solidFill>
                  <a:srgbClr val="FF3300"/>
                </a:solidFill>
                <a:latin typeface="+mn-lt"/>
                <a:ea typeface="+mn-ea"/>
              </a:rPr>
              <a:t>项）</a:t>
            </a:r>
          </a:p>
        </p:txBody>
      </p:sp>
      <p:sp>
        <p:nvSpPr>
          <p:cNvPr id="1666201" name="Text Box 153"/>
          <p:cNvSpPr txBox="1">
            <a:spLocks noChangeAspect="1" noChangeArrowheads="1"/>
          </p:cNvSpPr>
          <p:nvPr/>
        </p:nvSpPr>
        <p:spPr bwMode="auto">
          <a:xfrm>
            <a:off x="6516688" y="1052513"/>
            <a:ext cx="1077912" cy="1323439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kumimoji="1" lang="en-US" altLang="zh-CN" sz="2000" dirty="0">
                <a:solidFill>
                  <a:srgbClr val="0000FF"/>
                </a:solidFill>
                <a:latin typeface="+mn-lt"/>
                <a:ea typeface="+mn-ea"/>
              </a:rPr>
              <a:t>4M</a:t>
            </a:r>
            <a:r>
              <a:rPr kumimoji="1" lang="zh-CN" altLang="en-US" sz="2000" dirty="0">
                <a:solidFill>
                  <a:srgbClr val="0000FF"/>
                </a:solidFill>
                <a:latin typeface="+mn-lt"/>
                <a:ea typeface="+mn-ea"/>
              </a:rPr>
              <a:t>个</a:t>
            </a:r>
            <a:br>
              <a:rPr kumimoji="1" lang="zh-CN" altLang="en-US" sz="2000" dirty="0">
                <a:solidFill>
                  <a:srgbClr val="0000FF"/>
                </a:solidFill>
                <a:latin typeface="+mn-lt"/>
                <a:ea typeface="+mn-ea"/>
              </a:rPr>
            </a:br>
            <a:r>
              <a:rPr kumimoji="1" lang="zh-CN" altLang="en-US" sz="2000" dirty="0">
                <a:solidFill>
                  <a:srgbClr val="0000FF"/>
                </a:solidFill>
                <a:latin typeface="+mn-lt"/>
                <a:ea typeface="+mn-ea"/>
              </a:rPr>
              <a:t>分支</a:t>
            </a:r>
            <a:br>
              <a:rPr kumimoji="1" lang="zh-CN" altLang="en-US" sz="2000" dirty="0">
                <a:solidFill>
                  <a:srgbClr val="0000FF"/>
                </a:solidFill>
                <a:latin typeface="+mn-lt"/>
                <a:ea typeface="+mn-ea"/>
              </a:rPr>
            </a:br>
            <a:r>
              <a:rPr kumimoji="1" lang="zh-CN" altLang="en-US" sz="2000" dirty="0">
                <a:solidFill>
                  <a:srgbClr val="0000FF"/>
                </a:solidFill>
                <a:latin typeface="+mn-lt"/>
                <a:ea typeface="+mn-ea"/>
              </a:rPr>
              <a:t>（</a:t>
            </a:r>
            <a:r>
              <a:rPr kumimoji="1" lang="en-US" altLang="zh-CN" sz="2000" dirty="0">
                <a:solidFill>
                  <a:srgbClr val="0000FF"/>
                </a:solidFill>
                <a:latin typeface="+mn-lt"/>
                <a:ea typeface="+mn-ea"/>
              </a:rPr>
              <a:t>4M</a:t>
            </a:r>
            <a:r>
              <a:rPr kumimoji="1" lang="zh-CN" altLang="en-US" sz="2000" dirty="0">
                <a:solidFill>
                  <a:srgbClr val="0000FF"/>
                </a:solidFill>
                <a:latin typeface="+mn-lt"/>
                <a:ea typeface="+mn-ea"/>
              </a:rPr>
              <a:t>个</a:t>
            </a:r>
            <a:br>
              <a:rPr kumimoji="1" lang="zh-CN" altLang="en-US" sz="2000" dirty="0">
                <a:solidFill>
                  <a:srgbClr val="0000FF"/>
                </a:solidFill>
                <a:latin typeface="+mn-lt"/>
                <a:ea typeface="+mn-ea"/>
              </a:rPr>
            </a:br>
            <a:r>
              <a:rPr kumimoji="1" lang="zh-CN" altLang="en-US" sz="2000" dirty="0">
                <a:solidFill>
                  <a:srgbClr val="0000FF"/>
                </a:solidFill>
                <a:latin typeface="+mn-lt"/>
                <a:ea typeface="+mn-ea"/>
              </a:rPr>
              <a:t>虚页）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AA096D-E30B-4F73-AA75-A2C03DB46C0F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1668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964612" cy="5688013"/>
          </a:xfrm>
        </p:spPr>
        <p:txBody>
          <a:bodyPr/>
          <a:lstStyle/>
          <a:p>
            <a:pPr marL="355600" indent="-355600">
              <a:buFont typeface="Wingdings" pitchFamily="2" charset="2"/>
              <a:buNone/>
            </a:pPr>
            <a:r>
              <a:rPr lang="zh-CN" altLang="en-US" dirty="0">
                <a:solidFill>
                  <a:srgbClr val="FF3300"/>
                </a:solidFill>
                <a:ea typeface="黑体" pitchFamily="49" charset="-122"/>
              </a:rPr>
              <a:t>多级页表</a:t>
            </a:r>
          </a:p>
          <a:p>
            <a:pPr marL="355600" indent="-355600">
              <a:buFont typeface="Wingdings" pitchFamily="2" charset="2"/>
              <a:buNone/>
            </a:pPr>
            <a:endParaRPr lang="zh-CN" altLang="en-US" dirty="0">
              <a:solidFill>
                <a:srgbClr val="FF3300"/>
              </a:solidFill>
              <a:ea typeface="黑体" pitchFamily="49" charset="-122"/>
            </a:endParaRPr>
          </a:p>
          <a:p>
            <a:pPr marL="355600" indent="-355600"/>
            <a:r>
              <a:rPr lang="zh-CN" altLang="en-US" dirty="0"/>
              <a:t>一级页表需驻留在主存中；</a:t>
            </a:r>
          </a:p>
          <a:p>
            <a:pPr marL="355600" indent="-355600"/>
            <a:r>
              <a:rPr lang="zh-CN" altLang="en-US" dirty="0"/>
              <a:t>二级、三极页表只需在主存中驻留一小部分：</a:t>
            </a:r>
            <a:br>
              <a:rPr lang="zh-CN" altLang="en-US" dirty="0"/>
            </a:br>
            <a:r>
              <a:rPr lang="zh-CN" altLang="en-US" dirty="0"/>
              <a:t>只需把目前</a:t>
            </a:r>
            <a:r>
              <a:rPr lang="zh-CN" altLang="en-US" dirty="0">
                <a:solidFill>
                  <a:srgbClr val="FF3300"/>
                </a:solidFill>
              </a:rPr>
              <a:t>正在运行</a:t>
            </a:r>
            <a:r>
              <a:rPr lang="zh-CN" altLang="en-US" dirty="0"/>
              <a:t>中的程序的相关页表，或者</a:t>
            </a:r>
            <a:br>
              <a:rPr lang="en-US" altLang="zh-CN" dirty="0"/>
            </a:br>
            <a:r>
              <a:rPr lang="zh-CN" altLang="en-US" dirty="0"/>
              <a:t>把</a:t>
            </a:r>
            <a:r>
              <a:rPr lang="zh-CN" altLang="en-US" dirty="0">
                <a:solidFill>
                  <a:srgbClr val="FF3300"/>
                </a:solidFill>
              </a:rPr>
              <a:t>已经调入</a:t>
            </a:r>
            <a:r>
              <a:rPr lang="zh-CN" altLang="en-US" dirty="0"/>
              <a:t>到主存中的程序的相关页表驻留在主存中；</a:t>
            </a:r>
            <a:br>
              <a:rPr lang="en-US" altLang="zh-CN" dirty="0"/>
            </a:br>
            <a:r>
              <a:rPr lang="zh-CN" altLang="en-US" dirty="0"/>
              <a:t>绝大部分页表可以放在</a:t>
            </a:r>
            <a:r>
              <a:rPr lang="zh-CN" altLang="en-US" dirty="0">
                <a:solidFill>
                  <a:srgbClr val="FF3300"/>
                </a:solidFill>
              </a:rPr>
              <a:t>磁盘存储器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0000FF"/>
                </a:solidFill>
              </a:rPr>
              <a:t>辅存</a:t>
            </a:r>
            <a:r>
              <a:rPr lang="zh-CN" altLang="en-US" dirty="0"/>
              <a:t>）中。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1C5E41B-9654-456C-9A10-D66401D8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五、解决虚拟存储器的问题</a:t>
            </a:r>
            <a:r>
              <a:rPr lang="en-US" altLang="zh-CN" dirty="0"/>
              <a:t>      </a:t>
            </a:r>
            <a:r>
              <a:rPr lang="en-US" altLang="zh-CN" dirty="0">
                <a:solidFill>
                  <a:srgbClr val="FF6600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多级页表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0ABDE2-0B27-4F68-8BB1-7F118C857672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166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785225" cy="5472113"/>
          </a:xfrm>
        </p:spPr>
        <p:txBody>
          <a:bodyPr/>
          <a:lstStyle/>
          <a:p>
            <a:pPr marL="355600" indent="-355600"/>
            <a:r>
              <a:rPr lang="zh-CN" altLang="en-US" dirty="0"/>
              <a:t>采用多级页表（包括段表）使得访问主存的次数又要增加。如：三极页表，要从主存中取一个数据，</a:t>
            </a:r>
            <a:br>
              <a:rPr lang="en-US" altLang="zh-CN" dirty="0"/>
            </a:br>
            <a:r>
              <a:rPr lang="zh-CN" altLang="en-US" dirty="0"/>
              <a:t>需查三次页表才可得到此数据在主存中的物理地址</a:t>
            </a:r>
            <a:br>
              <a:rPr lang="en-US" altLang="zh-CN" dirty="0"/>
            </a:br>
            <a:r>
              <a:rPr lang="zh-CN" altLang="en-US" dirty="0">
                <a:latin typeface="+mn-ea"/>
              </a:rPr>
              <a:t>→</a:t>
            </a:r>
            <a:r>
              <a:rPr lang="zh-CN" altLang="en-US" dirty="0"/>
              <a:t> 共访问主存</a:t>
            </a:r>
            <a:r>
              <a:rPr lang="en-US" altLang="zh-CN" dirty="0"/>
              <a:t>4</a:t>
            </a:r>
            <a:r>
              <a:rPr lang="zh-CN" altLang="en-US" dirty="0"/>
              <a:t>次</a:t>
            </a:r>
          </a:p>
          <a:p>
            <a:r>
              <a:rPr lang="zh-CN" altLang="en-US" dirty="0"/>
              <a:t>要想使虚拟存储器的速度接近主存的速度，</a:t>
            </a:r>
            <a:br>
              <a:rPr lang="en-US" altLang="zh-CN" dirty="0"/>
            </a:br>
            <a:r>
              <a:rPr lang="zh-CN" altLang="en-US" dirty="0"/>
              <a:t>必须加快查表的速度：</a:t>
            </a:r>
            <a:r>
              <a:rPr lang="zh-CN" altLang="en-US" dirty="0">
                <a:solidFill>
                  <a:srgbClr val="FF0000"/>
                </a:solidFill>
              </a:rPr>
              <a:t>快慢表</a:t>
            </a:r>
            <a:r>
              <a:rPr lang="zh-CN" altLang="en-US" dirty="0"/>
              <a:t>法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252637D-9ACA-4D71-9899-648F1E0C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4450"/>
            <a:ext cx="8553450" cy="523875"/>
          </a:xfrm>
        </p:spPr>
        <p:txBody>
          <a:bodyPr/>
          <a:lstStyle/>
          <a:p>
            <a:r>
              <a:rPr lang="zh-CN" altLang="en-US" dirty="0"/>
              <a:t>五、解决虚拟存储器的问题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rgbClr val="009900"/>
                </a:solidFill>
              </a:rPr>
              <a:t>2. </a:t>
            </a:r>
            <a:r>
              <a:rPr lang="zh-CN" altLang="en-US" dirty="0">
                <a:solidFill>
                  <a:srgbClr val="FF0066"/>
                </a:solidFill>
              </a:rPr>
              <a:t>地址变换</a:t>
            </a:r>
            <a:r>
              <a:rPr lang="zh-CN" altLang="en-US" dirty="0">
                <a:solidFill>
                  <a:srgbClr val="009900"/>
                </a:solidFill>
              </a:rPr>
              <a:t>的</a:t>
            </a:r>
            <a:r>
              <a:rPr lang="zh-CN" altLang="en-US" dirty="0">
                <a:solidFill>
                  <a:srgbClr val="FF0066"/>
                </a:solidFill>
              </a:rPr>
              <a:t>速度</a:t>
            </a:r>
            <a:r>
              <a:rPr lang="zh-CN" altLang="en-US" dirty="0">
                <a:solidFill>
                  <a:srgbClr val="009900"/>
                </a:solidFill>
              </a:rPr>
              <a:t>问题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6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66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D652A4-92EC-4021-B302-F69FF3DCD13A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167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0" y="692696"/>
            <a:ext cx="8374063" cy="5904037"/>
          </a:xfrm>
        </p:spPr>
        <p:txBody>
          <a:bodyPr/>
          <a:lstStyle/>
          <a:p>
            <a:pPr marL="0" indent="0">
              <a:spcBef>
                <a:spcPct val="10000"/>
              </a:spcBef>
              <a:spcAft>
                <a:spcPts val="1200"/>
              </a:spcAft>
              <a:buNone/>
            </a:pPr>
            <a:r>
              <a:rPr lang="zh-CN" altLang="en-US" dirty="0">
                <a:ea typeface="黑体" pitchFamily="49" charset="-122"/>
              </a:rPr>
              <a:t>快慢表法</a:t>
            </a:r>
          </a:p>
          <a:p>
            <a:pPr marL="366713" indent="-366713">
              <a:spcBef>
                <a:spcPct val="10000"/>
              </a:spcBef>
            </a:pPr>
            <a:r>
              <a:rPr lang="zh-CN" altLang="en-US" dirty="0">
                <a:solidFill>
                  <a:srgbClr val="0000FF"/>
                </a:solidFill>
              </a:rPr>
              <a:t>快表：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快表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TB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  <a:r>
              <a:rPr lang="zh-CN" altLang="en-US" dirty="0"/>
              <a:t>，或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变换旁视缓冲器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TLB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  <a:r>
              <a:rPr lang="en-US" altLang="zh-CN" dirty="0">
                <a:latin typeface="+mn-ea"/>
              </a:rPr>
              <a:t> 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en-US" altLang="zh-CN" dirty="0"/>
              <a:t>TLB —— </a:t>
            </a:r>
            <a:r>
              <a:rPr lang="en-US" altLang="zh-CN" i="1" dirty="0">
                <a:solidFill>
                  <a:srgbClr val="CC0066"/>
                </a:solidFill>
              </a:rPr>
              <a:t>T</a:t>
            </a:r>
            <a:r>
              <a:rPr lang="en-US" altLang="zh-CN" i="1" dirty="0"/>
              <a:t>ranslation </a:t>
            </a:r>
            <a:r>
              <a:rPr lang="en-US" altLang="zh-CN" i="1" dirty="0">
                <a:solidFill>
                  <a:srgbClr val="CC0066"/>
                </a:solidFill>
              </a:rPr>
              <a:t>L</a:t>
            </a:r>
            <a:r>
              <a:rPr lang="en-US" altLang="zh-CN" i="1" dirty="0"/>
              <a:t>ookaside </a:t>
            </a:r>
            <a:r>
              <a:rPr lang="en-US" altLang="zh-CN" i="1" dirty="0">
                <a:solidFill>
                  <a:srgbClr val="CC0066"/>
                </a:solidFill>
              </a:rPr>
              <a:t>B</a:t>
            </a:r>
            <a:r>
              <a:rPr lang="en-US" altLang="zh-CN" i="1" dirty="0"/>
              <a:t>uffer</a:t>
            </a:r>
            <a:endParaRPr lang="zh-CN" altLang="en-US" i="1" dirty="0"/>
          </a:p>
          <a:p>
            <a:pPr marL="717550" lvl="1" indent="-358775">
              <a:spcBef>
                <a:spcPct val="10000"/>
              </a:spcBef>
            </a:pPr>
            <a:r>
              <a:rPr lang="zh-CN" altLang="en-US" dirty="0"/>
              <a:t>小容量（几～几十个字）；</a:t>
            </a:r>
          </a:p>
          <a:p>
            <a:pPr marL="717550" lvl="1" indent="-358775">
              <a:spcBef>
                <a:spcPct val="10000"/>
              </a:spcBef>
            </a:pPr>
            <a:r>
              <a:rPr lang="zh-CN" altLang="en-US" dirty="0"/>
              <a:t>高速硬件实现；</a:t>
            </a:r>
          </a:p>
          <a:p>
            <a:pPr marL="717550" lvl="1" indent="-358775">
              <a:spcBef>
                <a:spcPct val="10000"/>
              </a:spcBef>
            </a:pPr>
            <a:r>
              <a:rPr lang="zh-CN" altLang="en-US" dirty="0"/>
              <a:t>采用相联方式访问。</a:t>
            </a:r>
          </a:p>
          <a:p>
            <a:pPr marL="366713" indent="-366713">
              <a:spcBef>
                <a:spcPct val="10000"/>
              </a:spcBef>
            </a:pPr>
            <a:r>
              <a:rPr lang="zh-CN" altLang="en-US" dirty="0">
                <a:solidFill>
                  <a:srgbClr val="0000FF"/>
                </a:solidFill>
              </a:rPr>
              <a:t>慢表：</a:t>
            </a:r>
          </a:p>
          <a:p>
            <a:pPr marL="717550" lvl="1" indent="-358775">
              <a:spcBef>
                <a:spcPct val="10000"/>
              </a:spcBef>
            </a:pPr>
            <a:r>
              <a:rPr lang="zh-CN" altLang="en-US" dirty="0"/>
              <a:t>当快表中查不到时，从主存的慢表中查找；</a:t>
            </a:r>
          </a:p>
          <a:p>
            <a:pPr marL="717550" lvl="1" indent="-358775">
              <a:spcBef>
                <a:spcPct val="10000"/>
              </a:spcBef>
            </a:pPr>
            <a:r>
              <a:rPr lang="zh-CN" altLang="en-US" dirty="0"/>
              <a:t>慢表按地址访问，用软件实现。</a:t>
            </a:r>
          </a:p>
          <a:p>
            <a:pPr marL="366713" indent="-366713">
              <a:spcBef>
                <a:spcPct val="10000"/>
              </a:spcBef>
            </a:pPr>
            <a:r>
              <a:rPr lang="zh-CN" altLang="en-US" dirty="0">
                <a:solidFill>
                  <a:srgbClr val="CC0000"/>
                </a:solidFill>
                <a:ea typeface="黑体" pitchFamily="49" charset="-122"/>
              </a:rPr>
              <a:t>快表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CC0000"/>
                </a:solidFill>
                <a:ea typeface="黑体" pitchFamily="49" charset="-122"/>
              </a:rPr>
              <a:t>慢表</a:t>
            </a:r>
            <a:r>
              <a:rPr lang="zh-CN" altLang="en-US" dirty="0"/>
              <a:t>也构成一个</a:t>
            </a:r>
            <a:r>
              <a:rPr lang="zh-CN" altLang="en-US" dirty="0">
                <a:solidFill>
                  <a:srgbClr val="CC0000"/>
                </a:solidFill>
                <a:ea typeface="黑体" pitchFamily="49" charset="-122"/>
              </a:rPr>
              <a:t>两级存储层次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</a:p>
          <a:p>
            <a:pPr marL="366713" indent="-366713">
              <a:spcBef>
                <a:spcPct val="10000"/>
              </a:spcBef>
            </a:pPr>
            <a:r>
              <a:rPr lang="zh-CN" altLang="en-US" dirty="0">
                <a:solidFill>
                  <a:srgbClr val="0000FF"/>
                </a:solidFill>
              </a:rPr>
              <a:t>主要存在问题：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zh-CN" altLang="en-US" dirty="0"/>
              <a:t>相联访问硬件复杂度、成本高，容量难做大。</a:t>
            </a:r>
            <a:endParaRPr lang="zh-CN" altLang="en-US" dirty="0">
              <a:ea typeface="黑体" pitchFamily="49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3FD8DBD-1718-41E4-A3BD-504CA3AC6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4450"/>
            <a:ext cx="8553450" cy="523875"/>
          </a:xfrm>
        </p:spPr>
        <p:txBody>
          <a:bodyPr/>
          <a:lstStyle/>
          <a:p>
            <a:r>
              <a:rPr lang="zh-CN" altLang="en-US" dirty="0"/>
              <a:t>五、解决虚拟存储器的问题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rgbClr val="009900"/>
                </a:solidFill>
              </a:rPr>
              <a:t>2. </a:t>
            </a:r>
            <a:r>
              <a:rPr lang="zh-CN" altLang="en-US" dirty="0">
                <a:solidFill>
                  <a:srgbClr val="FF0066"/>
                </a:solidFill>
              </a:rPr>
              <a:t>地址变换</a:t>
            </a:r>
            <a:r>
              <a:rPr lang="zh-CN" altLang="en-US" dirty="0">
                <a:solidFill>
                  <a:srgbClr val="009900"/>
                </a:solidFill>
              </a:rPr>
              <a:t>的</a:t>
            </a:r>
            <a:r>
              <a:rPr lang="zh-CN" altLang="en-US" dirty="0">
                <a:solidFill>
                  <a:srgbClr val="FF0066"/>
                </a:solidFill>
              </a:rPr>
              <a:t>速度</a:t>
            </a:r>
            <a:r>
              <a:rPr lang="zh-CN" altLang="en-US" dirty="0">
                <a:solidFill>
                  <a:srgbClr val="009900"/>
                </a:solidFill>
              </a:rPr>
              <a:t>问题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5163C6-6C55-4F7D-824C-95CE5D814110}"/>
              </a:ext>
            </a:extLst>
          </p:cNvPr>
          <p:cNvSpPr/>
          <p:nvPr/>
        </p:nvSpPr>
        <p:spPr>
          <a:xfrm>
            <a:off x="4724562" y="836712"/>
            <a:ext cx="34275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地址转换缓存</a:t>
            </a:r>
            <a:r>
              <a:rPr lang="en-US" altLang="zh-CN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</a:t>
            </a:r>
            <a:r>
              <a:rPr lang="en-US" altLang="zh-CN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TLB</a:t>
            </a:r>
            <a:r>
              <a:rPr lang="en-US" altLang="zh-CN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  <a:endParaRPr lang="zh-CN" altLang="en-US" dirty="0">
              <a:solidFill>
                <a:srgbClr val="CC0099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46F25CA-AD6E-4BA0-B95B-A9BBE884AF54}"/>
              </a:ext>
            </a:extLst>
          </p:cNvPr>
          <p:cNvCxnSpPr/>
          <p:nvPr/>
        </p:nvCxnSpPr>
        <p:spPr bwMode="auto">
          <a:xfrm>
            <a:off x="4850183" y="1300110"/>
            <a:ext cx="3161109" cy="0"/>
          </a:xfrm>
          <a:prstGeom prst="line">
            <a:avLst/>
          </a:prstGeom>
          <a:solidFill>
            <a:srgbClr val="FFFF99"/>
          </a:solidFill>
          <a:ln w="5715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47C6E98-0A14-4696-82EB-EF02C1B5ACA5}"/>
              </a:ext>
            </a:extLst>
          </p:cNvPr>
          <p:cNvCxnSpPr>
            <a:cxnSpLocks/>
          </p:cNvCxnSpPr>
          <p:nvPr/>
        </p:nvCxnSpPr>
        <p:spPr bwMode="auto">
          <a:xfrm>
            <a:off x="2636330" y="2167040"/>
            <a:ext cx="4392488" cy="0"/>
          </a:xfrm>
          <a:prstGeom prst="line">
            <a:avLst/>
          </a:prstGeom>
          <a:solidFill>
            <a:srgbClr val="FFFF99"/>
          </a:solidFill>
          <a:ln w="5715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4FE89F-D7CB-4361-885D-8D9AE0DDA043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1673218" name="Text Box 2"/>
          <p:cNvSpPr txBox="1">
            <a:spLocks noChangeArrowheads="1"/>
          </p:cNvSpPr>
          <p:nvPr/>
        </p:nvSpPr>
        <p:spPr bwMode="auto">
          <a:xfrm>
            <a:off x="468313" y="5229225"/>
            <a:ext cx="8351837" cy="13112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buClr>
                <a:schemeClr val="tx2"/>
              </a:buClr>
              <a:buSzPct val="90000"/>
              <a:buFont typeface="Symbol" pitchFamily="18" charset="2"/>
              <a:buNone/>
            </a:pPr>
            <a:r>
              <a:rPr kumimoji="1" lang="zh-CN" altLang="en-US" sz="2000">
                <a:latin typeface="Arial" pitchFamily="34" charset="0"/>
                <a:ea typeface="黑体" pitchFamily="49" charset="-122"/>
              </a:rPr>
              <a:t>查表时，由虚页号同时查</a:t>
            </a:r>
            <a:r>
              <a:rPr kumimoji="1" lang="zh-CN" altLang="en-US" sz="200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快表</a:t>
            </a:r>
            <a:r>
              <a:rPr kumimoji="1" lang="zh-CN" altLang="en-US" sz="2000">
                <a:latin typeface="Arial" pitchFamily="34" charset="0"/>
                <a:ea typeface="黑体" pitchFamily="49" charset="-122"/>
              </a:rPr>
              <a:t>和</a:t>
            </a:r>
            <a:r>
              <a:rPr kumimoji="1" lang="zh-CN" altLang="en-US" sz="200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慢表</a:t>
            </a:r>
            <a:r>
              <a:rPr kumimoji="1" lang="zh-CN" altLang="en-US" sz="2000">
                <a:latin typeface="Arial" pitchFamily="34" charset="0"/>
                <a:ea typeface="黑体" pitchFamily="49" charset="-122"/>
              </a:rPr>
              <a:t>，如果在快表中找到，则立即使慢表查找作废。如果在快表中查不到，则经过一个访主存时间，从慢表中查到实页号，并将其送入主存实地址寄存器，同时将此虚页号和对应的实页号送入快表 </a:t>
            </a:r>
            <a:r>
              <a:rPr kumimoji="1" lang="en-US" altLang="zh-CN" sz="2000">
                <a:latin typeface="Arial" pitchFamily="34" charset="0"/>
                <a:ea typeface="黑体" pitchFamily="49" charset="-122"/>
              </a:rPr>
              <a:t>—— </a:t>
            </a:r>
            <a:r>
              <a:rPr kumimoji="1" lang="en-US" altLang="zh-CN" sz="2000">
                <a:solidFill>
                  <a:srgbClr val="008000"/>
                </a:solidFill>
                <a:latin typeface="Arial" pitchFamily="34" charset="0"/>
                <a:ea typeface="黑体" pitchFamily="49" charset="-122"/>
              </a:rPr>
              <a:t>LRU</a:t>
            </a:r>
            <a:r>
              <a:rPr kumimoji="1" lang="zh-CN" altLang="en-US" sz="2000">
                <a:solidFill>
                  <a:srgbClr val="008000"/>
                </a:solidFill>
                <a:latin typeface="Arial" pitchFamily="34" charset="0"/>
                <a:ea typeface="黑体" pitchFamily="49" charset="-122"/>
              </a:rPr>
              <a:t>替换算法</a:t>
            </a:r>
            <a:r>
              <a:rPr kumimoji="1" lang="zh-CN" altLang="en-US" sz="2000">
                <a:latin typeface="Arial" pitchFamily="34" charset="0"/>
                <a:ea typeface="黑体" pitchFamily="49" charset="-122"/>
              </a:rPr>
              <a:t>。</a:t>
            </a:r>
          </a:p>
        </p:txBody>
      </p:sp>
      <p:sp>
        <p:nvSpPr>
          <p:cNvPr id="1673219" name="Text Box 3"/>
          <p:cNvSpPr txBox="1">
            <a:spLocks noChangeArrowheads="1"/>
          </p:cNvSpPr>
          <p:nvPr/>
        </p:nvSpPr>
        <p:spPr bwMode="auto">
          <a:xfrm>
            <a:off x="2189163" y="76200"/>
            <a:ext cx="462597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CC0066"/>
                </a:solidFill>
                <a:latin typeface="Arial" pitchFamily="34" charset="0"/>
                <a:ea typeface="黑体" pitchFamily="49" charset="-122"/>
              </a:rPr>
              <a:t>采用快慢表的地址变换过程</a:t>
            </a:r>
          </a:p>
        </p:txBody>
      </p:sp>
      <p:sp>
        <p:nvSpPr>
          <p:cNvPr id="1673220" name="Rectangle 4"/>
          <p:cNvSpPr>
            <a:spLocks noChangeArrowheads="1"/>
          </p:cNvSpPr>
          <p:nvPr/>
        </p:nvSpPr>
        <p:spPr bwMode="auto">
          <a:xfrm>
            <a:off x="6770688" y="4330700"/>
            <a:ext cx="11287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ea typeface="黑体" pitchFamily="49" charset="-122"/>
              </a:rPr>
              <a:t>实页号</a:t>
            </a:r>
          </a:p>
        </p:txBody>
      </p:sp>
      <p:sp>
        <p:nvSpPr>
          <p:cNvPr id="1673221" name="Rectangle 5"/>
          <p:cNvSpPr>
            <a:spLocks noChangeArrowheads="1"/>
          </p:cNvSpPr>
          <p:nvPr/>
        </p:nvSpPr>
        <p:spPr bwMode="auto">
          <a:xfrm>
            <a:off x="2882900" y="909638"/>
            <a:ext cx="1882775" cy="3968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ea typeface="黑体" pitchFamily="49" charset="-122"/>
              </a:rPr>
              <a:t>用户号</a:t>
            </a:r>
            <a:r>
              <a:rPr kumimoji="1" lang="en-US" altLang="zh-CN" sz="2000">
                <a:ea typeface="黑体" pitchFamily="49" charset="-122"/>
              </a:rPr>
              <a:t>U</a:t>
            </a:r>
          </a:p>
        </p:txBody>
      </p:sp>
      <p:sp>
        <p:nvSpPr>
          <p:cNvPr id="1673222" name="Rectangle 6"/>
          <p:cNvSpPr>
            <a:spLocks noChangeArrowheads="1"/>
          </p:cNvSpPr>
          <p:nvPr/>
        </p:nvSpPr>
        <p:spPr bwMode="auto">
          <a:xfrm>
            <a:off x="6207125" y="909638"/>
            <a:ext cx="1692275" cy="3968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ea typeface="黑体" pitchFamily="49" charset="-122"/>
              </a:rPr>
              <a:t>页内偏移</a:t>
            </a:r>
            <a:r>
              <a:rPr kumimoji="1" lang="en-US" altLang="zh-CN" sz="2000">
                <a:ea typeface="黑体" pitchFamily="49" charset="-122"/>
              </a:rPr>
              <a:t>D</a:t>
            </a:r>
            <a:endParaRPr kumimoji="1" lang="zh-CN" altLang="zh-CN" sz="2000">
              <a:ea typeface="黑体" pitchFamily="49" charset="-122"/>
            </a:endParaRPr>
          </a:p>
        </p:txBody>
      </p:sp>
      <p:sp>
        <p:nvSpPr>
          <p:cNvPr id="1673223" name="Rectangle 7"/>
          <p:cNvSpPr>
            <a:spLocks noChangeArrowheads="1"/>
          </p:cNvSpPr>
          <p:nvPr/>
        </p:nvSpPr>
        <p:spPr bwMode="auto">
          <a:xfrm>
            <a:off x="6770688" y="3970338"/>
            <a:ext cx="1128712" cy="3968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>
              <a:ea typeface="黑体" pitchFamily="49" charset="-122"/>
            </a:endParaRPr>
          </a:p>
        </p:txBody>
      </p:sp>
      <p:sp>
        <p:nvSpPr>
          <p:cNvPr id="1673224" name="Rectangle 8"/>
          <p:cNvSpPr>
            <a:spLocks noChangeArrowheads="1"/>
          </p:cNvSpPr>
          <p:nvPr/>
        </p:nvSpPr>
        <p:spPr bwMode="auto">
          <a:xfrm>
            <a:off x="6770688" y="3575050"/>
            <a:ext cx="1128712" cy="39528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>
                <a:ea typeface="黑体" pitchFamily="49" charset="-122"/>
              </a:rPr>
              <a:t>p</a:t>
            </a:r>
          </a:p>
        </p:txBody>
      </p:sp>
      <p:sp>
        <p:nvSpPr>
          <p:cNvPr id="1673225" name="Line 9"/>
          <p:cNvSpPr>
            <a:spLocks noChangeShapeType="1"/>
          </p:cNvSpPr>
          <p:nvPr/>
        </p:nvSpPr>
        <p:spPr bwMode="auto">
          <a:xfrm flipH="1">
            <a:off x="4513263" y="1604963"/>
            <a:ext cx="3175" cy="1571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26" name="Line 10"/>
          <p:cNvSpPr>
            <a:spLocks noChangeShapeType="1"/>
          </p:cNvSpPr>
          <p:nvPr/>
        </p:nvSpPr>
        <p:spPr bwMode="auto">
          <a:xfrm flipV="1">
            <a:off x="6080125" y="2663825"/>
            <a:ext cx="0" cy="28098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27" name="Rectangle 11"/>
          <p:cNvSpPr>
            <a:spLocks noChangeArrowheads="1"/>
          </p:cNvSpPr>
          <p:nvPr/>
        </p:nvSpPr>
        <p:spPr bwMode="auto">
          <a:xfrm>
            <a:off x="4765675" y="909638"/>
            <a:ext cx="1441450" cy="3968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ea typeface="黑体" pitchFamily="49" charset="-122"/>
              </a:rPr>
              <a:t>虚页号</a:t>
            </a:r>
            <a:r>
              <a:rPr kumimoji="1" lang="en-US" altLang="zh-CN" sz="2000">
                <a:ea typeface="黑体" pitchFamily="49" charset="-122"/>
              </a:rPr>
              <a:t>P</a:t>
            </a:r>
          </a:p>
        </p:txBody>
      </p:sp>
      <p:sp>
        <p:nvSpPr>
          <p:cNvPr id="1673228" name="Rectangle 12"/>
          <p:cNvSpPr>
            <a:spLocks noChangeArrowheads="1"/>
          </p:cNvSpPr>
          <p:nvPr/>
        </p:nvSpPr>
        <p:spPr bwMode="auto">
          <a:xfrm>
            <a:off x="6770688" y="3176588"/>
            <a:ext cx="1128712" cy="39846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>
              <a:ea typeface="黑体" pitchFamily="49" charset="-122"/>
            </a:endParaRPr>
          </a:p>
        </p:txBody>
      </p:sp>
      <p:sp>
        <p:nvSpPr>
          <p:cNvPr id="1673229" name="Line 13"/>
          <p:cNvSpPr>
            <a:spLocks noChangeShapeType="1"/>
          </p:cNvSpPr>
          <p:nvPr/>
        </p:nvSpPr>
        <p:spPr bwMode="auto">
          <a:xfrm flipV="1">
            <a:off x="1441450" y="1760538"/>
            <a:ext cx="307181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30" name="Rectangle 14"/>
          <p:cNvSpPr>
            <a:spLocks noChangeArrowheads="1"/>
          </p:cNvSpPr>
          <p:nvPr/>
        </p:nvSpPr>
        <p:spPr bwMode="auto">
          <a:xfrm>
            <a:off x="1116013" y="908050"/>
            <a:ext cx="1704975" cy="3746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solidFill>
                  <a:srgbClr val="FF0000"/>
                </a:solidFill>
                <a:ea typeface="黑体" pitchFamily="49" charset="-122"/>
              </a:rPr>
              <a:t>多用户虚地址</a:t>
            </a:r>
            <a:endParaRPr kumimoji="1" lang="zh-CN" altLang="zh-CN" sz="200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1673231" name="Rectangle 15"/>
          <p:cNvSpPr>
            <a:spLocks noChangeArrowheads="1"/>
          </p:cNvSpPr>
          <p:nvPr/>
        </p:nvSpPr>
        <p:spPr bwMode="auto">
          <a:xfrm>
            <a:off x="4325938" y="4687888"/>
            <a:ext cx="3824287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solidFill>
                  <a:srgbClr val="FF0000"/>
                </a:solidFill>
                <a:ea typeface="黑体" pitchFamily="49" charset="-122"/>
              </a:rPr>
              <a:t>快表（按内容相联访问）</a:t>
            </a:r>
            <a:endParaRPr kumimoji="1" lang="zh-CN" altLang="zh-CN" sz="200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1673232" name="Rectangle 16"/>
          <p:cNvSpPr>
            <a:spLocks noChangeArrowheads="1"/>
          </p:cNvSpPr>
          <p:nvPr/>
        </p:nvSpPr>
        <p:spPr bwMode="auto">
          <a:xfrm>
            <a:off x="6207125" y="1873250"/>
            <a:ext cx="1692275" cy="3968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ea typeface="黑体" pitchFamily="49" charset="-122"/>
              </a:rPr>
              <a:t>页内偏移</a:t>
            </a:r>
            <a:r>
              <a:rPr kumimoji="1" lang="en-US" altLang="zh-CN" sz="2000">
                <a:ea typeface="黑体" pitchFamily="49" charset="-122"/>
              </a:rPr>
              <a:t>d</a:t>
            </a:r>
            <a:endParaRPr kumimoji="1" lang="zh-CN" altLang="zh-CN" sz="2000">
              <a:ea typeface="黑体" pitchFamily="49" charset="-122"/>
            </a:endParaRPr>
          </a:p>
        </p:txBody>
      </p:sp>
      <p:sp>
        <p:nvSpPr>
          <p:cNvPr id="1673233" name="Rectangle 17"/>
          <p:cNvSpPr>
            <a:spLocks noChangeArrowheads="1"/>
          </p:cNvSpPr>
          <p:nvPr/>
        </p:nvSpPr>
        <p:spPr bwMode="auto">
          <a:xfrm>
            <a:off x="4953000" y="1873250"/>
            <a:ext cx="1254125" cy="3968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ea typeface="黑体" pitchFamily="49" charset="-122"/>
              </a:rPr>
              <a:t>实页号</a:t>
            </a:r>
            <a:r>
              <a:rPr kumimoji="1" lang="en-US" altLang="zh-CN" sz="2000">
                <a:ea typeface="黑体" pitchFamily="49" charset="-122"/>
              </a:rPr>
              <a:t>p</a:t>
            </a:r>
          </a:p>
        </p:txBody>
      </p:sp>
      <p:sp>
        <p:nvSpPr>
          <p:cNvPr id="1673234" name="Rectangle 18"/>
          <p:cNvSpPr>
            <a:spLocks noChangeArrowheads="1"/>
          </p:cNvSpPr>
          <p:nvPr/>
        </p:nvSpPr>
        <p:spPr bwMode="auto">
          <a:xfrm>
            <a:off x="4387850" y="4330700"/>
            <a:ext cx="2382838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ea typeface="黑体" pitchFamily="49" charset="-122"/>
              </a:rPr>
              <a:t>多用户虚页号</a:t>
            </a:r>
          </a:p>
        </p:txBody>
      </p:sp>
      <p:sp>
        <p:nvSpPr>
          <p:cNvPr id="1673235" name="Rectangle 19"/>
          <p:cNvSpPr>
            <a:spLocks noChangeArrowheads="1"/>
          </p:cNvSpPr>
          <p:nvPr/>
        </p:nvSpPr>
        <p:spPr bwMode="auto">
          <a:xfrm>
            <a:off x="4387850" y="3970338"/>
            <a:ext cx="2382838" cy="3968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>
              <a:ea typeface="黑体" pitchFamily="49" charset="-122"/>
            </a:endParaRPr>
          </a:p>
        </p:txBody>
      </p:sp>
      <p:sp>
        <p:nvSpPr>
          <p:cNvPr id="1673236" name="Rectangle 20"/>
          <p:cNvSpPr>
            <a:spLocks noChangeArrowheads="1"/>
          </p:cNvSpPr>
          <p:nvPr/>
        </p:nvSpPr>
        <p:spPr bwMode="auto">
          <a:xfrm>
            <a:off x="4387850" y="3575050"/>
            <a:ext cx="2382838" cy="39528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>
                <a:ea typeface="黑体" pitchFamily="49" charset="-122"/>
              </a:rPr>
              <a:t>U, P</a:t>
            </a:r>
          </a:p>
        </p:txBody>
      </p:sp>
      <p:sp>
        <p:nvSpPr>
          <p:cNvPr id="1673237" name="Rectangle 21"/>
          <p:cNvSpPr>
            <a:spLocks noChangeArrowheads="1"/>
          </p:cNvSpPr>
          <p:nvPr/>
        </p:nvSpPr>
        <p:spPr bwMode="auto">
          <a:xfrm>
            <a:off x="4387850" y="3176588"/>
            <a:ext cx="2382838" cy="39846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>
              <a:ea typeface="黑体" pitchFamily="49" charset="-122"/>
            </a:endParaRPr>
          </a:p>
        </p:txBody>
      </p:sp>
      <p:sp>
        <p:nvSpPr>
          <p:cNvPr id="1673238" name="Line 22"/>
          <p:cNvSpPr>
            <a:spLocks noChangeShapeType="1"/>
          </p:cNvSpPr>
          <p:nvPr/>
        </p:nvSpPr>
        <p:spPr bwMode="auto">
          <a:xfrm>
            <a:off x="7023100" y="1306513"/>
            <a:ext cx="0" cy="5667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39" name="Rectangle 23"/>
          <p:cNvSpPr>
            <a:spLocks noChangeArrowheads="1"/>
          </p:cNvSpPr>
          <p:nvPr/>
        </p:nvSpPr>
        <p:spPr bwMode="auto">
          <a:xfrm>
            <a:off x="6143625" y="2270125"/>
            <a:ext cx="1819275" cy="3397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solidFill>
                  <a:srgbClr val="FF0000"/>
                </a:solidFill>
                <a:ea typeface="黑体" pitchFamily="49" charset="-122"/>
              </a:rPr>
              <a:t>主存实地址</a:t>
            </a:r>
            <a:endParaRPr kumimoji="1" lang="zh-CN" altLang="zh-CN" sz="200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1673240" name="Line 24"/>
          <p:cNvSpPr>
            <a:spLocks noChangeShapeType="1"/>
          </p:cNvSpPr>
          <p:nvPr/>
        </p:nvSpPr>
        <p:spPr bwMode="auto">
          <a:xfrm>
            <a:off x="1441450" y="1760538"/>
            <a:ext cx="0" cy="20399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41" name="Rectangle 25"/>
          <p:cNvSpPr>
            <a:spLocks noChangeArrowheads="1"/>
          </p:cNvSpPr>
          <p:nvPr/>
        </p:nvSpPr>
        <p:spPr bwMode="auto">
          <a:xfrm>
            <a:off x="2570163" y="4330700"/>
            <a:ext cx="1128712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ea typeface="黑体" pitchFamily="49" charset="-122"/>
              </a:rPr>
              <a:t>实页号</a:t>
            </a:r>
          </a:p>
        </p:txBody>
      </p:sp>
      <p:sp>
        <p:nvSpPr>
          <p:cNvPr id="1673242" name="Rectangle 26"/>
          <p:cNvSpPr>
            <a:spLocks noChangeArrowheads="1"/>
          </p:cNvSpPr>
          <p:nvPr/>
        </p:nvSpPr>
        <p:spPr bwMode="auto">
          <a:xfrm>
            <a:off x="2570163" y="3970338"/>
            <a:ext cx="1128712" cy="3968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>
              <a:ea typeface="黑体" pitchFamily="49" charset="-122"/>
            </a:endParaRPr>
          </a:p>
        </p:txBody>
      </p:sp>
      <p:sp>
        <p:nvSpPr>
          <p:cNvPr id="1673243" name="Rectangle 27"/>
          <p:cNvSpPr>
            <a:spLocks noChangeArrowheads="1"/>
          </p:cNvSpPr>
          <p:nvPr/>
        </p:nvSpPr>
        <p:spPr bwMode="auto">
          <a:xfrm>
            <a:off x="2570163" y="3575050"/>
            <a:ext cx="1128712" cy="39528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>
                <a:ea typeface="黑体" pitchFamily="49" charset="-122"/>
              </a:rPr>
              <a:t>p</a:t>
            </a:r>
          </a:p>
        </p:txBody>
      </p:sp>
      <p:sp>
        <p:nvSpPr>
          <p:cNvPr id="1673244" name="Rectangle 28"/>
          <p:cNvSpPr>
            <a:spLocks noChangeArrowheads="1"/>
          </p:cNvSpPr>
          <p:nvPr/>
        </p:nvSpPr>
        <p:spPr bwMode="auto">
          <a:xfrm>
            <a:off x="2570163" y="3176588"/>
            <a:ext cx="1128712" cy="39846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>
              <a:ea typeface="黑体" pitchFamily="49" charset="-122"/>
            </a:endParaRPr>
          </a:p>
        </p:txBody>
      </p:sp>
      <p:sp>
        <p:nvSpPr>
          <p:cNvPr id="1673245" name="Rectangle 29"/>
          <p:cNvSpPr>
            <a:spLocks noChangeArrowheads="1"/>
          </p:cNvSpPr>
          <p:nvPr/>
        </p:nvSpPr>
        <p:spPr bwMode="auto">
          <a:xfrm>
            <a:off x="1755775" y="4330700"/>
            <a:ext cx="814388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ea typeface="黑体" pitchFamily="49" charset="-122"/>
              </a:rPr>
              <a:t>装入</a:t>
            </a:r>
          </a:p>
        </p:txBody>
      </p:sp>
      <p:sp>
        <p:nvSpPr>
          <p:cNvPr id="1673246" name="Rectangle 30"/>
          <p:cNvSpPr>
            <a:spLocks noChangeArrowheads="1"/>
          </p:cNvSpPr>
          <p:nvPr/>
        </p:nvSpPr>
        <p:spPr bwMode="auto">
          <a:xfrm>
            <a:off x="1755775" y="3970338"/>
            <a:ext cx="814388" cy="3968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>
              <a:ea typeface="黑体" pitchFamily="49" charset="-122"/>
            </a:endParaRPr>
          </a:p>
        </p:txBody>
      </p:sp>
      <p:sp>
        <p:nvSpPr>
          <p:cNvPr id="1673247" name="Rectangle 31"/>
          <p:cNvSpPr>
            <a:spLocks noChangeArrowheads="1"/>
          </p:cNvSpPr>
          <p:nvPr/>
        </p:nvSpPr>
        <p:spPr bwMode="auto">
          <a:xfrm>
            <a:off x="1755775" y="3575050"/>
            <a:ext cx="814388" cy="395288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>
                <a:ea typeface="黑体" pitchFamily="49" charset="-122"/>
              </a:rPr>
              <a:t>1</a:t>
            </a:r>
          </a:p>
        </p:txBody>
      </p:sp>
      <p:sp>
        <p:nvSpPr>
          <p:cNvPr id="1673248" name="Rectangle 32"/>
          <p:cNvSpPr>
            <a:spLocks noChangeArrowheads="1"/>
          </p:cNvSpPr>
          <p:nvPr/>
        </p:nvSpPr>
        <p:spPr bwMode="auto">
          <a:xfrm>
            <a:off x="1755775" y="3176588"/>
            <a:ext cx="814388" cy="398462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kumimoji="1" lang="zh-CN" altLang="zh-CN" sz="2000">
              <a:ea typeface="黑体" pitchFamily="49" charset="-122"/>
            </a:endParaRPr>
          </a:p>
        </p:txBody>
      </p:sp>
      <p:sp>
        <p:nvSpPr>
          <p:cNvPr id="1673249" name="Line 33"/>
          <p:cNvSpPr>
            <a:spLocks noChangeShapeType="1"/>
          </p:cNvSpPr>
          <p:nvPr/>
        </p:nvSpPr>
        <p:spPr bwMode="auto">
          <a:xfrm>
            <a:off x="1441450" y="3800475"/>
            <a:ext cx="314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50" name="Line 34"/>
          <p:cNvSpPr>
            <a:spLocks noChangeShapeType="1"/>
          </p:cNvSpPr>
          <p:nvPr/>
        </p:nvSpPr>
        <p:spPr bwMode="auto">
          <a:xfrm flipV="1">
            <a:off x="3386138" y="3800475"/>
            <a:ext cx="56832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51" name="Line 35"/>
          <p:cNvSpPr>
            <a:spLocks noChangeShapeType="1"/>
          </p:cNvSpPr>
          <p:nvPr/>
        </p:nvSpPr>
        <p:spPr bwMode="auto">
          <a:xfrm>
            <a:off x="3938588" y="2924175"/>
            <a:ext cx="9525" cy="8763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52" name="Line 36"/>
          <p:cNvSpPr>
            <a:spLocks noChangeShapeType="1"/>
          </p:cNvSpPr>
          <p:nvPr/>
        </p:nvSpPr>
        <p:spPr bwMode="auto">
          <a:xfrm flipV="1">
            <a:off x="3935413" y="2932113"/>
            <a:ext cx="1204912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53" name="Line 37"/>
          <p:cNvSpPr>
            <a:spLocks noChangeShapeType="1"/>
          </p:cNvSpPr>
          <p:nvPr/>
        </p:nvSpPr>
        <p:spPr bwMode="auto">
          <a:xfrm flipV="1">
            <a:off x="5140325" y="2663825"/>
            <a:ext cx="0" cy="268288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54" name="Line 38"/>
          <p:cNvSpPr>
            <a:spLocks noChangeShapeType="1"/>
          </p:cNvSpPr>
          <p:nvPr/>
        </p:nvSpPr>
        <p:spPr bwMode="auto">
          <a:xfrm flipV="1">
            <a:off x="4953000" y="2655888"/>
            <a:ext cx="1317625" cy="0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55" name="Line 39"/>
          <p:cNvSpPr>
            <a:spLocks noChangeShapeType="1"/>
          </p:cNvSpPr>
          <p:nvPr/>
        </p:nvSpPr>
        <p:spPr bwMode="auto">
          <a:xfrm flipV="1">
            <a:off x="5580063" y="2270125"/>
            <a:ext cx="0" cy="385763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56" name="Rectangle 40"/>
          <p:cNvSpPr>
            <a:spLocks noChangeArrowheads="1"/>
          </p:cNvSpPr>
          <p:nvPr/>
        </p:nvSpPr>
        <p:spPr bwMode="auto">
          <a:xfrm>
            <a:off x="2255838" y="4687888"/>
            <a:ext cx="94297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>
                <a:solidFill>
                  <a:srgbClr val="FF0000"/>
                </a:solidFill>
                <a:ea typeface="黑体" pitchFamily="49" charset="-122"/>
              </a:rPr>
              <a:t>慢表</a:t>
            </a:r>
            <a:endParaRPr kumimoji="1" lang="zh-CN" altLang="zh-CN" sz="200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1673257" name="AutoShape 41"/>
          <p:cNvSpPr>
            <a:spLocks/>
          </p:cNvSpPr>
          <p:nvPr/>
        </p:nvSpPr>
        <p:spPr bwMode="auto">
          <a:xfrm rot="16200000">
            <a:off x="4424363" y="-153987"/>
            <a:ext cx="249237" cy="3265487"/>
          </a:xfrm>
          <a:prstGeom prst="leftBrace">
            <a:avLst>
              <a:gd name="adj1" fmla="val 79825"/>
              <a:gd name="adj2" fmla="val 48981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58" name="Oval 42"/>
          <p:cNvSpPr>
            <a:spLocks noChangeArrowheads="1"/>
          </p:cNvSpPr>
          <p:nvPr/>
        </p:nvSpPr>
        <p:spPr bwMode="auto">
          <a:xfrm>
            <a:off x="4462463" y="1708150"/>
            <a:ext cx="112712" cy="107950"/>
          </a:xfrm>
          <a:prstGeom prst="ellipse">
            <a:avLst/>
          </a:prstGeom>
          <a:solidFill>
            <a:srgbClr val="0000FF"/>
          </a:solidFill>
          <a:ln w="28575" algn="ctr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59" name="Text Box 43"/>
          <p:cNvSpPr txBox="1">
            <a:spLocks noChangeArrowheads="1"/>
          </p:cNvSpPr>
          <p:nvPr/>
        </p:nvSpPr>
        <p:spPr bwMode="auto">
          <a:xfrm>
            <a:off x="4003675" y="2967038"/>
            <a:ext cx="458788" cy="12954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r>
              <a:rPr lang="zh-CN" altLang="en-US" sz="1800">
                <a:solidFill>
                  <a:srgbClr val="0000FF"/>
                </a:solidFill>
                <a:latin typeface="Arial" pitchFamily="34" charset="0"/>
                <a:ea typeface="黑体" pitchFamily="49" charset="-122"/>
              </a:rPr>
              <a:t>相联比较</a:t>
            </a:r>
          </a:p>
        </p:txBody>
      </p:sp>
      <p:sp>
        <p:nvSpPr>
          <p:cNvPr id="1673260" name="Line 44"/>
          <p:cNvSpPr>
            <a:spLocks noChangeShapeType="1"/>
          </p:cNvSpPr>
          <p:nvPr/>
        </p:nvSpPr>
        <p:spPr bwMode="auto">
          <a:xfrm>
            <a:off x="6086475" y="2933700"/>
            <a:ext cx="128587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61" name="Line 45"/>
          <p:cNvSpPr>
            <a:spLocks noChangeShapeType="1"/>
          </p:cNvSpPr>
          <p:nvPr/>
        </p:nvSpPr>
        <p:spPr bwMode="auto">
          <a:xfrm>
            <a:off x="7372350" y="2924175"/>
            <a:ext cx="0" cy="7239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3262" name="AutoShape 4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68313" y="4581525"/>
            <a:ext cx="431800" cy="431800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44E305-814F-4E18-836B-5A5D9C8E89B7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169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0" y="700880"/>
            <a:ext cx="2232372" cy="519113"/>
          </a:xfrm>
        </p:spPr>
        <p:txBody>
          <a:bodyPr/>
          <a:lstStyle/>
          <a:p>
            <a:pPr marL="0" indent="0">
              <a:spcBef>
                <a:spcPct val="10000"/>
              </a:spcBef>
              <a:buNone/>
            </a:pPr>
            <a:r>
              <a:rPr lang="zh-CN" altLang="en-US" dirty="0">
                <a:ea typeface="黑体" pitchFamily="49" charset="-122"/>
              </a:rPr>
              <a:t>快慢表法</a:t>
            </a:r>
          </a:p>
        </p:txBody>
      </p:sp>
      <p:sp>
        <p:nvSpPr>
          <p:cNvPr id="1695749" name="Text Box 5"/>
          <p:cNvSpPr txBox="1">
            <a:spLocks noChangeArrowheads="1"/>
          </p:cNvSpPr>
          <p:nvPr/>
        </p:nvSpPr>
        <p:spPr bwMode="auto">
          <a:xfrm>
            <a:off x="250825" y="6092825"/>
            <a:ext cx="532923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页式虚拟存储器快表工作思路</a:t>
            </a:r>
          </a:p>
        </p:txBody>
      </p:sp>
      <p:sp>
        <p:nvSpPr>
          <p:cNvPr id="1695752" name="AutoShape 8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468313" y="4581525"/>
            <a:ext cx="431800" cy="431800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DEADF70-CC4E-4034-B14F-7EECA484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4450"/>
            <a:ext cx="8553450" cy="523875"/>
          </a:xfrm>
        </p:spPr>
        <p:txBody>
          <a:bodyPr/>
          <a:lstStyle/>
          <a:p>
            <a:r>
              <a:rPr lang="zh-CN" altLang="en-US" dirty="0"/>
              <a:t>五、解决虚拟存储器的问题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rgbClr val="009900"/>
                </a:solidFill>
              </a:rPr>
              <a:t>2. </a:t>
            </a:r>
            <a:r>
              <a:rPr lang="zh-CN" altLang="en-US" dirty="0">
                <a:solidFill>
                  <a:srgbClr val="FF0066"/>
                </a:solidFill>
              </a:rPr>
              <a:t>地址变换</a:t>
            </a:r>
            <a:r>
              <a:rPr lang="zh-CN" altLang="en-US" dirty="0">
                <a:solidFill>
                  <a:srgbClr val="009900"/>
                </a:solidFill>
              </a:rPr>
              <a:t>的</a:t>
            </a:r>
            <a:r>
              <a:rPr lang="zh-CN" altLang="en-US" dirty="0">
                <a:solidFill>
                  <a:srgbClr val="FF0066"/>
                </a:solidFill>
              </a:rPr>
              <a:t>速度</a:t>
            </a:r>
            <a:r>
              <a:rPr lang="zh-CN" altLang="en-US" dirty="0">
                <a:solidFill>
                  <a:srgbClr val="009900"/>
                </a:solidFill>
              </a:rPr>
              <a:t>问题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37EA1D2-BC60-4FF8-AB01-C470B36AE0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684730"/>
              </p:ext>
            </p:extLst>
          </p:nvPr>
        </p:nvGraphicFramePr>
        <p:xfrm>
          <a:off x="1331640" y="620688"/>
          <a:ext cx="6562788" cy="5946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5830" name="Visio" r:id="rId3" imgW="2905214" imgH="2609993" progId="Visio.Drawing.15">
                  <p:embed/>
                </p:oleObj>
              </mc:Choice>
              <mc:Fallback>
                <p:oleObj name="Visio" r:id="rId3" imgW="2905214" imgH="2609993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620688"/>
                        <a:ext cx="6562788" cy="5946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4242" name="Object 2"/>
          <p:cNvGraphicFramePr>
            <a:graphicFrameLocks noChangeAspect="1"/>
          </p:cNvGraphicFramePr>
          <p:nvPr/>
        </p:nvGraphicFramePr>
        <p:xfrm>
          <a:off x="904875" y="168275"/>
          <a:ext cx="7999413" cy="653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320" name="文档" r:id="rId3" imgW="5199085" imgH="4251506" progId="Word.Document.8">
                  <p:embed/>
                </p:oleObj>
              </mc:Choice>
              <mc:Fallback>
                <p:oleObj name="文档" r:id="rId3" imgW="5199085" imgH="4251506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168275"/>
                        <a:ext cx="7999413" cy="653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4243" name="AutoShape 3"/>
          <p:cNvSpPr>
            <a:spLocks noChangeArrowheads="1"/>
          </p:cNvSpPr>
          <p:nvPr/>
        </p:nvSpPr>
        <p:spPr bwMode="auto">
          <a:xfrm>
            <a:off x="322263" y="908050"/>
            <a:ext cx="720725" cy="1008063"/>
          </a:xfrm>
          <a:prstGeom prst="can">
            <a:avLst>
              <a:gd name="adj" fmla="val 34967"/>
            </a:avLst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zh-CN" altLang="en-US" sz="1800">
                <a:latin typeface="Arial" pitchFamily="34" charset="0"/>
              </a:rPr>
              <a:t>海量</a:t>
            </a:r>
          </a:p>
          <a:p>
            <a:pPr>
              <a:spcBef>
                <a:spcPct val="0"/>
              </a:spcBef>
            </a:pPr>
            <a:r>
              <a:rPr lang="zh-CN" altLang="en-US" sz="1800">
                <a:latin typeface="Arial" pitchFamily="34" charset="0"/>
              </a:rPr>
              <a:t>存储器</a:t>
            </a:r>
          </a:p>
        </p:txBody>
      </p:sp>
      <p:sp>
        <p:nvSpPr>
          <p:cNvPr id="1674244" name="Text Box 4"/>
          <p:cNvSpPr txBox="1">
            <a:spLocks noChangeArrowheads="1"/>
          </p:cNvSpPr>
          <p:nvPr/>
        </p:nvSpPr>
        <p:spPr bwMode="auto">
          <a:xfrm>
            <a:off x="4067175" y="1268413"/>
            <a:ext cx="1150938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latin typeface="Arial" pitchFamily="34" charset="0"/>
              </a:rPr>
              <a:t>查</a:t>
            </a:r>
            <a:r>
              <a:rPr lang="zh-CN" altLang="en-US" sz="180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外页表</a:t>
            </a:r>
          </a:p>
        </p:txBody>
      </p:sp>
      <p:sp>
        <p:nvSpPr>
          <p:cNvPr id="1674245" name="Text Box 5"/>
          <p:cNvSpPr txBox="1">
            <a:spLocks noChangeArrowheads="1"/>
          </p:cNvSpPr>
          <p:nvPr/>
        </p:nvSpPr>
        <p:spPr bwMode="auto">
          <a:xfrm>
            <a:off x="2125663" y="3455988"/>
            <a:ext cx="1150937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latin typeface="Arial" pitchFamily="34" charset="0"/>
              </a:rPr>
              <a:t>查</a:t>
            </a:r>
            <a:r>
              <a:rPr lang="zh-CN" altLang="en-US" sz="180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内页表</a:t>
            </a:r>
          </a:p>
        </p:txBody>
      </p:sp>
      <p:sp>
        <p:nvSpPr>
          <p:cNvPr id="1674246" name="Text Box 6"/>
          <p:cNvSpPr txBox="1">
            <a:spLocks noChangeArrowheads="1"/>
          </p:cNvSpPr>
          <p:nvPr/>
        </p:nvSpPr>
        <p:spPr bwMode="auto">
          <a:xfrm>
            <a:off x="8605838" y="1182588"/>
            <a:ext cx="503237" cy="48387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黑体" pitchFamily="49" charset="-122"/>
              </a:rPr>
              <a:t>页式虚拟存储器工作的全过程</a:t>
            </a:r>
          </a:p>
        </p:txBody>
      </p:sp>
      <p:sp>
        <p:nvSpPr>
          <p:cNvPr id="1674247" name="Text Box 7"/>
          <p:cNvSpPr txBox="1">
            <a:spLocks noChangeArrowheads="1"/>
          </p:cNvSpPr>
          <p:nvPr/>
        </p:nvSpPr>
        <p:spPr bwMode="auto">
          <a:xfrm>
            <a:off x="107950" y="2349500"/>
            <a:ext cx="1223963" cy="7016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CC3399"/>
                </a:solidFill>
                <a:ea typeface="楷体" panose="02010609060101010101" pitchFamily="49" charset="-122"/>
              </a:rPr>
              <a:t>页面失效</a:t>
            </a:r>
            <a:br>
              <a:rPr lang="zh-CN" altLang="en-US" sz="2000" dirty="0">
                <a:solidFill>
                  <a:srgbClr val="CC3399"/>
                </a:solidFill>
                <a:ea typeface="楷体" panose="02010609060101010101" pitchFamily="49" charset="-122"/>
              </a:rPr>
            </a:br>
            <a:r>
              <a:rPr lang="zh-CN" altLang="en-US" sz="2000" dirty="0">
                <a:solidFill>
                  <a:srgbClr val="CC3399"/>
                </a:solidFill>
                <a:ea typeface="楷体" panose="02010609060101010101" pitchFamily="49" charset="-122"/>
              </a:rPr>
              <a:t>故障</a:t>
            </a:r>
          </a:p>
        </p:txBody>
      </p:sp>
      <p:sp>
        <p:nvSpPr>
          <p:cNvPr id="1674248" name="Text Box 8"/>
          <p:cNvSpPr txBox="1">
            <a:spLocks noChangeArrowheads="1"/>
          </p:cNvSpPr>
          <p:nvPr/>
        </p:nvSpPr>
        <p:spPr bwMode="auto">
          <a:xfrm>
            <a:off x="250825" y="188913"/>
            <a:ext cx="1223963" cy="7016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CC3399"/>
                </a:solidFill>
                <a:ea typeface="楷体" panose="02010609060101010101" pitchFamily="49" charset="-122"/>
              </a:rPr>
              <a:t>辅存缺页</a:t>
            </a:r>
            <a:br>
              <a:rPr lang="zh-CN" altLang="en-US" sz="2000" dirty="0">
                <a:solidFill>
                  <a:srgbClr val="CC3399"/>
                </a:solidFill>
                <a:ea typeface="楷体" panose="02010609060101010101" pitchFamily="49" charset="-122"/>
              </a:rPr>
            </a:br>
            <a:r>
              <a:rPr lang="zh-CN" altLang="en-US" sz="2000" dirty="0">
                <a:solidFill>
                  <a:srgbClr val="CC3399"/>
                </a:solidFill>
                <a:ea typeface="楷体" panose="02010609060101010101" pitchFamily="49" charset="-122"/>
              </a:rPr>
              <a:t>故障</a:t>
            </a:r>
          </a:p>
        </p:txBody>
      </p:sp>
      <p:sp>
        <p:nvSpPr>
          <p:cNvPr id="9" name="动作按钮: 获取信息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4E326F1-D5AA-4784-9C19-F3EAD761E50F}"/>
              </a:ext>
            </a:extLst>
          </p:cNvPr>
          <p:cNvSpPr/>
          <p:nvPr/>
        </p:nvSpPr>
        <p:spPr bwMode="auto">
          <a:xfrm>
            <a:off x="8362454" y="188639"/>
            <a:ext cx="576759" cy="576000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8D7EC7-0B80-46E9-AFC5-8871F53C27AA}" type="slidenum">
              <a:rPr lang="zh-CN" altLang="en-US"/>
              <a:pPr/>
              <a:t>33</a:t>
            </a:fld>
            <a:endParaRPr lang="en-US" altLang="zh-CN"/>
          </a:p>
        </p:txBody>
      </p:sp>
      <p:sp>
        <p:nvSpPr>
          <p:cNvPr id="167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六、替换算法</a:t>
            </a:r>
          </a:p>
        </p:txBody>
      </p:sp>
      <p:sp>
        <p:nvSpPr>
          <p:cNvPr id="167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341438"/>
            <a:ext cx="8353425" cy="5327650"/>
          </a:xfrm>
        </p:spPr>
        <p:txBody>
          <a:bodyPr/>
          <a:lstStyle/>
          <a:p>
            <a:pPr marL="361950" indent="-361950"/>
            <a:r>
              <a:rPr lang="zh-CN" altLang="en-US" dirty="0"/>
              <a:t>页面替换由</a:t>
            </a:r>
            <a:r>
              <a:rPr lang="en-US" altLang="zh-CN" dirty="0"/>
              <a:t>OS</a:t>
            </a:r>
            <a:r>
              <a:rPr lang="zh-CN" altLang="en-US" dirty="0"/>
              <a:t>实现</a:t>
            </a:r>
          </a:p>
          <a:p>
            <a:pPr marL="361950" indent="-361950"/>
            <a:r>
              <a:rPr lang="zh-CN" altLang="en-US" dirty="0"/>
              <a:t>修改位</a:t>
            </a:r>
          </a:p>
          <a:p>
            <a:pPr marL="361950" indent="-361950"/>
            <a:r>
              <a:rPr lang="zh-CN" altLang="en-US" dirty="0"/>
              <a:t>存储管理部件</a:t>
            </a:r>
            <a:r>
              <a:rPr lang="en-US" altLang="zh-CN" dirty="0"/>
              <a:t>MMU</a:t>
            </a:r>
            <a:r>
              <a:rPr lang="zh-CN" altLang="en-US" dirty="0"/>
              <a:t>：</a:t>
            </a:r>
          </a:p>
          <a:p>
            <a:pPr marL="717550" lvl="1" indent="-358775"/>
            <a:r>
              <a:rPr lang="zh-CN" altLang="en-US" dirty="0"/>
              <a:t>逻辑地址 </a:t>
            </a:r>
            <a:r>
              <a:rPr lang="zh-CN" altLang="en-US" dirty="0">
                <a:latin typeface="+mn-ea"/>
              </a:rPr>
              <a:t>→</a:t>
            </a:r>
            <a:r>
              <a:rPr lang="zh-CN" altLang="en-US" dirty="0"/>
              <a:t> 物理地址</a:t>
            </a:r>
          </a:p>
          <a:p>
            <a:pPr marL="717550" lvl="1" indent="-358775"/>
            <a:r>
              <a:rPr lang="zh-CN" altLang="en-US" dirty="0"/>
              <a:t>若页面失效，则进入操作系统环境</a:t>
            </a:r>
          </a:p>
        </p:txBody>
      </p:sp>
      <p:sp>
        <p:nvSpPr>
          <p:cNvPr id="2" name="动作按钮: 获取信息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A944760-B58F-45D2-B121-53D8960EAD6D}"/>
              </a:ext>
            </a:extLst>
          </p:cNvPr>
          <p:cNvSpPr/>
          <p:nvPr/>
        </p:nvSpPr>
        <p:spPr bwMode="auto">
          <a:xfrm>
            <a:off x="8362454" y="188639"/>
            <a:ext cx="576759" cy="576000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1232CB-9293-45D8-BFDD-1A5A49D7DDB0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167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六、替换算法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67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549275"/>
            <a:ext cx="8642350" cy="538163"/>
          </a:xfrm>
        </p:spPr>
        <p:txBody>
          <a:bodyPr/>
          <a:lstStyle/>
          <a:p>
            <a:pPr marL="361950" indent="-361950">
              <a:buNone/>
            </a:pPr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】</a:t>
            </a:r>
          </a:p>
        </p:txBody>
      </p:sp>
      <p:graphicFrame>
        <p:nvGraphicFramePr>
          <p:cNvPr id="167629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858329"/>
              </p:ext>
            </p:extLst>
          </p:nvPr>
        </p:nvGraphicFramePr>
        <p:xfrm>
          <a:off x="250825" y="1089248"/>
          <a:ext cx="8688388" cy="4572000"/>
        </p:xfrm>
        <a:graphic>
          <a:graphicData uri="http://schemas.openxmlformats.org/drawingml/2006/table">
            <a:tbl>
              <a:tblPr/>
              <a:tblGrid>
                <a:gridCol w="1582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1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41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41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41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548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74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时间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6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页面访问序列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命中率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FIFO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算法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宋体" pitchFamily="2" charset="-122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2/11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＝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18.2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％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+mn-lt"/>
                          <a:ea typeface="宋体" pitchFamily="2" charset="-122"/>
                          <a:cs typeface="Courier New" panose="02070309020205020404" pitchFamily="49" charset="0"/>
                        </a:rPr>
                        <a:t>01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43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LRU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算法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3/11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＝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27.3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％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4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8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76451" name="Text Box 163"/>
          <p:cNvSpPr txBox="1">
            <a:spLocks noChangeArrowheads="1"/>
          </p:cNvSpPr>
          <p:nvPr/>
        </p:nvSpPr>
        <p:spPr bwMode="auto">
          <a:xfrm>
            <a:off x="1475656" y="578558"/>
            <a:ext cx="2449513" cy="461665"/>
          </a:xfrm>
          <a:prstGeom prst="rect">
            <a:avLst/>
          </a:prstGeom>
          <a:solidFill>
            <a:srgbClr val="D1FFD1"/>
          </a:solidFill>
          <a:ln w="28575" algn="ctr">
            <a:solidFill>
              <a:srgbClr val="00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400" dirty="0">
                <a:solidFill>
                  <a:srgbClr val="0000FF"/>
                </a:solidFill>
              </a:rPr>
              <a:t>堆栈型替换算法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E6FA5A-5466-40C1-9B05-A671E5871952}"/>
              </a:ext>
            </a:extLst>
          </p:cNvPr>
          <p:cNvSpPr/>
          <p:nvPr/>
        </p:nvSpPr>
        <p:spPr bwMode="auto">
          <a:xfrm>
            <a:off x="4355976" y="2468783"/>
            <a:ext cx="504056" cy="444876"/>
          </a:xfrm>
          <a:prstGeom prst="rect">
            <a:avLst/>
          </a:prstGeom>
          <a:noFill/>
          <a:ln w="5715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4F61AC-A8E0-45BB-BA59-048759A842E0}"/>
              </a:ext>
            </a:extLst>
          </p:cNvPr>
          <p:cNvSpPr/>
          <p:nvPr/>
        </p:nvSpPr>
        <p:spPr bwMode="auto">
          <a:xfrm>
            <a:off x="4355976" y="3833612"/>
            <a:ext cx="504056" cy="444876"/>
          </a:xfrm>
          <a:prstGeom prst="rect">
            <a:avLst/>
          </a:prstGeom>
          <a:noFill/>
          <a:ln w="5715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5F45D6-BB6A-4A91-A69B-91CCB829FE50}"/>
              </a:ext>
            </a:extLst>
          </p:cNvPr>
          <p:cNvSpPr/>
          <p:nvPr/>
        </p:nvSpPr>
        <p:spPr bwMode="auto">
          <a:xfrm>
            <a:off x="5869882" y="3835757"/>
            <a:ext cx="504056" cy="444876"/>
          </a:xfrm>
          <a:prstGeom prst="rect">
            <a:avLst/>
          </a:prstGeom>
          <a:noFill/>
          <a:ln w="5715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64B87A-B4B0-4B16-91B7-6D3458AE9695}"/>
              </a:ext>
            </a:extLst>
          </p:cNvPr>
          <p:cNvSpPr/>
          <p:nvPr/>
        </p:nvSpPr>
        <p:spPr bwMode="auto">
          <a:xfrm>
            <a:off x="7376936" y="3834810"/>
            <a:ext cx="504056" cy="444876"/>
          </a:xfrm>
          <a:prstGeom prst="rect">
            <a:avLst/>
          </a:prstGeom>
          <a:noFill/>
          <a:ln w="5715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6E00D0-7755-424E-8CB6-7E8CADFEF629}"/>
              </a:ext>
            </a:extLst>
          </p:cNvPr>
          <p:cNvSpPr/>
          <p:nvPr/>
        </p:nvSpPr>
        <p:spPr bwMode="auto">
          <a:xfrm>
            <a:off x="7380747" y="2930372"/>
            <a:ext cx="504056" cy="444876"/>
          </a:xfrm>
          <a:prstGeom prst="rect">
            <a:avLst/>
          </a:prstGeom>
          <a:noFill/>
          <a:ln w="5715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B2AE18-53CB-4BAF-9D19-1BB900F8A2FC}"/>
              </a:ext>
            </a:extLst>
          </p:cNvPr>
          <p:cNvSpPr/>
          <p:nvPr/>
        </p:nvSpPr>
        <p:spPr>
          <a:xfrm>
            <a:off x="179512" y="5694347"/>
            <a:ext cx="89644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 dirty="0"/>
              <a:t>为了记录历史信息，在Cache地址映射表</a:t>
            </a:r>
            <a:r>
              <a:rPr lang="en-US" altLang="zh-CN" sz="2400" dirty="0"/>
              <a:t>/</a:t>
            </a:r>
            <a:r>
              <a:rPr lang="zh-CN" altLang="en-US" sz="2400" dirty="0"/>
              <a:t>虚存页表中增加计数器。</a:t>
            </a:r>
          </a:p>
          <a:p>
            <a:pPr algn="l">
              <a:spcBef>
                <a:spcPts val="0"/>
              </a:spcBef>
            </a:pPr>
            <a:r>
              <a:rPr lang="zh-CN" altLang="en-US" sz="2400" dirty="0">
                <a:solidFill>
                  <a:srgbClr val="009900"/>
                </a:solidFill>
              </a:rPr>
              <a:t>00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009900"/>
                </a:solidFill>
              </a:rPr>
              <a:t>01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009900"/>
                </a:solidFill>
              </a:rPr>
              <a:t>10</a:t>
            </a:r>
            <a:r>
              <a:rPr lang="zh-CN" altLang="en-US" sz="2400" dirty="0"/>
              <a:t>为计数器值；下标A、B、C代表Cache块编号。</a:t>
            </a:r>
          </a:p>
        </p:txBody>
      </p:sp>
      <p:sp>
        <p:nvSpPr>
          <p:cNvPr id="4" name="动作按钮: 上一张 3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24576E73-3305-473D-9744-9748C932F553}"/>
              </a:ext>
            </a:extLst>
          </p:cNvPr>
          <p:cNvSpPr>
            <a:spLocks noChangeAspect="1"/>
          </p:cNvSpPr>
          <p:nvPr/>
        </p:nvSpPr>
        <p:spPr bwMode="auto">
          <a:xfrm>
            <a:off x="8362454" y="188639"/>
            <a:ext cx="576759" cy="57600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41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pitchFamily="34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pitchFamily="34" charset="0"/>
                <a:ea typeface="黑体" pitchFamily="49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pitchFamily="34" charset="0"/>
                <a:ea typeface="黑体" pitchFamily="49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pitchFamily="34" charset="0"/>
              <a:ea typeface="黑体" pitchFamily="49" charset="-122"/>
            </a:endParaRPr>
          </a:p>
          <a:p>
            <a:pPr>
              <a:spcBef>
                <a:spcPct val="0"/>
              </a:spcBef>
              <a:buClrTx/>
              <a:buFont typeface="Arial" pitchFamily="34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4</a:t>
            </a: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章  存储系统</a:t>
            </a:r>
            <a:endParaRPr lang="zh-CN" altLang="en-US" sz="4000" b="0" dirty="0">
              <a:solidFill>
                <a:srgbClr val="CCFF66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596419" name="Rectangle 3"/>
          <p:cNvSpPr>
            <a:spLocks noChangeArrowheads="1"/>
          </p:cNvSpPr>
          <p:nvPr/>
        </p:nvSpPr>
        <p:spPr bwMode="auto">
          <a:xfrm>
            <a:off x="1979613" y="4435450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anose="02010609060101010101" pitchFamily="49" charset="-122"/>
                <a:cs typeface="+mn-cs"/>
              </a:rPr>
              <a:t>4.4 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anose="02010609060101010101" pitchFamily="49" charset="-122"/>
                <a:cs typeface="+mn-cs"/>
              </a:rPr>
              <a:t>虚拟存储器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7EFCB-3A51-4788-8281-2785FB8CA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5155530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itchFamily="18" charset="0"/>
                <a:ea typeface="楷体" panose="02010609060101010101" pitchFamily="49" charset="-122"/>
                <a:cs typeface="+mn-cs"/>
              </a:rPr>
              <a:t>4.4.2  </a:t>
            </a:r>
            <a:r>
              <a:rPr kumimoji="0" lang="zh-CN" altLang="en-US" sz="3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" panose="02010609060101010101" pitchFamily="49" charset="-122"/>
                <a:cs typeface="+mn-cs"/>
              </a:rPr>
              <a:t>虚拟存储器</a:t>
            </a:r>
            <a:r>
              <a:rPr lang="zh-CN" altLang="en-US" sz="3600" b="0" dirty="0">
                <a:solidFill>
                  <a:srgbClr val="CC0066"/>
                </a:solidFill>
                <a:ea typeface="楷体" panose="02010609060101010101" pitchFamily="49" charset="-122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392396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8896-24B1-4ABC-8A32-A38C3DC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5683-AB16-461D-AE7F-BE85402C7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362950" cy="6012903"/>
          </a:xfrm>
        </p:spPr>
        <p:txBody>
          <a:bodyPr/>
          <a:lstStyle/>
          <a:p>
            <a:r>
              <a:rPr lang="en-US" altLang="zh-CN" dirty="0"/>
              <a:t>RISC-V</a:t>
            </a:r>
            <a:r>
              <a:rPr lang="zh-CN" altLang="en-US" dirty="0"/>
              <a:t>的存储器</a:t>
            </a:r>
            <a:r>
              <a:rPr lang="zh-CN" altLang="en-US" dirty="0">
                <a:solidFill>
                  <a:srgbClr val="FF0066"/>
                </a:solidFill>
              </a:rPr>
              <a:t>按字节编址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RISC-V</a:t>
            </a:r>
            <a:r>
              <a:rPr lang="zh-CN" altLang="en-US" dirty="0"/>
              <a:t>架构定义了三种</a:t>
            </a:r>
            <a:r>
              <a:rPr lang="zh-CN" altLang="en-US" dirty="0">
                <a:solidFill>
                  <a:srgbClr val="FF0000"/>
                </a:solidFill>
              </a:rPr>
              <a:t>工作模式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M</a:t>
            </a:r>
            <a:r>
              <a:rPr lang="en-US" altLang="zh-CN" dirty="0"/>
              <a:t>achine Mode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0000FF"/>
                </a:solidFill>
              </a:rPr>
              <a:t>机器模式</a:t>
            </a:r>
            <a:r>
              <a:rPr lang="zh-CN" altLang="en-US" dirty="0"/>
              <a:t>，简称</a:t>
            </a:r>
            <a:r>
              <a:rPr lang="en-US" altLang="zh-CN" dirty="0"/>
              <a:t>M</a:t>
            </a:r>
            <a:r>
              <a:rPr lang="zh-CN" altLang="en-US" dirty="0"/>
              <a:t>模式。</a:t>
            </a:r>
            <a:br>
              <a:rPr lang="en-US" altLang="zh-CN" dirty="0"/>
            </a:br>
            <a:r>
              <a:rPr lang="zh-CN" altLang="en-US" dirty="0"/>
              <a:t>（必选模式）</a:t>
            </a:r>
            <a:br>
              <a:rPr lang="en-US" altLang="zh-CN" dirty="0"/>
            </a:br>
            <a:r>
              <a:rPr lang="zh-CN" altLang="en-US" dirty="0">
                <a:solidFill>
                  <a:srgbClr val="006600"/>
                </a:solidFill>
              </a:rPr>
              <a:t>运行</a:t>
            </a:r>
            <a:r>
              <a:rPr lang="zh-CN" altLang="en-US" u="sng" dirty="0">
                <a:solidFill>
                  <a:srgbClr val="006600"/>
                </a:solidFill>
              </a:rPr>
              <a:t>最可信</a:t>
            </a:r>
            <a:r>
              <a:rPr lang="zh-CN" altLang="en-US" dirty="0">
                <a:solidFill>
                  <a:srgbClr val="006600"/>
                </a:solidFill>
              </a:rPr>
              <a:t>的代码。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upervisor Mode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0000FF"/>
                </a:solidFill>
              </a:rPr>
              <a:t>管理模式</a:t>
            </a:r>
            <a:r>
              <a:rPr lang="zh-CN" altLang="en-US" dirty="0"/>
              <a:t>，简称</a:t>
            </a:r>
            <a:r>
              <a:rPr lang="en-US" altLang="zh-CN" dirty="0"/>
              <a:t>S</a:t>
            </a:r>
            <a:r>
              <a:rPr lang="zh-CN" altLang="en-US" dirty="0"/>
              <a:t>模式。</a:t>
            </a:r>
            <a:br>
              <a:rPr lang="en-US" altLang="zh-CN" dirty="0"/>
            </a:br>
            <a:r>
              <a:rPr lang="zh-CN" altLang="en-US" dirty="0"/>
              <a:t>（可选模式）</a:t>
            </a:r>
            <a:br>
              <a:rPr lang="en-US" altLang="zh-CN" dirty="0"/>
            </a:br>
            <a:r>
              <a:rPr lang="zh-CN" altLang="en-US" dirty="0"/>
              <a:t>为</a:t>
            </a:r>
            <a:r>
              <a:rPr lang="zh-CN" altLang="en-US" u="sng" dirty="0">
                <a:solidFill>
                  <a:srgbClr val="006600"/>
                </a:solidFill>
              </a:rPr>
              <a:t>操作系统</a:t>
            </a:r>
            <a:r>
              <a:rPr lang="zh-CN" altLang="en-US" dirty="0"/>
              <a:t>提供支持，</a:t>
            </a:r>
            <a:br>
              <a:rPr lang="en-US" altLang="zh-CN" dirty="0"/>
            </a:br>
            <a:r>
              <a:rPr lang="zh-CN" altLang="en-US" dirty="0"/>
              <a:t>提供了基于</a:t>
            </a:r>
            <a:r>
              <a:rPr lang="zh-CN" altLang="en-US" dirty="0">
                <a:solidFill>
                  <a:srgbClr val="CC0099"/>
                </a:solidFill>
              </a:rPr>
              <a:t>多级页表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页式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虚拟存储器</a:t>
            </a:r>
            <a:r>
              <a:rPr lang="zh-CN" altLang="en-US" dirty="0"/>
              <a:t>系统。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U</a:t>
            </a:r>
            <a:r>
              <a:rPr lang="en-US" altLang="zh-CN" dirty="0"/>
              <a:t>ser Mode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0000FF"/>
                </a:solidFill>
              </a:rPr>
              <a:t>用户模式</a:t>
            </a:r>
            <a:r>
              <a:rPr lang="zh-CN" altLang="en-US" dirty="0"/>
              <a:t>，简称</a:t>
            </a:r>
            <a:r>
              <a:rPr lang="en-US" altLang="zh-CN" dirty="0"/>
              <a:t>U</a:t>
            </a:r>
            <a:r>
              <a:rPr lang="zh-CN" altLang="en-US" dirty="0"/>
              <a:t>模式。</a:t>
            </a:r>
            <a:br>
              <a:rPr lang="en-US" altLang="zh-CN" dirty="0"/>
            </a:br>
            <a:r>
              <a:rPr lang="zh-CN" altLang="en-US" dirty="0"/>
              <a:t>（可选模式）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659AE-ED08-4D0F-B064-0E1808A27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36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357C60-8FB2-4222-8EBA-03703657FA41}"/>
              </a:ext>
            </a:extLst>
          </p:cNvPr>
          <p:cNvSpPr/>
          <p:nvPr/>
        </p:nvSpPr>
        <p:spPr>
          <a:xfrm>
            <a:off x="561524" y="5858108"/>
            <a:ext cx="2786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/>
              <a:t>权限：M＞S＞U</a:t>
            </a:r>
          </a:p>
        </p:txBody>
      </p:sp>
    </p:spTree>
    <p:extLst>
      <p:ext uri="{BB962C8B-B14F-4D97-AF65-F5344CB8AC3E}">
        <p14:creationId xmlns:p14="http://schemas.microsoft.com/office/powerpoint/2010/main" val="3777010684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8896-24B1-4ABC-8A32-A38C3DC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5683-AB16-461D-AE7F-BE85402C7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412776"/>
            <a:ext cx="8280920" cy="5292823"/>
          </a:xfrm>
        </p:spPr>
        <p:txBody>
          <a:bodyPr/>
          <a:lstStyle/>
          <a:p>
            <a:r>
              <a:rPr lang="en-US" altLang="zh-CN" dirty="0"/>
              <a:t>RV32</a:t>
            </a:r>
            <a:r>
              <a:rPr lang="zh-CN" altLang="en-US" dirty="0"/>
              <a:t>（</a:t>
            </a:r>
            <a:r>
              <a:rPr lang="en-US" altLang="zh-CN" dirty="0"/>
              <a:t>32</a:t>
            </a:r>
            <a:r>
              <a:rPr lang="zh-CN" altLang="en-US" dirty="0"/>
              <a:t>位的</a:t>
            </a:r>
            <a:r>
              <a:rPr lang="en-US" altLang="zh-CN" dirty="0"/>
              <a:t>RISC-V</a:t>
            </a:r>
            <a:r>
              <a:rPr lang="zh-CN" altLang="en-US" dirty="0"/>
              <a:t>）：</a:t>
            </a:r>
            <a:r>
              <a:rPr lang="en-US" altLang="zh-CN" dirty="0">
                <a:solidFill>
                  <a:srgbClr val="FF0000"/>
                </a:solidFill>
              </a:rPr>
              <a:t>Sv32</a:t>
            </a:r>
            <a:r>
              <a:rPr lang="zh-CN" altLang="en-US" dirty="0"/>
              <a:t>模式</a:t>
            </a:r>
            <a:endParaRPr lang="en-US" altLang="zh-CN" dirty="0"/>
          </a:p>
          <a:p>
            <a:r>
              <a:rPr lang="en-US" altLang="zh-CN" dirty="0"/>
              <a:t>RV64</a:t>
            </a:r>
            <a:r>
              <a:rPr lang="zh-CN" altLang="en-US" dirty="0"/>
              <a:t>（</a:t>
            </a:r>
            <a:r>
              <a:rPr lang="en-US" altLang="zh-CN" dirty="0"/>
              <a:t>64</a:t>
            </a:r>
            <a:r>
              <a:rPr lang="zh-CN" altLang="en-US" dirty="0"/>
              <a:t>位的</a:t>
            </a:r>
            <a:r>
              <a:rPr lang="en-US" altLang="zh-CN" dirty="0"/>
              <a:t>RISC-V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Sv39</a:t>
            </a:r>
            <a:r>
              <a:rPr lang="zh-CN" altLang="en-US" dirty="0"/>
              <a:t>模式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Sv48</a:t>
            </a:r>
            <a:r>
              <a:rPr lang="zh-CN" altLang="en-US" dirty="0"/>
              <a:t>模式</a:t>
            </a:r>
            <a:endParaRPr lang="en-US" altLang="zh-CN" dirty="0"/>
          </a:p>
          <a:p>
            <a:pPr lvl="1"/>
            <a:r>
              <a:rPr lang="en-US" altLang="zh-CN" dirty="0"/>
              <a:t>Sv57</a:t>
            </a:r>
            <a:r>
              <a:rPr lang="zh-CN" altLang="en-US" dirty="0"/>
              <a:t>模式、</a:t>
            </a:r>
            <a:r>
              <a:rPr lang="en-US" altLang="zh-CN" dirty="0"/>
              <a:t>Sv64</a:t>
            </a:r>
            <a:r>
              <a:rPr lang="zh-CN" altLang="en-US" dirty="0"/>
              <a:t>模式：保留给未来扩展。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659AE-ED08-4D0F-B064-0E1808A27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37</a:t>
            </a:fld>
            <a:endParaRPr lang="en-US" altLang="zh-CN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EA5FAB3-1521-41A4-BA2A-6017B4086C53}"/>
              </a:ext>
            </a:extLst>
          </p:cNvPr>
          <p:cNvSpPr txBox="1">
            <a:spLocks/>
          </p:cNvSpPr>
          <p:nvPr/>
        </p:nvSpPr>
        <p:spPr bwMode="auto">
          <a:xfrm>
            <a:off x="755576" y="568325"/>
            <a:ext cx="806457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r>
              <a:rPr lang="en-US" altLang="zh-CN" kern="0" dirty="0">
                <a:latin typeface="+mn-lt"/>
                <a:ea typeface="+mn-ea"/>
              </a:rPr>
              <a:t>RISC-V</a:t>
            </a:r>
            <a:r>
              <a:rPr lang="zh-CN" altLang="en-US" kern="0" dirty="0">
                <a:latin typeface="+mn-lt"/>
                <a:ea typeface="+mn-ea"/>
              </a:rPr>
              <a:t>中</a:t>
            </a:r>
            <a:r>
              <a:rPr lang="zh-CN" altLang="en-US" kern="0" dirty="0">
                <a:solidFill>
                  <a:srgbClr val="FF0000"/>
                </a:solidFill>
                <a:latin typeface="+mn-lt"/>
                <a:ea typeface="+mn-ea"/>
              </a:rPr>
              <a:t>页式</a:t>
            </a:r>
            <a:r>
              <a:rPr lang="zh-CN" altLang="en-US" kern="0" dirty="0">
                <a:solidFill>
                  <a:srgbClr val="009900"/>
                </a:solidFill>
                <a:latin typeface="+mn-lt"/>
                <a:ea typeface="+mn-ea"/>
              </a:rPr>
              <a:t>虚拟存储器</a:t>
            </a:r>
            <a:r>
              <a:rPr lang="zh-CN" altLang="en-US" kern="0" dirty="0">
                <a:latin typeface="+mn-lt"/>
                <a:ea typeface="+mn-ea"/>
              </a:rPr>
              <a:t>的</a:t>
            </a:r>
            <a:r>
              <a:rPr lang="zh-CN" altLang="en-US" kern="0" dirty="0">
                <a:solidFill>
                  <a:srgbClr val="CC0099"/>
                </a:solidFill>
              </a:rPr>
              <a:t>工作模式</a:t>
            </a:r>
            <a:r>
              <a:rPr lang="zh-CN" altLang="en-US" kern="0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795197830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DE2AB-A943-4C51-87AF-D9CB4E1E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5A5017-671B-4912-9304-2183DD7CF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38</a:t>
            </a:fld>
            <a:endParaRPr lang="en-US" altLang="zh-CN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3D103A2-47AE-42CF-BD7A-1ABF201DD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782015"/>
              </p:ext>
            </p:extLst>
          </p:nvPr>
        </p:nvGraphicFramePr>
        <p:xfrm>
          <a:off x="107504" y="1128208"/>
          <a:ext cx="8928991" cy="525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4251430387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56746407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534914475"/>
                    </a:ext>
                  </a:extLst>
                </a:gridCol>
                <a:gridCol w="1776197">
                  <a:extLst>
                    <a:ext uri="{9D8B030D-6E8A-4147-A177-3AD203B41FA5}">
                      <a16:colId xmlns:a16="http://schemas.microsoft.com/office/drawing/2014/main" val="2759460287"/>
                    </a:ext>
                  </a:extLst>
                </a:gridCol>
                <a:gridCol w="1776197">
                  <a:extLst>
                    <a:ext uri="{9D8B030D-6E8A-4147-A177-3AD203B41FA5}">
                      <a16:colId xmlns:a16="http://schemas.microsoft.com/office/drawing/2014/main" val="2532246466"/>
                    </a:ext>
                  </a:extLst>
                </a:gridCol>
                <a:gridCol w="1776197">
                  <a:extLst>
                    <a:ext uri="{9D8B030D-6E8A-4147-A177-3AD203B41FA5}">
                      <a16:colId xmlns:a16="http://schemas.microsoft.com/office/drawing/2014/main" val="2516360559"/>
                    </a:ext>
                  </a:extLst>
                </a:gridCol>
              </a:tblGrid>
              <a:tr h="266916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0000FF"/>
                          </a:solidFill>
                        </a:rPr>
                        <a:t>页面大小为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4KB</a:t>
                      </a:r>
                      <a:r>
                        <a:rPr lang="zh-CN" altLang="en-US" sz="2400" b="1" dirty="0">
                          <a:solidFill>
                            <a:srgbClr val="0000FF"/>
                          </a:solidFill>
                        </a:rPr>
                        <a:t>情况下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Sv32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Sv39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Sv48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4605518"/>
                  </a:ext>
                </a:extLst>
              </a:tr>
              <a:tr h="266916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C0099"/>
                          </a:solidFill>
                        </a:rPr>
                        <a:t>虚拟地址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B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总位数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B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32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39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48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993371"/>
                  </a:ext>
                </a:extLst>
              </a:tr>
              <a:tr h="266916">
                <a:tc vMerge="1"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每程序最大虚存空间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EB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4GB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512GB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solidFill>
                      <a:srgbClr val="FF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256TB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37539"/>
                  </a:ext>
                </a:extLst>
              </a:tr>
              <a:tr h="266916">
                <a:tc vMerge="1"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虚页号</a:t>
                      </a:r>
                      <a:r>
                        <a:rPr lang="zh-CN" altLang="en-US" sz="2400" b="1" dirty="0"/>
                        <a:t>位数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EB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20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27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solidFill>
                      <a:srgbClr val="FF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36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57308"/>
                  </a:ext>
                </a:extLst>
              </a:tr>
              <a:tr h="266916">
                <a:tc vMerge="1"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页内地址</a:t>
                      </a:r>
                      <a:r>
                        <a:rPr lang="zh-CN" altLang="en-US" sz="2400" b="1" dirty="0"/>
                        <a:t>位数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EB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solidFill>
                      <a:srgbClr val="FF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22790"/>
                  </a:ext>
                </a:extLst>
              </a:tr>
              <a:tr h="266916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C0099"/>
                          </a:solidFill>
                        </a:rPr>
                        <a:t>物理地址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总位数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34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56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/>
                        <a:t>56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398297"/>
                  </a:ext>
                </a:extLst>
              </a:tr>
              <a:tr h="266916">
                <a:tc vMerge="1"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300" b="1" dirty="0"/>
                        <a:t>最大主存物理地址空间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16GB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64PB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64PB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272481"/>
                  </a:ext>
                </a:extLst>
              </a:tr>
              <a:tr h="266916">
                <a:tc vMerge="1"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实页号</a:t>
                      </a:r>
                      <a:r>
                        <a:rPr lang="zh-CN" altLang="en-US" sz="2400" b="1" dirty="0"/>
                        <a:t>位数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22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44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44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530882"/>
                  </a:ext>
                </a:extLst>
              </a:tr>
              <a:tr h="266916">
                <a:tc vMerge="1"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页内地址</a:t>
                      </a:r>
                      <a:r>
                        <a:rPr lang="zh-CN" altLang="en-US" sz="2400" b="1" dirty="0"/>
                        <a:t>位数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6600"/>
                          </a:solidFill>
                        </a:rPr>
                        <a:t>12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zh-CN" altLang="en-US" sz="2400" b="1" dirty="0"/>
                        <a:t>位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658137"/>
                  </a:ext>
                </a:extLst>
              </a:tr>
              <a:tr h="266916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每个</a:t>
                      </a:r>
                      <a:r>
                        <a:rPr lang="zh-CN" altLang="en-US" sz="2400" b="1" dirty="0">
                          <a:solidFill>
                            <a:srgbClr val="006600"/>
                          </a:solidFill>
                        </a:rPr>
                        <a:t>页表项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2400" b="1" dirty="0">
                          <a:solidFill>
                            <a:srgbClr val="006600"/>
                          </a:solidFill>
                        </a:rPr>
                        <a:t>PTE</a:t>
                      </a:r>
                      <a:r>
                        <a:rPr lang="en-US" altLang="zh-CN" sz="24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2400" b="1" dirty="0"/>
                        <a:t>字节数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4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4</a:t>
                      </a:r>
                      <a:r>
                        <a:rPr lang="zh-CN" altLang="en-US" sz="2400" b="1" dirty="0"/>
                        <a:t>个字节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8</a:t>
                      </a:r>
                      <a:r>
                        <a:rPr lang="zh-CN" altLang="en-US" sz="2400" b="1" dirty="0"/>
                        <a:t>个字节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8</a:t>
                      </a:r>
                      <a:r>
                        <a:rPr lang="zh-CN" altLang="en-US" sz="2400" b="1" dirty="0"/>
                        <a:t>个字节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34124646"/>
                  </a:ext>
                </a:extLst>
              </a:tr>
              <a:tr h="21888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页表级数 </a:t>
                      </a:r>
                      <a:r>
                        <a:rPr lang="en-US" altLang="zh-CN" sz="2400" b="1" i="1" dirty="0" err="1"/>
                        <a:t>i</a:t>
                      </a:r>
                      <a:r>
                        <a:rPr lang="zh-CN" altLang="en-US" sz="2400" b="1" i="0" dirty="0"/>
                        <a:t>＝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F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i="0" dirty="0"/>
                        <a:t>计算过程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/(</a:t>
                      </a:r>
                      <a:r>
                        <a:rPr lang="en-US" altLang="zh-CN" sz="2400" b="1" kern="1200" dirty="0"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-log</a:t>
                      </a:r>
                      <a:r>
                        <a:rPr lang="en-US" altLang="zh-CN" sz="2400" b="1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/(</a:t>
                      </a:r>
                      <a:r>
                        <a:rPr lang="en-US" altLang="zh-CN" sz="2400" b="1" kern="1200" dirty="0"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-log</a:t>
                      </a:r>
                      <a:r>
                        <a:rPr lang="en-US" altLang="zh-CN" sz="2400" b="1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2400" b="1" dirty="0"/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/(</a:t>
                      </a:r>
                      <a:r>
                        <a:rPr lang="en-US" altLang="zh-CN" sz="2400" b="1" kern="1200" dirty="0"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-log</a:t>
                      </a:r>
                      <a:r>
                        <a:rPr lang="en-US" altLang="zh-CN" sz="2400" b="1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20309211"/>
                  </a:ext>
                </a:extLst>
              </a:tr>
              <a:tr h="218880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i="0" dirty="0"/>
                        <a:t>计算结果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2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4</a:t>
                      </a:r>
                      <a:endParaRPr lang="zh-CN" altLang="en-US" sz="2400" b="1" dirty="0"/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25237"/>
                  </a:ext>
                </a:extLst>
              </a:tr>
            </a:tbl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0B55CCBE-90FA-4F31-95ED-45BE0F3C467B}"/>
              </a:ext>
            </a:extLst>
          </p:cNvPr>
          <p:cNvSpPr txBox="1">
            <a:spLocks/>
          </p:cNvSpPr>
          <p:nvPr/>
        </p:nvSpPr>
        <p:spPr bwMode="auto">
          <a:xfrm>
            <a:off x="755576" y="568325"/>
            <a:ext cx="806457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r>
              <a:rPr lang="en-US" altLang="zh-CN" kern="0" dirty="0">
                <a:latin typeface="+mn-lt"/>
                <a:ea typeface="+mn-ea"/>
              </a:rPr>
              <a:t>RISC-V</a:t>
            </a:r>
            <a:r>
              <a:rPr lang="zh-CN" altLang="en-US" kern="0" dirty="0">
                <a:latin typeface="+mn-lt"/>
                <a:ea typeface="+mn-ea"/>
              </a:rPr>
              <a:t>中</a:t>
            </a:r>
            <a:r>
              <a:rPr lang="zh-CN" altLang="en-US" kern="0" dirty="0">
                <a:solidFill>
                  <a:srgbClr val="FF0000"/>
                </a:solidFill>
                <a:latin typeface="+mn-lt"/>
                <a:ea typeface="+mn-ea"/>
              </a:rPr>
              <a:t>页式</a:t>
            </a:r>
            <a:r>
              <a:rPr lang="zh-CN" altLang="en-US" kern="0" dirty="0">
                <a:solidFill>
                  <a:srgbClr val="009900"/>
                </a:solidFill>
                <a:latin typeface="+mn-lt"/>
                <a:ea typeface="+mn-ea"/>
              </a:rPr>
              <a:t>虚拟存储器</a:t>
            </a:r>
            <a:r>
              <a:rPr lang="zh-CN" altLang="en-US" kern="0" dirty="0">
                <a:latin typeface="+mn-lt"/>
                <a:ea typeface="+mn-ea"/>
              </a:rPr>
              <a:t>的</a:t>
            </a:r>
            <a:r>
              <a:rPr lang="zh-CN" altLang="en-US" kern="0" dirty="0">
                <a:solidFill>
                  <a:srgbClr val="CC0099"/>
                </a:solidFill>
              </a:rPr>
              <a:t>工作模式</a:t>
            </a:r>
            <a:r>
              <a:rPr lang="zh-CN" altLang="en-US" kern="0" dirty="0"/>
              <a:t>：</a:t>
            </a:r>
          </a:p>
        </p:txBody>
      </p:sp>
      <p:sp>
        <p:nvSpPr>
          <p:cNvPr id="3" name="动作按钮: 上一张 2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53E1D086-6C37-42FF-BB10-39150BE5AA1A}"/>
              </a:ext>
            </a:extLst>
          </p:cNvPr>
          <p:cNvSpPr>
            <a:spLocks noChangeAspect="1"/>
          </p:cNvSpPr>
          <p:nvPr/>
        </p:nvSpPr>
        <p:spPr bwMode="auto">
          <a:xfrm>
            <a:off x="8397050" y="168634"/>
            <a:ext cx="576064" cy="57600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9290991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8896-24B1-4ABC-8A32-A38C3DC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5683-AB16-461D-AE7F-BE85402C7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362950" cy="5940895"/>
          </a:xfrm>
        </p:spPr>
        <p:txBody>
          <a:bodyPr/>
          <a:lstStyle/>
          <a:p>
            <a:r>
              <a:rPr lang="en-US" altLang="zh-CN" dirty="0"/>
              <a:t>RISC-V</a:t>
            </a:r>
            <a:r>
              <a:rPr lang="zh-CN" altLang="en-US" dirty="0"/>
              <a:t>规定，如果已经实现了</a:t>
            </a:r>
            <a:r>
              <a:rPr lang="en-US" altLang="zh-CN" dirty="0"/>
              <a:t>Sv48</a:t>
            </a:r>
            <a:r>
              <a:rPr lang="zh-CN" altLang="en-US" dirty="0"/>
              <a:t>模式，</a:t>
            </a:r>
            <a:br>
              <a:rPr lang="en-US" altLang="zh-CN" dirty="0"/>
            </a:br>
            <a:r>
              <a:rPr lang="zh-CN" altLang="en-US" dirty="0"/>
              <a:t>那么也必须支持</a:t>
            </a:r>
            <a:r>
              <a:rPr lang="en-US" altLang="zh-CN" dirty="0"/>
              <a:t>Sv39</a:t>
            </a:r>
            <a:r>
              <a:rPr lang="zh-CN" altLang="en-US" dirty="0"/>
              <a:t>模式，</a:t>
            </a:r>
            <a:br>
              <a:rPr lang="en-US" altLang="zh-CN" dirty="0"/>
            </a:br>
            <a:r>
              <a:rPr lang="zh-CN" altLang="en-US" dirty="0"/>
              <a:t>用来兼容使用</a:t>
            </a:r>
            <a:r>
              <a:rPr lang="en-US" altLang="zh-CN" dirty="0"/>
              <a:t>Sv39</a:t>
            </a:r>
            <a:r>
              <a:rPr lang="zh-CN" altLang="en-US" dirty="0"/>
              <a:t>模式的软件。</a:t>
            </a:r>
            <a:endParaRPr lang="en-US" altLang="zh-CN" dirty="0"/>
          </a:p>
          <a:p>
            <a:r>
              <a:rPr lang="en-US" altLang="zh-CN" dirty="0"/>
              <a:t>64</a:t>
            </a:r>
            <a:r>
              <a:rPr lang="zh-CN" altLang="zh-CN" dirty="0"/>
              <a:t>位的</a:t>
            </a:r>
            <a:r>
              <a:rPr lang="en-US" altLang="zh-CN" dirty="0"/>
              <a:t>RISC-V</a:t>
            </a:r>
            <a:r>
              <a:rPr lang="zh-CN" altLang="zh-CN" dirty="0"/>
              <a:t>处理器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/>
              <a:t>RV64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/>
              <a:t>，</a:t>
            </a:r>
            <a:r>
              <a:rPr lang="zh-CN" altLang="zh-CN" dirty="0"/>
              <a:t>将</a:t>
            </a:r>
            <a:r>
              <a:rPr lang="en-US" altLang="zh-CN" dirty="0"/>
              <a:t>39</a:t>
            </a:r>
            <a:r>
              <a:rPr lang="zh-CN" altLang="zh-CN" dirty="0"/>
              <a:t>位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/>
              <a:t>Sv39</a:t>
            </a:r>
            <a:r>
              <a:rPr lang="zh-CN" altLang="zh-CN" dirty="0"/>
              <a:t>模式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zh-CN" dirty="0"/>
              <a:t>或</a:t>
            </a:r>
            <a:r>
              <a:rPr lang="en-US" altLang="zh-CN" dirty="0"/>
              <a:t>48</a:t>
            </a:r>
            <a:r>
              <a:rPr lang="zh-CN" altLang="zh-CN" dirty="0"/>
              <a:t>位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/>
              <a:t>Sv48</a:t>
            </a:r>
            <a:r>
              <a:rPr lang="zh-CN" altLang="zh-CN" dirty="0"/>
              <a:t>模式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zh-CN" dirty="0"/>
              <a:t>的</a:t>
            </a:r>
            <a:r>
              <a:rPr lang="zh-CN" altLang="zh-CN" dirty="0">
                <a:solidFill>
                  <a:srgbClr val="FF0000"/>
                </a:solidFill>
              </a:rPr>
              <a:t>虚拟地址</a:t>
            </a:r>
            <a:r>
              <a:rPr lang="zh-CN" altLang="zh-CN" dirty="0"/>
              <a:t>转换为</a:t>
            </a:r>
            <a:r>
              <a:rPr lang="en-US" altLang="zh-CN" dirty="0">
                <a:solidFill>
                  <a:srgbClr val="FF0000"/>
                </a:solidFill>
              </a:rPr>
              <a:t>64</a:t>
            </a:r>
            <a:r>
              <a:rPr lang="zh-CN" altLang="zh-CN" dirty="0">
                <a:solidFill>
                  <a:srgbClr val="FF0000"/>
                </a:solidFill>
              </a:rPr>
              <a:t>位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en-US" altLang="zh-CN" dirty="0"/>
              <a:t>—— </a:t>
            </a:r>
            <a:r>
              <a:rPr lang="zh-CN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扩展最高位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/>
              <a:t>没有采用高位扩展</a:t>
            </a:r>
            <a:r>
              <a:rPr lang="en-US" altLang="zh-CN" dirty="0"/>
              <a:t>0</a:t>
            </a:r>
            <a:r>
              <a:rPr lang="zh-CN" altLang="en-US" dirty="0"/>
              <a:t>的方式。</a:t>
            </a:r>
            <a:endParaRPr lang="en-US" altLang="zh-CN" dirty="0"/>
          </a:p>
          <a:p>
            <a:pPr lvl="1"/>
            <a:r>
              <a:rPr lang="zh-CN" altLang="en-US" dirty="0"/>
              <a:t>多数操作系统通过</a:t>
            </a:r>
            <a:r>
              <a:rPr lang="en-US" altLang="zh-CN" dirty="0"/>
              <a:t>64</a:t>
            </a:r>
            <a:r>
              <a:rPr lang="zh-CN" altLang="en-US" dirty="0"/>
              <a:t>位虚拟地址的一个或多个最高有效位来区分</a:t>
            </a:r>
            <a:r>
              <a:rPr lang="zh-CN" altLang="en-US" dirty="0">
                <a:solidFill>
                  <a:srgbClr val="0000FF"/>
                </a:solidFill>
              </a:rPr>
              <a:t>用户地址空间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系统地址空间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扩展最高位</a:t>
            </a:r>
            <a:r>
              <a:rPr lang="zh-CN" altLang="en-US" dirty="0"/>
              <a:t>的方式可以兼容这些操作系统。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659AE-ED08-4D0F-B064-0E1808A27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596173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663E31B-CC90-4FCD-89B2-51B3D8685E58}"/>
              </a:ext>
            </a:extLst>
          </p:cNvPr>
          <p:cNvSpPr/>
          <p:nvPr/>
        </p:nvSpPr>
        <p:spPr bwMode="auto">
          <a:xfrm>
            <a:off x="179512" y="3861048"/>
            <a:ext cx="8784976" cy="792088"/>
          </a:xfrm>
          <a:prstGeom prst="rect">
            <a:avLst/>
          </a:prstGeom>
          <a:solidFill>
            <a:srgbClr val="FFFFCC"/>
          </a:solidFill>
          <a:ln w="19050" cap="flat" cmpd="sng" algn="ctr">
            <a:solidFill>
              <a:srgbClr val="FF5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4958896-24B1-4ABC-8A32-A38C3DC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659AE-ED08-4D0F-B064-0E1808A27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40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AD33B7-F5F0-4356-812C-F0CEC4A158BB}"/>
              </a:ext>
            </a:extLst>
          </p:cNvPr>
          <p:cNvSpPr/>
          <p:nvPr/>
        </p:nvSpPr>
        <p:spPr>
          <a:xfrm>
            <a:off x="107504" y="568325"/>
            <a:ext cx="87126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zh-CN" kern="1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设置</a:t>
            </a:r>
            <a:r>
              <a:rPr lang="en-US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虚存</a:t>
            </a:r>
            <a:r>
              <a:rPr lang="zh-CN" altLang="zh-CN" kern="100" dirty="0">
                <a:solidFill>
                  <a:srgbClr val="CC0099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工作模式</a:t>
            </a:r>
            <a:r>
              <a:rPr lang="en-US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solidFill>
                  <a:srgbClr val="FF0066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根页表</a:t>
            </a:r>
            <a:r>
              <a:rPr lang="en-US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>
                <a:latin typeface="+mn-lt"/>
                <a:ea typeface="黑体" panose="02010609060101010101" pitchFamily="49" charset="-122"/>
              </a:rPr>
              <a:t>L0</a:t>
            </a:r>
            <a:r>
              <a:rPr lang="zh-CN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页表</a:t>
            </a:r>
            <a:r>
              <a:rPr lang="en-US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kern="100" dirty="0">
                <a:solidFill>
                  <a:srgbClr val="FF0066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首地址</a:t>
            </a:r>
            <a:endParaRPr lang="zh-CN" altLang="en-US" dirty="0">
              <a:solidFill>
                <a:srgbClr val="FF0066"/>
              </a:solidFill>
              <a:latin typeface="+mn-lt"/>
              <a:ea typeface="黑体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809929-6590-4A1D-B2A5-28FFF5E382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58" r="9838" b="23157"/>
          <a:stretch/>
        </p:blipFill>
        <p:spPr>
          <a:xfrm>
            <a:off x="107504" y="1916832"/>
            <a:ext cx="8928992" cy="109205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907A6C2-E815-462B-B4D6-9421BC70DDFB}"/>
              </a:ext>
            </a:extLst>
          </p:cNvPr>
          <p:cNvSpPr/>
          <p:nvPr/>
        </p:nvSpPr>
        <p:spPr>
          <a:xfrm>
            <a:off x="179512" y="980728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400" kern="0" dirty="0" err="1">
                <a:solidFill>
                  <a:srgbClr val="FF0000"/>
                </a:solidFill>
                <a:latin typeface="Times New Roman"/>
                <a:ea typeface="宋体"/>
              </a:rPr>
              <a:t>satp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/>
                <a:ea typeface="宋体"/>
              </a:rPr>
              <a:t>（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/>
                <a:ea typeface="宋体"/>
              </a:rPr>
              <a:t>S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/>
                <a:ea typeface="宋体"/>
              </a:rPr>
              <a:t>upervisor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/>
                <a:ea typeface="宋体"/>
              </a:rPr>
              <a:t>A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/>
                <a:ea typeface="宋体"/>
              </a:rPr>
              <a:t>ddress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/>
                <a:ea typeface="宋体"/>
              </a:rPr>
              <a:t>T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/>
                <a:ea typeface="宋体"/>
              </a:rPr>
              <a:t>ranslation and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/>
                <a:ea typeface="宋体"/>
              </a:rPr>
              <a:t>P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/>
                <a:ea typeface="宋体"/>
              </a:rPr>
              <a:t>rotection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/>
                <a:ea typeface="宋体"/>
              </a:rPr>
              <a:t>）寄存器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ABC95A-DFAC-439E-8831-07B0A05672D0}"/>
              </a:ext>
            </a:extLst>
          </p:cNvPr>
          <p:cNvSpPr/>
          <p:nvPr/>
        </p:nvSpPr>
        <p:spPr>
          <a:xfrm>
            <a:off x="179512" y="1484784"/>
            <a:ext cx="42050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400" kern="100" dirty="0"/>
              <a:t>RV32</a:t>
            </a:r>
            <a:r>
              <a:rPr lang="zh-CN" altLang="zh-CN" sz="2400" kern="100" dirty="0">
                <a:cs typeface="Times New Roman" panose="02020603050405020304" pitchFamily="18" charset="0"/>
              </a:rPr>
              <a:t>中的</a:t>
            </a:r>
            <a:r>
              <a:rPr lang="en-US" altLang="zh-CN" sz="2400" kern="100" dirty="0" err="1"/>
              <a:t>satp</a:t>
            </a:r>
            <a:r>
              <a:rPr lang="zh-CN" altLang="zh-CN" sz="2400" kern="100" dirty="0">
                <a:cs typeface="Times New Roman" panose="02020603050405020304" pitchFamily="18" charset="0"/>
              </a:rPr>
              <a:t>寄存器格式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：</a:t>
            </a:r>
            <a:endParaRPr lang="zh-CN" altLang="en-US" sz="2400" dirty="0"/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DDDA490C-9F5E-4C32-896A-D24AAFEFBF3C}"/>
              </a:ext>
            </a:extLst>
          </p:cNvPr>
          <p:cNvSpPr txBox="1">
            <a:spLocks/>
          </p:cNvSpPr>
          <p:nvPr/>
        </p:nvSpPr>
        <p:spPr bwMode="auto">
          <a:xfrm>
            <a:off x="179512" y="2924944"/>
            <a:ext cx="8964488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1701800" indent="-261938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en-US" altLang="zh-CN" sz="2400" kern="0" dirty="0">
                <a:solidFill>
                  <a:srgbClr val="CC0099"/>
                </a:solidFill>
              </a:rPr>
              <a:t>ASID</a:t>
            </a:r>
            <a:r>
              <a:rPr lang="en-US" altLang="zh-CN" sz="2400" kern="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 dirty="0">
                <a:solidFill>
                  <a:srgbClr val="CC0099"/>
                </a:solidFill>
              </a:rPr>
              <a:t>A</a:t>
            </a:r>
            <a:r>
              <a:rPr lang="en-US" altLang="zh-CN" sz="2400" kern="0" dirty="0"/>
              <a:t>ddress </a:t>
            </a:r>
            <a:r>
              <a:rPr lang="en-US" altLang="zh-CN" sz="2400" kern="0" dirty="0">
                <a:solidFill>
                  <a:srgbClr val="CC0099"/>
                </a:solidFill>
              </a:rPr>
              <a:t>S</a:t>
            </a:r>
            <a:r>
              <a:rPr lang="en-US" altLang="zh-CN" sz="2400" kern="0" dirty="0"/>
              <a:t>pace </a:t>
            </a:r>
            <a:r>
              <a:rPr lang="en-US" altLang="zh-CN" sz="2400" kern="0" dirty="0">
                <a:solidFill>
                  <a:srgbClr val="CC0099"/>
                </a:solidFill>
              </a:rPr>
              <a:t>Id</a:t>
            </a:r>
            <a:r>
              <a:rPr lang="en-US" altLang="zh-CN" sz="2400" kern="0" dirty="0"/>
              <a:t>entifier</a:t>
            </a:r>
            <a:r>
              <a:rPr lang="en-US" altLang="zh-CN" sz="2400" kern="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kern="0" dirty="0"/>
              <a:t>: </a:t>
            </a:r>
            <a:r>
              <a:rPr lang="zh-CN" altLang="en-US" sz="2400" kern="0" dirty="0">
                <a:solidFill>
                  <a:srgbClr val="006600"/>
                </a:solidFill>
              </a:rPr>
              <a:t>进程的地址空间标识符</a:t>
            </a:r>
            <a:r>
              <a:rPr lang="zh-CN" altLang="en-US" sz="2400" kern="0" dirty="0"/>
              <a:t>；</a:t>
            </a:r>
            <a:endParaRPr lang="en-US" altLang="zh-CN" sz="2400" kern="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kern="0" dirty="0">
                <a:solidFill>
                  <a:srgbClr val="CC0099"/>
                </a:solidFill>
              </a:rPr>
              <a:t>PPN</a:t>
            </a:r>
            <a:r>
              <a:rPr lang="en-US" altLang="zh-CN" sz="2400" kern="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 dirty="0">
                <a:solidFill>
                  <a:srgbClr val="CC0099"/>
                </a:solidFill>
              </a:rPr>
              <a:t>P</a:t>
            </a:r>
            <a:r>
              <a:rPr lang="en-US" altLang="zh-CN" sz="2400" kern="0" dirty="0"/>
              <a:t>hysical </a:t>
            </a:r>
            <a:r>
              <a:rPr lang="en-US" altLang="zh-CN" sz="2400" kern="0" dirty="0">
                <a:solidFill>
                  <a:srgbClr val="CC0099"/>
                </a:solidFill>
              </a:rPr>
              <a:t>P</a:t>
            </a:r>
            <a:r>
              <a:rPr lang="en-US" altLang="zh-CN" sz="2400" kern="0" dirty="0"/>
              <a:t>age </a:t>
            </a:r>
            <a:r>
              <a:rPr lang="en-US" altLang="zh-CN" sz="2400" kern="0" dirty="0">
                <a:solidFill>
                  <a:srgbClr val="CC0099"/>
                </a:solidFill>
              </a:rPr>
              <a:t>N</a:t>
            </a:r>
            <a:r>
              <a:rPr lang="en-US" altLang="zh-CN" sz="2400" kern="0" dirty="0"/>
              <a:t>umber</a:t>
            </a:r>
            <a:r>
              <a:rPr lang="en-US" altLang="zh-CN" sz="2400" kern="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kern="0" dirty="0"/>
              <a:t>: </a:t>
            </a:r>
            <a:r>
              <a:rPr lang="zh-CN" altLang="en-US" sz="2400" kern="0" dirty="0">
                <a:solidFill>
                  <a:srgbClr val="006600"/>
                </a:solidFill>
              </a:rPr>
              <a:t>根页表</a:t>
            </a:r>
            <a:r>
              <a:rPr lang="en-US" altLang="zh-CN" sz="2400" kern="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kern="0" dirty="0"/>
              <a:t>L0</a:t>
            </a:r>
            <a:r>
              <a:rPr lang="zh-CN" altLang="en-US" sz="2400" kern="0" dirty="0"/>
              <a:t>页表</a:t>
            </a:r>
            <a:r>
              <a:rPr lang="en-US" altLang="zh-CN" sz="2400" kern="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kern="0" dirty="0"/>
              <a:t>所在页面的</a:t>
            </a:r>
            <a:r>
              <a:rPr lang="zh-CN" altLang="en-US" sz="2400" kern="0" dirty="0">
                <a:solidFill>
                  <a:srgbClr val="006600"/>
                </a:solidFill>
              </a:rPr>
              <a:t>实页号</a:t>
            </a:r>
            <a:r>
              <a:rPr lang="zh-CN" altLang="en-US" sz="2400" kern="0" dirty="0"/>
              <a:t>。</a:t>
            </a:r>
            <a:endParaRPr lang="en-US" altLang="zh-CN" sz="2400" kern="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WARL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</a:rPr>
              <a:t>W</a:t>
            </a:r>
            <a:r>
              <a:rPr lang="en-US" altLang="zh-CN" sz="2400" dirty="0"/>
              <a:t>rite </a:t>
            </a:r>
            <a:r>
              <a:rPr lang="en-US" altLang="zh-CN" sz="2400" dirty="0">
                <a:solidFill>
                  <a:srgbClr val="0000FF"/>
                </a:solidFill>
              </a:rPr>
              <a:t>A</a:t>
            </a:r>
            <a:r>
              <a:rPr lang="en-US" altLang="zh-CN" sz="2400" dirty="0"/>
              <a:t>ny Values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R</a:t>
            </a:r>
            <a:r>
              <a:rPr lang="en-US" altLang="zh-CN" sz="2400" dirty="0"/>
              <a:t>eads </a:t>
            </a:r>
            <a:r>
              <a:rPr lang="en-US" altLang="zh-CN" sz="2400" dirty="0">
                <a:solidFill>
                  <a:srgbClr val="0000FF"/>
                </a:solidFill>
              </a:rPr>
              <a:t>L</a:t>
            </a:r>
            <a:r>
              <a:rPr lang="en-US" altLang="zh-CN" sz="2400" dirty="0"/>
              <a:t>egal Values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dirty="0"/>
              <a:t>该字段只可写入</a:t>
            </a:r>
            <a:r>
              <a:rPr lang="en-US" altLang="zh-CN" sz="2400" dirty="0"/>
              <a:t>/</a:t>
            </a:r>
            <a:r>
              <a:rPr lang="zh-CN" altLang="en-US" sz="2400" dirty="0"/>
              <a:t>读出合法的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dirty="0"/>
              <a:t>该</a:t>
            </a:r>
            <a:r>
              <a:rPr lang="en-US" altLang="zh-CN" sz="2400" dirty="0"/>
              <a:t>RISC-V</a:t>
            </a:r>
            <a:r>
              <a:rPr lang="zh-CN" altLang="en-US" sz="2400" dirty="0"/>
              <a:t>处理器已经实现的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/>
              <a:t>数据。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D9B47165-1B84-4496-9100-2346C60BE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750576"/>
              </p:ext>
            </p:extLst>
          </p:nvPr>
        </p:nvGraphicFramePr>
        <p:xfrm>
          <a:off x="251520" y="4725144"/>
          <a:ext cx="8568629" cy="17281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148534776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620141818"/>
                    </a:ext>
                  </a:extLst>
                </a:gridCol>
                <a:gridCol w="6696421">
                  <a:extLst>
                    <a:ext uri="{9D8B030D-6E8A-4147-A177-3AD203B41FA5}">
                      <a16:colId xmlns:a16="http://schemas.microsoft.com/office/drawing/2014/main" val="2565756234"/>
                    </a:ext>
                  </a:extLst>
                </a:gridCol>
              </a:tblGrid>
              <a:tr h="432048">
                <a:tc grid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RV32 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satp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寄存器中</a:t>
                      </a:r>
                      <a:r>
                        <a:rPr lang="en-US" altLang="zh-CN" sz="2400" b="1" kern="100" dirty="0">
                          <a:solidFill>
                            <a:srgbClr val="CC009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字段的编码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85727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值</a:t>
                      </a:r>
                      <a:endParaRPr lang="zh-CN" sz="2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</a:p>
                  </a:txBody>
                  <a:tcPr marL="68580" marR="68580" marT="0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364839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 dirty="0">
                        <a:solidFill>
                          <a:srgbClr val="0066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Bare</a:t>
                      </a:r>
                      <a:endParaRPr lang="zh-CN" altLang="en-US" sz="2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无地址转换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与</a:t>
                      </a:r>
                      <a:r>
                        <a:rPr lang="zh-CN" altLang="en-US" sz="2400" b="1" kern="100" dirty="0"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存储保护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（虚拟地址＝物理地址）</a:t>
                      </a: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24113888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FF5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 dirty="0">
                        <a:solidFill>
                          <a:srgbClr val="FF5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Sv32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基于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位虚拟地址的</a:t>
                      </a:r>
                      <a:r>
                        <a:rPr lang="zh-CN" altLang="en-US" sz="2400" b="1" kern="100" dirty="0">
                          <a:solidFill>
                            <a:srgbClr val="FF5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页式虚拟存储管理</a:t>
                      </a: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097397"/>
                  </a:ext>
                </a:extLst>
              </a:tr>
            </a:tbl>
          </a:graphicData>
        </a:graphic>
      </p:graphicFrame>
      <p:sp>
        <p:nvSpPr>
          <p:cNvPr id="18" name="动作按钮: 获取信息 1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9F6D28C-29AD-4DA0-BE19-5186374452DA}"/>
              </a:ext>
            </a:extLst>
          </p:cNvPr>
          <p:cNvSpPr>
            <a:spLocks noChangeAspect="1"/>
          </p:cNvSpPr>
          <p:nvPr/>
        </p:nvSpPr>
        <p:spPr bwMode="auto">
          <a:xfrm>
            <a:off x="8397049" y="168634"/>
            <a:ext cx="576000" cy="576001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9347717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8896-24B1-4ABC-8A32-A38C3DC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659AE-ED08-4D0F-B064-0E1808A27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41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AD33B7-F5F0-4356-812C-F0CEC4A158BB}"/>
              </a:ext>
            </a:extLst>
          </p:cNvPr>
          <p:cNvSpPr/>
          <p:nvPr/>
        </p:nvSpPr>
        <p:spPr>
          <a:xfrm>
            <a:off x="107504" y="568325"/>
            <a:ext cx="87126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zh-CN" kern="1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设置</a:t>
            </a:r>
            <a:r>
              <a:rPr lang="en-US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虚存</a:t>
            </a:r>
            <a:r>
              <a:rPr lang="zh-CN" altLang="zh-CN" kern="100" dirty="0">
                <a:solidFill>
                  <a:srgbClr val="CC0099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工作模式</a:t>
            </a:r>
            <a:r>
              <a:rPr lang="en-US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solidFill>
                  <a:srgbClr val="FF0066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根页表</a:t>
            </a:r>
            <a:r>
              <a:rPr lang="en-US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>
                <a:latin typeface="+mn-lt"/>
                <a:ea typeface="黑体" panose="02010609060101010101" pitchFamily="49" charset="-122"/>
              </a:rPr>
              <a:t>L0</a:t>
            </a:r>
            <a:r>
              <a:rPr lang="zh-CN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页表</a:t>
            </a:r>
            <a:r>
              <a:rPr lang="en-US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kern="10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kern="100" dirty="0">
                <a:solidFill>
                  <a:srgbClr val="FF0066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首地址</a:t>
            </a:r>
            <a:endParaRPr lang="zh-CN" altLang="en-US" dirty="0">
              <a:solidFill>
                <a:srgbClr val="FF0066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07A6C2-E815-462B-B4D6-9421BC70DDFB}"/>
              </a:ext>
            </a:extLst>
          </p:cNvPr>
          <p:cNvSpPr/>
          <p:nvPr/>
        </p:nvSpPr>
        <p:spPr>
          <a:xfrm>
            <a:off x="179512" y="980728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400" kern="0" dirty="0" err="1">
                <a:solidFill>
                  <a:srgbClr val="FF0000"/>
                </a:solidFill>
                <a:latin typeface="Times New Roman"/>
                <a:ea typeface="宋体"/>
              </a:rPr>
              <a:t>satp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/>
                <a:ea typeface="宋体"/>
              </a:rPr>
              <a:t>（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/>
                <a:ea typeface="宋体"/>
              </a:rPr>
              <a:t>S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/>
                <a:ea typeface="宋体"/>
              </a:rPr>
              <a:t>upervisor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/>
                <a:ea typeface="宋体"/>
              </a:rPr>
              <a:t>A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/>
                <a:ea typeface="宋体"/>
              </a:rPr>
              <a:t>ddress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/>
                <a:ea typeface="宋体"/>
              </a:rPr>
              <a:t>T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/>
                <a:ea typeface="宋体"/>
              </a:rPr>
              <a:t>ranslation and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/>
                <a:ea typeface="宋体"/>
              </a:rPr>
              <a:t>P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/>
                <a:ea typeface="宋体"/>
              </a:rPr>
              <a:t>rotection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/>
                <a:ea typeface="宋体"/>
              </a:rPr>
              <a:t>）寄存器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ABC95A-DFAC-439E-8831-07B0A05672D0}"/>
              </a:ext>
            </a:extLst>
          </p:cNvPr>
          <p:cNvSpPr/>
          <p:nvPr/>
        </p:nvSpPr>
        <p:spPr>
          <a:xfrm>
            <a:off x="179512" y="1484784"/>
            <a:ext cx="42050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400" kern="100" dirty="0"/>
              <a:t>RV64</a:t>
            </a:r>
            <a:r>
              <a:rPr lang="zh-CN" altLang="zh-CN" sz="2400" kern="100" dirty="0">
                <a:cs typeface="Times New Roman" panose="02020603050405020304" pitchFamily="18" charset="0"/>
              </a:rPr>
              <a:t>中的</a:t>
            </a:r>
            <a:r>
              <a:rPr lang="en-US" altLang="zh-CN" sz="2400" kern="100" dirty="0" err="1"/>
              <a:t>satp</a:t>
            </a:r>
            <a:r>
              <a:rPr lang="zh-CN" altLang="zh-CN" sz="2400" kern="100" dirty="0">
                <a:cs typeface="Times New Roman" panose="02020603050405020304" pitchFamily="18" charset="0"/>
              </a:rPr>
              <a:t>寄存器格式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：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EB3595-325C-418C-96F3-205A334216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3" r="5173" b="27245"/>
          <a:stretch/>
        </p:blipFill>
        <p:spPr>
          <a:xfrm>
            <a:off x="102964" y="1965807"/>
            <a:ext cx="8964487" cy="933259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9B6E800-5124-435B-B104-4838AAAA8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377884"/>
              </p:ext>
            </p:extLst>
          </p:nvPr>
        </p:nvGraphicFramePr>
        <p:xfrm>
          <a:off x="179512" y="2996952"/>
          <a:ext cx="8784975" cy="340385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337164583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157076768"/>
                    </a:ext>
                  </a:extLst>
                </a:gridCol>
                <a:gridCol w="6624735">
                  <a:extLst>
                    <a:ext uri="{9D8B030D-6E8A-4147-A177-3AD203B41FA5}">
                      <a16:colId xmlns:a16="http://schemas.microsoft.com/office/drawing/2014/main" val="4251215478"/>
                    </a:ext>
                  </a:extLst>
                </a:gridCol>
              </a:tblGrid>
              <a:tr h="216024">
                <a:tc gridSpan="3"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RV64 </a:t>
                      </a:r>
                      <a:r>
                        <a:rPr lang="en-US" altLang="zh-CN" sz="2400" b="1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satp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寄存器中</a:t>
                      </a:r>
                      <a:r>
                        <a:rPr lang="en-US" altLang="zh-CN" sz="2400" b="1" kern="100" dirty="0">
                          <a:solidFill>
                            <a:srgbClr val="CC009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字段的编码</a:t>
                      </a:r>
                      <a:endParaRPr lang="zh-CN" sz="2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273004"/>
                  </a:ext>
                </a:extLst>
              </a:tr>
              <a:tr h="210304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228589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Bare</a:t>
                      </a:r>
                      <a:endParaRPr lang="zh-CN" altLang="en-US" sz="2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无地址转换与存储保护（虚拟地址＝物理地址）</a:t>
                      </a: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25845651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～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保留</a:t>
                      </a: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4289500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Sv39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基于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位虚拟地址的页式虚拟存储管理</a:t>
                      </a: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37505942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Sv48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基于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位虚拟地址的页式虚拟存储管理</a:t>
                      </a: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08563404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Sv57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保留（基于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位虚拟地址的页式虚拟存储管理）</a:t>
                      </a: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05637691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Sv64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保留（基于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位虚拟地址的页式虚拟存储管理）</a:t>
                      </a: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95229513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～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保留</a:t>
                      </a: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208755"/>
                  </a:ext>
                </a:extLst>
              </a:tr>
            </a:tbl>
          </a:graphicData>
        </a:graphic>
      </p:graphicFrame>
      <p:sp>
        <p:nvSpPr>
          <p:cNvPr id="14" name="动作按钮: 获取信息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1C45F04-4A17-498A-B5EC-21C340A74AD5}"/>
              </a:ext>
            </a:extLst>
          </p:cNvPr>
          <p:cNvSpPr>
            <a:spLocks noChangeAspect="1"/>
          </p:cNvSpPr>
          <p:nvPr/>
        </p:nvSpPr>
        <p:spPr bwMode="auto">
          <a:xfrm>
            <a:off x="8397049" y="168634"/>
            <a:ext cx="576000" cy="576001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1631186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8896-24B1-4ABC-8A32-A38C3DC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5683-AB16-461D-AE7F-BE85402C7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11" y="2564904"/>
            <a:ext cx="8685339" cy="414069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sz="2400" dirty="0"/>
              <a:t>PPN[1]</a:t>
            </a:r>
            <a:r>
              <a:rPr lang="zh-CN" altLang="en-US" sz="2400" dirty="0"/>
              <a:t>、</a:t>
            </a:r>
            <a:r>
              <a:rPr lang="en-US" altLang="zh-CN" sz="2400" dirty="0"/>
              <a:t>PPN[0]</a:t>
            </a:r>
            <a:r>
              <a:rPr lang="zh-CN" altLang="en-US" sz="2400" dirty="0"/>
              <a:t>为</a:t>
            </a:r>
            <a:r>
              <a:rPr lang="zh-CN" altLang="en-US" sz="2400" dirty="0">
                <a:solidFill>
                  <a:srgbClr val="FF0066"/>
                </a:solidFill>
              </a:rPr>
              <a:t>实页号</a:t>
            </a:r>
            <a:r>
              <a:rPr lang="zh-CN" altLang="en-US" sz="2400" dirty="0"/>
              <a:t>，指向要访问的页面（本页表为叶子节点时）或 下一级页表；</a:t>
            </a:r>
            <a:endParaRPr lang="en-US" altLang="zh-CN" sz="2400" dirty="0"/>
          </a:p>
          <a:p>
            <a:pPr>
              <a:spcBef>
                <a:spcPts val="0"/>
              </a:spcBef>
            </a:pPr>
            <a:r>
              <a:rPr lang="en-US" altLang="zh-CN" sz="2400" dirty="0"/>
              <a:t>V</a:t>
            </a:r>
            <a:r>
              <a:rPr lang="zh-CN" altLang="en-US" sz="2400" dirty="0"/>
              <a:t>为</a:t>
            </a:r>
            <a:r>
              <a:rPr lang="zh-CN" altLang="en-US" sz="2400" dirty="0">
                <a:solidFill>
                  <a:srgbClr val="FF0066"/>
                </a:solidFill>
              </a:rPr>
              <a:t>有效位</a:t>
            </a:r>
            <a:r>
              <a:rPr lang="zh-CN" altLang="en-US" sz="2400" dirty="0"/>
              <a:t>，为</a:t>
            </a:r>
            <a:r>
              <a:rPr lang="en-US" altLang="zh-CN" sz="2400" dirty="0"/>
              <a:t>0</a:t>
            </a:r>
            <a:r>
              <a:rPr lang="zh-CN" altLang="en-US" sz="2400" dirty="0"/>
              <a:t>表示本</a:t>
            </a:r>
            <a:r>
              <a:rPr lang="en-US" altLang="zh-CN" sz="2400" dirty="0"/>
              <a:t>PTE</a:t>
            </a:r>
            <a:r>
              <a:rPr lang="zh-CN" altLang="en-US" sz="2400" dirty="0"/>
              <a:t>无效；</a:t>
            </a:r>
            <a:endParaRPr lang="en-US" altLang="zh-CN" sz="2400" dirty="0"/>
          </a:p>
          <a:p>
            <a:pPr>
              <a:spcBef>
                <a:spcPts val="0"/>
              </a:spcBef>
            </a:pPr>
            <a:r>
              <a:rPr lang="en-US" altLang="zh-CN" sz="2400" dirty="0"/>
              <a:t>R</a:t>
            </a:r>
            <a:r>
              <a:rPr lang="zh-CN" altLang="en-US" sz="2400" dirty="0"/>
              <a:t>、</a:t>
            </a:r>
            <a:r>
              <a:rPr lang="en-US" altLang="zh-CN" sz="2400" dirty="0"/>
              <a:t>W</a:t>
            </a:r>
            <a:r>
              <a:rPr lang="zh-CN" altLang="en-US" sz="2400" dirty="0"/>
              <a:t>、</a:t>
            </a:r>
            <a:r>
              <a:rPr lang="en-US" altLang="zh-CN" sz="2400" dirty="0"/>
              <a:t>X</a:t>
            </a:r>
            <a:r>
              <a:rPr lang="zh-CN" altLang="en-US" sz="2400" dirty="0"/>
              <a:t>规定该</a:t>
            </a:r>
            <a:r>
              <a:rPr lang="en-US" altLang="zh-CN" sz="2400" dirty="0"/>
              <a:t>PTE</a:t>
            </a:r>
            <a:r>
              <a:rPr lang="zh-CN" altLang="en-US" sz="2400" dirty="0"/>
              <a:t>所指向</a:t>
            </a:r>
            <a:r>
              <a:rPr lang="zh-CN" altLang="en-US" sz="2400" dirty="0">
                <a:solidFill>
                  <a:srgbClr val="0000FF"/>
                </a:solidFill>
              </a:rPr>
              <a:t>页面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类型</a:t>
            </a:r>
            <a:r>
              <a:rPr lang="zh-CN" altLang="en-US" sz="2400" dirty="0"/>
              <a:t>或</a:t>
            </a:r>
            <a:r>
              <a:rPr lang="zh-CN" altLang="en-US" sz="2400" dirty="0">
                <a:solidFill>
                  <a:srgbClr val="0000FF"/>
                </a:solidFill>
              </a:rPr>
              <a:t>访问权限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spcBef>
                <a:spcPts val="0"/>
              </a:spcBef>
            </a:pPr>
            <a:r>
              <a:rPr lang="en-US" altLang="zh-CN" sz="2400" dirty="0"/>
              <a:t>U</a:t>
            </a:r>
            <a:r>
              <a:rPr lang="zh-CN" altLang="en-US" sz="2400" dirty="0"/>
              <a:t>规定该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指向的页面是</a:t>
            </a:r>
            <a:r>
              <a:rPr lang="zh-CN" altLang="en-US" sz="2400" dirty="0">
                <a:solidFill>
                  <a:srgbClr val="006600"/>
                </a:solidFill>
              </a:rPr>
              <a:t>否允许</a:t>
            </a:r>
            <a:r>
              <a:rPr lang="en-US" altLang="zh-CN" sz="2400" dirty="0">
                <a:solidFill>
                  <a:srgbClr val="006600"/>
                </a:solidFill>
              </a:rPr>
              <a:t>U</a:t>
            </a:r>
            <a:r>
              <a:rPr lang="zh-CN" altLang="en-US" sz="2400" dirty="0">
                <a:solidFill>
                  <a:srgbClr val="006600"/>
                </a:solidFill>
              </a:rPr>
              <a:t>模式的程序访问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spcBef>
                <a:spcPts val="0"/>
              </a:spcBef>
            </a:pPr>
            <a:r>
              <a:rPr lang="en-US" altLang="zh-CN" sz="2400" dirty="0"/>
              <a:t>G</a:t>
            </a:r>
            <a:r>
              <a:rPr lang="zh-CN" altLang="en-US" sz="2400" dirty="0"/>
              <a:t>规定该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指向的页面是否为</a:t>
            </a:r>
            <a:r>
              <a:rPr lang="zh-CN" altLang="en-US" sz="2400" dirty="0">
                <a:solidFill>
                  <a:srgbClr val="FF0066"/>
                </a:solidFill>
              </a:rPr>
              <a:t>全局页面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spcBef>
                <a:spcPts val="0"/>
              </a:spcBef>
            </a:pPr>
            <a:r>
              <a:rPr lang="en-US" altLang="zh-CN" sz="2400" dirty="0"/>
              <a:t>A</a:t>
            </a:r>
            <a:r>
              <a:rPr lang="zh-CN" altLang="en-US" sz="2400" dirty="0"/>
              <a:t>为</a:t>
            </a:r>
            <a:r>
              <a:rPr lang="zh-CN" altLang="en-US" sz="2400" dirty="0">
                <a:solidFill>
                  <a:srgbClr val="FF0066"/>
                </a:solidFill>
              </a:rPr>
              <a:t>访问位</a:t>
            </a:r>
            <a:r>
              <a:rPr lang="zh-CN" altLang="en-US" sz="2400" dirty="0"/>
              <a:t>，用来记录自上次</a:t>
            </a:r>
            <a:r>
              <a:rPr lang="en-US" altLang="zh-CN" sz="2400" dirty="0"/>
              <a:t>A</a:t>
            </a:r>
            <a:r>
              <a:rPr lang="zh-CN" altLang="en-US" sz="2400" dirty="0"/>
              <a:t>位清零后，该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指向的页面是否被访问（读、写或执行）过；</a:t>
            </a:r>
            <a:endParaRPr lang="en-US" altLang="zh-CN" sz="2400" dirty="0"/>
          </a:p>
          <a:p>
            <a:pPr>
              <a:spcBef>
                <a:spcPts val="0"/>
              </a:spcBef>
            </a:pPr>
            <a:r>
              <a:rPr lang="en-US" altLang="zh-CN" sz="2400" dirty="0"/>
              <a:t>D</a:t>
            </a:r>
            <a:r>
              <a:rPr lang="zh-CN" altLang="en-US" sz="2400" dirty="0"/>
              <a:t>为</a:t>
            </a:r>
            <a:r>
              <a:rPr lang="zh-CN" altLang="en-US" sz="2400" dirty="0">
                <a:solidFill>
                  <a:srgbClr val="FF0066"/>
                </a:solidFill>
              </a:rPr>
              <a:t>修改位</a:t>
            </a:r>
            <a:r>
              <a:rPr lang="zh-CN" altLang="en-US" sz="2400" dirty="0"/>
              <a:t>，用来记录自上次</a:t>
            </a:r>
            <a:r>
              <a:rPr lang="en-US" altLang="zh-CN" sz="2400" dirty="0"/>
              <a:t>D</a:t>
            </a:r>
            <a:r>
              <a:rPr lang="zh-CN" altLang="en-US" sz="2400" dirty="0"/>
              <a:t>位清零后，该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指向的页面是否被修改（写）过；</a:t>
            </a:r>
            <a:endParaRPr lang="en-US" altLang="zh-CN" sz="2400" dirty="0"/>
          </a:p>
          <a:p>
            <a:pPr>
              <a:spcBef>
                <a:spcPts val="0"/>
              </a:spcBef>
            </a:pPr>
            <a:r>
              <a:rPr lang="en-US" altLang="zh-CN" sz="2400" dirty="0"/>
              <a:t>RSW</a:t>
            </a:r>
            <a:r>
              <a:rPr lang="zh-CN" altLang="en-US" sz="2400" dirty="0"/>
              <a:t>字段</a:t>
            </a:r>
            <a:r>
              <a:rPr lang="zh-CN" altLang="en-US" sz="2400" dirty="0">
                <a:solidFill>
                  <a:srgbClr val="0000FF"/>
                </a:solidFill>
              </a:rPr>
              <a:t>保留</a:t>
            </a:r>
            <a:r>
              <a:rPr lang="zh-CN" altLang="en-US" sz="2400" dirty="0"/>
              <a:t>给</a:t>
            </a:r>
            <a:r>
              <a:rPr lang="en-US" altLang="zh-CN" sz="2400" dirty="0"/>
              <a:t>S</a:t>
            </a:r>
            <a:r>
              <a:rPr lang="zh-CN" altLang="en-US" sz="2400" dirty="0"/>
              <a:t>模式的</a:t>
            </a:r>
            <a:r>
              <a:rPr lang="zh-CN" altLang="en-US" sz="2400" dirty="0">
                <a:solidFill>
                  <a:srgbClr val="0000FF"/>
                </a:solidFill>
              </a:rPr>
              <a:t>软件</a:t>
            </a:r>
            <a:r>
              <a:rPr lang="zh-CN" altLang="en-US" sz="2400" dirty="0"/>
              <a:t>使用，硬件忽略该字段。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659AE-ED08-4D0F-B064-0E1808A27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42</a:t>
            </a:fld>
            <a:endParaRPr lang="en-US" altLang="zh-CN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5A0F312-6E40-4E45-92A8-041FB432FDE5}"/>
              </a:ext>
            </a:extLst>
          </p:cNvPr>
          <p:cNvSpPr txBox="1">
            <a:spLocks/>
          </p:cNvSpPr>
          <p:nvPr/>
        </p:nvSpPr>
        <p:spPr bwMode="auto">
          <a:xfrm>
            <a:off x="899592" y="568325"/>
            <a:ext cx="792055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r>
              <a:rPr lang="en-US" altLang="zh-CN" kern="0" dirty="0">
                <a:solidFill>
                  <a:srgbClr val="0000FF"/>
                </a:solidFill>
              </a:rPr>
              <a:t>1</a:t>
            </a:r>
            <a:r>
              <a:rPr lang="zh-CN" altLang="en-US" kern="0" dirty="0">
                <a:solidFill>
                  <a:srgbClr val="0000FF"/>
                </a:solidFill>
              </a:rPr>
              <a:t>）</a:t>
            </a:r>
            <a:r>
              <a:rPr lang="en-US" altLang="zh-CN" kern="0" dirty="0">
                <a:solidFill>
                  <a:srgbClr val="0000FF"/>
                </a:solidFill>
              </a:rPr>
              <a:t>Sv32</a:t>
            </a:r>
            <a:r>
              <a:rPr lang="zh-CN" altLang="en-US" kern="0" dirty="0">
                <a:solidFill>
                  <a:srgbClr val="0000FF"/>
                </a:solidFill>
              </a:rPr>
              <a:t>地址变换过程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A5D6E24-FE8A-4417-9547-024ADF6B8D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25" r="9781" b="29292"/>
          <a:stretch/>
        </p:blipFill>
        <p:spPr>
          <a:xfrm>
            <a:off x="134811" y="1514814"/>
            <a:ext cx="8901685" cy="99833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7D6B5FD-43C3-4803-B302-9495C4E86A62}"/>
              </a:ext>
            </a:extLst>
          </p:cNvPr>
          <p:cNvSpPr/>
          <p:nvPr/>
        </p:nvSpPr>
        <p:spPr>
          <a:xfrm>
            <a:off x="139889" y="1057660"/>
            <a:ext cx="72680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400" kern="100" dirty="0"/>
              <a:t>Sv32</a:t>
            </a:r>
            <a:r>
              <a:rPr lang="zh-CN" altLang="zh-CN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页表项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/>
              <a:t>PTE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/>
              <a:t>Page Table Entry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格式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：</a:t>
            </a:r>
            <a:endParaRPr lang="zh-CN" altLang="en-US" sz="2400" dirty="0"/>
          </a:p>
        </p:txBody>
      </p:sp>
      <p:sp>
        <p:nvSpPr>
          <p:cNvPr id="12" name="动作按钮: 获取信息 1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CC3AB5E-3783-41E7-A942-BB210A1468D3}"/>
              </a:ext>
            </a:extLst>
          </p:cNvPr>
          <p:cNvSpPr>
            <a:spLocks noChangeAspect="1"/>
          </p:cNvSpPr>
          <p:nvPr/>
        </p:nvSpPr>
        <p:spPr bwMode="auto">
          <a:xfrm>
            <a:off x="8397049" y="168634"/>
            <a:ext cx="576000" cy="576001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动作按钮: 帮助 1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DD14F69-F925-4C0A-AC82-B5EBD6C8A8AD}"/>
              </a:ext>
            </a:extLst>
          </p:cNvPr>
          <p:cNvSpPr/>
          <p:nvPr/>
        </p:nvSpPr>
        <p:spPr bwMode="auto">
          <a:xfrm>
            <a:off x="7740352" y="3717032"/>
            <a:ext cx="360040" cy="368808"/>
          </a:xfrm>
          <a:prstGeom prst="actionButtonHelp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828085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8896-24B1-4ABC-8A32-A38C3DC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659AE-ED08-4D0F-B064-0E1808A27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43</a:t>
            </a:fld>
            <a:endParaRPr lang="en-US" altLang="zh-CN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5A0F312-6E40-4E45-92A8-041FB432FDE5}"/>
              </a:ext>
            </a:extLst>
          </p:cNvPr>
          <p:cNvSpPr txBox="1">
            <a:spLocks/>
          </p:cNvSpPr>
          <p:nvPr/>
        </p:nvSpPr>
        <p:spPr bwMode="auto">
          <a:xfrm>
            <a:off x="899592" y="568325"/>
            <a:ext cx="792055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r>
              <a:rPr lang="en-US" altLang="zh-CN" kern="0" dirty="0">
                <a:solidFill>
                  <a:srgbClr val="0000FF"/>
                </a:solidFill>
              </a:rPr>
              <a:t>1</a:t>
            </a:r>
            <a:r>
              <a:rPr lang="zh-CN" altLang="en-US" kern="0" dirty="0">
                <a:solidFill>
                  <a:srgbClr val="0000FF"/>
                </a:solidFill>
              </a:rPr>
              <a:t>）</a:t>
            </a:r>
            <a:r>
              <a:rPr lang="en-US" altLang="zh-CN" kern="0" dirty="0">
                <a:solidFill>
                  <a:srgbClr val="0000FF"/>
                </a:solidFill>
              </a:rPr>
              <a:t>Sv32</a:t>
            </a:r>
            <a:r>
              <a:rPr lang="zh-CN" altLang="en-US" kern="0" dirty="0">
                <a:solidFill>
                  <a:srgbClr val="0000FF"/>
                </a:solidFill>
              </a:rPr>
              <a:t>地址变换过程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A5D6E24-FE8A-4417-9547-024ADF6B8D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25" r="9781" b="29292"/>
          <a:stretch/>
        </p:blipFill>
        <p:spPr>
          <a:xfrm>
            <a:off x="134811" y="1514814"/>
            <a:ext cx="8901685" cy="99833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7D6B5FD-43C3-4803-B302-9495C4E86A62}"/>
              </a:ext>
            </a:extLst>
          </p:cNvPr>
          <p:cNvSpPr/>
          <p:nvPr/>
        </p:nvSpPr>
        <p:spPr>
          <a:xfrm>
            <a:off x="139889" y="1057660"/>
            <a:ext cx="72680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400" kern="100" dirty="0"/>
              <a:t>Sv32</a:t>
            </a:r>
            <a:r>
              <a:rPr lang="zh-CN" altLang="zh-CN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页表项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/>
              <a:t>PTE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/>
              <a:t>Page Table Entry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格式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：</a:t>
            </a:r>
            <a:endParaRPr lang="zh-CN" altLang="en-US" sz="2400" dirty="0"/>
          </a:p>
        </p:txBody>
      </p:sp>
      <p:sp>
        <p:nvSpPr>
          <p:cNvPr id="12" name="动作按钮: 获取信息 1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CC3AB5E-3783-41E7-A942-BB210A1468D3}"/>
              </a:ext>
            </a:extLst>
          </p:cNvPr>
          <p:cNvSpPr>
            <a:spLocks noChangeAspect="1"/>
          </p:cNvSpPr>
          <p:nvPr/>
        </p:nvSpPr>
        <p:spPr bwMode="auto">
          <a:xfrm>
            <a:off x="8397049" y="168634"/>
            <a:ext cx="576000" cy="576001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EC306E57-196E-48C6-99E5-A4798BB93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148527"/>
              </p:ext>
            </p:extLst>
          </p:nvPr>
        </p:nvGraphicFramePr>
        <p:xfrm>
          <a:off x="1259632" y="3057404"/>
          <a:ext cx="5472608" cy="32918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426562513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4690112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577404295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3825379830"/>
                    </a:ext>
                  </a:extLst>
                </a:gridCol>
              </a:tblGrid>
              <a:tr h="56092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X</a:t>
                      </a:r>
                      <a:endParaRPr lang="zh-CN" sz="2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endParaRPr lang="zh-CN" altLang="en-US" sz="2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含义</a:t>
                      </a:r>
                    </a:p>
                  </a:txBody>
                  <a:tcPr marL="72000" marR="7200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50923"/>
                  </a:ext>
                </a:extLst>
              </a:tr>
              <a:tr h="5609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指向下一级页表</a:t>
                      </a:r>
                    </a:p>
                  </a:txBody>
                  <a:tcPr marL="72000" marR="7200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45207383"/>
                  </a:ext>
                </a:extLst>
              </a:tr>
              <a:tr h="5609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只读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的页</a:t>
                      </a:r>
                    </a:p>
                  </a:txBody>
                  <a:tcPr marL="72000" marR="7200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6181106"/>
                  </a:ext>
                </a:extLst>
              </a:tr>
              <a:tr h="5609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保留</a:t>
                      </a:r>
                    </a:p>
                  </a:txBody>
                  <a:tcPr marL="72000" marR="7200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15683579"/>
                  </a:ext>
                </a:extLst>
              </a:tr>
              <a:tr h="5609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可读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可写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的页</a:t>
                      </a:r>
                    </a:p>
                  </a:txBody>
                  <a:tcPr marL="72000" marR="7200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831640"/>
                  </a:ext>
                </a:extLst>
              </a:tr>
              <a:tr h="5609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可执行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的页</a:t>
                      </a:r>
                    </a:p>
                  </a:txBody>
                  <a:tcPr marL="72000" marR="7200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50310645"/>
                  </a:ext>
                </a:extLst>
              </a:tr>
              <a:tr h="5609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可读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可执行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的页</a:t>
                      </a:r>
                    </a:p>
                  </a:txBody>
                  <a:tcPr marL="72000" marR="7200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37360406"/>
                  </a:ext>
                </a:extLst>
              </a:tr>
              <a:tr h="5609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保留</a:t>
                      </a:r>
                    </a:p>
                  </a:txBody>
                  <a:tcPr marL="72000" marR="7200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37055302"/>
                  </a:ext>
                </a:extLst>
              </a:tr>
              <a:tr h="56092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可读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可写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24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可执行</a:t>
                      </a: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的页</a:t>
                      </a:r>
                    </a:p>
                  </a:txBody>
                  <a:tcPr marL="72000" marR="7200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957326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460FBE1-693D-4FF0-B9A8-22DB959795AF}"/>
              </a:ext>
            </a:extLst>
          </p:cNvPr>
          <p:cNvSpPr/>
          <p:nvPr/>
        </p:nvSpPr>
        <p:spPr>
          <a:xfrm>
            <a:off x="1122318" y="2595739"/>
            <a:ext cx="35830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zh-CN" sz="2400" kern="100" dirty="0">
                <a:solidFill>
                  <a:srgbClr val="CC0099"/>
                </a:solidFill>
                <a:cs typeface="Times New Roman" panose="02020603050405020304" pitchFamily="18" charset="0"/>
              </a:rPr>
              <a:t>页表项</a:t>
            </a:r>
            <a:r>
              <a:rPr lang="en-US" altLang="zh-CN" sz="2400" kern="100" dirty="0">
                <a:solidFill>
                  <a:srgbClr val="CC0099"/>
                </a:solidFill>
              </a:rPr>
              <a:t>X/W/R</a:t>
            </a:r>
            <a:r>
              <a:rPr lang="zh-CN" altLang="zh-CN" sz="2400" kern="100" dirty="0">
                <a:solidFill>
                  <a:srgbClr val="CC0099"/>
                </a:solidFill>
                <a:cs typeface="Times New Roman" panose="02020603050405020304" pitchFamily="18" charset="0"/>
              </a:rPr>
              <a:t>域的编码</a:t>
            </a:r>
            <a:r>
              <a:rPr lang="zh-CN" altLang="en-US" sz="2400" kern="100" dirty="0">
                <a:solidFill>
                  <a:srgbClr val="CC0099"/>
                </a:solidFill>
                <a:cs typeface="Times New Roman" panose="02020603050405020304" pitchFamily="18" charset="0"/>
              </a:rPr>
              <a:t>：</a:t>
            </a:r>
            <a:endParaRPr lang="zh-CN" altLang="en-US" sz="2400" dirty="0">
              <a:solidFill>
                <a:srgbClr val="CC0099"/>
              </a:solidFill>
            </a:endParaRPr>
          </a:p>
        </p:txBody>
      </p:sp>
      <p:sp>
        <p:nvSpPr>
          <p:cNvPr id="14" name="动作按钮: 上一张 13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37B901D0-CB7D-4154-A446-B7C1171A8856}"/>
              </a:ext>
            </a:extLst>
          </p:cNvPr>
          <p:cNvSpPr/>
          <p:nvPr/>
        </p:nvSpPr>
        <p:spPr bwMode="auto">
          <a:xfrm>
            <a:off x="7740352" y="3717032"/>
            <a:ext cx="360040" cy="368808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0F3741-16BC-4B93-BD86-5B543135D6EF}"/>
              </a:ext>
            </a:extLst>
          </p:cNvPr>
          <p:cNvSpPr/>
          <p:nvPr/>
        </p:nvSpPr>
        <p:spPr>
          <a:xfrm>
            <a:off x="6811556" y="4888752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cs typeface="Times New Roman" panose="02020603050405020304" pitchFamily="18" charset="0"/>
              </a:rPr>
              <a:t>访问权限检查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78191568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图片 84">
            <a:extLst>
              <a:ext uri="{FF2B5EF4-FFF2-40B4-BE49-F238E27FC236}">
                <a16:creationId xmlns:a16="http://schemas.microsoft.com/office/drawing/2014/main" id="{0DA2FACE-6D11-4C3D-B3DF-3AD3B88D1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92496"/>
            <a:ext cx="7344816" cy="6648872"/>
          </a:xfrm>
          <a:prstGeom prst="rect">
            <a:avLst/>
          </a:prstGeom>
        </p:spPr>
      </p:pic>
      <p:sp>
        <p:nvSpPr>
          <p:cNvPr id="89" name="矩形 88">
            <a:extLst>
              <a:ext uri="{FF2B5EF4-FFF2-40B4-BE49-F238E27FC236}">
                <a16:creationId xmlns:a16="http://schemas.microsoft.com/office/drawing/2014/main" id="{E045D029-BC25-431E-BD21-DEDDF862F64A}"/>
              </a:ext>
            </a:extLst>
          </p:cNvPr>
          <p:cNvSpPr/>
          <p:nvPr/>
        </p:nvSpPr>
        <p:spPr>
          <a:xfrm>
            <a:off x="273034" y="4869160"/>
            <a:ext cx="3188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kern="0" dirty="0">
                <a:solidFill>
                  <a:srgbClr val="006600"/>
                </a:solidFill>
                <a:latin typeface="+mj-lt"/>
                <a:ea typeface="黑体" panose="02010609060101010101" pitchFamily="49" charset="-122"/>
              </a:rPr>
              <a:t>Sv32</a:t>
            </a:r>
            <a:r>
              <a:rPr lang="zh-CN" altLang="en-US" kern="0" dirty="0">
                <a:solidFill>
                  <a:srgbClr val="006600"/>
                </a:solidFill>
                <a:latin typeface="+mj-lt"/>
                <a:ea typeface="黑体" panose="02010609060101010101" pitchFamily="49" charset="-122"/>
              </a:rPr>
              <a:t>地址变换过程</a:t>
            </a:r>
          </a:p>
        </p:txBody>
      </p:sp>
      <p:sp>
        <p:nvSpPr>
          <p:cNvPr id="90" name="动作按钮: 获取信息 8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D0A9549-3E17-4FD4-B7CF-A80A805E644F}"/>
              </a:ext>
            </a:extLst>
          </p:cNvPr>
          <p:cNvSpPr>
            <a:spLocks noChangeAspect="1"/>
          </p:cNvSpPr>
          <p:nvPr/>
        </p:nvSpPr>
        <p:spPr bwMode="auto">
          <a:xfrm>
            <a:off x="8397049" y="168634"/>
            <a:ext cx="576000" cy="576001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9803328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8896-24B1-4ABC-8A32-A38C3DC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659AE-ED08-4D0F-B064-0E1808A27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45</a:t>
            </a:fld>
            <a:endParaRPr lang="en-US" altLang="zh-CN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5A0F312-6E40-4E45-92A8-041FB432FDE5}"/>
              </a:ext>
            </a:extLst>
          </p:cNvPr>
          <p:cNvSpPr txBox="1">
            <a:spLocks/>
          </p:cNvSpPr>
          <p:nvPr/>
        </p:nvSpPr>
        <p:spPr bwMode="auto">
          <a:xfrm>
            <a:off x="899592" y="568325"/>
            <a:ext cx="792055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r>
              <a:rPr lang="en-US" altLang="zh-CN" kern="0" dirty="0">
                <a:solidFill>
                  <a:srgbClr val="0000FF"/>
                </a:solidFill>
              </a:rPr>
              <a:t>1</a:t>
            </a:r>
            <a:r>
              <a:rPr lang="zh-CN" altLang="en-US" kern="0" dirty="0">
                <a:solidFill>
                  <a:srgbClr val="0000FF"/>
                </a:solidFill>
              </a:rPr>
              <a:t>）</a:t>
            </a:r>
            <a:r>
              <a:rPr lang="en-US" altLang="zh-CN" kern="0" dirty="0">
                <a:solidFill>
                  <a:srgbClr val="0000FF"/>
                </a:solidFill>
              </a:rPr>
              <a:t>Sv32</a:t>
            </a:r>
            <a:r>
              <a:rPr lang="zh-CN" altLang="en-US" kern="0" dirty="0">
                <a:solidFill>
                  <a:srgbClr val="0000FF"/>
                </a:solidFill>
              </a:rPr>
              <a:t>地址变换过程</a:t>
            </a:r>
          </a:p>
        </p:txBody>
      </p:sp>
      <p:sp>
        <p:nvSpPr>
          <p:cNvPr id="12" name="动作按钮: 获取信息 1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CC3AB5E-3783-41E7-A942-BB210A1468D3}"/>
              </a:ext>
            </a:extLst>
          </p:cNvPr>
          <p:cNvSpPr>
            <a:spLocks noChangeAspect="1"/>
          </p:cNvSpPr>
          <p:nvPr/>
        </p:nvSpPr>
        <p:spPr bwMode="auto">
          <a:xfrm>
            <a:off x="8397049" y="168634"/>
            <a:ext cx="576000" cy="576001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41E20ED-9CDC-454C-9CDE-8BF8D0896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92200"/>
            <a:ext cx="8362950" cy="5597166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zh-CN" sz="2400" dirty="0"/>
              <a:t>M</a:t>
            </a:r>
            <a:r>
              <a:rPr lang="zh-CN" altLang="en-US" sz="2400" dirty="0"/>
              <a:t>模式的程序在第一次进入</a:t>
            </a:r>
            <a:r>
              <a:rPr lang="en-US" altLang="zh-CN" sz="2400" dirty="0"/>
              <a:t>S</a:t>
            </a:r>
            <a:r>
              <a:rPr lang="zh-CN" altLang="en-US" sz="2400" dirty="0"/>
              <a:t>模式之前，在</a:t>
            </a:r>
            <a:r>
              <a:rPr lang="en-US" altLang="zh-CN" sz="2400" dirty="0" err="1"/>
              <a:t>satp</a:t>
            </a:r>
            <a:r>
              <a:rPr lang="zh-CN" altLang="en-US" sz="2400" dirty="0"/>
              <a:t>寄存器中写入</a:t>
            </a:r>
            <a:r>
              <a:rPr lang="en-US" altLang="zh-CN" sz="2400" dirty="0"/>
              <a:t>0</a:t>
            </a:r>
            <a:r>
              <a:rPr lang="zh-CN" altLang="en-US" sz="2400" dirty="0"/>
              <a:t>以</a:t>
            </a:r>
            <a:r>
              <a:rPr lang="zh-CN" altLang="en-US" sz="2400" dirty="0">
                <a:solidFill>
                  <a:srgbClr val="FF0000"/>
                </a:solidFill>
              </a:rPr>
              <a:t>禁用分页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spcBef>
                <a:spcPts val="300"/>
              </a:spcBef>
            </a:pPr>
            <a:r>
              <a:rPr lang="en-US" altLang="zh-CN" sz="2400" dirty="0"/>
              <a:t>S</a:t>
            </a:r>
            <a:r>
              <a:rPr lang="zh-CN" altLang="en-US" sz="2400" dirty="0"/>
              <a:t>模式的程序（通常是操作系统）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在内存中</a:t>
            </a:r>
            <a:r>
              <a:rPr lang="zh-CN" altLang="en-US" sz="2400" dirty="0">
                <a:solidFill>
                  <a:srgbClr val="006600"/>
                </a:solidFill>
              </a:rPr>
              <a:t>创建页表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将</a:t>
            </a:r>
            <a:r>
              <a:rPr lang="en-US" altLang="zh-CN" sz="2400" dirty="0"/>
              <a:t>L0</a:t>
            </a:r>
            <a:r>
              <a:rPr lang="zh-CN" altLang="en-US" sz="2400" dirty="0"/>
              <a:t>页表（根页表）所在页的实页号、虚存工作模式</a:t>
            </a:r>
            <a:r>
              <a:rPr lang="zh-CN" altLang="en-US" sz="2400" dirty="0">
                <a:solidFill>
                  <a:srgbClr val="006600"/>
                </a:solidFill>
              </a:rPr>
              <a:t>写入</a:t>
            </a:r>
            <a:r>
              <a:rPr lang="en-US" altLang="zh-CN" sz="2400" dirty="0" err="1">
                <a:solidFill>
                  <a:srgbClr val="006600"/>
                </a:solidFill>
              </a:rPr>
              <a:t>satp</a:t>
            </a:r>
            <a:r>
              <a:rPr lang="zh-CN" altLang="en-US" sz="2400" dirty="0">
                <a:solidFill>
                  <a:srgbClr val="006600"/>
                </a:solidFill>
              </a:rPr>
              <a:t>寄存器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至此，页式虚拟存储器即可正常工作。</a:t>
            </a:r>
            <a:endParaRPr lang="en-US" altLang="zh-CN" sz="2400" dirty="0"/>
          </a:p>
          <a:p>
            <a:pPr>
              <a:spcBef>
                <a:spcPts val="300"/>
              </a:spcBef>
            </a:pPr>
            <a:r>
              <a:rPr lang="zh-CN" altLang="en-US" sz="2400" dirty="0"/>
              <a:t>任何级别页表的</a:t>
            </a:r>
            <a:r>
              <a:rPr lang="en-US" altLang="zh-CN" sz="2400" dirty="0"/>
              <a:t>PTE</a:t>
            </a:r>
            <a:r>
              <a:rPr lang="zh-CN" altLang="en-US" sz="2400" dirty="0"/>
              <a:t>都可以是叶子节点。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如果</a:t>
            </a:r>
            <a:r>
              <a:rPr lang="en-US" altLang="zh-CN" sz="2400" dirty="0">
                <a:solidFill>
                  <a:srgbClr val="FF0000"/>
                </a:solidFill>
              </a:rPr>
              <a:t>L0</a:t>
            </a:r>
            <a:r>
              <a:rPr lang="zh-CN" altLang="en-US" sz="2400" dirty="0">
                <a:solidFill>
                  <a:srgbClr val="FF0000"/>
                </a:solidFill>
              </a:rPr>
              <a:t>页表</a:t>
            </a:r>
            <a:r>
              <a:rPr lang="zh-CN" altLang="en-US" sz="2400" dirty="0"/>
              <a:t>的某</a:t>
            </a:r>
            <a:r>
              <a:rPr lang="en-US" altLang="zh-CN" sz="2400" dirty="0"/>
              <a:t>PTE</a:t>
            </a:r>
            <a:r>
              <a:rPr lang="zh-CN" altLang="en-US" sz="2400" dirty="0"/>
              <a:t>中，</a:t>
            </a:r>
            <a:r>
              <a:rPr lang="en-US" altLang="zh-CN" sz="2400" dirty="0"/>
              <a:t>R</a:t>
            </a:r>
            <a:r>
              <a:rPr lang="zh-CN" altLang="en-US" sz="2400" dirty="0"/>
              <a:t>位或</a:t>
            </a:r>
            <a:r>
              <a:rPr lang="en-US" altLang="zh-CN" sz="2400" dirty="0"/>
              <a:t>X</a:t>
            </a:r>
            <a:r>
              <a:rPr lang="zh-CN" altLang="en-US" sz="2400" dirty="0"/>
              <a:t>位为</a:t>
            </a:r>
            <a:r>
              <a:rPr lang="en-US" altLang="zh-CN" sz="2400" dirty="0"/>
              <a:t>1</a:t>
            </a:r>
            <a:r>
              <a:rPr lang="zh-CN" altLang="en-US" sz="2400" dirty="0"/>
              <a:t>，则说明它是</a:t>
            </a:r>
            <a:r>
              <a:rPr lang="zh-CN" altLang="en-US" sz="2400" dirty="0">
                <a:solidFill>
                  <a:srgbClr val="FF0000"/>
                </a:solidFill>
              </a:rPr>
              <a:t>叶子节点</a:t>
            </a:r>
            <a:r>
              <a:rPr lang="zh-CN" altLang="en-US" sz="2400" dirty="0"/>
              <a:t>，</a:t>
            </a:r>
            <a:r>
              <a:rPr lang="en-US" altLang="zh-CN" sz="2400" dirty="0"/>
              <a:t>Sv32</a:t>
            </a:r>
            <a:r>
              <a:rPr lang="zh-CN" altLang="en-US" sz="2400" dirty="0"/>
              <a:t>虚拟地址中的</a:t>
            </a:r>
            <a:r>
              <a:rPr lang="en-US" altLang="zh-CN" sz="2400" dirty="0">
                <a:solidFill>
                  <a:srgbClr val="0000FF"/>
                </a:solidFill>
              </a:rPr>
              <a:t>VPN[0]</a:t>
            </a:r>
            <a:r>
              <a:rPr lang="zh-CN" altLang="en-US" sz="2400" dirty="0"/>
              <a:t>字段也是</a:t>
            </a:r>
            <a:r>
              <a:rPr lang="zh-CN" altLang="en-US" sz="2400" dirty="0">
                <a:solidFill>
                  <a:srgbClr val="0000FF"/>
                </a:solidFill>
              </a:rPr>
              <a:t>页内地址</a:t>
            </a:r>
            <a:r>
              <a:rPr lang="zh-CN" altLang="en-US" sz="2400" dirty="0"/>
              <a:t>，该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指向的是</a:t>
            </a:r>
            <a:r>
              <a:rPr lang="en-US" altLang="zh-CN" sz="2400" dirty="0">
                <a:solidFill>
                  <a:srgbClr val="CC0099"/>
                </a:solidFill>
              </a:rPr>
              <a:t>4MB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C0099"/>
                </a:solidFill>
              </a:rPr>
              <a:t>巨页</a:t>
            </a:r>
            <a:r>
              <a:rPr lang="zh-CN" altLang="en-US" sz="2400" dirty="0"/>
              <a:t>（</a:t>
            </a:r>
            <a:r>
              <a:rPr lang="en-US" altLang="zh-CN" sz="2400" dirty="0">
                <a:solidFill>
                  <a:srgbClr val="CC0099"/>
                </a:solidFill>
              </a:rPr>
              <a:t>mega pages</a:t>
            </a:r>
            <a:r>
              <a:rPr lang="zh-CN" altLang="en-US" sz="2400" dirty="0"/>
              <a:t>）；</a:t>
            </a:r>
            <a:endParaRPr lang="en-US" altLang="zh-CN" sz="24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如果</a:t>
            </a:r>
            <a:r>
              <a:rPr lang="zh-CN" altLang="en-US" sz="2400" dirty="0">
                <a:solidFill>
                  <a:srgbClr val="FF0000"/>
                </a:solidFill>
              </a:rPr>
              <a:t>叶子节点</a:t>
            </a:r>
            <a:r>
              <a:rPr lang="en-US" altLang="zh-CN" sz="2400" dirty="0"/>
              <a:t>PTE</a:t>
            </a:r>
            <a:r>
              <a:rPr lang="zh-CN" altLang="en-US" sz="2400" dirty="0"/>
              <a:t>位于</a:t>
            </a:r>
            <a:r>
              <a:rPr lang="en-US" altLang="zh-CN" sz="2400" dirty="0">
                <a:solidFill>
                  <a:srgbClr val="FF0000"/>
                </a:solidFill>
              </a:rPr>
              <a:t>L1</a:t>
            </a:r>
            <a:r>
              <a:rPr lang="zh-CN" altLang="en-US" sz="2400" dirty="0">
                <a:solidFill>
                  <a:srgbClr val="FF0000"/>
                </a:solidFill>
              </a:rPr>
              <a:t>页表</a:t>
            </a:r>
            <a:r>
              <a:rPr lang="zh-CN" altLang="en-US" sz="2400" dirty="0"/>
              <a:t>，则该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指向的是</a:t>
            </a:r>
            <a:r>
              <a:rPr lang="en-US" altLang="zh-CN" sz="2400" dirty="0">
                <a:solidFill>
                  <a:srgbClr val="CC0099"/>
                </a:solidFill>
              </a:rPr>
              <a:t>4KB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C0099"/>
                </a:solidFill>
              </a:rPr>
              <a:t>基页</a:t>
            </a:r>
            <a:r>
              <a:rPr lang="zh-CN" altLang="en-US" sz="2400" dirty="0"/>
              <a:t>（</a:t>
            </a:r>
            <a:r>
              <a:rPr lang="en-US" altLang="zh-CN" sz="2400" dirty="0">
                <a:solidFill>
                  <a:srgbClr val="CC0099"/>
                </a:solidFill>
              </a:rPr>
              <a:t>base pages</a:t>
            </a:r>
            <a:r>
              <a:rPr lang="zh-CN" altLang="en-US" sz="2400" dirty="0"/>
              <a:t>）。</a:t>
            </a:r>
            <a:endParaRPr lang="en-US" altLang="zh-CN" sz="2400" dirty="0"/>
          </a:p>
          <a:p>
            <a:pPr>
              <a:spcBef>
                <a:spcPts val="300"/>
              </a:spcBef>
            </a:pPr>
            <a:r>
              <a:rPr lang="zh-CN" altLang="en-US" sz="2400" dirty="0"/>
              <a:t>从</a:t>
            </a:r>
            <a:r>
              <a:rPr lang="zh-CN" altLang="en-US" sz="2400" dirty="0">
                <a:solidFill>
                  <a:srgbClr val="FF6600"/>
                </a:solidFill>
              </a:rPr>
              <a:t>虚拟地址</a:t>
            </a:r>
            <a:r>
              <a:rPr lang="en-US" altLang="zh-CN" sz="2400" dirty="0" err="1">
                <a:solidFill>
                  <a:srgbClr val="FF6600"/>
                </a:solidFill>
              </a:rPr>
              <a:t>va</a:t>
            </a:r>
            <a:r>
              <a:rPr lang="zh-CN" altLang="en-US" sz="2400" dirty="0"/>
              <a:t>到</a:t>
            </a:r>
            <a:r>
              <a:rPr lang="zh-CN" altLang="en-US" sz="2400" dirty="0">
                <a:solidFill>
                  <a:srgbClr val="669900"/>
                </a:solidFill>
              </a:rPr>
              <a:t>物理地址</a:t>
            </a:r>
            <a:r>
              <a:rPr lang="en-US" altLang="zh-CN" sz="2400" dirty="0">
                <a:solidFill>
                  <a:srgbClr val="669900"/>
                </a:solidFill>
              </a:rPr>
              <a:t>pa</a:t>
            </a:r>
            <a:r>
              <a:rPr lang="zh-CN" altLang="en-US" sz="2400" dirty="0"/>
              <a:t>转换的完整</a:t>
            </a:r>
            <a:r>
              <a:rPr lang="zh-CN" altLang="en-US" sz="2400" dirty="0">
                <a:solidFill>
                  <a:srgbClr val="C00000"/>
                </a:solidFill>
              </a:rPr>
              <a:t>页表遍历算法</a:t>
            </a:r>
            <a:r>
              <a:rPr lang="zh-CN" altLang="en-US" sz="2400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495644801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02DFF002-B5C3-474E-B8B0-5F8F6B0AE5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478479"/>
              </p:ext>
            </p:extLst>
          </p:nvPr>
        </p:nvGraphicFramePr>
        <p:xfrm>
          <a:off x="64374" y="133484"/>
          <a:ext cx="9036496" cy="6568440"/>
        </p:xfrm>
        <a:graphic>
          <a:graphicData uri="http://schemas.openxmlformats.org/drawingml/2006/table">
            <a:tbl>
              <a:tblPr firstRow="1" firstCol="1" bandRow="1"/>
              <a:tblGrid>
                <a:gridCol w="9036496">
                  <a:extLst>
                    <a:ext uri="{9D8B030D-6E8A-4147-A177-3AD203B41FA5}">
                      <a16:colId xmlns:a16="http://schemas.microsoft.com/office/drawing/2014/main" val="4017535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66700" lvl="0" indent="-266700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令</a:t>
                      </a:r>
                      <a:r>
                        <a:rPr lang="en-US" sz="1700" b="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satp.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ppn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PAGESIZE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LEVELS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－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</a:t>
                      </a:r>
                    </a:p>
                    <a:p>
                      <a:pPr marL="266700" lvl="0" indent="-266700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令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＝地址“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+va.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vpn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]×PTESIZE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”处的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（页表项）。</a:t>
                      </a:r>
                      <a:b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如果访问该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违反了物理内存访问权限、存储保护的有关规则，则产生相应类型的异常。</a:t>
                      </a:r>
                    </a:p>
                    <a:p>
                      <a:pPr marL="266700" lvl="0" indent="-266700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，或者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且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，停止，并按照访问类型产生相应的页故障异常。</a:t>
                      </a:r>
                    </a:p>
                    <a:p>
                      <a:pPr marL="266700" lvl="0" indent="-266700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到这一步，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应该是有效的。</a:t>
                      </a:r>
                      <a:b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，则该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是叶子节点，跳转到步骤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；</a:t>
                      </a:r>
                      <a:b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否则，该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指向下一级页表，令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－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b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	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＜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，停止，按照访问类型产生相应的页故障异常；</a:t>
                      </a:r>
                      <a:b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	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否则，令</a:t>
                      </a:r>
                      <a:r>
                        <a:rPr lang="en-US" sz="1700" b="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ppn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PAGESIZE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，跳转到步骤２。</a:t>
                      </a:r>
                    </a:p>
                    <a:p>
                      <a:pPr marL="266700" lvl="0" indent="-266700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找到了叶子节点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。读取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中的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位，判断该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指向页面的访问权限是否符合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mstatus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寄存器（机器状态寄存器）中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SUM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和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MXR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域的规定，</a:t>
                      </a:r>
                      <a:b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如果不符合，停止，并按照访问类型产生相应的页故障异常。</a:t>
                      </a:r>
                    </a:p>
                    <a:p>
                      <a:pPr marL="266700" lvl="0" indent="-266700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＞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且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ppn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</a:t>
                      </a:r>
                      <a:r>
                        <a:rPr lang="en-US" sz="1700" b="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-1:0]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≠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，说明该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指向的页面大于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4KB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，且在内存中的存放位置没有按照边界对齐：停止，按照访问类型产生相应的页故障异常。</a:t>
                      </a:r>
                    </a:p>
                    <a:p>
                      <a:pPr marL="266700" lvl="0" indent="-266700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，或者此为写内存操作且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，可执行下列操作之一（二选一）：</a:t>
                      </a:r>
                    </a:p>
                    <a:p>
                      <a:pPr marL="534988" lvl="1" indent="-268288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按照访问类型产生相应的页故障异常，或</a:t>
                      </a:r>
                    </a:p>
                    <a:p>
                      <a:pPr marL="534988" lvl="1" indent="-268288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置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；如果为写内存操作，还要置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</a:t>
                      </a:r>
                      <a:b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如果访问该页违反了物理内存访问权限、存储保护的有关规则，则产生相应类型的异常。</a:t>
                      </a:r>
                    </a:p>
                    <a:p>
                      <a:pPr marL="266700" lvl="0" indent="-266700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按照以下规则，将虚拟地址（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）转换为物理地址（</a:t>
                      </a:r>
                      <a:r>
                        <a:rPr lang="en-US" sz="1700" b="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）：</a:t>
                      </a:r>
                    </a:p>
                    <a:p>
                      <a:pPr marL="534988" lvl="1" indent="-285750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US" sz="1700" b="0" i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1700" b="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页内地址＝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页内地址。</a:t>
                      </a:r>
                    </a:p>
                    <a:p>
                      <a:pPr marL="534988" lvl="1" indent="-285750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＞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，则访问的是大于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4KB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的页面，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ppn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</a:t>
                      </a:r>
                      <a:r>
                        <a:rPr lang="en-US" sz="1700" b="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-1:0]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vpn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</a:t>
                      </a:r>
                      <a:r>
                        <a:rPr lang="en-US" sz="1700" b="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-1:0]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</a:t>
                      </a:r>
                      <a:b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比如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Sv32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情况下，要访问的是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4MB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的巨页（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megapage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），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vpn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[0]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也是页内偏移的一部分。</a:t>
                      </a:r>
                    </a:p>
                    <a:p>
                      <a:pPr marL="534988" lvl="1" indent="-285750" algn="l">
                        <a:spcBef>
                          <a:spcPts val="40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从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中读取实页号：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ppn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[LEVELS-1:</a:t>
                      </a:r>
                      <a:r>
                        <a:rPr lang="en-US" sz="1700" b="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pte</a:t>
                      </a:r>
                      <a:r>
                        <a:rPr lang="en-US" sz="1700" b="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</a:t>
                      </a:r>
                      <a:r>
                        <a:rPr lang="en-US" sz="1700" b="0" i="1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ppn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[LEVELS-1:</a:t>
                      </a:r>
                      <a:r>
                        <a:rPr lang="en-US" sz="1700" b="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en-US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]</a:t>
                      </a:r>
                      <a:r>
                        <a:rPr lang="zh-CN" sz="17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</a:t>
                      </a:r>
                    </a:p>
                  </a:txBody>
                  <a:tcPr marL="68580" marR="6858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0311965"/>
                  </a:ext>
                </a:extLst>
              </a:tr>
            </a:tbl>
          </a:graphicData>
        </a:graphic>
      </p:graphicFrame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51FFA1CF-1908-454F-B3B4-4DDFC3166F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336792"/>
            <a:ext cx="2133600" cy="368808"/>
          </a:xfrm>
        </p:spPr>
        <p:txBody>
          <a:bodyPr/>
          <a:lstStyle/>
          <a:p>
            <a:fld id="{78ADDFEA-6932-4013-9B0E-E9F9C48327E4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5877546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8896-24B1-4ABC-8A32-A38C3DC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659AE-ED08-4D0F-B064-0E1808A27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47</a:t>
            </a:fld>
            <a:endParaRPr lang="en-US" altLang="zh-CN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5A0F312-6E40-4E45-92A8-041FB432FDE5}"/>
              </a:ext>
            </a:extLst>
          </p:cNvPr>
          <p:cNvSpPr txBox="1">
            <a:spLocks/>
          </p:cNvSpPr>
          <p:nvPr/>
        </p:nvSpPr>
        <p:spPr bwMode="auto">
          <a:xfrm>
            <a:off x="899592" y="568325"/>
            <a:ext cx="792055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r>
              <a:rPr lang="en-US" altLang="zh-CN" kern="0" dirty="0">
                <a:solidFill>
                  <a:srgbClr val="0000FF"/>
                </a:solidFill>
              </a:rPr>
              <a:t>2</a:t>
            </a:r>
            <a:r>
              <a:rPr lang="zh-CN" altLang="en-US" kern="0" dirty="0">
                <a:solidFill>
                  <a:srgbClr val="0000FF"/>
                </a:solidFill>
              </a:rPr>
              <a:t>）</a:t>
            </a:r>
            <a:r>
              <a:rPr lang="en-US" altLang="zh-CN" kern="0" dirty="0">
                <a:solidFill>
                  <a:srgbClr val="0000FF"/>
                </a:solidFill>
              </a:rPr>
              <a:t>Sv39</a:t>
            </a:r>
            <a:r>
              <a:rPr lang="zh-CN" altLang="en-US" kern="0" dirty="0">
                <a:solidFill>
                  <a:srgbClr val="0000FF"/>
                </a:solidFill>
              </a:rPr>
              <a:t>地址变换过程</a:t>
            </a:r>
          </a:p>
        </p:txBody>
      </p:sp>
      <p:sp>
        <p:nvSpPr>
          <p:cNvPr id="12" name="动作按钮: 获取信息 1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CC3AB5E-3783-41E7-A942-BB210A1468D3}"/>
              </a:ext>
            </a:extLst>
          </p:cNvPr>
          <p:cNvSpPr>
            <a:spLocks noChangeAspect="1"/>
          </p:cNvSpPr>
          <p:nvPr/>
        </p:nvSpPr>
        <p:spPr bwMode="auto">
          <a:xfrm>
            <a:off x="8397049" y="168634"/>
            <a:ext cx="576000" cy="576001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41E20ED-9CDC-454C-9CDE-8BF8D0896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889" y="3206353"/>
            <a:ext cx="8896607" cy="3246983"/>
          </a:xfrm>
        </p:spPr>
        <p:txBody>
          <a:bodyPr/>
          <a:lstStyle/>
          <a:p>
            <a:r>
              <a:rPr lang="zh-CN" altLang="en-US" sz="2400" dirty="0"/>
              <a:t>如果</a:t>
            </a:r>
            <a:r>
              <a:rPr lang="en-US" altLang="zh-CN" sz="2400" dirty="0">
                <a:solidFill>
                  <a:srgbClr val="FF0000"/>
                </a:solidFill>
              </a:rPr>
              <a:t>L0</a:t>
            </a:r>
            <a:r>
              <a:rPr lang="zh-CN" altLang="en-US" sz="2400" dirty="0">
                <a:solidFill>
                  <a:srgbClr val="FF0000"/>
                </a:solidFill>
              </a:rPr>
              <a:t>页表</a:t>
            </a:r>
            <a:r>
              <a:rPr lang="zh-CN" altLang="en-US" sz="2400" dirty="0"/>
              <a:t>的某</a:t>
            </a:r>
            <a:r>
              <a:rPr lang="en-US" altLang="zh-CN" sz="2400" dirty="0"/>
              <a:t>PTE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00FF"/>
                </a:solidFill>
              </a:rPr>
              <a:t>叶子节点</a:t>
            </a:r>
            <a:r>
              <a:rPr lang="zh-CN" altLang="en-US" sz="2400" dirty="0"/>
              <a:t>，则</a:t>
            </a:r>
            <a:r>
              <a:rPr lang="en-US" altLang="zh-CN" sz="2400" dirty="0"/>
              <a:t>Sv39</a:t>
            </a:r>
            <a:r>
              <a:rPr lang="zh-CN" altLang="en-US" sz="2400" dirty="0"/>
              <a:t>虚拟地址中的</a:t>
            </a:r>
            <a:r>
              <a:rPr lang="en-US" altLang="zh-CN" sz="2400" dirty="0">
                <a:solidFill>
                  <a:srgbClr val="006600"/>
                </a:solidFill>
              </a:rPr>
              <a:t>VPN[1]</a:t>
            </a:r>
            <a:r>
              <a:rPr lang="zh-CN" altLang="en-US" sz="2400" dirty="0"/>
              <a:t>、</a:t>
            </a:r>
            <a:r>
              <a:rPr lang="en-US" altLang="zh-CN" sz="2400" dirty="0">
                <a:solidFill>
                  <a:srgbClr val="006600"/>
                </a:solidFill>
              </a:rPr>
              <a:t>VPN[0]</a:t>
            </a:r>
            <a:r>
              <a:rPr lang="zh-CN" altLang="en-US" sz="2400" dirty="0"/>
              <a:t>字段也是</a:t>
            </a:r>
            <a:r>
              <a:rPr lang="zh-CN" altLang="en-US" sz="2400" dirty="0">
                <a:solidFill>
                  <a:srgbClr val="006600"/>
                </a:solidFill>
              </a:rPr>
              <a:t>页内地址</a:t>
            </a:r>
            <a:r>
              <a:rPr lang="zh-CN" altLang="en-US" sz="2400" dirty="0"/>
              <a:t>，页内地址共</a:t>
            </a:r>
            <a:r>
              <a:rPr lang="en-US" altLang="zh-CN" sz="2400" dirty="0"/>
              <a:t>30</a:t>
            </a:r>
            <a:r>
              <a:rPr lang="zh-CN" altLang="en-US" sz="2400" dirty="0"/>
              <a:t>位（</a:t>
            </a:r>
            <a:r>
              <a:rPr lang="en-US" altLang="zh-CN" sz="2400" dirty="0"/>
              <a:t>9</a:t>
            </a:r>
            <a:r>
              <a:rPr lang="zh-CN" altLang="en-US" sz="2400" dirty="0"/>
              <a:t>＋</a:t>
            </a:r>
            <a:r>
              <a:rPr lang="en-US" altLang="zh-CN" sz="2400" dirty="0"/>
              <a:t>9</a:t>
            </a:r>
            <a:r>
              <a:rPr lang="zh-CN" altLang="en-US" sz="2400" dirty="0"/>
              <a:t>＋</a:t>
            </a:r>
            <a:r>
              <a:rPr lang="en-US" altLang="zh-CN" sz="2400" dirty="0"/>
              <a:t>12</a:t>
            </a:r>
            <a:r>
              <a:rPr lang="zh-CN" altLang="en-US" sz="2400" dirty="0"/>
              <a:t>），该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指向的是</a:t>
            </a:r>
            <a:r>
              <a:rPr lang="en-US" altLang="zh-CN" sz="2400" dirty="0">
                <a:solidFill>
                  <a:srgbClr val="CC0099"/>
                </a:solidFill>
              </a:rPr>
              <a:t>1GB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C0099"/>
                </a:solidFill>
              </a:rPr>
              <a:t>吉页</a:t>
            </a:r>
            <a:r>
              <a:rPr lang="zh-CN" altLang="en-US" sz="2400" dirty="0"/>
              <a:t>（</a:t>
            </a:r>
            <a:r>
              <a:rPr lang="en-US" altLang="zh-CN" sz="2400" dirty="0"/>
              <a:t>giga pages</a:t>
            </a:r>
            <a:r>
              <a:rPr lang="zh-CN" altLang="en-US" sz="2400" dirty="0"/>
              <a:t>）；</a:t>
            </a:r>
            <a:endParaRPr lang="en-US" altLang="zh-CN" sz="2400" dirty="0"/>
          </a:p>
          <a:p>
            <a:r>
              <a:rPr lang="zh-CN" altLang="en-US" sz="2400" dirty="0"/>
              <a:t>如果</a:t>
            </a:r>
            <a:r>
              <a:rPr lang="en-US" altLang="zh-CN" sz="2400" dirty="0">
                <a:solidFill>
                  <a:srgbClr val="FF0000"/>
                </a:solidFill>
              </a:rPr>
              <a:t>L1</a:t>
            </a:r>
            <a:r>
              <a:rPr lang="zh-CN" altLang="en-US" sz="2400" dirty="0">
                <a:solidFill>
                  <a:srgbClr val="FF0000"/>
                </a:solidFill>
              </a:rPr>
              <a:t>页表</a:t>
            </a:r>
            <a:r>
              <a:rPr lang="zh-CN" altLang="en-US" sz="2400" dirty="0"/>
              <a:t>的某</a:t>
            </a:r>
            <a:r>
              <a:rPr lang="en-US" altLang="zh-CN" sz="2400" dirty="0"/>
              <a:t>PTE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00FF"/>
                </a:solidFill>
              </a:rPr>
              <a:t>叶子节点</a:t>
            </a:r>
            <a:r>
              <a:rPr lang="zh-CN" altLang="en-US" sz="2400" dirty="0"/>
              <a:t>，则</a:t>
            </a:r>
            <a:r>
              <a:rPr lang="en-US" altLang="zh-CN" sz="2400" dirty="0"/>
              <a:t>Sv39</a:t>
            </a:r>
            <a:r>
              <a:rPr lang="zh-CN" altLang="en-US" sz="2400" dirty="0"/>
              <a:t>虚拟地址中的</a:t>
            </a:r>
            <a:r>
              <a:rPr lang="en-US" altLang="zh-CN" sz="2400" dirty="0">
                <a:solidFill>
                  <a:srgbClr val="006600"/>
                </a:solidFill>
              </a:rPr>
              <a:t>VPN[0]</a:t>
            </a:r>
            <a:r>
              <a:rPr lang="zh-CN" altLang="en-US" sz="2400" dirty="0"/>
              <a:t>字段也是</a:t>
            </a:r>
            <a:r>
              <a:rPr lang="zh-CN" altLang="en-US" sz="2400" dirty="0">
                <a:solidFill>
                  <a:srgbClr val="006600"/>
                </a:solidFill>
              </a:rPr>
              <a:t>页内地址</a:t>
            </a:r>
            <a:r>
              <a:rPr lang="zh-CN" altLang="en-US" sz="2400" dirty="0"/>
              <a:t>，页内地址共</a:t>
            </a:r>
            <a:r>
              <a:rPr lang="en-US" altLang="zh-CN" sz="2400" dirty="0"/>
              <a:t>21</a:t>
            </a:r>
            <a:r>
              <a:rPr lang="zh-CN" altLang="en-US" sz="2400" dirty="0"/>
              <a:t>位（</a:t>
            </a:r>
            <a:r>
              <a:rPr lang="en-US" altLang="zh-CN" sz="2400" dirty="0"/>
              <a:t>9</a:t>
            </a:r>
            <a:r>
              <a:rPr lang="zh-CN" altLang="en-US" sz="2400" dirty="0"/>
              <a:t>＋</a:t>
            </a:r>
            <a:r>
              <a:rPr lang="en-US" altLang="zh-CN" sz="2400" dirty="0"/>
              <a:t>12</a:t>
            </a:r>
            <a:r>
              <a:rPr lang="zh-CN" altLang="en-US" sz="2400" dirty="0"/>
              <a:t>），该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指向的是</a:t>
            </a:r>
            <a:r>
              <a:rPr lang="en-US" altLang="zh-CN" sz="2400" dirty="0">
                <a:solidFill>
                  <a:srgbClr val="CC0099"/>
                </a:solidFill>
              </a:rPr>
              <a:t>2MB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C0099"/>
                </a:solidFill>
              </a:rPr>
              <a:t>巨页</a:t>
            </a:r>
            <a:r>
              <a:rPr lang="zh-CN" altLang="en-US" sz="2400" dirty="0"/>
              <a:t>（</a:t>
            </a:r>
            <a:r>
              <a:rPr lang="en-US" altLang="zh-CN" sz="2400" dirty="0"/>
              <a:t>mega pages</a:t>
            </a:r>
            <a:r>
              <a:rPr lang="zh-CN" altLang="en-US" sz="2400" dirty="0"/>
              <a:t>）；</a:t>
            </a:r>
            <a:endParaRPr lang="en-US" altLang="zh-CN" sz="2400" dirty="0"/>
          </a:p>
          <a:p>
            <a:r>
              <a:rPr lang="zh-CN" altLang="en-US" sz="2400" dirty="0"/>
              <a:t>如果</a:t>
            </a:r>
            <a:r>
              <a:rPr lang="en-US" altLang="zh-CN" sz="2400" dirty="0">
                <a:solidFill>
                  <a:srgbClr val="FF0000"/>
                </a:solidFill>
              </a:rPr>
              <a:t>L2</a:t>
            </a:r>
            <a:r>
              <a:rPr lang="zh-CN" altLang="en-US" sz="2400" dirty="0">
                <a:solidFill>
                  <a:srgbClr val="FF0000"/>
                </a:solidFill>
              </a:rPr>
              <a:t>页表</a:t>
            </a:r>
            <a:r>
              <a:rPr lang="zh-CN" altLang="en-US" sz="2400" dirty="0"/>
              <a:t>的某</a:t>
            </a:r>
            <a:r>
              <a:rPr lang="en-US" altLang="zh-CN" sz="2400" dirty="0"/>
              <a:t>PTE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00FF"/>
                </a:solidFill>
              </a:rPr>
              <a:t>叶子节点</a:t>
            </a:r>
            <a:r>
              <a:rPr lang="zh-CN" altLang="en-US" sz="2400" dirty="0"/>
              <a:t>，则该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指向的是</a:t>
            </a:r>
            <a:r>
              <a:rPr lang="en-US" altLang="zh-CN" sz="2400" dirty="0">
                <a:solidFill>
                  <a:srgbClr val="CC0099"/>
                </a:solidFill>
              </a:rPr>
              <a:t>4KB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C0099"/>
                </a:solidFill>
              </a:rPr>
              <a:t>基页</a:t>
            </a:r>
            <a:r>
              <a:rPr lang="zh-CN" altLang="en-US" sz="2400" dirty="0"/>
              <a:t>（</a:t>
            </a:r>
            <a:r>
              <a:rPr lang="en-US" altLang="zh-CN" sz="2400" dirty="0"/>
              <a:t>base pages</a:t>
            </a:r>
            <a:r>
              <a:rPr lang="zh-CN" altLang="en-US" sz="2400" dirty="0"/>
              <a:t>）。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B92C92-9A6F-4B6B-B1D1-DAB1998352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39" b="29412"/>
          <a:stretch/>
        </p:blipFill>
        <p:spPr>
          <a:xfrm>
            <a:off x="90412" y="1556792"/>
            <a:ext cx="9036496" cy="87103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0CEFCE3-4F02-46D6-BD84-072E81E5E1C9}"/>
              </a:ext>
            </a:extLst>
          </p:cNvPr>
          <p:cNvSpPr/>
          <p:nvPr/>
        </p:nvSpPr>
        <p:spPr>
          <a:xfrm>
            <a:off x="139889" y="1052736"/>
            <a:ext cx="72680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400" kern="100" dirty="0"/>
              <a:t>Sv39</a:t>
            </a:r>
            <a:r>
              <a:rPr lang="zh-CN" altLang="zh-CN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页表项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/>
              <a:t>PTE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/>
              <a:t>Page Table Entry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格式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：</a:t>
            </a:r>
            <a:endParaRPr lang="zh-CN" altLang="en-US" sz="2400" dirty="0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BEB58EE0-53CA-444B-8D73-80FC929A5BF5}"/>
              </a:ext>
            </a:extLst>
          </p:cNvPr>
          <p:cNvSpPr/>
          <p:nvPr/>
        </p:nvSpPr>
        <p:spPr bwMode="auto">
          <a:xfrm rot="5400000">
            <a:off x="3491880" y="188642"/>
            <a:ext cx="360039" cy="4680520"/>
          </a:xfrm>
          <a:prstGeom prst="rightBrace">
            <a:avLst>
              <a:gd name="adj1" fmla="val 37076"/>
              <a:gd name="adj2" fmla="val 50000"/>
            </a:avLst>
          </a:prstGeom>
          <a:noFill/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0A540A-E44B-4F8B-9A7E-539D662BFED4}"/>
              </a:ext>
            </a:extLst>
          </p:cNvPr>
          <p:cNvSpPr/>
          <p:nvPr/>
        </p:nvSpPr>
        <p:spPr>
          <a:xfrm>
            <a:off x="2666010" y="2636913"/>
            <a:ext cx="20393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>
                <a:solidFill>
                  <a:srgbClr val="FF6600"/>
                </a:solidFill>
              </a:rPr>
              <a:t>44</a:t>
            </a:r>
            <a:r>
              <a:rPr lang="zh-CN" altLang="zh-CN" sz="2400" kern="100" dirty="0">
                <a:solidFill>
                  <a:srgbClr val="FF6600"/>
                </a:solidFill>
                <a:cs typeface="Times New Roman" panose="02020603050405020304" pitchFamily="18" charset="0"/>
              </a:rPr>
              <a:t>位的实页号</a:t>
            </a:r>
            <a:endParaRPr lang="zh-CN" altLang="en-US" sz="2400" dirty="0">
              <a:solidFill>
                <a:srgbClr val="FF6600"/>
              </a:solidFill>
            </a:endParaRPr>
          </a:p>
        </p:txBody>
      </p:sp>
      <p:sp>
        <p:nvSpPr>
          <p:cNvPr id="11" name="动作按钮: 帮助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CE2F5E8-EC51-404C-86DC-C5EB53749974}"/>
              </a:ext>
            </a:extLst>
          </p:cNvPr>
          <p:cNvSpPr/>
          <p:nvPr/>
        </p:nvSpPr>
        <p:spPr bwMode="auto">
          <a:xfrm>
            <a:off x="8134576" y="2453467"/>
            <a:ext cx="360040" cy="368808"/>
          </a:xfrm>
          <a:prstGeom prst="actionButtonHelp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871722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33B3101-B46D-4BEE-912A-85C766318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3" y="44624"/>
            <a:ext cx="8884686" cy="6696745"/>
          </a:xfrm>
          <a:prstGeom prst="rect">
            <a:avLst/>
          </a:prstGeom>
        </p:spPr>
      </p:pic>
      <p:sp>
        <p:nvSpPr>
          <p:cNvPr id="89" name="矩形 88">
            <a:extLst>
              <a:ext uri="{FF2B5EF4-FFF2-40B4-BE49-F238E27FC236}">
                <a16:creationId xmlns:a16="http://schemas.microsoft.com/office/drawing/2014/main" id="{E045D029-BC25-431E-BD21-DEDDF862F64A}"/>
              </a:ext>
            </a:extLst>
          </p:cNvPr>
          <p:cNvSpPr/>
          <p:nvPr/>
        </p:nvSpPr>
        <p:spPr>
          <a:xfrm>
            <a:off x="273034" y="4869160"/>
            <a:ext cx="3188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Sv39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地址变换过程</a:t>
            </a:r>
          </a:p>
        </p:txBody>
      </p:sp>
      <p:sp>
        <p:nvSpPr>
          <p:cNvPr id="5" name="动作按钮: 获取信息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DC99DD1-5305-4475-AF5B-B900BEF56966}"/>
              </a:ext>
            </a:extLst>
          </p:cNvPr>
          <p:cNvSpPr>
            <a:spLocks noChangeAspect="1"/>
          </p:cNvSpPr>
          <p:nvPr/>
        </p:nvSpPr>
        <p:spPr bwMode="auto">
          <a:xfrm>
            <a:off x="8397049" y="168634"/>
            <a:ext cx="576000" cy="576001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225831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8896-24B1-4ABC-8A32-A38C3DC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659AE-ED08-4D0F-B064-0E1808A27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49</a:t>
            </a:fld>
            <a:endParaRPr lang="en-US" altLang="zh-CN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5A0F312-6E40-4E45-92A8-041FB432FDE5}"/>
              </a:ext>
            </a:extLst>
          </p:cNvPr>
          <p:cNvSpPr txBox="1">
            <a:spLocks/>
          </p:cNvSpPr>
          <p:nvPr/>
        </p:nvSpPr>
        <p:spPr bwMode="auto">
          <a:xfrm>
            <a:off x="899592" y="568325"/>
            <a:ext cx="792055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r>
              <a:rPr lang="en-US" altLang="zh-CN" kern="0" dirty="0">
                <a:solidFill>
                  <a:srgbClr val="0000FF"/>
                </a:solidFill>
              </a:rPr>
              <a:t>3</a:t>
            </a:r>
            <a:r>
              <a:rPr lang="zh-CN" altLang="en-US" kern="0" dirty="0">
                <a:solidFill>
                  <a:srgbClr val="0000FF"/>
                </a:solidFill>
              </a:rPr>
              <a:t>）</a:t>
            </a:r>
            <a:r>
              <a:rPr lang="en-US" altLang="zh-CN" kern="0" dirty="0">
                <a:solidFill>
                  <a:srgbClr val="0000FF"/>
                </a:solidFill>
              </a:rPr>
              <a:t>Sv48</a:t>
            </a:r>
            <a:r>
              <a:rPr lang="zh-CN" altLang="en-US" kern="0" dirty="0">
                <a:solidFill>
                  <a:srgbClr val="0000FF"/>
                </a:solidFill>
              </a:rPr>
              <a:t>地址变换过程</a:t>
            </a:r>
          </a:p>
        </p:txBody>
      </p:sp>
      <p:sp>
        <p:nvSpPr>
          <p:cNvPr id="12" name="动作按钮: 获取信息 1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CC3AB5E-3783-41E7-A942-BB210A1468D3}"/>
              </a:ext>
            </a:extLst>
          </p:cNvPr>
          <p:cNvSpPr>
            <a:spLocks noChangeAspect="1"/>
          </p:cNvSpPr>
          <p:nvPr/>
        </p:nvSpPr>
        <p:spPr bwMode="auto">
          <a:xfrm>
            <a:off x="8397049" y="168634"/>
            <a:ext cx="576000" cy="576001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41E20ED-9CDC-454C-9CDE-8BF8D0896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889" y="2420888"/>
            <a:ext cx="8896607" cy="4365103"/>
          </a:xfrm>
        </p:spPr>
        <p:txBody>
          <a:bodyPr/>
          <a:lstStyle/>
          <a:p>
            <a:r>
              <a:rPr lang="zh-CN" altLang="en-US" sz="2400" dirty="0"/>
              <a:t>如果</a:t>
            </a:r>
            <a:r>
              <a:rPr lang="en-US" altLang="zh-CN" sz="2400" dirty="0">
                <a:solidFill>
                  <a:srgbClr val="FF0000"/>
                </a:solidFill>
              </a:rPr>
              <a:t>L0</a:t>
            </a:r>
            <a:r>
              <a:rPr lang="zh-CN" altLang="en-US" sz="2400" dirty="0">
                <a:solidFill>
                  <a:srgbClr val="FF0000"/>
                </a:solidFill>
              </a:rPr>
              <a:t>页表</a:t>
            </a:r>
            <a:r>
              <a:rPr lang="zh-CN" altLang="en-US" sz="2400" dirty="0"/>
              <a:t>的某</a:t>
            </a:r>
            <a:r>
              <a:rPr lang="en-US" altLang="zh-CN" sz="2400" dirty="0"/>
              <a:t>PTE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00FF"/>
                </a:solidFill>
              </a:rPr>
              <a:t>叶子节点</a:t>
            </a:r>
            <a:r>
              <a:rPr lang="zh-CN" altLang="en-US" sz="2400" dirty="0"/>
              <a:t>，则</a:t>
            </a:r>
            <a:r>
              <a:rPr lang="en-US" altLang="zh-CN" sz="2400" dirty="0"/>
              <a:t>Sv48</a:t>
            </a:r>
            <a:r>
              <a:rPr lang="zh-CN" altLang="en-US" sz="2400" dirty="0"/>
              <a:t>虚拟地址中的</a:t>
            </a:r>
            <a:r>
              <a:rPr lang="en-US" altLang="zh-CN" sz="2400" dirty="0">
                <a:solidFill>
                  <a:srgbClr val="006600"/>
                </a:solidFill>
              </a:rPr>
              <a:t>VPN[2]</a:t>
            </a:r>
            <a:r>
              <a:rPr lang="zh-CN" altLang="en-US" sz="2400" dirty="0"/>
              <a:t>、</a:t>
            </a:r>
            <a:r>
              <a:rPr lang="en-US" altLang="zh-CN" sz="2400" dirty="0">
                <a:solidFill>
                  <a:srgbClr val="006600"/>
                </a:solidFill>
              </a:rPr>
              <a:t>VPN[1]</a:t>
            </a:r>
            <a:r>
              <a:rPr lang="zh-CN" altLang="en-US" sz="2400" dirty="0"/>
              <a:t>、</a:t>
            </a:r>
            <a:r>
              <a:rPr lang="en-US" altLang="zh-CN" sz="2400" dirty="0">
                <a:solidFill>
                  <a:srgbClr val="006600"/>
                </a:solidFill>
              </a:rPr>
              <a:t>VPN[0]</a:t>
            </a:r>
            <a:r>
              <a:rPr lang="zh-CN" altLang="en-US" sz="2400" dirty="0"/>
              <a:t>字段也是</a:t>
            </a:r>
            <a:r>
              <a:rPr lang="zh-CN" altLang="en-US" sz="2400" dirty="0">
                <a:solidFill>
                  <a:srgbClr val="006600"/>
                </a:solidFill>
              </a:rPr>
              <a:t>页内地址</a:t>
            </a:r>
            <a:r>
              <a:rPr lang="zh-CN" altLang="en-US" sz="2400" dirty="0"/>
              <a:t>，页内地址共</a:t>
            </a:r>
            <a:r>
              <a:rPr lang="en-US" altLang="zh-CN" sz="2400" dirty="0"/>
              <a:t>39</a:t>
            </a:r>
            <a:r>
              <a:rPr lang="zh-CN" altLang="en-US" sz="2400" dirty="0"/>
              <a:t>位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/>
              <a:t>9+9+9+12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/>
              <a:t>，该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指向的是</a:t>
            </a:r>
            <a:r>
              <a:rPr lang="en-US" altLang="zh-CN" sz="2400" dirty="0">
                <a:solidFill>
                  <a:srgbClr val="CC0099"/>
                </a:solidFill>
              </a:rPr>
              <a:t>512GB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C0099"/>
                </a:solidFill>
              </a:rPr>
              <a:t>特页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/>
              <a:t>tera pages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r>
              <a:rPr lang="zh-CN" altLang="en-US" sz="2400" dirty="0"/>
              <a:t>如果</a:t>
            </a:r>
            <a:r>
              <a:rPr lang="en-US" altLang="zh-CN" sz="2400" dirty="0">
                <a:solidFill>
                  <a:srgbClr val="FF0000"/>
                </a:solidFill>
              </a:rPr>
              <a:t>L1</a:t>
            </a:r>
            <a:r>
              <a:rPr lang="zh-CN" altLang="en-US" sz="2400" dirty="0">
                <a:solidFill>
                  <a:srgbClr val="FF0000"/>
                </a:solidFill>
              </a:rPr>
              <a:t>页表</a:t>
            </a:r>
            <a:r>
              <a:rPr lang="zh-CN" altLang="en-US" sz="2400" dirty="0"/>
              <a:t>的某</a:t>
            </a:r>
            <a:r>
              <a:rPr lang="en-US" altLang="zh-CN" sz="2400" dirty="0"/>
              <a:t>PTE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00FF"/>
                </a:solidFill>
              </a:rPr>
              <a:t>叶子节点</a:t>
            </a:r>
            <a:r>
              <a:rPr lang="zh-CN" altLang="en-US" sz="2400" dirty="0"/>
              <a:t>，则</a:t>
            </a:r>
            <a:r>
              <a:rPr lang="en-US" altLang="zh-CN" sz="2400" dirty="0"/>
              <a:t>Sv48</a:t>
            </a:r>
            <a:r>
              <a:rPr lang="zh-CN" altLang="en-US" sz="2400" dirty="0"/>
              <a:t>虚拟地址中的</a:t>
            </a:r>
            <a:r>
              <a:rPr lang="en-US" altLang="zh-CN" sz="2400" dirty="0">
                <a:solidFill>
                  <a:srgbClr val="006600"/>
                </a:solidFill>
              </a:rPr>
              <a:t>VPN[1]</a:t>
            </a:r>
            <a:r>
              <a:rPr lang="zh-CN" altLang="en-US" sz="2400" dirty="0"/>
              <a:t>、</a:t>
            </a:r>
            <a:r>
              <a:rPr lang="en-US" altLang="zh-CN" sz="2400" dirty="0">
                <a:solidFill>
                  <a:srgbClr val="006600"/>
                </a:solidFill>
              </a:rPr>
              <a:t>VPN[0]</a:t>
            </a:r>
            <a:r>
              <a:rPr lang="zh-CN" altLang="en-US" sz="2400" dirty="0"/>
              <a:t>字段也是</a:t>
            </a:r>
            <a:r>
              <a:rPr lang="zh-CN" altLang="en-US" sz="2400" dirty="0">
                <a:solidFill>
                  <a:srgbClr val="006600"/>
                </a:solidFill>
              </a:rPr>
              <a:t>页内地址</a:t>
            </a:r>
            <a:r>
              <a:rPr lang="zh-CN" altLang="en-US" sz="2400" dirty="0"/>
              <a:t>，页内地址共</a:t>
            </a:r>
            <a:r>
              <a:rPr lang="en-US" altLang="zh-CN" sz="2400" dirty="0"/>
              <a:t>30</a:t>
            </a:r>
            <a:r>
              <a:rPr lang="zh-CN" altLang="en-US" sz="2400" dirty="0"/>
              <a:t>位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/>
              <a:t>9+9+12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/>
              <a:t>，该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指向的是</a:t>
            </a:r>
            <a:r>
              <a:rPr lang="en-US" altLang="zh-CN" sz="2400" dirty="0">
                <a:solidFill>
                  <a:srgbClr val="CC0099"/>
                </a:solidFill>
              </a:rPr>
              <a:t>1GB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C0099"/>
                </a:solidFill>
              </a:rPr>
              <a:t>吉页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/>
              <a:t>giga pages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r>
              <a:rPr lang="zh-CN" altLang="en-US" sz="2400" dirty="0"/>
              <a:t>如果</a:t>
            </a:r>
            <a:r>
              <a:rPr lang="en-US" altLang="zh-CN" sz="2400" dirty="0">
                <a:solidFill>
                  <a:srgbClr val="FF0000"/>
                </a:solidFill>
              </a:rPr>
              <a:t>L2</a:t>
            </a:r>
            <a:r>
              <a:rPr lang="zh-CN" altLang="en-US" sz="2400" dirty="0">
                <a:solidFill>
                  <a:srgbClr val="FF0000"/>
                </a:solidFill>
              </a:rPr>
              <a:t>页表</a:t>
            </a:r>
            <a:r>
              <a:rPr lang="zh-CN" altLang="en-US" sz="2400" dirty="0"/>
              <a:t>的某</a:t>
            </a:r>
            <a:r>
              <a:rPr lang="en-US" altLang="zh-CN" sz="2400" dirty="0"/>
              <a:t>PTE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00FF"/>
                </a:solidFill>
              </a:rPr>
              <a:t>叶子节点</a:t>
            </a:r>
            <a:r>
              <a:rPr lang="zh-CN" altLang="en-US" sz="2400" dirty="0"/>
              <a:t>，则</a:t>
            </a:r>
            <a:r>
              <a:rPr lang="en-US" altLang="zh-CN" sz="2400" dirty="0"/>
              <a:t>Sv48</a:t>
            </a:r>
            <a:r>
              <a:rPr lang="zh-CN" altLang="en-US" sz="2400" dirty="0"/>
              <a:t>虚拟地址中的</a:t>
            </a:r>
            <a:r>
              <a:rPr lang="en-US" altLang="zh-CN" sz="2400" dirty="0">
                <a:solidFill>
                  <a:srgbClr val="006600"/>
                </a:solidFill>
              </a:rPr>
              <a:t>VPN[0]</a:t>
            </a:r>
            <a:r>
              <a:rPr lang="zh-CN" altLang="en-US" sz="2400" dirty="0"/>
              <a:t>字段也是</a:t>
            </a:r>
            <a:r>
              <a:rPr lang="zh-CN" altLang="en-US" sz="2400" dirty="0">
                <a:solidFill>
                  <a:srgbClr val="006600"/>
                </a:solidFill>
              </a:rPr>
              <a:t>页内地址</a:t>
            </a:r>
            <a:r>
              <a:rPr lang="zh-CN" altLang="en-US" sz="2400" dirty="0"/>
              <a:t>，页内地址共</a:t>
            </a:r>
            <a:r>
              <a:rPr lang="en-US" altLang="zh-CN" sz="2400" dirty="0"/>
              <a:t>21</a:t>
            </a:r>
            <a:r>
              <a:rPr lang="zh-CN" altLang="en-US" sz="2400" dirty="0"/>
              <a:t>位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/>
              <a:t>9+12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/>
              <a:t>，该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指向的是</a:t>
            </a:r>
            <a:r>
              <a:rPr lang="en-US" altLang="zh-CN" sz="2400" dirty="0">
                <a:solidFill>
                  <a:srgbClr val="CC0099"/>
                </a:solidFill>
              </a:rPr>
              <a:t>2MB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C0099"/>
                </a:solidFill>
              </a:rPr>
              <a:t>巨页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/>
              <a:t>mega pages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r>
              <a:rPr lang="zh-CN" altLang="en-US" sz="2400" dirty="0"/>
              <a:t>如果</a:t>
            </a:r>
            <a:r>
              <a:rPr lang="en-US" altLang="zh-CN" sz="2400" dirty="0">
                <a:solidFill>
                  <a:srgbClr val="FF0000"/>
                </a:solidFill>
              </a:rPr>
              <a:t>L3</a:t>
            </a:r>
            <a:r>
              <a:rPr lang="zh-CN" altLang="en-US" sz="2400" dirty="0">
                <a:solidFill>
                  <a:srgbClr val="FF0000"/>
                </a:solidFill>
              </a:rPr>
              <a:t>页表</a:t>
            </a:r>
            <a:r>
              <a:rPr lang="zh-CN" altLang="en-US" sz="2400" dirty="0"/>
              <a:t>的某</a:t>
            </a:r>
            <a:r>
              <a:rPr lang="en-US" altLang="zh-CN" sz="2400" dirty="0"/>
              <a:t>PTE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00FF"/>
                </a:solidFill>
              </a:rPr>
              <a:t>叶子节点</a:t>
            </a:r>
            <a:r>
              <a:rPr lang="zh-CN" altLang="en-US" sz="2400" dirty="0"/>
              <a:t>，则该</a:t>
            </a:r>
            <a:r>
              <a:rPr lang="en-US" altLang="zh-CN" sz="2400" dirty="0"/>
              <a:t>PTE</a:t>
            </a:r>
            <a:r>
              <a:rPr lang="zh-CN" altLang="en-US" sz="2400" dirty="0"/>
              <a:t>指向的是</a:t>
            </a:r>
            <a:r>
              <a:rPr lang="en-US" altLang="zh-CN" sz="2400" dirty="0">
                <a:solidFill>
                  <a:srgbClr val="CC0099"/>
                </a:solidFill>
              </a:rPr>
              <a:t>4KB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C0099"/>
                </a:solidFill>
              </a:rPr>
              <a:t>基页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/>
              <a:t>base pages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/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CEFCE3-4F02-46D6-BD84-072E81E5E1C9}"/>
              </a:ext>
            </a:extLst>
          </p:cNvPr>
          <p:cNvSpPr/>
          <p:nvPr/>
        </p:nvSpPr>
        <p:spPr>
          <a:xfrm>
            <a:off x="139889" y="1052736"/>
            <a:ext cx="72680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400" kern="100" dirty="0"/>
              <a:t>Sv48</a:t>
            </a:r>
            <a:r>
              <a:rPr lang="zh-CN" altLang="zh-CN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页表项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/>
              <a:t>PTE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/>
              <a:t>Page Table Entry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格式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：</a:t>
            </a:r>
            <a:endParaRPr lang="zh-CN" altLang="en-US" sz="2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0A540A-E44B-4F8B-9A7E-539D662BFED4}"/>
              </a:ext>
            </a:extLst>
          </p:cNvPr>
          <p:cNvSpPr/>
          <p:nvPr/>
        </p:nvSpPr>
        <p:spPr>
          <a:xfrm>
            <a:off x="6553200" y="1006346"/>
            <a:ext cx="20393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kern="100" dirty="0">
                <a:solidFill>
                  <a:srgbClr val="00CC00"/>
                </a:solidFill>
              </a:rPr>
              <a:t>44</a:t>
            </a:r>
            <a:r>
              <a:rPr lang="zh-CN" altLang="zh-CN" sz="2400" i="1" kern="100" dirty="0">
                <a:solidFill>
                  <a:srgbClr val="00CC00"/>
                </a:solidFill>
                <a:cs typeface="Times New Roman" panose="02020603050405020304" pitchFamily="18" charset="0"/>
              </a:rPr>
              <a:t>位的实页号</a:t>
            </a:r>
            <a:endParaRPr lang="zh-CN" altLang="en-US" sz="2400" i="1" dirty="0">
              <a:solidFill>
                <a:srgbClr val="00CC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80F19FD-DFDE-407B-B05D-95DB36FA47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09" b="28126"/>
          <a:stretch/>
        </p:blipFill>
        <p:spPr>
          <a:xfrm>
            <a:off x="78227" y="1480654"/>
            <a:ext cx="9001000" cy="887706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F65790C-9EC5-45FF-BD2B-7C39FC811704}"/>
              </a:ext>
            </a:extLst>
          </p:cNvPr>
          <p:cNvCxnSpPr>
            <a:cxnSpLocks/>
          </p:cNvCxnSpPr>
          <p:nvPr/>
        </p:nvCxnSpPr>
        <p:spPr bwMode="auto">
          <a:xfrm>
            <a:off x="1331640" y="1772816"/>
            <a:ext cx="4680520" cy="0"/>
          </a:xfrm>
          <a:prstGeom prst="line">
            <a:avLst/>
          </a:prstGeom>
          <a:solidFill>
            <a:srgbClr val="FFFF99"/>
          </a:solidFill>
          <a:ln w="7620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C0A2B9E-B7FD-4F53-9820-C60E41EC5399}"/>
              </a:ext>
            </a:extLst>
          </p:cNvPr>
          <p:cNvCxnSpPr>
            <a:cxnSpLocks/>
          </p:cNvCxnSpPr>
          <p:nvPr/>
        </p:nvCxnSpPr>
        <p:spPr bwMode="auto">
          <a:xfrm flipH="1">
            <a:off x="5436096" y="1333144"/>
            <a:ext cx="1161257" cy="295656"/>
          </a:xfrm>
          <a:prstGeom prst="straightConnector1">
            <a:avLst/>
          </a:prstGeom>
          <a:solidFill>
            <a:srgbClr val="FFFF99"/>
          </a:solidFill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326781004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6A7AB75-8D21-4445-9D15-FECD3758F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46270"/>
            <a:ext cx="8928992" cy="5963050"/>
          </a:xfrm>
          <a:prstGeom prst="rect">
            <a:avLst/>
          </a:prstGeom>
        </p:spPr>
      </p:pic>
      <p:sp>
        <p:nvSpPr>
          <p:cNvPr id="89" name="矩形 88">
            <a:extLst>
              <a:ext uri="{FF2B5EF4-FFF2-40B4-BE49-F238E27FC236}">
                <a16:creationId xmlns:a16="http://schemas.microsoft.com/office/drawing/2014/main" id="{E045D029-BC25-431E-BD21-DEDDF862F64A}"/>
              </a:ext>
            </a:extLst>
          </p:cNvPr>
          <p:cNvSpPr/>
          <p:nvPr/>
        </p:nvSpPr>
        <p:spPr>
          <a:xfrm>
            <a:off x="273034" y="4581128"/>
            <a:ext cx="3188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Sv48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地址变换过程</a:t>
            </a:r>
          </a:p>
        </p:txBody>
      </p:sp>
      <p:sp>
        <p:nvSpPr>
          <p:cNvPr id="5" name="动作按钮: 获取信息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11ADEAC-5326-48C7-850A-2E39584B548E}"/>
              </a:ext>
            </a:extLst>
          </p:cNvPr>
          <p:cNvSpPr>
            <a:spLocks noChangeAspect="1"/>
          </p:cNvSpPr>
          <p:nvPr/>
        </p:nvSpPr>
        <p:spPr bwMode="auto">
          <a:xfrm>
            <a:off x="8397049" y="168634"/>
            <a:ext cx="576000" cy="576001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0999511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8896-24B1-4ABC-8A32-A38C3DC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RISC-V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页式</a:t>
            </a:r>
            <a:r>
              <a:rPr lang="zh-CN" altLang="en-US" dirty="0">
                <a:solidFill>
                  <a:srgbClr val="009900"/>
                </a:solidFill>
              </a:rPr>
              <a:t>虚拟存储器</a:t>
            </a:r>
            <a:r>
              <a:rPr lang="zh-CN" altLang="en-US" dirty="0"/>
              <a:t>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659AE-ED08-4D0F-B064-0E1808A27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51</a:t>
            </a:fld>
            <a:endParaRPr lang="en-US" altLang="zh-CN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5A0F312-6E40-4E45-92A8-041FB432FDE5}"/>
              </a:ext>
            </a:extLst>
          </p:cNvPr>
          <p:cNvSpPr txBox="1">
            <a:spLocks/>
          </p:cNvSpPr>
          <p:nvPr/>
        </p:nvSpPr>
        <p:spPr bwMode="auto">
          <a:xfrm>
            <a:off x="899592" y="568325"/>
            <a:ext cx="792055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r>
              <a:rPr lang="en-US" altLang="zh-CN" kern="0" dirty="0">
                <a:solidFill>
                  <a:srgbClr val="0000FF"/>
                </a:solidFill>
              </a:rPr>
              <a:t>4</a:t>
            </a:r>
            <a:r>
              <a:rPr lang="zh-CN" altLang="en-US" kern="0" dirty="0">
                <a:solidFill>
                  <a:srgbClr val="0000FF"/>
                </a:solidFill>
              </a:rPr>
              <a:t>）</a:t>
            </a:r>
            <a:r>
              <a:rPr lang="en-US" altLang="zh-CN" kern="0" dirty="0">
                <a:solidFill>
                  <a:srgbClr val="CC0099"/>
                </a:solidFill>
              </a:rPr>
              <a:t>TLB</a:t>
            </a:r>
            <a:r>
              <a:rPr lang="zh-CN" altLang="en-US" kern="0" dirty="0">
                <a:solidFill>
                  <a:srgbClr val="0000FF"/>
                </a:solidFill>
              </a:rPr>
              <a:t>与</a:t>
            </a:r>
            <a:r>
              <a:rPr lang="zh-CN" altLang="en-US" kern="0" dirty="0">
                <a:solidFill>
                  <a:srgbClr val="CC0099"/>
                </a:solidFill>
              </a:rPr>
              <a:t>主存页表</a:t>
            </a:r>
            <a:r>
              <a:rPr lang="zh-CN" altLang="en-US" kern="0" dirty="0">
                <a:solidFill>
                  <a:srgbClr val="0000FF"/>
                </a:solidFill>
              </a:rPr>
              <a:t>不一致问题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41E20ED-9CDC-454C-9CDE-8BF8D0896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092200"/>
            <a:ext cx="8784976" cy="5433143"/>
          </a:xfrm>
        </p:spPr>
        <p:txBody>
          <a:bodyPr/>
          <a:lstStyle/>
          <a:p>
            <a:r>
              <a:rPr lang="zh-CN" altLang="en-US" sz="2400" dirty="0"/>
              <a:t>如果操作系统修改了某页表项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/>
              <a:t>PTE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/>
              <a:t>，而该</a:t>
            </a:r>
            <a:r>
              <a:rPr lang="en-US" altLang="zh-CN" sz="2400" dirty="0"/>
              <a:t>PTE</a:t>
            </a:r>
            <a:r>
              <a:rPr lang="zh-CN" altLang="en-US" sz="2400" dirty="0"/>
              <a:t>的内容原来已在</a:t>
            </a:r>
            <a:r>
              <a:rPr lang="en-US" altLang="zh-CN" sz="2400" dirty="0"/>
              <a:t>TLB</a:t>
            </a:r>
            <a:r>
              <a:rPr lang="zh-CN" altLang="en-US" sz="2400" dirty="0"/>
              <a:t>中，会导致</a:t>
            </a:r>
            <a:r>
              <a:rPr lang="en-US" altLang="zh-CN" sz="2400" dirty="0"/>
              <a:t>TLB</a:t>
            </a:r>
            <a:r>
              <a:rPr lang="zh-CN" altLang="en-US" sz="2400" dirty="0"/>
              <a:t>与内存中页表的内容不一致。</a:t>
            </a:r>
            <a:endParaRPr lang="en-US" altLang="zh-CN" sz="2400" dirty="0"/>
          </a:p>
          <a:p>
            <a:r>
              <a:rPr lang="en-US" altLang="zh-CN" sz="2400" dirty="0"/>
              <a:t>RISC-V</a:t>
            </a:r>
            <a:r>
              <a:rPr lang="zh-CN" altLang="en-US" sz="2400" dirty="0"/>
              <a:t>的</a:t>
            </a:r>
            <a:r>
              <a:rPr lang="en-US" altLang="zh-CN" sz="2400" dirty="0"/>
              <a:t>S</a:t>
            </a:r>
            <a:r>
              <a:rPr lang="zh-CN" altLang="en-US" sz="2400" dirty="0"/>
              <a:t>模式增加了</a:t>
            </a:r>
            <a:r>
              <a:rPr lang="en-US" altLang="zh-CN" sz="2400" dirty="0" err="1">
                <a:solidFill>
                  <a:srgbClr val="0000FF"/>
                </a:solidFill>
              </a:rPr>
              <a:t>sfence.vma</a:t>
            </a:r>
            <a:r>
              <a:rPr lang="zh-CN" altLang="en-US" sz="2400" dirty="0"/>
              <a:t>指令，通过该指令通知处理器，软件已经修改了页表，则处理器会刷新相应的</a:t>
            </a:r>
            <a:r>
              <a:rPr lang="en-US" altLang="zh-CN" sz="2400" dirty="0"/>
              <a:t>TLB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 err="1">
                <a:solidFill>
                  <a:srgbClr val="0000FF"/>
                </a:solidFill>
              </a:rPr>
              <a:t>sfence.vma</a:t>
            </a:r>
            <a:r>
              <a:rPr lang="zh-CN" altLang="en-US" sz="2400" dirty="0"/>
              <a:t>指令有两个寄存器参数：</a:t>
            </a:r>
            <a:endParaRPr lang="en-US" altLang="zh-CN" sz="2400" dirty="0"/>
          </a:p>
          <a:p>
            <a:pPr lvl="1"/>
            <a:r>
              <a:rPr lang="zh-CN" altLang="en-US" sz="2400" dirty="0"/>
              <a:t>一个参数指示页表中哪个</a:t>
            </a:r>
            <a:r>
              <a:rPr lang="zh-CN" altLang="en-US" sz="2400" dirty="0">
                <a:solidFill>
                  <a:srgbClr val="008000"/>
                </a:solidFill>
              </a:rPr>
              <a:t>虚页号</a:t>
            </a:r>
            <a:r>
              <a:rPr lang="zh-CN" altLang="en-US" sz="2400" dirty="0"/>
              <a:t>对应的</a:t>
            </a:r>
            <a:r>
              <a:rPr lang="zh-CN" altLang="en-US" sz="2400" dirty="0">
                <a:solidFill>
                  <a:srgbClr val="008000"/>
                </a:solidFill>
              </a:rPr>
              <a:t>实页号</a:t>
            </a:r>
            <a:r>
              <a:rPr lang="zh-CN" altLang="en-US" sz="2400" dirty="0"/>
              <a:t>被修改了；</a:t>
            </a:r>
            <a:endParaRPr lang="en-US" altLang="zh-CN" sz="2400" dirty="0"/>
          </a:p>
          <a:p>
            <a:pPr lvl="1"/>
            <a:r>
              <a:rPr lang="zh-CN" altLang="en-US" sz="2400" dirty="0"/>
              <a:t>另一参数给出被修改页表的</a:t>
            </a:r>
            <a:r>
              <a:rPr lang="zh-CN" altLang="en-US" sz="2400" dirty="0">
                <a:solidFill>
                  <a:srgbClr val="008000"/>
                </a:solidFill>
              </a:rPr>
              <a:t>进程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FF0000"/>
                </a:solidFill>
              </a:rPr>
              <a:t>地址空间标识符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</a:rPr>
              <a:t>ASID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如果两个参数内容都为</a:t>
            </a:r>
            <a:r>
              <a:rPr lang="en-US" altLang="zh-CN" sz="2400" dirty="0"/>
              <a:t>0</a:t>
            </a:r>
            <a:r>
              <a:rPr lang="zh-CN" altLang="en-US" sz="2400" dirty="0"/>
              <a:t>，则刷新整个</a:t>
            </a:r>
            <a:r>
              <a:rPr lang="en-US" altLang="zh-CN" sz="2400" dirty="0"/>
              <a:t>TLB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 err="1"/>
              <a:t>sfence.vma</a:t>
            </a:r>
            <a:r>
              <a:rPr lang="zh-CN" altLang="en-US" sz="2400" dirty="0"/>
              <a:t>指令只影响当前</a:t>
            </a:r>
            <a:r>
              <a:rPr lang="en-US" altLang="zh-CN" sz="2400" dirty="0"/>
              <a:t>hart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/>
              <a:t>hardware thread</a:t>
            </a:r>
            <a:r>
              <a:rPr lang="zh-CN" altLang="en-US" sz="2400" dirty="0"/>
              <a:t>，硬件线程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/>
              <a:t>的地址转换硬件。</a:t>
            </a:r>
            <a:br>
              <a:rPr lang="en-US" altLang="zh-CN" sz="2400" dirty="0"/>
            </a:br>
            <a:r>
              <a:rPr lang="zh-CN" altLang="en-US" sz="2400" dirty="0"/>
              <a:t>如果当前</a:t>
            </a:r>
            <a:r>
              <a:rPr lang="en-US" altLang="zh-CN" sz="2400" dirty="0"/>
              <a:t>hart</a:t>
            </a:r>
            <a:r>
              <a:rPr lang="zh-CN" altLang="en-US" sz="2400" dirty="0"/>
              <a:t>更改了另一个</a:t>
            </a:r>
            <a:r>
              <a:rPr lang="en-US" altLang="zh-CN" sz="2400" dirty="0"/>
              <a:t>hart</a:t>
            </a:r>
            <a:r>
              <a:rPr lang="zh-CN" altLang="en-US" sz="2400" dirty="0"/>
              <a:t>正在使用的页表，则当前</a:t>
            </a:r>
            <a:r>
              <a:rPr lang="en-US" altLang="zh-CN" sz="2400" dirty="0"/>
              <a:t>hart</a:t>
            </a:r>
            <a:r>
              <a:rPr lang="zh-CN" altLang="en-US" sz="2400" dirty="0"/>
              <a:t>必须用</a:t>
            </a:r>
            <a:r>
              <a:rPr lang="zh-CN" altLang="en-US" sz="2400" dirty="0">
                <a:solidFill>
                  <a:srgbClr val="FF0000"/>
                </a:solidFill>
              </a:rPr>
              <a:t>处理器间中断</a:t>
            </a:r>
            <a:r>
              <a:rPr lang="zh-CN" altLang="en-US" sz="2400" dirty="0"/>
              <a:t>来通知另一个</a:t>
            </a:r>
            <a:r>
              <a:rPr lang="en-US" altLang="zh-CN" sz="2400" dirty="0"/>
              <a:t>hart</a:t>
            </a:r>
            <a:r>
              <a:rPr lang="zh-CN" altLang="en-US" sz="2400" dirty="0"/>
              <a:t>执行</a:t>
            </a:r>
            <a:r>
              <a:rPr lang="en-US" altLang="zh-CN" sz="2400" dirty="0" err="1">
                <a:solidFill>
                  <a:srgbClr val="0000FF"/>
                </a:solidFill>
              </a:rPr>
              <a:t>sfence.vma</a:t>
            </a:r>
            <a:r>
              <a:rPr lang="zh-CN" altLang="en-US" sz="2400" dirty="0"/>
              <a:t>指令。这个过程称为“</a:t>
            </a:r>
            <a:r>
              <a:rPr lang="en-US" altLang="zh-CN" sz="2400" dirty="0">
                <a:solidFill>
                  <a:srgbClr val="CC0099"/>
                </a:solidFill>
              </a:rPr>
              <a:t>TLB</a:t>
            </a:r>
            <a:r>
              <a:rPr lang="zh-CN" altLang="en-US" sz="2400" dirty="0">
                <a:solidFill>
                  <a:srgbClr val="CC0099"/>
                </a:solidFill>
              </a:rPr>
              <a:t>击落</a:t>
            </a:r>
            <a:r>
              <a:rPr lang="zh-CN" altLang="en-US" sz="2400" dirty="0"/>
              <a:t>”。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83EB7E-E552-4D73-9A20-B192CA541A78}"/>
              </a:ext>
            </a:extLst>
          </p:cNvPr>
          <p:cNvSpPr/>
          <p:nvPr/>
        </p:nvSpPr>
        <p:spPr>
          <a:xfrm>
            <a:off x="6934504" y="148111"/>
            <a:ext cx="12522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Vladimir Script" panose="03050402040407070305" pitchFamily="66" charset="0"/>
              </a:rPr>
              <a:t>The End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8537C7-D410-4F4A-A927-8EA5B12BB97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32240" y="32542"/>
            <a:ext cx="2356212" cy="100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12943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61E931-35B1-40B7-A32A-7D30F02ED3A1}" type="slidenum">
              <a:rPr lang="zh-CN" altLang="en-US"/>
              <a:pPr/>
              <a:t>52</a:t>
            </a:fld>
            <a:endParaRPr lang="en-US" altLang="zh-CN"/>
          </a:p>
        </p:txBody>
      </p:sp>
      <p:sp>
        <p:nvSpPr>
          <p:cNvPr id="167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374063" cy="523875"/>
          </a:xfrm>
        </p:spPr>
        <p:txBody>
          <a:bodyPr/>
          <a:lstStyle/>
          <a:p>
            <a:r>
              <a:rPr lang="zh-CN" altLang="en-US" dirty="0">
                <a:latin typeface="Arial" pitchFamily="34" charset="0"/>
                <a:ea typeface="黑体" pitchFamily="49" charset="-122"/>
              </a:rPr>
              <a:t>二、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IA-32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：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Pentium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段页式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虚拟存储管理</a:t>
            </a:r>
            <a:endParaRPr lang="zh-CN" altLang="en-US" dirty="0">
              <a:solidFill>
                <a:srgbClr val="FF6600"/>
              </a:solidFill>
            </a:endParaRPr>
          </a:p>
        </p:txBody>
      </p:sp>
      <p:sp>
        <p:nvSpPr>
          <p:cNvPr id="1677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08050"/>
            <a:ext cx="8713788" cy="5761038"/>
          </a:xfrm>
        </p:spPr>
        <p:txBody>
          <a:bodyPr/>
          <a:lstStyle/>
          <a:p>
            <a:pPr marL="361950" indent="-361950"/>
            <a:r>
              <a:rPr lang="en-US" altLang="zh-CN"/>
              <a:t>Pentium PC</a:t>
            </a:r>
            <a:r>
              <a:rPr lang="zh-CN" altLang="en-US"/>
              <a:t>的虚拟地址模式</a:t>
            </a:r>
            <a:br>
              <a:rPr lang="zh-CN" altLang="en-US"/>
            </a:br>
            <a:br>
              <a:rPr lang="zh-CN" altLang="en-US"/>
            </a:br>
            <a:br>
              <a:rPr lang="zh-CN" altLang="en-US"/>
            </a:br>
            <a:br>
              <a:rPr lang="zh-CN" altLang="en-US"/>
            </a:br>
            <a:endParaRPr lang="en-US" altLang="zh-CN"/>
          </a:p>
          <a:p>
            <a:pPr marL="361950" indent="-361950"/>
            <a:r>
              <a:rPr lang="zh-CN" altLang="en-US"/>
              <a:t>保护模式的分页地址转换</a:t>
            </a:r>
            <a:br>
              <a:rPr lang="zh-CN" altLang="en-US"/>
            </a:br>
            <a:r>
              <a:rPr lang="en-US" altLang="zh-CN"/>
              <a:t>Pentium PC</a:t>
            </a:r>
            <a:r>
              <a:rPr lang="zh-CN" altLang="en-US"/>
              <a:t>的分页模式：</a:t>
            </a:r>
          </a:p>
          <a:p>
            <a:pPr marL="990600" lvl="1" indent="-449263"/>
            <a:r>
              <a:rPr lang="en-US" altLang="zh-CN"/>
              <a:t>4KB</a:t>
            </a:r>
            <a:r>
              <a:rPr lang="zh-CN" altLang="en-US"/>
              <a:t>页，二级页表（</a:t>
            </a:r>
            <a:r>
              <a:rPr lang="en-US" altLang="zh-CN"/>
              <a:t>386</a:t>
            </a:r>
            <a:r>
              <a:rPr lang="zh-CN" altLang="en-US">
                <a:latin typeface="+mn-ea"/>
              </a:rPr>
              <a:t>↑</a:t>
            </a:r>
            <a:r>
              <a:rPr lang="zh-CN" altLang="en-US"/>
              <a:t>）</a:t>
            </a:r>
          </a:p>
          <a:p>
            <a:pPr marL="990600" lvl="1" indent="-449263"/>
            <a:r>
              <a:rPr lang="en-US" altLang="zh-CN"/>
              <a:t>2MB</a:t>
            </a:r>
            <a:r>
              <a:rPr lang="zh-CN" altLang="en-US"/>
              <a:t>或</a:t>
            </a:r>
            <a:r>
              <a:rPr lang="en-US" altLang="zh-CN"/>
              <a:t>4MB</a:t>
            </a:r>
            <a:r>
              <a:rPr lang="zh-CN" altLang="en-US"/>
              <a:t>页，单级页表（</a:t>
            </a:r>
            <a:r>
              <a:rPr lang="en-US" altLang="zh-CN"/>
              <a:t>Pentium</a:t>
            </a:r>
            <a:r>
              <a:rPr lang="zh-CN" altLang="en-US">
                <a:latin typeface="+mn-ea"/>
              </a:rPr>
              <a:t>↑</a:t>
            </a:r>
            <a:r>
              <a:rPr lang="zh-CN" altLang="en-US"/>
              <a:t>）</a:t>
            </a:r>
          </a:p>
        </p:txBody>
      </p:sp>
      <p:sp>
        <p:nvSpPr>
          <p:cNvPr id="1677316" name="Text Box 4"/>
          <p:cNvSpPr txBox="1">
            <a:spLocks noChangeArrowheads="1"/>
          </p:cNvSpPr>
          <p:nvPr/>
        </p:nvSpPr>
        <p:spPr bwMode="auto">
          <a:xfrm>
            <a:off x="684213" y="1916113"/>
            <a:ext cx="1296987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/>
              <a:t>MMU</a:t>
            </a:r>
          </a:p>
        </p:txBody>
      </p:sp>
      <p:sp>
        <p:nvSpPr>
          <p:cNvPr id="1677317" name="Text Box 5"/>
          <p:cNvSpPr txBox="1">
            <a:spLocks noChangeArrowheads="1"/>
          </p:cNvSpPr>
          <p:nvPr/>
        </p:nvSpPr>
        <p:spPr bwMode="auto">
          <a:xfrm>
            <a:off x="2124075" y="1628775"/>
            <a:ext cx="2519363" cy="1160463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/>
              <a:t>SU</a:t>
            </a:r>
            <a:r>
              <a:rPr lang="zh-CN" altLang="en-US"/>
              <a:t>：分段部件</a:t>
            </a:r>
          </a:p>
          <a:p>
            <a:pPr algn="l"/>
            <a:r>
              <a:rPr lang="en-US" altLang="zh-CN"/>
              <a:t>PU</a:t>
            </a:r>
            <a:r>
              <a:rPr lang="zh-CN" altLang="en-US"/>
              <a:t>：分页部件</a:t>
            </a:r>
          </a:p>
        </p:txBody>
      </p:sp>
      <p:sp>
        <p:nvSpPr>
          <p:cNvPr id="1677318" name="Text Box 6"/>
          <p:cNvSpPr txBox="1">
            <a:spLocks noChangeArrowheads="1"/>
          </p:cNvSpPr>
          <p:nvPr/>
        </p:nvSpPr>
        <p:spPr bwMode="auto">
          <a:xfrm>
            <a:off x="5437188" y="1484313"/>
            <a:ext cx="2303462" cy="14589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</a:pPr>
            <a:r>
              <a:rPr lang="zh-CN" altLang="en-US"/>
              <a:t>分段不分页</a:t>
            </a:r>
          </a:p>
          <a:p>
            <a:pPr algn="l">
              <a:spcBef>
                <a:spcPct val="10000"/>
              </a:spcBef>
            </a:pPr>
            <a:r>
              <a:rPr lang="zh-CN" altLang="en-US"/>
              <a:t>分段分页</a:t>
            </a:r>
          </a:p>
          <a:p>
            <a:pPr algn="l">
              <a:spcBef>
                <a:spcPct val="10000"/>
              </a:spcBef>
            </a:pPr>
            <a:r>
              <a:rPr lang="zh-CN" altLang="en-US"/>
              <a:t>不分段分页</a:t>
            </a:r>
          </a:p>
        </p:txBody>
      </p:sp>
      <p:sp>
        <p:nvSpPr>
          <p:cNvPr id="1677319" name="AutoShape 7"/>
          <p:cNvSpPr>
            <a:spLocks/>
          </p:cNvSpPr>
          <p:nvPr/>
        </p:nvSpPr>
        <p:spPr bwMode="auto">
          <a:xfrm>
            <a:off x="1908175" y="1628775"/>
            <a:ext cx="217488" cy="1152525"/>
          </a:xfrm>
          <a:prstGeom prst="leftBrace">
            <a:avLst>
              <a:gd name="adj1" fmla="val 4416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77320" name="AutoShape 8"/>
          <p:cNvSpPr>
            <a:spLocks noChangeArrowheads="1"/>
          </p:cNvSpPr>
          <p:nvPr/>
        </p:nvSpPr>
        <p:spPr bwMode="auto">
          <a:xfrm>
            <a:off x="4643438" y="2060575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6FF"/>
          </a:solidFill>
          <a:ln w="28575" algn="ctr">
            <a:solidFill>
              <a:srgbClr val="CC0099"/>
            </a:solidFill>
            <a:miter lim="800000"/>
            <a:headEnd/>
            <a:tailEnd type="none" w="med" len="lg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77321" name="AutoShape 9"/>
          <p:cNvSpPr>
            <a:spLocks/>
          </p:cNvSpPr>
          <p:nvPr/>
        </p:nvSpPr>
        <p:spPr bwMode="auto">
          <a:xfrm>
            <a:off x="5219700" y="1557338"/>
            <a:ext cx="215900" cy="1366837"/>
          </a:xfrm>
          <a:prstGeom prst="leftBrace">
            <a:avLst>
              <a:gd name="adj1" fmla="val 52757"/>
              <a:gd name="adj2" fmla="val 43088"/>
            </a:avLst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A28B7C-1ECA-45B0-9922-B6FC0074076F}" type="slidenum">
              <a:rPr lang="zh-CN" altLang="en-US"/>
              <a:pPr/>
              <a:t>53</a:t>
            </a:fld>
            <a:endParaRPr lang="en-US" altLang="zh-CN"/>
          </a:p>
        </p:txBody>
      </p:sp>
      <p:sp>
        <p:nvSpPr>
          <p:cNvPr id="1696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445500" cy="523875"/>
          </a:xfrm>
        </p:spPr>
        <p:txBody>
          <a:bodyPr/>
          <a:lstStyle/>
          <a:p>
            <a:r>
              <a:rPr lang="zh-CN" altLang="en-US" dirty="0">
                <a:latin typeface="Arial" pitchFamily="34" charset="0"/>
                <a:ea typeface="黑体" pitchFamily="49" charset="-122"/>
              </a:rPr>
              <a:t>二、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IA-32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：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Pentium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段页式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虚拟存储管理</a:t>
            </a:r>
            <a:endParaRPr lang="en-US" altLang="zh-CN" dirty="0">
              <a:solidFill>
                <a:srgbClr val="FF6600"/>
              </a:solidFill>
            </a:endParaRPr>
          </a:p>
        </p:txBody>
      </p:sp>
      <p:sp>
        <p:nvSpPr>
          <p:cNvPr id="169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713788" cy="1081088"/>
          </a:xfrm>
        </p:spPr>
        <p:txBody>
          <a:bodyPr/>
          <a:lstStyle/>
          <a:p>
            <a:pPr marL="361950" indent="-361950"/>
            <a:r>
              <a:rPr lang="zh-CN" altLang="en-US">
                <a:solidFill>
                  <a:srgbClr val="0000FF"/>
                </a:solidFill>
              </a:rPr>
              <a:t>保护模式下</a:t>
            </a:r>
            <a:r>
              <a:rPr lang="zh-CN" altLang="en-US"/>
              <a:t>的</a:t>
            </a:r>
            <a:r>
              <a:rPr lang="zh-CN" altLang="en-US">
                <a:solidFill>
                  <a:srgbClr val="CC0066"/>
                </a:solidFill>
              </a:rPr>
              <a:t>分段</a:t>
            </a:r>
            <a:r>
              <a:rPr lang="zh-CN" altLang="en-US"/>
              <a:t>管理</a:t>
            </a:r>
          </a:p>
          <a:p>
            <a:pPr marL="361950" indent="-361950"/>
            <a:r>
              <a:rPr lang="zh-CN" altLang="en-US">
                <a:solidFill>
                  <a:srgbClr val="B2B2B2"/>
                </a:solidFill>
              </a:rPr>
              <a:t>保护模式下的分页管理</a:t>
            </a:r>
          </a:p>
        </p:txBody>
      </p:sp>
      <p:sp>
        <p:nvSpPr>
          <p:cNvPr id="1696779" name="Text Box 11"/>
          <p:cNvSpPr txBox="1">
            <a:spLocks noChangeArrowheads="1"/>
          </p:cNvSpPr>
          <p:nvPr/>
        </p:nvSpPr>
        <p:spPr bwMode="auto">
          <a:xfrm>
            <a:off x="1039429" y="6132364"/>
            <a:ext cx="3051986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线性地址的形成</a:t>
            </a:r>
          </a:p>
        </p:txBody>
      </p:sp>
      <p:graphicFrame>
        <p:nvGraphicFramePr>
          <p:cNvPr id="16967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249339"/>
              </p:ext>
            </p:extLst>
          </p:nvPr>
        </p:nvGraphicFramePr>
        <p:xfrm>
          <a:off x="35496" y="1830089"/>
          <a:ext cx="8351837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6861" name="Visio" r:id="rId3" imgW="3670246" imgH="1762678" progId="Visio.Drawing.11">
                  <p:embed/>
                </p:oleObj>
              </mc:Choice>
              <mc:Fallback>
                <p:oleObj name="Visio" r:id="rId3" imgW="3670246" imgH="1762678" progId="Visio.Drawing.11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" y="1830089"/>
                        <a:ext cx="8351837" cy="426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42E40A2F-2DDF-43DF-AD3F-DFD7F4CF8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7395" y="4434365"/>
            <a:ext cx="4591610" cy="1948117"/>
          </a:xfrm>
          <a:prstGeom prst="rect">
            <a:avLst/>
          </a:prstGeom>
          <a:solidFill>
            <a:srgbClr val="FFFF99"/>
          </a:solidFill>
          <a:ln w="28575">
            <a:solidFill>
              <a:srgbClr val="FF33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l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虚拟存储空间大小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V</a:t>
            </a:r>
            <a:r>
              <a:rPr lang="zh-CN" altLang="en-US" sz="2400" dirty="0"/>
              <a:t>＝</a:t>
            </a:r>
            <a:r>
              <a:rPr lang="en-US" altLang="zh-CN" sz="2400" dirty="0"/>
              <a:t>4GB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algn="l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页面大小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P</a:t>
            </a:r>
            <a:r>
              <a:rPr lang="zh-CN" altLang="en-US" sz="2400" dirty="0"/>
              <a:t>＝</a:t>
            </a:r>
            <a:r>
              <a:rPr lang="en-US" altLang="zh-CN" sz="2400" dirty="0"/>
              <a:t>4KB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algn="l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一个页表存储字的大小</a:t>
            </a:r>
            <a:r>
              <a:rPr lang="en-US" altLang="zh-CN" sz="2400" dirty="0"/>
              <a:t>B</a:t>
            </a:r>
            <a:r>
              <a:rPr lang="en-US" altLang="zh-CN" sz="2400" i="1" baseline="-25000" dirty="0"/>
              <a:t>e</a:t>
            </a:r>
            <a:r>
              <a:rPr lang="zh-CN" altLang="en-US" sz="2400" dirty="0"/>
              <a:t>＝</a:t>
            </a:r>
            <a:r>
              <a:rPr lang="en-US" altLang="zh-CN" sz="2400" dirty="0"/>
              <a:t>4B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algn="l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dirty="0">
                <a:solidFill>
                  <a:srgbClr val="CC0000"/>
                </a:solidFill>
              </a:rPr>
              <a:t>页表的级数</a:t>
            </a:r>
            <a:r>
              <a:rPr lang="zh-CN" altLang="en-US" sz="2400" dirty="0"/>
              <a:t>为：（按字节编址）</a:t>
            </a:r>
            <a:br>
              <a:rPr lang="zh-CN" altLang="en-US" sz="2400" dirty="0"/>
            </a:br>
            <a:r>
              <a:rPr lang="en-US" altLang="zh-CN" sz="2400" dirty="0" err="1">
                <a:solidFill>
                  <a:srgbClr val="FF3300"/>
                </a:solidFill>
              </a:rPr>
              <a:t>i</a:t>
            </a:r>
            <a:r>
              <a:rPr lang="zh-CN" altLang="en-US" sz="2400" dirty="0">
                <a:solidFill>
                  <a:srgbClr val="FF3300"/>
                </a:solidFill>
              </a:rPr>
              <a:t>＝</a:t>
            </a:r>
            <a:r>
              <a:rPr lang="en-US" altLang="zh-CN" sz="2400" dirty="0">
                <a:solidFill>
                  <a:srgbClr val="FF3300"/>
                </a:solidFill>
              </a:rPr>
              <a:t>[(32-12)/(12-2)]</a:t>
            </a:r>
            <a:r>
              <a:rPr lang="zh-CN" altLang="en-US" sz="2400" dirty="0">
                <a:solidFill>
                  <a:srgbClr val="FF3300"/>
                </a:solidFill>
              </a:rPr>
              <a:t>＝</a:t>
            </a:r>
            <a:r>
              <a:rPr lang="en-US" altLang="zh-CN" sz="2400" dirty="0">
                <a:solidFill>
                  <a:srgbClr val="FF3300"/>
                </a:solidFill>
              </a:rPr>
              <a:t>2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CC0000"/>
                </a:solidFill>
              </a:rPr>
              <a:t>二级页表</a:t>
            </a:r>
            <a:endParaRPr lang="zh-CN" altLang="en-US" sz="24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677261-127D-4003-8E1D-C27D3374D3F0}" type="slidenum">
              <a:rPr lang="zh-CN" altLang="en-US"/>
              <a:pPr/>
              <a:t>54</a:t>
            </a:fld>
            <a:endParaRPr lang="en-US" altLang="zh-CN"/>
          </a:p>
        </p:txBody>
      </p:sp>
      <p:sp>
        <p:nvSpPr>
          <p:cNvPr id="169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445500" cy="523875"/>
          </a:xfrm>
        </p:spPr>
        <p:txBody>
          <a:bodyPr/>
          <a:lstStyle/>
          <a:p>
            <a:r>
              <a:rPr lang="zh-CN" altLang="en-US" dirty="0">
                <a:latin typeface="Arial" pitchFamily="34" charset="0"/>
                <a:ea typeface="黑体" pitchFamily="49" charset="-122"/>
              </a:rPr>
              <a:t>二、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IA-32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：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Pentium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段页式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虚拟存储管理</a:t>
            </a:r>
            <a:endParaRPr lang="en-US" altLang="zh-CN" dirty="0">
              <a:solidFill>
                <a:srgbClr val="FF6600"/>
              </a:solidFill>
            </a:endParaRPr>
          </a:p>
        </p:txBody>
      </p:sp>
      <p:sp>
        <p:nvSpPr>
          <p:cNvPr id="169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713788" cy="1081088"/>
          </a:xfrm>
        </p:spPr>
        <p:txBody>
          <a:bodyPr/>
          <a:lstStyle/>
          <a:p>
            <a:pPr marL="361950" indent="-361950"/>
            <a:r>
              <a:rPr lang="zh-CN" altLang="en-US">
                <a:solidFill>
                  <a:srgbClr val="B2B2B2"/>
                </a:solidFill>
              </a:rPr>
              <a:t>保护模式下的分段管理</a:t>
            </a:r>
          </a:p>
          <a:p>
            <a:pPr marL="361950" indent="-361950"/>
            <a:r>
              <a:rPr lang="zh-CN" altLang="en-US">
                <a:solidFill>
                  <a:srgbClr val="0000FF"/>
                </a:solidFill>
              </a:rPr>
              <a:t>保护模式下</a:t>
            </a:r>
            <a:r>
              <a:rPr lang="zh-CN" altLang="en-US"/>
              <a:t>的</a:t>
            </a:r>
            <a:r>
              <a:rPr lang="zh-CN" altLang="en-US">
                <a:solidFill>
                  <a:srgbClr val="CC0066"/>
                </a:solidFill>
              </a:rPr>
              <a:t>分页</a:t>
            </a:r>
            <a:r>
              <a:rPr lang="zh-CN" altLang="en-US"/>
              <a:t>管理</a:t>
            </a:r>
          </a:p>
        </p:txBody>
      </p:sp>
      <p:sp>
        <p:nvSpPr>
          <p:cNvPr id="1697796" name="Text Box 4"/>
          <p:cNvSpPr txBox="1">
            <a:spLocks noChangeArrowheads="1"/>
          </p:cNvSpPr>
          <p:nvPr/>
        </p:nvSpPr>
        <p:spPr bwMode="auto">
          <a:xfrm>
            <a:off x="2771775" y="6092825"/>
            <a:ext cx="338455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页变换过程</a:t>
            </a:r>
          </a:p>
        </p:txBody>
      </p:sp>
      <p:graphicFrame>
        <p:nvGraphicFramePr>
          <p:cNvPr id="1697798" name="Object 6"/>
          <p:cNvGraphicFramePr>
            <a:graphicFrameLocks noChangeAspect="1"/>
          </p:cNvGraphicFramePr>
          <p:nvPr/>
        </p:nvGraphicFramePr>
        <p:xfrm>
          <a:off x="466725" y="1773238"/>
          <a:ext cx="8137525" cy="446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877" name="Visio" r:id="rId3" imgW="3862951" imgH="2078075" progId="Visio.Drawing.11">
                  <p:embed/>
                </p:oleObj>
              </mc:Choice>
              <mc:Fallback>
                <p:oleObj name="Visio" r:id="rId3" imgW="3862951" imgH="2078075" progId="Visio.Drawing.11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1773238"/>
                        <a:ext cx="8137525" cy="446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5576" y="4839543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CR3</a:t>
            </a:r>
            <a:endParaRPr lang="zh-CN" altLang="en-US" sz="2400"/>
          </a:p>
        </p:txBody>
      </p:sp>
      <p:sp>
        <p:nvSpPr>
          <p:cNvPr id="9" name="TextBox 8"/>
          <p:cNvSpPr txBox="1"/>
          <p:nvPr/>
        </p:nvSpPr>
        <p:spPr>
          <a:xfrm>
            <a:off x="5724128" y="1599183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12bit</a:t>
            </a:r>
            <a:endParaRPr lang="zh-CN" altLang="en-US" sz="2400"/>
          </a:p>
        </p:txBody>
      </p:sp>
      <p:sp>
        <p:nvSpPr>
          <p:cNvPr id="10" name="TextBox 9"/>
          <p:cNvSpPr txBox="1"/>
          <p:nvPr/>
        </p:nvSpPr>
        <p:spPr>
          <a:xfrm>
            <a:off x="3707904" y="1628800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10bit</a:t>
            </a:r>
            <a:endParaRPr lang="zh-CN" altLang="en-US" sz="2400"/>
          </a:p>
        </p:txBody>
      </p:sp>
      <p:sp>
        <p:nvSpPr>
          <p:cNvPr id="11" name="TextBox 10"/>
          <p:cNvSpPr txBox="1"/>
          <p:nvPr/>
        </p:nvSpPr>
        <p:spPr>
          <a:xfrm>
            <a:off x="1835696" y="1628800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10bit</a:t>
            </a:r>
            <a:endParaRPr lang="zh-CN" altLang="en-US" sz="24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9ABE3D-A7FD-474F-9C17-2737E0206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8342" y="6165850"/>
            <a:ext cx="875701" cy="69373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651412F-847A-4502-8FCC-C7A36E3196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249" y="6188852"/>
            <a:ext cx="763063" cy="66914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EFD12-018B-40EC-A019-A828A8A5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页式虚拟存储器的工作过程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A8AB66-9FCE-4974-92C9-630213EF35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55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BC4D2E-DD90-4998-BC74-C2C3FC987681}"/>
              </a:ext>
            </a:extLst>
          </p:cNvPr>
          <p:cNvSpPr/>
          <p:nvPr/>
        </p:nvSpPr>
        <p:spPr bwMode="auto">
          <a:xfrm>
            <a:off x="467544" y="2708920"/>
            <a:ext cx="1440160" cy="252028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6625F9-714C-4377-AF6C-2F72AFD3B7CA}"/>
              </a:ext>
            </a:extLst>
          </p:cNvPr>
          <p:cNvSpPr/>
          <p:nvPr/>
        </p:nvSpPr>
        <p:spPr>
          <a:xfrm>
            <a:off x="858046" y="2339588"/>
            <a:ext cx="659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CPU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CEF7FD-30E9-40DA-BDE2-9A93A8746C17}"/>
              </a:ext>
            </a:extLst>
          </p:cNvPr>
          <p:cNvSpPr/>
          <p:nvPr/>
        </p:nvSpPr>
        <p:spPr bwMode="auto">
          <a:xfrm>
            <a:off x="904256" y="4666344"/>
            <a:ext cx="864096" cy="432048"/>
          </a:xfrm>
          <a:prstGeom prst="rect">
            <a:avLst/>
          </a:prstGeom>
          <a:solidFill>
            <a:srgbClr val="99FF6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MMU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72FDE7-8E6A-4A4E-9C46-3724EEFD632D}"/>
              </a:ext>
            </a:extLst>
          </p:cNvPr>
          <p:cNvSpPr/>
          <p:nvPr/>
        </p:nvSpPr>
        <p:spPr bwMode="auto">
          <a:xfrm>
            <a:off x="688233" y="3620214"/>
            <a:ext cx="1080120" cy="432048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L1 TLB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AFED86-700A-4C61-96EF-96FB35D9AC51}"/>
              </a:ext>
            </a:extLst>
          </p:cNvPr>
          <p:cNvSpPr/>
          <p:nvPr/>
        </p:nvSpPr>
        <p:spPr bwMode="auto">
          <a:xfrm>
            <a:off x="688233" y="4124270"/>
            <a:ext cx="1080120" cy="432048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L2 TLB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A67AA4-A5BF-4669-A517-F2D9C1C62ABD}"/>
              </a:ext>
            </a:extLst>
          </p:cNvPr>
          <p:cNvSpPr/>
          <p:nvPr/>
        </p:nvSpPr>
        <p:spPr bwMode="auto">
          <a:xfrm>
            <a:off x="2402021" y="2708920"/>
            <a:ext cx="441785" cy="2520280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/>
              <a:t>总</a:t>
            </a:r>
            <a:endParaRPr lang="en-US" altLang="zh-CN" sz="18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/>
              <a:t>线</a:t>
            </a:r>
            <a:endParaRPr lang="en-US" altLang="zh-CN" sz="18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/>
              <a:t>形</a:t>
            </a:r>
            <a:endParaRPr lang="en-US" altLang="zh-CN" sz="18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/>
              <a:t>成</a:t>
            </a:r>
            <a:endParaRPr lang="en-US" altLang="zh-CN" sz="18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/>
              <a:t>电</a:t>
            </a:r>
            <a:endParaRPr lang="en-US" altLang="zh-CN" sz="18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/>
              <a:t>路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A69B1958-962A-4654-A3F4-F1138CDF20BC}"/>
              </a:ext>
            </a:extLst>
          </p:cNvPr>
          <p:cNvSpPr/>
          <p:nvPr/>
        </p:nvSpPr>
        <p:spPr bwMode="auto">
          <a:xfrm>
            <a:off x="1933970" y="3825044"/>
            <a:ext cx="441785" cy="288032"/>
          </a:xfrm>
          <a:prstGeom prst="leftRightArrow">
            <a:avLst/>
          </a:prstGeom>
          <a:solidFill>
            <a:srgbClr val="EBE1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箭头: 左右 11">
            <a:extLst>
              <a:ext uri="{FF2B5EF4-FFF2-40B4-BE49-F238E27FC236}">
                <a16:creationId xmlns:a16="http://schemas.microsoft.com/office/drawing/2014/main" id="{0B0C3A43-9C3A-4EFA-BC0F-33AACEB5DE5B}"/>
              </a:ext>
            </a:extLst>
          </p:cNvPr>
          <p:cNvSpPr/>
          <p:nvPr/>
        </p:nvSpPr>
        <p:spPr bwMode="auto">
          <a:xfrm>
            <a:off x="2860029" y="3825044"/>
            <a:ext cx="5960121" cy="288032"/>
          </a:xfrm>
          <a:prstGeom prst="leftRightArrow">
            <a:avLst/>
          </a:prstGeom>
          <a:solidFill>
            <a:srgbClr val="EBE1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E26BC3-8C0C-494B-B6C5-C1235CB2A897}"/>
              </a:ext>
            </a:extLst>
          </p:cNvPr>
          <p:cNvSpPr/>
          <p:nvPr/>
        </p:nvSpPr>
        <p:spPr>
          <a:xfrm>
            <a:off x="7572392" y="3571397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系统总线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2CCDC4-8B42-4068-8651-07464C5CC48E}"/>
              </a:ext>
            </a:extLst>
          </p:cNvPr>
          <p:cNvSpPr/>
          <p:nvPr/>
        </p:nvSpPr>
        <p:spPr bwMode="auto">
          <a:xfrm>
            <a:off x="3181330" y="964263"/>
            <a:ext cx="3694926" cy="252028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66C5AE85-AEA4-41DC-8328-EBF7843F621F}"/>
              </a:ext>
            </a:extLst>
          </p:cNvPr>
          <p:cNvSpPr/>
          <p:nvPr/>
        </p:nvSpPr>
        <p:spPr bwMode="auto">
          <a:xfrm rot="5400000">
            <a:off x="4814912" y="3529223"/>
            <a:ext cx="414484" cy="288032"/>
          </a:xfrm>
          <a:prstGeom prst="leftRightArrow">
            <a:avLst/>
          </a:prstGeom>
          <a:solidFill>
            <a:srgbClr val="EBE1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0246D8-C04E-4AD6-BDD2-4BE649B97910}"/>
              </a:ext>
            </a:extLst>
          </p:cNvPr>
          <p:cNvSpPr/>
          <p:nvPr/>
        </p:nvSpPr>
        <p:spPr>
          <a:xfrm>
            <a:off x="4697385" y="582255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主存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50B6668-D54C-490D-B2D2-510F8CDE1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145001"/>
              </p:ext>
            </p:extLst>
          </p:nvPr>
        </p:nvGraphicFramePr>
        <p:xfrm>
          <a:off x="3347864" y="2147768"/>
          <a:ext cx="338637" cy="4799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637">
                  <a:extLst>
                    <a:ext uri="{9D8B030D-6E8A-4147-A177-3AD203B41FA5}">
                      <a16:colId xmlns:a16="http://schemas.microsoft.com/office/drawing/2014/main" val="3799884775"/>
                    </a:ext>
                  </a:extLst>
                </a:gridCol>
              </a:tblGrid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179262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089570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58750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39017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D0A1C321-E822-4FCA-ADCC-4DF203A68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746615"/>
              </p:ext>
            </p:extLst>
          </p:nvPr>
        </p:nvGraphicFramePr>
        <p:xfrm>
          <a:off x="3974533" y="1628800"/>
          <a:ext cx="338637" cy="4799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637">
                  <a:extLst>
                    <a:ext uri="{9D8B030D-6E8A-4147-A177-3AD203B41FA5}">
                      <a16:colId xmlns:a16="http://schemas.microsoft.com/office/drawing/2014/main" val="3799884775"/>
                    </a:ext>
                  </a:extLst>
                </a:gridCol>
              </a:tblGrid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179262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089570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58750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390172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C7586212-DB17-4AA5-954D-7268797B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995698"/>
              </p:ext>
            </p:extLst>
          </p:nvPr>
        </p:nvGraphicFramePr>
        <p:xfrm>
          <a:off x="3974532" y="2219776"/>
          <a:ext cx="338637" cy="4799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637">
                  <a:extLst>
                    <a:ext uri="{9D8B030D-6E8A-4147-A177-3AD203B41FA5}">
                      <a16:colId xmlns:a16="http://schemas.microsoft.com/office/drawing/2014/main" val="3799884775"/>
                    </a:ext>
                  </a:extLst>
                </a:gridCol>
              </a:tblGrid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179262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089570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58750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390172"/>
                  </a:ext>
                </a:extLst>
              </a:tr>
            </a:tbl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1EBA797-8C92-45EC-B81D-C29F860E6702}"/>
              </a:ext>
            </a:extLst>
          </p:cNvPr>
          <p:cNvCxnSpPr>
            <a:cxnSpLocks/>
          </p:cNvCxnSpPr>
          <p:nvPr/>
        </p:nvCxnSpPr>
        <p:spPr bwMode="auto">
          <a:xfrm flipV="1">
            <a:off x="3686501" y="1643712"/>
            <a:ext cx="288031" cy="572553"/>
          </a:xfrm>
          <a:prstGeom prst="straightConnector1">
            <a:avLst/>
          </a:prstGeom>
          <a:solidFill>
            <a:srgbClr val="FFFF99"/>
          </a:solidFill>
          <a:ln w="190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9105F04-DC34-4929-A635-7ED1A724A1B3}"/>
              </a:ext>
            </a:extLst>
          </p:cNvPr>
          <p:cNvCxnSpPr>
            <a:cxnSpLocks/>
          </p:cNvCxnSpPr>
          <p:nvPr/>
        </p:nvCxnSpPr>
        <p:spPr bwMode="auto">
          <a:xfrm flipV="1">
            <a:off x="3675833" y="2278458"/>
            <a:ext cx="298699" cy="43642"/>
          </a:xfrm>
          <a:prstGeom prst="straightConnector1">
            <a:avLst/>
          </a:prstGeom>
          <a:solidFill>
            <a:srgbClr val="FFFF99"/>
          </a:solidFill>
          <a:ln w="190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0E34E8C-877E-49B4-80B0-7030D3E6F0DB}"/>
              </a:ext>
            </a:extLst>
          </p:cNvPr>
          <p:cNvCxnSpPr>
            <a:cxnSpLocks/>
          </p:cNvCxnSpPr>
          <p:nvPr/>
        </p:nvCxnSpPr>
        <p:spPr bwMode="auto">
          <a:xfrm>
            <a:off x="3686501" y="2447931"/>
            <a:ext cx="288031" cy="419917"/>
          </a:xfrm>
          <a:prstGeom prst="straightConnector1">
            <a:avLst/>
          </a:prstGeom>
          <a:solidFill>
            <a:srgbClr val="FFFF99"/>
          </a:solidFill>
          <a:ln w="190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352534A-7D37-4012-AFA9-32C1F1E0B351}"/>
              </a:ext>
            </a:extLst>
          </p:cNvPr>
          <p:cNvCxnSpPr>
            <a:cxnSpLocks/>
          </p:cNvCxnSpPr>
          <p:nvPr/>
        </p:nvCxnSpPr>
        <p:spPr bwMode="auto">
          <a:xfrm flipV="1">
            <a:off x="4313169" y="1404969"/>
            <a:ext cx="564969" cy="276847"/>
          </a:xfrm>
          <a:prstGeom prst="straightConnector1">
            <a:avLst/>
          </a:prstGeom>
          <a:solidFill>
            <a:srgbClr val="FFFF99"/>
          </a:solidFill>
          <a:ln w="190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D0A56413-FFE9-4ED2-A6F8-81C4AE72C945}"/>
              </a:ext>
            </a:extLst>
          </p:cNvPr>
          <p:cNvSpPr/>
          <p:nvPr/>
        </p:nvSpPr>
        <p:spPr bwMode="auto">
          <a:xfrm>
            <a:off x="4862664" y="1404969"/>
            <a:ext cx="336005" cy="479924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E11B856-2C05-498F-8279-E1B29923FD57}"/>
              </a:ext>
            </a:extLst>
          </p:cNvPr>
          <p:cNvCxnSpPr>
            <a:cxnSpLocks/>
          </p:cNvCxnSpPr>
          <p:nvPr/>
        </p:nvCxnSpPr>
        <p:spPr bwMode="auto">
          <a:xfrm>
            <a:off x="4313169" y="1806780"/>
            <a:ext cx="564969" cy="165878"/>
          </a:xfrm>
          <a:prstGeom prst="straightConnector1">
            <a:avLst/>
          </a:prstGeom>
          <a:solidFill>
            <a:srgbClr val="FFFF99"/>
          </a:solidFill>
          <a:ln w="190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76C232A8-C483-4E31-ABE2-6FE4AB1F4906}"/>
              </a:ext>
            </a:extLst>
          </p:cNvPr>
          <p:cNvCxnSpPr>
            <a:cxnSpLocks/>
          </p:cNvCxnSpPr>
          <p:nvPr/>
        </p:nvCxnSpPr>
        <p:spPr bwMode="auto">
          <a:xfrm>
            <a:off x="4313169" y="1924829"/>
            <a:ext cx="252481" cy="81771"/>
          </a:xfrm>
          <a:prstGeom prst="straightConnector1">
            <a:avLst/>
          </a:prstGeom>
          <a:solidFill>
            <a:srgbClr val="FFFF99"/>
          </a:solidFill>
          <a:ln w="190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023A353-1B15-4A61-8AA1-61A86B4394BF}"/>
              </a:ext>
            </a:extLst>
          </p:cNvPr>
          <p:cNvCxnSpPr>
            <a:cxnSpLocks/>
          </p:cNvCxnSpPr>
          <p:nvPr/>
        </p:nvCxnSpPr>
        <p:spPr bwMode="auto">
          <a:xfrm>
            <a:off x="4313169" y="2041919"/>
            <a:ext cx="258831" cy="78981"/>
          </a:xfrm>
          <a:prstGeom prst="straightConnector1">
            <a:avLst/>
          </a:prstGeom>
          <a:solidFill>
            <a:srgbClr val="FFFF99"/>
          </a:solidFill>
          <a:ln w="190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823C0A8D-B582-479A-8BAC-E369B7A98044}"/>
              </a:ext>
            </a:extLst>
          </p:cNvPr>
          <p:cNvCxnSpPr>
            <a:cxnSpLocks/>
          </p:cNvCxnSpPr>
          <p:nvPr/>
        </p:nvCxnSpPr>
        <p:spPr bwMode="auto">
          <a:xfrm>
            <a:off x="4313169" y="2406385"/>
            <a:ext cx="274747" cy="0"/>
          </a:xfrm>
          <a:prstGeom prst="straightConnector1">
            <a:avLst/>
          </a:prstGeom>
          <a:solidFill>
            <a:srgbClr val="FFFF99"/>
          </a:solidFill>
          <a:ln w="190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3C20E0D-FCE0-466E-82C3-0040C829881E}"/>
              </a:ext>
            </a:extLst>
          </p:cNvPr>
          <p:cNvCxnSpPr>
            <a:cxnSpLocks/>
          </p:cNvCxnSpPr>
          <p:nvPr/>
        </p:nvCxnSpPr>
        <p:spPr bwMode="auto">
          <a:xfrm>
            <a:off x="4313169" y="2524434"/>
            <a:ext cx="274747" cy="0"/>
          </a:xfrm>
          <a:prstGeom prst="straightConnector1">
            <a:avLst/>
          </a:prstGeom>
          <a:solidFill>
            <a:srgbClr val="FFFF99"/>
          </a:solidFill>
          <a:ln w="190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280664E-93F9-408C-8031-D416691213DF}"/>
              </a:ext>
            </a:extLst>
          </p:cNvPr>
          <p:cNvCxnSpPr>
            <a:cxnSpLocks/>
          </p:cNvCxnSpPr>
          <p:nvPr/>
        </p:nvCxnSpPr>
        <p:spPr bwMode="auto">
          <a:xfrm>
            <a:off x="4313169" y="2641524"/>
            <a:ext cx="274747" cy="0"/>
          </a:xfrm>
          <a:prstGeom prst="straightConnector1">
            <a:avLst/>
          </a:prstGeom>
          <a:solidFill>
            <a:srgbClr val="FFFF99"/>
          </a:solidFill>
          <a:ln w="190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5884FFC-0077-416A-AEB1-4FD523312877}"/>
              </a:ext>
            </a:extLst>
          </p:cNvPr>
          <p:cNvCxnSpPr>
            <a:cxnSpLocks/>
          </p:cNvCxnSpPr>
          <p:nvPr/>
        </p:nvCxnSpPr>
        <p:spPr bwMode="auto">
          <a:xfrm>
            <a:off x="4313168" y="2277593"/>
            <a:ext cx="274747" cy="0"/>
          </a:xfrm>
          <a:prstGeom prst="straightConnector1">
            <a:avLst/>
          </a:prstGeom>
          <a:solidFill>
            <a:srgbClr val="FFFF99"/>
          </a:solidFill>
          <a:ln w="1905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A73FFDBA-A1F0-4B75-B786-07EE8CB94ED8}"/>
              </a:ext>
            </a:extLst>
          </p:cNvPr>
          <p:cNvSpPr/>
          <p:nvPr/>
        </p:nvSpPr>
        <p:spPr>
          <a:xfrm>
            <a:off x="3936101" y="26260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/>
              <a:t>…</a:t>
            </a:r>
            <a:endParaRPr lang="zh-CN" altLang="en-US" sz="18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80567DC-EA0E-4F06-8FBF-F42BD2306D16}"/>
              </a:ext>
            </a:extLst>
          </p:cNvPr>
          <p:cNvSpPr/>
          <p:nvPr/>
        </p:nvSpPr>
        <p:spPr>
          <a:xfrm rot="16200000">
            <a:off x="4760164" y="253252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/>
              <a:t>…</a:t>
            </a:r>
            <a:endParaRPr lang="zh-CN" altLang="en-US" sz="18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B098E1B-97E5-4471-A50F-4A32DBC452F1}"/>
              </a:ext>
            </a:extLst>
          </p:cNvPr>
          <p:cNvSpPr/>
          <p:nvPr/>
        </p:nvSpPr>
        <p:spPr>
          <a:xfrm>
            <a:off x="3200573" y="980728"/>
            <a:ext cx="13468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800" dirty="0">
                <a:solidFill>
                  <a:srgbClr val="0000FF"/>
                </a:solidFill>
              </a:rPr>
              <a:t>页表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1800" dirty="0">
                <a:solidFill>
                  <a:srgbClr val="0000FF"/>
                </a:solidFill>
              </a:rPr>
              <a:t>（内页表）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D87794E-167C-42FD-B3AA-5BCFD7ED3919}"/>
              </a:ext>
            </a:extLst>
          </p:cNvPr>
          <p:cNvSpPr/>
          <p:nvPr/>
        </p:nvSpPr>
        <p:spPr>
          <a:xfrm>
            <a:off x="4641464" y="1052736"/>
            <a:ext cx="1114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800" dirty="0"/>
              <a:t>主存页面</a:t>
            </a:r>
          </a:p>
        </p:txBody>
      </p: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87820DB9-0E43-46BE-94BE-C5B2393C6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32862"/>
              </p:ext>
            </p:extLst>
          </p:nvPr>
        </p:nvGraphicFramePr>
        <p:xfrm>
          <a:off x="6034474" y="1926341"/>
          <a:ext cx="338637" cy="4799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637">
                  <a:extLst>
                    <a:ext uri="{9D8B030D-6E8A-4147-A177-3AD203B41FA5}">
                      <a16:colId xmlns:a16="http://schemas.microsoft.com/office/drawing/2014/main" val="3799884775"/>
                    </a:ext>
                  </a:extLst>
                </a:gridCol>
              </a:tblGrid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179262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089570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58750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390172"/>
                  </a:ext>
                </a:extLst>
              </a:tr>
            </a:tbl>
          </a:graphicData>
        </a:graphic>
      </p:graphicFrame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388652C5-F118-450D-A7A4-E46D5B46B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998332"/>
              </p:ext>
            </p:extLst>
          </p:nvPr>
        </p:nvGraphicFramePr>
        <p:xfrm>
          <a:off x="6034474" y="2893534"/>
          <a:ext cx="338637" cy="4799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637">
                  <a:extLst>
                    <a:ext uri="{9D8B030D-6E8A-4147-A177-3AD203B41FA5}">
                      <a16:colId xmlns:a16="http://schemas.microsoft.com/office/drawing/2014/main" val="3799884775"/>
                    </a:ext>
                  </a:extLst>
                </a:gridCol>
              </a:tblGrid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179262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089570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458750"/>
                  </a:ext>
                </a:extLst>
              </a:tr>
              <a:tr h="119981">
                <a:tc>
                  <a:txBody>
                    <a:bodyPr/>
                    <a:lstStyle/>
                    <a:p>
                      <a:pPr>
                        <a:lnSpc>
                          <a:spcPts val="100"/>
                        </a:lnSpc>
                      </a:pPr>
                      <a:endParaRPr lang="zh-CN" altLang="en-US" sz="5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390172"/>
                  </a:ext>
                </a:extLst>
              </a:tr>
            </a:tbl>
          </a:graphicData>
        </a:graphic>
      </p:graphicFrame>
      <p:sp>
        <p:nvSpPr>
          <p:cNvPr id="56" name="矩形 55">
            <a:extLst>
              <a:ext uri="{FF2B5EF4-FFF2-40B4-BE49-F238E27FC236}">
                <a16:creationId xmlns:a16="http://schemas.microsoft.com/office/drawing/2014/main" id="{C9C29278-A2B5-4632-B91F-D0E80C0F9E9B}"/>
              </a:ext>
            </a:extLst>
          </p:cNvPr>
          <p:cNvSpPr/>
          <p:nvPr/>
        </p:nvSpPr>
        <p:spPr>
          <a:xfrm>
            <a:off x="5761848" y="1556792"/>
            <a:ext cx="8819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800" dirty="0">
                <a:solidFill>
                  <a:srgbClr val="0000FF"/>
                </a:solidFill>
              </a:rPr>
              <a:t>外页表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4A2C1D0-1634-4301-AB71-7DD0E9E775ED}"/>
              </a:ext>
            </a:extLst>
          </p:cNvPr>
          <p:cNvSpPr/>
          <p:nvPr/>
        </p:nvSpPr>
        <p:spPr>
          <a:xfrm>
            <a:off x="5529412" y="253142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800" dirty="0">
                <a:solidFill>
                  <a:srgbClr val="0000FF"/>
                </a:solidFill>
              </a:rPr>
              <a:t>主存页面表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E92D8D5-660D-4386-9B2C-ADDCDC334D3F}"/>
              </a:ext>
            </a:extLst>
          </p:cNvPr>
          <p:cNvSpPr/>
          <p:nvPr/>
        </p:nvSpPr>
        <p:spPr bwMode="auto">
          <a:xfrm>
            <a:off x="5490570" y="4486423"/>
            <a:ext cx="1587716" cy="419797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/>
              <a:t>接口、控制器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箭头: 左右 58">
            <a:extLst>
              <a:ext uri="{FF2B5EF4-FFF2-40B4-BE49-F238E27FC236}">
                <a16:creationId xmlns:a16="http://schemas.microsoft.com/office/drawing/2014/main" id="{E689C9B5-D660-4556-AC7D-019FA5E0D3A7}"/>
              </a:ext>
            </a:extLst>
          </p:cNvPr>
          <p:cNvSpPr/>
          <p:nvPr/>
        </p:nvSpPr>
        <p:spPr bwMode="auto">
          <a:xfrm rot="5400000">
            <a:off x="6077187" y="4116667"/>
            <a:ext cx="414484" cy="288032"/>
          </a:xfrm>
          <a:prstGeom prst="leftRightArrow">
            <a:avLst/>
          </a:prstGeom>
          <a:solidFill>
            <a:srgbClr val="EBE1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1" name="流程图: 磁盘 60">
            <a:extLst>
              <a:ext uri="{FF2B5EF4-FFF2-40B4-BE49-F238E27FC236}">
                <a16:creationId xmlns:a16="http://schemas.microsoft.com/office/drawing/2014/main" id="{9FF0889F-0F7E-44D3-A9FD-E20B1A084ED5}"/>
              </a:ext>
            </a:extLst>
          </p:cNvPr>
          <p:cNvSpPr/>
          <p:nvPr/>
        </p:nvSpPr>
        <p:spPr bwMode="auto">
          <a:xfrm>
            <a:off x="5284899" y="5279567"/>
            <a:ext cx="1999058" cy="1346680"/>
          </a:xfrm>
          <a:prstGeom prst="flowChartMagneticDisk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0" name="箭头: 左右 59">
            <a:extLst>
              <a:ext uri="{FF2B5EF4-FFF2-40B4-BE49-F238E27FC236}">
                <a16:creationId xmlns:a16="http://schemas.microsoft.com/office/drawing/2014/main" id="{5513DAC3-4E1C-416D-B5D0-7906870F43B1}"/>
              </a:ext>
            </a:extLst>
          </p:cNvPr>
          <p:cNvSpPr/>
          <p:nvPr/>
        </p:nvSpPr>
        <p:spPr bwMode="auto">
          <a:xfrm rot="5400000">
            <a:off x="6077187" y="4994999"/>
            <a:ext cx="414484" cy="288032"/>
          </a:xfrm>
          <a:prstGeom prst="leftRightArrow">
            <a:avLst/>
          </a:prstGeom>
          <a:solidFill>
            <a:srgbClr val="EBE1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1840830-0D98-4585-850A-D5F64E5E6676}"/>
              </a:ext>
            </a:extLst>
          </p:cNvPr>
          <p:cNvSpPr/>
          <p:nvPr/>
        </p:nvSpPr>
        <p:spPr bwMode="auto">
          <a:xfrm>
            <a:off x="5490570" y="5893737"/>
            <a:ext cx="336005" cy="479924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E451AAB-6F0D-48DF-8659-DB297614FF3F}"/>
              </a:ext>
            </a:extLst>
          </p:cNvPr>
          <p:cNvSpPr/>
          <p:nvPr/>
        </p:nvSpPr>
        <p:spPr bwMode="auto">
          <a:xfrm>
            <a:off x="5907807" y="5893737"/>
            <a:ext cx="336005" cy="479924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5C0F8AF-CE63-44BE-BFE8-CEAF16034E2E}"/>
              </a:ext>
            </a:extLst>
          </p:cNvPr>
          <p:cNvSpPr/>
          <p:nvPr/>
        </p:nvSpPr>
        <p:spPr bwMode="auto">
          <a:xfrm>
            <a:off x="6325044" y="5893737"/>
            <a:ext cx="336005" cy="479924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6609048-D676-4523-9D86-38A34499EB3C}"/>
              </a:ext>
            </a:extLst>
          </p:cNvPr>
          <p:cNvSpPr/>
          <p:nvPr/>
        </p:nvSpPr>
        <p:spPr bwMode="auto">
          <a:xfrm>
            <a:off x="6742281" y="5893737"/>
            <a:ext cx="336005" cy="479924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C60EBD5-E499-447C-B0B7-D23717E68752}"/>
              </a:ext>
            </a:extLst>
          </p:cNvPr>
          <p:cNvSpPr/>
          <p:nvPr/>
        </p:nvSpPr>
        <p:spPr>
          <a:xfrm>
            <a:off x="5959659" y="5335724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硬盘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FD42E3F-6927-4DFE-B062-C041A390ED80}"/>
              </a:ext>
            </a:extLst>
          </p:cNvPr>
          <p:cNvSpPr/>
          <p:nvPr/>
        </p:nvSpPr>
        <p:spPr bwMode="auto">
          <a:xfrm>
            <a:off x="4868445" y="1972658"/>
            <a:ext cx="336005" cy="479924"/>
          </a:xfrm>
          <a:prstGeom prst="rect">
            <a:avLst/>
          </a:prstGeom>
          <a:solidFill>
            <a:srgbClr val="FFFF6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3AE527F-BB76-47E8-888F-5FAB1A5E6B50}"/>
              </a:ext>
            </a:extLst>
          </p:cNvPr>
          <p:cNvSpPr/>
          <p:nvPr/>
        </p:nvSpPr>
        <p:spPr bwMode="auto">
          <a:xfrm>
            <a:off x="1007917" y="3366654"/>
            <a:ext cx="760435" cy="143645"/>
          </a:xfrm>
          <a:prstGeom prst="rect">
            <a:avLst/>
          </a:prstGeom>
          <a:solidFill>
            <a:srgbClr val="FFCC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6E4CC2B-5CD8-4BE7-9158-DE1B8CBCD5A2}"/>
              </a:ext>
            </a:extLst>
          </p:cNvPr>
          <p:cNvSpPr/>
          <p:nvPr/>
        </p:nvSpPr>
        <p:spPr>
          <a:xfrm>
            <a:off x="815373" y="2883067"/>
            <a:ext cx="1114408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zh-CN" altLang="en-US" sz="1800" dirty="0"/>
              <a:t>页表基址</a:t>
            </a:r>
            <a:endParaRPr lang="en-US" altLang="zh-CN" sz="1800" dirty="0"/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zh-CN" altLang="en-US" sz="1800" dirty="0"/>
              <a:t>寄存器</a:t>
            </a:r>
          </a:p>
        </p:txBody>
      </p:sp>
      <p:sp>
        <p:nvSpPr>
          <p:cNvPr id="66" name="动作按钮: 上一张 65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7E3B6B3C-F356-4CE8-BC82-B787A8B8931E}"/>
              </a:ext>
            </a:extLst>
          </p:cNvPr>
          <p:cNvSpPr>
            <a:spLocks noChangeAspect="1"/>
          </p:cNvSpPr>
          <p:nvPr/>
        </p:nvSpPr>
        <p:spPr bwMode="auto">
          <a:xfrm>
            <a:off x="8362454" y="188639"/>
            <a:ext cx="576759" cy="57600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1387063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677261-127D-4003-8E1D-C27D3374D3F0}" type="slidenum">
              <a:rPr lang="zh-CN" altLang="en-US"/>
              <a:pPr/>
              <a:t>56</a:t>
            </a:fld>
            <a:endParaRPr lang="en-US" altLang="zh-CN"/>
          </a:p>
        </p:txBody>
      </p:sp>
      <p:sp>
        <p:nvSpPr>
          <p:cNvPr id="169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445500" cy="523875"/>
          </a:xfrm>
        </p:spPr>
        <p:txBody>
          <a:bodyPr/>
          <a:lstStyle/>
          <a:p>
            <a:r>
              <a:rPr lang="zh-CN" altLang="en-US" dirty="0">
                <a:latin typeface="Arial" pitchFamily="34" charset="0"/>
                <a:ea typeface="黑体" pitchFamily="49" charset="-122"/>
              </a:rPr>
              <a:t>二、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IA-32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：</a:t>
            </a:r>
            <a:r>
              <a:rPr lang="en-US" altLang="zh-CN" dirty="0">
                <a:latin typeface="Arial" pitchFamily="34" charset="0"/>
                <a:ea typeface="黑体" pitchFamily="49" charset="-122"/>
              </a:rPr>
              <a:t>Pentium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段页式</a:t>
            </a:r>
            <a:r>
              <a:rPr lang="zh-CN" altLang="en-US" dirty="0">
                <a:latin typeface="Arial" pitchFamily="34" charset="0"/>
                <a:ea typeface="黑体" pitchFamily="49" charset="-122"/>
              </a:rPr>
              <a:t>虚拟存储管理</a:t>
            </a:r>
            <a:endParaRPr lang="en-US" altLang="zh-CN" dirty="0">
              <a:solidFill>
                <a:srgbClr val="FF6600"/>
              </a:solidFill>
            </a:endParaRPr>
          </a:p>
        </p:txBody>
      </p:sp>
      <p:sp>
        <p:nvSpPr>
          <p:cNvPr id="169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713788" cy="5905202"/>
          </a:xfrm>
        </p:spPr>
        <p:txBody>
          <a:bodyPr/>
          <a:lstStyle/>
          <a:p>
            <a:pPr marL="361950" indent="-361950"/>
            <a:r>
              <a:rPr lang="zh-CN" altLang="en-US" dirty="0">
                <a:solidFill>
                  <a:srgbClr val="B2B2B2"/>
                </a:solidFill>
              </a:rPr>
              <a:t>保护模式下的分段管理</a:t>
            </a:r>
          </a:p>
          <a:p>
            <a:pPr marL="361950" indent="-361950"/>
            <a:r>
              <a:rPr lang="zh-CN" altLang="en-US" dirty="0">
                <a:solidFill>
                  <a:srgbClr val="0000FF"/>
                </a:solidFill>
              </a:rPr>
              <a:t>保护模式下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66"/>
                </a:solidFill>
              </a:rPr>
              <a:t>分页</a:t>
            </a:r>
            <a:r>
              <a:rPr lang="zh-CN" altLang="en-US" dirty="0"/>
              <a:t>管理</a:t>
            </a:r>
            <a:endParaRPr lang="en-US" altLang="zh-CN" dirty="0"/>
          </a:p>
          <a:p>
            <a:pPr marL="820738" lvl="1" indent="-361950">
              <a:buNone/>
            </a:pPr>
            <a:endParaRPr lang="en-US" altLang="zh-CN" dirty="0"/>
          </a:p>
          <a:p>
            <a:pPr marL="820738" lvl="1" indent="-361950">
              <a:buNone/>
            </a:pPr>
            <a:r>
              <a:rPr lang="en-US" altLang="zh-CN" dirty="0"/>
              <a:t>TLB</a:t>
            </a:r>
            <a:r>
              <a:rPr lang="zh-CN" altLang="en-US" dirty="0"/>
              <a:t>与页表数据的一致性问题：</a:t>
            </a:r>
            <a:endParaRPr lang="en-US" altLang="zh-CN" dirty="0"/>
          </a:p>
          <a:p>
            <a:pPr marL="820738" lvl="1" indent="-361950">
              <a:buNone/>
            </a:pPr>
            <a:r>
              <a:rPr lang="zh-CN" altLang="en-US" dirty="0"/>
              <a:t>由</a:t>
            </a:r>
            <a:r>
              <a:rPr lang="en-US" altLang="zh-CN" dirty="0"/>
              <a:t>OS</a:t>
            </a:r>
            <a:r>
              <a:rPr lang="zh-CN" altLang="en-US" dirty="0"/>
              <a:t>维护。</a:t>
            </a:r>
            <a:endParaRPr lang="en-US" altLang="zh-CN" dirty="0"/>
          </a:p>
          <a:p>
            <a:pPr marL="458788" lvl="1" indent="0">
              <a:buNone/>
            </a:pPr>
            <a:r>
              <a:rPr lang="en-US" altLang="zh-CN" dirty="0"/>
              <a:t>OS</a:t>
            </a:r>
            <a:r>
              <a:rPr lang="zh-CN" altLang="en-US" dirty="0"/>
              <a:t>修改页表后，刷新</a:t>
            </a:r>
            <a:r>
              <a:rPr lang="en-US" altLang="zh-CN" dirty="0"/>
              <a:t>TLB</a:t>
            </a:r>
          </a:p>
          <a:p>
            <a:pPr marL="820738" lvl="1" indent="-361950"/>
            <a:r>
              <a:rPr lang="en-US" altLang="zh-CN" dirty="0"/>
              <a:t>MOV   EAX, </a:t>
            </a:r>
            <a:r>
              <a:rPr lang="en-US" altLang="zh-CN" dirty="0">
                <a:solidFill>
                  <a:srgbClr val="CC0099"/>
                </a:solidFill>
              </a:rPr>
              <a:t>CR3</a:t>
            </a:r>
            <a:br>
              <a:rPr lang="en-US" altLang="zh-CN" dirty="0"/>
            </a:br>
            <a:r>
              <a:rPr lang="en-US" altLang="zh-CN" dirty="0"/>
              <a:t>MOV   </a:t>
            </a:r>
            <a:r>
              <a:rPr lang="en-US" altLang="zh-CN" dirty="0">
                <a:solidFill>
                  <a:srgbClr val="CC0099"/>
                </a:solidFill>
              </a:rPr>
              <a:t>CR3</a:t>
            </a:r>
            <a:r>
              <a:rPr lang="en-US" altLang="zh-CN" dirty="0"/>
              <a:t>, EAX   ; </a:t>
            </a:r>
            <a:r>
              <a:rPr lang="zh-CN" altLang="en-US" dirty="0"/>
              <a:t>修改</a:t>
            </a:r>
            <a:r>
              <a:rPr lang="en-US" altLang="zh-CN" dirty="0"/>
              <a:t>CR3</a:t>
            </a:r>
            <a:r>
              <a:rPr lang="zh-CN" altLang="en-US" dirty="0"/>
              <a:t>，刷新</a:t>
            </a:r>
            <a:r>
              <a:rPr lang="en-US" altLang="zh-CN" dirty="0"/>
              <a:t>TLB</a:t>
            </a:r>
          </a:p>
          <a:p>
            <a:pPr marL="820738" lvl="1" indent="-361950"/>
            <a:r>
              <a:rPr lang="en-US" altLang="zh-CN" dirty="0"/>
              <a:t>“ </a:t>
            </a:r>
            <a:r>
              <a:rPr lang="en-US" altLang="zh-CN" dirty="0">
                <a:solidFill>
                  <a:srgbClr val="0000FF"/>
                </a:solidFill>
              </a:rPr>
              <a:t>INVLPG</a:t>
            </a:r>
            <a:r>
              <a:rPr lang="en-US" altLang="zh-CN" dirty="0"/>
              <a:t> </a:t>
            </a:r>
            <a:r>
              <a:rPr lang="en-US" altLang="zh-CN" i="1" dirty="0"/>
              <a:t>m </a:t>
            </a:r>
            <a:r>
              <a:rPr lang="en-US" altLang="zh-CN" dirty="0"/>
              <a:t>” </a:t>
            </a:r>
            <a:r>
              <a:rPr lang="zh-CN" altLang="en-US" dirty="0"/>
              <a:t>指令（</a:t>
            </a:r>
            <a:r>
              <a:rPr lang="en-US" altLang="zh-CN" dirty="0"/>
              <a:t>Invalidate TLB Entries</a:t>
            </a:r>
            <a:r>
              <a:rPr lang="zh-CN" altLang="en-US" dirty="0"/>
              <a:t>）</a:t>
            </a:r>
            <a:br>
              <a:rPr lang="en-US" altLang="zh-CN" dirty="0"/>
            </a:br>
            <a:r>
              <a:rPr lang="zh-CN" altLang="en-US" dirty="0"/>
              <a:t>该指令是</a:t>
            </a:r>
            <a:r>
              <a:rPr lang="zh-CN" altLang="en-US" dirty="0">
                <a:solidFill>
                  <a:srgbClr val="FF0000"/>
                </a:solidFill>
              </a:rPr>
              <a:t>特权指令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97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9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697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697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41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pitchFamily="34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pitchFamily="34" charset="0"/>
                <a:ea typeface="黑体" pitchFamily="49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pitchFamily="34" charset="0"/>
                <a:ea typeface="黑体" pitchFamily="49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pitchFamily="34" charset="0"/>
              <a:ea typeface="黑体" pitchFamily="49" charset="-122"/>
            </a:endParaRPr>
          </a:p>
          <a:p>
            <a:pPr>
              <a:spcBef>
                <a:spcPct val="0"/>
              </a:spcBef>
              <a:buClrTx/>
              <a:buFont typeface="Arial" pitchFamily="34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4</a:t>
            </a: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章  存储系统</a:t>
            </a:r>
            <a:endParaRPr lang="zh-CN" altLang="en-US" sz="4000" b="0" dirty="0">
              <a:solidFill>
                <a:srgbClr val="CCFF66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596419" name="Rectangle 3"/>
          <p:cNvSpPr>
            <a:spLocks noChangeArrowheads="1"/>
          </p:cNvSpPr>
          <p:nvPr/>
        </p:nvSpPr>
        <p:spPr bwMode="auto">
          <a:xfrm>
            <a:off x="1979613" y="4435450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anose="02010609060101010101" pitchFamily="49" charset="-122"/>
                <a:cs typeface="+mn-cs"/>
              </a:rPr>
              <a:t>4.4 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anose="02010609060101010101" pitchFamily="49" charset="-122"/>
                <a:cs typeface="+mn-cs"/>
              </a:rPr>
              <a:t>虚拟存储器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7EFCB-3A51-4788-8281-2785FB8CA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5155530"/>
            <a:ext cx="6840859" cy="1297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lvl="0" algn="r"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itchFamily="18" charset="0"/>
                <a:ea typeface="楷体" panose="02010609060101010101" pitchFamily="49" charset="-122"/>
                <a:cs typeface="+mn-cs"/>
              </a:rPr>
              <a:t>4.4.3  </a:t>
            </a:r>
            <a:r>
              <a:rPr lang="zh-CN" altLang="en-US" sz="3600" b="0" u="sng" dirty="0">
                <a:solidFill>
                  <a:srgbClr val="FF0000"/>
                </a:solidFill>
                <a:ea typeface="楷体" panose="02010609060101010101" pitchFamily="49" charset="-122"/>
              </a:rPr>
              <a:t>存储体系</a:t>
            </a:r>
            <a:r>
              <a:rPr lang="zh-CN" altLang="en-US" sz="3600" b="0" dirty="0">
                <a:solidFill>
                  <a:srgbClr val="CC0066"/>
                </a:solidFill>
                <a:ea typeface="楷体" panose="02010609060101010101" pitchFamily="49" charset="-122"/>
              </a:rPr>
              <a:t>实例：</a:t>
            </a:r>
            <a:br>
              <a:rPr lang="en-US" altLang="zh-CN" sz="3600" b="0" dirty="0">
                <a:solidFill>
                  <a:srgbClr val="CC0066"/>
                </a:solidFill>
                <a:ea typeface="楷体" panose="02010609060101010101" pitchFamily="49" charset="-122"/>
              </a:rPr>
            </a:br>
            <a:r>
              <a:rPr lang="en-US" altLang="zh-CN" sz="3200" b="0" dirty="0">
                <a:solidFill>
                  <a:srgbClr val="CC0066"/>
                </a:solidFill>
                <a:ea typeface="楷体" panose="02010609060101010101" pitchFamily="49" charset="-122"/>
              </a:rPr>
              <a:t>AMD Opteron</a:t>
            </a:r>
            <a:r>
              <a:rPr lang="en-US" altLang="zh-CN" sz="3600" b="0" dirty="0">
                <a:solidFill>
                  <a:srgbClr val="CC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600" b="0" dirty="0">
                <a:solidFill>
                  <a:srgbClr val="CC0066"/>
                </a:solidFill>
                <a:ea typeface="楷体" panose="02010609060101010101" pitchFamily="49" charset="-122"/>
              </a:rPr>
              <a:t>皓龙</a:t>
            </a:r>
            <a:r>
              <a:rPr lang="en-US" altLang="zh-CN" sz="3600" b="0" dirty="0">
                <a:solidFill>
                  <a:srgbClr val="CC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3600" b="0" dirty="0">
                <a:solidFill>
                  <a:srgbClr val="CC0066"/>
                </a:solidFill>
                <a:ea typeface="楷体" panose="02010609060101010101" pitchFamily="49" charset="-122"/>
              </a:rPr>
              <a:t>处理器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itchFamily="18" charset="0"/>
              <a:ea typeface="楷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76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96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96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9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75C72A-3B15-421D-A2F6-1C438FEA4661}" type="slidenum">
              <a:rPr lang="zh-CN" altLang="en-US"/>
              <a:pPr/>
              <a:t>58</a:t>
            </a:fld>
            <a:endParaRPr lang="en-US" altLang="zh-CN"/>
          </a:p>
        </p:txBody>
      </p:sp>
      <p:sp>
        <p:nvSpPr>
          <p:cNvPr id="168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存储体系实例：</a:t>
            </a:r>
            <a:r>
              <a:rPr lang="en-US" altLang="zh-CN" dirty="0">
                <a:solidFill>
                  <a:srgbClr val="0000FF"/>
                </a:solidFill>
              </a:rPr>
              <a:t>AMD Opteron</a:t>
            </a:r>
            <a:r>
              <a:rPr lang="zh-CN" altLang="en-US" dirty="0">
                <a:solidFill>
                  <a:srgbClr val="0000FF"/>
                </a:solidFill>
              </a:rPr>
              <a:t>（皓龙）处理器</a:t>
            </a:r>
            <a:r>
              <a:rPr lang="zh-CN" altLang="en-US" dirty="0"/>
              <a:t> </a:t>
            </a:r>
          </a:p>
        </p:txBody>
      </p:sp>
      <p:sp>
        <p:nvSpPr>
          <p:cNvPr id="168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362950" cy="4608513"/>
          </a:xfrm>
        </p:spPr>
        <p:txBody>
          <a:bodyPr/>
          <a:lstStyle/>
          <a:p>
            <a:r>
              <a:rPr lang="zh-CN" altLang="en-US"/>
              <a:t>专为服务器、工作站而设计</a:t>
            </a:r>
          </a:p>
          <a:p>
            <a:r>
              <a:rPr lang="en-US" altLang="zh-CN"/>
              <a:t>AMD64</a:t>
            </a:r>
            <a:r>
              <a:rPr lang="zh-CN" altLang="en-US"/>
              <a:t>结构，可以同时支持</a:t>
            </a:r>
            <a:r>
              <a:rPr lang="en-US" altLang="zh-CN"/>
              <a:t>32</a:t>
            </a:r>
            <a:r>
              <a:rPr lang="zh-CN" altLang="en-US"/>
              <a:t>位或</a:t>
            </a:r>
            <a:r>
              <a:rPr lang="en-US" altLang="zh-CN"/>
              <a:t>64</a:t>
            </a:r>
            <a:r>
              <a:rPr lang="zh-CN" altLang="en-US"/>
              <a:t>位的计算</a:t>
            </a:r>
          </a:p>
          <a:p>
            <a:r>
              <a:rPr lang="zh-CN" altLang="en-US"/>
              <a:t>三个系列：</a:t>
            </a:r>
            <a:r>
              <a:rPr lang="en-US" altLang="zh-CN"/>
              <a:t>100</a:t>
            </a:r>
            <a:r>
              <a:rPr lang="zh-CN" altLang="en-US"/>
              <a:t>系列（单路）、</a:t>
            </a:r>
            <a:r>
              <a:rPr lang="en-US" altLang="zh-CN"/>
              <a:t>200</a:t>
            </a:r>
            <a:r>
              <a:rPr lang="zh-CN" altLang="en-US"/>
              <a:t>系列（单或双路）、</a:t>
            </a:r>
            <a:r>
              <a:rPr lang="en-US" altLang="zh-CN"/>
              <a:t>800</a:t>
            </a:r>
            <a:r>
              <a:rPr lang="zh-CN" altLang="en-US"/>
              <a:t>系列（最高到</a:t>
            </a:r>
            <a:r>
              <a:rPr lang="en-US" altLang="zh-CN"/>
              <a:t>8</a:t>
            </a:r>
            <a:r>
              <a:rPr lang="zh-CN" altLang="en-US"/>
              <a:t>路）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209932-8E99-4C89-819F-A4E7559DC306}" type="slidenum">
              <a:rPr lang="zh-CN" altLang="en-US"/>
              <a:pPr/>
              <a:t>59</a:t>
            </a:fld>
            <a:endParaRPr lang="en-US" altLang="zh-CN"/>
          </a:p>
        </p:txBody>
      </p:sp>
      <p:sp>
        <p:nvSpPr>
          <p:cNvPr id="168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存储体系实例：</a:t>
            </a:r>
            <a:r>
              <a:rPr lang="en-US" altLang="zh-CN">
                <a:solidFill>
                  <a:srgbClr val="0000FF"/>
                </a:solidFill>
              </a:rPr>
              <a:t>AMD Opteron</a:t>
            </a:r>
            <a:r>
              <a:rPr lang="zh-CN" altLang="en-US">
                <a:solidFill>
                  <a:srgbClr val="0000FF"/>
                </a:solidFill>
              </a:rPr>
              <a:t>（皓龙）处理器</a:t>
            </a:r>
            <a:r>
              <a:rPr lang="zh-CN" altLang="en-US"/>
              <a:t> </a:t>
            </a:r>
          </a:p>
        </p:txBody>
      </p:sp>
      <p:sp>
        <p:nvSpPr>
          <p:cNvPr id="168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5256213" cy="792162"/>
          </a:xfrm>
          <a:noFill/>
          <a:ln/>
        </p:spPr>
        <p:txBody>
          <a:bodyPr/>
          <a:lstStyle/>
          <a:p>
            <a:pPr marL="266700" indent="-266700"/>
            <a:r>
              <a:rPr lang="zh-CN" altLang="en-US" sz="2000"/>
              <a:t>通过大幅度降低内存延时，</a:t>
            </a:r>
            <a:br>
              <a:rPr lang="zh-CN" altLang="en-US" sz="2000"/>
            </a:br>
            <a:r>
              <a:rPr lang="zh-CN" altLang="en-US" sz="2000"/>
              <a:t>提高应用性能</a:t>
            </a:r>
          </a:p>
        </p:txBody>
      </p:sp>
      <p:sp>
        <p:nvSpPr>
          <p:cNvPr id="1688580" name="Rectangle 4"/>
          <p:cNvSpPr>
            <a:spLocks noChangeArrowheads="1"/>
          </p:cNvSpPr>
          <p:nvPr/>
        </p:nvSpPr>
        <p:spPr bwMode="auto">
          <a:xfrm>
            <a:off x="4716463" y="1558925"/>
            <a:ext cx="2879725" cy="719138"/>
          </a:xfrm>
          <a:prstGeom prst="rect">
            <a:avLst/>
          </a:prstGeom>
          <a:solidFill>
            <a:srgbClr val="FFFF66"/>
          </a:solidFill>
          <a:ln w="28575" algn="ctr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r>
              <a:rPr lang="zh-CN" altLang="en-US" sz="2000"/>
              <a:t>     内部集成的</a:t>
            </a:r>
            <a:r>
              <a:rPr lang="en-US" altLang="zh-CN" sz="2000"/>
              <a:t>DDR</a:t>
            </a:r>
            <a:br>
              <a:rPr lang="en-US" altLang="zh-CN" sz="2000"/>
            </a:br>
            <a:r>
              <a:rPr lang="en-US" altLang="zh-CN" sz="2000"/>
              <a:t>     </a:t>
            </a:r>
            <a:r>
              <a:rPr lang="zh-CN" altLang="en-US" sz="2000"/>
              <a:t>内存控制器</a:t>
            </a:r>
          </a:p>
        </p:txBody>
      </p:sp>
      <p:sp>
        <p:nvSpPr>
          <p:cNvPr id="1688581" name="Rectangle 5"/>
          <p:cNvSpPr>
            <a:spLocks noChangeArrowheads="1"/>
          </p:cNvSpPr>
          <p:nvPr/>
        </p:nvSpPr>
        <p:spPr bwMode="auto">
          <a:xfrm>
            <a:off x="4716463" y="2422525"/>
            <a:ext cx="1800225" cy="2232025"/>
          </a:xfrm>
          <a:prstGeom prst="rect">
            <a:avLst/>
          </a:prstGeom>
          <a:solidFill>
            <a:srgbClr val="99FF33"/>
          </a:solidFill>
          <a:ln w="28575" algn="ctr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AMD64</a:t>
            </a:r>
            <a:r>
              <a:rPr lang="zh-CN" altLang="en-US" sz="2000"/>
              <a:t>处理器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内核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（</a:t>
            </a:r>
            <a:r>
              <a:rPr lang="en-US" altLang="zh-CN" sz="2000"/>
              <a:t>x86-64</a:t>
            </a:r>
            <a:r>
              <a:rPr lang="zh-CN" altLang="en-US" sz="2000"/>
              <a:t>）</a:t>
            </a:r>
          </a:p>
        </p:txBody>
      </p:sp>
      <p:sp>
        <p:nvSpPr>
          <p:cNvPr id="1688582" name="Rectangle 6"/>
          <p:cNvSpPr>
            <a:spLocks noChangeArrowheads="1"/>
          </p:cNvSpPr>
          <p:nvPr/>
        </p:nvSpPr>
        <p:spPr bwMode="auto">
          <a:xfrm>
            <a:off x="6659563" y="2422525"/>
            <a:ext cx="936625" cy="1079500"/>
          </a:xfrm>
          <a:prstGeom prst="rect">
            <a:avLst/>
          </a:prstGeom>
          <a:solidFill>
            <a:srgbClr val="99FFCC"/>
          </a:solidFill>
          <a:ln w="28575" algn="ctr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L1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指令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缓存</a:t>
            </a:r>
          </a:p>
        </p:txBody>
      </p:sp>
      <p:sp>
        <p:nvSpPr>
          <p:cNvPr id="1688583" name="Rectangle 7"/>
          <p:cNvSpPr>
            <a:spLocks noChangeArrowheads="1"/>
          </p:cNvSpPr>
          <p:nvPr/>
        </p:nvSpPr>
        <p:spPr bwMode="auto">
          <a:xfrm>
            <a:off x="6659563" y="3646488"/>
            <a:ext cx="936625" cy="1008062"/>
          </a:xfrm>
          <a:prstGeom prst="rect">
            <a:avLst/>
          </a:prstGeom>
          <a:solidFill>
            <a:srgbClr val="99FFCC"/>
          </a:solidFill>
          <a:ln w="28575" algn="ctr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L1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数据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缓存</a:t>
            </a:r>
          </a:p>
        </p:txBody>
      </p:sp>
      <p:sp>
        <p:nvSpPr>
          <p:cNvPr id="1688584" name="Rectangle 8"/>
          <p:cNvSpPr>
            <a:spLocks noChangeArrowheads="1"/>
          </p:cNvSpPr>
          <p:nvPr/>
        </p:nvSpPr>
        <p:spPr bwMode="auto">
          <a:xfrm>
            <a:off x="4716463" y="4799013"/>
            <a:ext cx="2879725" cy="719137"/>
          </a:xfrm>
          <a:prstGeom prst="rect">
            <a:avLst/>
          </a:prstGeom>
          <a:solidFill>
            <a:srgbClr val="FFFF66"/>
          </a:solidFill>
          <a:ln w="28575" algn="ctr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r>
              <a:rPr lang="en-US" altLang="zh-CN" sz="2000"/>
              <a:t>HyperTransport</a:t>
            </a:r>
            <a:r>
              <a:rPr lang="en-US" altLang="zh-CN" sz="2000" baseline="30000"/>
              <a:t>TM</a:t>
            </a:r>
            <a:r>
              <a:rPr lang="en-US" altLang="zh-CN" sz="2000"/>
              <a:t> </a:t>
            </a:r>
            <a:r>
              <a:rPr lang="zh-CN" altLang="en-US" sz="2000"/>
              <a:t>技术</a:t>
            </a:r>
          </a:p>
        </p:txBody>
      </p:sp>
      <p:sp>
        <p:nvSpPr>
          <p:cNvPr id="1688585" name="Rectangle 9"/>
          <p:cNvSpPr>
            <a:spLocks noChangeArrowheads="1"/>
          </p:cNvSpPr>
          <p:nvPr/>
        </p:nvSpPr>
        <p:spPr bwMode="auto">
          <a:xfrm>
            <a:off x="7740650" y="1558925"/>
            <a:ext cx="936625" cy="3959225"/>
          </a:xfrm>
          <a:prstGeom prst="rect">
            <a:avLst/>
          </a:prstGeom>
          <a:solidFill>
            <a:srgbClr val="99FFCC"/>
          </a:solidFill>
          <a:ln w="28575" algn="ctr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L2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缓存</a:t>
            </a:r>
          </a:p>
        </p:txBody>
      </p:sp>
      <p:sp>
        <p:nvSpPr>
          <p:cNvPr id="1688586" name="AutoShape 10"/>
          <p:cNvSpPr>
            <a:spLocks noChangeArrowheads="1"/>
          </p:cNvSpPr>
          <p:nvPr/>
        </p:nvSpPr>
        <p:spPr bwMode="auto">
          <a:xfrm>
            <a:off x="5940425" y="909638"/>
            <a:ext cx="433388" cy="647700"/>
          </a:xfrm>
          <a:prstGeom prst="upDownArrow">
            <a:avLst>
              <a:gd name="adj1" fmla="val 50000"/>
              <a:gd name="adj2" fmla="val 29890"/>
            </a:avLst>
          </a:prstGeom>
          <a:solidFill>
            <a:srgbClr val="FFCC00"/>
          </a:solidFill>
          <a:ln w="28575" algn="ctr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8587" name="AutoShape 11"/>
          <p:cNvSpPr>
            <a:spLocks noChangeArrowheads="1"/>
          </p:cNvSpPr>
          <p:nvPr/>
        </p:nvSpPr>
        <p:spPr bwMode="auto">
          <a:xfrm>
            <a:off x="5221288" y="5518150"/>
            <a:ext cx="433387" cy="647700"/>
          </a:xfrm>
          <a:prstGeom prst="upDownArrow">
            <a:avLst>
              <a:gd name="adj1" fmla="val 50000"/>
              <a:gd name="adj2" fmla="val 29890"/>
            </a:avLst>
          </a:prstGeom>
          <a:solidFill>
            <a:srgbClr val="FFCC00"/>
          </a:solidFill>
          <a:ln w="28575" algn="ctr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8588" name="AutoShape 12"/>
          <p:cNvSpPr>
            <a:spLocks noChangeArrowheads="1"/>
          </p:cNvSpPr>
          <p:nvPr/>
        </p:nvSpPr>
        <p:spPr bwMode="auto">
          <a:xfrm>
            <a:off x="6011863" y="5518150"/>
            <a:ext cx="433387" cy="647700"/>
          </a:xfrm>
          <a:prstGeom prst="upDownArrow">
            <a:avLst>
              <a:gd name="adj1" fmla="val 50000"/>
              <a:gd name="adj2" fmla="val 29890"/>
            </a:avLst>
          </a:prstGeom>
          <a:solidFill>
            <a:srgbClr val="FFCC00"/>
          </a:solidFill>
          <a:ln w="28575" algn="ctr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8589" name="AutoShape 13"/>
          <p:cNvSpPr>
            <a:spLocks noChangeArrowheads="1"/>
          </p:cNvSpPr>
          <p:nvPr/>
        </p:nvSpPr>
        <p:spPr bwMode="auto">
          <a:xfrm>
            <a:off x="6804025" y="5518150"/>
            <a:ext cx="433388" cy="647700"/>
          </a:xfrm>
          <a:prstGeom prst="upDownArrow">
            <a:avLst>
              <a:gd name="adj1" fmla="val 50000"/>
              <a:gd name="adj2" fmla="val 29890"/>
            </a:avLst>
          </a:prstGeom>
          <a:solidFill>
            <a:srgbClr val="FFCC00"/>
          </a:solidFill>
          <a:ln w="28575" algn="ctr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8590" name="Line 14"/>
          <p:cNvSpPr>
            <a:spLocks noChangeShapeType="1"/>
          </p:cNvSpPr>
          <p:nvPr/>
        </p:nvSpPr>
        <p:spPr bwMode="auto">
          <a:xfrm flipH="1">
            <a:off x="323850" y="2133600"/>
            <a:ext cx="43926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8591" name="Line 15"/>
          <p:cNvSpPr>
            <a:spLocks noChangeShapeType="1"/>
          </p:cNvSpPr>
          <p:nvPr/>
        </p:nvSpPr>
        <p:spPr bwMode="auto">
          <a:xfrm flipH="1">
            <a:off x="323850" y="3717925"/>
            <a:ext cx="43926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8592" name="Line 16"/>
          <p:cNvSpPr>
            <a:spLocks noChangeShapeType="1"/>
          </p:cNvSpPr>
          <p:nvPr/>
        </p:nvSpPr>
        <p:spPr bwMode="auto">
          <a:xfrm flipH="1">
            <a:off x="323850" y="5373688"/>
            <a:ext cx="43926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8593" name="Rectangle 17"/>
          <p:cNvSpPr>
            <a:spLocks noChangeArrowheads="1"/>
          </p:cNvSpPr>
          <p:nvPr/>
        </p:nvSpPr>
        <p:spPr bwMode="auto">
          <a:xfrm>
            <a:off x="323850" y="2852738"/>
            <a:ext cx="5256213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66700" indent="-2667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sz="2000"/>
              <a:t>实现同时进行</a:t>
            </a:r>
            <a:r>
              <a:rPr lang="en-US" altLang="zh-CN" sz="2000"/>
              <a:t>32</a:t>
            </a:r>
            <a:r>
              <a:rPr lang="zh-CN" altLang="en-US" sz="2000"/>
              <a:t>位和</a:t>
            </a:r>
            <a:r>
              <a:rPr lang="en-US" altLang="zh-CN" sz="2000"/>
              <a:t>64</a:t>
            </a:r>
            <a:r>
              <a:rPr lang="zh-CN" altLang="en-US" sz="2000"/>
              <a:t>位计算</a:t>
            </a:r>
          </a:p>
          <a:p>
            <a:pPr marL="266700" indent="-2667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sz="2000"/>
              <a:t>消除现有</a:t>
            </a:r>
            <a:r>
              <a:rPr lang="en-US" altLang="zh-CN" sz="2000"/>
              <a:t>32</a:t>
            </a:r>
            <a:r>
              <a:rPr lang="zh-CN" altLang="en-US" sz="2000"/>
              <a:t>位系统的</a:t>
            </a:r>
            <a:r>
              <a:rPr lang="en-US" altLang="zh-CN" sz="2000"/>
              <a:t>4GB</a:t>
            </a:r>
            <a:r>
              <a:rPr lang="zh-CN" altLang="en-US" sz="2000"/>
              <a:t>内存限制</a:t>
            </a:r>
          </a:p>
        </p:txBody>
      </p:sp>
      <p:sp>
        <p:nvSpPr>
          <p:cNvPr id="1688594" name="Rectangle 18"/>
          <p:cNvSpPr>
            <a:spLocks noChangeArrowheads="1"/>
          </p:cNvSpPr>
          <p:nvPr/>
        </p:nvSpPr>
        <p:spPr bwMode="auto">
          <a:xfrm>
            <a:off x="323850" y="3933825"/>
            <a:ext cx="5256213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66700" indent="-2667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sz="2000"/>
              <a:t>提供每个处理器高达</a:t>
            </a:r>
            <a:r>
              <a:rPr lang="en-US" altLang="zh-CN" sz="2000"/>
              <a:t>19.2GB</a:t>
            </a:r>
            <a:r>
              <a:rPr lang="zh-CN" altLang="en-US" sz="2000"/>
              <a:t>的带宽</a:t>
            </a:r>
            <a:br>
              <a:rPr lang="zh-CN" altLang="en-US" sz="2000"/>
            </a:br>
            <a:r>
              <a:rPr lang="en-US" altLang="zh-CN" sz="2000"/>
              <a:t>—— </a:t>
            </a:r>
            <a:r>
              <a:rPr lang="zh-CN" altLang="en-US" sz="2000"/>
              <a:t>减少</a:t>
            </a:r>
            <a:r>
              <a:rPr lang="en-US" altLang="zh-CN" sz="2000"/>
              <a:t>I/O</a:t>
            </a:r>
            <a:r>
              <a:rPr lang="zh-CN" altLang="en-US" sz="2000"/>
              <a:t>瓶颈</a:t>
            </a:r>
          </a:p>
          <a:p>
            <a:pPr marL="266700" indent="-2667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sz="2000"/>
              <a:t>提供</a:t>
            </a:r>
            <a:r>
              <a:rPr lang="en-US" altLang="zh-CN" sz="2000"/>
              <a:t>HyperTransport</a:t>
            </a:r>
            <a:r>
              <a:rPr lang="en-US" altLang="zh-CN" sz="2000" baseline="30000"/>
              <a:t>TM</a:t>
            </a:r>
            <a:r>
              <a:rPr lang="zh-CN" altLang="en-US" sz="2000"/>
              <a:t>可扩展性，</a:t>
            </a:r>
            <a:br>
              <a:rPr lang="zh-CN" altLang="en-US" sz="2000"/>
            </a:br>
            <a:r>
              <a:rPr lang="zh-CN" altLang="en-US" sz="2000"/>
              <a:t>实现无缝的多处理器计算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04EB60-63F9-462B-B362-D741C39BA21A}" type="slidenum">
              <a:rPr lang="zh-CN" altLang="en-US"/>
              <a:pPr/>
              <a:t>60</a:t>
            </a:fld>
            <a:endParaRPr lang="en-US" altLang="zh-CN"/>
          </a:p>
        </p:txBody>
      </p:sp>
      <p:pic>
        <p:nvPicPr>
          <p:cNvPr id="1689602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115888"/>
            <a:ext cx="7596187" cy="658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1F9D9E-233C-4D7B-973A-A6BB0B4AF667}" type="slidenum">
              <a:rPr lang="zh-CN" altLang="en-US"/>
              <a:pPr/>
              <a:t>61</a:t>
            </a:fld>
            <a:endParaRPr lang="en-US" altLang="zh-CN"/>
          </a:p>
        </p:txBody>
      </p:sp>
      <p:pic>
        <p:nvPicPr>
          <p:cNvPr id="16906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87313"/>
            <a:ext cx="7632700" cy="665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5A4AFC-DE9E-44C4-B650-3F2A43333533}" type="slidenum">
              <a:rPr lang="zh-CN" altLang="en-US"/>
              <a:pPr/>
              <a:t>62</a:t>
            </a:fld>
            <a:endParaRPr lang="en-US" altLang="zh-CN"/>
          </a:p>
        </p:txBody>
      </p:sp>
      <p:pic>
        <p:nvPicPr>
          <p:cNvPr id="1698820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7950" y="650875"/>
            <a:ext cx="8893175" cy="5226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</p:pic>
      <p:sp>
        <p:nvSpPr>
          <p:cNvPr id="1698821" name="Text Box 5"/>
          <p:cNvSpPr txBox="1">
            <a:spLocks noChangeArrowheads="1"/>
          </p:cNvSpPr>
          <p:nvPr/>
        </p:nvSpPr>
        <p:spPr bwMode="auto">
          <a:xfrm>
            <a:off x="1979613" y="541338"/>
            <a:ext cx="792162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FF6600"/>
                </a:solidFill>
              </a:rPr>
              <a:t>16bit</a:t>
            </a:r>
          </a:p>
        </p:txBody>
      </p:sp>
      <p:sp>
        <p:nvSpPr>
          <p:cNvPr id="1698822" name="Text Box 6"/>
          <p:cNvSpPr txBox="1">
            <a:spLocks noChangeArrowheads="1"/>
          </p:cNvSpPr>
          <p:nvPr/>
        </p:nvSpPr>
        <p:spPr bwMode="auto">
          <a:xfrm>
            <a:off x="3059113" y="549275"/>
            <a:ext cx="792162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FF6600"/>
                </a:solidFill>
              </a:rPr>
              <a:t>9bit</a:t>
            </a:r>
          </a:p>
        </p:txBody>
      </p:sp>
      <p:sp>
        <p:nvSpPr>
          <p:cNvPr id="1698823" name="Text Box 7"/>
          <p:cNvSpPr txBox="1">
            <a:spLocks noChangeArrowheads="1"/>
          </p:cNvSpPr>
          <p:nvPr/>
        </p:nvSpPr>
        <p:spPr bwMode="auto">
          <a:xfrm>
            <a:off x="4140200" y="549275"/>
            <a:ext cx="792163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FF6600"/>
                </a:solidFill>
              </a:rPr>
              <a:t>9bit</a:t>
            </a:r>
          </a:p>
        </p:txBody>
      </p:sp>
      <p:sp>
        <p:nvSpPr>
          <p:cNvPr id="1698824" name="Text Box 8"/>
          <p:cNvSpPr txBox="1">
            <a:spLocks noChangeArrowheads="1"/>
          </p:cNvSpPr>
          <p:nvPr/>
        </p:nvSpPr>
        <p:spPr bwMode="auto">
          <a:xfrm>
            <a:off x="5219700" y="541338"/>
            <a:ext cx="792163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FF6600"/>
                </a:solidFill>
              </a:rPr>
              <a:t>9bit</a:t>
            </a:r>
          </a:p>
        </p:txBody>
      </p:sp>
      <p:sp>
        <p:nvSpPr>
          <p:cNvPr id="1698825" name="Text Box 9"/>
          <p:cNvSpPr txBox="1">
            <a:spLocks noChangeArrowheads="1"/>
          </p:cNvSpPr>
          <p:nvPr/>
        </p:nvSpPr>
        <p:spPr bwMode="auto">
          <a:xfrm>
            <a:off x="6227763" y="549275"/>
            <a:ext cx="792162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FF6600"/>
                </a:solidFill>
              </a:rPr>
              <a:t>9bit</a:t>
            </a:r>
          </a:p>
        </p:txBody>
      </p:sp>
      <p:sp>
        <p:nvSpPr>
          <p:cNvPr id="1698826" name="Text Box 10"/>
          <p:cNvSpPr txBox="1">
            <a:spLocks noChangeArrowheads="1"/>
          </p:cNvSpPr>
          <p:nvPr/>
        </p:nvSpPr>
        <p:spPr bwMode="auto">
          <a:xfrm>
            <a:off x="7308850" y="549275"/>
            <a:ext cx="792163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FF6600"/>
                </a:solidFill>
              </a:rPr>
              <a:t>12bit</a:t>
            </a:r>
          </a:p>
        </p:txBody>
      </p:sp>
      <p:sp>
        <p:nvSpPr>
          <p:cNvPr id="1698827" name="Text Box 11"/>
          <p:cNvSpPr txBox="1">
            <a:spLocks noChangeArrowheads="1"/>
          </p:cNvSpPr>
          <p:nvPr/>
        </p:nvSpPr>
        <p:spPr bwMode="auto">
          <a:xfrm>
            <a:off x="1331913" y="3638550"/>
            <a:ext cx="1871662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66"/>
                </a:solidFill>
              </a:rPr>
              <a:t>页面映射</a:t>
            </a:r>
            <a:r>
              <a:rPr lang="en-US" altLang="zh-CN" sz="1800">
                <a:solidFill>
                  <a:srgbClr val="FF0066"/>
                </a:solidFill>
              </a:rPr>
              <a:t>L4</a:t>
            </a:r>
            <a:r>
              <a:rPr lang="zh-CN" altLang="en-US" sz="1800">
                <a:solidFill>
                  <a:srgbClr val="FF0066"/>
                </a:solidFill>
              </a:rPr>
              <a:t>表</a:t>
            </a:r>
          </a:p>
        </p:txBody>
      </p:sp>
      <p:sp>
        <p:nvSpPr>
          <p:cNvPr id="1698828" name="Text Box 12"/>
          <p:cNvSpPr txBox="1">
            <a:spLocks noChangeArrowheads="1"/>
          </p:cNvSpPr>
          <p:nvPr/>
        </p:nvSpPr>
        <p:spPr bwMode="auto">
          <a:xfrm>
            <a:off x="2914650" y="3925888"/>
            <a:ext cx="2089150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66"/>
                </a:solidFill>
              </a:rPr>
              <a:t>页面目录指针表</a:t>
            </a:r>
          </a:p>
        </p:txBody>
      </p:sp>
      <p:sp>
        <p:nvSpPr>
          <p:cNvPr id="1698829" name="Text Box 13"/>
          <p:cNvSpPr txBox="1">
            <a:spLocks noChangeArrowheads="1"/>
          </p:cNvSpPr>
          <p:nvPr/>
        </p:nvSpPr>
        <p:spPr bwMode="auto">
          <a:xfrm>
            <a:off x="5003800" y="4221163"/>
            <a:ext cx="1512888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66"/>
                </a:solidFill>
              </a:rPr>
              <a:t>页面目录表</a:t>
            </a:r>
          </a:p>
        </p:txBody>
      </p:sp>
      <p:sp>
        <p:nvSpPr>
          <p:cNvPr id="1698830" name="Text Box 14"/>
          <p:cNvSpPr txBox="1">
            <a:spLocks noChangeArrowheads="1"/>
          </p:cNvSpPr>
          <p:nvPr/>
        </p:nvSpPr>
        <p:spPr bwMode="auto">
          <a:xfrm>
            <a:off x="6732588" y="4149725"/>
            <a:ext cx="863600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66"/>
                </a:solidFill>
              </a:rPr>
              <a:t>页表</a:t>
            </a:r>
          </a:p>
        </p:txBody>
      </p:sp>
      <p:sp>
        <p:nvSpPr>
          <p:cNvPr id="1698831" name="Text Box 15"/>
          <p:cNvSpPr txBox="1">
            <a:spLocks noChangeArrowheads="1"/>
          </p:cNvSpPr>
          <p:nvPr/>
        </p:nvSpPr>
        <p:spPr bwMode="auto">
          <a:xfrm>
            <a:off x="6732588" y="5222875"/>
            <a:ext cx="1512887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0000FF"/>
                </a:solidFill>
              </a:rPr>
              <a:t>物理地址</a:t>
            </a:r>
          </a:p>
        </p:txBody>
      </p:sp>
      <p:sp>
        <p:nvSpPr>
          <p:cNvPr id="1698832" name="Text Box 16"/>
          <p:cNvSpPr txBox="1">
            <a:spLocks noChangeArrowheads="1"/>
          </p:cNvSpPr>
          <p:nvPr/>
        </p:nvSpPr>
        <p:spPr bwMode="auto">
          <a:xfrm>
            <a:off x="538163" y="901700"/>
            <a:ext cx="1512887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0000FF"/>
                </a:solidFill>
              </a:rPr>
              <a:t>虚拟地址</a:t>
            </a:r>
          </a:p>
        </p:txBody>
      </p:sp>
      <p:sp>
        <p:nvSpPr>
          <p:cNvPr id="169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221163"/>
            <a:ext cx="6346825" cy="2447925"/>
          </a:xfrm>
        </p:spPr>
        <p:txBody>
          <a:bodyPr/>
          <a:lstStyle/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>
                <a:solidFill>
                  <a:schemeClr val="bg2"/>
                </a:solidFill>
                <a:latin typeface="Arial" pitchFamily="34" charset="0"/>
                <a:ea typeface="黑体" pitchFamily="49" charset="-122"/>
              </a:rPr>
              <a:t>Operon</a:t>
            </a:r>
            <a:r>
              <a:rPr lang="zh-CN" altLang="en-US">
                <a:solidFill>
                  <a:schemeClr val="bg2"/>
                </a:solidFill>
                <a:latin typeface="Arial" pitchFamily="34" charset="0"/>
                <a:ea typeface="黑体" pitchFamily="49" charset="-122"/>
              </a:rPr>
              <a:t>虚拟地址映射：</a:t>
            </a:r>
          </a:p>
          <a:p>
            <a:pPr>
              <a:spcBef>
                <a:spcPct val="10000"/>
              </a:spcBef>
            </a:pPr>
            <a:r>
              <a:rPr lang="en-US" altLang="zh-CN"/>
              <a:t>4</a:t>
            </a:r>
            <a:r>
              <a:rPr lang="zh-CN" altLang="en-US"/>
              <a:t>级页表</a:t>
            </a:r>
          </a:p>
          <a:p>
            <a:pPr>
              <a:spcBef>
                <a:spcPct val="10000"/>
              </a:spcBef>
            </a:pPr>
            <a:r>
              <a:rPr lang="en-US" altLang="zh-CN"/>
              <a:t>48</a:t>
            </a:r>
            <a:r>
              <a:rPr lang="zh-CN" altLang="en-US"/>
              <a:t>位虚拟地址，</a:t>
            </a:r>
            <a:r>
              <a:rPr lang="en-US" altLang="zh-CN"/>
              <a:t>40</a:t>
            </a:r>
            <a:r>
              <a:rPr lang="zh-CN" altLang="en-US"/>
              <a:t>位物理地址</a:t>
            </a:r>
          </a:p>
          <a:p>
            <a:pPr>
              <a:spcBef>
                <a:spcPct val="10000"/>
              </a:spcBef>
            </a:pPr>
            <a:r>
              <a:rPr lang="zh-CN" altLang="en-US"/>
              <a:t>每个页表有</a:t>
            </a:r>
            <a:r>
              <a:rPr lang="en-US" altLang="zh-CN"/>
              <a:t>512</a:t>
            </a:r>
            <a:r>
              <a:rPr lang="zh-CN" altLang="en-US"/>
              <a:t>个项</a:t>
            </a:r>
          </a:p>
          <a:p>
            <a:pPr>
              <a:spcBef>
                <a:spcPct val="10000"/>
              </a:spcBef>
            </a:pPr>
            <a:r>
              <a:rPr lang="zh-CN" altLang="en-US">
                <a:solidFill>
                  <a:schemeClr val="hlink"/>
                </a:solidFill>
              </a:rPr>
              <a:t>支持</a:t>
            </a:r>
            <a:r>
              <a:rPr lang="en-US" altLang="zh-CN">
                <a:solidFill>
                  <a:schemeClr val="hlink"/>
                </a:solidFill>
              </a:rPr>
              <a:t>64</a:t>
            </a:r>
            <a:r>
              <a:rPr lang="zh-CN" altLang="en-US">
                <a:solidFill>
                  <a:schemeClr val="hlink"/>
                </a:solidFill>
              </a:rPr>
              <a:t>位虚拟地址、</a:t>
            </a:r>
            <a:r>
              <a:rPr lang="en-US" altLang="zh-CN">
                <a:solidFill>
                  <a:schemeClr val="hlink"/>
                </a:solidFill>
              </a:rPr>
              <a:t>52</a:t>
            </a:r>
            <a:r>
              <a:rPr lang="zh-CN" altLang="en-US">
                <a:solidFill>
                  <a:schemeClr val="hlink"/>
                </a:solidFill>
              </a:rPr>
              <a:t>位物理地址</a:t>
            </a:r>
          </a:p>
        </p:txBody>
      </p:sp>
      <p:sp>
        <p:nvSpPr>
          <p:cNvPr id="1698834" name="Rectangle 18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存储体系实例：</a:t>
            </a:r>
            <a:r>
              <a:rPr lang="en-US" altLang="zh-CN">
                <a:solidFill>
                  <a:srgbClr val="0000FF"/>
                </a:solidFill>
              </a:rPr>
              <a:t>AMD Opteron</a:t>
            </a:r>
            <a:r>
              <a:rPr lang="zh-CN" altLang="en-US">
                <a:solidFill>
                  <a:srgbClr val="0000FF"/>
                </a:solidFill>
              </a:rPr>
              <a:t>（皓龙）处理器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165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07950" y="400050"/>
          <a:ext cx="8964613" cy="619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728" name="Image" r:id="rId4" imgW="17466667" imgH="12076190" progId="">
                  <p:embed/>
                </p:oleObj>
              </mc:Choice>
              <mc:Fallback>
                <p:oleObj name="Image" r:id="rId4" imgW="17466667" imgH="1207619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00050"/>
                        <a:ext cx="8964613" cy="619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1651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5084763"/>
            <a:ext cx="3455988" cy="1223962"/>
          </a:xfrm>
        </p:spPr>
        <p:txBody>
          <a:bodyPr anchor="t"/>
          <a:lstStyle/>
          <a:p>
            <a:r>
              <a:rPr lang="en-US" altLang="zh-CN" sz="1800"/>
              <a:t>The virtual address, physical address, indexes, tags, and data blocks for the AMD Opteron caches and TLBs.</a:t>
            </a:r>
            <a:endParaRPr lang="zh-CN" altLang="en-US" sz="1800"/>
          </a:p>
        </p:txBody>
      </p:sp>
      <p:sp>
        <p:nvSpPr>
          <p:cNvPr id="1691652" name="Text Box 4"/>
          <p:cNvSpPr txBox="1">
            <a:spLocks noChangeArrowheads="1"/>
          </p:cNvSpPr>
          <p:nvPr/>
        </p:nvSpPr>
        <p:spPr bwMode="auto">
          <a:xfrm>
            <a:off x="1620838" y="1663700"/>
            <a:ext cx="17272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8000"/>
                </a:solidFill>
              </a:rPr>
              <a:t>全相联</a:t>
            </a:r>
            <a:r>
              <a:rPr lang="en-US" altLang="zh-CN" sz="2000">
                <a:solidFill>
                  <a:srgbClr val="008000"/>
                </a:solidFill>
              </a:rPr>
              <a:t>, 40</a:t>
            </a:r>
            <a:r>
              <a:rPr lang="zh-CN" altLang="en-US" sz="2000">
                <a:solidFill>
                  <a:srgbClr val="008000"/>
                </a:solidFill>
              </a:rPr>
              <a:t>行</a:t>
            </a:r>
          </a:p>
        </p:txBody>
      </p:sp>
      <p:sp>
        <p:nvSpPr>
          <p:cNvPr id="1691653" name="Text Box 5"/>
          <p:cNvSpPr txBox="1">
            <a:spLocks noChangeArrowheads="1"/>
          </p:cNvSpPr>
          <p:nvPr/>
        </p:nvSpPr>
        <p:spPr bwMode="auto">
          <a:xfrm>
            <a:off x="1116013" y="3590925"/>
            <a:ext cx="1584325" cy="10064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8000"/>
                </a:solidFill>
              </a:rPr>
              <a:t>4</a:t>
            </a:r>
            <a:r>
              <a:rPr lang="zh-CN" altLang="en-US" sz="2000">
                <a:solidFill>
                  <a:srgbClr val="008000"/>
                </a:solidFill>
              </a:rPr>
              <a:t>路组相联</a:t>
            </a:r>
            <a:r>
              <a:rPr lang="en-US" altLang="zh-CN" sz="2000">
                <a:solidFill>
                  <a:srgbClr val="008000"/>
                </a:solidFill>
              </a:rPr>
              <a:t>, 128</a:t>
            </a:r>
            <a:r>
              <a:rPr lang="zh-CN" altLang="en-US" sz="2000">
                <a:solidFill>
                  <a:srgbClr val="008000"/>
                </a:solidFill>
              </a:rPr>
              <a:t>组，</a:t>
            </a:r>
            <a:br>
              <a:rPr lang="zh-CN" altLang="en-US" sz="2000">
                <a:solidFill>
                  <a:srgbClr val="008000"/>
                </a:solidFill>
              </a:rPr>
            </a:br>
            <a:r>
              <a:rPr lang="zh-CN" altLang="en-US" sz="2000">
                <a:solidFill>
                  <a:srgbClr val="008000"/>
                </a:solidFill>
              </a:rPr>
              <a:t>共</a:t>
            </a:r>
            <a:r>
              <a:rPr lang="en-US" altLang="zh-CN" sz="2000">
                <a:solidFill>
                  <a:srgbClr val="008000"/>
                </a:solidFill>
              </a:rPr>
              <a:t>512</a:t>
            </a:r>
            <a:r>
              <a:rPr lang="zh-CN" altLang="en-US" sz="2000">
                <a:solidFill>
                  <a:srgbClr val="008000"/>
                </a:solidFill>
              </a:rPr>
              <a:t>行</a:t>
            </a:r>
          </a:p>
        </p:txBody>
      </p:sp>
      <p:sp>
        <p:nvSpPr>
          <p:cNvPr id="1691654" name="Text Box 6"/>
          <p:cNvSpPr txBox="1">
            <a:spLocks noChangeArrowheads="1"/>
          </p:cNvSpPr>
          <p:nvPr/>
        </p:nvSpPr>
        <p:spPr bwMode="auto">
          <a:xfrm>
            <a:off x="6300788" y="2781300"/>
            <a:ext cx="1584325" cy="10064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8000"/>
                </a:solidFill>
              </a:rPr>
              <a:t>2</a:t>
            </a:r>
            <a:r>
              <a:rPr lang="zh-CN" altLang="en-US" sz="2000">
                <a:solidFill>
                  <a:srgbClr val="008000"/>
                </a:solidFill>
              </a:rPr>
              <a:t>路组相联</a:t>
            </a:r>
            <a:r>
              <a:rPr lang="en-US" altLang="zh-CN" sz="2000">
                <a:solidFill>
                  <a:srgbClr val="008000"/>
                </a:solidFill>
              </a:rPr>
              <a:t>, </a:t>
            </a:r>
            <a:br>
              <a:rPr lang="en-US" altLang="zh-CN" sz="2000">
                <a:solidFill>
                  <a:srgbClr val="008000"/>
                </a:solidFill>
              </a:rPr>
            </a:br>
            <a:r>
              <a:rPr lang="en-US" altLang="zh-CN" sz="2000">
                <a:solidFill>
                  <a:srgbClr val="008000"/>
                </a:solidFill>
              </a:rPr>
              <a:t>512</a:t>
            </a:r>
            <a:r>
              <a:rPr lang="zh-CN" altLang="en-US" sz="2000">
                <a:solidFill>
                  <a:srgbClr val="008000"/>
                </a:solidFill>
              </a:rPr>
              <a:t>组</a:t>
            </a:r>
            <a:r>
              <a:rPr lang="en-US" altLang="zh-CN" sz="2000">
                <a:solidFill>
                  <a:srgbClr val="008000"/>
                </a:solidFill>
              </a:rPr>
              <a:t>; </a:t>
            </a:r>
            <a:br>
              <a:rPr lang="en-US" altLang="zh-CN" sz="2000">
                <a:solidFill>
                  <a:srgbClr val="008000"/>
                </a:solidFill>
              </a:rPr>
            </a:br>
            <a:r>
              <a:rPr lang="zh-CN" altLang="en-US" sz="2000">
                <a:solidFill>
                  <a:srgbClr val="008000"/>
                </a:solidFill>
              </a:rPr>
              <a:t>每块</a:t>
            </a:r>
            <a:r>
              <a:rPr lang="en-US" altLang="zh-CN" sz="2000">
                <a:solidFill>
                  <a:srgbClr val="008000"/>
                </a:solidFill>
              </a:rPr>
              <a:t>64B</a:t>
            </a:r>
          </a:p>
        </p:txBody>
      </p:sp>
      <p:sp>
        <p:nvSpPr>
          <p:cNvPr id="1691655" name="Text Box 7"/>
          <p:cNvSpPr txBox="1">
            <a:spLocks noChangeArrowheads="1"/>
          </p:cNvSpPr>
          <p:nvPr/>
        </p:nvSpPr>
        <p:spPr bwMode="auto">
          <a:xfrm>
            <a:off x="3995738" y="5084763"/>
            <a:ext cx="1584325" cy="10064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8000"/>
                </a:solidFill>
              </a:rPr>
              <a:t>16</a:t>
            </a:r>
            <a:r>
              <a:rPr lang="zh-CN" altLang="en-US" sz="2000">
                <a:solidFill>
                  <a:srgbClr val="008000"/>
                </a:solidFill>
              </a:rPr>
              <a:t>路组相联</a:t>
            </a:r>
            <a:r>
              <a:rPr lang="en-US" altLang="zh-CN" sz="2000">
                <a:solidFill>
                  <a:srgbClr val="008000"/>
                </a:solidFill>
              </a:rPr>
              <a:t>, </a:t>
            </a:r>
            <a:br>
              <a:rPr lang="en-US" altLang="zh-CN" sz="2000">
                <a:solidFill>
                  <a:srgbClr val="008000"/>
                </a:solidFill>
              </a:rPr>
            </a:br>
            <a:r>
              <a:rPr lang="en-US" altLang="zh-CN" sz="2000">
                <a:solidFill>
                  <a:srgbClr val="008000"/>
                </a:solidFill>
              </a:rPr>
              <a:t>1024</a:t>
            </a:r>
            <a:r>
              <a:rPr lang="zh-CN" altLang="en-US" sz="2000">
                <a:solidFill>
                  <a:srgbClr val="008000"/>
                </a:solidFill>
              </a:rPr>
              <a:t>组</a:t>
            </a:r>
            <a:r>
              <a:rPr lang="en-US" altLang="zh-CN" sz="2000">
                <a:solidFill>
                  <a:srgbClr val="008000"/>
                </a:solidFill>
              </a:rPr>
              <a:t>; </a:t>
            </a:r>
            <a:br>
              <a:rPr lang="en-US" altLang="zh-CN" sz="2000">
                <a:solidFill>
                  <a:srgbClr val="008000"/>
                </a:solidFill>
              </a:rPr>
            </a:br>
            <a:r>
              <a:rPr lang="zh-CN" altLang="en-US" sz="2000">
                <a:solidFill>
                  <a:srgbClr val="008000"/>
                </a:solidFill>
              </a:rPr>
              <a:t>每块</a:t>
            </a:r>
            <a:r>
              <a:rPr lang="en-US" altLang="zh-CN" sz="2000">
                <a:solidFill>
                  <a:srgbClr val="008000"/>
                </a:solidFill>
              </a:rPr>
              <a:t>64B</a:t>
            </a:r>
          </a:p>
        </p:txBody>
      </p:sp>
      <p:pic>
        <p:nvPicPr>
          <p:cNvPr id="1691656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69213" y="188913"/>
            <a:ext cx="893762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91657" name="Rectangle 9"/>
          <p:cNvSpPr>
            <a:spLocks noChangeArrowheads="1"/>
          </p:cNvSpPr>
          <p:nvPr/>
        </p:nvSpPr>
        <p:spPr bwMode="auto">
          <a:xfrm>
            <a:off x="7524750" y="1196975"/>
            <a:ext cx="115252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ea typeface="黑体" pitchFamily="49" charset="-122"/>
              </a:rPr>
              <a:t>   </a:t>
            </a:r>
            <a:r>
              <a:rPr lang="en-US" altLang="en-US" sz="1800">
                <a:solidFill>
                  <a:srgbClr val="0000FF"/>
                </a:solidFill>
                <a:ea typeface="黑体" pitchFamily="49" charset="-122"/>
              </a:rPr>
              <a:t>皓</a:t>
            </a:r>
            <a:r>
              <a:rPr lang="en-US" altLang="zh-CN" sz="1800">
                <a:solidFill>
                  <a:srgbClr val="0000FF"/>
                </a:solidFill>
                <a:ea typeface="黑体" pitchFamily="49" charset="-122"/>
              </a:rPr>
              <a:t> </a:t>
            </a:r>
            <a:r>
              <a:rPr lang="en-US" altLang="en-US" sz="1800">
                <a:solidFill>
                  <a:srgbClr val="0000FF"/>
                </a:solidFill>
                <a:ea typeface="黑体" pitchFamily="49" charset="-122"/>
              </a:rPr>
              <a:t>龙</a:t>
            </a:r>
            <a:r>
              <a:rPr lang="en-US" altLang="zh-CN" sz="1600" baseline="50000">
                <a:solidFill>
                  <a:srgbClr val="0000FF"/>
                </a:solidFill>
                <a:ea typeface="黑体" pitchFamily="49" charset="-122"/>
              </a:rPr>
              <a:t>TM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en-US" sz="1800">
                <a:solidFill>
                  <a:srgbClr val="0000FF"/>
                </a:solidFill>
                <a:ea typeface="黑体" pitchFamily="49" charset="-122"/>
              </a:rPr>
              <a:t>处</a:t>
            </a:r>
            <a:r>
              <a:rPr lang="en-US" altLang="zh-CN" sz="1800">
                <a:solidFill>
                  <a:srgbClr val="0000FF"/>
                </a:solidFill>
                <a:ea typeface="黑体" pitchFamily="49" charset="-122"/>
              </a:rPr>
              <a:t> </a:t>
            </a:r>
            <a:r>
              <a:rPr lang="en-US" altLang="en-US" sz="1800">
                <a:solidFill>
                  <a:srgbClr val="0000FF"/>
                </a:solidFill>
                <a:ea typeface="黑体" pitchFamily="49" charset="-122"/>
              </a:rPr>
              <a:t>理</a:t>
            </a:r>
            <a:r>
              <a:rPr lang="en-US" altLang="zh-CN" sz="1800">
                <a:solidFill>
                  <a:srgbClr val="0000FF"/>
                </a:solidFill>
                <a:ea typeface="黑体" pitchFamily="49" charset="-122"/>
              </a:rPr>
              <a:t> </a:t>
            </a:r>
            <a:r>
              <a:rPr lang="en-US" altLang="en-US" sz="1800">
                <a:solidFill>
                  <a:srgbClr val="0000FF"/>
                </a:solidFill>
                <a:ea typeface="黑体" pitchFamily="49" charset="-122"/>
              </a:rPr>
              <a:t>器</a:t>
            </a:r>
            <a:endParaRPr lang="zh-CN" altLang="en-US" sz="180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691658" name="Text Box 10"/>
          <p:cNvSpPr txBox="1">
            <a:spLocks noChangeArrowheads="1"/>
          </p:cNvSpPr>
          <p:nvPr/>
        </p:nvSpPr>
        <p:spPr bwMode="auto">
          <a:xfrm>
            <a:off x="6300788" y="811213"/>
            <a:ext cx="12239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CC0000"/>
                </a:solidFill>
                <a:ea typeface="黑体" pitchFamily="49" charset="-122"/>
              </a:rPr>
              <a:t>虚地址</a:t>
            </a:r>
          </a:p>
        </p:txBody>
      </p:sp>
      <p:sp>
        <p:nvSpPr>
          <p:cNvPr id="1691659" name="Text Box 11"/>
          <p:cNvSpPr txBox="1">
            <a:spLocks noChangeArrowheads="1"/>
          </p:cNvSpPr>
          <p:nvPr/>
        </p:nvSpPr>
        <p:spPr bwMode="auto">
          <a:xfrm>
            <a:off x="7092950" y="3835400"/>
            <a:ext cx="12239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CC0000"/>
                </a:solidFill>
                <a:ea typeface="黑体" pitchFamily="49" charset="-122"/>
              </a:rPr>
              <a:t>实地址</a:t>
            </a:r>
          </a:p>
        </p:txBody>
      </p:sp>
      <p:sp>
        <p:nvSpPr>
          <p:cNvPr id="1691660" name="Text Box 12"/>
          <p:cNvSpPr txBox="1">
            <a:spLocks noChangeArrowheads="1"/>
          </p:cNvSpPr>
          <p:nvPr/>
        </p:nvSpPr>
        <p:spPr bwMode="auto">
          <a:xfrm>
            <a:off x="5795963" y="2133600"/>
            <a:ext cx="25193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FF0066"/>
                </a:solidFill>
              </a:rPr>
              <a:t>一级</a:t>
            </a:r>
            <a:r>
              <a:rPr lang="en-US" altLang="zh-CN" sz="2000">
                <a:solidFill>
                  <a:srgbClr val="FF0066"/>
                </a:solidFill>
              </a:rPr>
              <a:t>Cache</a:t>
            </a:r>
            <a:r>
              <a:rPr lang="zh-CN" altLang="en-US" sz="2000">
                <a:solidFill>
                  <a:srgbClr val="FF0066"/>
                </a:solidFill>
              </a:rPr>
              <a:t>，</a:t>
            </a:r>
            <a:r>
              <a:rPr lang="en-US" altLang="zh-CN" sz="2000">
                <a:solidFill>
                  <a:srgbClr val="FF0066"/>
                </a:solidFill>
              </a:rPr>
              <a:t>64KB</a:t>
            </a:r>
          </a:p>
        </p:txBody>
      </p:sp>
      <p:sp>
        <p:nvSpPr>
          <p:cNvPr id="1691661" name="Text Box 13"/>
          <p:cNvSpPr txBox="1">
            <a:spLocks noChangeArrowheads="1"/>
          </p:cNvSpPr>
          <p:nvPr/>
        </p:nvSpPr>
        <p:spPr bwMode="auto">
          <a:xfrm>
            <a:off x="5724525" y="5734050"/>
            <a:ext cx="25193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FF0066"/>
                </a:solidFill>
              </a:rPr>
              <a:t>二级</a:t>
            </a:r>
            <a:r>
              <a:rPr lang="en-US" altLang="zh-CN" sz="2000">
                <a:solidFill>
                  <a:srgbClr val="FF0066"/>
                </a:solidFill>
              </a:rPr>
              <a:t>Cache</a:t>
            </a:r>
            <a:r>
              <a:rPr lang="zh-CN" altLang="en-US" sz="2000">
                <a:solidFill>
                  <a:srgbClr val="FF0066"/>
                </a:solidFill>
              </a:rPr>
              <a:t>，</a:t>
            </a:r>
            <a:r>
              <a:rPr lang="en-US" altLang="zh-CN" sz="2000">
                <a:solidFill>
                  <a:srgbClr val="FF0066"/>
                </a:solidFill>
              </a:rPr>
              <a:t>1MB</a:t>
            </a:r>
          </a:p>
        </p:txBody>
      </p:sp>
      <p:sp>
        <p:nvSpPr>
          <p:cNvPr id="1691662" name="Text Box 14"/>
          <p:cNvSpPr txBox="1">
            <a:spLocks noChangeArrowheads="1"/>
          </p:cNvSpPr>
          <p:nvPr/>
        </p:nvSpPr>
        <p:spPr bwMode="auto">
          <a:xfrm>
            <a:off x="1547813" y="1303338"/>
            <a:ext cx="15843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FF0066"/>
                </a:solidFill>
              </a:rPr>
              <a:t>一级</a:t>
            </a:r>
            <a:r>
              <a:rPr lang="en-US" altLang="zh-CN" sz="2000">
                <a:solidFill>
                  <a:srgbClr val="FF0066"/>
                </a:solidFill>
              </a:rPr>
              <a:t>TLB</a:t>
            </a:r>
          </a:p>
        </p:txBody>
      </p:sp>
      <p:sp>
        <p:nvSpPr>
          <p:cNvPr id="1691663" name="Text Box 15"/>
          <p:cNvSpPr txBox="1">
            <a:spLocks noChangeArrowheads="1"/>
          </p:cNvSpPr>
          <p:nvPr/>
        </p:nvSpPr>
        <p:spPr bwMode="auto">
          <a:xfrm>
            <a:off x="1258888" y="2924175"/>
            <a:ext cx="15843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FF0066"/>
                </a:solidFill>
              </a:rPr>
              <a:t>二级</a:t>
            </a:r>
            <a:r>
              <a:rPr lang="en-US" altLang="zh-CN" sz="2000">
                <a:solidFill>
                  <a:srgbClr val="FF0066"/>
                </a:solidFill>
              </a:rPr>
              <a:t>TLB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567488" y="4292600"/>
            <a:ext cx="2468562" cy="1657350"/>
          </a:xfrm>
          <a:noFill/>
          <a:ln/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Putting It All Together :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The </a:t>
            </a:r>
            <a:r>
              <a:rPr lang="en-US" altLang="zh-CN" sz="2000" dirty="0">
                <a:solidFill>
                  <a:srgbClr val="FF0000"/>
                </a:solidFill>
              </a:rPr>
              <a:t>AMD Opteron</a:t>
            </a:r>
            <a:r>
              <a:rPr lang="en-US" altLang="zh-CN" sz="2000" dirty="0">
                <a:solidFill>
                  <a:srgbClr val="0000FF"/>
                </a:solidFill>
              </a:rPr>
              <a:t> Memory Hierarchy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graphicFrame>
        <p:nvGraphicFramePr>
          <p:cNvPr id="1692675" name="Object 3"/>
          <p:cNvGraphicFramePr>
            <a:graphicFrameLocks noChangeAspect="1"/>
          </p:cNvGraphicFramePr>
          <p:nvPr/>
        </p:nvGraphicFramePr>
        <p:xfrm>
          <a:off x="684213" y="71438"/>
          <a:ext cx="6032500" cy="674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2753" name="Image" r:id="rId4" imgW="5260859" imgH="5879604" progId="">
                  <p:embed/>
                </p:oleObj>
              </mc:Choice>
              <mc:Fallback>
                <p:oleObj name="Image" r:id="rId4" imgW="5260859" imgH="5879604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71438"/>
                        <a:ext cx="6032500" cy="674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9267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35825" y="404813"/>
            <a:ext cx="155257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92677" name="Rectangle 5"/>
          <p:cNvSpPr>
            <a:spLocks noChangeArrowheads="1"/>
          </p:cNvSpPr>
          <p:nvPr/>
        </p:nvSpPr>
        <p:spPr bwMode="auto">
          <a:xfrm>
            <a:off x="7235825" y="2203450"/>
            <a:ext cx="1512888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 b="0">
                <a:ea typeface="黑体" pitchFamily="49" charset="-122"/>
              </a:rPr>
              <a:t>   </a:t>
            </a:r>
            <a:r>
              <a:rPr lang="en-US" altLang="en-US" sz="2000" b="0">
                <a:ea typeface="黑体" pitchFamily="49" charset="-122"/>
              </a:rPr>
              <a:t>皓</a:t>
            </a:r>
            <a:r>
              <a:rPr lang="en-US" altLang="zh-CN" sz="2000" b="0">
                <a:ea typeface="黑体" pitchFamily="49" charset="-122"/>
              </a:rPr>
              <a:t> </a:t>
            </a:r>
            <a:r>
              <a:rPr lang="en-US" altLang="en-US" sz="2000" b="0">
                <a:ea typeface="黑体" pitchFamily="49" charset="-122"/>
              </a:rPr>
              <a:t>龙</a:t>
            </a:r>
            <a:r>
              <a:rPr lang="en-US" altLang="zh-CN" sz="1800" b="0" baseline="50000">
                <a:ea typeface="黑体" pitchFamily="49" charset="-122"/>
              </a:rPr>
              <a:t>TM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en-US" sz="2000" b="0">
                <a:ea typeface="黑体" pitchFamily="49" charset="-122"/>
              </a:rPr>
              <a:t>处</a:t>
            </a:r>
            <a:r>
              <a:rPr lang="en-US" altLang="zh-CN" sz="2000" b="0">
                <a:ea typeface="黑体" pitchFamily="49" charset="-122"/>
              </a:rPr>
              <a:t> </a:t>
            </a:r>
            <a:r>
              <a:rPr lang="en-US" altLang="en-US" sz="2000" b="0">
                <a:ea typeface="黑体" pitchFamily="49" charset="-122"/>
              </a:rPr>
              <a:t>理</a:t>
            </a:r>
            <a:r>
              <a:rPr lang="en-US" altLang="zh-CN" sz="2000" b="0">
                <a:ea typeface="黑体" pitchFamily="49" charset="-122"/>
              </a:rPr>
              <a:t> </a:t>
            </a:r>
            <a:r>
              <a:rPr lang="en-US" altLang="en-US" sz="2000" b="0">
                <a:ea typeface="黑体" pitchFamily="49" charset="-122"/>
              </a:rPr>
              <a:t>器</a:t>
            </a:r>
            <a:endParaRPr lang="zh-CN" altLang="en-US" sz="2000" b="0">
              <a:ea typeface="黑体" pitchFamily="49" charset="-122"/>
            </a:endParaRP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19A19385-B28F-4730-9704-1AEA7E7B7D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336792"/>
            <a:ext cx="2133600" cy="368808"/>
          </a:xfrm>
        </p:spPr>
        <p:txBody>
          <a:bodyPr/>
          <a:lstStyle/>
          <a:p>
            <a:fld id="{78ADDFEA-6932-4013-9B0E-E9F9C48327E4}" type="slidenum">
              <a:rPr lang="zh-CN" altLang="en-US" smtClean="0"/>
              <a:pPr/>
              <a:t>64</a:t>
            </a:fld>
            <a:endParaRPr lang="en-US" altLang="zh-CN"/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677" name="Rectangle 5"/>
          <p:cNvSpPr>
            <a:spLocks noChangeArrowheads="1"/>
          </p:cNvSpPr>
          <p:nvPr/>
        </p:nvSpPr>
        <p:spPr bwMode="auto">
          <a:xfrm>
            <a:off x="7235825" y="2870028"/>
            <a:ext cx="1512888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 dirty="0">
                <a:solidFill>
                  <a:srgbClr val="3366FF"/>
                </a:solidFill>
                <a:latin typeface="+mj-lt"/>
                <a:ea typeface="黑体" pitchFamily="49" charset="-122"/>
              </a:rPr>
              <a:t>Intel i7</a:t>
            </a:r>
            <a:endParaRPr lang="en-US" altLang="zh-CN" sz="1800" baseline="50000" dirty="0">
              <a:solidFill>
                <a:srgbClr val="3366FF"/>
              </a:solidFill>
              <a:latin typeface="+mj-lt"/>
              <a:ea typeface="黑体" pitchFamily="49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en-US" sz="2000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</a:t>
            </a:r>
            <a:r>
              <a:rPr lang="en-US" altLang="zh-CN" sz="2000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en-US" sz="2000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</a:t>
            </a:r>
            <a:r>
              <a:rPr lang="en-US" altLang="zh-CN" sz="2000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en-US" sz="2000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器</a:t>
            </a:r>
            <a:endParaRPr lang="zh-CN" altLang="en-US" sz="2000" dirty="0">
              <a:solidFill>
                <a:srgbClr val="33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50BA02A-5750-44FC-811E-1127D6CD8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44624"/>
            <a:ext cx="6027794" cy="6768752"/>
          </a:xfrm>
          <a:prstGeom prst="rect">
            <a:avLst/>
          </a:prstGeom>
        </p:spPr>
      </p:pic>
      <p:sp>
        <p:nvSpPr>
          <p:cNvPr id="1692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23928" y="3933056"/>
            <a:ext cx="5112122" cy="936104"/>
          </a:xfrm>
          <a:noFill/>
          <a:ln/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Putting It All Together :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The </a:t>
            </a:r>
            <a:r>
              <a:rPr lang="en-US" altLang="zh-CN" sz="2400" dirty="0">
                <a:solidFill>
                  <a:srgbClr val="FF0000"/>
                </a:solidFill>
              </a:rPr>
              <a:t>Intel i7 6700</a:t>
            </a:r>
            <a:r>
              <a:rPr lang="en-US" altLang="zh-CN" sz="2400" dirty="0">
                <a:solidFill>
                  <a:srgbClr val="0000FF"/>
                </a:solidFill>
              </a:rPr>
              <a:t> memory hierarchy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pic>
        <p:nvPicPr>
          <p:cNvPr id="3" name="图片 2">
            <a:hlinkClick r:id="rId4" action="ppaction://hlinksldjump"/>
            <a:extLst>
              <a:ext uri="{FF2B5EF4-FFF2-40B4-BE49-F238E27FC236}">
                <a16:creationId xmlns:a16="http://schemas.microsoft.com/office/drawing/2014/main" id="{FE550712-FE7F-4456-B500-F1987EAC9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288" y="637780"/>
            <a:ext cx="1613921" cy="2204864"/>
          </a:xfrm>
          <a:prstGeom prst="rect">
            <a:avLst/>
          </a:prstGeom>
        </p:spPr>
      </p:pic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7571A49E-00EB-49B6-A65D-A3490E9046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336792"/>
            <a:ext cx="2133600" cy="368808"/>
          </a:xfrm>
        </p:spPr>
        <p:txBody>
          <a:bodyPr/>
          <a:lstStyle/>
          <a:p>
            <a:fld id="{78ADDFEA-6932-4013-9B0E-E9F9C48327E4}" type="slidenum">
              <a:rPr lang="zh-CN" altLang="en-US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8250980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0BA02A-5750-44FC-811E-1127D6CD8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4623"/>
            <a:ext cx="10801200" cy="12128922"/>
          </a:xfrm>
          <a:prstGeom prst="rect">
            <a:avLst/>
          </a:prstGeom>
        </p:spPr>
      </p:pic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7571A49E-00EB-49B6-A65D-A3490E9046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82420" y="6336792"/>
            <a:ext cx="2133600" cy="368808"/>
          </a:xfrm>
        </p:spPr>
        <p:txBody>
          <a:bodyPr/>
          <a:lstStyle/>
          <a:p>
            <a:fld id="{78ADDFEA-6932-4013-9B0E-E9F9C48327E4}" type="slidenum">
              <a:rPr lang="zh-CN" altLang="en-US" smtClean="0"/>
              <a:pPr/>
              <a:t>66</a:t>
            </a:fld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1D0057-DF34-44C2-85B1-7E55AABA5286}"/>
              </a:ext>
            </a:extLst>
          </p:cNvPr>
          <p:cNvSpPr/>
          <p:nvPr/>
        </p:nvSpPr>
        <p:spPr bwMode="auto">
          <a:xfrm>
            <a:off x="4499992" y="1"/>
            <a:ext cx="5040560" cy="6858000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127000"/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DE5912-C00E-4FEB-A4D6-D4B9EA081894}"/>
              </a:ext>
            </a:extLst>
          </p:cNvPr>
          <p:cNvSpPr/>
          <p:nvPr/>
        </p:nvSpPr>
        <p:spPr>
          <a:xfrm>
            <a:off x="4917740" y="116632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rgbClr val="0000FF"/>
                </a:solidFill>
              </a:rPr>
              <a:t>虚拟地址：</a:t>
            </a: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A81DE964-3A42-4402-93B4-A1C4B2B0B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586758"/>
              </p:ext>
            </p:extLst>
          </p:nvPr>
        </p:nvGraphicFramePr>
        <p:xfrm>
          <a:off x="4805276" y="518295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8310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1278894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虚页号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graphicFrame>
        <p:nvGraphicFramePr>
          <p:cNvPr id="14" name="表格 9">
            <a:extLst>
              <a:ext uri="{FF2B5EF4-FFF2-40B4-BE49-F238E27FC236}">
                <a16:creationId xmlns:a16="http://schemas.microsoft.com/office/drawing/2014/main" id="{4D5019A1-313B-4ABA-9310-377C56BE4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471122"/>
              </p:ext>
            </p:extLst>
          </p:nvPr>
        </p:nvGraphicFramePr>
        <p:xfrm>
          <a:off x="5448459" y="5679208"/>
          <a:ext cx="344402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7877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49654169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9900"/>
                          </a:solidFill>
                        </a:rPr>
                        <a:t>Tag</a:t>
                      </a:r>
                      <a:endParaRPr lang="zh-CN" altLang="en-US" sz="2000" b="1" dirty="0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</a:rPr>
                        <a:t>Index</a:t>
                      </a:r>
                      <a:endParaRPr lang="zh-CN" altLang="en-US" sz="1800" b="1" dirty="0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1" dirty="0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291FB22-4D4E-4A64-B373-CBE54CC97A65}"/>
              </a:ext>
            </a:extLst>
          </p:cNvPr>
          <p:cNvCxnSpPr/>
          <p:nvPr/>
        </p:nvCxnSpPr>
        <p:spPr bwMode="auto">
          <a:xfrm>
            <a:off x="4805276" y="986543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B5DF36-84D0-446C-B58E-8B63E4290FC8}"/>
              </a:ext>
            </a:extLst>
          </p:cNvPr>
          <p:cNvCxnSpPr/>
          <p:nvPr/>
        </p:nvCxnSpPr>
        <p:spPr bwMode="auto">
          <a:xfrm>
            <a:off x="7613588" y="980728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E5415BB-62ED-4955-AF46-B37C41E055A7}"/>
              </a:ext>
            </a:extLst>
          </p:cNvPr>
          <p:cNvCxnSpPr/>
          <p:nvPr/>
        </p:nvCxnSpPr>
        <p:spPr bwMode="auto">
          <a:xfrm>
            <a:off x="8892480" y="986543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41DBEB3-633C-401A-A521-C5B4B901D245}"/>
              </a:ext>
            </a:extLst>
          </p:cNvPr>
          <p:cNvCxnSpPr/>
          <p:nvPr/>
        </p:nvCxnSpPr>
        <p:spPr bwMode="auto">
          <a:xfrm>
            <a:off x="4805276" y="1121836"/>
            <a:ext cx="280831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B15C845-BF13-473D-A02D-7FC51234AFB4}"/>
              </a:ext>
            </a:extLst>
          </p:cNvPr>
          <p:cNvSpPr/>
          <p:nvPr/>
        </p:nvSpPr>
        <p:spPr>
          <a:xfrm>
            <a:off x="5873497" y="963476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36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6A763FE-6B6D-4BC5-865A-C27502AA7D48}"/>
              </a:ext>
            </a:extLst>
          </p:cNvPr>
          <p:cNvCxnSpPr>
            <a:cxnSpLocks/>
          </p:cNvCxnSpPr>
          <p:nvPr/>
        </p:nvCxnSpPr>
        <p:spPr bwMode="auto">
          <a:xfrm flipV="1">
            <a:off x="7613587" y="1111964"/>
            <a:ext cx="1278893" cy="151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9D7ACC88-920D-4F13-B4F5-9550DFC0A372}"/>
              </a:ext>
            </a:extLst>
          </p:cNvPr>
          <p:cNvSpPr/>
          <p:nvPr/>
        </p:nvSpPr>
        <p:spPr>
          <a:xfrm>
            <a:off x="7944477" y="963476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12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836363-C8DB-4FDB-B72C-A5C82EA1504E}"/>
              </a:ext>
            </a:extLst>
          </p:cNvPr>
          <p:cNvSpPr/>
          <p:nvPr/>
        </p:nvSpPr>
        <p:spPr>
          <a:xfrm>
            <a:off x="4917740" y="1395109"/>
            <a:ext cx="13420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rgbClr val="0000FF"/>
                </a:solidFill>
              </a:rPr>
              <a:t>L1-TLB</a:t>
            </a:r>
            <a:r>
              <a:rPr lang="zh-CN" altLang="en-US" sz="2000" dirty="0">
                <a:solidFill>
                  <a:srgbClr val="0000FF"/>
                </a:solidFill>
              </a:rPr>
              <a:t>：</a:t>
            </a:r>
          </a:p>
        </p:txBody>
      </p:sp>
      <p:graphicFrame>
        <p:nvGraphicFramePr>
          <p:cNvPr id="26" name="表格 9">
            <a:extLst>
              <a:ext uri="{FF2B5EF4-FFF2-40B4-BE49-F238E27FC236}">
                <a16:creationId xmlns:a16="http://schemas.microsoft.com/office/drawing/2014/main" id="{A13A35FF-D00B-4F20-B969-69017C073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913089"/>
              </p:ext>
            </p:extLst>
          </p:nvPr>
        </p:nvGraphicFramePr>
        <p:xfrm>
          <a:off x="4805276" y="1770970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792086">
                  <a:extLst>
                    <a:ext uri="{9D8B030D-6E8A-4147-A177-3AD203B41FA5}">
                      <a16:colId xmlns:a16="http://schemas.microsoft.com/office/drawing/2014/main" val="3496541694"/>
                    </a:ext>
                  </a:extLst>
                </a:gridCol>
                <a:gridCol w="1278894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FF"/>
                          </a:solidFill>
                        </a:rPr>
                        <a:t>Tag</a:t>
                      </a:r>
                      <a:endParaRPr lang="zh-CN" altLang="en-US" sz="20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FF"/>
                          </a:solidFill>
                        </a:rPr>
                        <a:t>Index</a:t>
                      </a:r>
                      <a:endParaRPr lang="zh-CN" altLang="en-US" sz="20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239F01E-D99D-446D-ACBE-D15114D1D715}"/>
              </a:ext>
            </a:extLst>
          </p:cNvPr>
          <p:cNvCxnSpPr/>
          <p:nvPr/>
        </p:nvCxnSpPr>
        <p:spPr bwMode="auto">
          <a:xfrm>
            <a:off x="4805276" y="2220855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99F8BE2-C5A7-44AE-9AA5-128E4E4A4B6D}"/>
              </a:ext>
            </a:extLst>
          </p:cNvPr>
          <p:cNvCxnSpPr/>
          <p:nvPr/>
        </p:nvCxnSpPr>
        <p:spPr bwMode="auto">
          <a:xfrm>
            <a:off x="7613588" y="2215040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CCA2ADF-7AAC-4611-A6F4-8C0E1945CB5A}"/>
              </a:ext>
            </a:extLst>
          </p:cNvPr>
          <p:cNvCxnSpPr/>
          <p:nvPr/>
        </p:nvCxnSpPr>
        <p:spPr bwMode="auto">
          <a:xfrm>
            <a:off x="8892480" y="2220855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F3E70E7-3A63-4D51-AD07-575DB96A27F4}"/>
              </a:ext>
            </a:extLst>
          </p:cNvPr>
          <p:cNvCxnSpPr>
            <a:cxnSpLocks/>
          </p:cNvCxnSpPr>
          <p:nvPr/>
        </p:nvCxnSpPr>
        <p:spPr bwMode="auto">
          <a:xfrm>
            <a:off x="4805276" y="2348880"/>
            <a:ext cx="2016224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49D9A0A8-059B-4FE9-A117-99700AAFA54A}"/>
              </a:ext>
            </a:extLst>
          </p:cNvPr>
          <p:cNvSpPr/>
          <p:nvPr/>
        </p:nvSpPr>
        <p:spPr>
          <a:xfrm>
            <a:off x="5487852" y="220641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32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C2810C1-0231-4352-9872-B2E6C9CCA46B}"/>
              </a:ext>
            </a:extLst>
          </p:cNvPr>
          <p:cNvCxnSpPr>
            <a:cxnSpLocks/>
          </p:cNvCxnSpPr>
          <p:nvPr/>
        </p:nvCxnSpPr>
        <p:spPr bwMode="auto">
          <a:xfrm flipV="1">
            <a:off x="7611848" y="2336100"/>
            <a:ext cx="1280632" cy="1519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EC256812-B938-466E-9057-823C347A114A}"/>
              </a:ext>
            </a:extLst>
          </p:cNvPr>
          <p:cNvSpPr/>
          <p:nvPr/>
        </p:nvSpPr>
        <p:spPr>
          <a:xfrm>
            <a:off x="7944477" y="220641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12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89AAFB8-95A1-434E-B30B-23278686213D}"/>
              </a:ext>
            </a:extLst>
          </p:cNvPr>
          <p:cNvCxnSpPr/>
          <p:nvPr/>
        </p:nvCxnSpPr>
        <p:spPr bwMode="auto">
          <a:xfrm>
            <a:off x="6821500" y="2215040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0DBE269-0040-4935-9CF5-52A2DFAE5448}"/>
              </a:ext>
            </a:extLst>
          </p:cNvPr>
          <p:cNvCxnSpPr>
            <a:cxnSpLocks/>
          </p:cNvCxnSpPr>
          <p:nvPr/>
        </p:nvCxnSpPr>
        <p:spPr bwMode="auto">
          <a:xfrm>
            <a:off x="6821499" y="2348880"/>
            <a:ext cx="792088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5CCBB357-0F79-4C8A-95F5-38D3511DADB4}"/>
              </a:ext>
            </a:extLst>
          </p:cNvPr>
          <p:cNvSpPr/>
          <p:nvPr/>
        </p:nvSpPr>
        <p:spPr>
          <a:xfrm>
            <a:off x="7023945" y="2206414"/>
            <a:ext cx="386324" cy="3077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4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1D6D17E-8892-4FAA-8C62-79B9C64D0653}"/>
              </a:ext>
            </a:extLst>
          </p:cNvPr>
          <p:cNvSpPr/>
          <p:nvPr/>
        </p:nvSpPr>
        <p:spPr>
          <a:xfrm>
            <a:off x="4917740" y="2654209"/>
            <a:ext cx="13420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rgbClr val="0000FF"/>
                </a:solidFill>
              </a:rPr>
              <a:t>L2-TLB</a:t>
            </a:r>
            <a:r>
              <a:rPr lang="zh-CN" altLang="en-US" sz="2000" dirty="0">
                <a:solidFill>
                  <a:srgbClr val="0000FF"/>
                </a:solidFill>
              </a:rPr>
              <a:t>：</a:t>
            </a:r>
          </a:p>
        </p:txBody>
      </p:sp>
      <p:graphicFrame>
        <p:nvGraphicFramePr>
          <p:cNvPr id="43" name="表格 9">
            <a:extLst>
              <a:ext uri="{FF2B5EF4-FFF2-40B4-BE49-F238E27FC236}">
                <a16:creationId xmlns:a16="http://schemas.microsoft.com/office/drawing/2014/main" id="{FC75776A-D14C-43F1-B331-58C81B0C9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372953"/>
              </p:ext>
            </p:extLst>
          </p:nvPr>
        </p:nvGraphicFramePr>
        <p:xfrm>
          <a:off x="4805276" y="3030070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936102">
                  <a:extLst>
                    <a:ext uri="{9D8B030D-6E8A-4147-A177-3AD203B41FA5}">
                      <a16:colId xmlns:a16="http://schemas.microsoft.com/office/drawing/2014/main" val="3496541694"/>
                    </a:ext>
                  </a:extLst>
                </a:gridCol>
                <a:gridCol w="1278894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FF"/>
                          </a:solidFill>
                        </a:rPr>
                        <a:t>Tag</a:t>
                      </a:r>
                      <a:endParaRPr lang="zh-CN" altLang="en-US" sz="20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FF"/>
                          </a:solidFill>
                        </a:rPr>
                        <a:t>Index</a:t>
                      </a:r>
                      <a:endParaRPr lang="zh-CN" altLang="en-US" sz="20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BB8129A-6237-4E20-9671-ABA53FC4B8E7}"/>
              </a:ext>
            </a:extLst>
          </p:cNvPr>
          <p:cNvCxnSpPr/>
          <p:nvPr/>
        </p:nvCxnSpPr>
        <p:spPr bwMode="auto">
          <a:xfrm>
            <a:off x="4805276" y="3479955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82B7011-5D69-4B5A-B32A-2E78EDC2EDB3}"/>
              </a:ext>
            </a:extLst>
          </p:cNvPr>
          <p:cNvCxnSpPr/>
          <p:nvPr/>
        </p:nvCxnSpPr>
        <p:spPr bwMode="auto">
          <a:xfrm>
            <a:off x="7613588" y="3474140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1120415-5A11-461F-B1BD-2F5F0A3EA732}"/>
              </a:ext>
            </a:extLst>
          </p:cNvPr>
          <p:cNvCxnSpPr/>
          <p:nvPr/>
        </p:nvCxnSpPr>
        <p:spPr bwMode="auto">
          <a:xfrm>
            <a:off x="8892480" y="3479955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0A9B868-6DE2-4D88-9860-E81A9FE646B9}"/>
              </a:ext>
            </a:extLst>
          </p:cNvPr>
          <p:cNvCxnSpPr>
            <a:cxnSpLocks/>
          </p:cNvCxnSpPr>
          <p:nvPr/>
        </p:nvCxnSpPr>
        <p:spPr bwMode="auto">
          <a:xfrm>
            <a:off x="4805276" y="3607980"/>
            <a:ext cx="1872208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83E698D6-52F9-496B-A5AB-5FB1CDBF4080}"/>
              </a:ext>
            </a:extLst>
          </p:cNvPr>
          <p:cNvSpPr/>
          <p:nvPr/>
        </p:nvSpPr>
        <p:spPr>
          <a:xfrm>
            <a:off x="5453348" y="346551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29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09D09619-7D70-4F2C-908E-CE748B76183E}"/>
              </a:ext>
            </a:extLst>
          </p:cNvPr>
          <p:cNvCxnSpPr>
            <a:cxnSpLocks/>
          </p:cNvCxnSpPr>
          <p:nvPr/>
        </p:nvCxnSpPr>
        <p:spPr bwMode="auto">
          <a:xfrm flipV="1">
            <a:off x="7611848" y="3595200"/>
            <a:ext cx="1280632" cy="1519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C7FF6A17-53E6-42D2-83EA-A7E5FFF515F1}"/>
              </a:ext>
            </a:extLst>
          </p:cNvPr>
          <p:cNvSpPr/>
          <p:nvPr/>
        </p:nvSpPr>
        <p:spPr>
          <a:xfrm>
            <a:off x="7944477" y="346551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12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D9DBF744-193B-49E5-AC34-E77484228C9D}"/>
              </a:ext>
            </a:extLst>
          </p:cNvPr>
          <p:cNvCxnSpPr/>
          <p:nvPr/>
        </p:nvCxnSpPr>
        <p:spPr bwMode="auto">
          <a:xfrm>
            <a:off x="6677484" y="3474140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7E676AAB-D2D0-4124-AAF5-71F169B20AC9}"/>
              </a:ext>
            </a:extLst>
          </p:cNvPr>
          <p:cNvCxnSpPr>
            <a:cxnSpLocks/>
          </p:cNvCxnSpPr>
          <p:nvPr/>
        </p:nvCxnSpPr>
        <p:spPr bwMode="auto">
          <a:xfrm>
            <a:off x="6677484" y="3607980"/>
            <a:ext cx="936103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9B4E8DC3-CD09-4919-B5BA-45F32C56E267}"/>
              </a:ext>
            </a:extLst>
          </p:cNvPr>
          <p:cNvSpPr/>
          <p:nvPr/>
        </p:nvSpPr>
        <p:spPr>
          <a:xfrm>
            <a:off x="6911913" y="3465514"/>
            <a:ext cx="45902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7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27AEFCA-8A29-4365-B7DD-A7B7DF2ACBD0}"/>
              </a:ext>
            </a:extLst>
          </p:cNvPr>
          <p:cNvSpPr/>
          <p:nvPr/>
        </p:nvSpPr>
        <p:spPr>
          <a:xfrm>
            <a:off x="1835696" y="3898552"/>
            <a:ext cx="1688283" cy="369332"/>
          </a:xfrm>
          <a:prstGeom prst="rect">
            <a:avLst/>
          </a:prstGeom>
          <a:solidFill>
            <a:schemeClr val="bg1"/>
          </a:solidFill>
          <a:effectLst>
            <a:softEdge rad="127000"/>
          </a:effectLst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1536÷12＝128</a:t>
            </a:r>
          </a:p>
        </p:txBody>
      </p:sp>
      <p:graphicFrame>
        <p:nvGraphicFramePr>
          <p:cNvPr id="58" name="表格 9">
            <a:extLst>
              <a:ext uri="{FF2B5EF4-FFF2-40B4-BE49-F238E27FC236}">
                <a16:creationId xmlns:a16="http://schemas.microsoft.com/office/drawing/2014/main" id="{300BEBC6-AD0A-43B7-B2CE-627DE137A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403523"/>
              </p:ext>
            </p:extLst>
          </p:nvPr>
        </p:nvGraphicFramePr>
        <p:xfrm>
          <a:off x="5448459" y="4400912"/>
          <a:ext cx="344402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1281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1282740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9900"/>
                          </a:solidFill>
                        </a:rPr>
                        <a:t>实页号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009900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sp>
        <p:nvSpPr>
          <p:cNvPr id="59" name="矩形 58">
            <a:extLst>
              <a:ext uri="{FF2B5EF4-FFF2-40B4-BE49-F238E27FC236}">
                <a16:creationId xmlns:a16="http://schemas.microsoft.com/office/drawing/2014/main" id="{960D1B26-4D59-4803-8D35-2635D652B8A0}"/>
              </a:ext>
            </a:extLst>
          </p:cNvPr>
          <p:cNvSpPr/>
          <p:nvPr/>
        </p:nvSpPr>
        <p:spPr>
          <a:xfrm>
            <a:off x="4917740" y="3997967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rgbClr val="009900"/>
                </a:solidFill>
              </a:rPr>
              <a:t>主存地址：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80CC8A9-A509-4A8A-95C4-E8AC71A1EC79}"/>
              </a:ext>
            </a:extLst>
          </p:cNvPr>
          <p:cNvCxnSpPr/>
          <p:nvPr/>
        </p:nvCxnSpPr>
        <p:spPr bwMode="auto">
          <a:xfrm>
            <a:off x="5453348" y="4876613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94C505F4-0E4F-490F-BE13-0EA36DFF3D1F}"/>
              </a:ext>
            </a:extLst>
          </p:cNvPr>
          <p:cNvCxnSpPr/>
          <p:nvPr/>
        </p:nvCxnSpPr>
        <p:spPr bwMode="auto">
          <a:xfrm>
            <a:off x="7613588" y="4870798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B2A3AC8-2C37-4226-A1B9-5093CA3AC759}"/>
              </a:ext>
            </a:extLst>
          </p:cNvPr>
          <p:cNvCxnSpPr/>
          <p:nvPr/>
        </p:nvCxnSpPr>
        <p:spPr bwMode="auto">
          <a:xfrm>
            <a:off x="8892480" y="4876613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EF8E7890-C40A-4DFD-8172-D6F6A30717CD}"/>
              </a:ext>
            </a:extLst>
          </p:cNvPr>
          <p:cNvCxnSpPr>
            <a:cxnSpLocks/>
          </p:cNvCxnSpPr>
          <p:nvPr/>
        </p:nvCxnSpPr>
        <p:spPr bwMode="auto">
          <a:xfrm>
            <a:off x="5448459" y="5011906"/>
            <a:ext cx="2165129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1584A246-CE76-485A-9B96-8361A7386C6B}"/>
              </a:ext>
            </a:extLst>
          </p:cNvPr>
          <p:cNvSpPr/>
          <p:nvPr/>
        </p:nvSpPr>
        <p:spPr>
          <a:xfrm>
            <a:off x="6225184" y="4853546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24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33AD393-9D00-4A2F-960C-1024BE1C80C3}"/>
              </a:ext>
            </a:extLst>
          </p:cNvPr>
          <p:cNvCxnSpPr>
            <a:cxnSpLocks/>
          </p:cNvCxnSpPr>
          <p:nvPr/>
        </p:nvCxnSpPr>
        <p:spPr bwMode="auto">
          <a:xfrm flipV="1">
            <a:off x="7618477" y="5002034"/>
            <a:ext cx="1274003" cy="15113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57B07C51-3395-41B2-BC85-C9AC3095999F}"/>
              </a:ext>
            </a:extLst>
          </p:cNvPr>
          <p:cNvSpPr/>
          <p:nvPr/>
        </p:nvSpPr>
        <p:spPr>
          <a:xfrm>
            <a:off x="7944477" y="4853546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12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DAC9E8F-2B29-43DD-A3BC-C4E3EF35D77D}"/>
              </a:ext>
            </a:extLst>
          </p:cNvPr>
          <p:cNvSpPr/>
          <p:nvPr/>
        </p:nvSpPr>
        <p:spPr>
          <a:xfrm>
            <a:off x="4917740" y="5229200"/>
            <a:ext cx="30524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rgbClr val="009900"/>
                </a:solidFill>
              </a:rPr>
              <a:t>L1-Cache</a:t>
            </a:r>
            <a:r>
              <a:rPr lang="zh-CN" altLang="en-US" sz="2000" dirty="0">
                <a:solidFill>
                  <a:srgbClr val="009900"/>
                </a:solidFill>
              </a:rPr>
              <a:t>：</a:t>
            </a:r>
            <a:r>
              <a:rPr lang="en-US" altLang="zh-CN" sz="2000" dirty="0">
                <a:solidFill>
                  <a:srgbClr val="009900"/>
                </a:solidFill>
              </a:rPr>
              <a:t>32KB</a:t>
            </a:r>
            <a:r>
              <a:rPr lang="zh-CN" altLang="en-US" sz="2000" dirty="0">
                <a:solidFill>
                  <a:srgbClr val="009900"/>
                </a:solidFill>
              </a:rPr>
              <a:t>，</a:t>
            </a:r>
            <a:r>
              <a:rPr lang="en-US" altLang="zh-CN" sz="2000" dirty="0">
                <a:solidFill>
                  <a:srgbClr val="009900"/>
                </a:solidFill>
              </a:rPr>
              <a:t>8-way</a:t>
            </a:r>
            <a:endParaRPr lang="zh-CN" altLang="en-US" sz="2000" dirty="0">
              <a:solidFill>
                <a:srgbClr val="009900"/>
              </a:solidFill>
            </a:endParaRP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BFE7136-9F8F-467F-BA88-209144E4BE10}"/>
              </a:ext>
            </a:extLst>
          </p:cNvPr>
          <p:cNvCxnSpPr/>
          <p:nvPr/>
        </p:nvCxnSpPr>
        <p:spPr bwMode="auto">
          <a:xfrm>
            <a:off x="5436096" y="6162047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A1AAD1AF-4F30-4D46-83D1-A91E69EE7309}"/>
              </a:ext>
            </a:extLst>
          </p:cNvPr>
          <p:cNvCxnSpPr/>
          <p:nvPr/>
        </p:nvCxnSpPr>
        <p:spPr bwMode="auto">
          <a:xfrm>
            <a:off x="8244408" y="6156232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E02D78B-C3D9-4AA4-9376-E78642F1968E}"/>
              </a:ext>
            </a:extLst>
          </p:cNvPr>
          <p:cNvCxnSpPr/>
          <p:nvPr/>
        </p:nvCxnSpPr>
        <p:spPr bwMode="auto">
          <a:xfrm>
            <a:off x="8892480" y="6162047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550B54F-CE5F-4308-9D10-2EFDB6202528}"/>
              </a:ext>
            </a:extLst>
          </p:cNvPr>
          <p:cNvCxnSpPr>
            <a:cxnSpLocks/>
          </p:cNvCxnSpPr>
          <p:nvPr/>
        </p:nvCxnSpPr>
        <p:spPr bwMode="auto">
          <a:xfrm>
            <a:off x="5436096" y="6290072"/>
            <a:ext cx="217575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FD13E55D-8F8D-481D-9E37-6E022D771211}"/>
              </a:ext>
            </a:extLst>
          </p:cNvPr>
          <p:cNvSpPr/>
          <p:nvPr/>
        </p:nvSpPr>
        <p:spPr>
          <a:xfrm>
            <a:off x="6216285" y="6147606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24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239B99C4-DDD5-45DC-828B-2DA14534DB3E}"/>
              </a:ext>
            </a:extLst>
          </p:cNvPr>
          <p:cNvCxnSpPr>
            <a:cxnSpLocks/>
          </p:cNvCxnSpPr>
          <p:nvPr/>
        </p:nvCxnSpPr>
        <p:spPr bwMode="auto">
          <a:xfrm flipV="1">
            <a:off x="8244408" y="6284436"/>
            <a:ext cx="648072" cy="768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F7C7ED23-44B6-4000-A592-A43F5C6474A0}"/>
              </a:ext>
            </a:extLst>
          </p:cNvPr>
          <p:cNvSpPr/>
          <p:nvPr/>
        </p:nvSpPr>
        <p:spPr>
          <a:xfrm>
            <a:off x="8343606" y="6297340"/>
            <a:ext cx="459027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6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E129168-8910-4D95-8B0C-407AC2572303}"/>
              </a:ext>
            </a:extLst>
          </p:cNvPr>
          <p:cNvCxnSpPr/>
          <p:nvPr/>
        </p:nvCxnSpPr>
        <p:spPr bwMode="auto">
          <a:xfrm>
            <a:off x="7596336" y="6156232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930B3768-8516-4BF4-9B4A-95967050FB51}"/>
              </a:ext>
            </a:extLst>
          </p:cNvPr>
          <p:cNvCxnSpPr>
            <a:cxnSpLocks/>
          </p:cNvCxnSpPr>
          <p:nvPr/>
        </p:nvCxnSpPr>
        <p:spPr bwMode="auto">
          <a:xfrm>
            <a:off x="7596336" y="6290272"/>
            <a:ext cx="655828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00" name="矩形 99">
            <a:extLst>
              <a:ext uri="{FF2B5EF4-FFF2-40B4-BE49-F238E27FC236}">
                <a16:creationId xmlns:a16="http://schemas.microsoft.com/office/drawing/2014/main" id="{42D2F3C9-F389-4A8A-B790-D9EB59A35D03}"/>
              </a:ext>
            </a:extLst>
          </p:cNvPr>
          <p:cNvSpPr/>
          <p:nvPr/>
        </p:nvSpPr>
        <p:spPr>
          <a:xfrm>
            <a:off x="7713373" y="6297340"/>
            <a:ext cx="459027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6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E4F7FC79-DA09-468C-AAD5-919881EA3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399" y="5599325"/>
            <a:ext cx="797957" cy="63322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1B3A84A-4688-4331-B4F4-EE1F1B866833}"/>
              </a:ext>
            </a:extLst>
          </p:cNvPr>
          <p:cNvSpPr/>
          <p:nvPr/>
        </p:nvSpPr>
        <p:spPr>
          <a:xfrm>
            <a:off x="6173682" y="1382743"/>
            <a:ext cx="2747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i="1" dirty="0"/>
              <a:t>Access latency：1 cycle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EF6D069-2857-4393-9B90-368D23120E4A}"/>
              </a:ext>
            </a:extLst>
          </p:cNvPr>
          <p:cNvSpPr/>
          <p:nvPr/>
        </p:nvSpPr>
        <p:spPr>
          <a:xfrm>
            <a:off x="6173682" y="2633621"/>
            <a:ext cx="27895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i="1" dirty="0"/>
              <a:t>Access latency：</a:t>
            </a:r>
            <a:r>
              <a:rPr lang="en-US" altLang="zh-CN" sz="2000" i="1" dirty="0"/>
              <a:t>8</a:t>
            </a:r>
            <a:r>
              <a:rPr lang="zh-CN" altLang="en-US" sz="2000" i="1" dirty="0"/>
              <a:t> cycle</a:t>
            </a:r>
            <a:r>
              <a:rPr lang="en-US" altLang="zh-CN" sz="2000" i="1" dirty="0"/>
              <a:t>s</a:t>
            </a:r>
            <a:endParaRPr lang="zh-CN" altLang="en-US" sz="2000" i="1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BACD0EC-E026-4F31-91AE-89AD64E0CFF6}"/>
              </a:ext>
            </a:extLst>
          </p:cNvPr>
          <p:cNvSpPr/>
          <p:nvPr/>
        </p:nvSpPr>
        <p:spPr>
          <a:xfrm>
            <a:off x="4878798" y="6309320"/>
            <a:ext cx="27895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i="1" dirty="0"/>
              <a:t>Access latency：</a:t>
            </a:r>
            <a:r>
              <a:rPr lang="en-US" altLang="zh-CN" sz="2000" i="1" dirty="0"/>
              <a:t>4</a:t>
            </a:r>
            <a:r>
              <a:rPr lang="zh-CN" altLang="en-US" sz="2000" i="1" dirty="0"/>
              <a:t> cycle</a:t>
            </a:r>
            <a:r>
              <a:rPr lang="en-US" altLang="zh-CN" sz="2000" i="1" dirty="0"/>
              <a:t>s</a:t>
            </a:r>
            <a:endParaRPr lang="zh-CN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470468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000"/>
                            </p:stCondLst>
                            <p:childTnLst>
                              <p:par>
                                <p:cTn id="2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500"/>
                            </p:stCondLst>
                            <p:childTnLst>
                              <p:par>
                                <p:cTn id="2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500"/>
                            </p:stCondLst>
                            <p:childTnLst>
                              <p:par>
                                <p:cTn id="2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1" grpId="0" animBg="1"/>
      <p:bldP spid="24" grpId="0" animBg="1"/>
      <p:bldP spid="25" grpId="0"/>
      <p:bldP spid="31" grpId="0" animBg="1"/>
      <p:bldP spid="33" grpId="0" animBg="1"/>
      <p:bldP spid="41" grpId="0" animBg="1"/>
      <p:bldP spid="42" grpId="0"/>
      <p:bldP spid="48" grpId="0" animBg="1"/>
      <p:bldP spid="50" grpId="0" animBg="1"/>
      <p:bldP spid="53" grpId="0" animBg="1"/>
      <p:bldP spid="54" grpId="0" animBg="1"/>
      <p:bldP spid="59" grpId="0"/>
      <p:bldP spid="64" grpId="0" animBg="1"/>
      <p:bldP spid="66" grpId="0" animBg="1"/>
      <p:bldP spid="71" grpId="0"/>
      <p:bldP spid="76" grpId="0" animBg="1"/>
      <p:bldP spid="78" grpId="0"/>
      <p:bldP spid="100" grpId="0"/>
      <p:bldP spid="3" grpId="0"/>
      <p:bldP spid="67" grpId="0"/>
      <p:bldP spid="6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0BA02A-5750-44FC-811E-1127D6CD8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2536" y="-4347864"/>
            <a:ext cx="9775192" cy="10976794"/>
          </a:xfrm>
          <a:prstGeom prst="rect">
            <a:avLst/>
          </a:prstGeom>
        </p:spPr>
      </p:pic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7571A49E-00EB-49B6-A65D-A3490E9046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82420" y="6336792"/>
            <a:ext cx="2133600" cy="368808"/>
          </a:xfrm>
        </p:spPr>
        <p:txBody>
          <a:bodyPr/>
          <a:lstStyle/>
          <a:p>
            <a:fld id="{78ADDFEA-6932-4013-9B0E-E9F9C48327E4}" type="slidenum">
              <a:rPr lang="zh-CN" altLang="en-US" smtClean="0"/>
              <a:pPr/>
              <a:t>67</a:t>
            </a:fld>
            <a:endParaRPr lang="en-US" altLang="zh-CN"/>
          </a:p>
        </p:txBody>
      </p:sp>
      <p:sp>
        <p:nvSpPr>
          <p:cNvPr id="67" name="灯片编号占位符 3">
            <a:extLst>
              <a:ext uri="{FF2B5EF4-FFF2-40B4-BE49-F238E27FC236}">
                <a16:creationId xmlns:a16="http://schemas.microsoft.com/office/drawing/2014/main" id="{32B8CF69-D35C-4390-AFD1-71183FF6BFF5}"/>
              </a:ext>
            </a:extLst>
          </p:cNvPr>
          <p:cNvSpPr txBox="1">
            <a:spLocks/>
          </p:cNvSpPr>
          <p:nvPr/>
        </p:nvSpPr>
        <p:spPr bwMode="auto">
          <a:xfrm>
            <a:off x="6282420" y="6336792"/>
            <a:ext cx="2133600" cy="368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fld id="{78ADDFEA-6932-4013-9B0E-E9F9C48327E4}" type="slidenum">
              <a:rPr lang="zh-CN" altLang="en-US" smtClean="0"/>
              <a:pPr/>
              <a:t>67</a:t>
            </a:fld>
            <a:endParaRPr lang="en-US" altLang="zh-CN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F9DEF87-9AE7-465E-98DC-E27F163FA4BB}"/>
              </a:ext>
            </a:extLst>
          </p:cNvPr>
          <p:cNvSpPr/>
          <p:nvPr/>
        </p:nvSpPr>
        <p:spPr bwMode="auto">
          <a:xfrm>
            <a:off x="4917740" y="2060847"/>
            <a:ext cx="4622812" cy="4797153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127000"/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69" name="表格 9">
            <a:extLst>
              <a:ext uri="{FF2B5EF4-FFF2-40B4-BE49-F238E27FC236}">
                <a16:creationId xmlns:a16="http://schemas.microsoft.com/office/drawing/2014/main" id="{B66982D0-1A1B-4C5B-A429-F5BA81109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07604"/>
              </p:ext>
            </p:extLst>
          </p:nvPr>
        </p:nvGraphicFramePr>
        <p:xfrm>
          <a:off x="5088419" y="2940857"/>
          <a:ext cx="380406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7837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49654169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9900"/>
                          </a:solidFill>
                        </a:rPr>
                        <a:t>Tag</a:t>
                      </a:r>
                      <a:endParaRPr lang="zh-CN" altLang="en-US" sz="2000" b="1" dirty="0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</a:rPr>
                        <a:t>Index</a:t>
                      </a:r>
                      <a:endParaRPr lang="zh-CN" altLang="en-US" sz="1800" b="1" dirty="0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9900"/>
                          </a:solidFill>
                        </a:rPr>
                        <a:t>块内地址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sp>
        <p:nvSpPr>
          <p:cNvPr id="70" name="矩形 69">
            <a:extLst>
              <a:ext uri="{FF2B5EF4-FFF2-40B4-BE49-F238E27FC236}">
                <a16:creationId xmlns:a16="http://schemas.microsoft.com/office/drawing/2014/main" id="{CBA527B4-46A0-4555-B341-E283E2F8D0A8}"/>
              </a:ext>
            </a:extLst>
          </p:cNvPr>
          <p:cNvSpPr/>
          <p:nvPr/>
        </p:nvSpPr>
        <p:spPr>
          <a:xfrm>
            <a:off x="4975945" y="2204864"/>
            <a:ext cx="31806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rgbClr val="009900"/>
                </a:solidFill>
              </a:rPr>
              <a:t>L2-Cache</a:t>
            </a:r>
            <a:r>
              <a:rPr lang="zh-CN" altLang="en-US" sz="2000" dirty="0">
                <a:solidFill>
                  <a:srgbClr val="009900"/>
                </a:solidFill>
              </a:rPr>
              <a:t>：</a:t>
            </a:r>
            <a:r>
              <a:rPr lang="en-US" altLang="zh-CN" sz="2000" dirty="0">
                <a:solidFill>
                  <a:srgbClr val="009900"/>
                </a:solidFill>
              </a:rPr>
              <a:t>256KB</a:t>
            </a:r>
            <a:r>
              <a:rPr lang="zh-CN" altLang="en-US" sz="2000" dirty="0">
                <a:solidFill>
                  <a:srgbClr val="009900"/>
                </a:solidFill>
              </a:rPr>
              <a:t>，</a:t>
            </a:r>
            <a:r>
              <a:rPr lang="en-US" altLang="zh-CN" sz="2000" dirty="0">
                <a:solidFill>
                  <a:srgbClr val="009900"/>
                </a:solidFill>
              </a:rPr>
              <a:t>4-way</a:t>
            </a:r>
            <a:endParaRPr lang="zh-CN" altLang="en-US" sz="2000" dirty="0">
              <a:solidFill>
                <a:srgbClr val="009900"/>
              </a:solidFill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44A0C62B-6EFC-407F-BF1E-9AFC720F8738}"/>
              </a:ext>
            </a:extLst>
          </p:cNvPr>
          <p:cNvCxnSpPr/>
          <p:nvPr/>
        </p:nvCxnSpPr>
        <p:spPr bwMode="auto">
          <a:xfrm>
            <a:off x="5076056" y="342369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990BFC6D-2BB4-4E4D-B709-EF98A6376280}"/>
              </a:ext>
            </a:extLst>
          </p:cNvPr>
          <p:cNvCxnSpPr/>
          <p:nvPr/>
        </p:nvCxnSpPr>
        <p:spPr bwMode="auto">
          <a:xfrm>
            <a:off x="7884368" y="3417881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A1308E79-57B3-4610-B0C7-E97535D9E99B}"/>
              </a:ext>
            </a:extLst>
          </p:cNvPr>
          <p:cNvCxnSpPr/>
          <p:nvPr/>
        </p:nvCxnSpPr>
        <p:spPr bwMode="auto">
          <a:xfrm>
            <a:off x="8892480" y="342369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FCCEB200-CB0E-41C4-A688-651D3403F458}"/>
              </a:ext>
            </a:extLst>
          </p:cNvPr>
          <p:cNvCxnSpPr>
            <a:cxnSpLocks/>
          </p:cNvCxnSpPr>
          <p:nvPr/>
        </p:nvCxnSpPr>
        <p:spPr bwMode="auto">
          <a:xfrm>
            <a:off x="5076056" y="3551721"/>
            <a:ext cx="1800200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CE2A7504-9541-42F0-986F-56DE2CF7FF95}"/>
              </a:ext>
            </a:extLst>
          </p:cNvPr>
          <p:cNvSpPr/>
          <p:nvPr/>
        </p:nvSpPr>
        <p:spPr>
          <a:xfrm>
            <a:off x="5652120" y="3409255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20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1EF1EEAA-4579-4A9E-9CE6-C3F658356F3C}"/>
              </a:ext>
            </a:extLst>
          </p:cNvPr>
          <p:cNvCxnSpPr>
            <a:cxnSpLocks/>
          </p:cNvCxnSpPr>
          <p:nvPr/>
        </p:nvCxnSpPr>
        <p:spPr bwMode="auto">
          <a:xfrm flipV="1">
            <a:off x="7884368" y="3553772"/>
            <a:ext cx="1008112" cy="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5E3A02BC-0FCD-4502-8127-5277725473CD}"/>
              </a:ext>
            </a:extLst>
          </p:cNvPr>
          <p:cNvSpPr/>
          <p:nvPr/>
        </p:nvSpPr>
        <p:spPr>
          <a:xfrm>
            <a:off x="8145421" y="3407208"/>
            <a:ext cx="45902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6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D06E2523-134C-435C-9F0A-9103A72FAA91}"/>
              </a:ext>
            </a:extLst>
          </p:cNvPr>
          <p:cNvCxnSpPr/>
          <p:nvPr/>
        </p:nvCxnSpPr>
        <p:spPr bwMode="auto">
          <a:xfrm>
            <a:off x="6876256" y="3417881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B9A6C17D-2E00-47D5-9311-966597ABE528}"/>
              </a:ext>
            </a:extLst>
          </p:cNvPr>
          <p:cNvCxnSpPr>
            <a:cxnSpLocks/>
          </p:cNvCxnSpPr>
          <p:nvPr/>
        </p:nvCxnSpPr>
        <p:spPr bwMode="auto">
          <a:xfrm>
            <a:off x="6876256" y="3551921"/>
            <a:ext cx="1015868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D532DD8F-BBF2-4318-9E86-ACE4FB8BD58A}"/>
              </a:ext>
            </a:extLst>
          </p:cNvPr>
          <p:cNvSpPr/>
          <p:nvPr/>
        </p:nvSpPr>
        <p:spPr>
          <a:xfrm>
            <a:off x="7092280" y="3407208"/>
            <a:ext cx="587268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10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C6F070B7-F7C5-4F15-ABFD-7F1C31BE6DAE}"/>
              </a:ext>
            </a:extLst>
          </p:cNvPr>
          <p:cNvCxnSpPr/>
          <p:nvPr/>
        </p:nvCxnSpPr>
        <p:spPr bwMode="auto">
          <a:xfrm>
            <a:off x="6876256" y="2589597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41127B45-18E0-4672-9B5B-CABE41286F98}"/>
              </a:ext>
            </a:extLst>
          </p:cNvPr>
          <p:cNvCxnSpPr/>
          <p:nvPr/>
        </p:nvCxnSpPr>
        <p:spPr bwMode="auto">
          <a:xfrm>
            <a:off x="8892480" y="2595412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A30C4340-FAE5-4DF0-8DF0-44D84BB1EE3F}"/>
              </a:ext>
            </a:extLst>
          </p:cNvPr>
          <p:cNvCxnSpPr>
            <a:cxnSpLocks/>
          </p:cNvCxnSpPr>
          <p:nvPr/>
        </p:nvCxnSpPr>
        <p:spPr bwMode="auto">
          <a:xfrm>
            <a:off x="6876255" y="2725488"/>
            <a:ext cx="2016225" cy="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95" name="矩形 94">
            <a:extLst>
              <a:ext uri="{FF2B5EF4-FFF2-40B4-BE49-F238E27FC236}">
                <a16:creationId xmlns:a16="http://schemas.microsoft.com/office/drawing/2014/main" id="{D40D1AD4-4002-4307-AC1E-3219F97D9B76}"/>
              </a:ext>
            </a:extLst>
          </p:cNvPr>
          <p:cNvSpPr/>
          <p:nvPr/>
        </p:nvSpPr>
        <p:spPr>
          <a:xfrm>
            <a:off x="7596336" y="2578924"/>
            <a:ext cx="587268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16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graphicFrame>
        <p:nvGraphicFramePr>
          <p:cNvPr id="96" name="表格 9">
            <a:extLst>
              <a:ext uri="{FF2B5EF4-FFF2-40B4-BE49-F238E27FC236}">
                <a16:creationId xmlns:a16="http://schemas.microsoft.com/office/drawing/2014/main" id="{167A5667-B41B-49FE-A373-29E66B9BD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545148"/>
              </p:ext>
            </p:extLst>
          </p:nvPr>
        </p:nvGraphicFramePr>
        <p:xfrm>
          <a:off x="5088419" y="5317121"/>
          <a:ext cx="380406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3821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49654169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9900"/>
                          </a:solidFill>
                        </a:rPr>
                        <a:t>Tag</a:t>
                      </a:r>
                      <a:endParaRPr lang="zh-CN" altLang="en-US" sz="2000" b="1" dirty="0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</a:rPr>
                        <a:t>Index</a:t>
                      </a:r>
                      <a:endParaRPr lang="zh-CN" altLang="en-US" sz="1800" b="1" dirty="0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rgbClr val="009900"/>
                          </a:solidFill>
                        </a:rPr>
                        <a:t>块内地址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sp>
        <p:nvSpPr>
          <p:cNvPr id="97" name="矩形 96">
            <a:extLst>
              <a:ext uri="{FF2B5EF4-FFF2-40B4-BE49-F238E27FC236}">
                <a16:creationId xmlns:a16="http://schemas.microsoft.com/office/drawing/2014/main" id="{9B9A26C2-BBD7-4DB4-B533-60E7FF0E67B2}"/>
              </a:ext>
            </a:extLst>
          </p:cNvPr>
          <p:cNvSpPr/>
          <p:nvPr/>
        </p:nvSpPr>
        <p:spPr>
          <a:xfrm>
            <a:off x="4975945" y="4581128"/>
            <a:ext cx="30957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rgbClr val="009900"/>
                </a:solidFill>
              </a:rPr>
              <a:t>L3-Cache</a:t>
            </a:r>
            <a:r>
              <a:rPr lang="zh-CN" altLang="en-US" sz="2000" dirty="0">
                <a:solidFill>
                  <a:srgbClr val="009900"/>
                </a:solidFill>
              </a:rPr>
              <a:t>：</a:t>
            </a:r>
            <a:r>
              <a:rPr lang="en-US" altLang="zh-CN" sz="2000" dirty="0">
                <a:solidFill>
                  <a:srgbClr val="009900"/>
                </a:solidFill>
              </a:rPr>
              <a:t>8MB</a:t>
            </a:r>
            <a:r>
              <a:rPr lang="zh-CN" altLang="en-US" sz="2000" dirty="0">
                <a:solidFill>
                  <a:srgbClr val="009900"/>
                </a:solidFill>
              </a:rPr>
              <a:t>，</a:t>
            </a:r>
            <a:r>
              <a:rPr lang="en-US" altLang="zh-CN" sz="2000" dirty="0">
                <a:solidFill>
                  <a:srgbClr val="009900"/>
                </a:solidFill>
              </a:rPr>
              <a:t>16-way</a:t>
            </a:r>
            <a:endParaRPr lang="zh-CN" altLang="en-US" sz="2000" dirty="0">
              <a:solidFill>
                <a:srgbClr val="009900"/>
              </a:solidFill>
            </a:endParaRPr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5C769823-435B-47F6-9974-4FDDCEB81A06}"/>
              </a:ext>
            </a:extLst>
          </p:cNvPr>
          <p:cNvCxnSpPr/>
          <p:nvPr/>
        </p:nvCxnSpPr>
        <p:spPr bwMode="auto">
          <a:xfrm>
            <a:off x="5076056" y="5799960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8D199802-A612-4788-83C8-0C4221C42D55}"/>
              </a:ext>
            </a:extLst>
          </p:cNvPr>
          <p:cNvCxnSpPr/>
          <p:nvPr/>
        </p:nvCxnSpPr>
        <p:spPr bwMode="auto">
          <a:xfrm>
            <a:off x="7884368" y="5794145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8D95BE61-0283-4D7E-A32C-51B6BE54FD21}"/>
              </a:ext>
            </a:extLst>
          </p:cNvPr>
          <p:cNvCxnSpPr/>
          <p:nvPr/>
        </p:nvCxnSpPr>
        <p:spPr bwMode="auto">
          <a:xfrm>
            <a:off x="8892480" y="5799960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7703E7CA-6FC3-4CF0-9367-F2B75EF4CE2C}"/>
              </a:ext>
            </a:extLst>
          </p:cNvPr>
          <p:cNvCxnSpPr>
            <a:cxnSpLocks/>
          </p:cNvCxnSpPr>
          <p:nvPr/>
        </p:nvCxnSpPr>
        <p:spPr bwMode="auto">
          <a:xfrm>
            <a:off x="5076056" y="5927985"/>
            <a:ext cx="1656183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03" name="矩形 102">
            <a:extLst>
              <a:ext uri="{FF2B5EF4-FFF2-40B4-BE49-F238E27FC236}">
                <a16:creationId xmlns:a16="http://schemas.microsoft.com/office/drawing/2014/main" id="{01F828EB-BFB5-4779-9A88-EE4D17D2DD73}"/>
              </a:ext>
            </a:extLst>
          </p:cNvPr>
          <p:cNvSpPr/>
          <p:nvPr/>
        </p:nvSpPr>
        <p:spPr>
          <a:xfrm>
            <a:off x="5640221" y="5785519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17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7DD498E0-BDB4-454A-8A4F-D2EABB9F5395}"/>
              </a:ext>
            </a:extLst>
          </p:cNvPr>
          <p:cNvCxnSpPr>
            <a:cxnSpLocks/>
          </p:cNvCxnSpPr>
          <p:nvPr/>
        </p:nvCxnSpPr>
        <p:spPr bwMode="auto">
          <a:xfrm flipV="1">
            <a:off x="7884368" y="5930036"/>
            <a:ext cx="1008112" cy="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06" name="矩形 105">
            <a:extLst>
              <a:ext uri="{FF2B5EF4-FFF2-40B4-BE49-F238E27FC236}">
                <a16:creationId xmlns:a16="http://schemas.microsoft.com/office/drawing/2014/main" id="{19D8A6A2-C59E-4A0A-A6C9-CC30A6CC036D}"/>
              </a:ext>
            </a:extLst>
          </p:cNvPr>
          <p:cNvSpPr/>
          <p:nvPr/>
        </p:nvSpPr>
        <p:spPr>
          <a:xfrm>
            <a:off x="8145421" y="5783472"/>
            <a:ext cx="45902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6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9ED79A8F-1D52-40F8-A8D8-8E335A8285B4}"/>
              </a:ext>
            </a:extLst>
          </p:cNvPr>
          <p:cNvCxnSpPr/>
          <p:nvPr/>
        </p:nvCxnSpPr>
        <p:spPr bwMode="auto">
          <a:xfrm>
            <a:off x="6732240" y="5794145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51C681BD-26AA-47FE-B731-EA2426EC3AAA}"/>
              </a:ext>
            </a:extLst>
          </p:cNvPr>
          <p:cNvCxnSpPr>
            <a:cxnSpLocks/>
          </p:cNvCxnSpPr>
          <p:nvPr/>
        </p:nvCxnSpPr>
        <p:spPr bwMode="auto">
          <a:xfrm>
            <a:off x="6732239" y="5928185"/>
            <a:ext cx="1159885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09" name="矩形 108">
            <a:extLst>
              <a:ext uri="{FF2B5EF4-FFF2-40B4-BE49-F238E27FC236}">
                <a16:creationId xmlns:a16="http://schemas.microsoft.com/office/drawing/2014/main" id="{8BDCA2F7-C9E7-4AB7-9627-B590833938EC}"/>
              </a:ext>
            </a:extLst>
          </p:cNvPr>
          <p:cNvSpPr/>
          <p:nvPr/>
        </p:nvSpPr>
        <p:spPr>
          <a:xfrm>
            <a:off x="7020272" y="5783472"/>
            <a:ext cx="587268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13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C28BF42E-0ACC-460A-937A-9F8F418A325A}"/>
              </a:ext>
            </a:extLst>
          </p:cNvPr>
          <p:cNvCxnSpPr/>
          <p:nvPr/>
        </p:nvCxnSpPr>
        <p:spPr bwMode="auto">
          <a:xfrm>
            <a:off x="6732240" y="4965861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00BD645B-8340-4BE3-83CD-33D5580A916D}"/>
              </a:ext>
            </a:extLst>
          </p:cNvPr>
          <p:cNvCxnSpPr/>
          <p:nvPr/>
        </p:nvCxnSpPr>
        <p:spPr bwMode="auto">
          <a:xfrm>
            <a:off x="8892480" y="497167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66839EA6-2F6A-474A-B6A4-422DD3B72C7A}"/>
              </a:ext>
            </a:extLst>
          </p:cNvPr>
          <p:cNvCxnSpPr>
            <a:cxnSpLocks/>
          </p:cNvCxnSpPr>
          <p:nvPr/>
        </p:nvCxnSpPr>
        <p:spPr bwMode="auto">
          <a:xfrm>
            <a:off x="6732239" y="5101753"/>
            <a:ext cx="2160241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BF565D11-E83D-497A-BEEC-1B493E54D6DF}"/>
              </a:ext>
            </a:extLst>
          </p:cNvPr>
          <p:cNvSpPr/>
          <p:nvPr/>
        </p:nvSpPr>
        <p:spPr>
          <a:xfrm>
            <a:off x="7452320" y="4955188"/>
            <a:ext cx="587268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19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BA8ECE9-44A7-4583-B5E2-68192DEDE208}"/>
              </a:ext>
            </a:extLst>
          </p:cNvPr>
          <p:cNvSpPr/>
          <p:nvPr/>
        </p:nvSpPr>
        <p:spPr>
          <a:xfrm>
            <a:off x="5320873" y="3721219"/>
            <a:ext cx="2917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i="1" dirty="0"/>
              <a:t>Access latency：</a:t>
            </a:r>
            <a:r>
              <a:rPr lang="en-US" altLang="zh-CN" sz="2000" i="1" dirty="0"/>
              <a:t>12</a:t>
            </a:r>
            <a:r>
              <a:rPr lang="zh-CN" altLang="en-US" sz="2000" i="1" dirty="0"/>
              <a:t> cycle</a:t>
            </a:r>
            <a:r>
              <a:rPr lang="en-US" altLang="zh-CN" sz="2000" i="1" dirty="0"/>
              <a:t>s</a:t>
            </a:r>
            <a:endParaRPr lang="zh-CN" altLang="en-US" sz="2000" i="1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49C4957-6CD6-458E-B0CA-5C1DE6DFB7B4}"/>
              </a:ext>
            </a:extLst>
          </p:cNvPr>
          <p:cNvSpPr/>
          <p:nvPr/>
        </p:nvSpPr>
        <p:spPr>
          <a:xfrm>
            <a:off x="5320873" y="6040585"/>
            <a:ext cx="2917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i="1" dirty="0"/>
              <a:t>Access latency：</a:t>
            </a:r>
            <a:r>
              <a:rPr lang="en-US" altLang="zh-CN" sz="2000" i="1" dirty="0"/>
              <a:t>44</a:t>
            </a:r>
            <a:r>
              <a:rPr lang="zh-CN" altLang="en-US" sz="2000" i="1" dirty="0"/>
              <a:t> cycle</a:t>
            </a:r>
            <a:r>
              <a:rPr lang="en-US" altLang="zh-CN" sz="2000" i="1" dirty="0"/>
              <a:t>s</a:t>
            </a:r>
            <a:endParaRPr lang="zh-CN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1392786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0" grpId="0"/>
      <p:bldP spid="85" grpId="0" animBg="1"/>
      <p:bldP spid="87" grpId="0" animBg="1"/>
      <p:bldP spid="90" grpId="0" animBg="1"/>
      <p:bldP spid="95" grpId="0" animBg="1"/>
      <p:bldP spid="97" grpId="0"/>
      <p:bldP spid="103" grpId="0" animBg="1"/>
      <p:bldP spid="106" grpId="0" animBg="1"/>
      <p:bldP spid="109" grpId="0" animBg="1"/>
      <p:bldP spid="113" grpId="0" animBg="1"/>
      <p:bldP spid="38" grpId="0"/>
      <p:bldP spid="3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0BA02A-5750-44FC-811E-1127D6CD8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25144" y="44623"/>
            <a:ext cx="10801200" cy="12128922"/>
          </a:xfrm>
          <a:prstGeom prst="rect">
            <a:avLst/>
          </a:prstGeom>
        </p:spPr>
      </p:pic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7571A49E-00EB-49B6-A65D-A3490E9046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82420" y="6336792"/>
            <a:ext cx="2133600" cy="368808"/>
          </a:xfrm>
        </p:spPr>
        <p:txBody>
          <a:bodyPr/>
          <a:lstStyle/>
          <a:p>
            <a:fld id="{78ADDFEA-6932-4013-9B0E-E9F9C48327E4}" type="slidenum">
              <a:rPr lang="zh-CN" altLang="en-US" smtClean="0"/>
              <a:pPr/>
              <a:t>68</a:t>
            </a:fld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1D0057-DF34-44C2-85B1-7E55AABA5286}"/>
              </a:ext>
            </a:extLst>
          </p:cNvPr>
          <p:cNvSpPr/>
          <p:nvPr/>
        </p:nvSpPr>
        <p:spPr bwMode="auto">
          <a:xfrm>
            <a:off x="4499992" y="1"/>
            <a:ext cx="5040560" cy="6858000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127000"/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DE5912-C00E-4FEB-A4D6-D4B9EA081894}"/>
              </a:ext>
            </a:extLst>
          </p:cNvPr>
          <p:cNvSpPr/>
          <p:nvPr/>
        </p:nvSpPr>
        <p:spPr>
          <a:xfrm>
            <a:off x="4917740" y="116632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rgbClr val="0000FF"/>
                </a:solidFill>
              </a:rPr>
              <a:t>虚拟地址：</a:t>
            </a: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A81DE964-3A42-4402-93B4-A1C4B2B0BD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805276" y="518295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8310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1278894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虚页号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graphicFrame>
        <p:nvGraphicFramePr>
          <p:cNvPr id="14" name="表格 9">
            <a:extLst>
              <a:ext uri="{FF2B5EF4-FFF2-40B4-BE49-F238E27FC236}">
                <a16:creationId xmlns:a16="http://schemas.microsoft.com/office/drawing/2014/main" id="{4D5019A1-313B-4ABA-9310-377C56BE4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907179"/>
              </p:ext>
            </p:extLst>
          </p:nvPr>
        </p:nvGraphicFramePr>
        <p:xfrm>
          <a:off x="5448459" y="5470281"/>
          <a:ext cx="344402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7877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49654169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9900"/>
                          </a:solidFill>
                        </a:rPr>
                        <a:t>Tag</a:t>
                      </a:r>
                      <a:endParaRPr lang="zh-CN" altLang="en-US" sz="2000" b="1" dirty="0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9900"/>
                          </a:solidFill>
                        </a:rPr>
                        <a:t>Index</a:t>
                      </a:r>
                      <a:endParaRPr lang="zh-CN" altLang="en-US" sz="1800" b="1" dirty="0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1" dirty="0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291FB22-4D4E-4A64-B373-CBE54CC97A65}"/>
              </a:ext>
            </a:extLst>
          </p:cNvPr>
          <p:cNvCxnSpPr/>
          <p:nvPr/>
        </p:nvCxnSpPr>
        <p:spPr bwMode="auto">
          <a:xfrm>
            <a:off x="4805276" y="986543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B5DF36-84D0-446C-B58E-8B63E4290FC8}"/>
              </a:ext>
            </a:extLst>
          </p:cNvPr>
          <p:cNvCxnSpPr/>
          <p:nvPr/>
        </p:nvCxnSpPr>
        <p:spPr bwMode="auto">
          <a:xfrm>
            <a:off x="7613588" y="980728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E5415BB-62ED-4955-AF46-B37C41E055A7}"/>
              </a:ext>
            </a:extLst>
          </p:cNvPr>
          <p:cNvCxnSpPr/>
          <p:nvPr/>
        </p:nvCxnSpPr>
        <p:spPr bwMode="auto">
          <a:xfrm>
            <a:off x="8892480" y="986543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41DBEB3-633C-401A-A521-C5B4B901D245}"/>
              </a:ext>
            </a:extLst>
          </p:cNvPr>
          <p:cNvCxnSpPr/>
          <p:nvPr/>
        </p:nvCxnSpPr>
        <p:spPr bwMode="auto">
          <a:xfrm>
            <a:off x="4805276" y="1121836"/>
            <a:ext cx="280831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B15C845-BF13-473D-A02D-7FC51234AFB4}"/>
              </a:ext>
            </a:extLst>
          </p:cNvPr>
          <p:cNvSpPr/>
          <p:nvPr/>
        </p:nvSpPr>
        <p:spPr>
          <a:xfrm>
            <a:off x="5873497" y="963476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36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6A763FE-6B6D-4BC5-865A-C27502AA7D48}"/>
              </a:ext>
            </a:extLst>
          </p:cNvPr>
          <p:cNvCxnSpPr>
            <a:cxnSpLocks/>
          </p:cNvCxnSpPr>
          <p:nvPr/>
        </p:nvCxnSpPr>
        <p:spPr bwMode="auto">
          <a:xfrm flipV="1">
            <a:off x="7613587" y="1111964"/>
            <a:ext cx="1278893" cy="151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9D7ACC88-920D-4F13-B4F5-9550DFC0A372}"/>
              </a:ext>
            </a:extLst>
          </p:cNvPr>
          <p:cNvSpPr/>
          <p:nvPr/>
        </p:nvSpPr>
        <p:spPr>
          <a:xfrm>
            <a:off x="7944477" y="963476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12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836363-C8DB-4FDB-B72C-A5C82EA1504E}"/>
              </a:ext>
            </a:extLst>
          </p:cNvPr>
          <p:cNvSpPr/>
          <p:nvPr/>
        </p:nvSpPr>
        <p:spPr>
          <a:xfrm>
            <a:off x="4917740" y="1395109"/>
            <a:ext cx="13420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rgbClr val="0000FF"/>
                </a:solidFill>
              </a:rPr>
              <a:t>L1-TLB</a:t>
            </a:r>
            <a:r>
              <a:rPr lang="zh-CN" altLang="en-US" sz="2000" dirty="0">
                <a:solidFill>
                  <a:srgbClr val="0000FF"/>
                </a:solidFill>
              </a:rPr>
              <a:t>：</a:t>
            </a:r>
          </a:p>
        </p:txBody>
      </p:sp>
      <p:graphicFrame>
        <p:nvGraphicFramePr>
          <p:cNvPr id="26" name="表格 9">
            <a:extLst>
              <a:ext uri="{FF2B5EF4-FFF2-40B4-BE49-F238E27FC236}">
                <a16:creationId xmlns:a16="http://schemas.microsoft.com/office/drawing/2014/main" id="{A13A35FF-D00B-4F20-B969-69017C07357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805276" y="1770970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792086">
                  <a:extLst>
                    <a:ext uri="{9D8B030D-6E8A-4147-A177-3AD203B41FA5}">
                      <a16:colId xmlns:a16="http://schemas.microsoft.com/office/drawing/2014/main" val="3496541694"/>
                    </a:ext>
                  </a:extLst>
                </a:gridCol>
                <a:gridCol w="1278894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FF"/>
                          </a:solidFill>
                        </a:rPr>
                        <a:t>Tag</a:t>
                      </a:r>
                      <a:endParaRPr lang="zh-CN" altLang="en-US" sz="20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0000FF"/>
                          </a:solidFill>
                        </a:rPr>
                        <a:t>Index</a:t>
                      </a:r>
                      <a:endParaRPr lang="zh-CN" altLang="en-US" sz="20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239F01E-D99D-446D-ACBE-D15114D1D715}"/>
              </a:ext>
            </a:extLst>
          </p:cNvPr>
          <p:cNvCxnSpPr/>
          <p:nvPr/>
        </p:nvCxnSpPr>
        <p:spPr bwMode="auto">
          <a:xfrm>
            <a:off x="4805276" y="2220855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99F8BE2-C5A7-44AE-9AA5-128E4E4A4B6D}"/>
              </a:ext>
            </a:extLst>
          </p:cNvPr>
          <p:cNvCxnSpPr/>
          <p:nvPr/>
        </p:nvCxnSpPr>
        <p:spPr bwMode="auto">
          <a:xfrm>
            <a:off x="7613588" y="2215040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CCA2ADF-7AAC-4611-A6F4-8C0E1945CB5A}"/>
              </a:ext>
            </a:extLst>
          </p:cNvPr>
          <p:cNvCxnSpPr/>
          <p:nvPr/>
        </p:nvCxnSpPr>
        <p:spPr bwMode="auto">
          <a:xfrm>
            <a:off x="8892480" y="2220855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F3E70E7-3A63-4D51-AD07-575DB96A27F4}"/>
              </a:ext>
            </a:extLst>
          </p:cNvPr>
          <p:cNvCxnSpPr>
            <a:cxnSpLocks/>
          </p:cNvCxnSpPr>
          <p:nvPr/>
        </p:nvCxnSpPr>
        <p:spPr bwMode="auto">
          <a:xfrm>
            <a:off x="4805276" y="2348880"/>
            <a:ext cx="2016224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49D9A0A8-059B-4FE9-A117-99700AAFA54A}"/>
              </a:ext>
            </a:extLst>
          </p:cNvPr>
          <p:cNvSpPr/>
          <p:nvPr/>
        </p:nvSpPr>
        <p:spPr>
          <a:xfrm>
            <a:off x="5487852" y="220641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32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C2810C1-0231-4352-9872-B2E6C9CCA46B}"/>
              </a:ext>
            </a:extLst>
          </p:cNvPr>
          <p:cNvCxnSpPr>
            <a:cxnSpLocks/>
          </p:cNvCxnSpPr>
          <p:nvPr/>
        </p:nvCxnSpPr>
        <p:spPr bwMode="auto">
          <a:xfrm flipV="1">
            <a:off x="7611848" y="2336100"/>
            <a:ext cx="1280632" cy="1519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EC256812-B938-466E-9057-823C347A114A}"/>
              </a:ext>
            </a:extLst>
          </p:cNvPr>
          <p:cNvSpPr/>
          <p:nvPr/>
        </p:nvSpPr>
        <p:spPr>
          <a:xfrm>
            <a:off x="7944477" y="220641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12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89AAFB8-95A1-434E-B30B-23278686213D}"/>
              </a:ext>
            </a:extLst>
          </p:cNvPr>
          <p:cNvCxnSpPr/>
          <p:nvPr/>
        </p:nvCxnSpPr>
        <p:spPr bwMode="auto">
          <a:xfrm>
            <a:off x="6821500" y="2215040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0DBE269-0040-4935-9CF5-52A2DFAE5448}"/>
              </a:ext>
            </a:extLst>
          </p:cNvPr>
          <p:cNvCxnSpPr>
            <a:cxnSpLocks/>
          </p:cNvCxnSpPr>
          <p:nvPr/>
        </p:nvCxnSpPr>
        <p:spPr bwMode="auto">
          <a:xfrm>
            <a:off x="6821499" y="2348880"/>
            <a:ext cx="792088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5CCBB357-0F79-4C8A-95F5-38D3511DADB4}"/>
              </a:ext>
            </a:extLst>
          </p:cNvPr>
          <p:cNvSpPr/>
          <p:nvPr/>
        </p:nvSpPr>
        <p:spPr>
          <a:xfrm>
            <a:off x="7023945" y="2206414"/>
            <a:ext cx="386324" cy="3077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4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graphicFrame>
        <p:nvGraphicFramePr>
          <p:cNvPr id="58" name="表格 9">
            <a:extLst>
              <a:ext uri="{FF2B5EF4-FFF2-40B4-BE49-F238E27FC236}">
                <a16:creationId xmlns:a16="http://schemas.microsoft.com/office/drawing/2014/main" id="{300BEBC6-AD0A-43B7-B2CE-627DE137A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347712"/>
              </p:ext>
            </p:extLst>
          </p:nvPr>
        </p:nvGraphicFramePr>
        <p:xfrm>
          <a:off x="5448459" y="4191985"/>
          <a:ext cx="344402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1281">
                  <a:extLst>
                    <a:ext uri="{9D8B030D-6E8A-4147-A177-3AD203B41FA5}">
                      <a16:colId xmlns:a16="http://schemas.microsoft.com/office/drawing/2014/main" val="3916267404"/>
                    </a:ext>
                  </a:extLst>
                </a:gridCol>
                <a:gridCol w="1282740">
                  <a:extLst>
                    <a:ext uri="{9D8B030D-6E8A-4147-A177-3AD203B41FA5}">
                      <a16:colId xmlns:a16="http://schemas.microsoft.com/office/drawing/2014/main" val="223308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9900"/>
                          </a:solidFill>
                        </a:rPr>
                        <a:t>实页号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009900"/>
                          </a:solidFill>
                        </a:rPr>
                        <a:t>页内地址</a:t>
                      </a: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292072"/>
                  </a:ext>
                </a:extLst>
              </a:tr>
            </a:tbl>
          </a:graphicData>
        </a:graphic>
      </p:graphicFrame>
      <p:sp>
        <p:nvSpPr>
          <p:cNvPr id="59" name="矩形 58">
            <a:extLst>
              <a:ext uri="{FF2B5EF4-FFF2-40B4-BE49-F238E27FC236}">
                <a16:creationId xmlns:a16="http://schemas.microsoft.com/office/drawing/2014/main" id="{960D1B26-4D59-4803-8D35-2635D652B8A0}"/>
              </a:ext>
            </a:extLst>
          </p:cNvPr>
          <p:cNvSpPr/>
          <p:nvPr/>
        </p:nvSpPr>
        <p:spPr>
          <a:xfrm>
            <a:off x="4917740" y="3789040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rgbClr val="009900"/>
                </a:solidFill>
              </a:rPr>
              <a:t>主存地址：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80CC8A9-A509-4A8A-95C4-E8AC71A1EC79}"/>
              </a:ext>
            </a:extLst>
          </p:cNvPr>
          <p:cNvCxnSpPr/>
          <p:nvPr/>
        </p:nvCxnSpPr>
        <p:spPr bwMode="auto">
          <a:xfrm>
            <a:off x="5453348" y="466768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94C505F4-0E4F-490F-BE13-0EA36DFF3D1F}"/>
              </a:ext>
            </a:extLst>
          </p:cNvPr>
          <p:cNvCxnSpPr/>
          <p:nvPr/>
        </p:nvCxnSpPr>
        <p:spPr bwMode="auto">
          <a:xfrm>
            <a:off x="7613588" y="4661871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B2A3AC8-2C37-4226-A1B9-5093CA3AC759}"/>
              </a:ext>
            </a:extLst>
          </p:cNvPr>
          <p:cNvCxnSpPr/>
          <p:nvPr/>
        </p:nvCxnSpPr>
        <p:spPr bwMode="auto">
          <a:xfrm>
            <a:off x="8892480" y="466768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EF8E7890-C40A-4DFD-8172-D6F6A30717CD}"/>
              </a:ext>
            </a:extLst>
          </p:cNvPr>
          <p:cNvCxnSpPr>
            <a:cxnSpLocks/>
          </p:cNvCxnSpPr>
          <p:nvPr/>
        </p:nvCxnSpPr>
        <p:spPr bwMode="auto">
          <a:xfrm>
            <a:off x="5448459" y="4802979"/>
            <a:ext cx="2165129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1584A246-CE76-485A-9B96-8361A7386C6B}"/>
              </a:ext>
            </a:extLst>
          </p:cNvPr>
          <p:cNvSpPr/>
          <p:nvPr/>
        </p:nvSpPr>
        <p:spPr>
          <a:xfrm>
            <a:off x="6225184" y="4644619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24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33AD393-9D00-4A2F-960C-1024BE1C80C3}"/>
              </a:ext>
            </a:extLst>
          </p:cNvPr>
          <p:cNvCxnSpPr>
            <a:cxnSpLocks/>
          </p:cNvCxnSpPr>
          <p:nvPr/>
        </p:nvCxnSpPr>
        <p:spPr bwMode="auto">
          <a:xfrm flipV="1">
            <a:off x="7618477" y="4793107"/>
            <a:ext cx="1274003" cy="15113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57B07C51-3395-41B2-BC85-C9AC3095999F}"/>
              </a:ext>
            </a:extLst>
          </p:cNvPr>
          <p:cNvSpPr/>
          <p:nvPr/>
        </p:nvSpPr>
        <p:spPr>
          <a:xfrm>
            <a:off x="7944477" y="4644619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12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DAC9E8F-2B29-43DD-A3BC-C4E3EF35D77D}"/>
              </a:ext>
            </a:extLst>
          </p:cNvPr>
          <p:cNvSpPr/>
          <p:nvPr/>
        </p:nvSpPr>
        <p:spPr>
          <a:xfrm>
            <a:off x="4917740" y="5020273"/>
            <a:ext cx="30524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rgbClr val="009900"/>
                </a:solidFill>
              </a:rPr>
              <a:t>L1-Cache</a:t>
            </a:r>
            <a:r>
              <a:rPr lang="zh-CN" altLang="en-US" sz="2000" dirty="0">
                <a:solidFill>
                  <a:srgbClr val="009900"/>
                </a:solidFill>
              </a:rPr>
              <a:t>：</a:t>
            </a:r>
            <a:r>
              <a:rPr lang="en-US" altLang="zh-CN" sz="2000" dirty="0">
                <a:solidFill>
                  <a:srgbClr val="009900"/>
                </a:solidFill>
              </a:rPr>
              <a:t>32KB</a:t>
            </a:r>
            <a:r>
              <a:rPr lang="zh-CN" altLang="en-US" sz="2000" dirty="0">
                <a:solidFill>
                  <a:srgbClr val="009900"/>
                </a:solidFill>
              </a:rPr>
              <a:t>，</a:t>
            </a:r>
            <a:r>
              <a:rPr lang="en-US" altLang="zh-CN" sz="2000" dirty="0">
                <a:solidFill>
                  <a:srgbClr val="009900"/>
                </a:solidFill>
              </a:rPr>
              <a:t>8-way</a:t>
            </a:r>
            <a:endParaRPr lang="zh-CN" altLang="en-US" sz="2000" dirty="0">
              <a:solidFill>
                <a:srgbClr val="009900"/>
              </a:solidFill>
            </a:endParaRP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BFE7136-9F8F-467F-BA88-209144E4BE10}"/>
              </a:ext>
            </a:extLst>
          </p:cNvPr>
          <p:cNvCxnSpPr/>
          <p:nvPr/>
        </p:nvCxnSpPr>
        <p:spPr bwMode="auto">
          <a:xfrm>
            <a:off x="5436096" y="5953120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A1AAD1AF-4F30-4D46-83D1-A91E69EE7309}"/>
              </a:ext>
            </a:extLst>
          </p:cNvPr>
          <p:cNvCxnSpPr/>
          <p:nvPr/>
        </p:nvCxnSpPr>
        <p:spPr bwMode="auto">
          <a:xfrm>
            <a:off x="8244408" y="5947305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E02D78B-C3D9-4AA4-9376-E78642F1968E}"/>
              </a:ext>
            </a:extLst>
          </p:cNvPr>
          <p:cNvCxnSpPr/>
          <p:nvPr/>
        </p:nvCxnSpPr>
        <p:spPr bwMode="auto">
          <a:xfrm>
            <a:off x="8892480" y="5953120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550B54F-CE5F-4308-9D10-2EFDB6202528}"/>
              </a:ext>
            </a:extLst>
          </p:cNvPr>
          <p:cNvCxnSpPr>
            <a:cxnSpLocks/>
          </p:cNvCxnSpPr>
          <p:nvPr/>
        </p:nvCxnSpPr>
        <p:spPr bwMode="auto">
          <a:xfrm>
            <a:off x="5436096" y="6081145"/>
            <a:ext cx="217575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FD13E55D-8F8D-481D-9E37-6E022D771211}"/>
              </a:ext>
            </a:extLst>
          </p:cNvPr>
          <p:cNvSpPr/>
          <p:nvPr/>
        </p:nvSpPr>
        <p:spPr>
          <a:xfrm>
            <a:off x="6216285" y="5938679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24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239B99C4-DDD5-45DC-828B-2DA14534DB3E}"/>
              </a:ext>
            </a:extLst>
          </p:cNvPr>
          <p:cNvCxnSpPr>
            <a:cxnSpLocks/>
          </p:cNvCxnSpPr>
          <p:nvPr/>
        </p:nvCxnSpPr>
        <p:spPr bwMode="auto">
          <a:xfrm flipV="1">
            <a:off x="8244408" y="6075509"/>
            <a:ext cx="648072" cy="768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F7C7ED23-44B6-4000-A592-A43F5C6474A0}"/>
              </a:ext>
            </a:extLst>
          </p:cNvPr>
          <p:cNvSpPr/>
          <p:nvPr/>
        </p:nvSpPr>
        <p:spPr>
          <a:xfrm>
            <a:off x="8343606" y="6088413"/>
            <a:ext cx="459027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6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E129168-8910-4D95-8B0C-407AC2572303}"/>
              </a:ext>
            </a:extLst>
          </p:cNvPr>
          <p:cNvCxnSpPr/>
          <p:nvPr/>
        </p:nvCxnSpPr>
        <p:spPr bwMode="auto">
          <a:xfrm>
            <a:off x="7596336" y="5947305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930B3768-8516-4BF4-9B4A-95967050FB51}"/>
              </a:ext>
            </a:extLst>
          </p:cNvPr>
          <p:cNvCxnSpPr>
            <a:cxnSpLocks/>
          </p:cNvCxnSpPr>
          <p:nvPr/>
        </p:nvCxnSpPr>
        <p:spPr bwMode="auto">
          <a:xfrm>
            <a:off x="7596336" y="6081345"/>
            <a:ext cx="655828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00" name="矩形 99">
            <a:extLst>
              <a:ext uri="{FF2B5EF4-FFF2-40B4-BE49-F238E27FC236}">
                <a16:creationId xmlns:a16="http://schemas.microsoft.com/office/drawing/2014/main" id="{42D2F3C9-F389-4A8A-B790-D9EB59A35D03}"/>
              </a:ext>
            </a:extLst>
          </p:cNvPr>
          <p:cNvSpPr/>
          <p:nvPr/>
        </p:nvSpPr>
        <p:spPr>
          <a:xfrm>
            <a:off x="7713373" y="6088413"/>
            <a:ext cx="459027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dirty="0">
                <a:solidFill>
                  <a:srgbClr val="CC0099"/>
                </a:solidFill>
              </a:rPr>
              <a:t>6</a:t>
            </a:r>
            <a:r>
              <a:rPr lang="zh-CN" altLang="en-US" sz="2000" dirty="0">
                <a:solidFill>
                  <a:srgbClr val="CC0099"/>
                </a:solidFill>
              </a:rPr>
              <a:t>位</a:t>
            </a:r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E4F7FC79-DA09-468C-AAD5-919881EA3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399" y="5390398"/>
            <a:ext cx="797957" cy="63322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1B3A84A-4688-4331-B4F4-EE1F1B866833}"/>
              </a:ext>
            </a:extLst>
          </p:cNvPr>
          <p:cNvSpPr/>
          <p:nvPr/>
        </p:nvSpPr>
        <p:spPr>
          <a:xfrm>
            <a:off x="6173682" y="1382743"/>
            <a:ext cx="2747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i="1" dirty="0"/>
              <a:t>Access latency：1 cycle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BACD0EC-E026-4F31-91AE-89AD64E0CFF6}"/>
              </a:ext>
            </a:extLst>
          </p:cNvPr>
          <p:cNvSpPr/>
          <p:nvPr/>
        </p:nvSpPr>
        <p:spPr>
          <a:xfrm>
            <a:off x="4878798" y="6197242"/>
            <a:ext cx="27895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i="1" dirty="0"/>
              <a:t>Access latency：</a:t>
            </a:r>
            <a:r>
              <a:rPr lang="en-US" altLang="zh-CN" sz="2000" i="1" dirty="0"/>
              <a:t>4</a:t>
            </a:r>
            <a:r>
              <a:rPr lang="zh-CN" altLang="en-US" sz="2000" i="1" dirty="0"/>
              <a:t> cycle</a:t>
            </a:r>
            <a:r>
              <a:rPr lang="en-US" altLang="zh-CN" sz="2000" i="1" dirty="0"/>
              <a:t>s</a:t>
            </a:r>
            <a:endParaRPr lang="zh-CN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3006994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1" grpId="0" animBg="1"/>
      <p:bldP spid="24" grpId="0" animBg="1"/>
      <p:bldP spid="25" grpId="0"/>
      <p:bldP spid="31" grpId="0" animBg="1"/>
      <p:bldP spid="33" grpId="0" animBg="1"/>
      <p:bldP spid="41" grpId="0" animBg="1"/>
      <p:bldP spid="59" grpId="0"/>
      <p:bldP spid="64" grpId="0" animBg="1"/>
      <p:bldP spid="66" grpId="0" animBg="1"/>
      <p:bldP spid="71" grpId="0"/>
      <p:bldP spid="76" grpId="0" animBg="1"/>
      <p:bldP spid="78" grpId="0"/>
      <p:bldP spid="100" grpId="0"/>
      <p:bldP spid="3" grpId="0"/>
      <p:bldP spid="6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0BA02A-5750-44FC-811E-1127D6CD8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44624"/>
            <a:ext cx="6027794" cy="6768752"/>
          </a:xfrm>
          <a:prstGeom prst="rect">
            <a:avLst/>
          </a:prstGeom>
        </p:spPr>
      </p:pic>
      <p:sp>
        <p:nvSpPr>
          <p:cNvPr id="1692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23928" y="3933056"/>
            <a:ext cx="5112122" cy="936104"/>
          </a:xfrm>
          <a:noFill/>
          <a:ln/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Putting It All Together :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The </a:t>
            </a:r>
            <a:r>
              <a:rPr lang="en-US" altLang="zh-CN" sz="2400" dirty="0">
                <a:solidFill>
                  <a:srgbClr val="FF0000"/>
                </a:solidFill>
              </a:rPr>
              <a:t>Intel i7 6700</a:t>
            </a:r>
            <a:r>
              <a:rPr lang="en-US" altLang="zh-CN" sz="2400" dirty="0">
                <a:solidFill>
                  <a:srgbClr val="0000FF"/>
                </a:solidFill>
              </a:rPr>
              <a:t> memory hierarchy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BE3BDBC-A33A-440A-9934-14930201A32A}"/>
              </a:ext>
            </a:extLst>
          </p:cNvPr>
          <p:cNvGrpSpPr/>
          <p:nvPr/>
        </p:nvGrpSpPr>
        <p:grpSpPr>
          <a:xfrm>
            <a:off x="7164288" y="637780"/>
            <a:ext cx="1613921" cy="2952973"/>
            <a:chOff x="7164288" y="637780"/>
            <a:chExt cx="1613921" cy="2952973"/>
          </a:xfrm>
        </p:grpSpPr>
        <p:sp>
          <p:nvSpPr>
            <p:cNvPr id="1692677" name="Rectangle 5"/>
            <p:cNvSpPr>
              <a:spLocks noChangeArrowheads="1"/>
            </p:cNvSpPr>
            <p:nvPr/>
          </p:nvSpPr>
          <p:spPr bwMode="auto">
            <a:xfrm>
              <a:off x="7235825" y="2870028"/>
              <a:ext cx="1512888" cy="720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000" dirty="0">
                  <a:solidFill>
                    <a:srgbClr val="3366FF"/>
                  </a:solidFill>
                  <a:latin typeface="+mj-lt"/>
                  <a:ea typeface="黑体" pitchFamily="49" charset="-122"/>
                </a:rPr>
                <a:t>Intel i7</a:t>
              </a:r>
              <a:endParaRPr lang="en-US" altLang="zh-CN" sz="1800" baseline="50000" dirty="0">
                <a:solidFill>
                  <a:srgbClr val="3366FF"/>
                </a:solidFill>
                <a:latin typeface="+mj-lt"/>
                <a:ea typeface="黑体" pitchFamily="49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en-US" sz="2000" dirty="0">
                  <a:solidFill>
                    <a:srgbClr val="3366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处</a:t>
              </a:r>
              <a:r>
                <a:rPr lang="en-US" altLang="zh-CN" sz="2000" dirty="0">
                  <a:solidFill>
                    <a:srgbClr val="3366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en-US" sz="2000" dirty="0">
                  <a:solidFill>
                    <a:srgbClr val="3366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理</a:t>
              </a:r>
              <a:r>
                <a:rPr lang="en-US" altLang="zh-CN" sz="2000" dirty="0">
                  <a:solidFill>
                    <a:srgbClr val="3366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en-US" sz="2000" dirty="0">
                  <a:solidFill>
                    <a:srgbClr val="3366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器</a:t>
              </a:r>
              <a:endParaRPr lang="zh-CN" altLang="en-US" sz="2000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3" name="图片 2">
              <a:hlinkClick r:id="rId4" action="ppaction://hlinksldjump"/>
              <a:extLst>
                <a:ext uri="{FF2B5EF4-FFF2-40B4-BE49-F238E27FC236}">
                  <a16:creationId xmlns:a16="http://schemas.microsoft.com/office/drawing/2014/main" id="{FE550712-FE7F-4456-B500-F1987EAC9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64288" y="637780"/>
              <a:ext cx="1613921" cy="2204864"/>
            </a:xfrm>
            <a:prstGeom prst="rect">
              <a:avLst/>
            </a:prstGeom>
          </p:spPr>
        </p:pic>
      </p:grp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7571A49E-00EB-49B6-A65D-A3490E9046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336792"/>
            <a:ext cx="2133600" cy="368808"/>
          </a:xfrm>
        </p:spPr>
        <p:txBody>
          <a:bodyPr/>
          <a:lstStyle/>
          <a:p>
            <a:fld id="{78ADDFEA-6932-4013-9B0E-E9F9C48327E4}" type="slidenum">
              <a:rPr lang="zh-CN" altLang="en-US" smtClean="0"/>
              <a:pPr/>
              <a:t>69</a:t>
            </a:fld>
            <a:endParaRPr lang="en-US" altLang="zh-CN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C67596-BC55-43F5-B435-DD47E1D0E5F1}"/>
              </a:ext>
            </a:extLst>
          </p:cNvPr>
          <p:cNvSpPr/>
          <p:nvPr/>
        </p:nvSpPr>
        <p:spPr>
          <a:xfrm>
            <a:off x="3779912" y="5589240"/>
            <a:ext cx="2914915" cy="1152128"/>
          </a:xfrm>
          <a:prstGeom prst="rect">
            <a:avLst/>
          </a:prstGeom>
          <a:solidFill>
            <a:srgbClr val="FFFFCC"/>
          </a:solidFill>
          <a:effectLst>
            <a:softEdge rad="317500"/>
          </a:effectLst>
        </p:spPr>
        <p:txBody>
          <a:bodyPr wrap="none" anchor="ctr" anchorCtr="0">
            <a:noAutofit/>
          </a:bodyPr>
          <a:lstStyle/>
          <a:p>
            <a:r>
              <a:rPr lang="en-US" altLang="zh-CN" i="1" dirty="0">
                <a:solidFill>
                  <a:srgbClr val="CC0099"/>
                </a:solidFill>
                <a:latin typeface="+mn-lt"/>
                <a:ea typeface="微软雅黑" panose="020B0503020204020204" pitchFamily="34" charset="-122"/>
              </a:rPr>
              <a:t>Main Memory</a:t>
            </a:r>
            <a:endParaRPr lang="zh-CN" altLang="en-US" i="1" dirty="0">
              <a:solidFill>
                <a:srgbClr val="CC0099"/>
              </a:solidFill>
              <a:latin typeface="+mn-lt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C79F41F-D1A7-4DEC-8A19-88635999FD48}"/>
              </a:ext>
            </a:extLst>
          </p:cNvPr>
          <p:cNvGrpSpPr/>
          <p:nvPr/>
        </p:nvGrpSpPr>
        <p:grpSpPr>
          <a:xfrm>
            <a:off x="801706" y="341282"/>
            <a:ext cx="3017300" cy="1359526"/>
            <a:chOff x="801706" y="341282"/>
            <a:chExt cx="3017300" cy="13595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9483820-699F-442F-AD46-4E70E77C5B6C}"/>
                </a:ext>
              </a:extLst>
            </p:cNvPr>
            <p:cNvSpPr/>
            <p:nvPr/>
          </p:nvSpPr>
          <p:spPr>
            <a:xfrm>
              <a:off x="801706" y="341282"/>
              <a:ext cx="208823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r>
                <a:rPr lang="zh-CN" altLang="en-US" dirty="0">
                  <a:solidFill>
                    <a:srgbClr val="CC0099"/>
                  </a:solidFill>
                </a:rPr>
                <a:t>L1-ITLB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D0F7B06-9880-49F6-A207-AE2AB8E31C4A}"/>
                </a:ext>
              </a:extLst>
            </p:cNvPr>
            <p:cNvSpPr/>
            <p:nvPr/>
          </p:nvSpPr>
          <p:spPr>
            <a:xfrm>
              <a:off x="2185154" y="404664"/>
              <a:ext cx="163385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128</a:t>
              </a:r>
              <a:r>
                <a:rPr lang="zh-CN" altLang="en-US" sz="2400" dirty="0">
                  <a:solidFill>
                    <a:srgbClr val="009900"/>
                  </a:solidFill>
                </a:rPr>
                <a:t>行</a:t>
              </a:r>
              <a:endParaRPr lang="en-US" altLang="zh-CN" sz="2400" dirty="0">
                <a:solidFill>
                  <a:srgbClr val="009900"/>
                </a:solidFill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8-way</a:t>
              </a:r>
              <a:endParaRPr lang="zh-CN" altLang="en-US" sz="2400" dirty="0">
                <a:solidFill>
                  <a:srgbClr val="009900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0C276D2-6F74-40F9-99D9-D4C804F88DAF}"/>
                </a:ext>
              </a:extLst>
            </p:cNvPr>
            <p:cNvSpPr/>
            <p:nvPr/>
          </p:nvSpPr>
          <p:spPr>
            <a:xfrm>
              <a:off x="1038298" y="794895"/>
              <a:ext cx="1589486" cy="905913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zh-CN" altLang="en-US" sz="2400" i="1" dirty="0">
                  <a:solidFill>
                    <a:srgbClr val="0000FF"/>
                  </a:solidFill>
                </a:rPr>
                <a:t>1 cycle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CB94934-A129-4F97-92D8-3813EBB7A1FA}"/>
              </a:ext>
            </a:extLst>
          </p:cNvPr>
          <p:cNvGrpSpPr/>
          <p:nvPr/>
        </p:nvGrpSpPr>
        <p:grpSpPr>
          <a:xfrm>
            <a:off x="4024814" y="341282"/>
            <a:ext cx="3094122" cy="1445201"/>
            <a:chOff x="4024814" y="341282"/>
            <a:chExt cx="3094122" cy="144520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A5EB116-593A-4FB5-8574-261B6FC4EA18}"/>
                </a:ext>
              </a:extLst>
            </p:cNvPr>
            <p:cNvSpPr/>
            <p:nvPr/>
          </p:nvSpPr>
          <p:spPr>
            <a:xfrm>
              <a:off x="4024814" y="341282"/>
              <a:ext cx="208823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r>
                <a:rPr lang="zh-CN" altLang="en-US" dirty="0">
                  <a:solidFill>
                    <a:srgbClr val="CC0099"/>
                  </a:solidFill>
                </a:rPr>
                <a:t>L1-</a:t>
              </a:r>
              <a:r>
                <a:rPr lang="en-US" altLang="zh-CN" dirty="0">
                  <a:solidFill>
                    <a:srgbClr val="CC0099"/>
                  </a:solidFill>
                </a:rPr>
                <a:t>D</a:t>
              </a:r>
              <a:r>
                <a:rPr lang="zh-CN" altLang="en-US" dirty="0">
                  <a:solidFill>
                    <a:srgbClr val="CC0099"/>
                  </a:solidFill>
                </a:rPr>
                <a:t>TLB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AB8F1C2-8C0F-4005-A12C-43A5921F541B}"/>
                </a:ext>
              </a:extLst>
            </p:cNvPr>
            <p:cNvSpPr/>
            <p:nvPr/>
          </p:nvSpPr>
          <p:spPr>
            <a:xfrm>
              <a:off x="5485084" y="404664"/>
              <a:ext cx="163385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64</a:t>
              </a:r>
              <a:r>
                <a:rPr lang="zh-CN" altLang="en-US" sz="2400" dirty="0">
                  <a:solidFill>
                    <a:srgbClr val="009900"/>
                  </a:solidFill>
                </a:rPr>
                <a:t>行</a:t>
              </a:r>
              <a:endParaRPr lang="en-US" altLang="zh-CN" sz="2400" dirty="0">
                <a:solidFill>
                  <a:srgbClr val="009900"/>
                </a:solidFill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4-way</a:t>
              </a:r>
              <a:endParaRPr lang="zh-CN" altLang="en-US" sz="2400" dirty="0">
                <a:solidFill>
                  <a:srgbClr val="009900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79BD3A6-4BCC-47D3-8A21-7FF0A64C0563}"/>
                </a:ext>
              </a:extLst>
            </p:cNvPr>
            <p:cNvSpPr/>
            <p:nvPr/>
          </p:nvSpPr>
          <p:spPr>
            <a:xfrm>
              <a:off x="4283968" y="730200"/>
              <a:ext cx="1464623" cy="1056283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zh-CN" altLang="en-US" sz="2400" i="1" dirty="0">
                  <a:solidFill>
                    <a:srgbClr val="0000FF"/>
                  </a:solidFill>
                </a:rPr>
                <a:t>1 cycle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B593A45-B25C-4145-84DE-5785201414B9}"/>
              </a:ext>
            </a:extLst>
          </p:cNvPr>
          <p:cNvGrpSpPr/>
          <p:nvPr/>
        </p:nvGrpSpPr>
        <p:grpSpPr>
          <a:xfrm>
            <a:off x="801706" y="1222630"/>
            <a:ext cx="3017300" cy="1313396"/>
            <a:chOff x="801706" y="1222630"/>
            <a:chExt cx="3017300" cy="131339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8B88433-4724-466F-9733-8E74C6974C0A}"/>
                </a:ext>
              </a:extLst>
            </p:cNvPr>
            <p:cNvSpPr/>
            <p:nvPr/>
          </p:nvSpPr>
          <p:spPr>
            <a:xfrm>
              <a:off x="801706" y="1222630"/>
              <a:ext cx="208823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r>
                <a:rPr lang="zh-CN" altLang="en-US" dirty="0">
                  <a:solidFill>
                    <a:srgbClr val="CC0099"/>
                  </a:solidFill>
                </a:rPr>
                <a:t>L</a:t>
              </a:r>
              <a:r>
                <a:rPr lang="en-US" altLang="zh-CN" dirty="0">
                  <a:solidFill>
                    <a:srgbClr val="CC0099"/>
                  </a:solidFill>
                </a:rPr>
                <a:t>2</a:t>
              </a:r>
              <a:r>
                <a:rPr lang="zh-CN" altLang="en-US" dirty="0">
                  <a:solidFill>
                    <a:srgbClr val="CC0099"/>
                  </a:solidFill>
                </a:rPr>
                <a:t>-TLB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552A702-C047-48AF-B373-6BFE003D7963}"/>
                </a:ext>
              </a:extLst>
            </p:cNvPr>
            <p:cNvSpPr/>
            <p:nvPr/>
          </p:nvSpPr>
          <p:spPr>
            <a:xfrm>
              <a:off x="2185154" y="1277386"/>
              <a:ext cx="163385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1536</a:t>
              </a:r>
              <a:r>
                <a:rPr lang="zh-CN" altLang="en-US" sz="2400" dirty="0">
                  <a:solidFill>
                    <a:srgbClr val="009900"/>
                  </a:solidFill>
                </a:rPr>
                <a:t>行</a:t>
              </a:r>
              <a:endParaRPr lang="en-US" altLang="zh-CN" sz="2400" dirty="0">
                <a:solidFill>
                  <a:srgbClr val="009900"/>
                </a:solidFill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12-way</a:t>
              </a:r>
              <a:endParaRPr lang="zh-CN" altLang="en-US" sz="2400" dirty="0">
                <a:solidFill>
                  <a:srgbClr val="009900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4B7EACE-E53C-4557-B63C-C8071E82CA17}"/>
                </a:ext>
              </a:extLst>
            </p:cNvPr>
            <p:cNvSpPr/>
            <p:nvPr/>
          </p:nvSpPr>
          <p:spPr>
            <a:xfrm>
              <a:off x="1038528" y="1735312"/>
              <a:ext cx="1678516" cy="800714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i="1" dirty="0">
                  <a:solidFill>
                    <a:srgbClr val="0000FF"/>
                  </a:solidFill>
                </a:rPr>
                <a:t>8</a:t>
              </a:r>
              <a:r>
                <a:rPr lang="zh-CN" altLang="en-US" sz="2400" i="1" dirty="0">
                  <a:solidFill>
                    <a:srgbClr val="0000FF"/>
                  </a:solidFill>
                </a:rPr>
                <a:t> cycle</a:t>
              </a:r>
              <a:r>
                <a:rPr lang="en-US" altLang="zh-CN" sz="2400" i="1" dirty="0">
                  <a:solidFill>
                    <a:srgbClr val="0000FF"/>
                  </a:solidFill>
                </a:rPr>
                <a:t>s</a:t>
              </a:r>
              <a:endParaRPr lang="zh-CN" altLang="en-US" sz="2400" i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824FAA9-8455-482D-9EAD-CD7520CA3D2E}"/>
              </a:ext>
            </a:extLst>
          </p:cNvPr>
          <p:cNvGrpSpPr/>
          <p:nvPr/>
        </p:nvGrpSpPr>
        <p:grpSpPr>
          <a:xfrm>
            <a:off x="827584" y="2534713"/>
            <a:ext cx="3226104" cy="1466225"/>
            <a:chOff x="827584" y="2534713"/>
            <a:chExt cx="3226104" cy="146622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A971760-C7FE-4B47-8B44-BE8DF85B5B70}"/>
                </a:ext>
              </a:extLst>
            </p:cNvPr>
            <p:cNvSpPr/>
            <p:nvPr/>
          </p:nvSpPr>
          <p:spPr>
            <a:xfrm>
              <a:off x="827584" y="2534713"/>
              <a:ext cx="208823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r>
                <a:rPr lang="zh-CN" altLang="en-US" dirty="0">
                  <a:solidFill>
                    <a:srgbClr val="CC0099"/>
                  </a:solidFill>
                </a:rPr>
                <a:t>L</a:t>
              </a:r>
              <a:r>
                <a:rPr lang="en-US" altLang="zh-CN" dirty="0">
                  <a:solidFill>
                    <a:srgbClr val="CC0099"/>
                  </a:solidFill>
                </a:rPr>
                <a:t>1</a:t>
              </a:r>
              <a:r>
                <a:rPr lang="zh-CN" altLang="en-US" dirty="0">
                  <a:solidFill>
                    <a:srgbClr val="CC0099"/>
                  </a:solidFill>
                </a:rPr>
                <a:t>-</a:t>
              </a:r>
              <a:r>
                <a:rPr lang="en-US" altLang="zh-CN" dirty="0" err="1">
                  <a:solidFill>
                    <a:srgbClr val="CC0099"/>
                  </a:solidFill>
                </a:rPr>
                <a:t>ICache</a:t>
              </a:r>
              <a:endParaRPr lang="zh-CN" altLang="en-US" dirty="0">
                <a:solidFill>
                  <a:srgbClr val="CC0099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F6E606F-82E6-4FE4-B9B1-A2243D3D0E4C}"/>
                </a:ext>
              </a:extLst>
            </p:cNvPr>
            <p:cNvSpPr/>
            <p:nvPr/>
          </p:nvSpPr>
          <p:spPr>
            <a:xfrm>
              <a:off x="2419836" y="2596595"/>
              <a:ext cx="163385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32KB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8-way</a:t>
              </a:r>
              <a:endParaRPr lang="zh-CN" altLang="en-US" sz="2400" dirty="0">
                <a:solidFill>
                  <a:srgbClr val="009900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64D7355-0124-4D81-9623-D829CD9E7152}"/>
                </a:ext>
              </a:extLst>
            </p:cNvPr>
            <p:cNvSpPr/>
            <p:nvPr/>
          </p:nvSpPr>
          <p:spPr>
            <a:xfrm>
              <a:off x="1035546" y="2962448"/>
              <a:ext cx="1736254" cy="1038490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i="1" dirty="0">
                  <a:solidFill>
                    <a:srgbClr val="0000FF"/>
                  </a:solidFill>
                </a:rPr>
                <a:t>4</a:t>
              </a:r>
              <a:r>
                <a:rPr lang="zh-CN" altLang="en-US" sz="2400" i="1" dirty="0">
                  <a:solidFill>
                    <a:srgbClr val="0000FF"/>
                  </a:solidFill>
                </a:rPr>
                <a:t> cycle</a:t>
              </a:r>
              <a:r>
                <a:rPr lang="en-US" altLang="zh-CN" sz="2400" i="1" dirty="0">
                  <a:solidFill>
                    <a:srgbClr val="0000FF"/>
                  </a:solidFill>
                </a:rPr>
                <a:t>s</a:t>
              </a:r>
              <a:endParaRPr lang="zh-CN" altLang="en-US" sz="2400" i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F5E1713-534F-429B-AC0F-640A38CFEE0F}"/>
              </a:ext>
            </a:extLst>
          </p:cNvPr>
          <p:cNvGrpSpPr/>
          <p:nvPr/>
        </p:nvGrpSpPr>
        <p:grpSpPr>
          <a:xfrm>
            <a:off x="4183082" y="2534713"/>
            <a:ext cx="3228937" cy="1470351"/>
            <a:chOff x="4183082" y="2534713"/>
            <a:chExt cx="3228937" cy="147035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6BF2FA3-36EA-4A72-A6DB-DBCFEF0C499B}"/>
                </a:ext>
              </a:extLst>
            </p:cNvPr>
            <p:cNvSpPr/>
            <p:nvPr/>
          </p:nvSpPr>
          <p:spPr>
            <a:xfrm>
              <a:off x="4183082" y="2534713"/>
              <a:ext cx="208823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r>
                <a:rPr lang="zh-CN" altLang="en-US" dirty="0">
                  <a:solidFill>
                    <a:srgbClr val="CC0099"/>
                  </a:solidFill>
                </a:rPr>
                <a:t>L</a:t>
              </a:r>
              <a:r>
                <a:rPr lang="en-US" altLang="zh-CN" dirty="0">
                  <a:solidFill>
                    <a:srgbClr val="CC0099"/>
                  </a:solidFill>
                </a:rPr>
                <a:t>1</a:t>
              </a:r>
              <a:r>
                <a:rPr lang="zh-CN" altLang="en-US" dirty="0">
                  <a:solidFill>
                    <a:srgbClr val="CC0099"/>
                  </a:solidFill>
                </a:rPr>
                <a:t>-</a:t>
              </a:r>
              <a:r>
                <a:rPr lang="en-US" altLang="zh-CN" dirty="0" err="1">
                  <a:solidFill>
                    <a:srgbClr val="CC0099"/>
                  </a:solidFill>
                </a:rPr>
                <a:t>DCache</a:t>
              </a:r>
              <a:endParaRPr lang="zh-CN" altLang="en-US" dirty="0">
                <a:solidFill>
                  <a:srgbClr val="CC0099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138F16F-9CC6-480E-B87B-379DFBCD2A09}"/>
                </a:ext>
              </a:extLst>
            </p:cNvPr>
            <p:cNvSpPr/>
            <p:nvPr/>
          </p:nvSpPr>
          <p:spPr>
            <a:xfrm>
              <a:off x="5778167" y="2596595"/>
              <a:ext cx="163385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32KB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8-way</a:t>
              </a:r>
              <a:endParaRPr lang="zh-CN" altLang="en-US" sz="2400" dirty="0">
                <a:solidFill>
                  <a:srgbClr val="009900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9D5D023-ACBD-4CF1-AFB2-BEB767E228A3}"/>
                </a:ext>
              </a:extLst>
            </p:cNvPr>
            <p:cNvSpPr/>
            <p:nvPr/>
          </p:nvSpPr>
          <p:spPr>
            <a:xfrm>
              <a:off x="4329930" y="2966574"/>
              <a:ext cx="1682230" cy="1038490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i="1" dirty="0">
                  <a:solidFill>
                    <a:srgbClr val="0000FF"/>
                  </a:solidFill>
                </a:rPr>
                <a:t>4</a:t>
              </a:r>
              <a:r>
                <a:rPr lang="zh-CN" altLang="en-US" sz="2400" i="1" dirty="0">
                  <a:solidFill>
                    <a:srgbClr val="0000FF"/>
                  </a:solidFill>
                </a:rPr>
                <a:t> cycle</a:t>
              </a:r>
              <a:r>
                <a:rPr lang="en-US" altLang="zh-CN" sz="2400" i="1" dirty="0">
                  <a:solidFill>
                    <a:srgbClr val="0000FF"/>
                  </a:solidFill>
                </a:rPr>
                <a:t>s</a:t>
              </a:r>
              <a:endParaRPr lang="zh-CN" altLang="en-US" sz="2400" i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7E1EEDE-D93B-4AB1-8080-AA7E5322EFA6}"/>
              </a:ext>
            </a:extLst>
          </p:cNvPr>
          <p:cNvGrpSpPr/>
          <p:nvPr/>
        </p:nvGrpSpPr>
        <p:grpSpPr>
          <a:xfrm>
            <a:off x="1017730" y="3987812"/>
            <a:ext cx="3194230" cy="1487603"/>
            <a:chOff x="1017730" y="3987812"/>
            <a:chExt cx="3194230" cy="148760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261CC23-36B6-4BC7-9EBB-E9A2DB8BFDC1}"/>
                </a:ext>
              </a:extLst>
            </p:cNvPr>
            <p:cNvSpPr/>
            <p:nvPr/>
          </p:nvSpPr>
          <p:spPr>
            <a:xfrm>
              <a:off x="1017730" y="4048698"/>
              <a:ext cx="208823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r>
                <a:rPr lang="zh-CN" altLang="en-US" dirty="0">
                  <a:solidFill>
                    <a:srgbClr val="CC0099"/>
                  </a:solidFill>
                </a:rPr>
                <a:t>L</a:t>
              </a:r>
              <a:r>
                <a:rPr lang="en-US" altLang="zh-CN" dirty="0">
                  <a:solidFill>
                    <a:srgbClr val="CC0099"/>
                  </a:solidFill>
                </a:rPr>
                <a:t>2</a:t>
              </a:r>
              <a:r>
                <a:rPr lang="zh-CN" altLang="en-US" dirty="0">
                  <a:solidFill>
                    <a:srgbClr val="CC0099"/>
                  </a:solidFill>
                </a:rPr>
                <a:t>-</a:t>
              </a:r>
              <a:r>
                <a:rPr lang="en-US" altLang="zh-CN" dirty="0">
                  <a:solidFill>
                    <a:srgbClr val="CC0099"/>
                  </a:solidFill>
                </a:rPr>
                <a:t>Cache</a:t>
              </a:r>
              <a:endParaRPr lang="zh-CN" altLang="en-US" dirty="0">
                <a:solidFill>
                  <a:srgbClr val="CC0099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E39E8DA-5904-43DC-958C-1E51022E5E66}"/>
                </a:ext>
              </a:extLst>
            </p:cNvPr>
            <p:cNvSpPr/>
            <p:nvPr/>
          </p:nvSpPr>
          <p:spPr>
            <a:xfrm>
              <a:off x="2578108" y="3987812"/>
              <a:ext cx="1633852" cy="1313396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256KB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4-way</a:t>
              </a:r>
              <a:endParaRPr lang="zh-CN" altLang="en-US" sz="2400" dirty="0">
                <a:solidFill>
                  <a:srgbClr val="009900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ACDFF10-507B-4851-9C8A-828843ED2173}"/>
                </a:ext>
              </a:extLst>
            </p:cNvPr>
            <p:cNvSpPr/>
            <p:nvPr/>
          </p:nvSpPr>
          <p:spPr>
            <a:xfrm>
              <a:off x="1187624" y="4509120"/>
              <a:ext cx="1575672" cy="966295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i="1" dirty="0">
                  <a:solidFill>
                    <a:srgbClr val="0000FF"/>
                  </a:solidFill>
                </a:rPr>
                <a:t>12</a:t>
              </a:r>
              <a:r>
                <a:rPr lang="zh-CN" altLang="en-US" sz="2400" i="1" dirty="0">
                  <a:solidFill>
                    <a:srgbClr val="0000FF"/>
                  </a:solidFill>
                </a:rPr>
                <a:t> cycle</a:t>
              </a:r>
              <a:r>
                <a:rPr lang="en-US" altLang="zh-CN" sz="2400" i="1" dirty="0">
                  <a:solidFill>
                    <a:srgbClr val="0000FF"/>
                  </a:solidFill>
                </a:rPr>
                <a:t>s</a:t>
              </a:r>
              <a:endParaRPr lang="zh-CN" altLang="en-US" sz="2400" i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2084B75-4CD7-4A50-B4F5-874BD5BD765F}"/>
              </a:ext>
            </a:extLst>
          </p:cNvPr>
          <p:cNvGrpSpPr/>
          <p:nvPr/>
        </p:nvGrpSpPr>
        <p:grpSpPr>
          <a:xfrm>
            <a:off x="755576" y="5469789"/>
            <a:ext cx="3291919" cy="1385404"/>
            <a:chOff x="755576" y="5469789"/>
            <a:chExt cx="3291919" cy="138540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9335D4B-B429-43CF-BA71-5EF0B8D69540}"/>
                </a:ext>
              </a:extLst>
            </p:cNvPr>
            <p:cNvSpPr/>
            <p:nvPr/>
          </p:nvSpPr>
          <p:spPr>
            <a:xfrm>
              <a:off x="755576" y="5517232"/>
              <a:ext cx="2088232" cy="115212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r>
                <a:rPr lang="zh-CN" altLang="en-US" dirty="0">
                  <a:solidFill>
                    <a:srgbClr val="CC0099"/>
                  </a:solidFill>
                </a:rPr>
                <a:t>L</a:t>
              </a:r>
              <a:r>
                <a:rPr lang="en-US" altLang="zh-CN" dirty="0">
                  <a:solidFill>
                    <a:srgbClr val="CC0099"/>
                  </a:solidFill>
                </a:rPr>
                <a:t>3</a:t>
              </a:r>
              <a:r>
                <a:rPr lang="zh-CN" altLang="en-US" dirty="0">
                  <a:solidFill>
                    <a:srgbClr val="CC0099"/>
                  </a:solidFill>
                </a:rPr>
                <a:t>-</a:t>
              </a:r>
              <a:r>
                <a:rPr lang="en-US" altLang="zh-CN" dirty="0">
                  <a:solidFill>
                    <a:srgbClr val="CC0099"/>
                  </a:solidFill>
                </a:rPr>
                <a:t>Cache</a:t>
              </a:r>
              <a:endParaRPr lang="zh-CN" altLang="en-US" dirty="0">
                <a:solidFill>
                  <a:srgbClr val="CC0099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EBBA528-3D90-4E3E-B415-4656A84AD8D3}"/>
                </a:ext>
              </a:extLst>
            </p:cNvPr>
            <p:cNvSpPr/>
            <p:nvPr/>
          </p:nvSpPr>
          <p:spPr>
            <a:xfrm>
              <a:off x="2413643" y="5469789"/>
              <a:ext cx="1633852" cy="1313396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8MB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dirty="0">
                  <a:solidFill>
                    <a:srgbClr val="009900"/>
                  </a:solidFill>
                </a:rPr>
                <a:t>16-way</a:t>
              </a:r>
              <a:endParaRPr lang="zh-CN" altLang="en-US" sz="2400" dirty="0">
                <a:solidFill>
                  <a:srgbClr val="009900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2F2FBDA9-0DF6-402F-9BBD-9F5BACF6DF32}"/>
                </a:ext>
              </a:extLst>
            </p:cNvPr>
            <p:cNvSpPr/>
            <p:nvPr/>
          </p:nvSpPr>
          <p:spPr>
            <a:xfrm>
              <a:off x="876527" y="6063105"/>
              <a:ext cx="1846330" cy="792088"/>
            </a:xfrm>
            <a:prstGeom prst="rect">
              <a:avLst/>
            </a:prstGeom>
            <a:solidFill>
              <a:srgbClr val="FFFFCC"/>
            </a:solidFill>
            <a:effectLst>
              <a:softEdge rad="317500"/>
            </a:effectLst>
          </p:spPr>
          <p:txBody>
            <a:bodyPr wrap="none" anchor="ctr" anchorCtr="0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2400" i="1" dirty="0">
                  <a:solidFill>
                    <a:srgbClr val="0000FF"/>
                  </a:solidFill>
                </a:rPr>
                <a:t>44</a:t>
              </a:r>
              <a:r>
                <a:rPr lang="zh-CN" altLang="en-US" sz="2400" i="1" dirty="0">
                  <a:solidFill>
                    <a:srgbClr val="0000FF"/>
                  </a:solidFill>
                </a:rPr>
                <a:t> cycle</a:t>
              </a:r>
              <a:r>
                <a:rPr lang="en-US" altLang="zh-CN" sz="2400" i="1" dirty="0">
                  <a:solidFill>
                    <a:srgbClr val="0000FF"/>
                  </a:solidFill>
                </a:rPr>
                <a:t>s</a:t>
              </a:r>
              <a:endParaRPr lang="zh-CN" altLang="en-US" sz="2400" i="1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1845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92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92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2674" grpId="0" build="p"/>
      <p:bldP spid="1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D1AFC0-E0D5-4B63-8063-BA7BDBEC1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4450"/>
            <a:ext cx="8445946" cy="523875"/>
          </a:xfrm>
        </p:spPr>
        <p:txBody>
          <a:bodyPr/>
          <a:lstStyle/>
          <a:p>
            <a:pPr lvl="0">
              <a:spcBef>
                <a:spcPct val="20000"/>
              </a:spcBef>
            </a:pPr>
            <a:r>
              <a:rPr lang="en-US" altLang="zh-CN" sz="2400" dirty="0">
                <a:solidFill>
                  <a:srgbClr val="00007D"/>
                </a:solidFill>
                <a:latin typeface="Times New Roman"/>
                <a:ea typeface="宋体"/>
                <a:cs typeface="+mn-cs"/>
              </a:rPr>
              <a:t>Putting It All Together :  </a:t>
            </a:r>
            <a:r>
              <a:rPr lang="en-US" altLang="zh-CN" sz="2400" dirty="0">
                <a:solidFill>
                  <a:srgbClr val="0000FF"/>
                </a:solidFill>
                <a:latin typeface="Times New Roman"/>
                <a:ea typeface="宋体"/>
                <a:cs typeface="+mn-cs"/>
              </a:rPr>
              <a:t>The </a:t>
            </a:r>
            <a:r>
              <a:rPr lang="en-US" altLang="zh-CN" sz="2400" dirty="0">
                <a:solidFill>
                  <a:srgbClr val="FF0000"/>
                </a:solidFill>
                <a:latin typeface="Times New Roman"/>
                <a:ea typeface="宋体"/>
                <a:cs typeface="+mn-cs"/>
              </a:rPr>
              <a:t>Intel i7 6700</a:t>
            </a:r>
            <a:r>
              <a:rPr lang="en-US" altLang="zh-CN" sz="2400" dirty="0">
                <a:solidFill>
                  <a:srgbClr val="0000FF"/>
                </a:solidFill>
                <a:latin typeface="Times New Roman"/>
                <a:ea typeface="宋体"/>
                <a:cs typeface="+mn-cs"/>
              </a:rPr>
              <a:t> memory hierarchy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E80B01-0E2B-46B0-B2BB-E1047D03D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ADDFEA-6932-4013-9B0E-E9F9C48327E4}" type="slidenum">
              <a:rPr lang="zh-CN" altLang="en-US" smtClean="0"/>
              <a:pPr/>
              <a:t>70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CFCEDB-97EF-493B-8495-8E35B480C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74" y="605934"/>
            <a:ext cx="5132102" cy="26837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A55E13-0234-4E7B-9F0D-B277540A6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74" y="3573672"/>
            <a:ext cx="5132102" cy="31676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6622E73-651E-46C2-8DBE-702F86543F51}"/>
                  </a:ext>
                </a:extLst>
              </p14:cNvPr>
              <p14:cNvContentPartPr/>
              <p14:nvPr/>
            </p14:nvContentPartPr>
            <p14:xfrm>
              <a:off x="1072128" y="5254968"/>
              <a:ext cx="635760" cy="3420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6622E73-651E-46C2-8DBE-702F86543F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6288" y="5191608"/>
                <a:ext cx="6670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BA866352-B76D-479E-8061-1FF7945BE228}"/>
                  </a:ext>
                </a:extLst>
              </p14:cNvPr>
              <p14:cNvContentPartPr/>
              <p14:nvPr/>
            </p14:nvContentPartPr>
            <p14:xfrm>
              <a:off x="2098128" y="5240208"/>
              <a:ext cx="1264320" cy="2412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BA866352-B76D-479E-8061-1FF7945BE2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82288" y="5176848"/>
                <a:ext cx="129564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7C27B600-1841-4EAE-B179-203B10ED83E0}"/>
                  </a:ext>
                </a:extLst>
              </p14:cNvPr>
              <p14:cNvContentPartPr/>
              <p14:nvPr/>
            </p14:nvContentPartPr>
            <p14:xfrm>
              <a:off x="4614528" y="2510688"/>
              <a:ext cx="886320" cy="6444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7C27B600-1841-4EAE-B179-203B10ED83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98688" y="2447328"/>
                <a:ext cx="9176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22FBED3C-2542-4BBC-8B93-5F05DB03357A}"/>
                  </a:ext>
                </a:extLst>
              </p14:cNvPr>
              <p14:cNvContentPartPr/>
              <p14:nvPr/>
            </p14:nvContentPartPr>
            <p14:xfrm>
              <a:off x="1697088" y="2689608"/>
              <a:ext cx="896760" cy="3168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22FBED3C-2542-4BBC-8B93-5F05DB03357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81248" y="2626248"/>
                <a:ext cx="9280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8D4A257F-CA12-4CB0-A428-5B21505C2005}"/>
                  </a:ext>
                </a:extLst>
              </p14:cNvPr>
              <p14:cNvContentPartPr/>
              <p14:nvPr/>
            </p14:nvContentPartPr>
            <p14:xfrm>
              <a:off x="755688" y="2830008"/>
              <a:ext cx="827280" cy="2880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8D4A257F-CA12-4CB0-A428-5B21505C200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9848" y="2766648"/>
                <a:ext cx="85860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80F2AAF5-0501-4E76-8651-1EDFDAF192E4}"/>
                  </a:ext>
                </a:extLst>
              </p14:cNvPr>
              <p14:cNvContentPartPr/>
              <p14:nvPr/>
            </p14:nvContentPartPr>
            <p14:xfrm>
              <a:off x="1964208" y="2761608"/>
              <a:ext cx="2951280" cy="20340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80F2AAF5-0501-4E76-8651-1EDFDAF192E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54848" y="2752248"/>
                <a:ext cx="2970000" cy="2221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B8FD56DB-5CAA-42F3-ACDF-98693AB24AE9}"/>
              </a:ext>
            </a:extLst>
          </p:cNvPr>
          <p:cNvSpPr/>
          <p:nvPr/>
        </p:nvSpPr>
        <p:spPr>
          <a:xfrm>
            <a:off x="4480004" y="885615"/>
            <a:ext cx="1172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dirty="0">
                <a:solidFill>
                  <a:srgbClr val="0000FF"/>
                </a:solidFill>
                <a:latin typeface="Times New Roman"/>
                <a:ea typeface="宋体"/>
              </a:rPr>
              <a:t>（128×12）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F75EA0-EE9E-40F2-AF82-014A019F8E76}"/>
              </a:ext>
            </a:extLst>
          </p:cNvPr>
          <p:cNvSpPr/>
          <p:nvPr/>
        </p:nvSpPr>
        <p:spPr>
          <a:xfrm>
            <a:off x="2853790" y="885615"/>
            <a:ext cx="9925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dirty="0">
                <a:solidFill>
                  <a:srgbClr val="0000FF"/>
                </a:solidFill>
                <a:latin typeface="Times New Roman"/>
                <a:ea typeface="宋体"/>
              </a:rPr>
              <a:t>（</a:t>
            </a:r>
            <a:r>
              <a:rPr lang="en-US" altLang="zh-CN" sz="1400" b="0" dirty="0">
                <a:solidFill>
                  <a:srgbClr val="0000FF"/>
                </a:solidFill>
                <a:latin typeface="Times New Roman"/>
                <a:ea typeface="宋体"/>
              </a:rPr>
              <a:t>16</a:t>
            </a:r>
            <a:r>
              <a:rPr lang="zh-CN" altLang="en-US" sz="1400" b="0" dirty="0">
                <a:solidFill>
                  <a:srgbClr val="0000FF"/>
                </a:solidFill>
                <a:latin typeface="Times New Roman"/>
                <a:ea typeface="宋体"/>
              </a:rPr>
              <a:t>×</a:t>
            </a:r>
            <a:r>
              <a:rPr lang="en-US" altLang="zh-CN" sz="1400" b="0" dirty="0">
                <a:solidFill>
                  <a:srgbClr val="0000FF"/>
                </a:solidFill>
                <a:latin typeface="Times New Roman"/>
                <a:ea typeface="宋体"/>
              </a:rPr>
              <a:t>4</a:t>
            </a:r>
            <a:r>
              <a:rPr lang="zh-CN" altLang="en-US" sz="1400" b="0" dirty="0">
                <a:solidFill>
                  <a:srgbClr val="0000FF"/>
                </a:solidFill>
                <a:latin typeface="Times New Roman"/>
                <a:ea typeface="宋体"/>
              </a:rPr>
              <a:t>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173156-2F71-41E7-BDA3-68467665AAB7}"/>
              </a:ext>
            </a:extLst>
          </p:cNvPr>
          <p:cNvSpPr/>
          <p:nvPr/>
        </p:nvSpPr>
        <p:spPr>
          <a:xfrm>
            <a:off x="1858739" y="885615"/>
            <a:ext cx="9925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dirty="0">
                <a:solidFill>
                  <a:srgbClr val="0000FF"/>
                </a:solidFill>
                <a:latin typeface="Times New Roman"/>
                <a:ea typeface="宋体"/>
              </a:rPr>
              <a:t>（</a:t>
            </a:r>
            <a:r>
              <a:rPr lang="en-US" altLang="zh-CN" sz="1400" b="0" dirty="0">
                <a:solidFill>
                  <a:srgbClr val="0000FF"/>
                </a:solidFill>
                <a:latin typeface="Times New Roman"/>
                <a:ea typeface="宋体"/>
              </a:rPr>
              <a:t>16</a:t>
            </a:r>
            <a:r>
              <a:rPr lang="zh-CN" altLang="en-US" sz="1400" b="0" dirty="0">
                <a:solidFill>
                  <a:srgbClr val="0000FF"/>
                </a:solidFill>
                <a:latin typeface="Times New Roman"/>
                <a:ea typeface="宋体"/>
              </a:rPr>
              <a:t>×</a:t>
            </a:r>
            <a:r>
              <a:rPr lang="en-US" altLang="zh-CN" sz="1400" b="0" dirty="0">
                <a:solidFill>
                  <a:srgbClr val="0000FF"/>
                </a:solidFill>
                <a:latin typeface="Times New Roman"/>
                <a:ea typeface="宋体"/>
              </a:rPr>
              <a:t>8</a:t>
            </a:r>
            <a:r>
              <a:rPr lang="zh-CN" altLang="en-US" sz="1400" b="0" dirty="0">
                <a:solidFill>
                  <a:srgbClr val="0000FF"/>
                </a:solidFill>
                <a:latin typeface="Times New Roman"/>
                <a:ea typeface="宋体"/>
              </a:rPr>
              <a:t>）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C8783309-EC6C-43F7-926D-FAFFBFB67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870028"/>
            <a:ext cx="1512888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000" dirty="0">
                <a:solidFill>
                  <a:srgbClr val="3366FF"/>
                </a:solidFill>
                <a:latin typeface="+mj-lt"/>
                <a:ea typeface="黑体" pitchFamily="49" charset="-122"/>
              </a:rPr>
              <a:t>Intel i7</a:t>
            </a:r>
            <a:endParaRPr lang="en-US" altLang="zh-CN" sz="1800" baseline="50000" dirty="0">
              <a:solidFill>
                <a:srgbClr val="3366FF"/>
              </a:solidFill>
              <a:latin typeface="+mj-lt"/>
              <a:ea typeface="黑体" pitchFamily="49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en-US" sz="2000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</a:t>
            </a:r>
            <a:r>
              <a:rPr lang="en-US" altLang="zh-CN" sz="2000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en-US" sz="2000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</a:t>
            </a:r>
            <a:r>
              <a:rPr lang="en-US" altLang="zh-CN" sz="2000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en-US" sz="2000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器</a:t>
            </a:r>
            <a:endParaRPr lang="zh-CN" altLang="en-US" sz="2000" dirty="0">
              <a:solidFill>
                <a:srgbClr val="33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图片 16">
            <a:hlinkClick r:id="rId17" action="ppaction://hlinksldjump"/>
            <a:extLst>
              <a:ext uri="{FF2B5EF4-FFF2-40B4-BE49-F238E27FC236}">
                <a16:creationId xmlns:a16="http://schemas.microsoft.com/office/drawing/2014/main" id="{8B30FEE8-387F-4E4F-BBA9-6E2D5DB2FA3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64288" y="637780"/>
            <a:ext cx="1613921" cy="220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1698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31583</TotalTime>
  <Words>4362</Words>
  <Application>Microsoft Office PowerPoint</Application>
  <PresentationFormat>全屏显示(4:3)</PresentationFormat>
  <Paragraphs>1163</Paragraphs>
  <Slides>70</Slides>
  <Notes>12</Notes>
  <HiddenSlides>4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70</vt:i4>
      </vt:variant>
    </vt:vector>
  </HeadingPairs>
  <TitlesOfParts>
    <vt:vector size="85" baseType="lpstr">
      <vt:lpstr>黑体</vt:lpstr>
      <vt:lpstr>楷体</vt:lpstr>
      <vt:lpstr>宋体</vt:lpstr>
      <vt:lpstr>Arial</vt:lpstr>
      <vt:lpstr>Arial Black</vt:lpstr>
      <vt:lpstr>Book Antiqua</vt:lpstr>
      <vt:lpstr>Cambria Math</vt:lpstr>
      <vt:lpstr>Symbol</vt:lpstr>
      <vt:lpstr>Times New Roman</vt:lpstr>
      <vt:lpstr>Vladimir Script</vt:lpstr>
      <vt:lpstr>Wingdings</vt:lpstr>
      <vt:lpstr>Pixel</vt:lpstr>
      <vt:lpstr>Visio</vt:lpstr>
      <vt:lpstr>文档</vt:lpstr>
      <vt:lpstr>Image</vt:lpstr>
      <vt:lpstr>PowerPoint 演示文稿</vt:lpstr>
      <vt:lpstr>4.4  虚拟存储器</vt:lpstr>
      <vt:lpstr>PowerPoint 演示文稿</vt:lpstr>
      <vt:lpstr>一、基本概念</vt:lpstr>
      <vt:lpstr>一、基本概念</vt:lpstr>
      <vt:lpstr>一、基本概念</vt:lpstr>
      <vt:lpstr>一、基本概念</vt:lpstr>
      <vt:lpstr>二、段式虚拟存储器</vt:lpstr>
      <vt:lpstr>二、段式虚拟存储器</vt:lpstr>
      <vt:lpstr>二、段式虚拟存储器</vt:lpstr>
      <vt:lpstr>二、段式虚拟存储器</vt:lpstr>
      <vt:lpstr>二、段式虚拟存储器</vt:lpstr>
      <vt:lpstr>二、段式虚拟存储器</vt:lpstr>
      <vt:lpstr>二、段式虚拟存储器</vt:lpstr>
      <vt:lpstr>三、页式虚拟存储器</vt:lpstr>
      <vt:lpstr>三、页式虚拟存储器</vt:lpstr>
      <vt:lpstr>三、页式虚拟存储器</vt:lpstr>
      <vt:lpstr>三、页式虚拟存储器</vt:lpstr>
      <vt:lpstr>四、段页式虚拟存储器</vt:lpstr>
      <vt:lpstr>四、段页式虚拟存储器</vt:lpstr>
      <vt:lpstr>四、段页式虚拟存储器</vt:lpstr>
      <vt:lpstr>四、段页式虚拟存储器</vt:lpstr>
      <vt:lpstr>五、解决虚拟存储器的问题</vt:lpstr>
      <vt:lpstr>五、解决虚拟存储器的问题      1. 多级页表</vt:lpstr>
      <vt:lpstr>五、解决虚拟存储器的问题      1. 多级页表</vt:lpstr>
      <vt:lpstr>PowerPoint 演示文稿</vt:lpstr>
      <vt:lpstr>五、解决虚拟存储器的问题      1. 多级页表</vt:lpstr>
      <vt:lpstr>五、解决虚拟存储器的问题   2. 地址变换的速度问题</vt:lpstr>
      <vt:lpstr>五、解决虚拟存储器的问题   2. 地址变换的速度问题</vt:lpstr>
      <vt:lpstr>PowerPoint 演示文稿</vt:lpstr>
      <vt:lpstr>五、解决虚拟存储器的问题   2. 地址变换的速度问题</vt:lpstr>
      <vt:lpstr>PowerPoint 演示文稿</vt:lpstr>
      <vt:lpstr>六、替换算法</vt:lpstr>
      <vt:lpstr>六、替换算法</vt:lpstr>
      <vt:lpstr>PowerPoint 演示文稿</vt:lpstr>
      <vt:lpstr>一、RISC-V中页式虚拟存储器的实现</vt:lpstr>
      <vt:lpstr>一、RISC-V中页式虚拟存储器的实现</vt:lpstr>
      <vt:lpstr>一、RISC-V中页式虚拟存储器的实现</vt:lpstr>
      <vt:lpstr>一、RISC-V中页式虚拟存储器的实现</vt:lpstr>
      <vt:lpstr>一、RISC-V中页式虚拟存储器的实现</vt:lpstr>
      <vt:lpstr>一、RISC-V中页式虚拟存储器的实现</vt:lpstr>
      <vt:lpstr>一、RISC-V中页式虚拟存储器的实现</vt:lpstr>
      <vt:lpstr>一、RISC-V中页式虚拟存储器的实现</vt:lpstr>
      <vt:lpstr>PowerPoint 演示文稿</vt:lpstr>
      <vt:lpstr>一、RISC-V中页式虚拟存储器的实现</vt:lpstr>
      <vt:lpstr>PowerPoint 演示文稿</vt:lpstr>
      <vt:lpstr>一、RISC-V中页式虚拟存储器的实现</vt:lpstr>
      <vt:lpstr>PowerPoint 演示文稿</vt:lpstr>
      <vt:lpstr>一、RISC-V中页式虚拟存储器的实现</vt:lpstr>
      <vt:lpstr>PowerPoint 演示文稿</vt:lpstr>
      <vt:lpstr>一、RISC-V中页式虚拟存储器的实现</vt:lpstr>
      <vt:lpstr>二、IA-32：Pentium的段页式虚拟存储管理</vt:lpstr>
      <vt:lpstr>二、IA-32：Pentium的段页式虚拟存储管理</vt:lpstr>
      <vt:lpstr>二、IA-32：Pentium的段页式虚拟存储管理</vt:lpstr>
      <vt:lpstr>页式虚拟存储器的工作过程</vt:lpstr>
      <vt:lpstr>二、IA-32：Pentium的段页式虚拟存储管理</vt:lpstr>
      <vt:lpstr>PowerPoint 演示文稿</vt:lpstr>
      <vt:lpstr>存储体系实例：AMD Opteron（皓龙）处理器 </vt:lpstr>
      <vt:lpstr>存储体系实例：AMD Opteron（皓龙）处理器 </vt:lpstr>
      <vt:lpstr>PowerPoint 演示文稿</vt:lpstr>
      <vt:lpstr>PowerPoint 演示文稿</vt:lpstr>
      <vt:lpstr>存储体系实例：AMD Opteron（皓龙）处理器 </vt:lpstr>
      <vt:lpstr>The virtual address, physical address, indexes, tags, and data blocks for the AMD Opteron caches and TLBs.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Putting It All Together :  The Intel i7 6700 memory hierarchy</vt:lpstr>
    </vt:vector>
  </TitlesOfParts>
  <Company>西安电子科技大学 计算机科学与技术学院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计算机组织与体系结构</dc:title>
  <dc:subject>第4章 存储系统</dc:subject>
  <dc:creator>车向泉</dc:creator>
  <dc:description>4.4 虚拟存储器
虚拟存储管理
RISC-V页式虚拟存储器的实现</dc:description>
  <cp:lastModifiedBy>Che Xiangquan</cp:lastModifiedBy>
  <cp:revision>1369</cp:revision>
  <dcterms:created xsi:type="dcterms:W3CDTF">1601-01-01T00:00:00Z</dcterms:created>
  <dcterms:modified xsi:type="dcterms:W3CDTF">2021-07-23T10:48:27Z</dcterms:modified>
</cp:coreProperties>
</file>