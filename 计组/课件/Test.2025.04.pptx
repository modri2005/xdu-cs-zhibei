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vsdx" ContentType="application/vnd.ms-visio.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5"/>
  </p:notesMasterIdLst>
  <p:sldIdLst>
    <p:sldId id="256" r:id="rId2"/>
    <p:sldId id="261" r:id="rId3"/>
    <p:sldId id="668" r:id="rId4"/>
    <p:sldId id="280" r:id="rId5"/>
    <p:sldId id="279" r:id="rId6"/>
    <p:sldId id="743" r:id="rId7"/>
    <p:sldId id="874" r:id="rId8"/>
    <p:sldId id="271" r:id="rId9"/>
    <p:sldId id="615" r:id="rId10"/>
    <p:sldId id="272" r:id="rId11"/>
    <p:sldId id="873" r:id="rId12"/>
    <p:sldId id="868" r:id="rId13"/>
    <p:sldId id="867" r:id="rId14"/>
    <p:sldId id="1163" r:id="rId15"/>
    <p:sldId id="869" r:id="rId16"/>
    <p:sldId id="833" r:id="rId17"/>
    <p:sldId id="275" r:id="rId18"/>
    <p:sldId id="875" r:id="rId19"/>
    <p:sldId id="876" r:id="rId20"/>
    <p:sldId id="877" r:id="rId21"/>
    <p:sldId id="870" r:id="rId22"/>
    <p:sldId id="1160" r:id="rId23"/>
    <p:sldId id="878" r:id="rId24"/>
    <p:sldId id="281" r:id="rId25"/>
    <p:sldId id="879" r:id="rId26"/>
    <p:sldId id="276" r:id="rId27"/>
    <p:sldId id="871" r:id="rId28"/>
    <p:sldId id="872" r:id="rId29"/>
    <p:sldId id="696" r:id="rId30"/>
    <p:sldId id="273" r:id="rId31"/>
    <p:sldId id="1162" r:id="rId32"/>
    <p:sldId id="1161" r:id="rId33"/>
    <p:sldId id="1159" r:id="rId34"/>
    <p:sldId id="1158" r:id="rId35"/>
    <p:sldId id="859" r:id="rId36"/>
    <p:sldId id="278" r:id="rId37"/>
    <p:sldId id="860" r:id="rId38"/>
    <p:sldId id="866" r:id="rId39"/>
    <p:sldId id="277" r:id="rId40"/>
    <p:sldId id="861" r:id="rId41"/>
    <p:sldId id="836" r:id="rId42"/>
    <p:sldId id="837" r:id="rId43"/>
    <p:sldId id="1157" r:id="rId44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FF00"/>
    <a:srgbClr val="009900"/>
    <a:srgbClr val="FF00FF"/>
    <a:srgbClr val="0000FF"/>
    <a:srgbClr val="FF6600"/>
    <a:srgbClr val="FFFFD9"/>
    <a:srgbClr val="3366FF"/>
    <a:srgbClr val="33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45" autoAdjust="0"/>
    <p:restoredTop sz="96529" autoAdjust="0"/>
  </p:normalViewPr>
  <p:slideViewPr>
    <p:cSldViewPr>
      <p:cViewPr varScale="1">
        <p:scale>
          <a:sx n="114" d="100"/>
          <a:sy n="114" d="100"/>
        </p:scale>
        <p:origin x="87" y="69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69806-B708-491E-B0FE-47CD499ACF7D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5907A-43D7-47D1-BB72-131B1A76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47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543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Atanasoff-Berry </a:t>
            </a:r>
            <a:r>
              <a:rPr lang="zh-CN" altLang="en-US" dirty="0"/>
              <a:t>计算机（简称</a:t>
            </a:r>
            <a:r>
              <a:rPr lang="en-US" altLang="zh-CN" dirty="0"/>
              <a:t>ABC</a:t>
            </a:r>
            <a:r>
              <a:rPr lang="zh-CN" altLang="en-US" dirty="0"/>
              <a:t>）：</a:t>
            </a:r>
            <a:r>
              <a:rPr lang="en-US" altLang="zh-CN" dirty="0"/>
              <a:t>1937</a:t>
            </a:r>
            <a:r>
              <a:rPr lang="zh-CN" altLang="en-US" dirty="0"/>
              <a:t>～</a:t>
            </a:r>
            <a:r>
              <a:rPr lang="en-US" altLang="zh-CN" dirty="0"/>
              <a:t>1941</a:t>
            </a:r>
          </a:p>
          <a:p>
            <a:r>
              <a:rPr lang="en-US" altLang="zh-CN" dirty="0"/>
              <a:t>ENIAC</a:t>
            </a:r>
            <a:r>
              <a:rPr lang="zh-CN" altLang="en-US" dirty="0"/>
              <a:t>（</a:t>
            </a:r>
            <a:r>
              <a:rPr lang="en-US" altLang="zh-CN" dirty="0"/>
              <a:t>Electronic Numerical Integrator And Computer</a:t>
            </a:r>
            <a:r>
              <a:rPr lang="zh-CN" altLang="en-US" dirty="0"/>
              <a:t>，电子数字积分计算机）：</a:t>
            </a:r>
            <a:r>
              <a:rPr lang="en-US" altLang="zh-CN" dirty="0"/>
              <a:t>1946</a:t>
            </a:r>
          </a:p>
          <a:p>
            <a:r>
              <a:rPr lang="en-US" altLang="zh-CN" dirty="0"/>
              <a:t>ENIAC</a:t>
            </a:r>
            <a:r>
              <a:rPr lang="zh-CN" altLang="en-US" dirty="0"/>
              <a:t>：</a:t>
            </a:r>
            <a:r>
              <a:rPr lang="en-US" altLang="zh-CN" dirty="0"/>
              <a:t>/‘</a:t>
            </a:r>
            <a:r>
              <a:rPr lang="en-US" altLang="zh-CN" dirty="0" err="1"/>
              <a:t>i</a:t>
            </a:r>
            <a:r>
              <a:rPr lang="en-US" altLang="zh-CN" dirty="0"/>
              <a:t>: </a:t>
            </a:r>
            <a:r>
              <a:rPr lang="en-US" altLang="zh-CN" dirty="0" err="1"/>
              <a:t>niæk</a:t>
            </a:r>
            <a:r>
              <a:rPr lang="en-US" altLang="zh-CN" dirty="0"/>
              <a:t>/</a:t>
            </a:r>
            <a:r>
              <a:rPr lang="zh-CN" altLang="en-US" dirty="0"/>
              <a:t>，埃尼阿克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PDP-11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：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是最早运行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AT&amp;T UNIX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操作系统（用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C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语言开发）的计算机，最初的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BSD UNIX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操作系统也是在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PDP-11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上开发的。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16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位字长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个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16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位的寄存器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、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最大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32K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字的主存寻址空间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309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533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(2-2</a:t>
            </a:r>
            <a:r>
              <a:rPr lang="en-US" altLang="zh-CN" baseline="30000" dirty="0"/>
              <a:t>-23</a:t>
            </a:r>
            <a:r>
              <a:rPr lang="en-US" altLang="zh-CN" dirty="0"/>
              <a:t>)×2</a:t>
            </a:r>
            <a:r>
              <a:rPr lang="en-US" altLang="zh-CN" baseline="30000" dirty="0"/>
              <a:t>127</a:t>
            </a:r>
          </a:p>
          <a:p>
            <a:r>
              <a:rPr lang="en-US" altLang="zh-CN" dirty="0"/>
              <a:t>1.0×2</a:t>
            </a:r>
            <a:r>
              <a:rPr lang="en-US" altLang="zh-CN" baseline="30000" dirty="0"/>
              <a:t>-126</a:t>
            </a:r>
          </a:p>
          <a:p>
            <a:r>
              <a:rPr lang="en-US" altLang="zh-CN" dirty="0"/>
              <a:t>(1-2</a:t>
            </a:r>
            <a:r>
              <a:rPr lang="en-US" altLang="zh-CN" baseline="30000" dirty="0"/>
              <a:t>-23</a:t>
            </a:r>
            <a:r>
              <a:rPr lang="en-US" altLang="zh-CN" dirty="0"/>
              <a:t>)×2</a:t>
            </a:r>
            <a:r>
              <a:rPr lang="en-US" altLang="zh-CN" baseline="30000" dirty="0"/>
              <a:t>-126</a:t>
            </a:r>
          </a:p>
          <a:p>
            <a:r>
              <a:rPr lang="en-US" altLang="zh-CN" dirty="0"/>
              <a:t>2</a:t>
            </a:r>
            <a:r>
              <a:rPr lang="en-US" altLang="zh-CN" baseline="30000" dirty="0"/>
              <a:t>-23</a:t>
            </a:r>
            <a:r>
              <a:rPr lang="en-US" altLang="zh-CN" dirty="0"/>
              <a:t>×2</a:t>
            </a:r>
            <a:r>
              <a:rPr lang="en-US" altLang="zh-CN" baseline="30000" dirty="0"/>
              <a:t>-126</a:t>
            </a:r>
            <a:endParaRPr lang="zh-CN" altLang="en-US" baseline="30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220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float :</a:t>
            </a:r>
            <a:r>
              <a:rPr lang="zh-CN" altLang="en-US" dirty="0"/>
              <a:t>  </a:t>
            </a:r>
            <a:r>
              <a:rPr lang="en-US" altLang="zh-CN" dirty="0"/>
              <a:t>1</a:t>
            </a:r>
            <a:r>
              <a:rPr lang="en-US" altLang="zh-CN" u="sng" dirty="0"/>
              <a:t>100 1000 0</a:t>
            </a:r>
            <a:r>
              <a:rPr lang="en-US" altLang="zh-CN" dirty="0"/>
              <a:t>000 0000 0000 0000 0000 0000</a:t>
            </a:r>
          </a:p>
          <a:p>
            <a:r>
              <a:rPr lang="en-US" altLang="zh-CN" dirty="0">
                <a:solidFill>
                  <a:srgbClr val="008000"/>
                </a:solidFill>
              </a:rPr>
              <a:t>-1.0×2</a:t>
            </a:r>
            <a:r>
              <a:rPr lang="en-US" altLang="zh-CN" i="1" baseline="30000" dirty="0">
                <a:solidFill>
                  <a:srgbClr val="008000"/>
                </a:solidFill>
              </a:rPr>
              <a:t>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1" dirty="0">
                <a:solidFill>
                  <a:srgbClr val="008000"/>
                </a:solidFill>
              </a:rPr>
              <a:t>n</a:t>
            </a:r>
            <a:r>
              <a:rPr lang="zh-CN" altLang="en-US" dirty="0">
                <a:solidFill>
                  <a:srgbClr val="008000"/>
                </a:solidFill>
              </a:rPr>
              <a:t>＝</a:t>
            </a:r>
            <a:r>
              <a:rPr lang="en-US" altLang="zh-CN" dirty="0">
                <a:solidFill>
                  <a:srgbClr val="008000"/>
                </a:solidFill>
              </a:rPr>
              <a:t>[</a:t>
            </a:r>
            <a:r>
              <a:rPr lang="en-US" altLang="zh-CN" i="1" dirty="0">
                <a:solidFill>
                  <a:srgbClr val="008000"/>
                </a:solidFill>
              </a:rPr>
              <a:t>n</a:t>
            </a:r>
            <a:r>
              <a:rPr lang="en-US" altLang="zh-CN" dirty="0">
                <a:solidFill>
                  <a:srgbClr val="008000"/>
                </a:solidFill>
              </a:rPr>
              <a:t>]</a:t>
            </a:r>
            <a:r>
              <a:rPr lang="zh-CN" altLang="en-US" baseline="-25000" dirty="0">
                <a:solidFill>
                  <a:srgbClr val="008000"/>
                </a:solidFill>
              </a:rPr>
              <a:t>移</a:t>
            </a:r>
            <a:r>
              <a:rPr lang="zh-CN" altLang="en-US" dirty="0">
                <a:solidFill>
                  <a:srgbClr val="008000"/>
                </a:solidFill>
              </a:rPr>
              <a:t>－</a:t>
            </a:r>
            <a:r>
              <a:rPr lang="en-US" altLang="zh-CN" dirty="0">
                <a:solidFill>
                  <a:srgbClr val="008000"/>
                </a:solidFill>
              </a:rPr>
              <a:t>01111111</a:t>
            </a:r>
            <a:r>
              <a:rPr lang="en-US" altLang="zh-CN" baseline="-25000" dirty="0">
                <a:solidFill>
                  <a:srgbClr val="008000"/>
                </a:solidFill>
              </a:rPr>
              <a:t>2</a:t>
            </a:r>
            <a:endParaRPr lang="zh-CN" altLang="en-US" i="1" dirty="0">
              <a:solidFill>
                <a:srgbClr val="008000"/>
              </a:solidFill>
            </a:endParaRPr>
          </a:p>
          <a:p>
            <a:r>
              <a:rPr lang="zh-CN" altLang="en-US" dirty="0">
                <a:solidFill>
                  <a:srgbClr val="008000"/>
                </a:solidFill>
              </a:rPr>
              <a:t>＝</a:t>
            </a:r>
            <a:r>
              <a:rPr lang="en-US" altLang="zh-CN" dirty="0">
                <a:solidFill>
                  <a:srgbClr val="008000"/>
                </a:solidFill>
              </a:rPr>
              <a:t>10010000</a:t>
            </a:r>
            <a:r>
              <a:rPr lang="en-US" altLang="zh-CN" baseline="-25000" dirty="0">
                <a:solidFill>
                  <a:srgbClr val="008000"/>
                </a:solidFill>
              </a:rPr>
              <a:t>2</a:t>
            </a:r>
            <a:r>
              <a:rPr lang="zh-CN" altLang="en-US" dirty="0">
                <a:solidFill>
                  <a:srgbClr val="008000"/>
                </a:solidFill>
              </a:rPr>
              <a:t>－</a:t>
            </a:r>
            <a:r>
              <a:rPr lang="en-US" altLang="zh-CN" dirty="0">
                <a:solidFill>
                  <a:srgbClr val="008000"/>
                </a:solidFill>
              </a:rPr>
              <a:t>10000000</a:t>
            </a:r>
            <a:r>
              <a:rPr lang="en-US" altLang="zh-CN" baseline="-25000" dirty="0">
                <a:solidFill>
                  <a:srgbClr val="008000"/>
                </a:solidFill>
              </a:rPr>
              <a:t>2</a:t>
            </a:r>
            <a:r>
              <a:rPr lang="zh-CN" altLang="en-US" dirty="0">
                <a:solidFill>
                  <a:srgbClr val="008000"/>
                </a:solidFill>
              </a:rPr>
              <a:t>＋</a:t>
            </a:r>
            <a:r>
              <a:rPr lang="en-US" altLang="zh-CN" dirty="0">
                <a:solidFill>
                  <a:srgbClr val="008000"/>
                </a:solidFill>
              </a:rPr>
              <a:t>1</a:t>
            </a:r>
          </a:p>
          <a:p>
            <a:r>
              <a:rPr lang="zh-CN" altLang="en-US" dirty="0">
                <a:solidFill>
                  <a:srgbClr val="008000"/>
                </a:solidFill>
              </a:rPr>
              <a:t>＝</a:t>
            </a:r>
            <a:r>
              <a:rPr lang="en-US" altLang="zh-CN" dirty="0">
                <a:solidFill>
                  <a:srgbClr val="008000"/>
                </a:solidFill>
              </a:rPr>
              <a:t>00010001</a:t>
            </a:r>
            <a:r>
              <a:rPr lang="en-US" altLang="zh-CN" baseline="-25000" dirty="0">
                <a:solidFill>
                  <a:srgbClr val="008000"/>
                </a:solidFill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8000"/>
                </a:solidFill>
              </a:rPr>
              <a:t>＝</a:t>
            </a:r>
            <a:r>
              <a:rPr lang="en-US" altLang="zh-CN" dirty="0">
                <a:solidFill>
                  <a:srgbClr val="008000"/>
                </a:solidFill>
              </a:rPr>
              <a:t>17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r>
              <a:rPr lang="en-US" altLang="zh-CN" dirty="0"/>
              <a:t>int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FF"/>
                </a:solidFill>
              </a:rPr>
              <a:t> 1100 1000 0000 0000 0000 0000 0000 0000</a:t>
            </a:r>
            <a:endParaRPr lang="zh-CN" altLang="en-US" dirty="0">
              <a:solidFill>
                <a:srgbClr val="0000FF"/>
              </a:solidFill>
            </a:endParaRPr>
          </a:p>
          <a:p>
            <a:r>
              <a:rPr lang="en-US" altLang="zh-CN" dirty="0">
                <a:solidFill>
                  <a:srgbClr val="0000FF"/>
                </a:solidFill>
              </a:rPr>
              <a:t>-0011 1000 0000 0000 0000 0000 0000 0000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-7×2</a:t>
            </a:r>
            <a:r>
              <a:rPr lang="en-US" altLang="zh-CN" baseline="30000" dirty="0">
                <a:solidFill>
                  <a:srgbClr val="FF0000"/>
                </a:solidFill>
              </a:rPr>
              <a:t>27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1E7A0-E7E1-4E50-968A-7D9F30D86685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5875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2B4EA-477E-4866-809B-A9D75826D03D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8739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0"/>
            <a:ext cx="9144001" cy="6858000"/>
            <a:chOff x="0" y="0"/>
            <a:chExt cx="9144001" cy="6858000"/>
          </a:xfrm>
        </p:grpSpPr>
        <p:sp>
          <p:nvSpPr>
            <p:cNvPr id="17920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3505200" cy="685800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4" name="Rectangle 4"/>
            <p:cNvSpPr>
              <a:spLocks noChangeArrowheads="1"/>
            </p:cNvSpPr>
            <p:nvPr/>
          </p:nvSpPr>
          <p:spPr bwMode="hidden">
            <a:xfrm>
              <a:off x="1716088" y="1690688"/>
              <a:ext cx="7427913" cy="253365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6" name="Rectangle 6"/>
            <p:cNvSpPr>
              <a:spLocks noChangeArrowheads="1"/>
            </p:cNvSpPr>
            <p:nvPr/>
          </p:nvSpPr>
          <p:spPr bwMode="auto">
            <a:xfrm>
              <a:off x="573088" y="3582988"/>
              <a:ext cx="576263" cy="64135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7" name="Rectangle 7"/>
            <p:cNvSpPr>
              <a:spLocks noChangeArrowheads="1"/>
            </p:cNvSpPr>
            <p:nvPr/>
          </p:nvSpPr>
          <p:spPr bwMode="auto">
            <a:xfrm>
              <a:off x="1716088" y="1690688"/>
              <a:ext cx="574675" cy="642938"/>
            </a:xfrm>
            <a:prstGeom prst="rect">
              <a:avLst/>
            </a:prstGeom>
            <a:solidFill>
              <a:srgbClr val="CCCC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9" name="Rectangle 9"/>
            <p:cNvSpPr>
              <a:spLocks noChangeArrowheads="1"/>
            </p:cNvSpPr>
            <p:nvPr/>
          </p:nvSpPr>
          <p:spPr bwMode="auto">
            <a:xfrm>
              <a:off x="1141413" y="3582988"/>
              <a:ext cx="584200" cy="64135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0" name="Rectangle 10"/>
            <p:cNvSpPr>
              <a:spLocks noChangeArrowheads="1"/>
            </p:cNvSpPr>
            <p:nvPr/>
          </p:nvSpPr>
          <p:spPr bwMode="auto">
            <a:xfrm>
              <a:off x="2281238" y="1690688"/>
              <a:ext cx="585788" cy="642938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1" name="Rectangle 11"/>
            <p:cNvSpPr>
              <a:spLocks noChangeArrowheads="1"/>
            </p:cNvSpPr>
            <p:nvPr/>
          </p:nvSpPr>
          <p:spPr bwMode="auto">
            <a:xfrm>
              <a:off x="1141413" y="2324101"/>
              <a:ext cx="584200" cy="633413"/>
            </a:xfrm>
            <a:prstGeom prst="rect">
              <a:avLst/>
            </a:prstGeom>
            <a:solidFill>
              <a:srgbClr val="CCCC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2" name="Rectangle 12"/>
            <p:cNvSpPr>
              <a:spLocks noChangeArrowheads="1"/>
            </p:cNvSpPr>
            <p:nvPr/>
          </p:nvSpPr>
          <p:spPr bwMode="auto">
            <a:xfrm>
              <a:off x="0" y="2324101"/>
              <a:ext cx="582613" cy="63341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3" name="Rectangle 13"/>
            <p:cNvSpPr>
              <a:spLocks noChangeArrowheads="1"/>
            </p:cNvSpPr>
            <p:nvPr/>
          </p:nvSpPr>
          <p:spPr bwMode="auto">
            <a:xfrm>
              <a:off x="1716088" y="2324101"/>
              <a:ext cx="574675" cy="633413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4" name="Rectangle 14"/>
            <p:cNvSpPr>
              <a:spLocks noChangeArrowheads="1"/>
            </p:cNvSpPr>
            <p:nvPr/>
          </p:nvSpPr>
          <p:spPr bwMode="auto">
            <a:xfrm>
              <a:off x="573088" y="2947988"/>
              <a:ext cx="576263" cy="644525"/>
            </a:xfrm>
            <a:prstGeom prst="rect">
              <a:avLst/>
            </a:prstGeom>
            <a:solidFill>
              <a:srgbClr val="CCCC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5" name="Rectangle 15"/>
            <p:cNvSpPr>
              <a:spLocks noChangeArrowheads="1"/>
            </p:cNvSpPr>
            <p:nvPr/>
          </p:nvSpPr>
          <p:spPr bwMode="auto">
            <a:xfrm>
              <a:off x="1141413" y="2947988"/>
              <a:ext cx="584200" cy="6445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28" name="Rectangle 28"/>
            <p:cNvSpPr>
              <a:spLocks noChangeArrowheads="1"/>
            </p:cNvSpPr>
            <p:nvPr/>
          </p:nvSpPr>
          <p:spPr bwMode="auto">
            <a:xfrm>
              <a:off x="0" y="2590800"/>
              <a:ext cx="9144000" cy="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9217" name="Rectangle 17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73250"/>
            <a:ext cx="2895600" cy="32419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92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50825" y="1828800"/>
            <a:ext cx="8740775" cy="2209800"/>
          </a:xfrm>
        </p:spPr>
        <p:txBody>
          <a:bodyPr/>
          <a:lstStyle>
            <a:lvl1pPr algn="r">
              <a:defRPr sz="4000" b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792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67200"/>
            <a:ext cx="8740775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4000" b="0">
                <a:latin typeface="+mn-lt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24" name="Rectangle 16"/>
          <p:cNvSpPr txBox="1">
            <a:spLocks noChangeArrowheads="1"/>
          </p:cNvSpPr>
          <p:nvPr/>
        </p:nvSpPr>
        <p:spPr bwMode="auto">
          <a:xfrm>
            <a:off x="251400" y="5229250"/>
            <a:ext cx="2921965" cy="705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+mj-lt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l"/>
            <a:fld id="{87D8CD90-EB6C-4EF8-843B-BC01DDFAB9E6}" type="datetime3">
              <a:rPr lang="zh-CN" altLang="en-US" sz="2000" b="1" smtClean="0">
                <a:solidFill>
                  <a:srgbClr val="5D5DC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pPr algn="l"/>
              <a:t>2025年4月7日星期一</a:t>
            </a:fld>
            <a:endParaRPr lang="en-US" altLang="zh-CN" sz="2000" b="1" dirty="0">
              <a:solidFill>
                <a:srgbClr val="5D5DC0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l"/>
            <a:fld id="{6439F639-8FB6-4CFA-9289-F7A8A19716DA}" type="datetime10"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rPr>
              <a:pPr algn="l"/>
              <a:t>22:00</a:t>
            </a:fld>
            <a:endParaRPr lang="en-US" altLang="zh-CN" sz="2000" b="1" dirty="0">
              <a:solidFill>
                <a:srgbClr val="5D5DC0"/>
              </a:solidFill>
              <a:effectLst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6172" y="5737225"/>
            <a:ext cx="8635428" cy="860426"/>
            <a:chOff x="356172" y="5737225"/>
            <a:chExt cx="8635428" cy="860426"/>
          </a:xfrm>
        </p:grpSpPr>
        <p:cxnSp>
          <p:nvCxnSpPr>
            <p:cNvPr id="6" name="直接连接符 5"/>
            <p:cNvCxnSpPr/>
            <p:nvPr/>
          </p:nvCxnSpPr>
          <p:spPr bwMode="auto">
            <a:xfrm flipH="1">
              <a:off x="356172" y="6597440"/>
              <a:ext cx="151221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D5D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40" name="组合 39"/>
            <p:cNvGrpSpPr/>
            <p:nvPr/>
          </p:nvGrpSpPr>
          <p:grpSpPr>
            <a:xfrm>
              <a:off x="2616916" y="5912643"/>
              <a:ext cx="157163" cy="39688"/>
              <a:chOff x="6834188" y="5932488"/>
              <a:chExt cx="157163" cy="39688"/>
            </a:xfrm>
          </p:grpSpPr>
          <p:sp>
            <p:nvSpPr>
              <p:cNvPr id="9" name="Line 5"/>
              <p:cNvSpPr>
                <a:spLocks noChangeShapeType="1"/>
              </p:cNvSpPr>
              <p:nvPr/>
            </p:nvSpPr>
            <p:spPr bwMode="auto">
              <a:xfrm flipV="1">
                <a:off x="6897688" y="59324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 flipV="1">
                <a:off x="6834188" y="59324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Line 16"/>
              <p:cNvSpPr>
                <a:spLocks noChangeShapeType="1"/>
              </p:cNvSpPr>
              <p:nvPr/>
            </p:nvSpPr>
            <p:spPr bwMode="auto">
              <a:xfrm flipH="1" flipV="1">
                <a:off x="6865938" y="59324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Line 17"/>
              <p:cNvSpPr>
                <a:spLocks noChangeShapeType="1"/>
              </p:cNvSpPr>
              <p:nvPr/>
            </p:nvSpPr>
            <p:spPr bwMode="auto">
              <a:xfrm flipH="1" flipV="1">
                <a:off x="6943726" y="59324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2288304" y="6115843"/>
              <a:ext cx="157162" cy="39688"/>
              <a:chOff x="6505576" y="6135688"/>
              <a:chExt cx="157162" cy="39688"/>
            </a:xfrm>
          </p:grpSpPr>
          <p:sp>
            <p:nvSpPr>
              <p:cNvPr id="10" name="Line 6"/>
              <p:cNvSpPr>
                <a:spLocks noChangeShapeType="1"/>
              </p:cNvSpPr>
              <p:nvPr/>
            </p:nvSpPr>
            <p:spPr bwMode="auto">
              <a:xfrm flipV="1">
                <a:off x="6505576" y="61356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 flipH="1" flipV="1">
                <a:off x="6537326" y="61356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Line 18"/>
              <p:cNvSpPr>
                <a:spLocks noChangeShapeType="1"/>
              </p:cNvSpPr>
              <p:nvPr/>
            </p:nvSpPr>
            <p:spPr bwMode="auto">
              <a:xfrm flipH="1" flipV="1">
                <a:off x="6615113" y="61356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Line 19"/>
              <p:cNvSpPr>
                <a:spLocks noChangeShapeType="1"/>
              </p:cNvSpPr>
              <p:nvPr/>
            </p:nvSpPr>
            <p:spPr bwMode="auto">
              <a:xfrm flipV="1">
                <a:off x="6569076" y="61356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4" name="Line 25"/>
            <p:cNvSpPr>
              <a:spLocks noChangeShapeType="1"/>
            </p:cNvSpPr>
            <p:nvPr/>
          </p:nvSpPr>
          <p:spPr bwMode="auto">
            <a:xfrm>
              <a:off x="2023985" y="6597650"/>
              <a:ext cx="6967615" cy="0"/>
            </a:xfrm>
            <a:prstGeom prst="line">
              <a:avLst/>
            </a:prstGeom>
            <a:noFill/>
            <a:ln w="19050">
              <a:solidFill>
                <a:srgbClr val="5D5D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819198" y="5737225"/>
              <a:ext cx="204788" cy="860426"/>
              <a:chOff x="7115176" y="5737225"/>
              <a:chExt cx="204788" cy="860426"/>
            </a:xfrm>
          </p:grpSpPr>
          <p:sp>
            <p:nvSpPr>
              <p:cNvPr id="13" name="Line 8"/>
              <p:cNvSpPr>
                <a:spLocks noChangeShapeType="1"/>
              </p:cNvSpPr>
              <p:nvPr/>
            </p:nvSpPr>
            <p:spPr bwMode="auto">
              <a:xfrm flipV="1">
                <a:off x="7210426" y="5894388"/>
                <a:ext cx="0" cy="15557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Line 9"/>
              <p:cNvSpPr>
                <a:spLocks noChangeShapeType="1"/>
              </p:cNvSpPr>
              <p:nvPr/>
            </p:nvSpPr>
            <p:spPr bwMode="auto">
              <a:xfrm flipV="1">
                <a:off x="7162801" y="6049963"/>
                <a:ext cx="0" cy="133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Line 10"/>
              <p:cNvSpPr>
                <a:spLocks noChangeShapeType="1"/>
              </p:cNvSpPr>
              <p:nvPr/>
            </p:nvSpPr>
            <p:spPr bwMode="auto">
              <a:xfrm flipV="1">
                <a:off x="7256463" y="5894388"/>
                <a:ext cx="0" cy="619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 flipV="1">
                <a:off x="7162801" y="6284913"/>
                <a:ext cx="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Line 12"/>
              <p:cNvSpPr>
                <a:spLocks noChangeShapeType="1"/>
              </p:cNvSpPr>
              <p:nvPr/>
            </p:nvSpPr>
            <p:spPr bwMode="auto">
              <a:xfrm flipV="1">
                <a:off x="7319963" y="5956300"/>
                <a:ext cx="0" cy="641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Line 13"/>
              <p:cNvSpPr>
                <a:spLocks noChangeShapeType="1"/>
              </p:cNvSpPr>
              <p:nvPr/>
            </p:nvSpPr>
            <p:spPr bwMode="auto">
              <a:xfrm>
                <a:off x="7115176" y="62849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Line 14"/>
              <p:cNvSpPr>
                <a:spLocks noChangeShapeType="1"/>
              </p:cNvSpPr>
              <p:nvPr/>
            </p:nvSpPr>
            <p:spPr bwMode="auto">
              <a:xfrm>
                <a:off x="7115176" y="61833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Line 20"/>
              <p:cNvSpPr>
                <a:spLocks noChangeShapeType="1"/>
              </p:cNvSpPr>
              <p:nvPr/>
            </p:nvSpPr>
            <p:spPr bwMode="auto">
              <a:xfrm>
                <a:off x="7210426" y="5894388"/>
                <a:ext cx="460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Line 21"/>
              <p:cNvSpPr>
                <a:spLocks noChangeShapeType="1"/>
              </p:cNvSpPr>
              <p:nvPr/>
            </p:nvSpPr>
            <p:spPr bwMode="auto">
              <a:xfrm flipV="1">
                <a:off x="7115176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Line 22"/>
              <p:cNvSpPr>
                <a:spLocks noChangeShapeType="1"/>
              </p:cNvSpPr>
              <p:nvPr/>
            </p:nvSpPr>
            <p:spPr bwMode="auto">
              <a:xfrm flipV="1">
                <a:off x="7232651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Line 23"/>
              <p:cNvSpPr>
                <a:spLocks noChangeShapeType="1"/>
              </p:cNvSpPr>
              <p:nvPr/>
            </p:nvSpPr>
            <p:spPr bwMode="auto">
              <a:xfrm flipV="1">
                <a:off x="7232651" y="5737225"/>
                <a:ext cx="0" cy="15716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Line 26"/>
              <p:cNvSpPr>
                <a:spLocks noChangeShapeType="1"/>
              </p:cNvSpPr>
              <p:nvPr/>
            </p:nvSpPr>
            <p:spPr bwMode="auto">
              <a:xfrm>
                <a:off x="7162801" y="6049963"/>
                <a:ext cx="157163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Line 27"/>
              <p:cNvSpPr>
                <a:spLocks noChangeShapeType="1"/>
              </p:cNvSpPr>
              <p:nvPr/>
            </p:nvSpPr>
            <p:spPr bwMode="auto">
              <a:xfrm>
                <a:off x="7210426" y="5956300"/>
                <a:ext cx="1095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356172" y="6165380"/>
              <a:ext cx="1132962" cy="312738"/>
              <a:chOff x="356172" y="6165380"/>
              <a:chExt cx="1132962" cy="312738"/>
            </a:xfrm>
          </p:grpSpPr>
          <p:sp>
            <p:nvSpPr>
              <p:cNvPr id="33" name="Line 24"/>
              <p:cNvSpPr>
                <a:spLocks noChangeShapeType="1"/>
              </p:cNvSpPr>
              <p:nvPr/>
            </p:nvSpPr>
            <p:spPr bwMode="auto">
              <a:xfrm>
                <a:off x="622872" y="6165380"/>
                <a:ext cx="430213" cy="3048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Line 28"/>
              <p:cNvSpPr>
                <a:spLocks noChangeShapeType="1"/>
              </p:cNvSpPr>
              <p:nvPr/>
            </p:nvSpPr>
            <p:spPr bwMode="auto">
              <a:xfrm flipV="1">
                <a:off x="356172" y="6165380"/>
                <a:ext cx="26670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Line 29"/>
              <p:cNvSpPr>
                <a:spLocks noChangeShapeType="1"/>
              </p:cNvSpPr>
              <p:nvPr/>
            </p:nvSpPr>
            <p:spPr bwMode="auto">
              <a:xfrm flipV="1">
                <a:off x="924497" y="6181255"/>
                <a:ext cx="166688" cy="1968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Line 24"/>
              <p:cNvSpPr>
                <a:spLocks noChangeShapeType="1"/>
              </p:cNvSpPr>
              <p:nvPr/>
            </p:nvSpPr>
            <p:spPr bwMode="auto">
              <a:xfrm>
                <a:off x="1081328" y="6181255"/>
                <a:ext cx="407806" cy="28892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7325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BB62E167-B940-4082-B72A-79DCCB08F7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rgbClr val="CACAFF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9712" y="309480"/>
            <a:ext cx="4571429" cy="128571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62" name="Text Box 22">
            <a:extLst>
              <a:ext uri="{FF2B5EF4-FFF2-40B4-BE49-F238E27FC236}">
                <a16:creationId xmlns:a16="http://schemas.microsoft.com/office/drawing/2014/main" id="{EBBC022F-940D-4795-96BD-FB4048010E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00874" y="637309"/>
            <a:ext cx="4392609" cy="90338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黑体"/>
                <a:ea typeface="黑体"/>
              </a:rPr>
              <a:t>计算机科学与技术学院</a:t>
            </a:r>
            <a:endParaRPr lang="en-US" altLang="zh-CN" sz="2800" dirty="0">
              <a:solidFill>
                <a:srgbClr val="000000"/>
              </a:solidFill>
              <a:latin typeface="黑体"/>
              <a:ea typeface="黑体"/>
            </a:endParaRPr>
          </a:p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黑体"/>
                <a:cs typeface="Arial" panose="020B0604020202020204" pitchFamily="34" charset="0"/>
              </a:rPr>
              <a:t>School of Computer Science and Technology</a:t>
            </a:r>
            <a:endParaRPr lang="zh-CN" altLang="en-US" sz="1400" dirty="0">
              <a:solidFill>
                <a:srgbClr val="000000"/>
              </a:solidFill>
              <a:latin typeface="Arial" panose="020B0604020202020204" pitchFamily="34" charset="0"/>
              <a:ea typeface="黑体"/>
              <a:cs typeface="Arial" panose="020B0604020202020204" pitchFamily="34" charset="0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954669DA-467D-4F84-A4FB-6BEC2896BE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58" y="89034"/>
            <a:ext cx="1677745" cy="1686468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DA976258-2A4D-4C18-AF06-995076018FA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3936" y="620610"/>
            <a:ext cx="2914088" cy="865415"/>
          </a:xfrm>
          <a:prstGeom prst="rect">
            <a:avLst/>
          </a:prstGeom>
        </p:spPr>
      </p:pic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68539E4-D023-4A56-B70B-169302783DB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92990" y="1536228"/>
            <a:ext cx="3799490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0DD40B69-699B-48DF-9C16-2842290B296D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873936" y="1536228"/>
            <a:ext cx="2914072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0933193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字号2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10"/>
            <a:ext cx="8362950" cy="5760799"/>
          </a:xfrm>
        </p:spPr>
        <p:txBody>
          <a:bodyPr/>
          <a:lstStyle>
            <a:lvl1pPr marL="355600" indent="-355600">
              <a:defRPr sz="2800"/>
            </a:lvl1pPr>
            <a:lvl2pPr marL="719138" indent="-363538">
              <a:defRPr sz="2800"/>
            </a:lvl2pPr>
            <a:lvl3pPr marL="1074738" indent="-355600">
              <a:defRPr sz="2800">
                <a:latin typeface="+mn-lt"/>
              </a:defRPr>
            </a:lvl3pPr>
            <a:lvl4pPr marL="1439863" indent="-365125">
              <a:defRPr sz="2800">
                <a:latin typeface="+mn-lt"/>
                <a:ea typeface="楷体" panose="02010609060101010101" pitchFamily="49" charset="-122"/>
              </a:defRPr>
            </a:lvl4pPr>
            <a:lvl5pPr marL="1795463" indent="-355600">
              <a:defRPr sz="2800">
                <a:latin typeface="+mn-lt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78F44F4C-231F-4D32-9A8B-35DB3854F920}" type="datetime1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0783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（字号2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10"/>
            <a:ext cx="8362950" cy="5760799"/>
          </a:xfrm>
        </p:spPr>
        <p:txBody>
          <a:bodyPr/>
          <a:lstStyle>
            <a:lvl1pPr marL="268288" indent="-268288">
              <a:defRPr sz="2400"/>
            </a:lvl1pPr>
            <a:lvl2pPr marL="541338" indent="-273050">
              <a:defRPr sz="2400"/>
            </a:lvl2pPr>
            <a:lvl3pPr marL="804863" indent="-263525">
              <a:defRPr sz="2400">
                <a:latin typeface="+mn-lt"/>
              </a:defRPr>
            </a:lvl3pPr>
            <a:lvl4pPr marL="1073150" indent="-268288">
              <a:defRPr sz="2400">
                <a:latin typeface="+mn-lt"/>
                <a:ea typeface="楷体" panose="02010609060101010101" pitchFamily="49" charset="-122"/>
              </a:defRPr>
            </a:lvl4pPr>
            <a:lvl5pPr marL="1343025" indent="-269875">
              <a:defRPr sz="2400">
                <a:latin typeface="+mn-lt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45AFAEFF-8A56-479C-9ABB-E83CC277E5B3}" type="datetime1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80790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990" y="99606"/>
            <a:ext cx="8229600" cy="41798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620610"/>
            <a:ext cx="4040188" cy="42373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044341"/>
            <a:ext cx="4040188" cy="5337069"/>
          </a:xfrm>
        </p:spPr>
        <p:txBody>
          <a:bodyPr/>
          <a:lstStyle>
            <a:lvl1pPr marL="268288" indent="-268288">
              <a:defRPr sz="2400">
                <a:latin typeface="+mn-lt"/>
              </a:defRPr>
            </a:lvl1pPr>
            <a:lvl2pPr marL="536575" indent="-268288">
              <a:defRPr sz="2400">
                <a:latin typeface="+mn-lt"/>
              </a:defRPr>
            </a:lvl2pPr>
            <a:lvl3pPr marL="804863" indent="-268288">
              <a:defRPr sz="2400">
                <a:latin typeface="+mn-lt"/>
              </a:defRPr>
            </a:lvl3pPr>
            <a:lvl4pPr marL="1073150" indent="-268288">
              <a:defRPr sz="2400">
                <a:latin typeface="+mn-lt"/>
                <a:ea typeface="楷体" panose="02010609060101010101" pitchFamily="49" charset="-122"/>
              </a:defRPr>
            </a:lvl4pPr>
            <a:lvl5pPr marL="1343025" indent="-269875">
              <a:defRPr sz="2400">
                <a:latin typeface="+mn-lt"/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620610"/>
            <a:ext cx="4041775" cy="42373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044342"/>
            <a:ext cx="4041775" cy="5337068"/>
          </a:xfrm>
        </p:spPr>
        <p:txBody>
          <a:bodyPr/>
          <a:lstStyle>
            <a:lvl1pPr marL="268288" indent="-268288">
              <a:defRPr sz="2400">
                <a:latin typeface="+mn-lt"/>
              </a:defRPr>
            </a:lvl1pPr>
            <a:lvl2pPr marL="536575" indent="-268288">
              <a:defRPr sz="2400">
                <a:latin typeface="+mn-lt"/>
              </a:defRPr>
            </a:lvl2pPr>
            <a:lvl3pPr marL="804863" indent="-268288">
              <a:defRPr sz="2400">
                <a:latin typeface="+mn-lt"/>
              </a:defRPr>
            </a:lvl3pPr>
            <a:lvl4pPr marL="1073150" indent="-268288">
              <a:defRPr sz="2400">
                <a:latin typeface="+mn-lt"/>
                <a:ea typeface="楷体" panose="02010609060101010101" pitchFamily="49" charset="-122"/>
              </a:defRPr>
            </a:lvl4pPr>
            <a:lvl5pPr marL="1343025" indent="-269875">
              <a:defRPr sz="2400">
                <a:latin typeface="+mn-lt"/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874811BC-8EBA-4506-A659-B4A5B79523FF}" type="datetime1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96482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83728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9144000" cy="566738"/>
            <a:chOff x="0" y="0"/>
            <a:chExt cx="9144000" cy="566738"/>
          </a:xfrm>
        </p:grpSpPr>
        <p:sp>
          <p:nvSpPr>
            <p:cNvPr id="17818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285750" cy="54610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2" name="Rectangle 6"/>
            <p:cNvSpPr>
              <a:spLocks noChangeArrowheads="1"/>
            </p:cNvSpPr>
            <p:nvPr/>
          </p:nvSpPr>
          <p:spPr bwMode="auto">
            <a:xfrm>
              <a:off x="377825" y="134938"/>
              <a:ext cx="8731250" cy="274638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3" name="Rectangle 7"/>
            <p:cNvSpPr>
              <a:spLocks noChangeArrowheads="1"/>
            </p:cNvSpPr>
            <p:nvPr/>
          </p:nvSpPr>
          <p:spPr bwMode="auto">
            <a:xfrm>
              <a:off x="374650" y="134938"/>
              <a:ext cx="138113" cy="141288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/>
          </p:nvSpPr>
          <p:spPr bwMode="auto">
            <a:xfrm>
              <a:off x="512763" y="0"/>
              <a:ext cx="139700" cy="138113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/>
          </p:nvSpPr>
          <p:spPr bwMode="auto">
            <a:xfrm>
              <a:off x="512763" y="134938"/>
              <a:ext cx="139700" cy="141288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/>
          </p:nvSpPr>
          <p:spPr bwMode="auto">
            <a:xfrm>
              <a:off x="239713" y="274638"/>
              <a:ext cx="136525" cy="138113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/>
          </p:nvSpPr>
          <p:spPr bwMode="auto">
            <a:xfrm>
              <a:off x="96838" y="136525"/>
              <a:ext cx="141288" cy="138113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8" name="Rectangle 12"/>
            <p:cNvSpPr>
              <a:spLocks noChangeArrowheads="1"/>
            </p:cNvSpPr>
            <p:nvPr/>
          </p:nvSpPr>
          <p:spPr bwMode="auto">
            <a:xfrm>
              <a:off x="374650" y="271463"/>
              <a:ext cx="138113" cy="138113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/>
          </p:nvSpPr>
          <p:spPr bwMode="auto">
            <a:xfrm>
              <a:off x="239713" y="409575"/>
              <a:ext cx="136525" cy="136525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/>
          </p:nvSpPr>
          <p:spPr bwMode="auto">
            <a:xfrm>
              <a:off x="0" y="520700"/>
              <a:ext cx="9144000" cy="46038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410"/>
            <a:ext cx="2895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 b="1"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17819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81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566739"/>
            <a:ext cx="8362950" cy="5813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3777"/>
            <a:ext cx="2133600" cy="337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 b="1">
                <a:latin typeface="+mj-lt"/>
              </a:defRPr>
            </a:lvl1pPr>
          </a:lstStyle>
          <a:p>
            <a:fld id="{B7EA2D08-4881-4FC0-AFBD-FC31AF58696D}" type="datetime1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2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50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med"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9pPr>
    </p:titleStyle>
    <p:bodyStyle>
      <a:lvl1pPr marL="355600" indent="-355600" algn="l" rtl="0" eaLnBrk="1" fontAlgn="base" hangingPunct="1">
        <a:spcBef>
          <a:spcPts val="3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63538" algn="l" rtl="0" eaLnBrk="1" fontAlgn="base" hangingPunct="1">
        <a:spcBef>
          <a:spcPts val="300"/>
        </a:spcBef>
        <a:spcAft>
          <a:spcPct val="0"/>
        </a:spcAft>
        <a:buClr>
          <a:srgbClr val="006600"/>
        </a:buClr>
        <a:buSzPct val="75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074738" indent="-355600" algn="l" rtl="0" eaLnBrk="1" fontAlgn="base" hangingPunct="1">
        <a:spcBef>
          <a:spcPts val="300"/>
        </a:spcBef>
        <a:spcAft>
          <a:spcPct val="0"/>
        </a:spcAft>
        <a:buClr>
          <a:srgbClr val="FF6600"/>
        </a:buClr>
        <a:buSzPct val="65000"/>
        <a:buFont typeface="Wingdings" pitchFamily="2" charset="2"/>
        <a:buChar char="p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439863" indent="-365125" algn="l" rtl="0" eaLnBrk="1" fontAlgn="base" hangingPunct="1">
        <a:spcBef>
          <a:spcPts val="300"/>
        </a:spcBef>
        <a:spcAft>
          <a:spcPct val="0"/>
        </a:spcAft>
        <a:buClr>
          <a:srgbClr val="FF0066"/>
        </a:buClr>
        <a:buSzPct val="75000"/>
        <a:buFont typeface="Wingdings" pitchFamily="2" charset="2"/>
        <a:buChar char="u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4pPr>
      <a:lvl5pPr marL="1795463" indent="-355600" algn="l" rtl="0" eaLnBrk="1" fontAlgn="base" hangingPunct="1">
        <a:spcBef>
          <a:spcPts val="3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5pPr>
      <a:lvl6pPr marL="2787650" indent="-2714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6pPr>
      <a:lvl7pPr marL="3244850" indent="-2714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7pPr>
      <a:lvl8pPr marL="3702050" indent="-2714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8pPr>
      <a:lvl9pPr marL="4159250" indent="-2714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0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5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3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1" descr="C:\Users\车向泉\AppData\Local\Microsoft\Windows\Temporary Internet Files\Content.IE5\PDCZ0H06\MC900437447[1].wmf">
            <a:extLst>
              <a:ext uri="{FF2B5EF4-FFF2-40B4-BE49-F238E27FC236}">
                <a16:creationId xmlns:a16="http://schemas.microsoft.com/office/drawing/2014/main" id="{A3F18B38-6051-4D12-B457-EA538D13A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495800"/>
            <a:ext cx="2119313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AC39AB-5DB4-428C-86A2-34F0D4432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2171328"/>
            <a:ext cx="8380735" cy="2049760"/>
          </a:xfrm>
        </p:spPr>
        <p:txBody>
          <a:bodyPr/>
          <a:lstStyle/>
          <a:p>
            <a:pPr lvl="0">
              <a:buClr>
                <a:srgbClr val="00007D"/>
              </a:buClr>
              <a:buSzPct val="75000"/>
            </a:pPr>
            <a:r>
              <a:rPr lang="zh-CN" altLang="en-US" sz="4800" dirty="0">
                <a:latin typeface="Times New Roman"/>
                <a:ea typeface="黑体" panose="02010609060101010101" pitchFamily="49" charset="-122"/>
                <a:cs typeface="+mn-cs"/>
              </a:rPr>
              <a:t>计算机</a:t>
            </a:r>
            <a:r>
              <a:rPr lang="zh-CN" altLang="en-US" sz="4800" dirty="0">
                <a:solidFill>
                  <a:srgbClr val="FFCC00"/>
                </a:solidFill>
                <a:latin typeface="Times New Roman"/>
                <a:ea typeface="黑体" panose="02010609060101010101" pitchFamily="49" charset="-122"/>
                <a:cs typeface="+mn-cs"/>
              </a:rPr>
              <a:t>组织</a:t>
            </a:r>
            <a:r>
              <a:rPr lang="zh-CN" altLang="en-US" sz="4800" dirty="0">
                <a:latin typeface="Times New Roman"/>
                <a:ea typeface="黑体" panose="02010609060101010101" pitchFamily="49" charset="-122"/>
                <a:cs typeface="+mn-cs"/>
              </a:rPr>
              <a:t>与</a:t>
            </a:r>
            <a:r>
              <a:rPr lang="zh-CN" altLang="en-US" sz="4800" dirty="0">
                <a:solidFill>
                  <a:srgbClr val="FFCC00"/>
                </a:solidFill>
                <a:latin typeface="Times New Roman"/>
                <a:ea typeface="黑体" panose="02010609060101010101" pitchFamily="49" charset="-122"/>
                <a:cs typeface="+mn-cs"/>
              </a:rPr>
              <a:t>体系结构</a:t>
            </a:r>
            <a:br>
              <a:rPr lang="en-US" altLang="zh-CN" sz="4800" dirty="0">
                <a:solidFill>
                  <a:srgbClr val="FFCC00"/>
                </a:solidFill>
                <a:latin typeface="Times New Roman"/>
                <a:ea typeface="黑体" panose="02010609060101010101" pitchFamily="49" charset="-122"/>
                <a:cs typeface="+mn-cs"/>
              </a:rPr>
            </a:br>
            <a:r>
              <a:rPr lang="zh-CN" altLang="en-US" sz="5400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期中复习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ACF1E7-BAAD-4D82-9DD3-0AA8F7F5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64088" y="4411216"/>
            <a:ext cx="3627512" cy="962000"/>
          </a:xfrm>
        </p:spPr>
        <p:txBody>
          <a:bodyPr/>
          <a:lstStyle/>
          <a:p>
            <a:pPr algn="ctr"/>
            <a:r>
              <a:rPr lang="en-US" altLang="zh-CN" sz="5400" b="0">
                <a:ea typeface="楷体_GB2312" panose="02010609030101010101" pitchFamily="49" charset="-122"/>
              </a:rPr>
              <a:t>2025.04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619551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31712-24EF-4809-B10C-C0B853DC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1464965"/>
            <a:ext cx="7704534" cy="523875"/>
          </a:xfrm>
        </p:spPr>
        <p:txBody>
          <a:bodyPr/>
          <a:lstStyle/>
          <a:p>
            <a:r>
              <a:rPr lang="zh-CN" altLang="en-US" dirty="0"/>
              <a:t>题型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5CEBF1-043C-4321-8531-1576556EC42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90774" y="2276872"/>
            <a:ext cx="7829376" cy="4104537"/>
          </a:xfrm>
        </p:spPr>
        <p:txBody>
          <a:bodyPr/>
          <a:lstStyle/>
          <a:p>
            <a:r>
              <a:rPr lang="zh-CN" altLang="en-US"/>
              <a:t>单项选择题</a:t>
            </a:r>
            <a:endParaRPr lang="en-US" altLang="zh-CN" dirty="0"/>
          </a:p>
          <a:p>
            <a:r>
              <a:rPr lang="zh-CN" altLang="en-US"/>
              <a:t>分析计算</a:t>
            </a:r>
            <a:r>
              <a:rPr lang="en-US" altLang="zh-CN">
                <a:latin typeface="+mn-ea"/>
              </a:rPr>
              <a:t>(</a:t>
            </a:r>
            <a:r>
              <a:rPr lang="zh-CN" altLang="en-US"/>
              <a:t>填空</a:t>
            </a:r>
            <a:r>
              <a:rPr lang="en-US" altLang="zh-CN">
                <a:latin typeface="+mn-ea"/>
              </a:rPr>
              <a:t>)</a:t>
            </a:r>
            <a:r>
              <a:rPr lang="zh-CN" altLang="en-US"/>
              <a:t>题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29D900-B8F2-44D4-8257-A5D9AE60A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Picture 3" descr="C:\Users\车向泉\AppData\Local\Microsoft\Windows\Temporary Internet Files\Content.IE5\FE5TM330\MC900441484[1].png">
            <a:extLst>
              <a:ext uri="{FF2B5EF4-FFF2-40B4-BE49-F238E27FC236}">
                <a16:creationId xmlns:a16="http://schemas.microsoft.com/office/drawing/2014/main" id="{B6FBAC09-1110-4B1C-B4DF-9EC4838D8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429000"/>
            <a:ext cx="33528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947697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484438" y="1700213"/>
            <a:ext cx="6515100" cy="2592387"/>
          </a:xfrm>
          <a:noFill/>
        </p:spPr>
        <p:txBody>
          <a:bodyPr anchor="ctr"/>
          <a:lstStyle/>
          <a:p>
            <a:pPr eaLnBrk="1" hangingPunct="1">
              <a:spcBef>
                <a:spcPct val="10000"/>
              </a:spcBef>
              <a:buClrTx/>
              <a:buFont typeface="Arial" charset="0"/>
              <a:buNone/>
            </a:pPr>
            <a:r>
              <a:rPr lang="zh-CN" altLang="en-US" sz="44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4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4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4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4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 eaLnBrk="1" hangingPunct="1">
              <a:spcBef>
                <a:spcPct val="10000"/>
              </a:spcBef>
              <a:buClrTx/>
              <a:buFont typeface="Arial" charset="0"/>
              <a:buNone/>
            </a:pPr>
            <a:r>
              <a:rPr lang="zh-CN" altLang="en-US" sz="44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8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1</a:t>
            </a:r>
            <a:r>
              <a:rPr lang="zh-CN" altLang="en-US" sz="44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绪论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4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4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54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54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54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54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A0F45-8E60-43DC-851D-3BA5A01F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 绪论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386209-D05C-4ADD-860F-D3775ABEF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6F30F0-3495-4ED8-B60C-094E606EE05C}"/>
              </a:ext>
            </a:extLst>
          </p:cNvPr>
          <p:cNvSpPr/>
          <p:nvPr/>
        </p:nvSpPr>
        <p:spPr>
          <a:xfrm>
            <a:off x="3347864" y="42395"/>
            <a:ext cx="30700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6600"/>
                </a:solidFill>
                <a:latin typeface="+mj-lt"/>
                <a:ea typeface="黑体" panose="02010609060101010101" pitchFamily="49" charset="-122"/>
              </a:rPr>
              <a:t>计算机的发展历史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8E86036-8B79-43AA-83C3-111E36592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600028"/>
              </p:ext>
            </p:extLst>
          </p:nvPr>
        </p:nvGraphicFramePr>
        <p:xfrm>
          <a:off x="143652" y="620688"/>
          <a:ext cx="8856984" cy="591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7940253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538239969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831813465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1104030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硬件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编程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操作系统</a:t>
                      </a:r>
                    </a:p>
                  </a:txBody>
                  <a:tcPr marL="36000" marR="36000" marT="36000" marB="3600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代表机型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7966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第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1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代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1946~1957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电子管、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电磁继电器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机器语言</a:t>
                      </a:r>
                    </a:p>
                  </a:txBody>
                  <a:tcPr marL="36000" marR="36000" marT="36000" marB="3600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ABC: 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专用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l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ENIAC: 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通用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l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UNIVAC I: 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商用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6808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第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2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代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1958~1964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latin typeface="+mn-lt"/>
                          <a:ea typeface="+mn-ea"/>
                        </a:rPr>
                        <a:t>晶体管</a:t>
                      </a:r>
                      <a:endParaRPr lang="en-US" altLang="zh-CN" sz="2000" b="1"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CN" altLang="en-US" sz="2000" b="1">
                          <a:latin typeface="+mn-lt"/>
                          <a:ea typeface="+mn-ea"/>
                        </a:rPr>
                        <a:t>磁芯存储器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监控程序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高级语言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PDP-1: 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小型机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l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IBM 7090: 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大型机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l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CDC 6600: 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超级计算机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5169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第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3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代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1965~1971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中小规模集成电路、</a:t>
                      </a:r>
                      <a:br>
                        <a:rPr lang="en-US" altLang="zh-CN" sz="2000" b="1" dirty="0">
                          <a:latin typeface="+mn-lt"/>
                          <a:ea typeface="+mn-ea"/>
                        </a:rPr>
                      </a:b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磁芯存储器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高级语言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分时操作系统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PDP-8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、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PDP-11</a:t>
                      </a:r>
                    </a:p>
                    <a:p>
                      <a:pPr algn="l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IBM 360: 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系列机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86911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第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4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代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1972~2010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大规模和超大规模集成电路、半导体存储器、微处理器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DOS/Windows</a:t>
                      </a:r>
                    </a:p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Unix/Linux</a:t>
                      </a:r>
                    </a:p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Mac OS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>
                          <a:latin typeface="+mn-lt"/>
                          <a:ea typeface="+mn-ea"/>
                        </a:rPr>
                        <a:t>广泛使用微处理器。</a:t>
                      </a:r>
                      <a:endParaRPr lang="en-US" altLang="zh-CN" sz="2000" b="1">
                        <a:latin typeface="+mn-lt"/>
                        <a:ea typeface="+mn-ea"/>
                      </a:endParaRPr>
                    </a:p>
                    <a:p>
                      <a:pPr algn="l"/>
                      <a:r>
                        <a:rPr lang="en-US" altLang="zh-CN" sz="2000" b="1">
                          <a:latin typeface="+mn-lt"/>
                          <a:ea typeface="+mn-ea"/>
                        </a:rPr>
                        <a:t>IBM</a:t>
                      </a:r>
                      <a:r>
                        <a:rPr lang="zh-CN" altLang="en-US" sz="2000" b="1">
                          <a:latin typeface="+mn-lt"/>
                          <a:ea typeface="+mn-ea"/>
                        </a:rPr>
                        <a:t>及其兼容</a:t>
                      </a:r>
                      <a:r>
                        <a:rPr lang="en-US" altLang="zh-CN" sz="2000" b="1">
                          <a:latin typeface="+mn-lt"/>
                          <a:ea typeface="+mn-ea"/>
                        </a:rPr>
                        <a:t>PC</a:t>
                      </a:r>
                      <a:r>
                        <a:rPr lang="zh-CN" altLang="en-US" sz="2000" b="1">
                          <a:latin typeface="+mn-lt"/>
                          <a:ea typeface="+mn-ea"/>
                        </a:rPr>
                        <a:t>，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l"/>
                      <a:r>
                        <a:rPr lang="en-US" altLang="zh-CN" sz="2000" b="1">
                          <a:latin typeface="+mn-lt"/>
                          <a:ea typeface="+mn-ea"/>
                        </a:rPr>
                        <a:t>Apple Lisa</a:t>
                      </a:r>
                      <a:r>
                        <a:rPr lang="zh-CN" altLang="en-US" sz="2000" b="1">
                          <a:latin typeface="+mn-lt"/>
                          <a:ea typeface="+mn-ea"/>
                        </a:rPr>
                        <a:t>、</a:t>
                      </a:r>
                      <a:r>
                        <a:rPr lang="en-US" altLang="zh-CN" sz="2000" b="1">
                          <a:latin typeface="+mn-lt"/>
                          <a:ea typeface="+mn-ea"/>
                        </a:rPr>
                        <a:t>Cray-1</a:t>
                      </a:r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3230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第</a:t>
                      </a:r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5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代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+mn-ea"/>
                        </a:rPr>
                        <a:t>2010~</a:t>
                      </a:r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今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巨大规模集成电路。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l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超大规模、超高速集成电路；多处理器、多核处理器。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性能持续提升，软件和通信变得与硬件同等重要。</a:t>
                      </a:r>
                      <a:endParaRPr lang="en-US" altLang="zh-CN" sz="2000" b="1" dirty="0">
                        <a:latin typeface="+mn-lt"/>
                        <a:ea typeface="+mn-ea"/>
                      </a:endParaRPr>
                    </a:p>
                    <a:p>
                      <a:pPr algn="l"/>
                      <a:r>
                        <a:rPr lang="zh-CN" altLang="en-US" sz="2000" b="1" dirty="0">
                          <a:latin typeface="+mn-lt"/>
                          <a:ea typeface="+mn-ea"/>
                        </a:rPr>
                        <a:t>无处不在；并行处理；更强调软件和算法；虚拟化技术。</a:t>
                      </a:r>
                    </a:p>
                  </a:txBody>
                  <a:tcPr marL="36000" marR="36000" marT="36000" marB="3600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000" b="1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868196"/>
                  </a:ext>
                </a:extLst>
              </a:tr>
            </a:tbl>
          </a:graphicData>
        </a:graphic>
      </p:graphicFrame>
      <p:pic>
        <p:nvPicPr>
          <p:cNvPr id="5122" name="Picture 2" descr="https://gimg2.baidu.com/image_search/src=http%3A%2F%2Fpic.soutu123.cn%2Felement_origin_min_pic%2F16%2F11%2F01%2F6f75966a49cf3f42d0f5fcdc9929bdd4.jpg%21%2Ffw%2F700%2Fquality%2F90%2Funsharp%2Ftrue%2Fcompress%2Ftrue&amp;refer=http%3A%2F%2Fpic.soutu123.cn&amp;app=2002&amp;size=f9999,10000&amp;q=a80&amp;n=0&amp;g=0n&amp;fmt=jpeg?sec=1620530297&amp;t=86e4d1b7743164fc0fcec85a9328ced3">
            <a:extLst>
              <a:ext uri="{FF2B5EF4-FFF2-40B4-BE49-F238E27FC236}">
                <a16:creationId xmlns:a16="http://schemas.microsoft.com/office/drawing/2014/main" id="{9D6036FA-D01E-4AA4-94EA-5CD4E0D86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005" y="4707214"/>
            <a:ext cx="2468846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5002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A0F45-8E60-43DC-851D-3BA5A01F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 绪论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478D29-CC46-44A7-A0B2-CD37DF729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568326"/>
            <a:ext cx="8568630" cy="6101034"/>
          </a:xfrm>
        </p:spPr>
        <p:txBody>
          <a:bodyPr/>
          <a:lstStyle/>
          <a:p>
            <a:r>
              <a:rPr lang="zh-CN" altLang="en-US"/>
              <a:t>摩尔定律：芯片的集成度呈指数级增涨。</a:t>
            </a:r>
            <a:endParaRPr lang="en-US" altLang="zh-CN" dirty="0"/>
          </a:p>
          <a:p>
            <a:pPr lvl="1"/>
            <a:r>
              <a:rPr lang="zh-CN" altLang="en-US" sz="2400" dirty="0"/>
              <a:t>集成电路芯片的集成度每</a:t>
            </a:r>
            <a:r>
              <a:rPr lang="en-US" altLang="zh-CN" sz="2400" dirty="0"/>
              <a:t>18</a:t>
            </a:r>
            <a:r>
              <a:rPr lang="zh-CN" altLang="en-US" sz="2400" dirty="0"/>
              <a:t>个月翻一番。</a:t>
            </a:r>
            <a:endParaRPr lang="en-US" altLang="zh-CN" sz="2400" dirty="0"/>
          </a:p>
          <a:p>
            <a:pPr lvl="1"/>
            <a:r>
              <a:rPr lang="zh-CN" altLang="en-US" sz="2400" dirty="0"/>
              <a:t>直至今日，半导体工业还是按照</a:t>
            </a:r>
            <a:r>
              <a:rPr lang="en-US" altLang="zh-CN" sz="2400" dirty="0"/>
              <a:t>DRAM</a:t>
            </a:r>
            <a:r>
              <a:rPr lang="zh-CN" altLang="en-US" sz="2400" dirty="0"/>
              <a:t>每</a:t>
            </a:r>
            <a:r>
              <a:rPr lang="en-US" altLang="zh-CN" sz="2400" dirty="0"/>
              <a:t>18</a:t>
            </a:r>
            <a:r>
              <a:rPr lang="zh-CN" altLang="en-US" sz="2400" dirty="0"/>
              <a:t>个月、微处理器每</a:t>
            </a:r>
            <a:r>
              <a:rPr lang="en-US" altLang="zh-CN" sz="2400" dirty="0"/>
              <a:t>24</a:t>
            </a:r>
            <a:r>
              <a:rPr lang="zh-CN" altLang="en-US" sz="2400" dirty="0"/>
              <a:t>个月集成度翻倍的规律发展着。</a:t>
            </a:r>
            <a:endParaRPr lang="en-US" altLang="zh-CN" sz="2400" dirty="0"/>
          </a:p>
          <a:p>
            <a:r>
              <a:rPr lang="zh-CN" altLang="en-US" dirty="0"/>
              <a:t>计算机的基本组成</a:t>
            </a:r>
            <a:endParaRPr lang="en-US" altLang="zh-CN" dirty="0"/>
          </a:p>
          <a:p>
            <a:pPr lvl="1"/>
            <a:r>
              <a:rPr lang="zh-CN" altLang="en-US" sz="2400" dirty="0"/>
              <a:t>硬件系统</a:t>
            </a:r>
            <a:endParaRPr lang="en-US" altLang="zh-CN" sz="2400" dirty="0"/>
          </a:p>
          <a:p>
            <a:pPr lvl="1"/>
            <a:r>
              <a:rPr lang="zh-CN" altLang="en-US" sz="2400" dirty="0"/>
              <a:t>软件系统</a:t>
            </a:r>
            <a:endParaRPr lang="en-US" altLang="zh-CN" sz="2400" dirty="0"/>
          </a:p>
          <a:p>
            <a:pPr lvl="1"/>
            <a:r>
              <a:rPr lang="zh-CN" altLang="en-US" sz="2400" dirty="0"/>
              <a:t>指令集体系结构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/>
              <a:t>ISA</a:t>
            </a:r>
            <a:r>
              <a:rPr lang="en-US" altLang="zh-CN" sz="2400" dirty="0">
                <a:latin typeface="+mn-ea"/>
              </a:rPr>
              <a:t>)</a:t>
            </a:r>
          </a:p>
          <a:p>
            <a:pPr marL="985838" lvl="2" indent="-266700"/>
            <a:r>
              <a:rPr lang="zh-CN" altLang="en-US" sz="2400" dirty="0">
                <a:latin typeface="+mn-ea"/>
              </a:rPr>
              <a:t>处理器支持的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指令</a:t>
            </a:r>
            <a:r>
              <a:rPr lang="zh-CN" altLang="en-US" sz="2400" dirty="0">
                <a:latin typeface="+mn-ea"/>
              </a:rPr>
              <a:t>和指令的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字节级编码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 marL="985838" lvl="2" indent="-266700"/>
            <a:r>
              <a:rPr lang="en-US" altLang="zh-CN" sz="2400" dirty="0"/>
              <a:t>ISA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00FF"/>
                </a:solidFill>
              </a:rPr>
              <a:t>软件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硬件</a:t>
            </a:r>
            <a:r>
              <a:rPr lang="zh-CN" altLang="en-US" sz="2400" dirty="0"/>
              <a:t>的分界面，</a:t>
            </a:r>
            <a:br>
              <a:rPr lang="en-US" altLang="zh-CN" sz="2400" dirty="0"/>
            </a:br>
            <a:r>
              <a:rPr lang="zh-CN" altLang="en-US" sz="2400" dirty="0"/>
              <a:t>软件（程序）由 </a:t>
            </a:r>
            <a:r>
              <a:rPr lang="en-US" altLang="zh-CN" sz="2400" dirty="0"/>
              <a:t>ISA </a:t>
            </a:r>
            <a:r>
              <a:rPr lang="zh-CN" altLang="en-US" sz="2400" dirty="0"/>
              <a:t>规定的“指令”组成。</a:t>
            </a:r>
            <a:endParaRPr lang="en-US" altLang="zh-CN" sz="2400" dirty="0"/>
          </a:p>
          <a:p>
            <a:pPr marL="985838" lvl="2" indent="-266700"/>
            <a:r>
              <a:rPr lang="zh-CN" altLang="en-US" sz="2400" dirty="0"/>
              <a:t>指令集体系结构（</a:t>
            </a:r>
            <a:r>
              <a:rPr lang="en-US" altLang="zh-CN" sz="2400" dirty="0"/>
              <a:t>ISA</a:t>
            </a:r>
            <a:r>
              <a:rPr lang="zh-CN" altLang="en-US" sz="2400" dirty="0"/>
              <a:t>）是区分不同处理器（</a:t>
            </a:r>
            <a:r>
              <a:rPr lang="en-US" altLang="zh-CN" sz="2400" dirty="0"/>
              <a:t>CPU</a:t>
            </a:r>
            <a:r>
              <a:rPr lang="zh-CN" altLang="en-US" sz="2400" dirty="0"/>
              <a:t>）的主要</a:t>
            </a:r>
            <a:r>
              <a:rPr lang="zh-CN" altLang="en-US" sz="2400"/>
              <a:t>标准。</a:t>
            </a:r>
            <a:endParaRPr lang="en-US" altLang="zh-CN" sz="2400"/>
          </a:p>
          <a:p>
            <a:pPr marL="985838" lvl="2" indent="-266700"/>
            <a:r>
              <a:rPr lang="en-US" altLang="zh-CN" sz="2400"/>
              <a:t>ISA</a:t>
            </a:r>
            <a:r>
              <a:rPr lang="zh-CN" altLang="en-US" sz="2400"/>
              <a:t>需要规定计算机中</a:t>
            </a:r>
            <a:r>
              <a:rPr lang="zh-CN" altLang="en-US" sz="2400">
                <a:solidFill>
                  <a:srgbClr val="D60093"/>
                </a:solidFill>
              </a:rPr>
              <a:t>程序员可见的</a:t>
            </a:r>
            <a:r>
              <a:rPr lang="zh-CN" altLang="en-US" sz="2400"/>
              <a:t>所有</a:t>
            </a:r>
            <a:r>
              <a:rPr lang="zh-CN" altLang="en-US" sz="2400">
                <a:solidFill>
                  <a:srgbClr val="FF3300"/>
                </a:solidFill>
              </a:rPr>
              <a:t>组件</a:t>
            </a:r>
            <a:r>
              <a:rPr lang="zh-CN" altLang="en-US" sz="2400"/>
              <a:t>及</a:t>
            </a:r>
            <a:r>
              <a:rPr lang="zh-CN" altLang="en-US" sz="2400">
                <a:solidFill>
                  <a:srgbClr val="FF3300"/>
                </a:solidFill>
              </a:rPr>
              <a:t>操作</a:t>
            </a:r>
            <a:r>
              <a:rPr lang="zh-CN" altLang="en-US" sz="2400"/>
              <a:t>，包括：</a:t>
            </a:r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386209-D05C-4ADD-860F-D3775ABEF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6278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545E63-77EE-4086-B3D8-386996A5A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6632"/>
            <a:ext cx="8712968" cy="6660976"/>
          </a:xfrm>
        </p:spPr>
        <p:txBody>
          <a:bodyPr/>
          <a:lstStyle/>
          <a:p>
            <a:pPr marL="263525" lvl="0" indent="-263525">
              <a:spcBef>
                <a:spcPts val="0"/>
              </a:spcBef>
            </a:pPr>
            <a:r>
              <a:rPr lang="zh-CN" altLang="zh-CN" sz="2400" dirty="0">
                <a:solidFill>
                  <a:srgbClr val="FF0000"/>
                </a:solidFill>
              </a:rPr>
              <a:t>指令集</a:t>
            </a:r>
            <a:r>
              <a:rPr lang="zh-CN" altLang="zh-CN" sz="2400" dirty="0"/>
              <a:t>：处理器可执行的指令的集合。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指令格式</a:t>
            </a:r>
            <a:r>
              <a:rPr lang="zh-CN" altLang="zh-CN" sz="2400" dirty="0"/>
              <a:t>、</a:t>
            </a:r>
            <a:r>
              <a:rPr lang="zh-CN" altLang="zh-CN" sz="2400" dirty="0">
                <a:solidFill>
                  <a:srgbClr val="0000FF"/>
                </a:solidFill>
              </a:rPr>
              <a:t>操作种类</a:t>
            </a:r>
            <a:r>
              <a:rPr lang="zh-CN" altLang="en-US" sz="2400" dirty="0"/>
              <a:t>、</a:t>
            </a:r>
            <a:r>
              <a:rPr lang="zh-CN" altLang="zh-CN" sz="2400" dirty="0"/>
              <a:t>每种操作对应的</a:t>
            </a:r>
            <a:r>
              <a:rPr lang="zh-CN" altLang="zh-CN" sz="2400" dirty="0">
                <a:solidFill>
                  <a:srgbClr val="0000FF"/>
                </a:solidFill>
              </a:rPr>
              <a:t>操作数</a:t>
            </a:r>
            <a:r>
              <a:rPr lang="zh-CN" altLang="zh-CN" sz="2400" dirty="0"/>
              <a:t>。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数据类型</a:t>
            </a:r>
            <a:r>
              <a:rPr lang="zh-CN" altLang="zh-CN" sz="2400" dirty="0"/>
              <a:t>：指令可以接受的操作数的类型。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寻址方式</a:t>
            </a:r>
            <a:r>
              <a:rPr lang="zh-CN" altLang="zh-CN" sz="2400" dirty="0"/>
              <a:t>：指令获取操作数的方式。</a:t>
            </a:r>
          </a:p>
          <a:p>
            <a:pPr marL="263525" indent="-263525">
              <a:spcBef>
                <a:spcPts val="0"/>
              </a:spcBef>
            </a:pPr>
            <a:r>
              <a:rPr lang="zh-CN" altLang="zh-CN" sz="2400" dirty="0"/>
              <a:t>软件可见的</a:t>
            </a:r>
            <a:r>
              <a:rPr lang="zh-CN" altLang="zh-CN" sz="2400" dirty="0">
                <a:solidFill>
                  <a:srgbClr val="FF0000"/>
                </a:solidFill>
              </a:rPr>
              <a:t>处理器状态</a:t>
            </a:r>
            <a:r>
              <a:rPr lang="zh-CN" altLang="zh-CN" sz="2400" dirty="0"/>
              <a:t>：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寄存器组</a:t>
            </a:r>
            <a:r>
              <a:rPr lang="zh-CN" altLang="zh-CN" sz="2400" dirty="0"/>
              <a:t>：寄存器的个数、名称（编号）、长度和用途。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/>
              <a:t>指令执行过程的</a:t>
            </a:r>
            <a:r>
              <a:rPr lang="zh-CN" altLang="zh-CN" sz="2400" dirty="0">
                <a:solidFill>
                  <a:srgbClr val="0000FF"/>
                </a:solidFill>
              </a:rPr>
              <a:t>控制方式</a:t>
            </a:r>
            <a:r>
              <a:rPr lang="zh-CN" altLang="zh-CN" sz="2400" dirty="0"/>
              <a:t>，包括</a:t>
            </a:r>
            <a:r>
              <a:rPr lang="zh-CN" altLang="zh-CN" sz="2400" dirty="0">
                <a:solidFill>
                  <a:srgbClr val="008000"/>
                </a:solidFill>
              </a:rPr>
              <a:t>程序计数器</a:t>
            </a:r>
            <a:r>
              <a:rPr lang="zh-CN" altLang="zh-CN" sz="2400" dirty="0"/>
              <a:t>、</a:t>
            </a:r>
            <a:r>
              <a:rPr lang="zh-CN" altLang="zh-CN" sz="2400" dirty="0">
                <a:solidFill>
                  <a:srgbClr val="008000"/>
                </a:solidFill>
              </a:rPr>
              <a:t>条件码</a:t>
            </a:r>
            <a:r>
              <a:rPr lang="zh-CN" altLang="zh-CN" sz="2400" dirty="0"/>
              <a:t>定义</a:t>
            </a:r>
            <a:br>
              <a:rPr lang="en-US" altLang="zh-CN" sz="2400" dirty="0"/>
            </a:br>
            <a:r>
              <a:rPr lang="zh-CN" altLang="zh-CN" sz="2400" dirty="0"/>
              <a:t>以及每条</a:t>
            </a:r>
            <a:r>
              <a:rPr lang="zh-CN" altLang="zh-CN" sz="2400" dirty="0">
                <a:solidFill>
                  <a:srgbClr val="008000"/>
                </a:solidFill>
              </a:rPr>
              <a:t>指令</a:t>
            </a:r>
            <a:r>
              <a:rPr lang="zh-CN" altLang="zh-CN" sz="2400" dirty="0"/>
              <a:t>对</a:t>
            </a:r>
            <a:r>
              <a:rPr lang="zh-CN" altLang="zh-CN" sz="2400" dirty="0">
                <a:solidFill>
                  <a:srgbClr val="008000"/>
                </a:solidFill>
              </a:rPr>
              <a:t>状态</a:t>
            </a:r>
            <a:r>
              <a:rPr lang="zh-CN" altLang="zh-CN" sz="2400" dirty="0"/>
              <a:t>的</a:t>
            </a:r>
            <a:r>
              <a:rPr lang="zh-CN" altLang="zh-CN" sz="2400" dirty="0">
                <a:solidFill>
                  <a:srgbClr val="008000"/>
                </a:solidFill>
              </a:rPr>
              <a:t>影响</a:t>
            </a:r>
            <a:r>
              <a:rPr lang="zh-CN" altLang="zh-CN" sz="2400" dirty="0"/>
              <a:t>。</a:t>
            </a:r>
          </a:p>
          <a:p>
            <a:pPr marL="263525" indent="-263525">
              <a:spcBef>
                <a:spcPts val="0"/>
              </a:spcBef>
            </a:pPr>
            <a:r>
              <a:rPr lang="zh-CN" altLang="zh-CN" sz="2400" dirty="0">
                <a:solidFill>
                  <a:srgbClr val="FF0000"/>
                </a:solidFill>
              </a:rPr>
              <a:t>存储模型</a:t>
            </a:r>
            <a:r>
              <a:rPr lang="zh-CN" altLang="zh-CN" sz="2400" dirty="0"/>
              <a:t>：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内存组织</a:t>
            </a:r>
            <a:r>
              <a:rPr lang="zh-CN" altLang="zh-CN" sz="2400" dirty="0"/>
              <a:t>：内存最大寻址空间和编址方式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字节次序</a:t>
            </a:r>
            <a:r>
              <a:rPr lang="zh-CN" altLang="zh-CN" sz="2400" dirty="0"/>
              <a:t>：操作数存放时按照大端还是小端方式存放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存储保护</a:t>
            </a:r>
            <a:endParaRPr lang="zh-CN" altLang="zh-CN" sz="2400" dirty="0"/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虚拟存储器</a:t>
            </a:r>
            <a:r>
              <a:rPr lang="zh-CN" altLang="zh-CN" sz="2400" dirty="0"/>
              <a:t>的管理方式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输入输出接口</a:t>
            </a:r>
            <a:r>
              <a:rPr lang="zh-CN" altLang="zh-CN" sz="2400" dirty="0"/>
              <a:t>的访问与管理方式</a:t>
            </a:r>
          </a:p>
          <a:p>
            <a:pPr marL="263525" indent="-263525">
              <a:spcBef>
                <a:spcPts val="0"/>
              </a:spcBef>
            </a:pPr>
            <a:r>
              <a:rPr lang="zh-CN" altLang="zh-CN" sz="2400" dirty="0">
                <a:solidFill>
                  <a:srgbClr val="FF0000"/>
                </a:solidFill>
              </a:rPr>
              <a:t>系统模型</a:t>
            </a:r>
            <a:r>
              <a:rPr lang="zh-CN" altLang="zh-CN" sz="2400" dirty="0"/>
              <a:t>：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处理器状态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特权级别</a:t>
            </a:r>
          </a:p>
          <a:p>
            <a:pPr marL="536575" lvl="1" indent="-273050">
              <a:spcBef>
                <a:spcPts val="0"/>
              </a:spcBef>
            </a:pPr>
            <a:r>
              <a:rPr lang="zh-CN" altLang="zh-CN" sz="2400" dirty="0">
                <a:solidFill>
                  <a:srgbClr val="0000FF"/>
                </a:solidFill>
              </a:rPr>
              <a:t>中断</a:t>
            </a:r>
            <a:r>
              <a:rPr lang="zh-CN" altLang="zh-CN" sz="2400" dirty="0"/>
              <a:t>和</a:t>
            </a:r>
            <a:r>
              <a:rPr lang="zh-CN" altLang="zh-CN" sz="2400" dirty="0">
                <a:solidFill>
                  <a:srgbClr val="0000FF"/>
                </a:solidFill>
              </a:rPr>
              <a:t>异常</a:t>
            </a:r>
            <a:r>
              <a:rPr lang="zh-CN" altLang="zh-CN" sz="2400" dirty="0"/>
              <a:t>的处理方式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DD6B6A-C59C-4C8B-8028-AC52DF1D0F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8C700AD2-48D6-4694-9AFC-F2D1E50529DC}" type="slidenum">
              <a:rPr lang="zh-CN" altLang="en-US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3915503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A0F45-8E60-43DC-851D-3BA5A01F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 绪论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478D29-CC46-44A7-A0B2-CD37DF729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692696"/>
            <a:ext cx="8640960" cy="590465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dirty="0">
                <a:latin typeface="+mn-ea"/>
              </a:rPr>
              <a:t>冯</a:t>
            </a:r>
            <a:r>
              <a:rPr lang="en-US" altLang="zh-CN" dirty="0">
                <a:latin typeface="+mn-ea"/>
              </a:rPr>
              <a:t>·</a:t>
            </a:r>
            <a:r>
              <a:rPr lang="zh-CN" altLang="en-US">
                <a:latin typeface="+mn-ea"/>
              </a:rPr>
              <a:t>诺依曼计算机：</a:t>
            </a:r>
            <a:r>
              <a:rPr lang="zh-CN" altLang="en-US">
                <a:solidFill>
                  <a:srgbClr val="FF0000"/>
                </a:solidFill>
              </a:rPr>
              <a:t>存储程序</a:t>
            </a:r>
            <a:r>
              <a:rPr lang="zh-CN" altLang="en-US"/>
              <a:t>、</a:t>
            </a:r>
            <a:r>
              <a:rPr lang="zh-CN" altLang="en-US">
                <a:solidFill>
                  <a:srgbClr val="FF0000"/>
                </a:solidFill>
              </a:rPr>
              <a:t>程序控制</a:t>
            </a:r>
            <a:endParaRPr lang="en-US" altLang="zh-CN">
              <a:latin typeface="+mn-ea"/>
            </a:endParaRPr>
          </a:p>
          <a:p>
            <a:pPr marL="627063" lvl="1" indent="-271463">
              <a:spcBef>
                <a:spcPts val="600"/>
              </a:spcBef>
            </a:pPr>
            <a:r>
              <a:rPr lang="zh-CN" altLang="en-US" sz="2400">
                <a:latin typeface="+mn-ea"/>
              </a:rPr>
              <a:t>运算器、存储器、控制器、输入</a:t>
            </a:r>
            <a:r>
              <a:rPr lang="en-US" altLang="zh-CN" sz="2400">
                <a:latin typeface="+mn-ea"/>
              </a:rPr>
              <a:t>/</a:t>
            </a:r>
            <a:r>
              <a:rPr lang="zh-CN" altLang="en-US" sz="2400">
                <a:latin typeface="+mn-ea"/>
              </a:rPr>
              <a:t>输出设备。</a:t>
            </a:r>
            <a:endParaRPr lang="en-US" altLang="zh-CN" sz="2400">
              <a:latin typeface="+mn-ea"/>
            </a:endParaRPr>
          </a:p>
          <a:p>
            <a:pPr marL="627063" lvl="1" indent="-271463">
              <a:spcBef>
                <a:spcPts val="600"/>
              </a:spcBef>
            </a:pPr>
            <a:r>
              <a:rPr lang="zh-CN" altLang="en-US" sz="2400">
                <a:solidFill>
                  <a:srgbClr val="0000FF"/>
                </a:solidFill>
              </a:rPr>
              <a:t>指令</a:t>
            </a:r>
            <a:r>
              <a:rPr lang="zh-CN" altLang="en-US" sz="2400"/>
              <a:t>和</a:t>
            </a:r>
            <a:r>
              <a:rPr lang="zh-CN" altLang="en-US" sz="2400">
                <a:solidFill>
                  <a:srgbClr val="0000FF"/>
                </a:solidFill>
              </a:rPr>
              <a:t>数据</a:t>
            </a:r>
            <a:r>
              <a:rPr lang="zh-CN" altLang="en-US" sz="2400"/>
              <a:t>以</a:t>
            </a:r>
            <a:r>
              <a:rPr lang="zh-CN" altLang="en-US" sz="2400">
                <a:solidFill>
                  <a:srgbClr val="CC0066"/>
                </a:solidFill>
              </a:rPr>
              <a:t>二进制</a:t>
            </a:r>
            <a:r>
              <a:rPr lang="zh-CN" altLang="en-US" sz="2400"/>
              <a:t>形式表示，</a:t>
            </a:r>
            <a:br>
              <a:rPr lang="en-US" altLang="zh-CN" sz="2400"/>
            </a:br>
            <a:r>
              <a:rPr lang="zh-CN" altLang="en-US" sz="2400">
                <a:solidFill>
                  <a:srgbClr val="C00000"/>
                </a:solidFill>
              </a:rPr>
              <a:t>以同等地位</a:t>
            </a:r>
            <a:r>
              <a:rPr lang="zh-CN" altLang="en-US" sz="2400"/>
              <a:t>存放在</a:t>
            </a:r>
            <a:r>
              <a:rPr lang="zh-CN" altLang="en-US" sz="2400">
                <a:solidFill>
                  <a:srgbClr val="009900"/>
                </a:solidFill>
              </a:rPr>
              <a:t>存储器</a:t>
            </a:r>
            <a:r>
              <a:rPr lang="zh-CN" altLang="en-US" sz="2400"/>
              <a:t>中，并可按</a:t>
            </a:r>
            <a:r>
              <a:rPr lang="zh-CN" altLang="en-US" sz="2400">
                <a:solidFill>
                  <a:srgbClr val="CC0066"/>
                </a:solidFill>
              </a:rPr>
              <a:t>地址</a:t>
            </a:r>
            <a:r>
              <a:rPr lang="zh-CN" altLang="en-US" sz="2400"/>
              <a:t>访问</a:t>
            </a:r>
            <a:r>
              <a:rPr lang="zh-CN" altLang="en-US" sz="2400">
                <a:latin typeface="+mn-ea"/>
              </a:rPr>
              <a:t>。</a:t>
            </a:r>
            <a:endParaRPr lang="en-US" altLang="zh-CN" sz="2400">
              <a:latin typeface="+mn-ea"/>
            </a:endParaRPr>
          </a:p>
          <a:p>
            <a:pPr marL="627063" lvl="1" indent="-269875">
              <a:spcBef>
                <a:spcPts val="600"/>
              </a:spcBef>
            </a:pPr>
            <a:r>
              <a:rPr lang="zh-CN" altLang="en-US" sz="2400"/>
              <a:t>将计算机要</a:t>
            </a:r>
            <a:r>
              <a:rPr lang="zh-CN" altLang="en-US" sz="2400">
                <a:latin typeface="+mn-ea"/>
              </a:rPr>
              <a:t>处理</a:t>
            </a:r>
            <a:r>
              <a:rPr lang="zh-CN" altLang="en-US" sz="2400"/>
              <a:t>的问题用</a:t>
            </a:r>
            <a:r>
              <a:rPr lang="zh-CN" altLang="en-US" sz="2400">
                <a:solidFill>
                  <a:srgbClr val="CC0066"/>
                </a:solidFill>
              </a:rPr>
              <a:t>指令</a:t>
            </a:r>
            <a:r>
              <a:rPr lang="zh-CN" altLang="en-US" sz="2400"/>
              <a:t>编成</a:t>
            </a:r>
            <a:r>
              <a:rPr lang="zh-CN" altLang="en-US" sz="2400">
                <a:solidFill>
                  <a:srgbClr val="0000FF"/>
                </a:solidFill>
              </a:rPr>
              <a:t>程序</a:t>
            </a:r>
            <a:r>
              <a:rPr lang="zh-CN" altLang="en-US" sz="2400"/>
              <a:t>。</a:t>
            </a:r>
          </a:p>
          <a:p>
            <a:pPr marL="627063" lvl="1" indent="-269875" eaLnBrk="1" hangingPunct="1">
              <a:spcBef>
                <a:spcPts val="600"/>
              </a:spcBef>
            </a:pPr>
            <a:r>
              <a:rPr lang="zh-CN" altLang="en-US" sz="2400"/>
              <a:t>在</a:t>
            </a:r>
            <a:r>
              <a:rPr lang="zh-CN" altLang="en-US" sz="2400">
                <a:solidFill>
                  <a:srgbClr val="CC0066"/>
                </a:solidFill>
              </a:rPr>
              <a:t>控制器</a:t>
            </a:r>
            <a:r>
              <a:rPr lang="zh-CN" altLang="en-US" sz="2400"/>
              <a:t>的控制下，</a:t>
            </a:r>
            <a:r>
              <a:rPr lang="zh-CN" altLang="en-US" sz="2400">
                <a:solidFill>
                  <a:srgbClr val="CC0066"/>
                </a:solidFill>
              </a:rPr>
              <a:t>指令</a:t>
            </a:r>
            <a:r>
              <a:rPr lang="zh-CN" altLang="en-US" sz="2400"/>
              <a:t>被逐条从</a:t>
            </a:r>
            <a:r>
              <a:rPr lang="zh-CN" altLang="en-US" sz="2400">
                <a:solidFill>
                  <a:srgbClr val="009900"/>
                </a:solidFill>
              </a:rPr>
              <a:t>存储器</a:t>
            </a:r>
            <a:r>
              <a:rPr lang="zh-CN" altLang="en-US" sz="2400"/>
              <a:t>中取出来执行，</a:t>
            </a:r>
            <a:br>
              <a:rPr lang="en-US" altLang="zh-CN" sz="2400"/>
            </a:br>
            <a:r>
              <a:rPr lang="zh-CN" altLang="en-US" sz="2400"/>
              <a:t>产生</a:t>
            </a:r>
            <a:r>
              <a:rPr lang="zh-CN" altLang="en-US" sz="2400">
                <a:solidFill>
                  <a:srgbClr val="0000FF"/>
                </a:solidFill>
              </a:rPr>
              <a:t>控制流</a:t>
            </a:r>
            <a:r>
              <a:rPr lang="zh-CN" altLang="en-US" sz="2400"/>
              <a:t>，在控制流的驱动下完成指令的功能。</a:t>
            </a:r>
            <a:endParaRPr lang="en-US" altLang="zh-CN" sz="2400" dirty="0">
              <a:latin typeface="+mn-ea"/>
            </a:endParaRPr>
          </a:p>
          <a:p>
            <a:pPr>
              <a:spcBef>
                <a:spcPts val="1800"/>
              </a:spcBef>
            </a:pPr>
            <a:r>
              <a:rPr lang="zh-CN" altLang="en-US" dirty="0"/>
              <a:t>计算机的分类：</a:t>
            </a:r>
            <a:r>
              <a:rPr lang="en-US" altLang="zh-CN" dirty="0"/>
              <a:t>Flynn</a:t>
            </a:r>
            <a:r>
              <a:rPr lang="zh-CN" altLang="en-US" dirty="0"/>
              <a:t>分类法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sz="2400" dirty="0"/>
              <a:t>SISD</a:t>
            </a:r>
            <a:r>
              <a:rPr lang="zh-CN" altLang="en-US" sz="2400" dirty="0"/>
              <a:t>（</a:t>
            </a:r>
            <a:r>
              <a:rPr lang="zh-CN" altLang="en-US" sz="2400" dirty="0">
                <a:solidFill>
                  <a:srgbClr val="FF0066"/>
                </a:solidFill>
                <a:latin typeface="+mj-ea"/>
                <a:ea typeface="+mj-ea"/>
              </a:rPr>
              <a:t>单</a:t>
            </a:r>
            <a:r>
              <a:rPr lang="zh-CN" altLang="en-US" sz="2400" dirty="0">
                <a:solidFill>
                  <a:srgbClr val="0000FF"/>
                </a:solidFill>
              </a:rPr>
              <a:t>指令流</a:t>
            </a:r>
            <a:r>
              <a:rPr lang="zh-CN" altLang="en-US" sz="2400" dirty="0">
                <a:solidFill>
                  <a:srgbClr val="FF0066"/>
                </a:solidFill>
                <a:latin typeface="+mj-ea"/>
                <a:ea typeface="+mj-ea"/>
              </a:rPr>
              <a:t>单</a:t>
            </a:r>
            <a:r>
              <a:rPr lang="zh-CN" altLang="en-US" sz="2400" dirty="0">
                <a:solidFill>
                  <a:srgbClr val="0000FF"/>
                </a:solidFill>
              </a:rPr>
              <a:t>数据流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spcBef>
                <a:spcPts val="600"/>
              </a:spcBef>
            </a:pPr>
            <a:r>
              <a:rPr lang="en-US" altLang="zh-CN" sz="2400" dirty="0"/>
              <a:t>SIMD</a:t>
            </a:r>
            <a:r>
              <a:rPr lang="zh-CN" altLang="en-US" sz="2400" dirty="0"/>
              <a:t>（</a:t>
            </a:r>
            <a:r>
              <a:rPr lang="zh-CN" altLang="en-US" sz="2400" dirty="0">
                <a:solidFill>
                  <a:srgbClr val="FF0066"/>
                </a:solidFill>
                <a:latin typeface="+mj-ea"/>
                <a:ea typeface="+mj-ea"/>
              </a:rPr>
              <a:t>单</a:t>
            </a:r>
            <a:r>
              <a:rPr lang="zh-CN" altLang="en-US" sz="2400" dirty="0">
                <a:solidFill>
                  <a:srgbClr val="0000FF"/>
                </a:solidFill>
              </a:rPr>
              <a:t>指令流</a:t>
            </a:r>
            <a:r>
              <a:rPr lang="zh-CN" altLang="en-US" sz="2400" dirty="0">
                <a:solidFill>
                  <a:srgbClr val="FF6600"/>
                </a:solidFill>
                <a:latin typeface="+mj-ea"/>
                <a:ea typeface="+mj-ea"/>
              </a:rPr>
              <a:t>多</a:t>
            </a:r>
            <a:r>
              <a:rPr lang="zh-CN" altLang="en-US" sz="2400" dirty="0">
                <a:solidFill>
                  <a:srgbClr val="0000FF"/>
                </a:solidFill>
              </a:rPr>
              <a:t>数据流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spcBef>
                <a:spcPts val="600"/>
              </a:spcBef>
            </a:pPr>
            <a:r>
              <a:rPr lang="en-US" altLang="zh-CN" sz="2400" dirty="0"/>
              <a:t>MISD</a:t>
            </a:r>
            <a:r>
              <a:rPr lang="zh-CN" altLang="en-US" sz="2400" dirty="0"/>
              <a:t>（</a:t>
            </a:r>
            <a:r>
              <a:rPr lang="zh-CN" altLang="en-US" sz="2400" dirty="0">
                <a:solidFill>
                  <a:srgbClr val="FF6600"/>
                </a:solidFill>
                <a:latin typeface="+mj-ea"/>
                <a:ea typeface="+mj-ea"/>
              </a:rPr>
              <a:t>多</a:t>
            </a:r>
            <a:r>
              <a:rPr lang="zh-CN" altLang="en-US" sz="2400" dirty="0">
                <a:solidFill>
                  <a:srgbClr val="0000FF"/>
                </a:solidFill>
              </a:rPr>
              <a:t>指令流</a:t>
            </a:r>
            <a:r>
              <a:rPr lang="zh-CN" altLang="en-US" sz="2400" dirty="0">
                <a:solidFill>
                  <a:srgbClr val="FF0066"/>
                </a:solidFill>
                <a:latin typeface="+mj-ea"/>
                <a:ea typeface="+mj-ea"/>
              </a:rPr>
              <a:t>单</a:t>
            </a:r>
            <a:r>
              <a:rPr lang="zh-CN" altLang="en-US" sz="2400" dirty="0">
                <a:solidFill>
                  <a:srgbClr val="0000FF"/>
                </a:solidFill>
              </a:rPr>
              <a:t>数据流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spcBef>
                <a:spcPts val="600"/>
              </a:spcBef>
            </a:pPr>
            <a:r>
              <a:rPr lang="en-US" altLang="zh-CN" sz="2400" dirty="0"/>
              <a:t>MIMD</a:t>
            </a:r>
            <a:r>
              <a:rPr lang="zh-CN" altLang="en-US" sz="2400" dirty="0"/>
              <a:t>（</a:t>
            </a:r>
            <a:r>
              <a:rPr lang="zh-CN" altLang="en-US" sz="2400" dirty="0">
                <a:solidFill>
                  <a:srgbClr val="FF6600"/>
                </a:solidFill>
                <a:latin typeface="+mj-ea"/>
                <a:ea typeface="+mj-ea"/>
              </a:rPr>
              <a:t>多</a:t>
            </a:r>
            <a:r>
              <a:rPr lang="zh-CN" altLang="en-US" sz="2400" dirty="0">
                <a:solidFill>
                  <a:srgbClr val="0000FF"/>
                </a:solidFill>
              </a:rPr>
              <a:t>指令流</a:t>
            </a:r>
            <a:r>
              <a:rPr lang="zh-CN" altLang="en-US" sz="2400" dirty="0">
                <a:solidFill>
                  <a:srgbClr val="FF6600"/>
                </a:solidFill>
                <a:latin typeface="+mj-ea"/>
                <a:ea typeface="+mj-ea"/>
              </a:rPr>
              <a:t>多</a:t>
            </a:r>
            <a:r>
              <a:rPr lang="zh-CN" altLang="en-US" sz="2400" dirty="0">
                <a:solidFill>
                  <a:srgbClr val="0000FF"/>
                </a:solidFill>
              </a:rPr>
              <a:t>数据流</a:t>
            </a:r>
            <a:r>
              <a:rPr lang="zh-CN" altLang="en-US" sz="2400" dirty="0"/>
              <a:t> </a:t>
            </a:r>
            <a:r>
              <a:rPr lang="en-US" altLang="zh-CN" sz="2400" dirty="0"/>
              <a:t>MIMD </a:t>
            </a:r>
            <a:r>
              <a:rPr lang="zh-CN" altLang="en-US" sz="2400" dirty="0"/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386209-D05C-4ADD-860F-D3775ABEF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646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39582-BD35-4A75-B53C-A0939C27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 绪论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0D732E-0EB3-4D97-AF19-B737009C3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362950" cy="5760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阿姆达尔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/>
              <a:t>Amdahl</a:t>
            </a:r>
            <a:r>
              <a:rPr lang="en-US" altLang="zh-CN">
                <a:latin typeface="+mn-ea"/>
              </a:rPr>
              <a:t>)</a:t>
            </a:r>
            <a:r>
              <a:rPr lang="zh-CN" altLang="en-US"/>
              <a:t>定律的有关计算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BD7FB0-DE68-4ED1-8459-E46F54D50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8</a:t>
            </a:fld>
            <a:endParaRPr lang="zh-CN" altLang="en-US"/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0DB4C89D-EFF3-4D11-B1D7-85DCF2F2E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829123"/>
              </p:ext>
            </p:extLst>
          </p:nvPr>
        </p:nvGraphicFramePr>
        <p:xfrm>
          <a:off x="4272160" y="1454826"/>
          <a:ext cx="3229315" cy="175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0" name="公式" r:id="rId3" imgW="1168200" imgH="634680" progId="Equation.3">
                  <p:embed/>
                </p:oleObj>
              </mc:Choice>
              <mc:Fallback>
                <p:oleObj name="公式" r:id="rId3" imgW="1168200" imgH="634680" progId="Equation.3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5E7935CE-E707-4A72-BFAF-900599D88A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2160" y="1454826"/>
                        <a:ext cx="3229315" cy="1758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EA36AC95-B9BF-4C7E-A1C4-8DDBCD37F3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280406"/>
              </p:ext>
            </p:extLst>
          </p:nvPr>
        </p:nvGraphicFramePr>
        <p:xfrm>
          <a:off x="4272160" y="3288704"/>
          <a:ext cx="4332288" cy="186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" name="公式" r:id="rId5" imgW="1562040" imgH="672840" progId="Equation.3">
                  <p:embed/>
                </p:oleObj>
              </mc:Choice>
              <mc:Fallback>
                <p:oleObj name="公式" r:id="rId5" imgW="1562040" imgH="672840" progId="Equation.3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50FD1E14-048C-4165-A2DA-2DB67AF6C7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2160" y="3288704"/>
                        <a:ext cx="4332288" cy="186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70254EA-1904-43BF-8DD8-61AEC2537071}"/>
              </a:ext>
            </a:extLst>
          </p:cNvPr>
          <p:cNvSpPr/>
          <p:nvPr/>
        </p:nvSpPr>
        <p:spPr>
          <a:xfrm>
            <a:off x="1332912" y="1772255"/>
            <a:ext cx="30700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/>
              <a:t>单个部件可改进：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127DF4-1C8A-4C7D-82BD-C82F8C8F2A2A}"/>
              </a:ext>
            </a:extLst>
          </p:cNvPr>
          <p:cNvSpPr/>
          <p:nvPr/>
        </p:nvSpPr>
        <p:spPr>
          <a:xfrm>
            <a:off x="611560" y="3602946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/>
              <a:t>多个部件可同时改进：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0ED559-E16C-498A-B0BA-7408C87DF754}"/>
              </a:ext>
            </a:extLst>
          </p:cNvPr>
          <p:cNvSpPr/>
          <p:nvPr/>
        </p:nvSpPr>
        <p:spPr>
          <a:xfrm>
            <a:off x="611560" y="5229200"/>
            <a:ext cx="81453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0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计算机系统中某一部件由于采用某种更快的执行方式后，</a:t>
            </a:r>
            <a:br>
              <a:rPr lang="en-US" altLang="zh-CN" sz="2400" b="0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b="0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整个系统性能的提高与这种执行方式的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使用频率</a:t>
            </a:r>
            <a:r>
              <a:rPr lang="zh-CN" altLang="en-US" sz="2400" b="0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占总执行时间的比例</a:t>
            </a:r>
            <a:r>
              <a:rPr lang="zh-CN" altLang="en-US" sz="2400" b="0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有关。</a:t>
            </a:r>
          </a:p>
        </p:txBody>
      </p:sp>
    </p:spTree>
    <p:extLst>
      <p:ext uri="{BB962C8B-B14F-4D97-AF65-F5344CB8AC3E}">
        <p14:creationId xmlns:p14="http://schemas.microsoft.com/office/powerpoint/2010/main" val="159065303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77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</p:spPr>
        <p:txBody>
          <a:bodyPr anchor="ctr"/>
          <a:lstStyle/>
          <a:p>
            <a:pPr eaLnBrk="1" hangingPunct="1">
              <a:spcBef>
                <a:spcPct val="0"/>
              </a:spcBef>
              <a:buClrTx/>
              <a:buFont typeface="Arial" pitchFamily="34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pitchFamily="34" charset="0"/>
                <a:ea typeface="黑体" pitchFamily="49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pitchFamily="34" charset="0"/>
                <a:ea typeface="黑体" pitchFamily="49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pitchFamily="34" charset="0"/>
              <a:ea typeface="黑体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 typeface="Arial" pitchFamily="34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2</a:t>
            </a:r>
            <a: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  <a:t>章  计算机系统中的</a:t>
            </a:r>
            <a:br>
              <a:rPr lang="zh-CN" altLang="en-US" sz="4000" b="0" dirty="0">
                <a:solidFill>
                  <a:srgbClr val="FFFFFF"/>
                </a:solidFill>
                <a:latin typeface="Arial" pitchFamily="34" charset="0"/>
                <a:ea typeface="黑体" pitchFamily="49" charset="-122"/>
              </a:rPr>
            </a:br>
            <a:r>
              <a:rPr lang="zh-CN" altLang="en-US" sz="4000" b="0" dirty="0">
                <a:solidFill>
                  <a:srgbClr val="FFFF00"/>
                </a:solidFill>
                <a:latin typeface="Arial" pitchFamily="34" charset="0"/>
                <a:ea typeface="黑体" pitchFamily="49" charset="-122"/>
              </a:rPr>
              <a:t>数据表示</a:t>
            </a:r>
          </a:p>
        </p:txBody>
      </p:sp>
      <p:pic>
        <p:nvPicPr>
          <p:cNvPr id="3" name="图片 2">
            <a:hlinkClick r:id="" action="ppaction://noaction"/>
            <a:extLst>
              <a:ext uri="{FF2B5EF4-FFF2-40B4-BE49-F238E27FC236}">
                <a16:creationId xmlns:a16="http://schemas.microsoft.com/office/drawing/2014/main" id="{699C9287-96F4-4D15-A548-E653B729821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43808" y="5229200"/>
            <a:ext cx="6223527" cy="12968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9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99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9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99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39582-BD35-4A75-B53C-A0939C27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0D732E-0EB3-4D97-AF19-B737009C3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10"/>
            <a:ext cx="8507288" cy="6084990"/>
          </a:xfrm>
        </p:spPr>
        <p:txBody>
          <a:bodyPr/>
          <a:lstStyle/>
          <a:p>
            <a:r>
              <a:rPr lang="zh-CN" altLang="en-US" dirty="0"/>
              <a:t>定点数表示：</a:t>
            </a:r>
            <a:br>
              <a:rPr lang="en-US" altLang="zh-CN" dirty="0"/>
            </a:br>
            <a:r>
              <a:rPr lang="zh-CN" altLang="en-US" dirty="0"/>
              <a:t>各种编码的</a:t>
            </a:r>
            <a:r>
              <a:rPr lang="zh-CN" altLang="en-US" dirty="0">
                <a:solidFill>
                  <a:srgbClr val="008000"/>
                </a:solidFill>
              </a:rPr>
              <a:t>定义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00FF"/>
                </a:solidFill>
              </a:rPr>
              <a:t>特点</a:t>
            </a:r>
            <a:r>
              <a:rPr lang="zh-CN" altLang="en-US" dirty="0"/>
              <a:t>、表示数的</a:t>
            </a:r>
            <a:r>
              <a:rPr lang="zh-CN" altLang="en-US" dirty="0">
                <a:solidFill>
                  <a:srgbClr val="D60093"/>
                </a:solidFill>
              </a:rPr>
              <a:t>范围</a:t>
            </a:r>
            <a:r>
              <a:rPr lang="zh-CN" altLang="en-US" dirty="0"/>
              <a:t>、</a:t>
            </a:r>
            <a:br>
              <a:rPr lang="en-US" altLang="zh-CN" dirty="0"/>
            </a:br>
            <a:r>
              <a:rPr lang="zh-CN" altLang="en-US" dirty="0"/>
              <a:t>和</a:t>
            </a:r>
            <a:r>
              <a:rPr lang="zh-CN" altLang="en-US" dirty="0">
                <a:solidFill>
                  <a:srgbClr val="FF6600"/>
                </a:solidFill>
              </a:rPr>
              <a:t>真值</a:t>
            </a:r>
            <a:r>
              <a:rPr lang="zh-CN" altLang="en-US" dirty="0"/>
              <a:t>之间的</a:t>
            </a:r>
            <a:r>
              <a:rPr lang="zh-CN" altLang="en-US" dirty="0">
                <a:solidFill>
                  <a:srgbClr val="FF0000"/>
                </a:solidFill>
              </a:rPr>
              <a:t>转换</a:t>
            </a:r>
            <a:r>
              <a:rPr lang="zh-CN" altLang="en-US" dirty="0"/>
              <a:t>、相互</a:t>
            </a:r>
            <a:r>
              <a:rPr lang="zh-CN" altLang="en-US" dirty="0">
                <a:solidFill>
                  <a:srgbClr val="FF0000"/>
                </a:solidFill>
              </a:rPr>
              <a:t>转换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原码：浮点数尾数</a:t>
            </a:r>
            <a:endParaRPr lang="en-US" altLang="zh-CN" dirty="0"/>
          </a:p>
          <a:p>
            <a:pPr lvl="1"/>
            <a:r>
              <a:rPr lang="zh-CN" altLang="en-US" dirty="0"/>
              <a:t>反码</a:t>
            </a:r>
            <a:endParaRPr lang="en-US" altLang="zh-CN" dirty="0"/>
          </a:p>
          <a:p>
            <a:pPr lvl="1"/>
            <a:r>
              <a:rPr lang="zh-CN" altLang="en-US" dirty="0"/>
              <a:t>补码：有符号整数</a:t>
            </a:r>
            <a:endParaRPr lang="en-US" altLang="zh-CN" dirty="0"/>
          </a:p>
          <a:p>
            <a:pPr lvl="1"/>
            <a:r>
              <a:rPr lang="zh-CN" altLang="en-US" dirty="0"/>
              <a:t>移码：浮点数</a:t>
            </a:r>
            <a:r>
              <a:rPr lang="zh-CN" altLang="en-US"/>
              <a:t>阶码</a:t>
            </a:r>
            <a:endParaRPr lang="en-US" altLang="zh-CN"/>
          </a:p>
          <a:p>
            <a:pPr lvl="1"/>
            <a:r>
              <a:rPr lang="en-US" altLang="zh-CN"/>
              <a:t>8421 BCD </a:t>
            </a:r>
            <a:r>
              <a:rPr lang="zh-CN" altLang="en-US"/>
              <a:t>码</a:t>
            </a:r>
            <a:endParaRPr lang="en-US" altLang="zh-CN" dirty="0"/>
          </a:p>
          <a:p>
            <a:r>
              <a:rPr lang="zh-CN" altLang="en-US" dirty="0"/>
              <a:t>补码的性质：</a:t>
            </a:r>
            <a:endParaRPr lang="en-US" altLang="zh-CN" dirty="0"/>
          </a:p>
          <a:p>
            <a:pPr lvl="1"/>
            <a:r>
              <a:rPr lang="zh-CN" altLang="en-US" dirty="0"/>
              <a:t>符号位扩展</a:t>
            </a:r>
            <a:endParaRPr lang="en-US" altLang="zh-CN" dirty="0"/>
          </a:p>
          <a:p>
            <a:pPr lvl="1"/>
            <a:r>
              <a:rPr lang="zh-CN" altLang="en-US">
                <a:solidFill>
                  <a:srgbClr val="FF00FF"/>
                </a:solidFill>
              </a:rPr>
              <a:t>算术</a:t>
            </a:r>
            <a:r>
              <a:rPr lang="zh-CN" altLang="en-US"/>
              <a:t>右移、</a:t>
            </a:r>
            <a:r>
              <a:rPr lang="zh-CN" altLang="en-US">
                <a:solidFill>
                  <a:srgbClr val="FF6600"/>
                </a:solidFill>
              </a:rPr>
              <a:t>逻辑</a:t>
            </a:r>
            <a:r>
              <a:rPr lang="zh-CN" altLang="en-US"/>
              <a:t>右移</a:t>
            </a:r>
            <a:endParaRPr lang="en-US" altLang="zh-CN"/>
          </a:p>
          <a:p>
            <a:pPr lvl="1"/>
            <a:r>
              <a:rPr lang="zh-CN" altLang="en-US"/>
              <a:t>左移</a:t>
            </a:r>
            <a:r>
              <a:rPr lang="en-US" altLang="zh-CN"/>
              <a:t>1</a:t>
            </a:r>
            <a:r>
              <a:rPr lang="zh-CN" altLang="en-US"/>
              <a:t>位后不溢出的条件</a:t>
            </a:r>
            <a:endParaRPr lang="en-US" altLang="zh-CN"/>
          </a:p>
          <a:p>
            <a:r>
              <a:rPr lang="zh-CN" altLang="en-US"/>
              <a:t>字符编码：</a:t>
            </a:r>
            <a:r>
              <a:rPr lang="en-US" altLang="zh-CN"/>
              <a:t>ASCII </a:t>
            </a:r>
            <a:r>
              <a:rPr lang="zh-CN" altLang="en-US"/>
              <a:t>码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BD7FB0-DE68-4ED1-8459-E46F54D50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CCCF58-2BDC-48CB-AA69-0277DFBD6167}"/>
              </a:ext>
            </a:extLst>
          </p:cNvPr>
          <p:cNvSpPr/>
          <p:nvPr/>
        </p:nvSpPr>
        <p:spPr>
          <a:xfrm>
            <a:off x="4505459" y="4221088"/>
            <a:ext cx="21419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lang="zh-CN" altLang="en-US" i="1" dirty="0">
                <a:solidFill>
                  <a:srgbClr val="008000"/>
                </a:solidFill>
              </a:rPr>
              <a:t>移码</a:t>
            </a:r>
          </a:p>
          <a:p>
            <a:pPr algn="r">
              <a:spcBef>
                <a:spcPts val="0"/>
              </a:spcBef>
            </a:pPr>
            <a:r>
              <a:rPr lang="zh-CN" altLang="en-US" i="1" dirty="0">
                <a:solidFill>
                  <a:srgbClr val="008000"/>
                </a:solidFill>
              </a:rPr>
              <a:t>正数的补码</a:t>
            </a:r>
          </a:p>
          <a:p>
            <a:pPr algn="r">
              <a:spcBef>
                <a:spcPts val="0"/>
              </a:spcBef>
            </a:pPr>
            <a:r>
              <a:rPr lang="zh-CN" altLang="en-US" i="1" dirty="0">
                <a:solidFill>
                  <a:srgbClr val="008000"/>
                </a:solidFill>
              </a:rPr>
              <a:t>负数的补码</a:t>
            </a:r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5E039D78-08D7-4A85-AF03-BF033180C226}"/>
              </a:ext>
            </a:extLst>
          </p:cNvPr>
          <p:cNvSpPr/>
          <p:nvPr/>
        </p:nvSpPr>
        <p:spPr bwMode="auto">
          <a:xfrm>
            <a:off x="6664840" y="4293096"/>
            <a:ext cx="216024" cy="1224136"/>
          </a:xfrm>
          <a:prstGeom prst="rightBrace">
            <a:avLst>
              <a:gd name="adj1" fmla="val 36286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19B096-DE62-475A-86EF-3A9CA9148425}"/>
              </a:ext>
            </a:extLst>
          </p:cNvPr>
          <p:cNvSpPr/>
          <p:nvPr/>
        </p:nvSpPr>
        <p:spPr>
          <a:xfrm>
            <a:off x="6779529" y="4437112"/>
            <a:ext cx="204094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i="1" dirty="0">
                <a:solidFill>
                  <a:srgbClr val="0000FF"/>
                </a:solidFill>
              </a:rPr>
              <a:t>编码值</a:t>
            </a:r>
            <a:r>
              <a:rPr lang="zh-CN" altLang="en-US" sz="2400" i="1" dirty="0">
                <a:solidFill>
                  <a:srgbClr val="FF6600"/>
                </a:solidFill>
              </a:rPr>
              <a:t>与</a:t>
            </a:r>
            <a:r>
              <a:rPr lang="zh-CN" altLang="en-US" sz="2400" i="1" dirty="0">
                <a:solidFill>
                  <a:srgbClr val="0000FF"/>
                </a:solidFill>
              </a:rPr>
              <a:t>真值</a:t>
            </a:r>
            <a:br>
              <a:rPr lang="en-US" altLang="zh-CN" sz="2400" i="1" dirty="0">
                <a:solidFill>
                  <a:srgbClr val="FF6600"/>
                </a:solidFill>
              </a:rPr>
            </a:br>
            <a:r>
              <a:rPr lang="zh-CN" altLang="en-US" sz="2400" i="1" dirty="0">
                <a:solidFill>
                  <a:srgbClr val="FF6600"/>
                </a:solidFill>
              </a:rPr>
              <a:t>线性正比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8B5A3D-CE9A-4461-902C-B5793429AF59}"/>
              </a:ext>
            </a:extLst>
          </p:cNvPr>
          <p:cNvSpPr/>
          <p:nvPr/>
        </p:nvSpPr>
        <p:spPr>
          <a:xfrm>
            <a:off x="4587561" y="3336740"/>
            <a:ext cx="27927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偏移量 </a:t>
            </a:r>
            <a:r>
              <a:rPr lang="en-US" altLang="zh-CN" dirty="0">
                <a:solidFill>
                  <a:srgbClr val="C00000"/>
                </a:solidFill>
              </a:rPr>
              <a:t>1000…00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29595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08121-47FD-465A-B33A-95B9B4FF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407A9C-1E63-4383-8868-8C5706351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620610"/>
            <a:ext cx="8712646" cy="5760799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语言中的整数类型：</a:t>
            </a:r>
            <a:endParaRPr lang="en-US" altLang="zh-CN" dirty="0"/>
          </a:p>
          <a:p>
            <a:pPr lvl="1"/>
            <a:r>
              <a:rPr lang="zh-CN" altLang="en-US" dirty="0"/>
              <a:t>无符号整数</a:t>
            </a:r>
            <a:endParaRPr lang="en-US" altLang="zh-CN" dirty="0"/>
          </a:p>
          <a:p>
            <a:pPr lvl="2"/>
            <a:r>
              <a:rPr lang="en-US" altLang="zh-CN" dirty="0"/>
              <a:t>8</a:t>
            </a:r>
            <a:r>
              <a:rPr lang="zh-CN" altLang="en-US" dirty="0"/>
              <a:t>位：</a:t>
            </a:r>
            <a:r>
              <a:rPr lang="en-US" altLang="zh-CN" b="0" dirty="0">
                <a:latin typeface="Consolas" panose="020B0609020204030204" pitchFamily="49" charset="0"/>
              </a:rPr>
              <a:t>unsigned char</a:t>
            </a:r>
          </a:p>
          <a:p>
            <a:pPr lvl="2"/>
            <a:r>
              <a:rPr lang="en-US" altLang="zh-CN" dirty="0"/>
              <a:t>16</a:t>
            </a:r>
            <a:r>
              <a:rPr lang="zh-CN" altLang="en-US" dirty="0"/>
              <a:t>位：</a:t>
            </a:r>
            <a:r>
              <a:rPr lang="en-US" altLang="zh-CN" dirty="0"/>
              <a:t> </a:t>
            </a:r>
            <a:r>
              <a:rPr lang="en-US" altLang="zh-CN" b="0" dirty="0">
                <a:latin typeface="Consolas" panose="020B0609020204030204" pitchFamily="49" charset="0"/>
              </a:rPr>
              <a:t>unsigned short</a:t>
            </a:r>
          </a:p>
          <a:p>
            <a:pPr lvl="2"/>
            <a:r>
              <a:rPr lang="en-US" altLang="zh-CN" dirty="0"/>
              <a:t>32</a:t>
            </a:r>
            <a:r>
              <a:rPr lang="zh-CN" altLang="en-US" dirty="0"/>
              <a:t>位：</a:t>
            </a:r>
            <a:r>
              <a:rPr lang="en-US" altLang="zh-CN" dirty="0"/>
              <a:t> </a:t>
            </a:r>
            <a:r>
              <a:rPr lang="en-US" altLang="zh-CN" b="0" dirty="0">
                <a:latin typeface="Consolas" panose="020B0609020204030204" pitchFamily="49" charset="0"/>
              </a:rPr>
              <a:t>unsigned int</a:t>
            </a:r>
          </a:p>
          <a:p>
            <a:pPr lvl="1"/>
            <a:r>
              <a:rPr lang="zh-CN" altLang="en-US" dirty="0"/>
              <a:t>有符号整数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/>
              <a:t>补码</a:t>
            </a:r>
            <a:r>
              <a:rPr lang="en-US" altLang="zh-CN" dirty="0">
                <a:latin typeface="+mn-ea"/>
              </a:rPr>
              <a:t>)</a:t>
            </a:r>
          </a:p>
          <a:p>
            <a:pPr lvl="2"/>
            <a:r>
              <a:rPr lang="en-US" altLang="zh-CN" dirty="0"/>
              <a:t>8</a:t>
            </a:r>
            <a:r>
              <a:rPr lang="zh-CN" altLang="en-US" dirty="0"/>
              <a:t>位：</a:t>
            </a:r>
            <a:r>
              <a:rPr lang="en-US" altLang="zh-CN" b="0" dirty="0">
                <a:latin typeface="Consolas" panose="020B0609020204030204" pitchFamily="49" charset="0"/>
              </a:rPr>
              <a:t>char</a:t>
            </a:r>
          </a:p>
          <a:p>
            <a:pPr lvl="2"/>
            <a:r>
              <a:rPr lang="en-US" altLang="zh-CN" dirty="0"/>
              <a:t>16</a:t>
            </a:r>
            <a:r>
              <a:rPr lang="zh-CN" altLang="en-US" dirty="0"/>
              <a:t>位：</a:t>
            </a:r>
            <a:r>
              <a:rPr lang="en-US" altLang="zh-CN" b="0" dirty="0">
                <a:latin typeface="Consolas" panose="020B0609020204030204" pitchFamily="49" charset="0"/>
              </a:rPr>
              <a:t>short</a:t>
            </a:r>
          </a:p>
          <a:p>
            <a:pPr lvl="2"/>
            <a:r>
              <a:rPr lang="en-US" altLang="zh-CN" dirty="0"/>
              <a:t>32</a:t>
            </a:r>
            <a:r>
              <a:rPr lang="zh-CN" altLang="en-US" dirty="0"/>
              <a:t>位：</a:t>
            </a:r>
            <a:r>
              <a:rPr lang="en-US" altLang="zh-CN" b="0" dirty="0">
                <a:latin typeface="Consolas" panose="020B0609020204030204" pitchFamily="49" charset="0"/>
              </a:rPr>
              <a:t>int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语言中的浮点数类型：</a:t>
            </a:r>
            <a:endParaRPr lang="en-US" altLang="zh-CN" dirty="0"/>
          </a:p>
          <a:p>
            <a:pPr lvl="1"/>
            <a:r>
              <a:rPr lang="zh-CN" altLang="en-US" dirty="0"/>
              <a:t>符合</a:t>
            </a:r>
            <a:r>
              <a:rPr lang="en-US" altLang="zh-CN" dirty="0"/>
              <a:t>IEEE754</a:t>
            </a:r>
            <a:r>
              <a:rPr lang="zh-CN" altLang="en-US" dirty="0"/>
              <a:t>标准的</a:t>
            </a:r>
            <a:r>
              <a:rPr lang="en-US" altLang="zh-CN" dirty="0"/>
              <a:t>32</a:t>
            </a:r>
            <a:r>
              <a:rPr lang="zh-CN" altLang="en-US" dirty="0"/>
              <a:t>位单精度浮点数：</a:t>
            </a:r>
            <a:r>
              <a:rPr lang="en-US" altLang="zh-CN" b="0" dirty="0">
                <a:latin typeface="Consolas" panose="020B0609020204030204" pitchFamily="49" charset="0"/>
                <a:ea typeface="楷体" panose="02010609060101010101" pitchFamily="49" charset="-122"/>
              </a:rPr>
              <a:t>float</a:t>
            </a:r>
          </a:p>
          <a:p>
            <a:pPr lvl="1"/>
            <a:r>
              <a:rPr lang="zh-CN" altLang="en-US" dirty="0"/>
              <a:t>符合</a:t>
            </a:r>
            <a:r>
              <a:rPr lang="en-US" altLang="zh-CN" dirty="0"/>
              <a:t>IEEE754</a:t>
            </a:r>
            <a:r>
              <a:rPr lang="zh-CN" altLang="en-US" dirty="0"/>
              <a:t>标准的</a:t>
            </a:r>
            <a:r>
              <a:rPr lang="en-US" altLang="zh-CN" dirty="0"/>
              <a:t>64</a:t>
            </a:r>
            <a:r>
              <a:rPr lang="zh-CN" altLang="en-US" dirty="0"/>
              <a:t>位双精度浮点数：</a:t>
            </a:r>
            <a:r>
              <a:rPr lang="en-US" altLang="zh-CN" b="0" dirty="0">
                <a:latin typeface="Consolas" panose="020B0609020204030204" pitchFamily="49" charset="0"/>
                <a:ea typeface="楷体" panose="02010609060101010101" pitchFamily="49" charset="-122"/>
              </a:rPr>
              <a:t>double</a:t>
            </a:r>
            <a:endParaRPr lang="zh-CN" altLang="en-US" b="0" dirty="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40ECC0-29A4-42D4-BF2B-872CBEB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80118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0AAE5-7AD8-47C9-B12B-60BD7B61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3D1EC6-A3D4-43D6-AEA9-A7D9D534A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7BB815-B1C8-4473-A407-7E55F005BDB9}"/>
              </a:ext>
            </a:extLst>
          </p:cNvPr>
          <p:cNvSpPr/>
          <p:nvPr/>
        </p:nvSpPr>
        <p:spPr>
          <a:xfrm>
            <a:off x="251520" y="568325"/>
            <a:ext cx="2513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P54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，习题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2.3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8527BA3-134C-4D78-B625-BB12913E8CA9}"/>
              </a:ext>
            </a:extLst>
          </p:cNvPr>
          <p:cNvSpPr txBox="1">
            <a:spLocks/>
          </p:cNvSpPr>
          <p:nvPr/>
        </p:nvSpPr>
        <p:spPr bwMode="auto">
          <a:xfrm>
            <a:off x="457200" y="1196776"/>
            <a:ext cx="8362950" cy="439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2330450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已知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</a:t>
            </a:r>
            <a:r>
              <a:rPr kumimoji="0" lang="en-US" altLang="zh-CN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</a:t>
            </a:r>
            <a:r>
              <a:rPr kumimoji="0" lang="zh-CN" altLang="en-US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补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，求 </a:t>
            </a:r>
            <a:r>
              <a:rPr kumimoji="0" lang="en-US" altLang="zh-CN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。</a:t>
            </a:r>
            <a:endParaRPr kumimoji="0" lang="en-US" altLang="zh-CN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① [</a:t>
            </a:r>
            <a:r>
              <a:rPr kumimoji="0" lang="en-US" altLang="zh-CN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</a:t>
            </a:r>
            <a:r>
              <a:rPr kumimoji="0" lang="zh-CN" altLang="en-US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补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1.1101101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</a:t>
            </a:r>
            <a:r>
              <a:rPr kumimoji="0" lang="en-US" altLang="zh-CN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 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－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0.0010011</a:t>
            </a:r>
            <a:r>
              <a:rPr kumimoji="0" lang="en-US" altLang="zh-CN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endParaRPr kumimoji="0" lang="en-US" altLang="zh-CN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② [</a:t>
            </a:r>
            <a:r>
              <a:rPr kumimoji="0" lang="en-US" altLang="zh-CN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</a:t>
            </a:r>
            <a:r>
              <a:rPr kumimoji="0" lang="zh-CN" altLang="en-US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补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0.1010110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</a:t>
            </a:r>
            <a:r>
              <a:rPr kumimoji="0" lang="en-US" altLang="zh-CN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 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0.1010110</a:t>
            </a:r>
            <a:r>
              <a:rPr kumimoji="0" lang="en-US" altLang="zh-CN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endParaRPr kumimoji="0" lang="en-US" altLang="zh-CN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③ [</a:t>
            </a:r>
            <a:r>
              <a:rPr kumimoji="0" lang="en-US" altLang="zh-CN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</a:t>
            </a:r>
            <a:r>
              <a:rPr kumimoji="0" lang="zh-CN" altLang="en-US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补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10000000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</a:t>
            </a:r>
            <a:r>
              <a:rPr kumimoji="0" lang="en-US" altLang="zh-CN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 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－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10000000</a:t>
            </a:r>
            <a:r>
              <a:rPr kumimoji="0" lang="en-US" altLang="zh-CN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endParaRPr kumimoji="0" lang="en-US" altLang="zh-CN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④ [</a:t>
            </a:r>
            <a:r>
              <a:rPr kumimoji="0" lang="en-US" altLang="zh-CN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</a:t>
            </a:r>
            <a:r>
              <a:rPr kumimoji="0" lang="zh-CN" altLang="en-US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补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11010010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</a:t>
            </a:r>
            <a:r>
              <a:rPr kumimoji="0" lang="en-US" altLang="zh-CN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 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－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00101110</a:t>
            </a:r>
            <a:r>
              <a:rPr kumimoji="0" lang="en-US" altLang="zh-CN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57E334-BC02-482F-AEB1-B5CEAFFCEF3D}"/>
              </a:ext>
            </a:extLst>
          </p:cNvPr>
          <p:cNvSpPr/>
          <p:nvPr/>
        </p:nvSpPr>
        <p:spPr>
          <a:xfrm>
            <a:off x="3707904" y="2132879"/>
            <a:ext cx="39388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-19/128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-0.1484375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E51473-942C-4528-A93D-05C8195B2BC2}"/>
              </a:ext>
            </a:extLst>
          </p:cNvPr>
          <p:cNvSpPr/>
          <p:nvPr/>
        </p:nvSpPr>
        <p:spPr>
          <a:xfrm>
            <a:off x="3720473" y="3052204"/>
            <a:ext cx="33393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43/64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0.671875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82DFA0-571D-450D-9813-7645EF9B5030}"/>
              </a:ext>
            </a:extLst>
          </p:cNvPr>
          <p:cNvSpPr/>
          <p:nvPr/>
        </p:nvSpPr>
        <p:spPr>
          <a:xfrm>
            <a:off x="3720473" y="3990380"/>
            <a:ext cx="22236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-2</a:t>
            </a:r>
            <a:r>
              <a:rPr kumimoji="0" lang="en-US" altLang="zh-CN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7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-128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3ACA64-2620-49B1-9F50-3F2548EE8AAA}"/>
              </a:ext>
            </a:extLst>
          </p:cNvPr>
          <p:cNvSpPr/>
          <p:nvPr/>
        </p:nvSpPr>
        <p:spPr>
          <a:xfrm>
            <a:off x="3724682" y="4914854"/>
            <a:ext cx="1114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-46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129851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AD01C-4F6C-4611-9E17-D5CECD83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7D984F-87B8-4F94-A85F-F1A35CE7F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13</a:t>
            </a:fld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569D2F0-C2CF-42C4-A2A9-533E96D09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707001"/>
              </p:ext>
            </p:extLst>
          </p:nvPr>
        </p:nvGraphicFramePr>
        <p:xfrm>
          <a:off x="448475" y="1707188"/>
          <a:ext cx="7560840" cy="45446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23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[X]</a:t>
                      </a:r>
                      <a:r>
                        <a:rPr lang="zh-CN" altLang="en-US" sz="2800" b="1" baseline="-25000" dirty="0"/>
                        <a:t>补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00111010</a:t>
                      </a:r>
                      <a:endParaRPr lang="zh-CN" altLang="en-US" sz="28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/>
                        <a:t>[Y]</a:t>
                      </a:r>
                      <a:r>
                        <a:rPr lang="zh-CN" altLang="en-US" sz="2800" b="1" baseline="-25000" dirty="0"/>
                        <a:t>补 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CN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Microsoft Yahei" panose="020B0503020204020204" pitchFamily="34" charset="-122"/>
                        </a:rPr>
                        <a:t>11000101</a:t>
                      </a:r>
                      <a:endParaRPr lang="zh-CN" altLang="en-US" sz="28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3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[2X]</a:t>
                      </a:r>
                      <a:r>
                        <a:rPr lang="zh-CN" altLang="en-US" sz="2800" b="1" baseline="-25000" dirty="0"/>
                        <a:t>补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[2Y]</a:t>
                      </a:r>
                      <a:r>
                        <a:rPr lang="zh-CN" altLang="en-US" sz="2800" b="1" baseline="-25000" dirty="0"/>
                        <a:t>补 </a:t>
                      </a:r>
                      <a:r>
                        <a:rPr lang="en-US" altLang="zh-CN" sz="2800" b="1" dirty="0"/>
                        <a:t>=</a:t>
                      </a:r>
                      <a:r>
                        <a:rPr lang="zh-CN" altLang="en-US" sz="2800" b="1" baseline="-25000" dirty="0"/>
                        <a:t> 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 dirty="0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3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[(1/2)X]</a:t>
                      </a:r>
                      <a:r>
                        <a:rPr lang="zh-CN" altLang="en-US" sz="2800" b="1" baseline="-25000" dirty="0"/>
                        <a:t>补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[(1/4)Y]</a:t>
                      </a:r>
                      <a:r>
                        <a:rPr lang="zh-CN" altLang="en-US" sz="2800" b="1" baseline="-25000" dirty="0"/>
                        <a:t>补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 dirty="0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3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[-X]</a:t>
                      </a:r>
                      <a:r>
                        <a:rPr lang="zh-CN" altLang="en-US" sz="2800" b="1" baseline="-25000" dirty="0"/>
                        <a:t>补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[-Y]</a:t>
                      </a:r>
                      <a:r>
                        <a:rPr lang="zh-CN" altLang="en-US" sz="2800" b="1" baseline="-25000" dirty="0"/>
                        <a:t>补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 dirty="0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3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[X]</a:t>
                      </a:r>
                      <a:r>
                        <a:rPr lang="zh-CN" altLang="en-US" sz="2800" b="1" baseline="-25000" dirty="0"/>
                        <a:t>原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[Y]</a:t>
                      </a:r>
                      <a:r>
                        <a:rPr lang="zh-CN" altLang="en-US" sz="2800" b="1" baseline="-25000" dirty="0"/>
                        <a:t>原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 dirty="0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23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[X]</a:t>
                      </a:r>
                      <a:r>
                        <a:rPr lang="zh-CN" altLang="en-US" sz="2800" b="1" baseline="-25000" dirty="0"/>
                        <a:t>反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[Y]</a:t>
                      </a:r>
                      <a:r>
                        <a:rPr lang="zh-CN" altLang="en-US" sz="2800" b="1" baseline="-25000" dirty="0"/>
                        <a:t>反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 dirty="0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23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[X]</a:t>
                      </a:r>
                      <a:r>
                        <a:rPr lang="zh-CN" altLang="en-US" sz="2800" b="1" baseline="-25000" dirty="0"/>
                        <a:t>移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[Y]</a:t>
                      </a:r>
                      <a:r>
                        <a:rPr lang="zh-CN" altLang="en-US" sz="2800" b="1" baseline="-25000" dirty="0"/>
                        <a:t>移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 dirty="0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EF74FE9-8B9F-4580-94D1-497925E01476}"/>
              </a:ext>
            </a:extLst>
          </p:cNvPr>
          <p:cNvSpPr txBox="1"/>
          <p:nvPr/>
        </p:nvSpPr>
        <p:spPr>
          <a:xfrm>
            <a:off x="251520" y="1124744"/>
            <a:ext cx="863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机器字长为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位，已知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[X]</a:t>
            </a:r>
            <a:r>
              <a:rPr kumimoji="0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=3AH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[Y]</a:t>
            </a:r>
            <a:r>
              <a:rPr kumimoji="0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=C5H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，求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195B300-D9D1-4472-9116-3E3E340C0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99" y="2405434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0111010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</a:rPr>
              <a:t>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B94D9-7F2E-47D7-835B-EDBFE45EF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99" y="3057094"/>
            <a:ext cx="181064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</a:rPr>
              <a:t>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0011101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11F9CE-2966-4E65-BBD2-44409D9DC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99" y="3707167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11000110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43699EFC-237E-4580-9C47-BF1DE3237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99" y="4358827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00111010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21B3BF6B-C0FE-4F67-A32A-51D688B4C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99" y="5010487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00111010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FD52DCE1-375B-4952-A369-9F6CC0C4A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99" y="5662147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10111010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5E63EC-A333-49AD-91CF-F9A63F0EAA9A}"/>
              </a:ext>
            </a:extLst>
          </p:cNvPr>
          <p:cNvSpPr/>
          <p:nvPr/>
        </p:nvSpPr>
        <p:spPr>
          <a:xfrm>
            <a:off x="323528" y="542300"/>
            <a:ext cx="2513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P54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，习题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2.6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7D62B64F-80FC-4E3D-8774-37619F1A0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741" y="2414060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1000101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</a:rPr>
              <a:t>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490DDE90-0069-4EAD-A7F0-FF8627C8D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741" y="3063808"/>
            <a:ext cx="18106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</a:rPr>
              <a:t>11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</a:rPr>
              <a:t>11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0001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B4E233A7-A530-4B69-B29F-4779BDD12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741" y="3712901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00111011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A52ACC85-CF3B-4DC5-AA19-8BEF019FA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741" y="4362649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10111011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734C116B-2E09-47C3-B514-2D5D69847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741" y="5012397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11000100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D80C71B0-20A4-48A0-BBDA-C67C2F9B8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741" y="5662147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01000101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95906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AD01C-4F6C-4611-9E17-D5CECD83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7D984F-87B8-4F94-A85F-F1A35CE7F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14</a:t>
            </a:fld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569D2F0-C2CF-42C4-A2A9-533E96D09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058771"/>
              </p:ext>
            </p:extLst>
          </p:nvPr>
        </p:nvGraphicFramePr>
        <p:xfrm>
          <a:off x="448475" y="1912184"/>
          <a:ext cx="7560840" cy="25969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23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</a:t>
                      </a:r>
                      <a:r>
                        <a:rPr lang="en-US" altLang="zh-CN" sz="2800" b="1"/>
                        <a:t>X]</a:t>
                      </a:r>
                      <a:r>
                        <a:rPr lang="zh-CN" altLang="en-US" sz="2800" b="1" baseline="-25000"/>
                        <a:t>原 </a:t>
                      </a:r>
                      <a:r>
                        <a:rPr lang="en-US" altLang="zh-CN" sz="2800" b="1" dirty="0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solidFill>
                            <a:srgbClr val="FF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zh-CN" sz="2800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0111010</a:t>
                      </a:r>
                      <a:endParaRPr lang="zh-CN" altLang="en-US" sz="28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/>
                        <a:t>[</a:t>
                      </a:r>
                      <a:r>
                        <a:rPr lang="en-US" altLang="zh-CN" sz="2800" b="1"/>
                        <a:t>Y]</a:t>
                      </a:r>
                      <a:r>
                        <a:rPr lang="zh-CN" altLang="en-US" sz="2800" b="1" baseline="-25000"/>
                        <a:t>原 </a:t>
                      </a:r>
                      <a:r>
                        <a:rPr lang="en-US" altLang="zh-CN" sz="2800" b="1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CN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Microsoft Yahei" panose="020B0503020204020204" pitchFamily="34" charset="-122"/>
                        </a:rPr>
                        <a:t>1</a:t>
                      </a:r>
                      <a:r>
                        <a:rPr kumimoji="0" lang="en-US" altLang="zh-CN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Microsoft Yahei" panose="020B0503020204020204" pitchFamily="34" charset="-122"/>
                        </a:rPr>
                        <a:t>0010110</a:t>
                      </a:r>
                      <a:endParaRPr lang="zh-CN" altLang="en-US" sz="28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3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</a:t>
                      </a:r>
                      <a:r>
                        <a:rPr lang="en-US" altLang="zh-CN" sz="2800" b="1"/>
                        <a:t>2X]</a:t>
                      </a:r>
                      <a:r>
                        <a:rPr lang="zh-CN" altLang="en-US" sz="2800" b="1" baseline="-25000"/>
                        <a:t>原 </a:t>
                      </a:r>
                      <a:r>
                        <a:rPr lang="en-US" altLang="zh-CN" sz="2800" b="1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/>
                        <a:t>[4Y]</a:t>
                      </a:r>
                      <a:r>
                        <a:rPr lang="zh-CN" altLang="en-US" sz="2800" b="1" baseline="-25000"/>
                        <a:t>原 </a:t>
                      </a:r>
                      <a:r>
                        <a:rPr lang="en-US" altLang="zh-CN" sz="2800" b="1"/>
                        <a:t>=</a:t>
                      </a:r>
                      <a:r>
                        <a:rPr lang="zh-CN" altLang="en-US" sz="2800" b="1" baseline="-25000"/>
                        <a:t> 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 dirty="0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3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[(1/2)</a:t>
                      </a:r>
                      <a:r>
                        <a:rPr lang="en-US" altLang="zh-CN" sz="2800" b="1"/>
                        <a:t>X]</a:t>
                      </a:r>
                      <a:r>
                        <a:rPr lang="zh-CN" altLang="en-US" sz="2800" b="1" baseline="-25000"/>
                        <a:t>原 </a:t>
                      </a:r>
                      <a:r>
                        <a:rPr lang="en-US" altLang="zh-CN" sz="2800" b="1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/>
                        <a:t>[(1/2)Y]</a:t>
                      </a:r>
                      <a:r>
                        <a:rPr lang="zh-CN" altLang="en-US" sz="2800" b="1" baseline="-25000"/>
                        <a:t>原 </a:t>
                      </a:r>
                      <a:r>
                        <a:rPr lang="en-US" altLang="zh-CN" sz="2800" b="1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 dirty="0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34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[-</a:t>
                      </a:r>
                      <a:r>
                        <a:rPr lang="en-US" altLang="zh-CN" sz="2800" b="1"/>
                        <a:t>X]</a:t>
                      </a:r>
                      <a:r>
                        <a:rPr lang="zh-CN" altLang="en-US" sz="2800" b="1" baseline="-25000"/>
                        <a:t>原 </a:t>
                      </a:r>
                      <a:r>
                        <a:rPr lang="en-US" altLang="zh-CN" sz="2800" b="1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dirty="0"/>
                        <a:t>[-</a:t>
                      </a:r>
                      <a:r>
                        <a:rPr lang="en-US" altLang="zh-CN" sz="2800" b="1"/>
                        <a:t>Y]</a:t>
                      </a:r>
                      <a:r>
                        <a:rPr lang="zh-CN" altLang="en-US" sz="2800" b="1" baseline="-25000"/>
                        <a:t>原 </a:t>
                      </a:r>
                      <a:r>
                        <a:rPr lang="en-US" altLang="zh-CN" sz="2800" b="1"/>
                        <a:t>=</a:t>
                      </a:r>
                      <a:endParaRPr lang="zh-CN" altLang="en-US" sz="2800" b="1" dirty="0"/>
                    </a:p>
                  </a:txBody>
                  <a:tcPr marL="91447" marR="91447" marT="45724" marB="45724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2800" b="1" dirty="0"/>
                    </a:p>
                  </a:txBody>
                  <a:tcPr marL="91447" marR="91447" marT="45724" marB="45724"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EF74FE9-8B9F-4580-94D1-497925E01476}"/>
              </a:ext>
            </a:extLst>
          </p:cNvPr>
          <p:cNvSpPr txBox="1"/>
          <p:nvPr/>
        </p:nvSpPr>
        <p:spPr>
          <a:xfrm>
            <a:off x="251520" y="1124744"/>
            <a:ext cx="863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机器字长为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位，已知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[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X]</a:t>
            </a:r>
            <a:r>
              <a:rPr kumimoji="0" lang="zh-CN" altLang="en-US" sz="2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原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=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3AH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[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Y]</a:t>
            </a:r>
            <a:r>
              <a:rPr kumimoji="0" lang="zh-CN" altLang="en-US" sz="2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原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=96H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，求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195B300-D9D1-4472-9116-3E3E340C0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99" y="2610430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 panose="02010600030101010101" pitchFamily="2" charset="-122"/>
              </a:rPr>
              <a:t>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</a:rPr>
              <a:t>111010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宋体" panose="02010600030101010101" pitchFamily="2" charset="-122"/>
              </a:rPr>
              <a:t>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B94D9-7F2E-47D7-835B-EDBFE45EF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99" y="3262090"/>
            <a:ext cx="181064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 panose="02010600030101010101" pitchFamily="2" charset="-122"/>
              </a:rPr>
              <a:t>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宋体" panose="02010600030101010101" pitchFamily="2" charset="-122"/>
              </a:rPr>
              <a:t>0</a:t>
            </a:r>
            <a:r>
              <a:rPr lang="en-US" altLang="zh-CN">
                <a:latin typeface="宋体" panose="02010600030101010101" pitchFamily="2" charset="-122"/>
              </a:rPr>
              <a:t>011101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11F9CE-2966-4E65-BBD2-44409D9DC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99" y="3916209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 panose="02010600030101010101" pitchFamily="2" charset="-122"/>
              </a:rPr>
              <a:t>1</a:t>
            </a:r>
            <a:r>
              <a:rPr lang="en-US" altLang="zh-CN">
                <a:latin typeface="宋体" panose="02010600030101010101" pitchFamily="2" charset="-122"/>
              </a:rPr>
              <a:t>0111010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7D62B64F-80FC-4E3D-8774-37619F1A0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741" y="2619056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10110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宋体" panose="02010600030101010101" pitchFamily="2" charset="-122"/>
              </a:rPr>
              <a:t>00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490DDE90-0069-4EAD-A7F0-FF8627C8D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741" y="3268804"/>
            <a:ext cx="18106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 panose="02010600030101010101" pitchFamily="2" charset="-122"/>
              </a:rPr>
              <a:t>1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宋体" panose="02010600030101010101" pitchFamily="2" charset="-122"/>
              </a:rPr>
              <a:t>0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001011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B4E233A7-A530-4B69-B29F-4779BDD12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741" y="3921943"/>
            <a:ext cx="18106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 panose="02010600030101010101" pitchFamily="2" charset="-122"/>
              </a:rPr>
              <a:t>0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  <a:sym typeface="Microsoft Yahei" panose="020B0503020204020204" pitchFamily="34" charset="-122"/>
              </a:rPr>
              <a:t>0010110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58606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0AAE5-7AD8-47C9-B12B-60BD7B61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3D1EC6-A3D4-43D6-AEA9-A7D9D534A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7BB815-B1C8-4473-A407-7E55F005BDB9}"/>
              </a:ext>
            </a:extLst>
          </p:cNvPr>
          <p:cNvSpPr/>
          <p:nvPr/>
        </p:nvSpPr>
        <p:spPr>
          <a:xfrm>
            <a:off x="6155717" y="86560"/>
            <a:ext cx="2513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P54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，习题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08F359C7-B1D4-4F9A-AFE1-E4FDE3A6BD69}"/>
              </a:ext>
            </a:extLst>
          </p:cNvPr>
          <p:cNvSpPr txBox="1">
            <a:spLocks/>
          </p:cNvSpPr>
          <p:nvPr/>
        </p:nvSpPr>
        <p:spPr bwMode="auto">
          <a:xfrm>
            <a:off x="457200" y="620688"/>
            <a:ext cx="8362950" cy="609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2330450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设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为定点小数，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</a:t>
            </a:r>
            <a:r>
              <a:rPr kumimoji="0" lang="zh-CN" altLang="en-US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补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1.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b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最高位是符号位。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①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若要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＜-1/2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endParaRPr kumimoji="0" lang="en-US" altLang="zh-CN" sz="2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应满足什么条件？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-1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≤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＜ -1/2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1.0000000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≤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</a:t>
            </a:r>
            <a:r>
              <a:rPr kumimoji="0" lang="zh-CN" altLang="en-US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补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＜ 1.1000000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～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任意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②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若要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-1/2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≤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x＜-1/4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endParaRPr kumimoji="0" lang="en-US" altLang="zh-CN" sz="2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应满足什么条件？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</a:t>
            </a:r>
            <a:r>
              <a:rPr kumimoji="0" lang="en-US" altLang="zh-CN" sz="28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1.1000000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≤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</a:t>
            </a:r>
            <a:r>
              <a:rPr kumimoji="0" lang="zh-CN" altLang="en-US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补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＜ 1</a:t>
            </a:r>
            <a:r>
              <a:rPr lang="en-US" altLang="zh-CN" kern="0" dirty="0">
                <a:solidFill>
                  <a:srgbClr val="0000FF"/>
                </a:solidFill>
                <a:latin typeface="Times New Roman"/>
                <a:ea typeface="宋体"/>
              </a:rPr>
              <a:t>.1100000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1000000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≤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≤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1011111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～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任意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8B84B5-2270-42CD-9697-2BB7D395A2A8}"/>
              </a:ext>
            </a:extLst>
          </p:cNvPr>
          <p:cNvSpPr/>
          <p:nvPr/>
        </p:nvSpPr>
        <p:spPr>
          <a:xfrm>
            <a:off x="3252977" y="3296139"/>
            <a:ext cx="21611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kern="0" dirty="0">
                <a:solidFill>
                  <a:srgbClr val="0000FF"/>
                </a:solidFill>
                <a:latin typeface="宋体"/>
                <a:ea typeface="宋体"/>
              </a:rPr>
              <a:t>≤</a:t>
            </a:r>
            <a:r>
              <a:rPr lang="zh-CN" altLang="en-US" kern="0" dirty="0">
                <a:solidFill>
                  <a:srgbClr val="0000FF"/>
                </a:solidFill>
                <a:latin typeface="+mn-lt"/>
                <a:ea typeface="宋体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+mn-lt"/>
                <a:ea typeface="宋体"/>
              </a:rPr>
              <a:t>1.0111111</a:t>
            </a:r>
            <a:endParaRPr lang="zh-CN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63584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52A77D4B-206A-42B9-ABAE-B5AFE50E4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P55</a:t>
            </a:r>
            <a:r>
              <a:rPr lang="zh-CN" altLang="en-US">
                <a:latin typeface="+mn-ea"/>
                <a:ea typeface="+mn-ea"/>
              </a:rPr>
              <a:t>，</a:t>
            </a:r>
            <a:r>
              <a:rPr lang="zh-CN" altLang="en-US"/>
              <a:t>习题 </a:t>
            </a:r>
            <a:r>
              <a:rPr lang="en-US" altLang="zh-CN"/>
              <a:t>2.9</a:t>
            </a:r>
            <a:endParaRPr lang="zh-CN" altLang="en-US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4B1E065F-75A1-4C58-BFD5-8C244DFB31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B3258A-266A-4D1B-A76C-DE893E03F86C}" type="slidenum">
              <a:rPr lang="zh-CN" altLang="en-US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200" b="0">
              <a:latin typeface="Arial Black" panose="020B0A04020102020204" pitchFamily="34" charset="0"/>
            </a:endParaRP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69BBCF49-571A-4B5E-B4AF-092EBCF71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696"/>
            <a:ext cx="87852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2330450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机器字长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8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位，定点整数，写出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W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的真值。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5D3F5DF9-79BE-40A6-89C3-D0836DDC9705}"/>
              </a:ext>
            </a:extLst>
          </p:cNvPr>
          <p:cNvSpPr txBox="1">
            <a:spLocks/>
          </p:cNvSpPr>
          <p:nvPr/>
        </p:nvSpPr>
        <p:spPr bwMode="auto">
          <a:xfrm>
            <a:off x="250825" y="1340073"/>
            <a:ext cx="8785225" cy="374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marR="0" lvl="0" indent="-514350" algn="l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  <a:buSzPct val="100000"/>
              <a:buFont typeface="+mj-ea"/>
              <a:buAutoNum type="circleNumDbPlain"/>
              <a:tabLst/>
              <a:defRPr/>
            </a:pP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[W]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补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＝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[X]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原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＝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[Y]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反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＝ 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[Z]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移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＝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00H</a:t>
            </a:r>
          </a:p>
          <a:p>
            <a:pPr marL="514350" marR="0" lvl="0" indent="-514350" algn="l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  <a:buSzPct val="100000"/>
              <a:buFont typeface="+mj-ea"/>
              <a:buAutoNum type="circleNumDbPlain"/>
              <a:tabLst/>
              <a:defRPr/>
            </a:pPr>
            <a:endParaRPr kumimoji="0" lang="en-US" altLang="zh-CN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514350" marR="0" lvl="0" indent="-514350" algn="l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  <a:buSzPct val="100000"/>
              <a:buFont typeface="+mj-ea"/>
              <a:buAutoNum type="circleNumDbPlain"/>
              <a:tabLst/>
              <a:defRPr/>
            </a:pPr>
            <a:endParaRPr kumimoji="0" lang="en-US" altLang="zh-CN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514350" marR="0" lvl="0" indent="-514350" algn="l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  <a:buSzPct val="100000"/>
              <a:buFont typeface="+mj-ea"/>
              <a:buAutoNum type="circleNumDbPlain"/>
              <a:tabLst/>
              <a:defRPr/>
            </a:pP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[W]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补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＝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[X]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原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＝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[Y]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反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＝ 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[Z]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移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＝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80H</a:t>
            </a:r>
          </a:p>
          <a:p>
            <a:pPr marL="514350" marR="0" lvl="0" indent="-514350" algn="l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  <a:buSzPct val="100000"/>
              <a:buFont typeface="+mj-ea"/>
              <a:buAutoNum type="circleNumDbPlain"/>
              <a:tabLst/>
              <a:defRPr/>
            </a:pPr>
            <a:endParaRPr kumimoji="0" lang="en-US" altLang="zh-CN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514350" marR="0" lvl="0" indent="-514350" algn="l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  <a:buSzPct val="100000"/>
              <a:buFont typeface="+mj-ea"/>
              <a:buAutoNum type="circleNumDbPlain"/>
              <a:tabLst/>
              <a:defRPr/>
            </a:pPr>
            <a:endParaRPr kumimoji="0" lang="en-US" altLang="zh-CN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514350" marR="0" lvl="0" indent="-514350" algn="l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0066"/>
              </a:buClr>
              <a:buSzPct val="100000"/>
              <a:buFont typeface="+mj-ea"/>
              <a:buAutoNum type="circleNumDbPlain"/>
              <a:tabLst/>
              <a:defRPr/>
            </a:pP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[W]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补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＝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[X]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原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＝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[Y]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反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＝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[Z]</a:t>
            </a:r>
            <a:r>
              <a:rPr kumimoji="0" lang="zh-CN" altLang="en-US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移</a:t>
            </a:r>
            <a:r>
              <a:rPr kumimoji="0" lang="zh-CN" altLang="en-US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＝</a:t>
            </a:r>
            <a:r>
              <a:rPr kumimoji="0" lang="en-US" altLang="zh-CN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FFH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ADB4EF71-4267-4066-8F94-3C93EE07D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060798"/>
            <a:ext cx="6477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B658EC7-6871-4222-BB67-16739F198F7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1844898"/>
            <a:ext cx="0" cy="287337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TextBox 10">
            <a:extLst>
              <a:ext uri="{FF2B5EF4-FFF2-40B4-BE49-F238E27FC236}">
                <a16:creationId xmlns:a16="http://schemas.microsoft.com/office/drawing/2014/main" id="{FE578BAE-F459-4AF8-B7F3-6399A5231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2060798"/>
            <a:ext cx="863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A6C1ACB-27B4-4623-B906-91062649B50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39975" y="1844898"/>
            <a:ext cx="0" cy="287337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Box 12">
            <a:extLst>
              <a:ext uri="{FF2B5EF4-FFF2-40B4-BE49-F238E27FC236}">
                <a16:creationId xmlns:a16="http://schemas.microsoft.com/office/drawing/2014/main" id="{125D764F-E94B-4A68-BCE9-2D43E939C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2060798"/>
            <a:ext cx="863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B3159950-3D44-45FA-972B-38ED22F6E2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475" y="1844898"/>
            <a:ext cx="0" cy="287337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14">
            <a:extLst>
              <a:ext uri="{FF2B5EF4-FFF2-40B4-BE49-F238E27FC236}">
                <a16:creationId xmlns:a16="http://schemas.microsoft.com/office/drawing/2014/main" id="{6C0D6659-9B06-44A1-A0D8-5FF10AC20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2041748"/>
            <a:ext cx="10096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-128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ADACD21-CB0B-4770-966B-F44C567A76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0" y="1825848"/>
            <a:ext cx="0" cy="287337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16">
            <a:extLst>
              <a:ext uri="{FF2B5EF4-FFF2-40B4-BE49-F238E27FC236}">
                <a16:creationId xmlns:a16="http://schemas.microsoft.com/office/drawing/2014/main" id="{88CDF124-0F02-4AE4-B26C-6230C5210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626073"/>
            <a:ext cx="11525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-128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E3217D2A-17A6-419E-A719-9ECE3F6AF9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3408585"/>
            <a:ext cx="0" cy="28892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TextBox 18">
            <a:extLst>
              <a:ext uri="{FF2B5EF4-FFF2-40B4-BE49-F238E27FC236}">
                <a16:creationId xmlns:a16="http://schemas.microsoft.com/office/drawing/2014/main" id="{9C6F8A98-A5A5-45A5-8B8B-78C2BC4C0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626073"/>
            <a:ext cx="863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3555A0A3-9F12-4629-B4EE-921A035865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39975" y="3408585"/>
            <a:ext cx="0" cy="28892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Box 20">
            <a:extLst>
              <a:ext uri="{FF2B5EF4-FFF2-40B4-BE49-F238E27FC236}">
                <a16:creationId xmlns:a16="http://schemas.microsoft.com/office/drawing/2014/main" id="{39CC6A68-FC45-4978-BB15-4928DACCA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3626073"/>
            <a:ext cx="10080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-127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DA14A00-3F1E-4F62-80DB-41A26CF690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475" y="3408585"/>
            <a:ext cx="0" cy="28892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TextBox 22">
            <a:extLst>
              <a:ext uri="{FF2B5EF4-FFF2-40B4-BE49-F238E27FC236}">
                <a16:creationId xmlns:a16="http://schemas.microsoft.com/office/drawing/2014/main" id="{0456F1FC-625A-46B7-9612-5F7587090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605435"/>
            <a:ext cx="1009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DB6CEEA-061C-4D75-852F-1FC0589585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0" y="3389535"/>
            <a:ext cx="0" cy="28892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24">
            <a:extLst>
              <a:ext uri="{FF2B5EF4-FFF2-40B4-BE49-F238E27FC236}">
                <a16:creationId xmlns:a16="http://schemas.microsoft.com/office/drawing/2014/main" id="{3706686B-5CE5-444F-97FB-E11AC04A0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137373"/>
            <a:ext cx="1008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109423D-1427-4937-943A-30E58C3C8DE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87450" y="4921473"/>
            <a:ext cx="0" cy="287337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TextBox 26">
            <a:extLst>
              <a:ext uri="{FF2B5EF4-FFF2-40B4-BE49-F238E27FC236}">
                <a16:creationId xmlns:a16="http://schemas.microsoft.com/office/drawing/2014/main" id="{907F1C98-6624-4FE2-8B8A-318F8CC96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5137373"/>
            <a:ext cx="1008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-127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D1BE80D8-D848-4984-9DD7-4B0F6CBF0A6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39975" y="4921473"/>
            <a:ext cx="0" cy="287337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TextBox 28">
            <a:extLst>
              <a:ext uri="{FF2B5EF4-FFF2-40B4-BE49-F238E27FC236}">
                <a16:creationId xmlns:a16="http://schemas.microsoft.com/office/drawing/2014/main" id="{90CA8CA6-0168-4C31-AAD7-B8FF9A72A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5137373"/>
            <a:ext cx="1008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-0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3D53EEA3-EBDB-4182-BC66-2131A2EC84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9475" y="4921473"/>
            <a:ext cx="0" cy="287337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TextBox 30">
            <a:extLst>
              <a:ext uri="{FF2B5EF4-FFF2-40B4-BE49-F238E27FC236}">
                <a16:creationId xmlns:a16="http://schemas.microsoft.com/office/drawing/2014/main" id="{28A84680-B226-4A3D-BB85-FB0D3DB4A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5118323"/>
            <a:ext cx="1081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+127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07437373-AFAB-4903-8AA5-86116CEB81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0" y="4902423"/>
            <a:ext cx="0" cy="287337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9" grpId="0"/>
      <p:bldP spid="41" grpId="0"/>
      <p:bldP spid="43" grpId="0"/>
      <p:bldP spid="45" grpId="0"/>
      <p:bldP spid="47" grpId="0"/>
      <p:bldP spid="49" grpId="0"/>
      <p:bldP spid="51" grpId="0"/>
      <p:bldP spid="53" grpId="0"/>
      <p:bldP spid="55" grpId="0"/>
      <p:bldP spid="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39582-BD35-4A75-B53C-A0939C27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BD7FB0-DE68-4ED1-8459-E46F54D50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BF190F0-CEB1-45A2-AA4B-B06C1507C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59" y="548680"/>
            <a:ext cx="8424491" cy="4805047"/>
          </a:xfrm>
        </p:spPr>
        <p:txBody>
          <a:bodyPr/>
          <a:lstStyle/>
          <a:p>
            <a:r>
              <a:rPr lang="zh-CN" altLang="en-US" dirty="0"/>
              <a:t>浮点数表示</a:t>
            </a:r>
            <a:endParaRPr lang="en-US" altLang="zh-CN" dirty="0"/>
          </a:p>
          <a:p>
            <a:pPr lvl="1"/>
            <a:r>
              <a:rPr lang="zh-CN" altLang="en-US" sz="2400"/>
              <a:t>自定义格式</a:t>
            </a:r>
            <a:endParaRPr lang="en-US" altLang="zh-CN" sz="2400"/>
          </a:p>
          <a:p>
            <a:pPr lvl="2"/>
            <a:r>
              <a:rPr lang="zh-CN" altLang="en-US" sz="2400"/>
              <a:t>尾数为纯小数，规格化形式，无隐藏的位。</a:t>
            </a:r>
            <a:endParaRPr lang="en-US" altLang="zh-CN" sz="2400"/>
          </a:p>
          <a:p>
            <a:pPr lvl="2"/>
            <a:r>
              <a:rPr lang="zh-CN" altLang="en-US" sz="2400"/>
              <a:t>规格化</a:t>
            </a:r>
            <a:r>
              <a:rPr lang="zh-CN" altLang="en-US" sz="2400" dirty="0"/>
              <a:t>尾数：特征；如何规格化。</a:t>
            </a:r>
            <a:endParaRPr lang="en-US" altLang="zh-CN" sz="2400" dirty="0"/>
          </a:p>
          <a:p>
            <a:pPr marL="1260475" lvl="3" indent="-265113" eaLnBrk="0" hangingPunct="0">
              <a:defRPr/>
            </a:pPr>
            <a:r>
              <a:rPr lang="zh-CN" altLang="zh-CN" sz="2400" dirty="0">
                <a:solidFill>
                  <a:srgbClr val="000000"/>
                </a:solidFill>
                <a:ea typeface="宋体"/>
                <a:cs typeface="+mn-cs"/>
              </a:rPr>
              <a:t>原码</a:t>
            </a:r>
            <a:r>
              <a:rPr lang="zh-CN" altLang="en-US" sz="2400" dirty="0">
                <a:solidFill>
                  <a:srgbClr val="000000"/>
                </a:solidFill>
                <a:ea typeface="宋体"/>
                <a:cs typeface="+mn-cs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ea typeface="宋体"/>
                <a:cs typeface="+mn-cs"/>
              </a:rPr>
              <a:t>S.1 </a:t>
            </a:r>
            <a:r>
              <a:rPr lang="en-US" altLang="zh-CN" sz="2400" i="1" dirty="0">
                <a:solidFill>
                  <a:srgbClr val="000000"/>
                </a:solidFill>
                <a:ea typeface="宋体"/>
                <a:cs typeface="+mn-cs"/>
              </a:rPr>
              <a:t>xxx</a:t>
            </a:r>
            <a:r>
              <a:rPr lang="en-US" altLang="zh-CN" sz="2400" dirty="0">
                <a:solidFill>
                  <a:srgbClr val="000000"/>
                </a:solidFill>
                <a:latin typeface="宋体"/>
                <a:ea typeface="宋体"/>
                <a:cs typeface="+mn-cs"/>
              </a:rPr>
              <a:t>…</a:t>
            </a:r>
            <a:r>
              <a:rPr lang="en-US" altLang="zh-CN" sz="2400" i="1" dirty="0">
                <a:solidFill>
                  <a:srgbClr val="000000"/>
                </a:solidFill>
                <a:ea typeface="宋体"/>
                <a:cs typeface="+mn-cs"/>
              </a:rPr>
              <a:t>xx</a:t>
            </a:r>
          </a:p>
          <a:p>
            <a:pPr marL="1260475" lvl="3" indent="-265113" eaLnBrk="0" hangingPunct="0">
              <a:defRPr/>
            </a:pPr>
            <a:r>
              <a:rPr lang="zh-CN" altLang="zh-CN" sz="2400" dirty="0">
                <a:solidFill>
                  <a:srgbClr val="000000"/>
                </a:solidFill>
                <a:ea typeface="宋体"/>
                <a:cs typeface="+mn-cs"/>
              </a:rPr>
              <a:t>补码</a:t>
            </a:r>
            <a:r>
              <a:rPr lang="zh-CN" altLang="en-US" sz="2400" dirty="0">
                <a:solidFill>
                  <a:srgbClr val="000000"/>
                </a:solidFill>
                <a:ea typeface="宋体"/>
                <a:cs typeface="+mn-cs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ea typeface="宋体"/>
                <a:cs typeface="+mn-cs"/>
              </a:rPr>
              <a:t>S.</a:t>
            </a:r>
            <a:r>
              <a:rPr lang="en-US" altLang="zh-CN" sz="2200" dirty="0">
                <a:solidFill>
                  <a:srgbClr val="000000"/>
                </a:solidFill>
                <a:ea typeface="宋体"/>
                <a:cs typeface="+mn-cs"/>
              </a:rPr>
              <a:t>S</a:t>
            </a:r>
            <a:r>
              <a:rPr lang="en-US" altLang="zh-CN" sz="2400" dirty="0">
                <a:solidFill>
                  <a:srgbClr val="000000"/>
                </a:solidFill>
                <a:ea typeface="宋体"/>
                <a:cs typeface="+mn-cs"/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ea typeface="宋体"/>
                <a:cs typeface="+mn-cs"/>
              </a:rPr>
              <a:t>xxx</a:t>
            </a:r>
            <a:r>
              <a:rPr lang="en-US" altLang="zh-CN" sz="2400" dirty="0">
                <a:solidFill>
                  <a:srgbClr val="000000"/>
                </a:solidFill>
                <a:latin typeface="宋体"/>
                <a:ea typeface="宋体"/>
                <a:cs typeface="+mn-cs"/>
              </a:rPr>
              <a:t>…</a:t>
            </a:r>
            <a:r>
              <a:rPr lang="en-US" altLang="zh-CN" sz="2400" i="1" dirty="0">
                <a:solidFill>
                  <a:srgbClr val="000000"/>
                </a:solidFill>
                <a:ea typeface="宋体"/>
                <a:cs typeface="+mn-cs"/>
              </a:rPr>
              <a:t>xx</a:t>
            </a:r>
            <a:endParaRPr lang="en-US" altLang="zh-CN" sz="2400" dirty="0"/>
          </a:p>
          <a:p>
            <a:pPr lvl="1"/>
            <a:r>
              <a:rPr lang="en-US" altLang="zh-CN" sz="2400"/>
              <a:t>IEEE754 </a:t>
            </a:r>
            <a:r>
              <a:rPr lang="zh-CN" altLang="en-US" sz="2400"/>
              <a:t>格式：</a:t>
            </a:r>
            <a:endParaRPr lang="en-US" altLang="zh-CN" sz="2400" dirty="0"/>
          </a:p>
          <a:p>
            <a:pPr marL="895350" lvl="2" indent="-265113" eaLnBrk="0" hangingPunct="0">
              <a:defRPr/>
            </a:pPr>
            <a:r>
              <a:rPr lang="zh-CN" altLang="en-US" sz="2400" dirty="0">
                <a:solidFill>
                  <a:srgbClr val="000000"/>
                </a:solidFill>
                <a:ea typeface="宋体"/>
                <a:cs typeface="+mn-cs"/>
              </a:rPr>
              <a:t>阶码：移码，偏移量 </a:t>
            </a:r>
            <a:r>
              <a:rPr lang="en-US" altLang="zh-CN" sz="2400" dirty="0">
                <a:solidFill>
                  <a:srgbClr val="000000"/>
                </a:solidFill>
                <a:ea typeface="宋体"/>
                <a:cs typeface="+mn-cs"/>
              </a:rPr>
              <a:t>0111</a:t>
            </a:r>
            <a:r>
              <a:rPr lang="en-US" altLang="zh-CN" sz="2400" dirty="0">
                <a:solidFill>
                  <a:srgbClr val="000000"/>
                </a:solidFill>
                <a:latin typeface="宋体"/>
                <a:ea typeface="宋体"/>
                <a:cs typeface="+mn-cs"/>
              </a:rPr>
              <a:t>…</a:t>
            </a:r>
            <a:r>
              <a:rPr lang="en-US" altLang="zh-CN" sz="2400" dirty="0">
                <a:solidFill>
                  <a:srgbClr val="000000"/>
                </a:solidFill>
                <a:ea typeface="宋体"/>
                <a:cs typeface="+mn-cs"/>
              </a:rPr>
              <a:t>11</a:t>
            </a:r>
          </a:p>
          <a:p>
            <a:pPr marL="895350" lvl="2" indent="-265113" eaLnBrk="0" hangingPunct="0">
              <a:defRPr/>
            </a:pPr>
            <a:r>
              <a:rPr lang="zh-CN" altLang="en-US" sz="2400" dirty="0">
                <a:solidFill>
                  <a:srgbClr val="000000"/>
                </a:solidFill>
                <a:ea typeface="宋体"/>
                <a:cs typeface="+mn-cs"/>
              </a:rPr>
              <a:t>尾数：原码，</a:t>
            </a:r>
            <a:r>
              <a:rPr lang="en-US" altLang="zh-CN" sz="2400" dirty="0">
                <a:solidFill>
                  <a:srgbClr val="000000"/>
                </a:solidFill>
                <a:ea typeface="宋体"/>
                <a:cs typeface="+mn-cs"/>
              </a:rPr>
              <a:t>S1.</a:t>
            </a:r>
            <a:r>
              <a:rPr lang="en-US" altLang="zh-CN" sz="2400" i="1" dirty="0">
                <a:solidFill>
                  <a:srgbClr val="000000"/>
                </a:solidFill>
                <a:ea typeface="宋体"/>
                <a:cs typeface="+mn-cs"/>
              </a:rPr>
              <a:t> xxx</a:t>
            </a:r>
            <a:r>
              <a:rPr lang="en-US" altLang="zh-CN" sz="1800">
                <a:solidFill>
                  <a:srgbClr val="000000"/>
                </a:solidFill>
                <a:latin typeface="宋体"/>
                <a:ea typeface="宋体"/>
                <a:cs typeface="+mn-cs"/>
              </a:rPr>
              <a:t>…</a:t>
            </a:r>
            <a:r>
              <a:rPr lang="en-US" altLang="zh-CN" sz="2400" i="1">
                <a:solidFill>
                  <a:srgbClr val="000000"/>
                </a:solidFill>
                <a:ea typeface="宋体"/>
                <a:cs typeface="+mn-cs"/>
              </a:rPr>
              <a:t>xx </a:t>
            </a:r>
            <a:r>
              <a:rPr lang="zh-CN" altLang="en-US" sz="2400">
                <a:solidFill>
                  <a:srgbClr val="009900"/>
                </a:solidFill>
                <a:ea typeface="宋体"/>
                <a:cs typeface="+mn-cs"/>
              </a:rPr>
              <a:t>（小数点左侧的“</a:t>
            </a:r>
            <a:r>
              <a:rPr lang="en-US" altLang="zh-CN" sz="2400">
                <a:solidFill>
                  <a:srgbClr val="009900"/>
                </a:solidFill>
                <a:ea typeface="宋体"/>
                <a:cs typeface="+mn-cs"/>
              </a:rPr>
              <a:t>1</a:t>
            </a:r>
            <a:r>
              <a:rPr lang="zh-CN" altLang="en-US" sz="2400">
                <a:solidFill>
                  <a:srgbClr val="009900"/>
                </a:solidFill>
                <a:ea typeface="宋体"/>
                <a:cs typeface="+mn-cs"/>
              </a:rPr>
              <a:t>”隐藏）</a:t>
            </a:r>
            <a:endParaRPr lang="en-US" altLang="zh-CN" sz="2400" dirty="0">
              <a:solidFill>
                <a:srgbClr val="009900"/>
              </a:solidFill>
            </a:endParaRPr>
          </a:p>
          <a:p>
            <a:pPr marL="896938" lvl="2" indent="-266700"/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单精度</a:t>
            </a:r>
            <a:r>
              <a:rPr lang="zh-CN" altLang="en-US" sz="2400" dirty="0">
                <a:solidFill>
                  <a:srgbClr val="000000"/>
                </a:solidFill>
                <a:ea typeface="宋体"/>
                <a:cs typeface="+mn-cs"/>
              </a:rPr>
              <a:t>格式</a:t>
            </a:r>
            <a:r>
              <a:rPr lang="zh-CN" altLang="en-US" sz="2400" dirty="0">
                <a:latin typeface="+mn-ea"/>
                <a:ea typeface="+mn-ea"/>
              </a:rPr>
              <a:t>与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十进制真值</a:t>
            </a:r>
            <a:r>
              <a:rPr lang="zh-CN" altLang="en-US" sz="2400" dirty="0">
                <a:latin typeface="+mn-ea"/>
                <a:ea typeface="+mn-ea"/>
              </a:rPr>
              <a:t>之间的相互转换</a:t>
            </a:r>
            <a:endParaRPr lang="en-US" altLang="zh-CN" sz="2400" dirty="0">
              <a:latin typeface="+mn-ea"/>
              <a:ea typeface="+mn-ea"/>
            </a:endParaRPr>
          </a:p>
          <a:p>
            <a:pPr lvl="1"/>
            <a:r>
              <a:rPr lang="zh-CN" altLang="en-US" sz="2400" dirty="0"/>
              <a:t>规格化浮点数可以表示的数据范围</a:t>
            </a:r>
            <a:endParaRPr lang="en-US" altLang="zh-CN" sz="2400" dirty="0"/>
          </a:p>
          <a:p>
            <a:pPr lvl="1"/>
            <a:endParaRPr lang="zh-CN" altLang="en-US" sz="24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D34DA28-C7ED-4520-8E23-9DB691032A58}"/>
              </a:ext>
            </a:extLst>
          </p:cNvPr>
          <p:cNvGrpSpPr/>
          <p:nvPr/>
        </p:nvGrpSpPr>
        <p:grpSpPr>
          <a:xfrm>
            <a:off x="107949" y="5070353"/>
            <a:ext cx="8964613" cy="1554836"/>
            <a:chOff x="107950" y="4581128"/>
            <a:chExt cx="8964613" cy="1554836"/>
          </a:xfrm>
        </p:grpSpPr>
        <p:grpSp>
          <p:nvGrpSpPr>
            <p:cNvPr id="9" name="Group 7">
              <a:extLst>
                <a:ext uri="{FF2B5EF4-FFF2-40B4-BE49-F238E27FC236}">
                  <a16:creationId xmlns:a16="http://schemas.microsoft.com/office/drawing/2014/main" id="{3B1AFFEB-E2AC-4AB1-A5F9-F81A6B2F8C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19200" y="5327253"/>
              <a:ext cx="6005513" cy="409575"/>
              <a:chOff x="2993" y="3914"/>
              <a:chExt cx="5460" cy="312"/>
            </a:xfrm>
          </p:grpSpPr>
          <p:sp>
            <p:nvSpPr>
              <p:cNvPr id="35" name="Rectangle 8" descr="宽上对角线">
                <a:extLst>
                  <a:ext uri="{FF2B5EF4-FFF2-40B4-BE49-F238E27FC236}">
                    <a16:creationId xmlns:a16="http://schemas.microsoft.com/office/drawing/2014/main" id="{52D19730-6050-4F99-9B5D-A48501D326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93" y="3914"/>
                <a:ext cx="1995" cy="312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ln w="12700" algn="ctr">
                <a:noFill/>
                <a:miter lim="800000"/>
                <a:headEnd/>
                <a:tailEnd type="none" w="med" len="lg"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Rectangle 9" descr="宽上对角线">
                <a:extLst>
                  <a:ext uri="{FF2B5EF4-FFF2-40B4-BE49-F238E27FC236}">
                    <a16:creationId xmlns:a16="http://schemas.microsoft.com/office/drawing/2014/main" id="{BEA6905E-D617-49FA-A791-5AB59DD958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458" y="3914"/>
                <a:ext cx="1995" cy="312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ln w="12700" algn="ctr">
                <a:noFill/>
                <a:miter lim="800000"/>
                <a:headEnd/>
                <a:tailEnd type="none" w="med" len="lg"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4930CBC1-5198-4387-B688-E0DE5DEA77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21163" y="5220890"/>
              <a:ext cx="0" cy="51593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A0EF2569-01E3-44FC-897C-F8B9D6DE85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13125" y="5220890"/>
              <a:ext cx="0" cy="51593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189A3251-56CC-4E14-AF7E-208438999E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19200" y="5220890"/>
              <a:ext cx="0" cy="51593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F0AEFFF0-F6AE-45C1-9097-1A242A1097E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030788" y="5220890"/>
              <a:ext cx="0" cy="51593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C6E173BD-439A-4CB4-96E5-19CBC5B615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224713" y="5220890"/>
              <a:ext cx="0" cy="51593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F9C20DEF-D5C6-4116-9852-4C9C9B4148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9388" y="5736828"/>
              <a:ext cx="8199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73419919-8B9E-45AA-88CF-4A14C929E194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2228057" y="4046934"/>
              <a:ext cx="173037" cy="2098675"/>
            </a:xfrm>
            <a:prstGeom prst="leftBrace">
              <a:avLst>
                <a:gd name="adj1" fmla="val 52276"/>
                <a:gd name="adj2" fmla="val 50000"/>
              </a:avLst>
            </a:prstGeom>
            <a:noFill/>
            <a:ln w="19050">
              <a:solidFill>
                <a:srgbClr val="0066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365938E2-FAC4-4152-AA8C-687D9A6888E6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722688" y="4733528"/>
              <a:ext cx="173037" cy="725487"/>
            </a:xfrm>
            <a:prstGeom prst="leftBrace">
              <a:avLst>
                <a:gd name="adj1" fmla="val 34221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AutoShape 18">
              <a:extLst>
                <a:ext uri="{FF2B5EF4-FFF2-40B4-BE49-F238E27FC236}">
                  <a16:creationId xmlns:a16="http://schemas.microsoft.com/office/drawing/2014/main" id="{F4D7ED98-A3B3-484D-AFC0-1F12AED3CC52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89757" y="4599384"/>
              <a:ext cx="173037" cy="993775"/>
            </a:xfrm>
            <a:prstGeom prst="leftBrace">
              <a:avLst>
                <a:gd name="adj1" fmla="val 46876"/>
                <a:gd name="adj2" fmla="val 50000"/>
              </a:avLst>
            </a:prstGeom>
            <a:noFill/>
            <a:ln w="19050">
              <a:solidFill>
                <a:srgbClr val="FF0066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AutoShape 19">
              <a:extLst>
                <a:ext uri="{FF2B5EF4-FFF2-40B4-BE49-F238E27FC236}">
                  <a16:creationId xmlns:a16="http://schemas.microsoft.com/office/drawing/2014/main" id="{1A6A3AE0-BD98-426C-A16E-B0CCB16F3CC3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4534694" y="4732734"/>
              <a:ext cx="173037" cy="727075"/>
            </a:xfrm>
            <a:prstGeom prst="leftBrace">
              <a:avLst>
                <a:gd name="adj1" fmla="val 34296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AutoShape 20">
              <a:extLst>
                <a:ext uri="{FF2B5EF4-FFF2-40B4-BE49-F238E27FC236}">
                  <a16:creationId xmlns:a16="http://schemas.microsoft.com/office/drawing/2014/main" id="{AC8A1345-B9CA-479F-ABEC-09D5ABDC471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6038056" y="4045347"/>
              <a:ext cx="173037" cy="2101850"/>
            </a:xfrm>
            <a:prstGeom prst="leftBrace">
              <a:avLst>
                <a:gd name="adj1" fmla="val 52355"/>
                <a:gd name="adj2" fmla="val 50000"/>
              </a:avLst>
            </a:prstGeom>
            <a:noFill/>
            <a:ln w="19050">
              <a:solidFill>
                <a:srgbClr val="0066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AutoShape 21">
              <a:extLst>
                <a:ext uri="{FF2B5EF4-FFF2-40B4-BE49-F238E27FC236}">
                  <a16:creationId xmlns:a16="http://schemas.microsoft.com/office/drawing/2014/main" id="{27FF0C22-80CB-4460-86C3-75FAA7FE5EF5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7677944" y="4596209"/>
              <a:ext cx="173037" cy="1000125"/>
            </a:xfrm>
            <a:prstGeom prst="leftBrace">
              <a:avLst>
                <a:gd name="adj1" fmla="val 47175"/>
                <a:gd name="adj2" fmla="val 50000"/>
              </a:avLst>
            </a:prstGeom>
            <a:noFill/>
            <a:ln w="19050">
              <a:solidFill>
                <a:srgbClr val="FF0066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38651D2C-1572-4C6E-90CE-994D7A45731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7950" y="4581128"/>
              <a:ext cx="1155700" cy="39687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负上溢</a:t>
              </a: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5916688F-7CBD-4D54-A55F-86064996346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49388" y="4581128"/>
              <a:ext cx="1733550" cy="39687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</a:rPr>
                <a:t>可表示的负数</a:t>
              </a: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19B78531-333E-4926-B258-B22AD38ADFE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21125" y="4708128"/>
              <a:ext cx="576263" cy="39687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零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058F4964-B948-4CBC-91FC-677F9561FC6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68638" y="4581128"/>
              <a:ext cx="1152525" cy="39687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负下溢</a:t>
              </a:r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7B9EB405-B57D-441D-B884-E4D9D0C938D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151313" y="4581128"/>
              <a:ext cx="1155700" cy="39687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正下溢</a:t>
              </a:r>
            </a:p>
          </p:txBody>
        </p:sp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6E62B471-311F-4E81-AFDC-418D1346134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259388" y="4581128"/>
              <a:ext cx="1733550" cy="39687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</a:rPr>
                <a:t>可表示的正数</a:t>
              </a:r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A386D52E-CC3C-4344-A83B-4ECA4A59E8B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189788" y="4581128"/>
              <a:ext cx="1157287" cy="39687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正上溢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471D9BE3-9893-462A-BB70-FF5FC36358C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89388" y="5670153"/>
              <a:ext cx="461962" cy="366712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0</a:t>
              </a:r>
            </a:p>
          </p:txBody>
        </p:sp>
        <p:sp>
          <p:nvSpPr>
            <p:cNvPr id="30" name="Text Box 38">
              <a:extLst>
                <a:ext uri="{FF2B5EF4-FFF2-40B4-BE49-F238E27FC236}">
                  <a16:creationId xmlns:a16="http://schemas.microsoft.com/office/drawing/2014/main" id="{47A17153-67D3-464C-ABCD-1BB2110B46B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264525" y="5390753"/>
              <a:ext cx="808038" cy="39687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数轴</a:t>
              </a:r>
            </a:p>
          </p:txBody>
        </p:sp>
        <p:sp>
          <p:nvSpPr>
            <p:cNvPr id="31" name="箭头: 虚尾 30">
              <a:extLst>
                <a:ext uri="{FF2B5EF4-FFF2-40B4-BE49-F238E27FC236}">
                  <a16:creationId xmlns:a16="http://schemas.microsoft.com/office/drawing/2014/main" id="{62CE9194-1BBD-4375-A7DF-878F5CCE7F0B}"/>
                </a:ext>
              </a:extLst>
            </p:cNvPr>
            <p:cNvSpPr/>
            <p:nvPr/>
          </p:nvSpPr>
          <p:spPr bwMode="auto">
            <a:xfrm rot="16200000">
              <a:off x="1045214" y="5839554"/>
              <a:ext cx="341622" cy="251197"/>
            </a:xfrm>
            <a:prstGeom prst="stripedRightArrow">
              <a:avLst>
                <a:gd name="adj1" fmla="val 42932"/>
                <a:gd name="adj2" fmla="val 71205"/>
              </a:avLst>
            </a:prstGeom>
            <a:solidFill>
              <a:srgbClr val="FF6600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" name="箭头: 虚尾 31">
              <a:extLst>
                <a:ext uri="{FF2B5EF4-FFF2-40B4-BE49-F238E27FC236}">
                  <a16:creationId xmlns:a16="http://schemas.microsoft.com/office/drawing/2014/main" id="{9449F5D0-777F-4E5C-8BEF-740A17CA0372}"/>
                </a:ext>
              </a:extLst>
            </p:cNvPr>
            <p:cNvSpPr/>
            <p:nvPr/>
          </p:nvSpPr>
          <p:spPr bwMode="auto">
            <a:xfrm rot="16200000">
              <a:off x="3239139" y="5834651"/>
              <a:ext cx="341622" cy="251197"/>
            </a:xfrm>
            <a:prstGeom prst="stripedRightArrow">
              <a:avLst>
                <a:gd name="adj1" fmla="val 42932"/>
                <a:gd name="adj2" fmla="val 71205"/>
              </a:avLst>
            </a:prstGeom>
            <a:solidFill>
              <a:srgbClr val="FF6600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3" name="箭头: 虚尾 32">
              <a:extLst>
                <a:ext uri="{FF2B5EF4-FFF2-40B4-BE49-F238E27FC236}">
                  <a16:creationId xmlns:a16="http://schemas.microsoft.com/office/drawing/2014/main" id="{CCF2CCC1-3744-47E2-8CD7-63BF898C4693}"/>
                </a:ext>
              </a:extLst>
            </p:cNvPr>
            <p:cNvSpPr/>
            <p:nvPr/>
          </p:nvSpPr>
          <p:spPr bwMode="auto">
            <a:xfrm rot="16200000">
              <a:off x="4859977" y="5826841"/>
              <a:ext cx="341622" cy="251197"/>
            </a:xfrm>
            <a:prstGeom prst="stripedRightArrow">
              <a:avLst>
                <a:gd name="adj1" fmla="val 42932"/>
                <a:gd name="adj2" fmla="val 71205"/>
              </a:avLst>
            </a:prstGeom>
            <a:solidFill>
              <a:srgbClr val="FF6600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4" name="箭头: 虚尾 33">
              <a:extLst>
                <a:ext uri="{FF2B5EF4-FFF2-40B4-BE49-F238E27FC236}">
                  <a16:creationId xmlns:a16="http://schemas.microsoft.com/office/drawing/2014/main" id="{FFF735DE-F3C7-4140-B11A-704027C79E80}"/>
                </a:ext>
              </a:extLst>
            </p:cNvPr>
            <p:cNvSpPr/>
            <p:nvPr/>
          </p:nvSpPr>
          <p:spPr bwMode="auto">
            <a:xfrm rot="16200000">
              <a:off x="7047429" y="5826841"/>
              <a:ext cx="341622" cy="251197"/>
            </a:xfrm>
            <a:prstGeom prst="stripedRightArrow">
              <a:avLst>
                <a:gd name="adj1" fmla="val 42932"/>
                <a:gd name="adj2" fmla="val 71205"/>
              </a:avLst>
            </a:prstGeom>
            <a:solidFill>
              <a:srgbClr val="FF6600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487BD14-328F-4D8E-A7CF-C982FEE5A4E1}"/>
              </a:ext>
            </a:extLst>
          </p:cNvPr>
          <p:cNvCxnSpPr/>
          <p:nvPr/>
        </p:nvCxnSpPr>
        <p:spPr>
          <a:xfrm>
            <a:off x="3123116" y="2745232"/>
            <a:ext cx="152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73711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14389-5447-4705-9F43-9275F6D3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56D6F8-EA69-45E4-8EFF-0763082BF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3" name="Rectangle 4">
            <a:extLst>
              <a:ext uri="{FF2B5EF4-FFF2-40B4-BE49-F238E27FC236}">
                <a16:creationId xmlns:a16="http://schemas.microsoft.com/office/drawing/2014/main" id="{BADB2793-C70A-4768-BBA2-7200BF86E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28638"/>
            <a:ext cx="78692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006600"/>
                </a:solidFill>
                <a:latin typeface="Arial" pitchFamily="34" charset="0"/>
                <a:ea typeface="黑体" pitchFamily="49" charset="-122"/>
              </a:rPr>
              <a:t>IEEE 754 </a:t>
            </a:r>
            <a:r>
              <a:rPr lang="zh-CN" altLang="en-US" dirty="0">
                <a:solidFill>
                  <a:srgbClr val="006600"/>
                </a:solidFill>
                <a:latin typeface="Arial" pitchFamily="34" charset="0"/>
                <a:ea typeface="黑体" pitchFamily="49" charset="-122"/>
              </a:rPr>
              <a:t>单精度浮点数格式</a:t>
            </a:r>
          </a:p>
        </p:txBody>
      </p:sp>
      <p:graphicFrame>
        <p:nvGraphicFramePr>
          <p:cNvPr id="54" name="Group 86">
            <a:extLst>
              <a:ext uri="{FF2B5EF4-FFF2-40B4-BE49-F238E27FC236}">
                <a16:creationId xmlns:a16="http://schemas.microsoft.com/office/drawing/2014/main" id="{E0A2A1F3-A67A-427E-A82F-63A2835D1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428511"/>
              </p:ext>
            </p:extLst>
          </p:nvPr>
        </p:nvGraphicFramePr>
        <p:xfrm>
          <a:off x="611188" y="1149350"/>
          <a:ext cx="7993062" cy="853440"/>
        </p:xfrm>
        <a:graphic>
          <a:graphicData uri="http://schemas.openxmlformats.org/drawingml/2006/table">
            <a:tbl>
              <a:tblPr/>
              <a:tblGrid>
                <a:gridCol w="49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9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urier New" pitchFamily="49" charset="0"/>
                        </a:rPr>
                        <a:t>s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urier New" pitchFamily="49" charset="0"/>
                        </a:rPr>
                        <a:t>e[30:23]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urier New" pitchFamily="49" charset="0"/>
                        </a:rPr>
                        <a:t>f[22:0]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23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22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矩形 55">
            <a:extLst>
              <a:ext uri="{FF2B5EF4-FFF2-40B4-BE49-F238E27FC236}">
                <a16:creationId xmlns:a16="http://schemas.microsoft.com/office/drawing/2014/main" id="{3B9B6966-F4B8-4E86-BB91-7A647557D536}"/>
              </a:ext>
            </a:extLst>
          </p:cNvPr>
          <p:cNvSpPr/>
          <p:nvPr/>
        </p:nvSpPr>
        <p:spPr>
          <a:xfrm rot="16200000">
            <a:off x="-541171" y="1915245"/>
            <a:ext cx="15760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个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</a:rPr>
              <a:t>符号位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058A7BC-6B59-48E8-8B03-F167B08F9FEC}"/>
              </a:ext>
            </a:extLst>
          </p:cNvPr>
          <p:cNvSpPr/>
          <p:nvPr/>
        </p:nvSpPr>
        <p:spPr>
          <a:xfrm>
            <a:off x="1726017" y="1747841"/>
            <a:ext cx="646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1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</a:rPr>
              <a:t>8 bit</a:t>
            </a:r>
            <a:endParaRPr kumimoji="0" lang="zh-CN" altLang="en-US" sz="2000" i="1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6A6AB40-2ACE-489B-B3CF-E4A908A9C8F6}"/>
              </a:ext>
            </a:extLst>
          </p:cNvPr>
          <p:cNvSpPr/>
          <p:nvPr/>
        </p:nvSpPr>
        <p:spPr>
          <a:xfrm>
            <a:off x="4238127" y="1747841"/>
            <a:ext cx="8034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i="1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rPr>
              <a:t>23 bit</a:t>
            </a:r>
            <a:endParaRPr kumimoji="0" lang="zh-CN" altLang="en-US" sz="2000" i="1" u="none" strike="noStrike" kern="0" cap="none" spc="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BB76A91-ABD4-4593-A8C5-BE2FBC848405}"/>
              </a:ext>
            </a:extLst>
          </p:cNvPr>
          <p:cNvSpPr/>
          <p:nvPr/>
        </p:nvSpPr>
        <p:spPr>
          <a:xfrm>
            <a:off x="2708596" y="1447438"/>
            <a:ext cx="545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·</a:t>
            </a: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22BE7BA-8AEB-473A-AC45-B978622D9A6F}"/>
              </a:ext>
            </a:extLst>
          </p:cNvPr>
          <p:cNvSpPr/>
          <p:nvPr/>
        </p:nvSpPr>
        <p:spPr>
          <a:xfrm>
            <a:off x="942276" y="3258654"/>
            <a:ext cx="28376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23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位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</a:rPr>
              <a:t>尾数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原码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表示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59C2484-EA5D-41C3-BFE0-5F2B8344A099}"/>
              </a:ext>
            </a:extLst>
          </p:cNvPr>
          <p:cNvSpPr/>
          <p:nvPr/>
        </p:nvSpPr>
        <p:spPr>
          <a:xfrm>
            <a:off x="251063" y="2706819"/>
            <a:ext cx="52908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s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r>
              <a:rPr kumimoji="0" lang="en-US" altLang="zh-CN" sz="4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.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altLang="zh-CN" i="1" u="none" strike="noStrike" kern="0" cap="none" spc="16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xxxxxxxxxxxxxxxxxxxxxxx</a:t>
            </a:r>
            <a:endParaRPr kumimoji="0" lang="zh-CN" altLang="en-US" i="1" u="none" strike="noStrike" kern="0" cap="none" spc="16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2" name="左大括号 61">
            <a:extLst>
              <a:ext uri="{FF2B5EF4-FFF2-40B4-BE49-F238E27FC236}">
                <a16:creationId xmlns:a16="http://schemas.microsoft.com/office/drawing/2014/main" id="{7E4FE06C-15BF-4E4C-8A53-86DC0C548634}"/>
              </a:ext>
            </a:extLst>
          </p:cNvPr>
          <p:cNvSpPr/>
          <p:nvPr/>
        </p:nvSpPr>
        <p:spPr bwMode="auto">
          <a:xfrm rot="16200000">
            <a:off x="5517509" y="-968084"/>
            <a:ext cx="543933" cy="5486677"/>
          </a:xfrm>
          <a:prstGeom prst="leftBrace">
            <a:avLst>
              <a:gd name="adj1" fmla="val 33987"/>
              <a:gd name="adj2" fmla="val 21261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3" name="左大括号 62">
            <a:extLst>
              <a:ext uri="{FF2B5EF4-FFF2-40B4-BE49-F238E27FC236}">
                <a16:creationId xmlns:a16="http://schemas.microsoft.com/office/drawing/2014/main" id="{42393218-6234-4DBC-AE87-714CB2BA1ACD}"/>
              </a:ext>
            </a:extLst>
          </p:cNvPr>
          <p:cNvSpPr/>
          <p:nvPr/>
        </p:nvSpPr>
        <p:spPr bwMode="auto">
          <a:xfrm rot="5400000">
            <a:off x="2933124" y="609192"/>
            <a:ext cx="351722" cy="4602129"/>
          </a:xfrm>
          <a:prstGeom prst="leftBrace">
            <a:avLst>
              <a:gd name="adj1" fmla="val 33987"/>
              <a:gd name="adj2" fmla="val 25973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6F6A855-1130-486D-958F-A4A7FC5A7C6D}"/>
              </a:ext>
            </a:extLst>
          </p:cNvPr>
          <p:cNvSpPr/>
          <p:nvPr/>
        </p:nvSpPr>
        <p:spPr>
          <a:xfrm>
            <a:off x="5345147" y="2729995"/>
            <a:ext cx="21698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× </a:t>
            </a:r>
            <a:r>
              <a: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r>
              <a:rPr kumimoji="0" lang="zh-CN" altLang="en-US" sz="360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altLang="zh-CN" sz="3600" i="1" u="none" strike="noStrike" kern="0" cap="none" spc="200" normalizeH="0" baseline="6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yyyyyyyy</a:t>
            </a:r>
            <a:endParaRPr kumimoji="0" lang="zh-CN" altLang="en-US" sz="1800" i="1" u="none" strike="noStrike" kern="0" cap="none" spc="20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90A1803-1A4A-4091-8FC8-211ED734EBD4}"/>
              </a:ext>
            </a:extLst>
          </p:cNvPr>
          <p:cNvSpPr/>
          <p:nvPr/>
        </p:nvSpPr>
        <p:spPr>
          <a:xfrm>
            <a:off x="6367353" y="2229464"/>
            <a:ext cx="26837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位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</a:rPr>
              <a:t>阶码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移码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表示</a:t>
            </a: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BF7ACCE1-9177-4428-A5F7-D82E043367F1}"/>
              </a:ext>
            </a:extLst>
          </p:cNvPr>
          <p:cNvCxnSpPr>
            <a:cxnSpLocks/>
          </p:cNvCxnSpPr>
          <p:nvPr/>
        </p:nvCxnSpPr>
        <p:spPr bwMode="auto">
          <a:xfrm>
            <a:off x="4211960" y="2053542"/>
            <a:ext cx="0" cy="676453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29BEE1C5-1E40-43C6-AC57-C6298DDF6401}"/>
              </a:ext>
            </a:extLst>
          </p:cNvPr>
          <p:cNvSpPr/>
          <p:nvPr/>
        </p:nvSpPr>
        <p:spPr bwMode="auto">
          <a:xfrm>
            <a:off x="415635" y="1524000"/>
            <a:ext cx="443347" cy="1524000"/>
          </a:xfrm>
          <a:custGeom>
            <a:avLst/>
            <a:gdLst>
              <a:gd name="connsiteX0" fmla="*/ 429672 w 429672"/>
              <a:gd name="connsiteY0" fmla="*/ 0 h 1080655"/>
              <a:gd name="connsiteX1" fmla="*/ 309599 w 429672"/>
              <a:gd name="connsiteY1" fmla="*/ 369455 h 1080655"/>
              <a:gd name="connsiteX2" fmla="*/ 41745 w 429672"/>
              <a:gd name="connsiteY2" fmla="*/ 609600 h 1080655"/>
              <a:gd name="connsiteX3" fmla="*/ 4799 w 429672"/>
              <a:gd name="connsiteY3" fmla="*/ 1080655 h 1080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9672" h="1080655">
                <a:moveTo>
                  <a:pt x="429672" y="0"/>
                </a:moveTo>
                <a:cubicBezTo>
                  <a:pt x="401962" y="133927"/>
                  <a:pt x="374253" y="267855"/>
                  <a:pt x="309599" y="369455"/>
                </a:cubicBezTo>
                <a:cubicBezTo>
                  <a:pt x="244945" y="471055"/>
                  <a:pt x="92545" y="491067"/>
                  <a:pt x="41745" y="609600"/>
                </a:cubicBezTo>
                <a:cubicBezTo>
                  <a:pt x="-9055" y="728133"/>
                  <a:pt x="-2128" y="904394"/>
                  <a:pt x="4799" y="1080655"/>
                </a:cubicBezTo>
              </a:path>
            </a:pathLst>
          </a:custGeom>
          <a:noFill/>
          <a:ln w="19050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281C4D37-CC05-4336-80CB-BA4137767406}"/>
              </a:ext>
            </a:extLst>
          </p:cNvPr>
          <p:cNvCxnSpPr>
            <a:cxnSpLocks/>
          </p:cNvCxnSpPr>
          <p:nvPr/>
        </p:nvCxnSpPr>
        <p:spPr bwMode="auto">
          <a:xfrm flipV="1">
            <a:off x="577017" y="3302142"/>
            <a:ext cx="0" cy="360040"/>
          </a:xfrm>
          <a:prstGeom prst="straightConnector1">
            <a:avLst/>
          </a:prstGeom>
          <a:noFill/>
          <a:ln w="19050" cap="flat" cmpd="sng" algn="ctr">
            <a:solidFill>
              <a:srgbClr val="6699FF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BBAE4D2B-845E-49E8-BDA2-B7BD9E1248AC}"/>
              </a:ext>
            </a:extLst>
          </p:cNvPr>
          <p:cNvCxnSpPr>
            <a:cxnSpLocks/>
          </p:cNvCxnSpPr>
          <p:nvPr/>
        </p:nvCxnSpPr>
        <p:spPr bwMode="auto">
          <a:xfrm>
            <a:off x="712729" y="2825177"/>
            <a:ext cx="0" cy="298191"/>
          </a:xfrm>
          <a:prstGeom prst="straightConnector1">
            <a:avLst/>
          </a:prstGeom>
          <a:noFill/>
          <a:ln w="19050" cap="flat" cmpd="sng" algn="ctr">
            <a:solidFill>
              <a:srgbClr val="6699FF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88FC76DF-D6DC-4CCC-AB58-6276AE6F1DD4}"/>
              </a:ext>
            </a:extLst>
          </p:cNvPr>
          <p:cNvSpPr/>
          <p:nvPr/>
        </p:nvSpPr>
        <p:spPr>
          <a:xfrm>
            <a:off x="71292" y="360922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</a:rPr>
              <a:t>隐藏</a:t>
            </a:r>
          </a:p>
        </p:txBody>
      </p:sp>
      <p:sp>
        <p:nvSpPr>
          <p:cNvPr id="71" name="左大括号 70">
            <a:extLst>
              <a:ext uri="{FF2B5EF4-FFF2-40B4-BE49-F238E27FC236}">
                <a16:creationId xmlns:a16="http://schemas.microsoft.com/office/drawing/2014/main" id="{7766869C-027E-43B9-9BB8-A61CCD50A9CD}"/>
              </a:ext>
            </a:extLst>
          </p:cNvPr>
          <p:cNvSpPr/>
          <p:nvPr/>
        </p:nvSpPr>
        <p:spPr bwMode="auto">
          <a:xfrm rot="5400000">
            <a:off x="6627359" y="2009472"/>
            <a:ext cx="351722" cy="1298199"/>
          </a:xfrm>
          <a:prstGeom prst="leftBrace">
            <a:avLst>
              <a:gd name="adj1" fmla="val 33987"/>
              <a:gd name="adj2" fmla="val 84314"/>
            </a:avLst>
          </a:prstGeom>
          <a:noFill/>
          <a:ln w="19050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2" name="左大括号 71">
            <a:extLst>
              <a:ext uri="{FF2B5EF4-FFF2-40B4-BE49-F238E27FC236}">
                <a16:creationId xmlns:a16="http://schemas.microsoft.com/office/drawing/2014/main" id="{739B075A-7939-4543-B091-B8D22AD83E89}"/>
              </a:ext>
            </a:extLst>
          </p:cNvPr>
          <p:cNvSpPr/>
          <p:nvPr/>
        </p:nvSpPr>
        <p:spPr bwMode="auto">
          <a:xfrm rot="16200000">
            <a:off x="1773021" y="922793"/>
            <a:ext cx="543934" cy="1741672"/>
          </a:xfrm>
          <a:prstGeom prst="leftBrace">
            <a:avLst>
              <a:gd name="adj1" fmla="val 33987"/>
              <a:gd name="adj2" fmla="val 72219"/>
            </a:avLst>
          </a:prstGeom>
          <a:noFill/>
          <a:ln w="19050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E68C33D7-DA24-4F07-8274-FACD302B4177}"/>
              </a:ext>
            </a:extLst>
          </p:cNvPr>
          <p:cNvSpPr/>
          <p:nvPr/>
        </p:nvSpPr>
        <p:spPr bwMode="auto">
          <a:xfrm>
            <a:off x="2438398" y="2059709"/>
            <a:ext cx="3925457" cy="423001"/>
          </a:xfrm>
          <a:custGeom>
            <a:avLst/>
            <a:gdLst>
              <a:gd name="connsiteX0" fmla="*/ 0 w 3648364"/>
              <a:gd name="connsiteY0" fmla="*/ 0 h 646546"/>
              <a:gd name="connsiteX1" fmla="*/ 378691 w 3648364"/>
              <a:gd name="connsiteY1" fmla="*/ 332509 h 646546"/>
              <a:gd name="connsiteX2" fmla="*/ 2124364 w 3648364"/>
              <a:gd name="connsiteY2" fmla="*/ 360218 h 646546"/>
              <a:gd name="connsiteX3" fmla="*/ 3334328 w 3648364"/>
              <a:gd name="connsiteY3" fmla="*/ 378691 h 646546"/>
              <a:gd name="connsiteX4" fmla="*/ 3648364 w 3648364"/>
              <a:gd name="connsiteY4" fmla="*/ 646546 h 646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8364" h="646546">
                <a:moveTo>
                  <a:pt x="0" y="0"/>
                </a:moveTo>
                <a:cubicBezTo>
                  <a:pt x="12315" y="136236"/>
                  <a:pt x="24630" y="272473"/>
                  <a:pt x="378691" y="332509"/>
                </a:cubicBezTo>
                <a:cubicBezTo>
                  <a:pt x="732752" y="392545"/>
                  <a:pt x="2124364" y="360218"/>
                  <a:pt x="2124364" y="360218"/>
                </a:cubicBezTo>
                <a:cubicBezTo>
                  <a:pt x="2616970" y="367915"/>
                  <a:pt x="3080328" y="330970"/>
                  <a:pt x="3334328" y="378691"/>
                </a:cubicBezTo>
                <a:cubicBezTo>
                  <a:pt x="3588328" y="426412"/>
                  <a:pt x="3618346" y="536479"/>
                  <a:pt x="3648364" y="646546"/>
                </a:cubicBezTo>
              </a:path>
            </a:pathLst>
          </a:custGeom>
          <a:noFill/>
          <a:ln w="19050" cap="flat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4" name="箭头: 燕尾形 73">
            <a:extLst>
              <a:ext uri="{FF2B5EF4-FFF2-40B4-BE49-F238E27FC236}">
                <a16:creationId xmlns:a16="http://schemas.microsoft.com/office/drawing/2014/main" id="{C45AEC21-2A6D-4868-B160-52E991E6F76E}"/>
              </a:ext>
            </a:extLst>
          </p:cNvPr>
          <p:cNvSpPr/>
          <p:nvPr/>
        </p:nvSpPr>
        <p:spPr bwMode="auto">
          <a:xfrm rot="5400000">
            <a:off x="7652165" y="2844982"/>
            <a:ext cx="758260" cy="304428"/>
          </a:xfrm>
          <a:prstGeom prst="notchedRightArrow">
            <a:avLst>
              <a:gd name="adj1" fmla="val 50000"/>
              <a:gd name="adj2" fmla="val 95510"/>
            </a:avLst>
          </a:prstGeom>
          <a:solidFill>
            <a:srgbClr val="9999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81141CB-9308-4F14-8732-5E9222EABF93}"/>
              </a:ext>
            </a:extLst>
          </p:cNvPr>
          <p:cNvSpPr/>
          <p:nvPr/>
        </p:nvSpPr>
        <p:spPr>
          <a:xfrm>
            <a:off x="6430091" y="3319760"/>
            <a:ext cx="25234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偏移量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01111111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AE04E8F-8FE6-4C35-BE6B-9A53196907F7}"/>
              </a:ext>
            </a:extLst>
          </p:cNvPr>
          <p:cNvSpPr/>
          <p:nvPr/>
        </p:nvSpPr>
        <p:spPr>
          <a:xfrm>
            <a:off x="5411371" y="3893432"/>
            <a:ext cx="1544012" cy="2756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11111111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11111110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宋体"/>
                <a:ea typeface="宋体"/>
              </a:rPr>
              <a:t>……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10000000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FF0000"/>
                </a:solidFill>
                <a:latin typeface="Consolas" panose="020B0609020204030204" pitchFamily="49" charset="0"/>
              </a:rPr>
              <a:t>01111111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01111110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宋体"/>
              </a:rPr>
              <a:t>……</a:t>
            </a:r>
            <a:endParaRPr lang="en-US" altLang="zh-CN" sz="24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00000001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00000000</a:t>
            </a:r>
            <a:endParaRPr lang="zh-CN" altLang="en-US" sz="2400" b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5793106-24D6-4C23-A9E4-BA09051D6694}"/>
              </a:ext>
            </a:extLst>
          </p:cNvPr>
          <p:cNvSpPr/>
          <p:nvPr/>
        </p:nvSpPr>
        <p:spPr>
          <a:xfrm>
            <a:off x="6955383" y="3893432"/>
            <a:ext cx="1326004" cy="27515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宋体" panose="02010600030101010101" pitchFamily="2" charset="-122"/>
              </a:rPr>
              <a:t>→ </a:t>
            </a: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+128</a:t>
            </a:r>
          </a:p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宋体" panose="02010600030101010101" pitchFamily="2" charset="-122"/>
              </a:rPr>
              <a:t>→ </a:t>
            </a: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+127</a:t>
            </a:r>
          </a:p>
          <a:p>
            <a:pPr algn="r"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宋体"/>
                <a:ea typeface="宋体"/>
              </a:rPr>
              <a:t>……</a:t>
            </a:r>
          </a:p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宋体" panose="02010600030101010101" pitchFamily="2" charset="-122"/>
              </a:rPr>
              <a:t>→  </a:t>
            </a: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</a:p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宋体" panose="02010600030101010101" pitchFamily="2" charset="-122"/>
              </a:rPr>
              <a:t>→  </a:t>
            </a:r>
            <a:r>
              <a:rPr lang="en-US" altLang="zh-CN" sz="2400" b="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宋体" panose="02010600030101010101" pitchFamily="2" charset="-122"/>
              </a:rPr>
              <a:t>→ </a:t>
            </a: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-1</a:t>
            </a:r>
          </a:p>
          <a:p>
            <a:pPr algn="r"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宋体"/>
              </a:rPr>
              <a:t>……</a:t>
            </a:r>
            <a:endParaRPr lang="en-US" altLang="zh-CN" sz="24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宋体" panose="02010600030101010101" pitchFamily="2" charset="-122"/>
              </a:rPr>
              <a:t>→ </a:t>
            </a: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-126</a:t>
            </a:r>
          </a:p>
          <a:p>
            <a:pPr algn="l">
              <a:lnSpc>
                <a:spcPct val="80000"/>
              </a:lnSpc>
              <a:spcBef>
                <a:spcPts val="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宋体" panose="02010600030101010101" pitchFamily="2" charset="-122"/>
              </a:rPr>
              <a:t>→ </a:t>
            </a: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-127</a:t>
            </a:r>
            <a:endParaRPr lang="zh-CN" altLang="en-US" sz="2400" b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E0B85DC-E3E1-4BE0-AED5-33F541D43C2A}"/>
              </a:ext>
            </a:extLst>
          </p:cNvPr>
          <p:cNvSpPr/>
          <p:nvPr/>
        </p:nvSpPr>
        <p:spPr bwMode="auto">
          <a:xfrm>
            <a:off x="896293" y="3879273"/>
            <a:ext cx="6000768" cy="314035"/>
          </a:xfrm>
          <a:prstGeom prst="rect">
            <a:avLst/>
          </a:prstGeom>
          <a:noFill/>
          <a:ln w="76200" cap="flat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2E19844-FCBC-40AD-A399-5F7F753881B6}"/>
              </a:ext>
            </a:extLst>
          </p:cNvPr>
          <p:cNvSpPr/>
          <p:nvPr/>
        </p:nvSpPr>
        <p:spPr bwMode="auto">
          <a:xfrm>
            <a:off x="244444" y="6225310"/>
            <a:ext cx="6652617" cy="323272"/>
          </a:xfrm>
          <a:prstGeom prst="rect">
            <a:avLst/>
          </a:prstGeom>
          <a:noFill/>
          <a:ln w="76200" cap="flat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B3E35EC-B9D5-4EFD-A0C4-5A5FF8AEA1A9}"/>
              </a:ext>
            </a:extLst>
          </p:cNvPr>
          <p:cNvSpPr/>
          <p:nvPr/>
        </p:nvSpPr>
        <p:spPr>
          <a:xfrm>
            <a:off x="796667" y="3805389"/>
            <a:ext cx="45945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</a:rPr>
              <a:t>特殊标记，表示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/>
                <a:ea typeface="宋体"/>
              </a:rPr>
              <a:t>+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/>
                <a:ea typeface="宋体"/>
              </a:rPr>
              <a:t>∞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</a:rPr>
              <a:t>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/>
                <a:ea typeface="宋体"/>
              </a:rPr>
              <a:t>-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 panose="02010600030101010101" pitchFamily="2" charset="-122"/>
              </a:rPr>
              <a:t>∞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</a:rPr>
              <a:t>、</a:t>
            </a:r>
            <a:r>
              <a:rPr kumimoji="0" lang="en-US" altLang="zh-CN" sz="2400" i="0" u="none" strike="noStrike" kern="0" cap="none" spc="0" normalizeH="0" baseline="0" noProof="0" dirty="0" err="1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</a:rPr>
              <a:t>NaN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D5EAC2A-62F5-4851-B07F-F74FD16D05C4}"/>
              </a:ext>
            </a:extLst>
          </p:cNvPr>
          <p:cNvSpPr/>
          <p:nvPr/>
        </p:nvSpPr>
        <p:spPr>
          <a:xfrm>
            <a:off x="179512" y="6160023"/>
            <a:ext cx="5211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</a:rPr>
              <a:t>特殊标记，表示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</a:rPr>
              <a:t>机器零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C6600"/>
                </a:solidFill>
                <a:effectLst/>
                <a:uLnTx/>
                <a:uFillTx/>
              </a:rPr>
              <a:t>、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</a:rPr>
              <a:t>非规格化数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FECDA39-8BD5-4D12-9589-E89A4C21CEAB}"/>
              </a:ext>
            </a:extLst>
          </p:cNvPr>
          <p:cNvSpPr/>
          <p:nvPr/>
        </p:nvSpPr>
        <p:spPr bwMode="auto">
          <a:xfrm>
            <a:off x="5391195" y="4195612"/>
            <a:ext cx="2869277" cy="2057405"/>
          </a:xfrm>
          <a:prstGeom prst="rect">
            <a:avLst/>
          </a:prstGeom>
          <a:noFill/>
          <a:ln w="7620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69B55E6-8BAB-4C82-A6CC-65025C095C50}"/>
              </a:ext>
            </a:extLst>
          </p:cNvPr>
          <p:cNvSpPr/>
          <p:nvPr/>
        </p:nvSpPr>
        <p:spPr>
          <a:xfrm>
            <a:off x="1483887" y="4594001"/>
            <a:ext cx="3897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</a:rPr>
              <a:t>正常阶码可以表示数的范围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617808B-5624-4DF8-8631-8D51C317150B}"/>
              </a:ext>
            </a:extLst>
          </p:cNvPr>
          <p:cNvSpPr/>
          <p:nvPr/>
        </p:nvSpPr>
        <p:spPr>
          <a:xfrm>
            <a:off x="5612008" y="315468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</a:rPr>
              <a:t>隐含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30E4AD5-A8EB-497E-B2E5-822B2A0CBD17}"/>
              </a:ext>
            </a:extLst>
          </p:cNvPr>
          <p:cNvSpPr/>
          <p:nvPr/>
        </p:nvSpPr>
        <p:spPr>
          <a:xfrm>
            <a:off x="494979" y="2402196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6699FF"/>
                </a:solidFill>
                <a:effectLst/>
                <a:uLnTx/>
                <a:uFillTx/>
              </a:rPr>
              <a:t>隐含</a:t>
            </a:r>
          </a:p>
        </p:txBody>
      </p:sp>
      <p:sp>
        <p:nvSpPr>
          <p:cNvPr id="86" name="箭头: 五边形 85">
            <a:extLst>
              <a:ext uri="{FF2B5EF4-FFF2-40B4-BE49-F238E27FC236}">
                <a16:creationId xmlns:a16="http://schemas.microsoft.com/office/drawing/2014/main" id="{68EB1F96-ADDD-4AFB-8436-155CB86862DA}"/>
              </a:ext>
            </a:extLst>
          </p:cNvPr>
          <p:cNvSpPr/>
          <p:nvPr/>
        </p:nvSpPr>
        <p:spPr bwMode="auto">
          <a:xfrm rot="10800000">
            <a:off x="1335740" y="4599456"/>
            <a:ext cx="3959050" cy="424320"/>
          </a:xfrm>
          <a:prstGeom prst="homePlate">
            <a:avLst>
              <a:gd name="adj" fmla="val 47887"/>
            </a:avLst>
          </a:prstGeom>
          <a:noFill/>
          <a:ln w="7620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7989DD89-E454-461C-B7D6-52DE91BE61DB}"/>
              </a:ext>
            </a:extLst>
          </p:cNvPr>
          <p:cNvCxnSpPr>
            <a:cxnSpLocks/>
          </p:cNvCxnSpPr>
          <p:nvPr/>
        </p:nvCxnSpPr>
        <p:spPr bwMode="auto">
          <a:xfrm flipH="1">
            <a:off x="560415" y="4811903"/>
            <a:ext cx="775324" cy="0"/>
          </a:xfrm>
          <a:prstGeom prst="line">
            <a:avLst/>
          </a:prstGeom>
          <a:noFill/>
          <a:ln w="19050" cap="rnd" cmpd="sng" algn="ctr">
            <a:solidFill>
              <a:srgbClr val="FF9F5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76E79420-7F07-402F-B419-06A1B0CED2E4}"/>
              </a:ext>
            </a:extLst>
          </p:cNvPr>
          <p:cNvCxnSpPr>
            <a:cxnSpLocks/>
          </p:cNvCxnSpPr>
          <p:nvPr/>
        </p:nvCxnSpPr>
        <p:spPr bwMode="auto">
          <a:xfrm flipV="1">
            <a:off x="560414" y="4005064"/>
            <a:ext cx="0" cy="806842"/>
          </a:xfrm>
          <a:prstGeom prst="line">
            <a:avLst/>
          </a:prstGeom>
          <a:noFill/>
          <a:ln w="19050" cap="rnd" cmpd="sng" algn="ctr">
            <a:solidFill>
              <a:srgbClr val="FF9F5D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777C4BD0-D41B-4D1B-9C37-24E5D8B74B4E}"/>
              </a:ext>
            </a:extLst>
          </p:cNvPr>
          <p:cNvSpPr/>
          <p:nvPr/>
        </p:nvSpPr>
        <p:spPr>
          <a:xfrm>
            <a:off x="251520" y="5607622"/>
            <a:ext cx="24727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s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0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 </a:t>
            </a:r>
            <a:r>
              <a:rPr kumimoji="0" lang="en-US" altLang="zh-CN" sz="4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.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altLang="zh-CN" i="1" u="none" strike="noStrike" kern="0" cap="none" spc="1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xxx</a:t>
            </a:r>
            <a:r>
              <a:rPr kumimoji="0" lang="en-US" altLang="zh-CN" sz="1800" i="0" u="none" strike="noStrike" kern="0" cap="none" spc="1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</a:rPr>
              <a:t>……</a:t>
            </a:r>
            <a:r>
              <a:rPr kumimoji="0" lang="en-US" altLang="zh-CN" i="1" u="none" strike="noStrike" kern="0" cap="none" spc="1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xxx</a:t>
            </a:r>
            <a:endParaRPr kumimoji="0" lang="zh-CN" altLang="en-US" i="1" u="none" strike="noStrike" kern="0" cap="none" spc="16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ED878FC-7DEF-414B-A392-96DC58B2B0C6}"/>
              </a:ext>
            </a:extLst>
          </p:cNvPr>
          <p:cNvSpPr/>
          <p:nvPr/>
        </p:nvSpPr>
        <p:spPr>
          <a:xfrm>
            <a:off x="2607685" y="5678389"/>
            <a:ext cx="14302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× </a:t>
            </a:r>
            <a:r>
              <a: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r>
              <a:rPr kumimoji="0" lang="en-US" altLang="zh-CN" sz="3600" i="0" u="none" strike="noStrike" kern="0" cap="none" spc="0" normalizeH="0" baseline="6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-126</a:t>
            </a:r>
            <a:endParaRPr kumimoji="0" lang="zh-CN" altLang="en-US" sz="1800" i="0" u="none" strike="noStrike" kern="0" cap="none" spc="0" normalizeH="0" baseline="6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DF58084-24CD-4EBF-9563-1C7150B9DE08}"/>
              </a:ext>
            </a:extLst>
          </p:cNvPr>
          <p:cNvSpPr/>
          <p:nvPr/>
        </p:nvSpPr>
        <p:spPr>
          <a:xfrm>
            <a:off x="212385" y="5313516"/>
            <a:ext cx="19239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</a:rPr>
              <a:t>没有隐藏的 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</a:rPr>
              <a:t>“1”</a:t>
            </a: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10222E0-991A-478D-8136-1EC1E700A0AA}"/>
              </a:ext>
            </a:extLst>
          </p:cNvPr>
          <p:cNvSpPr/>
          <p:nvPr/>
        </p:nvSpPr>
        <p:spPr>
          <a:xfrm>
            <a:off x="4297303" y="5416839"/>
            <a:ext cx="7008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</a:rPr>
              <a:t>最小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</a:rPr>
              <a:t>阶码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B4E4BFC8-21A6-4841-8B45-4DCD134D3C2B}"/>
              </a:ext>
            </a:extLst>
          </p:cNvPr>
          <p:cNvCxnSpPr>
            <a:cxnSpLocks/>
          </p:cNvCxnSpPr>
          <p:nvPr/>
        </p:nvCxnSpPr>
        <p:spPr bwMode="auto">
          <a:xfrm>
            <a:off x="601024" y="5660362"/>
            <a:ext cx="0" cy="190843"/>
          </a:xfrm>
          <a:prstGeom prst="line">
            <a:avLst/>
          </a:prstGeom>
          <a:noFill/>
          <a:ln w="28575" cap="rnd" cmpd="sng" algn="ctr">
            <a:solidFill>
              <a:srgbClr val="6699FF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5E32A6C1-BA93-4CC3-9558-DAAB588251E5}"/>
              </a:ext>
            </a:extLst>
          </p:cNvPr>
          <p:cNvCxnSpPr/>
          <p:nvPr/>
        </p:nvCxnSpPr>
        <p:spPr bwMode="auto">
          <a:xfrm flipH="1">
            <a:off x="3986971" y="5780109"/>
            <a:ext cx="369592" cy="0"/>
          </a:xfrm>
          <a:prstGeom prst="line">
            <a:avLst/>
          </a:prstGeom>
          <a:noFill/>
          <a:ln w="28575" cap="rnd" cmpd="sng" algn="ctr">
            <a:solidFill>
              <a:srgbClr val="6699FF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19672DC2-4B29-498F-97EE-6AF024FD58A7}"/>
              </a:ext>
            </a:extLst>
          </p:cNvPr>
          <p:cNvGrpSpPr/>
          <p:nvPr/>
        </p:nvGrpSpPr>
        <p:grpSpPr>
          <a:xfrm>
            <a:off x="7534272" y="3944472"/>
            <a:ext cx="649237" cy="215155"/>
            <a:chOff x="8604250" y="4802638"/>
            <a:chExt cx="792286" cy="475730"/>
          </a:xfrm>
        </p:grpSpPr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B6D136EB-99C9-43AA-B7F3-4CCA46C86D64}"/>
                </a:ext>
              </a:extLst>
            </p:cNvPr>
            <p:cNvCxnSpPr/>
            <p:nvPr/>
          </p:nvCxnSpPr>
          <p:spPr bwMode="auto">
            <a:xfrm flipH="1">
              <a:off x="8604250" y="4802638"/>
              <a:ext cx="792286" cy="466465"/>
            </a:xfrm>
            <a:prstGeom prst="line">
              <a:avLst/>
            </a:prstGeom>
            <a:noFill/>
            <a:ln w="76200" cap="flat" cmpd="sng" algn="ctr">
              <a:solidFill>
                <a:srgbClr val="FF00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B275FE30-377E-4920-9012-8F8F3AA2BDC6}"/>
                </a:ext>
              </a:extLst>
            </p:cNvPr>
            <p:cNvCxnSpPr/>
            <p:nvPr/>
          </p:nvCxnSpPr>
          <p:spPr bwMode="auto">
            <a:xfrm>
              <a:off x="8604250" y="4802638"/>
              <a:ext cx="792286" cy="475730"/>
            </a:xfrm>
            <a:prstGeom prst="line">
              <a:avLst/>
            </a:prstGeom>
            <a:noFill/>
            <a:ln w="76200" cap="flat" cmpd="sng" algn="ctr">
              <a:solidFill>
                <a:srgbClr val="FF00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DCE9756C-FBFC-4AB4-AA36-37ABD3B374AB}"/>
              </a:ext>
            </a:extLst>
          </p:cNvPr>
          <p:cNvGrpSpPr/>
          <p:nvPr/>
        </p:nvGrpSpPr>
        <p:grpSpPr>
          <a:xfrm>
            <a:off x="7534272" y="6302187"/>
            <a:ext cx="649237" cy="215155"/>
            <a:chOff x="8604250" y="4802638"/>
            <a:chExt cx="792286" cy="475730"/>
          </a:xfrm>
        </p:grpSpPr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A96EE7B1-A8A1-499A-8138-ECCEBD9EB2FC}"/>
                </a:ext>
              </a:extLst>
            </p:cNvPr>
            <p:cNvCxnSpPr/>
            <p:nvPr/>
          </p:nvCxnSpPr>
          <p:spPr bwMode="auto">
            <a:xfrm flipH="1">
              <a:off x="8604250" y="4802638"/>
              <a:ext cx="792286" cy="466465"/>
            </a:xfrm>
            <a:prstGeom prst="line">
              <a:avLst/>
            </a:prstGeom>
            <a:noFill/>
            <a:ln w="76200" cap="flat" cmpd="sng" algn="ctr">
              <a:solidFill>
                <a:srgbClr val="FF00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80356B4A-0E3A-4360-9F6D-F96F0CAE959F}"/>
                </a:ext>
              </a:extLst>
            </p:cNvPr>
            <p:cNvCxnSpPr/>
            <p:nvPr/>
          </p:nvCxnSpPr>
          <p:spPr bwMode="auto">
            <a:xfrm>
              <a:off x="8604250" y="4802638"/>
              <a:ext cx="792286" cy="475730"/>
            </a:xfrm>
            <a:prstGeom prst="line">
              <a:avLst/>
            </a:prstGeom>
            <a:noFill/>
            <a:ln w="76200" cap="flat" cmpd="sng" algn="ctr">
              <a:solidFill>
                <a:srgbClr val="FF00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4DC116D-DB57-4D0B-A41B-2E68EFB7894D}"/>
              </a:ext>
            </a:extLst>
          </p:cNvPr>
          <p:cNvCxnSpPr>
            <a:cxnSpLocks/>
          </p:cNvCxnSpPr>
          <p:nvPr/>
        </p:nvCxnSpPr>
        <p:spPr bwMode="auto">
          <a:xfrm flipV="1">
            <a:off x="244444" y="5313516"/>
            <a:ext cx="0" cy="911794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ED34FEE-45BD-439A-BBE0-F541A305B18A}"/>
              </a:ext>
            </a:extLst>
          </p:cNvPr>
          <p:cNvCxnSpPr/>
          <p:nvPr/>
        </p:nvCxnSpPr>
        <p:spPr bwMode="auto">
          <a:xfrm>
            <a:off x="251063" y="5301208"/>
            <a:ext cx="4824993" cy="0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AA8C3F1-E1A0-41B5-8FD0-A03378F8827F}"/>
              </a:ext>
            </a:extLst>
          </p:cNvPr>
          <p:cNvCxnSpPr>
            <a:cxnSpLocks/>
          </p:cNvCxnSpPr>
          <p:nvPr/>
        </p:nvCxnSpPr>
        <p:spPr bwMode="auto">
          <a:xfrm>
            <a:off x="5076056" y="5301208"/>
            <a:ext cx="0" cy="924102"/>
          </a:xfrm>
          <a:prstGeom prst="line">
            <a:avLst/>
          </a:prstGeom>
          <a:solidFill>
            <a:schemeClr val="accent1"/>
          </a:solidFill>
          <a:ln w="76200" cap="rnd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994783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500"/>
                            </p:stCondLst>
                            <p:childTnLst>
                              <p:par>
                                <p:cTn id="1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50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  <p:bldP spid="59" grpId="0"/>
      <p:bldP spid="60" grpId="0"/>
      <p:bldP spid="61" grpId="0"/>
      <p:bldP spid="62" grpId="0" animBg="1"/>
      <p:bldP spid="63" grpId="0" animBg="1"/>
      <p:bldP spid="64" grpId="0"/>
      <p:bldP spid="65" grpId="0"/>
      <p:bldP spid="67" grpId="0" animBg="1"/>
      <p:bldP spid="70" grpId="0"/>
      <p:bldP spid="71" grpId="0" animBg="1"/>
      <p:bldP spid="72" grpId="0" animBg="1"/>
      <p:bldP spid="73" grpId="0" animBg="1"/>
      <p:bldP spid="74" grpId="0" animBg="1"/>
      <p:bldP spid="75" grpId="0"/>
      <p:bldP spid="76" grpId="0"/>
      <p:bldP spid="77" grpId="0"/>
      <p:bldP spid="78" grpId="0" animBg="1"/>
      <p:bldP spid="79" grpId="0" animBg="1"/>
      <p:bldP spid="80" grpId="0"/>
      <p:bldP spid="81" grpId="0"/>
      <p:bldP spid="82" grpId="0" animBg="1"/>
      <p:bldP spid="83" grpId="0"/>
      <p:bldP spid="84" grpId="0"/>
      <p:bldP spid="85" grpId="0"/>
      <p:bldP spid="86" grpId="0" animBg="1"/>
      <p:bldP spid="89" grpId="0"/>
      <p:bldP spid="90" grpId="0"/>
      <p:bldP spid="91" grpId="0"/>
      <p:bldP spid="9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14389-5447-4705-9F43-9275F6D3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56D6F8-EA69-45E4-8EFF-0763082BF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3" name="Rectangle 4">
            <a:extLst>
              <a:ext uri="{FF2B5EF4-FFF2-40B4-BE49-F238E27FC236}">
                <a16:creationId xmlns:a16="http://schemas.microsoft.com/office/drawing/2014/main" id="{BADB2793-C70A-4768-BBA2-7200BF86E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28638"/>
            <a:ext cx="78692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006600"/>
                </a:solidFill>
                <a:latin typeface="Arial" pitchFamily="34" charset="0"/>
                <a:ea typeface="黑体" pitchFamily="49" charset="-122"/>
              </a:rPr>
              <a:t>IEEE 754 </a:t>
            </a:r>
            <a:r>
              <a:rPr lang="zh-CN" altLang="en-US" dirty="0">
                <a:solidFill>
                  <a:srgbClr val="006600"/>
                </a:solidFill>
                <a:latin typeface="Arial" pitchFamily="34" charset="0"/>
                <a:ea typeface="黑体" pitchFamily="49" charset="-122"/>
              </a:rPr>
              <a:t>单精度浮点数格式</a:t>
            </a:r>
          </a:p>
        </p:txBody>
      </p:sp>
      <p:graphicFrame>
        <p:nvGraphicFramePr>
          <p:cNvPr id="54" name="Group 86">
            <a:extLst>
              <a:ext uri="{FF2B5EF4-FFF2-40B4-BE49-F238E27FC236}">
                <a16:creationId xmlns:a16="http://schemas.microsoft.com/office/drawing/2014/main" id="{E0A2A1F3-A67A-427E-A82F-63A2835D171A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1149350"/>
          <a:ext cx="7993062" cy="853440"/>
        </p:xfrm>
        <a:graphic>
          <a:graphicData uri="http://schemas.openxmlformats.org/drawingml/2006/table">
            <a:tbl>
              <a:tblPr/>
              <a:tblGrid>
                <a:gridCol w="49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9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urier New" pitchFamily="49" charset="0"/>
                        </a:rPr>
                        <a:t>s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urier New" pitchFamily="49" charset="0"/>
                        </a:rPr>
                        <a:t>e[30:23]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urier New" pitchFamily="49" charset="0"/>
                        </a:rPr>
                        <a:t>f[22:0]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23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22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" name="Group 192">
            <a:extLst>
              <a:ext uri="{FF2B5EF4-FFF2-40B4-BE49-F238E27FC236}">
                <a16:creationId xmlns:a16="http://schemas.microsoft.com/office/drawing/2014/main" id="{B24424E2-7125-4202-9565-8A1EE4D8F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564818"/>
              </p:ext>
            </p:extLst>
          </p:nvPr>
        </p:nvGraphicFramePr>
        <p:xfrm>
          <a:off x="179388" y="2852738"/>
          <a:ext cx="8856662" cy="3139440"/>
        </p:xfrm>
        <a:graphic>
          <a:graphicData uri="http://schemas.openxmlformats.org/drawingml/2006/table">
            <a:tbl>
              <a:tblPr/>
              <a:tblGrid>
                <a:gridCol w="496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7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单精度格式位模式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IEEE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浮点数的值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＜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＜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255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1)</a:t>
                      </a:r>
                      <a:r>
                        <a:rPr kumimoji="1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×2</a:t>
                      </a:r>
                      <a:r>
                        <a:rPr kumimoji="1" lang="en-US" altLang="zh-CN" sz="20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1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-</a:t>
                      </a:r>
                      <a:r>
                        <a:rPr kumimoji="1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127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×1. </a:t>
                      </a: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规格化数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≠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 </a:t>
                      </a: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 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中至少有一位不为零）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1)</a:t>
                      </a:r>
                      <a:r>
                        <a:rPr kumimoji="1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×2</a:t>
                      </a:r>
                      <a:r>
                        <a:rPr kumimoji="1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-</a:t>
                      </a:r>
                      <a:r>
                        <a:rPr kumimoji="1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126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×0. </a:t>
                      </a: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非规格化数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 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 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中所有位均为零）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1)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×0.0	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（有符号的零）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255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 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 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中所有位均为零）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INF		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（正无穷大）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255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 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 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中所有位均为零）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INF		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（负无穷大）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u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255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</a:t>
                      </a: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 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≠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（ </a:t>
                      </a:r>
                      <a:r>
                        <a:rPr kumimoji="1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中至少有一位不为零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NaN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		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（非数）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Text Box 189">
            <a:extLst>
              <a:ext uri="{FF2B5EF4-FFF2-40B4-BE49-F238E27FC236}">
                <a16:creationId xmlns:a16="http://schemas.microsoft.com/office/drawing/2014/main" id="{D5C809B1-6EBC-418F-90C0-AF8046F8C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6021388"/>
            <a:ext cx="6480175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IEEE 754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单精度格式位模式表示的值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3333C60-098A-4E55-ABB4-320560A600FF}"/>
              </a:ext>
            </a:extLst>
          </p:cNvPr>
          <p:cNvSpPr/>
          <p:nvPr/>
        </p:nvSpPr>
        <p:spPr>
          <a:xfrm>
            <a:off x="2339752" y="2021741"/>
            <a:ext cx="67604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</a:rPr>
              <a:t>规格化数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，也叫“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</a:rPr>
              <a:t>正规数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”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rPr>
              <a:t>非规格化数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，也叫“非正规数”、“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rPr>
              <a:t>次正规数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114527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CA397-73EA-40FB-806E-6F34FFE5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DED43D-0C6A-4D60-96D0-5440AECBD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20</a:t>
            </a:fld>
            <a:endParaRPr lang="zh-CN" altLang="en-US"/>
          </a:p>
        </p:txBody>
      </p:sp>
      <p:graphicFrame>
        <p:nvGraphicFramePr>
          <p:cNvPr id="5" name="Group 73">
            <a:extLst>
              <a:ext uri="{FF2B5EF4-FFF2-40B4-BE49-F238E27FC236}">
                <a16:creationId xmlns:a16="http://schemas.microsoft.com/office/drawing/2014/main" id="{FF9FC912-2C5A-4E9C-BEEE-9BF4509B3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060978"/>
              </p:ext>
            </p:extLst>
          </p:nvPr>
        </p:nvGraphicFramePr>
        <p:xfrm>
          <a:off x="179388" y="981075"/>
          <a:ext cx="8785225" cy="5705856"/>
        </p:xfrm>
        <a:graphic>
          <a:graphicData uri="http://schemas.openxmlformats.org/drawingml/2006/table">
            <a:tbl>
              <a:tblPr/>
              <a:tblGrid>
                <a:gridCol w="266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通用名称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浮点数的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IEEE754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编码（二进制）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十进制真值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 00000000 000…00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1 00000000 000…00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 01111111 000…00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 10000000 000…00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最大规格化数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 11111110 111…11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3.40282347×10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+38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最小正规格化数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 00000001 000…00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1.17549435×10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-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38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最大非规格化数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 00000000 111…11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1.17549421×10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-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38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最小正非规格化数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 00000000 000…01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1.40129846×10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-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＋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∞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 11111111 000…00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正无穷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－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∞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1 11111111 000…00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负无穷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8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非数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0 11111111 100…00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NaN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（不惟一）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 Box 74">
            <a:extLst>
              <a:ext uri="{FF2B5EF4-FFF2-40B4-BE49-F238E27FC236}">
                <a16:creationId xmlns:a16="http://schemas.microsoft.com/office/drawing/2014/main" id="{E5E432AF-89BE-47FA-99E5-8B06A55D5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49275"/>
            <a:ext cx="864235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</a:rPr>
              <a:t>IEEE 754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</a:rPr>
              <a:t>单精度格式二进制位与其对应的浮点数真值举例</a:t>
            </a:r>
          </a:p>
        </p:txBody>
      </p:sp>
    </p:spTree>
    <p:extLst>
      <p:ext uri="{BB962C8B-B14F-4D97-AF65-F5344CB8AC3E}">
        <p14:creationId xmlns:p14="http://schemas.microsoft.com/office/powerpoint/2010/main" val="141628707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0AAE5-7AD8-47C9-B12B-60BD7B61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3D1EC6-A3D4-43D6-AEA9-A7D9D534A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7BB815-B1C8-4473-A407-7E55F005BDB9}"/>
              </a:ext>
            </a:extLst>
          </p:cNvPr>
          <p:cNvSpPr/>
          <p:nvPr/>
        </p:nvSpPr>
        <p:spPr>
          <a:xfrm>
            <a:off x="6155717" y="86560"/>
            <a:ext cx="27238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P56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，习题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2.18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D074C6C-B3B7-47E7-9EB6-21BC59201445}"/>
              </a:ext>
            </a:extLst>
          </p:cNvPr>
          <p:cNvSpPr txBox="1">
            <a:spLocks/>
          </p:cNvSpPr>
          <p:nvPr/>
        </p:nvSpPr>
        <p:spPr bwMode="auto">
          <a:xfrm>
            <a:off x="457200" y="765175"/>
            <a:ext cx="8651304" cy="590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2330450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以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IEEE 754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短浮点数格式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32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位</a:t>
            </a: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表示下列十进制数。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② -365.59375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-1 0110 1101.10011</a:t>
            </a:r>
            <a:r>
              <a:rPr kumimoji="0" lang="en-US" altLang="zh-CN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100 0011 1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011 0110 1100 1100 00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……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C3B6CC00 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④ -35/8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-100011</a:t>
            </a:r>
            <a:r>
              <a:rPr kumimoji="0" lang="en-US" altLang="zh-CN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×2</a:t>
            </a:r>
            <a:r>
              <a:rPr kumimoji="0" lang="en-US" altLang="zh-CN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-3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-1.00011</a:t>
            </a:r>
            <a:r>
              <a:rPr kumimoji="0" lang="en-US" altLang="zh-CN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×2</a:t>
            </a:r>
            <a:r>
              <a:rPr kumimoji="0" lang="en-US" altLang="zh-CN" b="1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</a:p>
          <a:p>
            <a:pPr marL="0" lvl="0" indent="0">
              <a:buClr>
                <a:srgbClr val="00007D"/>
              </a:buClr>
              <a:buNone/>
            </a:pPr>
            <a:r>
              <a:rPr lang="en-US" altLang="zh-CN" kern="0" dirty="0">
                <a:solidFill>
                  <a:srgbClr val="008000"/>
                </a:solidFill>
              </a:rPr>
              <a:t>1</a:t>
            </a:r>
            <a:r>
              <a:rPr lang="en-US" altLang="zh-CN" kern="0" dirty="0">
                <a:solidFill>
                  <a:srgbClr val="000000"/>
                </a:solidFill>
              </a:rPr>
              <a:t> </a:t>
            </a:r>
            <a:r>
              <a:rPr lang="en-US" altLang="zh-CN" kern="0" dirty="0">
                <a:solidFill>
                  <a:srgbClr val="FF0066"/>
                </a:solidFill>
              </a:rPr>
              <a:t>100 0000 1</a:t>
            </a:r>
            <a:r>
              <a:rPr lang="en-US" altLang="zh-CN" kern="0" dirty="0">
                <a:solidFill>
                  <a:srgbClr val="000000"/>
                </a:solidFill>
              </a:rPr>
              <a:t> </a:t>
            </a:r>
            <a:r>
              <a:rPr lang="en-US" altLang="zh-CN" kern="0" dirty="0">
                <a:solidFill>
                  <a:srgbClr val="0000FF"/>
                </a:solidFill>
              </a:rPr>
              <a:t>000 1100 0000 00</a:t>
            </a:r>
            <a:r>
              <a:rPr lang="en-US" altLang="zh-CN" kern="0" dirty="0">
                <a:solidFill>
                  <a:srgbClr val="0000FF"/>
                </a:solidFill>
                <a:latin typeface="宋体"/>
              </a:rPr>
              <a:t>……</a:t>
            </a:r>
            <a:r>
              <a:rPr lang="en-US" altLang="zh-CN" kern="0" dirty="0">
                <a:solidFill>
                  <a:srgbClr val="0000FF"/>
                </a:solidFill>
              </a:rPr>
              <a:t>0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C08C0000 H</a:t>
            </a:r>
            <a:endParaRPr kumimoji="0" lang="zh-CN" altLang="en-US" b="1" i="0" u="none" strike="noStrike" kern="0" cap="none" spc="0" normalizeH="0" baseline="3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6D10A0-1FBA-45CF-AC5D-30AF87A54013}"/>
              </a:ext>
            </a:extLst>
          </p:cNvPr>
          <p:cNvSpPr/>
          <p:nvPr/>
        </p:nvSpPr>
        <p:spPr>
          <a:xfrm>
            <a:off x="3979845" y="1791156"/>
            <a:ext cx="44085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＝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-1.0110 1101 1001 1</a:t>
            </a:r>
            <a:r>
              <a:rPr kumimoji="0" lang="en-US" altLang="zh-CN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2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×2</a:t>
            </a:r>
            <a:r>
              <a:rPr kumimoji="0" lang="en-US" altLang="zh-CN" i="0" u="none" strike="noStrike" kern="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8</a:t>
            </a:r>
            <a:endParaRPr kumimoji="0" lang="zh-CN" altLang="en-US" i="0" u="none" strike="noStrike" kern="0" cap="none" spc="0" normalizeH="0" baseline="3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764597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0D3B96E-7B92-4EDE-BC5B-462ABB838A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D1812E1F-F970-4373-877C-BF8F49A636C3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257033-CD07-4F8A-968F-D68306081E6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997843"/>
            <a:ext cx="8432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algn="l">
              <a:spcBef>
                <a:spcPts val="300"/>
              </a:spcBef>
              <a:buClr>
                <a:srgbClr val="00007D"/>
              </a:buClr>
              <a:buSzPct val="75000"/>
            </a:pP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已知带符号整数用补码表示，</a:t>
            </a:r>
            <a:endParaRPr lang="en-US" altLang="zh-CN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lvl="0" algn="l">
              <a:spcBef>
                <a:spcPts val="300"/>
              </a:spcBef>
              <a:buClr>
                <a:srgbClr val="00007D"/>
              </a:buClr>
              <a:buSzPct val="75000"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float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型数据用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IEEE 754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标准表示，</a:t>
            </a:r>
            <a:endParaRPr lang="en-US" altLang="zh-CN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lvl="0" algn="l">
              <a:spcBef>
                <a:spcPts val="300"/>
              </a:spcBef>
              <a:buClr>
                <a:srgbClr val="00007D"/>
              </a:buClr>
              <a:buSzPct val="75000"/>
            </a:pP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假定变量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的类型只能是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int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或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float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。</a:t>
            </a:r>
            <a:endParaRPr lang="en-US" altLang="zh-CN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lvl="0" algn="l">
              <a:spcBef>
                <a:spcPts val="300"/>
              </a:spcBef>
              <a:buClr>
                <a:srgbClr val="00007D"/>
              </a:buClr>
              <a:buSzPct val="75000"/>
            </a:pP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当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的机器数为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C800 0000H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时，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的值可能是：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6AA72D-372F-48DC-B6CB-349A394B055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09911" y="3218110"/>
            <a:ext cx="158988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lvl="0" algn="l">
              <a:buClr>
                <a:srgbClr val="D60093"/>
              </a:buClr>
              <a:buSzPct val="100000"/>
            </a:pPr>
            <a:r>
              <a:rPr lang="en-US" altLang="zh-CN" kern="0" dirty="0">
                <a:solidFill>
                  <a:srgbClr val="000000"/>
                </a:solidFill>
              </a:rPr>
              <a:t>-7×2</a:t>
            </a:r>
            <a:r>
              <a:rPr lang="en-US" altLang="zh-CN" kern="0" baseline="30000" dirty="0">
                <a:solidFill>
                  <a:srgbClr val="000000"/>
                </a:solidFill>
              </a:rPr>
              <a:t>27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1D1F2B-9A65-4E11-8538-11A2EEC4315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09911" y="3938190"/>
            <a:ext cx="158988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lvl="0" algn="l">
              <a:buClr>
                <a:srgbClr val="D60093"/>
              </a:buClr>
              <a:buSzPct val="100000"/>
            </a:pPr>
            <a:r>
              <a:rPr lang="en-US" altLang="zh-CN" kern="0" dirty="0">
                <a:solidFill>
                  <a:srgbClr val="000000"/>
                </a:solidFill>
              </a:rPr>
              <a:t>-2</a:t>
            </a:r>
            <a:r>
              <a:rPr lang="en-US" altLang="zh-CN" kern="0" baseline="30000" dirty="0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971BDA-D37A-4905-9185-236B0ACFBEA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911" y="4658270"/>
            <a:ext cx="158988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lvl="0" algn="l">
              <a:buClr>
                <a:srgbClr val="D60093"/>
              </a:buClr>
              <a:buSzPct val="100000"/>
            </a:pPr>
            <a:r>
              <a:rPr lang="en-US" altLang="zh-CN" kern="0" dirty="0">
                <a:solidFill>
                  <a:srgbClr val="000000"/>
                </a:solidFill>
              </a:rPr>
              <a:t>2</a:t>
            </a:r>
            <a:r>
              <a:rPr lang="en-US" altLang="zh-CN" kern="0" baseline="30000" dirty="0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A356BB-5EE2-46D2-881B-3B1A4F32C2A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09911" y="5357813"/>
            <a:ext cx="158988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lvl="0" algn="l">
              <a:buClr>
                <a:srgbClr val="D60093"/>
              </a:buClr>
              <a:buSzPct val="100000"/>
            </a:pPr>
            <a:r>
              <a:rPr lang="en-US" altLang="zh-CN" kern="0" dirty="0">
                <a:solidFill>
                  <a:srgbClr val="000000"/>
                </a:solidFill>
              </a:rPr>
              <a:t>25×2</a:t>
            </a:r>
            <a:r>
              <a:rPr lang="en-US" altLang="zh-CN" kern="0" baseline="30000" dirty="0">
                <a:solidFill>
                  <a:srgbClr val="000000"/>
                </a:solidFill>
              </a:rPr>
              <a:t>27</a:t>
            </a:r>
            <a:endParaRPr lang="zh-CN" altLang="en-US" kern="0" baseline="30000" dirty="0">
              <a:solidFill>
                <a:srgbClr val="000000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3DA5044-07DF-4E65-B0D7-5F5B8F73A4C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395536" y="328240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F31352F-A6F0-4E41-9A83-2197E7809C1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395536" y="400248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AAEB4EE-DC9D-4F61-9232-7250BD3F994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395536" y="472256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EE8E2D2-BE5B-4111-B573-D6524D915A6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395536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5318F7-3DEA-4865-9954-9F2FC74CE5D6}"/>
              </a:ext>
            </a:extLst>
          </p:cNvPr>
          <p:cNvSpPr/>
          <p:nvPr/>
        </p:nvSpPr>
        <p:spPr>
          <a:xfrm>
            <a:off x="0" y="652626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en-US" altLang="zh-CN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全国硕士研究生招生考试 计算机学科专业基础   一、单项选择题 第13题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BCCEA4-D113-480E-9098-146DD8BE035A}"/>
              </a:ext>
            </a:extLst>
          </p:cNvPr>
          <p:cNvSpPr txBox="1"/>
          <p:nvPr/>
        </p:nvSpPr>
        <p:spPr bwMode="auto">
          <a:xfrm>
            <a:off x="2546451" y="3068960"/>
            <a:ext cx="6562053" cy="2015936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FF0000"/>
                </a:solidFill>
              </a:rPr>
              <a:t>float :</a:t>
            </a:r>
            <a:r>
              <a:rPr lang="zh-CN" altLang="en-US" sz="2400">
                <a:solidFill>
                  <a:srgbClr val="0000FF"/>
                </a:solidFill>
              </a:rPr>
              <a:t>  </a:t>
            </a:r>
            <a:r>
              <a:rPr lang="en-US" altLang="zh-CN" sz="2400">
                <a:solidFill>
                  <a:srgbClr val="0000FF"/>
                </a:solidFill>
              </a:rPr>
              <a:t>1</a:t>
            </a:r>
            <a:r>
              <a:rPr lang="en-US" altLang="zh-CN" sz="2400" u="sng">
                <a:solidFill>
                  <a:srgbClr val="0000FF"/>
                </a:solidFill>
              </a:rPr>
              <a:t>100 1000 0</a:t>
            </a:r>
            <a:r>
              <a:rPr lang="en-US" altLang="zh-CN" sz="2400">
                <a:solidFill>
                  <a:srgbClr val="0000FF"/>
                </a:solidFill>
              </a:rPr>
              <a:t>000 0000 0000 0000 0000 0000</a:t>
            </a:r>
          </a:p>
          <a:p>
            <a:pPr algn="l">
              <a:spcBef>
                <a:spcPts val="600"/>
              </a:spcBef>
            </a:pPr>
            <a:r>
              <a:rPr lang="en-US" altLang="zh-CN" sz="240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CN" sz="2400">
                <a:solidFill>
                  <a:srgbClr val="008000"/>
                </a:solidFill>
              </a:rPr>
              <a:t>1.0×2</a:t>
            </a:r>
            <a:r>
              <a:rPr lang="en-US" altLang="zh-CN" sz="2400" i="1" baseline="50000">
                <a:solidFill>
                  <a:srgbClr val="008000"/>
                </a:solidFill>
              </a:rPr>
              <a:t>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i="1">
                <a:solidFill>
                  <a:srgbClr val="008000"/>
                </a:solidFill>
              </a:rPr>
              <a:t>n</a:t>
            </a:r>
            <a:r>
              <a:rPr lang="en-US" altLang="zh-CN" sz="2000" i="1">
                <a:solidFill>
                  <a:srgbClr val="008000"/>
                </a:solidFill>
              </a:rPr>
              <a:t> </a:t>
            </a:r>
            <a:r>
              <a:rPr lang="zh-CN" altLang="en-US" sz="2400">
                <a:solidFill>
                  <a:srgbClr val="008000"/>
                </a:solidFill>
              </a:rPr>
              <a:t>＝</a:t>
            </a:r>
            <a:r>
              <a:rPr lang="en-US" altLang="zh-CN" sz="2400">
                <a:solidFill>
                  <a:srgbClr val="008000"/>
                </a:solidFill>
              </a:rPr>
              <a:t>[</a:t>
            </a:r>
            <a:r>
              <a:rPr lang="en-US" altLang="zh-CN" sz="2400" i="1">
                <a:solidFill>
                  <a:srgbClr val="008000"/>
                </a:solidFill>
              </a:rPr>
              <a:t>n</a:t>
            </a:r>
            <a:r>
              <a:rPr lang="en-US" altLang="zh-CN" sz="2400">
                <a:solidFill>
                  <a:srgbClr val="008000"/>
                </a:solidFill>
              </a:rPr>
              <a:t>]</a:t>
            </a:r>
            <a:r>
              <a:rPr lang="zh-CN" altLang="en-US" sz="2400" baseline="-25000">
                <a:solidFill>
                  <a:srgbClr val="008000"/>
                </a:solidFill>
              </a:rPr>
              <a:t>移</a:t>
            </a:r>
            <a:r>
              <a:rPr lang="zh-CN" altLang="en-US" sz="2400">
                <a:solidFill>
                  <a:srgbClr val="008000"/>
                </a:solidFill>
              </a:rPr>
              <a:t>－</a:t>
            </a:r>
            <a:r>
              <a:rPr lang="en-US" altLang="zh-CN" sz="2400">
                <a:solidFill>
                  <a:srgbClr val="008000"/>
                </a:solidFill>
              </a:rPr>
              <a:t>01111111</a:t>
            </a:r>
            <a:r>
              <a:rPr lang="en-US" altLang="zh-CN" sz="2400" baseline="-25000">
                <a:solidFill>
                  <a:srgbClr val="008000"/>
                </a:solidFill>
              </a:rPr>
              <a:t>2</a:t>
            </a:r>
            <a:endParaRPr lang="zh-CN" altLang="en-US" sz="2400" i="1">
              <a:solidFill>
                <a:srgbClr val="008000"/>
              </a:solidFill>
            </a:endParaRPr>
          </a:p>
          <a:p>
            <a:pPr algn="l">
              <a:spcBef>
                <a:spcPts val="0"/>
              </a:spcBef>
            </a:pPr>
            <a:r>
              <a:rPr lang="zh-CN" altLang="en-US" sz="2400">
                <a:solidFill>
                  <a:srgbClr val="008000"/>
                </a:solidFill>
              </a:rPr>
              <a:t>   ＝</a:t>
            </a:r>
            <a:r>
              <a:rPr lang="en-US" altLang="zh-CN" sz="2400">
                <a:solidFill>
                  <a:srgbClr val="008000"/>
                </a:solidFill>
              </a:rPr>
              <a:t>10010000</a:t>
            </a:r>
            <a:r>
              <a:rPr lang="en-US" altLang="zh-CN" sz="2400" baseline="-25000">
                <a:solidFill>
                  <a:srgbClr val="008000"/>
                </a:solidFill>
              </a:rPr>
              <a:t>2</a:t>
            </a:r>
            <a:r>
              <a:rPr lang="zh-CN" altLang="en-US" sz="2400">
                <a:solidFill>
                  <a:srgbClr val="008000"/>
                </a:solidFill>
              </a:rPr>
              <a:t>－</a:t>
            </a:r>
            <a:r>
              <a:rPr lang="en-US" altLang="zh-CN" sz="2400">
                <a:solidFill>
                  <a:srgbClr val="008000"/>
                </a:solidFill>
              </a:rPr>
              <a:t>10000000</a:t>
            </a:r>
            <a:r>
              <a:rPr lang="en-US" altLang="zh-CN" sz="2400" baseline="-25000">
                <a:solidFill>
                  <a:srgbClr val="008000"/>
                </a:solidFill>
              </a:rPr>
              <a:t>2</a:t>
            </a:r>
            <a:r>
              <a:rPr lang="zh-CN" altLang="en-US" sz="2400">
                <a:solidFill>
                  <a:srgbClr val="008000"/>
                </a:solidFill>
              </a:rPr>
              <a:t>＋</a:t>
            </a:r>
            <a:r>
              <a:rPr lang="en-US" altLang="zh-CN" sz="2400">
                <a:solidFill>
                  <a:srgbClr val="008000"/>
                </a:solidFill>
              </a:rPr>
              <a:t>1</a:t>
            </a:r>
          </a:p>
          <a:p>
            <a:pPr algn="l">
              <a:spcBef>
                <a:spcPts val="0"/>
              </a:spcBef>
            </a:pPr>
            <a:r>
              <a:rPr lang="zh-CN" altLang="en-US" sz="2400">
                <a:solidFill>
                  <a:srgbClr val="008000"/>
                </a:solidFill>
              </a:rPr>
              <a:t>   ＝</a:t>
            </a:r>
            <a:r>
              <a:rPr lang="en-US" altLang="zh-CN" sz="2400">
                <a:solidFill>
                  <a:srgbClr val="008000"/>
                </a:solidFill>
              </a:rPr>
              <a:t>00010001</a:t>
            </a:r>
            <a:r>
              <a:rPr lang="en-US" altLang="zh-CN" sz="2400" baseline="-25000">
                <a:solidFill>
                  <a:srgbClr val="008000"/>
                </a:solidFill>
              </a:rPr>
              <a:t>2</a:t>
            </a:r>
            <a:endParaRPr lang="en-US" altLang="zh-CN" sz="2400" dirty="0">
              <a:solidFill>
                <a:srgbClr val="008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2C5CC9E-EEAE-4E8A-942C-E513EAD4A25F}"/>
              </a:ext>
            </a:extLst>
          </p:cNvPr>
          <p:cNvSpPr txBox="1"/>
          <p:nvPr/>
        </p:nvSpPr>
        <p:spPr bwMode="auto">
          <a:xfrm>
            <a:off x="2668905" y="4979738"/>
            <a:ext cx="5815053" cy="156966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FF0000"/>
                </a:solidFill>
              </a:rPr>
              <a:t>int :</a:t>
            </a:r>
            <a:r>
              <a:rPr lang="en-US" altLang="zh-CN" sz="2400"/>
              <a:t> </a:t>
            </a:r>
          </a:p>
          <a:p>
            <a:pPr marR="0" lvl="0" algn="l" defTabSz="914400" rtl="0" eaLnBrk="0" fontAlgn="base" latinLnBrk="0" hangingPunct="0"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>
                <a:solidFill>
                  <a:srgbClr val="0000FF"/>
                </a:solidFill>
              </a:rPr>
              <a:t>   </a:t>
            </a:r>
            <a:r>
              <a:rPr lang="en-US" altLang="zh-CN" sz="2400">
                <a:solidFill>
                  <a:srgbClr val="0000FF"/>
                </a:solidFill>
              </a:rPr>
              <a:t>1100 1000 0000 0000 0000 0000 0000 0000</a:t>
            </a:r>
            <a:endParaRPr lang="zh-CN" altLang="en-US" sz="2400">
              <a:solidFill>
                <a:srgbClr val="0000FF"/>
              </a:solidFill>
            </a:endParaRPr>
          </a:p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CN" sz="2400">
                <a:solidFill>
                  <a:srgbClr val="0000FF"/>
                </a:solidFill>
              </a:rPr>
              <a:t>0011 1000 0000 0000 0000 0000 0000 0000</a:t>
            </a:r>
          </a:p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zh-CN" sz="2400">
                <a:solidFill>
                  <a:srgbClr val="FF00FF"/>
                </a:solidFill>
              </a:rPr>
              <a:t>7×2</a:t>
            </a:r>
            <a:r>
              <a:rPr lang="en-US" altLang="zh-CN" sz="2400" baseline="30000">
                <a:solidFill>
                  <a:srgbClr val="FF00FF"/>
                </a:solidFill>
              </a:rPr>
              <a:t>27</a:t>
            </a:r>
            <a:endParaRPr lang="en-US" altLang="zh-CN" sz="2400" dirty="0">
              <a:solidFill>
                <a:srgbClr val="FF00FF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D747EB7-9D09-4800-9E35-C8B291070B2B}"/>
              </a:ext>
            </a:extLst>
          </p:cNvPr>
          <p:cNvSpPr txBox="1"/>
          <p:nvPr/>
        </p:nvSpPr>
        <p:spPr bwMode="auto">
          <a:xfrm>
            <a:off x="4470400" y="4605038"/>
            <a:ext cx="878766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＝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17</a:t>
            </a:r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686910C-3075-4E11-9549-4F1FFAE65764}"/>
              </a:ext>
            </a:extLst>
          </p:cNvPr>
          <p:cNvSpPr txBox="1"/>
          <p:nvPr/>
        </p:nvSpPr>
        <p:spPr bwMode="auto">
          <a:xfrm>
            <a:off x="3784792" y="3515641"/>
            <a:ext cx="1114408" cy="46166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＝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+mn-lt"/>
                <a:ea typeface="宋体" pitchFamily="2" charset="-122"/>
                <a:cs typeface="Courier New" panose="02070309020205020404" pitchFamily="49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-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0" lang="en-US" altLang="zh-CN" sz="2400" b="1" u="none" strike="noStrike" kern="1200" cap="none" spc="0" normalizeH="0" baseline="40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17</a:t>
            </a:r>
            <a:endParaRPr lang="zh-CN" altLang="en-US" baseline="40000">
              <a:solidFill>
                <a:srgbClr val="FF00FF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2941AB8-5A21-459F-879D-23694A48987D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5BDC5E6-6F47-4F09-B8C4-B84CF045362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8A4308CE-A5A5-4F1D-9A66-B98328EBCA2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D1C4921A-FBCB-4027-A678-93B86DAADF7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3706A30E-EB66-4F61-BA07-627F9C61553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C9A35E82-B2DD-4C45-81C5-391C14D0AA5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algn="l"/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A2132B9-2DE9-4E83-A4A7-A67DD80D57E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57175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0AFFB-8DBB-4DAE-BE5D-C33109C3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144A28-EDD4-4399-8613-C4174763ED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826F6BA-6593-4059-971F-BA1424D3F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836712"/>
            <a:ext cx="8497887" cy="575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0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7913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436688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1795463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总结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】IEEE754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标准的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移码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与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真值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之间的转换：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5FE2200-8885-4150-9D99-47A4795F6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844824"/>
            <a:ext cx="3672408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kern="0">
                <a:solidFill>
                  <a:srgbClr val="000000"/>
                </a:solidFill>
                <a:latin typeface="Times New Roman"/>
                <a:ea typeface="宋体"/>
              </a:rPr>
              <a:t>IEEE754</a:t>
            </a:r>
            <a:r>
              <a:rPr lang="zh-CN" altLang="en-US" kern="0">
                <a:solidFill>
                  <a:srgbClr val="000000"/>
                </a:solidFill>
                <a:latin typeface="Times New Roman"/>
                <a:ea typeface="宋体"/>
              </a:rPr>
              <a:t>标准的移码</a:t>
            </a:r>
            <a:endParaRPr lang="en-US" altLang="zh-CN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D4AACB0-D611-48D4-90F5-5CE0B78FF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208" y="1844824"/>
            <a:ext cx="2304256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kern="0">
                <a:solidFill>
                  <a:srgbClr val="0000FF"/>
                </a:solidFill>
                <a:latin typeface="黑体"/>
                <a:ea typeface="黑体"/>
              </a:rPr>
              <a:t>真值</a:t>
            </a:r>
            <a:r>
              <a:rPr lang="zh-CN" altLang="en-US" kern="0">
                <a:solidFill>
                  <a:srgbClr val="000000"/>
                </a:solidFill>
                <a:latin typeface="Times New Roman"/>
                <a:ea typeface="宋体"/>
              </a:rPr>
              <a:t>的补码</a:t>
            </a:r>
            <a:endParaRPr lang="en-US" altLang="zh-CN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AF2E6D0-5D76-43BF-B72A-2763C903B860}"/>
              </a:ext>
            </a:extLst>
          </p:cNvPr>
          <p:cNvCxnSpPr/>
          <p:nvPr/>
        </p:nvCxnSpPr>
        <p:spPr bwMode="auto">
          <a:xfrm>
            <a:off x="3779912" y="2132856"/>
            <a:ext cx="3024336" cy="0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987A8260-ECBE-4A8D-BE28-43F537A87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928" y="1628800"/>
            <a:ext cx="288032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</a:rPr>
              <a:t>①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加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</a:t>
            </a:r>
            <a:endParaRPr kumimoji="0" lang="en-US" altLang="zh-CN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宋体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E69212D-0757-4185-AC4F-2C27BCC41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928" y="2132856"/>
            <a:ext cx="288032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</a:rPr>
              <a:t>②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符号位取反</a:t>
            </a:r>
            <a:endParaRPr kumimoji="0" lang="en-US" altLang="zh-CN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8B06220-42FE-4682-813E-74CB0EAD4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3212976"/>
            <a:ext cx="2304256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kern="0">
                <a:solidFill>
                  <a:srgbClr val="000000"/>
                </a:solidFill>
                <a:latin typeface="Times New Roman"/>
                <a:ea typeface="宋体"/>
              </a:rPr>
              <a:t>真值的补码</a:t>
            </a:r>
            <a:endParaRPr lang="en-US" altLang="zh-CN" kern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C661D4F-73B7-4E12-A410-A5BACD9A4587}"/>
              </a:ext>
            </a:extLst>
          </p:cNvPr>
          <p:cNvCxnSpPr/>
          <p:nvPr/>
        </p:nvCxnSpPr>
        <p:spPr bwMode="auto">
          <a:xfrm>
            <a:off x="2339752" y="3501008"/>
            <a:ext cx="3024336" cy="0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3" name="Rectangle 3">
            <a:extLst>
              <a:ext uri="{FF2B5EF4-FFF2-40B4-BE49-F238E27FC236}">
                <a16:creationId xmlns:a16="http://schemas.microsoft.com/office/drawing/2014/main" id="{E8CB9BE0-C86D-40AC-B559-7C166DC4F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2996952"/>
            <a:ext cx="288032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kern="0" dirty="0">
                <a:solidFill>
                  <a:srgbClr val="FF0000"/>
                </a:solidFill>
                <a:latin typeface="Times New Roman"/>
                <a:ea typeface="宋体"/>
              </a:rPr>
              <a:t>① </a:t>
            </a:r>
            <a:r>
              <a:rPr lang="zh-CN" altLang="en-US" kern="0" dirty="0">
                <a:solidFill>
                  <a:srgbClr val="FF0000"/>
                </a:solidFill>
                <a:latin typeface="Times New Roman"/>
                <a:ea typeface="宋体"/>
              </a:rPr>
              <a:t>符号位取反</a:t>
            </a:r>
            <a:endParaRPr lang="en-US" altLang="zh-CN" kern="0" dirty="0">
              <a:solidFill>
                <a:srgbClr val="FF0000"/>
              </a:solidFill>
              <a:latin typeface="Times New Roman"/>
              <a:ea typeface="宋体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D7C5D80-142A-4DD6-B99B-E61D05744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3501008"/>
            <a:ext cx="288032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kern="0" dirty="0">
                <a:solidFill>
                  <a:srgbClr val="FF0000"/>
                </a:solidFill>
                <a:latin typeface="Times New Roman"/>
                <a:ea typeface="宋体"/>
              </a:rPr>
              <a:t>② </a:t>
            </a:r>
            <a:r>
              <a:rPr lang="zh-CN" altLang="en-US" kern="0" dirty="0">
                <a:solidFill>
                  <a:srgbClr val="FF0000"/>
                </a:solidFill>
                <a:latin typeface="Times New Roman"/>
                <a:ea typeface="宋体"/>
              </a:rPr>
              <a:t>减 </a:t>
            </a:r>
            <a:r>
              <a:rPr lang="en-US" altLang="zh-CN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2CAF72C-7CCE-4C7F-85CA-46471E74B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3212976"/>
            <a:ext cx="3672408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kern="0">
                <a:solidFill>
                  <a:srgbClr val="000000"/>
                </a:solidFill>
                <a:latin typeface="Times New Roman"/>
                <a:ea typeface="宋体"/>
              </a:rPr>
              <a:t>IEEE754</a:t>
            </a:r>
            <a:r>
              <a:rPr lang="zh-CN" altLang="en-US" kern="0">
                <a:solidFill>
                  <a:srgbClr val="000000"/>
                </a:solidFill>
                <a:latin typeface="Times New Roman"/>
                <a:ea typeface="宋体"/>
              </a:rPr>
              <a:t>标准的</a:t>
            </a:r>
            <a:r>
              <a:rPr lang="zh-CN" altLang="en-US" kern="0">
                <a:solidFill>
                  <a:srgbClr val="0000FF"/>
                </a:solidFill>
                <a:latin typeface="黑体"/>
                <a:ea typeface="黑体"/>
              </a:rPr>
              <a:t>移码</a:t>
            </a:r>
            <a:endParaRPr lang="en-US" altLang="zh-CN" kern="0">
              <a:solidFill>
                <a:srgbClr val="0000FF"/>
              </a:solidFill>
              <a:latin typeface="黑体"/>
              <a:ea typeface="黑体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997FAF-6AA3-4CD6-8B4E-44FC3A9812F0}"/>
              </a:ext>
            </a:extLst>
          </p:cNvPr>
          <p:cNvSpPr/>
          <p:nvPr/>
        </p:nvSpPr>
        <p:spPr>
          <a:xfrm>
            <a:off x="2911403" y="5246639"/>
            <a:ext cx="4036861" cy="1152128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[X]</a:t>
            </a:r>
            <a:r>
              <a:rPr kumimoji="0" lang="zh-CN" altLang="en-US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标准移码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＝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[X]</a:t>
            </a:r>
            <a:r>
              <a:rPr kumimoji="0" lang="en-US" altLang="zh-CN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754</a:t>
            </a:r>
            <a:r>
              <a:rPr kumimoji="0" lang="zh-CN" altLang="en-US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移码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＋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[X]</a:t>
            </a:r>
            <a:r>
              <a:rPr kumimoji="0" lang="en-US" altLang="zh-CN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754</a:t>
            </a:r>
            <a:r>
              <a:rPr kumimoji="0" lang="zh-CN" altLang="en-US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移码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＝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[X]</a:t>
            </a:r>
            <a:r>
              <a:rPr kumimoji="0" lang="zh-CN" altLang="en-US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标准移码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－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DD18CF-2B66-4914-9EA7-016A37AA6B57}"/>
              </a:ext>
            </a:extLst>
          </p:cNvPr>
          <p:cNvSpPr/>
          <p:nvPr/>
        </p:nvSpPr>
        <p:spPr>
          <a:xfrm>
            <a:off x="2915816" y="4398203"/>
            <a:ext cx="172675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偏移量为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1000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/>
                <a:ea typeface="宋体"/>
              </a:rPr>
              <a:t>……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00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6B7B62-A5E4-4B12-A239-236F2CAADE90}"/>
              </a:ext>
            </a:extLst>
          </p:cNvPr>
          <p:cNvSpPr/>
          <p:nvPr/>
        </p:nvSpPr>
        <p:spPr>
          <a:xfrm>
            <a:off x="4861469" y="4398203"/>
            <a:ext cx="172675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偏移量为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0111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/>
                <a:ea typeface="宋体"/>
              </a:rPr>
              <a:t>……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11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F0552E3-1519-4C3E-AAB1-8BC503515939}"/>
              </a:ext>
            </a:extLst>
          </p:cNvPr>
          <p:cNvCxnSpPr>
            <a:cxnSpLocks/>
          </p:cNvCxnSpPr>
          <p:nvPr/>
        </p:nvCxnSpPr>
        <p:spPr bwMode="auto">
          <a:xfrm flipV="1">
            <a:off x="3982541" y="5149049"/>
            <a:ext cx="0" cy="316798"/>
          </a:xfrm>
          <a:prstGeom prst="straightConnector1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6497B60-808A-47AB-B478-50F07E41774B}"/>
              </a:ext>
            </a:extLst>
          </p:cNvPr>
          <p:cNvCxnSpPr>
            <a:cxnSpLocks/>
          </p:cNvCxnSpPr>
          <p:nvPr/>
        </p:nvCxnSpPr>
        <p:spPr bwMode="auto">
          <a:xfrm flipV="1">
            <a:off x="5652120" y="5149049"/>
            <a:ext cx="0" cy="316798"/>
          </a:xfrm>
          <a:prstGeom prst="straightConnector1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58894238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09D03-C52A-439E-B884-84908A14E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43756F-681B-4509-9810-148D9437A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836712"/>
            <a:ext cx="8229600" cy="554469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8421 BCD </a:t>
            </a:r>
            <a:r>
              <a:rPr lang="zh-CN" altLang="en-US" dirty="0"/>
              <a:t>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字符编码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ASCII</a:t>
            </a:r>
            <a:r>
              <a:rPr lang="zh-CN" altLang="en-US"/>
              <a:t>码：</a:t>
            </a:r>
            <a:r>
              <a:rPr lang="en-US" altLang="zh-CN"/>
              <a:t>7</a:t>
            </a:r>
            <a:r>
              <a:rPr lang="zh-CN" altLang="en-US" dirty="0"/>
              <a:t>位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单字节，</a:t>
            </a:r>
            <a:b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>
                <a:ea typeface="宋体" panose="02010600030101010101" pitchFamily="2" charset="-122"/>
              </a:rPr>
              <a:t>传输时可以加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位奇偶校验位。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汉字编码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/>
              <a:t>GB18030</a:t>
            </a:r>
            <a:r>
              <a:rPr lang="zh-CN" altLang="en-US" dirty="0"/>
              <a:t>：双字节、四字节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/>
              <a:t>UTF-8</a:t>
            </a:r>
            <a:r>
              <a:rPr lang="zh-CN" altLang="en-US" dirty="0"/>
              <a:t>：三字节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105973-1E55-42DE-B540-67CB07949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14516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09D03-C52A-439E-B884-84908A14E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43756F-681B-4509-9810-148D9437A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836713"/>
            <a:ext cx="8229600" cy="7920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8421 BCD </a:t>
            </a:r>
            <a:r>
              <a:rPr lang="zh-CN" altLang="en-US" dirty="0"/>
              <a:t>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105973-1E55-42DE-B540-67CB07949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431F75A-B631-49E5-81DF-F8E3A8D2E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1680706"/>
            <a:ext cx="8712200" cy="576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kern="0" dirty="0"/>
              <a:t>【</a:t>
            </a:r>
            <a:r>
              <a:rPr lang="zh-CN" altLang="en-US" kern="0" dirty="0"/>
              <a:t>例</a:t>
            </a:r>
            <a:r>
              <a:rPr lang="en-US" altLang="zh-CN" kern="0" dirty="0"/>
              <a:t>】</a:t>
            </a:r>
            <a:r>
              <a:rPr lang="zh-CN" altLang="en-US" kern="0" dirty="0"/>
              <a:t>用一个字节，表示无符号数 </a:t>
            </a:r>
            <a:r>
              <a:rPr lang="en-US" altLang="zh-CN" kern="0" dirty="0"/>
              <a:t>64</a:t>
            </a:r>
            <a:r>
              <a:rPr lang="zh-CN" altLang="en-US" kern="0" dirty="0"/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2624BB-7B6D-4C58-9570-620BCD2A401B}"/>
              </a:ext>
            </a:extLst>
          </p:cNvPr>
          <p:cNvSpPr/>
          <p:nvPr/>
        </p:nvSpPr>
        <p:spPr>
          <a:xfrm>
            <a:off x="467544" y="2833380"/>
            <a:ext cx="46923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/>
              <a:t>用无符号二进制整数表示：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C9FF92-24C3-425C-BE2E-C3A74BF02DA2}"/>
              </a:ext>
            </a:extLst>
          </p:cNvPr>
          <p:cNvSpPr/>
          <p:nvPr/>
        </p:nvSpPr>
        <p:spPr>
          <a:xfrm>
            <a:off x="1001079" y="3356600"/>
            <a:ext cx="19207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dirty="0"/>
              <a:t>0100 0000 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4D276E-48D5-4F8B-BA69-464ECF0FE1E4}"/>
              </a:ext>
            </a:extLst>
          </p:cNvPr>
          <p:cNvSpPr/>
          <p:nvPr/>
        </p:nvSpPr>
        <p:spPr>
          <a:xfrm>
            <a:off x="2873287" y="3356600"/>
            <a:ext cx="30668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/>
              <a:t>（范围：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255</a:t>
            </a:r>
            <a:r>
              <a:rPr lang="zh-CN" altLang="en-US" dirty="0"/>
              <a:t>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549EE8-D6B6-4D80-B241-6558EDB5D722}"/>
              </a:ext>
            </a:extLst>
          </p:cNvPr>
          <p:cNvSpPr/>
          <p:nvPr/>
        </p:nvSpPr>
        <p:spPr>
          <a:xfrm>
            <a:off x="467544" y="4552983"/>
            <a:ext cx="3828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/>
              <a:t>用压缩的</a:t>
            </a:r>
            <a:r>
              <a:rPr lang="en-US" altLang="zh-CN" dirty="0"/>
              <a:t>BCD</a:t>
            </a:r>
            <a:r>
              <a:rPr lang="zh-CN" altLang="en-US" dirty="0"/>
              <a:t>码表示：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C07FD7-0AEE-49A8-83A7-03C3246BB4BB}"/>
              </a:ext>
            </a:extLst>
          </p:cNvPr>
          <p:cNvSpPr/>
          <p:nvPr/>
        </p:nvSpPr>
        <p:spPr>
          <a:xfrm>
            <a:off x="1001079" y="5076203"/>
            <a:ext cx="19009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dirty="0"/>
              <a:t>0110 0100 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B66F95-1A55-44F4-BD9F-2E46353944B5}"/>
              </a:ext>
            </a:extLst>
          </p:cNvPr>
          <p:cNvSpPr/>
          <p:nvPr/>
        </p:nvSpPr>
        <p:spPr>
          <a:xfrm>
            <a:off x="2873287" y="5076203"/>
            <a:ext cx="28873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/>
              <a:t>（范围：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99</a:t>
            </a:r>
            <a:r>
              <a:rPr lang="zh-CN" altLang="en-US" dirty="0"/>
              <a:t>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F371A1-1FE7-42E5-AB98-4146372A84EF}"/>
              </a:ext>
            </a:extLst>
          </p:cNvPr>
          <p:cNvSpPr/>
          <p:nvPr/>
        </p:nvSpPr>
        <p:spPr>
          <a:xfrm>
            <a:off x="2555776" y="3903029"/>
            <a:ext cx="29258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>
                <a:solidFill>
                  <a:srgbClr val="CC0099"/>
                </a:solidFill>
              </a:rPr>
              <a:t>解释成 </a:t>
            </a:r>
            <a:r>
              <a:rPr lang="en-US" altLang="zh-CN" dirty="0">
                <a:solidFill>
                  <a:srgbClr val="CC0099"/>
                </a:solidFill>
              </a:rPr>
              <a:t>BCD </a:t>
            </a:r>
            <a:r>
              <a:rPr lang="zh-CN" altLang="en-US" dirty="0">
                <a:solidFill>
                  <a:srgbClr val="CC0099"/>
                </a:solidFill>
              </a:rPr>
              <a:t>码：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AEEB3B-3FCF-4F5A-868A-BD97EA979874}"/>
              </a:ext>
            </a:extLst>
          </p:cNvPr>
          <p:cNvSpPr/>
          <p:nvPr/>
        </p:nvSpPr>
        <p:spPr>
          <a:xfrm>
            <a:off x="5252397" y="3903029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dirty="0">
                <a:solidFill>
                  <a:srgbClr val="CC0099"/>
                </a:solidFill>
              </a:rPr>
              <a:t>40</a:t>
            </a:r>
            <a:endParaRPr lang="zh-CN" altLang="en-US" dirty="0">
              <a:solidFill>
                <a:srgbClr val="CC0099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D62447-F6FF-43F8-966F-BDAA0E4AEB0D}"/>
              </a:ext>
            </a:extLst>
          </p:cNvPr>
          <p:cNvSpPr/>
          <p:nvPr/>
        </p:nvSpPr>
        <p:spPr>
          <a:xfrm>
            <a:off x="2555776" y="5642084"/>
            <a:ext cx="45127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>
                <a:solidFill>
                  <a:srgbClr val="0000FF"/>
                </a:solidFill>
              </a:rPr>
              <a:t>解释成无符号二进制整数：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4CA834-FC50-4244-8BFA-508A431252B9}"/>
              </a:ext>
            </a:extLst>
          </p:cNvPr>
          <p:cNvSpPr/>
          <p:nvPr/>
        </p:nvSpPr>
        <p:spPr>
          <a:xfrm>
            <a:off x="6836573" y="5642084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dirty="0">
                <a:solidFill>
                  <a:srgbClr val="0000FF"/>
                </a:solidFill>
              </a:rPr>
              <a:t>100</a:t>
            </a:r>
            <a:endParaRPr lang="zh-CN" altLang="en-US" dirty="0">
              <a:solidFill>
                <a:srgbClr val="0000FF"/>
              </a:solidFill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915C96E-9AE9-4916-843A-230383179F8D}"/>
              </a:ext>
            </a:extLst>
          </p:cNvPr>
          <p:cNvCxnSpPr/>
          <p:nvPr/>
        </p:nvCxnSpPr>
        <p:spPr bwMode="auto">
          <a:xfrm>
            <a:off x="1115616" y="3731489"/>
            <a:ext cx="1440160" cy="0"/>
          </a:xfrm>
          <a:prstGeom prst="line">
            <a:avLst/>
          </a:prstGeom>
          <a:noFill/>
          <a:ln w="7620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178B967-0831-4849-A745-AAD71BCB5010}"/>
              </a:ext>
            </a:extLst>
          </p:cNvPr>
          <p:cNvCxnSpPr/>
          <p:nvPr/>
        </p:nvCxnSpPr>
        <p:spPr bwMode="auto">
          <a:xfrm>
            <a:off x="1115616" y="5455407"/>
            <a:ext cx="1440160" cy="0"/>
          </a:xfrm>
          <a:prstGeom prst="line">
            <a:avLst/>
          </a:prstGeom>
          <a:noFill/>
          <a:ln w="76200" cap="flat" cmpd="sng" algn="ctr">
            <a:solidFill>
              <a:srgbClr val="0000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F4C604-DFCE-4789-8AB0-E0FD76B055D7}"/>
              </a:ext>
            </a:extLst>
          </p:cNvPr>
          <p:cNvCxnSpPr/>
          <p:nvPr/>
        </p:nvCxnSpPr>
        <p:spPr bwMode="auto">
          <a:xfrm>
            <a:off x="1835696" y="3731489"/>
            <a:ext cx="0" cy="427774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557BE28-8A48-4EA9-A76B-446193852A56}"/>
              </a:ext>
            </a:extLst>
          </p:cNvPr>
          <p:cNvCxnSpPr>
            <a:endCxn id="12" idx="1"/>
          </p:cNvCxnSpPr>
          <p:nvPr/>
        </p:nvCxnSpPr>
        <p:spPr bwMode="auto">
          <a:xfrm>
            <a:off x="1835696" y="4159263"/>
            <a:ext cx="720080" cy="5376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5BE3C0E-9F99-4ADB-AC69-88A576A458A7}"/>
              </a:ext>
            </a:extLst>
          </p:cNvPr>
          <p:cNvCxnSpPr/>
          <p:nvPr/>
        </p:nvCxnSpPr>
        <p:spPr bwMode="auto">
          <a:xfrm>
            <a:off x="1835696" y="5480297"/>
            <a:ext cx="0" cy="427774"/>
          </a:xfrm>
          <a:prstGeom prst="line">
            <a:avLst/>
          </a:prstGeom>
          <a:noFill/>
          <a:ln w="28575" cap="rnd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C63799F-D2FB-4EB0-A320-3194CFC5DBBE}"/>
              </a:ext>
            </a:extLst>
          </p:cNvPr>
          <p:cNvCxnSpPr/>
          <p:nvPr/>
        </p:nvCxnSpPr>
        <p:spPr bwMode="auto">
          <a:xfrm>
            <a:off x="1835696" y="5908071"/>
            <a:ext cx="720080" cy="5376"/>
          </a:xfrm>
          <a:prstGeom prst="line">
            <a:avLst/>
          </a:prstGeom>
          <a:noFill/>
          <a:ln w="28575" cap="rnd" cmpd="sng" algn="ctr">
            <a:solidFill>
              <a:srgbClr val="00B0F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</p:spTree>
    <p:extLst>
      <p:ext uri="{BB962C8B-B14F-4D97-AF65-F5344CB8AC3E}">
        <p14:creationId xmlns:p14="http://schemas.microsoft.com/office/powerpoint/2010/main" val="5462211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09D03-C52A-439E-B884-84908A14E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43756F-681B-4509-9810-148D9437A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692696"/>
            <a:ext cx="8229600" cy="5616624"/>
          </a:xfrm>
        </p:spPr>
        <p:txBody>
          <a:bodyPr/>
          <a:lstStyle/>
          <a:p>
            <a:r>
              <a:rPr lang="zh-CN" altLang="en-US" dirty="0"/>
              <a:t>检错与纠错编码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奇偶校验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海明码</a:t>
            </a:r>
            <a:endParaRPr lang="en-US" altLang="zh-CN" dirty="0"/>
          </a:p>
          <a:p>
            <a:pPr lvl="2"/>
            <a:r>
              <a:rPr lang="zh-CN" altLang="en-US" dirty="0"/>
              <a:t>纠正一位错误，需几</a:t>
            </a:r>
            <a:r>
              <a:rPr lang="zh-CN" altLang="en-US"/>
              <a:t>位编码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海</a:t>
            </a:r>
            <a:r>
              <a:rPr lang="zh-CN" altLang="en-US" dirty="0"/>
              <a:t>明码编码方法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循环冗余校验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/>
              <a:t>CRC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/>
              <a:t>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105973-1E55-42DE-B540-67CB07949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DEFF41F-52BC-4220-975A-FC50EF110C27}"/>
              </a:ext>
            </a:extLst>
          </p:cNvPr>
          <p:cNvSpPr txBox="1">
            <a:spLocks/>
          </p:cNvSpPr>
          <p:nvPr/>
        </p:nvSpPr>
        <p:spPr bwMode="auto">
          <a:xfrm>
            <a:off x="2050206" y="4237079"/>
            <a:ext cx="2818656" cy="720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kern="0"/>
              <a:t>2</a:t>
            </a:r>
            <a:r>
              <a:rPr lang="en-US" altLang="zh-CN" i="1" kern="0" baseline="30000"/>
              <a:t>k </a:t>
            </a:r>
            <a:r>
              <a:rPr lang="zh-CN" altLang="en-US" kern="0">
                <a:solidFill>
                  <a:srgbClr val="000000"/>
                </a:solidFill>
                <a:latin typeface="+mn-ea"/>
                <a:cs typeface="Times New Roman" pitchFamily="18" charset="0"/>
              </a:rPr>
              <a:t>≥</a:t>
            </a:r>
            <a:r>
              <a:rPr lang="zh-CN" altLang="en-US" kern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i="1" kern="0"/>
              <a:t>n</a:t>
            </a:r>
            <a:r>
              <a:rPr lang="zh-CN" altLang="en-US" kern="0"/>
              <a:t>＋</a:t>
            </a:r>
            <a:r>
              <a:rPr lang="en-US" altLang="zh-CN" i="1" kern="0"/>
              <a:t>k</a:t>
            </a:r>
            <a:r>
              <a:rPr lang="zh-CN" altLang="en-US" kern="0"/>
              <a:t>＋</a:t>
            </a:r>
            <a:r>
              <a:rPr lang="en-US" altLang="zh-CN" kern="0"/>
              <a:t>1</a:t>
            </a:r>
            <a:endParaRPr lang="zh-CN" altLang="en-US" kern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A4ABBA-AB96-4C66-A864-31DB9FF3F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425" y="3429645"/>
            <a:ext cx="2232025" cy="576262"/>
          </a:xfrm>
          <a:prstGeom prst="rect">
            <a:avLst/>
          </a:prstGeom>
          <a:solidFill>
            <a:srgbClr val="CCFF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dirty="0"/>
              <a:t>数据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3A7447-9032-46B0-B57A-AD0FACF9E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429645"/>
            <a:ext cx="1657350" cy="576262"/>
          </a:xfrm>
          <a:prstGeom prst="rect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校验码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FEADCB5F-5E9C-4E4D-BB24-F45963377194}"/>
              </a:ext>
            </a:extLst>
          </p:cNvPr>
          <p:cNvSpPr>
            <a:spLocks/>
          </p:cNvSpPr>
          <p:nvPr/>
        </p:nvSpPr>
        <p:spPr bwMode="auto">
          <a:xfrm rot="16200000">
            <a:off x="5769769" y="3105001"/>
            <a:ext cx="215900" cy="2160587"/>
          </a:xfrm>
          <a:prstGeom prst="leftBrace">
            <a:avLst>
              <a:gd name="adj1" fmla="val 65418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7D9FEBA1-1FB4-44FD-BACD-CF1CA059D33E}"/>
              </a:ext>
            </a:extLst>
          </p:cNvPr>
          <p:cNvSpPr>
            <a:spLocks/>
          </p:cNvSpPr>
          <p:nvPr/>
        </p:nvSpPr>
        <p:spPr bwMode="auto">
          <a:xfrm rot="16200000">
            <a:off x="7786688" y="3393132"/>
            <a:ext cx="215900" cy="1584325"/>
          </a:xfrm>
          <a:prstGeom prst="leftBrace">
            <a:avLst>
              <a:gd name="adj1" fmla="val 65433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C9D82254-A8D0-4E04-BAFC-BFC7C351A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7" y="4221807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</a:rPr>
              <a:t>n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9073015F-FC59-441C-8F99-1A408B7F5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837" y="4221807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</a:rPr>
              <a:t>k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8D97221F-8C1C-4B02-9479-6B6A55164BA2}"/>
              </a:ext>
            </a:extLst>
          </p:cNvPr>
          <p:cNvSpPr>
            <a:spLocks/>
          </p:cNvSpPr>
          <p:nvPr/>
        </p:nvSpPr>
        <p:spPr bwMode="auto">
          <a:xfrm rot="5400000" flipV="1">
            <a:off x="6634163" y="1303982"/>
            <a:ext cx="215900" cy="3889375"/>
          </a:xfrm>
          <a:prstGeom prst="leftBrace">
            <a:avLst>
              <a:gd name="adj1" fmla="val 68306"/>
              <a:gd name="adj2" fmla="val 50000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759ADFE7-8E50-4825-A437-78C6A92DE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0963" y="2708920"/>
            <a:ext cx="2665413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</a:rPr>
              <a:t>码字：</a:t>
            </a:r>
            <a:r>
              <a:rPr lang="en-US" altLang="zh-CN" i="1" dirty="0">
                <a:solidFill>
                  <a:srgbClr val="FF3300"/>
                </a:solidFill>
              </a:rPr>
              <a:t>m</a:t>
            </a:r>
            <a:r>
              <a:rPr lang="zh-CN" altLang="en-US" dirty="0">
                <a:solidFill>
                  <a:srgbClr val="FF3300"/>
                </a:solidFill>
              </a:rPr>
              <a:t>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3A83E3-8A36-424B-AF59-F034F424166E}"/>
              </a:ext>
            </a:extLst>
          </p:cNvPr>
          <p:cNvSpPr/>
          <p:nvPr/>
        </p:nvSpPr>
        <p:spPr>
          <a:xfrm>
            <a:off x="697139" y="3299395"/>
            <a:ext cx="397095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要求可以纠正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位错误，</a:t>
            </a:r>
            <a:endParaRPr lang="en-US" altLang="zh-CN" dirty="0">
              <a:solidFill>
                <a:srgbClr val="C00000"/>
              </a:solidFill>
            </a:endParaRPr>
          </a:p>
          <a:p>
            <a:pPr algn="r">
              <a:spcBef>
                <a:spcPts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设计码字格式：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D949E31-6859-4374-868F-BF55D1B0F3A5}"/>
              </a:ext>
            </a:extLst>
          </p:cNvPr>
          <p:cNvCxnSpPr/>
          <p:nvPr/>
        </p:nvCxnSpPr>
        <p:spPr bwMode="auto">
          <a:xfrm>
            <a:off x="2109005" y="4722022"/>
            <a:ext cx="2097633" cy="0"/>
          </a:xfrm>
          <a:prstGeom prst="line">
            <a:avLst/>
          </a:prstGeom>
          <a:noFill/>
          <a:ln w="76200" cap="flat" cmpd="sng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9664637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59E44-9857-49CF-89A6-DC9D5A50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FE4C6A-924B-4B0F-891A-256DB36D8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11"/>
            <a:ext cx="8362950" cy="1512246"/>
          </a:xfrm>
        </p:spPr>
        <p:txBody>
          <a:bodyPr/>
          <a:lstStyle/>
          <a:p>
            <a:pPr marL="0" lvl="0" indent="0" eaLnBrk="0" hangingPunct="0">
              <a:spcBef>
                <a:spcPct val="20000"/>
              </a:spcBef>
              <a:buClr>
                <a:srgbClr val="00007D"/>
              </a:buClr>
              <a:buNone/>
            </a:pPr>
            <a:r>
              <a:rPr lang="zh-CN" altLang="en-US" dirty="0">
                <a:solidFill>
                  <a:srgbClr val="000000"/>
                </a:solidFill>
              </a:rPr>
              <a:t>约定生成多项式为</a:t>
            </a:r>
            <a:r>
              <a:rPr lang="en-US" altLang="zh-CN" dirty="0">
                <a:solidFill>
                  <a:srgbClr val="000000"/>
                </a:solidFill>
              </a:rPr>
              <a:t>G(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</a:rPr>
              <a:t>3</a:t>
            </a:r>
            <a:r>
              <a:rPr lang="zh-CN" altLang="en-US" dirty="0">
                <a:solidFill>
                  <a:srgbClr val="000000"/>
                </a:solidFill>
              </a:rPr>
              <a:t>＋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，试计算下述信息字的</a:t>
            </a:r>
            <a:r>
              <a:rPr lang="en-US" altLang="zh-CN" dirty="0">
                <a:solidFill>
                  <a:srgbClr val="000000"/>
                </a:solidFill>
              </a:rPr>
              <a:t>CRC</a:t>
            </a:r>
            <a:r>
              <a:rPr lang="zh-CN" altLang="en-US" dirty="0">
                <a:solidFill>
                  <a:srgbClr val="000000"/>
                </a:solidFill>
              </a:rPr>
              <a:t>编码字，并在接收端进行除法校验。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lvl="0" indent="0" eaLnBrk="0" hangingPunct="0">
              <a:spcBef>
                <a:spcPct val="20000"/>
              </a:spcBef>
              <a:buClr>
                <a:srgbClr val="00007D"/>
              </a:buClr>
              <a:buNone/>
            </a:pPr>
            <a:r>
              <a:rPr lang="en-US" altLang="zh-CN" dirty="0">
                <a:solidFill>
                  <a:srgbClr val="000000"/>
                </a:solidFill>
              </a:rPr>
              <a:t>① 1010110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5A1F2A-AAAF-4ACA-985C-3E68671A5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BBF55D-1425-4BC9-A844-D5A6282D893D}"/>
              </a:ext>
            </a:extLst>
          </p:cNvPr>
          <p:cNvSpPr/>
          <p:nvPr/>
        </p:nvSpPr>
        <p:spPr>
          <a:xfrm>
            <a:off x="6155717" y="86560"/>
            <a:ext cx="27238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P56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，习题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FF8DCD-C8AB-4BF4-AA4B-2130B25B6AA0}"/>
              </a:ext>
            </a:extLst>
          </p:cNvPr>
          <p:cNvSpPr/>
          <p:nvPr/>
        </p:nvSpPr>
        <p:spPr>
          <a:xfrm>
            <a:off x="457200" y="2060848"/>
            <a:ext cx="3047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生成多项式：</a:t>
            </a:r>
            <a:r>
              <a:rPr lang="en-US" altLang="zh-CN" dirty="0">
                <a:solidFill>
                  <a:srgbClr val="0000FF"/>
                </a:solidFill>
              </a:rPr>
              <a:t>1011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8FC0CDC-E64B-4AA8-A8F4-817E7B85B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119" y="3573094"/>
            <a:ext cx="25193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dirty="0">
                <a:latin typeface="Courier New" pitchFamily="49" charset="0"/>
              </a:rPr>
              <a:t>1010110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000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2909B328-F06D-4DC0-BEED-5D59743E0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057" y="3573094"/>
            <a:ext cx="122555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dirty="0">
                <a:latin typeface="Courier New" pitchFamily="49" charset="0"/>
              </a:rPr>
              <a:t>1011</a:t>
            </a:r>
            <a:endParaRPr lang="en-US" altLang="zh-CN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7147A99B-FFED-4A0A-B9C8-4B703EF14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6997" y="3947744"/>
            <a:ext cx="122555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dirty="0">
                <a:latin typeface="Courier New" pitchFamily="49" charset="0"/>
              </a:rPr>
              <a:t>1011</a:t>
            </a:r>
            <a:endParaRPr lang="en-US" altLang="zh-CN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E517AB1D-D416-4AE2-A808-231E6DBBD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019" y="3587382"/>
            <a:ext cx="2232025" cy="0"/>
          </a:xfrm>
          <a:prstGeom prst="line">
            <a:avLst/>
          </a:prstGeom>
          <a:noFill/>
          <a:ln w="28575" cap="rnd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7BD00B69-4906-4087-B489-C2F8D0D80DD6}"/>
              </a:ext>
            </a:extLst>
          </p:cNvPr>
          <p:cNvSpPr>
            <a:spLocks/>
          </p:cNvSpPr>
          <p:nvPr/>
        </p:nvSpPr>
        <p:spPr bwMode="auto">
          <a:xfrm>
            <a:off x="1402557" y="3587382"/>
            <a:ext cx="144462" cy="504825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227" y="408"/>
              </a:cxn>
              <a:cxn ang="0">
                <a:pos x="0" y="590"/>
              </a:cxn>
            </a:cxnLst>
            <a:rect l="0" t="0" r="r" b="b"/>
            <a:pathLst>
              <a:path w="272" h="590">
                <a:moveTo>
                  <a:pt x="272" y="0"/>
                </a:moveTo>
                <a:cubicBezTo>
                  <a:pt x="272" y="155"/>
                  <a:pt x="272" y="310"/>
                  <a:pt x="227" y="408"/>
                </a:cubicBezTo>
                <a:cubicBezTo>
                  <a:pt x="182" y="506"/>
                  <a:pt x="91" y="548"/>
                  <a:pt x="0" y="590"/>
                </a:cubicBezTo>
              </a:path>
            </a:pathLst>
          </a:custGeom>
          <a:noFill/>
          <a:ln w="28575" cap="rnd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D57249AE-0036-4550-A008-A9C60150C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5582" y="4417644"/>
            <a:ext cx="159853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A1B0329F-558D-4BE4-A1E9-CE0DDC505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166" y="3979495"/>
            <a:ext cx="0" cy="57656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F96FE0-E526-4E02-81D0-C7FD334A6A62}"/>
              </a:ext>
            </a:extLst>
          </p:cNvPr>
          <p:cNvSpPr/>
          <p:nvPr/>
        </p:nvSpPr>
        <p:spPr>
          <a:xfrm>
            <a:off x="2183079" y="4366530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1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5F97C1-2AF0-4874-A502-3F65C60A7405}"/>
              </a:ext>
            </a:extLst>
          </p:cNvPr>
          <p:cNvSpPr/>
          <p:nvPr/>
        </p:nvSpPr>
        <p:spPr>
          <a:xfrm>
            <a:off x="2408213" y="4366530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1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261888C-B1B6-4462-9EC7-0F61BDDC0469}"/>
              </a:ext>
            </a:extLst>
          </p:cNvPr>
          <p:cNvSpPr/>
          <p:nvPr/>
        </p:nvSpPr>
        <p:spPr>
          <a:xfrm>
            <a:off x="2616717" y="4366530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1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F436DA4-5AFD-470B-BDF0-71697AE5482C}"/>
              </a:ext>
            </a:extLst>
          </p:cNvPr>
          <p:cNvSpPr/>
          <p:nvPr/>
        </p:nvSpPr>
        <p:spPr>
          <a:xfrm>
            <a:off x="2823475" y="4366530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0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AF9C388-8C67-4D20-9A65-7FC2B48ABB53}"/>
              </a:ext>
            </a:extLst>
          </p:cNvPr>
          <p:cNvSpPr/>
          <p:nvPr/>
        </p:nvSpPr>
        <p:spPr>
          <a:xfrm>
            <a:off x="2183079" y="3113929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1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75789CC-7F82-4CD7-82AB-F429B14E79FA}"/>
              </a:ext>
            </a:extLst>
          </p:cNvPr>
          <p:cNvSpPr/>
          <p:nvPr/>
        </p:nvSpPr>
        <p:spPr>
          <a:xfrm>
            <a:off x="2374187" y="3113929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0</a:t>
            </a:r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B57AB53-BF53-43D3-8BE4-BBD8C9901708}"/>
              </a:ext>
            </a:extLst>
          </p:cNvPr>
          <p:cNvSpPr/>
          <p:nvPr/>
        </p:nvSpPr>
        <p:spPr>
          <a:xfrm>
            <a:off x="2590839" y="3113929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0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1111A18-EC9D-4950-9617-D77BEE63A4E1}"/>
              </a:ext>
            </a:extLst>
          </p:cNvPr>
          <p:cNvSpPr/>
          <p:nvPr/>
        </p:nvSpPr>
        <p:spPr>
          <a:xfrm>
            <a:off x="2807825" y="3113929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1</a:t>
            </a:r>
            <a:endParaRPr lang="zh-CN" altLang="en-US" dirty="0"/>
          </a:p>
        </p:txBody>
      </p:sp>
      <p:sp>
        <p:nvSpPr>
          <p:cNvPr id="36" name="Text Box 5">
            <a:extLst>
              <a:ext uri="{FF2B5EF4-FFF2-40B4-BE49-F238E27FC236}">
                <a16:creationId xmlns:a16="http://schemas.microsoft.com/office/drawing/2014/main" id="{8002178E-0F3B-413D-8985-379C3E61A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942" y="4692025"/>
            <a:ext cx="122555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dirty="0">
                <a:latin typeface="Courier New" pitchFamily="49" charset="0"/>
              </a:rPr>
              <a:t>1011</a:t>
            </a:r>
            <a:endParaRPr lang="en-US" altLang="zh-CN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37" name="Line 22">
            <a:extLst>
              <a:ext uri="{FF2B5EF4-FFF2-40B4-BE49-F238E27FC236}">
                <a16:creationId xmlns:a16="http://schemas.microsoft.com/office/drawing/2014/main" id="{00B74B9E-BDC9-4D9D-A474-EDB81329FF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7681" y="3979495"/>
            <a:ext cx="0" cy="57656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38" name="Line 22">
            <a:extLst>
              <a:ext uri="{FF2B5EF4-FFF2-40B4-BE49-F238E27FC236}">
                <a16:creationId xmlns:a16="http://schemas.microsoft.com/office/drawing/2014/main" id="{D1406EE5-92C6-42CA-96C3-D7D04193F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6185" y="3979495"/>
            <a:ext cx="0" cy="57656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39" name="Line 17">
            <a:extLst>
              <a:ext uri="{FF2B5EF4-FFF2-40B4-BE49-F238E27FC236}">
                <a16:creationId xmlns:a16="http://schemas.microsoft.com/office/drawing/2014/main" id="{62A2F2DB-0676-4BE1-B178-1F09AE1C0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602" y="5132118"/>
            <a:ext cx="1368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AB756679-9FFA-4A45-9D75-EE9875FD1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942" y="5106068"/>
            <a:ext cx="122555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dirty="0">
                <a:latin typeface="Courier New" pitchFamily="49" charset="0"/>
              </a:rPr>
              <a:t>101</a:t>
            </a:r>
            <a:endParaRPr lang="en-US" altLang="zh-CN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AA2A7F5-AF8E-4A9F-A427-2285E470E962}"/>
              </a:ext>
            </a:extLst>
          </p:cNvPr>
          <p:cNvSpPr/>
          <p:nvPr/>
        </p:nvSpPr>
        <p:spPr>
          <a:xfrm>
            <a:off x="3029759" y="5106292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2" name="Line 22">
            <a:extLst>
              <a:ext uri="{FF2B5EF4-FFF2-40B4-BE49-F238E27FC236}">
                <a16:creationId xmlns:a16="http://schemas.microsoft.com/office/drawing/2014/main" id="{1D97865E-EC11-4903-9A09-E5EBFF50A2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9492" y="3979494"/>
            <a:ext cx="0" cy="1231643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1C3101D-DEF1-4B4D-A8D3-87CFCFC9464E}"/>
              </a:ext>
            </a:extLst>
          </p:cNvPr>
          <p:cNvSpPr/>
          <p:nvPr/>
        </p:nvSpPr>
        <p:spPr>
          <a:xfrm>
            <a:off x="3023209" y="3113929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1</a:t>
            </a:r>
            <a:endParaRPr lang="zh-CN" altLang="en-US" dirty="0"/>
          </a:p>
        </p:txBody>
      </p:sp>
      <p:sp>
        <p:nvSpPr>
          <p:cNvPr id="44" name="Text Box 5">
            <a:extLst>
              <a:ext uri="{FF2B5EF4-FFF2-40B4-BE49-F238E27FC236}">
                <a16:creationId xmlns:a16="http://schemas.microsoft.com/office/drawing/2014/main" id="{A7CFBC65-D0ED-4C02-A8D9-514CDAA49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0700" y="5427455"/>
            <a:ext cx="122555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dirty="0">
                <a:latin typeface="Courier New" pitchFamily="49" charset="0"/>
              </a:rPr>
              <a:t>1011</a:t>
            </a:r>
            <a:endParaRPr lang="en-US" altLang="zh-CN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45" name="Line 17">
            <a:extLst>
              <a:ext uri="{FF2B5EF4-FFF2-40B4-BE49-F238E27FC236}">
                <a16:creationId xmlns:a16="http://schemas.microsoft.com/office/drawing/2014/main" id="{A13DA4D5-29E1-428C-9E06-365F9587E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3976" y="5860824"/>
            <a:ext cx="1368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5C7A6FC-30D4-4E49-A190-D506A6591498}"/>
              </a:ext>
            </a:extLst>
          </p:cNvPr>
          <p:cNvSpPr/>
          <p:nvPr/>
        </p:nvSpPr>
        <p:spPr>
          <a:xfrm>
            <a:off x="3045201" y="5798505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1</a:t>
            </a:r>
            <a:endParaRPr lang="zh-CN" altLang="en-US" dirty="0"/>
          </a:p>
        </p:txBody>
      </p:sp>
      <p:sp>
        <p:nvSpPr>
          <p:cNvPr id="47" name="Line 22">
            <a:extLst>
              <a:ext uri="{FF2B5EF4-FFF2-40B4-BE49-F238E27FC236}">
                <a16:creationId xmlns:a16="http://schemas.microsoft.com/office/drawing/2014/main" id="{71745BCF-7F06-44BB-8BEC-4CC856233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4669" y="3979494"/>
            <a:ext cx="0" cy="1967074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48" name="Line 22">
            <a:extLst>
              <a:ext uri="{FF2B5EF4-FFF2-40B4-BE49-F238E27FC236}">
                <a16:creationId xmlns:a16="http://schemas.microsoft.com/office/drawing/2014/main" id="{857B9065-3325-4125-B93A-3C796935D6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5027" y="3979494"/>
            <a:ext cx="0" cy="1967074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29BBC4A-F6E1-4EF5-BB2E-2CC3464E9894}"/>
              </a:ext>
            </a:extLst>
          </p:cNvPr>
          <p:cNvSpPr/>
          <p:nvPr/>
        </p:nvSpPr>
        <p:spPr>
          <a:xfrm>
            <a:off x="3244935" y="5797024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BDB66EC-23E5-429A-A984-63DA668AC8FB}"/>
              </a:ext>
            </a:extLst>
          </p:cNvPr>
          <p:cNvSpPr/>
          <p:nvPr/>
        </p:nvSpPr>
        <p:spPr>
          <a:xfrm>
            <a:off x="3460111" y="5797024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F258102-844B-4F7B-A5C2-17D8436111CB}"/>
              </a:ext>
            </a:extLst>
          </p:cNvPr>
          <p:cNvSpPr/>
          <p:nvPr/>
        </p:nvSpPr>
        <p:spPr>
          <a:xfrm>
            <a:off x="3236516" y="3113929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0</a:t>
            </a:r>
            <a:endParaRPr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A1749CE-2CB4-4F8A-8EA1-C5B5A5959516}"/>
              </a:ext>
            </a:extLst>
          </p:cNvPr>
          <p:cNvSpPr/>
          <p:nvPr/>
        </p:nvSpPr>
        <p:spPr>
          <a:xfrm>
            <a:off x="3451900" y="3113929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 New" pitchFamily="49" charset="0"/>
              </a:rPr>
              <a:t>0</a:t>
            </a:r>
            <a:endParaRPr lang="zh-CN" altLang="en-US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03C717E-D8A1-43AA-9A21-954498CF203C}"/>
              </a:ext>
            </a:extLst>
          </p:cNvPr>
          <p:cNvSpPr/>
          <p:nvPr/>
        </p:nvSpPr>
        <p:spPr>
          <a:xfrm>
            <a:off x="457199" y="2519071"/>
            <a:ext cx="19602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1010110</a:t>
            </a:r>
            <a:r>
              <a:rPr lang="en-US" altLang="zh-CN" dirty="0">
                <a:solidFill>
                  <a:srgbClr val="FF0000"/>
                </a:solidFill>
              </a:rPr>
              <a:t>100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8EB45CC9-C5B1-4A39-AA79-904FD568A467}"/>
              </a:ext>
            </a:extLst>
          </p:cNvPr>
          <p:cNvGrpSpPr/>
          <p:nvPr/>
        </p:nvGrpSpPr>
        <p:grpSpPr>
          <a:xfrm>
            <a:off x="4347846" y="3112448"/>
            <a:ext cx="3536522" cy="3207796"/>
            <a:chOff x="719469" y="3274610"/>
            <a:chExt cx="3536522" cy="3207796"/>
          </a:xfrm>
        </p:grpSpPr>
        <p:sp>
          <p:nvSpPr>
            <p:cNvPr id="54" name="Text Box 4">
              <a:extLst>
                <a:ext uri="{FF2B5EF4-FFF2-40B4-BE49-F238E27FC236}">
                  <a16:creationId xmlns:a16="http://schemas.microsoft.com/office/drawing/2014/main" id="{07DAABED-A6CD-47B0-810C-B798C3018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7531" y="3733775"/>
              <a:ext cx="2519363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 dirty="0">
                  <a:latin typeface="Courier New" pitchFamily="49" charset="0"/>
                </a:rPr>
                <a:t>1010110</a:t>
              </a:r>
              <a:r>
                <a:rPr lang="en-US" altLang="zh-CN" dirty="0">
                  <a:solidFill>
                    <a:srgbClr val="FF0000"/>
                  </a:solidFill>
                  <a:latin typeface="Courier New" pitchFamily="49" charset="0"/>
                </a:rPr>
                <a:t>100</a:t>
              </a:r>
            </a:p>
          </p:txBody>
        </p:sp>
        <p:sp>
          <p:nvSpPr>
            <p:cNvPr id="55" name="Text Box 5">
              <a:extLst>
                <a:ext uri="{FF2B5EF4-FFF2-40B4-BE49-F238E27FC236}">
                  <a16:creationId xmlns:a16="http://schemas.microsoft.com/office/drawing/2014/main" id="{EBFB887B-2F64-4431-B05D-198DA7D0A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469" y="3733775"/>
              <a:ext cx="1225550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 dirty="0">
                  <a:latin typeface="Courier New" pitchFamily="49" charset="0"/>
                </a:rPr>
                <a:t>1011</a:t>
              </a:r>
              <a:endParaRPr lang="en-US" altLang="zh-CN" dirty="0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56" name="Text Box 7">
              <a:extLst>
                <a:ext uri="{FF2B5EF4-FFF2-40B4-BE49-F238E27FC236}">
                  <a16:creationId xmlns:a16="http://schemas.microsoft.com/office/drawing/2014/main" id="{67470A2A-1FA7-4E96-90D8-21C3A33FD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3409" y="4108425"/>
              <a:ext cx="1225550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 dirty="0">
                  <a:latin typeface="Courier New" pitchFamily="49" charset="0"/>
                </a:rPr>
                <a:t>1011</a:t>
              </a:r>
              <a:endParaRPr lang="en-US" altLang="zh-CN" dirty="0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57" name="Line 14">
              <a:extLst>
                <a:ext uri="{FF2B5EF4-FFF2-40B4-BE49-F238E27FC236}">
                  <a16:creationId xmlns:a16="http://schemas.microsoft.com/office/drawing/2014/main" id="{15882324-1386-48A4-B3A1-8227E964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3431" y="3748063"/>
              <a:ext cx="2232025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AF64C11A-C565-4C3B-91EA-B3DB436AF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969" y="3748063"/>
              <a:ext cx="144462" cy="504825"/>
            </a:xfrm>
            <a:custGeom>
              <a:avLst/>
              <a:gdLst/>
              <a:ahLst/>
              <a:cxnLst>
                <a:cxn ang="0">
                  <a:pos x="272" y="0"/>
                </a:cxn>
                <a:cxn ang="0">
                  <a:pos x="227" y="408"/>
                </a:cxn>
                <a:cxn ang="0">
                  <a:pos x="0" y="590"/>
                </a:cxn>
              </a:cxnLst>
              <a:rect l="0" t="0" r="r" b="b"/>
              <a:pathLst>
                <a:path w="272" h="590">
                  <a:moveTo>
                    <a:pt x="272" y="0"/>
                  </a:moveTo>
                  <a:cubicBezTo>
                    <a:pt x="272" y="155"/>
                    <a:pt x="272" y="310"/>
                    <a:pt x="227" y="408"/>
                  </a:cubicBezTo>
                  <a:cubicBezTo>
                    <a:pt x="182" y="506"/>
                    <a:pt x="91" y="548"/>
                    <a:pt x="0" y="590"/>
                  </a:cubicBezTo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Line 17">
              <a:extLst>
                <a:ext uri="{FF2B5EF4-FFF2-40B4-BE49-F238E27FC236}">
                  <a16:creationId xmlns:a16="http://schemas.microsoft.com/office/drawing/2014/main" id="{C5279ABB-300B-440E-AEAB-E7E47F357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1994" y="4578325"/>
              <a:ext cx="15985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Line 22">
              <a:extLst>
                <a:ext uri="{FF2B5EF4-FFF2-40B4-BE49-F238E27FC236}">
                  <a16:creationId xmlns:a16="http://schemas.microsoft.com/office/drawing/2014/main" id="{3AC2B09A-979E-4711-9139-5328FD696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8578" y="4140176"/>
              <a:ext cx="0" cy="57656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3600CF2-481C-4E82-A039-FC75C4B2F1E5}"/>
                </a:ext>
              </a:extLst>
            </p:cNvPr>
            <p:cNvSpPr/>
            <p:nvPr/>
          </p:nvSpPr>
          <p:spPr>
            <a:xfrm>
              <a:off x="2579491" y="4527211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1</a:t>
              </a:r>
              <a:endParaRPr lang="zh-CN" altLang="en-US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142B6145-8E76-418F-BC2D-1D24B827D7FC}"/>
                </a:ext>
              </a:extLst>
            </p:cNvPr>
            <p:cNvSpPr/>
            <p:nvPr/>
          </p:nvSpPr>
          <p:spPr>
            <a:xfrm>
              <a:off x="2804625" y="4527211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1</a:t>
              </a:r>
              <a:endParaRPr lang="zh-CN" altLang="en-US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C248DB9F-4C8D-4AC8-9825-8F1971CC1565}"/>
                </a:ext>
              </a:extLst>
            </p:cNvPr>
            <p:cNvSpPr/>
            <p:nvPr/>
          </p:nvSpPr>
          <p:spPr>
            <a:xfrm>
              <a:off x="3013129" y="4527211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1</a:t>
              </a:r>
              <a:endParaRPr lang="zh-CN" altLang="en-US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E25534ED-0163-410B-89BF-E2FBEFC4063D}"/>
                </a:ext>
              </a:extLst>
            </p:cNvPr>
            <p:cNvSpPr/>
            <p:nvPr/>
          </p:nvSpPr>
          <p:spPr>
            <a:xfrm>
              <a:off x="3219887" y="4527211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0</a:t>
              </a:r>
              <a:endParaRPr lang="zh-CN" altLang="en-US" dirty="0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2A8BC5B-202B-473A-8D14-B0254C6CB090}"/>
                </a:ext>
              </a:extLst>
            </p:cNvPr>
            <p:cNvSpPr/>
            <p:nvPr/>
          </p:nvSpPr>
          <p:spPr>
            <a:xfrm>
              <a:off x="2579491" y="3274610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1</a:t>
              </a:r>
              <a:endParaRPr lang="zh-CN" altLang="en-US" dirty="0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625F643-06F2-4C35-A21A-08407054A433}"/>
                </a:ext>
              </a:extLst>
            </p:cNvPr>
            <p:cNvSpPr/>
            <p:nvPr/>
          </p:nvSpPr>
          <p:spPr>
            <a:xfrm>
              <a:off x="2770599" y="3274610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0</a:t>
              </a:r>
              <a:endParaRPr lang="zh-CN" altLang="en-US" dirty="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A46EA77A-1952-4A91-B583-3FC472CB6B29}"/>
                </a:ext>
              </a:extLst>
            </p:cNvPr>
            <p:cNvSpPr/>
            <p:nvPr/>
          </p:nvSpPr>
          <p:spPr>
            <a:xfrm>
              <a:off x="2987251" y="3274610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0</a:t>
              </a:r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D2947D82-356E-48C4-8204-174BA77C1B98}"/>
                </a:ext>
              </a:extLst>
            </p:cNvPr>
            <p:cNvSpPr/>
            <p:nvPr/>
          </p:nvSpPr>
          <p:spPr>
            <a:xfrm>
              <a:off x="3204237" y="3274610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1</a:t>
              </a:r>
              <a:endParaRPr lang="zh-CN" altLang="en-US" dirty="0"/>
            </a:p>
          </p:txBody>
        </p:sp>
        <p:sp>
          <p:nvSpPr>
            <p:cNvPr id="69" name="Text Box 5">
              <a:extLst>
                <a:ext uri="{FF2B5EF4-FFF2-40B4-BE49-F238E27FC236}">
                  <a16:creationId xmlns:a16="http://schemas.microsoft.com/office/drawing/2014/main" id="{88696978-D941-4658-B4CC-8B336220B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354" y="4852706"/>
              <a:ext cx="1225550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 dirty="0">
                  <a:latin typeface="Courier New" pitchFamily="49" charset="0"/>
                </a:rPr>
                <a:t>1011</a:t>
              </a:r>
              <a:endParaRPr lang="en-US" altLang="zh-CN" dirty="0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70" name="Line 22">
              <a:extLst>
                <a:ext uri="{FF2B5EF4-FFF2-40B4-BE49-F238E27FC236}">
                  <a16:creationId xmlns:a16="http://schemas.microsoft.com/office/drawing/2014/main" id="{CD8BD0F0-E328-4DFE-A33E-C7ED4C4BA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4093" y="4140176"/>
              <a:ext cx="0" cy="57656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zh-CN" altLang="en-US"/>
            </a:p>
          </p:txBody>
        </p:sp>
        <p:sp>
          <p:nvSpPr>
            <p:cNvPr id="71" name="Line 22">
              <a:extLst>
                <a:ext uri="{FF2B5EF4-FFF2-40B4-BE49-F238E27FC236}">
                  <a16:creationId xmlns:a16="http://schemas.microsoft.com/office/drawing/2014/main" id="{A7038B63-67F6-4630-BBD7-901757982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2597" y="4140176"/>
              <a:ext cx="0" cy="57656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zh-CN" altLang="en-US"/>
            </a:p>
          </p:txBody>
        </p:sp>
        <p:sp>
          <p:nvSpPr>
            <p:cNvPr id="72" name="Line 17">
              <a:extLst>
                <a:ext uri="{FF2B5EF4-FFF2-40B4-BE49-F238E27FC236}">
                  <a16:creationId xmlns:a16="http://schemas.microsoft.com/office/drawing/2014/main" id="{2CEBF453-4003-4953-9FB7-78A85888D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3014" y="5292799"/>
              <a:ext cx="13684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Text Box 5">
              <a:extLst>
                <a:ext uri="{FF2B5EF4-FFF2-40B4-BE49-F238E27FC236}">
                  <a16:creationId xmlns:a16="http://schemas.microsoft.com/office/drawing/2014/main" id="{FC6C7DFF-DEDD-44D5-826F-C7B9BDE4C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354" y="5266749"/>
              <a:ext cx="1225550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 dirty="0">
                  <a:latin typeface="Courier New" pitchFamily="49" charset="0"/>
                </a:rPr>
                <a:t>101</a:t>
              </a:r>
              <a:endParaRPr lang="en-US" altLang="zh-CN" dirty="0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22BC4DF2-18A9-408E-AFAC-995F1B416912}"/>
                </a:ext>
              </a:extLst>
            </p:cNvPr>
            <p:cNvSpPr/>
            <p:nvPr/>
          </p:nvSpPr>
          <p:spPr>
            <a:xfrm>
              <a:off x="3426171" y="5266973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Courier New" pitchFamily="49" charset="0"/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5" name="Line 22">
              <a:extLst>
                <a:ext uri="{FF2B5EF4-FFF2-40B4-BE49-F238E27FC236}">
                  <a16:creationId xmlns:a16="http://schemas.microsoft.com/office/drawing/2014/main" id="{13149F65-DCF2-4D10-9523-3882D029C7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904" y="4140175"/>
              <a:ext cx="0" cy="1231643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C04D9CA0-B99F-4F0E-A7DE-111F60BF4E59}"/>
                </a:ext>
              </a:extLst>
            </p:cNvPr>
            <p:cNvSpPr/>
            <p:nvPr/>
          </p:nvSpPr>
          <p:spPr>
            <a:xfrm>
              <a:off x="3419621" y="3274610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1</a:t>
              </a:r>
              <a:endParaRPr lang="zh-CN" altLang="en-US" dirty="0"/>
            </a:p>
          </p:txBody>
        </p:sp>
        <p:sp>
          <p:nvSpPr>
            <p:cNvPr id="77" name="Text Box 5">
              <a:extLst>
                <a:ext uri="{FF2B5EF4-FFF2-40B4-BE49-F238E27FC236}">
                  <a16:creationId xmlns:a16="http://schemas.microsoft.com/office/drawing/2014/main" id="{F590EAAB-C365-4E00-8826-3B15EB191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7112" y="5588136"/>
              <a:ext cx="1225550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 dirty="0">
                  <a:latin typeface="Courier New" pitchFamily="49" charset="0"/>
                </a:rPr>
                <a:t>1011</a:t>
              </a:r>
              <a:endParaRPr lang="en-US" altLang="zh-CN" dirty="0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78" name="Line 17">
              <a:extLst>
                <a:ext uri="{FF2B5EF4-FFF2-40B4-BE49-F238E27FC236}">
                  <a16:creationId xmlns:a16="http://schemas.microsoft.com/office/drawing/2014/main" id="{819CA787-18A4-4A3A-8D92-44E03E789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388" y="6021505"/>
              <a:ext cx="13684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239FFFAF-66CD-4536-9F2E-AF5AFC720F83}"/>
                </a:ext>
              </a:extLst>
            </p:cNvPr>
            <p:cNvSpPr/>
            <p:nvPr/>
          </p:nvSpPr>
          <p:spPr>
            <a:xfrm>
              <a:off x="3441613" y="5959186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0</a:t>
              </a:r>
              <a:endParaRPr lang="zh-CN" altLang="en-US" dirty="0"/>
            </a:p>
          </p:txBody>
        </p:sp>
        <p:sp>
          <p:nvSpPr>
            <p:cNvPr id="80" name="Line 22">
              <a:extLst>
                <a:ext uri="{FF2B5EF4-FFF2-40B4-BE49-F238E27FC236}">
                  <a16:creationId xmlns:a16="http://schemas.microsoft.com/office/drawing/2014/main" id="{3F871C64-0522-4EB4-BC9B-98AA1ADAA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1081" y="4140175"/>
              <a:ext cx="0" cy="1967074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zh-CN" altLang="en-US"/>
            </a:p>
          </p:txBody>
        </p:sp>
        <p:sp>
          <p:nvSpPr>
            <p:cNvPr id="81" name="Line 22">
              <a:extLst>
                <a:ext uri="{FF2B5EF4-FFF2-40B4-BE49-F238E27FC236}">
                  <a16:creationId xmlns:a16="http://schemas.microsoft.com/office/drawing/2014/main" id="{6A16BB76-008A-4D88-B12B-4E4CA53CF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1439" y="4140175"/>
              <a:ext cx="0" cy="1967074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8F48D30C-541F-445B-B625-68CF450FE321}"/>
                </a:ext>
              </a:extLst>
            </p:cNvPr>
            <p:cNvSpPr/>
            <p:nvPr/>
          </p:nvSpPr>
          <p:spPr>
            <a:xfrm>
              <a:off x="3641347" y="5957705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Courier New" pitchFamily="49" charset="0"/>
                </a:rPr>
                <a:t>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9951BC3-0A09-4A1B-9EE0-4C241AEB5EC9}"/>
                </a:ext>
              </a:extLst>
            </p:cNvPr>
            <p:cNvSpPr/>
            <p:nvPr/>
          </p:nvSpPr>
          <p:spPr>
            <a:xfrm>
              <a:off x="3856523" y="5957705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Courier New" pitchFamily="49" charset="0"/>
                </a:rPr>
                <a:t>0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236EA634-223E-46E5-9CBA-FFC5B41D1B5A}"/>
                </a:ext>
              </a:extLst>
            </p:cNvPr>
            <p:cNvSpPr/>
            <p:nvPr/>
          </p:nvSpPr>
          <p:spPr>
            <a:xfrm>
              <a:off x="3632928" y="3274610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0</a:t>
              </a:r>
              <a:endParaRPr lang="zh-CN" altLang="en-US" dirty="0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9013B366-9987-4E42-97D7-1017F5241F63}"/>
                </a:ext>
              </a:extLst>
            </p:cNvPr>
            <p:cNvSpPr/>
            <p:nvPr/>
          </p:nvSpPr>
          <p:spPr>
            <a:xfrm>
              <a:off x="3848312" y="3274610"/>
              <a:ext cx="3994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Courier New" pitchFamily="49" charset="0"/>
                </a:rPr>
                <a:t>0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775554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8" grpId="0" animBg="1"/>
      <p:bldP spid="19" grpId="0" animBg="1"/>
      <p:bldP spid="20" grpId="0" animBg="1"/>
      <p:bldP spid="25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 animBg="1"/>
      <p:bldP spid="38" grpId="0" animBg="1"/>
      <p:bldP spid="39" grpId="0" animBg="1"/>
      <p:bldP spid="40" grpId="0"/>
      <p:bldP spid="41" grpId="0"/>
      <p:bldP spid="42" grpId="0" animBg="1"/>
      <p:bldP spid="43" grpId="0"/>
      <p:bldP spid="44" grpId="0"/>
      <p:bldP spid="45" grpId="0" animBg="1"/>
      <p:bldP spid="46" grpId="0"/>
      <p:bldP spid="47" grpId="0" animBg="1"/>
      <p:bldP spid="48" grpId="0" animBg="1"/>
      <p:bldP spid="49" grpId="0"/>
      <p:bldP spid="50" grpId="0"/>
      <p:bldP spid="51" grpId="0"/>
      <p:bldP spid="52" grpId="0"/>
      <p:bldP spid="5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018EE-11E9-4659-BEFA-200F664C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计算机系统中的数据表示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FFF26A-88A4-4DC5-A2FD-B1AFF6E59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620611"/>
            <a:ext cx="8712968" cy="316843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假设正在使用的一种纠错码可以校正长度为</a:t>
            </a:r>
            <a:r>
              <a:rPr lang="en-US" altLang="zh-CN" dirty="0"/>
              <a:t>8</a:t>
            </a:r>
            <a:r>
              <a:rPr lang="zh-CN" altLang="en-US" dirty="0"/>
              <a:t>的存储字的全部单位错误。计算结果表明，需要</a:t>
            </a:r>
            <a:r>
              <a:rPr lang="en-US" altLang="zh-CN" dirty="0"/>
              <a:t>4</a:t>
            </a:r>
            <a:r>
              <a:rPr lang="zh-CN" altLang="en-US" dirty="0"/>
              <a:t>位校验位，编码字的全部长度为</a:t>
            </a:r>
            <a:r>
              <a:rPr lang="en-US" altLang="zh-CN" dirty="0"/>
              <a:t>12</a:t>
            </a:r>
            <a:r>
              <a:rPr lang="zh-CN" altLang="en-US" dirty="0"/>
              <a:t>位。编码字的产生方式采用本章介绍的海明算法。现在接收器收到如下代码字：</a:t>
            </a:r>
            <a:r>
              <a:rPr lang="en-US" altLang="zh-CN" dirty="0"/>
              <a:t>010111010110</a:t>
            </a:r>
            <a:r>
              <a:rPr lang="zh-CN" altLang="en-US" dirty="0"/>
              <a:t>，假定采用</a:t>
            </a:r>
            <a:r>
              <a:rPr lang="zh-CN" altLang="en-US" dirty="0">
                <a:solidFill>
                  <a:srgbClr val="C00000"/>
                </a:solidFill>
              </a:rPr>
              <a:t>偶校验</a:t>
            </a:r>
            <a:r>
              <a:rPr lang="zh-CN" altLang="en-US" dirty="0"/>
              <a:t>，请问收到的这个字是否为合法的编码字？</a:t>
            </a:r>
            <a:br>
              <a:rPr lang="en-US" altLang="zh-CN" dirty="0"/>
            </a:br>
            <a:r>
              <a:rPr lang="zh-CN" altLang="en-US" dirty="0"/>
              <a:t>如果不是，根据纠错编码，指出错误发生在哪一位？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E44CBA-DFB4-4956-8734-77319EF2D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F73EEC-C569-45AC-8887-79207F99B4A7}"/>
              </a:ext>
            </a:extLst>
          </p:cNvPr>
          <p:cNvSpPr/>
          <p:nvPr/>
        </p:nvSpPr>
        <p:spPr>
          <a:xfrm>
            <a:off x="6155717" y="86560"/>
            <a:ext cx="27238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P56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，习题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2.23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74ECF48-E22A-40E8-AED4-533338DB8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235574"/>
              </p:ext>
            </p:extLst>
          </p:nvPr>
        </p:nvGraphicFramePr>
        <p:xfrm>
          <a:off x="683568" y="4143771"/>
          <a:ext cx="7567176" cy="1080120"/>
        </p:xfrm>
        <a:graphic>
          <a:graphicData uri="http://schemas.openxmlformats.org/drawingml/2006/table">
            <a:tbl>
              <a:tblPr firstRow="1" bandRow="1"/>
              <a:tblGrid>
                <a:gridCol w="630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5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5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5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5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5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5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59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059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963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latin typeface="+mn-lt"/>
                        </a:rPr>
                        <a:t>0</a:t>
                      </a:r>
                      <a:endParaRPr lang="zh-CN" altLang="en-US" sz="3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latin typeface="+mn-lt"/>
                        </a:rPr>
                        <a:t>1</a:t>
                      </a:r>
                      <a:endParaRPr lang="zh-CN" altLang="en-US" sz="3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latin typeface="+mn-lt"/>
                        </a:rPr>
                        <a:t>0</a:t>
                      </a:r>
                      <a:endParaRPr lang="zh-CN" altLang="en-US" sz="3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latin typeface="+mn-lt"/>
                        </a:rPr>
                        <a:t>1</a:t>
                      </a:r>
                      <a:endParaRPr lang="zh-CN" altLang="en-US" sz="3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latin typeface="+mn-lt"/>
                        </a:rPr>
                        <a:t>1</a:t>
                      </a:r>
                      <a:endParaRPr lang="zh-CN" altLang="en-US" sz="3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latin typeface="+mn-lt"/>
                        </a:rPr>
                        <a:t>0</a:t>
                      </a:r>
                      <a:endParaRPr lang="zh-CN" altLang="en-US" sz="3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latin typeface="+mn-lt"/>
                        </a:rPr>
                        <a:t>1</a:t>
                      </a:r>
                      <a:endParaRPr lang="zh-CN" altLang="en-US" sz="3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latin typeface="+mn-lt"/>
                        </a:rPr>
                        <a:t>1</a:t>
                      </a:r>
                      <a:endParaRPr lang="zh-CN" altLang="en-US" sz="3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7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12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11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10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9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8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7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6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5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4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3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2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2400" b="1" dirty="0">
                          <a:solidFill>
                            <a:srgbClr val="008000"/>
                          </a:solidFill>
                          <a:latin typeface="+mn-lt"/>
                        </a:rPr>
                        <a:t>1</a:t>
                      </a:r>
                      <a:endParaRPr lang="zh-CN" altLang="en-US" sz="2400" b="1" dirty="0">
                        <a:solidFill>
                          <a:srgbClr val="008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4F06CA3-1FE3-41C6-9874-D7F08D68D3F1}"/>
              </a:ext>
            </a:extLst>
          </p:cNvPr>
          <p:cNvSpPr/>
          <p:nvPr/>
        </p:nvSpPr>
        <p:spPr>
          <a:xfrm>
            <a:off x="559711" y="5157192"/>
            <a:ext cx="44085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出错位置：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1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＋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8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＝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9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，即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</a:t>
            </a:r>
            <a:r>
              <a:rPr kumimoji="0" lang="en-US" altLang="zh-CN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4</a:t>
            </a:r>
            <a:endParaRPr kumimoji="0" lang="zh-CN" altLang="en-US" i="0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FD8EF1-CEB2-44DC-B300-DBC426BAD03E}"/>
              </a:ext>
            </a:extLst>
          </p:cNvPr>
          <p:cNvSpPr/>
          <p:nvPr/>
        </p:nvSpPr>
        <p:spPr>
          <a:xfrm>
            <a:off x="560457" y="5719401"/>
            <a:ext cx="43054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纠错后的数据：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010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0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1011</a:t>
            </a:r>
            <a:r>
              <a:rPr kumimoji="0" lang="en-US" altLang="zh-CN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2</a:t>
            </a:r>
            <a:endParaRPr kumimoji="0" lang="zh-CN" altLang="en-US" i="0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679BE9-78D6-430E-9640-E2D96DA4FB03}"/>
              </a:ext>
            </a:extLst>
          </p:cNvPr>
          <p:cNvSpPr/>
          <p:nvPr/>
        </p:nvSpPr>
        <p:spPr>
          <a:xfrm>
            <a:off x="6444208" y="3711723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0</a:t>
            </a:r>
            <a:endParaRPr kumimoji="0" lang="zh-CN" altLang="en-US" sz="2400" i="0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BA47F7-0ACD-4AB0-B7CC-A12FF23BA79B}"/>
              </a:ext>
            </a:extLst>
          </p:cNvPr>
          <p:cNvSpPr/>
          <p:nvPr/>
        </p:nvSpPr>
        <p:spPr>
          <a:xfrm>
            <a:off x="5148064" y="3690071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1</a:t>
            </a:r>
            <a:endParaRPr kumimoji="0" lang="zh-CN" altLang="en-US" sz="2400" i="0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5070AE-508A-4CE8-ACD5-2BA33819ABC1}"/>
              </a:ext>
            </a:extLst>
          </p:cNvPr>
          <p:cNvSpPr/>
          <p:nvPr/>
        </p:nvSpPr>
        <p:spPr>
          <a:xfrm>
            <a:off x="4513307" y="3690070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2</a:t>
            </a:r>
            <a:endParaRPr kumimoji="0" lang="zh-CN" altLang="en-US" sz="2400" i="0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A61A08-4FCC-4A65-A8A5-59E3BA213F26}"/>
              </a:ext>
            </a:extLst>
          </p:cNvPr>
          <p:cNvSpPr/>
          <p:nvPr/>
        </p:nvSpPr>
        <p:spPr>
          <a:xfrm>
            <a:off x="3940891" y="3690069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3</a:t>
            </a:r>
            <a:endParaRPr kumimoji="0" lang="zh-CN" altLang="en-US" sz="2400" i="0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FE1881-D419-4738-A114-2EC87C9BC024}"/>
              </a:ext>
            </a:extLst>
          </p:cNvPr>
          <p:cNvSpPr/>
          <p:nvPr/>
        </p:nvSpPr>
        <p:spPr>
          <a:xfrm>
            <a:off x="2644747" y="3690068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4</a:t>
            </a:r>
            <a:endParaRPr kumimoji="0" lang="zh-CN" altLang="en-US" sz="2400" i="0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A8C10F-EB72-46B0-9A86-93D3DC6F173A}"/>
              </a:ext>
            </a:extLst>
          </p:cNvPr>
          <p:cNvSpPr/>
          <p:nvPr/>
        </p:nvSpPr>
        <p:spPr>
          <a:xfrm>
            <a:off x="1991638" y="3690067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5</a:t>
            </a:r>
            <a:endParaRPr kumimoji="0" lang="zh-CN" altLang="en-US" sz="2400" i="0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5FEE34-AC68-4456-9490-95001BEF3653}"/>
              </a:ext>
            </a:extLst>
          </p:cNvPr>
          <p:cNvSpPr/>
          <p:nvPr/>
        </p:nvSpPr>
        <p:spPr>
          <a:xfrm>
            <a:off x="1403994" y="3690067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6</a:t>
            </a:r>
            <a:endParaRPr kumimoji="0" lang="zh-CN" altLang="en-US" sz="2400" i="0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C5FF8A-C0B3-40A6-AFCA-46B7CD5F3B22}"/>
              </a:ext>
            </a:extLst>
          </p:cNvPr>
          <p:cNvSpPr/>
          <p:nvPr/>
        </p:nvSpPr>
        <p:spPr>
          <a:xfrm>
            <a:off x="776187" y="3690067"/>
            <a:ext cx="5100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D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7</a:t>
            </a:r>
            <a:endParaRPr kumimoji="0" lang="zh-CN" altLang="en-US" sz="2400" i="0" u="none" strike="noStrike" kern="0" cap="none" spc="0" normalizeH="0" baseline="-25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DF99402-71F7-4BA2-AAE1-3F62D1527756}"/>
              </a:ext>
            </a:extLst>
          </p:cNvPr>
          <p:cNvCxnSpPr>
            <a:cxnSpLocks/>
          </p:cNvCxnSpPr>
          <p:nvPr/>
        </p:nvCxnSpPr>
        <p:spPr bwMode="auto">
          <a:xfrm>
            <a:off x="7596336" y="4797152"/>
            <a:ext cx="654408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5FE8E56-168C-4576-96B1-5E84B5E743F7}"/>
              </a:ext>
            </a:extLst>
          </p:cNvPr>
          <p:cNvCxnSpPr>
            <a:cxnSpLocks/>
          </p:cNvCxnSpPr>
          <p:nvPr/>
        </p:nvCxnSpPr>
        <p:spPr bwMode="auto">
          <a:xfrm>
            <a:off x="6346322" y="4797152"/>
            <a:ext cx="654408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9137FFA-BEB2-45C3-9881-18E5E393EC71}"/>
              </a:ext>
            </a:extLst>
          </p:cNvPr>
          <p:cNvCxnSpPr>
            <a:cxnSpLocks/>
          </p:cNvCxnSpPr>
          <p:nvPr/>
        </p:nvCxnSpPr>
        <p:spPr bwMode="auto">
          <a:xfrm>
            <a:off x="5083765" y="4797152"/>
            <a:ext cx="654408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1321FC1-BED1-4FCB-8F8F-BEBC1B44F64A}"/>
              </a:ext>
            </a:extLst>
          </p:cNvPr>
          <p:cNvCxnSpPr>
            <a:cxnSpLocks/>
          </p:cNvCxnSpPr>
          <p:nvPr/>
        </p:nvCxnSpPr>
        <p:spPr bwMode="auto">
          <a:xfrm>
            <a:off x="3831332" y="4797152"/>
            <a:ext cx="654408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F47B325-9940-415B-93AD-91D7D89B05C7}"/>
              </a:ext>
            </a:extLst>
          </p:cNvPr>
          <p:cNvCxnSpPr>
            <a:cxnSpLocks/>
          </p:cNvCxnSpPr>
          <p:nvPr/>
        </p:nvCxnSpPr>
        <p:spPr bwMode="auto">
          <a:xfrm>
            <a:off x="2558486" y="4797152"/>
            <a:ext cx="654408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593E293-1B5A-4515-BD80-AE7B0BDD2854}"/>
              </a:ext>
            </a:extLst>
          </p:cNvPr>
          <p:cNvCxnSpPr>
            <a:cxnSpLocks/>
          </p:cNvCxnSpPr>
          <p:nvPr/>
        </p:nvCxnSpPr>
        <p:spPr bwMode="auto">
          <a:xfrm>
            <a:off x="1294100" y="4797152"/>
            <a:ext cx="654408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AAE4F42C-2012-45A6-A4D2-B53855FCDB5B}"/>
              </a:ext>
            </a:extLst>
          </p:cNvPr>
          <p:cNvSpPr/>
          <p:nvPr/>
        </p:nvSpPr>
        <p:spPr>
          <a:xfrm>
            <a:off x="7526507" y="4034875"/>
            <a:ext cx="8034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800" dirty="0">
                <a:solidFill>
                  <a:srgbClr val="FF0000"/>
                </a:solidFill>
                <a:cs typeface="Segoe UI Symbol" panose="020B0502040204020203" pitchFamily="34" charset="0"/>
              </a:rPr>
              <a:t>×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9CF5CA6-01CA-4E10-A054-FEA70C1589F4}"/>
              </a:ext>
            </a:extLst>
          </p:cNvPr>
          <p:cNvCxnSpPr>
            <a:cxnSpLocks/>
          </p:cNvCxnSpPr>
          <p:nvPr/>
        </p:nvCxnSpPr>
        <p:spPr bwMode="auto">
          <a:xfrm>
            <a:off x="3831332" y="4798166"/>
            <a:ext cx="251499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DCA5DD8-DE5B-46BA-B559-39EE49465B7F}"/>
              </a:ext>
            </a:extLst>
          </p:cNvPr>
          <p:cNvCxnSpPr>
            <a:cxnSpLocks/>
          </p:cNvCxnSpPr>
          <p:nvPr/>
        </p:nvCxnSpPr>
        <p:spPr bwMode="auto">
          <a:xfrm>
            <a:off x="6346322" y="4797152"/>
            <a:ext cx="126237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7A51F9B-FEFD-49C1-9A3A-09F69D266314}"/>
              </a:ext>
            </a:extLst>
          </p:cNvPr>
          <p:cNvCxnSpPr>
            <a:cxnSpLocks/>
          </p:cNvCxnSpPr>
          <p:nvPr/>
        </p:nvCxnSpPr>
        <p:spPr bwMode="auto">
          <a:xfrm>
            <a:off x="3819782" y="4797152"/>
            <a:ext cx="126237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61E7BFF-4FFD-4345-AFFB-D6CF959960F5}"/>
              </a:ext>
            </a:extLst>
          </p:cNvPr>
          <p:cNvCxnSpPr>
            <a:cxnSpLocks/>
          </p:cNvCxnSpPr>
          <p:nvPr/>
        </p:nvCxnSpPr>
        <p:spPr bwMode="auto">
          <a:xfrm>
            <a:off x="1317323" y="4797152"/>
            <a:ext cx="126237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43CA39D1-0DCB-403E-AC1B-2646E3A14531}"/>
              </a:ext>
            </a:extLst>
          </p:cNvPr>
          <p:cNvSpPr/>
          <p:nvPr/>
        </p:nvSpPr>
        <p:spPr>
          <a:xfrm rot="846819">
            <a:off x="6800252" y="3890430"/>
            <a:ext cx="95731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6000" b="0" dirty="0">
                <a:solidFill>
                  <a:srgbClr val="FF0000"/>
                </a:solidFill>
                <a:latin typeface="宋体" panose="02010600030101010101" pitchFamily="2" charset="-122"/>
                <a:cs typeface="Segoe UI Symbol" panose="020B0502040204020203" pitchFamily="34" charset="0"/>
              </a:rPr>
              <a:t>√</a:t>
            </a:r>
            <a:endParaRPr lang="zh-CN" altLang="en-US" sz="6000" b="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C6B86A-9B56-4770-8435-3C76231A3386}"/>
              </a:ext>
            </a:extLst>
          </p:cNvPr>
          <p:cNvCxnSpPr>
            <a:cxnSpLocks/>
            <a:stCxn id="6" idx="1"/>
          </p:cNvCxnSpPr>
          <p:nvPr/>
        </p:nvCxnSpPr>
        <p:spPr bwMode="auto">
          <a:xfrm>
            <a:off x="683568" y="4683831"/>
            <a:ext cx="3136214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BEE82D3-88BE-4F36-A6D2-B7E87F39FB72}"/>
              </a:ext>
            </a:extLst>
          </p:cNvPr>
          <p:cNvCxnSpPr>
            <a:cxnSpLocks/>
          </p:cNvCxnSpPr>
          <p:nvPr/>
        </p:nvCxnSpPr>
        <p:spPr bwMode="auto">
          <a:xfrm>
            <a:off x="669041" y="4797152"/>
            <a:ext cx="648282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2EE6DCBF-2F26-40E0-9EEC-FCBD9285B622}"/>
              </a:ext>
            </a:extLst>
          </p:cNvPr>
          <p:cNvSpPr/>
          <p:nvPr/>
        </p:nvSpPr>
        <p:spPr>
          <a:xfrm rot="846819">
            <a:off x="5529299" y="3890430"/>
            <a:ext cx="95731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6000" b="0" dirty="0">
                <a:solidFill>
                  <a:srgbClr val="FF0000"/>
                </a:solidFill>
                <a:latin typeface="宋体" panose="02010600030101010101" pitchFamily="2" charset="-122"/>
                <a:cs typeface="Segoe UI Symbol" panose="020B0502040204020203" pitchFamily="34" charset="0"/>
              </a:rPr>
              <a:t>√</a:t>
            </a:r>
            <a:endParaRPr lang="zh-CN" altLang="en-US" sz="6000" b="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E0EC4F2-199A-4B8C-9031-6FFDDB6D063F}"/>
              </a:ext>
            </a:extLst>
          </p:cNvPr>
          <p:cNvSpPr/>
          <p:nvPr/>
        </p:nvSpPr>
        <p:spPr>
          <a:xfrm>
            <a:off x="3120152" y="4034875"/>
            <a:ext cx="80342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800" dirty="0">
                <a:solidFill>
                  <a:srgbClr val="FF0000"/>
                </a:solidFill>
                <a:cs typeface="Segoe UI Symbol" panose="020B0502040204020203" pitchFamily="34" charset="0"/>
              </a:rPr>
              <a:t>×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7798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500"/>
                            </p:stCondLst>
                            <p:childTnLst>
                              <p:par>
                                <p:cTn id="110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4000"/>
                            </p:stCondLst>
                            <p:childTnLst>
                              <p:par>
                                <p:cTn id="1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25" grpId="0"/>
      <p:bldP spid="31" grpId="0"/>
      <p:bldP spid="36" grpId="0"/>
      <p:bldP spid="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9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3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运算方法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CCFF66"/>
                </a:solidFill>
                <a:latin typeface="Arial" charset="0"/>
                <a:ea typeface="黑体" pitchFamily="2" charset="-122"/>
              </a:rPr>
              <a:t>运算器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2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92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499F5-50CC-4214-9160-4D68149A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 运算方法与运算器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9735FD-0E78-471D-A019-6F3E341B9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68325"/>
            <a:ext cx="8362950" cy="6213475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zh-CN" altLang="en-US" dirty="0"/>
              <a:t>定点数运算</a:t>
            </a:r>
            <a:endParaRPr lang="en-US" altLang="zh-CN" dirty="0"/>
          </a:p>
          <a:p>
            <a:pPr lvl="1">
              <a:spcBef>
                <a:spcPts val="200"/>
              </a:spcBef>
            </a:pPr>
            <a:r>
              <a:rPr lang="zh-CN" altLang="en-US" dirty="0"/>
              <a:t>加减运算</a:t>
            </a:r>
            <a:endParaRPr lang="en-US" altLang="zh-CN" dirty="0"/>
          </a:p>
          <a:p>
            <a:pPr lvl="2">
              <a:spcBef>
                <a:spcPts val="100"/>
              </a:spcBef>
            </a:pPr>
            <a:r>
              <a:rPr lang="zh-CN" altLang="en-US" sz="2400" dirty="0"/>
              <a:t>用补码实现：符号位参与计算。</a:t>
            </a:r>
            <a:endParaRPr lang="en-US" altLang="zh-CN" sz="2400" dirty="0"/>
          </a:p>
          <a:p>
            <a:pPr lvl="2">
              <a:spcBef>
                <a:spcPts val="100"/>
              </a:spcBef>
            </a:pPr>
            <a:r>
              <a:rPr lang="zh-CN" altLang="en-US" sz="2400" dirty="0"/>
              <a:t>溢出的判断</a:t>
            </a:r>
            <a:endParaRPr lang="en-US" altLang="zh-CN" sz="2400" dirty="0"/>
          </a:p>
          <a:p>
            <a:pPr lvl="3">
              <a:spcBef>
                <a:spcPts val="100"/>
              </a:spcBef>
            </a:pPr>
            <a:r>
              <a:rPr lang="zh-CN" altLang="en-US" sz="2400" dirty="0">
                <a:solidFill>
                  <a:srgbClr val="CC0066"/>
                </a:solidFill>
              </a:rPr>
              <a:t>双符号位</a:t>
            </a:r>
            <a:r>
              <a:rPr lang="zh-CN" altLang="en-US" sz="2400" dirty="0"/>
              <a:t>判决法</a:t>
            </a:r>
          </a:p>
          <a:p>
            <a:pPr lvl="3">
              <a:spcBef>
                <a:spcPts val="100"/>
              </a:spcBef>
            </a:pPr>
            <a:r>
              <a:rPr lang="zh-CN" altLang="en-US" sz="2400" dirty="0">
                <a:solidFill>
                  <a:srgbClr val="CC0066"/>
                </a:solidFill>
              </a:rPr>
              <a:t>进位</a:t>
            </a:r>
            <a:r>
              <a:rPr lang="zh-CN" altLang="en-US" sz="2400"/>
              <a:t>判决法</a:t>
            </a:r>
            <a:endParaRPr lang="en-US" altLang="zh-CN" sz="2400"/>
          </a:p>
          <a:p>
            <a:pPr lvl="3">
              <a:spcBef>
                <a:spcPts val="100"/>
              </a:spcBef>
            </a:pPr>
            <a:r>
              <a:rPr lang="zh-CN" altLang="en-US" sz="2400"/>
              <a:t>根据</a:t>
            </a:r>
            <a:r>
              <a:rPr lang="zh-CN" altLang="en-US" sz="2400">
                <a:solidFill>
                  <a:srgbClr val="006600"/>
                </a:solidFill>
              </a:rPr>
              <a:t>运算前后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CC0066"/>
                </a:solidFill>
              </a:rPr>
              <a:t>符号位</a:t>
            </a:r>
            <a:r>
              <a:rPr lang="zh-CN" altLang="en-US" sz="2400"/>
              <a:t>进行判别：</a:t>
            </a:r>
            <a:endParaRPr lang="en-US" altLang="zh-CN" sz="2400"/>
          </a:p>
          <a:p>
            <a:pPr lvl="4">
              <a:spcBef>
                <a:spcPts val="100"/>
              </a:spcBef>
            </a:pPr>
            <a:r>
              <a:rPr lang="zh-CN" altLang="en-US" sz="2400"/>
              <a:t>异号数相加，必不溢出。</a:t>
            </a:r>
            <a:endParaRPr lang="en-US" altLang="zh-CN" sz="2400"/>
          </a:p>
          <a:p>
            <a:pPr lvl="4">
              <a:spcBef>
                <a:spcPts val="100"/>
              </a:spcBef>
            </a:pPr>
            <a:r>
              <a:rPr lang="zh-CN" altLang="en-US" sz="2400"/>
              <a:t>同号数相加，和的符号位改变则溢出。</a:t>
            </a:r>
            <a:endParaRPr lang="en-US" altLang="zh-CN" sz="2400" dirty="0"/>
          </a:p>
          <a:p>
            <a:pPr lvl="2">
              <a:spcBef>
                <a:spcPts val="100"/>
              </a:spcBef>
            </a:pPr>
            <a:r>
              <a:rPr lang="zh-CN" altLang="en-US" sz="2400" dirty="0"/>
              <a:t>实现：行波进位</a:t>
            </a:r>
            <a:r>
              <a:rPr lang="zh-CN" altLang="en-US" sz="2400"/>
              <a:t>、先行进位，各自特点。</a:t>
            </a:r>
            <a:endParaRPr lang="en-US" altLang="zh-CN" sz="2400" dirty="0"/>
          </a:p>
          <a:p>
            <a:pPr lvl="2">
              <a:spcBef>
                <a:spcPts val="100"/>
              </a:spcBef>
            </a:pPr>
            <a:r>
              <a:rPr lang="en-US" altLang="zh-CN" sz="2400" dirty="0"/>
              <a:t>BCD</a:t>
            </a:r>
            <a:r>
              <a:rPr lang="zh-CN" altLang="en-US" sz="2400"/>
              <a:t>数加法，何时需要加</a:t>
            </a:r>
            <a:r>
              <a:rPr lang="en-US" altLang="zh-CN" sz="2400"/>
              <a:t>6</a:t>
            </a:r>
            <a:r>
              <a:rPr lang="zh-CN" altLang="en-US" sz="2400"/>
              <a:t>修正。</a:t>
            </a:r>
            <a:endParaRPr lang="en-US" altLang="zh-CN" sz="2400" dirty="0"/>
          </a:p>
          <a:p>
            <a:pPr lvl="1">
              <a:spcBef>
                <a:spcPts val="200"/>
              </a:spcBef>
            </a:pPr>
            <a:r>
              <a:rPr lang="zh-CN" altLang="en-US" dirty="0"/>
              <a:t>乘法</a:t>
            </a:r>
            <a:r>
              <a:rPr lang="zh-CN" altLang="en-US"/>
              <a:t>运算：</a:t>
            </a:r>
            <a:endParaRPr lang="en-US" altLang="zh-CN"/>
          </a:p>
          <a:p>
            <a:pPr lvl="2">
              <a:spcBef>
                <a:spcPts val="200"/>
              </a:spcBef>
            </a:pPr>
            <a:r>
              <a:rPr lang="zh-CN" altLang="en-US" sz="2400"/>
              <a:t>原码一位乘法：步骤数与什么有关？</a:t>
            </a:r>
            <a:endParaRPr lang="en-US" altLang="zh-CN" sz="2400"/>
          </a:p>
          <a:p>
            <a:pPr lvl="2">
              <a:spcBef>
                <a:spcPts val="200"/>
              </a:spcBef>
            </a:pPr>
            <a:r>
              <a:rPr lang="zh-CN" altLang="en-US" sz="2400"/>
              <a:t>补码</a:t>
            </a:r>
            <a:r>
              <a:rPr lang="zh-CN" altLang="en-US" sz="2400" dirty="0"/>
              <a:t>一位</a:t>
            </a:r>
            <a:r>
              <a:rPr lang="zh-CN" altLang="en-US" sz="2400"/>
              <a:t>乘法</a:t>
            </a:r>
            <a:r>
              <a:rPr lang="en-US" altLang="zh-CN" sz="2400">
                <a:latin typeface="+mn-ea"/>
              </a:rPr>
              <a:t>(</a:t>
            </a:r>
            <a:r>
              <a:rPr lang="zh-CN" altLang="en-US" sz="2400"/>
              <a:t>布斯法</a:t>
            </a:r>
            <a:r>
              <a:rPr lang="en-US" altLang="zh-CN" sz="2400">
                <a:latin typeface="+mn-ea"/>
              </a:rPr>
              <a:t>)</a:t>
            </a:r>
            <a:endParaRPr lang="en-US" altLang="zh-CN" sz="2400" dirty="0">
              <a:latin typeface="+mn-ea"/>
            </a:endParaRPr>
          </a:p>
          <a:p>
            <a:pPr lvl="1">
              <a:spcBef>
                <a:spcPts val="200"/>
              </a:spcBef>
            </a:pPr>
            <a:r>
              <a:rPr lang="zh-CN" altLang="en-US" dirty="0"/>
              <a:t>除法运算：原码加减交替法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5198B-01CC-4C36-A0DC-125E7D366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Picture 8" descr="C:\Users\车向泉\AppData\Local\Microsoft\Windows\Temporary Internet Files\Content.IE5\FE5TM330\MC900437469[1].wmf">
            <a:extLst>
              <a:ext uri="{FF2B5EF4-FFF2-40B4-BE49-F238E27FC236}">
                <a16:creationId xmlns:a16="http://schemas.microsoft.com/office/drawing/2014/main" id="{BB9A7974-1606-47EA-8763-4EE5B7CB4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5356225"/>
            <a:ext cx="1752600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6D0CD61-9828-4547-A037-FE07F588BDD6}"/>
              </a:ext>
            </a:extLst>
          </p:cNvPr>
          <p:cNvSpPr txBox="1"/>
          <p:nvPr/>
        </p:nvSpPr>
        <p:spPr bwMode="auto">
          <a:xfrm>
            <a:off x="4170820" y="620688"/>
            <a:ext cx="4515980" cy="830997"/>
          </a:xfrm>
          <a:prstGeom prst="rect">
            <a:avLst/>
          </a:prstGeom>
          <a:solidFill>
            <a:srgbClr val="FFFFD9"/>
          </a:solidFill>
          <a:ln w="28575" algn="ctr">
            <a:solidFill>
              <a:srgbClr val="FF660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/>
              <a:t>加、乘、除的各种实现方法中，</a:t>
            </a:r>
            <a:endParaRPr lang="en-US" altLang="zh-CN" sz="2400"/>
          </a:p>
          <a:p>
            <a:pPr algn="l">
              <a:spcBef>
                <a:spcPts val="0"/>
              </a:spcBef>
            </a:pPr>
            <a:r>
              <a:rPr lang="zh-CN" altLang="en-US" sz="2400"/>
              <a:t>哪种更快？</a:t>
            </a:r>
          </a:p>
        </p:txBody>
      </p:sp>
    </p:spTree>
    <p:extLst>
      <p:ext uri="{BB962C8B-B14F-4D97-AF65-F5344CB8AC3E}">
        <p14:creationId xmlns:p14="http://schemas.microsoft.com/office/powerpoint/2010/main" val="295807631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499F5-50CC-4214-9160-4D68149A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 运算方法与运算器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5198B-01CC-4C36-A0DC-125E7D366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E02AC24-C741-4A1C-A31D-DC67416FC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45105"/>
            <a:ext cx="27093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行波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进位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加法器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9BE7DD59-5718-4D5E-BB74-13493FC90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068" y="5339991"/>
            <a:ext cx="525621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66"/>
                </a:solidFill>
                <a:ea typeface="宋体" charset="-122"/>
              </a:rPr>
              <a:t>行波进位</a:t>
            </a:r>
            <a:r>
              <a:rPr lang="zh-CN" altLang="en-US" dirty="0">
                <a:solidFill>
                  <a:srgbClr val="00007D"/>
                </a:solidFill>
                <a:ea typeface="宋体" charset="-122"/>
              </a:rPr>
              <a:t>的</a:t>
            </a:r>
            <a:r>
              <a:rPr lang="en-US" altLang="zh-CN" dirty="0">
                <a:solidFill>
                  <a:srgbClr val="00007D"/>
                </a:solidFill>
                <a:ea typeface="宋体" charset="-122"/>
              </a:rPr>
              <a:t>4</a:t>
            </a:r>
            <a:r>
              <a:rPr lang="zh-CN" altLang="en-US" dirty="0">
                <a:solidFill>
                  <a:srgbClr val="00007D"/>
                </a:solidFill>
                <a:ea typeface="宋体" charset="-122"/>
              </a:rPr>
              <a:t>位加法</a:t>
            </a:r>
            <a:r>
              <a:rPr lang="en-US" altLang="zh-CN" dirty="0">
                <a:solidFill>
                  <a:srgbClr val="00007D"/>
                </a:solidFill>
                <a:ea typeface="宋体" charset="-122"/>
              </a:rPr>
              <a:t>/</a:t>
            </a:r>
            <a:r>
              <a:rPr lang="zh-CN" altLang="en-US" dirty="0">
                <a:solidFill>
                  <a:srgbClr val="00007D"/>
                </a:solidFill>
                <a:ea typeface="宋体" charset="-122"/>
              </a:rPr>
              <a:t>减法器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E750B4A-2360-4D36-881A-A5F9A4CA28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458644"/>
              </p:ext>
            </p:extLst>
          </p:nvPr>
        </p:nvGraphicFramePr>
        <p:xfrm>
          <a:off x="179512" y="1412776"/>
          <a:ext cx="8856984" cy="3882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Visio" r:id="rId3" imgW="3824498" imgH="1676545" progId="Visio.Drawing.15">
                  <p:embed/>
                </p:oleObj>
              </mc:Choice>
              <mc:Fallback>
                <p:oleObj name="Visio" r:id="rId3" imgW="3824498" imgH="1676545" progId="Visio.Drawing.15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16149D7-04EE-4951-AC44-18A10129C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1412776"/>
                        <a:ext cx="8856984" cy="38825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3AD339B-CAC9-4458-B13F-7998BE1EE7EE}"/>
              </a:ext>
            </a:extLst>
          </p:cNvPr>
          <p:cNvSpPr txBox="1"/>
          <p:nvPr/>
        </p:nvSpPr>
        <p:spPr>
          <a:xfrm>
            <a:off x="7914494" y="4557551"/>
            <a:ext cx="826115" cy="369332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zh-CN" altLang="en-US" sz="2400">
                <a:solidFill>
                  <a:srgbClr val="FF0000"/>
                </a:solidFill>
                <a:ea typeface="宋体" charset="-122"/>
              </a:rPr>
              <a:t>M＝0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A23D8D-6B3E-44F6-8C94-E39DF5DD8BED}"/>
              </a:ext>
            </a:extLst>
          </p:cNvPr>
          <p:cNvSpPr txBox="1"/>
          <p:nvPr/>
        </p:nvSpPr>
        <p:spPr>
          <a:xfrm>
            <a:off x="7914494" y="4917591"/>
            <a:ext cx="1000842" cy="369332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zh-CN" altLang="en-US" sz="2400">
                <a:solidFill>
                  <a:srgbClr val="FF0000"/>
                </a:solidFill>
                <a:ea typeface="宋体" charset="-122"/>
              </a:rPr>
              <a:t>做加法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93765C-B84D-4056-B150-CFAE97DC73D6}"/>
              </a:ext>
            </a:extLst>
          </p:cNvPr>
          <p:cNvSpPr txBox="1"/>
          <p:nvPr/>
        </p:nvSpPr>
        <p:spPr>
          <a:xfrm>
            <a:off x="7740352" y="2862193"/>
            <a:ext cx="261857" cy="369332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B0914A-0160-4899-B06E-4AC1649D24F2}"/>
              </a:ext>
            </a:extLst>
          </p:cNvPr>
          <p:cNvSpPr txBox="1"/>
          <p:nvPr/>
        </p:nvSpPr>
        <p:spPr>
          <a:xfrm>
            <a:off x="6782571" y="4079873"/>
            <a:ext cx="231401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9F5E8E-61C7-4DE0-950F-79891C6CBCCA}"/>
              </a:ext>
            </a:extLst>
          </p:cNvPr>
          <p:cNvSpPr txBox="1"/>
          <p:nvPr/>
        </p:nvSpPr>
        <p:spPr>
          <a:xfrm>
            <a:off x="5198392" y="4079873"/>
            <a:ext cx="231401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692B322-E9EF-4C7B-AE11-17B104205384}"/>
              </a:ext>
            </a:extLst>
          </p:cNvPr>
          <p:cNvSpPr txBox="1"/>
          <p:nvPr/>
        </p:nvSpPr>
        <p:spPr>
          <a:xfrm>
            <a:off x="3445036" y="4079873"/>
            <a:ext cx="231401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8F10E4-6170-48CF-8C17-DC12467937A5}"/>
              </a:ext>
            </a:extLst>
          </p:cNvPr>
          <p:cNvSpPr txBox="1"/>
          <p:nvPr/>
        </p:nvSpPr>
        <p:spPr>
          <a:xfrm>
            <a:off x="1530147" y="4079873"/>
            <a:ext cx="231401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7CEC16-09CE-427E-9DDC-E9D6B1232AB4}"/>
              </a:ext>
            </a:extLst>
          </p:cNvPr>
          <p:cNvSpPr txBox="1"/>
          <p:nvPr/>
        </p:nvSpPr>
        <p:spPr>
          <a:xfrm>
            <a:off x="1786858" y="3415025"/>
            <a:ext cx="345214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000" baseline="-25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aseline="-25000">
              <a:solidFill>
                <a:srgbClr val="0099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396385-CB99-45C6-A9AA-62A06234FB9D}"/>
              </a:ext>
            </a:extLst>
          </p:cNvPr>
          <p:cNvSpPr txBox="1"/>
          <p:nvPr/>
        </p:nvSpPr>
        <p:spPr>
          <a:xfrm>
            <a:off x="3627508" y="3415025"/>
            <a:ext cx="345214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000" baseline="-25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aseline="-25000">
              <a:solidFill>
                <a:srgbClr val="0099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675E0CD-605A-4C50-B4BD-9332F076F88D}"/>
              </a:ext>
            </a:extLst>
          </p:cNvPr>
          <p:cNvSpPr txBox="1"/>
          <p:nvPr/>
        </p:nvSpPr>
        <p:spPr>
          <a:xfrm>
            <a:off x="5326674" y="3415025"/>
            <a:ext cx="345214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000" baseline="-25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aseline="-25000">
              <a:solidFill>
                <a:srgbClr val="0099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41F0895-AABD-4FE0-B037-40D4D6170CAC}"/>
              </a:ext>
            </a:extLst>
          </p:cNvPr>
          <p:cNvSpPr txBox="1"/>
          <p:nvPr/>
        </p:nvSpPr>
        <p:spPr>
          <a:xfrm>
            <a:off x="7004473" y="3415025"/>
            <a:ext cx="345214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000" baseline="-25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baseline="-25000">
              <a:solidFill>
                <a:srgbClr val="0099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2812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499F5-50CC-4214-9160-4D68149A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 运算方法与运算器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5198B-01CC-4C36-A0DC-125E7D366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E02AC24-C741-4A1C-A31D-DC67416FC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45105"/>
            <a:ext cx="27093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行波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进位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加法器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8F0F636C-2CCF-4785-81C4-16D94C9F3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068" y="5339991"/>
            <a:ext cx="5256212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66"/>
                </a:solidFill>
                <a:ea typeface="宋体" charset="-122"/>
              </a:rPr>
              <a:t>行波进位</a:t>
            </a:r>
            <a:r>
              <a:rPr lang="zh-CN" altLang="en-US" dirty="0">
                <a:solidFill>
                  <a:srgbClr val="00007D"/>
                </a:solidFill>
                <a:ea typeface="宋体" charset="-122"/>
              </a:rPr>
              <a:t>的</a:t>
            </a:r>
            <a:r>
              <a:rPr lang="en-US" altLang="zh-CN" dirty="0">
                <a:solidFill>
                  <a:srgbClr val="00007D"/>
                </a:solidFill>
                <a:ea typeface="宋体" charset="-122"/>
              </a:rPr>
              <a:t>4</a:t>
            </a:r>
            <a:r>
              <a:rPr lang="zh-CN" altLang="en-US" dirty="0">
                <a:solidFill>
                  <a:srgbClr val="00007D"/>
                </a:solidFill>
                <a:ea typeface="宋体" charset="-122"/>
              </a:rPr>
              <a:t>位加法</a:t>
            </a:r>
            <a:r>
              <a:rPr lang="en-US" altLang="zh-CN" dirty="0">
                <a:solidFill>
                  <a:srgbClr val="00007D"/>
                </a:solidFill>
                <a:ea typeface="宋体" charset="-122"/>
              </a:rPr>
              <a:t>/</a:t>
            </a:r>
            <a:r>
              <a:rPr lang="zh-CN" altLang="en-US" dirty="0">
                <a:solidFill>
                  <a:srgbClr val="00007D"/>
                </a:solidFill>
                <a:ea typeface="宋体" charset="-122"/>
              </a:rPr>
              <a:t>减法器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6B1D3F4-8BC1-4CBD-B64E-F9E1EBA2A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65470"/>
              </p:ext>
            </p:extLst>
          </p:nvPr>
        </p:nvGraphicFramePr>
        <p:xfrm>
          <a:off x="179512" y="1412776"/>
          <a:ext cx="8856984" cy="3882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Visio" r:id="rId3" imgW="3824498" imgH="1676545" progId="Visio.Drawing.15">
                  <p:embed/>
                </p:oleObj>
              </mc:Choice>
              <mc:Fallback>
                <p:oleObj name="Visio" r:id="rId3" imgW="3824498" imgH="1676545" progId="Visio.Drawing.15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16149D7-04EE-4951-AC44-18A10129C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1412776"/>
                        <a:ext cx="8856984" cy="38825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AA32546A-004E-4C93-B8E1-836E4BE2FFF8}"/>
              </a:ext>
            </a:extLst>
          </p:cNvPr>
          <p:cNvSpPr txBox="1"/>
          <p:nvPr/>
        </p:nvSpPr>
        <p:spPr>
          <a:xfrm>
            <a:off x="7914494" y="4557551"/>
            <a:ext cx="826115" cy="369332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zh-CN" altLang="en-US" sz="2400">
                <a:solidFill>
                  <a:srgbClr val="FF0000"/>
                </a:solidFill>
                <a:ea typeface="宋体" charset="-122"/>
              </a:rPr>
              <a:t>M＝</a:t>
            </a:r>
            <a:r>
              <a:rPr lang="en-US" altLang="zh-CN" sz="2400">
                <a:solidFill>
                  <a:srgbClr val="FF0000"/>
                </a:solidFill>
                <a:ea typeface="宋体" charset="-122"/>
              </a:rPr>
              <a:t>1</a:t>
            </a:r>
            <a:endParaRPr lang="zh-CN" altLang="en-US" sz="2400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19C7DF-EAD8-4F72-B674-F65742BACD50}"/>
              </a:ext>
            </a:extLst>
          </p:cNvPr>
          <p:cNvSpPr txBox="1"/>
          <p:nvPr/>
        </p:nvSpPr>
        <p:spPr>
          <a:xfrm>
            <a:off x="7914494" y="4917591"/>
            <a:ext cx="1000842" cy="369332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zh-CN" altLang="en-US" sz="2400">
                <a:solidFill>
                  <a:srgbClr val="FF0000"/>
                </a:solidFill>
                <a:ea typeface="宋体" charset="-122"/>
              </a:rPr>
              <a:t>做减法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C9A008-0973-4586-BA19-F550F59608E3}"/>
              </a:ext>
            </a:extLst>
          </p:cNvPr>
          <p:cNvSpPr txBox="1"/>
          <p:nvPr/>
        </p:nvSpPr>
        <p:spPr>
          <a:xfrm>
            <a:off x="7740352" y="2862193"/>
            <a:ext cx="261857" cy="369332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27DE2C-F632-4ED1-AD51-D18C1627148A}"/>
              </a:ext>
            </a:extLst>
          </p:cNvPr>
          <p:cNvSpPr txBox="1"/>
          <p:nvPr/>
        </p:nvSpPr>
        <p:spPr>
          <a:xfrm>
            <a:off x="6782571" y="4079873"/>
            <a:ext cx="231401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5D11CD-8DEE-4525-8195-AB5CD2620050}"/>
              </a:ext>
            </a:extLst>
          </p:cNvPr>
          <p:cNvSpPr txBox="1"/>
          <p:nvPr/>
        </p:nvSpPr>
        <p:spPr>
          <a:xfrm>
            <a:off x="5198392" y="4079873"/>
            <a:ext cx="231401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077FCD3-2CE0-44A6-A7B1-367D4E3B6983}"/>
              </a:ext>
            </a:extLst>
          </p:cNvPr>
          <p:cNvSpPr txBox="1"/>
          <p:nvPr/>
        </p:nvSpPr>
        <p:spPr>
          <a:xfrm>
            <a:off x="3445036" y="4079873"/>
            <a:ext cx="231401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B901B2B-A7AF-424B-B1E3-F927BBA89D70}"/>
              </a:ext>
            </a:extLst>
          </p:cNvPr>
          <p:cNvSpPr txBox="1"/>
          <p:nvPr/>
        </p:nvSpPr>
        <p:spPr>
          <a:xfrm>
            <a:off x="1530147" y="4079873"/>
            <a:ext cx="231401" cy="307777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2452475-F103-4961-AA7F-FBFF0C785DD4}"/>
              </a:ext>
            </a:extLst>
          </p:cNvPr>
          <p:cNvGrpSpPr/>
          <p:nvPr/>
        </p:nvGrpSpPr>
        <p:grpSpPr>
          <a:xfrm>
            <a:off x="7004473" y="3415025"/>
            <a:ext cx="345214" cy="307777"/>
            <a:chOff x="7004473" y="4081266"/>
            <a:chExt cx="345214" cy="307777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2508D05-39CA-4E1D-B201-0BB250CA1180}"/>
                </a:ext>
              </a:extLst>
            </p:cNvPr>
            <p:cNvSpPr txBox="1"/>
            <p:nvPr/>
          </p:nvSpPr>
          <p:spPr>
            <a:xfrm>
              <a:off x="7004473" y="4081266"/>
              <a:ext cx="345214" cy="307777"/>
            </a:xfrm>
            <a:prstGeom prst="rect">
              <a:avLst/>
            </a:prstGeom>
            <a:noFill/>
          </p:spPr>
          <p:txBody>
            <a:bodyPr wrap="none" lIns="36000" tIns="0" rIns="36000" bIns="0">
              <a:spAutoFit/>
            </a:bodyPr>
            <a:lstStyle/>
            <a:p>
              <a:pPr algn="l"/>
              <a:r>
                <a:rPr lang="en-US" altLang="zh-CN" sz="200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baseline="-25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F3B7015-0833-494F-8C94-5ADCB799FCF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37738" y="4094034"/>
              <a:ext cx="258411" cy="0"/>
            </a:xfrm>
            <a:prstGeom prst="line">
              <a:avLst/>
            </a:prstGeom>
            <a:noFill/>
            <a:ln w="2857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A81F140-641B-499A-BF55-7CC30442398D}"/>
              </a:ext>
            </a:extLst>
          </p:cNvPr>
          <p:cNvGrpSpPr/>
          <p:nvPr/>
        </p:nvGrpSpPr>
        <p:grpSpPr>
          <a:xfrm>
            <a:off x="5326674" y="3415025"/>
            <a:ext cx="345214" cy="307777"/>
            <a:chOff x="5326674" y="4081266"/>
            <a:chExt cx="345214" cy="307777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25A8B9F-0291-4A6D-985D-1CEC9ADCCCFF}"/>
                </a:ext>
              </a:extLst>
            </p:cNvPr>
            <p:cNvSpPr txBox="1"/>
            <p:nvPr/>
          </p:nvSpPr>
          <p:spPr>
            <a:xfrm>
              <a:off x="5326674" y="4081266"/>
              <a:ext cx="345214" cy="307777"/>
            </a:xfrm>
            <a:prstGeom prst="rect">
              <a:avLst/>
            </a:prstGeom>
            <a:noFill/>
          </p:spPr>
          <p:txBody>
            <a:bodyPr wrap="none" lIns="36000" tIns="0" rIns="36000" bIns="0">
              <a:spAutoFit/>
            </a:bodyPr>
            <a:lstStyle/>
            <a:p>
              <a:pPr algn="l"/>
              <a:r>
                <a:rPr lang="en-US" altLang="zh-CN" sz="200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aseline="-25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C5CD00D-1B7E-43C9-8F00-6D24EBCE1F7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62500" y="4094034"/>
              <a:ext cx="233437" cy="0"/>
            </a:xfrm>
            <a:prstGeom prst="line">
              <a:avLst/>
            </a:prstGeom>
            <a:noFill/>
            <a:ln w="2857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2B7DBAD-904C-4B90-BB28-6F9A1A7DB3DA}"/>
              </a:ext>
            </a:extLst>
          </p:cNvPr>
          <p:cNvGrpSpPr/>
          <p:nvPr/>
        </p:nvGrpSpPr>
        <p:grpSpPr>
          <a:xfrm>
            <a:off x="3627508" y="3415025"/>
            <a:ext cx="345214" cy="307777"/>
            <a:chOff x="3627508" y="4081266"/>
            <a:chExt cx="345214" cy="307777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F60EBF6-BAED-4339-99B5-5F785BCD5313}"/>
                </a:ext>
              </a:extLst>
            </p:cNvPr>
            <p:cNvSpPr txBox="1"/>
            <p:nvPr/>
          </p:nvSpPr>
          <p:spPr>
            <a:xfrm>
              <a:off x="3627508" y="4081266"/>
              <a:ext cx="345214" cy="307777"/>
            </a:xfrm>
            <a:prstGeom prst="rect">
              <a:avLst/>
            </a:prstGeom>
            <a:noFill/>
          </p:spPr>
          <p:txBody>
            <a:bodyPr wrap="none" lIns="36000" tIns="0" rIns="36000" bIns="0">
              <a:spAutoFit/>
            </a:bodyPr>
            <a:lstStyle/>
            <a:p>
              <a:pPr algn="l"/>
              <a:r>
                <a:rPr lang="en-US" altLang="zh-CN" sz="200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baseline="-25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C3AA6EE-43D8-4736-AB4B-F7E25A0F65F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63733" y="4094034"/>
              <a:ext cx="258411" cy="0"/>
            </a:xfrm>
            <a:prstGeom prst="line">
              <a:avLst/>
            </a:prstGeom>
            <a:noFill/>
            <a:ln w="2857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449BD69-CD3F-407E-A3CC-E34F14BCB164}"/>
              </a:ext>
            </a:extLst>
          </p:cNvPr>
          <p:cNvGrpSpPr/>
          <p:nvPr/>
        </p:nvGrpSpPr>
        <p:grpSpPr>
          <a:xfrm>
            <a:off x="1786858" y="3415025"/>
            <a:ext cx="345214" cy="307777"/>
            <a:chOff x="1786858" y="4081266"/>
            <a:chExt cx="345214" cy="307777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DBE18BD-B2CA-4FE1-90D1-084992E1149C}"/>
                </a:ext>
              </a:extLst>
            </p:cNvPr>
            <p:cNvSpPr txBox="1"/>
            <p:nvPr/>
          </p:nvSpPr>
          <p:spPr>
            <a:xfrm>
              <a:off x="1786858" y="4081266"/>
              <a:ext cx="345214" cy="307777"/>
            </a:xfrm>
            <a:prstGeom prst="rect">
              <a:avLst/>
            </a:prstGeom>
            <a:noFill/>
          </p:spPr>
          <p:txBody>
            <a:bodyPr wrap="none" lIns="36000" tIns="0" rIns="36000" bIns="0">
              <a:spAutoFit/>
            </a:bodyPr>
            <a:lstStyle/>
            <a:p>
              <a:pPr algn="l"/>
              <a:r>
                <a:rPr lang="en-US" altLang="zh-CN" sz="200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000" baseline="-250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E1122D9-6753-46CF-B5DA-8F9116E02CD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23365" y="4094034"/>
              <a:ext cx="258411" cy="0"/>
            </a:xfrm>
            <a:prstGeom prst="line">
              <a:avLst/>
            </a:prstGeom>
            <a:noFill/>
            <a:ln w="28575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863480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11D90-7A87-4142-AC99-056F38D2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教材 </a:t>
            </a:r>
            <a:r>
              <a:rPr lang="en-US" altLang="zh-CN" dirty="0"/>
              <a:t>P93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dirty="0"/>
              <a:t>习题 </a:t>
            </a:r>
            <a:r>
              <a:rPr lang="en-US" altLang="zh-CN" dirty="0"/>
              <a:t>3.15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AA54B3-86CC-4117-AFE1-0AB6B41E9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11"/>
            <a:ext cx="8362950" cy="2016302"/>
          </a:xfrm>
        </p:spPr>
        <p:txBody>
          <a:bodyPr/>
          <a:lstStyle/>
          <a:p>
            <a:pPr marL="0" lvl="0" indent="0" defTabSz="9144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若已知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[2X]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＝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1.</a:t>
            </a:r>
            <a:r>
              <a:rPr lang="en-US" altLang="zh-CN" sz="2800" b="1" kern="0" dirty="0">
                <a:latin typeface="Times New Roman"/>
                <a:ea typeface="宋体"/>
              </a:rPr>
              <a:t>100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1001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endParaRPr lang="en-US" altLang="zh-CN" sz="2800" b="1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0" lvl="0" indent="0" defTabSz="9144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            [Y/2]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原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＝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1.0101100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b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</a:b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试利用变形补码计算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[X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＋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Y]</a:t>
            </a:r>
            <a:r>
              <a:rPr lang="zh-CN" altLang="en-US" sz="2800" b="1" kern="0" baseline="-25000" dirty="0">
                <a:solidFill>
                  <a:srgbClr val="0000FF"/>
                </a:solidFill>
                <a:latin typeface="Times New Roman"/>
                <a:ea typeface="宋体"/>
              </a:rPr>
              <a:t>补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＝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?</a:t>
            </a:r>
          </a:p>
          <a:p>
            <a:pPr marL="0" lvl="0" indent="0" defTabSz="9144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并判断结果有无</a:t>
            </a:r>
            <a:r>
              <a:rPr lang="zh-CN" altLang="en-US" sz="2800" b="1" kern="0">
                <a:solidFill>
                  <a:srgbClr val="000000"/>
                </a:solidFill>
                <a:latin typeface="Times New Roman"/>
                <a:ea typeface="宋体"/>
              </a:rPr>
              <a:t>溢出。（舍入采用</a:t>
            </a:r>
            <a:r>
              <a:rPr lang="zh-CN" altLang="en-US" sz="2800" b="1" kern="0">
                <a:solidFill>
                  <a:srgbClr val="C00000"/>
                </a:solidFill>
                <a:latin typeface="Times New Roman"/>
                <a:ea typeface="宋体"/>
              </a:rPr>
              <a:t>截尾法</a:t>
            </a:r>
            <a:r>
              <a:rPr lang="zh-CN" altLang="en-US" sz="2800" b="1" kern="0">
                <a:solidFill>
                  <a:srgbClr val="000000"/>
                </a:solidFill>
                <a:latin typeface="Times New Roman"/>
                <a:ea typeface="宋体"/>
              </a:rPr>
              <a:t>）</a:t>
            </a:r>
            <a:endParaRPr lang="en-US" altLang="zh-CN" sz="2800" b="1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7EF55C-27A2-4F76-9E30-A9334072F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AED767-7FC7-4A97-BFFF-4977657D213C}"/>
              </a:ext>
            </a:extLst>
          </p:cNvPr>
          <p:cNvSpPr txBox="1"/>
          <p:nvPr/>
        </p:nvSpPr>
        <p:spPr bwMode="auto">
          <a:xfrm>
            <a:off x="422244" y="2636913"/>
            <a:ext cx="335059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[2X]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＝   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100100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1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71DCB4-C5D7-4991-9BA0-4631B3F62094}"/>
              </a:ext>
            </a:extLst>
          </p:cNvPr>
          <p:cNvSpPr txBox="1"/>
          <p:nvPr/>
        </p:nvSpPr>
        <p:spPr bwMode="auto">
          <a:xfrm>
            <a:off x="598308" y="3193812"/>
            <a:ext cx="317106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[X]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＝   </a:t>
            </a:r>
            <a:r>
              <a:rPr lang="en-US" altLang="zh-CN" sz="2800" b="1" kern="0" dirty="0">
                <a:solidFill>
                  <a:schemeClr val="bg1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r>
              <a:rPr lang="en-US" altLang="zh-CN" sz="2800" b="1" kern="0" dirty="0">
                <a:solidFill>
                  <a:schemeClr val="bg1"/>
                </a:solidFill>
                <a:latin typeface="Times New Roman"/>
                <a:ea typeface="宋体"/>
              </a:rPr>
              <a:t>1001001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46E949-FB0A-4D13-981B-CF768255AD6D}"/>
              </a:ext>
            </a:extLst>
          </p:cNvPr>
          <p:cNvSpPr txBox="1"/>
          <p:nvPr/>
        </p:nvSpPr>
        <p:spPr bwMode="auto">
          <a:xfrm>
            <a:off x="2309761" y="3193098"/>
            <a:ext cx="1441420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100100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8E3F12-68A9-447F-9427-68F50A56D937}"/>
              </a:ext>
            </a:extLst>
          </p:cNvPr>
          <p:cNvSpPr txBox="1"/>
          <p:nvPr/>
        </p:nvSpPr>
        <p:spPr bwMode="auto">
          <a:xfrm>
            <a:off x="2041493" y="3193812"/>
            <a:ext cx="364202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1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4144C3-74F4-4AB8-BC83-BC35840BA489}"/>
              </a:ext>
            </a:extLst>
          </p:cNvPr>
          <p:cNvSpPr/>
          <p:nvPr/>
        </p:nvSpPr>
        <p:spPr bwMode="auto">
          <a:xfrm>
            <a:off x="3655815" y="3279621"/>
            <a:ext cx="293365" cy="39836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DC0C2F6-45FC-4EC3-B6CA-181F7594AC1F}"/>
              </a:ext>
            </a:extLst>
          </p:cNvPr>
          <p:cNvSpPr txBox="1"/>
          <p:nvPr/>
        </p:nvSpPr>
        <p:spPr bwMode="auto">
          <a:xfrm>
            <a:off x="1859392" y="3195677"/>
            <a:ext cx="364202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C4BE269-3492-4B38-A7E1-84A737E0DCF1}"/>
              </a:ext>
            </a:extLst>
          </p:cNvPr>
          <p:cNvSpPr/>
          <p:nvPr/>
        </p:nvSpPr>
        <p:spPr bwMode="auto">
          <a:xfrm>
            <a:off x="1859392" y="3279621"/>
            <a:ext cx="267582" cy="39836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781993-A619-453A-B9EE-8DBD8C7129AE}"/>
              </a:ext>
            </a:extLst>
          </p:cNvPr>
          <p:cNvSpPr txBox="1"/>
          <p:nvPr/>
        </p:nvSpPr>
        <p:spPr bwMode="auto">
          <a:xfrm>
            <a:off x="4283968" y="2636913"/>
            <a:ext cx="3090910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[Y/2]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原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＝</a:t>
            </a:r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.0</a:t>
            </a:r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101100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F4D6E84-9035-4931-9E02-1735FBC5252D}"/>
              </a:ext>
            </a:extLst>
          </p:cNvPr>
          <p:cNvSpPr txBox="1"/>
          <p:nvPr/>
        </p:nvSpPr>
        <p:spPr bwMode="auto">
          <a:xfrm>
            <a:off x="5926832" y="3185555"/>
            <a:ext cx="1441420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0</a:t>
            </a:r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101100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D2352D-E380-4BAF-BFC4-64A96DDB0241}"/>
              </a:ext>
            </a:extLst>
          </p:cNvPr>
          <p:cNvSpPr txBox="1"/>
          <p:nvPr/>
        </p:nvSpPr>
        <p:spPr bwMode="auto">
          <a:xfrm>
            <a:off x="4562890" y="3193098"/>
            <a:ext cx="1462901" cy="52322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rIns="0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[Y]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原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＝</a:t>
            </a:r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B481AF4-7EB6-4A47-A6CF-EA86E47CB93A}"/>
              </a:ext>
            </a:extLst>
          </p:cNvPr>
          <p:cNvSpPr txBox="1"/>
          <p:nvPr/>
        </p:nvSpPr>
        <p:spPr bwMode="auto">
          <a:xfrm>
            <a:off x="7324765" y="3234132"/>
            <a:ext cx="179536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altLang="zh-CN" sz="2800" b="1" kern="0" dirty="0">
                <a:solidFill>
                  <a:srgbClr val="FF00FF"/>
                </a:solidFill>
                <a:latin typeface="Times New Roman"/>
                <a:ea typeface="宋体"/>
              </a:rPr>
              <a:t>0</a:t>
            </a:r>
            <a:endParaRPr lang="zh-CN" altLang="en-US" dirty="0">
              <a:solidFill>
                <a:srgbClr val="FF00FF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F9C636-B2EA-43A2-B3A4-71A8DBE8E199}"/>
              </a:ext>
            </a:extLst>
          </p:cNvPr>
          <p:cNvSpPr/>
          <p:nvPr/>
        </p:nvSpPr>
        <p:spPr bwMode="auto">
          <a:xfrm>
            <a:off x="7307426" y="3237532"/>
            <a:ext cx="293365" cy="39836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F964DB6-5F64-4BEC-A3C8-C72B1A1D7976}"/>
              </a:ext>
            </a:extLst>
          </p:cNvPr>
          <p:cNvSpPr txBox="1"/>
          <p:nvPr/>
        </p:nvSpPr>
        <p:spPr bwMode="auto">
          <a:xfrm>
            <a:off x="4569589" y="3684232"/>
            <a:ext cx="1555234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[Y]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＝</a:t>
            </a:r>
            <a:r>
              <a:rPr lang="en-US" altLang="zh-CN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B489915-FAA7-4947-9962-677969313E40}"/>
              </a:ext>
            </a:extLst>
          </p:cNvPr>
          <p:cNvSpPr txBox="1"/>
          <p:nvPr/>
        </p:nvSpPr>
        <p:spPr bwMode="auto">
          <a:xfrm>
            <a:off x="5920206" y="3683248"/>
            <a:ext cx="1441420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2800" b="1" kern="0" dirty="0">
                <a:solidFill>
                  <a:srgbClr val="0070C0"/>
                </a:solidFill>
                <a:latin typeface="Times New Roman"/>
                <a:ea typeface="宋体"/>
              </a:rPr>
              <a:t>010</a:t>
            </a:r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100</a:t>
            </a:r>
            <a:r>
              <a:rPr lang="en-US" altLang="zh-CN" sz="2800" b="1" kern="0" dirty="0">
                <a:solidFill>
                  <a:srgbClr val="FF00FF"/>
                </a:solidFill>
                <a:latin typeface="Times New Roman"/>
                <a:ea typeface="宋体"/>
              </a:rPr>
              <a:t>0</a:t>
            </a:r>
            <a:endParaRPr lang="zh-CN" altLang="en-US" dirty="0">
              <a:solidFill>
                <a:srgbClr val="FF00FF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0913189-8724-41B0-8EF1-EC3145140700}"/>
              </a:ext>
            </a:extLst>
          </p:cNvPr>
          <p:cNvSpPr txBox="1"/>
          <p:nvPr/>
        </p:nvSpPr>
        <p:spPr bwMode="auto">
          <a:xfrm>
            <a:off x="1411151" y="4981677"/>
            <a:ext cx="189026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11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r>
              <a:rPr lang="en-US" altLang="zh-CN" sz="2800" b="1" kern="0" dirty="0">
                <a:solidFill>
                  <a:srgbClr val="0070C0"/>
                </a:solidFill>
                <a:latin typeface="Times New Roman"/>
                <a:ea typeface="宋体"/>
              </a:rPr>
              <a:t>010</a:t>
            </a:r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100</a:t>
            </a:r>
            <a:r>
              <a:rPr lang="en-US" altLang="zh-CN" sz="2800" b="1" kern="0" dirty="0">
                <a:solidFill>
                  <a:srgbClr val="FF00FF"/>
                </a:solidFill>
                <a:latin typeface="Times New Roman"/>
                <a:ea typeface="宋体"/>
              </a:rPr>
              <a:t>0</a:t>
            </a:r>
            <a:endParaRPr lang="zh-CN" altLang="en-US" dirty="0">
              <a:solidFill>
                <a:srgbClr val="FF00FF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E57C67-FE90-4590-BB42-D80F6BCD4FC2}"/>
              </a:ext>
            </a:extLst>
          </p:cNvPr>
          <p:cNvSpPr txBox="1"/>
          <p:nvPr/>
        </p:nvSpPr>
        <p:spPr bwMode="auto">
          <a:xfrm>
            <a:off x="1411151" y="4575972"/>
            <a:ext cx="189026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11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100100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46B9BD5-6BC9-4516-8324-DEC59E9D89F7}"/>
              </a:ext>
            </a:extLst>
          </p:cNvPr>
          <p:cNvSpPr txBox="1"/>
          <p:nvPr/>
        </p:nvSpPr>
        <p:spPr bwMode="auto">
          <a:xfrm>
            <a:off x="925597" y="4986478"/>
            <a:ext cx="545342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800" b="1" kern="0" dirty="0">
                <a:latin typeface="Times New Roman"/>
                <a:ea typeface="宋体"/>
              </a:rPr>
              <a:t>＋</a:t>
            </a:r>
            <a:endParaRPr lang="zh-CN" altLang="en-US" dirty="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878DD40-F94A-4E24-B7E7-79BF3593B0F3}"/>
              </a:ext>
            </a:extLst>
          </p:cNvPr>
          <p:cNvCxnSpPr>
            <a:cxnSpLocks/>
          </p:cNvCxnSpPr>
          <p:nvPr/>
        </p:nvCxnSpPr>
        <p:spPr bwMode="auto">
          <a:xfrm>
            <a:off x="1064477" y="5494215"/>
            <a:ext cx="213654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DC47F623-69C2-4A79-AC36-1B518A3AA761}"/>
              </a:ext>
            </a:extLst>
          </p:cNvPr>
          <p:cNvSpPr txBox="1"/>
          <p:nvPr/>
        </p:nvSpPr>
        <p:spPr bwMode="auto">
          <a:xfrm>
            <a:off x="1411151" y="5463085"/>
            <a:ext cx="189026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11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r>
              <a:rPr lang="en-US" altLang="zh-CN" sz="2800" b="1" kern="0" dirty="0">
                <a:solidFill>
                  <a:srgbClr val="0070C0"/>
                </a:solidFill>
                <a:latin typeface="Times New Roman"/>
                <a:ea typeface="宋体"/>
              </a:rPr>
              <a:t>000</a:t>
            </a:r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110</a:t>
            </a:r>
            <a:r>
              <a:rPr lang="en-US" altLang="zh-CN" sz="2800" b="1" kern="0" dirty="0">
                <a:solidFill>
                  <a:srgbClr val="FF00FF"/>
                </a:solidFill>
                <a:latin typeface="Times New Roman"/>
                <a:ea typeface="宋体"/>
              </a:rPr>
              <a:t>0</a:t>
            </a:r>
            <a:endParaRPr lang="zh-CN" altLang="en-US" dirty="0">
              <a:solidFill>
                <a:srgbClr val="FF00FF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3A6C9E7-B518-465E-A4B9-61099366F6D7}"/>
              </a:ext>
            </a:extLst>
          </p:cNvPr>
          <p:cNvSpPr txBox="1"/>
          <p:nvPr/>
        </p:nvSpPr>
        <p:spPr bwMode="auto">
          <a:xfrm>
            <a:off x="755576" y="5858108"/>
            <a:ext cx="126669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无溢出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75E0A10-5A8C-4030-BA9B-539F78288025}"/>
              </a:ext>
            </a:extLst>
          </p:cNvPr>
          <p:cNvSpPr txBox="1"/>
          <p:nvPr/>
        </p:nvSpPr>
        <p:spPr bwMode="auto">
          <a:xfrm>
            <a:off x="3248748" y="4547407"/>
            <a:ext cx="92525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[X]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D8E0F8C-1C42-480B-8E1C-49F8457DDE5B}"/>
              </a:ext>
            </a:extLst>
          </p:cNvPr>
          <p:cNvSpPr txBox="1"/>
          <p:nvPr/>
        </p:nvSpPr>
        <p:spPr bwMode="auto">
          <a:xfrm>
            <a:off x="3256159" y="4947738"/>
            <a:ext cx="92525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[Y]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7582F09-B15F-4E54-8B9E-230B957BAF30}"/>
              </a:ext>
            </a:extLst>
          </p:cNvPr>
          <p:cNvSpPr txBox="1"/>
          <p:nvPr/>
        </p:nvSpPr>
        <p:spPr bwMode="auto">
          <a:xfrm>
            <a:off x="3256159" y="5406860"/>
            <a:ext cx="154561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[X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＋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Y]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10A98F2-2283-4059-91AE-5B485DB86F6D}"/>
              </a:ext>
            </a:extLst>
          </p:cNvPr>
          <p:cNvSpPr txBox="1"/>
          <p:nvPr/>
        </p:nvSpPr>
        <p:spPr bwMode="auto">
          <a:xfrm>
            <a:off x="4059027" y="4224353"/>
            <a:ext cx="505298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800" b="1" kern="0" dirty="0">
                <a:solidFill>
                  <a:srgbClr val="C00000"/>
                </a:solidFill>
                <a:latin typeface="Times New Roman"/>
                <a:ea typeface="宋体"/>
              </a:rPr>
              <a:t>如何判断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原码</a:t>
            </a:r>
            <a:r>
              <a:rPr lang="zh-CN" altLang="en-US" sz="2800" b="1" kern="0" dirty="0">
                <a:solidFill>
                  <a:srgbClr val="FF00FF"/>
                </a:solidFill>
                <a:latin typeface="Times New Roman"/>
                <a:ea typeface="宋体"/>
              </a:rPr>
              <a:t>左移</a:t>
            </a:r>
            <a:r>
              <a:rPr lang="zh-CN" altLang="en-US" sz="2800" b="1" kern="0" dirty="0">
                <a:solidFill>
                  <a:srgbClr val="C00000"/>
                </a:solidFill>
                <a:latin typeface="Times New Roman"/>
                <a:ea typeface="宋体"/>
              </a:rPr>
              <a:t>会不会溢出</a:t>
            </a:r>
            <a:r>
              <a:rPr lang="en-US" altLang="zh-CN" sz="2800" b="1" kern="0" dirty="0">
                <a:solidFill>
                  <a:srgbClr val="C00000"/>
                </a:solidFill>
                <a:latin typeface="Times New Roman"/>
                <a:ea typeface="宋体"/>
              </a:rPr>
              <a:t>?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A28A46E-19B1-46F6-8434-D4A766F70158}"/>
              </a:ext>
            </a:extLst>
          </p:cNvPr>
          <p:cNvSpPr txBox="1"/>
          <p:nvPr/>
        </p:nvSpPr>
        <p:spPr bwMode="auto">
          <a:xfrm>
            <a:off x="5347206" y="277076"/>
            <a:ext cx="3500253" cy="830997"/>
          </a:xfrm>
          <a:prstGeom prst="rect">
            <a:avLst/>
          </a:prstGeom>
          <a:solidFill>
            <a:srgbClr val="FFFFD9"/>
          </a:solidFill>
          <a:ln w="28575" algn="ctr">
            <a:solidFill>
              <a:srgbClr val="00B0F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此页有动画，</a:t>
            </a:r>
            <a:br>
              <a:rPr lang="en-US" altLang="zh-CN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需在PowerPoint中播放</a:t>
            </a:r>
          </a:p>
        </p:txBody>
      </p:sp>
    </p:spTree>
    <p:extLst>
      <p:ext uri="{BB962C8B-B14F-4D97-AF65-F5344CB8AC3E}">
        <p14:creationId xmlns:p14="http://schemas.microsoft.com/office/powerpoint/2010/main" val="33645079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8.32667E-17 L 0.01909 -0.0004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5" y="-2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2.59259E-6 L 0.03004 -2.59259E-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3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59259E-6 L 0.02014 -2.59259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22222E-6 L -0.02014 -2.22222E-6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7.40741E-7 L -0.02604 0.00093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7" grpId="0"/>
      <p:bldP spid="7" grpId="1"/>
      <p:bldP spid="9" grpId="0"/>
      <p:bldP spid="9" grpId="1"/>
      <p:bldP spid="13" grpId="0"/>
      <p:bldP spid="16" grpId="0"/>
      <p:bldP spid="18" grpId="0"/>
      <p:bldP spid="18" grpId="1"/>
      <p:bldP spid="15" grpId="0" animBg="1"/>
      <p:bldP spid="19" grpId="0"/>
      <p:bldP spid="24" grpId="0"/>
      <p:bldP spid="25" grpId="0"/>
      <p:bldP spid="26" grpId="0"/>
      <p:bldP spid="27" grpId="0"/>
      <p:bldP spid="28" grpId="0"/>
      <p:bldP spid="32" grpId="0"/>
      <p:bldP spid="34" grpId="0"/>
      <p:bldP spid="36" grpId="0"/>
      <p:bldP spid="38" grpId="0"/>
      <p:bldP spid="39" grpId="0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11D90-7A87-4142-AC99-056F38D2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教材 </a:t>
            </a:r>
            <a:r>
              <a:rPr lang="en-US" altLang="zh-CN" dirty="0"/>
              <a:t>P93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dirty="0"/>
              <a:t>习题 </a:t>
            </a:r>
            <a:r>
              <a:rPr lang="en-US" altLang="zh-CN" dirty="0"/>
              <a:t>3.16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AA54B3-86CC-4117-AFE1-0AB6B41E9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11"/>
            <a:ext cx="8362950" cy="2016302"/>
          </a:xfrm>
        </p:spPr>
        <p:txBody>
          <a:bodyPr/>
          <a:lstStyle/>
          <a:p>
            <a:pPr marL="0" lvl="0" indent="0" defTabSz="9144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若已知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[X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/>
              </a:rPr>
              <a:t>/2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＝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1.</a:t>
            </a:r>
            <a:r>
              <a:rPr lang="en-US" altLang="zh-CN" sz="2800" b="1" kern="0" dirty="0">
                <a:latin typeface="Times New Roman"/>
                <a:ea typeface="宋体"/>
              </a:rPr>
              <a:t>100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1001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endParaRPr lang="en-US" altLang="zh-CN" sz="2800" b="1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0" lvl="0" indent="0" defTabSz="9144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            [2Y]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原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＝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1.0101100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，</a:t>
            </a:r>
            <a:b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</a:b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试利用变形补码计算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[X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＋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Y]</a:t>
            </a:r>
            <a:r>
              <a:rPr lang="zh-CN" altLang="en-US" sz="2800" b="1" kern="0" baseline="-25000" dirty="0">
                <a:solidFill>
                  <a:srgbClr val="0000FF"/>
                </a:solidFill>
                <a:latin typeface="Times New Roman"/>
                <a:ea typeface="宋体"/>
              </a:rPr>
              <a:t>补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＝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?</a:t>
            </a:r>
          </a:p>
          <a:p>
            <a:pPr marL="0" lvl="0" indent="0" defTabSz="9144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并判断结果有无溢出。</a:t>
            </a:r>
            <a:endParaRPr lang="en-US" altLang="zh-CN" sz="2800" b="1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7EF55C-27A2-4F76-9E30-A9334072F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584FFCB-3407-4E7C-B2DB-BCB8F341036E}"/>
              </a:ext>
            </a:extLst>
          </p:cNvPr>
          <p:cNvSpPr txBox="1"/>
          <p:nvPr/>
        </p:nvSpPr>
        <p:spPr bwMode="auto">
          <a:xfrm>
            <a:off x="539552" y="2669916"/>
            <a:ext cx="3180678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[X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/>
              </a:rPr>
              <a:t>/2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＝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1.</a:t>
            </a:r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001001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02B978-845E-4882-A160-B5994DCF5F8E}"/>
              </a:ext>
            </a:extLst>
          </p:cNvPr>
          <p:cNvSpPr txBox="1"/>
          <p:nvPr/>
        </p:nvSpPr>
        <p:spPr bwMode="auto">
          <a:xfrm>
            <a:off x="5094333" y="2669916"/>
            <a:ext cx="308129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[2Y]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原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＝</a:t>
            </a:r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010110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0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43DA442-2850-4969-8817-BFA76F7AE4AB}"/>
              </a:ext>
            </a:extLst>
          </p:cNvPr>
          <p:cNvSpPr txBox="1"/>
          <p:nvPr/>
        </p:nvSpPr>
        <p:spPr bwMode="auto">
          <a:xfrm>
            <a:off x="2088208" y="3206350"/>
            <a:ext cx="179536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1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E37974B-DFB3-4940-BC27-BC36A0050D7F}"/>
              </a:ext>
            </a:extLst>
          </p:cNvPr>
          <p:cNvSpPr txBox="1"/>
          <p:nvPr/>
        </p:nvSpPr>
        <p:spPr bwMode="auto">
          <a:xfrm>
            <a:off x="2261609" y="3207030"/>
            <a:ext cx="89768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A9F6421-0CCE-4058-834B-5864EE6B5D02}"/>
              </a:ext>
            </a:extLst>
          </p:cNvPr>
          <p:cNvSpPr txBox="1"/>
          <p:nvPr/>
        </p:nvSpPr>
        <p:spPr bwMode="auto">
          <a:xfrm>
            <a:off x="2351377" y="3208956"/>
            <a:ext cx="179536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125FBC4-AE45-4D8B-B562-2640DF82EFDA}"/>
              </a:ext>
            </a:extLst>
          </p:cNvPr>
          <p:cNvSpPr txBox="1"/>
          <p:nvPr/>
        </p:nvSpPr>
        <p:spPr bwMode="auto">
          <a:xfrm>
            <a:off x="2530324" y="3209294"/>
            <a:ext cx="1077218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001001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6BE679F-BB3D-4040-B809-DD71D4F1CEBA}"/>
              </a:ext>
            </a:extLst>
          </p:cNvPr>
          <p:cNvSpPr txBox="1"/>
          <p:nvPr/>
        </p:nvSpPr>
        <p:spPr bwMode="auto">
          <a:xfrm>
            <a:off x="3604851" y="3214604"/>
            <a:ext cx="179536" cy="430887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47F831D-D5E4-4D2C-A01F-DF7256CF4DEE}"/>
              </a:ext>
            </a:extLst>
          </p:cNvPr>
          <p:cNvSpPr txBox="1"/>
          <p:nvPr/>
        </p:nvSpPr>
        <p:spPr bwMode="auto">
          <a:xfrm>
            <a:off x="838352" y="3207064"/>
            <a:ext cx="1263735" cy="50359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72000" tIns="0" rIns="0" bIns="72000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[X]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＝</a:t>
            </a:r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EBC905F-1A80-40D3-8D15-E3B6A73FB452}"/>
              </a:ext>
            </a:extLst>
          </p:cNvPr>
          <p:cNvSpPr/>
          <p:nvPr/>
        </p:nvSpPr>
        <p:spPr bwMode="auto">
          <a:xfrm>
            <a:off x="3609961" y="3284984"/>
            <a:ext cx="163599" cy="288032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06D55F3-3DFD-4360-A76E-322129F0FD9A}"/>
              </a:ext>
            </a:extLst>
          </p:cNvPr>
          <p:cNvSpPr txBox="1"/>
          <p:nvPr/>
        </p:nvSpPr>
        <p:spPr bwMode="auto">
          <a:xfrm>
            <a:off x="6718683" y="3163252"/>
            <a:ext cx="1441420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010110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0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C13EE97-1EB2-4F48-ABEC-DE040D98DBBE}"/>
              </a:ext>
            </a:extLst>
          </p:cNvPr>
          <p:cNvSpPr txBox="1"/>
          <p:nvPr/>
        </p:nvSpPr>
        <p:spPr bwMode="auto">
          <a:xfrm>
            <a:off x="6452424" y="3170112"/>
            <a:ext cx="364202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0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7234C18-EAE1-4886-8AFF-BD59BFF9A354}"/>
              </a:ext>
            </a:extLst>
          </p:cNvPr>
          <p:cNvSpPr txBox="1"/>
          <p:nvPr/>
        </p:nvSpPr>
        <p:spPr bwMode="auto">
          <a:xfrm>
            <a:off x="5355850" y="3206350"/>
            <a:ext cx="1460336" cy="477054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lIns="0" tIns="0" rIns="0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 [Y]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原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＝</a:t>
            </a:r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85AB898-FDE8-4F9B-AE04-B3821BED19BF}"/>
              </a:ext>
            </a:extLst>
          </p:cNvPr>
          <p:cNvSpPr/>
          <p:nvPr/>
        </p:nvSpPr>
        <p:spPr bwMode="auto">
          <a:xfrm>
            <a:off x="8054888" y="3284984"/>
            <a:ext cx="214958" cy="288032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BD7E5BE-CC5C-4130-B24B-BCBCB0F98594}"/>
              </a:ext>
            </a:extLst>
          </p:cNvPr>
          <p:cNvSpPr txBox="1"/>
          <p:nvPr/>
        </p:nvSpPr>
        <p:spPr bwMode="auto">
          <a:xfrm>
            <a:off x="5355410" y="3638923"/>
            <a:ext cx="1555234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[Y]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＝</a:t>
            </a:r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0" dirty="0">
                <a:latin typeface="Times New Roman"/>
                <a:ea typeface="宋体"/>
              </a:rPr>
              <a:t>.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D15CD14-A86D-4D03-B8FD-1B6B01978E99}"/>
              </a:ext>
            </a:extLst>
          </p:cNvPr>
          <p:cNvSpPr txBox="1"/>
          <p:nvPr/>
        </p:nvSpPr>
        <p:spPr bwMode="auto">
          <a:xfrm>
            <a:off x="6705431" y="3628917"/>
            <a:ext cx="1441420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2800" b="1" kern="0" dirty="0">
                <a:solidFill>
                  <a:srgbClr val="3366FF"/>
                </a:solidFill>
                <a:latin typeface="Times New Roman"/>
                <a:ea typeface="宋体"/>
              </a:rPr>
              <a:t>11010</a:t>
            </a:r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10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8C9F86F-AFA3-4D23-BF3E-049E3211C5C8}"/>
              </a:ext>
            </a:extLst>
          </p:cNvPr>
          <p:cNvSpPr txBox="1"/>
          <p:nvPr/>
        </p:nvSpPr>
        <p:spPr bwMode="auto">
          <a:xfrm>
            <a:off x="1411151" y="4981677"/>
            <a:ext cx="189026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11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r>
              <a:rPr lang="en-US" altLang="zh-CN" kern="0" dirty="0">
                <a:solidFill>
                  <a:srgbClr val="3366FF"/>
                </a:solidFill>
                <a:latin typeface="Times New Roman"/>
                <a:ea typeface="宋体"/>
              </a:rPr>
              <a:t>11010</a:t>
            </a:r>
            <a:r>
              <a:rPr lang="en-US" altLang="zh-CN" kern="0" dirty="0">
                <a:solidFill>
                  <a:srgbClr val="009900"/>
                </a:solidFill>
                <a:latin typeface="Times New Roman"/>
                <a:ea typeface="宋体"/>
              </a:rPr>
              <a:t>10</a:t>
            </a:r>
            <a:endParaRPr lang="zh-CN" altLang="en-US" dirty="0">
              <a:solidFill>
                <a:srgbClr val="FF00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626C0C6-5C80-40AC-9D75-74A131714518}"/>
              </a:ext>
            </a:extLst>
          </p:cNvPr>
          <p:cNvSpPr txBox="1"/>
          <p:nvPr/>
        </p:nvSpPr>
        <p:spPr bwMode="auto">
          <a:xfrm>
            <a:off x="1411151" y="4575972"/>
            <a:ext cx="189026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11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001001</a:t>
            </a:r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738E604-EE86-48E2-924D-5EC1DA53CB01}"/>
              </a:ext>
            </a:extLst>
          </p:cNvPr>
          <p:cNvSpPr txBox="1"/>
          <p:nvPr/>
        </p:nvSpPr>
        <p:spPr bwMode="auto">
          <a:xfrm>
            <a:off x="925597" y="4986478"/>
            <a:ext cx="545342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800" b="1" kern="0" dirty="0">
                <a:latin typeface="Times New Roman"/>
                <a:ea typeface="宋体"/>
              </a:rPr>
              <a:t>＋</a:t>
            </a:r>
            <a:endParaRPr lang="zh-CN" altLang="en-US" dirty="0"/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5EFA8EB0-0611-4B4C-9A31-C7CB5A8D9058}"/>
              </a:ext>
            </a:extLst>
          </p:cNvPr>
          <p:cNvCxnSpPr>
            <a:cxnSpLocks/>
          </p:cNvCxnSpPr>
          <p:nvPr/>
        </p:nvCxnSpPr>
        <p:spPr bwMode="auto">
          <a:xfrm>
            <a:off x="1064477" y="5494215"/>
            <a:ext cx="213654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8C59B467-B9E0-4F90-ACE6-CF6D8D6DC8EB}"/>
              </a:ext>
            </a:extLst>
          </p:cNvPr>
          <p:cNvSpPr txBox="1"/>
          <p:nvPr/>
        </p:nvSpPr>
        <p:spPr bwMode="auto">
          <a:xfrm>
            <a:off x="1411151" y="5463085"/>
            <a:ext cx="1890261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FF0000"/>
                </a:solidFill>
                <a:latin typeface="Times New Roman"/>
                <a:ea typeface="宋体"/>
              </a:rPr>
              <a:t>10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.</a:t>
            </a:r>
            <a:r>
              <a:rPr lang="en-US" altLang="zh-CN" sz="2800" b="1" kern="0" dirty="0">
                <a:solidFill>
                  <a:srgbClr val="0070C0"/>
                </a:solidFill>
                <a:latin typeface="Times New Roman"/>
                <a:ea typeface="宋体"/>
              </a:rPr>
              <a:t>111110</a:t>
            </a:r>
            <a:r>
              <a:rPr lang="en-US" altLang="zh-CN" sz="2800" b="1" kern="0" dirty="0">
                <a:solidFill>
                  <a:srgbClr val="009900"/>
                </a:solidFill>
                <a:latin typeface="Times New Roman"/>
                <a:ea typeface="宋体"/>
              </a:rPr>
              <a:t>0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5AD9282-A4B6-4BCD-AF7B-AC8632A0F2FC}"/>
              </a:ext>
            </a:extLst>
          </p:cNvPr>
          <p:cNvSpPr txBox="1"/>
          <p:nvPr/>
        </p:nvSpPr>
        <p:spPr bwMode="auto">
          <a:xfrm>
            <a:off x="1145703" y="5858108"/>
            <a:ext cx="906017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溢出</a:t>
            </a:r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163C73A-1468-41DF-8B50-C643ECE1F37A}"/>
              </a:ext>
            </a:extLst>
          </p:cNvPr>
          <p:cNvSpPr txBox="1"/>
          <p:nvPr/>
        </p:nvSpPr>
        <p:spPr bwMode="auto">
          <a:xfrm>
            <a:off x="3248748" y="4547407"/>
            <a:ext cx="92525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[X]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00F7037-DBEE-40D9-92A3-BC541502F2C6}"/>
              </a:ext>
            </a:extLst>
          </p:cNvPr>
          <p:cNvSpPr txBox="1"/>
          <p:nvPr/>
        </p:nvSpPr>
        <p:spPr bwMode="auto">
          <a:xfrm>
            <a:off x="3256159" y="4947738"/>
            <a:ext cx="925253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[Y]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924CF83-4069-4CE0-BC6E-709CAC382DE5}"/>
              </a:ext>
            </a:extLst>
          </p:cNvPr>
          <p:cNvSpPr txBox="1"/>
          <p:nvPr/>
        </p:nvSpPr>
        <p:spPr bwMode="auto">
          <a:xfrm>
            <a:off x="3256159" y="5406860"/>
            <a:ext cx="154561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[X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＋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Y]</a:t>
            </a:r>
            <a:r>
              <a:rPr lang="zh-CN" altLang="en-US" sz="28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补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9D1E563-AA95-43A9-B732-3057095C4BC5}"/>
              </a:ext>
            </a:extLst>
          </p:cNvPr>
          <p:cNvSpPr txBox="1"/>
          <p:nvPr/>
        </p:nvSpPr>
        <p:spPr bwMode="auto">
          <a:xfrm>
            <a:off x="107504" y="3796168"/>
            <a:ext cx="5052986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800" b="1" kern="0" dirty="0">
                <a:solidFill>
                  <a:srgbClr val="C00000"/>
                </a:solidFill>
                <a:latin typeface="Times New Roman"/>
                <a:ea typeface="宋体"/>
              </a:rPr>
              <a:t>如何判断</a:t>
            </a:r>
            <a:r>
              <a:rPr lang="zh-CN" altLang="en-US" kern="0" dirty="0">
                <a:solidFill>
                  <a:srgbClr val="0000FF"/>
                </a:solidFill>
                <a:latin typeface="Times New Roman"/>
                <a:ea typeface="宋体"/>
              </a:rPr>
              <a:t>补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/>
                <a:ea typeface="宋体"/>
              </a:rPr>
              <a:t>码</a:t>
            </a:r>
            <a:r>
              <a:rPr lang="zh-CN" altLang="en-US" sz="2800" b="1" kern="0" dirty="0">
                <a:solidFill>
                  <a:srgbClr val="FF00FF"/>
                </a:solidFill>
                <a:latin typeface="Times New Roman"/>
                <a:ea typeface="宋体"/>
              </a:rPr>
              <a:t>左移</a:t>
            </a:r>
            <a:r>
              <a:rPr lang="zh-CN" altLang="en-US" sz="2800" b="1" kern="0" dirty="0">
                <a:solidFill>
                  <a:srgbClr val="C00000"/>
                </a:solidFill>
                <a:latin typeface="Times New Roman"/>
                <a:ea typeface="宋体"/>
              </a:rPr>
              <a:t>会不会溢出</a:t>
            </a:r>
            <a:r>
              <a:rPr lang="en-US" altLang="zh-CN" sz="2800" b="1" kern="0" dirty="0">
                <a:solidFill>
                  <a:srgbClr val="C00000"/>
                </a:solidFill>
                <a:latin typeface="Times New Roman"/>
                <a:ea typeface="宋体"/>
              </a:rPr>
              <a:t>?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11287A5-458A-40DE-95FB-F89BD1B440E1}"/>
              </a:ext>
            </a:extLst>
          </p:cNvPr>
          <p:cNvSpPr txBox="1"/>
          <p:nvPr/>
        </p:nvSpPr>
        <p:spPr bwMode="auto">
          <a:xfrm>
            <a:off x="5347206" y="277076"/>
            <a:ext cx="3500253" cy="830997"/>
          </a:xfrm>
          <a:prstGeom prst="rect">
            <a:avLst/>
          </a:prstGeom>
          <a:solidFill>
            <a:srgbClr val="FFFFD9"/>
          </a:solidFill>
          <a:ln w="28575" algn="ctr">
            <a:solidFill>
              <a:srgbClr val="00B0F0"/>
            </a:solidFill>
            <a:miter lim="800000"/>
            <a:headEnd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此页有动画，</a:t>
            </a:r>
            <a:br>
              <a:rPr lang="en-US" altLang="zh-CN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需在PowerPoint中播放</a:t>
            </a:r>
          </a:p>
        </p:txBody>
      </p:sp>
    </p:spTree>
    <p:extLst>
      <p:ext uri="{BB962C8B-B14F-4D97-AF65-F5344CB8AC3E}">
        <p14:creationId xmlns:p14="http://schemas.microsoft.com/office/powerpoint/2010/main" val="30835466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023 L -0.03802 -0.0002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00023 L -0.02899 0.00023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8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23 L -0.01962 0.0002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2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-0.00046 L -0.01996 -0.0004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4.44444E-6 L 0.02031 4.44444E-6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0.02899 -2.96296E-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30" grpId="0"/>
      <p:bldP spid="30" grpId="1"/>
      <p:bldP spid="32" grpId="0"/>
      <p:bldP spid="33" grpId="0"/>
      <p:bldP spid="33" grpId="1"/>
      <p:bldP spid="34" grpId="0"/>
      <p:bldP spid="34" grpId="1"/>
      <p:bldP spid="36" grpId="0"/>
      <p:bldP spid="29" grpId="0" animBg="1"/>
      <p:bldP spid="40" grpId="0"/>
      <p:bldP spid="40" grpId="1"/>
      <p:bldP spid="41" grpId="0"/>
      <p:bldP spid="41" grpId="1"/>
      <p:bldP spid="39" grpId="0" animBg="1"/>
      <p:bldP spid="47" grpId="0"/>
      <p:bldP spid="48" grpId="0"/>
      <p:bldP spid="49" grpId="0"/>
      <p:bldP spid="50" grpId="0"/>
      <p:bldP spid="51" grpId="0"/>
      <p:bldP spid="53" grpId="0"/>
      <p:bldP spid="54" grpId="0"/>
      <p:bldP spid="55" grpId="0"/>
      <p:bldP spid="56" grpId="0"/>
      <p:bldP spid="57" grpId="0"/>
      <p:bldP spid="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AA8FA-B3E0-4332-9B99-D6472AD28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P94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dirty="0"/>
              <a:t>习题 </a:t>
            </a:r>
            <a:r>
              <a:rPr lang="en-US" altLang="zh-CN" dirty="0"/>
              <a:t>3.20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AF26CF-9A67-4559-9DBF-2BE1EC445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9EF4279E-968C-48FB-AF4C-80C38B7FCD71}"/>
              </a:ext>
            </a:extLst>
          </p:cNvPr>
          <p:cNvSpPr txBox="1">
            <a:spLocks/>
          </p:cNvSpPr>
          <p:nvPr/>
        </p:nvSpPr>
        <p:spPr bwMode="auto">
          <a:xfrm>
            <a:off x="285780" y="357166"/>
            <a:ext cx="3786187" cy="135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kern="0" dirty="0"/>
              <a:t>3.20 ①</a:t>
            </a:r>
            <a:br>
              <a:rPr lang="en-US" altLang="zh-CN" kern="0" dirty="0"/>
            </a:br>
            <a:r>
              <a:rPr lang="zh-CN" altLang="en-US" kern="0" dirty="0"/>
              <a:t>用</a:t>
            </a:r>
            <a:r>
              <a:rPr lang="en-US" altLang="zh-CN" kern="0" dirty="0"/>
              <a:t>Booth</a:t>
            </a:r>
            <a:r>
              <a:rPr lang="zh-CN" altLang="en-US" kern="0" dirty="0"/>
              <a:t>法求乘积。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102697B-46DF-472D-B061-12CD2E382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55" y="1785916"/>
            <a:ext cx="2971800" cy="3500452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/>
              <a:t>  X </a:t>
            </a:r>
            <a:r>
              <a:rPr lang="zh-CN" altLang="en-US"/>
              <a:t>＝  －</a:t>
            </a:r>
            <a:r>
              <a:rPr lang="en-US" altLang="zh-CN"/>
              <a:t>0.1101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FF"/>
                </a:solidFill>
              </a:rPr>
              <a:t> [X]</a:t>
            </a:r>
            <a:r>
              <a:rPr lang="zh-CN" altLang="en-US" baseline="-25000">
                <a:solidFill>
                  <a:srgbClr val="0000FF"/>
                </a:solidFill>
              </a:rPr>
              <a:t>补</a:t>
            </a:r>
            <a:r>
              <a:rPr lang="zh-CN" altLang="en-US">
                <a:solidFill>
                  <a:srgbClr val="0000FF"/>
                </a:solidFill>
              </a:rPr>
              <a:t>＝ </a:t>
            </a:r>
            <a:r>
              <a:rPr lang="en-US" altLang="zh-CN">
                <a:solidFill>
                  <a:srgbClr val="0000FF"/>
                </a:solidFill>
              </a:rPr>
              <a:t>11.0011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FF"/>
                </a:solidFill>
              </a:rPr>
              <a:t>[-X]</a:t>
            </a:r>
            <a:r>
              <a:rPr lang="zh-CN" altLang="en-US" baseline="-25000">
                <a:solidFill>
                  <a:srgbClr val="0000FF"/>
                </a:solidFill>
              </a:rPr>
              <a:t>补</a:t>
            </a:r>
            <a:r>
              <a:rPr lang="zh-CN" altLang="en-US">
                <a:solidFill>
                  <a:srgbClr val="0000FF"/>
                </a:solidFill>
              </a:rPr>
              <a:t>＝ </a:t>
            </a:r>
            <a:r>
              <a:rPr lang="en-US" altLang="zh-CN">
                <a:solidFill>
                  <a:srgbClr val="0000FF"/>
                </a:solidFill>
              </a:rPr>
              <a:t>00.1101</a:t>
            </a:r>
          </a:p>
          <a:p>
            <a:pPr marL="0" indent="0">
              <a:buFont typeface="Wingdings" pitchFamily="2" charset="2"/>
              <a:buNone/>
            </a:pPr>
            <a:endParaRPr lang="en-US" altLang="zh-CN"/>
          </a:p>
          <a:p>
            <a:pPr marL="0" indent="0">
              <a:buFont typeface="Wingdings" pitchFamily="2" charset="2"/>
              <a:buNone/>
            </a:pPr>
            <a:r>
              <a:rPr lang="en-US" altLang="zh-CN"/>
              <a:t> Y</a:t>
            </a:r>
            <a:r>
              <a:rPr lang="zh-CN" altLang="en-US"/>
              <a:t>＝ ＋</a:t>
            </a:r>
            <a:r>
              <a:rPr lang="en-US" altLang="zh-CN"/>
              <a:t>0.0110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FF"/>
                </a:solidFill>
              </a:rPr>
              <a:t>[Y]</a:t>
            </a:r>
            <a:r>
              <a:rPr lang="zh-CN" altLang="en-US" baseline="-25000">
                <a:solidFill>
                  <a:srgbClr val="0000FF"/>
                </a:solidFill>
              </a:rPr>
              <a:t>补</a:t>
            </a:r>
            <a:r>
              <a:rPr lang="zh-CN" altLang="en-US">
                <a:solidFill>
                  <a:srgbClr val="0000FF"/>
                </a:solidFill>
              </a:rPr>
              <a:t>＝ </a:t>
            </a:r>
            <a:r>
              <a:rPr lang="en-US" altLang="zh-CN">
                <a:solidFill>
                  <a:srgbClr val="0000FF"/>
                </a:solidFill>
              </a:rPr>
              <a:t>0.0110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63D8BDE-9D11-4086-AAD6-B00566C6C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30" y="785791"/>
            <a:ext cx="10001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8000"/>
                </a:solidFill>
              </a:rPr>
              <a:t>符号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4845CEE-97A4-4355-B63B-80255F817A0A}"/>
              </a:ext>
            </a:extLst>
          </p:cNvPr>
          <p:cNvSpPr txBox="1"/>
          <p:nvPr/>
        </p:nvSpPr>
        <p:spPr>
          <a:xfrm>
            <a:off x="4500592" y="785791"/>
            <a:ext cx="7858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400">
                <a:solidFill>
                  <a:srgbClr val="008000"/>
                </a:solidFill>
              </a:rPr>
              <a:t>D</a:t>
            </a:r>
            <a:endParaRPr lang="zh-CN" altLang="en-US" sz="2400">
              <a:solidFill>
                <a:srgbClr val="008000"/>
              </a:solidFill>
              <a:latin typeface="+mn-ea"/>
              <a:ea typeface="+mn-ea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04DBEA3-AFAF-4766-B40D-AFA8A8FE3EF8}"/>
              </a:ext>
            </a:extLst>
          </p:cNvPr>
          <p:cNvSpPr txBox="1"/>
          <p:nvPr/>
        </p:nvSpPr>
        <p:spPr>
          <a:xfrm>
            <a:off x="5715030" y="785791"/>
            <a:ext cx="71437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400">
                <a:solidFill>
                  <a:srgbClr val="008000"/>
                </a:solidFill>
              </a:rPr>
              <a:t>A</a:t>
            </a:r>
            <a:endParaRPr lang="zh-CN" altLang="en-US" sz="2400">
              <a:solidFill>
                <a:srgbClr val="008000"/>
              </a:solidFill>
              <a:latin typeface="+mn-ea"/>
              <a:ea typeface="+mn-ea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E029B20-390F-454B-9BE3-FCC1041DBD5A}"/>
              </a:ext>
            </a:extLst>
          </p:cNvPr>
          <p:cNvSpPr txBox="1"/>
          <p:nvPr/>
        </p:nvSpPr>
        <p:spPr>
          <a:xfrm>
            <a:off x="6500842" y="785791"/>
            <a:ext cx="8572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400">
                <a:solidFill>
                  <a:srgbClr val="008000"/>
                </a:solidFill>
              </a:rPr>
              <a:t>A</a:t>
            </a:r>
            <a:r>
              <a:rPr lang="en-US" altLang="zh-CN" sz="2400" baseline="-25000">
                <a:solidFill>
                  <a:srgbClr val="008000"/>
                </a:solidFill>
              </a:rPr>
              <a:t>-1</a:t>
            </a:r>
            <a:endParaRPr lang="zh-CN" altLang="en-US" sz="2400" baseline="-25000">
              <a:solidFill>
                <a:srgbClr val="008000"/>
              </a:solidFill>
              <a:latin typeface="+mn-ea"/>
              <a:ea typeface="+mn-ea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2AF8559A-18AA-476D-A8F7-08DA9996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80" y="785791"/>
            <a:ext cx="16430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8000"/>
                </a:solidFill>
              </a:rPr>
              <a:t>操作说明</a:t>
            </a:r>
          </a:p>
        </p:txBody>
      </p:sp>
      <p:cxnSp>
        <p:nvCxnSpPr>
          <p:cNvPr id="12" name="直接连接符 12">
            <a:extLst>
              <a:ext uri="{FF2B5EF4-FFF2-40B4-BE49-F238E27FC236}">
                <a16:creationId xmlns:a16="http://schemas.microsoft.com/office/drawing/2014/main" id="{370D760A-7165-4AB4-A8C4-847BE25A78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71905" y="1214416"/>
            <a:ext cx="50006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" name="直接连接符 15">
            <a:extLst>
              <a:ext uri="{FF2B5EF4-FFF2-40B4-BE49-F238E27FC236}">
                <a16:creationId xmlns:a16="http://schemas.microsoft.com/office/drawing/2014/main" id="{A55D3554-ABA2-45DF-A783-6F9593A63D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43406" y="857229"/>
            <a:ext cx="0" cy="517680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" name="直接连接符 16">
            <a:extLst>
              <a:ext uri="{FF2B5EF4-FFF2-40B4-BE49-F238E27FC236}">
                <a16:creationId xmlns:a16="http://schemas.microsoft.com/office/drawing/2014/main" id="{8C6CFF07-3BCF-45A1-B230-AFB76D9CB12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86406" y="857229"/>
            <a:ext cx="0" cy="517680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5" name="直接连接符 17">
            <a:extLst>
              <a:ext uri="{FF2B5EF4-FFF2-40B4-BE49-F238E27FC236}">
                <a16:creationId xmlns:a16="http://schemas.microsoft.com/office/drawing/2014/main" id="{42892B90-0897-43B8-A557-4CDAF24ACF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72281" y="857229"/>
            <a:ext cx="0" cy="5176803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" name="直接连接符 18">
            <a:extLst>
              <a:ext uri="{FF2B5EF4-FFF2-40B4-BE49-F238E27FC236}">
                <a16:creationId xmlns:a16="http://schemas.microsoft.com/office/drawing/2014/main" id="{91CF47CE-F38D-40FD-A9DD-2AACA434A01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00906" y="857229"/>
            <a:ext cx="0" cy="518486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7" name="TextBox 19">
            <a:extLst>
              <a:ext uri="{FF2B5EF4-FFF2-40B4-BE49-F238E27FC236}">
                <a16:creationId xmlns:a16="http://schemas.microsoft.com/office/drawing/2014/main" id="{0FE06167-8870-4F9C-8F09-712D61D7C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1190604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00 0000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0A831906-B47E-4695-90BD-2C6AA2FB4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405" y="1190604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00110 0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F9CF26ED-EDA1-4E42-92D2-91B0983D90EA}"/>
              </a:ext>
            </a:extLst>
          </p:cNvPr>
          <p:cNvSpPr txBox="1"/>
          <p:nvPr/>
        </p:nvSpPr>
        <p:spPr>
          <a:xfrm>
            <a:off x="4000530" y="500041"/>
            <a:ext cx="185737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400">
                <a:solidFill>
                  <a:srgbClr val="FF6600"/>
                </a:solidFill>
                <a:latin typeface="+mn-ea"/>
                <a:ea typeface="+mn-ea"/>
              </a:rPr>
              <a:t>(</a:t>
            </a:r>
            <a:r>
              <a:rPr lang="zh-CN" altLang="en-US" sz="2400">
                <a:solidFill>
                  <a:srgbClr val="FF6600"/>
                </a:solidFill>
              </a:rPr>
              <a:t>部分积</a:t>
            </a:r>
            <a:r>
              <a:rPr lang="en-US" altLang="zh-CN" sz="2400">
                <a:solidFill>
                  <a:srgbClr val="FF6600"/>
                </a:solidFill>
                <a:latin typeface="+mn-ea"/>
                <a:ea typeface="+mn-ea"/>
              </a:rPr>
              <a:t>)</a:t>
            </a:r>
            <a:endParaRPr lang="zh-CN" altLang="en-US" sz="2400">
              <a:solidFill>
                <a:srgbClr val="FF6600"/>
              </a:solidFill>
              <a:latin typeface="+mn-ea"/>
              <a:ea typeface="+mn-ea"/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92BD3728-942B-4D2D-B4BD-4D185580E3DF}"/>
              </a:ext>
            </a:extLst>
          </p:cNvPr>
          <p:cNvSpPr txBox="1"/>
          <p:nvPr/>
        </p:nvSpPr>
        <p:spPr>
          <a:xfrm>
            <a:off x="5357842" y="500041"/>
            <a:ext cx="15001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400">
                <a:solidFill>
                  <a:srgbClr val="FF6600"/>
                </a:solidFill>
                <a:latin typeface="+mn-ea"/>
                <a:ea typeface="+mn-ea"/>
              </a:rPr>
              <a:t>(</a:t>
            </a:r>
            <a:r>
              <a:rPr lang="zh-CN" altLang="en-US" sz="2400">
                <a:solidFill>
                  <a:srgbClr val="FF6600"/>
                </a:solidFill>
              </a:rPr>
              <a:t>乘数</a:t>
            </a:r>
            <a:r>
              <a:rPr lang="en-US" altLang="zh-CN" sz="2400">
                <a:solidFill>
                  <a:srgbClr val="FF6600"/>
                </a:solidFill>
                <a:latin typeface="+mn-ea"/>
                <a:ea typeface="+mn-ea"/>
              </a:rPr>
              <a:t>)</a:t>
            </a:r>
            <a:endParaRPr lang="zh-CN" altLang="en-US" sz="2400">
              <a:solidFill>
                <a:srgbClr val="FF6600"/>
              </a:solidFill>
              <a:latin typeface="+mn-ea"/>
              <a:ea typeface="+mn-ea"/>
            </a:endParaRPr>
          </a:p>
        </p:txBody>
      </p:sp>
      <p:cxnSp>
        <p:nvCxnSpPr>
          <p:cNvPr id="21" name="直接连接符 25">
            <a:extLst>
              <a:ext uri="{FF2B5EF4-FFF2-40B4-BE49-F238E27FC236}">
                <a16:creationId xmlns:a16="http://schemas.microsoft.com/office/drawing/2014/main" id="{5625B92C-4213-475A-BC50-DF1372649A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67346" y="1584393"/>
            <a:ext cx="64293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22" name="TextBox 26">
            <a:extLst>
              <a:ext uri="{FF2B5EF4-FFF2-40B4-BE49-F238E27FC236}">
                <a16:creationId xmlns:a16="http://schemas.microsoft.com/office/drawing/2014/main" id="{18CF23B9-7054-4F45-8874-2EC7F00F2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1500166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00 0000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TextBox 27">
            <a:extLst>
              <a:ext uri="{FF2B5EF4-FFF2-40B4-BE49-F238E27FC236}">
                <a16:creationId xmlns:a16="http://schemas.microsoft.com/office/drawing/2014/main" id="{C27757A0-8BEC-422B-A77B-AD706E8B8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905" y="1500166"/>
            <a:ext cx="16430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/>
              <a:t>+0</a:t>
            </a:r>
            <a:endParaRPr lang="zh-CN" altLang="en-US" sz="2400"/>
          </a:p>
        </p:txBody>
      </p:sp>
      <p:cxnSp>
        <p:nvCxnSpPr>
          <p:cNvPr id="24" name="直接连接符 28">
            <a:extLst>
              <a:ext uri="{FF2B5EF4-FFF2-40B4-BE49-F238E27FC236}">
                <a16:creationId xmlns:a16="http://schemas.microsoft.com/office/drawing/2014/main" id="{AB87FD7A-5F49-47FD-B7C1-5C1FB70935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71905" y="1928791"/>
            <a:ext cx="50006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5" name="TextBox 30">
            <a:extLst>
              <a:ext uri="{FF2B5EF4-FFF2-40B4-BE49-F238E27FC236}">
                <a16:creationId xmlns:a16="http://schemas.microsoft.com/office/drawing/2014/main" id="{E5DD5A7A-C71A-448B-B646-AAEE209E2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1857354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00 0000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6" name="TextBox 31">
            <a:extLst>
              <a:ext uri="{FF2B5EF4-FFF2-40B4-BE49-F238E27FC236}">
                <a16:creationId xmlns:a16="http://schemas.microsoft.com/office/drawing/2014/main" id="{93663080-2D9E-4EA6-899F-45200462C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405" y="1857354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00011 0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7" name="直接连接符 32">
            <a:extLst>
              <a:ext uri="{FF2B5EF4-FFF2-40B4-BE49-F238E27FC236}">
                <a16:creationId xmlns:a16="http://schemas.microsoft.com/office/drawing/2014/main" id="{F4E3BACB-FBA0-42FC-AA80-F5F714CD264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67346" y="2259852"/>
            <a:ext cx="64293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28" name="TextBox 33">
            <a:extLst>
              <a:ext uri="{FF2B5EF4-FFF2-40B4-BE49-F238E27FC236}">
                <a16:creationId xmlns:a16="http://schemas.microsoft.com/office/drawing/2014/main" id="{160351AC-6F5A-41B8-BD4C-4BF74DF86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905" y="1895454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右移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929097F4-D459-492E-A075-F3F6483AC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905" y="2181204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/>
              <a:t>+[-X]</a:t>
            </a:r>
            <a:r>
              <a:rPr lang="zh-CN" altLang="en-US" sz="2400" baseline="-25000"/>
              <a:t>补</a:t>
            </a:r>
          </a:p>
        </p:txBody>
      </p:sp>
      <p:sp>
        <p:nvSpPr>
          <p:cNvPr id="30" name="TextBox 35">
            <a:extLst>
              <a:ext uri="{FF2B5EF4-FFF2-40B4-BE49-F238E27FC236}">
                <a16:creationId xmlns:a16="http://schemas.microsoft.com/office/drawing/2014/main" id="{F1F86546-50B6-4054-BD14-C6D1D8B26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2190729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00 1101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31" name="直接连接符 36">
            <a:extLst>
              <a:ext uri="{FF2B5EF4-FFF2-40B4-BE49-F238E27FC236}">
                <a16:creationId xmlns:a16="http://schemas.microsoft.com/office/drawing/2014/main" id="{58F7C0FA-07A9-47B2-A361-BC504305FB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71905" y="2643166"/>
            <a:ext cx="50006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2" name="TextBox 37">
            <a:extLst>
              <a:ext uri="{FF2B5EF4-FFF2-40B4-BE49-F238E27FC236}">
                <a16:creationId xmlns:a16="http://schemas.microsoft.com/office/drawing/2014/main" id="{A9C195EE-051F-444E-B5E2-9C8FDAA38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2571729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00 1101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3" name="TextBox 38">
            <a:extLst>
              <a:ext uri="{FF2B5EF4-FFF2-40B4-BE49-F238E27FC236}">
                <a16:creationId xmlns:a16="http://schemas.microsoft.com/office/drawing/2014/main" id="{C0419154-A48D-4A1E-9A7E-BA191A6F4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2905104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00 0110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4" name="TextBox 39">
            <a:extLst>
              <a:ext uri="{FF2B5EF4-FFF2-40B4-BE49-F238E27FC236}">
                <a16:creationId xmlns:a16="http://schemas.microsoft.com/office/drawing/2014/main" id="{AC28B232-2DCF-4283-AE5E-ED75F2E90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405" y="2905104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10001 1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35" name="直接连接符 40">
            <a:extLst>
              <a:ext uri="{FF2B5EF4-FFF2-40B4-BE49-F238E27FC236}">
                <a16:creationId xmlns:a16="http://schemas.microsoft.com/office/drawing/2014/main" id="{0D91CFD4-8218-4765-B728-B3B4333C54C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67346" y="3305287"/>
            <a:ext cx="64293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36" name="TextBox 41">
            <a:extLst>
              <a:ext uri="{FF2B5EF4-FFF2-40B4-BE49-F238E27FC236}">
                <a16:creationId xmlns:a16="http://schemas.microsoft.com/office/drawing/2014/main" id="{0D70E0FF-DA7D-4A88-B10E-2C7D5D839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905" y="2895579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右移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37" name="TextBox 42">
            <a:extLst>
              <a:ext uri="{FF2B5EF4-FFF2-40B4-BE49-F238E27FC236}">
                <a16:creationId xmlns:a16="http://schemas.microsoft.com/office/drawing/2014/main" id="{3C3353BC-FC75-42F0-8F5D-FE96A2851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905" y="3214666"/>
            <a:ext cx="16430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/>
              <a:t>+0</a:t>
            </a:r>
            <a:endParaRPr lang="zh-CN" altLang="en-US" sz="2400"/>
          </a:p>
        </p:txBody>
      </p:sp>
      <p:sp>
        <p:nvSpPr>
          <p:cNvPr id="38" name="TextBox 43">
            <a:extLst>
              <a:ext uri="{FF2B5EF4-FFF2-40B4-BE49-F238E27FC236}">
                <a16:creationId xmlns:a16="http://schemas.microsoft.com/office/drawing/2014/main" id="{CAECA715-9BF8-4D1B-A7B0-0CC5A1220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3214666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00 0000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39" name="直接连接符 44">
            <a:extLst>
              <a:ext uri="{FF2B5EF4-FFF2-40B4-BE49-F238E27FC236}">
                <a16:creationId xmlns:a16="http://schemas.microsoft.com/office/drawing/2014/main" id="{9D19BC26-E966-491F-86E9-5C6F5324AC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71905" y="3643291"/>
            <a:ext cx="50006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0" name="TextBox 45">
            <a:extLst>
              <a:ext uri="{FF2B5EF4-FFF2-40B4-BE49-F238E27FC236}">
                <a16:creationId xmlns:a16="http://schemas.microsoft.com/office/drawing/2014/main" id="{80E5E087-37F5-49A4-A658-929026B45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3571854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00 0011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1" name="TextBox 46">
            <a:extLst>
              <a:ext uri="{FF2B5EF4-FFF2-40B4-BE49-F238E27FC236}">
                <a16:creationId xmlns:a16="http://schemas.microsoft.com/office/drawing/2014/main" id="{39243282-8DE5-49C5-893F-12A7392C3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405" y="3571854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01000 1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2" name="TextBox 47">
            <a:extLst>
              <a:ext uri="{FF2B5EF4-FFF2-40B4-BE49-F238E27FC236}">
                <a16:creationId xmlns:a16="http://schemas.microsoft.com/office/drawing/2014/main" id="{AF288D16-9B78-493C-A6EB-EA56AB9B6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905" y="3576616"/>
            <a:ext cx="16430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右移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43" name="TextBox 48">
            <a:extLst>
              <a:ext uri="{FF2B5EF4-FFF2-40B4-BE49-F238E27FC236}">
                <a16:creationId xmlns:a16="http://schemas.microsoft.com/office/drawing/2014/main" id="{70F1C0D0-B469-490E-9C3A-1EA6DCDF8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905" y="3895704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/>
              <a:t>+[X]</a:t>
            </a:r>
            <a:r>
              <a:rPr lang="zh-CN" altLang="en-US" sz="2400" baseline="-25000"/>
              <a:t>补</a:t>
            </a:r>
          </a:p>
        </p:txBody>
      </p:sp>
      <p:cxnSp>
        <p:nvCxnSpPr>
          <p:cNvPr id="44" name="直接连接符 49">
            <a:extLst>
              <a:ext uri="{FF2B5EF4-FFF2-40B4-BE49-F238E27FC236}">
                <a16:creationId xmlns:a16="http://schemas.microsoft.com/office/drawing/2014/main" id="{4D764CD8-805D-4289-9EBF-E6735F8E2D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67346" y="3965643"/>
            <a:ext cx="64293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45" name="TextBox 50">
            <a:extLst>
              <a:ext uri="{FF2B5EF4-FFF2-40B4-BE49-F238E27FC236}">
                <a16:creationId xmlns:a16="http://schemas.microsoft.com/office/drawing/2014/main" id="{F15FC91F-EA5C-4127-8FAD-6CFB52DF8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3905229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11 0011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46" name="直接连接符 52">
            <a:extLst>
              <a:ext uri="{FF2B5EF4-FFF2-40B4-BE49-F238E27FC236}">
                <a16:creationId xmlns:a16="http://schemas.microsoft.com/office/drawing/2014/main" id="{3398D1CF-AF9B-4815-A88F-3C9CBA52D68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71905" y="4357666"/>
            <a:ext cx="50006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7" name="TextBox 53">
            <a:extLst>
              <a:ext uri="{FF2B5EF4-FFF2-40B4-BE49-F238E27FC236}">
                <a16:creationId xmlns:a16="http://schemas.microsoft.com/office/drawing/2014/main" id="{65FAB5A6-A463-41C5-B430-0B23E5C5C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4286229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11 0110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8" name="TextBox 54">
            <a:extLst>
              <a:ext uri="{FF2B5EF4-FFF2-40B4-BE49-F238E27FC236}">
                <a16:creationId xmlns:a16="http://schemas.microsoft.com/office/drawing/2014/main" id="{AC5C0647-FA32-4C00-8F96-87CE609C2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4619604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11 1011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9" name="TextBox 55">
            <a:extLst>
              <a:ext uri="{FF2B5EF4-FFF2-40B4-BE49-F238E27FC236}">
                <a16:creationId xmlns:a16="http://schemas.microsoft.com/office/drawing/2014/main" id="{61E9B574-B1C2-409E-B2D4-00E935F6F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405" y="4619604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dirty="0">
                <a:latin typeface="Courier New" pitchFamily="49" charset="0"/>
                <a:cs typeface="Courier New" pitchFamily="49" charset="0"/>
              </a:rPr>
              <a:t>00100 0</a:t>
            </a:r>
            <a:endParaRPr lang="zh-CN" altLang="en-US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50" name="直接连接符 56">
            <a:extLst>
              <a:ext uri="{FF2B5EF4-FFF2-40B4-BE49-F238E27FC236}">
                <a16:creationId xmlns:a16="http://schemas.microsoft.com/office/drawing/2014/main" id="{92ADE0E7-8024-419A-9A46-EFA12E4B9E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67357" y="5019787"/>
            <a:ext cx="64293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51" name="TextBox 57">
            <a:extLst>
              <a:ext uri="{FF2B5EF4-FFF2-40B4-BE49-F238E27FC236}">
                <a16:creationId xmlns:a16="http://schemas.microsoft.com/office/drawing/2014/main" id="{EF03034D-CAD4-4058-A39A-F9DE872A3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905" y="4648214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右移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52" name="TextBox 58">
            <a:extLst>
              <a:ext uri="{FF2B5EF4-FFF2-40B4-BE49-F238E27FC236}">
                <a16:creationId xmlns:a16="http://schemas.microsoft.com/office/drawing/2014/main" id="{D8DF9CD3-9B1E-4563-9B2D-6DF8FC30A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905" y="4967301"/>
            <a:ext cx="16430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/>
              <a:t>+0</a:t>
            </a:r>
            <a:endParaRPr lang="zh-CN" altLang="en-US" sz="2400"/>
          </a:p>
        </p:txBody>
      </p:sp>
      <p:sp>
        <p:nvSpPr>
          <p:cNvPr id="53" name="TextBox 59">
            <a:extLst>
              <a:ext uri="{FF2B5EF4-FFF2-40B4-BE49-F238E27FC236}">
                <a16:creationId xmlns:a16="http://schemas.microsoft.com/office/drawing/2014/main" id="{3D90A3DC-EA4A-4334-9CAB-C8255050F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4929166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dirty="0">
                <a:latin typeface="Courier New" pitchFamily="49" charset="0"/>
                <a:cs typeface="Courier New" pitchFamily="49" charset="0"/>
              </a:rPr>
              <a:t>00 0000</a:t>
            </a:r>
            <a:endParaRPr lang="zh-CN" altLang="en-US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54" name="直接连接符 60">
            <a:extLst>
              <a:ext uri="{FF2B5EF4-FFF2-40B4-BE49-F238E27FC236}">
                <a16:creationId xmlns:a16="http://schemas.microsoft.com/office/drawing/2014/main" id="{8D4F0269-734C-455C-B996-25DEE678F8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71905" y="5357791"/>
            <a:ext cx="50006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55" name="TextBox 61">
            <a:extLst>
              <a:ext uri="{FF2B5EF4-FFF2-40B4-BE49-F238E27FC236}">
                <a16:creationId xmlns:a16="http://schemas.microsoft.com/office/drawing/2014/main" id="{4BD599B5-88B0-41B6-91CC-9652ADB6F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5333979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dirty="0">
                <a:latin typeface="Courier New" pitchFamily="49" charset="0"/>
                <a:cs typeface="Courier New" pitchFamily="49" charset="0"/>
              </a:rPr>
              <a:t>11 1011</a:t>
            </a:r>
            <a:endParaRPr lang="zh-CN" alt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6" name="TextBox 62">
            <a:extLst>
              <a:ext uri="{FF2B5EF4-FFF2-40B4-BE49-F238E27FC236}">
                <a16:creationId xmlns:a16="http://schemas.microsoft.com/office/drawing/2014/main" id="{A6C25355-405B-417D-B136-2214D587F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405" y="5333979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dirty="0">
                <a:latin typeface="Courier New" pitchFamily="49" charset="0"/>
                <a:cs typeface="Courier New" pitchFamily="49" charset="0"/>
              </a:rPr>
              <a:t>0010</a:t>
            </a:r>
            <a:endParaRPr lang="zh-CN" alt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7" name="TextBox 63">
            <a:extLst>
              <a:ext uri="{FF2B5EF4-FFF2-40B4-BE49-F238E27FC236}">
                <a16:creationId xmlns:a16="http://schemas.microsoft.com/office/drawing/2014/main" id="{E1CEFDFB-6140-41CE-9262-A147C7380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905" y="5357791"/>
            <a:ext cx="16430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 dirty="0"/>
              <a:t>不移位</a:t>
            </a:r>
          </a:p>
        </p:txBody>
      </p:sp>
      <p:cxnSp>
        <p:nvCxnSpPr>
          <p:cNvPr id="58" name="直接连接符 65">
            <a:extLst>
              <a:ext uri="{FF2B5EF4-FFF2-40B4-BE49-F238E27FC236}">
                <a16:creationId xmlns:a16="http://schemas.microsoft.com/office/drawing/2014/main" id="{0D030186-2683-49A8-BE54-D76DEEFE916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072092" y="1571604"/>
            <a:ext cx="571500" cy="0"/>
          </a:xfrm>
          <a:prstGeom prst="line">
            <a:avLst/>
          </a:prstGeom>
          <a:noFill/>
          <a:ln w="19050" algn="ctr">
            <a:solidFill>
              <a:srgbClr val="FF6600"/>
            </a:solidFill>
            <a:prstDash val="dash"/>
            <a:round/>
            <a:headEnd/>
            <a:tailEnd/>
          </a:ln>
        </p:spPr>
      </p:cxnSp>
      <p:cxnSp>
        <p:nvCxnSpPr>
          <p:cNvPr id="59" name="直接连接符 67">
            <a:extLst>
              <a:ext uri="{FF2B5EF4-FFF2-40B4-BE49-F238E27FC236}">
                <a16:creationId xmlns:a16="http://schemas.microsoft.com/office/drawing/2014/main" id="{7D711E95-279F-4236-A05E-5E16B2C663B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57842" y="1857354"/>
            <a:ext cx="214313" cy="0"/>
          </a:xfrm>
          <a:prstGeom prst="line">
            <a:avLst/>
          </a:prstGeom>
          <a:noFill/>
          <a:ln w="19050" algn="ctr">
            <a:solidFill>
              <a:srgbClr val="FF6600"/>
            </a:solidFill>
            <a:prstDash val="dash"/>
            <a:round/>
            <a:headEnd/>
            <a:tailEnd/>
          </a:ln>
        </p:spPr>
      </p:cxnSp>
      <p:cxnSp>
        <p:nvCxnSpPr>
          <p:cNvPr id="60" name="直接连接符 69">
            <a:extLst>
              <a:ext uri="{FF2B5EF4-FFF2-40B4-BE49-F238E27FC236}">
                <a16:creationId xmlns:a16="http://schemas.microsoft.com/office/drawing/2014/main" id="{8A2DCD05-FBD7-4FEC-B982-E3AA9EAA4C6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036374" y="2393135"/>
            <a:ext cx="1071562" cy="0"/>
          </a:xfrm>
          <a:prstGeom prst="line">
            <a:avLst/>
          </a:prstGeom>
          <a:noFill/>
          <a:ln w="19050" algn="ctr">
            <a:solidFill>
              <a:srgbClr val="FF6600"/>
            </a:solidFill>
            <a:prstDash val="dash"/>
            <a:round/>
            <a:headEnd/>
            <a:tailEnd/>
          </a:ln>
        </p:spPr>
      </p:cxnSp>
      <p:cxnSp>
        <p:nvCxnSpPr>
          <p:cNvPr id="61" name="直接连接符 71">
            <a:extLst>
              <a:ext uri="{FF2B5EF4-FFF2-40B4-BE49-F238E27FC236}">
                <a16:creationId xmlns:a16="http://schemas.microsoft.com/office/drawing/2014/main" id="{B71B5582-5D11-4962-AAC8-6121946D170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72155" y="2928916"/>
            <a:ext cx="214312" cy="0"/>
          </a:xfrm>
          <a:prstGeom prst="line">
            <a:avLst/>
          </a:prstGeom>
          <a:noFill/>
          <a:ln w="19050" algn="ctr">
            <a:solidFill>
              <a:srgbClr val="FF6600"/>
            </a:solidFill>
            <a:prstDash val="dash"/>
            <a:round/>
            <a:headEnd/>
            <a:tailEnd/>
          </a:ln>
        </p:spPr>
      </p:cxnSp>
      <p:cxnSp>
        <p:nvCxnSpPr>
          <p:cNvPr id="62" name="直接连接符 73">
            <a:extLst>
              <a:ext uri="{FF2B5EF4-FFF2-40B4-BE49-F238E27FC236}">
                <a16:creationId xmlns:a16="http://schemas.microsoft.com/office/drawing/2014/main" id="{9605974C-B762-4B2C-A930-6AEEB17953C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464998" y="3250385"/>
            <a:ext cx="642938" cy="0"/>
          </a:xfrm>
          <a:prstGeom prst="line">
            <a:avLst/>
          </a:prstGeom>
          <a:noFill/>
          <a:ln w="19050" algn="ctr">
            <a:solidFill>
              <a:srgbClr val="FF6600"/>
            </a:solidFill>
            <a:prstDash val="dash"/>
            <a:round/>
            <a:headEnd/>
            <a:tailEnd/>
          </a:ln>
        </p:spPr>
      </p:cxnSp>
      <p:cxnSp>
        <p:nvCxnSpPr>
          <p:cNvPr id="63" name="直接连接符 75">
            <a:extLst>
              <a:ext uri="{FF2B5EF4-FFF2-40B4-BE49-F238E27FC236}">
                <a16:creationId xmlns:a16="http://schemas.microsoft.com/office/drawing/2014/main" id="{61428E2C-B8C1-4C99-9D36-A2E25596F81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86467" y="3571854"/>
            <a:ext cx="214313" cy="0"/>
          </a:xfrm>
          <a:prstGeom prst="line">
            <a:avLst/>
          </a:prstGeom>
          <a:noFill/>
          <a:ln w="19050" algn="ctr">
            <a:solidFill>
              <a:srgbClr val="FF6600"/>
            </a:solidFill>
            <a:prstDash val="dash"/>
            <a:round/>
            <a:headEnd/>
            <a:tailEnd/>
          </a:ln>
        </p:spPr>
      </p:cxnSp>
      <p:cxnSp>
        <p:nvCxnSpPr>
          <p:cNvPr id="64" name="直接连接符 77">
            <a:extLst>
              <a:ext uri="{FF2B5EF4-FFF2-40B4-BE49-F238E27FC236}">
                <a16:creationId xmlns:a16="http://schemas.microsoft.com/office/drawing/2014/main" id="{DDC408F0-5C4B-4FF5-897A-6D0E06A4D27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464999" y="4107635"/>
            <a:ext cx="1071562" cy="0"/>
          </a:xfrm>
          <a:prstGeom prst="line">
            <a:avLst/>
          </a:prstGeom>
          <a:noFill/>
          <a:ln w="19050" algn="ctr">
            <a:solidFill>
              <a:srgbClr val="FF6600"/>
            </a:solidFill>
            <a:prstDash val="dash"/>
            <a:round/>
            <a:headEnd/>
            <a:tailEnd/>
          </a:ln>
        </p:spPr>
      </p:cxnSp>
      <p:cxnSp>
        <p:nvCxnSpPr>
          <p:cNvPr id="65" name="直接连接符 79">
            <a:extLst>
              <a:ext uri="{FF2B5EF4-FFF2-40B4-BE49-F238E27FC236}">
                <a16:creationId xmlns:a16="http://schemas.microsoft.com/office/drawing/2014/main" id="{E9F9B9DF-9EE7-4DF2-9BCF-23ECD6C52E2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00780" y="4643416"/>
            <a:ext cx="214312" cy="0"/>
          </a:xfrm>
          <a:prstGeom prst="line">
            <a:avLst/>
          </a:prstGeom>
          <a:noFill/>
          <a:ln w="19050" algn="ctr">
            <a:solidFill>
              <a:srgbClr val="FF6600"/>
            </a:solidFill>
            <a:prstDash val="dash"/>
            <a:round/>
            <a:headEnd/>
            <a:tailEnd/>
          </a:ln>
        </p:spPr>
      </p:cxnSp>
      <p:cxnSp>
        <p:nvCxnSpPr>
          <p:cNvPr id="66" name="直接连接符 85">
            <a:extLst>
              <a:ext uri="{FF2B5EF4-FFF2-40B4-BE49-F238E27FC236}">
                <a16:creationId xmlns:a16="http://schemas.microsoft.com/office/drawing/2014/main" id="{F1E41F13-36B3-4797-820C-73CB0742FA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28184" y="4643416"/>
            <a:ext cx="0" cy="1095375"/>
          </a:xfrm>
          <a:prstGeom prst="line">
            <a:avLst/>
          </a:prstGeom>
          <a:noFill/>
          <a:ln w="19050" algn="ctr">
            <a:solidFill>
              <a:srgbClr val="FF6600"/>
            </a:solidFill>
            <a:prstDash val="dash"/>
            <a:round/>
            <a:headEnd/>
            <a:tailEnd/>
          </a:ln>
        </p:spPr>
      </p:cxnSp>
      <p:sp>
        <p:nvSpPr>
          <p:cNvPr id="67" name="内容占位符 2">
            <a:extLst>
              <a:ext uri="{FF2B5EF4-FFF2-40B4-BE49-F238E27FC236}">
                <a16:creationId xmlns:a16="http://schemas.microsoft.com/office/drawing/2014/main" id="{A13B5BB9-2538-40F2-B114-F978B25E040C}"/>
              </a:ext>
            </a:extLst>
          </p:cNvPr>
          <p:cNvSpPr txBox="1">
            <a:spLocks/>
          </p:cNvSpPr>
          <p:nvPr/>
        </p:nvSpPr>
        <p:spPr bwMode="auto">
          <a:xfrm>
            <a:off x="285780" y="6034032"/>
            <a:ext cx="4929222" cy="571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∴ [X·Y]</a:t>
            </a:r>
            <a:r>
              <a:rPr kumimoji="0" lang="zh-CN" altLang="en-US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补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＝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1.10110010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8" name="TextBox 61">
            <a:extLst>
              <a:ext uri="{FF2B5EF4-FFF2-40B4-BE49-F238E27FC236}">
                <a16:creationId xmlns:a16="http://schemas.microsoft.com/office/drawing/2014/main" id="{347694C6-29AA-4F65-ABCC-980C76341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905" y="5638758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11 1101</a:t>
            </a:r>
            <a:endParaRPr lang="zh-CN" altLang="en-US" dirty="0">
              <a:solidFill>
                <a:srgbClr val="008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9" name="TextBox 62">
            <a:extLst>
              <a:ext uri="{FF2B5EF4-FFF2-40B4-BE49-F238E27FC236}">
                <a16:creationId xmlns:a16="http://schemas.microsoft.com/office/drawing/2014/main" id="{94944CAE-B7D5-450E-BA2F-5B9BCF399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405" y="5637282"/>
            <a:ext cx="19288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10010</a:t>
            </a:r>
            <a:endParaRPr lang="zh-CN" altLang="en-US" dirty="0">
              <a:solidFill>
                <a:srgbClr val="008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0" name="TextBox 63">
            <a:extLst>
              <a:ext uri="{FF2B5EF4-FFF2-40B4-BE49-F238E27FC236}">
                <a16:creationId xmlns:a16="http://schemas.microsoft.com/office/drawing/2014/main" id="{487AFA96-AF05-4599-818A-1F26460BD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905" y="5690408"/>
            <a:ext cx="16430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 dirty="0">
                <a:solidFill>
                  <a:srgbClr val="008000"/>
                </a:solidFill>
              </a:rPr>
              <a:t>右移</a:t>
            </a:r>
            <a:r>
              <a:rPr lang="en-US" altLang="zh-CN" sz="2400" dirty="0">
                <a:solidFill>
                  <a:srgbClr val="008000"/>
                </a:solidFill>
              </a:rPr>
              <a:t>1</a:t>
            </a:r>
            <a:r>
              <a:rPr lang="zh-CN" altLang="en-US" sz="2400" dirty="0">
                <a:solidFill>
                  <a:srgbClr val="008000"/>
                </a:solidFill>
              </a:rPr>
              <a:t>位</a:t>
            </a:r>
          </a:p>
        </p:txBody>
      </p:sp>
      <p:cxnSp>
        <p:nvCxnSpPr>
          <p:cNvPr id="71" name="直接连接符 79">
            <a:extLst>
              <a:ext uri="{FF2B5EF4-FFF2-40B4-BE49-F238E27FC236}">
                <a16:creationId xmlns:a16="http://schemas.microsoft.com/office/drawing/2014/main" id="{9984424D-8215-4B44-B0CA-C97AA7B397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22236" y="5738033"/>
            <a:ext cx="278606" cy="0"/>
          </a:xfrm>
          <a:prstGeom prst="line">
            <a:avLst/>
          </a:prstGeom>
          <a:noFill/>
          <a:ln w="19050" algn="ctr">
            <a:solidFill>
              <a:srgbClr val="0000FF"/>
            </a:solidFill>
            <a:prstDash val="dash"/>
            <a:round/>
            <a:headEnd/>
            <a:tailEnd/>
          </a:ln>
        </p:spPr>
      </p:cxnSp>
      <p:cxnSp>
        <p:nvCxnSpPr>
          <p:cNvPr id="72" name="直接连接符 85">
            <a:extLst>
              <a:ext uri="{FF2B5EF4-FFF2-40B4-BE49-F238E27FC236}">
                <a16:creationId xmlns:a16="http://schemas.microsoft.com/office/drawing/2014/main" id="{C8D02984-1C11-4894-A7CF-8C405F9040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09201" y="5738033"/>
            <a:ext cx="0" cy="295999"/>
          </a:xfrm>
          <a:prstGeom prst="line">
            <a:avLst/>
          </a:prstGeom>
          <a:noFill/>
          <a:ln w="19050" algn="ctr">
            <a:solidFill>
              <a:srgbClr val="0000FF"/>
            </a:solidFill>
            <a:prstDash val="dash"/>
            <a:round/>
            <a:headEnd/>
            <a:tailEnd/>
          </a:ln>
        </p:spPr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AEB7DEDE-DEF5-425C-A75A-5BDB32B1F9DE}"/>
              </a:ext>
            </a:extLst>
          </p:cNvPr>
          <p:cNvSpPr/>
          <p:nvPr/>
        </p:nvSpPr>
        <p:spPr>
          <a:xfrm>
            <a:off x="4371727" y="5638006"/>
            <a:ext cx="3000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kern="0" dirty="0">
                <a:solidFill>
                  <a:srgbClr val="FF0000"/>
                </a:solidFill>
              </a:rPr>
              <a:t>.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7580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9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0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6" dur="8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7" dur="80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80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8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9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8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80"/>
                            </p:stCondLst>
                            <p:childTnLst>
                              <p:par>
                                <p:cTn id="11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"/>
                            </p:stCondLst>
                            <p:childTnLst>
                              <p:par>
                                <p:cTn id="15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5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6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80"/>
                            </p:stCondLst>
                            <p:childTnLst>
                              <p:par>
                                <p:cTn id="17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780"/>
                            </p:stCondLst>
                            <p:childTnLst>
                              <p:par>
                                <p:cTn id="18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8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9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500"/>
                            </p:stCondLst>
                            <p:childTnLst>
                              <p:par>
                                <p:cTn id="20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000"/>
                            </p:stCondLst>
                            <p:childTnLst>
                              <p:par>
                                <p:cTn id="20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500"/>
                            </p:stCondLst>
                            <p:childTnLst>
                              <p:par>
                                <p:cTn id="21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1" dur="8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2" dur="80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3" dur="80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80"/>
                            </p:stCondLst>
                            <p:childTnLst>
                              <p:par>
                                <p:cTn id="24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500"/>
                            </p:stCondLst>
                            <p:childTnLst>
                              <p:par>
                                <p:cTn id="2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000"/>
                            </p:stCondLst>
                            <p:childTnLst>
                              <p:par>
                                <p:cTn id="26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1500"/>
                            </p:stCondLst>
                            <p:childTnLst>
                              <p:par>
                                <p:cTn id="27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500"/>
                            </p:stCondLst>
                            <p:childTnLst>
                              <p:par>
                                <p:cTn id="291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1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2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3" dur="80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280"/>
                            </p:stCondLst>
                            <p:childTnLst>
                              <p:par>
                                <p:cTn id="30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5" dur="80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6" dur="80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7" dur="80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00"/>
                            </p:stCondLst>
                            <p:childTnLst>
                              <p:par>
                                <p:cTn id="3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3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1500"/>
                            </p:stCondLst>
                            <p:childTnLst>
                              <p:par>
                                <p:cTn id="34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>
                            <p:stCondLst>
                              <p:cond delay="500"/>
                            </p:stCondLst>
                            <p:childTnLst>
                              <p:par>
                                <p:cTn id="358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8" dur="80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9" dur="80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0" dur="80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280"/>
                            </p:stCondLst>
                            <p:childTnLst>
                              <p:par>
                                <p:cTn id="37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2" dur="80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3" dur="80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4" dur="80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280"/>
                            </p:stCondLst>
                            <p:childTnLst>
                              <p:par>
                                <p:cTn id="38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8" dur="80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9" dur="80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0" dur="80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480"/>
                            </p:stCondLst>
                            <p:childTnLst>
                              <p:par>
                                <p:cTn id="392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2" dur="80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03" dur="80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4" dur="80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9" dur="80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0" dur="80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1" dur="80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280"/>
                            </p:stCondLst>
                            <p:childTnLst>
                              <p:par>
                                <p:cTn id="41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5" dur="80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6" dur="80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7" dur="80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520"/>
                            </p:stCondLst>
                            <p:childTnLst>
                              <p:par>
                                <p:cTn id="419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1020"/>
                            </p:stCondLst>
                            <p:childTnLst>
                              <p:par>
                                <p:cTn id="42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1520"/>
                            </p:stCondLst>
                            <p:childTnLst>
                              <p:par>
                                <p:cTn id="43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2020"/>
                            </p:stCondLst>
                            <p:childTnLst>
                              <p:par>
                                <p:cTn id="4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7" grpId="0"/>
      <p:bldP spid="18" grpId="0"/>
      <p:bldP spid="19" grpId="0"/>
      <p:bldP spid="20" grpId="0"/>
      <p:bldP spid="22" grpId="0"/>
      <p:bldP spid="23" grpId="0"/>
      <p:bldP spid="25" grpId="0"/>
      <p:bldP spid="26" grpId="0"/>
      <p:bldP spid="28" grpId="0"/>
      <p:bldP spid="29" grpId="0"/>
      <p:bldP spid="30" grpId="0"/>
      <p:bldP spid="32" grpId="0"/>
      <p:bldP spid="33" grpId="0"/>
      <p:bldP spid="34" grpId="0"/>
      <p:bldP spid="36" grpId="0"/>
      <p:bldP spid="37" grpId="0"/>
      <p:bldP spid="38" grpId="0"/>
      <p:bldP spid="40" grpId="0"/>
      <p:bldP spid="41" grpId="0"/>
      <p:bldP spid="42" grpId="0"/>
      <p:bldP spid="43" grpId="0"/>
      <p:bldP spid="45" grpId="0"/>
      <p:bldP spid="47" grpId="0"/>
      <p:bldP spid="48" grpId="0"/>
      <p:bldP spid="49" grpId="0"/>
      <p:bldP spid="51" grpId="0"/>
      <p:bldP spid="52" grpId="0"/>
      <p:bldP spid="53" grpId="0"/>
      <p:bldP spid="55" grpId="0"/>
      <p:bldP spid="56" grpId="0"/>
      <p:bldP spid="57" grpId="0"/>
      <p:bldP spid="67" grpId="0"/>
      <p:bldP spid="68" grpId="0"/>
      <p:bldP spid="69" grpId="0"/>
      <p:bldP spid="70" grpId="0"/>
      <p:bldP spid="7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499F5-50CC-4214-9160-4D68149A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 运算方法与运算器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5198B-01CC-4C36-A0DC-125E7D366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13E56B1-AE51-4EE9-8D64-5CDD4C29B914}"/>
              </a:ext>
            </a:extLst>
          </p:cNvPr>
          <p:cNvSpPr txBox="1">
            <a:spLocks/>
          </p:cNvSpPr>
          <p:nvPr/>
        </p:nvSpPr>
        <p:spPr bwMode="auto">
          <a:xfrm>
            <a:off x="228600" y="533400"/>
            <a:ext cx="83629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9535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16205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4351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原码除法：加减交替法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B6013FE-F467-444E-97A0-C1998A197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201034"/>
              </p:ext>
            </p:extLst>
          </p:nvPr>
        </p:nvGraphicFramePr>
        <p:xfrm>
          <a:off x="381000" y="3048000"/>
          <a:ext cx="8001000" cy="3048000"/>
        </p:xfrm>
        <a:graphic>
          <a:graphicData uri="http://schemas.openxmlformats.org/drawingml/2006/table">
            <a:tbl>
              <a:tblPr firstRow="1" firstCol="1" bandRow="1"/>
              <a:tblGrid>
                <a:gridCol w="533400">
                  <a:extLst>
                    <a:ext uri="{9D8B030D-6E8A-4147-A177-3AD203B41FA5}">
                      <a16:colId xmlns:a16="http://schemas.microsoft.com/office/drawing/2014/main" val="8531908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8865376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751779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4288246025"/>
                    </a:ext>
                  </a:extLst>
                </a:gridCol>
              </a:tblGrid>
              <a:tr h="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符号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被除数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余数</a:t>
                      </a:r>
                      <a:r>
                        <a:rPr lang="en-US" altLang="zh-CN" sz="2000" b="1" kern="1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20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45286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914978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0 0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第一行为</a:t>
                      </a:r>
                      <a:r>
                        <a:rPr lang="en-US" alt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|X|</a:t>
                      </a:r>
                      <a:r>
                        <a:rPr 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，数值位扩展到</a:t>
                      </a:r>
                      <a:r>
                        <a:rPr lang="en-US" alt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|Y| </a:t>
                      </a:r>
                      <a:r>
                        <a:rPr lang="zh-CN" altLang="en-US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数值位的</a:t>
                      </a:r>
                      <a:r>
                        <a:rPr lang="en-US" alt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倍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08707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左移</a:t>
                      </a:r>
                      <a:r>
                        <a:rPr lang="en-US" alt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93900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－</a:t>
                      </a:r>
                      <a:r>
                        <a:rPr lang="en-US" altLang="zh-CN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|Y|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8720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+mn-ea"/>
                          <a:ea typeface="+mn-ea"/>
                        </a:rPr>
                        <a:t>……</a:t>
                      </a:r>
                      <a:endParaRPr lang="zh-CN" sz="20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34778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00202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18458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10386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余数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276413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A3C2C5E7-E42F-481D-BA0E-EADD56353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17587"/>
            <a:ext cx="8839200" cy="164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9535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16205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4351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加减交替法的运算法则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：（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|X|÷|Y|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）</a:t>
            </a: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若余数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则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上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余数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左移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一次，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|Y|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(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加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[-|Y|]</a:t>
            </a:r>
            <a:r>
              <a:rPr kumimoji="0" lang="zh-CN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补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；</a:t>
            </a:r>
          </a:p>
          <a:p>
            <a:pPr marL="361950" marR="0" lvl="0" indent="-3619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若余数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＜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则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上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/>
                <a:ea typeface="黑体" pitchFamily="2" charset="-122"/>
                <a:cs typeface="+mn-cs"/>
              </a:rPr>
              <a:t>余数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左移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一次，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加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|Y|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(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加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|Y|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。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265EC73-A8D4-47BE-86DB-49856EFB5A7B}"/>
              </a:ext>
            </a:extLst>
          </p:cNvPr>
          <p:cNvSpPr txBox="1">
            <a:spLocks/>
          </p:cNvSpPr>
          <p:nvPr/>
        </p:nvSpPr>
        <p:spPr bwMode="auto">
          <a:xfrm>
            <a:off x="265067" y="2441574"/>
            <a:ext cx="836295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9535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16205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4351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先求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|X|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|Y|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|Y|]</a:t>
            </a:r>
            <a:r>
              <a:rPr kumimoji="0" lang="zh-CN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补</a:t>
            </a:r>
            <a:endParaRPr kumimoji="0" lang="en-US" altLang="zh-CN" sz="24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9E16E0-0980-44FE-B823-AFED93D4FED9}"/>
              </a:ext>
            </a:extLst>
          </p:cNvPr>
          <p:cNvSpPr/>
          <p:nvPr/>
        </p:nvSpPr>
        <p:spPr>
          <a:xfrm>
            <a:off x="728325" y="6161596"/>
            <a:ext cx="42066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商的</a:t>
            </a:r>
            <a:r>
              <a:rPr lang="zh-CN" altLang="zh-CN" sz="2400" dirty="0"/>
              <a:t>符号位单独处理</a:t>
            </a:r>
            <a:r>
              <a:rPr lang="zh-CN" altLang="en-US" sz="2400" dirty="0"/>
              <a:t>（异或）</a:t>
            </a:r>
          </a:p>
        </p:txBody>
      </p:sp>
    </p:spTree>
    <p:extLst>
      <p:ext uri="{BB962C8B-B14F-4D97-AF65-F5344CB8AC3E}">
        <p14:creationId xmlns:p14="http://schemas.microsoft.com/office/powerpoint/2010/main" val="2479206232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837D4-DC40-442E-801D-CE1AA706E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P94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dirty="0"/>
              <a:t>习题 </a:t>
            </a:r>
            <a:r>
              <a:rPr lang="en-US" altLang="zh-CN" dirty="0"/>
              <a:t>3.21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94D1E3-1BD3-4B08-B897-DD86B4512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F806776-FF35-4757-96C6-58C98E087733}"/>
              </a:ext>
            </a:extLst>
          </p:cNvPr>
          <p:cNvSpPr txBox="1">
            <a:spLocks/>
          </p:cNvSpPr>
          <p:nvPr/>
        </p:nvSpPr>
        <p:spPr bwMode="auto">
          <a:xfrm>
            <a:off x="142871" y="980728"/>
            <a:ext cx="3571873" cy="117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kern="0" dirty="0"/>
              <a:t>3.21 ② </a:t>
            </a:r>
            <a:r>
              <a:rPr lang="zh-CN" altLang="en-US" kern="0" dirty="0"/>
              <a:t>用</a:t>
            </a:r>
            <a:r>
              <a:rPr lang="zh-CN" altLang="en-US" kern="0" dirty="0">
                <a:solidFill>
                  <a:srgbClr val="C00000"/>
                </a:solidFill>
              </a:rPr>
              <a:t>原码</a:t>
            </a:r>
            <a:r>
              <a:rPr lang="zh-CN" altLang="en-US" kern="0" dirty="0"/>
              <a:t>加减交替法，求</a:t>
            </a:r>
            <a:r>
              <a:rPr lang="en-US" altLang="zh-CN" kern="0" dirty="0"/>
              <a:t>X÷Y</a:t>
            </a:r>
            <a:r>
              <a:rPr lang="zh-CN" altLang="en-US" kern="0" dirty="0"/>
              <a:t>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42E9380-BCAB-4244-AC8C-63FACC650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44" y="2123157"/>
            <a:ext cx="4000528" cy="3131302"/>
          </a:xfrm>
        </p:spPr>
        <p:txBody>
          <a:bodyPr/>
          <a:lstStyle/>
          <a:p>
            <a:pPr marL="0" indent="0">
              <a:spcBef>
                <a:spcPts val="600"/>
              </a:spcBef>
              <a:buFont typeface="Wingdings" pitchFamily="2" charset="2"/>
              <a:buNone/>
            </a:pPr>
            <a:r>
              <a:rPr lang="en-US" altLang="zh-CN"/>
              <a:t> X </a:t>
            </a:r>
            <a:r>
              <a:rPr lang="zh-CN" altLang="en-US"/>
              <a:t>＝ ＋</a:t>
            </a:r>
            <a:r>
              <a:rPr lang="en-US" altLang="zh-CN"/>
              <a:t>0.1001110001</a:t>
            </a:r>
          </a:p>
          <a:p>
            <a:pPr marL="0" indent="0">
              <a:spcBef>
                <a:spcPts val="600"/>
              </a:spcBef>
              <a:buFont typeface="Wingdings" pitchFamily="2" charset="2"/>
              <a:buNone/>
            </a:pPr>
            <a:r>
              <a:rPr lang="en-US" altLang="zh-CN"/>
              <a:t> Y </a:t>
            </a:r>
            <a:r>
              <a:rPr lang="zh-CN" altLang="en-US"/>
              <a:t>＝ －</a:t>
            </a:r>
            <a:r>
              <a:rPr lang="en-US" altLang="zh-CN"/>
              <a:t>0.10101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>
                <a:solidFill>
                  <a:srgbClr val="0000FF"/>
                </a:solidFill>
              </a:rPr>
              <a:t>  </a:t>
            </a:r>
            <a:r>
              <a:rPr lang="en-US" altLang="zh-CN">
                <a:solidFill>
                  <a:schemeClr val="bg1"/>
                </a:solidFill>
              </a:rPr>
              <a:t>[</a:t>
            </a:r>
            <a:r>
              <a:rPr lang="en-US" altLang="zh-CN">
                <a:solidFill>
                  <a:srgbClr val="0000FF"/>
                </a:solidFill>
              </a:rPr>
              <a:t>|X|</a:t>
            </a:r>
            <a:r>
              <a:rPr lang="en-US" altLang="zh-CN">
                <a:solidFill>
                  <a:schemeClr val="bg1"/>
                </a:solidFill>
              </a:rPr>
              <a:t>]</a:t>
            </a:r>
            <a:r>
              <a:rPr lang="zh-CN" altLang="en-US" baseline="-25000">
                <a:solidFill>
                  <a:schemeClr val="bg1"/>
                </a:solidFill>
              </a:rPr>
              <a:t>原</a:t>
            </a:r>
            <a:r>
              <a:rPr lang="zh-CN" altLang="en-US">
                <a:solidFill>
                  <a:srgbClr val="0000FF"/>
                </a:solidFill>
              </a:rPr>
              <a:t>＝ </a:t>
            </a:r>
            <a:r>
              <a:rPr lang="en-US" altLang="zh-CN">
                <a:solidFill>
                  <a:srgbClr val="0000FF"/>
                </a:solidFill>
              </a:rPr>
              <a:t>0.1001110001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>
                <a:solidFill>
                  <a:srgbClr val="0000FF"/>
                </a:solidFill>
              </a:rPr>
              <a:t>  </a:t>
            </a:r>
            <a:r>
              <a:rPr lang="en-US" altLang="zh-CN">
                <a:solidFill>
                  <a:schemeClr val="bg1"/>
                </a:solidFill>
              </a:rPr>
              <a:t>[</a:t>
            </a:r>
            <a:r>
              <a:rPr lang="en-US" altLang="zh-CN">
                <a:solidFill>
                  <a:srgbClr val="0000FF"/>
                </a:solidFill>
              </a:rPr>
              <a:t>|Y|</a:t>
            </a:r>
            <a:r>
              <a:rPr lang="en-US" altLang="zh-CN">
                <a:solidFill>
                  <a:schemeClr val="bg1"/>
                </a:solidFill>
              </a:rPr>
              <a:t>]</a:t>
            </a:r>
            <a:r>
              <a:rPr lang="zh-CN" altLang="en-US" baseline="-25000">
                <a:solidFill>
                  <a:schemeClr val="bg1"/>
                </a:solidFill>
              </a:rPr>
              <a:t>原</a:t>
            </a:r>
            <a:r>
              <a:rPr lang="zh-CN" altLang="en-US">
                <a:solidFill>
                  <a:srgbClr val="0000FF"/>
                </a:solidFill>
              </a:rPr>
              <a:t>＝ </a:t>
            </a:r>
            <a:r>
              <a:rPr lang="en-US" altLang="zh-CN">
                <a:solidFill>
                  <a:srgbClr val="0000FF"/>
                </a:solidFill>
              </a:rPr>
              <a:t>0.10101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>
                <a:solidFill>
                  <a:srgbClr val="0000FF"/>
                </a:solidFill>
              </a:rPr>
              <a:t>[</a:t>
            </a:r>
            <a:r>
              <a:rPr lang="en-US" altLang="zh-CN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altLang="zh-CN">
                <a:solidFill>
                  <a:srgbClr val="0000FF"/>
                </a:solidFill>
              </a:rPr>
              <a:t>|Y|]</a:t>
            </a:r>
            <a:r>
              <a:rPr lang="zh-CN" altLang="en-US" baseline="-25000">
                <a:solidFill>
                  <a:srgbClr val="0000FF"/>
                </a:solidFill>
              </a:rPr>
              <a:t>补</a:t>
            </a:r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zh-CN" altLang="en-US" baseline="-25000">
                <a:solidFill>
                  <a:srgbClr val="0000FF"/>
                </a:solidFill>
              </a:rPr>
              <a:t> </a:t>
            </a:r>
            <a:r>
              <a:rPr lang="en-US" altLang="zh-CN">
                <a:solidFill>
                  <a:srgbClr val="0000FF"/>
                </a:solidFill>
              </a:rPr>
              <a:t>1.01011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>
                <a:solidFill>
                  <a:srgbClr val="0000FF"/>
                </a:solidFill>
              </a:rPr>
              <a:t>商符＝</a:t>
            </a:r>
            <a:r>
              <a:rPr lang="en-US" altLang="zh-CN">
                <a:solidFill>
                  <a:srgbClr val="0000FF"/>
                </a:solidFill>
              </a:rPr>
              <a:t>0⊕1</a:t>
            </a:r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en-US" altLang="zh-CN">
                <a:solidFill>
                  <a:srgbClr val="CC0066"/>
                </a:solidFill>
              </a:rPr>
              <a:t>1</a:t>
            </a:r>
            <a:endParaRPr lang="zh-CN" altLang="en-US">
              <a:solidFill>
                <a:srgbClr val="CC0066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04D3254-C33C-4BC3-A2EB-4D00C8FA4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57" y="302741"/>
            <a:ext cx="10001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8000"/>
                </a:solidFill>
              </a:rPr>
              <a:t>符号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63DA616-F987-4D63-9DFD-ACAB7A2562A1}"/>
              </a:ext>
            </a:extLst>
          </p:cNvPr>
          <p:cNvSpPr txBox="1"/>
          <p:nvPr/>
        </p:nvSpPr>
        <p:spPr>
          <a:xfrm>
            <a:off x="4714904" y="87015"/>
            <a:ext cx="2428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400">
                <a:solidFill>
                  <a:srgbClr val="008000"/>
                </a:solidFill>
                <a:latin typeface="+mn-ea"/>
                <a:ea typeface="+mn-ea"/>
              </a:rPr>
              <a:t>被除数</a:t>
            </a:r>
            <a:r>
              <a:rPr lang="en-US" altLang="zh-CN" sz="2400">
                <a:solidFill>
                  <a:srgbClr val="008000"/>
                </a:solidFill>
                <a:latin typeface="+mn-ea"/>
                <a:ea typeface="+mn-ea"/>
              </a:rPr>
              <a:t>(</a:t>
            </a:r>
            <a:r>
              <a:rPr lang="zh-CN" altLang="en-US" sz="2400">
                <a:solidFill>
                  <a:srgbClr val="008000"/>
                </a:solidFill>
                <a:latin typeface="+mn-ea"/>
                <a:ea typeface="+mn-ea"/>
              </a:rPr>
              <a:t>余数</a:t>
            </a:r>
            <a:r>
              <a:rPr lang="en-US" altLang="zh-CN" sz="2400">
                <a:solidFill>
                  <a:srgbClr val="008000"/>
                </a:solidFill>
                <a:latin typeface="+mn-ea"/>
                <a:ea typeface="+mn-ea"/>
              </a:rPr>
              <a:t>)</a:t>
            </a:r>
            <a:endParaRPr lang="zh-CN" altLang="en-US" sz="2400">
              <a:solidFill>
                <a:srgbClr val="008000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4BF257-92EF-4426-860B-ADF547B82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288" y="302741"/>
            <a:ext cx="1143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>
                <a:solidFill>
                  <a:srgbClr val="008000"/>
                </a:solidFill>
              </a:rPr>
              <a:t>操作</a:t>
            </a:r>
          </a:p>
        </p:txBody>
      </p:sp>
      <p:cxnSp>
        <p:nvCxnSpPr>
          <p:cNvPr id="10" name="直接连接符 12">
            <a:extLst>
              <a:ext uri="{FF2B5EF4-FFF2-40B4-BE49-F238E27FC236}">
                <a16:creationId xmlns:a16="http://schemas.microsoft.com/office/drawing/2014/main" id="{4980B677-3015-42D5-BEED-0A4BC4ABEC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532" y="852464"/>
            <a:ext cx="4531908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直接连接符 15">
            <a:extLst>
              <a:ext uri="{FF2B5EF4-FFF2-40B4-BE49-F238E27FC236}">
                <a16:creationId xmlns:a16="http://schemas.microsoft.com/office/drawing/2014/main" id="{526914F8-048F-4902-8A06-C991F02745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1" y="188640"/>
            <a:ext cx="0" cy="6026443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" name="直接连接符 16">
            <a:extLst>
              <a:ext uri="{FF2B5EF4-FFF2-40B4-BE49-F238E27FC236}">
                <a16:creationId xmlns:a16="http://schemas.microsoft.com/office/drawing/2014/main" id="{28A16298-264A-4410-A26C-33FC8EB763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58016" y="188640"/>
            <a:ext cx="0" cy="6026443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" name="TextBox 19">
            <a:extLst>
              <a:ext uri="{FF2B5EF4-FFF2-40B4-BE49-F238E27FC236}">
                <a16:creationId xmlns:a16="http://schemas.microsoft.com/office/drawing/2014/main" id="{1C521E3F-E483-4B6F-8BFC-0B0747A98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86" y="790552"/>
            <a:ext cx="307182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00 1001110001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4" name="直接连接符 28">
            <a:extLst>
              <a:ext uri="{FF2B5EF4-FFF2-40B4-BE49-F238E27FC236}">
                <a16:creationId xmlns:a16="http://schemas.microsoft.com/office/drawing/2014/main" id="{BC1A1A7F-E4A7-483A-97FB-647CB84B7F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532" y="1852596"/>
            <a:ext cx="4531908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5" name="TextBox 33">
            <a:extLst>
              <a:ext uri="{FF2B5EF4-FFF2-40B4-BE49-F238E27FC236}">
                <a16:creationId xmlns:a16="http://schemas.microsoft.com/office/drawing/2014/main" id="{7D95AC01-67B4-4800-9BC7-2773DA3A1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84" y="1104882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ACE71279-B478-47C7-993E-B9A65A88AC16}"/>
              </a:ext>
            </a:extLst>
          </p:cNvPr>
          <p:cNvSpPr txBox="1">
            <a:spLocks/>
          </p:cNvSpPr>
          <p:nvPr/>
        </p:nvSpPr>
        <p:spPr bwMode="auto">
          <a:xfrm>
            <a:off x="142844" y="5264149"/>
            <a:ext cx="3786214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∴ [X÷Y]</a:t>
            </a:r>
            <a:r>
              <a:rPr kumimoji="0" lang="zh-CN" altLang="en-US" sz="28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＝</a:t>
            </a:r>
            <a:r>
              <a:rPr lang="en-US" altLang="zh-CN">
                <a:solidFill>
                  <a:srgbClr val="CC0066"/>
                </a:solidFill>
                <a:latin typeface="+mn-lt"/>
                <a:ea typeface="+mn-ea"/>
              </a:rPr>
              <a:t>1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.11101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lang="zh-CN" altLang="en-US" kern="0">
                <a:solidFill>
                  <a:srgbClr val="0000FF"/>
                </a:solidFill>
                <a:latin typeface="+mn-lt"/>
                <a:ea typeface="+mn-ea"/>
              </a:rPr>
              <a:t>    余数＝</a:t>
            </a:r>
            <a:r>
              <a:rPr lang="en-US" altLang="zh-CN" kern="0">
                <a:solidFill>
                  <a:srgbClr val="0000FF"/>
                </a:solidFill>
                <a:latin typeface="+mn-lt"/>
                <a:ea typeface="+mn-ea"/>
              </a:rPr>
              <a:t>0.10000×2</a:t>
            </a:r>
            <a:r>
              <a:rPr lang="en-US" altLang="zh-CN" kern="0" baseline="30000">
                <a:solidFill>
                  <a:srgbClr val="0000FF"/>
                </a:solidFill>
                <a:latin typeface="+mn-lt"/>
                <a:ea typeface="+mn-ea"/>
              </a:rPr>
              <a:t>-5</a:t>
            </a:r>
            <a:endParaRPr kumimoji="0" lang="zh-CN" altLang="en-US" sz="2800" b="1" i="0" u="none" strike="noStrike" kern="0" cap="none" spc="0" normalizeH="0" baseline="3000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D615AB06-B6CD-4DCC-A369-A5B26E6C9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1819262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/>
              <a:t>R</a:t>
            </a:r>
            <a:r>
              <a:rPr lang="en-US" altLang="zh-CN" sz="2400">
                <a:latin typeface="+mn-ea"/>
                <a:ea typeface="+mn-ea"/>
              </a:rPr>
              <a:t>≥</a:t>
            </a:r>
            <a:r>
              <a:rPr lang="en-US" altLang="zh-CN" sz="2400"/>
              <a:t>0, </a:t>
            </a:r>
            <a:r>
              <a:rPr lang="zh-CN" altLang="en-US" sz="2400"/>
              <a:t>商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8569CC24-D721-4816-BF68-0D888333B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1114407"/>
            <a:ext cx="307182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01 0011100010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D60B393-1BAC-4B86-8F9F-54D2AFC97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1423968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11 01011</a:t>
            </a:r>
            <a:endParaRPr lang="zh-CN" altLang="en-US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TextBox 33">
            <a:extLst>
              <a:ext uri="{FF2B5EF4-FFF2-40B4-BE49-F238E27FC236}">
                <a16:creationId xmlns:a16="http://schemas.microsoft.com/office/drawing/2014/main" id="{12C97B21-D41E-4452-93E1-77A9512F2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1423968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－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048291F3-D1B4-4B0A-99D6-23A90F58A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1781158"/>
            <a:ext cx="307182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00 100100001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endParaRPr lang="zh-CN" altLang="en-US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Box 33">
            <a:extLst>
              <a:ext uri="{FF2B5EF4-FFF2-40B4-BE49-F238E27FC236}">
                <a16:creationId xmlns:a16="http://schemas.microsoft.com/office/drawing/2014/main" id="{7BCD509C-6812-4BAC-9F7C-5EBDC399A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2105014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DF10426E-7C23-457D-84A7-57ECF17F0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2115194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01 00100001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52B448BF-43DD-433C-A143-AA95932A6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2424100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11 01011</a:t>
            </a:r>
            <a:endParaRPr lang="zh-CN" altLang="en-US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5" name="TextBox 33">
            <a:extLst>
              <a:ext uri="{FF2B5EF4-FFF2-40B4-BE49-F238E27FC236}">
                <a16:creationId xmlns:a16="http://schemas.microsoft.com/office/drawing/2014/main" id="{DD621C0C-34A4-429E-9A8C-D6EFD1C7E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2400291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－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cxnSp>
        <p:nvCxnSpPr>
          <p:cNvPr id="26" name="直接连接符 12">
            <a:extLst>
              <a:ext uri="{FF2B5EF4-FFF2-40B4-BE49-F238E27FC236}">
                <a16:creationId xmlns:a16="http://schemas.microsoft.com/office/drawing/2014/main" id="{BD6E208A-AC7B-48E8-9C73-2BFD2B26808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496" y="2852728"/>
            <a:ext cx="4531944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7" name="TextBox 19">
            <a:extLst>
              <a:ext uri="{FF2B5EF4-FFF2-40B4-BE49-F238E27FC236}">
                <a16:creationId xmlns:a16="http://schemas.microsoft.com/office/drawing/2014/main" id="{77E23D16-0BE6-455D-B2AA-22718369E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2781290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00 01111001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1</a:t>
            </a:r>
            <a:endParaRPr lang="zh-CN" altLang="en-US">
              <a:solidFill>
                <a:srgbClr val="FF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" name="TextBox 33">
            <a:extLst>
              <a:ext uri="{FF2B5EF4-FFF2-40B4-BE49-F238E27FC236}">
                <a16:creationId xmlns:a16="http://schemas.microsoft.com/office/drawing/2014/main" id="{4320228D-4EB6-4ADB-83E3-447A01DC0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2781290"/>
            <a:ext cx="16430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/>
              <a:t>R</a:t>
            </a:r>
            <a:r>
              <a:rPr lang="en-US" altLang="zh-CN" sz="2400">
                <a:latin typeface="+mn-ea"/>
                <a:ea typeface="+mn-ea"/>
              </a:rPr>
              <a:t>≥</a:t>
            </a:r>
            <a:r>
              <a:rPr lang="en-US" altLang="zh-CN" sz="2400"/>
              <a:t>0, </a:t>
            </a:r>
            <a:r>
              <a:rPr lang="zh-CN" altLang="en-US" sz="2400"/>
              <a:t>商</a:t>
            </a:r>
            <a:r>
              <a:rPr lang="en-US" altLang="zh-CN">
                <a:solidFill>
                  <a:srgbClr val="FF00FF"/>
                </a:solidFill>
                <a:latin typeface="+mn-lt"/>
                <a:cs typeface="Courier New" pitchFamily="49" charset="0"/>
              </a:rPr>
              <a:t>1</a:t>
            </a:r>
            <a:endParaRPr lang="zh-CN" altLang="en-US">
              <a:solidFill>
                <a:srgbClr val="FF00FF"/>
              </a:solidFill>
              <a:latin typeface="+mn-lt"/>
              <a:cs typeface="Courier New" pitchFamily="49" charset="0"/>
            </a:endParaRPr>
          </a:p>
        </p:txBody>
      </p:sp>
      <p:sp>
        <p:nvSpPr>
          <p:cNvPr id="29" name="TextBox 33">
            <a:extLst>
              <a:ext uri="{FF2B5EF4-FFF2-40B4-BE49-F238E27FC236}">
                <a16:creationId xmlns:a16="http://schemas.microsoft.com/office/drawing/2014/main" id="{7ECAEBBD-8079-4243-A97E-DC16DAFC4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3105146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30" name="TextBox 33">
            <a:extLst>
              <a:ext uri="{FF2B5EF4-FFF2-40B4-BE49-F238E27FC236}">
                <a16:creationId xmlns:a16="http://schemas.microsoft.com/office/drawing/2014/main" id="{60E3F007-68D1-43E0-B4C9-EEF94AF08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3390898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－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0F9CF65A-CB11-4B31-B8FC-25E2EDE68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3115326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00 1111001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884BC798-FFB2-4B83-8709-F34349066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3424232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11 01011</a:t>
            </a:r>
            <a:endParaRPr lang="zh-CN" altLang="en-US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33" name="直接连接符 12">
            <a:extLst>
              <a:ext uri="{FF2B5EF4-FFF2-40B4-BE49-F238E27FC236}">
                <a16:creationId xmlns:a16="http://schemas.microsoft.com/office/drawing/2014/main" id="{8CC1720A-CBA7-44D9-BDE2-EBAAD731F4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496" y="3852860"/>
            <a:ext cx="4531944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" name="TextBox 19">
            <a:extLst>
              <a:ext uri="{FF2B5EF4-FFF2-40B4-BE49-F238E27FC236}">
                <a16:creationId xmlns:a16="http://schemas.microsoft.com/office/drawing/2014/main" id="{ADD9776C-AB79-43C9-A853-F0C465C78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3781422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00 0100101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</a:t>
            </a:r>
            <a:endParaRPr lang="zh-CN" altLang="en-US">
              <a:solidFill>
                <a:srgbClr val="008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C5DA3E09-27FC-4929-8A8A-5FB54481E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3781422"/>
            <a:ext cx="16430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/>
              <a:t>R</a:t>
            </a:r>
            <a:r>
              <a:rPr lang="en-US" altLang="zh-CN" sz="2400">
                <a:latin typeface="+mn-ea"/>
                <a:ea typeface="+mn-ea"/>
              </a:rPr>
              <a:t>≥</a:t>
            </a:r>
            <a:r>
              <a:rPr lang="en-US" altLang="zh-CN" sz="2400"/>
              <a:t>0, </a:t>
            </a:r>
            <a:r>
              <a:rPr lang="zh-CN" altLang="en-US" sz="2400"/>
              <a:t>商</a:t>
            </a:r>
            <a:r>
              <a:rPr lang="en-US" altLang="zh-CN">
                <a:solidFill>
                  <a:srgbClr val="008000"/>
                </a:solidFill>
                <a:latin typeface="+mn-lt"/>
                <a:cs typeface="Courier New" pitchFamily="49" charset="0"/>
              </a:rPr>
              <a:t>1</a:t>
            </a:r>
            <a:endParaRPr lang="zh-CN" altLang="en-US">
              <a:solidFill>
                <a:srgbClr val="008000"/>
              </a:solidFill>
              <a:latin typeface="+mn-lt"/>
              <a:cs typeface="Courier New" pitchFamily="49" charset="0"/>
            </a:endParaRP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12AACBEE-4A8E-41E7-A441-5E843D3DC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4105278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37" name="TextBox 33">
            <a:extLst>
              <a:ext uri="{FF2B5EF4-FFF2-40B4-BE49-F238E27FC236}">
                <a16:creationId xmlns:a16="http://schemas.microsoft.com/office/drawing/2014/main" id="{FF11B763-C35C-4336-B002-020573834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4391030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－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38" name="TextBox 19">
            <a:extLst>
              <a:ext uri="{FF2B5EF4-FFF2-40B4-BE49-F238E27FC236}">
                <a16:creationId xmlns:a16="http://schemas.microsoft.com/office/drawing/2014/main" id="{F57D07E2-97E6-4AFF-A88C-6DB5CF09C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4115458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00 100101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757AFAB8-17EF-4644-82DA-1F2BBBD47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4400555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11 01011</a:t>
            </a:r>
            <a:endParaRPr lang="zh-CN" altLang="en-US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40" name="直接连接符 12">
            <a:extLst>
              <a:ext uri="{FF2B5EF4-FFF2-40B4-BE49-F238E27FC236}">
                <a16:creationId xmlns:a16="http://schemas.microsoft.com/office/drawing/2014/main" id="{87A662A2-6944-418F-A612-E50FF5C8AB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496" y="4852992"/>
            <a:ext cx="4531944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1" name="TextBox 19">
            <a:extLst>
              <a:ext uri="{FF2B5EF4-FFF2-40B4-BE49-F238E27FC236}">
                <a16:creationId xmlns:a16="http://schemas.microsoft.com/office/drawing/2014/main" id="{BD319ED6-181C-4098-8E28-1B2CF5551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4781554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11 111011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solidFill>
                <a:srgbClr val="0066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2" name="TextBox 33">
            <a:extLst>
              <a:ext uri="{FF2B5EF4-FFF2-40B4-BE49-F238E27FC236}">
                <a16:creationId xmlns:a16="http://schemas.microsoft.com/office/drawing/2014/main" id="{32C08717-F948-49A9-B492-54E04C8D9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4781554"/>
            <a:ext cx="16430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/>
              <a:t>R＜0, </a:t>
            </a:r>
            <a:r>
              <a:rPr lang="zh-CN" altLang="en-US" sz="2400"/>
              <a:t>商</a:t>
            </a:r>
            <a:r>
              <a:rPr lang="en-US" altLang="zh-CN">
                <a:solidFill>
                  <a:srgbClr val="0066FF"/>
                </a:solidFill>
                <a:latin typeface="+mn-lt"/>
                <a:cs typeface="Courier New" pitchFamily="49" charset="0"/>
              </a:rPr>
              <a:t>0</a:t>
            </a:r>
            <a:endParaRPr lang="zh-CN" altLang="en-US">
              <a:solidFill>
                <a:srgbClr val="0066FF"/>
              </a:solidFill>
              <a:latin typeface="+mn-lt"/>
              <a:cs typeface="Courier New" pitchFamily="49" charset="0"/>
            </a:endParaRPr>
          </a:p>
        </p:txBody>
      </p:sp>
      <p:sp>
        <p:nvSpPr>
          <p:cNvPr id="43" name="TextBox 33">
            <a:extLst>
              <a:ext uri="{FF2B5EF4-FFF2-40B4-BE49-F238E27FC236}">
                <a16:creationId xmlns:a16="http://schemas.microsoft.com/office/drawing/2014/main" id="{5A3A4163-0F7A-4AC9-9EC7-9C25830F2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5105410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左移</a:t>
            </a:r>
            <a:r>
              <a:rPr lang="en-US" altLang="zh-CN" sz="2400"/>
              <a:t>1</a:t>
            </a:r>
            <a:r>
              <a:rPr lang="zh-CN" altLang="en-US" sz="2400"/>
              <a:t>位</a:t>
            </a:r>
          </a:p>
        </p:txBody>
      </p:sp>
      <p:sp>
        <p:nvSpPr>
          <p:cNvPr id="44" name="TextBox 33">
            <a:extLst>
              <a:ext uri="{FF2B5EF4-FFF2-40B4-BE49-F238E27FC236}">
                <a16:creationId xmlns:a16="http://schemas.microsoft.com/office/drawing/2014/main" id="{F860BBBF-700A-4939-A108-C30B063E9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5391162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/>
              <a:t>＋</a:t>
            </a:r>
            <a:r>
              <a:rPr lang="en-US" altLang="zh-CN" sz="2400"/>
              <a:t>|Y|</a:t>
            </a:r>
            <a:endParaRPr lang="zh-CN" altLang="en-US" sz="2400"/>
          </a:p>
        </p:txBody>
      </p:sp>
      <p:sp>
        <p:nvSpPr>
          <p:cNvPr id="45" name="TextBox 19">
            <a:extLst>
              <a:ext uri="{FF2B5EF4-FFF2-40B4-BE49-F238E27FC236}">
                <a16:creationId xmlns:a16="http://schemas.microsoft.com/office/drawing/2014/main" id="{88C37862-014D-43E8-95B2-85B630E68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5115590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11 11011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0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6" name="TextBox 19">
            <a:extLst>
              <a:ext uri="{FF2B5EF4-FFF2-40B4-BE49-F238E27FC236}">
                <a16:creationId xmlns:a16="http://schemas.microsoft.com/office/drawing/2014/main" id="{191B7AD2-BA9C-49B2-B513-3A6E13D05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5400687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00 10101</a:t>
            </a:r>
            <a:endParaRPr lang="zh-CN" altLang="en-US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47" name="直接连接符 12">
            <a:extLst>
              <a:ext uri="{FF2B5EF4-FFF2-40B4-BE49-F238E27FC236}">
                <a16:creationId xmlns:a16="http://schemas.microsoft.com/office/drawing/2014/main" id="{99996409-9954-4EED-A3AF-242589033B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496" y="5853124"/>
            <a:ext cx="4531944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8" name="TextBox 19">
            <a:extLst>
              <a:ext uri="{FF2B5EF4-FFF2-40B4-BE49-F238E27FC236}">
                <a16:creationId xmlns:a16="http://schemas.microsoft.com/office/drawing/2014/main" id="{39778E34-DF13-412B-A541-4C559FDC6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5781686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>
                <a:latin typeface="Courier New" pitchFamily="49" charset="0"/>
                <a:cs typeface="Courier New" pitchFamily="49" charset="0"/>
              </a:rPr>
              <a:t>00 10000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zh-CN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zh-CN">
                <a:solidFill>
                  <a:srgbClr val="9933FF"/>
                </a:solidFill>
                <a:latin typeface="Courier New" pitchFamily="49" charset="0"/>
                <a:cs typeface="Courier New" pitchFamily="49" charset="0"/>
              </a:rPr>
              <a:t>1</a:t>
            </a:r>
            <a:endParaRPr lang="zh-CN" altLang="en-US">
              <a:solidFill>
                <a:srgbClr val="9933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5041ED38-2DFA-43AF-857F-1A0F7DA0C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5781686"/>
            <a:ext cx="16430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/>
              <a:t>R</a:t>
            </a:r>
            <a:r>
              <a:rPr lang="en-US" altLang="zh-CN" sz="2400">
                <a:latin typeface="+mn-ea"/>
                <a:ea typeface="+mn-ea"/>
              </a:rPr>
              <a:t>≥</a:t>
            </a:r>
            <a:r>
              <a:rPr lang="en-US" altLang="zh-CN" sz="2400"/>
              <a:t>0, </a:t>
            </a:r>
            <a:r>
              <a:rPr lang="zh-CN" altLang="en-US" sz="2400"/>
              <a:t>商</a:t>
            </a:r>
            <a:r>
              <a:rPr lang="en-US" altLang="zh-CN">
                <a:solidFill>
                  <a:srgbClr val="9933FF"/>
                </a:solidFill>
                <a:latin typeface="+mn-lt"/>
                <a:cs typeface="Courier New" pitchFamily="49" charset="0"/>
              </a:rPr>
              <a:t>1</a:t>
            </a:r>
            <a:endParaRPr lang="zh-CN" altLang="en-US">
              <a:solidFill>
                <a:srgbClr val="9933FF"/>
              </a:solidFill>
              <a:latin typeface="+mn-lt"/>
              <a:cs typeface="Courier New" pitchFamily="49" charset="0"/>
            </a:endParaRPr>
          </a:p>
        </p:txBody>
      </p:sp>
      <p:sp>
        <p:nvSpPr>
          <p:cNvPr id="50" name="左大括号 49">
            <a:extLst>
              <a:ext uri="{FF2B5EF4-FFF2-40B4-BE49-F238E27FC236}">
                <a16:creationId xmlns:a16="http://schemas.microsoft.com/office/drawing/2014/main" id="{99FAAC23-819C-4B8B-AE7C-9E7233D77777}"/>
              </a:ext>
            </a:extLst>
          </p:cNvPr>
          <p:cNvSpPr/>
          <p:nvPr/>
        </p:nvSpPr>
        <p:spPr bwMode="auto">
          <a:xfrm rot="16200000">
            <a:off x="5042158" y="5745496"/>
            <a:ext cx="237684" cy="1033980"/>
          </a:xfrm>
          <a:prstGeom prst="leftBrace">
            <a:avLst>
              <a:gd name="adj1" fmla="val 4490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左大括号 50">
            <a:extLst>
              <a:ext uri="{FF2B5EF4-FFF2-40B4-BE49-F238E27FC236}">
                <a16:creationId xmlns:a16="http://schemas.microsoft.com/office/drawing/2014/main" id="{C6F5ECF3-EBED-42A6-B354-DF86D6EF87A3}"/>
              </a:ext>
            </a:extLst>
          </p:cNvPr>
          <p:cNvSpPr/>
          <p:nvPr/>
        </p:nvSpPr>
        <p:spPr bwMode="auto">
          <a:xfrm rot="16200000">
            <a:off x="6161465" y="5738545"/>
            <a:ext cx="237683" cy="1047882"/>
          </a:xfrm>
          <a:prstGeom prst="leftBrace">
            <a:avLst>
              <a:gd name="adj1" fmla="val 4490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TextBox 110">
            <a:extLst>
              <a:ext uri="{FF2B5EF4-FFF2-40B4-BE49-F238E27FC236}">
                <a16:creationId xmlns:a16="http://schemas.microsoft.com/office/drawing/2014/main" id="{2AA088D8-B289-4F5A-9161-EA59CDFD2B70}"/>
              </a:ext>
            </a:extLst>
          </p:cNvPr>
          <p:cNvSpPr txBox="1"/>
          <p:nvPr/>
        </p:nvSpPr>
        <p:spPr>
          <a:xfrm>
            <a:off x="6228184" y="6181747"/>
            <a:ext cx="71437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</a:rPr>
              <a:t>商</a:t>
            </a:r>
          </a:p>
        </p:txBody>
      </p:sp>
      <p:sp>
        <p:nvSpPr>
          <p:cNvPr id="53" name="TextBox 111">
            <a:extLst>
              <a:ext uri="{FF2B5EF4-FFF2-40B4-BE49-F238E27FC236}">
                <a16:creationId xmlns:a16="http://schemas.microsoft.com/office/drawing/2014/main" id="{B83C59BB-BB2D-4E2B-A9E3-0968F9C824BC}"/>
              </a:ext>
            </a:extLst>
          </p:cNvPr>
          <p:cNvSpPr txBox="1"/>
          <p:nvPr/>
        </p:nvSpPr>
        <p:spPr>
          <a:xfrm>
            <a:off x="4427984" y="6182045"/>
            <a:ext cx="107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</a:rPr>
              <a:t>余数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F6D6E9DB-E573-4388-81A5-D699595A2D71}"/>
              </a:ext>
            </a:extLst>
          </p:cNvPr>
          <p:cNvCxnSpPr/>
          <p:nvPr/>
        </p:nvCxnSpPr>
        <p:spPr bwMode="auto">
          <a:xfrm rot="10800000">
            <a:off x="6572264" y="1214422"/>
            <a:ext cx="357190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93A4EA20-3CC8-44B1-A6A4-FB9CF55B8299}"/>
              </a:ext>
            </a:extLst>
          </p:cNvPr>
          <p:cNvCxnSpPr/>
          <p:nvPr/>
        </p:nvCxnSpPr>
        <p:spPr bwMode="auto">
          <a:xfrm rot="5400000">
            <a:off x="6072198" y="1714488"/>
            <a:ext cx="1000132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68949C8E-27E3-4A72-97E7-A4222208E167}"/>
              </a:ext>
            </a:extLst>
          </p:cNvPr>
          <p:cNvCxnSpPr/>
          <p:nvPr/>
        </p:nvCxnSpPr>
        <p:spPr bwMode="auto">
          <a:xfrm rot="10800000">
            <a:off x="6357950" y="2214554"/>
            <a:ext cx="214314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F2B2731-18FB-4EE1-98B9-DB63066F44E5}"/>
              </a:ext>
            </a:extLst>
          </p:cNvPr>
          <p:cNvCxnSpPr/>
          <p:nvPr/>
        </p:nvCxnSpPr>
        <p:spPr bwMode="auto">
          <a:xfrm rot="5400000">
            <a:off x="5857884" y="2714620"/>
            <a:ext cx="1000132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A854373C-26A4-4DF6-B2DE-A02480DB8FE0}"/>
              </a:ext>
            </a:extLst>
          </p:cNvPr>
          <p:cNvCxnSpPr/>
          <p:nvPr/>
        </p:nvCxnSpPr>
        <p:spPr bwMode="auto">
          <a:xfrm rot="10800000">
            <a:off x="6143636" y="3214686"/>
            <a:ext cx="214314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CC51255-2CDE-48D7-9955-C276B10B3BA4}"/>
              </a:ext>
            </a:extLst>
          </p:cNvPr>
          <p:cNvCxnSpPr/>
          <p:nvPr/>
        </p:nvCxnSpPr>
        <p:spPr bwMode="auto">
          <a:xfrm rot="5400000">
            <a:off x="5643570" y="3714752"/>
            <a:ext cx="1000132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F2FD10A-D9E2-4087-8E4C-5788BF13F21A}"/>
              </a:ext>
            </a:extLst>
          </p:cNvPr>
          <p:cNvCxnSpPr/>
          <p:nvPr/>
        </p:nvCxnSpPr>
        <p:spPr bwMode="auto">
          <a:xfrm rot="10800000">
            <a:off x="5929322" y="4214818"/>
            <a:ext cx="214314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647D878F-B33B-4A25-8897-6C8B8F95A362}"/>
              </a:ext>
            </a:extLst>
          </p:cNvPr>
          <p:cNvCxnSpPr/>
          <p:nvPr/>
        </p:nvCxnSpPr>
        <p:spPr bwMode="auto">
          <a:xfrm rot="5400000">
            <a:off x="5429256" y="4714884"/>
            <a:ext cx="1000132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C994E2A3-E949-4242-A78F-ECFEF9B85026}"/>
              </a:ext>
            </a:extLst>
          </p:cNvPr>
          <p:cNvCxnSpPr/>
          <p:nvPr/>
        </p:nvCxnSpPr>
        <p:spPr bwMode="auto">
          <a:xfrm rot="10800000">
            <a:off x="5715008" y="5214950"/>
            <a:ext cx="214314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EA2156A-08BF-40E7-B1AA-50B253C2E2BB}"/>
              </a:ext>
            </a:extLst>
          </p:cNvPr>
          <p:cNvCxnSpPr/>
          <p:nvPr/>
        </p:nvCxnSpPr>
        <p:spPr bwMode="auto">
          <a:xfrm rot="5400000">
            <a:off x="5214942" y="5715016"/>
            <a:ext cx="1000132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TextBox 96">
            <a:extLst>
              <a:ext uri="{FF2B5EF4-FFF2-40B4-BE49-F238E27FC236}">
                <a16:creationId xmlns:a16="http://schemas.microsoft.com/office/drawing/2014/main" id="{45A2A175-D344-49F3-BDC9-10B62616BB61}"/>
              </a:ext>
            </a:extLst>
          </p:cNvPr>
          <p:cNvSpPr txBox="1"/>
          <p:nvPr/>
        </p:nvSpPr>
        <p:spPr>
          <a:xfrm>
            <a:off x="4716016" y="447055"/>
            <a:ext cx="2016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>
                <a:solidFill>
                  <a:srgbClr val="008000"/>
                </a:solidFill>
                <a:latin typeface="+mn-lt"/>
                <a:ea typeface="+mn-ea"/>
              </a:rPr>
              <a:t>D</a:t>
            </a:r>
            <a:r>
              <a:rPr lang="en-US" altLang="zh-CN" sz="2400">
                <a:solidFill>
                  <a:srgbClr val="008000"/>
                </a:solidFill>
                <a:latin typeface="+mn-ea"/>
                <a:ea typeface="+mn-ea"/>
              </a:rPr>
              <a:t>     </a:t>
            </a:r>
            <a:r>
              <a:rPr lang="en-US" altLang="zh-CN" sz="2400">
                <a:solidFill>
                  <a:srgbClr val="008000"/>
                </a:solidFill>
                <a:latin typeface="+mn-lt"/>
                <a:ea typeface="+mn-ea"/>
              </a:rPr>
              <a:t>A</a:t>
            </a:r>
            <a:endParaRPr lang="zh-CN" altLang="en-US" sz="2400">
              <a:solidFill>
                <a:srgbClr val="008000"/>
              </a:solidFill>
              <a:latin typeface="+mn-lt"/>
              <a:ea typeface="+mn-ea"/>
            </a:endParaRPr>
          </a:p>
        </p:txBody>
      </p:sp>
      <p:cxnSp>
        <p:nvCxnSpPr>
          <p:cNvPr id="65" name="直接连接符 18">
            <a:extLst>
              <a:ext uri="{FF2B5EF4-FFF2-40B4-BE49-F238E27FC236}">
                <a16:creationId xmlns:a16="http://schemas.microsoft.com/office/drawing/2014/main" id="{CB6C90B7-BF24-4C21-ADE7-19FE5A2E1F4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24128" y="519063"/>
            <a:ext cx="0" cy="317649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" name="直接连接符 12">
            <a:extLst>
              <a:ext uri="{FF2B5EF4-FFF2-40B4-BE49-F238E27FC236}">
                <a16:creationId xmlns:a16="http://schemas.microsoft.com/office/drawing/2014/main" id="{1ABE8268-BA43-4DA8-AF3C-ACAFD0F581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0" y="519063"/>
            <a:ext cx="2304256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19080738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0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1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2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3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20"/>
                            </p:stCondLst>
                            <p:childTnLst>
                              <p:par>
                                <p:cTn id="12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6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7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20"/>
                            </p:stCondLst>
                            <p:childTnLst>
                              <p:par>
                                <p:cTn id="140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5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6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7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320"/>
                            </p:stCondLst>
                            <p:childTnLst>
                              <p:par>
                                <p:cTn id="18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9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0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1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20"/>
                            </p:stCondLst>
                            <p:childTnLst>
                              <p:par>
                                <p:cTn id="203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500"/>
                            </p:stCondLst>
                            <p:childTnLst>
                              <p:par>
                                <p:cTn id="2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000"/>
                            </p:stCondLst>
                            <p:childTnLst>
                              <p:par>
                                <p:cTn id="23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8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9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0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320"/>
                            </p:stCondLst>
                            <p:childTnLst>
                              <p:par>
                                <p:cTn id="25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2" dur="8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3" dur="80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4" dur="80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520"/>
                            </p:stCondLst>
                            <p:childTnLst>
                              <p:par>
                                <p:cTn id="266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500"/>
                            </p:stCondLst>
                            <p:childTnLst>
                              <p:par>
                                <p:cTn id="286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000"/>
                            </p:stCondLst>
                            <p:childTnLst>
                              <p:par>
                                <p:cTn id="29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1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2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3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320"/>
                            </p:stCondLst>
                            <p:childTnLst>
                              <p:par>
                                <p:cTn id="31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5" dur="8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6" dur="80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7" dur="80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20"/>
                            </p:stCondLst>
                            <p:childTnLst>
                              <p:par>
                                <p:cTn id="329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500"/>
                            </p:stCondLst>
                            <p:childTnLst>
                              <p:par>
                                <p:cTn id="34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1000"/>
                            </p:stCondLst>
                            <p:childTnLst>
                              <p:par>
                                <p:cTn id="35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4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5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6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>
                            <p:stCondLst>
                              <p:cond delay="320"/>
                            </p:stCondLst>
                            <p:childTnLst>
                              <p:par>
                                <p:cTn id="37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8" dur="80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9" dur="80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0" dur="80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520"/>
                            </p:stCondLst>
                            <p:childTnLst>
                              <p:par>
                                <p:cTn id="392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4" dur="8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5" dur="8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6" dur="8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1" dur="8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2" dur="8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3" dur="8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39" grpId="0"/>
      <p:bldP spid="41" grpId="0"/>
      <p:bldP spid="42" grpId="0"/>
      <p:bldP spid="43" grpId="0"/>
      <p:bldP spid="44" grpId="0"/>
      <p:bldP spid="45" grpId="0"/>
      <p:bldP spid="46" grpId="0"/>
      <p:bldP spid="48" grpId="0"/>
      <p:bldP spid="49" grpId="0"/>
      <p:bldP spid="50" grpId="0" animBg="1"/>
      <p:bldP spid="51" grpId="0" animBg="1"/>
      <p:bldP spid="52" grpId="0"/>
      <p:bldP spid="53" grpId="0"/>
      <p:bldP spid="6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1C437-FBD6-4B91-8FD5-B8270E926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P94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/>
              <a:t>习题 </a:t>
            </a:r>
            <a:r>
              <a:rPr lang="en-US" altLang="zh-CN" dirty="0"/>
              <a:t>3.21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F8EEA-C361-4038-9A48-64E96C6ED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55046AE6-2E6F-440F-A5EE-353B33F3F89A}"/>
              </a:ext>
            </a:extLst>
          </p:cNvPr>
          <p:cNvSpPr txBox="1">
            <a:spLocks/>
          </p:cNvSpPr>
          <p:nvPr/>
        </p:nvSpPr>
        <p:spPr bwMode="auto">
          <a:xfrm>
            <a:off x="142871" y="980728"/>
            <a:ext cx="3571873" cy="117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3.21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①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用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原码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加减交替法，求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X÷Y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7D"/>
              </a:solidFill>
              <a:effectLst/>
              <a:uLnTx/>
              <a:uFillTx/>
              <a:latin typeface="Arial"/>
              <a:ea typeface="黑体"/>
              <a:cs typeface="+mj-cs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85E7B3B-2272-48D2-806D-EDDC59BEC2C2}"/>
              </a:ext>
            </a:extLst>
          </p:cNvPr>
          <p:cNvSpPr txBox="1">
            <a:spLocks/>
          </p:cNvSpPr>
          <p:nvPr/>
        </p:nvSpPr>
        <p:spPr bwMode="auto">
          <a:xfrm>
            <a:off x="142844" y="2123157"/>
            <a:ext cx="4000528" cy="3131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1688" indent="-279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4pPr>
            <a:lvl5pPr marL="2330450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X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 －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0.10101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00000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Y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 ＋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0.11011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|X|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</a:t>
            </a:r>
            <a:r>
              <a:rPr kumimoji="0" lang="zh-CN" altLang="en-US" sz="2800" b="1" i="0" u="none" strike="noStrike" kern="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原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0.1010100000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|Y|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</a:t>
            </a:r>
            <a:r>
              <a:rPr kumimoji="0" lang="zh-CN" altLang="en-US" sz="2800" b="1" i="0" u="none" strike="noStrike" kern="0" cap="none" spc="0" normalizeH="0" baseline="-25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原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0.11011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宋体"/>
                <a:cs typeface="Courier New" pitchFamily="49" charset="0"/>
              </a:rPr>
              <a:t>-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|Y|]</a:t>
            </a:r>
            <a:r>
              <a:rPr kumimoji="0" lang="zh-CN" altLang="en-US" sz="28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补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zh-CN" altLang="en-US" sz="2800" b="1" i="0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1.00101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商符＝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1⊕0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21B06BD-47A4-401E-8469-1C6443A4B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57" y="158624"/>
            <a:ext cx="10001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 dirty="0">
                <a:solidFill>
                  <a:srgbClr val="008000"/>
                </a:solidFill>
                <a:ea typeface="宋体" charset="-122"/>
              </a:rPr>
              <a:t>符号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9F7BEF48-60F2-4626-89EC-E92D750C32BF}"/>
              </a:ext>
            </a:extLst>
          </p:cNvPr>
          <p:cNvSpPr txBox="1"/>
          <p:nvPr/>
        </p:nvSpPr>
        <p:spPr>
          <a:xfrm>
            <a:off x="4519372" y="16866"/>
            <a:ext cx="2428892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/>
            </a:pPr>
            <a:r>
              <a:rPr lang="zh-CN" altLang="en-US" sz="2400" dirty="0">
                <a:solidFill>
                  <a:srgbClr val="008000"/>
                </a:solidFill>
                <a:latin typeface="宋体"/>
                <a:ea typeface="宋体"/>
              </a:rPr>
              <a:t>被除数</a:t>
            </a:r>
            <a:r>
              <a:rPr lang="en-US" altLang="zh-CN" sz="2400" dirty="0">
                <a:solidFill>
                  <a:srgbClr val="008000"/>
                </a:solidFill>
                <a:latin typeface="宋体"/>
                <a:ea typeface="宋体"/>
              </a:rPr>
              <a:t>(</a:t>
            </a:r>
            <a:r>
              <a:rPr lang="zh-CN" altLang="en-US" sz="2400" dirty="0">
                <a:solidFill>
                  <a:srgbClr val="008000"/>
                </a:solidFill>
                <a:latin typeface="宋体"/>
                <a:ea typeface="宋体"/>
              </a:rPr>
              <a:t>余数</a:t>
            </a:r>
            <a:r>
              <a:rPr lang="en-US" altLang="zh-CN" sz="2400" dirty="0">
                <a:solidFill>
                  <a:srgbClr val="008000"/>
                </a:solidFill>
                <a:latin typeface="宋体"/>
                <a:ea typeface="宋体"/>
              </a:rPr>
              <a:t>)</a:t>
            </a:r>
            <a:endParaRPr lang="zh-CN" altLang="en-US" sz="2400" dirty="0">
              <a:solidFill>
                <a:srgbClr val="008000"/>
              </a:solidFill>
              <a:latin typeface="宋体"/>
              <a:ea typeface="宋体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F5B19-451E-4ED5-98E5-9D1F379E5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288" y="158624"/>
            <a:ext cx="1143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solidFill>
                  <a:srgbClr val="008000"/>
                </a:solidFill>
                <a:ea typeface="宋体" charset="-122"/>
              </a:rPr>
              <a:t>操作</a:t>
            </a:r>
          </a:p>
        </p:txBody>
      </p:sp>
      <p:cxnSp>
        <p:nvCxnSpPr>
          <p:cNvPr id="10" name="直接连接符 12">
            <a:extLst>
              <a:ext uri="{FF2B5EF4-FFF2-40B4-BE49-F238E27FC236}">
                <a16:creationId xmlns:a16="http://schemas.microsoft.com/office/drawing/2014/main" id="{81EA2CA4-BF00-4C44-B8E9-51523BD3B8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532" y="594049"/>
            <a:ext cx="4531908" cy="0"/>
          </a:xfrm>
          <a:prstGeom prst="lin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1" name="直接连接符 15">
            <a:extLst>
              <a:ext uri="{FF2B5EF4-FFF2-40B4-BE49-F238E27FC236}">
                <a16:creationId xmlns:a16="http://schemas.microsoft.com/office/drawing/2014/main" id="{D4F758B7-0860-49A2-8285-18ABDE4BD9A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1" y="62668"/>
            <a:ext cx="1" cy="6462676"/>
          </a:xfrm>
          <a:prstGeom prst="lin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12" name="直接连接符 16">
            <a:extLst>
              <a:ext uri="{FF2B5EF4-FFF2-40B4-BE49-F238E27FC236}">
                <a16:creationId xmlns:a16="http://schemas.microsoft.com/office/drawing/2014/main" id="{B1CF90C2-C733-4C07-A3F0-AAF717EBCB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58398" y="62668"/>
            <a:ext cx="17799" cy="6174644"/>
          </a:xfrm>
          <a:prstGeom prst="lin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</p:spPr>
      </p:cxnSp>
      <p:sp>
        <p:nvSpPr>
          <p:cNvPr id="13" name="TextBox 19">
            <a:extLst>
              <a:ext uri="{FF2B5EF4-FFF2-40B4-BE49-F238E27FC236}">
                <a16:creationId xmlns:a16="http://schemas.microsoft.com/office/drawing/2014/main" id="{9507E13A-A399-49A3-A637-9583C439D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86" y="532137"/>
            <a:ext cx="307182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00 1010100000</a:t>
            </a:r>
            <a:endParaRPr lang="zh-CN" altLang="en-US" dirty="0">
              <a:solidFill>
                <a:srgbClr val="00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cxnSp>
        <p:nvCxnSpPr>
          <p:cNvPr id="14" name="直接连接符 28">
            <a:extLst>
              <a:ext uri="{FF2B5EF4-FFF2-40B4-BE49-F238E27FC236}">
                <a16:creationId xmlns:a16="http://schemas.microsoft.com/office/drawing/2014/main" id="{A77D53CA-21FB-40C2-8BEB-C11AD273FB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532" y="1594181"/>
            <a:ext cx="4531908" cy="0"/>
          </a:xfrm>
          <a:prstGeom prst="lin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</p:spPr>
      </p:cxnSp>
      <p:sp>
        <p:nvSpPr>
          <p:cNvPr id="15" name="TextBox 33">
            <a:extLst>
              <a:ext uri="{FF2B5EF4-FFF2-40B4-BE49-F238E27FC236}">
                <a16:creationId xmlns:a16="http://schemas.microsoft.com/office/drawing/2014/main" id="{8ACC1C7E-8A91-4E1D-9D97-5519E86F8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84" y="846467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左移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位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8CB2A512-E819-4AAD-833A-A69E3AB1AAD4}"/>
              </a:ext>
            </a:extLst>
          </p:cNvPr>
          <p:cNvSpPr txBox="1">
            <a:spLocks/>
          </p:cNvSpPr>
          <p:nvPr/>
        </p:nvSpPr>
        <p:spPr bwMode="auto">
          <a:xfrm>
            <a:off x="142844" y="5264149"/>
            <a:ext cx="3786214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kern="0" dirty="0">
                <a:solidFill>
                  <a:srgbClr val="0000FF"/>
                </a:solidFill>
                <a:latin typeface="Times New Roman"/>
                <a:ea typeface="宋体"/>
              </a:rPr>
              <a:t>∴ [X÷Y]</a:t>
            </a:r>
            <a:r>
              <a:rPr lang="zh-CN" altLang="en-US" kern="0" baseline="-25000" dirty="0">
                <a:solidFill>
                  <a:srgbClr val="0000FF"/>
                </a:solidFill>
                <a:latin typeface="Times New Roman"/>
                <a:ea typeface="宋体"/>
              </a:rPr>
              <a:t>原</a:t>
            </a:r>
            <a:r>
              <a:rPr lang="zh-CN" altLang="en-US" kern="0" dirty="0">
                <a:solidFill>
                  <a:srgbClr val="0000FF"/>
                </a:solidFill>
                <a:latin typeface="Times New Roman"/>
                <a:ea typeface="宋体"/>
              </a:rPr>
              <a:t>＝</a:t>
            </a:r>
            <a:r>
              <a:rPr lang="en-US" altLang="zh-CN" dirty="0">
                <a:solidFill>
                  <a:srgbClr val="CC0066"/>
                </a:solidFill>
                <a:latin typeface="Times New Roman"/>
                <a:ea typeface="宋体"/>
              </a:rPr>
              <a:t>1</a:t>
            </a:r>
            <a:r>
              <a:rPr lang="en-US" altLang="zh-CN" kern="0" dirty="0">
                <a:solidFill>
                  <a:srgbClr val="0000FF"/>
                </a:solidFill>
                <a:latin typeface="Times New Roman"/>
                <a:ea typeface="宋体"/>
              </a:rPr>
              <a:t>.11000</a:t>
            </a:r>
          </a:p>
          <a:p>
            <a:pPr algn="l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/>
                <a:ea typeface="宋体"/>
              </a:rPr>
              <a:t>    余数＝</a:t>
            </a:r>
            <a:r>
              <a:rPr lang="en-US" altLang="zh-CN" kern="0" dirty="0">
                <a:solidFill>
                  <a:srgbClr val="008000"/>
                </a:solidFill>
                <a:latin typeface="Times New Roman"/>
                <a:ea typeface="宋体"/>
              </a:rPr>
              <a:t>1</a:t>
            </a:r>
            <a:r>
              <a:rPr lang="en-US" altLang="zh-CN" kern="0" dirty="0">
                <a:solidFill>
                  <a:srgbClr val="0000FF"/>
                </a:solidFill>
                <a:latin typeface="Times New Roman"/>
                <a:ea typeface="宋体"/>
              </a:rPr>
              <a:t>.11000×2</a:t>
            </a:r>
            <a:r>
              <a:rPr lang="en-US" altLang="zh-CN" kern="0" baseline="30000" dirty="0">
                <a:solidFill>
                  <a:srgbClr val="0000FF"/>
                </a:solidFill>
                <a:latin typeface="Times New Roman"/>
                <a:ea typeface="宋体"/>
              </a:rPr>
              <a:t>-5</a:t>
            </a:r>
            <a:endParaRPr lang="zh-CN" altLang="en-US" kern="0" baseline="30000" dirty="0">
              <a:solidFill>
                <a:srgbClr val="0000FF"/>
              </a:solidFill>
              <a:latin typeface="Times New Roman"/>
              <a:ea typeface="宋体"/>
            </a:endParaRP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DD03967C-E0D6-4F93-B518-6E8AAFE3E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1560847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R</a:t>
            </a:r>
            <a:r>
              <a:rPr lang="en-US" altLang="zh-CN" sz="2400">
                <a:solidFill>
                  <a:srgbClr val="000000"/>
                </a:solidFill>
                <a:latin typeface="宋体"/>
                <a:ea typeface="宋体"/>
              </a:rPr>
              <a:t>≥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0, 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商</a:t>
            </a:r>
            <a:r>
              <a:rPr lang="en-US" altLang="zh-CN" sz="2400">
                <a:solidFill>
                  <a:srgbClr val="FF0000"/>
                </a:solidFill>
                <a:ea typeface="宋体" charset="-122"/>
              </a:rPr>
              <a:t>1</a:t>
            </a:r>
            <a:endParaRPr lang="zh-CN" altLang="en-US" sz="2400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33B7C958-0DAA-490F-BC2D-E843DBEB6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855992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01 0101000000</a:t>
            </a:r>
            <a:endParaRPr lang="zh-CN" altLang="en-US" dirty="0">
              <a:solidFill>
                <a:srgbClr val="00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6D03F26-BD49-4C6D-B2B1-A9A7C0C64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1165553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11 00101</a:t>
            </a:r>
            <a:endParaRPr lang="zh-CN" altLang="en-US" dirty="0">
              <a:solidFill>
                <a:srgbClr val="FF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20" name="TextBox 33">
            <a:extLst>
              <a:ext uri="{FF2B5EF4-FFF2-40B4-BE49-F238E27FC236}">
                <a16:creationId xmlns:a16="http://schemas.microsoft.com/office/drawing/2014/main" id="{B2ABD3D8-E0C4-4FF9-B86F-E30280BDA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1165553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－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|Y|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C9311F1E-892E-4266-828E-3BC6D25C2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1522743"/>
            <a:ext cx="307182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00 011110000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endParaRPr lang="zh-CN" altLang="en-US" dirty="0">
              <a:solidFill>
                <a:srgbClr val="FF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22" name="TextBox 33">
            <a:extLst>
              <a:ext uri="{FF2B5EF4-FFF2-40B4-BE49-F238E27FC236}">
                <a16:creationId xmlns:a16="http://schemas.microsoft.com/office/drawing/2014/main" id="{056C67B0-2E08-4EBE-880D-020FEC2F1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1846599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左移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位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B2986DE5-9DE2-4365-B0E0-FBAB2CA47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1856779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00 11110000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648DEAC9-9B6A-4523-90C3-AB4112C33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2165685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11 00101</a:t>
            </a:r>
            <a:endParaRPr lang="zh-CN" altLang="en-US" dirty="0">
              <a:solidFill>
                <a:srgbClr val="FF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25" name="TextBox 33">
            <a:extLst>
              <a:ext uri="{FF2B5EF4-FFF2-40B4-BE49-F238E27FC236}">
                <a16:creationId xmlns:a16="http://schemas.microsoft.com/office/drawing/2014/main" id="{C200EB91-E322-448D-B466-7BAAB9DEF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2141876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－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|Y|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cxnSp>
        <p:nvCxnSpPr>
          <p:cNvPr id="26" name="直接连接符 12">
            <a:extLst>
              <a:ext uri="{FF2B5EF4-FFF2-40B4-BE49-F238E27FC236}">
                <a16:creationId xmlns:a16="http://schemas.microsoft.com/office/drawing/2014/main" id="{667286F7-7C5A-46B2-B612-C12EF6B615D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496" y="2594313"/>
            <a:ext cx="4531944" cy="0"/>
          </a:xfrm>
          <a:prstGeom prst="lin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</p:spPr>
      </p:cxnSp>
      <p:sp>
        <p:nvSpPr>
          <p:cNvPr id="27" name="TextBox 19">
            <a:extLst>
              <a:ext uri="{FF2B5EF4-FFF2-40B4-BE49-F238E27FC236}">
                <a16:creationId xmlns:a16="http://schemas.microsoft.com/office/drawing/2014/main" id="{AF656D7D-10F4-43D7-9727-9BB88082E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2522875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00 00011000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FF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endParaRPr lang="zh-CN" altLang="en-US" dirty="0">
              <a:solidFill>
                <a:srgbClr val="FF00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28" name="TextBox 33">
            <a:extLst>
              <a:ext uri="{FF2B5EF4-FFF2-40B4-BE49-F238E27FC236}">
                <a16:creationId xmlns:a16="http://schemas.microsoft.com/office/drawing/2014/main" id="{920324D2-DA9F-416F-9BD8-199471BB6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2522875"/>
            <a:ext cx="16430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R</a:t>
            </a:r>
            <a:r>
              <a:rPr lang="en-US" altLang="zh-CN" sz="2400">
                <a:solidFill>
                  <a:srgbClr val="000000"/>
                </a:solidFill>
                <a:latin typeface="宋体"/>
                <a:ea typeface="宋体"/>
              </a:rPr>
              <a:t>≥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0, 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商</a:t>
            </a:r>
            <a:r>
              <a:rPr lang="en-US" altLang="zh-CN">
                <a:solidFill>
                  <a:srgbClr val="FF00FF"/>
                </a:solidFill>
                <a:latin typeface="Times New Roman"/>
                <a:ea typeface="宋体" charset="-122"/>
                <a:cs typeface="Courier New" pitchFamily="49" charset="0"/>
              </a:rPr>
              <a:t>1</a:t>
            </a:r>
            <a:endParaRPr lang="zh-CN" altLang="en-US">
              <a:solidFill>
                <a:srgbClr val="FF00FF"/>
              </a:solidFill>
              <a:latin typeface="Times New Roman"/>
              <a:ea typeface="宋体" charset="-122"/>
              <a:cs typeface="Courier New" pitchFamily="49" charset="0"/>
            </a:endParaRPr>
          </a:p>
        </p:txBody>
      </p:sp>
      <p:sp>
        <p:nvSpPr>
          <p:cNvPr id="29" name="TextBox 33">
            <a:extLst>
              <a:ext uri="{FF2B5EF4-FFF2-40B4-BE49-F238E27FC236}">
                <a16:creationId xmlns:a16="http://schemas.microsoft.com/office/drawing/2014/main" id="{AACAA4DB-63DC-4681-8FB2-0EDF653B7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2846731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左移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位</a:t>
            </a:r>
          </a:p>
        </p:txBody>
      </p:sp>
      <p:sp>
        <p:nvSpPr>
          <p:cNvPr id="30" name="TextBox 33">
            <a:extLst>
              <a:ext uri="{FF2B5EF4-FFF2-40B4-BE49-F238E27FC236}">
                <a16:creationId xmlns:a16="http://schemas.microsoft.com/office/drawing/2014/main" id="{EF52204B-ED72-46A0-8CD6-E379E1DC2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3132483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－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|Y|</a:t>
            </a:r>
            <a:endParaRPr lang="zh-CN" altLang="en-US" sz="24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DBAADE03-2508-4390-825D-27AD08EA5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2856911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00 0011000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FF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FBA0C7CA-8768-4141-B4A8-3DBBB78C1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3165817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11 00101</a:t>
            </a:r>
            <a:endParaRPr lang="zh-CN" altLang="en-US" dirty="0">
              <a:solidFill>
                <a:srgbClr val="FF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cxnSp>
        <p:nvCxnSpPr>
          <p:cNvPr id="33" name="直接连接符 12">
            <a:extLst>
              <a:ext uri="{FF2B5EF4-FFF2-40B4-BE49-F238E27FC236}">
                <a16:creationId xmlns:a16="http://schemas.microsoft.com/office/drawing/2014/main" id="{77BB17BE-4612-4039-BAD9-9BB1BEF404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496" y="3594445"/>
            <a:ext cx="4531944" cy="0"/>
          </a:xfrm>
          <a:prstGeom prst="lin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</p:spPr>
      </p:cxnSp>
      <p:sp>
        <p:nvSpPr>
          <p:cNvPr id="34" name="TextBox 19">
            <a:extLst>
              <a:ext uri="{FF2B5EF4-FFF2-40B4-BE49-F238E27FC236}">
                <a16:creationId xmlns:a16="http://schemas.microsoft.com/office/drawing/2014/main" id="{A54B438B-913C-41B8-BC60-027C1671D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3523007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11 0101100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FF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008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endParaRPr lang="zh-CN" altLang="en-US" dirty="0">
              <a:solidFill>
                <a:srgbClr val="008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8BA8B3B5-228C-4DD7-8CA9-DB4BB968C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3523007"/>
            <a:ext cx="16430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R＜0, </a:t>
            </a:r>
            <a:r>
              <a:rPr lang="zh-CN" altLang="en-US" sz="2400" dirty="0">
                <a:solidFill>
                  <a:srgbClr val="000000"/>
                </a:solidFill>
                <a:ea typeface="宋体" charset="-122"/>
              </a:rPr>
              <a:t>商</a:t>
            </a:r>
            <a:r>
              <a:rPr lang="en-US" altLang="zh-CN" dirty="0">
                <a:solidFill>
                  <a:srgbClr val="008000"/>
                </a:solidFill>
                <a:latin typeface="Times New Roman"/>
                <a:ea typeface="宋体" charset="-122"/>
                <a:cs typeface="Courier New" pitchFamily="49" charset="0"/>
              </a:rPr>
              <a:t>0</a:t>
            </a:r>
            <a:endParaRPr lang="zh-CN" altLang="en-US" dirty="0">
              <a:solidFill>
                <a:srgbClr val="008000"/>
              </a:solidFill>
              <a:latin typeface="Times New Roman"/>
              <a:ea typeface="宋体" charset="-122"/>
              <a:cs typeface="Courier New" pitchFamily="49" charset="0"/>
            </a:endParaRP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10E7AF8F-8EDE-4F42-922D-D9F2FDCD6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3846863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左移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位</a:t>
            </a:r>
          </a:p>
        </p:txBody>
      </p:sp>
      <p:sp>
        <p:nvSpPr>
          <p:cNvPr id="37" name="TextBox 33">
            <a:extLst>
              <a:ext uri="{FF2B5EF4-FFF2-40B4-BE49-F238E27FC236}">
                <a16:creationId xmlns:a16="http://schemas.microsoft.com/office/drawing/2014/main" id="{21EBC91B-BE48-4923-B1CD-820D3551C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4132615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 dirty="0">
                <a:solidFill>
                  <a:srgbClr val="000000"/>
                </a:solidFill>
                <a:ea typeface="宋体" charset="-122"/>
              </a:rPr>
              <a:t>＋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|Y|</a:t>
            </a:r>
            <a:endParaRPr lang="zh-CN" altLang="en-US" sz="2400" dirty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38" name="TextBox 19">
            <a:extLst>
              <a:ext uri="{FF2B5EF4-FFF2-40B4-BE49-F238E27FC236}">
                <a16:creationId xmlns:a16="http://schemas.microsoft.com/office/drawing/2014/main" id="{0EDE808C-D795-470D-8A8D-D30F7083E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3857043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10 101100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FF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008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3D93C8FC-062C-4184-8283-4D380B8B0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4142140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00 11011</a:t>
            </a:r>
            <a:endParaRPr lang="zh-CN" altLang="en-US" dirty="0">
              <a:solidFill>
                <a:srgbClr val="FF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cxnSp>
        <p:nvCxnSpPr>
          <p:cNvPr id="40" name="直接连接符 12">
            <a:extLst>
              <a:ext uri="{FF2B5EF4-FFF2-40B4-BE49-F238E27FC236}">
                <a16:creationId xmlns:a16="http://schemas.microsoft.com/office/drawing/2014/main" id="{FDE22DE9-E05D-4990-81D8-B0B0F02D78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496" y="4594577"/>
            <a:ext cx="4531944" cy="0"/>
          </a:xfrm>
          <a:prstGeom prst="lin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</p:spPr>
      </p:cxnSp>
      <p:sp>
        <p:nvSpPr>
          <p:cNvPr id="41" name="TextBox 19">
            <a:extLst>
              <a:ext uri="{FF2B5EF4-FFF2-40B4-BE49-F238E27FC236}">
                <a16:creationId xmlns:a16="http://schemas.microsoft.com/office/drawing/2014/main" id="{A6E59F1D-C6CD-49D3-A364-D49516459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4523139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11 100010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FF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008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r>
              <a:rPr lang="en-US" altLang="zh-CN" dirty="0">
                <a:solidFill>
                  <a:srgbClr val="0066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endParaRPr lang="zh-CN" altLang="en-US" dirty="0">
              <a:solidFill>
                <a:srgbClr val="0066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42" name="TextBox 33">
            <a:extLst>
              <a:ext uri="{FF2B5EF4-FFF2-40B4-BE49-F238E27FC236}">
                <a16:creationId xmlns:a16="http://schemas.microsoft.com/office/drawing/2014/main" id="{F20D006B-F866-49D4-8673-D56CD458E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4523139"/>
            <a:ext cx="16430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R＜0, </a:t>
            </a:r>
            <a:r>
              <a:rPr lang="zh-CN" altLang="en-US" sz="2400" dirty="0">
                <a:solidFill>
                  <a:srgbClr val="000000"/>
                </a:solidFill>
                <a:ea typeface="宋体" charset="-122"/>
              </a:rPr>
              <a:t>商</a:t>
            </a:r>
            <a:r>
              <a:rPr lang="en-US" altLang="zh-CN" dirty="0">
                <a:solidFill>
                  <a:srgbClr val="0066FF"/>
                </a:solidFill>
                <a:latin typeface="Times New Roman"/>
                <a:ea typeface="宋体" charset="-122"/>
                <a:cs typeface="Courier New" pitchFamily="49" charset="0"/>
              </a:rPr>
              <a:t>0</a:t>
            </a:r>
            <a:endParaRPr lang="zh-CN" altLang="en-US" dirty="0">
              <a:solidFill>
                <a:srgbClr val="0066FF"/>
              </a:solidFill>
              <a:latin typeface="Times New Roman"/>
              <a:ea typeface="宋体" charset="-122"/>
              <a:cs typeface="Courier New" pitchFamily="49" charset="0"/>
            </a:endParaRPr>
          </a:p>
        </p:txBody>
      </p:sp>
      <p:sp>
        <p:nvSpPr>
          <p:cNvPr id="43" name="TextBox 33">
            <a:extLst>
              <a:ext uri="{FF2B5EF4-FFF2-40B4-BE49-F238E27FC236}">
                <a16:creationId xmlns:a16="http://schemas.microsoft.com/office/drawing/2014/main" id="{D2FD8A71-C429-4E37-B808-633335EC3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4846995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左移</a:t>
            </a:r>
            <a:r>
              <a:rPr lang="en-US" altLang="zh-CN" sz="2400">
                <a:solidFill>
                  <a:srgbClr val="000000"/>
                </a:solidFill>
                <a:ea typeface="宋体" charset="-122"/>
              </a:rPr>
              <a:t>1</a:t>
            </a:r>
            <a:r>
              <a:rPr lang="zh-CN" altLang="en-US" sz="2400">
                <a:solidFill>
                  <a:srgbClr val="000000"/>
                </a:solidFill>
                <a:ea typeface="宋体" charset="-122"/>
              </a:rPr>
              <a:t>位</a:t>
            </a:r>
          </a:p>
        </p:txBody>
      </p:sp>
      <p:sp>
        <p:nvSpPr>
          <p:cNvPr id="44" name="TextBox 33">
            <a:extLst>
              <a:ext uri="{FF2B5EF4-FFF2-40B4-BE49-F238E27FC236}">
                <a16:creationId xmlns:a16="http://schemas.microsoft.com/office/drawing/2014/main" id="{8011C7F2-71BF-400F-AA4E-F51F4B011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5132747"/>
            <a:ext cx="1643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400" dirty="0">
                <a:solidFill>
                  <a:srgbClr val="000000"/>
                </a:solidFill>
                <a:ea typeface="宋体" charset="-122"/>
              </a:rPr>
              <a:t>＋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|Y|</a:t>
            </a:r>
            <a:endParaRPr lang="zh-CN" altLang="en-US" sz="2400" dirty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5" name="TextBox 19">
            <a:extLst>
              <a:ext uri="{FF2B5EF4-FFF2-40B4-BE49-F238E27FC236}">
                <a16:creationId xmlns:a16="http://schemas.microsoft.com/office/drawing/2014/main" id="{E1D443B9-5FB1-4102-B690-EC233C487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4857175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11 00010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FF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008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r>
              <a:rPr lang="en-US" altLang="zh-CN" dirty="0">
                <a:solidFill>
                  <a:srgbClr val="0066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46" name="TextBox 19">
            <a:extLst>
              <a:ext uri="{FF2B5EF4-FFF2-40B4-BE49-F238E27FC236}">
                <a16:creationId xmlns:a16="http://schemas.microsoft.com/office/drawing/2014/main" id="{EA9F4C56-727C-418D-9AA9-BA204049D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5142272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00 11011</a:t>
            </a:r>
            <a:endParaRPr lang="zh-CN" altLang="en-US" dirty="0">
              <a:solidFill>
                <a:srgbClr val="00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cxnSp>
        <p:nvCxnSpPr>
          <p:cNvPr id="47" name="直接连接符 12">
            <a:extLst>
              <a:ext uri="{FF2B5EF4-FFF2-40B4-BE49-F238E27FC236}">
                <a16:creationId xmlns:a16="http://schemas.microsoft.com/office/drawing/2014/main" id="{B0F85032-68F9-4142-A4DE-522A05BDB62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496" y="5594709"/>
            <a:ext cx="4531944" cy="0"/>
          </a:xfrm>
          <a:prstGeom prst="lin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</p:spPr>
      </p:cxnSp>
      <p:sp>
        <p:nvSpPr>
          <p:cNvPr id="48" name="TextBox 19">
            <a:extLst>
              <a:ext uri="{FF2B5EF4-FFF2-40B4-BE49-F238E27FC236}">
                <a16:creationId xmlns:a16="http://schemas.microsoft.com/office/drawing/2014/main" id="{9BD39EC5-8FE2-474A-B817-F97DF4E7F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5523271"/>
            <a:ext cx="3071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11 11101</a:t>
            </a:r>
            <a:r>
              <a:rPr lang="en-US" altLang="zh-CN" dirty="0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FF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</a:t>
            </a:r>
            <a:r>
              <a:rPr lang="en-US" altLang="zh-CN" dirty="0">
                <a:solidFill>
                  <a:srgbClr val="008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r>
              <a:rPr lang="en-US" altLang="zh-CN" dirty="0">
                <a:solidFill>
                  <a:srgbClr val="0066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r>
              <a:rPr lang="en-US" altLang="zh-CN" dirty="0">
                <a:solidFill>
                  <a:srgbClr val="9933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</a:t>
            </a:r>
            <a:endParaRPr lang="zh-CN" altLang="en-US" dirty="0">
              <a:solidFill>
                <a:srgbClr val="9933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8C4166D4-DEA6-4FF3-AF83-1FC914139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5488103"/>
            <a:ext cx="16430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R＜0, </a:t>
            </a:r>
            <a:r>
              <a:rPr lang="zh-CN" altLang="en-US" sz="2400" dirty="0">
                <a:solidFill>
                  <a:srgbClr val="000000"/>
                </a:solidFill>
                <a:ea typeface="宋体" charset="-122"/>
              </a:rPr>
              <a:t>商</a:t>
            </a:r>
            <a:r>
              <a:rPr lang="en-US" altLang="zh-CN" dirty="0">
                <a:solidFill>
                  <a:srgbClr val="9933FF"/>
                </a:solidFill>
                <a:latin typeface="Times New Roman"/>
                <a:ea typeface="宋体" charset="-122"/>
                <a:cs typeface="Courier New" pitchFamily="49" charset="0"/>
              </a:rPr>
              <a:t>0</a:t>
            </a:r>
            <a:endParaRPr lang="zh-CN" altLang="en-US" dirty="0">
              <a:solidFill>
                <a:srgbClr val="9933FF"/>
              </a:solidFill>
              <a:latin typeface="Times New Roman"/>
              <a:ea typeface="宋体" charset="-122"/>
              <a:cs typeface="Courier New" pitchFamily="49" charset="0"/>
            </a:endParaRPr>
          </a:p>
        </p:txBody>
      </p:sp>
      <p:sp>
        <p:nvSpPr>
          <p:cNvPr id="50" name="左大括号 49">
            <a:extLst>
              <a:ext uri="{FF2B5EF4-FFF2-40B4-BE49-F238E27FC236}">
                <a16:creationId xmlns:a16="http://schemas.microsoft.com/office/drawing/2014/main" id="{E9E13505-AC5A-4720-8635-AA5FAA700136}"/>
              </a:ext>
            </a:extLst>
          </p:cNvPr>
          <p:cNvSpPr/>
          <p:nvPr/>
        </p:nvSpPr>
        <p:spPr bwMode="auto">
          <a:xfrm rot="16200000">
            <a:off x="5065226" y="6032119"/>
            <a:ext cx="237684" cy="1080120"/>
          </a:xfrm>
          <a:prstGeom prst="leftBrace">
            <a:avLst>
              <a:gd name="adj1" fmla="val 4490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endParaRPr lang="zh-CN" altLang="en-US" dirty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1" name="左大括号 50">
            <a:extLst>
              <a:ext uri="{FF2B5EF4-FFF2-40B4-BE49-F238E27FC236}">
                <a16:creationId xmlns:a16="http://schemas.microsoft.com/office/drawing/2014/main" id="{196895EA-591E-41C3-AECB-6748C0F1E249}"/>
              </a:ext>
            </a:extLst>
          </p:cNvPr>
          <p:cNvSpPr/>
          <p:nvPr/>
        </p:nvSpPr>
        <p:spPr bwMode="auto">
          <a:xfrm rot="16200000">
            <a:off x="6161465" y="5544181"/>
            <a:ext cx="237683" cy="1047882"/>
          </a:xfrm>
          <a:prstGeom prst="leftBrace">
            <a:avLst>
              <a:gd name="adj1" fmla="val 4490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2" name="TextBox 110">
            <a:extLst>
              <a:ext uri="{FF2B5EF4-FFF2-40B4-BE49-F238E27FC236}">
                <a16:creationId xmlns:a16="http://schemas.microsoft.com/office/drawing/2014/main" id="{EBED9863-FC14-4364-8970-EE73C2EF487E}"/>
              </a:ext>
            </a:extLst>
          </p:cNvPr>
          <p:cNvSpPr txBox="1"/>
          <p:nvPr/>
        </p:nvSpPr>
        <p:spPr>
          <a:xfrm>
            <a:off x="6228184" y="5987383"/>
            <a:ext cx="71437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400" dirty="0">
                <a:solidFill>
                  <a:srgbClr val="FF0000"/>
                </a:solidFill>
                <a:latin typeface="宋体"/>
                <a:ea typeface="宋体"/>
              </a:rPr>
              <a:t>商</a:t>
            </a:r>
          </a:p>
        </p:txBody>
      </p:sp>
      <p:sp>
        <p:nvSpPr>
          <p:cNvPr id="53" name="TextBox 111">
            <a:extLst>
              <a:ext uri="{FF2B5EF4-FFF2-40B4-BE49-F238E27FC236}">
                <a16:creationId xmlns:a16="http://schemas.microsoft.com/office/drawing/2014/main" id="{75B55953-D17A-4B02-847C-987EF9C727F2}"/>
              </a:ext>
            </a:extLst>
          </p:cNvPr>
          <p:cNvSpPr txBox="1"/>
          <p:nvPr/>
        </p:nvSpPr>
        <p:spPr>
          <a:xfrm>
            <a:off x="5578687" y="6351711"/>
            <a:ext cx="107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400" dirty="0">
                <a:solidFill>
                  <a:srgbClr val="FF0000"/>
                </a:solidFill>
                <a:latin typeface="宋体"/>
                <a:ea typeface="宋体"/>
              </a:rPr>
              <a:t>余数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2AF9B3E-ABE6-4688-BF10-D7EF9BB0BDF2}"/>
              </a:ext>
            </a:extLst>
          </p:cNvPr>
          <p:cNvCxnSpPr/>
          <p:nvPr/>
        </p:nvCxnSpPr>
        <p:spPr bwMode="auto">
          <a:xfrm rot="10800000">
            <a:off x="6572264" y="956007"/>
            <a:ext cx="357190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9094E3AF-9E07-4379-BC0E-3F8D9E165915}"/>
              </a:ext>
            </a:extLst>
          </p:cNvPr>
          <p:cNvCxnSpPr/>
          <p:nvPr/>
        </p:nvCxnSpPr>
        <p:spPr bwMode="auto">
          <a:xfrm rot="5400000">
            <a:off x="6072198" y="1456073"/>
            <a:ext cx="1000132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AB2D7437-9554-43B3-89F1-37A5816B6C5B}"/>
              </a:ext>
            </a:extLst>
          </p:cNvPr>
          <p:cNvCxnSpPr/>
          <p:nvPr/>
        </p:nvCxnSpPr>
        <p:spPr bwMode="auto">
          <a:xfrm rot="10800000">
            <a:off x="6357950" y="1956139"/>
            <a:ext cx="214314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A76330F-37D4-4BC4-B814-6D709A6CE75A}"/>
              </a:ext>
            </a:extLst>
          </p:cNvPr>
          <p:cNvCxnSpPr/>
          <p:nvPr/>
        </p:nvCxnSpPr>
        <p:spPr bwMode="auto">
          <a:xfrm rot="5400000">
            <a:off x="5857884" y="2456205"/>
            <a:ext cx="1000132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D664A05-C622-4811-8D50-0883B4BB4AEA}"/>
              </a:ext>
            </a:extLst>
          </p:cNvPr>
          <p:cNvCxnSpPr/>
          <p:nvPr/>
        </p:nvCxnSpPr>
        <p:spPr bwMode="auto">
          <a:xfrm rot="10800000">
            <a:off x="6143636" y="2956271"/>
            <a:ext cx="214314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FD42DFCB-AB40-4C47-BDF3-6ECB2053967C}"/>
              </a:ext>
            </a:extLst>
          </p:cNvPr>
          <p:cNvCxnSpPr/>
          <p:nvPr/>
        </p:nvCxnSpPr>
        <p:spPr bwMode="auto">
          <a:xfrm rot="5400000">
            <a:off x="5643570" y="3456337"/>
            <a:ext cx="1000132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2C15A3C2-15DA-48D5-A0D7-67DB7DADB3B6}"/>
              </a:ext>
            </a:extLst>
          </p:cNvPr>
          <p:cNvCxnSpPr/>
          <p:nvPr/>
        </p:nvCxnSpPr>
        <p:spPr bwMode="auto">
          <a:xfrm rot="10800000">
            <a:off x="5929322" y="3956403"/>
            <a:ext cx="214314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5D802EFD-C590-4B95-84CC-990781E3844E}"/>
              </a:ext>
            </a:extLst>
          </p:cNvPr>
          <p:cNvCxnSpPr/>
          <p:nvPr/>
        </p:nvCxnSpPr>
        <p:spPr bwMode="auto">
          <a:xfrm rot="5400000">
            <a:off x="5429256" y="4456469"/>
            <a:ext cx="1000132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9220D9AB-BF82-420A-B146-C7568C221AEC}"/>
              </a:ext>
            </a:extLst>
          </p:cNvPr>
          <p:cNvCxnSpPr/>
          <p:nvPr/>
        </p:nvCxnSpPr>
        <p:spPr bwMode="auto">
          <a:xfrm rot="10800000">
            <a:off x="5715008" y="4956535"/>
            <a:ext cx="214314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8FEBD1E2-54C9-41F7-B948-E56C89E0D482}"/>
              </a:ext>
            </a:extLst>
          </p:cNvPr>
          <p:cNvCxnSpPr/>
          <p:nvPr/>
        </p:nvCxnSpPr>
        <p:spPr bwMode="auto">
          <a:xfrm rot="5400000">
            <a:off x="5214942" y="5456601"/>
            <a:ext cx="1000132" cy="0"/>
          </a:xfrm>
          <a:prstGeom prst="line">
            <a:avLst/>
          </a:prstGeom>
          <a:noFill/>
          <a:ln w="19050" cap="flat" cmpd="sng" algn="ctr">
            <a:solidFill>
              <a:srgbClr val="FF66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TextBox 96">
            <a:extLst>
              <a:ext uri="{FF2B5EF4-FFF2-40B4-BE49-F238E27FC236}">
                <a16:creationId xmlns:a16="http://schemas.microsoft.com/office/drawing/2014/main" id="{DE174379-0A83-4CAF-9FB4-2415305B2538}"/>
              </a:ext>
            </a:extLst>
          </p:cNvPr>
          <p:cNvSpPr txBox="1"/>
          <p:nvPr/>
        </p:nvSpPr>
        <p:spPr>
          <a:xfrm>
            <a:off x="4716016" y="232600"/>
            <a:ext cx="2016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/>
                <a:ea typeface="宋体"/>
              </a:rPr>
              <a:t>D</a:t>
            </a:r>
            <a:r>
              <a:rPr lang="en-US" altLang="zh-CN" sz="2400" dirty="0">
                <a:solidFill>
                  <a:srgbClr val="008000"/>
                </a:solidFill>
                <a:latin typeface="宋体"/>
                <a:ea typeface="宋体"/>
              </a:rPr>
              <a:t>     </a:t>
            </a:r>
            <a:r>
              <a:rPr lang="en-US" altLang="zh-CN" sz="2400" dirty="0">
                <a:solidFill>
                  <a:srgbClr val="008000"/>
                </a:solidFill>
                <a:latin typeface="Times New Roman"/>
                <a:ea typeface="宋体"/>
              </a:rPr>
              <a:t>A</a:t>
            </a:r>
            <a:endParaRPr lang="zh-CN" altLang="en-US" sz="2400" dirty="0">
              <a:solidFill>
                <a:srgbClr val="008000"/>
              </a:solidFill>
              <a:latin typeface="Times New Roman"/>
              <a:ea typeface="宋体"/>
            </a:endParaRPr>
          </a:p>
        </p:txBody>
      </p:sp>
      <p:cxnSp>
        <p:nvCxnSpPr>
          <p:cNvPr id="65" name="直接连接符 18">
            <a:extLst>
              <a:ext uri="{FF2B5EF4-FFF2-40B4-BE49-F238E27FC236}">
                <a16:creationId xmlns:a16="http://schemas.microsoft.com/office/drawing/2014/main" id="{F6948772-3734-4ED3-B325-2C9CF4E55F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24128" y="339776"/>
            <a:ext cx="0" cy="238521"/>
          </a:xfrm>
          <a:prstGeom prst="lin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66" name="直接连接符 12">
            <a:extLst>
              <a:ext uri="{FF2B5EF4-FFF2-40B4-BE49-F238E27FC236}">
                <a16:creationId xmlns:a16="http://schemas.microsoft.com/office/drawing/2014/main" id="{9F525183-D077-4718-A75A-F569DF0CA26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0" y="339776"/>
            <a:ext cx="2304256" cy="0"/>
          </a:xfrm>
          <a:prstGeom prst="lin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</p:spPr>
      </p:cxnSp>
      <p:sp>
        <p:nvSpPr>
          <p:cNvPr id="67" name="TextBox 19">
            <a:extLst>
              <a:ext uri="{FF2B5EF4-FFF2-40B4-BE49-F238E27FC236}">
                <a16:creationId xmlns:a16="http://schemas.microsoft.com/office/drawing/2014/main" id="{F61FDBB3-1410-480A-B281-8E87BDD02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5811821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00 11011</a:t>
            </a:r>
            <a:endParaRPr lang="zh-CN" altLang="en-US" dirty="0">
              <a:solidFill>
                <a:srgbClr val="00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68" name="TextBox 33">
            <a:extLst>
              <a:ext uri="{FF2B5EF4-FFF2-40B4-BE49-F238E27FC236}">
                <a16:creationId xmlns:a16="http://schemas.microsoft.com/office/drawing/2014/main" id="{6F5850E6-1EA1-46DD-A6B5-3A2833B57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648" y="5840432"/>
            <a:ext cx="2387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zh-CN" altLang="en-US" sz="2400" dirty="0">
                <a:solidFill>
                  <a:srgbClr val="FF6600"/>
                </a:solidFill>
                <a:ea typeface="宋体" charset="-122"/>
              </a:rPr>
              <a:t>＋</a:t>
            </a:r>
            <a:r>
              <a:rPr lang="en-US" altLang="zh-CN" sz="2400" dirty="0">
                <a:solidFill>
                  <a:srgbClr val="FF6600"/>
                </a:solidFill>
                <a:ea typeface="宋体" charset="-122"/>
              </a:rPr>
              <a:t>|Y|, </a:t>
            </a:r>
            <a:r>
              <a:rPr lang="zh-CN" altLang="en-US" sz="2400" dirty="0">
                <a:solidFill>
                  <a:srgbClr val="FF6600"/>
                </a:solidFill>
                <a:ea typeface="宋体" charset="-122"/>
              </a:rPr>
              <a:t>恢复余数</a:t>
            </a:r>
          </a:p>
        </p:txBody>
      </p:sp>
      <p:cxnSp>
        <p:nvCxnSpPr>
          <p:cNvPr id="69" name="直接连接符 12">
            <a:extLst>
              <a:ext uri="{FF2B5EF4-FFF2-40B4-BE49-F238E27FC236}">
                <a16:creationId xmlns:a16="http://schemas.microsoft.com/office/drawing/2014/main" id="{666C9BF3-E68B-4624-9B2E-1E127327AC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0496" y="6237312"/>
            <a:ext cx="4531944" cy="0"/>
          </a:xfrm>
          <a:prstGeom prst="lin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</p:spPr>
      </p:cxnSp>
      <p:sp>
        <p:nvSpPr>
          <p:cNvPr id="70" name="TextBox 19">
            <a:extLst>
              <a:ext uri="{FF2B5EF4-FFF2-40B4-BE49-F238E27FC236}">
                <a16:creationId xmlns:a16="http://schemas.microsoft.com/office/drawing/2014/main" id="{E8F8BCC5-683D-4EA8-9772-510C68E20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58" y="6165304"/>
            <a:ext cx="207170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00 11000</a:t>
            </a:r>
            <a:endParaRPr lang="zh-CN" altLang="en-US" dirty="0">
              <a:solidFill>
                <a:srgbClr val="00000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8181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0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1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2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3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20"/>
                            </p:stCondLst>
                            <p:childTnLst>
                              <p:par>
                                <p:cTn id="12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6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7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20"/>
                            </p:stCondLst>
                            <p:childTnLst>
                              <p:par>
                                <p:cTn id="140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5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6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7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320"/>
                            </p:stCondLst>
                            <p:childTnLst>
                              <p:par>
                                <p:cTn id="18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9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0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1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20"/>
                            </p:stCondLst>
                            <p:childTnLst>
                              <p:par>
                                <p:cTn id="203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500"/>
                            </p:stCondLst>
                            <p:childTnLst>
                              <p:par>
                                <p:cTn id="2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000"/>
                            </p:stCondLst>
                            <p:childTnLst>
                              <p:par>
                                <p:cTn id="23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8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9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0" dur="80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320"/>
                            </p:stCondLst>
                            <p:childTnLst>
                              <p:par>
                                <p:cTn id="25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2" dur="8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3" dur="80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4" dur="80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520"/>
                            </p:stCondLst>
                            <p:childTnLst>
                              <p:par>
                                <p:cTn id="266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500"/>
                            </p:stCondLst>
                            <p:childTnLst>
                              <p:par>
                                <p:cTn id="286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000"/>
                            </p:stCondLst>
                            <p:childTnLst>
                              <p:par>
                                <p:cTn id="29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1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2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3" dur="80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320"/>
                            </p:stCondLst>
                            <p:childTnLst>
                              <p:par>
                                <p:cTn id="31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5" dur="8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6" dur="80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7" dur="80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20"/>
                            </p:stCondLst>
                            <p:childTnLst>
                              <p:par>
                                <p:cTn id="329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500"/>
                            </p:stCondLst>
                            <p:childTnLst>
                              <p:par>
                                <p:cTn id="34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1000"/>
                            </p:stCondLst>
                            <p:childTnLst>
                              <p:par>
                                <p:cTn id="35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4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5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6" dur="80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>
                            <p:stCondLst>
                              <p:cond delay="320"/>
                            </p:stCondLst>
                            <p:childTnLst>
                              <p:par>
                                <p:cTn id="37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8" dur="80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9" dur="80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0" dur="80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520"/>
                            </p:stCondLst>
                            <p:childTnLst>
                              <p:par>
                                <p:cTn id="392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0" dur="80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1" dur="80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2" dur="80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3" fill="hold">
                            <p:stCondLst>
                              <p:cond delay="320"/>
                            </p:stCondLst>
                            <p:childTnLst>
                              <p:par>
                                <p:cTn id="41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4" dur="80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5" dur="80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6" dur="80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43" dur="8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4" dur="8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5" dur="8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50" dur="8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51" dur="8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2" dur="8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39" grpId="0"/>
      <p:bldP spid="41" grpId="0"/>
      <p:bldP spid="42" grpId="0"/>
      <p:bldP spid="43" grpId="0"/>
      <p:bldP spid="44" grpId="0"/>
      <p:bldP spid="45" grpId="0"/>
      <p:bldP spid="46" grpId="0"/>
      <p:bldP spid="48" grpId="0"/>
      <p:bldP spid="49" grpId="0"/>
      <p:bldP spid="50" grpId="0" animBg="1"/>
      <p:bldP spid="51" grpId="0" animBg="1"/>
      <p:bldP spid="52" grpId="0"/>
      <p:bldP spid="53" grpId="0"/>
      <p:bldP spid="64" grpId="0"/>
      <p:bldP spid="67" grpId="0"/>
      <p:bldP spid="68" grpId="0"/>
      <p:bldP spid="7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499F5-50CC-4214-9160-4D68149A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 运算方法与运算器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9735FD-0E78-471D-A019-6F3E341B9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3" y="764704"/>
            <a:ext cx="8526743" cy="5904656"/>
          </a:xfrm>
        </p:spPr>
        <p:txBody>
          <a:bodyPr/>
          <a:lstStyle/>
          <a:p>
            <a:r>
              <a:rPr lang="zh-CN" altLang="en-US" dirty="0"/>
              <a:t>浮点数的</a:t>
            </a:r>
            <a:r>
              <a:rPr lang="zh-CN" altLang="en-US" dirty="0">
                <a:solidFill>
                  <a:srgbClr val="D60093"/>
                </a:solidFill>
              </a:rPr>
              <a:t>加</a:t>
            </a:r>
            <a:r>
              <a:rPr lang="zh-CN" altLang="en-US" dirty="0">
                <a:solidFill>
                  <a:srgbClr val="008000"/>
                </a:solidFill>
              </a:rPr>
              <a:t>减</a:t>
            </a:r>
            <a:r>
              <a:rPr lang="zh-CN" altLang="en-US" dirty="0"/>
              <a:t>法运算</a:t>
            </a:r>
            <a:endParaRPr lang="en-US" altLang="zh-CN" dirty="0"/>
          </a:p>
          <a:p>
            <a:pPr lvl="1"/>
            <a:r>
              <a:rPr lang="zh-CN" altLang="en-US" dirty="0"/>
              <a:t>对阶</a:t>
            </a:r>
            <a:endParaRPr lang="en-US" altLang="zh-CN" dirty="0"/>
          </a:p>
          <a:p>
            <a:pPr lvl="1"/>
            <a:r>
              <a:rPr lang="zh-CN" altLang="en-US" dirty="0"/>
              <a:t>尾数求</a:t>
            </a:r>
            <a:r>
              <a:rPr lang="zh-CN" altLang="en-US" dirty="0">
                <a:solidFill>
                  <a:srgbClr val="D60093"/>
                </a:solidFill>
              </a:rPr>
              <a:t>和</a:t>
            </a:r>
            <a:r>
              <a:rPr lang="en-US" altLang="zh-CN" dirty="0"/>
              <a:t>/</a:t>
            </a:r>
            <a:r>
              <a:rPr lang="zh-CN" altLang="en-US" dirty="0">
                <a:solidFill>
                  <a:srgbClr val="008000"/>
                </a:solidFill>
              </a:rPr>
              <a:t>差</a:t>
            </a:r>
            <a:endParaRPr lang="en-US" altLang="zh-CN" dirty="0">
              <a:solidFill>
                <a:srgbClr val="008000"/>
              </a:solidFill>
            </a:endParaRPr>
          </a:p>
          <a:p>
            <a:pPr lvl="1"/>
            <a:r>
              <a:rPr lang="zh-CN" altLang="en-US" dirty="0"/>
              <a:t>运算结果规格化、舍入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浮点数的</a:t>
            </a:r>
            <a:r>
              <a:rPr lang="zh-CN" altLang="en-US" dirty="0">
                <a:solidFill>
                  <a:srgbClr val="FF0000"/>
                </a:solidFill>
              </a:rPr>
              <a:t>乘</a:t>
            </a:r>
            <a:r>
              <a:rPr lang="en-US" altLang="zh-CN" dirty="0"/>
              <a:t>/</a:t>
            </a:r>
            <a:r>
              <a:rPr lang="zh-CN" altLang="en-US" dirty="0">
                <a:solidFill>
                  <a:srgbClr val="0000FF"/>
                </a:solidFill>
              </a:rPr>
              <a:t>除</a:t>
            </a:r>
            <a:r>
              <a:rPr lang="zh-CN" altLang="en-US" dirty="0"/>
              <a:t>法运算</a:t>
            </a:r>
            <a:endParaRPr lang="en-US" altLang="zh-CN" dirty="0"/>
          </a:p>
          <a:p>
            <a:pPr lvl="1"/>
            <a:r>
              <a:rPr lang="zh-CN" altLang="en-US" dirty="0"/>
              <a:t>阶码</a:t>
            </a:r>
            <a:r>
              <a:rPr lang="zh-CN" altLang="en-US" dirty="0">
                <a:solidFill>
                  <a:srgbClr val="FF0000"/>
                </a:solidFill>
                <a:cs typeface="+mn-cs"/>
              </a:rPr>
              <a:t>加</a:t>
            </a:r>
            <a:r>
              <a:rPr lang="en-US" altLang="zh-CN"/>
              <a:t>/</a:t>
            </a:r>
            <a:r>
              <a:rPr lang="zh-CN" altLang="en-US">
                <a:solidFill>
                  <a:srgbClr val="0000FF"/>
                </a:solidFill>
                <a:cs typeface="+mn-cs"/>
              </a:rPr>
              <a:t>减</a:t>
            </a:r>
            <a:r>
              <a:rPr lang="zh-CN" altLang="en-US">
                <a:cs typeface="+mn-cs"/>
              </a:rPr>
              <a:t>（</a:t>
            </a:r>
            <a:r>
              <a:rPr lang="zh-CN" altLang="en-US">
                <a:solidFill>
                  <a:srgbClr val="FF00FF"/>
                </a:solidFill>
                <a:cs typeface="+mn-cs"/>
              </a:rPr>
              <a:t>补码加法</a:t>
            </a:r>
            <a:r>
              <a:rPr lang="zh-CN" altLang="en-US">
                <a:cs typeface="+mn-cs"/>
              </a:rPr>
              <a:t> 或 </a:t>
            </a:r>
            <a:r>
              <a:rPr lang="zh-CN" altLang="en-US">
                <a:solidFill>
                  <a:srgbClr val="FF00FF"/>
                </a:solidFill>
                <a:cs typeface="+mn-cs"/>
              </a:rPr>
              <a:t>移码加法</a:t>
            </a:r>
            <a:r>
              <a:rPr lang="zh-CN" altLang="en-US">
                <a:cs typeface="+mn-cs"/>
              </a:rPr>
              <a:t>）</a:t>
            </a:r>
            <a:endParaRPr lang="en-US" altLang="zh-CN" dirty="0">
              <a:cs typeface="+mn-cs"/>
            </a:endParaRPr>
          </a:p>
          <a:p>
            <a:pPr lvl="1"/>
            <a:r>
              <a:rPr lang="zh-CN" altLang="en-US" dirty="0"/>
              <a:t>尾数</a:t>
            </a:r>
            <a:r>
              <a:rPr lang="zh-CN" altLang="en-US" dirty="0">
                <a:solidFill>
                  <a:srgbClr val="FF0000"/>
                </a:solidFill>
                <a:cs typeface="+mn-cs"/>
              </a:rPr>
              <a:t>乘</a:t>
            </a:r>
            <a:r>
              <a:rPr lang="en-US" altLang="zh-CN"/>
              <a:t>/</a:t>
            </a:r>
            <a:r>
              <a:rPr lang="zh-CN" altLang="en-US">
                <a:solidFill>
                  <a:srgbClr val="0000FF"/>
                </a:solidFill>
                <a:cs typeface="+mn-cs"/>
              </a:rPr>
              <a:t>除</a:t>
            </a:r>
            <a:r>
              <a:rPr lang="zh-CN" altLang="en-US">
                <a:cs typeface="+mn-cs"/>
              </a:rPr>
              <a:t>（</a:t>
            </a:r>
            <a:r>
              <a:rPr lang="zh-CN" altLang="en-US">
                <a:solidFill>
                  <a:srgbClr val="009900"/>
                </a:solidFill>
                <a:cs typeface="+mn-cs"/>
              </a:rPr>
              <a:t>布斯法</a:t>
            </a:r>
            <a:r>
              <a:rPr lang="zh-CN" altLang="en-US">
                <a:cs typeface="+mn-cs"/>
              </a:rPr>
              <a:t>、</a:t>
            </a:r>
            <a:r>
              <a:rPr lang="zh-CN" altLang="en-US">
                <a:solidFill>
                  <a:srgbClr val="009900"/>
                </a:solidFill>
                <a:cs typeface="+mn-cs"/>
              </a:rPr>
              <a:t>原码加减交替法</a:t>
            </a:r>
            <a:r>
              <a:rPr lang="zh-CN" altLang="en-US">
                <a:cs typeface="+mn-cs"/>
              </a:rPr>
              <a:t>）</a:t>
            </a:r>
            <a:endParaRPr lang="en-US" altLang="zh-CN" dirty="0">
              <a:cs typeface="+mn-cs"/>
            </a:endParaRPr>
          </a:p>
          <a:p>
            <a:pPr lvl="1"/>
            <a:r>
              <a:rPr lang="zh-CN" altLang="en-US" dirty="0"/>
              <a:t>运算</a:t>
            </a:r>
            <a:r>
              <a:rPr lang="zh-CN" altLang="en-US"/>
              <a:t>结果规格化：左归、右归，最多只需</a:t>
            </a:r>
            <a:r>
              <a:rPr lang="en-US" altLang="zh-CN"/>
              <a:t>1</a:t>
            </a:r>
            <a:r>
              <a:rPr lang="zh-CN" altLang="en-US"/>
              <a:t>次。</a:t>
            </a:r>
            <a:endParaRPr lang="en-US" altLang="zh-CN"/>
          </a:p>
          <a:p>
            <a:pPr lvl="1"/>
            <a:r>
              <a:rPr lang="zh-CN" altLang="en-US"/>
              <a:t>舍入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运算器的结构：单总线、双总线、</a:t>
            </a:r>
            <a:r>
              <a:rPr lang="zh-CN" altLang="en-US"/>
              <a:t>三总线</a:t>
            </a:r>
            <a:endParaRPr lang="en-US" altLang="zh-CN"/>
          </a:p>
          <a:p>
            <a:pPr lvl="1"/>
            <a:r>
              <a:rPr lang="zh-CN" altLang="en-US"/>
              <a:t>特点</a:t>
            </a:r>
            <a:endParaRPr lang="en-US" altLang="zh-CN"/>
          </a:p>
          <a:p>
            <a:pPr lvl="1"/>
            <a:r>
              <a:rPr lang="zh-CN" altLang="en-US"/>
              <a:t>暂存器的个数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5198B-01CC-4C36-A0DC-125E7D366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7586EE-2ED0-4000-947F-5829A5FDED2B}"/>
              </a:ext>
            </a:extLst>
          </p:cNvPr>
          <p:cNvSpPr/>
          <p:nvPr/>
        </p:nvSpPr>
        <p:spPr>
          <a:xfrm>
            <a:off x="5097066" y="2165780"/>
            <a:ext cx="3587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i="1" dirty="0">
                <a:solidFill>
                  <a:srgbClr val="C00000"/>
                </a:solidFill>
              </a:rPr>
              <a:t>右归阶码加；左归阶码减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879B2E-72D2-4453-B6C1-CE1A206B38BC}"/>
              </a:ext>
            </a:extLst>
          </p:cNvPr>
          <p:cNvSpPr/>
          <p:nvPr/>
        </p:nvSpPr>
        <p:spPr>
          <a:xfrm>
            <a:off x="5097066" y="1704114"/>
            <a:ext cx="3897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i="1" dirty="0">
                <a:solidFill>
                  <a:srgbClr val="C00000"/>
                </a:solidFill>
              </a:rPr>
              <a:t>尾数溢出不代表浮点数溢出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587320-CC30-485B-9943-48F6C256192E}"/>
              </a:ext>
            </a:extLst>
          </p:cNvPr>
          <p:cNvSpPr/>
          <p:nvPr/>
        </p:nvSpPr>
        <p:spPr>
          <a:xfrm>
            <a:off x="5097066" y="1242448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i="1" dirty="0">
                <a:solidFill>
                  <a:srgbClr val="C00000"/>
                </a:solidFill>
              </a:rPr>
              <a:t>尾数右移阶码加</a:t>
            </a:r>
          </a:p>
        </p:txBody>
      </p:sp>
    </p:spTree>
    <p:extLst>
      <p:ext uri="{BB962C8B-B14F-4D97-AF65-F5344CB8AC3E}">
        <p14:creationId xmlns:p14="http://schemas.microsoft.com/office/powerpoint/2010/main" val="1975705396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P94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dirty="0"/>
              <a:t>习题 </a:t>
            </a:r>
            <a:r>
              <a:rPr lang="en-US" altLang="zh-CN" dirty="0"/>
              <a:t>3.27 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548680"/>
            <a:ext cx="8568952" cy="230425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设浮点数字长为</a:t>
            </a:r>
            <a:r>
              <a:rPr lang="en-US" altLang="zh-CN" sz="2800" dirty="0"/>
              <a:t>12</a:t>
            </a:r>
            <a:r>
              <a:rPr lang="zh-CN" altLang="en-US" sz="2800" dirty="0"/>
              <a:t>位，</a:t>
            </a:r>
            <a:r>
              <a:rPr lang="zh-CN" altLang="en-US" sz="2800" dirty="0">
                <a:solidFill>
                  <a:srgbClr val="0000FF"/>
                </a:solidFill>
              </a:rPr>
              <a:t>阶码</a:t>
            </a:r>
            <a:r>
              <a:rPr lang="zh-CN" altLang="en-US" sz="2800" dirty="0"/>
              <a:t>为</a:t>
            </a:r>
            <a:r>
              <a:rPr lang="en-US" altLang="zh-CN" sz="2800" dirty="0"/>
              <a:t>5</a:t>
            </a:r>
            <a:r>
              <a:rPr lang="zh-CN" altLang="en-US" sz="2800" dirty="0"/>
              <a:t>位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/>
              <a:t>含</a:t>
            </a:r>
            <a:r>
              <a:rPr lang="en-US" altLang="zh-CN" sz="2800" dirty="0"/>
              <a:t>1</a:t>
            </a:r>
            <a:r>
              <a:rPr lang="zh-CN" altLang="en-US" sz="2800" dirty="0"/>
              <a:t>位符号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0000FF"/>
                </a:solidFill>
              </a:rPr>
              <a:t>尾数</a:t>
            </a:r>
            <a:r>
              <a:rPr lang="zh-CN" altLang="en-US" sz="2800" dirty="0"/>
              <a:t>为</a:t>
            </a:r>
            <a:r>
              <a:rPr lang="en-US" altLang="zh-CN" sz="2800" dirty="0"/>
              <a:t>7</a:t>
            </a:r>
            <a:r>
              <a:rPr lang="zh-CN" altLang="en-US" sz="2800" dirty="0"/>
              <a:t>位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/>
              <a:t>含</a:t>
            </a:r>
            <a:r>
              <a:rPr lang="en-US" altLang="zh-CN" sz="2800" dirty="0"/>
              <a:t>1</a:t>
            </a:r>
            <a:r>
              <a:rPr lang="zh-CN" altLang="en-US" sz="2800" dirty="0"/>
              <a:t>位符号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/>
              <a:t>。阶码用</a:t>
            </a:r>
            <a:r>
              <a:rPr lang="zh-CN" altLang="en-US" sz="2800" dirty="0">
                <a:solidFill>
                  <a:srgbClr val="FF0000"/>
                </a:solidFill>
              </a:rPr>
              <a:t>移码</a:t>
            </a:r>
            <a:r>
              <a:rPr lang="zh-CN" altLang="en-US" sz="2800" dirty="0"/>
              <a:t>、尾数用</a:t>
            </a:r>
            <a:r>
              <a:rPr lang="zh-CN" altLang="en-US" sz="2800" dirty="0">
                <a:solidFill>
                  <a:srgbClr val="FF0000"/>
                </a:solidFill>
              </a:rPr>
              <a:t>补码</a:t>
            </a:r>
            <a:r>
              <a:rPr lang="zh-CN" altLang="en-US" sz="2800" dirty="0"/>
              <a:t>表示。将下列各数按浮点数相加减的步骤计算 </a:t>
            </a:r>
            <a:r>
              <a:rPr lang="en-US" altLang="zh-CN" sz="2800" dirty="0"/>
              <a:t>X±Y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spcBef>
                <a:spcPts val="2100"/>
              </a:spcBef>
              <a:buNone/>
            </a:pPr>
            <a:r>
              <a:rPr lang="en-US" altLang="zh-CN" sz="2800" dirty="0">
                <a:latin typeface="+mn-ea"/>
              </a:rPr>
              <a:t>(</a:t>
            </a:r>
            <a:r>
              <a:rPr lang="en-US" altLang="zh-CN" sz="2800" dirty="0"/>
              <a:t>1</a:t>
            </a:r>
            <a:r>
              <a:rPr lang="en-US" altLang="zh-CN" sz="2800" dirty="0">
                <a:latin typeface="+mn-ea"/>
              </a:rPr>
              <a:t>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7A55E4-D73D-482F-8EFE-D86384BD192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itchFamily="34" charset="0"/>
              <a:ea typeface="宋体" charset="-122"/>
              <a:cs typeface="+mn-cs"/>
            </a:endParaRPr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1403350" y="1844824"/>
          <a:ext cx="2016125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8" name="公式" r:id="rId3" imgW="812447" imgH="406224" progId="Equation.3">
                  <p:embed/>
                </p:oleObj>
              </mc:Choice>
              <mc:Fallback>
                <p:oleObj name="公式" r:id="rId3" imgW="812447" imgH="406224" progId="Equation.3">
                  <p:embed/>
                  <p:pic>
                    <p:nvPicPr>
                      <p:cNvPr id="378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844824"/>
                        <a:ext cx="2016125" cy="1027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4425950" y="1844824"/>
          <a:ext cx="2017713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9" name="公式" r:id="rId5" imgW="825142" imgH="406224" progId="Equation.3">
                  <p:embed/>
                </p:oleObj>
              </mc:Choice>
              <mc:Fallback>
                <p:oleObj name="公式" r:id="rId5" imgW="825142" imgH="406224" progId="Equation.3">
                  <p:embed/>
                  <p:pic>
                    <p:nvPicPr>
                      <p:cNvPr id="378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0" y="1844824"/>
                        <a:ext cx="2017713" cy="1027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57522" y="2924944"/>
            <a:ext cx="6562750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解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】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X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＝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(1011)</a:t>
            </a:r>
            <a:r>
              <a:rPr kumimoji="0" lang="nl-NL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2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×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2</a:t>
            </a:r>
            <a:r>
              <a:rPr kumimoji="0" lang="nl-NL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-8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＝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(0.1011)</a:t>
            </a:r>
            <a:r>
              <a:rPr kumimoji="0" lang="nl-NL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2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×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2</a:t>
            </a:r>
            <a:r>
              <a:rPr kumimoji="0" lang="nl-NL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-4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，</a:t>
            </a:r>
            <a:endParaRPr kumimoji="0" lang="nl-NL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∴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[X]</a:t>
            </a:r>
            <a:r>
              <a:rPr kumimoji="0" lang="zh-CN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浮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＝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01100; 0.101100</a:t>
            </a: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Y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＝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(100011)</a:t>
            </a:r>
            <a:r>
              <a:rPr kumimoji="0" lang="nl-NL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2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×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2</a:t>
            </a:r>
            <a:r>
              <a:rPr kumimoji="0" lang="nl-NL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-9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＝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(0.100011)</a:t>
            </a:r>
            <a:r>
              <a:rPr kumimoji="0" lang="nl-NL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2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×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2</a:t>
            </a:r>
            <a:r>
              <a:rPr kumimoji="0" lang="nl-NL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-3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，</a:t>
            </a:r>
            <a:endParaRPr kumimoji="0" lang="nl-NL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∴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[Y]</a:t>
            </a:r>
            <a:r>
              <a:rPr kumimoji="0" lang="zh-CN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浮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＝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01101; 0.100011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372200" y="4145115"/>
            <a:ext cx="2707741" cy="2308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①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对阶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②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尾数求和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/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差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③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规格化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④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舍入处理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P94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/>
              <a:t>习题 </a:t>
            </a:r>
            <a:r>
              <a:rPr lang="en-US" altLang="zh-CN" dirty="0"/>
              <a:t>3.27 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00808"/>
            <a:ext cx="8507288" cy="4104456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800" dirty="0"/>
              <a:t>① 对阶</a:t>
            </a:r>
          </a:p>
          <a:p>
            <a:pPr marL="0" indent="0">
              <a:buNone/>
            </a:pPr>
            <a:r>
              <a:rPr lang="zh-CN" altLang="zh-CN" sz="2800" dirty="0"/>
              <a:t>求阶差：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[</a:t>
            </a:r>
            <a:r>
              <a:rPr lang="zh-CN" altLang="zh-CN" sz="2800" dirty="0"/>
              <a:t>Δ</a:t>
            </a:r>
            <a:r>
              <a:rPr lang="en-US" altLang="zh-CN" sz="2800" dirty="0"/>
              <a:t>E]</a:t>
            </a:r>
            <a:r>
              <a:rPr lang="zh-CN" altLang="zh-CN" sz="2800" baseline="-25000" dirty="0"/>
              <a:t>补</a:t>
            </a:r>
            <a:r>
              <a:rPr lang="zh-CN" altLang="zh-CN" sz="2800" dirty="0"/>
              <a:t>＝</a:t>
            </a:r>
            <a:r>
              <a:rPr lang="en-US" altLang="zh-CN" sz="2800" dirty="0"/>
              <a:t>[E</a:t>
            </a:r>
            <a:r>
              <a:rPr lang="en-US" altLang="zh-CN" sz="2800" baseline="-25000" dirty="0"/>
              <a:t>X</a:t>
            </a:r>
            <a:r>
              <a:rPr lang="en-US" altLang="zh-CN" sz="2800" dirty="0"/>
              <a:t>]</a:t>
            </a:r>
            <a:r>
              <a:rPr lang="zh-CN" altLang="zh-CN" sz="2800" baseline="-25000" dirty="0"/>
              <a:t>移</a:t>
            </a:r>
            <a:r>
              <a:rPr lang="zh-CN" altLang="zh-CN" sz="2800" dirty="0"/>
              <a:t>＋</a:t>
            </a:r>
            <a:r>
              <a:rPr lang="en-US" altLang="zh-CN" sz="2800" dirty="0"/>
              <a:t>[[E</a:t>
            </a:r>
            <a:r>
              <a:rPr lang="en-US" altLang="zh-CN" sz="2800" baseline="-25000" dirty="0"/>
              <a:t>Y</a:t>
            </a:r>
            <a:r>
              <a:rPr lang="en-US" altLang="zh-CN" sz="2800" dirty="0"/>
              <a:t>]</a:t>
            </a:r>
            <a:r>
              <a:rPr lang="zh-CN" altLang="zh-CN" sz="2800" baseline="-25000" dirty="0"/>
              <a:t>移</a:t>
            </a:r>
            <a:r>
              <a:rPr lang="en-US" altLang="zh-CN" sz="2800" dirty="0"/>
              <a:t>]</a:t>
            </a:r>
            <a:r>
              <a:rPr lang="zh-CN" altLang="zh-CN" sz="2800" baseline="-25000" dirty="0"/>
              <a:t>求补</a:t>
            </a:r>
            <a:r>
              <a:rPr lang="zh-CN" altLang="zh-CN" sz="2800" dirty="0"/>
              <a:t>＝</a:t>
            </a:r>
            <a:r>
              <a:rPr lang="en-US" altLang="zh-CN" sz="2800" dirty="0"/>
              <a:t>01100</a:t>
            </a:r>
            <a:r>
              <a:rPr lang="zh-CN" altLang="zh-CN" sz="2800" dirty="0"/>
              <a:t>＋</a:t>
            </a:r>
            <a:r>
              <a:rPr lang="en-US" altLang="zh-CN" sz="2800" dirty="0"/>
              <a:t>10011</a:t>
            </a:r>
            <a:r>
              <a:rPr lang="zh-CN" altLang="zh-CN" sz="2800" dirty="0"/>
              <a:t>＝</a:t>
            </a:r>
            <a:r>
              <a:rPr lang="en-US" altLang="zh-CN" sz="2800" dirty="0"/>
              <a:t>11111</a:t>
            </a:r>
            <a:r>
              <a:rPr lang="zh-CN" altLang="zh-CN" sz="2800" dirty="0"/>
              <a:t>，</a:t>
            </a:r>
          </a:p>
          <a:p>
            <a:pPr marL="0" indent="0">
              <a:buNone/>
            </a:pPr>
            <a:r>
              <a:rPr lang="en-US" altLang="zh-CN" sz="2800" dirty="0"/>
              <a:t>E</a:t>
            </a:r>
            <a:r>
              <a:rPr lang="en-US" altLang="zh-CN" sz="2800" baseline="-25000" dirty="0"/>
              <a:t>X</a:t>
            </a:r>
            <a:r>
              <a:rPr lang="zh-CN" altLang="zh-CN" sz="2800" dirty="0"/>
              <a:t>＜</a:t>
            </a:r>
            <a:r>
              <a:rPr lang="en-US" altLang="zh-CN" sz="2800" dirty="0"/>
              <a:t>E</a:t>
            </a:r>
            <a:r>
              <a:rPr lang="en-US" altLang="zh-CN" sz="2800" baseline="-25000" dirty="0"/>
              <a:t>Y</a:t>
            </a:r>
            <a:r>
              <a:rPr lang="zh-CN" altLang="zh-CN" sz="2800" dirty="0"/>
              <a:t>，</a:t>
            </a:r>
            <a:r>
              <a:rPr lang="en-US" altLang="zh-CN" sz="2800" dirty="0"/>
              <a:t>X</a:t>
            </a:r>
            <a:r>
              <a:rPr lang="zh-CN" altLang="zh-CN" sz="2800" dirty="0"/>
              <a:t>的尾数右移</a:t>
            </a:r>
            <a:r>
              <a:rPr lang="en-US" altLang="zh-CN" sz="2800" dirty="0"/>
              <a:t>1</a:t>
            </a:r>
            <a:r>
              <a:rPr lang="zh-CN" altLang="zh-CN" sz="2800" dirty="0"/>
              <a:t>位，阶码加</a:t>
            </a:r>
            <a:r>
              <a:rPr lang="en-US" altLang="zh-CN" sz="2800" dirty="0"/>
              <a:t>1</a:t>
            </a:r>
            <a:r>
              <a:rPr lang="zh-CN" altLang="zh-CN" sz="2800" dirty="0"/>
              <a:t>，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[X]’</a:t>
            </a:r>
            <a:r>
              <a:rPr lang="zh-CN" altLang="zh-CN" sz="2800" baseline="-25000" dirty="0"/>
              <a:t>浮</a:t>
            </a:r>
            <a:r>
              <a:rPr lang="zh-CN" altLang="zh-CN" sz="2800" dirty="0"/>
              <a:t>＝</a:t>
            </a:r>
            <a:r>
              <a:rPr lang="en-US" altLang="zh-CN" sz="2800" dirty="0"/>
              <a:t>01101; 00.010110</a:t>
            </a:r>
          </a:p>
          <a:p>
            <a:pPr>
              <a:spcBef>
                <a:spcPts val="2400"/>
              </a:spcBef>
              <a:buNone/>
            </a:pPr>
            <a:r>
              <a:rPr lang="en-US" altLang="zh-CN" sz="2800" dirty="0"/>
              <a:t>  </a:t>
            </a:r>
            <a:r>
              <a:rPr lang="zh-CN" altLang="zh-CN" sz="2800" dirty="0"/>
              <a:t>∴</a:t>
            </a: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C00000"/>
                </a:solidFill>
              </a:rPr>
              <a:t>[X]’</a:t>
            </a:r>
            <a:r>
              <a:rPr lang="zh-CN" altLang="zh-CN" sz="2800" baseline="-25000" dirty="0">
                <a:solidFill>
                  <a:srgbClr val="C00000"/>
                </a:solidFill>
              </a:rPr>
              <a:t>浮</a:t>
            </a:r>
            <a:r>
              <a:rPr lang="en-US" altLang="zh-CN" sz="2800" dirty="0">
                <a:solidFill>
                  <a:srgbClr val="C00000"/>
                </a:solidFill>
              </a:rPr>
              <a:t>	</a:t>
            </a:r>
            <a:r>
              <a:rPr lang="zh-CN" altLang="zh-CN" sz="2800" dirty="0">
                <a:solidFill>
                  <a:srgbClr val="C00000"/>
                </a:solidFill>
              </a:rPr>
              <a:t>＝ </a:t>
            </a:r>
            <a:r>
              <a:rPr lang="en-US" altLang="zh-CN" sz="2800" dirty="0">
                <a:solidFill>
                  <a:srgbClr val="C00000"/>
                </a:solidFill>
              </a:rPr>
              <a:t>01101; 00.010110</a:t>
            </a:r>
            <a:endParaRPr lang="zh-CN" altLang="zh-CN" sz="28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nl-NL" altLang="zh-CN" sz="2800" dirty="0"/>
              <a:t>		</a:t>
            </a:r>
            <a:r>
              <a:rPr lang="nl-NL" altLang="zh-CN" sz="2800" dirty="0">
                <a:solidFill>
                  <a:srgbClr val="C00000"/>
                </a:solidFill>
              </a:rPr>
              <a:t>[Y]</a:t>
            </a:r>
            <a:r>
              <a:rPr lang="zh-CN" altLang="zh-CN" sz="2800" baseline="-25000" dirty="0">
                <a:solidFill>
                  <a:srgbClr val="C00000"/>
                </a:solidFill>
              </a:rPr>
              <a:t>浮</a:t>
            </a:r>
            <a:r>
              <a:rPr lang="en-US" altLang="zh-CN" sz="2800" dirty="0">
                <a:solidFill>
                  <a:srgbClr val="C00000"/>
                </a:solidFill>
              </a:rPr>
              <a:t>	</a:t>
            </a:r>
            <a:r>
              <a:rPr lang="zh-CN" altLang="zh-CN" sz="2800" dirty="0">
                <a:solidFill>
                  <a:srgbClr val="C00000"/>
                </a:solidFill>
              </a:rPr>
              <a:t>＝ </a:t>
            </a:r>
            <a:r>
              <a:rPr lang="nl-NL" altLang="zh-CN" sz="2800" dirty="0">
                <a:solidFill>
                  <a:srgbClr val="C00000"/>
                </a:solidFill>
              </a:rPr>
              <a:t>01101; 00.100011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7A55E4-D73D-482F-8EFE-D86384BD192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itchFamily="34" charset="0"/>
              <a:ea typeface="宋体" charset="-122"/>
              <a:cs typeface="+mn-cs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601538" y="548680"/>
            <a:ext cx="6562750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[X]</a:t>
            </a:r>
            <a:r>
              <a:rPr kumimoji="0" lang="zh-CN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浮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＝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01100; 0.101100</a:t>
            </a: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[Y]</a:t>
            </a:r>
            <a:r>
              <a:rPr kumimoji="0" lang="zh-CN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浮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＝</a:t>
            </a:r>
            <a:r>
              <a:rPr kumimoji="0" lang="nl-NL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01101; 0.100011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P94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/>
              <a:t>习题 </a:t>
            </a:r>
            <a:r>
              <a:rPr lang="en-US" altLang="zh-CN" dirty="0"/>
              <a:t>3.27 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94891"/>
            <a:ext cx="8507288" cy="5760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>
                <a:solidFill>
                  <a:srgbClr val="FF6600"/>
                </a:solidFill>
              </a:rPr>
              <a:t>②</a:t>
            </a:r>
            <a:r>
              <a:rPr lang="en-US" altLang="zh-CN" sz="2800" dirty="0"/>
              <a:t> </a:t>
            </a:r>
            <a:r>
              <a:rPr lang="zh-CN" altLang="en-US" sz="2800" dirty="0"/>
              <a:t>尾数求和</a:t>
            </a:r>
            <a:r>
              <a:rPr lang="en-US" altLang="zh-CN" sz="2800" dirty="0"/>
              <a:t>/</a:t>
            </a:r>
            <a:r>
              <a:rPr lang="zh-CN" altLang="en-US" sz="2800" dirty="0"/>
              <a:t>差：</a:t>
            </a:r>
            <a:endParaRPr lang="zh-CN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7A55E4-D73D-482F-8EFE-D86384BD192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itchFamily="34" charset="0"/>
              <a:ea typeface="宋体" charset="-122"/>
              <a:cs typeface="+mn-cs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601538" y="476672"/>
            <a:ext cx="4906566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[X]’</a:t>
            </a:r>
            <a:r>
              <a:rPr kumimoji="0" lang="zh-CN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浮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	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01101; 00.010110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nl-NL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[Y]</a:t>
            </a:r>
            <a:r>
              <a:rPr kumimoji="0" lang="zh-CN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浮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	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 </a:t>
            </a:r>
            <a:r>
              <a:rPr kumimoji="0" lang="nl-NL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01101; 00.100011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31640" y="1827981"/>
            <a:ext cx="2232025" cy="138499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00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010110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＋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00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100011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00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111001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575967" y="2764606"/>
            <a:ext cx="194329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059832" y="3139925"/>
            <a:ext cx="0" cy="50509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6357950" y="3139926"/>
            <a:ext cx="0" cy="50509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4644231" y="1827981"/>
            <a:ext cx="2232025" cy="138499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00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010110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＋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11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011101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11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110011</a:t>
            </a:r>
          </a:p>
        </p:txBody>
      </p:sp>
      <p:sp>
        <p:nvSpPr>
          <p:cNvPr id="17" name="Line 5"/>
          <p:cNvSpPr>
            <a:spLocks noChangeShapeType="1"/>
          </p:cNvSpPr>
          <p:nvPr/>
        </p:nvSpPr>
        <p:spPr bwMode="auto">
          <a:xfrm>
            <a:off x="4888558" y="2764606"/>
            <a:ext cx="194329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8" name="内容占位符 2"/>
          <p:cNvSpPr txBox="1">
            <a:spLocks/>
          </p:cNvSpPr>
          <p:nvPr/>
        </p:nvSpPr>
        <p:spPr bwMode="auto">
          <a:xfrm>
            <a:off x="457200" y="3068960"/>
            <a:ext cx="2458616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③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规格化：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428596" y="3643983"/>
            <a:ext cx="4214842" cy="1441202"/>
          </a:xfrm>
          <a:prstGeom prst="rect">
            <a:avLst/>
          </a:prstGeom>
          <a:solidFill>
            <a:srgbClr val="FFEFFF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已经是规格化尾数，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∴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[X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Y]</a:t>
            </a:r>
            <a:r>
              <a:rPr kumimoji="0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浮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＝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01101; 0.111001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charset="-122"/>
              <a:ea typeface="宋体" charset="-122"/>
              <a:cs typeface="+mn-cs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4857752" y="3643982"/>
            <a:ext cx="3960813" cy="1873250"/>
          </a:xfrm>
          <a:prstGeom prst="rect">
            <a:avLst/>
          </a:prstGeom>
          <a:solidFill>
            <a:srgbClr val="FFFFD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左规：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尾数左移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位，阶码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减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∴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[X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－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Y]</a:t>
            </a:r>
            <a:r>
              <a:rPr kumimoji="0" lang="zh-CN" altLang="en-US" sz="2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浮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    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＝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01011; 1.001100</a:t>
            </a:r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7092280" y="1827981"/>
            <a:ext cx="1655961" cy="138499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11101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＋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11110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11011</a:t>
            </a:r>
          </a:p>
        </p:txBody>
      </p:sp>
      <p:sp>
        <p:nvSpPr>
          <p:cNvPr id="22" name="Line 5"/>
          <p:cNvSpPr>
            <a:spLocks noChangeShapeType="1"/>
          </p:cNvSpPr>
          <p:nvPr/>
        </p:nvSpPr>
        <p:spPr bwMode="auto">
          <a:xfrm>
            <a:off x="7452319" y="2764606"/>
            <a:ext cx="125152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474655" y="5229200"/>
            <a:ext cx="3161241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④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舍入处理：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2699792" y="5229200"/>
            <a:ext cx="288032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无需舍入。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2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P94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US" dirty="0"/>
              <a:t>习题 </a:t>
            </a:r>
            <a:r>
              <a:rPr lang="en-US" altLang="zh-CN" dirty="0"/>
              <a:t>3.27 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548680"/>
            <a:ext cx="8568952" cy="230425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设浮点数字长为</a:t>
            </a:r>
            <a:r>
              <a:rPr lang="en-US" altLang="zh-CN" sz="2800" dirty="0"/>
              <a:t>12</a:t>
            </a:r>
            <a:r>
              <a:rPr lang="zh-CN" altLang="en-US" sz="2800" dirty="0"/>
              <a:t>位，</a:t>
            </a:r>
            <a:r>
              <a:rPr lang="zh-CN" altLang="en-US" sz="2800" dirty="0">
                <a:solidFill>
                  <a:srgbClr val="0000FF"/>
                </a:solidFill>
              </a:rPr>
              <a:t>阶码</a:t>
            </a:r>
            <a:r>
              <a:rPr lang="zh-CN" altLang="en-US" sz="2800" dirty="0"/>
              <a:t>为</a:t>
            </a:r>
            <a:r>
              <a:rPr lang="en-US" altLang="zh-CN" sz="2800" dirty="0"/>
              <a:t>5</a:t>
            </a:r>
            <a:r>
              <a:rPr lang="zh-CN" altLang="en-US" sz="2800" dirty="0"/>
              <a:t>位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/>
              <a:t>含</a:t>
            </a:r>
            <a:r>
              <a:rPr lang="en-US" altLang="zh-CN" sz="2800" dirty="0"/>
              <a:t>1</a:t>
            </a:r>
            <a:r>
              <a:rPr lang="zh-CN" altLang="en-US" sz="2800" dirty="0"/>
              <a:t>位符号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0000FF"/>
                </a:solidFill>
              </a:rPr>
              <a:t>尾数</a:t>
            </a:r>
            <a:r>
              <a:rPr lang="zh-CN" altLang="en-US" sz="2800" dirty="0"/>
              <a:t>为</a:t>
            </a:r>
            <a:r>
              <a:rPr lang="en-US" altLang="zh-CN" sz="2800" dirty="0"/>
              <a:t>7</a:t>
            </a:r>
            <a:r>
              <a:rPr lang="zh-CN" altLang="en-US" sz="2800" dirty="0"/>
              <a:t>位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/>
              <a:t>含</a:t>
            </a:r>
            <a:r>
              <a:rPr lang="en-US" altLang="zh-CN" sz="2800" dirty="0"/>
              <a:t>1</a:t>
            </a:r>
            <a:r>
              <a:rPr lang="zh-CN" altLang="en-US" sz="2800" dirty="0"/>
              <a:t>位符号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/>
              <a:t>。阶码用</a:t>
            </a:r>
            <a:r>
              <a:rPr lang="zh-CN" altLang="en-US" sz="2800" dirty="0">
                <a:solidFill>
                  <a:srgbClr val="FF0000"/>
                </a:solidFill>
              </a:rPr>
              <a:t>移码</a:t>
            </a:r>
            <a:r>
              <a:rPr lang="zh-CN" altLang="en-US" sz="2800" dirty="0"/>
              <a:t>、尾数用</a:t>
            </a:r>
            <a:r>
              <a:rPr lang="zh-CN" altLang="en-US" sz="2800" dirty="0">
                <a:solidFill>
                  <a:srgbClr val="FF0000"/>
                </a:solidFill>
              </a:rPr>
              <a:t>补码</a:t>
            </a:r>
            <a:r>
              <a:rPr lang="zh-CN" altLang="en-US" sz="2800" dirty="0"/>
              <a:t>表示。将下列各数按浮点数相加减的步骤计算 </a:t>
            </a:r>
            <a:r>
              <a:rPr lang="en-US" altLang="zh-CN" sz="2800" dirty="0"/>
              <a:t>X±Y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spcBef>
                <a:spcPts val="2100"/>
              </a:spcBef>
              <a:buNone/>
            </a:pPr>
            <a:r>
              <a:rPr lang="en-US" altLang="zh-CN" sz="2800" dirty="0">
                <a:latin typeface="+mn-ea"/>
              </a:rPr>
              <a:t>(</a:t>
            </a:r>
            <a:r>
              <a:rPr lang="en-US" altLang="zh-CN" sz="2800" dirty="0"/>
              <a:t>1</a:t>
            </a:r>
            <a:r>
              <a:rPr lang="en-US" altLang="zh-CN" sz="2800" dirty="0">
                <a:latin typeface="+mn-ea"/>
              </a:rPr>
              <a:t>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7A55E4-D73D-482F-8EFE-D86384BD192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itchFamily="34" charset="0"/>
              <a:ea typeface="宋体" charset="-122"/>
              <a:cs typeface="+mn-cs"/>
            </a:endParaRPr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1403350" y="1844824"/>
          <a:ext cx="2016125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2" name="公式" r:id="rId3" imgW="812447" imgH="406224" progId="Equation.3">
                  <p:embed/>
                </p:oleObj>
              </mc:Choice>
              <mc:Fallback>
                <p:oleObj name="公式" r:id="rId3" imgW="812447" imgH="406224" progId="Equation.3">
                  <p:embed/>
                  <p:pic>
                    <p:nvPicPr>
                      <p:cNvPr id="378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844824"/>
                        <a:ext cx="2016125" cy="1027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4425950" y="1844824"/>
          <a:ext cx="2017713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3" name="公式" r:id="rId5" imgW="825142" imgH="406224" progId="Equation.3">
                  <p:embed/>
                </p:oleObj>
              </mc:Choice>
              <mc:Fallback>
                <p:oleObj name="公式" r:id="rId5" imgW="825142" imgH="406224" progId="Equation.3">
                  <p:embed/>
                  <p:pic>
                    <p:nvPicPr>
                      <p:cNvPr id="378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0" y="1844824"/>
                        <a:ext cx="2017713" cy="1027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199ECDF-DCC8-4AD4-B247-67C47C1F4F72}"/>
              </a:ext>
            </a:extLst>
          </p:cNvPr>
          <p:cNvSpPr txBox="1">
            <a:spLocks/>
          </p:cNvSpPr>
          <p:nvPr/>
        </p:nvSpPr>
        <p:spPr bwMode="auto">
          <a:xfrm>
            <a:off x="251520" y="2492896"/>
            <a:ext cx="8712968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验证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】</a:t>
            </a:r>
          </a:p>
          <a:p>
            <a:pPr algn="l">
              <a:spcBef>
                <a:spcPct val="0"/>
              </a:spcBef>
            </a:pPr>
            <a:r>
              <a:rPr lang="en-US" altLang="zh-CN" dirty="0"/>
              <a:t>    [X</a:t>
            </a:r>
            <a:r>
              <a:rPr lang="zh-CN" altLang="en-US" dirty="0"/>
              <a:t>＋</a:t>
            </a:r>
            <a:r>
              <a:rPr lang="en-US" altLang="zh-CN" dirty="0"/>
              <a:t>Y]</a:t>
            </a:r>
            <a:r>
              <a:rPr lang="zh-CN" altLang="en-US" baseline="-25000" dirty="0"/>
              <a:t>浮</a:t>
            </a:r>
            <a:r>
              <a:rPr lang="en-US" altLang="zh-CN" dirty="0"/>
              <a:t>	</a:t>
            </a:r>
            <a:r>
              <a:rPr lang="zh-CN" altLang="en-US" dirty="0"/>
              <a:t>＝</a:t>
            </a:r>
            <a:r>
              <a:rPr lang="en-US" altLang="zh-CN" dirty="0"/>
              <a:t>01101; 0.111001</a:t>
            </a:r>
          </a:p>
          <a:p>
            <a:pPr algn="l">
              <a:spcBef>
                <a:spcPct val="0"/>
              </a:spcBef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zh-CN" altLang="en-US" dirty="0">
                <a:solidFill>
                  <a:srgbClr val="0000FF"/>
                </a:solidFill>
              </a:rPr>
              <a:t>＋</a:t>
            </a:r>
            <a:r>
              <a:rPr lang="en-US" altLang="zh-CN" dirty="0">
                <a:solidFill>
                  <a:srgbClr val="0000FF"/>
                </a:solidFill>
              </a:rPr>
              <a:t>Y</a:t>
            </a:r>
            <a:r>
              <a:rPr lang="zh-CN" altLang="en-US" dirty="0">
                <a:solidFill>
                  <a:srgbClr val="0000FF"/>
                </a:solidFill>
              </a:rPr>
              <a:t> ＝</a:t>
            </a:r>
            <a:r>
              <a:rPr lang="en-US" altLang="zh-CN" dirty="0"/>
              <a:t>0.111001</a:t>
            </a:r>
            <a:r>
              <a:rPr lang="en-US" altLang="zh-CN" baseline="-25000" dirty="0"/>
              <a:t>2</a:t>
            </a:r>
            <a:r>
              <a:rPr lang="en-US" altLang="zh-CN" dirty="0"/>
              <a:t>×2</a:t>
            </a:r>
            <a:r>
              <a:rPr lang="en-US" altLang="zh-CN" baseline="30000" dirty="0"/>
              <a:t>-3</a:t>
            </a:r>
            <a:r>
              <a:rPr lang="zh-CN" altLang="en-US" dirty="0"/>
              <a:t>＝</a:t>
            </a:r>
            <a:r>
              <a:rPr lang="en-US" altLang="zh-CN" dirty="0"/>
              <a:t>111001</a:t>
            </a:r>
            <a:r>
              <a:rPr lang="en-US" altLang="zh-CN" baseline="-25000" dirty="0"/>
              <a:t>2</a:t>
            </a:r>
            <a:r>
              <a:rPr lang="en-US" altLang="zh-CN" dirty="0"/>
              <a:t>×2</a:t>
            </a:r>
            <a:r>
              <a:rPr lang="en-US" altLang="zh-CN" baseline="30000" dirty="0"/>
              <a:t>-9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0000FF"/>
                </a:solidFill>
              </a:rPr>
              <a:t>57/512</a:t>
            </a:r>
          </a:p>
          <a:p>
            <a:pPr algn="l">
              <a:spcBef>
                <a:spcPct val="0"/>
              </a:spcBef>
            </a:pPr>
            <a:r>
              <a:rPr lang="en-US" altLang="zh-CN" dirty="0"/>
              <a:t>    [X</a:t>
            </a:r>
            <a:r>
              <a:rPr lang="zh-CN" altLang="en-US" dirty="0"/>
              <a:t>－</a:t>
            </a:r>
            <a:r>
              <a:rPr lang="en-US" altLang="zh-CN" dirty="0"/>
              <a:t>Y]</a:t>
            </a:r>
            <a:r>
              <a:rPr lang="zh-CN" altLang="en-US" baseline="-25000" dirty="0"/>
              <a:t>浮</a:t>
            </a:r>
            <a:r>
              <a:rPr lang="en-US" altLang="zh-CN" dirty="0"/>
              <a:t>	</a:t>
            </a:r>
            <a:r>
              <a:rPr lang="zh-CN" altLang="en-US" dirty="0"/>
              <a:t>＝</a:t>
            </a:r>
            <a:r>
              <a:rPr lang="en-US" altLang="zh-CN" dirty="0"/>
              <a:t>01011; 1.001100</a:t>
            </a:r>
          </a:p>
          <a:p>
            <a:pPr algn="l">
              <a:spcBef>
                <a:spcPct val="0"/>
              </a:spcBef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zh-CN" altLang="en-US" dirty="0">
                <a:solidFill>
                  <a:srgbClr val="0000FF"/>
                </a:solidFill>
              </a:rPr>
              <a:t>－</a:t>
            </a:r>
            <a:r>
              <a:rPr lang="en-US" altLang="zh-CN" dirty="0">
                <a:solidFill>
                  <a:srgbClr val="0000FF"/>
                </a:solidFill>
              </a:rPr>
              <a:t>Y</a:t>
            </a:r>
            <a:r>
              <a:rPr lang="zh-CN" altLang="en-US" dirty="0">
                <a:solidFill>
                  <a:srgbClr val="0000FF"/>
                </a:solidFill>
              </a:rPr>
              <a:t> ＝</a:t>
            </a:r>
            <a:r>
              <a:rPr lang="en-US" altLang="zh-CN" dirty="0"/>
              <a:t>-0.1101</a:t>
            </a:r>
            <a:r>
              <a:rPr lang="en-US" altLang="zh-CN" baseline="-25000" dirty="0"/>
              <a:t>2</a:t>
            </a:r>
            <a:r>
              <a:rPr lang="en-US" altLang="zh-CN" dirty="0"/>
              <a:t>×2</a:t>
            </a:r>
            <a:r>
              <a:rPr lang="en-US" altLang="zh-CN" baseline="30000" dirty="0"/>
              <a:t>-5</a:t>
            </a:r>
            <a:r>
              <a:rPr lang="zh-CN" altLang="en-US" dirty="0"/>
              <a:t>＝</a:t>
            </a:r>
            <a:r>
              <a:rPr lang="en-US" altLang="zh-CN" dirty="0"/>
              <a:t>-1101</a:t>
            </a:r>
            <a:r>
              <a:rPr lang="en-US" altLang="zh-CN" baseline="-25000" dirty="0"/>
              <a:t>2</a:t>
            </a:r>
            <a:r>
              <a:rPr lang="en-US" altLang="zh-CN" dirty="0"/>
              <a:t>×2</a:t>
            </a:r>
            <a:r>
              <a:rPr lang="en-US" altLang="zh-CN" baseline="30000" dirty="0"/>
              <a:t>-9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0000FF"/>
                </a:solidFill>
              </a:rPr>
              <a:t>-13/512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ECF9F25-542F-43B1-8D7A-72D086678D2E}"/>
              </a:ext>
            </a:extLst>
          </p:cNvPr>
          <p:cNvGrpSpPr/>
          <p:nvPr/>
        </p:nvGrpSpPr>
        <p:grpSpPr>
          <a:xfrm>
            <a:off x="683568" y="4635446"/>
            <a:ext cx="3960440" cy="953794"/>
            <a:chOff x="683568" y="4563438"/>
            <a:chExt cx="3960440" cy="95379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0D4C148-E70E-400D-A6F4-BF8E2D3E5BB6}"/>
                </a:ext>
              </a:extLst>
            </p:cNvPr>
            <p:cNvSpPr/>
            <p:nvPr/>
          </p:nvSpPr>
          <p:spPr bwMode="auto">
            <a:xfrm>
              <a:off x="683568" y="4647304"/>
              <a:ext cx="3960440" cy="839096"/>
            </a:xfrm>
            <a:prstGeom prst="rect">
              <a:avLst/>
            </a:prstGeom>
            <a:solidFill>
              <a:srgbClr val="FFFF66"/>
            </a:solidFill>
            <a:ln w="28575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graphicFrame>
          <p:nvGraphicFramePr>
            <p:cNvPr id="12" name="Object 2">
              <a:extLst>
                <a:ext uri="{FF2B5EF4-FFF2-40B4-BE49-F238E27FC236}">
                  <a16:creationId xmlns:a16="http://schemas.microsoft.com/office/drawing/2014/main" id="{B7837E4D-A338-41FE-811D-12A785F08A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3568" y="4563438"/>
            <a:ext cx="3744416" cy="953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64" name="公式" r:id="rId7" imgW="1625400" imgH="406080" progId="Equation.3">
                    <p:embed/>
                  </p:oleObj>
                </mc:Choice>
                <mc:Fallback>
                  <p:oleObj name="公式" r:id="rId7" imgW="1625400" imgH="406080" progId="Equation.3">
                    <p:embed/>
                    <p:pic>
                      <p:nvPicPr>
                        <p:cNvPr id="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568" y="4563438"/>
                          <a:ext cx="3744416" cy="9537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3AFC849-DEC8-4C69-A643-97E2B0D997E4}"/>
              </a:ext>
            </a:extLst>
          </p:cNvPr>
          <p:cNvGrpSpPr/>
          <p:nvPr/>
        </p:nvGrpSpPr>
        <p:grpSpPr>
          <a:xfrm>
            <a:off x="683568" y="5570240"/>
            <a:ext cx="3960440" cy="953434"/>
            <a:chOff x="683568" y="5498232"/>
            <a:chExt cx="3960440" cy="95343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4170DB5-6964-41C7-903F-75B8E32F97F0}"/>
                </a:ext>
              </a:extLst>
            </p:cNvPr>
            <p:cNvSpPr/>
            <p:nvPr/>
          </p:nvSpPr>
          <p:spPr bwMode="auto">
            <a:xfrm>
              <a:off x="683568" y="5560263"/>
              <a:ext cx="3960440" cy="872809"/>
            </a:xfrm>
            <a:prstGeom prst="rect">
              <a:avLst/>
            </a:prstGeom>
            <a:solidFill>
              <a:srgbClr val="99FF66"/>
            </a:solidFill>
            <a:ln w="285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graphicFrame>
          <p:nvGraphicFramePr>
            <p:cNvPr id="15" name="Object 3">
              <a:extLst>
                <a:ext uri="{FF2B5EF4-FFF2-40B4-BE49-F238E27FC236}">
                  <a16:creationId xmlns:a16="http://schemas.microsoft.com/office/drawing/2014/main" id="{22A6B6F3-D009-47E2-B08A-9AFD82EEFB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6416" y="5498232"/>
            <a:ext cx="2795464" cy="953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65" name="公式" r:id="rId9" imgW="1231560" imgH="406080" progId="Equation.3">
                    <p:embed/>
                  </p:oleObj>
                </mc:Choice>
                <mc:Fallback>
                  <p:oleObj name="公式" r:id="rId9" imgW="1231560" imgH="406080" progId="Equation.3">
                    <p:embed/>
                    <p:pic>
                      <p:nvPicPr>
                        <p:cNvPr id="1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416" y="5498232"/>
                          <a:ext cx="2795464" cy="9534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277227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CheXQ_class_4比3_组成">
  <a:themeElements>
    <a:clrScheme name="自定义 3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0000FF"/>
      </a:hlink>
      <a:folHlink>
        <a:srgbClr val="9900CC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  <a:txDef>
      <a:spPr bwMode="auto">
        <a:noFill/>
        <a:ln w="28575" algn="ctr">
          <a:noFill/>
          <a:miter lim="800000"/>
          <a:headEnd/>
          <a:tailEnd type="none" w="med" len="lg"/>
        </a:ln>
        <a:effectLst/>
      </a:spPr>
      <a:bodyPr>
        <a:spAutoFit/>
      </a:bodyPr>
      <a:lstStyle>
        <a:defPPr algn="l">
          <a:spcBef>
            <a:spcPts val="0"/>
          </a:spcBef>
          <a:defRPr sz="1800" dirty="0"/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heXQ_class_4比3_组成" id="{2E2F00E5-D45F-41D2-99A1-33C4BF84DE8C}" vid="{4F1B07DB-C361-4FB6-A6BA-95BC4BDFCD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2731</TotalTime>
  <Words>4471</Words>
  <Application>Microsoft Office PowerPoint</Application>
  <PresentationFormat>全屏显示(4:3)</PresentationFormat>
  <Paragraphs>950</Paragraphs>
  <Slides>43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8" baseType="lpstr">
      <vt:lpstr>等线</vt:lpstr>
      <vt:lpstr>黑体</vt:lpstr>
      <vt:lpstr>楷体</vt:lpstr>
      <vt:lpstr>宋体</vt:lpstr>
      <vt:lpstr>微软雅黑</vt:lpstr>
      <vt:lpstr>微软雅黑</vt:lpstr>
      <vt:lpstr>Arial</vt:lpstr>
      <vt:lpstr>Arial Black</vt:lpstr>
      <vt:lpstr>Consolas</vt:lpstr>
      <vt:lpstr>Courier New</vt:lpstr>
      <vt:lpstr>Times New Roman</vt:lpstr>
      <vt:lpstr>Wingdings</vt:lpstr>
      <vt:lpstr>CheXQ_class_4比3_组成</vt:lpstr>
      <vt:lpstr>公式</vt:lpstr>
      <vt:lpstr>Visio</vt:lpstr>
      <vt:lpstr>计算机组织与体系结构 期中复习</vt:lpstr>
      <vt:lpstr>题型</vt:lpstr>
      <vt:lpstr>PowerPoint 演示文稿</vt:lpstr>
      <vt:lpstr>第1章  绪论</vt:lpstr>
      <vt:lpstr>第1章  绪论</vt:lpstr>
      <vt:lpstr>PowerPoint 演示文稿</vt:lpstr>
      <vt:lpstr>第1章  绪论</vt:lpstr>
      <vt:lpstr>第1章  绪论</vt:lpstr>
      <vt:lpstr>PowerPoint 演示文稿</vt:lpstr>
      <vt:lpstr>第2章  计算机系统中的数据表示</vt:lpstr>
      <vt:lpstr>第2章  计算机系统中的数据表示</vt:lpstr>
      <vt:lpstr>第2章  计算机系统中的数据表示</vt:lpstr>
      <vt:lpstr>第2章  计算机系统中的数据表示</vt:lpstr>
      <vt:lpstr>第2章  计算机系统中的数据表示</vt:lpstr>
      <vt:lpstr>第2章  计算机系统中的数据表示</vt:lpstr>
      <vt:lpstr>P55，习题 2.9</vt:lpstr>
      <vt:lpstr>第2章  计算机系统中的数据表示</vt:lpstr>
      <vt:lpstr>第2章  计算机系统中的数据表示</vt:lpstr>
      <vt:lpstr>第2章  计算机系统中的数据表示</vt:lpstr>
      <vt:lpstr>第2章  计算机系统中的数据表示</vt:lpstr>
      <vt:lpstr>第2章  计算机系统中的数据表示</vt:lpstr>
      <vt:lpstr>PowerPoint 演示文稿</vt:lpstr>
      <vt:lpstr>第2章  计算机系统中的数据表示</vt:lpstr>
      <vt:lpstr>第2章  计算机系统中的数据表示</vt:lpstr>
      <vt:lpstr>第2章  计算机系统中的数据表示</vt:lpstr>
      <vt:lpstr>第2章  计算机系统中的数据表示</vt:lpstr>
      <vt:lpstr>第2章  计算机系统中的数据表示</vt:lpstr>
      <vt:lpstr>第2章  计算机系统中的数据表示</vt:lpstr>
      <vt:lpstr>PowerPoint 演示文稿</vt:lpstr>
      <vt:lpstr>第3章  运算方法与运算器</vt:lpstr>
      <vt:lpstr>第3章  运算方法与运算器</vt:lpstr>
      <vt:lpstr>第3章  运算方法与运算器</vt:lpstr>
      <vt:lpstr>教材 P93，习题 3.15 </vt:lpstr>
      <vt:lpstr>教材 P93，习题 3.16 </vt:lpstr>
      <vt:lpstr>P94，习题 3.20</vt:lpstr>
      <vt:lpstr>第3章  运算方法与运算器</vt:lpstr>
      <vt:lpstr>P94，习题 3.21</vt:lpstr>
      <vt:lpstr>P94，习题 3.21</vt:lpstr>
      <vt:lpstr>第3章  运算方法与运算器</vt:lpstr>
      <vt:lpstr>P94，习题 3.27 ①</vt:lpstr>
      <vt:lpstr>P94，习题 3.27 ①</vt:lpstr>
      <vt:lpstr>P94，习题 3.27 ①</vt:lpstr>
      <vt:lpstr>P94，习题 3.27 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计算机组织与体系结构</dc:title>
  <dc:creator>车向泉</dc:creator>
  <cp:lastModifiedBy>Xiangquan Che</cp:lastModifiedBy>
  <cp:revision>188</cp:revision>
  <dcterms:created xsi:type="dcterms:W3CDTF">2018-12-26T10:43:42Z</dcterms:created>
  <dcterms:modified xsi:type="dcterms:W3CDTF">2025-04-07T15:25:49Z</dcterms:modified>
</cp:coreProperties>
</file>