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8"/>
  </p:notesMasterIdLst>
  <p:sldIdLst>
    <p:sldId id="1199" r:id="rId2"/>
    <p:sldId id="834" r:id="rId3"/>
    <p:sldId id="899" r:id="rId4"/>
    <p:sldId id="835" r:id="rId5"/>
    <p:sldId id="901" r:id="rId6"/>
    <p:sldId id="535" r:id="rId7"/>
    <p:sldId id="838" r:id="rId8"/>
    <p:sldId id="1200" r:id="rId9"/>
    <p:sldId id="839" r:id="rId10"/>
    <p:sldId id="890" r:id="rId11"/>
    <p:sldId id="876" r:id="rId12"/>
    <p:sldId id="840" r:id="rId13"/>
    <p:sldId id="877" r:id="rId14"/>
    <p:sldId id="841" r:id="rId15"/>
    <p:sldId id="842" r:id="rId16"/>
    <p:sldId id="902" r:id="rId17"/>
    <p:sldId id="844" r:id="rId18"/>
    <p:sldId id="893" r:id="rId19"/>
    <p:sldId id="894" r:id="rId20"/>
    <p:sldId id="895" r:id="rId21"/>
    <p:sldId id="846" r:id="rId22"/>
    <p:sldId id="898" r:id="rId23"/>
    <p:sldId id="847" r:id="rId24"/>
    <p:sldId id="892" r:id="rId25"/>
    <p:sldId id="880" r:id="rId26"/>
    <p:sldId id="849" r:id="rId27"/>
    <p:sldId id="900" r:id="rId28"/>
    <p:sldId id="851" r:id="rId29"/>
    <p:sldId id="852" r:id="rId30"/>
    <p:sldId id="836" r:id="rId31"/>
    <p:sldId id="853" r:id="rId32"/>
    <p:sldId id="855" r:id="rId33"/>
    <p:sldId id="837" r:id="rId34"/>
    <p:sldId id="856" r:id="rId35"/>
    <p:sldId id="857" r:id="rId36"/>
    <p:sldId id="858" r:id="rId37"/>
  </p:sldIdLst>
  <p:sldSz cx="12192000" cy="6858000"/>
  <p:notesSz cx="6858000" cy="9144000"/>
  <p:defaultTextStyle>
    <a:defPPr>
      <a:defRPr lang="en-US"/>
    </a:defPPr>
    <a:lvl1pPr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5pPr>
    <a:lvl6pPr marL="2286000" algn="l" defTabSz="914400" rtl="0" eaLnBrk="1" latinLnBrk="0" hangingPunct="1">
      <a:defRPr sz="2800" b="1" i="1" kern="1200" baseline="-10000">
        <a:solidFill>
          <a:schemeClr val="tx1"/>
        </a:solidFill>
        <a:latin typeface="Times New Roman" panose="02020603050405020304" pitchFamily="18" charset="0"/>
        <a:ea typeface="+mn-ea"/>
        <a:cs typeface="+mn-cs"/>
      </a:defRPr>
    </a:lvl6pPr>
    <a:lvl7pPr marL="2743200" algn="l" defTabSz="914400" rtl="0" eaLnBrk="1" latinLnBrk="0" hangingPunct="1">
      <a:defRPr sz="2800" b="1" i="1" kern="1200" baseline="-10000">
        <a:solidFill>
          <a:schemeClr val="tx1"/>
        </a:solidFill>
        <a:latin typeface="Times New Roman" panose="02020603050405020304" pitchFamily="18" charset="0"/>
        <a:ea typeface="+mn-ea"/>
        <a:cs typeface="+mn-cs"/>
      </a:defRPr>
    </a:lvl7pPr>
    <a:lvl8pPr marL="3200400" algn="l" defTabSz="914400" rtl="0" eaLnBrk="1" latinLnBrk="0" hangingPunct="1">
      <a:defRPr sz="2800" b="1" i="1" kern="1200" baseline="-10000">
        <a:solidFill>
          <a:schemeClr val="tx1"/>
        </a:solidFill>
        <a:latin typeface="Times New Roman" panose="02020603050405020304" pitchFamily="18" charset="0"/>
        <a:ea typeface="+mn-ea"/>
        <a:cs typeface="+mn-cs"/>
      </a:defRPr>
    </a:lvl8pPr>
    <a:lvl9pPr marL="3657600" algn="l" defTabSz="914400" rtl="0" eaLnBrk="1" latinLnBrk="0" hangingPunct="1">
      <a:defRPr sz="2800" b="1" i="1" kern="1200" baseline="-10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7DCFF"/>
    <a:srgbClr val="D5F1FF"/>
    <a:srgbClr val="996633"/>
    <a:srgbClr val="E28700"/>
    <a:srgbClr val="FF9900"/>
    <a:srgbClr val="85D6FF"/>
    <a:srgbClr val="3366FF"/>
    <a:srgbClr val="66CCFF"/>
    <a:srgbClr val="660066"/>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76654" autoAdjust="0"/>
  </p:normalViewPr>
  <p:slideViewPr>
    <p:cSldViewPr>
      <p:cViewPr varScale="1">
        <p:scale>
          <a:sx n="63" d="100"/>
          <a:sy n="63" d="100"/>
        </p:scale>
        <p:origin x="691"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62" name="Rectangle 2">
            <a:extLst>
              <a:ext uri="{FF2B5EF4-FFF2-40B4-BE49-F238E27FC236}">
                <a16:creationId xmlns:a16="http://schemas.microsoft.com/office/drawing/2014/main" id="{9E000337-3AB8-4A25-8536-18833A51B53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i="0" baseline="0"/>
            </a:lvl1pPr>
          </a:lstStyle>
          <a:p>
            <a:pPr>
              <a:defRPr/>
            </a:pPr>
            <a:endParaRPr lang="en-US" altLang="zh-CN"/>
          </a:p>
        </p:txBody>
      </p:sp>
      <p:sp>
        <p:nvSpPr>
          <p:cNvPr id="962563" name="Rectangle 3">
            <a:extLst>
              <a:ext uri="{FF2B5EF4-FFF2-40B4-BE49-F238E27FC236}">
                <a16:creationId xmlns:a16="http://schemas.microsoft.com/office/drawing/2014/main" id="{709814EB-06C5-4EC3-871A-5284D659AB4E}"/>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i="0" baseline="0"/>
            </a:lvl1pPr>
          </a:lstStyle>
          <a:p>
            <a:pPr>
              <a:defRPr/>
            </a:pPr>
            <a:endParaRPr lang="en-US" altLang="zh-CN"/>
          </a:p>
        </p:txBody>
      </p:sp>
      <p:sp>
        <p:nvSpPr>
          <p:cNvPr id="13316" name="Rectangle 4">
            <a:extLst>
              <a:ext uri="{FF2B5EF4-FFF2-40B4-BE49-F238E27FC236}">
                <a16:creationId xmlns:a16="http://schemas.microsoft.com/office/drawing/2014/main" id="{E38C11C8-F318-4A49-B375-3B9F5BD218E5}"/>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65" name="Rectangle 5">
            <a:extLst>
              <a:ext uri="{FF2B5EF4-FFF2-40B4-BE49-F238E27FC236}">
                <a16:creationId xmlns:a16="http://schemas.microsoft.com/office/drawing/2014/main" id="{95521F13-6C31-4B8F-91D5-CCF96521313E}"/>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62566" name="Rectangle 6">
            <a:extLst>
              <a:ext uri="{FF2B5EF4-FFF2-40B4-BE49-F238E27FC236}">
                <a16:creationId xmlns:a16="http://schemas.microsoft.com/office/drawing/2014/main" id="{F50148E2-0928-4A34-97CA-08092A582918}"/>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i="0" baseline="0"/>
            </a:lvl1pPr>
          </a:lstStyle>
          <a:p>
            <a:pPr>
              <a:defRPr/>
            </a:pPr>
            <a:endParaRPr lang="en-US" altLang="zh-CN"/>
          </a:p>
        </p:txBody>
      </p:sp>
      <p:sp>
        <p:nvSpPr>
          <p:cNvPr id="962567" name="Rectangle 7">
            <a:extLst>
              <a:ext uri="{FF2B5EF4-FFF2-40B4-BE49-F238E27FC236}">
                <a16:creationId xmlns:a16="http://schemas.microsoft.com/office/drawing/2014/main" id="{E4C8D0A1-B886-4D7C-90F2-D6D0F21492A4}"/>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i="0" baseline="0"/>
            </a:lvl1pPr>
          </a:lstStyle>
          <a:p>
            <a:pPr>
              <a:defRPr/>
            </a:pPr>
            <a:fld id="{1E3EEABB-4F7A-458A-92B8-E2ED459DCF0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146884A5-AA4C-4477-AED8-DBC0FE64F7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898E2C3-AAFF-4B92-9447-D0144A7EBE98}" type="slidenum">
              <a:rPr lang="en-US" altLang="zh-CN" sz="1200" b="0" i="0" baseline="0" smtClean="0"/>
              <a:pPr/>
              <a:t>2</a:t>
            </a:fld>
            <a:endParaRPr lang="en-US" altLang="zh-CN" sz="1200" b="0" i="0" baseline="0"/>
          </a:p>
        </p:txBody>
      </p:sp>
      <p:sp>
        <p:nvSpPr>
          <p:cNvPr id="17411" name="Rectangle 2">
            <a:extLst>
              <a:ext uri="{FF2B5EF4-FFF2-40B4-BE49-F238E27FC236}">
                <a16:creationId xmlns:a16="http://schemas.microsoft.com/office/drawing/2014/main" id="{4F370FAE-BD30-4C18-9429-8C25F0A00941}"/>
              </a:ext>
            </a:extLst>
          </p:cNvPr>
          <p:cNvSpPr>
            <a:spLocks noGrp="1" noRot="1" noChangeAspect="1" noChangeArrowheads="1" noTextEdit="1"/>
          </p:cNvSpPr>
          <p:nvPr>
            <p:ph type="sldImg"/>
          </p:nvPr>
        </p:nvSpPr>
        <p:spPr>
          <a:xfrm>
            <a:off x="381000" y="685800"/>
            <a:ext cx="6096000" cy="3429000"/>
          </a:xfrm>
          <a:ln/>
        </p:spPr>
      </p:sp>
      <p:sp>
        <p:nvSpPr>
          <p:cNvPr id="17412" name="Rectangle 3">
            <a:extLst>
              <a:ext uri="{FF2B5EF4-FFF2-40B4-BE49-F238E27FC236}">
                <a16:creationId xmlns:a16="http://schemas.microsoft.com/office/drawing/2014/main" id="{48544AFE-1CA2-47D1-909A-6269E0F1BB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Clr>
                <a:srgbClr val="FF0000"/>
              </a:buClr>
              <a:buSzPct val="80000"/>
              <a:buFont typeface="Wingdings" panose="05000000000000000000" pitchFamily="2" charset="2"/>
              <a:buNone/>
            </a:pPr>
            <a:r>
              <a:rPr lang="en-US" altLang="zh-CN" dirty="0"/>
              <a:t>1980</a:t>
            </a:r>
            <a:r>
              <a:rPr lang="zh-CN" altLang="en-US" dirty="0"/>
              <a:t>年，</a:t>
            </a:r>
            <a:r>
              <a:rPr lang="en-US" altLang="zh-CN" dirty="0"/>
              <a:t>IEEE</a:t>
            </a:r>
            <a:r>
              <a:rPr lang="zh-CN" altLang="en-US" dirty="0"/>
              <a:t>成立局域网标准委员会</a:t>
            </a:r>
            <a:r>
              <a:rPr lang="en-US" altLang="zh-CN" dirty="0"/>
              <a:t>(</a:t>
            </a:r>
            <a:r>
              <a:rPr lang="zh-CN" altLang="en-US" dirty="0"/>
              <a:t>简称</a:t>
            </a:r>
            <a:r>
              <a:rPr lang="en-US" altLang="zh-CN" dirty="0"/>
              <a:t>IEEE 802</a:t>
            </a:r>
            <a:r>
              <a:rPr lang="zh-CN" altLang="en-US" dirty="0"/>
              <a:t>委员会</a:t>
            </a:r>
            <a:r>
              <a:rPr lang="en-US" altLang="zh-CN" dirty="0"/>
              <a:t>)</a:t>
            </a:r>
            <a:r>
              <a:rPr lang="zh-CN" altLang="en-US" dirty="0"/>
              <a:t>，专门从事局域网标准化工作，并制定了</a:t>
            </a:r>
            <a:r>
              <a:rPr lang="en-US" altLang="zh-CN" dirty="0"/>
              <a:t>IEEE 802</a:t>
            </a:r>
            <a:r>
              <a:rPr lang="zh-CN" altLang="en-US" dirty="0"/>
              <a:t>参考模型与标准。</a:t>
            </a:r>
            <a:r>
              <a:rPr lang="en-US" altLang="zh-CN" dirty="0"/>
              <a:t>IEEE 802</a:t>
            </a:r>
            <a:r>
              <a:rPr lang="zh-CN" altLang="en-US" dirty="0"/>
              <a:t>研究重点是解决局部范围的计算机联网问题，因此研究者只需面对</a:t>
            </a:r>
            <a:r>
              <a:rPr lang="en-US" altLang="zh-CN" dirty="0"/>
              <a:t>OSI</a:t>
            </a:r>
            <a:r>
              <a:rPr lang="zh-CN" altLang="en-US" dirty="0"/>
              <a:t>参考模型中的数据链路层与物理层，网络层及以上高层不属于局域网协议研究的范围。这是</a:t>
            </a:r>
            <a:r>
              <a:rPr lang="en-US" altLang="zh-CN" dirty="0"/>
              <a:t>IEEE 802</a:t>
            </a:r>
            <a:r>
              <a:rPr lang="zh-CN" altLang="en-US" dirty="0"/>
              <a:t>标准只制定数据链路层与物理层协议的原因。</a:t>
            </a:r>
            <a:br>
              <a:rPr lang="zh-CN" altLang="en-US" dirty="0"/>
            </a:br>
            <a:r>
              <a:rPr lang="en-US" altLang="zh-CN" dirty="0"/>
              <a:t>IEEE 802</a:t>
            </a:r>
            <a:r>
              <a:rPr lang="zh-CN" altLang="en-US" dirty="0"/>
              <a:t>委员会刚成立时，局域网领域已有</a:t>
            </a:r>
            <a:r>
              <a:rPr lang="en-US" altLang="zh-CN" dirty="0"/>
              <a:t>3</a:t>
            </a:r>
            <a:r>
              <a:rPr lang="zh-CN" altLang="en-US" dirty="0"/>
              <a:t>类典型技术：以太网、令牌总线网与令牌环网。同时，市场上还有很多厂商的局域网产品，它们的数据链路层与物理层协议各不相同。面对这样一个复杂的局面，要想为多种局域网技术和产品制定一个公用模型，</a:t>
            </a:r>
            <a:r>
              <a:rPr lang="en-US" altLang="zh-CN" dirty="0"/>
              <a:t>IEEE 802</a:t>
            </a:r>
            <a:r>
              <a:rPr lang="zh-CN" altLang="en-US" dirty="0"/>
              <a:t>标准设计者提出将数据链路层分为两个子层：逻辑链路控制</a:t>
            </a:r>
            <a:r>
              <a:rPr lang="en-US" altLang="zh-CN" dirty="0"/>
              <a:t>(Logical Link Control</a:t>
            </a:r>
            <a:r>
              <a:rPr lang="zh-CN" altLang="en-US" dirty="0"/>
              <a:t>，</a:t>
            </a:r>
            <a:r>
              <a:rPr lang="en-US" altLang="zh-CN" dirty="0"/>
              <a:t>LLC)</a:t>
            </a:r>
            <a:r>
              <a:rPr lang="zh-CN" altLang="en-US" dirty="0"/>
              <a:t>与介质访问控制</a:t>
            </a:r>
            <a:r>
              <a:rPr lang="en-US" altLang="zh-CN" dirty="0"/>
              <a:t>(Media Access Control</a:t>
            </a:r>
            <a:r>
              <a:rPr lang="zh-CN" altLang="en-US" dirty="0"/>
              <a:t>，</a:t>
            </a:r>
            <a:r>
              <a:rPr lang="en-US" altLang="zh-CN" dirty="0"/>
              <a:t>MAC)</a:t>
            </a:r>
            <a:r>
              <a:rPr lang="zh-CN" altLang="en-US" dirty="0"/>
              <a:t>子层。</a:t>
            </a:r>
            <a:br>
              <a:rPr lang="zh-CN" altLang="en-US" dirty="0"/>
            </a:b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8799C7E0-A442-4EFC-8847-7B7F1386FAE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691E6E3-96FA-4D17-97F9-A56B5375C47B}" type="slidenum">
              <a:rPr lang="en-US" altLang="zh-CN" sz="1200" b="0" i="0" baseline="0" smtClean="0"/>
              <a:pPr/>
              <a:t>3</a:t>
            </a:fld>
            <a:endParaRPr lang="en-US" altLang="zh-CN" sz="1200" b="0" i="0" baseline="0"/>
          </a:p>
        </p:txBody>
      </p:sp>
      <p:sp>
        <p:nvSpPr>
          <p:cNvPr id="19459" name="Rectangle 2">
            <a:extLst>
              <a:ext uri="{FF2B5EF4-FFF2-40B4-BE49-F238E27FC236}">
                <a16:creationId xmlns:a16="http://schemas.microsoft.com/office/drawing/2014/main" id="{882D27FA-2A19-4DBB-99C3-69263337E2A8}"/>
              </a:ext>
            </a:extLst>
          </p:cNvPr>
          <p:cNvSpPr>
            <a:spLocks noGrp="1" noRot="1" noChangeAspect="1" noChangeArrowheads="1" noTextEdit="1"/>
          </p:cNvSpPr>
          <p:nvPr>
            <p:ph type="sldImg"/>
          </p:nvPr>
        </p:nvSpPr>
        <p:spPr>
          <a:xfrm>
            <a:off x="381000" y="685800"/>
            <a:ext cx="6096000" cy="3429000"/>
          </a:xfrm>
          <a:ln/>
        </p:spPr>
      </p:sp>
      <p:sp>
        <p:nvSpPr>
          <p:cNvPr id="19460" name="Rectangle 3">
            <a:extLst>
              <a:ext uri="{FF2B5EF4-FFF2-40B4-BE49-F238E27FC236}">
                <a16:creationId xmlns:a16="http://schemas.microsoft.com/office/drawing/2014/main" id="{01E2181E-FCFD-4934-AC62-35A50D08E0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Clr>
                <a:srgbClr val="FF0000"/>
              </a:buClr>
              <a:buSzPct val="80000"/>
              <a:buFont typeface="Wingdings" panose="05000000000000000000" pitchFamily="2" charset="2"/>
              <a:buNone/>
            </a:pPr>
            <a:r>
              <a:rPr lang="zh-CN" altLang="en-US" dirty="0"/>
              <a:t>不同局域网在</a:t>
            </a:r>
            <a:r>
              <a:rPr lang="en-US" altLang="zh-CN" dirty="0"/>
              <a:t>MAC</a:t>
            </a:r>
            <a:r>
              <a:rPr lang="zh-CN" altLang="en-US" dirty="0"/>
              <a:t>子层和物理层可采用不同协议，但在</a:t>
            </a:r>
            <a:r>
              <a:rPr lang="en-US" altLang="zh-CN" dirty="0"/>
              <a:t>LLC</a:t>
            </a:r>
            <a:r>
              <a:rPr lang="zh-CN" altLang="en-US" dirty="0"/>
              <a:t>子层必须采用相同协议。这与网络层</a:t>
            </a:r>
            <a:r>
              <a:rPr lang="en-US" altLang="zh-CN" dirty="0"/>
              <a:t>IP</a:t>
            </a:r>
            <a:r>
              <a:rPr lang="zh-CN" altLang="en-US" dirty="0"/>
              <a:t>协议的设计思路相似。不管局域网的介质访问控制方法与帧结构，以及采用的物理传输介质有什么不同，</a:t>
            </a:r>
            <a:r>
              <a:rPr lang="en-US" altLang="zh-CN" dirty="0"/>
              <a:t>LLC</a:t>
            </a:r>
            <a:r>
              <a:rPr lang="zh-CN" altLang="en-US" dirty="0"/>
              <a:t>子层统一将它们封装到固定格式的 </a:t>
            </a:r>
            <a:r>
              <a:rPr lang="en-US" altLang="zh-CN" dirty="0"/>
              <a:t>LLC</a:t>
            </a:r>
            <a:r>
              <a:rPr lang="zh-CN" altLang="en-US" dirty="0"/>
              <a:t>帧中。</a:t>
            </a:r>
            <a:r>
              <a:rPr lang="en-US" altLang="zh-CN" dirty="0"/>
              <a:t>LLC </a:t>
            </a:r>
            <a:r>
              <a:rPr lang="zh-CN" altLang="en-US" dirty="0"/>
              <a:t>子层与低层采用的传输介质、访问控制方法无关，网络层可以不考虑局域网采用哪种传输介质、访问控制方法和拓扑构型。这种方法在解决异构的局域网互联问题上是有效的。</a:t>
            </a:r>
            <a:endParaRPr lang="en-US" altLang="zh-CN" dirty="0"/>
          </a:p>
          <a:p>
            <a:pPr>
              <a:buClr>
                <a:srgbClr val="FF0000"/>
              </a:buClr>
              <a:buSzPct val="80000"/>
              <a:buFont typeface="Wingdings" panose="05000000000000000000" pitchFamily="2" charset="2"/>
              <a:buNone/>
            </a:pPr>
            <a:endParaRPr lang="en-US" altLang="zh-CN" dirty="0"/>
          </a:p>
          <a:p>
            <a:pPr>
              <a:buClr>
                <a:srgbClr val="FF0000"/>
              </a:buClr>
              <a:buSzPct val="80000"/>
              <a:buFont typeface="Wingdings" panose="05000000000000000000" pitchFamily="2" charset="2"/>
              <a:buNone/>
            </a:pPr>
            <a:r>
              <a:rPr lang="zh-CN" altLang="en-US" dirty="0"/>
              <a:t>经过多年激烈的市场竞争，从以太网、令牌总线网与令牌环网“三足鼎立”局面，最终以太网突出重围形成“一枝独秀”格局。根据目前局域网的实际应用情况，在办公自动化中大量应用的局域网</a:t>
            </a:r>
            <a:r>
              <a:rPr lang="en-US" altLang="zh-CN" dirty="0"/>
              <a:t>(</a:t>
            </a:r>
            <a:r>
              <a:rPr lang="zh-CN" altLang="en-US" dirty="0"/>
              <a:t>如企业网、校园网</a:t>
            </a:r>
            <a:r>
              <a:rPr lang="en-US" altLang="zh-CN" dirty="0"/>
              <a:t>)</a:t>
            </a:r>
            <a:r>
              <a:rPr lang="zh-CN" altLang="en-US" dirty="0"/>
              <a:t>几乎都采用以太网，因此局域网中是否使用</a:t>
            </a:r>
            <a:r>
              <a:rPr lang="en-US" altLang="zh-CN" dirty="0"/>
              <a:t>LLC</a:t>
            </a:r>
            <a:r>
              <a:rPr lang="zh-CN" altLang="en-US" dirty="0"/>
              <a:t>子层已不重要，很多硬件和软件厂商已不使用</a:t>
            </a:r>
            <a:r>
              <a:rPr lang="en-US" altLang="zh-CN" dirty="0"/>
              <a:t>LLC</a:t>
            </a:r>
            <a:r>
              <a:rPr lang="zh-CN" altLang="en-US" dirty="0"/>
              <a:t>协议，而是直接将数据封装在以太网的 </a:t>
            </a:r>
            <a:r>
              <a:rPr lang="en-US" altLang="zh-CN" dirty="0"/>
              <a:t>MAC</a:t>
            </a:r>
            <a:r>
              <a:rPr lang="zh-CN" altLang="en-US" dirty="0"/>
              <a:t>帧中。网络层</a:t>
            </a:r>
            <a:r>
              <a:rPr lang="en-US" altLang="zh-CN" dirty="0"/>
              <a:t>IP</a:t>
            </a:r>
            <a:r>
              <a:rPr lang="zh-CN" altLang="en-US" dirty="0"/>
              <a:t>协议直接将分组封装到以太网帧中，整个协议处理过程变得更简洁，因此人们已很少讨论 </a:t>
            </a:r>
            <a:r>
              <a:rPr lang="en-US" altLang="zh-CN" dirty="0"/>
              <a:t>LLC </a:t>
            </a:r>
            <a:r>
              <a:rPr lang="zh-CN" altLang="en-US" dirty="0"/>
              <a:t>协议。</a:t>
            </a:r>
          </a:p>
          <a:p>
            <a:pPr eaLnBrk="1" hangingPunct="1"/>
            <a:endParaRPr lang="en-US" altLang="zh-CN" dirty="0"/>
          </a:p>
          <a:p>
            <a:pPr eaLnBrk="1" hangingPunct="1"/>
            <a:r>
              <a:rPr lang="zh-CN" altLang="en-US" dirty="0"/>
              <a:t>局域网有：</a:t>
            </a:r>
            <a:r>
              <a:rPr lang="en-US" altLang="zh-CN" dirty="0"/>
              <a:t>1</a:t>
            </a:r>
            <a:r>
              <a:rPr lang="zh-CN" altLang="en-US" dirty="0"/>
              <a:t>、以太网，以太网是应用最为广泛的局域网；</a:t>
            </a:r>
            <a:r>
              <a:rPr lang="en-US" altLang="zh-CN" dirty="0"/>
              <a:t>2</a:t>
            </a:r>
            <a:r>
              <a:rPr lang="zh-CN" altLang="en-US" dirty="0"/>
              <a:t>、</a:t>
            </a:r>
            <a:r>
              <a:rPr lang="en-US" altLang="zh-CN" dirty="0"/>
              <a:t>FDDI</a:t>
            </a:r>
            <a:r>
              <a:rPr lang="zh-CN" altLang="en-US" dirty="0"/>
              <a:t>网，它是于</a:t>
            </a:r>
            <a:r>
              <a:rPr lang="en-US" altLang="zh-CN" dirty="0"/>
              <a:t>80</a:t>
            </a:r>
            <a:r>
              <a:rPr lang="zh-CN" altLang="en-US" dirty="0"/>
              <a:t>年代中期发展起来一项局域网技术；</a:t>
            </a:r>
            <a:r>
              <a:rPr lang="en-US" altLang="zh-CN" dirty="0"/>
              <a:t>3</a:t>
            </a:r>
            <a:r>
              <a:rPr lang="zh-CN" altLang="en-US" dirty="0"/>
              <a:t>、令牌环网，它是</a:t>
            </a:r>
            <a:r>
              <a:rPr lang="en-US" altLang="zh-CN" dirty="0"/>
              <a:t>IBM</a:t>
            </a:r>
            <a:r>
              <a:rPr lang="zh-CN" altLang="en-US" dirty="0"/>
              <a:t>公司于</a:t>
            </a:r>
            <a:r>
              <a:rPr lang="en-US" altLang="zh-CN" dirty="0"/>
              <a:t>20</a:t>
            </a:r>
            <a:r>
              <a:rPr lang="zh-CN" altLang="en-US" dirty="0"/>
              <a:t>世纪</a:t>
            </a:r>
            <a:r>
              <a:rPr lang="en-US" altLang="zh-CN" dirty="0"/>
              <a:t>70</a:t>
            </a:r>
            <a:r>
              <a:rPr lang="zh-CN" altLang="en-US" dirty="0"/>
              <a:t>年代发展的；</a:t>
            </a:r>
            <a:r>
              <a:rPr lang="en-US" altLang="zh-CN" dirty="0"/>
              <a:t>4</a:t>
            </a:r>
            <a:r>
              <a:rPr lang="zh-CN" altLang="en-US" dirty="0"/>
              <a:t>、</a:t>
            </a:r>
            <a:r>
              <a:rPr lang="en-US" altLang="zh-CN" dirty="0"/>
              <a:t>ATM</a:t>
            </a:r>
            <a:r>
              <a:rPr lang="zh-CN" altLang="en-US" dirty="0"/>
              <a:t>网，它的开发始于</a:t>
            </a:r>
            <a:r>
              <a:rPr lang="en-US" altLang="zh-CN" dirty="0"/>
              <a:t>70</a:t>
            </a:r>
            <a:r>
              <a:rPr lang="zh-CN" altLang="en-US" dirty="0"/>
              <a:t>年代后期；</a:t>
            </a:r>
            <a:r>
              <a:rPr lang="en-US" altLang="zh-CN" dirty="0"/>
              <a:t>5</a:t>
            </a:r>
            <a:r>
              <a:rPr lang="zh-CN" altLang="en-US" dirty="0"/>
              <a:t>、无线局域网等等。</a:t>
            </a:r>
            <a:endParaRPr lang="en-US" altLang="zh-CN" dirty="0"/>
          </a:p>
          <a:p>
            <a:pPr eaLnBrk="1" hangingPunct="1"/>
            <a:endParaRPr lang="en-US" altLang="zh-CN" dirty="0"/>
          </a:p>
          <a:p>
            <a:pPr marL="285750" indent="-285750" algn="just">
              <a:lnSpc>
                <a:spcPct val="150000"/>
              </a:lnSpc>
              <a:buClr>
                <a:srgbClr val="FF0000"/>
              </a:buClr>
              <a:buSzPct val="80000"/>
              <a:buFont typeface="Wingdings" panose="05000000000000000000" pitchFamily="2" charset="2"/>
              <a:buChar char="u"/>
            </a:pPr>
            <a:r>
              <a:rPr lang="en-US" altLang="zh-CN" sz="1200" b="0" i="0" baseline="0" dirty="0">
                <a:solidFill>
                  <a:srgbClr val="333333"/>
                </a:solidFill>
                <a:latin typeface="微软雅黑" panose="020B0503020204020204" pitchFamily="34" charset="-122"/>
                <a:ea typeface="微软雅黑" panose="020B0503020204020204" pitchFamily="34" charset="-122"/>
              </a:rPr>
              <a:t>MAC</a:t>
            </a:r>
            <a:r>
              <a:rPr lang="zh-CN" altLang="en-US" sz="1200" b="0" i="0" baseline="0" dirty="0">
                <a:solidFill>
                  <a:srgbClr val="333333"/>
                </a:solidFill>
                <a:latin typeface="微软雅黑" panose="020B0503020204020204" pitchFamily="34" charset="-122"/>
                <a:ea typeface="微软雅黑" panose="020B0503020204020204" pitchFamily="34" charset="-122"/>
              </a:rPr>
              <a:t>子层负责控制物理介质的访问，并决定哪个设备有权利发送数据，主要功能有：</a:t>
            </a:r>
          </a:p>
          <a:p>
            <a:pPr marL="531813" indent="-265113" algn="just">
              <a:lnSpc>
                <a:spcPct val="150000"/>
              </a:lnSpc>
              <a:buClr>
                <a:srgbClr val="3366FF"/>
              </a:buClr>
              <a:buSzPct val="80000"/>
              <a:buFont typeface="Wingdings" panose="05000000000000000000" pitchFamily="2" charset="2"/>
              <a:buChar char="l"/>
            </a:pPr>
            <a:r>
              <a:rPr lang="zh-CN" altLang="en-US" sz="1200" i="0" baseline="0" dirty="0">
                <a:solidFill>
                  <a:srgbClr val="333333"/>
                </a:solidFill>
                <a:latin typeface="微软雅黑" panose="020B0503020204020204" pitchFamily="34" charset="-122"/>
                <a:ea typeface="微软雅黑" panose="020B0503020204020204" pitchFamily="34" charset="-122"/>
              </a:rPr>
              <a:t>媒体访问控制</a:t>
            </a:r>
            <a:r>
              <a:rPr lang="zh-CN" altLang="en-US" sz="1200" b="0" i="0" baseline="0" dirty="0">
                <a:solidFill>
                  <a:srgbClr val="333333"/>
                </a:solidFill>
                <a:latin typeface="微软雅黑" panose="020B0503020204020204" pitchFamily="34" charset="-122"/>
                <a:ea typeface="微软雅黑" panose="020B0503020204020204" pitchFamily="34" charset="-122"/>
              </a:rPr>
              <a:t>：通过一定的协议来控制设备对物理介质的访问。</a:t>
            </a:r>
            <a:endParaRPr lang="en-US" altLang="zh-CN" sz="1200" b="0" i="0" baseline="0" dirty="0">
              <a:solidFill>
                <a:srgbClr val="333333"/>
              </a:solidFill>
              <a:latin typeface="微软雅黑" panose="020B0503020204020204" pitchFamily="34" charset="-122"/>
              <a:ea typeface="微软雅黑" panose="020B0503020204020204" pitchFamily="34" charset="-122"/>
            </a:endParaRPr>
          </a:p>
          <a:p>
            <a:pPr marL="531813" indent="-265113" algn="just">
              <a:lnSpc>
                <a:spcPct val="150000"/>
              </a:lnSpc>
              <a:buClr>
                <a:srgbClr val="3366FF"/>
              </a:buClr>
              <a:buSzPct val="80000"/>
              <a:buFont typeface="Wingdings" panose="05000000000000000000" pitchFamily="2" charset="2"/>
              <a:buChar char="l"/>
            </a:pPr>
            <a:r>
              <a:rPr lang="zh-CN" altLang="en-US" sz="1200" i="0" baseline="0" dirty="0">
                <a:solidFill>
                  <a:srgbClr val="333333"/>
                </a:solidFill>
                <a:latin typeface="微软雅黑" panose="020B0503020204020204" pitchFamily="34" charset="-122"/>
                <a:ea typeface="微软雅黑" panose="020B0503020204020204" pitchFamily="34" charset="-122"/>
              </a:rPr>
              <a:t>帧的封装与解封装</a:t>
            </a:r>
            <a:r>
              <a:rPr lang="zh-CN" altLang="en-US" sz="1200" b="0" i="0" baseline="0" dirty="0">
                <a:solidFill>
                  <a:srgbClr val="333333"/>
                </a:solidFill>
                <a:latin typeface="微软雅黑" panose="020B0503020204020204" pitchFamily="34" charset="-122"/>
                <a:ea typeface="微软雅黑" panose="020B0503020204020204" pitchFamily="34" charset="-122"/>
              </a:rPr>
              <a:t>：将上层数据封装成数据帧或从接收的数据帧中解封装出上层数据。</a:t>
            </a:r>
            <a:endParaRPr lang="en-US" altLang="zh-CN" sz="1200" b="0" i="0" baseline="0" dirty="0">
              <a:solidFill>
                <a:srgbClr val="333333"/>
              </a:solidFill>
              <a:latin typeface="微软雅黑" panose="020B0503020204020204" pitchFamily="34" charset="-122"/>
              <a:ea typeface="微软雅黑" panose="020B0503020204020204" pitchFamily="34" charset="-122"/>
            </a:endParaRPr>
          </a:p>
          <a:p>
            <a:pPr marL="531813" indent="-265113" algn="just">
              <a:lnSpc>
                <a:spcPct val="150000"/>
              </a:lnSpc>
              <a:buClr>
                <a:srgbClr val="3366FF"/>
              </a:buClr>
              <a:buSzPct val="80000"/>
              <a:buFont typeface="Wingdings" panose="05000000000000000000" pitchFamily="2" charset="2"/>
              <a:buChar char="l"/>
            </a:pPr>
            <a:r>
              <a:rPr lang="zh-CN" altLang="en-US" sz="1200" i="0" baseline="0" dirty="0">
                <a:solidFill>
                  <a:srgbClr val="333333"/>
                </a:solidFill>
                <a:latin typeface="微软雅黑" panose="020B0503020204020204" pitchFamily="34" charset="-122"/>
                <a:ea typeface="微软雅黑" panose="020B0503020204020204" pitchFamily="34" charset="-122"/>
              </a:rPr>
              <a:t>地址识别</a:t>
            </a:r>
            <a:r>
              <a:rPr lang="zh-CN" altLang="en-US" sz="1200" b="0" i="0" baseline="0" dirty="0">
                <a:solidFill>
                  <a:srgbClr val="333333"/>
                </a:solidFill>
                <a:latin typeface="微软雅黑" panose="020B0503020204020204" pitchFamily="34" charset="-122"/>
                <a:ea typeface="微软雅黑" panose="020B0503020204020204" pitchFamily="34" charset="-122"/>
              </a:rPr>
              <a:t>：通过</a:t>
            </a:r>
            <a:r>
              <a:rPr lang="en-US" altLang="zh-CN" sz="1200" b="0" i="0" baseline="0" dirty="0">
                <a:solidFill>
                  <a:srgbClr val="333333"/>
                </a:solidFill>
                <a:latin typeface="微软雅黑" panose="020B0503020204020204" pitchFamily="34" charset="-122"/>
                <a:ea typeface="微软雅黑" panose="020B0503020204020204" pitchFamily="34" charset="-122"/>
              </a:rPr>
              <a:t>MAC</a:t>
            </a:r>
            <a:r>
              <a:rPr lang="zh-CN" altLang="en-US" sz="1200" b="0" i="0" baseline="0" dirty="0">
                <a:solidFill>
                  <a:srgbClr val="333333"/>
                </a:solidFill>
                <a:latin typeface="微软雅黑" panose="020B0503020204020204" pitchFamily="34" charset="-122"/>
                <a:ea typeface="微软雅黑" panose="020B0503020204020204" pitchFamily="34" charset="-122"/>
              </a:rPr>
              <a:t>地址来识别设备并确定数据帧的目的地。</a:t>
            </a:r>
            <a:endParaRPr lang="en-US" altLang="zh-CN" sz="1200" b="0" i="0" baseline="0" dirty="0">
              <a:solidFill>
                <a:srgbClr val="333333"/>
              </a:solidFill>
              <a:latin typeface="微软雅黑" panose="020B0503020204020204" pitchFamily="34" charset="-122"/>
              <a:ea typeface="微软雅黑" panose="020B0503020204020204" pitchFamily="34" charset="-122"/>
            </a:endParaRPr>
          </a:p>
          <a:p>
            <a:pPr marL="531813" indent="-265113" algn="just">
              <a:lnSpc>
                <a:spcPct val="150000"/>
              </a:lnSpc>
              <a:buClr>
                <a:srgbClr val="3366FF"/>
              </a:buClr>
              <a:buSzPct val="80000"/>
              <a:buFont typeface="Wingdings" panose="05000000000000000000" pitchFamily="2" charset="2"/>
              <a:buChar char="l"/>
            </a:pPr>
            <a:r>
              <a:rPr lang="zh-CN" altLang="en-US" sz="1200" i="0" baseline="0" dirty="0">
                <a:solidFill>
                  <a:srgbClr val="333333"/>
                </a:solidFill>
                <a:latin typeface="微软雅黑" panose="020B0503020204020204" pitchFamily="34" charset="-122"/>
                <a:ea typeface="微软雅黑" panose="020B0503020204020204" pitchFamily="34" charset="-122"/>
              </a:rPr>
              <a:t>错误检测与纠正</a:t>
            </a:r>
            <a:r>
              <a:rPr lang="zh-CN" altLang="en-US" sz="1200" b="0" i="0" baseline="0" dirty="0">
                <a:solidFill>
                  <a:srgbClr val="333333"/>
                </a:solidFill>
                <a:latin typeface="微软雅黑" panose="020B0503020204020204" pitchFamily="34" charset="-122"/>
                <a:ea typeface="微软雅黑" panose="020B0503020204020204" pitchFamily="34" charset="-122"/>
              </a:rPr>
              <a:t>：检测并部分纠正数据传输中的错误，确保数据的可靠性。</a:t>
            </a:r>
          </a:p>
          <a:p>
            <a:pPr marL="285750" indent="-285750" algn="just">
              <a:lnSpc>
                <a:spcPct val="150000"/>
              </a:lnSpc>
              <a:buClr>
                <a:srgbClr val="FF0000"/>
              </a:buClr>
              <a:buSzPct val="80000"/>
              <a:buFont typeface="Wingdings" panose="05000000000000000000" pitchFamily="2" charset="2"/>
              <a:buChar char="u"/>
            </a:pPr>
            <a:r>
              <a:rPr lang="en-US" altLang="zh-CN" sz="1200" b="0" i="0" baseline="0" dirty="0">
                <a:solidFill>
                  <a:srgbClr val="333333"/>
                </a:solidFill>
                <a:latin typeface="微软雅黑" panose="020B0503020204020204" pitchFamily="34" charset="-122"/>
                <a:ea typeface="微软雅黑" panose="020B0503020204020204" pitchFamily="34" charset="-122"/>
              </a:rPr>
              <a:t>LLC</a:t>
            </a:r>
            <a:r>
              <a:rPr lang="zh-CN" altLang="en-US" sz="1200" b="0" i="0" baseline="0" dirty="0">
                <a:solidFill>
                  <a:srgbClr val="333333"/>
                </a:solidFill>
                <a:latin typeface="微软雅黑" panose="020B0503020204020204" pitchFamily="34" charset="-122"/>
                <a:ea typeface="微软雅黑" panose="020B0503020204020204" pitchFamily="34" charset="-122"/>
              </a:rPr>
              <a:t>子层提供逻辑链接控制，使不同类型的网络协议能够在同一物理介质上通信，主要功能有：</a:t>
            </a:r>
          </a:p>
          <a:p>
            <a:pPr marL="531813" indent="-265113" algn="just">
              <a:lnSpc>
                <a:spcPct val="150000"/>
              </a:lnSpc>
              <a:buClr>
                <a:srgbClr val="3366FF"/>
              </a:buClr>
              <a:buSzPct val="80000"/>
              <a:buFont typeface="Wingdings" panose="05000000000000000000" pitchFamily="2" charset="2"/>
              <a:buChar char="l"/>
            </a:pPr>
            <a:r>
              <a:rPr lang="zh-CN" altLang="en-US" sz="1200" i="0" baseline="0" dirty="0">
                <a:solidFill>
                  <a:srgbClr val="333333"/>
                </a:solidFill>
                <a:latin typeface="微软雅黑" panose="020B0503020204020204" pitchFamily="34" charset="-122"/>
                <a:ea typeface="微软雅黑" panose="020B0503020204020204" pitchFamily="34" charset="-122"/>
              </a:rPr>
              <a:t>协议多路复用</a:t>
            </a:r>
            <a:r>
              <a:rPr lang="zh-CN" altLang="en-US" sz="1200" b="0" i="0" baseline="0" dirty="0">
                <a:solidFill>
                  <a:srgbClr val="333333"/>
                </a:solidFill>
                <a:latin typeface="微软雅黑" panose="020B0503020204020204" pitchFamily="34" charset="-122"/>
                <a:ea typeface="微软雅黑" panose="020B0503020204020204" pitchFamily="34" charset="-122"/>
              </a:rPr>
              <a:t>：将不同的网络协议数据封装到同一个数据链路帧中，实现多个协议的复用。</a:t>
            </a:r>
            <a:endParaRPr lang="en-US" altLang="zh-CN" sz="1200" b="0" i="0" baseline="0" dirty="0">
              <a:solidFill>
                <a:srgbClr val="333333"/>
              </a:solidFill>
              <a:latin typeface="微软雅黑" panose="020B0503020204020204" pitchFamily="34" charset="-122"/>
              <a:ea typeface="微软雅黑" panose="020B0503020204020204" pitchFamily="34" charset="-122"/>
            </a:endParaRPr>
          </a:p>
          <a:p>
            <a:pPr marL="531813" indent="-265113" algn="just">
              <a:lnSpc>
                <a:spcPct val="150000"/>
              </a:lnSpc>
              <a:buClr>
                <a:srgbClr val="3366FF"/>
              </a:buClr>
              <a:buSzPct val="80000"/>
              <a:buFont typeface="Wingdings" panose="05000000000000000000" pitchFamily="2" charset="2"/>
              <a:buChar char="l"/>
            </a:pPr>
            <a:r>
              <a:rPr lang="zh-CN" altLang="en-US" sz="1200" i="0" baseline="0" dirty="0">
                <a:solidFill>
                  <a:srgbClr val="333333"/>
                </a:solidFill>
                <a:latin typeface="微软雅黑" panose="020B0503020204020204" pitchFamily="34" charset="-122"/>
                <a:ea typeface="微软雅黑" panose="020B0503020204020204" pitchFamily="34" charset="-122"/>
              </a:rPr>
              <a:t>协议多路分解</a:t>
            </a:r>
            <a:r>
              <a:rPr lang="zh-CN" altLang="en-US" sz="1200" b="0" i="0" baseline="0" dirty="0">
                <a:solidFill>
                  <a:srgbClr val="333333"/>
                </a:solidFill>
                <a:latin typeface="微软雅黑" panose="020B0503020204020204" pitchFamily="34" charset="-122"/>
                <a:ea typeface="微软雅黑" panose="020B0503020204020204" pitchFamily="34" charset="-122"/>
              </a:rPr>
              <a:t>：根据数据链路帧中的信息将数据分解给相应的协议处理模块。</a:t>
            </a:r>
            <a:endParaRPr lang="en-US" altLang="zh-CN" sz="1200" b="0" i="0" baseline="0" dirty="0">
              <a:solidFill>
                <a:srgbClr val="333333"/>
              </a:solidFill>
              <a:latin typeface="微软雅黑" panose="020B0503020204020204" pitchFamily="34" charset="-122"/>
              <a:ea typeface="微软雅黑" panose="020B0503020204020204" pitchFamily="34" charset="-122"/>
            </a:endParaRPr>
          </a:p>
          <a:p>
            <a:pPr marL="531813" indent="-265113" algn="just">
              <a:lnSpc>
                <a:spcPct val="150000"/>
              </a:lnSpc>
              <a:buClr>
                <a:srgbClr val="3366FF"/>
              </a:buClr>
              <a:buSzPct val="80000"/>
              <a:buFont typeface="Wingdings" panose="05000000000000000000" pitchFamily="2" charset="2"/>
              <a:buChar char="l"/>
            </a:pPr>
            <a:r>
              <a:rPr lang="zh-CN" altLang="en-US" sz="1200" i="0" baseline="0" dirty="0">
                <a:solidFill>
                  <a:srgbClr val="333333"/>
                </a:solidFill>
                <a:latin typeface="微软雅黑" panose="020B0503020204020204" pitchFamily="34" charset="-122"/>
                <a:ea typeface="微软雅黑" panose="020B0503020204020204" pitchFamily="34" charset="-122"/>
              </a:rPr>
              <a:t>流控制</a:t>
            </a:r>
            <a:r>
              <a:rPr lang="zh-CN" altLang="en-US" sz="1200" b="0" i="0" baseline="0" dirty="0">
                <a:solidFill>
                  <a:srgbClr val="333333"/>
                </a:solidFill>
                <a:latin typeface="微软雅黑" panose="020B0503020204020204" pitchFamily="34" charset="-122"/>
                <a:ea typeface="微软雅黑" panose="020B0503020204020204" pitchFamily="34" charset="-122"/>
              </a:rPr>
              <a:t>：实现流控制机制，确保数据的可靠传输，避免数据丢失和重传。</a:t>
            </a:r>
          </a:p>
          <a:p>
            <a:pPr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DE097596-4343-41DE-A71C-F9602BA37E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9B6D1F8-8FFE-4C63-856C-75016C1D0884}" type="slidenum">
              <a:rPr lang="en-US" altLang="zh-CN" sz="1200" b="0" i="0" baseline="0" smtClean="0"/>
              <a:pPr/>
              <a:t>4</a:t>
            </a:fld>
            <a:endParaRPr lang="en-US" altLang="zh-CN" sz="1200" b="0" i="0" baseline="0"/>
          </a:p>
        </p:txBody>
      </p:sp>
      <p:sp>
        <p:nvSpPr>
          <p:cNvPr id="21507" name="Rectangle 2">
            <a:extLst>
              <a:ext uri="{FF2B5EF4-FFF2-40B4-BE49-F238E27FC236}">
                <a16:creationId xmlns:a16="http://schemas.microsoft.com/office/drawing/2014/main" id="{4090BE11-7963-468B-AD52-D7294871B853}"/>
              </a:ext>
            </a:extLst>
          </p:cNvPr>
          <p:cNvSpPr>
            <a:spLocks noGrp="1" noRot="1" noChangeAspect="1" noChangeArrowheads="1" noTextEdit="1"/>
          </p:cNvSpPr>
          <p:nvPr>
            <p:ph type="sldImg"/>
          </p:nvPr>
        </p:nvSpPr>
        <p:spPr>
          <a:xfrm>
            <a:off x="381000" y="685800"/>
            <a:ext cx="6096000" cy="3429000"/>
          </a:xfrm>
          <a:ln/>
        </p:spPr>
      </p:sp>
      <p:sp>
        <p:nvSpPr>
          <p:cNvPr id="21508" name="Rectangle 3">
            <a:extLst>
              <a:ext uri="{FF2B5EF4-FFF2-40B4-BE49-F238E27FC236}">
                <a16:creationId xmlns:a16="http://schemas.microsoft.com/office/drawing/2014/main" id="{42B1B748-A7F7-459B-B989-CF94AB42889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50000"/>
              </a:lnSpc>
            </a:pPr>
            <a:r>
              <a:rPr lang="en-US" altLang="zh-CN" sz="1200" b="0" i="0" baseline="0" dirty="0">
                <a:latin typeface="微软雅黑" panose="020B0503020204020204" pitchFamily="34" charset="-122"/>
                <a:ea typeface="微软雅黑" panose="020B0503020204020204" pitchFamily="34" charset="-122"/>
              </a:rPr>
              <a:t>MAC</a:t>
            </a:r>
            <a:r>
              <a:rPr lang="zh-CN" altLang="en-US" sz="1200" b="0" i="0" baseline="0" dirty="0">
                <a:latin typeface="微软雅黑" panose="020B0503020204020204" pitchFamily="34" charset="-122"/>
                <a:ea typeface="微软雅黑" panose="020B0503020204020204" pitchFamily="34" charset="-122"/>
              </a:rPr>
              <a:t>子层的主要任务是解决多个设备共享同一物理介质时可能出现的冲突和竞争问题，即如何协调多个发送和接收节点对单一共享广播信道的访问，使用多路访问协议来规范它们在共享的广播信道上的传输行为。在理想情况下：</a:t>
            </a:r>
          </a:p>
          <a:p>
            <a:pPr algn="just">
              <a:lnSpc>
                <a:spcPct val="150000"/>
              </a:lnSpc>
            </a:pPr>
            <a:r>
              <a:rPr lang="zh-CN" altLang="en-US" sz="1200" b="0" i="0" baseline="0" dirty="0">
                <a:latin typeface="微软雅黑" panose="020B0503020204020204" pitchFamily="34" charset="-122"/>
                <a:ea typeface="微软雅黑" panose="020B0503020204020204" pitchFamily="34" charset="-122"/>
              </a:rPr>
              <a:t>① 如果只有一个节点需要发送数据，期望它可以以整个信道的速率 </a:t>
            </a:r>
            <a:r>
              <a:rPr lang="en-US" altLang="zh-CN" sz="1200" b="0" i="0" baseline="0" dirty="0">
                <a:latin typeface="微软雅黑" panose="020B0503020204020204" pitchFamily="34" charset="-122"/>
                <a:ea typeface="微软雅黑" panose="020B0503020204020204" pitchFamily="34" charset="-122"/>
              </a:rPr>
              <a:t>N </a:t>
            </a:r>
            <a:r>
              <a:rPr lang="zh-CN" altLang="en-US" sz="1200" b="0" i="0" baseline="0" dirty="0">
                <a:latin typeface="微软雅黑" panose="020B0503020204020204" pitchFamily="34" charset="-122"/>
                <a:ea typeface="微软雅黑" panose="020B0503020204020204" pitchFamily="34" charset="-122"/>
              </a:rPr>
              <a:t>发送数据；</a:t>
            </a:r>
          </a:p>
          <a:p>
            <a:pPr algn="just">
              <a:lnSpc>
                <a:spcPct val="150000"/>
              </a:lnSpc>
            </a:pPr>
            <a:r>
              <a:rPr lang="zh-CN" altLang="en-US" sz="1200" b="0" i="0" baseline="0" dirty="0">
                <a:latin typeface="微软雅黑" panose="020B0503020204020204" pitchFamily="34" charset="-122"/>
                <a:ea typeface="微软雅黑" panose="020B0503020204020204" pitchFamily="34" charset="-122"/>
              </a:rPr>
              <a:t>② 如果有 </a:t>
            </a:r>
            <a:r>
              <a:rPr lang="en-US" altLang="zh-CN" sz="1200" b="0" i="0" baseline="0" dirty="0">
                <a:latin typeface="微软雅黑" panose="020B0503020204020204" pitchFamily="34" charset="-122"/>
                <a:ea typeface="微软雅黑" panose="020B0503020204020204" pitchFamily="34" charset="-122"/>
              </a:rPr>
              <a:t>M </a:t>
            </a:r>
            <a:r>
              <a:rPr lang="zh-CN" altLang="en-US" sz="1200" b="0" i="0" baseline="0" dirty="0">
                <a:latin typeface="微软雅黑" panose="020B0503020204020204" pitchFamily="34" charset="-122"/>
                <a:ea typeface="微软雅黑" panose="020B0503020204020204" pitchFamily="34" charset="-122"/>
              </a:rPr>
              <a:t>个节点需要同时发送数据，期望它可以以速率 </a:t>
            </a:r>
            <a:r>
              <a:rPr lang="en-US" altLang="zh-CN" sz="1200" b="0" i="0" baseline="0" dirty="0">
                <a:latin typeface="微软雅黑" panose="020B0503020204020204" pitchFamily="34" charset="-122"/>
                <a:ea typeface="微软雅黑" panose="020B0503020204020204" pitchFamily="34" charset="-122"/>
              </a:rPr>
              <a:t>N / M</a:t>
            </a:r>
            <a:r>
              <a:rPr lang="zh-CN" altLang="en-US" sz="1200" b="0" i="0" baseline="0" dirty="0">
                <a:latin typeface="微软雅黑" panose="020B0503020204020204" pitchFamily="34" charset="-122"/>
                <a:ea typeface="微软雅黑" panose="020B0503020204020204" pitchFamily="34" charset="-122"/>
              </a:rPr>
              <a:t> 来发送数据。</a:t>
            </a:r>
            <a:endParaRPr lang="en-US" altLang="zh-CN" sz="1200" b="0" i="0" baseline="0" dirty="0">
              <a:latin typeface="微软雅黑" panose="020B0503020204020204" pitchFamily="34" charset="-122"/>
              <a:ea typeface="微软雅黑" panose="020B0503020204020204" pitchFamily="34" charset="-122"/>
            </a:endParaRPr>
          </a:p>
          <a:p>
            <a:pPr algn="just">
              <a:lnSpc>
                <a:spcPct val="150000"/>
              </a:lnSpc>
            </a:pPr>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DE097596-4343-41DE-A71C-F9602BA37E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9B6D1F8-8FFE-4C63-856C-75016C1D0884}" type="slidenum">
              <a:rPr lang="en-US" altLang="zh-CN" sz="1200" b="0" i="0" baseline="0" smtClean="0"/>
              <a:pPr/>
              <a:t>5</a:t>
            </a:fld>
            <a:endParaRPr lang="en-US" altLang="zh-CN" sz="1200" b="0" i="0" baseline="0"/>
          </a:p>
        </p:txBody>
      </p:sp>
      <p:sp>
        <p:nvSpPr>
          <p:cNvPr id="21507" name="Rectangle 2">
            <a:extLst>
              <a:ext uri="{FF2B5EF4-FFF2-40B4-BE49-F238E27FC236}">
                <a16:creationId xmlns:a16="http://schemas.microsoft.com/office/drawing/2014/main" id="{4090BE11-7963-468B-AD52-D7294871B853}"/>
              </a:ext>
            </a:extLst>
          </p:cNvPr>
          <p:cNvSpPr>
            <a:spLocks noGrp="1" noRot="1" noChangeAspect="1" noChangeArrowheads="1" noTextEdit="1"/>
          </p:cNvSpPr>
          <p:nvPr>
            <p:ph type="sldImg"/>
          </p:nvPr>
        </p:nvSpPr>
        <p:spPr>
          <a:xfrm>
            <a:off x="381000" y="685800"/>
            <a:ext cx="6096000" cy="3429000"/>
          </a:xfrm>
          <a:ln/>
        </p:spPr>
      </p:sp>
      <p:sp>
        <p:nvSpPr>
          <p:cNvPr id="21508" name="Rectangle 3">
            <a:extLst>
              <a:ext uri="{FF2B5EF4-FFF2-40B4-BE49-F238E27FC236}">
                <a16:creationId xmlns:a16="http://schemas.microsoft.com/office/drawing/2014/main" id="{42B1B748-A7F7-459B-B989-CF94AB42889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50000"/>
              </a:lnSpc>
            </a:pPr>
            <a:r>
              <a:rPr lang="en-US" altLang="zh-CN" sz="1200" b="0" i="0" baseline="0" dirty="0">
                <a:latin typeface="微软雅黑" panose="020B0503020204020204" pitchFamily="34" charset="-122"/>
                <a:ea typeface="微软雅黑" panose="020B0503020204020204" pitchFamily="34" charset="-122"/>
              </a:rPr>
              <a:t>MAC</a:t>
            </a:r>
            <a:r>
              <a:rPr lang="zh-CN" altLang="en-US" sz="1200" b="0" i="0" baseline="0" dirty="0">
                <a:latin typeface="微软雅黑" panose="020B0503020204020204" pitchFamily="34" charset="-122"/>
                <a:ea typeface="微软雅黑" panose="020B0503020204020204" pitchFamily="34" charset="-122"/>
              </a:rPr>
              <a:t>子层的主要任务是解决多个设备共享同一物理介质时可能出现的冲突和竞争问题，即如何协调多个发送和接收节点对单一共享广播信道的访问，使用多路访问协议来规范它们在共享的广播信道上的传输行为。在理想情况下：</a:t>
            </a:r>
          </a:p>
          <a:p>
            <a:pPr algn="just">
              <a:lnSpc>
                <a:spcPct val="150000"/>
              </a:lnSpc>
            </a:pPr>
            <a:r>
              <a:rPr lang="zh-CN" altLang="en-US" sz="1200" b="0" i="0" baseline="0" dirty="0">
                <a:latin typeface="微软雅黑" panose="020B0503020204020204" pitchFamily="34" charset="-122"/>
                <a:ea typeface="微软雅黑" panose="020B0503020204020204" pitchFamily="34" charset="-122"/>
              </a:rPr>
              <a:t>① 如果只有一个节点需要发送数据，期望它可以以整个信道的速率 </a:t>
            </a:r>
            <a:r>
              <a:rPr lang="en-US" altLang="zh-CN" sz="1200" b="0" i="0" baseline="0" dirty="0">
                <a:latin typeface="微软雅黑" panose="020B0503020204020204" pitchFamily="34" charset="-122"/>
                <a:ea typeface="微软雅黑" panose="020B0503020204020204" pitchFamily="34" charset="-122"/>
              </a:rPr>
              <a:t>N </a:t>
            </a:r>
            <a:r>
              <a:rPr lang="zh-CN" altLang="en-US" sz="1200" b="0" i="0" baseline="0" dirty="0">
                <a:latin typeface="微软雅黑" panose="020B0503020204020204" pitchFamily="34" charset="-122"/>
                <a:ea typeface="微软雅黑" panose="020B0503020204020204" pitchFamily="34" charset="-122"/>
              </a:rPr>
              <a:t>发送数据；</a:t>
            </a:r>
          </a:p>
          <a:p>
            <a:pPr algn="just">
              <a:lnSpc>
                <a:spcPct val="150000"/>
              </a:lnSpc>
            </a:pPr>
            <a:r>
              <a:rPr lang="zh-CN" altLang="en-US" sz="1200" b="0" i="0" baseline="0" dirty="0">
                <a:latin typeface="微软雅黑" panose="020B0503020204020204" pitchFamily="34" charset="-122"/>
                <a:ea typeface="微软雅黑" panose="020B0503020204020204" pitchFamily="34" charset="-122"/>
              </a:rPr>
              <a:t>② 如果有 </a:t>
            </a:r>
            <a:r>
              <a:rPr lang="en-US" altLang="zh-CN" sz="1200" b="0" i="0" baseline="0" dirty="0">
                <a:latin typeface="微软雅黑" panose="020B0503020204020204" pitchFamily="34" charset="-122"/>
                <a:ea typeface="微软雅黑" panose="020B0503020204020204" pitchFamily="34" charset="-122"/>
              </a:rPr>
              <a:t>M </a:t>
            </a:r>
            <a:r>
              <a:rPr lang="zh-CN" altLang="en-US" sz="1200" b="0" i="0" baseline="0" dirty="0">
                <a:latin typeface="微软雅黑" panose="020B0503020204020204" pitchFamily="34" charset="-122"/>
                <a:ea typeface="微软雅黑" panose="020B0503020204020204" pitchFamily="34" charset="-122"/>
              </a:rPr>
              <a:t>个节点需要同时发送数据，期望它可以以速率 </a:t>
            </a:r>
            <a:r>
              <a:rPr lang="en-US" altLang="zh-CN" sz="1200" b="0" i="0" baseline="0" dirty="0">
                <a:latin typeface="微软雅黑" panose="020B0503020204020204" pitchFamily="34" charset="-122"/>
                <a:ea typeface="微软雅黑" panose="020B0503020204020204" pitchFamily="34" charset="-122"/>
              </a:rPr>
              <a:t>N / M</a:t>
            </a:r>
            <a:r>
              <a:rPr lang="zh-CN" altLang="en-US" sz="1200" b="0" i="0" baseline="0" dirty="0">
                <a:latin typeface="微软雅黑" panose="020B0503020204020204" pitchFamily="34" charset="-122"/>
                <a:ea typeface="微软雅黑" panose="020B0503020204020204" pitchFamily="34" charset="-122"/>
              </a:rPr>
              <a:t> 来发送数据。</a:t>
            </a:r>
            <a:endParaRPr lang="en-US" altLang="zh-CN" sz="1200" b="0" i="0" baseline="0" dirty="0">
              <a:latin typeface="微软雅黑" panose="020B0503020204020204" pitchFamily="34" charset="-122"/>
              <a:ea typeface="微软雅黑" panose="020B0503020204020204" pitchFamily="34" charset="-122"/>
            </a:endParaRPr>
          </a:p>
          <a:p>
            <a:pPr algn="just">
              <a:lnSpc>
                <a:spcPct val="150000"/>
              </a:lnSpc>
            </a:pPr>
            <a:endParaRPr lang="zh-CN" altLang="zh-CN" dirty="0"/>
          </a:p>
        </p:txBody>
      </p:sp>
    </p:spTree>
    <p:extLst>
      <p:ext uri="{BB962C8B-B14F-4D97-AF65-F5344CB8AC3E}">
        <p14:creationId xmlns:p14="http://schemas.microsoft.com/office/powerpoint/2010/main" val="2135975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2C986EC-F7A3-4F01-A65F-007A3F41EB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29FFA97-DBC7-48C1-8883-F5F9CF2C9A85}" type="slidenum">
              <a:rPr lang="en-US" altLang="zh-CN" sz="1200" b="0" i="0" baseline="0" smtClean="0"/>
              <a:pPr/>
              <a:t>6</a:t>
            </a:fld>
            <a:endParaRPr lang="en-US" altLang="zh-CN" sz="1200" b="0" i="0" baseline="0"/>
          </a:p>
        </p:txBody>
      </p:sp>
      <p:sp>
        <p:nvSpPr>
          <p:cNvPr id="23555" name="Rectangle 2">
            <a:extLst>
              <a:ext uri="{FF2B5EF4-FFF2-40B4-BE49-F238E27FC236}">
                <a16:creationId xmlns:a16="http://schemas.microsoft.com/office/drawing/2014/main" id="{FFCE2E98-ED7D-44BC-BD09-C576A8EC4E5B}"/>
              </a:ext>
            </a:extLst>
          </p:cNvPr>
          <p:cNvSpPr>
            <a:spLocks noGrp="1" noRot="1" noChangeAspect="1" noChangeArrowheads="1" noTextEdit="1"/>
          </p:cNvSpPr>
          <p:nvPr>
            <p:ph type="sldImg"/>
          </p:nvPr>
        </p:nvSpPr>
        <p:spPr>
          <a:xfrm>
            <a:off x="381000" y="685800"/>
            <a:ext cx="6096000" cy="3429000"/>
          </a:xfrm>
          <a:ln/>
        </p:spPr>
      </p:sp>
      <p:sp>
        <p:nvSpPr>
          <p:cNvPr id="23556" name="Rectangle 3">
            <a:extLst>
              <a:ext uri="{FF2B5EF4-FFF2-40B4-BE49-F238E27FC236}">
                <a16:creationId xmlns:a16="http://schemas.microsoft.com/office/drawing/2014/main" id="{9387E6CE-3316-4DE5-82EF-D4E139CC48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01CFB3D3-7CB7-4054-8320-6AECF24D71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0817446-87FE-48A3-B1B1-441908DD4A9A}" type="slidenum">
              <a:rPr lang="en-US" altLang="zh-CN" sz="1200" b="0" i="0" baseline="0" smtClean="0"/>
              <a:pPr/>
              <a:t>7</a:t>
            </a:fld>
            <a:endParaRPr lang="en-US" altLang="zh-CN" sz="1200" b="0" i="0" baseline="0"/>
          </a:p>
        </p:txBody>
      </p:sp>
      <p:sp>
        <p:nvSpPr>
          <p:cNvPr id="25603" name="Rectangle 2">
            <a:extLst>
              <a:ext uri="{FF2B5EF4-FFF2-40B4-BE49-F238E27FC236}">
                <a16:creationId xmlns:a16="http://schemas.microsoft.com/office/drawing/2014/main" id="{B721BA15-22D8-463C-B2C1-6D31097A0E0A}"/>
              </a:ext>
            </a:extLst>
          </p:cNvPr>
          <p:cNvSpPr>
            <a:spLocks noGrp="1" noRot="1" noChangeAspect="1" noChangeArrowheads="1" noTextEdit="1"/>
          </p:cNvSpPr>
          <p:nvPr>
            <p:ph type="sldImg"/>
          </p:nvPr>
        </p:nvSpPr>
        <p:spPr>
          <a:xfrm>
            <a:off x="381000" y="685800"/>
            <a:ext cx="6096000" cy="3429000"/>
          </a:xfrm>
          <a:ln/>
        </p:spPr>
      </p:sp>
      <p:sp>
        <p:nvSpPr>
          <p:cNvPr id="25604" name="Rectangle 3">
            <a:extLst>
              <a:ext uri="{FF2B5EF4-FFF2-40B4-BE49-F238E27FC236}">
                <a16:creationId xmlns:a16="http://schemas.microsoft.com/office/drawing/2014/main" id="{89C219C4-EB86-4C54-966B-BBDB4F2452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29044EF-AB59-4F7C-BBB7-F088631EB0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9040EAD-43BA-4B0A-9627-A2A5471E5BF0}" type="slidenum">
              <a:rPr lang="en-US" altLang="zh-CN" sz="1200" b="0" i="0" baseline="0" smtClean="0"/>
              <a:pPr/>
              <a:t>8</a:t>
            </a:fld>
            <a:endParaRPr lang="en-US" altLang="zh-CN" sz="1200" b="0" i="0" baseline="0"/>
          </a:p>
        </p:txBody>
      </p:sp>
      <p:sp>
        <p:nvSpPr>
          <p:cNvPr id="62467" name="Rectangle 2">
            <a:extLst>
              <a:ext uri="{FF2B5EF4-FFF2-40B4-BE49-F238E27FC236}">
                <a16:creationId xmlns:a16="http://schemas.microsoft.com/office/drawing/2014/main" id="{17611E6B-087D-45AD-A138-7F54A69B3337}"/>
              </a:ext>
            </a:extLst>
          </p:cNvPr>
          <p:cNvSpPr>
            <a:spLocks noGrp="1" noRot="1" noChangeAspect="1" noChangeArrowheads="1" noTextEdit="1"/>
          </p:cNvSpPr>
          <p:nvPr>
            <p:ph type="sldImg"/>
          </p:nvPr>
        </p:nvSpPr>
        <p:spPr>
          <a:xfrm>
            <a:off x="381000" y="685800"/>
            <a:ext cx="6096000" cy="3429000"/>
          </a:xfrm>
          <a:ln/>
        </p:spPr>
      </p:sp>
      <p:sp>
        <p:nvSpPr>
          <p:cNvPr id="62468" name="Rectangle 3">
            <a:extLst>
              <a:ext uri="{FF2B5EF4-FFF2-40B4-BE49-F238E27FC236}">
                <a16:creationId xmlns:a16="http://schemas.microsoft.com/office/drawing/2014/main" id="{9CCCCD75-F5C0-4314-AF47-475762A818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802104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74029F3F-0963-4C5F-8CF7-AFAE824CA5C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7A71326-C2EE-42FA-A963-991D4AC850E9}" type="slidenum">
              <a:rPr lang="en-US" altLang="zh-CN" sz="1200" b="0" i="0" baseline="0" smtClean="0"/>
              <a:pPr/>
              <a:t>9</a:t>
            </a:fld>
            <a:endParaRPr lang="en-US" altLang="zh-CN" sz="1200" b="0" i="0" baseline="0"/>
          </a:p>
        </p:txBody>
      </p:sp>
      <p:sp>
        <p:nvSpPr>
          <p:cNvPr id="27651" name="Rectangle 2">
            <a:extLst>
              <a:ext uri="{FF2B5EF4-FFF2-40B4-BE49-F238E27FC236}">
                <a16:creationId xmlns:a16="http://schemas.microsoft.com/office/drawing/2014/main" id="{C420D787-0201-4FE3-97F7-52A22E230E64}"/>
              </a:ext>
            </a:extLst>
          </p:cNvPr>
          <p:cNvSpPr>
            <a:spLocks noGrp="1" noRot="1" noChangeAspect="1" noChangeArrowheads="1" noTextEdit="1"/>
          </p:cNvSpPr>
          <p:nvPr>
            <p:ph type="sldImg"/>
          </p:nvPr>
        </p:nvSpPr>
        <p:spPr>
          <a:xfrm>
            <a:off x="381000" y="685800"/>
            <a:ext cx="6096000" cy="3429000"/>
          </a:xfrm>
          <a:ln/>
        </p:spPr>
      </p:sp>
      <p:sp>
        <p:nvSpPr>
          <p:cNvPr id="27652" name="Rectangle 3">
            <a:extLst>
              <a:ext uri="{FF2B5EF4-FFF2-40B4-BE49-F238E27FC236}">
                <a16:creationId xmlns:a16="http://schemas.microsoft.com/office/drawing/2014/main" id="{43AD1220-6747-4DF8-B556-16A006125D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2B62287-0BCA-4015-8485-78020561F8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3B01963-1E5F-4C5D-9CD9-7BF0C8737C72}" type="slidenum">
              <a:rPr lang="en-US" altLang="zh-CN" sz="1200" b="0" i="0" baseline="0" smtClean="0"/>
              <a:pPr/>
              <a:t>11</a:t>
            </a:fld>
            <a:endParaRPr lang="en-US" altLang="zh-CN" sz="1200" b="0" i="0" baseline="0"/>
          </a:p>
        </p:txBody>
      </p:sp>
      <p:sp>
        <p:nvSpPr>
          <p:cNvPr id="30723" name="Rectangle 2">
            <a:extLst>
              <a:ext uri="{FF2B5EF4-FFF2-40B4-BE49-F238E27FC236}">
                <a16:creationId xmlns:a16="http://schemas.microsoft.com/office/drawing/2014/main" id="{90F0E6BB-40D9-4CF3-BF86-098A36923EEF}"/>
              </a:ext>
            </a:extLst>
          </p:cNvPr>
          <p:cNvSpPr>
            <a:spLocks noGrp="1" noRot="1" noChangeAspect="1" noChangeArrowheads="1" noTextEdit="1"/>
          </p:cNvSpPr>
          <p:nvPr>
            <p:ph type="sldImg"/>
          </p:nvPr>
        </p:nvSpPr>
        <p:spPr>
          <a:xfrm>
            <a:off x="381000" y="685800"/>
            <a:ext cx="6096000" cy="3429000"/>
          </a:xfrm>
          <a:ln/>
        </p:spPr>
      </p:sp>
      <p:sp>
        <p:nvSpPr>
          <p:cNvPr id="30724" name="Rectangle 3">
            <a:extLst>
              <a:ext uri="{FF2B5EF4-FFF2-40B4-BE49-F238E27FC236}">
                <a16:creationId xmlns:a16="http://schemas.microsoft.com/office/drawing/2014/main" id="{8B65AC6B-4016-421D-848C-4F575FF480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F52836AD-16EE-4829-915B-38373EC094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978B659-A2B7-4A80-9DDD-6131485D4115}" type="slidenum">
              <a:rPr lang="en-US" altLang="zh-CN" sz="1200" b="0" i="0" baseline="0" smtClean="0"/>
              <a:pPr/>
              <a:t>12</a:t>
            </a:fld>
            <a:endParaRPr lang="en-US" altLang="zh-CN" sz="1200" b="0" i="0" baseline="0"/>
          </a:p>
        </p:txBody>
      </p:sp>
      <p:sp>
        <p:nvSpPr>
          <p:cNvPr id="32771" name="Rectangle 2">
            <a:extLst>
              <a:ext uri="{FF2B5EF4-FFF2-40B4-BE49-F238E27FC236}">
                <a16:creationId xmlns:a16="http://schemas.microsoft.com/office/drawing/2014/main" id="{3210D9AB-BE4E-4B03-90E3-6D2108D77526}"/>
              </a:ext>
            </a:extLst>
          </p:cNvPr>
          <p:cNvSpPr>
            <a:spLocks noGrp="1" noRot="1" noChangeAspect="1" noChangeArrowheads="1" noTextEdit="1"/>
          </p:cNvSpPr>
          <p:nvPr>
            <p:ph type="sldImg"/>
          </p:nvPr>
        </p:nvSpPr>
        <p:spPr>
          <a:xfrm>
            <a:off x="381000" y="685800"/>
            <a:ext cx="6096000" cy="3429000"/>
          </a:xfrm>
          <a:ln/>
        </p:spPr>
      </p:sp>
      <p:sp>
        <p:nvSpPr>
          <p:cNvPr id="32772" name="Rectangle 3">
            <a:extLst>
              <a:ext uri="{FF2B5EF4-FFF2-40B4-BE49-F238E27FC236}">
                <a16:creationId xmlns:a16="http://schemas.microsoft.com/office/drawing/2014/main" id="{0E482287-1B93-4FBF-871C-6FDA8CD16A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7D8F1141-A8F1-4D84-BC0F-68999125B4E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6DC99A3-214A-4F07-A5B1-855AF7224309}" type="slidenum">
              <a:rPr lang="en-US" altLang="zh-CN" sz="1200" b="0" i="0" baseline="0" smtClean="0"/>
              <a:pPr/>
              <a:t>13</a:t>
            </a:fld>
            <a:endParaRPr lang="en-US" altLang="zh-CN" sz="1200" b="0" i="0" baseline="0"/>
          </a:p>
        </p:txBody>
      </p:sp>
      <p:sp>
        <p:nvSpPr>
          <p:cNvPr id="34819" name="Rectangle 2">
            <a:extLst>
              <a:ext uri="{FF2B5EF4-FFF2-40B4-BE49-F238E27FC236}">
                <a16:creationId xmlns:a16="http://schemas.microsoft.com/office/drawing/2014/main" id="{EC4687E2-11F1-4D8D-87E1-9C8C0D012545}"/>
              </a:ext>
            </a:extLst>
          </p:cNvPr>
          <p:cNvSpPr>
            <a:spLocks noGrp="1" noRot="1" noChangeAspect="1" noChangeArrowheads="1" noTextEdit="1"/>
          </p:cNvSpPr>
          <p:nvPr>
            <p:ph type="sldImg"/>
          </p:nvPr>
        </p:nvSpPr>
        <p:spPr>
          <a:xfrm>
            <a:off x="381000" y="685800"/>
            <a:ext cx="6096000" cy="3429000"/>
          </a:xfrm>
          <a:ln/>
        </p:spPr>
      </p:sp>
      <p:sp>
        <p:nvSpPr>
          <p:cNvPr id="34820" name="Rectangle 3">
            <a:extLst>
              <a:ext uri="{FF2B5EF4-FFF2-40B4-BE49-F238E27FC236}">
                <a16:creationId xmlns:a16="http://schemas.microsoft.com/office/drawing/2014/main" id="{6D354160-5F81-4CED-80F1-D7C1A156F8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08FACF6C-E756-4015-8B74-264CE8B906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4D324AF-71F3-4523-952A-1A91BC390D2C}" type="slidenum">
              <a:rPr lang="en-US" altLang="zh-CN" sz="1200" b="0" i="0" baseline="0" smtClean="0"/>
              <a:pPr/>
              <a:t>14</a:t>
            </a:fld>
            <a:endParaRPr lang="en-US" altLang="zh-CN" sz="1200" b="0" i="0" baseline="0"/>
          </a:p>
        </p:txBody>
      </p:sp>
      <p:sp>
        <p:nvSpPr>
          <p:cNvPr id="38915" name="Rectangle 2">
            <a:extLst>
              <a:ext uri="{FF2B5EF4-FFF2-40B4-BE49-F238E27FC236}">
                <a16:creationId xmlns:a16="http://schemas.microsoft.com/office/drawing/2014/main" id="{72C3EBE9-0412-4A4E-AF8F-066240F304C7}"/>
              </a:ext>
            </a:extLst>
          </p:cNvPr>
          <p:cNvSpPr>
            <a:spLocks noGrp="1" noRot="1" noChangeAspect="1" noChangeArrowheads="1" noTextEdit="1"/>
          </p:cNvSpPr>
          <p:nvPr>
            <p:ph type="sldImg"/>
          </p:nvPr>
        </p:nvSpPr>
        <p:spPr>
          <a:xfrm>
            <a:off x="381000" y="685800"/>
            <a:ext cx="6096000" cy="3429000"/>
          </a:xfrm>
          <a:ln/>
        </p:spPr>
      </p:sp>
      <p:sp>
        <p:nvSpPr>
          <p:cNvPr id="38916" name="Rectangle 3">
            <a:extLst>
              <a:ext uri="{FF2B5EF4-FFF2-40B4-BE49-F238E27FC236}">
                <a16:creationId xmlns:a16="http://schemas.microsoft.com/office/drawing/2014/main" id="{540174D1-93CA-4FBE-85CA-293A33C3FE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F438145F-9A43-4B18-AD99-DD8AA2658DD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33982B2-8283-473A-A895-63501E208251}" type="slidenum">
              <a:rPr lang="en-US" altLang="zh-CN" sz="1200" b="0" i="0" baseline="0" smtClean="0"/>
              <a:pPr/>
              <a:t>15</a:t>
            </a:fld>
            <a:endParaRPr lang="en-US" altLang="zh-CN" sz="1200" b="0" i="0" baseline="0"/>
          </a:p>
        </p:txBody>
      </p:sp>
      <p:sp>
        <p:nvSpPr>
          <p:cNvPr id="40963" name="Rectangle 2">
            <a:extLst>
              <a:ext uri="{FF2B5EF4-FFF2-40B4-BE49-F238E27FC236}">
                <a16:creationId xmlns:a16="http://schemas.microsoft.com/office/drawing/2014/main" id="{347F028B-0CE0-4433-B272-73D5658DF801}"/>
              </a:ext>
            </a:extLst>
          </p:cNvPr>
          <p:cNvSpPr>
            <a:spLocks noGrp="1" noRot="1" noChangeAspect="1" noChangeArrowheads="1" noTextEdit="1"/>
          </p:cNvSpPr>
          <p:nvPr>
            <p:ph type="sldImg"/>
          </p:nvPr>
        </p:nvSpPr>
        <p:spPr>
          <a:xfrm>
            <a:off x="381000" y="685800"/>
            <a:ext cx="6096000" cy="3429000"/>
          </a:xfrm>
          <a:ln/>
        </p:spPr>
      </p:sp>
      <p:sp>
        <p:nvSpPr>
          <p:cNvPr id="40964" name="Rectangle 3">
            <a:extLst>
              <a:ext uri="{FF2B5EF4-FFF2-40B4-BE49-F238E27FC236}">
                <a16:creationId xmlns:a16="http://schemas.microsoft.com/office/drawing/2014/main" id="{729AAD1E-78AE-4DAB-B645-0F2288C93E4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B984575-C16D-4D5A-8F29-ABB19FD242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A09243F-E702-412E-9F91-E5C7A7A53398}" type="slidenum">
              <a:rPr lang="en-US" altLang="zh-CN" sz="1200" b="0" i="0" baseline="0" smtClean="0"/>
              <a:pPr/>
              <a:t>16</a:t>
            </a:fld>
            <a:endParaRPr lang="en-US" altLang="zh-CN" sz="1200" b="0" i="0" baseline="0"/>
          </a:p>
        </p:txBody>
      </p:sp>
      <p:sp>
        <p:nvSpPr>
          <p:cNvPr id="45059" name="Rectangle 2">
            <a:extLst>
              <a:ext uri="{FF2B5EF4-FFF2-40B4-BE49-F238E27FC236}">
                <a16:creationId xmlns:a16="http://schemas.microsoft.com/office/drawing/2014/main" id="{B4B45179-EBF5-4D97-BB81-99ADB2A4E0FA}"/>
              </a:ext>
            </a:extLst>
          </p:cNvPr>
          <p:cNvSpPr>
            <a:spLocks noGrp="1" noRot="1" noChangeAspect="1" noChangeArrowheads="1" noTextEdit="1"/>
          </p:cNvSpPr>
          <p:nvPr>
            <p:ph type="sldImg"/>
          </p:nvPr>
        </p:nvSpPr>
        <p:spPr>
          <a:xfrm>
            <a:off x="381000" y="685800"/>
            <a:ext cx="6096000" cy="3429000"/>
          </a:xfrm>
          <a:ln/>
        </p:spPr>
      </p:sp>
      <p:sp>
        <p:nvSpPr>
          <p:cNvPr id="45060" name="Rectangle 3">
            <a:extLst>
              <a:ext uri="{FF2B5EF4-FFF2-40B4-BE49-F238E27FC236}">
                <a16:creationId xmlns:a16="http://schemas.microsoft.com/office/drawing/2014/main" id="{4810E3DF-8924-49C4-812E-C0A7C1AE3E0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143113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FDD8E3D-0F30-4B51-AFB0-C020F057C6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95E4D3E-B06B-4A9E-B14C-304CD8D9B070}" type="slidenum">
              <a:rPr lang="en-US" altLang="zh-CN" sz="1200" b="0" i="0" baseline="0" smtClean="0"/>
              <a:pPr/>
              <a:t>17</a:t>
            </a:fld>
            <a:endParaRPr lang="en-US" altLang="zh-CN" sz="1200" b="0" i="0" baseline="0"/>
          </a:p>
        </p:txBody>
      </p:sp>
      <p:sp>
        <p:nvSpPr>
          <p:cNvPr id="49155" name="Rectangle 2">
            <a:extLst>
              <a:ext uri="{FF2B5EF4-FFF2-40B4-BE49-F238E27FC236}">
                <a16:creationId xmlns:a16="http://schemas.microsoft.com/office/drawing/2014/main" id="{1669495F-FA98-43EF-807F-6A44913D8093}"/>
              </a:ext>
            </a:extLst>
          </p:cNvPr>
          <p:cNvSpPr>
            <a:spLocks noGrp="1" noRot="1" noChangeAspect="1" noChangeArrowheads="1" noTextEdit="1"/>
          </p:cNvSpPr>
          <p:nvPr>
            <p:ph type="sldImg"/>
          </p:nvPr>
        </p:nvSpPr>
        <p:spPr>
          <a:xfrm>
            <a:off x="381000" y="685800"/>
            <a:ext cx="6096000" cy="3429000"/>
          </a:xfrm>
          <a:ln/>
        </p:spPr>
      </p:sp>
      <p:sp>
        <p:nvSpPr>
          <p:cNvPr id="49156" name="Rectangle 3">
            <a:extLst>
              <a:ext uri="{FF2B5EF4-FFF2-40B4-BE49-F238E27FC236}">
                <a16:creationId xmlns:a16="http://schemas.microsoft.com/office/drawing/2014/main" id="{97879410-3B94-432B-9743-326A410B9B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D9D8AC4A-DED5-44B1-A34F-3849999228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A38E561E-1543-4EF5-923D-F5D782265DAC}" type="slidenum">
              <a:rPr lang="en-US" altLang="zh-CN" sz="1200" b="0" i="0" baseline="0" smtClean="0"/>
              <a:pPr/>
              <a:t>21</a:t>
            </a:fld>
            <a:endParaRPr lang="en-US" altLang="zh-CN" sz="1200" b="0" i="0" baseline="0"/>
          </a:p>
        </p:txBody>
      </p:sp>
      <p:sp>
        <p:nvSpPr>
          <p:cNvPr id="56323" name="Rectangle 2">
            <a:extLst>
              <a:ext uri="{FF2B5EF4-FFF2-40B4-BE49-F238E27FC236}">
                <a16:creationId xmlns:a16="http://schemas.microsoft.com/office/drawing/2014/main" id="{70C461BC-0AB0-4876-ADA8-4787ACE7416A}"/>
              </a:ext>
            </a:extLst>
          </p:cNvPr>
          <p:cNvSpPr>
            <a:spLocks noGrp="1" noRot="1" noChangeAspect="1" noChangeArrowheads="1" noTextEdit="1"/>
          </p:cNvSpPr>
          <p:nvPr>
            <p:ph type="sldImg"/>
          </p:nvPr>
        </p:nvSpPr>
        <p:spPr>
          <a:xfrm>
            <a:off x="381000" y="685800"/>
            <a:ext cx="6096000" cy="3429000"/>
          </a:xfrm>
          <a:ln/>
        </p:spPr>
      </p:sp>
      <p:sp>
        <p:nvSpPr>
          <p:cNvPr id="56324" name="Rectangle 3">
            <a:extLst>
              <a:ext uri="{FF2B5EF4-FFF2-40B4-BE49-F238E27FC236}">
                <a16:creationId xmlns:a16="http://schemas.microsoft.com/office/drawing/2014/main" id="{CC3B47BA-CFA8-4239-8957-D414CE85900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81EE647A-643D-41D7-AC64-2FBE875A4B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E8B12BDA-4C10-4F2B-9C17-6E0D491C68FF}" type="slidenum">
              <a:rPr lang="en-US" altLang="zh-CN" sz="1200" b="0" i="0" baseline="0" smtClean="0"/>
              <a:pPr/>
              <a:t>22</a:t>
            </a:fld>
            <a:endParaRPr lang="en-US" altLang="zh-CN" sz="1200" b="0" i="0" baseline="0"/>
          </a:p>
        </p:txBody>
      </p:sp>
      <p:sp>
        <p:nvSpPr>
          <p:cNvPr id="58371" name="Rectangle 2">
            <a:extLst>
              <a:ext uri="{FF2B5EF4-FFF2-40B4-BE49-F238E27FC236}">
                <a16:creationId xmlns:a16="http://schemas.microsoft.com/office/drawing/2014/main" id="{543C7136-FEB8-4938-B4F2-6956BFD6E00C}"/>
              </a:ext>
            </a:extLst>
          </p:cNvPr>
          <p:cNvSpPr>
            <a:spLocks noGrp="1" noRot="1" noChangeAspect="1" noChangeArrowheads="1" noTextEdit="1"/>
          </p:cNvSpPr>
          <p:nvPr>
            <p:ph type="sldImg"/>
          </p:nvPr>
        </p:nvSpPr>
        <p:spPr>
          <a:xfrm>
            <a:off x="381000" y="685800"/>
            <a:ext cx="6096000" cy="3429000"/>
          </a:xfrm>
          <a:ln/>
        </p:spPr>
      </p:sp>
      <p:sp>
        <p:nvSpPr>
          <p:cNvPr id="58372" name="Rectangle 3">
            <a:extLst>
              <a:ext uri="{FF2B5EF4-FFF2-40B4-BE49-F238E27FC236}">
                <a16:creationId xmlns:a16="http://schemas.microsoft.com/office/drawing/2014/main" id="{D5E0BEDE-56E1-4266-947E-69022030A3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gn="just">
              <a:lnSpc>
                <a:spcPct val="200000"/>
              </a:lnSpc>
              <a:buClr>
                <a:srgbClr val="FF0000"/>
              </a:buClr>
              <a:buSzPct val="60000"/>
            </a:pPr>
            <a:r>
              <a:rPr lang="zh-CN" altLang="en-US" sz="1200" b="0" i="0" baseline="0" dirty="0">
                <a:latin typeface="微软雅黑" panose="020B0503020204020204" pitchFamily="34" charset="-122"/>
                <a:ea typeface="微软雅黑" panose="020B0503020204020204" pitchFamily="34" charset="-122"/>
                <a:cs typeface="Times New Roman" panose="02020603050405020304" pitchFamily="18" charset="0"/>
              </a:rPr>
              <a:t>带冲突检测的载波监听多路访问</a:t>
            </a:r>
            <a:r>
              <a:rPr lang="en-US" altLang="zh-CN" sz="1200" b="0" i="0" baseline="0" dirty="0">
                <a:latin typeface="微软雅黑" panose="020B0503020204020204" pitchFamily="34" charset="-122"/>
                <a:ea typeface="微软雅黑" panose="020B0503020204020204" pitchFamily="34" charset="-122"/>
                <a:cs typeface="Times New Roman" panose="02020603050405020304" pitchFamily="18" charset="0"/>
              </a:rPr>
              <a:t>CSMA/CD</a:t>
            </a:r>
            <a:r>
              <a:rPr lang="zh-CN" altLang="en-US" sz="1200" b="0" i="0" baseline="0" dirty="0">
                <a:latin typeface="微软雅黑" panose="020B0503020204020204" pitchFamily="34" charset="-122"/>
                <a:ea typeface="微软雅黑" panose="020B0503020204020204" pitchFamily="34" charset="-122"/>
                <a:cs typeface="Times New Roman" panose="02020603050405020304" pitchFamily="18" charset="0"/>
              </a:rPr>
              <a:t>是 </a:t>
            </a:r>
            <a:r>
              <a:rPr lang="en-US" altLang="zh-CN" sz="1200" b="0" i="0" baseline="0" dirty="0">
                <a:latin typeface="微软雅黑" panose="020B0503020204020204" pitchFamily="34" charset="-122"/>
                <a:ea typeface="微软雅黑" panose="020B0503020204020204" pitchFamily="34" charset="-122"/>
                <a:cs typeface="Times New Roman" panose="02020603050405020304" pitchFamily="18" charset="0"/>
              </a:rPr>
              <a:t>IEEE 802.3 </a:t>
            </a:r>
            <a:r>
              <a:rPr lang="zh-CN" altLang="en-US" sz="1200" b="0" i="0" baseline="0" dirty="0">
                <a:latin typeface="微软雅黑" panose="020B0503020204020204" pitchFamily="34" charset="-122"/>
                <a:ea typeface="微软雅黑" panose="020B0503020204020204" pitchFamily="34" charset="-122"/>
                <a:cs typeface="Times New Roman" panose="02020603050405020304" pitchFamily="18" charset="0"/>
              </a:rPr>
              <a:t>使用的一种媒体访问控制方法，规定了冲突处理的算法。它起源于美国夏威夷大学开发的</a:t>
            </a:r>
            <a:r>
              <a:rPr lang="en-US" altLang="zh-CN" sz="1200" b="0" i="0" baseline="0" dirty="0">
                <a:latin typeface="微软雅黑" panose="020B0503020204020204" pitchFamily="34" charset="-122"/>
                <a:ea typeface="微软雅黑" panose="020B0503020204020204" pitchFamily="34" charset="-122"/>
                <a:cs typeface="Times New Roman" panose="02020603050405020304" pitchFamily="18" charset="0"/>
              </a:rPr>
              <a:t>ALOHA</a:t>
            </a:r>
            <a:r>
              <a:rPr lang="zh-CN" altLang="en-US" sz="1200" b="0" i="0" baseline="0" dirty="0">
                <a:latin typeface="微软雅黑" panose="020B0503020204020204" pitchFamily="34" charset="-122"/>
                <a:ea typeface="微软雅黑" panose="020B0503020204020204" pitchFamily="34" charset="-122"/>
                <a:cs typeface="Times New Roman" panose="02020603050405020304" pitchFamily="18" charset="0"/>
              </a:rPr>
              <a:t>协议，改进后具有比</a:t>
            </a:r>
            <a:r>
              <a:rPr lang="en-US" altLang="zh-CN" sz="1200" b="0" i="0" baseline="0" dirty="0">
                <a:latin typeface="微软雅黑" panose="020B0503020204020204" pitchFamily="34" charset="-122"/>
                <a:ea typeface="微软雅黑" panose="020B0503020204020204" pitchFamily="34" charset="-122"/>
                <a:cs typeface="Times New Roman" panose="02020603050405020304" pitchFamily="18" charset="0"/>
              </a:rPr>
              <a:t>ALOHA</a:t>
            </a:r>
            <a:r>
              <a:rPr lang="zh-CN" altLang="en-US" sz="1200" b="0" i="0" baseline="0" dirty="0">
                <a:latin typeface="微软雅黑" panose="020B0503020204020204" pitchFamily="34" charset="-122"/>
                <a:ea typeface="微软雅黑" panose="020B0503020204020204" pitchFamily="34" charset="-122"/>
                <a:cs typeface="Times New Roman" panose="02020603050405020304" pitchFamily="18" charset="0"/>
              </a:rPr>
              <a:t>协议更高的介质利用率，主要应用于总线型以太网中。另一个改进是，每个站点一旦检测到有冲突，就会放弃当前的传送任务，快速地终止被损坏的帧可以节省时间和带宽。</a:t>
            </a:r>
            <a:endParaRPr lang="en-US" altLang="zh-CN" sz="12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200000"/>
              </a:lnSpc>
              <a:buClr>
                <a:srgbClr val="FF0000"/>
              </a:buClr>
              <a:buSzPct val="60000"/>
            </a:pPr>
            <a:endParaRPr lang="en-US" altLang="zh-CN" sz="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200000"/>
              </a:lnSpc>
              <a:buClr>
                <a:srgbClr val="FF0000"/>
              </a:buClr>
              <a:buSzPct val="60000"/>
            </a:pPr>
            <a:r>
              <a:rPr lang="en-US" altLang="zh-CN" sz="1200" b="0" i="0" baseline="0" dirty="0">
                <a:latin typeface="微软雅黑" panose="020B0503020204020204" pitchFamily="34" charset="-122"/>
                <a:ea typeface="微软雅黑" panose="020B0503020204020204" pitchFamily="34" charset="-122"/>
                <a:cs typeface="Times New Roman" panose="02020603050405020304" pitchFamily="18" charset="0"/>
              </a:rPr>
              <a:t>CSMA/CD</a:t>
            </a:r>
            <a:r>
              <a:rPr lang="zh-CN" altLang="en-US" sz="1200" b="0" i="0" baseline="0" dirty="0">
                <a:latin typeface="微软雅黑" panose="020B0503020204020204" pitchFamily="34" charset="-122"/>
                <a:ea typeface="微软雅黑" panose="020B0503020204020204" pitchFamily="34" charset="-122"/>
                <a:cs typeface="Times New Roman" panose="02020603050405020304" pitchFamily="18" charset="0"/>
              </a:rPr>
              <a:t>基本原理是：所有节点都共享网络传输信道，节点在发送数据之前，首先检测信道是否空闲，如果信道空闲则发送，否则就等待；在发送出信息后，再对冲突进行检测，当发现冲突时，取消发送。</a:t>
            </a:r>
            <a:endParaRPr lang="en-US" altLang="zh-CN" sz="12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29044EF-AB59-4F7C-BBB7-F088631EB0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9040EAD-43BA-4B0A-9627-A2A5471E5BF0}" type="slidenum">
              <a:rPr lang="en-US" altLang="zh-CN" sz="1200" b="0" i="0" baseline="0" smtClean="0"/>
              <a:pPr/>
              <a:t>23</a:t>
            </a:fld>
            <a:endParaRPr lang="en-US" altLang="zh-CN" sz="1200" b="0" i="0" baseline="0"/>
          </a:p>
        </p:txBody>
      </p:sp>
      <p:sp>
        <p:nvSpPr>
          <p:cNvPr id="62467" name="Rectangle 2">
            <a:extLst>
              <a:ext uri="{FF2B5EF4-FFF2-40B4-BE49-F238E27FC236}">
                <a16:creationId xmlns:a16="http://schemas.microsoft.com/office/drawing/2014/main" id="{17611E6B-087D-45AD-A138-7F54A69B3337}"/>
              </a:ext>
            </a:extLst>
          </p:cNvPr>
          <p:cNvSpPr>
            <a:spLocks noGrp="1" noRot="1" noChangeAspect="1" noChangeArrowheads="1" noTextEdit="1"/>
          </p:cNvSpPr>
          <p:nvPr>
            <p:ph type="sldImg"/>
          </p:nvPr>
        </p:nvSpPr>
        <p:spPr>
          <a:xfrm>
            <a:off x="381000" y="685800"/>
            <a:ext cx="6096000" cy="3429000"/>
          </a:xfrm>
          <a:ln/>
        </p:spPr>
      </p:sp>
      <p:sp>
        <p:nvSpPr>
          <p:cNvPr id="62468" name="Rectangle 3">
            <a:extLst>
              <a:ext uri="{FF2B5EF4-FFF2-40B4-BE49-F238E27FC236}">
                <a16:creationId xmlns:a16="http://schemas.microsoft.com/office/drawing/2014/main" id="{9CCCCD75-F5C0-4314-AF47-475762A818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B6BD390E-5558-4337-9E46-3A50F211DF43}"/>
              </a:ext>
            </a:extLst>
          </p:cNvPr>
          <p:cNvSpPr>
            <a:spLocks noGrp="1" noRot="1" noChangeAspect="1" noChangeArrowheads="1" noTextEdit="1"/>
          </p:cNvSpPr>
          <p:nvPr>
            <p:ph type="sldImg"/>
          </p:nvPr>
        </p:nvSpPr>
        <p:spPr>
          <a:xfrm>
            <a:off x="381000" y="685800"/>
            <a:ext cx="6096000" cy="3429000"/>
          </a:xfrm>
          <a:ln/>
        </p:spPr>
      </p:sp>
      <p:sp>
        <p:nvSpPr>
          <p:cNvPr id="67587" name="备注占位符 2">
            <a:extLst>
              <a:ext uri="{FF2B5EF4-FFF2-40B4-BE49-F238E27FC236}">
                <a16:creationId xmlns:a16="http://schemas.microsoft.com/office/drawing/2014/main" id="{0A5319BC-F9FA-4BD0-84C9-5FD122EDA6B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8" name="灯片编号占位符 3">
            <a:extLst>
              <a:ext uri="{FF2B5EF4-FFF2-40B4-BE49-F238E27FC236}">
                <a16:creationId xmlns:a16="http://schemas.microsoft.com/office/drawing/2014/main" id="{02B3A260-EFED-49F7-89F4-F61E274D7E2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55E0B1D-CB61-4757-AFC1-5AC819CD2C1C}" type="slidenum">
              <a:rPr lang="zh-CN" altLang="en-US" sz="1200" b="0" i="0" baseline="0" smtClean="0"/>
              <a:pPr/>
              <a:t>24</a:t>
            </a:fld>
            <a:endParaRPr lang="en-US" altLang="zh-CN" sz="1200" b="0" i="0" baseline="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969EBADE-9A77-44D0-BE31-4EA25E1C96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4E151A0-A39E-416E-8EA7-B370F60DF0AA}" type="slidenum">
              <a:rPr lang="en-US" altLang="zh-CN" sz="1200" b="0" i="0" baseline="0" smtClean="0"/>
              <a:pPr/>
              <a:t>25</a:t>
            </a:fld>
            <a:endParaRPr lang="en-US" altLang="zh-CN" sz="1200" b="0" i="0" baseline="0"/>
          </a:p>
        </p:txBody>
      </p:sp>
      <p:sp>
        <p:nvSpPr>
          <p:cNvPr id="69635" name="Rectangle 2">
            <a:extLst>
              <a:ext uri="{FF2B5EF4-FFF2-40B4-BE49-F238E27FC236}">
                <a16:creationId xmlns:a16="http://schemas.microsoft.com/office/drawing/2014/main" id="{0C76C5BC-53FF-426E-A40E-FA0646BA17A9}"/>
              </a:ext>
            </a:extLst>
          </p:cNvPr>
          <p:cNvSpPr>
            <a:spLocks noGrp="1" noRot="1" noChangeAspect="1" noChangeArrowheads="1" noTextEdit="1"/>
          </p:cNvSpPr>
          <p:nvPr>
            <p:ph type="sldImg"/>
          </p:nvPr>
        </p:nvSpPr>
        <p:spPr>
          <a:xfrm>
            <a:off x="381000" y="685800"/>
            <a:ext cx="6096000" cy="3429000"/>
          </a:xfrm>
          <a:ln/>
        </p:spPr>
      </p:sp>
      <p:sp>
        <p:nvSpPr>
          <p:cNvPr id="69636" name="Rectangle 3">
            <a:extLst>
              <a:ext uri="{FF2B5EF4-FFF2-40B4-BE49-F238E27FC236}">
                <a16:creationId xmlns:a16="http://schemas.microsoft.com/office/drawing/2014/main" id="{4C4BDB84-0DC0-410A-91D3-9DF2538223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47095A4-9813-4766-9AB5-8E535D75BC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BFD7F7B-D5B0-45D8-A4C7-D3FCB0BBE761}" type="slidenum">
              <a:rPr lang="en-US" altLang="zh-CN" sz="1200" b="0" i="0" baseline="0" smtClean="0"/>
              <a:pPr/>
              <a:t>26</a:t>
            </a:fld>
            <a:endParaRPr lang="en-US" altLang="zh-CN" sz="1200" b="0" i="0" baseline="0"/>
          </a:p>
        </p:txBody>
      </p:sp>
      <p:sp>
        <p:nvSpPr>
          <p:cNvPr id="71683" name="Rectangle 2">
            <a:extLst>
              <a:ext uri="{FF2B5EF4-FFF2-40B4-BE49-F238E27FC236}">
                <a16:creationId xmlns:a16="http://schemas.microsoft.com/office/drawing/2014/main" id="{030E79BC-B6A3-405D-A190-9E519DADF897}"/>
              </a:ext>
            </a:extLst>
          </p:cNvPr>
          <p:cNvSpPr>
            <a:spLocks noGrp="1" noRot="1" noChangeAspect="1" noChangeArrowheads="1" noTextEdit="1"/>
          </p:cNvSpPr>
          <p:nvPr>
            <p:ph type="sldImg"/>
          </p:nvPr>
        </p:nvSpPr>
        <p:spPr>
          <a:xfrm>
            <a:off x="381000" y="685800"/>
            <a:ext cx="6096000" cy="3429000"/>
          </a:xfrm>
          <a:ln/>
        </p:spPr>
      </p:sp>
      <p:sp>
        <p:nvSpPr>
          <p:cNvPr id="71684" name="Rectangle 3">
            <a:extLst>
              <a:ext uri="{FF2B5EF4-FFF2-40B4-BE49-F238E27FC236}">
                <a16:creationId xmlns:a16="http://schemas.microsoft.com/office/drawing/2014/main" id="{1D8C96D2-B839-496E-ABEB-F236046223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DCF28CD5-9F97-400C-A7EF-B2248D223C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957B4F1-0B8F-42BF-B070-A8B13C93D0E5}" type="slidenum">
              <a:rPr lang="en-US" altLang="zh-CN" sz="1200" b="0" i="0" baseline="0" smtClean="0"/>
              <a:pPr/>
              <a:t>27</a:t>
            </a:fld>
            <a:endParaRPr lang="en-US" altLang="zh-CN" sz="1200" b="0" i="0" baseline="0"/>
          </a:p>
        </p:txBody>
      </p:sp>
      <p:sp>
        <p:nvSpPr>
          <p:cNvPr id="73731" name="Rectangle 2">
            <a:extLst>
              <a:ext uri="{FF2B5EF4-FFF2-40B4-BE49-F238E27FC236}">
                <a16:creationId xmlns:a16="http://schemas.microsoft.com/office/drawing/2014/main" id="{2A8CF24C-4059-4DA3-9B7E-2008D03549DC}"/>
              </a:ext>
            </a:extLst>
          </p:cNvPr>
          <p:cNvSpPr>
            <a:spLocks noGrp="1" noRot="1" noChangeAspect="1" noChangeArrowheads="1" noTextEdit="1"/>
          </p:cNvSpPr>
          <p:nvPr>
            <p:ph type="sldImg"/>
          </p:nvPr>
        </p:nvSpPr>
        <p:spPr>
          <a:xfrm>
            <a:off x="381000" y="685800"/>
            <a:ext cx="6096000" cy="3429000"/>
          </a:xfrm>
          <a:ln/>
        </p:spPr>
      </p:sp>
      <p:sp>
        <p:nvSpPr>
          <p:cNvPr id="73732" name="Rectangle 3">
            <a:extLst>
              <a:ext uri="{FF2B5EF4-FFF2-40B4-BE49-F238E27FC236}">
                <a16:creationId xmlns:a16="http://schemas.microsoft.com/office/drawing/2014/main" id="{7D3B5955-5340-4F83-ACF6-EA11EF3FFBB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0" i="0" baseline="0" dirty="0">
                <a:solidFill>
                  <a:srgbClr val="000000"/>
                </a:solidFill>
                <a:latin typeface="微软雅黑" panose="020B0503020204020204" pitchFamily="34" charset="-122"/>
                <a:ea typeface="微软雅黑" panose="020B0503020204020204" pitchFamily="34" charset="-122"/>
              </a:rPr>
              <a:t>“冲突检测”要求一个站点在发送本站数据的同时，还必须不间断地检测信道，但接收到的信号强度往往会远远小于发送信号的强度，在无线局域网的设备中要实现这种功能就花费过大。即使能够实现冲突检测的功能，并且在发送数据时检测到信道是空闲的时候，在接收端仍然有可能发生冲突。</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11A2459-2B86-4805-AE00-1D520EB45A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BE38E19-6648-47E2-9E9D-C25F95459499}" type="slidenum">
              <a:rPr lang="en-US" altLang="zh-CN" sz="1200" b="0" i="0" baseline="0" smtClean="0"/>
              <a:pPr/>
              <a:t>28</a:t>
            </a:fld>
            <a:endParaRPr lang="en-US" altLang="zh-CN" sz="1200" b="0" i="0" baseline="0"/>
          </a:p>
        </p:txBody>
      </p:sp>
      <p:sp>
        <p:nvSpPr>
          <p:cNvPr id="78851" name="Rectangle 2">
            <a:extLst>
              <a:ext uri="{FF2B5EF4-FFF2-40B4-BE49-F238E27FC236}">
                <a16:creationId xmlns:a16="http://schemas.microsoft.com/office/drawing/2014/main" id="{970360E9-5DFD-45DC-A736-A71EA93DC276}"/>
              </a:ext>
            </a:extLst>
          </p:cNvPr>
          <p:cNvSpPr>
            <a:spLocks noGrp="1" noRot="1" noChangeAspect="1" noChangeArrowheads="1" noTextEdit="1"/>
          </p:cNvSpPr>
          <p:nvPr>
            <p:ph type="sldImg"/>
          </p:nvPr>
        </p:nvSpPr>
        <p:spPr>
          <a:xfrm>
            <a:off x="381000" y="685800"/>
            <a:ext cx="6096000" cy="3429000"/>
          </a:xfrm>
          <a:ln/>
        </p:spPr>
      </p:sp>
      <p:sp>
        <p:nvSpPr>
          <p:cNvPr id="78852" name="Rectangle 3">
            <a:extLst>
              <a:ext uri="{FF2B5EF4-FFF2-40B4-BE49-F238E27FC236}">
                <a16:creationId xmlns:a16="http://schemas.microsoft.com/office/drawing/2014/main" id="{7D0ACF88-4E1E-48D1-A407-C5EE72FFC8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CED37A5E-C518-405D-A468-F1E58B8AAE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ECCEF303-B48D-4637-A839-EA71E7A4ADA1}" type="slidenum">
              <a:rPr lang="en-US" altLang="zh-CN" sz="1200" b="0" i="0" baseline="0" smtClean="0"/>
              <a:pPr/>
              <a:t>29</a:t>
            </a:fld>
            <a:endParaRPr lang="en-US" altLang="zh-CN" sz="1200" b="0" i="0" baseline="0"/>
          </a:p>
        </p:txBody>
      </p:sp>
      <p:sp>
        <p:nvSpPr>
          <p:cNvPr id="82947" name="Rectangle 2">
            <a:extLst>
              <a:ext uri="{FF2B5EF4-FFF2-40B4-BE49-F238E27FC236}">
                <a16:creationId xmlns:a16="http://schemas.microsoft.com/office/drawing/2014/main" id="{C0592160-31C5-4A9E-AE38-AF7A5E77BF18}"/>
              </a:ext>
            </a:extLst>
          </p:cNvPr>
          <p:cNvSpPr>
            <a:spLocks noGrp="1" noRot="1" noChangeAspect="1" noChangeArrowheads="1" noTextEdit="1"/>
          </p:cNvSpPr>
          <p:nvPr>
            <p:ph type="sldImg"/>
          </p:nvPr>
        </p:nvSpPr>
        <p:spPr>
          <a:xfrm>
            <a:off x="381000" y="685800"/>
            <a:ext cx="6096000" cy="3429000"/>
          </a:xfrm>
          <a:ln/>
        </p:spPr>
      </p:sp>
      <p:sp>
        <p:nvSpPr>
          <p:cNvPr id="82948" name="Rectangle 3">
            <a:extLst>
              <a:ext uri="{FF2B5EF4-FFF2-40B4-BE49-F238E27FC236}">
                <a16:creationId xmlns:a16="http://schemas.microsoft.com/office/drawing/2014/main" id="{76884CCA-A273-4C08-96EE-3019A05A30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BE2D799F-102E-4935-9F7A-CB003247BE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016CA00-0C8D-48C7-951A-384ED5D16FC8}" type="slidenum">
              <a:rPr lang="en-US" altLang="zh-CN" sz="1200" b="0" i="0" baseline="0" smtClean="0"/>
              <a:pPr/>
              <a:t>30</a:t>
            </a:fld>
            <a:endParaRPr lang="en-US" altLang="zh-CN" sz="1200" b="0" i="0" baseline="0"/>
          </a:p>
        </p:txBody>
      </p:sp>
      <p:sp>
        <p:nvSpPr>
          <p:cNvPr id="84995" name="Rectangle 2">
            <a:extLst>
              <a:ext uri="{FF2B5EF4-FFF2-40B4-BE49-F238E27FC236}">
                <a16:creationId xmlns:a16="http://schemas.microsoft.com/office/drawing/2014/main" id="{20F85D35-C1F0-410E-876E-49539AB0DFE5}"/>
              </a:ext>
            </a:extLst>
          </p:cNvPr>
          <p:cNvSpPr>
            <a:spLocks noGrp="1" noRot="1" noChangeAspect="1" noChangeArrowheads="1" noTextEdit="1"/>
          </p:cNvSpPr>
          <p:nvPr>
            <p:ph type="sldImg"/>
          </p:nvPr>
        </p:nvSpPr>
        <p:spPr>
          <a:xfrm>
            <a:off x="381000" y="685800"/>
            <a:ext cx="6096000" cy="3429000"/>
          </a:xfrm>
          <a:ln/>
        </p:spPr>
      </p:sp>
      <p:sp>
        <p:nvSpPr>
          <p:cNvPr id="84996" name="Rectangle 3">
            <a:extLst>
              <a:ext uri="{FF2B5EF4-FFF2-40B4-BE49-F238E27FC236}">
                <a16:creationId xmlns:a16="http://schemas.microsoft.com/office/drawing/2014/main" id="{DBB5A47C-3BBE-433A-BDCE-D691F4E4857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0121BA-D15A-4C07-9083-A53F030281E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BD6B2E4-01AD-4652-9680-864449584245}" type="slidenum">
              <a:rPr lang="en-US" altLang="zh-CN" sz="1200" b="0" i="0" baseline="0" smtClean="0"/>
              <a:pPr/>
              <a:t>31</a:t>
            </a:fld>
            <a:endParaRPr lang="en-US" altLang="zh-CN" sz="1200" b="0" i="0" baseline="0"/>
          </a:p>
        </p:txBody>
      </p:sp>
      <p:sp>
        <p:nvSpPr>
          <p:cNvPr id="87043" name="Rectangle 2">
            <a:extLst>
              <a:ext uri="{FF2B5EF4-FFF2-40B4-BE49-F238E27FC236}">
                <a16:creationId xmlns:a16="http://schemas.microsoft.com/office/drawing/2014/main" id="{FA1CB8F9-3974-41B9-8221-EDFA40D89F92}"/>
              </a:ext>
            </a:extLst>
          </p:cNvPr>
          <p:cNvSpPr>
            <a:spLocks noGrp="1" noRot="1" noChangeAspect="1" noChangeArrowheads="1" noTextEdit="1"/>
          </p:cNvSpPr>
          <p:nvPr>
            <p:ph type="sldImg"/>
          </p:nvPr>
        </p:nvSpPr>
        <p:spPr>
          <a:xfrm>
            <a:off x="381000" y="685800"/>
            <a:ext cx="6096000" cy="3429000"/>
          </a:xfrm>
          <a:ln/>
        </p:spPr>
      </p:sp>
      <p:sp>
        <p:nvSpPr>
          <p:cNvPr id="87044" name="Rectangle 3">
            <a:extLst>
              <a:ext uri="{FF2B5EF4-FFF2-40B4-BE49-F238E27FC236}">
                <a16:creationId xmlns:a16="http://schemas.microsoft.com/office/drawing/2014/main" id="{9DF7F0B2-4F10-4648-86C9-84A3C1D9C9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397BE139-9C7B-4FB4-B2D3-BD36C99D27C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6078D731-44E6-4672-8D08-63013F23031B}" type="slidenum">
              <a:rPr lang="en-US" altLang="zh-CN" sz="1200" b="0" i="0" baseline="0" smtClean="0"/>
              <a:pPr/>
              <a:t>32</a:t>
            </a:fld>
            <a:endParaRPr lang="en-US" altLang="zh-CN" sz="1200" b="0" i="0" baseline="0"/>
          </a:p>
        </p:txBody>
      </p:sp>
      <p:sp>
        <p:nvSpPr>
          <p:cNvPr id="91139" name="Rectangle 2">
            <a:extLst>
              <a:ext uri="{FF2B5EF4-FFF2-40B4-BE49-F238E27FC236}">
                <a16:creationId xmlns:a16="http://schemas.microsoft.com/office/drawing/2014/main" id="{A85BA90D-D7EA-46C3-9429-7374CE7529E9}"/>
              </a:ext>
            </a:extLst>
          </p:cNvPr>
          <p:cNvSpPr>
            <a:spLocks noGrp="1" noRot="1" noChangeAspect="1" noChangeArrowheads="1" noTextEdit="1"/>
          </p:cNvSpPr>
          <p:nvPr>
            <p:ph type="sldImg"/>
          </p:nvPr>
        </p:nvSpPr>
        <p:spPr>
          <a:xfrm>
            <a:off x="381000" y="685800"/>
            <a:ext cx="6096000" cy="3429000"/>
          </a:xfrm>
          <a:ln/>
        </p:spPr>
      </p:sp>
      <p:sp>
        <p:nvSpPr>
          <p:cNvPr id="91140" name="Rectangle 3">
            <a:extLst>
              <a:ext uri="{FF2B5EF4-FFF2-40B4-BE49-F238E27FC236}">
                <a16:creationId xmlns:a16="http://schemas.microsoft.com/office/drawing/2014/main" id="{6A80E7ED-4E2F-47A1-8EA3-D64760C9402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19728800-C8CF-4E24-AFD5-6EF47AD414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BAE5FA5-63EF-4592-BC16-211B167C44B1}" type="slidenum">
              <a:rPr lang="en-US" altLang="zh-CN" sz="1200" b="0" i="0" baseline="0" smtClean="0"/>
              <a:pPr/>
              <a:t>33</a:t>
            </a:fld>
            <a:endParaRPr lang="en-US" altLang="zh-CN" sz="1200" b="0" i="0" baseline="0"/>
          </a:p>
        </p:txBody>
      </p:sp>
      <p:sp>
        <p:nvSpPr>
          <p:cNvPr id="93187" name="Rectangle 2">
            <a:extLst>
              <a:ext uri="{FF2B5EF4-FFF2-40B4-BE49-F238E27FC236}">
                <a16:creationId xmlns:a16="http://schemas.microsoft.com/office/drawing/2014/main" id="{CFC7A4AF-BF60-4B56-AADC-7D1B98AA2B44}"/>
              </a:ext>
            </a:extLst>
          </p:cNvPr>
          <p:cNvSpPr>
            <a:spLocks noGrp="1" noRot="1" noChangeAspect="1" noChangeArrowheads="1" noTextEdit="1"/>
          </p:cNvSpPr>
          <p:nvPr>
            <p:ph type="sldImg"/>
          </p:nvPr>
        </p:nvSpPr>
        <p:spPr>
          <a:xfrm>
            <a:off x="381000" y="685800"/>
            <a:ext cx="6096000" cy="3429000"/>
          </a:xfrm>
          <a:ln/>
        </p:spPr>
      </p:sp>
      <p:sp>
        <p:nvSpPr>
          <p:cNvPr id="93188" name="Rectangle 3">
            <a:extLst>
              <a:ext uri="{FF2B5EF4-FFF2-40B4-BE49-F238E27FC236}">
                <a16:creationId xmlns:a16="http://schemas.microsoft.com/office/drawing/2014/main" id="{6DE5FE61-8571-4375-9982-94B2772CBC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AFB1838C-DD27-40E1-BCF4-67DACE4C82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44C9542-D90A-47BF-9774-C86FF040C5CF}" type="slidenum">
              <a:rPr lang="en-US" altLang="zh-CN" sz="1200" b="0" i="0" baseline="0" smtClean="0"/>
              <a:pPr/>
              <a:t>34</a:t>
            </a:fld>
            <a:endParaRPr lang="en-US" altLang="zh-CN" sz="1200" b="0" i="0" baseline="0"/>
          </a:p>
        </p:txBody>
      </p:sp>
      <p:sp>
        <p:nvSpPr>
          <p:cNvPr id="95235" name="Rectangle 2">
            <a:extLst>
              <a:ext uri="{FF2B5EF4-FFF2-40B4-BE49-F238E27FC236}">
                <a16:creationId xmlns:a16="http://schemas.microsoft.com/office/drawing/2014/main" id="{11032863-6135-40F0-88A3-522A960A4579}"/>
              </a:ext>
            </a:extLst>
          </p:cNvPr>
          <p:cNvSpPr>
            <a:spLocks noGrp="1" noRot="1" noChangeAspect="1" noChangeArrowheads="1" noTextEdit="1"/>
          </p:cNvSpPr>
          <p:nvPr>
            <p:ph type="sldImg"/>
          </p:nvPr>
        </p:nvSpPr>
        <p:spPr>
          <a:xfrm>
            <a:off x="381000" y="685800"/>
            <a:ext cx="6096000" cy="3429000"/>
          </a:xfrm>
          <a:ln/>
        </p:spPr>
      </p:sp>
      <p:sp>
        <p:nvSpPr>
          <p:cNvPr id="95236" name="Rectangle 3">
            <a:extLst>
              <a:ext uri="{FF2B5EF4-FFF2-40B4-BE49-F238E27FC236}">
                <a16:creationId xmlns:a16="http://schemas.microsoft.com/office/drawing/2014/main" id="{11B498E6-7D3A-4497-B1E5-E7C6A354C0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4221B7B2-6FF8-418C-8D7C-6E066CFB44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650E567F-174C-4077-99D3-CFE144A58755}" type="slidenum">
              <a:rPr lang="en-US" altLang="zh-CN" sz="1200" b="0" i="0" baseline="0" smtClean="0"/>
              <a:pPr/>
              <a:t>35</a:t>
            </a:fld>
            <a:endParaRPr lang="en-US" altLang="zh-CN" sz="1200" b="0" i="0" baseline="0"/>
          </a:p>
        </p:txBody>
      </p:sp>
      <p:sp>
        <p:nvSpPr>
          <p:cNvPr id="99331" name="Rectangle 2">
            <a:extLst>
              <a:ext uri="{FF2B5EF4-FFF2-40B4-BE49-F238E27FC236}">
                <a16:creationId xmlns:a16="http://schemas.microsoft.com/office/drawing/2014/main" id="{125FB7E1-999B-400A-8176-185966B70B92}"/>
              </a:ext>
            </a:extLst>
          </p:cNvPr>
          <p:cNvSpPr>
            <a:spLocks noGrp="1" noRot="1" noChangeAspect="1" noChangeArrowheads="1" noTextEdit="1"/>
          </p:cNvSpPr>
          <p:nvPr>
            <p:ph type="sldImg"/>
          </p:nvPr>
        </p:nvSpPr>
        <p:spPr>
          <a:xfrm>
            <a:off x="381000" y="685800"/>
            <a:ext cx="6096000" cy="3429000"/>
          </a:xfrm>
          <a:ln/>
        </p:spPr>
      </p:sp>
      <p:sp>
        <p:nvSpPr>
          <p:cNvPr id="99332" name="Rectangle 3">
            <a:extLst>
              <a:ext uri="{FF2B5EF4-FFF2-40B4-BE49-F238E27FC236}">
                <a16:creationId xmlns:a16="http://schemas.microsoft.com/office/drawing/2014/main" id="{E98C9B91-5132-4F8D-BA8A-E83FEBA35C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410974B9-4EE1-4044-85ED-45F326B4BF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345FCC2-60D7-4E30-A757-E36718CEE577}" type="slidenum">
              <a:rPr lang="en-US" altLang="zh-CN" sz="1200" b="0" i="0" baseline="0" smtClean="0"/>
              <a:pPr/>
              <a:t>36</a:t>
            </a:fld>
            <a:endParaRPr lang="en-US" altLang="zh-CN" sz="1200" b="0" i="0" baseline="0"/>
          </a:p>
        </p:txBody>
      </p:sp>
      <p:sp>
        <p:nvSpPr>
          <p:cNvPr id="105475" name="Rectangle 2">
            <a:extLst>
              <a:ext uri="{FF2B5EF4-FFF2-40B4-BE49-F238E27FC236}">
                <a16:creationId xmlns:a16="http://schemas.microsoft.com/office/drawing/2014/main" id="{6A6D663A-ED7E-434D-AF8C-D2ED9E6C8577}"/>
              </a:ext>
            </a:extLst>
          </p:cNvPr>
          <p:cNvSpPr>
            <a:spLocks noGrp="1" noRot="1" noChangeAspect="1" noChangeArrowheads="1" noTextEdit="1"/>
          </p:cNvSpPr>
          <p:nvPr>
            <p:ph type="sldImg"/>
          </p:nvPr>
        </p:nvSpPr>
        <p:spPr>
          <a:xfrm>
            <a:off x="381000" y="685800"/>
            <a:ext cx="6096000" cy="3429000"/>
          </a:xfrm>
          <a:ln/>
        </p:spPr>
      </p:sp>
      <p:sp>
        <p:nvSpPr>
          <p:cNvPr id="105476" name="Rectangle 3">
            <a:extLst>
              <a:ext uri="{FF2B5EF4-FFF2-40B4-BE49-F238E27FC236}">
                <a16:creationId xmlns:a16="http://schemas.microsoft.com/office/drawing/2014/main" id="{F500AC6D-225B-4AE2-9342-70244F4748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9935A2F1-2570-4EDC-BA6F-D50DDDFDEA9C}"/>
              </a:ext>
            </a:extLst>
          </p:cNvPr>
          <p:cNvGrpSpPr>
            <a:grpSpLocks/>
          </p:cNvGrpSpPr>
          <p:nvPr/>
        </p:nvGrpSpPr>
        <p:grpSpPr bwMode="auto">
          <a:xfrm>
            <a:off x="1" y="2438401"/>
            <a:ext cx="12012084" cy="1052513"/>
            <a:chOff x="0" y="1536"/>
            <a:chExt cx="5675" cy="663"/>
          </a:xfrm>
        </p:grpSpPr>
        <p:grpSp>
          <p:nvGrpSpPr>
            <p:cNvPr id="6" name="Group 3">
              <a:extLst>
                <a:ext uri="{FF2B5EF4-FFF2-40B4-BE49-F238E27FC236}">
                  <a16:creationId xmlns:a16="http://schemas.microsoft.com/office/drawing/2014/main" id="{BA7A3E86-9F0E-412A-B835-9361ED8CF8A9}"/>
                </a:ext>
              </a:extLst>
            </p:cNvPr>
            <p:cNvGrpSpPr>
              <a:grpSpLocks/>
            </p:cNvGrpSpPr>
            <p:nvPr/>
          </p:nvGrpSpPr>
          <p:grpSpPr bwMode="auto">
            <a:xfrm>
              <a:off x="185" y="1604"/>
              <a:ext cx="449" cy="299"/>
              <a:chOff x="720" y="336"/>
              <a:chExt cx="624" cy="432"/>
            </a:xfrm>
          </p:grpSpPr>
          <p:sp>
            <p:nvSpPr>
              <p:cNvPr id="13" name="Rectangle 4">
                <a:extLst>
                  <a:ext uri="{FF2B5EF4-FFF2-40B4-BE49-F238E27FC236}">
                    <a16:creationId xmlns:a16="http://schemas.microsoft.com/office/drawing/2014/main" id="{CB020F12-3EBD-4A22-B7AF-DA9582D5F1F0}"/>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defRPr/>
                </a:pPr>
                <a:endParaRPr lang="zh-CN" altLang="en-US" sz="2800">
                  <a:ea typeface="宋体" charset="-122"/>
                </a:endParaRPr>
              </a:p>
            </p:txBody>
          </p:sp>
          <p:sp>
            <p:nvSpPr>
              <p:cNvPr id="14" name="Rectangle 5">
                <a:extLst>
                  <a:ext uri="{FF2B5EF4-FFF2-40B4-BE49-F238E27FC236}">
                    <a16:creationId xmlns:a16="http://schemas.microsoft.com/office/drawing/2014/main" id="{10ABD848-217F-4BCD-85E1-E116B1EE561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defRPr/>
                </a:pPr>
                <a:endParaRPr lang="zh-CN" altLang="en-US" sz="2800">
                  <a:ea typeface="宋体" charset="-122"/>
                </a:endParaRPr>
              </a:p>
            </p:txBody>
          </p:sp>
        </p:grpSp>
        <p:grpSp>
          <p:nvGrpSpPr>
            <p:cNvPr id="7" name="Group 6">
              <a:extLst>
                <a:ext uri="{FF2B5EF4-FFF2-40B4-BE49-F238E27FC236}">
                  <a16:creationId xmlns:a16="http://schemas.microsoft.com/office/drawing/2014/main" id="{E01E3FFA-60EF-4829-88F9-A73D01326946}"/>
                </a:ext>
              </a:extLst>
            </p:cNvPr>
            <p:cNvGrpSpPr>
              <a:grpSpLocks/>
            </p:cNvGrpSpPr>
            <p:nvPr/>
          </p:nvGrpSpPr>
          <p:grpSpPr bwMode="auto">
            <a:xfrm>
              <a:off x="263" y="1870"/>
              <a:ext cx="466" cy="299"/>
              <a:chOff x="912" y="2640"/>
              <a:chExt cx="672" cy="432"/>
            </a:xfrm>
          </p:grpSpPr>
          <p:sp>
            <p:nvSpPr>
              <p:cNvPr id="11" name="Rectangle 7">
                <a:extLst>
                  <a:ext uri="{FF2B5EF4-FFF2-40B4-BE49-F238E27FC236}">
                    <a16:creationId xmlns:a16="http://schemas.microsoft.com/office/drawing/2014/main" id="{7CC87AD8-F0F0-465A-B34E-61A196ABEE3F}"/>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defRPr/>
                </a:pPr>
                <a:endParaRPr lang="zh-CN" altLang="en-US" sz="2800">
                  <a:ea typeface="宋体" charset="-122"/>
                </a:endParaRPr>
              </a:p>
            </p:txBody>
          </p:sp>
          <p:sp>
            <p:nvSpPr>
              <p:cNvPr id="12" name="Rectangle 8">
                <a:extLst>
                  <a:ext uri="{FF2B5EF4-FFF2-40B4-BE49-F238E27FC236}">
                    <a16:creationId xmlns:a16="http://schemas.microsoft.com/office/drawing/2014/main" id="{AA1F3D35-4F97-46F4-9DAD-B38C79DDD5BC}"/>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defRPr/>
                </a:pPr>
                <a:endParaRPr lang="zh-CN" altLang="en-US" sz="2800">
                  <a:ea typeface="宋体" charset="-122"/>
                </a:endParaRPr>
              </a:p>
            </p:txBody>
          </p:sp>
        </p:grpSp>
        <p:sp>
          <p:nvSpPr>
            <p:cNvPr id="8" name="Rectangle 9">
              <a:extLst>
                <a:ext uri="{FF2B5EF4-FFF2-40B4-BE49-F238E27FC236}">
                  <a16:creationId xmlns:a16="http://schemas.microsoft.com/office/drawing/2014/main" id="{80694A4C-C7C5-4B33-B92E-B37324A9285D}"/>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defRPr/>
              </a:pPr>
              <a:endParaRPr lang="zh-CN" altLang="en-US" sz="2800">
                <a:ea typeface="宋体" charset="-122"/>
              </a:endParaRPr>
            </a:p>
          </p:txBody>
        </p:sp>
        <p:sp>
          <p:nvSpPr>
            <p:cNvPr id="9" name="Rectangle 10">
              <a:extLst>
                <a:ext uri="{FF2B5EF4-FFF2-40B4-BE49-F238E27FC236}">
                  <a16:creationId xmlns:a16="http://schemas.microsoft.com/office/drawing/2014/main" id="{DB41CDCC-C63E-4C69-B89C-D3C375E2FF0A}"/>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defRPr/>
              </a:pPr>
              <a:endParaRPr lang="zh-CN" altLang="en-US" sz="2800">
                <a:ea typeface="宋体" charset="-122"/>
              </a:endParaRPr>
            </a:p>
          </p:txBody>
        </p:sp>
        <p:sp>
          <p:nvSpPr>
            <p:cNvPr id="10" name="Rectangle 11">
              <a:extLst>
                <a:ext uri="{FF2B5EF4-FFF2-40B4-BE49-F238E27FC236}">
                  <a16:creationId xmlns:a16="http://schemas.microsoft.com/office/drawing/2014/main" id="{2E66998F-1F6E-4CE3-BABB-511EFDABD2AB}"/>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defRPr/>
              </a:pPr>
              <a:endParaRPr lang="zh-CN" altLang="en-US" sz="2800">
                <a:ea typeface="宋体" charset="-122"/>
              </a:endParaRPr>
            </a:p>
          </p:txBody>
        </p:sp>
      </p:grpSp>
      <p:sp>
        <p:nvSpPr>
          <p:cNvPr id="15" name="Text Box 17">
            <a:extLst>
              <a:ext uri="{FF2B5EF4-FFF2-40B4-BE49-F238E27FC236}">
                <a16:creationId xmlns:a16="http://schemas.microsoft.com/office/drawing/2014/main" id="{AD2A329B-1149-4652-A7AE-A7625E7F3565}"/>
              </a:ext>
            </a:extLst>
          </p:cNvPr>
          <p:cNvSpPr txBox="1">
            <a:spLocks noChangeArrowheads="1"/>
          </p:cNvSpPr>
          <p:nvPr userDrawn="1"/>
        </p:nvSpPr>
        <p:spPr bwMode="auto">
          <a:xfrm>
            <a:off x="0" y="6553200"/>
            <a:ext cx="2946400" cy="304800"/>
          </a:xfrm>
          <a:prstGeom prst="rect">
            <a:avLst/>
          </a:prstGeom>
          <a:noFill/>
          <a:ln>
            <a:noFill/>
          </a:ln>
          <a:effectLst/>
        </p:spPr>
        <p:txBody>
          <a:bodyPr>
            <a:spAutoFit/>
          </a:bodyP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eaLnBrk="1" hangingPunct="1">
              <a:spcBef>
                <a:spcPct val="50000"/>
              </a:spcBef>
              <a:defRPr/>
            </a:pPr>
            <a:r>
              <a:rPr lang="en-US" altLang="en-US" sz="1400" b="0" i="0" baseline="0">
                <a:latin typeface="McGrawHill-Italic" pitchFamily="2" charset="0"/>
              </a:rPr>
              <a:t>McGraw-Hill</a:t>
            </a:r>
            <a:endParaRPr lang="en-US" altLang="en-US" sz="2400" b="0" i="0" baseline="0"/>
          </a:p>
        </p:txBody>
      </p:sp>
      <p:sp>
        <p:nvSpPr>
          <p:cNvPr id="16" name="Text Box 18">
            <a:extLst>
              <a:ext uri="{FF2B5EF4-FFF2-40B4-BE49-F238E27FC236}">
                <a16:creationId xmlns:a16="http://schemas.microsoft.com/office/drawing/2014/main" id="{C61AE12B-2650-40D0-B59F-24F2378B1C45}"/>
              </a:ext>
            </a:extLst>
          </p:cNvPr>
          <p:cNvSpPr txBox="1">
            <a:spLocks noChangeArrowheads="1"/>
          </p:cNvSpPr>
          <p:nvPr userDrawn="1"/>
        </p:nvSpPr>
        <p:spPr bwMode="auto">
          <a:xfrm>
            <a:off x="6096000" y="6553200"/>
            <a:ext cx="6096000" cy="304800"/>
          </a:xfrm>
          <a:prstGeom prst="rect">
            <a:avLst/>
          </a:prstGeom>
          <a:noFill/>
          <a:ln>
            <a:noFill/>
          </a:ln>
          <a:effectLst/>
        </p:spPr>
        <p:txBody>
          <a:bodyPr>
            <a:spAutoFit/>
          </a:bodyPr>
          <a:lstStyle>
            <a:lvl1pPr>
              <a:defRPr sz="2800" b="1" i="1" baseline="-10000">
                <a:solidFill>
                  <a:schemeClr val="tx1"/>
                </a:solidFill>
                <a:latin typeface="Times New Roman" pitchFamily="18" charset="0"/>
              </a:defRPr>
            </a:lvl1pPr>
            <a:lvl2pPr marL="742950" indent="-285750">
              <a:defRPr sz="2800" b="1" i="1" baseline="-10000">
                <a:solidFill>
                  <a:schemeClr val="tx1"/>
                </a:solidFill>
                <a:latin typeface="Times New Roman" pitchFamily="18" charset="0"/>
              </a:defRPr>
            </a:lvl2pPr>
            <a:lvl3pPr marL="1143000" indent="-228600">
              <a:defRPr sz="2800" b="1" i="1" baseline="-10000">
                <a:solidFill>
                  <a:schemeClr val="tx1"/>
                </a:solidFill>
                <a:latin typeface="Times New Roman" pitchFamily="18" charset="0"/>
              </a:defRPr>
            </a:lvl3pPr>
            <a:lvl4pPr marL="1600200" indent="-228600">
              <a:defRPr sz="2800" b="1" i="1" baseline="-10000">
                <a:solidFill>
                  <a:schemeClr val="tx1"/>
                </a:solidFill>
                <a:latin typeface="Times New Roman" pitchFamily="18" charset="0"/>
              </a:defRPr>
            </a:lvl4pPr>
            <a:lvl5pPr marL="2057400" indent="-228600">
              <a:defRPr sz="2800" b="1" i="1" baseline="-10000">
                <a:solidFill>
                  <a:schemeClr val="tx1"/>
                </a:solidFill>
                <a:latin typeface="Times New Roman" pitchFamily="18" charset="0"/>
              </a:defRPr>
            </a:lvl5pPr>
            <a:lvl6pPr marL="2514600" indent="-228600" eaLnBrk="0" fontAlgn="base" hangingPunct="0">
              <a:spcBef>
                <a:spcPct val="0"/>
              </a:spcBef>
              <a:spcAft>
                <a:spcPct val="0"/>
              </a:spcAft>
              <a:defRPr sz="2800" b="1" i="1" baseline="-10000">
                <a:solidFill>
                  <a:schemeClr val="tx1"/>
                </a:solidFill>
                <a:latin typeface="Times New Roman" pitchFamily="18" charset="0"/>
              </a:defRPr>
            </a:lvl6pPr>
            <a:lvl7pPr marL="2971800" indent="-228600" eaLnBrk="0" fontAlgn="base" hangingPunct="0">
              <a:spcBef>
                <a:spcPct val="0"/>
              </a:spcBef>
              <a:spcAft>
                <a:spcPct val="0"/>
              </a:spcAft>
              <a:defRPr sz="2800" b="1" i="1" baseline="-10000">
                <a:solidFill>
                  <a:schemeClr val="tx1"/>
                </a:solidFill>
                <a:latin typeface="Times New Roman" pitchFamily="18" charset="0"/>
              </a:defRPr>
            </a:lvl7pPr>
            <a:lvl8pPr marL="3429000" indent="-228600" eaLnBrk="0" fontAlgn="base" hangingPunct="0">
              <a:spcBef>
                <a:spcPct val="0"/>
              </a:spcBef>
              <a:spcAft>
                <a:spcPct val="0"/>
              </a:spcAft>
              <a:defRPr sz="2800" b="1" i="1" baseline="-10000">
                <a:solidFill>
                  <a:schemeClr val="tx1"/>
                </a:solidFill>
                <a:latin typeface="Times New Roman" pitchFamily="18" charset="0"/>
              </a:defRPr>
            </a:lvl8pPr>
            <a:lvl9pPr marL="3886200" indent="-228600" eaLnBrk="0" fontAlgn="base" hangingPunct="0">
              <a:spcBef>
                <a:spcPct val="0"/>
              </a:spcBef>
              <a:spcAft>
                <a:spcPct val="0"/>
              </a:spcAft>
              <a:defRPr sz="2800" b="1" i="1" baseline="-10000">
                <a:solidFill>
                  <a:schemeClr val="tx1"/>
                </a:solidFill>
                <a:latin typeface="Times New Roman" pitchFamily="18" charset="0"/>
              </a:defRPr>
            </a:lvl9pPr>
          </a:lstStyle>
          <a:p>
            <a:pPr algn="r" eaLnBrk="1" hangingPunct="1">
              <a:spcBef>
                <a:spcPct val="50000"/>
              </a:spcBef>
              <a:buFontTx/>
              <a:buChar char="©"/>
              <a:defRPr/>
            </a:pPr>
            <a:r>
              <a:rPr lang="en-US" altLang="en-US" sz="1400" b="0" i="0" baseline="0">
                <a:latin typeface="McGrawHill-Italic" pitchFamily="2" charset="0"/>
              </a:rPr>
              <a:t>The McGraw-Hill Companies, Inc., 2000</a:t>
            </a:r>
            <a:endParaRPr lang="en-US" altLang="en-US" sz="2400" b="0" i="0" baseline="0"/>
          </a:p>
        </p:txBody>
      </p:sp>
      <p:sp>
        <p:nvSpPr>
          <p:cNvPr id="210956" name="Rectangle 12"/>
          <p:cNvSpPr>
            <a:spLocks noGrp="1" noChangeArrowheads="1"/>
          </p:cNvSpPr>
          <p:nvPr>
            <p:ph type="ctrTitle"/>
          </p:nvPr>
        </p:nvSpPr>
        <p:spPr bwMode="auto">
          <a:xfrm>
            <a:off x="1320800" y="1676400"/>
            <a:ext cx="103632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7" name="Rectangle 14">
            <a:extLst>
              <a:ext uri="{FF2B5EF4-FFF2-40B4-BE49-F238E27FC236}">
                <a16:creationId xmlns:a16="http://schemas.microsoft.com/office/drawing/2014/main" id="{39293159-67D2-414B-A15D-92FC309AF21D}"/>
              </a:ext>
            </a:extLst>
          </p:cNvPr>
          <p:cNvSpPr>
            <a:spLocks noGrp="1" noChangeArrowheads="1"/>
          </p:cNvSpPr>
          <p:nvPr>
            <p:ph type="dt" sz="half" idx="10"/>
          </p:nvPr>
        </p:nvSpPr>
        <p:spPr bwMode="auto">
          <a:xfrm>
            <a:off x="1320800" y="6248400"/>
            <a:ext cx="2540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i="0" baseline="0">
                <a:solidFill>
                  <a:schemeClr val="bg2"/>
                </a:solidFill>
                <a:latin typeface="+mn-lt"/>
                <a:ea typeface="宋体" charset="-122"/>
              </a:defRPr>
            </a:lvl1pPr>
          </a:lstStyle>
          <a:p>
            <a:pPr>
              <a:defRPr/>
            </a:pPr>
            <a:endParaRPr lang="en-US" altLang="zh-CN"/>
          </a:p>
        </p:txBody>
      </p:sp>
      <p:sp>
        <p:nvSpPr>
          <p:cNvPr id="18" name="Rectangle 15">
            <a:extLst>
              <a:ext uri="{FF2B5EF4-FFF2-40B4-BE49-F238E27FC236}">
                <a16:creationId xmlns:a16="http://schemas.microsoft.com/office/drawing/2014/main" id="{814C5D40-F190-430B-A80C-A89841DFC583}"/>
              </a:ext>
            </a:extLst>
          </p:cNvPr>
          <p:cNvSpPr>
            <a:spLocks noGrp="1" noChangeArrowheads="1"/>
          </p:cNvSpPr>
          <p:nvPr>
            <p:ph type="ftr" sz="quarter" idx="11"/>
          </p:nvPr>
        </p:nvSpPr>
        <p:spPr bwMode="auto">
          <a:xfrm>
            <a:off x="4572000" y="6248400"/>
            <a:ext cx="38608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i="0" baseline="0">
                <a:solidFill>
                  <a:schemeClr val="bg2"/>
                </a:solidFill>
                <a:latin typeface="+mn-lt"/>
                <a:ea typeface="宋体" charset="-122"/>
              </a:defRPr>
            </a:lvl1pPr>
          </a:lstStyle>
          <a:p>
            <a:pPr>
              <a:defRPr/>
            </a:pPr>
            <a:endParaRPr lang="en-US" altLang="zh-CN"/>
          </a:p>
        </p:txBody>
      </p:sp>
      <p:sp>
        <p:nvSpPr>
          <p:cNvPr id="19" name="Rectangle 16">
            <a:extLst>
              <a:ext uri="{FF2B5EF4-FFF2-40B4-BE49-F238E27FC236}">
                <a16:creationId xmlns:a16="http://schemas.microsoft.com/office/drawing/2014/main" id="{61276A4B-CC98-48A6-ACFA-A6AB72F33DCA}"/>
              </a:ext>
            </a:extLst>
          </p:cNvPr>
          <p:cNvSpPr>
            <a:spLocks noGrp="1" noChangeArrowheads="1"/>
          </p:cNvSpPr>
          <p:nvPr>
            <p:ph type="sldNum" sz="quarter" idx="12"/>
          </p:nvPr>
        </p:nvSpPr>
        <p:spPr>
          <a:xfrm>
            <a:off x="9144000" y="6248400"/>
            <a:ext cx="2540000" cy="457200"/>
          </a:xfrm>
          <a:prstGeom prst="rect">
            <a:avLst/>
          </a:prstGeom>
        </p:spPr>
        <p:txBody>
          <a:bodyPr/>
          <a:lstStyle>
            <a:lvl1pPr algn="r">
              <a:defRPr sz="1400" b="0">
                <a:latin typeface="Tahoma" panose="020B0604030504040204" pitchFamily="34" charset="0"/>
              </a:defRPr>
            </a:lvl1pPr>
          </a:lstStyle>
          <a:p>
            <a:pPr>
              <a:defRPr/>
            </a:pPr>
            <a:fld id="{8F3F0C8A-E587-40C2-90FD-2E93EB6FB47A}" type="slidenum">
              <a:rPr lang="en-US" altLang="zh-CN"/>
              <a:pPr>
                <a:defRPr/>
              </a:pPr>
              <a:t>‹#›</a:t>
            </a:fld>
            <a:endParaRPr lang="en-US" altLang="zh-CN" dirty="0"/>
          </a:p>
        </p:txBody>
      </p:sp>
    </p:spTree>
    <p:extLst>
      <p:ext uri="{BB962C8B-B14F-4D97-AF65-F5344CB8AC3E}">
        <p14:creationId xmlns:p14="http://schemas.microsoft.com/office/powerpoint/2010/main" val="3442405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44794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95920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7513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00068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246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3529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731080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46044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67800" y="381000"/>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90232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37486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948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760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77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a:xfrm>
            <a:off x="838200" y="6356350"/>
            <a:ext cx="2743200" cy="365125"/>
          </a:xfrm>
          <a:prstGeom prst="rect">
            <a:avLst/>
          </a:prstGeom>
        </p:spPr>
        <p:txBody>
          <a:bodyPr/>
          <a:lstStyle/>
          <a:p>
            <a:fld id="{590ED014-C035-4F2F-9D10-AB3B853B4C04}" type="datetimeFigureOut">
              <a:rPr lang="zh-CN" altLang="en-US" smtClean="0"/>
              <a:t>2025-05-08</a:t>
            </a:fld>
            <a:endParaRPr lang="zh-CN" altLang="en-US"/>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1726391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3AD9DB3-D78E-47DA-843E-177821844147}"/>
              </a:ext>
            </a:extLst>
          </p:cNvPr>
          <p:cNvPicPr>
            <a:picLocks noChangeAspect="1"/>
          </p:cNvPicPr>
          <p:nvPr userDrawn="1"/>
        </p:nvPicPr>
        <p:blipFill rotWithShape="1">
          <a:blip r:embed="rId18">
            <a:extLst>
              <a:ext uri="{28A0092B-C50C-407E-A947-70E740481C1C}">
                <a14:useLocalDpi xmlns:a14="http://schemas.microsoft.com/office/drawing/2010/main" val="0"/>
              </a:ext>
            </a:extLst>
          </a:blip>
          <a:srcRect t="19031"/>
          <a:stretch/>
        </p:blipFill>
        <p:spPr>
          <a:xfrm>
            <a:off x="685800" y="57728"/>
            <a:ext cx="2912243" cy="838200"/>
          </a:xfrm>
          <a:prstGeom prst="rect">
            <a:avLst/>
          </a:prstGeom>
        </p:spPr>
      </p:pic>
    </p:spTree>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55" r:id="rId12"/>
    <p:sldLayoutId id="2147484143" r:id="rId13"/>
    <p:sldLayoutId id="2147484144" r:id="rId14"/>
    <p:sldLayoutId id="2147484154" r:id="rId15"/>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2267D9-52EE-4BC3-9CFD-C26DD971CE09}"/>
              </a:ext>
            </a:extLst>
          </p:cNvPr>
          <p:cNvPicPr>
            <a:picLocks noChangeAspect="1"/>
          </p:cNvPicPr>
          <p:nvPr/>
        </p:nvPicPr>
        <p:blipFill>
          <a:blip r:embed="rId3"/>
          <a:stretch>
            <a:fillRect/>
          </a:stretch>
        </p:blipFill>
        <p:spPr>
          <a:xfrm>
            <a:off x="533400" y="18826"/>
            <a:ext cx="4800600" cy="1755924"/>
          </a:xfrm>
          <a:prstGeom prst="rect">
            <a:avLst/>
          </a:prstGeom>
        </p:spPr>
      </p:pic>
      <p:sp>
        <p:nvSpPr>
          <p:cNvPr id="5" name="Rectangle 3">
            <a:extLst>
              <a:ext uri="{FF2B5EF4-FFF2-40B4-BE49-F238E27FC236}">
                <a16:creationId xmlns:a16="http://schemas.microsoft.com/office/drawing/2014/main" id="{DB1619E6-902B-4E59-A47A-7FC947F3A7F3}"/>
              </a:ext>
            </a:extLst>
          </p:cNvPr>
          <p:cNvSpPr>
            <a:spLocks noChangeArrowheads="1"/>
          </p:cNvSpPr>
          <p:nvPr/>
        </p:nvSpPr>
        <p:spPr bwMode="auto">
          <a:xfrm>
            <a:off x="2209800" y="2438400"/>
            <a:ext cx="80772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第十二章</a:t>
            </a:r>
            <a:endParaRPr kumimoji="0" lang="en-US" altLang="zh-CN"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lvl="0" algn="ctr"/>
            <a:r>
              <a:rPr lang="zh-CN" altLang="en-US" sz="4800" i="0" baseline="0" dirty="0">
                <a:solidFill>
                  <a:srgbClr val="000000"/>
                </a:solidFill>
                <a:latin typeface="微软雅黑" panose="020B0503020204020204" pitchFamily="34" charset="-122"/>
                <a:ea typeface="微软雅黑" panose="020B0503020204020204" pitchFamily="34" charset="-122"/>
              </a:rPr>
              <a:t>多路访问</a:t>
            </a:r>
            <a:endParaRPr kumimoji="0" lang="zh-CN" altLang="en-US"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02430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Text Box 4">
            <a:extLst>
              <a:ext uri="{FF2B5EF4-FFF2-40B4-BE49-F238E27FC236}">
                <a16:creationId xmlns:a16="http://schemas.microsoft.com/office/drawing/2014/main" id="{4BF5144F-1B87-4AC0-9ECD-96C4208CEA12}"/>
              </a:ext>
            </a:extLst>
          </p:cNvPr>
          <p:cNvSpPr txBox="1">
            <a:spLocks noChangeArrowheads="1"/>
          </p:cNvSpPr>
          <p:nvPr/>
        </p:nvSpPr>
        <p:spPr bwMode="auto">
          <a:xfrm>
            <a:off x="4114800" y="92377"/>
            <a:ext cx="31117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i="0" baseline="0" dirty="0">
                <a:solidFill>
                  <a:schemeClr val="bg1"/>
                </a:solidFill>
                <a:latin typeface="微软雅黑" panose="020B0503020204020204" pitchFamily="34" charset="-122"/>
                <a:ea typeface="微软雅黑" panose="020B0503020204020204" pitchFamily="34" charset="-122"/>
              </a:rPr>
              <a:t>IEEE 802</a:t>
            </a:r>
            <a:r>
              <a:rPr lang="zh-CN" altLang="en-US" i="0" baseline="0" dirty="0">
                <a:solidFill>
                  <a:schemeClr val="bg1"/>
                </a:solidFill>
                <a:latin typeface="微软雅黑" panose="020B0503020204020204" pitchFamily="34" charset="-122"/>
                <a:ea typeface="微软雅黑" panose="020B0503020204020204" pitchFamily="34" charset="-122"/>
              </a:rPr>
              <a:t>参考模型</a:t>
            </a:r>
            <a:endParaRPr lang="en-US" altLang="zh-CN" i="0" baseline="0" dirty="0">
              <a:solidFill>
                <a:schemeClr val="bg1"/>
              </a:solidFill>
              <a:latin typeface="微软雅黑" panose="020B0503020204020204" pitchFamily="34" charset="-122"/>
              <a:ea typeface="微软雅黑" panose="020B0503020204020204" pitchFamily="34" charset="-122"/>
            </a:endParaRPr>
          </a:p>
        </p:txBody>
      </p:sp>
      <p:graphicFrame>
        <p:nvGraphicFramePr>
          <p:cNvPr id="16391" name="Object 1">
            <a:extLst>
              <a:ext uri="{FF2B5EF4-FFF2-40B4-BE49-F238E27FC236}">
                <a16:creationId xmlns:a16="http://schemas.microsoft.com/office/drawing/2014/main" id="{2703E7A9-93DF-466E-919A-0D51A5E9A9EC}"/>
              </a:ext>
            </a:extLst>
          </p:cNvPr>
          <p:cNvGraphicFramePr>
            <a:graphicFrameLocks noChangeAspect="1"/>
          </p:cNvGraphicFramePr>
          <p:nvPr>
            <p:extLst>
              <p:ext uri="{D42A27DB-BD31-4B8C-83A1-F6EECF244321}">
                <p14:modId xmlns:p14="http://schemas.microsoft.com/office/powerpoint/2010/main" val="1513272"/>
              </p:ext>
            </p:extLst>
          </p:nvPr>
        </p:nvGraphicFramePr>
        <p:xfrm>
          <a:off x="4114800" y="2509448"/>
          <a:ext cx="4114800" cy="3550024"/>
        </p:xfrm>
        <a:graphic>
          <a:graphicData uri="http://schemas.openxmlformats.org/presentationml/2006/ole">
            <mc:AlternateContent xmlns:mc="http://schemas.openxmlformats.org/markup-compatibility/2006">
              <mc:Choice xmlns:v="urn:schemas-microsoft-com:vml" Requires="v">
                <p:oleObj spid="_x0000_s16446" r:id="rId4" imgW="2390013" imgH="1932940" progId="Visio.Drawing.11">
                  <p:embed/>
                </p:oleObj>
              </mc:Choice>
              <mc:Fallback>
                <p:oleObj r:id="rId4" imgW="2390013" imgH="193294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2509448"/>
                        <a:ext cx="4114800" cy="3550024"/>
                      </a:xfrm>
                      <a:prstGeom prst="rect">
                        <a:avLst/>
                      </a:prstGeom>
                      <a:noFill/>
                      <a:ln>
                        <a:noFill/>
                      </a:ln>
                      <a:extLst/>
                    </p:spPr>
                  </p:pic>
                </p:oleObj>
              </mc:Fallback>
            </mc:AlternateContent>
          </a:graphicData>
        </a:graphic>
      </p:graphicFrame>
      <p:sp>
        <p:nvSpPr>
          <p:cNvPr id="2" name="矩形 1">
            <a:extLst>
              <a:ext uri="{FF2B5EF4-FFF2-40B4-BE49-F238E27FC236}">
                <a16:creationId xmlns:a16="http://schemas.microsoft.com/office/drawing/2014/main" id="{F3DEA6F7-63B6-4458-B5C2-721E32C49752}"/>
              </a:ext>
            </a:extLst>
          </p:cNvPr>
          <p:cNvSpPr/>
          <p:nvPr/>
        </p:nvSpPr>
        <p:spPr>
          <a:xfrm>
            <a:off x="1295400" y="1047354"/>
            <a:ext cx="9372600" cy="1526187"/>
          </a:xfrm>
          <a:prstGeom prst="rect">
            <a:avLst/>
          </a:prstGeom>
        </p:spPr>
        <p:txBody>
          <a:bodyPr wrap="square">
            <a:spAutoFit/>
          </a:bodyPr>
          <a:lstStyle/>
          <a:p>
            <a:pPr algn="just">
              <a:lnSpc>
                <a:spcPct val="150000"/>
              </a:lnSpc>
            </a:pPr>
            <a:r>
              <a:rPr lang="zh-CN" altLang="en-US" sz="1600" b="0" i="0" baseline="0" dirty="0">
                <a:latin typeface="微软雅黑" panose="020B0503020204020204" pitchFamily="34" charset="-122"/>
                <a:ea typeface="微软雅黑" panose="020B0503020204020204" pitchFamily="34" charset="-122"/>
              </a:rPr>
              <a:t>局域网标准委员会制定了</a:t>
            </a:r>
            <a:r>
              <a:rPr lang="en-US" altLang="zh-CN" sz="1600" b="0" i="0" baseline="0" dirty="0">
                <a:latin typeface="微软雅黑" panose="020B0503020204020204" pitchFamily="34" charset="-122"/>
                <a:ea typeface="微软雅黑" panose="020B0503020204020204" pitchFamily="34" charset="-122"/>
              </a:rPr>
              <a:t>IEEE 802</a:t>
            </a:r>
            <a:r>
              <a:rPr lang="zh-CN" altLang="en-US" sz="1600" b="0" i="0" baseline="0" dirty="0">
                <a:latin typeface="微软雅黑" panose="020B0503020204020204" pitchFamily="34" charset="-122"/>
                <a:ea typeface="微软雅黑" panose="020B0503020204020204" pitchFamily="34" charset="-122"/>
              </a:rPr>
              <a:t>参考模型与标准，由于不同厂商局域网产品的数据链路层与物理层协议各不相同，</a:t>
            </a:r>
            <a:r>
              <a:rPr lang="en-US" altLang="zh-CN" sz="1600" b="0" i="0" baseline="0" dirty="0">
                <a:latin typeface="微软雅黑" panose="020B0503020204020204" pitchFamily="34" charset="-122"/>
                <a:ea typeface="微软雅黑" panose="020B0503020204020204" pitchFamily="34" charset="-122"/>
              </a:rPr>
              <a:t>IEEE 802</a:t>
            </a:r>
            <a:r>
              <a:rPr lang="zh-CN" altLang="en-US" sz="1600" b="0" i="0" baseline="0" dirty="0">
                <a:latin typeface="微软雅黑" panose="020B0503020204020204" pitchFamily="34" charset="-122"/>
                <a:ea typeface="微软雅黑" panose="020B0503020204020204" pitchFamily="34" charset="-122"/>
              </a:rPr>
              <a:t>委员会将数据链路层分为两个子层：逻辑链路控制 </a:t>
            </a:r>
            <a:r>
              <a:rPr lang="en-US" altLang="zh-CN" sz="1600" b="0" i="0" baseline="0" dirty="0">
                <a:latin typeface="微软雅黑" panose="020B0503020204020204" pitchFamily="34" charset="-122"/>
                <a:ea typeface="微软雅黑" panose="020B0503020204020204" pitchFamily="34" charset="-122"/>
              </a:rPr>
              <a:t>(Logical Link Control</a:t>
            </a:r>
            <a:r>
              <a:rPr lang="zh-CN" altLang="en-US" sz="1600" b="0" i="0" baseline="0" dirty="0">
                <a:latin typeface="微软雅黑" panose="020B0503020204020204" pitchFamily="34" charset="-122"/>
                <a:ea typeface="微软雅黑" panose="020B0503020204020204" pitchFamily="34" charset="-122"/>
              </a:rPr>
              <a:t>，</a:t>
            </a:r>
            <a:r>
              <a:rPr lang="en-US" altLang="zh-CN" sz="1600" b="0" i="0" baseline="0" dirty="0">
                <a:latin typeface="微软雅黑" panose="020B0503020204020204" pitchFamily="34" charset="-122"/>
                <a:ea typeface="微软雅黑" panose="020B0503020204020204" pitchFamily="34" charset="-122"/>
              </a:rPr>
              <a:t>LLC) </a:t>
            </a:r>
            <a:r>
              <a:rPr lang="zh-CN" altLang="en-US" sz="1600" b="0" i="0" baseline="0" dirty="0">
                <a:latin typeface="微软雅黑" panose="020B0503020204020204" pitchFamily="34" charset="-122"/>
                <a:ea typeface="微软雅黑" panose="020B0503020204020204" pitchFamily="34" charset="-122"/>
              </a:rPr>
              <a:t>子层与介质访问控制 </a:t>
            </a:r>
            <a:r>
              <a:rPr lang="en-US" altLang="zh-CN" sz="1600" b="0" i="0" baseline="0" dirty="0">
                <a:latin typeface="微软雅黑" panose="020B0503020204020204" pitchFamily="34" charset="-122"/>
                <a:ea typeface="微软雅黑" panose="020B0503020204020204" pitchFamily="34" charset="-122"/>
              </a:rPr>
              <a:t>(Media Access Control</a:t>
            </a:r>
            <a:r>
              <a:rPr lang="zh-CN" altLang="en-US" sz="1600" b="0" i="0" baseline="0" dirty="0">
                <a:latin typeface="微软雅黑" panose="020B0503020204020204" pitchFamily="34" charset="-122"/>
                <a:ea typeface="微软雅黑" panose="020B0503020204020204" pitchFamily="34" charset="-122"/>
              </a:rPr>
              <a:t>，</a:t>
            </a:r>
            <a:r>
              <a:rPr lang="en-US" altLang="zh-CN" sz="1600" b="0" i="0" baseline="0" dirty="0">
                <a:latin typeface="微软雅黑" panose="020B0503020204020204" pitchFamily="34" charset="-122"/>
                <a:ea typeface="微软雅黑" panose="020B0503020204020204" pitchFamily="34" charset="-122"/>
              </a:rPr>
              <a:t>MAC) </a:t>
            </a:r>
            <a:r>
              <a:rPr lang="zh-CN" altLang="en-US" sz="1600" b="0" i="0" baseline="0" dirty="0">
                <a:latin typeface="微软雅黑" panose="020B0503020204020204" pitchFamily="34" charset="-122"/>
                <a:ea typeface="微软雅黑" panose="020B0503020204020204" pitchFamily="34" charset="-122"/>
              </a:rPr>
              <a:t>子层。</a:t>
            </a:r>
            <a:r>
              <a:rPr lang="en-US" altLang="zh-CN" sz="1600" b="0" i="0" baseline="0" dirty="0">
                <a:latin typeface="微软雅黑" panose="020B0503020204020204" pitchFamily="34" charset="-122"/>
                <a:ea typeface="微软雅黑" panose="020B0503020204020204" pitchFamily="34" charset="-122"/>
              </a:rPr>
              <a:t>LLC</a:t>
            </a:r>
            <a:r>
              <a:rPr lang="zh-CN" altLang="en-US" sz="1600" b="0" i="0" baseline="0" dirty="0">
                <a:latin typeface="微软雅黑" panose="020B0503020204020204" pitchFamily="34" charset="-122"/>
                <a:ea typeface="微软雅黑" panose="020B0503020204020204" pitchFamily="34" charset="-122"/>
              </a:rPr>
              <a:t>子层为</a:t>
            </a:r>
            <a:r>
              <a:rPr lang="en-US" altLang="zh-CN" sz="1600" b="0" i="0" baseline="0" dirty="0">
                <a:latin typeface="微软雅黑" panose="020B0503020204020204" pitchFamily="34" charset="-122"/>
                <a:ea typeface="微软雅黑" panose="020B0503020204020204" pitchFamily="34" charset="-122"/>
              </a:rPr>
              <a:t>802</a:t>
            </a:r>
            <a:r>
              <a:rPr lang="zh-CN" altLang="en-US" sz="1600" b="0" i="0" baseline="0" dirty="0">
                <a:latin typeface="微软雅黑" panose="020B0503020204020204" pitchFamily="34" charset="-122"/>
                <a:ea typeface="微软雅黑" panose="020B0503020204020204" pitchFamily="34" charset="-122"/>
              </a:rPr>
              <a:t>标准系列共用，</a:t>
            </a:r>
            <a:r>
              <a:rPr lang="en-US" altLang="zh-CN" sz="1600" b="0" i="0" baseline="0" dirty="0">
                <a:latin typeface="微软雅黑" panose="020B0503020204020204" pitchFamily="34" charset="-122"/>
                <a:ea typeface="微软雅黑" panose="020B0503020204020204" pitchFamily="34" charset="-122"/>
              </a:rPr>
              <a:t>MAC</a:t>
            </a:r>
            <a:r>
              <a:rPr lang="zh-CN" altLang="en-US" sz="1600" b="0" i="0" baseline="0" dirty="0">
                <a:latin typeface="微软雅黑" panose="020B0503020204020204" pitchFamily="34" charset="-122"/>
                <a:ea typeface="微软雅黑" panose="020B0503020204020204" pitchFamily="34" charset="-122"/>
              </a:rPr>
              <a:t>子层协议则依赖于各自的物理层。</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Text Box 4">
            <a:extLst>
              <a:ext uri="{FF2B5EF4-FFF2-40B4-BE49-F238E27FC236}">
                <a16:creationId xmlns:a16="http://schemas.microsoft.com/office/drawing/2014/main" id="{2CFA8142-6585-42FD-B523-F2FCBB258AB7}"/>
              </a:ext>
            </a:extLst>
          </p:cNvPr>
          <p:cNvSpPr txBox="1">
            <a:spLocks noChangeArrowheads="1"/>
          </p:cNvSpPr>
          <p:nvPr/>
        </p:nvSpPr>
        <p:spPr bwMode="auto">
          <a:xfrm>
            <a:off x="3886200" y="5943601"/>
            <a:ext cx="47099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400" i="0" baseline="0" dirty="0">
                <a:solidFill>
                  <a:schemeClr val="folHlink"/>
                </a:solidFill>
                <a:ea typeface="宋体" panose="02010600030101010101" pitchFamily="2" charset="-122"/>
              </a:rPr>
              <a:t>图</a:t>
            </a:r>
            <a:r>
              <a:rPr lang="en-US" altLang="zh-CN" sz="1400" i="0" baseline="0" dirty="0">
                <a:solidFill>
                  <a:schemeClr val="folHlink"/>
                </a:solidFill>
                <a:ea typeface="宋体" panose="02010600030101010101" pitchFamily="2" charset="-122"/>
              </a:rPr>
              <a:t> 13.1 </a:t>
            </a:r>
            <a:r>
              <a:rPr lang="zh-CN" altLang="en-US" sz="1400" i="0" baseline="0" dirty="0">
                <a:ea typeface="宋体" panose="02010600030101010101" pitchFamily="2" charset="-122"/>
              </a:rPr>
              <a:t>逻辑链路控制子层</a:t>
            </a:r>
            <a:r>
              <a:rPr lang="en-US" altLang="zh-CN" sz="1400" i="0" baseline="0" dirty="0">
                <a:ea typeface="宋体" panose="02010600030101010101" pitchFamily="2" charset="-122"/>
              </a:rPr>
              <a:t>LLC</a:t>
            </a:r>
            <a:r>
              <a:rPr lang="zh-CN" altLang="en-US" sz="1400" i="0" baseline="0" dirty="0">
                <a:ea typeface="宋体" panose="02010600030101010101" pitchFamily="2" charset="-122"/>
              </a:rPr>
              <a:t>和介质访问控制子层</a:t>
            </a:r>
            <a:r>
              <a:rPr lang="en-US" altLang="zh-CN" sz="1400" i="0" baseline="0" dirty="0">
                <a:ea typeface="宋体" panose="02010600030101010101" pitchFamily="2" charset="-122"/>
              </a:rPr>
              <a:t>MAC  </a:t>
            </a:r>
          </a:p>
        </p:txBody>
      </p:sp>
      <p:pic>
        <p:nvPicPr>
          <p:cNvPr id="18439" name="Picture 6">
            <a:extLst>
              <a:ext uri="{FF2B5EF4-FFF2-40B4-BE49-F238E27FC236}">
                <a16:creationId xmlns:a16="http://schemas.microsoft.com/office/drawing/2014/main" id="{989855DA-33D7-4B67-821F-381E95B10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1300" y="2590801"/>
            <a:ext cx="6629400" cy="314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8E3AA3B-8043-49EA-B9B8-FA5EDC6032CC}"/>
              </a:ext>
            </a:extLst>
          </p:cNvPr>
          <p:cNvSpPr/>
          <p:nvPr/>
        </p:nvSpPr>
        <p:spPr>
          <a:xfrm>
            <a:off x="1371600" y="971948"/>
            <a:ext cx="9601199" cy="1526187"/>
          </a:xfrm>
          <a:prstGeom prst="rect">
            <a:avLst/>
          </a:prstGeom>
        </p:spPr>
        <p:txBody>
          <a:bodyPr wrap="square">
            <a:spAutoFit/>
          </a:bodyPr>
          <a:lstStyle/>
          <a:p>
            <a:pPr marL="285750" indent="-285750" algn="just">
              <a:lnSpc>
                <a:spcPct val="150000"/>
              </a:lnSpc>
              <a:buClr>
                <a:srgbClr val="FF0000"/>
              </a:buClr>
              <a:buSzPct val="80000"/>
              <a:buFont typeface="Wingdings" panose="05000000000000000000" pitchFamily="2" charset="2"/>
              <a:buChar char="u"/>
            </a:pPr>
            <a:r>
              <a:rPr lang="en-US" altLang="zh-CN" sz="1600" b="0" i="0" baseline="0" dirty="0">
                <a:solidFill>
                  <a:srgbClr val="333333"/>
                </a:solidFill>
                <a:latin typeface="微软雅黑" panose="020B0503020204020204" pitchFamily="34" charset="-122"/>
                <a:ea typeface="微软雅黑" panose="020B0503020204020204" pitchFamily="34" charset="-122"/>
              </a:rPr>
              <a:t>MAC</a:t>
            </a:r>
            <a:r>
              <a:rPr lang="zh-CN" altLang="en-US" sz="1600" b="0" i="0" baseline="0" dirty="0">
                <a:solidFill>
                  <a:srgbClr val="333333"/>
                </a:solidFill>
                <a:latin typeface="微软雅黑" panose="020B0503020204020204" pitchFamily="34" charset="-122"/>
                <a:ea typeface="微软雅黑" panose="020B0503020204020204" pitchFamily="34" charset="-122"/>
              </a:rPr>
              <a:t>子层负责控制物理介质的访问，并决定哪个设备有权利发送数据，主要功能有：</a:t>
            </a:r>
            <a:r>
              <a:rPr lang="zh-CN" altLang="en-US" sz="1600" i="0" baseline="0" dirty="0">
                <a:solidFill>
                  <a:srgbClr val="333333"/>
                </a:solidFill>
                <a:latin typeface="微软雅黑" panose="020B0503020204020204" pitchFamily="34" charset="-122"/>
                <a:ea typeface="微软雅黑" panose="020B0503020204020204" pitchFamily="34" charset="-122"/>
              </a:rPr>
              <a:t>媒体访问控制、帧的封装与解封装、地址识别、错误检测与纠正。</a:t>
            </a:r>
            <a:endParaRPr lang="zh-CN" altLang="en-US" sz="1600" b="0" i="0" baseline="0" dirty="0">
              <a:solidFill>
                <a:srgbClr val="333333"/>
              </a:solidFill>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en-US" altLang="zh-CN" sz="1600" b="0" i="0" baseline="0" dirty="0">
                <a:solidFill>
                  <a:srgbClr val="333333"/>
                </a:solidFill>
                <a:latin typeface="微软雅黑" panose="020B0503020204020204" pitchFamily="34" charset="-122"/>
                <a:ea typeface="微软雅黑" panose="020B0503020204020204" pitchFamily="34" charset="-122"/>
              </a:rPr>
              <a:t>LLC</a:t>
            </a:r>
            <a:r>
              <a:rPr lang="zh-CN" altLang="en-US" sz="1600" b="0" i="0" baseline="0" dirty="0">
                <a:solidFill>
                  <a:srgbClr val="333333"/>
                </a:solidFill>
                <a:latin typeface="微软雅黑" panose="020B0503020204020204" pitchFamily="34" charset="-122"/>
                <a:ea typeface="微软雅黑" panose="020B0503020204020204" pitchFamily="34" charset="-122"/>
              </a:rPr>
              <a:t>子层提供逻辑链接控制，使不同类型的网络协议能够在同一物理介质上通信，主要功能有：</a:t>
            </a:r>
            <a:r>
              <a:rPr lang="zh-CN" altLang="en-US" sz="1600" i="0" baseline="0" dirty="0">
                <a:solidFill>
                  <a:srgbClr val="333333"/>
                </a:solidFill>
                <a:latin typeface="微软雅黑" panose="020B0503020204020204" pitchFamily="34" charset="-122"/>
                <a:ea typeface="微软雅黑" panose="020B0503020204020204" pitchFamily="34" charset="-122"/>
              </a:rPr>
              <a:t>协议多路复用、协议多路分解、流控制。</a:t>
            </a:r>
            <a:endParaRPr lang="zh-CN" altLang="en-US" sz="1600" b="0" i="0" baseline="0" dirty="0">
              <a:solidFill>
                <a:srgbClr val="3333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Text Box 4">
            <a:extLst>
              <a:ext uri="{FF2B5EF4-FFF2-40B4-BE49-F238E27FC236}">
                <a16:creationId xmlns:a16="http://schemas.microsoft.com/office/drawing/2014/main" id="{C565E0F8-C24E-40F9-AFF8-8CDDF3AE515D}"/>
              </a:ext>
            </a:extLst>
          </p:cNvPr>
          <p:cNvSpPr txBox="1">
            <a:spLocks noChangeArrowheads="1"/>
          </p:cNvSpPr>
          <p:nvPr/>
        </p:nvSpPr>
        <p:spPr bwMode="auto">
          <a:xfrm>
            <a:off x="5029200" y="5924531"/>
            <a:ext cx="365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400" i="0" baseline="0" dirty="0">
                <a:solidFill>
                  <a:schemeClr val="folHlink"/>
                </a:solidFill>
                <a:ea typeface="宋体" panose="02010600030101010101" pitchFamily="2" charset="-122"/>
              </a:rPr>
              <a:t>图</a:t>
            </a:r>
            <a:r>
              <a:rPr lang="en-US" altLang="zh-CN" sz="1400" i="0" baseline="0" dirty="0">
                <a:solidFill>
                  <a:schemeClr val="folHlink"/>
                </a:solidFill>
                <a:ea typeface="宋体" panose="02010600030101010101" pitchFamily="2" charset="-122"/>
              </a:rPr>
              <a:t> 12.2 </a:t>
            </a:r>
            <a:r>
              <a:rPr lang="zh-CN" altLang="en-US" sz="1400" i="0" baseline="0" dirty="0">
                <a:ea typeface="宋体" panose="02010600030101010101" pitchFamily="2" charset="-122"/>
              </a:rPr>
              <a:t>多路访问控制协议的分类</a:t>
            </a:r>
            <a:endParaRPr lang="en-US" altLang="zh-CN" sz="1400" baseline="0" dirty="0">
              <a:ea typeface="宋体" panose="02010600030101010101" pitchFamily="2" charset="-122"/>
            </a:endParaRPr>
          </a:p>
        </p:txBody>
      </p:sp>
      <p:pic>
        <p:nvPicPr>
          <p:cNvPr id="20487" name="Picture 7">
            <a:extLst>
              <a:ext uri="{FF2B5EF4-FFF2-40B4-BE49-F238E27FC236}">
                <a16:creationId xmlns:a16="http://schemas.microsoft.com/office/drawing/2014/main" id="{A1C086A1-D2BB-47E4-A31F-CB86204F4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667000"/>
            <a:ext cx="6057900" cy="303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28A9B65-C4AC-468B-9B84-56138CD9B6D6}"/>
              </a:ext>
            </a:extLst>
          </p:cNvPr>
          <p:cNvSpPr txBox="1"/>
          <p:nvPr/>
        </p:nvSpPr>
        <p:spPr>
          <a:xfrm>
            <a:off x="1314450" y="849603"/>
            <a:ext cx="9829800" cy="1583062"/>
          </a:xfrm>
          <a:prstGeom prst="rect">
            <a:avLst/>
          </a:prstGeom>
          <a:noFill/>
        </p:spPr>
        <p:txBody>
          <a:bodyPr wrap="square" rtlCol="0">
            <a:spAutoFit/>
          </a:bodyPr>
          <a:lstStyle/>
          <a:p>
            <a:pPr algn="just">
              <a:lnSpc>
                <a:spcPct val="200000"/>
              </a:lnSpc>
            </a:pPr>
            <a:r>
              <a:rPr lang="en-US" altLang="zh-CN" sz="1700" b="0" i="0" baseline="0" dirty="0">
                <a:latin typeface="微软雅黑" panose="020B0503020204020204" pitchFamily="34" charset="-122"/>
                <a:ea typeface="微软雅黑" panose="020B0503020204020204" pitchFamily="34" charset="-122"/>
              </a:rPr>
              <a:t>MAC</a:t>
            </a:r>
            <a:r>
              <a:rPr lang="zh-CN" altLang="en-US" sz="1700" b="0" i="0" baseline="0" dirty="0">
                <a:latin typeface="微软雅黑" panose="020B0503020204020204" pitchFamily="34" charset="-122"/>
                <a:ea typeface="微软雅黑" panose="020B0503020204020204" pitchFamily="34" charset="-122"/>
              </a:rPr>
              <a:t>子层主要任务是解决多个设备共享同一物理介质时可能出现的冲突和竞争问题，在理想情况下：</a:t>
            </a:r>
          </a:p>
          <a:p>
            <a:pPr algn="just">
              <a:lnSpc>
                <a:spcPct val="200000"/>
              </a:lnSpc>
            </a:pPr>
            <a:r>
              <a:rPr lang="zh-CN" altLang="en-US" sz="1700" b="0" i="0" baseline="0" dirty="0">
                <a:latin typeface="微软雅黑" panose="020B0503020204020204" pitchFamily="34" charset="-122"/>
                <a:ea typeface="微软雅黑" panose="020B0503020204020204" pitchFamily="34" charset="-122"/>
              </a:rPr>
              <a:t>① 如果只有一个节点需要发送数据，期望它可以以整个信道的速率 </a:t>
            </a:r>
            <a:r>
              <a:rPr lang="en-US" altLang="zh-CN" sz="1700" b="0" i="0" baseline="0" dirty="0">
                <a:latin typeface="微软雅黑" panose="020B0503020204020204" pitchFamily="34" charset="-122"/>
                <a:ea typeface="微软雅黑" panose="020B0503020204020204" pitchFamily="34" charset="-122"/>
              </a:rPr>
              <a:t>N </a:t>
            </a:r>
            <a:r>
              <a:rPr lang="zh-CN" altLang="en-US" sz="1700" b="0" i="0" baseline="0" dirty="0">
                <a:latin typeface="微软雅黑" panose="020B0503020204020204" pitchFamily="34" charset="-122"/>
                <a:ea typeface="微软雅黑" panose="020B0503020204020204" pitchFamily="34" charset="-122"/>
              </a:rPr>
              <a:t>发送数据；</a:t>
            </a:r>
          </a:p>
          <a:p>
            <a:pPr algn="just">
              <a:lnSpc>
                <a:spcPct val="200000"/>
              </a:lnSpc>
            </a:pPr>
            <a:r>
              <a:rPr lang="zh-CN" altLang="en-US" sz="1700" b="0" i="0" baseline="0" dirty="0">
                <a:latin typeface="微软雅黑" panose="020B0503020204020204" pitchFamily="34" charset="-122"/>
                <a:ea typeface="微软雅黑" panose="020B0503020204020204" pitchFamily="34" charset="-122"/>
              </a:rPr>
              <a:t>② 如果有 </a:t>
            </a:r>
            <a:r>
              <a:rPr lang="en-US" altLang="zh-CN" sz="1700" b="0" i="0" baseline="0" dirty="0">
                <a:latin typeface="微软雅黑" panose="020B0503020204020204" pitchFamily="34" charset="-122"/>
                <a:ea typeface="微软雅黑" panose="020B0503020204020204" pitchFamily="34" charset="-122"/>
              </a:rPr>
              <a:t>M </a:t>
            </a:r>
            <a:r>
              <a:rPr lang="zh-CN" altLang="en-US" sz="1700" b="0" i="0" baseline="0" dirty="0">
                <a:latin typeface="微软雅黑" panose="020B0503020204020204" pitchFamily="34" charset="-122"/>
                <a:ea typeface="微软雅黑" panose="020B0503020204020204" pitchFamily="34" charset="-122"/>
              </a:rPr>
              <a:t>个节点需要同时发送数据，期望它可以以速率 </a:t>
            </a:r>
            <a:r>
              <a:rPr lang="en-US" altLang="zh-CN" sz="1700" b="0" i="0" baseline="0" dirty="0">
                <a:latin typeface="微软雅黑" panose="020B0503020204020204" pitchFamily="34" charset="-122"/>
                <a:ea typeface="微软雅黑" panose="020B0503020204020204" pitchFamily="34" charset="-122"/>
              </a:rPr>
              <a:t>N / M</a:t>
            </a:r>
            <a:r>
              <a:rPr lang="zh-CN" altLang="en-US" sz="1700" b="0" i="0" baseline="0" dirty="0">
                <a:latin typeface="微软雅黑" panose="020B0503020204020204" pitchFamily="34" charset="-122"/>
                <a:ea typeface="微软雅黑" panose="020B0503020204020204" pitchFamily="34" charset="-122"/>
              </a:rPr>
              <a:t> 来发送数据。</a:t>
            </a:r>
            <a:endParaRPr lang="en-US" altLang="zh-CN" sz="1700" b="0" i="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487"/>
                                        </p:tgtEl>
                                        <p:attrNameLst>
                                          <p:attrName>style.visibility</p:attrName>
                                        </p:attrNameLst>
                                      </p:cBhvr>
                                      <p:to>
                                        <p:strVal val="visible"/>
                                      </p:to>
                                    </p:set>
                                    <p:animEffect transition="in" filter="wipe(up)">
                                      <p:cBhvr>
                                        <p:cTn id="7" dur="500"/>
                                        <p:tgtEl>
                                          <p:spTgt spid="2048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0485"/>
                                        </p:tgtEl>
                                        <p:attrNameLst>
                                          <p:attrName>style.visibility</p:attrName>
                                        </p:attrNameLst>
                                      </p:cBhvr>
                                      <p:to>
                                        <p:strVal val="visible"/>
                                      </p:to>
                                    </p:set>
                                    <p:animEffect transition="in" filter="wipe(up)">
                                      <p:cBhvr>
                                        <p:cTn id="11" dur="500"/>
                                        <p:tgtEl>
                                          <p:spTgt spid="20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716AE3F-14F7-4E3D-8869-E40A8DE7674E}"/>
              </a:ext>
            </a:extLst>
          </p:cNvPr>
          <p:cNvSpPr txBox="1"/>
          <p:nvPr/>
        </p:nvSpPr>
        <p:spPr>
          <a:xfrm>
            <a:off x="1028700" y="1143000"/>
            <a:ext cx="10134600" cy="4810099"/>
          </a:xfrm>
          <a:prstGeom prst="rect">
            <a:avLst/>
          </a:prstGeom>
          <a:noFill/>
        </p:spPr>
        <p:txBody>
          <a:bodyPr wrap="square" rtlCol="0">
            <a:spAutoFit/>
          </a:bodyPr>
          <a:lstStyle/>
          <a:p>
            <a:pPr marL="285750" indent="-285750" algn="just">
              <a:lnSpc>
                <a:spcPct val="200000"/>
              </a:lnSpc>
              <a:buClr>
                <a:srgbClr val="FF0000"/>
              </a:buClr>
              <a:buSzPct val="80000"/>
              <a:buFont typeface="Wingdings" panose="05000000000000000000" pitchFamily="2" charset="2"/>
              <a:buChar char="u"/>
            </a:pPr>
            <a:r>
              <a:rPr lang="zh-CN" altLang="en-US" sz="1800" i="0" baseline="0" dirty="0">
                <a:latin typeface="微软雅黑" panose="020B0503020204020204" pitchFamily="34" charset="-122"/>
                <a:ea typeface="微软雅黑" panose="020B0503020204020204" pitchFamily="34" charset="-122"/>
              </a:rPr>
              <a:t>随机访问协议 ➡️ 随机应变</a:t>
            </a:r>
            <a:endParaRPr lang="en-US" altLang="zh-CN" sz="1800" i="0" baseline="0" dirty="0">
              <a:latin typeface="微软雅黑" panose="020B0503020204020204" pitchFamily="34" charset="-122"/>
              <a:ea typeface="微软雅黑" panose="020B0503020204020204" pitchFamily="34" charset="-122"/>
            </a:endParaRPr>
          </a:p>
          <a:p>
            <a:pPr marL="273050" algn="just">
              <a:lnSpc>
                <a:spcPct val="200000"/>
              </a:lnSpc>
            </a:pPr>
            <a:r>
              <a:rPr lang="zh-CN" altLang="en-US" sz="1800" b="0" i="0" baseline="0" dirty="0">
                <a:latin typeface="微软雅黑" panose="020B0503020204020204" pitchFamily="34" charset="-122"/>
                <a:ea typeface="微软雅黑" panose="020B0503020204020204" pitchFamily="34" charset="-122"/>
              </a:rPr>
              <a:t>节点总是以信道的全部速率发送数据，传输时可能且允许出现冲突，检测到冲突时通过延时重传等方式恢复，这是以太网使用的方式。完全满足理想情况①，几乎满足理想情况② 。</a:t>
            </a:r>
            <a:endParaRPr lang="en-US" altLang="zh-CN" sz="1800" b="0" i="0" baseline="0" dirty="0">
              <a:latin typeface="微软雅黑" panose="020B0503020204020204" pitchFamily="34" charset="-122"/>
              <a:ea typeface="微软雅黑" panose="020B0503020204020204" pitchFamily="34" charset="-122"/>
            </a:endParaRPr>
          </a:p>
          <a:p>
            <a:pPr marL="273050" algn="just">
              <a:lnSpc>
                <a:spcPct val="150000"/>
              </a:lnSpc>
            </a:pPr>
            <a:endParaRPr lang="en-US" altLang="zh-CN" sz="800" b="0" i="0" baseline="0" dirty="0">
              <a:latin typeface="微软雅黑" panose="020B0503020204020204" pitchFamily="34" charset="-122"/>
              <a:ea typeface="微软雅黑" panose="020B0503020204020204" pitchFamily="34" charset="-122"/>
            </a:endParaRPr>
          </a:p>
          <a:p>
            <a:pPr marL="285750" indent="-285750" algn="just">
              <a:lnSpc>
                <a:spcPct val="200000"/>
              </a:lnSpc>
              <a:buClr>
                <a:srgbClr val="FF0000"/>
              </a:buClr>
              <a:buSzPct val="80000"/>
              <a:buFont typeface="Wingdings" panose="05000000000000000000" pitchFamily="2" charset="2"/>
              <a:buChar char="u"/>
            </a:pPr>
            <a:r>
              <a:rPr lang="zh-CN" altLang="en-US" sz="1800" i="0" baseline="0" dirty="0">
                <a:latin typeface="微软雅黑" panose="020B0503020204020204" pitchFamily="34" charset="-122"/>
                <a:ea typeface="微软雅黑" panose="020B0503020204020204" pitchFamily="34" charset="-122"/>
              </a:rPr>
              <a:t>受控访问协议 ➡️ 依次排队 </a:t>
            </a:r>
            <a:endParaRPr lang="en-US" altLang="zh-CN" sz="1800" i="0" baseline="0" dirty="0">
              <a:latin typeface="微软雅黑" panose="020B0503020204020204" pitchFamily="34" charset="-122"/>
              <a:ea typeface="微软雅黑" panose="020B0503020204020204" pitchFamily="34" charset="-122"/>
            </a:endParaRPr>
          </a:p>
          <a:p>
            <a:pPr marL="273050" algn="just">
              <a:lnSpc>
                <a:spcPct val="200000"/>
              </a:lnSpc>
            </a:pPr>
            <a:r>
              <a:rPr lang="zh-CN" altLang="en-US" sz="1800" b="0" i="0" baseline="0" dirty="0">
                <a:latin typeface="微软雅黑" panose="020B0503020204020204" pitchFamily="34" charset="-122"/>
                <a:ea typeface="微软雅黑" panose="020B0503020204020204" pitchFamily="34" charset="-122"/>
              </a:rPr>
              <a:t>多个节点在一定规则控制下轮流发送数据，以信道的全部发送速率发送。完全满足理想情况① 。</a:t>
            </a:r>
            <a:endParaRPr lang="en-US" altLang="zh-CN" sz="1800" b="0" i="0" baseline="0" dirty="0">
              <a:latin typeface="微软雅黑" panose="020B0503020204020204" pitchFamily="34" charset="-122"/>
              <a:ea typeface="微软雅黑" panose="020B0503020204020204" pitchFamily="34" charset="-122"/>
            </a:endParaRPr>
          </a:p>
          <a:p>
            <a:pPr marL="273050" algn="just">
              <a:lnSpc>
                <a:spcPct val="150000"/>
              </a:lnSpc>
            </a:pPr>
            <a:endParaRPr lang="en-US" altLang="zh-CN" sz="800" b="0" i="0" baseline="0" dirty="0">
              <a:latin typeface="微软雅黑" panose="020B0503020204020204" pitchFamily="34" charset="-122"/>
              <a:ea typeface="微软雅黑" panose="020B0503020204020204" pitchFamily="34" charset="-122"/>
            </a:endParaRPr>
          </a:p>
          <a:p>
            <a:pPr marL="285750" indent="-285750" algn="just">
              <a:lnSpc>
                <a:spcPct val="200000"/>
              </a:lnSpc>
              <a:buClr>
                <a:srgbClr val="FF0000"/>
              </a:buClr>
              <a:buSzPct val="80000"/>
              <a:buFont typeface="Wingdings" panose="05000000000000000000" pitchFamily="2" charset="2"/>
              <a:buChar char="u"/>
            </a:pPr>
            <a:r>
              <a:rPr lang="zh-CN" altLang="en-US" sz="1800" i="0" baseline="0" dirty="0">
                <a:latin typeface="微软雅黑" panose="020B0503020204020204" pitchFamily="34" charset="-122"/>
                <a:ea typeface="微软雅黑" panose="020B0503020204020204" pitchFamily="34" charset="-122"/>
              </a:rPr>
              <a:t>信道划分协议 ➡️ 规划信道 </a:t>
            </a:r>
            <a:endParaRPr lang="en-US" altLang="zh-CN" sz="1800" i="0" baseline="0" dirty="0">
              <a:latin typeface="微软雅黑" panose="020B0503020204020204" pitchFamily="34" charset="-122"/>
              <a:ea typeface="微软雅黑" panose="020B0503020204020204" pitchFamily="34" charset="-122"/>
            </a:endParaRPr>
          </a:p>
          <a:p>
            <a:pPr marL="273050" algn="just">
              <a:lnSpc>
                <a:spcPct val="200000"/>
              </a:lnSpc>
            </a:pPr>
            <a:r>
              <a:rPr lang="zh-CN" altLang="en-US" sz="1800" b="0" i="0" baseline="0" dirty="0">
                <a:latin typeface="微软雅黑" panose="020B0503020204020204" pitchFamily="34" charset="-122"/>
                <a:ea typeface="微软雅黑" panose="020B0503020204020204" pitchFamily="34" charset="-122"/>
              </a:rPr>
              <a:t>采用多路复用技术，将链路、网络资源（如带宽）划分为“资源片”分配给各路通信，每路通信独占分配到的资源片进行通信。满足理想情况② 。</a:t>
            </a:r>
          </a:p>
        </p:txBody>
      </p:sp>
    </p:spTree>
    <p:extLst>
      <p:ext uri="{BB962C8B-B14F-4D97-AF65-F5344CB8AC3E}">
        <p14:creationId xmlns:p14="http://schemas.microsoft.com/office/powerpoint/2010/main" val="247649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FDBFE065-2DC6-43F5-9BC5-A4E517C2E819}"/>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565251" name="Text Box 3">
            <a:extLst>
              <a:ext uri="{FF2B5EF4-FFF2-40B4-BE49-F238E27FC236}">
                <a16:creationId xmlns:a16="http://schemas.microsoft.com/office/drawing/2014/main" id="{B12CC6D1-848B-4674-8FF6-4720B5F7EB30}"/>
              </a:ext>
            </a:extLst>
          </p:cNvPr>
          <p:cNvSpPr txBox="1">
            <a:spLocks noChangeArrowheads="1"/>
          </p:cNvSpPr>
          <p:nvPr/>
        </p:nvSpPr>
        <p:spPr bwMode="auto">
          <a:xfrm>
            <a:off x="457200" y="279112"/>
            <a:ext cx="3889206" cy="584775"/>
          </a:xfrm>
          <a:prstGeom prst="rect">
            <a:avLst/>
          </a:prstGeom>
          <a:noFill/>
          <a:ln>
            <a:noFill/>
          </a:ln>
          <a:effectLst/>
        </p:spPr>
        <p:txBody>
          <a:bodyPr wrap="none">
            <a:spAutoFit/>
          </a:bodyPr>
          <a:lstStyle/>
          <a:p>
            <a:pPr>
              <a:defRPr/>
            </a:pPr>
            <a:r>
              <a:rPr lang="en-US" altLang="zh-CN" sz="3200" i="0" baseline="0" dirty="0">
                <a:latin typeface="微软雅黑" panose="020B0503020204020204" pitchFamily="34" charset="-122"/>
                <a:ea typeface="微软雅黑" panose="020B0503020204020204" pitchFamily="34" charset="-122"/>
              </a:rPr>
              <a:t>12.1   </a:t>
            </a:r>
            <a:r>
              <a:rPr lang="zh-CN" altLang="en-US" sz="3200" i="0" baseline="0" dirty="0">
                <a:latin typeface="微软雅黑" panose="020B0503020204020204" pitchFamily="34" charset="-122"/>
                <a:ea typeface="微软雅黑" panose="020B0503020204020204" pitchFamily="34" charset="-122"/>
              </a:rPr>
              <a:t>随机访问协议</a:t>
            </a:r>
            <a:endParaRPr lang="en-US" altLang="zh-CN" sz="3200" i="0" baseline="0" dirty="0">
              <a:latin typeface="微软雅黑" panose="020B0503020204020204" pitchFamily="34" charset="-122"/>
              <a:ea typeface="微软雅黑" panose="020B0503020204020204" pitchFamily="34" charset="-122"/>
            </a:endParaRPr>
          </a:p>
        </p:txBody>
      </p:sp>
      <p:sp>
        <p:nvSpPr>
          <p:cNvPr id="22533" name="Text Box 4">
            <a:extLst>
              <a:ext uri="{FF2B5EF4-FFF2-40B4-BE49-F238E27FC236}">
                <a16:creationId xmlns:a16="http://schemas.microsoft.com/office/drawing/2014/main" id="{9FEDF561-A236-47D8-BE01-1293C5DF1A4F}"/>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zh-CN" sz="1800" i="0" baseline="0">
              <a:ea typeface="宋体" panose="02010600030101010101" pitchFamily="2" charset="-122"/>
            </a:endParaRPr>
          </a:p>
        </p:txBody>
      </p:sp>
      <p:sp>
        <p:nvSpPr>
          <p:cNvPr id="22534" name="Rectangle 5">
            <a:extLst>
              <a:ext uri="{FF2B5EF4-FFF2-40B4-BE49-F238E27FC236}">
                <a16:creationId xmlns:a16="http://schemas.microsoft.com/office/drawing/2014/main" id="{457B17C6-9728-4790-B731-4630E29843FF}"/>
              </a:ext>
            </a:extLst>
          </p:cNvPr>
          <p:cNvSpPr>
            <a:spLocks noChangeArrowheads="1"/>
          </p:cNvSpPr>
          <p:nvPr/>
        </p:nvSpPr>
        <p:spPr bwMode="auto">
          <a:xfrm>
            <a:off x="1333500" y="1443448"/>
            <a:ext cx="9525000" cy="4406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eaLnBrk="1" hangingPunct="1">
              <a:lnSpc>
                <a:spcPct val="250000"/>
              </a:lnSpc>
            </a:pPr>
            <a:r>
              <a:rPr lang="zh-CN" altLang="en-US" sz="1800" b="0" i="0" baseline="0" dirty="0">
                <a:latin typeface="微软雅黑" panose="020B0503020204020204" pitchFamily="34" charset="-122"/>
                <a:ea typeface="微软雅黑" panose="020B0503020204020204" pitchFamily="34" charset="-122"/>
              </a:rPr>
              <a:t>在随机访问（竞争访问）方式中，没有一个站点是优于其它站点的，也不能控制其它站点。没有站点有权力允许或不允许其它站点发送或不发送数据，有数据要发送的站点通过自身的协议来决定发送还是不发送数据。</a:t>
            </a:r>
            <a:endParaRPr lang="en-US" altLang="zh-CN" sz="1800" b="0" i="0" baseline="0" dirty="0">
              <a:latin typeface="微软雅黑" panose="020B0503020204020204" pitchFamily="34" charset="-122"/>
              <a:ea typeface="微软雅黑" panose="020B0503020204020204" pitchFamily="34" charset="-122"/>
            </a:endParaRPr>
          </a:p>
          <a:p>
            <a:pPr algn="just" eaLnBrk="1" hangingPunct="1"/>
            <a:endParaRPr lang="en-US" altLang="zh-CN" sz="1800" b="0" i="0" baseline="0" dirty="0">
              <a:latin typeface="微软雅黑" panose="020B0503020204020204" pitchFamily="34" charset="-122"/>
              <a:ea typeface="微软雅黑" panose="020B0503020204020204" pitchFamily="34" charset="-122"/>
            </a:endParaRPr>
          </a:p>
          <a:p>
            <a:pPr algn="just" eaLnBrk="1" hangingPunct="1">
              <a:lnSpc>
                <a:spcPct val="250000"/>
              </a:lnSpc>
            </a:pPr>
            <a:r>
              <a:rPr lang="zh-CN" altLang="en-US" sz="1800" b="0" i="0" baseline="0" dirty="0">
                <a:latin typeface="微软雅黑" panose="020B0503020204020204" pitchFamily="34" charset="-122"/>
                <a:ea typeface="微软雅黑" panose="020B0503020204020204" pitchFamily="34" charset="-122"/>
              </a:rPr>
              <a:t>包括</a:t>
            </a:r>
            <a:r>
              <a:rPr lang="en-US" altLang="zh-CN" sz="1800" b="0" i="0" baseline="0" dirty="0">
                <a:latin typeface="微软雅黑" panose="020B0503020204020204" pitchFamily="34" charset="-122"/>
                <a:ea typeface="微软雅黑" panose="020B0503020204020204" pitchFamily="34" charset="-122"/>
              </a:rPr>
              <a:t>ALOHA</a:t>
            </a:r>
            <a:r>
              <a:rPr lang="zh-CN" altLang="en-US" sz="1800" b="0" i="0" baseline="0" dirty="0">
                <a:latin typeface="微软雅黑" panose="020B0503020204020204" pitchFamily="34" charset="-122"/>
                <a:ea typeface="微软雅黑" panose="020B0503020204020204" pitchFamily="34" charset="-122"/>
              </a:rPr>
              <a:t>协议、载波侦听多路访问协议</a:t>
            </a:r>
            <a:r>
              <a:rPr lang="en-US" altLang="zh-CN" sz="1800" b="0" i="0" baseline="0" dirty="0">
                <a:latin typeface="微软雅黑" panose="020B0503020204020204" pitchFamily="34" charset="-122"/>
                <a:ea typeface="微软雅黑" panose="020B0503020204020204" pitchFamily="34" charset="-122"/>
              </a:rPr>
              <a:t>CSMA (Carrier Sense Multiple Access)</a:t>
            </a:r>
            <a:r>
              <a:rPr lang="zh-CN" altLang="en-US" sz="1800" b="0" i="0" baseline="0" dirty="0">
                <a:latin typeface="微软雅黑" panose="020B0503020204020204" pitchFamily="34" charset="-122"/>
                <a:ea typeface="微软雅黑" panose="020B0503020204020204" pitchFamily="34" charset="-122"/>
              </a:rPr>
              <a:t>、带冲突检测的</a:t>
            </a:r>
            <a:r>
              <a:rPr lang="en-US" altLang="zh-CN" sz="1800" b="0" i="0" baseline="0" dirty="0">
                <a:latin typeface="微软雅黑" panose="020B0503020204020204" pitchFamily="34" charset="-122"/>
                <a:ea typeface="微软雅黑" panose="020B0503020204020204" pitchFamily="34" charset="-122"/>
              </a:rPr>
              <a:t>CSMA (Carrier Sense Multiple Access with Collision Detection) </a:t>
            </a:r>
            <a:r>
              <a:rPr lang="zh-CN" altLang="en-US" sz="1800" b="0" i="0" baseline="0" dirty="0">
                <a:latin typeface="微软雅黑" panose="020B0503020204020204" pitchFamily="34" charset="-122"/>
                <a:ea typeface="微软雅黑" panose="020B0503020204020204" pitchFamily="34" charset="-122"/>
              </a:rPr>
              <a:t>和带冲突避免的</a:t>
            </a:r>
            <a:r>
              <a:rPr lang="en-US" altLang="zh-CN" sz="1800" b="0" i="0" baseline="0" dirty="0">
                <a:latin typeface="微软雅黑" panose="020B0503020204020204" pitchFamily="34" charset="-122"/>
                <a:ea typeface="微软雅黑" panose="020B0503020204020204" pitchFamily="34" charset="-122"/>
              </a:rPr>
              <a:t>CSMA (Carrier Sense Multiple Access with Collision Avoidance)</a:t>
            </a:r>
            <a:r>
              <a:rPr lang="zh-CN" altLang="en-US" sz="1800" b="0" i="0" baseline="0" dirty="0">
                <a:latin typeface="微软雅黑" panose="020B0503020204020204" pitchFamily="34" charset="-122"/>
                <a:ea typeface="微软雅黑" panose="020B0503020204020204" pitchFamily="34" charset="-122"/>
              </a:rPr>
              <a:t>。</a:t>
            </a:r>
            <a:endParaRPr lang="en-US" altLang="zh-CN" sz="1800" b="0" i="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Text Box 4">
            <a:extLst>
              <a:ext uri="{FF2B5EF4-FFF2-40B4-BE49-F238E27FC236}">
                <a16:creationId xmlns:a16="http://schemas.microsoft.com/office/drawing/2014/main" id="{92B56675-8F3C-4F49-8148-EC7D716D2DB3}"/>
              </a:ext>
            </a:extLst>
          </p:cNvPr>
          <p:cNvSpPr txBox="1">
            <a:spLocks noChangeArrowheads="1"/>
          </p:cNvSpPr>
          <p:nvPr/>
        </p:nvSpPr>
        <p:spPr bwMode="auto">
          <a:xfrm>
            <a:off x="5105401" y="5682712"/>
            <a:ext cx="18630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12.3  </a:t>
            </a:r>
            <a:r>
              <a:rPr lang="zh-CN" altLang="en-US" sz="1600" i="0" baseline="0" dirty="0">
                <a:ea typeface="宋体" panose="02010600030101010101" pitchFamily="2" charset="-122"/>
              </a:rPr>
              <a:t>纯</a:t>
            </a:r>
            <a:r>
              <a:rPr lang="en-US" altLang="zh-CN" sz="1600" i="0" baseline="0" dirty="0">
                <a:ea typeface="宋体" panose="02010600030101010101" pitchFamily="2" charset="-122"/>
              </a:rPr>
              <a:t>ALOHA</a:t>
            </a:r>
          </a:p>
        </p:txBody>
      </p:sp>
      <p:pic>
        <p:nvPicPr>
          <p:cNvPr id="24583" name="Picture 7">
            <a:extLst>
              <a:ext uri="{FF2B5EF4-FFF2-40B4-BE49-F238E27FC236}">
                <a16:creationId xmlns:a16="http://schemas.microsoft.com/office/drawing/2014/main" id="{BA89C6C7-75F5-4437-8999-939CD029CD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600200"/>
            <a:ext cx="8063212" cy="3798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8121E8E-AF9F-4F93-9257-4A0FE477289E}"/>
              </a:ext>
            </a:extLst>
          </p:cNvPr>
          <p:cNvSpPr/>
          <p:nvPr/>
        </p:nvSpPr>
        <p:spPr>
          <a:xfrm>
            <a:off x="4038600" y="82296"/>
            <a:ext cx="2216889" cy="523220"/>
          </a:xfrm>
          <a:prstGeom prst="rect">
            <a:avLst/>
          </a:prstGeom>
        </p:spPr>
        <p:txBody>
          <a:bodyPr wrap="none">
            <a:spAutoFit/>
          </a:bodyPr>
          <a:lstStyle/>
          <a:p>
            <a:r>
              <a:rPr lang="en-US" altLang="zh-CN" i="0" baseline="0" dirty="0">
                <a:solidFill>
                  <a:schemeClr val="bg1"/>
                </a:solidFill>
                <a:latin typeface="微软雅黑" panose="020B0503020204020204" pitchFamily="34" charset="-122"/>
                <a:ea typeface="微软雅黑" panose="020B0503020204020204" pitchFamily="34" charset="-122"/>
              </a:rPr>
              <a:t>ALOHA</a:t>
            </a:r>
            <a:r>
              <a:rPr lang="zh-CN" altLang="en-US" i="0" baseline="0" dirty="0">
                <a:solidFill>
                  <a:schemeClr val="bg1"/>
                </a:solidFill>
                <a:latin typeface="微软雅黑" panose="020B0503020204020204" pitchFamily="34" charset="-122"/>
                <a:ea typeface="微软雅黑" panose="020B0503020204020204" pitchFamily="34" charset="-122"/>
              </a:rPr>
              <a:t>协议</a:t>
            </a:r>
            <a:endParaRPr lang="zh-CN" alt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a:extLst>
              <a:ext uri="{FF2B5EF4-FFF2-40B4-BE49-F238E27FC236}">
                <a16:creationId xmlns:a16="http://schemas.microsoft.com/office/drawing/2014/main" id="{BD5F8A31-EC4D-4325-8ECD-A0561AAB4E7A}"/>
              </a:ext>
            </a:extLst>
          </p:cNvPr>
          <p:cNvSpPr txBox="1">
            <a:spLocks noChangeArrowheads="1"/>
          </p:cNvSpPr>
          <p:nvPr/>
        </p:nvSpPr>
        <p:spPr bwMode="auto">
          <a:xfrm>
            <a:off x="3579926" y="5562600"/>
            <a:ext cx="50321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400" i="0" baseline="0" dirty="0">
                <a:solidFill>
                  <a:schemeClr val="folHlink"/>
                </a:solidFill>
                <a:ea typeface="宋体" panose="02010600030101010101" pitchFamily="2" charset="-122"/>
              </a:rPr>
              <a:t>图</a:t>
            </a:r>
            <a:r>
              <a:rPr lang="en-US" altLang="zh-CN" sz="1400" i="0" baseline="0" dirty="0">
                <a:solidFill>
                  <a:schemeClr val="folHlink"/>
                </a:solidFill>
                <a:ea typeface="宋体" panose="02010600030101010101" pitchFamily="2" charset="-122"/>
              </a:rPr>
              <a:t> 12.15  </a:t>
            </a:r>
            <a:r>
              <a:rPr lang="zh-CN" altLang="en-US" sz="1400" i="0" baseline="0" dirty="0">
                <a:ea typeface="宋体" panose="02010600030101010101" pitchFamily="2" charset="-122"/>
              </a:rPr>
              <a:t>信道在传输、空闲、冲突状态下电磁波能量级别大小</a:t>
            </a:r>
            <a:endParaRPr lang="en-US" altLang="zh-CN" sz="1400" i="0" baseline="0" dirty="0">
              <a:ea typeface="宋体" panose="02010600030101010101" pitchFamily="2" charset="-122"/>
            </a:endParaRPr>
          </a:p>
        </p:txBody>
      </p:sp>
      <p:pic>
        <p:nvPicPr>
          <p:cNvPr id="11" name="Picture 7">
            <a:extLst>
              <a:ext uri="{FF2B5EF4-FFF2-40B4-BE49-F238E27FC236}">
                <a16:creationId xmlns:a16="http://schemas.microsoft.com/office/drawing/2014/main" id="{69D8A03A-59C7-45E0-A141-252F1B8F6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5219" y="3027641"/>
            <a:ext cx="6901559" cy="217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228083AA-A52B-4945-8B4A-360D55BEC339}"/>
              </a:ext>
            </a:extLst>
          </p:cNvPr>
          <p:cNvSpPr/>
          <p:nvPr/>
        </p:nvSpPr>
        <p:spPr>
          <a:xfrm>
            <a:off x="1466088" y="2130552"/>
            <a:ext cx="9906000" cy="369332"/>
          </a:xfrm>
          <a:prstGeom prst="rect">
            <a:avLst/>
          </a:prstGeom>
        </p:spPr>
        <p:txBody>
          <a:bodyPr wrap="square">
            <a:spAutoFit/>
          </a:bodyPr>
          <a:lstStyle/>
          <a:p>
            <a:r>
              <a:rPr lang="zh-CN" altLang="en-US" sz="1800" b="0" i="0" baseline="0" dirty="0">
                <a:latin typeface="微软雅黑" panose="020B0503020204020204" pitchFamily="34" charset="-122"/>
                <a:ea typeface="微软雅黑" panose="020B0503020204020204" pitchFamily="34" charset="-122"/>
              </a:rPr>
              <a:t>当多个站点同时向总线发送信号时，这些信号会在总线上相互叠加，导致信号失真或干扰。</a:t>
            </a:r>
            <a:endParaRPr lang="zh-CN" altLang="en-US" sz="1800" baseline="0"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FDCBE78-F489-47DF-97B6-A85E1E3113E9}"/>
              </a:ext>
            </a:extLst>
          </p:cNvPr>
          <p:cNvSpPr txBox="1"/>
          <p:nvPr/>
        </p:nvSpPr>
        <p:spPr>
          <a:xfrm>
            <a:off x="1466088" y="1232585"/>
            <a:ext cx="6705600" cy="523220"/>
          </a:xfrm>
          <a:prstGeom prst="rect">
            <a:avLst/>
          </a:prstGeom>
          <a:noFill/>
        </p:spPr>
        <p:txBody>
          <a:bodyPr wrap="square" rtlCol="0">
            <a:spAutoFit/>
          </a:bodyPr>
          <a:lstStyle/>
          <a:p>
            <a:r>
              <a:rPr lang="zh-CN" altLang="en-US" i="0" baseline="0" dirty="0">
                <a:latin typeface="微软雅黑" panose="020B0503020204020204" pitchFamily="34" charset="-122"/>
                <a:ea typeface="微软雅黑" panose="020B0503020204020204" pitchFamily="34" charset="-122"/>
              </a:rPr>
              <a:t>什么是冲突？</a:t>
            </a:r>
          </a:p>
        </p:txBody>
      </p:sp>
    </p:spTree>
    <p:extLst>
      <p:ext uri="{BB962C8B-B14F-4D97-AF65-F5344CB8AC3E}">
        <p14:creationId xmlns:p14="http://schemas.microsoft.com/office/powerpoint/2010/main" val="248854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Text Box 4">
            <a:extLst>
              <a:ext uri="{FF2B5EF4-FFF2-40B4-BE49-F238E27FC236}">
                <a16:creationId xmlns:a16="http://schemas.microsoft.com/office/drawing/2014/main" id="{CE297F73-C4AE-4866-976B-A6DDDF9A41D0}"/>
              </a:ext>
            </a:extLst>
          </p:cNvPr>
          <p:cNvSpPr txBox="1">
            <a:spLocks noChangeArrowheads="1"/>
          </p:cNvSpPr>
          <p:nvPr/>
        </p:nvSpPr>
        <p:spPr bwMode="auto">
          <a:xfrm>
            <a:off x="4544133" y="6057166"/>
            <a:ext cx="31037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12.4  </a:t>
            </a:r>
            <a:r>
              <a:rPr lang="zh-CN" altLang="en-US" sz="1600" i="0" baseline="0" dirty="0">
                <a:ea typeface="宋体" panose="02010600030101010101" pitchFamily="2" charset="-122"/>
              </a:rPr>
              <a:t>纯</a:t>
            </a:r>
            <a:r>
              <a:rPr lang="en-US" altLang="zh-CN" sz="1600" i="0" baseline="0" dirty="0">
                <a:ea typeface="宋体" panose="02010600030101010101" pitchFamily="2" charset="-122"/>
              </a:rPr>
              <a:t>ALOHA</a:t>
            </a:r>
            <a:r>
              <a:rPr lang="zh-CN" altLang="en-US" sz="1600" i="0" baseline="0" dirty="0">
                <a:ea typeface="宋体" panose="02010600030101010101" pitchFamily="2" charset="-122"/>
              </a:rPr>
              <a:t>协议的流程图</a:t>
            </a:r>
            <a:endParaRPr lang="en-US" altLang="zh-CN" sz="1600" i="0" baseline="0" dirty="0">
              <a:ea typeface="宋体" panose="02010600030101010101" pitchFamily="2" charset="-122"/>
            </a:endParaRPr>
          </a:p>
        </p:txBody>
      </p:sp>
      <p:pic>
        <p:nvPicPr>
          <p:cNvPr id="26631" name="Picture 8">
            <a:extLst>
              <a:ext uri="{FF2B5EF4-FFF2-40B4-BE49-F238E27FC236}">
                <a16:creationId xmlns:a16="http://schemas.microsoft.com/office/drawing/2014/main" id="{9E492AC4-1970-4A76-86DA-9075E53D9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061" y="1143000"/>
            <a:ext cx="587587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D372C306-32A0-4606-9D29-6641D44BEAD8}"/>
              </a:ext>
            </a:extLst>
          </p:cNvPr>
          <p:cNvSpPr/>
          <p:nvPr/>
        </p:nvSpPr>
        <p:spPr bwMode="auto">
          <a:xfrm>
            <a:off x="2304542" y="4276089"/>
            <a:ext cx="4316364" cy="504824"/>
          </a:xfrm>
          <a:prstGeom prst="rect">
            <a:avLst/>
          </a:prstGeom>
          <a:solidFill>
            <a:srgbClr val="97DC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1" u="none" strike="noStrike" cap="none" normalizeH="0" baseline="-10000">
              <a:ln>
                <a:noFill/>
              </a:ln>
              <a:solidFill>
                <a:schemeClr val="tx1"/>
              </a:solidFill>
              <a:effectLst/>
              <a:latin typeface="Times New Roman" pitchFamily="18" charset="0"/>
            </a:endParaRPr>
          </a:p>
        </p:txBody>
      </p:sp>
      <p:sp>
        <p:nvSpPr>
          <p:cNvPr id="2" name="矩形 1">
            <a:extLst>
              <a:ext uri="{FF2B5EF4-FFF2-40B4-BE49-F238E27FC236}">
                <a16:creationId xmlns:a16="http://schemas.microsoft.com/office/drawing/2014/main" id="{BFFD10A0-F5B3-40F3-A5D2-EB277EC4ADA1}"/>
              </a:ext>
            </a:extLst>
          </p:cNvPr>
          <p:cNvSpPr/>
          <p:nvPr/>
        </p:nvSpPr>
        <p:spPr bwMode="auto">
          <a:xfrm>
            <a:off x="2305050" y="2154680"/>
            <a:ext cx="4309882" cy="504825"/>
          </a:xfrm>
          <a:prstGeom prst="rect">
            <a:avLst/>
          </a:prstGeom>
          <a:solidFill>
            <a:srgbClr val="97DC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1" u="none" strike="noStrike" cap="none" normalizeH="0" baseline="-10000">
              <a:ln>
                <a:noFill/>
              </a:ln>
              <a:solidFill>
                <a:schemeClr val="tx1"/>
              </a:solidFill>
              <a:effectLst/>
              <a:latin typeface="Times New Roman" pitchFamily="18" charset="0"/>
            </a:endParaRPr>
          </a:p>
        </p:txBody>
      </p:sp>
      <p:sp>
        <p:nvSpPr>
          <p:cNvPr id="11" name="Rectangle 55">
            <a:extLst>
              <a:ext uri="{FF2B5EF4-FFF2-40B4-BE49-F238E27FC236}">
                <a16:creationId xmlns:a16="http://schemas.microsoft.com/office/drawing/2014/main" id="{D31F9C24-BAD1-4557-B3E0-651AE6E430EE}"/>
              </a:ext>
            </a:extLst>
          </p:cNvPr>
          <p:cNvSpPr>
            <a:spLocks noChangeArrowheads="1"/>
          </p:cNvSpPr>
          <p:nvPr/>
        </p:nvSpPr>
        <p:spPr bwMode="auto">
          <a:xfrm>
            <a:off x="2305051" y="2333561"/>
            <a:ext cx="3400425" cy="144462"/>
          </a:xfrm>
          <a:prstGeom prst="rect">
            <a:avLst/>
          </a:prstGeom>
          <a:solidFill>
            <a:srgbClr val="C00000"/>
          </a:solidFill>
          <a:ln w="12700">
            <a:solidFill>
              <a:srgbClr val="C00000"/>
            </a:solidFill>
            <a:miter lim="800000"/>
            <a:headEnd/>
            <a:tailEnd/>
          </a:ln>
        </p:spPr>
        <p:txBody>
          <a:bodyPr wrap="none" anchor="ctr"/>
          <a:lstStyle/>
          <a:p>
            <a:pPr>
              <a:defRPr/>
            </a:pPr>
            <a:endParaRPr lang="zh-CN" altLang="en-US" dirty="0">
              <a:solidFill>
                <a:schemeClr val="tx2">
                  <a:lumMod val="75000"/>
                </a:schemeClr>
              </a:solidFill>
              <a:ea typeface="宋体" pitchFamily="2" charset="-122"/>
            </a:endParaRPr>
          </a:p>
        </p:txBody>
      </p:sp>
      <p:sp>
        <p:nvSpPr>
          <p:cNvPr id="12" name="Rectangle 56">
            <a:extLst>
              <a:ext uri="{FF2B5EF4-FFF2-40B4-BE49-F238E27FC236}">
                <a16:creationId xmlns:a16="http://schemas.microsoft.com/office/drawing/2014/main" id="{A1B0C3DF-D312-44C8-A862-786F844F4D17}"/>
              </a:ext>
            </a:extLst>
          </p:cNvPr>
          <p:cNvSpPr>
            <a:spLocks noChangeArrowheads="1"/>
          </p:cNvSpPr>
          <p:nvPr/>
        </p:nvSpPr>
        <p:spPr bwMode="auto">
          <a:xfrm>
            <a:off x="1905000" y="2133600"/>
            <a:ext cx="400050" cy="504825"/>
          </a:xfrm>
          <a:prstGeom prst="rect">
            <a:avLst/>
          </a:prstGeom>
          <a:noFill/>
          <a:ln w="12700">
            <a:noFill/>
            <a:miter lim="800000"/>
            <a:headEnd/>
            <a:tailEnd/>
          </a:ln>
        </p:spPr>
        <p:txBody>
          <a:bodyPr wrap="none" anchor="ctr"/>
          <a:lstStyle>
            <a:lvl1pPr defTabSz="762000">
              <a:defRPr sz="2800" b="1" i="1" baseline="-10000">
                <a:solidFill>
                  <a:schemeClr val="tx1"/>
                </a:solidFill>
                <a:latin typeface="Times New Roman" panose="02020603050405020304" pitchFamily="18" charset="0"/>
              </a:defRPr>
            </a:lvl1pPr>
            <a:lvl2pPr marL="742950" indent="-285750" defTabSz="762000">
              <a:defRPr sz="2800" b="1" i="1" baseline="-10000">
                <a:solidFill>
                  <a:schemeClr val="tx1"/>
                </a:solidFill>
                <a:latin typeface="Times New Roman" panose="02020603050405020304" pitchFamily="18" charset="0"/>
              </a:defRPr>
            </a:lvl2pPr>
            <a:lvl3pPr marL="1143000" indent="-228600" defTabSz="762000">
              <a:defRPr sz="2800" b="1" i="1" baseline="-10000">
                <a:solidFill>
                  <a:schemeClr val="tx1"/>
                </a:solidFill>
                <a:latin typeface="Times New Roman" panose="02020603050405020304" pitchFamily="18" charset="0"/>
              </a:defRPr>
            </a:lvl3pPr>
            <a:lvl4pPr marL="1600200" indent="-228600" defTabSz="762000">
              <a:defRPr sz="2800" b="1" i="1" baseline="-10000">
                <a:solidFill>
                  <a:schemeClr val="tx1"/>
                </a:solidFill>
                <a:latin typeface="Times New Roman" panose="02020603050405020304" pitchFamily="18" charset="0"/>
              </a:defRPr>
            </a:lvl4pPr>
            <a:lvl5pPr marL="2057400" indent="-228600" defTabSz="762000">
              <a:defRPr sz="2800" b="1" i="1" baseline="-100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kumimoji="1" lang="en-US" altLang="zh-CN" i="0" dirty="0">
                <a:latin typeface="微软雅黑" panose="020B0503020204020204" pitchFamily="34" charset="-122"/>
                <a:ea typeface="微软雅黑" panose="020B0503020204020204" pitchFamily="34" charset="-122"/>
              </a:rPr>
              <a:t>A</a:t>
            </a:r>
          </a:p>
        </p:txBody>
      </p:sp>
      <p:sp>
        <p:nvSpPr>
          <p:cNvPr id="13" name="Rectangle 57">
            <a:extLst>
              <a:ext uri="{FF2B5EF4-FFF2-40B4-BE49-F238E27FC236}">
                <a16:creationId xmlns:a16="http://schemas.microsoft.com/office/drawing/2014/main" id="{935DB62A-17FA-41E3-A02B-7BAEC7831553}"/>
              </a:ext>
            </a:extLst>
          </p:cNvPr>
          <p:cNvSpPr>
            <a:spLocks noChangeArrowheads="1"/>
          </p:cNvSpPr>
          <p:nvPr/>
        </p:nvSpPr>
        <p:spPr bwMode="auto">
          <a:xfrm>
            <a:off x="6616700" y="2133600"/>
            <a:ext cx="400050" cy="504825"/>
          </a:xfrm>
          <a:prstGeom prst="rect">
            <a:avLst/>
          </a:prstGeom>
          <a:noFill/>
          <a:ln w="12700">
            <a:noFill/>
            <a:miter lim="800000"/>
            <a:headEnd/>
            <a:tailEnd/>
          </a:ln>
        </p:spPr>
        <p:txBody>
          <a:bodyPr wrap="none" anchor="ctr"/>
          <a:lstStyle>
            <a:lvl1pPr defTabSz="762000">
              <a:defRPr sz="2800" b="1" i="1" baseline="-10000">
                <a:solidFill>
                  <a:schemeClr val="tx1"/>
                </a:solidFill>
                <a:latin typeface="Times New Roman" panose="02020603050405020304" pitchFamily="18" charset="0"/>
              </a:defRPr>
            </a:lvl1pPr>
            <a:lvl2pPr marL="742950" indent="-285750" defTabSz="762000">
              <a:defRPr sz="2800" b="1" i="1" baseline="-10000">
                <a:solidFill>
                  <a:schemeClr val="tx1"/>
                </a:solidFill>
                <a:latin typeface="Times New Roman" panose="02020603050405020304" pitchFamily="18" charset="0"/>
              </a:defRPr>
            </a:lvl2pPr>
            <a:lvl3pPr marL="1143000" indent="-228600" defTabSz="762000">
              <a:defRPr sz="2800" b="1" i="1" baseline="-10000">
                <a:solidFill>
                  <a:schemeClr val="tx1"/>
                </a:solidFill>
                <a:latin typeface="Times New Roman" panose="02020603050405020304" pitchFamily="18" charset="0"/>
              </a:defRPr>
            </a:lvl3pPr>
            <a:lvl4pPr marL="1600200" indent="-228600" defTabSz="762000">
              <a:defRPr sz="2800" b="1" i="1" baseline="-10000">
                <a:solidFill>
                  <a:schemeClr val="tx1"/>
                </a:solidFill>
                <a:latin typeface="Times New Roman" panose="02020603050405020304" pitchFamily="18" charset="0"/>
              </a:defRPr>
            </a:lvl4pPr>
            <a:lvl5pPr marL="2057400" indent="-228600" defTabSz="762000">
              <a:defRPr sz="2800" b="1" i="1" baseline="-100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kumimoji="1" lang="en-US" altLang="zh-CN" i="0" dirty="0">
                <a:latin typeface="微软雅黑" panose="020B0503020204020204" pitchFamily="34" charset="-122"/>
                <a:ea typeface="微软雅黑" panose="020B0503020204020204" pitchFamily="34" charset="-122"/>
              </a:rPr>
              <a:t>B</a:t>
            </a:r>
          </a:p>
        </p:txBody>
      </p:sp>
      <p:sp>
        <p:nvSpPr>
          <p:cNvPr id="17" name="Rectangle 55">
            <a:extLst>
              <a:ext uri="{FF2B5EF4-FFF2-40B4-BE49-F238E27FC236}">
                <a16:creationId xmlns:a16="http://schemas.microsoft.com/office/drawing/2014/main" id="{C030455B-C417-4341-BD33-182CD566D87D}"/>
              </a:ext>
            </a:extLst>
          </p:cNvPr>
          <p:cNvSpPr>
            <a:spLocks noChangeArrowheads="1"/>
          </p:cNvSpPr>
          <p:nvPr/>
        </p:nvSpPr>
        <p:spPr bwMode="auto">
          <a:xfrm>
            <a:off x="2306819" y="4460874"/>
            <a:ext cx="4309882" cy="157585"/>
          </a:xfrm>
          <a:prstGeom prst="rect">
            <a:avLst/>
          </a:prstGeom>
          <a:solidFill>
            <a:srgbClr val="C00000"/>
          </a:solidFill>
          <a:ln w="12700">
            <a:solidFill>
              <a:srgbClr val="C00000"/>
            </a:solidFill>
            <a:miter lim="800000"/>
            <a:headEnd/>
            <a:tailEnd/>
          </a:ln>
        </p:spPr>
        <p:txBody>
          <a:bodyPr wrap="none" anchor="ctr"/>
          <a:lstStyle/>
          <a:p>
            <a:pPr>
              <a:defRPr/>
            </a:pPr>
            <a:endParaRPr lang="zh-CN" altLang="en-US" dirty="0">
              <a:solidFill>
                <a:schemeClr val="tx2">
                  <a:lumMod val="75000"/>
                </a:schemeClr>
              </a:solidFill>
              <a:ea typeface="宋体" pitchFamily="2" charset="-122"/>
            </a:endParaRPr>
          </a:p>
        </p:txBody>
      </p:sp>
      <p:sp>
        <p:nvSpPr>
          <p:cNvPr id="18" name="Rectangle 56">
            <a:extLst>
              <a:ext uri="{FF2B5EF4-FFF2-40B4-BE49-F238E27FC236}">
                <a16:creationId xmlns:a16="http://schemas.microsoft.com/office/drawing/2014/main" id="{07859E5A-EF8C-4A45-A13B-065A36C77C17}"/>
              </a:ext>
            </a:extLst>
          </p:cNvPr>
          <p:cNvSpPr>
            <a:spLocks noChangeArrowheads="1"/>
          </p:cNvSpPr>
          <p:nvPr/>
        </p:nvSpPr>
        <p:spPr bwMode="auto">
          <a:xfrm>
            <a:off x="1905000" y="4267200"/>
            <a:ext cx="400050" cy="504825"/>
          </a:xfrm>
          <a:prstGeom prst="rect">
            <a:avLst/>
          </a:prstGeom>
          <a:noFill/>
          <a:ln w="12700">
            <a:noFill/>
            <a:miter lim="800000"/>
            <a:headEnd/>
            <a:tailEnd/>
          </a:ln>
        </p:spPr>
        <p:txBody>
          <a:bodyPr wrap="none" anchor="ctr"/>
          <a:lstStyle>
            <a:lvl1pPr defTabSz="762000">
              <a:defRPr sz="2800" b="1" i="1" baseline="-10000">
                <a:solidFill>
                  <a:schemeClr val="tx1"/>
                </a:solidFill>
                <a:latin typeface="Times New Roman" panose="02020603050405020304" pitchFamily="18" charset="0"/>
              </a:defRPr>
            </a:lvl1pPr>
            <a:lvl2pPr marL="742950" indent="-285750" defTabSz="762000">
              <a:defRPr sz="2800" b="1" i="1" baseline="-10000">
                <a:solidFill>
                  <a:schemeClr val="tx1"/>
                </a:solidFill>
                <a:latin typeface="Times New Roman" panose="02020603050405020304" pitchFamily="18" charset="0"/>
              </a:defRPr>
            </a:lvl2pPr>
            <a:lvl3pPr marL="1143000" indent="-228600" defTabSz="762000">
              <a:defRPr sz="2800" b="1" i="1" baseline="-10000">
                <a:solidFill>
                  <a:schemeClr val="tx1"/>
                </a:solidFill>
                <a:latin typeface="Times New Roman" panose="02020603050405020304" pitchFamily="18" charset="0"/>
              </a:defRPr>
            </a:lvl3pPr>
            <a:lvl4pPr marL="1600200" indent="-228600" defTabSz="762000">
              <a:defRPr sz="2800" b="1" i="1" baseline="-10000">
                <a:solidFill>
                  <a:schemeClr val="tx1"/>
                </a:solidFill>
                <a:latin typeface="Times New Roman" panose="02020603050405020304" pitchFamily="18" charset="0"/>
              </a:defRPr>
            </a:lvl4pPr>
            <a:lvl5pPr marL="2057400" indent="-228600" defTabSz="762000">
              <a:defRPr sz="2800" b="1" i="1" baseline="-100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kumimoji="1" lang="en-US" altLang="zh-CN" i="0" dirty="0">
                <a:latin typeface="微软雅黑" panose="020B0503020204020204" pitchFamily="34" charset="-122"/>
                <a:ea typeface="微软雅黑" panose="020B0503020204020204" pitchFamily="34" charset="-122"/>
              </a:rPr>
              <a:t>A</a:t>
            </a:r>
          </a:p>
        </p:txBody>
      </p:sp>
      <p:sp>
        <p:nvSpPr>
          <p:cNvPr id="19" name="Rectangle 57">
            <a:extLst>
              <a:ext uri="{FF2B5EF4-FFF2-40B4-BE49-F238E27FC236}">
                <a16:creationId xmlns:a16="http://schemas.microsoft.com/office/drawing/2014/main" id="{24798594-2295-430E-B54B-F3D2E4670DEB}"/>
              </a:ext>
            </a:extLst>
          </p:cNvPr>
          <p:cNvSpPr>
            <a:spLocks noChangeArrowheads="1"/>
          </p:cNvSpPr>
          <p:nvPr/>
        </p:nvSpPr>
        <p:spPr bwMode="auto">
          <a:xfrm>
            <a:off x="6616700" y="4267200"/>
            <a:ext cx="400050" cy="504825"/>
          </a:xfrm>
          <a:prstGeom prst="rect">
            <a:avLst/>
          </a:prstGeom>
          <a:noFill/>
          <a:ln w="12700">
            <a:noFill/>
            <a:miter lim="800000"/>
            <a:headEnd/>
            <a:tailEnd/>
          </a:ln>
        </p:spPr>
        <p:txBody>
          <a:bodyPr wrap="none" anchor="ctr"/>
          <a:lstStyle>
            <a:lvl1pPr defTabSz="762000">
              <a:defRPr sz="2800" b="1" i="1" baseline="-10000">
                <a:solidFill>
                  <a:schemeClr val="tx1"/>
                </a:solidFill>
                <a:latin typeface="Times New Roman" panose="02020603050405020304" pitchFamily="18" charset="0"/>
              </a:defRPr>
            </a:lvl1pPr>
            <a:lvl2pPr marL="742950" indent="-285750" defTabSz="762000">
              <a:defRPr sz="2800" b="1" i="1" baseline="-10000">
                <a:solidFill>
                  <a:schemeClr val="tx1"/>
                </a:solidFill>
                <a:latin typeface="Times New Roman" panose="02020603050405020304" pitchFamily="18" charset="0"/>
              </a:defRPr>
            </a:lvl2pPr>
            <a:lvl3pPr marL="1143000" indent="-228600" defTabSz="762000">
              <a:defRPr sz="2800" b="1" i="1" baseline="-10000">
                <a:solidFill>
                  <a:schemeClr val="tx1"/>
                </a:solidFill>
                <a:latin typeface="Times New Roman" panose="02020603050405020304" pitchFamily="18" charset="0"/>
              </a:defRPr>
            </a:lvl3pPr>
            <a:lvl4pPr marL="1600200" indent="-228600" defTabSz="762000">
              <a:defRPr sz="2800" b="1" i="1" baseline="-10000">
                <a:solidFill>
                  <a:schemeClr val="tx1"/>
                </a:solidFill>
                <a:latin typeface="Times New Roman" panose="02020603050405020304" pitchFamily="18" charset="0"/>
              </a:defRPr>
            </a:lvl4pPr>
            <a:lvl5pPr marL="2057400" indent="-228600" defTabSz="762000">
              <a:defRPr sz="2800" b="1" i="1" baseline="-100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kumimoji="1" lang="en-US" altLang="zh-CN" i="0" dirty="0">
                <a:latin typeface="微软雅黑" panose="020B0503020204020204" pitchFamily="34" charset="-122"/>
                <a:ea typeface="微软雅黑" panose="020B0503020204020204" pitchFamily="34" charset="-122"/>
              </a:rPr>
              <a:t>B</a:t>
            </a:r>
          </a:p>
        </p:txBody>
      </p:sp>
      <p:sp>
        <p:nvSpPr>
          <p:cNvPr id="22541" name="矩形 20">
            <a:extLst>
              <a:ext uri="{FF2B5EF4-FFF2-40B4-BE49-F238E27FC236}">
                <a16:creationId xmlns:a16="http://schemas.microsoft.com/office/drawing/2014/main" id="{FB25F1AD-1C9A-4781-A005-DB6985AC2486}"/>
              </a:ext>
            </a:extLst>
          </p:cNvPr>
          <p:cNvSpPr>
            <a:spLocks noChangeArrowheads="1"/>
          </p:cNvSpPr>
          <p:nvPr/>
        </p:nvSpPr>
        <p:spPr bwMode="auto">
          <a:xfrm>
            <a:off x="2307446" y="4591049"/>
            <a:ext cx="142875" cy="755650"/>
          </a:xfrm>
          <a:prstGeom prst="rect">
            <a:avLst/>
          </a:prstGeom>
          <a:solidFill>
            <a:srgbClr val="C00000"/>
          </a:solidFill>
          <a:ln w="12700">
            <a:solidFill>
              <a:srgbClr val="C00000"/>
            </a:solidFill>
            <a:miter lim="800000"/>
            <a:headEnd/>
            <a:tailEnd/>
          </a:ln>
        </p:spPr>
        <p:txBody>
          <a:bodyPr wrap="none" anchor="ctr"/>
          <a:lstStyle/>
          <a:p>
            <a:pPr>
              <a:defRPr/>
            </a:pPr>
            <a:endParaRPr lang="zh-CN" altLang="en-US" dirty="0">
              <a:solidFill>
                <a:schemeClr val="tx2">
                  <a:lumMod val="75000"/>
                </a:schemeClr>
              </a:solidFill>
              <a:ea typeface="宋体" pitchFamily="2" charset="-122"/>
            </a:endParaRPr>
          </a:p>
        </p:txBody>
      </p:sp>
      <p:sp>
        <p:nvSpPr>
          <p:cNvPr id="24" name="Line 58">
            <a:extLst>
              <a:ext uri="{FF2B5EF4-FFF2-40B4-BE49-F238E27FC236}">
                <a16:creationId xmlns:a16="http://schemas.microsoft.com/office/drawing/2014/main" id="{1314FAF5-2255-4F20-94ED-9FFDB69C8AA4}"/>
              </a:ext>
            </a:extLst>
          </p:cNvPr>
          <p:cNvSpPr>
            <a:spLocks noChangeShapeType="1"/>
          </p:cNvSpPr>
          <p:nvPr/>
        </p:nvSpPr>
        <p:spPr bwMode="auto">
          <a:xfrm>
            <a:off x="5705476" y="2411811"/>
            <a:ext cx="354013" cy="0"/>
          </a:xfrm>
          <a:prstGeom prst="line">
            <a:avLst/>
          </a:prstGeom>
          <a:ln>
            <a:solidFill>
              <a:schemeClr val="tx2">
                <a:lumMod val="75000"/>
              </a:schemeClr>
            </a:solidFill>
            <a:headEnd/>
            <a:tailEnd type="triangle" w="sm" len="med"/>
          </a:ln>
        </p:spPr>
        <p:style>
          <a:lnRef idx="3">
            <a:schemeClr val="accent6"/>
          </a:lnRef>
          <a:fillRef idx="0">
            <a:schemeClr val="accent6"/>
          </a:fillRef>
          <a:effectRef idx="2">
            <a:schemeClr val="accent6"/>
          </a:effectRef>
          <a:fontRef idx="minor">
            <a:schemeClr val="tx1"/>
          </a:fontRef>
        </p:style>
        <p:txBody>
          <a:bodyPr/>
          <a:lstStyle/>
          <a:p>
            <a:pPr>
              <a:defRPr/>
            </a:pPr>
            <a:endParaRPr lang="zh-CN" altLang="en-US"/>
          </a:p>
        </p:txBody>
      </p:sp>
      <p:sp>
        <p:nvSpPr>
          <p:cNvPr id="26" name="Line 58">
            <a:extLst>
              <a:ext uri="{FF2B5EF4-FFF2-40B4-BE49-F238E27FC236}">
                <a16:creationId xmlns:a16="http://schemas.microsoft.com/office/drawing/2014/main" id="{96474813-409E-48CC-AFB0-4ACD6B67A5DE}"/>
              </a:ext>
            </a:extLst>
          </p:cNvPr>
          <p:cNvSpPr>
            <a:spLocks noChangeShapeType="1"/>
          </p:cNvSpPr>
          <p:nvPr/>
        </p:nvSpPr>
        <p:spPr bwMode="auto">
          <a:xfrm flipV="1">
            <a:off x="2625725" y="4968875"/>
            <a:ext cx="0" cy="333375"/>
          </a:xfrm>
          <a:prstGeom prst="line">
            <a:avLst/>
          </a:prstGeom>
          <a:ln>
            <a:solidFill>
              <a:schemeClr val="tx2">
                <a:lumMod val="75000"/>
              </a:schemeClr>
            </a:solidFill>
            <a:headEnd/>
            <a:tailEnd type="triangle" w="sm" len="med"/>
          </a:ln>
        </p:spPr>
        <p:style>
          <a:lnRef idx="3">
            <a:schemeClr val="accent6"/>
          </a:lnRef>
          <a:fillRef idx="0">
            <a:schemeClr val="accent6"/>
          </a:fillRef>
          <a:effectRef idx="2">
            <a:schemeClr val="accent6"/>
          </a:effectRef>
          <a:fontRef idx="minor">
            <a:schemeClr val="tx1"/>
          </a:fontRef>
        </p:style>
        <p:txBody>
          <a:bodyPr/>
          <a:lstStyle/>
          <a:p>
            <a:pPr>
              <a:defRPr/>
            </a:pPr>
            <a:endParaRPr lang="zh-CN" altLang="en-US"/>
          </a:p>
        </p:txBody>
      </p:sp>
      <p:sp>
        <p:nvSpPr>
          <p:cNvPr id="28691" name="标题 28">
            <a:extLst>
              <a:ext uri="{FF2B5EF4-FFF2-40B4-BE49-F238E27FC236}">
                <a16:creationId xmlns:a16="http://schemas.microsoft.com/office/drawing/2014/main" id="{27E15A8C-D8D3-4A46-8BD0-1786D8D10556}"/>
              </a:ext>
            </a:extLst>
          </p:cNvPr>
          <p:cNvSpPr>
            <a:spLocks noGrp="1"/>
          </p:cNvSpPr>
          <p:nvPr>
            <p:ph type="title"/>
          </p:nvPr>
        </p:nvSpPr>
        <p:spPr bwMode="auto">
          <a:xfrm>
            <a:off x="3831527" y="130856"/>
            <a:ext cx="8339137" cy="480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lnSpc>
                <a:spcPct val="90000"/>
              </a:lnSpc>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传播</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(propagation) &amp;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传输</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(transmission)</a:t>
            </a:r>
          </a:p>
        </p:txBody>
      </p:sp>
      <p:sp>
        <p:nvSpPr>
          <p:cNvPr id="27" name="矩形 26">
            <a:extLst>
              <a:ext uri="{FF2B5EF4-FFF2-40B4-BE49-F238E27FC236}">
                <a16:creationId xmlns:a16="http://schemas.microsoft.com/office/drawing/2014/main" id="{F80B5319-CE9B-40D1-94B4-D59A11A0A8CA}"/>
              </a:ext>
            </a:extLst>
          </p:cNvPr>
          <p:cNvSpPr>
            <a:spLocks noChangeArrowheads="1"/>
          </p:cNvSpPr>
          <p:nvPr/>
        </p:nvSpPr>
        <p:spPr bwMode="auto">
          <a:xfrm>
            <a:off x="7451725" y="4398815"/>
            <a:ext cx="2873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eaLnBrk="1" hangingPunct="1">
              <a:lnSpc>
                <a:spcPct val="90000"/>
              </a:lnSpc>
            </a:pPr>
            <a:r>
              <a:rPr kumimoji="1" lang="en-US" altLang="zh-CN" sz="2000" i="0" baseline="0" dirty="0">
                <a:latin typeface="微软雅黑" panose="020B0503020204020204" pitchFamily="34" charset="-122"/>
                <a:ea typeface="微软雅黑" panose="020B0503020204020204" pitchFamily="34" charset="-122"/>
              </a:rPr>
              <a:t>   </a:t>
            </a:r>
            <a:r>
              <a:rPr kumimoji="1" lang="zh-CN" altLang="en-US" sz="2000" i="0" baseline="0" dirty="0">
                <a:latin typeface="微软雅黑" panose="020B0503020204020204" pitchFamily="34" charset="-122"/>
                <a:ea typeface="微软雅黑" panose="020B0503020204020204" pitchFamily="34" charset="-122"/>
              </a:rPr>
              <a:t>传播时间</a:t>
            </a:r>
            <a:r>
              <a:rPr kumimoji="1" lang="en-US" altLang="zh-CN" sz="2000" i="0" baseline="0" dirty="0">
                <a:latin typeface="微软雅黑" panose="020B0503020204020204" pitchFamily="34" charset="-122"/>
                <a:ea typeface="微软雅黑" panose="020B0503020204020204" pitchFamily="34" charset="-122"/>
              </a:rPr>
              <a:t> &lt; </a:t>
            </a:r>
            <a:r>
              <a:rPr kumimoji="1" lang="zh-CN" altLang="en-US" sz="2000" i="0" baseline="0" dirty="0">
                <a:latin typeface="微软雅黑" panose="020B0503020204020204" pitchFamily="34" charset="-122"/>
                <a:ea typeface="微软雅黑" panose="020B0503020204020204" pitchFamily="34" charset="-122"/>
              </a:rPr>
              <a:t>传输时间</a:t>
            </a:r>
            <a:endParaRPr kumimoji="1" lang="en-US" altLang="zh-CN" sz="2000" i="0" baseline="0" dirty="0">
              <a:latin typeface="微软雅黑" panose="020B0503020204020204" pitchFamily="34" charset="-122"/>
              <a:ea typeface="微软雅黑" panose="020B0503020204020204" pitchFamily="34" charset="-122"/>
            </a:endParaRPr>
          </a:p>
        </p:txBody>
      </p:sp>
      <p:sp>
        <p:nvSpPr>
          <p:cNvPr id="28689" name="矩形 26">
            <a:extLst>
              <a:ext uri="{FF2B5EF4-FFF2-40B4-BE49-F238E27FC236}">
                <a16:creationId xmlns:a16="http://schemas.microsoft.com/office/drawing/2014/main" id="{CD52D940-A190-47C5-A374-E30568EC2951}"/>
              </a:ext>
            </a:extLst>
          </p:cNvPr>
          <p:cNvSpPr>
            <a:spLocks noChangeArrowheads="1"/>
          </p:cNvSpPr>
          <p:nvPr/>
        </p:nvSpPr>
        <p:spPr bwMode="auto">
          <a:xfrm>
            <a:off x="7444756" y="2258395"/>
            <a:ext cx="2873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eaLnBrk="1" hangingPunct="1">
              <a:lnSpc>
                <a:spcPct val="90000"/>
              </a:lnSpc>
            </a:pPr>
            <a:r>
              <a:rPr kumimoji="1" lang="en-US" altLang="zh-CN" sz="2000" i="0" baseline="0" dirty="0">
                <a:latin typeface="微软雅黑" panose="020B0503020204020204" pitchFamily="34" charset="-122"/>
                <a:ea typeface="微软雅黑" panose="020B0503020204020204" pitchFamily="34" charset="-122"/>
              </a:rPr>
              <a:t>   </a:t>
            </a:r>
            <a:r>
              <a:rPr kumimoji="1" lang="zh-CN" altLang="en-US" sz="2000" i="0" baseline="0" dirty="0">
                <a:latin typeface="微软雅黑" panose="020B0503020204020204" pitchFamily="34" charset="-122"/>
                <a:ea typeface="微软雅黑" panose="020B0503020204020204" pitchFamily="34" charset="-122"/>
              </a:rPr>
              <a:t>传播时间</a:t>
            </a:r>
            <a:r>
              <a:rPr kumimoji="1" lang="en-US" altLang="zh-CN" sz="2000" i="0" baseline="0" dirty="0">
                <a:latin typeface="微软雅黑" panose="020B0503020204020204" pitchFamily="34" charset="-122"/>
                <a:ea typeface="微软雅黑" panose="020B0503020204020204" pitchFamily="34" charset="-122"/>
              </a:rPr>
              <a:t> &gt; </a:t>
            </a:r>
            <a:r>
              <a:rPr kumimoji="1" lang="zh-CN" altLang="en-US" sz="2000" i="0" baseline="0" dirty="0">
                <a:latin typeface="微软雅黑" panose="020B0503020204020204" pitchFamily="34" charset="-122"/>
                <a:ea typeface="微软雅黑" panose="020B0503020204020204" pitchFamily="34" charset="-122"/>
              </a:rPr>
              <a:t>传输时间</a:t>
            </a:r>
            <a:endParaRPr kumimoji="1" lang="en-US" altLang="zh-CN" sz="2000" i="0" baseline="0" dirty="0">
              <a:latin typeface="微软雅黑" panose="020B0503020204020204" pitchFamily="34" charset="-122"/>
              <a:ea typeface="微软雅黑" panose="020B0503020204020204" pitchFamily="34" charset="-122"/>
            </a:endParaRPr>
          </a:p>
        </p:txBody>
      </p:sp>
      <p:sp>
        <p:nvSpPr>
          <p:cNvPr id="29" name="矩形 15">
            <a:extLst>
              <a:ext uri="{FF2B5EF4-FFF2-40B4-BE49-F238E27FC236}">
                <a16:creationId xmlns:a16="http://schemas.microsoft.com/office/drawing/2014/main" id="{54070FA4-6A50-4BD0-9F3A-F3C4683A2891}"/>
              </a:ext>
            </a:extLst>
          </p:cNvPr>
          <p:cNvSpPr>
            <a:spLocks noChangeArrowheads="1"/>
          </p:cNvSpPr>
          <p:nvPr/>
        </p:nvSpPr>
        <p:spPr bwMode="auto">
          <a:xfrm>
            <a:off x="2305051" y="2426688"/>
            <a:ext cx="145270" cy="341911"/>
          </a:xfrm>
          <a:prstGeom prst="rect">
            <a:avLst/>
          </a:prstGeom>
          <a:solidFill>
            <a:srgbClr val="C00000"/>
          </a:solidFill>
          <a:ln w="12700">
            <a:solidFill>
              <a:srgbClr val="C00000"/>
            </a:solidFill>
            <a:miter lim="800000"/>
            <a:headEnd/>
            <a:tailEnd/>
          </a:ln>
        </p:spPr>
        <p:txBody>
          <a:bodyPr wrap="none" anchor="ctr"/>
          <a:lstStyle/>
          <a:p>
            <a:pPr>
              <a:defRPr/>
            </a:pPr>
            <a:endParaRPr lang="zh-CN" altLang="en-US" dirty="0">
              <a:solidFill>
                <a:schemeClr val="tx2">
                  <a:lumMod val="75000"/>
                </a:schemeClr>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down)">
                                      <p:cBhvr>
                                        <p:cTn id="20" dur="500"/>
                                        <p:tgtEl>
                                          <p:spTgt spid="29"/>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10" presetClass="exit" presetSubtype="0" fill="hold" grpId="1" nodeType="withEffect">
                                  <p:stCondLst>
                                    <p:cond delay="0"/>
                                  </p:stCondLst>
                                  <p:childTnLst>
                                    <p:animEffect transition="out" filter="fade">
                                      <p:cBhvr>
                                        <p:cTn id="26" dur="500"/>
                                        <p:tgtEl>
                                          <p:spTgt spid="29"/>
                                        </p:tgtEl>
                                      </p:cBhvr>
                                    </p:animEffect>
                                    <p:set>
                                      <p:cBhvr>
                                        <p:cTn id="27" dur="1" fill="hold">
                                          <p:stCondLst>
                                            <p:cond delay="499"/>
                                          </p:stCondLst>
                                        </p:cTn>
                                        <p:tgtEl>
                                          <p:spTgt spid="29"/>
                                        </p:tgtEl>
                                        <p:attrNameLst>
                                          <p:attrName>style.visibility</p:attrName>
                                        </p:attrNameLst>
                                      </p:cBhvr>
                                      <p:to>
                                        <p:strVal val="hidden"/>
                                      </p:to>
                                    </p:se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89"/>
                                        </p:tgtEl>
                                        <p:attrNameLst>
                                          <p:attrName>style.visibility</p:attrName>
                                        </p:attrNameLst>
                                      </p:cBhvr>
                                      <p:to>
                                        <p:strVal val="visible"/>
                                      </p:to>
                                    </p:set>
                                    <p:animEffect transition="in" filter="wipe(left)">
                                      <p:cBhvr>
                                        <p:cTn id="36" dur="500"/>
                                        <p:tgtEl>
                                          <p:spTgt spid="2868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childTnLst>
                          </p:cTn>
                        </p:par>
                        <p:par>
                          <p:cTn id="46" fill="hold">
                            <p:stCondLst>
                              <p:cond delay="1000"/>
                            </p:stCondLst>
                            <p:childTnLst>
                              <p:par>
                                <p:cTn id="47" presetID="22" presetClass="entr" presetSubtype="8" fill="hold" grpId="0" nodeType="afterEffect">
                                  <p:stCondLst>
                                    <p:cond delay="50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2541"/>
                                        </p:tgtEl>
                                        <p:attrNameLst>
                                          <p:attrName>style.visibility</p:attrName>
                                        </p:attrNameLst>
                                      </p:cBhvr>
                                      <p:to>
                                        <p:strVal val="visible"/>
                                      </p:to>
                                    </p:set>
                                    <p:animEffect transition="in" filter="wipe(down)">
                                      <p:cBhvr>
                                        <p:cTn id="54" dur="500"/>
                                        <p:tgtEl>
                                          <p:spTgt spid="22541"/>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down)">
                                      <p:cBhvr>
                                        <p:cTn id="57" dur="500"/>
                                        <p:tgtEl>
                                          <p:spTgt spid="26"/>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wipe(left)">
                                      <p:cBhvr>
                                        <p:cTn id="61" dur="5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wipe(left)">
                                      <p:cBhvr>
                                        <p:cTn id="6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animBg="1"/>
      <p:bldP spid="11" grpId="0" animBg="1"/>
      <p:bldP spid="12" grpId="0"/>
      <p:bldP spid="13" grpId="0"/>
      <p:bldP spid="17" grpId="0" animBg="1"/>
      <p:bldP spid="18" grpId="0"/>
      <p:bldP spid="19" grpId="0"/>
      <p:bldP spid="22541" grpId="0" animBg="1"/>
      <p:bldP spid="24" grpId="0" animBg="1"/>
      <p:bldP spid="26" grpId="0" animBg="1"/>
      <p:bldP spid="27" grpId="0"/>
      <p:bldP spid="28689" grpId="0"/>
      <p:bldP spid="29" grpId="0" animBg="1"/>
      <p:bldP spid="29"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 name="Rectangle 9">
            <a:extLst>
              <a:ext uri="{FF2B5EF4-FFF2-40B4-BE49-F238E27FC236}">
                <a16:creationId xmlns:a16="http://schemas.microsoft.com/office/drawing/2014/main" id="{944113CD-30B1-4B78-BB06-DFAF1FCF312B}"/>
              </a:ext>
            </a:extLst>
          </p:cNvPr>
          <p:cNvSpPr>
            <a:spLocks noChangeArrowheads="1"/>
          </p:cNvSpPr>
          <p:nvPr/>
        </p:nvSpPr>
        <p:spPr bwMode="auto">
          <a:xfrm>
            <a:off x="1219200" y="1066800"/>
            <a:ext cx="9906000" cy="2224776"/>
          </a:xfrm>
          <a:prstGeom prst="rect">
            <a:avLst/>
          </a:prstGeom>
          <a:solidFill>
            <a:schemeClr val="bg1"/>
          </a:solidFill>
          <a:ln w="9525">
            <a:noFill/>
            <a:miter lim="800000"/>
            <a:headEnd/>
            <a:tailEnd/>
          </a:ln>
          <a:effectLst/>
        </p:spPr>
        <p:txBody>
          <a:bodyPr wrap="square">
            <a:spAutoFit/>
          </a:bodyPr>
          <a:lstStyle/>
          <a:p>
            <a:pPr algn="just">
              <a:lnSpc>
                <a:spcPct val="200000"/>
              </a:lnSpc>
              <a:defRPr/>
            </a:pPr>
            <a:r>
              <a:rPr lang="zh-CN" altLang="en-US" sz="1800" i="0" baseline="0" dirty="0">
                <a:solidFill>
                  <a:srgbClr val="FF0000"/>
                </a:solidFill>
                <a:latin typeface="微软雅黑" panose="020B0503020204020204" pitchFamily="34" charset="-122"/>
                <a:ea typeface="微软雅黑" panose="020B0503020204020204" pitchFamily="34" charset="-122"/>
              </a:rPr>
              <a:t>例</a:t>
            </a:r>
            <a:r>
              <a:rPr lang="en-US" altLang="zh-CN" sz="1800" i="0" baseline="0" dirty="0">
                <a:solidFill>
                  <a:srgbClr val="FF0000"/>
                </a:solidFill>
                <a:latin typeface="微软雅黑" panose="020B0503020204020204" pitchFamily="34" charset="-122"/>
                <a:ea typeface="微软雅黑" panose="020B0503020204020204" pitchFamily="34" charset="-122"/>
              </a:rPr>
              <a:t>12.1  </a:t>
            </a:r>
            <a:r>
              <a:rPr lang="zh-CN" altLang="en-US" sz="1800" b="0" i="0" baseline="0" dirty="0">
                <a:latin typeface="微软雅黑" panose="020B0503020204020204" pitchFamily="34" charset="-122"/>
                <a:ea typeface="微软雅黑" panose="020B0503020204020204" pitchFamily="34" charset="-122"/>
              </a:rPr>
              <a:t>一个纯</a:t>
            </a:r>
            <a:r>
              <a:rPr lang="en-US" altLang="zh-CN" sz="1800" b="0" i="0" baseline="0" dirty="0">
                <a:latin typeface="微软雅黑" panose="020B0503020204020204" pitchFamily="34" charset="-122"/>
                <a:ea typeface="微软雅黑" panose="020B0503020204020204" pitchFamily="34" charset="-122"/>
              </a:rPr>
              <a:t>ALOHA</a:t>
            </a:r>
            <a:r>
              <a:rPr lang="zh-CN" altLang="en-US" sz="1800" b="0" i="0" baseline="0" dirty="0">
                <a:latin typeface="微软雅黑" panose="020B0503020204020204" pitchFamily="34" charset="-122"/>
                <a:ea typeface="微软雅黑" panose="020B0503020204020204" pitchFamily="34" charset="-122"/>
              </a:rPr>
              <a:t>协议的站点之间最大距离为</a:t>
            </a:r>
            <a:r>
              <a:rPr lang="en-US" altLang="zh-CN" sz="1800" b="0" i="0" baseline="0" dirty="0">
                <a:latin typeface="微软雅黑" panose="020B0503020204020204" pitchFamily="34" charset="-122"/>
                <a:ea typeface="微软雅黑" panose="020B0503020204020204" pitchFamily="34" charset="-122"/>
              </a:rPr>
              <a:t>600</a:t>
            </a:r>
            <a:r>
              <a:rPr lang="zh-CN" altLang="en-US" sz="1800" b="0" i="0" baseline="0" dirty="0">
                <a:latin typeface="微软雅黑" panose="020B0503020204020204" pitchFamily="34" charset="-122"/>
                <a:ea typeface="微软雅黑" panose="020B0503020204020204" pitchFamily="34" charset="-122"/>
              </a:rPr>
              <a:t>公里，信号的传播速度为 </a:t>
            </a:r>
            <a:r>
              <a:rPr lang="en-US" altLang="zh-CN" sz="1800" b="0" i="0" baseline="0" dirty="0">
                <a:latin typeface="微软雅黑" panose="020B0503020204020204" pitchFamily="34" charset="-122"/>
                <a:ea typeface="微软雅黑" panose="020B0503020204020204" pitchFamily="34" charset="-122"/>
              </a:rPr>
              <a:t>3 × 10</a:t>
            </a:r>
            <a:r>
              <a:rPr lang="en-US" altLang="zh-CN" sz="1800" b="0" i="0" baseline="20000" dirty="0">
                <a:latin typeface="微软雅黑" panose="020B0503020204020204" pitchFamily="34" charset="-122"/>
                <a:ea typeface="微软雅黑" panose="020B0503020204020204" pitchFamily="34" charset="-122"/>
              </a:rPr>
              <a:t>8</a:t>
            </a:r>
            <a:r>
              <a:rPr lang="en-US" altLang="zh-CN" sz="1800" b="0" i="0" baseline="0" dirty="0">
                <a:latin typeface="微软雅黑" panose="020B0503020204020204" pitchFamily="34" charset="-122"/>
                <a:ea typeface="微软雅黑" panose="020B0503020204020204" pitchFamily="34" charset="-122"/>
              </a:rPr>
              <a:t> m/s </a:t>
            </a:r>
            <a:r>
              <a:rPr lang="zh-CN" altLang="en-US" sz="1800" b="0" i="0" baseline="0" dirty="0">
                <a:latin typeface="微软雅黑" panose="020B0503020204020204" pitchFamily="34" charset="-122"/>
                <a:ea typeface="微软雅黑" panose="020B0503020204020204" pitchFamily="34" charset="-122"/>
              </a:rPr>
              <a:t>，那么</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defRPr/>
            </a:pPr>
            <a:r>
              <a:rPr lang="en-US" altLang="zh-CN" sz="1800" b="0" i="0" baseline="0" dirty="0">
                <a:solidFill>
                  <a:schemeClr val="folHlink"/>
                </a:solidFill>
                <a:latin typeface="微软雅黑" panose="020B0503020204020204" pitchFamily="34" charset="-122"/>
                <a:ea typeface="微软雅黑" panose="020B0503020204020204" pitchFamily="34" charset="-122"/>
              </a:rPr>
              <a:t>                      </a:t>
            </a:r>
            <a:r>
              <a:rPr lang="en-US" altLang="zh-CN" sz="1800" b="0" i="0" baseline="0" dirty="0" err="1">
                <a:latin typeface="微软雅黑" panose="020B0503020204020204" pitchFamily="34" charset="-122"/>
                <a:ea typeface="微软雅黑" panose="020B0503020204020204" pitchFamily="34" charset="-122"/>
              </a:rPr>
              <a:t>T</a:t>
            </a:r>
            <a:r>
              <a:rPr lang="en-US" altLang="zh-CN" sz="1800" b="0" i="0" dirty="0" err="1">
                <a:latin typeface="微软雅黑" panose="020B0503020204020204" pitchFamily="34" charset="-122"/>
                <a:ea typeface="微软雅黑" panose="020B0503020204020204" pitchFamily="34" charset="-122"/>
              </a:rPr>
              <a:t>p</a:t>
            </a:r>
            <a:r>
              <a:rPr lang="en-US" altLang="zh-CN" sz="1800" b="0" i="0" dirty="0">
                <a:latin typeface="微软雅黑" panose="020B0503020204020204" pitchFamily="34" charset="-122"/>
                <a:ea typeface="微软雅黑" panose="020B0503020204020204" pitchFamily="34" charset="-122"/>
              </a:rPr>
              <a:t> </a:t>
            </a:r>
            <a:r>
              <a:rPr lang="en-US" altLang="zh-CN" sz="1800" b="0" i="0" baseline="0" dirty="0">
                <a:latin typeface="微软雅黑" panose="020B0503020204020204" pitchFamily="34" charset="-122"/>
                <a:ea typeface="微软雅黑" panose="020B0503020204020204" pitchFamily="34" charset="-122"/>
              </a:rPr>
              <a:t>= (600 × 10</a:t>
            </a:r>
            <a:r>
              <a:rPr lang="en-US" altLang="zh-CN" sz="1800" b="0" i="0" baseline="30000" dirty="0">
                <a:latin typeface="微软雅黑" panose="020B0503020204020204" pitchFamily="34" charset="-122"/>
                <a:ea typeface="微软雅黑" panose="020B0503020204020204" pitchFamily="34" charset="-122"/>
              </a:rPr>
              <a:t>3</a:t>
            </a:r>
            <a:r>
              <a:rPr lang="en-US" altLang="zh-CN" sz="1800" b="0" i="0" baseline="0" dirty="0">
                <a:latin typeface="微软雅黑" panose="020B0503020204020204" pitchFamily="34" charset="-122"/>
                <a:ea typeface="微软雅黑" panose="020B0503020204020204" pitchFamily="34" charset="-122"/>
              </a:rPr>
              <a:t> ) / (3 × 10</a:t>
            </a:r>
            <a:r>
              <a:rPr lang="en-US" altLang="zh-CN" sz="1800" b="0" i="0" baseline="30000" dirty="0">
                <a:latin typeface="微软雅黑" panose="020B0503020204020204" pitchFamily="34" charset="-122"/>
                <a:ea typeface="微软雅黑" panose="020B0503020204020204" pitchFamily="34" charset="-122"/>
              </a:rPr>
              <a:t>8</a:t>
            </a:r>
            <a:r>
              <a:rPr lang="en-US" altLang="zh-CN" sz="1800" b="0" i="0" baseline="0" dirty="0">
                <a:latin typeface="微软雅黑" panose="020B0503020204020204" pitchFamily="34" charset="-122"/>
                <a:ea typeface="微软雅黑" panose="020B0503020204020204" pitchFamily="34" charset="-122"/>
              </a:rPr>
              <a:t> ) = 2 ms</a:t>
            </a:r>
          </a:p>
          <a:p>
            <a:pPr algn="just">
              <a:lnSpc>
                <a:spcPct val="200000"/>
              </a:lnSpc>
              <a:defRPr/>
            </a:pPr>
            <a:r>
              <a:rPr lang="zh-CN" altLang="en-US" sz="1800" b="0" i="0" baseline="0" dirty="0">
                <a:latin typeface="微软雅黑" panose="020B0503020204020204" pitchFamily="34" charset="-122"/>
                <a:ea typeface="微软雅黑" panose="020B0503020204020204" pitchFamily="34" charset="-122"/>
              </a:rPr>
              <a:t>对于不同的 </a:t>
            </a:r>
            <a:r>
              <a:rPr lang="en-US" altLang="zh-CN" sz="1800" b="0" i="0" baseline="0" dirty="0">
                <a:latin typeface="微软雅黑" panose="020B0503020204020204" pitchFamily="34" charset="-122"/>
                <a:ea typeface="微软雅黑" panose="020B0503020204020204" pitchFamily="34" charset="-122"/>
              </a:rPr>
              <a:t>K </a:t>
            </a:r>
            <a:r>
              <a:rPr lang="zh-CN" altLang="en-US" sz="1800" b="0" i="0" baseline="0" dirty="0">
                <a:latin typeface="微软雅黑" panose="020B0503020204020204" pitchFamily="34" charset="-122"/>
                <a:ea typeface="微软雅黑" panose="020B0503020204020204" pitchFamily="34" charset="-122"/>
              </a:rPr>
              <a:t>值，得到不同的 </a:t>
            </a:r>
            <a:r>
              <a:rPr lang="en-US" altLang="zh-CN" sz="1800" b="0" i="0" baseline="0" dirty="0">
                <a:latin typeface="微软雅黑" panose="020B0503020204020204" pitchFamily="34" charset="-122"/>
                <a:ea typeface="微软雅黑" panose="020B0503020204020204" pitchFamily="34" charset="-122"/>
              </a:rPr>
              <a:t>T</a:t>
            </a:r>
            <a:r>
              <a:rPr lang="en-US" altLang="zh-CN" sz="1800" b="0" i="0" baseline="-12000" dirty="0">
                <a:latin typeface="微软雅黑" panose="020B0503020204020204" pitchFamily="34" charset="-122"/>
                <a:ea typeface="微软雅黑" panose="020B0503020204020204" pitchFamily="34" charset="-122"/>
              </a:rPr>
              <a:t>B </a:t>
            </a:r>
            <a:r>
              <a:rPr lang="zh-CN" altLang="en-US" sz="1800" b="0" i="0" baseline="0" dirty="0">
                <a:latin typeface="微软雅黑" panose="020B0503020204020204" pitchFamily="34" charset="-122"/>
                <a:ea typeface="微软雅黑" panose="020B0503020204020204" pitchFamily="34" charset="-122"/>
              </a:rPr>
              <a:t>值。</a:t>
            </a:r>
            <a:endParaRPr lang="en-US" altLang="zh-CN" sz="1800" b="0" i="0" baseline="0" dirty="0">
              <a:latin typeface="微软雅黑" panose="020B0503020204020204" pitchFamily="34" charset="-122"/>
              <a:ea typeface="微软雅黑" panose="020B0503020204020204" pitchFamily="34" charset="-122"/>
            </a:endParaRPr>
          </a:p>
        </p:txBody>
      </p:sp>
      <p:sp>
        <p:nvSpPr>
          <p:cNvPr id="3" name="Rectangle 9">
            <a:extLst>
              <a:ext uri="{FF2B5EF4-FFF2-40B4-BE49-F238E27FC236}">
                <a16:creationId xmlns:a16="http://schemas.microsoft.com/office/drawing/2014/main" id="{BA0D9B06-3021-4331-BCDA-AAB731BD975D}"/>
              </a:ext>
            </a:extLst>
          </p:cNvPr>
          <p:cNvSpPr>
            <a:spLocks noChangeArrowheads="1"/>
          </p:cNvSpPr>
          <p:nvPr/>
        </p:nvSpPr>
        <p:spPr bwMode="auto">
          <a:xfrm>
            <a:off x="1216152" y="3279120"/>
            <a:ext cx="9906000" cy="2901885"/>
          </a:xfrm>
          <a:prstGeom prst="rect">
            <a:avLst/>
          </a:prstGeom>
          <a:solidFill>
            <a:schemeClr val="bg1"/>
          </a:solidFill>
          <a:ln w="9525">
            <a:noFill/>
            <a:miter lim="800000"/>
            <a:headEnd/>
            <a:tailEnd/>
          </a:ln>
          <a:effectLst/>
        </p:spPr>
        <p:txBody>
          <a:bodyPr wrap="square">
            <a:spAutoFit/>
          </a:bodyPr>
          <a:lstStyle/>
          <a:p>
            <a:pPr algn="just">
              <a:defRPr/>
            </a:pPr>
            <a:endParaRPr lang="en-US" altLang="zh-CN" sz="800" b="0" i="0" baseline="0" dirty="0">
              <a:latin typeface="微软雅黑" panose="020B0503020204020204" pitchFamily="34" charset="-122"/>
              <a:ea typeface="微软雅黑" panose="020B0503020204020204" pitchFamily="34" charset="-122"/>
            </a:endParaRPr>
          </a:p>
          <a:p>
            <a:pPr marL="457200" indent="-457200" algn="just">
              <a:lnSpc>
                <a:spcPct val="200000"/>
              </a:lnSpc>
              <a:buFontTx/>
              <a:buAutoNum type="alphaLcPeriod"/>
              <a:defRPr/>
            </a:pPr>
            <a:r>
              <a:rPr lang="zh-CN" altLang="en-US" sz="1800" b="0" i="0" baseline="0" dirty="0">
                <a:latin typeface="微软雅黑" panose="020B0503020204020204" pitchFamily="34" charset="-122"/>
                <a:ea typeface="微软雅黑" panose="020B0503020204020204" pitchFamily="34" charset="-122"/>
              </a:rPr>
              <a:t>若</a:t>
            </a:r>
            <a:r>
              <a:rPr lang="en-US" altLang="zh-CN" sz="1800" b="0" i="0" baseline="0" dirty="0">
                <a:latin typeface="微软雅黑" panose="020B0503020204020204" pitchFamily="34" charset="-122"/>
                <a:ea typeface="微软雅黑" panose="020B0503020204020204" pitchFamily="34" charset="-122"/>
              </a:rPr>
              <a:t>K=1</a:t>
            </a:r>
            <a:r>
              <a:rPr lang="zh-CN" altLang="en-US" sz="1800" b="0" i="0" baseline="0" dirty="0">
                <a:latin typeface="微软雅黑" panose="020B0503020204020204" pitchFamily="34" charset="-122"/>
                <a:ea typeface="微软雅黑" panose="020B0503020204020204" pitchFamily="34" charset="-122"/>
              </a:rPr>
              <a:t>，则取值范围</a:t>
            </a:r>
            <a:r>
              <a:rPr lang="en-US" altLang="zh-CN" sz="1800" b="0" i="0" baseline="0" dirty="0">
                <a:latin typeface="微软雅黑" panose="020B0503020204020204" pitchFamily="34" charset="-122"/>
                <a:ea typeface="微软雅黑" panose="020B0503020204020204" pitchFamily="34" charset="-122"/>
              </a:rPr>
              <a:t>{0, 1}</a:t>
            </a:r>
            <a:r>
              <a:rPr lang="zh-CN" altLang="en-US" sz="1800" b="0" i="0" baseline="0" dirty="0">
                <a:latin typeface="微软雅黑" panose="020B0503020204020204" pitchFamily="34" charset="-122"/>
                <a:ea typeface="微软雅黑" panose="020B0503020204020204" pitchFamily="34" charset="-122"/>
              </a:rPr>
              <a:t>。即站内的随机数位</a:t>
            </a:r>
            <a:r>
              <a:rPr lang="en-US" altLang="zh-CN" sz="1800" b="0" i="0" baseline="0" dirty="0">
                <a:latin typeface="微软雅黑" panose="020B0503020204020204" pitchFamily="34" charset="-122"/>
                <a:ea typeface="微软雅黑" panose="020B0503020204020204" pitchFamily="34" charset="-122"/>
              </a:rPr>
              <a:t>0</a:t>
            </a:r>
            <a:r>
              <a:rPr lang="zh-CN" altLang="en-US" sz="1800" b="0" i="0" baseline="0" dirty="0">
                <a:latin typeface="微软雅黑" panose="020B0503020204020204" pitchFamily="34" charset="-122"/>
                <a:ea typeface="微软雅黑" panose="020B0503020204020204" pitchFamily="34" charset="-122"/>
              </a:rPr>
              <a:t>或</a:t>
            </a:r>
            <a:r>
              <a:rPr lang="en-US" altLang="zh-CN" sz="1800" b="0" i="0" baseline="0" dirty="0">
                <a:latin typeface="微软雅黑" panose="020B0503020204020204" pitchFamily="34" charset="-122"/>
                <a:ea typeface="微软雅黑" panose="020B0503020204020204" pitchFamily="34" charset="-122"/>
              </a:rPr>
              <a:t>1</a:t>
            </a:r>
            <a:r>
              <a:rPr lang="zh-CN" altLang="en-US" sz="1800" b="0" i="0" baseline="0" dirty="0">
                <a:latin typeface="微软雅黑" panose="020B0503020204020204" pitchFamily="34" charset="-122"/>
                <a:ea typeface="微软雅黑" panose="020B0503020204020204" pitchFamily="34" charset="-122"/>
              </a:rPr>
              <a:t>。这意味着</a:t>
            </a:r>
            <a:r>
              <a:rPr lang="en-US" altLang="zh-CN" sz="1800" b="0" i="0" baseline="0" dirty="0">
                <a:latin typeface="微软雅黑" panose="020B0503020204020204" pitchFamily="34" charset="-122"/>
                <a:ea typeface="微软雅黑" panose="020B0503020204020204" pitchFamily="34" charset="-122"/>
              </a:rPr>
              <a:t>T</a:t>
            </a:r>
            <a:r>
              <a:rPr lang="en-US" altLang="zh-CN" sz="1800" b="0" i="0" baseline="-12000" dirty="0">
                <a:latin typeface="微软雅黑" panose="020B0503020204020204" pitchFamily="34" charset="-122"/>
                <a:ea typeface="微软雅黑" panose="020B0503020204020204" pitchFamily="34" charset="-122"/>
              </a:rPr>
              <a:t>B</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是</a:t>
            </a:r>
            <a:r>
              <a:rPr lang="en-US" altLang="zh-CN" sz="1800" b="0" i="0" baseline="0" dirty="0">
                <a:latin typeface="微软雅黑" panose="020B0503020204020204" pitchFamily="34" charset="-122"/>
                <a:ea typeface="微软雅黑" panose="020B0503020204020204" pitchFamily="34" charset="-122"/>
              </a:rPr>
              <a:t> 0 ms (0 × 2)</a:t>
            </a:r>
            <a:r>
              <a:rPr lang="zh-CN" altLang="en-US" sz="1800" b="0" i="0" baseline="0" dirty="0">
                <a:latin typeface="微软雅黑" panose="020B0503020204020204" pitchFamily="34" charset="-122"/>
                <a:ea typeface="微软雅黑" panose="020B0503020204020204" pitchFamily="34" charset="-122"/>
              </a:rPr>
              <a:t>或是</a:t>
            </a:r>
            <a:r>
              <a:rPr lang="en-US" altLang="zh-CN" sz="1800" b="0" i="0" baseline="0" dirty="0">
                <a:latin typeface="微软雅黑" panose="020B0503020204020204" pitchFamily="34" charset="-122"/>
                <a:ea typeface="微软雅黑" panose="020B0503020204020204" pitchFamily="34" charset="-122"/>
              </a:rPr>
              <a:t>2 ms (1 × 2)</a:t>
            </a:r>
            <a:r>
              <a:rPr lang="zh-CN" altLang="en-US" sz="1800" b="0" i="0" baseline="0" dirty="0">
                <a:latin typeface="微软雅黑" panose="020B0503020204020204" pitchFamily="34" charset="-122"/>
                <a:ea typeface="微软雅黑" panose="020B0503020204020204" pitchFamily="34" charset="-122"/>
              </a:rPr>
              <a:t>。</a:t>
            </a:r>
            <a:endParaRPr lang="en-US" altLang="zh-CN" sz="1800" b="0" i="0" baseline="0" dirty="0">
              <a:latin typeface="微软雅黑" panose="020B0503020204020204" pitchFamily="34" charset="-122"/>
              <a:ea typeface="微软雅黑" panose="020B0503020204020204" pitchFamily="34" charset="-122"/>
            </a:endParaRPr>
          </a:p>
          <a:p>
            <a:pPr marL="457200" indent="-457200" algn="just">
              <a:lnSpc>
                <a:spcPct val="200000"/>
              </a:lnSpc>
              <a:buFontTx/>
              <a:buAutoNum type="alphaLcPeriod"/>
              <a:defRPr/>
            </a:pPr>
            <a:r>
              <a:rPr lang="zh-CN" altLang="en-US" sz="1800" b="0" i="0" baseline="0" dirty="0">
                <a:latin typeface="微软雅黑" panose="020B0503020204020204" pitchFamily="34" charset="-122"/>
                <a:ea typeface="微软雅黑" panose="020B0503020204020204" pitchFamily="34" charset="-122"/>
              </a:rPr>
              <a:t>若</a:t>
            </a:r>
            <a:r>
              <a:rPr lang="en-US" altLang="zh-CN" sz="1800" b="0" i="0" baseline="0" dirty="0">
                <a:latin typeface="微软雅黑" panose="020B0503020204020204" pitchFamily="34" charset="-122"/>
                <a:ea typeface="微软雅黑" panose="020B0503020204020204" pitchFamily="34" charset="-122"/>
              </a:rPr>
              <a:t>K=2</a:t>
            </a:r>
            <a:r>
              <a:rPr lang="zh-CN" altLang="en-US" sz="1800" b="0" i="0" baseline="0" dirty="0">
                <a:latin typeface="微软雅黑" panose="020B0503020204020204" pitchFamily="34" charset="-122"/>
                <a:ea typeface="微软雅黑" panose="020B0503020204020204" pitchFamily="34" charset="-122"/>
              </a:rPr>
              <a:t>，则取值范围</a:t>
            </a:r>
            <a:r>
              <a:rPr lang="en-US" altLang="zh-CN" sz="1800" b="0" i="0" baseline="0" dirty="0">
                <a:latin typeface="微软雅黑" panose="020B0503020204020204" pitchFamily="34" charset="-122"/>
                <a:ea typeface="微软雅黑" panose="020B0503020204020204" pitchFamily="34" charset="-122"/>
              </a:rPr>
              <a:t>{0,1,2,3}</a:t>
            </a:r>
            <a:r>
              <a:rPr lang="zh-CN" altLang="en-US" sz="1800" b="0" i="0" baseline="0" dirty="0">
                <a:latin typeface="微软雅黑" panose="020B0503020204020204" pitchFamily="34" charset="-122"/>
                <a:ea typeface="微软雅黑" panose="020B0503020204020204" pitchFamily="34" charset="-122"/>
              </a:rPr>
              <a:t>，意味着</a:t>
            </a:r>
            <a:r>
              <a:rPr lang="en-US" altLang="zh-CN" sz="1800" b="0" i="0" baseline="0" dirty="0">
                <a:latin typeface="微软雅黑" panose="020B0503020204020204" pitchFamily="34" charset="-122"/>
                <a:ea typeface="微软雅黑" panose="020B0503020204020204" pitchFamily="34" charset="-122"/>
              </a:rPr>
              <a:t>T</a:t>
            </a:r>
            <a:r>
              <a:rPr lang="en-US" altLang="zh-CN" sz="1800" b="0" i="0" baseline="-12000" dirty="0">
                <a:latin typeface="微软雅黑" panose="020B0503020204020204" pitchFamily="34" charset="-122"/>
                <a:ea typeface="微软雅黑" panose="020B0503020204020204" pitchFamily="34" charset="-122"/>
              </a:rPr>
              <a:t>B</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是</a:t>
            </a:r>
            <a:r>
              <a:rPr lang="en-US" altLang="zh-CN" sz="1800" b="0" i="0" baseline="0" dirty="0">
                <a:latin typeface="微软雅黑" panose="020B0503020204020204" pitchFamily="34" charset="-122"/>
                <a:ea typeface="微软雅黑" panose="020B0503020204020204" pitchFamily="34" charset="-122"/>
              </a:rPr>
              <a:t> 0ms, 2ms, 4ms, 6ms</a:t>
            </a:r>
            <a:r>
              <a:rPr lang="zh-CN" altLang="en-US" sz="1800" b="0" i="0" baseline="0" dirty="0">
                <a:latin typeface="微软雅黑" panose="020B0503020204020204" pitchFamily="34" charset="-122"/>
                <a:ea typeface="微软雅黑" panose="020B0503020204020204" pitchFamily="34" charset="-122"/>
              </a:rPr>
              <a:t>。</a:t>
            </a:r>
            <a:endParaRPr lang="en-US" altLang="zh-CN" sz="1800" b="0" i="0" baseline="0" dirty="0">
              <a:latin typeface="微软雅黑" panose="020B0503020204020204" pitchFamily="34" charset="-122"/>
              <a:ea typeface="微软雅黑" panose="020B0503020204020204" pitchFamily="34" charset="-122"/>
            </a:endParaRPr>
          </a:p>
          <a:p>
            <a:pPr marL="457200" indent="-457200" algn="just">
              <a:lnSpc>
                <a:spcPct val="200000"/>
              </a:lnSpc>
              <a:buFontTx/>
              <a:buAutoNum type="alphaLcPeriod"/>
              <a:defRPr/>
            </a:pPr>
            <a:r>
              <a:rPr lang="zh-CN" altLang="en-US" sz="1800" b="0" i="0" baseline="0" dirty="0">
                <a:latin typeface="微软雅黑" panose="020B0503020204020204" pitchFamily="34" charset="-122"/>
                <a:ea typeface="微软雅黑" panose="020B0503020204020204" pitchFamily="34" charset="-122"/>
              </a:rPr>
              <a:t>若</a:t>
            </a:r>
            <a:r>
              <a:rPr lang="en-US" altLang="zh-CN" sz="1800" b="0" i="0" baseline="0" dirty="0">
                <a:latin typeface="微软雅黑" panose="020B0503020204020204" pitchFamily="34" charset="-122"/>
                <a:ea typeface="微软雅黑" panose="020B0503020204020204" pitchFamily="34" charset="-122"/>
              </a:rPr>
              <a:t>K=3</a:t>
            </a:r>
            <a:r>
              <a:rPr lang="zh-CN" altLang="en-US" sz="1800" b="0" i="0" baseline="0" dirty="0">
                <a:latin typeface="微软雅黑" panose="020B0503020204020204" pitchFamily="34" charset="-122"/>
                <a:ea typeface="微软雅黑" panose="020B0503020204020204" pitchFamily="34" charset="-122"/>
              </a:rPr>
              <a:t>，则取值范围</a:t>
            </a:r>
            <a:r>
              <a:rPr lang="en-US" altLang="zh-CN" sz="1800" b="0" i="0" baseline="0" dirty="0">
                <a:latin typeface="微软雅黑" panose="020B0503020204020204" pitchFamily="34" charset="-122"/>
                <a:ea typeface="微软雅黑" panose="020B0503020204020204" pitchFamily="34" charset="-122"/>
              </a:rPr>
              <a:t>{0,1,2,3,4,5,6,7}</a:t>
            </a:r>
            <a:r>
              <a:rPr lang="zh-CN" altLang="en-US" sz="1800" b="0" i="0" baseline="0" dirty="0">
                <a:latin typeface="微软雅黑" panose="020B0503020204020204" pitchFamily="34" charset="-122"/>
                <a:ea typeface="微软雅黑" panose="020B0503020204020204" pitchFamily="34" charset="-122"/>
              </a:rPr>
              <a:t>，意味着</a:t>
            </a:r>
            <a:r>
              <a:rPr lang="en-US" altLang="zh-CN" sz="1800" b="0" i="0" baseline="0" dirty="0">
                <a:latin typeface="微软雅黑" panose="020B0503020204020204" pitchFamily="34" charset="-122"/>
                <a:ea typeface="微软雅黑" panose="020B0503020204020204" pitchFamily="34" charset="-122"/>
              </a:rPr>
              <a:t>T</a:t>
            </a:r>
            <a:r>
              <a:rPr lang="en-US" altLang="zh-CN" sz="1800" b="0" i="0" baseline="-12000" dirty="0">
                <a:latin typeface="微软雅黑" panose="020B0503020204020204" pitchFamily="34" charset="-122"/>
                <a:ea typeface="微软雅黑" panose="020B0503020204020204" pitchFamily="34" charset="-122"/>
              </a:rPr>
              <a:t>B</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是</a:t>
            </a:r>
            <a:r>
              <a:rPr lang="en-US" altLang="zh-CN" sz="1800" b="0" i="0" baseline="0" dirty="0">
                <a:latin typeface="微软雅黑" panose="020B0503020204020204" pitchFamily="34" charset="-122"/>
                <a:ea typeface="微软雅黑" panose="020B0503020204020204" pitchFamily="34" charset="-122"/>
              </a:rPr>
              <a:t> 0ms, 2ms, 4ms, 6ms,……, 14ms</a:t>
            </a:r>
            <a:r>
              <a:rPr lang="zh-CN" altLang="en-US" sz="1800" b="0" i="0" baseline="0" dirty="0">
                <a:latin typeface="微软雅黑" panose="020B0503020204020204" pitchFamily="34" charset="-122"/>
                <a:ea typeface="微软雅黑" panose="020B0503020204020204" pitchFamily="34" charset="-122"/>
              </a:rPr>
              <a:t>。</a:t>
            </a:r>
            <a:endParaRPr lang="en-US" altLang="zh-CN" sz="1800" b="0" i="0" baseline="0" dirty="0">
              <a:latin typeface="微软雅黑" panose="020B0503020204020204" pitchFamily="34" charset="-122"/>
              <a:ea typeface="微软雅黑" panose="020B0503020204020204" pitchFamily="34" charset="-122"/>
            </a:endParaRPr>
          </a:p>
          <a:p>
            <a:pPr marL="457200" indent="-457200" algn="just">
              <a:lnSpc>
                <a:spcPct val="200000"/>
              </a:lnSpc>
              <a:buFontTx/>
              <a:buAutoNum type="alphaLcPeriod"/>
              <a:defRPr/>
            </a:pPr>
            <a:r>
              <a:rPr lang="zh-CN" altLang="en-US" sz="1800" b="0" i="0" baseline="0" dirty="0">
                <a:latin typeface="微软雅黑" panose="020B0503020204020204" pitchFamily="34" charset="-122"/>
                <a:ea typeface="微软雅黑" panose="020B0503020204020204" pitchFamily="34" charset="-122"/>
              </a:rPr>
              <a:t>当</a:t>
            </a:r>
            <a:r>
              <a:rPr lang="en-US" altLang="zh-CN" sz="1800" b="0" i="0" baseline="0" dirty="0">
                <a:latin typeface="微软雅黑" panose="020B0503020204020204" pitchFamily="34" charset="-122"/>
                <a:ea typeface="微软雅黑" panose="020B0503020204020204" pitchFamily="34" charset="-122"/>
              </a:rPr>
              <a:t>K</a:t>
            </a:r>
            <a:r>
              <a:rPr lang="zh-CN" altLang="en-US" sz="1800" b="0" i="0" baseline="0" dirty="0">
                <a:latin typeface="微软雅黑" panose="020B0503020204020204" pitchFamily="34" charset="-122"/>
                <a:ea typeface="微软雅黑" panose="020B0503020204020204" pitchFamily="34" charset="-122"/>
              </a:rPr>
              <a:t>值大于</a:t>
            </a:r>
            <a:r>
              <a:rPr lang="en-US" altLang="zh-CN" sz="1800" b="0" i="0" baseline="0" dirty="0">
                <a:latin typeface="微软雅黑" panose="020B0503020204020204" pitchFamily="34" charset="-122"/>
                <a:ea typeface="微软雅黑" panose="020B0503020204020204" pitchFamily="34" charset="-122"/>
              </a:rPr>
              <a:t>10</a:t>
            </a:r>
            <a:r>
              <a:rPr lang="zh-CN" altLang="en-US" sz="1800" b="0" i="0" baseline="0" dirty="0">
                <a:latin typeface="微软雅黑" panose="020B0503020204020204" pitchFamily="34" charset="-122"/>
                <a:ea typeface="微软雅黑" panose="020B0503020204020204" pitchFamily="34" charset="-122"/>
              </a:rPr>
              <a:t>时，随机数取值范围通常设定为</a:t>
            </a:r>
            <a:r>
              <a:rPr lang="en-US" altLang="zh-CN" sz="1800" b="0" i="0" baseline="0" dirty="0">
                <a:latin typeface="微软雅黑" panose="020B0503020204020204" pitchFamily="34" charset="-122"/>
                <a:ea typeface="微软雅黑" panose="020B0503020204020204" pitchFamily="34" charset="-122"/>
              </a:rPr>
              <a:t>10</a:t>
            </a:r>
            <a:r>
              <a:rPr lang="zh-CN" altLang="en-US" sz="1800" b="0" i="0" baseline="0" dirty="0">
                <a:latin typeface="微软雅黑" panose="020B0503020204020204" pitchFamily="34" charset="-122"/>
                <a:ea typeface="微软雅黑" panose="020B0503020204020204" pitchFamily="34" charset="-122"/>
              </a:rPr>
              <a:t>。</a:t>
            </a:r>
            <a:endParaRPr lang="en-US" altLang="zh-CN" sz="1800" b="0" i="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Text Box 4">
            <a:extLst>
              <a:ext uri="{FF2B5EF4-FFF2-40B4-BE49-F238E27FC236}">
                <a16:creationId xmlns:a16="http://schemas.microsoft.com/office/drawing/2014/main" id="{94784D4B-1629-46CF-8E89-BCC943EB4C9E}"/>
              </a:ext>
            </a:extLst>
          </p:cNvPr>
          <p:cNvSpPr txBox="1">
            <a:spLocks noChangeArrowheads="1"/>
          </p:cNvSpPr>
          <p:nvPr/>
        </p:nvSpPr>
        <p:spPr bwMode="auto">
          <a:xfrm>
            <a:off x="3581401" y="6062246"/>
            <a:ext cx="51716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12.5  </a:t>
            </a:r>
            <a:r>
              <a:rPr lang="zh-CN" altLang="en-US" sz="1600" i="0" baseline="0" dirty="0">
                <a:ea typeface="宋体" panose="02010600030101010101" pitchFamily="2" charset="-122"/>
              </a:rPr>
              <a:t>纯</a:t>
            </a:r>
            <a:r>
              <a:rPr lang="en-US" altLang="zh-CN" sz="1600" i="0" baseline="0" dirty="0">
                <a:ea typeface="宋体" panose="02010600030101010101" pitchFamily="2" charset="-122"/>
              </a:rPr>
              <a:t>ALOHA</a:t>
            </a:r>
            <a:r>
              <a:rPr lang="zh-CN" altLang="en-US" sz="1600" i="0" baseline="0" dirty="0">
                <a:ea typeface="宋体" panose="02010600030101010101" pitchFamily="2" charset="-122"/>
              </a:rPr>
              <a:t>可能的冲突时间是帧传输时间的两倍</a:t>
            </a:r>
            <a:endParaRPr lang="en-US" altLang="zh-CN" sz="1600" i="0" baseline="0" dirty="0">
              <a:ea typeface="宋体" panose="02010600030101010101" pitchFamily="2" charset="-122"/>
            </a:endParaRPr>
          </a:p>
        </p:txBody>
      </p:sp>
      <p:pic>
        <p:nvPicPr>
          <p:cNvPr id="31751" name="Picture 8">
            <a:extLst>
              <a:ext uri="{FF2B5EF4-FFF2-40B4-BE49-F238E27FC236}">
                <a16:creationId xmlns:a16="http://schemas.microsoft.com/office/drawing/2014/main" id="{0C1DA66C-8FE0-4433-B9DE-E3A367EC8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1400" y="2057401"/>
            <a:ext cx="5989201" cy="38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E3E21F49-9901-45DA-91AF-D3750AF287E6}"/>
              </a:ext>
            </a:extLst>
          </p:cNvPr>
          <p:cNvSpPr>
            <a:spLocks noChangeArrowheads="1"/>
          </p:cNvSpPr>
          <p:nvPr/>
        </p:nvSpPr>
        <p:spPr bwMode="auto">
          <a:xfrm>
            <a:off x="1295400" y="916344"/>
            <a:ext cx="10058400" cy="1116781"/>
          </a:xfrm>
          <a:prstGeom prst="rect">
            <a:avLst/>
          </a:prstGeom>
          <a:noFill/>
          <a:ln>
            <a:noFill/>
          </a:ln>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200000"/>
              </a:lnSpc>
            </a:pP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纯 </a:t>
            </a:r>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ALOHA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的吞吐量是 </a:t>
            </a:r>
            <a:r>
              <a:rPr lang="en-US" altLang="zh-CN" sz="1800" b="0" i="0" baseline="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S = G × e </a:t>
            </a:r>
            <a:r>
              <a:rPr lang="en-US" altLang="zh-CN" sz="1800" b="0" i="0" baseline="300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−2G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，当 </a:t>
            </a:r>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G= (1/2)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时，最大吞吐量为 </a:t>
            </a:r>
            <a:r>
              <a:rPr lang="en-US" altLang="zh-CN" sz="1800" b="0" i="0" baseline="0" dirty="0" err="1">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S</a:t>
            </a:r>
            <a:r>
              <a:rPr lang="en-US" altLang="zh-CN" sz="1800" b="0" i="0" baseline="-18000" dirty="0" err="1">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max</a:t>
            </a:r>
            <a:r>
              <a:rPr lang="en-US" altLang="zh-CN" sz="1800" b="0" i="0" baseline="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 = 0.184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是帧传输时间内系统产生帧的平均数量。</a:t>
            </a:r>
            <a:endPar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2" name="Rectangle 9">
            <a:extLst>
              <a:ext uri="{FF2B5EF4-FFF2-40B4-BE49-F238E27FC236}">
                <a16:creationId xmlns:a16="http://schemas.microsoft.com/office/drawing/2014/main" id="{48C96349-0619-46A9-BE3D-372CD915512C}"/>
              </a:ext>
            </a:extLst>
          </p:cNvPr>
          <p:cNvSpPr>
            <a:spLocks noChangeArrowheads="1"/>
          </p:cNvSpPr>
          <p:nvPr/>
        </p:nvSpPr>
        <p:spPr bwMode="auto">
          <a:xfrm>
            <a:off x="1371600" y="1471901"/>
            <a:ext cx="9448800" cy="14998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250000"/>
              </a:lnSpc>
            </a:pPr>
            <a:r>
              <a:rPr lang="zh-CN" altLang="en-US" sz="2000" i="0" baseline="0" dirty="0">
                <a:solidFill>
                  <a:srgbClr val="FF0000"/>
                </a:solidFill>
                <a:latin typeface="微软雅黑" panose="020B0503020204020204" pitchFamily="34" charset="-122"/>
                <a:ea typeface="微软雅黑" panose="020B0503020204020204" pitchFamily="34" charset="-122"/>
              </a:rPr>
              <a:t>例</a:t>
            </a:r>
            <a:r>
              <a:rPr lang="en-US" altLang="zh-CN" sz="2000" i="0" baseline="0" dirty="0">
                <a:solidFill>
                  <a:srgbClr val="FF0000"/>
                </a:solidFill>
                <a:latin typeface="微软雅黑" panose="020B0503020204020204" pitchFamily="34" charset="-122"/>
                <a:ea typeface="微软雅黑" panose="020B0503020204020204" pitchFamily="34" charset="-122"/>
              </a:rPr>
              <a:t>12.2  </a:t>
            </a:r>
            <a:r>
              <a:rPr lang="zh-CN" altLang="en-US" sz="2000" b="0" i="0" baseline="0" dirty="0">
                <a:latin typeface="微软雅黑" panose="020B0503020204020204" pitchFamily="34" charset="-122"/>
                <a:ea typeface="微软雅黑" panose="020B0503020204020204" pitchFamily="34" charset="-122"/>
              </a:rPr>
              <a:t>一个纯</a:t>
            </a:r>
            <a:r>
              <a:rPr lang="en-US" altLang="zh-CN" sz="2000" b="0" i="0" baseline="0" dirty="0">
                <a:latin typeface="微软雅黑" panose="020B0503020204020204" pitchFamily="34" charset="-122"/>
                <a:ea typeface="微软雅黑" panose="020B0503020204020204" pitchFamily="34" charset="-122"/>
              </a:rPr>
              <a:t>ALOHA</a:t>
            </a:r>
            <a:r>
              <a:rPr lang="zh-CN" altLang="en-US" sz="2000" b="0" i="0" baseline="0" dirty="0">
                <a:latin typeface="微软雅黑" panose="020B0503020204020204" pitchFamily="34" charset="-122"/>
                <a:ea typeface="微软雅黑" panose="020B0503020204020204" pitchFamily="34" charset="-122"/>
              </a:rPr>
              <a:t>帧长</a:t>
            </a:r>
            <a:r>
              <a:rPr lang="en-US" altLang="zh-CN" sz="2000" b="0" i="0" baseline="0" dirty="0">
                <a:latin typeface="微软雅黑" panose="020B0503020204020204" pitchFamily="34" charset="-122"/>
                <a:ea typeface="微软雅黑" panose="020B0503020204020204" pitchFamily="34" charset="-122"/>
              </a:rPr>
              <a:t>200</a:t>
            </a:r>
            <a:r>
              <a:rPr lang="zh-CN" altLang="en-US" sz="2000" b="0" i="0" baseline="0" dirty="0">
                <a:latin typeface="微软雅黑" panose="020B0503020204020204" pitchFamily="34" charset="-122"/>
                <a:ea typeface="微软雅黑" panose="020B0503020204020204" pitchFamily="34" charset="-122"/>
              </a:rPr>
              <a:t>比特，带宽</a:t>
            </a:r>
            <a:r>
              <a:rPr lang="en-US" altLang="zh-CN" sz="2000" b="0" i="0" baseline="0" dirty="0">
                <a:latin typeface="微软雅黑" panose="020B0503020204020204" pitchFamily="34" charset="-122"/>
                <a:ea typeface="微软雅黑" panose="020B0503020204020204" pitchFamily="34" charset="-122"/>
              </a:rPr>
              <a:t>200kbps, </a:t>
            </a:r>
            <a:r>
              <a:rPr lang="zh-CN" altLang="en-US" sz="2000" b="0" i="0" baseline="0" dirty="0">
                <a:latin typeface="微软雅黑" panose="020B0503020204020204" pitchFamily="34" charset="-122"/>
                <a:ea typeface="微软雅黑" panose="020B0503020204020204" pitchFamily="34" charset="-122"/>
              </a:rPr>
              <a:t>这个帧在传输过程中无冲突的条件是什么？</a:t>
            </a:r>
            <a:endParaRPr lang="en-US" altLang="zh-CN" sz="2000" b="0" i="0" baseline="0" dirty="0">
              <a:latin typeface="微软雅黑" panose="020B0503020204020204" pitchFamily="34" charset="-122"/>
              <a:ea typeface="微软雅黑" panose="020B0503020204020204" pitchFamily="34" charset="-122"/>
            </a:endParaRPr>
          </a:p>
        </p:txBody>
      </p:sp>
      <p:sp>
        <p:nvSpPr>
          <p:cNvPr id="33804" name="Rectangle 11">
            <a:extLst>
              <a:ext uri="{FF2B5EF4-FFF2-40B4-BE49-F238E27FC236}">
                <a16:creationId xmlns:a16="http://schemas.microsoft.com/office/drawing/2014/main" id="{AB46F3F3-89CE-4D6B-8C03-D9C953C6FEAC}"/>
              </a:ext>
            </a:extLst>
          </p:cNvPr>
          <p:cNvSpPr>
            <a:spLocks noChangeArrowheads="1"/>
          </p:cNvSpPr>
          <p:nvPr/>
        </p:nvSpPr>
        <p:spPr bwMode="auto">
          <a:xfrm>
            <a:off x="1371600" y="3300702"/>
            <a:ext cx="9448800" cy="14998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250000"/>
              </a:lnSpc>
            </a:pPr>
            <a:r>
              <a:rPr lang="zh-CN" altLang="en-US" sz="2000" b="0" i="0" baseline="0" dirty="0">
                <a:latin typeface="微软雅黑" panose="020B0503020204020204" pitchFamily="34" charset="-122"/>
                <a:ea typeface="微软雅黑" panose="020B0503020204020204" pitchFamily="34" charset="-122"/>
              </a:rPr>
              <a:t>解：帧传输时间为</a:t>
            </a:r>
            <a:r>
              <a:rPr lang="en-US" altLang="zh-CN" sz="2000" b="0" i="0" baseline="0" dirty="0" err="1">
                <a:latin typeface="微软雅黑" panose="020B0503020204020204" pitchFamily="34" charset="-122"/>
                <a:ea typeface="微软雅黑" panose="020B0503020204020204" pitchFamily="34" charset="-122"/>
              </a:rPr>
              <a:t>T</a:t>
            </a:r>
            <a:r>
              <a:rPr lang="en-US" altLang="zh-CN" sz="2000" b="0" i="0" baseline="-12000" dirty="0" err="1">
                <a:latin typeface="微软雅黑" panose="020B0503020204020204" pitchFamily="34" charset="-122"/>
                <a:ea typeface="微软雅黑" panose="020B0503020204020204" pitchFamily="34" charset="-122"/>
              </a:rPr>
              <a:t>fr</a:t>
            </a:r>
            <a:r>
              <a:rPr lang="en-US" altLang="zh-CN" sz="2000" b="0" i="0" baseline="0" dirty="0">
                <a:latin typeface="微软雅黑" panose="020B0503020204020204" pitchFamily="34" charset="-122"/>
                <a:ea typeface="微软雅黑" panose="020B0503020204020204" pitchFamily="34" charset="-122"/>
              </a:rPr>
              <a:t> = 200 bits/200 kbps = 1 </a:t>
            </a:r>
            <a:r>
              <a:rPr lang="en-US" altLang="zh-CN" sz="2000" b="0" i="0" baseline="0" dirty="0" err="1">
                <a:latin typeface="微软雅黑" panose="020B0503020204020204" pitchFamily="34" charset="-122"/>
                <a:ea typeface="微软雅黑" panose="020B0503020204020204" pitchFamily="34" charset="-122"/>
              </a:rPr>
              <a:t>ms</a:t>
            </a:r>
            <a:r>
              <a:rPr lang="zh-CN" altLang="en-US" sz="2000" b="0" i="0" baseline="0" dirty="0">
                <a:latin typeface="微软雅黑" panose="020B0503020204020204" pitchFamily="34" charset="-122"/>
                <a:ea typeface="微软雅黑" panose="020B0503020204020204" pitchFamily="34" charset="-122"/>
              </a:rPr>
              <a:t>，则可能的冲突时间为 </a:t>
            </a:r>
            <a:r>
              <a:rPr lang="en-US" altLang="zh-CN" sz="2000" b="0" i="0" baseline="0" dirty="0">
                <a:latin typeface="微软雅黑" panose="020B0503020204020204" pitchFamily="34" charset="-122"/>
                <a:ea typeface="微软雅黑" panose="020B0503020204020204" pitchFamily="34" charset="-122"/>
              </a:rPr>
              <a:t>2ms</a:t>
            </a:r>
            <a:r>
              <a:rPr lang="zh-CN" altLang="en-US" sz="2000" b="0" i="0" baseline="0" dirty="0">
                <a:latin typeface="微软雅黑" panose="020B0503020204020204" pitchFamily="34" charset="-122"/>
                <a:ea typeface="微软雅黑" panose="020B0503020204020204" pitchFamily="34" charset="-122"/>
              </a:rPr>
              <a:t>，意味着前</a:t>
            </a:r>
            <a:r>
              <a:rPr lang="en-US" altLang="zh-CN" sz="2000" b="0" i="0" baseline="0" dirty="0">
                <a:latin typeface="微软雅黑" panose="020B0503020204020204" pitchFamily="34" charset="-122"/>
                <a:ea typeface="微软雅黑" panose="020B0503020204020204" pitchFamily="34" charset="-122"/>
              </a:rPr>
              <a:t>1ms</a:t>
            </a:r>
            <a:r>
              <a:rPr lang="zh-CN" altLang="en-US" sz="2000" b="0" i="0" baseline="0" dirty="0">
                <a:latin typeface="微软雅黑" panose="020B0503020204020204" pitchFamily="34" charset="-122"/>
                <a:ea typeface="微软雅黑" panose="020B0503020204020204" pitchFamily="34" charset="-122"/>
              </a:rPr>
              <a:t>和后</a:t>
            </a:r>
            <a:r>
              <a:rPr lang="en-US" altLang="zh-CN" sz="2000" b="0" i="0" baseline="0" dirty="0">
                <a:latin typeface="微软雅黑" panose="020B0503020204020204" pitchFamily="34" charset="-122"/>
                <a:ea typeface="微软雅黑" panose="020B0503020204020204" pitchFamily="34" charset="-122"/>
              </a:rPr>
              <a:t>1ms</a:t>
            </a:r>
            <a:r>
              <a:rPr lang="zh-CN" altLang="en-US" sz="2000" b="0" i="0" baseline="0" dirty="0">
                <a:latin typeface="微软雅黑" panose="020B0503020204020204" pitchFamily="34" charset="-122"/>
                <a:ea typeface="微软雅黑" panose="020B0503020204020204" pitchFamily="34" charset="-122"/>
              </a:rPr>
              <a:t>都没有其它站发送数据帧时才不会发生冲突。</a:t>
            </a:r>
            <a:endParaRPr lang="en-US" altLang="zh-CN" sz="2000" b="0" i="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804"/>
                                        </p:tgtEl>
                                        <p:attrNameLst>
                                          <p:attrName>style.visibility</p:attrName>
                                        </p:attrNameLst>
                                      </p:cBhvr>
                                      <p:to>
                                        <p:strVal val="visible"/>
                                      </p:to>
                                    </p:set>
                                    <p:animEffect transition="in" filter="wipe(up)">
                                      <p:cBhvr>
                                        <p:cTn id="7" dur="500"/>
                                        <p:tgtEl>
                                          <p:spTgt spid="33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Text Box 4">
            <a:extLst>
              <a:ext uri="{FF2B5EF4-FFF2-40B4-BE49-F238E27FC236}">
                <a16:creationId xmlns:a16="http://schemas.microsoft.com/office/drawing/2014/main" id="{0DEE9671-2843-4D75-872B-ABB1269B3215}"/>
              </a:ext>
            </a:extLst>
          </p:cNvPr>
          <p:cNvSpPr txBox="1">
            <a:spLocks noChangeArrowheads="1"/>
          </p:cNvSpPr>
          <p:nvPr/>
        </p:nvSpPr>
        <p:spPr bwMode="auto">
          <a:xfrm>
            <a:off x="5061101" y="5562600"/>
            <a:ext cx="20697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12.6  </a:t>
            </a:r>
            <a:r>
              <a:rPr lang="zh-CN" altLang="en-US" sz="1600" i="0" baseline="0" dirty="0">
                <a:ea typeface="宋体" panose="02010600030101010101" pitchFamily="2" charset="-122"/>
              </a:rPr>
              <a:t>时隙</a:t>
            </a:r>
            <a:r>
              <a:rPr lang="en-US" altLang="zh-CN" sz="1600" i="0" baseline="0" dirty="0">
                <a:ea typeface="宋体" panose="02010600030101010101" pitchFamily="2" charset="-122"/>
              </a:rPr>
              <a:t>ALOHA</a:t>
            </a:r>
            <a:endParaRPr lang="en-US" altLang="zh-CN" sz="1600" baseline="0" dirty="0">
              <a:ea typeface="宋体" panose="02010600030101010101" pitchFamily="2" charset="-122"/>
            </a:endParaRPr>
          </a:p>
        </p:txBody>
      </p:sp>
      <p:pic>
        <p:nvPicPr>
          <p:cNvPr id="37895" name="Picture 7">
            <a:extLst>
              <a:ext uri="{FF2B5EF4-FFF2-40B4-BE49-F238E27FC236}">
                <a16:creationId xmlns:a16="http://schemas.microsoft.com/office/drawing/2014/main" id="{77D3DF25-F33F-41DD-A5FA-04C3C09FB1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447800"/>
            <a:ext cx="8077200" cy="3778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Text Box 4">
            <a:extLst>
              <a:ext uri="{FF2B5EF4-FFF2-40B4-BE49-F238E27FC236}">
                <a16:creationId xmlns:a16="http://schemas.microsoft.com/office/drawing/2014/main" id="{E5C185DC-7C8B-43F4-ABFB-D2B5E76BBB06}"/>
              </a:ext>
            </a:extLst>
          </p:cNvPr>
          <p:cNvSpPr txBox="1">
            <a:spLocks noChangeArrowheads="1"/>
          </p:cNvSpPr>
          <p:nvPr/>
        </p:nvSpPr>
        <p:spPr bwMode="auto">
          <a:xfrm>
            <a:off x="3792335" y="5791200"/>
            <a:ext cx="49648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12.7  </a:t>
            </a:r>
            <a:r>
              <a:rPr lang="zh-CN" altLang="en-US" sz="1600" i="0" baseline="0" dirty="0">
                <a:ea typeface="宋体" panose="02010600030101010101" pitchFamily="2" charset="-122"/>
              </a:rPr>
              <a:t>时隙</a:t>
            </a:r>
            <a:r>
              <a:rPr lang="en-US" altLang="zh-CN" sz="1600" i="0" baseline="0" dirty="0">
                <a:ea typeface="宋体" panose="02010600030101010101" pitchFamily="2" charset="-122"/>
              </a:rPr>
              <a:t>ALOHA</a:t>
            </a:r>
            <a:r>
              <a:rPr lang="zh-CN" altLang="en-US" sz="1600" i="0" baseline="0" dirty="0">
                <a:ea typeface="宋体" panose="02010600030101010101" pitchFamily="2" charset="-122"/>
              </a:rPr>
              <a:t>可能的冲突时间等于帧传输时间</a:t>
            </a:r>
            <a:endParaRPr lang="en-US" altLang="zh-CN" sz="1600" i="0" baseline="0" dirty="0">
              <a:ea typeface="宋体" panose="02010600030101010101" pitchFamily="2" charset="-122"/>
            </a:endParaRPr>
          </a:p>
        </p:txBody>
      </p:sp>
      <p:pic>
        <p:nvPicPr>
          <p:cNvPr id="39943" name="Picture 7">
            <a:extLst>
              <a:ext uri="{FF2B5EF4-FFF2-40B4-BE49-F238E27FC236}">
                <a16:creationId xmlns:a16="http://schemas.microsoft.com/office/drawing/2014/main" id="{28454C38-F398-4827-934F-5F4EC91B3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987941"/>
            <a:ext cx="6198545" cy="3541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05B61EC8-5EBE-4940-9893-9D9CF279444F}"/>
              </a:ext>
            </a:extLst>
          </p:cNvPr>
          <p:cNvSpPr>
            <a:spLocks noChangeArrowheads="1"/>
          </p:cNvSpPr>
          <p:nvPr/>
        </p:nvSpPr>
        <p:spPr bwMode="auto">
          <a:xfrm>
            <a:off x="1485900" y="1219200"/>
            <a:ext cx="9220200" cy="458908"/>
          </a:xfrm>
          <a:prstGeom prst="rect">
            <a:avLst/>
          </a:prstGeom>
          <a:noFill/>
          <a:ln>
            <a:noFill/>
          </a:ln>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150000"/>
              </a:lnSpc>
            </a:pP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时隙 </a:t>
            </a:r>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ALOHA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的吞吐量是 </a:t>
            </a:r>
            <a:r>
              <a:rPr lang="en-US" altLang="zh-CN" sz="1800" b="0" i="0" baseline="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S = G × e </a:t>
            </a:r>
            <a:r>
              <a:rPr lang="en-US" altLang="zh-CN" sz="1800" b="0" i="0" baseline="3000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，当 </a:t>
            </a:r>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G= 1</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时，最大吞吐量为 </a:t>
            </a:r>
            <a:r>
              <a:rPr lang="en-US" altLang="zh-CN" sz="1800" b="0" i="0" baseline="0" dirty="0" err="1">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S</a:t>
            </a:r>
            <a:r>
              <a:rPr lang="en-US" altLang="zh-CN" sz="1800" b="0" i="0" baseline="-18000" dirty="0" err="1">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max</a:t>
            </a:r>
            <a:r>
              <a:rPr lang="en-US" altLang="zh-CN" sz="1800" b="0" i="0" baseline="0" dirty="0">
                <a:solidFill>
                  <a:schemeClr val="hlink"/>
                </a:solidFill>
                <a:latin typeface="微软雅黑" panose="020B0503020204020204" pitchFamily="34" charset="-122"/>
                <a:ea typeface="微软雅黑" panose="020B0503020204020204" pitchFamily="34" charset="-122"/>
                <a:cs typeface="Times New Roman" panose="02020603050405020304" pitchFamily="18" charset="0"/>
              </a:rPr>
              <a:t> = 0.368 </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9" name="文本框 1">
            <a:extLst>
              <a:ext uri="{FF2B5EF4-FFF2-40B4-BE49-F238E27FC236}">
                <a16:creationId xmlns:a16="http://schemas.microsoft.com/office/drawing/2014/main" id="{3C1BBB3D-2463-44B8-AED2-9F1AD8B413EB}"/>
              </a:ext>
            </a:extLst>
          </p:cNvPr>
          <p:cNvSpPr txBox="1">
            <a:spLocks noChangeArrowheads="1"/>
          </p:cNvSpPr>
          <p:nvPr/>
        </p:nvSpPr>
        <p:spPr bwMode="auto">
          <a:xfrm>
            <a:off x="1219200" y="838200"/>
            <a:ext cx="9677400"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200000"/>
              </a:lnSpc>
            </a:pPr>
            <a:r>
              <a:rPr lang="zh-CN" altLang="en-US" sz="1800" b="0" i="0" baseline="0" dirty="0">
                <a:latin typeface="微软雅黑" panose="020B0503020204020204" pitchFamily="34" charset="-122"/>
                <a:ea typeface="微软雅黑" panose="020B0503020204020204" pitchFamily="34" charset="-122"/>
              </a:rPr>
              <a:t>载波侦听多路访问 </a:t>
            </a:r>
            <a:r>
              <a:rPr lang="en-US" altLang="zh-CN" sz="1800" b="0" i="0" baseline="0" dirty="0">
                <a:latin typeface="微软雅黑" panose="020B0503020204020204" pitchFamily="34" charset="-122"/>
                <a:ea typeface="微软雅黑" panose="020B0503020204020204" pitchFamily="34" charset="-122"/>
              </a:rPr>
              <a:t>CSMA </a:t>
            </a:r>
            <a:r>
              <a:rPr lang="zh-CN" altLang="en-US" sz="1800" b="0" i="0" baseline="0" dirty="0">
                <a:latin typeface="微软雅黑" panose="020B0503020204020204" pitchFamily="34" charset="-122"/>
                <a:ea typeface="微软雅黑" panose="020B0503020204020204" pitchFamily="34" charset="-122"/>
              </a:rPr>
              <a:t>要求每一个站点在发送前先要监听介质，以减少冲突发生的概率。但是它不能消除冲突，冲突的概率依然存在的原因是传播的延迟。</a:t>
            </a:r>
          </a:p>
        </p:txBody>
      </p:sp>
      <p:sp>
        <p:nvSpPr>
          <p:cNvPr id="8" name="矩形 7">
            <a:extLst>
              <a:ext uri="{FF2B5EF4-FFF2-40B4-BE49-F238E27FC236}">
                <a16:creationId xmlns:a16="http://schemas.microsoft.com/office/drawing/2014/main" id="{25736BAC-70D3-4F99-8AB4-5B0B26558F27}"/>
              </a:ext>
            </a:extLst>
          </p:cNvPr>
          <p:cNvSpPr/>
          <p:nvPr/>
        </p:nvSpPr>
        <p:spPr>
          <a:xfrm>
            <a:off x="4038600" y="82296"/>
            <a:ext cx="4153701" cy="523220"/>
          </a:xfrm>
          <a:prstGeom prst="rect">
            <a:avLst/>
          </a:prstGeom>
        </p:spPr>
        <p:txBody>
          <a:bodyPr wrap="none">
            <a:spAutoFit/>
          </a:bodyPr>
          <a:lstStyle/>
          <a:p>
            <a:r>
              <a:rPr lang="zh-CN" altLang="en-US" i="0" baseline="0" dirty="0">
                <a:solidFill>
                  <a:schemeClr val="bg1"/>
                </a:solidFill>
                <a:latin typeface="微软雅黑" panose="020B0503020204020204" pitchFamily="34" charset="-122"/>
                <a:ea typeface="微软雅黑" panose="020B0503020204020204" pitchFamily="34" charset="-122"/>
              </a:rPr>
              <a:t>载波侦听多路访问</a:t>
            </a:r>
            <a:r>
              <a:rPr lang="en-US" altLang="zh-CN" i="0" baseline="0" dirty="0">
                <a:solidFill>
                  <a:schemeClr val="bg1"/>
                </a:solidFill>
                <a:latin typeface="微软雅黑" panose="020B0503020204020204" pitchFamily="34" charset="-122"/>
                <a:ea typeface="微软雅黑" panose="020B0503020204020204" pitchFamily="34" charset="-122"/>
              </a:rPr>
              <a:t>CSMA</a:t>
            </a:r>
          </a:p>
        </p:txBody>
      </p:sp>
      <p:sp>
        <p:nvSpPr>
          <p:cNvPr id="9" name="Text Box 4">
            <a:extLst>
              <a:ext uri="{FF2B5EF4-FFF2-40B4-BE49-F238E27FC236}">
                <a16:creationId xmlns:a16="http://schemas.microsoft.com/office/drawing/2014/main" id="{40FDEFFC-A220-4644-A807-E185C215C2CD}"/>
              </a:ext>
            </a:extLst>
          </p:cNvPr>
          <p:cNvSpPr txBox="1">
            <a:spLocks noChangeArrowheads="1"/>
          </p:cNvSpPr>
          <p:nvPr/>
        </p:nvSpPr>
        <p:spPr bwMode="auto">
          <a:xfrm>
            <a:off x="4648201" y="6062246"/>
            <a:ext cx="31614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12.8  </a:t>
            </a:r>
            <a:r>
              <a:rPr lang="en-US" altLang="zh-CN" sz="1600" i="0" baseline="0" dirty="0">
                <a:ea typeface="宋体" panose="02010600030101010101" pitchFamily="2" charset="-122"/>
              </a:rPr>
              <a:t>CSMA</a:t>
            </a:r>
            <a:r>
              <a:rPr lang="zh-CN" altLang="en-US" sz="1600" i="0" baseline="0" dirty="0">
                <a:ea typeface="宋体" panose="02010600030101010101" pitchFamily="2" charset="-122"/>
              </a:rPr>
              <a:t>中冲突的时空模型</a:t>
            </a:r>
            <a:endParaRPr lang="en-US" altLang="zh-CN" sz="1600" i="0" baseline="0" dirty="0">
              <a:ea typeface="宋体" panose="02010600030101010101" pitchFamily="2" charset="-122"/>
            </a:endParaRPr>
          </a:p>
        </p:txBody>
      </p:sp>
      <p:pic>
        <p:nvPicPr>
          <p:cNvPr id="10" name="图片 1">
            <a:extLst>
              <a:ext uri="{FF2B5EF4-FFF2-40B4-BE49-F238E27FC236}">
                <a16:creationId xmlns:a16="http://schemas.microsoft.com/office/drawing/2014/main" id="{A413B352-1A4A-4B91-BC72-E9A7630D9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1" y="2246370"/>
            <a:ext cx="5667375" cy="368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0579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Text Box 4">
            <a:extLst>
              <a:ext uri="{FF2B5EF4-FFF2-40B4-BE49-F238E27FC236}">
                <a16:creationId xmlns:a16="http://schemas.microsoft.com/office/drawing/2014/main" id="{C9760D94-70BC-4F08-B866-A04E19D3D220}"/>
              </a:ext>
            </a:extLst>
          </p:cNvPr>
          <p:cNvSpPr txBox="1">
            <a:spLocks noChangeArrowheads="1"/>
          </p:cNvSpPr>
          <p:nvPr/>
        </p:nvSpPr>
        <p:spPr bwMode="auto">
          <a:xfrm>
            <a:off x="4722066" y="5303339"/>
            <a:ext cx="274786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12.9  </a:t>
            </a:r>
            <a:r>
              <a:rPr lang="en-US" altLang="zh-CN" sz="1600" i="0" baseline="0" dirty="0">
                <a:ea typeface="宋体" panose="02010600030101010101" pitchFamily="2" charset="-122"/>
              </a:rPr>
              <a:t>CSMA</a:t>
            </a:r>
            <a:r>
              <a:rPr lang="zh-CN" altLang="en-US" sz="1600" i="0" baseline="0" dirty="0">
                <a:ea typeface="宋体" panose="02010600030101010101" pitchFamily="2" charset="-122"/>
              </a:rPr>
              <a:t>碰撞冲突时间</a:t>
            </a:r>
            <a:endParaRPr lang="en-US" altLang="zh-CN" sz="1600" i="0" baseline="0" dirty="0">
              <a:ea typeface="宋体" panose="02010600030101010101" pitchFamily="2" charset="-122"/>
            </a:endParaRPr>
          </a:p>
        </p:txBody>
      </p:sp>
      <p:pic>
        <p:nvPicPr>
          <p:cNvPr id="48135" name="Picture 7">
            <a:extLst>
              <a:ext uri="{FF2B5EF4-FFF2-40B4-BE49-F238E27FC236}">
                <a16:creationId xmlns:a16="http://schemas.microsoft.com/office/drawing/2014/main" id="{D7FDD972-8860-41FB-8ECC-BBD27D0A7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978654"/>
            <a:ext cx="7772400" cy="2900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Text Box 4">
            <a:extLst>
              <a:ext uri="{FF2B5EF4-FFF2-40B4-BE49-F238E27FC236}">
                <a16:creationId xmlns:a16="http://schemas.microsoft.com/office/drawing/2014/main" id="{F89BD3FF-5858-46FC-B4D6-6F3A9178D1FC}"/>
              </a:ext>
            </a:extLst>
          </p:cNvPr>
          <p:cNvSpPr txBox="1">
            <a:spLocks noChangeArrowheads="1"/>
          </p:cNvSpPr>
          <p:nvPr/>
        </p:nvSpPr>
        <p:spPr bwMode="auto">
          <a:xfrm>
            <a:off x="4038600" y="61976"/>
            <a:ext cx="41537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i="0" baseline="0" dirty="0">
                <a:solidFill>
                  <a:schemeClr val="bg1"/>
                </a:solidFill>
                <a:latin typeface="微软雅黑" panose="020B0503020204020204" pitchFamily="34" charset="-122"/>
                <a:ea typeface="微软雅黑" panose="020B0503020204020204" pitchFamily="34" charset="-122"/>
              </a:rPr>
              <a:t>三种坚持型方法之</a:t>
            </a:r>
            <a:r>
              <a:rPr lang="en-US" altLang="zh-CN" i="0" baseline="0" dirty="0">
                <a:solidFill>
                  <a:schemeClr val="bg1"/>
                </a:solidFill>
                <a:latin typeface="微软雅黑" panose="020B0503020204020204" pitchFamily="34" charset="-122"/>
                <a:ea typeface="微软雅黑" panose="020B0503020204020204" pitchFamily="34" charset="-122"/>
              </a:rPr>
              <a:t>1-</a:t>
            </a:r>
            <a:r>
              <a:rPr lang="zh-CN" altLang="en-US" i="0" baseline="0" dirty="0">
                <a:solidFill>
                  <a:schemeClr val="bg1"/>
                </a:solidFill>
                <a:latin typeface="微软雅黑" panose="020B0503020204020204" pitchFamily="34" charset="-122"/>
                <a:ea typeface="微软雅黑" panose="020B0503020204020204" pitchFamily="34" charset="-122"/>
              </a:rPr>
              <a:t>坚持</a:t>
            </a:r>
            <a:endParaRPr lang="en-US" altLang="zh-CN" i="0" baseline="0" dirty="0">
              <a:solidFill>
                <a:schemeClr val="bg1"/>
              </a:solidFill>
              <a:latin typeface="微软雅黑" panose="020B0503020204020204" pitchFamily="34" charset="-122"/>
              <a:ea typeface="微软雅黑" panose="020B0503020204020204" pitchFamily="34" charset="-122"/>
            </a:endParaRPr>
          </a:p>
        </p:txBody>
      </p:sp>
      <p:sp>
        <p:nvSpPr>
          <p:cNvPr id="52231" name="文本框 11">
            <a:extLst>
              <a:ext uri="{FF2B5EF4-FFF2-40B4-BE49-F238E27FC236}">
                <a16:creationId xmlns:a16="http://schemas.microsoft.com/office/drawing/2014/main" id="{8D3761DC-F3EF-4C8A-981E-A658B73C9115}"/>
              </a:ext>
            </a:extLst>
          </p:cNvPr>
          <p:cNvSpPr txBox="1">
            <a:spLocks noChangeArrowheads="1"/>
          </p:cNvSpPr>
          <p:nvPr/>
        </p:nvSpPr>
        <p:spPr bwMode="auto">
          <a:xfrm>
            <a:off x="2667000" y="3124201"/>
            <a:ext cx="6858000" cy="300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nSpc>
                <a:spcPct val="150000"/>
              </a:lnSpc>
            </a:pP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坚持</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监听信道后，信道处于忙状态，之后“坚持”监听操作。 </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Clr>
                <a:srgbClr val="FF0000"/>
              </a:buClr>
              <a:buSzPct val="80000"/>
              <a:buFont typeface="Wingdings" panose="05000000000000000000" pitchFamily="2" charset="2"/>
              <a:buChar char="u"/>
            </a:pP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 1-</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坚持 </a:t>
            </a: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CSMA </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运行机制 </a:t>
            </a:r>
          </a:p>
          <a:p>
            <a:pPr marL="630238" indent="-274638">
              <a:lnSpc>
                <a:spcPct val="150000"/>
              </a:lnSpc>
              <a:buClr>
                <a:srgbClr val="3366FF"/>
              </a:buClr>
              <a:buSzPct val="80000"/>
              <a:buFont typeface="Wingdings" panose="05000000000000000000" pitchFamily="2" charset="2"/>
              <a:buChar char="l"/>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信道监听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如果主机想要发送消息，先监听信道；</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信道空闲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直接传输；</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信道忙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一直监听，空闲后马上传输。</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Clr>
                <a:srgbClr val="FF0000"/>
              </a:buClr>
              <a:buSzPct val="80000"/>
              <a:buFont typeface="Wingdings" panose="05000000000000000000" pitchFamily="2" charset="2"/>
              <a:buChar char="u"/>
            </a:pP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坚持 </a:t>
            </a: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CSMA </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特点 </a:t>
            </a:r>
          </a:p>
          <a:p>
            <a:pPr marL="630238" indent="-274638">
              <a:lnSpc>
                <a:spcPct val="150000"/>
              </a:lnSpc>
              <a:buClr>
                <a:srgbClr val="3366FF"/>
              </a:buClr>
              <a:buSzPct val="80000"/>
              <a:buFont typeface="Wingdings" panose="05000000000000000000" pitchFamily="2" charset="2"/>
              <a:buChar char="l"/>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优点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信道利用率高，只要信道空闲，站点就可以发送数据；</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缺点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如果有多个站点要发送数据，就会发生冲突。</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2232" name="Picture 7">
            <a:extLst>
              <a:ext uri="{FF2B5EF4-FFF2-40B4-BE49-F238E27FC236}">
                <a16:creationId xmlns:a16="http://schemas.microsoft.com/office/drawing/2014/main" id="{18FAD3D3-717F-49F5-806D-DCDDD6141A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9078"/>
          <a:stretch>
            <a:fillRect/>
          </a:stretch>
        </p:blipFill>
        <p:spPr bwMode="auto">
          <a:xfrm>
            <a:off x="3429000" y="1219200"/>
            <a:ext cx="5100638"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5" name="文本框 11">
            <a:extLst>
              <a:ext uri="{FF2B5EF4-FFF2-40B4-BE49-F238E27FC236}">
                <a16:creationId xmlns:a16="http://schemas.microsoft.com/office/drawing/2014/main" id="{850F06F5-107A-429B-9DA5-DD4F4E57FA08}"/>
              </a:ext>
            </a:extLst>
          </p:cNvPr>
          <p:cNvSpPr txBox="1">
            <a:spLocks noChangeArrowheads="1"/>
          </p:cNvSpPr>
          <p:nvPr/>
        </p:nvSpPr>
        <p:spPr bwMode="auto">
          <a:xfrm>
            <a:off x="1981200" y="3124200"/>
            <a:ext cx="9446588" cy="300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nSpc>
                <a:spcPct val="150000"/>
              </a:lnSpc>
              <a:defRPr/>
            </a:pP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非坚持</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监听信道后，信道处于忙状态，之后“不再坚持” 监听操作。</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非坚持 </a:t>
            </a: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CSMA</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运行机制 </a:t>
            </a: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信道监听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如果主机想要发送消息，先监听信道；</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信道空闲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直接传输；</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信道忙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等待随机时长后，继续监听，重复上述过程 。</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非坚持 </a:t>
            </a: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CSMA </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特点 </a:t>
            </a: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优点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等待随机时间后采用监听重发机制，减少发生冲突的可能性；</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缺点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可能存在所有站点都在等待的情况，此时信道处于空闲状态，信道利用率降低 。</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3256" name="Picture 7">
            <a:extLst>
              <a:ext uri="{FF2B5EF4-FFF2-40B4-BE49-F238E27FC236}">
                <a16:creationId xmlns:a16="http://schemas.microsoft.com/office/drawing/2014/main" id="{3C576A0A-EB50-4E23-BA4E-FF420B275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3733" b="35344"/>
          <a:stretch>
            <a:fillRect/>
          </a:stretch>
        </p:blipFill>
        <p:spPr bwMode="auto">
          <a:xfrm>
            <a:off x="3429000" y="1143000"/>
            <a:ext cx="5100638"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62C0AC63-ED02-4C1F-91FB-EF82341A3A32}"/>
              </a:ext>
            </a:extLst>
          </p:cNvPr>
          <p:cNvSpPr txBox="1">
            <a:spLocks noChangeArrowheads="1"/>
          </p:cNvSpPr>
          <p:nvPr/>
        </p:nvSpPr>
        <p:spPr bwMode="auto">
          <a:xfrm>
            <a:off x="4038600" y="74168"/>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i="0" baseline="0" dirty="0">
                <a:solidFill>
                  <a:schemeClr val="bg1"/>
                </a:solidFill>
                <a:latin typeface="微软雅黑" panose="020B0503020204020204" pitchFamily="34" charset="-122"/>
                <a:ea typeface="微软雅黑" panose="020B0503020204020204" pitchFamily="34" charset="-122"/>
              </a:rPr>
              <a:t>三种坚持型方法之非坚持</a:t>
            </a:r>
            <a:endParaRPr lang="en-US" altLang="zh-CN" i="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9" name="文本框 11">
            <a:extLst>
              <a:ext uri="{FF2B5EF4-FFF2-40B4-BE49-F238E27FC236}">
                <a16:creationId xmlns:a16="http://schemas.microsoft.com/office/drawing/2014/main" id="{0291279D-F2BB-4542-886A-A8156F9ABDD2}"/>
              </a:ext>
            </a:extLst>
          </p:cNvPr>
          <p:cNvSpPr txBox="1">
            <a:spLocks noChangeArrowheads="1"/>
          </p:cNvSpPr>
          <p:nvPr/>
        </p:nvSpPr>
        <p:spPr bwMode="auto">
          <a:xfrm>
            <a:off x="1420368" y="3186133"/>
            <a:ext cx="10744200" cy="300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nSpc>
                <a:spcPct val="150000"/>
              </a:lnSpc>
              <a:defRPr/>
            </a:pP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坚持</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监听信道后，信道处于空闲状态的处理方式。</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Clr>
                <a:srgbClr val="FF0000"/>
              </a:buClr>
              <a:buSzPct val="80000"/>
              <a:buFont typeface="Wingdings" panose="05000000000000000000" pitchFamily="2" charset="2"/>
              <a:buChar char="u"/>
              <a:defRPr/>
            </a:pP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坚持 </a:t>
            </a: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CSMA </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运行机制 </a:t>
            </a: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信道监听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如果主机想要发送消息，先监听信道；</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信道空闲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p </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概率传输，</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1 − p </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概率等到下一个时隙再传输；</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信道忙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持续监听，重复上述过程 。</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Clr>
                <a:srgbClr val="FF0000"/>
              </a:buClr>
              <a:buSzPct val="80000"/>
              <a:buFont typeface="Wingdings" panose="05000000000000000000" pitchFamily="2" charset="2"/>
              <a:buChar char="u"/>
              <a:defRPr/>
            </a:pP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坚持 </a:t>
            </a:r>
            <a:r>
              <a:rPr lang="en-US"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CSMA </a:t>
            </a:r>
            <a:r>
              <a:rPr lang="zh-CN" altLang="en-US" sz="1600" i="0" baseline="0" dirty="0">
                <a:latin typeface="微软雅黑" panose="020B0503020204020204" pitchFamily="34" charset="-122"/>
                <a:ea typeface="微软雅黑" panose="020B0503020204020204" pitchFamily="34" charset="-122"/>
                <a:cs typeface="Times New Roman" panose="02020603050405020304" pitchFamily="18" charset="0"/>
              </a:rPr>
              <a:t>特点 </a:t>
            </a: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优点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既能像 “非坚持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CSMA </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那样减少冲突，又能像“</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坚持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CSMA </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”那样减少媒体空闲时间 。</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630238" indent="-274638">
              <a:lnSpc>
                <a:spcPct val="150000"/>
              </a:lnSpc>
              <a:buClr>
                <a:srgbClr val="3366FF"/>
              </a:buClr>
              <a:buSzPct val="80000"/>
              <a:buFont typeface="Wingdings" panose="05000000000000000000" pitchFamily="2" charset="2"/>
              <a:buChar char="l"/>
              <a:defRPr/>
            </a:pP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缺点 </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i="0" baseline="0" dirty="0">
                <a:latin typeface="微软雅黑" panose="020B0503020204020204" pitchFamily="34" charset="-122"/>
                <a:ea typeface="微软雅黑" panose="020B0503020204020204" pitchFamily="34" charset="-122"/>
                <a:cs typeface="Times New Roman" panose="02020603050405020304" pitchFamily="18" charset="0"/>
              </a:rPr>
              <a:t> 如果发生冲突后，会坚持将数据帧发送完毕，造成了浪费 。</a:t>
            </a:r>
            <a:endPar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4280" name="Picture 7">
            <a:extLst>
              <a:ext uri="{FF2B5EF4-FFF2-40B4-BE49-F238E27FC236}">
                <a16:creationId xmlns:a16="http://schemas.microsoft.com/office/drawing/2014/main" id="{1B4EDDDD-3208-4B05-A564-D7F79C530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7467"/>
          <a:stretch>
            <a:fillRect/>
          </a:stretch>
        </p:blipFill>
        <p:spPr bwMode="auto">
          <a:xfrm>
            <a:off x="3545681" y="1036341"/>
            <a:ext cx="5100638" cy="176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6DD56556-D711-4F85-9BED-72129AE55BFB}"/>
              </a:ext>
            </a:extLst>
          </p:cNvPr>
          <p:cNvSpPr txBox="1">
            <a:spLocks noChangeArrowheads="1"/>
          </p:cNvSpPr>
          <p:nvPr/>
        </p:nvSpPr>
        <p:spPr bwMode="auto">
          <a:xfrm>
            <a:off x="4038600" y="74168"/>
            <a:ext cx="41713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i="0" baseline="0" dirty="0">
                <a:solidFill>
                  <a:schemeClr val="bg1"/>
                </a:solidFill>
                <a:latin typeface="微软雅黑" panose="020B0503020204020204" pitchFamily="34" charset="-122"/>
                <a:ea typeface="微软雅黑" panose="020B0503020204020204" pitchFamily="34" charset="-122"/>
              </a:rPr>
              <a:t>三种坚持型方法之</a:t>
            </a:r>
            <a:r>
              <a:rPr lang="en-US" altLang="zh-CN" i="0" baseline="0" dirty="0">
                <a:solidFill>
                  <a:schemeClr val="bg1"/>
                </a:solidFill>
                <a:latin typeface="微软雅黑" panose="020B0503020204020204" pitchFamily="34" charset="-122"/>
                <a:ea typeface="微软雅黑" panose="020B0503020204020204" pitchFamily="34" charset="-122"/>
              </a:rPr>
              <a:t>p-</a:t>
            </a:r>
            <a:r>
              <a:rPr lang="zh-CN" altLang="en-US" i="0" baseline="0" dirty="0">
                <a:solidFill>
                  <a:schemeClr val="bg1"/>
                </a:solidFill>
                <a:latin typeface="微软雅黑" panose="020B0503020204020204" pitchFamily="34" charset="-122"/>
                <a:ea typeface="微软雅黑" panose="020B0503020204020204" pitchFamily="34" charset="-122"/>
              </a:rPr>
              <a:t>坚持</a:t>
            </a:r>
            <a:endParaRPr lang="en-US" altLang="zh-CN" i="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Text Box 4">
            <a:extLst>
              <a:ext uri="{FF2B5EF4-FFF2-40B4-BE49-F238E27FC236}">
                <a16:creationId xmlns:a16="http://schemas.microsoft.com/office/drawing/2014/main" id="{4A73720C-3492-4A5E-BF85-A6CAAC1DFD81}"/>
              </a:ext>
            </a:extLst>
          </p:cNvPr>
          <p:cNvSpPr txBox="1">
            <a:spLocks noChangeArrowheads="1"/>
          </p:cNvSpPr>
          <p:nvPr/>
        </p:nvSpPr>
        <p:spPr bwMode="auto">
          <a:xfrm>
            <a:off x="4447694" y="5943600"/>
            <a:ext cx="3477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12.11  </a:t>
            </a:r>
            <a:r>
              <a:rPr lang="zh-CN" altLang="en-US" sz="1600" i="0" baseline="0" dirty="0">
                <a:ea typeface="宋体" panose="02010600030101010101" pitchFamily="2" charset="-122"/>
              </a:rPr>
              <a:t>三种坚持型方法的流程框图</a:t>
            </a:r>
            <a:endParaRPr lang="en-US" altLang="zh-CN" sz="1600" i="0" baseline="0" dirty="0">
              <a:ea typeface="宋体" panose="02010600030101010101" pitchFamily="2" charset="-122"/>
            </a:endParaRPr>
          </a:p>
        </p:txBody>
      </p:sp>
      <p:pic>
        <p:nvPicPr>
          <p:cNvPr id="55303" name="Picture 7">
            <a:extLst>
              <a:ext uri="{FF2B5EF4-FFF2-40B4-BE49-F238E27FC236}">
                <a16:creationId xmlns:a16="http://schemas.microsoft.com/office/drawing/2014/main" id="{568A9E96-6B54-4B3F-B0CE-7211F8BFCF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1" y="1124217"/>
            <a:ext cx="4741863" cy="4609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1" name="文本框 1">
            <a:extLst>
              <a:ext uri="{FF2B5EF4-FFF2-40B4-BE49-F238E27FC236}">
                <a16:creationId xmlns:a16="http://schemas.microsoft.com/office/drawing/2014/main" id="{91B04243-B53C-4B2A-806A-2ED7126D7498}"/>
              </a:ext>
            </a:extLst>
          </p:cNvPr>
          <p:cNvSpPr txBox="1">
            <a:spLocks noChangeArrowheads="1"/>
          </p:cNvSpPr>
          <p:nvPr/>
        </p:nvSpPr>
        <p:spPr bwMode="auto">
          <a:xfrm>
            <a:off x="1295400" y="1459486"/>
            <a:ext cx="9677400" cy="3939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marL="0" indent="0" algn="just">
              <a:lnSpc>
                <a:spcPct val="200000"/>
              </a:lnSpc>
              <a:buClr>
                <a:srgbClr val="FF0000"/>
              </a:buClr>
              <a:buSzPct val="60000"/>
            </a:pPr>
            <a:r>
              <a:rPr lang="zh-CN" altLang="en-US" sz="2000" b="0" i="0" baseline="0" dirty="0">
                <a:latin typeface="微软雅黑" panose="020B0503020204020204" pitchFamily="34" charset="-122"/>
                <a:ea typeface="微软雅黑" panose="020B0503020204020204" pitchFamily="34" charset="-122"/>
                <a:cs typeface="Times New Roman" panose="02020603050405020304" pitchFamily="18" charset="0"/>
              </a:rPr>
              <a:t>带冲突检测的载波监听多路访问 </a:t>
            </a:r>
            <a:r>
              <a:rPr lang="en-US" altLang="zh-CN" sz="2000" b="0" i="0" baseline="0" dirty="0">
                <a:latin typeface="微软雅黑" panose="020B0503020204020204" pitchFamily="34" charset="-122"/>
                <a:ea typeface="微软雅黑" panose="020B0503020204020204" pitchFamily="34" charset="-122"/>
                <a:cs typeface="Times New Roman" panose="02020603050405020304" pitchFamily="18" charset="0"/>
              </a:rPr>
              <a:t>CSMA/CD </a:t>
            </a:r>
            <a:r>
              <a:rPr lang="zh-CN" altLang="en-US" sz="2000" b="0" i="0" baseline="0" dirty="0">
                <a:latin typeface="微软雅黑" panose="020B0503020204020204" pitchFamily="34" charset="-122"/>
                <a:ea typeface="微软雅黑" panose="020B0503020204020204" pitchFamily="34" charset="-122"/>
                <a:cs typeface="Times New Roman" panose="02020603050405020304" pitchFamily="18" charset="0"/>
              </a:rPr>
              <a:t>是 </a:t>
            </a:r>
            <a:r>
              <a:rPr lang="en-US" altLang="zh-CN" sz="2000" b="0" i="0" baseline="0" dirty="0">
                <a:latin typeface="微软雅黑" panose="020B0503020204020204" pitchFamily="34" charset="-122"/>
                <a:ea typeface="微软雅黑" panose="020B0503020204020204" pitchFamily="34" charset="-122"/>
                <a:cs typeface="Times New Roman" panose="02020603050405020304" pitchFamily="18" charset="0"/>
              </a:rPr>
              <a:t>IEEE 802.3 </a:t>
            </a:r>
            <a:r>
              <a:rPr lang="zh-CN" altLang="en-US" sz="2000" b="0" i="0" baseline="0" dirty="0">
                <a:latin typeface="微软雅黑" panose="020B0503020204020204" pitchFamily="34" charset="-122"/>
                <a:ea typeface="微软雅黑" panose="020B0503020204020204" pitchFamily="34" charset="-122"/>
                <a:cs typeface="Times New Roman" panose="02020603050405020304" pitchFamily="18" charset="0"/>
              </a:rPr>
              <a:t>使用的一种媒体访问控制方法，规定了冲突处理的算法，主要应用于总线型以太网中。每个站点一旦检测到有冲突，就会放弃当前的传送任务，快速地终止被损坏的帧可以节省时间和带宽。</a:t>
            </a:r>
            <a:endParaRPr lang="en-US" altLang="zh-CN" sz="20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200000"/>
              </a:lnSpc>
              <a:buClr>
                <a:srgbClr val="FF0000"/>
              </a:buClr>
              <a:buSzPct val="60000"/>
            </a:pPr>
            <a:endParaRPr lang="en-US" altLang="zh-CN" sz="800" b="0" i="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200000"/>
              </a:lnSpc>
              <a:buClr>
                <a:srgbClr val="FF0000"/>
              </a:buClr>
              <a:buSzPct val="60000"/>
            </a:pPr>
            <a:r>
              <a:rPr lang="en-US" altLang="zh-CN" sz="2000" b="0" i="0" baseline="0" dirty="0">
                <a:latin typeface="微软雅黑" panose="020B0503020204020204" pitchFamily="34" charset="-122"/>
                <a:ea typeface="微软雅黑" panose="020B0503020204020204" pitchFamily="34" charset="-122"/>
                <a:cs typeface="Times New Roman" panose="02020603050405020304" pitchFamily="18" charset="0"/>
              </a:rPr>
              <a:t>CSMA/CD</a:t>
            </a:r>
            <a:r>
              <a:rPr lang="zh-CN" altLang="en-US" sz="2000" b="0" i="0" baseline="0" dirty="0">
                <a:latin typeface="微软雅黑" panose="020B0503020204020204" pitchFamily="34" charset="-122"/>
                <a:ea typeface="微软雅黑" panose="020B0503020204020204" pitchFamily="34" charset="-122"/>
                <a:cs typeface="Times New Roman" panose="02020603050405020304" pitchFamily="18" charset="0"/>
              </a:rPr>
              <a:t>基本原理：所有节点都共享网络传输信道，节点在发送数据之前首先检测信道是否空闲，如果信道空闲则发送，否则就等待；在发送出信息后，再对冲突进行检测，当发现冲突时，强化冲突并取消数据的发送。</a:t>
            </a:r>
            <a:endParaRPr lang="en-US" altLang="zh-CN" sz="20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a:extLst>
              <a:ext uri="{FF2B5EF4-FFF2-40B4-BE49-F238E27FC236}">
                <a16:creationId xmlns:a16="http://schemas.microsoft.com/office/drawing/2014/main" id="{A239B8B7-A659-4D7F-8090-DF45A81CF5C3}"/>
              </a:ext>
            </a:extLst>
          </p:cNvPr>
          <p:cNvSpPr/>
          <p:nvPr/>
        </p:nvSpPr>
        <p:spPr>
          <a:xfrm>
            <a:off x="4038600" y="110623"/>
            <a:ext cx="6120586" cy="461665"/>
          </a:xfrm>
          <a:prstGeom prst="rect">
            <a:avLst/>
          </a:prstGeom>
        </p:spPr>
        <p:txBody>
          <a:bodyPr wrap="none">
            <a:spAutoFit/>
          </a:bodyPr>
          <a:lstStyle/>
          <a:p>
            <a:r>
              <a:rPr lang="zh-CN" altLang="en-US" sz="2400" i="0" baseline="0" dirty="0">
                <a:solidFill>
                  <a:schemeClr val="bg1"/>
                </a:solidFill>
                <a:latin typeface="微软雅黑" panose="020B0503020204020204" pitchFamily="34" charset="-122"/>
                <a:ea typeface="微软雅黑" panose="020B0503020204020204" pitchFamily="34" charset="-122"/>
              </a:rPr>
              <a:t>带冲突检测的载波监听多路访问</a:t>
            </a:r>
            <a:r>
              <a:rPr lang="en-US" altLang="zh-CN" sz="2400" i="0" baseline="0" dirty="0">
                <a:solidFill>
                  <a:schemeClr val="bg1"/>
                </a:solidFill>
                <a:latin typeface="微软雅黑" panose="020B0503020204020204" pitchFamily="34" charset="-122"/>
                <a:ea typeface="微软雅黑" panose="020B0503020204020204" pitchFamily="34" charset="-122"/>
              </a:rPr>
              <a:t>CSMA/CD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4827B10-5C4E-4895-90DA-F50EFB62EBE7}"/>
              </a:ext>
            </a:extLst>
          </p:cNvPr>
          <p:cNvGrpSpPr/>
          <p:nvPr/>
        </p:nvGrpSpPr>
        <p:grpSpPr>
          <a:xfrm>
            <a:off x="1678531" y="1905000"/>
            <a:ext cx="8834935" cy="3736777"/>
            <a:chOff x="414683" y="3708813"/>
            <a:chExt cx="8834935" cy="3736777"/>
          </a:xfrm>
        </p:grpSpPr>
        <p:sp>
          <p:nvSpPr>
            <p:cNvPr id="8" name="Text Box 4">
              <a:extLst>
                <a:ext uri="{FF2B5EF4-FFF2-40B4-BE49-F238E27FC236}">
                  <a16:creationId xmlns:a16="http://schemas.microsoft.com/office/drawing/2014/main" id="{E20B18E2-3B55-43F3-B468-8F663A773BFB}"/>
                </a:ext>
              </a:extLst>
            </p:cNvPr>
            <p:cNvSpPr txBox="1">
              <a:spLocks noChangeArrowheads="1"/>
            </p:cNvSpPr>
            <p:nvPr/>
          </p:nvSpPr>
          <p:spPr bwMode="auto">
            <a:xfrm>
              <a:off x="2946057" y="7137813"/>
              <a:ext cx="37721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400" i="0" baseline="0" dirty="0">
                  <a:solidFill>
                    <a:schemeClr val="folHlink"/>
                  </a:solidFill>
                  <a:ea typeface="宋体" panose="02010600030101010101" pitchFamily="2" charset="-122"/>
                </a:rPr>
                <a:t>图</a:t>
              </a:r>
              <a:r>
                <a:rPr lang="en-US" altLang="zh-CN" sz="1400" i="0" baseline="0" dirty="0">
                  <a:solidFill>
                    <a:schemeClr val="folHlink"/>
                  </a:solidFill>
                  <a:ea typeface="宋体" panose="02010600030101010101" pitchFamily="2" charset="-122"/>
                </a:rPr>
                <a:t> 12.13 </a:t>
              </a:r>
              <a:r>
                <a:rPr lang="en-US" altLang="zh-CN" sz="1400" i="0" baseline="0" dirty="0">
                  <a:ea typeface="宋体" panose="02010600030101010101" pitchFamily="2" charset="-122"/>
                </a:rPr>
                <a:t>CSMA/CD</a:t>
              </a:r>
              <a:r>
                <a:rPr lang="zh-CN" altLang="en-US" sz="1400" i="0" baseline="0" dirty="0">
                  <a:ea typeface="宋体" panose="02010600030101010101" pitchFamily="2" charset="-122"/>
                </a:rPr>
                <a:t>中的冲突和放弃传输</a:t>
              </a:r>
              <a:endParaRPr lang="en-US" altLang="zh-CN" sz="1400" i="0" baseline="0" dirty="0">
                <a:ea typeface="宋体" panose="02010600030101010101" pitchFamily="2" charset="-122"/>
              </a:endParaRPr>
            </a:p>
          </p:txBody>
        </p:sp>
        <p:pic>
          <p:nvPicPr>
            <p:cNvPr id="9" name="Picture 7">
              <a:extLst>
                <a:ext uri="{FF2B5EF4-FFF2-40B4-BE49-F238E27FC236}">
                  <a16:creationId xmlns:a16="http://schemas.microsoft.com/office/drawing/2014/main" id="{58FD998E-FDA2-49FC-B7A2-D43D3F660E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683" y="3708813"/>
              <a:ext cx="883493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3" name="Picture 52">
            <a:extLst>
              <a:ext uri="{FF2B5EF4-FFF2-40B4-BE49-F238E27FC236}">
                <a16:creationId xmlns:a16="http://schemas.microsoft.com/office/drawing/2014/main" id="{8D7605F8-82FE-4D95-9382-61F9E8D74EA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526" y="1247153"/>
            <a:ext cx="4984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66565" name="直接箭头连接符 20">
            <a:extLst>
              <a:ext uri="{FF2B5EF4-FFF2-40B4-BE49-F238E27FC236}">
                <a16:creationId xmlns:a16="http://schemas.microsoft.com/office/drawing/2014/main" id="{535C1B68-4FA2-419B-9562-78AEF6642655}"/>
              </a:ext>
            </a:extLst>
          </p:cNvPr>
          <p:cNvCxnSpPr>
            <a:cxnSpLocks noChangeShapeType="1"/>
          </p:cNvCxnSpPr>
          <p:nvPr/>
        </p:nvCxnSpPr>
        <p:spPr bwMode="auto">
          <a:xfrm>
            <a:off x="3890362" y="1718639"/>
            <a:ext cx="0" cy="2674938"/>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6566" name="直接箭头连接符 21">
            <a:extLst>
              <a:ext uri="{FF2B5EF4-FFF2-40B4-BE49-F238E27FC236}">
                <a16:creationId xmlns:a16="http://schemas.microsoft.com/office/drawing/2014/main" id="{C30131FA-D38C-45C6-96C8-8FF36DB6B463}"/>
              </a:ext>
            </a:extLst>
          </p:cNvPr>
          <p:cNvCxnSpPr>
            <a:cxnSpLocks noChangeShapeType="1"/>
          </p:cNvCxnSpPr>
          <p:nvPr/>
        </p:nvCxnSpPr>
        <p:spPr bwMode="auto">
          <a:xfrm>
            <a:off x="8378224" y="1678953"/>
            <a:ext cx="0" cy="2714625"/>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6567" name="直接箭头连接符 23">
            <a:extLst>
              <a:ext uri="{FF2B5EF4-FFF2-40B4-BE49-F238E27FC236}">
                <a16:creationId xmlns:a16="http://schemas.microsoft.com/office/drawing/2014/main" id="{ED12E8E1-AAEF-4454-B007-AC991D931576}"/>
              </a:ext>
            </a:extLst>
          </p:cNvPr>
          <p:cNvCxnSpPr>
            <a:cxnSpLocks noChangeShapeType="1"/>
          </p:cNvCxnSpPr>
          <p:nvPr/>
        </p:nvCxnSpPr>
        <p:spPr bwMode="auto">
          <a:xfrm>
            <a:off x="3890362" y="1967877"/>
            <a:ext cx="4479548" cy="0"/>
          </a:xfrm>
          <a:prstGeom prst="straightConnector1">
            <a:avLst/>
          </a:prstGeom>
          <a:noFill/>
          <a:ln w="1905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64527" name="TextBox 27">
            <a:extLst>
              <a:ext uri="{FF2B5EF4-FFF2-40B4-BE49-F238E27FC236}">
                <a16:creationId xmlns:a16="http://schemas.microsoft.com/office/drawing/2014/main" id="{ACDE8326-E51E-4447-AE52-5DD64D685C37}"/>
              </a:ext>
            </a:extLst>
          </p:cNvPr>
          <p:cNvSpPr txBox="1">
            <a:spLocks noChangeArrowheads="1"/>
          </p:cNvSpPr>
          <p:nvPr/>
        </p:nvSpPr>
        <p:spPr bwMode="auto">
          <a:xfrm rot="660000">
            <a:off x="3859251" y="2350076"/>
            <a:ext cx="4577562" cy="256480"/>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en-US" sz="1600" dirty="0">
              <a:ea typeface="宋体" panose="02010600030101010101" pitchFamily="2" charset="-122"/>
            </a:endParaRPr>
          </a:p>
        </p:txBody>
      </p:sp>
      <p:sp>
        <p:nvSpPr>
          <p:cNvPr id="66571" name="TextBox 9">
            <a:extLst>
              <a:ext uri="{FF2B5EF4-FFF2-40B4-BE49-F238E27FC236}">
                <a16:creationId xmlns:a16="http://schemas.microsoft.com/office/drawing/2014/main" id="{29BFF53F-3840-486C-A905-354E34AB5111}"/>
              </a:ext>
            </a:extLst>
          </p:cNvPr>
          <p:cNvSpPr txBox="1">
            <a:spLocks noChangeArrowheads="1"/>
          </p:cNvSpPr>
          <p:nvPr/>
        </p:nvSpPr>
        <p:spPr bwMode="auto">
          <a:xfrm>
            <a:off x="8268687" y="914400"/>
            <a:ext cx="5699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dirty="0">
                <a:latin typeface="微软雅黑" panose="020B0503020204020204" pitchFamily="34" charset="-122"/>
                <a:ea typeface="微软雅黑" panose="020B0503020204020204" pitchFamily="34" charset="-122"/>
              </a:rPr>
              <a:t>B</a:t>
            </a:r>
          </a:p>
        </p:txBody>
      </p:sp>
      <p:sp>
        <p:nvSpPr>
          <p:cNvPr id="66572" name="TextBox 23">
            <a:extLst>
              <a:ext uri="{FF2B5EF4-FFF2-40B4-BE49-F238E27FC236}">
                <a16:creationId xmlns:a16="http://schemas.microsoft.com/office/drawing/2014/main" id="{55DA6492-DD57-45C0-8D39-63F28C37870D}"/>
              </a:ext>
            </a:extLst>
          </p:cNvPr>
          <p:cNvSpPr txBox="1">
            <a:spLocks noChangeArrowheads="1"/>
          </p:cNvSpPr>
          <p:nvPr/>
        </p:nvSpPr>
        <p:spPr bwMode="auto">
          <a:xfrm>
            <a:off x="3773488" y="921045"/>
            <a:ext cx="5699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defRPr sz="2400" i="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zh-CN" dirty="0"/>
              <a:t>A</a:t>
            </a:r>
          </a:p>
        </p:txBody>
      </p:sp>
      <p:grpSp>
        <p:nvGrpSpPr>
          <p:cNvPr id="7" name="组合 6">
            <a:extLst>
              <a:ext uri="{FF2B5EF4-FFF2-40B4-BE49-F238E27FC236}">
                <a16:creationId xmlns:a16="http://schemas.microsoft.com/office/drawing/2014/main" id="{EADC21D2-570A-46C6-931B-E9027ACC55DC}"/>
              </a:ext>
            </a:extLst>
          </p:cNvPr>
          <p:cNvGrpSpPr>
            <a:grpSpLocks/>
          </p:cNvGrpSpPr>
          <p:nvPr/>
        </p:nvGrpSpPr>
        <p:grpSpPr bwMode="auto">
          <a:xfrm>
            <a:off x="8394110" y="1953452"/>
            <a:ext cx="1435691" cy="989182"/>
            <a:chOff x="6660620" y="2194574"/>
            <a:chExt cx="1435619" cy="988588"/>
          </a:xfrm>
        </p:grpSpPr>
        <p:cxnSp>
          <p:nvCxnSpPr>
            <p:cNvPr id="66586" name="直接连接符 30">
              <a:extLst>
                <a:ext uri="{FF2B5EF4-FFF2-40B4-BE49-F238E27FC236}">
                  <a16:creationId xmlns:a16="http://schemas.microsoft.com/office/drawing/2014/main" id="{979D4230-B684-419F-A567-F6F4D3C2BB09}"/>
                </a:ext>
              </a:extLst>
            </p:cNvPr>
            <p:cNvCxnSpPr>
              <a:cxnSpLocks noChangeShapeType="1"/>
            </p:cNvCxnSpPr>
            <p:nvPr/>
          </p:nvCxnSpPr>
          <p:spPr bwMode="auto">
            <a:xfrm>
              <a:off x="6660620" y="3167461"/>
              <a:ext cx="29657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6585" name="直接连接符 12">
              <a:extLst>
                <a:ext uri="{FF2B5EF4-FFF2-40B4-BE49-F238E27FC236}">
                  <a16:creationId xmlns:a16="http://schemas.microsoft.com/office/drawing/2014/main" id="{F750E43F-2751-4943-817F-E55809457FD8}"/>
                </a:ext>
              </a:extLst>
            </p:cNvPr>
            <p:cNvCxnSpPr>
              <a:cxnSpLocks noChangeShapeType="1"/>
            </p:cNvCxnSpPr>
            <p:nvPr/>
          </p:nvCxnSpPr>
          <p:spPr bwMode="auto">
            <a:xfrm>
              <a:off x="6660620" y="2205720"/>
              <a:ext cx="29657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6587" name="直接箭头连接符 15">
              <a:extLst>
                <a:ext uri="{FF2B5EF4-FFF2-40B4-BE49-F238E27FC236}">
                  <a16:creationId xmlns:a16="http://schemas.microsoft.com/office/drawing/2014/main" id="{6FE19A4C-4C37-4ED6-B2FF-68CEFE2B7402}"/>
                </a:ext>
              </a:extLst>
            </p:cNvPr>
            <p:cNvCxnSpPr>
              <a:cxnSpLocks noChangeShapeType="1"/>
            </p:cNvCxnSpPr>
            <p:nvPr/>
          </p:nvCxnSpPr>
          <p:spPr bwMode="auto">
            <a:xfrm>
              <a:off x="6845869" y="2194574"/>
              <a:ext cx="7555" cy="988588"/>
            </a:xfrm>
            <a:prstGeom prst="straightConnector1">
              <a:avLst/>
            </a:prstGeom>
            <a:noFill/>
            <a:ln w="1905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66588" name="TextBox 21">
              <a:extLst>
                <a:ext uri="{FF2B5EF4-FFF2-40B4-BE49-F238E27FC236}">
                  <a16:creationId xmlns:a16="http://schemas.microsoft.com/office/drawing/2014/main" id="{F05F79A8-ECF9-4A32-91EB-6D5C4BE0930D}"/>
                </a:ext>
              </a:extLst>
            </p:cNvPr>
            <p:cNvSpPr txBox="1">
              <a:spLocks noChangeArrowheads="1"/>
            </p:cNvSpPr>
            <p:nvPr/>
          </p:nvSpPr>
          <p:spPr bwMode="auto">
            <a:xfrm>
              <a:off x="6820742" y="2565324"/>
              <a:ext cx="1275497" cy="307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400" b="0" i="0" baseline="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单向传播延迟</a:t>
              </a:r>
            </a:p>
          </p:txBody>
        </p:sp>
      </p:grpSp>
      <p:sp>
        <p:nvSpPr>
          <p:cNvPr id="66578" name="TextBox 22">
            <a:extLst>
              <a:ext uri="{FF2B5EF4-FFF2-40B4-BE49-F238E27FC236}">
                <a16:creationId xmlns:a16="http://schemas.microsoft.com/office/drawing/2014/main" id="{51E84DC1-5EE3-414B-9BB9-A1B3C3FEFF5A}"/>
              </a:ext>
            </a:extLst>
          </p:cNvPr>
          <p:cNvSpPr txBox="1">
            <a:spLocks noChangeArrowheads="1"/>
          </p:cNvSpPr>
          <p:nvPr/>
        </p:nvSpPr>
        <p:spPr bwMode="auto">
          <a:xfrm>
            <a:off x="5866605" y="1608205"/>
            <a:ext cx="8968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400" b="0" i="0" baseline="0">
                <a:latin typeface="微软雅黑" panose="020B0503020204020204" pitchFamily="34" charset="-122"/>
                <a:ea typeface="微软雅黑" panose="020B0503020204020204" pitchFamily="34" charset="-122"/>
              </a:rPr>
              <a:t>距离</a:t>
            </a:r>
          </a:p>
        </p:txBody>
      </p:sp>
      <p:sp>
        <p:nvSpPr>
          <p:cNvPr id="21508" name="TextBox 28">
            <a:extLst>
              <a:ext uri="{FF2B5EF4-FFF2-40B4-BE49-F238E27FC236}">
                <a16:creationId xmlns:a16="http://schemas.microsoft.com/office/drawing/2014/main" id="{ACB666E3-CB46-4171-A050-33A34A31B1E5}"/>
              </a:ext>
            </a:extLst>
          </p:cNvPr>
          <p:cNvSpPr txBox="1">
            <a:spLocks noChangeArrowheads="1"/>
          </p:cNvSpPr>
          <p:nvPr/>
        </p:nvSpPr>
        <p:spPr bwMode="auto">
          <a:xfrm>
            <a:off x="1362935" y="4686454"/>
            <a:ext cx="9686057" cy="874407"/>
          </a:xfrm>
          <a:prstGeom prst="rect">
            <a:avLst/>
          </a:prstGeom>
          <a:noFill/>
          <a:ln>
            <a:noFill/>
          </a:ln>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150000"/>
              </a:lnSpc>
              <a:spcBef>
                <a:spcPct val="20000"/>
              </a:spcBef>
              <a:buClr>
                <a:schemeClr val="tx2">
                  <a:lumMod val="75000"/>
                </a:schemeClr>
              </a:buClr>
              <a:buSzPct val="80000"/>
              <a:defRPr/>
            </a:pPr>
            <a:r>
              <a:rPr kumimoji="1" lang="zh-CN" altLang="en-US" sz="1800" i="0" baseline="0" dirty="0">
                <a:latin typeface="微软雅黑" panose="020B0503020204020204" pitchFamily="34" charset="-122"/>
                <a:ea typeface="微软雅黑" panose="020B0503020204020204" pitchFamily="34" charset="-122"/>
              </a:rPr>
              <a:t>冲突检测时间是最大往返传播时间的两倍</a:t>
            </a:r>
            <a:r>
              <a:rPr kumimoji="1" lang="zh-CN" altLang="en-US" sz="1800" b="0" i="0" baseline="0" dirty="0">
                <a:latin typeface="微软雅黑" panose="020B0503020204020204" pitchFamily="34" charset="-122"/>
                <a:ea typeface="微软雅黑" panose="020B0503020204020204" pitchFamily="34" charset="-122"/>
              </a:rPr>
              <a:t>。数据帧必须足够长，使得在传输结束前能够检测到冲突，否则性能就像 </a:t>
            </a:r>
            <a:r>
              <a:rPr kumimoji="1"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CSMA</a:t>
            </a:r>
            <a:r>
              <a:rPr kumimoji="1" lang="zh-CN" altLang="en-US" sz="1800" b="0" i="0" baseline="0" dirty="0">
                <a:latin typeface="微软雅黑" panose="020B0503020204020204" pitchFamily="34" charset="-122"/>
                <a:ea typeface="微软雅黑" panose="020B0503020204020204" pitchFamily="34" charset="-122"/>
              </a:rPr>
              <a:t>一样低。</a:t>
            </a:r>
            <a:endParaRPr kumimoji="1" lang="en-US" altLang="zh-CN" sz="1800" b="0" i="0" baseline="0" dirty="0">
              <a:latin typeface="微软雅黑" panose="020B0503020204020204" pitchFamily="34" charset="-122"/>
              <a:ea typeface="微软雅黑" panose="020B0503020204020204" pitchFamily="34" charset="-122"/>
            </a:endParaRPr>
          </a:p>
        </p:txBody>
      </p:sp>
      <p:sp>
        <p:nvSpPr>
          <p:cNvPr id="64532" name="TextBox 31">
            <a:extLst>
              <a:ext uri="{FF2B5EF4-FFF2-40B4-BE49-F238E27FC236}">
                <a16:creationId xmlns:a16="http://schemas.microsoft.com/office/drawing/2014/main" id="{6541A608-A28D-4548-8907-BD8F204953DB}"/>
              </a:ext>
            </a:extLst>
          </p:cNvPr>
          <p:cNvSpPr txBox="1">
            <a:spLocks noChangeArrowheads="1"/>
          </p:cNvSpPr>
          <p:nvPr/>
        </p:nvSpPr>
        <p:spPr bwMode="auto">
          <a:xfrm rot="20940000">
            <a:off x="8274650" y="2713481"/>
            <a:ext cx="165096" cy="379591"/>
          </a:xfrm>
          <a:prstGeom prst="rect">
            <a:avLst/>
          </a:prstGeom>
          <a:solidFill>
            <a:srgbClr val="E28700"/>
          </a:solidFill>
          <a:ln>
            <a:solidFill>
              <a:srgbClr val="996633"/>
            </a:solidFill>
          </a:ln>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4534" name="爆炸形 1 8">
            <a:extLst>
              <a:ext uri="{FF2B5EF4-FFF2-40B4-BE49-F238E27FC236}">
                <a16:creationId xmlns:a16="http://schemas.microsoft.com/office/drawing/2014/main" id="{37868B06-9D08-4716-AAAB-FBEB0A82DF5D}"/>
              </a:ext>
            </a:extLst>
          </p:cNvPr>
          <p:cNvSpPr>
            <a:spLocks noChangeArrowheads="1"/>
          </p:cNvSpPr>
          <p:nvPr/>
        </p:nvSpPr>
        <p:spPr bwMode="auto">
          <a:xfrm>
            <a:off x="8243438" y="2761060"/>
            <a:ext cx="227521" cy="284431"/>
          </a:xfrm>
          <a:prstGeom prst="irregularSeal1">
            <a:avLst/>
          </a:prstGeom>
          <a:solidFill>
            <a:srgbClr val="FF0000"/>
          </a:solidFill>
          <a:ln w="9525" algn="ctr">
            <a:solidFill>
              <a:schemeClr val="tx1"/>
            </a:solidFill>
            <a:round/>
            <a:headEnd/>
            <a:tailEnd/>
          </a:ln>
        </p:spPr>
        <p:txBody>
          <a:bodyPr lIns="90000" tIns="46800" rIns="90000" bIns="46800"/>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40" name="组合 39">
            <a:extLst>
              <a:ext uri="{FF2B5EF4-FFF2-40B4-BE49-F238E27FC236}">
                <a16:creationId xmlns:a16="http://schemas.microsoft.com/office/drawing/2014/main" id="{B59EF453-32A4-4B08-9410-389413B3E5BA}"/>
              </a:ext>
            </a:extLst>
          </p:cNvPr>
          <p:cNvGrpSpPr>
            <a:grpSpLocks/>
          </p:cNvGrpSpPr>
          <p:nvPr/>
        </p:nvGrpSpPr>
        <p:grpSpPr bwMode="auto">
          <a:xfrm>
            <a:off x="2382927" y="1964606"/>
            <a:ext cx="1473126" cy="1835869"/>
            <a:chOff x="5484141" y="2194574"/>
            <a:chExt cx="1473055" cy="1834764"/>
          </a:xfrm>
        </p:grpSpPr>
        <p:cxnSp>
          <p:nvCxnSpPr>
            <p:cNvPr id="41" name="直接连接符 30">
              <a:extLst>
                <a:ext uri="{FF2B5EF4-FFF2-40B4-BE49-F238E27FC236}">
                  <a16:creationId xmlns:a16="http://schemas.microsoft.com/office/drawing/2014/main" id="{8CC6B447-6E64-4E13-B705-E8915612D29B}"/>
                </a:ext>
              </a:extLst>
            </p:cNvPr>
            <p:cNvCxnSpPr>
              <a:cxnSpLocks noChangeShapeType="1"/>
            </p:cNvCxnSpPr>
            <p:nvPr/>
          </p:nvCxnSpPr>
          <p:spPr bwMode="auto">
            <a:xfrm>
              <a:off x="6660620" y="4012851"/>
              <a:ext cx="29657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2" name="直接连接符 12">
              <a:extLst>
                <a:ext uri="{FF2B5EF4-FFF2-40B4-BE49-F238E27FC236}">
                  <a16:creationId xmlns:a16="http://schemas.microsoft.com/office/drawing/2014/main" id="{CF5E6271-D9EE-4407-BB2D-86E6CCBBF076}"/>
                </a:ext>
              </a:extLst>
            </p:cNvPr>
            <p:cNvCxnSpPr>
              <a:cxnSpLocks noChangeShapeType="1"/>
            </p:cNvCxnSpPr>
            <p:nvPr/>
          </p:nvCxnSpPr>
          <p:spPr bwMode="auto">
            <a:xfrm>
              <a:off x="6660620" y="2205720"/>
              <a:ext cx="29657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3" name="直接箭头连接符 15">
              <a:extLst>
                <a:ext uri="{FF2B5EF4-FFF2-40B4-BE49-F238E27FC236}">
                  <a16:creationId xmlns:a16="http://schemas.microsoft.com/office/drawing/2014/main" id="{8B257455-4A59-4572-8195-4DF5764C8A16}"/>
                </a:ext>
              </a:extLst>
            </p:cNvPr>
            <p:cNvCxnSpPr>
              <a:cxnSpLocks noChangeShapeType="1"/>
            </p:cNvCxnSpPr>
            <p:nvPr/>
          </p:nvCxnSpPr>
          <p:spPr bwMode="auto">
            <a:xfrm flipH="1">
              <a:off x="6794875" y="2194574"/>
              <a:ext cx="3185" cy="1834764"/>
            </a:xfrm>
            <a:prstGeom prst="straightConnector1">
              <a:avLst/>
            </a:prstGeom>
            <a:noFill/>
            <a:ln w="1905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44" name="TextBox 21">
              <a:extLst>
                <a:ext uri="{FF2B5EF4-FFF2-40B4-BE49-F238E27FC236}">
                  <a16:creationId xmlns:a16="http://schemas.microsoft.com/office/drawing/2014/main" id="{B56B64ED-14E1-4FDF-95E7-183E0B0F76CB}"/>
                </a:ext>
              </a:extLst>
            </p:cNvPr>
            <p:cNvSpPr txBox="1">
              <a:spLocks noChangeArrowheads="1"/>
            </p:cNvSpPr>
            <p:nvPr/>
          </p:nvSpPr>
          <p:spPr bwMode="auto">
            <a:xfrm>
              <a:off x="5484141" y="2986405"/>
              <a:ext cx="1275497" cy="307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400" b="0" i="0" baseline="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往返传播延迟</a:t>
              </a:r>
            </a:p>
          </p:txBody>
        </p:sp>
      </p:grpSp>
      <p:pic>
        <p:nvPicPr>
          <p:cNvPr id="66564" name="Picture 56">
            <a:extLst>
              <a:ext uri="{FF2B5EF4-FFF2-40B4-BE49-F238E27FC236}">
                <a16:creationId xmlns:a16="http://schemas.microsoft.com/office/drawing/2014/main" id="{8A7C6CBC-53F3-4F26-B7F3-40FF361B349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6613" y="1247153"/>
            <a:ext cx="4984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6" name="爆炸形 1 8">
            <a:extLst>
              <a:ext uri="{FF2B5EF4-FFF2-40B4-BE49-F238E27FC236}">
                <a16:creationId xmlns:a16="http://schemas.microsoft.com/office/drawing/2014/main" id="{80E0634C-74EA-4C03-8177-038D27AFA369}"/>
              </a:ext>
            </a:extLst>
          </p:cNvPr>
          <p:cNvSpPr>
            <a:spLocks noChangeArrowheads="1"/>
          </p:cNvSpPr>
          <p:nvPr/>
        </p:nvSpPr>
        <p:spPr bwMode="auto">
          <a:xfrm>
            <a:off x="3768525" y="3657601"/>
            <a:ext cx="226240" cy="280209"/>
          </a:xfrm>
          <a:prstGeom prst="irregularSeal1">
            <a:avLst/>
          </a:prstGeom>
          <a:solidFill>
            <a:srgbClr val="FF0000"/>
          </a:solidFill>
          <a:ln w="9525" algn="ctr">
            <a:solidFill>
              <a:schemeClr val="tx1"/>
            </a:solidFill>
            <a:round/>
            <a:headEnd/>
            <a:tailEnd/>
          </a:ln>
        </p:spPr>
        <p:txBody>
          <a:bodyPr lIns="90000" tIns="46800" rIns="90000" bIns="46800"/>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2" name="矩形 21">
            <a:extLst>
              <a:ext uri="{FF2B5EF4-FFF2-40B4-BE49-F238E27FC236}">
                <a16:creationId xmlns:a16="http://schemas.microsoft.com/office/drawing/2014/main" id="{CC27ED2A-71CD-4741-AFDB-6028D129E4C8}"/>
              </a:ext>
            </a:extLst>
          </p:cNvPr>
          <p:cNvSpPr/>
          <p:nvPr/>
        </p:nvSpPr>
        <p:spPr>
          <a:xfrm>
            <a:off x="3735542" y="5573291"/>
            <a:ext cx="5027459" cy="461665"/>
          </a:xfrm>
          <a:prstGeom prst="rect">
            <a:avLst/>
          </a:prstGeom>
        </p:spPr>
        <p:txBody>
          <a:bodyPr wrap="square">
            <a:spAutoFit/>
          </a:bodyPr>
          <a:lstStyle/>
          <a:p>
            <a:r>
              <a:rPr kumimoji="1" lang="zh-CN" altLang="en-US" sz="2400" i="0" baseline="0" dirty="0">
                <a:solidFill>
                  <a:srgbClr val="FF0000"/>
                </a:solidFill>
                <a:latin typeface="微软雅黑" panose="020B0503020204020204" pitchFamily="34" charset="-122"/>
                <a:ea typeface="微软雅黑" panose="020B0503020204020204" pitchFamily="34" charset="-122"/>
              </a:rPr>
              <a:t>帧长 </a:t>
            </a:r>
            <a:r>
              <a:rPr kumimoji="1" lang="en-US" altLang="zh-CN" sz="2400" i="0" baseline="0" dirty="0">
                <a:solidFill>
                  <a:srgbClr val="FF0000"/>
                </a:solidFill>
                <a:latin typeface="微软雅黑" panose="020B0503020204020204" pitchFamily="34" charset="-122"/>
                <a:ea typeface="微软雅黑" panose="020B0503020204020204" pitchFamily="34" charset="-122"/>
              </a:rPr>
              <a:t>= 2 × </a:t>
            </a:r>
            <a:r>
              <a:rPr kumimoji="1" lang="zh-CN" altLang="en-US" sz="2400" i="0" baseline="0" dirty="0">
                <a:solidFill>
                  <a:srgbClr val="FF0000"/>
                </a:solidFill>
                <a:latin typeface="微软雅黑" panose="020B0503020204020204" pitchFamily="34" charset="-122"/>
                <a:ea typeface="微软雅黑" panose="020B0503020204020204" pitchFamily="34" charset="-122"/>
              </a:rPr>
              <a:t>传播时间 </a:t>
            </a:r>
            <a:r>
              <a:rPr kumimoji="1" lang="en-US" altLang="zh-CN" sz="2400" i="0" baseline="0" dirty="0">
                <a:solidFill>
                  <a:srgbClr val="FF0000"/>
                </a:solidFill>
                <a:latin typeface="微软雅黑" panose="020B0503020204020204" pitchFamily="34" charset="-122"/>
                <a:ea typeface="微软雅黑" panose="020B0503020204020204" pitchFamily="34" charset="-122"/>
              </a:rPr>
              <a:t>× </a:t>
            </a:r>
            <a:r>
              <a:rPr kumimoji="1" lang="zh-CN" altLang="en-US" sz="2400" i="0" baseline="0" dirty="0">
                <a:solidFill>
                  <a:srgbClr val="FF0000"/>
                </a:solidFill>
                <a:latin typeface="微软雅黑" panose="020B0503020204020204" pitchFamily="34" charset="-122"/>
                <a:ea typeface="微软雅黑" panose="020B0503020204020204" pitchFamily="34" charset="-122"/>
              </a:rPr>
              <a:t>数据速率</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27"/>
                                        </p:tgtEl>
                                        <p:attrNameLst>
                                          <p:attrName>style.visibility</p:attrName>
                                        </p:attrNameLst>
                                      </p:cBhvr>
                                      <p:to>
                                        <p:strVal val="visible"/>
                                      </p:to>
                                    </p:set>
                                    <p:animEffect transition="in" filter="wipe(left)">
                                      <p:cBhvr>
                                        <p:cTn id="7" dur="500"/>
                                        <p:tgtEl>
                                          <p:spTgt spid="6452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64532"/>
                                        </p:tgtEl>
                                        <p:attrNameLst>
                                          <p:attrName>style.visibility</p:attrName>
                                        </p:attrNameLst>
                                      </p:cBhvr>
                                      <p:to>
                                        <p:strVal val="visible"/>
                                      </p:to>
                                    </p:set>
                                    <p:anim calcmode="lin" valueType="num">
                                      <p:cBhvr>
                                        <p:cTn id="16" dur="500" fill="hold"/>
                                        <p:tgtEl>
                                          <p:spTgt spid="64532"/>
                                        </p:tgtEl>
                                        <p:attrNameLst>
                                          <p:attrName>ppt_w</p:attrName>
                                        </p:attrNameLst>
                                      </p:cBhvr>
                                      <p:tavLst>
                                        <p:tav tm="0">
                                          <p:val>
                                            <p:fltVal val="0"/>
                                          </p:val>
                                        </p:tav>
                                        <p:tav tm="100000">
                                          <p:val>
                                            <p:strVal val="#ppt_w"/>
                                          </p:val>
                                        </p:tav>
                                      </p:tavLst>
                                    </p:anim>
                                    <p:anim calcmode="lin" valueType="num">
                                      <p:cBhvr>
                                        <p:cTn id="17" dur="500" fill="hold"/>
                                        <p:tgtEl>
                                          <p:spTgt spid="64532"/>
                                        </p:tgtEl>
                                        <p:attrNameLst>
                                          <p:attrName>ppt_h</p:attrName>
                                        </p:attrNameLst>
                                      </p:cBhvr>
                                      <p:tavLst>
                                        <p:tav tm="0">
                                          <p:val>
                                            <p:fltVal val="0"/>
                                          </p:val>
                                        </p:tav>
                                        <p:tav tm="100000">
                                          <p:val>
                                            <p:strVal val="#ppt_h"/>
                                          </p:val>
                                        </p:tav>
                                      </p:tavLst>
                                    </p:anim>
                                    <p:animEffect transition="in" filter="fade">
                                      <p:cBhvr>
                                        <p:cTn id="18" dur="500"/>
                                        <p:tgtEl>
                                          <p:spTgt spid="64532"/>
                                        </p:tgtEl>
                                      </p:cBhvr>
                                    </p:animEffect>
                                  </p:childTnLst>
                                </p:cTn>
                              </p:par>
                            </p:childTnLst>
                          </p:cTn>
                        </p:par>
                        <p:par>
                          <p:cTn id="19" fill="hold">
                            <p:stCondLst>
                              <p:cond delay="500"/>
                            </p:stCondLst>
                            <p:childTnLst>
                              <p:par>
                                <p:cTn id="20" presetID="1" presetClass="entr" presetSubtype="0" fill="hold" grpId="0" nodeType="afterEffect">
                                  <p:stCondLst>
                                    <p:cond delay="1000"/>
                                  </p:stCondLst>
                                  <p:childTnLst>
                                    <p:set>
                                      <p:cBhvr>
                                        <p:cTn id="21" dur="1" fill="hold">
                                          <p:stCondLst>
                                            <p:cond delay="0"/>
                                          </p:stCondLst>
                                        </p:cTn>
                                        <p:tgtEl>
                                          <p:spTgt spid="64534"/>
                                        </p:tgtEl>
                                        <p:attrNameLst>
                                          <p:attrName>style.visibility</p:attrName>
                                        </p:attrNameLst>
                                      </p:cBhvr>
                                      <p:to>
                                        <p:strVal val="visible"/>
                                      </p:to>
                                    </p:set>
                                  </p:childTnLst>
                                </p:cTn>
                              </p:par>
                            </p:childTnLst>
                          </p:cTn>
                        </p:par>
                        <p:par>
                          <p:cTn id="22" fill="hold">
                            <p:stCondLst>
                              <p:cond delay="1500"/>
                            </p:stCondLst>
                            <p:childTnLst>
                              <p:par>
                                <p:cTn id="23" presetID="35" presetClass="emph" presetSubtype="0" fill="hold" grpId="1" nodeType="afterEffect">
                                  <p:stCondLst>
                                    <p:cond delay="500"/>
                                  </p:stCondLst>
                                  <p:childTnLst>
                                    <p:anim calcmode="discrete" valueType="str">
                                      <p:cBhvr>
                                        <p:cTn id="24" dur="1000" fill="hold"/>
                                        <p:tgtEl>
                                          <p:spTgt spid="64534"/>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35" presetClass="path" presetSubtype="0" accel="50000" decel="50000" fill="hold" grpId="1" nodeType="clickEffect">
                                  <p:stCondLst>
                                    <p:cond delay="0"/>
                                  </p:stCondLst>
                                  <p:childTnLst>
                                    <p:animMotion origin="layout" path="M 3.33333E-6 1.85185E-6 L -0.36628 0.13287 " pathEditMode="relative" rAng="0" ptsTypes="AA">
                                      <p:cBhvr>
                                        <p:cTn id="28" dur="2000" fill="hold"/>
                                        <p:tgtEl>
                                          <p:spTgt spid="64532"/>
                                        </p:tgtEl>
                                        <p:attrNameLst>
                                          <p:attrName>ppt_x</p:attrName>
                                          <p:attrName>ppt_y</p:attrName>
                                        </p:attrNameLst>
                                      </p:cBhvr>
                                      <p:rCtr x="-18320" y="6644"/>
                                    </p:animMotion>
                                  </p:childTnLst>
                                </p:cTn>
                              </p:par>
                            </p:childTnLst>
                          </p:cTn>
                        </p:par>
                        <p:par>
                          <p:cTn id="29" fill="hold">
                            <p:stCondLst>
                              <p:cond delay="2000"/>
                            </p:stCondLst>
                            <p:childTnLst>
                              <p:par>
                                <p:cTn id="30" presetID="1" presetClass="entr" presetSubtype="0" fill="hold" grpId="0" nodeType="afterEffect">
                                  <p:stCondLst>
                                    <p:cond delay="0"/>
                                  </p:stCondLst>
                                  <p:childTnLst>
                                    <p:set>
                                      <p:cBhvr>
                                        <p:cTn id="31" dur="1" fill="hold">
                                          <p:stCondLst>
                                            <p:cond delay="0"/>
                                          </p:stCondLst>
                                        </p:cTn>
                                        <p:tgtEl>
                                          <p:spTgt spid="36"/>
                                        </p:tgtEl>
                                        <p:attrNameLst>
                                          <p:attrName>style.visibility</p:attrName>
                                        </p:attrNameLst>
                                      </p:cBhvr>
                                      <p:to>
                                        <p:strVal val="visible"/>
                                      </p:to>
                                    </p:set>
                                  </p:childTnLst>
                                </p:cTn>
                              </p:par>
                            </p:childTnLst>
                          </p:cTn>
                        </p:par>
                        <p:par>
                          <p:cTn id="32" fill="hold">
                            <p:stCondLst>
                              <p:cond delay="2000"/>
                            </p:stCondLst>
                            <p:childTnLst>
                              <p:par>
                                <p:cTn id="33" presetID="35" presetClass="emph" presetSubtype="0" fill="hold" grpId="1" nodeType="afterEffect">
                                  <p:stCondLst>
                                    <p:cond delay="500"/>
                                  </p:stCondLst>
                                  <p:childTnLst>
                                    <p:anim calcmode="discrete" valueType="str">
                                      <p:cBhvr>
                                        <p:cTn id="34" dur="1000" fill="hold"/>
                                        <p:tgtEl>
                                          <p:spTgt spid="36"/>
                                        </p:tgtEl>
                                        <p:attrNameLst>
                                          <p:attrName>style.visibility</p:attrName>
                                        </p:attrNameLst>
                                      </p:cBhvr>
                                      <p:tavLst>
                                        <p:tav tm="0">
                                          <p:val>
                                            <p:strVal val="hidden"/>
                                          </p:val>
                                        </p:tav>
                                        <p:tav tm="50000">
                                          <p:val>
                                            <p:strVal val="visible"/>
                                          </p:val>
                                        </p:tav>
                                      </p:tavLst>
                                    </p:anim>
                                  </p:childTnLst>
                                </p:cTn>
                              </p:par>
                            </p:childTnLst>
                          </p:cTn>
                        </p:par>
                        <p:par>
                          <p:cTn id="35" fill="hold">
                            <p:stCondLst>
                              <p:cond delay="3500"/>
                            </p:stCondLst>
                            <p:childTnLst>
                              <p:par>
                                <p:cTn id="36" presetID="22" presetClass="entr" presetSubtype="1" fill="hold"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up)">
                                      <p:cBhvr>
                                        <p:cTn id="38" dur="500"/>
                                        <p:tgtEl>
                                          <p:spTgt spid="4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1508"/>
                                        </p:tgtEl>
                                        <p:attrNameLst>
                                          <p:attrName>style.visibility</p:attrName>
                                        </p:attrNameLst>
                                      </p:cBhvr>
                                      <p:to>
                                        <p:strVal val="visible"/>
                                      </p:to>
                                    </p:set>
                                    <p:animEffect transition="in" filter="wipe(left)">
                                      <p:cBhvr>
                                        <p:cTn id="43" dur="500"/>
                                        <p:tgtEl>
                                          <p:spTgt spid="21508"/>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37"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barn(outVertical)">
                                      <p:cBhvr>
                                        <p:cTn id="4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7" grpId="0" animBg="1"/>
      <p:bldP spid="21508" grpId="0"/>
      <p:bldP spid="64532" grpId="0" animBg="1"/>
      <p:bldP spid="64532" grpId="1" animBg="1"/>
      <p:bldP spid="64534" grpId="0" animBg="1"/>
      <p:bldP spid="64534" grpId="1" animBg="1"/>
      <p:bldP spid="36" grpId="0" animBg="1"/>
      <p:bldP spid="36" grpId="1"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8" name="Rectangle 9">
            <a:extLst>
              <a:ext uri="{FF2B5EF4-FFF2-40B4-BE49-F238E27FC236}">
                <a16:creationId xmlns:a16="http://schemas.microsoft.com/office/drawing/2014/main" id="{9947B5A6-2145-4958-A631-6A883006A0C3}"/>
              </a:ext>
            </a:extLst>
          </p:cNvPr>
          <p:cNvSpPr>
            <a:spLocks noChangeArrowheads="1"/>
          </p:cNvSpPr>
          <p:nvPr/>
        </p:nvSpPr>
        <p:spPr bwMode="auto">
          <a:xfrm>
            <a:off x="1371600" y="1266017"/>
            <a:ext cx="9753600" cy="5627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200000"/>
              </a:lnSpc>
            </a:pPr>
            <a:r>
              <a:rPr lang="zh-CN" altLang="en-US" sz="1800" i="0" baseline="0" dirty="0">
                <a:solidFill>
                  <a:srgbClr val="FF0000"/>
                </a:solidFill>
                <a:latin typeface="微软雅黑" panose="020B0503020204020204" pitchFamily="34" charset="-122"/>
                <a:ea typeface="微软雅黑" panose="020B0503020204020204" pitchFamily="34" charset="-122"/>
              </a:rPr>
              <a:t>例</a:t>
            </a:r>
            <a:r>
              <a:rPr lang="en-US" altLang="zh-CN" sz="1800" i="0" baseline="0" dirty="0">
                <a:solidFill>
                  <a:srgbClr val="FF0000"/>
                </a:solidFill>
                <a:latin typeface="微软雅黑" panose="020B0503020204020204" pitchFamily="34" charset="-122"/>
                <a:ea typeface="微软雅黑" panose="020B0503020204020204" pitchFamily="34" charset="-122"/>
              </a:rPr>
              <a:t>12.5  </a:t>
            </a:r>
            <a:r>
              <a:rPr lang="en-US" altLang="zh-CN" sz="1800" b="0" i="0" baseline="0" dirty="0">
                <a:latin typeface="微软雅黑" panose="020B0503020204020204" pitchFamily="34" charset="-122"/>
                <a:ea typeface="微软雅黑" panose="020B0503020204020204" pitchFamily="34" charset="-122"/>
              </a:rPr>
              <a:t>CSMA/CD </a:t>
            </a:r>
            <a:r>
              <a:rPr lang="zh-CN" altLang="en-US" sz="1800" b="0" i="0" baseline="0" dirty="0">
                <a:latin typeface="微软雅黑" panose="020B0503020204020204" pitchFamily="34" charset="-122"/>
                <a:ea typeface="微软雅黑" panose="020B0503020204020204" pitchFamily="34" charset="-122"/>
              </a:rPr>
              <a:t>网络中，带宽 </a:t>
            </a:r>
            <a:r>
              <a:rPr lang="en-US" altLang="zh-CN" sz="1800" b="0" i="0" baseline="0" dirty="0">
                <a:latin typeface="微软雅黑" panose="020B0503020204020204" pitchFamily="34" charset="-122"/>
                <a:ea typeface="微软雅黑" panose="020B0503020204020204" pitchFamily="34" charset="-122"/>
              </a:rPr>
              <a:t>10Mbps</a:t>
            </a:r>
            <a:r>
              <a:rPr lang="zh-CN" altLang="en-US" sz="1800" b="0" i="0" baseline="0" dirty="0">
                <a:latin typeface="微软雅黑" panose="020B0503020204020204" pitchFamily="34" charset="-122"/>
                <a:ea typeface="微软雅黑" panose="020B0503020204020204" pitchFamily="34" charset="-122"/>
              </a:rPr>
              <a:t>，最大传播时间为 </a:t>
            </a:r>
            <a:r>
              <a:rPr lang="en-US" altLang="zh-CN" sz="1800" b="0" i="0" baseline="0" dirty="0">
                <a:latin typeface="微软雅黑" panose="020B0503020204020204" pitchFamily="34" charset="-122"/>
                <a:ea typeface="微软雅黑" panose="020B0503020204020204" pitchFamily="34" charset="-122"/>
              </a:rPr>
              <a:t>25.6us</a:t>
            </a:r>
            <a:r>
              <a:rPr lang="zh-CN" altLang="en-US" sz="1800" b="0" i="0" baseline="0" dirty="0">
                <a:latin typeface="微软雅黑" panose="020B0503020204020204" pitchFamily="34" charset="-122"/>
                <a:ea typeface="微软雅黑" panose="020B0503020204020204" pitchFamily="34" charset="-122"/>
              </a:rPr>
              <a:t>，那么最小帧长是多少？</a:t>
            </a:r>
            <a:endParaRPr lang="en-US" altLang="zh-CN" sz="1800" b="0" i="0" baseline="0" dirty="0">
              <a:latin typeface="微软雅黑" panose="020B0503020204020204" pitchFamily="34" charset="-122"/>
              <a:ea typeface="微软雅黑" panose="020B0503020204020204" pitchFamily="34" charset="-122"/>
            </a:endParaRPr>
          </a:p>
        </p:txBody>
      </p:sp>
      <p:sp>
        <p:nvSpPr>
          <p:cNvPr id="68620" name="Rectangle 11">
            <a:extLst>
              <a:ext uri="{FF2B5EF4-FFF2-40B4-BE49-F238E27FC236}">
                <a16:creationId xmlns:a16="http://schemas.microsoft.com/office/drawing/2014/main" id="{8A71469A-2683-4DCA-8DA6-9E66EFCF320C}"/>
              </a:ext>
            </a:extLst>
          </p:cNvPr>
          <p:cNvSpPr>
            <a:spLocks noChangeArrowheads="1"/>
          </p:cNvSpPr>
          <p:nvPr/>
        </p:nvSpPr>
        <p:spPr bwMode="auto">
          <a:xfrm>
            <a:off x="1737360" y="2347224"/>
            <a:ext cx="8717280" cy="277877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200000"/>
              </a:lnSpc>
            </a:pPr>
            <a:r>
              <a:rPr lang="zh-CN" altLang="en-US" sz="1800" b="0" i="0" baseline="0" dirty="0">
                <a:latin typeface="微软雅黑" panose="020B0503020204020204" pitchFamily="34" charset="-122"/>
                <a:ea typeface="微软雅黑" panose="020B0503020204020204" pitchFamily="34" charset="-122"/>
              </a:rPr>
              <a:t>解：帧传输时间必须最少为最大传播时间的两倍以上，即</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pPr>
            <a:r>
              <a:rPr lang="en-US" altLang="zh-CN" sz="1800" b="0" i="0" baseline="0" dirty="0">
                <a:latin typeface="微软雅黑" panose="020B0503020204020204" pitchFamily="34" charset="-122"/>
                <a:ea typeface="微软雅黑" panose="020B0503020204020204" pitchFamily="34" charset="-122"/>
              </a:rPr>
              <a:t>                             </a:t>
            </a:r>
            <a:r>
              <a:rPr lang="en-US" altLang="zh-CN" sz="1800" b="0" i="0" baseline="0" dirty="0" err="1">
                <a:latin typeface="微软雅黑" panose="020B0503020204020204" pitchFamily="34" charset="-122"/>
                <a:ea typeface="微软雅黑" panose="020B0503020204020204" pitchFamily="34" charset="-122"/>
              </a:rPr>
              <a:t>T</a:t>
            </a:r>
            <a:r>
              <a:rPr lang="en-US" altLang="zh-CN" sz="1800" b="0" i="0" baseline="-16000" dirty="0" err="1">
                <a:latin typeface="微软雅黑" panose="020B0503020204020204" pitchFamily="34" charset="-122"/>
                <a:ea typeface="微软雅黑" panose="020B0503020204020204" pitchFamily="34" charset="-122"/>
              </a:rPr>
              <a:t>fr</a:t>
            </a:r>
            <a:r>
              <a:rPr lang="en-US" altLang="zh-CN" sz="1800" b="0" i="0" baseline="0" dirty="0">
                <a:latin typeface="微软雅黑" panose="020B0503020204020204" pitchFamily="34" charset="-122"/>
                <a:ea typeface="微软雅黑" panose="020B0503020204020204" pitchFamily="34" charset="-122"/>
              </a:rPr>
              <a:t> = 2 × </a:t>
            </a:r>
            <a:r>
              <a:rPr lang="en-US" altLang="zh-CN" sz="1800" b="0" i="0" baseline="0" dirty="0" err="1">
                <a:latin typeface="微软雅黑" panose="020B0503020204020204" pitchFamily="34" charset="-122"/>
                <a:ea typeface="微软雅黑" panose="020B0503020204020204" pitchFamily="34" charset="-122"/>
              </a:rPr>
              <a:t>T</a:t>
            </a:r>
            <a:r>
              <a:rPr lang="en-US" altLang="zh-CN" sz="1800" b="0" i="0" baseline="-14000" dirty="0" err="1">
                <a:latin typeface="微软雅黑" panose="020B0503020204020204" pitchFamily="34" charset="-122"/>
                <a:ea typeface="微软雅黑" panose="020B0503020204020204" pitchFamily="34" charset="-122"/>
              </a:rPr>
              <a:t>p</a:t>
            </a:r>
            <a:r>
              <a:rPr lang="en-US" altLang="zh-CN" sz="1800" b="0" i="0" baseline="0" dirty="0">
                <a:latin typeface="微软雅黑" panose="020B0503020204020204" pitchFamily="34" charset="-122"/>
                <a:ea typeface="微软雅黑" panose="020B0503020204020204" pitchFamily="34" charset="-122"/>
              </a:rPr>
              <a:t> = 51.2 </a:t>
            </a:r>
            <a:r>
              <a:rPr lang="en-US" altLang="zh-CN" sz="1800" b="0" i="0" baseline="0" dirty="0" err="1">
                <a:latin typeface="微软雅黑" panose="020B0503020204020204" pitchFamily="34" charset="-122"/>
                <a:ea typeface="微软雅黑" panose="020B0503020204020204" pitchFamily="34" charset="-122"/>
              </a:rPr>
              <a:t>μs</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即一个站点需要</a:t>
            </a:r>
            <a:r>
              <a:rPr lang="en-US" altLang="zh-CN" sz="1800" b="0" i="0" baseline="0" dirty="0">
                <a:latin typeface="微软雅黑" panose="020B0503020204020204" pitchFamily="34" charset="-122"/>
                <a:ea typeface="微软雅黑" panose="020B0503020204020204" pitchFamily="34" charset="-122"/>
              </a:rPr>
              <a:t>51.2us</a:t>
            </a:r>
            <a:r>
              <a:rPr lang="zh-CN" altLang="en-US" sz="1800" b="0" i="0" baseline="0" dirty="0">
                <a:latin typeface="微软雅黑" panose="020B0503020204020204" pitchFamily="34" charset="-122"/>
                <a:ea typeface="微软雅黑" panose="020B0503020204020204" pitchFamily="34" charset="-122"/>
              </a:rPr>
              <a:t>后才能检测到冲突。所以帧的最小长度是：</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pPr>
            <a:r>
              <a:rPr lang="en-US" altLang="zh-CN" sz="1800" b="0" i="0" baseline="0" dirty="0">
                <a:latin typeface="微软雅黑" panose="020B0503020204020204" pitchFamily="34" charset="-122"/>
                <a:ea typeface="微软雅黑" panose="020B0503020204020204" pitchFamily="34" charset="-122"/>
              </a:rPr>
              <a:t>                  10 Mbps × 51.2 </a:t>
            </a:r>
            <a:r>
              <a:rPr lang="en-US" altLang="zh-CN" sz="1800" b="0" i="0" baseline="0" dirty="0" err="1">
                <a:latin typeface="微软雅黑" panose="020B0503020204020204" pitchFamily="34" charset="-122"/>
                <a:ea typeface="微软雅黑" panose="020B0503020204020204" pitchFamily="34" charset="-122"/>
              </a:rPr>
              <a:t>μs</a:t>
            </a:r>
            <a:r>
              <a:rPr lang="en-US" altLang="zh-CN" sz="1800" b="0" i="0" baseline="0" dirty="0">
                <a:latin typeface="微软雅黑" panose="020B0503020204020204" pitchFamily="34" charset="-122"/>
                <a:ea typeface="微软雅黑" panose="020B0503020204020204" pitchFamily="34" charset="-122"/>
              </a:rPr>
              <a:t> = 512 bits = 64 bytes</a:t>
            </a: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这也是 </a:t>
            </a:r>
            <a:r>
              <a:rPr lang="en-US" altLang="zh-CN" sz="1800" b="0" i="0" baseline="0" dirty="0">
                <a:latin typeface="微软雅黑" panose="020B0503020204020204" pitchFamily="34" charset="-122"/>
                <a:ea typeface="微软雅黑" panose="020B0503020204020204" pitchFamily="34" charset="-122"/>
              </a:rPr>
              <a:t>10</a:t>
            </a:r>
            <a:r>
              <a:rPr lang="zh-CN" altLang="en-US" sz="1800" b="0" i="0" baseline="0" dirty="0">
                <a:latin typeface="微软雅黑" panose="020B0503020204020204" pitchFamily="34" charset="-122"/>
                <a:ea typeface="微软雅黑" panose="020B0503020204020204" pitchFamily="34" charset="-122"/>
              </a:rPr>
              <a:t>兆以太网的最小帧长。</a:t>
            </a:r>
            <a:endParaRPr lang="en-US" altLang="zh-CN" sz="1800" b="0" i="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20"/>
                                        </p:tgtEl>
                                        <p:attrNameLst>
                                          <p:attrName>style.visibility</p:attrName>
                                        </p:attrNameLst>
                                      </p:cBhvr>
                                      <p:to>
                                        <p:strVal val="visible"/>
                                      </p:to>
                                    </p:set>
                                    <p:animEffect transition="in" filter="wipe(up)">
                                      <p:cBhvr>
                                        <p:cTn id="7" dur="500"/>
                                        <p:tgtEl>
                                          <p:spTgt spid="68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Text Box 4">
            <a:extLst>
              <a:ext uri="{FF2B5EF4-FFF2-40B4-BE49-F238E27FC236}">
                <a16:creationId xmlns:a16="http://schemas.microsoft.com/office/drawing/2014/main" id="{C62E4152-7C1F-44B0-BC0A-5C80A62BC800}"/>
              </a:ext>
            </a:extLst>
          </p:cNvPr>
          <p:cNvSpPr txBox="1">
            <a:spLocks noChangeArrowheads="1"/>
          </p:cNvSpPr>
          <p:nvPr/>
        </p:nvSpPr>
        <p:spPr bwMode="auto">
          <a:xfrm>
            <a:off x="3048000" y="6172200"/>
            <a:ext cx="27895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12.14  </a:t>
            </a:r>
            <a:r>
              <a:rPr lang="en-US" altLang="zh-CN" sz="1600" i="0" baseline="0" dirty="0">
                <a:ea typeface="宋体" panose="02010600030101010101" pitchFamily="2" charset="-122"/>
              </a:rPr>
              <a:t>CSMA/CD</a:t>
            </a:r>
            <a:r>
              <a:rPr lang="zh-CN" altLang="en-US" sz="1600" i="0" baseline="0" dirty="0">
                <a:ea typeface="宋体" panose="02010600030101010101" pitchFamily="2" charset="-122"/>
              </a:rPr>
              <a:t>流程框图</a:t>
            </a:r>
            <a:endParaRPr lang="en-US" altLang="zh-CN" sz="1600" i="0" baseline="0" dirty="0">
              <a:ea typeface="宋体" panose="02010600030101010101" pitchFamily="2" charset="-122"/>
            </a:endParaRPr>
          </a:p>
        </p:txBody>
      </p:sp>
      <p:pic>
        <p:nvPicPr>
          <p:cNvPr id="70663" name="Picture 7">
            <a:extLst>
              <a:ext uri="{FF2B5EF4-FFF2-40B4-BE49-F238E27FC236}">
                <a16:creationId xmlns:a16="http://schemas.microsoft.com/office/drawing/2014/main" id="{1B5BB235-B949-453E-8713-5A16ED0B3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143000"/>
            <a:ext cx="5995987" cy="4839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对话气泡: 圆角矩形 2">
            <a:extLst>
              <a:ext uri="{FF2B5EF4-FFF2-40B4-BE49-F238E27FC236}">
                <a16:creationId xmlns:a16="http://schemas.microsoft.com/office/drawing/2014/main" id="{58ACCD0F-8A7F-4BC8-B513-E4819B5FC22C}"/>
              </a:ext>
            </a:extLst>
          </p:cNvPr>
          <p:cNvSpPr/>
          <p:nvPr/>
        </p:nvSpPr>
        <p:spPr bwMode="auto">
          <a:xfrm>
            <a:off x="8229600" y="1371600"/>
            <a:ext cx="3048000" cy="4267200"/>
          </a:xfrm>
          <a:prstGeom prst="wedgeRoundRectCallout">
            <a:avLst>
              <a:gd name="adj1" fmla="val -134433"/>
              <a:gd name="adj2" fmla="val 35742"/>
              <a:gd name="adj3" fmla="val 16667"/>
            </a:avLst>
          </a:prstGeom>
          <a:solidFill>
            <a:srgbClr val="D5F1FF"/>
          </a:solidFill>
          <a:ln w="9525" cap="flat" cmpd="sng" algn="ctr">
            <a:solidFill>
              <a:srgbClr val="97DC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algn="just">
              <a:lnSpc>
                <a:spcPct val="200000"/>
              </a:lnSpc>
            </a:pPr>
            <a:r>
              <a:rPr lang="zh-CN" altLang="en-US" sz="1800" b="0" i="0" baseline="0" dirty="0">
                <a:latin typeface="微软雅黑" panose="020B0503020204020204" pitchFamily="34" charset="-122"/>
                <a:ea typeface="微软雅黑" panose="020B0503020204020204" pitchFamily="34" charset="-122"/>
              </a:rPr>
              <a:t>发送帧的站点一旦检测到冲突，除了立即停止发送帧外，还要继续发送 </a:t>
            </a:r>
            <a:r>
              <a:rPr lang="en-US" altLang="zh-CN" sz="1800" b="0" i="0" baseline="0" dirty="0">
                <a:latin typeface="微软雅黑" panose="020B0503020204020204" pitchFamily="34" charset="-122"/>
                <a:ea typeface="微软雅黑" panose="020B0503020204020204" pitchFamily="34" charset="-122"/>
              </a:rPr>
              <a:t>32bit </a:t>
            </a:r>
            <a:r>
              <a:rPr lang="zh-CN" altLang="en-US" sz="1800" b="0" i="0" baseline="0" dirty="0">
                <a:latin typeface="微软雅黑" panose="020B0503020204020204" pitchFamily="34" charset="-122"/>
                <a:ea typeface="微软雅黑" panose="020B0503020204020204" pitchFamily="34" charset="-122"/>
              </a:rPr>
              <a:t>或 </a:t>
            </a:r>
            <a:r>
              <a:rPr lang="en-US" altLang="zh-CN" sz="1800" b="0" i="0" baseline="0" dirty="0">
                <a:latin typeface="微软雅黑" panose="020B0503020204020204" pitchFamily="34" charset="-122"/>
                <a:ea typeface="微软雅黑" panose="020B0503020204020204" pitchFamily="34" charset="-122"/>
              </a:rPr>
              <a:t>48bit </a:t>
            </a:r>
            <a:r>
              <a:rPr lang="zh-CN" altLang="en-US" sz="1800" b="0" i="0" baseline="0" dirty="0">
                <a:latin typeface="微软雅黑" panose="020B0503020204020204" pitchFamily="34" charset="-122"/>
                <a:ea typeface="微软雅黑" panose="020B0503020204020204" pitchFamily="34" charset="-122"/>
              </a:rPr>
              <a:t>的人为干扰信号，以便有足够多的冲突信号使所有站点都能检测出冲突。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8DF0C-7BF3-4F90-A31C-32D5788BBCDD}"/>
              </a:ext>
            </a:extLst>
          </p:cNvPr>
          <p:cNvSpPr/>
          <p:nvPr/>
        </p:nvSpPr>
        <p:spPr>
          <a:xfrm>
            <a:off x="4038600" y="109441"/>
            <a:ext cx="6016391" cy="461665"/>
          </a:xfrm>
          <a:prstGeom prst="rect">
            <a:avLst/>
          </a:prstGeom>
        </p:spPr>
        <p:txBody>
          <a:bodyPr wrap="none">
            <a:spAutoFit/>
          </a:bodyPr>
          <a:lstStyle/>
          <a:p>
            <a:r>
              <a:rPr lang="zh-CN" altLang="en-US" sz="2400" i="0" baseline="0" dirty="0">
                <a:solidFill>
                  <a:schemeClr val="bg1"/>
                </a:solidFill>
                <a:latin typeface="微软雅黑" panose="020B0503020204020204" pitchFamily="34" charset="-122"/>
                <a:ea typeface="微软雅黑" panose="020B0503020204020204" pitchFamily="34" charset="-122"/>
              </a:rPr>
              <a:t>带冲突避免的载波侦听多路访问</a:t>
            </a:r>
            <a:r>
              <a:rPr lang="en-US" altLang="zh-CN" sz="2400" i="0" baseline="0" dirty="0">
                <a:solidFill>
                  <a:schemeClr val="bg1"/>
                </a:solidFill>
                <a:latin typeface="微软雅黑" panose="020B0503020204020204" pitchFamily="34" charset="-122"/>
                <a:ea typeface="微软雅黑" panose="020B0503020204020204" pitchFamily="34" charset="-122"/>
              </a:rPr>
              <a:t>CSMA/CA</a:t>
            </a:r>
          </a:p>
        </p:txBody>
      </p:sp>
      <p:sp>
        <p:nvSpPr>
          <p:cNvPr id="2" name="矩形 1">
            <a:extLst>
              <a:ext uri="{FF2B5EF4-FFF2-40B4-BE49-F238E27FC236}">
                <a16:creationId xmlns:a16="http://schemas.microsoft.com/office/drawing/2014/main" id="{0EC1C2EB-B8A3-4B43-B0F5-E1ED242892A5}"/>
              </a:ext>
            </a:extLst>
          </p:cNvPr>
          <p:cNvSpPr/>
          <p:nvPr/>
        </p:nvSpPr>
        <p:spPr>
          <a:xfrm>
            <a:off x="1447800" y="1621069"/>
            <a:ext cx="9296400" cy="3615862"/>
          </a:xfrm>
          <a:prstGeom prst="rect">
            <a:avLst/>
          </a:prstGeom>
        </p:spPr>
        <p:txBody>
          <a:bodyPr wrap="square">
            <a:spAutoFit/>
          </a:bodyPr>
          <a:lstStyle/>
          <a:p>
            <a:pPr algn="just">
              <a:lnSpc>
                <a:spcPct val="300000"/>
              </a:lnSpc>
              <a:buClr>
                <a:schemeClr val="tx2">
                  <a:lumMod val="75000"/>
                </a:schemeClr>
              </a:buClr>
              <a:buSzPct val="80000"/>
              <a:defRPr/>
            </a:pPr>
            <a:r>
              <a:rPr lang="en-US" altLang="zh-CN" sz="2000" b="0" i="0" baseline="0" dirty="0">
                <a:solidFill>
                  <a:srgbClr val="000000"/>
                </a:solidFill>
                <a:latin typeface="微软雅黑" panose="020B0503020204020204" pitchFamily="34" charset="-122"/>
                <a:ea typeface="微软雅黑" panose="020B0503020204020204" pitchFamily="34" charset="-122"/>
              </a:rPr>
              <a:t>CSMA/CA </a:t>
            </a:r>
            <a:r>
              <a:rPr lang="zh-CN" altLang="en-US" sz="2000" b="0" i="0" baseline="0" dirty="0">
                <a:solidFill>
                  <a:srgbClr val="000000"/>
                </a:solidFill>
                <a:latin typeface="微软雅黑" panose="020B0503020204020204" pitchFamily="34" charset="-122"/>
                <a:ea typeface="微软雅黑" panose="020B0503020204020204" pitchFamily="34" charset="-122"/>
              </a:rPr>
              <a:t>是一种数据传输时避免各站点之间数据传输冲突的算法，其特点是发送包的同时不能检测到信道上有无冲突，只能尽量“避免”。通常 </a:t>
            </a:r>
            <a:r>
              <a:rPr lang="en-US" altLang="zh-CN" sz="2000" b="0" i="0" baseline="0" dirty="0">
                <a:solidFill>
                  <a:srgbClr val="000000"/>
                </a:solidFill>
                <a:latin typeface="微软雅黑" panose="020B0503020204020204" pitchFamily="34" charset="-122"/>
                <a:ea typeface="微软雅黑" panose="020B0503020204020204" pitchFamily="34" charset="-122"/>
              </a:rPr>
              <a:t>CSMA/CA </a:t>
            </a:r>
            <a:r>
              <a:rPr lang="zh-CN" altLang="en-US" sz="2000" b="0" i="0" baseline="0" dirty="0">
                <a:solidFill>
                  <a:srgbClr val="000000"/>
                </a:solidFill>
                <a:latin typeface="微软雅黑" panose="020B0503020204020204" pitchFamily="34" charset="-122"/>
                <a:ea typeface="微软雅黑" panose="020B0503020204020204" pitchFamily="34" charset="-122"/>
              </a:rPr>
              <a:t>利用 </a:t>
            </a:r>
            <a:r>
              <a:rPr lang="en-US" altLang="zh-CN" sz="2000" b="0" i="0" baseline="0" dirty="0">
                <a:solidFill>
                  <a:srgbClr val="000000"/>
                </a:solidFill>
                <a:latin typeface="微软雅黑" panose="020B0503020204020204" pitchFamily="34" charset="-122"/>
                <a:ea typeface="微软雅黑" panose="020B0503020204020204" pitchFamily="34" charset="-122"/>
              </a:rPr>
              <a:t>ACK </a:t>
            </a:r>
            <a:r>
              <a:rPr lang="zh-CN" altLang="en-US" sz="2000" b="0" i="0" baseline="0" dirty="0">
                <a:solidFill>
                  <a:srgbClr val="000000"/>
                </a:solidFill>
                <a:latin typeface="微软雅黑" panose="020B0503020204020204" pitchFamily="34" charset="-122"/>
                <a:ea typeface="微软雅黑" panose="020B0503020204020204" pitchFamily="34" charset="-122"/>
              </a:rPr>
              <a:t>信号来避免冲突的发生，即只有当客户端收到网络上返回的 </a:t>
            </a:r>
            <a:r>
              <a:rPr lang="en-US" altLang="zh-CN" sz="2000" b="0" i="0" baseline="0" dirty="0">
                <a:solidFill>
                  <a:srgbClr val="000000"/>
                </a:solidFill>
                <a:latin typeface="微软雅黑" panose="020B0503020204020204" pitchFamily="34" charset="-122"/>
                <a:ea typeface="微软雅黑" panose="020B0503020204020204" pitchFamily="34" charset="-122"/>
              </a:rPr>
              <a:t>ACK </a:t>
            </a:r>
            <a:r>
              <a:rPr lang="zh-CN" altLang="en-US" sz="2000" b="0" i="0" baseline="0" dirty="0">
                <a:solidFill>
                  <a:srgbClr val="000000"/>
                </a:solidFill>
                <a:latin typeface="微软雅黑" panose="020B0503020204020204" pitchFamily="34" charset="-122"/>
                <a:ea typeface="微软雅黑" panose="020B0503020204020204" pitchFamily="34" charset="-122"/>
              </a:rPr>
              <a:t>信号后才确认发出的数据已经正确到达目的地。</a:t>
            </a:r>
            <a:endParaRPr lang="en-US" altLang="zh-CN" sz="2000" b="0" i="0" baseline="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Text Box 4">
            <a:extLst>
              <a:ext uri="{FF2B5EF4-FFF2-40B4-BE49-F238E27FC236}">
                <a16:creationId xmlns:a16="http://schemas.microsoft.com/office/drawing/2014/main" id="{BF0208D8-AB55-4B53-A222-333EFF16B8A8}"/>
              </a:ext>
            </a:extLst>
          </p:cNvPr>
          <p:cNvSpPr txBox="1">
            <a:spLocks noChangeArrowheads="1"/>
          </p:cNvSpPr>
          <p:nvPr/>
        </p:nvSpPr>
        <p:spPr bwMode="auto">
          <a:xfrm>
            <a:off x="3657600" y="3423920"/>
            <a:ext cx="5105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12.16  </a:t>
            </a:r>
            <a:r>
              <a:rPr lang="zh-CN" altLang="en-US" sz="1600" i="0" baseline="0" dirty="0">
                <a:ea typeface="宋体" panose="02010600030101010101" pitchFamily="2" charset="-122"/>
              </a:rPr>
              <a:t>带冲突避免的载波侦听多路访问</a:t>
            </a:r>
            <a:r>
              <a:rPr lang="en-US" altLang="zh-CN" sz="1600" i="0" baseline="0" dirty="0">
                <a:ea typeface="宋体" panose="02010600030101010101" pitchFamily="2" charset="-122"/>
              </a:rPr>
              <a:t>CSMA/CA</a:t>
            </a:r>
          </a:p>
        </p:txBody>
      </p:sp>
      <p:pic>
        <p:nvPicPr>
          <p:cNvPr id="77831" name="Picture 7">
            <a:extLst>
              <a:ext uri="{FF2B5EF4-FFF2-40B4-BE49-F238E27FC236}">
                <a16:creationId xmlns:a16="http://schemas.microsoft.com/office/drawing/2014/main" id="{F6ADB2B2-D86E-4F1E-85F8-1CF91A061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1"/>
            <a:ext cx="7772400" cy="177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矩形 7">
            <a:extLst>
              <a:ext uri="{FF2B5EF4-FFF2-40B4-BE49-F238E27FC236}">
                <a16:creationId xmlns:a16="http://schemas.microsoft.com/office/drawing/2014/main" id="{6A60D2F0-C876-482E-BFD5-E2A801208786}"/>
              </a:ext>
            </a:extLst>
          </p:cNvPr>
          <p:cNvSpPr>
            <a:spLocks noChangeArrowheads="1"/>
          </p:cNvSpPr>
          <p:nvPr/>
        </p:nvSpPr>
        <p:spPr bwMode="auto">
          <a:xfrm>
            <a:off x="2819400" y="4114800"/>
            <a:ext cx="6096000" cy="1670778"/>
          </a:xfrm>
          <a:prstGeom prst="rect">
            <a:avLst/>
          </a:prstGeom>
          <a:noFill/>
          <a:ln w="9525">
            <a:noFill/>
            <a:miter lim="800000"/>
            <a:headEnd/>
            <a:tailEnd/>
          </a:ln>
        </p:spPr>
        <p:txBody>
          <a:bodyPr>
            <a:spAutoFit/>
          </a:bodyPr>
          <a:lstStyle/>
          <a:p>
            <a:pPr marL="355600" indent="-355600">
              <a:lnSpc>
                <a:spcPct val="200000"/>
              </a:lnSpc>
              <a:buClr>
                <a:srgbClr val="FF0000"/>
              </a:buClr>
              <a:buSzPct val="80000"/>
              <a:buFont typeface="Wingdings" pitchFamily="2" charset="2"/>
              <a:buChar char="u"/>
              <a:defRPr/>
            </a:pPr>
            <a:r>
              <a:rPr lang="zh-CN" altLang="en-US" sz="1800" b="0" i="0" baseline="0" dirty="0">
                <a:solidFill>
                  <a:srgbClr val="000000"/>
                </a:solidFill>
                <a:latin typeface="微软雅黑" panose="020B0503020204020204" pitchFamily="34" charset="-122"/>
                <a:ea typeface="微软雅黑" panose="020B0503020204020204" pitchFamily="34" charset="-122"/>
              </a:rPr>
              <a:t> 帧间间隔（</a:t>
            </a:r>
            <a:r>
              <a:rPr lang="en-US" altLang="zh-CN" sz="1800" b="0" i="0" baseline="0" dirty="0" err="1">
                <a:solidFill>
                  <a:srgbClr val="000000"/>
                </a:solidFill>
                <a:latin typeface="微软雅黑" panose="020B0503020204020204" pitchFamily="34" charset="-122"/>
                <a:ea typeface="微软雅黑" panose="020B0503020204020204" pitchFamily="34" charset="-122"/>
              </a:rPr>
              <a:t>Interframe</a:t>
            </a:r>
            <a:r>
              <a:rPr lang="zh-CN" altLang="en-US" sz="1800" b="0" i="0" baseline="0" dirty="0">
                <a:solidFill>
                  <a:srgbClr val="000000"/>
                </a:solidFill>
                <a:latin typeface="微软雅黑" panose="020B0503020204020204" pitchFamily="34" charset="-122"/>
                <a:ea typeface="微软雅黑" panose="020B0503020204020204" pitchFamily="34" charset="-122"/>
              </a:rPr>
              <a:t> </a:t>
            </a:r>
            <a:r>
              <a:rPr lang="en-US" altLang="zh-CN" sz="1800" b="0" i="0" baseline="0" dirty="0">
                <a:solidFill>
                  <a:srgbClr val="000000"/>
                </a:solidFill>
                <a:latin typeface="微软雅黑" panose="020B0503020204020204" pitchFamily="34" charset="-122"/>
                <a:ea typeface="微软雅黑" panose="020B0503020204020204" pitchFamily="34" charset="-122"/>
              </a:rPr>
              <a:t>Space</a:t>
            </a:r>
            <a:r>
              <a:rPr lang="zh-CN" altLang="en-US" sz="1800" b="0" i="0" baseline="0" dirty="0">
                <a:solidFill>
                  <a:srgbClr val="000000"/>
                </a:solidFill>
                <a:latin typeface="微软雅黑" panose="020B0503020204020204" pitchFamily="34" charset="-122"/>
                <a:ea typeface="微软雅黑" panose="020B0503020204020204" pitchFamily="34" charset="-122"/>
              </a:rPr>
              <a:t>，</a:t>
            </a:r>
            <a:r>
              <a:rPr lang="en-US" altLang="zh-CN" sz="1800" b="0" i="0" baseline="0" dirty="0">
                <a:solidFill>
                  <a:srgbClr val="000000"/>
                </a:solidFill>
                <a:latin typeface="微软雅黑" panose="020B0503020204020204" pitchFamily="34" charset="-122"/>
                <a:ea typeface="微软雅黑" panose="020B0503020204020204" pitchFamily="34" charset="-122"/>
              </a:rPr>
              <a:t>IFS</a:t>
            </a:r>
            <a:r>
              <a:rPr lang="zh-CN" altLang="en-US" sz="1800" b="0" i="0" baseline="0" dirty="0">
                <a:solidFill>
                  <a:srgbClr val="000000"/>
                </a:solidFill>
                <a:latin typeface="微软雅黑" panose="020B0503020204020204" pitchFamily="34" charset="-122"/>
                <a:ea typeface="微软雅黑" panose="020B0503020204020204" pitchFamily="34" charset="-122"/>
              </a:rPr>
              <a:t>）</a:t>
            </a:r>
            <a:endParaRPr lang="en-US" altLang="zh-CN" sz="1800" b="0" i="0" baseline="0" dirty="0">
              <a:solidFill>
                <a:srgbClr val="000000"/>
              </a:solidFill>
              <a:latin typeface="微软雅黑" panose="020B0503020204020204" pitchFamily="34" charset="-122"/>
              <a:ea typeface="微软雅黑" panose="020B0503020204020204" pitchFamily="34" charset="-122"/>
            </a:endParaRPr>
          </a:p>
          <a:p>
            <a:pPr marL="355600" indent="-355600">
              <a:lnSpc>
                <a:spcPct val="200000"/>
              </a:lnSpc>
              <a:buClr>
                <a:srgbClr val="FF0000"/>
              </a:buClr>
              <a:buSzPct val="80000"/>
              <a:buFont typeface="Wingdings" pitchFamily="2" charset="2"/>
              <a:buChar char="u"/>
              <a:defRPr/>
            </a:pPr>
            <a:r>
              <a:rPr lang="zh-CN" altLang="en-US" sz="1800" b="0" i="0" baseline="0" dirty="0">
                <a:solidFill>
                  <a:srgbClr val="000000"/>
                </a:solidFill>
                <a:latin typeface="微软雅黑" panose="020B0503020204020204" pitchFamily="34" charset="-122"/>
                <a:ea typeface="微软雅黑" panose="020B0503020204020204" pitchFamily="34" charset="-122"/>
              </a:rPr>
              <a:t> 竞争窗口（</a:t>
            </a:r>
            <a:r>
              <a:rPr lang="en-US" altLang="zh-CN" sz="1800" b="0" i="0" baseline="0" dirty="0">
                <a:solidFill>
                  <a:srgbClr val="000000"/>
                </a:solidFill>
                <a:latin typeface="微软雅黑" panose="020B0503020204020204" pitchFamily="34" charset="-122"/>
                <a:ea typeface="微软雅黑" panose="020B0503020204020204" pitchFamily="34" charset="-122"/>
              </a:rPr>
              <a:t>Contention</a:t>
            </a:r>
            <a:r>
              <a:rPr lang="zh-CN" altLang="en-US" sz="1800" b="0" i="0" baseline="0" dirty="0">
                <a:solidFill>
                  <a:srgbClr val="000000"/>
                </a:solidFill>
                <a:latin typeface="微软雅黑" panose="020B0503020204020204" pitchFamily="34" charset="-122"/>
                <a:ea typeface="微软雅黑" panose="020B0503020204020204" pitchFamily="34" charset="-122"/>
              </a:rPr>
              <a:t> </a:t>
            </a:r>
            <a:r>
              <a:rPr lang="en-US" altLang="zh-CN" sz="1800" b="0" i="0" baseline="0" dirty="0">
                <a:solidFill>
                  <a:srgbClr val="000000"/>
                </a:solidFill>
                <a:latin typeface="微软雅黑" panose="020B0503020204020204" pitchFamily="34" charset="-122"/>
                <a:ea typeface="微软雅黑" panose="020B0503020204020204" pitchFamily="34" charset="-122"/>
              </a:rPr>
              <a:t>Window</a:t>
            </a:r>
            <a:r>
              <a:rPr lang="zh-CN" altLang="en-US" sz="1800" b="0" i="0" baseline="0" dirty="0">
                <a:solidFill>
                  <a:srgbClr val="000000"/>
                </a:solidFill>
                <a:latin typeface="微软雅黑" panose="020B0503020204020204" pitchFamily="34" charset="-122"/>
                <a:ea typeface="微软雅黑" panose="020B0503020204020204" pitchFamily="34" charset="-122"/>
              </a:rPr>
              <a:t>）</a:t>
            </a:r>
            <a:endParaRPr lang="en-US" altLang="zh-CN" sz="1800" b="0" i="0" baseline="0" dirty="0">
              <a:solidFill>
                <a:srgbClr val="000000"/>
              </a:solidFill>
              <a:latin typeface="微软雅黑" panose="020B0503020204020204" pitchFamily="34" charset="-122"/>
              <a:ea typeface="微软雅黑" panose="020B0503020204020204" pitchFamily="34" charset="-122"/>
            </a:endParaRPr>
          </a:p>
          <a:p>
            <a:pPr marL="355600" indent="-355600">
              <a:lnSpc>
                <a:spcPct val="200000"/>
              </a:lnSpc>
              <a:buClr>
                <a:srgbClr val="FF0000"/>
              </a:buClr>
              <a:buSzPct val="80000"/>
              <a:buFont typeface="Wingdings" pitchFamily="2" charset="2"/>
              <a:buChar char="u"/>
              <a:defRPr/>
            </a:pPr>
            <a:r>
              <a:rPr lang="zh-CN" altLang="en-US" sz="1800" b="0" i="0" baseline="0" dirty="0">
                <a:solidFill>
                  <a:srgbClr val="000000"/>
                </a:solidFill>
                <a:latin typeface="微软雅黑" panose="020B0503020204020204" pitchFamily="34" charset="-122"/>
                <a:ea typeface="微软雅黑" panose="020B0503020204020204" pitchFamily="34" charset="-122"/>
              </a:rPr>
              <a:t> 肯定的确认和定时器超时</a:t>
            </a:r>
            <a:endParaRPr lang="en-US" altLang="zh-CN" sz="1800" b="0" i="0" baseline="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Text Box 4">
            <a:extLst>
              <a:ext uri="{FF2B5EF4-FFF2-40B4-BE49-F238E27FC236}">
                <a16:creationId xmlns:a16="http://schemas.microsoft.com/office/drawing/2014/main" id="{F78DD542-40BD-4A8C-B85B-A92F67E0E67D}"/>
              </a:ext>
            </a:extLst>
          </p:cNvPr>
          <p:cNvSpPr txBox="1">
            <a:spLocks noChangeArrowheads="1"/>
          </p:cNvSpPr>
          <p:nvPr/>
        </p:nvSpPr>
        <p:spPr bwMode="auto">
          <a:xfrm>
            <a:off x="4648200" y="6057166"/>
            <a:ext cx="27895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12.17  </a:t>
            </a:r>
            <a:r>
              <a:rPr lang="en-US" altLang="zh-CN" sz="1600" i="0" baseline="0" dirty="0">
                <a:ea typeface="宋体" panose="02010600030101010101" pitchFamily="2" charset="-122"/>
              </a:rPr>
              <a:t>CSMA/CA</a:t>
            </a:r>
            <a:r>
              <a:rPr lang="zh-CN" altLang="en-US" sz="1600" i="0" baseline="0" dirty="0">
                <a:ea typeface="宋体" panose="02010600030101010101" pitchFamily="2" charset="-122"/>
              </a:rPr>
              <a:t>流程框图</a:t>
            </a:r>
            <a:endParaRPr lang="en-US" altLang="zh-CN" sz="1600" i="0" baseline="0" dirty="0">
              <a:ea typeface="宋体" panose="02010600030101010101" pitchFamily="2" charset="-122"/>
            </a:endParaRPr>
          </a:p>
        </p:txBody>
      </p:sp>
      <p:pic>
        <p:nvPicPr>
          <p:cNvPr id="81927" name="Picture 7">
            <a:extLst>
              <a:ext uri="{FF2B5EF4-FFF2-40B4-BE49-F238E27FC236}">
                <a16:creationId xmlns:a16="http://schemas.microsoft.com/office/drawing/2014/main" id="{F98BECFE-A04F-4E49-9B99-9237ACFA2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1" y="995194"/>
            <a:ext cx="3048055" cy="4886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69986756-41B9-497F-A7C7-B527C56D43AA}"/>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1080323" name="Text Box 3">
            <a:extLst>
              <a:ext uri="{FF2B5EF4-FFF2-40B4-BE49-F238E27FC236}">
                <a16:creationId xmlns:a16="http://schemas.microsoft.com/office/drawing/2014/main" id="{985111F7-6AE3-4D3D-B0AE-6286E06A94D3}"/>
              </a:ext>
            </a:extLst>
          </p:cNvPr>
          <p:cNvSpPr txBox="1">
            <a:spLocks noChangeArrowheads="1"/>
          </p:cNvSpPr>
          <p:nvPr/>
        </p:nvSpPr>
        <p:spPr bwMode="auto">
          <a:xfrm>
            <a:off x="533400" y="279112"/>
            <a:ext cx="3889206" cy="584775"/>
          </a:xfrm>
          <a:prstGeom prst="rect">
            <a:avLst/>
          </a:prstGeom>
          <a:noFill/>
          <a:ln>
            <a:noFill/>
          </a:ln>
          <a:effectLst/>
        </p:spPr>
        <p:txBody>
          <a:bodyPr wrap="none">
            <a:spAutoFit/>
          </a:bodyPr>
          <a:lstStyle/>
          <a:p>
            <a:pPr>
              <a:defRPr/>
            </a:pPr>
            <a:r>
              <a:rPr lang="en-US" altLang="zh-CN" sz="3200" i="0" baseline="0" dirty="0">
                <a:latin typeface="微软雅黑" panose="020B0503020204020204" pitchFamily="34" charset="-122"/>
                <a:ea typeface="微软雅黑" panose="020B0503020204020204" pitchFamily="34" charset="-122"/>
              </a:rPr>
              <a:t>12.2   </a:t>
            </a:r>
            <a:r>
              <a:rPr lang="zh-CN" altLang="en-US" sz="3200" i="0" baseline="0" dirty="0">
                <a:latin typeface="微软雅黑" panose="020B0503020204020204" pitchFamily="34" charset="-122"/>
                <a:ea typeface="微软雅黑" panose="020B0503020204020204" pitchFamily="34" charset="-122"/>
              </a:rPr>
              <a:t>受控访问协议</a:t>
            </a:r>
            <a:endParaRPr lang="en-US" altLang="zh-CN" sz="3200" i="0" baseline="0" dirty="0">
              <a:latin typeface="微软雅黑" panose="020B0503020204020204" pitchFamily="34" charset="-122"/>
              <a:ea typeface="微软雅黑" panose="020B0503020204020204" pitchFamily="34" charset="-122"/>
            </a:endParaRPr>
          </a:p>
        </p:txBody>
      </p:sp>
      <p:sp>
        <p:nvSpPr>
          <p:cNvPr id="83973" name="Text Box 4">
            <a:extLst>
              <a:ext uri="{FF2B5EF4-FFF2-40B4-BE49-F238E27FC236}">
                <a16:creationId xmlns:a16="http://schemas.microsoft.com/office/drawing/2014/main" id="{3031C649-A395-4886-A8C8-033C4D3E2EB7}"/>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zh-CN" sz="1800" i="0" baseline="0">
              <a:ea typeface="宋体" panose="02010600030101010101" pitchFamily="2" charset="-122"/>
            </a:endParaRPr>
          </a:p>
        </p:txBody>
      </p:sp>
      <p:sp>
        <p:nvSpPr>
          <p:cNvPr id="1080325" name="Rectangle 5">
            <a:extLst>
              <a:ext uri="{FF2B5EF4-FFF2-40B4-BE49-F238E27FC236}">
                <a16:creationId xmlns:a16="http://schemas.microsoft.com/office/drawing/2014/main" id="{24497FE2-C7F3-441B-86CC-C9A8B2BF74AC}"/>
              </a:ext>
            </a:extLst>
          </p:cNvPr>
          <p:cNvSpPr>
            <a:spLocks noChangeArrowheads="1"/>
          </p:cNvSpPr>
          <p:nvPr/>
        </p:nvSpPr>
        <p:spPr bwMode="auto">
          <a:xfrm>
            <a:off x="1600200" y="1828800"/>
            <a:ext cx="8991600" cy="2692532"/>
          </a:xfrm>
          <a:prstGeom prst="rect">
            <a:avLst/>
          </a:prstGeom>
          <a:noFill/>
          <a:ln>
            <a:noFill/>
          </a:ln>
          <a:effectLst/>
        </p:spPr>
        <p:txBody>
          <a:bodyPr wrap="square" anchor="ctr">
            <a:spAutoFit/>
          </a:bodyPr>
          <a:lstStyle/>
          <a:p>
            <a:pPr algn="just" eaLnBrk="1" hangingPunct="1">
              <a:lnSpc>
                <a:spcPct val="300000"/>
              </a:lnSpc>
              <a:defRPr/>
            </a:pPr>
            <a:r>
              <a:rPr lang="zh-CN" altLang="en-US" sz="2000" b="0" i="0" baseline="0" dirty="0">
                <a:latin typeface="微软雅黑" panose="020B0503020204020204" pitchFamily="34" charset="-122"/>
                <a:ea typeface="微软雅黑" panose="020B0503020204020204" pitchFamily="34" charset="-122"/>
              </a:rPr>
              <a:t>在受控访问协议中，站点之间相互协商以确定哪个站有权发送，没有得到授权的站点无权发送数据。主要包括预约 </a:t>
            </a:r>
            <a:r>
              <a:rPr lang="en-US" altLang="zh-CN" sz="2000" b="0" i="0" baseline="0" dirty="0">
                <a:latin typeface="微软雅黑" panose="020B0503020204020204" pitchFamily="34" charset="-122"/>
                <a:ea typeface="微软雅黑" panose="020B0503020204020204" pitchFamily="34" charset="-122"/>
              </a:rPr>
              <a:t>(Reservation)</a:t>
            </a:r>
            <a:r>
              <a:rPr lang="zh-CN" altLang="en-US" sz="2000" b="0" i="0" baseline="0" dirty="0">
                <a:latin typeface="微软雅黑" panose="020B0503020204020204" pitchFamily="34" charset="-122"/>
                <a:ea typeface="微软雅黑" panose="020B0503020204020204" pitchFamily="34" charset="-122"/>
              </a:rPr>
              <a:t>、轮询 </a:t>
            </a:r>
            <a:r>
              <a:rPr lang="en-US" altLang="zh-CN" sz="2000" b="0" i="0" baseline="0" dirty="0">
                <a:latin typeface="微软雅黑" panose="020B0503020204020204" pitchFamily="34" charset="-122"/>
                <a:ea typeface="微软雅黑" panose="020B0503020204020204" pitchFamily="34" charset="-122"/>
              </a:rPr>
              <a:t>(</a:t>
            </a:r>
            <a:r>
              <a:rPr lang="fr-FR" altLang="zh-CN" sz="2000" b="0" i="0" baseline="0" dirty="0">
                <a:latin typeface="微软雅黑" panose="020B0503020204020204" pitchFamily="34" charset="-122"/>
                <a:ea typeface="微软雅黑" panose="020B0503020204020204" pitchFamily="34" charset="-122"/>
              </a:rPr>
              <a:t>Polling</a:t>
            </a:r>
            <a:r>
              <a:rPr lang="en-US" altLang="zh-CN" sz="2000" b="0" i="0" baseline="0" dirty="0">
                <a:latin typeface="微软雅黑" panose="020B0503020204020204" pitchFamily="34" charset="-122"/>
                <a:ea typeface="微软雅黑" panose="020B0503020204020204" pitchFamily="34" charset="-122"/>
              </a:rPr>
              <a:t>) </a:t>
            </a:r>
            <a:r>
              <a:rPr lang="zh-CN" altLang="en-US" sz="2000" b="0" i="0" baseline="0" dirty="0">
                <a:latin typeface="微软雅黑" panose="020B0503020204020204" pitchFamily="34" charset="-122"/>
                <a:ea typeface="微软雅黑" panose="020B0503020204020204" pitchFamily="34" charset="-122"/>
              </a:rPr>
              <a:t>和令牌 </a:t>
            </a:r>
            <a:r>
              <a:rPr lang="en-US" altLang="zh-CN" sz="2000" b="0" i="0" baseline="0" dirty="0">
                <a:latin typeface="微软雅黑" panose="020B0503020204020204" pitchFamily="34" charset="-122"/>
                <a:ea typeface="微软雅黑" panose="020B0503020204020204" pitchFamily="34" charset="-122"/>
              </a:rPr>
              <a:t>(Token Passing) </a:t>
            </a:r>
            <a:r>
              <a:rPr lang="zh-CN" altLang="en-US" sz="2000" b="0" i="0" baseline="0" dirty="0">
                <a:latin typeface="微软雅黑" panose="020B0503020204020204" pitchFamily="34" charset="-122"/>
                <a:ea typeface="微软雅黑" panose="020B0503020204020204" pitchFamily="34" charset="-122"/>
              </a:rPr>
              <a:t>三类受控访问协议。</a:t>
            </a:r>
            <a:endParaRPr lang="en-US" altLang="zh-CN" sz="2000" b="0" i="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Text Box 4">
            <a:extLst>
              <a:ext uri="{FF2B5EF4-FFF2-40B4-BE49-F238E27FC236}">
                <a16:creationId xmlns:a16="http://schemas.microsoft.com/office/drawing/2014/main" id="{1A3E5BD0-2954-4925-BF58-C04CC63097E1}"/>
              </a:ext>
            </a:extLst>
          </p:cNvPr>
          <p:cNvSpPr txBox="1">
            <a:spLocks noChangeArrowheads="1"/>
          </p:cNvSpPr>
          <p:nvPr/>
        </p:nvSpPr>
        <p:spPr bwMode="auto">
          <a:xfrm>
            <a:off x="4876800" y="2921169"/>
            <a:ext cx="22477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12.18  </a:t>
            </a:r>
            <a:r>
              <a:rPr lang="zh-CN" altLang="en-US" sz="1600" i="0" baseline="0" dirty="0">
                <a:ea typeface="宋体" panose="02010600030101010101" pitchFamily="2" charset="-122"/>
              </a:rPr>
              <a:t>预约访问协议</a:t>
            </a:r>
            <a:endParaRPr lang="en-US" altLang="zh-CN" sz="1600" i="0" baseline="0" dirty="0">
              <a:ea typeface="宋体" panose="02010600030101010101" pitchFamily="2" charset="-122"/>
            </a:endParaRPr>
          </a:p>
        </p:txBody>
      </p:sp>
      <p:pic>
        <p:nvPicPr>
          <p:cNvPr id="86023" name="Picture 7">
            <a:extLst>
              <a:ext uri="{FF2B5EF4-FFF2-40B4-BE49-F238E27FC236}">
                <a16:creationId xmlns:a16="http://schemas.microsoft.com/office/drawing/2014/main" id="{F129261F-556B-44B5-8333-D990A1BB3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7770" y="1143001"/>
            <a:ext cx="6556460" cy="152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a:extLst>
              <a:ext uri="{FF2B5EF4-FFF2-40B4-BE49-F238E27FC236}">
                <a16:creationId xmlns:a16="http://schemas.microsoft.com/office/drawing/2014/main" id="{C319F57F-294C-4803-91DA-5287E5EC84A0}"/>
              </a:ext>
            </a:extLst>
          </p:cNvPr>
          <p:cNvSpPr txBox="1">
            <a:spLocks noChangeArrowheads="1"/>
          </p:cNvSpPr>
          <p:nvPr/>
        </p:nvSpPr>
        <p:spPr bwMode="auto">
          <a:xfrm>
            <a:off x="4153044" y="6068179"/>
            <a:ext cx="36952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12.19  </a:t>
            </a:r>
            <a:r>
              <a:rPr lang="zh-CN" altLang="en-US" sz="1600" i="0" baseline="0" dirty="0">
                <a:ea typeface="宋体" panose="02010600030101010101" pitchFamily="2" charset="-122"/>
              </a:rPr>
              <a:t>轮询访问协议（选择和轮询）</a:t>
            </a:r>
            <a:endParaRPr lang="en-US" altLang="zh-CN" sz="1600" i="0" baseline="0" dirty="0">
              <a:ea typeface="宋体" panose="02010600030101010101" pitchFamily="2" charset="-122"/>
            </a:endParaRPr>
          </a:p>
        </p:txBody>
      </p:sp>
      <p:pic>
        <p:nvPicPr>
          <p:cNvPr id="9" name="Picture 7">
            <a:extLst>
              <a:ext uri="{FF2B5EF4-FFF2-40B4-BE49-F238E27FC236}">
                <a16:creationId xmlns:a16="http://schemas.microsoft.com/office/drawing/2014/main" id="{2E6D6F8A-44C5-40E8-BB03-F2AE3DBEBE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330" y="3598277"/>
            <a:ext cx="6807200" cy="246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7" name="Text Box 4">
            <a:extLst>
              <a:ext uri="{FF2B5EF4-FFF2-40B4-BE49-F238E27FC236}">
                <a16:creationId xmlns:a16="http://schemas.microsoft.com/office/drawing/2014/main" id="{9715F6E2-DEFD-4C66-9563-8E6D83CC5EB9}"/>
              </a:ext>
            </a:extLst>
          </p:cNvPr>
          <p:cNvSpPr txBox="1">
            <a:spLocks noChangeArrowheads="1"/>
          </p:cNvSpPr>
          <p:nvPr/>
        </p:nvSpPr>
        <p:spPr bwMode="auto">
          <a:xfrm>
            <a:off x="5178922" y="6062246"/>
            <a:ext cx="18341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12.20  </a:t>
            </a:r>
            <a:r>
              <a:rPr lang="zh-CN" altLang="en-US" sz="1600" i="0" baseline="0" dirty="0">
                <a:ea typeface="宋体" panose="02010600030101010101" pitchFamily="2" charset="-122"/>
              </a:rPr>
              <a:t>令牌传递</a:t>
            </a:r>
            <a:endParaRPr lang="en-US" altLang="zh-CN" sz="1600" i="0" baseline="0" dirty="0">
              <a:ea typeface="宋体" panose="02010600030101010101" pitchFamily="2" charset="-122"/>
            </a:endParaRPr>
          </a:p>
        </p:txBody>
      </p:sp>
      <p:pic>
        <p:nvPicPr>
          <p:cNvPr id="90119" name="Picture 7">
            <a:extLst>
              <a:ext uri="{FF2B5EF4-FFF2-40B4-BE49-F238E27FC236}">
                <a16:creationId xmlns:a16="http://schemas.microsoft.com/office/drawing/2014/main" id="{0D6EF03D-0E69-49B2-8593-26D798599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1464857"/>
            <a:ext cx="6111875" cy="433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591CB51D-D400-401A-A3D6-15C53AE6AFCD}"/>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1082371" name="Text Box 3">
            <a:extLst>
              <a:ext uri="{FF2B5EF4-FFF2-40B4-BE49-F238E27FC236}">
                <a16:creationId xmlns:a16="http://schemas.microsoft.com/office/drawing/2014/main" id="{67888A6C-22BF-49A6-900B-ECAF0CF510B8}"/>
              </a:ext>
            </a:extLst>
          </p:cNvPr>
          <p:cNvSpPr txBox="1">
            <a:spLocks noChangeArrowheads="1"/>
          </p:cNvSpPr>
          <p:nvPr/>
        </p:nvSpPr>
        <p:spPr bwMode="auto">
          <a:xfrm>
            <a:off x="533400" y="279112"/>
            <a:ext cx="3478837" cy="584775"/>
          </a:xfrm>
          <a:prstGeom prst="rect">
            <a:avLst/>
          </a:prstGeom>
          <a:noFill/>
          <a:ln>
            <a:noFill/>
          </a:ln>
          <a:effectLst/>
        </p:spPr>
        <p:txBody>
          <a:bodyPr wrap="none">
            <a:spAutoFit/>
          </a:bodyPr>
          <a:lstStyle/>
          <a:p>
            <a:pPr>
              <a:defRPr/>
            </a:pPr>
            <a:r>
              <a:rPr lang="en-US" altLang="zh-CN" sz="3200" i="0" baseline="0" dirty="0">
                <a:latin typeface="微软雅黑" panose="020B0503020204020204" pitchFamily="34" charset="-122"/>
                <a:ea typeface="微软雅黑" panose="020B0503020204020204" pitchFamily="34" charset="-122"/>
              </a:rPr>
              <a:t>12.3   </a:t>
            </a:r>
            <a:r>
              <a:rPr lang="zh-CN" altLang="en-US" sz="3200" i="0" baseline="0" dirty="0">
                <a:latin typeface="微软雅黑" panose="020B0503020204020204" pitchFamily="34" charset="-122"/>
                <a:ea typeface="微软雅黑" panose="020B0503020204020204" pitchFamily="34" charset="-122"/>
              </a:rPr>
              <a:t>通道化协议</a:t>
            </a:r>
            <a:endParaRPr lang="en-US" altLang="zh-CN" sz="3200" i="0" baseline="0" dirty="0">
              <a:latin typeface="微软雅黑" panose="020B0503020204020204" pitchFamily="34" charset="-122"/>
              <a:ea typeface="微软雅黑" panose="020B0503020204020204" pitchFamily="34" charset="-122"/>
            </a:endParaRPr>
          </a:p>
        </p:txBody>
      </p:sp>
      <p:sp>
        <p:nvSpPr>
          <p:cNvPr id="92165" name="Text Box 4">
            <a:extLst>
              <a:ext uri="{FF2B5EF4-FFF2-40B4-BE49-F238E27FC236}">
                <a16:creationId xmlns:a16="http://schemas.microsoft.com/office/drawing/2014/main" id="{A954B5A8-FD8E-44BF-B579-B83167F242B4}"/>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zh-CN" sz="1800" i="0" baseline="0">
              <a:ea typeface="宋体" panose="02010600030101010101" pitchFamily="2" charset="-122"/>
            </a:endParaRPr>
          </a:p>
        </p:txBody>
      </p:sp>
      <p:sp>
        <p:nvSpPr>
          <p:cNvPr id="92166" name="Rectangle 5">
            <a:extLst>
              <a:ext uri="{FF2B5EF4-FFF2-40B4-BE49-F238E27FC236}">
                <a16:creationId xmlns:a16="http://schemas.microsoft.com/office/drawing/2014/main" id="{38BA1FD7-EC4A-4391-81DF-DF447DCAE135}"/>
              </a:ext>
            </a:extLst>
          </p:cNvPr>
          <p:cNvSpPr>
            <a:spLocks noChangeArrowheads="1"/>
          </p:cNvSpPr>
          <p:nvPr/>
        </p:nvSpPr>
        <p:spPr bwMode="auto">
          <a:xfrm>
            <a:off x="1524000" y="1772580"/>
            <a:ext cx="9220200" cy="361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300000"/>
              </a:lnSpc>
              <a:buClr>
                <a:schemeClr val="tx1"/>
              </a:buClr>
              <a:buSzPct val="117000"/>
            </a:pPr>
            <a:r>
              <a:rPr lang="zh-CN" altLang="en-US" sz="2000" b="0" i="0" baseline="0" dirty="0">
                <a:latin typeface="微软雅黑" panose="020B0503020204020204" pitchFamily="34" charset="-122"/>
                <a:ea typeface="微软雅黑" panose="020B0503020204020204" pitchFamily="34" charset="-122"/>
              </a:rPr>
              <a:t>划分信道也是一种多路访问方法。不同站点之间在时间域、频率域或码域上正交化来共享信道，包括频分多址 </a:t>
            </a:r>
            <a:r>
              <a:rPr lang="en-US" altLang="zh-CN" sz="2000" b="0" i="0" baseline="0" dirty="0">
                <a:latin typeface="微软雅黑" panose="020B0503020204020204" pitchFamily="34" charset="-122"/>
                <a:ea typeface="微软雅黑" panose="020B0503020204020204" pitchFamily="34" charset="-122"/>
              </a:rPr>
              <a:t>FDMA (Frequency-Division Multiple Access)</a:t>
            </a:r>
            <a:r>
              <a:rPr lang="zh-CN" altLang="en-US" sz="2000" b="0" i="0" baseline="0" dirty="0">
                <a:latin typeface="微软雅黑" panose="020B0503020204020204" pitchFamily="34" charset="-122"/>
                <a:ea typeface="微软雅黑" panose="020B0503020204020204" pitchFamily="34" charset="-122"/>
              </a:rPr>
              <a:t>、时分多址 </a:t>
            </a:r>
            <a:r>
              <a:rPr lang="fr-FR" altLang="zh-CN" sz="2000" b="0" i="0" baseline="0" dirty="0">
                <a:latin typeface="微软雅黑" panose="020B0503020204020204" pitchFamily="34" charset="-122"/>
                <a:ea typeface="微软雅黑" panose="020B0503020204020204" pitchFamily="34" charset="-122"/>
              </a:rPr>
              <a:t>TDMA (Time-Division Multiple Access) </a:t>
            </a:r>
            <a:r>
              <a:rPr lang="zh-CN" altLang="en-US" sz="2000" b="0" i="0" baseline="0" dirty="0">
                <a:latin typeface="微软雅黑" panose="020B0503020204020204" pitchFamily="34" charset="-122"/>
                <a:ea typeface="微软雅黑" panose="020B0503020204020204" pitchFamily="34" charset="-122"/>
              </a:rPr>
              <a:t>和码分多址 </a:t>
            </a:r>
            <a:r>
              <a:rPr lang="fr-FR" altLang="zh-CN" sz="2000" b="0" i="0" baseline="0" dirty="0">
                <a:latin typeface="微软雅黑" panose="020B0503020204020204" pitchFamily="34" charset="-122"/>
                <a:ea typeface="微软雅黑" panose="020B0503020204020204" pitchFamily="34" charset="-122"/>
              </a:rPr>
              <a:t>CDMA (Code-Division Multiple Access) </a:t>
            </a:r>
            <a:r>
              <a:rPr lang="zh-CN" altLang="en-US" sz="2000" b="0" i="0" baseline="0" dirty="0">
                <a:latin typeface="微软雅黑" panose="020B0503020204020204" pitchFamily="34" charset="-122"/>
                <a:ea typeface="微软雅黑" panose="020B0503020204020204" pitchFamily="34" charset="-122"/>
              </a:rPr>
              <a:t>三种方式。</a:t>
            </a:r>
            <a:endParaRPr lang="en-US" altLang="zh-CN" sz="2000" b="0" i="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3" name="Text Box 4">
            <a:extLst>
              <a:ext uri="{FF2B5EF4-FFF2-40B4-BE49-F238E27FC236}">
                <a16:creationId xmlns:a16="http://schemas.microsoft.com/office/drawing/2014/main" id="{25CAE066-6688-45BA-B9A6-6583A3C3C549}"/>
              </a:ext>
            </a:extLst>
          </p:cNvPr>
          <p:cNvSpPr txBox="1">
            <a:spLocks noChangeArrowheads="1"/>
          </p:cNvSpPr>
          <p:nvPr/>
        </p:nvSpPr>
        <p:spPr bwMode="auto">
          <a:xfrm>
            <a:off x="5029200" y="5943600"/>
            <a:ext cx="2895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12.21 </a:t>
            </a:r>
            <a:r>
              <a:rPr lang="zh-CN" altLang="en-US" sz="1600" i="0" baseline="0" dirty="0">
                <a:ea typeface="宋体" panose="02010600030101010101" pitchFamily="2" charset="-122"/>
              </a:rPr>
              <a:t>频分多址</a:t>
            </a:r>
            <a:r>
              <a:rPr lang="en-US" altLang="zh-CN" sz="1600" i="0" baseline="0" dirty="0">
                <a:ea typeface="宋体" panose="02010600030101010101" pitchFamily="2" charset="-122"/>
              </a:rPr>
              <a:t>FDMA    </a:t>
            </a:r>
            <a:r>
              <a:rPr lang="en-US" altLang="zh-CN" sz="1600" baseline="0" dirty="0">
                <a:ea typeface="宋体" panose="02010600030101010101" pitchFamily="2" charset="-122"/>
              </a:rPr>
              <a:t>                  </a:t>
            </a:r>
            <a:endParaRPr lang="en-US" altLang="zh-CN" sz="1600" i="0" baseline="0" dirty="0">
              <a:ea typeface="宋体" panose="02010600030101010101" pitchFamily="2" charset="-122"/>
            </a:endParaRPr>
          </a:p>
        </p:txBody>
      </p:sp>
      <p:pic>
        <p:nvPicPr>
          <p:cNvPr id="94215" name="Picture 9">
            <a:extLst>
              <a:ext uri="{FF2B5EF4-FFF2-40B4-BE49-F238E27FC236}">
                <a16:creationId xmlns:a16="http://schemas.microsoft.com/office/drawing/2014/main" id="{E7371E88-7AD0-4295-B17C-14BDB8C7C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620520"/>
            <a:ext cx="6542462"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45EE8700-EA1C-474E-BC3E-E4CAE3C70541}"/>
              </a:ext>
            </a:extLst>
          </p:cNvPr>
          <p:cNvSpPr>
            <a:spLocks noChangeArrowheads="1"/>
          </p:cNvSpPr>
          <p:nvPr/>
        </p:nvSpPr>
        <p:spPr bwMode="auto">
          <a:xfrm>
            <a:off x="1524000" y="1117620"/>
            <a:ext cx="8077200" cy="369332"/>
          </a:xfrm>
          <a:prstGeom prst="rect">
            <a:avLst/>
          </a:prstGeom>
          <a:noFill/>
          <a:ln>
            <a:noFill/>
          </a:ln>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FDMA</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中，信道带宽在频域上被正交化，分割成若干子频带外加保护频带。</a:t>
            </a:r>
            <a:endPar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9" name="Text Box 4">
            <a:extLst>
              <a:ext uri="{FF2B5EF4-FFF2-40B4-BE49-F238E27FC236}">
                <a16:creationId xmlns:a16="http://schemas.microsoft.com/office/drawing/2014/main" id="{16640225-08E0-4647-A3C9-2F5CD940E691}"/>
              </a:ext>
            </a:extLst>
          </p:cNvPr>
          <p:cNvSpPr txBox="1">
            <a:spLocks noChangeArrowheads="1"/>
          </p:cNvSpPr>
          <p:nvPr/>
        </p:nvSpPr>
        <p:spPr bwMode="auto">
          <a:xfrm>
            <a:off x="4800600" y="6067326"/>
            <a:ext cx="3200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a:t>
            </a:r>
            <a:r>
              <a:rPr lang="en-US" altLang="zh-CN" sz="1600" i="0" baseline="0" dirty="0">
                <a:solidFill>
                  <a:schemeClr val="folHlink"/>
                </a:solidFill>
                <a:ea typeface="宋体" panose="02010600030101010101" pitchFamily="2" charset="-122"/>
              </a:rPr>
              <a:t> 12.22   </a:t>
            </a:r>
            <a:r>
              <a:rPr lang="zh-CN" altLang="en-US" sz="1600" i="0" baseline="0" dirty="0">
                <a:ea typeface="宋体" panose="02010600030101010101" pitchFamily="2" charset="-122"/>
              </a:rPr>
              <a:t>时分多址</a:t>
            </a:r>
            <a:r>
              <a:rPr lang="en-US" altLang="zh-CN" sz="1600" i="0" baseline="0" dirty="0">
                <a:ea typeface="宋体" panose="02010600030101010101" pitchFamily="2" charset="-122"/>
              </a:rPr>
              <a:t>TDMA</a:t>
            </a:r>
            <a:r>
              <a:rPr lang="zh-CN" altLang="en-US" sz="1600" i="0" baseline="0" dirty="0">
                <a:ea typeface="宋体" panose="02010600030101010101" pitchFamily="2" charset="-122"/>
              </a:rPr>
              <a:t>                     </a:t>
            </a:r>
            <a:endParaRPr lang="en-US" altLang="zh-CN" sz="1600" i="0" baseline="0" dirty="0">
              <a:ea typeface="宋体" panose="02010600030101010101" pitchFamily="2" charset="-122"/>
            </a:endParaRPr>
          </a:p>
        </p:txBody>
      </p:sp>
      <p:pic>
        <p:nvPicPr>
          <p:cNvPr id="98311" name="Picture 7">
            <a:extLst>
              <a:ext uri="{FF2B5EF4-FFF2-40B4-BE49-F238E27FC236}">
                <a16:creationId xmlns:a16="http://schemas.microsoft.com/office/drawing/2014/main" id="{BC74E608-E04B-433C-A727-6A1F35A88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7194" y="1752600"/>
            <a:ext cx="6297613" cy="417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CF5245FC-CDBC-4CB7-BA98-D0B12661E32D}"/>
              </a:ext>
            </a:extLst>
          </p:cNvPr>
          <p:cNvSpPr>
            <a:spLocks noChangeArrowheads="1"/>
          </p:cNvSpPr>
          <p:nvPr/>
        </p:nvSpPr>
        <p:spPr bwMode="auto">
          <a:xfrm>
            <a:off x="1600200" y="1126812"/>
            <a:ext cx="6689566" cy="36933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TDMA</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中，信道带宽在时间域上被正交化，分割成若干时隙。</a:t>
            </a:r>
            <a:endPar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A463612-954E-475F-8FBE-B8439EBEB9C9}"/>
              </a:ext>
            </a:extLst>
          </p:cNvPr>
          <p:cNvSpPr/>
          <p:nvPr/>
        </p:nvSpPr>
        <p:spPr bwMode="auto">
          <a:xfrm>
            <a:off x="6324600" y="1752600"/>
            <a:ext cx="4648200" cy="2902616"/>
          </a:xfrm>
          <a:prstGeom prst="rect">
            <a:avLst/>
          </a:prstGeom>
          <a:solidFill>
            <a:srgbClr val="D5F1FF"/>
          </a:solidFill>
          <a:ln w="9525" cap="flat" cmpd="sng" algn="ctr">
            <a:solidFill>
              <a:srgbClr val="97DC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1" u="none" strike="noStrike" cap="none" normalizeH="0" baseline="-10000">
              <a:ln>
                <a:noFill/>
              </a:ln>
              <a:solidFill>
                <a:schemeClr val="tx1"/>
              </a:solidFill>
              <a:effectLst/>
              <a:latin typeface="Times New Roman" pitchFamily="18" charset="0"/>
            </a:endParaRPr>
          </a:p>
        </p:txBody>
      </p:sp>
      <p:sp>
        <p:nvSpPr>
          <p:cNvPr id="104453" name="Text Box 4">
            <a:extLst>
              <a:ext uri="{FF2B5EF4-FFF2-40B4-BE49-F238E27FC236}">
                <a16:creationId xmlns:a16="http://schemas.microsoft.com/office/drawing/2014/main" id="{557EE2C2-00A0-4838-AB77-97FFBD655557}"/>
              </a:ext>
            </a:extLst>
          </p:cNvPr>
          <p:cNvSpPr txBox="1">
            <a:spLocks noChangeArrowheads="1"/>
          </p:cNvSpPr>
          <p:nvPr/>
        </p:nvSpPr>
        <p:spPr bwMode="auto">
          <a:xfrm>
            <a:off x="2570448" y="4378217"/>
            <a:ext cx="23391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200" i="0" baseline="0" dirty="0">
                <a:solidFill>
                  <a:schemeClr val="folHlink"/>
                </a:solidFill>
                <a:ea typeface="宋体" panose="02010600030101010101" pitchFamily="2" charset="-122"/>
              </a:rPr>
              <a:t>图</a:t>
            </a:r>
            <a:r>
              <a:rPr lang="en-US" altLang="zh-CN" sz="1200" i="0" baseline="0" dirty="0">
                <a:solidFill>
                  <a:schemeClr val="folHlink"/>
                </a:solidFill>
                <a:ea typeface="宋体" panose="02010600030101010101" pitchFamily="2" charset="-122"/>
              </a:rPr>
              <a:t> 12.23  </a:t>
            </a:r>
            <a:r>
              <a:rPr lang="zh-CN" altLang="en-US" sz="1200" i="0" baseline="0" dirty="0">
                <a:ea typeface="宋体" panose="02010600030101010101" pitchFamily="2" charset="-122"/>
              </a:rPr>
              <a:t>编码通信的简单示意图</a:t>
            </a:r>
            <a:endParaRPr lang="en-US" altLang="zh-CN" sz="1200" i="0" baseline="0" dirty="0">
              <a:ea typeface="宋体" panose="02010600030101010101" pitchFamily="2" charset="-122"/>
            </a:endParaRPr>
          </a:p>
        </p:txBody>
      </p:sp>
      <p:pic>
        <p:nvPicPr>
          <p:cNvPr id="104455" name="Picture 7">
            <a:extLst>
              <a:ext uri="{FF2B5EF4-FFF2-40B4-BE49-F238E27FC236}">
                <a16:creationId xmlns:a16="http://schemas.microsoft.com/office/drawing/2014/main" id="{134B9F93-33FA-411D-877F-E6EFE8487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860505"/>
            <a:ext cx="3974798" cy="2354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EE603056-B6A4-438B-8155-B3801CF88513}"/>
              </a:ext>
            </a:extLst>
          </p:cNvPr>
          <p:cNvSpPr>
            <a:spLocks noChangeArrowheads="1"/>
          </p:cNvSpPr>
          <p:nvPr/>
        </p:nvSpPr>
        <p:spPr bwMode="auto">
          <a:xfrm>
            <a:off x="1415058" y="1058738"/>
            <a:ext cx="9829800" cy="45890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lnSpc>
                <a:spcPct val="150000"/>
              </a:lnSpc>
            </a:pPr>
            <a:r>
              <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rPr>
              <a:t>CDMA</a:t>
            </a:r>
            <a:r>
              <a:rPr lang="zh-CN" altLang="en-US" sz="1800" b="0" i="0" baseline="0" dirty="0">
                <a:latin typeface="微软雅黑" panose="020B0503020204020204" pitchFamily="34" charset="-122"/>
                <a:ea typeface="微软雅黑" panose="020B0503020204020204" pitchFamily="34" charset="-122"/>
                <a:cs typeface="Times New Roman" panose="02020603050405020304" pitchFamily="18" charset="0"/>
              </a:rPr>
              <a:t>中，信道带宽在码域上被正交化，各站采用正交化的扩频码在共享信道中同时传输。</a:t>
            </a:r>
            <a:endParaRPr lang="en-US" altLang="zh-CN" sz="1800" b="0" i="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Text Box 4">
            <a:extLst>
              <a:ext uri="{FF2B5EF4-FFF2-40B4-BE49-F238E27FC236}">
                <a16:creationId xmlns:a16="http://schemas.microsoft.com/office/drawing/2014/main" id="{EAD9F47E-D2FE-4DA6-A729-EAE66F8FC3D2}"/>
              </a:ext>
            </a:extLst>
          </p:cNvPr>
          <p:cNvSpPr txBox="1">
            <a:spLocks noChangeArrowheads="1"/>
          </p:cNvSpPr>
          <p:nvPr/>
        </p:nvSpPr>
        <p:spPr bwMode="auto">
          <a:xfrm>
            <a:off x="5029201" y="5976446"/>
            <a:ext cx="203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200" i="0" baseline="0" dirty="0">
                <a:solidFill>
                  <a:schemeClr val="folHlink"/>
                </a:solidFill>
                <a:ea typeface="宋体" panose="02010600030101010101" pitchFamily="2" charset="-122"/>
              </a:rPr>
              <a:t>图</a:t>
            </a:r>
            <a:r>
              <a:rPr lang="en-US" altLang="zh-CN" sz="1200" i="0" baseline="0" dirty="0">
                <a:solidFill>
                  <a:schemeClr val="folHlink"/>
                </a:solidFill>
                <a:ea typeface="宋体" panose="02010600030101010101" pitchFamily="2" charset="-122"/>
              </a:rPr>
              <a:t> 12.24  </a:t>
            </a:r>
            <a:r>
              <a:rPr lang="zh-CN" altLang="en-US" sz="1200" i="0" baseline="0" dirty="0">
                <a:ea typeface="宋体" panose="02010600030101010101" pitchFamily="2" charset="-122"/>
              </a:rPr>
              <a:t>正交化的码片序列</a:t>
            </a:r>
            <a:endParaRPr lang="en-US" altLang="zh-CN" sz="1200" i="0" baseline="0" dirty="0">
              <a:ea typeface="宋体" panose="02010600030101010101" pitchFamily="2" charset="-122"/>
            </a:endParaRPr>
          </a:p>
        </p:txBody>
      </p:sp>
      <p:pic>
        <p:nvPicPr>
          <p:cNvPr id="7" name="Picture 7">
            <a:extLst>
              <a:ext uri="{FF2B5EF4-FFF2-40B4-BE49-F238E27FC236}">
                <a16:creationId xmlns:a16="http://schemas.microsoft.com/office/drawing/2014/main" id="{97D02062-56BE-453C-B496-82DD9ADA82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7572" y="4985692"/>
            <a:ext cx="6709569" cy="66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7">
            <a:extLst>
              <a:ext uri="{FF2B5EF4-FFF2-40B4-BE49-F238E27FC236}">
                <a16:creationId xmlns:a16="http://schemas.microsoft.com/office/drawing/2014/main" id="{32E455FE-3594-419D-A722-A87F80B43BB7}"/>
              </a:ext>
            </a:extLst>
          </p:cNvPr>
          <p:cNvSpPr txBox="1">
            <a:spLocks noChangeArrowheads="1"/>
          </p:cNvSpPr>
          <p:nvPr/>
        </p:nvSpPr>
        <p:spPr bwMode="auto">
          <a:xfrm>
            <a:off x="6553200" y="1774144"/>
            <a:ext cx="4800600" cy="269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nSpc>
                <a:spcPct val="250000"/>
              </a:lnSpc>
              <a:buClr>
                <a:srgbClr val="FF0000"/>
              </a:buClr>
              <a:buSzPct val="80000"/>
              <a:buFont typeface="Wingdings" panose="05000000000000000000" pitchFamily="2" charset="2"/>
              <a:buChar char="u"/>
            </a:pPr>
            <a:r>
              <a:rPr lang="zh-CN" altLang="en-US" sz="1400" b="0" i="0" baseline="0" dirty="0">
                <a:latin typeface="微软雅黑" panose="020B0503020204020204" pitchFamily="34" charset="-122"/>
                <a:ea typeface="微软雅黑" panose="020B0503020204020204" pitchFamily="34" charset="-122"/>
              </a:rPr>
              <a:t> 两个不同编码相乘得</a:t>
            </a:r>
            <a:r>
              <a:rPr lang="en-US" altLang="zh-CN" sz="1400" b="0" i="0" baseline="0" dirty="0">
                <a:latin typeface="微软雅黑" panose="020B0503020204020204" pitchFamily="34" charset="-122"/>
                <a:ea typeface="微软雅黑" panose="020B0503020204020204" pitchFamily="34" charset="-122"/>
              </a:rPr>
              <a:t>0</a:t>
            </a:r>
          </a:p>
          <a:p>
            <a:pPr>
              <a:lnSpc>
                <a:spcPct val="250000"/>
              </a:lnSpc>
              <a:buClr>
                <a:srgbClr val="FF0000"/>
              </a:buClr>
              <a:buSzPct val="80000"/>
              <a:buFont typeface="Wingdings" panose="05000000000000000000" pitchFamily="2" charset="2"/>
              <a:buChar char="u"/>
            </a:pPr>
            <a:r>
              <a:rPr lang="zh-CN" altLang="en-US" sz="1400" b="0" i="0" baseline="0" dirty="0">
                <a:latin typeface="微软雅黑" panose="020B0503020204020204" pitchFamily="34" charset="-122"/>
                <a:ea typeface="微软雅黑" panose="020B0503020204020204" pitchFamily="34" charset="-122"/>
              </a:rPr>
              <a:t> 编码自身相乘得</a:t>
            </a:r>
            <a:r>
              <a:rPr lang="en-US" altLang="zh-CN" sz="1400" b="0" i="0" baseline="0" dirty="0">
                <a:latin typeface="微软雅黑" panose="020B0503020204020204" pitchFamily="34" charset="-122"/>
                <a:ea typeface="微软雅黑" panose="020B0503020204020204" pitchFamily="34" charset="-122"/>
              </a:rPr>
              <a:t>4</a:t>
            </a:r>
          </a:p>
          <a:p>
            <a:pPr>
              <a:lnSpc>
                <a:spcPct val="250000"/>
              </a:lnSpc>
              <a:buClr>
                <a:srgbClr val="FF0000"/>
              </a:buClr>
              <a:buSzPct val="80000"/>
              <a:buFont typeface="Wingdings" panose="05000000000000000000" pitchFamily="2" charset="2"/>
              <a:buChar char="u"/>
            </a:pPr>
            <a:r>
              <a:rPr lang="zh-CN" altLang="en-US" sz="1400" b="0" i="0" baseline="0" dirty="0">
                <a:latin typeface="微软雅黑" panose="020B0503020204020204" pitchFamily="34" charset="-122"/>
                <a:ea typeface="微软雅黑" panose="020B0503020204020204" pitchFamily="34" charset="-122"/>
              </a:rPr>
              <a:t> 通道上的数据是所有站点数据与编码乘积之和</a:t>
            </a:r>
            <a:endParaRPr lang="en-US" altLang="zh-CN" sz="1400" b="0" i="0" baseline="0" dirty="0">
              <a:latin typeface="微软雅黑" panose="020B0503020204020204" pitchFamily="34" charset="-122"/>
              <a:ea typeface="微软雅黑" panose="020B0503020204020204" pitchFamily="34" charset="-122"/>
            </a:endParaRPr>
          </a:p>
          <a:p>
            <a:pPr>
              <a:lnSpc>
                <a:spcPct val="250000"/>
              </a:lnSpc>
              <a:buClr>
                <a:srgbClr val="FF0000"/>
              </a:buClr>
              <a:buSzPct val="80000"/>
              <a:buFont typeface="Wingdings" panose="05000000000000000000" pitchFamily="2" charset="2"/>
              <a:buChar char="u"/>
            </a:pPr>
            <a:r>
              <a:rPr lang="zh-CN" altLang="en-US" sz="1400" b="0" i="0" baseline="0" dirty="0">
                <a:latin typeface="微软雅黑" panose="020B0503020204020204" pitchFamily="34" charset="-122"/>
                <a:ea typeface="微软雅黑" panose="020B0503020204020204" pitchFamily="34" charset="-122"/>
              </a:rPr>
              <a:t> 接收的数据是发送方编码和数据的乘积</a:t>
            </a:r>
            <a:endParaRPr lang="en-US" altLang="zh-CN" sz="1400" b="0" i="0" baseline="0" dirty="0">
              <a:latin typeface="微软雅黑" panose="020B0503020204020204" pitchFamily="34" charset="-122"/>
              <a:ea typeface="微软雅黑" panose="020B0503020204020204" pitchFamily="34" charset="-122"/>
            </a:endParaRPr>
          </a:p>
          <a:p>
            <a:pPr>
              <a:lnSpc>
                <a:spcPct val="250000"/>
              </a:lnSpc>
              <a:buClr>
                <a:srgbClr val="FF0000"/>
              </a:buClr>
              <a:buSzPct val="80000"/>
              <a:buFont typeface="Wingdings" panose="05000000000000000000" pitchFamily="2" charset="2"/>
              <a:buChar char="u"/>
            </a:pPr>
            <a:r>
              <a:rPr lang="zh-CN" altLang="en-US" sz="1400" b="0" i="0" baseline="0" dirty="0">
                <a:latin typeface="微软雅黑" panose="020B0503020204020204" pitchFamily="34" charset="-122"/>
                <a:ea typeface="微软雅黑" panose="020B0503020204020204" pitchFamily="34" charset="-122"/>
              </a:rPr>
              <a:t> 编码选择正交序列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5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9" grpId="0"/>
    </p:bld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0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0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6047</TotalTime>
  <Words>2761</Words>
  <Application>Microsoft Office PowerPoint</Application>
  <PresentationFormat>宽屏</PresentationFormat>
  <Paragraphs>187</Paragraphs>
  <Slides>36</Slides>
  <Notes>31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44" baseType="lpstr">
      <vt:lpstr>McGrawHill-Italic</vt:lpstr>
      <vt:lpstr>宋体</vt:lpstr>
      <vt:lpstr>微软雅黑</vt:lpstr>
      <vt:lpstr>Tahoma</vt:lpstr>
      <vt:lpstr>Times New Roman</vt:lpstr>
      <vt:lpstr>Wingdings</vt:lpstr>
      <vt:lpstr>Blends</vt:lpstr>
      <vt:lpstr>Microsoft Visio 2003-2010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传播(propagation) &amp; 传输(transmission)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GY</cp:lastModifiedBy>
  <cp:revision>393</cp:revision>
  <dcterms:created xsi:type="dcterms:W3CDTF">2000-01-15T04:50:39Z</dcterms:created>
  <dcterms:modified xsi:type="dcterms:W3CDTF">2025-05-08T12:20:00Z</dcterms:modified>
</cp:coreProperties>
</file>