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4175" r:id="rId2"/>
  </p:sldMasterIdLst>
  <p:notesMasterIdLst>
    <p:notesMasterId r:id="rId59"/>
  </p:notesMasterIdLst>
  <p:handoutMasterIdLst>
    <p:handoutMasterId r:id="rId60"/>
  </p:handoutMasterIdLst>
  <p:sldIdLst>
    <p:sldId id="1200" r:id="rId3"/>
    <p:sldId id="1201" r:id="rId4"/>
    <p:sldId id="854" r:id="rId5"/>
    <p:sldId id="829" r:id="rId6"/>
    <p:sldId id="421" r:id="rId7"/>
    <p:sldId id="423" r:id="rId8"/>
    <p:sldId id="483" r:id="rId9"/>
    <p:sldId id="1199" r:id="rId10"/>
    <p:sldId id="437" r:id="rId11"/>
    <p:sldId id="535" r:id="rId12"/>
    <p:sldId id="778" r:id="rId13"/>
    <p:sldId id="780" r:id="rId14"/>
    <p:sldId id="746" r:id="rId15"/>
    <p:sldId id="847" r:id="rId16"/>
    <p:sldId id="755" r:id="rId17"/>
    <p:sldId id="808" r:id="rId18"/>
    <p:sldId id="846" r:id="rId19"/>
    <p:sldId id="809" r:id="rId20"/>
    <p:sldId id="782" r:id="rId21"/>
    <p:sldId id="811" r:id="rId22"/>
    <p:sldId id="852" r:id="rId23"/>
    <p:sldId id="784" r:id="rId24"/>
    <p:sldId id="813" r:id="rId25"/>
    <p:sldId id="758" r:id="rId26"/>
    <p:sldId id="815" r:id="rId27"/>
    <p:sldId id="747" r:id="rId28"/>
    <p:sldId id="817" r:id="rId29"/>
    <p:sldId id="801" r:id="rId30"/>
    <p:sldId id="759" r:id="rId31"/>
    <p:sldId id="818" r:id="rId32"/>
    <p:sldId id="760" r:id="rId33"/>
    <p:sldId id="836" r:id="rId34"/>
    <p:sldId id="853" r:id="rId35"/>
    <p:sldId id="789" r:id="rId36"/>
    <p:sldId id="761" r:id="rId37"/>
    <p:sldId id="803" r:id="rId38"/>
    <p:sldId id="819" r:id="rId39"/>
    <p:sldId id="820" r:id="rId40"/>
    <p:sldId id="762" r:id="rId41"/>
    <p:sldId id="748" r:id="rId42"/>
    <p:sldId id="848" r:id="rId43"/>
    <p:sldId id="763" r:id="rId44"/>
    <p:sldId id="764" r:id="rId45"/>
    <p:sldId id="765" r:id="rId46"/>
    <p:sldId id="770" r:id="rId47"/>
    <p:sldId id="771" r:id="rId48"/>
    <p:sldId id="842" r:id="rId49"/>
    <p:sldId id="793" r:id="rId50"/>
    <p:sldId id="850" r:id="rId51"/>
    <p:sldId id="796" r:id="rId52"/>
    <p:sldId id="830" r:id="rId53"/>
    <p:sldId id="749" r:id="rId54"/>
    <p:sldId id="824" r:id="rId55"/>
    <p:sldId id="773" r:id="rId56"/>
    <p:sldId id="797" r:id="rId57"/>
    <p:sldId id="774" r:id="rId58"/>
  </p:sldIdLst>
  <p:sldSz cx="12192000" cy="6858000"/>
  <p:notesSz cx="6858000" cy="9144000"/>
  <p:defaultTex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 Y"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BDFEB"/>
    <a:srgbClr val="F466BA"/>
    <a:srgbClr val="FBE5D6"/>
    <a:srgbClr val="CCECFF"/>
    <a:srgbClr val="C49500"/>
    <a:srgbClr val="FFD5D5"/>
    <a:srgbClr val="FFB9B9"/>
    <a:srgbClr val="FFCCFF"/>
    <a:srgbClr val="FFEFFF"/>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95" autoAdjust="0"/>
    <p:restoredTop sz="76529" autoAdjust="0"/>
  </p:normalViewPr>
  <p:slideViewPr>
    <p:cSldViewPr>
      <p:cViewPr varScale="1">
        <p:scale>
          <a:sx n="62" d="100"/>
          <a:sy n="62" d="100"/>
        </p:scale>
        <p:origin x="725" y="67"/>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53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commentAuthors" Target="commentAuthor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B8BC6618-F861-473B-93F1-BE7402DAFE7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zh-CN" altLang="en-US"/>
          </a:p>
        </p:txBody>
      </p:sp>
      <p:sp>
        <p:nvSpPr>
          <p:cNvPr id="3" name="日期占位符 2">
            <a:extLst>
              <a:ext uri="{FF2B5EF4-FFF2-40B4-BE49-F238E27FC236}">
                <a16:creationId xmlns:a16="http://schemas.microsoft.com/office/drawing/2014/main" id="{D3C5986A-F286-441B-BC9B-63FB2DE42742}"/>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D2AAA96C-AB1E-4679-B6C0-BB158C63952D}" type="datetimeFigureOut">
              <a:rPr lang="zh-CN" altLang="en-US"/>
              <a:pPr>
                <a:defRPr/>
              </a:pPr>
              <a:t>2025-04-17</a:t>
            </a:fld>
            <a:endParaRPr lang="zh-CN" altLang="en-US"/>
          </a:p>
        </p:txBody>
      </p:sp>
      <p:sp>
        <p:nvSpPr>
          <p:cNvPr id="4" name="页脚占位符 3">
            <a:extLst>
              <a:ext uri="{FF2B5EF4-FFF2-40B4-BE49-F238E27FC236}">
                <a16:creationId xmlns:a16="http://schemas.microsoft.com/office/drawing/2014/main" id="{468A9392-5746-418E-B9DB-1A42D02DD8F0}"/>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zh-CN" altLang="en-US"/>
          </a:p>
        </p:txBody>
      </p:sp>
      <p:sp>
        <p:nvSpPr>
          <p:cNvPr id="5" name="灯片编号占位符 4">
            <a:extLst>
              <a:ext uri="{FF2B5EF4-FFF2-40B4-BE49-F238E27FC236}">
                <a16:creationId xmlns:a16="http://schemas.microsoft.com/office/drawing/2014/main" id="{77BC1579-9B27-4A6A-B7DA-B5C180A95A6A}"/>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14173C2F-9CA9-4D5B-BB8C-715AD78DE7BA}"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52322" name="Rectangle 2">
            <a:extLst>
              <a:ext uri="{FF2B5EF4-FFF2-40B4-BE49-F238E27FC236}">
                <a16:creationId xmlns:a16="http://schemas.microsoft.com/office/drawing/2014/main" id="{82D4036A-1727-41B4-88D6-C9C2E5F1D5AE}"/>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b="0">
                <a:latin typeface="Times New Roman" pitchFamily="18" charset="0"/>
              </a:defRPr>
            </a:lvl1pPr>
          </a:lstStyle>
          <a:p>
            <a:pPr>
              <a:defRPr/>
            </a:pPr>
            <a:endParaRPr lang="en-US" altLang="zh-CN"/>
          </a:p>
        </p:txBody>
      </p:sp>
      <p:sp>
        <p:nvSpPr>
          <p:cNvPr id="952323" name="Rectangle 3">
            <a:extLst>
              <a:ext uri="{FF2B5EF4-FFF2-40B4-BE49-F238E27FC236}">
                <a16:creationId xmlns:a16="http://schemas.microsoft.com/office/drawing/2014/main" id="{05CA0523-B6DE-4E7C-9CF9-463EDD102387}"/>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itchFamily="18" charset="0"/>
              </a:defRPr>
            </a:lvl1pPr>
          </a:lstStyle>
          <a:p>
            <a:pPr>
              <a:defRPr/>
            </a:pPr>
            <a:endParaRPr lang="en-US" altLang="zh-CN"/>
          </a:p>
        </p:txBody>
      </p:sp>
      <p:sp>
        <p:nvSpPr>
          <p:cNvPr id="4100" name="Rectangle 4">
            <a:extLst>
              <a:ext uri="{FF2B5EF4-FFF2-40B4-BE49-F238E27FC236}">
                <a16:creationId xmlns:a16="http://schemas.microsoft.com/office/drawing/2014/main" id="{2E801729-6D6A-43C5-B638-577E75C905EE}"/>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25" name="Rectangle 5">
            <a:extLst>
              <a:ext uri="{FF2B5EF4-FFF2-40B4-BE49-F238E27FC236}">
                <a16:creationId xmlns:a16="http://schemas.microsoft.com/office/drawing/2014/main" id="{08639E05-2C64-465C-A990-BAB537EDD38F}"/>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952326" name="Rectangle 6">
            <a:extLst>
              <a:ext uri="{FF2B5EF4-FFF2-40B4-BE49-F238E27FC236}">
                <a16:creationId xmlns:a16="http://schemas.microsoft.com/office/drawing/2014/main" id="{299E111A-E9CA-4799-9D32-AE17953CC29F}"/>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b="0">
                <a:latin typeface="Times New Roman" pitchFamily="18" charset="0"/>
              </a:defRPr>
            </a:lvl1pPr>
          </a:lstStyle>
          <a:p>
            <a:pPr>
              <a:defRPr/>
            </a:pPr>
            <a:endParaRPr lang="en-US" altLang="zh-CN"/>
          </a:p>
        </p:txBody>
      </p:sp>
      <p:sp>
        <p:nvSpPr>
          <p:cNvPr id="952327" name="Rectangle 7">
            <a:extLst>
              <a:ext uri="{FF2B5EF4-FFF2-40B4-BE49-F238E27FC236}">
                <a16:creationId xmlns:a16="http://schemas.microsoft.com/office/drawing/2014/main" id="{6C1977F7-78ED-47F3-8107-71B3FBBE96E7}"/>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pPr>
              <a:defRPr/>
            </a:pPr>
            <a:fld id="{428A04EB-CB46-413C-87C1-41DA1552EFA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以太网是一种为多台计算机能够彼此自由和廉价地相互通信而设计的通信技术，它的原型如图所示。从图上不难看出，这种网络的本质其实就是一根网线。图上还有一种叫作收发器的小设备，它的功能只是将不同网线之间的信号连接起来而已。因此，当一台计算机发送信号时，信号就会通过网线流过整个网络，最终到达所有的设备。</a:t>
            </a:r>
            <a:endParaRPr lang="en-US" altLang="zh-CN" dirty="0"/>
          </a:p>
          <a:p>
            <a:r>
              <a:rPr lang="zh-CN" altLang="en-US" dirty="0"/>
              <a:t>如同待在一个大房间里，任何一个人说话，所有人都能够听到，同样地，这种网络中任何一台设备发送的信号所有设备都能接收到。不过，我们无法判断一个信号到底是发给谁的，因此需要在信号的开头加上接收者的信息，也就是地址。这样一来就能够判断信号的接收者了，与接收者地址匹配的设备就接收这个包，其他的设备则丢弃这个包，这样我们的包就送到指定设备。</a:t>
            </a:r>
          </a:p>
        </p:txBody>
      </p:sp>
      <p:sp>
        <p:nvSpPr>
          <p:cNvPr id="4" name="灯片编号占位符 3"/>
          <p:cNvSpPr>
            <a:spLocks noGrp="1"/>
          </p:cNvSpPr>
          <p:nvPr>
            <p:ph type="sldNum" sz="quarter" idx="5"/>
          </p:nvPr>
        </p:nvSpPr>
        <p:spPr/>
        <p:txBody>
          <a:bodyPr/>
          <a:lstStyle/>
          <a:p>
            <a:pPr>
              <a:defRPr/>
            </a:pPr>
            <a:fld id="{428A04EB-CB46-413C-87C1-41DA1552EFA8}" type="slidenum">
              <a:rPr lang="en-US" altLang="zh-CN" smtClean="0"/>
              <a:pPr>
                <a:defRPr/>
              </a:pPr>
              <a:t>3</a:t>
            </a:fld>
            <a:endParaRPr lang="en-US" altLang="zh-CN"/>
          </a:p>
        </p:txBody>
      </p:sp>
    </p:spTree>
    <p:extLst>
      <p:ext uri="{BB962C8B-B14F-4D97-AF65-F5344CB8AC3E}">
        <p14:creationId xmlns:p14="http://schemas.microsoft.com/office/powerpoint/2010/main" val="146733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algn="just">
              <a:lnSpc>
                <a:spcPct val="150000"/>
              </a:lnSpc>
            </a:pPr>
            <a:r>
              <a:rPr lang="zh-CN" altLang="en-US" sz="1200" b="0" i="0" baseline="0" dirty="0">
                <a:latin typeface="微软雅黑" panose="020B0503020204020204" pitchFamily="34" charset="-122"/>
                <a:ea typeface="微软雅黑" panose="020B0503020204020204" pitchFamily="34" charset="-122"/>
              </a:rPr>
              <a:t>网络层的数据报只是存放在内存中的一串数字信息，无法直接发送给对方。因此需要将数字信息转换为电信号或光信号，才能在电缆或光缆上传输，这才是真正的数据发送过程。</a:t>
            </a:r>
            <a:endParaRPr lang="en-US" altLang="zh-CN" sz="1200" b="0" i="0" baseline="0" dirty="0">
              <a:latin typeface="微软雅黑" panose="020B0503020204020204" pitchFamily="34" charset="-122"/>
              <a:ea typeface="微软雅黑" panose="020B0503020204020204" pitchFamily="34" charset="-122"/>
            </a:endParaRPr>
          </a:p>
          <a:p>
            <a:pPr algn="just">
              <a:lnSpc>
                <a:spcPct val="150000"/>
              </a:lnSpc>
            </a:pPr>
            <a:endParaRPr lang="en-US" altLang="zh-CN" sz="600" b="0" i="0" baseline="0" dirty="0">
              <a:latin typeface="微软雅黑" panose="020B0503020204020204" pitchFamily="34" charset="-122"/>
              <a:ea typeface="微软雅黑" panose="020B0503020204020204" pitchFamily="34" charset="-122"/>
            </a:endParaRPr>
          </a:p>
          <a:p>
            <a:pPr algn="just">
              <a:lnSpc>
                <a:spcPct val="150000"/>
              </a:lnSpc>
            </a:pPr>
            <a:r>
              <a:rPr lang="zh-CN" altLang="en-US" sz="1200" b="0" i="0" baseline="0" dirty="0">
                <a:latin typeface="微软雅黑" panose="020B0503020204020204" pitchFamily="34" charset="-122"/>
                <a:ea typeface="微软雅黑" panose="020B0503020204020204" pitchFamily="34" charset="-122"/>
              </a:rPr>
              <a:t>负责执行这一操作的是网卡，网卡无法单独工作，要控制网卡还需要网卡驱动程序。网卡的</a:t>
            </a:r>
            <a:r>
              <a:rPr lang="en-US" altLang="zh-CN" sz="1200" b="0" i="0" baseline="0" dirty="0">
                <a:latin typeface="微软雅黑" panose="020B0503020204020204" pitchFamily="34" charset="-122"/>
                <a:ea typeface="微软雅黑" panose="020B0503020204020204" pitchFamily="34" charset="-122"/>
              </a:rPr>
              <a:t>ROM</a:t>
            </a:r>
            <a:r>
              <a:rPr lang="zh-CN" altLang="en-US" sz="1200" b="0" i="0" baseline="0" dirty="0">
                <a:latin typeface="微软雅黑" panose="020B0503020204020204" pitchFamily="34" charset="-122"/>
                <a:ea typeface="微软雅黑" panose="020B0503020204020204" pitchFamily="34" charset="-122"/>
              </a:rPr>
              <a:t>中保存着全球唯一的</a:t>
            </a:r>
            <a:r>
              <a:rPr lang="en-US" altLang="zh-CN" sz="1200" b="0" i="0" baseline="0" dirty="0">
                <a:latin typeface="微软雅黑" panose="020B0503020204020204" pitchFamily="34" charset="-122"/>
                <a:ea typeface="微软雅黑" panose="020B0503020204020204" pitchFamily="34" charset="-122"/>
              </a:rPr>
              <a:t>MAC</a:t>
            </a:r>
            <a:r>
              <a:rPr lang="zh-CN" altLang="en-US" sz="1200" b="0" i="0" baseline="0" dirty="0">
                <a:latin typeface="微软雅黑" panose="020B0503020204020204" pitchFamily="34" charset="-122"/>
                <a:ea typeface="微软雅黑" panose="020B0503020204020204" pitchFamily="34" charset="-122"/>
              </a:rPr>
              <a:t>地址，这是生产网卡时写入的。网卡中保存的</a:t>
            </a:r>
            <a:r>
              <a:rPr lang="en-US" altLang="zh-CN" sz="1200" b="0" i="0" baseline="0" dirty="0">
                <a:latin typeface="微软雅黑" panose="020B0503020204020204" pitchFamily="34" charset="-122"/>
                <a:ea typeface="微软雅黑" panose="020B0503020204020204" pitchFamily="34" charset="-122"/>
              </a:rPr>
              <a:t>MAC</a:t>
            </a:r>
            <a:r>
              <a:rPr lang="zh-CN" altLang="en-US" sz="1200" b="0" i="0" baseline="0" dirty="0">
                <a:latin typeface="微软雅黑" panose="020B0503020204020204" pitchFamily="34" charset="-122"/>
                <a:ea typeface="微软雅黑" panose="020B0503020204020204" pitchFamily="34" charset="-122"/>
              </a:rPr>
              <a:t>地址会由网卡驱动程序读取并分配给</a:t>
            </a:r>
            <a:r>
              <a:rPr lang="en-US" altLang="zh-CN" sz="1200" b="0" i="0" baseline="0" dirty="0">
                <a:latin typeface="微软雅黑" panose="020B0503020204020204" pitchFamily="34" charset="-122"/>
                <a:ea typeface="微软雅黑" panose="020B0503020204020204" pitchFamily="34" charset="-122"/>
              </a:rPr>
              <a:t>MAC</a:t>
            </a:r>
            <a:r>
              <a:rPr lang="zh-CN" altLang="en-US" sz="1200" b="0" i="0" baseline="0" dirty="0">
                <a:latin typeface="微软雅黑" panose="020B0503020204020204" pitchFamily="34" charset="-122"/>
                <a:ea typeface="微软雅黑" panose="020B0503020204020204" pitchFamily="34" charset="-122"/>
              </a:rPr>
              <a:t>模块。</a:t>
            </a:r>
            <a:endParaRPr lang="en-US" altLang="zh-CN" sz="1200" b="0" i="0" baseline="0" dirty="0">
              <a:latin typeface="微软雅黑" panose="020B0503020204020204" pitchFamily="34" charset="-122"/>
              <a:ea typeface="微软雅黑" panose="020B0503020204020204" pitchFamily="34" charset="-122"/>
            </a:endParaRPr>
          </a:p>
          <a:p>
            <a:pPr algn="just">
              <a:lnSpc>
                <a:spcPct val="150000"/>
              </a:lnSpc>
            </a:pPr>
            <a:endParaRPr lang="en-US" altLang="zh-CN" sz="600" b="0" dirty="0">
              <a:latin typeface="微软雅黑" panose="020B0503020204020204" pitchFamily="34" charset="-122"/>
              <a:ea typeface="微软雅黑" panose="020B0503020204020204" pitchFamily="34" charset="-122"/>
            </a:endParaRPr>
          </a:p>
          <a:p>
            <a:pPr algn="just">
              <a:lnSpc>
                <a:spcPct val="150000"/>
              </a:lnSpc>
            </a:pPr>
            <a:r>
              <a:rPr lang="zh-CN" altLang="en-US" sz="1200" b="0" i="0" baseline="0" dirty="0">
                <a:latin typeface="微软雅黑" panose="020B0503020204020204" pitchFamily="34" charset="-122"/>
                <a:ea typeface="微软雅黑" panose="020B0503020204020204" pitchFamily="34" charset="-122"/>
              </a:rPr>
              <a:t>网卡驱动从网络层获取数据报之后，会将其复制到网卡内的缓冲区中，然后向</a:t>
            </a:r>
            <a:r>
              <a:rPr lang="en-US" altLang="zh-CN" sz="1200" b="0" i="0" baseline="0" dirty="0">
                <a:latin typeface="微软雅黑" panose="020B0503020204020204" pitchFamily="34" charset="-122"/>
                <a:ea typeface="微软雅黑" panose="020B0503020204020204" pitchFamily="34" charset="-122"/>
              </a:rPr>
              <a:t>MAC</a:t>
            </a:r>
            <a:r>
              <a:rPr lang="zh-CN" altLang="en-US" sz="1200" b="0" i="0" baseline="0" dirty="0">
                <a:latin typeface="微软雅黑" panose="020B0503020204020204" pitchFamily="34" charset="-122"/>
                <a:ea typeface="微软雅黑" panose="020B0503020204020204" pitchFamily="34" charset="-122"/>
              </a:rPr>
              <a:t>模块发出发送包的命令。</a:t>
            </a:r>
            <a:r>
              <a:rPr lang="en-US" altLang="zh-CN" sz="1200" b="0" i="0" baseline="0" dirty="0">
                <a:latin typeface="微软雅黑" panose="020B0503020204020204" pitchFamily="34" charset="-122"/>
                <a:ea typeface="微软雅黑" panose="020B0503020204020204" pitchFamily="34" charset="-122"/>
              </a:rPr>
              <a:t>MAC</a:t>
            </a:r>
            <a:r>
              <a:rPr lang="zh-CN" altLang="en-US" sz="1200" b="0" i="0" baseline="0" dirty="0">
                <a:latin typeface="微软雅黑" panose="020B0503020204020204" pitchFamily="34" charset="-122"/>
                <a:ea typeface="微软雅黑" panose="020B0503020204020204" pitchFamily="34" charset="-122"/>
              </a:rPr>
              <a:t>模块将包从缓冲区取出，并在开头加上首部和起始帧分界符，在末尾加上用于检测错误的帧校验序列</a:t>
            </a:r>
            <a:r>
              <a:rPr lang="en-US" altLang="zh-CN" sz="1200" b="0" i="0" baseline="0" dirty="0">
                <a:latin typeface="微软雅黑" panose="020B0503020204020204" pitchFamily="34" charset="-122"/>
                <a:ea typeface="微软雅黑" panose="020B0503020204020204" pitchFamily="34" charset="-122"/>
              </a:rPr>
              <a:t>FCS</a:t>
            </a:r>
            <a:r>
              <a:rPr lang="zh-CN" altLang="en-US" sz="1200" b="0" i="0" baseline="0" dirty="0">
                <a:latin typeface="微软雅黑" panose="020B0503020204020204" pitchFamily="34" charset="-122"/>
                <a:ea typeface="微软雅黑" panose="020B0503020204020204" pitchFamily="34" charset="-122"/>
              </a:rPr>
              <a:t>。如果要通过电缆发送数据，就需要用电信号来表达数字信息，此时需要让</a:t>
            </a:r>
            <a:r>
              <a:rPr lang="en-US" altLang="zh-CN" sz="1200" b="0" i="0" baseline="0" dirty="0">
                <a:latin typeface="微软雅黑" panose="020B0503020204020204" pitchFamily="34" charset="-122"/>
                <a:ea typeface="微软雅黑" panose="020B0503020204020204" pitchFamily="34" charset="-122"/>
              </a:rPr>
              <a:t>0</a:t>
            </a:r>
            <a:r>
              <a:rPr lang="zh-CN" altLang="en-US" sz="1200" b="0" i="0" baseline="0" dirty="0">
                <a:latin typeface="微软雅黑" panose="020B0503020204020204" pitchFamily="34" charset="-122"/>
                <a:ea typeface="微软雅黑" panose="020B0503020204020204" pitchFamily="34" charset="-122"/>
              </a:rPr>
              <a:t>和</a:t>
            </a:r>
            <a:r>
              <a:rPr lang="en-US" altLang="zh-CN" sz="1200" b="0" i="0" baseline="0" dirty="0">
                <a:latin typeface="微软雅黑" panose="020B0503020204020204" pitchFamily="34" charset="-122"/>
                <a:ea typeface="微软雅黑" panose="020B0503020204020204" pitchFamily="34" charset="-122"/>
              </a:rPr>
              <a:t>1</a:t>
            </a:r>
            <a:r>
              <a:rPr lang="zh-CN" altLang="en-US" sz="1200" b="0" i="0" baseline="0" dirty="0">
                <a:latin typeface="微软雅黑" panose="020B0503020204020204" pitchFamily="34" charset="-122"/>
                <a:ea typeface="微软雅黑" panose="020B0503020204020204" pitchFamily="34" charset="-122"/>
              </a:rPr>
              <a:t>两种比特分别对应特定的电压。</a:t>
            </a:r>
            <a:endParaRPr lang="en-US" altLang="zh-CN" dirty="0"/>
          </a:p>
          <a:p>
            <a:endParaRPr lang="en-US" altLang="zh-CN" dirty="0"/>
          </a:p>
          <a:p>
            <a:r>
              <a:rPr lang="zh-CN" altLang="en-US" dirty="0"/>
              <a:t>网卡中的 </a:t>
            </a:r>
            <a:r>
              <a:rPr lang="en-US" altLang="zh-CN" dirty="0"/>
              <a:t>PHY</a:t>
            </a:r>
            <a:r>
              <a:rPr lang="zh-CN" altLang="en-US" dirty="0"/>
              <a:t>（</a:t>
            </a:r>
            <a:r>
              <a:rPr lang="en-US" altLang="zh-CN" dirty="0"/>
              <a:t>MAU</a:t>
            </a:r>
            <a:r>
              <a:rPr lang="zh-CN" altLang="en-US" dirty="0"/>
              <a:t>）模块负责将包转换成电信号，信号通过 </a:t>
            </a:r>
            <a:r>
              <a:rPr lang="en-US" altLang="zh-CN" dirty="0"/>
              <a:t>RJ-45 </a:t>
            </a:r>
            <a:r>
              <a:rPr lang="zh-CN" altLang="en-US" dirty="0"/>
              <a:t>接口进入双绞线。</a:t>
            </a:r>
            <a:r>
              <a:rPr lang="en-US" altLang="zh-CN" dirty="0"/>
              <a:t>PHY</a:t>
            </a:r>
            <a:r>
              <a:rPr lang="zh-CN" altLang="en-US" dirty="0"/>
              <a:t>（</a:t>
            </a:r>
            <a:r>
              <a:rPr lang="en-US" altLang="zh-CN" dirty="0"/>
              <a:t>MAU</a:t>
            </a:r>
            <a:r>
              <a:rPr lang="zh-CN" altLang="en-US" dirty="0"/>
              <a:t>）：以太网有多重派生方式，每种方式中信号收发模块的名称都不一样。现在 </a:t>
            </a:r>
            <a:r>
              <a:rPr lang="en-US" altLang="zh-CN" dirty="0"/>
              <a:t>100 Mbit/s </a:t>
            </a:r>
            <a:r>
              <a:rPr lang="zh-CN" altLang="en-US" dirty="0"/>
              <a:t>以上的以太网中叫作 </a:t>
            </a:r>
            <a:r>
              <a:rPr lang="en-US" altLang="zh-CN" dirty="0"/>
              <a:t>PHY</a:t>
            </a:r>
            <a:r>
              <a:rPr lang="zh-CN" altLang="en-US" dirty="0"/>
              <a:t>（物理层装置），以前低速方式中则叫作 </a:t>
            </a:r>
            <a:r>
              <a:rPr lang="en-US" altLang="zh-CN" dirty="0"/>
              <a:t>MAU</a:t>
            </a:r>
            <a:r>
              <a:rPr lang="zh-CN" altLang="en-US" dirty="0"/>
              <a:t>（介质连接单元）。以太网信号的本质是正负变化的电压，可以认为网卡的 </a:t>
            </a:r>
            <a:r>
              <a:rPr lang="en-US" altLang="zh-CN" dirty="0"/>
              <a:t>PHY</a:t>
            </a:r>
            <a:r>
              <a:rPr lang="zh-CN" altLang="en-US" dirty="0"/>
              <a:t>（</a:t>
            </a:r>
            <a:r>
              <a:rPr lang="en-US" altLang="zh-CN" dirty="0"/>
              <a:t>MAU</a:t>
            </a:r>
            <a:r>
              <a:rPr lang="zh-CN" altLang="en-US" dirty="0"/>
              <a:t>）模块就是一个从正负两个信号端子输出信号的电路。</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MAC</a:t>
            </a:r>
            <a:r>
              <a:rPr lang="zh-CN" altLang="en-US" dirty="0"/>
              <a:t>模块从前导码开始将数字信息按每个比特转换成电信号，然后由物理层装置</a:t>
            </a:r>
            <a:r>
              <a:rPr lang="en-US" altLang="zh-CN" dirty="0"/>
              <a:t>PHY</a:t>
            </a:r>
            <a:r>
              <a:rPr lang="zh-CN" altLang="en-US" dirty="0"/>
              <a:t>模块将其转换为可在网线上传输的格式发送出去。</a:t>
            </a:r>
          </a:p>
        </p:txBody>
      </p:sp>
      <p:sp>
        <p:nvSpPr>
          <p:cNvPr id="4" name="灯片编号占位符 3"/>
          <p:cNvSpPr>
            <a:spLocks noGrp="1"/>
          </p:cNvSpPr>
          <p:nvPr>
            <p:ph type="sldNum" sz="quarter" idx="5"/>
          </p:nvPr>
        </p:nvSpPr>
        <p:spPr/>
        <p:txBody>
          <a:bodyPr/>
          <a:lstStyle/>
          <a:p>
            <a:pPr>
              <a:defRPr/>
            </a:pPr>
            <a:fld id="{FDF11910-3162-48D0-9650-63345A94A6D1}" type="slidenum">
              <a:rPr lang="en-US" altLang="zh-CN" smtClean="0"/>
              <a:pPr>
                <a:defRPr/>
              </a:pPr>
              <a:t>4</a:t>
            </a:fld>
            <a:endParaRPr lang="en-US" altLang="zh-CN"/>
          </a:p>
        </p:txBody>
      </p:sp>
    </p:spTree>
    <p:extLst>
      <p:ext uri="{BB962C8B-B14F-4D97-AF65-F5344CB8AC3E}">
        <p14:creationId xmlns:p14="http://schemas.microsoft.com/office/powerpoint/2010/main" val="24751439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F6A665D0-03DE-43BC-8893-F7BAF6199BDA}"/>
              </a:ext>
            </a:extLst>
          </p:cNvPr>
          <p:cNvSpPr>
            <a:spLocks noGrp="1" noRot="1" noChangeAspect="1" noChangeArrowheads="1" noTextEdit="1"/>
          </p:cNvSpPr>
          <p:nvPr>
            <p:ph type="sldImg"/>
          </p:nvPr>
        </p:nvSpPr>
        <p:spPr>
          <a:xfrm>
            <a:off x="381000" y="685800"/>
            <a:ext cx="6096000" cy="3429000"/>
          </a:xfrm>
          <a:ln/>
        </p:spPr>
      </p:sp>
      <p:sp>
        <p:nvSpPr>
          <p:cNvPr id="3" name="备注占位符 2">
            <a:extLst>
              <a:ext uri="{FF2B5EF4-FFF2-40B4-BE49-F238E27FC236}">
                <a16:creationId xmlns:a16="http://schemas.microsoft.com/office/drawing/2014/main" id="{CA705D06-0175-48C2-805E-F01FF34B91C5}"/>
              </a:ext>
            </a:extLst>
          </p:cNvPr>
          <p:cNvSpPr>
            <a:spLocks noGrp="1"/>
          </p:cNvSpPr>
          <p:nvPr>
            <p:ph type="body" idx="1"/>
          </p:nvPr>
        </p:nvSpPr>
        <p:spPr/>
        <p:txBody>
          <a:bodyPr/>
          <a:lstStyle/>
          <a:p>
            <a:pPr marL="0" indent="0">
              <a:buFont typeface="Arial" panose="020B0604020202020204" pitchFamily="34" charset="0"/>
              <a:buNone/>
              <a:defRPr/>
            </a:pPr>
            <a:r>
              <a:rPr lang="zh-CN" altLang="en-US" b="0" dirty="0">
                <a:latin typeface="微软雅黑" panose="020B0503020204020204" pitchFamily="34" charset="-122"/>
                <a:ea typeface="微软雅黑" panose="020B0503020204020204" pitchFamily="34" charset="-122"/>
                <a:cs typeface="+mn-ea"/>
                <a:sym typeface="+mn-lt"/>
              </a:rPr>
              <a:t>数据链路层最基本的功能是向该层用户提供透明的和可靠的数据传送基本服务。透明性是指该层上传输的数据的内容、格式及编码没有限制，也没有必要解释信息结构的意义；可靠性是指解决传输中信息丢失、干扰信息及顺序不正确等问题。</a:t>
            </a:r>
            <a:endParaRPr lang="en-US" altLang="zh-CN" dirty="0"/>
          </a:p>
          <a:p>
            <a:pPr algn="just">
              <a:lnSpc>
                <a:spcPct val="200000"/>
              </a:lnSpc>
              <a:buClr>
                <a:srgbClr val="FF0000"/>
              </a:buClr>
              <a:buSzPct val="80000"/>
              <a:defRPr/>
            </a:pPr>
            <a:r>
              <a:rPr lang="zh-CN" altLang="en-US" sz="1200" b="0" dirty="0">
                <a:latin typeface="微软雅黑" panose="020B0503020204020204" pitchFamily="34" charset="-122"/>
                <a:ea typeface="微软雅黑" panose="020B0503020204020204" pitchFamily="34" charset="-122"/>
                <a:cs typeface="+mn-ea"/>
                <a:sym typeface="+mn-lt"/>
              </a:rPr>
              <a:t>网络层提供端到端的数据传输，而数据链路层提供的是节点到节点的传输。数据链路层负责确保数据的透明可靠传输和管理网络资源，还支持多种网络拓扑结构和安全措施，为网络层的正常运行提供了畅通无阻的基本条件。</a:t>
            </a:r>
            <a:endParaRPr lang="en-US" altLang="zh-CN" sz="1200" b="0" dirty="0">
              <a:latin typeface="微软雅黑" panose="020B0503020204020204" pitchFamily="34" charset="-122"/>
              <a:ea typeface="微软雅黑" panose="020B0503020204020204" pitchFamily="34" charset="-122"/>
              <a:cs typeface="+mn-ea"/>
              <a:sym typeface="+mn-lt"/>
            </a:endParaRPr>
          </a:p>
          <a:p>
            <a:pPr marL="285750" indent="-285750" algn="just">
              <a:lnSpc>
                <a:spcPct val="200000"/>
              </a:lnSpc>
              <a:buClr>
                <a:srgbClr val="FF0000"/>
              </a:buClr>
              <a:buSzPct val="80000"/>
              <a:buFont typeface="Wingdings" panose="05000000000000000000" pitchFamily="2" charset="2"/>
              <a:buChar char="u"/>
              <a:defRPr/>
            </a:pPr>
            <a:r>
              <a:rPr lang="zh-CN" altLang="en-US" sz="1200" b="0" dirty="0">
                <a:latin typeface="微软雅黑" panose="020B0503020204020204" pitchFamily="34" charset="-122"/>
                <a:ea typeface="微软雅黑" panose="020B0503020204020204" pitchFamily="34" charset="-122"/>
                <a:cs typeface="+mn-ea"/>
                <a:sym typeface="+mn-lt"/>
              </a:rPr>
              <a:t>提供可靠的数据传输服务：通过使用各种协议和技术来确保数据的可靠传输，使用流量控制和拥塞控制技术来确保数据在网络中的传输速度和质量，避免数据丢失和损坏，从而提高数据传输的可靠性和稳定性。</a:t>
            </a:r>
            <a:endParaRPr lang="en-US" altLang="zh-CN" sz="1200" b="0" dirty="0">
              <a:latin typeface="微软雅黑" panose="020B0503020204020204" pitchFamily="34" charset="-122"/>
              <a:ea typeface="微软雅黑" panose="020B0503020204020204" pitchFamily="34" charset="-122"/>
              <a:cs typeface="+mn-ea"/>
              <a:sym typeface="+mn-lt"/>
            </a:endParaRPr>
          </a:p>
          <a:p>
            <a:pPr marL="285750" indent="-285750" algn="just">
              <a:lnSpc>
                <a:spcPct val="200000"/>
              </a:lnSpc>
              <a:buClr>
                <a:srgbClr val="FF0000"/>
              </a:buClr>
              <a:buSzPct val="80000"/>
              <a:buFont typeface="Wingdings" panose="05000000000000000000" pitchFamily="2" charset="2"/>
              <a:buChar char="u"/>
              <a:defRPr/>
            </a:pPr>
            <a:r>
              <a:rPr lang="zh-CN" altLang="en-US" sz="1200" b="0" dirty="0">
                <a:latin typeface="微软雅黑" panose="020B0503020204020204" pitchFamily="34" charset="-122"/>
                <a:ea typeface="微软雅黑" panose="020B0503020204020204" pitchFamily="34" charset="-122"/>
                <a:cs typeface="+mn-ea"/>
                <a:sym typeface="+mn-lt"/>
              </a:rPr>
              <a:t>提供节点到节点的数据传输服务：网络层可以实现端到端的数据传输，但是在实际的网络通信中，数据通常需要在不同的节点之间传输。如在局域网中，数据需要从一个计算机传输到另一个计算机，而这些计算机之间的通信是通过数据链路层来实现的。</a:t>
            </a:r>
            <a:endParaRPr lang="en-US" altLang="zh-CN" sz="1200" b="0" dirty="0">
              <a:latin typeface="微软雅黑" panose="020B0503020204020204" pitchFamily="34" charset="-122"/>
              <a:ea typeface="微软雅黑" panose="020B0503020204020204" pitchFamily="34" charset="-122"/>
              <a:cs typeface="+mn-ea"/>
              <a:sym typeface="+mn-lt"/>
            </a:endParaRPr>
          </a:p>
          <a:p>
            <a:pPr marL="285750" indent="-285750" algn="just">
              <a:lnSpc>
                <a:spcPct val="200000"/>
              </a:lnSpc>
              <a:buClr>
                <a:srgbClr val="FF0000"/>
              </a:buClr>
              <a:buSzPct val="80000"/>
              <a:buFont typeface="Wingdings" panose="05000000000000000000" pitchFamily="2" charset="2"/>
              <a:buChar char="u"/>
              <a:defRPr/>
            </a:pPr>
            <a:r>
              <a:rPr lang="zh-CN" altLang="en-US" sz="1200" b="0" dirty="0">
                <a:latin typeface="微软雅黑" panose="020B0503020204020204" pitchFamily="34" charset="-122"/>
                <a:ea typeface="微软雅黑" panose="020B0503020204020204" pitchFamily="34" charset="-122"/>
                <a:cs typeface="+mn-ea"/>
                <a:sym typeface="+mn-lt"/>
              </a:rPr>
              <a:t>提供网络拓扑结构的支持：可以支持不同的网络拓扑结构，有助于在不同的网络环境中实现数据传输。</a:t>
            </a:r>
            <a:endParaRPr lang="en-US" altLang="zh-CN" sz="1200" b="0" dirty="0">
              <a:latin typeface="微软雅黑" panose="020B0503020204020204" pitchFamily="34" charset="-122"/>
              <a:ea typeface="微软雅黑" panose="020B0503020204020204" pitchFamily="34" charset="-122"/>
              <a:cs typeface="+mn-ea"/>
              <a:sym typeface="+mn-lt"/>
            </a:endParaRPr>
          </a:p>
          <a:p>
            <a:pPr marL="285750" indent="-285750" algn="just">
              <a:lnSpc>
                <a:spcPct val="200000"/>
              </a:lnSpc>
              <a:buClr>
                <a:srgbClr val="FF0000"/>
              </a:buClr>
              <a:buSzPct val="80000"/>
              <a:buFont typeface="Wingdings" panose="05000000000000000000" pitchFamily="2" charset="2"/>
              <a:buChar char="u"/>
              <a:defRPr/>
            </a:pPr>
            <a:r>
              <a:rPr lang="zh-CN" altLang="en-US" sz="1200" b="0" dirty="0">
                <a:latin typeface="微软雅黑" panose="020B0503020204020204" pitchFamily="34" charset="-122"/>
                <a:ea typeface="微软雅黑" panose="020B0503020204020204" pitchFamily="34" charset="-122"/>
                <a:cs typeface="+mn-ea"/>
                <a:sym typeface="+mn-lt"/>
              </a:rPr>
              <a:t>提供网络安全保障：可以提供网络安全保障，如使用 </a:t>
            </a:r>
            <a:r>
              <a:rPr lang="en-US" altLang="zh-CN" sz="1200" b="0" dirty="0">
                <a:latin typeface="微软雅黑" panose="020B0503020204020204" pitchFamily="34" charset="-122"/>
                <a:ea typeface="微软雅黑" panose="020B0503020204020204" pitchFamily="34" charset="-122"/>
                <a:cs typeface="+mn-ea"/>
                <a:sym typeface="+mn-lt"/>
              </a:rPr>
              <a:t>MAC</a:t>
            </a:r>
            <a:r>
              <a:rPr lang="zh-CN" altLang="en-US" sz="1200" b="0" dirty="0">
                <a:latin typeface="微软雅黑" panose="020B0503020204020204" pitchFamily="34" charset="-122"/>
                <a:ea typeface="微软雅黑" panose="020B0503020204020204" pitchFamily="34" charset="-122"/>
                <a:cs typeface="+mn-ea"/>
                <a:sym typeface="+mn-lt"/>
              </a:rPr>
              <a:t>地址来识别不同的计算机，并通过访问控制列表</a:t>
            </a:r>
            <a:r>
              <a:rPr lang="en-US" altLang="zh-CN" sz="1200" b="0" dirty="0">
                <a:latin typeface="微软雅黑" panose="020B0503020204020204" pitchFamily="34" charset="-122"/>
                <a:ea typeface="微软雅黑" panose="020B0503020204020204" pitchFamily="34" charset="-122"/>
                <a:cs typeface="+mn-ea"/>
                <a:sym typeface="+mn-lt"/>
              </a:rPr>
              <a:t>(ACL)</a:t>
            </a:r>
            <a:r>
              <a:rPr lang="zh-CN" altLang="en-US" sz="1200" b="0" dirty="0">
                <a:latin typeface="微软雅黑" panose="020B0503020204020204" pitchFamily="34" charset="-122"/>
                <a:ea typeface="微软雅黑" panose="020B0503020204020204" pitchFamily="34" charset="-122"/>
                <a:cs typeface="+mn-ea"/>
                <a:sym typeface="+mn-lt"/>
              </a:rPr>
              <a:t>来限制不同计算机之间的通信。</a:t>
            </a:r>
            <a:endParaRPr lang="en-US" altLang="zh-CN" sz="1200" b="0" dirty="0">
              <a:latin typeface="微软雅黑" panose="020B0503020204020204" pitchFamily="34" charset="-122"/>
              <a:ea typeface="微软雅黑" panose="020B0503020204020204" pitchFamily="34" charset="-122"/>
              <a:cs typeface="+mn-ea"/>
              <a:sym typeface="+mn-lt"/>
            </a:endParaRPr>
          </a:p>
          <a:p>
            <a:pPr marL="285750" indent="-285750" algn="just">
              <a:lnSpc>
                <a:spcPct val="200000"/>
              </a:lnSpc>
              <a:buClr>
                <a:srgbClr val="FF0000"/>
              </a:buClr>
              <a:buSzPct val="80000"/>
              <a:buFont typeface="Wingdings" panose="05000000000000000000" pitchFamily="2" charset="2"/>
              <a:buChar char="u"/>
              <a:defRPr/>
            </a:pPr>
            <a:r>
              <a:rPr lang="zh-CN" altLang="en-US" sz="1200" b="0" dirty="0">
                <a:latin typeface="微软雅黑" panose="020B0503020204020204" pitchFamily="34" charset="-122"/>
                <a:ea typeface="微软雅黑" panose="020B0503020204020204" pitchFamily="34" charset="-122"/>
                <a:cs typeface="+mn-ea"/>
                <a:sym typeface="+mn-lt"/>
              </a:rPr>
              <a:t>管理数据链路连接：在数据传输过程中，负责建立和维护数据链路连接，以及在通信结束后释放数据链路连接。</a:t>
            </a:r>
          </a:p>
        </p:txBody>
      </p:sp>
      <p:sp>
        <p:nvSpPr>
          <p:cNvPr id="8196" name="灯片编号占位符 3">
            <a:extLst>
              <a:ext uri="{FF2B5EF4-FFF2-40B4-BE49-F238E27FC236}">
                <a16:creationId xmlns:a16="http://schemas.microsoft.com/office/drawing/2014/main" id="{949BC8CF-F03D-4134-8BB8-AD0C5B0B918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DAF0D2BC-84EB-4274-92BD-37840D024ED1}" type="slidenum">
              <a:rPr lang="zh-CN" altLang="en-US" sz="1200" b="0" smtClean="0">
                <a:latin typeface="Times New Roman" panose="02020603050405020304" pitchFamily="18" charset="0"/>
              </a:rPr>
              <a:pPr/>
              <a:t>5</a:t>
            </a:fld>
            <a:endParaRPr lang="zh-CN" altLang="en-US" sz="1200" b="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a:extLst>
              <a:ext uri="{FF2B5EF4-FFF2-40B4-BE49-F238E27FC236}">
                <a16:creationId xmlns:a16="http://schemas.microsoft.com/office/drawing/2014/main" id="{8AD2A985-CD5F-4053-887B-0D6FE66B90AC}"/>
              </a:ext>
            </a:extLst>
          </p:cNvPr>
          <p:cNvSpPr>
            <a:spLocks noGrp="1" noRot="1" noChangeAspect="1" noChangeArrowheads="1" noTextEdit="1"/>
          </p:cNvSpPr>
          <p:nvPr>
            <p:ph type="sldImg"/>
          </p:nvPr>
        </p:nvSpPr>
        <p:spPr>
          <a:xfrm>
            <a:off x="381000" y="685800"/>
            <a:ext cx="6096000" cy="3429000"/>
          </a:xfrm>
          <a:ln/>
        </p:spPr>
      </p:sp>
      <p:sp>
        <p:nvSpPr>
          <p:cNvPr id="10243" name="备注占位符 2">
            <a:extLst>
              <a:ext uri="{FF2B5EF4-FFF2-40B4-BE49-F238E27FC236}">
                <a16:creationId xmlns:a16="http://schemas.microsoft.com/office/drawing/2014/main" id="{683DAEE8-6676-47D3-A8EF-002E3DB4A1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物理线路与数据链路的含义是不同的。在通信技术中，常用“线路”这个术语来描述一条点</a:t>
            </a:r>
            <a:r>
              <a:rPr lang="en-US" altLang="zh-CN"/>
              <a:t>-</a:t>
            </a:r>
            <a:r>
              <a:rPr lang="zh-CN" altLang="en-US"/>
              <a:t>点的电路段</a:t>
            </a:r>
            <a:r>
              <a:rPr lang="en-US" altLang="zh-CN"/>
              <a:t>(circuit segment)</a:t>
            </a:r>
            <a:r>
              <a:rPr lang="zh-CN" altLang="en-US"/>
              <a:t>或物理电路</a:t>
            </a:r>
            <a:r>
              <a:rPr lang="en-US" altLang="zh-CN"/>
              <a:t>(physical circuit)</a:t>
            </a:r>
            <a:r>
              <a:rPr lang="zh-CN" altLang="en-US"/>
              <a:t>。根据定义的描述，一条线路的中间没有任何交换结点。因此，线路通常是指实际的一段物理电路，它用于连接两个传输设备，或者是一台计算机与一个传输设备。</a:t>
            </a:r>
            <a:br>
              <a:rPr lang="zh-CN" altLang="en-US"/>
            </a:br>
            <a:r>
              <a:rPr lang="zh-CN" altLang="en-US"/>
              <a:t>数据链路的概念有着更深层次的意义。如果在两台计算机之间传输数据，除了需要一条物理线路及相应的传输设备之外，还需要协议来控制数据在线路上的传输，以保证数据传输过程的正确性。实现这些协议的硬件、软件与物理线路共同构成了数据链路</a:t>
            </a:r>
            <a:r>
              <a:rPr lang="en-US" altLang="zh-CN"/>
              <a:t>(data link)</a:t>
            </a:r>
            <a:r>
              <a:rPr lang="zh-CN" altLang="en-US"/>
              <a:t>。图中给出了物理线路与数据链路的关系。</a:t>
            </a:r>
          </a:p>
        </p:txBody>
      </p:sp>
      <p:sp>
        <p:nvSpPr>
          <p:cNvPr id="10244" name="灯片编号占位符 3">
            <a:extLst>
              <a:ext uri="{FF2B5EF4-FFF2-40B4-BE49-F238E27FC236}">
                <a16:creationId xmlns:a16="http://schemas.microsoft.com/office/drawing/2014/main" id="{600135E5-837C-4937-9033-91B18E7D24B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84350CEB-88A7-4679-9047-EB737668ACA7}" type="slidenum">
              <a:rPr lang="zh-CN" altLang="en-US" sz="1200" b="0" smtClean="0">
                <a:latin typeface="Times New Roman" panose="02020603050405020304" pitchFamily="18" charset="0"/>
              </a:rPr>
              <a:pPr/>
              <a:t>6</a:t>
            </a:fld>
            <a:endParaRPr lang="zh-CN" altLang="en-US" sz="1200" b="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56461DB3-4936-4C81-BBF9-33C575FD77BE}"/>
              </a:ext>
            </a:extLst>
          </p:cNvPr>
          <p:cNvSpPr>
            <a:spLocks noGrp="1" noRot="1" noChangeAspect="1" noChangeArrowheads="1" noTextEdit="1"/>
          </p:cNvSpPr>
          <p:nvPr>
            <p:ph type="sldImg"/>
          </p:nvPr>
        </p:nvSpPr>
        <p:spPr>
          <a:xfrm>
            <a:off x="381000" y="685800"/>
            <a:ext cx="6096000" cy="3429000"/>
          </a:xfrm>
          <a:ln/>
        </p:spPr>
      </p:sp>
      <p:sp>
        <p:nvSpPr>
          <p:cNvPr id="12291" name="备注占位符 2">
            <a:extLst>
              <a:ext uri="{FF2B5EF4-FFF2-40B4-BE49-F238E27FC236}">
                <a16:creationId xmlns:a16="http://schemas.microsoft.com/office/drawing/2014/main" id="{E3E487C9-9CD8-4F90-98A0-83348E91799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buClr>
                <a:srgbClr val="FF0000"/>
              </a:buClr>
              <a:buSzPct val="80000"/>
              <a:buFont typeface="Wingdings" panose="05000000000000000000" pitchFamily="2" charset="2"/>
              <a:buNone/>
            </a:pPr>
            <a:r>
              <a:rPr lang="zh-CN" altLang="en-US" dirty="0"/>
              <a:t>数据链路层介于物理层与网络层之间。设立数据链路层的目的是将物理层有差错的物理线路，变成对于网络层来说无差错的数据链路。由于数据链路层的存在，网络层并不知道物理层采用的传输介质，以及在传输技术上的差异。数据链路层为网络层提供的服务是：正确传输网络层数据，为网络层屏蔽物理层实现的差异。数据链路层的主要功能包括如下内容：</a:t>
            </a:r>
            <a:endParaRPr lang="en-US" altLang="zh-CN" dirty="0"/>
          </a:p>
          <a:p>
            <a:pPr>
              <a:buClr>
                <a:srgbClr val="FF0000"/>
              </a:buClr>
              <a:buSzPct val="80000"/>
              <a:buFont typeface="Wingdings" panose="05000000000000000000" pitchFamily="2" charset="2"/>
              <a:buNone/>
            </a:pPr>
            <a:r>
              <a:rPr lang="en-US" altLang="zh-CN" dirty="0"/>
              <a:t>(1)</a:t>
            </a:r>
            <a:r>
              <a:rPr lang="zh-CN" altLang="en-US" dirty="0"/>
              <a:t>链路管理</a:t>
            </a:r>
            <a:br>
              <a:rPr lang="zh-CN" altLang="en-US" dirty="0"/>
            </a:br>
            <a:r>
              <a:rPr lang="zh-CN" altLang="en-US" dirty="0"/>
              <a:t>数据链路的建立、维持和释放称为链路管理。在传输数据之前，通信双方需要交换一些必要的信息，以便建立一条数据链路。在传输数据的过程中，通信双方需要维持这条链路的通畅。在传输数据完毕后，通信双方需要释放这条链路。</a:t>
            </a:r>
            <a:br>
              <a:rPr lang="zh-CN" altLang="en-US" dirty="0"/>
            </a:br>
            <a:r>
              <a:rPr lang="en-US" altLang="zh-CN" dirty="0"/>
              <a:t>(2)</a:t>
            </a:r>
            <a:r>
              <a:rPr lang="zh-CN" altLang="en-US" dirty="0"/>
              <a:t>帧同步</a:t>
            </a:r>
            <a:br>
              <a:rPr lang="zh-CN" altLang="en-US" dirty="0"/>
            </a:br>
            <a:r>
              <a:rPr lang="zh-CN" altLang="en-US" dirty="0"/>
              <a:t>数据链路层的数据传输单元通常称为帧</a:t>
            </a:r>
            <a:r>
              <a:rPr lang="en-US" altLang="zh-CN" dirty="0"/>
              <a:t>(frame)</a:t>
            </a:r>
            <a:r>
              <a:rPr lang="zh-CN" altLang="en-US" dirty="0"/>
              <a:t>。物理层的比特序列按数据链路层协议的规定被封装成帧来传输。帧同步是指接收方能从接收的比特序列中正确判断出一帧的开始与结束位。</a:t>
            </a:r>
            <a:br>
              <a:rPr lang="zh-CN" altLang="en-US" dirty="0"/>
            </a:br>
            <a:r>
              <a:rPr lang="en-US" altLang="zh-CN" dirty="0"/>
              <a:t>(3)</a:t>
            </a:r>
            <a:r>
              <a:rPr lang="zh-CN" altLang="en-US" dirty="0"/>
              <a:t>流量控制</a:t>
            </a:r>
            <a:br>
              <a:rPr lang="zh-CN" altLang="en-US" dirty="0"/>
            </a:br>
            <a:r>
              <a:rPr lang="zh-CN" altLang="en-US" dirty="0"/>
              <a:t>通信双方需要协调数据发送与接收速率是否匹配。发送方以自己的速率来发送数据，接收方也以自己的速率来接收数据，这些数据通常先放在缓存中等待处理。如果数据链路拥塞或接收方不能及时接收，则发送方需要控制自己的发送速率。</a:t>
            </a:r>
            <a:br>
              <a:rPr lang="zh-CN" altLang="en-US" dirty="0"/>
            </a:br>
            <a:r>
              <a:rPr lang="en-US" altLang="zh-CN" dirty="0"/>
              <a:t>(4)</a:t>
            </a:r>
            <a:r>
              <a:rPr lang="zh-CN" altLang="en-US" dirty="0"/>
              <a:t>差错控制</a:t>
            </a:r>
            <a:br>
              <a:rPr lang="zh-CN" altLang="en-US" dirty="0"/>
            </a:br>
            <a:r>
              <a:rPr lang="zh-CN" altLang="en-US" dirty="0"/>
              <a:t>数据链路层的主要功能是将有差错的物理线路变成无差错的数据链路。由于计算机之间通信一般要求有极低的误码率，而仅靠传输介质是达不到误码率要求的，因此数据链路层协议必须能实现差错控制功能。</a:t>
            </a:r>
            <a:br>
              <a:rPr lang="zh-CN" altLang="en-US" dirty="0"/>
            </a:br>
            <a:r>
              <a:rPr lang="en-US" altLang="zh-CN" dirty="0"/>
              <a:t>(5)</a:t>
            </a:r>
            <a:r>
              <a:rPr lang="zh-CN" altLang="en-US" dirty="0"/>
              <a:t>透明传输</a:t>
            </a:r>
            <a:br>
              <a:rPr lang="zh-CN" altLang="en-US" dirty="0"/>
            </a:br>
            <a:r>
              <a:rPr lang="zh-CN" altLang="en-US" dirty="0"/>
              <a:t>当传输数据中出现控制字符时，就必须采取适当的处理措施，防止接收方将数据内容误认为是控制信息。例如，一帧的开始与结束是用固定的帧定界符“</a:t>
            </a:r>
            <a:r>
              <a:rPr lang="en-US" altLang="zh-CN" dirty="0"/>
              <a:t>01111110”</a:t>
            </a:r>
            <a:r>
              <a:rPr lang="zh-CN" altLang="en-US" dirty="0"/>
              <a:t>限定，则在数据内容中不能出现该比特序列。但是，任何一帧封装的数据无法保证不出现该比特序列，这就是帧传输“透明性”问题。</a:t>
            </a:r>
          </a:p>
        </p:txBody>
      </p:sp>
      <p:sp>
        <p:nvSpPr>
          <p:cNvPr id="12292" name="灯片编号占位符 3">
            <a:extLst>
              <a:ext uri="{FF2B5EF4-FFF2-40B4-BE49-F238E27FC236}">
                <a16:creationId xmlns:a16="http://schemas.microsoft.com/office/drawing/2014/main" id="{02A804A2-1A14-4B60-9CF8-903899A7618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EB8CF103-C6DF-4593-A3D6-E959211DD68C}" type="slidenum">
              <a:rPr lang="zh-CN" altLang="en-US" sz="1200" b="0" smtClean="0">
                <a:latin typeface="Times New Roman" panose="02020603050405020304" pitchFamily="18" charset="0"/>
              </a:rPr>
              <a:pPr/>
              <a:t>7</a:t>
            </a:fld>
            <a:endParaRPr lang="zh-CN" altLang="en-US" sz="1200" b="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77DC3224-F0C4-4F61-9723-39463158ABA5}"/>
              </a:ext>
            </a:extLst>
          </p:cNvPr>
          <p:cNvSpPr>
            <a:spLocks noGrp="1" noRot="1" noChangeAspect="1" noChangeArrowheads="1" noTextEdit="1"/>
          </p:cNvSpPr>
          <p:nvPr>
            <p:ph type="sldImg"/>
          </p:nvPr>
        </p:nvSpPr>
        <p:spPr>
          <a:xfrm>
            <a:off x="381000" y="685800"/>
            <a:ext cx="6096000" cy="3429000"/>
          </a:xfrm>
          <a:ln/>
        </p:spPr>
      </p:sp>
      <p:sp>
        <p:nvSpPr>
          <p:cNvPr id="14339" name="备注占位符 2">
            <a:extLst>
              <a:ext uri="{FF2B5EF4-FFF2-40B4-BE49-F238E27FC236}">
                <a16:creationId xmlns:a16="http://schemas.microsoft.com/office/drawing/2014/main" id="{B723C671-7BA3-4B3E-8DD2-260B571B724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接收数据与发送数据不一致的现象称为传输差错</a:t>
            </a:r>
            <a:r>
              <a:rPr lang="en-US" altLang="zh-CN" dirty="0"/>
              <a:t>(</a:t>
            </a:r>
            <a:r>
              <a:rPr lang="zh-CN" altLang="en-US" dirty="0"/>
              <a:t>简称差错</a:t>
            </a:r>
            <a:r>
              <a:rPr lang="en-US" altLang="zh-CN" dirty="0"/>
              <a:t>)</a:t>
            </a:r>
            <a:r>
              <a:rPr lang="zh-CN" altLang="en-US" dirty="0"/>
              <a:t>。差错的产生是不可避免的，我们应分析差错产生原因与类型，研究发现与纠正差错的方法</a:t>
            </a:r>
            <a:r>
              <a:rPr lang="en-US" altLang="zh-CN" dirty="0"/>
              <a:t>(</a:t>
            </a:r>
            <a:r>
              <a:rPr lang="zh-CN" altLang="en-US" dirty="0"/>
              <a:t>即差错控制方法</a:t>
            </a:r>
            <a:r>
              <a:rPr lang="en-US" altLang="zh-CN" dirty="0"/>
              <a:t>)</a:t>
            </a:r>
            <a:r>
              <a:rPr lang="zh-CN" altLang="en-US" dirty="0"/>
              <a:t>。图中给出了传输差错产生的过程。当数据从发送方发送经过信道时，由于信道总有一定的噪声存在，因此信号到达接收方时是信号叠加噪声。接收方在采样时需要判断信号电平。如果信号叠加噪声在电平判决时出错，则说明出现传输错误。</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sym typeface="+mn-lt"/>
              </a:rPr>
              <a:t>误码率</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sym typeface="+mn-lt"/>
              </a:rPr>
              <a:t>是指二进制比特在数据传输中出错的概率，是衡量数据传输系统在正常工作状态下传输可靠性的参数。对于实际的数据传输系统，并非误码率越低就越好，要根据实际传输要求提出误码率要求。传输速率一定时，要求的误码率越低，设备的复杂性越高，造价也越高。</a:t>
            </a:r>
          </a:p>
          <a:p>
            <a:endParaRPr lang="zh-CN" altLang="en-US" dirty="0"/>
          </a:p>
        </p:txBody>
      </p:sp>
      <p:sp>
        <p:nvSpPr>
          <p:cNvPr id="14340" name="灯片编号占位符 3">
            <a:extLst>
              <a:ext uri="{FF2B5EF4-FFF2-40B4-BE49-F238E27FC236}">
                <a16:creationId xmlns:a16="http://schemas.microsoft.com/office/drawing/2014/main" id="{D8004939-F10E-4E59-A4A2-8503B5706EE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F5C289F1-01B0-400A-BB79-C5929C4A3CBA}" type="slidenum">
              <a:rPr lang="zh-CN" altLang="en-US" sz="1200" b="0" smtClean="0">
                <a:latin typeface="Times New Roman" panose="02020603050405020304" pitchFamily="18" charset="0"/>
              </a:rPr>
              <a:pPr/>
              <a:t>9</a:t>
            </a:fld>
            <a:endParaRPr lang="zh-CN" altLang="en-US" sz="1200" b="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82651B7C-0B64-46B9-B4F2-5B776A28615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2A16FE20-4461-4F99-BEE6-145BE1EE62A6}" type="slidenum">
              <a:rPr lang="en-US" altLang="zh-CN" sz="1200" b="0" smtClean="0">
                <a:latin typeface="Times New Roman" panose="02020603050405020304" pitchFamily="18" charset="0"/>
              </a:rPr>
              <a:pPr/>
              <a:t>10</a:t>
            </a:fld>
            <a:endParaRPr lang="en-US" altLang="zh-CN" sz="1200" b="0">
              <a:latin typeface="Times New Roman" panose="02020603050405020304" pitchFamily="18" charset="0"/>
            </a:endParaRPr>
          </a:p>
        </p:txBody>
      </p:sp>
      <p:sp>
        <p:nvSpPr>
          <p:cNvPr id="18435" name="Rectangle 2">
            <a:extLst>
              <a:ext uri="{FF2B5EF4-FFF2-40B4-BE49-F238E27FC236}">
                <a16:creationId xmlns:a16="http://schemas.microsoft.com/office/drawing/2014/main" id="{41353012-912D-4364-ABC3-1DFDBD2D2E76}"/>
              </a:ext>
            </a:extLst>
          </p:cNvPr>
          <p:cNvSpPr>
            <a:spLocks noGrp="1" noRot="1" noChangeAspect="1" noChangeArrowheads="1" noTextEdit="1"/>
          </p:cNvSpPr>
          <p:nvPr>
            <p:ph type="sldImg"/>
          </p:nvPr>
        </p:nvSpPr>
        <p:spPr>
          <a:xfrm>
            <a:off x="381000" y="685800"/>
            <a:ext cx="6096000" cy="3429000"/>
          </a:xfrm>
          <a:ln/>
        </p:spPr>
      </p:sp>
      <p:sp>
        <p:nvSpPr>
          <p:cNvPr id="18436" name="Rectangle 3">
            <a:extLst>
              <a:ext uri="{FF2B5EF4-FFF2-40B4-BE49-F238E27FC236}">
                <a16:creationId xmlns:a16="http://schemas.microsoft.com/office/drawing/2014/main" id="{93A62229-4E62-4F74-A468-B806379D186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B05BFA0F-3652-4007-932D-5E38020023A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6A3DC7A-DA31-4ECF-BAA3-53A5DC078F53}" type="slidenum">
              <a:rPr lang="en-US" altLang="zh-CN" sz="1200" b="0" smtClean="0">
                <a:latin typeface="Times New Roman" panose="02020603050405020304" pitchFamily="18" charset="0"/>
              </a:rPr>
              <a:pPr/>
              <a:t>11</a:t>
            </a:fld>
            <a:endParaRPr lang="en-US" altLang="zh-CN" sz="1200" b="0">
              <a:latin typeface="Times New Roman" panose="02020603050405020304" pitchFamily="18" charset="0"/>
            </a:endParaRPr>
          </a:p>
        </p:txBody>
      </p:sp>
      <p:sp>
        <p:nvSpPr>
          <p:cNvPr id="20483" name="Rectangle 2">
            <a:extLst>
              <a:ext uri="{FF2B5EF4-FFF2-40B4-BE49-F238E27FC236}">
                <a16:creationId xmlns:a16="http://schemas.microsoft.com/office/drawing/2014/main" id="{AE484866-BDF0-4C74-9414-97094D825E9D}"/>
              </a:ext>
            </a:extLst>
          </p:cNvPr>
          <p:cNvSpPr>
            <a:spLocks noGrp="1" noRot="1" noChangeAspect="1" noChangeArrowheads="1" noTextEdit="1"/>
          </p:cNvSpPr>
          <p:nvPr>
            <p:ph type="sldImg"/>
          </p:nvPr>
        </p:nvSpPr>
        <p:spPr>
          <a:xfrm>
            <a:off x="381000" y="685800"/>
            <a:ext cx="6096000" cy="3429000"/>
          </a:xfrm>
          <a:ln/>
        </p:spPr>
      </p:sp>
      <p:sp>
        <p:nvSpPr>
          <p:cNvPr id="20484" name="Rectangle 3">
            <a:extLst>
              <a:ext uri="{FF2B5EF4-FFF2-40B4-BE49-F238E27FC236}">
                <a16:creationId xmlns:a16="http://schemas.microsoft.com/office/drawing/2014/main" id="{F3740CCE-3906-4078-A32F-7D08A8338B1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97CB410A-5047-44AA-8AB4-445C56D9954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11356095-569F-45FF-B2DF-EA9ADA97E760}" type="slidenum">
              <a:rPr lang="en-US" altLang="zh-CN" sz="1200" b="0" smtClean="0">
                <a:latin typeface="Times New Roman" panose="02020603050405020304" pitchFamily="18" charset="0"/>
              </a:rPr>
              <a:pPr/>
              <a:t>12</a:t>
            </a:fld>
            <a:endParaRPr lang="en-US" altLang="zh-CN" sz="1200" b="0">
              <a:latin typeface="Times New Roman" panose="02020603050405020304" pitchFamily="18" charset="0"/>
            </a:endParaRPr>
          </a:p>
        </p:txBody>
      </p:sp>
      <p:sp>
        <p:nvSpPr>
          <p:cNvPr id="22531" name="Rectangle 2">
            <a:extLst>
              <a:ext uri="{FF2B5EF4-FFF2-40B4-BE49-F238E27FC236}">
                <a16:creationId xmlns:a16="http://schemas.microsoft.com/office/drawing/2014/main" id="{66FD38B0-3BD2-47C7-8FDC-DE572C2C8A18}"/>
              </a:ext>
            </a:extLst>
          </p:cNvPr>
          <p:cNvSpPr>
            <a:spLocks noGrp="1" noRot="1" noChangeAspect="1" noChangeArrowheads="1" noTextEdit="1"/>
          </p:cNvSpPr>
          <p:nvPr>
            <p:ph type="sldImg"/>
          </p:nvPr>
        </p:nvSpPr>
        <p:spPr>
          <a:xfrm>
            <a:off x="381000" y="685800"/>
            <a:ext cx="6096000" cy="3429000"/>
          </a:xfrm>
          <a:ln/>
        </p:spPr>
      </p:sp>
      <p:sp>
        <p:nvSpPr>
          <p:cNvPr id="22532" name="Rectangle 3">
            <a:extLst>
              <a:ext uri="{FF2B5EF4-FFF2-40B4-BE49-F238E27FC236}">
                <a16:creationId xmlns:a16="http://schemas.microsoft.com/office/drawing/2014/main" id="{0DA35454-91F1-4798-8BB5-42079A0642E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8C20615-D18B-4D81-AD58-116F5766CE6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98949A96-3CE6-4CD6-91EA-F9DBC1B0F2AC}" type="slidenum">
              <a:rPr lang="en-US" altLang="zh-CN" sz="1200" b="0" smtClean="0">
                <a:latin typeface="Times New Roman" panose="02020603050405020304" pitchFamily="18" charset="0"/>
              </a:rPr>
              <a:pPr/>
              <a:t>13</a:t>
            </a:fld>
            <a:endParaRPr lang="en-US" altLang="zh-CN" sz="1200" b="0">
              <a:latin typeface="Times New Roman" panose="02020603050405020304" pitchFamily="18" charset="0"/>
            </a:endParaRPr>
          </a:p>
        </p:txBody>
      </p:sp>
      <p:sp>
        <p:nvSpPr>
          <p:cNvPr id="24579" name="Rectangle 2">
            <a:extLst>
              <a:ext uri="{FF2B5EF4-FFF2-40B4-BE49-F238E27FC236}">
                <a16:creationId xmlns:a16="http://schemas.microsoft.com/office/drawing/2014/main" id="{7ADBDD9D-A2A0-47C5-A4FC-2DAA64CACA68}"/>
              </a:ext>
            </a:extLst>
          </p:cNvPr>
          <p:cNvSpPr>
            <a:spLocks noGrp="1" noRot="1" noChangeAspect="1" noChangeArrowheads="1" noTextEdit="1"/>
          </p:cNvSpPr>
          <p:nvPr>
            <p:ph type="sldImg"/>
          </p:nvPr>
        </p:nvSpPr>
        <p:spPr>
          <a:xfrm>
            <a:off x="381000" y="685800"/>
            <a:ext cx="6096000" cy="3429000"/>
          </a:xfrm>
          <a:ln/>
        </p:spPr>
      </p:sp>
      <p:sp>
        <p:nvSpPr>
          <p:cNvPr id="24580" name="Rectangle 3">
            <a:extLst>
              <a:ext uri="{FF2B5EF4-FFF2-40B4-BE49-F238E27FC236}">
                <a16:creationId xmlns:a16="http://schemas.microsoft.com/office/drawing/2014/main" id="{28F63C03-2289-4B74-BEF3-E822DA6F63F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B02F8248-EBFB-4902-9AA2-261F410EB11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1973CEB2-5C94-40B9-8310-C9E218987303}" type="slidenum">
              <a:rPr lang="en-US" altLang="zh-CN" sz="1200" b="0" smtClean="0">
                <a:latin typeface="Times New Roman" panose="02020603050405020304" pitchFamily="18" charset="0"/>
              </a:rPr>
              <a:pPr/>
              <a:t>15</a:t>
            </a:fld>
            <a:endParaRPr lang="en-US" altLang="zh-CN" sz="1200" b="0">
              <a:latin typeface="Times New Roman" panose="02020603050405020304" pitchFamily="18" charset="0"/>
            </a:endParaRPr>
          </a:p>
        </p:txBody>
      </p:sp>
      <p:sp>
        <p:nvSpPr>
          <p:cNvPr id="27651" name="Rectangle 2">
            <a:extLst>
              <a:ext uri="{FF2B5EF4-FFF2-40B4-BE49-F238E27FC236}">
                <a16:creationId xmlns:a16="http://schemas.microsoft.com/office/drawing/2014/main" id="{925F40BE-83AF-4529-96FA-7B9DBFC645E2}"/>
              </a:ext>
            </a:extLst>
          </p:cNvPr>
          <p:cNvSpPr>
            <a:spLocks noGrp="1" noRot="1" noChangeAspect="1" noChangeArrowheads="1" noTextEdit="1"/>
          </p:cNvSpPr>
          <p:nvPr>
            <p:ph type="sldImg"/>
          </p:nvPr>
        </p:nvSpPr>
        <p:spPr>
          <a:xfrm>
            <a:off x="381000" y="685800"/>
            <a:ext cx="6096000" cy="3429000"/>
          </a:xfrm>
          <a:ln/>
        </p:spPr>
      </p:sp>
      <p:sp>
        <p:nvSpPr>
          <p:cNvPr id="27652" name="Rectangle 3">
            <a:extLst>
              <a:ext uri="{FF2B5EF4-FFF2-40B4-BE49-F238E27FC236}">
                <a16:creationId xmlns:a16="http://schemas.microsoft.com/office/drawing/2014/main" id="{1D8CEF84-6D3C-42D2-A79E-8C2E9849C9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02883996-CCA8-46D3-A9EA-FD815B325B9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DDDC372-B75F-4C8D-9432-637C7FA251F8}" type="slidenum">
              <a:rPr lang="en-US" altLang="zh-CN" sz="1200" b="0" smtClean="0">
                <a:latin typeface="Times New Roman" panose="02020603050405020304" pitchFamily="18" charset="0"/>
              </a:rPr>
              <a:pPr/>
              <a:t>16</a:t>
            </a:fld>
            <a:endParaRPr lang="en-US" altLang="zh-CN" sz="1200" b="0">
              <a:latin typeface="Times New Roman" panose="02020603050405020304" pitchFamily="18" charset="0"/>
            </a:endParaRPr>
          </a:p>
        </p:txBody>
      </p:sp>
      <p:sp>
        <p:nvSpPr>
          <p:cNvPr id="29699" name="Rectangle 2">
            <a:extLst>
              <a:ext uri="{FF2B5EF4-FFF2-40B4-BE49-F238E27FC236}">
                <a16:creationId xmlns:a16="http://schemas.microsoft.com/office/drawing/2014/main" id="{718659BF-CC55-42E0-930B-6656CD6909FF}"/>
              </a:ext>
            </a:extLst>
          </p:cNvPr>
          <p:cNvSpPr>
            <a:spLocks noGrp="1" noRot="1" noChangeAspect="1" noChangeArrowheads="1" noTextEdit="1"/>
          </p:cNvSpPr>
          <p:nvPr>
            <p:ph type="sldImg"/>
          </p:nvPr>
        </p:nvSpPr>
        <p:spPr>
          <a:xfrm>
            <a:off x="381000" y="685800"/>
            <a:ext cx="6096000" cy="3429000"/>
          </a:xfrm>
          <a:ln/>
        </p:spPr>
      </p:sp>
      <p:sp>
        <p:nvSpPr>
          <p:cNvPr id="29700" name="Rectangle 3">
            <a:extLst>
              <a:ext uri="{FF2B5EF4-FFF2-40B4-BE49-F238E27FC236}">
                <a16:creationId xmlns:a16="http://schemas.microsoft.com/office/drawing/2014/main" id="{6319FE7B-3316-4B97-B9AA-047AE96289D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7BFA7A69-6A5D-4E3A-9117-4F3A5CF26AA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975241E1-663E-41CD-88D3-DA71D7B9926F}" type="slidenum">
              <a:rPr lang="en-US" altLang="zh-CN" sz="1200" b="0" smtClean="0">
                <a:latin typeface="Times New Roman" panose="02020603050405020304" pitchFamily="18" charset="0"/>
              </a:rPr>
              <a:pPr/>
              <a:t>17</a:t>
            </a:fld>
            <a:endParaRPr lang="en-US" altLang="zh-CN" sz="1200" b="0">
              <a:latin typeface="Times New Roman" panose="02020603050405020304" pitchFamily="18" charset="0"/>
            </a:endParaRPr>
          </a:p>
        </p:txBody>
      </p:sp>
      <p:sp>
        <p:nvSpPr>
          <p:cNvPr id="31747" name="Rectangle 2">
            <a:extLst>
              <a:ext uri="{FF2B5EF4-FFF2-40B4-BE49-F238E27FC236}">
                <a16:creationId xmlns:a16="http://schemas.microsoft.com/office/drawing/2014/main" id="{C343D9B4-1AA9-4DDA-BD6C-1963CC18D8F3}"/>
              </a:ext>
            </a:extLst>
          </p:cNvPr>
          <p:cNvSpPr>
            <a:spLocks noGrp="1" noRot="1" noChangeAspect="1" noChangeArrowheads="1" noTextEdit="1"/>
          </p:cNvSpPr>
          <p:nvPr>
            <p:ph type="sldImg"/>
          </p:nvPr>
        </p:nvSpPr>
        <p:spPr>
          <a:xfrm>
            <a:off x="381000" y="685800"/>
            <a:ext cx="6096000" cy="3429000"/>
          </a:xfrm>
          <a:ln/>
        </p:spPr>
      </p:sp>
      <p:sp>
        <p:nvSpPr>
          <p:cNvPr id="31748" name="Rectangle 3">
            <a:extLst>
              <a:ext uri="{FF2B5EF4-FFF2-40B4-BE49-F238E27FC236}">
                <a16:creationId xmlns:a16="http://schemas.microsoft.com/office/drawing/2014/main" id="{B3F87C02-6172-4A40-BD1F-8776399FFCC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5DE5A311-917E-4042-B0D6-FBE08EAD4FC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CEA88000-F66C-493F-8425-6448762F2A33}" type="slidenum">
              <a:rPr lang="en-US" altLang="zh-CN" sz="1200" b="0" smtClean="0">
                <a:latin typeface="Times New Roman" panose="02020603050405020304" pitchFamily="18" charset="0"/>
              </a:rPr>
              <a:pPr/>
              <a:t>18</a:t>
            </a:fld>
            <a:endParaRPr lang="en-US" altLang="zh-CN" sz="1200" b="0">
              <a:latin typeface="Times New Roman" panose="02020603050405020304" pitchFamily="18" charset="0"/>
            </a:endParaRPr>
          </a:p>
        </p:txBody>
      </p:sp>
      <p:sp>
        <p:nvSpPr>
          <p:cNvPr id="33795" name="Rectangle 2">
            <a:extLst>
              <a:ext uri="{FF2B5EF4-FFF2-40B4-BE49-F238E27FC236}">
                <a16:creationId xmlns:a16="http://schemas.microsoft.com/office/drawing/2014/main" id="{924A907F-E444-4664-BBFD-B869936471DC}"/>
              </a:ext>
            </a:extLst>
          </p:cNvPr>
          <p:cNvSpPr>
            <a:spLocks noGrp="1" noRot="1" noChangeAspect="1" noChangeArrowheads="1" noTextEdit="1"/>
          </p:cNvSpPr>
          <p:nvPr>
            <p:ph type="sldImg"/>
          </p:nvPr>
        </p:nvSpPr>
        <p:spPr>
          <a:xfrm>
            <a:off x="381000" y="685800"/>
            <a:ext cx="6096000" cy="3429000"/>
          </a:xfrm>
          <a:ln/>
        </p:spPr>
      </p:sp>
      <p:sp>
        <p:nvSpPr>
          <p:cNvPr id="33796" name="Rectangle 3">
            <a:extLst>
              <a:ext uri="{FF2B5EF4-FFF2-40B4-BE49-F238E27FC236}">
                <a16:creationId xmlns:a16="http://schemas.microsoft.com/office/drawing/2014/main" id="{E0A3290E-496E-4C8F-82E2-A7CEC8AAC5A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2616AC74-3479-4E10-898C-5A313079AD2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09ED332-D622-47C8-95C9-BA9EF0B14239}" type="slidenum">
              <a:rPr lang="en-US" altLang="zh-CN" sz="1200" b="0" smtClean="0">
                <a:latin typeface="Times New Roman" panose="02020603050405020304" pitchFamily="18" charset="0"/>
              </a:rPr>
              <a:pPr/>
              <a:t>19</a:t>
            </a:fld>
            <a:endParaRPr lang="en-US" altLang="zh-CN" sz="1200" b="0">
              <a:latin typeface="Times New Roman" panose="02020603050405020304" pitchFamily="18" charset="0"/>
            </a:endParaRPr>
          </a:p>
        </p:txBody>
      </p:sp>
      <p:sp>
        <p:nvSpPr>
          <p:cNvPr id="35843" name="Rectangle 2">
            <a:extLst>
              <a:ext uri="{FF2B5EF4-FFF2-40B4-BE49-F238E27FC236}">
                <a16:creationId xmlns:a16="http://schemas.microsoft.com/office/drawing/2014/main" id="{AD77EABD-909D-4C22-80A3-5C3A64AA2912}"/>
              </a:ext>
            </a:extLst>
          </p:cNvPr>
          <p:cNvSpPr>
            <a:spLocks noGrp="1" noRot="1" noChangeAspect="1" noChangeArrowheads="1" noTextEdit="1"/>
          </p:cNvSpPr>
          <p:nvPr>
            <p:ph type="sldImg"/>
          </p:nvPr>
        </p:nvSpPr>
        <p:spPr>
          <a:xfrm>
            <a:off x="381000" y="685800"/>
            <a:ext cx="6096000" cy="3429000"/>
          </a:xfrm>
          <a:ln/>
        </p:spPr>
      </p:sp>
      <p:sp>
        <p:nvSpPr>
          <p:cNvPr id="35844" name="Rectangle 3">
            <a:extLst>
              <a:ext uri="{FF2B5EF4-FFF2-40B4-BE49-F238E27FC236}">
                <a16:creationId xmlns:a16="http://schemas.microsoft.com/office/drawing/2014/main" id="{BF8C2F08-1756-48A9-B84F-025BE01CFE2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E841E32F-674C-4F9D-B763-D81A29EB76C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6E311D3D-6050-46B2-9FFD-81C25761F974}" type="slidenum">
              <a:rPr lang="en-US" altLang="zh-CN" sz="1200" b="0" smtClean="0">
                <a:latin typeface="Times New Roman" panose="02020603050405020304" pitchFamily="18" charset="0"/>
              </a:rPr>
              <a:pPr/>
              <a:t>20</a:t>
            </a:fld>
            <a:endParaRPr lang="en-US" altLang="zh-CN" sz="1200" b="0">
              <a:latin typeface="Times New Roman" panose="02020603050405020304" pitchFamily="18" charset="0"/>
            </a:endParaRPr>
          </a:p>
        </p:txBody>
      </p:sp>
      <p:sp>
        <p:nvSpPr>
          <p:cNvPr id="37891" name="Rectangle 2">
            <a:extLst>
              <a:ext uri="{FF2B5EF4-FFF2-40B4-BE49-F238E27FC236}">
                <a16:creationId xmlns:a16="http://schemas.microsoft.com/office/drawing/2014/main" id="{BE1E1339-1F93-4C8F-9D08-44C5911A5FFF}"/>
              </a:ext>
            </a:extLst>
          </p:cNvPr>
          <p:cNvSpPr>
            <a:spLocks noGrp="1" noRot="1" noChangeAspect="1" noChangeArrowheads="1" noTextEdit="1"/>
          </p:cNvSpPr>
          <p:nvPr>
            <p:ph type="sldImg"/>
          </p:nvPr>
        </p:nvSpPr>
        <p:spPr>
          <a:xfrm>
            <a:off x="381000" y="685800"/>
            <a:ext cx="6096000" cy="3429000"/>
          </a:xfrm>
          <a:ln/>
        </p:spPr>
      </p:sp>
      <p:sp>
        <p:nvSpPr>
          <p:cNvPr id="37892" name="Rectangle 3">
            <a:extLst>
              <a:ext uri="{FF2B5EF4-FFF2-40B4-BE49-F238E27FC236}">
                <a16:creationId xmlns:a16="http://schemas.microsoft.com/office/drawing/2014/main" id="{D11643F2-60AA-4F29-99DA-BF6F0D408F6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FADC71F2-C8E9-40A5-88AE-0FFE98EE012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143FA0B-2307-4403-A830-ED17D16B7B9D}" type="slidenum">
              <a:rPr lang="en-US" altLang="zh-CN" sz="1200" b="0" smtClean="0">
                <a:latin typeface="Times New Roman" panose="02020603050405020304" pitchFamily="18" charset="0"/>
              </a:rPr>
              <a:pPr/>
              <a:t>21</a:t>
            </a:fld>
            <a:endParaRPr lang="en-US" altLang="zh-CN" sz="1200" b="0">
              <a:latin typeface="Times New Roman" panose="02020603050405020304" pitchFamily="18" charset="0"/>
            </a:endParaRPr>
          </a:p>
        </p:txBody>
      </p:sp>
      <p:sp>
        <p:nvSpPr>
          <p:cNvPr id="39939" name="Rectangle 2">
            <a:extLst>
              <a:ext uri="{FF2B5EF4-FFF2-40B4-BE49-F238E27FC236}">
                <a16:creationId xmlns:a16="http://schemas.microsoft.com/office/drawing/2014/main" id="{A9A39305-CC3F-4CA9-8C66-F6E3DD50DB1F}"/>
              </a:ext>
            </a:extLst>
          </p:cNvPr>
          <p:cNvSpPr>
            <a:spLocks noGrp="1" noRot="1" noChangeAspect="1" noChangeArrowheads="1" noTextEdit="1"/>
          </p:cNvSpPr>
          <p:nvPr>
            <p:ph type="sldImg"/>
          </p:nvPr>
        </p:nvSpPr>
        <p:spPr>
          <a:xfrm>
            <a:off x="381000" y="685800"/>
            <a:ext cx="6096000" cy="3429000"/>
          </a:xfrm>
          <a:ln/>
        </p:spPr>
      </p:sp>
      <p:sp>
        <p:nvSpPr>
          <p:cNvPr id="39940" name="Rectangle 3">
            <a:extLst>
              <a:ext uri="{FF2B5EF4-FFF2-40B4-BE49-F238E27FC236}">
                <a16:creationId xmlns:a16="http://schemas.microsoft.com/office/drawing/2014/main" id="{383B5AE3-38F8-436B-B6F5-3A9F7E11F99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68EAA431-8168-4082-984F-CC09E0C607E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137C267-9831-4B15-B5B4-697895CEA710}" type="slidenum">
              <a:rPr lang="en-US" altLang="zh-CN" sz="1200" b="0" smtClean="0">
                <a:latin typeface="Times New Roman" panose="02020603050405020304" pitchFamily="18" charset="0"/>
              </a:rPr>
              <a:pPr/>
              <a:t>22</a:t>
            </a:fld>
            <a:endParaRPr lang="en-US" altLang="zh-CN" sz="1200" b="0">
              <a:latin typeface="Times New Roman" panose="02020603050405020304" pitchFamily="18" charset="0"/>
            </a:endParaRPr>
          </a:p>
        </p:txBody>
      </p:sp>
      <p:sp>
        <p:nvSpPr>
          <p:cNvPr id="41987" name="Rectangle 2">
            <a:extLst>
              <a:ext uri="{FF2B5EF4-FFF2-40B4-BE49-F238E27FC236}">
                <a16:creationId xmlns:a16="http://schemas.microsoft.com/office/drawing/2014/main" id="{89748532-5708-4DC7-A95E-30714F364CAA}"/>
              </a:ext>
            </a:extLst>
          </p:cNvPr>
          <p:cNvSpPr>
            <a:spLocks noGrp="1" noRot="1" noChangeAspect="1" noChangeArrowheads="1" noTextEdit="1"/>
          </p:cNvSpPr>
          <p:nvPr>
            <p:ph type="sldImg"/>
          </p:nvPr>
        </p:nvSpPr>
        <p:spPr>
          <a:xfrm>
            <a:off x="381000" y="685800"/>
            <a:ext cx="6096000" cy="3429000"/>
          </a:xfrm>
          <a:ln/>
        </p:spPr>
      </p:sp>
      <p:sp>
        <p:nvSpPr>
          <p:cNvPr id="41988" name="Rectangle 3">
            <a:extLst>
              <a:ext uri="{FF2B5EF4-FFF2-40B4-BE49-F238E27FC236}">
                <a16:creationId xmlns:a16="http://schemas.microsoft.com/office/drawing/2014/main" id="{A7E5755C-69D6-43BB-88AC-AD7D380D5C1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设有两个汉明距离为 </a:t>
            </a:r>
            <a:r>
              <a:rPr lang="en-US" altLang="zh-CN" dirty="0"/>
              <a:t>d </a:t>
            </a:r>
            <a:r>
              <a:rPr lang="zh-CN" altLang="en-US" dirty="0"/>
              <a:t>的码字 </a:t>
            </a:r>
            <a:r>
              <a:rPr lang="en-US" altLang="zh-CN" dirty="0"/>
              <a:t>x </a:t>
            </a:r>
            <a:r>
              <a:rPr lang="zh-CN" altLang="en-US" dirty="0"/>
              <a:t>和 </a:t>
            </a:r>
            <a:r>
              <a:rPr lang="en-US" altLang="zh-CN" dirty="0"/>
              <a:t>y</a:t>
            </a:r>
            <a:r>
              <a:rPr lang="zh-CN" altLang="en-US" dirty="0"/>
              <a:t>，如果 </a:t>
            </a:r>
            <a:r>
              <a:rPr lang="en-US" altLang="zh-CN" dirty="0"/>
              <a:t>x </a:t>
            </a:r>
            <a:r>
              <a:rPr lang="zh-CN" altLang="en-US" dirty="0"/>
              <a:t>出现了 </a:t>
            </a:r>
            <a:r>
              <a:rPr lang="en-US" altLang="zh-CN" dirty="0"/>
              <a:t>s </a:t>
            </a:r>
            <a:r>
              <a:rPr lang="zh-CN" altLang="en-US" dirty="0"/>
              <a:t>个错误，则 </a:t>
            </a:r>
            <a:r>
              <a:rPr lang="en-US" altLang="zh-CN" dirty="0"/>
              <a:t>x </a:t>
            </a:r>
            <a:r>
              <a:rPr lang="zh-CN" altLang="en-US" dirty="0"/>
              <a:t>变成了以 </a:t>
            </a:r>
            <a:r>
              <a:rPr lang="en-US" altLang="zh-CN" dirty="0"/>
              <a:t>x </a:t>
            </a:r>
            <a:r>
              <a:rPr lang="zh-CN" altLang="en-US" dirty="0"/>
              <a:t>为圆心，</a:t>
            </a:r>
            <a:r>
              <a:rPr lang="en-US" altLang="zh-CN" dirty="0"/>
              <a:t>s </a:t>
            </a:r>
            <a:r>
              <a:rPr lang="zh-CN" altLang="en-US" dirty="0"/>
              <a:t>为半径的球体表面的码字。为了准确地分辨出这些码字是 </a:t>
            </a:r>
            <a:r>
              <a:rPr lang="en-US" altLang="zh-CN" dirty="0"/>
              <a:t>x </a:t>
            </a:r>
            <a:r>
              <a:rPr lang="zh-CN" altLang="en-US" dirty="0"/>
              <a:t>而不是 </a:t>
            </a:r>
            <a:r>
              <a:rPr lang="en-US" altLang="zh-CN" dirty="0"/>
              <a:t>y</a:t>
            </a:r>
            <a:r>
              <a:rPr lang="zh-CN" altLang="en-US" dirty="0"/>
              <a:t>，</a:t>
            </a:r>
            <a:r>
              <a:rPr lang="en-US" altLang="zh-CN" dirty="0"/>
              <a:t>x </a:t>
            </a:r>
            <a:r>
              <a:rPr lang="zh-CN" altLang="en-US" dirty="0"/>
              <a:t>误码后球面上的点与 </a:t>
            </a:r>
            <a:r>
              <a:rPr lang="en-US" altLang="zh-CN" dirty="0"/>
              <a:t>y </a:t>
            </a:r>
            <a:r>
              <a:rPr lang="zh-CN" altLang="en-US" dirty="0"/>
              <a:t>至少应该有一位的距离（如果 </a:t>
            </a:r>
            <a:r>
              <a:rPr lang="en-US" altLang="zh-CN" dirty="0"/>
              <a:t>y </a:t>
            </a:r>
            <a:r>
              <a:rPr lang="zh-CN" altLang="en-US" dirty="0"/>
              <a:t>处于 </a:t>
            </a:r>
            <a:r>
              <a:rPr lang="en-US" altLang="zh-CN" dirty="0"/>
              <a:t>x </a:t>
            </a:r>
            <a:r>
              <a:rPr lang="zh-CN" altLang="en-US" dirty="0"/>
              <a:t>的球面上或在球面内部则会判断 </a:t>
            </a:r>
            <a:r>
              <a:rPr lang="en-US" altLang="zh-CN" dirty="0"/>
              <a:t>y </a:t>
            </a:r>
            <a:r>
              <a:rPr lang="zh-CN" altLang="en-US" dirty="0"/>
              <a:t>是 </a:t>
            </a:r>
            <a:r>
              <a:rPr lang="en-US" altLang="zh-CN" dirty="0"/>
              <a:t>x </a:t>
            </a:r>
            <a:r>
              <a:rPr lang="zh-CN" altLang="en-US" dirty="0"/>
              <a:t>的错误码），即 </a:t>
            </a:r>
            <a:r>
              <a:rPr lang="en-US" altLang="zh-CN" dirty="0"/>
              <a:t>x </a:t>
            </a:r>
            <a:r>
              <a:rPr lang="zh-CN" altLang="en-US" dirty="0"/>
              <a:t>与 </a:t>
            </a:r>
            <a:r>
              <a:rPr lang="en-US" altLang="zh-CN" dirty="0"/>
              <a:t>y </a:t>
            </a:r>
            <a:r>
              <a:rPr lang="zh-CN" altLang="en-US" dirty="0"/>
              <a:t>之间的最小距离 </a:t>
            </a:r>
            <a:r>
              <a:rPr lang="en-US" altLang="zh-CN" dirty="0"/>
              <a:t>d ≥ s + 1 </a:t>
            </a:r>
            <a:r>
              <a:rPr lang="zh-CN" altLang="en-US" dirty="0"/>
              <a:t>。</a:t>
            </a:r>
          </a:p>
          <a:p>
            <a:pPr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C9282B63-C755-4545-BAA3-2ED971C19D4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8F95A532-B244-4906-9575-27EF17E35574}" type="slidenum">
              <a:rPr lang="en-US" altLang="zh-CN" sz="1200" b="0" smtClean="0">
                <a:latin typeface="Times New Roman" panose="02020603050405020304" pitchFamily="18" charset="0"/>
              </a:rPr>
              <a:pPr/>
              <a:t>23</a:t>
            </a:fld>
            <a:endParaRPr lang="en-US" altLang="zh-CN" sz="1200" b="0">
              <a:latin typeface="Times New Roman" panose="02020603050405020304" pitchFamily="18" charset="0"/>
            </a:endParaRPr>
          </a:p>
        </p:txBody>
      </p:sp>
      <p:sp>
        <p:nvSpPr>
          <p:cNvPr id="44035" name="Rectangle 2">
            <a:extLst>
              <a:ext uri="{FF2B5EF4-FFF2-40B4-BE49-F238E27FC236}">
                <a16:creationId xmlns:a16="http://schemas.microsoft.com/office/drawing/2014/main" id="{2BA4DC8F-580C-4AD9-AEFD-189BC6B59609}"/>
              </a:ext>
            </a:extLst>
          </p:cNvPr>
          <p:cNvSpPr>
            <a:spLocks noGrp="1" noRot="1" noChangeAspect="1" noChangeArrowheads="1" noTextEdit="1"/>
          </p:cNvSpPr>
          <p:nvPr>
            <p:ph type="sldImg"/>
          </p:nvPr>
        </p:nvSpPr>
        <p:spPr>
          <a:xfrm>
            <a:off x="381000" y="685800"/>
            <a:ext cx="6096000" cy="3429000"/>
          </a:xfrm>
          <a:ln/>
        </p:spPr>
      </p:sp>
      <p:sp>
        <p:nvSpPr>
          <p:cNvPr id="44036" name="Rectangle 3">
            <a:extLst>
              <a:ext uri="{FF2B5EF4-FFF2-40B4-BE49-F238E27FC236}">
                <a16:creationId xmlns:a16="http://schemas.microsoft.com/office/drawing/2014/main" id="{DBA06BF0-2A03-483A-ADAF-0E22B131544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6BDDC4C9-AE15-4CBE-A078-269F67BF8C1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34001C17-8169-442B-807F-DB09356F66C8}" type="slidenum">
              <a:rPr lang="en-US" altLang="zh-CN" sz="1200" b="0" smtClean="0">
                <a:latin typeface="Times New Roman" panose="02020603050405020304" pitchFamily="18" charset="0"/>
              </a:rPr>
              <a:pPr/>
              <a:t>24</a:t>
            </a:fld>
            <a:endParaRPr lang="en-US" altLang="zh-CN" sz="1200" b="0">
              <a:latin typeface="Times New Roman" panose="02020603050405020304" pitchFamily="18" charset="0"/>
            </a:endParaRPr>
          </a:p>
        </p:txBody>
      </p:sp>
      <p:sp>
        <p:nvSpPr>
          <p:cNvPr id="46083" name="Rectangle 2">
            <a:extLst>
              <a:ext uri="{FF2B5EF4-FFF2-40B4-BE49-F238E27FC236}">
                <a16:creationId xmlns:a16="http://schemas.microsoft.com/office/drawing/2014/main" id="{1C582A58-822B-46AC-81B5-5F5DC469AFB2}"/>
              </a:ext>
            </a:extLst>
          </p:cNvPr>
          <p:cNvSpPr>
            <a:spLocks noGrp="1" noRot="1" noChangeAspect="1" noChangeArrowheads="1" noTextEdit="1"/>
          </p:cNvSpPr>
          <p:nvPr>
            <p:ph type="sldImg"/>
          </p:nvPr>
        </p:nvSpPr>
        <p:spPr>
          <a:xfrm>
            <a:off x="381000" y="685800"/>
            <a:ext cx="6096000" cy="3429000"/>
          </a:xfrm>
          <a:ln/>
        </p:spPr>
      </p:sp>
      <p:sp>
        <p:nvSpPr>
          <p:cNvPr id="46084" name="Rectangle 3">
            <a:extLst>
              <a:ext uri="{FF2B5EF4-FFF2-40B4-BE49-F238E27FC236}">
                <a16:creationId xmlns:a16="http://schemas.microsoft.com/office/drawing/2014/main" id="{A36311EB-2A21-4ED1-A97B-B25543D575B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设有码字 </a:t>
            </a:r>
            <a:r>
              <a:rPr lang="en-US" altLang="zh-CN" dirty="0"/>
              <a:t>x </a:t>
            </a:r>
            <a:r>
              <a:rPr lang="zh-CN" altLang="en-US" dirty="0"/>
              <a:t>和 </a:t>
            </a:r>
            <a:r>
              <a:rPr lang="en-US" altLang="zh-CN" dirty="0"/>
              <a:t>y</a:t>
            </a:r>
            <a:r>
              <a:rPr lang="zh-CN" altLang="en-US" dirty="0"/>
              <a:t>，如果 </a:t>
            </a:r>
            <a:r>
              <a:rPr lang="en-US" altLang="zh-CN" dirty="0"/>
              <a:t>x </a:t>
            </a:r>
            <a:r>
              <a:rPr lang="zh-CN" altLang="en-US" dirty="0"/>
              <a:t>出现了 </a:t>
            </a:r>
            <a:r>
              <a:rPr lang="en-US" altLang="zh-CN" dirty="0"/>
              <a:t>t </a:t>
            </a:r>
            <a:r>
              <a:rPr lang="zh-CN" altLang="en-US" dirty="0"/>
              <a:t>个错误，</a:t>
            </a:r>
            <a:r>
              <a:rPr lang="en-US" altLang="zh-CN" dirty="0"/>
              <a:t>y </a:t>
            </a:r>
            <a:r>
              <a:rPr lang="zh-CN" altLang="en-US" dirty="0"/>
              <a:t>也出现了 </a:t>
            </a:r>
            <a:r>
              <a:rPr lang="en-US" altLang="zh-CN" dirty="0"/>
              <a:t>t </a:t>
            </a:r>
            <a:r>
              <a:rPr lang="zh-CN" altLang="en-US" dirty="0"/>
              <a:t>个错误，则 </a:t>
            </a:r>
            <a:r>
              <a:rPr lang="en-US" altLang="zh-CN" dirty="0"/>
              <a:t>x </a:t>
            </a:r>
            <a:r>
              <a:rPr lang="zh-CN" altLang="en-US" dirty="0"/>
              <a:t>码变成以 </a:t>
            </a:r>
            <a:r>
              <a:rPr lang="en-US" altLang="zh-CN" dirty="0"/>
              <a:t>x </a:t>
            </a:r>
            <a:r>
              <a:rPr lang="zh-CN" altLang="en-US" dirty="0"/>
              <a:t>为圆心，</a:t>
            </a:r>
            <a:r>
              <a:rPr lang="en-US" altLang="zh-CN" dirty="0"/>
              <a:t>t </a:t>
            </a:r>
            <a:r>
              <a:rPr lang="zh-CN" altLang="en-US" dirty="0"/>
              <a:t>为半径的球面上的码字；</a:t>
            </a:r>
            <a:r>
              <a:rPr lang="en-US" altLang="zh-CN" dirty="0"/>
              <a:t>y </a:t>
            </a:r>
            <a:r>
              <a:rPr lang="zh-CN" altLang="en-US" dirty="0"/>
              <a:t>码变成以 </a:t>
            </a:r>
            <a:r>
              <a:rPr lang="en-US" altLang="zh-CN" dirty="0"/>
              <a:t>y </a:t>
            </a:r>
            <a:r>
              <a:rPr lang="zh-CN" altLang="en-US" dirty="0"/>
              <a:t>为圆心，</a:t>
            </a:r>
            <a:r>
              <a:rPr lang="en-US" altLang="zh-CN" dirty="0"/>
              <a:t>t </a:t>
            </a:r>
            <a:r>
              <a:rPr lang="zh-CN" altLang="en-US" dirty="0"/>
              <a:t>为半径的球面上的码字。为了在出现 </a:t>
            </a:r>
            <a:r>
              <a:rPr lang="en-US" altLang="zh-CN" dirty="0"/>
              <a:t>t </a:t>
            </a:r>
            <a:r>
              <a:rPr lang="zh-CN" altLang="en-US" dirty="0"/>
              <a:t>个错误之后仍能分辨出这个码字到底是属于 </a:t>
            </a:r>
            <a:r>
              <a:rPr lang="en-US" altLang="zh-CN" dirty="0"/>
              <a:t>x </a:t>
            </a:r>
            <a:r>
              <a:rPr lang="zh-CN" altLang="en-US" dirty="0"/>
              <a:t>的错码还是属于 </a:t>
            </a:r>
            <a:r>
              <a:rPr lang="en-US" altLang="zh-CN" dirty="0"/>
              <a:t>y </a:t>
            </a:r>
            <a:r>
              <a:rPr lang="zh-CN" altLang="en-US" dirty="0"/>
              <a:t>的错码，</a:t>
            </a:r>
            <a:r>
              <a:rPr lang="en-US" altLang="zh-CN" dirty="0"/>
              <a:t>x </a:t>
            </a:r>
            <a:r>
              <a:rPr lang="zh-CN" altLang="en-US" dirty="0"/>
              <a:t>、</a:t>
            </a:r>
            <a:r>
              <a:rPr lang="en-US" altLang="zh-CN" dirty="0"/>
              <a:t>y</a:t>
            </a:r>
            <a:r>
              <a:rPr lang="zh-CN" altLang="en-US" dirty="0"/>
              <a:t>为球心的两个球面应该不相交，即</a:t>
            </a:r>
            <a:r>
              <a:rPr lang="en-US" altLang="zh-CN" dirty="0"/>
              <a:t>d ≥ 2t + 1</a:t>
            </a:r>
            <a:r>
              <a:rPr lang="zh-CN" altLang="en-US" dirty="0"/>
              <a:t>。</a:t>
            </a:r>
          </a:p>
          <a:p>
            <a:pPr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5BD432BC-A58D-44F1-BD97-BBAFA811017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66338EAA-2EEC-404A-BE85-B379FFA041A0}" type="slidenum">
              <a:rPr lang="en-US" altLang="zh-CN" sz="1200" b="0" smtClean="0">
                <a:latin typeface="Times New Roman" panose="02020603050405020304" pitchFamily="18" charset="0"/>
              </a:rPr>
              <a:pPr/>
              <a:t>25</a:t>
            </a:fld>
            <a:endParaRPr lang="en-US" altLang="zh-CN" sz="1200" b="0">
              <a:latin typeface="Times New Roman" panose="02020603050405020304" pitchFamily="18" charset="0"/>
            </a:endParaRPr>
          </a:p>
        </p:txBody>
      </p:sp>
      <p:sp>
        <p:nvSpPr>
          <p:cNvPr id="48131" name="Rectangle 2">
            <a:extLst>
              <a:ext uri="{FF2B5EF4-FFF2-40B4-BE49-F238E27FC236}">
                <a16:creationId xmlns:a16="http://schemas.microsoft.com/office/drawing/2014/main" id="{516839BA-8578-48EE-A125-2D75ACE4AC4D}"/>
              </a:ext>
            </a:extLst>
          </p:cNvPr>
          <p:cNvSpPr>
            <a:spLocks noGrp="1" noRot="1" noChangeAspect="1" noChangeArrowheads="1" noTextEdit="1"/>
          </p:cNvSpPr>
          <p:nvPr>
            <p:ph type="sldImg"/>
          </p:nvPr>
        </p:nvSpPr>
        <p:spPr>
          <a:xfrm>
            <a:off x="381000" y="685800"/>
            <a:ext cx="6096000" cy="3429000"/>
          </a:xfrm>
          <a:ln/>
        </p:spPr>
      </p:sp>
      <p:sp>
        <p:nvSpPr>
          <p:cNvPr id="48132" name="Rectangle 3">
            <a:extLst>
              <a:ext uri="{FF2B5EF4-FFF2-40B4-BE49-F238E27FC236}">
                <a16:creationId xmlns:a16="http://schemas.microsoft.com/office/drawing/2014/main" id="{8223F42C-F0B4-4681-B91E-A1911E0170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2FF0BEC9-CA68-481A-B8C7-9D92A8C5E0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480CA819-51F8-43D3-899A-1B218663D5FC}" type="slidenum">
              <a:rPr lang="en-US" altLang="zh-CN" sz="1200" b="0" smtClean="0">
                <a:latin typeface="Times New Roman" panose="02020603050405020304" pitchFamily="18" charset="0"/>
              </a:rPr>
              <a:pPr/>
              <a:t>26</a:t>
            </a:fld>
            <a:endParaRPr lang="en-US" altLang="zh-CN" sz="1200" b="0">
              <a:latin typeface="Times New Roman" panose="02020603050405020304" pitchFamily="18" charset="0"/>
            </a:endParaRPr>
          </a:p>
        </p:txBody>
      </p:sp>
      <p:sp>
        <p:nvSpPr>
          <p:cNvPr id="50179" name="Rectangle 2">
            <a:extLst>
              <a:ext uri="{FF2B5EF4-FFF2-40B4-BE49-F238E27FC236}">
                <a16:creationId xmlns:a16="http://schemas.microsoft.com/office/drawing/2014/main" id="{0EE164E2-46C3-43FB-BB6A-5F9218151F04}"/>
              </a:ext>
            </a:extLst>
          </p:cNvPr>
          <p:cNvSpPr>
            <a:spLocks noGrp="1" noRot="1" noChangeAspect="1" noChangeArrowheads="1" noTextEdit="1"/>
          </p:cNvSpPr>
          <p:nvPr>
            <p:ph type="sldImg"/>
          </p:nvPr>
        </p:nvSpPr>
        <p:spPr>
          <a:xfrm>
            <a:off x="381000" y="685800"/>
            <a:ext cx="6096000" cy="3429000"/>
          </a:xfrm>
          <a:ln/>
        </p:spPr>
      </p:sp>
      <p:sp>
        <p:nvSpPr>
          <p:cNvPr id="50180" name="Rectangle 3">
            <a:extLst>
              <a:ext uri="{FF2B5EF4-FFF2-40B4-BE49-F238E27FC236}">
                <a16:creationId xmlns:a16="http://schemas.microsoft.com/office/drawing/2014/main" id="{6829FDE3-8747-4961-8414-5F873D08122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D2DB7C88-CCB5-4229-A7F5-9184984EFFA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1D635FF2-B4CF-44BE-8F4B-03BEBD102800}" type="slidenum">
              <a:rPr lang="en-US" altLang="zh-CN" sz="1200" b="0" smtClean="0">
                <a:latin typeface="Times New Roman" panose="02020603050405020304" pitchFamily="18" charset="0"/>
              </a:rPr>
              <a:pPr/>
              <a:t>27</a:t>
            </a:fld>
            <a:endParaRPr lang="en-US" altLang="zh-CN" sz="1200" b="0">
              <a:latin typeface="Times New Roman" panose="02020603050405020304" pitchFamily="18" charset="0"/>
            </a:endParaRPr>
          </a:p>
        </p:txBody>
      </p:sp>
      <p:sp>
        <p:nvSpPr>
          <p:cNvPr id="52227" name="Rectangle 2">
            <a:extLst>
              <a:ext uri="{FF2B5EF4-FFF2-40B4-BE49-F238E27FC236}">
                <a16:creationId xmlns:a16="http://schemas.microsoft.com/office/drawing/2014/main" id="{84E0CF1A-050C-495B-8BF3-3B219205C822}"/>
              </a:ext>
            </a:extLst>
          </p:cNvPr>
          <p:cNvSpPr>
            <a:spLocks noGrp="1" noRot="1" noChangeAspect="1" noChangeArrowheads="1" noTextEdit="1"/>
          </p:cNvSpPr>
          <p:nvPr>
            <p:ph type="sldImg"/>
          </p:nvPr>
        </p:nvSpPr>
        <p:spPr>
          <a:xfrm>
            <a:off x="381000" y="685800"/>
            <a:ext cx="6096000" cy="3429000"/>
          </a:xfrm>
          <a:ln/>
        </p:spPr>
      </p:sp>
      <p:sp>
        <p:nvSpPr>
          <p:cNvPr id="52228" name="Rectangle 3">
            <a:extLst>
              <a:ext uri="{FF2B5EF4-FFF2-40B4-BE49-F238E27FC236}">
                <a16:creationId xmlns:a16="http://schemas.microsoft.com/office/drawing/2014/main" id="{8163546C-72E8-4D1D-9396-B16F70DD306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04F07D68-E79F-4F92-A5BC-978F7B70CDD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3AC6818-2158-4C3B-89FD-FBE2B2F07E56}" type="slidenum">
              <a:rPr lang="en-US" altLang="zh-CN" sz="1200" b="0" smtClean="0">
                <a:latin typeface="Times New Roman" panose="02020603050405020304" pitchFamily="18" charset="0"/>
              </a:rPr>
              <a:pPr/>
              <a:t>28</a:t>
            </a:fld>
            <a:endParaRPr lang="en-US" altLang="zh-CN" sz="1200" b="0">
              <a:latin typeface="Times New Roman" panose="02020603050405020304" pitchFamily="18" charset="0"/>
            </a:endParaRPr>
          </a:p>
        </p:txBody>
      </p:sp>
      <p:sp>
        <p:nvSpPr>
          <p:cNvPr id="54275" name="Rectangle 2">
            <a:extLst>
              <a:ext uri="{FF2B5EF4-FFF2-40B4-BE49-F238E27FC236}">
                <a16:creationId xmlns:a16="http://schemas.microsoft.com/office/drawing/2014/main" id="{EE38A6C7-862D-46DD-B803-FD4D06DF247D}"/>
              </a:ext>
            </a:extLst>
          </p:cNvPr>
          <p:cNvSpPr>
            <a:spLocks noGrp="1" noRot="1" noChangeAspect="1" noChangeArrowheads="1" noTextEdit="1"/>
          </p:cNvSpPr>
          <p:nvPr>
            <p:ph type="sldImg"/>
          </p:nvPr>
        </p:nvSpPr>
        <p:spPr>
          <a:xfrm>
            <a:off x="381000" y="685800"/>
            <a:ext cx="6096000" cy="3429000"/>
          </a:xfrm>
          <a:ln/>
        </p:spPr>
      </p:sp>
      <p:sp>
        <p:nvSpPr>
          <p:cNvPr id="54276" name="Rectangle 3">
            <a:extLst>
              <a:ext uri="{FF2B5EF4-FFF2-40B4-BE49-F238E27FC236}">
                <a16:creationId xmlns:a16="http://schemas.microsoft.com/office/drawing/2014/main" id="{D0A0175D-C406-4D4F-A9A1-CBBEFD5C1E8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E024CCF5-D600-42EA-813D-0ECB3CDFF60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5C0CDB0-E3CD-45D2-A43C-CC8357B2D779}" type="slidenum">
              <a:rPr lang="en-US" altLang="zh-CN" sz="1200" b="0" smtClean="0">
                <a:latin typeface="Times New Roman" panose="02020603050405020304" pitchFamily="18" charset="0"/>
              </a:rPr>
              <a:pPr/>
              <a:t>29</a:t>
            </a:fld>
            <a:endParaRPr lang="en-US" altLang="zh-CN" sz="1200" b="0">
              <a:latin typeface="Times New Roman" panose="02020603050405020304" pitchFamily="18" charset="0"/>
            </a:endParaRPr>
          </a:p>
        </p:txBody>
      </p:sp>
      <p:sp>
        <p:nvSpPr>
          <p:cNvPr id="56323" name="Rectangle 2">
            <a:extLst>
              <a:ext uri="{FF2B5EF4-FFF2-40B4-BE49-F238E27FC236}">
                <a16:creationId xmlns:a16="http://schemas.microsoft.com/office/drawing/2014/main" id="{72FB944F-82C7-4277-B55A-02016DF4E2A4}"/>
              </a:ext>
            </a:extLst>
          </p:cNvPr>
          <p:cNvSpPr>
            <a:spLocks noGrp="1" noRot="1" noChangeAspect="1" noChangeArrowheads="1" noTextEdit="1"/>
          </p:cNvSpPr>
          <p:nvPr>
            <p:ph type="sldImg"/>
          </p:nvPr>
        </p:nvSpPr>
        <p:spPr>
          <a:xfrm>
            <a:off x="381000" y="685800"/>
            <a:ext cx="6096000" cy="3429000"/>
          </a:xfrm>
          <a:ln/>
        </p:spPr>
      </p:sp>
      <p:sp>
        <p:nvSpPr>
          <p:cNvPr id="56324" name="Rectangle 3">
            <a:extLst>
              <a:ext uri="{FF2B5EF4-FFF2-40B4-BE49-F238E27FC236}">
                <a16:creationId xmlns:a16="http://schemas.microsoft.com/office/drawing/2014/main" id="{13B10A8A-4CDE-4B38-A7F6-969CFFEDA8C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7837C952-CA6D-4407-85C7-38999A0F4FC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D90D1364-92C8-4143-886D-FAAF8486E66A}" type="slidenum">
              <a:rPr lang="en-US" altLang="zh-CN" sz="1200" b="0" smtClean="0">
                <a:latin typeface="Times New Roman" panose="02020603050405020304" pitchFamily="18" charset="0"/>
              </a:rPr>
              <a:pPr/>
              <a:t>30</a:t>
            </a:fld>
            <a:endParaRPr lang="en-US" altLang="zh-CN" sz="1200" b="0">
              <a:latin typeface="Times New Roman" panose="02020603050405020304" pitchFamily="18" charset="0"/>
            </a:endParaRPr>
          </a:p>
        </p:txBody>
      </p:sp>
      <p:sp>
        <p:nvSpPr>
          <p:cNvPr id="58371" name="Rectangle 2">
            <a:extLst>
              <a:ext uri="{FF2B5EF4-FFF2-40B4-BE49-F238E27FC236}">
                <a16:creationId xmlns:a16="http://schemas.microsoft.com/office/drawing/2014/main" id="{4CD3EA3B-0A18-48D6-AE8A-220C4E6E27F8}"/>
              </a:ext>
            </a:extLst>
          </p:cNvPr>
          <p:cNvSpPr>
            <a:spLocks noGrp="1" noRot="1" noChangeAspect="1" noChangeArrowheads="1" noTextEdit="1"/>
          </p:cNvSpPr>
          <p:nvPr>
            <p:ph type="sldImg"/>
          </p:nvPr>
        </p:nvSpPr>
        <p:spPr>
          <a:xfrm>
            <a:off x="381000" y="685800"/>
            <a:ext cx="6096000" cy="3429000"/>
          </a:xfrm>
          <a:ln/>
        </p:spPr>
      </p:sp>
      <p:sp>
        <p:nvSpPr>
          <p:cNvPr id="58372" name="Rectangle 3">
            <a:extLst>
              <a:ext uri="{FF2B5EF4-FFF2-40B4-BE49-F238E27FC236}">
                <a16:creationId xmlns:a16="http://schemas.microsoft.com/office/drawing/2014/main" id="{4FA723F0-53F4-4B1C-A01B-FADDB7A9643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EB18A2D7-7412-416D-9572-201F94BE1DE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18F0BA21-44D6-4242-95B4-6211AC7D0BB0}" type="slidenum">
              <a:rPr lang="en-US" altLang="zh-CN" sz="1200" b="0" smtClean="0">
                <a:latin typeface="Times New Roman" panose="02020603050405020304" pitchFamily="18" charset="0"/>
              </a:rPr>
              <a:pPr/>
              <a:t>31</a:t>
            </a:fld>
            <a:endParaRPr lang="en-US" altLang="zh-CN" sz="1200" b="0">
              <a:latin typeface="Times New Roman" panose="02020603050405020304" pitchFamily="18" charset="0"/>
            </a:endParaRPr>
          </a:p>
        </p:txBody>
      </p:sp>
      <p:sp>
        <p:nvSpPr>
          <p:cNvPr id="60419" name="Rectangle 2">
            <a:extLst>
              <a:ext uri="{FF2B5EF4-FFF2-40B4-BE49-F238E27FC236}">
                <a16:creationId xmlns:a16="http://schemas.microsoft.com/office/drawing/2014/main" id="{A3152228-5CF6-43BE-887F-0EF1F56ACA4C}"/>
              </a:ext>
            </a:extLst>
          </p:cNvPr>
          <p:cNvSpPr>
            <a:spLocks noGrp="1" noRot="1" noChangeAspect="1" noChangeArrowheads="1" noTextEdit="1"/>
          </p:cNvSpPr>
          <p:nvPr>
            <p:ph type="sldImg"/>
          </p:nvPr>
        </p:nvSpPr>
        <p:spPr>
          <a:xfrm>
            <a:off x="381000" y="685800"/>
            <a:ext cx="6096000" cy="3429000"/>
          </a:xfrm>
          <a:ln/>
        </p:spPr>
      </p:sp>
      <p:sp>
        <p:nvSpPr>
          <p:cNvPr id="60420" name="Rectangle 3">
            <a:extLst>
              <a:ext uri="{FF2B5EF4-FFF2-40B4-BE49-F238E27FC236}">
                <a16:creationId xmlns:a16="http://schemas.microsoft.com/office/drawing/2014/main" id="{0DD83CD4-B4CB-4225-BCEA-DFF5B4C15D2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5683C5C0-5252-4E23-AA53-2CED5BD831C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647FEB84-E560-4BAC-8131-759FDDD927DA}" type="slidenum">
              <a:rPr lang="en-US" altLang="zh-CN" sz="1200" b="0" smtClean="0">
                <a:latin typeface="Times New Roman" panose="02020603050405020304" pitchFamily="18" charset="0"/>
              </a:rPr>
              <a:pPr/>
              <a:t>32</a:t>
            </a:fld>
            <a:endParaRPr lang="en-US" altLang="zh-CN" sz="1200" b="0">
              <a:latin typeface="Times New Roman" panose="02020603050405020304" pitchFamily="18" charset="0"/>
            </a:endParaRPr>
          </a:p>
        </p:txBody>
      </p:sp>
      <p:sp>
        <p:nvSpPr>
          <p:cNvPr id="62467" name="Rectangle 2">
            <a:extLst>
              <a:ext uri="{FF2B5EF4-FFF2-40B4-BE49-F238E27FC236}">
                <a16:creationId xmlns:a16="http://schemas.microsoft.com/office/drawing/2014/main" id="{0D04E00C-004C-4792-B849-05135C50841E}"/>
              </a:ext>
            </a:extLst>
          </p:cNvPr>
          <p:cNvSpPr>
            <a:spLocks noGrp="1" noRot="1" noChangeAspect="1" noChangeArrowheads="1" noTextEdit="1"/>
          </p:cNvSpPr>
          <p:nvPr>
            <p:ph type="sldImg"/>
          </p:nvPr>
        </p:nvSpPr>
        <p:spPr>
          <a:xfrm>
            <a:off x="381000" y="685800"/>
            <a:ext cx="6096000" cy="3429000"/>
          </a:xfrm>
          <a:ln/>
        </p:spPr>
      </p:sp>
      <p:sp>
        <p:nvSpPr>
          <p:cNvPr id="62468" name="Rectangle 3">
            <a:extLst>
              <a:ext uri="{FF2B5EF4-FFF2-40B4-BE49-F238E27FC236}">
                <a16:creationId xmlns:a16="http://schemas.microsoft.com/office/drawing/2014/main" id="{892F6AD4-D60E-4E7D-99E8-E95150FB4AF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825912C8-8EBC-4C55-AD1E-40DE6566D7B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DD85FC88-CE62-46F5-A877-AD2DE3A74FFA}" type="slidenum">
              <a:rPr lang="en-US" altLang="zh-CN" sz="1200" b="0" smtClean="0">
                <a:latin typeface="Times New Roman" panose="02020603050405020304" pitchFamily="18" charset="0"/>
              </a:rPr>
              <a:pPr/>
              <a:t>33</a:t>
            </a:fld>
            <a:endParaRPr lang="en-US" altLang="zh-CN" sz="1200" b="0">
              <a:latin typeface="Times New Roman" panose="02020603050405020304" pitchFamily="18" charset="0"/>
            </a:endParaRPr>
          </a:p>
        </p:txBody>
      </p:sp>
      <p:sp>
        <p:nvSpPr>
          <p:cNvPr id="64515" name="Rectangle 2">
            <a:extLst>
              <a:ext uri="{FF2B5EF4-FFF2-40B4-BE49-F238E27FC236}">
                <a16:creationId xmlns:a16="http://schemas.microsoft.com/office/drawing/2014/main" id="{B9D591BF-0B48-45A8-85C8-EDDF7B53B245}"/>
              </a:ext>
            </a:extLst>
          </p:cNvPr>
          <p:cNvSpPr>
            <a:spLocks noGrp="1" noRot="1" noChangeAspect="1" noChangeArrowheads="1" noTextEdit="1"/>
          </p:cNvSpPr>
          <p:nvPr>
            <p:ph type="sldImg"/>
          </p:nvPr>
        </p:nvSpPr>
        <p:spPr>
          <a:xfrm>
            <a:off x="381000" y="685800"/>
            <a:ext cx="6096000" cy="3429000"/>
          </a:xfrm>
          <a:ln/>
        </p:spPr>
      </p:sp>
      <p:sp>
        <p:nvSpPr>
          <p:cNvPr id="64516" name="Rectangle 3">
            <a:extLst>
              <a:ext uri="{FF2B5EF4-FFF2-40B4-BE49-F238E27FC236}">
                <a16:creationId xmlns:a16="http://schemas.microsoft.com/office/drawing/2014/main" id="{0DA7ED83-D5C7-4C58-B31C-693E9B103F7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34D2946C-ABCE-4F12-8839-446CB549658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3921999-4D74-4378-8AE4-A4DAD67FCC5A}" type="slidenum">
              <a:rPr lang="en-US" altLang="zh-CN" sz="1200" b="0" smtClean="0">
                <a:latin typeface="Times New Roman" panose="02020603050405020304" pitchFamily="18" charset="0"/>
              </a:rPr>
              <a:pPr/>
              <a:t>34</a:t>
            </a:fld>
            <a:endParaRPr lang="en-US" altLang="zh-CN" sz="1200" b="0">
              <a:latin typeface="Times New Roman" panose="02020603050405020304" pitchFamily="18" charset="0"/>
            </a:endParaRPr>
          </a:p>
        </p:txBody>
      </p:sp>
      <p:sp>
        <p:nvSpPr>
          <p:cNvPr id="66563" name="Rectangle 2">
            <a:extLst>
              <a:ext uri="{FF2B5EF4-FFF2-40B4-BE49-F238E27FC236}">
                <a16:creationId xmlns:a16="http://schemas.microsoft.com/office/drawing/2014/main" id="{4047B792-C820-44AD-9848-7E6273D85615}"/>
              </a:ext>
            </a:extLst>
          </p:cNvPr>
          <p:cNvSpPr>
            <a:spLocks noGrp="1" noRot="1" noChangeAspect="1" noChangeArrowheads="1" noTextEdit="1"/>
          </p:cNvSpPr>
          <p:nvPr>
            <p:ph type="sldImg"/>
          </p:nvPr>
        </p:nvSpPr>
        <p:spPr>
          <a:xfrm>
            <a:off x="381000" y="685800"/>
            <a:ext cx="6096000" cy="3429000"/>
          </a:xfrm>
          <a:ln/>
        </p:spPr>
      </p:sp>
      <p:sp>
        <p:nvSpPr>
          <p:cNvPr id="66564" name="Rectangle 3">
            <a:extLst>
              <a:ext uri="{FF2B5EF4-FFF2-40B4-BE49-F238E27FC236}">
                <a16:creationId xmlns:a16="http://schemas.microsoft.com/office/drawing/2014/main" id="{FF2B48E4-A4D2-41A2-ADD9-57E416697C5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940FD938-64E9-49B8-8D41-0AA9CFF8588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3768C068-C3B7-44F8-9765-DAF7AEE1DF3C}" type="slidenum">
              <a:rPr lang="en-US" altLang="zh-CN" sz="1200" b="0" smtClean="0">
                <a:latin typeface="Times New Roman" panose="02020603050405020304" pitchFamily="18" charset="0"/>
              </a:rPr>
              <a:pPr/>
              <a:t>35</a:t>
            </a:fld>
            <a:endParaRPr lang="en-US" altLang="zh-CN" sz="1200" b="0">
              <a:latin typeface="Times New Roman" panose="02020603050405020304" pitchFamily="18" charset="0"/>
            </a:endParaRPr>
          </a:p>
        </p:txBody>
      </p:sp>
      <p:sp>
        <p:nvSpPr>
          <p:cNvPr id="68611" name="Rectangle 2">
            <a:extLst>
              <a:ext uri="{FF2B5EF4-FFF2-40B4-BE49-F238E27FC236}">
                <a16:creationId xmlns:a16="http://schemas.microsoft.com/office/drawing/2014/main" id="{65A150B6-085F-431E-BB51-51C67B84C21A}"/>
              </a:ext>
            </a:extLst>
          </p:cNvPr>
          <p:cNvSpPr>
            <a:spLocks noGrp="1" noRot="1" noChangeAspect="1" noChangeArrowheads="1" noTextEdit="1"/>
          </p:cNvSpPr>
          <p:nvPr>
            <p:ph type="sldImg"/>
          </p:nvPr>
        </p:nvSpPr>
        <p:spPr>
          <a:xfrm>
            <a:off x="381000" y="685800"/>
            <a:ext cx="6096000" cy="3429000"/>
          </a:xfrm>
          <a:ln/>
        </p:spPr>
      </p:sp>
      <p:sp>
        <p:nvSpPr>
          <p:cNvPr id="68612" name="Rectangle 3">
            <a:extLst>
              <a:ext uri="{FF2B5EF4-FFF2-40B4-BE49-F238E27FC236}">
                <a16:creationId xmlns:a16="http://schemas.microsoft.com/office/drawing/2014/main" id="{E3D1DFDC-69C3-48CF-BB07-48C80C577F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E30110CF-14C9-4C79-A756-A14E418A9BD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8A5ECE04-E675-4A31-ADC1-D922EF6E8BB5}" type="slidenum">
              <a:rPr lang="en-US" altLang="zh-CN" sz="1200" b="0" smtClean="0">
                <a:latin typeface="Times New Roman" panose="02020603050405020304" pitchFamily="18" charset="0"/>
              </a:rPr>
              <a:pPr/>
              <a:t>36</a:t>
            </a:fld>
            <a:endParaRPr lang="en-US" altLang="zh-CN" sz="1200" b="0">
              <a:latin typeface="Times New Roman" panose="02020603050405020304" pitchFamily="18" charset="0"/>
            </a:endParaRPr>
          </a:p>
        </p:txBody>
      </p:sp>
      <p:sp>
        <p:nvSpPr>
          <p:cNvPr id="70659" name="Rectangle 2">
            <a:extLst>
              <a:ext uri="{FF2B5EF4-FFF2-40B4-BE49-F238E27FC236}">
                <a16:creationId xmlns:a16="http://schemas.microsoft.com/office/drawing/2014/main" id="{E8890A5F-7E88-408B-81F7-081D5E9A8C99}"/>
              </a:ext>
            </a:extLst>
          </p:cNvPr>
          <p:cNvSpPr>
            <a:spLocks noGrp="1" noRot="1" noChangeAspect="1" noChangeArrowheads="1" noTextEdit="1"/>
          </p:cNvSpPr>
          <p:nvPr>
            <p:ph type="sldImg"/>
          </p:nvPr>
        </p:nvSpPr>
        <p:spPr>
          <a:xfrm>
            <a:off x="381000" y="685800"/>
            <a:ext cx="6096000" cy="3429000"/>
          </a:xfrm>
          <a:ln/>
        </p:spPr>
      </p:sp>
      <p:sp>
        <p:nvSpPr>
          <p:cNvPr id="70660" name="Rectangle 3">
            <a:extLst>
              <a:ext uri="{FF2B5EF4-FFF2-40B4-BE49-F238E27FC236}">
                <a16:creationId xmlns:a16="http://schemas.microsoft.com/office/drawing/2014/main" id="{C5AFA18F-A745-4B2A-925E-DFC5C65B54A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D807776C-64E0-4845-9F67-645A7F6ED4F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9E52E7D7-36D4-4015-91BB-DF671A8ED051}" type="slidenum">
              <a:rPr lang="en-US" altLang="zh-CN" sz="1200" b="0" smtClean="0">
                <a:latin typeface="Times New Roman" panose="02020603050405020304" pitchFamily="18" charset="0"/>
              </a:rPr>
              <a:pPr/>
              <a:t>37</a:t>
            </a:fld>
            <a:endParaRPr lang="en-US" altLang="zh-CN" sz="1200" b="0">
              <a:latin typeface="Times New Roman" panose="02020603050405020304" pitchFamily="18" charset="0"/>
            </a:endParaRPr>
          </a:p>
        </p:txBody>
      </p:sp>
      <p:sp>
        <p:nvSpPr>
          <p:cNvPr id="72707" name="Rectangle 2">
            <a:extLst>
              <a:ext uri="{FF2B5EF4-FFF2-40B4-BE49-F238E27FC236}">
                <a16:creationId xmlns:a16="http://schemas.microsoft.com/office/drawing/2014/main" id="{ACA51F41-2423-47B8-87EF-E1411526BDAD}"/>
              </a:ext>
            </a:extLst>
          </p:cNvPr>
          <p:cNvSpPr>
            <a:spLocks noGrp="1" noRot="1" noChangeAspect="1" noChangeArrowheads="1" noTextEdit="1"/>
          </p:cNvSpPr>
          <p:nvPr>
            <p:ph type="sldImg"/>
          </p:nvPr>
        </p:nvSpPr>
        <p:spPr>
          <a:xfrm>
            <a:off x="381000" y="685800"/>
            <a:ext cx="6096000" cy="3429000"/>
          </a:xfrm>
          <a:ln/>
        </p:spPr>
      </p:sp>
      <p:sp>
        <p:nvSpPr>
          <p:cNvPr id="72708" name="Rectangle 3">
            <a:extLst>
              <a:ext uri="{FF2B5EF4-FFF2-40B4-BE49-F238E27FC236}">
                <a16:creationId xmlns:a16="http://schemas.microsoft.com/office/drawing/2014/main" id="{A4698461-4ED9-4CF1-97A5-EA79763B030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DF69F7AD-DCA0-4705-94AE-AAF2275B8F0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8B2F1CC-CC17-47DC-888E-62F5773E8AA0}" type="slidenum">
              <a:rPr lang="en-US" altLang="zh-CN" sz="1200" b="0" smtClean="0">
                <a:latin typeface="Times New Roman" panose="02020603050405020304" pitchFamily="18" charset="0"/>
              </a:rPr>
              <a:pPr/>
              <a:t>38</a:t>
            </a:fld>
            <a:endParaRPr lang="en-US" altLang="zh-CN" sz="1200" b="0">
              <a:latin typeface="Times New Roman" panose="02020603050405020304" pitchFamily="18" charset="0"/>
            </a:endParaRPr>
          </a:p>
        </p:txBody>
      </p:sp>
      <p:sp>
        <p:nvSpPr>
          <p:cNvPr id="74755" name="Rectangle 2">
            <a:extLst>
              <a:ext uri="{FF2B5EF4-FFF2-40B4-BE49-F238E27FC236}">
                <a16:creationId xmlns:a16="http://schemas.microsoft.com/office/drawing/2014/main" id="{C107E6BC-1F59-49B0-A7CA-A2F63722EDB7}"/>
              </a:ext>
            </a:extLst>
          </p:cNvPr>
          <p:cNvSpPr>
            <a:spLocks noGrp="1" noRot="1" noChangeAspect="1" noChangeArrowheads="1" noTextEdit="1"/>
          </p:cNvSpPr>
          <p:nvPr>
            <p:ph type="sldImg"/>
          </p:nvPr>
        </p:nvSpPr>
        <p:spPr>
          <a:xfrm>
            <a:off x="381000" y="685800"/>
            <a:ext cx="6096000" cy="3429000"/>
          </a:xfrm>
          <a:ln/>
        </p:spPr>
      </p:sp>
      <p:sp>
        <p:nvSpPr>
          <p:cNvPr id="74756" name="Rectangle 3">
            <a:extLst>
              <a:ext uri="{FF2B5EF4-FFF2-40B4-BE49-F238E27FC236}">
                <a16:creationId xmlns:a16="http://schemas.microsoft.com/office/drawing/2014/main" id="{9C094B59-B868-4AC9-92ED-36476AD2BDC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3BC27B48-CAC7-4F42-8688-75E7CCEE295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68B8B04A-1C58-4144-B983-EBDC2E849C80}" type="slidenum">
              <a:rPr lang="en-US" altLang="zh-CN" sz="1200" b="0" smtClean="0">
                <a:latin typeface="Times New Roman" panose="02020603050405020304" pitchFamily="18" charset="0"/>
              </a:rPr>
              <a:pPr/>
              <a:t>39</a:t>
            </a:fld>
            <a:endParaRPr lang="en-US" altLang="zh-CN" sz="1200" b="0">
              <a:latin typeface="Times New Roman" panose="02020603050405020304" pitchFamily="18" charset="0"/>
            </a:endParaRPr>
          </a:p>
        </p:txBody>
      </p:sp>
      <p:sp>
        <p:nvSpPr>
          <p:cNvPr id="76803" name="Rectangle 2">
            <a:extLst>
              <a:ext uri="{FF2B5EF4-FFF2-40B4-BE49-F238E27FC236}">
                <a16:creationId xmlns:a16="http://schemas.microsoft.com/office/drawing/2014/main" id="{630390D7-1E3F-4EA9-B550-3460C7AC8604}"/>
              </a:ext>
            </a:extLst>
          </p:cNvPr>
          <p:cNvSpPr>
            <a:spLocks noGrp="1" noRot="1" noChangeAspect="1" noChangeArrowheads="1" noTextEdit="1"/>
          </p:cNvSpPr>
          <p:nvPr>
            <p:ph type="sldImg"/>
          </p:nvPr>
        </p:nvSpPr>
        <p:spPr>
          <a:xfrm>
            <a:off x="381000" y="685800"/>
            <a:ext cx="6096000" cy="3429000"/>
          </a:xfrm>
          <a:ln/>
        </p:spPr>
      </p:sp>
      <p:sp>
        <p:nvSpPr>
          <p:cNvPr id="76804" name="Rectangle 3">
            <a:extLst>
              <a:ext uri="{FF2B5EF4-FFF2-40B4-BE49-F238E27FC236}">
                <a16:creationId xmlns:a16="http://schemas.microsoft.com/office/drawing/2014/main" id="{0CBEEF6B-9ABC-4517-8CE3-E9FF8D3CD93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0B1DE8E2-343A-4D2D-9316-4FD90B7AB2F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CDE9522A-F30C-4886-B2A2-D62B312464A4}" type="slidenum">
              <a:rPr lang="en-US" altLang="zh-CN" sz="1200" b="0" smtClean="0">
                <a:latin typeface="Times New Roman" panose="02020603050405020304" pitchFamily="18" charset="0"/>
              </a:rPr>
              <a:pPr/>
              <a:t>40</a:t>
            </a:fld>
            <a:endParaRPr lang="en-US" altLang="zh-CN" sz="1200" b="0">
              <a:latin typeface="Times New Roman" panose="02020603050405020304" pitchFamily="18" charset="0"/>
            </a:endParaRPr>
          </a:p>
        </p:txBody>
      </p:sp>
      <p:sp>
        <p:nvSpPr>
          <p:cNvPr id="78851" name="Rectangle 2">
            <a:extLst>
              <a:ext uri="{FF2B5EF4-FFF2-40B4-BE49-F238E27FC236}">
                <a16:creationId xmlns:a16="http://schemas.microsoft.com/office/drawing/2014/main" id="{A92605B3-F202-4F0D-86E4-C210D0A736D2}"/>
              </a:ext>
            </a:extLst>
          </p:cNvPr>
          <p:cNvSpPr>
            <a:spLocks noGrp="1" noRot="1" noChangeAspect="1" noChangeArrowheads="1" noTextEdit="1"/>
          </p:cNvSpPr>
          <p:nvPr>
            <p:ph type="sldImg"/>
          </p:nvPr>
        </p:nvSpPr>
        <p:spPr>
          <a:xfrm>
            <a:off x="381000" y="685800"/>
            <a:ext cx="6096000" cy="3429000"/>
          </a:xfrm>
          <a:ln/>
        </p:spPr>
      </p:sp>
      <p:sp>
        <p:nvSpPr>
          <p:cNvPr id="78852" name="Rectangle 3">
            <a:extLst>
              <a:ext uri="{FF2B5EF4-FFF2-40B4-BE49-F238E27FC236}">
                <a16:creationId xmlns:a16="http://schemas.microsoft.com/office/drawing/2014/main" id="{D17C5F00-AF78-4306-91A5-4AC97A0AFD6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24B68314-B643-4E0B-B43B-12190BB84AA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E5DDFEB-DD0C-4D9E-998E-AF1EBD631724}" type="slidenum">
              <a:rPr lang="en-US" altLang="zh-CN" sz="1200" b="0" smtClean="0">
                <a:latin typeface="Times New Roman" panose="02020603050405020304" pitchFamily="18" charset="0"/>
              </a:rPr>
              <a:pPr/>
              <a:t>42</a:t>
            </a:fld>
            <a:endParaRPr lang="en-US" altLang="zh-CN" sz="1200" b="0">
              <a:latin typeface="Times New Roman" panose="02020603050405020304" pitchFamily="18" charset="0"/>
            </a:endParaRPr>
          </a:p>
        </p:txBody>
      </p:sp>
      <p:sp>
        <p:nvSpPr>
          <p:cNvPr id="81923" name="Rectangle 2">
            <a:extLst>
              <a:ext uri="{FF2B5EF4-FFF2-40B4-BE49-F238E27FC236}">
                <a16:creationId xmlns:a16="http://schemas.microsoft.com/office/drawing/2014/main" id="{AC25E4BC-36F8-4AC8-8452-69B1BEBF7F0B}"/>
              </a:ext>
            </a:extLst>
          </p:cNvPr>
          <p:cNvSpPr>
            <a:spLocks noGrp="1" noRot="1" noChangeAspect="1" noChangeArrowheads="1" noTextEdit="1"/>
          </p:cNvSpPr>
          <p:nvPr>
            <p:ph type="sldImg"/>
          </p:nvPr>
        </p:nvSpPr>
        <p:spPr>
          <a:xfrm>
            <a:off x="381000" y="685800"/>
            <a:ext cx="6096000" cy="3429000"/>
          </a:xfrm>
          <a:ln/>
        </p:spPr>
      </p:sp>
      <p:sp>
        <p:nvSpPr>
          <p:cNvPr id="81924" name="Rectangle 3">
            <a:extLst>
              <a:ext uri="{FF2B5EF4-FFF2-40B4-BE49-F238E27FC236}">
                <a16:creationId xmlns:a16="http://schemas.microsoft.com/office/drawing/2014/main" id="{ACC9A980-3B5C-4EE9-8D50-1E65134062C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BA65D914-52FA-4B2E-96A1-10B16EA7CC8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854EE15B-ED26-4E02-9838-1CD4010031C3}" type="slidenum">
              <a:rPr lang="en-US" altLang="zh-CN" sz="1200" b="0" smtClean="0">
                <a:latin typeface="Times New Roman" panose="02020603050405020304" pitchFamily="18" charset="0"/>
              </a:rPr>
              <a:pPr/>
              <a:t>43</a:t>
            </a:fld>
            <a:endParaRPr lang="en-US" altLang="zh-CN" sz="1200" b="0">
              <a:latin typeface="Times New Roman" panose="02020603050405020304" pitchFamily="18" charset="0"/>
            </a:endParaRPr>
          </a:p>
        </p:txBody>
      </p:sp>
      <p:sp>
        <p:nvSpPr>
          <p:cNvPr id="83971" name="Rectangle 2">
            <a:extLst>
              <a:ext uri="{FF2B5EF4-FFF2-40B4-BE49-F238E27FC236}">
                <a16:creationId xmlns:a16="http://schemas.microsoft.com/office/drawing/2014/main" id="{0C598D1B-11E7-42C7-904A-3BB1966DC279}"/>
              </a:ext>
            </a:extLst>
          </p:cNvPr>
          <p:cNvSpPr>
            <a:spLocks noGrp="1" noRot="1" noChangeAspect="1" noChangeArrowheads="1" noTextEdit="1"/>
          </p:cNvSpPr>
          <p:nvPr>
            <p:ph type="sldImg"/>
          </p:nvPr>
        </p:nvSpPr>
        <p:spPr>
          <a:xfrm>
            <a:off x="381000" y="685800"/>
            <a:ext cx="6096000" cy="3429000"/>
          </a:xfrm>
          <a:ln/>
        </p:spPr>
      </p:sp>
      <p:sp>
        <p:nvSpPr>
          <p:cNvPr id="83972" name="Rectangle 3">
            <a:extLst>
              <a:ext uri="{FF2B5EF4-FFF2-40B4-BE49-F238E27FC236}">
                <a16:creationId xmlns:a16="http://schemas.microsoft.com/office/drawing/2014/main" id="{90D5508A-3C77-417A-B866-09801EF9EB4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D8CAFE95-8261-42DA-B982-F16B04B0D28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5AA3FAE-B3A7-49E7-93B5-E0D06B1DA30A}" type="slidenum">
              <a:rPr lang="en-US" altLang="zh-CN" sz="1200" b="0" smtClean="0">
                <a:latin typeface="Times New Roman" panose="02020603050405020304" pitchFamily="18" charset="0"/>
              </a:rPr>
              <a:pPr/>
              <a:t>44</a:t>
            </a:fld>
            <a:endParaRPr lang="en-US" altLang="zh-CN" sz="1200" b="0">
              <a:latin typeface="Times New Roman" panose="02020603050405020304" pitchFamily="18" charset="0"/>
            </a:endParaRPr>
          </a:p>
        </p:txBody>
      </p:sp>
      <p:sp>
        <p:nvSpPr>
          <p:cNvPr id="86019" name="Rectangle 2">
            <a:extLst>
              <a:ext uri="{FF2B5EF4-FFF2-40B4-BE49-F238E27FC236}">
                <a16:creationId xmlns:a16="http://schemas.microsoft.com/office/drawing/2014/main" id="{E73983FB-BF35-4F5C-BE42-2FB3D69B56C1}"/>
              </a:ext>
            </a:extLst>
          </p:cNvPr>
          <p:cNvSpPr>
            <a:spLocks noGrp="1" noRot="1" noChangeAspect="1" noChangeArrowheads="1" noTextEdit="1"/>
          </p:cNvSpPr>
          <p:nvPr>
            <p:ph type="sldImg"/>
          </p:nvPr>
        </p:nvSpPr>
        <p:spPr>
          <a:xfrm>
            <a:off x="381000" y="685800"/>
            <a:ext cx="6096000" cy="3429000"/>
          </a:xfrm>
          <a:ln/>
        </p:spPr>
      </p:sp>
      <p:sp>
        <p:nvSpPr>
          <p:cNvPr id="86020" name="Rectangle 3">
            <a:extLst>
              <a:ext uri="{FF2B5EF4-FFF2-40B4-BE49-F238E27FC236}">
                <a16:creationId xmlns:a16="http://schemas.microsoft.com/office/drawing/2014/main" id="{56C9DE20-6F56-4C90-9E1E-44EBF536D8E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2856218C-7BC8-485C-80CA-04B9D21B0AD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E113A5CE-5F95-4D0E-BCA4-757524D5BC22}" type="slidenum">
              <a:rPr lang="en-US" altLang="zh-CN" sz="1200" b="0" smtClean="0">
                <a:latin typeface="Times New Roman" panose="02020603050405020304" pitchFamily="18" charset="0"/>
              </a:rPr>
              <a:pPr/>
              <a:t>45</a:t>
            </a:fld>
            <a:endParaRPr lang="en-US" altLang="zh-CN" sz="1200" b="0">
              <a:latin typeface="Times New Roman" panose="02020603050405020304" pitchFamily="18" charset="0"/>
            </a:endParaRPr>
          </a:p>
        </p:txBody>
      </p:sp>
      <p:sp>
        <p:nvSpPr>
          <p:cNvPr id="96259" name="Rectangle 2">
            <a:extLst>
              <a:ext uri="{FF2B5EF4-FFF2-40B4-BE49-F238E27FC236}">
                <a16:creationId xmlns:a16="http://schemas.microsoft.com/office/drawing/2014/main" id="{FEEE36C4-AB65-4D89-A082-53103B407DA8}"/>
              </a:ext>
            </a:extLst>
          </p:cNvPr>
          <p:cNvSpPr>
            <a:spLocks noGrp="1" noRot="1" noChangeAspect="1" noChangeArrowheads="1" noTextEdit="1"/>
          </p:cNvSpPr>
          <p:nvPr>
            <p:ph type="sldImg"/>
          </p:nvPr>
        </p:nvSpPr>
        <p:spPr>
          <a:xfrm>
            <a:off x="381000" y="685800"/>
            <a:ext cx="6096000" cy="3429000"/>
          </a:xfrm>
          <a:ln/>
        </p:spPr>
      </p:sp>
      <p:sp>
        <p:nvSpPr>
          <p:cNvPr id="96260" name="Rectangle 3">
            <a:extLst>
              <a:ext uri="{FF2B5EF4-FFF2-40B4-BE49-F238E27FC236}">
                <a16:creationId xmlns:a16="http://schemas.microsoft.com/office/drawing/2014/main" id="{A448005C-CDFC-4491-8700-47D091B832E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D848F464-9F84-46CF-B075-A5F047CDBF4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E080363A-7DCB-47F7-A5F6-8E24E3557BC1}" type="slidenum">
              <a:rPr lang="en-US" altLang="zh-CN" sz="1200" b="0" smtClean="0">
                <a:latin typeface="Times New Roman" panose="02020603050405020304" pitchFamily="18" charset="0"/>
              </a:rPr>
              <a:pPr/>
              <a:t>46</a:t>
            </a:fld>
            <a:endParaRPr lang="en-US" altLang="zh-CN" sz="1200" b="0">
              <a:latin typeface="Times New Roman" panose="02020603050405020304" pitchFamily="18" charset="0"/>
            </a:endParaRPr>
          </a:p>
        </p:txBody>
      </p:sp>
      <p:sp>
        <p:nvSpPr>
          <p:cNvPr id="99331" name="Rectangle 2">
            <a:extLst>
              <a:ext uri="{FF2B5EF4-FFF2-40B4-BE49-F238E27FC236}">
                <a16:creationId xmlns:a16="http://schemas.microsoft.com/office/drawing/2014/main" id="{04A9ADCE-757A-4A51-B5B9-30690FFC3A9F}"/>
              </a:ext>
            </a:extLst>
          </p:cNvPr>
          <p:cNvSpPr>
            <a:spLocks noGrp="1" noRot="1" noChangeAspect="1" noChangeArrowheads="1" noTextEdit="1"/>
          </p:cNvSpPr>
          <p:nvPr>
            <p:ph type="sldImg"/>
          </p:nvPr>
        </p:nvSpPr>
        <p:spPr>
          <a:xfrm>
            <a:off x="381000" y="685800"/>
            <a:ext cx="6096000" cy="3429000"/>
          </a:xfrm>
          <a:ln/>
        </p:spPr>
      </p:sp>
      <p:sp>
        <p:nvSpPr>
          <p:cNvPr id="99332" name="Rectangle 3">
            <a:extLst>
              <a:ext uri="{FF2B5EF4-FFF2-40B4-BE49-F238E27FC236}">
                <a16:creationId xmlns:a16="http://schemas.microsoft.com/office/drawing/2014/main" id="{70EC4E7D-EA1F-4912-A0DD-710CB5874F6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4CF8FFCA-BC0B-4F5B-AB91-E7278338EC0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6AF528A2-950F-4E17-A0AB-F4AB20B3FC61}" type="slidenum">
              <a:rPr lang="en-US" altLang="zh-CN" sz="1200" b="0" smtClean="0">
                <a:latin typeface="Times New Roman" panose="02020603050405020304" pitchFamily="18" charset="0"/>
              </a:rPr>
              <a:pPr/>
              <a:t>47</a:t>
            </a:fld>
            <a:endParaRPr lang="en-US" altLang="zh-CN" sz="1200" b="0">
              <a:latin typeface="Times New Roman" panose="02020603050405020304" pitchFamily="18" charset="0"/>
            </a:endParaRPr>
          </a:p>
        </p:txBody>
      </p:sp>
      <p:sp>
        <p:nvSpPr>
          <p:cNvPr id="103427" name="Rectangle 2">
            <a:extLst>
              <a:ext uri="{FF2B5EF4-FFF2-40B4-BE49-F238E27FC236}">
                <a16:creationId xmlns:a16="http://schemas.microsoft.com/office/drawing/2014/main" id="{105185BB-5B15-41A1-BA28-F6DE31B836E7}"/>
              </a:ext>
            </a:extLst>
          </p:cNvPr>
          <p:cNvSpPr>
            <a:spLocks noGrp="1" noRot="1" noChangeAspect="1" noChangeArrowheads="1" noTextEdit="1"/>
          </p:cNvSpPr>
          <p:nvPr>
            <p:ph type="sldImg"/>
          </p:nvPr>
        </p:nvSpPr>
        <p:spPr>
          <a:xfrm>
            <a:off x="381000" y="685800"/>
            <a:ext cx="6096000" cy="3429000"/>
          </a:xfrm>
          <a:ln/>
        </p:spPr>
      </p:sp>
      <p:sp>
        <p:nvSpPr>
          <p:cNvPr id="103428" name="Rectangle 3">
            <a:extLst>
              <a:ext uri="{FF2B5EF4-FFF2-40B4-BE49-F238E27FC236}">
                <a16:creationId xmlns:a16="http://schemas.microsoft.com/office/drawing/2014/main" id="{3E456BB8-89B0-49FC-A5FE-B46DED7B57F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E2019B6F-2D64-4BC0-8D25-064BBCBEA61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222806D-36AA-4F3A-8215-0A9D949670C7}" type="slidenum">
              <a:rPr lang="en-US" altLang="zh-CN" sz="1200" b="0" smtClean="0">
                <a:latin typeface="Times New Roman" panose="02020603050405020304" pitchFamily="18" charset="0"/>
              </a:rPr>
              <a:pPr/>
              <a:t>48</a:t>
            </a:fld>
            <a:endParaRPr lang="en-US" altLang="zh-CN" sz="1200" b="0">
              <a:latin typeface="Times New Roman" panose="02020603050405020304" pitchFamily="18" charset="0"/>
            </a:endParaRPr>
          </a:p>
        </p:txBody>
      </p:sp>
      <p:sp>
        <p:nvSpPr>
          <p:cNvPr id="107523" name="Rectangle 2">
            <a:extLst>
              <a:ext uri="{FF2B5EF4-FFF2-40B4-BE49-F238E27FC236}">
                <a16:creationId xmlns:a16="http://schemas.microsoft.com/office/drawing/2014/main" id="{33225962-A59B-4876-B28A-0C9FA6678319}"/>
              </a:ext>
            </a:extLst>
          </p:cNvPr>
          <p:cNvSpPr>
            <a:spLocks noGrp="1" noRot="1" noChangeAspect="1" noChangeArrowheads="1" noTextEdit="1"/>
          </p:cNvSpPr>
          <p:nvPr>
            <p:ph type="sldImg"/>
          </p:nvPr>
        </p:nvSpPr>
        <p:spPr>
          <a:xfrm>
            <a:off x="381000" y="685800"/>
            <a:ext cx="6096000" cy="3429000"/>
          </a:xfrm>
          <a:ln/>
        </p:spPr>
      </p:sp>
      <p:sp>
        <p:nvSpPr>
          <p:cNvPr id="107524" name="Rectangle 3">
            <a:extLst>
              <a:ext uri="{FF2B5EF4-FFF2-40B4-BE49-F238E27FC236}">
                <a16:creationId xmlns:a16="http://schemas.microsoft.com/office/drawing/2014/main" id="{3279F71E-8E67-4386-B489-A116C837A66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2BAE6BB4-153A-46FB-8FE2-C0C67B750D3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19B09A2E-5A03-4F54-8179-9818520AECBA}" type="slidenum">
              <a:rPr lang="en-US" altLang="zh-CN" sz="1200" b="0" smtClean="0">
                <a:latin typeface="Times New Roman" panose="02020603050405020304" pitchFamily="18" charset="0"/>
              </a:rPr>
              <a:pPr/>
              <a:t>49</a:t>
            </a:fld>
            <a:endParaRPr lang="en-US" altLang="zh-CN" sz="1200" b="0">
              <a:latin typeface="Times New Roman" panose="02020603050405020304" pitchFamily="18" charset="0"/>
            </a:endParaRPr>
          </a:p>
        </p:txBody>
      </p:sp>
      <p:sp>
        <p:nvSpPr>
          <p:cNvPr id="111619" name="Rectangle 2">
            <a:extLst>
              <a:ext uri="{FF2B5EF4-FFF2-40B4-BE49-F238E27FC236}">
                <a16:creationId xmlns:a16="http://schemas.microsoft.com/office/drawing/2014/main" id="{F5F5BC99-86F9-4BD1-B49B-6390B6F34089}"/>
              </a:ext>
            </a:extLst>
          </p:cNvPr>
          <p:cNvSpPr>
            <a:spLocks noGrp="1" noRot="1" noChangeAspect="1" noChangeArrowheads="1" noTextEdit="1"/>
          </p:cNvSpPr>
          <p:nvPr>
            <p:ph type="sldImg"/>
          </p:nvPr>
        </p:nvSpPr>
        <p:spPr>
          <a:xfrm>
            <a:off x="381000" y="685800"/>
            <a:ext cx="6096000" cy="3429000"/>
          </a:xfrm>
          <a:ln/>
        </p:spPr>
      </p:sp>
      <p:sp>
        <p:nvSpPr>
          <p:cNvPr id="111620" name="Rectangle 3">
            <a:extLst>
              <a:ext uri="{FF2B5EF4-FFF2-40B4-BE49-F238E27FC236}">
                <a16:creationId xmlns:a16="http://schemas.microsoft.com/office/drawing/2014/main" id="{917734B0-2AB6-4A43-9499-F465813FC20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558CE248-D5E3-4077-B036-E4FE0F7A38C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CACE4D81-6206-49EE-8B34-AE13967E1EA3}" type="slidenum">
              <a:rPr lang="en-US" altLang="zh-CN" sz="1200" b="0" smtClean="0">
                <a:latin typeface="Times New Roman" panose="02020603050405020304" pitchFamily="18" charset="0"/>
              </a:rPr>
              <a:pPr/>
              <a:t>50</a:t>
            </a:fld>
            <a:endParaRPr lang="en-US" altLang="zh-CN" sz="1200" b="0">
              <a:latin typeface="Times New Roman" panose="02020603050405020304" pitchFamily="18" charset="0"/>
            </a:endParaRPr>
          </a:p>
        </p:txBody>
      </p:sp>
      <p:sp>
        <p:nvSpPr>
          <p:cNvPr id="118787" name="Rectangle 2">
            <a:extLst>
              <a:ext uri="{FF2B5EF4-FFF2-40B4-BE49-F238E27FC236}">
                <a16:creationId xmlns:a16="http://schemas.microsoft.com/office/drawing/2014/main" id="{B7B6662D-B14A-4AFC-B3A7-1E47C17D6B35}"/>
              </a:ext>
            </a:extLst>
          </p:cNvPr>
          <p:cNvSpPr>
            <a:spLocks noGrp="1" noRot="1" noChangeAspect="1" noChangeArrowheads="1" noTextEdit="1"/>
          </p:cNvSpPr>
          <p:nvPr>
            <p:ph type="sldImg"/>
          </p:nvPr>
        </p:nvSpPr>
        <p:spPr>
          <a:xfrm>
            <a:off x="381000" y="685800"/>
            <a:ext cx="6096000" cy="3429000"/>
          </a:xfrm>
          <a:ln/>
        </p:spPr>
      </p:sp>
      <p:sp>
        <p:nvSpPr>
          <p:cNvPr id="118788" name="Rectangle 3">
            <a:extLst>
              <a:ext uri="{FF2B5EF4-FFF2-40B4-BE49-F238E27FC236}">
                <a16:creationId xmlns:a16="http://schemas.microsoft.com/office/drawing/2014/main" id="{764FEE63-1D3B-4DB7-93DA-743BC9EEAD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891E10FB-1CAD-4261-A87E-81859B56B3C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7ECA1D59-E02D-4BA4-B4A9-09BBAB31106A}" type="slidenum">
              <a:rPr lang="en-US" altLang="zh-CN" sz="1200" b="0" smtClean="0">
                <a:latin typeface="Times New Roman" panose="02020603050405020304" pitchFamily="18" charset="0"/>
              </a:rPr>
              <a:pPr/>
              <a:t>51</a:t>
            </a:fld>
            <a:endParaRPr lang="en-US" altLang="zh-CN" sz="1200" b="0">
              <a:latin typeface="Times New Roman" panose="02020603050405020304" pitchFamily="18" charset="0"/>
            </a:endParaRPr>
          </a:p>
        </p:txBody>
      </p:sp>
      <p:sp>
        <p:nvSpPr>
          <p:cNvPr id="124931" name="Rectangle 2">
            <a:extLst>
              <a:ext uri="{FF2B5EF4-FFF2-40B4-BE49-F238E27FC236}">
                <a16:creationId xmlns:a16="http://schemas.microsoft.com/office/drawing/2014/main" id="{F6481929-A083-463B-8BAA-D136752B6B3C}"/>
              </a:ext>
            </a:extLst>
          </p:cNvPr>
          <p:cNvSpPr>
            <a:spLocks noGrp="1" noRot="1" noChangeAspect="1" noChangeArrowheads="1" noTextEdit="1"/>
          </p:cNvSpPr>
          <p:nvPr>
            <p:ph type="sldImg"/>
          </p:nvPr>
        </p:nvSpPr>
        <p:spPr>
          <a:xfrm>
            <a:off x="381000" y="685800"/>
            <a:ext cx="6096000" cy="3429000"/>
          </a:xfrm>
          <a:ln/>
        </p:spPr>
      </p:sp>
      <p:sp>
        <p:nvSpPr>
          <p:cNvPr id="124932" name="Rectangle 3">
            <a:extLst>
              <a:ext uri="{FF2B5EF4-FFF2-40B4-BE49-F238E27FC236}">
                <a16:creationId xmlns:a16="http://schemas.microsoft.com/office/drawing/2014/main" id="{F98CB952-15F0-4210-8165-DF40BC68C79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8029AC79-47DB-4FBA-9BC2-A807A90F090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D777398-A027-46D1-9808-84613BF850BF}" type="slidenum">
              <a:rPr lang="en-US" altLang="zh-CN" sz="1200" b="0" smtClean="0">
                <a:latin typeface="Times New Roman" panose="02020603050405020304" pitchFamily="18" charset="0"/>
              </a:rPr>
              <a:pPr/>
              <a:t>52</a:t>
            </a:fld>
            <a:endParaRPr lang="en-US" altLang="zh-CN" sz="1200" b="0">
              <a:latin typeface="Times New Roman" panose="02020603050405020304" pitchFamily="18" charset="0"/>
            </a:endParaRPr>
          </a:p>
        </p:txBody>
      </p:sp>
      <p:sp>
        <p:nvSpPr>
          <p:cNvPr id="126979" name="Rectangle 2">
            <a:extLst>
              <a:ext uri="{FF2B5EF4-FFF2-40B4-BE49-F238E27FC236}">
                <a16:creationId xmlns:a16="http://schemas.microsoft.com/office/drawing/2014/main" id="{FA84556A-A827-48D4-907A-09085D7911C1}"/>
              </a:ext>
            </a:extLst>
          </p:cNvPr>
          <p:cNvSpPr>
            <a:spLocks noGrp="1" noRot="1" noChangeAspect="1" noChangeArrowheads="1" noTextEdit="1"/>
          </p:cNvSpPr>
          <p:nvPr>
            <p:ph type="sldImg"/>
          </p:nvPr>
        </p:nvSpPr>
        <p:spPr>
          <a:xfrm>
            <a:off x="381000" y="685800"/>
            <a:ext cx="6096000" cy="3429000"/>
          </a:xfrm>
          <a:ln/>
        </p:spPr>
      </p:sp>
      <p:sp>
        <p:nvSpPr>
          <p:cNvPr id="126980" name="Rectangle 3">
            <a:extLst>
              <a:ext uri="{FF2B5EF4-FFF2-40B4-BE49-F238E27FC236}">
                <a16:creationId xmlns:a16="http://schemas.microsoft.com/office/drawing/2014/main" id="{16A53F45-6B6B-40ED-B154-6DF6F293F15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8E0553B7-8C91-4041-9DA6-A9AF250F25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6B5E9AA8-E6EF-4EBD-9730-EA9218C2A8DC}" type="slidenum">
              <a:rPr lang="en-US" altLang="zh-CN" sz="1200" b="0" smtClean="0">
                <a:latin typeface="Times New Roman" panose="02020603050405020304" pitchFamily="18" charset="0"/>
              </a:rPr>
              <a:pPr/>
              <a:t>53</a:t>
            </a:fld>
            <a:endParaRPr lang="en-US" altLang="zh-CN" sz="1200" b="0">
              <a:latin typeface="Times New Roman" panose="02020603050405020304" pitchFamily="18" charset="0"/>
            </a:endParaRPr>
          </a:p>
        </p:txBody>
      </p:sp>
      <p:sp>
        <p:nvSpPr>
          <p:cNvPr id="129027" name="Rectangle 2">
            <a:extLst>
              <a:ext uri="{FF2B5EF4-FFF2-40B4-BE49-F238E27FC236}">
                <a16:creationId xmlns:a16="http://schemas.microsoft.com/office/drawing/2014/main" id="{A1A5B5FC-E069-4921-9D2E-04753DC908F4}"/>
              </a:ext>
            </a:extLst>
          </p:cNvPr>
          <p:cNvSpPr>
            <a:spLocks noGrp="1" noRot="1" noChangeAspect="1" noChangeArrowheads="1" noTextEdit="1"/>
          </p:cNvSpPr>
          <p:nvPr>
            <p:ph type="sldImg"/>
          </p:nvPr>
        </p:nvSpPr>
        <p:spPr>
          <a:xfrm>
            <a:off x="381000" y="685800"/>
            <a:ext cx="6096000" cy="3429000"/>
          </a:xfrm>
          <a:ln/>
        </p:spPr>
      </p:sp>
      <p:sp>
        <p:nvSpPr>
          <p:cNvPr id="129028" name="Rectangle 3">
            <a:extLst>
              <a:ext uri="{FF2B5EF4-FFF2-40B4-BE49-F238E27FC236}">
                <a16:creationId xmlns:a16="http://schemas.microsoft.com/office/drawing/2014/main" id="{B38EC048-EDDF-42C0-A2F4-5CF9F053965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a:extLst>
              <a:ext uri="{FF2B5EF4-FFF2-40B4-BE49-F238E27FC236}">
                <a16:creationId xmlns:a16="http://schemas.microsoft.com/office/drawing/2014/main" id="{25F16928-903A-4EA2-B267-B1E7A16AB0D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7A2EA609-2619-492E-9020-7D3CFBC682E3}" type="slidenum">
              <a:rPr lang="en-US" altLang="zh-CN" sz="1200" b="0" smtClean="0">
                <a:latin typeface="Times New Roman" panose="02020603050405020304" pitchFamily="18" charset="0"/>
              </a:rPr>
              <a:pPr/>
              <a:t>54</a:t>
            </a:fld>
            <a:endParaRPr lang="en-US" altLang="zh-CN" sz="1200" b="0">
              <a:latin typeface="Times New Roman" panose="02020603050405020304" pitchFamily="18" charset="0"/>
            </a:endParaRPr>
          </a:p>
        </p:txBody>
      </p:sp>
      <p:sp>
        <p:nvSpPr>
          <p:cNvPr id="133123" name="Rectangle 2">
            <a:extLst>
              <a:ext uri="{FF2B5EF4-FFF2-40B4-BE49-F238E27FC236}">
                <a16:creationId xmlns:a16="http://schemas.microsoft.com/office/drawing/2014/main" id="{27875894-7587-4DB1-9516-DAFF81736253}"/>
              </a:ext>
            </a:extLst>
          </p:cNvPr>
          <p:cNvSpPr>
            <a:spLocks noGrp="1" noRot="1" noChangeAspect="1" noChangeArrowheads="1" noTextEdit="1"/>
          </p:cNvSpPr>
          <p:nvPr>
            <p:ph type="sldImg"/>
          </p:nvPr>
        </p:nvSpPr>
        <p:spPr>
          <a:xfrm>
            <a:off x="381000" y="685800"/>
            <a:ext cx="6096000" cy="3429000"/>
          </a:xfrm>
          <a:ln/>
        </p:spPr>
      </p:sp>
      <p:sp>
        <p:nvSpPr>
          <p:cNvPr id="133124" name="Rectangle 3">
            <a:extLst>
              <a:ext uri="{FF2B5EF4-FFF2-40B4-BE49-F238E27FC236}">
                <a16:creationId xmlns:a16="http://schemas.microsoft.com/office/drawing/2014/main" id="{069B4B03-13A6-433A-A27B-B0A154B06FB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a:extLst>
              <a:ext uri="{FF2B5EF4-FFF2-40B4-BE49-F238E27FC236}">
                <a16:creationId xmlns:a16="http://schemas.microsoft.com/office/drawing/2014/main" id="{B6AD388A-7318-407F-8C47-6E72EF13634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D206DACE-3312-46E5-B0D2-13CAF2E9891B}" type="slidenum">
              <a:rPr lang="en-US" altLang="zh-CN" sz="1200" b="0" smtClean="0">
                <a:latin typeface="Times New Roman" panose="02020603050405020304" pitchFamily="18" charset="0"/>
              </a:rPr>
              <a:pPr/>
              <a:t>55</a:t>
            </a:fld>
            <a:endParaRPr lang="en-US" altLang="zh-CN" sz="1200" b="0">
              <a:latin typeface="Times New Roman" panose="02020603050405020304" pitchFamily="18" charset="0"/>
            </a:endParaRPr>
          </a:p>
        </p:txBody>
      </p:sp>
      <p:sp>
        <p:nvSpPr>
          <p:cNvPr id="135171" name="Rectangle 2">
            <a:extLst>
              <a:ext uri="{FF2B5EF4-FFF2-40B4-BE49-F238E27FC236}">
                <a16:creationId xmlns:a16="http://schemas.microsoft.com/office/drawing/2014/main" id="{B0328396-981C-4269-B4AE-F3AAF0035CF3}"/>
              </a:ext>
            </a:extLst>
          </p:cNvPr>
          <p:cNvSpPr>
            <a:spLocks noGrp="1" noRot="1" noChangeAspect="1" noChangeArrowheads="1" noTextEdit="1"/>
          </p:cNvSpPr>
          <p:nvPr>
            <p:ph type="sldImg"/>
          </p:nvPr>
        </p:nvSpPr>
        <p:spPr>
          <a:xfrm>
            <a:off x="381000" y="685800"/>
            <a:ext cx="6096000" cy="3429000"/>
          </a:xfrm>
          <a:ln/>
        </p:spPr>
      </p:sp>
      <p:sp>
        <p:nvSpPr>
          <p:cNvPr id="135172" name="Rectangle 3">
            <a:extLst>
              <a:ext uri="{FF2B5EF4-FFF2-40B4-BE49-F238E27FC236}">
                <a16:creationId xmlns:a16="http://schemas.microsoft.com/office/drawing/2014/main" id="{5E52B827-6460-4215-AE81-A940A1FA665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a:extLst>
              <a:ext uri="{FF2B5EF4-FFF2-40B4-BE49-F238E27FC236}">
                <a16:creationId xmlns:a16="http://schemas.microsoft.com/office/drawing/2014/main" id="{0701A876-EE83-4F00-9CE2-3627F3FE37F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12C4BA2A-4552-4676-BA96-BA52C04150FC}" type="slidenum">
              <a:rPr lang="en-US" altLang="zh-CN" sz="1200" b="0" smtClean="0">
                <a:latin typeface="Times New Roman" panose="02020603050405020304" pitchFamily="18" charset="0"/>
              </a:rPr>
              <a:pPr/>
              <a:t>56</a:t>
            </a:fld>
            <a:endParaRPr lang="en-US" altLang="zh-CN" sz="1200" b="0">
              <a:latin typeface="Times New Roman" panose="02020603050405020304" pitchFamily="18" charset="0"/>
            </a:endParaRPr>
          </a:p>
        </p:txBody>
      </p:sp>
      <p:sp>
        <p:nvSpPr>
          <p:cNvPr id="139267" name="Rectangle 2">
            <a:extLst>
              <a:ext uri="{FF2B5EF4-FFF2-40B4-BE49-F238E27FC236}">
                <a16:creationId xmlns:a16="http://schemas.microsoft.com/office/drawing/2014/main" id="{ECA3F552-24E7-4A04-9037-6A98495166E2}"/>
              </a:ext>
            </a:extLst>
          </p:cNvPr>
          <p:cNvSpPr>
            <a:spLocks noGrp="1" noRot="1" noChangeAspect="1" noChangeArrowheads="1" noTextEdit="1"/>
          </p:cNvSpPr>
          <p:nvPr>
            <p:ph type="sldImg"/>
          </p:nvPr>
        </p:nvSpPr>
        <p:spPr>
          <a:xfrm>
            <a:off x="381000" y="685800"/>
            <a:ext cx="6096000" cy="3429000"/>
          </a:xfrm>
          <a:ln/>
        </p:spPr>
      </p:sp>
      <p:sp>
        <p:nvSpPr>
          <p:cNvPr id="139268" name="Rectangle 3">
            <a:extLst>
              <a:ext uri="{FF2B5EF4-FFF2-40B4-BE49-F238E27FC236}">
                <a16:creationId xmlns:a16="http://schemas.microsoft.com/office/drawing/2014/main" id="{DA9DD470-0F69-4A50-B98B-96C65CF2AC3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BFC91707-65D8-4474-8126-58CD2E2E4284}"/>
              </a:ext>
            </a:extLst>
          </p:cNvPr>
          <p:cNvGrpSpPr>
            <a:grpSpLocks/>
          </p:cNvGrpSpPr>
          <p:nvPr/>
        </p:nvGrpSpPr>
        <p:grpSpPr bwMode="auto">
          <a:xfrm>
            <a:off x="1" y="2438401"/>
            <a:ext cx="12012084" cy="1052513"/>
            <a:chOff x="0" y="1536"/>
            <a:chExt cx="5675" cy="663"/>
          </a:xfrm>
        </p:grpSpPr>
        <p:grpSp>
          <p:nvGrpSpPr>
            <p:cNvPr id="5" name="Group 3">
              <a:extLst>
                <a:ext uri="{FF2B5EF4-FFF2-40B4-BE49-F238E27FC236}">
                  <a16:creationId xmlns:a16="http://schemas.microsoft.com/office/drawing/2014/main" id="{78D1F527-9754-4E72-9F1C-E57A979B61EF}"/>
                </a:ext>
              </a:extLst>
            </p:cNvPr>
            <p:cNvGrpSpPr>
              <a:grpSpLocks/>
            </p:cNvGrpSpPr>
            <p:nvPr/>
          </p:nvGrpSpPr>
          <p:grpSpPr bwMode="auto">
            <a:xfrm>
              <a:off x="185" y="1604"/>
              <a:ext cx="449" cy="299"/>
              <a:chOff x="720" y="336"/>
              <a:chExt cx="624" cy="432"/>
            </a:xfrm>
          </p:grpSpPr>
          <p:sp>
            <p:nvSpPr>
              <p:cNvPr id="12" name="Rectangle 4">
                <a:extLst>
                  <a:ext uri="{FF2B5EF4-FFF2-40B4-BE49-F238E27FC236}">
                    <a16:creationId xmlns:a16="http://schemas.microsoft.com/office/drawing/2014/main" id="{FFBA8C39-71C6-48CA-BE60-1AC1897A51B9}"/>
                  </a:ext>
                </a:extLst>
              </p:cNvPr>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sz="3200">
                  <a:ea typeface="宋体" charset="-122"/>
                </a:endParaRPr>
              </a:p>
            </p:txBody>
          </p:sp>
          <p:sp>
            <p:nvSpPr>
              <p:cNvPr id="13" name="Rectangle 5">
                <a:extLst>
                  <a:ext uri="{FF2B5EF4-FFF2-40B4-BE49-F238E27FC236}">
                    <a16:creationId xmlns:a16="http://schemas.microsoft.com/office/drawing/2014/main" id="{AC1C1232-6100-47AE-B078-702973E08F1E}"/>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sz="3200">
                  <a:ea typeface="宋体" charset="-122"/>
                </a:endParaRPr>
              </a:p>
            </p:txBody>
          </p:sp>
        </p:grpSp>
        <p:grpSp>
          <p:nvGrpSpPr>
            <p:cNvPr id="6" name="Group 6">
              <a:extLst>
                <a:ext uri="{FF2B5EF4-FFF2-40B4-BE49-F238E27FC236}">
                  <a16:creationId xmlns:a16="http://schemas.microsoft.com/office/drawing/2014/main" id="{53F07CBA-8BB4-4413-AABA-ABCA18F26D1A}"/>
                </a:ext>
              </a:extLst>
            </p:cNvPr>
            <p:cNvGrpSpPr>
              <a:grpSpLocks/>
            </p:cNvGrpSpPr>
            <p:nvPr/>
          </p:nvGrpSpPr>
          <p:grpSpPr bwMode="auto">
            <a:xfrm>
              <a:off x="263" y="1870"/>
              <a:ext cx="466" cy="299"/>
              <a:chOff x="912" y="2640"/>
              <a:chExt cx="672" cy="432"/>
            </a:xfrm>
          </p:grpSpPr>
          <p:sp>
            <p:nvSpPr>
              <p:cNvPr id="10" name="Rectangle 7">
                <a:extLst>
                  <a:ext uri="{FF2B5EF4-FFF2-40B4-BE49-F238E27FC236}">
                    <a16:creationId xmlns:a16="http://schemas.microsoft.com/office/drawing/2014/main" id="{85E7355F-4FD7-4C55-BA14-F00D8539BAC0}"/>
                  </a:ext>
                </a:extLst>
              </p:cNvPr>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sz="3200">
                  <a:ea typeface="宋体" charset="-122"/>
                </a:endParaRPr>
              </a:p>
            </p:txBody>
          </p:sp>
          <p:sp>
            <p:nvSpPr>
              <p:cNvPr id="11" name="Rectangle 8">
                <a:extLst>
                  <a:ext uri="{FF2B5EF4-FFF2-40B4-BE49-F238E27FC236}">
                    <a16:creationId xmlns:a16="http://schemas.microsoft.com/office/drawing/2014/main" id="{F0F1F512-B5E4-4B79-97E2-78A51869E096}"/>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sz="3200">
                  <a:ea typeface="宋体" charset="-122"/>
                </a:endParaRPr>
              </a:p>
            </p:txBody>
          </p:sp>
        </p:grpSp>
        <p:sp>
          <p:nvSpPr>
            <p:cNvPr id="7" name="Rectangle 9">
              <a:extLst>
                <a:ext uri="{FF2B5EF4-FFF2-40B4-BE49-F238E27FC236}">
                  <a16:creationId xmlns:a16="http://schemas.microsoft.com/office/drawing/2014/main" id="{6C5EA5C7-A9B9-4816-BB65-32A1A6679CA1}"/>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sz="3200">
                <a:ea typeface="宋体" charset="-122"/>
              </a:endParaRPr>
            </a:p>
          </p:txBody>
        </p:sp>
        <p:sp>
          <p:nvSpPr>
            <p:cNvPr id="8" name="Rectangle 10">
              <a:extLst>
                <a:ext uri="{FF2B5EF4-FFF2-40B4-BE49-F238E27FC236}">
                  <a16:creationId xmlns:a16="http://schemas.microsoft.com/office/drawing/2014/main" id="{99E63747-D916-44BF-A145-4EDC772D562A}"/>
                </a:ext>
              </a:extLst>
            </p:cNvPr>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sz="3200">
                <a:ea typeface="宋体" charset="-122"/>
              </a:endParaRPr>
            </a:p>
          </p:txBody>
        </p:sp>
        <p:sp>
          <p:nvSpPr>
            <p:cNvPr id="9" name="Rectangle 11">
              <a:extLst>
                <a:ext uri="{FF2B5EF4-FFF2-40B4-BE49-F238E27FC236}">
                  <a16:creationId xmlns:a16="http://schemas.microsoft.com/office/drawing/2014/main" id="{31F98F07-556E-4C82-AF62-5ACC9A765FE4}"/>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sz="3200">
                <a:ea typeface="宋体" charset="-122"/>
              </a:endParaRPr>
            </a:p>
          </p:txBody>
        </p:sp>
      </p:grpSp>
      <p:sp>
        <p:nvSpPr>
          <p:cNvPr id="14" name="Text Box 17">
            <a:extLst>
              <a:ext uri="{FF2B5EF4-FFF2-40B4-BE49-F238E27FC236}">
                <a16:creationId xmlns:a16="http://schemas.microsoft.com/office/drawing/2014/main" id="{0687A17C-8E0E-44AE-BED6-C97A578C77A0}"/>
              </a:ext>
            </a:extLst>
          </p:cNvPr>
          <p:cNvSpPr txBox="1">
            <a:spLocks noChangeArrowheads="1"/>
          </p:cNvSpPr>
          <p:nvPr userDrawn="1"/>
        </p:nvSpPr>
        <p:spPr bwMode="auto">
          <a:xfrm>
            <a:off x="0" y="6553200"/>
            <a:ext cx="2946400" cy="304800"/>
          </a:xfrm>
          <a:prstGeom prst="rect">
            <a:avLst/>
          </a:prstGeom>
          <a:noFill/>
          <a:ln>
            <a:noFill/>
          </a:ln>
          <a:effectLst/>
        </p:spPr>
        <p:txBody>
          <a:bodyPr>
            <a:spAutoFit/>
          </a:bodyP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eaLnBrk="1" hangingPunct="1">
              <a:spcBef>
                <a:spcPct val="50000"/>
              </a:spcBef>
              <a:defRPr/>
            </a:pPr>
            <a:r>
              <a:rPr lang="en-US" altLang="en-US" sz="1400" b="0">
                <a:latin typeface="McGrawHill-Italic" pitchFamily="2" charset="0"/>
              </a:rPr>
              <a:t>McGraw-Hill</a:t>
            </a:r>
            <a:endParaRPr lang="en-US" altLang="en-US" sz="2400" b="0">
              <a:latin typeface="Times New Roman" pitchFamily="18" charset="0"/>
            </a:endParaRPr>
          </a:p>
        </p:txBody>
      </p:sp>
      <p:sp>
        <p:nvSpPr>
          <p:cNvPr id="15" name="Text Box 18">
            <a:extLst>
              <a:ext uri="{FF2B5EF4-FFF2-40B4-BE49-F238E27FC236}">
                <a16:creationId xmlns:a16="http://schemas.microsoft.com/office/drawing/2014/main" id="{5790C91D-15FE-4730-96F1-F3A97A5A99F1}"/>
              </a:ext>
            </a:extLst>
          </p:cNvPr>
          <p:cNvSpPr txBox="1">
            <a:spLocks noChangeArrowheads="1"/>
          </p:cNvSpPr>
          <p:nvPr userDrawn="1"/>
        </p:nvSpPr>
        <p:spPr bwMode="auto">
          <a:xfrm>
            <a:off x="6096000" y="6553200"/>
            <a:ext cx="6096000" cy="304800"/>
          </a:xfrm>
          <a:prstGeom prst="rect">
            <a:avLst/>
          </a:prstGeom>
          <a:noFill/>
          <a:ln>
            <a:noFill/>
          </a:ln>
          <a:effectLst/>
        </p:spPr>
        <p:txBody>
          <a:bodyPr>
            <a:spAutoFit/>
          </a:bodyP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lgn="r" eaLnBrk="1" hangingPunct="1">
              <a:spcBef>
                <a:spcPct val="50000"/>
              </a:spcBef>
              <a:buFontTx/>
              <a:buChar char="©"/>
              <a:defRPr/>
            </a:pPr>
            <a:r>
              <a:rPr lang="en-US" altLang="en-US" sz="1400" b="0">
                <a:latin typeface="McGrawHill-Italic" pitchFamily="2" charset="0"/>
              </a:rPr>
              <a:t>The McGraw-Hill Companies, Inc., 2000</a:t>
            </a:r>
            <a:endParaRPr lang="en-US" altLang="en-US" sz="2400" b="0">
              <a:latin typeface="Times New Roman" pitchFamily="18" charset="0"/>
            </a:endParaRPr>
          </a:p>
        </p:txBody>
      </p:sp>
      <p:sp>
        <p:nvSpPr>
          <p:cNvPr id="210956" name="Rectangle 12"/>
          <p:cNvSpPr>
            <a:spLocks noGrp="1" noChangeArrowheads="1"/>
          </p:cNvSpPr>
          <p:nvPr>
            <p:ph type="ctrTitle"/>
          </p:nvPr>
        </p:nvSpPr>
        <p:spPr bwMode="auto">
          <a:xfrm>
            <a:off x="1320800" y="1676400"/>
            <a:ext cx="10363200" cy="1462088"/>
          </a:xfrm>
          <a:prstGeom prst="rect">
            <a:avLst/>
          </a:prstGeom>
          <a:noFill/>
        </p:spPr>
        <p:txBody>
          <a:bodyPr vert="horz" wrap="square" lIns="91440" tIns="45720" rIns="91440" bIns="45720" numCol="1" anchor="b" anchorCtr="0" compatLnSpc="1">
            <a:prstTxWarp prst="textNoShape">
              <a:avLst/>
            </a:prstTxWarp>
          </a:bodyPr>
          <a:lstStyle>
            <a:lvl1pPr>
              <a:defRPr/>
            </a:lvl1pPr>
          </a:lstStyle>
          <a:p>
            <a:pPr lvl="0"/>
            <a:r>
              <a:rPr lang="en-US" altLang="zh-CN" noProof="0"/>
              <a:t>Click to edit Master title style</a:t>
            </a:r>
          </a:p>
        </p:txBody>
      </p:sp>
      <p:sp>
        <p:nvSpPr>
          <p:cNvPr id="210957" name="Rectangle 13"/>
          <p:cNvSpPr>
            <a:spLocks noGrp="1" noChangeArrowheads="1"/>
          </p:cNvSpPr>
          <p:nvPr>
            <p:ph type="subTitle" idx="1"/>
          </p:nvPr>
        </p:nvSpPr>
        <p:spPr bwMode="auto">
          <a:xfrm>
            <a:off x="1828800" y="3886200"/>
            <a:ext cx="8534400" cy="1752600"/>
          </a:xfrm>
          <a:prstGeom prst="rect">
            <a:avLst/>
          </a:prstGeom>
          <a:noFill/>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altLang="zh-CN" noProof="0"/>
              <a:t>Click to edit Master subtitle style</a:t>
            </a:r>
          </a:p>
        </p:txBody>
      </p:sp>
      <p:sp>
        <p:nvSpPr>
          <p:cNvPr id="16" name="Rectangle 14">
            <a:extLst>
              <a:ext uri="{FF2B5EF4-FFF2-40B4-BE49-F238E27FC236}">
                <a16:creationId xmlns:a16="http://schemas.microsoft.com/office/drawing/2014/main" id="{8AB092C4-A841-4CB7-83E8-7CC673C759EB}"/>
              </a:ext>
            </a:extLst>
          </p:cNvPr>
          <p:cNvSpPr>
            <a:spLocks noGrp="1" noChangeArrowheads="1"/>
          </p:cNvSpPr>
          <p:nvPr>
            <p:ph type="dt" sz="half" idx="10"/>
          </p:nvPr>
        </p:nvSpPr>
        <p:spPr bwMode="auto">
          <a:xfrm>
            <a:off x="1320800" y="6248400"/>
            <a:ext cx="25400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400" b="0">
                <a:solidFill>
                  <a:schemeClr val="bg2"/>
                </a:solidFill>
                <a:latin typeface="+mn-lt"/>
                <a:ea typeface="宋体" charset="-122"/>
              </a:defRPr>
            </a:lvl1pPr>
          </a:lstStyle>
          <a:p>
            <a:pPr>
              <a:defRPr/>
            </a:pPr>
            <a:endParaRPr lang="en-US" altLang="zh-CN"/>
          </a:p>
        </p:txBody>
      </p:sp>
      <p:sp>
        <p:nvSpPr>
          <p:cNvPr id="17" name="Rectangle 15">
            <a:extLst>
              <a:ext uri="{FF2B5EF4-FFF2-40B4-BE49-F238E27FC236}">
                <a16:creationId xmlns:a16="http://schemas.microsoft.com/office/drawing/2014/main" id="{35E40068-5177-4B28-A76F-9D77CE1D04D9}"/>
              </a:ext>
            </a:extLst>
          </p:cNvPr>
          <p:cNvSpPr>
            <a:spLocks noGrp="1" noChangeArrowheads="1"/>
          </p:cNvSpPr>
          <p:nvPr>
            <p:ph type="ftr" sz="quarter" idx="11"/>
          </p:nvPr>
        </p:nvSpPr>
        <p:spPr bwMode="auto">
          <a:xfrm>
            <a:off x="4572000" y="6248400"/>
            <a:ext cx="3860800" cy="45720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400" b="0">
                <a:solidFill>
                  <a:schemeClr val="bg2"/>
                </a:solidFill>
                <a:latin typeface="+mn-lt"/>
                <a:ea typeface="宋体" charset="-122"/>
              </a:defRPr>
            </a:lvl1pPr>
          </a:lstStyle>
          <a:p>
            <a:pPr>
              <a:defRPr/>
            </a:pPr>
            <a:endParaRPr lang="en-US" altLang="zh-CN"/>
          </a:p>
        </p:txBody>
      </p:sp>
      <p:sp>
        <p:nvSpPr>
          <p:cNvPr id="18" name="Rectangle 16">
            <a:extLst>
              <a:ext uri="{FF2B5EF4-FFF2-40B4-BE49-F238E27FC236}">
                <a16:creationId xmlns:a16="http://schemas.microsoft.com/office/drawing/2014/main" id="{C01A0EDB-B4EE-4D01-89D9-98F17DD0B7DA}"/>
              </a:ext>
            </a:extLst>
          </p:cNvPr>
          <p:cNvSpPr>
            <a:spLocks noGrp="1" noChangeArrowheads="1"/>
          </p:cNvSpPr>
          <p:nvPr>
            <p:ph type="sldNum" sz="quarter" idx="12"/>
          </p:nvPr>
        </p:nvSpPr>
        <p:spPr>
          <a:xfrm>
            <a:off x="9144000" y="6248400"/>
            <a:ext cx="2540000" cy="457200"/>
          </a:xfrm>
          <a:prstGeom prst="rect">
            <a:avLst/>
          </a:prstGeom>
        </p:spPr>
        <p:txBody>
          <a:bodyPr/>
          <a:lstStyle>
            <a:lvl1pPr algn="r">
              <a:defRPr sz="1400" b="0">
                <a:latin typeface="Tahoma" panose="020B0604030504040204" pitchFamily="34" charset="0"/>
              </a:defRPr>
            </a:lvl1pPr>
          </a:lstStyle>
          <a:p>
            <a:pPr>
              <a:defRPr/>
            </a:pPr>
            <a:fld id="{49F4F3DD-1B99-4206-AFC2-04BC919D3710}" type="slidenum">
              <a:rPr lang="en-US" altLang="zh-CN"/>
              <a:pPr>
                <a:defRPr/>
              </a:pPr>
              <a:t>‹#›</a:t>
            </a:fld>
            <a:endParaRPr lang="en-US" altLang="zh-CN"/>
          </a:p>
        </p:txBody>
      </p:sp>
    </p:spTree>
    <p:extLst>
      <p:ext uri="{BB962C8B-B14F-4D97-AF65-F5344CB8AC3E}">
        <p14:creationId xmlns:p14="http://schemas.microsoft.com/office/powerpoint/2010/main" val="2372124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3746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262775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84433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2330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115403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8437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508819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368412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00592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842061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9"/>
            <a:ext cx="109728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28108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9786579"/>
      </p:ext>
    </p:extLst>
  </p:cSld>
  <p:clrMapOvr>
    <a:masterClrMapping/>
  </p:clrMapOvr>
  <p:transition spd="slow" advTm="35000">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E0F4F38F-2049-4505-9944-F0F0A234CF32}"/>
              </a:ext>
            </a:extLst>
          </p:cNvPr>
          <p:cNvSpPr>
            <a:spLocks noGrp="1"/>
          </p:cNvSpPr>
          <p:nvPr>
            <p:ph type="dt" sz="half" idx="10"/>
          </p:nvPr>
        </p:nvSpPr>
        <p:spPr/>
        <p:txBody>
          <a:bodyPr/>
          <a:lstStyle/>
          <a:p>
            <a:endParaRPr lang="zh-CN" altLang="en-US" dirty="0"/>
          </a:p>
        </p:txBody>
      </p:sp>
      <p:sp>
        <p:nvSpPr>
          <p:cNvPr id="5" name="页脚占位符 4">
            <a:extLst>
              <a:ext uri="{FF2B5EF4-FFF2-40B4-BE49-F238E27FC236}">
                <a16:creationId xmlns:a16="http://schemas.microsoft.com/office/drawing/2014/main" id="{0710F410-64ED-4AE4-90F9-B3C3F36EA59C}"/>
              </a:ext>
            </a:extLst>
          </p:cNvPr>
          <p:cNvSpPr>
            <a:spLocks noGrp="1"/>
          </p:cNvSpPr>
          <p:nvPr>
            <p:ph type="ftr" sz="quarter" idx="11"/>
          </p:nvPr>
        </p:nvSpPr>
        <p:spPr/>
        <p:txBody>
          <a:bodyPr/>
          <a:lstStyle/>
          <a:p>
            <a:endParaRPr lang="zh-CN" altLang="en-US" dirty="0"/>
          </a:p>
        </p:txBody>
      </p:sp>
    </p:spTree>
    <p:extLst>
      <p:ext uri="{BB962C8B-B14F-4D97-AF65-F5344CB8AC3E}">
        <p14:creationId xmlns:p14="http://schemas.microsoft.com/office/powerpoint/2010/main" val="15938903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E0F4F38F-2049-4505-9944-F0F0A234CF32}"/>
              </a:ext>
            </a:extLst>
          </p:cNvPr>
          <p:cNvSpPr>
            <a:spLocks noGrp="1"/>
          </p:cNvSpPr>
          <p:nvPr>
            <p:ph type="dt" sz="half" idx="10"/>
          </p:nvPr>
        </p:nvSpPr>
        <p:spPr>
          <a:xfrm>
            <a:off x="838200" y="6356352"/>
            <a:ext cx="2743200" cy="365125"/>
          </a:xfrm>
          <a:prstGeom prst="rect">
            <a:avLst/>
          </a:prstGeom>
        </p:spPr>
        <p:txBody>
          <a:bodyPr/>
          <a:lstStyle/>
          <a:p>
            <a:fld id="{590ED014-C035-4F2F-9D10-AB3B853B4C04}" type="datetimeFigureOut">
              <a:rPr lang="zh-CN" altLang="en-US" smtClean="0"/>
              <a:t>2025-04-17</a:t>
            </a:fld>
            <a:endParaRPr lang="zh-CN" altLang="en-US"/>
          </a:p>
        </p:txBody>
      </p:sp>
      <p:sp>
        <p:nvSpPr>
          <p:cNvPr id="5" name="页脚占位符 4">
            <a:extLst>
              <a:ext uri="{FF2B5EF4-FFF2-40B4-BE49-F238E27FC236}">
                <a16:creationId xmlns:a16="http://schemas.microsoft.com/office/drawing/2014/main" id="{0710F410-64ED-4AE4-90F9-B3C3F36EA59C}"/>
              </a:ext>
            </a:extLst>
          </p:cNvPr>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3C92C279-1FB7-4944-9312-96E97344DF18}"/>
              </a:ext>
            </a:extLst>
          </p:cNvPr>
          <p:cNvSpPr>
            <a:spLocks noGrp="1"/>
          </p:cNvSpPr>
          <p:nvPr>
            <p:ph type="sldNum" sz="quarter" idx="12"/>
          </p:nvPr>
        </p:nvSpPr>
        <p:spPr>
          <a:xfrm>
            <a:off x="8610600" y="6356352"/>
            <a:ext cx="2743200" cy="365125"/>
          </a:xfrm>
          <a:prstGeom prst="rect">
            <a:avLst/>
          </a:prstGeom>
        </p:spPr>
        <p:txBody>
          <a:bodyPr/>
          <a:lstStyle/>
          <a:p>
            <a:fld id="{1B3167B1-0900-4986-B633-BCD25AEEE273}" type="slidenum">
              <a:rPr lang="zh-CN" altLang="en-US" smtClean="0"/>
              <a:t>‹#›</a:t>
            </a:fld>
            <a:endParaRPr lang="zh-CN" altLang="en-US"/>
          </a:p>
        </p:txBody>
      </p:sp>
    </p:spTree>
    <p:extLst>
      <p:ext uri="{BB962C8B-B14F-4D97-AF65-F5344CB8AC3E}">
        <p14:creationId xmlns:p14="http://schemas.microsoft.com/office/powerpoint/2010/main" val="1815084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07981B49-7C14-4DDB-9D42-C372F3EF69FE}"/>
              </a:ext>
            </a:extLst>
          </p:cNvPr>
          <p:cNvGrpSpPr>
            <a:grpSpLocks/>
          </p:cNvGrpSpPr>
          <p:nvPr/>
        </p:nvGrpSpPr>
        <p:grpSpPr bwMode="auto">
          <a:xfrm>
            <a:off x="1" y="2438401"/>
            <a:ext cx="12012084" cy="1052513"/>
            <a:chOff x="0" y="1536"/>
            <a:chExt cx="5675" cy="663"/>
          </a:xfrm>
        </p:grpSpPr>
        <p:grpSp>
          <p:nvGrpSpPr>
            <p:cNvPr id="5" name="Group 3">
              <a:extLst>
                <a:ext uri="{FF2B5EF4-FFF2-40B4-BE49-F238E27FC236}">
                  <a16:creationId xmlns:a16="http://schemas.microsoft.com/office/drawing/2014/main" id="{D6885F69-33E9-4A6A-A4FA-6299E6922699}"/>
                </a:ext>
              </a:extLst>
            </p:cNvPr>
            <p:cNvGrpSpPr>
              <a:grpSpLocks/>
            </p:cNvGrpSpPr>
            <p:nvPr/>
          </p:nvGrpSpPr>
          <p:grpSpPr bwMode="auto">
            <a:xfrm>
              <a:off x="185" y="1604"/>
              <a:ext cx="449" cy="299"/>
              <a:chOff x="720" y="336"/>
              <a:chExt cx="624" cy="432"/>
            </a:xfrm>
          </p:grpSpPr>
          <p:sp>
            <p:nvSpPr>
              <p:cNvPr id="12" name="Rectangle 4">
                <a:extLst>
                  <a:ext uri="{FF2B5EF4-FFF2-40B4-BE49-F238E27FC236}">
                    <a16:creationId xmlns:a16="http://schemas.microsoft.com/office/drawing/2014/main" id="{2C46481C-A4B7-4C60-BA92-0524657D57D4}"/>
                  </a:ext>
                </a:extLst>
              </p:cNvPr>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sp>
            <p:nvSpPr>
              <p:cNvPr id="13" name="Rectangle 5">
                <a:extLst>
                  <a:ext uri="{FF2B5EF4-FFF2-40B4-BE49-F238E27FC236}">
                    <a16:creationId xmlns:a16="http://schemas.microsoft.com/office/drawing/2014/main" id="{37025376-20C8-447D-A38D-8497DB81F8C0}"/>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grpSp>
        <p:grpSp>
          <p:nvGrpSpPr>
            <p:cNvPr id="6" name="Group 6">
              <a:extLst>
                <a:ext uri="{FF2B5EF4-FFF2-40B4-BE49-F238E27FC236}">
                  <a16:creationId xmlns:a16="http://schemas.microsoft.com/office/drawing/2014/main" id="{8CD35F14-D160-42DA-BD7B-CC99881ADC35}"/>
                </a:ext>
              </a:extLst>
            </p:cNvPr>
            <p:cNvGrpSpPr>
              <a:grpSpLocks/>
            </p:cNvGrpSpPr>
            <p:nvPr/>
          </p:nvGrpSpPr>
          <p:grpSpPr bwMode="auto">
            <a:xfrm>
              <a:off x="263" y="1870"/>
              <a:ext cx="466" cy="299"/>
              <a:chOff x="912" y="2640"/>
              <a:chExt cx="672" cy="432"/>
            </a:xfrm>
          </p:grpSpPr>
          <p:sp>
            <p:nvSpPr>
              <p:cNvPr id="10" name="Rectangle 7">
                <a:extLst>
                  <a:ext uri="{FF2B5EF4-FFF2-40B4-BE49-F238E27FC236}">
                    <a16:creationId xmlns:a16="http://schemas.microsoft.com/office/drawing/2014/main" id="{A7294D4E-0EC2-462D-A10E-AECE7B556C87}"/>
                  </a:ext>
                </a:extLst>
              </p:cNvPr>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sp>
            <p:nvSpPr>
              <p:cNvPr id="11" name="Rectangle 8">
                <a:extLst>
                  <a:ext uri="{FF2B5EF4-FFF2-40B4-BE49-F238E27FC236}">
                    <a16:creationId xmlns:a16="http://schemas.microsoft.com/office/drawing/2014/main" id="{EEE783AB-46B7-40CE-BF15-FB6ED62241CB}"/>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grpSp>
        <p:sp>
          <p:nvSpPr>
            <p:cNvPr id="7" name="Rectangle 9">
              <a:extLst>
                <a:ext uri="{FF2B5EF4-FFF2-40B4-BE49-F238E27FC236}">
                  <a16:creationId xmlns:a16="http://schemas.microsoft.com/office/drawing/2014/main" id="{4DC2670D-5617-4E30-BC05-DFC26C4B43E4}"/>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sp>
          <p:nvSpPr>
            <p:cNvPr id="8" name="Rectangle 10">
              <a:extLst>
                <a:ext uri="{FF2B5EF4-FFF2-40B4-BE49-F238E27FC236}">
                  <a16:creationId xmlns:a16="http://schemas.microsoft.com/office/drawing/2014/main" id="{39B9E6EA-1D1C-43A6-87B9-FA62884EE218}"/>
                </a:ext>
              </a:extLst>
            </p:cNvPr>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sp>
          <p:nvSpPr>
            <p:cNvPr id="9" name="Rectangle 11">
              <a:extLst>
                <a:ext uri="{FF2B5EF4-FFF2-40B4-BE49-F238E27FC236}">
                  <a16:creationId xmlns:a16="http://schemas.microsoft.com/office/drawing/2014/main" id="{69B6E995-8D76-4154-8A09-B6565C252DDF}"/>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grpSp>
      <p:sp>
        <p:nvSpPr>
          <p:cNvPr id="14" name="Text Box 17">
            <a:extLst>
              <a:ext uri="{FF2B5EF4-FFF2-40B4-BE49-F238E27FC236}">
                <a16:creationId xmlns:a16="http://schemas.microsoft.com/office/drawing/2014/main" id="{2A9462FA-3140-48F7-B963-133D64FD8F2C}"/>
              </a:ext>
            </a:extLst>
          </p:cNvPr>
          <p:cNvSpPr txBox="1">
            <a:spLocks noChangeArrowheads="1"/>
          </p:cNvSpPr>
          <p:nvPr userDrawn="1"/>
        </p:nvSpPr>
        <p:spPr bwMode="auto">
          <a:xfrm>
            <a:off x="0" y="6553200"/>
            <a:ext cx="2946400" cy="304800"/>
          </a:xfrm>
          <a:prstGeom prst="rect">
            <a:avLst/>
          </a:prstGeom>
          <a:noFill/>
          <a:ln>
            <a:noFill/>
          </a:ln>
          <a:effectLst/>
        </p:spPr>
        <p:txBody>
          <a:bodyPr>
            <a:spAutoFit/>
          </a:bodyPr>
          <a:lstStyle>
            <a:lvl1pPr>
              <a:defRPr sz="3200" b="1" baseline="-18000">
                <a:solidFill>
                  <a:schemeClr val="tx1"/>
                </a:solidFill>
                <a:latin typeface="Arial" charset="0"/>
              </a:defRPr>
            </a:lvl1pPr>
            <a:lvl2pPr marL="742950" indent="-285750">
              <a:defRPr sz="3200" b="1" baseline="-18000">
                <a:solidFill>
                  <a:schemeClr val="tx1"/>
                </a:solidFill>
                <a:latin typeface="Arial" charset="0"/>
              </a:defRPr>
            </a:lvl2pPr>
            <a:lvl3pPr marL="1143000" indent="-228600">
              <a:defRPr sz="3200" b="1" baseline="-18000">
                <a:solidFill>
                  <a:schemeClr val="tx1"/>
                </a:solidFill>
                <a:latin typeface="Arial" charset="0"/>
              </a:defRPr>
            </a:lvl3pPr>
            <a:lvl4pPr marL="1600200" indent="-228600">
              <a:defRPr sz="3200" b="1" baseline="-18000">
                <a:solidFill>
                  <a:schemeClr val="tx1"/>
                </a:solidFill>
                <a:latin typeface="Arial" charset="0"/>
              </a:defRPr>
            </a:lvl4pPr>
            <a:lvl5pPr marL="2057400" indent="-228600">
              <a:defRPr sz="3200" b="1" baseline="-18000">
                <a:solidFill>
                  <a:schemeClr val="tx1"/>
                </a:solidFill>
                <a:latin typeface="Arial" charset="0"/>
              </a:defRPr>
            </a:lvl5pPr>
            <a:lvl6pPr marL="2514600" indent="-228600" eaLnBrk="0" fontAlgn="base" hangingPunct="0">
              <a:spcBef>
                <a:spcPct val="0"/>
              </a:spcBef>
              <a:spcAft>
                <a:spcPct val="0"/>
              </a:spcAft>
              <a:defRPr sz="3200" b="1" baseline="-18000">
                <a:solidFill>
                  <a:schemeClr val="tx1"/>
                </a:solidFill>
                <a:latin typeface="Arial" charset="0"/>
              </a:defRPr>
            </a:lvl6pPr>
            <a:lvl7pPr marL="2971800" indent="-228600" eaLnBrk="0" fontAlgn="base" hangingPunct="0">
              <a:spcBef>
                <a:spcPct val="0"/>
              </a:spcBef>
              <a:spcAft>
                <a:spcPct val="0"/>
              </a:spcAft>
              <a:defRPr sz="3200" b="1" baseline="-18000">
                <a:solidFill>
                  <a:schemeClr val="tx1"/>
                </a:solidFill>
                <a:latin typeface="Arial" charset="0"/>
              </a:defRPr>
            </a:lvl7pPr>
            <a:lvl8pPr marL="3429000" indent="-228600" eaLnBrk="0" fontAlgn="base" hangingPunct="0">
              <a:spcBef>
                <a:spcPct val="0"/>
              </a:spcBef>
              <a:spcAft>
                <a:spcPct val="0"/>
              </a:spcAft>
              <a:defRPr sz="3200" b="1" baseline="-18000">
                <a:solidFill>
                  <a:schemeClr val="tx1"/>
                </a:solidFill>
                <a:latin typeface="Arial" charset="0"/>
              </a:defRPr>
            </a:lvl8pPr>
            <a:lvl9pPr marL="3886200" indent="-228600" eaLnBrk="0" fontAlgn="base" hangingPunct="0">
              <a:spcBef>
                <a:spcPct val="0"/>
              </a:spcBef>
              <a:spcAft>
                <a:spcPct val="0"/>
              </a:spcAft>
              <a:defRPr sz="3200" b="1" baseline="-18000">
                <a:solidFill>
                  <a:schemeClr val="tx1"/>
                </a:solidFill>
                <a:latin typeface="Arial" charset="0"/>
              </a:defRPr>
            </a:lvl9pPr>
          </a:lstStyle>
          <a:p>
            <a:pPr eaLnBrk="1" hangingPunct="1">
              <a:spcBef>
                <a:spcPct val="50000"/>
              </a:spcBef>
              <a:defRPr/>
            </a:pPr>
            <a:r>
              <a:rPr lang="en-US" altLang="en-US" sz="1400" b="0" baseline="0">
                <a:latin typeface="McGrawHill-Italic" pitchFamily="2" charset="0"/>
              </a:rPr>
              <a:t>McGraw-Hill</a:t>
            </a:r>
            <a:endParaRPr lang="en-US" altLang="en-US" sz="2400" b="0" baseline="0">
              <a:latin typeface="Times New Roman" pitchFamily="18" charset="0"/>
            </a:endParaRPr>
          </a:p>
        </p:txBody>
      </p:sp>
      <p:sp>
        <p:nvSpPr>
          <p:cNvPr id="15" name="Text Box 18">
            <a:extLst>
              <a:ext uri="{FF2B5EF4-FFF2-40B4-BE49-F238E27FC236}">
                <a16:creationId xmlns:a16="http://schemas.microsoft.com/office/drawing/2014/main" id="{9408F303-2B46-4D67-A446-AA2B22E169C6}"/>
              </a:ext>
            </a:extLst>
          </p:cNvPr>
          <p:cNvSpPr txBox="1">
            <a:spLocks noChangeArrowheads="1"/>
          </p:cNvSpPr>
          <p:nvPr userDrawn="1"/>
        </p:nvSpPr>
        <p:spPr bwMode="auto">
          <a:xfrm>
            <a:off x="6096000" y="6553200"/>
            <a:ext cx="6096000" cy="304800"/>
          </a:xfrm>
          <a:prstGeom prst="rect">
            <a:avLst/>
          </a:prstGeom>
          <a:noFill/>
          <a:ln>
            <a:noFill/>
          </a:ln>
          <a:effectLst/>
        </p:spPr>
        <p:txBody>
          <a:bodyPr>
            <a:spAutoFit/>
          </a:bodyPr>
          <a:lstStyle>
            <a:lvl1pPr>
              <a:defRPr sz="3200" b="1" baseline="-18000">
                <a:solidFill>
                  <a:schemeClr val="tx1"/>
                </a:solidFill>
                <a:latin typeface="Arial" charset="0"/>
              </a:defRPr>
            </a:lvl1pPr>
            <a:lvl2pPr marL="742950" indent="-285750">
              <a:defRPr sz="3200" b="1" baseline="-18000">
                <a:solidFill>
                  <a:schemeClr val="tx1"/>
                </a:solidFill>
                <a:latin typeface="Arial" charset="0"/>
              </a:defRPr>
            </a:lvl2pPr>
            <a:lvl3pPr marL="1143000" indent="-228600">
              <a:defRPr sz="3200" b="1" baseline="-18000">
                <a:solidFill>
                  <a:schemeClr val="tx1"/>
                </a:solidFill>
                <a:latin typeface="Arial" charset="0"/>
              </a:defRPr>
            </a:lvl3pPr>
            <a:lvl4pPr marL="1600200" indent="-228600">
              <a:defRPr sz="3200" b="1" baseline="-18000">
                <a:solidFill>
                  <a:schemeClr val="tx1"/>
                </a:solidFill>
                <a:latin typeface="Arial" charset="0"/>
              </a:defRPr>
            </a:lvl4pPr>
            <a:lvl5pPr marL="2057400" indent="-228600">
              <a:defRPr sz="3200" b="1" baseline="-18000">
                <a:solidFill>
                  <a:schemeClr val="tx1"/>
                </a:solidFill>
                <a:latin typeface="Arial" charset="0"/>
              </a:defRPr>
            </a:lvl5pPr>
            <a:lvl6pPr marL="2514600" indent="-228600" eaLnBrk="0" fontAlgn="base" hangingPunct="0">
              <a:spcBef>
                <a:spcPct val="0"/>
              </a:spcBef>
              <a:spcAft>
                <a:spcPct val="0"/>
              </a:spcAft>
              <a:defRPr sz="3200" b="1" baseline="-18000">
                <a:solidFill>
                  <a:schemeClr val="tx1"/>
                </a:solidFill>
                <a:latin typeface="Arial" charset="0"/>
              </a:defRPr>
            </a:lvl6pPr>
            <a:lvl7pPr marL="2971800" indent="-228600" eaLnBrk="0" fontAlgn="base" hangingPunct="0">
              <a:spcBef>
                <a:spcPct val="0"/>
              </a:spcBef>
              <a:spcAft>
                <a:spcPct val="0"/>
              </a:spcAft>
              <a:defRPr sz="3200" b="1" baseline="-18000">
                <a:solidFill>
                  <a:schemeClr val="tx1"/>
                </a:solidFill>
                <a:latin typeface="Arial" charset="0"/>
              </a:defRPr>
            </a:lvl7pPr>
            <a:lvl8pPr marL="3429000" indent="-228600" eaLnBrk="0" fontAlgn="base" hangingPunct="0">
              <a:spcBef>
                <a:spcPct val="0"/>
              </a:spcBef>
              <a:spcAft>
                <a:spcPct val="0"/>
              </a:spcAft>
              <a:defRPr sz="3200" b="1" baseline="-18000">
                <a:solidFill>
                  <a:schemeClr val="tx1"/>
                </a:solidFill>
                <a:latin typeface="Arial" charset="0"/>
              </a:defRPr>
            </a:lvl8pPr>
            <a:lvl9pPr marL="3886200" indent="-228600" eaLnBrk="0" fontAlgn="base" hangingPunct="0">
              <a:spcBef>
                <a:spcPct val="0"/>
              </a:spcBef>
              <a:spcAft>
                <a:spcPct val="0"/>
              </a:spcAft>
              <a:defRPr sz="3200" b="1" baseline="-18000">
                <a:solidFill>
                  <a:schemeClr val="tx1"/>
                </a:solidFill>
                <a:latin typeface="Arial" charset="0"/>
              </a:defRPr>
            </a:lvl9pPr>
          </a:lstStyle>
          <a:p>
            <a:pPr algn="r" eaLnBrk="1" hangingPunct="1">
              <a:spcBef>
                <a:spcPct val="50000"/>
              </a:spcBef>
              <a:buFontTx/>
              <a:buChar char="©"/>
              <a:defRPr/>
            </a:pPr>
            <a:r>
              <a:rPr lang="en-US" altLang="en-US" sz="1400" b="0" baseline="0">
                <a:latin typeface="McGrawHill-Italic" pitchFamily="2" charset="0"/>
              </a:rPr>
              <a:t>The McGraw-Hill Companies, Inc., 2000</a:t>
            </a:r>
            <a:endParaRPr lang="en-US" altLang="en-US" sz="2400" b="0" baseline="0">
              <a:latin typeface="Times New Roman" pitchFamily="18" charset="0"/>
            </a:endParaRPr>
          </a:p>
        </p:txBody>
      </p:sp>
      <p:sp>
        <p:nvSpPr>
          <p:cNvPr id="210956" name="Rectangle 12"/>
          <p:cNvSpPr>
            <a:spLocks noGrp="1" noChangeArrowheads="1"/>
          </p:cNvSpPr>
          <p:nvPr>
            <p:ph type="ctrTitle"/>
          </p:nvPr>
        </p:nvSpPr>
        <p:spPr bwMode="auto">
          <a:xfrm>
            <a:off x="1320800" y="1676400"/>
            <a:ext cx="10363200" cy="1462088"/>
          </a:xfrm>
          <a:prstGeom prst="rect">
            <a:avLst/>
          </a:prstGeom>
          <a:noFill/>
        </p:spPr>
        <p:txBody>
          <a:bodyPr vert="horz" wrap="square" lIns="91440" tIns="45720" rIns="91440" bIns="45720" numCol="1" anchor="b" anchorCtr="0" compatLnSpc="1">
            <a:prstTxWarp prst="textNoShape">
              <a:avLst/>
            </a:prstTxWarp>
          </a:bodyPr>
          <a:lstStyle>
            <a:lvl1pPr>
              <a:defRPr/>
            </a:lvl1pPr>
          </a:lstStyle>
          <a:p>
            <a:pPr lvl="0"/>
            <a:r>
              <a:rPr lang="en-US" altLang="zh-CN" noProof="0"/>
              <a:t>Click to edit Master title style</a:t>
            </a:r>
          </a:p>
        </p:txBody>
      </p:sp>
      <p:sp>
        <p:nvSpPr>
          <p:cNvPr id="210957" name="Rectangle 13"/>
          <p:cNvSpPr>
            <a:spLocks noGrp="1" noChangeArrowheads="1"/>
          </p:cNvSpPr>
          <p:nvPr>
            <p:ph type="subTitle" idx="1"/>
          </p:nvPr>
        </p:nvSpPr>
        <p:spPr bwMode="auto">
          <a:xfrm>
            <a:off x="1828800" y="3886200"/>
            <a:ext cx="8534400" cy="1752600"/>
          </a:xfrm>
          <a:prstGeom prst="rect">
            <a:avLst/>
          </a:prstGeom>
          <a:noFill/>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altLang="zh-CN" noProof="0"/>
              <a:t>Click to edit Master subtitle style</a:t>
            </a:r>
          </a:p>
        </p:txBody>
      </p:sp>
      <p:sp>
        <p:nvSpPr>
          <p:cNvPr id="16" name="Rectangle 14">
            <a:extLst>
              <a:ext uri="{FF2B5EF4-FFF2-40B4-BE49-F238E27FC236}">
                <a16:creationId xmlns:a16="http://schemas.microsoft.com/office/drawing/2014/main" id="{A7D03BD3-931C-420C-9BF6-220187395154}"/>
              </a:ext>
            </a:extLst>
          </p:cNvPr>
          <p:cNvSpPr>
            <a:spLocks noGrp="1" noChangeArrowheads="1"/>
          </p:cNvSpPr>
          <p:nvPr>
            <p:ph type="dt" sz="half" idx="10"/>
          </p:nvPr>
        </p:nvSpPr>
        <p:spPr bwMode="auto">
          <a:xfrm>
            <a:off x="1320800" y="6248400"/>
            <a:ext cx="25400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400" b="0" baseline="0">
                <a:solidFill>
                  <a:schemeClr val="bg2"/>
                </a:solidFill>
                <a:latin typeface="+mn-lt"/>
                <a:ea typeface="宋体" charset="-122"/>
              </a:defRPr>
            </a:lvl1pPr>
          </a:lstStyle>
          <a:p>
            <a:pPr>
              <a:defRPr/>
            </a:pPr>
            <a:endParaRPr lang="en-US" altLang="zh-CN"/>
          </a:p>
        </p:txBody>
      </p:sp>
      <p:sp>
        <p:nvSpPr>
          <p:cNvPr id="17" name="Rectangle 15">
            <a:extLst>
              <a:ext uri="{FF2B5EF4-FFF2-40B4-BE49-F238E27FC236}">
                <a16:creationId xmlns:a16="http://schemas.microsoft.com/office/drawing/2014/main" id="{D4B24E97-90EF-4E9D-AE70-ECA640DDF711}"/>
              </a:ext>
            </a:extLst>
          </p:cNvPr>
          <p:cNvSpPr>
            <a:spLocks noGrp="1" noChangeArrowheads="1"/>
          </p:cNvSpPr>
          <p:nvPr>
            <p:ph type="ftr" sz="quarter" idx="11"/>
          </p:nvPr>
        </p:nvSpPr>
        <p:spPr bwMode="auto">
          <a:xfrm>
            <a:off x="4572000" y="6248400"/>
            <a:ext cx="3860800" cy="45720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400" b="0" baseline="0">
                <a:solidFill>
                  <a:schemeClr val="bg2"/>
                </a:solidFill>
                <a:latin typeface="+mn-lt"/>
                <a:ea typeface="宋体" charset="-122"/>
              </a:defRPr>
            </a:lvl1pPr>
          </a:lstStyle>
          <a:p>
            <a:pPr>
              <a:defRPr/>
            </a:pPr>
            <a:endParaRPr lang="en-US" altLang="zh-CN"/>
          </a:p>
        </p:txBody>
      </p:sp>
      <p:sp>
        <p:nvSpPr>
          <p:cNvPr id="18" name="Rectangle 16">
            <a:extLst>
              <a:ext uri="{FF2B5EF4-FFF2-40B4-BE49-F238E27FC236}">
                <a16:creationId xmlns:a16="http://schemas.microsoft.com/office/drawing/2014/main" id="{44E5EDF7-5B7F-465E-805E-2D97C1872889}"/>
              </a:ext>
            </a:extLst>
          </p:cNvPr>
          <p:cNvSpPr>
            <a:spLocks noGrp="1" noChangeArrowheads="1"/>
          </p:cNvSpPr>
          <p:nvPr>
            <p:ph type="sldNum" sz="quarter" idx="12"/>
          </p:nvPr>
        </p:nvSpPr>
        <p:spPr>
          <a:xfrm>
            <a:off x="9144000" y="6248400"/>
            <a:ext cx="2540000" cy="457200"/>
          </a:xfrm>
          <a:prstGeom prst="rect">
            <a:avLst/>
          </a:prstGeom>
        </p:spPr>
        <p:txBody>
          <a:bodyPr/>
          <a:lstStyle>
            <a:lvl1pPr algn="r">
              <a:defRPr sz="1400" b="0">
                <a:latin typeface="Tahoma" panose="020B0604030504040204" pitchFamily="34" charset="0"/>
              </a:defRPr>
            </a:lvl1pPr>
          </a:lstStyle>
          <a:p>
            <a:pPr>
              <a:defRPr/>
            </a:pPr>
            <a:fld id="{F8470A0D-2F7F-422F-ACD7-AE6271D7C84E}" type="slidenum">
              <a:rPr lang="en-US" altLang="zh-CN"/>
              <a:pPr>
                <a:defRPr/>
              </a:pPr>
              <a:t>‹#›</a:t>
            </a:fld>
            <a:endParaRPr lang="en-US" altLang="zh-CN"/>
          </a:p>
        </p:txBody>
      </p:sp>
    </p:spTree>
    <p:extLst>
      <p:ext uri="{BB962C8B-B14F-4D97-AF65-F5344CB8AC3E}">
        <p14:creationId xmlns:p14="http://schemas.microsoft.com/office/powerpoint/2010/main" val="36864117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48893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26218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177814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646986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294763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00330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dirty="0"/>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Tree>
    <p:extLst>
      <p:ext uri="{BB962C8B-B14F-4D97-AF65-F5344CB8AC3E}">
        <p14:creationId xmlns:p14="http://schemas.microsoft.com/office/powerpoint/2010/main" val="16722057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031392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396254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dirty="0"/>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443377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26151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E0F4F38F-2049-4505-9944-F0F0A234CF32}"/>
              </a:ext>
            </a:extLst>
          </p:cNvPr>
          <p:cNvSpPr>
            <a:spLocks noGrp="1"/>
          </p:cNvSpPr>
          <p:nvPr>
            <p:ph type="dt" sz="half" idx="10"/>
          </p:nvPr>
        </p:nvSpPr>
        <p:spPr>
          <a:xfrm>
            <a:off x="838200" y="6356350"/>
            <a:ext cx="2743200" cy="365125"/>
          </a:xfrm>
          <a:prstGeom prst="rect">
            <a:avLst/>
          </a:prstGeom>
        </p:spPr>
        <p:txBody>
          <a:bodyPr/>
          <a:lstStyle/>
          <a:p>
            <a:fld id="{590ED014-C035-4F2F-9D10-AB3B853B4C04}" type="datetimeFigureOut">
              <a:rPr lang="zh-CN" altLang="en-US" smtClean="0"/>
              <a:t>2025-04-17</a:t>
            </a:fld>
            <a:endParaRPr lang="zh-CN" altLang="en-US"/>
          </a:p>
        </p:txBody>
      </p:sp>
      <p:sp>
        <p:nvSpPr>
          <p:cNvPr id="5" name="页脚占位符 4">
            <a:extLst>
              <a:ext uri="{FF2B5EF4-FFF2-40B4-BE49-F238E27FC236}">
                <a16:creationId xmlns:a16="http://schemas.microsoft.com/office/drawing/2014/main" id="{0710F410-64ED-4AE4-90F9-B3C3F36EA59C}"/>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Tree>
    <p:extLst>
      <p:ext uri="{BB962C8B-B14F-4D97-AF65-F5344CB8AC3E}">
        <p14:creationId xmlns:p14="http://schemas.microsoft.com/office/powerpoint/2010/main" val="3129308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6" Type="http://schemas.openxmlformats.org/officeDocument/2006/relationships/image" Target="../media/image3.png"/><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image" Target="../media/image1.jpeg"/><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7"/>
          <a:srcRect/>
          <a:stretch>
            <a:fillRect/>
          </a:stretch>
        </a:blip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E9B9112-1186-4335-9306-FB66E8A81B51}"/>
              </a:ext>
            </a:extLst>
          </p:cNvPr>
          <p:cNvPicPr>
            <a:picLocks noChangeAspect="1"/>
          </p:cNvPicPr>
          <p:nvPr userDrawn="1"/>
        </p:nvPicPr>
        <p:blipFill rotWithShape="1">
          <a:blip r:embed="rId18">
            <a:extLst>
              <a:ext uri="{28A0092B-C50C-407E-A947-70E740481C1C}">
                <a14:useLocalDpi xmlns:a14="http://schemas.microsoft.com/office/drawing/2010/main" val="0"/>
              </a:ext>
            </a:extLst>
          </a:blip>
          <a:srcRect t="21695"/>
          <a:stretch/>
        </p:blipFill>
        <p:spPr>
          <a:xfrm>
            <a:off x="581892" y="66964"/>
            <a:ext cx="3011316" cy="838200"/>
          </a:xfrm>
          <a:prstGeom prst="rect">
            <a:avLst/>
          </a:prstGeom>
        </p:spPr>
      </p:pic>
    </p:spTree>
  </p:cSld>
  <p:clrMap bg1="lt1" tx1="dk1" bg2="lt2" tx2="dk2" accent1="accent1" accent2="accent2" accent3="accent3" accent4="accent4" accent5="accent5" accent6="accent6" hlink="hlink" folHlink="folHlink"/>
  <p:sldLayoutIdLst>
    <p:sldLayoutId id="2147484132" r:id="rId1"/>
    <p:sldLayoutId id="2147484122" r:id="rId2"/>
    <p:sldLayoutId id="2147484123" r:id="rId3"/>
    <p:sldLayoutId id="2147484124" r:id="rId4"/>
    <p:sldLayoutId id="2147484125" r:id="rId5"/>
    <p:sldLayoutId id="2147484126" r:id="rId6"/>
    <p:sldLayoutId id="2147484127" r:id="rId7"/>
    <p:sldLayoutId id="2147484133" r:id="rId8"/>
    <p:sldLayoutId id="2147484128" r:id="rId9"/>
    <p:sldLayoutId id="2147484129" r:id="rId10"/>
    <p:sldLayoutId id="2147484130" r:id="rId11"/>
    <p:sldLayoutId id="2147484131" r:id="rId12"/>
    <p:sldLayoutId id="2147484134" r:id="rId13"/>
    <p:sldLayoutId id="2147484161" r:id="rId14"/>
    <p:sldLayoutId id="2147484164" r:id="rId15"/>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C7A79C1-BAF2-444B-80EF-54C9FB7DEC41}"/>
              </a:ext>
            </a:extLst>
          </p:cNvPr>
          <p:cNvPicPr>
            <a:picLocks noChangeAspect="1"/>
          </p:cNvPicPr>
          <p:nvPr userDrawn="1"/>
        </p:nvPicPr>
        <p:blipFill rotWithShape="1">
          <a:blip r:embed="rId16"/>
          <a:srcRect t="20454"/>
          <a:stretch/>
        </p:blipFill>
        <p:spPr>
          <a:xfrm>
            <a:off x="618836" y="66964"/>
            <a:ext cx="2964358" cy="838200"/>
          </a:xfrm>
          <a:prstGeom prst="rect">
            <a:avLst/>
          </a:prstGeom>
        </p:spPr>
      </p:pic>
    </p:spTree>
    <p:extLst>
      <p:ext uri="{BB962C8B-B14F-4D97-AF65-F5344CB8AC3E}">
        <p14:creationId xmlns:p14="http://schemas.microsoft.com/office/powerpoint/2010/main" val="2517925401"/>
      </p:ext>
    </p:extLst>
  </p:cSld>
  <p:clrMap bg1="lt1" tx1="dk1" bg2="lt2" tx2="dk2" accent1="accent1" accent2="accent2" accent3="accent3" accent4="accent4" accent5="accent5" accent6="accent6" hlink="hlink" folHlink="folHlink"/>
  <p:sldLayoutIdLst>
    <p:sldLayoutId id="2147484176" r:id="rId1"/>
    <p:sldLayoutId id="2147484177" r:id="rId2"/>
    <p:sldLayoutId id="2147484178" r:id="rId3"/>
    <p:sldLayoutId id="2147484179" r:id="rId4"/>
    <p:sldLayoutId id="2147484180" r:id="rId5"/>
    <p:sldLayoutId id="2147484181" r:id="rId6"/>
    <p:sldLayoutId id="2147484182" r:id="rId7"/>
    <p:sldLayoutId id="2147484183" r:id="rId8"/>
    <p:sldLayoutId id="2147484184" r:id="rId9"/>
    <p:sldLayoutId id="2147484185" r:id="rId10"/>
    <p:sldLayoutId id="2147484186" r:id="rId11"/>
    <p:sldLayoutId id="2147484187" r:id="rId12"/>
    <p:sldLayoutId id="2147484188" r:id="rId13"/>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7.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14.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3.e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2.xml"/><Relationship Id="rId7" Type="http://schemas.openxmlformats.org/officeDocument/2006/relationships/image" Target="../media/image40.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39.wmf"/><Relationship Id="rId4" Type="http://schemas.openxmlformats.org/officeDocument/2006/relationships/oleObject" Target="../embeddings/oleObject2.bin"/></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42.wmf"/><Relationship Id="rId4" Type="http://schemas.openxmlformats.org/officeDocument/2006/relationships/oleObject" Target="../embeddings/oleObject4.bin"/></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A2267D9-52EE-4BC3-9CFD-C26DD971CE09}"/>
              </a:ext>
            </a:extLst>
          </p:cNvPr>
          <p:cNvPicPr>
            <a:picLocks noChangeAspect="1"/>
          </p:cNvPicPr>
          <p:nvPr/>
        </p:nvPicPr>
        <p:blipFill>
          <a:blip r:embed="rId3"/>
          <a:stretch>
            <a:fillRect/>
          </a:stretch>
        </p:blipFill>
        <p:spPr>
          <a:xfrm>
            <a:off x="533400" y="18826"/>
            <a:ext cx="4800600" cy="1755924"/>
          </a:xfrm>
          <a:prstGeom prst="rect">
            <a:avLst/>
          </a:prstGeom>
        </p:spPr>
      </p:pic>
      <p:sp>
        <p:nvSpPr>
          <p:cNvPr id="4" name="Rectangle 3">
            <a:extLst>
              <a:ext uri="{FF2B5EF4-FFF2-40B4-BE49-F238E27FC236}">
                <a16:creationId xmlns:a16="http://schemas.microsoft.com/office/drawing/2014/main" id="{B552011D-4A1A-4EC2-87B3-261DD421F9EC}"/>
              </a:ext>
            </a:extLst>
          </p:cNvPr>
          <p:cNvSpPr>
            <a:spLocks noChangeArrowheads="1"/>
          </p:cNvSpPr>
          <p:nvPr/>
        </p:nvSpPr>
        <p:spPr bwMode="auto">
          <a:xfrm>
            <a:off x="2667000" y="2895601"/>
            <a:ext cx="6858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zh-CN" altLang="en-US" sz="5400" dirty="0">
                <a:latin typeface="微软雅黑" panose="020B0503020204020204" pitchFamily="34" charset="-122"/>
                <a:ea typeface="微软雅黑" panose="020B0503020204020204" pitchFamily="34" charset="-122"/>
              </a:rPr>
              <a:t>数据链路层</a:t>
            </a:r>
            <a:endParaRPr lang="en-US" altLang="en-US" sz="5400" dirty="0">
              <a:latin typeface="微软雅黑" panose="020B0503020204020204" pitchFamily="34" charset="-122"/>
              <a:ea typeface="微软雅黑" panose="020B0503020204020204" pitchFamily="34" charset="-122"/>
            </a:endParaRPr>
          </a:p>
        </p:txBody>
      </p:sp>
      <p:pic>
        <p:nvPicPr>
          <p:cNvPr id="6" name="Picture 2" descr="Forouzan4e07_banner">
            <a:extLst>
              <a:ext uri="{FF2B5EF4-FFF2-40B4-BE49-F238E27FC236}">
                <a16:creationId xmlns:a16="http://schemas.microsoft.com/office/drawing/2014/main" id="{828FF23B-51EC-4D98-A3D1-9F28441312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5915025"/>
            <a:ext cx="9220200" cy="9239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3808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65E2FA1C-08E8-4337-8E9D-53E06FC1F5B7}"/>
              </a:ext>
            </a:extLst>
          </p:cNvPr>
          <p:cNvSpPr/>
          <p:nvPr/>
        </p:nvSpPr>
        <p:spPr>
          <a:xfrm>
            <a:off x="1379597" y="3956166"/>
            <a:ext cx="9359173" cy="666394"/>
          </a:xfrm>
          <a:prstGeom prst="roundRect">
            <a:avLst/>
          </a:prstGeom>
          <a:solidFill>
            <a:srgbClr val="FFCCCC"/>
          </a:solidFill>
          <a:ln w="28575" cap="flat" cmpd="sng" algn="ctr">
            <a:solidFill>
              <a:srgbClr val="FF0000"/>
            </a:solidFill>
            <a:prstDash val="sysDash"/>
            <a:miter lim="800000"/>
          </a:ln>
          <a:effectLst/>
        </p:spPr>
        <p:txBody>
          <a:bodyPr rtlCol="0" anchor="ctr"/>
          <a:lstStyle/>
          <a:p>
            <a:pPr algn="ctr" eaLnBrk="1" fontAlgn="auto" hangingPunct="1">
              <a:spcBef>
                <a:spcPts val="0"/>
              </a:spcBef>
              <a:spcAft>
                <a:spcPts val="0"/>
              </a:spcAft>
              <a:defRPr/>
            </a:pPr>
            <a:endParaRPr lang="zh-CN" altLang="en-US" sz="1800" b="0" kern="0" dirty="0">
              <a:solidFill>
                <a:prstClr val="white"/>
              </a:solidFill>
              <a:latin typeface="等线" panose="020F0502020204030204"/>
            </a:endParaRPr>
          </a:p>
        </p:txBody>
      </p:sp>
      <p:grpSp>
        <p:nvGrpSpPr>
          <p:cNvPr id="3" name="组合 2">
            <a:extLst>
              <a:ext uri="{FF2B5EF4-FFF2-40B4-BE49-F238E27FC236}">
                <a16:creationId xmlns:a16="http://schemas.microsoft.com/office/drawing/2014/main" id="{47B70834-F42B-431B-801E-8BE575CB119B}"/>
              </a:ext>
            </a:extLst>
          </p:cNvPr>
          <p:cNvGrpSpPr/>
          <p:nvPr/>
        </p:nvGrpSpPr>
        <p:grpSpPr>
          <a:xfrm>
            <a:off x="3768825" y="1685832"/>
            <a:ext cx="4596676" cy="319188"/>
            <a:chOff x="3006825" y="2168231"/>
            <a:chExt cx="4596676" cy="319188"/>
          </a:xfrm>
        </p:grpSpPr>
        <p:sp>
          <p:nvSpPr>
            <p:cNvPr id="4" name="箭头: 左右 3">
              <a:extLst>
                <a:ext uri="{FF2B5EF4-FFF2-40B4-BE49-F238E27FC236}">
                  <a16:creationId xmlns:a16="http://schemas.microsoft.com/office/drawing/2014/main" id="{51F367CB-4968-4573-825E-25038A7B9D5A}"/>
                </a:ext>
              </a:extLst>
            </p:cNvPr>
            <p:cNvSpPr/>
            <p:nvPr/>
          </p:nvSpPr>
          <p:spPr>
            <a:xfrm>
              <a:off x="3006825" y="2218924"/>
              <a:ext cx="4596676" cy="219690"/>
            </a:xfrm>
            <a:prstGeom prst="lef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endParaRPr lang="zh-CN" altLang="en-US" sz="1350" b="0" kern="0">
                <a:solidFill>
                  <a:prstClr val="white"/>
                </a:solidFill>
                <a:latin typeface="等线" panose="020F0502020204030204"/>
              </a:endParaRPr>
            </a:p>
          </p:txBody>
        </p:sp>
        <p:sp>
          <p:nvSpPr>
            <p:cNvPr id="5" name="矩形: 圆角 5">
              <a:extLst>
                <a:ext uri="{FF2B5EF4-FFF2-40B4-BE49-F238E27FC236}">
                  <a16:creationId xmlns:a16="http://schemas.microsoft.com/office/drawing/2014/main" id="{C4CA6267-BD81-471B-BD42-09300507E897}"/>
                </a:ext>
              </a:extLst>
            </p:cNvPr>
            <p:cNvSpPr>
              <a:spLocks noChangeArrowheads="1"/>
            </p:cNvSpPr>
            <p:nvPr/>
          </p:nvSpPr>
          <p:spPr bwMode="auto">
            <a:xfrm>
              <a:off x="3429000" y="2168231"/>
              <a:ext cx="3774788" cy="319188"/>
            </a:xfrm>
            <a:prstGeom prst="roundRect">
              <a:avLst>
                <a:gd name="adj" fmla="val 16667"/>
              </a:avLst>
            </a:prstGeom>
            <a:solidFill>
              <a:srgbClr val="CCECFF"/>
            </a:solidFill>
            <a:ln w="9525" algn="ctr">
              <a:noFill/>
              <a:round/>
              <a:headEnd/>
              <a:tailEnd/>
            </a:ln>
          </p:spPr>
          <p:txBody>
            <a:bodyPr anchor="ctr" anchorCtr="1"/>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just" defTabSz="685800" eaLnBrk="1" fontAlgn="auto" hangingPunct="1">
                <a:spcBef>
                  <a:spcPts val="0"/>
                </a:spcBef>
                <a:spcAft>
                  <a:spcPts val="0"/>
                </a:spcAft>
                <a:defRPr/>
              </a:pPr>
              <a:r>
                <a:rPr lang="zh-CN" altLang="en-US" sz="1050" b="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应用程序通过调用</a:t>
              </a:r>
              <a:r>
                <a:rPr lang="en-US" altLang="zh-CN" sz="1050" b="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Socket</a:t>
              </a:r>
              <a:r>
                <a:rPr lang="zh-CN" altLang="en-US" sz="1050" b="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库来委托协议栈工作</a:t>
              </a:r>
            </a:p>
          </p:txBody>
        </p:sp>
      </p:grpSp>
      <p:grpSp>
        <p:nvGrpSpPr>
          <p:cNvPr id="6" name="组合 5">
            <a:extLst>
              <a:ext uri="{FF2B5EF4-FFF2-40B4-BE49-F238E27FC236}">
                <a16:creationId xmlns:a16="http://schemas.microsoft.com/office/drawing/2014/main" id="{6B1B7621-21AF-4071-B7D4-EA0BFD64EC75}"/>
              </a:ext>
            </a:extLst>
          </p:cNvPr>
          <p:cNvGrpSpPr/>
          <p:nvPr/>
        </p:nvGrpSpPr>
        <p:grpSpPr>
          <a:xfrm>
            <a:off x="990600" y="1470195"/>
            <a:ext cx="248494" cy="3676166"/>
            <a:chOff x="391740" y="1952594"/>
            <a:chExt cx="248494" cy="3676166"/>
          </a:xfrm>
        </p:grpSpPr>
        <p:sp>
          <p:nvSpPr>
            <p:cNvPr id="7" name="矩形 6">
              <a:extLst>
                <a:ext uri="{FF2B5EF4-FFF2-40B4-BE49-F238E27FC236}">
                  <a16:creationId xmlns:a16="http://schemas.microsoft.com/office/drawing/2014/main" id="{54FF019D-A853-473C-83CD-F77C663E5C0A}"/>
                </a:ext>
              </a:extLst>
            </p:cNvPr>
            <p:cNvSpPr/>
            <p:nvPr/>
          </p:nvSpPr>
          <p:spPr>
            <a:xfrm>
              <a:off x="398208" y="1952594"/>
              <a:ext cx="242026" cy="796413"/>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zh-CN" altLang="en-US" sz="1050" b="0" kern="0" dirty="0">
                  <a:solidFill>
                    <a:prstClr val="white"/>
                  </a:solidFill>
                  <a:latin typeface="等线" panose="020F0502020204030204"/>
                </a:rPr>
                <a:t>应用程序</a:t>
              </a:r>
            </a:p>
          </p:txBody>
        </p:sp>
        <p:sp>
          <p:nvSpPr>
            <p:cNvPr id="8" name="矩形 7">
              <a:extLst>
                <a:ext uri="{FF2B5EF4-FFF2-40B4-BE49-F238E27FC236}">
                  <a16:creationId xmlns:a16="http://schemas.microsoft.com/office/drawing/2014/main" id="{54968D47-446E-4C9D-BAA0-60351FFAC776}"/>
                </a:ext>
              </a:extLst>
            </p:cNvPr>
            <p:cNvSpPr/>
            <p:nvPr/>
          </p:nvSpPr>
          <p:spPr>
            <a:xfrm>
              <a:off x="398208" y="3256518"/>
              <a:ext cx="242026" cy="796413"/>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zh-CN" altLang="en-US" sz="1050" b="0" kern="0" dirty="0">
                  <a:solidFill>
                    <a:prstClr val="white"/>
                  </a:solidFill>
                  <a:latin typeface="等线" panose="020F0502020204030204"/>
                </a:rPr>
                <a:t>操作系统</a:t>
              </a:r>
            </a:p>
          </p:txBody>
        </p:sp>
        <p:sp>
          <p:nvSpPr>
            <p:cNvPr id="9" name="矩形 8">
              <a:extLst>
                <a:ext uri="{FF2B5EF4-FFF2-40B4-BE49-F238E27FC236}">
                  <a16:creationId xmlns:a16="http://schemas.microsoft.com/office/drawing/2014/main" id="{CE13C2C4-2DCD-4394-8D94-4A0A7D566523}"/>
                </a:ext>
              </a:extLst>
            </p:cNvPr>
            <p:cNvSpPr/>
            <p:nvPr/>
          </p:nvSpPr>
          <p:spPr>
            <a:xfrm>
              <a:off x="398208" y="4322411"/>
              <a:ext cx="242026" cy="742822"/>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zh-CN" altLang="en-US" sz="1050" b="0" kern="0" dirty="0">
                  <a:solidFill>
                    <a:prstClr val="white"/>
                  </a:solidFill>
                  <a:latin typeface="等线" panose="020F0502020204030204"/>
                </a:rPr>
                <a:t>驱动程序</a:t>
              </a:r>
            </a:p>
          </p:txBody>
        </p:sp>
        <p:sp>
          <p:nvSpPr>
            <p:cNvPr id="10" name="矩形 9">
              <a:extLst>
                <a:ext uri="{FF2B5EF4-FFF2-40B4-BE49-F238E27FC236}">
                  <a16:creationId xmlns:a16="http://schemas.microsoft.com/office/drawing/2014/main" id="{B81A690D-61C8-4049-9906-A232CBDDCE8E}"/>
                </a:ext>
              </a:extLst>
            </p:cNvPr>
            <p:cNvSpPr/>
            <p:nvPr/>
          </p:nvSpPr>
          <p:spPr>
            <a:xfrm>
              <a:off x="391740" y="5138981"/>
              <a:ext cx="242026" cy="489779"/>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zh-CN" altLang="en-US" sz="1050" b="0" kern="0" dirty="0">
                  <a:solidFill>
                    <a:prstClr val="white"/>
                  </a:solidFill>
                  <a:latin typeface="等线" panose="020F0502020204030204"/>
                </a:rPr>
                <a:t>硬件</a:t>
              </a:r>
            </a:p>
          </p:txBody>
        </p:sp>
      </p:grpSp>
      <p:grpSp>
        <p:nvGrpSpPr>
          <p:cNvPr id="11" name="组合 10">
            <a:extLst>
              <a:ext uri="{FF2B5EF4-FFF2-40B4-BE49-F238E27FC236}">
                <a16:creationId xmlns:a16="http://schemas.microsoft.com/office/drawing/2014/main" id="{1B058EBE-8C50-4546-8AD8-61BBD59A1D35}"/>
              </a:ext>
            </a:extLst>
          </p:cNvPr>
          <p:cNvGrpSpPr/>
          <p:nvPr/>
        </p:nvGrpSpPr>
        <p:grpSpPr>
          <a:xfrm>
            <a:off x="1492047" y="1295400"/>
            <a:ext cx="2411361" cy="4038872"/>
            <a:chOff x="730047" y="1777799"/>
            <a:chExt cx="2411361" cy="4038872"/>
          </a:xfrm>
        </p:grpSpPr>
        <p:grpSp>
          <p:nvGrpSpPr>
            <p:cNvPr id="12" name="组合 11">
              <a:extLst>
                <a:ext uri="{FF2B5EF4-FFF2-40B4-BE49-F238E27FC236}">
                  <a16:creationId xmlns:a16="http://schemas.microsoft.com/office/drawing/2014/main" id="{1AB2F518-2CB5-4FD6-9E2B-3F57F48C7E03}"/>
                </a:ext>
              </a:extLst>
            </p:cNvPr>
            <p:cNvGrpSpPr/>
            <p:nvPr/>
          </p:nvGrpSpPr>
          <p:grpSpPr>
            <a:xfrm>
              <a:off x="877531" y="1952593"/>
              <a:ext cx="2116394" cy="3691187"/>
              <a:chOff x="877531" y="1952593"/>
              <a:chExt cx="2116394" cy="3691187"/>
            </a:xfrm>
          </p:grpSpPr>
          <p:sp>
            <p:nvSpPr>
              <p:cNvPr id="14" name="矩形 13">
                <a:extLst>
                  <a:ext uri="{FF2B5EF4-FFF2-40B4-BE49-F238E27FC236}">
                    <a16:creationId xmlns:a16="http://schemas.microsoft.com/office/drawing/2014/main" id="{2BE9749F-B9E8-436A-AA7F-F3C9F5F01B2D}"/>
                  </a:ext>
                </a:extLst>
              </p:cNvPr>
              <p:cNvSpPr/>
              <p:nvPr/>
            </p:nvSpPr>
            <p:spPr>
              <a:xfrm>
                <a:off x="877531" y="1952593"/>
                <a:ext cx="2116394" cy="796413"/>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zh-CN" altLang="en-US" sz="1050" b="0" kern="0" dirty="0">
                    <a:solidFill>
                      <a:prstClr val="white"/>
                    </a:solidFill>
                    <a:latin typeface="微软雅黑" panose="020B0503020204020204" pitchFamily="34" charset="-122"/>
                    <a:ea typeface="微软雅黑" panose="020B0503020204020204" pitchFamily="34" charset="-122"/>
                  </a:rPr>
                  <a:t>网络应用程序</a:t>
                </a:r>
                <a:endParaRPr lang="en-US" altLang="zh-CN" sz="105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r>
                  <a:rPr lang="zh-CN" altLang="en-US" sz="900" b="0" kern="0" dirty="0">
                    <a:solidFill>
                      <a:prstClr val="white"/>
                    </a:solidFill>
                    <a:latin typeface="微软雅黑" panose="020B0503020204020204" pitchFamily="34" charset="-122"/>
                    <a:ea typeface="微软雅黑" panose="020B0503020204020204" pitchFamily="34" charset="-122"/>
                  </a:rPr>
                  <a:t>（</a:t>
                </a:r>
                <a:r>
                  <a:rPr lang="en-US" altLang="zh-CN" sz="900" b="0" kern="0" dirty="0">
                    <a:solidFill>
                      <a:prstClr val="white"/>
                    </a:solidFill>
                    <a:latin typeface="微软雅黑" panose="020B0503020204020204" pitchFamily="34" charset="-122"/>
                    <a:ea typeface="微软雅黑" panose="020B0503020204020204" pitchFamily="34" charset="-122"/>
                  </a:rPr>
                  <a:t>HTTP</a:t>
                </a:r>
                <a:r>
                  <a:rPr lang="zh-CN" altLang="en-US" sz="900" b="0" kern="0" dirty="0">
                    <a:solidFill>
                      <a:prstClr val="white"/>
                    </a:solidFill>
                    <a:latin typeface="微软雅黑" panose="020B0503020204020204" pitchFamily="34" charset="-122"/>
                    <a:ea typeface="微软雅黑" panose="020B0503020204020204" pitchFamily="34" charset="-122"/>
                  </a:rPr>
                  <a:t>、</a:t>
                </a:r>
                <a:r>
                  <a:rPr lang="en-US" altLang="zh-CN" sz="900" b="0" kern="0" dirty="0">
                    <a:solidFill>
                      <a:prstClr val="white"/>
                    </a:solidFill>
                    <a:latin typeface="微软雅黑" panose="020B0503020204020204" pitchFamily="34" charset="-122"/>
                    <a:ea typeface="微软雅黑" panose="020B0503020204020204" pitchFamily="34" charset="-122"/>
                  </a:rPr>
                  <a:t>DNS</a:t>
                </a:r>
                <a:r>
                  <a:rPr lang="zh-CN" altLang="en-US" sz="900" b="0" kern="0" dirty="0">
                    <a:solidFill>
                      <a:prstClr val="white"/>
                    </a:solidFill>
                    <a:latin typeface="微软雅黑" panose="020B0503020204020204" pitchFamily="34" charset="-122"/>
                    <a:ea typeface="微软雅黑" panose="020B0503020204020204" pitchFamily="34" charset="-122"/>
                  </a:rPr>
                  <a:t>、</a:t>
                </a:r>
                <a:r>
                  <a:rPr lang="en-US" altLang="zh-CN" sz="900" b="0" kern="0" dirty="0">
                    <a:solidFill>
                      <a:prstClr val="white"/>
                    </a:solidFill>
                    <a:latin typeface="微软雅黑" panose="020B0503020204020204" pitchFamily="34" charset="-122"/>
                    <a:ea typeface="微软雅黑" panose="020B0503020204020204" pitchFamily="34" charset="-122"/>
                  </a:rPr>
                  <a:t>DHCP</a:t>
                </a:r>
                <a:r>
                  <a:rPr lang="zh-CN" altLang="en-US" sz="900" b="0" kern="0" dirty="0">
                    <a:solidFill>
                      <a:prstClr val="white"/>
                    </a:solidFill>
                    <a:latin typeface="微软雅黑" panose="020B0503020204020204" pitchFamily="34" charset="-122"/>
                    <a:ea typeface="微软雅黑" panose="020B0503020204020204" pitchFamily="34" charset="-122"/>
                  </a:rPr>
                  <a:t>）</a:t>
                </a:r>
                <a:endParaRPr lang="en-US" altLang="zh-CN" sz="90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endParaRPr lang="en-US" altLang="zh-CN" sz="900" b="0" kern="0" dirty="0">
                  <a:solidFill>
                    <a:prstClr val="white"/>
                  </a:solidFill>
                  <a:latin typeface="等线" panose="020F0502020204030204"/>
                </a:endParaRPr>
              </a:p>
              <a:p>
                <a:pPr algn="ctr" defTabSz="685800" eaLnBrk="1" fontAlgn="auto" hangingPunct="1">
                  <a:spcBef>
                    <a:spcPts val="0"/>
                  </a:spcBef>
                  <a:spcAft>
                    <a:spcPts val="0"/>
                  </a:spcAft>
                  <a:defRPr/>
                </a:pPr>
                <a:endParaRPr lang="zh-CN" altLang="en-US" sz="900" b="0" kern="0" dirty="0">
                  <a:solidFill>
                    <a:prstClr val="white"/>
                  </a:solidFill>
                  <a:latin typeface="等线" panose="020F0502020204030204"/>
                </a:endParaRPr>
              </a:p>
            </p:txBody>
          </p:sp>
          <p:sp>
            <p:nvSpPr>
              <p:cNvPr id="15" name="矩形 14">
                <a:extLst>
                  <a:ext uri="{FF2B5EF4-FFF2-40B4-BE49-F238E27FC236}">
                    <a16:creationId xmlns:a16="http://schemas.microsoft.com/office/drawing/2014/main" id="{9241BA99-5038-4D85-B199-07F8B3CB76B6}"/>
                  </a:ext>
                </a:extLst>
              </p:cNvPr>
              <p:cNvSpPr/>
              <p:nvPr/>
            </p:nvSpPr>
            <p:spPr>
              <a:xfrm>
                <a:off x="1080320" y="2409795"/>
                <a:ext cx="1714501" cy="243348"/>
              </a:xfrm>
              <a:prstGeom prst="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en-US" altLang="zh-CN" sz="900" b="0" kern="0" dirty="0">
                    <a:solidFill>
                      <a:srgbClr val="4472C4">
                        <a:lumMod val="75000"/>
                      </a:srgbClr>
                    </a:solidFill>
                    <a:latin typeface="微软雅黑" panose="020B0503020204020204" pitchFamily="34" charset="-122"/>
                    <a:ea typeface="微软雅黑" panose="020B0503020204020204" pitchFamily="34" charset="-122"/>
                  </a:rPr>
                  <a:t>Socket</a:t>
                </a:r>
                <a:r>
                  <a:rPr lang="zh-CN" altLang="en-US" sz="900" b="0" kern="0" dirty="0">
                    <a:solidFill>
                      <a:srgbClr val="4472C4">
                        <a:lumMod val="75000"/>
                      </a:srgbClr>
                    </a:solidFill>
                    <a:latin typeface="微软雅黑" panose="020B0503020204020204" pitchFamily="34" charset="-122"/>
                    <a:ea typeface="微软雅黑" panose="020B0503020204020204" pitchFamily="34" charset="-122"/>
                  </a:rPr>
                  <a:t>库</a:t>
                </a:r>
              </a:p>
            </p:txBody>
          </p:sp>
          <p:sp>
            <p:nvSpPr>
              <p:cNvPr id="16" name="矩形 15">
                <a:extLst>
                  <a:ext uri="{FF2B5EF4-FFF2-40B4-BE49-F238E27FC236}">
                    <a16:creationId xmlns:a16="http://schemas.microsoft.com/office/drawing/2014/main" id="{35700757-0FAA-40EE-A113-C4A8C454E39D}"/>
                  </a:ext>
                </a:extLst>
              </p:cNvPr>
              <p:cNvSpPr/>
              <p:nvPr/>
            </p:nvSpPr>
            <p:spPr>
              <a:xfrm>
                <a:off x="877531" y="2837499"/>
                <a:ext cx="2116394" cy="1570703"/>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zh-CN" altLang="en-US" sz="1050" b="0" kern="0" dirty="0">
                    <a:solidFill>
                      <a:prstClr val="white"/>
                    </a:solidFill>
                    <a:latin typeface="微软雅黑" panose="020B0503020204020204" pitchFamily="34" charset="-122"/>
                    <a:ea typeface="微软雅黑" panose="020B0503020204020204" pitchFamily="34" charset="-122"/>
                  </a:rPr>
                  <a:t>协议栈</a:t>
                </a:r>
                <a:endParaRPr lang="en-US" altLang="zh-CN" sz="105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endParaRPr lang="en-US" altLang="zh-CN" sz="105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endParaRPr lang="en-US" altLang="zh-CN" sz="105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endParaRPr lang="en-US" altLang="zh-CN" sz="105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endParaRPr lang="en-US" altLang="zh-CN" sz="105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endParaRPr lang="en-US" altLang="zh-CN" sz="105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endParaRPr lang="en-US" altLang="zh-CN" sz="105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endParaRPr lang="zh-CN" altLang="en-US" sz="1050" b="0" kern="0" dirty="0">
                  <a:solidFill>
                    <a:prstClr val="white"/>
                  </a:solidFill>
                  <a:latin typeface="微软雅黑" panose="020B0503020204020204" pitchFamily="34" charset="-122"/>
                  <a:ea typeface="微软雅黑" panose="020B0503020204020204" pitchFamily="34" charset="-122"/>
                </a:endParaRPr>
              </a:p>
            </p:txBody>
          </p:sp>
          <p:sp>
            <p:nvSpPr>
              <p:cNvPr id="17" name="矩形 16">
                <a:extLst>
                  <a:ext uri="{FF2B5EF4-FFF2-40B4-BE49-F238E27FC236}">
                    <a16:creationId xmlns:a16="http://schemas.microsoft.com/office/drawing/2014/main" id="{EA7872BE-E3F6-4931-8EE8-484017786151}"/>
                  </a:ext>
                </a:extLst>
              </p:cNvPr>
              <p:cNvSpPr/>
              <p:nvPr/>
            </p:nvSpPr>
            <p:spPr>
              <a:xfrm>
                <a:off x="989986" y="3228335"/>
                <a:ext cx="905183" cy="479318"/>
              </a:xfrm>
              <a:prstGeom prst="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en-US" altLang="zh-CN" sz="900" b="0" kern="0" dirty="0">
                    <a:solidFill>
                      <a:srgbClr val="4472C4">
                        <a:lumMod val="75000"/>
                      </a:srgbClr>
                    </a:solidFill>
                    <a:latin typeface="微软雅黑" panose="020B0503020204020204" pitchFamily="34" charset="-122"/>
                    <a:ea typeface="微软雅黑" panose="020B0503020204020204" pitchFamily="34" charset="-122"/>
                  </a:rPr>
                  <a:t>  TCP</a:t>
                </a:r>
              </a:p>
              <a:p>
                <a:pPr algn="ctr" defTabSz="685800" eaLnBrk="1" fontAlgn="auto" hangingPunct="1">
                  <a:spcBef>
                    <a:spcPts val="0"/>
                  </a:spcBef>
                  <a:spcAft>
                    <a:spcPts val="0"/>
                  </a:spcAft>
                  <a:defRPr/>
                </a:pPr>
                <a:r>
                  <a:rPr lang="zh-CN" altLang="en-US" sz="900" b="0" kern="0" dirty="0">
                    <a:solidFill>
                      <a:srgbClr val="4472C4">
                        <a:lumMod val="75000"/>
                      </a:srgbClr>
                    </a:solidFill>
                    <a:latin typeface="微软雅黑" panose="020B0503020204020204" pitchFamily="34" charset="-122"/>
                    <a:ea typeface="微软雅黑" panose="020B0503020204020204" pitchFamily="34" charset="-122"/>
                  </a:rPr>
                  <a:t>（需要连接）</a:t>
                </a:r>
              </a:p>
            </p:txBody>
          </p:sp>
          <p:sp>
            <p:nvSpPr>
              <p:cNvPr id="18" name="矩形 17">
                <a:extLst>
                  <a:ext uri="{FF2B5EF4-FFF2-40B4-BE49-F238E27FC236}">
                    <a16:creationId xmlns:a16="http://schemas.microsoft.com/office/drawing/2014/main" id="{A1548E58-F377-49E4-9FF5-EC2426D42B97}"/>
                  </a:ext>
                </a:extLst>
              </p:cNvPr>
              <p:cNvSpPr/>
              <p:nvPr/>
            </p:nvSpPr>
            <p:spPr>
              <a:xfrm>
                <a:off x="1989187" y="3228335"/>
                <a:ext cx="905183" cy="479318"/>
              </a:xfrm>
              <a:prstGeom prst="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en-US" altLang="zh-CN" sz="900" b="0" kern="0" dirty="0">
                    <a:solidFill>
                      <a:srgbClr val="4472C4">
                        <a:lumMod val="75000"/>
                      </a:srgbClr>
                    </a:solidFill>
                    <a:latin typeface="微软雅黑" panose="020B0503020204020204" pitchFamily="34" charset="-122"/>
                    <a:ea typeface="微软雅黑" panose="020B0503020204020204" pitchFamily="34" charset="-122"/>
                  </a:rPr>
                  <a:t>  UDP</a:t>
                </a:r>
              </a:p>
              <a:p>
                <a:pPr algn="ctr" defTabSz="685800" eaLnBrk="1" fontAlgn="auto" hangingPunct="1">
                  <a:spcBef>
                    <a:spcPts val="0"/>
                  </a:spcBef>
                  <a:spcAft>
                    <a:spcPts val="0"/>
                  </a:spcAft>
                  <a:defRPr/>
                </a:pPr>
                <a:r>
                  <a:rPr lang="zh-CN" altLang="en-US" sz="900" b="0" kern="0" dirty="0">
                    <a:solidFill>
                      <a:srgbClr val="4472C4">
                        <a:lumMod val="75000"/>
                      </a:srgbClr>
                    </a:solidFill>
                    <a:latin typeface="微软雅黑" panose="020B0503020204020204" pitchFamily="34" charset="-122"/>
                    <a:ea typeface="微软雅黑" panose="020B0503020204020204" pitchFamily="34" charset="-122"/>
                  </a:rPr>
                  <a:t>（不需要连接）</a:t>
                </a:r>
              </a:p>
            </p:txBody>
          </p:sp>
          <p:sp>
            <p:nvSpPr>
              <p:cNvPr id="19" name="矩形 18">
                <a:extLst>
                  <a:ext uri="{FF2B5EF4-FFF2-40B4-BE49-F238E27FC236}">
                    <a16:creationId xmlns:a16="http://schemas.microsoft.com/office/drawing/2014/main" id="{078D5310-F841-463D-8855-534EA3DCCDB6}"/>
                  </a:ext>
                </a:extLst>
              </p:cNvPr>
              <p:cNvSpPr/>
              <p:nvPr/>
            </p:nvSpPr>
            <p:spPr>
              <a:xfrm>
                <a:off x="989985" y="3777712"/>
                <a:ext cx="1904386" cy="479318"/>
              </a:xfrm>
              <a:prstGeom prst="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en-US" altLang="zh-CN" sz="900" b="0" kern="0" dirty="0">
                    <a:solidFill>
                      <a:srgbClr val="4472C4">
                        <a:lumMod val="75000"/>
                      </a:srgbClr>
                    </a:solidFill>
                    <a:latin typeface="微软雅黑" panose="020B0503020204020204" pitchFamily="34" charset="-122"/>
                    <a:ea typeface="微软雅黑" panose="020B0503020204020204" pitchFamily="34" charset="-122"/>
                  </a:rPr>
                  <a:t>IP</a:t>
                </a:r>
              </a:p>
              <a:p>
                <a:pPr algn="ctr" defTabSz="685800" eaLnBrk="1" fontAlgn="auto" hangingPunct="1">
                  <a:spcBef>
                    <a:spcPts val="0"/>
                  </a:spcBef>
                  <a:spcAft>
                    <a:spcPts val="0"/>
                  </a:spcAft>
                  <a:defRPr/>
                </a:pPr>
                <a:r>
                  <a:rPr lang="zh-CN" altLang="en-US" sz="900" b="0" kern="0" dirty="0">
                    <a:solidFill>
                      <a:srgbClr val="4472C4">
                        <a:lumMod val="75000"/>
                      </a:srgbClr>
                    </a:solidFill>
                    <a:latin typeface="微软雅黑" panose="020B0503020204020204" pitchFamily="34" charset="-122"/>
                    <a:ea typeface="微软雅黑" panose="020B0503020204020204" pitchFamily="34" charset="-122"/>
                  </a:rPr>
                  <a:t>（发送数据包、路由）</a:t>
                </a:r>
              </a:p>
            </p:txBody>
          </p:sp>
          <p:sp>
            <p:nvSpPr>
              <p:cNvPr id="20" name="矩形 19">
                <a:extLst>
                  <a:ext uri="{FF2B5EF4-FFF2-40B4-BE49-F238E27FC236}">
                    <a16:creationId xmlns:a16="http://schemas.microsoft.com/office/drawing/2014/main" id="{3A963A90-143E-472B-8387-52616B61AC72}"/>
                  </a:ext>
                </a:extLst>
              </p:cNvPr>
              <p:cNvSpPr/>
              <p:nvPr/>
            </p:nvSpPr>
            <p:spPr>
              <a:xfrm>
                <a:off x="1043449" y="3833016"/>
                <a:ext cx="505791" cy="176982"/>
              </a:xfrm>
              <a:prstGeom prst="rect">
                <a:avLst/>
              </a:prstGeom>
              <a:solidFill>
                <a:srgbClr val="FFC000">
                  <a:lumMod val="40000"/>
                  <a:lumOff val="60000"/>
                </a:srgbClr>
              </a:solidFill>
              <a:ln w="12700" cap="flat" cmpd="sng" algn="ctr">
                <a:solidFill>
                  <a:srgbClr val="FFC000">
                    <a:lumMod val="75000"/>
                  </a:srgbClr>
                </a:solidFill>
                <a:prstDash val="dash"/>
                <a:miter lim="800000"/>
              </a:ln>
              <a:effectLst/>
            </p:spPr>
            <p:txBody>
              <a:bodyPr rtlCol="0" anchor="ctr"/>
              <a:lstStyle/>
              <a:p>
                <a:pPr algn="ctr" defTabSz="685800" eaLnBrk="1" fontAlgn="auto" hangingPunct="1">
                  <a:spcBef>
                    <a:spcPts val="0"/>
                  </a:spcBef>
                  <a:spcAft>
                    <a:spcPts val="0"/>
                  </a:spcAft>
                  <a:defRPr/>
                </a:pPr>
                <a:r>
                  <a:rPr lang="en-US" altLang="zh-CN" sz="750" b="0" kern="0" dirty="0">
                    <a:solidFill>
                      <a:prstClr val="black"/>
                    </a:solidFill>
                    <a:latin typeface="微软雅黑" panose="020B0503020204020204" pitchFamily="34" charset="-122"/>
                    <a:ea typeface="微软雅黑" panose="020B0503020204020204" pitchFamily="34" charset="-122"/>
                  </a:rPr>
                  <a:t>ICMP</a:t>
                </a:r>
                <a:endParaRPr lang="zh-CN" altLang="en-US" sz="750" b="0" kern="0" dirty="0">
                  <a:solidFill>
                    <a:prstClr val="black"/>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0F9B768E-88F5-4DB0-B2EE-EF3526F874B2}"/>
                  </a:ext>
                </a:extLst>
              </p:cNvPr>
              <p:cNvSpPr/>
              <p:nvPr/>
            </p:nvSpPr>
            <p:spPr>
              <a:xfrm>
                <a:off x="2451919" y="4009998"/>
                <a:ext cx="390834" cy="176982"/>
              </a:xfrm>
              <a:prstGeom prst="rect">
                <a:avLst/>
              </a:prstGeom>
              <a:solidFill>
                <a:srgbClr val="FFC000">
                  <a:lumMod val="40000"/>
                  <a:lumOff val="60000"/>
                </a:srgbClr>
              </a:solidFill>
              <a:ln w="12700" cap="flat" cmpd="sng" algn="ctr">
                <a:solidFill>
                  <a:srgbClr val="FFC000">
                    <a:lumMod val="75000"/>
                  </a:srgbClr>
                </a:solidFill>
                <a:prstDash val="dash"/>
                <a:miter lim="800000"/>
              </a:ln>
              <a:effectLst/>
            </p:spPr>
            <p:txBody>
              <a:bodyPr rtlCol="0" anchor="ctr"/>
              <a:lstStyle/>
              <a:p>
                <a:pPr algn="ctr" defTabSz="685800" eaLnBrk="1" fontAlgn="auto" hangingPunct="1">
                  <a:spcBef>
                    <a:spcPts val="0"/>
                  </a:spcBef>
                  <a:spcAft>
                    <a:spcPts val="0"/>
                  </a:spcAft>
                  <a:defRPr/>
                </a:pPr>
                <a:r>
                  <a:rPr lang="en-US" altLang="zh-CN" sz="750" b="0" kern="0" dirty="0">
                    <a:solidFill>
                      <a:prstClr val="black"/>
                    </a:solidFill>
                    <a:latin typeface="微软雅黑" panose="020B0503020204020204" pitchFamily="34" charset="-122"/>
                    <a:ea typeface="微软雅黑" panose="020B0503020204020204" pitchFamily="34" charset="-122"/>
                  </a:rPr>
                  <a:t>ARP</a:t>
                </a:r>
                <a:endParaRPr lang="zh-CN" altLang="en-US" sz="750" b="0" kern="0" dirty="0">
                  <a:solidFill>
                    <a:prstClr val="black"/>
                  </a:solidFill>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id="{890C5523-8B8C-4B44-93F9-899067AAABA5}"/>
                  </a:ext>
                </a:extLst>
              </p:cNvPr>
              <p:cNvSpPr/>
              <p:nvPr/>
            </p:nvSpPr>
            <p:spPr>
              <a:xfrm>
                <a:off x="877531" y="4511438"/>
                <a:ext cx="2116394" cy="517668"/>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zh-CN" altLang="en-US" sz="1050" b="0" kern="0" dirty="0">
                    <a:solidFill>
                      <a:prstClr val="white"/>
                    </a:solidFill>
                    <a:latin typeface="微软雅黑" panose="020B0503020204020204" pitchFamily="34" charset="-122"/>
                    <a:ea typeface="微软雅黑" panose="020B0503020204020204" pitchFamily="34" charset="-122"/>
                  </a:rPr>
                  <a:t>网卡驱动程序</a:t>
                </a:r>
                <a:endParaRPr lang="en-US" altLang="zh-CN" sz="105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r>
                  <a:rPr lang="zh-CN" altLang="en-US" sz="900" b="0" kern="0" dirty="0">
                    <a:solidFill>
                      <a:prstClr val="white"/>
                    </a:solidFill>
                    <a:latin typeface="微软雅黑" panose="020B0503020204020204" pitchFamily="34" charset="-122"/>
                    <a:ea typeface="微软雅黑" panose="020B0503020204020204" pitchFamily="34" charset="-122"/>
                  </a:rPr>
                  <a:t>（控制网卡）</a:t>
                </a:r>
                <a:endParaRPr lang="zh-CN" altLang="en-US" sz="900" b="0" kern="0" dirty="0">
                  <a:solidFill>
                    <a:prstClr val="white"/>
                  </a:solidFill>
                  <a:latin typeface="等线" panose="020F0502020204030204"/>
                </a:endParaRPr>
              </a:p>
            </p:txBody>
          </p:sp>
          <p:sp>
            <p:nvSpPr>
              <p:cNvPr id="23" name="矩形 22">
                <a:extLst>
                  <a:ext uri="{FF2B5EF4-FFF2-40B4-BE49-F238E27FC236}">
                    <a16:creationId xmlns:a16="http://schemas.microsoft.com/office/drawing/2014/main" id="{ABAE2396-0819-4838-859C-FE5E2855BEA2}"/>
                  </a:ext>
                </a:extLst>
              </p:cNvPr>
              <p:cNvSpPr/>
              <p:nvPr/>
            </p:nvSpPr>
            <p:spPr>
              <a:xfrm>
                <a:off x="877531" y="5138253"/>
                <a:ext cx="2116394" cy="505527"/>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zh-CN" altLang="en-US" sz="1050" b="0" kern="0" dirty="0">
                    <a:solidFill>
                      <a:prstClr val="white"/>
                    </a:solidFill>
                    <a:latin typeface="等线" panose="020F0502020204030204"/>
                  </a:rPr>
                  <a:t>物理硬件网卡</a:t>
                </a:r>
                <a:endParaRPr lang="en-US" altLang="zh-CN" sz="1050" b="0" kern="0" dirty="0">
                  <a:solidFill>
                    <a:prstClr val="white"/>
                  </a:solidFill>
                  <a:latin typeface="等线" panose="020F0502020204030204"/>
                </a:endParaRPr>
              </a:p>
              <a:p>
                <a:pPr algn="ctr" defTabSz="685800" eaLnBrk="1" fontAlgn="auto" hangingPunct="1">
                  <a:spcBef>
                    <a:spcPts val="0"/>
                  </a:spcBef>
                  <a:spcAft>
                    <a:spcPts val="0"/>
                  </a:spcAft>
                  <a:defRPr/>
                </a:pPr>
                <a:r>
                  <a:rPr lang="zh-CN" altLang="en-US" sz="900" b="0" kern="0" dirty="0">
                    <a:solidFill>
                      <a:prstClr val="white"/>
                    </a:solidFill>
                    <a:latin typeface="等线" panose="020F0502020204030204"/>
                  </a:rPr>
                  <a:t>（数模、模数转换、编码）</a:t>
                </a:r>
              </a:p>
            </p:txBody>
          </p:sp>
        </p:grpSp>
        <p:sp>
          <p:nvSpPr>
            <p:cNvPr id="13" name="矩形: 圆角 12">
              <a:extLst>
                <a:ext uri="{FF2B5EF4-FFF2-40B4-BE49-F238E27FC236}">
                  <a16:creationId xmlns:a16="http://schemas.microsoft.com/office/drawing/2014/main" id="{9A80EE90-EFC9-49C7-B53D-DCC1EE633224}"/>
                </a:ext>
              </a:extLst>
            </p:cNvPr>
            <p:cNvSpPr/>
            <p:nvPr/>
          </p:nvSpPr>
          <p:spPr>
            <a:xfrm>
              <a:off x="730047" y="1777799"/>
              <a:ext cx="2411361" cy="4038872"/>
            </a:xfrm>
            <a:prstGeom prst="roundRect">
              <a:avLst/>
            </a:prstGeom>
            <a:noFill/>
            <a:ln w="19050" cap="flat" cmpd="sng" algn="ctr">
              <a:solidFill>
                <a:srgbClr val="ED7D31"/>
              </a:solidFill>
              <a:prstDash val="dash"/>
              <a:miter lim="800000"/>
            </a:ln>
            <a:effectLst/>
          </p:spPr>
          <p:txBody>
            <a:bodyPr rtlCol="0" anchor="ctr"/>
            <a:lstStyle/>
            <a:p>
              <a:pPr algn="ctr" defTabSz="685800" eaLnBrk="1" fontAlgn="auto" hangingPunct="1">
                <a:spcBef>
                  <a:spcPts val="0"/>
                </a:spcBef>
                <a:spcAft>
                  <a:spcPts val="0"/>
                </a:spcAft>
                <a:defRPr/>
              </a:pPr>
              <a:endParaRPr lang="zh-CN" altLang="en-US" sz="1350" b="0" kern="0">
                <a:solidFill>
                  <a:prstClr val="white"/>
                </a:solidFill>
                <a:latin typeface="等线" panose="020F0502020204030204"/>
              </a:endParaRPr>
            </a:p>
          </p:txBody>
        </p:sp>
      </p:grpSp>
      <p:grpSp>
        <p:nvGrpSpPr>
          <p:cNvPr id="24" name="组合 23">
            <a:extLst>
              <a:ext uri="{FF2B5EF4-FFF2-40B4-BE49-F238E27FC236}">
                <a16:creationId xmlns:a16="http://schemas.microsoft.com/office/drawing/2014/main" id="{837C8253-216E-4128-96CE-528F42DE377F}"/>
              </a:ext>
            </a:extLst>
          </p:cNvPr>
          <p:cNvGrpSpPr/>
          <p:nvPr/>
        </p:nvGrpSpPr>
        <p:grpSpPr>
          <a:xfrm>
            <a:off x="8218018" y="1295400"/>
            <a:ext cx="2411361" cy="4038877"/>
            <a:chOff x="6017295" y="1777799"/>
            <a:chExt cx="2411361" cy="4038877"/>
          </a:xfrm>
        </p:grpSpPr>
        <p:sp>
          <p:nvSpPr>
            <p:cNvPr id="25" name="矩形 24">
              <a:extLst>
                <a:ext uri="{FF2B5EF4-FFF2-40B4-BE49-F238E27FC236}">
                  <a16:creationId xmlns:a16="http://schemas.microsoft.com/office/drawing/2014/main" id="{E41F79AA-B535-4D1B-B65A-3AF3A238654D}"/>
                </a:ext>
              </a:extLst>
            </p:cNvPr>
            <p:cNvSpPr/>
            <p:nvPr/>
          </p:nvSpPr>
          <p:spPr>
            <a:xfrm>
              <a:off x="6164778" y="1952598"/>
              <a:ext cx="2116394" cy="796413"/>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zh-CN" altLang="en-US" sz="1050" b="0" kern="0" dirty="0">
                  <a:solidFill>
                    <a:prstClr val="white"/>
                  </a:solidFill>
                  <a:latin typeface="微软雅黑" panose="020B0503020204020204" pitchFamily="34" charset="-122"/>
                  <a:ea typeface="微软雅黑" panose="020B0503020204020204" pitchFamily="34" charset="-122"/>
                </a:rPr>
                <a:t>网络应用程序</a:t>
              </a:r>
              <a:endParaRPr lang="en-US" altLang="zh-CN" sz="105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r>
                <a:rPr lang="zh-CN" altLang="en-US" sz="900" b="0" kern="0" dirty="0">
                  <a:solidFill>
                    <a:prstClr val="white"/>
                  </a:solidFill>
                  <a:latin typeface="微软雅黑" panose="020B0503020204020204" pitchFamily="34" charset="-122"/>
                  <a:ea typeface="微软雅黑" panose="020B0503020204020204" pitchFamily="34" charset="-122"/>
                </a:rPr>
                <a:t>（</a:t>
              </a:r>
              <a:r>
                <a:rPr lang="en-US" altLang="zh-CN" sz="900" b="0" kern="0" dirty="0">
                  <a:solidFill>
                    <a:prstClr val="white"/>
                  </a:solidFill>
                  <a:latin typeface="微软雅黑" panose="020B0503020204020204" pitchFamily="34" charset="-122"/>
                  <a:ea typeface="微软雅黑" panose="020B0503020204020204" pitchFamily="34" charset="-122"/>
                </a:rPr>
                <a:t>HTTP</a:t>
              </a:r>
              <a:r>
                <a:rPr lang="zh-CN" altLang="en-US" sz="900" b="0" kern="0" dirty="0">
                  <a:solidFill>
                    <a:prstClr val="white"/>
                  </a:solidFill>
                  <a:latin typeface="微软雅黑" panose="020B0503020204020204" pitchFamily="34" charset="-122"/>
                  <a:ea typeface="微软雅黑" panose="020B0503020204020204" pitchFamily="34" charset="-122"/>
                </a:rPr>
                <a:t>、</a:t>
              </a:r>
              <a:r>
                <a:rPr lang="en-US" altLang="zh-CN" sz="900" b="0" kern="0" dirty="0">
                  <a:solidFill>
                    <a:prstClr val="white"/>
                  </a:solidFill>
                  <a:latin typeface="微软雅黑" panose="020B0503020204020204" pitchFamily="34" charset="-122"/>
                  <a:ea typeface="微软雅黑" panose="020B0503020204020204" pitchFamily="34" charset="-122"/>
                </a:rPr>
                <a:t>DNS</a:t>
              </a:r>
              <a:r>
                <a:rPr lang="zh-CN" altLang="en-US" sz="900" b="0" kern="0" dirty="0">
                  <a:solidFill>
                    <a:prstClr val="white"/>
                  </a:solidFill>
                  <a:latin typeface="微软雅黑" panose="020B0503020204020204" pitchFamily="34" charset="-122"/>
                  <a:ea typeface="微软雅黑" panose="020B0503020204020204" pitchFamily="34" charset="-122"/>
                </a:rPr>
                <a:t>、</a:t>
              </a:r>
              <a:r>
                <a:rPr lang="en-US" altLang="zh-CN" sz="900" b="0" kern="0" dirty="0">
                  <a:solidFill>
                    <a:prstClr val="white"/>
                  </a:solidFill>
                  <a:latin typeface="微软雅黑" panose="020B0503020204020204" pitchFamily="34" charset="-122"/>
                  <a:ea typeface="微软雅黑" panose="020B0503020204020204" pitchFamily="34" charset="-122"/>
                </a:rPr>
                <a:t>DHCP</a:t>
              </a:r>
              <a:r>
                <a:rPr lang="zh-CN" altLang="en-US" sz="900" b="0" kern="0" dirty="0">
                  <a:solidFill>
                    <a:prstClr val="white"/>
                  </a:solidFill>
                  <a:latin typeface="微软雅黑" panose="020B0503020204020204" pitchFamily="34" charset="-122"/>
                  <a:ea typeface="微软雅黑" panose="020B0503020204020204" pitchFamily="34" charset="-122"/>
                </a:rPr>
                <a:t>）</a:t>
              </a:r>
              <a:endParaRPr lang="en-US" altLang="zh-CN" sz="90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endParaRPr lang="en-US" altLang="zh-CN" sz="900" b="0" kern="0" dirty="0">
                <a:solidFill>
                  <a:prstClr val="white"/>
                </a:solidFill>
                <a:latin typeface="等线" panose="020F0502020204030204"/>
              </a:endParaRPr>
            </a:p>
            <a:p>
              <a:pPr algn="ctr" defTabSz="685800" eaLnBrk="1" fontAlgn="auto" hangingPunct="1">
                <a:spcBef>
                  <a:spcPts val="0"/>
                </a:spcBef>
                <a:spcAft>
                  <a:spcPts val="0"/>
                </a:spcAft>
                <a:defRPr/>
              </a:pPr>
              <a:endParaRPr lang="zh-CN" altLang="en-US" sz="900" b="0" kern="0" dirty="0">
                <a:solidFill>
                  <a:prstClr val="white"/>
                </a:solidFill>
                <a:latin typeface="等线" panose="020F0502020204030204"/>
              </a:endParaRPr>
            </a:p>
          </p:txBody>
        </p:sp>
        <p:sp>
          <p:nvSpPr>
            <p:cNvPr id="26" name="矩形 25">
              <a:extLst>
                <a:ext uri="{FF2B5EF4-FFF2-40B4-BE49-F238E27FC236}">
                  <a16:creationId xmlns:a16="http://schemas.microsoft.com/office/drawing/2014/main" id="{1B2EED38-5B0D-4A11-8C7B-6CDC7CC509AA}"/>
                </a:ext>
              </a:extLst>
            </p:cNvPr>
            <p:cNvSpPr/>
            <p:nvPr/>
          </p:nvSpPr>
          <p:spPr>
            <a:xfrm>
              <a:off x="6367567" y="2409801"/>
              <a:ext cx="1714501" cy="243348"/>
            </a:xfrm>
            <a:prstGeom prst="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en-US" altLang="zh-CN" sz="900" b="0" kern="0" dirty="0">
                  <a:solidFill>
                    <a:srgbClr val="4472C4">
                      <a:lumMod val="75000"/>
                    </a:srgbClr>
                  </a:solidFill>
                  <a:latin typeface="微软雅黑" panose="020B0503020204020204" pitchFamily="34" charset="-122"/>
                  <a:ea typeface="微软雅黑" panose="020B0503020204020204" pitchFamily="34" charset="-122"/>
                </a:rPr>
                <a:t>Socket</a:t>
              </a:r>
              <a:r>
                <a:rPr lang="zh-CN" altLang="en-US" sz="900" b="0" kern="0" dirty="0">
                  <a:solidFill>
                    <a:srgbClr val="4472C4">
                      <a:lumMod val="75000"/>
                    </a:srgbClr>
                  </a:solidFill>
                  <a:latin typeface="微软雅黑" panose="020B0503020204020204" pitchFamily="34" charset="-122"/>
                  <a:ea typeface="微软雅黑" panose="020B0503020204020204" pitchFamily="34" charset="-122"/>
                </a:rPr>
                <a:t>库</a:t>
              </a:r>
            </a:p>
          </p:txBody>
        </p:sp>
        <p:sp>
          <p:nvSpPr>
            <p:cNvPr id="27" name="矩形 26">
              <a:extLst>
                <a:ext uri="{FF2B5EF4-FFF2-40B4-BE49-F238E27FC236}">
                  <a16:creationId xmlns:a16="http://schemas.microsoft.com/office/drawing/2014/main" id="{CE6CE1C3-83EB-4644-8D97-408007D29DE0}"/>
                </a:ext>
              </a:extLst>
            </p:cNvPr>
            <p:cNvSpPr/>
            <p:nvPr/>
          </p:nvSpPr>
          <p:spPr>
            <a:xfrm>
              <a:off x="6164778" y="2837504"/>
              <a:ext cx="2116394" cy="1570703"/>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zh-CN" altLang="en-US" sz="1050" b="0" kern="0" dirty="0">
                  <a:solidFill>
                    <a:prstClr val="white"/>
                  </a:solidFill>
                  <a:latin typeface="微软雅黑" panose="020B0503020204020204" pitchFamily="34" charset="-122"/>
                  <a:ea typeface="微软雅黑" panose="020B0503020204020204" pitchFamily="34" charset="-122"/>
                </a:rPr>
                <a:t>协议栈</a:t>
              </a:r>
              <a:endParaRPr lang="en-US" altLang="zh-CN" sz="105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endParaRPr lang="en-US" altLang="zh-CN" sz="105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endParaRPr lang="en-US" altLang="zh-CN" sz="105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endParaRPr lang="en-US" altLang="zh-CN" sz="105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endParaRPr lang="en-US" altLang="zh-CN" sz="105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endParaRPr lang="en-US" altLang="zh-CN" sz="105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endParaRPr lang="en-US" altLang="zh-CN" sz="105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endParaRPr lang="zh-CN" altLang="en-US" sz="1050" b="0" kern="0" dirty="0">
                <a:solidFill>
                  <a:prstClr val="white"/>
                </a:solidFill>
                <a:latin typeface="微软雅黑" panose="020B0503020204020204" pitchFamily="34" charset="-122"/>
                <a:ea typeface="微软雅黑" panose="020B0503020204020204" pitchFamily="34" charset="-122"/>
              </a:endParaRPr>
            </a:p>
          </p:txBody>
        </p:sp>
        <p:sp>
          <p:nvSpPr>
            <p:cNvPr id="28" name="矩形 27">
              <a:extLst>
                <a:ext uri="{FF2B5EF4-FFF2-40B4-BE49-F238E27FC236}">
                  <a16:creationId xmlns:a16="http://schemas.microsoft.com/office/drawing/2014/main" id="{64CA1BE9-E824-48B1-9ED5-8189487FECF0}"/>
                </a:ext>
              </a:extLst>
            </p:cNvPr>
            <p:cNvSpPr/>
            <p:nvPr/>
          </p:nvSpPr>
          <p:spPr>
            <a:xfrm>
              <a:off x="6277233" y="3228340"/>
              <a:ext cx="905183" cy="479318"/>
            </a:xfrm>
            <a:prstGeom prst="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en-US" altLang="zh-CN" sz="900" b="0" kern="0" dirty="0">
                  <a:solidFill>
                    <a:srgbClr val="4472C4">
                      <a:lumMod val="75000"/>
                    </a:srgbClr>
                  </a:solidFill>
                  <a:latin typeface="微软雅黑" panose="020B0503020204020204" pitchFamily="34" charset="-122"/>
                  <a:ea typeface="微软雅黑" panose="020B0503020204020204" pitchFamily="34" charset="-122"/>
                </a:rPr>
                <a:t>  TCP</a:t>
              </a:r>
            </a:p>
            <a:p>
              <a:pPr algn="ctr" defTabSz="685800" eaLnBrk="1" fontAlgn="auto" hangingPunct="1">
                <a:spcBef>
                  <a:spcPts val="0"/>
                </a:spcBef>
                <a:spcAft>
                  <a:spcPts val="0"/>
                </a:spcAft>
                <a:defRPr/>
              </a:pPr>
              <a:r>
                <a:rPr lang="zh-CN" altLang="en-US" sz="900" b="0" kern="0" dirty="0">
                  <a:solidFill>
                    <a:srgbClr val="4472C4">
                      <a:lumMod val="75000"/>
                    </a:srgbClr>
                  </a:solidFill>
                  <a:latin typeface="微软雅黑" panose="020B0503020204020204" pitchFamily="34" charset="-122"/>
                  <a:ea typeface="微软雅黑" panose="020B0503020204020204" pitchFamily="34" charset="-122"/>
                </a:rPr>
                <a:t>（需要连接）</a:t>
              </a:r>
            </a:p>
          </p:txBody>
        </p:sp>
        <p:sp>
          <p:nvSpPr>
            <p:cNvPr id="29" name="矩形 28">
              <a:extLst>
                <a:ext uri="{FF2B5EF4-FFF2-40B4-BE49-F238E27FC236}">
                  <a16:creationId xmlns:a16="http://schemas.microsoft.com/office/drawing/2014/main" id="{8D59124A-E801-40F1-AC07-550B1655B4B0}"/>
                </a:ext>
              </a:extLst>
            </p:cNvPr>
            <p:cNvSpPr/>
            <p:nvPr/>
          </p:nvSpPr>
          <p:spPr>
            <a:xfrm>
              <a:off x="7276435" y="3228340"/>
              <a:ext cx="905183" cy="479318"/>
            </a:xfrm>
            <a:prstGeom prst="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en-US" altLang="zh-CN" sz="900" b="0" kern="0" dirty="0">
                  <a:solidFill>
                    <a:srgbClr val="4472C4">
                      <a:lumMod val="75000"/>
                    </a:srgbClr>
                  </a:solidFill>
                  <a:latin typeface="微软雅黑" panose="020B0503020204020204" pitchFamily="34" charset="-122"/>
                  <a:ea typeface="微软雅黑" panose="020B0503020204020204" pitchFamily="34" charset="-122"/>
                </a:rPr>
                <a:t>  UDP</a:t>
              </a:r>
            </a:p>
            <a:p>
              <a:pPr algn="ctr" defTabSz="685800" eaLnBrk="1" fontAlgn="auto" hangingPunct="1">
                <a:spcBef>
                  <a:spcPts val="0"/>
                </a:spcBef>
                <a:spcAft>
                  <a:spcPts val="0"/>
                </a:spcAft>
                <a:defRPr/>
              </a:pPr>
              <a:r>
                <a:rPr lang="zh-CN" altLang="en-US" sz="900" b="0" kern="0" dirty="0">
                  <a:solidFill>
                    <a:srgbClr val="4472C4">
                      <a:lumMod val="75000"/>
                    </a:srgbClr>
                  </a:solidFill>
                  <a:latin typeface="微软雅黑" panose="020B0503020204020204" pitchFamily="34" charset="-122"/>
                  <a:ea typeface="微软雅黑" panose="020B0503020204020204" pitchFamily="34" charset="-122"/>
                </a:rPr>
                <a:t>（不需要连接）</a:t>
              </a:r>
            </a:p>
          </p:txBody>
        </p:sp>
        <p:sp>
          <p:nvSpPr>
            <p:cNvPr id="30" name="矩形 29">
              <a:extLst>
                <a:ext uri="{FF2B5EF4-FFF2-40B4-BE49-F238E27FC236}">
                  <a16:creationId xmlns:a16="http://schemas.microsoft.com/office/drawing/2014/main" id="{4DA2C238-037A-4EA6-A77B-0C31E3DEF4AE}"/>
                </a:ext>
              </a:extLst>
            </p:cNvPr>
            <p:cNvSpPr/>
            <p:nvPr/>
          </p:nvSpPr>
          <p:spPr>
            <a:xfrm>
              <a:off x="6277232" y="3777717"/>
              <a:ext cx="1904386" cy="479318"/>
            </a:xfrm>
            <a:prstGeom prst="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en-US" altLang="zh-CN" sz="900" b="0" kern="0" dirty="0">
                  <a:solidFill>
                    <a:srgbClr val="4472C4">
                      <a:lumMod val="75000"/>
                    </a:srgbClr>
                  </a:solidFill>
                  <a:latin typeface="微软雅黑" panose="020B0503020204020204" pitchFamily="34" charset="-122"/>
                  <a:ea typeface="微软雅黑" panose="020B0503020204020204" pitchFamily="34" charset="-122"/>
                </a:rPr>
                <a:t>IP</a:t>
              </a:r>
            </a:p>
            <a:p>
              <a:pPr algn="ctr" defTabSz="685800" eaLnBrk="1" fontAlgn="auto" hangingPunct="1">
                <a:spcBef>
                  <a:spcPts val="0"/>
                </a:spcBef>
                <a:spcAft>
                  <a:spcPts val="0"/>
                </a:spcAft>
                <a:defRPr/>
              </a:pPr>
              <a:r>
                <a:rPr lang="zh-CN" altLang="en-US" sz="900" b="0" kern="0" dirty="0">
                  <a:solidFill>
                    <a:srgbClr val="4472C4">
                      <a:lumMod val="75000"/>
                    </a:srgbClr>
                  </a:solidFill>
                  <a:latin typeface="微软雅黑" panose="020B0503020204020204" pitchFamily="34" charset="-122"/>
                  <a:ea typeface="微软雅黑" panose="020B0503020204020204" pitchFamily="34" charset="-122"/>
                </a:rPr>
                <a:t>（发送数据包、路由）</a:t>
              </a:r>
            </a:p>
          </p:txBody>
        </p:sp>
        <p:sp>
          <p:nvSpPr>
            <p:cNvPr id="31" name="矩形 30">
              <a:extLst>
                <a:ext uri="{FF2B5EF4-FFF2-40B4-BE49-F238E27FC236}">
                  <a16:creationId xmlns:a16="http://schemas.microsoft.com/office/drawing/2014/main" id="{8F692576-0C9D-4025-A09D-A44E000A8910}"/>
                </a:ext>
              </a:extLst>
            </p:cNvPr>
            <p:cNvSpPr/>
            <p:nvPr/>
          </p:nvSpPr>
          <p:spPr>
            <a:xfrm>
              <a:off x="6330698" y="3833021"/>
              <a:ext cx="491612" cy="176977"/>
            </a:xfrm>
            <a:prstGeom prst="rect">
              <a:avLst/>
            </a:prstGeom>
            <a:solidFill>
              <a:srgbClr val="FFC000">
                <a:lumMod val="40000"/>
                <a:lumOff val="60000"/>
              </a:srgbClr>
            </a:solidFill>
            <a:ln w="12700" cap="flat" cmpd="sng" algn="ctr">
              <a:solidFill>
                <a:srgbClr val="FFC000">
                  <a:lumMod val="75000"/>
                </a:srgbClr>
              </a:solidFill>
              <a:prstDash val="dash"/>
              <a:miter lim="800000"/>
            </a:ln>
            <a:effectLst/>
          </p:spPr>
          <p:txBody>
            <a:bodyPr rtlCol="0" anchor="ctr"/>
            <a:lstStyle/>
            <a:p>
              <a:pPr algn="ctr" defTabSz="685800" eaLnBrk="1" fontAlgn="auto" hangingPunct="1">
                <a:spcBef>
                  <a:spcPts val="0"/>
                </a:spcBef>
                <a:spcAft>
                  <a:spcPts val="0"/>
                </a:spcAft>
                <a:defRPr/>
              </a:pPr>
              <a:r>
                <a:rPr lang="en-US" altLang="zh-CN" sz="750" b="0" kern="0" dirty="0">
                  <a:solidFill>
                    <a:prstClr val="black"/>
                  </a:solidFill>
                  <a:latin typeface="微软雅黑" panose="020B0503020204020204" pitchFamily="34" charset="-122"/>
                  <a:ea typeface="微软雅黑" panose="020B0503020204020204" pitchFamily="34" charset="-122"/>
                </a:rPr>
                <a:t>ICMP</a:t>
              </a:r>
              <a:endParaRPr lang="zh-CN" altLang="en-US" sz="750" b="0" kern="0" dirty="0">
                <a:solidFill>
                  <a:prstClr val="black"/>
                </a:solidFill>
                <a:latin typeface="微软雅黑" panose="020B0503020204020204" pitchFamily="34" charset="-122"/>
                <a:ea typeface="微软雅黑" panose="020B0503020204020204" pitchFamily="34" charset="-122"/>
              </a:endParaRPr>
            </a:p>
          </p:txBody>
        </p:sp>
        <p:sp>
          <p:nvSpPr>
            <p:cNvPr id="32" name="矩形 31">
              <a:extLst>
                <a:ext uri="{FF2B5EF4-FFF2-40B4-BE49-F238E27FC236}">
                  <a16:creationId xmlns:a16="http://schemas.microsoft.com/office/drawing/2014/main" id="{E1A2DB7D-4E3F-429C-B125-3927E65514D2}"/>
                </a:ext>
              </a:extLst>
            </p:cNvPr>
            <p:cNvSpPr/>
            <p:nvPr/>
          </p:nvSpPr>
          <p:spPr>
            <a:xfrm>
              <a:off x="7738865" y="4010003"/>
              <a:ext cx="401894" cy="199098"/>
            </a:xfrm>
            <a:prstGeom prst="rect">
              <a:avLst/>
            </a:prstGeom>
            <a:solidFill>
              <a:srgbClr val="FFC000">
                <a:lumMod val="40000"/>
                <a:lumOff val="60000"/>
              </a:srgbClr>
            </a:solidFill>
            <a:ln w="12700" cap="flat" cmpd="sng" algn="ctr">
              <a:solidFill>
                <a:srgbClr val="FFC000">
                  <a:lumMod val="75000"/>
                </a:srgbClr>
              </a:solidFill>
              <a:prstDash val="dash"/>
              <a:miter lim="800000"/>
            </a:ln>
            <a:effectLst/>
          </p:spPr>
          <p:txBody>
            <a:bodyPr rtlCol="0" anchor="ctr"/>
            <a:lstStyle/>
            <a:p>
              <a:pPr algn="ctr" defTabSz="685800" eaLnBrk="1" fontAlgn="auto" hangingPunct="1">
                <a:spcBef>
                  <a:spcPts val="0"/>
                </a:spcBef>
                <a:spcAft>
                  <a:spcPts val="0"/>
                </a:spcAft>
                <a:defRPr/>
              </a:pPr>
              <a:r>
                <a:rPr lang="en-US" altLang="zh-CN" sz="750" b="0" kern="0" dirty="0">
                  <a:solidFill>
                    <a:prstClr val="black"/>
                  </a:solidFill>
                  <a:latin typeface="微软雅黑" panose="020B0503020204020204" pitchFamily="34" charset="-122"/>
                  <a:ea typeface="微软雅黑" panose="020B0503020204020204" pitchFamily="34" charset="-122"/>
                </a:rPr>
                <a:t>ARP</a:t>
              </a:r>
              <a:endParaRPr lang="zh-CN" altLang="en-US" sz="750" b="0" kern="0" dirty="0">
                <a:solidFill>
                  <a:prstClr val="black"/>
                </a:solidFill>
                <a:latin typeface="微软雅黑" panose="020B0503020204020204" pitchFamily="34" charset="-122"/>
                <a:ea typeface="微软雅黑" panose="020B0503020204020204" pitchFamily="34" charset="-122"/>
              </a:endParaRPr>
            </a:p>
          </p:txBody>
        </p:sp>
        <p:sp>
          <p:nvSpPr>
            <p:cNvPr id="33" name="矩形 32">
              <a:extLst>
                <a:ext uri="{FF2B5EF4-FFF2-40B4-BE49-F238E27FC236}">
                  <a16:creationId xmlns:a16="http://schemas.microsoft.com/office/drawing/2014/main" id="{D0D35908-FA42-4737-BA4D-B6BE470DC436}"/>
                </a:ext>
              </a:extLst>
            </p:cNvPr>
            <p:cNvSpPr/>
            <p:nvPr/>
          </p:nvSpPr>
          <p:spPr>
            <a:xfrm>
              <a:off x="6164778" y="4511443"/>
              <a:ext cx="2116394" cy="517668"/>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zh-CN" altLang="en-US" sz="1050" b="0" kern="0" dirty="0">
                  <a:solidFill>
                    <a:prstClr val="white"/>
                  </a:solidFill>
                  <a:latin typeface="微软雅黑" panose="020B0503020204020204" pitchFamily="34" charset="-122"/>
                  <a:ea typeface="微软雅黑" panose="020B0503020204020204" pitchFamily="34" charset="-122"/>
                </a:rPr>
                <a:t>网卡驱动程序</a:t>
              </a:r>
              <a:endParaRPr lang="en-US" altLang="zh-CN" sz="1050" b="0" kern="0" dirty="0">
                <a:solidFill>
                  <a:prstClr val="white"/>
                </a:solidFill>
                <a:latin typeface="微软雅黑" panose="020B0503020204020204" pitchFamily="34" charset="-122"/>
                <a:ea typeface="微软雅黑" panose="020B0503020204020204" pitchFamily="34" charset="-122"/>
              </a:endParaRPr>
            </a:p>
            <a:p>
              <a:pPr algn="ctr" defTabSz="685800" eaLnBrk="1" fontAlgn="auto" hangingPunct="1">
                <a:spcBef>
                  <a:spcPts val="0"/>
                </a:spcBef>
                <a:spcAft>
                  <a:spcPts val="0"/>
                </a:spcAft>
                <a:defRPr/>
              </a:pPr>
              <a:r>
                <a:rPr lang="zh-CN" altLang="en-US" sz="900" b="0" kern="0" dirty="0">
                  <a:solidFill>
                    <a:prstClr val="white"/>
                  </a:solidFill>
                  <a:latin typeface="微软雅黑" panose="020B0503020204020204" pitchFamily="34" charset="-122"/>
                  <a:ea typeface="微软雅黑" panose="020B0503020204020204" pitchFamily="34" charset="-122"/>
                </a:rPr>
                <a:t>（控制网卡）</a:t>
              </a:r>
              <a:endParaRPr lang="zh-CN" altLang="en-US" sz="900" b="0" kern="0" dirty="0">
                <a:solidFill>
                  <a:prstClr val="white"/>
                </a:solidFill>
                <a:latin typeface="等线" panose="020F0502020204030204"/>
              </a:endParaRPr>
            </a:p>
          </p:txBody>
        </p:sp>
        <p:sp>
          <p:nvSpPr>
            <p:cNvPr id="34" name="矩形 33">
              <a:extLst>
                <a:ext uri="{FF2B5EF4-FFF2-40B4-BE49-F238E27FC236}">
                  <a16:creationId xmlns:a16="http://schemas.microsoft.com/office/drawing/2014/main" id="{C658F547-EEA0-40DB-8EED-1962BEE5CC06}"/>
                </a:ext>
              </a:extLst>
            </p:cNvPr>
            <p:cNvSpPr/>
            <p:nvPr/>
          </p:nvSpPr>
          <p:spPr>
            <a:xfrm>
              <a:off x="6164778" y="5138258"/>
              <a:ext cx="2116394" cy="505527"/>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zh-CN" altLang="en-US" sz="1050" b="0" kern="0" dirty="0">
                  <a:solidFill>
                    <a:prstClr val="white"/>
                  </a:solidFill>
                  <a:latin typeface="等线" panose="020F0502020204030204"/>
                </a:rPr>
                <a:t>物理硬件网卡</a:t>
              </a:r>
              <a:endParaRPr lang="en-US" altLang="zh-CN" sz="1050" b="0" kern="0" dirty="0">
                <a:solidFill>
                  <a:prstClr val="white"/>
                </a:solidFill>
                <a:latin typeface="等线" panose="020F0502020204030204"/>
              </a:endParaRPr>
            </a:p>
            <a:p>
              <a:pPr algn="ctr" defTabSz="685800" eaLnBrk="1" fontAlgn="auto" hangingPunct="1">
                <a:spcBef>
                  <a:spcPts val="0"/>
                </a:spcBef>
                <a:spcAft>
                  <a:spcPts val="0"/>
                </a:spcAft>
                <a:defRPr/>
              </a:pPr>
              <a:r>
                <a:rPr lang="zh-CN" altLang="en-US" sz="1050" b="0" kern="0" dirty="0">
                  <a:solidFill>
                    <a:prstClr val="white"/>
                  </a:solidFill>
                  <a:latin typeface="等线" panose="020F0502020204030204"/>
                </a:rPr>
                <a:t>（数模、模数转换、编码）</a:t>
              </a:r>
            </a:p>
          </p:txBody>
        </p:sp>
        <p:sp>
          <p:nvSpPr>
            <p:cNvPr id="35" name="矩形: 圆角 34">
              <a:extLst>
                <a:ext uri="{FF2B5EF4-FFF2-40B4-BE49-F238E27FC236}">
                  <a16:creationId xmlns:a16="http://schemas.microsoft.com/office/drawing/2014/main" id="{DA5BB918-B509-4C62-92C7-D245908547D1}"/>
                </a:ext>
              </a:extLst>
            </p:cNvPr>
            <p:cNvSpPr/>
            <p:nvPr/>
          </p:nvSpPr>
          <p:spPr>
            <a:xfrm>
              <a:off x="6017295" y="1777799"/>
              <a:ext cx="2411361" cy="4038877"/>
            </a:xfrm>
            <a:prstGeom prst="roundRect">
              <a:avLst/>
            </a:prstGeom>
            <a:noFill/>
            <a:ln w="19050" cap="flat" cmpd="sng" algn="ctr">
              <a:solidFill>
                <a:srgbClr val="ED7D31"/>
              </a:solidFill>
              <a:prstDash val="dash"/>
              <a:miter lim="800000"/>
            </a:ln>
            <a:effectLst/>
          </p:spPr>
          <p:txBody>
            <a:bodyPr rtlCol="0" anchor="ctr"/>
            <a:lstStyle/>
            <a:p>
              <a:pPr algn="ctr" defTabSz="685800" eaLnBrk="1" fontAlgn="auto" hangingPunct="1">
                <a:spcBef>
                  <a:spcPts val="0"/>
                </a:spcBef>
                <a:spcAft>
                  <a:spcPts val="0"/>
                </a:spcAft>
                <a:defRPr/>
              </a:pPr>
              <a:endParaRPr lang="zh-CN" altLang="en-US" sz="1350" b="0" kern="0">
                <a:solidFill>
                  <a:prstClr val="white"/>
                </a:solidFill>
                <a:latin typeface="等线" panose="020F0502020204030204"/>
              </a:endParaRPr>
            </a:p>
          </p:txBody>
        </p:sp>
      </p:grpSp>
      <p:grpSp>
        <p:nvGrpSpPr>
          <p:cNvPr id="36" name="组合 35">
            <a:extLst>
              <a:ext uri="{FF2B5EF4-FFF2-40B4-BE49-F238E27FC236}">
                <a16:creationId xmlns:a16="http://schemas.microsoft.com/office/drawing/2014/main" id="{7D5FB903-FFF7-4395-86E6-0557383637F6}"/>
              </a:ext>
            </a:extLst>
          </p:cNvPr>
          <p:cNvGrpSpPr/>
          <p:nvPr/>
        </p:nvGrpSpPr>
        <p:grpSpPr>
          <a:xfrm>
            <a:off x="10876705" y="1473885"/>
            <a:ext cx="248495" cy="3676166"/>
            <a:chOff x="8523582" y="1956284"/>
            <a:chExt cx="248495" cy="3676166"/>
          </a:xfrm>
        </p:grpSpPr>
        <p:sp>
          <p:nvSpPr>
            <p:cNvPr id="37" name="矩形 36">
              <a:extLst>
                <a:ext uri="{FF2B5EF4-FFF2-40B4-BE49-F238E27FC236}">
                  <a16:creationId xmlns:a16="http://schemas.microsoft.com/office/drawing/2014/main" id="{A2EE7096-C15A-43A2-92AA-92D482C69BD0}"/>
                </a:ext>
              </a:extLst>
            </p:cNvPr>
            <p:cNvSpPr/>
            <p:nvPr/>
          </p:nvSpPr>
          <p:spPr>
            <a:xfrm>
              <a:off x="8530051" y="1956284"/>
              <a:ext cx="242026" cy="796413"/>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zh-CN" altLang="en-US" sz="1050" b="0" kern="0" dirty="0">
                  <a:solidFill>
                    <a:prstClr val="white"/>
                  </a:solidFill>
                  <a:latin typeface="等线" panose="020F0502020204030204"/>
                </a:rPr>
                <a:t>应用程序</a:t>
              </a:r>
            </a:p>
          </p:txBody>
        </p:sp>
        <p:sp>
          <p:nvSpPr>
            <p:cNvPr id="38" name="矩形 37">
              <a:extLst>
                <a:ext uri="{FF2B5EF4-FFF2-40B4-BE49-F238E27FC236}">
                  <a16:creationId xmlns:a16="http://schemas.microsoft.com/office/drawing/2014/main" id="{F16233DB-EEB1-4D2E-8691-0E2E8CA88D20}"/>
                </a:ext>
              </a:extLst>
            </p:cNvPr>
            <p:cNvSpPr/>
            <p:nvPr/>
          </p:nvSpPr>
          <p:spPr>
            <a:xfrm>
              <a:off x="8530050" y="3260208"/>
              <a:ext cx="242026" cy="796413"/>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zh-CN" altLang="en-US" sz="1050" b="0" kern="0" dirty="0">
                  <a:solidFill>
                    <a:prstClr val="white"/>
                  </a:solidFill>
                  <a:latin typeface="等线" panose="020F0502020204030204"/>
                </a:rPr>
                <a:t>操作系统</a:t>
              </a:r>
            </a:p>
          </p:txBody>
        </p:sp>
        <p:sp>
          <p:nvSpPr>
            <p:cNvPr id="39" name="矩形 38">
              <a:extLst>
                <a:ext uri="{FF2B5EF4-FFF2-40B4-BE49-F238E27FC236}">
                  <a16:creationId xmlns:a16="http://schemas.microsoft.com/office/drawing/2014/main" id="{A46229AF-33C0-41C1-926A-CF550F0CED9C}"/>
                </a:ext>
              </a:extLst>
            </p:cNvPr>
            <p:cNvSpPr/>
            <p:nvPr/>
          </p:nvSpPr>
          <p:spPr>
            <a:xfrm>
              <a:off x="8530050" y="4326101"/>
              <a:ext cx="242026" cy="742822"/>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zh-CN" altLang="en-US" sz="1050" b="0" kern="0" dirty="0">
                  <a:solidFill>
                    <a:prstClr val="white"/>
                  </a:solidFill>
                  <a:latin typeface="等线" panose="020F0502020204030204"/>
                </a:rPr>
                <a:t>驱动程序</a:t>
              </a:r>
            </a:p>
          </p:txBody>
        </p:sp>
        <p:sp>
          <p:nvSpPr>
            <p:cNvPr id="40" name="矩形 39">
              <a:extLst>
                <a:ext uri="{FF2B5EF4-FFF2-40B4-BE49-F238E27FC236}">
                  <a16:creationId xmlns:a16="http://schemas.microsoft.com/office/drawing/2014/main" id="{897F9F75-3FD4-4566-BD37-A291FE06E01C}"/>
                </a:ext>
              </a:extLst>
            </p:cNvPr>
            <p:cNvSpPr/>
            <p:nvPr/>
          </p:nvSpPr>
          <p:spPr>
            <a:xfrm>
              <a:off x="8523582" y="5142671"/>
              <a:ext cx="242026" cy="489779"/>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r>
                <a:rPr lang="zh-CN" altLang="en-US" sz="1050" b="0" kern="0" dirty="0">
                  <a:solidFill>
                    <a:prstClr val="white"/>
                  </a:solidFill>
                  <a:latin typeface="等线" panose="020F0502020204030204"/>
                </a:rPr>
                <a:t>硬件</a:t>
              </a:r>
            </a:p>
          </p:txBody>
        </p:sp>
      </p:grpSp>
      <p:grpSp>
        <p:nvGrpSpPr>
          <p:cNvPr id="41" name="组合 40">
            <a:extLst>
              <a:ext uri="{FF2B5EF4-FFF2-40B4-BE49-F238E27FC236}">
                <a16:creationId xmlns:a16="http://schemas.microsoft.com/office/drawing/2014/main" id="{84874C8B-190C-4113-91D2-74C6953A80B9}"/>
              </a:ext>
            </a:extLst>
          </p:cNvPr>
          <p:cNvGrpSpPr/>
          <p:nvPr/>
        </p:nvGrpSpPr>
        <p:grpSpPr>
          <a:xfrm>
            <a:off x="3344245" y="5093170"/>
            <a:ext cx="5224046" cy="1107516"/>
            <a:chOff x="2633077" y="5517531"/>
            <a:chExt cx="4982315" cy="949906"/>
          </a:xfrm>
        </p:grpSpPr>
        <p:pic>
          <p:nvPicPr>
            <p:cNvPr id="42" name="图片 41">
              <a:extLst>
                <a:ext uri="{FF2B5EF4-FFF2-40B4-BE49-F238E27FC236}">
                  <a16:creationId xmlns:a16="http://schemas.microsoft.com/office/drawing/2014/main" id="{45D25599-71A2-4EAE-BD79-08ABF6700173}"/>
                </a:ext>
              </a:extLst>
            </p:cNvPr>
            <p:cNvPicPr>
              <a:picLocks noChangeAspect="1"/>
            </p:cNvPicPr>
            <p:nvPr/>
          </p:nvPicPr>
          <p:blipFill>
            <a:blip r:embed="rId2"/>
            <a:stretch>
              <a:fillRect/>
            </a:stretch>
          </p:blipFill>
          <p:spPr>
            <a:xfrm>
              <a:off x="2688167" y="5517531"/>
              <a:ext cx="416726" cy="568054"/>
            </a:xfrm>
            <a:prstGeom prst="rect">
              <a:avLst/>
            </a:prstGeom>
          </p:spPr>
        </p:pic>
        <p:pic>
          <p:nvPicPr>
            <p:cNvPr id="43" name="图片 42">
              <a:extLst>
                <a:ext uri="{FF2B5EF4-FFF2-40B4-BE49-F238E27FC236}">
                  <a16:creationId xmlns:a16="http://schemas.microsoft.com/office/drawing/2014/main" id="{230D2547-2517-4EE0-97F7-63CA207ED0EF}"/>
                </a:ext>
              </a:extLst>
            </p:cNvPr>
            <p:cNvPicPr>
              <a:picLocks noChangeAspect="1"/>
            </p:cNvPicPr>
            <p:nvPr/>
          </p:nvPicPr>
          <p:blipFill>
            <a:blip r:embed="rId3"/>
            <a:stretch>
              <a:fillRect/>
            </a:stretch>
          </p:blipFill>
          <p:spPr>
            <a:xfrm>
              <a:off x="3422831" y="5989518"/>
              <a:ext cx="344090" cy="397000"/>
            </a:xfrm>
            <a:prstGeom prst="rect">
              <a:avLst/>
            </a:prstGeom>
          </p:spPr>
        </p:pic>
        <p:pic>
          <p:nvPicPr>
            <p:cNvPr id="44" name="图片 43">
              <a:extLst>
                <a:ext uri="{FF2B5EF4-FFF2-40B4-BE49-F238E27FC236}">
                  <a16:creationId xmlns:a16="http://schemas.microsoft.com/office/drawing/2014/main" id="{69337048-300C-4EA1-9659-CCBB72B7C8DF}"/>
                </a:ext>
              </a:extLst>
            </p:cNvPr>
            <p:cNvPicPr>
              <a:picLocks noChangeAspect="1"/>
            </p:cNvPicPr>
            <p:nvPr/>
          </p:nvPicPr>
          <p:blipFill>
            <a:blip r:embed="rId4"/>
            <a:stretch>
              <a:fillRect/>
            </a:stretch>
          </p:blipFill>
          <p:spPr>
            <a:xfrm>
              <a:off x="4184116" y="6124235"/>
              <a:ext cx="344090" cy="343201"/>
            </a:xfrm>
            <a:prstGeom prst="rect">
              <a:avLst/>
            </a:prstGeom>
          </p:spPr>
        </p:pic>
        <p:pic>
          <p:nvPicPr>
            <p:cNvPr id="45" name="图片 44">
              <a:extLst>
                <a:ext uri="{FF2B5EF4-FFF2-40B4-BE49-F238E27FC236}">
                  <a16:creationId xmlns:a16="http://schemas.microsoft.com/office/drawing/2014/main" id="{782E6B40-A0D1-4344-8F7C-438A6CADD774}"/>
                </a:ext>
              </a:extLst>
            </p:cNvPr>
            <p:cNvPicPr>
              <a:picLocks noChangeAspect="1"/>
            </p:cNvPicPr>
            <p:nvPr/>
          </p:nvPicPr>
          <p:blipFill>
            <a:blip r:embed="rId4"/>
            <a:stretch>
              <a:fillRect/>
            </a:stretch>
          </p:blipFill>
          <p:spPr>
            <a:xfrm>
              <a:off x="5762232" y="6124235"/>
              <a:ext cx="344091" cy="343202"/>
            </a:xfrm>
            <a:prstGeom prst="rect">
              <a:avLst/>
            </a:prstGeom>
          </p:spPr>
        </p:pic>
        <p:pic>
          <p:nvPicPr>
            <p:cNvPr id="46" name="图片 45">
              <a:extLst>
                <a:ext uri="{FF2B5EF4-FFF2-40B4-BE49-F238E27FC236}">
                  <a16:creationId xmlns:a16="http://schemas.microsoft.com/office/drawing/2014/main" id="{770DA011-6223-42CF-9AEF-0106659CA9ED}"/>
                </a:ext>
              </a:extLst>
            </p:cNvPr>
            <p:cNvPicPr>
              <a:picLocks noChangeAspect="1"/>
            </p:cNvPicPr>
            <p:nvPr/>
          </p:nvPicPr>
          <p:blipFill>
            <a:blip r:embed="rId3"/>
            <a:stretch>
              <a:fillRect/>
            </a:stretch>
          </p:blipFill>
          <p:spPr>
            <a:xfrm>
              <a:off x="6526742" y="5948820"/>
              <a:ext cx="344090" cy="397000"/>
            </a:xfrm>
            <a:prstGeom prst="rect">
              <a:avLst/>
            </a:prstGeom>
          </p:spPr>
        </p:pic>
        <p:pic>
          <p:nvPicPr>
            <p:cNvPr id="47" name="图片 46">
              <a:extLst>
                <a:ext uri="{FF2B5EF4-FFF2-40B4-BE49-F238E27FC236}">
                  <a16:creationId xmlns:a16="http://schemas.microsoft.com/office/drawing/2014/main" id="{485B9BBE-6518-4B89-9C45-16C26DC0A7CA}"/>
                </a:ext>
              </a:extLst>
            </p:cNvPr>
            <p:cNvPicPr>
              <a:picLocks noChangeAspect="1"/>
            </p:cNvPicPr>
            <p:nvPr/>
          </p:nvPicPr>
          <p:blipFill>
            <a:blip r:embed="rId5"/>
            <a:stretch>
              <a:fillRect/>
            </a:stretch>
          </p:blipFill>
          <p:spPr>
            <a:xfrm>
              <a:off x="7111897" y="5561737"/>
              <a:ext cx="412120" cy="530945"/>
            </a:xfrm>
            <a:prstGeom prst="rect">
              <a:avLst/>
            </a:prstGeom>
          </p:spPr>
        </p:pic>
        <p:pic>
          <p:nvPicPr>
            <p:cNvPr id="48" name="图片 47">
              <a:extLst>
                <a:ext uri="{FF2B5EF4-FFF2-40B4-BE49-F238E27FC236}">
                  <a16:creationId xmlns:a16="http://schemas.microsoft.com/office/drawing/2014/main" id="{37C318C6-D201-4246-9DA9-2B81F876D54B}"/>
                </a:ext>
              </a:extLst>
            </p:cNvPr>
            <p:cNvPicPr>
              <a:picLocks noChangeAspect="1"/>
            </p:cNvPicPr>
            <p:nvPr/>
          </p:nvPicPr>
          <p:blipFill>
            <a:blip r:embed="rId6"/>
            <a:stretch>
              <a:fillRect/>
            </a:stretch>
          </p:blipFill>
          <p:spPr>
            <a:xfrm>
              <a:off x="4961195" y="6141128"/>
              <a:ext cx="399764" cy="309415"/>
            </a:xfrm>
            <a:prstGeom prst="rect">
              <a:avLst/>
            </a:prstGeom>
          </p:spPr>
        </p:pic>
        <p:cxnSp>
          <p:nvCxnSpPr>
            <p:cNvPr id="49" name="直接箭头连接符 48">
              <a:extLst>
                <a:ext uri="{FF2B5EF4-FFF2-40B4-BE49-F238E27FC236}">
                  <a16:creationId xmlns:a16="http://schemas.microsoft.com/office/drawing/2014/main" id="{32556F67-BD05-4496-B4F9-A6F31D7A1E7C}"/>
                </a:ext>
              </a:extLst>
            </p:cNvPr>
            <p:cNvCxnSpPr>
              <a:cxnSpLocks/>
              <a:endCxn id="43" idx="1"/>
            </p:cNvCxnSpPr>
            <p:nvPr/>
          </p:nvCxnSpPr>
          <p:spPr>
            <a:xfrm>
              <a:off x="3074072" y="5934415"/>
              <a:ext cx="348759" cy="253603"/>
            </a:xfrm>
            <a:prstGeom prst="straightConnector1">
              <a:avLst/>
            </a:prstGeom>
            <a:noFill/>
            <a:ln w="6350" cap="flat" cmpd="sng" algn="ctr">
              <a:solidFill>
                <a:srgbClr val="4472C4"/>
              </a:solidFill>
              <a:prstDash val="solid"/>
              <a:miter lim="800000"/>
              <a:headEnd type="triangle"/>
              <a:tailEnd type="triangle"/>
            </a:ln>
            <a:effectLst/>
          </p:spPr>
        </p:cxnSp>
        <p:cxnSp>
          <p:nvCxnSpPr>
            <p:cNvPr id="50" name="直接箭头连接符 49">
              <a:extLst>
                <a:ext uri="{FF2B5EF4-FFF2-40B4-BE49-F238E27FC236}">
                  <a16:creationId xmlns:a16="http://schemas.microsoft.com/office/drawing/2014/main" id="{4E28EDCE-7A80-4B6F-9C99-9142F2FDF421}"/>
                </a:ext>
              </a:extLst>
            </p:cNvPr>
            <p:cNvCxnSpPr>
              <a:cxnSpLocks/>
              <a:stCxn id="43" idx="3"/>
              <a:endCxn id="44" idx="1"/>
            </p:cNvCxnSpPr>
            <p:nvPr/>
          </p:nvCxnSpPr>
          <p:spPr>
            <a:xfrm>
              <a:off x="3766921" y="6188018"/>
              <a:ext cx="417195" cy="107818"/>
            </a:xfrm>
            <a:prstGeom prst="straightConnector1">
              <a:avLst/>
            </a:prstGeom>
            <a:noFill/>
            <a:ln w="6350" cap="flat" cmpd="sng" algn="ctr">
              <a:solidFill>
                <a:srgbClr val="4472C4"/>
              </a:solidFill>
              <a:prstDash val="solid"/>
              <a:miter lim="800000"/>
              <a:headEnd type="triangle"/>
              <a:tailEnd type="triangle"/>
            </a:ln>
            <a:effectLst/>
          </p:spPr>
        </p:cxnSp>
        <p:cxnSp>
          <p:nvCxnSpPr>
            <p:cNvPr id="51" name="直接箭头连接符 50">
              <a:extLst>
                <a:ext uri="{FF2B5EF4-FFF2-40B4-BE49-F238E27FC236}">
                  <a16:creationId xmlns:a16="http://schemas.microsoft.com/office/drawing/2014/main" id="{23F175CB-2DAE-42FC-AC58-EC38AB8FFD6C}"/>
                </a:ext>
              </a:extLst>
            </p:cNvPr>
            <p:cNvCxnSpPr>
              <a:cxnSpLocks/>
              <a:stCxn id="44" idx="3"/>
              <a:endCxn id="48" idx="1"/>
            </p:cNvCxnSpPr>
            <p:nvPr/>
          </p:nvCxnSpPr>
          <p:spPr>
            <a:xfrm>
              <a:off x="4528206" y="6295836"/>
              <a:ext cx="432989" cy="0"/>
            </a:xfrm>
            <a:prstGeom prst="straightConnector1">
              <a:avLst/>
            </a:prstGeom>
            <a:noFill/>
            <a:ln w="6350" cap="flat" cmpd="sng" algn="ctr">
              <a:solidFill>
                <a:srgbClr val="4472C4"/>
              </a:solidFill>
              <a:prstDash val="solid"/>
              <a:miter lim="800000"/>
              <a:headEnd type="triangle"/>
              <a:tailEnd type="triangle"/>
            </a:ln>
            <a:effectLst/>
          </p:spPr>
        </p:cxnSp>
        <p:cxnSp>
          <p:nvCxnSpPr>
            <p:cNvPr id="52" name="直接箭头连接符 51">
              <a:extLst>
                <a:ext uri="{FF2B5EF4-FFF2-40B4-BE49-F238E27FC236}">
                  <a16:creationId xmlns:a16="http://schemas.microsoft.com/office/drawing/2014/main" id="{459A8831-B67E-4C39-84E6-A665BA4C5D4B}"/>
                </a:ext>
              </a:extLst>
            </p:cNvPr>
            <p:cNvCxnSpPr>
              <a:cxnSpLocks/>
              <a:stCxn id="48" idx="3"/>
              <a:endCxn id="45" idx="1"/>
            </p:cNvCxnSpPr>
            <p:nvPr/>
          </p:nvCxnSpPr>
          <p:spPr>
            <a:xfrm>
              <a:off x="5360959" y="6295836"/>
              <a:ext cx="401273" cy="0"/>
            </a:xfrm>
            <a:prstGeom prst="straightConnector1">
              <a:avLst/>
            </a:prstGeom>
            <a:noFill/>
            <a:ln w="6350" cap="flat" cmpd="sng" algn="ctr">
              <a:solidFill>
                <a:srgbClr val="4472C4"/>
              </a:solidFill>
              <a:prstDash val="solid"/>
              <a:miter lim="800000"/>
              <a:headEnd type="triangle"/>
              <a:tailEnd type="triangle"/>
            </a:ln>
            <a:effectLst/>
          </p:spPr>
        </p:cxnSp>
        <p:cxnSp>
          <p:nvCxnSpPr>
            <p:cNvPr id="53" name="直接箭头连接符 52">
              <a:extLst>
                <a:ext uri="{FF2B5EF4-FFF2-40B4-BE49-F238E27FC236}">
                  <a16:creationId xmlns:a16="http://schemas.microsoft.com/office/drawing/2014/main" id="{C2A11BA3-CE59-4AB5-AB34-1AE8DCF8C831}"/>
                </a:ext>
              </a:extLst>
            </p:cNvPr>
            <p:cNvCxnSpPr>
              <a:cxnSpLocks/>
              <a:stCxn id="45" idx="3"/>
              <a:endCxn id="46" idx="1"/>
            </p:cNvCxnSpPr>
            <p:nvPr/>
          </p:nvCxnSpPr>
          <p:spPr>
            <a:xfrm flipV="1">
              <a:off x="6106323" y="6147320"/>
              <a:ext cx="420419" cy="148516"/>
            </a:xfrm>
            <a:prstGeom prst="straightConnector1">
              <a:avLst/>
            </a:prstGeom>
            <a:noFill/>
            <a:ln w="6350" cap="flat" cmpd="sng" algn="ctr">
              <a:solidFill>
                <a:srgbClr val="4472C4"/>
              </a:solidFill>
              <a:prstDash val="solid"/>
              <a:miter lim="800000"/>
              <a:headEnd type="triangle"/>
              <a:tailEnd type="triangle"/>
            </a:ln>
            <a:effectLst/>
          </p:spPr>
        </p:cxnSp>
        <p:cxnSp>
          <p:nvCxnSpPr>
            <p:cNvPr id="54" name="直接箭头连接符 53">
              <a:extLst>
                <a:ext uri="{FF2B5EF4-FFF2-40B4-BE49-F238E27FC236}">
                  <a16:creationId xmlns:a16="http://schemas.microsoft.com/office/drawing/2014/main" id="{1A766459-6E31-4563-85A1-42764D1DD835}"/>
                </a:ext>
              </a:extLst>
            </p:cNvPr>
            <p:cNvCxnSpPr>
              <a:cxnSpLocks/>
              <a:stCxn id="46" idx="3"/>
            </p:cNvCxnSpPr>
            <p:nvPr/>
          </p:nvCxnSpPr>
          <p:spPr>
            <a:xfrm flipV="1">
              <a:off x="6870832" y="5962516"/>
              <a:ext cx="345030" cy="184804"/>
            </a:xfrm>
            <a:prstGeom prst="straightConnector1">
              <a:avLst/>
            </a:prstGeom>
            <a:noFill/>
            <a:ln w="6350" cap="flat" cmpd="sng" algn="ctr">
              <a:solidFill>
                <a:srgbClr val="4472C4"/>
              </a:solidFill>
              <a:prstDash val="solid"/>
              <a:miter lim="800000"/>
              <a:headEnd type="triangle"/>
              <a:tailEnd type="triangle"/>
            </a:ln>
            <a:effectLst/>
          </p:spPr>
        </p:cxnSp>
        <p:sp>
          <p:nvSpPr>
            <p:cNvPr id="55" name="文本框 54">
              <a:extLst>
                <a:ext uri="{FF2B5EF4-FFF2-40B4-BE49-F238E27FC236}">
                  <a16:creationId xmlns:a16="http://schemas.microsoft.com/office/drawing/2014/main" id="{EF810753-26B1-4B3B-80CD-AE37F92ED933}"/>
                </a:ext>
              </a:extLst>
            </p:cNvPr>
            <p:cNvSpPr txBox="1"/>
            <p:nvPr/>
          </p:nvSpPr>
          <p:spPr>
            <a:xfrm>
              <a:off x="2633077" y="6048044"/>
              <a:ext cx="673635" cy="253916"/>
            </a:xfrm>
            <a:prstGeom prst="rect">
              <a:avLst/>
            </a:prstGeom>
            <a:noFill/>
          </p:spPr>
          <p:txBody>
            <a:bodyPr wrap="square" rtlCol="0">
              <a:spAutoFit/>
            </a:bodyPr>
            <a:lstStyle/>
            <a:p>
              <a:pPr defTabSz="685800" eaLnBrk="1" fontAlgn="auto" hangingPunct="1">
                <a:spcBef>
                  <a:spcPts val="0"/>
                </a:spcBef>
                <a:spcAft>
                  <a:spcPts val="0"/>
                </a:spcAft>
                <a:defRPr/>
              </a:pPr>
              <a:r>
                <a:rPr lang="zh-CN" altLang="en-US" sz="1050" b="0" kern="0" dirty="0">
                  <a:solidFill>
                    <a:prstClr val="black"/>
                  </a:solidFill>
                  <a:latin typeface="微软雅黑" panose="020B0503020204020204" pitchFamily="34" charset="-122"/>
                  <a:ea typeface="微软雅黑" panose="020B0503020204020204" pitchFamily="34" charset="-122"/>
                </a:rPr>
                <a:t>服务器</a:t>
              </a:r>
            </a:p>
          </p:txBody>
        </p:sp>
        <p:sp>
          <p:nvSpPr>
            <p:cNvPr id="56" name="文本框 55">
              <a:extLst>
                <a:ext uri="{FF2B5EF4-FFF2-40B4-BE49-F238E27FC236}">
                  <a16:creationId xmlns:a16="http://schemas.microsoft.com/office/drawing/2014/main" id="{DDECA298-A2F7-42B5-8A8A-FA101CC23F8D}"/>
                </a:ext>
              </a:extLst>
            </p:cNvPr>
            <p:cNvSpPr txBox="1"/>
            <p:nvPr/>
          </p:nvSpPr>
          <p:spPr>
            <a:xfrm>
              <a:off x="6941757" y="6091904"/>
              <a:ext cx="673635" cy="253916"/>
            </a:xfrm>
            <a:prstGeom prst="rect">
              <a:avLst/>
            </a:prstGeom>
            <a:noFill/>
          </p:spPr>
          <p:txBody>
            <a:bodyPr wrap="square" rtlCol="0">
              <a:spAutoFit/>
            </a:bodyPr>
            <a:lstStyle/>
            <a:p>
              <a:pPr defTabSz="685800" eaLnBrk="1" fontAlgn="auto" hangingPunct="1">
                <a:spcBef>
                  <a:spcPts val="0"/>
                </a:spcBef>
                <a:spcAft>
                  <a:spcPts val="0"/>
                </a:spcAft>
                <a:defRPr/>
              </a:pPr>
              <a:r>
                <a:rPr lang="zh-CN" altLang="en-US" sz="1050" b="0" kern="0" dirty="0">
                  <a:solidFill>
                    <a:prstClr val="black"/>
                  </a:solidFill>
                  <a:latin typeface="微软雅黑" panose="020B0503020204020204" pitchFamily="34" charset="-122"/>
                  <a:ea typeface="微软雅黑" panose="020B0503020204020204" pitchFamily="34" charset="-122"/>
                </a:rPr>
                <a:t>客户端</a:t>
              </a:r>
            </a:p>
          </p:txBody>
        </p:sp>
      </p:grpSp>
      <p:sp>
        <p:nvSpPr>
          <p:cNvPr id="57" name="对话气泡: 椭圆形 56">
            <a:extLst>
              <a:ext uri="{FF2B5EF4-FFF2-40B4-BE49-F238E27FC236}">
                <a16:creationId xmlns:a16="http://schemas.microsoft.com/office/drawing/2014/main" id="{3CBE71E8-DFCA-4D4D-A4F6-2631494269B1}"/>
              </a:ext>
            </a:extLst>
          </p:cNvPr>
          <p:cNvSpPr/>
          <p:nvPr/>
        </p:nvSpPr>
        <p:spPr>
          <a:xfrm>
            <a:off x="8981587" y="5536210"/>
            <a:ext cx="1431539" cy="361816"/>
          </a:xfrm>
          <a:prstGeom prst="wedgeEllipseCallout">
            <a:avLst>
              <a:gd name="adj1" fmla="val -73083"/>
              <a:gd name="adj2" fmla="val -82480"/>
            </a:avLst>
          </a:prstGeom>
          <a:solidFill>
            <a:srgbClr val="FFC000"/>
          </a:solidFill>
          <a:ln w="12700" cap="flat" cmpd="sng" algn="ctr">
            <a:noFill/>
            <a:prstDash val="solid"/>
            <a:miter lim="800000"/>
          </a:ln>
          <a:effectLst/>
        </p:spPr>
        <p:txBody>
          <a:bodyPr rtlCol="0" anchor="ctr"/>
          <a:lstStyle/>
          <a:p>
            <a:pPr algn="ctr" defTabSz="685800" eaLnBrk="1" fontAlgn="auto" hangingPunct="1">
              <a:spcBef>
                <a:spcPts val="0"/>
              </a:spcBef>
              <a:spcAft>
                <a:spcPts val="0"/>
              </a:spcAft>
              <a:defRPr/>
            </a:pPr>
            <a:r>
              <a:rPr lang="zh-CN" altLang="en-US" sz="900" b="0" kern="0" dirty="0">
                <a:solidFill>
                  <a:srgbClr val="FF0000"/>
                </a:solidFill>
                <a:latin typeface="微软雅黑" panose="020B0503020204020204" pitchFamily="34" charset="-122"/>
                <a:ea typeface="微软雅黑" panose="020B0503020204020204" pitchFamily="34" charset="-122"/>
              </a:rPr>
              <a:t>我要访问网站</a:t>
            </a:r>
          </a:p>
        </p:txBody>
      </p:sp>
      <p:sp>
        <p:nvSpPr>
          <p:cNvPr id="58" name="对话气泡: 椭圆形 57">
            <a:extLst>
              <a:ext uri="{FF2B5EF4-FFF2-40B4-BE49-F238E27FC236}">
                <a16:creationId xmlns:a16="http://schemas.microsoft.com/office/drawing/2014/main" id="{D981642A-CFEA-45BE-9FC9-626F9A7411A2}"/>
              </a:ext>
            </a:extLst>
          </p:cNvPr>
          <p:cNvSpPr/>
          <p:nvPr/>
        </p:nvSpPr>
        <p:spPr>
          <a:xfrm>
            <a:off x="1693597" y="5519778"/>
            <a:ext cx="1553997" cy="369059"/>
          </a:xfrm>
          <a:prstGeom prst="wedgeEllipseCallout">
            <a:avLst>
              <a:gd name="adj1" fmla="val 68311"/>
              <a:gd name="adj2" fmla="val -90589"/>
            </a:avLst>
          </a:prstGeom>
          <a:solidFill>
            <a:srgbClr val="FFC000"/>
          </a:solidFill>
          <a:ln w="12700" cap="flat" cmpd="sng" algn="ctr">
            <a:noFill/>
            <a:prstDash val="solid"/>
            <a:miter lim="800000"/>
          </a:ln>
          <a:effectLst/>
        </p:spPr>
        <p:txBody>
          <a:bodyPr rtlCol="0" anchor="ctr"/>
          <a:lstStyle/>
          <a:p>
            <a:pPr algn="ctr" defTabSz="685800" eaLnBrk="1" fontAlgn="auto" hangingPunct="1">
              <a:spcBef>
                <a:spcPts val="0"/>
              </a:spcBef>
              <a:spcAft>
                <a:spcPts val="0"/>
              </a:spcAft>
              <a:defRPr/>
            </a:pPr>
            <a:r>
              <a:rPr lang="zh-CN" altLang="en-US" sz="900" b="0" kern="0" dirty="0">
                <a:solidFill>
                  <a:srgbClr val="FF0000"/>
                </a:solidFill>
                <a:latin typeface="微软雅黑" panose="020B0503020204020204" pitchFamily="34" charset="-122"/>
                <a:ea typeface="微软雅黑" panose="020B0503020204020204" pitchFamily="34" charset="-122"/>
              </a:rPr>
              <a:t>好的，发给你</a:t>
            </a:r>
          </a:p>
        </p:txBody>
      </p:sp>
      <p:sp>
        <p:nvSpPr>
          <p:cNvPr id="59" name="箭头: 左右 58">
            <a:extLst>
              <a:ext uri="{FF2B5EF4-FFF2-40B4-BE49-F238E27FC236}">
                <a16:creationId xmlns:a16="http://schemas.microsoft.com/office/drawing/2014/main" id="{1CC03B0B-1EBE-4C45-AA57-72D0E574C341}"/>
              </a:ext>
            </a:extLst>
          </p:cNvPr>
          <p:cNvSpPr/>
          <p:nvPr/>
        </p:nvSpPr>
        <p:spPr>
          <a:xfrm>
            <a:off x="3768825" y="2840167"/>
            <a:ext cx="4596676" cy="216921"/>
          </a:xfrm>
          <a:prstGeom prst="lef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defRPr/>
            </a:pPr>
            <a:endParaRPr lang="zh-CN" altLang="en-US" sz="1350" b="0" kern="0">
              <a:solidFill>
                <a:prstClr val="white"/>
              </a:solidFill>
              <a:latin typeface="等线" panose="020F0502020204030204"/>
            </a:endParaRPr>
          </a:p>
        </p:txBody>
      </p:sp>
      <p:sp>
        <p:nvSpPr>
          <p:cNvPr id="60" name="矩形: 圆角 11">
            <a:extLst>
              <a:ext uri="{FF2B5EF4-FFF2-40B4-BE49-F238E27FC236}">
                <a16:creationId xmlns:a16="http://schemas.microsoft.com/office/drawing/2014/main" id="{B7F82160-DBAC-4B6F-9A02-7A10E2040EC3}"/>
              </a:ext>
            </a:extLst>
          </p:cNvPr>
          <p:cNvSpPr>
            <a:spLocks noChangeArrowheads="1"/>
          </p:cNvSpPr>
          <p:nvPr/>
        </p:nvSpPr>
        <p:spPr bwMode="auto">
          <a:xfrm>
            <a:off x="4206135" y="2774179"/>
            <a:ext cx="3759653" cy="319855"/>
          </a:xfrm>
          <a:prstGeom prst="roundRect">
            <a:avLst>
              <a:gd name="adj" fmla="val 16667"/>
            </a:avLst>
          </a:prstGeom>
          <a:solidFill>
            <a:srgbClr val="CCECFF"/>
          </a:solidFill>
          <a:ln w="9525" algn="ctr">
            <a:noFill/>
            <a:round/>
            <a:headEnd/>
            <a:tailEnd/>
          </a:ln>
        </p:spPr>
        <p:txBody>
          <a:bodyPr anchor="ctr" anchorCtr="1"/>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just" defTabSz="685800" eaLnBrk="1" fontAlgn="auto" hangingPunct="1">
              <a:spcBef>
                <a:spcPts val="0"/>
              </a:spcBef>
              <a:spcAft>
                <a:spcPts val="0"/>
              </a:spcAft>
              <a:defRPr/>
            </a:pPr>
            <a:r>
              <a:rPr lang="en-US" altLang="zh-CN" sz="1050" b="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TCP</a:t>
            </a:r>
            <a:r>
              <a:rPr lang="zh-CN" altLang="en-US" sz="1050" b="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050" b="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UDP</a:t>
            </a:r>
            <a:r>
              <a:rPr lang="zh-CN" altLang="en-US" sz="1050" b="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接受应用层的委托负责收发数据</a:t>
            </a:r>
          </a:p>
        </p:txBody>
      </p:sp>
      <p:sp>
        <p:nvSpPr>
          <p:cNvPr id="72" name="箭头: 左右 71">
            <a:extLst>
              <a:ext uri="{FF2B5EF4-FFF2-40B4-BE49-F238E27FC236}">
                <a16:creationId xmlns:a16="http://schemas.microsoft.com/office/drawing/2014/main" id="{7E318E64-74EB-4B7A-BF2D-3F28D18FDC45}"/>
              </a:ext>
            </a:extLst>
          </p:cNvPr>
          <p:cNvSpPr/>
          <p:nvPr/>
        </p:nvSpPr>
        <p:spPr>
          <a:xfrm>
            <a:off x="3774734" y="3525339"/>
            <a:ext cx="4582850" cy="213532"/>
          </a:xfrm>
          <a:prstGeom prst="lef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pPr>
            <a:endParaRPr lang="zh-CN" altLang="en-US" sz="1350" b="0" kern="0">
              <a:solidFill>
                <a:prstClr val="white"/>
              </a:solidFill>
              <a:latin typeface="等线" panose="020F0502020204030204"/>
            </a:endParaRPr>
          </a:p>
        </p:txBody>
      </p:sp>
      <p:sp>
        <p:nvSpPr>
          <p:cNvPr id="73" name="箭头: 左右 72">
            <a:extLst>
              <a:ext uri="{FF2B5EF4-FFF2-40B4-BE49-F238E27FC236}">
                <a16:creationId xmlns:a16="http://schemas.microsoft.com/office/drawing/2014/main" id="{66B729C0-C920-404D-B34E-2BFED41B5D81}"/>
              </a:ext>
            </a:extLst>
          </p:cNvPr>
          <p:cNvSpPr/>
          <p:nvPr/>
        </p:nvSpPr>
        <p:spPr>
          <a:xfrm>
            <a:off x="3768825" y="4187797"/>
            <a:ext cx="4596676" cy="213532"/>
          </a:xfrm>
          <a:prstGeom prst="lef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pPr>
            <a:endParaRPr lang="zh-CN" altLang="en-US" sz="1350" b="0" kern="0">
              <a:solidFill>
                <a:prstClr val="white"/>
              </a:solidFill>
              <a:latin typeface="等线" panose="020F0502020204030204"/>
            </a:endParaRPr>
          </a:p>
        </p:txBody>
      </p:sp>
      <p:sp>
        <p:nvSpPr>
          <p:cNvPr id="74" name="箭头: 左右 73">
            <a:extLst>
              <a:ext uri="{FF2B5EF4-FFF2-40B4-BE49-F238E27FC236}">
                <a16:creationId xmlns:a16="http://schemas.microsoft.com/office/drawing/2014/main" id="{A7195F98-B47D-43D8-895C-8D624C113098}"/>
              </a:ext>
            </a:extLst>
          </p:cNvPr>
          <p:cNvSpPr/>
          <p:nvPr/>
        </p:nvSpPr>
        <p:spPr>
          <a:xfrm>
            <a:off x="3769760" y="4794448"/>
            <a:ext cx="4588415" cy="221869"/>
          </a:xfrm>
          <a:prstGeom prst="lef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algn="ctr" defTabSz="685800" eaLnBrk="1" fontAlgn="auto" hangingPunct="1">
              <a:spcBef>
                <a:spcPts val="0"/>
              </a:spcBef>
              <a:spcAft>
                <a:spcPts val="0"/>
              </a:spcAft>
            </a:pPr>
            <a:endParaRPr lang="zh-CN" altLang="en-US" sz="1350" b="0" kern="0">
              <a:solidFill>
                <a:prstClr val="white"/>
              </a:solidFill>
              <a:latin typeface="等线" panose="020F0502020204030204"/>
            </a:endParaRPr>
          </a:p>
        </p:txBody>
      </p:sp>
      <p:sp>
        <p:nvSpPr>
          <p:cNvPr id="75" name="矩形: 圆角 12">
            <a:extLst>
              <a:ext uri="{FF2B5EF4-FFF2-40B4-BE49-F238E27FC236}">
                <a16:creationId xmlns:a16="http://schemas.microsoft.com/office/drawing/2014/main" id="{97BE6ADA-8710-46AD-A1ED-9EF119E8F47C}"/>
              </a:ext>
            </a:extLst>
          </p:cNvPr>
          <p:cNvSpPr>
            <a:spLocks noChangeArrowheads="1"/>
          </p:cNvSpPr>
          <p:nvPr/>
        </p:nvSpPr>
        <p:spPr bwMode="auto">
          <a:xfrm>
            <a:off x="4191000" y="3448097"/>
            <a:ext cx="3752913" cy="357564"/>
          </a:xfrm>
          <a:prstGeom prst="roundRect">
            <a:avLst>
              <a:gd name="adj" fmla="val 16667"/>
            </a:avLst>
          </a:prstGeom>
          <a:solidFill>
            <a:srgbClr val="CCECFF"/>
          </a:solidFill>
          <a:ln w="9525" algn="ctr">
            <a:noFill/>
            <a:round/>
            <a:headEnd/>
            <a:tailEnd/>
          </a:ln>
        </p:spPr>
        <p:txBody>
          <a:bodyPr anchor="ctr" anchorCtr="1"/>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just" defTabSz="685800" eaLnBrk="1" fontAlgn="auto" hangingPunct="1">
              <a:spcBef>
                <a:spcPts val="0"/>
              </a:spcBef>
              <a:spcAft>
                <a:spcPts val="0"/>
              </a:spcAft>
              <a:defRPr/>
            </a:pPr>
            <a:r>
              <a:rPr lang="en-US" altLang="zh-CN" sz="1050" b="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050" b="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协议控制数据包的收发操作</a:t>
            </a:r>
          </a:p>
        </p:txBody>
      </p:sp>
      <p:sp>
        <p:nvSpPr>
          <p:cNvPr id="76" name="矩形: 圆角 13">
            <a:extLst>
              <a:ext uri="{FF2B5EF4-FFF2-40B4-BE49-F238E27FC236}">
                <a16:creationId xmlns:a16="http://schemas.microsoft.com/office/drawing/2014/main" id="{FECE7EBE-2A42-4717-8E41-AD623FAD8C3C}"/>
              </a:ext>
            </a:extLst>
          </p:cNvPr>
          <p:cNvSpPr>
            <a:spLocks noChangeArrowheads="1"/>
          </p:cNvSpPr>
          <p:nvPr/>
        </p:nvSpPr>
        <p:spPr bwMode="auto">
          <a:xfrm>
            <a:off x="4200833" y="4114800"/>
            <a:ext cx="3743079" cy="357564"/>
          </a:xfrm>
          <a:prstGeom prst="roundRect">
            <a:avLst>
              <a:gd name="adj" fmla="val 16667"/>
            </a:avLst>
          </a:prstGeom>
          <a:solidFill>
            <a:srgbClr val="CCECFF"/>
          </a:solidFill>
          <a:ln w="9525" algn="ctr">
            <a:noFill/>
            <a:round/>
            <a:headEnd/>
            <a:tailEnd/>
          </a:ln>
        </p:spPr>
        <p:txBody>
          <a:bodyPr anchor="ctr" anchorCtr="1"/>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just" defTabSz="685800" eaLnBrk="1" fontAlgn="auto" hangingPunct="1">
              <a:spcBef>
                <a:spcPts val="0"/>
              </a:spcBef>
              <a:spcAft>
                <a:spcPts val="0"/>
              </a:spcAft>
              <a:defRPr/>
            </a:pPr>
            <a:r>
              <a:rPr lang="zh-CN" altLang="en-US" sz="1050" b="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网卡驱动程序负责控制网卡硬件</a:t>
            </a:r>
          </a:p>
        </p:txBody>
      </p:sp>
      <p:sp>
        <p:nvSpPr>
          <p:cNvPr id="77" name="矩形: 圆角 14">
            <a:extLst>
              <a:ext uri="{FF2B5EF4-FFF2-40B4-BE49-F238E27FC236}">
                <a16:creationId xmlns:a16="http://schemas.microsoft.com/office/drawing/2014/main" id="{68B31938-A20B-4C14-8A58-4DE581FDDEF0}"/>
              </a:ext>
            </a:extLst>
          </p:cNvPr>
          <p:cNvSpPr>
            <a:spLocks noChangeArrowheads="1"/>
          </p:cNvSpPr>
          <p:nvPr/>
        </p:nvSpPr>
        <p:spPr bwMode="auto">
          <a:xfrm>
            <a:off x="4187645" y="4733511"/>
            <a:ext cx="3743079" cy="359659"/>
          </a:xfrm>
          <a:prstGeom prst="roundRect">
            <a:avLst>
              <a:gd name="adj" fmla="val 16667"/>
            </a:avLst>
          </a:prstGeom>
          <a:solidFill>
            <a:srgbClr val="CCECFF"/>
          </a:solidFill>
          <a:ln w="9525" algn="ctr">
            <a:noFill/>
            <a:round/>
            <a:headEnd/>
            <a:tailEnd/>
          </a:ln>
        </p:spPr>
        <p:txBody>
          <a:bodyPr anchor="ctr" anchorCtr="1"/>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just" defTabSz="685800" eaLnBrk="1" fontAlgn="auto" hangingPunct="1">
              <a:spcBef>
                <a:spcPts val="0"/>
              </a:spcBef>
              <a:spcAft>
                <a:spcPts val="0"/>
              </a:spcAft>
              <a:defRPr/>
            </a:pPr>
            <a:r>
              <a:rPr lang="zh-CN" altLang="en-US" sz="900" b="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网卡对</a:t>
            </a:r>
            <a:r>
              <a:rPr lang="zh-CN" altLang="en-US" sz="1050" b="0" kern="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网线中的信号执行发送和接收操作</a:t>
            </a:r>
          </a:p>
        </p:txBody>
      </p:sp>
      <p:sp>
        <p:nvSpPr>
          <p:cNvPr id="78" name="箭头: 左右 77">
            <a:extLst>
              <a:ext uri="{FF2B5EF4-FFF2-40B4-BE49-F238E27FC236}">
                <a16:creationId xmlns:a16="http://schemas.microsoft.com/office/drawing/2014/main" id="{F249BB59-3961-4D30-919F-50C7F28BDE04}"/>
              </a:ext>
            </a:extLst>
          </p:cNvPr>
          <p:cNvSpPr/>
          <p:nvPr/>
        </p:nvSpPr>
        <p:spPr>
          <a:xfrm>
            <a:off x="3833044" y="5327948"/>
            <a:ext cx="4221403" cy="200696"/>
          </a:xfrm>
          <a:prstGeom prst="lef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zh-CN" altLang="en-US" sz="1350" b="0">
              <a:solidFill>
                <a:prstClr val="white"/>
              </a:solidFill>
              <a:latin typeface="等线" panose="020F0502020204030204"/>
              <a:ea typeface="等线" panose="02010600030101010101" pitchFamily="2" charset="-122"/>
            </a:endParaRPr>
          </a:p>
        </p:txBody>
      </p:sp>
    </p:spTree>
    <p:extLst>
      <p:ext uri="{BB962C8B-B14F-4D97-AF65-F5344CB8AC3E}">
        <p14:creationId xmlns:p14="http://schemas.microsoft.com/office/powerpoint/2010/main" val="353627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a:extLst>
              <a:ext uri="{FF2B5EF4-FFF2-40B4-BE49-F238E27FC236}">
                <a16:creationId xmlns:a16="http://schemas.microsoft.com/office/drawing/2014/main" id="{C7342278-83A4-494B-B1DA-633AA8474014}"/>
              </a:ext>
            </a:extLst>
          </p:cNvPr>
          <p:cNvGrpSpPr/>
          <p:nvPr/>
        </p:nvGrpSpPr>
        <p:grpSpPr>
          <a:xfrm>
            <a:off x="1463920" y="3568737"/>
            <a:ext cx="9356480" cy="382507"/>
            <a:chOff x="762000" y="3509571"/>
            <a:chExt cx="7772400" cy="382507"/>
          </a:xfrm>
        </p:grpSpPr>
        <p:sp>
          <p:nvSpPr>
            <p:cNvPr id="45" name="矩形 44">
              <a:extLst>
                <a:ext uri="{FF2B5EF4-FFF2-40B4-BE49-F238E27FC236}">
                  <a16:creationId xmlns:a16="http://schemas.microsoft.com/office/drawing/2014/main" id="{6BF0B2B1-4292-4179-87AF-F73C4E9F6AA8}"/>
                </a:ext>
              </a:extLst>
            </p:cNvPr>
            <p:cNvSpPr/>
            <p:nvPr/>
          </p:nvSpPr>
          <p:spPr>
            <a:xfrm>
              <a:off x="762000" y="3739678"/>
              <a:ext cx="152400" cy="152400"/>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6" name="矩形 45">
              <a:extLst>
                <a:ext uri="{FF2B5EF4-FFF2-40B4-BE49-F238E27FC236}">
                  <a16:creationId xmlns:a16="http://schemas.microsoft.com/office/drawing/2014/main" id="{2331ACE5-5442-4074-8564-D6B4E89C43D4}"/>
                </a:ext>
              </a:extLst>
            </p:cNvPr>
            <p:cNvSpPr/>
            <p:nvPr/>
          </p:nvSpPr>
          <p:spPr>
            <a:xfrm>
              <a:off x="8382000" y="3733816"/>
              <a:ext cx="152400" cy="152400"/>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47" name="直接连接符 46">
              <a:extLst>
                <a:ext uri="{FF2B5EF4-FFF2-40B4-BE49-F238E27FC236}">
                  <a16:creationId xmlns:a16="http://schemas.microsoft.com/office/drawing/2014/main" id="{3E1F7871-1D04-4F59-B238-ED9E4B17140D}"/>
                </a:ext>
              </a:extLst>
            </p:cNvPr>
            <p:cNvCxnSpPr>
              <a:stCxn id="45" idx="3"/>
              <a:endCxn id="46" idx="1"/>
            </p:cNvCxnSpPr>
            <p:nvPr/>
          </p:nvCxnSpPr>
          <p:spPr>
            <a:xfrm flipV="1">
              <a:off x="914400" y="3810016"/>
              <a:ext cx="7467600" cy="5862"/>
            </a:xfrm>
            <a:prstGeom prst="line">
              <a:avLst/>
            </a:prstGeom>
            <a:noFill/>
            <a:ln w="28575" cap="flat" cmpd="sng" algn="ctr">
              <a:solidFill>
                <a:sysClr val="windowText" lastClr="000000"/>
              </a:solidFill>
              <a:prstDash val="solid"/>
              <a:miter lim="800000"/>
            </a:ln>
            <a:effectLst/>
          </p:spPr>
        </p:cxnSp>
        <p:sp>
          <p:nvSpPr>
            <p:cNvPr id="48" name="文本框 47">
              <a:extLst>
                <a:ext uri="{FF2B5EF4-FFF2-40B4-BE49-F238E27FC236}">
                  <a16:creationId xmlns:a16="http://schemas.microsoft.com/office/drawing/2014/main" id="{9A2C2613-F0CB-4A19-A0D5-19F04CBC04C0}"/>
                </a:ext>
              </a:extLst>
            </p:cNvPr>
            <p:cNvSpPr txBox="1"/>
            <p:nvPr/>
          </p:nvSpPr>
          <p:spPr>
            <a:xfrm>
              <a:off x="7543799" y="3509571"/>
              <a:ext cx="914401"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主干网线</a:t>
              </a:r>
            </a:p>
          </p:txBody>
        </p:sp>
      </p:grpSp>
      <p:sp>
        <p:nvSpPr>
          <p:cNvPr id="49" name="Rectangle 2">
            <a:extLst>
              <a:ext uri="{FF2B5EF4-FFF2-40B4-BE49-F238E27FC236}">
                <a16:creationId xmlns:a16="http://schemas.microsoft.com/office/drawing/2014/main" id="{1E4D8B93-DD61-4BCF-A7FF-644C04F503F6}"/>
              </a:ext>
            </a:extLst>
          </p:cNvPr>
          <p:cNvSpPr>
            <a:spLocks noChangeArrowheads="1"/>
          </p:cNvSpPr>
          <p:nvPr/>
        </p:nvSpPr>
        <p:spPr bwMode="auto">
          <a:xfrm>
            <a:off x="1387719" y="1121562"/>
            <a:ext cx="9601200" cy="1818575"/>
          </a:xfrm>
          <a:prstGeom prst="rect">
            <a:avLst/>
          </a:prstGeom>
          <a:noFill/>
          <a:ln>
            <a:noFill/>
          </a:ln>
          <a:effectLst/>
        </p:spPr>
        <p:txBody>
          <a:bodyPr vert="horz" wrap="square" lIns="0" tIns="0" rIns="0" bIns="0" numCol="1" anchor="ctr" anchorCtr="0" compatLnSpc="1">
            <a:prstTxWarp prst="textNoShape">
              <a:avLst/>
            </a:prstTxWarp>
            <a:spAutoFit/>
          </a:bodyPr>
          <a:lstStyle/>
          <a:p>
            <a:pPr algn="just">
              <a:lnSpc>
                <a:spcPct val="250000"/>
              </a:lnSpc>
            </a:pPr>
            <a:r>
              <a:rPr lang="zh-CN" altLang="zh-CN" sz="1600" b="0" dirty="0">
                <a:solidFill>
                  <a:srgbClr val="000000"/>
                </a:solidFill>
                <a:latin typeface="微软雅黑" panose="020B0503020204020204" pitchFamily="34" charset="-122"/>
                <a:ea typeface="微软雅黑" panose="020B0503020204020204" pitchFamily="34" charset="-122"/>
              </a:rPr>
              <a:t>IP</a:t>
            </a:r>
            <a:r>
              <a:rPr lang="en-US" altLang="zh-CN" sz="1600" b="0" dirty="0">
                <a:solidFill>
                  <a:srgbClr val="000000"/>
                </a:solidFill>
                <a:latin typeface="微软雅黑" panose="020B0503020204020204" pitchFamily="34" charset="-122"/>
                <a:ea typeface="微软雅黑" panose="020B0503020204020204" pitchFamily="34" charset="-122"/>
              </a:rPr>
              <a:t> </a:t>
            </a:r>
            <a:r>
              <a:rPr lang="zh-CN" altLang="en-US" sz="1600" b="0" dirty="0">
                <a:solidFill>
                  <a:srgbClr val="000000"/>
                </a:solidFill>
                <a:latin typeface="微软雅黑" panose="020B0503020204020204" pitchFamily="34" charset="-122"/>
                <a:ea typeface="微软雅黑" panose="020B0503020204020204" pitchFamily="34" charset="-122"/>
              </a:rPr>
              <a:t>首</a:t>
            </a:r>
            <a:r>
              <a:rPr lang="zh-CN" altLang="zh-CN" sz="1600" b="0" dirty="0">
                <a:solidFill>
                  <a:srgbClr val="000000"/>
                </a:solidFill>
                <a:latin typeface="微软雅黑" panose="020B0503020204020204" pitchFamily="34" charset="-122"/>
                <a:ea typeface="微软雅黑" panose="020B0503020204020204" pitchFamily="34" charset="-122"/>
              </a:rPr>
              <a:t>部中的接收方</a:t>
            </a:r>
            <a:r>
              <a:rPr lang="en-US" altLang="zh-CN" sz="1600" b="0" dirty="0">
                <a:solidFill>
                  <a:srgbClr val="000000"/>
                </a:solidFill>
                <a:latin typeface="微软雅黑" panose="020B0503020204020204" pitchFamily="34" charset="-122"/>
                <a:ea typeface="微软雅黑" panose="020B0503020204020204" pitchFamily="34" charset="-122"/>
              </a:rPr>
              <a:t> </a:t>
            </a:r>
            <a:r>
              <a:rPr lang="zh-CN" altLang="zh-CN" sz="1600" b="0" dirty="0">
                <a:solidFill>
                  <a:srgbClr val="000000"/>
                </a:solidFill>
                <a:latin typeface="微软雅黑" panose="020B0503020204020204" pitchFamily="34" charset="-122"/>
                <a:ea typeface="微软雅黑" panose="020B0503020204020204" pitchFamily="34" charset="-122"/>
              </a:rPr>
              <a:t>IP</a:t>
            </a:r>
            <a:r>
              <a:rPr lang="en-US" altLang="zh-CN" sz="1600" b="0" dirty="0">
                <a:solidFill>
                  <a:srgbClr val="000000"/>
                </a:solidFill>
                <a:latin typeface="微软雅黑" panose="020B0503020204020204" pitchFamily="34" charset="-122"/>
                <a:ea typeface="微软雅黑" panose="020B0503020204020204" pitchFamily="34" charset="-122"/>
              </a:rPr>
              <a:t> </a:t>
            </a:r>
            <a:r>
              <a:rPr lang="zh-CN" altLang="zh-CN" sz="1600" b="0" dirty="0">
                <a:solidFill>
                  <a:srgbClr val="000000"/>
                </a:solidFill>
                <a:latin typeface="微软雅黑" panose="020B0503020204020204" pitchFamily="34" charset="-122"/>
                <a:ea typeface="微软雅黑" panose="020B0503020204020204" pitchFamily="34" charset="-122"/>
              </a:rPr>
              <a:t>地址表示网络包的目的地，通过这个地址可以判断要将包发到哪里</a:t>
            </a:r>
            <a:r>
              <a:rPr lang="zh-CN" altLang="en-US" sz="1600" b="0" dirty="0">
                <a:solidFill>
                  <a:srgbClr val="000000"/>
                </a:solidFill>
                <a:latin typeface="微软雅黑" panose="020B0503020204020204" pitchFamily="34" charset="-122"/>
                <a:ea typeface="微软雅黑" panose="020B0503020204020204" pitchFamily="34" charset="-122"/>
              </a:rPr>
              <a:t>。</a:t>
            </a:r>
            <a:r>
              <a:rPr lang="zh-CN" altLang="zh-CN" sz="1600" dirty="0">
                <a:solidFill>
                  <a:srgbClr val="000000"/>
                </a:solidFill>
                <a:latin typeface="微软雅黑" panose="020B0503020204020204" pitchFamily="34" charset="-122"/>
                <a:ea typeface="微软雅黑" panose="020B0503020204020204" pitchFamily="34" charset="-122"/>
              </a:rPr>
              <a:t>以太网</a:t>
            </a:r>
            <a:r>
              <a:rPr lang="zh-CN" altLang="zh-CN" sz="1600" b="0" dirty="0">
                <a:solidFill>
                  <a:srgbClr val="000000"/>
                </a:solidFill>
                <a:latin typeface="微软雅黑" panose="020B0503020204020204" pitchFamily="34" charset="-122"/>
                <a:ea typeface="微软雅黑" panose="020B0503020204020204" pitchFamily="34" charset="-122"/>
              </a:rPr>
              <a:t>在判断网络包目的地时和</a:t>
            </a:r>
            <a:r>
              <a:rPr lang="en-US" altLang="zh-CN" sz="1600" b="0" dirty="0">
                <a:solidFill>
                  <a:srgbClr val="000000"/>
                </a:solidFill>
                <a:latin typeface="微软雅黑" panose="020B0503020204020204" pitchFamily="34" charset="-122"/>
                <a:ea typeface="微软雅黑" panose="020B0503020204020204" pitchFamily="34" charset="-122"/>
              </a:rPr>
              <a:t> </a:t>
            </a:r>
            <a:r>
              <a:rPr lang="zh-CN" altLang="zh-CN" sz="1600" b="0" dirty="0">
                <a:solidFill>
                  <a:srgbClr val="000000"/>
                </a:solidFill>
                <a:latin typeface="微软雅黑" panose="020B0503020204020204" pitchFamily="34" charset="-122"/>
                <a:ea typeface="微软雅黑" panose="020B0503020204020204" pitchFamily="34" charset="-122"/>
              </a:rPr>
              <a:t>TCP/IP</a:t>
            </a:r>
            <a:r>
              <a:rPr lang="en-US" altLang="zh-CN" sz="1600" b="0" dirty="0">
                <a:solidFill>
                  <a:srgbClr val="000000"/>
                </a:solidFill>
                <a:latin typeface="微软雅黑" panose="020B0503020204020204" pitchFamily="34" charset="-122"/>
                <a:ea typeface="微软雅黑" panose="020B0503020204020204" pitchFamily="34" charset="-122"/>
              </a:rPr>
              <a:t> </a:t>
            </a:r>
            <a:r>
              <a:rPr lang="zh-CN" altLang="zh-CN" sz="1600" b="0" dirty="0">
                <a:solidFill>
                  <a:srgbClr val="000000"/>
                </a:solidFill>
                <a:latin typeface="微软雅黑" panose="020B0503020204020204" pitchFamily="34" charset="-122"/>
                <a:ea typeface="微软雅黑" panose="020B0503020204020204" pitchFamily="34" charset="-122"/>
              </a:rPr>
              <a:t>的方式不同，必须采用相</a:t>
            </a:r>
            <a:r>
              <a:rPr lang="zh-CN" altLang="zh-CN" sz="1800" dirty="0">
                <a:solidFill>
                  <a:srgbClr val="FF0000"/>
                </a:solidFill>
                <a:latin typeface="微软雅黑" panose="020B0503020204020204" pitchFamily="34" charset="-122"/>
                <a:ea typeface="微软雅黑" panose="020B0503020204020204" pitchFamily="34" charset="-122"/>
              </a:rPr>
              <a:t>匹配</a:t>
            </a:r>
            <a:r>
              <a:rPr lang="zh-CN" altLang="zh-CN" sz="1600" b="0" dirty="0">
                <a:solidFill>
                  <a:srgbClr val="000000"/>
                </a:solidFill>
                <a:latin typeface="微软雅黑" panose="020B0503020204020204" pitchFamily="34" charset="-122"/>
                <a:ea typeface="微软雅黑" panose="020B0503020204020204" pitchFamily="34" charset="-122"/>
              </a:rPr>
              <a:t>的方式才能在以太网中将包发往目的地，</a:t>
            </a:r>
            <a:r>
              <a:rPr lang="zh-CN" altLang="en-US" sz="1600" b="0" dirty="0">
                <a:solidFill>
                  <a:srgbClr val="000000"/>
                </a:solidFill>
                <a:latin typeface="微软雅黑" panose="020B0503020204020204" pitchFamily="34" charset="-122"/>
                <a:ea typeface="微软雅黑" panose="020B0503020204020204" pitchFamily="34" charset="-122"/>
              </a:rPr>
              <a:t>此时要用到</a:t>
            </a:r>
            <a:r>
              <a:rPr lang="zh-CN" altLang="zh-CN" sz="1600" b="0" dirty="0">
                <a:solidFill>
                  <a:srgbClr val="000000"/>
                </a:solidFill>
                <a:latin typeface="微软雅黑" panose="020B0503020204020204" pitchFamily="34" charset="-122"/>
                <a:ea typeface="微软雅黑" panose="020B0503020204020204" pitchFamily="34" charset="-122"/>
              </a:rPr>
              <a:t>MAC</a:t>
            </a:r>
            <a:r>
              <a:rPr lang="en-US" altLang="zh-CN" sz="1600" b="0" dirty="0">
                <a:solidFill>
                  <a:srgbClr val="000000"/>
                </a:solidFill>
                <a:latin typeface="微软雅黑" panose="020B0503020204020204" pitchFamily="34" charset="-122"/>
                <a:ea typeface="微软雅黑" panose="020B0503020204020204" pitchFamily="34" charset="-122"/>
              </a:rPr>
              <a:t> </a:t>
            </a:r>
            <a:r>
              <a:rPr lang="zh-CN" altLang="en-US" sz="1600" b="0" dirty="0">
                <a:solidFill>
                  <a:srgbClr val="000000"/>
                </a:solidFill>
                <a:latin typeface="微软雅黑" panose="020B0503020204020204" pitchFamily="34" charset="-122"/>
                <a:ea typeface="微软雅黑" panose="020B0503020204020204" pitchFamily="34" charset="-122"/>
              </a:rPr>
              <a:t>帧首</a:t>
            </a:r>
            <a:r>
              <a:rPr lang="zh-CN" altLang="zh-CN" sz="1600" b="0" dirty="0">
                <a:solidFill>
                  <a:srgbClr val="000000"/>
                </a:solidFill>
                <a:latin typeface="微软雅黑" panose="020B0503020204020204" pitchFamily="34" charset="-122"/>
                <a:ea typeface="微软雅黑" panose="020B0503020204020204" pitchFamily="34" charset="-122"/>
              </a:rPr>
              <a:t>部。</a:t>
            </a:r>
            <a:r>
              <a:rPr lang="zh-CN" altLang="zh-CN" sz="1600" b="0" dirty="0">
                <a:solidFill>
                  <a:prstClr val="black"/>
                </a:solidFill>
                <a:latin typeface="微软雅黑" panose="020B0503020204020204" pitchFamily="34" charset="-122"/>
                <a:ea typeface="微软雅黑" panose="020B0503020204020204" pitchFamily="34" charset="-122"/>
              </a:rPr>
              <a:t> </a:t>
            </a:r>
          </a:p>
        </p:txBody>
      </p:sp>
      <p:sp>
        <p:nvSpPr>
          <p:cNvPr id="50" name="弧形 49">
            <a:extLst>
              <a:ext uri="{FF2B5EF4-FFF2-40B4-BE49-F238E27FC236}">
                <a16:creationId xmlns:a16="http://schemas.microsoft.com/office/drawing/2014/main" id="{6837C5E9-98BE-456E-9B47-AD14743E55FE}"/>
              </a:ext>
            </a:extLst>
          </p:cNvPr>
          <p:cNvSpPr/>
          <p:nvPr/>
        </p:nvSpPr>
        <p:spPr>
          <a:xfrm rot="16200000">
            <a:off x="8453446" y="4401850"/>
            <a:ext cx="1274134" cy="927588"/>
          </a:xfrm>
          <a:prstGeom prst="arc">
            <a:avLst>
              <a:gd name="adj1" fmla="val 16200000"/>
              <a:gd name="adj2" fmla="val 126655"/>
            </a:avLst>
          </a:prstGeom>
          <a:noFill/>
          <a:ln w="19050" cap="flat" cmpd="sng" algn="ctr">
            <a:solidFill>
              <a:srgbClr val="ED7D31">
                <a:lumMod val="75000"/>
              </a:srgbClr>
            </a:solidFill>
            <a:prstDash val="solid"/>
            <a:miter lim="800000"/>
            <a:headEnd type="triangle" w="lg" len="lg"/>
            <a:tailEnd type="none"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1" name="弧形 50">
            <a:extLst>
              <a:ext uri="{FF2B5EF4-FFF2-40B4-BE49-F238E27FC236}">
                <a16:creationId xmlns:a16="http://schemas.microsoft.com/office/drawing/2014/main" id="{3EBAE508-4B33-461E-903A-7575AC301D3B}"/>
              </a:ext>
            </a:extLst>
          </p:cNvPr>
          <p:cNvSpPr/>
          <p:nvPr/>
        </p:nvSpPr>
        <p:spPr>
          <a:xfrm rot="16200000">
            <a:off x="5174839" y="4377299"/>
            <a:ext cx="1328713" cy="1052878"/>
          </a:xfrm>
          <a:prstGeom prst="arc">
            <a:avLst>
              <a:gd name="adj1" fmla="val 16200000"/>
              <a:gd name="adj2" fmla="val 126655"/>
            </a:avLst>
          </a:prstGeom>
          <a:noFill/>
          <a:ln w="19050" cap="flat" cmpd="sng" algn="ctr">
            <a:solidFill>
              <a:srgbClr val="ED7D31">
                <a:lumMod val="75000"/>
              </a:srgbClr>
            </a:solidFill>
            <a:prstDash val="solid"/>
            <a:miter lim="800000"/>
            <a:headEnd type="triangle" w="lg" len="lg"/>
            <a:tailEnd type="none"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nvGrpSpPr>
          <p:cNvPr id="52" name="组合 51">
            <a:extLst>
              <a:ext uri="{FF2B5EF4-FFF2-40B4-BE49-F238E27FC236}">
                <a16:creationId xmlns:a16="http://schemas.microsoft.com/office/drawing/2014/main" id="{8BAED346-FC6B-4808-AAF9-164AF57F2E3D}"/>
              </a:ext>
            </a:extLst>
          </p:cNvPr>
          <p:cNvGrpSpPr/>
          <p:nvPr/>
        </p:nvGrpSpPr>
        <p:grpSpPr>
          <a:xfrm>
            <a:off x="1524000" y="3845736"/>
            <a:ext cx="1899138" cy="1846375"/>
            <a:chOff x="844062" y="3786570"/>
            <a:chExt cx="1899138" cy="1846375"/>
          </a:xfrm>
        </p:grpSpPr>
        <p:grpSp>
          <p:nvGrpSpPr>
            <p:cNvPr id="53" name="组合 52">
              <a:extLst>
                <a:ext uri="{FF2B5EF4-FFF2-40B4-BE49-F238E27FC236}">
                  <a16:creationId xmlns:a16="http://schemas.microsoft.com/office/drawing/2014/main" id="{C9181298-160C-4CF6-8291-31E69B5F51CC}"/>
                </a:ext>
              </a:extLst>
            </p:cNvPr>
            <p:cNvGrpSpPr/>
            <p:nvPr/>
          </p:nvGrpSpPr>
          <p:grpSpPr>
            <a:xfrm>
              <a:off x="1981200" y="3786570"/>
              <a:ext cx="762000" cy="404440"/>
              <a:chOff x="1981200" y="3786570"/>
              <a:chExt cx="762000" cy="404440"/>
            </a:xfrm>
          </p:grpSpPr>
          <p:sp>
            <p:nvSpPr>
              <p:cNvPr id="56" name="矩形 55">
                <a:extLst>
                  <a:ext uri="{FF2B5EF4-FFF2-40B4-BE49-F238E27FC236}">
                    <a16:creationId xmlns:a16="http://schemas.microsoft.com/office/drawing/2014/main" id="{D1D89B97-DFD7-4787-B273-33CE075D0A4B}"/>
                  </a:ext>
                </a:extLst>
              </p:cNvPr>
              <p:cNvSpPr/>
              <p:nvPr/>
            </p:nvSpPr>
            <p:spPr>
              <a:xfrm>
                <a:off x="1981200" y="3886216"/>
                <a:ext cx="762000" cy="304794"/>
              </a:xfrm>
              <a:prstGeom prst="rect">
                <a:avLst/>
              </a:prstGeom>
              <a:solidFill>
                <a:srgbClr val="E7E6E6">
                  <a:lumMod val="75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7" name="矩形 56">
                <a:extLst>
                  <a:ext uri="{FF2B5EF4-FFF2-40B4-BE49-F238E27FC236}">
                    <a16:creationId xmlns:a16="http://schemas.microsoft.com/office/drawing/2014/main" id="{4F899A54-C067-4286-8481-CC97D688D1AE}"/>
                  </a:ext>
                </a:extLst>
              </p:cNvPr>
              <p:cNvSpPr/>
              <p:nvPr/>
            </p:nvSpPr>
            <p:spPr>
              <a:xfrm>
                <a:off x="1981200" y="3956555"/>
                <a:ext cx="152400" cy="152400"/>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8" name="矩形 57">
                <a:extLst>
                  <a:ext uri="{FF2B5EF4-FFF2-40B4-BE49-F238E27FC236}">
                    <a16:creationId xmlns:a16="http://schemas.microsoft.com/office/drawing/2014/main" id="{3566024E-3A37-4793-8983-B1EBF23D659B}"/>
                  </a:ext>
                </a:extLst>
              </p:cNvPr>
              <p:cNvSpPr/>
              <p:nvPr/>
            </p:nvSpPr>
            <p:spPr>
              <a:xfrm>
                <a:off x="2286000" y="3786570"/>
                <a:ext cx="381000" cy="105508"/>
              </a:xfrm>
              <a:prstGeom prst="rect">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sp>
          <p:nvSpPr>
            <p:cNvPr id="54" name="monitor-and-computer-case_103">
              <a:extLst>
                <a:ext uri="{FF2B5EF4-FFF2-40B4-BE49-F238E27FC236}">
                  <a16:creationId xmlns:a16="http://schemas.microsoft.com/office/drawing/2014/main" id="{D4A52856-A687-4153-A57C-7A35CB3889AA}"/>
                </a:ext>
              </a:extLst>
            </p:cNvPr>
            <p:cNvSpPr/>
            <p:nvPr/>
          </p:nvSpPr>
          <p:spPr>
            <a:xfrm>
              <a:off x="844062" y="4806478"/>
              <a:ext cx="914400" cy="679938"/>
            </a:xfrm>
            <a:custGeom>
              <a:avLst/>
              <a:gdLst>
                <a:gd name="connsiteX0" fmla="*/ 474014 w 560604"/>
                <a:gd name="connsiteY0" fmla="*/ 279973 h 438626"/>
                <a:gd name="connsiteX1" fmla="*/ 446881 w 560604"/>
                <a:gd name="connsiteY1" fmla="*/ 307041 h 438626"/>
                <a:gd name="connsiteX2" fmla="*/ 474014 w 560604"/>
                <a:gd name="connsiteY2" fmla="*/ 334108 h 438626"/>
                <a:gd name="connsiteX3" fmla="*/ 502438 w 560604"/>
                <a:gd name="connsiteY3" fmla="*/ 307041 h 438626"/>
                <a:gd name="connsiteX4" fmla="*/ 474014 w 560604"/>
                <a:gd name="connsiteY4" fmla="*/ 279973 h 438626"/>
                <a:gd name="connsiteX5" fmla="*/ 474014 w 560604"/>
                <a:gd name="connsiteY5" fmla="*/ 263217 h 438626"/>
                <a:gd name="connsiteX6" fmla="*/ 517942 w 560604"/>
                <a:gd name="connsiteY6" fmla="*/ 307041 h 438626"/>
                <a:gd name="connsiteX7" fmla="*/ 474014 w 560604"/>
                <a:gd name="connsiteY7" fmla="*/ 349575 h 438626"/>
                <a:gd name="connsiteX8" fmla="*/ 431377 w 560604"/>
                <a:gd name="connsiteY8" fmla="*/ 307041 h 438626"/>
                <a:gd name="connsiteX9" fmla="*/ 474014 w 560604"/>
                <a:gd name="connsiteY9" fmla="*/ 263217 h 438626"/>
                <a:gd name="connsiteX10" fmla="*/ 415845 w 560604"/>
                <a:gd name="connsiteY10" fmla="*/ 158634 h 438626"/>
                <a:gd name="connsiteX11" fmla="*/ 533475 w 560604"/>
                <a:gd name="connsiteY11" fmla="*/ 158634 h 438626"/>
                <a:gd name="connsiteX12" fmla="*/ 533475 w 560604"/>
                <a:gd name="connsiteY12" fmla="*/ 179343 h 438626"/>
                <a:gd name="connsiteX13" fmla="*/ 415845 w 560604"/>
                <a:gd name="connsiteY13" fmla="*/ 179343 h 438626"/>
                <a:gd name="connsiteX14" fmla="*/ 415845 w 560604"/>
                <a:gd name="connsiteY14" fmla="*/ 123842 h 438626"/>
                <a:gd name="connsiteX15" fmla="*/ 533475 w 560604"/>
                <a:gd name="connsiteY15" fmla="*/ 123842 h 438626"/>
                <a:gd name="connsiteX16" fmla="*/ 533475 w 560604"/>
                <a:gd name="connsiteY16" fmla="*/ 144344 h 438626"/>
                <a:gd name="connsiteX17" fmla="*/ 415845 w 560604"/>
                <a:gd name="connsiteY17" fmla="*/ 144344 h 438626"/>
                <a:gd name="connsiteX18" fmla="*/ 33591 w 560604"/>
                <a:gd name="connsiteY18" fmla="*/ 122590 h 438626"/>
                <a:gd name="connsiteX19" fmla="*/ 33591 w 560604"/>
                <a:gd name="connsiteY19" fmla="*/ 330271 h 438626"/>
                <a:gd name="connsiteX20" fmla="*/ 334622 w 560604"/>
                <a:gd name="connsiteY20" fmla="*/ 330271 h 438626"/>
                <a:gd name="connsiteX21" fmla="*/ 334622 w 560604"/>
                <a:gd name="connsiteY21" fmla="*/ 122590 h 438626"/>
                <a:gd name="connsiteX22" fmla="*/ 416052 w 560604"/>
                <a:gd name="connsiteY22" fmla="*/ 89051 h 438626"/>
                <a:gd name="connsiteX23" fmla="*/ 533474 w 560604"/>
                <a:gd name="connsiteY23" fmla="*/ 89051 h 438626"/>
                <a:gd name="connsiteX24" fmla="*/ 533474 w 560604"/>
                <a:gd name="connsiteY24" fmla="*/ 109553 h 438626"/>
                <a:gd name="connsiteX25" fmla="*/ 416052 w 560604"/>
                <a:gd name="connsiteY25" fmla="*/ 109553 h 438626"/>
                <a:gd name="connsiteX26" fmla="*/ 0 w 560604"/>
                <a:gd name="connsiteY26" fmla="*/ 89051 h 438626"/>
                <a:gd name="connsiteX27" fmla="*/ 368213 w 560604"/>
                <a:gd name="connsiteY27" fmla="*/ 89051 h 438626"/>
                <a:gd name="connsiteX28" fmla="*/ 368213 w 560604"/>
                <a:gd name="connsiteY28" fmla="*/ 365099 h 438626"/>
                <a:gd name="connsiteX29" fmla="*/ 220928 w 560604"/>
                <a:gd name="connsiteY29" fmla="*/ 365099 h 438626"/>
                <a:gd name="connsiteX30" fmla="*/ 220928 w 560604"/>
                <a:gd name="connsiteY30" fmla="*/ 411537 h 438626"/>
                <a:gd name="connsiteX31" fmla="*/ 258395 w 560604"/>
                <a:gd name="connsiteY31" fmla="*/ 411537 h 438626"/>
                <a:gd name="connsiteX32" fmla="*/ 258395 w 560604"/>
                <a:gd name="connsiteY32" fmla="*/ 438626 h 438626"/>
                <a:gd name="connsiteX33" fmla="*/ 109818 w 560604"/>
                <a:gd name="connsiteY33" fmla="*/ 438626 h 438626"/>
                <a:gd name="connsiteX34" fmla="*/ 109818 w 560604"/>
                <a:gd name="connsiteY34" fmla="*/ 411537 h 438626"/>
                <a:gd name="connsiteX35" fmla="*/ 147285 w 560604"/>
                <a:gd name="connsiteY35" fmla="*/ 411537 h 438626"/>
                <a:gd name="connsiteX36" fmla="*/ 147285 w 560604"/>
                <a:gd name="connsiteY36" fmla="*/ 365099 h 438626"/>
                <a:gd name="connsiteX37" fmla="*/ 0 w 560604"/>
                <a:gd name="connsiteY37" fmla="*/ 365099 h 438626"/>
                <a:gd name="connsiteX38" fmla="*/ 415845 w 560604"/>
                <a:gd name="connsiteY38" fmla="*/ 29615 h 438626"/>
                <a:gd name="connsiteX39" fmla="*/ 533475 w 560604"/>
                <a:gd name="connsiteY39" fmla="*/ 29615 h 438626"/>
                <a:gd name="connsiteX40" fmla="*/ 533475 w 560604"/>
                <a:gd name="connsiteY40" fmla="*/ 74762 h 438626"/>
                <a:gd name="connsiteX41" fmla="*/ 415845 w 560604"/>
                <a:gd name="connsiteY41" fmla="*/ 74762 h 438626"/>
                <a:gd name="connsiteX42" fmla="*/ 405517 w 560604"/>
                <a:gd name="connsiteY42" fmla="*/ 18061 h 438626"/>
                <a:gd name="connsiteX43" fmla="*/ 405517 w 560604"/>
                <a:gd name="connsiteY43" fmla="*/ 421855 h 438626"/>
                <a:gd name="connsiteX44" fmla="*/ 543803 w 560604"/>
                <a:gd name="connsiteY44" fmla="*/ 421855 h 438626"/>
                <a:gd name="connsiteX45" fmla="*/ 543803 w 560604"/>
                <a:gd name="connsiteY45" fmla="*/ 18061 h 438626"/>
                <a:gd name="connsiteX46" fmla="*/ 388716 w 560604"/>
                <a:gd name="connsiteY46" fmla="*/ 0 h 438626"/>
                <a:gd name="connsiteX47" fmla="*/ 560604 w 560604"/>
                <a:gd name="connsiteY47" fmla="*/ 0 h 438626"/>
                <a:gd name="connsiteX48" fmla="*/ 560604 w 560604"/>
                <a:gd name="connsiteY48" fmla="*/ 438626 h 438626"/>
                <a:gd name="connsiteX49" fmla="*/ 388716 w 560604"/>
                <a:gd name="connsiteY49" fmla="*/ 438626 h 43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60604" h="438626">
                  <a:moveTo>
                    <a:pt x="474014" y="279973"/>
                  </a:moveTo>
                  <a:cubicBezTo>
                    <a:pt x="459801" y="279973"/>
                    <a:pt x="446881" y="291574"/>
                    <a:pt x="446881" y="307041"/>
                  </a:cubicBezTo>
                  <a:cubicBezTo>
                    <a:pt x="446881" y="322508"/>
                    <a:pt x="459801" y="334108"/>
                    <a:pt x="474014" y="334108"/>
                  </a:cubicBezTo>
                  <a:cubicBezTo>
                    <a:pt x="489518" y="334108"/>
                    <a:pt x="502438" y="322508"/>
                    <a:pt x="502438" y="307041"/>
                  </a:cubicBezTo>
                  <a:cubicBezTo>
                    <a:pt x="502438" y="291574"/>
                    <a:pt x="489518" y="279973"/>
                    <a:pt x="474014" y="279973"/>
                  </a:cubicBezTo>
                  <a:close/>
                  <a:moveTo>
                    <a:pt x="474014" y="263217"/>
                  </a:moveTo>
                  <a:cubicBezTo>
                    <a:pt x="498562" y="263217"/>
                    <a:pt x="517942" y="282551"/>
                    <a:pt x="517942" y="307041"/>
                  </a:cubicBezTo>
                  <a:cubicBezTo>
                    <a:pt x="517942" y="330241"/>
                    <a:pt x="498562" y="349575"/>
                    <a:pt x="474014" y="349575"/>
                  </a:cubicBezTo>
                  <a:cubicBezTo>
                    <a:pt x="450757" y="349575"/>
                    <a:pt x="431377" y="330241"/>
                    <a:pt x="431377" y="307041"/>
                  </a:cubicBezTo>
                  <a:cubicBezTo>
                    <a:pt x="431377" y="282551"/>
                    <a:pt x="450757" y="263217"/>
                    <a:pt x="474014" y="263217"/>
                  </a:cubicBezTo>
                  <a:close/>
                  <a:moveTo>
                    <a:pt x="415845" y="158634"/>
                  </a:moveTo>
                  <a:lnTo>
                    <a:pt x="533475" y="158634"/>
                  </a:lnTo>
                  <a:lnTo>
                    <a:pt x="533475" y="179343"/>
                  </a:lnTo>
                  <a:lnTo>
                    <a:pt x="415845" y="179343"/>
                  </a:lnTo>
                  <a:close/>
                  <a:moveTo>
                    <a:pt x="415845" y="123842"/>
                  </a:moveTo>
                  <a:lnTo>
                    <a:pt x="533475" y="123842"/>
                  </a:lnTo>
                  <a:lnTo>
                    <a:pt x="533475" y="144344"/>
                  </a:lnTo>
                  <a:lnTo>
                    <a:pt x="415845" y="144344"/>
                  </a:lnTo>
                  <a:close/>
                  <a:moveTo>
                    <a:pt x="33591" y="122590"/>
                  </a:moveTo>
                  <a:lnTo>
                    <a:pt x="33591" y="330271"/>
                  </a:lnTo>
                  <a:lnTo>
                    <a:pt x="334622" y="330271"/>
                  </a:lnTo>
                  <a:lnTo>
                    <a:pt x="334622" y="122590"/>
                  </a:lnTo>
                  <a:close/>
                  <a:moveTo>
                    <a:pt x="416052" y="89051"/>
                  </a:moveTo>
                  <a:lnTo>
                    <a:pt x="533474" y="89051"/>
                  </a:lnTo>
                  <a:lnTo>
                    <a:pt x="533474" y="109553"/>
                  </a:lnTo>
                  <a:lnTo>
                    <a:pt x="416052" y="109553"/>
                  </a:lnTo>
                  <a:close/>
                  <a:moveTo>
                    <a:pt x="0" y="89051"/>
                  </a:moveTo>
                  <a:lnTo>
                    <a:pt x="368213" y="89051"/>
                  </a:lnTo>
                  <a:lnTo>
                    <a:pt x="368213" y="365099"/>
                  </a:lnTo>
                  <a:lnTo>
                    <a:pt x="220928" y="365099"/>
                  </a:lnTo>
                  <a:lnTo>
                    <a:pt x="220928" y="411537"/>
                  </a:lnTo>
                  <a:lnTo>
                    <a:pt x="258395" y="411537"/>
                  </a:lnTo>
                  <a:lnTo>
                    <a:pt x="258395" y="438626"/>
                  </a:lnTo>
                  <a:lnTo>
                    <a:pt x="109818" y="438626"/>
                  </a:lnTo>
                  <a:lnTo>
                    <a:pt x="109818" y="411537"/>
                  </a:lnTo>
                  <a:lnTo>
                    <a:pt x="147285" y="411537"/>
                  </a:lnTo>
                  <a:lnTo>
                    <a:pt x="147285" y="365099"/>
                  </a:lnTo>
                  <a:lnTo>
                    <a:pt x="0" y="365099"/>
                  </a:lnTo>
                  <a:close/>
                  <a:moveTo>
                    <a:pt x="415845" y="29615"/>
                  </a:moveTo>
                  <a:lnTo>
                    <a:pt x="533475" y="29615"/>
                  </a:lnTo>
                  <a:lnTo>
                    <a:pt x="533475" y="74762"/>
                  </a:lnTo>
                  <a:lnTo>
                    <a:pt x="415845" y="74762"/>
                  </a:lnTo>
                  <a:close/>
                  <a:moveTo>
                    <a:pt x="405517" y="18061"/>
                  </a:moveTo>
                  <a:lnTo>
                    <a:pt x="405517" y="421855"/>
                  </a:lnTo>
                  <a:lnTo>
                    <a:pt x="543803" y="421855"/>
                  </a:lnTo>
                  <a:lnTo>
                    <a:pt x="543803" y="18061"/>
                  </a:lnTo>
                  <a:close/>
                  <a:moveTo>
                    <a:pt x="388716" y="0"/>
                  </a:moveTo>
                  <a:lnTo>
                    <a:pt x="560604" y="0"/>
                  </a:lnTo>
                  <a:lnTo>
                    <a:pt x="560604" y="438626"/>
                  </a:lnTo>
                  <a:lnTo>
                    <a:pt x="388716" y="438626"/>
                  </a:lnTo>
                  <a:close/>
                </a:path>
              </a:pathLst>
            </a:cu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等线" panose="020F0502020204030204"/>
                <a:ea typeface="+mn-ea"/>
                <a:cs typeface="+mn-cs"/>
              </a:endParaRPr>
            </a:p>
          </p:txBody>
        </p:sp>
        <p:sp>
          <p:nvSpPr>
            <p:cNvPr id="55" name="弧形 54">
              <a:extLst>
                <a:ext uri="{FF2B5EF4-FFF2-40B4-BE49-F238E27FC236}">
                  <a16:creationId xmlns:a16="http://schemas.microsoft.com/office/drawing/2014/main" id="{0131189A-C1F6-44E9-96CA-E19699B5C8F7}"/>
                </a:ext>
              </a:extLst>
            </p:cNvPr>
            <p:cNvSpPr/>
            <p:nvPr/>
          </p:nvSpPr>
          <p:spPr>
            <a:xfrm rot="16200000">
              <a:off x="1192828" y="4273073"/>
              <a:ext cx="1576744" cy="1143000"/>
            </a:xfrm>
            <a:prstGeom prst="arc">
              <a:avLst>
                <a:gd name="adj1" fmla="val 16200000"/>
                <a:gd name="adj2" fmla="val 126655"/>
              </a:avLst>
            </a:prstGeom>
            <a:noFill/>
            <a:ln w="1270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59" name="组合 58">
            <a:extLst>
              <a:ext uri="{FF2B5EF4-FFF2-40B4-BE49-F238E27FC236}">
                <a16:creationId xmlns:a16="http://schemas.microsoft.com/office/drawing/2014/main" id="{240A6935-B005-4D50-BB40-9644D176709E}"/>
              </a:ext>
            </a:extLst>
          </p:cNvPr>
          <p:cNvGrpSpPr/>
          <p:nvPr/>
        </p:nvGrpSpPr>
        <p:grpSpPr>
          <a:xfrm>
            <a:off x="7921869" y="3839868"/>
            <a:ext cx="1899138" cy="1858098"/>
            <a:chOff x="5483469" y="3780702"/>
            <a:chExt cx="1899138" cy="1858098"/>
          </a:xfrm>
        </p:grpSpPr>
        <p:grpSp>
          <p:nvGrpSpPr>
            <p:cNvPr id="60" name="组合 59">
              <a:extLst>
                <a:ext uri="{FF2B5EF4-FFF2-40B4-BE49-F238E27FC236}">
                  <a16:creationId xmlns:a16="http://schemas.microsoft.com/office/drawing/2014/main" id="{C1D9AFCC-2AB2-4E01-AB72-139D413FE276}"/>
                </a:ext>
              </a:extLst>
            </p:cNvPr>
            <p:cNvGrpSpPr/>
            <p:nvPr/>
          </p:nvGrpSpPr>
          <p:grpSpPr>
            <a:xfrm>
              <a:off x="6620607" y="3780702"/>
              <a:ext cx="762000" cy="416163"/>
              <a:chOff x="6620607" y="3780702"/>
              <a:chExt cx="762000" cy="416163"/>
            </a:xfrm>
          </p:grpSpPr>
          <p:sp>
            <p:nvSpPr>
              <p:cNvPr id="63" name="矩形 62">
                <a:extLst>
                  <a:ext uri="{FF2B5EF4-FFF2-40B4-BE49-F238E27FC236}">
                    <a16:creationId xmlns:a16="http://schemas.microsoft.com/office/drawing/2014/main" id="{9157027E-E7D4-4311-A70C-FE8DEBFC47A3}"/>
                  </a:ext>
                </a:extLst>
              </p:cNvPr>
              <p:cNvSpPr/>
              <p:nvPr/>
            </p:nvSpPr>
            <p:spPr>
              <a:xfrm>
                <a:off x="6620607" y="3892071"/>
                <a:ext cx="762000" cy="304794"/>
              </a:xfrm>
              <a:prstGeom prst="rect">
                <a:avLst/>
              </a:prstGeom>
              <a:solidFill>
                <a:srgbClr val="E7E6E6">
                  <a:lumMod val="75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4" name="矩形 63">
                <a:extLst>
                  <a:ext uri="{FF2B5EF4-FFF2-40B4-BE49-F238E27FC236}">
                    <a16:creationId xmlns:a16="http://schemas.microsoft.com/office/drawing/2014/main" id="{D5F1766F-0C70-41F8-92FB-EC2BF2117CA8}"/>
                  </a:ext>
                </a:extLst>
              </p:cNvPr>
              <p:cNvSpPr/>
              <p:nvPr/>
            </p:nvSpPr>
            <p:spPr>
              <a:xfrm>
                <a:off x="6620607" y="3962410"/>
                <a:ext cx="152400" cy="152400"/>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5" name="矩形 64">
                <a:extLst>
                  <a:ext uri="{FF2B5EF4-FFF2-40B4-BE49-F238E27FC236}">
                    <a16:creationId xmlns:a16="http://schemas.microsoft.com/office/drawing/2014/main" id="{45B7DB2C-86DB-4BE4-B11B-4A4BB403742B}"/>
                  </a:ext>
                </a:extLst>
              </p:cNvPr>
              <p:cNvSpPr/>
              <p:nvPr/>
            </p:nvSpPr>
            <p:spPr>
              <a:xfrm>
                <a:off x="6925407" y="3780702"/>
                <a:ext cx="381000" cy="105508"/>
              </a:xfrm>
              <a:prstGeom prst="rect">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sp>
          <p:nvSpPr>
            <p:cNvPr id="61" name="monitor-and-computer-case_103">
              <a:extLst>
                <a:ext uri="{FF2B5EF4-FFF2-40B4-BE49-F238E27FC236}">
                  <a16:creationId xmlns:a16="http://schemas.microsoft.com/office/drawing/2014/main" id="{58A0D2F5-617D-4A02-B142-75312FD79B5B}"/>
                </a:ext>
              </a:extLst>
            </p:cNvPr>
            <p:cNvSpPr/>
            <p:nvPr/>
          </p:nvSpPr>
          <p:spPr>
            <a:xfrm>
              <a:off x="5483469" y="4812333"/>
              <a:ext cx="914400" cy="679938"/>
            </a:xfrm>
            <a:custGeom>
              <a:avLst/>
              <a:gdLst>
                <a:gd name="connsiteX0" fmla="*/ 474014 w 560604"/>
                <a:gd name="connsiteY0" fmla="*/ 279973 h 438626"/>
                <a:gd name="connsiteX1" fmla="*/ 446881 w 560604"/>
                <a:gd name="connsiteY1" fmla="*/ 307041 h 438626"/>
                <a:gd name="connsiteX2" fmla="*/ 474014 w 560604"/>
                <a:gd name="connsiteY2" fmla="*/ 334108 h 438626"/>
                <a:gd name="connsiteX3" fmla="*/ 502438 w 560604"/>
                <a:gd name="connsiteY3" fmla="*/ 307041 h 438626"/>
                <a:gd name="connsiteX4" fmla="*/ 474014 w 560604"/>
                <a:gd name="connsiteY4" fmla="*/ 279973 h 438626"/>
                <a:gd name="connsiteX5" fmla="*/ 474014 w 560604"/>
                <a:gd name="connsiteY5" fmla="*/ 263217 h 438626"/>
                <a:gd name="connsiteX6" fmla="*/ 517942 w 560604"/>
                <a:gd name="connsiteY6" fmla="*/ 307041 h 438626"/>
                <a:gd name="connsiteX7" fmla="*/ 474014 w 560604"/>
                <a:gd name="connsiteY7" fmla="*/ 349575 h 438626"/>
                <a:gd name="connsiteX8" fmla="*/ 431377 w 560604"/>
                <a:gd name="connsiteY8" fmla="*/ 307041 h 438626"/>
                <a:gd name="connsiteX9" fmla="*/ 474014 w 560604"/>
                <a:gd name="connsiteY9" fmla="*/ 263217 h 438626"/>
                <a:gd name="connsiteX10" fmla="*/ 415845 w 560604"/>
                <a:gd name="connsiteY10" fmla="*/ 158634 h 438626"/>
                <a:gd name="connsiteX11" fmla="*/ 533475 w 560604"/>
                <a:gd name="connsiteY11" fmla="*/ 158634 h 438626"/>
                <a:gd name="connsiteX12" fmla="*/ 533475 w 560604"/>
                <a:gd name="connsiteY12" fmla="*/ 179343 h 438626"/>
                <a:gd name="connsiteX13" fmla="*/ 415845 w 560604"/>
                <a:gd name="connsiteY13" fmla="*/ 179343 h 438626"/>
                <a:gd name="connsiteX14" fmla="*/ 415845 w 560604"/>
                <a:gd name="connsiteY14" fmla="*/ 123842 h 438626"/>
                <a:gd name="connsiteX15" fmla="*/ 533475 w 560604"/>
                <a:gd name="connsiteY15" fmla="*/ 123842 h 438626"/>
                <a:gd name="connsiteX16" fmla="*/ 533475 w 560604"/>
                <a:gd name="connsiteY16" fmla="*/ 144344 h 438626"/>
                <a:gd name="connsiteX17" fmla="*/ 415845 w 560604"/>
                <a:gd name="connsiteY17" fmla="*/ 144344 h 438626"/>
                <a:gd name="connsiteX18" fmla="*/ 33591 w 560604"/>
                <a:gd name="connsiteY18" fmla="*/ 122590 h 438626"/>
                <a:gd name="connsiteX19" fmla="*/ 33591 w 560604"/>
                <a:gd name="connsiteY19" fmla="*/ 330271 h 438626"/>
                <a:gd name="connsiteX20" fmla="*/ 334622 w 560604"/>
                <a:gd name="connsiteY20" fmla="*/ 330271 h 438626"/>
                <a:gd name="connsiteX21" fmla="*/ 334622 w 560604"/>
                <a:gd name="connsiteY21" fmla="*/ 122590 h 438626"/>
                <a:gd name="connsiteX22" fmla="*/ 416052 w 560604"/>
                <a:gd name="connsiteY22" fmla="*/ 89051 h 438626"/>
                <a:gd name="connsiteX23" fmla="*/ 533474 w 560604"/>
                <a:gd name="connsiteY23" fmla="*/ 89051 h 438626"/>
                <a:gd name="connsiteX24" fmla="*/ 533474 w 560604"/>
                <a:gd name="connsiteY24" fmla="*/ 109553 h 438626"/>
                <a:gd name="connsiteX25" fmla="*/ 416052 w 560604"/>
                <a:gd name="connsiteY25" fmla="*/ 109553 h 438626"/>
                <a:gd name="connsiteX26" fmla="*/ 0 w 560604"/>
                <a:gd name="connsiteY26" fmla="*/ 89051 h 438626"/>
                <a:gd name="connsiteX27" fmla="*/ 368213 w 560604"/>
                <a:gd name="connsiteY27" fmla="*/ 89051 h 438626"/>
                <a:gd name="connsiteX28" fmla="*/ 368213 w 560604"/>
                <a:gd name="connsiteY28" fmla="*/ 365099 h 438626"/>
                <a:gd name="connsiteX29" fmla="*/ 220928 w 560604"/>
                <a:gd name="connsiteY29" fmla="*/ 365099 h 438626"/>
                <a:gd name="connsiteX30" fmla="*/ 220928 w 560604"/>
                <a:gd name="connsiteY30" fmla="*/ 411537 h 438626"/>
                <a:gd name="connsiteX31" fmla="*/ 258395 w 560604"/>
                <a:gd name="connsiteY31" fmla="*/ 411537 h 438626"/>
                <a:gd name="connsiteX32" fmla="*/ 258395 w 560604"/>
                <a:gd name="connsiteY32" fmla="*/ 438626 h 438626"/>
                <a:gd name="connsiteX33" fmla="*/ 109818 w 560604"/>
                <a:gd name="connsiteY33" fmla="*/ 438626 h 438626"/>
                <a:gd name="connsiteX34" fmla="*/ 109818 w 560604"/>
                <a:gd name="connsiteY34" fmla="*/ 411537 h 438626"/>
                <a:gd name="connsiteX35" fmla="*/ 147285 w 560604"/>
                <a:gd name="connsiteY35" fmla="*/ 411537 h 438626"/>
                <a:gd name="connsiteX36" fmla="*/ 147285 w 560604"/>
                <a:gd name="connsiteY36" fmla="*/ 365099 h 438626"/>
                <a:gd name="connsiteX37" fmla="*/ 0 w 560604"/>
                <a:gd name="connsiteY37" fmla="*/ 365099 h 438626"/>
                <a:gd name="connsiteX38" fmla="*/ 415845 w 560604"/>
                <a:gd name="connsiteY38" fmla="*/ 29615 h 438626"/>
                <a:gd name="connsiteX39" fmla="*/ 533475 w 560604"/>
                <a:gd name="connsiteY39" fmla="*/ 29615 h 438626"/>
                <a:gd name="connsiteX40" fmla="*/ 533475 w 560604"/>
                <a:gd name="connsiteY40" fmla="*/ 74762 h 438626"/>
                <a:gd name="connsiteX41" fmla="*/ 415845 w 560604"/>
                <a:gd name="connsiteY41" fmla="*/ 74762 h 438626"/>
                <a:gd name="connsiteX42" fmla="*/ 405517 w 560604"/>
                <a:gd name="connsiteY42" fmla="*/ 18061 h 438626"/>
                <a:gd name="connsiteX43" fmla="*/ 405517 w 560604"/>
                <a:gd name="connsiteY43" fmla="*/ 421855 h 438626"/>
                <a:gd name="connsiteX44" fmla="*/ 543803 w 560604"/>
                <a:gd name="connsiteY44" fmla="*/ 421855 h 438626"/>
                <a:gd name="connsiteX45" fmla="*/ 543803 w 560604"/>
                <a:gd name="connsiteY45" fmla="*/ 18061 h 438626"/>
                <a:gd name="connsiteX46" fmla="*/ 388716 w 560604"/>
                <a:gd name="connsiteY46" fmla="*/ 0 h 438626"/>
                <a:gd name="connsiteX47" fmla="*/ 560604 w 560604"/>
                <a:gd name="connsiteY47" fmla="*/ 0 h 438626"/>
                <a:gd name="connsiteX48" fmla="*/ 560604 w 560604"/>
                <a:gd name="connsiteY48" fmla="*/ 438626 h 438626"/>
                <a:gd name="connsiteX49" fmla="*/ 388716 w 560604"/>
                <a:gd name="connsiteY49" fmla="*/ 438626 h 43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60604" h="438626">
                  <a:moveTo>
                    <a:pt x="474014" y="279973"/>
                  </a:moveTo>
                  <a:cubicBezTo>
                    <a:pt x="459801" y="279973"/>
                    <a:pt x="446881" y="291574"/>
                    <a:pt x="446881" y="307041"/>
                  </a:cubicBezTo>
                  <a:cubicBezTo>
                    <a:pt x="446881" y="322508"/>
                    <a:pt x="459801" y="334108"/>
                    <a:pt x="474014" y="334108"/>
                  </a:cubicBezTo>
                  <a:cubicBezTo>
                    <a:pt x="489518" y="334108"/>
                    <a:pt x="502438" y="322508"/>
                    <a:pt x="502438" y="307041"/>
                  </a:cubicBezTo>
                  <a:cubicBezTo>
                    <a:pt x="502438" y="291574"/>
                    <a:pt x="489518" y="279973"/>
                    <a:pt x="474014" y="279973"/>
                  </a:cubicBezTo>
                  <a:close/>
                  <a:moveTo>
                    <a:pt x="474014" y="263217"/>
                  </a:moveTo>
                  <a:cubicBezTo>
                    <a:pt x="498562" y="263217"/>
                    <a:pt x="517942" y="282551"/>
                    <a:pt x="517942" y="307041"/>
                  </a:cubicBezTo>
                  <a:cubicBezTo>
                    <a:pt x="517942" y="330241"/>
                    <a:pt x="498562" y="349575"/>
                    <a:pt x="474014" y="349575"/>
                  </a:cubicBezTo>
                  <a:cubicBezTo>
                    <a:pt x="450757" y="349575"/>
                    <a:pt x="431377" y="330241"/>
                    <a:pt x="431377" y="307041"/>
                  </a:cubicBezTo>
                  <a:cubicBezTo>
                    <a:pt x="431377" y="282551"/>
                    <a:pt x="450757" y="263217"/>
                    <a:pt x="474014" y="263217"/>
                  </a:cubicBezTo>
                  <a:close/>
                  <a:moveTo>
                    <a:pt x="415845" y="158634"/>
                  </a:moveTo>
                  <a:lnTo>
                    <a:pt x="533475" y="158634"/>
                  </a:lnTo>
                  <a:lnTo>
                    <a:pt x="533475" y="179343"/>
                  </a:lnTo>
                  <a:lnTo>
                    <a:pt x="415845" y="179343"/>
                  </a:lnTo>
                  <a:close/>
                  <a:moveTo>
                    <a:pt x="415845" y="123842"/>
                  </a:moveTo>
                  <a:lnTo>
                    <a:pt x="533475" y="123842"/>
                  </a:lnTo>
                  <a:lnTo>
                    <a:pt x="533475" y="144344"/>
                  </a:lnTo>
                  <a:lnTo>
                    <a:pt x="415845" y="144344"/>
                  </a:lnTo>
                  <a:close/>
                  <a:moveTo>
                    <a:pt x="33591" y="122590"/>
                  </a:moveTo>
                  <a:lnTo>
                    <a:pt x="33591" y="330271"/>
                  </a:lnTo>
                  <a:lnTo>
                    <a:pt x="334622" y="330271"/>
                  </a:lnTo>
                  <a:lnTo>
                    <a:pt x="334622" y="122590"/>
                  </a:lnTo>
                  <a:close/>
                  <a:moveTo>
                    <a:pt x="416052" y="89051"/>
                  </a:moveTo>
                  <a:lnTo>
                    <a:pt x="533474" y="89051"/>
                  </a:lnTo>
                  <a:lnTo>
                    <a:pt x="533474" y="109553"/>
                  </a:lnTo>
                  <a:lnTo>
                    <a:pt x="416052" y="109553"/>
                  </a:lnTo>
                  <a:close/>
                  <a:moveTo>
                    <a:pt x="0" y="89051"/>
                  </a:moveTo>
                  <a:lnTo>
                    <a:pt x="368213" y="89051"/>
                  </a:lnTo>
                  <a:lnTo>
                    <a:pt x="368213" y="365099"/>
                  </a:lnTo>
                  <a:lnTo>
                    <a:pt x="220928" y="365099"/>
                  </a:lnTo>
                  <a:lnTo>
                    <a:pt x="220928" y="411537"/>
                  </a:lnTo>
                  <a:lnTo>
                    <a:pt x="258395" y="411537"/>
                  </a:lnTo>
                  <a:lnTo>
                    <a:pt x="258395" y="438626"/>
                  </a:lnTo>
                  <a:lnTo>
                    <a:pt x="109818" y="438626"/>
                  </a:lnTo>
                  <a:lnTo>
                    <a:pt x="109818" y="411537"/>
                  </a:lnTo>
                  <a:lnTo>
                    <a:pt x="147285" y="411537"/>
                  </a:lnTo>
                  <a:lnTo>
                    <a:pt x="147285" y="365099"/>
                  </a:lnTo>
                  <a:lnTo>
                    <a:pt x="0" y="365099"/>
                  </a:lnTo>
                  <a:close/>
                  <a:moveTo>
                    <a:pt x="415845" y="29615"/>
                  </a:moveTo>
                  <a:lnTo>
                    <a:pt x="533475" y="29615"/>
                  </a:lnTo>
                  <a:lnTo>
                    <a:pt x="533475" y="74762"/>
                  </a:lnTo>
                  <a:lnTo>
                    <a:pt x="415845" y="74762"/>
                  </a:lnTo>
                  <a:close/>
                  <a:moveTo>
                    <a:pt x="405517" y="18061"/>
                  </a:moveTo>
                  <a:lnTo>
                    <a:pt x="405517" y="421855"/>
                  </a:lnTo>
                  <a:lnTo>
                    <a:pt x="543803" y="421855"/>
                  </a:lnTo>
                  <a:lnTo>
                    <a:pt x="543803" y="18061"/>
                  </a:lnTo>
                  <a:close/>
                  <a:moveTo>
                    <a:pt x="388716" y="0"/>
                  </a:moveTo>
                  <a:lnTo>
                    <a:pt x="560604" y="0"/>
                  </a:lnTo>
                  <a:lnTo>
                    <a:pt x="560604" y="438626"/>
                  </a:lnTo>
                  <a:lnTo>
                    <a:pt x="388716" y="438626"/>
                  </a:lnTo>
                  <a:close/>
                </a:path>
              </a:pathLst>
            </a:cu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等线" panose="020F0502020204030204"/>
                <a:ea typeface="+mn-ea"/>
                <a:cs typeface="+mn-cs"/>
              </a:endParaRPr>
            </a:p>
          </p:txBody>
        </p:sp>
        <p:sp>
          <p:nvSpPr>
            <p:cNvPr id="62" name="弧形 61">
              <a:extLst>
                <a:ext uri="{FF2B5EF4-FFF2-40B4-BE49-F238E27FC236}">
                  <a16:creationId xmlns:a16="http://schemas.microsoft.com/office/drawing/2014/main" id="{FBFE4EE0-8317-4954-83DD-F486943BE823}"/>
                </a:ext>
              </a:extLst>
            </p:cNvPr>
            <p:cNvSpPr/>
            <p:nvPr/>
          </p:nvSpPr>
          <p:spPr>
            <a:xfrm rot="16200000">
              <a:off x="5832235" y="4278928"/>
              <a:ext cx="1576744" cy="1143000"/>
            </a:xfrm>
            <a:prstGeom prst="arc">
              <a:avLst>
                <a:gd name="adj1" fmla="val 16200000"/>
                <a:gd name="adj2" fmla="val 126655"/>
              </a:avLst>
            </a:prstGeom>
            <a:noFill/>
            <a:ln w="1270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sp>
        <p:nvSpPr>
          <p:cNvPr id="66" name="文本框 65">
            <a:extLst>
              <a:ext uri="{FF2B5EF4-FFF2-40B4-BE49-F238E27FC236}">
                <a16:creationId xmlns:a16="http://schemas.microsoft.com/office/drawing/2014/main" id="{88CAD87C-ACB4-4A86-A58A-A6F6BCADC2E0}"/>
              </a:ext>
            </a:extLst>
          </p:cNvPr>
          <p:cNvSpPr txBox="1"/>
          <p:nvPr/>
        </p:nvSpPr>
        <p:spPr>
          <a:xfrm>
            <a:off x="9829799" y="3986411"/>
            <a:ext cx="914401" cy="276999"/>
          </a:xfrm>
          <a:prstGeom prst="rect">
            <a:avLst/>
          </a:prstGeom>
          <a:noFill/>
        </p:spPr>
        <p:txBody>
          <a:bodyPr wrap="square" rtlCol="0">
            <a:spAutoFit/>
          </a:bodyPr>
          <a:lstStyle/>
          <a:p>
            <a:r>
              <a:rPr lang="zh-CN" altLang="en-US" sz="1200" dirty="0">
                <a:solidFill>
                  <a:prstClr val="black"/>
                </a:solidFill>
                <a:latin typeface="微软雅黑" panose="020B0503020204020204" pitchFamily="34" charset="-122"/>
                <a:ea typeface="微软雅黑" panose="020B0503020204020204" pitchFamily="34" charset="-122"/>
              </a:rPr>
              <a:t>收发器</a:t>
            </a:r>
          </a:p>
        </p:txBody>
      </p:sp>
      <p:sp>
        <p:nvSpPr>
          <p:cNvPr id="67" name="弧形 66">
            <a:extLst>
              <a:ext uri="{FF2B5EF4-FFF2-40B4-BE49-F238E27FC236}">
                <a16:creationId xmlns:a16="http://schemas.microsoft.com/office/drawing/2014/main" id="{886FD912-1899-487A-9870-9C2249484E54}"/>
              </a:ext>
            </a:extLst>
          </p:cNvPr>
          <p:cNvSpPr/>
          <p:nvPr/>
        </p:nvSpPr>
        <p:spPr>
          <a:xfrm rot="16200000">
            <a:off x="2019675" y="4408443"/>
            <a:ext cx="1274134" cy="914400"/>
          </a:xfrm>
          <a:prstGeom prst="arc">
            <a:avLst>
              <a:gd name="adj1" fmla="val 16200000"/>
              <a:gd name="adj2" fmla="val 126655"/>
            </a:avLst>
          </a:prstGeom>
          <a:noFill/>
          <a:ln w="19050" cap="flat" cmpd="sng" algn="ctr">
            <a:solidFill>
              <a:srgbClr val="ED7D31">
                <a:lumMod val="75000"/>
              </a:srgbClr>
            </a:solidFill>
            <a:prstDash val="solid"/>
            <a:miter lim="800000"/>
            <a:tailEnd type="triangle" w="lg" len="lg"/>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cxnSp>
        <p:nvCxnSpPr>
          <p:cNvPr id="68" name="直接箭头连接符 67">
            <a:extLst>
              <a:ext uri="{FF2B5EF4-FFF2-40B4-BE49-F238E27FC236}">
                <a16:creationId xmlns:a16="http://schemas.microsoft.com/office/drawing/2014/main" id="{DE8D8A13-07CD-4427-972E-0BA29027674B}"/>
              </a:ext>
            </a:extLst>
          </p:cNvPr>
          <p:cNvCxnSpPr/>
          <p:nvPr/>
        </p:nvCxnSpPr>
        <p:spPr>
          <a:xfrm flipH="1">
            <a:off x="1937238" y="3733800"/>
            <a:ext cx="723900" cy="0"/>
          </a:xfrm>
          <a:prstGeom prst="straightConnector1">
            <a:avLst/>
          </a:prstGeom>
          <a:noFill/>
          <a:ln w="19050" cap="flat" cmpd="sng" algn="ctr">
            <a:solidFill>
              <a:srgbClr val="ED7D31">
                <a:lumMod val="75000"/>
              </a:srgbClr>
            </a:solidFill>
            <a:prstDash val="solid"/>
            <a:miter lim="800000"/>
            <a:tailEnd type="triangle" w="lg" len="lg"/>
          </a:ln>
          <a:effectLst/>
        </p:spPr>
      </p:cxnSp>
      <p:cxnSp>
        <p:nvCxnSpPr>
          <p:cNvPr id="69" name="直接箭头连接符 68">
            <a:extLst>
              <a:ext uri="{FF2B5EF4-FFF2-40B4-BE49-F238E27FC236}">
                <a16:creationId xmlns:a16="http://schemas.microsoft.com/office/drawing/2014/main" id="{16C3B663-0D7A-4597-9F08-B8F91B565DA1}"/>
              </a:ext>
            </a:extLst>
          </p:cNvPr>
          <p:cNvCxnSpPr/>
          <p:nvPr/>
        </p:nvCxnSpPr>
        <p:spPr>
          <a:xfrm>
            <a:off x="4343400" y="3733800"/>
            <a:ext cx="685800" cy="0"/>
          </a:xfrm>
          <a:prstGeom prst="straightConnector1">
            <a:avLst/>
          </a:prstGeom>
          <a:noFill/>
          <a:ln w="19050" cap="flat" cmpd="sng" algn="ctr">
            <a:solidFill>
              <a:srgbClr val="ED7D31">
                <a:lumMod val="75000"/>
              </a:srgbClr>
            </a:solidFill>
            <a:prstDash val="solid"/>
            <a:miter lim="800000"/>
            <a:tailEnd type="triangle" w="lg" len="lg"/>
          </a:ln>
          <a:effectLst/>
        </p:spPr>
      </p:cxnSp>
      <p:grpSp>
        <p:nvGrpSpPr>
          <p:cNvPr id="70" name="组合 69">
            <a:extLst>
              <a:ext uri="{FF2B5EF4-FFF2-40B4-BE49-F238E27FC236}">
                <a16:creationId xmlns:a16="http://schemas.microsoft.com/office/drawing/2014/main" id="{43C2E8BA-0702-4A05-9C33-F785CB5B624D}"/>
              </a:ext>
            </a:extLst>
          </p:cNvPr>
          <p:cNvGrpSpPr/>
          <p:nvPr/>
        </p:nvGrpSpPr>
        <p:grpSpPr>
          <a:xfrm>
            <a:off x="4580793" y="3839868"/>
            <a:ext cx="1899138" cy="1858098"/>
            <a:chOff x="3206262" y="3780702"/>
            <a:chExt cx="1899138" cy="1858098"/>
          </a:xfrm>
        </p:grpSpPr>
        <p:grpSp>
          <p:nvGrpSpPr>
            <p:cNvPr id="71" name="组合 70">
              <a:extLst>
                <a:ext uri="{FF2B5EF4-FFF2-40B4-BE49-F238E27FC236}">
                  <a16:creationId xmlns:a16="http://schemas.microsoft.com/office/drawing/2014/main" id="{1D4104D1-D692-423D-BCBA-4ED04B2A5D90}"/>
                </a:ext>
              </a:extLst>
            </p:cNvPr>
            <p:cNvGrpSpPr/>
            <p:nvPr/>
          </p:nvGrpSpPr>
          <p:grpSpPr>
            <a:xfrm>
              <a:off x="4343400" y="3780702"/>
              <a:ext cx="762000" cy="416163"/>
              <a:chOff x="4343400" y="3780702"/>
              <a:chExt cx="762000" cy="416163"/>
            </a:xfrm>
          </p:grpSpPr>
          <p:sp>
            <p:nvSpPr>
              <p:cNvPr id="74" name="矩形 73">
                <a:extLst>
                  <a:ext uri="{FF2B5EF4-FFF2-40B4-BE49-F238E27FC236}">
                    <a16:creationId xmlns:a16="http://schemas.microsoft.com/office/drawing/2014/main" id="{A2D463BC-0771-4163-87E4-37F6D7162375}"/>
                  </a:ext>
                </a:extLst>
              </p:cNvPr>
              <p:cNvSpPr/>
              <p:nvPr/>
            </p:nvSpPr>
            <p:spPr>
              <a:xfrm>
                <a:off x="4343400" y="3892071"/>
                <a:ext cx="762000" cy="304794"/>
              </a:xfrm>
              <a:prstGeom prst="rect">
                <a:avLst/>
              </a:prstGeom>
              <a:solidFill>
                <a:srgbClr val="E7E6E6">
                  <a:lumMod val="75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5" name="矩形 74">
                <a:extLst>
                  <a:ext uri="{FF2B5EF4-FFF2-40B4-BE49-F238E27FC236}">
                    <a16:creationId xmlns:a16="http://schemas.microsoft.com/office/drawing/2014/main" id="{F98DE172-94DD-455F-A98B-176E59AD8F58}"/>
                  </a:ext>
                </a:extLst>
              </p:cNvPr>
              <p:cNvSpPr/>
              <p:nvPr/>
            </p:nvSpPr>
            <p:spPr>
              <a:xfrm>
                <a:off x="4343400" y="3974133"/>
                <a:ext cx="152400" cy="152400"/>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6" name="矩形 75">
                <a:extLst>
                  <a:ext uri="{FF2B5EF4-FFF2-40B4-BE49-F238E27FC236}">
                    <a16:creationId xmlns:a16="http://schemas.microsoft.com/office/drawing/2014/main" id="{91EAB82A-9113-47BC-B286-0906AEF77A3D}"/>
                  </a:ext>
                </a:extLst>
              </p:cNvPr>
              <p:cNvSpPr/>
              <p:nvPr/>
            </p:nvSpPr>
            <p:spPr>
              <a:xfrm>
                <a:off x="4648200" y="3780702"/>
                <a:ext cx="381000" cy="105508"/>
              </a:xfrm>
              <a:prstGeom prst="rect">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pSp>
        <p:sp>
          <p:nvSpPr>
            <p:cNvPr id="72" name="monitor-and-computer-case_103">
              <a:extLst>
                <a:ext uri="{FF2B5EF4-FFF2-40B4-BE49-F238E27FC236}">
                  <a16:creationId xmlns:a16="http://schemas.microsoft.com/office/drawing/2014/main" id="{2CC4DC2B-FA18-4E51-8C54-1751D620B619}"/>
                </a:ext>
              </a:extLst>
            </p:cNvPr>
            <p:cNvSpPr/>
            <p:nvPr/>
          </p:nvSpPr>
          <p:spPr>
            <a:xfrm>
              <a:off x="3206262" y="4812333"/>
              <a:ext cx="914400" cy="679938"/>
            </a:xfrm>
            <a:custGeom>
              <a:avLst/>
              <a:gdLst>
                <a:gd name="connsiteX0" fmla="*/ 474014 w 560604"/>
                <a:gd name="connsiteY0" fmla="*/ 279973 h 438626"/>
                <a:gd name="connsiteX1" fmla="*/ 446881 w 560604"/>
                <a:gd name="connsiteY1" fmla="*/ 307041 h 438626"/>
                <a:gd name="connsiteX2" fmla="*/ 474014 w 560604"/>
                <a:gd name="connsiteY2" fmla="*/ 334108 h 438626"/>
                <a:gd name="connsiteX3" fmla="*/ 502438 w 560604"/>
                <a:gd name="connsiteY3" fmla="*/ 307041 h 438626"/>
                <a:gd name="connsiteX4" fmla="*/ 474014 w 560604"/>
                <a:gd name="connsiteY4" fmla="*/ 279973 h 438626"/>
                <a:gd name="connsiteX5" fmla="*/ 474014 w 560604"/>
                <a:gd name="connsiteY5" fmla="*/ 263217 h 438626"/>
                <a:gd name="connsiteX6" fmla="*/ 517942 w 560604"/>
                <a:gd name="connsiteY6" fmla="*/ 307041 h 438626"/>
                <a:gd name="connsiteX7" fmla="*/ 474014 w 560604"/>
                <a:gd name="connsiteY7" fmla="*/ 349575 h 438626"/>
                <a:gd name="connsiteX8" fmla="*/ 431377 w 560604"/>
                <a:gd name="connsiteY8" fmla="*/ 307041 h 438626"/>
                <a:gd name="connsiteX9" fmla="*/ 474014 w 560604"/>
                <a:gd name="connsiteY9" fmla="*/ 263217 h 438626"/>
                <a:gd name="connsiteX10" fmla="*/ 415845 w 560604"/>
                <a:gd name="connsiteY10" fmla="*/ 158634 h 438626"/>
                <a:gd name="connsiteX11" fmla="*/ 533475 w 560604"/>
                <a:gd name="connsiteY11" fmla="*/ 158634 h 438626"/>
                <a:gd name="connsiteX12" fmla="*/ 533475 w 560604"/>
                <a:gd name="connsiteY12" fmla="*/ 179343 h 438626"/>
                <a:gd name="connsiteX13" fmla="*/ 415845 w 560604"/>
                <a:gd name="connsiteY13" fmla="*/ 179343 h 438626"/>
                <a:gd name="connsiteX14" fmla="*/ 415845 w 560604"/>
                <a:gd name="connsiteY14" fmla="*/ 123842 h 438626"/>
                <a:gd name="connsiteX15" fmla="*/ 533475 w 560604"/>
                <a:gd name="connsiteY15" fmla="*/ 123842 h 438626"/>
                <a:gd name="connsiteX16" fmla="*/ 533475 w 560604"/>
                <a:gd name="connsiteY16" fmla="*/ 144344 h 438626"/>
                <a:gd name="connsiteX17" fmla="*/ 415845 w 560604"/>
                <a:gd name="connsiteY17" fmla="*/ 144344 h 438626"/>
                <a:gd name="connsiteX18" fmla="*/ 33591 w 560604"/>
                <a:gd name="connsiteY18" fmla="*/ 122590 h 438626"/>
                <a:gd name="connsiteX19" fmla="*/ 33591 w 560604"/>
                <a:gd name="connsiteY19" fmla="*/ 330271 h 438626"/>
                <a:gd name="connsiteX20" fmla="*/ 334622 w 560604"/>
                <a:gd name="connsiteY20" fmla="*/ 330271 h 438626"/>
                <a:gd name="connsiteX21" fmla="*/ 334622 w 560604"/>
                <a:gd name="connsiteY21" fmla="*/ 122590 h 438626"/>
                <a:gd name="connsiteX22" fmla="*/ 416052 w 560604"/>
                <a:gd name="connsiteY22" fmla="*/ 89051 h 438626"/>
                <a:gd name="connsiteX23" fmla="*/ 533474 w 560604"/>
                <a:gd name="connsiteY23" fmla="*/ 89051 h 438626"/>
                <a:gd name="connsiteX24" fmla="*/ 533474 w 560604"/>
                <a:gd name="connsiteY24" fmla="*/ 109553 h 438626"/>
                <a:gd name="connsiteX25" fmla="*/ 416052 w 560604"/>
                <a:gd name="connsiteY25" fmla="*/ 109553 h 438626"/>
                <a:gd name="connsiteX26" fmla="*/ 0 w 560604"/>
                <a:gd name="connsiteY26" fmla="*/ 89051 h 438626"/>
                <a:gd name="connsiteX27" fmla="*/ 368213 w 560604"/>
                <a:gd name="connsiteY27" fmla="*/ 89051 h 438626"/>
                <a:gd name="connsiteX28" fmla="*/ 368213 w 560604"/>
                <a:gd name="connsiteY28" fmla="*/ 365099 h 438626"/>
                <a:gd name="connsiteX29" fmla="*/ 220928 w 560604"/>
                <a:gd name="connsiteY29" fmla="*/ 365099 h 438626"/>
                <a:gd name="connsiteX30" fmla="*/ 220928 w 560604"/>
                <a:gd name="connsiteY30" fmla="*/ 411537 h 438626"/>
                <a:gd name="connsiteX31" fmla="*/ 258395 w 560604"/>
                <a:gd name="connsiteY31" fmla="*/ 411537 h 438626"/>
                <a:gd name="connsiteX32" fmla="*/ 258395 w 560604"/>
                <a:gd name="connsiteY32" fmla="*/ 438626 h 438626"/>
                <a:gd name="connsiteX33" fmla="*/ 109818 w 560604"/>
                <a:gd name="connsiteY33" fmla="*/ 438626 h 438626"/>
                <a:gd name="connsiteX34" fmla="*/ 109818 w 560604"/>
                <a:gd name="connsiteY34" fmla="*/ 411537 h 438626"/>
                <a:gd name="connsiteX35" fmla="*/ 147285 w 560604"/>
                <a:gd name="connsiteY35" fmla="*/ 411537 h 438626"/>
                <a:gd name="connsiteX36" fmla="*/ 147285 w 560604"/>
                <a:gd name="connsiteY36" fmla="*/ 365099 h 438626"/>
                <a:gd name="connsiteX37" fmla="*/ 0 w 560604"/>
                <a:gd name="connsiteY37" fmla="*/ 365099 h 438626"/>
                <a:gd name="connsiteX38" fmla="*/ 415845 w 560604"/>
                <a:gd name="connsiteY38" fmla="*/ 29615 h 438626"/>
                <a:gd name="connsiteX39" fmla="*/ 533475 w 560604"/>
                <a:gd name="connsiteY39" fmla="*/ 29615 h 438626"/>
                <a:gd name="connsiteX40" fmla="*/ 533475 w 560604"/>
                <a:gd name="connsiteY40" fmla="*/ 74762 h 438626"/>
                <a:gd name="connsiteX41" fmla="*/ 415845 w 560604"/>
                <a:gd name="connsiteY41" fmla="*/ 74762 h 438626"/>
                <a:gd name="connsiteX42" fmla="*/ 405517 w 560604"/>
                <a:gd name="connsiteY42" fmla="*/ 18061 h 438626"/>
                <a:gd name="connsiteX43" fmla="*/ 405517 w 560604"/>
                <a:gd name="connsiteY43" fmla="*/ 421855 h 438626"/>
                <a:gd name="connsiteX44" fmla="*/ 543803 w 560604"/>
                <a:gd name="connsiteY44" fmla="*/ 421855 h 438626"/>
                <a:gd name="connsiteX45" fmla="*/ 543803 w 560604"/>
                <a:gd name="connsiteY45" fmla="*/ 18061 h 438626"/>
                <a:gd name="connsiteX46" fmla="*/ 388716 w 560604"/>
                <a:gd name="connsiteY46" fmla="*/ 0 h 438626"/>
                <a:gd name="connsiteX47" fmla="*/ 560604 w 560604"/>
                <a:gd name="connsiteY47" fmla="*/ 0 h 438626"/>
                <a:gd name="connsiteX48" fmla="*/ 560604 w 560604"/>
                <a:gd name="connsiteY48" fmla="*/ 438626 h 438626"/>
                <a:gd name="connsiteX49" fmla="*/ 388716 w 560604"/>
                <a:gd name="connsiteY49" fmla="*/ 438626 h 43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60604" h="438626">
                  <a:moveTo>
                    <a:pt x="474014" y="279973"/>
                  </a:moveTo>
                  <a:cubicBezTo>
                    <a:pt x="459801" y="279973"/>
                    <a:pt x="446881" y="291574"/>
                    <a:pt x="446881" y="307041"/>
                  </a:cubicBezTo>
                  <a:cubicBezTo>
                    <a:pt x="446881" y="322508"/>
                    <a:pt x="459801" y="334108"/>
                    <a:pt x="474014" y="334108"/>
                  </a:cubicBezTo>
                  <a:cubicBezTo>
                    <a:pt x="489518" y="334108"/>
                    <a:pt x="502438" y="322508"/>
                    <a:pt x="502438" y="307041"/>
                  </a:cubicBezTo>
                  <a:cubicBezTo>
                    <a:pt x="502438" y="291574"/>
                    <a:pt x="489518" y="279973"/>
                    <a:pt x="474014" y="279973"/>
                  </a:cubicBezTo>
                  <a:close/>
                  <a:moveTo>
                    <a:pt x="474014" y="263217"/>
                  </a:moveTo>
                  <a:cubicBezTo>
                    <a:pt x="498562" y="263217"/>
                    <a:pt x="517942" y="282551"/>
                    <a:pt x="517942" y="307041"/>
                  </a:cubicBezTo>
                  <a:cubicBezTo>
                    <a:pt x="517942" y="330241"/>
                    <a:pt x="498562" y="349575"/>
                    <a:pt x="474014" y="349575"/>
                  </a:cubicBezTo>
                  <a:cubicBezTo>
                    <a:pt x="450757" y="349575"/>
                    <a:pt x="431377" y="330241"/>
                    <a:pt x="431377" y="307041"/>
                  </a:cubicBezTo>
                  <a:cubicBezTo>
                    <a:pt x="431377" y="282551"/>
                    <a:pt x="450757" y="263217"/>
                    <a:pt x="474014" y="263217"/>
                  </a:cubicBezTo>
                  <a:close/>
                  <a:moveTo>
                    <a:pt x="415845" y="158634"/>
                  </a:moveTo>
                  <a:lnTo>
                    <a:pt x="533475" y="158634"/>
                  </a:lnTo>
                  <a:lnTo>
                    <a:pt x="533475" y="179343"/>
                  </a:lnTo>
                  <a:lnTo>
                    <a:pt x="415845" y="179343"/>
                  </a:lnTo>
                  <a:close/>
                  <a:moveTo>
                    <a:pt x="415845" y="123842"/>
                  </a:moveTo>
                  <a:lnTo>
                    <a:pt x="533475" y="123842"/>
                  </a:lnTo>
                  <a:lnTo>
                    <a:pt x="533475" y="144344"/>
                  </a:lnTo>
                  <a:lnTo>
                    <a:pt x="415845" y="144344"/>
                  </a:lnTo>
                  <a:close/>
                  <a:moveTo>
                    <a:pt x="33591" y="122590"/>
                  </a:moveTo>
                  <a:lnTo>
                    <a:pt x="33591" y="330271"/>
                  </a:lnTo>
                  <a:lnTo>
                    <a:pt x="334622" y="330271"/>
                  </a:lnTo>
                  <a:lnTo>
                    <a:pt x="334622" y="122590"/>
                  </a:lnTo>
                  <a:close/>
                  <a:moveTo>
                    <a:pt x="416052" y="89051"/>
                  </a:moveTo>
                  <a:lnTo>
                    <a:pt x="533474" y="89051"/>
                  </a:lnTo>
                  <a:lnTo>
                    <a:pt x="533474" y="109553"/>
                  </a:lnTo>
                  <a:lnTo>
                    <a:pt x="416052" y="109553"/>
                  </a:lnTo>
                  <a:close/>
                  <a:moveTo>
                    <a:pt x="0" y="89051"/>
                  </a:moveTo>
                  <a:lnTo>
                    <a:pt x="368213" y="89051"/>
                  </a:lnTo>
                  <a:lnTo>
                    <a:pt x="368213" y="365099"/>
                  </a:lnTo>
                  <a:lnTo>
                    <a:pt x="220928" y="365099"/>
                  </a:lnTo>
                  <a:lnTo>
                    <a:pt x="220928" y="411537"/>
                  </a:lnTo>
                  <a:lnTo>
                    <a:pt x="258395" y="411537"/>
                  </a:lnTo>
                  <a:lnTo>
                    <a:pt x="258395" y="438626"/>
                  </a:lnTo>
                  <a:lnTo>
                    <a:pt x="109818" y="438626"/>
                  </a:lnTo>
                  <a:lnTo>
                    <a:pt x="109818" y="411537"/>
                  </a:lnTo>
                  <a:lnTo>
                    <a:pt x="147285" y="411537"/>
                  </a:lnTo>
                  <a:lnTo>
                    <a:pt x="147285" y="365099"/>
                  </a:lnTo>
                  <a:lnTo>
                    <a:pt x="0" y="365099"/>
                  </a:lnTo>
                  <a:close/>
                  <a:moveTo>
                    <a:pt x="415845" y="29615"/>
                  </a:moveTo>
                  <a:lnTo>
                    <a:pt x="533475" y="29615"/>
                  </a:lnTo>
                  <a:lnTo>
                    <a:pt x="533475" y="74762"/>
                  </a:lnTo>
                  <a:lnTo>
                    <a:pt x="415845" y="74762"/>
                  </a:lnTo>
                  <a:close/>
                  <a:moveTo>
                    <a:pt x="405517" y="18061"/>
                  </a:moveTo>
                  <a:lnTo>
                    <a:pt x="405517" y="421855"/>
                  </a:lnTo>
                  <a:lnTo>
                    <a:pt x="543803" y="421855"/>
                  </a:lnTo>
                  <a:lnTo>
                    <a:pt x="543803" y="18061"/>
                  </a:lnTo>
                  <a:close/>
                  <a:moveTo>
                    <a:pt x="388716" y="0"/>
                  </a:moveTo>
                  <a:lnTo>
                    <a:pt x="560604" y="0"/>
                  </a:lnTo>
                  <a:lnTo>
                    <a:pt x="560604" y="438626"/>
                  </a:lnTo>
                  <a:lnTo>
                    <a:pt x="388716" y="438626"/>
                  </a:lnTo>
                  <a:close/>
                </a:path>
              </a:pathLst>
            </a:cu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等线" panose="020F0502020204030204"/>
                <a:ea typeface="+mn-ea"/>
                <a:cs typeface="+mn-cs"/>
              </a:endParaRPr>
            </a:p>
          </p:txBody>
        </p:sp>
        <p:sp>
          <p:nvSpPr>
            <p:cNvPr id="73" name="弧形 72">
              <a:extLst>
                <a:ext uri="{FF2B5EF4-FFF2-40B4-BE49-F238E27FC236}">
                  <a16:creationId xmlns:a16="http://schemas.microsoft.com/office/drawing/2014/main" id="{6433B0B7-785D-485F-AC81-5936FF86CECE}"/>
                </a:ext>
              </a:extLst>
            </p:cNvPr>
            <p:cNvSpPr/>
            <p:nvPr/>
          </p:nvSpPr>
          <p:spPr>
            <a:xfrm rot="16200000">
              <a:off x="3593128" y="4278928"/>
              <a:ext cx="1576744" cy="1143000"/>
            </a:xfrm>
            <a:prstGeom prst="arc">
              <a:avLst>
                <a:gd name="adj1" fmla="val 16200000"/>
                <a:gd name="adj2" fmla="val 126655"/>
              </a:avLst>
            </a:prstGeom>
            <a:noFill/>
            <a:ln w="12700" cap="flat" cmpd="sng" algn="ctr">
              <a:solidFill>
                <a:srgbClr val="44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cxnSp>
        <p:nvCxnSpPr>
          <p:cNvPr id="77" name="直接箭头连接符 76">
            <a:extLst>
              <a:ext uri="{FF2B5EF4-FFF2-40B4-BE49-F238E27FC236}">
                <a16:creationId xmlns:a16="http://schemas.microsoft.com/office/drawing/2014/main" id="{862C350A-3387-4AE6-A6E4-EB62D8560576}"/>
              </a:ext>
            </a:extLst>
          </p:cNvPr>
          <p:cNvCxnSpPr/>
          <p:nvPr/>
        </p:nvCxnSpPr>
        <p:spPr>
          <a:xfrm>
            <a:off x="7391400" y="3733800"/>
            <a:ext cx="685800" cy="0"/>
          </a:xfrm>
          <a:prstGeom prst="straightConnector1">
            <a:avLst/>
          </a:prstGeom>
          <a:noFill/>
          <a:ln w="19050" cap="flat" cmpd="sng" algn="ctr">
            <a:solidFill>
              <a:srgbClr val="ED7D31">
                <a:lumMod val="75000"/>
              </a:srgbClr>
            </a:solidFill>
            <a:prstDash val="solid"/>
            <a:miter lim="800000"/>
            <a:tailEnd type="triangle" w="lg" len="lg"/>
          </a:ln>
          <a:effectLst/>
        </p:spPr>
      </p:cxnSp>
      <p:sp>
        <p:nvSpPr>
          <p:cNvPr id="78" name="toxic-cross_16494">
            <a:extLst>
              <a:ext uri="{FF2B5EF4-FFF2-40B4-BE49-F238E27FC236}">
                <a16:creationId xmlns:a16="http://schemas.microsoft.com/office/drawing/2014/main" id="{E8E77DA7-4818-4194-BB68-D0C2C4082EA5}"/>
              </a:ext>
            </a:extLst>
          </p:cNvPr>
          <p:cNvSpPr/>
          <p:nvPr/>
        </p:nvSpPr>
        <p:spPr>
          <a:xfrm>
            <a:off x="5442802" y="4263410"/>
            <a:ext cx="220540" cy="216116"/>
          </a:xfrm>
          <a:custGeom>
            <a:avLst/>
            <a:gdLst>
              <a:gd name="T0" fmla="*/ 191 w 3053"/>
              <a:gd name="T1" fmla="*/ 760 h 2959"/>
              <a:gd name="T2" fmla="*/ 711 w 3053"/>
              <a:gd name="T3" fmla="*/ 1277 h 2959"/>
              <a:gd name="T4" fmla="*/ 712 w 3053"/>
              <a:gd name="T5" fmla="*/ 1584 h 2959"/>
              <a:gd name="T6" fmla="*/ 184 w 3053"/>
              <a:gd name="T7" fmla="*/ 2112 h 2959"/>
              <a:gd name="T8" fmla="*/ 182 w 3053"/>
              <a:gd name="T9" fmla="*/ 2481 h 2959"/>
              <a:gd name="T10" fmla="*/ 457 w 3053"/>
              <a:gd name="T11" fmla="*/ 2756 h 2959"/>
              <a:gd name="T12" fmla="*/ 842 w 3053"/>
              <a:gd name="T13" fmla="*/ 2774 h 2959"/>
              <a:gd name="T14" fmla="*/ 1363 w 3053"/>
              <a:gd name="T15" fmla="*/ 2259 h 2959"/>
              <a:gd name="T16" fmla="*/ 1673 w 3053"/>
              <a:gd name="T17" fmla="*/ 2259 h 2959"/>
              <a:gd name="T18" fmla="*/ 2192 w 3053"/>
              <a:gd name="T19" fmla="*/ 2767 h 2959"/>
              <a:gd name="T20" fmla="*/ 2574 w 3053"/>
              <a:gd name="T21" fmla="*/ 2767 h 2959"/>
              <a:gd name="T22" fmla="*/ 2862 w 3053"/>
              <a:gd name="T23" fmla="*/ 2493 h 2959"/>
              <a:gd name="T24" fmla="*/ 2880 w 3053"/>
              <a:gd name="T25" fmla="*/ 2116 h 2959"/>
              <a:gd name="T26" fmla="*/ 2358 w 3053"/>
              <a:gd name="T27" fmla="*/ 1594 h 2959"/>
              <a:gd name="T28" fmla="*/ 2356 w 3053"/>
              <a:gd name="T29" fmla="*/ 1285 h 2959"/>
              <a:gd name="T30" fmla="*/ 2855 w 3053"/>
              <a:gd name="T31" fmla="*/ 776 h 2959"/>
              <a:gd name="T32" fmla="*/ 2861 w 3053"/>
              <a:gd name="T33" fmla="*/ 388 h 2959"/>
              <a:gd name="T34" fmla="*/ 2716 w 3053"/>
              <a:gd name="T35" fmla="*/ 232 h 2959"/>
              <a:gd name="T36" fmla="*/ 2382 w 3053"/>
              <a:gd name="T37" fmla="*/ 2 h 2959"/>
              <a:gd name="T38" fmla="*/ 2199 w 3053"/>
              <a:gd name="T39" fmla="*/ 88 h 2959"/>
              <a:gd name="T40" fmla="*/ 1692 w 3053"/>
              <a:gd name="T41" fmla="*/ 609 h 2959"/>
              <a:gd name="T42" fmla="*/ 1386 w 3053"/>
              <a:gd name="T43" fmla="*/ 610 h 2959"/>
              <a:gd name="T44" fmla="*/ 1015 w 3053"/>
              <a:gd name="T45" fmla="*/ 236 h 2959"/>
              <a:gd name="T46" fmla="*/ 666 w 3053"/>
              <a:gd name="T47" fmla="*/ 8 h 2959"/>
              <a:gd name="T48" fmla="*/ 475 w 3053"/>
              <a:gd name="T49" fmla="*/ 78 h 2959"/>
              <a:gd name="T50" fmla="*/ 183 w 3053"/>
              <a:gd name="T51" fmla="*/ 382 h 2959"/>
              <a:gd name="T52" fmla="*/ 191 w 3053"/>
              <a:gd name="T53" fmla="*/ 760 h 2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053" h="2959">
                <a:moveTo>
                  <a:pt x="191" y="760"/>
                </a:moveTo>
                <a:cubicBezTo>
                  <a:pt x="313" y="882"/>
                  <a:pt x="553" y="1120"/>
                  <a:pt x="711" y="1277"/>
                </a:cubicBezTo>
                <a:cubicBezTo>
                  <a:pt x="796" y="1362"/>
                  <a:pt x="797" y="1499"/>
                  <a:pt x="712" y="1584"/>
                </a:cubicBezTo>
                <a:lnTo>
                  <a:pt x="184" y="2112"/>
                </a:lnTo>
                <a:cubicBezTo>
                  <a:pt x="184" y="2112"/>
                  <a:pt x="8" y="2308"/>
                  <a:pt x="182" y="2481"/>
                </a:cubicBezTo>
                <a:lnTo>
                  <a:pt x="457" y="2756"/>
                </a:lnTo>
                <a:cubicBezTo>
                  <a:pt x="457" y="2756"/>
                  <a:pt x="656" y="2959"/>
                  <a:pt x="842" y="2774"/>
                </a:cubicBezTo>
                <a:lnTo>
                  <a:pt x="1363" y="2259"/>
                </a:lnTo>
                <a:cubicBezTo>
                  <a:pt x="1449" y="2175"/>
                  <a:pt x="1587" y="2175"/>
                  <a:pt x="1673" y="2259"/>
                </a:cubicBezTo>
                <a:lnTo>
                  <a:pt x="2192" y="2767"/>
                </a:lnTo>
                <a:cubicBezTo>
                  <a:pt x="2192" y="2767"/>
                  <a:pt x="2389" y="2953"/>
                  <a:pt x="2574" y="2767"/>
                </a:cubicBezTo>
                <a:lnTo>
                  <a:pt x="2862" y="2493"/>
                </a:lnTo>
                <a:cubicBezTo>
                  <a:pt x="2862" y="2493"/>
                  <a:pt x="3047" y="2284"/>
                  <a:pt x="2880" y="2116"/>
                </a:cubicBezTo>
                <a:lnTo>
                  <a:pt x="2358" y="1594"/>
                </a:lnTo>
                <a:cubicBezTo>
                  <a:pt x="2273" y="1509"/>
                  <a:pt x="2272" y="1371"/>
                  <a:pt x="2356" y="1285"/>
                </a:cubicBezTo>
                <a:lnTo>
                  <a:pt x="2855" y="776"/>
                </a:lnTo>
                <a:cubicBezTo>
                  <a:pt x="2855" y="776"/>
                  <a:pt x="3053" y="579"/>
                  <a:pt x="2861" y="388"/>
                </a:cubicBezTo>
                <a:cubicBezTo>
                  <a:pt x="2861" y="388"/>
                  <a:pt x="2796" y="318"/>
                  <a:pt x="2716" y="232"/>
                </a:cubicBezTo>
                <a:cubicBezTo>
                  <a:pt x="2635" y="145"/>
                  <a:pt x="2496" y="0"/>
                  <a:pt x="2382" y="2"/>
                </a:cubicBezTo>
                <a:cubicBezTo>
                  <a:pt x="2326" y="3"/>
                  <a:pt x="2263" y="24"/>
                  <a:pt x="2199" y="88"/>
                </a:cubicBezTo>
                <a:lnTo>
                  <a:pt x="1692" y="609"/>
                </a:lnTo>
                <a:cubicBezTo>
                  <a:pt x="1608" y="695"/>
                  <a:pt x="1471" y="695"/>
                  <a:pt x="1386" y="610"/>
                </a:cubicBezTo>
                <a:lnTo>
                  <a:pt x="1015" y="236"/>
                </a:lnTo>
                <a:cubicBezTo>
                  <a:pt x="930" y="151"/>
                  <a:pt x="782" y="17"/>
                  <a:pt x="666" y="8"/>
                </a:cubicBezTo>
                <a:cubicBezTo>
                  <a:pt x="603" y="3"/>
                  <a:pt x="535" y="18"/>
                  <a:pt x="475" y="78"/>
                </a:cubicBezTo>
                <a:cubicBezTo>
                  <a:pt x="313" y="240"/>
                  <a:pt x="183" y="382"/>
                  <a:pt x="183" y="382"/>
                </a:cubicBezTo>
                <a:cubicBezTo>
                  <a:pt x="183" y="382"/>
                  <a:pt x="0" y="569"/>
                  <a:pt x="191" y="760"/>
                </a:cubicBezTo>
                <a:close/>
              </a:path>
            </a:pathLst>
          </a:custGeom>
          <a:solidFill>
            <a:srgbClr val="FF0000"/>
          </a:solidFill>
          <a:ln w="12700" cap="flat" cmpd="sng" algn="ctr">
            <a:noFill/>
            <a:prstDash val="solid"/>
            <a:miter lim="800000"/>
          </a:ln>
          <a:effectLst/>
        </p:spPr>
        <p:txBody>
          <a:bodyPr rtlCol="0" anchor="ctr"/>
          <a:lstStyle>
            <a:defPPr>
              <a:defRPr lang="en-US"/>
            </a:defPPr>
            <a:lvl1pPr algn="l" rtl="0" eaLnBrk="0" fontAlgn="base" hangingPunct="0">
              <a:spcBef>
                <a:spcPct val="0"/>
              </a:spcBef>
              <a:spcAft>
                <a:spcPct val="0"/>
              </a:spcAft>
              <a:defRPr sz="3200" b="1" kern="1200">
                <a:solidFill>
                  <a:schemeClr val="lt1"/>
                </a:solidFill>
                <a:latin typeface="+mn-lt"/>
                <a:ea typeface="+mn-ea"/>
                <a:cs typeface="+mn-cs"/>
              </a:defRPr>
            </a:lvl1pPr>
            <a:lvl2pPr marL="457200" algn="l" rtl="0" eaLnBrk="0" fontAlgn="base" hangingPunct="0">
              <a:spcBef>
                <a:spcPct val="0"/>
              </a:spcBef>
              <a:spcAft>
                <a:spcPct val="0"/>
              </a:spcAft>
              <a:defRPr sz="3200" b="1" kern="1200">
                <a:solidFill>
                  <a:schemeClr val="lt1"/>
                </a:solidFill>
                <a:latin typeface="+mn-lt"/>
                <a:ea typeface="+mn-ea"/>
                <a:cs typeface="+mn-cs"/>
              </a:defRPr>
            </a:lvl2pPr>
            <a:lvl3pPr marL="914400" algn="l" rtl="0" eaLnBrk="0" fontAlgn="base" hangingPunct="0">
              <a:spcBef>
                <a:spcPct val="0"/>
              </a:spcBef>
              <a:spcAft>
                <a:spcPct val="0"/>
              </a:spcAft>
              <a:defRPr sz="3200" b="1" kern="1200">
                <a:solidFill>
                  <a:schemeClr val="lt1"/>
                </a:solidFill>
                <a:latin typeface="+mn-lt"/>
                <a:ea typeface="+mn-ea"/>
                <a:cs typeface="+mn-cs"/>
              </a:defRPr>
            </a:lvl3pPr>
            <a:lvl4pPr marL="1371600" algn="l" rtl="0" eaLnBrk="0" fontAlgn="base" hangingPunct="0">
              <a:spcBef>
                <a:spcPct val="0"/>
              </a:spcBef>
              <a:spcAft>
                <a:spcPct val="0"/>
              </a:spcAft>
              <a:defRPr sz="3200" b="1" kern="1200">
                <a:solidFill>
                  <a:schemeClr val="lt1"/>
                </a:solidFill>
                <a:latin typeface="+mn-lt"/>
                <a:ea typeface="+mn-ea"/>
                <a:cs typeface="+mn-cs"/>
              </a:defRPr>
            </a:lvl4pPr>
            <a:lvl5pPr marL="1828800" algn="l" rtl="0" eaLnBrk="0" fontAlgn="base" hangingPunct="0">
              <a:spcBef>
                <a:spcPct val="0"/>
              </a:spcBef>
              <a:spcAft>
                <a:spcPct val="0"/>
              </a:spcAft>
              <a:defRPr sz="3200" b="1" kern="1200">
                <a:solidFill>
                  <a:schemeClr val="lt1"/>
                </a:solidFill>
                <a:latin typeface="+mn-lt"/>
                <a:ea typeface="+mn-ea"/>
                <a:cs typeface="+mn-cs"/>
              </a:defRPr>
            </a:lvl5pPr>
            <a:lvl6pPr marL="2286000" algn="l" defTabSz="914400" rtl="0" eaLnBrk="1" latinLnBrk="0" hangingPunct="1">
              <a:defRPr sz="3200" b="1" kern="1200">
                <a:solidFill>
                  <a:schemeClr val="lt1"/>
                </a:solidFill>
                <a:latin typeface="+mn-lt"/>
                <a:ea typeface="+mn-ea"/>
                <a:cs typeface="+mn-cs"/>
              </a:defRPr>
            </a:lvl6pPr>
            <a:lvl7pPr marL="2743200" algn="l" defTabSz="914400" rtl="0" eaLnBrk="1" latinLnBrk="0" hangingPunct="1">
              <a:defRPr sz="3200" b="1" kern="1200">
                <a:solidFill>
                  <a:schemeClr val="lt1"/>
                </a:solidFill>
                <a:latin typeface="+mn-lt"/>
                <a:ea typeface="+mn-ea"/>
                <a:cs typeface="+mn-cs"/>
              </a:defRPr>
            </a:lvl7pPr>
            <a:lvl8pPr marL="3200400" algn="l" defTabSz="914400" rtl="0" eaLnBrk="1" latinLnBrk="0" hangingPunct="1">
              <a:defRPr sz="3200" b="1" kern="1200">
                <a:solidFill>
                  <a:schemeClr val="lt1"/>
                </a:solidFill>
                <a:latin typeface="+mn-lt"/>
                <a:ea typeface="+mn-ea"/>
                <a:cs typeface="+mn-cs"/>
              </a:defRPr>
            </a:lvl8pPr>
            <a:lvl9pPr marL="3657600" algn="l" defTabSz="914400" rtl="0" eaLnBrk="1" latinLnBrk="0" hangingPunct="1">
              <a:defRPr sz="3200" b="1" kern="1200">
                <a:solidFill>
                  <a:schemeClr val="lt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3200" b="1" i="0" u="none" strike="noStrike" kern="1200" cap="none" spc="0" normalizeH="0" baseline="0" noProof="0">
              <a:ln>
                <a:noFill/>
              </a:ln>
              <a:solidFill>
                <a:prstClr val="white"/>
              </a:solidFill>
              <a:effectLst/>
              <a:uLnTx/>
              <a:uFillTx/>
              <a:latin typeface="等线" panose="020F0502020204030204"/>
              <a:ea typeface="+mn-ea"/>
              <a:cs typeface="+mn-cs"/>
            </a:endParaRPr>
          </a:p>
        </p:txBody>
      </p:sp>
      <p:sp>
        <p:nvSpPr>
          <p:cNvPr id="79" name="文本框 78">
            <a:extLst>
              <a:ext uri="{FF2B5EF4-FFF2-40B4-BE49-F238E27FC236}">
                <a16:creationId xmlns:a16="http://schemas.microsoft.com/office/drawing/2014/main" id="{DE2C748B-59FE-48AB-9077-0096D716C78E}"/>
              </a:ext>
            </a:extLst>
          </p:cNvPr>
          <p:cNvSpPr txBox="1"/>
          <p:nvPr/>
        </p:nvSpPr>
        <p:spPr>
          <a:xfrm>
            <a:off x="5550877" y="4418677"/>
            <a:ext cx="984738" cy="461665"/>
          </a:xfrm>
          <a:prstGeom prst="rect">
            <a:avLst/>
          </a:prstGeom>
          <a:noFill/>
        </p:spPr>
        <p:txBody>
          <a:bodyPr wrap="square" rtlCol="0">
            <a:spAutoFit/>
          </a:bodyPr>
          <a:lstStyle/>
          <a:p>
            <a:pPr algn="ctr"/>
            <a:r>
              <a:rPr lang="zh-CN" altLang="en-US" sz="1200" dirty="0">
                <a:solidFill>
                  <a:srgbClr val="FF0000"/>
                </a:solidFill>
                <a:latin typeface="微软雅黑" panose="020B0503020204020204" pitchFamily="34" charset="-122"/>
                <a:ea typeface="微软雅黑" panose="020B0503020204020204" pitchFamily="34" charset="-122"/>
              </a:rPr>
              <a:t>地址不匹配则丢弃</a:t>
            </a:r>
          </a:p>
        </p:txBody>
      </p:sp>
      <p:sp>
        <p:nvSpPr>
          <p:cNvPr id="80" name="文本框 79">
            <a:extLst>
              <a:ext uri="{FF2B5EF4-FFF2-40B4-BE49-F238E27FC236}">
                <a16:creationId xmlns:a16="http://schemas.microsoft.com/office/drawing/2014/main" id="{1AAE3526-127E-46F3-BFE8-5C7C14B311F6}"/>
              </a:ext>
            </a:extLst>
          </p:cNvPr>
          <p:cNvSpPr txBox="1"/>
          <p:nvPr/>
        </p:nvSpPr>
        <p:spPr>
          <a:xfrm>
            <a:off x="8780584" y="4392192"/>
            <a:ext cx="964223" cy="461665"/>
          </a:xfrm>
          <a:prstGeom prst="rect">
            <a:avLst/>
          </a:prstGeom>
          <a:noFill/>
        </p:spPr>
        <p:txBody>
          <a:bodyPr wrap="square" rtlCol="0">
            <a:spAutoFit/>
          </a:bodyPr>
          <a:lstStyle/>
          <a:p>
            <a:pPr algn="ctr"/>
            <a:r>
              <a:rPr lang="zh-CN" altLang="en-US" sz="1200" dirty="0">
                <a:solidFill>
                  <a:srgbClr val="70AD47">
                    <a:lumMod val="50000"/>
                  </a:srgbClr>
                </a:solidFill>
                <a:latin typeface="微软雅黑" panose="020B0503020204020204" pitchFamily="34" charset="-122"/>
                <a:ea typeface="微软雅黑" panose="020B0503020204020204" pitchFamily="34" charset="-122"/>
              </a:rPr>
              <a:t>地址匹配则接收</a:t>
            </a:r>
          </a:p>
        </p:txBody>
      </p:sp>
      <p:sp>
        <p:nvSpPr>
          <p:cNvPr id="39" name="矩形 1">
            <a:extLst>
              <a:ext uri="{FF2B5EF4-FFF2-40B4-BE49-F238E27FC236}">
                <a16:creationId xmlns:a16="http://schemas.microsoft.com/office/drawing/2014/main" id="{3E20488E-A0BF-4864-970E-5608CB023751}"/>
              </a:ext>
            </a:extLst>
          </p:cNvPr>
          <p:cNvSpPr>
            <a:spLocks noChangeArrowheads="1"/>
          </p:cNvSpPr>
          <p:nvPr/>
        </p:nvSpPr>
        <p:spPr bwMode="auto">
          <a:xfrm>
            <a:off x="4057650" y="76200"/>
            <a:ext cx="35724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2800" dirty="0">
                <a:solidFill>
                  <a:schemeClr val="bg1"/>
                </a:solidFill>
                <a:latin typeface="微软雅黑" panose="020B0503020204020204" pitchFamily="34" charset="-122"/>
                <a:ea typeface="微软雅黑" panose="020B0503020204020204" pitchFamily="34" charset="-122"/>
              </a:rPr>
              <a:t>为什么需要</a:t>
            </a:r>
            <a:r>
              <a:rPr lang="en-US" altLang="zh-CN" sz="2800" dirty="0">
                <a:solidFill>
                  <a:schemeClr val="bg1"/>
                </a:solidFill>
                <a:latin typeface="微软雅黑" panose="020B0503020204020204" pitchFamily="34" charset="-122"/>
                <a:ea typeface="微软雅黑" panose="020B0503020204020204" pitchFamily="34" charset="-122"/>
              </a:rPr>
              <a:t>MAC</a:t>
            </a:r>
            <a:r>
              <a:rPr lang="zh-CN" altLang="en-US" sz="2800" dirty="0">
                <a:solidFill>
                  <a:schemeClr val="bg1"/>
                </a:solidFill>
                <a:latin typeface="微软雅黑" panose="020B0503020204020204" pitchFamily="34" charset="-122"/>
                <a:ea typeface="微软雅黑" panose="020B0503020204020204" pitchFamily="34" charset="-122"/>
              </a:rPr>
              <a:t>地址</a:t>
            </a:r>
          </a:p>
        </p:txBody>
      </p:sp>
    </p:spTree>
    <p:extLst>
      <p:ext uri="{BB962C8B-B14F-4D97-AF65-F5344CB8AC3E}">
        <p14:creationId xmlns:p14="http://schemas.microsoft.com/office/powerpoint/2010/main" val="3926743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500"/>
                                        <p:tgtEl>
                                          <p:spTgt spid="44"/>
                                        </p:tgtEl>
                                      </p:cBhvr>
                                    </p:animEffect>
                                  </p:childTnLst>
                                </p:cTn>
                              </p:par>
                            </p:childTnLst>
                          </p:cTn>
                        </p:par>
                        <p:par>
                          <p:cTn id="8" fill="hold">
                            <p:stCondLst>
                              <p:cond delay="500"/>
                            </p:stCondLst>
                            <p:childTnLst>
                              <p:par>
                                <p:cTn id="9" presetID="22" presetClass="entr" presetSubtype="4" fill="hold" nodeType="afterEffect">
                                  <p:stCondLst>
                                    <p:cond delay="500"/>
                                  </p:stCondLst>
                                  <p:childTnLst>
                                    <p:set>
                                      <p:cBhvr>
                                        <p:cTn id="10" dur="1" fill="hold">
                                          <p:stCondLst>
                                            <p:cond delay="0"/>
                                          </p:stCondLst>
                                        </p:cTn>
                                        <p:tgtEl>
                                          <p:spTgt spid="52"/>
                                        </p:tgtEl>
                                        <p:attrNameLst>
                                          <p:attrName>style.visibility</p:attrName>
                                        </p:attrNameLst>
                                      </p:cBhvr>
                                      <p:to>
                                        <p:strVal val="visible"/>
                                      </p:to>
                                    </p:set>
                                    <p:animEffect transition="in" filter="wipe(down)">
                                      <p:cBhvr>
                                        <p:cTn id="11" dur="500"/>
                                        <p:tgtEl>
                                          <p:spTgt spid="52"/>
                                        </p:tgtEl>
                                      </p:cBhvr>
                                    </p:animEffect>
                                  </p:childTnLst>
                                </p:cTn>
                              </p:par>
                            </p:childTnLst>
                          </p:cTn>
                        </p:par>
                        <p:par>
                          <p:cTn id="12" fill="hold">
                            <p:stCondLst>
                              <p:cond delay="1500"/>
                            </p:stCondLst>
                            <p:childTnLst>
                              <p:par>
                                <p:cTn id="13" presetID="22" presetClass="entr" presetSubtype="4" fill="hold" nodeType="afterEffect">
                                  <p:stCondLst>
                                    <p:cond delay="0"/>
                                  </p:stCondLst>
                                  <p:childTnLst>
                                    <p:set>
                                      <p:cBhvr>
                                        <p:cTn id="14" dur="1" fill="hold">
                                          <p:stCondLst>
                                            <p:cond delay="0"/>
                                          </p:stCondLst>
                                        </p:cTn>
                                        <p:tgtEl>
                                          <p:spTgt spid="70"/>
                                        </p:tgtEl>
                                        <p:attrNameLst>
                                          <p:attrName>style.visibility</p:attrName>
                                        </p:attrNameLst>
                                      </p:cBhvr>
                                      <p:to>
                                        <p:strVal val="visible"/>
                                      </p:to>
                                    </p:set>
                                    <p:animEffect transition="in" filter="wipe(down)">
                                      <p:cBhvr>
                                        <p:cTn id="15" dur="500"/>
                                        <p:tgtEl>
                                          <p:spTgt spid="70"/>
                                        </p:tgtEl>
                                      </p:cBhvr>
                                    </p:animEffect>
                                  </p:childTnLst>
                                </p:cTn>
                              </p:par>
                            </p:childTnLst>
                          </p:cTn>
                        </p:par>
                        <p:par>
                          <p:cTn id="16" fill="hold">
                            <p:stCondLst>
                              <p:cond delay="2000"/>
                            </p:stCondLst>
                            <p:childTnLst>
                              <p:par>
                                <p:cTn id="17" presetID="22" presetClass="entr" presetSubtype="4" fill="hold" nodeType="afterEffect">
                                  <p:stCondLst>
                                    <p:cond delay="0"/>
                                  </p:stCondLst>
                                  <p:childTnLst>
                                    <p:set>
                                      <p:cBhvr>
                                        <p:cTn id="18" dur="1" fill="hold">
                                          <p:stCondLst>
                                            <p:cond delay="0"/>
                                          </p:stCondLst>
                                        </p:cTn>
                                        <p:tgtEl>
                                          <p:spTgt spid="59"/>
                                        </p:tgtEl>
                                        <p:attrNameLst>
                                          <p:attrName>style.visibility</p:attrName>
                                        </p:attrNameLst>
                                      </p:cBhvr>
                                      <p:to>
                                        <p:strVal val="visible"/>
                                      </p:to>
                                    </p:set>
                                    <p:animEffect transition="in" filter="wipe(down)">
                                      <p:cBhvr>
                                        <p:cTn id="19" dur="500"/>
                                        <p:tgtEl>
                                          <p:spTgt spid="59"/>
                                        </p:tgtEl>
                                      </p:cBhvr>
                                    </p:animEffect>
                                  </p:childTnLst>
                                </p:cTn>
                              </p:par>
                            </p:childTnLst>
                          </p:cTn>
                        </p:par>
                        <p:par>
                          <p:cTn id="20" fill="hold">
                            <p:stCondLst>
                              <p:cond delay="2500"/>
                            </p:stCondLst>
                            <p:childTnLst>
                              <p:par>
                                <p:cTn id="21" presetID="22" presetClass="entr" presetSubtype="8" fill="hold" grpId="0" nodeType="afterEffect">
                                  <p:stCondLst>
                                    <p:cond delay="0"/>
                                  </p:stCondLst>
                                  <p:childTnLst>
                                    <p:set>
                                      <p:cBhvr>
                                        <p:cTn id="22" dur="1" fill="hold">
                                          <p:stCondLst>
                                            <p:cond delay="0"/>
                                          </p:stCondLst>
                                        </p:cTn>
                                        <p:tgtEl>
                                          <p:spTgt spid="66"/>
                                        </p:tgtEl>
                                        <p:attrNameLst>
                                          <p:attrName>style.visibility</p:attrName>
                                        </p:attrNameLst>
                                      </p:cBhvr>
                                      <p:to>
                                        <p:strVal val="visible"/>
                                      </p:to>
                                    </p:set>
                                    <p:animEffect transition="in" filter="wipe(left)">
                                      <p:cBhvr>
                                        <p:cTn id="23" dur="500"/>
                                        <p:tgtEl>
                                          <p:spTgt spid="6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67"/>
                                        </p:tgtEl>
                                        <p:attrNameLst>
                                          <p:attrName>style.visibility</p:attrName>
                                        </p:attrNameLst>
                                      </p:cBhvr>
                                      <p:to>
                                        <p:strVal val="visible"/>
                                      </p:to>
                                    </p:set>
                                    <p:animEffect transition="in" filter="wipe(down)">
                                      <p:cBhvr>
                                        <p:cTn id="28" dur="500"/>
                                        <p:tgtEl>
                                          <p:spTgt spid="67"/>
                                        </p:tgtEl>
                                      </p:cBhvr>
                                    </p:animEffect>
                                  </p:childTnLst>
                                </p:cTn>
                              </p:par>
                            </p:childTnLst>
                          </p:cTn>
                        </p:par>
                        <p:par>
                          <p:cTn id="29" fill="hold">
                            <p:stCondLst>
                              <p:cond delay="500"/>
                            </p:stCondLst>
                            <p:childTnLst>
                              <p:par>
                                <p:cTn id="30" presetID="22" presetClass="entr" presetSubtype="2" fill="hold" nodeType="afterEffect">
                                  <p:stCondLst>
                                    <p:cond delay="500"/>
                                  </p:stCondLst>
                                  <p:childTnLst>
                                    <p:set>
                                      <p:cBhvr>
                                        <p:cTn id="31" dur="1" fill="hold">
                                          <p:stCondLst>
                                            <p:cond delay="0"/>
                                          </p:stCondLst>
                                        </p:cTn>
                                        <p:tgtEl>
                                          <p:spTgt spid="68"/>
                                        </p:tgtEl>
                                        <p:attrNameLst>
                                          <p:attrName>style.visibility</p:attrName>
                                        </p:attrNameLst>
                                      </p:cBhvr>
                                      <p:to>
                                        <p:strVal val="visible"/>
                                      </p:to>
                                    </p:set>
                                    <p:animEffect transition="in" filter="wipe(right)">
                                      <p:cBhvr>
                                        <p:cTn id="32" dur="500"/>
                                        <p:tgtEl>
                                          <p:spTgt spid="68"/>
                                        </p:tgtEl>
                                      </p:cBhvr>
                                    </p:animEffect>
                                  </p:childTnLst>
                                </p:cTn>
                              </p:par>
                              <p:par>
                                <p:cTn id="33" presetID="22" presetClass="entr" presetSubtype="8" fill="hold" nodeType="withEffect">
                                  <p:stCondLst>
                                    <p:cond delay="0"/>
                                  </p:stCondLst>
                                  <p:childTnLst>
                                    <p:set>
                                      <p:cBhvr>
                                        <p:cTn id="34" dur="1" fill="hold">
                                          <p:stCondLst>
                                            <p:cond delay="0"/>
                                          </p:stCondLst>
                                        </p:cTn>
                                        <p:tgtEl>
                                          <p:spTgt spid="69"/>
                                        </p:tgtEl>
                                        <p:attrNameLst>
                                          <p:attrName>style.visibility</p:attrName>
                                        </p:attrNameLst>
                                      </p:cBhvr>
                                      <p:to>
                                        <p:strVal val="visible"/>
                                      </p:to>
                                    </p:set>
                                    <p:animEffect transition="in" filter="wipe(left)">
                                      <p:cBhvr>
                                        <p:cTn id="35" dur="500"/>
                                        <p:tgtEl>
                                          <p:spTgt spid="69"/>
                                        </p:tgtEl>
                                      </p:cBhvr>
                                    </p:animEffect>
                                  </p:childTnLst>
                                </p:cTn>
                              </p:par>
                            </p:childTnLst>
                          </p:cTn>
                        </p:par>
                        <p:par>
                          <p:cTn id="36" fill="hold">
                            <p:stCondLst>
                              <p:cond delay="1500"/>
                            </p:stCondLst>
                            <p:childTnLst>
                              <p:par>
                                <p:cTn id="37" presetID="22" presetClass="entr" presetSubtype="8" fill="hold" nodeType="afterEffect">
                                  <p:stCondLst>
                                    <p:cond delay="0"/>
                                  </p:stCondLst>
                                  <p:childTnLst>
                                    <p:set>
                                      <p:cBhvr>
                                        <p:cTn id="38" dur="1" fill="hold">
                                          <p:stCondLst>
                                            <p:cond delay="0"/>
                                          </p:stCondLst>
                                        </p:cTn>
                                        <p:tgtEl>
                                          <p:spTgt spid="77"/>
                                        </p:tgtEl>
                                        <p:attrNameLst>
                                          <p:attrName>style.visibility</p:attrName>
                                        </p:attrNameLst>
                                      </p:cBhvr>
                                      <p:to>
                                        <p:strVal val="visible"/>
                                      </p:to>
                                    </p:set>
                                    <p:animEffect transition="in" filter="wipe(left)">
                                      <p:cBhvr>
                                        <p:cTn id="39" dur="500"/>
                                        <p:tgtEl>
                                          <p:spTgt spid="7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51"/>
                                        </p:tgtEl>
                                        <p:attrNameLst>
                                          <p:attrName>style.visibility</p:attrName>
                                        </p:attrNameLst>
                                      </p:cBhvr>
                                      <p:to>
                                        <p:strVal val="visible"/>
                                      </p:to>
                                    </p:set>
                                    <p:animEffect transition="in" filter="wipe(up)">
                                      <p:cBhvr>
                                        <p:cTn id="44" dur="500"/>
                                        <p:tgtEl>
                                          <p:spTgt spid="51"/>
                                        </p:tgtEl>
                                      </p:cBhvr>
                                    </p:animEffect>
                                  </p:childTnLst>
                                </p:cTn>
                              </p:par>
                            </p:childTnLst>
                          </p:cTn>
                        </p:par>
                        <p:par>
                          <p:cTn id="45" fill="hold">
                            <p:stCondLst>
                              <p:cond delay="500"/>
                            </p:stCondLst>
                            <p:childTnLst>
                              <p:par>
                                <p:cTn id="46" presetID="22" presetClass="entr" presetSubtype="1" fill="hold" grpId="0" nodeType="afterEffect">
                                  <p:stCondLst>
                                    <p:cond delay="0"/>
                                  </p:stCondLst>
                                  <p:childTnLst>
                                    <p:set>
                                      <p:cBhvr>
                                        <p:cTn id="47" dur="1" fill="hold">
                                          <p:stCondLst>
                                            <p:cond delay="0"/>
                                          </p:stCondLst>
                                        </p:cTn>
                                        <p:tgtEl>
                                          <p:spTgt spid="50"/>
                                        </p:tgtEl>
                                        <p:attrNameLst>
                                          <p:attrName>style.visibility</p:attrName>
                                        </p:attrNameLst>
                                      </p:cBhvr>
                                      <p:to>
                                        <p:strVal val="visible"/>
                                      </p:to>
                                    </p:set>
                                    <p:animEffect transition="in" filter="wipe(up)">
                                      <p:cBhvr>
                                        <p:cTn id="48" dur="500"/>
                                        <p:tgtEl>
                                          <p:spTgt spid="50"/>
                                        </p:tgtEl>
                                      </p:cBhvr>
                                    </p:animEffect>
                                  </p:childTnLst>
                                </p:cTn>
                              </p:par>
                            </p:childTnLst>
                          </p:cTn>
                        </p:par>
                        <p:par>
                          <p:cTn id="49" fill="hold">
                            <p:stCondLst>
                              <p:cond delay="1000"/>
                            </p:stCondLst>
                            <p:childTnLst>
                              <p:par>
                                <p:cTn id="50" presetID="1" presetClass="entr" presetSubtype="0" fill="hold" grpId="0" nodeType="afterEffect">
                                  <p:stCondLst>
                                    <p:cond delay="1000"/>
                                  </p:stCondLst>
                                  <p:childTnLst>
                                    <p:set>
                                      <p:cBhvr>
                                        <p:cTn id="51" dur="1" fill="hold">
                                          <p:stCondLst>
                                            <p:cond delay="0"/>
                                          </p:stCondLst>
                                        </p:cTn>
                                        <p:tgtEl>
                                          <p:spTgt spid="78"/>
                                        </p:tgtEl>
                                        <p:attrNameLst>
                                          <p:attrName>style.visibility</p:attrName>
                                        </p:attrNameLst>
                                      </p:cBhvr>
                                      <p:to>
                                        <p:strVal val="visible"/>
                                      </p:to>
                                    </p:set>
                                  </p:childTnLst>
                                </p:cTn>
                              </p:par>
                            </p:childTnLst>
                          </p:cTn>
                        </p:par>
                        <p:par>
                          <p:cTn id="52" fill="hold">
                            <p:stCondLst>
                              <p:cond delay="2000"/>
                            </p:stCondLst>
                            <p:childTnLst>
                              <p:par>
                                <p:cTn id="53" presetID="35" presetClass="emph" presetSubtype="0" fill="hold" grpId="1" nodeType="afterEffect">
                                  <p:stCondLst>
                                    <p:cond delay="500"/>
                                  </p:stCondLst>
                                  <p:childTnLst>
                                    <p:anim calcmode="discrete" valueType="str">
                                      <p:cBhvr>
                                        <p:cTn id="54" dur="1000" fill="hold"/>
                                        <p:tgtEl>
                                          <p:spTgt spid="78"/>
                                        </p:tgtEl>
                                        <p:attrNameLst>
                                          <p:attrName>style.visibility</p:attrName>
                                        </p:attrNameLst>
                                      </p:cBhvr>
                                      <p:tavLst>
                                        <p:tav tm="0">
                                          <p:val>
                                            <p:strVal val="hidden"/>
                                          </p:val>
                                        </p:tav>
                                        <p:tav tm="50000">
                                          <p:val>
                                            <p:strVal val="visible"/>
                                          </p:val>
                                        </p:tav>
                                      </p:tavLst>
                                    </p:anim>
                                  </p:childTnLst>
                                </p:cTn>
                              </p:par>
                            </p:childTnLst>
                          </p:cTn>
                        </p:par>
                        <p:par>
                          <p:cTn id="55" fill="hold">
                            <p:stCondLst>
                              <p:cond delay="3500"/>
                            </p:stCondLst>
                            <p:childTnLst>
                              <p:par>
                                <p:cTn id="56" presetID="22" presetClass="entr" presetSubtype="1" fill="hold" grpId="0" nodeType="afterEffect">
                                  <p:stCondLst>
                                    <p:cond delay="0"/>
                                  </p:stCondLst>
                                  <p:childTnLst>
                                    <p:set>
                                      <p:cBhvr>
                                        <p:cTn id="57" dur="1" fill="hold">
                                          <p:stCondLst>
                                            <p:cond delay="0"/>
                                          </p:stCondLst>
                                        </p:cTn>
                                        <p:tgtEl>
                                          <p:spTgt spid="79"/>
                                        </p:tgtEl>
                                        <p:attrNameLst>
                                          <p:attrName>style.visibility</p:attrName>
                                        </p:attrNameLst>
                                      </p:cBhvr>
                                      <p:to>
                                        <p:strVal val="visible"/>
                                      </p:to>
                                    </p:set>
                                    <p:animEffect transition="in" filter="wipe(up)">
                                      <p:cBhvr>
                                        <p:cTn id="58" dur="500"/>
                                        <p:tgtEl>
                                          <p:spTgt spid="79"/>
                                        </p:tgtEl>
                                      </p:cBhvr>
                                    </p:animEffect>
                                  </p:childTnLst>
                                </p:cTn>
                              </p:par>
                            </p:childTnLst>
                          </p:cTn>
                        </p:par>
                        <p:par>
                          <p:cTn id="59" fill="hold">
                            <p:stCondLst>
                              <p:cond delay="4000"/>
                            </p:stCondLst>
                            <p:childTnLst>
                              <p:par>
                                <p:cTn id="60" presetID="22" presetClass="entr" presetSubtype="1" fill="hold" grpId="0" nodeType="afterEffect">
                                  <p:stCondLst>
                                    <p:cond delay="500"/>
                                  </p:stCondLst>
                                  <p:childTnLst>
                                    <p:set>
                                      <p:cBhvr>
                                        <p:cTn id="61" dur="1" fill="hold">
                                          <p:stCondLst>
                                            <p:cond delay="0"/>
                                          </p:stCondLst>
                                        </p:cTn>
                                        <p:tgtEl>
                                          <p:spTgt spid="80"/>
                                        </p:tgtEl>
                                        <p:attrNameLst>
                                          <p:attrName>style.visibility</p:attrName>
                                        </p:attrNameLst>
                                      </p:cBhvr>
                                      <p:to>
                                        <p:strVal val="visible"/>
                                      </p:to>
                                    </p:set>
                                    <p:animEffect transition="in" filter="wipe(up)">
                                      <p:cBhvr>
                                        <p:cTn id="6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66" grpId="0"/>
      <p:bldP spid="67" grpId="0" animBg="1"/>
      <p:bldP spid="78" grpId="0" animBg="1"/>
      <p:bldP spid="78" grpId="1" animBg="1"/>
      <p:bldP spid="79" grpId="0"/>
      <p:bldP spid="8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矩形 44">
            <a:extLst>
              <a:ext uri="{FF2B5EF4-FFF2-40B4-BE49-F238E27FC236}">
                <a16:creationId xmlns:a16="http://schemas.microsoft.com/office/drawing/2014/main" id="{F8E09BE0-2288-4327-9877-6CD0480FA7FE}"/>
              </a:ext>
            </a:extLst>
          </p:cNvPr>
          <p:cNvSpPr/>
          <p:nvPr/>
        </p:nvSpPr>
        <p:spPr>
          <a:xfrm>
            <a:off x="4190938" y="2937208"/>
            <a:ext cx="3657504" cy="3006326"/>
          </a:xfrm>
          <a:prstGeom prst="rect">
            <a:avLst/>
          </a:prstGeom>
          <a:noFill/>
          <a:ln w="28575"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47" name="图片 46">
            <a:extLst>
              <a:ext uri="{FF2B5EF4-FFF2-40B4-BE49-F238E27FC236}">
                <a16:creationId xmlns:a16="http://schemas.microsoft.com/office/drawing/2014/main" id="{FA569CE6-59C7-4ED9-9875-14EB9B784C72}"/>
              </a:ext>
            </a:extLst>
          </p:cNvPr>
          <p:cNvPicPr>
            <a:picLocks noChangeAspect="1"/>
          </p:cNvPicPr>
          <p:nvPr/>
        </p:nvPicPr>
        <p:blipFill>
          <a:blip r:embed="rId3"/>
          <a:stretch>
            <a:fillRect/>
          </a:stretch>
        </p:blipFill>
        <p:spPr>
          <a:xfrm>
            <a:off x="2630244" y="2860284"/>
            <a:ext cx="990574" cy="990574"/>
          </a:xfrm>
          <a:prstGeom prst="rect">
            <a:avLst/>
          </a:prstGeom>
        </p:spPr>
      </p:pic>
      <p:sp>
        <p:nvSpPr>
          <p:cNvPr id="48" name="monitor-and-computer-case_103">
            <a:extLst>
              <a:ext uri="{FF2B5EF4-FFF2-40B4-BE49-F238E27FC236}">
                <a16:creationId xmlns:a16="http://schemas.microsoft.com/office/drawing/2014/main" id="{B8FABD85-C194-4AFA-8A95-63EF0736E944}"/>
              </a:ext>
            </a:extLst>
          </p:cNvPr>
          <p:cNvSpPr/>
          <p:nvPr/>
        </p:nvSpPr>
        <p:spPr>
          <a:xfrm>
            <a:off x="2754521" y="1964548"/>
            <a:ext cx="838229" cy="649878"/>
          </a:xfrm>
          <a:custGeom>
            <a:avLst/>
            <a:gdLst>
              <a:gd name="connsiteX0" fmla="*/ 474014 w 560604"/>
              <a:gd name="connsiteY0" fmla="*/ 279973 h 438626"/>
              <a:gd name="connsiteX1" fmla="*/ 446881 w 560604"/>
              <a:gd name="connsiteY1" fmla="*/ 307041 h 438626"/>
              <a:gd name="connsiteX2" fmla="*/ 474014 w 560604"/>
              <a:gd name="connsiteY2" fmla="*/ 334108 h 438626"/>
              <a:gd name="connsiteX3" fmla="*/ 502438 w 560604"/>
              <a:gd name="connsiteY3" fmla="*/ 307041 h 438626"/>
              <a:gd name="connsiteX4" fmla="*/ 474014 w 560604"/>
              <a:gd name="connsiteY4" fmla="*/ 279973 h 438626"/>
              <a:gd name="connsiteX5" fmla="*/ 474014 w 560604"/>
              <a:gd name="connsiteY5" fmla="*/ 263217 h 438626"/>
              <a:gd name="connsiteX6" fmla="*/ 517942 w 560604"/>
              <a:gd name="connsiteY6" fmla="*/ 307041 h 438626"/>
              <a:gd name="connsiteX7" fmla="*/ 474014 w 560604"/>
              <a:gd name="connsiteY7" fmla="*/ 349575 h 438626"/>
              <a:gd name="connsiteX8" fmla="*/ 431377 w 560604"/>
              <a:gd name="connsiteY8" fmla="*/ 307041 h 438626"/>
              <a:gd name="connsiteX9" fmla="*/ 474014 w 560604"/>
              <a:gd name="connsiteY9" fmla="*/ 263217 h 438626"/>
              <a:gd name="connsiteX10" fmla="*/ 415845 w 560604"/>
              <a:gd name="connsiteY10" fmla="*/ 158634 h 438626"/>
              <a:gd name="connsiteX11" fmla="*/ 533475 w 560604"/>
              <a:gd name="connsiteY11" fmla="*/ 158634 h 438626"/>
              <a:gd name="connsiteX12" fmla="*/ 533475 w 560604"/>
              <a:gd name="connsiteY12" fmla="*/ 179343 h 438626"/>
              <a:gd name="connsiteX13" fmla="*/ 415845 w 560604"/>
              <a:gd name="connsiteY13" fmla="*/ 179343 h 438626"/>
              <a:gd name="connsiteX14" fmla="*/ 415845 w 560604"/>
              <a:gd name="connsiteY14" fmla="*/ 123842 h 438626"/>
              <a:gd name="connsiteX15" fmla="*/ 533475 w 560604"/>
              <a:gd name="connsiteY15" fmla="*/ 123842 h 438626"/>
              <a:gd name="connsiteX16" fmla="*/ 533475 w 560604"/>
              <a:gd name="connsiteY16" fmla="*/ 144344 h 438626"/>
              <a:gd name="connsiteX17" fmla="*/ 415845 w 560604"/>
              <a:gd name="connsiteY17" fmla="*/ 144344 h 438626"/>
              <a:gd name="connsiteX18" fmla="*/ 33591 w 560604"/>
              <a:gd name="connsiteY18" fmla="*/ 122590 h 438626"/>
              <a:gd name="connsiteX19" fmla="*/ 33591 w 560604"/>
              <a:gd name="connsiteY19" fmla="*/ 330271 h 438626"/>
              <a:gd name="connsiteX20" fmla="*/ 334622 w 560604"/>
              <a:gd name="connsiteY20" fmla="*/ 330271 h 438626"/>
              <a:gd name="connsiteX21" fmla="*/ 334622 w 560604"/>
              <a:gd name="connsiteY21" fmla="*/ 122590 h 438626"/>
              <a:gd name="connsiteX22" fmla="*/ 416052 w 560604"/>
              <a:gd name="connsiteY22" fmla="*/ 89051 h 438626"/>
              <a:gd name="connsiteX23" fmla="*/ 533474 w 560604"/>
              <a:gd name="connsiteY23" fmla="*/ 89051 h 438626"/>
              <a:gd name="connsiteX24" fmla="*/ 533474 w 560604"/>
              <a:gd name="connsiteY24" fmla="*/ 109553 h 438626"/>
              <a:gd name="connsiteX25" fmla="*/ 416052 w 560604"/>
              <a:gd name="connsiteY25" fmla="*/ 109553 h 438626"/>
              <a:gd name="connsiteX26" fmla="*/ 0 w 560604"/>
              <a:gd name="connsiteY26" fmla="*/ 89051 h 438626"/>
              <a:gd name="connsiteX27" fmla="*/ 368213 w 560604"/>
              <a:gd name="connsiteY27" fmla="*/ 89051 h 438626"/>
              <a:gd name="connsiteX28" fmla="*/ 368213 w 560604"/>
              <a:gd name="connsiteY28" fmla="*/ 365099 h 438626"/>
              <a:gd name="connsiteX29" fmla="*/ 220928 w 560604"/>
              <a:gd name="connsiteY29" fmla="*/ 365099 h 438626"/>
              <a:gd name="connsiteX30" fmla="*/ 220928 w 560604"/>
              <a:gd name="connsiteY30" fmla="*/ 411537 h 438626"/>
              <a:gd name="connsiteX31" fmla="*/ 258395 w 560604"/>
              <a:gd name="connsiteY31" fmla="*/ 411537 h 438626"/>
              <a:gd name="connsiteX32" fmla="*/ 258395 w 560604"/>
              <a:gd name="connsiteY32" fmla="*/ 438626 h 438626"/>
              <a:gd name="connsiteX33" fmla="*/ 109818 w 560604"/>
              <a:gd name="connsiteY33" fmla="*/ 438626 h 438626"/>
              <a:gd name="connsiteX34" fmla="*/ 109818 w 560604"/>
              <a:gd name="connsiteY34" fmla="*/ 411537 h 438626"/>
              <a:gd name="connsiteX35" fmla="*/ 147285 w 560604"/>
              <a:gd name="connsiteY35" fmla="*/ 411537 h 438626"/>
              <a:gd name="connsiteX36" fmla="*/ 147285 w 560604"/>
              <a:gd name="connsiteY36" fmla="*/ 365099 h 438626"/>
              <a:gd name="connsiteX37" fmla="*/ 0 w 560604"/>
              <a:gd name="connsiteY37" fmla="*/ 365099 h 438626"/>
              <a:gd name="connsiteX38" fmla="*/ 415845 w 560604"/>
              <a:gd name="connsiteY38" fmla="*/ 29615 h 438626"/>
              <a:gd name="connsiteX39" fmla="*/ 533475 w 560604"/>
              <a:gd name="connsiteY39" fmla="*/ 29615 h 438626"/>
              <a:gd name="connsiteX40" fmla="*/ 533475 w 560604"/>
              <a:gd name="connsiteY40" fmla="*/ 74762 h 438626"/>
              <a:gd name="connsiteX41" fmla="*/ 415845 w 560604"/>
              <a:gd name="connsiteY41" fmla="*/ 74762 h 438626"/>
              <a:gd name="connsiteX42" fmla="*/ 405517 w 560604"/>
              <a:gd name="connsiteY42" fmla="*/ 18061 h 438626"/>
              <a:gd name="connsiteX43" fmla="*/ 405517 w 560604"/>
              <a:gd name="connsiteY43" fmla="*/ 421855 h 438626"/>
              <a:gd name="connsiteX44" fmla="*/ 543803 w 560604"/>
              <a:gd name="connsiteY44" fmla="*/ 421855 h 438626"/>
              <a:gd name="connsiteX45" fmla="*/ 543803 w 560604"/>
              <a:gd name="connsiteY45" fmla="*/ 18061 h 438626"/>
              <a:gd name="connsiteX46" fmla="*/ 388716 w 560604"/>
              <a:gd name="connsiteY46" fmla="*/ 0 h 438626"/>
              <a:gd name="connsiteX47" fmla="*/ 560604 w 560604"/>
              <a:gd name="connsiteY47" fmla="*/ 0 h 438626"/>
              <a:gd name="connsiteX48" fmla="*/ 560604 w 560604"/>
              <a:gd name="connsiteY48" fmla="*/ 438626 h 438626"/>
              <a:gd name="connsiteX49" fmla="*/ 388716 w 560604"/>
              <a:gd name="connsiteY49" fmla="*/ 438626 h 43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60604" h="438626">
                <a:moveTo>
                  <a:pt x="474014" y="279973"/>
                </a:moveTo>
                <a:cubicBezTo>
                  <a:pt x="459801" y="279973"/>
                  <a:pt x="446881" y="291574"/>
                  <a:pt x="446881" y="307041"/>
                </a:cubicBezTo>
                <a:cubicBezTo>
                  <a:pt x="446881" y="322508"/>
                  <a:pt x="459801" y="334108"/>
                  <a:pt x="474014" y="334108"/>
                </a:cubicBezTo>
                <a:cubicBezTo>
                  <a:pt x="489518" y="334108"/>
                  <a:pt x="502438" y="322508"/>
                  <a:pt x="502438" y="307041"/>
                </a:cubicBezTo>
                <a:cubicBezTo>
                  <a:pt x="502438" y="291574"/>
                  <a:pt x="489518" y="279973"/>
                  <a:pt x="474014" y="279973"/>
                </a:cubicBezTo>
                <a:close/>
                <a:moveTo>
                  <a:pt x="474014" y="263217"/>
                </a:moveTo>
                <a:cubicBezTo>
                  <a:pt x="498562" y="263217"/>
                  <a:pt x="517942" y="282551"/>
                  <a:pt x="517942" y="307041"/>
                </a:cubicBezTo>
                <a:cubicBezTo>
                  <a:pt x="517942" y="330241"/>
                  <a:pt x="498562" y="349575"/>
                  <a:pt x="474014" y="349575"/>
                </a:cubicBezTo>
                <a:cubicBezTo>
                  <a:pt x="450757" y="349575"/>
                  <a:pt x="431377" y="330241"/>
                  <a:pt x="431377" y="307041"/>
                </a:cubicBezTo>
                <a:cubicBezTo>
                  <a:pt x="431377" y="282551"/>
                  <a:pt x="450757" y="263217"/>
                  <a:pt x="474014" y="263217"/>
                </a:cubicBezTo>
                <a:close/>
                <a:moveTo>
                  <a:pt x="415845" y="158634"/>
                </a:moveTo>
                <a:lnTo>
                  <a:pt x="533475" y="158634"/>
                </a:lnTo>
                <a:lnTo>
                  <a:pt x="533475" y="179343"/>
                </a:lnTo>
                <a:lnTo>
                  <a:pt x="415845" y="179343"/>
                </a:lnTo>
                <a:close/>
                <a:moveTo>
                  <a:pt x="415845" y="123842"/>
                </a:moveTo>
                <a:lnTo>
                  <a:pt x="533475" y="123842"/>
                </a:lnTo>
                <a:lnTo>
                  <a:pt x="533475" y="144344"/>
                </a:lnTo>
                <a:lnTo>
                  <a:pt x="415845" y="144344"/>
                </a:lnTo>
                <a:close/>
                <a:moveTo>
                  <a:pt x="33591" y="122590"/>
                </a:moveTo>
                <a:lnTo>
                  <a:pt x="33591" y="330271"/>
                </a:lnTo>
                <a:lnTo>
                  <a:pt x="334622" y="330271"/>
                </a:lnTo>
                <a:lnTo>
                  <a:pt x="334622" y="122590"/>
                </a:lnTo>
                <a:close/>
                <a:moveTo>
                  <a:pt x="416052" y="89051"/>
                </a:moveTo>
                <a:lnTo>
                  <a:pt x="533474" y="89051"/>
                </a:lnTo>
                <a:lnTo>
                  <a:pt x="533474" y="109553"/>
                </a:lnTo>
                <a:lnTo>
                  <a:pt x="416052" y="109553"/>
                </a:lnTo>
                <a:close/>
                <a:moveTo>
                  <a:pt x="0" y="89051"/>
                </a:moveTo>
                <a:lnTo>
                  <a:pt x="368213" y="89051"/>
                </a:lnTo>
                <a:lnTo>
                  <a:pt x="368213" y="365099"/>
                </a:lnTo>
                <a:lnTo>
                  <a:pt x="220928" y="365099"/>
                </a:lnTo>
                <a:lnTo>
                  <a:pt x="220928" y="411537"/>
                </a:lnTo>
                <a:lnTo>
                  <a:pt x="258395" y="411537"/>
                </a:lnTo>
                <a:lnTo>
                  <a:pt x="258395" y="438626"/>
                </a:lnTo>
                <a:lnTo>
                  <a:pt x="109818" y="438626"/>
                </a:lnTo>
                <a:lnTo>
                  <a:pt x="109818" y="411537"/>
                </a:lnTo>
                <a:lnTo>
                  <a:pt x="147285" y="411537"/>
                </a:lnTo>
                <a:lnTo>
                  <a:pt x="147285" y="365099"/>
                </a:lnTo>
                <a:lnTo>
                  <a:pt x="0" y="365099"/>
                </a:lnTo>
                <a:close/>
                <a:moveTo>
                  <a:pt x="415845" y="29615"/>
                </a:moveTo>
                <a:lnTo>
                  <a:pt x="533475" y="29615"/>
                </a:lnTo>
                <a:lnTo>
                  <a:pt x="533475" y="74762"/>
                </a:lnTo>
                <a:lnTo>
                  <a:pt x="415845" y="74762"/>
                </a:lnTo>
                <a:close/>
                <a:moveTo>
                  <a:pt x="405517" y="18061"/>
                </a:moveTo>
                <a:lnTo>
                  <a:pt x="405517" y="421855"/>
                </a:lnTo>
                <a:lnTo>
                  <a:pt x="543803" y="421855"/>
                </a:lnTo>
                <a:lnTo>
                  <a:pt x="543803" y="18061"/>
                </a:lnTo>
                <a:close/>
                <a:moveTo>
                  <a:pt x="388716" y="0"/>
                </a:moveTo>
                <a:lnTo>
                  <a:pt x="560604" y="0"/>
                </a:lnTo>
                <a:lnTo>
                  <a:pt x="560604" y="438626"/>
                </a:lnTo>
                <a:lnTo>
                  <a:pt x="388716" y="438626"/>
                </a:lnTo>
                <a:close/>
              </a:path>
            </a:pathLst>
          </a:cu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等线" panose="020F0502020204030204"/>
              <a:ea typeface="+mn-ea"/>
              <a:cs typeface="+mn-cs"/>
            </a:endParaRPr>
          </a:p>
        </p:txBody>
      </p:sp>
      <p:sp>
        <p:nvSpPr>
          <p:cNvPr id="52" name="矩形: 圆角 51">
            <a:extLst>
              <a:ext uri="{FF2B5EF4-FFF2-40B4-BE49-F238E27FC236}">
                <a16:creationId xmlns:a16="http://schemas.microsoft.com/office/drawing/2014/main" id="{AEA611ED-06EA-445E-86A5-46CAC9870461}"/>
              </a:ext>
            </a:extLst>
          </p:cNvPr>
          <p:cNvSpPr/>
          <p:nvPr/>
        </p:nvSpPr>
        <p:spPr>
          <a:xfrm>
            <a:off x="4208110" y="951393"/>
            <a:ext cx="3630468" cy="353787"/>
          </a:xfrm>
          <a:prstGeom prst="roundRect">
            <a:avLst/>
          </a:prstGeom>
          <a:solidFill>
            <a:srgbClr val="ED7D31">
              <a:lumMod val="20000"/>
              <a:lumOff val="80000"/>
            </a:srgbClr>
          </a:solidFill>
          <a:ln w="12700" cap="flat" cmpd="sng" algn="ctr">
            <a:solidFill>
              <a:srgbClr val="ED7D31">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应用程序</a:t>
            </a:r>
          </a:p>
        </p:txBody>
      </p:sp>
      <p:sp>
        <p:nvSpPr>
          <p:cNvPr id="56" name="矩形: 圆角 55">
            <a:extLst>
              <a:ext uri="{FF2B5EF4-FFF2-40B4-BE49-F238E27FC236}">
                <a16:creationId xmlns:a16="http://schemas.microsoft.com/office/drawing/2014/main" id="{CBAC127C-1C1A-4FF4-850B-8733AB08D494}"/>
              </a:ext>
            </a:extLst>
          </p:cNvPr>
          <p:cNvSpPr/>
          <p:nvPr/>
        </p:nvSpPr>
        <p:spPr>
          <a:xfrm>
            <a:off x="4217974" y="1441818"/>
            <a:ext cx="3630468" cy="353787"/>
          </a:xfrm>
          <a:prstGeom prst="roundRect">
            <a:avLst/>
          </a:prstGeom>
          <a:solidFill>
            <a:srgbClr val="ED7D31">
              <a:lumMod val="20000"/>
              <a:lumOff val="80000"/>
            </a:srgbClr>
          </a:solidFill>
          <a:ln w="12700" cap="flat" cmpd="sng" algn="ctr">
            <a:solidFill>
              <a:srgbClr val="ED7D31">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协议栈</a:t>
            </a:r>
          </a:p>
        </p:txBody>
      </p:sp>
      <p:sp>
        <p:nvSpPr>
          <p:cNvPr id="58" name="矩形: 圆角 57">
            <a:extLst>
              <a:ext uri="{FF2B5EF4-FFF2-40B4-BE49-F238E27FC236}">
                <a16:creationId xmlns:a16="http://schemas.microsoft.com/office/drawing/2014/main" id="{FAB304A5-DE8E-476D-895E-3814E3ED27A9}"/>
              </a:ext>
            </a:extLst>
          </p:cNvPr>
          <p:cNvSpPr/>
          <p:nvPr/>
        </p:nvSpPr>
        <p:spPr>
          <a:xfrm>
            <a:off x="4208110" y="1932243"/>
            <a:ext cx="3630468" cy="353787"/>
          </a:xfrm>
          <a:prstGeom prst="roundRect">
            <a:avLst/>
          </a:prstGeom>
          <a:solidFill>
            <a:srgbClr val="ED7D31">
              <a:lumMod val="20000"/>
              <a:lumOff val="80000"/>
            </a:srgbClr>
          </a:solidFill>
          <a:ln w="12700" cap="flat" cmpd="sng" algn="ctr">
            <a:solidFill>
              <a:srgbClr val="ED7D31">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网卡驱动</a:t>
            </a:r>
          </a:p>
        </p:txBody>
      </p:sp>
      <p:sp>
        <p:nvSpPr>
          <p:cNvPr id="59" name="矩形: 圆角 58">
            <a:extLst>
              <a:ext uri="{FF2B5EF4-FFF2-40B4-BE49-F238E27FC236}">
                <a16:creationId xmlns:a16="http://schemas.microsoft.com/office/drawing/2014/main" id="{E1AD5174-3F96-4880-850D-58756EC19A68}"/>
              </a:ext>
            </a:extLst>
          </p:cNvPr>
          <p:cNvSpPr/>
          <p:nvPr/>
        </p:nvSpPr>
        <p:spPr>
          <a:xfrm>
            <a:off x="4208110" y="2422668"/>
            <a:ext cx="3630468" cy="353787"/>
          </a:xfrm>
          <a:prstGeom prst="roundRect">
            <a:avLst/>
          </a:prstGeom>
          <a:solidFill>
            <a:srgbClr val="ED7D31">
              <a:lumMod val="20000"/>
              <a:lumOff val="80000"/>
            </a:srgbClr>
          </a:solidFill>
          <a:ln w="12700" cap="flat" cmpd="sng" algn="ctr">
            <a:solidFill>
              <a:srgbClr val="ED7D31">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扩展总线接口</a:t>
            </a:r>
          </a:p>
        </p:txBody>
      </p:sp>
      <p:sp>
        <p:nvSpPr>
          <p:cNvPr id="60" name="矩形 59">
            <a:extLst>
              <a:ext uri="{FF2B5EF4-FFF2-40B4-BE49-F238E27FC236}">
                <a16:creationId xmlns:a16="http://schemas.microsoft.com/office/drawing/2014/main" id="{623E9248-3B05-4C34-A704-24BEA8DA74D0}"/>
              </a:ext>
            </a:extLst>
          </p:cNvPr>
          <p:cNvSpPr/>
          <p:nvPr/>
        </p:nvSpPr>
        <p:spPr>
          <a:xfrm>
            <a:off x="5326528" y="3124208"/>
            <a:ext cx="1450323" cy="533386"/>
          </a:xfrm>
          <a:prstGeom prst="rect">
            <a:avLst/>
          </a:prstGeom>
          <a:solidFill>
            <a:srgbClr val="C1E0FF"/>
          </a:solidFill>
          <a:ln w="12700" cap="flat" cmpd="sng" algn="ctr">
            <a:solidFill>
              <a:srgbClr val="00B0F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70AD47">
                    <a:lumMod val="50000"/>
                  </a:srgbClr>
                </a:solidFill>
                <a:effectLst/>
                <a:uLnTx/>
                <a:uFillTx/>
                <a:latin typeface="微软雅黑" panose="020B0503020204020204" pitchFamily="34" charset="-122"/>
                <a:ea typeface="微软雅黑" panose="020B0503020204020204" pitchFamily="34" charset="-122"/>
                <a:cs typeface="+mn-cs"/>
              </a:rPr>
              <a:t>缓冲区</a:t>
            </a:r>
          </a:p>
        </p:txBody>
      </p:sp>
      <p:sp>
        <p:nvSpPr>
          <p:cNvPr id="61" name="矩形 60">
            <a:extLst>
              <a:ext uri="{FF2B5EF4-FFF2-40B4-BE49-F238E27FC236}">
                <a16:creationId xmlns:a16="http://schemas.microsoft.com/office/drawing/2014/main" id="{E1F6A8F4-8BAF-457A-94EF-C9402110D0A0}"/>
              </a:ext>
            </a:extLst>
          </p:cNvPr>
          <p:cNvSpPr/>
          <p:nvPr/>
        </p:nvSpPr>
        <p:spPr>
          <a:xfrm>
            <a:off x="5326528" y="3945226"/>
            <a:ext cx="1450323" cy="533386"/>
          </a:xfrm>
          <a:prstGeom prst="rect">
            <a:avLst/>
          </a:prstGeom>
          <a:solidFill>
            <a:srgbClr val="C1E0FF"/>
          </a:solidFill>
          <a:ln w="12700" cap="flat" cmpd="sng" algn="ctr">
            <a:solidFill>
              <a:srgbClr val="00B0F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70AD47">
                    <a:lumMod val="50000"/>
                  </a:srgbClr>
                </a:solidFill>
                <a:effectLst/>
                <a:uLnTx/>
                <a:uFillTx/>
                <a:latin typeface="微软雅黑" panose="020B0503020204020204" pitchFamily="34" charset="-122"/>
                <a:ea typeface="微软雅黑" panose="020B0503020204020204" pitchFamily="34" charset="-122"/>
                <a:cs typeface="+mn-cs"/>
              </a:rPr>
              <a:t>MAC</a:t>
            </a:r>
            <a:endParaRPr kumimoji="0" lang="zh-CN" altLang="en-US" sz="1200" b="0" i="0" u="none" strike="noStrike" kern="0" cap="none" spc="0" normalizeH="0" baseline="0" noProof="0" dirty="0">
              <a:ln>
                <a:noFill/>
              </a:ln>
              <a:solidFill>
                <a:srgbClr val="70AD47">
                  <a:lumMod val="50000"/>
                </a:srgbClr>
              </a:solidFill>
              <a:effectLst/>
              <a:uLnTx/>
              <a:uFillTx/>
              <a:latin typeface="微软雅黑" panose="020B0503020204020204" pitchFamily="34" charset="-122"/>
              <a:ea typeface="微软雅黑" panose="020B0503020204020204" pitchFamily="34" charset="-122"/>
              <a:cs typeface="+mn-cs"/>
            </a:endParaRPr>
          </a:p>
        </p:txBody>
      </p:sp>
      <p:sp>
        <p:nvSpPr>
          <p:cNvPr id="62" name="矩形 61">
            <a:extLst>
              <a:ext uri="{FF2B5EF4-FFF2-40B4-BE49-F238E27FC236}">
                <a16:creationId xmlns:a16="http://schemas.microsoft.com/office/drawing/2014/main" id="{8131EC03-5A89-4CCA-A43D-39FCEE35BB3E}"/>
              </a:ext>
            </a:extLst>
          </p:cNvPr>
          <p:cNvSpPr/>
          <p:nvPr/>
        </p:nvSpPr>
        <p:spPr>
          <a:xfrm>
            <a:off x="5331344" y="5635732"/>
            <a:ext cx="1450326" cy="533386"/>
          </a:xfrm>
          <a:prstGeom prst="rect">
            <a:avLst/>
          </a:prstGeom>
          <a:solidFill>
            <a:srgbClr val="C1E0FF"/>
          </a:solidFill>
          <a:ln w="12700" cap="flat" cmpd="sng" algn="ctr">
            <a:solidFill>
              <a:srgbClr val="00B0F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70AD47">
                    <a:lumMod val="50000"/>
                  </a:srgbClr>
                </a:solidFill>
                <a:effectLst/>
                <a:uLnTx/>
                <a:uFillTx/>
                <a:latin typeface="微软雅黑" panose="020B0503020204020204" pitchFamily="34" charset="-122"/>
                <a:ea typeface="微软雅黑" panose="020B0503020204020204" pitchFamily="34" charset="-122"/>
                <a:cs typeface="+mn-cs"/>
              </a:rPr>
              <a:t>RJ-45</a:t>
            </a:r>
            <a:r>
              <a:rPr kumimoji="0" lang="zh-CN" altLang="en-US" sz="1200" b="0" i="0" u="none" strike="noStrike" kern="0" cap="none" spc="0" normalizeH="0" baseline="0" noProof="0" dirty="0">
                <a:ln>
                  <a:noFill/>
                </a:ln>
                <a:solidFill>
                  <a:srgbClr val="70AD47">
                    <a:lumMod val="50000"/>
                  </a:srgbClr>
                </a:solidFill>
                <a:effectLst/>
                <a:uLnTx/>
                <a:uFillTx/>
                <a:latin typeface="微软雅黑" panose="020B0503020204020204" pitchFamily="34" charset="-122"/>
                <a:ea typeface="微软雅黑" panose="020B0503020204020204" pitchFamily="34" charset="-122"/>
                <a:cs typeface="+mn-cs"/>
              </a:rPr>
              <a:t>接口</a:t>
            </a:r>
          </a:p>
        </p:txBody>
      </p:sp>
      <p:sp>
        <p:nvSpPr>
          <p:cNvPr id="63" name="矩形 62">
            <a:extLst>
              <a:ext uri="{FF2B5EF4-FFF2-40B4-BE49-F238E27FC236}">
                <a16:creationId xmlns:a16="http://schemas.microsoft.com/office/drawing/2014/main" id="{999A1723-4214-422F-9A05-F38DEE804BEB}"/>
              </a:ext>
            </a:extLst>
          </p:cNvPr>
          <p:cNvSpPr/>
          <p:nvPr/>
        </p:nvSpPr>
        <p:spPr>
          <a:xfrm>
            <a:off x="4455158" y="3945227"/>
            <a:ext cx="650153" cy="321973"/>
          </a:xfrm>
          <a:prstGeom prst="rect">
            <a:avLst/>
          </a:prstGeom>
          <a:solidFill>
            <a:srgbClr val="C1E0FF"/>
          </a:solidFill>
          <a:ln w="12700" cap="flat" cmpd="sng" algn="ctr">
            <a:solidFill>
              <a:srgbClr val="00B0F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70AD47">
                    <a:lumMod val="50000"/>
                  </a:srgbClr>
                </a:solidFill>
                <a:effectLst/>
                <a:uLnTx/>
                <a:uFillTx/>
                <a:latin typeface="微软雅黑" panose="020B0503020204020204" pitchFamily="34" charset="-122"/>
                <a:ea typeface="微软雅黑" panose="020B0503020204020204" pitchFamily="34" charset="-122"/>
                <a:cs typeface="+mn-cs"/>
              </a:rPr>
              <a:t>ROM</a:t>
            </a:r>
            <a:endParaRPr kumimoji="0" lang="zh-CN" altLang="en-US" sz="1200" b="0" i="0" u="none" strike="noStrike" kern="0" cap="none" spc="0" normalizeH="0" baseline="0" noProof="0" dirty="0">
              <a:ln>
                <a:noFill/>
              </a:ln>
              <a:solidFill>
                <a:srgbClr val="70AD47">
                  <a:lumMod val="50000"/>
                </a:srgbClr>
              </a:solidFill>
              <a:effectLst/>
              <a:uLnTx/>
              <a:uFillTx/>
              <a:latin typeface="微软雅黑" panose="020B0503020204020204" pitchFamily="34" charset="-122"/>
              <a:ea typeface="微软雅黑" panose="020B0503020204020204" pitchFamily="34" charset="-122"/>
              <a:cs typeface="+mn-cs"/>
            </a:endParaRPr>
          </a:p>
        </p:txBody>
      </p:sp>
      <p:sp>
        <p:nvSpPr>
          <p:cNvPr id="64" name="等腰三角形 63">
            <a:extLst>
              <a:ext uri="{FF2B5EF4-FFF2-40B4-BE49-F238E27FC236}">
                <a16:creationId xmlns:a16="http://schemas.microsoft.com/office/drawing/2014/main" id="{6697279F-D27E-4F66-9A67-401538421A80}"/>
              </a:ext>
            </a:extLst>
          </p:cNvPr>
          <p:cNvSpPr/>
          <p:nvPr/>
        </p:nvSpPr>
        <p:spPr>
          <a:xfrm rot="16200000">
            <a:off x="2368335" y="4226425"/>
            <a:ext cx="3082524" cy="504089"/>
          </a:xfrm>
          <a:prstGeom prst="triangle">
            <a:avLst>
              <a:gd name="adj" fmla="val 89924"/>
            </a:avLst>
          </a:prstGeom>
          <a:gradFill>
            <a:gsLst>
              <a:gs pos="0">
                <a:srgbClr val="DFE7F5"/>
              </a:gs>
              <a:gs pos="50000">
                <a:srgbClr val="B6C8E8"/>
              </a:gs>
              <a:gs pos="70000">
                <a:srgbClr val="C2D1EC"/>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5" name="等腰三角形 64">
            <a:extLst>
              <a:ext uri="{FF2B5EF4-FFF2-40B4-BE49-F238E27FC236}">
                <a16:creationId xmlns:a16="http://schemas.microsoft.com/office/drawing/2014/main" id="{1AADB134-8860-4F93-9876-41D203329ACB}"/>
              </a:ext>
            </a:extLst>
          </p:cNvPr>
          <p:cNvSpPr/>
          <p:nvPr/>
        </p:nvSpPr>
        <p:spPr>
          <a:xfrm rot="6684520">
            <a:off x="3406932" y="1592817"/>
            <a:ext cx="1568675" cy="579534"/>
          </a:xfrm>
          <a:prstGeom prst="triangle">
            <a:avLst>
              <a:gd name="adj" fmla="val 100000"/>
            </a:avLst>
          </a:prstGeom>
          <a:gradFill>
            <a:gsLst>
              <a:gs pos="0">
                <a:srgbClr val="FBE5D6">
                  <a:alpha val="62000"/>
                  <a:lumMod val="49000"/>
                  <a:lumOff val="51000"/>
                </a:srgbClr>
              </a:gs>
              <a:gs pos="59000">
                <a:srgbClr val="FBE5D6">
                  <a:lumMod val="84000"/>
                  <a:lumOff val="16000"/>
                </a:srgbClr>
              </a:gs>
              <a:gs pos="83000">
                <a:srgbClr val="FBE5D6"/>
              </a:gs>
              <a:gs pos="100000">
                <a:srgbClr val="FBE5D6">
                  <a:lumMod val="58000"/>
                  <a:lumOff val="42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6" name="文本框 65">
            <a:extLst>
              <a:ext uri="{FF2B5EF4-FFF2-40B4-BE49-F238E27FC236}">
                <a16:creationId xmlns:a16="http://schemas.microsoft.com/office/drawing/2014/main" id="{4E2ECC01-F403-4915-9F68-507F700143F8}"/>
              </a:ext>
            </a:extLst>
          </p:cNvPr>
          <p:cNvSpPr txBox="1"/>
          <p:nvPr/>
        </p:nvSpPr>
        <p:spPr>
          <a:xfrm>
            <a:off x="6963055" y="3235829"/>
            <a:ext cx="2632945" cy="276999"/>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用于临时保存要收发的包的内存空间</a:t>
            </a:r>
          </a:p>
        </p:txBody>
      </p:sp>
      <p:sp>
        <p:nvSpPr>
          <p:cNvPr id="67" name="文本框 66">
            <a:extLst>
              <a:ext uri="{FF2B5EF4-FFF2-40B4-BE49-F238E27FC236}">
                <a16:creationId xmlns:a16="http://schemas.microsoft.com/office/drawing/2014/main" id="{1432ED8A-6303-4E6B-A4BD-39169CF7E892}"/>
              </a:ext>
            </a:extLst>
          </p:cNvPr>
          <p:cNvSpPr txBox="1"/>
          <p:nvPr/>
        </p:nvSpPr>
        <p:spPr>
          <a:xfrm>
            <a:off x="6998068" y="4063220"/>
            <a:ext cx="3392042" cy="276999"/>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控制冲突检测、重发等以太网收发操作的部分</a:t>
            </a:r>
          </a:p>
        </p:txBody>
      </p:sp>
      <p:sp>
        <p:nvSpPr>
          <p:cNvPr id="68" name="文本框 67">
            <a:extLst>
              <a:ext uri="{FF2B5EF4-FFF2-40B4-BE49-F238E27FC236}">
                <a16:creationId xmlns:a16="http://schemas.microsoft.com/office/drawing/2014/main" id="{594CD93E-D1D5-4C7E-9784-201359F7C853}"/>
              </a:ext>
            </a:extLst>
          </p:cNvPr>
          <p:cNvSpPr txBox="1"/>
          <p:nvPr/>
        </p:nvSpPr>
        <p:spPr>
          <a:xfrm>
            <a:off x="7047174" y="4915779"/>
            <a:ext cx="1791842" cy="276999"/>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发送和接收信号的电路</a:t>
            </a:r>
          </a:p>
        </p:txBody>
      </p:sp>
      <p:sp>
        <p:nvSpPr>
          <p:cNvPr id="69" name="文本框 68">
            <a:extLst>
              <a:ext uri="{FF2B5EF4-FFF2-40B4-BE49-F238E27FC236}">
                <a16:creationId xmlns:a16="http://schemas.microsoft.com/office/drawing/2014/main" id="{3E320AD0-52D8-4E86-A542-78871AEB9892}"/>
              </a:ext>
            </a:extLst>
          </p:cNvPr>
          <p:cNvSpPr txBox="1"/>
          <p:nvPr/>
        </p:nvSpPr>
        <p:spPr>
          <a:xfrm>
            <a:off x="7047174" y="5785694"/>
            <a:ext cx="1791842" cy="276999"/>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连接网线的插座</a:t>
            </a:r>
          </a:p>
        </p:txBody>
      </p:sp>
      <p:cxnSp>
        <p:nvCxnSpPr>
          <p:cNvPr id="70" name="直接连接符 69">
            <a:extLst>
              <a:ext uri="{FF2B5EF4-FFF2-40B4-BE49-F238E27FC236}">
                <a16:creationId xmlns:a16="http://schemas.microsoft.com/office/drawing/2014/main" id="{231AABB2-2343-4771-97C5-BC663B3C8482}"/>
              </a:ext>
            </a:extLst>
          </p:cNvPr>
          <p:cNvCxnSpPr/>
          <p:nvPr/>
        </p:nvCxnSpPr>
        <p:spPr>
          <a:xfrm>
            <a:off x="5638700" y="4478612"/>
            <a:ext cx="0" cy="1157120"/>
          </a:xfrm>
          <a:prstGeom prst="line">
            <a:avLst/>
          </a:prstGeom>
          <a:noFill/>
          <a:ln w="28575" cap="flat" cmpd="sng" algn="ctr">
            <a:solidFill>
              <a:sysClr val="windowText" lastClr="000000"/>
            </a:solidFill>
            <a:prstDash val="solid"/>
            <a:miter lim="800000"/>
          </a:ln>
          <a:effectLst/>
        </p:spPr>
      </p:cxnSp>
      <p:cxnSp>
        <p:nvCxnSpPr>
          <p:cNvPr id="71" name="直接连接符 70">
            <a:extLst>
              <a:ext uri="{FF2B5EF4-FFF2-40B4-BE49-F238E27FC236}">
                <a16:creationId xmlns:a16="http://schemas.microsoft.com/office/drawing/2014/main" id="{8F2BCF1C-99C4-41A1-B096-F4D79B5B0CE3}"/>
              </a:ext>
            </a:extLst>
          </p:cNvPr>
          <p:cNvCxnSpPr/>
          <p:nvPr/>
        </p:nvCxnSpPr>
        <p:spPr>
          <a:xfrm>
            <a:off x="6476878" y="4478612"/>
            <a:ext cx="0" cy="1157120"/>
          </a:xfrm>
          <a:prstGeom prst="line">
            <a:avLst/>
          </a:prstGeom>
          <a:noFill/>
          <a:ln w="28575" cap="flat" cmpd="sng" algn="ctr">
            <a:solidFill>
              <a:sysClr val="windowText" lastClr="000000"/>
            </a:solidFill>
            <a:prstDash val="solid"/>
            <a:miter lim="800000"/>
          </a:ln>
          <a:effectLst/>
        </p:spPr>
      </p:cxnSp>
      <p:sp>
        <p:nvSpPr>
          <p:cNvPr id="72" name="矩形 71">
            <a:extLst>
              <a:ext uri="{FF2B5EF4-FFF2-40B4-BE49-F238E27FC236}">
                <a16:creationId xmlns:a16="http://schemas.microsoft.com/office/drawing/2014/main" id="{D730ADD1-81FA-4566-AAC2-310168B14055}"/>
              </a:ext>
            </a:extLst>
          </p:cNvPr>
          <p:cNvSpPr/>
          <p:nvPr/>
        </p:nvSpPr>
        <p:spPr>
          <a:xfrm>
            <a:off x="5326528" y="4790479"/>
            <a:ext cx="1450323" cy="533386"/>
          </a:xfrm>
          <a:prstGeom prst="rect">
            <a:avLst/>
          </a:prstGeom>
          <a:solidFill>
            <a:srgbClr val="C1E0FF"/>
          </a:solidFill>
          <a:ln w="12700" cap="flat" cmpd="sng" algn="ctr">
            <a:solidFill>
              <a:srgbClr val="00B0F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70AD47">
                    <a:lumMod val="50000"/>
                  </a:srgbClr>
                </a:solidFill>
                <a:effectLst/>
                <a:uLnTx/>
                <a:uFillTx/>
                <a:latin typeface="微软雅黑" panose="020B0503020204020204" pitchFamily="34" charset="-122"/>
                <a:ea typeface="微软雅黑" panose="020B0503020204020204" pitchFamily="34" charset="-122"/>
                <a:cs typeface="+mn-cs"/>
              </a:rPr>
              <a:t>PHY (MAU)</a:t>
            </a:r>
            <a:endParaRPr kumimoji="0" lang="zh-CN" altLang="en-US" sz="1200" b="0" i="0" u="none" strike="noStrike" kern="0" cap="none" spc="0" normalizeH="0" baseline="0" noProof="0" dirty="0">
              <a:ln>
                <a:noFill/>
              </a:ln>
              <a:solidFill>
                <a:srgbClr val="70AD47">
                  <a:lumMod val="50000"/>
                </a:srgbClr>
              </a:solidFill>
              <a:effectLst/>
              <a:uLnTx/>
              <a:uFillTx/>
              <a:latin typeface="微软雅黑" panose="020B0503020204020204" pitchFamily="34" charset="-122"/>
              <a:ea typeface="微软雅黑" panose="020B0503020204020204" pitchFamily="34" charset="-122"/>
              <a:cs typeface="+mn-cs"/>
            </a:endParaRPr>
          </a:p>
        </p:txBody>
      </p:sp>
      <p:cxnSp>
        <p:nvCxnSpPr>
          <p:cNvPr id="73" name="直接连接符 72">
            <a:extLst>
              <a:ext uri="{FF2B5EF4-FFF2-40B4-BE49-F238E27FC236}">
                <a16:creationId xmlns:a16="http://schemas.microsoft.com/office/drawing/2014/main" id="{73404E3F-9609-4E20-B640-3D537EECDEB2}"/>
              </a:ext>
            </a:extLst>
          </p:cNvPr>
          <p:cNvCxnSpPr>
            <a:cxnSpLocks/>
            <a:stCxn id="60" idx="2"/>
            <a:endCxn id="61" idx="0"/>
          </p:cNvCxnSpPr>
          <p:nvPr/>
        </p:nvCxnSpPr>
        <p:spPr>
          <a:xfrm>
            <a:off x="6051690" y="3657594"/>
            <a:ext cx="0" cy="287632"/>
          </a:xfrm>
          <a:prstGeom prst="line">
            <a:avLst/>
          </a:prstGeom>
          <a:noFill/>
          <a:ln w="28575" cap="flat" cmpd="sng" algn="ctr">
            <a:solidFill>
              <a:sysClr val="windowText" lastClr="000000"/>
            </a:solidFill>
            <a:prstDash val="solid"/>
            <a:miter lim="800000"/>
          </a:ln>
          <a:effectLst/>
        </p:spPr>
      </p:cxnSp>
      <p:sp>
        <p:nvSpPr>
          <p:cNvPr id="74" name="文本框 73">
            <a:extLst>
              <a:ext uri="{FF2B5EF4-FFF2-40B4-BE49-F238E27FC236}">
                <a16:creationId xmlns:a16="http://schemas.microsoft.com/office/drawing/2014/main" id="{EB0F0A85-7362-45AA-B557-D15934280B04}"/>
              </a:ext>
            </a:extLst>
          </p:cNvPr>
          <p:cNvSpPr txBox="1"/>
          <p:nvPr/>
        </p:nvSpPr>
        <p:spPr>
          <a:xfrm>
            <a:off x="4246213" y="2980814"/>
            <a:ext cx="668606" cy="276999"/>
          </a:xfrm>
          <a:prstGeom prst="rect">
            <a:avLst/>
          </a:prstGeom>
          <a:noFill/>
        </p:spPr>
        <p:txBody>
          <a:bodyPr wrap="square" rtlCol="0">
            <a:spAutoFit/>
          </a:bodyPr>
          <a:lstStyle/>
          <a:p>
            <a:r>
              <a:rPr lang="zh-CN" altLang="en-US" sz="1200" dirty="0">
                <a:solidFill>
                  <a:prstClr val="black"/>
                </a:solidFill>
                <a:latin typeface="微软雅黑" panose="020B0503020204020204" pitchFamily="34" charset="-122"/>
                <a:ea typeface="微软雅黑" panose="020B0503020204020204" pitchFamily="34" charset="-122"/>
              </a:rPr>
              <a:t>网卡</a:t>
            </a:r>
          </a:p>
        </p:txBody>
      </p:sp>
      <p:sp>
        <p:nvSpPr>
          <p:cNvPr id="75" name="文本框 74">
            <a:extLst>
              <a:ext uri="{FF2B5EF4-FFF2-40B4-BE49-F238E27FC236}">
                <a16:creationId xmlns:a16="http://schemas.microsoft.com/office/drawing/2014/main" id="{8B29D746-FC9B-4FF4-8EB1-43D7DE32BCBE}"/>
              </a:ext>
            </a:extLst>
          </p:cNvPr>
          <p:cNvSpPr txBox="1"/>
          <p:nvPr/>
        </p:nvSpPr>
        <p:spPr>
          <a:xfrm>
            <a:off x="4294176" y="4253029"/>
            <a:ext cx="972115" cy="461665"/>
          </a:xfrm>
          <a:prstGeom prst="rect">
            <a:avLst/>
          </a:prstGeom>
          <a:noFill/>
        </p:spPr>
        <p:txBody>
          <a:bodyPr wrap="square" rtlCol="0">
            <a:spAutoFit/>
          </a:bodyPr>
          <a:lstStyle/>
          <a:p>
            <a:pPr algn="ctr"/>
            <a:r>
              <a:rPr lang="zh-CN" altLang="en-US" sz="1200" b="0" dirty="0">
                <a:solidFill>
                  <a:prstClr val="black"/>
                </a:solidFill>
                <a:latin typeface="微软雅黑" panose="020B0503020204020204" pitchFamily="34" charset="-122"/>
                <a:ea typeface="微软雅黑" panose="020B0503020204020204" pitchFamily="34" charset="-122"/>
              </a:rPr>
              <a:t>存放</a:t>
            </a:r>
            <a:endParaRPr lang="en-US" altLang="zh-CN" sz="1200" b="0" dirty="0">
              <a:solidFill>
                <a:prstClr val="black"/>
              </a:solidFill>
              <a:latin typeface="微软雅黑" panose="020B0503020204020204" pitchFamily="34" charset="-122"/>
              <a:ea typeface="微软雅黑" panose="020B0503020204020204" pitchFamily="34" charset="-122"/>
            </a:endParaRPr>
          </a:p>
          <a:p>
            <a:pPr algn="ctr"/>
            <a:r>
              <a:rPr lang="en-US" altLang="zh-CN" sz="1200" dirty="0">
                <a:solidFill>
                  <a:srgbClr val="558ED5"/>
                </a:solidFill>
                <a:latin typeface="微软雅黑" panose="020B0503020204020204" pitchFamily="34" charset="-122"/>
                <a:ea typeface="微软雅黑" panose="020B0503020204020204" pitchFamily="34" charset="-122"/>
              </a:rPr>
              <a:t>MAC</a:t>
            </a:r>
            <a:r>
              <a:rPr lang="zh-CN" altLang="en-US" sz="1200" dirty="0">
                <a:solidFill>
                  <a:srgbClr val="558ED5"/>
                </a:solidFill>
                <a:latin typeface="微软雅黑" panose="020B0503020204020204" pitchFamily="34" charset="-122"/>
                <a:ea typeface="微软雅黑" panose="020B0503020204020204" pitchFamily="34" charset="-122"/>
              </a:rPr>
              <a:t>地址</a:t>
            </a:r>
          </a:p>
        </p:txBody>
      </p:sp>
      <p:sp>
        <p:nvSpPr>
          <p:cNvPr id="76" name="文本框 75">
            <a:extLst>
              <a:ext uri="{FF2B5EF4-FFF2-40B4-BE49-F238E27FC236}">
                <a16:creationId xmlns:a16="http://schemas.microsoft.com/office/drawing/2014/main" id="{A747E962-E80A-4AFD-B81B-20433B39940E}"/>
              </a:ext>
            </a:extLst>
          </p:cNvPr>
          <p:cNvSpPr txBox="1"/>
          <p:nvPr/>
        </p:nvSpPr>
        <p:spPr>
          <a:xfrm>
            <a:off x="4204188" y="5353038"/>
            <a:ext cx="1192669" cy="276999"/>
          </a:xfrm>
          <a:prstGeom prst="rect">
            <a:avLst/>
          </a:prstGeom>
          <a:noFill/>
        </p:spPr>
        <p:txBody>
          <a:bodyPr wrap="square" rtlCol="0">
            <a:spAutoFit/>
          </a:bodyPr>
          <a:lstStyle/>
          <a:p>
            <a:r>
              <a:rPr lang="zh-CN" altLang="en-US" sz="1200" b="0" dirty="0">
                <a:solidFill>
                  <a:prstClr val="black"/>
                </a:solidFill>
                <a:latin typeface="微软雅黑" panose="020B0503020204020204" pitchFamily="34" charset="-122"/>
                <a:ea typeface="微软雅黑" panose="020B0503020204020204" pitchFamily="34" charset="-122"/>
              </a:rPr>
              <a:t>发送用信号线</a:t>
            </a:r>
          </a:p>
        </p:txBody>
      </p:sp>
      <p:sp>
        <p:nvSpPr>
          <p:cNvPr id="77" name="文本框 76">
            <a:extLst>
              <a:ext uri="{FF2B5EF4-FFF2-40B4-BE49-F238E27FC236}">
                <a16:creationId xmlns:a16="http://schemas.microsoft.com/office/drawing/2014/main" id="{20AC700E-C370-4A81-B09A-85CA959AF8A7}"/>
              </a:ext>
            </a:extLst>
          </p:cNvPr>
          <p:cNvSpPr txBox="1"/>
          <p:nvPr/>
        </p:nvSpPr>
        <p:spPr>
          <a:xfrm>
            <a:off x="6781671" y="5343323"/>
            <a:ext cx="1219168" cy="276999"/>
          </a:xfrm>
          <a:prstGeom prst="rect">
            <a:avLst/>
          </a:prstGeom>
          <a:noFill/>
        </p:spPr>
        <p:txBody>
          <a:bodyPr wrap="square" rtlCol="0">
            <a:spAutoFit/>
          </a:bodyPr>
          <a:lstStyle/>
          <a:p>
            <a:r>
              <a:rPr lang="zh-CN" altLang="en-US" sz="1200" b="0" dirty="0">
                <a:solidFill>
                  <a:prstClr val="black"/>
                </a:solidFill>
                <a:latin typeface="微软雅黑" panose="020B0503020204020204" pitchFamily="34" charset="-122"/>
                <a:ea typeface="微软雅黑" panose="020B0503020204020204" pitchFamily="34" charset="-122"/>
              </a:rPr>
              <a:t>接收用信号线</a:t>
            </a:r>
          </a:p>
        </p:txBody>
      </p:sp>
      <p:cxnSp>
        <p:nvCxnSpPr>
          <p:cNvPr id="78" name="直接连接符 77">
            <a:extLst>
              <a:ext uri="{FF2B5EF4-FFF2-40B4-BE49-F238E27FC236}">
                <a16:creationId xmlns:a16="http://schemas.microsoft.com/office/drawing/2014/main" id="{9395B2BD-60F3-444B-88B9-F951EBC0560B}"/>
              </a:ext>
            </a:extLst>
          </p:cNvPr>
          <p:cNvCxnSpPr/>
          <p:nvPr/>
        </p:nvCxnSpPr>
        <p:spPr>
          <a:xfrm>
            <a:off x="5266291" y="5491537"/>
            <a:ext cx="372409" cy="0"/>
          </a:xfrm>
          <a:prstGeom prst="line">
            <a:avLst/>
          </a:prstGeom>
          <a:noFill/>
          <a:ln w="19050" cap="flat" cmpd="sng" algn="ctr">
            <a:solidFill>
              <a:srgbClr val="00B0F0"/>
            </a:solidFill>
            <a:prstDash val="sysDash"/>
            <a:miter lim="800000"/>
            <a:tailEnd type="oval"/>
          </a:ln>
          <a:effectLst/>
        </p:spPr>
      </p:cxnSp>
      <p:cxnSp>
        <p:nvCxnSpPr>
          <p:cNvPr id="79" name="直接连接符 78">
            <a:extLst>
              <a:ext uri="{FF2B5EF4-FFF2-40B4-BE49-F238E27FC236}">
                <a16:creationId xmlns:a16="http://schemas.microsoft.com/office/drawing/2014/main" id="{1449EC49-9901-455D-AED9-D8848A3E9E9D}"/>
              </a:ext>
            </a:extLst>
          </p:cNvPr>
          <p:cNvCxnSpPr>
            <a:cxnSpLocks/>
            <a:stCxn id="77" idx="1"/>
          </p:cNvCxnSpPr>
          <p:nvPr/>
        </p:nvCxnSpPr>
        <p:spPr>
          <a:xfrm flipH="1">
            <a:off x="6479441" y="5481823"/>
            <a:ext cx="302230" cy="0"/>
          </a:xfrm>
          <a:prstGeom prst="line">
            <a:avLst/>
          </a:prstGeom>
          <a:noFill/>
          <a:ln w="19050" cap="flat" cmpd="sng" algn="ctr">
            <a:solidFill>
              <a:srgbClr val="00B0F0"/>
            </a:solidFill>
            <a:prstDash val="sysDash"/>
            <a:miter lim="800000"/>
            <a:tailEnd type="oval"/>
          </a:ln>
          <a:effectLst/>
        </p:spPr>
      </p:cxnSp>
      <p:cxnSp>
        <p:nvCxnSpPr>
          <p:cNvPr id="80" name="直接连接符 79">
            <a:extLst>
              <a:ext uri="{FF2B5EF4-FFF2-40B4-BE49-F238E27FC236}">
                <a16:creationId xmlns:a16="http://schemas.microsoft.com/office/drawing/2014/main" id="{C0E54675-C59C-4092-B358-81E36B4783B2}"/>
              </a:ext>
            </a:extLst>
          </p:cNvPr>
          <p:cNvCxnSpPr>
            <a:cxnSpLocks/>
          </p:cNvCxnSpPr>
          <p:nvPr/>
        </p:nvCxnSpPr>
        <p:spPr>
          <a:xfrm>
            <a:off x="6073790" y="6169118"/>
            <a:ext cx="0" cy="440277"/>
          </a:xfrm>
          <a:prstGeom prst="line">
            <a:avLst/>
          </a:prstGeom>
          <a:noFill/>
          <a:ln w="28575" cap="flat" cmpd="sng" algn="ctr">
            <a:solidFill>
              <a:sysClr val="windowText" lastClr="000000"/>
            </a:solidFill>
            <a:prstDash val="solid"/>
            <a:miter lim="800000"/>
          </a:ln>
          <a:effectLst/>
        </p:spPr>
      </p:cxnSp>
      <p:sp>
        <p:nvSpPr>
          <p:cNvPr id="81" name="文本框 80">
            <a:extLst>
              <a:ext uri="{FF2B5EF4-FFF2-40B4-BE49-F238E27FC236}">
                <a16:creationId xmlns:a16="http://schemas.microsoft.com/office/drawing/2014/main" id="{29BD62B2-230E-4A23-9259-43B1DF31A1B9}"/>
              </a:ext>
            </a:extLst>
          </p:cNvPr>
          <p:cNvSpPr txBox="1"/>
          <p:nvPr/>
        </p:nvSpPr>
        <p:spPr>
          <a:xfrm>
            <a:off x="5994557" y="6213238"/>
            <a:ext cx="576972" cy="461665"/>
          </a:xfrm>
          <a:prstGeom prst="rect">
            <a:avLst/>
          </a:prstGeom>
          <a:noFill/>
        </p:spPr>
        <p:txBody>
          <a:bodyPr wrap="square" rtlCol="0">
            <a:spAutoFit/>
          </a:bodyPr>
          <a:lstStyle/>
          <a:p>
            <a:pPr algn="ctr"/>
            <a:r>
              <a:rPr lang="en-US" altLang="zh-CN" sz="1200" b="0" dirty="0">
                <a:solidFill>
                  <a:prstClr val="black"/>
                </a:solidFill>
                <a:latin typeface="微软雅黑" panose="020B0503020204020204" pitchFamily="34" charset="-122"/>
                <a:ea typeface="微软雅黑" panose="020B0503020204020204" pitchFamily="34" charset="-122"/>
              </a:rPr>
              <a:t>LAN</a:t>
            </a:r>
          </a:p>
          <a:p>
            <a:pPr algn="ctr"/>
            <a:r>
              <a:rPr lang="zh-CN" altLang="en-US" sz="1200" b="0" dirty="0">
                <a:solidFill>
                  <a:prstClr val="black"/>
                </a:solidFill>
                <a:latin typeface="微软雅黑" panose="020B0503020204020204" pitchFamily="34" charset="-122"/>
                <a:ea typeface="微软雅黑" panose="020B0503020204020204" pitchFamily="34" charset="-122"/>
              </a:rPr>
              <a:t>网线</a:t>
            </a:r>
          </a:p>
        </p:txBody>
      </p:sp>
      <p:sp>
        <p:nvSpPr>
          <p:cNvPr id="82" name="6652b372-c0f5-4ce2-aad4-1f21b37634c4">
            <a:extLst>
              <a:ext uri="{FF2B5EF4-FFF2-40B4-BE49-F238E27FC236}">
                <a16:creationId xmlns:a16="http://schemas.microsoft.com/office/drawing/2014/main" id="{D7D68EF7-475A-4A92-8641-BBA59E2BD9D7}"/>
              </a:ext>
            </a:extLst>
          </p:cNvPr>
          <p:cNvSpPr/>
          <p:nvPr/>
        </p:nvSpPr>
        <p:spPr>
          <a:xfrm>
            <a:off x="2743176" y="4580382"/>
            <a:ext cx="728535" cy="609685"/>
          </a:xfrm>
          <a:custGeom>
            <a:avLst/>
            <a:gdLst>
              <a:gd name="connsiteX0" fmla="*/ 372122 w 2229007"/>
              <a:gd name="connsiteY0" fmla="*/ 1760277 h 2230500"/>
              <a:gd name="connsiteX1" fmla="*/ 583058 w 2229007"/>
              <a:gd name="connsiteY1" fmla="*/ 1760277 h 2230500"/>
              <a:gd name="connsiteX2" fmla="*/ 636787 w 2229007"/>
              <a:gd name="connsiteY2" fmla="*/ 1814006 h 2230500"/>
              <a:gd name="connsiteX3" fmla="*/ 636787 w 2229007"/>
              <a:gd name="connsiteY3" fmla="*/ 1864252 h 2230500"/>
              <a:gd name="connsiteX4" fmla="*/ 583058 w 2229007"/>
              <a:gd name="connsiteY4" fmla="*/ 1917981 h 2230500"/>
              <a:gd name="connsiteX5" fmla="*/ 372122 w 2229007"/>
              <a:gd name="connsiteY5" fmla="*/ 1917981 h 2230500"/>
              <a:gd name="connsiteX6" fmla="*/ 371998 w 2229007"/>
              <a:gd name="connsiteY6" fmla="*/ 1917981 h 2230500"/>
              <a:gd name="connsiteX7" fmla="*/ 318393 w 2229007"/>
              <a:gd name="connsiteY7" fmla="*/ 1864252 h 2230500"/>
              <a:gd name="connsiteX8" fmla="*/ 318393 w 2229007"/>
              <a:gd name="connsiteY8" fmla="*/ 1814006 h 2230500"/>
              <a:gd name="connsiteX9" fmla="*/ 372122 w 2229007"/>
              <a:gd name="connsiteY9" fmla="*/ 1760277 h 2230500"/>
              <a:gd name="connsiteX10" fmla="*/ 1825168 w 2229007"/>
              <a:gd name="connsiteY10" fmla="*/ 1760121 h 2230500"/>
              <a:gd name="connsiteX11" fmla="*/ 1826785 w 2229007"/>
              <a:gd name="connsiteY11" fmla="*/ 1760121 h 2230500"/>
              <a:gd name="connsiteX12" fmla="*/ 1905637 w 2229007"/>
              <a:gd name="connsiteY12" fmla="*/ 1838880 h 2230500"/>
              <a:gd name="connsiteX13" fmla="*/ 1905637 w 2229007"/>
              <a:gd name="connsiteY13" fmla="*/ 1839129 h 2230500"/>
              <a:gd name="connsiteX14" fmla="*/ 1826785 w 2229007"/>
              <a:gd name="connsiteY14" fmla="*/ 1917981 h 2230500"/>
              <a:gd name="connsiteX15" fmla="*/ 1825168 w 2229007"/>
              <a:gd name="connsiteY15" fmla="*/ 1917981 h 2230500"/>
              <a:gd name="connsiteX16" fmla="*/ 1825044 w 2229007"/>
              <a:gd name="connsiteY16" fmla="*/ 1917981 h 2230500"/>
              <a:gd name="connsiteX17" fmla="*/ 1825012 w 2229007"/>
              <a:gd name="connsiteY17" fmla="*/ 1917981 h 2230500"/>
              <a:gd name="connsiteX18" fmla="*/ 1746316 w 2229007"/>
              <a:gd name="connsiteY18" fmla="*/ 1839222 h 2230500"/>
              <a:gd name="connsiteX19" fmla="*/ 1746316 w 2229007"/>
              <a:gd name="connsiteY19" fmla="*/ 1838974 h 2230500"/>
              <a:gd name="connsiteX20" fmla="*/ 1825168 w 2229007"/>
              <a:gd name="connsiteY20" fmla="*/ 1760121 h 2230500"/>
              <a:gd name="connsiteX21" fmla="*/ 1506650 w 2229007"/>
              <a:gd name="connsiteY21" fmla="*/ 1760121 h 2230500"/>
              <a:gd name="connsiteX22" fmla="*/ 1508391 w 2229007"/>
              <a:gd name="connsiteY22" fmla="*/ 1760121 h 2230500"/>
              <a:gd name="connsiteX23" fmla="*/ 1587243 w 2229007"/>
              <a:gd name="connsiteY23" fmla="*/ 1838880 h 2230500"/>
              <a:gd name="connsiteX24" fmla="*/ 1587243 w 2229007"/>
              <a:gd name="connsiteY24" fmla="*/ 1839129 h 2230500"/>
              <a:gd name="connsiteX25" fmla="*/ 1508391 w 2229007"/>
              <a:gd name="connsiteY25" fmla="*/ 1917981 h 2230500"/>
              <a:gd name="connsiteX26" fmla="*/ 1506650 w 2229007"/>
              <a:gd name="connsiteY26" fmla="*/ 1917981 h 2230500"/>
              <a:gd name="connsiteX27" fmla="*/ 1506650 w 2229007"/>
              <a:gd name="connsiteY27" fmla="*/ 1918075 h 2230500"/>
              <a:gd name="connsiteX28" fmla="*/ 1506401 w 2229007"/>
              <a:gd name="connsiteY28" fmla="*/ 1918075 h 2230500"/>
              <a:gd name="connsiteX29" fmla="*/ 1427797 w 2229007"/>
              <a:gd name="connsiteY29" fmla="*/ 1839222 h 2230500"/>
              <a:gd name="connsiteX30" fmla="*/ 1427797 w 2229007"/>
              <a:gd name="connsiteY30" fmla="*/ 1838974 h 2230500"/>
              <a:gd name="connsiteX31" fmla="*/ 1506650 w 2229007"/>
              <a:gd name="connsiteY31" fmla="*/ 1760121 h 2230500"/>
              <a:gd name="connsiteX32" fmla="*/ 1190867 w 2229007"/>
              <a:gd name="connsiteY32" fmla="*/ 1760121 h 2230500"/>
              <a:gd name="connsiteX33" fmla="*/ 1192484 w 2229007"/>
              <a:gd name="connsiteY33" fmla="*/ 1760121 h 2230500"/>
              <a:gd name="connsiteX34" fmla="*/ 1271336 w 2229007"/>
              <a:gd name="connsiteY34" fmla="*/ 1838880 h 2230500"/>
              <a:gd name="connsiteX35" fmla="*/ 1271336 w 2229007"/>
              <a:gd name="connsiteY35" fmla="*/ 1839129 h 2230500"/>
              <a:gd name="connsiteX36" fmla="*/ 1192484 w 2229007"/>
              <a:gd name="connsiteY36" fmla="*/ 1917981 h 2230500"/>
              <a:gd name="connsiteX37" fmla="*/ 1190867 w 2229007"/>
              <a:gd name="connsiteY37" fmla="*/ 1917981 h 2230500"/>
              <a:gd name="connsiteX38" fmla="*/ 1190743 w 2229007"/>
              <a:gd name="connsiteY38" fmla="*/ 1917981 h 2230500"/>
              <a:gd name="connsiteX39" fmla="*/ 1190712 w 2229007"/>
              <a:gd name="connsiteY39" fmla="*/ 1917981 h 2230500"/>
              <a:gd name="connsiteX40" fmla="*/ 1112015 w 2229007"/>
              <a:gd name="connsiteY40" fmla="*/ 1839222 h 2230500"/>
              <a:gd name="connsiteX41" fmla="*/ 1112015 w 2229007"/>
              <a:gd name="connsiteY41" fmla="*/ 1838974 h 2230500"/>
              <a:gd name="connsiteX42" fmla="*/ 1190867 w 2229007"/>
              <a:gd name="connsiteY42" fmla="*/ 1760121 h 2230500"/>
              <a:gd name="connsiteX43" fmla="*/ 872349 w 2229007"/>
              <a:gd name="connsiteY43" fmla="*/ 1760121 h 2230500"/>
              <a:gd name="connsiteX44" fmla="*/ 874090 w 2229007"/>
              <a:gd name="connsiteY44" fmla="*/ 1760121 h 2230500"/>
              <a:gd name="connsiteX45" fmla="*/ 952942 w 2229007"/>
              <a:gd name="connsiteY45" fmla="*/ 1838880 h 2230500"/>
              <a:gd name="connsiteX46" fmla="*/ 952942 w 2229007"/>
              <a:gd name="connsiteY46" fmla="*/ 1839129 h 2230500"/>
              <a:gd name="connsiteX47" fmla="*/ 874090 w 2229007"/>
              <a:gd name="connsiteY47" fmla="*/ 1917981 h 2230500"/>
              <a:gd name="connsiteX48" fmla="*/ 872349 w 2229007"/>
              <a:gd name="connsiteY48" fmla="*/ 1917981 h 2230500"/>
              <a:gd name="connsiteX49" fmla="*/ 872349 w 2229007"/>
              <a:gd name="connsiteY49" fmla="*/ 1918075 h 2230500"/>
              <a:gd name="connsiteX50" fmla="*/ 872100 w 2229007"/>
              <a:gd name="connsiteY50" fmla="*/ 1918075 h 2230500"/>
              <a:gd name="connsiteX51" fmla="*/ 793497 w 2229007"/>
              <a:gd name="connsiteY51" fmla="*/ 1839222 h 2230500"/>
              <a:gd name="connsiteX52" fmla="*/ 793497 w 2229007"/>
              <a:gd name="connsiteY52" fmla="*/ 1838974 h 2230500"/>
              <a:gd name="connsiteX53" fmla="*/ 872349 w 2229007"/>
              <a:gd name="connsiteY53" fmla="*/ 1760121 h 2230500"/>
              <a:gd name="connsiteX54" fmla="*/ 372122 w 2229007"/>
              <a:gd name="connsiteY54" fmla="*/ 1443127 h 2230500"/>
              <a:gd name="connsiteX55" fmla="*/ 583058 w 2229007"/>
              <a:gd name="connsiteY55" fmla="*/ 1443127 h 2230500"/>
              <a:gd name="connsiteX56" fmla="*/ 636787 w 2229007"/>
              <a:gd name="connsiteY56" fmla="*/ 1496856 h 2230500"/>
              <a:gd name="connsiteX57" fmla="*/ 636787 w 2229007"/>
              <a:gd name="connsiteY57" fmla="*/ 1547102 h 2230500"/>
              <a:gd name="connsiteX58" fmla="*/ 583058 w 2229007"/>
              <a:gd name="connsiteY58" fmla="*/ 1600831 h 2230500"/>
              <a:gd name="connsiteX59" fmla="*/ 372122 w 2229007"/>
              <a:gd name="connsiteY59" fmla="*/ 1600831 h 2230500"/>
              <a:gd name="connsiteX60" fmla="*/ 318393 w 2229007"/>
              <a:gd name="connsiteY60" fmla="*/ 1547102 h 2230500"/>
              <a:gd name="connsiteX61" fmla="*/ 318393 w 2229007"/>
              <a:gd name="connsiteY61" fmla="*/ 1496856 h 2230500"/>
              <a:gd name="connsiteX62" fmla="*/ 372122 w 2229007"/>
              <a:gd name="connsiteY62" fmla="*/ 1443127 h 2230500"/>
              <a:gd name="connsiteX63" fmla="*/ 1825168 w 2229007"/>
              <a:gd name="connsiteY63" fmla="*/ 1442971 h 2230500"/>
              <a:gd name="connsiteX64" fmla="*/ 1826785 w 2229007"/>
              <a:gd name="connsiteY64" fmla="*/ 1442971 h 2230500"/>
              <a:gd name="connsiteX65" fmla="*/ 1905637 w 2229007"/>
              <a:gd name="connsiteY65" fmla="*/ 1521730 h 2230500"/>
              <a:gd name="connsiteX66" fmla="*/ 1905637 w 2229007"/>
              <a:gd name="connsiteY66" fmla="*/ 1521979 h 2230500"/>
              <a:gd name="connsiteX67" fmla="*/ 1826785 w 2229007"/>
              <a:gd name="connsiteY67" fmla="*/ 1600831 h 2230500"/>
              <a:gd name="connsiteX68" fmla="*/ 1825168 w 2229007"/>
              <a:gd name="connsiteY68" fmla="*/ 1600831 h 2230500"/>
              <a:gd name="connsiteX69" fmla="*/ 1746316 w 2229007"/>
              <a:gd name="connsiteY69" fmla="*/ 1522072 h 2230500"/>
              <a:gd name="connsiteX70" fmla="*/ 1746316 w 2229007"/>
              <a:gd name="connsiteY70" fmla="*/ 1521823 h 2230500"/>
              <a:gd name="connsiteX71" fmla="*/ 1825168 w 2229007"/>
              <a:gd name="connsiteY71" fmla="*/ 1442971 h 2230500"/>
              <a:gd name="connsiteX72" fmla="*/ 1506650 w 2229007"/>
              <a:gd name="connsiteY72" fmla="*/ 1442971 h 2230500"/>
              <a:gd name="connsiteX73" fmla="*/ 1508391 w 2229007"/>
              <a:gd name="connsiteY73" fmla="*/ 1442971 h 2230500"/>
              <a:gd name="connsiteX74" fmla="*/ 1587243 w 2229007"/>
              <a:gd name="connsiteY74" fmla="*/ 1521730 h 2230500"/>
              <a:gd name="connsiteX75" fmla="*/ 1587243 w 2229007"/>
              <a:gd name="connsiteY75" fmla="*/ 1521979 h 2230500"/>
              <a:gd name="connsiteX76" fmla="*/ 1508391 w 2229007"/>
              <a:gd name="connsiteY76" fmla="*/ 1600831 h 2230500"/>
              <a:gd name="connsiteX77" fmla="*/ 1506650 w 2229007"/>
              <a:gd name="connsiteY77" fmla="*/ 1600831 h 2230500"/>
              <a:gd name="connsiteX78" fmla="*/ 1506650 w 2229007"/>
              <a:gd name="connsiteY78" fmla="*/ 1600924 h 2230500"/>
              <a:gd name="connsiteX79" fmla="*/ 1427797 w 2229007"/>
              <a:gd name="connsiteY79" fmla="*/ 1522072 h 2230500"/>
              <a:gd name="connsiteX80" fmla="*/ 1427797 w 2229007"/>
              <a:gd name="connsiteY80" fmla="*/ 1521823 h 2230500"/>
              <a:gd name="connsiteX81" fmla="*/ 1506650 w 2229007"/>
              <a:gd name="connsiteY81" fmla="*/ 1442971 h 2230500"/>
              <a:gd name="connsiteX82" fmla="*/ 1190867 w 2229007"/>
              <a:gd name="connsiteY82" fmla="*/ 1442971 h 2230500"/>
              <a:gd name="connsiteX83" fmla="*/ 1192484 w 2229007"/>
              <a:gd name="connsiteY83" fmla="*/ 1442971 h 2230500"/>
              <a:gd name="connsiteX84" fmla="*/ 1271336 w 2229007"/>
              <a:gd name="connsiteY84" fmla="*/ 1521730 h 2230500"/>
              <a:gd name="connsiteX85" fmla="*/ 1271336 w 2229007"/>
              <a:gd name="connsiteY85" fmla="*/ 1521979 h 2230500"/>
              <a:gd name="connsiteX86" fmla="*/ 1192484 w 2229007"/>
              <a:gd name="connsiteY86" fmla="*/ 1600831 h 2230500"/>
              <a:gd name="connsiteX87" fmla="*/ 1190867 w 2229007"/>
              <a:gd name="connsiteY87" fmla="*/ 1600831 h 2230500"/>
              <a:gd name="connsiteX88" fmla="*/ 1112015 w 2229007"/>
              <a:gd name="connsiteY88" fmla="*/ 1522072 h 2230500"/>
              <a:gd name="connsiteX89" fmla="*/ 1112015 w 2229007"/>
              <a:gd name="connsiteY89" fmla="*/ 1521823 h 2230500"/>
              <a:gd name="connsiteX90" fmla="*/ 1190867 w 2229007"/>
              <a:gd name="connsiteY90" fmla="*/ 1442971 h 2230500"/>
              <a:gd name="connsiteX91" fmla="*/ 872349 w 2229007"/>
              <a:gd name="connsiteY91" fmla="*/ 1442971 h 2230500"/>
              <a:gd name="connsiteX92" fmla="*/ 874090 w 2229007"/>
              <a:gd name="connsiteY92" fmla="*/ 1442971 h 2230500"/>
              <a:gd name="connsiteX93" fmla="*/ 952942 w 2229007"/>
              <a:gd name="connsiteY93" fmla="*/ 1521730 h 2230500"/>
              <a:gd name="connsiteX94" fmla="*/ 952942 w 2229007"/>
              <a:gd name="connsiteY94" fmla="*/ 1521979 h 2230500"/>
              <a:gd name="connsiteX95" fmla="*/ 874090 w 2229007"/>
              <a:gd name="connsiteY95" fmla="*/ 1600831 h 2230500"/>
              <a:gd name="connsiteX96" fmla="*/ 872349 w 2229007"/>
              <a:gd name="connsiteY96" fmla="*/ 1600831 h 2230500"/>
              <a:gd name="connsiteX97" fmla="*/ 872349 w 2229007"/>
              <a:gd name="connsiteY97" fmla="*/ 1600924 h 2230500"/>
              <a:gd name="connsiteX98" fmla="*/ 793497 w 2229007"/>
              <a:gd name="connsiteY98" fmla="*/ 1522072 h 2230500"/>
              <a:gd name="connsiteX99" fmla="*/ 793497 w 2229007"/>
              <a:gd name="connsiteY99" fmla="*/ 1521823 h 2230500"/>
              <a:gd name="connsiteX100" fmla="*/ 872349 w 2229007"/>
              <a:gd name="connsiteY100" fmla="*/ 1442971 h 2230500"/>
              <a:gd name="connsiteX101" fmla="*/ 159197 w 2229007"/>
              <a:gd name="connsiteY101" fmla="*/ 1278178 h 2230500"/>
              <a:gd name="connsiteX102" fmla="*/ 159197 w 2229007"/>
              <a:gd name="connsiteY102" fmla="*/ 2071209 h 2230500"/>
              <a:gd name="connsiteX103" fmla="*/ 2069561 w 2229007"/>
              <a:gd name="connsiteY103" fmla="*/ 2071209 h 2230500"/>
              <a:gd name="connsiteX104" fmla="*/ 2069561 w 2229007"/>
              <a:gd name="connsiteY104" fmla="*/ 1278178 h 2230500"/>
              <a:gd name="connsiteX105" fmla="*/ 1275815 w 2229007"/>
              <a:gd name="connsiteY105" fmla="*/ 583339 h 2230500"/>
              <a:gd name="connsiteX106" fmla="*/ 1268850 w 2229007"/>
              <a:gd name="connsiteY106" fmla="*/ 773007 h 2230500"/>
              <a:gd name="connsiteX107" fmla="*/ 485800 w 2229007"/>
              <a:gd name="connsiteY107" fmla="*/ 773007 h 2230500"/>
              <a:gd name="connsiteX108" fmla="*/ 466149 w 2229007"/>
              <a:gd name="connsiteY108" fmla="*/ 953721 h 2230500"/>
              <a:gd name="connsiteX109" fmla="*/ 1262134 w 2229007"/>
              <a:gd name="connsiteY109" fmla="*/ 953721 h 2230500"/>
              <a:gd name="connsiteX110" fmla="*/ 1255666 w 2229007"/>
              <a:gd name="connsiteY110" fmla="*/ 1126599 h 2230500"/>
              <a:gd name="connsiteX111" fmla="*/ 1801662 w 2229007"/>
              <a:gd name="connsiteY111" fmla="*/ 848253 h 2230500"/>
              <a:gd name="connsiteX112" fmla="*/ 1033288 w 2229007"/>
              <a:gd name="connsiteY112" fmla="*/ 163084 h 2230500"/>
              <a:gd name="connsiteX113" fmla="*/ 502466 w 2229007"/>
              <a:gd name="connsiteY113" fmla="*/ 408844 h 2230500"/>
              <a:gd name="connsiteX114" fmla="*/ 1002195 w 2229007"/>
              <a:gd name="connsiteY114" fmla="*/ 666296 h 2230500"/>
              <a:gd name="connsiteX115" fmla="*/ 1012891 w 2229007"/>
              <a:gd name="connsiteY115" fmla="*/ 494164 h 2230500"/>
              <a:gd name="connsiteX116" fmla="*/ 1798180 w 2229007"/>
              <a:gd name="connsiteY116" fmla="*/ 494164 h 2230500"/>
              <a:gd name="connsiteX117" fmla="*/ 1796190 w 2229007"/>
              <a:gd name="connsiteY117" fmla="*/ 327256 h 2230500"/>
              <a:gd name="connsiteX118" fmla="*/ 1022965 w 2229007"/>
              <a:gd name="connsiteY118" fmla="*/ 327256 h 2230500"/>
              <a:gd name="connsiteX119" fmla="*/ 248248 w 2229007"/>
              <a:gd name="connsiteY119" fmla="*/ 0 h 2230500"/>
              <a:gd name="connsiteX120" fmla="*/ 1985112 w 2229007"/>
              <a:gd name="connsiteY120" fmla="*/ 0 h 2230500"/>
              <a:gd name="connsiteX121" fmla="*/ 2063964 w 2229007"/>
              <a:gd name="connsiteY121" fmla="*/ 68654 h 2230500"/>
              <a:gd name="connsiteX122" fmla="*/ 2228758 w 2229007"/>
              <a:gd name="connsiteY122" fmla="*/ 1278178 h 2230500"/>
              <a:gd name="connsiteX123" fmla="*/ 2227017 w 2229007"/>
              <a:gd name="connsiteY123" fmla="*/ 1278209 h 2230500"/>
              <a:gd name="connsiteX124" fmla="*/ 2229007 w 2229007"/>
              <a:gd name="connsiteY124" fmla="*/ 1280199 h 2230500"/>
              <a:gd name="connsiteX125" fmla="*/ 2229007 w 2229007"/>
              <a:gd name="connsiteY125" fmla="*/ 2139459 h 2230500"/>
              <a:gd name="connsiteX126" fmla="*/ 2137966 w 2229007"/>
              <a:gd name="connsiteY126" fmla="*/ 2230500 h 2230500"/>
              <a:gd name="connsiteX127" fmla="*/ 91041 w 2229007"/>
              <a:gd name="connsiteY127" fmla="*/ 2230500 h 2230500"/>
              <a:gd name="connsiteX128" fmla="*/ 0 w 2229007"/>
              <a:gd name="connsiteY128" fmla="*/ 2139459 h 2230500"/>
              <a:gd name="connsiteX129" fmla="*/ 0 w 2229007"/>
              <a:gd name="connsiteY129" fmla="*/ 1280168 h 2230500"/>
              <a:gd name="connsiteX130" fmla="*/ 1990 w 2229007"/>
              <a:gd name="connsiteY130" fmla="*/ 1278178 h 2230500"/>
              <a:gd name="connsiteX131" fmla="*/ 0 w 2229007"/>
              <a:gd name="connsiteY131" fmla="*/ 1278178 h 2230500"/>
              <a:gd name="connsiteX132" fmla="*/ 169396 w 2229007"/>
              <a:gd name="connsiteY132" fmla="*/ 68405 h 2230500"/>
              <a:gd name="connsiteX133" fmla="*/ 248248 w 2229007"/>
              <a:gd name="connsiteY133" fmla="*/ 0 h 223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2229007" h="2230500">
                <a:moveTo>
                  <a:pt x="372122" y="1760277"/>
                </a:moveTo>
                <a:lnTo>
                  <a:pt x="583058" y="1760277"/>
                </a:lnTo>
                <a:cubicBezTo>
                  <a:pt x="612712" y="1760330"/>
                  <a:pt x="636734" y="1784352"/>
                  <a:pt x="636787" y="1814006"/>
                </a:cubicBezTo>
                <a:lnTo>
                  <a:pt x="636787" y="1864252"/>
                </a:lnTo>
                <a:cubicBezTo>
                  <a:pt x="636734" y="1893906"/>
                  <a:pt x="612712" y="1917929"/>
                  <a:pt x="583058" y="1917981"/>
                </a:cubicBezTo>
                <a:lnTo>
                  <a:pt x="372122" y="1917981"/>
                </a:lnTo>
                <a:cubicBezTo>
                  <a:pt x="372081" y="1917981"/>
                  <a:pt x="372039" y="1917981"/>
                  <a:pt x="371998" y="1917981"/>
                </a:cubicBezTo>
                <a:cubicBezTo>
                  <a:pt x="342358" y="1917947"/>
                  <a:pt x="318359" y="1893890"/>
                  <a:pt x="318393" y="1864252"/>
                </a:cubicBezTo>
                <a:lnTo>
                  <a:pt x="318393" y="1814006"/>
                </a:lnTo>
                <a:cubicBezTo>
                  <a:pt x="318444" y="1784352"/>
                  <a:pt x="342470" y="1760330"/>
                  <a:pt x="372122" y="1760277"/>
                </a:cubicBezTo>
                <a:close/>
                <a:moveTo>
                  <a:pt x="1825168" y="1760121"/>
                </a:moveTo>
                <a:lnTo>
                  <a:pt x="1826785" y="1760121"/>
                </a:lnTo>
                <a:cubicBezTo>
                  <a:pt x="1870290" y="1760137"/>
                  <a:pt x="1905569" y="1795375"/>
                  <a:pt x="1905637" y="1838880"/>
                </a:cubicBezTo>
                <a:lnTo>
                  <a:pt x="1905637" y="1839129"/>
                </a:lnTo>
                <a:cubicBezTo>
                  <a:pt x="1905621" y="1882672"/>
                  <a:pt x="1870328" y="1917966"/>
                  <a:pt x="1826785" y="1917981"/>
                </a:cubicBezTo>
                <a:lnTo>
                  <a:pt x="1825168" y="1917981"/>
                </a:lnTo>
                <a:lnTo>
                  <a:pt x="1825044" y="1917981"/>
                </a:lnTo>
                <a:lnTo>
                  <a:pt x="1825012" y="1917981"/>
                </a:lnTo>
                <a:cubicBezTo>
                  <a:pt x="1781532" y="1917963"/>
                  <a:pt x="1746297" y="1882703"/>
                  <a:pt x="1746316" y="1839222"/>
                </a:cubicBezTo>
                <a:lnTo>
                  <a:pt x="1746316" y="1838974"/>
                </a:lnTo>
                <a:cubicBezTo>
                  <a:pt x="1746334" y="1795431"/>
                  <a:pt x="1781625" y="1760137"/>
                  <a:pt x="1825168" y="1760121"/>
                </a:cubicBezTo>
                <a:close/>
                <a:moveTo>
                  <a:pt x="1506650" y="1760121"/>
                </a:moveTo>
                <a:lnTo>
                  <a:pt x="1508391" y="1760121"/>
                </a:lnTo>
                <a:cubicBezTo>
                  <a:pt x="1551896" y="1760137"/>
                  <a:pt x="1587175" y="1795375"/>
                  <a:pt x="1587243" y="1838880"/>
                </a:cubicBezTo>
                <a:lnTo>
                  <a:pt x="1587243" y="1839129"/>
                </a:lnTo>
                <a:cubicBezTo>
                  <a:pt x="1587224" y="1882672"/>
                  <a:pt x="1551934" y="1917966"/>
                  <a:pt x="1508391" y="1917981"/>
                </a:cubicBezTo>
                <a:lnTo>
                  <a:pt x="1506650" y="1917981"/>
                </a:lnTo>
                <a:lnTo>
                  <a:pt x="1506650" y="1918075"/>
                </a:lnTo>
                <a:cubicBezTo>
                  <a:pt x="1506566" y="1918075"/>
                  <a:pt x="1506485" y="1918075"/>
                  <a:pt x="1506401" y="1918075"/>
                </a:cubicBezTo>
                <a:cubicBezTo>
                  <a:pt x="1462920" y="1918006"/>
                  <a:pt x="1427729" y="1882703"/>
                  <a:pt x="1427797" y="1839222"/>
                </a:cubicBezTo>
                <a:lnTo>
                  <a:pt x="1427797" y="1838974"/>
                </a:lnTo>
                <a:cubicBezTo>
                  <a:pt x="1427816" y="1795431"/>
                  <a:pt x="1463107" y="1760137"/>
                  <a:pt x="1506650" y="1760121"/>
                </a:cubicBezTo>
                <a:close/>
                <a:moveTo>
                  <a:pt x="1190867" y="1760121"/>
                </a:moveTo>
                <a:lnTo>
                  <a:pt x="1192484" y="1760121"/>
                </a:lnTo>
                <a:cubicBezTo>
                  <a:pt x="1235990" y="1760137"/>
                  <a:pt x="1271268" y="1795375"/>
                  <a:pt x="1271336" y="1838880"/>
                </a:cubicBezTo>
                <a:lnTo>
                  <a:pt x="1271336" y="1839129"/>
                </a:lnTo>
                <a:cubicBezTo>
                  <a:pt x="1271318" y="1882672"/>
                  <a:pt x="1236027" y="1917966"/>
                  <a:pt x="1192484" y="1917981"/>
                </a:cubicBezTo>
                <a:lnTo>
                  <a:pt x="1190867" y="1917981"/>
                </a:lnTo>
                <a:lnTo>
                  <a:pt x="1190743" y="1917981"/>
                </a:lnTo>
                <a:lnTo>
                  <a:pt x="1190712" y="1917981"/>
                </a:lnTo>
                <a:cubicBezTo>
                  <a:pt x="1147231" y="1917963"/>
                  <a:pt x="1111996" y="1882703"/>
                  <a:pt x="1112015" y="1839222"/>
                </a:cubicBezTo>
                <a:lnTo>
                  <a:pt x="1112015" y="1838974"/>
                </a:lnTo>
                <a:cubicBezTo>
                  <a:pt x="1112034" y="1795431"/>
                  <a:pt x="1147324" y="1760137"/>
                  <a:pt x="1190867" y="1760121"/>
                </a:cubicBezTo>
                <a:close/>
                <a:moveTo>
                  <a:pt x="872349" y="1760121"/>
                </a:moveTo>
                <a:lnTo>
                  <a:pt x="874090" y="1760121"/>
                </a:lnTo>
                <a:cubicBezTo>
                  <a:pt x="917596" y="1760137"/>
                  <a:pt x="952874" y="1795375"/>
                  <a:pt x="952942" y="1838880"/>
                </a:cubicBezTo>
                <a:lnTo>
                  <a:pt x="952942" y="1839129"/>
                </a:lnTo>
                <a:cubicBezTo>
                  <a:pt x="952924" y="1882672"/>
                  <a:pt x="917633" y="1917966"/>
                  <a:pt x="874090" y="1917981"/>
                </a:cubicBezTo>
                <a:lnTo>
                  <a:pt x="872349" y="1917981"/>
                </a:lnTo>
                <a:lnTo>
                  <a:pt x="872349" y="1918075"/>
                </a:lnTo>
                <a:cubicBezTo>
                  <a:pt x="872265" y="1918075"/>
                  <a:pt x="872184" y="1918075"/>
                  <a:pt x="872100" y="1918075"/>
                </a:cubicBezTo>
                <a:cubicBezTo>
                  <a:pt x="828619" y="1918006"/>
                  <a:pt x="793428" y="1882703"/>
                  <a:pt x="793497" y="1839222"/>
                </a:cubicBezTo>
                <a:lnTo>
                  <a:pt x="793497" y="1838974"/>
                </a:lnTo>
                <a:cubicBezTo>
                  <a:pt x="793515" y="1795431"/>
                  <a:pt x="828806" y="1760137"/>
                  <a:pt x="872349" y="1760121"/>
                </a:cubicBezTo>
                <a:close/>
                <a:moveTo>
                  <a:pt x="372122" y="1443127"/>
                </a:moveTo>
                <a:lnTo>
                  <a:pt x="583058" y="1443127"/>
                </a:lnTo>
                <a:cubicBezTo>
                  <a:pt x="612712" y="1443179"/>
                  <a:pt x="636734" y="1467202"/>
                  <a:pt x="636787" y="1496856"/>
                </a:cubicBezTo>
                <a:lnTo>
                  <a:pt x="636787" y="1547102"/>
                </a:lnTo>
                <a:cubicBezTo>
                  <a:pt x="636734" y="1576756"/>
                  <a:pt x="612712" y="1600778"/>
                  <a:pt x="583058" y="1600831"/>
                </a:cubicBezTo>
                <a:lnTo>
                  <a:pt x="372122" y="1600831"/>
                </a:lnTo>
                <a:cubicBezTo>
                  <a:pt x="342470" y="1600778"/>
                  <a:pt x="318444" y="1576756"/>
                  <a:pt x="318393" y="1547102"/>
                </a:cubicBezTo>
                <a:lnTo>
                  <a:pt x="318393" y="1496856"/>
                </a:lnTo>
                <a:cubicBezTo>
                  <a:pt x="318444" y="1467202"/>
                  <a:pt x="342470" y="1443179"/>
                  <a:pt x="372122" y="1443127"/>
                </a:cubicBezTo>
                <a:close/>
                <a:moveTo>
                  <a:pt x="1825168" y="1442971"/>
                </a:moveTo>
                <a:lnTo>
                  <a:pt x="1826785" y="1442971"/>
                </a:lnTo>
                <a:cubicBezTo>
                  <a:pt x="1870290" y="1442987"/>
                  <a:pt x="1905569" y="1478225"/>
                  <a:pt x="1905637" y="1521730"/>
                </a:cubicBezTo>
                <a:lnTo>
                  <a:pt x="1905637" y="1521979"/>
                </a:lnTo>
                <a:cubicBezTo>
                  <a:pt x="1905621" y="1565522"/>
                  <a:pt x="1870328" y="1600816"/>
                  <a:pt x="1826785" y="1600831"/>
                </a:cubicBezTo>
                <a:lnTo>
                  <a:pt x="1825168" y="1600831"/>
                </a:lnTo>
                <a:cubicBezTo>
                  <a:pt x="1781662" y="1600816"/>
                  <a:pt x="1746384" y="1565578"/>
                  <a:pt x="1746316" y="1522072"/>
                </a:cubicBezTo>
                <a:lnTo>
                  <a:pt x="1746316" y="1521823"/>
                </a:lnTo>
                <a:cubicBezTo>
                  <a:pt x="1746334" y="1478281"/>
                  <a:pt x="1781625" y="1442987"/>
                  <a:pt x="1825168" y="1442971"/>
                </a:cubicBezTo>
                <a:close/>
                <a:moveTo>
                  <a:pt x="1506650" y="1442971"/>
                </a:moveTo>
                <a:lnTo>
                  <a:pt x="1508391" y="1442971"/>
                </a:lnTo>
                <a:cubicBezTo>
                  <a:pt x="1551896" y="1442987"/>
                  <a:pt x="1587175" y="1478225"/>
                  <a:pt x="1587243" y="1521730"/>
                </a:cubicBezTo>
                <a:lnTo>
                  <a:pt x="1587243" y="1521979"/>
                </a:lnTo>
                <a:cubicBezTo>
                  <a:pt x="1587224" y="1565522"/>
                  <a:pt x="1551934" y="1600816"/>
                  <a:pt x="1508391" y="1600831"/>
                </a:cubicBezTo>
                <a:lnTo>
                  <a:pt x="1506650" y="1600831"/>
                </a:lnTo>
                <a:lnTo>
                  <a:pt x="1506650" y="1600924"/>
                </a:lnTo>
                <a:cubicBezTo>
                  <a:pt x="1463107" y="1600906"/>
                  <a:pt x="1427816" y="1565615"/>
                  <a:pt x="1427797" y="1522072"/>
                </a:cubicBezTo>
                <a:lnTo>
                  <a:pt x="1427797" y="1521823"/>
                </a:lnTo>
                <a:cubicBezTo>
                  <a:pt x="1427816" y="1478281"/>
                  <a:pt x="1463107" y="1442987"/>
                  <a:pt x="1506650" y="1442971"/>
                </a:cubicBezTo>
                <a:close/>
                <a:moveTo>
                  <a:pt x="1190867" y="1442971"/>
                </a:moveTo>
                <a:lnTo>
                  <a:pt x="1192484" y="1442971"/>
                </a:lnTo>
                <a:cubicBezTo>
                  <a:pt x="1235990" y="1442987"/>
                  <a:pt x="1271268" y="1478225"/>
                  <a:pt x="1271336" y="1521730"/>
                </a:cubicBezTo>
                <a:lnTo>
                  <a:pt x="1271336" y="1521979"/>
                </a:lnTo>
                <a:cubicBezTo>
                  <a:pt x="1271318" y="1565522"/>
                  <a:pt x="1236027" y="1600816"/>
                  <a:pt x="1192484" y="1600831"/>
                </a:cubicBezTo>
                <a:lnTo>
                  <a:pt x="1190867" y="1600831"/>
                </a:lnTo>
                <a:cubicBezTo>
                  <a:pt x="1147362" y="1600816"/>
                  <a:pt x="1112083" y="1565578"/>
                  <a:pt x="1112015" y="1522072"/>
                </a:cubicBezTo>
                <a:lnTo>
                  <a:pt x="1112015" y="1521823"/>
                </a:lnTo>
                <a:cubicBezTo>
                  <a:pt x="1112034" y="1478281"/>
                  <a:pt x="1147324" y="1442987"/>
                  <a:pt x="1190867" y="1442971"/>
                </a:cubicBezTo>
                <a:close/>
                <a:moveTo>
                  <a:pt x="872349" y="1442971"/>
                </a:moveTo>
                <a:lnTo>
                  <a:pt x="874090" y="1442971"/>
                </a:lnTo>
                <a:cubicBezTo>
                  <a:pt x="917596" y="1442987"/>
                  <a:pt x="952874" y="1478225"/>
                  <a:pt x="952942" y="1521730"/>
                </a:cubicBezTo>
                <a:lnTo>
                  <a:pt x="952942" y="1521979"/>
                </a:lnTo>
                <a:cubicBezTo>
                  <a:pt x="952924" y="1565522"/>
                  <a:pt x="917633" y="1600816"/>
                  <a:pt x="874090" y="1600831"/>
                </a:cubicBezTo>
                <a:lnTo>
                  <a:pt x="872349" y="1600831"/>
                </a:lnTo>
                <a:lnTo>
                  <a:pt x="872349" y="1600924"/>
                </a:lnTo>
                <a:cubicBezTo>
                  <a:pt x="828806" y="1600906"/>
                  <a:pt x="793515" y="1565615"/>
                  <a:pt x="793497" y="1522072"/>
                </a:cubicBezTo>
                <a:lnTo>
                  <a:pt x="793497" y="1521823"/>
                </a:lnTo>
                <a:cubicBezTo>
                  <a:pt x="793515" y="1478281"/>
                  <a:pt x="828806" y="1442987"/>
                  <a:pt x="872349" y="1442971"/>
                </a:cubicBezTo>
                <a:close/>
                <a:moveTo>
                  <a:pt x="159197" y="1278178"/>
                </a:moveTo>
                <a:lnTo>
                  <a:pt x="159197" y="2071209"/>
                </a:lnTo>
                <a:lnTo>
                  <a:pt x="2069561" y="2071209"/>
                </a:lnTo>
                <a:lnTo>
                  <a:pt x="2069561" y="1278178"/>
                </a:lnTo>
                <a:close/>
                <a:moveTo>
                  <a:pt x="1275815" y="583339"/>
                </a:moveTo>
                <a:lnTo>
                  <a:pt x="1268850" y="773007"/>
                </a:lnTo>
                <a:lnTo>
                  <a:pt x="485800" y="773007"/>
                </a:lnTo>
                <a:lnTo>
                  <a:pt x="466149" y="953721"/>
                </a:lnTo>
                <a:lnTo>
                  <a:pt x="1262134" y="953721"/>
                </a:lnTo>
                <a:lnTo>
                  <a:pt x="1255666" y="1126599"/>
                </a:lnTo>
                <a:lnTo>
                  <a:pt x="1801662" y="848253"/>
                </a:lnTo>
                <a:close/>
                <a:moveTo>
                  <a:pt x="1033288" y="163084"/>
                </a:moveTo>
                <a:lnTo>
                  <a:pt x="502466" y="408844"/>
                </a:lnTo>
                <a:lnTo>
                  <a:pt x="1002195" y="666296"/>
                </a:lnTo>
                <a:lnTo>
                  <a:pt x="1012891" y="494164"/>
                </a:lnTo>
                <a:lnTo>
                  <a:pt x="1798180" y="494164"/>
                </a:lnTo>
                <a:lnTo>
                  <a:pt x="1796190" y="327256"/>
                </a:lnTo>
                <a:lnTo>
                  <a:pt x="1022965" y="327256"/>
                </a:lnTo>
                <a:close/>
                <a:moveTo>
                  <a:pt x="248248" y="0"/>
                </a:moveTo>
                <a:lnTo>
                  <a:pt x="1985112" y="0"/>
                </a:lnTo>
                <a:cubicBezTo>
                  <a:pt x="2024849" y="-5"/>
                  <a:pt x="2058501" y="29295"/>
                  <a:pt x="2063964" y="68654"/>
                </a:cubicBezTo>
                <a:lnTo>
                  <a:pt x="2228758" y="1278178"/>
                </a:lnTo>
                <a:lnTo>
                  <a:pt x="2227017" y="1278209"/>
                </a:lnTo>
                <a:lnTo>
                  <a:pt x="2229007" y="1280199"/>
                </a:lnTo>
                <a:lnTo>
                  <a:pt x="2229007" y="2139459"/>
                </a:lnTo>
                <a:cubicBezTo>
                  <a:pt x="2228988" y="2189733"/>
                  <a:pt x="2188241" y="2230484"/>
                  <a:pt x="2137966" y="2230500"/>
                </a:cubicBezTo>
                <a:lnTo>
                  <a:pt x="91041" y="2230500"/>
                </a:lnTo>
                <a:cubicBezTo>
                  <a:pt x="40767" y="2230481"/>
                  <a:pt x="17" y="2189733"/>
                  <a:pt x="0" y="2139459"/>
                </a:cubicBezTo>
                <a:lnTo>
                  <a:pt x="0" y="1280168"/>
                </a:lnTo>
                <a:lnTo>
                  <a:pt x="1990" y="1278178"/>
                </a:lnTo>
                <a:lnTo>
                  <a:pt x="0" y="1278178"/>
                </a:lnTo>
                <a:lnTo>
                  <a:pt x="169396" y="68405"/>
                </a:lnTo>
                <a:cubicBezTo>
                  <a:pt x="175035" y="29180"/>
                  <a:pt x="208619" y="45"/>
                  <a:pt x="248248" y="0"/>
                </a:cubicBezTo>
                <a:close/>
              </a:path>
            </a:pathLst>
          </a:custGeom>
          <a:solidFill>
            <a:srgbClr val="FFC000">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等线" panose="020F0502020204030204"/>
              <a:ea typeface="+mn-ea"/>
              <a:cs typeface="+mn-cs"/>
            </a:endParaRPr>
          </a:p>
        </p:txBody>
      </p:sp>
      <p:cxnSp>
        <p:nvCxnSpPr>
          <p:cNvPr id="83" name="直接连接符 82">
            <a:extLst>
              <a:ext uri="{FF2B5EF4-FFF2-40B4-BE49-F238E27FC236}">
                <a16:creationId xmlns:a16="http://schemas.microsoft.com/office/drawing/2014/main" id="{F81D5033-9DA5-4E9B-9A3F-FDD780D90F5E}"/>
              </a:ext>
            </a:extLst>
          </p:cNvPr>
          <p:cNvCxnSpPr>
            <a:cxnSpLocks/>
          </p:cNvCxnSpPr>
          <p:nvPr/>
        </p:nvCxnSpPr>
        <p:spPr>
          <a:xfrm flipH="1">
            <a:off x="3124166" y="3598606"/>
            <a:ext cx="9768" cy="981776"/>
          </a:xfrm>
          <a:prstGeom prst="line">
            <a:avLst/>
          </a:prstGeom>
          <a:noFill/>
          <a:ln w="28575" cap="flat" cmpd="sng" algn="ctr">
            <a:solidFill>
              <a:sysClr val="windowText" lastClr="000000"/>
            </a:solidFill>
            <a:prstDash val="solid"/>
            <a:miter lim="800000"/>
          </a:ln>
          <a:effectLst/>
        </p:spPr>
      </p:cxnSp>
      <p:cxnSp>
        <p:nvCxnSpPr>
          <p:cNvPr id="84" name="直接箭头连接符 83">
            <a:extLst>
              <a:ext uri="{FF2B5EF4-FFF2-40B4-BE49-F238E27FC236}">
                <a16:creationId xmlns:a16="http://schemas.microsoft.com/office/drawing/2014/main" id="{DB361274-7478-4448-80CC-FA3EC4087AE2}"/>
              </a:ext>
            </a:extLst>
          </p:cNvPr>
          <p:cNvCxnSpPr>
            <a:stCxn id="82" idx="131"/>
          </p:cNvCxnSpPr>
          <p:nvPr/>
        </p:nvCxnSpPr>
        <p:spPr>
          <a:xfrm flipH="1" flipV="1">
            <a:off x="1828800" y="4915779"/>
            <a:ext cx="914376" cy="13980"/>
          </a:xfrm>
          <a:prstGeom prst="straightConnector1">
            <a:avLst/>
          </a:prstGeom>
          <a:noFill/>
          <a:ln w="28575" cap="flat" cmpd="sng" algn="ctr">
            <a:solidFill>
              <a:sysClr val="windowText" lastClr="000000"/>
            </a:solidFill>
            <a:prstDash val="solid"/>
            <a:miter lim="800000"/>
            <a:tailEnd type="triangle" w="lg" len="lg"/>
          </a:ln>
          <a:effectLst/>
        </p:spPr>
      </p:cxnSp>
      <p:sp>
        <p:nvSpPr>
          <p:cNvPr id="85" name="文本框 84">
            <a:extLst>
              <a:ext uri="{FF2B5EF4-FFF2-40B4-BE49-F238E27FC236}">
                <a16:creationId xmlns:a16="http://schemas.microsoft.com/office/drawing/2014/main" id="{86B316E4-935F-466A-AB48-63B3FAD2EC8E}"/>
              </a:ext>
            </a:extLst>
          </p:cNvPr>
          <p:cNvSpPr txBox="1"/>
          <p:nvPr/>
        </p:nvSpPr>
        <p:spPr>
          <a:xfrm>
            <a:off x="1831732" y="4608225"/>
            <a:ext cx="1192669" cy="276999"/>
          </a:xfrm>
          <a:prstGeom prst="rect">
            <a:avLst/>
          </a:prstGeom>
          <a:noFill/>
        </p:spPr>
        <p:txBody>
          <a:bodyPr wrap="square" rtlCol="0">
            <a:spAutoFit/>
          </a:bodyPr>
          <a:lstStyle/>
          <a:p>
            <a:r>
              <a:rPr lang="zh-CN" altLang="en-US" sz="1200" b="0" dirty="0">
                <a:solidFill>
                  <a:prstClr val="black"/>
                </a:solidFill>
                <a:latin typeface="微软雅黑" panose="020B0503020204020204" pitchFamily="34" charset="-122"/>
                <a:ea typeface="微软雅黑" panose="020B0503020204020204" pitchFamily="34" charset="-122"/>
              </a:rPr>
              <a:t>连接互联网</a:t>
            </a:r>
          </a:p>
        </p:txBody>
      </p:sp>
      <p:sp>
        <p:nvSpPr>
          <p:cNvPr id="86" name="文本框 85">
            <a:extLst>
              <a:ext uri="{FF2B5EF4-FFF2-40B4-BE49-F238E27FC236}">
                <a16:creationId xmlns:a16="http://schemas.microsoft.com/office/drawing/2014/main" id="{A4B35E40-D380-4242-BE84-9D89F5F136B6}"/>
              </a:ext>
            </a:extLst>
          </p:cNvPr>
          <p:cNvSpPr txBox="1"/>
          <p:nvPr/>
        </p:nvSpPr>
        <p:spPr>
          <a:xfrm>
            <a:off x="2491014" y="5228606"/>
            <a:ext cx="1192669" cy="276999"/>
          </a:xfrm>
          <a:prstGeom prst="rect">
            <a:avLst/>
          </a:prstGeom>
          <a:noFill/>
        </p:spPr>
        <p:txBody>
          <a:bodyPr wrap="square" rtlCol="0">
            <a:spAutoFit/>
          </a:bodyPr>
          <a:lstStyle/>
          <a:p>
            <a:r>
              <a:rPr lang="zh-CN" altLang="en-US" sz="1200" b="0" dirty="0">
                <a:solidFill>
                  <a:prstClr val="black"/>
                </a:solidFill>
                <a:latin typeface="微软雅黑" panose="020B0503020204020204" pitchFamily="34" charset="-122"/>
                <a:ea typeface="微软雅黑" panose="020B0503020204020204" pitchFamily="34" charset="-122"/>
              </a:rPr>
              <a:t>集线器</a:t>
            </a:r>
            <a:r>
              <a:rPr lang="en-US" altLang="zh-CN" sz="1200" b="0" dirty="0">
                <a:solidFill>
                  <a:prstClr val="black"/>
                </a:solidFill>
                <a:latin typeface="微软雅黑" panose="020B0503020204020204" pitchFamily="34" charset="-122"/>
                <a:ea typeface="微软雅黑" panose="020B0503020204020204" pitchFamily="34" charset="-122"/>
              </a:rPr>
              <a:t>/</a:t>
            </a:r>
            <a:r>
              <a:rPr lang="zh-CN" altLang="en-US" sz="1200" b="0" dirty="0">
                <a:solidFill>
                  <a:prstClr val="black"/>
                </a:solidFill>
                <a:latin typeface="微软雅黑" panose="020B0503020204020204" pitchFamily="34" charset="-122"/>
                <a:ea typeface="微软雅黑" panose="020B0503020204020204" pitchFamily="34" charset="-122"/>
              </a:rPr>
              <a:t>交换机</a:t>
            </a:r>
          </a:p>
        </p:txBody>
      </p:sp>
      <p:cxnSp>
        <p:nvCxnSpPr>
          <p:cNvPr id="87" name="直接箭头连接符 86">
            <a:extLst>
              <a:ext uri="{FF2B5EF4-FFF2-40B4-BE49-F238E27FC236}">
                <a16:creationId xmlns:a16="http://schemas.microsoft.com/office/drawing/2014/main" id="{EE5A4130-BC0F-4FA4-BA07-45C80C9CCE17}"/>
              </a:ext>
            </a:extLst>
          </p:cNvPr>
          <p:cNvCxnSpPr/>
          <p:nvPr/>
        </p:nvCxnSpPr>
        <p:spPr>
          <a:xfrm>
            <a:off x="5452495" y="1305180"/>
            <a:ext cx="0" cy="5046557"/>
          </a:xfrm>
          <a:prstGeom prst="straightConnector1">
            <a:avLst/>
          </a:prstGeom>
          <a:noFill/>
          <a:ln w="28575" cap="flat" cmpd="sng" algn="ctr">
            <a:solidFill>
              <a:srgbClr val="4472C4"/>
            </a:solidFill>
            <a:prstDash val="solid"/>
            <a:miter lim="800000"/>
            <a:headEnd w="lg" len="med"/>
            <a:tailEnd type="triangle" w="lg" len="med"/>
          </a:ln>
          <a:effectLst/>
        </p:spPr>
      </p:cxnSp>
      <p:sp>
        <p:nvSpPr>
          <p:cNvPr id="88" name="文本框 87">
            <a:extLst>
              <a:ext uri="{FF2B5EF4-FFF2-40B4-BE49-F238E27FC236}">
                <a16:creationId xmlns:a16="http://schemas.microsoft.com/office/drawing/2014/main" id="{0739C8D2-E6A9-4F88-8F01-9E149D36A31C}"/>
              </a:ext>
            </a:extLst>
          </p:cNvPr>
          <p:cNvSpPr txBox="1"/>
          <p:nvPr/>
        </p:nvSpPr>
        <p:spPr>
          <a:xfrm>
            <a:off x="5204873" y="6332396"/>
            <a:ext cx="623093" cy="276999"/>
          </a:xfrm>
          <a:prstGeom prst="rect">
            <a:avLst/>
          </a:prstGeom>
          <a:noFill/>
        </p:spPr>
        <p:txBody>
          <a:bodyPr wrap="square" rtlCol="0">
            <a:spAutoFit/>
          </a:bodyPr>
          <a:lstStyle/>
          <a:p>
            <a:r>
              <a:rPr lang="zh-CN" altLang="en-US" sz="1200" b="0" dirty="0">
                <a:solidFill>
                  <a:prstClr val="black"/>
                </a:solidFill>
                <a:latin typeface="微软雅黑" panose="020B0503020204020204" pitchFamily="34" charset="-122"/>
                <a:ea typeface="微软雅黑" panose="020B0503020204020204" pitchFamily="34" charset="-122"/>
              </a:rPr>
              <a:t>发送</a:t>
            </a:r>
          </a:p>
        </p:txBody>
      </p:sp>
      <p:sp>
        <p:nvSpPr>
          <p:cNvPr id="89" name="文本框 88">
            <a:extLst>
              <a:ext uri="{FF2B5EF4-FFF2-40B4-BE49-F238E27FC236}">
                <a16:creationId xmlns:a16="http://schemas.microsoft.com/office/drawing/2014/main" id="{5E2A32E3-6CB8-4F8C-8B6F-DE66B81FA8E2}"/>
              </a:ext>
            </a:extLst>
          </p:cNvPr>
          <p:cNvSpPr txBox="1"/>
          <p:nvPr/>
        </p:nvSpPr>
        <p:spPr>
          <a:xfrm>
            <a:off x="6449793" y="6329871"/>
            <a:ext cx="623093" cy="276999"/>
          </a:xfrm>
          <a:prstGeom prst="rect">
            <a:avLst/>
          </a:prstGeom>
          <a:noFill/>
        </p:spPr>
        <p:txBody>
          <a:bodyPr wrap="square" rtlCol="0">
            <a:spAutoFit/>
          </a:bodyPr>
          <a:lstStyle/>
          <a:p>
            <a:r>
              <a:rPr lang="zh-CN" altLang="en-US" sz="1200" b="0" dirty="0">
                <a:solidFill>
                  <a:prstClr val="black"/>
                </a:solidFill>
                <a:latin typeface="微软雅黑" panose="020B0503020204020204" pitchFamily="34" charset="-122"/>
                <a:ea typeface="微软雅黑" panose="020B0503020204020204" pitchFamily="34" charset="-122"/>
              </a:rPr>
              <a:t>接收</a:t>
            </a:r>
          </a:p>
        </p:txBody>
      </p:sp>
      <p:cxnSp>
        <p:nvCxnSpPr>
          <p:cNvPr id="90" name="直接箭头连接符 89">
            <a:extLst>
              <a:ext uri="{FF2B5EF4-FFF2-40B4-BE49-F238E27FC236}">
                <a16:creationId xmlns:a16="http://schemas.microsoft.com/office/drawing/2014/main" id="{E9BACB23-4C17-444D-BD1F-C77C1F983F74}"/>
              </a:ext>
            </a:extLst>
          </p:cNvPr>
          <p:cNvCxnSpPr/>
          <p:nvPr/>
        </p:nvCxnSpPr>
        <p:spPr>
          <a:xfrm>
            <a:off x="6648938" y="1305180"/>
            <a:ext cx="0" cy="5046557"/>
          </a:xfrm>
          <a:prstGeom prst="straightConnector1">
            <a:avLst/>
          </a:prstGeom>
          <a:noFill/>
          <a:ln w="28575" cap="flat" cmpd="sng" algn="ctr">
            <a:solidFill>
              <a:srgbClr val="FF9900"/>
            </a:solidFill>
            <a:prstDash val="solid"/>
            <a:miter lim="800000"/>
            <a:headEnd type="triangle" w="lg" len="med"/>
            <a:tailEnd type="none"/>
          </a:ln>
          <a:effectLst/>
        </p:spPr>
      </p:cxnSp>
    </p:spTree>
    <p:extLst>
      <p:ext uri="{BB962C8B-B14F-4D97-AF65-F5344CB8AC3E}">
        <p14:creationId xmlns:p14="http://schemas.microsoft.com/office/powerpoint/2010/main" val="3698281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6">
            <a:extLst>
              <a:ext uri="{FF2B5EF4-FFF2-40B4-BE49-F238E27FC236}">
                <a16:creationId xmlns:a16="http://schemas.microsoft.com/office/drawing/2014/main" id="{13AC6553-0314-49B1-9F4E-512292E11F43}"/>
              </a:ext>
            </a:extLst>
          </p:cNvPr>
          <p:cNvSpPr txBox="1"/>
          <p:nvPr/>
        </p:nvSpPr>
        <p:spPr>
          <a:xfrm>
            <a:off x="1257300" y="1143000"/>
            <a:ext cx="9677399" cy="468698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lnSpc>
                <a:spcPct val="200000"/>
              </a:lnSpc>
              <a:buClr>
                <a:srgbClr val="FF0000"/>
              </a:buClr>
              <a:buSzPct val="80000"/>
              <a:defRPr/>
            </a:pPr>
            <a:r>
              <a:rPr lang="zh-CN" altLang="en-US" b="0" dirty="0">
                <a:latin typeface="微软雅黑" panose="020B0503020204020204" pitchFamily="34" charset="-122"/>
                <a:ea typeface="微软雅黑" panose="020B0503020204020204" pitchFamily="34" charset="-122"/>
                <a:cs typeface="+mn-ea"/>
                <a:sym typeface="+mn-lt"/>
              </a:rPr>
              <a:t>网络层提供端到端的数据传输，而数据链路层提供的是节点到节点的传输。数据链路层负责确保数据的透明可靠传输和管理网络资源，还支持多种网络拓扑结构和安全措施，为网络层的正常运行提供了畅通无阻的基本条件。</a:t>
            </a:r>
            <a:endParaRPr lang="en-US" altLang="zh-CN" b="0" dirty="0">
              <a:latin typeface="微软雅黑" panose="020B0503020204020204" pitchFamily="34" charset="-122"/>
              <a:ea typeface="微软雅黑" panose="020B0503020204020204" pitchFamily="34" charset="-122"/>
              <a:cs typeface="+mn-ea"/>
              <a:sym typeface="+mn-lt"/>
            </a:endParaRPr>
          </a:p>
          <a:p>
            <a:pPr marL="182563" indent="352425" algn="just">
              <a:lnSpc>
                <a:spcPct val="200000"/>
              </a:lnSpc>
              <a:buClr>
                <a:srgbClr val="FF0000"/>
              </a:buClr>
              <a:buSzPct val="80000"/>
              <a:defRPr/>
            </a:pPr>
            <a:endParaRPr lang="en-US" altLang="zh-CN" sz="800" b="0" dirty="0">
              <a:latin typeface="微软雅黑" panose="020B0503020204020204" pitchFamily="34" charset="-122"/>
              <a:ea typeface="微软雅黑" panose="020B0503020204020204" pitchFamily="34" charset="-122"/>
              <a:cs typeface="+mn-ea"/>
              <a:sym typeface="+mn-lt"/>
            </a:endParaRPr>
          </a:p>
          <a:p>
            <a:pPr marL="182563" indent="352425" algn="just">
              <a:lnSpc>
                <a:spcPct val="200000"/>
              </a:lnSpc>
              <a:buClr>
                <a:srgbClr val="FF0000"/>
              </a:buClr>
              <a:buSzPct val="80000"/>
              <a:buFont typeface="Wingdings" panose="05000000000000000000" pitchFamily="2" charset="2"/>
              <a:buChar char="u"/>
              <a:defRPr/>
            </a:pPr>
            <a:r>
              <a:rPr lang="zh-CN" altLang="en-US" dirty="0">
                <a:latin typeface="微软雅黑" panose="020B0503020204020204" pitchFamily="34" charset="-122"/>
                <a:ea typeface="微软雅黑" panose="020B0503020204020204" pitchFamily="34" charset="-122"/>
                <a:cs typeface="+mn-ea"/>
                <a:sym typeface="+mn-lt"/>
              </a:rPr>
              <a:t>提供可靠的数据传输服务</a:t>
            </a:r>
            <a:endParaRPr lang="en-US" altLang="zh-CN" dirty="0">
              <a:latin typeface="微软雅黑" panose="020B0503020204020204" pitchFamily="34" charset="-122"/>
              <a:ea typeface="微软雅黑" panose="020B0503020204020204" pitchFamily="34" charset="-122"/>
              <a:cs typeface="+mn-ea"/>
              <a:sym typeface="+mn-lt"/>
            </a:endParaRPr>
          </a:p>
          <a:p>
            <a:pPr marL="182563" indent="352425" algn="just">
              <a:lnSpc>
                <a:spcPct val="200000"/>
              </a:lnSpc>
              <a:buClr>
                <a:srgbClr val="FF0000"/>
              </a:buClr>
              <a:buSzPct val="80000"/>
              <a:buFont typeface="Wingdings" panose="05000000000000000000" pitchFamily="2" charset="2"/>
              <a:buChar char="u"/>
              <a:defRPr/>
            </a:pPr>
            <a:r>
              <a:rPr lang="zh-CN" altLang="en-US" dirty="0">
                <a:latin typeface="微软雅黑" panose="020B0503020204020204" pitchFamily="34" charset="-122"/>
                <a:ea typeface="微软雅黑" panose="020B0503020204020204" pitchFamily="34" charset="-122"/>
                <a:cs typeface="+mn-ea"/>
                <a:sym typeface="+mn-lt"/>
              </a:rPr>
              <a:t>提供节点到节点的数据传输服务</a:t>
            </a:r>
            <a:endParaRPr lang="en-US" altLang="zh-CN" dirty="0">
              <a:latin typeface="微软雅黑" panose="020B0503020204020204" pitchFamily="34" charset="-122"/>
              <a:ea typeface="微软雅黑" panose="020B0503020204020204" pitchFamily="34" charset="-122"/>
              <a:cs typeface="+mn-ea"/>
              <a:sym typeface="+mn-lt"/>
            </a:endParaRPr>
          </a:p>
          <a:p>
            <a:pPr marL="182563" indent="352425" algn="just">
              <a:lnSpc>
                <a:spcPct val="200000"/>
              </a:lnSpc>
              <a:buClr>
                <a:srgbClr val="FF0000"/>
              </a:buClr>
              <a:buSzPct val="80000"/>
              <a:buFont typeface="Wingdings" panose="05000000000000000000" pitchFamily="2" charset="2"/>
              <a:buChar char="u"/>
              <a:defRPr/>
            </a:pPr>
            <a:r>
              <a:rPr lang="zh-CN" altLang="en-US" dirty="0">
                <a:latin typeface="微软雅黑" panose="020B0503020204020204" pitchFamily="34" charset="-122"/>
                <a:ea typeface="微软雅黑" panose="020B0503020204020204" pitchFamily="34" charset="-122"/>
                <a:cs typeface="+mn-ea"/>
                <a:sym typeface="+mn-lt"/>
              </a:rPr>
              <a:t>提供网络拓扑结构的支持</a:t>
            </a:r>
            <a:endParaRPr lang="en-US" altLang="zh-CN" b="0" dirty="0">
              <a:latin typeface="微软雅黑" panose="020B0503020204020204" pitchFamily="34" charset="-122"/>
              <a:ea typeface="微软雅黑" panose="020B0503020204020204" pitchFamily="34" charset="-122"/>
              <a:cs typeface="+mn-ea"/>
              <a:sym typeface="+mn-lt"/>
            </a:endParaRPr>
          </a:p>
          <a:p>
            <a:pPr marL="182563" indent="352425" algn="just">
              <a:lnSpc>
                <a:spcPct val="200000"/>
              </a:lnSpc>
              <a:buClr>
                <a:srgbClr val="FF0000"/>
              </a:buClr>
              <a:buSzPct val="80000"/>
              <a:buFont typeface="Wingdings" panose="05000000000000000000" pitchFamily="2" charset="2"/>
              <a:buChar char="u"/>
              <a:defRPr/>
            </a:pPr>
            <a:r>
              <a:rPr lang="zh-CN" altLang="en-US" dirty="0">
                <a:latin typeface="微软雅黑" panose="020B0503020204020204" pitchFamily="34" charset="-122"/>
                <a:ea typeface="微软雅黑" panose="020B0503020204020204" pitchFamily="34" charset="-122"/>
                <a:cs typeface="+mn-ea"/>
                <a:sym typeface="+mn-lt"/>
              </a:rPr>
              <a:t>提供网络安全保障</a:t>
            </a:r>
            <a:endParaRPr lang="en-US" altLang="zh-CN" b="0" dirty="0">
              <a:latin typeface="微软雅黑" panose="020B0503020204020204" pitchFamily="34" charset="-122"/>
              <a:ea typeface="微软雅黑" panose="020B0503020204020204" pitchFamily="34" charset="-122"/>
              <a:cs typeface="+mn-ea"/>
              <a:sym typeface="+mn-lt"/>
            </a:endParaRPr>
          </a:p>
          <a:p>
            <a:pPr marL="182563" indent="352425" algn="just">
              <a:lnSpc>
                <a:spcPct val="200000"/>
              </a:lnSpc>
              <a:buClr>
                <a:srgbClr val="FF0000"/>
              </a:buClr>
              <a:buSzPct val="80000"/>
              <a:buFont typeface="Wingdings" panose="05000000000000000000" pitchFamily="2" charset="2"/>
              <a:buChar char="u"/>
              <a:defRPr/>
            </a:pPr>
            <a:r>
              <a:rPr lang="zh-CN" altLang="en-US" dirty="0">
                <a:latin typeface="微软雅黑" panose="020B0503020204020204" pitchFamily="34" charset="-122"/>
                <a:ea typeface="微软雅黑" panose="020B0503020204020204" pitchFamily="34" charset="-122"/>
                <a:cs typeface="+mn-ea"/>
                <a:sym typeface="+mn-lt"/>
              </a:rPr>
              <a:t>管理数据链路连接</a:t>
            </a:r>
            <a:endParaRPr lang="zh-CN" altLang="en-US" b="0" dirty="0">
              <a:latin typeface="微软雅黑" panose="020B0503020204020204" pitchFamily="34" charset="-122"/>
              <a:ea typeface="微软雅黑" panose="020B0503020204020204" pitchFamily="34" charset="-122"/>
              <a:cs typeface="+mn-ea"/>
              <a:sym typeface="+mn-lt"/>
            </a:endParaRPr>
          </a:p>
        </p:txBody>
      </p:sp>
      <p:sp>
        <p:nvSpPr>
          <p:cNvPr id="2" name="矩形 1">
            <a:extLst>
              <a:ext uri="{FF2B5EF4-FFF2-40B4-BE49-F238E27FC236}">
                <a16:creationId xmlns:a16="http://schemas.microsoft.com/office/drawing/2014/main" id="{0BB9D2AC-F1FD-8AEC-D9B6-B068933CCC48}"/>
              </a:ext>
            </a:extLst>
          </p:cNvPr>
          <p:cNvSpPr>
            <a:spLocks noChangeArrowheads="1"/>
          </p:cNvSpPr>
          <p:nvPr/>
        </p:nvSpPr>
        <p:spPr bwMode="auto">
          <a:xfrm>
            <a:off x="4057650" y="76200"/>
            <a:ext cx="37593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2800" dirty="0">
                <a:solidFill>
                  <a:schemeClr val="bg1"/>
                </a:solidFill>
                <a:latin typeface="微软雅黑" panose="020B0503020204020204" pitchFamily="34" charset="-122"/>
                <a:ea typeface="微软雅黑" panose="020B0503020204020204" pitchFamily="34" charset="-122"/>
              </a:rPr>
              <a:t>网络层 </a:t>
            </a:r>
            <a:r>
              <a:rPr lang="en-US" altLang="zh-CN" sz="2800" dirty="0">
                <a:solidFill>
                  <a:schemeClr val="bg1"/>
                </a:solidFill>
                <a:latin typeface="微软雅黑" panose="020B0503020204020204" pitchFamily="34" charset="-122"/>
                <a:ea typeface="微软雅黑" panose="020B0503020204020204" pitchFamily="34" charset="-122"/>
              </a:rPr>
              <a:t>vs. </a:t>
            </a:r>
            <a:r>
              <a:rPr lang="zh-CN" altLang="en-US" sz="2800" dirty="0">
                <a:solidFill>
                  <a:schemeClr val="bg1"/>
                </a:solidFill>
                <a:latin typeface="微软雅黑" panose="020B0503020204020204" pitchFamily="34" charset="-122"/>
                <a:ea typeface="微软雅黑" panose="020B0503020204020204" pitchFamily="34" charset="-122"/>
              </a:rPr>
              <a:t>数据链路层</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5">
            <a:extLst>
              <a:ext uri="{FF2B5EF4-FFF2-40B4-BE49-F238E27FC236}">
                <a16:creationId xmlns:a16="http://schemas.microsoft.com/office/drawing/2014/main" id="{11AFA399-CA87-4F86-9337-8F1129868494}"/>
              </a:ext>
            </a:extLst>
          </p:cNvPr>
          <p:cNvGraphicFramePr>
            <a:graphicFrameLocks noChangeAspect="1"/>
          </p:cNvGraphicFramePr>
          <p:nvPr>
            <p:extLst>
              <p:ext uri="{D42A27DB-BD31-4B8C-83A1-F6EECF244321}">
                <p14:modId xmlns:p14="http://schemas.microsoft.com/office/powerpoint/2010/main" val="466347015"/>
              </p:ext>
            </p:extLst>
          </p:nvPr>
        </p:nvGraphicFramePr>
        <p:xfrm>
          <a:off x="2667000" y="3429000"/>
          <a:ext cx="6634197" cy="2573338"/>
        </p:xfrm>
        <a:graphic>
          <a:graphicData uri="http://schemas.openxmlformats.org/presentationml/2006/ole">
            <mc:AlternateContent xmlns:mc="http://schemas.openxmlformats.org/markup-compatibility/2006">
              <mc:Choice xmlns:v="urn:schemas-microsoft-com:vml" Requires="v">
                <p:oleObj spid="_x0000_s1032" r:id="rId4" imgW="3713607" imgH="1466469" progId="Visio.Drawing.11">
                  <p:embed/>
                </p:oleObj>
              </mc:Choice>
              <mc:Fallback>
                <p:oleObj r:id="rId4" imgW="3713607" imgH="1466469" progId="Visio.Drawing.11">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3429000"/>
                        <a:ext cx="6634197" cy="2573338"/>
                      </a:xfrm>
                      <a:prstGeom prst="rect">
                        <a:avLst/>
                      </a:prstGeom>
                      <a:noFill/>
                      <a:ln>
                        <a:noFill/>
                      </a:ln>
                    </p:spPr>
                  </p:pic>
                </p:oleObj>
              </mc:Fallback>
            </mc:AlternateContent>
          </a:graphicData>
        </a:graphic>
      </p:graphicFrame>
      <p:sp>
        <p:nvSpPr>
          <p:cNvPr id="2" name="矩形 1">
            <a:extLst>
              <a:ext uri="{FF2B5EF4-FFF2-40B4-BE49-F238E27FC236}">
                <a16:creationId xmlns:a16="http://schemas.microsoft.com/office/drawing/2014/main" id="{6D186891-E12D-4229-876C-140325430C04}"/>
              </a:ext>
            </a:extLst>
          </p:cNvPr>
          <p:cNvSpPr/>
          <p:nvPr/>
        </p:nvSpPr>
        <p:spPr>
          <a:xfrm>
            <a:off x="990600" y="990600"/>
            <a:ext cx="10210800" cy="2224776"/>
          </a:xfrm>
          <a:prstGeom prst="rect">
            <a:avLst/>
          </a:prstGeom>
        </p:spPr>
        <p:txBody>
          <a:bodyPr wrap="square">
            <a:spAutoFit/>
          </a:bodyPr>
          <a:lstStyle/>
          <a:p>
            <a:pPr marL="285750" indent="-285750" algn="just" defTabSz="457200">
              <a:lnSpc>
                <a:spcPct val="200000"/>
              </a:lnSpc>
              <a:buClr>
                <a:srgbClr val="FF0000"/>
              </a:buClr>
              <a:buSzPct val="80000"/>
              <a:buFont typeface="Wingdings" panose="05000000000000000000" pitchFamily="2" charset="2"/>
              <a:buChar char="u"/>
              <a:defRPr/>
            </a:pPr>
            <a:r>
              <a:rPr lang="zh-CN" altLang="en-US" sz="1800" dirty="0">
                <a:latin typeface="微软雅黑" panose="020B0503020204020204" pitchFamily="34" charset="-122"/>
                <a:ea typeface="微软雅黑" panose="020B0503020204020204" pitchFamily="34" charset="-122"/>
                <a:cs typeface="+mn-ea"/>
              </a:rPr>
              <a:t>物理线路</a:t>
            </a:r>
            <a:r>
              <a:rPr lang="zh-CN" altLang="en-US" sz="1800" b="0" dirty="0">
                <a:latin typeface="微软雅黑" panose="020B0503020204020204" pitchFamily="34" charset="-122"/>
                <a:ea typeface="微软雅黑" panose="020B0503020204020204" pitchFamily="34" charset="-122"/>
                <a:cs typeface="+mn-ea"/>
              </a:rPr>
              <a:t>通常是指实际的一段物理电路，用于连接两个传输设备或一台计算机与一个传输设备。</a:t>
            </a:r>
            <a:endParaRPr lang="en-US" altLang="zh-CN" sz="1800" b="0" dirty="0">
              <a:latin typeface="微软雅黑" panose="020B0503020204020204" pitchFamily="34" charset="-122"/>
              <a:ea typeface="微软雅黑" panose="020B0503020204020204" pitchFamily="34" charset="-122"/>
              <a:cs typeface="+mn-ea"/>
            </a:endParaRPr>
          </a:p>
          <a:p>
            <a:pPr marL="285750" indent="-285750" algn="just" defTabSz="457200">
              <a:lnSpc>
                <a:spcPct val="200000"/>
              </a:lnSpc>
              <a:buClr>
                <a:srgbClr val="FF0000"/>
              </a:buClr>
              <a:buSzPct val="80000"/>
              <a:buFont typeface="Wingdings" panose="05000000000000000000" pitchFamily="2" charset="2"/>
              <a:buChar char="u"/>
              <a:defRPr/>
            </a:pPr>
            <a:r>
              <a:rPr lang="zh-CN" altLang="en-US" sz="1800" b="0" dirty="0">
                <a:latin typeface="微软雅黑" panose="020B0503020204020204" pitchFamily="34" charset="-122"/>
                <a:ea typeface="微软雅黑" panose="020B0503020204020204" pitchFamily="34" charset="-122"/>
                <a:cs typeface="+mn-ea"/>
              </a:rPr>
              <a:t>在两台计算机之间传输数据，除了需要一条物理线路及相应的传输设备之外，还需要协议来控制数据在线路上的传输，以保证数据传输过程的正确性。实现这些协议的硬件、软件与物理线路共同构成了</a:t>
            </a:r>
            <a:r>
              <a:rPr lang="zh-CN" altLang="en-US" sz="1800" dirty="0">
                <a:latin typeface="微软雅黑" panose="020B0503020204020204" pitchFamily="34" charset="-122"/>
                <a:ea typeface="微软雅黑" panose="020B0503020204020204" pitchFamily="34" charset="-122"/>
                <a:cs typeface="+mn-ea"/>
              </a:rPr>
              <a:t>数据链路</a:t>
            </a:r>
            <a:r>
              <a:rPr lang="zh-CN" altLang="en-US" sz="1800" b="0" dirty="0">
                <a:latin typeface="微软雅黑" panose="020B0503020204020204" pitchFamily="34" charset="-122"/>
                <a:ea typeface="微软雅黑" panose="020B0503020204020204" pitchFamily="34" charset="-122"/>
                <a:cs typeface="+mn-ea"/>
              </a:rPr>
              <a:t>。</a:t>
            </a:r>
          </a:p>
        </p:txBody>
      </p:sp>
      <p:sp>
        <p:nvSpPr>
          <p:cNvPr id="3" name="矩形 1">
            <a:extLst>
              <a:ext uri="{FF2B5EF4-FFF2-40B4-BE49-F238E27FC236}">
                <a16:creationId xmlns:a16="http://schemas.microsoft.com/office/drawing/2014/main" id="{A2C00CCC-CD15-83FC-DF84-648AD50587BA}"/>
              </a:ext>
            </a:extLst>
          </p:cNvPr>
          <p:cNvSpPr>
            <a:spLocks noChangeArrowheads="1"/>
          </p:cNvSpPr>
          <p:nvPr/>
        </p:nvSpPr>
        <p:spPr bwMode="auto">
          <a:xfrm>
            <a:off x="4057650" y="76200"/>
            <a:ext cx="37593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2800" dirty="0">
                <a:solidFill>
                  <a:schemeClr val="bg1"/>
                </a:solidFill>
                <a:latin typeface="微软雅黑" panose="020B0503020204020204" pitchFamily="34" charset="-122"/>
                <a:ea typeface="微软雅黑" panose="020B0503020204020204" pitchFamily="34" charset="-122"/>
              </a:rPr>
              <a:t>物理线路 </a:t>
            </a:r>
            <a:r>
              <a:rPr lang="en-US" altLang="zh-CN" sz="2800" dirty="0">
                <a:solidFill>
                  <a:schemeClr val="bg1"/>
                </a:solidFill>
                <a:latin typeface="微软雅黑" panose="020B0503020204020204" pitchFamily="34" charset="-122"/>
                <a:ea typeface="微软雅黑" panose="020B0503020204020204" pitchFamily="34" charset="-122"/>
              </a:rPr>
              <a:t>vs. </a:t>
            </a:r>
            <a:r>
              <a:rPr lang="zh-CN" altLang="en-US" sz="2800" dirty="0">
                <a:solidFill>
                  <a:schemeClr val="bg1"/>
                </a:solidFill>
                <a:latin typeface="微软雅黑" panose="020B0503020204020204" pitchFamily="34" charset="-122"/>
                <a:ea typeface="微软雅黑" panose="020B0503020204020204" pitchFamily="34" charset="-122"/>
              </a:rPr>
              <a:t>数据链路</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73F1F58-6E53-48C5-8A10-F7972F498BB0}"/>
              </a:ext>
            </a:extLst>
          </p:cNvPr>
          <p:cNvSpPr/>
          <p:nvPr/>
        </p:nvSpPr>
        <p:spPr>
          <a:xfrm>
            <a:off x="1409700" y="1143000"/>
            <a:ext cx="9372600" cy="4966231"/>
          </a:xfrm>
          <a:prstGeom prst="rect">
            <a:avLst/>
          </a:prstGeom>
        </p:spPr>
        <p:txBody>
          <a:bodyPr wrap="square">
            <a:spAutoFit/>
          </a:bodyPr>
          <a:lstStyle/>
          <a:p>
            <a:pPr marL="342900" indent="-342900" algn="just">
              <a:lnSpc>
                <a:spcPts val="3500"/>
              </a:lnSpc>
              <a:spcBef>
                <a:spcPts val="0"/>
              </a:spcBef>
              <a:buClr>
                <a:srgbClr val="FF0000"/>
              </a:buClr>
              <a:buSzPct val="80000"/>
              <a:buFont typeface="Wingdings" panose="05000000000000000000" pitchFamily="2" charset="2"/>
              <a:buChar char="u"/>
              <a:defRPr/>
            </a:pPr>
            <a:r>
              <a:rPr lang="zh-CN" altLang="en-US" sz="1800" dirty="0">
                <a:latin typeface="微软雅黑" panose="020B0503020204020204" pitchFamily="34" charset="-122"/>
                <a:ea typeface="微软雅黑" panose="020B0503020204020204" pitchFamily="34" charset="-122"/>
              </a:rPr>
              <a:t>链路管理</a:t>
            </a:r>
            <a:endParaRPr lang="en-US" altLang="zh-CN" sz="1800" dirty="0">
              <a:latin typeface="微软雅黑" panose="020B0503020204020204" pitchFamily="34" charset="-122"/>
              <a:ea typeface="微软雅黑" panose="020B0503020204020204" pitchFamily="34" charset="-122"/>
            </a:endParaRPr>
          </a:p>
          <a:p>
            <a:pPr indent="352425" algn="just">
              <a:lnSpc>
                <a:spcPts val="3500"/>
              </a:lnSpc>
              <a:spcBef>
                <a:spcPts val="0"/>
              </a:spcBef>
              <a:buClr>
                <a:srgbClr val="FF0000"/>
              </a:buClr>
              <a:buSzPct val="80000"/>
              <a:defRPr/>
            </a:pPr>
            <a:r>
              <a:rPr lang="zh-CN" altLang="en-US" sz="1600" b="0" kern="0" dirty="0">
                <a:latin typeface="微软雅黑" panose="020B0503020204020204" pitchFamily="34" charset="-122"/>
                <a:ea typeface="微软雅黑" panose="020B0503020204020204" pitchFamily="34" charset="-122"/>
                <a:cs typeface="+mn-ea"/>
              </a:rPr>
              <a:t>数据链路的建立、维持和释放称为链路管理。</a:t>
            </a:r>
            <a:endParaRPr lang="zh-CN" altLang="en-US" sz="800" kern="0" dirty="0">
              <a:latin typeface="微软雅黑" panose="020B0503020204020204" pitchFamily="34" charset="-122"/>
              <a:ea typeface="微软雅黑" panose="020B0503020204020204" pitchFamily="34" charset="-122"/>
              <a:cs typeface="+mn-ea"/>
            </a:endParaRPr>
          </a:p>
          <a:p>
            <a:pPr marL="342900" indent="-342900" algn="just">
              <a:lnSpc>
                <a:spcPts val="3500"/>
              </a:lnSpc>
              <a:spcBef>
                <a:spcPts val="0"/>
              </a:spcBef>
              <a:buClr>
                <a:srgbClr val="FF0000"/>
              </a:buClr>
              <a:buSzPct val="80000"/>
              <a:buFont typeface="Wingdings" panose="05000000000000000000" pitchFamily="2" charset="2"/>
              <a:buChar char="u"/>
              <a:defRPr/>
            </a:pPr>
            <a:r>
              <a:rPr lang="zh-CN" altLang="en-US" sz="1800" dirty="0">
                <a:latin typeface="微软雅黑" panose="020B0503020204020204" pitchFamily="34" charset="-122"/>
                <a:ea typeface="微软雅黑" panose="020B0503020204020204" pitchFamily="34" charset="-122"/>
              </a:rPr>
              <a:t>帧同步</a:t>
            </a:r>
            <a:endParaRPr lang="en-US" altLang="zh-CN" sz="1800" dirty="0">
              <a:latin typeface="微软雅黑" panose="020B0503020204020204" pitchFamily="34" charset="-122"/>
              <a:ea typeface="微软雅黑" panose="020B0503020204020204" pitchFamily="34" charset="-122"/>
            </a:endParaRPr>
          </a:p>
          <a:p>
            <a:pPr marL="339725" indent="12700" algn="just">
              <a:lnSpc>
                <a:spcPts val="3500"/>
              </a:lnSpc>
              <a:spcBef>
                <a:spcPts val="0"/>
              </a:spcBef>
              <a:buClr>
                <a:srgbClr val="FF0000"/>
              </a:buClr>
              <a:buSzPct val="80000"/>
              <a:defRPr/>
            </a:pPr>
            <a:r>
              <a:rPr lang="zh-CN" altLang="en-US" sz="1600" b="0" kern="0" dirty="0">
                <a:latin typeface="微软雅黑" panose="020B0503020204020204" pitchFamily="34" charset="-122"/>
                <a:ea typeface="微软雅黑" panose="020B0503020204020204" pitchFamily="34" charset="-122"/>
                <a:cs typeface="+mn-ea"/>
              </a:rPr>
              <a:t>接收方能从接收的比特序列中正确判断出一帧的开始与结束位。</a:t>
            </a:r>
            <a:endParaRPr lang="en-US" altLang="zh-CN" sz="1600" b="0" kern="0" dirty="0">
              <a:latin typeface="微软雅黑" panose="020B0503020204020204" pitchFamily="34" charset="-122"/>
              <a:ea typeface="微软雅黑" panose="020B0503020204020204" pitchFamily="34" charset="-122"/>
              <a:cs typeface="+mn-ea"/>
            </a:endParaRPr>
          </a:p>
          <a:p>
            <a:pPr marL="342900" indent="-342900" algn="just">
              <a:lnSpc>
                <a:spcPts val="3500"/>
              </a:lnSpc>
              <a:spcBef>
                <a:spcPts val="0"/>
              </a:spcBef>
              <a:buClr>
                <a:srgbClr val="FF0000"/>
              </a:buClr>
              <a:buSzPct val="80000"/>
              <a:buFont typeface="Wingdings" panose="05000000000000000000" pitchFamily="2" charset="2"/>
              <a:buChar char="u"/>
              <a:defRPr/>
            </a:pPr>
            <a:r>
              <a:rPr lang="zh-CN" altLang="en-US" sz="1800" dirty="0">
                <a:latin typeface="微软雅黑" panose="020B0503020204020204" pitchFamily="34" charset="-122"/>
                <a:ea typeface="微软雅黑" panose="020B0503020204020204" pitchFamily="34" charset="-122"/>
              </a:rPr>
              <a:t>流量控制</a:t>
            </a:r>
            <a:endParaRPr lang="en-US" altLang="zh-CN" sz="1800" dirty="0">
              <a:latin typeface="微软雅黑" panose="020B0503020204020204" pitchFamily="34" charset="-122"/>
              <a:ea typeface="微软雅黑" panose="020B0503020204020204" pitchFamily="34" charset="-122"/>
            </a:endParaRPr>
          </a:p>
          <a:p>
            <a:pPr marL="339725" indent="12700" algn="just">
              <a:lnSpc>
                <a:spcPts val="3500"/>
              </a:lnSpc>
              <a:spcBef>
                <a:spcPts val="0"/>
              </a:spcBef>
              <a:buClr>
                <a:srgbClr val="FF0000"/>
              </a:buClr>
              <a:buSzPct val="80000"/>
              <a:defRPr/>
            </a:pPr>
            <a:r>
              <a:rPr lang="zh-CN" altLang="en-US" sz="1600" b="0" kern="0" dirty="0">
                <a:latin typeface="微软雅黑" panose="020B0503020204020204" pitchFamily="34" charset="-122"/>
                <a:ea typeface="微软雅黑" panose="020B0503020204020204" pitchFamily="34" charset="-122"/>
                <a:cs typeface="+mn-ea"/>
              </a:rPr>
              <a:t>通信双方需要协调数据发送与接收速率是否匹配。</a:t>
            </a:r>
          </a:p>
          <a:p>
            <a:pPr marL="342900" indent="-342900" algn="just">
              <a:lnSpc>
                <a:spcPts val="3500"/>
              </a:lnSpc>
              <a:spcBef>
                <a:spcPts val="0"/>
              </a:spcBef>
              <a:buClr>
                <a:srgbClr val="FF0000"/>
              </a:buClr>
              <a:buSzPct val="80000"/>
              <a:buFont typeface="Wingdings" panose="05000000000000000000" pitchFamily="2" charset="2"/>
              <a:buChar char="u"/>
              <a:defRPr/>
            </a:pPr>
            <a:r>
              <a:rPr lang="zh-CN" altLang="en-US" sz="1800" dirty="0">
                <a:latin typeface="微软雅黑" panose="020B0503020204020204" pitchFamily="34" charset="-122"/>
                <a:ea typeface="微软雅黑" panose="020B0503020204020204" pitchFamily="34" charset="-122"/>
              </a:rPr>
              <a:t>差错控制</a:t>
            </a:r>
            <a:endParaRPr lang="en-US" altLang="zh-CN" sz="1800" dirty="0">
              <a:latin typeface="微软雅黑" panose="020B0503020204020204" pitchFamily="34" charset="-122"/>
              <a:ea typeface="微软雅黑" panose="020B0503020204020204" pitchFamily="34" charset="-122"/>
            </a:endParaRPr>
          </a:p>
          <a:p>
            <a:pPr marL="339725" indent="12700" algn="just">
              <a:lnSpc>
                <a:spcPts val="3500"/>
              </a:lnSpc>
              <a:spcBef>
                <a:spcPts val="0"/>
              </a:spcBef>
              <a:buClr>
                <a:srgbClr val="FF0000"/>
              </a:buClr>
              <a:buSzPct val="80000"/>
              <a:defRPr/>
            </a:pPr>
            <a:r>
              <a:rPr lang="zh-CN" altLang="en-US" sz="1600" b="0" kern="0" dirty="0">
                <a:latin typeface="微软雅黑" panose="020B0503020204020204" pitchFamily="34" charset="-122"/>
                <a:ea typeface="微软雅黑" panose="020B0503020204020204" pitchFamily="34" charset="-122"/>
                <a:cs typeface="+mn-ea"/>
              </a:rPr>
              <a:t>将有差错的物理线路变成无差错的数据链路。</a:t>
            </a:r>
          </a:p>
          <a:p>
            <a:pPr marL="342900" indent="-342900" algn="just">
              <a:lnSpc>
                <a:spcPts val="3500"/>
              </a:lnSpc>
              <a:spcBef>
                <a:spcPts val="0"/>
              </a:spcBef>
              <a:buClr>
                <a:srgbClr val="FF0000"/>
              </a:buClr>
              <a:buSzPct val="80000"/>
              <a:buFont typeface="Wingdings" panose="05000000000000000000" pitchFamily="2" charset="2"/>
              <a:buChar char="u"/>
              <a:defRPr/>
            </a:pPr>
            <a:r>
              <a:rPr lang="zh-CN" altLang="en-US" sz="1800" dirty="0">
                <a:latin typeface="微软雅黑" panose="020B0503020204020204" pitchFamily="34" charset="-122"/>
                <a:ea typeface="微软雅黑" panose="020B0503020204020204" pitchFamily="34" charset="-122"/>
              </a:rPr>
              <a:t>透明传输</a:t>
            </a:r>
            <a:endParaRPr lang="en-US" altLang="zh-CN" sz="1800" dirty="0">
              <a:latin typeface="微软雅黑" panose="020B0503020204020204" pitchFamily="34" charset="-122"/>
              <a:ea typeface="微软雅黑" panose="020B0503020204020204" pitchFamily="34" charset="-122"/>
            </a:endParaRPr>
          </a:p>
          <a:p>
            <a:pPr marL="339725" indent="12700" algn="just">
              <a:lnSpc>
                <a:spcPts val="3500"/>
              </a:lnSpc>
              <a:spcBef>
                <a:spcPts val="0"/>
              </a:spcBef>
              <a:buClr>
                <a:srgbClr val="FF0000"/>
              </a:buClr>
              <a:buSzPct val="80000"/>
              <a:defRPr/>
            </a:pPr>
            <a:r>
              <a:rPr lang="zh-CN" altLang="en-US" sz="1600" b="0" kern="0" dirty="0">
                <a:latin typeface="微软雅黑" panose="020B0503020204020204" pitchFamily="34" charset="-122"/>
                <a:ea typeface="微软雅黑" panose="020B0503020204020204" pitchFamily="34" charset="-122"/>
                <a:cs typeface="+mn-ea"/>
              </a:rPr>
              <a:t>当传输数据中出现控制字符时，必须防止接收方将数据内容误认为是控制信息，这就是帧传输“透明性”问题。</a:t>
            </a:r>
          </a:p>
        </p:txBody>
      </p:sp>
      <p:sp>
        <p:nvSpPr>
          <p:cNvPr id="11267" name="矩形 1">
            <a:extLst>
              <a:ext uri="{FF2B5EF4-FFF2-40B4-BE49-F238E27FC236}">
                <a16:creationId xmlns:a16="http://schemas.microsoft.com/office/drawing/2014/main" id="{BBAB429C-2FF6-49BC-A3AD-0291E212F8F1}"/>
              </a:ext>
            </a:extLst>
          </p:cNvPr>
          <p:cNvSpPr>
            <a:spLocks noChangeArrowheads="1"/>
          </p:cNvSpPr>
          <p:nvPr/>
        </p:nvSpPr>
        <p:spPr bwMode="auto">
          <a:xfrm>
            <a:off x="4057650" y="76200"/>
            <a:ext cx="37909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2800" dirty="0">
                <a:solidFill>
                  <a:schemeClr val="bg1"/>
                </a:solidFill>
                <a:latin typeface="微软雅黑" panose="020B0503020204020204" pitchFamily="34" charset="-122"/>
                <a:ea typeface="微软雅黑" panose="020B0503020204020204" pitchFamily="34" charset="-122"/>
              </a:rPr>
              <a:t>数据链路层的主要功能</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A2267D9-52EE-4BC3-9CFD-C26DD971CE09}"/>
              </a:ext>
            </a:extLst>
          </p:cNvPr>
          <p:cNvPicPr>
            <a:picLocks noChangeAspect="1"/>
          </p:cNvPicPr>
          <p:nvPr/>
        </p:nvPicPr>
        <p:blipFill>
          <a:blip r:embed="rId3"/>
          <a:stretch>
            <a:fillRect/>
          </a:stretch>
        </p:blipFill>
        <p:spPr>
          <a:xfrm>
            <a:off x="533400" y="18826"/>
            <a:ext cx="4800600" cy="1755924"/>
          </a:xfrm>
          <a:prstGeom prst="rect">
            <a:avLst/>
          </a:prstGeom>
        </p:spPr>
      </p:pic>
      <p:sp>
        <p:nvSpPr>
          <p:cNvPr id="5" name="Rectangle 3">
            <a:extLst>
              <a:ext uri="{FF2B5EF4-FFF2-40B4-BE49-F238E27FC236}">
                <a16:creationId xmlns:a16="http://schemas.microsoft.com/office/drawing/2014/main" id="{DB1619E6-902B-4E59-A47A-7FC947F3A7F3}"/>
              </a:ext>
            </a:extLst>
          </p:cNvPr>
          <p:cNvSpPr>
            <a:spLocks noChangeArrowheads="1"/>
          </p:cNvSpPr>
          <p:nvPr/>
        </p:nvSpPr>
        <p:spPr bwMode="auto">
          <a:xfrm>
            <a:off x="2209800" y="2438400"/>
            <a:ext cx="807720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4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第十章</a:t>
            </a:r>
            <a:endParaRPr kumimoji="0" lang="en-US" altLang="zh-CN" sz="4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lvl="0" algn="ctr"/>
            <a:r>
              <a:rPr lang="zh-CN" altLang="en-US" sz="4800" baseline="0" dirty="0">
                <a:solidFill>
                  <a:srgbClr val="000000"/>
                </a:solidFill>
                <a:latin typeface="微软雅黑" panose="020B0503020204020204" pitchFamily="34" charset="-122"/>
                <a:ea typeface="微软雅黑" panose="020B0503020204020204" pitchFamily="34" charset="-122"/>
              </a:rPr>
              <a:t>检错与纠错</a:t>
            </a:r>
          </a:p>
        </p:txBody>
      </p:sp>
    </p:spTree>
    <p:extLst>
      <p:ext uri="{BB962C8B-B14F-4D97-AF65-F5344CB8AC3E}">
        <p14:creationId xmlns:p14="http://schemas.microsoft.com/office/powerpoint/2010/main" val="3902430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5" name="Picture 1">
            <a:extLst>
              <a:ext uri="{FF2B5EF4-FFF2-40B4-BE49-F238E27FC236}">
                <a16:creationId xmlns:a16="http://schemas.microsoft.com/office/drawing/2014/main" id="{6EC5FB25-AD2C-43EC-BCCB-ADD7EA5AAE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1860" y="1219200"/>
            <a:ext cx="57912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矩形 1">
            <a:extLst>
              <a:ext uri="{FF2B5EF4-FFF2-40B4-BE49-F238E27FC236}">
                <a16:creationId xmlns:a16="http://schemas.microsoft.com/office/drawing/2014/main" id="{40026610-333C-4D20-8784-D1CA8B2C4A54}"/>
              </a:ext>
            </a:extLst>
          </p:cNvPr>
          <p:cNvSpPr>
            <a:spLocks noChangeArrowheads="1"/>
          </p:cNvSpPr>
          <p:nvPr/>
        </p:nvSpPr>
        <p:spPr bwMode="auto">
          <a:xfrm>
            <a:off x="4038600" y="76201"/>
            <a:ext cx="34163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2800">
                <a:solidFill>
                  <a:schemeClr val="bg1"/>
                </a:solidFill>
                <a:latin typeface="微软雅黑" panose="020B0503020204020204" pitchFamily="34" charset="-122"/>
                <a:ea typeface="微软雅黑" panose="020B0503020204020204" pitchFamily="34" charset="-122"/>
              </a:rPr>
              <a:t>传输差错的产生过程</a:t>
            </a:r>
          </a:p>
        </p:txBody>
      </p:sp>
      <p:sp>
        <p:nvSpPr>
          <p:cNvPr id="13318" name="文本框 6">
            <a:extLst>
              <a:ext uri="{FF2B5EF4-FFF2-40B4-BE49-F238E27FC236}">
                <a16:creationId xmlns:a16="http://schemas.microsoft.com/office/drawing/2014/main" id="{C54261F5-4E1A-4F23-941F-5B6F038CD85C}"/>
              </a:ext>
            </a:extLst>
          </p:cNvPr>
          <p:cNvSpPr txBox="1">
            <a:spLocks noChangeArrowheads="1"/>
          </p:cNvSpPr>
          <p:nvPr/>
        </p:nvSpPr>
        <p:spPr bwMode="auto">
          <a:xfrm>
            <a:off x="1371600" y="1752600"/>
            <a:ext cx="3048000" cy="2744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3200" b="1">
                <a:solidFill>
                  <a:schemeClr val="tx1"/>
                </a:solidFill>
                <a:latin typeface="Arial" panose="020B0604020202020204" pitchFamily="34" charset="0"/>
              </a:defRPr>
            </a:lvl1pPr>
            <a:lvl2pPr marL="742950" indent="-285750" defTabSz="457200">
              <a:defRPr sz="3200" b="1">
                <a:solidFill>
                  <a:schemeClr val="tx1"/>
                </a:solidFill>
                <a:latin typeface="Arial" panose="020B0604020202020204" pitchFamily="34" charset="0"/>
              </a:defRPr>
            </a:lvl2pPr>
            <a:lvl3pPr marL="1143000" indent="-228600" defTabSz="457200">
              <a:defRPr sz="3200" b="1">
                <a:solidFill>
                  <a:schemeClr val="tx1"/>
                </a:solidFill>
                <a:latin typeface="Arial" panose="020B0604020202020204" pitchFamily="34" charset="0"/>
              </a:defRPr>
            </a:lvl3pPr>
            <a:lvl4pPr marL="1600200" indent="-228600" defTabSz="457200">
              <a:defRPr sz="3200" b="1">
                <a:solidFill>
                  <a:schemeClr val="tx1"/>
                </a:solidFill>
                <a:latin typeface="Arial" panose="020B0604020202020204" pitchFamily="34" charset="0"/>
              </a:defRPr>
            </a:lvl4pPr>
            <a:lvl5pPr marL="2057400" indent="-228600" defTabSz="457200">
              <a:defRPr sz="3200" b="1">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sz="3200" b="1">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sz="3200" b="1">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sz="3200" b="1">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sz="3200" b="1">
                <a:solidFill>
                  <a:schemeClr val="tx1"/>
                </a:solidFill>
                <a:latin typeface="Arial" panose="020B0604020202020204" pitchFamily="34" charset="0"/>
              </a:defRPr>
            </a:lvl9pPr>
          </a:lstStyle>
          <a:p>
            <a:pPr algn="just" eaLnBrk="1" hangingPunct="1">
              <a:lnSpc>
                <a:spcPct val="250000"/>
              </a:lnSpc>
              <a:buClr>
                <a:srgbClr val="FF0000"/>
              </a:buClr>
              <a:buSzPct val="80000"/>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sym typeface="+mn-lt"/>
              </a:rPr>
              <a:t>误码率</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sym typeface="+mn-lt"/>
              </a:rPr>
              <a:t>是指二进制比特在数据传输中出错的概率，是衡量数据传输系统在正常工作状态下传输可靠性的参数。</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C0506738-E575-480D-BD74-160255D3A182}"/>
              </a:ext>
            </a:extLst>
          </p:cNvPr>
          <p:cNvSpPr>
            <a:spLocks noChangeArrowheads="1"/>
          </p:cNvSpPr>
          <p:nvPr/>
        </p:nvSpPr>
        <p:spPr bwMode="auto">
          <a:xfrm>
            <a:off x="0" y="0"/>
            <a:ext cx="12192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17412" name="Text Box 3">
            <a:extLst>
              <a:ext uri="{FF2B5EF4-FFF2-40B4-BE49-F238E27FC236}">
                <a16:creationId xmlns:a16="http://schemas.microsoft.com/office/drawing/2014/main" id="{4AB0E826-F568-4AE9-AA74-12FA995AB188}"/>
              </a:ext>
            </a:extLst>
          </p:cNvPr>
          <p:cNvSpPr txBox="1">
            <a:spLocks noChangeArrowheads="1"/>
          </p:cNvSpPr>
          <p:nvPr/>
        </p:nvSpPr>
        <p:spPr bwMode="auto">
          <a:xfrm>
            <a:off x="533400" y="279400"/>
            <a:ext cx="30686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dirty="0">
                <a:latin typeface="微软雅黑" panose="020B0503020204020204" pitchFamily="34" charset="-122"/>
                <a:ea typeface="微软雅黑" panose="020B0503020204020204" pitchFamily="34" charset="-122"/>
              </a:rPr>
              <a:t>10.1   </a:t>
            </a:r>
            <a:r>
              <a:rPr lang="zh-CN" altLang="en-US" dirty="0">
                <a:latin typeface="微软雅黑" panose="020B0503020204020204" pitchFamily="34" charset="-122"/>
                <a:ea typeface="微软雅黑" panose="020B0503020204020204" pitchFamily="34" charset="-122"/>
              </a:rPr>
              <a:t>相关概念</a:t>
            </a:r>
            <a:endParaRPr lang="en-US" altLang="zh-CN" dirty="0">
              <a:latin typeface="微软雅黑" panose="020B0503020204020204" pitchFamily="34" charset="-122"/>
              <a:ea typeface="微软雅黑" panose="020B0503020204020204" pitchFamily="34" charset="-122"/>
            </a:endParaRPr>
          </a:p>
        </p:txBody>
      </p:sp>
      <p:sp>
        <p:nvSpPr>
          <p:cNvPr id="17413" name="Text Box 4">
            <a:extLst>
              <a:ext uri="{FF2B5EF4-FFF2-40B4-BE49-F238E27FC236}">
                <a16:creationId xmlns:a16="http://schemas.microsoft.com/office/drawing/2014/main" id="{BB20A8AC-EE56-422D-81BF-64F69EC499C8}"/>
              </a:ext>
            </a:extLst>
          </p:cNvPr>
          <p:cNvSpPr txBox="1">
            <a:spLocks noChangeArrowheads="1"/>
          </p:cNvSpPr>
          <p:nvPr/>
        </p:nvSpPr>
        <p:spPr bwMode="auto">
          <a:xfrm>
            <a:off x="9753600" y="64008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zh-CN" sz="1800">
              <a:latin typeface="Times New Roman" panose="02020603050405020304" pitchFamily="18" charset="0"/>
              <a:ea typeface="宋体" panose="02010600030101010101" pitchFamily="2" charset="-122"/>
            </a:endParaRPr>
          </a:p>
        </p:txBody>
      </p:sp>
      <p:sp>
        <p:nvSpPr>
          <p:cNvPr id="17414" name="Text Box 4">
            <a:extLst>
              <a:ext uri="{FF2B5EF4-FFF2-40B4-BE49-F238E27FC236}">
                <a16:creationId xmlns:a16="http://schemas.microsoft.com/office/drawing/2014/main" id="{AE623B6B-2E7C-4D95-AB93-EE75FDA510C4}"/>
              </a:ext>
            </a:extLst>
          </p:cNvPr>
          <p:cNvSpPr txBox="1">
            <a:spLocks noChangeArrowheads="1"/>
          </p:cNvSpPr>
          <p:nvPr/>
        </p:nvSpPr>
        <p:spPr bwMode="auto">
          <a:xfrm>
            <a:off x="1556727" y="4475162"/>
            <a:ext cx="40846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a:solidFill>
                  <a:schemeClr val="folHlink"/>
                </a:solidFill>
                <a:latin typeface="Times New Roman" panose="02020603050405020304" pitchFamily="18" charset="0"/>
                <a:ea typeface="宋体" panose="02010600030101010101" pitchFamily="2" charset="-122"/>
              </a:rPr>
              <a:t>Figure 10.1  </a:t>
            </a:r>
            <a:r>
              <a:rPr lang="zh-CN" altLang="en-US" sz="1600">
                <a:latin typeface="Times New Roman" panose="02020603050405020304" pitchFamily="18" charset="0"/>
                <a:ea typeface="宋体" panose="02010600030101010101" pitchFamily="2" charset="-122"/>
              </a:rPr>
              <a:t>单个位差错（</a:t>
            </a:r>
            <a:r>
              <a:rPr lang="en-US" altLang="zh-CN" sz="1600">
                <a:latin typeface="Times New Roman" panose="02020603050405020304" pitchFamily="18" charset="0"/>
                <a:ea typeface="宋体" panose="02010600030101010101" pitchFamily="2" charset="-122"/>
              </a:rPr>
              <a:t>Single-bit error</a:t>
            </a:r>
            <a:r>
              <a:rPr lang="zh-CN" altLang="en-US" sz="1600">
                <a:latin typeface="Times New Roman" panose="02020603050405020304" pitchFamily="18" charset="0"/>
                <a:ea typeface="宋体" panose="02010600030101010101" pitchFamily="2" charset="-122"/>
              </a:rPr>
              <a:t>）</a:t>
            </a:r>
            <a:endParaRPr lang="en-US" altLang="zh-CN" sz="1600">
              <a:latin typeface="Times New Roman" panose="02020603050405020304" pitchFamily="18" charset="0"/>
              <a:ea typeface="宋体" panose="02010600030101010101" pitchFamily="2" charset="-122"/>
            </a:endParaRPr>
          </a:p>
        </p:txBody>
      </p:sp>
      <p:pic>
        <p:nvPicPr>
          <p:cNvPr id="17415" name="Picture 6">
            <a:extLst>
              <a:ext uri="{FF2B5EF4-FFF2-40B4-BE49-F238E27FC236}">
                <a16:creationId xmlns:a16="http://schemas.microsoft.com/office/drawing/2014/main" id="{45682146-8289-4590-AE55-82EB67B76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7275" y="2935591"/>
            <a:ext cx="5089525"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6" name="Text Box 4">
            <a:extLst>
              <a:ext uri="{FF2B5EF4-FFF2-40B4-BE49-F238E27FC236}">
                <a16:creationId xmlns:a16="http://schemas.microsoft.com/office/drawing/2014/main" id="{3D1FB5C7-917E-473F-9152-51214BAD9ED7}"/>
              </a:ext>
            </a:extLst>
          </p:cNvPr>
          <p:cNvSpPr txBox="1">
            <a:spLocks noChangeArrowheads="1"/>
          </p:cNvSpPr>
          <p:nvPr/>
        </p:nvSpPr>
        <p:spPr bwMode="auto">
          <a:xfrm>
            <a:off x="6550636" y="4475162"/>
            <a:ext cx="47434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a:solidFill>
                  <a:schemeClr val="folHlink"/>
                </a:solidFill>
                <a:latin typeface="Times New Roman" panose="02020603050405020304" pitchFamily="18" charset="0"/>
                <a:ea typeface="宋体" panose="02010600030101010101" pitchFamily="2" charset="-122"/>
              </a:rPr>
              <a:t>Figure 10.2  </a:t>
            </a:r>
            <a:r>
              <a:rPr lang="zh-CN" altLang="en-US" sz="1600">
                <a:latin typeface="Times New Roman" panose="02020603050405020304" pitchFamily="18" charset="0"/>
                <a:ea typeface="宋体" panose="02010600030101010101" pitchFamily="2" charset="-122"/>
              </a:rPr>
              <a:t>突发性差错（</a:t>
            </a:r>
            <a:r>
              <a:rPr lang="en-US" altLang="zh-CN" sz="1600">
                <a:latin typeface="Times New Roman" panose="02020603050405020304" pitchFamily="18" charset="0"/>
                <a:ea typeface="宋体" panose="02010600030101010101" pitchFamily="2" charset="-122"/>
              </a:rPr>
              <a:t>Burst error of length 8</a:t>
            </a:r>
            <a:r>
              <a:rPr lang="zh-CN" altLang="en-US" sz="1600">
                <a:latin typeface="Times New Roman" panose="02020603050405020304" pitchFamily="18" charset="0"/>
                <a:ea typeface="宋体" panose="02010600030101010101" pitchFamily="2" charset="-122"/>
              </a:rPr>
              <a:t>）</a:t>
            </a:r>
            <a:endParaRPr lang="en-US" altLang="zh-CN" sz="1600">
              <a:latin typeface="Times New Roman" panose="02020603050405020304" pitchFamily="18" charset="0"/>
              <a:ea typeface="宋体" panose="02010600030101010101" pitchFamily="2" charset="-122"/>
            </a:endParaRPr>
          </a:p>
        </p:txBody>
      </p:sp>
      <p:pic>
        <p:nvPicPr>
          <p:cNvPr id="17417" name="Picture 6">
            <a:extLst>
              <a:ext uri="{FF2B5EF4-FFF2-40B4-BE49-F238E27FC236}">
                <a16:creationId xmlns:a16="http://schemas.microsoft.com/office/drawing/2014/main" id="{B42D255E-A97C-4BB5-B9E7-0A341E816A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7487" y="2286000"/>
            <a:ext cx="4195763" cy="202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4" name="Rectangle 11">
            <a:extLst>
              <a:ext uri="{FF2B5EF4-FFF2-40B4-BE49-F238E27FC236}">
                <a16:creationId xmlns:a16="http://schemas.microsoft.com/office/drawing/2014/main" id="{7C680A94-2ED7-4E88-B71B-290FA147EF46}"/>
              </a:ext>
            </a:extLst>
          </p:cNvPr>
          <p:cNvSpPr>
            <a:spLocks noChangeArrowheads="1"/>
          </p:cNvSpPr>
          <p:nvPr/>
        </p:nvSpPr>
        <p:spPr bwMode="auto">
          <a:xfrm>
            <a:off x="2235995" y="914400"/>
            <a:ext cx="7894636" cy="1671637"/>
          </a:xfrm>
          <a:prstGeom prst="rect">
            <a:avLst/>
          </a:prstGeom>
          <a:noFill/>
          <a:ln>
            <a:noFill/>
          </a:ln>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200000"/>
              </a:lnSpc>
              <a:defRPr/>
            </a:pPr>
            <a:r>
              <a:rPr lang="zh-CN" altLang="en-US" sz="1800" b="0" dirty="0">
                <a:latin typeface="微软雅黑" panose="020B0503020204020204" pitchFamily="34" charset="-122"/>
                <a:ea typeface="微软雅黑" panose="020B0503020204020204" pitchFamily="34" charset="-122"/>
              </a:rPr>
              <a:t>为了检测或纠正差错，需要发送除了数据外的额外（冗余）位。</a:t>
            </a:r>
            <a:endParaRPr lang="en-US" altLang="zh-CN" sz="1800" b="0" dirty="0">
              <a:latin typeface="微软雅黑" panose="020B0503020204020204" pitchFamily="34" charset="-122"/>
              <a:ea typeface="微软雅黑" panose="020B0503020204020204" pitchFamily="34" charset="-122"/>
            </a:endParaRPr>
          </a:p>
          <a:p>
            <a:pPr marL="285750" indent="-285750" algn="just">
              <a:lnSpc>
                <a:spcPct val="200000"/>
              </a:lnSpc>
              <a:buClr>
                <a:srgbClr val="FF0000"/>
              </a:buClr>
              <a:buSzPct val="80000"/>
              <a:buFont typeface="Wingdings" panose="05000000000000000000" pitchFamily="2" charset="2"/>
              <a:buChar char="u"/>
              <a:defRPr/>
            </a:pPr>
            <a:r>
              <a:rPr lang="zh-CN" altLang="en-US" sz="1800" b="0" dirty="0">
                <a:latin typeface="微软雅黑" panose="020B0503020204020204" pitchFamily="34" charset="-122"/>
                <a:ea typeface="微软雅黑" panose="020B0503020204020204" pitchFamily="34" charset="-122"/>
              </a:rPr>
              <a:t>检错：是否发生错误</a:t>
            </a:r>
          </a:p>
          <a:p>
            <a:pPr marL="285750" indent="-285750" algn="just">
              <a:lnSpc>
                <a:spcPct val="200000"/>
              </a:lnSpc>
              <a:buClr>
                <a:srgbClr val="FF0000"/>
              </a:buClr>
              <a:buSzPct val="80000"/>
              <a:buFont typeface="Wingdings" panose="05000000000000000000" pitchFamily="2" charset="2"/>
              <a:buChar char="u"/>
              <a:defRPr/>
            </a:pPr>
            <a:r>
              <a:rPr lang="zh-CN" altLang="en-US" sz="1800" b="0" dirty="0">
                <a:latin typeface="微软雅黑" panose="020B0503020204020204" pitchFamily="34" charset="-122"/>
                <a:ea typeface="微软雅黑" panose="020B0503020204020204" pitchFamily="34" charset="-122"/>
              </a:rPr>
              <a:t>纠错：哪里发生错误（前向纠错和重传）</a:t>
            </a:r>
          </a:p>
        </p:txBody>
      </p:sp>
      <p:sp>
        <p:nvSpPr>
          <p:cNvPr id="19460" name="Text Box 4">
            <a:extLst>
              <a:ext uri="{FF2B5EF4-FFF2-40B4-BE49-F238E27FC236}">
                <a16:creationId xmlns:a16="http://schemas.microsoft.com/office/drawing/2014/main" id="{BC590609-1BD7-47F2-89FB-807B22B96149}"/>
              </a:ext>
            </a:extLst>
          </p:cNvPr>
          <p:cNvSpPr txBox="1">
            <a:spLocks noChangeArrowheads="1"/>
          </p:cNvSpPr>
          <p:nvPr/>
        </p:nvSpPr>
        <p:spPr bwMode="auto">
          <a:xfrm>
            <a:off x="4419600" y="5834062"/>
            <a:ext cx="4876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10.3  </a:t>
            </a:r>
            <a:r>
              <a:rPr lang="zh-CN" altLang="en-US" sz="1600" dirty="0">
                <a:latin typeface="Times New Roman" panose="02020603050405020304" pitchFamily="18" charset="0"/>
                <a:ea typeface="宋体" panose="02010600030101010101" pitchFamily="2" charset="-122"/>
              </a:rPr>
              <a:t>编码器和译码器的结构</a:t>
            </a:r>
            <a:endParaRPr lang="en-US" altLang="zh-CN" sz="1600" dirty="0">
              <a:latin typeface="Times New Roman" panose="02020603050405020304" pitchFamily="18" charset="0"/>
              <a:ea typeface="宋体" panose="02010600030101010101" pitchFamily="2" charset="-122"/>
            </a:endParaRPr>
          </a:p>
        </p:txBody>
      </p:sp>
      <p:pic>
        <p:nvPicPr>
          <p:cNvPr id="19461" name="Picture 6">
            <a:extLst>
              <a:ext uri="{FF2B5EF4-FFF2-40B4-BE49-F238E27FC236}">
                <a16:creationId xmlns:a16="http://schemas.microsoft.com/office/drawing/2014/main" id="{5B0709DE-C5DA-4B3A-8FBB-16D056C660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1" y="2895600"/>
            <a:ext cx="6727825" cy="271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文本框 1">
            <a:extLst>
              <a:ext uri="{FF2B5EF4-FFF2-40B4-BE49-F238E27FC236}">
                <a16:creationId xmlns:a16="http://schemas.microsoft.com/office/drawing/2014/main" id="{7BD9C04D-6779-4E7A-9042-3E7296747706}"/>
              </a:ext>
            </a:extLst>
          </p:cNvPr>
          <p:cNvSpPr txBox="1">
            <a:spLocks noChangeArrowheads="1"/>
          </p:cNvSpPr>
          <p:nvPr/>
        </p:nvSpPr>
        <p:spPr bwMode="auto">
          <a:xfrm>
            <a:off x="1295400" y="1208086"/>
            <a:ext cx="9601200" cy="562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200000"/>
              </a:lnSpc>
            </a:pPr>
            <a:r>
              <a:rPr lang="zh-CN" altLang="en-US" sz="1800" b="0" dirty="0">
                <a:latin typeface="微软雅黑" panose="020B0503020204020204" pitchFamily="34" charset="-122"/>
                <a:ea typeface="微软雅黑" panose="020B0503020204020204" pitchFamily="34" charset="-122"/>
              </a:rPr>
              <a:t>使用有限范围的正整数，其上限称为模数</a:t>
            </a:r>
            <a:r>
              <a:rPr lang="en-US" altLang="zh-CN" sz="1800" b="0" dirty="0">
                <a:latin typeface="微软雅黑" panose="020B0503020204020204" pitchFamily="34" charset="-122"/>
                <a:ea typeface="微软雅黑" panose="020B0503020204020204" pitchFamily="34" charset="-122"/>
              </a:rPr>
              <a:t>N</a:t>
            </a:r>
            <a:r>
              <a:rPr lang="zh-CN" altLang="en-US"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在模</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N</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运算中，只使用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到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N-1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的整数。</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1508" name="Picture 6">
            <a:extLst>
              <a:ext uri="{FF2B5EF4-FFF2-40B4-BE49-F238E27FC236}">
                <a16:creationId xmlns:a16="http://schemas.microsoft.com/office/drawing/2014/main" id="{F68F2A33-3B78-4A21-919A-D7B3B52AF9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1332" y="2819400"/>
            <a:ext cx="7789336"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Text Box 4">
            <a:extLst>
              <a:ext uri="{FF2B5EF4-FFF2-40B4-BE49-F238E27FC236}">
                <a16:creationId xmlns:a16="http://schemas.microsoft.com/office/drawing/2014/main" id="{DA7B0C7D-EC74-44C9-8F8F-9BA31347AE1B}"/>
              </a:ext>
            </a:extLst>
          </p:cNvPr>
          <p:cNvSpPr txBox="1">
            <a:spLocks noChangeArrowheads="1"/>
          </p:cNvSpPr>
          <p:nvPr/>
        </p:nvSpPr>
        <p:spPr bwMode="auto">
          <a:xfrm>
            <a:off x="4191000" y="5181600"/>
            <a:ext cx="5029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a:solidFill>
                  <a:schemeClr val="folHlink"/>
                </a:solidFill>
                <a:latin typeface="Times New Roman" panose="02020603050405020304" pitchFamily="18" charset="0"/>
                <a:ea typeface="宋体" panose="02010600030101010101" pitchFamily="2" charset="-122"/>
              </a:rPr>
              <a:t>Figure 10.4  </a:t>
            </a:r>
            <a:r>
              <a:rPr lang="zh-CN" altLang="en-US" sz="1600">
                <a:latin typeface="Times New Roman" panose="02020603050405020304" pitchFamily="18" charset="0"/>
                <a:ea typeface="宋体" panose="02010600030101010101" pitchFamily="2" charset="-122"/>
              </a:rPr>
              <a:t>模 </a:t>
            </a:r>
            <a:r>
              <a:rPr lang="en-US" altLang="zh-CN" sz="1600">
                <a:latin typeface="Times New Roman" panose="02020603050405020304" pitchFamily="18" charset="0"/>
                <a:ea typeface="宋体" panose="02010600030101010101" pitchFamily="2" charset="-122"/>
              </a:rPr>
              <a:t>2</a:t>
            </a:r>
            <a:r>
              <a:rPr lang="zh-CN" altLang="en-US" sz="1600">
                <a:latin typeface="Times New Roman" panose="02020603050405020304" pitchFamily="18" charset="0"/>
                <a:ea typeface="宋体" panose="02010600030101010101" pitchFamily="2" charset="-122"/>
              </a:rPr>
              <a:t>运算和异或运算关系</a:t>
            </a:r>
            <a:endParaRPr lang="en-US" altLang="zh-CN" sz="160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222A2CAF-3AAF-4D93-9518-3624C313F8D2}"/>
              </a:ext>
            </a:extLst>
          </p:cNvPr>
          <p:cNvSpPr>
            <a:spLocks noChangeArrowheads="1"/>
          </p:cNvSpPr>
          <p:nvPr/>
        </p:nvSpPr>
        <p:spPr bwMode="auto">
          <a:xfrm>
            <a:off x="0" y="0"/>
            <a:ext cx="12192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23556" name="Text Box 3">
            <a:extLst>
              <a:ext uri="{FF2B5EF4-FFF2-40B4-BE49-F238E27FC236}">
                <a16:creationId xmlns:a16="http://schemas.microsoft.com/office/drawing/2014/main" id="{781F1AB5-5E60-4261-BA3F-C1F73603022F}"/>
              </a:ext>
            </a:extLst>
          </p:cNvPr>
          <p:cNvSpPr txBox="1">
            <a:spLocks noChangeArrowheads="1"/>
          </p:cNvSpPr>
          <p:nvPr/>
        </p:nvSpPr>
        <p:spPr bwMode="auto">
          <a:xfrm>
            <a:off x="533400" y="281781"/>
            <a:ext cx="4038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dirty="0">
                <a:latin typeface="微软雅黑" panose="020B0503020204020204" pitchFamily="34" charset="-122"/>
                <a:ea typeface="微软雅黑" panose="020B0503020204020204" pitchFamily="34" charset="-122"/>
              </a:rPr>
              <a:t>10.2   </a:t>
            </a:r>
            <a:r>
              <a:rPr lang="zh-CN" altLang="en-US" dirty="0">
                <a:latin typeface="微软雅黑" panose="020B0503020204020204" pitchFamily="34" charset="-122"/>
                <a:ea typeface="微软雅黑" panose="020B0503020204020204" pitchFamily="34" charset="-122"/>
              </a:rPr>
              <a:t>块编码</a:t>
            </a:r>
            <a:endParaRPr lang="en-US" altLang="zh-CN" dirty="0">
              <a:latin typeface="微软雅黑" panose="020B0503020204020204" pitchFamily="34" charset="-122"/>
              <a:ea typeface="微软雅黑" panose="020B0503020204020204" pitchFamily="34" charset="-122"/>
            </a:endParaRPr>
          </a:p>
        </p:txBody>
      </p:sp>
      <p:sp>
        <p:nvSpPr>
          <p:cNvPr id="23557" name="Text Box 4">
            <a:extLst>
              <a:ext uri="{FF2B5EF4-FFF2-40B4-BE49-F238E27FC236}">
                <a16:creationId xmlns:a16="http://schemas.microsoft.com/office/drawing/2014/main" id="{D5A91E8C-AC16-4743-8EC5-77A0E37ECC1B}"/>
              </a:ext>
            </a:extLst>
          </p:cNvPr>
          <p:cNvSpPr txBox="1">
            <a:spLocks noChangeArrowheads="1"/>
          </p:cNvSpPr>
          <p:nvPr/>
        </p:nvSpPr>
        <p:spPr bwMode="auto">
          <a:xfrm>
            <a:off x="9753600" y="64008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zh-CN" sz="1800">
              <a:latin typeface="Times New Roman" panose="02020603050405020304" pitchFamily="18" charset="0"/>
              <a:ea typeface="宋体" panose="02010600030101010101" pitchFamily="2" charset="-122"/>
            </a:endParaRPr>
          </a:p>
        </p:txBody>
      </p:sp>
      <p:sp>
        <p:nvSpPr>
          <p:cNvPr id="23558" name="Rectangle 5">
            <a:extLst>
              <a:ext uri="{FF2B5EF4-FFF2-40B4-BE49-F238E27FC236}">
                <a16:creationId xmlns:a16="http://schemas.microsoft.com/office/drawing/2014/main" id="{50D47143-F9A7-49FF-9DFB-005B408D9466}"/>
              </a:ext>
            </a:extLst>
          </p:cNvPr>
          <p:cNvSpPr>
            <a:spLocks noChangeArrowheads="1"/>
          </p:cNvSpPr>
          <p:nvPr/>
        </p:nvSpPr>
        <p:spPr bwMode="auto">
          <a:xfrm>
            <a:off x="1314450" y="1429544"/>
            <a:ext cx="9563100"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eaLnBrk="1" hangingPunct="1">
              <a:lnSpc>
                <a:spcPct val="200000"/>
              </a:lnSpc>
            </a:pPr>
            <a:r>
              <a:rPr lang="zh-CN" altLang="en-US" sz="1800" b="0" dirty="0">
                <a:latin typeface="微软雅黑" panose="020B0503020204020204" pitchFamily="34" charset="-122"/>
                <a:ea typeface="微软雅黑" panose="020B0503020204020204" pitchFamily="34" charset="-122"/>
              </a:rPr>
              <a:t>在块编码中，把报文划分成块，每块有 </a:t>
            </a:r>
            <a:r>
              <a:rPr lang="en-US" altLang="zh-CN" sz="1800" b="0" dirty="0">
                <a:latin typeface="微软雅黑" panose="020B0503020204020204" pitchFamily="34" charset="-122"/>
                <a:ea typeface="微软雅黑" panose="020B0503020204020204" pitchFamily="34" charset="-122"/>
              </a:rPr>
              <a:t>k </a:t>
            </a:r>
            <a:r>
              <a:rPr lang="zh-CN" altLang="en-US" sz="1800" b="0" dirty="0">
                <a:latin typeface="微软雅黑" panose="020B0503020204020204" pitchFamily="34" charset="-122"/>
                <a:ea typeface="微软雅黑" panose="020B0503020204020204" pitchFamily="34" charset="-122"/>
              </a:rPr>
              <a:t>位，称为</a:t>
            </a:r>
            <a:r>
              <a:rPr lang="zh-CN" altLang="en-US" sz="1800" b="0" dirty="0">
                <a:solidFill>
                  <a:srgbClr val="FF0000"/>
                </a:solidFill>
                <a:latin typeface="微软雅黑" panose="020B0503020204020204" pitchFamily="34" charset="-122"/>
                <a:ea typeface="微软雅黑" panose="020B0503020204020204" pitchFamily="34" charset="-122"/>
              </a:rPr>
              <a:t>数据字</a:t>
            </a:r>
            <a:r>
              <a:rPr lang="zh-CN" altLang="en-US" sz="1800" b="0" dirty="0">
                <a:latin typeface="微软雅黑" panose="020B0503020204020204" pitchFamily="34" charset="-122"/>
                <a:ea typeface="微软雅黑" panose="020B0503020204020204" pitchFamily="34" charset="-122"/>
              </a:rPr>
              <a:t>，并增加 </a:t>
            </a:r>
            <a:r>
              <a:rPr lang="en-US" altLang="zh-CN" sz="1800" b="0" dirty="0">
                <a:latin typeface="微软雅黑" panose="020B0503020204020204" pitchFamily="34" charset="-122"/>
                <a:ea typeface="微软雅黑" panose="020B0503020204020204" pitchFamily="34" charset="-122"/>
              </a:rPr>
              <a:t>r </a:t>
            </a:r>
            <a:r>
              <a:rPr lang="zh-CN" altLang="en-US" sz="1800" b="0" dirty="0">
                <a:latin typeface="微软雅黑" panose="020B0503020204020204" pitchFamily="34" charset="-122"/>
                <a:ea typeface="微软雅黑" panose="020B0503020204020204" pitchFamily="34" charset="-122"/>
              </a:rPr>
              <a:t>个冗余位使其长度变为 </a:t>
            </a:r>
            <a:r>
              <a:rPr lang="en-US" altLang="zh-CN" sz="1800" b="0" dirty="0">
                <a:latin typeface="微软雅黑" panose="020B0503020204020204" pitchFamily="34" charset="-122"/>
                <a:ea typeface="微软雅黑" panose="020B0503020204020204" pitchFamily="34" charset="-122"/>
              </a:rPr>
              <a:t>n = k + r</a:t>
            </a:r>
            <a:r>
              <a:rPr lang="zh-CN" altLang="en-US" sz="1800" b="0" dirty="0">
                <a:latin typeface="微软雅黑" panose="020B0503020204020204" pitchFamily="34" charset="-122"/>
                <a:ea typeface="微软雅黑" panose="020B0503020204020204" pitchFamily="34" charset="-122"/>
              </a:rPr>
              <a:t>，形成 </a:t>
            </a:r>
            <a:r>
              <a:rPr lang="en-US" altLang="zh-CN" sz="1800" b="0" dirty="0">
                <a:latin typeface="微软雅黑" panose="020B0503020204020204" pitchFamily="34" charset="-122"/>
                <a:ea typeface="微软雅黑" panose="020B0503020204020204" pitchFamily="34" charset="-122"/>
              </a:rPr>
              <a:t>n </a:t>
            </a:r>
            <a:r>
              <a:rPr lang="zh-CN" altLang="en-US" sz="1800" b="0" dirty="0">
                <a:latin typeface="微软雅黑" panose="020B0503020204020204" pitchFamily="34" charset="-122"/>
                <a:ea typeface="微软雅黑" panose="020B0503020204020204" pitchFamily="34" charset="-122"/>
              </a:rPr>
              <a:t>位的块称为</a:t>
            </a:r>
            <a:r>
              <a:rPr lang="zh-CN" altLang="en-US" sz="1800" b="0" dirty="0">
                <a:solidFill>
                  <a:srgbClr val="FF0000"/>
                </a:solidFill>
                <a:latin typeface="微软雅黑" panose="020B0503020204020204" pitchFamily="34" charset="-122"/>
                <a:ea typeface="微软雅黑" panose="020B0503020204020204" pitchFamily="34" charset="-122"/>
              </a:rPr>
              <a:t>码字</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p:txBody>
      </p:sp>
      <p:sp>
        <p:nvSpPr>
          <p:cNvPr id="23559" name="Text Box 4">
            <a:extLst>
              <a:ext uri="{FF2B5EF4-FFF2-40B4-BE49-F238E27FC236}">
                <a16:creationId xmlns:a16="http://schemas.microsoft.com/office/drawing/2014/main" id="{8F07DF3D-B214-4BF2-9EE6-D1D6311FACB1}"/>
              </a:ext>
            </a:extLst>
          </p:cNvPr>
          <p:cNvSpPr txBox="1">
            <a:spLocks noChangeArrowheads="1"/>
          </p:cNvSpPr>
          <p:nvPr/>
        </p:nvSpPr>
        <p:spPr bwMode="auto">
          <a:xfrm>
            <a:off x="4800600" y="5732464"/>
            <a:ext cx="4191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a:solidFill>
                  <a:schemeClr val="folHlink"/>
                </a:solidFill>
                <a:latin typeface="Times New Roman" panose="02020603050405020304" pitchFamily="18" charset="0"/>
                <a:ea typeface="宋体" panose="02010600030101010101" pitchFamily="2" charset="-122"/>
              </a:rPr>
              <a:t>Figure 10.5  </a:t>
            </a:r>
            <a:r>
              <a:rPr lang="zh-CN" altLang="en-US" sz="1600">
                <a:latin typeface="Times New Roman" panose="02020603050405020304" pitchFamily="18" charset="0"/>
                <a:ea typeface="宋体" panose="02010600030101010101" pitchFamily="2" charset="-122"/>
              </a:rPr>
              <a:t>数据字和码字</a:t>
            </a:r>
            <a:endParaRPr lang="en-US" altLang="zh-CN" sz="1600">
              <a:latin typeface="Times New Roman" panose="02020603050405020304" pitchFamily="18" charset="0"/>
              <a:ea typeface="宋体" panose="02010600030101010101" pitchFamily="2" charset="-122"/>
            </a:endParaRPr>
          </a:p>
        </p:txBody>
      </p:sp>
      <p:pic>
        <p:nvPicPr>
          <p:cNvPr id="23560" name="Picture 6">
            <a:extLst>
              <a:ext uri="{FF2B5EF4-FFF2-40B4-BE49-F238E27FC236}">
                <a16:creationId xmlns:a16="http://schemas.microsoft.com/office/drawing/2014/main" id="{2CB49208-DB07-46FE-9B71-8F7764A88E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9589" y="3151188"/>
            <a:ext cx="6092825" cy="225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2">
            <a:extLst>
              <a:ext uri="{FF2B5EF4-FFF2-40B4-BE49-F238E27FC236}">
                <a16:creationId xmlns:a16="http://schemas.microsoft.com/office/drawing/2014/main" id="{D61D9643-02A8-411F-9445-9C9FC3419E5B}"/>
              </a:ext>
            </a:extLst>
          </p:cNvPr>
          <p:cNvSpPr txBox="1">
            <a:spLocks noChangeArrowheads="1"/>
          </p:cNvSpPr>
          <p:nvPr/>
        </p:nvSpPr>
        <p:spPr bwMode="auto">
          <a:xfrm>
            <a:off x="2355850" y="831850"/>
            <a:ext cx="20780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a:solidFill>
                  <a:schemeClr val="folHlink"/>
                </a:solidFill>
                <a:latin typeface="Times New Roman" panose="02020603050405020304" pitchFamily="18" charset="0"/>
                <a:ea typeface="宋体" panose="02010600030101010101" pitchFamily="2" charset="-122"/>
              </a:rPr>
              <a:t>Table 4.2  </a:t>
            </a:r>
            <a:r>
              <a:rPr lang="en-US" altLang="zh-CN" sz="1600">
                <a:latin typeface="Times New Roman" panose="02020603050405020304" pitchFamily="18" charset="0"/>
                <a:ea typeface="宋体" panose="02010600030101010101" pitchFamily="2" charset="-122"/>
              </a:rPr>
              <a:t>4B/5B </a:t>
            </a:r>
            <a:r>
              <a:rPr lang="zh-CN" altLang="en-US" sz="1600">
                <a:latin typeface="Times New Roman" panose="02020603050405020304" pitchFamily="18" charset="0"/>
                <a:ea typeface="宋体" panose="02010600030101010101" pitchFamily="2" charset="-122"/>
              </a:rPr>
              <a:t>编码</a:t>
            </a:r>
            <a:endParaRPr lang="en-US" altLang="zh-CN" sz="1600">
              <a:latin typeface="Times New Roman" panose="02020603050405020304" pitchFamily="18" charset="0"/>
              <a:ea typeface="宋体" panose="02010600030101010101" pitchFamily="2" charset="-122"/>
            </a:endParaRPr>
          </a:p>
        </p:txBody>
      </p:sp>
      <p:graphicFrame>
        <p:nvGraphicFramePr>
          <p:cNvPr id="2" name="表格 1">
            <a:extLst>
              <a:ext uri="{FF2B5EF4-FFF2-40B4-BE49-F238E27FC236}">
                <a16:creationId xmlns:a16="http://schemas.microsoft.com/office/drawing/2014/main" id="{49D3877B-8FD8-4CDF-9EC8-0CF9324A6EC0}"/>
              </a:ext>
            </a:extLst>
          </p:cNvPr>
          <p:cNvGraphicFramePr>
            <a:graphicFrameLocks noGrp="1"/>
          </p:cNvGraphicFramePr>
          <p:nvPr/>
        </p:nvGraphicFramePr>
        <p:xfrm>
          <a:off x="2362201" y="1182689"/>
          <a:ext cx="7496175" cy="5264155"/>
        </p:xfrm>
        <a:graphic>
          <a:graphicData uri="http://schemas.openxmlformats.org/drawingml/2006/table">
            <a:tbl>
              <a:tblPr firstRow="1" bandRow="1">
                <a:tableStyleId>{5C22544A-7EE6-4342-B048-85BDC9FD1C3A}</a:tableStyleId>
              </a:tblPr>
              <a:tblGrid>
                <a:gridCol w="1612080">
                  <a:extLst>
                    <a:ext uri="{9D8B030D-6E8A-4147-A177-3AD203B41FA5}">
                      <a16:colId xmlns:a16="http://schemas.microsoft.com/office/drawing/2014/main" val="480020677"/>
                    </a:ext>
                  </a:extLst>
                </a:gridCol>
                <a:gridCol w="2057922">
                  <a:extLst>
                    <a:ext uri="{9D8B030D-6E8A-4147-A177-3AD203B41FA5}">
                      <a16:colId xmlns:a16="http://schemas.microsoft.com/office/drawing/2014/main" val="4047932757"/>
                    </a:ext>
                  </a:extLst>
                </a:gridCol>
                <a:gridCol w="1874044">
                  <a:extLst>
                    <a:ext uri="{9D8B030D-6E8A-4147-A177-3AD203B41FA5}">
                      <a16:colId xmlns:a16="http://schemas.microsoft.com/office/drawing/2014/main" val="3283854025"/>
                    </a:ext>
                  </a:extLst>
                </a:gridCol>
                <a:gridCol w="1952129">
                  <a:extLst>
                    <a:ext uri="{9D8B030D-6E8A-4147-A177-3AD203B41FA5}">
                      <a16:colId xmlns:a16="http://schemas.microsoft.com/office/drawing/2014/main" val="86461676"/>
                    </a:ext>
                  </a:extLst>
                </a:gridCol>
              </a:tblGrid>
              <a:tr h="387035">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Data Sequence</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9050" cap="flat" cmpd="sng" algn="ctr">
                      <a:solidFill>
                        <a:srgbClr val="FFB9B9"/>
                      </a:solidFill>
                      <a:prstDash val="solid"/>
                      <a:round/>
                      <a:headEnd type="none" w="med" len="med"/>
                      <a:tailEnd type="none" w="med" len="med"/>
                    </a:lnL>
                    <a:lnR w="19050" cap="flat" cmpd="sng" algn="ctr">
                      <a:solidFill>
                        <a:srgbClr val="FFB9B9"/>
                      </a:solidFill>
                      <a:prstDash val="solid"/>
                      <a:round/>
                      <a:headEnd type="none" w="med" len="med"/>
                      <a:tailEnd type="none" w="med" len="med"/>
                    </a:lnR>
                    <a:lnT w="19050" cap="flat" cmpd="sng" algn="ctr">
                      <a:solidFill>
                        <a:srgbClr val="FFB9B9"/>
                      </a:solidFill>
                      <a:prstDash val="solid"/>
                      <a:round/>
                      <a:headEnd type="none" w="med" len="med"/>
                      <a:tailEnd type="none" w="med" len="med"/>
                    </a:lnT>
                    <a:lnB w="19050" cap="flat" cmpd="sng" algn="ctr">
                      <a:solidFill>
                        <a:srgbClr val="FFB9B9"/>
                      </a:solidFill>
                      <a:prstDash val="solid"/>
                      <a:round/>
                      <a:headEnd type="none" w="med" len="med"/>
                      <a:tailEnd type="none" w="med" len="med"/>
                    </a:lnB>
                    <a:solidFill>
                      <a:srgbClr val="FFD5D5"/>
                    </a:solid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Encoded Sequence</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9050" cap="flat" cmpd="sng" algn="ctr">
                      <a:solidFill>
                        <a:srgbClr val="FFB9B9"/>
                      </a:solidFill>
                      <a:prstDash val="solid"/>
                      <a:round/>
                      <a:headEnd type="none" w="med" len="med"/>
                      <a:tailEnd type="none" w="med" len="med"/>
                    </a:lnL>
                    <a:lnR w="19050" cap="flat" cmpd="sng" algn="ctr">
                      <a:solidFill>
                        <a:srgbClr val="FFB9B9"/>
                      </a:solidFill>
                      <a:prstDash val="solid"/>
                      <a:round/>
                      <a:headEnd type="none" w="med" len="med"/>
                      <a:tailEnd type="none" w="med" len="med"/>
                    </a:lnR>
                    <a:lnT w="19050" cap="flat" cmpd="sng" algn="ctr">
                      <a:solidFill>
                        <a:srgbClr val="FFB9B9"/>
                      </a:solidFill>
                      <a:prstDash val="solid"/>
                      <a:round/>
                      <a:headEnd type="none" w="med" len="med"/>
                      <a:tailEnd type="none" w="med" len="med"/>
                    </a:lnT>
                    <a:lnB w="19050" cap="flat" cmpd="sng" algn="ctr">
                      <a:solidFill>
                        <a:srgbClr val="FFB9B9"/>
                      </a:solidFill>
                      <a:prstDash val="solid"/>
                      <a:round/>
                      <a:headEnd type="none" w="med" len="med"/>
                      <a:tailEnd type="none" w="med" len="med"/>
                    </a:lnB>
                    <a:solidFill>
                      <a:srgbClr val="FFD5D5"/>
                    </a:solid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Control Sequence</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9050" cap="flat" cmpd="sng" algn="ctr">
                      <a:solidFill>
                        <a:srgbClr val="FFB9B9"/>
                      </a:solidFill>
                      <a:prstDash val="solid"/>
                      <a:round/>
                      <a:headEnd type="none" w="med" len="med"/>
                      <a:tailEnd type="none" w="med" len="med"/>
                    </a:lnL>
                    <a:lnR w="19050" cap="flat" cmpd="sng" algn="ctr">
                      <a:solidFill>
                        <a:srgbClr val="FFB9B9"/>
                      </a:solidFill>
                      <a:prstDash val="solid"/>
                      <a:round/>
                      <a:headEnd type="none" w="med" len="med"/>
                      <a:tailEnd type="none" w="med" len="med"/>
                    </a:lnR>
                    <a:lnT w="19050" cap="flat" cmpd="sng" algn="ctr">
                      <a:solidFill>
                        <a:srgbClr val="FFB9B9"/>
                      </a:solidFill>
                      <a:prstDash val="solid"/>
                      <a:round/>
                      <a:headEnd type="none" w="med" len="med"/>
                      <a:tailEnd type="none" w="med" len="med"/>
                    </a:lnT>
                    <a:lnB w="19050" cap="flat" cmpd="sng" algn="ctr">
                      <a:solidFill>
                        <a:srgbClr val="FFB9B9"/>
                      </a:solidFill>
                      <a:prstDash val="solid"/>
                      <a:round/>
                      <a:headEnd type="none" w="med" len="med"/>
                      <a:tailEnd type="none" w="med" len="med"/>
                    </a:lnB>
                    <a:solidFill>
                      <a:srgbClr val="FFD5D5"/>
                    </a:solid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Encoded Sequence</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9050" cap="flat" cmpd="sng" algn="ctr">
                      <a:solidFill>
                        <a:srgbClr val="FFB9B9"/>
                      </a:solidFill>
                      <a:prstDash val="solid"/>
                      <a:round/>
                      <a:headEnd type="none" w="med" len="med"/>
                      <a:tailEnd type="none" w="med" len="med"/>
                    </a:lnL>
                    <a:lnR w="19050" cap="flat" cmpd="sng" algn="ctr">
                      <a:solidFill>
                        <a:srgbClr val="FFB9B9"/>
                      </a:solidFill>
                      <a:prstDash val="solid"/>
                      <a:round/>
                      <a:headEnd type="none" w="med" len="med"/>
                      <a:tailEnd type="none" w="med" len="med"/>
                    </a:lnR>
                    <a:lnT w="19050" cap="flat" cmpd="sng" algn="ctr">
                      <a:solidFill>
                        <a:srgbClr val="FFB9B9"/>
                      </a:solidFill>
                      <a:prstDash val="solid"/>
                      <a:round/>
                      <a:headEnd type="none" w="med" len="med"/>
                      <a:tailEnd type="none" w="med" len="med"/>
                    </a:lnT>
                    <a:lnB w="19050" cap="flat" cmpd="sng" algn="ctr">
                      <a:solidFill>
                        <a:srgbClr val="FFB9B9"/>
                      </a:solidFill>
                      <a:prstDash val="solid"/>
                      <a:round/>
                      <a:headEnd type="none" w="med" len="med"/>
                      <a:tailEnd type="none" w="med" len="med"/>
                    </a:lnB>
                    <a:solidFill>
                      <a:srgbClr val="FFD5D5"/>
                    </a:solidFill>
                  </a:tcPr>
                </a:tc>
                <a:extLst>
                  <a:ext uri="{0D108BD9-81ED-4DB2-BD59-A6C34878D82A}">
                    <a16:rowId xmlns:a16="http://schemas.microsoft.com/office/drawing/2014/main" val="934414960"/>
                  </a:ext>
                </a:extLst>
              </a:tr>
              <a:tr h="304820">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0000</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905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11110</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905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Q (Quiet)</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905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00000</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905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extLst>
                  <a:ext uri="{0D108BD9-81ED-4DB2-BD59-A6C34878D82A}">
                    <a16:rowId xmlns:a16="http://schemas.microsoft.com/office/drawing/2014/main" val="2783118024"/>
                  </a:ext>
                </a:extLst>
              </a:tr>
              <a:tr h="304820">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0001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01001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I (Idle)</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11111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extLst>
                  <a:ext uri="{0D108BD9-81ED-4DB2-BD59-A6C34878D82A}">
                    <a16:rowId xmlns:a16="http://schemas.microsoft.com/office/drawing/2014/main" val="1150429377"/>
                  </a:ext>
                </a:extLst>
              </a:tr>
              <a:tr h="304820">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0010</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10100</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H (Halt)</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00100</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extLst>
                  <a:ext uri="{0D108BD9-81ED-4DB2-BD59-A6C34878D82A}">
                    <a16:rowId xmlns:a16="http://schemas.microsoft.com/office/drawing/2014/main" val="3781162692"/>
                  </a:ext>
                </a:extLst>
              </a:tr>
              <a:tr h="304820">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0011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10101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J (Start delimiter)</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11000</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extLst>
                  <a:ext uri="{0D108BD9-81ED-4DB2-BD59-A6C34878D82A}">
                    <a16:rowId xmlns:a16="http://schemas.microsoft.com/office/drawing/2014/main" val="3775953422"/>
                  </a:ext>
                </a:extLst>
              </a:tr>
              <a:tr h="304820">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0100</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01010</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K (Start delimiter)</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10001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extLst>
                  <a:ext uri="{0D108BD9-81ED-4DB2-BD59-A6C34878D82A}">
                    <a16:rowId xmlns:a16="http://schemas.microsoft.com/office/drawing/2014/main" val="3652330667"/>
                  </a:ext>
                </a:extLst>
              </a:tr>
              <a:tr h="304820">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0101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01011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T (End </a:t>
                      </a:r>
                      <a:r>
                        <a:rPr lang="en-US" altLang="zh-CN" sz="1400" dirty="0" err="1">
                          <a:solidFill>
                            <a:schemeClr val="tx1"/>
                          </a:solidFill>
                          <a:latin typeface="微软雅黑" panose="020B0503020204020204" pitchFamily="34" charset="-122"/>
                          <a:ea typeface="微软雅黑" panose="020B0503020204020204" pitchFamily="34" charset="-122"/>
                        </a:rPr>
                        <a:t>delilmiter</a:t>
                      </a:r>
                      <a:r>
                        <a:rPr lang="en-US" altLang="zh-CN" sz="1400" dirty="0">
                          <a:solidFill>
                            <a:schemeClr val="tx1"/>
                          </a:solidFill>
                          <a:latin typeface="微软雅黑" panose="020B0503020204020204" pitchFamily="34" charset="-122"/>
                          <a:ea typeface="微软雅黑" panose="020B0503020204020204" pitchFamily="34" charset="-122"/>
                        </a:rPr>
                        <a:t>)</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01101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extLst>
                  <a:ext uri="{0D108BD9-81ED-4DB2-BD59-A6C34878D82A}">
                    <a16:rowId xmlns:a16="http://schemas.microsoft.com/office/drawing/2014/main" val="643214490"/>
                  </a:ext>
                </a:extLst>
              </a:tr>
              <a:tr h="304820">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0110</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01110</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S (Set)</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11001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extLst>
                  <a:ext uri="{0D108BD9-81ED-4DB2-BD59-A6C34878D82A}">
                    <a16:rowId xmlns:a16="http://schemas.microsoft.com/office/drawing/2014/main" val="3731642946"/>
                  </a:ext>
                </a:extLst>
              </a:tr>
              <a:tr h="304820">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0111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01111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R (Reset)</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00111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extLst>
                  <a:ext uri="{0D108BD9-81ED-4DB2-BD59-A6C34878D82A}">
                    <a16:rowId xmlns:a16="http://schemas.microsoft.com/office/drawing/2014/main" val="1825866978"/>
                  </a:ext>
                </a:extLst>
              </a:tr>
              <a:tr h="304820">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1000</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10010</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extLst>
                  <a:ext uri="{0D108BD9-81ED-4DB2-BD59-A6C34878D82A}">
                    <a16:rowId xmlns:a16="http://schemas.microsoft.com/office/drawing/2014/main" val="3071658148"/>
                  </a:ext>
                </a:extLst>
              </a:tr>
              <a:tr h="304820">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1001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10011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extLst>
                  <a:ext uri="{0D108BD9-81ED-4DB2-BD59-A6C34878D82A}">
                    <a16:rowId xmlns:a16="http://schemas.microsoft.com/office/drawing/2014/main" val="4187780894"/>
                  </a:ext>
                </a:extLst>
              </a:tr>
              <a:tr h="304820">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1010</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10110</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extLst>
                  <a:ext uri="{0D108BD9-81ED-4DB2-BD59-A6C34878D82A}">
                    <a16:rowId xmlns:a16="http://schemas.microsoft.com/office/drawing/2014/main" val="1995017695"/>
                  </a:ext>
                </a:extLst>
              </a:tr>
              <a:tr h="304820">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1011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10111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endParaRPr lang="zh-CN" altLang="en-US" sz="140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extLst>
                  <a:ext uri="{0D108BD9-81ED-4DB2-BD59-A6C34878D82A}">
                    <a16:rowId xmlns:a16="http://schemas.microsoft.com/office/drawing/2014/main" val="507583808"/>
                  </a:ext>
                </a:extLst>
              </a:tr>
              <a:tr h="304820">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1100</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11010</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endParaRPr lang="zh-CN" altLang="en-US" sz="140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extLst>
                  <a:ext uri="{0D108BD9-81ED-4DB2-BD59-A6C34878D82A}">
                    <a16:rowId xmlns:a16="http://schemas.microsoft.com/office/drawing/2014/main" val="1108570304"/>
                  </a:ext>
                </a:extLst>
              </a:tr>
              <a:tr h="304820">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1101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11011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endParaRPr lang="zh-CN" altLang="en-US" sz="140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extLst>
                  <a:ext uri="{0D108BD9-81ED-4DB2-BD59-A6C34878D82A}">
                    <a16:rowId xmlns:a16="http://schemas.microsoft.com/office/drawing/2014/main" val="2798734409"/>
                  </a:ext>
                </a:extLst>
              </a:tr>
              <a:tr h="304820">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1110</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11100</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endParaRPr lang="zh-CN" altLang="en-US" sz="140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extLst>
                  <a:ext uri="{0D108BD9-81ED-4DB2-BD59-A6C34878D82A}">
                    <a16:rowId xmlns:a16="http://schemas.microsoft.com/office/drawing/2014/main" val="2936587403"/>
                  </a:ext>
                </a:extLst>
              </a:tr>
              <a:tr h="304820">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1111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r>
                        <a:rPr lang="en-US" altLang="zh-CN" sz="1400" dirty="0">
                          <a:solidFill>
                            <a:schemeClr val="tx1"/>
                          </a:solidFill>
                          <a:latin typeface="微软雅黑" panose="020B0503020204020204" pitchFamily="34" charset="-122"/>
                          <a:ea typeface="微软雅黑" panose="020B0503020204020204" pitchFamily="34" charset="-122"/>
                        </a:rPr>
                        <a:t>11101</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tc>
                  <a:txBody>
                    <a:bodyPr/>
                    <a:lstStyle/>
                    <a:p>
                      <a:pPr algn="ctr"/>
                      <a:endParaRPr lang="zh-CN" altLang="en-US" sz="1400" dirty="0">
                        <a:solidFill>
                          <a:schemeClr val="tx1"/>
                        </a:solidFill>
                        <a:latin typeface="微软雅黑" panose="020B0503020204020204" pitchFamily="34" charset="-122"/>
                        <a:ea typeface="微软雅黑" panose="020B0503020204020204" pitchFamily="34" charset="-122"/>
                      </a:endParaRPr>
                    </a:p>
                  </a:txBody>
                  <a:tcPr marT="45723" marB="45723" anchor="ctr">
                    <a:lnL w="12700" cap="flat" cmpd="sng" algn="ctr">
                      <a:solidFill>
                        <a:srgbClr val="FFB9B9"/>
                      </a:solidFill>
                      <a:prstDash val="solid"/>
                      <a:round/>
                      <a:headEnd type="none" w="med" len="med"/>
                      <a:tailEnd type="none" w="med" len="med"/>
                    </a:lnL>
                    <a:lnR w="12700" cap="flat" cmpd="sng" algn="ctr">
                      <a:solidFill>
                        <a:srgbClr val="FFB9B9"/>
                      </a:solidFill>
                      <a:prstDash val="solid"/>
                      <a:round/>
                      <a:headEnd type="none" w="med" len="med"/>
                      <a:tailEnd type="none" w="med" len="med"/>
                    </a:lnR>
                    <a:lnT w="12700" cap="flat" cmpd="sng" algn="ctr">
                      <a:solidFill>
                        <a:srgbClr val="FFB9B9"/>
                      </a:solidFill>
                      <a:prstDash val="solid"/>
                      <a:round/>
                      <a:headEnd type="none" w="med" len="med"/>
                      <a:tailEnd type="none" w="med" len="med"/>
                    </a:lnT>
                    <a:lnB w="12700" cap="flat" cmpd="sng" algn="ctr">
                      <a:solidFill>
                        <a:srgbClr val="FFB9B9"/>
                      </a:solidFill>
                      <a:prstDash val="solid"/>
                      <a:round/>
                      <a:headEnd type="none" w="med" len="med"/>
                      <a:tailEnd type="none" w="med" len="med"/>
                    </a:lnB>
                    <a:noFill/>
                  </a:tcPr>
                </a:tc>
                <a:extLst>
                  <a:ext uri="{0D108BD9-81ED-4DB2-BD59-A6C34878D82A}">
                    <a16:rowId xmlns:a16="http://schemas.microsoft.com/office/drawing/2014/main" val="3737005412"/>
                  </a:ext>
                </a:extLst>
              </a:tr>
            </a:tbl>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4">
            <a:extLst>
              <a:ext uri="{FF2B5EF4-FFF2-40B4-BE49-F238E27FC236}">
                <a16:creationId xmlns:a16="http://schemas.microsoft.com/office/drawing/2014/main" id="{0CBEA45E-0E73-48B2-8E78-7CC16F38DB6A}"/>
              </a:ext>
            </a:extLst>
          </p:cNvPr>
          <p:cNvSpPr txBox="1">
            <a:spLocks noChangeArrowheads="1"/>
          </p:cNvSpPr>
          <p:nvPr/>
        </p:nvSpPr>
        <p:spPr bwMode="auto">
          <a:xfrm>
            <a:off x="4343400" y="5849939"/>
            <a:ext cx="48006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a:solidFill>
                  <a:schemeClr val="folHlink"/>
                </a:solidFill>
                <a:latin typeface="Times New Roman" panose="02020603050405020304" pitchFamily="18" charset="0"/>
                <a:ea typeface="宋体" panose="02010600030101010101" pitchFamily="2" charset="-122"/>
              </a:rPr>
              <a:t>Figure 10.6  </a:t>
            </a:r>
            <a:r>
              <a:rPr lang="zh-CN" altLang="en-US" sz="1600">
                <a:latin typeface="Times New Roman" panose="02020603050405020304" pitchFamily="18" charset="0"/>
                <a:ea typeface="宋体" panose="02010600030101010101" pitchFamily="2" charset="-122"/>
              </a:rPr>
              <a:t>块编码的差错检测过程</a:t>
            </a:r>
            <a:endParaRPr lang="en-US" altLang="zh-CN" sz="1600">
              <a:latin typeface="Times New Roman" panose="02020603050405020304" pitchFamily="18" charset="0"/>
              <a:ea typeface="宋体" panose="02010600030101010101" pitchFamily="2" charset="-122"/>
            </a:endParaRPr>
          </a:p>
        </p:txBody>
      </p:sp>
      <p:pic>
        <p:nvPicPr>
          <p:cNvPr id="26628" name="Picture 6">
            <a:extLst>
              <a:ext uri="{FF2B5EF4-FFF2-40B4-BE49-F238E27FC236}">
                <a16:creationId xmlns:a16="http://schemas.microsoft.com/office/drawing/2014/main" id="{5B9448B8-99CB-4656-8D8C-6047F77AFA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2858" y="3124200"/>
            <a:ext cx="6098716" cy="244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1">
            <a:extLst>
              <a:ext uri="{FF2B5EF4-FFF2-40B4-BE49-F238E27FC236}">
                <a16:creationId xmlns:a16="http://schemas.microsoft.com/office/drawing/2014/main" id="{86814D99-6596-4557-9252-70670864885F}"/>
              </a:ext>
            </a:extLst>
          </p:cNvPr>
          <p:cNvSpPr txBox="1">
            <a:spLocks noChangeArrowheads="1"/>
          </p:cNvSpPr>
          <p:nvPr/>
        </p:nvSpPr>
        <p:spPr bwMode="auto">
          <a:xfrm>
            <a:off x="1371600" y="1150047"/>
            <a:ext cx="9753600" cy="170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ct val="150000"/>
              </a:lnSpc>
              <a:buClr>
                <a:srgbClr val="002060"/>
              </a:buClr>
              <a:buSzPct val="80000"/>
              <a:defRPr/>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差错检测的前提是：</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marL="620713" indent="-350838">
              <a:lnSpc>
                <a:spcPct val="150000"/>
              </a:lnSpc>
              <a:buClr>
                <a:srgbClr val="FF0000"/>
              </a:buClr>
              <a:buSzPct val="80000"/>
              <a:buFont typeface="Wingdings" panose="05000000000000000000" pitchFamily="2" charset="2"/>
              <a:buChar char="u"/>
              <a:defRPr/>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接收方有（或能找到）有效码字的列表</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marL="620713" indent="-350838">
              <a:lnSpc>
                <a:spcPct val="150000"/>
              </a:lnSpc>
              <a:buClr>
                <a:srgbClr val="FF0000"/>
              </a:buClr>
              <a:buSzPct val="80000"/>
              <a:buFont typeface="Wingdings" panose="05000000000000000000" pitchFamily="2" charset="2"/>
              <a:buChar char="u"/>
              <a:defRPr/>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 原来码字已改变成无效的码字</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Clr>
                <a:srgbClr val="002060"/>
              </a:buClr>
              <a:buSzPct val="80000"/>
              <a:defRPr/>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如果码字在传输中被破坏，但接收到的码字仍然是一个有效的码字，差错则无法被检测到。</a:t>
            </a:r>
          </a:p>
        </p:txBody>
      </p:sp>
      <p:sp>
        <p:nvSpPr>
          <p:cNvPr id="26630" name="矩形 1">
            <a:extLst>
              <a:ext uri="{FF2B5EF4-FFF2-40B4-BE49-F238E27FC236}">
                <a16:creationId xmlns:a16="http://schemas.microsoft.com/office/drawing/2014/main" id="{F74B293B-76B7-481C-8E6F-1CEA0BFC1BE7}"/>
              </a:ext>
            </a:extLst>
          </p:cNvPr>
          <p:cNvSpPr>
            <a:spLocks noChangeArrowheads="1"/>
          </p:cNvSpPr>
          <p:nvPr/>
        </p:nvSpPr>
        <p:spPr bwMode="auto">
          <a:xfrm>
            <a:off x="4038600" y="87683"/>
            <a:ext cx="18494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617663" algn="l"/>
              </a:tabLst>
              <a:defRPr sz="3200" b="1">
                <a:solidFill>
                  <a:schemeClr val="tx1"/>
                </a:solidFill>
                <a:latin typeface="Arial" panose="020B0604020202020204" pitchFamily="34" charset="0"/>
              </a:defRPr>
            </a:lvl1pPr>
            <a:lvl2pPr marL="742950" indent="-285750">
              <a:tabLst>
                <a:tab pos="1617663" algn="l"/>
              </a:tabLst>
              <a:defRPr sz="3200" b="1">
                <a:solidFill>
                  <a:schemeClr val="tx1"/>
                </a:solidFill>
                <a:latin typeface="Arial" panose="020B0604020202020204" pitchFamily="34" charset="0"/>
              </a:defRPr>
            </a:lvl2pPr>
            <a:lvl3pPr marL="1143000" indent="-228600">
              <a:tabLst>
                <a:tab pos="1617663" algn="l"/>
              </a:tabLst>
              <a:defRPr sz="3200" b="1">
                <a:solidFill>
                  <a:schemeClr val="tx1"/>
                </a:solidFill>
                <a:latin typeface="Arial" panose="020B0604020202020204" pitchFamily="34" charset="0"/>
              </a:defRPr>
            </a:lvl3pPr>
            <a:lvl4pPr marL="1600200" indent="-228600">
              <a:tabLst>
                <a:tab pos="1617663" algn="l"/>
              </a:tabLst>
              <a:defRPr sz="3200" b="1">
                <a:solidFill>
                  <a:schemeClr val="tx1"/>
                </a:solidFill>
                <a:latin typeface="Arial" panose="020B0604020202020204" pitchFamily="34" charset="0"/>
              </a:defRPr>
            </a:lvl4pPr>
            <a:lvl5pPr marL="2057400" indent="-228600">
              <a:tabLst>
                <a:tab pos="1617663" algn="l"/>
              </a:tabLst>
              <a:defRPr sz="3200" b="1">
                <a:solidFill>
                  <a:schemeClr val="tx1"/>
                </a:solidFill>
                <a:latin typeface="Arial" panose="020B0604020202020204" pitchFamily="34" charset="0"/>
              </a:defRPr>
            </a:lvl5pPr>
            <a:lvl6pPr marL="2514600" indent="-228600" eaLnBrk="0" fontAlgn="base" hangingPunct="0">
              <a:spcBef>
                <a:spcPct val="0"/>
              </a:spcBef>
              <a:spcAft>
                <a:spcPct val="0"/>
              </a:spcAft>
              <a:tabLst>
                <a:tab pos="1617663" algn="l"/>
              </a:tabLst>
              <a:defRPr sz="3200" b="1">
                <a:solidFill>
                  <a:schemeClr val="tx1"/>
                </a:solidFill>
                <a:latin typeface="Arial" panose="020B0604020202020204" pitchFamily="34" charset="0"/>
              </a:defRPr>
            </a:lvl6pPr>
            <a:lvl7pPr marL="2971800" indent="-228600" eaLnBrk="0" fontAlgn="base" hangingPunct="0">
              <a:spcBef>
                <a:spcPct val="0"/>
              </a:spcBef>
              <a:spcAft>
                <a:spcPct val="0"/>
              </a:spcAft>
              <a:tabLst>
                <a:tab pos="1617663" algn="l"/>
              </a:tabLst>
              <a:defRPr sz="3200" b="1">
                <a:solidFill>
                  <a:schemeClr val="tx1"/>
                </a:solidFill>
                <a:latin typeface="Arial" panose="020B0604020202020204" pitchFamily="34" charset="0"/>
              </a:defRPr>
            </a:lvl7pPr>
            <a:lvl8pPr marL="3429000" indent="-228600" eaLnBrk="0" fontAlgn="base" hangingPunct="0">
              <a:spcBef>
                <a:spcPct val="0"/>
              </a:spcBef>
              <a:spcAft>
                <a:spcPct val="0"/>
              </a:spcAft>
              <a:tabLst>
                <a:tab pos="1617663" algn="l"/>
              </a:tabLst>
              <a:defRPr sz="3200" b="1">
                <a:solidFill>
                  <a:schemeClr val="tx1"/>
                </a:solidFill>
                <a:latin typeface="Arial" panose="020B0604020202020204" pitchFamily="34" charset="0"/>
              </a:defRPr>
            </a:lvl8pPr>
            <a:lvl9pPr marL="3886200" indent="-228600" eaLnBrk="0" fontAlgn="base" hangingPunct="0">
              <a:spcBef>
                <a:spcPct val="0"/>
              </a:spcBef>
              <a:spcAft>
                <a:spcPct val="0"/>
              </a:spcAft>
              <a:tabLst>
                <a:tab pos="1617663" algn="l"/>
              </a:tabLst>
              <a:defRPr sz="3200" b="1">
                <a:solidFill>
                  <a:schemeClr val="tx1"/>
                </a:solidFill>
                <a:latin typeface="Arial" panose="020B0604020202020204" pitchFamily="34" charset="0"/>
              </a:defRPr>
            </a:lvl9pPr>
          </a:lstStyle>
          <a:p>
            <a:r>
              <a:rPr lang="zh-CN" altLang="en-US" sz="2800">
                <a:solidFill>
                  <a:schemeClr val="bg1"/>
                </a:solidFill>
                <a:latin typeface="微软雅黑" panose="020B0503020204020204" pitchFamily="34" charset="-122"/>
                <a:ea typeface="微软雅黑" panose="020B0503020204020204" pitchFamily="34" charset="-122"/>
              </a:rPr>
              <a:t>差错检测</a:t>
            </a:r>
            <a:endParaRPr lang="en-US" altLang="zh-CN" sz="28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09" name="Rectangle 9">
            <a:extLst>
              <a:ext uri="{FF2B5EF4-FFF2-40B4-BE49-F238E27FC236}">
                <a16:creationId xmlns:a16="http://schemas.microsoft.com/office/drawing/2014/main" id="{26F92D9A-8166-42E5-865D-B7E6BFEF034F}"/>
              </a:ext>
            </a:extLst>
          </p:cNvPr>
          <p:cNvSpPr>
            <a:spLocks noChangeArrowheads="1"/>
          </p:cNvSpPr>
          <p:nvPr/>
        </p:nvSpPr>
        <p:spPr bwMode="auto">
          <a:xfrm>
            <a:off x="1295400" y="914401"/>
            <a:ext cx="9525000" cy="2120902"/>
          </a:xfrm>
          <a:prstGeom prst="rect">
            <a:avLst/>
          </a:prstGeom>
          <a:solidFill>
            <a:schemeClr val="bg1"/>
          </a:solidFill>
          <a:ln>
            <a:noFill/>
          </a:ln>
          <a:effectLst/>
        </p:spPr>
        <p:txBody>
          <a:bodyPr wrap="square">
            <a:spAutoFit/>
          </a:bodyPr>
          <a:lstStyle/>
          <a:p>
            <a:pPr marL="809625" indent="-809625" algn="just">
              <a:lnSpc>
                <a:spcPct val="150000"/>
              </a:lnSpc>
              <a:defRPr/>
            </a:pPr>
            <a:r>
              <a:rPr lang="zh-CN" altLang="en-US"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例</a:t>
            </a:r>
            <a:r>
              <a:rPr lang="en-US" altLang="zh-CN"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10.2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只能检测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比特检错码的例子。假设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k = 2</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n = 3</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，发送方把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01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编码成</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 011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发送给接收方。</a:t>
            </a:r>
            <a:endParaRPr lang="en-US" altLang="zh-CN" sz="1800" b="0" i="1" dirty="0">
              <a:latin typeface="微软雅黑" panose="020B0503020204020204" pitchFamily="34" charset="-122"/>
              <a:ea typeface="微软雅黑" panose="020B0503020204020204" pitchFamily="34" charset="-122"/>
            </a:endParaRPr>
          </a:p>
          <a:p>
            <a:pPr marL="1160463" indent="-355600" algn="just">
              <a:lnSpc>
                <a:spcPct val="150000"/>
              </a:lnSpc>
              <a:buClr>
                <a:srgbClr val="FF0000"/>
              </a:buClr>
              <a:buSzPct val="80000"/>
              <a:buFont typeface="Wingdings" panose="05000000000000000000" pitchFamily="2" charset="2"/>
              <a:buChar char="u"/>
              <a:defRPr/>
            </a:pPr>
            <a:r>
              <a:rPr lang="zh-CN" altLang="en-US" sz="1800" b="0" dirty="0">
                <a:latin typeface="微软雅黑" panose="020B0503020204020204" pitchFamily="34" charset="-122"/>
                <a:ea typeface="微软雅黑" panose="020B0503020204020204" pitchFamily="34" charset="-122"/>
              </a:rPr>
              <a:t>接收方收到 </a:t>
            </a:r>
            <a:r>
              <a:rPr lang="en-US" altLang="zh-CN" sz="1800" b="0" dirty="0">
                <a:latin typeface="微软雅黑" panose="020B0503020204020204" pitchFamily="34" charset="-122"/>
                <a:ea typeface="微软雅黑" panose="020B0503020204020204" pitchFamily="34" charset="-122"/>
              </a:rPr>
              <a:t>011</a:t>
            </a:r>
            <a:r>
              <a:rPr lang="zh-CN" altLang="en-US" sz="1800" b="0" dirty="0">
                <a:latin typeface="微软雅黑" panose="020B0503020204020204" pitchFamily="34" charset="-122"/>
                <a:ea typeface="微软雅黑" panose="020B0503020204020204" pitchFamily="34" charset="-122"/>
              </a:rPr>
              <a:t>。这是有效码字，接收方提取出数据字 </a:t>
            </a:r>
            <a:r>
              <a:rPr lang="en-US" altLang="zh-CN" sz="1800" b="0" dirty="0">
                <a:latin typeface="微软雅黑" panose="020B0503020204020204" pitchFamily="34" charset="-122"/>
                <a:ea typeface="微软雅黑" panose="020B0503020204020204" pitchFamily="34" charset="-122"/>
              </a:rPr>
              <a:t>01</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marL="1160463" indent="-355600" algn="just">
              <a:lnSpc>
                <a:spcPct val="150000"/>
              </a:lnSpc>
              <a:buClr>
                <a:srgbClr val="FF0000"/>
              </a:buClr>
              <a:buSzPct val="80000"/>
              <a:buFont typeface="Wingdings" panose="05000000000000000000" pitchFamily="2" charset="2"/>
              <a:buChar char="u"/>
              <a:defRPr/>
            </a:pPr>
            <a:r>
              <a:rPr lang="zh-CN" altLang="en-US" sz="1800" b="0" dirty="0">
                <a:latin typeface="微软雅黑" panose="020B0503020204020204" pitchFamily="34" charset="-122"/>
                <a:ea typeface="微软雅黑" panose="020B0503020204020204" pitchFamily="34" charset="-122"/>
              </a:rPr>
              <a:t>码字在传输中被破坏，接收方收到</a:t>
            </a:r>
            <a:r>
              <a:rPr lang="en-US" altLang="zh-CN" sz="1800" b="0" dirty="0">
                <a:latin typeface="微软雅黑" panose="020B0503020204020204" pitchFamily="34" charset="-122"/>
                <a:ea typeface="微软雅黑" panose="020B0503020204020204" pitchFamily="34" charset="-122"/>
              </a:rPr>
              <a:t> 111</a:t>
            </a:r>
            <a:r>
              <a:rPr lang="zh-CN" altLang="en-US" sz="1800" b="0" dirty="0">
                <a:latin typeface="微软雅黑" panose="020B0503020204020204" pitchFamily="34" charset="-122"/>
                <a:ea typeface="微软雅黑" panose="020B0503020204020204" pitchFamily="34" charset="-122"/>
              </a:rPr>
              <a:t>，是无效码字，丢弃。</a:t>
            </a:r>
            <a:endParaRPr lang="en-US" altLang="zh-CN" sz="1800" b="0" dirty="0">
              <a:latin typeface="微软雅黑" panose="020B0503020204020204" pitchFamily="34" charset="-122"/>
              <a:ea typeface="微软雅黑" panose="020B0503020204020204" pitchFamily="34" charset="-122"/>
            </a:endParaRPr>
          </a:p>
          <a:p>
            <a:pPr marL="1160463" indent="-355600" algn="just">
              <a:lnSpc>
                <a:spcPct val="150000"/>
              </a:lnSpc>
              <a:buClr>
                <a:srgbClr val="FF0000"/>
              </a:buClr>
              <a:buSzPct val="80000"/>
              <a:buFont typeface="Wingdings" panose="05000000000000000000" pitchFamily="2" charset="2"/>
              <a:buChar char="u"/>
              <a:defRPr/>
            </a:pPr>
            <a:r>
              <a:rPr lang="zh-CN" altLang="en-US" sz="1800" b="0" dirty="0">
                <a:latin typeface="微软雅黑" panose="020B0503020204020204" pitchFamily="34" charset="-122"/>
                <a:ea typeface="微软雅黑" panose="020B0503020204020204" pitchFamily="34" charset="-122"/>
              </a:rPr>
              <a:t>码字在传输中被破坏，接收方收到 </a:t>
            </a:r>
            <a:r>
              <a:rPr lang="en-US" altLang="zh-CN" sz="1800" b="0" dirty="0">
                <a:latin typeface="微软雅黑" panose="020B0503020204020204" pitchFamily="34" charset="-122"/>
                <a:ea typeface="微软雅黑" panose="020B0503020204020204" pitchFamily="34" charset="-122"/>
              </a:rPr>
              <a:t>000</a:t>
            </a:r>
            <a:r>
              <a:rPr lang="zh-CN" altLang="en-US" sz="1800" b="0" dirty="0">
                <a:latin typeface="微软雅黑" panose="020B0503020204020204" pitchFamily="34" charset="-122"/>
                <a:ea typeface="微软雅黑" panose="020B0503020204020204" pitchFamily="34" charset="-122"/>
              </a:rPr>
              <a:t>，是有效码字。差错无法被检测到。</a:t>
            </a:r>
            <a:endParaRPr lang="en-US" altLang="zh-CN" sz="1800" b="0" dirty="0">
              <a:latin typeface="微软雅黑" panose="020B0503020204020204" pitchFamily="34" charset="-122"/>
              <a:ea typeface="微软雅黑" panose="020B0503020204020204" pitchFamily="34" charset="-122"/>
            </a:endParaRPr>
          </a:p>
        </p:txBody>
      </p:sp>
      <p:sp>
        <p:nvSpPr>
          <p:cNvPr id="28677" name="Rectangle 11">
            <a:extLst>
              <a:ext uri="{FF2B5EF4-FFF2-40B4-BE49-F238E27FC236}">
                <a16:creationId xmlns:a16="http://schemas.microsoft.com/office/drawing/2014/main" id="{189FD84C-6236-4E86-86CD-1993D194E79A}"/>
              </a:ext>
            </a:extLst>
          </p:cNvPr>
          <p:cNvSpPr>
            <a:spLocks noChangeArrowheads="1"/>
          </p:cNvSpPr>
          <p:nvPr/>
        </p:nvSpPr>
        <p:spPr bwMode="auto">
          <a:xfrm>
            <a:off x="990600" y="5474963"/>
            <a:ext cx="10668000" cy="458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150000"/>
              </a:lnSpc>
            </a:pPr>
            <a:r>
              <a:rPr lang="zh-CN" altLang="en-US" sz="1800" dirty="0">
                <a:latin typeface="微软雅黑" panose="020B0503020204020204" pitchFamily="34" charset="-122"/>
                <a:ea typeface="微软雅黑" panose="020B0503020204020204" pitchFamily="34" charset="-122"/>
              </a:rPr>
              <a:t>检错码是为某些类型的差错而设计的，因此只能检测这些类型的差错，其它类型的差错则无法检测到。</a:t>
            </a:r>
            <a:endParaRPr lang="en-US" altLang="zh-CN" sz="1800" dirty="0">
              <a:latin typeface="微软雅黑" panose="020B0503020204020204" pitchFamily="34" charset="-122"/>
              <a:ea typeface="微软雅黑" panose="020B0503020204020204" pitchFamily="34" charset="-122"/>
            </a:endParaRPr>
          </a:p>
        </p:txBody>
      </p:sp>
      <p:graphicFrame>
        <p:nvGraphicFramePr>
          <p:cNvPr id="2" name="表格 1">
            <a:extLst>
              <a:ext uri="{FF2B5EF4-FFF2-40B4-BE49-F238E27FC236}">
                <a16:creationId xmlns:a16="http://schemas.microsoft.com/office/drawing/2014/main" id="{4EA43646-6377-45AB-A579-1A761CF93D75}"/>
              </a:ext>
            </a:extLst>
          </p:cNvPr>
          <p:cNvGraphicFramePr>
            <a:graphicFrameLocks noGrp="1"/>
          </p:cNvGraphicFramePr>
          <p:nvPr>
            <p:extLst>
              <p:ext uri="{D42A27DB-BD31-4B8C-83A1-F6EECF244321}">
                <p14:modId xmlns:p14="http://schemas.microsoft.com/office/powerpoint/2010/main" val="862943641"/>
              </p:ext>
            </p:extLst>
          </p:nvPr>
        </p:nvGraphicFramePr>
        <p:xfrm>
          <a:off x="3581400" y="3352800"/>
          <a:ext cx="4724400" cy="16764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816645437"/>
                    </a:ext>
                  </a:extLst>
                </a:gridCol>
                <a:gridCol w="2362200">
                  <a:extLst>
                    <a:ext uri="{9D8B030D-6E8A-4147-A177-3AD203B41FA5}">
                      <a16:colId xmlns:a16="http://schemas.microsoft.com/office/drawing/2014/main" val="3050610508"/>
                    </a:ext>
                  </a:extLst>
                </a:gridCol>
              </a:tblGrid>
              <a:tr h="317817">
                <a:tc>
                  <a:txBody>
                    <a:bodyPr/>
                    <a:lstStyle/>
                    <a:p>
                      <a:pPr algn="ctr"/>
                      <a:r>
                        <a:rPr lang="en-US" altLang="zh-CN" sz="1600" b="1" dirty="0" err="1">
                          <a:solidFill>
                            <a:schemeClr val="tx1"/>
                          </a:solidFill>
                          <a:latin typeface="微软雅黑" panose="020B0503020204020204" pitchFamily="34" charset="-122"/>
                          <a:ea typeface="微软雅黑" panose="020B0503020204020204" pitchFamily="34" charset="-122"/>
                        </a:rPr>
                        <a:t>Datawords</a:t>
                      </a:r>
                      <a:endParaRPr lang="zh-CN" altLang="en-US" sz="1600" b="1" dirty="0">
                        <a:solidFill>
                          <a:schemeClr val="tx1"/>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algn="ctr"/>
                      <a:r>
                        <a:rPr lang="en-US" altLang="zh-CN" sz="1600" b="1" dirty="0">
                          <a:solidFill>
                            <a:srgbClr val="F466BA"/>
                          </a:solidFill>
                          <a:latin typeface="微软雅黑" panose="020B0503020204020204" pitchFamily="34" charset="-122"/>
                          <a:ea typeface="微软雅黑" panose="020B0503020204020204" pitchFamily="34" charset="-122"/>
                        </a:rPr>
                        <a:t>Codewords</a:t>
                      </a:r>
                      <a:endParaRPr lang="zh-CN" altLang="en-US" sz="1600" b="1" dirty="0">
                        <a:solidFill>
                          <a:srgbClr val="F466BA"/>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extLst>
                  <a:ext uri="{0D108BD9-81ED-4DB2-BD59-A6C34878D82A}">
                    <a16:rowId xmlns:a16="http://schemas.microsoft.com/office/drawing/2014/main" val="3089020720"/>
                  </a:ext>
                </a:extLst>
              </a:tr>
              <a:tr h="317817">
                <a:tc>
                  <a:txBody>
                    <a:bodyPr/>
                    <a:lstStyle/>
                    <a:p>
                      <a:pPr algn="ctr"/>
                      <a:r>
                        <a:rPr lang="en-US" altLang="zh-CN" sz="1600" dirty="0"/>
                        <a:t>00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000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027944455"/>
                  </a:ext>
                </a:extLst>
              </a:tr>
              <a:tr h="317817">
                <a:tc>
                  <a:txBody>
                    <a:bodyPr/>
                    <a:lstStyle/>
                    <a:p>
                      <a:pPr algn="ctr"/>
                      <a:r>
                        <a:rPr lang="en-US" altLang="zh-CN" sz="1600" dirty="0"/>
                        <a:t>01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011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228138147"/>
                  </a:ext>
                </a:extLst>
              </a:tr>
              <a:tr h="317817">
                <a:tc>
                  <a:txBody>
                    <a:bodyPr/>
                    <a:lstStyle/>
                    <a:p>
                      <a:pPr algn="ctr"/>
                      <a:r>
                        <a:rPr lang="en-US" altLang="zh-CN" sz="1600" dirty="0"/>
                        <a:t>10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101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304120545"/>
                  </a:ext>
                </a:extLst>
              </a:tr>
              <a:tr h="317817">
                <a:tc>
                  <a:txBody>
                    <a:bodyPr/>
                    <a:lstStyle/>
                    <a:p>
                      <a:pPr algn="ctr"/>
                      <a:r>
                        <a:rPr lang="en-US" altLang="zh-CN" sz="1600" dirty="0"/>
                        <a:t>11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110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2677880975"/>
                  </a:ext>
                </a:extLst>
              </a:tr>
            </a:tbl>
          </a:graphicData>
        </a:graphic>
      </p:graphicFrame>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文本框 1">
            <a:extLst>
              <a:ext uri="{FF2B5EF4-FFF2-40B4-BE49-F238E27FC236}">
                <a16:creationId xmlns:a16="http://schemas.microsoft.com/office/drawing/2014/main" id="{ADFB6141-3BF1-43A8-B936-98ABBFE3919D}"/>
              </a:ext>
            </a:extLst>
          </p:cNvPr>
          <p:cNvSpPr txBox="1">
            <a:spLocks noChangeArrowheads="1"/>
          </p:cNvSpPr>
          <p:nvPr/>
        </p:nvSpPr>
        <p:spPr bwMode="auto">
          <a:xfrm>
            <a:off x="1143000" y="1143000"/>
            <a:ext cx="9906000" cy="87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150000"/>
              </a:lnSpc>
              <a:buClr>
                <a:srgbClr val="002060"/>
              </a:buClr>
              <a:buSzPct val="80000"/>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检错是接收方只需知道接收到的码字是无效的，但纠错时接收方需要知道发送的原来码字，因此</a:t>
            </a:r>
            <a:r>
              <a:rPr lang="zh-CN" altLang="en-US" sz="18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纠错比检错更复杂，需要更多冗余位。</a:t>
            </a:r>
          </a:p>
        </p:txBody>
      </p:sp>
      <p:sp>
        <p:nvSpPr>
          <p:cNvPr id="30724" name="矩形 2">
            <a:extLst>
              <a:ext uri="{FF2B5EF4-FFF2-40B4-BE49-F238E27FC236}">
                <a16:creationId xmlns:a16="http://schemas.microsoft.com/office/drawing/2014/main" id="{083ECDA1-427C-4CBD-A855-6535A3FB274E}"/>
              </a:ext>
            </a:extLst>
          </p:cNvPr>
          <p:cNvSpPr>
            <a:spLocks noChangeArrowheads="1"/>
          </p:cNvSpPr>
          <p:nvPr/>
        </p:nvSpPr>
        <p:spPr bwMode="auto">
          <a:xfrm>
            <a:off x="3962400" y="83936"/>
            <a:ext cx="2012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617663" algn="l"/>
              </a:tabLst>
              <a:defRPr sz="3200" b="1">
                <a:solidFill>
                  <a:schemeClr val="tx1"/>
                </a:solidFill>
                <a:latin typeface="Arial" panose="020B0604020202020204" pitchFamily="34" charset="0"/>
              </a:defRPr>
            </a:lvl1pPr>
            <a:lvl2pPr marL="742950" indent="-285750">
              <a:tabLst>
                <a:tab pos="1617663" algn="l"/>
              </a:tabLst>
              <a:defRPr sz="3200" b="1">
                <a:solidFill>
                  <a:schemeClr val="tx1"/>
                </a:solidFill>
                <a:latin typeface="Arial" panose="020B0604020202020204" pitchFamily="34" charset="0"/>
              </a:defRPr>
            </a:lvl2pPr>
            <a:lvl3pPr marL="1143000" indent="-228600">
              <a:tabLst>
                <a:tab pos="1617663" algn="l"/>
              </a:tabLst>
              <a:defRPr sz="3200" b="1">
                <a:solidFill>
                  <a:schemeClr val="tx1"/>
                </a:solidFill>
                <a:latin typeface="Arial" panose="020B0604020202020204" pitchFamily="34" charset="0"/>
              </a:defRPr>
            </a:lvl3pPr>
            <a:lvl4pPr marL="1600200" indent="-228600">
              <a:tabLst>
                <a:tab pos="1617663" algn="l"/>
              </a:tabLst>
              <a:defRPr sz="3200" b="1">
                <a:solidFill>
                  <a:schemeClr val="tx1"/>
                </a:solidFill>
                <a:latin typeface="Arial" panose="020B0604020202020204" pitchFamily="34" charset="0"/>
              </a:defRPr>
            </a:lvl4pPr>
            <a:lvl5pPr marL="2057400" indent="-228600">
              <a:tabLst>
                <a:tab pos="1617663" algn="l"/>
              </a:tabLst>
              <a:defRPr sz="3200" b="1">
                <a:solidFill>
                  <a:schemeClr val="tx1"/>
                </a:solidFill>
                <a:latin typeface="Arial" panose="020B0604020202020204" pitchFamily="34" charset="0"/>
              </a:defRPr>
            </a:lvl5pPr>
            <a:lvl6pPr marL="2514600" indent="-228600" eaLnBrk="0" fontAlgn="base" hangingPunct="0">
              <a:spcBef>
                <a:spcPct val="0"/>
              </a:spcBef>
              <a:spcAft>
                <a:spcPct val="0"/>
              </a:spcAft>
              <a:tabLst>
                <a:tab pos="1617663" algn="l"/>
              </a:tabLst>
              <a:defRPr sz="3200" b="1">
                <a:solidFill>
                  <a:schemeClr val="tx1"/>
                </a:solidFill>
                <a:latin typeface="Arial" panose="020B0604020202020204" pitchFamily="34" charset="0"/>
              </a:defRPr>
            </a:lvl6pPr>
            <a:lvl7pPr marL="2971800" indent="-228600" eaLnBrk="0" fontAlgn="base" hangingPunct="0">
              <a:spcBef>
                <a:spcPct val="0"/>
              </a:spcBef>
              <a:spcAft>
                <a:spcPct val="0"/>
              </a:spcAft>
              <a:tabLst>
                <a:tab pos="1617663" algn="l"/>
              </a:tabLst>
              <a:defRPr sz="3200" b="1">
                <a:solidFill>
                  <a:schemeClr val="tx1"/>
                </a:solidFill>
                <a:latin typeface="Arial" panose="020B0604020202020204" pitchFamily="34" charset="0"/>
              </a:defRPr>
            </a:lvl7pPr>
            <a:lvl8pPr marL="3429000" indent="-228600" eaLnBrk="0" fontAlgn="base" hangingPunct="0">
              <a:spcBef>
                <a:spcPct val="0"/>
              </a:spcBef>
              <a:spcAft>
                <a:spcPct val="0"/>
              </a:spcAft>
              <a:tabLst>
                <a:tab pos="1617663" algn="l"/>
              </a:tabLst>
              <a:defRPr sz="3200" b="1">
                <a:solidFill>
                  <a:schemeClr val="tx1"/>
                </a:solidFill>
                <a:latin typeface="Arial" panose="020B0604020202020204" pitchFamily="34" charset="0"/>
              </a:defRPr>
            </a:lvl8pPr>
            <a:lvl9pPr marL="3886200" indent="-228600" eaLnBrk="0" fontAlgn="base" hangingPunct="0">
              <a:spcBef>
                <a:spcPct val="0"/>
              </a:spcBef>
              <a:spcAft>
                <a:spcPct val="0"/>
              </a:spcAft>
              <a:tabLst>
                <a:tab pos="1617663" algn="l"/>
              </a:tabLst>
              <a:defRPr sz="3200" b="1">
                <a:solidFill>
                  <a:schemeClr val="tx1"/>
                </a:solidFill>
                <a:latin typeface="Arial" panose="020B0604020202020204" pitchFamily="34" charset="0"/>
              </a:defRPr>
            </a:lvl9pPr>
          </a:lstStyle>
          <a:p>
            <a:r>
              <a:rPr lang="zh-CN" altLang="en-US" sz="2800">
                <a:solidFill>
                  <a:schemeClr val="bg1"/>
                </a:solidFill>
                <a:latin typeface="微软雅黑" panose="020B0503020204020204" pitchFamily="34" charset="-122"/>
                <a:ea typeface="微软雅黑" panose="020B0503020204020204" pitchFamily="34" charset="-122"/>
              </a:rPr>
              <a:t>差错纠正</a:t>
            </a:r>
            <a:endParaRPr lang="en-US" altLang="zh-CN" sz="2800">
              <a:solidFill>
                <a:schemeClr val="bg1"/>
              </a:solidFill>
              <a:latin typeface="微软雅黑" panose="020B0503020204020204" pitchFamily="34" charset="-122"/>
              <a:ea typeface="微软雅黑" panose="020B0503020204020204" pitchFamily="34" charset="-122"/>
            </a:endParaRPr>
          </a:p>
        </p:txBody>
      </p:sp>
      <p:sp>
        <p:nvSpPr>
          <p:cNvPr id="30725" name="Text Box 4">
            <a:extLst>
              <a:ext uri="{FF2B5EF4-FFF2-40B4-BE49-F238E27FC236}">
                <a16:creationId xmlns:a16="http://schemas.microsoft.com/office/drawing/2014/main" id="{BAB897D8-55F0-4764-859E-EED863782CD3}"/>
              </a:ext>
            </a:extLst>
          </p:cNvPr>
          <p:cNvSpPr txBox="1">
            <a:spLocks noChangeArrowheads="1"/>
          </p:cNvSpPr>
          <p:nvPr/>
        </p:nvSpPr>
        <p:spPr bwMode="auto">
          <a:xfrm>
            <a:off x="3810000" y="5502275"/>
            <a:ext cx="43243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a:solidFill>
                  <a:schemeClr val="folHlink"/>
                </a:solidFill>
                <a:latin typeface="Times New Roman" panose="02020603050405020304" pitchFamily="18" charset="0"/>
                <a:ea typeface="宋体" panose="02010600030101010101" pitchFamily="2" charset="-122"/>
              </a:rPr>
              <a:t>Figure 10.7</a:t>
            </a:r>
            <a:r>
              <a:rPr lang="zh-CN" altLang="en-US" sz="1600" i="1">
                <a:latin typeface="Times New Roman" panose="02020603050405020304" pitchFamily="18" charset="0"/>
                <a:ea typeface="宋体" panose="02010600030101010101" pitchFamily="2" charset="-122"/>
              </a:rPr>
              <a:t>     </a:t>
            </a:r>
            <a:r>
              <a:rPr lang="zh-CN" altLang="en-US" sz="1600">
                <a:latin typeface="Times New Roman" panose="02020603050405020304" pitchFamily="18" charset="0"/>
                <a:ea typeface="宋体" panose="02010600030101010101" pitchFamily="2" charset="-122"/>
              </a:rPr>
              <a:t>纠错码的编码器和译码器的结构</a:t>
            </a:r>
            <a:endParaRPr lang="en-US" altLang="zh-CN" sz="1600">
              <a:latin typeface="Times New Roman" panose="02020603050405020304" pitchFamily="18" charset="0"/>
              <a:ea typeface="宋体" panose="02010600030101010101" pitchFamily="2" charset="-122"/>
            </a:endParaRPr>
          </a:p>
        </p:txBody>
      </p:sp>
      <p:pic>
        <p:nvPicPr>
          <p:cNvPr id="30726" name="Picture 6">
            <a:extLst>
              <a:ext uri="{FF2B5EF4-FFF2-40B4-BE49-F238E27FC236}">
                <a16:creationId xmlns:a16="http://schemas.microsoft.com/office/drawing/2014/main" id="{FB409D13-0480-478F-8393-E230E16686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1926" y="2393950"/>
            <a:ext cx="6773863" cy="273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62" name="Rectangle 9">
            <a:extLst>
              <a:ext uri="{FF2B5EF4-FFF2-40B4-BE49-F238E27FC236}">
                <a16:creationId xmlns:a16="http://schemas.microsoft.com/office/drawing/2014/main" id="{3FA2DE11-83B2-44EB-BE53-CA41A1E4A5EC}"/>
              </a:ext>
            </a:extLst>
          </p:cNvPr>
          <p:cNvSpPr>
            <a:spLocks noChangeArrowheads="1"/>
          </p:cNvSpPr>
          <p:nvPr/>
        </p:nvSpPr>
        <p:spPr bwMode="auto">
          <a:xfrm>
            <a:off x="1143000" y="1031876"/>
            <a:ext cx="9906000" cy="222477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809625" indent="-809625" algn="just">
              <a:lnSpc>
                <a:spcPct val="200000"/>
              </a:lnSpc>
              <a:defRPr/>
            </a:pPr>
            <a:r>
              <a:rPr lang="zh-CN" altLang="en-US" sz="1800" dirty="0">
                <a:solidFill>
                  <a:schemeClr val="hlink"/>
                </a:solidFill>
                <a:latin typeface="微软雅黑" panose="020B0503020204020204" pitchFamily="34" charset="-122"/>
                <a:ea typeface="微软雅黑" panose="020B0503020204020204" pitchFamily="34" charset="-122"/>
              </a:rPr>
              <a:t>例</a:t>
            </a:r>
            <a:r>
              <a:rPr lang="en-US" altLang="zh-CN" sz="1800" dirty="0">
                <a:solidFill>
                  <a:schemeClr val="hlink"/>
                </a:solidFill>
                <a:latin typeface="微软雅黑" panose="020B0503020204020204" pitchFamily="34" charset="-122"/>
                <a:ea typeface="微软雅黑" panose="020B0503020204020204" pitchFamily="34" charset="-122"/>
              </a:rPr>
              <a:t>10.3 </a:t>
            </a:r>
            <a:r>
              <a:rPr lang="zh-CN" altLang="en-US" sz="1800" b="0" dirty="0">
                <a:latin typeface="微软雅黑" panose="020B0503020204020204" pitchFamily="34" charset="-122"/>
                <a:ea typeface="微软雅黑" panose="020B0503020204020204" pitchFamily="34" charset="-122"/>
              </a:rPr>
              <a:t>只能纠正</a:t>
            </a:r>
            <a:r>
              <a:rPr lang="en-US" altLang="zh-CN" sz="1800" b="0" dirty="0">
                <a:latin typeface="微软雅黑" panose="020B0503020204020204" pitchFamily="34" charset="-122"/>
                <a:ea typeface="微软雅黑" panose="020B0503020204020204" pitchFamily="34" charset="-122"/>
              </a:rPr>
              <a:t>1</a:t>
            </a:r>
            <a:r>
              <a:rPr lang="zh-CN" altLang="en-US" sz="1800" b="0" dirty="0">
                <a:latin typeface="微软雅黑" panose="020B0503020204020204" pitchFamily="34" charset="-122"/>
                <a:ea typeface="微软雅黑" panose="020B0503020204020204" pitchFamily="34" charset="-122"/>
              </a:rPr>
              <a:t>比特错误的纠错码例子。假设数据字是</a:t>
            </a:r>
            <a:r>
              <a:rPr lang="en-US" altLang="zh-CN" sz="1800" b="0" dirty="0">
                <a:latin typeface="微软雅黑" panose="020B0503020204020204" pitchFamily="34" charset="-122"/>
                <a:ea typeface="微软雅黑" panose="020B0503020204020204" pitchFamily="34" charset="-122"/>
              </a:rPr>
              <a:t>01</a:t>
            </a:r>
            <a:r>
              <a:rPr lang="zh-CN" altLang="en-US" sz="1800" b="0" dirty="0">
                <a:latin typeface="微软雅黑" panose="020B0503020204020204" pitchFamily="34" charset="-122"/>
                <a:ea typeface="微软雅黑" panose="020B0503020204020204" pitchFamily="34" charset="-122"/>
              </a:rPr>
              <a:t>，生成码字</a:t>
            </a:r>
            <a:r>
              <a:rPr lang="en-US" altLang="zh-CN" sz="1800" b="0" dirty="0">
                <a:latin typeface="微软雅黑" panose="020B0503020204020204" pitchFamily="34" charset="-122"/>
                <a:ea typeface="微软雅黑" panose="020B0503020204020204" pitchFamily="34" charset="-122"/>
              </a:rPr>
              <a:t>01011</a:t>
            </a:r>
            <a:r>
              <a:rPr lang="zh-CN" altLang="en-US" sz="1800" b="0" dirty="0">
                <a:latin typeface="微软雅黑" panose="020B0503020204020204" pitchFamily="34" charset="-122"/>
                <a:ea typeface="微软雅黑" panose="020B0503020204020204" pitchFamily="34" charset="-122"/>
              </a:rPr>
              <a:t>。这个码字在传输中被破坏，接收方收到 </a:t>
            </a:r>
            <a:r>
              <a:rPr lang="en-US" altLang="zh-CN" sz="1800" b="0" dirty="0">
                <a:latin typeface="微软雅黑" panose="020B0503020204020204" pitchFamily="34" charset="-122"/>
                <a:ea typeface="微软雅黑" panose="020B0503020204020204" pitchFamily="34" charset="-122"/>
              </a:rPr>
              <a:t>01001</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marL="1160463" indent="-355600" algn="just">
              <a:lnSpc>
                <a:spcPct val="200000"/>
              </a:lnSpc>
              <a:buClr>
                <a:srgbClr val="FF0000"/>
              </a:buClr>
              <a:buSzPct val="80000"/>
              <a:buFont typeface="Wingdings" panose="05000000000000000000" pitchFamily="2" charset="2"/>
              <a:buChar char="u"/>
              <a:defRPr/>
            </a:pPr>
            <a:r>
              <a:rPr lang="zh-CN" altLang="en-US" sz="1800" b="0" dirty="0">
                <a:solidFill>
                  <a:srgbClr val="FF0000"/>
                </a:solidFill>
                <a:latin typeface="微软雅黑" panose="020B0503020204020204" pitchFamily="34" charset="-122"/>
                <a:ea typeface="微软雅黑" panose="020B0503020204020204" pitchFamily="34" charset="-122"/>
              </a:rPr>
              <a:t>检错：</a:t>
            </a:r>
            <a:r>
              <a:rPr lang="zh-CN" altLang="en-US" sz="1800" b="0" dirty="0">
                <a:latin typeface="微软雅黑" panose="020B0503020204020204" pitchFamily="34" charset="-122"/>
                <a:ea typeface="微软雅黑" panose="020B0503020204020204" pitchFamily="34" charset="-122"/>
              </a:rPr>
              <a:t>码字不在表中，说明发生了差错。</a:t>
            </a:r>
            <a:endParaRPr lang="en-US" altLang="zh-CN" sz="1800" b="0" dirty="0">
              <a:latin typeface="微软雅黑" panose="020B0503020204020204" pitchFamily="34" charset="-122"/>
              <a:ea typeface="微软雅黑" panose="020B0503020204020204" pitchFamily="34" charset="-122"/>
            </a:endParaRPr>
          </a:p>
          <a:p>
            <a:pPr marL="1160463" indent="-355600" algn="just">
              <a:lnSpc>
                <a:spcPct val="200000"/>
              </a:lnSpc>
              <a:buClr>
                <a:srgbClr val="FF0000"/>
              </a:buClr>
              <a:buSzPct val="80000"/>
              <a:buFont typeface="Wingdings" panose="05000000000000000000" pitchFamily="2" charset="2"/>
              <a:buChar char="u"/>
              <a:defRPr/>
            </a:pPr>
            <a:r>
              <a:rPr lang="zh-CN" altLang="en-US" sz="1800" b="0" dirty="0">
                <a:solidFill>
                  <a:srgbClr val="FF0000"/>
                </a:solidFill>
                <a:latin typeface="微软雅黑" panose="020B0503020204020204" pitchFamily="34" charset="-122"/>
                <a:ea typeface="微软雅黑" panose="020B0503020204020204" pitchFamily="34" charset="-122"/>
              </a:rPr>
              <a:t>纠错：</a:t>
            </a:r>
            <a:r>
              <a:rPr lang="zh-CN" altLang="en-US" sz="1800" b="0" dirty="0">
                <a:latin typeface="微软雅黑" panose="020B0503020204020204" pitchFamily="34" charset="-122"/>
                <a:ea typeface="微软雅黑" panose="020B0503020204020204" pitchFamily="34" charset="-122"/>
              </a:rPr>
              <a:t>假定只有 </a:t>
            </a:r>
            <a:r>
              <a:rPr lang="en-US" altLang="zh-CN" sz="1800" b="0" dirty="0">
                <a:latin typeface="微软雅黑" panose="020B0503020204020204" pitchFamily="34" charset="-122"/>
                <a:ea typeface="微软雅黑" panose="020B0503020204020204" pitchFamily="34" charset="-122"/>
              </a:rPr>
              <a:t>1 </a:t>
            </a:r>
            <a:r>
              <a:rPr lang="zh-CN" altLang="en-US" sz="1800" b="0" dirty="0">
                <a:latin typeface="微软雅黑" panose="020B0503020204020204" pitchFamily="34" charset="-122"/>
                <a:ea typeface="微软雅黑" panose="020B0503020204020204" pitchFamily="34" charset="-122"/>
              </a:rPr>
              <a:t>位被破坏。用 </a:t>
            </a:r>
            <a:r>
              <a:rPr lang="en-US" altLang="zh-CN" sz="1800" b="0" dirty="0">
                <a:latin typeface="微软雅黑" panose="020B0503020204020204" pitchFamily="34" charset="-122"/>
                <a:ea typeface="微软雅黑" panose="020B0503020204020204" pitchFamily="34" charset="-122"/>
              </a:rPr>
              <a:t>01011</a:t>
            </a:r>
            <a:r>
              <a:rPr lang="zh-CN" altLang="en-US" sz="1800" b="0" dirty="0">
                <a:latin typeface="微软雅黑" panose="020B0503020204020204" pitchFamily="34" charset="-122"/>
                <a:ea typeface="微软雅黑" panose="020B0503020204020204" pitchFamily="34" charset="-122"/>
              </a:rPr>
              <a:t>代替 </a:t>
            </a:r>
            <a:r>
              <a:rPr lang="en-US" altLang="zh-CN" sz="1800" b="0" dirty="0">
                <a:latin typeface="微软雅黑" panose="020B0503020204020204" pitchFamily="34" charset="-122"/>
                <a:ea typeface="微软雅黑" panose="020B0503020204020204" pitchFamily="34" charset="-122"/>
              </a:rPr>
              <a:t>01001</a:t>
            </a:r>
            <a:r>
              <a:rPr lang="zh-CN" altLang="en-US" sz="1800" b="0" dirty="0">
                <a:latin typeface="微软雅黑" panose="020B0503020204020204" pitchFamily="34" charset="-122"/>
                <a:ea typeface="微软雅黑" panose="020B0503020204020204" pitchFamily="34" charset="-122"/>
              </a:rPr>
              <a:t>，根据表格找到原来数据。</a:t>
            </a:r>
            <a:endParaRPr lang="en-US" altLang="zh-CN" sz="1800" b="0" dirty="0">
              <a:latin typeface="微软雅黑" panose="020B0503020204020204" pitchFamily="34" charset="-122"/>
              <a:ea typeface="微软雅黑" panose="020B0503020204020204" pitchFamily="34" charset="-122"/>
            </a:endParaRPr>
          </a:p>
        </p:txBody>
      </p:sp>
      <p:graphicFrame>
        <p:nvGraphicFramePr>
          <p:cNvPr id="5" name="表格 4">
            <a:extLst>
              <a:ext uri="{FF2B5EF4-FFF2-40B4-BE49-F238E27FC236}">
                <a16:creationId xmlns:a16="http://schemas.microsoft.com/office/drawing/2014/main" id="{A1FA1891-35CD-4F2C-8878-3D4E6B8670AA}"/>
              </a:ext>
            </a:extLst>
          </p:cNvPr>
          <p:cNvGraphicFramePr>
            <a:graphicFrameLocks noGrp="1"/>
          </p:cNvGraphicFramePr>
          <p:nvPr>
            <p:extLst>
              <p:ext uri="{D42A27DB-BD31-4B8C-83A1-F6EECF244321}">
                <p14:modId xmlns:p14="http://schemas.microsoft.com/office/powerpoint/2010/main" val="1441247616"/>
              </p:ext>
            </p:extLst>
          </p:nvPr>
        </p:nvGraphicFramePr>
        <p:xfrm>
          <a:off x="3276600" y="3879849"/>
          <a:ext cx="5430044" cy="1946275"/>
        </p:xfrm>
        <a:graphic>
          <a:graphicData uri="http://schemas.openxmlformats.org/drawingml/2006/table">
            <a:tbl>
              <a:tblPr firstRow="1" bandRow="1">
                <a:tableStyleId>{5C22544A-7EE6-4342-B048-85BDC9FD1C3A}</a:tableStyleId>
              </a:tblPr>
              <a:tblGrid>
                <a:gridCol w="2458244">
                  <a:extLst>
                    <a:ext uri="{9D8B030D-6E8A-4147-A177-3AD203B41FA5}">
                      <a16:colId xmlns:a16="http://schemas.microsoft.com/office/drawing/2014/main" val="2816645437"/>
                    </a:ext>
                  </a:extLst>
                </a:gridCol>
                <a:gridCol w="2971800">
                  <a:extLst>
                    <a:ext uri="{9D8B030D-6E8A-4147-A177-3AD203B41FA5}">
                      <a16:colId xmlns:a16="http://schemas.microsoft.com/office/drawing/2014/main" val="3050610508"/>
                    </a:ext>
                  </a:extLst>
                </a:gridCol>
              </a:tblGrid>
              <a:tr h="389255">
                <a:tc>
                  <a:txBody>
                    <a:bodyPr/>
                    <a:lstStyle/>
                    <a:p>
                      <a:pPr algn="ctr"/>
                      <a:r>
                        <a:rPr lang="en-US" altLang="zh-CN" sz="1600" b="1" dirty="0" err="1">
                          <a:solidFill>
                            <a:schemeClr val="tx1"/>
                          </a:solidFill>
                          <a:latin typeface="微软雅黑" panose="020B0503020204020204" pitchFamily="34" charset="-122"/>
                          <a:ea typeface="微软雅黑" panose="020B0503020204020204" pitchFamily="34" charset="-122"/>
                        </a:rPr>
                        <a:t>Datawords</a:t>
                      </a:r>
                      <a:endParaRPr lang="zh-CN" altLang="en-US" sz="1600" b="1" dirty="0">
                        <a:solidFill>
                          <a:schemeClr val="tx1"/>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algn="ctr"/>
                      <a:r>
                        <a:rPr lang="en-US" altLang="zh-CN" sz="1600" b="1" dirty="0">
                          <a:solidFill>
                            <a:srgbClr val="F466BA"/>
                          </a:solidFill>
                          <a:latin typeface="微软雅黑" panose="020B0503020204020204" pitchFamily="34" charset="-122"/>
                          <a:ea typeface="微软雅黑" panose="020B0503020204020204" pitchFamily="34" charset="-122"/>
                        </a:rPr>
                        <a:t>Codewords</a:t>
                      </a:r>
                      <a:endParaRPr lang="zh-CN" altLang="en-US" sz="1600" b="1" dirty="0">
                        <a:solidFill>
                          <a:srgbClr val="F466BA"/>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extLst>
                  <a:ext uri="{0D108BD9-81ED-4DB2-BD59-A6C34878D82A}">
                    <a16:rowId xmlns:a16="http://schemas.microsoft.com/office/drawing/2014/main" val="3089020720"/>
                  </a:ext>
                </a:extLst>
              </a:tr>
              <a:tr h="389255">
                <a:tc>
                  <a:txBody>
                    <a:bodyPr/>
                    <a:lstStyle/>
                    <a:p>
                      <a:pPr algn="ctr"/>
                      <a:r>
                        <a:rPr lang="en-US" altLang="zh-CN" sz="1600" dirty="0"/>
                        <a:t>00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00000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027944455"/>
                  </a:ext>
                </a:extLst>
              </a:tr>
              <a:tr h="389255">
                <a:tc>
                  <a:txBody>
                    <a:bodyPr/>
                    <a:lstStyle/>
                    <a:p>
                      <a:pPr algn="ctr"/>
                      <a:r>
                        <a:rPr lang="en-US" altLang="zh-CN" sz="1600" dirty="0"/>
                        <a:t>01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01011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228138147"/>
                  </a:ext>
                </a:extLst>
              </a:tr>
              <a:tr h="389255">
                <a:tc>
                  <a:txBody>
                    <a:bodyPr/>
                    <a:lstStyle/>
                    <a:p>
                      <a:pPr algn="ctr"/>
                      <a:r>
                        <a:rPr lang="en-US" altLang="zh-CN" sz="1600" dirty="0"/>
                        <a:t>10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10101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304120545"/>
                  </a:ext>
                </a:extLst>
              </a:tr>
              <a:tr h="389255">
                <a:tc>
                  <a:txBody>
                    <a:bodyPr/>
                    <a:lstStyle/>
                    <a:p>
                      <a:pPr algn="ctr"/>
                      <a:r>
                        <a:rPr lang="en-US" altLang="zh-CN" sz="1600" dirty="0"/>
                        <a:t>11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11110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2677880975"/>
                  </a:ext>
                </a:extLst>
              </a:tr>
            </a:tbl>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extBox 1">
            <a:extLst>
              <a:ext uri="{FF2B5EF4-FFF2-40B4-BE49-F238E27FC236}">
                <a16:creationId xmlns:a16="http://schemas.microsoft.com/office/drawing/2014/main" id="{1E688048-7F9D-4333-9388-85F778C6659A}"/>
              </a:ext>
            </a:extLst>
          </p:cNvPr>
          <p:cNvSpPr txBox="1">
            <a:spLocks noChangeArrowheads="1"/>
          </p:cNvSpPr>
          <p:nvPr/>
        </p:nvSpPr>
        <p:spPr bwMode="auto">
          <a:xfrm>
            <a:off x="1409700" y="1168461"/>
            <a:ext cx="9372600" cy="111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285750" indent="-285750" algn="just">
              <a:lnSpc>
                <a:spcPct val="200000"/>
              </a:lnSpc>
              <a:buClr>
                <a:srgbClr val="FF0000"/>
              </a:buClr>
              <a:buSzPct val="80000"/>
              <a:buFont typeface="Wingdings" panose="05000000000000000000" pitchFamily="2" charset="2"/>
              <a:buChar char="u"/>
              <a:defRPr/>
            </a:pPr>
            <a:r>
              <a:rPr lang="zh-CN" altLang="en-US" sz="1800" dirty="0">
                <a:latin typeface="微软雅黑" panose="020B0503020204020204" pitchFamily="34" charset="-122"/>
                <a:ea typeface="微软雅黑" panose="020B0503020204020204" pitchFamily="34" charset="-122"/>
              </a:rPr>
              <a:t>汉明距离：</a:t>
            </a:r>
            <a:r>
              <a:rPr lang="zh-CN" altLang="en-US" sz="1800" b="0" dirty="0">
                <a:latin typeface="微软雅黑" panose="020B0503020204020204" pitchFamily="34" charset="-122"/>
                <a:ea typeface="微软雅黑" panose="020B0503020204020204" pitchFamily="34" charset="-122"/>
              </a:rPr>
              <a:t>是差错编码的核心概念，两个</a:t>
            </a:r>
            <a:r>
              <a:rPr lang="zh-CN" altLang="en-US" sz="1800" b="0" dirty="0">
                <a:solidFill>
                  <a:srgbClr val="FF0000"/>
                </a:solidFill>
                <a:latin typeface="微软雅黑" panose="020B0503020204020204" pitchFamily="34" charset="-122"/>
                <a:ea typeface="微软雅黑" panose="020B0503020204020204" pitchFamily="34" charset="-122"/>
              </a:rPr>
              <a:t>相同长度</a:t>
            </a:r>
            <a:r>
              <a:rPr lang="zh-CN" altLang="en-US" sz="1800" b="0" dirty="0">
                <a:latin typeface="微软雅黑" panose="020B0503020204020204" pitchFamily="34" charset="-122"/>
                <a:ea typeface="微软雅黑" panose="020B0503020204020204" pitchFamily="34" charset="-122"/>
              </a:rPr>
              <a:t>字的汉明距离是</a:t>
            </a:r>
            <a:r>
              <a:rPr lang="zh-CN" altLang="en-US" sz="1800" b="0" dirty="0">
                <a:solidFill>
                  <a:srgbClr val="FF0000"/>
                </a:solidFill>
                <a:latin typeface="微软雅黑" panose="020B0503020204020204" pitchFamily="34" charset="-122"/>
                <a:ea typeface="微软雅黑" panose="020B0503020204020204" pitchFamily="34" charset="-122"/>
              </a:rPr>
              <a:t>对应位不同</a:t>
            </a:r>
            <a:r>
              <a:rPr lang="zh-CN" altLang="en-US" sz="1800" b="0" dirty="0">
                <a:latin typeface="微软雅黑" panose="020B0503020204020204" pitchFamily="34" charset="-122"/>
                <a:ea typeface="微软雅黑" panose="020B0503020204020204" pitchFamily="34" charset="-122"/>
              </a:rPr>
              <a:t>的数量，用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d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总是大于</a:t>
            </a:r>
            <a:r>
              <a:rPr lang="en-US" altLang="zh-CN" sz="1800" b="0" dirty="0">
                <a:latin typeface="微软雅黑" panose="020B0503020204020204" pitchFamily="34" charset="-122"/>
                <a:ea typeface="微软雅黑" panose="020B0503020204020204" pitchFamily="34" charset="-122"/>
              </a:rPr>
              <a:t>0) </a:t>
            </a:r>
            <a:r>
              <a:rPr lang="zh-CN" altLang="en-US" sz="1800" b="0" dirty="0">
                <a:latin typeface="微软雅黑" panose="020B0503020204020204" pitchFamily="34" charset="-122"/>
                <a:ea typeface="微软雅黑" panose="020B0503020204020204" pitchFamily="34" charset="-122"/>
              </a:rPr>
              <a:t>表示，可通过两个字异或后 </a:t>
            </a:r>
            <a:r>
              <a:rPr lang="en-US" altLang="zh-CN" sz="1800" b="0" dirty="0">
                <a:latin typeface="微软雅黑" panose="020B0503020204020204" pitchFamily="34" charset="-122"/>
                <a:ea typeface="微软雅黑" panose="020B0503020204020204" pitchFamily="34" charset="-122"/>
              </a:rPr>
              <a:t>1 </a:t>
            </a:r>
            <a:r>
              <a:rPr lang="zh-CN" altLang="en-US" sz="1800" b="0" dirty="0">
                <a:latin typeface="微软雅黑" panose="020B0503020204020204" pitchFamily="34" charset="-122"/>
                <a:ea typeface="微软雅黑" panose="020B0503020204020204" pitchFamily="34" charset="-122"/>
              </a:rPr>
              <a:t>的个数来计算。</a:t>
            </a:r>
            <a:endParaRPr lang="en-US" altLang="zh-CN" sz="1800" b="0" dirty="0">
              <a:latin typeface="微软雅黑" panose="020B0503020204020204" pitchFamily="34" charset="-122"/>
              <a:ea typeface="微软雅黑" panose="020B0503020204020204" pitchFamily="34" charset="-122"/>
            </a:endParaRPr>
          </a:p>
        </p:txBody>
      </p:sp>
      <p:sp>
        <p:nvSpPr>
          <p:cNvPr id="34820" name="矩形 1">
            <a:extLst>
              <a:ext uri="{FF2B5EF4-FFF2-40B4-BE49-F238E27FC236}">
                <a16:creationId xmlns:a16="http://schemas.microsoft.com/office/drawing/2014/main" id="{BEEFF25B-A1C6-4ABE-A11B-BDC9C6860CEF}"/>
              </a:ext>
            </a:extLst>
          </p:cNvPr>
          <p:cNvSpPr>
            <a:spLocks noChangeArrowheads="1"/>
          </p:cNvSpPr>
          <p:nvPr/>
        </p:nvSpPr>
        <p:spPr bwMode="auto">
          <a:xfrm>
            <a:off x="4038600" y="89919"/>
            <a:ext cx="16208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tabLst>
                <a:tab pos="1617663" algn="l"/>
              </a:tabLst>
              <a:defRPr sz="3200" b="1">
                <a:solidFill>
                  <a:schemeClr val="tx1"/>
                </a:solidFill>
                <a:latin typeface="Arial" panose="020B0604020202020204" pitchFamily="34" charset="0"/>
              </a:defRPr>
            </a:lvl1pPr>
            <a:lvl2pPr marL="742950" indent="-285750">
              <a:tabLst>
                <a:tab pos="1617663" algn="l"/>
              </a:tabLst>
              <a:defRPr sz="3200" b="1">
                <a:solidFill>
                  <a:schemeClr val="tx1"/>
                </a:solidFill>
                <a:latin typeface="Arial" panose="020B0604020202020204" pitchFamily="34" charset="0"/>
              </a:defRPr>
            </a:lvl2pPr>
            <a:lvl3pPr marL="1143000" indent="-228600">
              <a:tabLst>
                <a:tab pos="1617663" algn="l"/>
              </a:tabLst>
              <a:defRPr sz="3200" b="1">
                <a:solidFill>
                  <a:schemeClr val="tx1"/>
                </a:solidFill>
                <a:latin typeface="Arial" panose="020B0604020202020204" pitchFamily="34" charset="0"/>
              </a:defRPr>
            </a:lvl3pPr>
            <a:lvl4pPr marL="1600200" indent="-228600">
              <a:tabLst>
                <a:tab pos="1617663" algn="l"/>
              </a:tabLst>
              <a:defRPr sz="3200" b="1">
                <a:solidFill>
                  <a:schemeClr val="tx1"/>
                </a:solidFill>
                <a:latin typeface="Arial" panose="020B0604020202020204" pitchFamily="34" charset="0"/>
              </a:defRPr>
            </a:lvl4pPr>
            <a:lvl5pPr marL="2057400" indent="-228600">
              <a:tabLst>
                <a:tab pos="1617663" algn="l"/>
              </a:tabLst>
              <a:defRPr sz="3200" b="1">
                <a:solidFill>
                  <a:schemeClr val="tx1"/>
                </a:solidFill>
                <a:latin typeface="Arial" panose="020B0604020202020204" pitchFamily="34" charset="0"/>
              </a:defRPr>
            </a:lvl5pPr>
            <a:lvl6pPr marL="2514600" indent="-228600" eaLnBrk="0" fontAlgn="base" hangingPunct="0">
              <a:spcBef>
                <a:spcPct val="0"/>
              </a:spcBef>
              <a:spcAft>
                <a:spcPct val="0"/>
              </a:spcAft>
              <a:tabLst>
                <a:tab pos="1617663" algn="l"/>
              </a:tabLst>
              <a:defRPr sz="3200" b="1">
                <a:solidFill>
                  <a:schemeClr val="tx1"/>
                </a:solidFill>
                <a:latin typeface="Arial" panose="020B0604020202020204" pitchFamily="34" charset="0"/>
              </a:defRPr>
            </a:lvl6pPr>
            <a:lvl7pPr marL="2971800" indent="-228600" eaLnBrk="0" fontAlgn="base" hangingPunct="0">
              <a:spcBef>
                <a:spcPct val="0"/>
              </a:spcBef>
              <a:spcAft>
                <a:spcPct val="0"/>
              </a:spcAft>
              <a:tabLst>
                <a:tab pos="1617663" algn="l"/>
              </a:tabLst>
              <a:defRPr sz="3200" b="1">
                <a:solidFill>
                  <a:schemeClr val="tx1"/>
                </a:solidFill>
                <a:latin typeface="Arial" panose="020B0604020202020204" pitchFamily="34" charset="0"/>
              </a:defRPr>
            </a:lvl7pPr>
            <a:lvl8pPr marL="3429000" indent="-228600" eaLnBrk="0" fontAlgn="base" hangingPunct="0">
              <a:spcBef>
                <a:spcPct val="0"/>
              </a:spcBef>
              <a:spcAft>
                <a:spcPct val="0"/>
              </a:spcAft>
              <a:tabLst>
                <a:tab pos="1617663" algn="l"/>
              </a:tabLst>
              <a:defRPr sz="3200" b="1">
                <a:solidFill>
                  <a:schemeClr val="tx1"/>
                </a:solidFill>
                <a:latin typeface="Arial" panose="020B0604020202020204" pitchFamily="34" charset="0"/>
              </a:defRPr>
            </a:lvl8pPr>
            <a:lvl9pPr marL="3886200" indent="-228600" eaLnBrk="0" fontAlgn="base" hangingPunct="0">
              <a:spcBef>
                <a:spcPct val="0"/>
              </a:spcBef>
              <a:spcAft>
                <a:spcPct val="0"/>
              </a:spcAft>
              <a:tabLst>
                <a:tab pos="1617663" algn="l"/>
              </a:tabLst>
              <a:defRPr sz="3200" b="1">
                <a:solidFill>
                  <a:schemeClr val="tx1"/>
                </a:solidFill>
                <a:latin typeface="Arial" panose="020B0604020202020204" pitchFamily="34" charset="0"/>
              </a:defRPr>
            </a:lvl9pPr>
          </a:lstStyle>
          <a:p>
            <a:r>
              <a:rPr lang="zh-CN" altLang="en-US" sz="2800" dirty="0">
                <a:solidFill>
                  <a:schemeClr val="bg1"/>
                </a:solidFill>
                <a:latin typeface="微软雅黑" panose="020B0503020204020204" pitchFamily="34" charset="-122"/>
                <a:ea typeface="微软雅黑" panose="020B0503020204020204" pitchFamily="34" charset="-122"/>
              </a:rPr>
              <a:t>汉明距离</a:t>
            </a:r>
          </a:p>
        </p:txBody>
      </p:sp>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17C01241-29C8-4820-A168-E6DFA70C1082}"/>
                  </a:ext>
                </a:extLst>
              </p:cNvPr>
              <p:cNvSpPr txBox="1"/>
              <p:nvPr/>
            </p:nvSpPr>
            <p:spPr>
              <a:xfrm>
                <a:off x="3886200" y="2437924"/>
                <a:ext cx="4267200" cy="78566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pitchFamily="18" charset="0"/>
                        </a:rPr>
                        <m:t>𝒅</m:t>
                      </m:r>
                      <m:d>
                        <m:dPr>
                          <m:ctrlPr>
                            <a:rPr lang="en-US" altLang="zh-CN" sz="1800" i="1">
                              <a:latin typeface="Cambria Math" panose="02040503050406030204" pitchFamily="18" charset="0"/>
                            </a:rPr>
                          </m:ctrlPr>
                        </m:dPr>
                        <m:e>
                          <m:r>
                            <a:rPr lang="en-US" altLang="zh-CN" sz="1800" i="1">
                              <a:latin typeface="Cambria Math" panose="02040503050406030204" pitchFamily="18" charset="0"/>
                            </a:rPr>
                            <m:t>𝒙</m:t>
                          </m:r>
                          <m:r>
                            <a:rPr lang="en-US" altLang="zh-CN" sz="1800" i="1">
                              <a:latin typeface="Cambria Math" panose="02040503050406030204" pitchFamily="18" charset="0"/>
                            </a:rPr>
                            <m:t>,</m:t>
                          </m:r>
                          <m:r>
                            <a:rPr lang="en-US" altLang="zh-CN" sz="1800" i="1">
                              <a:latin typeface="Cambria Math" panose="02040503050406030204" pitchFamily="18" charset="0"/>
                            </a:rPr>
                            <m:t>𝒚</m:t>
                          </m:r>
                        </m:e>
                      </m:d>
                      <m:r>
                        <a:rPr lang="en-US" altLang="zh-CN" sz="1800" i="1">
                          <a:latin typeface="Cambria Math" panose="02040503050406030204" pitchFamily="18" charset="0"/>
                        </a:rPr>
                        <m:t>=</m:t>
                      </m:r>
                      <m:nary>
                        <m:naryPr>
                          <m:chr m:val="∑"/>
                          <m:ctrlPr>
                            <a:rPr lang="en-US" altLang="zh-CN" sz="1800" i="1">
                              <a:latin typeface="Cambria Math" panose="02040503050406030204" pitchFamily="18" charset="0"/>
                            </a:rPr>
                          </m:ctrlPr>
                        </m:naryPr>
                        <m:sub>
                          <m:r>
                            <m:rPr>
                              <m:brk m:alnAt="23"/>
                            </m:rPr>
                            <a:rPr lang="en-US" altLang="zh-CN" sz="1800" i="1">
                              <a:latin typeface="Cambria Math" panose="02040503050406030204" pitchFamily="18" charset="0"/>
                            </a:rPr>
                            <m:t>𝒊</m:t>
                          </m:r>
                          <m:r>
                            <a:rPr lang="en-US" altLang="zh-CN" sz="1800" i="1">
                              <a:latin typeface="Cambria Math" panose="02040503050406030204" pitchFamily="18" charset="0"/>
                            </a:rPr>
                            <m:t>=</m:t>
                          </m:r>
                          <m:r>
                            <a:rPr lang="en-US" altLang="zh-CN" sz="1800" i="1">
                              <a:latin typeface="Cambria Math" panose="02040503050406030204" pitchFamily="18" charset="0"/>
                            </a:rPr>
                            <m:t>𝟎</m:t>
                          </m:r>
                        </m:sub>
                        <m:sup>
                          <m:r>
                            <a:rPr lang="en-US" altLang="zh-CN" sz="1800" i="1">
                              <a:latin typeface="Cambria Math" panose="02040503050406030204" pitchFamily="18" charset="0"/>
                            </a:rPr>
                            <m:t>𝒏</m:t>
                          </m:r>
                          <m:r>
                            <a:rPr lang="en-US" altLang="zh-CN" sz="1800" i="1">
                              <a:latin typeface="Cambria Math" panose="02040503050406030204" pitchFamily="18" charset="0"/>
                            </a:rPr>
                            <m:t>−</m:t>
                          </m:r>
                          <m:r>
                            <a:rPr lang="en-US" altLang="zh-CN" sz="1800" i="1">
                              <a:latin typeface="Cambria Math" panose="02040503050406030204" pitchFamily="18" charset="0"/>
                            </a:rPr>
                            <m:t>𝟏</m:t>
                          </m:r>
                        </m:sup>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𝒙</m:t>
                              </m:r>
                            </m:e>
                            <m:sub>
                              <m:r>
                                <a:rPr lang="en-US" altLang="zh-CN" sz="1800" i="1">
                                  <a:latin typeface="Cambria Math" panose="02040503050406030204" pitchFamily="18" charset="0"/>
                                </a:rPr>
                                <m:t>𝒊</m:t>
                              </m:r>
                            </m:sub>
                          </m:sSub>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𝒚</m:t>
                              </m:r>
                            </m:e>
                            <m:sub>
                              <m:r>
                                <a:rPr lang="en-US" altLang="zh-CN" sz="1800" i="1">
                                  <a:latin typeface="Cambria Math" panose="02040503050406030204" pitchFamily="18" charset="0"/>
                                </a:rPr>
                                <m:t>𝒊</m:t>
                              </m:r>
                            </m:sub>
                          </m:sSub>
                        </m:e>
                      </m:nary>
                    </m:oMath>
                  </m:oMathPara>
                </a14:m>
                <a:endParaRPr lang="zh-CN" altLang="en-US" sz="1800" dirty="0"/>
              </a:p>
            </p:txBody>
          </p:sp>
        </mc:Choice>
        <mc:Fallback>
          <p:sp>
            <p:nvSpPr>
              <p:cNvPr id="2" name="文本框 1">
                <a:extLst>
                  <a:ext uri="{FF2B5EF4-FFF2-40B4-BE49-F238E27FC236}">
                    <a16:creationId xmlns:a16="http://schemas.microsoft.com/office/drawing/2014/main" id="{17C01241-29C8-4820-A168-E6DFA70C1082}"/>
                  </a:ext>
                </a:extLst>
              </p:cNvPr>
              <p:cNvSpPr txBox="1">
                <a:spLocks noRot="1" noChangeAspect="1" noMove="1" noResize="1" noEditPoints="1" noAdjustHandles="1" noChangeArrowheads="1" noChangeShapeType="1" noTextEdit="1"/>
              </p:cNvSpPr>
              <p:nvPr/>
            </p:nvSpPr>
            <p:spPr>
              <a:xfrm>
                <a:off x="3886200" y="2437924"/>
                <a:ext cx="4267200" cy="785664"/>
              </a:xfrm>
              <a:prstGeom prst="rect">
                <a:avLst/>
              </a:prstGeom>
              <a:blipFill>
                <a:blip r:embed="rId3"/>
                <a:stretch>
                  <a:fillRect/>
                </a:stretch>
              </a:blipFill>
            </p:spPr>
            <p:txBody>
              <a:bodyPr/>
              <a:lstStyle/>
              <a:p>
                <a:r>
                  <a:rPr lang="zh-CN" altLang="en-US">
                    <a:noFill/>
                  </a:rPr>
                  <a:t> </a:t>
                </a:r>
              </a:p>
            </p:txBody>
          </p:sp>
        </mc:Fallback>
      </mc:AlternateContent>
      <p:sp>
        <p:nvSpPr>
          <p:cNvPr id="6" name="TextBox 1">
            <a:extLst>
              <a:ext uri="{FF2B5EF4-FFF2-40B4-BE49-F238E27FC236}">
                <a16:creationId xmlns:a16="http://schemas.microsoft.com/office/drawing/2014/main" id="{392996E1-D586-49A7-AB7C-174FD03F7186}"/>
              </a:ext>
            </a:extLst>
          </p:cNvPr>
          <p:cNvSpPr txBox="1">
            <a:spLocks noChangeArrowheads="1"/>
          </p:cNvSpPr>
          <p:nvPr/>
        </p:nvSpPr>
        <p:spPr bwMode="auto">
          <a:xfrm>
            <a:off x="1428750" y="3376464"/>
            <a:ext cx="9182100" cy="111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285750" indent="-285750" algn="just">
              <a:lnSpc>
                <a:spcPct val="200000"/>
              </a:lnSpc>
              <a:buClr>
                <a:srgbClr val="FF0000"/>
              </a:buClr>
              <a:buSzPct val="80000"/>
              <a:buFont typeface="Wingdings" panose="05000000000000000000" pitchFamily="2" charset="2"/>
              <a:buChar char="u"/>
              <a:defRPr/>
            </a:pPr>
            <a:r>
              <a:rPr lang="zh-CN" altLang="en-US" sz="1800" dirty="0">
                <a:latin typeface="微软雅黑" panose="020B0503020204020204" pitchFamily="34" charset="-122"/>
                <a:ea typeface="微软雅黑" panose="020B0503020204020204" pitchFamily="34" charset="-122"/>
              </a:rPr>
              <a:t>最小汉明距离：</a:t>
            </a:r>
            <a:r>
              <a:rPr lang="zh-CN" altLang="en-US" sz="1800" b="0" dirty="0">
                <a:latin typeface="微软雅黑" panose="020B0503020204020204" pitchFamily="34" charset="-122"/>
                <a:ea typeface="微软雅黑" panose="020B0503020204020204" pitchFamily="34" charset="-122"/>
              </a:rPr>
              <a:t>在一个码组集合中，任意两个编码之间汉明距离的最小值称为这个码组的最小汉明距离。</a:t>
            </a:r>
            <a:endParaRPr lang="zh-CN" altLang="en-US" sz="1800" b="0" dirty="0">
              <a:solidFill>
                <a:srgbClr val="FF000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748DE687-0D60-4D26-A239-34B2702F3ECF}"/>
              </a:ext>
            </a:extLst>
          </p:cNvPr>
          <p:cNvSpPr txBox="1"/>
          <p:nvPr/>
        </p:nvSpPr>
        <p:spPr>
          <a:xfrm>
            <a:off x="1676400" y="4705290"/>
            <a:ext cx="5570756"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问题：最小汉明距离和码组抗干扰能力有关吗？</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9">
            <a:extLst>
              <a:ext uri="{FF2B5EF4-FFF2-40B4-BE49-F238E27FC236}">
                <a16:creationId xmlns:a16="http://schemas.microsoft.com/office/drawing/2014/main" id="{C9EA7977-C773-4A6B-9F3F-961C0A6C6596}"/>
              </a:ext>
            </a:extLst>
          </p:cNvPr>
          <p:cNvSpPr>
            <a:spLocks noChangeArrowheads="1"/>
          </p:cNvSpPr>
          <p:nvPr/>
        </p:nvSpPr>
        <p:spPr bwMode="auto">
          <a:xfrm>
            <a:off x="1676400" y="1043597"/>
            <a:ext cx="6248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zh-CN" altLang="en-US" sz="1800">
                <a:solidFill>
                  <a:srgbClr val="FF0000"/>
                </a:solidFill>
                <a:latin typeface="微软雅黑" panose="020B0503020204020204" pitchFamily="34" charset="-122"/>
                <a:ea typeface="微软雅黑" panose="020B0503020204020204" pitchFamily="34" charset="-122"/>
              </a:rPr>
              <a:t>例</a:t>
            </a:r>
            <a:r>
              <a:rPr lang="en-US" altLang="zh-CN" sz="1800">
                <a:solidFill>
                  <a:srgbClr val="FF0000"/>
                </a:solidFill>
                <a:latin typeface="微软雅黑" panose="020B0503020204020204" pitchFamily="34" charset="-122"/>
                <a:ea typeface="微软雅黑" panose="020B0503020204020204" pitchFamily="34" charset="-122"/>
              </a:rPr>
              <a:t>10.5  </a:t>
            </a:r>
            <a:r>
              <a:rPr lang="zh-CN" altLang="en-US" sz="1800" b="0">
                <a:latin typeface="微软雅黑" panose="020B0503020204020204" pitchFamily="34" charset="-122"/>
                <a:ea typeface="微软雅黑" panose="020B0503020204020204" pitchFamily="34" charset="-122"/>
              </a:rPr>
              <a:t>求下表编码方案的最小汉明距离。</a:t>
            </a:r>
            <a:endParaRPr lang="en-US" altLang="zh-CN" sz="1800" b="0">
              <a:latin typeface="微软雅黑" panose="020B0503020204020204" pitchFamily="34" charset="-122"/>
              <a:ea typeface="微软雅黑" panose="020B0503020204020204" pitchFamily="34" charset="-122"/>
            </a:endParaRPr>
          </a:p>
        </p:txBody>
      </p:sp>
      <p:sp>
        <p:nvSpPr>
          <p:cNvPr id="36868" name="Rectangle 10">
            <a:extLst>
              <a:ext uri="{FF2B5EF4-FFF2-40B4-BE49-F238E27FC236}">
                <a16:creationId xmlns:a16="http://schemas.microsoft.com/office/drawing/2014/main" id="{D03FEAF7-A0B3-4558-A02E-E913E7056A33}"/>
              </a:ext>
            </a:extLst>
          </p:cNvPr>
          <p:cNvSpPr>
            <a:spLocks noChangeArrowheads="1"/>
          </p:cNvSpPr>
          <p:nvPr/>
        </p:nvSpPr>
        <p:spPr bwMode="auto">
          <a:xfrm>
            <a:off x="1676400" y="3733800"/>
            <a:ext cx="8153400" cy="239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ct val="200000"/>
              </a:lnSpc>
            </a:pPr>
            <a:r>
              <a:rPr lang="zh-CN" altLang="en-US" sz="1800" b="0" dirty="0">
                <a:latin typeface="微软雅黑" panose="020B0503020204020204" pitchFamily="34" charset="-122"/>
                <a:ea typeface="微软雅黑" panose="020B0503020204020204" pitchFamily="34" charset="-122"/>
              </a:rPr>
              <a:t>计算所有的汉明距离：</a:t>
            </a:r>
            <a:endParaRPr lang="en-US" altLang="zh-CN" sz="1800" b="0" dirty="0">
              <a:latin typeface="微软雅黑" panose="020B0503020204020204" pitchFamily="34" charset="-122"/>
              <a:ea typeface="微软雅黑" panose="020B0503020204020204" pitchFamily="34" charset="-122"/>
            </a:endParaRPr>
          </a:p>
          <a:p>
            <a:pPr>
              <a:lnSpc>
                <a:spcPct val="200000"/>
              </a:lnSpc>
            </a:pP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800" b="0"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b="0" dirty="0">
                <a:latin typeface="微软雅黑" panose="020B0503020204020204" pitchFamily="34" charset="-122"/>
                <a:ea typeface="微软雅黑" panose="020B0503020204020204" pitchFamily="34" charset="-122"/>
              </a:rPr>
              <a:t>(000, 011) = 2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800" b="0" i="1" dirty="0">
                <a:latin typeface="Times New Roman" panose="02020603050405020304" pitchFamily="18" charset="0"/>
                <a:ea typeface="微软雅黑" panose="020B0503020204020204" pitchFamily="34" charset="-122"/>
              </a:rPr>
              <a:t> </a:t>
            </a:r>
            <a:r>
              <a:rPr lang="en-US" altLang="zh-CN" sz="1800" b="0" dirty="0">
                <a:latin typeface="微软雅黑" panose="020B0503020204020204" pitchFamily="34" charset="-122"/>
                <a:ea typeface="微软雅黑" panose="020B0503020204020204" pitchFamily="34" charset="-122"/>
              </a:rPr>
              <a:t>(000, 101) = 2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800" b="0" i="1" dirty="0">
                <a:latin typeface="Times New Roman" panose="02020603050405020304" pitchFamily="18" charset="0"/>
                <a:ea typeface="微软雅黑" panose="020B0503020204020204" pitchFamily="34" charset="-122"/>
              </a:rPr>
              <a:t> </a:t>
            </a:r>
            <a:r>
              <a:rPr lang="en-US" altLang="zh-CN" sz="1800" b="0" dirty="0">
                <a:latin typeface="微软雅黑" panose="020B0503020204020204" pitchFamily="34" charset="-122"/>
                <a:ea typeface="微软雅黑" panose="020B0503020204020204" pitchFamily="34" charset="-122"/>
              </a:rPr>
              <a:t>(000, 110) = 2  </a:t>
            </a:r>
          </a:p>
          <a:p>
            <a:pPr>
              <a:lnSpc>
                <a:spcPct val="200000"/>
              </a:lnSpc>
            </a:pP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 </a:t>
            </a:r>
            <a:r>
              <a:rPr lang="en-US" altLang="zh-CN" sz="1800" b="0" dirty="0">
                <a:latin typeface="微软雅黑" panose="020B0503020204020204" pitchFamily="34" charset="-122"/>
                <a:ea typeface="微软雅黑" panose="020B0503020204020204" pitchFamily="34" charset="-122"/>
              </a:rPr>
              <a:t>(011, 101) = 2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 </a:t>
            </a:r>
            <a:r>
              <a:rPr lang="en-US" altLang="zh-CN" sz="1800" b="0" dirty="0">
                <a:latin typeface="微软雅黑" panose="020B0503020204020204" pitchFamily="34" charset="-122"/>
                <a:ea typeface="微软雅黑" panose="020B0503020204020204" pitchFamily="34" charset="-122"/>
              </a:rPr>
              <a:t>(011, 110) = 2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800" b="0" i="1" dirty="0">
                <a:latin typeface="Times New Roman" panose="02020603050405020304" pitchFamily="18" charset="0"/>
                <a:ea typeface="微软雅黑" panose="020B0503020204020204" pitchFamily="34" charset="-122"/>
              </a:rPr>
              <a:t> </a:t>
            </a:r>
            <a:r>
              <a:rPr lang="en-US" altLang="zh-CN" sz="1800" b="0" dirty="0">
                <a:latin typeface="微软雅黑" panose="020B0503020204020204" pitchFamily="34" charset="-122"/>
                <a:ea typeface="微软雅黑" panose="020B0503020204020204" pitchFamily="34" charset="-122"/>
              </a:rPr>
              <a:t>(101, 110) = 2        </a:t>
            </a:r>
          </a:p>
          <a:p>
            <a:pPr>
              <a:lnSpc>
                <a:spcPct val="200000"/>
              </a:lnSpc>
            </a:pPr>
            <a:r>
              <a:rPr lang="zh-CN" altLang="en-US" sz="1800" b="0" dirty="0">
                <a:latin typeface="微软雅黑" panose="020B0503020204020204" pitchFamily="34" charset="-122"/>
                <a:ea typeface="微软雅黑" panose="020B0503020204020204" pitchFamily="34" charset="-122"/>
              </a:rPr>
              <a:t>得到 </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baseline="-25000" dirty="0" err="1">
                <a:latin typeface="Times New Roman" panose="02020603050405020304" pitchFamily="18" charset="0"/>
                <a:ea typeface="微软雅黑" panose="020B0503020204020204" pitchFamily="34" charset="-122"/>
              </a:rPr>
              <a:t>min</a:t>
            </a:r>
            <a:r>
              <a:rPr lang="en-US" altLang="zh-CN" sz="1800" b="0" dirty="0">
                <a:latin typeface="微软雅黑" panose="020B0503020204020204" pitchFamily="34" charset="-122"/>
                <a:ea typeface="微软雅黑" panose="020B0503020204020204" pitchFamily="34" charset="-122"/>
              </a:rPr>
              <a:t> = 2</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p:txBody>
      </p:sp>
      <p:graphicFrame>
        <p:nvGraphicFramePr>
          <p:cNvPr id="6" name="表格 5">
            <a:extLst>
              <a:ext uri="{FF2B5EF4-FFF2-40B4-BE49-F238E27FC236}">
                <a16:creationId xmlns:a16="http://schemas.microsoft.com/office/drawing/2014/main" id="{0DA988D0-F768-4B55-869C-51E8609FEC47}"/>
              </a:ext>
            </a:extLst>
          </p:cNvPr>
          <p:cNvGraphicFramePr>
            <a:graphicFrameLocks noGrp="1"/>
          </p:cNvGraphicFramePr>
          <p:nvPr>
            <p:extLst>
              <p:ext uri="{D42A27DB-BD31-4B8C-83A1-F6EECF244321}">
                <p14:modId xmlns:p14="http://schemas.microsoft.com/office/powerpoint/2010/main" val="2545921877"/>
              </p:ext>
            </p:extLst>
          </p:nvPr>
        </p:nvGraphicFramePr>
        <p:xfrm>
          <a:off x="3733800" y="1713218"/>
          <a:ext cx="4724400" cy="16764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816645437"/>
                    </a:ext>
                  </a:extLst>
                </a:gridCol>
                <a:gridCol w="2362200">
                  <a:extLst>
                    <a:ext uri="{9D8B030D-6E8A-4147-A177-3AD203B41FA5}">
                      <a16:colId xmlns:a16="http://schemas.microsoft.com/office/drawing/2014/main" val="3050610508"/>
                    </a:ext>
                  </a:extLst>
                </a:gridCol>
              </a:tblGrid>
              <a:tr h="317817">
                <a:tc>
                  <a:txBody>
                    <a:bodyPr/>
                    <a:lstStyle/>
                    <a:p>
                      <a:pPr algn="ctr"/>
                      <a:r>
                        <a:rPr lang="en-US" altLang="zh-CN" sz="1600" b="1" dirty="0" err="1">
                          <a:solidFill>
                            <a:schemeClr val="tx1"/>
                          </a:solidFill>
                          <a:latin typeface="微软雅黑" panose="020B0503020204020204" pitchFamily="34" charset="-122"/>
                          <a:ea typeface="微软雅黑" panose="020B0503020204020204" pitchFamily="34" charset="-122"/>
                        </a:rPr>
                        <a:t>Datawords</a:t>
                      </a:r>
                      <a:endParaRPr lang="zh-CN" altLang="en-US" sz="1600" b="1" dirty="0">
                        <a:solidFill>
                          <a:schemeClr val="tx1"/>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algn="ctr"/>
                      <a:r>
                        <a:rPr lang="en-US" altLang="zh-CN" sz="1600" b="1" dirty="0">
                          <a:solidFill>
                            <a:srgbClr val="F466BA"/>
                          </a:solidFill>
                          <a:latin typeface="微软雅黑" panose="020B0503020204020204" pitchFamily="34" charset="-122"/>
                          <a:ea typeface="微软雅黑" panose="020B0503020204020204" pitchFamily="34" charset="-122"/>
                        </a:rPr>
                        <a:t>Codewords</a:t>
                      </a:r>
                      <a:endParaRPr lang="zh-CN" altLang="en-US" sz="1600" b="1" dirty="0">
                        <a:solidFill>
                          <a:srgbClr val="F466BA"/>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extLst>
                  <a:ext uri="{0D108BD9-81ED-4DB2-BD59-A6C34878D82A}">
                    <a16:rowId xmlns:a16="http://schemas.microsoft.com/office/drawing/2014/main" val="3089020720"/>
                  </a:ext>
                </a:extLst>
              </a:tr>
              <a:tr h="317817">
                <a:tc>
                  <a:txBody>
                    <a:bodyPr/>
                    <a:lstStyle/>
                    <a:p>
                      <a:pPr algn="ctr"/>
                      <a:r>
                        <a:rPr lang="en-US" altLang="zh-CN" sz="1600" dirty="0"/>
                        <a:t>00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000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027944455"/>
                  </a:ext>
                </a:extLst>
              </a:tr>
              <a:tr h="317817">
                <a:tc>
                  <a:txBody>
                    <a:bodyPr/>
                    <a:lstStyle/>
                    <a:p>
                      <a:pPr algn="ctr"/>
                      <a:r>
                        <a:rPr lang="en-US" altLang="zh-CN" sz="1600" dirty="0"/>
                        <a:t>01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011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228138147"/>
                  </a:ext>
                </a:extLst>
              </a:tr>
              <a:tr h="317817">
                <a:tc>
                  <a:txBody>
                    <a:bodyPr/>
                    <a:lstStyle/>
                    <a:p>
                      <a:pPr algn="ctr"/>
                      <a:r>
                        <a:rPr lang="en-US" altLang="zh-CN" sz="1600" dirty="0"/>
                        <a:t>10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101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304120545"/>
                  </a:ext>
                </a:extLst>
              </a:tr>
              <a:tr h="317817">
                <a:tc>
                  <a:txBody>
                    <a:bodyPr/>
                    <a:lstStyle/>
                    <a:p>
                      <a:pPr algn="ctr"/>
                      <a:r>
                        <a:rPr lang="en-US" altLang="zh-CN" sz="1600" dirty="0"/>
                        <a:t>11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110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2677880975"/>
                  </a:ext>
                </a:extLst>
              </a:tr>
            </a:tbl>
          </a:graphicData>
        </a:graphic>
      </p:graphicFrame>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9">
            <a:extLst>
              <a:ext uri="{FF2B5EF4-FFF2-40B4-BE49-F238E27FC236}">
                <a16:creationId xmlns:a16="http://schemas.microsoft.com/office/drawing/2014/main" id="{70C75EC1-81FD-4A31-B5E9-E32010EF6B65}"/>
              </a:ext>
            </a:extLst>
          </p:cNvPr>
          <p:cNvSpPr>
            <a:spLocks noChangeArrowheads="1"/>
          </p:cNvSpPr>
          <p:nvPr/>
        </p:nvSpPr>
        <p:spPr bwMode="auto">
          <a:xfrm>
            <a:off x="1447800" y="1066800"/>
            <a:ext cx="6248400"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zh-CN" altLang="en-US" sz="1800" dirty="0">
                <a:solidFill>
                  <a:srgbClr val="FF0000"/>
                </a:solidFill>
                <a:latin typeface="微软雅黑" panose="020B0503020204020204" pitchFamily="34" charset="-122"/>
                <a:ea typeface="微软雅黑" panose="020B0503020204020204" pitchFamily="34" charset="-122"/>
              </a:rPr>
              <a:t>例</a:t>
            </a:r>
            <a:r>
              <a:rPr lang="en-US" altLang="zh-CN" sz="1800" dirty="0">
                <a:solidFill>
                  <a:srgbClr val="FF0000"/>
                </a:solidFill>
                <a:latin typeface="微软雅黑" panose="020B0503020204020204" pitchFamily="34" charset="-122"/>
                <a:ea typeface="微软雅黑" panose="020B0503020204020204" pitchFamily="34" charset="-122"/>
              </a:rPr>
              <a:t>10.6  </a:t>
            </a:r>
            <a:r>
              <a:rPr lang="zh-CN" altLang="en-US" sz="1800" b="0" dirty="0">
                <a:latin typeface="微软雅黑" panose="020B0503020204020204" pitchFamily="34" charset="-122"/>
                <a:ea typeface="微软雅黑" panose="020B0503020204020204" pitchFamily="34" charset="-122"/>
              </a:rPr>
              <a:t>求下表编码方案的最小汉明距离。</a:t>
            </a:r>
            <a:endParaRPr lang="en-US" altLang="zh-CN" sz="1800" b="0" dirty="0">
              <a:latin typeface="微软雅黑" panose="020B0503020204020204" pitchFamily="34" charset="-122"/>
              <a:ea typeface="微软雅黑" panose="020B0503020204020204" pitchFamily="34" charset="-122"/>
            </a:endParaRPr>
          </a:p>
        </p:txBody>
      </p:sp>
      <p:sp>
        <p:nvSpPr>
          <p:cNvPr id="38916" name="Rectangle 10">
            <a:extLst>
              <a:ext uri="{FF2B5EF4-FFF2-40B4-BE49-F238E27FC236}">
                <a16:creationId xmlns:a16="http://schemas.microsoft.com/office/drawing/2014/main" id="{1866A285-DBA4-4AB6-B2CF-CC62D06D6C1D}"/>
              </a:ext>
            </a:extLst>
          </p:cNvPr>
          <p:cNvSpPr>
            <a:spLocks noChangeArrowheads="1"/>
          </p:cNvSpPr>
          <p:nvPr/>
        </p:nvSpPr>
        <p:spPr bwMode="auto">
          <a:xfrm>
            <a:off x="1631553" y="3697289"/>
            <a:ext cx="9024938" cy="239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ct val="200000"/>
              </a:lnSpc>
            </a:pPr>
            <a:r>
              <a:rPr lang="zh-CN" altLang="en-US" sz="1800" b="0" dirty="0">
                <a:latin typeface="微软雅黑" panose="020B0503020204020204" pitchFamily="34" charset="-122"/>
                <a:ea typeface="微软雅黑" panose="020B0503020204020204" pitchFamily="34" charset="-122"/>
              </a:rPr>
              <a:t>计算所有的汉明距离：</a:t>
            </a:r>
            <a:endParaRPr lang="en-US" altLang="zh-CN" sz="1800" b="0" dirty="0">
              <a:latin typeface="微软雅黑" panose="020B0503020204020204" pitchFamily="34" charset="-122"/>
              <a:ea typeface="微软雅黑" panose="020B0503020204020204" pitchFamily="34" charset="-122"/>
            </a:endParaRPr>
          </a:p>
          <a:p>
            <a:pPr>
              <a:lnSpc>
                <a:spcPct val="200000"/>
              </a:lnSpc>
            </a:pP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800" b="0"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b="0" dirty="0">
                <a:latin typeface="微软雅黑" panose="020B0503020204020204" pitchFamily="34" charset="-122"/>
                <a:ea typeface="微软雅黑" panose="020B0503020204020204" pitchFamily="34" charset="-122"/>
              </a:rPr>
              <a:t>(00000, 01011) = 3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800" b="0" i="1" dirty="0">
                <a:latin typeface="Times New Roman" panose="02020603050405020304" pitchFamily="18" charset="0"/>
                <a:ea typeface="微软雅黑" panose="020B0503020204020204" pitchFamily="34" charset="-122"/>
              </a:rPr>
              <a:t> </a:t>
            </a:r>
            <a:r>
              <a:rPr lang="en-US" altLang="zh-CN" sz="1800" b="0" dirty="0">
                <a:latin typeface="微软雅黑" panose="020B0503020204020204" pitchFamily="34" charset="-122"/>
                <a:ea typeface="微软雅黑" panose="020B0503020204020204" pitchFamily="34" charset="-122"/>
              </a:rPr>
              <a:t>(00000, 10101) = 3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800" b="0" i="1" dirty="0">
                <a:latin typeface="Times New Roman" panose="02020603050405020304" pitchFamily="18" charset="0"/>
                <a:ea typeface="微软雅黑" panose="020B0503020204020204" pitchFamily="34" charset="-122"/>
              </a:rPr>
              <a:t> </a:t>
            </a:r>
            <a:r>
              <a:rPr lang="en-US" altLang="zh-CN" sz="1800" b="0" dirty="0">
                <a:latin typeface="微软雅黑" panose="020B0503020204020204" pitchFamily="34" charset="-122"/>
                <a:ea typeface="微软雅黑" panose="020B0503020204020204" pitchFamily="34" charset="-122"/>
              </a:rPr>
              <a:t>(00000, 11110) = 4  </a:t>
            </a:r>
          </a:p>
          <a:p>
            <a:pPr>
              <a:lnSpc>
                <a:spcPct val="200000"/>
              </a:lnSpc>
            </a:pP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800" b="0" i="1" dirty="0">
                <a:latin typeface="Times New Roman" panose="02020603050405020304" pitchFamily="18" charset="0"/>
                <a:ea typeface="微软雅黑" panose="020B0503020204020204" pitchFamily="34" charset="-122"/>
              </a:rPr>
              <a:t> </a:t>
            </a:r>
            <a:r>
              <a:rPr lang="en-US" altLang="zh-CN" sz="1800" b="0" dirty="0">
                <a:latin typeface="微软雅黑" panose="020B0503020204020204" pitchFamily="34" charset="-122"/>
                <a:ea typeface="微软雅黑" panose="020B0503020204020204" pitchFamily="34" charset="-122"/>
              </a:rPr>
              <a:t>(01011, 10101) = 4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800" b="0" i="1" dirty="0">
                <a:latin typeface="Times New Roman" panose="02020603050405020304" pitchFamily="18" charset="0"/>
                <a:ea typeface="微软雅黑" panose="020B0503020204020204" pitchFamily="34" charset="-122"/>
              </a:rPr>
              <a:t> </a:t>
            </a:r>
            <a:r>
              <a:rPr lang="en-US" altLang="zh-CN" sz="1800" b="0" dirty="0">
                <a:latin typeface="微软雅黑" panose="020B0503020204020204" pitchFamily="34" charset="-122"/>
                <a:ea typeface="微软雅黑" panose="020B0503020204020204" pitchFamily="34" charset="-122"/>
              </a:rPr>
              <a:t>(01011, 11110) = 3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800" b="0" i="1" dirty="0">
                <a:latin typeface="Times New Roman" panose="02020603050405020304" pitchFamily="18" charset="0"/>
                <a:ea typeface="微软雅黑" panose="020B0503020204020204" pitchFamily="34" charset="-122"/>
              </a:rPr>
              <a:t> </a:t>
            </a:r>
            <a:r>
              <a:rPr lang="en-US" altLang="zh-CN" sz="1800" b="0" dirty="0">
                <a:latin typeface="微软雅黑" panose="020B0503020204020204" pitchFamily="34" charset="-122"/>
                <a:ea typeface="微软雅黑" panose="020B0503020204020204" pitchFamily="34" charset="-122"/>
              </a:rPr>
              <a:t>(10101, 11110) = 3        </a:t>
            </a:r>
          </a:p>
          <a:p>
            <a:pPr>
              <a:lnSpc>
                <a:spcPct val="200000"/>
              </a:lnSpc>
            </a:pPr>
            <a:r>
              <a:rPr lang="zh-CN" altLang="en-US" sz="1800" b="0" dirty="0">
                <a:latin typeface="微软雅黑" panose="020B0503020204020204" pitchFamily="34" charset="-122"/>
                <a:ea typeface="微软雅黑" panose="020B0503020204020204" pitchFamily="34" charset="-122"/>
              </a:rPr>
              <a:t>得到 </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baseline="-25000" dirty="0" err="1">
                <a:latin typeface="Times New Roman" panose="02020603050405020304" pitchFamily="18" charset="0"/>
                <a:ea typeface="微软雅黑" panose="020B0503020204020204" pitchFamily="34" charset="-122"/>
              </a:rPr>
              <a:t>min</a:t>
            </a:r>
            <a:r>
              <a:rPr lang="en-US" altLang="zh-CN" sz="1800" b="0" dirty="0">
                <a:latin typeface="微软雅黑" panose="020B0503020204020204" pitchFamily="34" charset="-122"/>
                <a:ea typeface="微软雅黑" panose="020B0503020204020204" pitchFamily="34" charset="-122"/>
              </a:rPr>
              <a:t> = 3</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p:txBody>
      </p:sp>
      <p:graphicFrame>
        <p:nvGraphicFramePr>
          <p:cNvPr id="6" name="表格 5">
            <a:extLst>
              <a:ext uri="{FF2B5EF4-FFF2-40B4-BE49-F238E27FC236}">
                <a16:creationId xmlns:a16="http://schemas.microsoft.com/office/drawing/2014/main" id="{39C3B399-7F6A-4208-A432-0A745A10B351}"/>
              </a:ext>
            </a:extLst>
          </p:cNvPr>
          <p:cNvGraphicFramePr>
            <a:graphicFrameLocks noGrp="1"/>
          </p:cNvGraphicFramePr>
          <p:nvPr>
            <p:extLst>
              <p:ext uri="{D42A27DB-BD31-4B8C-83A1-F6EECF244321}">
                <p14:modId xmlns:p14="http://schemas.microsoft.com/office/powerpoint/2010/main" val="4258170094"/>
              </p:ext>
            </p:extLst>
          </p:nvPr>
        </p:nvGraphicFramePr>
        <p:xfrm>
          <a:off x="3429000" y="1600201"/>
          <a:ext cx="5430044" cy="1946275"/>
        </p:xfrm>
        <a:graphic>
          <a:graphicData uri="http://schemas.openxmlformats.org/drawingml/2006/table">
            <a:tbl>
              <a:tblPr firstRow="1" bandRow="1">
                <a:tableStyleId>{5C22544A-7EE6-4342-B048-85BDC9FD1C3A}</a:tableStyleId>
              </a:tblPr>
              <a:tblGrid>
                <a:gridCol w="2458244">
                  <a:extLst>
                    <a:ext uri="{9D8B030D-6E8A-4147-A177-3AD203B41FA5}">
                      <a16:colId xmlns:a16="http://schemas.microsoft.com/office/drawing/2014/main" val="2816645437"/>
                    </a:ext>
                  </a:extLst>
                </a:gridCol>
                <a:gridCol w="2971800">
                  <a:extLst>
                    <a:ext uri="{9D8B030D-6E8A-4147-A177-3AD203B41FA5}">
                      <a16:colId xmlns:a16="http://schemas.microsoft.com/office/drawing/2014/main" val="3050610508"/>
                    </a:ext>
                  </a:extLst>
                </a:gridCol>
              </a:tblGrid>
              <a:tr h="389255">
                <a:tc>
                  <a:txBody>
                    <a:bodyPr/>
                    <a:lstStyle/>
                    <a:p>
                      <a:pPr algn="ctr"/>
                      <a:r>
                        <a:rPr lang="en-US" altLang="zh-CN" sz="1600" b="1" dirty="0" err="1">
                          <a:solidFill>
                            <a:schemeClr val="tx1"/>
                          </a:solidFill>
                          <a:latin typeface="微软雅黑" panose="020B0503020204020204" pitchFamily="34" charset="-122"/>
                          <a:ea typeface="微软雅黑" panose="020B0503020204020204" pitchFamily="34" charset="-122"/>
                        </a:rPr>
                        <a:t>Datawords</a:t>
                      </a:r>
                      <a:endParaRPr lang="zh-CN" altLang="en-US" sz="1600" b="1" dirty="0">
                        <a:solidFill>
                          <a:schemeClr val="tx1"/>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algn="ctr"/>
                      <a:r>
                        <a:rPr lang="en-US" altLang="zh-CN" sz="1600" b="1" dirty="0">
                          <a:solidFill>
                            <a:srgbClr val="F466BA"/>
                          </a:solidFill>
                          <a:latin typeface="微软雅黑" panose="020B0503020204020204" pitchFamily="34" charset="-122"/>
                          <a:ea typeface="微软雅黑" panose="020B0503020204020204" pitchFamily="34" charset="-122"/>
                        </a:rPr>
                        <a:t>Codewords</a:t>
                      </a:r>
                      <a:endParaRPr lang="zh-CN" altLang="en-US" sz="1600" b="1" dirty="0">
                        <a:solidFill>
                          <a:srgbClr val="F466BA"/>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extLst>
                  <a:ext uri="{0D108BD9-81ED-4DB2-BD59-A6C34878D82A}">
                    <a16:rowId xmlns:a16="http://schemas.microsoft.com/office/drawing/2014/main" val="3089020720"/>
                  </a:ext>
                </a:extLst>
              </a:tr>
              <a:tr h="389255">
                <a:tc>
                  <a:txBody>
                    <a:bodyPr/>
                    <a:lstStyle/>
                    <a:p>
                      <a:pPr algn="ctr"/>
                      <a:r>
                        <a:rPr lang="en-US" altLang="zh-CN" sz="1600" dirty="0"/>
                        <a:t>00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00000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027944455"/>
                  </a:ext>
                </a:extLst>
              </a:tr>
              <a:tr h="389255">
                <a:tc>
                  <a:txBody>
                    <a:bodyPr/>
                    <a:lstStyle/>
                    <a:p>
                      <a:pPr algn="ctr"/>
                      <a:r>
                        <a:rPr lang="en-US" altLang="zh-CN" sz="1600" dirty="0"/>
                        <a:t>01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01011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228138147"/>
                  </a:ext>
                </a:extLst>
              </a:tr>
              <a:tr h="389255">
                <a:tc>
                  <a:txBody>
                    <a:bodyPr/>
                    <a:lstStyle/>
                    <a:p>
                      <a:pPr algn="ctr"/>
                      <a:r>
                        <a:rPr lang="en-US" altLang="zh-CN" sz="1600" dirty="0"/>
                        <a:t>10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10101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304120545"/>
                  </a:ext>
                </a:extLst>
              </a:tr>
              <a:tr h="389255">
                <a:tc>
                  <a:txBody>
                    <a:bodyPr/>
                    <a:lstStyle/>
                    <a:p>
                      <a:pPr algn="ctr"/>
                      <a:r>
                        <a:rPr lang="en-US" altLang="zh-CN" sz="1600" dirty="0"/>
                        <a:t>11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11110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2677880975"/>
                  </a:ext>
                </a:extLst>
              </a:tr>
            </a:tbl>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Text Box 4">
            <a:extLst>
              <a:ext uri="{FF2B5EF4-FFF2-40B4-BE49-F238E27FC236}">
                <a16:creationId xmlns:a16="http://schemas.microsoft.com/office/drawing/2014/main" id="{C80DDE24-E29C-4186-8E67-CB12D8FBAF3F}"/>
              </a:ext>
            </a:extLst>
          </p:cNvPr>
          <p:cNvSpPr txBox="1">
            <a:spLocks noChangeArrowheads="1"/>
          </p:cNvSpPr>
          <p:nvPr/>
        </p:nvSpPr>
        <p:spPr bwMode="auto">
          <a:xfrm>
            <a:off x="4495800" y="5721209"/>
            <a:ext cx="5334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10.8  </a:t>
            </a:r>
            <a:r>
              <a:rPr lang="zh-CN" altLang="en-US" sz="1600" dirty="0">
                <a:latin typeface="Times New Roman" panose="02020603050405020304" pitchFamily="18" charset="0"/>
                <a:ea typeface="宋体" panose="02010600030101010101" pitchFamily="2" charset="-122"/>
              </a:rPr>
              <a:t>差错检测中 </a:t>
            </a:r>
            <a:r>
              <a:rPr lang="en-US" altLang="zh-CN" sz="1600" i="1" dirty="0" err="1">
                <a:latin typeface="Times New Roman" panose="02020603050405020304" pitchFamily="18" charset="0"/>
                <a:ea typeface="宋体" panose="02010600030101010101" pitchFamily="2" charset="-122"/>
              </a:rPr>
              <a:t>d</a:t>
            </a:r>
            <a:r>
              <a:rPr lang="en-US" altLang="zh-CN" sz="1600" baseline="-25000" dirty="0" err="1">
                <a:latin typeface="Times New Roman" panose="02020603050405020304" pitchFamily="18" charset="0"/>
                <a:ea typeface="宋体" panose="02010600030101010101" pitchFamily="2" charset="-122"/>
              </a:rPr>
              <a:t>min</a:t>
            </a:r>
            <a:r>
              <a:rPr lang="zh-CN" altLang="en-US" sz="1600" dirty="0">
                <a:latin typeface="Times New Roman" panose="02020603050405020304" pitchFamily="18" charset="0"/>
                <a:ea typeface="宋体" panose="02010600030101010101" pitchFamily="2" charset="-122"/>
              </a:rPr>
              <a:t>的几何意义</a:t>
            </a:r>
            <a:endParaRPr lang="en-US" altLang="zh-CN" sz="1600" dirty="0">
              <a:latin typeface="Times New Roman" panose="02020603050405020304" pitchFamily="18" charset="0"/>
              <a:ea typeface="宋体" panose="02010600030101010101" pitchFamily="2" charset="-122"/>
            </a:endParaRPr>
          </a:p>
        </p:txBody>
      </p:sp>
      <p:pic>
        <p:nvPicPr>
          <p:cNvPr id="40965" name="Picture 7">
            <a:extLst>
              <a:ext uri="{FF2B5EF4-FFF2-40B4-BE49-F238E27FC236}">
                <a16:creationId xmlns:a16="http://schemas.microsoft.com/office/drawing/2014/main" id="{7EE22F56-D4AD-4BFB-AB54-2489D7C34F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2514600"/>
            <a:ext cx="6626225" cy="2839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79F482E-44E7-46DA-BC88-7338DF810148}"/>
              </a:ext>
            </a:extLst>
          </p:cNvPr>
          <p:cNvSpPr/>
          <p:nvPr/>
        </p:nvSpPr>
        <p:spPr>
          <a:xfrm>
            <a:off x="1371600" y="990929"/>
            <a:ext cx="9220200" cy="1113766"/>
          </a:xfrm>
          <a:prstGeom prst="rect">
            <a:avLst/>
          </a:prstGeom>
        </p:spPr>
        <p:txBody>
          <a:bodyPr wrap="square">
            <a:spAutoFit/>
          </a:bodyPr>
          <a:lstStyle/>
          <a:p>
            <a:pPr algn="just">
              <a:lnSpc>
                <a:spcPct val="200000"/>
              </a:lnSpc>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接收到的码字和发送的码字之间的汉明距离是传输中被破坏的位数，为了保证检测出最多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s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个错误，块编码中最小汉明距离一定是 </a:t>
            </a:r>
            <a:r>
              <a:rPr lang="en-US" altLang="zh-CN" sz="1800" i="1" dirty="0" err="1">
                <a:latin typeface="Times New Roman" panose="02020603050405020304" pitchFamily="18" charset="0"/>
                <a:ea typeface="宋体" panose="02010600030101010101" pitchFamily="2" charset="-122"/>
                <a:cs typeface="Times New Roman" panose="02020603050405020304" pitchFamily="18" charset="0"/>
              </a:rPr>
              <a:t>d</a:t>
            </a:r>
            <a:r>
              <a:rPr lang="en-US" altLang="zh-CN" sz="1800" baseline="-18000" dirty="0" err="1">
                <a:latin typeface="Times New Roman" panose="02020603050405020304" pitchFamily="18" charset="0"/>
                <a:ea typeface="宋体" panose="02010600030101010101" pitchFamily="2" charset="-122"/>
                <a:cs typeface="Times New Roman" panose="02020603050405020304" pitchFamily="18" charset="0"/>
              </a:rPr>
              <a:t>min</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+ 1</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0965"/>
                                        </p:tgtEl>
                                        <p:attrNameLst>
                                          <p:attrName>style.visibility</p:attrName>
                                        </p:attrNameLst>
                                      </p:cBhvr>
                                      <p:to>
                                        <p:strVal val="visible"/>
                                      </p:to>
                                    </p:set>
                                    <p:animEffect transition="in" filter="wipe(up)">
                                      <p:cBhvr>
                                        <p:cTn id="7" dur="500"/>
                                        <p:tgtEl>
                                          <p:spTgt spid="40965"/>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40964"/>
                                        </p:tgtEl>
                                        <p:attrNameLst>
                                          <p:attrName>style.visibility</p:attrName>
                                        </p:attrNameLst>
                                      </p:cBhvr>
                                      <p:to>
                                        <p:strVal val="visible"/>
                                      </p:to>
                                    </p:set>
                                    <p:animEffect transition="in" filter="wipe(up)">
                                      <p:cBhvr>
                                        <p:cTn id="10" dur="500"/>
                                        <p:tgtEl>
                                          <p:spTgt spid="4096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9">
            <a:extLst>
              <a:ext uri="{FF2B5EF4-FFF2-40B4-BE49-F238E27FC236}">
                <a16:creationId xmlns:a16="http://schemas.microsoft.com/office/drawing/2014/main" id="{7AAB8E2D-FC18-4834-A418-6AE91A0BED39}"/>
              </a:ext>
            </a:extLst>
          </p:cNvPr>
          <p:cNvSpPr>
            <a:spLocks noChangeArrowheads="1"/>
          </p:cNvSpPr>
          <p:nvPr/>
        </p:nvSpPr>
        <p:spPr bwMode="auto">
          <a:xfrm>
            <a:off x="1752600" y="1053123"/>
            <a:ext cx="7974012"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150000"/>
              </a:lnSpc>
            </a:pPr>
            <a:r>
              <a:rPr lang="zh-CN" altLang="en-US" sz="1800" dirty="0">
                <a:solidFill>
                  <a:srgbClr val="FF0000"/>
                </a:solidFill>
                <a:latin typeface="微软雅黑" panose="020B0503020204020204" pitchFamily="34" charset="-122"/>
                <a:ea typeface="微软雅黑" panose="020B0503020204020204" pitchFamily="34" charset="-122"/>
              </a:rPr>
              <a:t>例</a:t>
            </a:r>
            <a:r>
              <a:rPr lang="en-US" altLang="zh-CN" sz="1800" dirty="0">
                <a:solidFill>
                  <a:srgbClr val="FF0000"/>
                </a:solidFill>
                <a:latin typeface="微软雅黑" panose="020B0503020204020204" pitchFamily="34" charset="-122"/>
                <a:ea typeface="微软雅黑" panose="020B0503020204020204" pitchFamily="34" charset="-122"/>
              </a:rPr>
              <a:t>10.7  </a:t>
            </a:r>
            <a:r>
              <a:rPr lang="zh-CN" altLang="en-US" sz="1800" b="0" dirty="0">
                <a:latin typeface="微软雅黑" panose="020B0503020204020204" pitchFamily="34" charset="-122"/>
                <a:ea typeface="微软雅黑" panose="020B0503020204020204" pitchFamily="34" charset="-122"/>
              </a:rPr>
              <a:t>下表编码方案的最小汉明距离为</a:t>
            </a:r>
            <a:r>
              <a:rPr lang="en-US" altLang="zh-CN" sz="1800" b="0" dirty="0">
                <a:latin typeface="微软雅黑" panose="020B0503020204020204" pitchFamily="34" charset="-122"/>
                <a:ea typeface="微软雅黑" panose="020B0503020204020204" pitchFamily="34" charset="-122"/>
              </a:rPr>
              <a:t> 2</a:t>
            </a:r>
            <a:r>
              <a:rPr lang="zh-CN" altLang="en-US" sz="1800" b="0" dirty="0">
                <a:latin typeface="微软雅黑" panose="020B0503020204020204" pitchFamily="34" charset="-122"/>
                <a:ea typeface="微软雅黑" panose="020B0503020204020204" pitchFamily="34" charset="-122"/>
              </a:rPr>
              <a:t>，所以只能检测单比特错误。</a:t>
            </a:r>
            <a:endParaRPr lang="en-US" altLang="zh-CN" sz="1800" b="0" dirty="0">
              <a:latin typeface="微软雅黑" panose="020B0503020204020204" pitchFamily="34" charset="-122"/>
              <a:ea typeface="微软雅黑" panose="020B0503020204020204" pitchFamily="34" charset="-122"/>
            </a:endParaRPr>
          </a:p>
        </p:txBody>
      </p:sp>
      <p:sp>
        <p:nvSpPr>
          <p:cNvPr id="43013" name="Rectangle 9">
            <a:extLst>
              <a:ext uri="{FF2B5EF4-FFF2-40B4-BE49-F238E27FC236}">
                <a16:creationId xmlns:a16="http://schemas.microsoft.com/office/drawing/2014/main" id="{C45B6C95-FC31-49FF-85E9-7F487546FEF4}"/>
              </a:ext>
            </a:extLst>
          </p:cNvPr>
          <p:cNvSpPr>
            <a:spLocks noChangeArrowheads="1"/>
          </p:cNvSpPr>
          <p:nvPr/>
        </p:nvSpPr>
        <p:spPr bwMode="auto">
          <a:xfrm>
            <a:off x="1789889" y="3590925"/>
            <a:ext cx="797401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150000"/>
              </a:lnSpc>
            </a:pPr>
            <a:r>
              <a:rPr lang="zh-CN" altLang="en-US" sz="1800" dirty="0">
                <a:solidFill>
                  <a:srgbClr val="FF0000"/>
                </a:solidFill>
                <a:latin typeface="微软雅黑" panose="020B0503020204020204" pitchFamily="34" charset="-122"/>
                <a:ea typeface="微软雅黑" panose="020B0503020204020204" pitchFamily="34" charset="-122"/>
              </a:rPr>
              <a:t>例</a:t>
            </a:r>
            <a:r>
              <a:rPr lang="en-US" altLang="zh-CN" sz="1800" dirty="0">
                <a:solidFill>
                  <a:srgbClr val="FF0000"/>
                </a:solidFill>
                <a:latin typeface="微软雅黑" panose="020B0503020204020204" pitchFamily="34" charset="-122"/>
                <a:ea typeface="微软雅黑" panose="020B0503020204020204" pitchFamily="34" charset="-122"/>
              </a:rPr>
              <a:t>10.8  </a:t>
            </a:r>
            <a:r>
              <a:rPr lang="zh-CN" altLang="en-US" sz="1800" b="0" dirty="0">
                <a:latin typeface="微软雅黑" panose="020B0503020204020204" pitchFamily="34" charset="-122"/>
                <a:ea typeface="微软雅黑" panose="020B0503020204020204" pitchFamily="34" charset="-122"/>
              </a:rPr>
              <a:t>下表编码方案的最小汉明距离为</a:t>
            </a:r>
            <a:r>
              <a:rPr lang="en-US" altLang="zh-CN" sz="1800" b="0" dirty="0">
                <a:latin typeface="微软雅黑" panose="020B0503020204020204" pitchFamily="34" charset="-122"/>
                <a:ea typeface="微软雅黑" panose="020B0503020204020204" pitchFamily="34" charset="-122"/>
              </a:rPr>
              <a:t>3</a:t>
            </a:r>
            <a:r>
              <a:rPr lang="zh-CN" altLang="en-US" sz="1800" b="0" dirty="0">
                <a:latin typeface="微软雅黑" panose="020B0503020204020204" pitchFamily="34" charset="-122"/>
                <a:ea typeface="微软雅黑" panose="020B0503020204020204" pitchFamily="34" charset="-122"/>
              </a:rPr>
              <a:t>，所以最多能检测 </a:t>
            </a:r>
            <a:r>
              <a:rPr lang="en-US" altLang="zh-CN" sz="1800" b="0" dirty="0">
                <a:latin typeface="微软雅黑" panose="020B0503020204020204" pitchFamily="34" charset="-122"/>
                <a:ea typeface="微软雅黑" panose="020B0503020204020204" pitchFamily="34" charset="-122"/>
              </a:rPr>
              <a:t>2 </a:t>
            </a:r>
            <a:r>
              <a:rPr lang="zh-CN" altLang="en-US" sz="1800" b="0" dirty="0">
                <a:latin typeface="微软雅黑" panose="020B0503020204020204" pitchFamily="34" charset="-122"/>
                <a:ea typeface="微软雅黑" panose="020B0503020204020204" pitchFamily="34" charset="-122"/>
              </a:rPr>
              <a:t>比特差错。</a:t>
            </a:r>
            <a:endParaRPr lang="en-US" altLang="zh-CN" sz="1800" b="0" dirty="0">
              <a:latin typeface="微软雅黑" panose="020B0503020204020204" pitchFamily="34" charset="-122"/>
              <a:ea typeface="微软雅黑" panose="020B0503020204020204" pitchFamily="34" charset="-122"/>
            </a:endParaRPr>
          </a:p>
        </p:txBody>
      </p:sp>
      <p:graphicFrame>
        <p:nvGraphicFramePr>
          <p:cNvPr id="7" name="表格 6">
            <a:extLst>
              <a:ext uri="{FF2B5EF4-FFF2-40B4-BE49-F238E27FC236}">
                <a16:creationId xmlns:a16="http://schemas.microsoft.com/office/drawing/2014/main" id="{B3924297-3C65-4BD9-9AB9-DCF0C361E00E}"/>
              </a:ext>
            </a:extLst>
          </p:cNvPr>
          <p:cNvGraphicFramePr>
            <a:graphicFrameLocks noGrp="1"/>
          </p:cNvGraphicFramePr>
          <p:nvPr>
            <p:extLst>
              <p:ext uri="{D42A27DB-BD31-4B8C-83A1-F6EECF244321}">
                <p14:modId xmlns:p14="http://schemas.microsoft.com/office/powerpoint/2010/main" val="625347978"/>
              </p:ext>
            </p:extLst>
          </p:nvPr>
        </p:nvGraphicFramePr>
        <p:xfrm>
          <a:off x="3748088" y="4251020"/>
          <a:ext cx="4710112" cy="1864030"/>
        </p:xfrm>
        <a:graphic>
          <a:graphicData uri="http://schemas.openxmlformats.org/drawingml/2006/table">
            <a:tbl>
              <a:tblPr firstRow="1" bandRow="1">
                <a:tableStyleId>{5C22544A-7EE6-4342-B048-85BDC9FD1C3A}</a:tableStyleId>
              </a:tblPr>
              <a:tblGrid>
                <a:gridCol w="2132322">
                  <a:extLst>
                    <a:ext uri="{9D8B030D-6E8A-4147-A177-3AD203B41FA5}">
                      <a16:colId xmlns:a16="http://schemas.microsoft.com/office/drawing/2014/main" val="2816645437"/>
                    </a:ext>
                  </a:extLst>
                </a:gridCol>
                <a:gridCol w="2577790">
                  <a:extLst>
                    <a:ext uri="{9D8B030D-6E8A-4147-A177-3AD203B41FA5}">
                      <a16:colId xmlns:a16="http://schemas.microsoft.com/office/drawing/2014/main" val="3050610508"/>
                    </a:ext>
                  </a:extLst>
                </a:gridCol>
              </a:tblGrid>
              <a:tr h="372806">
                <a:tc>
                  <a:txBody>
                    <a:bodyPr/>
                    <a:lstStyle/>
                    <a:p>
                      <a:pPr algn="ctr"/>
                      <a:r>
                        <a:rPr lang="en-US" altLang="zh-CN" sz="1600" b="1" dirty="0" err="1">
                          <a:solidFill>
                            <a:schemeClr val="tx1"/>
                          </a:solidFill>
                          <a:latin typeface="微软雅黑" panose="020B0503020204020204" pitchFamily="34" charset="-122"/>
                          <a:ea typeface="微软雅黑" panose="020B0503020204020204" pitchFamily="34" charset="-122"/>
                        </a:rPr>
                        <a:t>Datawords</a:t>
                      </a:r>
                      <a:endParaRPr lang="zh-CN" altLang="en-US" sz="1600" b="1" dirty="0">
                        <a:solidFill>
                          <a:schemeClr val="tx1"/>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algn="ctr"/>
                      <a:r>
                        <a:rPr lang="en-US" altLang="zh-CN" sz="1600" b="1" dirty="0">
                          <a:solidFill>
                            <a:srgbClr val="F466BA"/>
                          </a:solidFill>
                          <a:latin typeface="微软雅黑" panose="020B0503020204020204" pitchFamily="34" charset="-122"/>
                          <a:ea typeface="微软雅黑" panose="020B0503020204020204" pitchFamily="34" charset="-122"/>
                        </a:rPr>
                        <a:t>Codewords</a:t>
                      </a:r>
                      <a:endParaRPr lang="zh-CN" altLang="en-US" sz="1600" b="1" dirty="0">
                        <a:solidFill>
                          <a:srgbClr val="F466BA"/>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extLst>
                  <a:ext uri="{0D108BD9-81ED-4DB2-BD59-A6C34878D82A}">
                    <a16:rowId xmlns:a16="http://schemas.microsoft.com/office/drawing/2014/main" val="3089020720"/>
                  </a:ext>
                </a:extLst>
              </a:tr>
              <a:tr h="372806">
                <a:tc>
                  <a:txBody>
                    <a:bodyPr/>
                    <a:lstStyle/>
                    <a:p>
                      <a:pPr algn="ctr"/>
                      <a:r>
                        <a:rPr lang="en-US" altLang="zh-CN" sz="1600" dirty="0"/>
                        <a:t>00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00000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027944455"/>
                  </a:ext>
                </a:extLst>
              </a:tr>
              <a:tr h="372806">
                <a:tc>
                  <a:txBody>
                    <a:bodyPr/>
                    <a:lstStyle/>
                    <a:p>
                      <a:pPr algn="ctr"/>
                      <a:r>
                        <a:rPr lang="en-US" altLang="zh-CN" sz="1600" dirty="0"/>
                        <a:t>01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01011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228138147"/>
                  </a:ext>
                </a:extLst>
              </a:tr>
              <a:tr h="372806">
                <a:tc>
                  <a:txBody>
                    <a:bodyPr/>
                    <a:lstStyle/>
                    <a:p>
                      <a:pPr algn="ctr"/>
                      <a:r>
                        <a:rPr lang="en-US" altLang="zh-CN" sz="1600" dirty="0"/>
                        <a:t>10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10101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304120545"/>
                  </a:ext>
                </a:extLst>
              </a:tr>
              <a:tr h="372806">
                <a:tc>
                  <a:txBody>
                    <a:bodyPr/>
                    <a:lstStyle/>
                    <a:p>
                      <a:pPr algn="ctr"/>
                      <a:r>
                        <a:rPr lang="en-US" altLang="zh-CN" sz="1600" dirty="0"/>
                        <a:t>11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11110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2677880975"/>
                  </a:ext>
                </a:extLst>
              </a:tr>
            </a:tbl>
          </a:graphicData>
        </a:graphic>
      </p:graphicFrame>
      <p:graphicFrame>
        <p:nvGraphicFramePr>
          <p:cNvPr id="8" name="表格 7">
            <a:extLst>
              <a:ext uri="{FF2B5EF4-FFF2-40B4-BE49-F238E27FC236}">
                <a16:creationId xmlns:a16="http://schemas.microsoft.com/office/drawing/2014/main" id="{2D3E4B5E-7615-4084-8005-8B50D8A0B9B6}"/>
              </a:ext>
            </a:extLst>
          </p:cNvPr>
          <p:cNvGraphicFramePr>
            <a:graphicFrameLocks noGrp="1"/>
          </p:cNvGraphicFramePr>
          <p:nvPr>
            <p:extLst>
              <p:ext uri="{D42A27DB-BD31-4B8C-83A1-F6EECF244321}">
                <p14:modId xmlns:p14="http://schemas.microsoft.com/office/powerpoint/2010/main" val="1385262561"/>
              </p:ext>
            </p:extLst>
          </p:nvPr>
        </p:nvGraphicFramePr>
        <p:xfrm>
          <a:off x="3733800" y="1713218"/>
          <a:ext cx="4724400" cy="16764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816645437"/>
                    </a:ext>
                  </a:extLst>
                </a:gridCol>
                <a:gridCol w="2362200">
                  <a:extLst>
                    <a:ext uri="{9D8B030D-6E8A-4147-A177-3AD203B41FA5}">
                      <a16:colId xmlns:a16="http://schemas.microsoft.com/office/drawing/2014/main" val="3050610508"/>
                    </a:ext>
                  </a:extLst>
                </a:gridCol>
              </a:tblGrid>
              <a:tr h="317817">
                <a:tc>
                  <a:txBody>
                    <a:bodyPr/>
                    <a:lstStyle/>
                    <a:p>
                      <a:pPr algn="ctr"/>
                      <a:r>
                        <a:rPr lang="en-US" altLang="zh-CN" sz="1600" b="1" dirty="0" err="1">
                          <a:solidFill>
                            <a:schemeClr val="tx1"/>
                          </a:solidFill>
                          <a:latin typeface="微软雅黑" panose="020B0503020204020204" pitchFamily="34" charset="-122"/>
                          <a:ea typeface="微软雅黑" panose="020B0503020204020204" pitchFamily="34" charset="-122"/>
                        </a:rPr>
                        <a:t>Datawords</a:t>
                      </a:r>
                      <a:endParaRPr lang="zh-CN" altLang="en-US" sz="1600" b="1" dirty="0">
                        <a:solidFill>
                          <a:schemeClr val="tx1"/>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algn="ctr"/>
                      <a:r>
                        <a:rPr lang="en-US" altLang="zh-CN" sz="1600" b="1" dirty="0">
                          <a:solidFill>
                            <a:srgbClr val="F466BA"/>
                          </a:solidFill>
                          <a:latin typeface="微软雅黑" panose="020B0503020204020204" pitchFamily="34" charset="-122"/>
                          <a:ea typeface="微软雅黑" panose="020B0503020204020204" pitchFamily="34" charset="-122"/>
                        </a:rPr>
                        <a:t>Codewords</a:t>
                      </a:r>
                      <a:endParaRPr lang="zh-CN" altLang="en-US" sz="1600" b="1" dirty="0">
                        <a:solidFill>
                          <a:srgbClr val="F466BA"/>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extLst>
                  <a:ext uri="{0D108BD9-81ED-4DB2-BD59-A6C34878D82A}">
                    <a16:rowId xmlns:a16="http://schemas.microsoft.com/office/drawing/2014/main" val="3089020720"/>
                  </a:ext>
                </a:extLst>
              </a:tr>
              <a:tr h="317817">
                <a:tc>
                  <a:txBody>
                    <a:bodyPr/>
                    <a:lstStyle/>
                    <a:p>
                      <a:pPr algn="ctr"/>
                      <a:r>
                        <a:rPr lang="en-US" altLang="zh-CN" sz="1600" dirty="0"/>
                        <a:t>00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000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027944455"/>
                  </a:ext>
                </a:extLst>
              </a:tr>
              <a:tr h="317817">
                <a:tc>
                  <a:txBody>
                    <a:bodyPr/>
                    <a:lstStyle/>
                    <a:p>
                      <a:pPr algn="ctr"/>
                      <a:r>
                        <a:rPr lang="en-US" altLang="zh-CN" sz="1600" dirty="0"/>
                        <a:t>01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011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228138147"/>
                  </a:ext>
                </a:extLst>
              </a:tr>
              <a:tr h="317817">
                <a:tc>
                  <a:txBody>
                    <a:bodyPr/>
                    <a:lstStyle/>
                    <a:p>
                      <a:pPr algn="ctr"/>
                      <a:r>
                        <a:rPr lang="en-US" altLang="zh-CN" sz="1600" dirty="0"/>
                        <a:t>10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101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304120545"/>
                  </a:ext>
                </a:extLst>
              </a:tr>
              <a:tr h="317817">
                <a:tc>
                  <a:txBody>
                    <a:bodyPr/>
                    <a:lstStyle/>
                    <a:p>
                      <a:pPr algn="ctr"/>
                      <a:r>
                        <a:rPr lang="en-US" altLang="zh-CN" sz="1600" dirty="0"/>
                        <a:t>11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110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2677880975"/>
                  </a:ext>
                </a:extLst>
              </a:tr>
            </a:tbl>
          </a:graphicData>
        </a:graphic>
      </p:graphicFrame>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Text Box 4">
            <a:extLst>
              <a:ext uri="{FF2B5EF4-FFF2-40B4-BE49-F238E27FC236}">
                <a16:creationId xmlns:a16="http://schemas.microsoft.com/office/drawing/2014/main" id="{84F20E40-0D22-47C0-995C-B4FF32C80559}"/>
              </a:ext>
            </a:extLst>
          </p:cNvPr>
          <p:cNvSpPr txBox="1">
            <a:spLocks noChangeArrowheads="1"/>
          </p:cNvSpPr>
          <p:nvPr/>
        </p:nvSpPr>
        <p:spPr bwMode="auto">
          <a:xfrm>
            <a:off x="4360067" y="5739192"/>
            <a:ext cx="37766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10.9</a:t>
            </a:r>
            <a:r>
              <a:rPr lang="en-US" altLang="zh-CN" sz="1600" i="1"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差错纠正中 </a:t>
            </a:r>
            <a:r>
              <a:rPr lang="en-US" altLang="zh-CN" sz="1600" i="1" dirty="0" err="1">
                <a:latin typeface="Times New Roman" panose="02020603050405020304" pitchFamily="18" charset="0"/>
                <a:ea typeface="宋体" panose="02010600030101010101" pitchFamily="2" charset="-122"/>
              </a:rPr>
              <a:t>d</a:t>
            </a:r>
            <a:r>
              <a:rPr lang="en-US" altLang="zh-CN" sz="1600" baseline="-25000" dirty="0" err="1">
                <a:latin typeface="Times New Roman" panose="02020603050405020304" pitchFamily="18" charset="0"/>
                <a:ea typeface="宋体" panose="02010600030101010101" pitchFamily="2" charset="-122"/>
              </a:rPr>
              <a:t>min</a:t>
            </a:r>
            <a:r>
              <a:rPr lang="zh-CN" altLang="en-US" sz="1600" dirty="0">
                <a:latin typeface="Times New Roman" panose="02020603050405020304" pitchFamily="18" charset="0"/>
                <a:ea typeface="宋体" panose="02010600030101010101" pitchFamily="2" charset="-122"/>
              </a:rPr>
              <a:t>的几何意义</a:t>
            </a:r>
            <a:endParaRPr lang="en-US" altLang="zh-CN" sz="1600" dirty="0">
              <a:latin typeface="Times New Roman" panose="02020603050405020304" pitchFamily="18" charset="0"/>
              <a:ea typeface="宋体" panose="02010600030101010101" pitchFamily="2" charset="-122"/>
            </a:endParaRPr>
          </a:p>
        </p:txBody>
      </p:sp>
      <p:pic>
        <p:nvPicPr>
          <p:cNvPr id="45060" name="Picture 6">
            <a:extLst>
              <a:ext uri="{FF2B5EF4-FFF2-40B4-BE49-F238E27FC236}">
                <a16:creationId xmlns:a16="http://schemas.microsoft.com/office/drawing/2014/main" id="{011829CA-A5AE-439C-BD1F-C080158B6A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2362200"/>
            <a:ext cx="8560827" cy="30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1">
            <a:extLst>
              <a:ext uri="{FF2B5EF4-FFF2-40B4-BE49-F238E27FC236}">
                <a16:creationId xmlns:a16="http://schemas.microsoft.com/office/drawing/2014/main" id="{B337157E-26EF-48C6-ACB7-526F6D4AC158}"/>
              </a:ext>
            </a:extLst>
          </p:cNvPr>
          <p:cNvSpPr>
            <a:spLocks noChangeArrowheads="1"/>
          </p:cNvSpPr>
          <p:nvPr/>
        </p:nvSpPr>
        <p:spPr bwMode="auto">
          <a:xfrm>
            <a:off x="1660187" y="1233364"/>
            <a:ext cx="7584831" cy="458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150000"/>
              </a:lnSpc>
            </a:pPr>
            <a:r>
              <a:rPr lang="zh-CN" altLang="en-US" sz="1800" b="0" dirty="0">
                <a:latin typeface="微软雅黑" panose="020B0503020204020204" pitchFamily="34" charset="-122"/>
                <a:ea typeface="微软雅黑" panose="020B0503020204020204" pitchFamily="34" charset="-122"/>
              </a:rPr>
              <a:t>为了保证最多能</a:t>
            </a:r>
            <a:r>
              <a:rPr lang="zh-CN" altLang="en-US" sz="18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纠正</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t </a:t>
            </a:r>
            <a:r>
              <a:rPr lang="zh-CN" altLang="en-US" sz="1800" b="0" dirty="0">
                <a:latin typeface="微软雅黑" panose="020B0503020204020204" pitchFamily="34" charset="-122"/>
                <a:ea typeface="微软雅黑" panose="020B0503020204020204" pitchFamily="34" charset="-122"/>
              </a:rPr>
              <a:t>个差错，块编码中的最小汉明距离是 </a:t>
            </a:r>
            <a:r>
              <a:rPr lang="en-US" altLang="zh-CN" sz="1800" i="1" dirty="0" err="1">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800" baseline="-18000" dirty="0" err="1">
                <a:latin typeface="Times New Roman" panose="02020603050405020304" pitchFamily="18" charset="0"/>
                <a:ea typeface="微软雅黑" panose="020B0503020204020204" pitchFamily="34" charset="-122"/>
                <a:cs typeface="Times New Roman" panose="02020603050405020304" pitchFamily="18" charset="0"/>
              </a:rPr>
              <a:t>min</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 2</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+ 1</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5060"/>
                                        </p:tgtEl>
                                        <p:attrNameLst>
                                          <p:attrName>style.visibility</p:attrName>
                                        </p:attrNameLst>
                                      </p:cBhvr>
                                      <p:to>
                                        <p:strVal val="visible"/>
                                      </p:to>
                                    </p:set>
                                    <p:animEffect transition="in" filter="wipe(left)">
                                      <p:cBhvr>
                                        <p:cTn id="7" dur="500"/>
                                        <p:tgtEl>
                                          <p:spTgt spid="4506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5059"/>
                                        </p:tgtEl>
                                        <p:attrNameLst>
                                          <p:attrName>style.visibility</p:attrName>
                                        </p:attrNameLst>
                                      </p:cBhvr>
                                      <p:to>
                                        <p:strVal val="visible"/>
                                      </p:to>
                                    </p:set>
                                    <p:animEffect transition="in" filter="wipe(left)">
                                      <p:cBhvr>
                                        <p:cTn id="10" dur="500"/>
                                        <p:tgtEl>
                                          <p:spTgt spid="4505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9">
            <a:extLst>
              <a:ext uri="{FF2B5EF4-FFF2-40B4-BE49-F238E27FC236}">
                <a16:creationId xmlns:a16="http://schemas.microsoft.com/office/drawing/2014/main" id="{4190DA53-82EC-41D4-9056-4A024A759583}"/>
              </a:ext>
            </a:extLst>
          </p:cNvPr>
          <p:cNvSpPr>
            <a:spLocks noChangeArrowheads="1"/>
          </p:cNvSpPr>
          <p:nvPr/>
        </p:nvSpPr>
        <p:spPr bwMode="auto">
          <a:xfrm>
            <a:off x="1511030" y="1524000"/>
            <a:ext cx="7391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zh-CN" altLang="en-US" sz="2000" dirty="0">
                <a:solidFill>
                  <a:srgbClr val="FF0000"/>
                </a:solidFill>
                <a:latin typeface="微软雅黑" panose="020B0503020204020204" pitchFamily="34" charset="-122"/>
                <a:ea typeface="微软雅黑" panose="020B0503020204020204" pitchFamily="34" charset="-122"/>
              </a:rPr>
              <a:t>例</a:t>
            </a:r>
            <a:r>
              <a:rPr lang="en-US" altLang="zh-CN" sz="2000" dirty="0">
                <a:solidFill>
                  <a:srgbClr val="FF0000"/>
                </a:solidFill>
                <a:latin typeface="微软雅黑" panose="020B0503020204020204" pitchFamily="34" charset="-122"/>
                <a:ea typeface="微软雅黑" panose="020B0503020204020204" pitchFamily="34" charset="-122"/>
              </a:rPr>
              <a:t>10.9  </a:t>
            </a:r>
            <a:r>
              <a:rPr lang="en-US" altLang="zh-CN" sz="2000" i="1" dirty="0" err="1">
                <a:latin typeface="Times New Roman" panose="02020603050405020304" pitchFamily="18" charset="0"/>
                <a:ea typeface="宋体" panose="02010600030101010101" pitchFamily="2" charset="-122"/>
              </a:rPr>
              <a:t>d</a:t>
            </a:r>
            <a:r>
              <a:rPr lang="en-US" altLang="zh-CN" sz="2000" baseline="-12000" dirty="0" err="1">
                <a:latin typeface="Times New Roman" panose="02020603050405020304" pitchFamily="18" charset="0"/>
                <a:ea typeface="宋体" panose="02010600030101010101" pitchFamily="2" charset="-122"/>
              </a:rPr>
              <a:t>min</a:t>
            </a:r>
            <a:r>
              <a:rPr lang="en-US" altLang="zh-CN" sz="2000" i="1" dirty="0">
                <a:latin typeface="Times New Roman" panose="02020603050405020304" pitchFamily="18" charset="0"/>
                <a:ea typeface="宋体" panose="02010600030101010101" pitchFamily="2" charset="-122"/>
              </a:rPr>
              <a:t> = </a:t>
            </a:r>
            <a:r>
              <a:rPr lang="en-US" altLang="zh-CN" sz="2000" dirty="0">
                <a:latin typeface="Times New Roman" panose="02020603050405020304" pitchFamily="18" charset="0"/>
                <a:ea typeface="宋体" panose="02010600030101010101" pitchFamily="2" charset="-122"/>
              </a:rPr>
              <a:t>4 </a:t>
            </a:r>
            <a:r>
              <a:rPr lang="zh-CN" altLang="en-US" sz="2000" b="0" dirty="0">
                <a:latin typeface="微软雅黑" panose="020B0503020204020204" pitchFamily="34" charset="-122"/>
                <a:ea typeface="微软雅黑" panose="020B0503020204020204" pitchFamily="34" charset="-122"/>
              </a:rPr>
              <a:t>的编码方案，检错和纠错能力分别是多少？</a:t>
            </a:r>
            <a:endParaRPr lang="en-US" altLang="zh-CN" sz="2000" b="0" dirty="0">
              <a:latin typeface="微软雅黑" panose="020B0503020204020204" pitchFamily="34" charset="-122"/>
              <a:ea typeface="微软雅黑" panose="020B0503020204020204" pitchFamily="34" charset="-122"/>
            </a:endParaRPr>
          </a:p>
        </p:txBody>
      </p:sp>
      <p:sp>
        <p:nvSpPr>
          <p:cNvPr id="47108" name="Rectangle 10">
            <a:extLst>
              <a:ext uri="{FF2B5EF4-FFF2-40B4-BE49-F238E27FC236}">
                <a16:creationId xmlns:a16="http://schemas.microsoft.com/office/drawing/2014/main" id="{569112C6-8D88-4089-B57D-D8E0B628A8D8}"/>
              </a:ext>
            </a:extLst>
          </p:cNvPr>
          <p:cNvSpPr>
            <a:spLocks noChangeArrowheads="1"/>
          </p:cNvSpPr>
          <p:nvPr/>
        </p:nvSpPr>
        <p:spPr bwMode="auto">
          <a:xfrm>
            <a:off x="1524000" y="2293938"/>
            <a:ext cx="9372600" cy="2692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300000"/>
              </a:lnSpc>
            </a:pPr>
            <a:r>
              <a:rPr lang="zh-CN" altLang="en-US" sz="2000" b="0" dirty="0">
                <a:latin typeface="微软雅黑" panose="020B0503020204020204" pitchFamily="34" charset="-122"/>
                <a:ea typeface="微软雅黑" panose="020B0503020204020204" pitchFamily="34" charset="-122"/>
              </a:rPr>
              <a:t>这个方案最多检测到</a:t>
            </a:r>
            <a:r>
              <a:rPr lang="zh-CN" altLang="en-US" sz="2000" b="0" dirty="0">
                <a:latin typeface="Times" panose="02020603050405020304" pitchFamily="18" charset="0"/>
                <a:ea typeface="宋体" panose="02010600030101010101" pitchFamily="2" charset="-122"/>
              </a:rPr>
              <a:t> </a:t>
            </a:r>
            <a:r>
              <a:rPr lang="en-US" altLang="zh-CN" sz="2000" b="0" dirty="0">
                <a:latin typeface="Times" panose="02020603050405020304" pitchFamily="18" charset="0"/>
                <a:ea typeface="宋体" panose="02010600030101010101" pitchFamily="2" charset="-122"/>
              </a:rPr>
              <a:t>3</a:t>
            </a:r>
            <a:r>
              <a:rPr lang="zh-CN" altLang="en-US" sz="2000" b="0" dirty="0">
                <a:latin typeface="微软雅黑" panose="020B0503020204020204" pitchFamily="34" charset="-122"/>
                <a:ea typeface="微软雅黑" panose="020B0503020204020204" pitchFamily="34" charset="-122"/>
              </a:rPr>
              <a:t>个差错 </a:t>
            </a:r>
            <a:r>
              <a:rPr lang="en-US" altLang="zh-CN" sz="2000" b="0" dirty="0">
                <a:latin typeface="Times"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 3</a:t>
            </a:r>
            <a:r>
              <a:rPr lang="en-US" altLang="zh-CN" sz="2000" b="0" dirty="0">
                <a:latin typeface="Times" panose="02020603050405020304" pitchFamily="18" charset="0"/>
                <a:ea typeface="宋体" panose="02010600030101010101" pitchFamily="2" charset="-122"/>
              </a:rPr>
              <a:t>)</a:t>
            </a:r>
            <a:r>
              <a:rPr lang="zh-CN" altLang="en-US" sz="2000" b="0" dirty="0">
                <a:latin typeface="Times" panose="02020603050405020304" pitchFamily="18" charset="0"/>
                <a:ea typeface="宋体" panose="02010600030101010101" pitchFamily="2" charset="-122"/>
              </a:rPr>
              <a:t>，</a:t>
            </a:r>
            <a:r>
              <a:rPr lang="zh-CN" altLang="en-US" sz="2000" b="0" dirty="0">
                <a:latin typeface="微软雅黑" panose="020B0503020204020204" pitchFamily="34" charset="-122"/>
                <a:ea typeface="微软雅黑" panose="020B0503020204020204" pitchFamily="34" charset="-122"/>
              </a:rPr>
              <a:t>但是它只能纠正</a:t>
            </a:r>
            <a:r>
              <a:rPr lang="en-US" altLang="zh-CN" sz="2000" b="0" dirty="0">
                <a:latin typeface="微软雅黑" panose="020B0503020204020204" pitchFamily="34" charset="-122"/>
                <a:ea typeface="微软雅黑" panose="020B0503020204020204" pitchFamily="34" charset="-122"/>
              </a:rPr>
              <a:t> 1</a:t>
            </a:r>
            <a:r>
              <a:rPr lang="zh-CN" altLang="en-US" sz="2000" b="0" dirty="0">
                <a:latin typeface="微软雅黑" panose="020B0503020204020204" pitchFamily="34" charset="-122"/>
                <a:ea typeface="微软雅黑" panose="020B0503020204020204" pitchFamily="34" charset="-122"/>
              </a:rPr>
              <a:t>个差错。即如果这个编码用于纠错，它的部分能力被浪费了。</a:t>
            </a:r>
            <a:endParaRPr lang="en-US" altLang="zh-CN" sz="2000" b="0" dirty="0">
              <a:latin typeface="微软雅黑" panose="020B0503020204020204" pitchFamily="34" charset="-122"/>
              <a:ea typeface="微软雅黑" panose="020B0503020204020204" pitchFamily="34" charset="-122"/>
            </a:endParaRPr>
          </a:p>
          <a:p>
            <a:pPr algn="just">
              <a:lnSpc>
                <a:spcPct val="300000"/>
              </a:lnSpc>
            </a:pPr>
            <a:r>
              <a:rPr lang="zh-CN" altLang="en-US" sz="2000" b="0" dirty="0">
                <a:solidFill>
                  <a:srgbClr val="FF0000"/>
                </a:solidFill>
                <a:latin typeface="微软雅黑" panose="020B0503020204020204" pitchFamily="34" charset="-122"/>
                <a:ea typeface="微软雅黑" panose="020B0503020204020204" pitchFamily="34" charset="-122"/>
              </a:rPr>
              <a:t>纠错码需要的最小距离是奇数</a:t>
            </a:r>
            <a:r>
              <a:rPr lang="en-US" altLang="zh-CN" sz="2000" b="0" dirty="0">
                <a:solidFill>
                  <a:srgbClr val="FF0000"/>
                </a:solidFill>
                <a:latin typeface="微软雅黑" panose="020B0503020204020204" pitchFamily="34" charset="-122"/>
                <a:ea typeface="微软雅黑" panose="020B0503020204020204" pitchFamily="34" charset="-122"/>
              </a:rPr>
              <a:t> </a:t>
            </a:r>
            <a:r>
              <a:rPr lang="en-US" altLang="zh-CN" sz="2000" b="0" dirty="0">
                <a:solidFill>
                  <a:srgbClr val="FF0000"/>
                </a:solidFill>
                <a:latin typeface="Times New Roman" panose="02020603050405020304" pitchFamily="18" charset="0"/>
                <a:ea typeface="微软雅黑" panose="020B0503020204020204" pitchFamily="34" charset="-122"/>
              </a:rPr>
              <a:t>(3, 5, 7, . . . )</a:t>
            </a:r>
            <a:r>
              <a:rPr lang="zh-CN" altLang="en-US" sz="2000" b="0" dirty="0">
                <a:solidFill>
                  <a:srgbClr val="FF0000"/>
                </a:solidFill>
                <a:latin typeface="Times New Roman" panose="02020603050405020304" pitchFamily="18" charset="0"/>
                <a:ea typeface="微软雅黑" panose="020B0503020204020204" pitchFamily="34" charset="-122"/>
              </a:rPr>
              <a:t>。</a:t>
            </a:r>
            <a:endParaRPr lang="en-US" altLang="zh-CN" sz="2000" b="0" dirty="0">
              <a:solidFill>
                <a:srgbClr val="FF0000"/>
              </a:solidFill>
              <a:latin typeface="Times New Roman" panose="02020603050405020304" pitchFamily="18" charset="0"/>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7108"/>
                                        </p:tgtEl>
                                        <p:attrNameLst>
                                          <p:attrName>style.visibility</p:attrName>
                                        </p:attrNameLst>
                                      </p:cBhvr>
                                      <p:to>
                                        <p:strVal val="visible"/>
                                      </p:to>
                                    </p:set>
                                    <p:animEffect transition="in" filter="wipe(up)">
                                      <p:cBhvr>
                                        <p:cTn id="7" dur="500"/>
                                        <p:tgtEl>
                                          <p:spTgt spid="47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8059E5BC-E5F9-4CD5-A8B8-33E573AD7E1E}"/>
              </a:ext>
            </a:extLst>
          </p:cNvPr>
          <p:cNvSpPr>
            <a:spLocks noChangeArrowheads="1"/>
          </p:cNvSpPr>
          <p:nvPr/>
        </p:nvSpPr>
        <p:spPr bwMode="auto">
          <a:xfrm>
            <a:off x="0" y="0"/>
            <a:ext cx="12192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49156" name="Text Box 3">
            <a:extLst>
              <a:ext uri="{FF2B5EF4-FFF2-40B4-BE49-F238E27FC236}">
                <a16:creationId xmlns:a16="http://schemas.microsoft.com/office/drawing/2014/main" id="{F8B97D5F-7229-4902-9BD2-E78F9C15B6DA}"/>
              </a:ext>
            </a:extLst>
          </p:cNvPr>
          <p:cNvSpPr txBox="1">
            <a:spLocks noChangeArrowheads="1"/>
          </p:cNvSpPr>
          <p:nvPr/>
        </p:nvSpPr>
        <p:spPr bwMode="auto">
          <a:xfrm>
            <a:off x="457200" y="279400"/>
            <a:ext cx="34782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dirty="0">
                <a:latin typeface="微软雅黑" panose="020B0503020204020204" pitchFamily="34" charset="-122"/>
                <a:ea typeface="微软雅黑" panose="020B0503020204020204" pitchFamily="34" charset="-122"/>
              </a:rPr>
              <a:t>10.3   </a:t>
            </a:r>
            <a:r>
              <a:rPr lang="zh-CN" altLang="en-US" dirty="0">
                <a:latin typeface="微软雅黑" panose="020B0503020204020204" pitchFamily="34" charset="-122"/>
                <a:ea typeface="微软雅黑" panose="020B0503020204020204" pitchFamily="34" charset="-122"/>
              </a:rPr>
              <a:t>线性块编码</a:t>
            </a:r>
            <a:endParaRPr lang="en-US" altLang="zh-CN" dirty="0">
              <a:latin typeface="微软雅黑" panose="020B0503020204020204" pitchFamily="34" charset="-122"/>
              <a:ea typeface="微软雅黑" panose="020B0503020204020204" pitchFamily="34" charset="-122"/>
            </a:endParaRPr>
          </a:p>
        </p:txBody>
      </p:sp>
      <p:sp>
        <p:nvSpPr>
          <p:cNvPr id="49157" name="Text Box 4">
            <a:extLst>
              <a:ext uri="{FF2B5EF4-FFF2-40B4-BE49-F238E27FC236}">
                <a16:creationId xmlns:a16="http://schemas.microsoft.com/office/drawing/2014/main" id="{7132D731-D053-497C-BB88-0C2050FBC307}"/>
              </a:ext>
            </a:extLst>
          </p:cNvPr>
          <p:cNvSpPr txBox="1">
            <a:spLocks noChangeArrowheads="1"/>
          </p:cNvSpPr>
          <p:nvPr/>
        </p:nvSpPr>
        <p:spPr bwMode="auto">
          <a:xfrm>
            <a:off x="9753600" y="61420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zh-CN" sz="1800">
              <a:latin typeface="Times New Roman" panose="02020603050405020304" pitchFamily="18" charset="0"/>
              <a:ea typeface="宋体" panose="02010600030101010101" pitchFamily="2" charset="-122"/>
            </a:endParaRPr>
          </a:p>
        </p:txBody>
      </p:sp>
      <p:sp>
        <p:nvSpPr>
          <p:cNvPr id="49158" name="Rectangle 5">
            <a:extLst>
              <a:ext uri="{FF2B5EF4-FFF2-40B4-BE49-F238E27FC236}">
                <a16:creationId xmlns:a16="http://schemas.microsoft.com/office/drawing/2014/main" id="{AF5C5161-7B3E-4F58-92E5-9056E9EF9796}"/>
              </a:ext>
            </a:extLst>
          </p:cNvPr>
          <p:cNvSpPr>
            <a:spLocks noChangeArrowheads="1"/>
          </p:cNvSpPr>
          <p:nvPr/>
        </p:nvSpPr>
        <p:spPr bwMode="auto">
          <a:xfrm>
            <a:off x="1524000" y="2082734"/>
            <a:ext cx="9372600" cy="2692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eaLnBrk="1" hangingPunct="1">
              <a:lnSpc>
                <a:spcPct val="300000"/>
              </a:lnSpc>
            </a:pPr>
            <a:r>
              <a:rPr lang="zh-CN" altLang="en-US" sz="2000" b="0" dirty="0">
                <a:latin typeface="微软雅黑" panose="020B0503020204020204" pitchFamily="34" charset="-122"/>
                <a:ea typeface="微软雅黑" panose="020B0503020204020204" pitchFamily="34" charset="-122"/>
              </a:rPr>
              <a:t>在线性块编码中，</a:t>
            </a:r>
            <a:r>
              <a:rPr lang="zh-CN" altLang="en-US" sz="2000" b="0" dirty="0">
                <a:solidFill>
                  <a:srgbClr val="FF0000"/>
                </a:solidFill>
                <a:latin typeface="微软雅黑" panose="020B0503020204020204" pitchFamily="34" charset="-122"/>
                <a:ea typeface="微软雅黑" panose="020B0503020204020204" pitchFamily="34" charset="-122"/>
              </a:rPr>
              <a:t>任两个有效码字的异或（即模二加）生成另一个有效码字</a:t>
            </a:r>
            <a:r>
              <a:rPr lang="zh-CN" altLang="en-US" sz="2000" b="0" dirty="0">
                <a:latin typeface="微软雅黑" panose="020B0503020204020204" pitchFamily="34" charset="-122"/>
                <a:ea typeface="微软雅黑" panose="020B0503020204020204" pitchFamily="34" charset="-122"/>
              </a:rPr>
              <a:t>。几乎所有块编码都属于线性块编码的子集。</a:t>
            </a:r>
            <a:endParaRPr lang="en-US" altLang="zh-CN" sz="2000" b="0" dirty="0">
              <a:latin typeface="微软雅黑" panose="020B0503020204020204" pitchFamily="34" charset="-122"/>
              <a:ea typeface="微软雅黑" panose="020B0503020204020204" pitchFamily="34" charset="-122"/>
            </a:endParaRPr>
          </a:p>
          <a:p>
            <a:pPr algn="just" eaLnBrk="1" hangingPunct="1">
              <a:lnSpc>
                <a:spcPct val="300000"/>
              </a:lnSpc>
            </a:pPr>
            <a:r>
              <a:rPr lang="zh-CN" altLang="en-US" sz="2000" b="0" dirty="0">
                <a:latin typeface="微软雅黑" panose="020B0503020204020204" pitchFamily="34" charset="-122"/>
                <a:ea typeface="微软雅黑" panose="020B0503020204020204" pitchFamily="34" charset="-122"/>
              </a:rPr>
              <a:t>线性块编码的最小汉明距离为：具有</a:t>
            </a:r>
            <a:r>
              <a:rPr lang="zh-CN" altLang="en-US" sz="2000" dirty="0">
                <a:latin typeface="微软雅黑" panose="020B0503020204020204" pitchFamily="34" charset="-122"/>
                <a:ea typeface="微软雅黑" panose="020B0503020204020204" pitchFamily="34" charset="-122"/>
              </a:rPr>
              <a:t>最少 </a:t>
            </a:r>
            <a:r>
              <a:rPr lang="en-US" altLang="zh-CN" sz="2000" dirty="0">
                <a:latin typeface="微软雅黑" panose="020B0503020204020204" pitchFamily="34" charset="-122"/>
                <a:ea typeface="微软雅黑" panose="020B0503020204020204" pitchFamily="34" charset="-122"/>
              </a:rPr>
              <a:t>1</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的个数的</a:t>
            </a:r>
            <a:r>
              <a:rPr lang="zh-CN" altLang="en-US" sz="2000" dirty="0">
                <a:latin typeface="微软雅黑" panose="020B0503020204020204" pitchFamily="34" charset="-122"/>
                <a:ea typeface="微软雅黑" panose="020B0503020204020204" pitchFamily="34" charset="-122"/>
              </a:rPr>
              <a:t>非 </a:t>
            </a:r>
            <a:r>
              <a:rPr lang="en-US" altLang="zh-CN" sz="2000" dirty="0">
                <a:latin typeface="微软雅黑" panose="020B0503020204020204" pitchFamily="34" charset="-122"/>
                <a:ea typeface="微软雅黑" panose="020B0503020204020204" pitchFamily="34" charset="-122"/>
              </a:rPr>
              <a:t>0</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有效码字中 </a:t>
            </a:r>
            <a:r>
              <a:rPr lang="en-US" altLang="zh-CN" sz="2000" b="0" dirty="0">
                <a:latin typeface="微软雅黑" panose="020B0503020204020204" pitchFamily="34" charset="-122"/>
                <a:ea typeface="微软雅黑" panose="020B0503020204020204" pitchFamily="34" charset="-122"/>
              </a:rPr>
              <a:t>1 </a:t>
            </a:r>
            <a:r>
              <a:rPr lang="zh-CN" altLang="en-US" sz="2000" b="0" dirty="0">
                <a:latin typeface="微软雅黑" panose="020B0503020204020204" pitchFamily="34" charset="-122"/>
                <a:ea typeface="微软雅黑" panose="020B0503020204020204" pitchFamily="34" charset="-122"/>
              </a:rPr>
              <a:t>的个数。</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9">
            <a:extLst>
              <a:ext uri="{FF2B5EF4-FFF2-40B4-BE49-F238E27FC236}">
                <a16:creationId xmlns:a16="http://schemas.microsoft.com/office/drawing/2014/main" id="{9D793C08-8E08-42B8-9F72-564FB53991EA}"/>
              </a:ext>
            </a:extLst>
          </p:cNvPr>
          <p:cNvSpPr>
            <a:spLocks noChangeArrowheads="1"/>
          </p:cNvSpPr>
          <p:nvPr/>
        </p:nvSpPr>
        <p:spPr bwMode="auto">
          <a:xfrm>
            <a:off x="2468564" y="1222375"/>
            <a:ext cx="75580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zh-CN" altLang="en-US" sz="1800" b="0" dirty="0">
                <a:latin typeface="微软雅黑" panose="020B0503020204020204" pitchFamily="34" charset="-122"/>
                <a:ea typeface="微软雅黑" panose="020B0503020204020204" pitchFamily="34" charset="-122"/>
              </a:rPr>
              <a:t>非零码字</a:t>
            </a:r>
            <a:r>
              <a:rPr lang="en-US" altLang="zh-CN" sz="1800" b="0" dirty="0">
                <a:latin typeface="微软雅黑" panose="020B0503020204020204" pitchFamily="34" charset="-122"/>
                <a:ea typeface="微软雅黑" panose="020B0503020204020204" pitchFamily="34" charset="-122"/>
              </a:rPr>
              <a:t> </a:t>
            </a:r>
            <a:r>
              <a:rPr lang="en-US" altLang="zh-CN" sz="1800" dirty="0">
                <a:latin typeface="Times New Roman" panose="02020603050405020304" pitchFamily="18" charset="0"/>
                <a:ea typeface="宋体" panose="02010600030101010101" pitchFamily="2" charset="-122"/>
              </a:rPr>
              <a:t>1 </a:t>
            </a:r>
            <a:r>
              <a:rPr lang="zh-CN" altLang="en-US" sz="1800" b="0" dirty="0">
                <a:latin typeface="微软雅黑" panose="020B0503020204020204" pitchFamily="34" charset="-122"/>
                <a:ea typeface="微软雅黑" panose="020B0503020204020204" pitchFamily="34" charset="-122"/>
              </a:rPr>
              <a:t>的个数分别是 </a:t>
            </a:r>
            <a:r>
              <a:rPr lang="en-US" altLang="zh-CN" sz="1800" dirty="0">
                <a:latin typeface="Times New Roman" panose="02020603050405020304" pitchFamily="18" charset="0"/>
                <a:ea typeface="宋体" panose="02010600030101010101" pitchFamily="2" charset="-122"/>
              </a:rPr>
              <a:t>2</a:t>
            </a:r>
            <a:r>
              <a:rPr lang="zh-CN" altLang="en-US" sz="1800" dirty="0">
                <a:latin typeface="Times New Roman" panose="02020603050405020304" pitchFamily="18" charset="0"/>
                <a:ea typeface="宋体" panose="02010600030101010101" pitchFamily="2" charset="-122"/>
              </a:rPr>
              <a:t>，</a:t>
            </a:r>
            <a:r>
              <a:rPr lang="en-US" altLang="zh-CN" sz="1800" dirty="0">
                <a:latin typeface="Times New Roman" panose="02020603050405020304" pitchFamily="18" charset="0"/>
                <a:ea typeface="宋体" panose="02010600030101010101" pitchFamily="2" charset="-122"/>
              </a:rPr>
              <a:t>2</a:t>
            </a:r>
            <a:r>
              <a:rPr lang="zh-CN" altLang="en-US" sz="1800" b="0" dirty="0">
                <a:latin typeface="微软雅黑" panose="020B0503020204020204" pitchFamily="34" charset="-122"/>
                <a:ea typeface="微软雅黑" panose="020B0503020204020204" pitchFamily="34" charset="-122"/>
              </a:rPr>
              <a:t>和</a:t>
            </a:r>
            <a:r>
              <a:rPr lang="zh-CN" altLang="en-US" sz="1800" dirty="0">
                <a:latin typeface="Times New Roman" panose="02020603050405020304" pitchFamily="18" charset="0"/>
                <a:ea typeface="宋体" panose="02010600030101010101" pitchFamily="2" charset="-122"/>
              </a:rPr>
              <a:t> </a:t>
            </a:r>
            <a:r>
              <a:rPr lang="en-US" altLang="zh-CN" sz="1800" dirty="0">
                <a:latin typeface="Times New Roman" panose="02020603050405020304" pitchFamily="18" charset="0"/>
                <a:ea typeface="宋体" panose="02010600030101010101" pitchFamily="2" charset="-122"/>
              </a:rPr>
              <a:t>2</a:t>
            </a:r>
            <a:r>
              <a:rPr lang="zh-CN" altLang="en-US" sz="1800" dirty="0">
                <a:latin typeface="Times New Roman" panose="02020603050405020304" pitchFamily="18" charset="0"/>
                <a:ea typeface="宋体" panose="02010600030101010101" pitchFamily="2" charset="-122"/>
              </a:rPr>
              <a:t>，</a:t>
            </a:r>
            <a:r>
              <a:rPr lang="zh-CN" altLang="en-US" sz="1800" b="0" dirty="0">
                <a:latin typeface="微软雅黑" panose="020B0503020204020204" pitchFamily="34" charset="-122"/>
                <a:ea typeface="微软雅黑" panose="020B0503020204020204" pitchFamily="34" charset="-122"/>
              </a:rPr>
              <a:t>所以最小汉明距离是 </a:t>
            </a:r>
            <a:r>
              <a:rPr lang="en-US" altLang="zh-CN" sz="1800" i="1" dirty="0" err="1">
                <a:latin typeface="Times New Roman" panose="02020603050405020304" pitchFamily="18" charset="0"/>
                <a:ea typeface="宋体" panose="02010600030101010101" pitchFamily="2" charset="-122"/>
              </a:rPr>
              <a:t>d</a:t>
            </a:r>
            <a:r>
              <a:rPr lang="en-US" altLang="zh-CN" sz="1800" baseline="-18000" dirty="0" err="1">
                <a:latin typeface="Times New Roman" panose="02020603050405020304" pitchFamily="18" charset="0"/>
                <a:ea typeface="宋体" panose="02010600030101010101" pitchFamily="2" charset="-122"/>
              </a:rPr>
              <a:t>min</a:t>
            </a:r>
            <a:r>
              <a:rPr lang="en-US" altLang="zh-CN" sz="1800" dirty="0">
                <a:latin typeface="Times New Roman" panose="02020603050405020304" pitchFamily="18" charset="0"/>
                <a:ea typeface="宋体" panose="02010600030101010101" pitchFamily="2" charset="-122"/>
              </a:rPr>
              <a:t> = 2</a:t>
            </a:r>
            <a:r>
              <a:rPr lang="zh-CN" altLang="en-US"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p:txBody>
      </p:sp>
      <p:sp>
        <p:nvSpPr>
          <p:cNvPr id="51206" name="矩形 1">
            <a:extLst>
              <a:ext uri="{FF2B5EF4-FFF2-40B4-BE49-F238E27FC236}">
                <a16:creationId xmlns:a16="http://schemas.microsoft.com/office/drawing/2014/main" id="{A6EA5599-D858-4F61-9212-200BAA90EEA3}"/>
              </a:ext>
            </a:extLst>
          </p:cNvPr>
          <p:cNvSpPr>
            <a:spLocks noChangeArrowheads="1"/>
          </p:cNvSpPr>
          <p:nvPr/>
        </p:nvSpPr>
        <p:spPr bwMode="auto">
          <a:xfrm>
            <a:off x="2590800" y="3681413"/>
            <a:ext cx="6705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800" b="0" dirty="0">
                <a:latin typeface="微软雅黑" panose="020B0503020204020204" pitchFamily="34" charset="-122"/>
                <a:ea typeface="微软雅黑" panose="020B0503020204020204" pitchFamily="34" charset="-122"/>
              </a:rPr>
              <a:t>非零码字的</a:t>
            </a:r>
            <a:r>
              <a:rPr lang="en-US" altLang="zh-CN" sz="1800" b="0" dirty="0">
                <a:latin typeface="微软雅黑" panose="020B0503020204020204" pitchFamily="34" charset="-122"/>
                <a:ea typeface="微软雅黑" panose="020B0503020204020204" pitchFamily="34" charset="-122"/>
              </a:rPr>
              <a:t> </a:t>
            </a:r>
            <a:r>
              <a:rPr lang="en-US" altLang="zh-CN" sz="1800" dirty="0">
                <a:latin typeface="Times New Roman" panose="02020603050405020304" pitchFamily="18" charset="0"/>
                <a:ea typeface="宋体" panose="02010600030101010101" pitchFamily="2" charset="-122"/>
              </a:rPr>
              <a:t>1 </a:t>
            </a:r>
            <a:r>
              <a:rPr lang="zh-CN" altLang="en-US" sz="1800" b="0" dirty="0">
                <a:latin typeface="微软雅黑" panose="020B0503020204020204" pitchFamily="34" charset="-122"/>
                <a:ea typeface="微软雅黑" panose="020B0503020204020204" pitchFamily="34" charset="-122"/>
              </a:rPr>
              <a:t>的个数分别是 </a:t>
            </a:r>
            <a:r>
              <a:rPr lang="en-US" altLang="zh-CN" sz="1800" dirty="0">
                <a:latin typeface="Times New Roman" panose="02020603050405020304" pitchFamily="18" charset="0"/>
                <a:ea typeface="宋体" panose="02010600030101010101" pitchFamily="2" charset="-122"/>
              </a:rPr>
              <a:t>3</a:t>
            </a:r>
            <a:r>
              <a:rPr lang="zh-CN" altLang="en-US" sz="1800" dirty="0">
                <a:latin typeface="Times New Roman" panose="02020603050405020304" pitchFamily="18" charset="0"/>
                <a:ea typeface="宋体" panose="02010600030101010101" pitchFamily="2" charset="-122"/>
              </a:rPr>
              <a:t>，</a:t>
            </a:r>
            <a:r>
              <a:rPr lang="en-US" altLang="zh-CN" sz="1800" dirty="0">
                <a:latin typeface="Times New Roman" panose="02020603050405020304" pitchFamily="18" charset="0"/>
                <a:ea typeface="宋体" panose="02010600030101010101" pitchFamily="2" charset="-122"/>
              </a:rPr>
              <a:t>3</a:t>
            </a:r>
            <a:r>
              <a:rPr lang="zh-CN" altLang="en-US" sz="1800" b="0" dirty="0">
                <a:latin typeface="微软雅黑" panose="020B0503020204020204" pitchFamily="34" charset="-122"/>
                <a:ea typeface="微软雅黑" panose="020B0503020204020204" pitchFamily="34" charset="-122"/>
              </a:rPr>
              <a:t>和</a:t>
            </a:r>
            <a:r>
              <a:rPr lang="zh-CN" altLang="en-US" sz="1800" dirty="0">
                <a:latin typeface="Times New Roman" panose="02020603050405020304" pitchFamily="18" charset="0"/>
                <a:ea typeface="宋体" panose="02010600030101010101" pitchFamily="2" charset="-122"/>
              </a:rPr>
              <a:t> </a:t>
            </a:r>
            <a:r>
              <a:rPr lang="en-US" altLang="zh-CN" sz="1800" dirty="0">
                <a:latin typeface="Times New Roman" panose="02020603050405020304" pitchFamily="18" charset="0"/>
                <a:ea typeface="宋体" panose="02010600030101010101" pitchFamily="2" charset="-122"/>
              </a:rPr>
              <a:t>4</a:t>
            </a:r>
            <a:r>
              <a:rPr lang="zh-CN" altLang="en-US" sz="1800" dirty="0">
                <a:latin typeface="Times New Roman" panose="02020603050405020304" pitchFamily="18" charset="0"/>
                <a:ea typeface="宋体" panose="02010600030101010101" pitchFamily="2" charset="-122"/>
              </a:rPr>
              <a:t>，</a:t>
            </a:r>
            <a:r>
              <a:rPr lang="zh-CN" altLang="en-US" sz="1800" b="0" dirty="0">
                <a:latin typeface="微软雅黑" panose="020B0503020204020204" pitchFamily="34" charset="-122"/>
                <a:ea typeface="微软雅黑" panose="020B0503020204020204" pitchFamily="34" charset="-122"/>
              </a:rPr>
              <a:t>所以得到 </a:t>
            </a:r>
            <a:r>
              <a:rPr lang="en-US" altLang="zh-CN" sz="1800" i="1" dirty="0" err="1">
                <a:latin typeface="Times New Roman" panose="02020603050405020304" pitchFamily="18" charset="0"/>
                <a:ea typeface="宋体" panose="02010600030101010101" pitchFamily="2" charset="-122"/>
              </a:rPr>
              <a:t>d</a:t>
            </a:r>
            <a:r>
              <a:rPr lang="en-US" altLang="zh-CN" sz="1800" baseline="-25000" dirty="0" err="1">
                <a:latin typeface="Times New Roman" panose="02020603050405020304" pitchFamily="18" charset="0"/>
                <a:ea typeface="宋体" panose="02010600030101010101" pitchFamily="2" charset="-122"/>
              </a:rPr>
              <a:t>min</a:t>
            </a:r>
            <a:r>
              <a:rPr lang="en-US" altLang="zh-CN" sz="1800" dirty="0">
                <a:latin typeface="Times New Roman" panose="02020603050405020304" pitchFamily="18" charset="0"/>
                <a:ea typeface="宋体" panose="02010600030101010101" pitchFamily="2" charset="-122"/>
              </a:rPr>
              <a:t> = 3</a:t>
            </a:r>
            <a:r>
              <a:rPr lang="zh-CN" altLang="en-US" sz="1800" dirty="0">
                <a:latin typeface="Times New Roman" panose="02020603050405020304" pitchFamily="18" charset="0"/>
                <a:ea typeface="宋体" panose="02010600030101010101" pitchFamily="2" charset="-122"/>
              </a:rPr>
              <a:t>。</a:t>
            </a:r>
            <a:endParaRPr lang="zh-CN" altLang="en-US" sz="1800" dirty="0">
              <a:ea typeface="宋体" panose="02010600030101010101" pitchFamily="2" charset="-122"/>
            </a:endParaRPr>
          </a:p>
        </p:txBody>
      </p:sp>
      <p:graphicFrame>
        <p:nvGraphicFramePr>
          <p:cNvPr id="7" name="表格 6">
            <a:extLst>
              <a:ext uri="{FF2B5EF4-FFF2-40B4-BE49-F238E27FC236}">
                <a16:creationId xmlns:a16="http://schemas.microsoft.com/office/drawing/2014/main" id="{45D23128-1D4A-4EE2-8B0F-11C003728BAC}"/>
              </a:ext>
            </a:extLst>
          </p:cNvPr>
          <p:cNvGraphicFramePr>
            <a:graphicFrameLocks noGrp="1"/>
          </p:cNvGraphicFramePr>
          <p:nvPr>
            <p:extLst>
              <p:ext uri="{D42A27DB-BD31-4B8C-83A1-F6EECF244321}">
                <p14:modId xmlns:p14="http://schemas.microsoft.com/office/powerpoint/2010/main" val="1895995823"/>
              </p:ext>
            </p:extLst>
          </p:nvPr>
        </p:nvGraphicFramePr>
        <p:xfrm>
          <a:off x="3733800" y="1752600"/>
          <a:ext cx="4724400" cy="16764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816645437"/>
                    </a:ext>
                  </a:extLst>
                </a:gridCol>
                <a:gridCol w="2362200">
                  <a:extLst>
                    <a:ext uri="{9D8B030D-6E8A-4147-A177-3AD203B41FA5}">
                      <a16:colId xmlns:a16="http://schemas.microsoft.com/office/drawing/2014/main" val="3050610508"/>
                    </a:ext>
                  </a:extLst>
                </a:gridCol>
              </a:tblGrid>
              <a:tr h="317817">
                <a:tc>
                  <a:txBody>
                    <a:bodyPr/>
                    <a:lstStyle/>
                    <a:p>
                      <a:pPr algn="ctr"/>
                      <a:r>
                        <a:rPr lang="en-US" altLang="zh-CN" sz="1600" b="1" dirty="0" err="1">
                          <a:solidFill>
                            <a:schemeClr val="tx1"/>
                          </a:solidFill>
                          <a:latin typeface="微软雅黑" panose="020B0503020204020204" pitchFamily="34" charset="-122"/>
                          <a:ea typeface="微软雅黑" panose="020B0503020204020204" pitchFamily="34" charset="-122"/>
                        </a:rPr>
                        <a:t>Datawords</a:t>
                      </a:r>
                      <a:endParaRPr lang="zh-CN" altLang="en-US" sz="1600" b="1" dirty="0">
                        <a:solidFill>
                          <a:schemeClr val="tx1"/>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algn="ctr"/>
                      <a:r>
                        <a:rPr lang="en-US" altLang="zh-CN" sz="1600" b="1" dirty="0">
                          <a:solidFill>
                            <a:srgbClr val="F466BA"/>
                          </a:solidFill>
                          <a:latin typeface="微软雅黑" panose="020B0503020204020204" pitchFamily="34" charset="-122"/>
                          <a:ea typeface="微软雅黑" panose="020B0503020204020204" pitchFamily="34" charset="-122"/>
                        </a:rPr>
                        <a:t>Codewords</a:t>
                      </a:r>
                      <a:endParaRPr lang="zh-CN" altLang="en-US" sz="1600" b="1" dirty="0">
                        <a:solidFill>
                          <a:srgbClr val="F466BA"/>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extLst>
                  <a:ext uri="{0D108BD9-81ED-4DB2-BD59-A6C34878D82A}">
                    <a16:rowId xmlns:a16="http://schemas.microsoft.com/office/drawing/2014/main" val="3089020720"/>
                  </a:ext>
                </a:extLst>
              </a:tr>
              <a:tr h="317817">
                <a:tc>
                  <a:txBody>
                    <a:bodyPr/>
                    <a:lstStyle/>
                    <a:p>
                      <a:pPr algn="ctr"/>
                      <a:r>
                        <a:rPr lang="en-US" altLang="zh-CN" sz="1600" dirty="0"/>
                        <a:t>00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000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027944455"/>
                  </a:ext>
                </a:extLst>
              </a:tr>
              <a:tr h="317817">
                <a:tc>
                  <a:txBody>
                    <a:bodyPr/>
                    <a:lstStyle/>
                    <a:p>
                      <a:pPr algn="ctr"/>
                      <a:r>
                        <a:rPr lang="en-US" altLang="zh-CN" sz="1600" dirty="0"/>
                        <a:t>01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011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228138147"/>
                  </a:ext>
                </a:extLst>
              </a:tr>
              <a:tr h="317817">
                <a:tc>
                  <a:txBody>
                    <a:bodyPr/>
                    <a:lstStyle/>
                    <a:p>
                      <a:pPr algn="ctr"/>
                      <a:r>
                        <a:rPr lang="en-US" altLang="zh-CN" sz="1600" dirty="0"/>
                        <a:t>10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101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304120545"/>
                  </a:ext>
                </a:extLst>
              </a:tr>
              <a:tr h="317817">
                <a:tc>
                  <a:txBody>
                    <a:bodyPr/>
                    <a:lstStyle/>
                    <a:p>
                      <a:pPr algn="ctr"/>
                      <a:r>
                        <a:rPr lang="en-US" altLang="zh-CN" sz="1600" dirty="0"/>
                        <a:t>11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110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2677880975"/>
                  </a:ext>
                </a:extLst>
              </a:tr>
            </a:tbl>
          </a:graphicData>
        </a:graphic>
      </p:graphicFrame>
      <p:graphicFrame>
        <p:nvGraphicFramePr>
          <p:cNvPr id="8" name="表格 7">
            <a:extLst>
              <a:ext uri="{FF2B5EF4-FFF2-40B4-BE49-F238E27FC236}">
                <a16:creationId xmlns:a16="http://schemas.microsoft.com/office/drawing/2014/main" id="{9406C252-0D50-4213-967B-C5DF7AC3B91F}"/>
              </a:ext>
            </a:extLst>
          </p:cNvPr>
          <p:cNvGraphicFramePr>
            <a:graphicFrameLocks noGrp="1"/>
          </p:cNvGraphicFramePr>
          <p:nvPr>
            <p:extLst>
              <p:ext uri="{D42A27DB-BD31-4B8C-83A1-F6EECF244321}">
                <p14:modId xmlns:p14="http://schemas.microsoft.com/office/powerpoint/2010/main" val="1858196402"/>
              </p:ext>
            </p:extLst>
          </p:nvPr>
        </p:nvGraphicFramePr>
        <p:xfrm>
          <a:off x="3748088" y="4251020"/>
          <a:ext cx="4710112" cy="1864030"/>
        </p:xfrm>
        <a:graphic>
          <a:graphicData uri="http://schemas.openxmlformats.org/drawingml/2006/table">
            <a:tbl>
              <a:tblPr firstRow="1" bandRow="1">
                <a:tableStyleId>{5C22544A-7EE6-4342-B048-85BDC9FD1C3A}</a:tableStyleId>
              </a:tblPr>
              <a:tblGrid>
                <a:gridCol w="2132322">
                  <a:extLst>
                    <a:ext uri="{9D8B030D-6E8A-4147-A177-3AD203B41FA5}">
                      <a16:colId xmlns:a16="http://schemas.microsoft.com/office/drawing/2014/main" val="2816645437"/>
                    </a:ext>
                  </a:extLst>
                </a:gridCol>
                <a:gridCol w="2577790">
                  <a:extLst>
                    <a:ext uri="{9D8B030D-6E8A-4147-A177-3AD203B41FA5}">
                      <a16:colId xmlns:a16="http://schemas.microsoft.com/office/drawing/2014/main" val="3050610508"/>
                    </a:ext>
                  </a:extLst>
                </a:gridCol>
              </a:tblGrid>
              <a:tr h="372806">
                <a:tc>
                  <a:txBody>
                    <a:bodyPr/>
                    <a:lstStyle/>
                    <a:p>
                      <a:pPr algn="ctr"/>
                      <a:r>
                        <a:rPr lang="en-US" altLang="zh-CN" sz="1600" b="1" dirty="0" err="1">
                          <a:solidFill>
                            <a:schemeClr val="tx1"/>
                          </a:solidFill>
                          <a:latin typeface="微软雅黑" panose="020B0503020204020204" pitchFamily="34" charset="-122"/>
                          <a:ea typeface="微软雅黑" panose="020B0503020204020204" pitchFamily="34" charset="-122"/>
                        </a:rPr>
                        <a:t>Datawords</a:t>
                      </a:r>
                      <a:endParaRPr lang="zh-CN" altLang="en-US" sz="1600" b="1" dirty="0">
                        <a:solidFill>
                          <a:schemeClr val="tx1"/>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algn="ctr"/>
                      <a:r>
                        <a:rPr lang="en-US" altLang="zh-CN" sz="1600" b="1" dirty="0">
                          <a:solidFill>
                            <a:srgbClr val="F466BA"/>
                          </a:solidFill>
                          <a:latin typeface="微软雅黑" panose="020B0503020204020204" pitchFamily="34" charset="-122"/>
                          <a:ea typeface="微软雅黑" panose="020B0503020204020204" pitchFamily="34" charset="-122"/>
                        </a:rPr>
                        <a:t>Codewords</a:t>
                      </a:r>
                      <a:endParaRPr lang="zh-CN" altLang="en-US" sz="1600" b="1" dirty="0">
                        <a:solidFill>
                          <a:srgbClr val="F466BA"/>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extLst>
                  <a:ext uri="{0D108BD9-81ED-4DB2-BD59-A6C34878D82A}">
                    <a16:rowId xmlns:a16="http://schemas.microsoft.com/office/drawing/2014/main" val="3089020720"/>
                  </a:ext>
                </a:extLst>
              </a:tr>
              <a:tr h="372806">
                <a:tc>
                  <a:txBody>
                    <a:bodyPr/>
                    <a:lstStyle/>
                    <a:p>
                      <a:pPr algn="ctr"/>
                      <a:r>
                        <a:rPr lang="en-US" altLang="zh-CN" sz="1600" dirty="0"/>
                        <a:t>00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00000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027944455"/>
                  </a:ext>
                </a:extLst>
              </a:tr>
              <a:tr h="372806">
                <a:tc>
                  <a:txBody>
                    <a:bodyPr/>
                    <a:lstStyle/>
                    <a:p>
                      <a:pPr algn="ctr"/>
                      <a:r>
                        <a:rPr lang="en-US" altLang="zh-CN" sz="1600" dirty="0"/>
                        <a:t>01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01011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228138147"/>
                  </a:ext>
                </a:extLst>
              </a:tr>
              <a:tr h="372806">
                <a:tc>
                  <a:txBody>
                    <a:bodyPr/>
                    <a:lstStyle/>
                    <a:p>
                      <a:pPr algn="ctr"/>
                      <a:r>
                        <a:rPr lang="en-US" altLang="zh-CN" sz="1600" dirty="0"/>
                        <a:t>10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10101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304120545"/>
                  </a:ext>
                </a:extLst>
              </a:tr>
              <a:tr h="372806">
                <a:tc>
                  <a:txBody>
                    <a:bodyPr/>
                    <a:lstStyle/>
                    <a:p>
                      <a:pPr algn="ctr"/>
                      <a:r>
                        <a:rPr lang="en-US" altLang="zh-CN" sz="1600" dirty="0"/>
                        <a:t>11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11110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2677880975"/>
                  </a:ext>
                </a:extLst>
              </a:tr>
            </a:tbl>
          </a:graphicData>
        </a:graphic>
      </p:graphicFrame>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Text Box 2">
            <a:extLst>
              <a:ext uri="{FF2B5EF4-FFF2-40B4-BE49-F238E27FC236}">
                <a16:creationId xmlns:a16="http://schemas.microsoft.com/office/drawing/2014/main" id="{3221153B-5308-4246-BC5D-60342EE341AB}"/>
              </a:ext>
            </a:extLst>
          </p:cNvPr>
          <p:cNvSpPr txBox="1">
            <a:spLocks noChangeArrowheads="1"/>
          </p:cNvSpPr>
          <p:nvPr/>
        </p:nvSpPr>
        <p:spPr bwMode="auto">
          <a:xfrm>
            <a:off x="1326842" y="2681921"/>
            <a:ext cx="353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Table 10.3  </a:t>
            </a:r>
            <a:r>
              <a:rPr lang="zh-CN" altLang="en-US" sz="1600" dirty="0">
                <a:latin typeface="Times New Roman" panose="02020603050405020304" pitchFamily="18" charset="0"/>
                <a:ea typeface="宋体" panose="02010600030101010101" pitchFamily="2" charset="-122"/>
              </a:rPr>
              <a:t>简单的奇偶校验码 </a:t>
            </a:r>
            <a:r>
              <a:rPr lang="en-US" altLang="zh-CN" sz="1600" dirty="0">
                <a:latin typeface="Times New Roman" panose="02020603050405020304" pitchFamily="18" charset="0"/>
                <a:ea typeface="宋体" panose="02010600030101010101" pitchFamily="2" charset="-122"/>
              </a:rPr>
              <a:t>C(5, 4) </a:t>
            </a:r>
          </a:p>
        </p:txBody>
      </p:sp>
      <p:sp>
        <p:nvSpPr>
          <p:cNvPr id="53253" name="矩形 1">
            <a:extLst>
              <a:ext uri="{FF2B5EF4-FFF2-40B4-BE49-F238E27FC236}">
                <a16:creationId xmlns:a16="http://schemas.microsoft.com/office/drawing/2014/main" id="{0C6CF106-28D5-49AD-95F4-3DFD531296E1}"/>
              </a:ext>
            </a:extLst>
          </p:cNvPr>
          <p:cNvSpPr>
            <a:spLocks noChangeArrowheads="1"/>
          </p:cNvSpPr>
          <p:nvPr/>
        </p:nvSpPr>
        <p:spPr bwMode="auto">
          <a:xfrm>
            <a:off x="4038600" y="85320"/>
            <a:ext cx="307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zh-CN" altLang="en-US" sz="2800">
                <a:solidFill>
                  <a:schemeClr val="bg1"/>
                </a:solidFill>
                <a:latin typeface="微软雅黑" panose="020B0503020204020204" pitchFamily="34" charset="-122"/>
                <a:ea typeface="微软雅黑" panose="020B0503020204020204" pitchFamily="34" charset="-122"/>
              </a:rPr>
              <a:t>简单奇偶校验编码</a:t>
            </a:r>
          </a:p>
        </p:txBody>
      </p:sp>
      <p:sp>
        <p:nvSpPr>
          <p:cNvPr id="53254" name="矩形 2">
            <a:extLst>
              <a:ext uri="{FF2B5EF4-FFF2-40B4-BE49-F238E27FC236}">
                <a16:creationId xmlns:a16="http://schemas.microsoft.com/office/drawing/2014/main" id="{D104B361-02AA-4168-B262-8F4041F23879}"/>
              </a:ext>
            </a:extLst>
          </p:cNvPr>
          <p:cNvSpPr>
            <a:spLocks noChangeArrowheads="1"/>
          </p:cNvSpPr>
          <p:nvPr/>
        </p:nvSpPr>
        <p:spPr bwMode="auto">
          <a:xfrm>
            <a:off x="1225366" y="841922"/>
            <a:ext cx="9906000" cy="166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200000"/>
              </a:lnSpc>
            </a:pPr>
            <a:r>
              <a:rPr lang="zh-CN" altLang="en-US" sz="1800" b="0" dirty="0">
                <a:latin typeface="微软雅黑" panose="020B0503020204020204" pitchFamily="34" charset="-122"/>
                <a:ea typeface="微软雅黑" panose="020B0503020204020204" pitchFamily="34" charset="-122"/>
              </a:rPr>
              <a:t>奇偶校验（</a:t>
            </a:r>
            <a:r>
              <a:rPr lang="en-US" altLang="zh-CN" sz="1800" b="0" dirty="0">
                <a:latin typeface="微软雅黑" panose="020B0503020204020204" pitchFamily="34" charset="-122"/>
                <a:ea typeface="微软雅黑" panose="020B0503020204020204" pitchFamily="34" charset="-122"/>
              </a:rPr>
              <a:t>Parity Check</a:t>
            </a:r>
            <a:r>
              <a:rPr lang="zh-CN" altLang="en-US" sz="1800" b="0" dirty="0">
                <a:latin typeface="微软雅黑" panose="020B0503020204020204" pitchFamily="34" charset="-122"/>
                <a:ea typeface="微软雅黑" panose="020B0503020204020204" pitchFamily="34" charset="-122"/>
              </a:rPr>
              <a:t>）根据被传输的一组二进制代码数位中“</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的个数是奇数或偶数来进行校验，使用奇偶校验位使这组代码中“</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的个数为奇数或偶数。简单奇偶校验码</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是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k</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+ 1</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rPr>
              <a:t>且</a:t>
            </a:r>
            <a:r>
              <a:rPr lang="en-US" altLang="zh-CN" sz="1800" dirty="0">
                <a:latin typeface="Times New Roman" panose="02020603050405020304" pitchFamily="18" charset="0"/>
                <a:ea typeface="宋体" panose="02010600030101010101" pitchFamily="2" charset="-122"/>
              </a:rPr>
              <a:t> </a:t>
            </a:r>
            <a:r>
              <a:rPr lang="en-US" altLang="zh-CN" sz="1800" i="1" dirty="0" err="1">
                <a:latin typeface="Times New Roman" panose="02020603050405020304" pitchFamily="18" charset="0"/>
                <a:ea typeface="宋体" panose="02010600030101010101" pitchFamily="2" charset="-122"/>
              </a:rPr>
              <a:t>d</a:t>
            </a:r>
            <a:r>
              <a:rPr lang="en-US" altLang="zh-CN" sz="1800" baseline="-18000" dirty="0" err="1">
                <a:latin typeface="Times New Roman" panose="02020603050405020304" pitchFamily="18" charset="0"/>
                <a:ea typeface="宋体" panose="02010600030101010101" pitchFamily="2" charset="-122"/>
              </a:rPr>
              <a:t>min</a:t>
            </a:r>
            <a:r>
              <a:rPr lang="en-US" altLang="zh-CN" sz="1800" dirty="0">
                <a:latin typeface="Times New Roman" panose="02020603050405020304" pitchFamily="18" charset="0"/>
                <a:ea typeface="宋体" panose="02010600030101010101" pitchFamily="2" charset="-122"/>
              </a:rPr>
              <a:t> = 2 </a:t>
            </a:r>
            <a:r>
              <a:rPr lang="zh-CN" altLang="en-US" sz="1800" b="0" dirty="0">
                <a:latin typeface="微软雅黑" panose="020B0503020204020204" pitchFamily="34" charset="-122"/>
                <a:ea typeface="微软雅黑" panose="020B0503020204020204" pitchFamily="34" charset="-122"/>
              </a:rPr>
              <a:t>的单比特</a:t>
            </a:r>
            <a:r>
              <a:rPr lang="zh-CN" altLang="en-US" sz="1800" dirty="0">
                <a:solidFill>
                  <a:srgbClr val="FF0000"/>
                </a:solidFill>
                <a:latin typeface="微软雅黑" panose="020B0503020204020204" pitchFamily="34" charset="-122"/>
                <a:ea typeface="微软雅黑" panose="020B0503020204020204" pitchFamily="34" charset="-122"/>
              </a:rPr>
              <a:t>检错</a:t>
            </a:r>
            <a:r>
              <a:rPr lang="zh-CN" altLang="en-US" sz="1800" b="0" dirty="0">
                <a:latin typeface="微软雅黑" panose="020B0503020204020204" pitchFamily="34" charset="-122"/>
                <a:ea typeface="微软雅黑" panose="020B0503020204020204" pitchFamily="34" charset="-122"/>
              </a:rPr>
              <a:t>编码。</a:t>
            </a:r>
            <a:endParaRPr lang="en-US" altLang="zh-CN" sz="1800" b="0" dirty="0">
              <a:latin typeface="微软雅黑" panose="020B0503020204020204" pitchFamily="34" charset="-122"/>
              <a:ea typeface="微软雅黑" panose="020B0503020204020204" pitchFamily="34" charset="-122"/>
            </a:endParaRPr>
          </a:p>
        </p:txBody>
      </p:sp>
      <p:graphicFrame>
        <p:nvGraphicFramePr>
          <p:cNvPr id="7" name="表格 6">
            <a:extLst>
              <a:ext uri="{FF2B5EF4-FFF2-40B4-BE49-F238E27FC236}">
                <a16:creationId xmlns:a16="http://schemas.microsoft.com/office/drawing/2014/main" id="{C6E08622-ED74-4346-A4E5-17F996E5D324}"/>
              </a:ext>
            </a:extLst>
          </p:cNvPr>
          <p:cNvGraphicFramePr>
            <a:graphicFrameLocks noGrp="1"/>
          </p:cNvGraphicFramePr>
          <p:nvPr>
            <p:extLst>
              <p:ext uri="{D42A27DB-BD31-4B8C-83A1-F6EECF244321}">
                <p14:modId xmlns:p14="http://schemas.microsoft.com/office/powerpoint/2010/main" val="4287462766"/>
              </p:ext>
            </p:extLst>
          </p:nvPr>
        </p:nvGraphicFramePr>
        <p:xfrm>
          <a:off x="1359268" y="3124201"/>
          <a:ext cx="6565532" cy="3007257"/>
        </p:xfrm>
        <a:graphic>
          <a:graphicData uri="http://schemas.openxmlformats.org/drawingml/2006/table">
            <a:tbl>
              <a:tblPr firstRow="1" bandRow="1">
                <a:tableStyleId>{5C22544A-7EE6-4342-B048-85BDC9FD1C3A}</a:tableStyleId>
              </a:tblPr>
              <a:tblGrid>
                <a:gridCol w="1536332">
                  <a:extLst>
                    <a:ext uri="{9D8B030D-6E8A-4147-A177-3AD203B41FA5}">
                      <a16:colId xmlns:a16="http://schemas.microsoft.com/office/drawing/2014/main" val="2816645437"/>
                    </a:ext>
                  </a:extLst>
                </a:gridCol>
                <a:gridCol w="1793427">
                  <a:extLst>
                    <a:ext uri="{9D8B030D-6E8A-4147-A177-3AD203B41FA5}">
                      <a16:colId xmlns:a16="http://schemas.microsoft.com/office/drawing/2014/main" val="3050610508"/>
                    </a:ext>
                  </a:extLst>
                </a:gridCol>
                <a:gridCol w="1520276">
                  <a:extLst>
                    <a:ext uri="{9D8B030D-6E8A-4147-A177-3AD203B41FA5}">
                      <a16:colId xmlns:a16="http://schemas.microsoft.com/office/drawing/2014/main" val="402911360"/>
                    </a:ext>
                  </a:extLst>
                </a:gridCol>
                <a:gridCol w="1715497">
                  <a:extLst>
                    <a:ext uri="{9D8B030D-6E8A-4147-A177-3AD203B41FA5}">
                      <a16:colId xmlns:a16="http://schemas.microsoft.com/office/drawing/2014/main" val="3722482391"/>
                    </a:ext>
                  </a:extLst>
                </a:gridCol>
              </a:tblGrid>
              <a:tr h="325017">
                <a:tc>
                  <a:txBody>
                    <a:bodyPr/>
                    <a:lstStyle/>
                    <a:p>
                      <a:pPr algn="ctr"/>
                      <a:r>
                        <a:rPr lang="en-US" altLang="zh-CN" sz="1500" b="1" dirty="0" err="1">
                          <a:solidFill>
                            <a:schemeClr val="tx1"/>
                          </a:solidFill>
                          <a:latin typeface="微软雅黑" panose="020B0503020204020204" pitchFamily="34" charset="-122"/>
                          <a:ea typeface="微软雅黑" panose="020B0503020204020204" pitchFamily="34" charset="-122"/>
                        </a:rPr>
                        <a:t>Datawords</a:t>
                      </a:r>
                      <a:endParaRPr lang="zh-CN" altLang="en-US" sz="1500" b="1" dirty="0">
                        <a:solidFill>
                          <a:schemeClr val="tx1"/>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algn="ctr"/>
                      <a:r>
                        <a:rPr lang="en-US" altLang="zh-CN" sz="1500" b="1" dirty="0">
                          <a:solidFill>
                            <a:srgbClr val="F466BA"/>
                          </a:solidFill>
                          <a:latin typeface="微软雅黑" panose="020B0503020204020204" pitchFamily="34" charset="-122"/>
                          <a:ea typeface="微软雅黑" panose="020B0503020204020204" pitchFamily="34" charset="-122"/>
                        </a:rPr>
                        <a:t>Codewords</a:t>
                      </a:r>
                      <a:endParaRPr lang="zh-CN" altLang="en-US" sz="1500" b="1" dirty="0">
                        <a:solidFill>
                          <a:srgbClr val="F466BA"/>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b="1" dirty="0" err="1">
                          <a:solidFill>
                            <a:schemeClr val="tx1"/>
                          </a:solidFill>
                          <a:latin typeface="微软雅黑" panose="020B0503020204020204" pitchFamily="34" charset="-122"/>
                          <a:ea typeface="微软雅黑" panose="020B0503020204020204" pitchFamily="34" charset="-122"/>
                        </a:rPr>
                        <a:t>Datawords</a:t>
                      </a:r>
                      <a:endParaRPr lang="zh-CN" altLang="en-US" sz="1500" b="1" dirty="0">
                        <a:solidFill>
                          <a:schemeClr val="tx1"/>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b="1" dirty="0">
                          <a:solidFill>
                            <a:srgbClr val="F466BA"/>
                          </a:solidFill>
                          <a:latin typeface="微软雅黑" panose="020B0503020204020204" pitchFamily="34" charset="-122"/>
                          <a:ea typeface="微软雅黑" panose="020B0503020204020204" pitchFamily="34" charset="-122"/>
                        </a:rPr>
                        <a:t>Codewords</a:t>
                      </a:r>
                      <a:endParaRPr lang="zh-CN" altLang="en-US" sz="1500" b="1" dirty="0">
                        <a:solidFill>
                          <a:srgbClr val="F466BA"/>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extLst>
                  <a:ext uri="{0D108BD9-81ED-4DB2-BD59-A6C34878D82A}">
                    <a16:rowId xmlns:a16="http://schemas.microsoft.com/office/drawing/2014/main" val="3089020720"/>
                  </a:ext>
                </a:extLst>
              </a:tr>
              <a:tr h="325017">
                <a:tc>
                  <a:txBody>
                    <a:bodyPr/>
                    <a:lstStyle/>
                    <a:p>
                      <a:pPr algn="ctr"/>
                      <a:r>
                        <a:rPr lang="en-US" altLang="zh-CN" sz="1600" dirty="0"/>
                        <a:t>0000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00000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600" kern="1200" dirty="0">
                          <a:solidFill>
                            <a:schemeClr val="dk1"/>
                          </a:solidFill>
                          <a:latin typeface="+mn-lt"/>
                          <a:ea typeface="+mn-ea"/>
                          <a:cs typeface="+mn-cs"/>
                        </a:rPr>
                        <a:t>1000</a:t>
                      </a:r>
                      <a:endParaRPr lang="zh-CN" altLang="en-US" sz="1600" kern="1200" dirty="0">
                        <a:solidFill>
                          <a:schemeClr val="dk1"/>
                        </a:solidFill>
                        <a:latin typeface="+mn-lt"/>
                        <a:ea typeface="+mn-ea"/>
                        <a:cs typeface="+mn-cs"/>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10001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027944455"/>
                  </a:ext>
                </a:extLst>
              </a:tr>
              <a:tr h="325017">
                <a:tc>
                  <a:txBody>
                    <a:bodyPr/>
                    <a:lstStyle/>
                    <a:p>
                      <a:pPr algn="ctr"/>
                      <a:r>
                        <a:rPr lang="en-US" altLang="zh-CN" sz="1600" dirty="0"/>
                        <a:t>0001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00011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600" kern="1200" dirty="0">
                          <a:solidFill>
                            <a:schemeClr val="dk1"/>
                          </a:solidFill>
                          <a:latin typeface="+mn-lt"/>
                          <a:ea typeface="+mn-ea"/>
                          <a:cs typeface="+mn-cs"/>
                        </a:rPr>
                        <a:t>1001</a:t>
                      </a:r>
                      <a:endParaRPr lang="zh-CN" altLang="en-US" sz="1600" kern="1200" dirty="0">
                        <a:solidFill>
                          <a:schemeClr val="dk1"/>
                        </a:solidFill>
                        <a:latin typeface="+mn-lt"/>
                        <a:ea typeface="+mn-ea"/>
                        <a:cs typeface="+mn-cs"/>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10010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228138147"/>
                  </a:ext>
                </a:extLst>
              </a:tr>
              <a:tr h="325017">
                <a:tc>
                  <a:txBody>
                    <a:bodyPr/>
                    <a:lstStyle/>
                    <a:p>
                      <a:pPr algn="ctr"/>
                      <a:r>
                        <a:rPr lang="en-US" altLang="zh-CN" sz="1600" dirty="0"/>
                        <a:t>0010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00101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600" kern="1200" dirty="0">
                          <a:solidFill>
                            <a:schemeClr val="dk1"/>
                          </a:solidFill>
                          <a:latin typeface="+mn-lt"/>
                          <a:ea typeface="+mn-ea"/>
                          <a:cs typeface="+mn-cs"/>
                        </a:rPr>
                        <a:t>1010</a:t>
                      </a:r>
                      <a:endParaRPr lang="zh-CN" altLang="en-US" sz="1600" kern="1200" dirty="0">
                        <a:solidFill>
                          <a:schemeClr val="dk1"/>
                        </a:solidFill>
                        <a:latin typeface="+mn-lt"/>
                        <a:ea typeface="+mn-ea"/>
                        <a:cs typeface="+mn-cs"/>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10100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304120545"/>
                  </a:ext>
                </a:extLst>
              </a:tr>
              <a:tr h="325017">
                <a:tc>
                  <a:txBody>
                    <a:bodyPr/>
                    <a:lstStyle/>
                    <a:p>
                      <a:pPr algn="ctr"/>
                      <a:r>
                        <a:rPr lang="en-US" altLang="zh-CN" sz="1600" dirty="0"/>
                        <a:t>0011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00110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600" kern="1200" dirty="0">
                          <a:solidFill>
                            <a:schemeClr val="dk1"/>
                          </a:solidFill>
                          <a:latin typeface="+mn-lt"/>
                          <a:ea typeface="+mn-ea"/>
                          <a:cs typeface="+mn-cs"/>
                        </a:rPr>
                        <a:t>1011</a:t>
                      </a:r>
                      <a:endParaRPr lang="zh-CN" altLang="en-US" sz="1600" kern="1200" dirty="0">
                        <a:solidFill>
                          <a:schemeClr val="dk1"/>
                        </a:solidFill>
                        <a:latin typeface="+mn-lt"/>
                        <a:ea typeface="+mn-ea"/>
                        <a:cs typeface="+mn-cs"/>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10111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2677880975"/>
                  </a:ext>
                </a:extLst>
              </a:tr>
              <a:tr h="325017">
                <a:tc>
                  <a:txBody>
                    <a:bodyPr/>
                    <a:lstStyle/>
                    <a:p>
                      <a:pPr algn="ctr"/>
                      <a:r>
                        <a:rPr lang="en-US" altLang="zh-CN" sz="1600" dirty="0"/>
                        <a:t>0100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01001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600" kern="1200" dirty="0">
                          <a:solidFill>
                            <a:schemeClr val="dk1"/>
                          </a:solidFill>
                          <a:latin typeface="+mn-lt"/>
                          <a:ea typeface="+mn-ea"/>
                          <a:cs typeface="+mn-cs"/>
                        </a:rPr>
                        <a:t>1100</a:t>
                      </a:r>
                      <a:endParaRPr lang="zh-CN" altLang="en-US" sz="1600" kern="1200" dirty="0">
                        <a:solidFill>
                          <a:schemeClr val="dk1"/>
                        </a:solidFill>
                        <a:latin typeface="+mn-lt"/>
                        <a:ea typeface="+mn-ea"/>
                        <a:cs typeface="+mn-cs"/>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11000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3468119837"/>
                  </a:ext>
                </a:extLst>
              </a:tr>
              <a:tr h="325017">
                <a:tc>
                  <a:txBody>
                    <a:bodyPr/>
                    <a:lstStyle/>
                    <a:p>
                      <a:pPr algn="ctr"/>
                      <a:r>
                        <a:rPr lang="en-US" altLang="zh-CN" sz="1600" dirty="0"/>
                        <a:t>0101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01010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600" kern="1200" dirty="0">
                          <a:solidFill>
                            <a:schemeClr val="dk1"/>
                          </a:solidFill>
                          <a:latin typeface="+mn-lt"/>
                          <a:ea typeface="+mn-ea"/>
                          <a:cs typeface="+mn-cs"/>
                        </a:rPr>
                        <a:t>1101</a:t>
                      </a:r>
                      <a:endParaRPr lang="zh-CN" altLang="en-US" sz="1600" kern="1200" dirty="0">
                        <a:solidFill>
                          <a:schemeClr val="dk1"/>
                        </a:solidFill>
                        <a:latin typeface="+mn-lt"/>
                        <a:ea typeface="+mn-ea"/>
                        <a:cs typeface="+mn-cs"/>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11011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106080014"/>
                  </a:ext>
                </a:extLst>
              </a:tr>
              <a:tr h="325017">
                <a:tc>
                  <a:txBody>
                    <a:bodyPr/>
                    <a:lstStyle/>
                    <a:p>
                      <a:pPr algn="ctr"/>
                      <a:r>
                        <a:rPr lang="en-US" altLang="zh-CN" sz="1600" dirty="0"/>
                        <a:t>0110</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01100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600" kern="1200" dirty="0">
                          <a:solidFill>
                            <a:schemeClr val="dk1"/>
                          </a:solidFill>
                          <a:latin typeface="+mn-lt"/>
                          <a:ea typeface="+mn-ea"/>
                          <a:cs typeface="+mn-cs"/>
                        </a:rPr>
                        <a:t>1110</a:t>
                      </a:r>
                      <a:endParaRPr lang="zh-CN" altLang="en-US" sz="1600" kern="1200" dirty="0">
                        <a:solidFill>
                          <a:schemeClr val="dk1"/>
                        </a:solidFill>
                        <a:latin typeface="+mn-lt"/>
                        <a:ea typeface="+mn-ea"/>
                        <a:cs typeface="+mn-cs"/>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11101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3540724463"/>
                  </a:ext>
                </a:extLst>
              </a:tr>
              <a:tr h="325017">
                <a:tc>
                  <a:txBody>
                    <a:bodyPr/>
                    <a:lstStyle/>
                    <a:p>
                      <a:pPr algn="ctr"/>
                      <a:r>
                        <a:rPr lang="en-US" altLang="zh-CN" sz="1600" dirty="0"/>
                        <a:t>0111</a:t>
                      </a:r>
                      <a:endParaRPr lang="zh-CN" altLang="en-US" sz="1600" dirty="0"/>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01111</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600" kern="1200" dirty="0">
                          <a:solidFill>
                            <a:schemeClr val="dk1"/>
                          </a:solidFill>
                          <a:latin typeface="+mn-lt"/>
                          <a:ea typeface="+mn-ea"/>
                          <a:cs typeface="+mn-cs"/>
                        </a:rPr>
                        <a:t>1111</a:t>
                      </a:r>
                      <a:endParaRPr lang="zh-CN" altLang="en-US" sz="1600" kern="1200" dirty="0">
                        <a:solidFill>
                          <a:schemeClr val="dk1"/>
                        </a:solidFill>
                        <a:latin typeface="+mn-lt"/>
                        <a:ea typeface="+mn-ea"/>
                        <a:cs typeface="+mn-cs"/>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rgbClr val="F466BA"/>
                          </a:solidFill>
                        </a:rPr>
                        <a:t>11110</a:t>
                      </a:r>
                      <a:endParaRPr lang="zh-CN" altLang="en-US" sz="1600" dirty="0">
                        <a:solidFill>
                          <a:srgbClr val="F466BA"/>
                        </a:solidFill>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3346678155"/>
                  </a:ext>
                </a:extLst>
              </a:tr>
            </a:tbl>
          </a:graphicData>
        </a:graphic>
      </p:graphicFrame>
      <p:sp>
        <p:nvSpPr>
          <p:cNvPr id="2" name="文本框 1">
            <a:extLst>
              <a:ext uri="{FF2B5EF4-FFF2-40B4-BE49-F238E27FC236}">
                <a16:creationId xmlns:a16="http://schemas.microsoft.com/office/drawing/2014/main" id="{653761D5-BC4C-441E-8423-6F5AA652AD0C}"/>
              </a:ext>
            </a:extLst>
          </p:cNvPr>
          <p:cNvSpPr txBox="1"/>
          <p:nvPr/>
        </p:nvSpPr>
        <p:spPr>
          <a:xfrm>
            <a:off x="8077200" y="3657600"/>
            <a:ext cx="3505200" cy="1230593"/>
          </a:xfrm>
          <a:prstGeom prst="rect">
            <a:avLst/>
          </a:prstGeom>
          <a:noFill/>
        </p:spPr>
        <p:txBody>
          <a:bodyPr wrap="square" rtlCol="0">
            <a:spAutoFit/>
          </a:bodyPr>
          <a:lstStyle/>
          <a:p>
            <a:pPr marL="715963" indent="-715963">
              <a:lnSpc>
                <a:spcPct val="200000"/>
              </a:lnSpc>
            </a:pPr>
            <a:r>
              <a:rPr lang="zh-CN" altLang="en-US" sz="2000" dirty="0">
                <a:latin typeface="微软雅黑" panose="020B0503020204020204" pitchFamily="34" charset="-122"/>
                <a:ea typeface="微软雅黑" panose="020B0503020204020204" pitchFamily="34" charset="-122"/>
              </a:rPr>
              <a:t>思考：如果让你编程，如何生成奇偶校验的校验位？</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Text Box 4">
            <a:extLst>
              <a:ext uri="{FF2B5EF4-FFF2-40B4-BE49-F238E27FC236}">
                <a16:creationId xmlns:a16="http://schemas.microsoft.com/office/drawing/2014/main" id="{03C74F91-035C-4285-9415-656EBBF0FB65}"/>
              </a:ext>
            </a:extLst>
          </p:cNvPr>
          <p:cNvSpPr txBox="1">
            <a:spLocks noChangeArrowheads="1"/>
          </p:cNvSpPr>
          <p:nvPr/>
        </p:nvSpPr>
        <p:spPr bwMode="auto">
          <a:xfrm>
            <a:off x="3429001" y="5911850"/>
            <a:ext cx="55657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a:solidFill>
                  <a:schemeClr val="folHlink"/>
                </a:solidFill>
                <a:latin typeface="Times New Roman" panose="02020603050405020304" pitchFamily="18" charset="0"/>
                <a:ea typeface="宋体" panose="02010600030101010101" pitchFamily="2" charset="-122"/>
              </a:rPr>
              <a:t>Figure 10.10</a:t>
            </a:r>
            <a:r>
              <a:rPr lang="zh-CN" altLang="en-US" sz="1600" i="1">
                <a:latin typeface="Times New Roman" panose="02020603050405020304" pitchFamily="18" charset="0"/>
                <a:ea typeface="宋体" panose="02010600030101010101" pitchFamily="2" charset="-122"/>
              </a:rPr>
              <a:t>  </a:t>
            </a:r>
            <a:r>
              <a:rPr lang="zh-CN" altLang="en-US" sz="1600">
                <a:latin typeface="Times New Roman" panose="02020603050405020304" pitchFamily="18" charset="0"/>
                <a:ea typeface="宋体" panose="02010600030101010101" pitchFamily="2" charset="-122"/>
              </a:rPr>
              <a:t>奇偶校验码的编码器和译码器 （模二加运算）</a:t>
            </a:r>
            <a:endParaRPr lang="en-US" altLang="zh-CN" sz="1600">
              <a:latin typeface="Times New Roman" panose="02020603050405020304" pitchFamily="18" charset="0"/>
              <a:ea typeface="宋体" panose="02010600030101010101" pitchFamily="2" charset="-122"/>
            </a:endParaRPr>
          </a:p>
        </p:txBody>
      </p:sp>
      <p:pic>
        <p:nvPicPr>
          <p:cNvPr id="55300" name="Picture 6">
            <a:extLst>
              <a:ext uri="{FF2B5EF4-FFF2-40B4-BE49-F238E27FC236}">
                <a16:creationId xmlns:a16="http://schemas.microsoft.com/office/drawing/2014/main" id="{95532C63-CF76-473A-A41A-0521315036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7139" y="1371600"/>
            <a:ext cx="719772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8" name="Rectangle 9">
            <a:extLst>
              <a:ext uri="{FF2B5EF4-FFF2-40B4-BE49-F238E27FC236}">
                <a16:creationId xmlns:a16="http://schemas.microsoft.com/office/drawing/2014/main" id="{AAD7EFED-0C3C-4023-94B5-DFBBE5DCEE8F}"/>
              </a:ext>
            </a:extLst>
          </p:cNvPr>
          <p:cNvSpPr>
            <a:spLocks noChangeArrowheads="1"/>
          </p:cNvSpPr>
          <p:nvPr/>
        </p:nvSpPr>
        <p:spPr bwMode="auto">
          <a:xfrm>
            <a:off x="2209800" y="1263253"/>
            <a:ext cx="6848475" cy="3332772"/>
          </a:xfrm>
          <a:prstGeom prst="rect">
            <a:avLst/>
          </a:prstGeom>
          <a:noFill/>
          <a:ln>
            <a:noFill/>
          </a:ln>
          <a:effec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200000"/>
              </a:lnSpc>
              <a:defRPr/>
            </a:pPr>
            <a:r>
              <a:rPr lang="zh-CN" altLang="en-US" sz="1800" dirty="0">
                <a:solidFill>
                  <a:srgbClr val="FF0000"/>
                </a:solidFill>
                <a:latin typeface="微软雅黑" panose="020B0503020204020204" pitchFamily="34" charset="-122"/>
                <a:ea typeface="微软雅黑" panose="020B0503020204020204" pitchFamily="34" charset="-122"/>
              </a:rPr>
              <a:t>例</a:t>
            </a:r>
            <a:r>
              <a:rPr lang="en-US" altLang="zh-CN" sz="1800" dirty="0">
                <a:solidFill>
                  <a:srgbClr val="FF0000"/>
                </a:solidFill>
                <a:latin typeface="微软雅黑" panose="020B0503020204020204" pitchFamily="34" charset="-122"/>
                <a:ea typeface="微软雅黑" panose="020B0503020204020204" pitchFamily="34" charset="-122"/>
              </a:rPr>
              <a:t>10.12  </a:t>
            </a:r>
            <a:r>
              <a:rPr lang="zh-CN" altLang="en-US" sz="1800" b="0" dirty="0">
                <a:latin typeface="微软雅黑" panose="020B0503020204020204" pitchFamily="34" charset="-122"/>
                <a:ea typeface="微软雅黑" panose="020B0503020204020204" pitchFamily="34" charset="-122"/>
              </a:rPr>
              <a:t>假设发送方发送数据字</a:t>
            </a:r>
            <a:r>
              <a:rPr lang="en-US" altLang="zh-CN" sz="1800" b="0" dirty="0">
                <a:latin typeface="微软雅黑" panose="020B0503020204020204" pitchFamily="34" charset="-122"/>
                <a:ea typeface="微软雅黑" panose="020B0503020204020204" pitchFamily="34" charset="-122"/>
              </a:rPr>
              <a:t>1011</a:t>
            </a:r>
            <a:r>
              <a:rPr lang="zh-CN" altLang="en-US" sz="1800" b="0" dirty="0">
                <a:latin typeface="微软雅黑" panose="020B0503020204020204" pitchFamily="34" charset="-122"/>
                <a:ea typeface="微软雅黑" panose="020B0503020204020204" pitchFamily="34" charset="-122"/>
              </a:rPr>
              <a:t>，生成码字 </a:t>
            </a:r>
            <a:r>
              <a:rPr lang="en-US" altLang="zh-CN" sz="1800" b="0" dirty="0">
                <a:latin typeface="微软雅黑" panose="020B0503020204020204" pitchFamily="34" charset="-122"/>
                <a:ea typeface="微软雅黑" panose="020B0503020204020204" pitchFamily="34" charset="-122"/>
              </a:rPr>
              <a:t>10111</a:t>
            </a:r>
            <a:r>
              <a:rPr lang="zh-CN" altLang="en-US" sz="1800" b="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marL="446088" indent="-352425">
              <a:lnSpc>
                <a:spcPct val="200000"/>
              </a:lnSpc>
              <a:buClr>
                <a:srgbClr val="FF0000"/>
              </a:buClr>
              <a:buSzPct val="80000"/>
              <a:buFont typeface="Wingdings" panose="05000000000000000000" pitchFamily="2" charset="2"/>
              <a:buChar char="u"/>
              <a:defRPr/>
            </a:pPr>
            <a:r>
              <a:rPr lang="zh-CN" altLang="en-US" sz="1800" b="0" dirty="0">
                <a:latin typeface="微软雅黑" panose="020B0503020204020204" pitchFamily="34" charset="-122"/>
                <a:ea typeface="微软雅黑" panose="020B0503020204020204" pitchFamily="34" charset="-122"/>
              </a:rPr>
              <a:t>没有差错 </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正确生成数据字</a:t>
            </a:r>
            <a:endParaRPr lang="en-US" altLang="zh-CN" sz="1800" b="0" dirty="0">
              <a:latin typeface="微软雅黑" panose="020B0503020204020204" pitchFamily="34" charset="-122"/>
              <a:ea typeface="微软雅黑" panose="020B0503020204020204" pitchFamily="34" charset="-122"/>
            </a:endParaRPr>
          </a:p>
          <a:p>
            <a:pPr marL="446088" indent="-352425">
              <a:lnSpc>
                <a:spcPct val="200000"/>
              </a:lnSpc>
              <a:buClr>
                <a:srgbClr val="FF0000"/>
              </a:buClr>
              <a:buSzPct val="80000"/>
              <a:buFont typeface="Wingdings" panose="05000000000000000000" pitchFamily="2" charset="2"/>
              <a:buChar char="u"/>
              <a:defRPr/>
            </a:pPr>
            <a:r>
              <a:rPr lang="zh-CN" altLang="en-US" sz="1800" b="0" dirty="0">
                <a:latin typeface="微软雅黑" panose="020B0503020204020204" pitchFamily="34" charset="-122"/>
                <a:ea typeface="微软雅黑" panose="020B0503020204020204" pitchFamily="34" charset="-122"/>
              </a:rPr>
              <a:t>单个位差错 </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不生成数据字，发现差错</a:t>
            </a:r>
            <a:endParaRPr lang="en-US" altLang="zh-CN" sz="1800" b="0" dirty="0">
              <a:latin typeface="微软雅黑" panose="020B0503020204020204" pitchFamily="34" charset="-122"/>
              <a:ea typeface="微软雅黑" panose="020B0503020204020204" pitchFamily="34" charset="-122"/>
            </a:endParaRPr>
          </a:p>
          <a:p>
            <a:pPr marL="446088" indent="-352425">
              <a:lnSpc>
                <a:spcPct val="200000"/>
              </a:lnSpc>
              <a:buClr>
                <a:srgbClr val="FF0000"/>
              </a:buClr>
              <a:buSzPct val="80000"/>
              <a:buFont typeface="Wingdings" panose="05000000000000000000" pitchFamily="2" charset="2"/>
              <a:buChar char="u"/>
              <a:defRPr/>
            </a:pPr>
            <a:r>
              <a:rPr lang="zh-CN" altLang="en-US" sz="1800" b="0" dirty="0">
                <a:latin typeface="微软雅黑" panose="020B0503020204020204" pitchFamily="34" charset="-122"/>
                <a:ea typeface="微软雅黑" panose="020B0503020204020204" pitchFamily="34" charset="-122"/>
              </a:rPr>
              <a:t>两个位差错 </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生成错误数据字，未发现差错</a:t>
            </a:r>
            <a:endParaRPr lang="en-US" altLang="zh-CN" sz="1800" b="0" dirty="0">
              <a:latin typeface="微软雅黑" panose="020B0503020204020204" pitchFamily="34" charset="-122"/>
              <a:ea typeface="微软雅黑" panose="020B0503020204020204" pitchFamily="34" charset="-122"/>
            </a:endParaRPr>
          </a:p>
          <a:p>
            <a:pPr marL="446088" indent="-352425">
              <a:lnSpc>
                <a:spcPct val="200000"/>
              </a:lnSpc>
              <a:buClr>
                <a:srgbClr val="FF0000"/>
              </a:buClr>
              <a:buSzPct val="80000"/>
              <a:buFont typeface="Wingdings" panose="05000000000000000000" pitchFamily="2" charset="2"/>
              <a:buChar char="u"/>
              <a:defRPr/>
            </a:pPr>
            <a:r>
              <a:rPr lang="zh-CN" altLang="en-US" sz="1800" b="0" dirty="0">
                <a:latin typeface="微软雅黑" panose="020B0503020204020204" pitchFamily="34" charset="-122"/>
                <a:ea typeface="微软雅黑" panose="020B0503020204020204" pitchFamily="34" charset="-122"/>
              </a:rPr>
              <a:t>三个位差错 </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不生成数据字，发现差错</a:t>
            </a:r>
            <a:endParaRPr lang="en-US" altLang="zh-CN" sz="1800" b="0" dirty="0">
              <a:latin typeface="微软雅黑" panose="020B0503020204020204" pitchFamily="34" charset="-122"/>
              <a:ea typeface="微软雅黑" panose="020B0503020204020204" pitchFamily="34" charset="-122"/>
            </a:endParaRPr>
          </a:p>
          <a:p>
            <a:pPr marL="93663">
              <a:lnSpc>
                <a:spcPct val="200000"/>
              </a:lnSpc>
              <a:buClr>
                <a:srgbClr val="FF0000"/>
              </a:buClr>
              <a:buSzPct val="80000"/>
              <a:defRPr/>
            </a:pPr>
            <a:r>
              <a:rPr lang="en-US" altLang="zh-CN" sz="1800" b="0" dirty="0">
                <a:latin typeface="微软雅黑" panose="020B0503020204020204" pitchFamily="34" charset="-122"/>
                <a:ea typeface="微软雅黑" panose="020B0503020204020204" pitchFamily="34" charset="-122"/>
              </a:rPr>
              <a:t>                                              …….</a:t>
            </a:r>
          </a:p>
        </p:txBody>
      </p:sp>
      <p:grpSp>
        <p:nvGrpSpPr>
          <p:cNvPr id="3" name="组合 2">
            <a:extLst>
              <a:ext uri="{FF2B5EF4-FFF2-40B4-BE49-F238E27FC236}">
                <a16:creationId xmlns:a16="http://schemas.microsoft.com/office/drawing/2014/main" id="{55B94BE1-39F9-41DC-9F03-64C490FF79E1}"/>
              </a:ext>
            </a:extLst>
          </p:cNvPr>
          <p:cNvGrpSpPr/>
          <p:nvPr/>
        </p:nvGrpSpPr>
        <p:grpSpPr>
          <a:xfrm>
            <a:off x="3482182" y="4953000"/>
            <a:ext cx="5479257" cy="685800"/>
            <a:chOff x="1958181" y="4688681"/>
            <a:chExt cx="5479257" cy="685800"/>
          </a:xfrm>
        </p:grpSpPr>
        <p:sp>
          <p:nvSpPr>
            <p:cNvPr id="2" name="矩形: 圆角 1">
              <a:extLst>
                <a:ext uri="{FF2B5EF4-FFF2-40B4-BE49-F238E27FC236}">
                  <a16:creationId xmlns:a16="http://schemas.microsoft.com/office/drawing/2014/main" id="{373F3D55-6F53-4442-BFB4-9F3A63B50887}"/>
                </a:ext>
              </a:extLst>
            </p:cNvPr>
            <p:cNvSpPr/>
            <p:nvPr/>
          </p:nvSpPr>
          <p:spPr bwMode="auto">
            <a:xfrm>
              <a:off x="1958181" y="4688681"/>
              <a:ext cx="5227638" cy="685800"/>
            </a:xfrm>
            <a:prstGeom prst="roundRect">
              <a:avLst/>
            </a:prstGeom>
            <a:solidFill>
              <a:schemeClr val="accent6">
                <a:lumMod val="20000"/>
                <a:lumOff val="80000"/>
              </a:schemeClr>
            </a:solidFill>
            <a:ln w="47625" cap="flat" cmpd="thickThin"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latin typeface="Arial" charset="0"/>
              </a:endParaRPr>
            </a:p>
          </p:txBody>
        </p:sp>
        <p:sp>
          <p:nvSpPr>
            <p:cNvPr id="57348" name="Rectangle 11">
              <a:extLst>
                <a:ext uri="{FF2B5EF4-FFF2-40B4-BE49-F238E27FC236}">
                  <a16:creationId xmlns:a16="http://schemas.microsoft.com/office/drawing/2014/main" id="{67804297-B5FD-4C0D-96AC-7BBD4EC8F11B}"/>
                </a:ext>
              </a:extLst>
            </p:cNvPr>
            <p:cNvSpPr>
              <a:spLocks noChangeArrowheads="1"/>
            </p:cNvSpPr>
            <p:nvPr/>
          </p:nvSpPr>
          <p:spPr bwMode="auto">
            <a:xfrm>
              <a:off x="2209800" y="4800600"/>
              <a:ext cx="52276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zh-CN" altLang="en-US" sz="2400">
                  <a:latin typeface="微软雅黑" panose="020B0503020204020204" pitchFamily="34" charset="-122"/>
                  <a:ea typeface="微软雅黑" panose="020B0503020204020204" pitchFamily="34" charset="-122"/>
                </a:rPr>
                <a:t>简单奇偶校验码能检出奇数个差错</a:t>
              </a:r>
              <a:endParaRPr lang="en-US" altLang="zh-CN" sz="2400">
                <a:latin typeface="微软雅黑" panose="020B0503020204020204" pitchFamily="34" charset="-122"/>
                <a:ea typeface="微软雅黑" panose="020B0503020204020204" pitchFamily="3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Text Box 4">
            <a:extLst>
              <a:ext uri="{FF2B5EF4-FFF2-40B4-BE49-F238E27FC236}">
                <a16:creationId xmlns:a16="http://schemas.microsoft.com/office/drawing/2014/main" id="{E033F98D-1D55-4F92-BCEE-7420021363DA}"/>
              </a:ext>
            </a:extLst>
          </p:cNvPr>
          <p:cNvSpPr txBox="1">
            <a:spLocks noChangeArrowheads="1"/>
          </p:cNvSpPr>
          <p:nvPr/>
        </p:nvSpPr>
        <p:spPr bwMode="auto">
          <a:xfrm>
            <a:off x="4440238" y="5791200"/>
            <a:ext cx="34353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a:solidFill>
                  <a:schemeClr val="folHlink"/>
                </a:solidFill>
                <a:latin typeface="Times New Roman" panose="02020603050405020304" pitchFamily="18" charset="0"/>
                <a:ea typeface="宋体" panose="02010600030101010101" pitchFamily="2" charset="-122"/>
              </a:rPr>
              <a:t>Figure 10.11  </a:t>
            </a:r>
            <a:r>
              <a:rPr lang="zh-CN" altLang="en-US" sz="1600">
                <a:latin typeface="Times New Roman" panose="02020603050405020304" pitchFamily="18" charset="0"/>
                <a:ea typeface="宋体" panose="02010600030101010101" pitchFamily="2" charset="-122"/>
              </a:rPr>
              <a:t>两维奇偶校验编码设计</a:t>
            </a:r>
            <a:endParaRPr lang="en-US" altLang="zh-CN" sz="1600">
              <a:latin typeface="Times New Roman" panose="02020603050405020304" pitchFamily="18" charset="0"/>
              <a:ea typeface="宋体" panose="02010600030101010101" pitchFamily="2" charset="-122"/>
            </a:endParaRPr>
          </a:p>
        </p:txBody>
      </p:sp>
      <p:pic>
        <p:nvPicPr>
          <p:cNvPr id="59396" name="Picture 9">
            <a:extLst>
              <a:ext uri="{FF2B5EF4-FFF2-40B4-BE49-F238E27FC236}">
                <a16:creationId xmlns:a16="http://schemas.microsoft.com/office/drawing/2014/main" id="{AF1538C3-7FA3-43DB-9164-64D20D1BC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3988" y="2535238"/>
            <a:ext cx="4387850" cy="310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7" name="文本框 15">
            <a:extLst>
              <a:ext uri="{FF2B5EF4-FFF2-40B4-BE49-F238E27FC236}">
                <a16:creationId xmlns:a16="http://schemas.microsoft.com/office/drawing/2014/main" id="{DA37A049-C208-4A89-B120-E333663378D8}"/>
              </a:ext>
            </a:extLst>
          </p:cNvPr>
          <p:cNvSpPr txBox="1">
            <a:spLocks noChangeArrowheads="1"/>
          </p:cNvSpPr>
          <p:nvPr/>
        </p:nvSpPr>
        <p:spPr bwMode="auto">
          <a:xfrm>
            <a:off x="4038600" y="76200"/>
            <a:ext cx="30575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zh-CN" altLang="en-US" sz="2800" dirty="0">
                <a:solidFill>
                  <a:schemeClr val="bg1"/>
                </a:solidFill>
                <a:latin typeface="微软雅黑" panose="020B0503020204020204" pitchFamily="34" charset="-122"/>
                <a:ea typeface="微软雅黑" panose="020B0503020204020204" pitchFamily="34" charset="-122"/>
              </a:rPr>
              <a:t>两维奇偶校验编码</a:t>
            </a:r>
          </a:p>
        </p:txBody>
      </p:sp>
      <p:sp>
        <p:nvSpPr>
          <p:cNvPr id="59398" name="文本框 1">
            <a:extLst>
              <a:ext uri="{FF2B5EF4-FFF2-40B4-BE49-F238E27FC236}">
                <a16:creationId xmlns:a16="http://schemas.microsoft.com/office/drawing/2014/main" id="{AD616FEC-F9AF-4F87-B33C-4C3F4D167463}"/>
              </a:ext>
            </a:extLst>
          </p:cNvPr>
          <p:cNvSpPr txBox="1">
            <a:spLocks noChangeArrowheads="1"/>
          </p:cNvSpPr>
          <p:nvPr/>
        </p:nvSpPr>
        <p:spPr bwMode="auto">
          <a:xfrm>
            <a:off x="1433513" y="1008569"/>
            <a:ext cx="9448799" cy="111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200000"/>
              </a:lnSpc>
            </a:pPr>
            <a:r>
              <a:rPr lang="zh-CN" altLang="en-US" sz="1800" b="0" dirty="0">
                <a:latin typeface="微软雅黑" panose="020B0503020204020204" pitchFamily="34" charset="-122"/>
                <a:ea typeface="微软雅黑" panose="020B0503020204020204" pitchFamily="34" charset="-122"/>
              </a:rPr>
              <a:t>普通奇偶校验方式检错能力有限，因而产生了二维奇偶校验。所有比特被划分为 </a:t>
            </a:r>
            <a:r>
              <a:rPr lang="en-US" altLang="zh-CN" sz="1800"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b="0" dirty="0">
                <a:latin typeface="微软雅黑" panose="020B0503020204020204" pitchFamily="34" charset="-122"/>
                <a:ea typeface="微软雅黑" panose="020B0503020204020204" pitchFamily="34" charset="-122"/>
              </a:rPr>
              <a:t>行 </a:t>
            </a:r>
            <a:r>
              <a:rPr lang="en-US" altLang="zh-CN" sz="1800" i="1" dirty="0">
                <a:latin typeface="Times New Roman" panose="02020603050405020304" pitchFamily="18" charset="0"/>
                <a:ea typeface="微软雅黑" panose="020B0503020204020204" pitchFamily="34" charset="-122"/>
              </a:rPr>
              <a:t>j </a:t>
            </a:r>
            <a:r>
              <a:rPr lang="zh-CN" altLang="en-US" sz="1800" b="0" dirty="0">
                <a:latin typeface="微软雅黑" panose="020B0503020204020204" pitchFamily="34" charset="-122"/>
                <a:ea typeface="微软雅黑" panose="020B0503020204020204" pitchFamily="34" charset="-122"/>
              </a:rPr>
              <a:t>列，对每行每列计算奇偶值，产生的 </a:t>
            </a:r>
            <a:r>
              <a:rPr lang="en-US" altLang="zh-CN" sz="1800" i="1" dirty="0" err="1">
                <a:latin typeface="Times New Roman" panose="02020603050405020304" pitchFamily="18" charset="0"/>
                <a:ea typeface="微软雅黑" panose="020B0503020204020204" pitchFamily="34" charset="-122"/>
              </a:rPr>
              <a:t>i</a:t>
            </a:r>
            <a:r>
              <a:rPr lang="en-US" altLang="zh-CN" sz="1800" i="1" dirty="0">
                <a:latin typeface="Times New Roman" panose="02020603050405020304" pitchFamily="18" charset="0"/>
                <a:ea typeface="微软雅黑" panose="020B0503020204020204" pitchFamily="34" charset="-122"/>
              </a:rPr>
              <a:t> + j + </a:t>
            </a:r>
            <a:r>
              <a:rPr lang="en-US" altLang="zh-CN" sz="1800" dirty="0">
                <a:latin typeface="Times New Roman" panose="02020603050405020304" pitchFamily="18" charset="0"/>
                <a:ea typeface="微软雅黑" panose="020B0503020204020204" pitchFamily="34" charset="-122"/>
              </a:rPr>
              <a:t>1</a:t>
            </a:r>
            <a:r>
              <a:rPr lang="en-US" altLang="zh-CN" sz="1800" i="1" dirty="0">
                <a:latin typeface="Times New Roman" panose="02020603050405020304" pitchFamily="18" charset="0"/>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个奇偶比特构成了链路层帧的差错检测比特。</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8">
            <a:extLst>
              <a:ext uri="{FF2B5EF4-FFF2-40B4-BE49-F238E27FC236}">
                <a16:creationId xmlns:a16="http://schemas.microsoft.com/office/drawing/2014/main" id="{102D0B89-4A99-4A0D-9336-912D72003C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301" y="2162176"/>
            <a:ext cx="7477125"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4" name="Text Box 4">
            <a:extLst>
              <a:ext uri="{FF2B5EF4-FFF2-40B4-BE49-F238E27FC236}">
                <a16:creationId xmlns:a16="http://schemas.microsoft.com/office/drawing/2014/main" id="{DA51E8B2-3D24-4CA3-B8A7-F2FE66794EF4}"/>
              </a:ext>
            </a:extLst>
          </p:cNvPr>
          <p:cNvSpPr txBox="1">
            <a:spLocks noChangeArrowheads="1"/>
          </p:cNvSpPr>
          <p:nvPr/>
        </p:nvSpPr>
        <p:spPr bwMode="auto">
          <a:xfrm>
            <a:off x="4953001" y="5219700"/>
            <a:ext cx="25558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a:solidFill>
                  <a:schemeClr val="folHlink"/>
                </a:solidFill>
                <a:latin typeface="Times New Roman" panose="02020603050405020304" pitchFamily="18" charset="0"/>
                <a:ea typeface="宋体" panose="02010600030101010101" pitchFamily="2" charset="-122"/>
              </a:rPr>
              <a:t>Figure 10.11 </a:t>
            </a:r>
            <a:r>
              <a:rPr lang="zh-CN" altLang="en-US" sz="1600">
                <a:latin typeface="Times New Roman" panose="02020603050405020304" pitchFamily="18" charset="0"/>
                <a:ea typeface="宋体" panose="02010600030101010101" pitchFamily="2" charset="-122"/>
              </a:rPr>
              <a:t>两维奇偶校验</a:t>
            </a:r>
            <a:endParaRPr lang="en-US" altLang="zh-CN" sz="1600">
              <a:latin typeface="Times New Roman" panose="02020603050405020304" pitchFamily="18" charset="0"/>
              <a:ea typeface="宋体" panose="02010600030101010101" pitchFamily="2" charset="-122"/>
            </a:endParaRPr>
          </a:p>
        </p:txBody>
      </p:sp>
      <p:sp>
        <p:nvSpPr>
          <p:cNvPr id="9" name="圆角矩形标注 1">
            <a:extLst>
              <a:ext uri="{FF2B5EF4-FFF2-40B4-BE49-F238E27FC236}">
                <a16:creationId xmlns:a16="http://schemas.microsoft.com/office/drawing/2014/main" id="{5DC71962-5562-4FC7-8A9B-08929CBDADF9}"/>
              </a:ext>
            </a:extLst>
          </p:cNvPr>
          <p:cNvSpPr>
            <a:spLocks noChangeArrowheads="1"/>
          </p:cNvSpPr>
          <p:nvPr/>
        </p:nvSpPr>
        <p:spPr bwMode="auto">
          <a:xfrm>
            <a:off x="7891464" y="4859339"/>
            <a:ext cx="992187" cy="338137"/>
          </a:xfrm>
          <a:prstGeom prst="wedgeRoundRectCallout">
            <a:avLst>
              <a:gd name="adj1" fmla="val -62685"/>
              <a:gd name="adj2" fmla="val -130296"/>
              <a:gd name="adj3" fmla="val 16667"/>
            </a:avLst>
          </a:prstGeom>
          <a:solidFill>
            <a:srgbClr val="CCECFF"/>
          </a:solidFill>
          <a:ln w="9525" algn="ctr">
            <a:solidFill>
              <a:srgbClr val="0070C0"/>
            </a:solidFill>
            <a:round/>
            <a:headEnd/>
            <a:tailEnd/>
          </a:ln>
        </p:spPr>
        <p:txBody>
          <a:bodyPr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zh-CN" sz="1800">
                <a:latin typeface="Times New Roman" panose="02020603050405020304" pitchFamily="18" charset="0"/>
                <a:ea typeface="宋体" panose="02010600030101010101" pitchFamily="2" charset="-122"/>
                <a:cs typeface="Times New Roman" panose="02020603050405020304" pitchFamily="18" charset="0"/>
              </a:rPr>
              <a:t>at least</a:t>
            </a:r>
            <a:endParaRPr lang="zh-CN" altLang="en-US" sz="1800" baseline="-2500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3" name="组合 2">
            <a:extLst>
              <a:ext uri="{FF2B5EF4-FFF2-40B4-BE49-F238E27FC236}">
                <a16:creationId xmlns:a16="http://schemas.microsoft.com/office/drawing/2014/main" id="{6091DC15-8AED-4D1E-951B-1281ED13360C}"/>
              </a:ext>
            </a:extLst>
          </p:cNvPr>
          <p:cNvGrpSpPr>
            <a:grpSpLocks/>
          </p:cNvGrpSpPr>
          <p:nvPr/>
        </p:nvGrpSpPr>
        <p:grpSpPr bwMode="auto">
          <a:xfrm>
            <a:off x="7421563" y="2989263"/>
            <a:ext cx="550862" cy="563562"/>
            <a:chOff x="6008867" y="3188676"/>
            <a:chExt cx="550254" cy="562707"/>
          </a:xfrm>
        </p:grpSpPr>
        <p:sp>
          <p:nvSpPr>
            <p:cNvPr id="61447" name="矩形 1">
              <a:extLst>
                <a:ext uri="{FF2B5EF4-FFF2-40B4-BE49-F238E27FC236}">
                  <a16:creationId xmlns:a16="http://schemas.microsoft.com/office/drawing/2014/main" id="{191CE720-E202-4B25-83E6-C439E0940C45}"/>
                </a:ext>
              </a:extLst>
            </p:cNvPr>
            <p:cNvSpPr>
              <a:spLocks noChangeArrowheads="1"/>
            </p:cNvSpPr>
            <p:nvPr/>
          </p:nvSpPr>
          <p:spPr bwMode="auto">
            <a:xfrm>
              <a:off x="6008867" y="3188676"/>
              <a:ext cx="210168" cy="222739"/>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61448" name="矩形 9">
              <a:extLst>
                <a:ext uri="{FF2B5EF4-FFF2-40B4-BE49-F238E27FC236}">
                  <a16:creationId xmlns:a16="http://schemas.microsoft.com/office/drawing/2014/main" id="{1667CE74-172B-43EE-8577-C88056BBFA1F}"/>
                </a:ext>
              </a:extLst>
            </p:cNvPr>
            <p:cNvSpPr>
              <a:spLocks noChangeArrowheads="1"/>
            </p:cNvSpPr>
            <p:nvPr/>
          </p:nvSpPr>
          <p:spPr bwMode="auto">
            <a:xfrm>
              <a:off x="6350498" y="3522784"/>
              <a:ext cx="208623" cy="228599"/>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7">
            <a:extLst>
              <a:ext uri="{FF2B5EF4-FFF2-40B4-BE49-F238E27FC236}">
                <a16:creationId xmlns:a16="http://schemas.microsoft.com/office/drawing/2014/main" id="{8175B601-1684-4B12-9D99-6B8E268E52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3476" y="1143001"/>
            <a:ext cx="7383463" cy="245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2" name="Text Box 4">
            <a:extLst>
              <a:ext uri="{FF2B5EF4-FFF2-40B4-BE49-F238E27FC236}">
                <a16:creationId xmlns:a16="http://schemas.microsoft.com/office/drawing/2014/main" id="{357C5C4E-55E8-4909-8AB0-B7BE6C403100}"/>
              </a:ext>
            </a:extLst>
          </p:cNvPr>
          <p:cNvSpPr txBox="1">
            <a:spLocks noChangeArrowheads="1"/>
          </p:cNvSpPr>
          <p:nvPr/>
        </p:nvSpPr>
        <p:spPr bwMode="auto">
          <a:xfrm>
            <a:off x="4792664" y="3663950"/>
            <a:ext cx="26066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a:solidFill>
                  <a:schemeClr val="folHlink"/>
                </a:solidFill>
                <a:latin typeface="Times New Roman" panose="02020603050405020304" pitchFamily="18" charset="0"/>
                <a:ea typeface="宋体" panose="02010600030101010101" pitchFamily="2" charset="-122"/>
              </a:rPr>
              <a:t>Figure 10.11  </a:t>
            </a:r>
            <a:r>
              <a:rPr lang="zh-CN" altLang="en-US" sz="1600">
                <a:latin typeface="Times New Roman" panose="02020603050405020304" pitchFamily="18" charset="0"/>
                <a:ea typeface="宋体" panose="02010600030101010101" pitchFamily="2" charset="-122"/>
              </a:rPr>
              <a:t>两维奇偶校验</a:t>
            </a:r>
            <a:endParaRPr lang="en-US" altLang="zh-CN" sz="1600">
              <a:latin typeface="Times New Roman" panose="02020603050405020304" pitchFamily="18" charset="0"/>
              <a:ea typeface="宋体" panose="02010600030101010101" pitchFamily="2" charset="-122"/>
            </a:endParaRPr>
          </a:p>
        </p:txBody>
      </p:sp>
      <p:sp>
        <p:nvSpPr>
          <p:cNvPr id="9" name="圆角矩形标注 1">
            <a:extLst>
              <a:ext uri="{FF2B5EF4-FFF2-40B4-BE49-F238E27FC236}">
                <a16:creationId xmlns:a16="http://schemas.microsoft.com/office/drawing/2014/main" id="{3AC30BBE-1AD4-424B-A387-0A0AEA4BDCE2}"/>
              </a:ext>
            </a:extLst>
          </p:cNvPr>
          <p:cNvSpPr>
            <a:spLocks noChangeArrowheads="1"/>
          </p:cNvSpPr>
          <p:nvPr/>
        </p:nvSpPr>
        <p:spPr bwMode="auto">
          <a:xfrm>
            <a:off x="2403475" y="4029075"/>
            <a:ext cx="2895600" cy="458788"/>
          </a:xfrm>
          <a:prstGeom prst="wedgeRoundRectCallout">
            <a:avLst>
              <a:gd name="adj1" fmla="val 1736"/>
              <a:gd name="adj2" fmla="val -143819"/>
              <a:gd name="adj3" fmla="val 16667"/>
            </a:avLst>
          </a:prstGeom>
          <a:solidFill>
            <a:srgbClr val="CCECFF"/>
          </a:solidFill>
          <a:ln w="9525" algn="ctr">
            <a:solidFill>
              <a:srgbClr val="0070C0"/>
            </a:solidFill>
            <a:round/>
            <a:headEnd/>
            <a:tailEnd/>
          </a:ln>
        </p:spPr>
        <p:txBody>
          <a:bodyPr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zh-CN" sz="1800">
                <a:latin typeface="Times New Roman" panose="02020603050405020304" pitchFamily="18" charset="0"/>
                <a:ea typeface="宋体" panose="02010600030101010101" pitchFamily="2" charset="-122"/>
                <a:cs typeface="Times New Roman" panose="02020603050405020304" pitchFamily="18" charset="0"/>
              </a:rPr>
              <a:t>at least affect two parities</a:t>
            </a:r>
            <a:endParaRPr lang="zh-CN" altLang="en-US" sz="180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5" name="组合 4">
            <a:extLst>
              <a:ext uri="{FF2B5EF4-FFF2-40B4-BE49-F238E27FC236}">
                <a16:creationId xmlns:a16="http://schemas.microsoft.com/office/drawing/2014/main" id="{92015FDA-ACAF-448A-B3DD-FDD7D0CFC128}"/>
              </a:ext>
            </a:extLst>
          </p:cNvPr>
          <p:cNvGrpSpPr>
            <a:grpSpLocks/>
          </p:cNvGrpSpPr>
          <p:nvPr/>
        </p:nvGrpSpPr>
        <p:grpSpPr bwMode="auto">
          <a:xfrm>
            <a:off x="3095626" y="1970088"/>
            <a:ext cx="550863" cy="550862"/>
            <a:chOff x="1133320" y="2650390"/>
            <a:chExt cx="550986" cy="552139"/>
          </a:xfrm>
        </p:grpSpPr>
        <p:sp>
          <p:nvSpPr>
            <p:cNvPr id="63502" name="矩形 1">
              <a:extLst>
                <a:ext uri="{FF2B5EF4-FFF2-40B4-BE49-F238E27FC236}">
                  <a16:creationId xmlns:a16="http://schemas.microsoft.com/office/drawing/2014/main" id="{BF4B5435-44D4-4F93-9499-C793689FCD59}"/>
                </a:ext>
              </a:extLst>
            </p:cNvPr>
            <p:cNvSpPr>
              <a:spLocks noChangeArrowheads="1"/>
            </p:cNvSpPr>
            <p:nvPr/>
          </p:nvSpPr>
          <p:spPr bwMode="auto">
            <a:xfrm>
              <a:off x="1145043" y="2650390"/>
              <a:ext cx="211017" cy="223197"/>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63503" name="矩形 10">
              <a:extLst>
                <a:ext uri="{FF2B5EF4-FFF2-40B4-BE49-F238E27FC236}">
                  <a16:creationId xmlns:a16="http://schemas.microsoft.com/office/drawing/2014/main" id="{60450FD2-AB53-4EA1-B78D-FB374D41C541}"/>
                </a:ext>
              </a:extLst>
            </p:cNvPr>
            <p:cNvSpPr>
              <a:spLocks noChangeArrowheads="1"/>
            </p:cNvSpPr>
            <p:nvPr/>
          </p:nvSpPr>
          <p:spPr bwMode="auto">
            <a:xfrm>
              <a:off x="1133320" y="2967579"/>
              <a:ext cx="222739" cy="234950"/>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63504" name="矩形 11">
              <a:extLst>
                <a:ext uri="{FF2B5EF4-FFF2-40B4-BE49-F238E27FC236}">
                  <a16:creationId xmlns:a16="http://schemas.microsoft.com/office/drawing/2014/main" id="{0DEDE077-76E3-4385-AE7D-A51F8E56666B}"/>
                </a:ext>
              </a:extLst>
            </p:cNvPr>
            <p:cNvSpPr>
              <a:spLocks noChangeArrowheads="1"/>
            </p:cNvSpPr>
            <p:nvPr/>
          </p:nvSpPr>
          <p:spPr bwMode="auto">
            <a:xfrm>
              <a:off x="1479152" y="2979327"/>
              <a:ext cx="205154" cy="223201"/>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a:ea typeface="宋体" panose="02010600030101010101" pitchFamily="2" charset="-122"/>
              </a:endParaRPr>
            </a:p>
          </p:txBody>
        </p:sp>
      </p:grpSp>
      <p:grpSp>
        <p:nvGrpSpPr>
          <p:cNvPr id="8" name="组合 7">
            <a:extLst>
              <a:ext uri="{FF2B5EF4-FFF2-40B4-BE49-F238E27FC236}">
                <a16:creationId xmlns:a16="http://schemas.microsoft.com/office/drawing/2014/main" id="{43F8D579-A2B5-4E68-89D0-B8FDAD99E7EA}"/>
              </a:ext>
            </a:extLst>
          </p:cNvPr>
          <p:cNvGrpSpPr>
            <a:grpSpLocks/>
          </p:cNvGrpSpPr>
          <p:nvPr/>
        </p:nvGrpSpPr>
        <p:grpSpPr bwMode="auto">
          <a:xfrm>
            <a:off x="6729414" y="1301751"/>
            <a:ext cx="1171575" cy="1204913"/>
            <a:chOff x="5328870" y="1810093"/>
            <a:chExt cx="1172308" cy="1205066"/>
          </a:xfrm>
        </p:grpSpPr>
        <p:sp>
          <p:nvSpPr>
            <p:cNvPr id="63498" name="矩形 5">
              <a:extLst>
                <a:ext uri="{FF2B5EF4-FFF2-40B4-BE49-F238E27FC236}">
                  <a16:creationId xmlns:a16="http://schemas.microsoft.com/office/drawing/2014/main" id="{C2F8FB07-D501-430E-9E7B-21DC8143686B}"/>
                </a:ext>
              </a:extLst>
            </p:cNvPr>
            <p:cNvSpPr>
              <a:spLocks noChangeArrowheads="1"/>
            </p:cNvSpPr>
            <p:nvPr/>
          </p:nvSpPr>
          <p:spPr bwMode="auto">
            <a:xfrm>
              <a:off x="5328870" y="1810093"/>
              <a:ext cx="195629" cy="208629"/>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63499" name="矩形 6">
              <a:extLst>
                <a:ext uri="{FF2B5EF4-FFF2-40B4-BE49-F238E27FC236}">
                  <a16:creationId xmlns:a16="http://schemas.microsoft.com/office/drawing/2014/main" id="{55DFF2F3-EAC9-46E4-B26E-0E8F9127073D}"/>
                </a:ext>
              </a:extLst>
            </p:cNvPr>
            <p:cNvSpPr>
              <a:spLocks noChangeArrowheads="1"/>
            </p:cNvSpPr>
            <p:nvPr/>
          </p:nvSpPr>
          <p:spPr bwMode="auto">
            <a:xfrm>
              <a:off x="6290163" y="2806885"/>
              <a:ext cx="211015" cy="208274"/>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63500" name="矩形 17">
              <a:extLst>
                <a:ext uri="{FF2B5EF4-FFF2-40B4-BE49-F238E27FC236}">
                  <a16:creationId xmlns:a16="http://schemas.microsoft.com/office/drawing/2014/main" id="{D6904DC3-30C0-4F5E-AF9E-75F5DBA54D18}"/>
                </a:ext>
              </a:extLst>
            </p:cNvPr>
            <p:cNvSpPr>
              <a:spLocks noChangeArrowheads="1"/>
            </p:cNvSpPr>
            <p:nvPr/>
          </p:nvSpPr>
          <p:spPr bwMode="auto">
            <a:xfrm>
              <a:off x="5961916" y="2478529"/>
              <a:ext cx="199293" cy="19935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63501" name="矩形 18">
              <a:extLst>
                <a:ext uri="{FF2B5EF4-FFF2-40B4-BE49-F238E27FC236}">
                  <a16:creationId xmlns:a16="http://schemas.microsoft.com/office/drawing/2014/main" id="{511977CA-FDFE-42F9-B50E-37287532896D}"/>
                </a:ext>
              </a:extLst>
            </p:cNvPr>
            <p:cNvSpPr>
              <a:spLocks noChangeArrowheads="1"/>
            </p:cNvSpPr>
            <p:nvPr/>
          </p:nvSpPr>
          <p:spPr bwMode="auto">
            <a:xfrm>
              <a:off x="5633672" y="2161900"/>
              <a:ext cx="211016" cy="199359"/>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a:ea typeface="宋体" panose="02010600030101010101" pitchFamily="2" charset="-122"/>
              </a:endParaRPr>
            </a:p>
          </p:txBody>
        </p:sp>
      </p:grpSp>
      <p:sp>
        <p:nvSpPr>
          <p:cNvPr id="21" name="圆角矩形标注 1">
            <a:extLst>
              <a:ext uri="{FF2B5EF4-FFF2-40B4-BE49-F238E27FC236}">
                <a16:creationId xmlns:a16="http://schemas.microsoft.com/office/drawing/2014/main" id="{E67E30B5-7E0D-4334-A646-4763F59DD33C}"/>
              </a:ext>
            </a:extLst>
          </p:cNvPr>
          <p:cNvSpPr>
            <a:spLocks noChangeArrowheads="1"/>
          </p:cNvSpPr>
          <p:nvPr/>
        </p:nvSpPr>
        <p:spPr bwMode="auto">
          <a:xfrm>
            <a:off x="6659563" y="4011614"/>
            <a:ext cx="3105150" cy="458787"/>
          </a:xfrm>
          <a:prstGeom prst="wedgeRoundRectCallout">
            <a:avLst>
              <a:gd name="adj1" fmla="val -1907"/>
              <a:gd name="adj2" fmla="val -136153"/>
              <a:gd name="adj3" fmla="val 16667"/>
            </a:avLst>
          </a:prstGeom>
          <a:solidFill>
            <a:srgbClr val="CCECFF"/>
          </a:solidFill>
          <a:ln w="9525" algn="ctr">
            <a:solidFill>
              <a:srgbClr val="0070C0"/>
            </a:solidFill>
            <a:round/>
            <a:headEnd/>
            <a:tailEnd/>
          </a:ln>
        </p:spPr>
        <p:txBody>
          <a:bodyPr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zh-CN" sz="1800">
                <a:latin typeface="Times New Roman" panose="02020603050405020304" pitchFamily="18" charset="0"/>
                <a:ea typeface="宋体" panose="02010600030101010101" pitchFamily="2" charset="-122"/>
                <a:cs typeface="Times New Roman" panose="02020603050405020304" pitchFamily="18" charset="0"/>
              </a:rPr>
              <a:t>sometimes may be detected</a:t>
            </a:r>
            <a:endParaRPr lang="zh-CN" altLang="en-US" sz="18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C6851A5E-9276-4CB2-AFC8-78F1B0AE6278}"/>
              </a:ext>
            </a:extLst>
          </p:cNvPr>
          <p:cNvSpPr>
            <a:spLocks noChangeArrowheads="1"/>
          </p:cNvSpPr>
          <p:nvPr/>
        </p:nvSpPr>
        <p:spPr bwMode="auto">
          <a:xfrm>
            <a:off x="1219200" y="4931011"/>
            <a:ext cx="101346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200000"/>
              </a:lnSpc>
              <a:buClr>
                <a:srgbClr val="FF0000"/>
              </a:buClr>
            </a:pPr>
            <a:r>
              <a:rPr lang="zh-CN" altLang="en-US" sz="1800" dirty="0">
                <a:latin typeface="微软雅黑" panose="020B0503020204020204" pitchFamily="34" charset="-122"/>
                <a:ea typeface="微软雅黑" panose="020B0503020204020204" pitchFamily="34" charset="-122"/>
              </a:rPr>
              <a:t>两维奇偶校验</a:t>
            </a:r>
            <a:r>
              <a:rPr lang="zh-CN" altLang="en-US" sz="1800" dirty="0">
                <a:solidFill>
                  <a:srgbClr val="333333"/>
                </a:solidFill>
                <a:latin typeface="微软雅黑" panose="020B0503020204020204" pitchFamily="34" charset="-122"/>
                <a:ea typeface="微软雅黑" panose="020B0503020204020204" pitchFamily="34" charset="-122"/>
              </a:rPr>
              <a:t>能检测出所有</a:t>
            </a:r>
            <a:r>
              <a:rPr lang="en-US" altLang="zh-CN" sz="1800" dirty="0">
                <a:solidFill>
                  <a:srgbClr val="333333"/>
                </a:solidFill>
                <a:latin typeface="微软雅黑" panose="020B0503020204020204" pitchFamily="34" charset="-122"/>
                <a:ea typeface="微软雅黑" panose="020B0503020204020204" pitchFamily="34" charset="-122"/>
              </a:rPr>
              <a:t>3</a:t>
            </a:r>
            <a:r>
              <a:rPr lang="zh-CN" altLang="en-US" sz="1800" dirty="0">
                <a:solidFill>
                  <a:srgbClr val="333333"/>
                </a:solidFill>
                <a:latin typeface="微软雅黑" panose="020B0503020204020204" pitchFamily="34" charset="-122"/>
                <a:ea typeface="微软雅黑" panose="020B0503020204020204" pitchFamily="34" charset="-122"/>
              </a:rPr>
              <a:t>位或</a:t>
            </a:r>
            <a:r>
              <a:rPr lang="en-US" altLang="zh-CN" sz="1800" dirty="0">
                <a:solidFill>
                  <a:srgbClr val="333333"/>
                </a:solidFill>
                <a:latin typeface="微软雅黑" panose="020B0503020204020204" pitchFamily="34" charset="-122"/>
                <a:ea typeface="微软雅黑" panose="020B0503020204020204" pitchFamily="34" charset="-122"/>
              </a:rPr>
              <a:t>3</a:t>
            </a:r>
            <a:r>
              <a:rPr lang="zh-CN" altLang="en-US" sz="1800" dirty="0">
                <a:solidFill>
                  <a:srgbClr val="333333"/>
                </a:solidFill>
                <a:latin typeface="微软雅黑" panose="020B0503020204020204" pitchFamily="34" charset="-122"/>
                <a:ea typeface="微软雅黑" panose="020B0503020204020204" pitchFamily="34" charset="-122"/>
              </a:rPr>
              <a:t>位以下的错误（因为此时至少在某一行或某一列上有一位错）、奇数位错以及很大一部分偶数位错。</a:t>
            </a:r>
            <a:endParaRPr lang="en-US" altLang="zh-CN" sz="18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3" presetClass="entr" presetSubtype="16"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ppt_w</p:attrName>
                                        </p:attrNameLst>
                                      </p:cBhvr>
                                      <p:tavLst>
                                        <p:tav tm="0">
                                          <p:val>
                                            <p:fltVal val="0"/>
                                          </p:val>
                                        </p:tav>
                                        <p:tav tm="100000">
                                          <p:val>
                                            <p:strVal val="#ppt_w"/>
                                          </p:val>
                                        </p:tav>
                                      </p:tavLst>
                                    </p:anim>
                                    <p:anim calcmode="lin" valueType="num">
                                      <p:cBhvr>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left)">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1" grpId="0" animBg="1"/>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11">
            <a:extLst>
              <a:ext uri="{FF2B5EF4-FFF2-40B4-BE49-F238E27FC236}">
                <a16:creationId xmlns:a16="http://schemas.microsoft.com/office/drawing/2014/main" id="{AC439B85-2085-42DD-987E-AD35E6062747}"/>
              </a:ext>
            </a:extLst>
          </p:cNvPr>
          <p:cNvSpPr>
            <a:spLocks noChangeArrowheads="1"/>
          </p:cNvSpPr>
          <p:nvPr/>
        </p:nvSpPr>
        <p:spPr bwMode="auto">
          <a:xfrm>
            <a:off x="1257300" y="892109"/>
            <a:ext cx="9677400" cy="1669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200000"/>
              </a:lnSpc>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讨论最小汉明距离为 </a:t>
            </a:r>
            <a:r>
              <a:rPr lang="en-US" altLang="zh-CN" sz="1800" i="1" dirty="0" err="1">
                <a:latin typeface="Times New Roman" panose="02020603050405020304" pitchFamily="18" charset="0"/>
                <a:ea typeface="宋体" panose="02010600030101010101" pitchFamily="2" charset="-122"/>
                <a:cs typeface="Times New Roman" panose="02020603050405020304" pitchFamily="18" charset="0"/>
              </a:rPr>
              <a:t>d</a:t>
            </a:r>
            <a:r>
              <a:rPr lang="en-US" altLang="zh-CN" sz="1800" baseline="-25000" dirty="0" err="1">
                <a:latin typeface="Times New Roman" panose="02020603050405020304" pitchFamily="18" charset="0"/>
                <a:ea typeface="宋体" panose="02010600030101010101" pitchFamily="2" charset="-122"/>
                <a:cs typeface="Times New Roman" panose="02020603050405020304" pitchFamily="18" charset="0"/>
              </a:rPr>
              <a:t>min</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3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的汉明码，它最多能检测出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位</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差错和最多纠正</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位差错。选择</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m</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3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的整数，则码字长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数据字长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k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和校验位</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r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的关系为</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200000"/>
              </a:lnSpc>
            </a:pP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 2</a:t>
            </a:r>
            <a:r>
              <a:rPr lang="en-US" altLang="zh-CN" sz="1800" i="1" baseline="30000" dirty="0">
                <a:latin typeface="Times New Roman" panose="02020603050405020304" pitchFamily="18" charset="0"/>
                <a:ea typeface="宋体" panose="02010600030101010101" pitchFamily="2" charset="-122"/>
                <a:cs typeface="Times New Roman" panose="02020603050405020304" pitchFamily="18" charset="0"/>
              </a:rPr>
              <a:t>m</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− 1,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k</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n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m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m</a:t>
            </a:r>
          </a:p>
        </p:txBody>
      </p:sp>
      <p:sp>
        <p:nvSpPr>
          <p:cNvPr id="65540" name="文本框 15">
            <a:extLst>
              <a:ext uri="{FF2B5EF4-FFF2-40B4-BE49-F238E27FC236}">
                <a16:creationId xmlns:a16="http://schemas.microsoft.com/office/drawing/2014/main" id="{C7388269-2C9D-4B3B-8325-233B620BDF60}"/>
              </a:ext>
            </a:extLst>
          </p:cNvPr>
          <p:cNvSpPr txBox="1">
            <a:spLocks noChangeArrowheads="1"/>
          </p:cNvSpPr>
          <p:nvPr/>
        </p:nvSpPr>
        <p:spPr bwMode="auto">
          <a:xfrm>
            <a:off x="3962400" y="93018"/>
            <a:ext cx="236696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zh-CN" altLang="en-US" sz="2800" dirty="0">
                <a:solidFill>
                  <a:schemeClr val="bg1"/>
                </a:solidFill>
                <a:latin typeface="微软雅黑" panose="020B0503020204020204" pitchFamily="34" charset="-122"/>
                <a:ea typeface="微软雅黑" panose="020B0503020204020204" pitchFamily="34" charset="-122"/>
              </a:rPr>
              <a:t>汉明编码</a:t>
            </a:r>
          </a:p>
        </p:txBody>
      </p:sp>
      <p:sp>
        <p:nvSpPr>
          <p:cNvPr id="65541" name="Text Box 2">
            <a:extLst>
              <a:ext uri="{FF2B5EF4-FFF2-40B4-BE49-F238E27FC236}">
                <a16:creationId xmlns:a16="http://schemas.microsoft.com/office/drawing/2014/main" id="{A917CA1A-A212-440F-A9C2-ACF50252C437}"/>
              </a:ext>
            </a:extLst>
          </p:cNvPr>
          <p:cNvSpPr txBox="1">
            <a:spLocks noChangeArrowheads="1"/>
          </p:cNvSpPr>
          <p:nvPr/>
        </p:nvSpPr>
        <p:spPr bwMode="auto">
          <a:xfrm>
            <a:off x="2933700" y="2819400"/>
            <a:ext cx="24447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a:solidFill>
                  <a:schemeClr val="folHlink"/>
                </a:solidFill>
                <a:latin typeface="Times New Roman" panose="02020603050405020304" pitchFamily="18" charset="0"/>
                <a:ea typeface="宋体" panose="02010600030101010101" pitchFamily="2" charset="-122"/>
              </a:rPr>
              <a:t>Table 10.4  </a:t>
            </a:r>
            <a:r>
              <a:rPr lang="zh-CN" altLang="en-US" sz="1600">
                <a:latin typeface="Times New Roman" panose="02020603050405020304" pitchFamily="18" charset="0"/>
                <a:ea typeface="宋体" panose="02010600030101010101" pitchFamily="2" charset="-122"/>
              </a:rPr>
              <a:t>汉明码 </a:t>
            </a:r>
            <a:r>
              <a:rPr lang="en-US" altLang="zh-CN" sz="1600">
                <a:latin typeface="Times New Roman" panose="02020603050405020304" pitchFamily="18" charset="0"/>
                <a:ea typeface="宋体" panose="02010600030101010101" pitchFamily="2" charset="-122"/>
              </a:rPr>
              <a:t>C(7, 4)</a:t>
            </a:r>
          </a:p>
        </p:txBody>
      </p:sp>
      <p:pic>
        <p:nvPicPr>
          <p:cNvPr id="65542" name="Picture 4">
            <a:extLst>
              <a:ext uri="{FF2B5EF4-FFF2-40B4-BE49-F238E27FC236}">
                <a16:creationId xmlns:a16="http://schemas.microsoft.com/office/drawing/2014/main" id="{12363ED9-DE9C-4B71-8797-4C28648193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764"/>
          <a:stretch>
            <a:fillRect/>
          </a:stretch>
        </p:blipFill>
        <p:spPr bwMode="auto">
          <a:xfrm>
            <a:off x="2933700" y="3152776"/>
            <a:ext cx="6324600" cy="305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3" name="矩形 1">
            <a:extLst>
              <a:ext uri="{FF2B5EF4-FFF2-40B4-BE49-F238E27FC236}">
                <a16:creationId xmlns:a16="http://schemas.microsoft.com/office/drawing/2014/main" id="{185475F7-EB78-4F70-BB1C-A510D4BF59CC}"/>
              </a:ext>
            </a:extLst>
          </p:cNvPr>
          <p:cNvSpPr>
            <a:spLocks noChangeArrowheads="1"/>
          </p:cNvSpPr>
          <p:nvPr/>
        </p:nvSpPr>
        <p:spPr bwMode="auto">
          <a:xfrm>
            <a:off x="6477000" y="2805114"/>
            <a:ext cx="32766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m</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 3</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 7</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k</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 4 </a:t>
            </a: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en-US" altLang="zh-CN" sz="1600" i="1"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C</a:t>
            </a: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(7, 4)</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Text Box 4">
            <a:extLst>
              <a:ext uri="{FF2B5EF4-FFF2-40B4-BE49-F238E27FC236}">
                <a16:creationId xmlns:a16="http://schemas.microsoft.com/office/drawing/2014/main" id="{481FF0EE-AD8D-401F-B211-1BB0C6A4ACA7}"/>
              </a:ext>
            </a:extLst>
          </p:cNvPr>
          <p:cNvSpPr txBox="1">
            <a:spLocks noChangeArrowheads="1"/>
          </p:cNvSpPr>
          <p:nvPr/>
        </p:nvSpPr>
        <p:spPr bwMode="auto">
          <a:xfrm>
            <a:off x="2971801" y="5626100"/>
            <a:ext cx="64944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a:solidFill>
                  <a:schemeClr val="folHlink"/>
                </a:solidFill>
                <a:latin typeface="Times New Roman" panose="02020603050405020304" pitchFamily="18" charset="0"/>
                <a:ea typeface="宋体" panose="02010600030101010101" pitchFamily="2" charset="-122"/>
              </a:rPr>
              <a:t>Figure 10.12</a:t>
            </a:r>
            <a:r>
              <a:rPr lang="en-US" altLang="zh-CN" sz="1600" i="1">
                <a:latin typeface="Times New Roman" panose="02020603050405020304" pitchFamily="18" charset="0"/>
                <a:ea typeface="宋体" panose="02010600030101010101" pitchFamily="2" charset="-122"/>
              </a:rPr>
              <a:t>  </a:t>
            </a:r>
            <a:r>
              <a:rPr lang="zh-CN" altLang="en-US" sz="1600">
                <a:latin typeface="Times New Roman" panose="02020603050405020304" pitchFamily="18" charset="0"/>
                <a:ea typeface="宋体" panose="02010600030101010101" pitchFamily="2" charset="-122"/>
              </a:rPr>
              <a:t>汉明码的编码器和解码器的结构 （冗余位也是模</a:t>
            </a:r>
            <a:r>
              <a:rPr lang="en-US" altLang="zh-CN" sz="1600">
                <a:latin typeface="Times New Roman" panose="02020603050405020304" pitchFamily="18" charset="0"/>
                <a:ea typeface="宋体" panose="02010600030101010101" pitchFamily="2" charset="-122"/>
              </a:rPr>
              <a:t>2</a:t>
            </a:r>
            <a:r>
              <a:rPr lang="zh-CN" altLang="en-US" sz="1600">
                <a:latin typeface="Times New Roman" panose="02020603050405020304" pitchFamily="18" charset="0"/>
                <a:ea typeface="宋体" panose="02010600030101010101" pitchFamily="2" charset="-122"/>
              </a:rPr>
              <a:t>运算）</a:t>
            </a:r>
            <a:endParaRPr lang="en-US" altLang="zh-CN" sz="1600">
              <a:latin typeface="Times New Roman" panose="02020603050405020304" pitchFamily="18" charset="0"/>
              <a:ea typeface="宋体" panose="02010600030101010101" pitchFamily="2" charset="-122"/>
            </a:endParaRPr>
          </a:p>
        </p:txBody>
      </p:sp>
      <p:pic>
        <p:nvPicPr>
          <p:cNvPr id="67588" name="Picture 6">
            <a:extLst>
              <a:ext uri="{FF2B5EF4-FFF2-40B4-BE49-F238E27FC236}">
                <a16:creationId xmlns:a16="http://schemas.microsoft.com/office/drawing/2014/main" id="{AE79C5E6-C45A-4A20-8230-689B56CC22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546225"/>
            <a:ext cx="7162800" cy="376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圆角矩形标注 7">
            <a:extLst>
              <a:ext uri="{FF2B5EF4-FFF2-40B4-BE49-F238E27FC236}">
                <a16:creationId xmlns:a16="http://schemas.microsoft.com/office/drawing/2014/main" id="{A327D225-7CE0-4719-94E6-7EC4B81777C3}"/>
              </a:ext>
            </a:extLst>
          </p:cNvPr>
          <p:cNvSpPr>
            <a:spLocks noChangeArrowheads="1"/>
          </p:cNvSpPr>
          <p:nvPr/>
        </p:nvSpPr>
        <p:spPr bwMode="auto">
          <a:xfrm>
            <a:off x="5029200" y="3527425"/>
            <a:ext cx="1608138" cy="971550"/>
          </a:xfrm>
          <a:prstGeom prst="wedgeRoundRectCallout">
            <a:avLst>
              <a:gd name="adj1" fmla="val -92500"/>
              <a:gd name="adj2" fmla="val 73690"/>
              <a:gd name="adj3" fmla="val 16667"/>
            </a:avLst>
          </a:prstGeom>
          <a:solidFill>
            <a:srgbClr val="CCECFF"/>
          </a:solidFill>
          <a:ln w="9525" algn="ctr">
            <a:solidFill>
              <a:schemeClr val="tx1"/>
            </a:solidFill>
            <a:round/>
            <a:headEnd/>
            <a:tailEnd/>
          </a:ln>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zh-CN" sz="1600">
                <a:latin typeface="Times New Roman" panose="02020603050405020304" pitchFamily="18" charset="0"/>
                <a:ea typeface="宋体" panose="02010600030101010101" pitchFamily="2" charset="-122"/>
                <a:cs typeface="Times New Roman" panose="02020603050405020304" pitchFamily="18" charset="0"/>
              </a:rPr>
              <a:t>r</a:t>
            </a:r>
            <a:r>
              <a:rPr lang="en-US" altLang="zh-CN" sz="1600" baseline="-25000">
                <a:latin typeface="Times New Roman" panose="02020603050405020304" pitchFamily="18" charset="0"/>
                <a:ea typeface="宋体" panose="02010600030101010101" pitchFamily="2" charset="-122"/>
                <a:cs typeface="Times New Roman" panose="02020603050405020304" pitchFamily="18" charset="0"/>
              </a:rPr>
              <a:t>0 </a:t>
            </a:r>
            <a:r>
              <a:rPr lang="en-US" altLang="zh-CN" sz="1600">
                <a:latin typeface="Times New Roman" panose="02020603050405020304" pitchFamily="18" charset="0"/>
                <a:ea typeface="宋体" panose="02010600030101010101" pitchFamily="2" charset="-122"/>
                <a:cs typeface="Times New Roman" panose="02020603050405020304" pitchFamily="18" charset="0"/>
              </a:rPr>
              <a:t>= a</a:t>
            </a:r>
            <a:r>
              <a:rPr lang="en-US" altLang="zh-CN" sz="1600" baseline="-25000">
                <a:latin typeface="Times New Roman" panose="02020603050405020304" pitchFamily="18" charset="0"/>
                <a:ea typeface="宋体" panose="02010600030101010101" pitchFamily="2" charset="-122"/>
                <a:cs typeface="Times New Roman" panose="02020603050405020304" pitchFamily="18" charset="0"/>
              </a:rPr>
              <a:t>2</a:t>
            </a:r>
            <a:r>
              <a:rPr lang="en-US" altLang="zh-CN" sz="160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aseline="-25000">
                <a:latin typeface="Times New Roman" panose="02020603050405020304" pitchFamily="18" charset="0"/>
                <a:ea typeface="宋体" panose="02010600030101010101" pitchFamily="2" charset="-122"/>
                <a:cs typeface="Times New Roman" panose="02020603050405020304" pitchFamily="18" charset="0"/>
              </a:rPr>
              <a:t>1</a:t>
            </a:r>
            <a:r>
              <a:rPr lang="en-US" altLang="zh-CN" sz="160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aseline="-25000">
                <a:latin typeface="Times New Roman" panose="02020603050405020304" pitchFamily="18" charset="0"/>
                <a:ea typeface="宋体" panose="02010600030101010101" pitchFamily="2" charset="-122"/>
                <a:cs typeface="Times New Roman" panose="02020603050405020304" pitchFamily="18" charset="0"/>
              </a:rPr>
              <a:t>0</a:t>
            </a:r>
          </a:p>
          <a:p>
            <a:pPr algn="ctr"/>
            <a:r>
              <a:rPr lang="en-US" altLang="zh-CN" sz="1600">
                <a:latin typeface="Times New Roman" panose="02020603050405020304" pitchFamily="18" charset="0"/>
                <a:ea typeface="宋体" panose="02010600030101010101" pitchFamily="2" charset="-122"/>
                <a:cs typeface="Times New Roman" panose="02020603050405020304" pitchFamily="18" charset="0"/>
              </a:rPr>
              <a:t>r</a:t>
            </a:r>
            <a:r>
              <a:rPr lang="en-US" altLang="zh-CN" sz="1600" baseline="-25000">
                <a:latin typeface="Times New Roman" panose="02020603050405020304" pitchFamily="18" charset="0"/>
                <a:ea typeface="宋体" panose="02010600030101010101" pitchFamily="2" charset="-122"/>
                <a:cs typeface="Times New Roman" panose="02020603050405020304" pitchFamily="18" charset="0"/>
              </a:rPr>
              <a:t>1 </a:t>
            </a:r>
            <a:r>
              <a:rPr lang="en-US" altLang="zh-CN" sz="1600">
                <a:latin typeface="Times New Roman" panose="02020603050405020304" pitchFamily="18" charset="0"/>
                <a:ea typeface="宋体" panose="02010600030101010101" pitchFamily="2" charset="-122"/>
                <a:cs typeface="Times New Roman" panose="02020603050405020304" pitchFamily="18" charset="0"/>
              </a:rPr>
              <a:t>= a</a:t>
            </a:r>
            <a:r>
              <a:rPr lang="en-US" altLang="zh-CN" sz="1600" baseline="-25000">
                <a:latin typeface="Times New Roman" panose="02020603050405020304" pitchFamily="18" charset="0"/>
                <a:ea typeface="宋体" panose="02010600030101010101" pitchFamily="2" charset="-122"/>
                <a:cs typeface="Times New Roman" panose="02020603050405020304" pitchFamily="18" charset="0"/>
              </a:rPr>
              <a:t>3</a:t>
            </a:r>
            <a:r>
              <a:rPr lang="en-US" altLang="zh-CN" sz="160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aseline="-25000">
                <a:latin typeface="Times New Roman" panose="02020603050405020304" pitchFamily="18" charset="0"/>
                <a:ea typeface="宋体" panose="02010600030101010101" pitchFamily="2" charset="-122"/>
                <a:cs typeface="Times New Roman" panose="02020603050405020304" pitchFamily="18" charset="0"/>
              </a:rPr>
              <a:t>2</a:t>
            </a:r>
            <a:r>
              <a:rPr lang="en-US" altLang="zh-CN" sz="160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aseline="-25000">
                <a:latin typeface="Times New Roman" panose="02020603050405020304" pitchFamily="18" charset="0"/>
                <a:ea typeface="宋体" panose="02010600030101010101" pitchFamily="2" charset="-122"/>
                <a:cs typeface="Times New Roman" panose="02020603050405020304" pitchFamily="18" charset="0"/>
              </a:rPr>
              <a:t>1</a:t>
            </a:r>
          </a:p>
          <a:p>
            <a:pPr algn="ctr"/>
            <a:r>
              <a:rPr lang="en-US" altLang="zh-CN" sz="1600">
                <a:latin typeface="Times New Roman" panose="02020603050405020304" pitchFamily="18" charset="0"/>
                <a:ea typeface="宋体" panose="02010600030101010101" pitchFamily="2" charset="-122"/>
                <a:cs typeface="Times New Roman" panose="02020603050405020304" pitchFamily="18" charset="0"/>
              </a:rPr>
              <a:t>r</a:t>
            </a:r>
            <a:r>
              <a:rPr lang="en-US" altLang="zh-CN" sz="1600" baseline="-25000">
                <a:latin typeface="Times New Roman" panose="02020603050405020304" pitchFamily="18" charset="0"/>
                <a:ea typeface="宋体" panose="02010600030101010101" pitchFamily="2" charset="-122"/>
                <a:cs typeface="Times New Roman" panose="02020603050405020304" pitchFamily="18" charset="0"/>
              </a:rPr>
              <a:t>2 </a:t>
            </a:r>
            <a:r>
              <a:rPr lang="en-US" altLang="zh-CN" sz="1600">
                <a:latin typeface="Times New Roman" panose="02020603050405020304" pitchFamily="18" charset="0"/>
                <a:ea typeface="宋体" panose="02010600030101010101" pitchFamily="2" charset="-122"/>
                <a:cs typeface="Times New Roman" panose="02020603050405020304" pitchFamily="18" charset="0"/>
              </a:rPr>
              <a:t>= a</a:t>
            </a:r>
            <a:r>
              <a:rPr lang="en-US" altLang="zh-CN" sz="1600" baseline="-25000">
                <a:latin typeface="Times New Roman" panose="02020603050405020304" pitchFamily="18" charset="0"/>
                <a:ea typeface="宋体" panose="02010600030101010101" pitchFamily="2" charset="-122"/>
                <a:cs typeface="Times New Roman" panose="02020603050405020304" pitchFamily="18" charset="0"/>
              </a:rPr>
              <a:t>1</a:t>
            </a:r>
            <a:r>
              <a:rPr lang="en-US" altLang="zh-CN" sz="160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aseline="-25000">
                <a:latin typeface="Times New Roman" panose="02020603050405020304" pitchFamily="18" charset="0"/>
                <a:ea typeface="宋体" panose="02010600030101010101" pitchFamily="2" charset="-122"/>
                <a:cs typeface="Times New Roman" panose="02020603050405020304" pitchFamily="18" charset="0"/>
              </a:rPr>
              <a:t>0</a:t>
            </a:r>
            <a:r>
              <a:rPr lang="en-US" altLang="zh-CN" sz="160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aseline="-25000">
                <a:latin typeface="Times New Roman" panose="02020603050405020304" pitchFamily="18" charset="0"/>
                <a:ea typeface="宋体" panose="02010600030101010101" pitchFamily="2" charset="-122"/>
                <a:cs typeface="Times New Roman" panose="02020603050405020304" pitchFamily="18" charset="0"/>
              </a:rPr>
              <a:t>3</a:t>
            </a:r>
            <a:endParaRPr lang="zh-CN" altLang="en-US" sz="1600" baseline="-25000">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sz="1600" baseline="-25000">
              <a:ea typeface="宋体" panose="02010600030101010101" pitchFamily="2" charset="-122"/>
              <a:cs typeface="Times New Roman" panose="02020603050405020304" pitchFamily="18" charset="0"/>
            </a:endParaRPr>
          </a:p>
          <a:p>
            <a:endParaRPr lang="zh-CN" altLang="en-US" sz="1600" baseline="-25000">
              <a:ea typeface="宋体" panose="02010600030101010101" pitchFamily="2" charset="-122"/>
              <a:cs typeface="Times New Roman" panose="02020603050405020304" pitchFamily="18" charset="0"/>
            </a:endParaRPr>
          </a:p>
        </p:txBody>
      </p:sp>
      <p:sp>
        <p:nvSpPr>
          <p:cNvPr id="9" name="圆角矩形标注 8">
            <a:extLst>
              <a:ext uri="{FF2B5EF4-FFF2-40B4-BE49-F238E27FC236}">
                <a16:creationId xmlns:a16="http://schemas.microsoft.com/office/drawing/2014/main" id="{04FD8A3B-3D61-4504-A540-1963C9D4DDFE}"/>
              </a:ext>
            </a:extLst>
          </p:cNvPr>
          <p:cNvSpPr>
            <a:spLocks noChangeArrowheads="1"/>
          </p:cNvSpPr>
          <p:nvPr/>
        </p:nvSpPr>
        <p:spPr bwMode="auto">
          <a:xfrm>
            <a:off x="4876800" y="2030414"/>
            <a:ext cx="1828800" cy="962025"/>
          </a:xfrm>
          <a:prstGeom prst="wedgeRoundRectCallout">
            <a:avLst>
              <a:gd name="adj1" fmla="val 89968"/>
              <a:gd name="adj2" fmla="val 55995"/>
              <a:gd name="adj3" fmla="val 16667"/>
            </a:avLst>
          </a:prstGeom>
          <a:solidFill>
            <a:srgbClr val="CCECFF"/>
          </a:solidFill>
          <a:ln w="9525" algn="ctr">
            <a:solidFill>
              <a:schemeClr val="tx1"/>
            </a:solidFill>
            <a:round/>
            <a:headEnd/>
            <a:tailEnd/>
          </a:ln>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1600" baseline="-25000" dirty="0">
                <a:latin typeface="Times New Roman" panose="02020603050405020304" pitchFamily="18" charset="0"/>
                <a:ea typeface="宋体" panose="02010600030101010101" pitchFamily="2" charset="-122"/>
                <a:cs typeface="Times New Roman" panose="02020603050405020304" pitchFamily="18" charset="0"/>
              </a:rPr>
              <a:t>0 </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b</a:t>
            </a:r>
            <a:r>
              <a:rPr lang="en-US" altLang="zh-CN" sz="1600"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1600"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1600"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+q</a:t>
            </a:r>
            <a:r>
              <a:rPr lang="en-US" altLang="zh-CN" sz="1600" baseline="-25000" dirty="0">
                <a:latin typeface="Times New Roman" panose="02020603050405020304" pitchFamily="18" charset="0"/>
                <a:ea typeface="宋体" panose="02010600030101010101" pitchFamily="2" charset="-122"/>
                <a:cs typeface="Times New Roman" panose="02020603050405020304" pitchFamily="18" charset="0"/>
              </a:rPr>
              <a:t>0</a:t>
            </a:r>
          </a:p>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1600" baseline="-25000" dirty="0">
                <a:latin typeface="Times New Roman" panose="02020603050405020304" pitchFamily="18" charset="0"/>
                <a:ea typeface="宋体" panose="02010600030101010101" pitchFamily="2" charset="-122"/>
                <a:cs typeface="Times New Roman" panose="02020603050405020304" pitchFamily="18" charset="0"/>
              </a:rPr>
              <a:t>1 </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b</a:t>
            </a:r>
            <a:r>
              <a:rPr lang="en-US" altLang="zh-CN" sz="1600" baseline="-25000" dirty="0">
                <a:latin typeface="Times New Roman" panose="02020603050405020304" pitchFamily="18" charset="0"/>
                <a:ea typeface="宋体" panose="02010600030101010101" pitchFamily="2" charset="-122"/>
                <a:cs typeface="Times New Roman" panose="02020603050405020304" pitchFamily="18" charset="0"/>
              </a:rPr>
              <a:t>3</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1600"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1600"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+q</a:t>
            </a:r>
            <a:r>
              <a:rPr lang="en-US" altLang="zh-CN" sz="1600" baseline="-25000" dirty="0">
                <a:latin typeface="Times New Roman" panose="02020603050405020304" pitchFamily="18" charset="0"/>
                <a:ea typeface="宋体" panose="02010600030101010101" pitchFamily="2" charset="-122"/>
                <a:cs typeface="Times New Roman" panose="02020603050405020304" pitchFamily="18" charset="0"/>
              </a:rPr>
              <a:t>1</a:t>
            </a:r>
          </a:p>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1600" baseline="-25000" dirty="0">
                <a:latin typeface="Times New Roman" panose="02020603050405020304" pitchFamily="18" charset="0"/>
                <a:ea typeface="宋体" panose="02010600030101010101" pitchFamily="2" charset="-122"/>
                <a:cs typeface="Times New Roman" panose="02020603050405020304" pitchFamily="18" charset="0"/>
              </a:rPr>
              <a:t>2 </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b</a:t>
            </a:r>
            <a:r>
              <a:rPr lang="en-US" altLang="zh-CN" sz="1600"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1600"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1600" baseline="-25000" dirty="0">
                <a:latin typeface="Times New Roman" panose="02020603050405020304" pitchFamily="18" charset="0"/>
                <a:ea typeface="宋体" panose="02010600030101010101" pitchFamily="2" charset="-122"/>
                <a:cs typeface="Times New Roman" panose="02020603050405020304" pitchFamily="18" charset="0"/>
              </a:rPr>
              <a:t>3</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+q</a:t>
            </a:r>
            <a:r>
              <a:rPr lang="en-US" altLang="zh-CN" sz="1600" baseline="-25000" dirty="0">
                <a:latin typeface="Times New Roman" panose="02020603050405020304" pitchFamily="18" charset="0"/>
                <a:ea typeface="宋体" panose="02010600030101010101" pitchFamily="2" charset="-122"/>
                <a:cs typeface="Times New Roman" panose="02020603050405020304" pitchFamily="18" charset="0"/>
              </a:rPr>
              <a:t>2</a:t>
            </a:r>
          </a:p>
          <a:p>
            <a:endParaRPr lang="en-US" altLang="zh-CN" sz="1600" baseline="-25000" dirty="0">
              <a:ea typeface="宋体" panose="02010600030101010101" pitchFamily="2"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Text Box 2">
            <a:extLst>
              <a:ext uri="{FF2B5EF4-FFF2-40B4-BE49-F238E27FC236}">
                <a16:creationId xmlns:a16="http://schemas.microsoft.com/office/drawing/2014/main" id="{6F07F072-F5DA-4B57-8410-09AE1FE78407}"/>
              </a:ext>
            </a:extLst>
          </p:cNvPr>
          <p:cNvSpPr txBox="1">
            <a:spLocks noChangeArrowheads="1"/>
          </p:cNvSpPr>
          <p:nvPr/>
        </p:nvSpPr>
        <p:spPr bwMode="auto">
          <a:xfrm>
            <a:off x="2801510" y="1071564"/>
            <a:ext cx="4333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Table 10.5</a:t>
            </a:r>
            <a:r>
              <a:rPr lang="zh-CN" altLang="en-US" sz="1600" i="1"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译码器纠错逻辑分析器的逻辑判定</a:t>
            </a:r>
            <a:endParaRPr lang="en-US" altLang="zh-CN" sz="1600" dirty="0">
              <a:latin typeface="Times New Roman" panose="02020603050405020304" pitchFamily="18" charset="0"/>
              <a:ea typeface="宋体" panose="02010600030101010101" pitchFamily="2" charset="-122"/>
            </a:endParaRPr>
          </a:p>
        </p:txBody>
      </p:sp>
      <p:sp>
        <p:nvSpPr>
          <p:cNvPr id="69637" name="文本框 1">
            <a:extLst>
              <a:ext uri="{FF2B5EF4-FFF2-40B4-BE49-F238E27FC236}">
                <a16:creationId xmlns:a16="http://schemas.microsoft.com/office/drawing/2014/main" id="{7B862D12-AE4D-4B75-A908-C6DC1A00F592}"/>
              </a:ext>
            </a:extLst>
          </p:cNvPr>
          <p:cNvSpPr txBox="1">
            <a:spLocks noChangeArrowheads="1"/>
          </p:cNvSpPr>
          <p:nvPr/>
        </p:nvSpPr>
        <p:spPr bwMode="auto">
          <a:xfrm>
            <a:off x="2667000" y="2772386"/>
            <a:ext cx="6019800"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ct val="200000"/>
              </a:lnSpc>
              <a:buClr>
                <a:srgbClr val="FF0000"/>
              </a:buClr>
              <a:buSzPct val="80000"/>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rPr>
              <a:t>生成器不关心无差错或奇偶位的差错</a:t>
            </a:r>
            <a:endParaRPr lang="en-US" altLang="zh-CN" sz="1800" b="0" dirty="0">
              <a:latin typeface="微软雅黑" panose="020B0503020204020204" pitchFamily="34" charset="-122"/>
              <a:ea typeface="微软雅黑" panose="020B0503020204020204" pitchFamily="34" charset="-122"/>
            </a:endParaRPr>
          </a:p>
          <a:p>
            <a:pPr>
              <a:lnSpc>
                <a:spcPct val="200000"/>
              </a:lnSpc>
              <a:buClr>
                <a:srgbClr val="FF0000"/>
              </a:buClr>
              <a:buSzPct val="80000"/>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rPr>
              <a:t>校正子的值是每个比特值的组合</a:t>
            </a:r>
          </a:p>
        </p:txBody>
      </p:sp>
      <p:sp>
        <p:nvSpPr>
          <p:cNvPr id="69638" name="矩形 1">
            <a:extLst>
              <a:ext uri="{FF2B5EF4-FFF2-40B4-BE49-F238E27FC236}">
                <a16:creationId xmlns:a16="http://schemas.microsoft.com/office/drawing/2014/main" id="{F23EEAA3-AD9D-44BB-AA90-D2E2B12C9139}"/>
              </a:ext>
            </a:extLst>
          </p:cNvPr>
          <p:cNvSpPr>
            <a:spLocks noChangeArrowheads="1"/>
          </p:cNvSpPr>
          <p:nvPr/>
        </p:nvSpPr>
        <p:spPr bwMode="auto">
          <a:xfrm>
            <a:off x="3505200" y="4097338"/>
            <a:ext cx="4953000" cy="1555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lnSpc>
                <a:spcPct val="150000"/>
              </a:lnSpc>
            </a:pP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2200" baseline="-25000" dirty="0">
                <a:latin typeface="Times New Roman" panose="02020603050405020304" pitchFamily="18" charset="0"/>
                <a:ea typeface="宋体" panose="02010600030101010101" pitchFamily="2" charset="-122"/>
                <a:cs typeface="Times New Roman" panose="02020603050405020304" pitchFamily="18" charset="0"/>
              </a:rPr>
              <a:t>2 </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200"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200"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200" baseline="-25000" dirty="0">
                <a:latin typeface="Times New Roman" panose="02020603050405020304" pitchFamily="18" charset="0"/>
                <a:ea typeface="宋体" panose="02010600030101010101" pitchFamily="2" charset="-122"/>
                <a:cs typeface="Times New Roman" panose="02020603050405020304" pitchFamily="18" charset="0"/>
              </a:rPr>
              <a:t>3</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q</a:t>
            </a:r>
            <a:r>
              <a:rPr lang="en-US" altLang="zh-CN" sz="2200" baseline="-25000" dirty="0">
                <a:latin typeface="Times New Roman" panose="02020603050405020304" pitchFamily="18" charset="0"/>
                <a:ea typeface="宋体" panose="02010600030101010101" pitchFamily="2" charset="-122"/>
                <a:cs typeface="Times New Roman" panose="02020603050405020304" pitchFamily="18" charset="0"/>
              </a:rPr>
              <a:t>2</a:t>
            </a:r>
          </a:p>
          <a:p>
            <a:pPr algn="ctr">
              <a:lnSpc>
                <a:spcPct val="150000"/>
              </a:lnSpc>
            </a:pP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2200" baseline="-25000" dirty="0">
                <a:latin typeface="Times New Roman" panose="02020603050405020304" pitchFamily="18" charset="0"/>
                <a:ea typeface="宋体" panose="02010600030101010101" pitchFamily="2" charset="-122"/>
                <a:cs typeface="Times New Roman" panose="02020603050405020304" pitchFamily="18" charset="0"/>
              </a:rPr>
              <a:t>1 </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200" baseline="-25000" dirty="0">
                <a:latin typeface="Times New Roman" panose="02020603050405020304" pitchFamily="18" charset="0"/>
                <a:ea typeface="宋体" panose="02010600030101010101" pitchFamily="2" charset="-122"/>
                <a:cs typeface="Times New Roman" panose="02020603050405020304" pitchFamily="18" charset="0"/>
              </a:rPr>
              <a:t>3</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200"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200"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q</a:t>
            </a:r>
            <a:r>
              <a:rPr lang="en-US" altLang="zh-CN" sz="2200" baseline="-25000" dirty="0">
                <a:latin typeface="Times New Roman" panose="02020603050405020304" pitchFamily="18" charset="0"/>
                <a:ea typeface="宋体" panose="02010600030101010101" pitchFamily="2" charset="-122"/>
                <a:cs typeface="Times New Roman" panose="02020603050405020304" pitchFamily="18" charset="0"/>
              </a:rPr>
              <a:t>1</a:t>
            </a:r>
          </a:p>
          <a:p>
            <a:pPr algn="ctr">
              <a:lnSpc>
                <a:spcPct val="150000"/>
              </a:lnSpc>
            </a:pP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2200" baseline="-25000" dirty="0">
                <a:latin typeface="Times New Roman" panose="02020603050405020304" pitchFamily="18" charset="0"/>
                <a:ea typeface="宋体" panose="02010600030101010101" pitchFamily="2" charset="-122"/>
                <a:cs typeface="Times New Roman" panose="02020603050405020304" pitchFamily="18" charset="0"/>
              </a:rPr>
              <a:t>0 </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200"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200"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200"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q</a:t>
            </a:r>
            <a:r>
              <a:rPr lang="en-US" altLang="zh-CN" sz="2200" baseline="-25000" dirty="0">
                <a:latin typeface="Times New Roman" panose="02020603050405020304" pitchFamily="18" charset="0"/>
                <a:ea typeface="宋体" panose="02010600030101010101" pitchFamily="2" charset="-122"/>
                <a:cs typeface="Times New Roman" panose="02020603050405020304" pitchFamily="18" charset="0"/>
              </a:rPr>
              <a:t>0</a:t>
            </a:r>
          </a:p>
        </p:txBody>
      </p:sp>
      <p:graphicFrame>
        <p:nvGraphicFramePr>
          <p:cNvPr id="7" name="表格 6">
            <a:extLst>
              <a:ext uri="{FF2B5EF4-FFF2-40B4-BE49-F238E27FC236}">
                <a16:creationId xmlns:a16="http://schemas.microsoft.com/office/drawing/2014/main" id="{BAA9ECD9-DCD1-466D-8AEF-36E9F1976642}"/>
              </a:ext>
            </a:extLst>
          </p:cNvPr>
          <p:cNvGraphicFramePr>
            <a:graphicFrameLocks noGrp="1"/>
          </p:cNvGraphicFramePr>
          <p:nvPr>
            <p:extLst>
              <p:ext uri="{D42A27DB-BD31-4B8C-83A1-F6EECF244321}">
                <p14:modId xmlns:p14="http://schemas.microsoft.com/office/powerpoint/2010/main" val="2855412408"/>
              </p:ext>
            </p:extLst>
          </p:nvPr>
        </p:nvGraphicFramePr>
        <p:xfrm>
          <a:off x="2813232" y="1563688"/>
          <a:ext cx="6565536" cy="950913"/>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2816645437"/>
                    </a:ext>
                  </a:extLst>
                </a:gridCol>
                <a:gridCol w="687342">
                  <a:extLst>
                    <a:ext uri="{9D8B030D-6E8A-4147-A177-3AD203B41FA5}">
                      <a16:colId xmlns:a16="http://schemas.microsoft.com/office/drawing/2014/main" val="3050610508"/>
                    </a:ext>
                  </a:extLst>
                </a:gridCol>
                <a:gridCol w="687342">
                  <a:extLst>
                    <a:ext uri="{9D8B030D-6E8A-4147-A177-3AD203B41FA5}">
                      <a16:colId xmlns:a16="http://schemas.microsoft.com/office/drawing/2014/main" val="402911360"/>
                    </a:ext>
                  </a:extLst>
                </a:gridCol>
                <a:gridCol w="687342">
                  <a:extLst>
                    <a:ext uri="{9D8B030D-6E8A-4147-A177-3AD203B41FA5}">
                      <a16:colId xmlns:a16="http://schemas.microsoft.com/office/drawing/2014/main" val="3722482391"/>
                    </a:ext>
                  </a:extLst>
                </a:gridCol>
                <a:gridCol w="687342">
                  <a:extLst>
                    <a:ext uri="{9D8B030D-6E8A-4147-A177-3AD203B41FA5}">
                      <a16:colId xmlns:a16="http://schemas.microsoft.com/office/drawing/2014/main" val="1684836011"/>
                    </a:ext>
                  </a:extLst>
                </a:gridCol>
                <a:gridCol w="687342">
                  <a:extLst>
                    <a:ext uri="{9D8B030D-6E8A-4147-A177-3AD203B41FA5}">
                      <a16:colId xmlns:a16="http://schemas.microsoft.com/office/drawing/2014/main" val="2851865701"/>
                    </a:ext>
                  </a:extLst>
                </a:gridCol>
                <a:gridCol w="687342">
                  <a:extLst>
                    <a:ext uri="{9D8B030D-6E8A-4147-A177-3AD203B41FA5}">
                      <a16:colId xmlns:a16="http://schemas.microsoft.com/office/drawing/2014/main" val="465665893"/>
                    </a:ext>
                  </a:extLst>
                </a:gridCol>
                <a:gridCol w="687342">
                  <a:extLst>
                    <a:ext uri="{9D8B030D-6E8A-4147-A177-3AD203B41FA5}">
                      <a16:colId xmlns:a16="http://schemas.microsoft.com/office/drawing/2014/main" val="1949552370"/>
                    </a:ext>
                  </a:extLst>
                </a:gridCol>
                <a:gridCol w="687342">
                  <a:extLst>
                    <a:ext uri="{9D8B030D-6E8A-4147-A177-3AD203B41FA5}">
                      <a16:colId xmlns:a16="http://schemas.microsoft.com/office/drawing/2014/main" val="4107364284"/>
                    </a:ext>
                  </a:extLst>
                </a:gridCol>
              </a:tblGrid>
              <a:tr h="465308">
                <a:tc>
                  <a:txBody>
                    <a:bodyPr/>
                    <a:lstStyle/>
                    <a:p>
                      <a:pPr algn="ctr"/>
                      <a:r>
                        <a:rPr lang="en-US" altLang="zh-CN" sz="1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Syndrome</a:t>
                      </a:r>
                      <a:endParaRPr lang="zh-CN" altLang="en-US" sz="1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000</a:t>
                      </a:r>
                      <a:endParaRPr lang="zh-CN" altLang="en-US"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001</a:t>
                      </a:r>
                      <a:endParaRPr lang="zh-CN" altLang="en-US"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010</a:t>
                      </a:r>
                      <a:endParaRPr lang="zh-CN" altLang="en-US"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011</a:t>
                      </a:r>
                      <a:endParaRPr lang="zh-CN" altLang="en-US"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100</a:t>
                      </a:r>
                      <a:endParaRPr lang="zh-CN" altLang="en-US"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101</a:t>
                      </a:r>
                      <a:endParaRPr lang="zh-CN" altLang="en-US"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110</a:t>
                      </a:r>
                      <a:endParaRPr lang="zh-CN" altLang="en-US"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111</a:t>
                      </a:r>
                      <a:endParaRPr lang="zh-CN" altLang="en-US"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3089020720"/>
                  </a:ext>
                </a:extLst>
              </a:tr>
              <a:tr h="485605">
                <a:tc>
                  <a:txBody>
                    <a:bodyPr/>
                    <a:lstStyle/>
                    <a:p>
                      <a:pPr marL="0" algn="ctr" defTabSz="914400" rtl="0" eaLnBrk="1" latinLnBrk="0" hangingPunct="1"/>
                      <a:r>
                        <a:rPr lang="en-US" altLang="zh-CN" sz="14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Error</a:t>
                      </a:r>
                      <a:endParaRPr lang="zh-CN" altLang="en-US" sz="14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4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None</a:t>
                      </a:r>
                      <a:endParaRPr lang="zh-CN" altLang="en-US" sz="14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marL="0" algn="ctr" defTabSz="914400" rtl="0" eaLnBrk="1" latinLnBrk="0" hangingPunct="1"/>
                      <a:r>
                        <a:rPr lang="en-US" altLang="zh-CN" sz="1600" b="0" i="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marL="0" algn="ctr" defTabSz="914400" rtl="0" eaLnBrk="1" latinLnBrk="0" hangingPunct="1"/>
                      <a:r>
                        <a:rPr lang="en-US" altLang="zh-CN" sz="1600" b="0" i="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algn="ctr"/>
                      <a:r>
                        <a:rPr lang="en-US" altLang="zh-CN" sz="1600" i="1" dirty="0">
                          <a:solidFill>
                            <a:schemeClr val="tx1"/>
                          </a:solidFill>
                          <a:latin typeface="Times New Roman" panose="02020603050405020304" pitchFamily="18" charset="0"/>
                          <a:cs typeface="Times New Roman" panose="02020603050405020304" pitchFamily="18" charset="0"/>
                        </a:rPr>
                        <a:t>b</a:t>
                      </a:r>
                      <a:r>
                        <a:rPr lang="en-US" altLang="zh-CN"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i="1" dirty="0">
                          <a:solidFill>
                            <a:schemeClr val="tx1"/>
                          </a:solidFill>
                          <a:latin typeface="Times New Roman" panose="02020603050405020304" pitchFamily="18" charset="0"/>
                          <a:cs typeface="Times New Roman" panose="02020603050405020304" pitchFamily="18" charset="0"/>
                        </a:rPr>
                        <a:t>q</a:t>
                      </a:r>
                      <a:r>
                        <a:rPr lang="en-US" altLang="zh-CN"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algn="ctr"/>
                      <a:r>
                        <a:rPr lang="en-US" altLang="zh-CN" sz="1600" i="1" dirty="0">
                          <a:solidFill>
                            <a:schemeClr val="tx1"/>
                          </a:solidFill>
                          <a:latin typeface="Times New Roman" panose="02020603050405020304" pitchFamily="18" charset="0"/>
                          <a:cs typeface="Times New Roman" panose="02020603050405020304" pitchFamily="18" charset="0"/>
                        </a:rPr>
                        <a:t>b</a:t>
                      </a:r>
                      <a:r>
                        <a:rPr lang="en-US" altLang="zh-CN"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i="1" dirty="0">
                          <a:solidFill>
                            <a:schemeClr val="tx1"/>
                          </a:solidFill>
                          <a:latin typeface="Times New Roman" panose="02020603050405020304" pitchFamily="18" charset="0"/>
                          <a:cs typeface="Times New Roman" panose="02020603050405020304" pitchFamily="18" charset="0"/>
                        </a:rPr>
                        <a:t>b</a:t>
                      </a:r>
                      <a:r>
                        <a:rPr lang="en-US" altLang="zh-CN"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i="1" dirty="0">
                          <a:solidFill>
                            <a:schemeClr val="tx1"/>
                          </a:solidFill>
                          <a:latin typeface="Times New Roman" panose="02020603050405020304" pitchFamily="18" charset="0"/>
                          <a:cs typeface="Times New Roman" panose="02020603050405020304" pitchFamily="18" charset="0"/>
                        </a:rPr>
                        <a:t>b</a:t>
                      </a:r>
                      <a:r>
                        <a:rPr lang="en-US" altLang="zh-CN"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027944455"/>
                  </a:ext>
                </a:extLst>
              </a:tr>
            </a:tbl>
          </a:graphicData>
        </a:graphic>
      </p:graphicFrame>
      <p:sp>
        <p:nvSpPr>
          <p:cNvPr id="3" name="矩形 2">
            <a:extLst>
              <a:ext uri="{FF2B5EF4-FFF2-40B4-BE49-F238E27FC236}">
                <a16:creationId xmlns:a16="http://schemas.microsoft.com/office/drawing/2014/main" id="{352D0562-50FF-48D0-BFAF-CE6A4FE86FED}"/>
              </a:ext>
            </a:extLst>
          </p:cNvPr>
          <p:cNvSpPr/>
          <p:nvPr/>
        </p:nvSpPr>
        <p:spPr bwMode="auto">
          <a:xfrm>
            <a:off x="2667000" y="2037806"/>
            <a:ext cx="6781800" cy="52564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2"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2"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9">
            <a:extLst>
              <a:ext uri="{FF2B5EF4-FFF2-40B4-BE49-F238E27FC236}">
                <a16:creationId xmlns:a16="http://schemas.microsoft.com/office/drawing/2014/main" id="{7F040FA2-9837-4D61-826C-6EDE4BCEBEA5}"/>
              </a:ext>
            </a:extLst>
          </p:cNvPr>
          <p:cNvSpPr>
            <a:spLocks noChangeArrowheads="1"/>
          </p:cNvSpPr>
          <p:nvPr/>
        </p:nvSpPr>
        <p:spPr bwMode="auto">
          <a:xfrm>
            <a:off x="1752600" y="990600"/>
            <a:ext cx="8991600" cy="516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ct val="200000"/>
              </a:lnSpc>
              <a:defRPr/>
            </a:pPr>
            <a:r>
              <a:rPr lang="zh-CN" altLang="en-US" sz="2000" dirty="0">
                <a:solidFill>
                  <a:srgbClr val="FF0000"/>
                </a:solidFill>
                <a:latin typeface="微软雅黑" panose="020B0503020204020204" pitchFamily="34" charset="-122"/>
                <a:ea typeface="微软雅黑" panose="020B0503020204020204" pitchFamily="34" charset="-122"/>
              </a:rPr>
              <a:t>例</a:t>
            </a:r>
            <a:r>
              <a:rPr lang="en-US" altLang="zh-CN" sz="2000" dirty="0">
                <a:solidFill>
                  <a:srgbClr val="FF0000"/>
                </a:solidFill>
                <a:latin typeface="微软雅黑" panose="020B0503020204020204" pitchFamily="34" charset="-122"/>
                <a:ea typeface="微软雅黑" panose="020B0503020204020204" pitchFamily="34" charset="-122"/>
              </a:rPr>
              <a:t>10.13  </a:t>
            </a:r>
            <a:r>
              <a:rPr lang="zh-CN" altLang="en-US" sz="2000" b="0" dirty="0">
                <a:latin typeface="微软雅黑" panose="020B0503020204020204" pitchFamily="34" charset="-122"/>
                <a:ea typeface="微软雅黑" panose="020B0503020204020204" pitchFamily="34" charset="-122"/>
              </a:rPr>
              <a:t>跟踪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2000" b="0" dirty="0">
                <a:latin typeface="微软雅黑" panose="020B0503020204020204" pitchFamily="34" charset="-122"/>
                <a:ea typeface="微软雅黑" panose="020B0503020204020204" pitchFamily="34" charset="-122"/>
              </a:rPr>
              <a:t>个数据字从发送端到目的端的路径。</a:t>
            </a:r>
            <a:endParaRPr lang="en-US" altLang="zh-CN" sz="2000" b="0" dirty="0">
              <a:latin typeface="微软雅黑" panose="020B0503020204020204" pitchFamily="34" charset="-122"/>
              <a:ea typeface="微软雅黑" panose="020B0503020204020204" pitchFamily="34" charset="-122"/>
            </a:endParaRPr>
          </a:p>
          <a:p>
            <a:pPr>
              <a:lnSpc>
                <a:spcPct val="200000"/>
              </a:lnSpc>
              <a:defRPr/>
            </a:pPr>
            <a:endParaRPr lang="en-US" altLang="zh-CN" sz="2000" b="0" dirty="0">
              <a:latin typeface="微软雅黑" panose="020B0503020204020204" pitchFamily="34" charset="-122"/>
              <a:ea typeface="微软雅黑" panose="020B0503020204020204" pitchFamily="34" charset="-122"/>
            </a:endParaRPr>
          </a:p>
          <a:p>
            <a:pPr>
              <a:lnSpc>
                <a:spcPct val="200000"/>
              </a:lnSpc>
              <a:defRPr/>
            </a:pPr>
            <a:endParaRPr lang="en-US" altLang="zh-CN" sz="800" dirty="0">
              <a:latin typeface="Times New Roman" panose="02020603050405020304" pitchFamily="18" charset="0"/>
              <a:ea typeface="宋体" panose="02010600030101010101" pitchFamily="2" charset="-122"/>
            </a:endParaRPr>
          </a:p>
          <a:p>
            <a:pPr>
              <a:lnSpc>
                <a:spcPct val="200000"/>
              </a:lnSpc>
              <a:defRPr/>
            </a:pPr>
            <a:endParaRPr lang="en-US" altLang="zh-CN" sz="800" dirty="0">
              <a:latin typeface="Times New Roman" panose="02020603050405020304" pitchFamily="18" charset="0"/>
              <a:ea typeface="宋体" panose="02010600030101010101" pitchFamily="2" charset="-122"/>
            </a:endParaRPr>
          </a:p>
          <a:p>
            <a:pPr>
              <a:lnSpc>
                <a:spcPct val="200000"/>
              </a:lnSpc>
              <a:defRPr/>
            </a:pPr>
            <a:endParaRPr lang="en-US" altLang="zh-CN" sz="800" dirty="0">
              <a:latin typeface="Times New Roman" panose="02020603050405020304" pitchFamily="18" charset="0"/>
              <a:ea typeface="宋体" panose="02010600030101010101" pitchFamily="2" charset="-122"/>
            </a:endParaRPr>
          </a:p>
          <a:p>
            <a:pPr>
              <a:lnSpc>
                <a:spcPct val="200000"/>
              </a:lnSpc>
              <a:defRPr/>
            </a:pPr>
            <a:endParaRPr lang="en-US" altLang="zh-CN" sz="800" dirty="0">
              <a:latin typeface="Times New Roman" panose="02020603050405020304" pitchFamily="18" charset="0"/>
              <a:ea typeface="宋体" panose="02010600030101010101" pitchFamily="2" charset="-122"/>
            </a:endParaRPr>
          </a:p>
          <a:p>
            <a:pPr marL="457200" indent="-457200">
              <a:lnSpc>
                <a:spcPct val="150000"/>
              </a:lnSpc>
              <a:buClr>
                <a:srgbClr val="FF0000"/>
              </a:buClr>
              <a:buSzPct val="80000"/>
              <a:buFont typeface="Wingdings" panose="05000000000000000000" pitchFamily="2" charset="2"/>
              <a:buChar char="u"/>
              <a:defRPr/>
            </a:pP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数据字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0100</a:t>
            </a:r>
            <a:r>
              <a:rPr lang="en-US" altLang="zh-CN" sz="18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变成码字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0100011</a:t>
            </a: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，接收到码字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0100011</a:t>
            </a: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b="0" dirty="0">
              <a:latin typeface="Times New Roman" panose="02020603050405020304" pitchFamily="18" charset="0"/>
              <a:ea typeface="微软雅黑" panose="020B0503020204020204" pitchFamily="34" charset="-122"/>
              <a:cs typeface="Times New Roman" panose="02020603050405020304" pitchFamily="18" charset="0"/>
            </a:endParaRPr>
          </a:p>
          <a:p>
            <a:pPr indent="446088">
              <a:lnSpc>
                <a:spcPct val="150000"/>
              </a:lnSpc>
              <a:buClr>
                <a:srgbClr val="FF0000"/>
              </a:buClr>
              <a:buSzPct val="80000"/>
              <a:defRPr/>
            </a:pP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校正子是</a:t>
            </a:r>
            <a:r>
              <a:rPr lang="en-US" altLang="zh-CN" sz="18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000</a:t>
            </a: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（无差错），最后数据字是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0100</a:t>
            </a: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b="0"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nSpc>
                <a:spcPct val="150000"/>
              </a:lnSpc>
              <a:buClr>
                <a:srgbClr val="FF0000"/>
              </a:buClr>
              <a:buSzPct val="80000"/>
              <a:buFont typeface="Wingdings" panose="05000000000000000000" pitchFamily="2" charset="2"/>
              <a:buChar char="u"/>
              <a:defRPr/>
            </a:pP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数据字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0111</a:t>
            </a:r>
            <a:r>
              <a:rPr lang="en-US" altLang="zh-CN" sz="18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变成码字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0111001</a:t>
            </a: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，接收到码字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0011001</a:t>
            </a: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b="0" dirty="0">
              <a:latin typeface="Times New Roman" panose="02020603050405020304" pitchFamily="18" charset="0"/>
              <a:ea typeface="微软雅黑" panose="020B0503020204020204" pitchFamily="34" charset="-122"/>
              <a:cs typeface="Times New Roman" panose="02020603050405020304" pitchFamily="18" charset="0"/>
            </a:endParaRPr>
          </a:p>
          <a:p>
            <a:pPr marL="457200">
              <a:lnSpc>
                <a:spcPct val="150000"/>
              </a:lnSpc>
              <a:buClr>
                <a:srgbClr val="FF0000"/>
              </a:buClr>
              <a:buSzPct val="80000"/>
              <a:defRPr/>
            </a:pP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校正子是</a:t>
            </a:r>
            <a:r>
              <a:rPr lang="en-US" altLang="zh-CN" sz="18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011</a:t>
            </a: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18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发生差错，反转后得到数据字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0111</a:t>
            </a: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b="0"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nSpc>
                <a:spcPct val="150000"/>
              </a:lnSpc>
              <a:buClr>
                <a:srgbClr val="FF0000"/>
              </a:buClr>
              <a:buSzPct val="80000"/>
              <a:buFont typeface="Wingdings" panose="05000000000000000000" pitchFamily="2" charset="2"/>
              <a:buChar char="u"/>
              <a:defRPr/>
            </a:pP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数据字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1101</a:t>
            </a:r>
            <a:r>
              <a:rPr lang="en-US" altLang="zh-CN" sz="18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变成码字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1101000</a:t>
            </a: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，接收到码字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0001000</a:t>
            </a: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a:t>
            </a:r>
            <a:br>
              <a:rPr lang="en-US" altLang="zh-CN" sz="1800" b="0" dirty="0">
                <a:latin typeface="Times New Roman" panose="02020603050405020304" pitchFamily="18" charset="0"/>
                <a:ea typeface="微软雅黑" panose="020B0503020204020204" pitchFamily="34" charset="-122"/>
                <a:cs typeface="Times New Roman" panose="02020603050405020304" pitchFamily="18" charset="0"/>
              </a:rPr>
            </a:b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校正子是</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101</a:t>
            </a: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1800" baseline="-14000" dirty="0">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800" b="0" baseline="-14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发生差错，反转后得到数据字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0000</a:t>
            </a: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，是错误的数据字。说明此编码检测不到两个差错</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p:txBody>
      </p:sp>
      <p:graphicFrame>
        <p:nvGraphicFramePr>
          <p:cNvPr id="6" name="表格 5">
            <a:extLst>
              <a:ext uri="{FF2B5EF4-FFF2-40B4-BE49-F238E27FC236}">
                <a16:creationId xmlns:a16="http://schemas.microsoft.com/office/drawing/2014/main" id="{97838905-A6E4-BA36-6A2D-4052210372C0}"/>
              </a:ext>
            </a:extLst>
          </p:cNvPr>
          <p:cNvGraphicFramePr>
            <a:graphicFrameLocks noGrp="1"/>
          </p:cNvGraphicFramePr>
          <p:nvPr>
            <p:extLst>
              <p:ext uri="{D42A27DB-BD31-4B8C-83A1-F6EECF244321}">
                <p14:modId xmlns:p14="http://schemas.microsoft.com/office/powerpoint/2010/main" val="237754102"/>
              </p:ext>
            </p:extLst>
          </p:nvPr>
        </p:nvGraphicFramePr>
        <p:xfrm>
          <a:off x="2667000" y="1905000"/>
          <a:ext cx="6565536" cy="950913"/>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2816645437"/>
                    </a:ext>
                  </a:extLst>
                </a:gridCol>
                <a:gridCol w="687342">
                  <a:extLst>
                    <a:ext uri="{9D8B030D-6E8A-4147-A177-3AD203B41FA5}">
                      <a16:colId xmlns:a16="http://schemas.microsoft.com/office/drawing/2014/main" val="3050610508"/>
                    </a:ext>
                  </a:extLst>
                </a:gridCol>
                <a:gridCol w="687342">
                  <a:extLst>
                    <a:ext uri="{9D8B030D-6E8A-4147-A177-3AD203B41FA5}">
                      <a16:colId xmlns:a16="http://schemas.microsoft.com/office/drawing/2014/main" val="402911360"/>
                    </a:ext>
                  </a:extLst>
                </a:gridCol>
                <a:gridCol w="687342">
                  <a:extLst>
                    <a:ext uri="{9D8B030D-6E8A-4147-A177-3AD203B41FA5}">
                      <a16:colId xmlns:a16="http://schemas.microsoft.com/office/drawing/2014/main" val="3722482391"/>
                    </a:ext>
                  </a:extLst>
                </a:gridCol>
                <a:gridCol w="687342">
                  <a:extLst>
                    <a:ext uri="{9D8B030D-6E8A-4147-A177-3AD203B41FA5}">
                      <a16:colId xmlns:a16="http://schemas.microsoft.com/office/drawing/2014/main" val="1684836011"/>
                    </a:ext>
                  </a:extLst>
                </a:gridCol>
                <a:gridCol w="687342">
                  <a:extLst>
                    <a:ext uri="{9D8B030D-6E8A-4147-A177-3AD203B41FA5}">
                      <a16:colId xmlns:a16="http://schemas.microsoft.com/office/drawing/2014/main" val="2851865701"/>
                    </a:ext>
                  </a:extLst>
                </a:gridCol>
                <a:gridCol w="687342">
                  <a:extLst>
                    <a:ext uri="{9D8B030D-6E8A-4147-A177-3AD203B41FA5}">
                      <a16:colId xmlns:a16="http://schemas.microsoft.com/office/drawing/2014/main" val="465665893"/>
                    </a:ext>
                  </a:extLst>
                </a:gridCol>
                <a:gridCol w="687342">
                  <a:extLst>
                    <a:ext uri="{9D8B030D-6E8A-4147-A177-3AD203B41FA5}">
                      <a16:colId xmlns:a16="http://schemas.microsoft.com/office/drawing/2014/main" val="1949552370"/>
                    </a:ext>
                  </a:extLst>
                </a:gridCol>
                <a:gridCol w="687342">
                  <a:extLst>
                    <a:ext uri="{9D8B030D-6E8A-4147-A177-3AD203B41FA5}">
                      <a16:colId xmlns:a16="http://schemas.microsoft.com/office/drawing/2014/main" val="4107364284"/>
                    </a:ext>
                  </a:extLst>
                </a:gridCol>
              </a:tblGrid>
              <a:tr h="465308">
                <a:tc>
                  <a:txBody>
                    <a:bodyPr/>
                    <a:lstStyle/>
                    <a:p>
                      <a:pPr algn="ctr"/>
                      <a:r>
                        <a:rPr lang="en-US" altLang="zh-CN" sz="1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Syndrome</a:t>
                      </a:r>
                      <a:endParaRPr lang="zh-CN" altLang="en-US" sz="1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000</a:t>
                      </a:r>
                      <a:endParaRPr lang="zh-CN" altLang="en-US"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001</a:t>
                      </a:r>
                      <a:endParaRPr lang="zh-CN" altLang="en-US"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010</a:t>
                      </a:r>
                      <a:endParaRPr lang="zh-CN" altLang="en-US"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011</a:t>
                      </a:r>
                      <a:endParaRPr lang="zh-CN" altLang="en-US"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100</a:t>
                      </a:r>
                      <a:endParaRPr lang="zh-CN" altLang="en-US"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101</a:t>
                      </a:r>
                      <a:endParaRPr lang="zh-CN" altLang="en-US"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110</a:t>
                      </a:r>
                      <a:endParaRPr lang="zh-CN" altLang="en-US"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111</a:t>
                      </a:r>
                      <a:endParaRPr lang="zh-CN" altLang="en-US" sz="16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3089020720"/>
                  </a:ext>
                </a:extLst>
              </a:tr>
              <a:tr h="485605">
                <a:tc>
                  <a:txBody>
                    <a:bodyPr/>
                    <a:lstStyle/>
                    <a:p>
                      <a:pPr marL="0" algn="ctr" defTabSz="914400" rtl="0" eaLnBrk="1" latinLnBrk="0" hangingPunct="1"/>
                      <a:r>
                        <a:rPr lang="en-US" altLang="zh-CN" sz="14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Error</a:t>
                      </a:r>
                      <a:endParaRPr lang="zh-CN" altLang="en-US" sz="14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4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None</a:t>
                      </a:r>
                      <a:endParaRPr lang="zh-CN" altLang="en-US" sz="1400" b="0"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marL="0" algn="ctr" defTabSz="914400" rtl="0" eaLnBrk="1" latinLnBrk="0" hangingPunct="1"/>
                      <a:r>
                        <a:rPr lang="en-US" altLang="zh-CN" sz="1600" b="0" i="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marL="0" algn="ctr" defTabSz="914400" rtl="0" eaLnBrk="1" latinLnBrk="0" hangingPunct="1"/>
                      <a:r>
                        <a:rPr lang="en-US" altLang="zh-CN" sz="1600" b="0" i="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algn="ctr"/>
                      <a:r>
                        <a:rPr lang="en-US" altLang="zh-CN" sz="1600" i="1" dirty="0">
                          <a:solidFill>
                            <a:schemeClr val="tx1"/>
                          </a:solidFill>
                          <a:latin typeface="Times New Roman" panose="02020603050405020304" pitchFamily="18" charset="0"/>
                          <a:cs typeface="Times New Roman" panose="02020603050405020304" pitchFamily="18" charset="0"/>
                        </a:rPr>
                        <a:t>b</a:t>
                      </a:r>
                      <a:r>
                        <a:rPr lang="en-US" altLang="zh-CN"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i="1" dirty="0">
                          <a:solidFill>
                            <a:schemeClr val="tx1"/>
                          </a:solidFill>
                          <a:latin typeface="Times New Roman" panose="02020603050405020304" pitchFamily="18" charset="0"/>
                          <a:cs typeface="Times New Roman" panose="02020603050405020304" pitchFamily="18" charset="0"/>
                        </a:rPr>
                        <a:t>q</a:t>
                      </a:r>
                      <a:r>
                        <a:rPr lang="en-US" altLang="zh-CN"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algn="ctr"/>
                      <a:r>
                        <a:rPr lang="en-US" altLang="zh-CN" sz="1600" i="1" dirty="0">
                          <a:solidFill>
                            <a:schemeClr val="tx1"/>
                          </a:solidFill>
                          <a:latin typeface="Times New Roman" panose="02020603050405020304" pitchFamily="18" charset="0"/>
                          <a:cs typeface="Times New Roman" panose="02020603050405020304" pitchFamily="18" charset="0"/>
                        </a:rPr>
                        <a:t>b</a:t>
                      </a:r>
                      <a:r>
                        <a:rPr lang="en-US" altLang="zh-CN"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i="1" dirty="0">
                          <a:solidFill>
                            <a:schemeClr val="tx1"/>
                          </a:solidFill>
                          <a:latin typeface="Times New Roman" panose="02020603050405020304" pitchFamily="18" charset="0"/>
                          <a:cs typeface="Times New Roman" panose="02020603050405020304" pitchFamily="18" charset="0"/>
                        </a:rPr>
                        <a:t>b</a:t>
                      </a:r>
                      <a:r>
                        <a:rPr lang="en-US" altLang="zh-CN"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i="1" dirty="0">
                          <a:solidFill>
                            <a:schemeClr val="tx1"/>
                          </a:solidFill>
                          <a:latin typeface="Times New Roman" panose="02020603050405020304" pitchFamily="18" charset="0"/>
                          <a:cs typeface="Times New Roman" panose="02020603050405020304" pitchFamily="18" charset="0"/>
                        </a:rPr>
                        <a:t>b</a:t>
                      </a:r>
                      <a:r>
                        <a:rPr lang="en-US" altLang="zh-CN"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600" b="0" i="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027944455"/>
                  </a:ext>
                </a:extLst>
              </a:tr>
            </a:tbl>
          </a:graphicData>
        </a:graphic>
      </p:graphicFrame>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9">
            <a:extLst>
              <a:ext uri="{FF2B5EF4-FFF2-40B4-BE49-F238E27FC236}">
                <a16:creationId xmlns:a16="http://schemas.microsoft.com/office/drawing/2014/main" id="{0EEA7167-31F4-4554-BEA8-60AB22E0719D}"/>
              </a:ext>
            </a:extLst>
          </p:cNvPr>
          <p:cNvSpPr>
            <a:spLocks noChangeArrowheads="1"/>
          </p:cNvSpPr>
          <p:nvPr/>
        </p:nvSpPr>
        <p:spPr bwMode="auto">
          <a:xfrm>
            <a:off x="1752600" y="1447800"/>
            <a:ext cx="7010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zh-CN" altLang="en-US" sz="1800" dirty="0">
                <a:solidFill>
                  <a:srgbClr val="FF0000"/>
                </a:solidFill>
                <a:latin typeface="微软雅黑" panose="020B0503020204020204" pitchFamily="34" charset="-122"/>
                <a:ea typeface="微软雅黑" panose="020B0503020204020204" pitchFamily="34" charset="-122"/>
              </a:rPr>
              <a:t>例</a:t>
            </a:r>
            <a:r>
              <a:rPr lang="en-US" altLang="zh-CN" sz="1800" dirty="0">
                <a:solidFill>
                  <a:srgbClr val="FF0000"/>
                </a:solidFill>
                <a:latin typeface="微软雅黑" panose="020B0503020204020204" pitchFamily="34" charset="-122"/>
                <a:ea typeface="微软雅黑" panose="020B0503020204020204" pitchFamily="34" charset="-122"/>
              </a:rPr>
              <a:t>10.14  </a:t>
            </a:r>
            <a:r>
              <a:rPr lang="zh-CN" altLang="en-US" sz="1800" b="0" dirty="0">
                <a:latin typeface="微软雅黑" panose="020B0503020204020204" pitchFamily="34" charset="-122"/>
                <a:ea typeface="微软雅黑" panose="020B0503020204020204" pitchFamily="34" charset="-122"/>
              </a:rPr>
              <a:t>若数据字至少为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7</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比特，计算满足这个条件的</a:t>
            </a:r>
            <a:r>
              <a:rPr lang="zh-CN" altLang="en-US" sz="1800" b="0" i="1" dirty="0">
                <a:latin typeface="微软雅黑" panose="020B0503020204020204" pitchFamily="34" charset="-122"/>
                <a:ea typeface="微软雅黑" panose="020B0503020204020204" pitchFamily="34" charset="-122"/>
              </a:rPr>
              <a:t> </a:t>
            </a:r>
            <a:r>
              <a:rPr lang="en-US" altLang="zh-CN" sz="1800" i="1" dirty="0">
                <a:latin typeface="Times New Roman" panose="02020603050405020304" pitchFamily="18" charset="0"/>
                <a:ea typeface="宋体" panose="02010600030101010101" pitchFamily="2" charset="-122"/>
              </a:rPr>
              <a:t>n </a:t>
            </a:r>
            <a:r>
              <a:rPr lang="zh-CN" altLang="en-US" sz="1800" b="0" dirty="0">
                <a:latin typeface="微软雅黑" panose="020B0503020204020204" pitchFamily="34" charset="-122"/>
                <a:ea typeface="微软雅黑" panose="020B0503020204020204" pitchFamily="34" charset="-122"/>
              </a:rPr>
              <a:t>和</a:t>
            </a:r>
            <a:r>
              <a:rPr lang="zh-CN" altLang="en-US" sz="1800" i="1"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k</a:t>
            </a:r>
            <a:r>
              <a:rPr lang="zh-CN" altLang="en-US"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p:txBody>
      </p:sp>
      <p:sp>
        <p:nvSpPr>
          <p:cNvPr id="77828" name="Rectangle 10">
            <a:extLst>
              <a:ext uri="{FF2B5EF4-FFF2-40B4-BE49-F238E27FC236}">
                <a16:creationId xmlns:a16="http://schemas.microsoft.com/office/drawing/2014/main" id="{1C54AF3A-9E9E-4B46-95A2-27E6EBFCCEF3}"/>
              </a:ext>
            </a:extLst>
          </p:cNvPr>
          <p:cNvSpPr>
            <a:spLocks noChangeArrowheads="1"/>
          </p:cNvSpPr>
          <p:nvPr/>
        </p:nvSpPr>
        <p:spPr bwMode="auto">
          <a:xfrm>
            <a:off x="1828800" y="2301909"/>
            <a:ext cx="7762875"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ct val="250000"/>
              </a:lnSpc>
              <a:defRPr/>
            </a:pPr>
            <a:r>
              <a:rPr lang="zh-CN" altLang="en-US" sz="1800" b="0" dirty="0">
                <a:latin typeface="微软雅黑" panose="020B0503020204020204" pitchFamily="34" charset="-122"/>
                <a:ea typeface="微软雅黑" panose="020B0503020204020204" pitchFamily="34" charset="-122"/>
              </a:rPr>
              <a:t>解：要求</a:t>
            </a:r>
            <a:r>
              <a:rPr lang="zh-CN" altLang="en-US" sz="1800" b="0" i="1" dirty="0">
                <a:latin typeface="Times" panose="02020603050405020304" pitchFamily="18" charset="0"/>
                <a:ea typeface="宋体" panose="02010600030101010101" pitchFamily="2" charset="-122"/>
              </a:rPr>
              <a:t> </a:t>
            </a:r>
            <a:r>
              <a:rPr lang="en-US" altLang="zh-CN" sz="1800" i="1" dirty="0">
                <a:latin typeface="Times" panose="02020603050405020304" pitchFamily="18" charset="0"/>
                <a:ea typeface="宋体" panose="02010600030101010101" pitchFamily="2" charset="-122"/>
              </a:rPr>
              <a:t>k = n − m </a:t>
            </a:r>
            <a:r>
              <a:rPr lang="en-US" altLang="zh-CN" sz="1800" dirty="0">
                <a:latin typeface="宋体" panose="02010600030101010101" pitchFamily="2" charset="-122"/>
                <a:ea typeface="宋体" panose="02010600030101010101" pitchFamily="2" charset="-122"/>
              </a:rPr>
              <a:t>≥</a:t>
            </a:r>
            <a:r>
              <a:rPr lang="en-US" altLang="zh-CN" sz="1800" dirty="0">
                <a:latin typeface="Times" panose="02020603050405020304" pitchFamily="18" charset="0"/>
                <a:ea typeface="宋体" panose="02010600030101010101" pitchFamily="2" charset="-122"/>
              </a:rPr>
              <a:t>7</a:t>
            </a:r>
            <a:r>
              <a:rPr lang="zh-CN" altLang="en-US" sz="1800" b="0" dirty="0">
                <a:latin typeface="Times" panose="02020603050405020304" pitchFamily="18" charset="0"/>
                <a:ea typeface="宋体" panose="02010600030101010101" pitchFamily="2" charset="-122"/>
              </a:rPr>
              <a:t>，</a:t>
            </a:r>
            <a:r>
              <a:rPr lang="zh-CN" altLang="en-US" sz="1800" b="0" dirty="0">
                <a:latin typeface="微软雅黑" panose="020B0503020204020204" pitchFamily="34" charset="-122"/>
                <a:ea typeface="微软雅黑" panose="020B0503020204020204" pitchFamily="34" charset="-122"/>
              </a:rPr>
              <a:t>或者</a:t>
            </a:r>
            <a:r>
              <a:rPr lang="zh-CN" altLang="en-US" sz="1800" b="0" i="1" dirty="0">
                <a:latin typeface="Times" panose="02020603050405020304" pitchFamily="18" charset="0"/>
                <a:ea typeface="宋体" panose="02010600030101010101" pitchFamily="2" charset="-122"/>
              </a:rPr>
              <a:t> </a:t>
            </a:r>
            <a:r>
              <a:rPr lang="en-US" altLang="zh-CN" sz="1800" dirty="0">
                <a:latin typeface="Times" panose="02020603050405020304" pitchFamily="18" charset="0"/>
                <a:ea typeface="宋体" panose="02010600030101010101" pitchFamily="2" charset="-122"/>
              </a:rPr>
              <a:t>2</a:t>
            </a:r>
            <a:r>
              <a:rPr lang="en-US" altLang="zh-CN" sz="1800" i="1" baseline="30000" dirty="0">
                <a:latin typeface="Times" panose="02020603050405020304" pitchFamily="18" charset="0"/>
                <a:ea typeface="宋体" panose="02010600030101010101" pitchFamily="2" charset="-122"/>
              </a:rPr>
              <a:t>m</a:t>
            </a:r>
            <a:r>
              <a:rPr lang="en-US" altLang="zh-CN" sz="1800" i="1" dirty="0">
                <a:latin typeface="Times" panose="02020603050405020304" pitchFamily="18" charset="0"/>
                <a:ea typeface="宋体" panose="02010600030101010101" pitchFamily="2" charset="-122"/>
              </a:rPr>
              <a:t> </a:t>
            </a:r>
            <a:r>
              <a:rPr lang="en-US" altLang="zh-CN" sz="1800" dirty="0">
                <a:latin typeface="Times" panose="02020603050405020304" pitchFamily="18" charset="0"/>
                <a:ea typeface="宋体" panose="02010600030101010101" pitchFamily="2" charset="-122"/>
              </a:rPr>
              <a:t>− 1 − </a:t>
            </a:r>
            <a:r>
              <a:rPr lang="en-US" altLang="zh-CN" sz="1800" i="1" dirty="0">
                <a:latin typeface="Times" panose="02020603050405020304" pitchFamily="18" charset="0"/>
                <a:ea typeface="宋体" panose="02010600030101010101" pitchFamily="2" charset="-122"/>
              </a:rPr>
              <a:t>m</a:t>
            </a:r>
            <a:r>
              <a:rPr lang="en-US" altLang="zh-CN" sz="1800" dirty="0">
                <a:latin typeface="宋体" panose="02010600030101010101" pitchFamily="2" charset="-122"/>
                <a:ea typeface="宋体" panose="02010600030101010101" pitchFamily="2" charset="-122"/>
              </a:rPr>
              <a:t>≥</a:t>
            </a:r>
            <a:r>
              <a:rPr lang="en-US" altLang="zh-CN" sz="1800" dirty="0">
                <a:latin typeface="Times" panose="02020603050405020304" pitchFamily="18" charset="0"/>
                <a:ea typeface="宋体" panose="02010600030101010101" pitchFamily="2" charset="-122"/>
              </a:rPr>
              <a:t>7</a:t>
            </a:r>
            <a:r>
              <a:rPr lang="zh-CN" altLang="en-US" sz="1800" b="0" dirty="0">
                <a:latin typeface="Times" panose="02020603050405020304" pitchFamily="18" charset="0"/>
                <a:ea typeface="宋体" panose="02010600030101010101" pitchFamily="2" charset="-122"/>
              </a:rPr>
              <a:t>。</a:t>
            </a:r>
            <a:endParaRPr lang="en-US" altLang="zh-CN" sz="1800" b="0" dirty="0">
              <a:latin typeface="Times" panose="02020603050405020304" pitchFamily="18" charset="0"/>
              <a:ea typeface="宋体" panose="02010600030101010101" pitchFamily="2" charset="-122"/>
            </a:endParaRPr>
          </a:p>
          <a:p>
            <a:pPr marL="285750" indent="-285750">
              <a:lnSpc>
                <a:spcPct val="250000"/>
              </a:lnSpc>
              <a:buClr>
                <a:srgbClr val="FF0000"/>
              </a:buClr>
              <a:buSzPct val="80000"/>
              <a:buFont typeface="Wingdings" panose="05000000000000000000" pitchFamily="2" charset="2"/>
              <a:buChar char="u"/>
              <a:defRPr/>
            </a:pPr>
            <a:r>
              <a:rPr lang="zh-CN" altLang="en-US" sz="1800" b="0" dirty="0">
                <a:latin typeface="微软雅黑" panose="020B0503020204020204" pitchFamily="34" charset="-122"/>
                <a:ea typeface="微软雅黑" panose="020B0503020204020204" pitchFamily="34" charset="-122"/>
              </a:rPr>
              <a:t>如果</a:t>
            </a:r>
            <a:r>
              <a:rPr lang="zh-CN" altLang="en-US" sz="1800" b="0" dirty="0">
                <a:latin typeface="Times" panose="02020603050405020304" pitchFamily="18" charset="0"/>
                <a:ea typeface="宋体" panose="02010600030101010101" pitchFamily="2" charset="-122"/>
              </a:rPr>
              <a:t> </a:t>
            </a:r>
            <a:r>
              <a:rPr lang="en-US" altLang="zh-CN" sz="1800" i="1" dirty="0">
                <a:latin typeface="Times" panose="02020603050405020304" pitchFamily="18" charset="0"/>
                <a:ea typeface="宋体" panose="02010600030101010101" pitchFamily="2" charset="-122"/>
              </a:rPr>
              <a:t>m </a:t>
            </a:r>
            <a:r>
              <a:rPr lang="en-US" altLang="zh-CN" sz="1800" dirty="0">
                <a:latin typeface="Times" panose="02020603050405020304" pitchFamily="18" charset="0"/>
                <a:ea typeface="宋体" panose="02010600030101010101" pitchFamily="2" charset="-122"/>
              </a:rPr>
              <a:t>= 3</a:t>
            </a:r>
            <a:r>
              <a:rPr lang="en-US" altLang="zh-CN" sz="1800" b="0" dirty="0">
                <a:latin typeface="Times" panose="02020603050405020304" pitchFamily="18" charset="0"/>
                <a:ea typeface="宋体" panose="02010600030101010101" pitchFamily="2" charset="-122"/>
              </a:rPr>
              <a:t>, </a:t>
            </a:r>
            <a:r>
              <a:rPr lang="zh-CN" altLang="en-US" sz="1800" b="0" dirty="0">
                <a:latin typeface="微软雅黑" panose="020B0503020204020204" pitchFamily="34" charset="-122"/>
                <a:ea typeface="微软雅黑" panose="020B0503020204020204" pitchFamily="34" charset="-122"/>
              </a:rPr>
              <a:t>则</a:t>
            </a:r>
            <a:r>
              <a:rPr lang="zh-CN" altLang="en-US" sz="1800" b="0" dirty="0">
                <a:latin typeface="Times" panose="02020603050405020304" pitchFamily="18" charset="0"/>
                <a:ea typeface="宋体" panose="02010600030101010101" pitchFamily="2" charset="-122"/>
              </a:rPr>
              <a:t> </a:t>
            </a:r>
            <a:r>
              <a:rPr lang="en-US" altLang="zh-CN" sz="1800" i="1" dirty="0">
                <a:latin typeface="Times" panose="02020603050405020304" pitchFamily="18" charset="0"/>
                <a:ea typeface="宋体" panose="02010600030101010101" pitchFamily="2" charset="-122"/>
              </a:rPr>
              <a:t>n </a:t>
            </a:r>
            <a:r>
              <a:rPr lang="en-US" altLang="zh-CN" sz="1800" dirty="0">
                <a:latin typeface="Times" panose="02020603050405020304" pitchFamily="18" charset="0"/>
                <a:ea typeface="宋体" panose="02010600030101010101" pitchFamily="2" charset="-122"/>
              </a:rPr>
              <a:t>= 2</a:t>
            </a:r>
            <a:r>
              <a:rPr lang="en-US" altLang="zh-CN" sz="1800" baseline="30000" dirty="0">
                <a:latin typeface="Times" panose="02020603050405020304" pitchFamily="18" charset="0"/>
                <a:ea typeface="宋体" panose="02010600030101010101" pitchFamily="2" charset="-122"/>
              </a:rPr>
              <a:t>3</a:t>
            </a:r>
            <a:r>
              <a:rPr lang="en-US" altLang="zh-CN" sz="1800" dirty="0">
                <a:latin typeface="Times" panose="02020603050405020304" pitchFamily="18" charset="0"/>
                <a:ea typeface="宋体" panose="02010600030101010101" pitchFamily="2" charset="-122"/>
              </a:rPr>
              <a:t> − 1</a:t>
            </a:r>
            <a:r>
              <a:rPr lang="zh-CN" altLang="en-US" sz="1800" dirty="0">
                <a:latin typeface="Times" panose="02020603050405020304" pitchFamily="18" charset="0"/>
                <a:ea typeface="宋体" panose="02010600030101010101" pitchFamily="2" charset="-122"/>
              </a:rPr>
              <a:t>，</a:t>
            </a:r>
            <a:r>
              <a:rPr lang="en-US" altLang="zh-CN" sz="1800" i="1" dirty="0">
                <a:latin typeface="Times" panose="02020603050405020304" pitchFamily="18" charset="0"/>
                <a:ea typeface="宋体" panose="02010600030101010101" pitchFamily="2" charset="-122"/>
              </a:rPr>
              <a:t>k </a:t>
            </a:r>
            <a:r>
              <a:rPr lang="en-US" altLang="zh-CN" sz="1800" dirty="0">
                <a:latin typeface="Times" panose="02020603050405020304" pitchFamily="18" charset="0"/>
                <a:ea typeface="宋体" panose="02010600030101010101" pitchFamily="2" charset="-122"/>
              </a:rPr>
              <a:t>= 7 − 3 = 4</a:t>
            </a:r>
            <a:r>
              <a:rPr lang="zh-CN" altLang="en-US" sz="1800" b="0" dirty="0">
                <a:latin typeface="Times" panose="02020603050405020304" pitchFamily="18" charset="0"/>
                <a:ea typeface="宋体" panose="02010600030101010101" pitchFamily="2" charset="-122"/>
              </a:rPr>
              <a:t>，</a:t>
            </a:r>
            <a:r>
              <a:rPr lang="zh-CN" altLang="en-US" sz="1800" b="0" dirty="0">
                <a:latin typeface="微软雅黑" panose="020B0503020204020204" pitchFamily="34" charset="-122"/>
                <a:ea typeface="微软雅黑" panose="020B0503020204020204" pitchFamily="34" charset="-122"/>
              </a:rPr>
              <a:t>不符合</a:t>
            </a:r>
            <a:r>
              <a:rPr lang="zh-CN" altLang="en-US" sz="1800" b="0" dirty="0">
                <a:latin typeface="Times" panose="02020603050405020304" pitchFamily="18" charset="0"/>
                <a:ea typeface="宋体" panose="02010600030101010101" pitchFamily="2" charset="-122"/>
              </a:rPr>
              <a:t>。</a:t>
            </a:r>
            <a:endParaRPr lang="en-US" altLang="zh-CN" sz="1800" b="0" i="1" dirty="0">
              <a:latin typeface="Times" panose="02020603050405020304" pitchFamily="18" charset="0"/>
              <a:ea typeface="宋体" panose="02010600030101010101" pitchFamily="2" charset="-122"/>
            </a:endParaRPr>
          </a:p>
          <a:p>
            <a:pPr marL="285750" indent="-285750">
              <a:lnSpc>
                <a:spcPct val="250000"/>
              </a:lnSpc>
              <a:buClr>
                <a:srgbClr val="FF0000"/>
              </a:buClr>
              <a:buSzPct val="80000"/>
              <a:buFont typeface="Wingdings" panose="05000000000000000000" pitchFamily="2" charset="2"/>
              <a:buChar char="u"/>
              <a:defRPr/>
            </a:pPr>
            <a:r>
              <a:rPr lang="zh-CN" altLang="en-US" sz="1800" b="0" dirty="0">
                <a:latin typeface="微软雅黑" panose="020B0503020204020204" pitchFamily="34" charset="-122"/>
                <a:ea typeface="微软雅黑" panose="020B0503020204020204" pitchFamily="34" charset="-122"/>
              </a:rPr>
              <a:t>如果</a:t>
            </a:r>
            <a:r>
              <a:rPr lang="zh-CN" altLang="en-US" sz="1800" b="0" dirty="0">
                <a:latin typeface="Times" panose="02020603050405020304" pitchFamily="18" charset="0"/>
                <a:ea typeface="宋体" panose="02010600030101010101" pitchFamily="2" charset="-122"/>
              </a:rPr>
              <a:t> </a:t>
            </a:r>
            <a:r>
              <a:rPr lang="en-US" altLang="zh-CN" sz="1800" i="1" dirty="0">
                <a:latin typeface="Times" panose="02020603050405020304" pitchFamily="18" charset="0"/>
                <a:ea typeface="宋体" panose="02010600030101010101" pitchFamily="2" charset="-122"/>
              </a:rPr>
              <a:t>m</a:t>
            </a:r>
            <a:r>
              <a:rPr lang="en-US" altLang="zh-CN" sz="1800" dirty="0">
                <a:latin typeface="Times" panose="02020603050405020304" pitchFamily="18" charset="0"/>
                <a:ea typeface="宋体" panose="02010600030101010101" pitchFamily="2" charset="-122"/>
              </a:rPr>
              <a:t> = 4</a:t>
            </a:r>
            <a:r>
              <a:rPr lang="zh-CN" altLang="en-US" sz="1800" dirty="0">
                <a:latin typeface="Times" panose="02020603050405020304" pitchFamily="18" charset="0"/>
                <a:ea typeface="宋体" panose="02010600030101010101" pitchFamily="2" charset="-122"/>
              </a:rPr>
              <a:t>，</a:t>
            </a:r>
            <a:r>
              <a:rPr lang="zh-CN" altLang="en-US" sz="1800" b="0" dirty="0">
                <a:latin typeface="微软雅黑" panose="020B0503020204020204" pitchFamily="34" charset="-122"/>
                <a:ea typeface="微软雅黑" panose="020B0503020204020204" pitchFamily="34" charset="-122"/>
              </a:rPr>
              <a:t>则</a:t>
            </a:r>
            <a:r>
              <a:rPr lang="zh-CN" altLang="en-US" sz="1800" b="0" dirty="0">
                <a:latin typeface="Times" panose="02020603050405020304" pitchFamily="18" charset="0"/>
                <a:ea typeface="宋体" panose="02010600030101010101" pitchFamily="2" charset="-122"/>
              </a:rPr>
              <a:t> </a:t>
            </a:r>
            <a:r>
              <a:rPr lang="en-US" altLang="zh-CN" sz="1800" i="1" dirty="0">
                <a:latin typeface="Times" panose="02020603050405020304" pitchFamily="18" charset="0"/>
                <a:ea typeface="宋体" panose="02010600030101010101" pitchFamily="2" charset="-122"/>
              </a:rPr>
              <a:t>n </a:t>
            </a:r>
            <a:r>
              <a:rPr lang="en-US" altLang="zh-CN" sz="1800" dirty="0">
                <a:latin typeface="Times" panose="02020603050405020304" pitchFamily="18" charset="0"/>
                <a:ea typeface="宋体" panose="02010600030101010101" pitchFamily="2" charset="-122"/>
              </a:rPr>
              <a:t>= 2</a:t>
            </a:r>
            <a:r>
              <a:rPr lang="en-US" altLang="zh-CN" sz="1800" baseline="30000" dirty="0">
                <a:latin typeface="Times" panose="02020603050405020304" pitchFamily="18" charset="0"/>
                <a:ea typeface="宋体" panose="02010600030101010101" pitchFamily="2" charset="-122"/>
              </a:rPr>
              <a:t>4</a:t>
            </a:r>
            <a:r>
              <a:rPr lang="en-US" altLang="zh-CN" sz="1800" dirty="0">
                <a:latin typeface="Times" panose="02020603050405020304" pitchFamily="18" charset="0"/>
                <a:ea typeface="宋体" panose="02010600030101010101" pitchFamily="2" charset="-122"/>
              </a:rPr>
              <a:t> − 1 = 15</a:t>
            </a:r>
            <a:r>
              <a:rPr lang="zh-CN" altLang="en-US" sz="1800" i="1" dirty="0">
                <a:latin typeface="Times" panose="02020603050405020304" pitchFamily="18" charset="0"/>
                <a:ea typeface="宋体" panose="02010600030101010101" pitchFamily="2" charset="-122"/>
              </a:rPr>
              <a:t>，</a:t>
            </a:r>
            <a:r>
              <a:rPr lang="en-US" altLang="zh-CN" sz="1800" i="1" dirty="0">
                <a:latin typeface="Times" panose="02020603050405020304" pitchFamily="18" charset="0"/>
                <a:ea typeface="宋体" panose="02010600030101010101" pitchFamily="2" charset="-122"/>
              </a:rPr>
              <a:t>k </a:t>
            </a:r>
            <a:r>
              <a:rPr lang="en-US" altLang="zh-CN" sz="1800" dirty="0">
                <a:latin typeface="Times" panose="02020603050405020304" pitchFamily="18" charset="0"/>
                <a:ea typeface="宋体" panose="02010600030101010101" pitchFamily="2" charset="-122"/>
              </a:rPr>
              <a:t>= 15 − 4 = 11</a:t>
            </a:r>
            <a:r>
              <a:rPr lang="zh-CN" altLang="en-US" sz="1800" b="0" dirty="0">
                <a:latin typeface="Times" panose="02020603050405020304" pitchFamily="18" charset="0"/>
                <a:ea typeface="宋体" panose="02010600030101010101" pitchFamily="2" charset="-122"/>
              </a:rPr>
              <a:t>，</a:t>
            </a:r>
            <a:r>
              <a:rPr lang="zh-CN" altLang="en-US" sz="1800" b="0" dirty="0">
                <a:latin typeface="微软雅黑" panose="020B0503020204020204" pitchFamily="34" charset="-122"/>
                <a:ea typeface="微软雅黑" panose="020B0503020204020204" pitchFamily="34" charset="-122"/>
              </a:rPr>
              <a:t>满足条件。</a:t>
            </a:r>
            <a:endParaRPr lang="en-US" altLang="zh-CN" sz="1800" b="0" dirty="0">
              <a:latin typeface="微软雅黑" panose="020B0503020204020204" pitchFamily="34" charset="-122"/>
              <a:ea typeface="微软雅黑" panose="020B0503020204020204" pitchFamily="34" charset="-122"/>
            </a:endParaRPr>
          </a:p>
          <a:p>
            <a:pPr>
              <a:lnSpc>
                <a:spcPct val="250000"/>
              </a:lnSpc>
              <a:buClr>
                <a:srgbClr val="FF0000"/>
              </a:buClr>
              <a:buSzPct val="80000"/>
              <a:defRPr/>
            </a:pPr>
            <a:r>
              <a:rPr lang="zh-CN" altLang="en-US" sz="1800" b="0" dirty="0">
                <a:latin typeface="微软雅黑" panose="020B0503020204020204" pitchFamily="34" charset="-122"/>
                <a:ea typeface="微软雅黑" panose="020B0503020204020204" pitchFamily="34" charset="-122"/>
              </a:rPr>
              <a:t>因此编码是</a:t>
            </a:r>
            <a:r>
              <a:rPr lang="zh-CN" altLang="en-US" sz="1800" b="0" dirty="0">
                <a:latin typeface="Times" panose="02020603050405020304" pitchFamily="18" charset="0"/>
                <a:ea typeface="宋体" panose="02010600030101010101" pitchFamily="2" charset="-122"/>
              </a:rPr>
              <a:t> </a:t>
            </a:r>
            <a:r>
              <a:rPr lang="en-US" altLang="zh-CN" sz="1800" dirty="0">
                <a:latin typeface="Times" panose="02020603050405020304" pitchFamily="18" charset="0"/>
                <a:ea typeface="宋体" panose="02010600030101010101" pitchFamily="2" charset="-122"/>
              </a:rPr>
              <a:t>C(15, 11)</a:t>
            </a:r>
            <a:r>
              <a:rPr lang="zh-CN" altLang="en-US" sz="1800" dirty="0">
                <a:latin typeface="Times" panose="02020603050405020304" pitchFamily="18" charset="0"/>
                <a:ea typeface="宋体" panose="02010600030101010101" pitchFamily="2" charset="-122"/>
              </a:rPr>
              <a:t>。</a:t>
            </a:r>
            <a:endParaRPr lang="en-US" altLang="zh-CN" sz="1800" dirty="0">
              <a:latin typeface="Times" panose="02020603050405020304" pitchFamily="18" charset="0"/>
              <a:ea typeface="宋体" panose="02010600030101010101" pitchFamily="2"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Text Box 4">
            <a:extLst>
              <a:ext uri="{FF2B5EF4-FFF2-40B4-BE49-F238E27FC236}">
                <a16:creationId xmlns:a16="http://schemas.microsoft.com/office/drawing/2014/main" id="{0FD39E70-D78F-4EDD-BD8E-F3BFA6356818}"/>
              </a:ext>
            </a:extLst>
          </p:cNvPr>
          <p:cNvSpPr txBox="1">
            <a:spLocks noChangeArrowheads="1"/>
          </p:cNvSpPr>
          <p:nvPr/>
        </p:nvSpPr>
        <p:spPr bwMode="auto">
          <a:xfrm>
            <a:off x="4038601" y="5867400"/>
            <a:ext cx="36530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10.13  </a:t>
            </a:r>
            <a:r>
              <a:rPr lang="zh-CN" altLang="en-US" sz="1600" dirty="0">
                <a:latin typeface="Times New Roman" panose="02020603050405020304" pitchFamily="18" charset="0"/>
                <a:ea typeface="宋体" panose="02010600030101010101" pitchFamily="2" charset="-122"/>
              </a:rPr>
              <a:t>汉明码提高突发纠错能力</a:t>
            </a:r>
            <a:endParaRPr lang="en-US" altLang="zh-CN" sz="1600" dirty="0">
              <a:latin typeface="Times New Roman" panose="02020603050405020304" pitchFamily="18" charset="0"/>
              <a:ea typeface="宋体" panose="02010600030101010101" pitchFamily="2" charset="-122"/>
            </a:endParaRPr>
          </a:p>
        </p:txBody>
      </p:sp>
      <p:pic>
        <p:nvPicPr>
          <p:cNvPr id="75780" name="Picture 6">
            <a:extLst>
              <a:ext uri="{FF2B5EF4-FFF2-40B4-BE49-F238E27FC236}">
                <a16:creationId xmlns:a16="http://schemas.microsoft.com/office/drawing/2014/main" id="{446E0A26-1D54-4D74-AC4D-42B07F7791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3525" y="1219200"/>
            <a:ext cx="658495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722FFD0E-0F92-4754-875F-AA6CAFBD5B50}"/>
              </a:ext>
            </a:extLst>
          </p:cNvPr>
          <p:cNvSpPr>
            <a:spLocks noChangeArrowheads="1"/>
          </p:cNvSpPr>
          <p:nvPr/>
        </p:nvSpPr>
        <p:spPr bwMode="auto">
          <a:xfrm>
            <a:off x="0" y="0"/>
            <a:ext cx="12192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77828" name="Text Box 3">
            <a:extLst>
              <a:ext uri="{FF2B5EF4-FFF2-40B4-BE49-F238E27FC236}">
                <a16:creationId xmlns:a16="http://schemas.microsoft.com/office/drawing/2014/main" id="{06B4511D-F08E-4CF3-8A09-24A57A1ECDBE}"/>
              </a:ext>
            </a:extLst>
          </p:cNvPr>
          <p:cNvSpPr txBox="1">
            <a:spLocks noChangeArrowheads="1"/>
          </p:cNvSpPr>
          <p:nvPr/>
        </p:nvSpPr>
        <p:spPr bwMode="auto">
          <a:xfrm>
            <a:off x="533400" y="265111"/>
            <a:ext cx="2657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dirty="0">
                <a:latin typeface="微软雅黑" panose="020B0503020204020204" pitchFamily="34" charset="-122"/>
                <a:ea typeface="微软雅黑" panose="020B0503020204020204" pitchFamily="34" charset="-122"/>
              </a:rPr>
              <a:t>10.4   </a:t>
            </a:r>
            <a:r>
              <a:rPr lang="zh-CN" altLang="en-US" dirty="0">
                <a:latin typeface="微软雅黑" panose="020B0503020204020204" pitchFamily="34" charset="-122"/>
                <a:ea typeface="微软雅黑" panose="020B0503020204020204" pitchFamily="34" charset="-122"/>
              </a:rPr>
              <a:t>循环码</a:t>
            </a:r>
            <a:endParaRPr lang="en-US" altLang="zh-CN" dirty="0">
              <a:latin typeface="微软雅黑" panose="020B0503020204020204" pitchFamily="34" charset="-122"/>
              <a:ea typeface="微软雅黑" panose="020B0503020204020204" pitchFamily="34" charset="-122"/>
            </a:endParaRPr>
          </a:p>
        </p:txBody>
      </p:sp>
      <p:sp>
        <p:nvSpPr>
          <p:cNvPr id="77829" name="Text Box 4">
            <a:extLst>
              <a:ext uri="{FF2B5EF4-FFF2-40B4-BE49-F238E27FC236}">
                <a16:creationId xmlns:a16="http://schemas.microsoft.com/office/drawing/2014/main" id="{3FA18646-5F03-48CB-B6F7-00062A85058E}"/>
              </a:ext>
            </a:extLst>
          </p:cNvPr>
          <p:cNvSpPr txBox="1">
            <a:spLocks noChangeArrowheads="1"/>
          </p:cNvSpPr>
          <p:nvPr/>
        </p:nvSpPr>
        <p:spPr bwMode="auto">
          <a:xfrm>
            <a:off x="9753600" y="64008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zh-CN" sz="1800">
              <a:latin typeface="Times New Roman" panose="02020603050405020304" pitchFamily="18" charset="0"/>
              <a:ea typeface="宋体" panose="02010600030101010101" pitchFamily="2" charset="-122"/>
            </a:endParaRPr>
          </a:p>
        </p:txBody>
      </p:sp>
      <p:sp>
        <p:nvSpPr>
          <p:cNvPr id="77830" name="Rectangle 5">
            <a:extLst>
              <a:ext uri="{FF2B5EF4-FFF2-40B4-BE49-F238E27FC236}">
                <a16:creationId xmlns:a16="http://schemas.microsoft.com/office/drawing/2014/main" id="{A881A7BF-2C1F-4DD3-BA38-19B1B5E15717}"/>
              </a:ext>
            </a:extLst>
          </p:cNvPr>
          <p:cNvSpPr>
            <a:spLocks noChangeArrowheads="1"/>
          </p:cNvSpPr>
          <p:nvPr/>
        </p:nvSpPr>
        <p:spPr bwMode="auto">
          <a:xfrm>
            <a:off x="973138" y="1343481"/>
            <a:ext cx="10287000" cy="615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eaLnBrk="1" hangingPunct="1">
              <a:lnSpc>
                <a:spcPct val="200000"/>
              </a:lnSpc>
            </a:pPr>
            <a:r>
              <a:rPr lang="zh-CN" altLang="en-US" sz="2000" b="0" dirty="0">
                <a:solidFill>
                  <a:srgbClr val="FF0000"/>
                </a:solidFill>
                <a:latin typeface="微软雅黑" panose="020B0503020204020204" pitchFamily="34" charset="-122"/>
                <a:ea typeface="微软雅黑" panose="020B0503020204020204" pitchFamily="34" charset="-122"/>
              </a:rPr>
              <a:t>循环码</a:t>
            </a:r>
            <a:r>
              <a:rPr lang="zh-CN" altLang="en-US" sz="2000" b="0" dirty="0">
                <a:latin typeface="微软雅黑" panose="020B0503020204020204" pitchFamily="34" charset="-122"/>
                <a:ea typeface="微软雅黑" panose="020B0503020204020204" pitchFamily="34" charset="-122"/>
              </a:rPr>
              <a:t>是一种特殊的线性块编码，如果码字循环移位（旋转），其结果是另一个循环码字。</a:t>
            </a:r>
            <a:endParaRPr lang="en-US" altLang="zh-CN" sz="2000" b="0" dirty="0">
              <a:latin typeface="微软雅黑" panose="020B0503020204020204" pitchFamily="34" charset="-122"/>
              <a:ea typeface="微软雅黑" panose="020B0503020204020204" pitchFamily="34" charset="-122"/>
            </a:endParaRPr>
          </a:p>
        </p:txBody>
      </p:sp>
      <p:sp>
        <p:nvSpPr>
          <p:cNvPr id="77831" name="Text Box 2">
            <a:extLst>
              <a:ext uri="{FF2B5EF4-FFF2-40B4-BE49-F238E27FC236}">
                <a16:creationId xmlns:a16="http://schemas.microsoft.com/office/drawing/2014/main" id="{4656AFAB-10EC-4FBE-BEFF-4054584DB8D3}"/>
              </a:ext>
            </a:extLst>
          </p:cNvPr>
          <p:cNvSpPr txBox="1">
            <a:spLocks noChangeArrowheads="1"/>
          </p:cNvSpPr>
          <p:nvPr/>
        </p:nvSpPr>
        <p:spPr bwMode="auto">
          <a:xfrm>
            <a:off x="2736850" y="2362200"/>
            <a:ext cx="4013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a:solidFill>
                  <a:schemeClr val="folHlink"/>
                </a:solidFill>
                <a:latin typeface="Times New Roman" panose="02020603050405020304" pitchFamily="18" charset="0"/>
                <a:ea typeface="宋体" panose="02010600030101010101" pitchFamily="2" charset="-122"/>
              </a:rPr>
              <a:t>Table 10.6  </a:t>
            </a:r>
            <a:r>
              <a:rPr lang="en-US" altLang="zh-CN" sz="1600" i="1">
                <a:latin typeface="Times New Roman" panose="02020603050405020304" pitchFamily="18" charset="0"/>
                <a:ea typeface="宋体" panose="02010600030101010101" pitchFamily="2" charset="-122"/>
              </a:rPr>
              <a:t>C </a:t>
            </a:r>
            <a:r>
              <a:rPr lang="en-US" altLang="zh-CN" sz="1600">
                <a:latin typeface="Times New Roman" panose="02020603050405020304" pitchFamily="18" charset="0"/>
                <a:ea typeface="宋体" panose="02010600030101010101" pitchFamily="2" charset="-122"/>
              </a:rPr>
              <a:t>(7, 4) </a:t>
            </a:r>
            <a:r>
              <a:rPr lang="zh-CN" altLang="en-US" sz="1600">
                <a:latin typeface="Times New Roman" panose="02020603050405020304" pitchFamily="18" charset="0"/>
                <a:ea typeface="宋体" panose="02010600030101010101" pitchFamily="2" charset="-122"/>
              </a:rPr>
              <a:t>的循环冗余校验码 </a:t>
            </a:r>
            <a:r>
              <a:rPr lang="en-US" altLang="zh-CN" sz="1600">
                <a:latin typeface="Times New Roman" panose="02020603050405020304" pitchFamily="18" charset="0"/>
                <a:ea typeface="宋体" panose="02010600030101010101" pitchFamily="2" charset="-122"/>
              </a:rPr>
              <a:t>CRC</a:t>
            </a:r>
          </a:p>
        </p:txBody>
      </p:sp>
      <p:pic>
        <p:nvPicPr>
          <p:cNvPr id="77832" name="Picture 6">
            <a:extLst>
              <a:ext uri="{FF2B5EF4-FFF2-40B4-BE49-F238E27FC236}">
                <a16:creationId xmlns:a16="http://schemas.microsoft.com/office/drawing/2014/main" id="{D8CBA707-1A8B-41B4-88FC-0DB1A53DCA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3663" y="2725737"/>
            <a:ext cx="6965950" cy="341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文本框 2">
            <a:extLst>
              <a:ext uri="{FF2B5EF4-FFF2-40B4-BE49-F238E27FC236}">
                <a16:creationId xmlns:a16="http://schemas.microsoft.com/office/drawing/2014/main" id="{F8575D37-44C7-47A9-859D-635E99CB1988}"/>
              </a:ext>
            </a:extLst>
          </p:cNvPr>
          <p:cNvSpPr txBox="1">
            <a:spLocks noChangeArrowheads="1"/>
          </p:cNvSpPr>
          <p:nvPr/>
        </p:nvSpPr>
        <p:spPr bwMode="auto">
          <a:xfrm>
            <a:off x="1333500" y="1295400"/>
            <a:ext cx="9524999" cy="444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0" indent="0" algn="just">
              <a:lnSpc>
                <a:spcPct val="200000"/>
              </a:lnSpc>
              <a:buClr>
                <a:srgbClr val="002060"/>
              </a:buClr>
              <a:buSzPct val="80000"/>
            </a:pPr>
            <a:r>
              <a:rPr lang="zh-CN" altLang="en-US" sz="1800" b="0" dirty="0">
                <a:latin typeface="微软雅黑" panose="020B0503020204020204" pitchFamily="34" charset="-122"/>
                <a:ea typeface="微软雅黑" panose="020B0503020204020204" pitchFamily="34" charset="-122"/>
              </a:rPr>
              <a:t>循环冗余校验</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Cyclic Redundancy Check, CRC</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）生成的数字在传输或者存储之前计算出来并且附加到数据后面，然后接收方进行检验确定数据是否发生变化。计算过程为：</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200000"/>
              </a:lnSpc>
              <a:buClr>
                <a:srgbClr val="FF0000"/>
              </a:buClr>
              <a:buSzPct val="80000"/>
              <a:buFont typeface="Wingdings" panose="05000000000000000000" pitchFamily="2" charset="2"/>
              <a:buChar char="u"/>
            </a:pP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1800" b="0" i="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位数据字，右边加上 </a:t>
            </a:r>
            <a:r>
              <a:rPr lang="en-US" altLang="zh-CN" sz="18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 – k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位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，变成 </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1800" b="0" i="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位码字后传给生成器；</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200000"/>
              </a:lnSpc>
              <a:buClr>
                <a:srgbClr val="FF0000"/>
              </a:buClr>
              <a:buSzPct val="80000"/>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生成器用长度为 </a:t>
            </a:r>
            <a:r>
              <a:rPr lang="en-US" altLang="zh-CN" sz="18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 – k +</a:t>
            </a:r>
            <a:r>
              <a:rPr lang="en-US" altLang="zh-CN"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的除数（常称为生成多项式，简称</a:t>
            </a:r>
            <a:r>
              <a:rPr lang="zh-CN" altLang="en-US" sz="18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生成子</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、生成器）去除生成的 </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1800" b="0"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位码字（模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800" b="0"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除法）；</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200000"/>
              </a:lnSpc>
              <a:buClr>
                <a:srgbClr val="FF0000"/>
              </a:buClr>
              <a:buSzPct val="80000"/>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除法的商被丢弃，</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n – k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位余数加到数据字上生成要传输的码字。</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200000"/>
              </a:lnSpc>
              <a:buClr>
                <a:srgbClr val="FF0000"/>
              </a:buClr>
              <a:buSzPct val="80000"/>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校验器用相同的除数去除接收到的码字，得到的余数是 </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n – k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位</a:t>
            </a:r>
            <a:r>
              <a:rPr lang="zh-CN" altLang="en-US" sz="18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校正子</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200000"/>
              </a:lnSpc>
              <a:buClr>
                <a:srgbClr val="FF0000"/>
              </a:buClr>
              <a:buSzPct val="80000"/>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如果校正子全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，码字最左边 </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1800" b="0"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位被接收为数据字，否则丢弃。</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9876" name="文本框 3">
            <a:extLst>
              <a:ext uri="{FF2B5EF4-FFF2-40B4-BE49-F238E27FC236}">
                <a16:creationId xmlns:a16="http://schemas.microsoft.com/office/drawing/2014/main" id="{47778C0F-F2AC-4C77-93BF-EE96BAF13A4A}"/>
              </a:ext>
            </a:extLst>
          </p:cNvPr>
          <p:cNvSpPr txBox="1">
            <a:spLocks noChangeArrowheads="1"/>
          </p:cNvSpPr>
          <p:nvPr/>
        </p:nvSpPr>
        <p:spPr bwMode="auto">
          <a:xfrm>
            <a:off x="3962400" y="93908"/>
            <a:ext cx="4495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zh-CN" altLang="en-US" sz="2800" dirty="0">
                <a:solidFill>
                  <a:schemeClr val="bg1"/>
                </a:solidFill>
                <a:latin typeface="微软雅黑" panose="020B0503020204020204" pitchFamily="34" charset="-122"/>
                <a:ea typeface="微软雅黑" panose="020B0503020204020204" pitchFamily="34" charset="-122"/>
              </a:rPr>
              <a:t>循环冗余校验</a:t>
            </a:r>
            <a:r>
              <a:rPr lang="en-US" altLang="zh-CN" sz="2800" dirty="0">
                <a:solidFill>
                  <a:schemeClr val="bg1"/>
                </a:solidFill>
                <a:latin typeface="微软雅黑" panose="020B0503020204020204" pitchFamily="34" charset="-122"/>
                <a:ea typeface="微软雅黑" panose="020B0503020204020204" pitchFamily="34" charset="-122"/>
              </a:rPr>
              <a:t>CRC</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Text Box 4">
            <a:extLst>
              <a:ext uri="{FF2B5EF4-FFF2-40B4-BE49-F238E27FC236}">
                <a16:creationId xmlns:a16="http://schemas.microsoft.com/office/drawing/2014/main" id="{3F9EEF22-1D5A-43BB-9148-DA30C54E86D1}"/>
              </a:ext>
            </a:extLst>
          </p:cNvPr>
          <p:cNvSpPr txBox="1">
            <a:spLocks noChangeArrowheads="1"/>
          </p:cNvSpPr>
          <p:nvPr/>
        </p:nvSpPr>
        <p:spPr bwMode="auto">
          <a:xfrm>
            <a:off x="4436269" y="5818187"/>
            <a:ext cx="33194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10.14  </a:t>
            </a:r>
            <a:r>
              <a:rPr lang="en-US" altLang="zh-CN" sz="1600" dirty="0">
                <a:latin typeface="Times New Roman" panose="02020603050405020304" pitchFamily="18" charset="0"/>
                <a:ea typeface="宋体" panose="02010600030101010101" pitchFamily="2" charset="-122"/>
              </a:rPr>
              <a:t>CRC </a:t>
            </a:r>
            <a:r>
              <a:rPr lang="zh-CN" altLang="en-US" sz="1600" dirty="0">
                <a:latin typeface="Times New Roman" panose="02020603050405020304" pitchFamily="18" charset="0"/>
                <a:ea typeface="宋体" panose="02010600030101010101" pitchFamily="2" charset="-122"/>
              </a:rPr>
              <a:t>编码器和译码器</a:t>
            </a:r>
            <a:endParaRPr lang="en-US" altLang="zh-CN" sz="1600" dirty="0">
              <a:latin typeface="Times New Roman" panose="02020603050405020304" pitchFamily="18" charset="0"/>
              <a:ea typeface="宋体" panose="02010600030101010101" pitchFamily="2" charset="-122"/>
            </a:endParaRPr>
          </a:p>
        </p:txBody>
      </p:sp>
      <p:pic>
        <p:nvPicPr>
          <p:cNvPr id="80900" name="Picture 6">
            <a:extLst>
              <a:ext uri="{FF2B5EF4-FFF2-40B4-BE49-F238E27FC236}">
                <a16:creationId xmlns:a16="http://schemas.microsoft.com/office/drawing/2014/main" id="{659159DF-3432-4EC4-8DFB-27EEE5DCB6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7737" y="1517705"/>
            <a:ext cx="7443787" cy="3907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圆角矩形标注 7">
            <a:extLst>
              <a:ext uri="{FF2B5EF4-FFF2-40B4-BE49-F238E27FC236}">
                <a16:creationId xmlns:a16="http://schemas.microsoft.com/office/drawing/2014/main" id="{907ED8BA-452E-475A-89F2-6DAF2DD71638}"/>
              </a:ext>
            </a:extLst>
          </p:cNvPr>
          <p:cNvSpPr>
            <a:spLocks noChangeArrowheads="1"/>
          </p:cNvSpPr>
          <p:nvPr/>
        </p:nvSpPr>
        <p:spPr bwMode="auto">
          <a:xfrm>
            <a:off x="5216769" y="2286000"/>
            <a:ext cx="1295400" cy="304800"/>
          </a:xfrm>
          <a:prstGeom prst="wedgeRoundRectCallout">
            <a:avLst>
              <a:gd name="adj1" fmla="val 249"/>
              <a:gd name="adj2" fmla="val 326312"/>
              <a:gd name="adj3" fmla="val 16667"/>
            </a:avLst>
          </a:prstGeom>
          <a:solidFill>
            <a:srgbClr val="CCECFF"/>
          </a:solidFill>
          <a:ln w="9525" algn="ctr">
            <a:solidFill>
              <a:schemeClr val="tx1"/>
            </a:solidFill>
            <a:round/>
            <a:headEnd/>
            <a:tailEnd/>
          </a:ln>
        </p:spPr>
        <p:txBody>
          <a:bodyPr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长度为 </a:t>
            </a:r>
            <a:r>
              <a:rPr lang="en-US" altLang="zh-CN" sz="1400" i="1" dirty="0">
                <a:latin typeface="Times New Roman" panose="02020603050405020304" pitchFamily="18" charset="0"/>
                <a:ea typeface="宋体" panose="02010600030101010101" pitchFamily="2" charset="-122"/>
                <a:cs typeface="Times New Roman" panose="02020603050405020304" pitchFamily="18" charset="0"/>
              </a:rPr>
              <a:t>n-k</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+1</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Text Box 4">
            <a:extLst>
              <a:ext uri="{FF2B5EF4-FFF2-40B4-BE49-F238E27FC236}">
                <a16:creationId xmlns:a16="http://schemas.microsoft.com/office/drawing/2014/main" id="{035C691E-D178-4032-9385-4642BF0B369C}"/>
              </a:ext>
            </a:extLst>
          </p:cNvPr>
          <p:cNvSpPr txBox="1">
            <a:spLocks noChangeArrowheads="1"/>
          </p:cNvSpPr>
          <p:nvPr/>
        </p:nvSpPr>
        <p:spPr bwMode="auto">
          <a:xfrm>
            <a:off x="4238676" y="5791200"/>
            <a:ext cx="44053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a:solidFill>
                  <a:schemeClr val="folHlink"/>
                </a:solidFill>
                <a:latin typeface="Times New Roman" panose="02020603050405020304" pitchFamily="18" charset="0"/>
                <a:ea typeface="宋体" panose="02010600030101010101" pitchFamily="2" charset="-122"/>
              </a:rPr>
              <a:t>Figure 10.15  </a:t>
            </a:r>
            <a:r>
              <a:rPr lang="en-US" altLang="zh-CN" sz="1600">
                <a:latin typeface="Times New Roman" panose="02020603050405020304" pitchFamily="18" charset="0"/>
                <a:ea typeface="宋体" panose="02010600030101010101" pitchFamily="2" charset="-122"/>
              </a:rPr>
              <a:t>CRC</a:t>
            </a:r>
            <a:r>
              <a:rPr lang="zh-CN" altLang="en-US" sz="1600">
                <a:latin typeface="Times New Roman" panose="02020603050405020304" pitchFamily="18" charset="0"/>
                <a:ea typeface="宋体" panose="02010600030101010101" pitchFamily="2" charset="-122"/>
              </a:rPr>
              <a:t>编码器中的除法（模</a:t>
            </a:r>
            <a:r>
              <a:rPr lang="en-US" altLang="zh-CN" sz="1600">
                <a:latin typeface="Times New Roman" panose="02020603050405020304" pitchFamily="18" charset="0"/>
                <a:ea typeface="宋体" panose="02010600030101010101" pitchFamily="2" charset="-122"/>
              </a:rPr>
              <a:t>2</a:t>
            </a:r>
            <a:r>
              <a:rPr lang="zh-CN" altLang="en-US" sz="1600">
                <a:latin typeface="Times New Roman" panose="02020603050405020304" pitchFamily="18" charset="0"/>
                <a:ea typeface="宋体" panose="02010600030101010101" pitchFamily="2" charset="-122"/>
              </a:rPr>
              <a:t>运算）</a:t>
            </a:r>
            <a:endParaRPr lang="en-US" altLang="zh-CN" sz="1600">
              <a:latin typeface="Times New Roman" panose="02020603050405020304" pitchFamily="18" charset="0"/>
              <a:ea typeface="宋体" panose="02010600030101010101" pitchFamily="2" charset="-122"/>
            </a:endParaRPr>
          </a:p>
        </p:txBody>
      </p:sp>
      <p:pic>
        <p:nvPicPr>
          <p:cNvPr id="82948" name="Picture 6">
            <a:extLst>
              <a:ext uri="{FF2B5EF4-FFF2-40B4-BE49-F238E27FC236}">
                <a16:creationId xmlns:a16="http://schemas.microsoft.com/office/drawing/2014/main" id="{CE86B86F-4787-42BB-BAF5-FBE784CB5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3525" y="1319518"/>
            <a:ext cx="4158029" cy="4299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49" name="图片 6">
            <a:extLst>
              <a:ext uri="{FF2B5EF4-FFF2-40B4-BE49-F238E27FC236}">
                <a16:creationId xmlns:a16="http://schemas.microsoft.com/office/drawing/2014/main" id="{9E73BB2C-CDF2-461C-8479-5E3BDAFB6B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1628626"/>
            <a:ext cx="4405312" cy="3681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0" name="箭头: 右 7">
            <a:extLst>
              <a:ext uri="{FF2B5EF4-FFF2-40B4-BE49-F238E27FC236}">
                <a16:creationId xmlns:a16="http://schemas.microsoft.com/office/drawing/2014/main" id="{4D9727B3-4200-4901-89E7-B30318EBF8C0}"/>
              </a:ext>
            </a:extLst>
          </p:cNvPr>
          <p:cNvSpPr>
            <a:spLocks noChangeArrowheads="1"/>
          </p:cNvSpPr>
          <p:nvPr/>
        </p:nvSpPr>
        <p:spPr bwMode="auto">
          <a:xfrm>
            <a:off x="5861538" y="3259931"/>
            <a:ext cx="468923" cy="338138"/>
          </a:xfrm>
          <a:prstGeom prst="rightArrow">
            <a:avLst>
              <a:gd name="adj1" fmla="val 50000"/>
              <a:gd name="adj2" fmla="val 50000"/>
            </a:avLst>
          </a:prstGeom>
          <a:solidFill>
            <a:srgbClr val="0070C0"/>
          </a:solidFill>
          <a:ln w="9525" algn="ctr">
            <a:noFill/>
            <a:round/>
            <a:headEnd/>
            <a:tailEnd/>
          </a:ln>
          <a:effec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a:ea typeface="宋体" panose="02010600030101010101" pitchFamily="2"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Text Box 4">
            <a:extLst>
              <a:ext uri="{FF2B5EF4-FFF2-40B4-BE49-F238E27FC236}">
                <a16:creationId xmlns:a16="http://schemas.microsoft.com/office/drawing/2014/main" id="{DCBC0BD5-3827-4807-928A-E9E9AA77E506}"/>
              </a:ext>
            </a:extLst>
          </p:cNvPr>
          <p:cNvSpPr txBox="1">
            <a:spLocks noChangeArrowheads="1"/>
          </p:cNvSpPr>
          <p:nvPr/>
        </p:nvSpPr>
        <p:spPr bwMode="auto">
          <a:xfrm>
            <a:off x="3581400" y="5791200"/>
            <a:ext cx="51800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10.16</a:t>
            </a:r>
            <a:r>
              <a:rPr lang="en-US" altLang="zh-CN" sz="1600" i="1" dirty="0">
                <a:latin typeface="Times New Roman" panose="02020603050405020304" pitchFamily="18" charset="0"/>
                <a:ea typeface="宋体" panose="02010600030101010101" pitchFamily="2" charset="-122"/>
              </a:rPr>
              <a:t>   </a:t>
            </a:r>
            <a:r>
              <a:rPr lang="en-US" altLang="zh-CN" sz="1600" dirty="0">
                <a:latin typeface="Times New Roman" panose="02020603050405020304" pitchFamily="18" charset="0"/>
                <a:ea typeface="宋体" panose="02010600030101010101" pitchFamily="2" charset="-122"/>
              </a:rPr>
              <a:t>CRC</a:t>
            </a:r>
            <a:r>
              <a:rPr lang="zh-CN" altLang="en-US" sz="1600" dirty="0">
                <a:latin typeface="Times New Roman" panose="02020603050405020304" pitchFamily="18" charset="0"/>
                <a:ea typeface="宋体" panose="02010600030101010101" pitchFamily="2" charset="-122"/>
              </a:rPr>
              <a:t>的译码器中的除法（除尽和除不尽）</a:t>
            </a:r>
            <a:endParaRPr lang="en-US" altLang="zh-CN" sz="1600" dirty="0">
              <a:latin typeface="Times New Roman" panose="02020603050405020304" pitchFamily="18" charset="0"/>
              <a:ea typeface="宋体" panose="02010600030101010101" pitchFamily="2" charset="-122"/>
            </a:endParaRPr>
          </a:p>
        </p:txBody>
      </p:sp>
      <p:pic>
        <p:nvPicPr>
          <p:cNvPr id="84996" name="图片 2">
            <a:extLst>
              <a:ext uri="{FF2B5EF4-FFF2-40B4-BE49-F238E27FC236}">
                <a16:creationId xmlns:a16="http://schemas.microsoft.com/office/drawing/2014/main" id="{FA4BDDA3-442C-45A4-A641-86EE01CA4B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2459" y="1328664"/>
            <a:ext cx="7127082" cy="4200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Text Box 4">
            <a:extLst>
              <a:ext uri="{FF2B5EF4-FFF2-40B4-BE49-F238E27FC236}">
                <a16:creationId xmlns:a16="http://schemas.microsoft.com/office/drawing/2014/main" id="{3C19A534-8604-4560-97DE-3C89B9225185}"/>
              </a:ext>
            </a:extLst>
          </p:cNvPr>
          <p:cNvSpPr txBox="1">
            <a:spLocks noChangeArrowheads="1"/>
          </p:cNvSpPr>
          <p:nvPr/>
        </p:nvSpPr>
        <p:spPr bwMode="auto">
          <a:xfrm>
            <a:off x="4347368" y="5888635"/>
            <a:ext cx="34972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10.21   </a:t>
            </a:r>
            <a:r>
              <a:rPr lang="zh-CN" altLang="en-US" sz="1600" dirty="0">
                <a:latin typeface="Times New Roman" panose="02020603050405020304" pitchFamily="18" charset="0"/>
                <a:ea typeface="宋体" panose="02010600030101010101" pitchFamily="2" charset="-122"/>
              </a:rPr>
              <a:t>用多项式表示二进制字</a:t>
            </a:r>
            <a:endParaRPr lang="en-US" altLang="zh-CN" sz="1600" dirty="0">
              <a:latin typeface="Times New Roman" panose="02020603050405020304" pitchFamily="18" charset="0"/>
              <a:ea typeface="宋体" panose="02010600030101010101" pitchFamily="2" charset="-122"/>
            </a:endParaRPr>
          </a:p>
        </p:txBody>
      </p:sp>
      <p:pic>
        <p:nvPicPr>
          <p:cNvPr id="95236" name="Picture 6">
            <a:extLst>
              <a:ext uri="{FF2B5EF4-FFF2-40B4-BE49-F238E27FC236}">
                <a16:creationId xmlns:a16="http://schemas.microsoft.com/office/drawing/2014/main" id="{264187D1-9722-42F4-B5F3-6144BB4B0F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6737" y="3686341"/>
            <a:ext cx="7498526" cy="202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8" name="文本框 2">
            <a:extLst>
              <a:ext uri="{FF2B5EF4-FFF2-40B4-BE49-F238E27FC236}">
                <a16:creationId xmlns:a16="http://schemas.microsoft.com/office/drawing/2014/main" id="{97375280-29BD-4B89-B95C-CFCAEA6F5A64}"/>
              </a:ext>
            </a:extLst>
          </p:cNvPr>
          <p:cNvSpPr txBox="1">
            <a:spLocks noChangeArrowheads="1"/>
          </p:cNvSpPr>
          <p:nvPr/>
        </p:nvSpPr>
        <p:spPr bwMode="auto">
          <a:xfrm>
            <a:off x="1295400" y="1143200"/>
            <a:ext cx="9753600" cy="2264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150000"/>
              </a:lnSpc>
            </a:pP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若干个 </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0 </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组成的模式可以表示为以 </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0 </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为系数的多项式。幂次表示位所在的位置，系数表示位的值。</a:t>
            </a:r>
            <a:endPar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buClr>
                <a:srgbClr val="FF0000"/>
              </a:buClr>
              <a:buSzPct val="80000"/>
              <a:buFont typeface="Wingdings" panose="05000000000000000000" pitchFamily="2" charset="2"/>
              <a:buChar char="u"/>
            </a:pP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加减法：加和减相同，加减相同幂次项的系数，是删除相同项，保留不同项。</a:t>
            </a:r>
            <a:endPar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buClr>
                <a:srgbClr val="FF0000"/>
              </a:buClr>
              <a:buSzPct val="80000"/>
              <a:buFont typeface="Wingdings" panose="05000000000000000000" pitchFamily="2" charset="2"/>
              <a:buChar char="u"/>
            </a:pP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乘除法：幂次相加减。</a:t>
            </a:r>
          </a:p>
          <a:p>
            <a:pPr marL="285750" indent="-285750" algn="just">
              <a:lnSpc>
                <a:spcPct val="150000"/>
              </a:lnSpc>
              <a:buClr>
                <a:srgbClr val="FF0000"/>
              </a:buClr>
              <a:buSzPct val="80000"/>
              <a:buFont typeface="Wingdings" panose="05000000000000000000" pitchFamily="2" charset="2"/>
              <a:buChar char="u"/>
            </a:pP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多项式乘除：乘法是每项分别相乘，最后删除相同项，除法同二进制除法。</a:t>
            </a:r>
          </a:p>
          <a:p>
            <a:pPr marL="285750" indent="-285750" algn="just">
              <a:lnSpc>
                <a:spcPct val="150000"/>
              </a:lnSpc>
              <a:buClr>
                <a:srgbClr val="FF0000"/>
              </a:buClr>
              <a:buSzPct val="80000"/>
              <a:buFont typeface="Wingdings" panose="05000000000000000000" pitchFamily="2" charset="2"/>
              <a:buChar char="u"/>
            </a:pP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移位：左移 </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位表示在右边加上 </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个</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，每项乘以 </a:t>
            </a:r>
            <a:r>
              <a:rPr lang="en-US" altLang="zh-CN" sz="1600" i="1" dirty="0" err="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1600" i="1" baseline="30000" dirty="0" err="1">
                <a:latin typeface="Times New Roman" panose="02020603050405020304" pitchFamily="18" charset="0"/>
                <a:ea typeface="微软雅黑" panose="020B0503020204020204" pitchFamily="34" charset="-122"/>
                <a:cs typeface="Times New Roman" panose="02020603050405020304" pitchFamily="18" charset="0"/>
              </a:rPr>
              <a:t>m</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，右移 </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位表示删除右边 </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16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位，每项除以 </a:t>
            </a:r>
            <a:r>
              <a:rPr lang="en-US" altLang="zh-CN" sz="1600" i="1" dirty="0" err="1">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1600" i="1" baseline="30000" dirty="0" err="1">
                <a:latin typeface="Times New Roman" panose="02020603050405020304" pitchFamily="18" charset="0"/>
                <a:ea typeface="微软雅黑" panose="020B0503020204020204" pitchFamily="34" charset="-122"/>
                <a:cs typeface="Times New Roman" panose="02020603050405020304" pitchFamily="18" charset="0"/>
              </a:rPr>
              <a:t>m</a:t>
            </a:r>
            <a:r>
              <a:rPr lang="zh-CN" altLang="en-US" sz="1600" b="0" dirty="0">
                <a:latin typeface="Times New Roman" panose="02020603050405020304" pitchFamily="18" charset="0"/>
                <a:ea typeface="微软雅黑" panose="020B0503020204020204" pitchFamily="34" charset="-122"/>
                <a:cs typeface="Times New Roman" panose="02020603050405020304" pitchFamily="18" charset="0"/>
              </a:rPr>
              <a:t>，没有负幂次。</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Text Box 4">
            <a:extLst>
              <a:ext uri="{FF2B5EF4-FFF2-40B4-BE49-F238E27FC236}">
                <a16:creationId xmlns:a16="http://schemas.microsoft.com/office/drawing/2014/main" id="{66248372-3DDC-4F49-A998-461A0692605D}"/>
              </a:ext>
            </a:extLst>
          </p:cNvPr>
          <p:cNvSpPr txBox="1">
            <a:spLocks noChangeArrowheads="1"/>
          </p:cNvSpPr>
          <p:nvPr/>
        </p:nvSpPr>
        <p:spPr bwMode="auto">
          <a:xfrm>
            <a:off x="2057400" y="5655276"/>
            <a:ext cx="347511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10.22  </a:t>
            </a:r>
            <a:r>
              <a:rPr lang="zh-CN" altLang="en-US" sz="1600" dirty="0">
                <a:latin typeface="Times New Roman" panose="02020603050405020304" pitchFamily="18" charset="0"/>
                <a:ea typeface="宋体" panose="02010600030101010101" pitchFamily="2" charset="-122"/>
              </a:rPr>
              <a:t>使用多项式的</a:t>
            </a:r>
            <a:r>
              <a:rPr lang="en-US" altLang="zh-CN" sz="1600" dirty="0">
                <a:latin typeface="Times New Roman" panose="02020603050405020304" pitchFamily="18" charset="0"/>
                <a:ea typeface="宋体" panose="02010600030101010101" pitchFamily="2" charset="-122"/>
              </a:rPr>
              <a:t>CRC</a:t>
            </a:r>
            <a:r>
              <a:rPr lang="zh-CN" altLang="en-US" sz="1600" dirty="0">
                <a:latin typeface="Times New Roman" panose="02020603050405020304" pitchFamily="18" charset="0"/>
                <a:ea typeface="宋体" panose="02010600030101010101" pitchFamily="2" charset="-122"/>
              </a:rPr>
              <a:t>除法</a:t>
            </a:r>
            <a:endParaRPr lang="en-US" altLang="zh-CN" sz="1600" dirty="0">
              <a:latin typeface="Times New Roman" panose="02020603050405020304" pitchFamily="18" charset="0"/>
              <a:ea typeface="宋体" panose="02010600030101010101" pitchFamily="2" charset="-122"/>
            </a:endParaRPr>
          </a:p>
        </p:txBody>
      </p:sp>
      <p:pic>
        <p:nvPicPr>
          <p:cNvPr id="98308" name="Picture 6">
            <a:extLst>
              <a:ext uri="{FF2B5EF4-FFF2-40B4-BE49-F238E27FC236}">
                <a16:creationId xmlns:a16="http://schemas.microsoft.com/office/drawing/2014/main" id="{EDAA4ABF-92A3-4FAC-B577-259FBFC00B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610719"/>
            <a:ext cx="5159967" cy="36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ED0D84DF-6738-47BF-B7AD-99F788DB6730}"/>
              </a:ext>
            </a:extLst>
          </p:cNvPr>
          <p:cNvSpPr/>
          <p:nvPr/>
        </p:nvSpPr>
        <p:spPr>
          <a:xfrm>
            <a:off x="7315200" y="2065453"/>
            <a:ext cx="4419600" cy="3200363"/>
          </a:xfrm>
          <a:prstGeom prst="rect">
            <a:avLst/>
          </a:prstGeom>
        </p:spPr>
        <p:txBody>
          <a:bodyPr wrap="square">
            <a:spAutoFit/>
          </a:bodyPr>
          <a:lstStyle/>
          <a:p>
            <a:pPr algn="just">
              <a:lnSpc>
                <a:spcPct val="200000"/>
              </a:lnSpc>
            </a:pPr>
            <a:r>
              <a:rPr lang="zh-CN" altLang="en-US" sz="2400" dirty="0">
                <a:solidFill>
                  <a:srgbClr val="FF0000"/>
                </a:solidFill>
                <a:latin typeface="微软雅黑" panose="020B0503020204020204" pitchFamily="34" charset="-122"/>
                <a:ea typeface="微软雅黑" panose="020B0503020204020204" pitchFamily="34" charset="-122"/>
              </a:rPr>
              <a:t>计算</a:t>
            </a:r>
            <a:r>
              <a:rPr lang="zh-CN" altLang="en-US" sz="2000" b="0" dirty="0">
                <a:solidFill>
                  <a:srgbClr val="000000"/>
                </a:solidFill>
                <a:latin typeface="微软雅黑" panose="020B0503020204020204" pitchFamily="34" charset="-122"/>
                <a:ea typeface="微软雅黑" panose="020B0503020204020204" pitchFamily="34" charset="-122"/>
              </a:rPr>
              <a:t>：假设生成多项式为 </a:t>
            </a:r>
            <a:endParaRPr lang="en-US" altLang="zh-CN" sz="2000" b="0" dirty="0">
              <a:solidFill>
                <a:srgbClr val="000000"/>
              </a:solidFill>
              <a:latin typeface="微软雅黑" panose="020B0503020204020204" pitchFamily="34" charset="-122"/>
              <a:ea typeface="微软雅黑" panose="020B0503020204020204" pitchFamily="34" charset="-122"/>
            </a:endParaRPr>
          </a:p>
          <a:p>
            <a:pPr algn="just">
              <a:lnSpc>
                <a:spcPct val="200000"/>
              </a:lnSpc>
            </a:pPr>
            <a:r>
              <a:rPr lang="en-US" altLang="zh-CN" sz="20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G(</a:t>
            </a:r>
            <a:r>
              <a:rPr lang="en-US" altLang="zh-CN" sz="2000" b="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0" baseline="30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 </a:t>
            </a:r>
            <a:r>
              <a:rPr lang="en-US" altLang="zh-CN" sz="20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x </a:t>
            </a:r>
            <a:r>
              <a:rPr lang="en-US" altLang="zh-CN" sz="20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+ 1</a:t>
            </a:r>
          </a:p>
          <a:p>
            <a:pPr algn="just">
              <a:lnSpc>
                <a:spcPct val="200000"/>
              </a:lnSpc>
            </a:pPr>
            <a:r>
              <a:rPr lang="zh-CN" altLang="en-US" sz="2000" b="0" dirty="0">
                <a:solidFill>
                  <a:srgbClr val="000000"/>
                </a:solidFill>
                <a:latin typeface="微软雅黑" panose="020B0503020204020204" pitchFamily="34" charset="-122"/>
                <a:ea typeface="微软雅黑" panose="020B0503020204020204" pitchFamily="34" charset="-122"/>
              </a:rPr>
              <a:t>消息多项式为 </a:t>
            </a:r>
            <a:endParaRPr lang="en-US" altLang="zh-CN" sz="2000" b="0" dirty="0">
              <a:solidFill>
                <a:srgbClr val="000000"/>
              </a:solidFill>
              <a:latin typeface="微软雅黑" panose="020B0503020204020204" pitchFamily="34" charset="-122"/>
              <a:ea typeface="微软雅黑" panose="020B0503020204020204" pitchFamily="34" charset="-122"/>
            </a:endParaRPr>
          </a:p>
          <a:p>
            <a:pPr algn="just">
              <a:lnSpc>
                <a:spcPct val="200000"/>
              </a:lnSpc>
            </a:pPr>
            <a:r>
              <a:rPr lang="en-US" altLang="zh-CN" sz="2000" b="0" dirty="0">
                <a:solidFill>
                  <a:srgbClr val="000000"/>
                </a:solidFill>
                <a:latin typeface="微软雅黑" panose="020B0503020204020204" pitchFamily="34" charset="-122"/>
                <a:ea typeface="微软雅黑" panose="020B0503020204020204" pitchFamily="34" charset="-122"/>
              </a:rPr>
              <a:t>               </a:t>
            </a:r>
            <a:r>
              <a:rPr lang="en-US" altLang="zh-CN" sz="20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0" baseline="30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 </a:t>
            </a:r>
            <a:r>
              <a:rPr lang="en-US" altLang="zh-CN" sz="20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0" baseline="30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 </a:t>
            </a:r>
            <a:r>
              <a:rPr lang="en-US" altLang="zh-CN" sz="20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+ 1</a:t>
            </a:r>
          </a:p>
          <a:p>
            <a:pPr algn="just">
              <a:lnSpc>
                <a:spcPct val="200000"/>
              </a:lnSpc>
            </a:pPr>
            <a:r>
              <a:rPr lang="zh-CN" altLang="en-US" sz="2000" b="0" dirty="0">
                <a:solidFill>
                  <a:srgbClr val="000000"/>
                </a:solidFill>
                <a:latin typeface="微软雅黑" panose="020B0503020204020204" pitchFamily="34" charset="-122"/>
                <a:ea typeface="微软雅黑" panose="020B0503020204020204" pitchFamily="34" charset="-122"/>
              </a:rPr>
              <a:t>则 </a:t>
            </a:r>
            <a:r>
              <a:rPr lang="en-US" altLang="zh-CN" sz="2000" b="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CRC </a:t>
            </a:r>
            <a:r>
              <a:rPr lang="zh-CN" altLang="en-US" sz="2000" b="0" dirty="0">
                <a:solidFill>
                  <a:srgbClr val="000000"/>
                </a:solidFill>
                <a:latin typeface="微软雅黑" panose="020B0503020204020204" pitchFamily="34" charset="-122"/>
                <a:ea typeface="微软雅黑" panose="020B0503020204020204" pitchFamily="34" charset="-122"/>
              </a:rPr>
              <a:t>编码后的码字是什么？</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Text Box 4">
            <a:extLst>
              <a:ext uri="{FF2B5EF4-FFF2-40B4-BE49-F238E27FC236}">
                <a16:creationId xmlns:a16="http://schemas.microsoft.com/office/drawing/2014/main" id="{8681DC8D-9F79-44B5-AEE7-F460A3BEA6AB}"/>
              </a:ext>
            </a:extLst>
          </p:cNvPr>
          <p:cNvSpPr txBox="1">
            <a:spLocks noChangeArrowheads="1"/>
          </p:cNvSpPr>
          <p:nvPr/>
        </p:nvSpPr>
        <p:spPr bwMode="auto">
          <a:xfrm>
            <a:off x="4028872" y="103759"/>
            <a:ext cx="3429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zh-CN" sz="2800" dirty="0">
                <a:solidFill>
                  <a:schemeClr val="bg1"/>
                </a:solidFill>
                <a:latin typeface="微软雅黑" panose="020B0503020204020204" pitchFamily="34" charset="-122"/>
                <a:ea typeface="微软雅黑" panose="020B0503020204020204" pitchFamily="34" charset="-122"/>
              </a:rPr>
              <a:t>CRC</a:t>
            </a:r>
            <a:r>
              <a:rPr lang="zh-CN" altLang="en-US" sz="2800" dirty="0">
                <a:solidFill>
                  <a:schemeClr val="bg1"/>
                </a:solidFill>
                <a:latin typeface="微软雅黑" panose="020B0503020204020204" pitchFamily="34" charset="-122"/>
                <a:ea typeface="微软雅黑" panose="020B0503020204020204" pitchFamily="34" charset="-122"/>
              </a:rPr>
              <a:t>性能分析</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
        <p:nvSpPr>
          <p:cNvPr id="137220" name="Rectangle 11">
            <a:extLst>
              <a:ext uri="{FF2B5EF4-FFF2-40B4-BE49-F238E27FC236}">
                <a16:creationId xmlns:a16="http://schemas.microsoft.com/office/drawing/2014/main" id="{6764E481-8F5D-4590-9C6F-CA0A76EDB031}"/>
              </a:ext>
            </a:extLst>
          </p:cNvPr>
          <p:cNvSpPr>
            <a:spLocks noChangeArrowheads="1"/>
          </p:cNvSpPr>
          <p:nvPr/>
        </p:nvSpPr>
        <p:spPr bwMode="auto">
          <a:xfrm>
            <a:off x="1066800" y="1084385"/>
            <a:ext cx="9906000" cy="1285032"/>
          </a:xfrm>
          <a:prstGeom prst="rect">
            <a:avLst/>
          </a:prstGeom>
          <a:noFill/>
          <a:ln>
            <a:noFill/>
          </a:ln>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63538" indent="-363538" algn="just">
              <a:lnSpc>
                <a:spcPct val="150000"/>
              </a:lnSpc>
              <a:buClr>
                <a:srgbClr val="FF0000"/>
              </a:buClr>
              <a:buSzPct val="80000"/>
              <a:buFont typeface="Wingdings" panose="05000000000000000000" pitchFamily="2" charset="2"/>
              <a:buChar char="u"/>
              <a:defRPr/>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如果校正子</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 0</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说明有一位或多位被破坏；</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marL="363538" indent="-363538" algn="just">
              <a:lnSpc>
                <a:spcPct val="150000"/>
              </a:lnSpc>
              <a:buClr>
                <a:srgbClr val="FF0000"/>
              </a:buClr>
              <a:buSzPct val="80000"/>
              <a:buFont typeface="Wingdings" panose="05000000000000000000" pitchFamily="2" charset="2"/>
              <a:buChar char="u"/>
              <a:defRPr/>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如果</a:t>
            </a:r>
            <a:r>
              <a:rPr lang="zh-CN" altLang="en-US" sz="1800" b="0" i="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 0</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可能没有位被破坏，或者有一些位被破坏，但是译码器无法检测到（超出检错能力）。</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TextBox 16">
            <a:extLst>
              <a:ext uri="{FF2B5EF4-FFF2-40B4-BE49-F238E27FC236}">
                <a16:creationId xmlns:a16="http://schemas.microsoft.com/office/drawing/2014/main" id="{3268F0D2-BE30-466C-8DB7-DD5E80C08506}"/>
              </a:ext>
            </a:extLst>
          </p:cNvPr>
          <p:cNvSpPr txBox="1">
            <a:spLocks noChangeArrowheads="1"/>
          </p:cNvSpPr>
          <p:nvPr/>
        </p:nvSpPr>
        <p:spPr bwMode="auto">
          <a:xfrm>
            <a:off x="1447800" y="2395437"/>
            <a:ext cx="9525000" cy="455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ct val="150000"/>
              </a:lnSpc>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如果数据字为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d</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码字为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c</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生成多项式为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校正子为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差错为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e</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则</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8" name="Object 2">
            <a:extLst>
              <a:ext uri="{FF2B5EF4-FFF2-40B4-BE49-F238E27FC236}">
                <a16:creationId xmlns:a16="http://schemas.microsoft.com/office/drawing/2014/main" id="{1D1C23DD-C6A2-44FA-BDA3-F8CF1A084816}"/>
              </a:ext>
            </a:extLst>
          </p:cNvPr>
          <p:cNvGraphicFramePr>
            <a:graphicFrameLocks noChangeAspect="1"/>
          </p:cNvGraphicFramePr>
          <p:nvPr>
            <p:extLst>
              <p:ext uri="{D42A27DB-BD31-4B8C-83A1-F6EECF244321}">
                <p14:modId xmlns:p14="http://schemas.microsoft.com/office/powerpoint/2010/main" val="2587423958"/>
              </p:ext>
            </p:extLst>
          </p:nvPr>
        </p:nvGraphicFramePr>
        <p:xfrm>
          <a:off x="4366846" y="4109035"/>
          <a:ext cx="3117851" cy="716307"/>
        </p:xfrm>
        <a:graphic>
          <a:graphicData uri="http://schemas.openxmlformats.org/presentationml/2006/ole">
            <mc:AlternateContent xmlns:mc="http://schemas.openxmlformats.org/markup-compatibility/2006">
              <mc:Choice xmlns:v="urn:schemas-microsoft-com:vml" Requires="v">
                <p:oleObj spid="_x0000_s2062" name="Equation" r:id="rId4" imgW="1879600" imgH="431800" progId="Equation.DSMT4">
                  <p:embed/>
                </p:oleObj>
              </mc:Choice>
              <mc:Fallback>
                <p:oleObj name="Equation" r:id="rId4" imgW="1879600" imgH="431800" progId="Equation.DSMT4">
                  <p:embed/>
                  <p:pic>
                    <p:nvPicPr>
                      <p:cNvPr id="104452" name="Object 2">
                        <a:extLst>
                          <a:ext uri="{FF2B5EF4-FFF2-40B4-BE49-F238E27FC236}">
                            <a16:creationId xmlns:a16="http://schemas.microsoft.com/office/drawing/2014/main" id="{DA640163-C529-433D-9D62-D707B622A6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6846" y="4109035"/>
                        <a:ext cx="3117851" cy="716307"/>
                      </a:xfrm>
                      <a:prstGeom prst="rect">
                        <a:avLst/>
                      </a:prstGeom>
                      <a:noFill/>
                      <a:ln>
                        <a:noFill/>
                      </a:ln>
                      <a:effectLst/>
                    </p:spPr>
                  </p:pic>
                </p:oleObj>
              </mc:Fallback>
            </mc:AlternateContent>
          </a:graphicData>
        </a:graphic>
      </p:graphicFrame>
      <p:graphicFrame>
        <p:nvGraphicFramePr>
          <p:cNvPr id="9" name="Object 3">
            <a:extLst>
              <a:ext uri="{FF2B5EF4-FFF2-40B4-BE49-F238E27FC236}">
                <a16:creationId xmlns:a16="http://schemas.microsoft.com/office/drawing/2014/main" id="{5E8A3D70-01D1-4429-B9E8-836A31136C20}"/>
              </a:ext>
            </a:extLst>
          </p:cNvPr>
          <p:cNvGraphicFramePr>
            <a:graphicFrameLocks noChangeAspect="1"/>
          </p:cNvGraphicFramePr>
          <p:nvPr>
            <p:extLst>
              <p:ext uri="{D42A27DB-BD31-4B8C-83A1-F6EECF244321}">
                <p14:modId xmlns:p14="http://schemas.microsoft.com/office/powerpoint/2010/main" val="2523135967"/>
              </p:ext>
            </p:extLst>
          </p:nvPr>
        </p:nvGraphicFramePr>
        <p:xfrm>
          <a:off x="4366846" y="3399085"/>
          <a:ext cx="3117850" cy="384175"/>
        </p:xfrm>
        <a:graphic>
          <a:graphicData uri="http://schemas.openxmlformats.org/presentationml/2006/ole">
            <mc:AlternateContent xmlns:mc="http://schemas.openxmlformats.org/markup-compatibility/2006">
              <mc:Choice xmlns:v="urn:schemas-microsoft-com:vml" Requires="v">
                <p:oleObj spid="_x0000_s2063" name="Equation" r:id="rId6" imgW="1752600" imgH="215900" progId="Equation.DSMT4">
                  <p:embed/>
                </p:oleObj>
              </mc:Choice>
              <mc:Fallback>
                <p:oleObj name="Equation" r:id="rId6" imgW="1752600" imgH="215900" progId="Equation.DSMT4">
                  <p:embed/>
                  <p:pic>
                    <p:nvPicPr>
                      <p:cNvPr id="104453" name="Object 3">
                        <a:extLst>
                          <a:ext uri="{FF2B5EF4-FFF2-40B4-BE49-F238E27FC236}">
                            <a16:creationId xmlns:a16="http://schemas.microsoft.com/office/drawing/2014/main" id="{A1F5E7A0-D0A8-4032-83EF-94F7618F9B9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66846" y="3399085"/>
                        <a:ext cx="3117850" cy="384175"/>
                      </a:xfrm>
                      <a:prstGeom prst="rect">
                        <a:avLst/>
                      </a:prstGeom>
                      <a:noFill/>
                      <a:ln>
                        <a:noFill/>
                      </a:ln>
                      <a:effectLst/>
                    </p:spPr>
                  </p:pic>
                </p:oleObj>
              </mc:Fallback>
            </mc:AlternateContent>
          </a:graphicData>
        </a:graphic>
      </p:graphicFrame>
      <p:sp>
        <p:nvSpPr>
          <p:cNvPr id="10" name="Rectangle 11">
            <a:extLst>
              <a:ext uri="{FF2B5EF4-FFF2-40B4-BE49-F238E27FC236}">
                <a16:creationId xmlns:a16="http://schemas.microsoft.com/office/drawing/2014/main" id="{E61E2C57-2474-4CE0-B55D-3165C2483758}"/>
              </a:ext>
            </a:extLst>
          </p:cNvPr>
          <p:cNvSpPr>
            <a:spLocks noChangeArrowheads="1"/>
          </p:cNvSpPr>
          <p:nvPr/>
        </p:nvSpPr>
        <p:spPr bwMode="auto">
          <a:xfrm>
            <a:off x="1447800" y="5105401"/>
            <a:ext cx="9906000" cy="499432"/>
          </a:xfrm>
          <a:prstGeom prst="rect">
            <a:avLst/>
          </a:prstGeom>
          <a:noFill/>
          <a:ln>
            <a:noFill/>
          </a:ln>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ct val="150000"/>
              </a:lnSpc>
            </a:pPr>
            <a:r>
              <a:rPr lang="zh-CN" altLang="en-US" sz="2000" b="0" dirty="0">
                <a:latin typeface="微软雅黑" panose="020B0503020204020204" pitchFamily="34" charset="-122"/>
                <a:ea typeface="微软雅黑" panose="020B0503020204020204" pitchFamily="34" charset="-122"/>
              </a:rPr>
              <a:t>循环码中，</a:t>
            </a:r>
            <a:r>
              <a:rPr lang="zh-CN" altLang="en-US" sz="2000" b="0" dirty="0">
                <a:solidFill>
                  <a:srgbClr val="FF0000"/>
                </a:solidFill>
                <a:latin typeface="微软雅黑" panose="020B0503020204020204" pitchFamily="34" charset="-122"/>
                <a:ea typeface="微软雅黑" panose="020B0503020204020204" pitchFamily="34" charset="-122"/>
              </a:rPr>
              <a:t>有些可以被生成多项式 </a:t>
            </a:r>
            <a:r>
              <a:rPr lang="en-US" altLang="zh-CN" sz="20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0" dirty="0">
                <a:solidFill>
                  <a:srgbClr val="FF0000"/>
                </a:solidFill>
                <a:latin typeface="微软雅黑" panose="020B0503020204020204" pitchFamily="34" charset="-122"/>
                <a:ea typeface="微软雅黑" panose="020B0503020204020204" pitchFamily="34" charset="-122"/>
              </a:rPr>
              <a:t>整除的差错无法被捕捉到</a:t>
            </a:r>
            <a:r>
              <a:rPr lang="zh-CN" altLang="en-US" sz="2000" b="0" dirty="0">
                <a:latin typeface="微软雅黑" panose="020B0503020204020204" pitchFamily="34" charset="-122"/>
                <a:ea typeface="微软雅黑" panose="020B0503020204020204" pitchFamily="34" charset="-122"/>
              </a:rPr>
              <a:t>（发生的概率极小）。</a:t>
            </a:r>
            <a:endParaRPr lang="en-US" altLang="zh-CN" sz="2000" b="0"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0" name="文本框 1">
            <a:extLst>
              <a:ext uri="{FF2B5EF4-FFF2-40B4-BE49-F238E27FC236}">
                <a16:creationId xmlns:a16="http://schemas.microsoft.com/office/drawing/2014/main" id="{652DA2A4-1922-4A82-A994-3BEA5F0CCAE7}"/>
              </a:ext>
            </a:extLst>
          </p:cNvPr>
          <p:cNvSpPr txBox="1">
            <a:spLocks noChangeArrowheads="1"/>
          </p:cNvSpPr>
          <p:nvPr/>
        </p:nvSpPr>
        <p:spPr bwMode="auto">
          <a:xfrm>
            <a:off x="1143000" y="1033773"/>
            <a:ext cx="10210800" cy="111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0" indent="0" algn="just">
              <a:lnSpc>
                <a:spcPct val="200000"/>
              </a:lnSpc>
              <a:buClr>
                <a:srgbClr val="002060"/>
              </a:buClr>
              <a:buSzPct val="80000"/>
            </a:pPr>
            <a:r>
              <a:rPr lang="zh-CN" altLang="en-US" sz="1800" b="0" dirty="0">
                <a:latin typeface="微软雅黑" panose="020B0503020204020204" pitchFamily="34" charset="-122"/>
                <a:ea typeface="微软雅黑" panose="020B0503020204020204" pitchFamily="34" charset="-122"/>
              </a:rPr>
              <a:t>单个位差错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e</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i="1" baseline="30000" dirty="0">
                <a:latin typeface="Times New Roman" panose="02020603050405020304" pitchFamily="18" charset="0"/>
                <a:ea typeface="宋体" panose="02010600030101010101" pitchFamily="2" charset="-122"/>
                <a:cs typeface="Times New Roman" panose="02020603050405020304" pitchFamily="18" charset="0"/>
              </a:rPr>
              <a:t>i</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e</a:t>
            </a:r>
            <a:r>
              <a:rPr lang="en-US" altLang="zh-CN" sz="1800" dirty="0">
                <a:ea typeface="宋体" panose="02010600030101010101" pitchFamily="2" charset="-122"/>
              </a:rPr>
              <a:t>(</a:t>
            </a:r>
            <a:r>
              <a:rPr lang="en-US" altLang="zh-CN" sz="1800" i="1" dirty="0">
                <a:latin typeface="Times New Roman" panose="02020603050405020304" pitchFamily="18" charset="0"/>
                <a:ea typeface="宋体" panose="02010600030101010101" pitchFamily="2" charset="-122"/>
              </a:rPr>
              <a:t>x</a:t>
            </a:r>
            <a:r>
              <a:rPr lang="en-US" altLang="zh-CN" sz="1800" dirty="0">
                <a:ea typeface="宋体" panose="02010600030101010101" pitchFamily="2" charset="-122"/>
              </a:rPr>
              <a:t>) </a:t>
            </a:r>
            <a:r>
              <a:rPr lang="zh-CN" altLang="en-US" sz="1800" b="0" dirty="0">
                <a:latin typeface="微软雅黑" panose="020B0503020204020204" pitchFamily="34" charset="-122"/>
                <a:ea typeface="微软雅黑" panose="020B0503020204020204" pitchFamily="34" charset="-122"/>
              </a:rPr>
              <a:t>不被</a:t>
            </a:r>
            <a:r>
              <a:rPr lang="zh-CN" altLang="en-US" sz="1800" b="0" dirty="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g</a:t>
            </a:r>
            <a:r>
              <a:rPr lang="en-US" altLang="zh-CN" sz="1800" dirty="0">
                <a:ea typeface="宋体" panose="02010600030101010101" pitchFamily="2" charset="-122"/>
              </a:rPr>
              <a:t>(</a:t>
            </a:r>
            <a:r>
              <a:rPr lang="en-US" altLang="zh-CN" sz="1800" i="1" dirty="0">
                <a:latin typeface="Times New Roman" panose="02020603050405020304" pitchFamily="18" charset="0"/>
                <a:ea typeface="宋体" panose="02010600030101010101" pitchFamily="2" charset="-122"/>
              </a:rPr>
              <a:t>x</a:t>
            </a:r>
            <a:r>
              <a:rPr lang="en-US" altLang="zh-CN" sz="1800" dirty="0">
                <a:ea typeface="宋体" panose="02010600030101010101" pitchFamily="2" charset="-122"/>
              </a:rPr>
              <a:t>)</a:t>
            </a:r>
            <a:r>
              <a:rPr lang="en-US" altLang="zh-CN" sz="1800" b="0" dirty="0">
                <a:ea typeface="宋体" panose="02010600030101010101" pitchFamily="2" charset="-122"/>
              </a:rPr>
              <a:t> </a:t>
            </a:r>
            <a:r>
              <a:rPr lang="zh-CN" altLang="en-US" sz="1800" b="0" dirty="0">
                <a:latin typeface="微软雅黑" panose="020B0503020204020204" pitchFamily="34" charset="-122"/>
                <a:ea typeface="微软雅黑" panose="020B0503020204020204" pitchFamily="34" charset="-122"/>
              </a:rPr>
              <a:t>整除时可检测出单个位差错。若生成多项式至少有两项，且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baseline="30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0" dirty="0">
                <a:latin typeface="微软雅黑" panose="020B0503020204020204" pitchFamily="34" charset="-122"/>
                <a:ea typeface="微软雅黑" panose="020B0503020204020204" pitchFamily="34" charset="-122"/>
              </a:rPr>
              <a:t>的系数是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rPr>
              <a:t>则可检出所有单比特错误。</a:t>
            </a:r>
            <a:endParaRPr lang="en-US" altLang="zh-CN" sz="1800" b="0" dirty="0">
              <a:latin typeface="微软雅黑" panose="020B0503020204020204" pitchFamily="34" charset="-122"/>
              <a:ea typeface="微软雅黑" panose="020B0503020204020204" pitchFamily="34" charset="-122"/>
            </a:endParaRPr>
          </a:p>
        </p:txBody>
      </p:sp>
      <p:sp>
        <p:nvSpPr>
          <p:cNvPr id="106501" name="矩形 1">
            <a:extLst>
              <a:ext uri="{FF2B5EF4-FFF2-40B4-BE49-F238E27FC236}">
                <a16:creationId xmlns:a16="http://schemas.microsoft.com/office/drawing/2014/main" id="{92E5FF55-B819-4BDE-B788-FDF168B138BC}"/>
              </a:ext>
            </a:extLst>
          </p:cNvPr>
          <p:cNvSpPr>
            <a:spLocks noChangeArrowheads="1"/>
          </p:cNvSpPr>
          <p:nvPr/>
        </p:nvSpPr>
        <p:spPr bwMode="auto">
          <a:xfrm>
            <a:off x="3962400" y="78889"/>
            <a:ext cx="19800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zh-CN" altLang="en-US" sz="2800" dirty="0">
                <a:solidFill>
                  <a:schemeClr val="bg1"/>
                </a:solidFill>
                <a:latin typeface="微软雅黑" panose="020B0503020204020204" pitchFamily="34" charset="-122"/>
                <a:ea typeface="微软雅黑" panose="020B0503020204020204" pitchFamily="34" charset="-122"/>
              </a:rPr>
              <a:t>单个位差错</a:t>
            </a:r>
          </a:p>
        </p:txBody>
      </p:sp>
      <p:sp>
        <p:nvSpPr>
          <p:cNvPr id="6" name="Rectangle 9">
            <a:extLst>
              <a:ext uri="{FF2B5EF4-FFF2-40B4-BE49-F238E27FC236}">
                <a16:creationId xmlns:a16="http://schemas.microsoft.com/office/drawing/2014/main" id="{FFD2A523-62AE-4E99-907B-1878B01423D5}"/>
              </a:ext>
            </a:extLst>
          </p:cNvPr>
          <p:cNvSpPr>
            <a:spLocks noChangeArrowheads="1"/>
          </p:cNvSpPr>
          <p:nvPr/>
        </p:nvSpPr>
        <p:spPr bwMode="auto">
          <a:xfrm>
            <a:off x="1143000" y="2606765"/>
            <a:ext cx="7696200" cy="786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ct val="150000"/>
              </a:lnSpc>
            </a:pPr>
            <a:r>
              <a:rPr lang="zh-CN" altLang="en-US" sz="1600" dirty="0">
                <a:solidFill>
                  <a:srgbClr val="FF0000"/>
                </a:solidFill>
                <a:latin typeface="微软雅黑" panose="020B0503020204020204" pitchFamily="34" charset="-122"/>
                <a:ea typeface="微软雅黑" panose="020B0503020204020204" pitchFamily="34" charset="-122"/>
              </a:rPr>
              <a:t>例</a:t>
            </a:r>
            <a:r>
              <a:rPr lang="en-US" altLang="zh-CN" sz="1600" dirty="0">
                <a:solidFill>
                  <a:srgbClr val="FF0000"/>
                </a:solidFill>
                <a:latin typeface="微软雅黑" panose="020B0503020204020204" pitchFamily="34" charset="-122"/>
                <a:ea typeface="微软雅黑" panose="020B0503020204020204" pitchFamily="34" charset="-122"/>
              </a:rPr>
              <a:t>10.15  </a:t>
            </a:r>
            <a:r>
              <a:rPr lang="zh-CN" altLang="en-US" sz="1600" b="0" dirty="0">
                <a:latin typeface="微软雅黑" panose="020B0503020204020204" pitchFamily="34" charset="-122"/>
                <a:ea typeface="微软雅黑" panose="020B0503020204020204" pitchFamily="34" charset="-122"/>
              </a:rPr>
              <a:t>下面三个生成多项式的纠错能力如何？</a:t>
            </a:r>
            <a:endParaRPr lang="en-US" altLang="zh-CN" sz="1600" b="0" dirty="0">
              <a:latin typeface="微软雅黑" panose="020B0503020204020204" pitchFamily="34" charset="-122"/>
              <a:ea typeface="微软雅黑" panose="020B0503020204020204" pitchFamily="34" charset="-122"/>
            </a:endParaRPr>
          </a:p>
          <a:p>
            <a:pPr>
              <a:lnSpc>
                <a:spcPct val="150000"/>
              </a:lnSpc>
            </a:pPr>
            <a:r>
              <a:rPr lang="en-US" altLang="zh-CN" sz="1600" i="1" dirty="0">
                <a:latin typeface="Times New Roman" panose="02020603050405020304" pitchFamily="18" charset="0"/>
                <a:ea typeface="宋体" panose="02010600030101010101" pitchFamily="2" charset="-122"/>
              </a:rPr>
              <a:t>    a.  x +</a:t>
            </a:r>
            <a:r>
              <a:rPr lang="en-US" altLang="zh-CN" sz="1600" dirty="0">
                <a:latin typeface="Times New Roman" panose="02020603050405020304" pitchFamily="18" charset="0"/>
                <a:ea typeface="宋体" panose="02010600030101010101" pitchFamily="2" charset="-122"/>
              </a:rPr>
              <a:t> 1                   </a:t>
            </a:r>
            <a:r>
              <a:rPr lang="en-US" altLang="zh-CN" sz="1600" i="1" dirty="0">
                <a:latin typeface="Times New Roman" panose="02020603050405020304" pitchFamily="18" charset="0"/>
                <a:ea typeface="宋体" panose="02010600030101010101" pitchFamily="2" charset="-122"/>
              </a:rPr>
              <a:t>b. x</a:t>
            </a:r>
            <a:r>
              <a:rPr lang="en-US" altLang="zh-CN" sz="1600" baseline="30000" dirty="0">
                <a:latin typeface="Times New Roman" panose="02020603050405020304" pitchFamily="18" charset="0"/>
                <a:ea typeface="宋体" panose="02010600030101010101" pitchFamily="2" charset="-122"/>
              </a:rPr>
              <a:t>3</a:t>
            </a:r>
            <a:r>
              <a:rPr lang="en-US" altLang="zh-CN" sz="16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c. </a:t>
            </a:r>
            <a:r>
              <a:rPr lang="en-US" altLang="zh-CN" sz="1600" dirty="0">
                <a:latin typeface="Times New Roman" panose="02020603050405020304" pitchFamily="18" charset="0"/>
                <a:ea typeface="宋体" panose="02010600030101010101" pitchFamily="2" charset="-122"/>
              </a:rPr>
              <a:t>1</a:t>
            </a:r>
          </a:p>
        </p:txBody>
      </p:sp>
      <p:sp>
        <p:nvSpPr>
          <p:cNvPr id="7" name="Rectangle 10">
            <a:extLst>
              <a:ext uri="{FF2B5EF4-FFF2-40B4-BE49-F238E27FC236}">
                <a16:creationId xmlns:a16="http://schemas.microsoft.com/office/drawing/2014/main" id="{3C289FF8-EC81-40C8-B0F9-A3C5374611B1}"/>
              </a:ext>
            </a:extLst>
          </p:cNvPr>
          <p:cNvSpPr>
            <a:spLocks noChangeArrowheads="1"/>
          </p:cNvSpPr>
          <p:nvPr/>
        </p:nvSpPr>
        <p:spPr bwMode="auto">
          <a:xfrm>
            <a:off x="1337553" y="3505200"/>
            <a:ext cx="9982200" cy="1987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539750" indent="-539750" algn="just">
              <a:lnSpc>
                <a:spcPct val="200000"/>
              </a:lnSpc>
            </a:pP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0" i="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任何</a:t>
            </a:r>
            <a:r>
              <a:rPr lang="zh-CN" altLang="en-US" sz="1600" i="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600" i="1" baseline="30000"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0" dirty="0">
                <a:latin typeface="微软雅黑" panose="020B0503020204020204" pitchFamily="34" charset="-122"/>
                <a:ea typeface="微软雅黑" panose="020B0503020204020204" pitchFamily="34" charset="-122"/>
              </a:rPr>
              <a:t>都不能被</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x </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+ 1</a:t>
            </a:r>
            <a:r>
              <a:rPr lang="zh-CN" altLang="en-US" sz="1600" b="0" dirty="0">
                <a:latin typeface="微软雅黑" panose="020B0503020204020204" pitchFamily="34" charset="-122"/>
                <a:ea typeface="微软雅黑" panose="020B0503020204020204" pitchFamily="34" charset="-122"/>
              </a:rPr>
              <a:t>整除，因此可以捕捉到所有单个位差错。</a:t>
            </a:r>
            <a:endParaRPr lang="en-US" altLang="zh-CN" sz="1600" b="0" dirty="0">
              <a:latin typeface="微软雅黑" panose="020B0503020204020204" pitchFamily="34" charset="-122"/>
              <a:ea typeface="微软雅黑" panose="020B0503020204020204" pitchFamily="34" charset="-122"/>
            </a:endParaRPr>
          </a:p>
          <a:p>
            <a:pPr marL="234950" indent="-234950" algn="just">
              <a:lnSpc>
                <a:spcPct val="200000"/>
              </a:lnSpc>
            </a:pP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b. </a:t>
            </a:r>
            <a:r>
              <a:rPr lang="zh-CN" altLang="en-US" sz="1600" b="0" dirty="0">
                <a:latin typeface="微软雅黑" panose="020B0503020204020204" pitchFamily="34" charset="-122"/>
                <a:ea typeface="微软雅黑" panose="020B0503020204020204" pitchFamily="34" charset="-122"/>
              </a:rPr>
              <a:t>如果</a:t>
            </a:r>
            <a:r>
              <a:rPr lang="zh-CN" altLang="en-US" sz="1600" b="0" i="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i="1"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600" b="0" dirty="0">
                <a:latin typeface="微软雅黑" panose="020B0503020204020204" pitchFamily="34" charset="-122"/>
                <a:ea typeface="微软雅黑" panose="020B0503020204020204" pitchFamily="34" charset="-122"/>
              </a:rPr>
              <a:t>即被破坏的位在第 </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4</a:t>
            </a: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0" dirty="0">
                <a:latin typeface="微软雅黑" panose="020B0503020204020204" pitchFamily="34" charset="-122"/>
                <a:ea typeface="微软雅黑" panose="020B0503020204020204" pitchFamily="34" charset="-122"/>
              </a:rPr>
              <a:t>位或更高位，</a:t>
            </a: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600" i="1" baseline="30000" dirty="0">
                <a:latin typeface="Times New Roman" panose="02020603050405020304" pitchFamily="18" charset="0"/>
                <a:ea typeface="宋体" panose="02010600030101010101" pitchFamily="2" charset="-122"/>
                <a:cs typeface="Times New Roman" panose="02020603050405020304" pitchFamily="18" charset="0"/>
              </a:rPr>
              <a:t>i </a:t>
            </a:r>
            <a:r>
              <a:rPr lang="en-US" altLang="zh-CN" sz="1600" b="0" i="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0" dirty="0">
                <a:latin typeface="微软雅黑" panose="020B0503020204020204" pitchFamily="34" charset="-122"/>
                <a:ea typeface="微软雅黑" panose="020B0503020204020204" pitchFamily="34" charset="-122"/>
              </a:rPr>
              <a:t>可以被</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0" dirty="0">
                <a:latin typeface="微软雅黑" panose="020B0503020204020204" pitchFamily="34" charset="-122"/>
                <a:ea typeface="微软雅黑" panose="020B0503020204020204" pitchFamily="34" charset="-122"/>
              </a:rPr>
              <a:t>整除，则接收方认为没有差错，因此只能捕捉到在第</a:t>
            </a:r>
            <a:r>
              <a:rPr lang="zh-CN" altLang="en-US" sz="1600" dirty="0">
                <a:latin typeface="微软雅黑" panose="020B0503020204020204" pitchFamily="34" charset="-122"/>
                <a:ea typeface="微软雅黑" panose="020B0503020204020204" pitchFamily="34" charset="-122"/>
              </a:rPr>
              <a:t> </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1600" b="0" dirty="0">
                <a:latin typeface="微软雅黑" panose="020B0503020204020204" pitchFamily="34" charset="-122"/>
                <a:ea typeface="微软雅黑" panose="020B0503020204020204" pitchFamily="34" charset="-122"/>
              </a:rPr>
              <a:t>到第</a:t>
            </a:r>
            <a:r>
              <a:rPr lang="zh-CN" altLang="en-US" sz="1600"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a:t>
            </a:r>
            <a:r>
              <a:rPr lang="en-US" altLang="zh-CN" sz="1600" b="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位</a:t>
            </a:r>
            <a:r>
              <a:rPr lang="zh-CN" altLang="en-US" sz="1600" b="0" dirty="0">
                <a:latin typeface="微软雅黑" panose="020B0503020204020204" pitchFamily="34" charset="-122"/>
                <a:ea typeface="微软雅黑" panose="020B0503020204020204" pitchFamily="34" charset="-122"/>
              </a:rPr>
              <a:t>的单个位差错。</a:t>
            </a:r>
            <a:endParaRPr lang="en-US" altLang="zh-CN" sz="1600" b="0" dirty="0">
              <a:latin typeface="微软雅黑" panose="020B0503020204020204" pitchFamily="34" charset="-122"/>
              <a:ea typeface="微软雅黑" panose="020B0503020204020204" pitchFamily="34" charset="-122"/>
            </a:endParaRPr>
          </a:p>
          <a:p>
            <a:pPr marL="246063" indent="-246063" algn="just">
              <a:lnSpc>
                <a:spcPct val="200000"/>
              </a:lnSpc>
            </a:pP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c. </a:t>
            </a:r>
            <a:r>
              <a:rPr lang="en-US" altLang="zh-CN" sz="1600" i="1"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0" dirty="0">
                <a:latin typeface="微软雅黑" panose="020B0503020204020204" pitchFamily="34" charset="-122"/>
                <a:ea typeface="微软雅黑" panose="020B0503020204020204" pitchFamily="34" charset="-122"/>
              </a:rPr>
              <a:t>的所有值都可使 </a:t>
            </a: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600" i="1" baseline="30000"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0" dirty="0">
                <a:latin typeface="微软雅黑" panose="020B0503020204020204" pitchFamily="34" charset="-122"/>
                <a:ea typeface="微软雅黑" panose="020B0503020204020204" pitchFamily="34" charset="-122"/>
              </a:rPr>
              <a:t>被 </a:t>
            </a: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0" dirty="0">
                <a:latin typeface="微软雅黑" panose="020B0503020204020204" pitchFamily="34" charset="-122"/>
                <a:ea typeface="微软雅黑" panose="020B0503020204020204" pitchFamily="34" charset="-122"/>
              </a:rPr>
              <a:t>整除，因此无法捕捉到任何单个位差错，</a:t>
            </a: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6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0" dirty="0">
                <a:latin typeface="微软雅黑" panose="020B0503020204020204" pitchFamily="34" charset="-122"/>
                <a:ea typeface="微软雅黑" panose="020B0503020204020204" pitchFamily="34" charset="-122"/>
              </a:rPr>
              <a:t>是无用的。</a:t>
            </a:r>
            <a:endParaRPr lang="en-US" altLang="zh-CN" sz="1600" b="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文本框 1">
            <a:extLst>
              <a:ext uri="{FF2B5EF4-FFF2-40B4-BE49-F238E27FC236}">
                <a16:creationId xmlns:a16="http://schemas.microsoft.com/office/drawing/2014/main" id="{AF314C13-EEB4-4667-BD73-C8F4E8CE3860}"/>
              </a:ext>
            </a:extLst>
          </p:cNvPr>
          <p:cNvSpPr txBox="1">
            <a:spLocks noChangeArrowheads="1"/>
          </p:cNvSpPr>
          <p:nvPr/>
        </p:nvSpPr>
        <p:spPr bwMode="auto">
          <a:xfrm>
            <a:off x="1295400" y="1043500"/>
            <a:ext cx="9906000" cy="246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0" indent="0" algn="just">
              <a:lnSpc>
                <a:spcPct val="200000"/>
              </a:lnSpc>
              <a:buClr>
                <a:srgbClr val="002060"/>
              </a:buClr>
              <a:buSzPct val="80000"/>
            </a:pP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两个独立的单个位差错可表示为</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200000"/>
              </a:lnSpc>
              <a:buClr>
                <a:srgbClr val="002060"/>
              </a:buClr>
              <a:buSzPct val="80000"/>
            </a:pP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                        e</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000" i="1" baseline="30000"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 x </a:t>
            </a:r>
            <a:r>
              <a:rPr lang="en-US" altLang="zh-CN" sz="2000" i="1" baseline="30000" dirty="0">
                <a:latin typeface="Times New Roman" panose="02020603050405020304" pitchFamily="18" charset="0"/>
                <a:ea typeface="宋体" panose="02010600030101010101" pitchFamily="2" charset="-122"/>
                <a:cs typeface="Times New Roman" panose="02020603050405020304" pitchFamily="18" charset="0"/>
              </a:rPr>
              <a:t>j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000" i="1" baseline="30000" dirty="0">
                <a:latin typeface="Times New Roman" panose="02020603050405020304" pitchFamily="18" charset="0"/>
                <a:ea typeface="宋体" panose="02010600030101010101" pitchFamily="2" charset="-122"/>
                <a:cs typeface="Times New Roman" panose="02020603050405020304" pitchFamily="18" charset="0"/>
              </a:rPr>
              <a:t>i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x </a:t>
            </a:r>
            <a:r>
              <a:rPr lang="en-US" altLang="zh-CN" sz="2000" i="1" baseline="30000" dirty="0">
                <a:latin typeface="Times New Roman" panose="02020603050405020304" pitchFamily="18" charset="0"/>
                <a:ea typeface="宋体" panose="02010600030101010101" pitchFamily="2" charset="-122"/>
                <a:cs typeface="Times New Roman" panose="02020603050405020304" pitchFamily="18" charset="0"/>
              </a:rPr>
              <a:t>j - </a:t>
            </a:r>
            <a:r>
              <a:rPr lang="en-US" altLang="zh-CN" sz="2000" i="1" baseline="300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2000" i="1" baseline="30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 =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000" i="1" baseline="30000" dirty="0">
                <a:latin typeface="Times New Roman" panose="02020603050405020304" pitchFamily="18" charset="0"/>
                <a:ea typeface="宋体" panose="02010600030101010101" pitchFamily="2" charset="-122"/>
                <a:cs typeface="Times New Roman" panose="02020603050405020304" pitchFamily="18" charset="0"/>
              </a:rPr>
              <a:t>i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rPr>
              <a:t>x</a:t>
            </a:r>
            <a:r>
              <a:rPr lang="en-US" altLang="zh-CN" sz="2000" i="1" baseline="30000" dirty="0" err="1">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i="1" baseline="30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endParaRPr lang="en-US" altLang="zh-CN" sz="2000" b="0" dirty="0">
              <a:latin typeface="Times New Roman" panose="02020603050405020304" pitchFamily="18" charset="0"/>
              <a:ea typeface="宋体" panose="02010600030101010101" pitchFamily="2" charset="-122"/>
              <a:cs typeface="Times New Roman" panose="02020603050405020304" pitchFamily="18" charset="0"/>
            </a:endParaRPr>
          </a:p>
          <a:p>
            <a:pPr marL="0" indent="0" algn="just">
              <a:lnSpc>
                <a:spcPct val="200000"/>
              </a:lnSpc>
              <a:buClr>
                <a:srgbClr val="002060"/>
              </a:buClr>
              <a:buSzPct val="80000"/>
            </a:pP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若生成多项式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000" dirty="0">
                <a:ea typeface="宋体" panose="02010600030101010101" pitchFamily="2" charset="-122"/>
                <a:cs typeface="Times New Roman" panose="02020603050405020304" pitchFamily="18" charset="0"/>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000" dirty="0">
                <a:ea typeface="宋体" panose="02010600030101010101" pitchFamily="2" charset="-122"/>
                <a:cs typeface="Times New Roman" panose="02020603050405020304" pitchFamily="18" charset="0"/>
              </a:rPr>
              <a:t>) </a:t>
            </a: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不能整除 </a:t>
            </a:r>
            <a:r>
              <a:rPr lang="en-US" altLang="zh-CN" sz="2000" i="1" dirty="0" err="1">
                <a:latin typeface="Times New Roman" panose="02020603050405020304" pitchFamily="18" charset="0"/>
                <a:ea typeface="宋体" panose="02010600030101010101" pitchFamily="2" charset="-122"/>
                <a:cs typeface="Times New Roman" panose="02020603050405020304" pitchFamily="18" charset="0"/>
              </a:rPr>
              <a:t>x</a:t>
            </a:r>
            <a:r>
              <a:rPr lang="en-US" altLang="zh-CN" sz="2000" i="1" baseline="30000" dirty="0" err="1">
                <a:latin typeface="Times New Roman" panose="02020603050405020304" pitchFamily="18" charset="0"/>
                <a:ea typeface="宋体" panose="02010600030101010101" pitchFamily="2" charset="-122"/>
                <a:cs typeface="Times New Roman" panose="02020603050405020304" pitchFamily="18" charset="0"/>
              </a:rPr>
              <a:t>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t </a:t>
            </a: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在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和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n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- 1 </a:t>
            </a: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之间</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ea typeface="宋体" panose="02010600030101010101" pitchFamily="2" charset="-122"/>
              </a:rPr>
              <a:t>，</a:t>
            </a: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那么所有独立的双比特错误都能被检测到。</a:t>
            </a:r>
            <a:endParaRPr lang="en-US" altLang="zh-CN" sz="2000" b="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0597" name="矩形 1">
            <a:extLst>
              <a:ext uri="{FF2B5EF4-FFF2-40B4-BE49-F238E27FC236}">
                <a16:creationId xmlns:a16="http://schemas.microsoft.com/office/drawing/2014/main" id="{A4602BB9-9012-49E2-A7D2-A9A3AEF60C97}"/>
              </a:ext>
            </a:extLst>
          </p:cNvPr>
          <p:cNvSpPr>
            <a:spLocks noChangeArrowheads="1"/>
          </p:cNvSpPr>
          <p:nvPr/>
        </p:nvSpPr>
        <p:spPr bwMode="auto">
          <a:xfrm>
            <a:off x="3962400" y="76200"/>
            <a:ext cx="37753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zh-CN" altLang="en-US" sz="2800" dirty="0">
                <a:solidFill>
                  <a:schemeClr val="bg1"/>
                </a:solidFill>
                <a:latin typeface="微软雅黑" panose="020B0503020204020204" pitchFamily="34" charset="-122"/>
                <a:ea typeface="微软雅黑" panose="020B0503020204020204" pitchFamily="34" charset="-122"/>
              </a:rPr>
              <a:t>两个独立的单个位差错</a:t>
            </a:r>
          </a:p>
        </p:txBody>
      </p:sp>
      <p:pic>
        <p:nvPicPr>
          <p:cNvPr id="110598" name="Picture 6">
            <a:extLst>
              <a:ext uri="{FF2B5EF4-FFF2-40B4-BE49-F238E27FC236}">
                <a16:creationId xmlns:a16="http://schemas.microsoft.com/office/drawing/2014/main" id="{2F102EFA-2F81-4F2F-BB13-3F9AA079DF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810000"/>
            <a:ext cx="5746548"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9" name="Text Box 4">
            <a:extLst>
              <a:ext uri="{FF2B5EF4-FFF2-40B4-BE49-F238E27FC236}">
                <a16:creationId xmlns:a16="http://schemas.microsoft.com/office/drawing/2014/main" id="{CD903CCD-50E9-4AC6-8529-0A2592331042}"/>
              </a:ext>
            </a:extLst>
          </p:cNvPr>
          <p:cNvSpPr txBox="1">
            <a:spLocks noChangeArrowheads="1"/>
          </p:cNvSpPr>
          <p:nvPr/>
        </p:nvSpPr>
        <p:spPr bwMode="auto">
          <a:xfrm>
            <a:off x="3596237" y="5545931"/>
            <a:ext cx="51514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10.23</a:t>
            </a:r>
            <a:r>
              <a:rPr lang="en-US" altLang="zh-CN" sz="1600" i="1"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使用多项式表示的两个独立的单个位差错</a:t>
            </a:r>
            <a:endParaRPr lang="en-US" altLang="zh-CN" sz="16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7763" name="对象 2">
            <a:extLst>
              <a:ext uri="{FF2B5EF4-FFF2-40B4-BE49-F238E27FC236}">
                <a16:creationId xmlns:a16="http://schemas.microsoft.com/office/drawing/2014/main" id="{2836B418-569E-460F-A78C-C20EC4B3D19B}"/>
              </a:ext>
            </a:extLst>
          </p:cNvPr>
          <p:cNvGraphicFramePr>
            <a:graphicFrameLocks noChangeAspect="1"/>
          </p:cNvGraphicFramePr>
          <p:nvPr>
            <p:extLst>
              <p:ext uri="{D42A27DB-BD31-4B8C-83A1-F6EECF244321}">
                <p14:modId xmlns:p14="http://schemas.microsoft.com/office/powerpoint/2010/main" val="2196430451"/>
              </p:ext>
            </p:extLst>
          </p:nvPr>
        </p:nvGraphicFramePr>
        <p:xfrm>
          <a:off x="3581401" y="1586890"/>
          <a:ext cx="4919347" cy="523220"/>
        </p:xfrm>
        <a:graphic>
          <a:graphicData uri="http://schemas.openxmlformats.org/presentationml/2006/ole">
            <mc:AlternateContent xmlns:mc="http://schemas.openxmlformats.org/markup-compatibility/2006">
              <mc:Choice xmlns:v="urn:schemas-microsoft-com:vml" Requires="v">
                <p:oleObj spid="_x0000_s4104" name="Equation" r:id="rId4" imgW="1409088" imgH="165028" progId="Equation.DSMT4">
                  <p:embed/>
                </p:oleObj>
              </mc:Choice>
              <mc:Fallback>
                <p:oleObj name="Equation" r:id="rId4" imgW="1409088" imgH="165028" progId="Equation.DSMT4">
                  <p:embed/>
                  <p:pic>
                    <p:nvPicPr>
                      <p:cNvPr id="0"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1" y="1586890"/>
                        <a:ext cx="4919347" cy="523220"/>
                      </a:xfrm>
                      <a:prstGeom prst="rect">
                        <a:avLst/>
                      </a:prstGeom>
                      <a:noFill/>
                      <a:ln>
                        <a:noFill/>
                      </a:ln>
                    </p:spPr>
                  </p:pic>
                </p:oleObj>
              </mc:Fallback>
            </mc:AlternateContent>
          </a:graphicData>
        </a:graphic>
      </p:graphicFrame>
      <p:sp>
        <p:nvSpPr>
          <p:cNvPr id="152589" name="文本框 3">
            <a:extLst>
              <a:ext uri="{FF2B5EF4-FFF2-40B4-BE49-F238E27FC236}">
                <a16:creationId xmlns:a16="http://schemas.microsoft.com/office/drawing/2014/main" id="{4E142737-3044-40AB-9612-C0CBAC97B69A}"/>
              </a:ext>
            </a:extLst>
          </p:cNvPr>
          <p:cNvSpPr txBox="1">
            <a:spLocks noChangeArrowheads="1"/>
          </p:cNvSpPr>
          <p:nvPr/>
        </p:nvSpPr>
        <p:spPr bwMode="auto">
          <a:xfrm>
            <a:off x="1258922" y="2209800"/>
            <a:ext cx="9753600" cy="3724994"/>
          </a:xfrm>
          <a:prstGeom prst="rect">
            <a:avLst/>
          </a:prstGeom>
          <a:noFill/>
          <a:ln>
            <a:noFill/>
          </a:ln>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ts val="3600"/>
              </a:lnSpc>
              <a:defRPr/>
            </a:pPr>
            <a:r>
              <a:rPr lang="zh-CN" altLang="en-US" sz="1800" b="0" dirty="0">
                <a:latin typeface="微软雅黑" panose="020B0503020204020204" pitchFamily="34" charset="-122"/>
                <a:ea typeface="微软雅黑" panose="020B0503020204020204" pitchFamily="34" charset="-122"/>
              </a:rPr>
              <a:t>如果生成多项式能检测到单个差错，则不能整除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b="0" i="1" baseline="30000" dirty="0">
                <a:latin typeface="Times New Roman" panose="02020603050405020304" pitchFamily="18" charset="0"/>
                <a:ea typeface="宋体" panose="02010600030101010101" pitchFamily="2" charset="-122"/>
                <a:cs typeface="Times New Roman" panose="02020603050405020304" pitchFamily="18" charset="0"/>
              </a:rPr>
              <a:t>i</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rPr>
              <a:t>因此只讨论</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x </a:t>
            </a:r>
            <a:r>
              <a:rPr lang="en-US" altLang="zh-CN" sz="1800" b="0" i="1" baseline="30000" dirty="0">
                <a:latin typeface="Times New Roman" panose="02020603050405020304" pitchFamily="18" charset="0"/>
                <a:ea typeface="宋体" panose="02010600030101010101" pitchFamily="2" charset="-122"/>
                <a:cs typeface="Times New Roman" panose="02020603050405020304" pitchFamily="18" charset="0"/>
              </a:rPr>
              <a:t>j-</a:t>
            </a:r>
            <a:r>
              <a:rPr lang="en-US" altLang="zh-CN" sz="1800" b="0" i="1" baseline="300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0" i="1" baseline="30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 x </a:t>
            </a:r>
            <a:r>
              <a:rPr lang="en-US" altLang="zh-CN" sz="1800" b="0" i="1" baseline="30000" dirty="0">
                <a:latin typeface="Times New Roman" panose="02020603050405020304" pitchFamily="18" charset="0"/>
                <a:ea typeface="宋体" panose="02010600030101010101" pitchFamily="2" charset="-122"/>
                <a:cs typeface="Times New Roman" panose="02020603050405020304" pitchFamily="18" charset="0"/>
              </a:rPr>
              <a:t>r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rPr>
              <a:t>的余数：</a:t>
            </a:r>
            <a:endParaRPr lang="en-US" altLang="zh-CN" sz="1800" b="0" dirty="0">
              <a:latin typeface="微软雅黑" panose="020B0503020204020204" pitchFamily="34" charset="-122"/>
              <a:ea typeface="微软雅黑" panose="020B0503020204020204" pitchFamily="34" charset="-122"/>
            </a:endParaRPr>
          </a:p>
          <a:p>
            <a:pPr marL="539750" indent="-363538" algn="just">
              <a:lnSpc>
                <a:spcPts val="3600"/>
              </a:lnSpc>
              <a:buClr>
                <a:srgbClr val="FF0000"/>
              </a:buClr>
              <a:buSzPct val="80000"/>
              <a:buFont typeface="Wingdings" panose="05000000000000000000" pitchFamily="2" charset="2"/>
              <a:buChar char="u"/>
              <a:tabLst>
                <a:tab pos="895350" algn="l"/>
              </a:tabLst>
              <a:defRPr/>
            </a:pPr>
            <a:r>
              <a:rPr lang="zh-CN" altLang="en-US" sz="1800" b="0" dirty="0">
                <a:latin typeface="微软雅黑" panose="020B0503020204020204" pitchFamily="34" charset="-122"/>
                <a:ea typeface="微软雅黑" panose="020B0503020204020204" pitchFamily="34" charset="-122"/>
              </a:rPr>
              <a:t>如果</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j </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i="1"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&lt;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rPr>
              <a:t>余数不会为</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rPr>
              <a:t>记作</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j </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i="1"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rPr>
              <a:t>即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&lt;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r </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b="0" dirty="0">
                <a:latin typeface="微软雅黑" panose="020B0503020204020204" pitchFamily="34" charset="-122"/>
                <a:ea typeface="微软雅黑" panose="020B0503020204020204" pitchFamily="34" charset="-122"/>
              </a:rPr>
              <a:t>或</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L </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rPr>
              <a:t>所有长度小于或等于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0" dirty="0">
                <a:latin typeface="微软雅黑" panose="020B0503020204020204" pitchFamily="34" charset="-122"/>
                <a:ea typeface="微软雅黑" panose="020B0503020204020204" pitchFamily="34" charset="-122"/>
              </a:rPr>
              <a:t>的突发性差错都能被检测到</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b="0" dirty="0">
              <a:latin typeface="Times New Roman" panose="02020603050405020304" pitchFamily="18" charset="0"/>
              <a:ea typeface="宋体" panose="02010600030101010101" pitchFamily="2" charset="-122"/>
              <a:cs typeface="Times New Roman" panose="02020603050405020304" pitchFamily="18" charset="0"/>
            </a:endParaRPr>
          </a:p>
          <a:p>
            <a:pPr marL="539750" indent="-363538" algn="just">
              <a:lnSpc>
                <a:spcPts val="3600"/>
              </a:lnSpc>
              <a:buClr>
                <a:srgbClr val="FF0000"/>
              </a:buClr>
              <a:buSzPct val="80000"/>
              <a:buFont typeface="Wingdings" panose="05000000000000000000" pitchFamily="2" charset="2"/>
              <a:buChar char="u"/>
              <a:tabLst>
                <a:tab pos="895350" algn="l"/>
              </a:tabLst>
              <a:defRPr/>
            </a:pPr>
            <a:r>
              <a:rPr lang="zh-CN" altLang="en-US" sz="1800" b="0" dirty="0">
                <a:latin typeface="微软雅黑" panose="020B0503020204020204" pitchFamily="34" charset="-122"/>
                <a:ea typeface="微软雅黑" panose="020B0503020204020204" pitchFamily="34" charset="-122"/>
              </a:rPr>
              <a:t>如果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j </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i="1"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r </a:t>
            </a:r>
            <a:r>
              <a:rPr lang="zh-CN" altLang="en-US" sz="1800" b="0" dirty="0">
                <a:latin typeface="微软雅黑" panose="020B0503020204020204" pitchFamily="34" charset="-122"/>
                <a:ea typeface="微软雅黑" panose="020B0503020204020204" pitchFamily="34" charset="-122"/>
              </a:rPr>
              <a:t>或</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L </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rPr>
              <a:t>校正子为</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rPr>
              <a:t>被检测到的概率是</a:t>
            </a:r>
            <a:r>
              <a:rPr lang="en-US" altLang="zh-CN" sz="1800" b="0" dirty="0">
                <a:latin typeface="Times New Roman" panose="02020603050405020304" pitchFamily="18" charset="0"/>
                <a:ea typeface="微软雅黑" panose="020B0503020204020204" pitchFamily="34" charset="-122"/>
                <a:cs typeface="Times New Roman" panose="02020603050405020304" pitchFamily="18" charset="0"/>
              </a:rPr>
              <a:t>1 – (1/2) </a:t>
            </a:r>
            <a:r>
              <a:rPr lang="en-US" altLang="zh-CN" sz="1800" b="0" i="1" baseline="30000"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800" b="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rPr>
              <a:t>某些情况中差错无法被检测到（少见）。</a:t>
            </a:r>
            <a:endParaRPr lang="en-US" altLang="zh-CN" sz="1800" b="0" dirty="0">
              <a:latin typeface="Times New Roman" panose="02020603050405020304" pitchFamily="18" charset="0"/>
              <a:ea typeface="微软雅黑" panose="020B0503020204020204" pitchFamily="34" charset="-122"/>
              <a:cs typeface="Times New Roman" panose="02020603050405020304" pitchFamily="18" charset="0"/>
            </a:endParaRPr>
          </a:p>
          <a:p>
            <a:pPr marL="539750" indent="-363538" algn="just">
              <a:lnSpc>
                <a:spcPts val="3600"/>
              </a:lnSpc>
              <a:buClr>
                <a:srgbClr val="FF0000"/>
              </a:buClr>
              <a:buSzPct val="80000"/>
              <a:buFont typeface="Wingdings" panose="05000000000000000000" pitchFamily="2" charset="2"/>
              <a:buChar char="u"/>
              <a:tabLst>
                <a:tab pos="895350" algn="l"/>
              </a:tabLst>
              <a:defRPr/>
            </a:pPr>
            <a:r>
              <a:rPr lang="zh-CN" altLang="en-US" sz="1800" b="0" dirty="0">
                <a:latin typeface="微软雅黑" panose="020B0503020204020204" pitchFamily="34" charset="-122"/>
                <a:ea typeface="微软雅黑" panose="020B0503020204020204" pitchFamily="34" charset="-122"/>
              </a:rPr>
              <a:t>如果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j </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i="1"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&gt;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r </a:t>
            </a:r>
            <a:r>
              <a:rPr lang="zh-CN" altLang="en-US" sz="1800" b="0" dirty="0">
                <a:latin typeface="微软雅黑" panose="020B0503020204020204" pitchFamily="34" charset="-122"/>
                <a:ea typeface="微软雅黑" panose="020B0503020204020204" pitchFamily="34" charset="-122"/>
              </a:rPr>
              <a:t>或</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L </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&gt;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rPr>
              <a:t>校正子为</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rPr>
              <a:t>被检测到的概率是</a:t>
            </a:r>
            <a:r>
              <a:rPr lang="en-US" altLang="zh-CN" sz="1800" b="0" dirty="0">
                <a:latin typeface="Times New Roman" panose="02020603050405020304" pitchFamily="18" charset="0"/>
                <a:ea typeface="微软雅黑" panose="020B0503020204020204" pitchFamily="34" charset="-122"/>
                <a:cs typeface="Times New Roman" panose="02020603050405020304" pitchFamily="18" charset="0"/>
              </a:rPr>
              <a:t>1 – (1/2) </a:t>
            </a:r>
            <a:r>
              <a:rPr lang="en-US" altLang="zh-CN" sz="1800" b="0" i="1" baseline="30000"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18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rPr>
              <a:t>某些情况中差错无法被检测到（少见）。</a:t>
            </a:r>
            <a:endParaRPr lang="en-US" altLang="zh-CN" sz="1800" b="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7765" name="矩形 1">
            <a:extLst>
              <a:ext uri="{FF2B5EF4-FFF2-40B4-BE49-F238E27FC236}">
                <a16:creationId xmlns:a16="http://schemas.microsoft.com/office/drawing/2014/main" id="{2C48BCDD-AD97-40A9-893A-87490E4B5111}"/>
              </a:ext>
            </a:extLst>
          </p:cNvPr>
          <p:cNvSpPr>
            <a:spLocks noChangeArrowheads="1"/>
          </p:cNvSpPr>
          <p:nvPr/>
        </p:nvSpPr>
        <p:spPr bwMode="auto">
          <a:xfrm>
            <a:off x="4038600" y="85975"/>
            <a:ext cx="23328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zh-CN" altLang="en-US" sz="2800" dirty="0">
                <a:solidFill>
                  <a:schemeClr val="bg1"/>
                </a:solidFill>
                <a:latin typeface="微软雅黑" panose="020B0503020204020204" pitchFamily="34" charset="-122"/>
                <a:ea typeface="微软雅黑" panose="020B0503020204020204" pitchFamily="34" charset="-122"/>
              </a:rPr>
              <a:t>突发性差错</a:t>
            </a:r>
          </a:p>
        </p:txBody>
      </p:sp>
      <p:sp>
        <p:nvSpPr>
          <p:cNvPr id="2" name="文本框 1">
            <a:extLst>
              <a:ext uri="{FF2B5EF4-FFF2-40B4-BE49-F238E27FC236}">
                <a16:creationId xmlns:a16="http://schemas.microsoft.com/office/drawing/2014/main" id="{22B7D73E-237E-4688-990F-33A5E10A5AE5}"/>
              </a:ext>
            </a:extLst>
          </p:cNvPr>
          <p:cNvSpPr txBox="1"/>
          <p:nvPr/>
        </p:nvSpPr>
        <p:spPr>
          <a:xfrm>
            <a:off x="1257301" y="1017553"/>
            <a:ext cx="4648200" cy="369332"/>
          </a:xfrm>
          <a:prstGeom prst="rect">
            <a:avLst/>
          </a:prstGeom>
          <a:noFill/>
        </p:spPr>
        <p:txBody>
          <a:bodyPr wrap="square" rtlCol="0">
            <a:spAutoFit/>
          </a:bodyPr>
          <a:lstStyle/>
          <a:p>
            <a:r>
              <a:rPr lang="zh-CN" altLang="en-US" sz="1800" b="0" dirty="0">
                <a:latin typeface="微软雅黑" panose="020B0503020204020204" pitchFamily="34" charset="-122"/>
                <a:ea typeface="微软雅黑" panose="020B0503020204020204" pitchFamily="34" charset="-122"/>
              </a:rPr>
              <a:t>突发性差错可表示为</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11">
            <a:extLst>
              <a:ext uri="{FF2B5EF4-FFF2-40B4-BE49-F238E27FC236}">
                <a16:creationId xmlns:a16="http://schemas.microsoft.com/office/drawing/2014/main" id="{462A89AA-0E6D-42E5-A14E-961711968370}"/>
              </a:ext>
            </a:extLst>
          </p:cNvPr>
          <p:cNvSpPr>
            <a:spLocks noChangeArrowheads="1"/>
          </p:cNvSpPr>
          <p:nvPr/>
        </p:nvSpPr>
        <p:spPr bwMode="auto">
          <a:xfrm>
            <a:off x="1033598" y="1344599"/>
            <a:ext cx="5486400" cy="23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ts val="3600"/>
              </a:lnSpc>
            </a:pPr>
            <a:r>
              <a:rPr lang="zh-CN" altLang="en-US" sz="1800" b="0" dirty="0">
                <a:latin typeface="微软雅黑" panose="020B0503020204020204" pitchFamily="34" charset="-122"/>
                <a:ea typeface="微软雅黑" panose="020B0503020204020204" pitchFamily="34" charset="-122"/>
              </a:rPr>
              <a:t>高性能生成多项式的特性：</a:t>
            </a:r>
            <a:endParaRPr lang="en-US" altLang="zh-CN" sz="1800" b="0" dirty="0">
              <a:latin typeface="微软雅黑" panose="020B0503020204020204" pitchFamily="34" charset="-122"/>
              <a:ea typeface="微软雅黑" panose="020B0503020204020204" pitchFamily="34" charset="-122"/>
            </a:endParaRPr>
          </a:p>
          <a:p>
            <a:pPr marL="342900" indent="-342900">
              <a:lnSpc>
                <a:spcPts val="3600"/>
              </a:lnSpc>
              <a:buClr>
                <a:srgbClr val="FF0000"/>
              </a:buClr>
              <a:buSzPct val="80000"/>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rPr>
              <a:t>至少有两项</a:t>
            </a:r>
            <a:endParaRPr lang="en-US" altLang="zh-CN" sz="1800" b="0" dirty="0">
              <a:latin typeface="微软雅黑" panose="020B0503020204020204" pitchFamily="34" charset="-122"/>
              <a:ea typeface="微软雅黑" panose="020B0503020204020204" pitchFamily="34" charset="-122"/>
            </a:endParaRPr>
          </a:p>
          <a:p>
            <a:pPr marL="342900" indent="-342900">
              <a:lnSpc>
                <a:spcPts val="3600"/>
              </a:lnSpc>
              <a:buClr>
                <a:srgbClr val="FF0000"/>
              </a:buClr>
              <a:buSzPct val="80000"/>
              <a:buFont typeface="Wingdings" panose="05000000000000000000" pitchFamily="2" charset="2"/>
              <a:buChar char="u"/>
            </a:pP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b="0" baseline="30000" dirty="0">
                <a:latin typeface="Times New Roman" panose="02020603050405020304" pitchFamily="18" charset="0"/>
                <a:ea typeface="宋体" panose="02010600030101010101" pitchFamily="2" charset="-122"/>
                <a:cs typeface="Times New Roman" panose="02020603050405020304" pitchFamily="18" charset="0"/>
              </a:rPr>
              <a:t>0 </a:t>
            </a:r>
            <a:r>
              <a:rPr lang="zh-CN" altLang="en-US" sz="1800" b="0" dirty="0">
                <a:latin typeface="微软雅黑" panose="020B0503020204020204" pitchFamily="34" charset="-122"/>
                <a:ea typeface="微软雅黑" panose="020B0503020204020204" pitchFamily="34" charset="-122"/>
              </a:rPr>
              <a:t>的系数一定不为 </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0</a:t>
            </a:r>
          </a:p>
          <a:p>
            <a:pPr marL="342900" indent="-342900">
              <a:lnSpc>
                <a:spcPts val="3600"/>
              </a:lnSpc>
              <a:buClr>
                <a:srgbClr val="FF0000"/>
              </a:buClr>
              <a:buSzPct val="80000"/>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rPr>
              <a:t>不能整除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x </a:t>
            </a:r>
            <a:r>
              <a:rPr lang="en-US" altLang="zh-CN" sz="1800" b="0" i="1" baseline="30000" dirty="0">
                <a:latin typeface="Times New Roman" panose="02020603050405020304" pitchFamily="18" charset="0"/>
                <a:ea typeface="宋体" panose="02010600030101010101" pitchFamily="2" charset="-122"/>
                <a:cs typeface="Times New Roman" panose="02020603050405020304" pitchFamily="18" charset="0"/>
              </a:rPr>
              <a:t>t</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 + 1</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t </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 − 1</a:t>
            </a: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b="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ts val="3600"/>
              </a:lnSpc>
              <a:buClr>
                <a:srgbClr val="FF0000"/>
              </a:buClr>
              <a:buSzPct val="80000"/>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rPr>
              <a:t>应当有因子 </a:t>
            </a:r>
            <a:r>
              <a:rPr lang="en-US" altLang="zh-CN" sz="1800" b="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800" b="0" dirty="0">
                <a:latin typeface="Times New Roman" panose="02020603050405020304" pitchFamily="18" charset="0"/>
                <a:ea typeface="宋体" panose="02010600030101010101" pitchFamily="2" charset="-122"/>
                <a:cs typeface="Times New Roman" panose="02020603050405020304" pitchFamily="18" charset="0"/>
              </a:rPr>
              <a:t> + 1</a:t>
            </a:r>
          </a:p>
        </p:txBody>
      </p:sp>
      <p:sp>
        <p:nvSpPr>
          <p:cNvPr id="123910" name="Text Box 2">
            <a:extLst>
              <a:ext uri="{FF2B5EF4-FFF2-40B4-BE49-F238E27FC236}">
                <a16:creationId xmlns:a16="http://schemas.microsoft.com/office/drawing/2014/main" id="{BB626840-4B37-4389-8D1F-171801BFDCA0}"/>
              </a:ext>
            </a:extLst>
          </p:cNvPr>
          <p:cNvSpPr txBox="1">
            <a:spLocks noChangeArrowheads="1"/>
          </p:cNvSpPr>
          <p:nvPr/>
        </p:nvSpPr>
        <p:spPr bwMode="auto">
          <a:xfrm>
            <a:off x="4648199" y="1219200"/>
            <a:ext cx="5791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Table 10.7 </a:t>
            </a:r>
            <a:r>
              <a:rPr lang="zh-CN" altLang="en-US" sz="1600" dirty="0">
                <a:latin typeface="Times New Roman" panose="02020603050405020304" pitchFamily="18" charset="0"/>
                <a:ea typeface="宋体" panose="02010600030101010101" pitchFamily="2" charset="-122"/>
              </a:rPr>
              <a:t>一些常用的标准生成多项式</a:t>
            </a:r>
            <a:endParaRPr lang="en-US" altLang="zh-CN" sz="1600" dirty="0">
              <a:latin typeface="Times New Roman" panose="02020603050405020304" pitchFamily="18" charset="0"/>
              <a:ea typeface="宋体" panose="02010600030101010101" pitchFamily="2" charset="-122"/>
            </a:endParaRPr>
          </a:p>
        </p:txBody>
      </p:sp>
      <p:graphicFrame>
        <p:nvGraphicFramePr>
          <p:cNvPr id="6" name="表格 5">
            <a:extLst>
              <a:ext uri="{FF2B5EF4-FFF2-40B4-BE49-F238E27FC236}">
                <a16:creationId xmlns:a16="http://schemas.microsoft.com/office/drawing/2014/main" id="{D5C6155A-CC31-4BE1-86D0-B6111BC5D589}"/>
              </a:ext>
            </a:extLst>
          </p:cNvPr>
          <p:cNvGraphicFramePr>
            <a:graphicFrameLocks noGrp="1"/>
          </p:cNvGraphicFramePr>
          <p:nvPr>
            <p:extLst>
              <p:ext uri="{D42A27DB-BD31-4B8C-83A1-F6EECF244321}">
                <p14:modId xmlns:p14="http://schemas.microsoft.com/office/powerpoint/2010/main" val="1575048172"/>
              </p:ext>
            </p:extLst>
          </p:nvPr>
        </p:nvGraphicFramePr>
        <p:xfrm>
          <a:off x="4648201" y="1752599"/>
          <a:ext cx="6400801" cy="1970696"/>
        </p:xfrm>
        <a:graphic>
          <a:graphicData uri="http://schemas.openxmlformats.org/drawingml/2006/table">
            <a:tbl>
              <a:tblPr firstRow="1" bandRow="1">
                <a:tableStyleId>{5C22544A-7EE6-4342-B048-85BDC9FD1C3A}</a:tableStyleId>
              </a:tblPr>
              <a:tblGrid>
                <a:gridCol w="1422056">
                  <a:extLst>
                    <a:ext uri="{9D8B030D-6E8A-4147-A177-3AD203B41FA5}">
                      <a16:colId xmlns:a16="http://schemas.microsoft.com/office/drawing/2014/main" val="2816645437"/>
                    </a:ext>
                  </a:extLst>
                </a:gridCol>
                <a:gridCol w="3368022">
                  <a:extLst>
                    <a:ext uri="{9D8B030D-6E8A-4147-A177-3AD203B41FA5}">
                      <a16:colId xmlns:a16="http://schemas.microsoft.com/office/drawing/2014/main" val="3050610508"/>
                    </a:ext>
                  </a:extLst>
                </a:gridCol>
                <a:gridCol w="1610723">
                  <a:extLst>
                    <a:ext uri="{9D8B030D-6E8A-4147-A177-3AD203B41FA5}">
                      <a16:colId xmlns:a16="http://schemas.microsoft.com/office/drawing/2014/main" val="2516088544"/>
                    </a:ext>
                  </a:extLst>
                </a:gridCol>
              </a:tblGrid>
              <a:tr h="347894">
                <a:tc>
                  <a:txBody>
                    <a:bodyPr/>
                    <a:lstStyle/>
                    <a:p>
                      <a:pPr algn="ctr"/>
                      <a:r>
                        <a:rPr lang="en-US" altLang="zh-CN" sz="1600" b="1" dirty="0">
                          <a:solidFill>
                            <a:schemeClr val="tx1"/>
                          </a:solidFill>
                          <a:latin typeface="微软雅黑" panose="020B0503020204020204" pitchFamily="34" charset="-122"/>
                          <a:ea typeface="微软雅黑" panose="020B0503020204020204" pitchFamily="34" charset="-122"/>
                        </a:rPr>
                        <a:t>Name</a:t>
                      </a:r>
                      <a:endParaRPr lang="zh-CN" altLang="en-US" sz="1600" b="1" dirty="0">
                        <a:solidFill>
                          <a:schemeClr val="tx1"/>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algn="ctr"/>
                      <a:r>
                        <a:rPr lang="en-US" altLang="zh-CN" sz="1600" b="1" dirty="0">
                          <a:solidFill>
                            <a:schemeClr val="tx1"/>
                          </a:solidFill>
                          <a:latin typeface="微软雅黑" panose="020B0503020204020204" pitchFamily="34" charset="-122"/>
                          <a:ea typeface="微软雅黑" panose="020B0503020204020204" pitchFamily="34" charset="-122"/>
                        </a:rPr>
                        <a:t>Polynomial</a:t>
                      </a:r>
                      <a:endParaRPr lang="zh-CN" altLang="en-US" sz="1600" b="1" dirty="0">
                        <a:solidFill>
                          <a:schemeClr val="tx1"/>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tc>
                  <a:txBody>
                    <a:bodyPr/>
                    <a:lstStyle/>
                    <a:p>
                      <a:pPr algn="ctr"/>
                      <a:r>
                        <a:rPr lang="en-US" altLang="zh-CN" sz="1600" b="1" dirty="0">
                          <a:solidFill>
                            <a:schemeClr val="tx1"/>
                          </a:solidFill>
                          <a:latin typeface="微软雅黑" panose="020B0503020204020204" pitchFamily="34" charset="-122"/>
                          <a:ea typeface="微软雅黑" panose="020B0503020204020204" pitchFamily="34" charset="-122"/>
                        </a:rPr>
                        <a:t>Application</a:t>
                      </a:r>
                      <a:endParaRPr lang="zh-CN" altLang="en-US" sz="1600" b="1" dirty="0">
                        <a:solidFill>
                          <a:schemeClr val="tx1"/>
                        </a:solidFill>
                        <a:latin typeface="微软雅黑" panose="020B0503020204020204" pitchFamily="34" charset="-122"/>
                        <a:ea typeface="微软雅黑" panose="020B0503020204020204" pitchFamily="34" charset="-122"/>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rgbClr val="FBDFEB"/>
                    </a:solidFill>
                  </a:tcPr>
                </a:tc>
                <a:extLst>
                  <a:ext uri="{0D108BD9-81ED-4DB2-BD59-A6C34878D82A}">
                    <a16:rowId xmlns:a16="http://schemas.microsoft.com/office/drawing/2014/main" val="3089020720"/>
                  </a:ext>
                </a:extLst>
              </a:tr>
              <a:tr h="347894">
                <a:tc>
                  <a:txBody>
                    <a:bodyPr/>
                    <a:lstStyle/>
                    <a:p>
                      <a:pPr algn="ctr"/>
                      <a:r>
                        <a:rPr lang="en-US" altLang="zh-CN" sz="1600" dirty="0">
                          <a:latin typeface="Times New Roman" panose="02020603050405020304" pitchFamily="18" charset="0"/>
                          <a:cs typeface="Times New Roman" panose="02020603050405020304" pitchFamily="18" charset="0"/>
                        </a:rPr>
                        <a:t>CRC-8</a:t>
                      </a:r>
                      <a:endParaRPr lang="zh-CN" altLang="en-US" sz="1600" dirty="0">
                        <a:latin typeface="Times New Roman" panose="02020603050405020304" pitchFamily="18" charset="0"/>
                        <a:cs typeface="Times New Roman" panose="02020603050405020304" pitchFamily="18" charset="0"/>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i="1" dirty="0">
                          <a:solidFill>
                            <a:schemeClr val="tx1"/>
                          </a:solidFill>
                          <a:latin typeface="Times New Roman" panose="02020603050405020304" pitchFamily="18" charset="0"/>
                          <a:cs typeface="Times New Roman" panose="02020603050405020304" pitchFamily="18" charset="0"/>
                        </a:rPr>
                        <a:t>x</a:t>
                      </a:r>
                      <a:r>
                        <a:rPr lang="en-US" altLang="zh-CN" sz="1600" i="0" kern="1200" baseline="30000" dirty="0">
                          <a:solidFill>
                            <a:schemeClr val="tx1"/>
                          </a:solidFill>
                          <a:latin typeface="Times New Roman" panose="02020603050405020304" pitchFamily="18" charset="0"/>
                          <a:ea typeface="+mn-ea"/>
                          <a:cs typeface="Times New Roman" panose="02020603050405020304" pitchFamily="18" charset="0"/>
                        </a:rPr>
                        <a:t>8</a:t>
                      </a:r>
                      <a:r>
                        <a:rPr lang="en-US" altLang="zh-CN" sz="1600" baseline="30000" dirty="0">
                          <a:solidFill>
                            <a:schemeClr val="tx1"/>
                          </a:solidFill>
                          <a:latin typeface="Times New Roman" panose="02020603050405020304" pitchFamily="18" charset="0"/>
                          <a:cs typeface="Times New Roman" panose="02020603050405020304" pitchFamily="18" charset="0"/>
                        </a:rPr>
                        <a:t>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2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 </a:t>
                      </a:r>
                      <a:r>
                        <a:rPr lang="en-US" altLang="zh-CN" sz="1600" dirty="0">
                          <a:solidFill>
                            <a:schemeClr val="tx1"/>
                          </a:solidFill>
                          <a:latin typeface="Times New Roman" panose="02020603050405020304" pitchFamily="18" charset="0"/>
                          <a:cs typeface="Times New Roman" panose="02020603050405020304" pitchFamily="18" charset="0"/>
                        </a:rPr>
                        <a:t>+ 1</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ATM header</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027944455"/>
                  </a:ext>
                </a:extLst>
              </a:tr>
              <a:tr h="347894">
                <a:tc>
                  <a:txBody>
                    <a:bodyPr/>
                    <a:lstStyle/>
                    <a:p>
                      <a:pPr algn="ctr"/>
                      <a:r>
                        <a:rPr lang="en-US" altLang="zh-CN" sz="1600" dirty="0">
                          <a:latin typeface="Times New Roman" panose="02020603050405020304" pitchFamily="18" charset="0"/>
                          <a:cs typeface="Times New Roman" panose="02020603050405020304" pitchFamily="18" charset="0"/>
                        </a:rPr>
                        <a:t>CRC-10</a:t>
                      </a:r>
                      <a:endParaRPr lang="zh-CN" altLang="en-US" sz="1600" dirty="0">
                        <a:latin typeface="Times New Roman" panose="02020603050405020304" pitchFamily="18" charset="0"/>
                        <a:cs typeface="Times New Roman" panose="02020603050405020304" pitchFamily="18" charset="0"/>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i="0" kern="1200" baseline="30000" dirty="0">
                          <a:solidFill>
                            <a:schemeClr val="tx1"/>
                          </a:solidFill>
                          <a:latin typeface="Times New Roman" panose="02020603050405020304" pitchFamily="18" charset="0"/>
                          <a:ea typeface="+mn-ea"/>
                          <a:cs typeface="Times New Roman" panose="02020603050405020304" pitchFamily="18" charset="0"/>
                        </a:rPr>
                        <a:t>10</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9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5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4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2 </a:t>
                      </a:r>
                      <a:r>
                        <a:rPr lang="en-US" altLang="zh-CN" sz="1600" dirty="0">
                          <a:solidFill>
                            <a:schemeClr val="tx1"/>
                          </a:solidFill>
                          <a:latin typeface="Times New Roman" panose="02020603050405020304" pitchFamily="18" charset="0"/>
                          <a:cs typeface="Times New Roman" panose="02020603050405020304" pitchFamily="18" charset="0"/>
                        </a:rPr>
                        <a:t>+ 1</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ATM AAL</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4228138147"/>
                  </a:ext>
                </a:extLst>
              </a:tr>
              <a:tr h="347894">
                <a:tc>
                  <a:txBody>
                    <a:bodyPr/>
                    <a:lstStyle/>
                    <a:p>
                      <a:pPr algn="ctr"/>
                      <a:r>
                        <a:rPr lang="en-US" altLang="zh-CN" sz="1600" dirty="0">
                          <a:latin typeface="Times New Roman" panose="02020603050405020304" pitchFamily="18" charset="0"/>
                          <a:cs typeface="Times New Roman" panose="02020603050405020304" pitchFamily="18" charset="0"/>
                        </a:rPr>
                        <a:t>CRC-16</a:t>
                      </a:r>
                      <a:endParaRPr lang="zh-CN" altLang="en-US" sz="1600" dirty="0">
                        <a:latin typeface="Times New Roman" panose="02020603050405020304" pitchFamily="18" charset="0"/>
                        <a:cs typeface="Times New Roman" panose="02020603050405020304" pitchFamily="18" charset="0"/>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i="0" kern="1200" baseline="30000" dirty="0">
                          <a:solidFill>
                            <a:schemeClr val="tx1"/>
                          </a:solidFill>
                          <a:latin typeface="Times New Roman" panose="02020603050405020304" pitchFamily="18" charset="0"/>
                          <a:ea typeface="+mn-ea"/>
                          <a:cs typeface="Times New Roman" panose="02020603050405020304" pitchFamily="18" charset="0"/>
                        </a:rPr>
                        <a:t>16</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12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5 </a:t>
                      </a:r>
                      <a:r>
                        <a:rPr lang="en-US" altLang="zh-CN" sz="1600" dirty="0">
                          <a:solidFill>
                            <a:schemeClr val="tx1"/>
                          </a:solidFill>
                          <a:latin typeface="Times New Roman" panose="02020603050405020304" pitchFamily="18" charset="0"/>
                          <a:cs typeface="Times New Roman" panose="02020603050405020304" pitchFamily="18" charset="0"/>
                        </a:rPr>
                        <a:t>+ 1</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HDLC</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304120545"/>
                  </a:ext>
                </a:extLst>
              </a:tr>
              <a:tr h="540422">
                <a:tc>
                  <a:txBody>
                    <a:bodyPr/>
                    <a:lstStyle/>
                    <a:p>
                      <a:pPr algn="ctr"/>
                      <a:r>
                        <a:rPr lang="en-US" altLang="zh-CN" sz="1600" dirty="0">
                          <a:latin typeface="Times New Roman" panose="02020603050405020304" pitchFamily="18" charset="0"/>
                          <a:cs typeface="Times New Roman" panose="02020603050405020304" pitchFamily="18" charset="0"/>
                        </a:rPr>
                        <a:t>CRC-32</a:t>
                      </a:r>
                      <a:endParaRPr lang="zh-CN" altLang="en-US" sz="1600" dirty="0">
                        <a:latin typeface="Times New Roman" panose="02020603050405020304" pitchFamily="18" charset="0"/>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i="0" kern="1200" baseline="30000" dirty="0">
                          <a:solidFill>
                            <a:schemeClr val="tx1"/>
                          </a:solidFill>
                          <a:latin typeface="Times New Roman" panose="02020603050405020304" pitchFamily="18" charset="0"/>
                          <a:ea typeface="+mn-ea"/>
                          <a:cs typeface="Times New Roman" panose="02020603050405020304" pitchFamily="18" charset="0"/>
                        </a:rPr>
                        <a:t>32</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26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23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22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16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i="0" kern="1200" baseline="30000" dirty="0">
                          <a:solidFill>
                            <a:schemeClr val="tx1"/>
                          </a:solidFill>
                          <a:latin typeface="Times New Roman" panose="02020603050405020304" pitchFamily="18" charset="0"/>
                          <a:ea typeface="+mn-ea"/>
                          <a:cs typeface="Times New Roman" panose="02020603050405020304" pitchFamily="18" charset="0"/>
                        </a:rPr>
                        <a:t>12</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11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10 </a:t>
                      </a:r>
                      <a:r>
                        <a:rPr lang="en-US" altLang="zh-CN" sz="1600" dirty="0">
                          <a:solidFill>
                            <a:schemeClr val="tx1"/>
                          </a:solidFill>
                          <a:latin typeface="Times New Roman" panose="02020603050405020304" pitchFamily="18" charset="0"/>
                          <a:cs typeface="Times New Roman" panose="02020603050405020304" pitchFamily="18" charset="0"/>
                        </a:rPr>
                        <a:t>+</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i="0" kern="1200" baseline="30000" dirty="0">
                          <a:solidFill>
                            <a:schemeClr val="tx1"/>
                          </a:solidFill>
                          <a:latin typeface="Times New Roman" panose="02020603050405020304" pitchFamily="18" charset="0"/>
                          <a:ea typeface="+mn-ea"/>
                          <a:cs typeface="Times New Roman" panose="02020603050405020304" pitchFamily="18" charset="0"/>
                        </a:rPr>
                        <a:t>8</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7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5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4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2 </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i="1" kern="1200" dirty="0">
                          <a:solidFill>
                            <a:schemeClr val="tx1"/>
                          </a:solidFill>
                          <a:latin typeface="Times New Roman" panose="02020603050405020304" pitchFamily="18" charset="0"/>
                          <a:ea typeface="+mn-ea"/>
                          <a:cs typeface="Times New Roman" panose="02020603050405020304" pitchFamily="18" charset="0"/>
                        </a:rPr>
                        <a:t>x</a:t>
                      </a:r>
                      <a:r>
                        <a:rPr lang="en-US" altLang="zh-CN" sz="1600" kern="1200" baseline="30000" dirty="0">
                          <a:solidFill>
                            <a:schemeClr val="tx1"/>
                          </a:solidFill>
                          <a:latin typeface="Times New Roman" panose="02020603050405020304" pitchFamily="18" charset="0"/>
                          <a:ea typeface="+mn-ea"/>
                          <a:cs typeface="Times New Roman" panose="02020603050405020304" pitchFamily="18" charset="0"/>
                        </a:rPr>
                        <a:t>  </a:t>
                      </a:r>
                      <a:r>
                        <a:rPr lang="en-US" altLang="zh-CN" sz="1600" dirty="0">
                          <a:solidFill>
                            <a:schemeClr val="tx1"/>
                          </a:solidFill>
                          <a:latin typeface="Times New Roman" panose="02020603050405020304" pitchFamily="18" charset="0"/>
                          <a:cs typeface="Times New Roman" panose="02020603050405020304" pitchFamily="18" charset="0"/>
                        </a:rPr>
                        <a:t>+ 1</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LAN</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nchor="ctr">
                    <a:lnL w="19050" cap="flat" cmpd="sng" algn="ctr">
                      <a:solidFill>
                        <a:srgbClr val="F466BA"/>
                      </a:solidFill>
                      <a:prstDash val="solid"/>
                      <a:round/>
                      <a:headEnd type="none" w="med" len="med"/>
                      <a:tailEnd type="none" w="med" len="med"/>
                    </a:lnL>
                    <a:lnR w="19050" cap="flat" cmpd="sng" algn="ctr">
                      <a:solidFill>
                        <a:srgbClr val="F466BA"/>
                      </a:solidFill>
                      <a:prstDash val="solid"/>
                      <a:round/>
                      <a:headEnd type="none" w="med" len="med"/>
                      <a:tailEnd type="none" w="med" len="med"/>
                    </a:lnR>
                    <a:lnT w="19050" cap="flat" cmpd="sng" algn="ctr">
                      <a:solidFill>
                        <a:srgbClr val="F466BA"/>
                      </a:solidFill>
                      <a:prstDash val="solid"/>
                      <a:round/>
                      <a:headEnd type="none" w="med" len="med"/>
                      <a:tailEnd type="none" w="med" len="med"/>
                    </a:lnT>
                    <a:lnB w="19050" cap="flat" cmpd="sng" algn="ctr">
                      <a:solidFill>
                        <a:srgbClr val="F466BA"/>
                      </a:solidFill>
                      <a:prstDash val="solid"/>
                      <a:round/>
                      <a:headEnd type="none" w="med" len="med"/>
                      <a:tailEnd type="none" w="med" len="med"/>
                    </a:lnB>
                    <a:solidFill>
                      <a:schemeClr val="bg1"/>
                    </a:solidFill>
                  </a:tcPr>
                </a:tc>
                <a:extLst>
                  <a:ext uri="{0D108BD9-81ED-4DB2-BD59-A6C34878D82A}">
                    <a16:rowId xmlns:a16="http://schemas.microsoft.com/office/drawing/2014/main" val="2677880975"/>
                  </a:ext>
                </a:extLst>
              </a:tr>
            </a:tbl>
          </a:graphicData>
        </a:graphic>
      </p:graphicFrame>
      <p:pic>
        <p:nvPicPr>
          <p:cNvPr id="2" name="Picture 6">
            <a:extLst>
              <a:ext uri="{FF2B5EF4-FFF2-40B4-BE49-F238E27FC236}">
                <a16:creationId xmlns:a16="http://schemas.microsoft.com/office/drawing/2014/main" id="{AEF22883-16CC-1809-52B7-99C9A5F41BF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617"/>
          <a:stretch/>
        </p:blipFill>
        <p:spPr bwMode="auto">
          <a:xfrm>
            <a:off x="1992287" y="4201504"/>
            <a:ext cx="8423228" cy="1861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0FDFAA56-940D-4F87-A25B-87DFA280CE9B}"/>
              </a:ext>
            </a:extLst>
          </p:cNvPr>
          <p:cNvSpPr>
            <a:spLocks noChangeArrowheads="1"/>
          </p:cNvSpPr>
          <p:nvPr/>
        </p:nvSpPr>
        <p:spPr bwMode="auto">
          <a:xfrm>
            <a:off x="0" y="0"/>
            <a:ext cx="12192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861187" name="Text Box 3">
            <a:extLst>
              <a:ext uri="{FF2B5EF4-FFF2-40B4-BE49-F238E27FC236}">
                <a16:creationId xmlns:a16="http://schemas.microsoft.com/office/drawing/2014/main" id="{D26F8009-AA2D-4D2D-A83B-618DD7189AAA}"/>
              </a:ext>
            </a:extLst>
          </p:cNvPr>
          <p:cNvSpPr txBox="1">
            <a:spLocks noChangeArrowheads="1"/>
          </p:cNvSpPr>
          <p:nvPr/>
        </p:nvSpPr>
        <p:spPr bwMode="auto">
          <a:xfrm>
            <a:off x="381000" y="279112"/>
            <a:ext cx="3889206" cy="584775"/>
          </a:xfrm>
          <a:prstGeom prst="rect">
            <a:avLst/>
          </a:prstGeom>
          <a:noFill/>
          <a:ln>
            <a:noFill/>
          </a:ln>
          <a:effectLst/>
        </p:spPr>
        <p:txBody>
          <a:bodyPr wrap="none">
            <a:spAutoFit/>
          </a:bodyPr>
          <a:lstStyle/>
          <a:p>
            <a:pPr>
              <a:defRPr/>
            </a:pPr>
            <a:r>
              <a:rPr lang="en-US" altLang="zh-CN" dirty="0">
                <a:latin typeface="微软雅黑" panose="020B0503020204020204" pitchFamily="34" charset="-122"/>
                <a:ea typeface="微软雅黑" panose="020B0503020204020204" pitchFamily="34" charset="-122"/>
              </a:rPr>
              <a:t>10.5   </a:t>
            </a:r>
            <a:r>
              <a:rPr lang="zh-CN" altLang="en-US" dirty="0">
                <a:latin typeface="微软雅黑" panose="020B0503020204020204" pitchFamily="34" charset="-122"/>
                <a:ea typeface="微软雅黑" panose="020B0503020204020204" pitchFamily="34" charset="-122"/>
              </a:rPr>
              <a:t>检验和与反码</a:t>
            </a:r>
            <a:endParaRPr lang="en-US" altLang="zh-CN" dirty="0">
              <a:latin typeface="微软雅黑" panose="020B0503020204020204" pitchFamily="34" charset="-122"/>
              <a:ea typeface="微软雅黑" panose="020B0503020204020204" pitchFamily="34" charset="-122"/>
            </a:endParaRPr>
          </a:p>
        </p:txBody>
      </p:sp>
      <p:sp>
        <p:nvSpPr>
          <p:cNvPr id="125957" name="Text Box 4">
            <a:extLst>
              <a:ext uri="{FF2B5EF4-FFF2-40B4-BE49-F238E27FC236}">
                <a16:creationId xmlns:a16="http://schemas.microsoft.com/office/drawing/2014/main" id="{D98D5E8B-CC5D-4692-8EBF-B54524F72EA3}"/>
              </a:ext>
            </a:extLst>
          </p:cNvPr>
          <p:cNvSpPr txBox="1">
            <a:spLocks noChangeArrowheads="1"/>
          </p:cNvSpPr>
          <p:nvPr/>
        </p:nvSpPr>
        <p:spPr bwMode="auto">
          <a:xfrm>
            <a:off x="9753600" y="64008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zh-CN" sz="1800">
              <a:latin typeface="Times New Roman" panose="02020603050405020304" pitchFamily="18" charset="0"/>
              <a:ea typeface="宋体" panose="02010600030101010101" pitchFamily="2" charset="-122"/>
            </a:endParaRPr>
          </a:p>
        </p:txBody>
      </p:sp>
      <p:sp>
        <p:nvSpPr>
          <p:cNvPr id="125958" name="Rectangle 5">
            <a:extLst>
              <a:ext uri="{FF2B5EF4-FFF2-40B4-BE49-F238E27FC236}">
                <a16:creationId xmlns:a16="http://schemas.microsoft.com/office/drawing/2014/main" id="{8494A8EA-A39C-43A9-A912-85B0E695C305}"/>
              </a:ext>
            </a:extLst>
          </p:cNvPr>
          <p:cNvSpPr>
            <a:spLocks noChangeArrowheads="1"/>
          </p:cNvSpPr>
          <p:nvPr/>
        </p:nvSpPr>
        <p:spPr bwMode="auto">
          <a:xfrm>
            <a:off x="1295400" y="1711896"/>
            <a:ext cx="9525000" cy="361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eaLnBrk="1" hangingPunct="1">
              <a:lnSpc>
                <a:spcPct val="300000"/>
              </a:lnSpc>
            </a:pPr>
            <a:r>
              <a:rPr lang="zh-CN" altLang="en-US" sz="2000" b="0" dirty="0">
                <a:latin typeface="微软雅黑" panose="020B0503020204020204" pitchFamily="34" charset="-122"/>
                <a:ea typeface="微软雅黑" panose="020B0503020204020204" pitchFamily="34" charset="-122"/>
              </a:rPr>
              <a:t>在数据处理和数据通信领域中，检验和</a:t>
            </a:r>
            <a:r>
              <a:rPr lang="en-US" altLang="zh-CN" sz="2000" b="0" dirty="0">
                <a:latin typeface="微软雅黑" panose="020B0503020204020204" pitchFamily="34" charset="-122"/>
                <a:ea typeface="微软雅黑" panose="020B0503020204020204" pitchFamily="34" charset="-122"/>
              </a:rPr>
              <a:t>(checksum)</a:t>
            </a:r>
            <a:r>
              <a:rPr lang="zh-CN" altLang="en-US" sz="2000" b="0" dirty="0">
                <a:latin typeface="微软雅黑" panose="020B0503020204020204" pitchFamily="34" charset="-122"/>
                <a:ea typeface="微软雅黑" panose="020B0503020204020204" pitchFamily="34" charset="-122"/>
              </a:rPr>
              <a:t>是用于校验目的地一组数据项的和，通常是以十六进制为数制表示的形式。如果校验和的数值超过十六进制的</a:t>
            </a:r>
            <a:r>
              <a:rPr lang="en-US" altLang="zh-CN" sz="2000" b="0" dirty="0">
                <a:latin typeface="微软雅黑" panose="020B0503020204020204" pitchFamily="34" charset="-122"/>
                <a:ea typeface="微软雅黑" panose="020B0503020204020204" pitchFamily="34" charset="-122"/>
              </a:rPr>
              <a:t>FF</a:t>
            </a:r>
            <a:r>
              <a:rPr lang="zh-CN" altLang="en-US" sz="2000" b="0" dirty="0">
                <a:latin typeface="微软雅黑" panose="020B0503020204020204" pitchFamily="34" charset="-122"/>
                <a:ea typeface="微软雅黑" panose="020B0503020204020204" pitchFamily="34" charset="-122"/>
              </a:rPr>
              <a:t>，也就是</a:t>
            </a:r>
            <a:r>
              <a:rPr lang="en-US" altLang="zh-CN" sz="2000" b="0" dirty="0">
                <a:latin typeface="微软雅黑" panose="020B0503020204020204" pitchFamily="34" charset="-122"/>
                <a:ea typeface="微软雅黑" panose="020B0503020204020204" pitchFamily="34" charset="-122"/>
              </a:rPr>
              <a:t>255</a:t>
            </a:r>
            <a:r>
              <a:rPr lang="zh-CN" altLang="en-US" sz="2000" b="0" dirty="0">
                <a:latin typeface="微软雅黑" panose="020B0503020204020204" pitchFamily="34" charset="-122"/>
                <a:ea typeface="微软雅黑" panose="020B0503020204020204" pitchFamily="34" charset="-122"/>
              </a:rPr>
              <a:t>，就要求其补码作为校验和。用于</a:t>
            </a:r>
            <a:r>
              <a:rPr lang="en-US" altLang="zh-CN" sz="2000" b="0" dirty="0">
                <a:latin typeface="微软雅黑" panose="020B0503020204020204" pitchFamily="34" charset="-122"/>
                <a:ea typeface="微软雅黑" panose="020B0503020204020204" pitchFamily="34" charset="-122"/>
              </a:rPr>
              <a:t>Internet</a:t>
            </a:r>
            <a:r>
              <a:rPr lang="zh-CN" altLang="en-US" sz="2000" b="0" dirty="0">
                <a:latin typeface="微软雅黑" panose="020B0503020204020204" pitchFamily="34" charset="-122"/>
                <a:ea typeface="微软雅黑" panose="020B0503020204020204" pitchFamily="34" charset="-122"/>
              </a:rPr>
              <a:t>的其它高层协议中，尤其是在远距离通信中保证数据的完整性和准确性。</a:t>
            </a:r>
            <a:endParaRPr lang="en-US" altLang="zh-CN" sz="2000" b="0"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Rectangle 9">
            <a:extLst>
              <a:ext uri="{FF2B5EF4-FFF2-40B4-BE49-F238E27FC236}">
                <a16:creationId xmlns:a16="http://schemas.microsoft.com/office/drawing/2014/main" id="{595D56A9-09AE-4B13-9D47-76501CD01A75}"/>
              </a:ext>
            </a:extLst>
          </p:cNvPr>
          <p:cNvSpPr>
            <a:spLocks noChangeArrowheads="1"/>
          </p:cNvSpPr>
          <p:nvPr/>
        </p:nvSpPr>
        <p:spPr bwMode="auto">
          <a:xfrm>
            <a:off x="1295400" y="1152924"/>
            <a:ext cx="9372600" cy="1670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200000"/>
              </a:lnSpc>
            </a:pPr>
            <a:r>
              <a:rPr lang="zh-CN" altLang="en-US" sz="1800" dirty="0">
                <a:solidFill>
                  <a:srgbClr val="FF0000"/>
                </a:solidFill>
                <a:latin typeface="微软雅黑" panose="020B0503020204020204" pitchFamily="34" charset="-122"/>
                <a:ea typeface="微软雅黑" panose="020B0503020204020204" pitchFamily="34" charset="-122"/>
              </a:rPr>
              <a:t>例</a:t>
            </a:r>
            <a:r>
              <a:rPr lang="en-US" altLang="zh-CN" sz="1800" dirty="0">
                <a:solidFill>
                  <a:srgbClr val="FF0000"/>
                </a:solidFill>
                <a:latin typeface="微软雅黑" panose="020B0503020204020204" pitchFamily="34" charset="-122"/>
                <a:ea typeface="微软雅黑" panose="020B0503020204020204" pitchFamily="34" charset="-122"/>
              </a:rPr>
              <a:t>10.18  </a:t>
            </a:r>
            <a:r>
              <a:rPr lang="zh-CN" altLang="en-US" sz="1800" b="0" dirty="0">
                <a:latin typeface="微软雅黑" panose="020B0503020204020204" pitchFamily="34" charset="-122"/>
                <a:ea typeface="微软雅黑" panose="020B0503020204020204" pitchFamily="34" charset="-122"/>
              </a:rPr>
              <a:t>假设发送 </a:t>
            </a:r>
            <a:r>
              <a:rPr lang="en-US" altLang="zh-CN" sz="1800" b="0" dirty="0">
                <a:latin typeface="微软雅黑" panose="020B0503020204020204" pitchFamily="34" charset="-122"/>
                <a:ea typeface="微软雅黑" panose="020B0503020204020204" pitchFamily="34" charset="-122"/>
              </a:rPr>
              <a:t>5</a:t>
            </a:r>
            <a:r>
              <a:rPr lang="zh-CN" altLang="en-US" sz="1800" b="0" dirty="0">
                <a:latin typeface="微软雅黑" panose="020B0503020204020204" pitchFamily="34" charset="-122"/>
                <a:ea typeface="微软雅黑" panose="020B0503020204020204" pitchFamily="34" charset="-122"/>
              </a:rPr>
              <a:t>个 </a:t>
            </a:r>
            <a:r>
              <a:rPr lang="en-US" altLang="zh-CN" sz="1800" b="0" dirty="0">
                <a:latin typeface="微软雅黑" panose="020B0503020204020204" pitchFamily="34" charset="-122"/>
                <a:ea typeface="微软雅黑" panose="020B0503020204020204" pitchFamily="34" charset="-122"/>
              </a:rPr>
              <a:t>4 </a:t>
            </a:r>
            <a:r>
              <a:rPr lang="zh-CN" altLang="en-US" sz="1800" b="0" dirty="0">
                <a:latin typeface="微软雅黑" panose="020B0503020204020204" pitchFamily="34" charset="-122"/>
                <a:ea typeface="微软雅黑" panose="020B0503020204020204" pitchFamily="34" charset="-122"/>
              </a:rPr>
              <a:t>位数字 </a:t>
            </a:r>
            <a:r>
              <a:rPr lang="en-US" altLang="zh-CN" sz="1800" b="0" dirty="0">
                <a:latin typeface="微软雅黑" panose="020B0503020204020204" pitchFamily="34" charset="-122"/>
                <a:ea typeface="微软雅黑" panose="020B0503020204020204" pitchFamily="34" charset="-122"/>
              </a:rPr>
              <a:t>7, 11, 12, 0, 6</a:t>
            </a:r>
            <a:r>
              <a:rPr lang="zh-CN" altLang="en-US" sz="1800" b="0" dirty="0">
                <a:latin typeface="微软雅黑" panose="020B0503020204020204" pitchFamily="34" charset="-122"/>
                <a:ea typeface="微软雅黑" panose="020B0503020204020204" pitchFamily="34" charset="-122"/>
              </a:rPr>
              <a:t>，实际发送时发送 </a:t>
            </a:r>
            <a:r>
              <a:rPr lang="en-US" altLang="zh-CN" sz="1800" b="0" dirty="0">
                <a:latin typeface="微软雅黑" panose="020B0503020204020204" pitchFamily="34" charset="-122"/>
                <a:ea typeface="微软雅黑" panose="020B0503020204020204" pitchFamily="34" charset="-122"/>
              </a:rPr>
              <a:t>(7, 11, 12, 0, 6, </a:t>
            </a:r>
            <a:r>
              <a:rPr lang="en-US" altLang="zh-CN" sz="1800" b="0" dirty="0">
                <a:solidFill>
                  <a:schemeClr val="hlink"/>
                </a:solidFill>
                <a:latin typeface="微软雅黑" panose="020B0503020204020204" pitchFamily="34" charset="-122"/>
                <a:ea typeface="微软雅黑" panose="020B0503020204020204" pitchFamily="34" charset="-122"/>
              </a:rPr>
              <a:t>36</a:t>
            </a:r>
            <a:r>
              <a:rPr lang="en-US" altLang="zh-CN" sz="1800" b="0" dirty="0">
                <a:latin typeface="微软雅黑" panose="020B0503020204020204" pitchFamily="34" charset="-122"/>
                <a:ea typeface="微软雅黑" panose="020B0503020204020204" pitchFamily="34" charset="-122"/>
              </a:rPr>
              <a:t>)</a:t>
            </a:r>
            <a:r>
              <a:rPr lang="zh-CN" altLang="en-US"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rPr>
              <a:t>36 </a:t>
            </a:r>
            <a:r>
              <a:rPr lang="zh-CN" altLang="en-US" sz="1800" b="0" dirty="0">
                <a:latin typeface="微软雅黑" panose="020B0503020204020204" pitchFamily="34" charset="-122"/>
                <a:ea typeface="微软雅黑" panose="020B0503020204020204" pitchFamily="34" charset="-122"/>
              </a:rPr>
              <a:t>是 </a:t>
            </a:r>
            <a:r>
              <a:rPr lang="en-US" altLang="zh-CN" sz="1800" b="0" dirty="0">
                <a:latin typeface="微软雅黑" panose="020B0503020204020204" pitchFamily="34" charset="-122"/>
                <a:ea typeface="微软雅黑" panose="020B0503020204020204" pitchFamily="34" charset="-122"/>
              </a:rPr>
              <a:t>5</a:t>
            </a:r>
            <a:r>
              <a:rPr lang="zh-CN" altLang="en-US" sz="1800" b="0" dirty="0">
                <a:latin typeface="微软雅黑" panose="020B0503020204020204" pitchFamily="34" charset="-122"/>
                <a:ea typeface="微软雅黑" panose="020B0503020204020204" pitchFamily="34" charset="-122"/>
              </a:rPr>
              <a:t>个数字的和。</a:t>
            </a:r>
            <a:endParaRPr lang="en-US" altLang="zh-CN" sz="1800" b="0" dirty="0">
              <a:latin typeface="微软雅黑" panose="020B0503020204020204" pitchFamily="34" charset="-122"/>
              <a:ea typeface="微软雅黑" panose="020B0503020204020204" pitchFamily="34" charset="-122"/>
            </a:endParaRPr>
          </a:p>
          <a:p>
            <a:pPr algn="just">
              <a:lnSpc>
                <a:spcPct val="200000"/>
              </a:lnSpc>
            </a:pPr>
            <a:r>
              <a:rPr lang="zh-CN" altLang="en-US" sz="1800" b="0" dirty="0">
                <a:latin typeface="微软雅黑" panose="020B0503020204020204" pitchFamily="34" charset="-122"/>
                <a:ea typeface="微软雅黑" panose="020B0503020204020204" pitchFamily="34" charset="-122"/>
              </a:rPr>
              <a:t>也可以发送和的</a:t>
            </a:r>
            <a:r>
              <a:rPr lang="zh-CN" altLang="en-US" sz="1800" b="0" u="sng" dirty="0">
                <a:solidFill>
                  <a:srgbClr val="FF0000"/>
                </a:solidFill>
                <a:latin typeface="微软雅黑" panose="020B0503020204020204" pitchFamily="34" charset="-122"/>
                <a:ea typeface="微软雅黑" panose="020B0503020204020204" pitchFamily="34" charset="-122"/>
              </a:rPr>
              <a:t>负值（补数）</a:t>
            </a:r>
            <a:r>
              <a:rPr lang="zh-CN" altLang="en-US" sz="1800" b="0" dirty="0">
                <a:latin typeface="微软雅黑" panose="020B0503020204020204" pitchFamily="34" charset="-122"/>
                <a:ea typeface="微软雅黑" panose="020B0503020204020204" pitchFamily="34" charset="-122"/>
              </a:rPr>
              <a:t>，即</a:t>
            </a:r>
            <a:r>
              <a:rPr lang="en-US" altLang="zh-CN" sz="1800" b="0" dirty="0">
                <a:latin typeface="微软雅黑" panose="020B0503020204020204" pitchFamily="34" charset="-122"/>
                <a:ea typeface="微软雅黑" panose="020B0503020204020204" pitchFamily="34" charset="-122"/>
              </a:rPr>
              <a:t>(7, 11, 12, 0, 6, </a:t>
            </a:r>
            <a:r>
              <a:rPr lang="en-US" altLang="zh-CN" sz="1800" b="0" dirty="0">
                <a:solidFill>
                  <a:srgbClr val="FF0000"/>
                </a:solidFill>
                <a:latin typeface="微软雅黑" panose="020B0503020204020204" pitchFamily="34" charset="-122"/>
                <a:ea typeface="微软雅黑" panose="020B0503020204020204" pitchFamily="34" charset="-122"/>
              </a:rPr>
              <a:t>-</a:t>
            </a:r>
            <a:r>
              <a:rPr lang="en-US" altLang="zh-CN" sz="1800" b="0" dirty="0">
                <a:solidFill>
                  <a:schemeClr val="hlink"/>
                </a:solidFill>
                <a:latin typeface="微软雅黑" panose="020B0503020204020204" pitchFamily="34" charset="-122"/>
                <a:ea typeface="微软雅黑" panose="020B0503020204020204" pitchFamily="34" charset="-122"/>
              </a:rPr>
              <a:t>36</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，则接收器处理更简单。</a:t>
            </a:r>
            <a:endParaRPr lang="en-US" altLang="zh-CN" sz="1800" b="0" dirty="0">
              <a:latin typeface="微软雅黑" panose="020B0503020204020204" pitchFamily="34" charset="-122"/>
              <a:ea typeface="微软雅黑" panose="020B0503020204020204" pitchFamily="34" charset="-122"/>
            </a:endParaRPr>
          </a:p>
        </p:txBody>
      </p:sp>
      <p:sp>
        <p:nvSpPr>
          <p:cNvPr id="6" name="Rectangle 10">
            <a:extLst>
              <a:ext uri="{FF2B5EF4-FFF2-40B4-BE49-F238E27FC236}">
                <a16:creationId xmlns:a16="http://schemas.microsoft.com/office/drawing/2014/main" id="{492A638F-58B7-4498-969E-C1CFA2BE0676}"/>
              </a:ext>
            </a:extLst>
          </p:cNvPr>
          <p:cNvSpPr>
            <a:spLocks noChangeArrowheads="1"/>
          </p:cNvSpPr>
          <p:nvPr/>
        </p:nvSpPr>
        <p:spPr bwMode="auto">
          <a:xfrm>
            <a:off x="1295400" y="3200400"/>
            <a:ext cx="9448800" cy="222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200000"/>
              </a:lnSpc>
            </a:pPr>
            <a:r>
              <a:rPr lang="zh-CN" altLang="en-US" sz="1800" dirty="0">
                <a:solidFill>
                  <a:srgbClr val="FF0000"/>
                </a:solidFill>
                <a:latin typeface="微软雅黑" panose="020B0503020204020204" pitchFamily="34" charset="-122"/>
                <a:ea typeface="微软雅黑" panose="020B0503020204020204" pitchFamily="34" charset="-122"/>
              </a:rPr>
              <a:t>例</a:t>
            </a:r>
            <a:r>
              <a:rPr lang="en-US" altLang="zh-CN" sz="1800" dirty="0">
                <a:solidFill>
                  <a:srgbClr val="FF0000"/>
                </a:solidFill>
                <a:latin typeface="微软雅黑" panose="020B0503020204020204" pitchFamily="34" charset="-122"/>
                <a:ea typeface="微软雅黑" panose="020B0503020204020204" pitchFamily="34" charset="-122"/>
              </a:rPr>
              <a:t>10.20 </a:t>
            </a:r>
            <a:r>
              <a:rPr lang="zh-CN" altLang="en-US" sz="1800" b="0" dirty="0">
                <a:latin typeface="微软雅黑" panose="020B0503020204020204" pitchFamily="34" charset="-122"/>
                <a:ea typeface="微软雅黑" panose="020B0503020204020204" pitchFamily="34" charset="-122"/>
              </a:rPr>
              <a:t>用反码来解决数据段的进位和借位问题。如何用 </a:t>
            </a:r>
            <a:r>
              <a:rPr lang="en-US" altLang="zh-CN" sz="1800" b="0" dirty="0">
                <a:latin typeface="微软雅黑" panose="020B0503020204020204" pitchFamily="34" charset="-122"/>
                <a:ea typeface="微软雅黑" panose="020B0503020204020204" pitchFamily="34" charset="-122"/>
              </a:rPr>
              <a:t>4 </a:t>
            </a:r>
            <a:r>
              <a:rPr lang="zh-CN" altLang="en-US" sz="1800" b="0" dirty="0">
                <a:latin typeface="微软雅黑" panose="020B0503020204020204" pitchFamily="34" charset="-122"/>
                <a:ea typeface="微软雅黑" panose="020B0503020204020204" pitchFamily="34" charset="-122"/>
              </a:rPr>
              <a:t>位表示数字 </a:t>
            </a:r>
            <a:r>
              <a:rPr lang="en-US" altLang="zh-CN" sz="1800" b="0" dirty="0">
                <a:latin typeface="微软雅黑" panose="020B0503020204020204" pitchFamily="34" charset="-122"/>
                <a:ea typeface="微软雅黑" panose="020B0503020204020204" pitchFamily="34" charset="-122"/>
              </a:rPr>
              <a:t>21 </a:t>
            </a:r>
            <a:r>
              <a:rPr lang="zh-CN" altLang="en-US" sz="1800" b="0" dirty="0">
                <a:latin typeface="微软雅黑" panose="020B0503020204020204" pitchFamily="34" charset="-122"/>
                <a:ea typeface="微软雅黑" panose="020B0503020204020204" pitchFamily="34" charset="-122"/>
              </a:rPr>
              <a:t>和 </a:t>
            </a:r>
            <a:r>
              <a:rPr lang="en-US" altLang="zh-CN" sz="1800" b="0" dirty="0">
                <a:latin typeface="微软雅黑" panose="020B0503020204020204" pitchFamily="34" charset="-122"/>
                <a:ea typeface="微软雅黑" panose="020B0503020204020204" pitchFamily="34" charset="-122"/>
              </a:rPr>
              <a:t>-6</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marL="342900" indent="-342900" algn="just">
              <a:lnSpc>
                <a:spcPct val="200000"/>
              </a:lnSpc>
              <a:buClr>
                <a:srgbClr val="FF0000"/>
              </a:buClr>
              <a:buSzPct val="80000"/>
              <a:buFont typeface="Wingdings" panose="05000000000000000000" pitchFamily="2" charset="2"/>
              <a:buChar char="u"/>
            </a:pPr>
            <a:r>
              <a:rPr lang="en-US" altLang="zh-CN" sz="1800" b="0" dirty="0">
                <a:latin typeface="微软雅黑" panose="020B0503020204020204" pitchFamily="34" charset="-122"/>
                <a:ea typeface="微软雅黑" panose="020B0503020204020204" pitchFamily="34" charset="-122"/>
              </a:rPr>
              <a:t>21 </a:t>
            </a:r>
            <a:r>
              <a:rPr lang="zh-CN" altLang="en-US" sz="1800" b="0" dirty="0">
                <a:latin typeface="微软雅黑" panose="020B0503020204020204" pitchFamily="34" charset="-122"/>
                <a:ea typeface="微软雅黑" panose="020B0503020204020204" pitchFamily="34" charset="-122"/>
              </a:rPr>
              <a:t>的二进制数是 </a:t>
            </a:r>
            <a:r>
              <a:rPr lang="en-US" altLang="zh-CN" sz="1800" b="0" dirty="0">
                <a:latin typeface="微软雅黑" panose="020B0503020204020204" pitchFamily="34" charset="-122"/>
                <a:ea typeface="微软雅黑" panose="020B0503020204020204" pitchFamily="34" charset="-122"/>
              </a:rPr>
              <a:t>10101 </a:t>
            </a:r>
            <a:r>
              <a:rPr lang="zh-CN" altLang="en-US" sz="1800" b="0" dirty="0">
                <a:latin typeface="微软雅黑" panose="020B0503020204020204" pitchFamily="34" charset="-122"/>
                <a:ea typeface="微软雅黑" panose="020B0503020204020204" pitchFamily="34" charset="-122"/>
              </a:rPr>
              <a:t>，将最高位</a:t>
            </a:r>
            <a:r>
              <a:rPr lang="en-US" altLang="zh-CN" sz="1800" b="0" dirty="0">
                <a:latin typeface="微软雅黑" panose="020B0503020204020204" pitchFamily="34" charset="-122"/>
                <a:ea typeface="微软雅黑" panose="020B0503020204020204" pitchFamily="34" charset="-122"/>
              </a:rPr>
              <a:t> 1 </a:t>
            </a:r>
            <a:r>
              <a:rPr lang="zh-CN" altLang="en-US" sz="1800" b="0" dirty="0">
                <a:latin typeface="微软雅黑" panose="020B0503020204020204" pitchFamily="34" charset="-122"/>
                <a:ea typeface="微软雅黑" panose="020B0503020204020204" pitchFamily="34" charset="-122"/>
              </a:rPr>
              <a:t>加到最低位，得到</a:t>
            </a:r>
            <a:r>
              <a:rPr lang="en-US" altLang="zh-CN" sz="1800" b="0" dirty="0">
                <a:latin typeface="微软雅黑" panose="020B0503020204020204" pitchFamily="34" charset="-122"/>
                <a:ea typeface="微软雅黑" panose="020B0503020204020204" pitchFamily="34" charset="-122"/>
              </a:rPr>
              <a:t> (0101 + 1) = 0110 </a:t>
            </a:r>
            <a:r>
              <a:rPr lang="zh-CN" altLang="en-US" sz="1800" b="0" dirty="0">
                <a:latin typeface="微软雅黑" panose="020B0503020204020204" pitchFamily="34" charset="-122"/>
                <a:ea typeface="微软雅黑" panose="020B0503020204020204" pitchFamily="34" charset="-122"/>
              </a:rPr>
              <a:t>或</a:t>
            </a:r>
            <a:r>
              <a:rPr lang="en-US" altLang="zh-CN" sz="1800" b="0" dirty="0">
                <a:latin typeface="微软雅黑" panose="020B0503020204020204" pitchFamily="34" charset="-122"/>
                <a:ea typeface="微软雅黑" panose="020B0503020204020204" pitchFamily="34" charset="-122"/>
              </a:rPr>
              <a:t> </a:t>
            </a:r>
            <a:r>
              <a:rPr lang="en-US" altLang="zh-CN" sz="1800" b="0" dirty="0">
                <a:solidFill>
                  <a:schemeClr val="hlink"/>
                </a:solidFill>
                <a:latin typeface="微软雅黑" panose="020B0503020204020204" pitchFamily="34" charset="-122"/>
                <a:ea typeface="微软雅黑" panose="020B0503020204020204" pitchFamily="34" charset="-122"/>
              </a:rPr>
              <a:t>6</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marL="342900" indent="-342900" algn="just">
              <a:lnSpc>
                <a:spcPct val="200000"/>
              </a:lnSpc>
              <a:buClr>
                <a:srgbClr val="FF0000"/>
              </a:buClr>
              <a:buSzPct val="80000"/>
              <a:buFont typeface="Wingdings" panose="05000000000000000000" pitchFamily="2" charset="2"/>
              <a:buChar char="u"/>
            </a:pPr>
            <a:r>
              <a:rPr lang="en-US" altLang="zh-CN" sz="1800" b="0" dirty="0">
                <a:latin typeface="微软雅黑" panose="020B0503020204020204" pitchFamily="34" charset="-122"/>
                <a:ea typeface="微软雅黑" panose="020B0503020204020204" pitchFamily="34" charset="-122"/>
              </a:rPr>
              <a:t>6 </a:t>
            </a:r>
            <a:r>
              <a:rPr lang="zh-CN" altLang="en-US" sz="1800" b="0" dirty="0">
                <a:latin typeface="微软雅黑" panose="020B0503020204020204" pitchFamily="34" charset="-122"/>
                <a:ea typeface="微软雅黑" panose="020B0503020204020204" pitchFamily="34" charset="-122"/>
              </a:rPr>
              <a:t>的二进制数是 </a:t>
            </a:r>
            <a:r>
              <a:rPr lang="en-US" altLang="zh-CN" sz="1800" b="0" dirty="0">
                <a:latin typeface="微软雅黑" panose="020B0503020204020204" pitchFamily="34" charset="-122"/>
                <a:ea typeface="微软雅黑" panose="020B0503020204020204" pitchFamily="34" charset="-122"/>
              </a:rPr>
              <a:t>0110</a:t>
            </a:r>
            <a:r>
              <a:rPr lang="zh-CN" altLang="en-US"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rPr>
              <a:t>-6 </a:t>
            </a:r>
            <a:r>
              <a:rPr lang="zh-CN" altLang="en-US" sz="1800" b="0" dirty="0">
                <a:latin typeface="微软雅黑" panose="020B0503020204020204" pitchFamily="34" charset="-122"/>
                <a:ea typeface="微软雅黑" panose="020B0503020204020204" pitchFamily="34" charset="-122"/>
              </a:rPr>
              <a:t>对其取反，得到 </a:t>
            </a:r>
            <a:r>
              <a:rPr lang="en-US" altLang="zh-CN" sz="1800" b="0" dirty="0">
                <a:latin typeface="微软雅黑" panose="020B0503020204020204" pitchFamily="34" charset="-122"/>
                <a:ea typeface="微软雅黑" panose="020B0503020204020204" pitchFamily="34" charset="-122"/>
              </a:rPr>
              <a:t>1001</a:t>
            </a:r>
            <a:r>
              <a:rPr lang="zh-CN" altLang="en-US" sz="1800" b="0" dirty="0">
                <a:latin typeface="微软雅黑" panose="020B0503020204020204" pitchFamily="34" charset="-122"/>
                <a:ea typeface="微软雅黑" panose="020B0503020204020204" pitchFamily="34" charset="-122"/>
              </a:rPr>
              <a:t>。也可以用 </a:t>
            </a:r>
            <a:r>
              <a:rPr lang="en-US" altLang="zh-CN" sz="1800" b="0" dirty="0">
                <a:latin typeface="微软雅黑" panose="020B0503020204020204" pitchFamily="34" charset="-122"/>
                <a:ea typeface="微软雅黑" panose="020B0503020204020204" pitchFamily="34" charset="-122"/>
              </a:rPr>
              <a:t>6 </a:t>
            </a:r>
            <a:r>
              <a:rPr lang="zh-CN" altLang="en-US" sz="1800" b="0" dirty="0">
                <a:latin typeface="微软雅黑" panose="020B0503020204020204" pitchFamily="34" charset="-122"/>
                <a:ea typeface="微软雅黑" panose="020B0503020204020204" pitchFamily="34" charset="-122"/>
              </a:rPr>
              <a:t>的</a:t>
            </a:r>
            <a:r>
              <a:rPr lang="zh-CN" altLang="en-US" sz="1800" b="0" dirty="0">
                <a:solidFill>
                  <a:srgbClr val="FF0000"/>
                </a:solidFill>
                <a:latin typeface="微软雅黑" panose="020B0503020204020204" pitchFamily="34" charset="-122"/>
                <a:ea typeface="微软雅黑" panose="020B0503020204020204" pitchFamily="34" charset="-122"/>
              </a:rPr>
              <a:t>补数</a:t>
            </a:r>
            <a:r>
              <a:rPr lang="zh-CN" altLang="en-US" sz="1800" b="0" dirty="0">
                <a:latin typeface="微软雅黑" panose="020B0503020204020204" pitchFamily="34" charset="-122"/>
                <a:ea typeface="微软雅黑" panose="020B0503020204020204" pitchFamily="34" charset="-122"/>
              </a:rPr>
              <a:t> </a:t>
            </a:r>
            <a:r>
              <a:rPr lang="en-US" altLang="zh-CN" sz="1800" b="0" dirty="0">
                <a:latin typeface="微软雅黑" panose="020B0503020204020204" pitchFamily="34" charset="-122"/>
                <a:ea typeface="微软雅黑" panose="020B0503020204020204" pitchFamily="34" charset="-122"/>
              </a:rPr>
              <a:t>(2</a:t>
            </a:r>
            <a:r>
              <a:rPr lang="en-US" altLang="zh-CN" sz="1800" b="0" baseline="30000" dirty="0">
                <a:latin typeface="微软雅黑" panose="020B0503020204020204" pitchFamily="34" charset="-122"/>
                <a:ea typeface="微软雅黑" panose="020B0503020204020204" pitchFamily="34" charset="-122"/>
              </a:rPr>
              <a:t>4 </a:t>
            </a:r>
            <a:r>
              <a:rPr lang="en-US" altLang="zh-CN" sz="1800" b="0" dirty="0">
                <a:latin typeface="微软雅黑" panose="020B0503020204020204" pitchFamily="34" charset="-122"/>
                <a:ea typeface="微软雅黑" panose="020B0503020204020204" pitchFamily="34" charset="-122"/>
              </a:rPr>
              <a:t>– 1) - 6 = 9</a:t>
            </a:r>
            <a:r>
              <a:rPr lang="zh-CN" altLang="en-US"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rPr>
              <a:t>9 </a:t>
            </a:r>
            <a:r>
              <a:rPr lang="zh-CN" altLang="en-US" sz="1800" b="0" dirty="0">
                <a:latin typeface="微软雅黑" panose="020B0503020204020204" pitchFamily="34" charset="-122"/>
                <a:ea typeface="微软雅黑" panose="020B0503020204020204" pitchFamily="34" charset="-122"/>
              </a:rPr>
              <a:t>的二进制数是 </a:t>
            </a:r>
            <a:r>
              <a:rPr lang="en-US" altLang="zh-CN" sz="1800" b="0" dirty="0">
                <a:latin typeface="微软雅黑" panose="020B0503020204020204" pitchFamily="34" charset="-122"/>
                <a:ea typeface="微软雅黑" panose="020B0503020204020204" pitchFamily="34" charset="-122"/>
              </a:rPr>
              <a:t>1001</a:t>
            </a:r>
            <a:r>
              <a:rPr lang="zh-CN" altLang="en-US" sz="1800" b="0" dirty="0">
                <a:latin typeface="微软雅黑" panose="020B0503020204020204" pitchFamily="34" charset="-122"/>
                <a:ea typeface="微软雅黑" panose="020B0503020204020204" pitchFamily="34" charset="-122"/>
              </a:rPr>
              <a:t>。</a:t>
            </a:r>
            <a:endParaRPr lang="en-US" altLang="zh-CN" sz="1800" b="0" i="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Text Box 4">
            <a:extLst>
              <a:ext uri="{FF2B5EF4-FFF2-40B4-BE49-F238E27FC236}">
                <a16:creationId xmlns:a16="http://schemas.microsoft.com/office/drawing/2014/main" id="{C0C44B73-41E9-4599-A49F-7A8253D0E95F}"/>
              </a:ext>
            </a:extLst>
          </p:cNvPr>
          <p:cNvSpPr txBox="1">
            <a:spLocks noChangeArrowheads="1"/>
          </p:cNvSpPr>
          <p:nvPr/>
        </p:nvSpPr>
        <p:spPr bwMode="auto">
          <a:xfrm>
            <a:off x="3810000" y="5943600"/>
            <a:ext cx="4724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10.24  </a:t>
            </a:r>
            <a:r>
              <a:rPr lang="zh-CN" altLang="en-US" sz="1600" dirty="0">
                <a:latin typeface="Times New Roman" panose="02020603050405020304" pitchFamily="18" charset="0"/>
                <a:ea typeface="宋体" panose="02010600030101010101" pitchFamily="2" charset="-122"/>
              </a:rPr>
              <a:t>分段、进位和反码等相关的操作</a:t>
            </a:r>
            <a:endParaRPr lang="en-US" altLang="zh-CN" sz="1600" dirty="0">
              <a:latin typeface="Times New Roman" panose="02020603050405020304" pitchFamily="18" charset="0"/>
              <a:ea typeface="宋体" panose="02010600030101010101" pitchFamily="2" charset="-122"/>
            </a:endParaRPr>
          </a:p>
        </p:txBody>
      </p:sp>
      <p:pic>
        <p:nvPicPr>
          <p:cNvPr id="132100" name="图片 2">
            <a:extLst>
              <a:ext uri="{FF2B5EF4-FFF2-40B4-BE49-F238E27FC236}">
                <a16:creationId xmlns:a16="http://schemas.microsoft.com/office/drawing/2014/main" id="{6D98E075-4F9F-41F7-8F4D-0DC6DB06AB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1" y="1371600"/>
            <a:ext cx="669409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Text Box 4">
            <a:extLst>
              <a:ext uri="{FF2B5EF4-FFF2-40B4-BE49-F238E27FC236}">
                <a16:creationId xmlns:a16="http://schemas.microsoft.com/office/drawing/2014/main" id="{55131A75-E752-437A-B15D-F6EF991F82E2}"/>
              </a:ext>
            </a:extLst>
          </p:cNvPr>
          <p:cNvSpPr txBox="1">
            <a:spLocks noChangeArrowheads="1"/>
          </p:cNvSpPr>
          <p:nvPr/>
        </p:nvSpPr>
        <p:spPr bwMode="auto">
          <a:xfrm>
            <a:off x="1447800" y="1447800"/>
            <a:ext cx="4953000" cy="3757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ct val="250000"/>
              </a:lnSpc>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发送方校验和的步骤：</a:t>
            </a: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 </a:t>
            </a:r>
          </a:p>
          <a:p>
            <a:pPr marL="620713" indent="-350838">
              <a:lnSpc>
                <a:spcPct val="2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报文被划分为</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16</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位字</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marL="620713" indent="-350838">
              <a:lnSpc>
                <a:spcPct val="2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校验和字的初始值设为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0</a:t>
            </a:r>
          </a:p>
          <a:p>
            <a:pPr marL="620713" indent="-350838">
              <a:lnSpc>
                <a:spcPct val="2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所有字包括校验和使用反码运算相加</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marL="620713" indent="-350838">
              <a:lnSpc>
                <a:spcPct val="2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对累加和求反码变成校验和</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marL="620713" indent="-350838">
              <a:lnSpc>
                <a:spcPct val="2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校验和随数据一起发送</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Text Box 4">
            <a:extLst>
              <a:ext uri="{FF2B5EF4-FFF2-40B4-BE49-F238E27FC236}">
                <a16:creationId xmlns:a16="http://schemas.microsoft.com/office/drawing/2014/main" id="{D6DEDABF-2827-4781-8339-AB4EC822D720}"/>
              </a:ext>
            </a:extLst>
          </p:cNvPr>
          <p:cNvSpPr txBox="1">
            <a:spLocks noChangeArrowheads="1"/>
          </p:cNvSpPr>
          <p:nvPr/>
        </p:nvSpPr>
        <p:spPr bwMode="auto">
          <a:xfrm>
            <a:off x="6324600" y="1447800"/>
            <a:ext cx="5212404" cy="3142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ct val="250000"/>
              </a:lnSpc>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接收方校验和的步骤：</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marL="620713" indent="-350838">
              <a:lnSpc>
                <a:spcPct val="2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报文（包括校验和）被划分成</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16</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位字</a:t>
            </a:r>
          </a:p>
          <a:p>
            <a:pPr marL="620713" indent="-350838">
              <a:lnSpc>
                <a:spcPct val="2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使用反码运算将所有字相加</a:t>
            </a:r>
          </a:p>
          <a:p>
            <a:pPr marL="620713" indent="-350838">
              <a:lnSpc>
                <a:spcPct val="2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对该和求反码生成新校验和</a:t>
            </a:r>
          </a:p>
          <a:p>
            <a:pPr marL="620713" indent="-350838">
              <a:lnSpc>
                <a:spcPct val="2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如果校验和是</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则接收报文，否则丢弃</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3" name="Text Box 4">
            <a:extLst>
              <a:ext uri="{FF2B5EF4-FFF2-40B4-BE49-F238E27FC236}">
                <a16:creationId xmlns:a16="http://schemas.microsoft.com/office/drawing/2014/main" id="{891BC38D-DDF4-46CC-A45A-682B5C8870BF}"/>
              </a:ext>
            </a:extLst>
          </p:cNvPr>
          <p:cNvSpPr txBox="1">
            <a:spLocks noChangeArrowheads="1"/>
          </p:cNvSpPr>
          <p:nvPr/>
        </p:nvSpPr>
        <p:spPr bwMode="auto">
          <a:xfrm>
            <a:off x="3810000" y="5562600"/>
            <a:ext cx="42734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10.25  </a:t>
            </a:r>
            <a:r>
              <a:rPr lang="zh-CN" altLang="en-US" sz="1600" dirty="0">
                <a:latin typeface="Times New Roman" panose="02020603050405020304" pitchFamily="18" charset="0"/>
                <a:ea typeface="宋体" panose="02010600030101010101" pitchFamily="2" charset="-122"/>
              </a:rPr>
              <a:t>分段、进位和反码等相关的操作</a:t>
            </a:r>
            <a:endParaRPr lang="en-US" altLang="zh-CN" sz="1600" dirty="0">
              <a:latin typeface="Times New Roman" panose="02020603050405020304" pitchFamily="18" charset="0"/>
              <a:ea typeface="宋体" panose="02010600030101010101" pitchFamily="2" charset="-122"/>
            </a:endParaRPr>
          </a:p>
        </p:txBody>
      </p:sp>
      <p:pic>
        <p:nvPicPr>
          <p:cNvPr id="138244" name="图片 1">
            <a:extLst>
              <a:ext uri="{FF2B5EF4-FFF2-40B4-BE49-F238E27FC236}">
                <a16:creationId xmlns:a16="http://schemas.microsoft.com/office/drawing/2014/main" id="{776CE97F-9AAE-4DEB-8537-032773F190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9520" y="1600200"/>
            <a:ext cx="709296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Arial"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1800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18000" smtClean="0">
            <a:ln>
              <a:noFill/>
            </a:ln>
            <a:solidFill>
              <a:schemeClr val="tx1"/>
            </a:solidFill>
            <a:effectLst/>
            <a:latin typeface="Arial" charset="0"/>
          </a:defRPr>
        </a:defPPr>
      </a:lstStyle>
    </a:lnDef>
    <a:txDef>
      <a:spPr>
        <a:noFill/>
      </a:spPr>
      <a:bodyPr wrap="square" rtlCol="0">
        <a:spAutoFit/>
      </a:bodyPr>
      <a:lstStyle>
        <a:defPPr algn="l">
          <a:defRPr sz="2400" b="0" baseline="0" dirty="0" smtClean="0">
            <a:latin typeface="宋体" panose="02010600030101010101" pitchFamily="2" charset="-122"/>
            <a:ea typeface="宋体" panose="02010600030101010101" pitchFamily="2" charset="-122"/>
          </a:defRPr>
        </a:defPPr>
      </a:lstStyle>
    </a:tx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10183</TotalTime>
  <Words>5369</Words>
  <Application>Microsoft Office PowerPoint</Application>
  <PresentationFormat>宽屏</PresentationFormat>
  <Paragraphs>602</Paragraphs>
  <Slides>56</Slides>
  <Notes>51</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2</vt:i4>
      </vt:variant>
      <vt:variant>
        <vt:lpstr>幻灯片标题</vt:lpstr>
      </vt:variant>
      <vt:variant>
        <vt:i4>56</vt:i4>
      </vt:variant>
    </vt:vector>
  </HeadingPairs>
  <TitlesOfParts>
    <vt:vector size="70" baseType="lpstr">
      <vt:lpstr>McGrawHill-Italic</vt:lpstr>
      <vt:lpstr>等线</vt:lpstr>
      <vt:lpstr>宋体</vt:lpstr>
      <vt:lpstr>微软雅黑</vt:lpstr>
      <vt:lpstr>Arial</vt:lpstr>
      <vt:lpstr>Cambria Math</vt:lpstr>
      <vt:lpstr>Tahoma</vt:lpstr>
      <vt:lpstr>Times</vt:lpstr>
      <vt:lpstr>Times New Roman</vt:lpstr>
      <vt:lpstr>Wingdings</vt:lpstr>
      <vt:lpstr>Blends</vt:lpstr>
      <vt:lpstr>1_Blends</vt:lpstr>
      <vt:lpstr>Microsoft Visio 2003-2010 Drawing</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GY</cp:lastModifiedBy>
  <cp:revision>534</cp:revision>
  <dcterms:created xsi:type="dcterms:W3CDTF">2000-01-15T04:50:39Z</dcterms:created>
  <dcterms:modified xsi:type="dcterms:W3CDTF">2025-04-17T03:09:50Z</dcterms:modified>
</cp:coreProperties>
</file>