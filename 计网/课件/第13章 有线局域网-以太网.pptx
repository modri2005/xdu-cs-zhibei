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5"/>
  </p:notesMasterIdLst>
  <p:sldIdLst>
    <p:sldId id="786" r:id="rId2"/>
    <p:sldId id="829" r:id="rId3"/>
    <p:sldId id="831" r:id="rId4"/>
    <p:sldId id="828" r:id="rId5"/>
    <p:sldId id="832" r:id="rId6"/>
    <p:sldId id="816" r:id="rId7"/>
    <p:sldId id="830" r:id="rId8"/>
    <p:sldId id="833" r:id="rId9"/>
    <p:sldId id="755" r:id="rId10"/>
    <p:sldId id="1199" r:id="rId11"/>
    <p:sldId id="1240" r:id="rId12"/>
    <p:sldId id="756" r:id="rId13"/>
    <p:sldId id="785" r:id="rId14"/>
    <p:sldId id="1200" r:id="rId15"/>
    <p:sldId id="1201" r:id="rId16"/>
    <p:sldId id="758" r:id="rId17"/>
    <p:sldId id="1204" r:id="rId18"/>
    <p:sldId id="1203" r:id="rId19"/>
    <p:sldId id="763" r:id="rId20"/>
    <p:sldId id="765" r:id="rId21"/>
    <p:sldId id="767" r:id="rId22"/>
    <p:sldId id="824" r:id="rId23"/>
    <p:sldId id="1221" r:id="rId24"/>
    <p:sldId id="1205" r:id="rId25"/>
    <p:sldId id="1206" r:id="rId26"/>
    <p:sldId id="1238" r:id="rId27"/>
    <p:sldId id="1222" r:id="rId28"/>
    <p:sldId id="1223" r:id="rId29"/>
    <p:sldId id="1224" r:id="rId30"/>
    <p:sldId id="1225" r:id="rId31"/>
    <p:sldId id="1226" r:id="rId32"/>
    <p:sldId id="1227" r:id="rId33"/>
    <p:sldId id="1228" r:id="rId34"/>
    <p:sldId id="1229" r:id="rId35"/>
    <p:sldId id="1230" r:id="rId36"/>
    <p:sldId id="1231" r:id="rId37"/>
    <p:sldId id="1232" r:id="rId38"/>
    <p:sldId id="1233" r:id="rId39"/>
    <p:sldId id="1234" r:id="rId40"/>
    <p:sldId id="1235" r:id="rId41"/>
    <p:sldId id="1236" r:id="rId42"/>
    <p:sldId id="1237" r:id="rId43"/>
    <p:sldId id="1239" r:id="rId44"/>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82A5D0"/>
    <a:srgbClr val="66CCFF"/>
    <a:srgbClr val="B9CDE5"/>
    <a:srgbClr val="E6B9B8"/>
    <a:srgbClr val="D7E4BD"/>
    <a:srgbClr val="FFCCFF"/>
    <a:srgbClr val="8BD8FF"/>
    <a:srgbClr val="660066"/>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92" autoAdjust="0"/>
    <p:restoredTop sz="80025" autoAdjust="0"/>
  </p:normalViewPr>
  <p:slideViewPr>
    <p:cSldViewPr>
      <p:cViewPr varScale="1">
        <p:scale>
          <a:sx n="66" d="100"/>
          <a:sy n="66" d="100"/>
        </p:scale>
        <p:origin x="1675"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332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9074" name="Rectangle 2">
            <a:extLst>
              <a:ext uri="{FF2B5EF4-FFF2-40B4-BE49-F238E27FC236}">
                <a16:creationId xmlns:a16="http://schemas.microsoft.com/office/drawing/2014/main" id="{6B4C3472-4786-4373-92C2-4B255A5CA15C}"/>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pPr>
              <a:defRPr/>
            </a:pPr>
            <a:endParaRPr lang="en-US" altLang="zh-CN"/>
          </a:p>
        </p:txBody>
      </p:sp>
      <p:sp>
        <p:nvSpPr>
          <p:cNvPr id="899075" name="Rectangle 3">
            <a:extLst>
              <a:ext uri="{FF2B5EF4-FFF2-40B4-BE49-F238E27FC236}">
                <a16:creationId xmlns:a16="http://schemas.microsoft.com/office/drawing/2014/main" id="{503C522B-A2FF-4A50-8F54-A4752B789006}"/>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pPr>
              <a:defRPr/>
            </a:pPr>
            <a:endParaRPr lang="en-US" altLang="zh-CN"/>
          </a:p>
        </p:txBody>
      </p:sp>
      <p:sp>
        <p:nvSpPr>
          <p:cNvPr id="14340" name="Rectangle 4">
            <a:extLst>
              <a:ext uri="{FF2B5EF4-FFF2-40B4-BE49-F238E27FC236}">
                <a16:creationId xmlns:a16="http://schemas.microsoft.com/office/drawing/2014/main" id="{49A66E62-1EDD-41D9-ACE5-3C8BE120677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9077" name="Rectangle 5">
            <a:extLst>
              <a:ext uri="{FF2B5EF4-FFF2-40B4-BE49-F238E27FC236}">
                <a16:creationId xmlns:a16="http://schemas.microsoft.com/office/drawing/2014/main" id="{EC4A5E08-B0FC-4F79-94DE-63B890248183}"/>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899078" name="Rectangle 6">
            <a:extLst>
              <a:ext uri="{FF2B5EF4-FFF2-40B4-BE49-F238E27FC236}">
                <a16:creationId xmlns:a16="http://schemas.microsoft.com/office/drawing/2014/main" id="{5F26B8DB-53E9-493D-A51D-6BF51E77CDD9}"/>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pPr>
              <a:defRPr/>
            </a:pPr>
            <a:endParaRPr lang="en-US" altLang="zh-CN"/>
          </a:p>
        </p:txBody>
      </p:sp>
      <p:sp>
        <p:nvSpPr>
          <p:cNvPr id="899079" name="Rectangle 7">
            <a:extLst>
              <a:ext uri="{FF2B5EF4-FFF2-40B4-BE49-F238E27FC236}">
                <a16:creationId xmlns:a16="http://schemas.microsoft.com/office/drawing/2014/main" id="{B9FE0AF9-9C12-474C-9ED8-02B57165018F}"/>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pPr>
              <a:defRPr/>
            </a:pPr>
            <a:fld id="{9D815A7D-E9FC-4377-AF99-F14C3389527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82877BBC-73D9-4526-8EAC-3FE60E5891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3011E62B-A47A-43AD-8466-5EB2A0164EBE}" type="slidenum">
              <a:rPr lang="en-US" altLang="zh-CN" sz="1200" b="0" smtClean="0">
                <a:latin typeface="Times New Roman" panose="02020603050405020304" pitchFamily="18" charset="0"/>
              </a:rPr>
              <a:pPr/>
              <a:t>1</a:t>
            </a:fld>
            <a:endParaRPr lang="en-US" altLang="zh-CN" sz="1200" b="0">
              <a:latin typeface="Times New Roman" panose="02020603050405020304" pitchFamily="18" charset="0"/>
            </a:endParaRPr>
          </a:p>
        </p:txBody>
      </p:sp>
      <p:sp>
        <p:nvSpPr>
          <p:cNvPr id="16387" name="Rectangle 2">
            <a:extLst>
              <a:ext uri="{FF2B5EF4-FFF2-40B4-BE49-F238E27FC236}">
                <a16:creationId xmlns:a16="http://schemas.microsoft.com/office/drawing/2014/main" id="{8730ECFD-E5CC-44DD-9060-8F4EECCEDAD3}"/>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4CAF0003-B4CA-4B8B-86DC-368C919A38E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57642235-9F51-4D38-B68D-ECE14FB3305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200" b="0">
                <a:latin typeface="Times New Roman" panose="02020603050405020304" pitchFamily="18" charset="0"/>
              </a:rPr>
              <a:t>1.#</a:t>
            </a:r>
          </a:p>
        </p:txBody>
      </p:sp>
      <p:sp>
        <p:nvSpPr>
          <p:cNvPr id="30723" name="Rectangle 2">
            <a:extLst>
              <a:ext uri="{FF2B5EF4-FFF2-40B4-BE49-F238E27FC236}">
                <a16:creationId xmlns:a16="http://schemas.microsoft.com/office/drawing/2014/main" id="{682F50DD-2800-4E13-9B1E-579E23BC972C}"/>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4BD1DBD9-0EDB-45F0-81F6-EF6C467507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自</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70</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年代中期发明以太网以来，它经历了不断的演化和发展，是第一个广泛部署的高速局域网。</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80</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到</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90</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年代早期，包括以太网、令牌环、</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FDDI</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ATM</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等在内的多种局域网技术共存，但这些局域网技术比以太网更复杂、更昂贵。</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90</a:t>
            </a:r>
            <a:r>
              <a:rPr lang="zh-CN" altLang="en-US" sz="1200" b="0" dirty="0">
                <a:latin typeface="微软雅黑" panose="020B0503020204020204" pitchFamily="34" charset="-122"/>
                <a:ea typeface="微软雅黑" panose="020B0503020204020204" pitchFamily="34" charset="-122"/>
                <a:cs typeface="Times New Roman" panose="02020603050405020304" pitchFamily="18" charset="0"/>
              </a:rPr>
              <a:t>年代初期交换以太网的出现，进一步提高了以太网的数据速率，使以太网成为最流行的有线局域网技术。</a:t>
            </a:r>
            <a:endParaRPr lang="en-US" altLang="zh-CN" sz="1200" b="0" dirty="0">
              <a:latin typeface="微软雅黑" panose="020B0503020204020204" pitchFamily="34" charset="-122"/>
              <a:ea typeface="微软雅黑" panose="020B0503020204020204" pitchFamily="34" charset="-122"/>
              <a:cs typeface="Times New Roman" panose="02020603050405020304" pitchFamily="18" charset="0"/>
            </a:endParaRPr>
          </a:p>
          <a:p>
            <a:pPr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1980</a:t>
            </a:r>
            <a:r>
              <a:rPr lang="zh-CN" altLang="en-US" dirty="0"/>
              <a:t>年，</a:t>
            </a:r>
            <a:r>
              <a:rPr lang="en-US" altLang="zh-CN" dirty="0"/>
              <a:t>IEEE</a:t>
            </a:r>
            <a:r>
              <a:rPr lang="zh-CN" altLang="en-US" dirty="0"/>
              <a:t>成立局域网标准委员会</a:t>
            </a:r>
            <a:r>
              <a:rPr lang="en-US" altLang="zh-CN" dirty="0"/>
              <a:t>(</a:t>
            </a:r>
            <a:r>
              <a:rPr lang="zh-CN" altLang="en-US" dirty="0"/>
              <a:t>简称</a:t>
            </a:r>
            <a:r>
              <a:rPr lang="en-US" altLang="zh-CN" dirty="0"/>
              <a:t>IEEE 802</a:t>
            </a:r>
            <a:r>
              <a:rPr lang="zh-CN" altLang="en-US" dirty="0"/>
              <a:t>委员会</a:t>
            </a:r>
            <a:r>
              <a:rPr lang="en-US" altLang="zh-CN" dirty="0"/>
              <a:t>)</a:t>
            </a:r>
            <a:r>
              <a:rPr lang="zh-CN" altLang="en-US" dirty="0"/>
              <a:t>，专门从事局域网标准化工作，并制定了</a:t>
            </a:r>
            <a:r>
              <a:rPr lang="en-US" altLang="zh-CN" dirty="0"/>
              <a:t>IEEE 802</a:t>
            </a:r>
            <a:r>
              <a:rPr lang="zh-CN" altLang="en-US" dirty="0"/>
              <a:t>参考模型与标准。</a:t>
            </a:r>
            <a:r>
              <a:rPr lang="en-US" altLang="zh-CN" dirty="0"/>
              <a:t>IEEE 802</a:t>
            </a:r>
            <a:r>
              <a:rPr lang="zh-CN" altLang="en-US" dirty="0"/>
              <a:t>研究重点是解决局部范围的计算机联网问题，因此研究者只需面对</a:t>
            </a:r>
            <a:r>
              <a:rPr lang="en-US" altLang="zh-CN" dirty="0"/>
              <a:t>OSI</a:t>
            </a:r>
            <a:r>
              <a:rPr lang="zh-CN" altLang="en-US" dirty="0"/>
              <a:t>参考模型中的数据链路层与物理层，网络层及以上高层不属于局域网协议研究的范围。这是</a:t>
            </a:r>
            <a:r>
              <a:rPr lang="en-US" altLang="zh-CN" dirty="0"/>
              <a:t>IEEE 802</a:t>
            </a:r>
            <a:r>
              <a:rPr lang="zh-CN" altLang="en-US" dirty="0"/>
              <a:t>标准只制定数据链路层与物理层协议的原因。</a:t>
            </a:r>
            <a:br>
              <a:rPr lang="zh-CN" altLang="en-US" dirty="0"/>
            </a:br>
            <a:r>
              <a:rPr lang="en-US" altLang="zh-CN" dirty="0"/>
              <a:t>IEEE 802</a:t>
            </a:r>
            <a:r>
              <a:rPr lang="zh-CN" altLang="en-US" dirty="0"/>
              <a:t>委员会刚成立时，局域网领域已有</a:t>
            </a:r>
            <a:r>
              <a:rPr lang="en-US" altLang="zh-CN" dirty="0"/>
              <a:t>3</a:t>
            </a:r>
            <a:r>
              <a:rPr lang="zh-CN" altLang="en-US" dirty="0"/>
              <a:t>类典型技术：以太网、令牌总线网与令牌环网。同时，市场上还有很多厂商的局域网产品，它们的数据链路层与物理层协议各不相同。面对这样一个复杂的局面，要想为多种局域网技术和产品制定一个公用模型，</a:t>
            </a:r>
            <a:r>
              <a:rPr lang="en-US" altLang="zh-CN" dirty="0"/>
              <a:t>IEEE 802</a:t>
            </a:r>
            <a:r>
              <a:rPr lang="zh-CN" altLang="en-US" dirty="0"/>
              <a:t>标准设计者提出将数据链路层分为两个子层：逻辑链路控制</a:t>
            </a:r>
            <a:r>
              <a:rPr lang="en-US" altLang="zh-CN" dirty="0"/>
              <a:t>(Logical Link Control</a:t>
            </a:r>
            <a:r>
              <a:rPr lang="zh-CN" altLang="en-US" dirty="0"/>
              <a:t>，</a:t>
            </a:r>
            <a:r>
              <a:rPr lang="en-US" altLang="zh-CN" dirty="0"/>
              <a:t>LLC)</a:t>
            </a:r>
            <a:r>
              <a:rPr lang="zh-CN" altLang="en-US" dirty="0"/>
              <a:t>与介质访问控制</a:t>
            </a:r>
            <a:r>
              <a:rPr lang="en-US" altLang="zh-CN" dirty="0"/>
              <a:t>(Media Access Control</a:t>
            </a:r>
            <a:r>
              <a:rPr lang="zh-CN" altLang="en-US" dirty="0"/>
              <a:t>，</a:t>
            </a:r>
            <a:r>
              <a:rPr lang="en-US" altLang="zh-CN" dirty="0"/>
              <a:t>MAC)</a:t>
            </a:r>
            <a:r>
              <a:rPr lang="zh-CN" altLang="en-US" dirty="0"/>
              <a:t>子层。</a:t>
            </a:r>
            <a:br>
              <a:rPr lang="zh-CN" altLang="en-US" dirty="0"/>
            </a:br>
            <a:r>
              <a:rPr lang="zh-CN" altLang="en-US" dirty="0"/>
              <a:t>图中给出了</a:t>
            </a:r>
            <a:r>
              <a:rPr lang="en-US" altLang="zh-CN" dirty="0"/>
              <a:t>IEEE 802</a:t>
            </a:r>
            <a:r>
              <a:rPr lang="zh-CN" altLang="en-US" dirty="0"/>
              <a:t>与</a:t>
            </a:r>
            <a:r>
              <a:rPr lang="en-US" altLang="zh-CN" dirty="0"/>
              <a:t>OSI</a:t>
            </a:r>
            <a:r>
              <a:rPr lang="zh-CN" altLang="en-US" dirty="0"/>
              <a:t>参考模型的对应关系。不同局域网在</a:t>
            </a:r>
            <a:r>
              <a:rPr lang="en-US" altLang="zh-CN" dirty="0"/>
              <a:t>MAC</a:t>
            </a:r>
            <a:r>
              <a:rPr lang="zh-CN" altLang="en-US" dirty="0"/>
              <a:t>子层和物理层可采用不同协议，但在</a:t>
            </a:r>
            <a:r>
              <a:rPr lang="en-US" altLang="zh-CN" dirty="0"/>
              <a:t>LLC</a:t>
            </a:r>
            <a:r>
              <a:rPr lang="zh-CN" altLang="en-US" dirty="0"/>
              <a:t>子层必须采用相同协议。这与网络层</a:t>
            </a:r>
            <a:r>
              <a:rPr lang="en-US" altLang="zh-CN" dirty="0"/>
              <a:t>IP</a:t>
            </a:r>
            <a:r>
              <a:rPr lang="zh-CN" altLang="en-US" dirty="0"/>
              <a:t>协议的设计思路相似。不管局域网的介质访问控制方法与帧结构，以及采用的物理传输介质有什么不同，</a:t>
            </a:r>
            <a:r>
              <a:rPr lang="en-US" altLang="zh-CN" dirty="0"/>
              <a:t>LLC</a:t>
            </a:r>
            <a:r>
              <a:rPr lang="zh-CN" altLang="en-US" dirty="0"/>
              <a:t>子层统一将它们封装到固定格式的 </a:t>
            </a:r>
            <a:r>
              <a:rPr lang="en-US" altLang="zh-CN" dirty="0"/>
              <a:t>LLC</a:t>
            </a:r>
            <a:r>
              <a:rPr lang="zh-CN" altLang="en-US" dirty="0"/>
              <a:t>帧中。</a:t>
            </a:r>
            <a:r>
              <a:rPr lang="en-US" altLang="zh-CN" dirty="0"/>
              <a:t>LLC </a:t>
            </a:r>
            <a:r>
              <a:rPr lang="zh-CN" altLang="en-US" dirty="0"/>
              <a:t>子层与低层采用的传输介质、访问控制方法无关，网络层可以不考虑局域网采用哪种传输介质、访问控制方法和拓扑构型。这种方法在解决异构的局域网互联问题上是有效的。</a:t>
            </a:r>
          </a:p>
          <a:p>
            <a:endParaRPr lang="zh-CN" altLang="en-US" dirty="0"/>
          </a:p>
          <a:p>
            <a:r>
              <a:rPr lang="zh-CN" altLang="en-US" dirty="0"/>
              <a:t>经过多年激烈的市场竞争，从以太网、令牌总线网与令牌环网“三足鼎立”局面，最终以太网突出重围形成“一枝独秀”格局。根据目前局域网的实际应用情况，在办公自动化中大量应用的局域网</a:t>
            </a:r>
            <a:r>
              <a:rPr lang="en-US" altLang="zh-CN" dirty="0"/>
              <a:t>(</a:t>
            </a:r>
            <a:r>
              <a:rPr lang="zh-CN" altLang="en-US" dirty="0"/>
              <a:t>如企业网、校园网</a:t>
            </a:r>
            <a:r>
              <a:rPr lang="en-US" altLang="zh-CN" dirty="0"/>
              <a:t>)</a:t>
            </a:r>
            <a:r>
              <a:rPr lang="zh-CN" altLang="en-US" dirty="0"/>
              <a:t>几乎都采用以太网，因此局域网中是否使用</a:t>
            </a:r>
            <a:r>
              <a:rPr lang="en-US" altLang="zh-CN" dirty="0"/>
              <a:t>LLC</a:t>
            </a:r>
            <a:r>
              <a:rPr lang="zh-CN" altLang="en-US" dirty="0"/>
              <a:t>子层已不重要，很多硬件和软件厂商已不使用</a:t>
            </a:r>
            <a:r>
              <a:rPr lang="en-US" altLang="zh-CN" dirty="0"/>
              <a:t>LLC</a:t>
            </a:r>
            <a:r>
              <a:rPr lang="zh-CN" altLang="en-US" dirty="0"/>
              <a:t>协议，而是直接将数据封装在以太网的 </a:t>
            </a:r>
            <a:r>
              <a:rPr lang="en-US" altLang="zh-CN" dirty="0"/>
              <a:t>MAC</a:t>
            </a:r>
            <a:r>
              <a:rPr lang="zh-CN" altLang="en-US" dirty="0"/>
              <a:t>帧中。网络层</a:t>
            </a:r>
            <a:r>
              <a:rPr lang="en-US" altLang="zh-CN" dirty="0"/>
              <a:t>IP</a:t>
            </a:r>
            <a:r>
              <a:rPr lang="zh-CN" altLang="en-US" dirty="0"/>
              <a:t>协议直接将分组封装到以太网帧中，整个协议处理过程变得更简洁，因此人们已很少讨论 </a:t>
            </a:r>
            <a:r>
              <a:rPr lang="en-US" altLang="zh-CN" dirty="0"/>
              <a:t>LLC </a:t>
            </a:r>
            <a:r>
              <a:rPr lang="zh-CN" altLang="en-US" dirty="0"/>
              <a:t>协议。</a:t>
            </a:r>
          </a:p>
        </p:txBody>
      </p:sp>
      <p:sp>
        <p:nvSpPr>
          <p:cNvPr id="4" name="灯片编号占位符 3"/>
          <p:cNvSpPr>
            <a:spLocks noGrp="1"/>
          </p:cNvSpPr>
          <p:nvPr>
            <p:ph type="sldNum" sz="quarter" idx="5"/>
          </p:nvPr>
        </p:nvSpPr>
        <p:spPr/>
        <p:txBody>
          <a:bodyPr/>
          <a:lstStyle/>
          <a:p>
            <a:pPr>
              <a:defRPr/>
            </a:pPr>
            <a:fld id="{9D815A7D-E9FC-4377-AF99-F14C33895271}" type="slidenum">
              <a:rPr lang="en-US" altLang="zh-CN" smtClean="0"/>
              <a:pPr>
                <a:defRPr/>
              </a:pPr>
              <a:t>5</a:t>
            </a:fld>
            <a:endParaRPr lang="en-US" altLang="zh-CN"/>
          </a:p>
        </p:txBody>
      </p:sp>
    </p:spTree>
    <p:extLst>
      <p:ext uri="{BB962C8B-B14F-4D97-AF65-F5344CB8AC3E}">
        <p14:creationId xmlns:p14="http://schemas.microsoft.com/office/powerpoint/2010/main" val="2435178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D815A7D-E9FC-4377-AF99-F14C33895271}" type="slidenum">
              <a:rPr lang="en-US" altLang="zh-CN" smtClean="0"/>
              <a:pPr>
                <a:defRPr/>
              </a:pPr>
              <a:t>6</a:t>
            </a:fld>
            <a:endParaRPr lang="en-US" altLang="zh-CN"/>
          </a:p>
        </p:txBody>
      </p:sp>
    </p:spTree>
    <p:extLst>
      <p:ext uri="{BB962C8B-B14F-4D97-AF65-F5344CB8AC3E}">
        <p14:creationId xmlns:p14="http://schemas.microsoft.com/office/powerpoint/2010/main" val="2467264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57642235-9F51-4D38-B68D-ECE14FB3305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200" b="0">
                <a:latin typeface="Times New Roman" panose="02020603050405020304" pitchFamily="18" charset="0"/>
              </a:rPr>
              <a:t>1.#</a:t>
            </a:r>
          </a:p>
        </p:txBody>
      </p:sp>
      <p:sp>
        <p:nvSpPr>
          <p:cNvPr id="30723" name="Rectangle 2">
            <a:extLst>
              <a:ext uri="{FF2B5EF4-FFF2-40B4-BE49-F238E27FC236}">
                <a16:creationId xmlns:a16="http://schemas.microsoft.com/office/drawing/2014/main" id="{682F50DD-2800-4E13-9B1E-579E23BC972C}"/>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4BD1DBD9-0EDB-45F0-81F6-EF6C467507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extLst>
      <p:ext uri="{BB962C8B-B14F-4D97-AF65-F5344CB8AC3E}">
        <p14:creationId xmlns:p14="http://schemas.microsoft.com/office/powerpoint/2010/main" val="3949915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D815A7D-E9FC-4377-AF99-F14C33895271}" type="slidenum">
              <a:rPr lang="en-US" altLang="zh-CN" smtClean="0"/>
              <a:pPr>
                <a:defRPr/>
              </a:pPr>
              <a:t>8</a:t>
            </a:fld>
            <a:endParaRPr lang="en-US" altLang="zh-CN"/>
          </a:p>
        </p:txBody>
      </p:sp>
    </p:spTree>
    <p:extLst>
      <p:ext uri="{BB962C8B-B14F-4D97-AF65-F5344CB8AC3E}">
        <p14:creationId xmlns:p14="http://schemas.microsoft.com/office/powerpoint/2010/main" val="34190330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B0C3F85A-B787-4F99-BFD0-D82CD622907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A1C91633-BA95-45AC-A49B-3ABEB0C2D33F}" type="slidenum">
              <a:rPr lang="en-US" altLang="zh-CN" sz="1200" b="0" smtClean="0">
                <a:latin typeface="Times New Roman" panose="02020603050405020304" pitchFamily="18" charset="0"/>
              </a:rPr>
              <a:pPr/>
              <a:t>9</a:t>
            </a:fld>
            <a:endParaRPr lang="en-US" altLang="zh-CN" sz="1200" b="0">
              <a:latin typeface="Times New Roman" panose="02020603050405020304" pitchFamily="18" charset="0"/>
            </a:endParaRPr>
          </a:p>
        </p:txBody>
      </p:sp>
      <p:sp>
        <p:nvSpPr>
          <p:cNvPr id="31747" name="Rectangle 2">
            <a:extLst>
              <a:ext uri="{FF2B5EF4-FFF2-40B4-BE49-F238E27FC236}">
                <a16:creationId xmlns:a16="http://schemas.microsoft.com/office/drawing/2014/main" id="{2FAB1367-CF7B-4FC1-9F22-E95A658FA0EE}"/>
              </a:ext>
            </a:extLst>
          </p:cNvPr>
          <p:cNvSpPr>
            <a:spLocks noGrp="1" noRot="1" noChangeAspect="1" noChangeArrowheads="1" noTextEdit="1"/>
          </p:cNvSpPr>
          <p:nvPr>
            <p:ph type="sldImg"/>
          </p:nvPr>
        </p:nvSpPr>
        <p:spPr>
          <a:ln/>
        </p:spPr>
      </p:sp>
      <p:sp>
        <p:nvSpPr>
          <p:cNvPr id="31748" name="Rectangle 3">
            <a:extLst>
              <a:ext uri="{FF2B5EF4-FFF2-40B4-BE49-F238E27FC236}">
                <a16:creationId xmlns:a16="http://schemas.microsoft.com/office/drawing/2014/main" id="{EE77CF79-4425-4E7B-9B42-E2A4960C711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2494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F72EABF0-28EB-44CE-BE2B-27C53E7CC8C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065605B8-1F36-4CF6-BF2E-123BBAB02CFB}" type="slidenum">
              <a:rPr lang="en-US" altLang="zh-CN" sz="1200" b="0" smtClean="0">
                <a:latin typeface="Times New Roman" panose="02020603050405020304" pitchFamily="18" charset="0"/>
              </a:rPr>
              <a:pPr/>
              <a:t>12</a:t>
            </a:fld>
            <a:endParaRPr lang="en-US" altLang="zh-CN" sz="1200" b="0">
              <a:latin typeface="Times New Roman" panose="02020603050405020304" pitchFamily="18" charset="0"/>
            </a:endParaRPr>
          </a:p>
        </p:txBody>
      </p:sp>
      <p:sp>
        <p:nvSpPr>
          <p:cNvPr id="33795" name="Rectangle 2">
            <a:extLst>
              <a:ext uri="{FF2B5EF4-FFF2-40B4-BE49-F238E27FC236}">
                <a16:creationId xmlns:a16="http://schemas.microsoft.com/office/drawing/2014/main" id="{8AA7A9E8-0763-4381-8FCF-DD3AD5E883AE}"/>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62FD698F-F606-4259-B71C-B5C8D3EB6F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BF1B58D7-9C02-4023-AA7D-C6201297960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47DEB11-E67D-43F0-A584-4AA0C6AE78ED}" type="slidenum">
              <a:rPr lang="en-US" altLang="zh-CN" sz="1200" b="0" smtClean="0">
                <a:latin typeface="Times New Roman" panose="02020603050405020304" pitchFamily="18" charset="0"/>
              </a:rPr>
              <a:pPr/>
              <a:t>13</a:t>
            </a:fld>
            <a:endParaRPr lang="en-US" altLang="zh-CN" sz="1200" b="0">
              <a:latin typeface="Times New Roman" panose="02020603050405020304" pitchFamily="18" charset="0"/>
            </a:endParaRPr>
          </a:p>
        </p:txBody>
      </p:sp>
      <p:sp>
        <p:nvSpPr>
          <p:cNvPr id="37891" name="Rectangle 2">
            <a:extLst>
              <a:ext uri="{FF2B5EF4-FFF2-40B4-BE49-F238E27FC236}">
                <a16:creationId xmlns:a16="http://schemas.microsoft.com/office/drawing/2014/main" id="{8AD3CE06-1DE4-4349-A100-8F909D4D75DC}"/>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5186BBC0-9832-4B9C-9C4A-CD39BE9A5C0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57642235-9F51-4D38-B68D-ECE14FB3305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200" b="0">
                <a:latin typeface="Times New Roman" panose="02020603050405020304" pitchFamily="18" charset="0"/>
              </a:rPr>
              <a:t>1.#</a:t>
            </a:r>
          </a:p>
        </p:txBody>
      </p:sp>
      <p:sp>
        <p:nvSpPr>
          <p:cNvPr id="30723" name="Rectangle 2">
            <a:extLst>
              <a:ext uri="{FF2B5EF4-FFF2-40B4-BE49-F238E27FC236}">
                <a16:creationId xmlns:a16="http://schemas.microsoft.com/office/drawing/2014/main" id="{682F50DD-2800-4E13-9B1E-579E23BC972C}"/>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4BD1DBD9-0EDB-45F0-81F6-EF6C467507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extLst>
      <p:ext uri="{BB962C8B-B14F-4D97-AF65-F5344CB8AC3E}">
        <p14:creationId xmlns:p14="http://schemas.microsoft.com/office/powerpoint/2010/main" val="25857432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C643EA1F-E7F2-4573-A8CC-624965DB2BB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482FBBA-4315-4F97-AA08-4590572D9814}" type="slidenum">
              <a:rPr lang="en-US" altLang="zh-CN" sz="1200" b="0" smtClean="0">
                <a:latin typeface="Times New Roman" panose="02020603050405020304" pitchFamily="18" charset="0"/>
              </a:rPr>
              <a:pPr/>
              <a:t>16</a:t>
            </a:fld>
            <a:endParaRPr lang="en-US" altLang="zh-CN" sz="1200" b="0">
              <a:latin typeface="Times New Roman" panose="02020603050405020304" pitchFamily="18" charset="0"/>
            </a:endParaRPr>
          </a:p>
        </p:txBody>
      </p:sp>
      <p:sp>
        <p:nvSpPr>
          <p:cNvPr id="47107" name="Rectangle 2">
            <a:extLst>
              <a:ext uri="{FF2B5EF4-FFF2-40B4-BE49-F238E27FC236}">
                <a16:creationId xmlns:a16="http://schemas.microsoft.com/office/drawing/2014/main" id="{C58BBD58-5046-493B-B793-7124B4435174}"/>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1B00603-C50D-4D5A-AFA1-45C561A08F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8548621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C643EA1F-E7F2-4573-A8CC-624965DB2BB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482FBBA-4315-4F97-AA08-4590572D9814}" type="slidenum">
              <a:rPr lang="en-US" altLang="zh-CN" sz="1200" b="0" smtClean="0">
                <a:latin typeface="Times New Roman" panose="02020603050405020304" pitchFamily="18" charset="0"/>
              </a:rPr>
              <a:pPr/>
              <a:t>17</a:t>
            </a:fld>
            <a:endParaRPr lang="en-US" altLang="zh-CN" sz="1200" b="0">
              <a:latin typeface="Times New Roman" panose="02020603050405020304" pitchFamily="18" charset="0"/>
            </a:endParaRPr>
          </a:p>
        </p:txBody>
      </p:sp>
      <p:sp>
        <p:nvSpPr>
          <p:cNvPr id="47107" name="Rectangle 2">
            <a:extLst>
              <a:ext uri="{FF2B5EF4-FFF2-40B4-BE49-F238E27FC236}">
                <a16:creationId xmlns:a16="http://schemas.microsoft.com/office/drawing/2014/main" id="{C58BBD58-5046-493B-B793-7124B4435174}"/>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1B00603-C50D-4D5A-AFA1-45C561A08F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938335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C643EA1F-E7F2-4573-A8CC-624965DB2BB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B482FBBA-4315-4F97-AA08-4590572D9814}" type="slidenum">
              <a:rPr lang="en-US" altLang="zh-CN" sz="1200" b="0" smtClean="0">
                <a:latin typeface="Times New Roman" panose="02020603050405020304" pitchFamily="18" charset="0"/>
              </a:rPr>
              <a:pPr/>
              <a:t>18</a:t>
            </a:fld>
            <a:endParaRPr lang="en-US" altLang="zh-CN" sz="1200" b="0">
              <a:latin typeface="Times New Roman" panose="02020603050405020304" pitchFamily="18" charset="0"/>
            </a:endParaRPr>
          </a:p>
        </p:txBody>
      </p:sp>
      <p:sp>
        <p:nvSpPr>
          <p:cNvPr id="47107" name="Rectangle 2">
            <a:extLst>
              <a:ext uri="{FF2B5EF4-FFF2-40B4-BE49-F238E27FC236}">
                <a16:creationId xmlns:a16="http://schemas.microsoft.com/office/drawing/2014/main" id="{C58BBD58-5046-493B-B793-7124B4435174}"/>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1B00603-C50D-4D5A-AFA1-45C561A08F0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9893372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35BECA3E-6DAD-4F0B-A2F6-F1F774B5C7A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42731E1A-DA52-47A6-B6F6-C4ED83A734E9}" type="slidenum">
              <a:rPr lang="en-US" altLang="zh-CN" sz="1200" b="0" smtClean="0">
                <a:latin typeface="Times New Roman" panose="02020603050405020304" pitchFamily="18" charset="0"/>
              </a:rPr>
              <a:pPr/>
              <a:t>19</a:t>
            </a:fld>
            <a:endParaRPr lang="en-US" altLang="zh-CN" sz="1200" b="0">
              <a:latin typeface="Times New Roman" panose="02020603050405020304" pitchFamily="18" charset="0"/>
            </a:endParaRPr>
          </a:p>
        </p:txBody>
      </p:sp>
      <p:sp>
        <p:nvSpPr>
          <p:cNvPr id="63491" name="Rectangle 2">
            <a:extLst>
              <a:ext uri="{FF2B5EF4-FFF2-40B4-BE49-F238E27FC236}">
                <a16:creationId xmlns:a16="http://schemas.microsoft.com/office/drawing/2014/main" id="{0DC89C65-BDD3-4297-81D9-27D899F1850A}"/>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AB58D1F7-AA28-489E-B545-90F8879D106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1F5D3347-B04B-4C53-B38B-6A6DEF4664F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28D630C5-9A8B-4B8C-86B0-5344FC6616F6}" type="slidenum">
              <a:rPr lang="en-US" altLang="zh-CN" sz="1200" b="0" smtClean="0">
                <a:latin typeface="Times New Roman" panose="02020603050405020304" pitchFamily="18" charset="0"/>
              </a:rPr>
              <a:pPr/>
              <a:t>20</a:t>
            </a:fld>
            <a:endParaRPr lang="en-US" altLang="zh-CN" sz="1200" b="0">
              <a:latin typeface="Times New Roman" panose="02020603050405020304" pitchFamily="18" charset="0"/>
            </a:endParaRPr>
          </a:p>
        </p:txBody>
      </p:sp>
      <p:sp>
        <p:nvSpPr>
          <p:cNvPr id="67587" name="Rectangle 2">
            <a:extLst>
              <a:ext uri="{FF2B5EF4-FFF2-40B4-BE49-F238E27FC236}">
                <a16:creationId xmlns:a16="http://schemas.microsoft.com/office/drawing/2014/main" id="{4DFD6BE5-4AE4-43FE-941B-5D0593A00749}"/>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84361DE1-9609-4046-BE74-5D4A0753527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9ADBB2AB-3662-4B86-8DCE-2799B9CA3FD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fld id="{9C20DBA1-58F3-42AA-AAF2-FBC6020FAED3}" type="slidenum">
              <a:rPr lang="en-US" altLang="zh-CN" sz="1200" b="0" smtClean="0">
                <a:latin typeface="Times New Roman" panose="02020603050405020304" pitchFamily="18" charset="0"/>
              </a:rPr>
              <a:pPr/>
              <a:t>21</a:t>
            </a:fld>
            <a:endParaRPr lang="en-US" altLang="zh-CN" sz="1200" b="0">
              <a:latin typeface="Times New Roman" panose="02020603050405020304" pitchFamily="18" charset="0"/>
            </a:endParaRPr>
          </a:p>
        </p:txBody>
      </p:sp>
      <p:sp>
        <p:nvSpPr>
          <p:cNvPr id="71683" name="Rectangle 2">
            <a:extLst>
              <a:ext uri="{FF2B5EF4-FFF2-40B4-BE49-F238E27FC236}">
                <a16:creationId xmlns:a16="http://schemas.microsoft.com/office/drawing/2014/main" id="{89C04BAD-1AF4-4658-9651-5B3D493D13AF}"/>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3BD22FA7-78D1-4771-A5CE-A046A7596C3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以太网自 </a:t>
            </a:r>
            <a:r>
              <a:rPr lang="en-US" altLang="zh-CN" dirty="0"/>
              <a:t>1973 </a:t>
            </a:r>
            <a:r>
              <a:rPr lang="zh-CN" altLang="en-US" dirty="0"/>
              <a:t>年诞生后的前 </a:t>
            </a:r>
            <a:r>
              <a:rPr lang="en-US" altLang="zh-CN" dirty="0"/>
              <a:t>30 </a:t>
            </a:r>
            <a:r>
              <a:rPr lang="zh-CN" altLang="en-US" dirty="0"/>
              <a:t>年间接连发展出了 </a:t>
            </a:r>
            <a:r>
              <a:rPr lang="en-US" altLang="zh-CN" dirty="0"/>
              <a:t>10M</a:t>
            </a:r>
            <a:r>
              <a:rPr lang="zh-CN" altLang="en-US" dirty="0"/>
              <a:t>、</a:t>
            </a:r>
            <a:r>
              <a:rPr lang="en-US" altLang="zh-CN" dirty="0"/>
              <a:t>100M</a:t>
            </a:r>
            <a:r>
              <a:rPr lang="zh-CN" altLang="en-US" dirty="0"/>
              <a:t>、</a:t>
            </a:r>
            <a:r>
              <a:rPr lang="en-US" altLang="zh-CN" dirty="0"/>
              <a:t>1000M</a:t>
            </a:r>
            <a:r>
              <a:rPr lang="zh-CN" altLang="en-US" dirty="0"/>
              <a:t>、</a:t>
            </a:r>
            <a:r>
              <a:rPr lang="en-US" altLang="zh-CN" dirty="0"/>
              <a:t>10GE</a:t>
            </a:r>
            <a:r>
              <a:rPr lang="zh-CN" altLang="en-US" dirty="0"/>
              <a:t>、</a:t>
            </a:r>
            <a:r>
              <a:rPr lang="en-US" altLang="zh-CN" dirty="0"/>
              <a:t>40GE</a:t>
            </a:r>
            <a:r>
              <a:rPr lang="zh-CN" altLang="en-US" dirty="0"/>
              <a:t>、</a:t>
            </a:r>
            <a:r>
              <a:rPr lang="en-US" altLang="zh-CN" dirty="0"/>
              <a:t>100GE 6 </a:t>
            </a:r>
            <a:r>
              <a:rPr lang="zh-CN" altLang="en-US" dirty="0"/>
              <a:t>种以太网速度标准，近几年为了适应应用的多样化需求，以太网速率打破了以 </a:t>
            </a:r>
            <a:r>
              <a:rPr lang="en-US" altLang="zh-CN" dirty="0"/>
              <a:t>10 </a:t>
            </a:r>
            <a:r>
              <a:rPr lang="zh-CN" altLang="en-US" dirty="0"/>
              <a:t>倍为来提升的惯例，开始出现 </a:t>
            </a:r>
            <a:r>
              <a:rPr lang="en-US" altLang="zh-CN" dirty="0"/>
              <a:t>2.5GE</a:t>
            </a:r>
            <a:r>
              <a:rPr lang="zh-CN" altLang="en-US" dirty="0"/>
              <a:t>、</a:t>
            </a:r>
            <a:r>
              <a:rPr lang="en-US" altLang="zh-CN" dirty="0"/>
              <a:t>5GE</a:t>
            </a:r>
            <a:r>
              <a:rPr lang="zh-CN" altLang="en-US" dirty="0"/>
              <a:t>、</a:t>
            </a:r>
            <a:r>
              <a:rPr lang="en-US" altLang="zh-CN" dirty="0"/>
              <a:t>25GE</a:t>
            </a:r>
            <a:r>
              <a:rPr lang="zh-CN" altLang="en-US" dirty="0"/>
              <a:t>、</a:t>
            </a:r>
            <a:r>
              <a:rPr lang="en-US" altLang="zh-CN" dirty="0"/>
              <a:t>50GE</a:t>
            </a:r>
            <a:r>
              <a:rPr lang="zh-CN" altLang="en-US" dirty="0"/>
              <a:t>、</a:t>
            </a:r>
            <a:r>
              <a:rPr lang="en-US" altLang="zh-CN" dirty="0"/>
              <a:t>200GE</a:t>
            </a:r>
            <a:r>
              <a:rPr lang="zh-CN" altLang="en-US" dirty="0"/>
              <a:t>、</a:t>
            </a:r>
            <a:r>
              <a:rPr lang="en-US" altLang="zh-CN" dirty="0"/>
              <a:t>400GE </a:t>
            </a:r>
            <a:r>
              <a:rPr lang="zh-CN" altLang="en-US" dirty="0"/>
              <a:t>等 </a:t>
            </a:r>
            <a:r>
              <a:rPr lang="en-US" altLang="zh-CN" dirty="0"/>
              <a:t>6 </a:t>
            </a:r>
            <a:r>
              <a:rPr lang="zh-CN" altLang="en-US" dirty="0"/>
              <a:t>种新的以太网速率标准。</a:t>
            </a:r>
          </a:p>
        </p:txBody>
      </p:sp>
      <p:sp>
        <p:nvSpPr>
          <p:cNvPr id="4" name="灯片编号占位符 3"/>
          <p:cNvSpPr>
            <a:spLocks noGrp="1"/>
          </p:cNvSpPr>
          <p:nvPr>
            <p:ph type="sldNum" sz="quarter" idx="5"/>
          </p:nvPr>
        </p:nvSpPr>
        <p:spPr/>
        <p:txBody>
          <a:bodyPr/>
          <a:lstStyle/>
          <a:p>
            <a:pPr>
              <a:defRPr/>
            </a:pPr>
            <a:fld id="{9D815A7D-E9FC-4377-AF99-F14C33895271}" type="slidenum">
              <a:rPr lang="en-US" altLang="zh-CN" smtClean="0"/>
              <a:pPr>
                <a:defRPr/>
              </a:pPr>
              <a:t>26</a:t>
            </a:fld>
            <a:endParaRPr lang="en-US" altLang="zh-CN"/>
          </a:p>
        </p:txBody>
      </p:sp>
    </p:spTree>
    <p:extLst>
      <p:ext uri="{BB962C8B-B14F-4D97-AF65-F5344CB8AC3E}">
        <p14:creationId xmlns:p14="http://schemas.microsoft.com/office/powerpoint/2010/main" val="9527177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3505AAE0-B2C6-4A59-948F-32A514B0ABDC}"/>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C6256761-9476-4F39-9D3F-C13049CD1A17}"/>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013ECE99-F051-4000-9064-EF6266A9623C}"/>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13" name="Rectangle 5">
                <a:extLst>
                  <a:ext uri="{FF2B5EF4-FFF2-40B4-BE49-F238E27FC236}">
                    <a16:creationId xmlns:a16="http://schemas.microsoft.com/office/drawing/2014/main" id="{E2861D9C-382F-4602-BCB2-675D637222DC}"/>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grpSp>
        <p:grpSp>
          <p:nvGrpSpPr>
            <p:cNvPr id="6" name="Group 6">
              <a:extLst>
                <a:ext uri="{FF2B5EF4-FFF2-40B4-BE49-F238E27FC236}">
                  <a16:creationId xmlns:a16="http://schemas.microsoft.com/office/drawing/2014/main" id="{3D23D433-80A4-4C3A-9F53-79EBA6687E04}"/>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1D8DA0B4-F9BA-4053-92A2-DC0C482D4006}"/>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11" name="Rectangle 8">
                <a:extLst>
                  <a:ext uri="{FF2B5EF4-FFF2-40B4-BE49-F238E27FC236}">
                    <a16:creationId xmlns:a16="http://schemas.microsoft.com/office/drawing/2014/main" id="{FDEAD308-5A14-4897-9D92-9AB88B6BB69F}"/>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grpSp>
        <p:sp>
          <p:nvSpPr>
            <p:cNvPr id="7" name="Rectangle 9">
              <a:extLst>
                <a:ext uri="{FF2B5EF4-FFF2-40B4-BE49-F238E27FC236}">
                  <a16:creationId xmlns:a16="http://schemas.microsoft.com/office/drawing/2014/main" id="{84EE98D9-B6F6-4288-98E0-D95CA1CA07CF}"/>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8" name="Rectangle 10">
              <a:extLst>
                <a:ext uri="{FF2B5EF4-FFF2-40B4-BE49-F238E27FC236}">
                  <a16:creationId xmlns:a16="http://schemas.microsoft.com/office/drawing/2014/main" id="{E6537CF3-9046-45A4-A841-4142D6E5B909}"/>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sp>
          <p:nvSpPr>
            <p:cNvPr id="9" name="Rectangle 11">
              <a:extLst>
                <a:ext uri="{FF2B5EF4-FFF2-40B4-BE49-F238E27FC236}">
                  <a16:creationId xmlns:a16="http://schemas.microsoft.com/office/drawing/2014/main" id="{2D4B9127-4D85-4C87-A2F2-B382B4C496AF}"/>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en-US">
                <a:ea typeface="宋体" panose="02010600030101010101" pitchFamily="2" charset="-122"/>
              </a:endParaRPr>
            </a:p>
          </p:txBody>
        </p:sp>
      </p:grpSp>
      <p:sp>
        <p:nvSpPr>
          <p:cNvPr id="14" name="Text Box 17">
            <a:extLst>
              <a:ext uri="{FF2B5EF4-FFF2-40B4-BE49-F238E27FC236}">
                <a16:creationId xmlns:a16="http://schemas.microsoft.com/office/drawing/2014/main" id="{BC442AFF-FA12-4D95-AF6F-30A91D7FF03E}"/>
              </a:ext>
            </a:extLst>
          </p:cNvPr>
          <p:cNvSpPr txBox="1">
            <a:spLocks noChangeArrowheads="1"/>
          </p:cNvSpPr>
          <p:nvPr userDrawn="1"/>
        </p:nvSpPr>
        <p:spPr bwMode="auto">
          <a:xfrm>
            <a:off x="0" y="6553200"/>
            <a:ext cx="2209800" cy="304800"/>
          </a:xfrm>
          <a:prstGeom prst="rect">
            <a:avLst/>
          </a:prstGeom>
          <a:noFill/>
          <a:ln>
            <a:noFill/>
          </a:ln>
          <a:effec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eaLnBrk="1" hangingPunct="1">
              <a:spcBef>
                <a:spcPct val="50000"/>
              </a:spcBef>
              <a:defRPr/>
            </a:pPr>
            <a:r>
              <a:rPr lang="en-US" altLang="en-US" sz="1400" b="0">
                <a:latin typeface="McGrawHill-Italic" pitchFamily="2" charset="0"/>
              </a:rPr>
              <a:t>McGraw-Hill</a:t>
            </a:r>
            <a:endParaRPr lang="en-US" altLang="en-US" sz="2400" b="0">
              <a:latin typeface="Times New Roman" panose="02020603050405020304" pitchFamily="18" charset="0"/>
            </a:endParaRPr>
          </a:p>
        </p:txBody>
      </p:sp>
      <p:sp>
        <p:nvSpPr>
          <p:cNvPr id="15" name="Text Box 18">
            <a:extLst>
              <a:ext uri="{FF2B5EF4-FFF2-40B4-BE49-F238E27FC236}">
                <a16:creationId xmlns:a16="http://schemas.microsoft.com/office/drawing/2014/main" id="{66AD8B0A-4A49-43EC-9B15-FA2C63DD31AC}"/>
              </a:ext>
            </a:extLst>
          </p:cNvPr>
          <p:cNvSpPr txBox="1">
            <a:spLocks noChangeArrowheads="1"/>
          </p:cNvSpPr>
          <p:nvPr userDrawn="1"/>
        </p:nvSpPr>
        <p:spPr bwMode="auto">
          <a:xfrm>
            <a:off x="4572000" y="6553200"/>
            <a:ext cx="4572000" cy="304800"/>
          </a:xfrm>
          <a:prstGeom prst="rect">
            <a:avLst/>
          </a:prstGeom>
          <a:noFill/>
          <a:ln>
            <a:noFill/>
          </a:ln>
          <a:effec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gn="r" eaLnBrk="1" hangingPunct="1">
              <a:spcBef>
                <a:spcPct val="50000"/>
              </a:spcBef>
              <a:buFontTx/>
              <a:buChar char="©"/>
              <a:defRPr/>
            </a:pPr>
            <a:r>
              <a:rPr lang="en-US" altLang="en-US" sz="1400" b="0">
                <a:latin typeface="McGrawHill-Italic" pitchFamily="2" charset="0"/>
              </a:rPr>
              <a:t>The McGraw-Hill Companies, Inc., 2000</a:t>
            </a:r>
            <a:endParaRPr lang="en-US" altLang="en-US" sz="2400" b="0">
              <a:latin typeface="Times New Roman" panose="02020603050405020304" pitchFamily="18" charset="0"/>
            </a:endParaRPr>
          </a:p>
        </p:txBody>
      </p:sp>
      <p:sp>
        <p:nvSpPr>
          <p:cNvPr id="210956" name="Rectangle 12"/>
          <p:cNvSpPr>
            <a:spLocks noGrp="1" noChangeArrowheads="1"/>
          </p:cNvSpPr>
          <p:nvPr>
            <p:ph type="ctrTitle"/>
          </p:nvPr>
        </p:nvSpPr>
        <p:spPr bwMode="auto">
          <a:xfrm>
            <a:off x="990600" y="1676400"/>
            <a:ext cx="77724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altLang="zh-CN"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panose="05000000000000000000" pitchFamily="2" charset="2"/>
              <a:buNone/>
              <a:defRPr/>
            </a:lvl1pPr>
          </a:lstStyle>
          <a:p>
            <a:pPr lvl="0"/>
            <a:r>
              <a:rPr lang="en-US" altLang="zh-CN" noProof="0"/>
              <a:t>Click to edit Master subtitle style</a:t>
            </a:r>
          </a:p>
        </p:txBody>
      </p:sp>
      <p:sp>
        <p:nvSpPr>
          <p:cNvPr id="17" name="Rectangle 14">
            <a:extLst>
              <a:ext uri="{FF2B5EF4-FFF2-40B4-BE49-F238E27FC236}">
                <a16:creationId xmlns:a16="http://schemas.microsoft.com/office/drawing/2014/main" id="{0802F60A-9BC4-4F6C-B2B9-CA650964B04D}"/>
              </a:ext>
            </a:extLst>
          </p:cNvPr>
          <p:cNvSpPr>
            <a:spLocks noGrp="1" noChangeArrowheads="1"/>
          </p:cNvSpPr>
          <p:nvPr>
            <p:ph type="dt" sz="half" idx="10"/>
          </p:nvPr>
        </p:nvSpPr>
        <p:spPr bwMode="auto">
          <a:xfrm>
            <a:off x="990600" y="6248400"/>
            <a:ext cx="1905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a:solidFill>
                  <a:schemeClr val="bg2"/>
                </a:solidFill>
                <a:latin typeface="+mn-lt"/>
                <a:ea typeface="宋体" panose="02010600030101010101" pitchFamily="2" charset="-122"/>
              </a:defRPr>
            </a:lvl1pPr>
          </a:lstStyle>
          <a:p>
            <a:pPr>
              <a:defRPr/>
            </a:pPr>
            <a:endParaRPr lang="en-US" altLang="zh-CN"/>
          </a:p>
        </p:txBody>
      </p:sp>
      <p:sp>
        <p:nvSpPr>
          <p:cNvPr id="18" name="Rectangle 15">
            <a:extLst>
              <a:ext uri="{FF2B5EF4-FFF2-40B4-BE49-F238E27FC236}">
                <a16:creationId xmlns:a16="http://schemas.microsoft.com/office/drawing/2014/main" id="{D7DE36B1-057D-4C57-B023-A7EB88256354}"/>
              </a:ext>
            </a:extLst>
          </p:cNvPr>
          <p:cNvSpPr>
            <a:spLocks noGrp="1" noChangeArrowheads="1"/>
          </p:cNvSpPr>
          <p:nvPr>
            <p:ph type="ftr" sz="quarter" idx="11"/>
          </p:nvPr>
        </p:nvSpPr>
        <p:spPr bwMode="auto">
          <a:xfrm>
            <a:off x="3429000" y="6248400"/>
            <a:ext cx="28956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ea typeface="宋体" panose="02010600030101010101" pitchFamily="2" charset="-122"/>
              </a:defRPr>
            </a:lvl1pPr>
          </a:lstStyle>
          <a:p>
            <a:pPr>
              <a:defRPr/>
            </a:pPr>
            <a:endParaRPr lang="en-US" altLang="zh-CN"/>
          </a:p>
        </p:txBody>
      </p:sp>
      <p:sp>
        <p:nvSpPr>
          <p:cNvPr id="19" name="Rectangle 16">
            <a:extLst>
              <a:ext uri="{FF2B5EF4-FFF2-40B4-BE49-F238E27FC236}">
                <a16:creationId xmlns:a16="http://schemas.microsoft.com/office/drawing/2014/main" id="{F07961AF-AD16-4C7B-AFB1-61FBB9AAA934}"/>
              </a:ext>
            </a:extLst>
          </p:cNvPr>
          <p:cNvSpPr>
            <a:spLocks noGrp="1" noChangeArrowheads="1"/>
          </p:cNvSpPr>
          <p:nvPr>
            <p:ph type="sldNum" sz="quarter" idx="12"/>
          </p:nvPr>
        </p:nvSpPr>
        <p:spPr>
          <a:xfrm>
            <a:off x="6858000" y="6248400"/>
            <a:ext cx="1905000" cy="457200"/>
          </a:xfrm>
        </p:spPr>
        <p:txBody>
          <a:bodyPr/>
          <a:lstStyle>
            <a:lvl1pPr algn="r">
              <a:defRPr sz="1400" b="0">
                <a:latin typeface="Tahoma" panose="020B0604030504040204" pitchFamily="34" charset="0"/>
              </a:defRPr>
            </a:lvl1pPr>
          </a:lstStyle>
          <a:p>
            <a:pPr>
              <a:defRPr/>
            </a:pPr>
            <a:fld id="{5E6A4C02-45AC-48EE-8C23-8BDC54BDB613}" type="slidenum">
              <a:rPr lang="en-US" altLang="zh-CN"/>
              <a:pPr>
                <a:defRPr/>
              </a:pPr>
              <a:t>‹#›</a:t>
            </a:fld>
            <a:endParaRPr lang="en-US" altLang="zh-CN"/>
          </a:p>
        </p:txBody>
      </p:sp>
    </p:spTree>
    <p:extLst>
      <p:ext uri="{BB962C8B-B14F-4D97-AF65-F5344CB8AC3E}">
        <p14:creationId xmlns:p14="http://schemas.microsoft.com/office/powerpoint/2010/main" val="487709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5" name="Rectangle 16">
            <a:extLst>
              <a:ext uri="{FF2B5EF4-FFF2-40B4-BE49-F238E27FC236}">
                <a16:creationId xmlns:a16="http://schemas.microsoft.com/office/drawing/2014/main" id="{D2424670-E61F-48FC-9670-7A1EB5D692CC}"/>
              </a:ext>
            </a:extLst>
          </p:cNvPr>
          <p:cNvSpPr>
            <a:spLocks noGrp="1" noChangeArrowheads="1"/>
          </p:cNvSpPr>
          <p:nvPr>
            <p:ph type="sldNum" sz="quarter" idx="10"/>
          </p:nvPr>
        </p:nvSpPr>
        <p:spPr>
          <a:xfrm>
            <a:off x="8229600" y="6400800"/>
            <a:ext cx="1066800" cy="457200"/>
          </a:xfrm>
        </p:spPr>
        <p:txBody>
          <a:bodyPr/>
          <a:lstStyle>
            <a:lvl1pPr>
              <a:defRPr/>
            </a:lvl1pPr>
          </a:lstStyle>
          <a:p>
            <a:pPr>
              <a:defRPr/>
            </a:pPr>
            <a:r>
              <a:rPr lang="en-US" altLang="zh-CN"/>
              <a:t>13.</a:t>
            </a:r>
            <a:fld id="{50167F0C-C953-4DC0-99BC-7424AE0FD0EE}" type="slidenum">
              <a:rPr lang="en-US" altLang="zh-CN"/>
              <a:pPr>
                <a:defRPr/>
              </a:pPr>
              <a:t>‹#›</a:t>
            </a:fld>
            <a:endParaRPr lang="en-US" altLang="zh-CN"/>
          </a:p>
        </p:txBody>
      </p:sp>
    </p:spTree>
    <p:extLst>
      <p:ext uri="{BB962C8B-B14F-4D97-AF65-F5344CB8AC3E}">
        <p14:creationId xmlns:p14="http://schemas.microsoft.com/office/powerpoint/2010/main" val="1143181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5" name="Rectangle 16">
            <a:extLst>
              <a:ext uri="{FF2B5EF4-FFF2-40B4-BE49-F238E27FC236}">
                <a16:creationId xmlns:a16="http://schemas.microsoft.com/office/drawing/2014/main" id="{D96DB01E-D8A4-478F-849B-A826BB64A1C2}"/>
              </a:ext>
            </a:extLst>
          </p:cNvPr>
          <p:cNvSpPr>
            <a:spLocks noGrp="1" noChangeArrowheads="1"/>
          </p:cNvSpPr>
          <p:nvPr>
            <p:ph type="sldNum" sz="quarter" idx="10"/>
          </p:nvPr>
        </p:nvSpPr>
        <p:spPr/>
        <p:txBody>
          <a:bodyPr/>
          <a:lstStyle>
            <a:lvl1pPr>
              <a:defRPr/>
            </a:lvl1pPr>
          </a:lstStyle>
          <a:p>
            <a:pPr>
              <a:defRPr/>
            </a:pPr>
            <a:r>
              <a:rPr lang="en-US" altLang="zh-CN"/>
              <a:t>13.</a:t>
            </a:r>
            <a:fld id="{AE833703-CB20-4A6D-8963-DFFA26DA6FBE}" type="slidenum">
              <a:rPr lang="en-US" altLang="zh-CN"/>
              <a:pPr>
                <a:defRPr/>
              </a:pPr>
              <a:t>‹#›</a:t>
            </a:fld>
            <a:endParaRPr lang="en-US" altLang="zh-CN"/>
          </a:p>
        </p:txBody>
      </p:sp>
    </p:spTree>
    <p:extLst>
      <p:ext uri="{BB962C8B-B14F-4D97-AF65-F5344CB8AC3E}">
        <p14:creationId xmlns:p14="http://schemas.microsoft.com/office/powerpoint/2010/main" val="899495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6">
            <a:extLst>
              <a:ext uri="{FF2B5EF4-FFF2-40B4-BE49-F238E27FC236}">
                <a16:creationId xmlns:a16="http://schemas.microsoft.com/office/drawing/2014/main" id="{45F879B1-C516-45F1-BC07-BF9A733AA5D0}"/>
              </a:ext>
            </a:extLst>
          </p:cNvPr>
          <p:cNvSpPr>
            <a:spLocks noGrp="1" noChangeArrowheads="1"/>
          </p:cNvSpPr>
          <p:nvPr>
            <p:ph type="sldNum" sz="quarter" idx="10"/>
          </p:nvPr>
        </p:nvSpPr>
        <p:spPr/>
        <p:txBody>
          <a:bodyPr/>
          <a:lstStyle>
            <a:lvl1pPr>
              <a:defRPr/>
            </a:lvl1pPr>
          </a:lstStyle>
          <a:p>
            <a:pPr>
              <a:defRPr/>
            </a:pPr>
            <a:r>
              <a:rPr lang="en-US" altLang="zh-CN"/>
              <a:t>13.</a:t>
            </a:r>
            <a:fld id="{47296285-6BB8-4F45-962F-95FE08018ECB}" type="slidenum">
              <a:rPr lang="en-US" altLang="zh-CN"/>
              <a:pPr>
                <a:defRPr/>
              </a:pPr>
              <a:t>‹#›</a:t>
            </a:fld>
            <a:endParaRPr lang="en-US" altLang="zh-CN"/>
          </a:p>
        </p:txBody>
      </p:sp>
    </p:spTree>
    <p:extLst>
      <p:ext uri="{BB962C8B-B14F-4D97-AF65-F5344CB8AC3E}">
        <p14:creationId xmlns:p14="http://schemas.microsoft.com/office/powerpoint/2010/main" val="114310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Rectangle 16">
            <a:extLst>
              <a:ext uri="{FF2B5EF4-FFF2-40B4-BE49-F238E27FC236}">
                <a16:creationId xmlns:a16="http://schemas.microsoft.com/office/drawing/2014/main" id="{9E877BC3-9322-4CAD-A3E9-0E56AE9485E9}"/>
              </a:ext>
            </a:extLst>
          </p:cNvPr>
          <p:cNvSpPr>
            <a:spLocks noGrp="1" noChangeArrowheads="1"/>
          </p:cNvSpPr>
          <p:nvPr>
            <p:ph type="sldNum" sz="quarter" idx="10"/>
          </p:nvPr>
        </p:nvSpPr>
        <p:spPr/>
        <p:txBody>
          <a:bodyPr/>
          <a:lstStyle>
            <a:lvl1pPr>
              <a:defRPr/>
            </a:lvl1pPr>
          </a:lstStyle>
          <a:p>
            <a:pPr>
              <a:defRPr/>
            </a:pPr>
            <a:r>
              <a:rPr lang="en-US" altLang="zh-CN"/>
              <a:t>13.</a:t>
            </a:r>
            <a:fld id="{023B1B60-194A-40EA-BB55-21915D59C622}" type="slidenum">
              <a:rPr lang="en-US" altLang="zh-CN"/>
              <a:pPr>
                <a:defRPr/>
              </a:pPr>
              <a:t>‹#›</a:t>
            </a:fld>
            <a:endParaRPr lang="en-US" altLang="zh-CN"/>
          </a:p>
        </p:txBody>
      </p:sp>
    </p:spTree>
    <p:extLst>
      <p:ext uri="{BB962C8B-B14F-4D97-AF65-F5344CB8AC3E}">
        <p14:creationId xmlns:p14="http://schemas.microsoft.com/office/powerpoint/2010/main" val="3180462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4" name="Rectangle 16">
            <a:extLst>
              <a:ext uri="{FF2B5EF4-FFF2-40B4-BE49-F238E27FC236}">
                <a16:creationId xmlns:a16="http://schemas.microsoft.com/office/drawing/2014/main" id="{D39273BF-7855-44EE-83E2-4C1A36D0E3AD}"/>
              </a:ext>
            </a:extLst>
          </p:cNvPr>
          <p:cNvSpPr>
            <a:spLocks noGrp="1" noChangeArrowheads="1"/>
          </p:cNvSpPr>
          <p:nvPr>
            <p:ph type="sldNum" sz="quarter" idx="10"/>
          </p:nvPr>
        </p:nvSpPr>
        <p:spPr/>
        <p:txBody>
          <a:bodyPr/>
          <a:lstStyle>
            <a:lvl1pPr>
              <a:defRPr/>
            </a:lvl1pPr>
          </a:lstStyle>
          <a:p>
            <a:pPr>
              <a:defRPr/>
            </a:pPr>
            <a:r>
              <a:rPr lang="en-US" altLang="zh-CN"/>
              <a:t>13.</a:t>
            </a:r>
            <a:fld id="{DFBE6E70-AB70-475E-962E-30A537D12970}" type="slidenum">
              <a:rPr lang="en-US" altLang="zh-CN"/>
              <a:pPr>
                <a:defRPr/>
              </a:pPr>
              <a:t>‹#›</a:t>
            </a:fld>
            <a:endParaRPr lang="en-US" altLang="zh-CN"/>
          </a:p>
        </p:txBody>
      </p:sp>
    </p:spTree>
    <p:extLst>
      <p:ext uri="{BB962C8B-B14F-4D97-AF65-F5344CB8AC3E}">
        <p14:creationId xmlns:p14="http://schemas.microsoft.com/office/powerpoint/2010/main" val="604487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Rectangle 16">
            <a:extLst>
              <a:ext uri="{FF2B5EF4-FFF2-40B4-BE49-F238E27FC236}">
                <a16:creationId xmlns:a16="http://schemas.microsoft.com/office/drawing/2014/main" id="{5AED9ACF-BBEB-4AA6-A30A-6E1BA5FA9617}"/>
              </a:ext>
            </a:extLst>
          </p:cNvPr>
          <p:cNvSpPr>
            <a:spLocks noGrp="1" noChangeArrowheads="1"/>
          </p:cNvSpPr>
          <p:nvPr>
            <p:ph type="sldNum" sz="quarter" idx="10"/>
          </p:nvPr>
        </p:nvSpPr>
        <p:spPr>
          <a:xfrm>
            <a:off x="8305800" y="6400800"/>
            <a:ext cx="990600" cy="457200"/>
          </a:xfrm>
        </p:spPr>
        <p:txBody>
          <a:bodyPr/>
          <a:lstStyle>
            <a:lvl1pPr>
              <a:defRPr/>
            </a:lvl1pPr>
          </a:lstStyle>
          <a:p>
            <a:pPr>
              <a:defRPr/>
            </a:pPr>
            <a:r>
              <a:rPr lang="en-US" altLang="zh-CN"/>
              <a:t>13.</a:t>
            </a:r>
            <a:fld id="{C1ED6404-B199-407A-A05F-4C4BEC42ADDC}" type="slidenum">
              <a:rPr lang="en-US" altLang="zh-CN"/>
              <a:pPr>
                <a:defRPr/>
              </a:pPr>
              <a:t>‹#›</a:t>
            </a:fld>
            <a:endParaRPr lang="en-US" altLang="zh-CN"/>
          </a:p>
        </p:txBody>
      </p:sp>
    </p:spTree>
    <p:extLst>
      <p:ext uri="{BB962C8B-B14F-4D97-AF65-F5344CB8AC3E}">
        <p14:creationId xmlns:p14="http://schemas.microsoft.com/office/powerpoint/2010/main" val="2161086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6" name="Rectangle 16">
            <a:extLst>
              <a:ext uri="{FF2B5EF4-FFF2-40B4-BE49-F238E27FC236}">
                <a16:creationId xmlns:a16="http://schemas.microsoft.com/office/drawing/2014/main" id="{4694D7FE-896E-455B-847B-B9BD72ECFB37}"/>
              </a:ext>
            </a:extLst>
          </p:cNvPr>
          <p:cNvSpPr>
            <a:spLocks noGrp="1" noChangeArrowheads="1"/>
          </p:cNvSpPr>
          <p:nvPr>
            <p:ph type="sldNum" sz="quarter" idx="10"/>
          </p:nvPr>
        </p:nvSpPr>
        <p:spPr/>
        <p:txBody>
          <a:bodyPr/>
          <a:lstStyle>
            <a:lvl1pPr>
              <a:defRPr/>
            </a:lvl1pPr>
          </a:lstStyle>
          <a:p>
            <a:pPr>
              <a:defRPr/>
            </a:pPr>
            <a:r>
              <a:rPr lang="en-US" altLang="zh-CN"/>
              <a:t>13.</a:t>
            </a:r>
            <a:fld id="{AFC269DB-329F-4DA0-81B4-F38F507008CE}" type="slidenum">
              <a:rPr lang="en-US" altLang="zh-CN"/>
              <a:pPr>
                <a:defRPr/>
              </a:pPr>
              <a:t>‹#›</a:t>
            </a:fld>
            <a:endParaRPr lang="en-US" altLang="zh-CN"/>
          </a:p>
        </p:txBody>
      </p:sp>
    </p:spTree>
    <p:extLst>
      <p:ext uri="{BB962C8B-B14F-4D97-AF65-F5344CB8AC3E}">
        <p14:creationId xmlns:p14="http://schemas.microsoft.com/office/powerpoint/2010/main" val="3914672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6" name="Rectangle 16">
            <a:extLst>
              <a:ext uri="{FF2B5EF4-FFF2-40B4-BE49-F238E27FC236}">
                <a16:creationId xmlns:a16="http://schemas.microsoft.com/office/drawing/2014/main" id="{EDD0D9D7-81BD-4345-8F2B-5B1ACE66C840}"/>
              </a:ext>
            </a:extLst>
          </p:cNvPr>
          <p:cNvSpPr>
            <a:spLocks noGrp="1" noChangeArrowheads="1"/>
          </p:cNvSpPr>
          <p:nvPr>
            <p:ph type="sldNum" sz="quarter" idx="10"/>
          </p:nvPr>
        </p:nvSpPr>
        <p:spPr/>
        <p:txBody>
          <a:bodyPr/>
          <a:lstStyle>
            <a:lvl1pPr>
              <a:defRPr/>
            </a:lvl1pPr>
          </a:lstStyle>
          <a:p>
            <a:pPr>
              <a:defRPr/>
            </a:pPr>
            <a:r>
              <a:rPr lang="en-US" altLang="zh-CN"/>
              <a:t>13.</a:t>
            </a:r>
            <a:fld id="{F8714DB3-C878-4D6F-A432-97A999920466}" type="slidenum">
              <a:rPr lang="en-US" altLang="zh-CN"/>
              <a:pPr>
                <a:defRPr/>
              </a:pPr>
              <a:t>‹#›</a:t>
            </a:fld>
            <a:endParaRPr lang="en-US" altLang="zh-CN"/>
          </a:p>
        </p:txBody>
      </p:sp>
    </p:spTree>
    <p:extLst>
      <p:ext uri="{BB962C8B-B14F-4D97-AF65-F5344CB8AC3E}">
        <p14:creationId xmlns:p14="http://schemas.microsoft.com/office/powerpoint/2010/main" val="1851248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6">
            <a:extLst>
              <a:ext uri="{FF2B5EF4-FFF2-40B4-BE49-F238E27FC236}">
                <a16:creationId xmlns:a16="http://schemas.microsoft.com/office/drawing/2014/main" id="{D5837E9C-E7EF-4835-BD15-D03368295F4C}"/>
              </a:ext>
            </a:extLst>
          </p:cNvPr>
          <p:cNvSpPr>
            <a:spLocks noGrp="1" noChangeArrowheads="1"/>
          </p:cNvSpPr>
          <p:nvPr>
            <p:ph type="sldNum" sz="quarter" idx="10"/>
          </p:nvPr>
        </p:nvSpPr>
        <p:spPr/>
        <p:txBody>
          <a:bodyPr/>
          <a:lstStyle>
            <a:lvl1pPr>
              <a:defRPr/>
            </a:lvl1pPr>
          </a:lstStyle>
          <a:p>
            <a:pPr>
              <a:defRPr/>
            </a:pPr>
            <a:r>
              <a:rPr lang="en-US" altLang="zh-CN"/>
              <a:t>13.</a:t>
            </a:r>
            <a:fld id="{820EB4E7-58D4-4794-961A-40DCEBE18E57}" type="slidenum">
              <a:rPr lang="en-US" altLang="zh-CN"/>
              <a:pPr>
                <a:defRPr/>
              </a:pPr>
              <a:t>‹#›</a:t>
            </a:fld>
            <a:endParaRPr lang="en-US" altLang="zh-CN"/>
          </a:p>
        </p:txBody>
      </p:sp>
    </p:spTree>
    <p:extLst>
      <p:ext uri="{BB962C8B-B14F-4D97-AF65-F5344CB8AC3E}">
        <p14:creationId xmlns:p14="http://schemas.microsoft.com/office/powerpoint/2010/main" val="142922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6">
            <a:extLst>
              <a:ext uri="{FF2B5EF4-FFF2-40B4-BE49-F238E27FC236}">
                <a16:creationId xmlns:a16="http://schemas.microsoft.com/office/drawing/2014/main" id="{2C1292FA-8F08-40D8-8A15-272FD0599EE0}"/>
              </a:ext>
            </a:extLst>
          </p:cNvPr>
          <p:cNvSpPr>
            <a:spLocks noGrp="1" noChangeArrowheads="1"/>
          </p:cNvSpPr>
          <p:nvPr>
            <p:ph type="sldNum" sz="quarter" idx="10"/>
          </p:nvPr>
        </p:nvSpPr>
        <p:spPr/>
        <p:txBody>
          <a:bodyPr/>
          <a:lstStyle>
            <a:lvl1pPr>
              <a:defRPr/>
            </a:lvl1pPr>
          </a:lstStyle>
          <a:p>
            <a:pPr>
              <a:defRPr/>
            </a:pPr>
            <a:r>
              <a:rPr lang="en-US" altLang="zh-CN"/>
              <a:t>13.</a:t>
            </a:r>
            <a:fld id="{E0CEB8F4-4A2E-45BB-A206-0D3E2EEEC8E1}" type="slidenum">
              <a:rPr lang="en-US" altLang="zh-CN"/>
              <a:pPr>
                <a:defRPr/>
              </a:pPr>
              <a:t>‹#›</a:t>
            </a:fld>
            <a:endParaRPr lang="en-US" altLang="zh-CN"/>
          </a:p>
        </p:txBody>
      </p:sp>
    </p:spTree>
    <p:extLst>
      <p:ext uri="{BB962C8B-B14F-4D97-AF65-F5344CB8AC3E}">
        <p14:creationId xmlns:p14="http://schemas.microsoft.com/office/powerpoint/2010/main" val="2669247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a:extLst>
              <a:ext uri="{FF2B5EF4-FFF2-40B4-BE49-F238E27FC236}">
                <a16:creationId xmlns:a16="http://schemas.microsoft.com/office/drawing/2014/main" id="{694BA734-D646-4D67-9301-FE7964DEC7DC}"/>
              </a:ext>
            </a:extLst>
          </p:cNvPr>
          <p:cNvSpPr>
            <a:spLocks noGrp="1" noChangeArrowheads="1"/>
          </p:cNvSpPr>
          <p:nvPr>
            <p:ph type="sldNum" sz="quarter" idx="10"/>
          </p:nvPr>
        </p:nvSpPr>
        <p:spPr/>
        <p:txBody>
          <a:bodyPr/>
          <a:lstStyle>
            <a:lvl1pPr>
              <a:defRPr/>
            </a:lvl1pPr>
          </a:lstStyle>
          <a:p>
            <a:pPr>
              <a:defRPr/>
            </a:pPr>
            <a:r>
              <a:rPr lang="en-US" altLang="zh-CN"/>
              <a:t>13.</a:t>
            </a:r>
            <a:fld id="{80DD2C3A-6A9E-4E9A-96B0-E39A7CBB7D67}" type="slidenum">
              <a:rPr lang="en-US" altLang="zh-CN"/>
              <a:pPr>
                <a:defRPr/>
              </a:pPr>
              <a:t>‹#›</a:t>
            </a:fld>
            <a:endParaRPr lang="en-US" altLang="zh-CN"/>
          </a:p>
        </p:txBody>
      </p:sp>
    </p:spTree>
    <p:extLst>
      <p:ext uri="{BB962C8B-B14F-4D97-AF65-F5344CB8AC3E}">
        <p14:creationId xmlns:p14="http://schemas.microsoft.com/office/powerpoint/2010/main" val="412061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76D4CE25-8C3C-429F-9B1A-11C39E892421}"/>
              </a:ext>
            </a:extLst>
          </p:cNvPr>
          <p:cNvSpPr>
            <a:spLocks noGrp="1" noChangeArrowheads="1"/>
          </p:cNvSpPr>
          <p:nvPr>
            <p:ph type="sldNum" sz="quarter" idx="4"/>
          </p:nvPr>
        </p:nvSpPr>
        <p:spPr bwMode="auto">
          <a:xfrm>
            <a:off x="8229600" y="6400800"/>
            <a:ext cx="990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2000">
                <a:solidFill>
                  <a:schemeClr val="bg2"/>
                </a:solidFill>
                <a:ea typeface="宋体" panose="02010600030101010101" pitchFamily="2" charset="-122"/>
              </a:defRPr>
            </a:lvl1pPr>
          </a:lstStyle>
          <a:p>
            <a:pPr>
              <a:defRPr/>
            </a:pPr>
            <a:r>
              <a:rPr lang="en-US" altLang="zh-CN"/>
              <a:t>13.</a:t>
            </a:r>
            <a:fld id="{66D9DD8F-D094-418F-93B3-4E5773296CF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060"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 id="2147484071" r:id="rId12"/>
  </p:sldLayoutIdLst>
  <p:hf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defRPr>
      </a:lvl2pPr>
      <a:lvl3pPr algn="l" rtl="0" eaLnBrk="0" fontAlgn="base" hangingPunct="0">
        <a:spcBef>
          <a:spcPct val="0"/>
        </a:spcBef>
        <a:spcAft>
          <a:spcPct val="0"/>
        </a:spcAft>
        <a:defRPr sz="4400">
          <a:solidFill>
            <a:schemeClr val="tx2"/>
          </a:solidFill>
          <a:latin typeface="Tahoma" panose="020B0604030504040204" pitchFamily="34" charset="0"/>
        </a:defRPr>
      </a:lvl3pPr>
      <a:lvl4pPr algn="l" rtl="0" eaLnBrk="0" fontAlgn="base" hangingPunct="0">
        <a:spcBef>
          <a:spcPct val="0"/>
        </a:spcBef>
        <a:spcAft>
          <a:spcPct val="0"/>
        </a:spcAft>
        <a:defRPr sz="4400">
          <a:solidFill>
            <a:schemeClr val="tx2"/>
          </a:solidFill>
          <a:latin typeface="Tahoma" panose="020B0604030504040204" pitchFamily="34" charset="0"/>
        </a:defRPr>
      </a:lvl4pPr>
      <a:lvl5pPr algn="l" rtl="0" eaLnBrk="0" fontAlgn="base" hangingPunct="0">
        <a:spcBef>
          <a:spcPct val="0"/>
        </a:spcBef>
        <a:spcAft>
          <a:spcPct val="0"/>
        </a:spcAft>
        <a:defRPr sz="4400">
          <a:solidFill>
            <a:schemeClr val="tx2"/>
          </a:solidFill>
          <a:latin typeface="Tahoma" panose="020B0604030504040204" pitchFamily="34" charset="0"/>
        </a:defRPr>
      </a:lvl5pPr>
      <a:lvl6pPr marL="457200" algn="l" rtl="0" fontAlgn="base">
        <a:spcBef>
          <a:spcPct val="0"/>
        </a:spcBef>
        <a:spcAft>
          <a:spcPct val="0"/>
        </a:spcAft>
        <a:defRPr sz="4400">
          <a:solidFill>
            <a:schemeClr val="tx2"/>
          </a:solidFill>
          <a:latin typeface="Tahoma" panose="020B0604030504040204" pitchFamily="34" charset="0"/>
        </a:defRPr>
      </a:lvl6pPr>
      <a:lvl7pPr marL="914400" algn="l" rtl="0" fontAlgn="base">
        <a:spcBef>
          <a:spcPct val="0"/>
        </a:spcBef>
        <a:spcAft>
          <a:spcPct val="0"/>
        </a:spcAft>
        <a:defRPr sz="4400">
          <a:solidFill>
            <a:schemeClr val="tx2"/>
          </a:solidFill>
          <a:latin typeface="Tahoma" panose="020B0604030504040204" pitchFamily="34" charset="0"/>
        </a:defRPr>
      </a:lvl7pPr>
      <a:lvl8pPr marL="1371600" algn="l" rtl="0" fontAlgn="base">
        <a:spcBef>
          <a:spcPct val="0"/>
        </a:spcBef>
        <a:spcAft>
          <a:spcPct val="0"/>
        </a:spcAft>
        <a:defRPr sz="4400">
          <a:solidFill>
            <a:schemeClr val="tx2"/>
          </a:solidFill>
          <a:latin typeface="Tahoma" panose="020B0604030504040204" pitchFamily="34" charset="0"/>
        </a:defRPr>
      </a:lvl8pPr>
      <a:lvl9pPr marL="1828800" algn="l" rtl="0" fontAlgn="base">
        <a:spcBef>
          <a:spcPct val="0"/>
        </a:spcBef>
        <a:spcAft>
          <a:spcPct val="0"/>
        </a:spcAft>
        <a:defRPr sz="4400">
          <a:solidFill>
            <a:schemeClr val="tx2"/>
          </a:solidFill>
          <a:latin typeface="Tahoma" panose="020B0604030504040204"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6.e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5" Type="http://schemas.openxmlformats.org/officeDocument/2006/relationships/image" Target="../media/image12.jpe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5.wmf"/></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5364" name="Rectangle 3">
            <a:extLst>
              <a:ext uri="{FF2B5EF4-FFF2-40B4-BE49-F238E27FC236}">
                <a16:creationId xmlns:a16="http://schemas.microsoft.com/office/drawing/2014/main" id="{134ECA59-1E94-46D5-820B-3A239B5C23EB}"/>
              </a:ext>
            </a:extLst>
          </p:cNvPr>
          <p:cNvSpPr>
            <a:spLocks noChangeArrowheads="1"/>
          </p:cNvSpPr>
          <p:nvPr/>
        </p:nvSpPr>
        <p:spPr bwMode="auto">
          <a:xfrm>
            <a:off x="1143000" y="2438400"/>
            <a:ext cx="68580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342900" indent="-342900" algn="ctr" eaLnBrk="1" hangingPunct="1">
              <a:spcBef>
                <a:spcPct val="20000"/>
              </a:spcBef>
              <a:buClr>
                <a:schemeClr val="folHlink"/>
              </a:buClr>
              <a:buSzPct val="60000"/>
            </a:pPr>
            <a:r>
              <a:rPr lang="zh-CN" altLang="en-US" sz="4800" dirty="0">
                <a:latin typeface="宋体" panose="02010600030101010101" pitchFamily="2" charset="-122"/>
                <a:ea typeface="宋体" panose="02010600030101010101" pitchFamily="2" charset="-122"/>
              </a:rPr>
              <a:t>第十三章</a:t>
            </a:r>
            <a:endParaRPr lang="en-US" altLang="en-US" sz="4800" dirty="0">
              <a:latin typeface="宋体" panose="02010600030101010101" pitchFamily="2" charset="-122"/>
              <a:ea typeface="宋体" panose="02010600030101010101" pitchFamily="2" charset="-122"/>
            </a:endParaRPr>
          </a:p>
          <a:p>
            <a:pPr algn="ctr"/>
            <a:endParaRPr lang="en-US" altLang="en-US" sz="2000" dirty="0">
              <a:solidFill>
                <a:schemeClr val="tx2"/>
              </a:solidFill>
            </a:endParaRPr>
          </a:p>
          <a:p>
            <a:pPr algn="ctr"/>
            <a:r>
              <a:rPr lang="zh-CN" altLang="en-US" sz="4400" dirty="0">
                <a:ea typeface="宋体" panose="02010600030101010101" pitchFamily="2" charset="-122"/>
              </a:rPr>
              <a:t>有线局域网：以太网</a:t>
            </a:r>
            <a:endParaRPr lang="en-US" altLang="zh-CN" sz="4400" dirty="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3A4089A1-839E-464D-834A-EDEDF73F6909}"/>
              </a:ext>
            </a:extLst>
          </p:cNvPr>
          <p:cNvSpPr>
            <a:spLocks noChangeArrowheads="1"/>
          </p:cNvSpPr>
          <p:nvPr/>
        </p:nvSpPr>
        <p:spPr bwMode="auto">
          <a:xfrm>
            <a:off x="0" y="0"/>
            <a:ext cx="9144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565251" name="Text Box 3">
            <a:extLst>
              <a:ext uri="{FF2B5EF4-FFF2-40B4-BE49-F238E27FC236}">
                <a16:creationId xmlns:a16="http://schemas.microsoft.com/office/drawing/2014/main" id="{D02AF75B-4078-4C9B-B7CC-6F9D9413EB78}"/>
              </a:ext>
            </a:extLst>
          </p:cNvPr>
          <p:cNvSpPr txBox="1">
            <a:spLocks noChangeArrowheads="1"/>
          </p:cNvSpPr>
          <p:nvPr/>
        </p:nvSpPr>
        <p:spPr bwMode="auto">
          <a:xfrm>
            <a:off x="228600" y="329624"/>
            <a:ext cx="5114926" cy="584775"/>
          </a:xfrm>
          <a:prstGeom prst="rect">
            <a:avLst/>
          </a:prstGeom>
          <a:noFill/>
          <a:ln>
            <a:noFill/>
          </a:ln>
          <a:effectLst/>
        </p:spPr>
        <p:txBody>
          <a:bodyPr wrap="none">
            <a:spAutoFit/>
          </a:bodyPr>
          <a:lstStyle/>
          <a:p>
            <a:pPr>
              <a:defRPr/>
            </a:pPr>
            <a:r>
              <a:rPr lang="en-US" altLang="zh-CN" dirty="0">
                <a:latin typeface="微软雅黑" panose="020B0503020204020204" pitchFamily="34" charset="-122"/>
                <a:ea typeface="微软雅黑" panose="020B0503020204020204" pitchFamily="34" charset="-122"/>
              </a:rPr>
              <a:t>13.1  </a:t>
            </a:r>
            <a:r>
              <a:rPr lang="zh-CN" altLang="en-US" dirty="0">
                <a:latin typeface="微软雅黑" panose="020B0503020204020204" pitchFamily="34" charset="-122"/>
                <a:ea typeface="微软雅黑" panose="020B0503020204020204" pitchFamily="34" charset="-122"/>
              </a:rPr>
              <a:t>以太网（</a:t>
            </a:r>
            <a:r>
              <a:rPr lang="en-US" altLang="zh-CN" dirty="0">
                <a:latin typeface="微软雅黑" panose="020B0503020204020204" pitchFamily="34" charset="-122"/>
                <a:ea typeface="微软雅黑" panose="020B0503020204020204" pitchFamily="34" charset="-122"/>
                <a:cs typeface="楷体_GB2312" panose="02010609030101010101" pitchFamily="49" charset="-122"/>
              </a:rPr>
              <a:t>Ethernet</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
        <p:nvSpPr>
          <p:cNvPr id="29701" name="Text Box 4">
            <a:extLst>
              <a:ext uri="{FF2B5EF4-FFF2-40B4-BE49-F238E27FC236}">
                <a16:creationId xmlns:a16="http://schemas.microsoft.com/office/drawing/2014/main" id="{0A016508-4F0D-4A8A-BF72-8829B40B47D8}"/>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29702" name="Rectangle 5">
            <a:extLst>
              <a:ext uri="{FF2B5EF4-FFF2-40B4-BE49-F238E27FC236}">
                <a16:creationId xmlns:a16="http://schemas.microsoft.com/office/drawing/2014/main" id="{258B1E40-1943-487A-BC6C-DA4B4318C63F}"/>
              </a:ext>
            </a:extLst>
          </p:cNvPr>
          <p:cNvSpPr>
            <a:spLocks noChangeArrowheads="1"/>
          </p:cNvSpPr>
          <p:nvPr/>
        </p:nvSpPr>
        <p:spPr bwMode="auto">
          <a:xfrm>
            <a:off x="1219200" y="1661123"/>
            <a:ext cx="6861717" cy="4194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gn="just" eaLnBrk="1" hangingPunct="1">
              <a:lnSpc>
                <a:spcPct val="200000"/>
              </a:lnSpc>
              <a:buClr>
                <a:srgbClr val="3366FF"/>
              </a:buClr>
              <a:buSzPct val="80000"/>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以太网是一种传输速率为</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10Mbps</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的常用局域网（</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LAN</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）标准。所有计算机被连接在一条同轴电缆上，使用具有冲突检测的载波监听多点访问技术（</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CSMA/CD</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）的竞争机制和总线拓朴结构。</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eaLnBrk="1" hangingPunct="1">
              <a:lnSpc>
                <a:spcPct val="200000"/>
              </a:lnSpc>
              <a:buClr>
                <a:srgbClr val="3366FF"/>
              </a:buClr>
              <a:buSzPct val="80000"/>
            </a:pPr>
            <a:endParaRPr lang="en-US" altLang="zh-CN" sz="1000" b="0" dirty="0">
              <a:latin typeface="微软雅黑" panose="020B0503020204020204" pitchFamily="34" charset="-122"/>
              <a:ea typeface="微软雅黑" panose="020B0503020204020204" pitchFamily="34" charset="-122"/>
              <a:cs typeface="Times New Roman" panose="02020603050405020304" pitchFamily="18" charset="0"/>
            </a:endParaRPr>
          </a:p>
          <a:p>
            <a:pPr marL="0" indent="0" algn="just" eaLnBrk="1" hangingPunct="1">
              <a:lnSpc>
                <a:spcPct val="200000"/>
              </a:lnSpc>
              <a:buClr>
                <a:srgbClr val="3366FF"/>
              </a:buClr>
              <a:buSzPct val="80000"/>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自</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70</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年代中期发明以太网以来，它经历了不断的演化和发展，是第一个广泛部署的高速局域网。</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20</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世纪</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90</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年代初期交换以太网的出现，进一步提高了以太网的数据速率，使以太网成为最流行的有线局域网技术。</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灯片编号占位符 1">
            <a:extLst>
              <a:ext uri="{FF2B5EF4-FFF2-40B4-BE49-F238E27FC236}">
                <a16:creationId xmlns:a16="http://schemas.microsoft.com/office/drawing/2014/main" id="{D0D414F4-C903-4983-B603-D556FADFF0A3}"/>
              </a:ext>
            </a:extLst>
          </p:cNvPr>
          <p:cNvSpPr>
            <a:spLocks noGrp="1"/>
          </p:cNvSpPr>
          <p:nvPr>
            <p:ph type="sldNum" sz="quarter" idx="10"/>
          </p:nvPr>
        </p:nvSpPr>
        <p:spPr>
          <a:xfrm>
            <a:off x="8382000" y="64008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075B3803-654E-45B4-8CF5-0A18479700C3}" type="slidenum">
              <a:rPr lang="en-US" altLang="zh-CN" sz="2000" smtClean="0">
                <a:solidFill>
                  <a:schemeClr val="bg2"/>
                </a:solidFill>
              </a:rPr>
              <a:pPr/>
              <a:t>2</a:t>
            </a:fld>
            <a:endParaRPr lang="en-US" altLang="zh-CN" sz="2000">
              <a:solidFill>
                <a:schemeClr val="bg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AB71A6D-E2EE-492F-B464-F87AA532158B}"/>
              </a:ext>
            </a:extLst>
          </p:cNvPr>
          <p:cNvSpPr>
            <a:spLocks noGrp="1" noRot="1" noChangeArrowheads="1"/>
          </p:cNvSpPr>
          <p:nvPr>
            <p:ph type="title" idx="4294967295"/>
          </p:nvPr>
        </p:nvSpPr>
        <p:spPr bwMode="auto">
          <a:xfrm>
            <a:off x="2895600" y="94527"/>
            <a:ext cx="5181600" cy="533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dirty="0">
                <a:solidFill>
                  <a:schemeClr val="bg1"/>
                </a:solidFill>
                <a:latin typeface="微软雅黑" panose="020B0503020204020204" pitchFamily="34" charset="-122"/>
                <a:ea typeface="微软雅黑" panose="020B0503020204020204" pitchFamily="34" charset="-122"/>
                <a:cs typeface="+mn-cs"/>
              </a:rPr>
              <a:t>以太网的发展历程</a:t>
            </a:r>
          </a:p>
        </p:txBody>
      </p:sp>
      <p:sp>
        <p:nvSpPr>
          <p:cNvPr id="84995" name="Rectangle 3">
            <a:extLst>
              <a:ext uri="{FF2B5EF4-FFF2-40B4-BE49-F238E27FC236}">
                <a16:creationId xmlns:a16="http://schemas.microsoft.com/office/drawing/2014/main" id="{1D58516E-E879-466F-8AC6-43917FAAFB06}"/>
              </a:ext>
            </a:extLst>
          </p:cNvPr>
          <p:cNvSpPr>
            <a:spLocks noGrp="1" noRot="1" noChangeArrowheads="1"/>
          </p:cNvSpPr>
          <p:nvPr>
            <p:ph type="body" idx="4294967295"/>
          </p:nvPr>
        </p:nvSpPr>
        <p:spPr bwMode="auto">
          <a:xfrm>
            <a:off x="914400" y="1447800"/>
            <a:ext cx="7543800" cy="4724400"/>
          </a:xfrm>
          <a:prstGeom prst="rect">
            <a:avLst/>
          </a:prstGeom>
        </p:spPr>
        <p:txBody>
          <a:bodyPr vert="horz" wrap="square" lIns="91440" tIns="45720" rIns="91440" bIns="45720" numCol="1" anchor="t" anchorCtr="0" compatLnSpc="1">
            <a:prstTxWarp prst="textNoShape">
              <a:avLst/>
            </a:prstTxWarp>
          </a:bodyPr>
          <a:lstStyle/>
          <a:p>
            <a:pPr algn="just">
              <a:lnSpc>
                <a:spcPct val="200000"/>
              </a:lnSpc>
              <a:buClr>
                <a:srgbClr val="FF0000"/>
              </a:buClr>
              <a:buSzPct val="80000"/>
              <a:buFont typeface="Wingdings" panose="05000000000000000000" pitchFamily="2" charset="2"/>
              <a:buChar char="u"/>
              <a:defRPr/>
            </a:pPr>
            <a:r>
              <a:rPr lang="en-US" altLang="zh-CN" sz="1800" dirty="0">
                <a:latin typeface="微软雅黑" panose="020B0503020204020204" pitchFamily="34" charset="-122"/>
                <a:ea typeface="微软雅黑" panose="020B0503020204020204" pitchFamily="34" charset="-122"/>
                <a:cs typeface="楷体_GB2312"/>
              </a:rPr>
              <a:t>20</a:t>
            </a:r>
            <a:r>
              <a:rPr lang="zh-CN" altLang="en-US" sz="1800" dirty="0">
                <a:latin typeface="微软雅黑" panose="020B0503020204020204" pitchFamily="34" charset="-122"/>
                <a:ea typeface="微软雅黑" panose="020B0503020204020204" pitchFamily="34" charset="-122"/>
                <a:cs typeface="楷体_GB2312"/>
              </a:rPr>
              <a:t>世纪</a:t>
            </a:r>
            <a:r>
              <a:rPr lang="en-US" altLang="zh-CN" sz="1800" dirty="0">
                <a:latin typeface="微软雅黑" panose="020B0503020204020204" pitchFamily="34" charset="-122"/>
                <a:ea typeface="微软雅黑" panose="020B0503020204020204" pitchFamily="34" charset="-122"/>
                <a:cs typeface="楷体_GB2312"/>
              </a:rPr>
              <a:t>70</a:t>
            </a:r>
            <a:r>
              <a:rPr lang="zh-CN" altLang="en-US" sz="1800" dirty="0">
                <a:latin typeface="微软雅黑" panose="020B0503020204020204" pitchFamily="34" charset="-122"/>
                <a:ea typeface="微软雅黑" panose="020B0503020204020204" pitchFamily="34" charset="-122"/>
                <a:cs typeface="楷体_GB2312"/>
              </a:rPr>
              <a:t>年代中期，</a:t>
            </a:r>
            <a:r>
              <a:rPr lang="en-US" altLang="zh-CN" sz="1800" dirty="0">
                <a:latin typeface="微软雅黑" panose="020B0503020204020204" pitchFamily="34" charset="-122"/>
                <a:ea typeface="微软雅黑" panose="020B0503020204020204" pitchFamily="34" charset="-122"/>
                <a:cs typeface="楷体_GB2312"/>
              </a:rPr>
              <a:t>Bob Metcalfe</a:t>
            </a:r>
            <a:r>
              <a:rPr lang="zh-CN" altLang="en-US" sz="1800" dirty="0">
                <a:latin typeface="微软雅黑" panose="020B0503020204020204" pitchFamily="34" charset="-122"/>
                <a:ea typeface="微软雅黑" panose="020B0503020204020204" pitchFamily="34" charset="-122"/>
                <a:cs typeface="楷体_GB2312"/>
              </a:rPr>
              <a:t>和</a:t>
            </a:r>
            <a:r>
              <a:rPr lang="en-US" altLang="zh-CN" sz="1800" dirty="0">
                <a:latin typeface="微软雅黑" panose="020B0503020204020204" pitchFamily="34" charset="-122"/>
                <a:ea typeface="微软雅黑" panose="020B0503020204020204" pitchFamily="34" charset="-122"/>
                <a:cs typeface="楷体_GB2312"/>
              </a:rPr>
              <a:t>David Boggs</a:t>
            </a:r>
            <a:r>
              <a:rPr lang="zh-CN" altLang="en-US" sz="1800" dirty="0">
                <a:latin typeface="微软雅黑" panose="020B0503020204020204" pitchFamily="34" charset="-122"/>
                <a:ea typeface="微软雅黑" panose="020B0503020204020204" pitchFamily="34" charset="-122"/>
                <a:cs typeface="楷体_GB2312"/>
              </a:rPr>
              <a:t>发明了以太网，使用</a:t>
            </a:r>
            <a:r>
              <a:rPr lang="zh-CN" altLang="en-US" sz="1800" b="1" dirty="0">
                <a:latin typeface="微软雅黑" panose="020B0503020204020204" pitchFamily="34" charset="-122"/>
                <a:ea typeface="微软雅黑" panose="020B0503020204020204" pitchFamily="34" charset="-122"/>
              </a:rPr>
              <a:t>总线型拓扑</a:t>
            </a:r>
            <a:r>
              <a:rPr lang="zh-CN" altLang="en-US" sz="1800" dirty="0">
                <a:latin typeface="微软雅黑" panose="020B0503020204020204" pitchFamily="34" charset="-122"/>
                <a:ea typeface="微软雅黑" panose="020B0503020204020204" pitchFamily="34" charset="-122"/>
                <a:cs typeface="楷体_GB2312"/>
              </a:rPr>
              <a:t>和</a:t>
            </a:r>
            <a:r>
              <a:rPr lang="zh-CN" altLang="en-US" sz="1800" b="1" dirty="0">
                <a:solidFill>
                  <a:srgbClr val="FF0000"/>
                </a:solidFill>
                <a:latin typeface="微软雅黑" panose="020B0503020204020204" pitchFamily="34" charset="-122"/>
                <a:ea typeface="微软雅黑" panose="020B0503020204020204" pitchFamily="34" charset="-122"/>
                <a:cs typeface="楷体_GB2312"/>
              </a:rPr>
              <a:t>同轴电缆</a:t>
            </a:r>
            <a:r>
              <a:rPr lang="zh-CN" altLang="en-US" sz="1800" dirty="0">
                <a:latin typeface="微软雅黑" panose="020B0503020204020204" pitchFamily="34" charset="-122"/>
                <a:ea typeface="微软雅黑" panose="020B0503020204020204" pitchFamily="34" charset="-122"/>
                <a:cs typeface="楷体_GB2312"/>
              </a:rPr>
              <a:t>来互联节点。这是一种广播局域网，需要使用</a:t>
            </a:r>
            <a:r>
              <a:rPr lang="en-US" altLang="zh-CN" sz="1800" dirty="0">
                <a:latin typeface="微软雅黑" panose="020B0503020204020204" pitchFamily="34" charset="-122"/>
                <a:ea typeface="微软雅黑" panose="020B0503020204020204" pitchFamily="34" charset="-122"/>
                <a:cs typeface="楷体_GB2312"/>
              </a:rPr>
              <a:t>CSMA/CD</a:t>
            </a:r>
            <a:r>
              <a:rPr lang="zh-CN" altLang="en-US" sz="1800" dirty="0">
                <a:latin typeface="微软雅黑" panose="020B0503020204020204" pitchFamily="34" charset="-122"/>
                <a:ea typeface="微软雅黑" panose="020B0503020204020204" pitchFamily="34" charset="-122"/>
                <a:cs typeface="楷体_GB2312"/>
              </a:rPr>
              <a:t>多路访问协议。</a:t>
            </a:r>
          </a:p>
          <a:p>
            <a:pPr algn="just">
              <a:lnSpc>
                <a:spcPct val="200000"/>
              </a:lnSpc>
              <a:buClr>
                <a:srgbClr val="FF0000"/>
              </a:buClr>
              <a:buSzPct val="80000"/>
              <a:buFont typeface="Wingdings" panose="05000000000000000000" pitchFamily="2" charset="2"/>
              <a:buChar char="u"/>
              <a:defRPr/>
            </a:pPr>
            <a:r>
              <a:rPr lang="en-US" altLang="zh-CN" sz="1800" dirty="0">
                <a:latin typeface="微软雅黑" panose="020B0503020204020204" pitchFamily="34" charset="-122"/>
                <a:ea typeface="微软雅黑" panose="020B0503020204020204" pitchFamily="34" charset="-122"/>
                <a:cs typeface="楷体_GB2312"/>
              </a:rPr>
              <a:t>20</a:t>
            </a:r>
            <a:r>
              <a:rPr lang="zh-CN" altLang="en-US" sz="1800" dirty="0">
                <a:latin typeface="微软雅黑" panose="020B0503020204020204" pitchFamily="34" charset="-122"/>
                <a:ea typeface="微软雅黑" panose="020B0503020204020204" pitchFamily="34" charset="-122"/>
                <a:cs typeface="楷体_GB2312"/>
              </a:rPr>
              <a:t>世纪</a:t>
            </a:r>
            <a:r>
              <a:rPr lang="en-US" altLang="zh-CN" sz="1800" dirty="0">
                <a:latin typeface="微软雅黑" panose="020B0503020204020204" pitchFamily="34" charset="-122"/>
                <a:ea typeface="微软雅黑" panose="020B0503020204020204" pitchFamily="34" charset="-122"/>
                <a:cs typeface="楷体_GB2312"/>
              </a:rPr>
              <a:t>90</a:t>
            </a:r>
            <a:r>
              <a:rPr lang="zh-CN" altLang="en-US" sz="1800" dirty="0">
                <a:latin typeface="微软雅黑" panose="020B0503020204020204" pitchFamily="34" charset="-122"/>
                <a:ea typeface="微软雅黑" panose="020B0503020204020204" pitchFamily="34" charset="-122"/>
                <a:cs typeface="楷体_GB2312"/>
              </a:rPr>
              <a:t>年代后期，以太网使用基于</a:t>
            </a:r>
            <a:r>
              <a:rPr lang="zh-CN" altLang="en-US" sz="1800" b="1" dirty="0">
                <a:solidFill>
                  <a:srgbClr val="FF0000"/>
                </a:solidFill>
                <a:latin typeface="微软雅黑" panose="020B0503020204020204" pitchFamily="34" charset="-122"/>
                <a:ea typeface="微软雅黑" panose="020B0503020204020204" pitchFamily="34" charset="-122"/>
                <a:cs typeface="楷体_GB2312"/>
              </a:rPr>
              <a:t>集线器</a:t>
            </a:r>
            <a:r>
              <a:rPr lang="zh-CN" altLang="en-US" sz="1800" dirty="0">
                <a:latin typeface="微软雅黑" panose="020B0503020204020204" pitchFamily="34" charset="-122"/>
                <a:ea typeface="微软雅黑" panose="020B0503020204020204" pitchFamily="34" charset="-122"/>
                <a:cs typeface="楷体_GB2312"/>
              </a:rPr>
              <a:t>的</a:t>
            </a:r>
            <a:r>
              <a:rPr lang="zh-CN" altLang="en-US" sz="1800" b="1" dirty="0">
                <a:latin typeface="微软雅黑" panose="020B0503020204020204" pitchFamily="34" charset="-122"/>
                <a:ea typeface="微软雅黑" panose="020B0503020204020204" pitchFamily="34" charset="-122"/>
              </a:rPr>
              <a:t>星型拓扑</a:t>
            </a:r>
            <a:r>
              <a:rPr lang="zh-CN" altLang="en-US" sz="1800" dirty="0">
                <a:latin typeface="微软雅黑" panose="020B0503020204020204" pitchFamily="34" charset="-122"/>
                <a:ea typeface="微软雅黑" panose="020B0503020204020204" pitchFamily="34" charset="-122"/>
                <a:cs typeface="楷体_GB2312"/>
              </a:rPr>
              <a:t>结构，这仍然是一种广播局域网。</a:t>
            </a:r>
            <a:endParaRPr lang="en-US" altLang="zh-CN" sz="1800" dirty="0">
              <a:latin typeface="微软雅黑" panose="020B0503020204020204" pitchFamily="34" charset="-122"/>
              <a:ea typeface="微软雅黑" panose="020B0503020204020204" pitchFamily="34" charset="-122"/>
              <a:cs typeface="楷体_GB2312"/>
            </a:endParaRPr>
          </a:p>
          <a:p>
            <a:pPr algn="just">
              <a:lnSpc>
                <a:spcPct val="200000"/>
              </a:lnSpc>
              <a:buClr>
                <a:srgbClr val="FF0000"/>
              </a:buClr>
              <a:buSzPct val="80000"/>
              <a:buFont typeface="Wingdings" panose="05000000000000000000" pitchFamily="2" charset="2"/>
              <a:buChar char="u"/>
              <a:defRPr/>
            </a:pPr>
            <a:r>
              <a:rPr lang="en-US" altLang="zh-CN" sz="1800" dirty="0">
                <a:latin typeface="微软雅黑" panose="020B0503020204020204" pitchFamily="34" charset="-122"/>
                <a:ea typeface="微软雅黑" panose="020B0503020204020204" pitchFamily="34" charset="-122"/>
                <a:cs typeface="楷体_GB2312"/>
              </a:rPr>
              <a:t>21</a:t>
            </a:r>
            <a:r>
              <a:rPr lang="zh-CN" altLang="en-US" sz="1800" dirty="0">
                <a:latin typeface="微软雅黑" panose="020B0503020204020204" pitchFamily="34" charset="-122"/>
                <a:ea typeface="微软雅黑" panose="020B0503020204020204" pitchFamily="34" charset="-122"/>
                <a:cs typeface="楷体_GB2312"/>
              </a:rPr>
              <a:t>世纪初，以太网经历了一次重要的革命性变化，即使用基于</a:t>
            </a:r>
            <a:r>
              <a:rPr lang="zh-CN" altLang="en-US" sz="1800" b="1" dirty="0">
                <a:solidFill>
                  <a:srgbClr val="FF0000"/>
                </a:solidFill>
                <a:latin typeface="微软雅黑" panose="020B0503020204020204" pitchFamily="34" charset="-122"/>
                <a:ea typeface="微软雅黑" panose="020B0503020204020204" pitchFamily="34" charset="-122"/>
                <a:cs typeface="楷体_GB2312"/>
              </a:rPr>
              <a:t>交换机</a:t>
            </a:r>
            <a:r>
              <a:rPr lang="zh-CN" altLang="en-US" sz="1800" dirty="0">
                <a:latin typeface="微软雅黑" panose="020B0503020204020204" pitchFamily="34" charset="-122"/>
                <a:ea typeface="微软雅黑" panose="020B0503020204020204" pitchFamily="34" charset="-122"/>
                <a:cs typeface="楷体_GB2312"/>
              </a:rPr>
              <a:t>的</a:t>
            </a:r>
            <a:r>
              <a:rPr lang="zh-CN" altLang="en-US" sz="1800" b="1" dirty="0">
                <a:latin typeface="微软雅黑" panose="020B0503020204020204" pitchFamily="34" charset="-122"/>
                <a:ea typeface="微软雅黑" panose="020B0503020204020204" pitchFamily="34" charset="-122"/>
              </a:rPr>
              <a:t>星型拓扑</a:t>
            </a:r>
            <a:r>
              <a:rPr lang="zh-CN" altLang="en-US" sz="1800" dirty="0">
                <a:latin typeface="微软雅黑" panose="020B0503020204020204" pitchFamily="34" charset="-122"/>
                <a:ea typeface="微软雅黑" panose="020B0503020204020204" pitchFamily="34" charset="-122"/>
                <a:cs typeface="楷体_GB2312"/>
              </a:rPr>
              <a:t>，无需再使用</a:t>
            </a:r>
            <a:r>
              <a:rPr lang="en-US" altLang="zh-CN" sz="1800" dirty="0">
                <a:latin typeface="微软雅黑" panose="020B0503020204020204" pitchFamily="34" charset="-122"/>
                <a:ea typeface="微软雅黑" panose="020B0503020204020204" pitchFamily="34" charset="-122"/>
                <a:cs typeface="楷体_GB2312"/>
              </a:rPr>
              <a:t>CSMA/CD</a:t>
            </a:r>
            <a:r>
              <a:rPr lang="zh-CN" altLang="en-US" sz="1800" dirty="0">
                <a:latin typeface="微软雅黑" panose="020B0503020204020204" pitchFamily="34" charset="-122"/>
                <a:ea typeface="微软雅黑" panose="020B0503020204020204" pitchFamily="34" charset="-122"/>
                <a:cs typeface="楷体_GB2312"/>
              </a:rPr>
              <a:t>多路访问协议。</a:t>
            </a:r>
            <a:endParaRPr lang="en-US" altLang="zh-CN" sz="1800" dirty="0">
              <a:latin typeface="微软雅黑" panose="020B0503020204020204" pitchFamily="34" charset="-122"/>
              <a:ea typeface="微软雅黑" panose="020B0503020204020204" pitchFamily="34" charset="-122"/>
              <a:cs typeface="楷体_GB2312"/>
            </a:endParaRPr>
          </a:p>
        </p:txBody>
      </p:sp>
      <p:sp>
        <p:nvSpPr>
          <p:cNvPr id="17414" name="灯片编号占位符 1">
            <a:extLst>
              <a:ext uri="{FF2B5EF4-FFF2-40B4-BE49-F238E27FC236}">
                <a16:creationId xmlns:a16="http://schemas.microsoft.com/office/drawing/2014/main" id="{7D8E5DE9-FA6B-4099-A8BC-FA981279D40D}"/>
              </a:ext>
            </a:extLst>
          </p:cNvPr>
          <p:cNvSpPr>
            <a:spLocks noGrp="1"/>
          </p:cNvSpPr>
          <p:nvPr>
            <p:ph type="sldNum" sz="quarter" idx="10"/>
          </p:nvPr>
        </p:nvSpPr>
        <p:spPr>
          <a:xfrm>
            <a:off x="8382000" y="64008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075B3803-654E-45B4-8CF5-0A18479700C3}" type="slidenum">
              <a:rPr lang="en-US" altLang="zh-CN" sz="2000" smtClean="0">
                <a:solidFill>
                  <a:schemeClr val="bg2"/>
                </a:solidFill>
              </a:rPr>
              <a:pPr/>
              <a:t>3</a:t>
            </a:fld>
            <a:endParaRPr lang="en-US" altLang="zh-CN" sz="2000">
              <a:solidFill>
                <a:schemeClr val="bg2"/>
              </a:solidFill>
            </a:endParaRPr>
          </a:p>
        </p:txBody>
      </p:sp>
    </p:spTree>
    <p:extLst>
      <p:ext uri="{BB962C8B-B14F-4D97-AF65-F5344CB8AC3E}">
        <p14:creationId xmlns:p14="http://schemas.microsoft.com/office/powerpoint/2010/main" val="136966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AB71A6D-E2EE-492F-B464-F87AA532158B}"/>
              </a:ext>
            </a:extLst>
          </p:cNvPr>
          <p:cNvSpPr>
            <a:spLocks noGrp="1" noRot="1" noChangeArrowheads="1"/>
          </p:cNvSpPr>
          <p:nvPr>
            <p:ph type="title" idx="4294967295"/>
          </p:nvPr>
        </p:nvSpPr>
        <p:spPr bwMode="auto">
          <a:xfrm>
            <a:off x="3048000" y="84646"/>
            <a:ext cx="5181600" cy="533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zh-CN" altLang="en-US" sz="2800" b="1" dirty="0">
                <a:solidFill>
                  <a:schemeClr val="bg1"/>
                </a:solidFill>
                <a:latin typeface="微软雅黑" panose="020B0503020204020204" pitchFamily="34" charset="-122"/>
                <a:ea typeface="微软雅黑" panose="020B0503020204020204" pitchFamily="34" charset="-122"/>
                <a:cs typeface="+mn-cs"/>
              </a:rPr>
              <a:t>以太网的特征</a:t>
            </a:r>
          </a:p>
        </p:txBody>
      </p:sp>
      <p:sp>
        <p:nvSpPr>
          <p:cNvPr id="84995" name="Rectangle 3">
            <a:extLst>
              <a:ext uri="{FF2B5EF4-FFF2-40B4-BE49-F238E27FC236}">
                <a16:creationId xmlns:a16="http://schemas.microsoft.com/office/drawing/2014/main" id="{1D58516E-E879-466F-8AC6-43917FAAFB06}"/>
              </a:ext>
            </a:extLst>
          </p:cNvPr>
          <p:cNvSpPr>
            <a:spLocks noGrp="1" noRot="1" noChangeArrowheads="1"/>
          </p:cNvSpPr>
          <p:nvPr>
            <p:ph type="body" idx="4294967295"/>
          </p:nvPr>
        </p:nvSpPr>
        <p:spPr bwMode="auto">
          <a:xfrm>
            <a:off x="838200" y="1447800"/>
            <a:ext cx="7620000" cy="4419600"/>
          </a:xfrm>
          <a:prstGeom prst="rect">
            <a:avLst/>
          </a:prstGeom>
        </p:spPr>
        <p:txBody>
          <a:bodyPr vert="horz" wrap="square" lIns="91440" tIns="45720" rIns="91440" bIns="45720" numCol="1" anchor="t" anchorCtr="0" compatLnSpc="1">
            <a:prstTxWarp prst="textNoShape">
              <a:avLst/>
            </a:prstTxWarp>
          </a:bodyPr>
          <a:lstStyle/>
          <a:p>
            <a:pPr algn="just">
              <a:lnSpc>
                <a:spcPct val="200000"/>
              </a:lnSpc>
              <a:buClr>
                <a:srgbClr val="FF0000"/>
              </a:buClr>
              <a:buSzPct val="80000"/>
              <a:buFont typeface="Wingdings" panose="05000000000000000000" pitchFamily="2" charset="2"/>
              <a:buChar char="u"/>
              <a:defRPr/>
            </a:pPr>
            <a:r>
              <a:rPr lang="zh-CN" altLang="en-US" sz="1800" b="1" dirty="0">
                <a:latin typeface="微软雅黑" panose="020B0503020204020204" pitchFamily="34" charset="-122"/>
                <a:ea typeface="微软雅黑" panose="020B0503020204020204" pitchFamily="34" charset="-122"/>
                <a:cs typeface="楷体_GB2312"/>
              </a:rPr>
              <a:t>共享媒体</a:t>
            </a:r>
            <a:r>
              <a:rPr lang="zh-CN" altLang="en-US" sz="1800" dirty="0">
                <a:latin typeface="微软雅黑" panose="020B0503020204020204" pitchFamily="34" charset="-122"/>
                <a:ea typeface="微软雅黑" panose="020B0503020204020204" pitchFamily="34" charset="-122"/>
                <a:cs typeface="楷体_GB2312"/>
              </a:rPr>
              <a:t>：所有网络设备依次使用同一通信媒体。 </a:t>
            </a:r>
          </a:p>
          <a:p>
            <a:pPr algn="just">
              <a:lnSpc>
                <a:spcPct val="200000"/>
              </a:lnSpc>
              <a:buClr>
                <a:srgbClr val="FF0000"/>
              </a:buClr>
              <a:buSzPct val="80000"/>
              <a:buFont typeface="Wingdings" panose="05000000000000000000" pitchFamily="2" charset="2"/>
              <a:buChar char="u"/>
              <a:defRPr/>
            </a:pPr>
            <a:r>
              <a:rPr lang="zh-CN" altLang="en-US" sz="1800" b="1" dirty="0">
                <a:latin typeface="微软雅黑" panose="020B0503020204020204" pitchFamily="34" charset="-122"/>
                <a:ea typeface="微软雅黑" panose="020B0503020204020204" pitchFamily="34" charset="-122"/>
                <a:cs typeface="楷体_GB2312"/>
              </a:rPr>
              <a:t>广播域</a:t>
            </a:r>
            <a:r>
              <a:rPr lang="zh-CN" altLang="en-US" sz="1800" dirty="0">
                <a:latin typeface="微软雅黑" panose="020B0503020204020204" pitchFamily="34" charset="-122"/>
                <a:ea typeface="微软雅黑" panose="020B0503020204020204" pitchFamily="34" charset="-122"/>
                <a:cs typeface="楷体_GB2312"/>
              </a:rPr>
              <a:t>：一个网络中可以接收广播帧的所有设备的集合。在广播域内，广播帧会被发送到域内所有设备，无论这些设备是否需要这些信息。 </a:t>
            </a:r>
          </a:p>
          <a:p>
            <a:pPr algn="just">
              <a:lnSpc>
                <a:spcPct val="200000"/>
              </a:lnSpc>
              <a:buClr>
                <a:srgbClr val="FF0000"/>
              </a:buClr>
              <a:buSzPct val="80000"/>
              <a:buFont typeface="Wingdings" panose="05000000000000000000" pitchFamily="2" charset="2"/>
              <a:buChar char="u"/>
              <a:defRPr/>
            </a:pPr>
            <a:r>
              <a:rPr lang="en-US" altLang="zh-CN" sz="1800" b="1" dirty="0">
                <a:latin typeface="微软雅黑" panose="020B0503020204020204" pitchFamily="34" charset="-122"/>
                <a:ea typeface="微软雅黑" panose="020B0503020204020204" pitchFamily="34" charset="-122"/>
                <a:cs typeface="楷体_GB2312"/>
              </a:rPr>
              <a:t>CSMA/CD</a:t>
            </a:r>
            <a:r>
              <a:rPr lang="zh-CN" altLang="en-US" sz="1800" dirty="0">
                <a:latin typeface="微软雅黑" panose="020B0503020204020204" pitchFamily="34" charset="-122"/>
                <a:ea typeface="微软雅黑" panose="020B0503020204020204" pitchFamily="34" charset="-122"/>
                <a:cs typeface="楷体_GB2312"/>
              </a:rPr>
              <a:t>：以太网中利用载波监听多路访问</a:t>
            </a:r>
            <a:r>
              <a:rPr lang="en-US" altLang="zh-CN" sz="1800" dirty="0">
                <a:latin typeface="微软雅黑" panose="020B0503020204020204" pitchFamily="34" charset="-122"/>
                <a:ea typeface="微软雅黑" panose="020B0503020204020204" pitchFamily="34" charset="-122"/>
                <a:cs typeface="楷体_GB2312"/>
              </a:rPr>
              <a:t>/</a:t>
            </a:r>
            <a:r>
              <a:rPr lang="zh-CN" altLang="en-US" sz="1800" dirty="0">
                <a:latin typeface="微软雅黑" panose="020B0503020204020204" pitchFamily="34" charset="-122"/>
                <a:ea typeface="微软雅黑" panose="020B0503020204020204" pitchFamily="34" charset="-122"/>
                <a:cs typeface="楷体_GB2312"/>
              </a:rPr>
              <a:t>冲突检测方法来防止更多节点同时发送数据。</a:t>
            </a:r>
          </a:p>
          <a:p>
            <a:pPr algn="just">
              <a:lnSpc>
                <a:spcPct val="200000"/>
              </a:lnSpc>
              <a:buClr>
                <a:srgbClr val="FF0000"/>
              </a:buClr>
              <a:buSzPct val="80000"/>
              <a:buFont typeface="Wingdings" panose="05000000000000000000" pitchFamily="2" charset="2"/>
              <a:buChar char="u"/>
              <a:defRPr/>
            </a:pPr>
            <a:r>
              <a:rPr lang="en-US" altLang="zh-CN" sz="1800" b="1" dirty="0">
                <a:latin typeface="微软雅黑" panose="020B0503020204020204" pitchFamily="34" charset="-122"/>
                <a:ea typeface="微软雅黑" panose="020B0503020204020204" pitchFamily="34" charset="-122"/>
                <a:cs typeface="楷体_GB2312"/>
              </a:rPr>
              <a:t>MAC</a:t>
            </a:r>
            <a:r>
              <a:rPr lang="zh-CN" altLang="en-US" sz="1800" b="1" dirty="0">
                <a:latin typeface="微软雅黑" panose="020B0503020204020204" pitchFamily="34" charset="-122"/>
                <a:ea typeface="微软雅黑" panose="020B0503020204020204" pitchFamily="34" charset="-122"/>
                <a:cs typeface="楷体_GB2312"/>
              </a:rPr>
              <a:t>地址</a:t>
            </a:r>
            <a:r>
              <a:rPr lang="zh-CN" altLang="en-US" sz="1800" dirty="0">
                <a:latin typeface="微软雅黑" panose="020B0503020204020204" pitchFamily="34" charset="-122"/>
                <a:ea typeface="微软雅黑" panose="020B0503020204020204" pitchFamily="34" charset="-122"/>
                <a:cs typeface="楷体_GB2312"/>
              </a:rPr>
              <a:t>：媒体访问控制层的所有网络接口卡（</a:t>
            </a:r>
            <a:r>
              <a:rPr lang="en-US" altLang="zh-CN" sz="1800" dirty="0">
                <a:latin typeface="微软雅黑" panose="020B0503020204020204" pitchFamily="34" charset="-122"/>
                <a:ea typeface="微软雅黑" panose="020B0503020204020204" pitchFamily="34" charset="-122"/>
                <a:cs typeface="楷体_GB2312"/>
              </a:rPr>
              <a:t>NIC</a:t>
            </a:r>
            <a:r>
              <a:rPr lang="zh-CN" altLang="en-US" sz="1800" dirty="0">
                <a:latin typeface="微软雅黑" panose="020B0503020204020204" pitchFamily="34" charset="-122"/>
                <a:ea typeface="微软雅黑" panose="020B0503020204020204" pitchFamily="34" charset="-122"/>
                <a:cs typeface="楷体_GB2312"/>
              </a:rPr>
              <a:t>）都采用</a:t>
            </a:r>
            <a:r>
              <a:rPr lang="en-US" altLang="zh-CN" sz="1800" dirty="0">
                <a:latin typeface="微软雅黑" panose="020B0503020204020204" pitchFamily="34" charset="-122"/>
                <a:ea typeface="微软雅黑" panose="020B0503020204020204" pitchFamily="34" charset="-122"/>
                <a:cs typeface="楷体_GB2312"/>
              </a:rPr>
              <a:t>48</a:t>
            </a:r>
            <a:r>
              <a:rPr lang="zh-CN" altLang="en-US" sz="1800" dirty="0">
                <a:latin typeface="微软雅黑" panose="020B0503020204020204" pitchFamily="34" charset="-122"/>
                <a:ea typeface="微软雅黑" panose="020B0503020204020204" pitchFamily="34" charset="-122"/>
                <a:cs typeface="楷体_GB2312"/>
              </a:rPr>
              <a:t>位网络地址。</a:t>
            </a:r>
          </a:p>
        </p:txBody>
      </p:sp>
      <p:sp>
        <p:nvSpPr>
          <p:cNvPr id="17414" name="灯片编号占位符 1">
            <a:extLst>
              <a:ext uri="{FF2B5EF4-FFF2-40B4-BE49-F238E27FC236}">
                <a16:creationId xmlns:a16="http://schemas.microsoft.com/office/drawing/2014/main" id="{7D8E5DE9-FA6B-4099-A8BC-FA981279D40D}"/>
              </a:ext>
            </a:extLst>
          </p:cNvPr>
          <p:cNvSpPr>
            <a:spLocks noGrp="1"/>
          </p:cNvSpPr>
          <p:nvPr>
            <p:ph type="sldNum" sz="quarter" idx="10"/>
          </p:nvPr>
        </p:nvSpPr>
        <p:spPr>
          <a:xfrm>
            <a:off x="8382000" y="64008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075B3803-654E-45B4-8CF5-0A18479700C3}" type="slidenum">
              <a:rPr lang="en-US" altLang="zh-CN" sz="2000" smtClean="0">
                <a:solidFill>
                  <a:schemeClr val="bg2"/>
                </a:solidFill>
              </a:rPr>
              <a:pPr/>
              <a:t>4</a:t>
            </a:fld>
            <a:endParaRPr lang="en-US" altLang="zh-CN" sz="2000">
              <a:solidFill>
                <a:schemeClr val="bg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AB71A6D-E2EE-492F-B464-F87AA532158B}"/>
              </a:ext>
            </a:extLst>
          </p:cNvPr>
          <p:cNvSpPr>
            <a:spLocks noGrp="1" noRot="1" noChangeArrowheads="1"/>
          </p:cNvSpPr>
          <p:nvPr>
            <p:ph type="title" idx="4294967295"/>
          </p:nvPr>
        </p:nvSpPr>
        <p:spPr bwMode="auto">
          <a:xfrm>
            <a:off x="3048000" y="96221"/>
            <a:ext cx="5181600" cy="533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sz="2800" b="1" dirty="0">
                <a:solidFill>
                  <a:schemeClr val="bg1"/>
                </a:solidFill>
                <a:latin typeface="微软雅黑" panose="020B0503020204020204" pitchFamily="34" charset="-122"/>
                <a:ea typeface="微软雅黑" panose="020B0503020204020204" pitchFamily="34" charset="-122"/>
                <a:cs typeface="+mn-cs"/>
              </a:rPr>
              <a:t>IEEE</a:t>
            </a:r>
            <a:r>
              <a:rPr lang="zh-CN" altLang="en-US" sz="2800" b="1" dirty="0">
                <a:solidFill>
                  <a:schemeClr val="bg1"/>
                </a:solidFill>
                <a:latin typeface="微软雅黑" panose="020B0503020204020204" pitchFamily="34" charset="-122"/>
                <a:ea typeface="微软雅黑" panose="020B0503020204020204" pitchFamily="34" charset="-122"/>
                <a:cs typeface="+mn-cs"/>
              </a:rPr>
              <a:t>标准</a:t>
            </a:r>
          </a:p>
        </p:txBody>
      </p:sp>
      <p:sp>
        <p:nvSpPr>
          <p:cNvPr id="17414" name="灯片编号占位符 1">
            <a:extLst>
              <a:ext uri="{FF2B5EF4-FFF2-40B4-BE49-F238E27FC236}">
                <a16:creationId xmlns:a16="http://schemas.microsoft.com/office/drawing/2014/main" id="{7D8E5DE9-FA6B-4099-A8BC-FA981279D40D}"/>
              </a:ext>
            </a:extLst>
          </p:cNvPr>
          <p:cNvSpPr>
            <a:spLocks noGrp="1"/>
          </p:cNvSpPr>
          <p:nvPr>
            <p:ph type="sldNum" sz="quarter" idx="10"/>
          </p:nvPr>
        </p:nvSpPr>
        <p:spPr>
          <a:xfrm>
            <a:off x="8382000" y="64008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075B3803-654E-45B4-8CF5-0A18479700C3}" type="slidenum">
              <a:rPr lang="en-US" altLang="zh-CN" sz="2000" smtClean="0">
                <a:solidFill>
                  <a:schemeClr val="bg2"/>
                </a:solidFill>
              </a:rPr>
              <a:pPr/>
              <a:t>5</a:t>
            </a:fld>
            <a:endParaRPr lang="en-US" altLang="zh-CN" sz="2000">
              <a:solidFill>
                <a:schemeClr val="bg2"/>
              </a:solidFill>
            </a:endParaRPr>
          </a:p>
        </p:txBody>
      </p:sp>
      <p:pic>
        <p:nvPicPr>
          <p:cNvPr id="8" name="Picture 6">
            <a:extLst>
              <a:ext uri="{FF2B5EF4-FFF2-40B4-BE49-F238E27FC236}">
                <a16:creationId xmlns:a16="http://schemas.microsoft.com/office/drawing/2014/main" id="{BDFD8A4D-AA75-456B-8674-F170D8A098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3425" y="3051197"/>
            <a:ext cx="6197149" cy="2938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4">
            <a:extLst>
              <a:ext uri="{FF2B5EF4-FFF2-40B4-BE49-F238E27FC236}">
                <a16:creationId xmlns:a16="http://schemas.microsoft.com/office/drawing/2014/main" id="{F1BCD47C-F940-4D44-BA4A-16CE353D6DDA}"/>
              </a:ext>
            </a:extLst>
          </p:cNvPr>
          <p:cNvSpPr txBox="1">
            <a:spLocks noChangeArrowheads="1"/>
          </p:cNvSpPr>
          <p:nvPr/>
        </p:nvSpPr>
        <p:spPr bwMode="auto">
          <a:xfrm>
            <a:off x="3394921" y="6131694"/>
            <a:ext cx="25827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13.1  </a:t>
            </a:r>
            <a:r>
              <a:rPr lang="zh-CN" altLang="en-US" sz="1600" dirty="0">
                <a:latin typeface="Times New Roman" panose="02020603050405020304" pitchFamily="18" charset="0"/>
                <a:ea typeface="宋体" panose="02010600030101010101" pitchFamily="2" charset="-122"/>
              </a:rPr>
              <a:t>局域网的</a:t>
            </a:r>
            <a:r>
              <a:rPr lang="en-US" altLang="zh-CN" sz="1600" dirty="0">
                <a:latin typeface="Times New Roman" panose="02020603050405020304" pitchFamily="18" charset="0"/>
                <a:ea typeface="宋体" panose="02010600030101010101" pitchFamily="2" charset="-122"/>
              </a:rPr>
              <a:t>IEEE</a:t>
            </a:r>
            <a:r>
              <a:rPr lang="zh-CN" altLang="en-US" sz="1600" dirty="0">
                <a:latin typeface="Times New Roman" panose="02020603050405020304" pitchFamily="18" charset="0"/>
                <a:ea typeface="宋体" panose="02010600030101010101" pitchFamily="2" charset="-122"/>
              </a:rPr>
              <a:t>标准</a:t>
            </a:r>
            <a:endParaRPr lang="en-US" altLang="zh-CN" sz="1600" dirty="0">
              <a:latin typeface="Times New Roman" panose="02020603050405020304" pitchFamily="18" charset="0"/>
              <a:ea typeface="宋体" panose="02010600030101010101" pitchFamily="2" charset="-122"/>
            </a:endParaRPr>
          </a:p>
        </p:txBody>
      </p:sp>
      <p:sp>
        <p:nvSpPr>
          <p:cNvPr id="10" name="Rectangle 5">
            <a:extLst>
              <a:ext uri="{FF2B5EF4-FFF2-40B4-BE49-F238E27FC236}">
                <a16:creationId xmlns:a16="http://schemas.microsoft.com/office/drawing/2014/main" id="{B2C9D976-28EA-411B-96A8-B3C822840A8F}"/>
              </a:ext>
            </a:extLst>
          </p:cNvPr>
          <p:cNvSpPr>
            <a:spLocks noChangeArrowheads="1"/>
          </p:cNvSpPr>
          <p:nvPr/>
        </p:nvSpPr>
        <p:spPr bwMode="auto">
          <a:xfrm>
            <a:off x="838200" y="921084"/>
            <a:ext cx="7696200" cy="1987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gn="just" eaLnBrk="1" hangingPunct="1">
              <a:lnSpc>
                <a:spcPct val="200000"/>
              </a:lnSpc>
              <a:buClr>
                <a:srgbClr val="3366FF"/>
              </a:buClr>
              <a:buSzPct val="80000"/>
            </a:pP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1980</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IEEE</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成立局域网标准委员会（</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IEEE 802</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委员会），制定了</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IEEE 802</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参考模型与标准，重点解决局部范围的计算机联网问题，因此只关注</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OSI</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模型的</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数据链路层</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与</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物理层</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IEEE 802</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将</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OSI</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的数据链路层分为两个子层，即逻辑链路控制（</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Logical Link Control, LLC</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）和介质访问控制（</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Media Access Control, MAC</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a:t>
            </a:r>
          </a:p>
        </p:txBody>
      </p:sp>
    </p:spTree>
    <p:extLst>
      <p:ext uri="{BB962C8B-B14F-4D97-AF65-F5344CB8AC3E}">
        <p14:creationId xmlns:p14="http://schemas.microsoft.com/office/powerpoint/2010/main" val="3878406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B34956D6-69E6-4ECE-850B-A79C66552DFB}"/>
              </a:ext>
            </a:extLst>
          </p:cNvPr>
          <p:cNvSpPr>
            <a:spLocks noGrp="1" noRot="1" noChangeArrowheads="1"/>
          </p:cNvSpPr>
          <p:nvPr>
            <p:ph type="title" idx="4294967295"/>
          </p:nvPr>
        </p:nvSpPr>
        <p:spPr bwMode="auto">
          <a:xfrm>
            <a:off x="2971800" y="107796"/>
            <a:ext cx="4038600" cy="533400"/>
          </a:xfrm>
          <a:prstGeom prst="rect">
            <a:avLst/>
          </a:prstGeom>
          <a:ln>
            <a:miter lim="800000"/>
            <a:headEnd/>
            <a:tailEnd/>
          </a:ln>
        </p:spPr>
        <p:txBody>
          <a:bodyPr vert="horz" wrap="square" lIns="91440" tIns="45720" rIns="91440" bIns="45720" numCol="1" anchor="t" anchorCtr="0" compatLnSpc="1">
            <a:prstTxWarp prst="textNoShape">
              <a:avLst/>
            </a:prstTxWarp>
          </a:bodyPr>
          <a:lstStyle/>
          <a:p>
            <a:pPr>
              <a:defRPr/>
            </a:pPr>
            <a:r>
              <a:rPr lang="en-US" altLang="zh-CN" sz="2800" b="1" dirty="0">
                <a:solidFill>
                  <a:schemeClr val="bg1"/>
                </a:solidFill>
                <a:latin typeface="微软雅黑" panose="020B0503020204020204" pitchFamily="34" charset="-122"/>
                <a:ea typeface="微软雅黑" panose="020B0503020204020204" pitchFamily="34" charset="-122"/>
                <a:cs typeface="+mn-cs"/>
              </a:rPr>
              <a:t>IEEE802</a:t>
            </a:r>
            <a:r>
              <a:rPr lang="zh-CN" altLang="en-US" sz="2800" b="1" dirty="0">
                <a:solidFill>
                  <a:schemeClr val="bg1"/>
                </a:solidFill>
                <a:latin typeface="微软雅黑" panose="020B0503020204020204" pitchFamily="34" charset="-122"/>
                <a:ea typeface="微软雅黑" panose="020B0503020204020204" pitchFamily="34" charset="-122"/>
                <a:cs typeface="+mn-cs"/>
              </a:rPr>
              <a:t>系列协议</a:t>
            </a:r>
          </a:p>
        </p:txBody>
      </p:sp>
      <p:sp>
        <p:nvSpPr>
          <p:cNvPr id="101379" name="Rectangle 60">
            <a:extLst>
              <a:ext uri="{FF2B5EF4-FFF2-40B4-BE49-F238E27FC236}">
                <a16:creationId xmlns:a16="http://schemas.microsoft.com/office/drawing/2014/main" id="{6D55F5E3-6BFA-444A-99E4-A362CC3D4D48}"/>
              </a:ext>
            </a:extLst>
          </p:cNvPr>
          <p:cNvSpPr>
            <a:spLocks noGrp="1" noRot="1" noChangeArrowheads="1"/>
          </p:cNvSpPr>
          <p:nvPr>
            <p:ph type="body" idx="4294967295"/>
          </p:nvPr>
        </p:nvSpPr>
        <p:spPr bwMode="auto">
          <a:xfrm>
            <a:off x="762000" y="971550"/>
            <a:ext cx="8001000" cy="55054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ts val="27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802.1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：提供高层标准的框架，包括端到端协议、网络互连、网络管理、路由选择、桥接和性能测量。</a:t>
            </a:r>
          </a:p>
          <a:p>
            <a:pPr>
              <a:lnSpc>
                <a:spcPts val="27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802.2</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：连接链路控制</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LLC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，提供数据链路层的高子层功能，提供</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LAN</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子层与高层协议间的一致接口。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ts val="27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802.3</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：以太网，定义</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CSMA/CD</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标准的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子层和物理层规范。</a:t>
            </a:r>
          </a:p>
          <a:p>
            <a:pPr>
              <a:lnSpc>
                <a:spcPts val="27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802.4</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：令牌总线网，定义令牌总线的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子层和物理层规范。</a:t>
            </a:r>
          </a:p>
          <a:p>
            <a:pPr>
              <a:lnSpc>
                <a:spcPts val="27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802.5</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：令牌环网，定义令牌传递环形网的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子层和物理层的规范。</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ts val="27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802.6</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：城域网，定义城域网的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子层和物理层规范。 </a:t>
            </a:r>
          </a:p>
          <a:p>
            <a:pPr>
              <a:lnSpc>
                <a:spcPts val="27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802.7</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：宽带技术</a:t>
            </a:r>
          </a:p>
          <a:p>
            <a:pPr>
              <a:lnSpc>
                <a:spcPts val="27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802.8</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：光纤技术</a:t>
            </a:r>
          </a:p>
          <a:p>
            <a:pPr>
              <a:lnSpc>
                <a:spcPts val="27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802.9</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：综合话音数据局域网</a:t>
            </a:r>
          </a:p>
          <a:p>
            <a:pPr>
              <a:lnSpc>
                <a:spcPts val="27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802.10</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：可互操作的局域网安全</a:t>
            </a:r>
          </a:p>
          <a:p>
            <a:pPr>
              <a:lnSpc>
                <a:spcPts val="27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802.11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：无线局域网</a:t>
            </a:r>
          </a:p>
          <a:p>
            <a:pPr>
              <a:lnSpc>
                <a:spcPts val="2700"/>
              </a:lnSpc>
              <a:buClr>
                <a:srgbClr val="FF0000"/>
              </a:buClr>
              <a:buSzPct val="80000"/>
              <a:buFont typeface="Wingdings" panose="05000000000000000000" pitchFamily="2" charset="2"/>
              <a:buChar char="u"/>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802.12</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：新型高速局域网（</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100 Mb</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101380" name="灯片编号占位符 1">
            <a:extLst>
              <a:ext uri="{FF2B5EF4-FFF2-40B4-BE49-F238E27FC236}">
                <a16:creationId xmlns:a16="http://schemas.microsoft.com/office/drawing/2014/main" id="{2749CA75-68CC-4024-9673-0EE4DEC2DAA6}"/>
              </a:ext>
            </a:extLst>
          </p:cNvPr>
          <p:cNvSpPr>
            <a:spLocks noGrp="1"/>
          </p:cNvSpPr>
          <p:nvPr>
            <p:ph type="sldNum" sz="quarter" idx="10"/>
          </p:nvPr>
        </p:nvSpPr>
        <p:spPr>
          <a:xfrm>
            <a:off x="8382000" y="64008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1991270D-ED29-4A5A-A129-29CF71173326}" type="slidenum">
              <a:rPr lang="en-US" altLang="zh-CN" sz="2000" smtClean="0">
                <a:solidFill>
                  <a:schemeClr val="bg2"/>
                </a:solidFill>
              </a:rPr>
              <a:pPr/>
              <a:t>6</a:t>
            </a:fld>
            <a:endParaRPr lang="en-US" altLang="zh-CN" sz="2000">
              <a:solidFill>
                <a:schemeClr val="bg2"/>
              </a:solidFill>
            </a:endParaRPr>
          </a:p>
        </p:txBody>
      </p:sp>
    </p:spTree>
    <p:extLst>
      <p:ext uri="{BB962C8B-B14F-4D97-AF65-F5344CB8AC3E}">
        <p14:creationId xmlns:p14="http://schemas.microsoft.com/office/powerpoint/2010/main" val="1107600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3A4089A1-839E-464D-834A-EDEDF73F6909}"/>
              </a:ext>
            </a:extLst>
          </p:cNvPr>
          <p:cNvSpPr>
            <a:spLocks noChangeArrowheads="1"/>
          </p:cNvSpPr>
          <p:nvPr/>
        </p:nvSpPr>
        <p:spPr bwMode="auto">
          <a:xfrm>
            <a:off x="0" y="0"/>
            <a:ext cx="9144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565251" name="Text Box 3">
            <a:extLst>
              <a:ext uri="{FF2B5EF4-FFF2-40B4-BE49-F238E27FC236}">
                <a16:creationId xmlns:a16="http://schemas.microsoft.com/office/drawing/2014/main" id="{D02AF75B-4078-4C9B-B7CC-6F9D9413EB78}"/>
              </a:ext>
            </a:extLst>
          </p:cNvPr>
          <p:cNvSpPr txBox="1">
            <a:spLocks noChangeArrowheads="1"/>
          </p:cNvSpPr>
          <p:nvPr/>
        </p:nvSpPr>
        <p:spPr bwMode="auto">
          <a:xfrm>
            <a:off x="228600" y="329624"/>
            <a:ext cx="3767378" cy="584775"/>
          </a:xfrm>
          <a:prstGeom prst="rect">
            <a:avLst/>
          </a:prstGeom>
          <a:noFill/>
          <a:ln>
            <a:noFill/>
          </a:ln>
          <a:effectLst/>
        </p:spPr>
        <p:txBody>
          <a:bodyPr wrap="none">
            <a:spAutoFit/>
          </a:bodyPr>
          <a:lstStyle/>
          <a:p>
            <a:pPr>
              <a:defRPr/>
            </a:pPr>
            <a:r>
              <a:rPr lang="en-US" altLang="zh-CN" dirty="0">
                <a:latin typeface="微软雅黑" panose="020B0503020204020204" pitchFamily="34" charset="-122"/>
                <a:ea typeface="微软雅黑" panose="020B0503020204020204" pitchFamily="34" charset="-122"/>
              </a:rPr>
              <a:t>13.2  </a:t>
            </a:r>
            <a:r>
              <a:rPr lang="zh-CN" altLang="en-US" dirty="0">
                <a:latin typeface="微软雅黑" panose="020B0503020204020204" pitchFamily="34" charset="-122"/>
                <a:ea typeface="微软雅黑" panose="020B0503020204020204" pitchFamily="34" charset="-122"/>
              </a:rPr>
              <a:t>以太网帧结构</a:t>
            </a:r>
            <a:endParaRPr lang="en-US" altLang="zh-CN" dirty="0">
              <a:latin typeface="微软雅黑" panose="020B0503020204020204" pitchFamily="34" charset="-122"/>
              <a:ea typeface="微软雅黑" panose="020B0503020204020204" pitchFamily="34" charset="-122"/>
            </a:endParaRPr>
          </a:p>
        </p:txBody>
      </p:sp>
      <p:sp>
        <p:nvSpPr>
          <p:cNvPr id="29701" name="Text Box 4">
            <a:extLst>
              <a:ext uri="{FF2B5EF4-FFF2-40B4-BE49-F238E27FC236}">
                <a16:creationId xmlns:a16="http://schemas.microsoft.com/office/drawing/2014/main" id="{0A016508-4F0D-4A8A-BF72-8829B40B47D8}"/>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pic>
        <p:nvPicPr>
          <p:cNvPr id="9" name="Picture 6">
            <a:extLst>
              <a:ext uri="{FF2B5EF4-FFF2-40B4-BE49-F238E27FC236}">
                <a16:creationId xmlns:a16="http://schemas.microsoft.com/office/drawing/2014/main" id="{9258B786-6E07-4191-B260-FD39A1685D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809444"/>
            <a:ext cx="7924800" cy="2323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4">
            <a:extLst>
              <a:ext uri="{FF2B5EF4-FFF2-40B4-BE49-F238E27FC236}">
                <a16:creationId xmlns:a16="http://schemas.microsoft.com/office/drawing/2014/main" id="{DA6EA990-DE71-4794-B596-B8A7A04E17C8}"/>
              </a:ext>
            </a:extLst>
          </p:cNvPr>
          <p:cNvSpPr txBox="1">
            <a:spLocks noChangeArrowheads="1"/>
          </p:cNvSpPr>
          <p:nvPr/>
        </p:nvSpPr>
        <p:spPr bwMode="auto">
          <a:xfrm>
            <a:off x="3653863" y="3963272"/>
            <a:ext cx="22172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13.4  </a:t>
            </a:r>
            <a:r>
              <a:rPr lang="en-US" altLang="zh-CN" sz="1600" dirty="0">
                <a:latin typeface="Times New Roman" panose="02020603050405020304" pitchFamily="18" charset="0"/>
                <a:ea typeface="宋体" panose="02010600030101010101" pitchFamily="2" charset="-122"/>
              </a:rPr>
              <a:t>802.3</a:t>
            </a:r>
            <a:r>
              <a:rPr lang="zh-CN" altLang="en-US" sz="1600" dirty="0">
                <a:latin typeface="Times New Roman" panose="02020603050405020304" pitchFamily="18" charset="0"/>
                <a:ea typeface="宋体" panose="02010600030101010101" pitchFamily="2" charset="-122"/>
              </a:rPr>
              <a:t>的</a:t>
            </a:r>
            <a:r>
              <a:rPr lang="en-US" altLang="zh-CN" sz="1600" dirty="0">
                <a:latin typeface="Times New Roman" panose="02020603050405020304" pitchFamily="18" charset="0"/>
                <a:ea typeface="宋体" panose="02010600030101010101" pitchFamily="2" charset="-122"/>
              </a:rPr>
              <a:t>MAC</a:t>
            </a:r>
            <a:r>
              <a:rPr lang="zh-CN" altLang="en-US" sz="1600" dirty="0">
                <a:latin typeface="Times New Roman" panose="02020603050405020304" pitchFamily="18" charset="0"/>
                <a:ea typeface="宋体" panose="02010600030101010101" pitchFamily="2" charset="-122"/>
              </a:rPr>
              <a:t>帧</a:t>
            </a:r>
            <a:endParaRPr lang="en-US" altLang="zh-CN" sz="1600" dirty="0">
              <a:latin typeface="Times New Roman" panose="02020603050405020304" pitchFamily="18" charset="0"/>
              <a:ea typeface="宋体" panose="02010600030101010101" pitchFamily="2" charset="-122"/>
            </a:endParaRPr>
          </a:p>
        </p:txBody>
      </p:sp>
      <p:sp>
        <p:nvSpPr>
          <p:cNvPr id="2" name="矩形 1">
            <a:extLst>
              <a:ext uri="{FF2B5EF4-FFF2-40B4-BE49-F238E27FC236}">
                <a16:creationId xmlns:a16="http://schemas.microsoft.com/office/drawing/2014/main" id="{534B2267-0751-4ED2-ADDB-2D9E0749A723}"/>
              </a:ext>
            </a:extLst>
          </p:cNvPr>
          <p:cNvSpPr/>
          <p:nvPr/>
        </p:nvSpPr>
        <p:spPr>
          <a:xfrm>
            <a:off x="762000" y="4503581"/>
            <a:ext cx="7848600" cy="1526187"/>
          </a:xfrm>
          <a:prstGeom prst="rect">
            <a:avLst/>
          </a:prstGeom>
        </p:spPr>
        <p:txBody>
          <a:bodyPr wrap="square">
            <a:spAutoFit/>
          </a:bodyPr>
          <a:lstStyle/>
          <a:p>
            <a:pPr algn="just">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前同步码（</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字节）</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：以太网帧以前同步码字段开始，前</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7</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字节是</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交替出现的</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前导码</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，最后一个字节是</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帧前定界符</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，结构为</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10101011</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。前导码用于“唤醒”接收端，并将它们的时钟和发送方时钟同步。帧前定界符的最后两个比特警告接收端“重要的内容”就要到来了。前导码与帧前定界符在接收后不保留，也不计入帧首部长度。</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灯片编号占位符 1">
            <a:extLst>
              <a:ext uri="{FF2B5EF4-FFF2-40B4-BE49-F238E27FC236}">
                <a16:creationId xmlns:a16="http://schemas.microsoft.com/office/drawing/2014/main" id="{A1626733-A502-4C7F-A664-26369847F250}"/>
              </a:ext>
            </a:extLst>
          </p:cNvPr>
          <p:cNvSpPr>
            <a:spLocks noGrp="1"/>
          </p:cNvSpPr>
          <p:nvPr>
            <p:ph type="sldNum" sz="quarter" idx="10"/>
          </p:nvPr>
        </p:nvSpPr>
        <p:spPr>
          <a:xfrm>
            <a:off x="8382000" y="64008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075B3803-654E-45B4-8CF5-0A18479700C3}" type="slidenum">
              <a:rPr lang="en-US" altLang="zh-CN" sz="2000" smtClean="0">
                <a:solidFill>
                  <a:schemeClr val="bg2"/>
                </a:solidFill>
              </a:rPr>
              <a:pPr/>
              <a:t>7</a:t>
            </a:fld>
            <a:endParaRPr lang="en-US" altLang="zh-CN" sz="2000">
              <a:solidFill>
                <a:schemeClr val="bg2"/>
              </a:solidFill>
            </a:endParaRPr>
          </a:p>
        </p:txBody>
      </p:sp>
    </p:spTree>
    <p:extLst>
      <p:ext uri="{BB962C8B-B14F-4D97-AF65-F5344CB8AC3E}">
        <p14:creationId xmlns:p14="http://schemas.microsoft.com/office/powerpoint/2010/main" val="2715735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9" name="Rectangle 60">
            <a:extLst>
              <a:ext uri="{FF2B5EF4-FFF2-40B4-BE49-F238E27FC236}">
                <a16:creationId xmlns:a16="http://schemas.microsoft.com/office/drawing/2014/main" id="{6D55F5E3-6BFA-444A-99E4-A362CC3D4D48}"/>
              </a:ext>
            </a:extLst>
          </p:cNvPr>
          <p:cNvSpPr>
            <a:spLocks noGrp="1" noRot="1" noChangeArrowheads="1"/>
          </p:cNvSpPr>
          <p:nvPr>
            <p:ph type="body" idx="4294967295"/>
          </p:nvPr>
        </p:nvSpPr>
        <p:spPr bwMode="auto">
          <a:xfrm>
            <a:off x="876300" y="1143000"/>
            <a:ext cx="7391400" cy="5029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just">
              <a:lnSpc>
                <a:spcPct val="200000"/>
              </a:lnSpc>
              <a:buClr>
                <a:srgbClr val="FF0000"/>
              </a:buClr>
              <a:buSzPct val="80000"/>
              <a:buFont typeface="Wingdings" panose="05000000000000000000" pitchFamily="2" charset="2"/>
              <a:buChar char="u"/>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目的地址（</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字节）</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：目的端</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地址。当目的端收到一个以太网帧，帧的目的地址与目的端地址相同或是</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广播地址时，它都将该帧的数据字段内容传递给网络层；如果收到具有任何其他</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地址的帧，则丢弃之。</a:t>
            </a:r>
          </a:p>
          <a:p>
            <a:pPr algn="just">
              <a:lnSpc>
                <a:spcPct val="200000"/>
              </a:lnSpc>
              <a:buClr>
                <a:srgbClr val="FF0000"/>
              </a:buClr>
              <a:buSzPct val="80000"/>
              <a:buFont typeface="Wingdings" panose="05000000000000000000" pitchFamily="2" charset="2"/>
              <a:buChar char="u"/>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源地址（</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字节）</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：源端的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地址。</a:t>
            </a:r>
          </a:p>
          <a:p>
            <a:pPr algn="just">
              <a:lnSpc>
                <a:spcPct val="200000"/>
              </a:lnSpc>
              <a:buClr>
                <a:srgbClr val="FF0000"/>
              </a:buClr>
              <a:buSzPct val="80000"/>
              <a:buFont typeface="Wingdings" panose="05000000000000000000" pitchFamily="2" charset="2"/>
              <a:buChar char="u"/>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类型</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长度（</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字节）</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：类型字段定义以太网使用的网络层协议，长度字段表示数据字段包含的字节数。</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358775" algn="just">
              <a:lnSpc>
                <a:spcPct val="150000"/>
              </a:lnSpc>
              <a:buClr>
                <a:srgbClr val="FF0000"/>
              </a:buClr>
              <a:buSzPct val="80000"/>
              <a:buNone/>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0x0800    IPv4</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Internet Protocol Version 4</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358775" algn="just">
              <a:lnSpc>
                <a:spcPct val="150000"/>
              </a:lnSpc>
              <a:buClr>
                <a:srgbClr val="FF0000"/>
              </a:buClr>
              <a:buSzPct val="80000"/>
              <a:buNone/>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0x0806    ARP </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Address </a:t>
            </a:r>
            <a:r>
              <a:rPr lang="en-US" altLang="zh-CN" sz="1600" dirty="0" err="1">
                <a:latin typeface="微软雅黑" panose="020B0503020204020204" pitchFamily="34" charset="-122"/>
                <a:ea typeface="微软雅黑" panose="020B0503020204020204" pitchFamily="34" charset="-122"/>
                <a:cs typeface="Times New Roman" panose="02020603050405020304" pitchFamily="18" charset="0"/>
              </a:rPr>
              <a:t>Resulotion</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 Protocol</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marL="0" indent="358775" algn="just">
              <a:lnSpc>
                <a:spcPct val="150000"/>
              </a:lnSpc>
              <a:buClr>
                <a:srgbClr val="FF0000"/>
              </a:buClr>
              <a:buSzPct val="80000"/>
              <a:buNone/>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0x0835    RARP (</a:t>
            </a:r>
            <a:r>
              <a:rPr lang="en-US" altLang="zh-CN" sz="1600" dirty="0" err="1">
                <a:latin typeface="微软雅黑" panose="020B0503020204020204" pitchFamily="34" charset="-122"/>
                <a:ea typeface="微软雅黑" panose="020B0503020204020204" pitchFamily="34" charset="-122"/>
                <a:cs typeface="Times New Roman" panose="02020603050405020304" pitchFamily="18" charset="0"/>
              </a:rPr>
              <a:t>Resever</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 Address </a:t>
            </a:r>
            <a:r>
              <a:rPr lang="en-US" altLang="zh-CN" sz="1600" dirty="0" err="1">
                <a:latin typeface="微软雅黑" panose="020B0503020204020204" pitchFamily="34" charset="-122"/>
                <a:ea typeface="微软雅黑" panose="020B0503020204020204" pitchFamily="34" charset="-122"/>
                <a:cs typeface="Times New Roman" panose="02020603050405020304" pitchFamily="18" charset="0"/>
              </a:rPr>
              <a:t>Resulotion</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 Protocol)        </a:t>
            </a:r>
          </a:p>
          <a:p>
            <a:pPr marL="0" indent="358775" algn="just">
              <a:lnSpc>
                <a:spcPct val="150000"/>
              </a:lnSpc>
              <a:buClr>
                <a:srgbClr val="FF0000"/>
              </a:buClr>
              <a:buSzPct val="80000"/>
              <a:buNone/>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0x86DD   IPv6 (Internet Protocol Version 6)</a:t>
            </a:r>
          </a:p>
        </p:txBody>
      </p:sp>
      <p:sp>
        <p:nvSpPr>
          <p:cNvPr id="101380" name="灯片编号占位符 1">
            <a:extLst>
              <a:ext uri="{FF2B5EF4-FFF2-40B4-BE49-F238E27FC236}">
                <a16:creationId xmlns:a16="http://schemas.microsoft.com/office/drawing/2014/main" id="{2749CA75-68CC-4024-9673-0EE4DEC2DAA6}"/>
              </a:ext>
            </a:extLst>
          </p:cNvPr>
          <p:cNvSpPr>
            <a:spLocks noGrp="1"/>
          </p:cNvSpPr>
          <p:nvPr>
            <p:ph type="sldNum" sz="quarter" idx="10"/>
          </p:nvPr>
        </p:nvSpPr>
        <p:spPr>
          <a:xfrm>
            <a:off x="8382000" y="6400800"/>
            <a:ext cx="8382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1991270D-ED29-4A5A-A129-29CF71173326}" type="slidenum">
              <a:rPr lang="en-US" altLang="zh-CN" sz="2000" smtClean="0">
                <a:solidFill>
                  <a:schemeClr val="bg2"/>
                </a:solidFill>
              </a:rPr>
              <a:pPr/>
              <a:t>8</a:t>
            </a:fld>
            <a:endParaRPr lang="en-US" altLang="zh-CN" sz="2000">
              <a:solidFill>
                <a:schemeClr val="bg2"/>
              </a:solidFill>
            </a:endParaRPr>
          </a:p>
        </p:txBody>
      </p:sp>
    </p:spTree>
    <p:extLst>
      <p:ext uri="{BB962C8B-B14F-4D97-AF65-F5344CB8AC3E}">
        <p14:creationId xmlns:p14="http://schemas.microsoft.com/office/powerpoint/2010/main" val="121184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1">
            <a:extLst>
              <a:ext uri="{FF2B5EF4-FFF2-40B4-BE49-F238E27FC236}">
                <a16:creationId xmlns:a16="http://schemas.microsoft.com/office/drawing/2014/main" id="{667D9CF2-3073-46B8-A49E-74C30BE89F88}"/>
              </a:ext>
            </a:extLst>
          </p:cNvPr>
          <p:cNvSpPr>
            <a:spLocks noGrp="1"/>
          </p:cNvSpPr>
          <p:nvPr>
            <p:ph type="sldNum" sz="quarter" idx="10"/>
          </p:nvPr>
        </p:nvSpPr>
        <p:spPr>
          <a:xfrm>
            <a:off x="8382000" y="6400800"/>
            <a:ext cx="8382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CF021680-A3C0-4C2D-9179-E7D0AD751B8A}" type="slidenum">
              <a:rPr lang="en-US" altLang="zh-CN" sz="2000" smtClean="0">
                <a:solidFill>
                  <a:schemeClr val="bg2"/>
                </a:solidFill>
              </a:rPr>
              <a:pPr/>
              <a:t>9</a:t>
            </a:fld>
            <a:endParaRPr lang="en-US" altLang="zh-CN" sz="2000">
              <a:solidFill>
                <a:schemeClr val="bg2"/>
              </a:solidFill>
            </a:endParaRPr>
          </a:p>
        </p:txBody>
      </p:sp>
      <p:sp>
        <p:nvSpPr>
          <p:cNvPr id="30725" name="Text Box 4">
            <a:extLst>
              <a:ext uri="{FF2B5EF4-FFF2-40B4-BE49-F238E27FC236}">
                <a16:creationId xmlns:a16="http://schemas.microsoft.com/office/drawing/2014/main" id="{41F41806-8833-4751-B648-BAB200BA0C6A}"/>
              </a:ext>
            </a:extLst>
          </p:cNvPr>
          <p:cNvSpPr txBox="1">
            <a:spLocks noChangeArrowheads="1"/>
          </p:cNvSpPr>
          <p:nvPr/>
        </p:nvSpPr>
        <p:spPr bwMode="auto">
          <a:xfrm>
            <a:off x="2796769" y="5818883"/>
            <a:ext cx="35504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1600" dirty="0">
                <a:solidFill>
                  <a:schemeClr val="folHlink"/>
                </a:solidFill>
                <a:latin typeface="Times New Roman" panose="02020603050405020304" pitchFamily="18" charset="0"/>
                <a:ea typeface="宋体" panose="02010600030101010101" pitchFamily="2" charset="-122"/>
              </a:rPr>
              <a:t>Figure 13.5  </a:t>
            </a:r>
            <a:r>
              <a:rPr lang="zh-CN" altLang="en-US" sz="1600" dirty="0">
                <a:latin typeface="Times New Roman" panose="02020603050405020304" pitchFamily="18" charset="0"/>
                <a:ea typeface="宋体" panose="02010600030101010101" pitchFamily="2" charset="-122"/>
              </a:rPr>
              <a:t>帧的最小长度和最大长度</a:t>
            </a:r>
            <a:endParaRPr lang="en-US" altLang="zh-CN" sz="1600" dirty="0">
              <a:latin typeface="Times New Roman" panose="02020603050405020304" pitchFamily="18" charset="0"/>
              <a:ea typeface="宋体" panose="02010600030101010101" pitchFamily="2" charset="-122"/>
            </a:endParaRPr>
          </a:p>
        </p:txBody>
      </p:sp>
      <p:pic>
        <p:nvPicPr>
          <p:cNvPr id="30727" name="Picture 6">
            <a:extLst>
              <a:ext uri="{FF2B5EF4-FFF2-40B4-BE49-F238E27FC236}">
                <a16:creationId xmlns:a16="http://schemas.microsoft.com/office/drawing/2014/main" id="{4A291E10-A4E8-44EC-8C82-5BAAF0DE7E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9649" y="3429000"/>
            <a:ext cx="7124701" cy="2220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60">
            <a:extLst>
              <a:ext uri="{FF2B5EF4-FFF2-40B4-BE49-F238E27FC236}">
                <a16:creationId xmlns:a16="http://schemas.microsoft.com/office/drawing/2014/main" id="{67A46C6F-4D31-4451-AE61-A138550A1985}"/>
              </a:ext>
            </a:extLst>
          </p:cNvPr>
          <p:cNvSpPr txBox="1">
            <a:spLocks noRot="1" noChangeArrowheads="1"/>
          </p:cNvSpPr>
          <p:nvPr/>
        </p:nvSpPr>
        <p:spPr bwMode="auto">
          <a:xfrm>
            <a:off x="638174" y="1143000"/>
            <a:ext cx="7867650" cy="2133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buClr>
                <a:srgbClr val="FF0000"/>
              </a:buClr>
              <a:buSzPct val="80000"/>
              <a:buFont typeface="Wingdings" panose="05000000000000000000" pitchFamily="2" charset="2"/>
              <a:buChar char="u"/>
            </a:pP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数据字段（</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46~1500</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字节）</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：以太网最大帧长是</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1518</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字节，最小帧长是</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64</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字节。这意味着</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数据报不能超过</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1500</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字节，否则必须进行分片；</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数据报也不能小于</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46</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字节，否则必须被填充到</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46</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字节。</a:t>
            </a:r>
            <a:endParaRPr lang="en-US" altLang="zh-CN" sz="1600" b="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buClr>
                <a:srgbClr val="FF0000"/>
              </a:buClr>
              <a:buSzPct val="80000"/>
              <a:buFont typeface="Wingdings" panose="05000000000000000000" pitchFamily="2" charset="2"/>
              <a:buChar char="u"/>
            </a:pP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字节）</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：循环冗余检测</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字段用于判断帧传输是否出错，校验包括目的地址、源地址、长度与数据，前导码与帧前定界符不进行校验。</a:t>
            </a:r>
          </a:p>
          <a:p>
            <a:pPr algn="just">
              <a:lnSpc>
                <a:spcPct val="150000"/>
              </a:lnSpc>
              <a:buClr>
                <a:srgbClr val="FF0000"/>
              </a:buClr>
              <a:buSzPct val="80000"/>
              <a:buFont typeface="Wingdings" panose="05000000000000000000" pitchFamily="2" charset="2"/>
              <a:buChar char="u"/>
            </a:pPr>
            <a:endParaRPr lang="zh-CN" altLang="en-US" sz="1600" b="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1">
            <a:extLst>
              <a:ext uri="{FF2B5EF4-FFF2-40B4-BE49-F238E27FC236}">
                <a16:creationId xmlns:a16="http://schemas.microsoft.com/office/drawing/2014/main" id="{81F7F6D4-6440-4726-8345-6B79123CB0BE}"/>
              </a:ext>
            </a:extLst>
          </p:cNvPr>
          <p:cNvSpPr txBox="1">
            <a:spLocks noChangeArrowheads="1"/>
          </p:cNvSpPr>
          <p:nvPr/>
        </p:nvSpPr>
        <p:spPr bwMode="auto">
          <a:xfrm>
            <a:off x="2925217" y="81968"/>
            <a:ext cx="54104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r>
              <a:rPr lang="zh-CN" altLang="en-US" sz="2800" dirty="0">
                <a:solidFill>
                  <a:schemeClr val="bg1"/>
                </a:solidFill>
                <a:latin typeface="微软雅黑" panose="020B0503020204020204" pitchFamily="34" charset="-122"/>
                <a:ea typeface="微软雅黑" panose="020B0503020204020204" pitchFamily="34" charset="-122"/>
              </a:rPr>
              <a:t>以太网物理地址（</a:t>
            </a:r>
            <a:r>
              <a:rPr lang="en-US" altLang="zh-CN" sz="2800" dirty="0">
                <a:solidFill>
                  <a:schemeClr val="bg1"/>
                </a:solidFill>
                <a:latin typeface="微软雅黑" panose="020B0503020204020204" pitchFamily="34" charset="-122"/>
                <a:ea typeface="微软雅黑" panose="020B0503020204020204" pitchFamily="34" charset="-122"/>
              </a:rPr>
              <a:t>MAC</a:t>
            </a:r>
            <a:r>
              <a:rPr lang="zh-CN" altLang="en-US" sz="2800" dirty="0">
                <a:solidFill>
                  <a:schemeClr val="bg1"/>
                </a:solidFill>
                <a:latin typeface="微软雅黑" panose="020B0503020204020204" pitchFamily="34" charset="-122"/>
                <a:ea typeface="微软雅黑" panose="020B0503020204020204" pitchFamily="34" charset="-122"/>
              </a:rPr>
              <a:t>地址）</a:t>
            </a:r>
          </a:p>
        </p:txBody>
      </p:sp>
      <p:sp>
        <p:nvSpPr>
          <p:cNvPr id="113" name="灯片编号占位符 1">
            <a:extLst>
              <a:ext uri="{FF2B5EF4-FFF2-40B4-BE49-F238E27FC236}">
                <a16:creationId xmlns:a16="http://schemas.microsoft.com/office/drawing/2014/main" id="{54260E09-0697-4963-809D-FCFF01F1D099}"/>
              </a:ext>
            </a:extLst>
          </p:cNvPr>
          <p:cNvSpPr>
            <a:spLocks noGrp="1"/>
          </p:cNvSpPr>
          <p:nvPr>
            <p:ph type="sldNum" sz="quarter" idx="10"/>
          </p:nvPr>
        </p:nvSpPr>
        <p:spPr>
          <a:xfrm>
            <a:off x="8305800" y="6400800"/>
            <a:ext cx="990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C42F15D5-9803-4671-A8F8-AB2DA78692AE}" type="slidenum">
              <a:rPr lang="en-US" altLang="zh-CN" sz="2000" smtClean="0">
                <a:solidFill>
                  <a:schemeClr val="bg2"/>
                </a:solidFill>
              </a:rPr>
              <a:pPr/>
              <a:t>10</a:t>
            </a:fld>
            <a:endParaRPr lang="en-US" altLang="zh-CN" sz="2000">
              <a:solidFill>
                <a:schemeClr val="bg2"/>
              </a:solidFill>
            </a:endParaRPr>
          </a:p>
        </p:txBody>
      </p:sp>
      <p:sp>
        <p:nvSpPr>
          <p:cNvPr id="44" name="矩形 43">
            <a:extLst>
              <a:ext uri="{FF2B5EF4-FFF2-40B4-BE49-F238E27FC236}">
                <a16:creationId xmlns:a16="http://schemas.microsoft.com/office/drawing/2014/main" id="{32B3A353-297C-47AB-948E-01A81BAC8689}"/>
              </a:ext>
            </a:extLst>
          </p:cNvPr>
          <p:cNvSpPr/>
          <p:nvPr/>
        </p:nvSpPr>
        <p:spPr>
          <a:xfrm>
            <a:off x="761716" y="971011"/>
            <a:ext cx="7544084" cy="1944763"/>
          </a:xfrm>
          <a:prstGeom prst="rect">
            <a:avLst/>
          </a:prstGeom>
        </p:spPr>
        <p:txBody>
          <a:bodyPr wrap="square">
            <a:spAutoFit/>
          </a:bodyPr>
          <a:lstStyle/>
          <a:p>
            <a:pPr marL="342900" indent="-342900" algn="just">
              <a:lnSpc>
                <a:spcPct val="150000"/>
              </a:lnSpc>
              <a:spcBef>
                <a:spcPct val="20000"/>
              </a:spcBef>
              <a:buClr>
                <a:srgbClr val="FF0000"/>
              </a:buClr>
              <a:buSzPct val="80000"/>
              <a:buFont typeface="Wingdings" panose="05000000000000000000" pitchFamily="2" charset="2"/>
              <a:buChar char="u"/>
              <a:defRPr/>
            </a:pP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以太网物理地址长度为</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48</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位，在网卡生产过程中将地址写入网卡的只读存储器（</a:t>
            </a: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EPROM</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），因此每块网卡有一个固定不变的物理地址。在网络底层的物理传输过程中，是通过物理地址来识别主机的，它一般是全球唯一的。</a:t>
            </a:r>
          </a:p>
          <a:p>
            <a:pPr marL="342900" indent="-342900" algn="just">
              <a:lnSpc>
                <a:spcPct val="150000"/>
              </a:lnSpc>
              <a:spcBef>
                <a:spcPct val="20000"/>
              </a:spcBef>
              <a:buClr>
                <a:srgbClr val="FF0000"/>
              </a:buClr>
              <a:buSzPct val="80000"/>
              <a:buFont typeface="Wingdings" panose="05000000000000000000" pitchFamily="2" charset="2"/>
              <a:buChar char="u"/>
              <a:defRPr/>
            </a:pPr>
            <a:r>
              <a:rPr lang="en-US" altLang="zh-CN" sz="1600" b="0" dirty="0">
                <a:latin typeface="微软雅黑" panose="020B0503020204020204" pitchFamily="34" charset="-122"/>
                <a:ea typeface="微软雅黑" panose="020B0503020204020204" pitchFamily="34" charset="-122"/>
                <a:cs typeface="Times New Roman" panose="02020603050405020304" pitchFamily="18" charset="0"/>
              </a:rPr>
              <a:t>IEEE</a:t>
            </a:r>
            <a:r>
              <a:rPr lang="zh-CN" altLang="en-US" sz="1600" b="0" dirty="0">
                <a:latin typeface="微软雅黑" panose="020B0503020204020204" pitchFamily="34" charset="-122"/>
                <a:ea typeface="微软雅黑" panose="020B0503020204020204" pitchFamily="34" charset="-122"/>
                <a:cs typeface="Times New Roman" panose="02020603050405020304" pitchFamily="18" charset="0"/>
              </a:rPr>
              <a:t>注册管理委员会为每个网卡生产商分配以太网地址前三字节，即公司标识又称机构（组织）唯一标识符，后三字节由网卡厂商自行分配。</a:t>
            </a:r>
          </a:p>
        </p:txBody>
      </p:sp>
      <p:graphicFrame>
        <p:nvGraphicFramePr>
          <p:cNvPr id="47" name="Object 8">
            <a:extLst>
              <a:ext uri="{FF2B5EF4-FFF2-40B4-BE49-F238E27FC236}">
                <a16:creationId xmlns:a16="http://schemas.microsoft.com/office/drawing/2014/main" id="{7E909AE6-4DFC-415B-87C6-938C8F39CE4A}"/>
              </a:ext>
            </a:extLst>
          </p:cNvPr>
          <p:cNvGraphicFramePr/>
          <p:nvPr>
            <p:extLst>
              <p:ext uri="{D42A27DB-BD31-4B8C-83A1-F6EECF244321}">
                <p14:modId xmlns:p14="http://schemas.microsoft.com/office/powerpoint/2010/main" val="2887876507"/>
              </p:ext>
            </p:extLst>
          </p:nvPr>
        </p:nvGraphicFramePr>
        <p:xfrm>
          <a:off x="2286000" y="3124200"/>
          <a:ext cx="4343400" cy="3009817"/>
        </p:xfrm>
        <a:graphic>
          <a:graphicData uri="http://schemas.openxmlformats.org/presentationml/2006/ole">
            <mc:AlternateContent xmlns:mc="http://schemas.openxmlformats.org/markup-compatibility/2006">
              <mc:Choice xmlns:v="urn:schemas-microsoft-com:vml" Requires="v">
                <p:oleObj spid="_x0000_s1057" name="Visio" r:id="rId4" imgW="2895458" imgH="1920098" progId="Visio.Drawing.11">
                  <p:embed/>
                </p:oleObj>
              </mc:Choice>
              <mc:Fallback>
                <p:oleObj name="Visio" r:id="rId4" imgW="2895458" imgH="1920098" progId="Visio.Drawing.11">
                  <p:embed/>
                  <p:pic>
                    <p:nvPicPr>
                      <p:cNvPr id="15" name="Object 8">
                        <a:extLst>
                          <a:ext uri="{FF2B5EF4-FFF2-40B4-BE49-F238E27FC236}">
                            <a16:creationId xmlns:a16="http://schemas.microsoft.com/office/drawing/2014/main" id="{C1E12E9F-D41E-414B-9C7F-8D5F7F972FCA}"/>
                          </a:ext>
                        </a:extLst>
                      </p:cNvPr>
                      <p:cNvPicPr/>
                      <p:nvPr/>
                    </p:nvPicPr>
                    <p:blipFill>
                      <a:blip r:embed="rId5"/>
                      <a:stretch>
                        <a:fillRect/>
                      </a:stretch>
                    </p:blipFill>
                    <p:spPr>
                      <a:xfrm>
                        <a:off x="2286000" y="3124200"/>
                        <a:ext cx="4343400" cy="3009817"/>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690971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FCAF4F5-7E4F-4123-8377-45DB29DEEA31}"/>
              </a:ext>
            </a:extLst>
          </p:cNvPr>
          <p:cNvSpPr>
            <a:spLocks noGrp="1"/>
          </p:cNvSpPr>
          <p:nvPr>
            <p:ph type="sldNum" sz="quarter" idx="10"/>
          </p:nvPr>
        </p:nvSpPr>
        <p:spPr/>
        <p:txBody>
          <a:bodyPr/>
          <a:lstStyle/>
          <a:p>
            <a:pPr>
              <a:defRPr/>
            </a:pPr>
            <a:r>
              <a:rPr lang="en-US" altLang="zh-CN"/>
              <a:t>13.</a:t>
            </a:r>
            <a:fld id="{50167F0C-C953-4DC0-99BC-7424AE0FD0EE}" type="slidenum">
              <a:rPr lang="en-US" altLang="zh-CN" smtClean="0"/>
              <a:pPr>
                <a:defRPr/>
              </a:pPr>
              <a:t>11</a:t>
            </a:fld>
            <a:endParaRPr lang="en-US" altLang="zh-CN"/>
          </a:p>
        </p:txBody>
      </p:sp>
      <p:pic>
        <p:nvPicPr>
          <p:cNvPr id="3" name="图片 2">
            <a:extLst>
              <a:ext uri="{FF2B5EF4-FFF2-40B4-BE49-F238E27FC236}">
                <a16:creationId xmlns:a16="http://schemas.microsoft.com/office/drawing/2014/main" id="{7EBA90E2-6BD4-403C-A40F-EB22E53ADBDE}"/>
              </a:ext>
            </a:extLst>
          </p:cNvPr>
          <p:cNvPicPr>
            <a:picLocks noChangeAspect="1"/>
          </p:cNvPicPr>
          <p:nvPr/>
        </p:nvPicPr>
        <p:blipFill>
          <a:blip r:embed="rId2"/>
          <a:stretch>
            <a:fillRect/>
          </a:stretch>
        </p:blipFill>
        <p:spPr>
          <a:xfrm>
            <a:off x="1905000" y="3332954"/>
            <a:ext cx="5867400" cy="3260092"/>
          </a:xfrm>
          <a:prstGeom prst="rect">
            <a:avLst/>
          </a:prstGeom>
        </p:spPr>
      </p:pic>
      <p:sp>
        <p:nvSpPr>
          <p:cNvPr id="4" name="矩形 3">
            <a:extLst>
              <a:ext uri="{FF2B5EF4-FFF2-40B4-BE49-F238E27FC236}">
                <a16:creationId xmlns:a16="http://schemas.microsoft.com/office/drawing/2014/main" id="{A7B956A0-6BA1-42FA-AECA-DE5BD3898DA4}"/>
              </a:ext>
            </a:extLst>
          </p:cNvPr>
          <p:cNvSpPr/>
          <p:nvPr/>
        </p:nvSpPr>
        <p:spPr>
          <a:xfrm>
            <a:off x="723900" y="870079"/>
            <a:ext cx="7696200" cy="1670073"/>
          </a:xfrm>
          <a:prstGeom prst="rect">
            <a:avLst/>
          </a:prstGeom>
        </p:spPr>
        <p:txBody>
          <a:bodyPr wrap="square">
            <a:spAutoFit/>
          </a:bodyPr>
          <a:lstStyle/>
          <a:p>
            <a:pPr marL="285750" indent="-285750" algn="just">
              <a:lnSpc>
                <a:spcPct val="150000"/>
              </a:lnSpc>
              <a:buClr>
                <a:srgbClr val="FF0000"/>
              </a:buClr>
              <a:buSzPct val="80000"/>
              <a:buFont typeface="Wingdings" panose="05000000000000000000" pitchFamily="2" charset="2"/>
              <a:buChar char="u"/>
            </a:pPr>
            <a:r>
              <a:rPr lang="zh-CN" altLang="en-US" sz="1400" dirty="0">
                <a:latin typeface="微软雅黑" panose="020B0503020204020204" pitchFamily="34" charset="-122"/>
                <a:ea typeface="微软雅黑" panose="020B0503020204020204" pitchFamily="34" charset="-122"/>
              </a:rPr>
              <a:t>组织唯一标识符（OUI）</a:t>
            </a:r>
            <a:r>
              <a:rPr lang="zh-CN" altLang="en-US" sz="1400" b="0" dirty="0">
                <a:latin typeface="微软雅黑" panose="020B0503020204020204" pitchFamily="34" charset="-122"/>
                <a:ea typeface="微软雅黑" panose="020B0503020204020204" pitchFamily="34" charset="-122"/>
              </a:rPr>
              <a:t>： 24位，由IEEE分配给厂商。厂商用剩下的24位（EUI，扩展唯一标识符）为其生产的每个网卡分配一个全球唯一的全局管理地址。</a:t>
            </a:r>
            <a:endParaRPr lang="en-US" altLang="zh-CN" sz="1400" b="0" dirty="0">
              <a:latin typeface="微软雅黑" panose="020B0503020204020204" pitchFamily="34" charset="-122"/>
              <a:ea typeface="微软雅黑" panose="020B0503020204020204" pitchFamily="34" charset="-122"/>
            </a:endParaRPr>
          </a:p>
          <a:p>
            <a:pPr marL="285750" indent="-285750" algn="just">
              <a:lnSpc>
                <a:spcPct val="150000"/>
              </a:lnSpc>
              <a:buClr>
                <a:srgbClr val="FF0000"/>
              </a:buClr>
              <a:buSzPct val="80000"/>
              <a:buFont typeface="Wingdings" panose="05000000000000000000" pitchFamily="2" charset="2"/>
              <a:buChar char="u"/>
            </a:pPr>
            <a:r>
              <a:rPr lang="zh-CN" altLang="en-US" sz="1400" dirty="0">
                <a:latin typeface="微软雅黑" panose="020B0503020204020204" pitchFamily="34" charset="-122"/>
                <a:ea typeface="微软雅黑" panose="020B0503020204020204" pitchFamily="34" charset="-122"/>
              </a:rPr>
              <a:t>I/G（Individual/Group）</a:t>
            </a:r>
            <a:r>
              <a:rPr lang="zh-CN" altLang="en-US" sz="1400" b="0" dirty="0">
                <a:latin typeface="微软雅黑" panose="020B0503020204020204" pitchFamily="34" charset="-122"/>
                <a:ea typeface="微软雅黑" panose="020B0503020204020204" pitchFamily="34" charset="-122"/>
              </a:rPr>
              <a:t>：I/G=0代表单播地址，I/G=1代表多播地址。</a:t>
            </a:r>
            <a:endParaRPr lang="en-US" altLang="zh-CN" sz="1400" b="0" dirty="0">
              <a:latin typeface="微软雅黑" panose="020B0503020204020204" pitchFamily="34" charset="-122"/>
              <a:ea typeface="微软雅黑" panose="020B0503020204020204" pitchFamily="34" charset="-122"/>
            </a:endParaRPr>
          </a:p>
          <a:p>
            <a:pPr marL="285750" indent="-285750" algn="just">
              <a:lnSpc>
                <a:spcPct val="150000"/>
              </a:lnSpc>
              <a:buClr>
                <a:srgbClr val="FF0000"/>
              </a:buClr>
              <a:buSzPct val="80000"/>
              <a:buFont typeface="Wingdings" panose="05000000000000000000" pitchFamily="2" charset="2"/>
              <a:buChar char="u"/>
            </a:pPr>
            <a:r>
              <a:rPr lang="zh-CN" altLang="en-US" sz="1400" dirty="0">
                <a:latin typeface="微软雅黑" panose="020B0503020204020204" pitchFamily="34" charset="-122"/>
                <a:ea typeface="微软雅黑" panose="020B0503020204020204" pitchFamily="34" charset="-122"/>
              </a:rPr>
              <a:t>G/L（Global/Local，也称U/L位）</a:t>
            </a:r>
            <a:r>
              <a:rPr lang="zh-CN" altLang="en-US" sz="1400" b="0" dirty="0">
                <a:latin typeface="微软雅黑" panose="020B0503020204020204" pitchFamily="34" charset="-122"/>
                <a:ea typeface="微软雅黑" panose="020B0503020204020204" pitchFamily="34" charset="-122"/>
              </a:rPr>
              <a:t>：G/L=0表示全球唯一的全局管理地址，由IEEE分配；G/L=1表示本地管理地址，是网络管理员为了加强对网络管理而指定的地址。</a:t>
            </a:r>
          </a:p>
        </p:txBody>
      </p:sp>
      <p:graphicFrame>
        <p:nvGraphicFramePr>
          <p:cNvPr id="5" name="表格 4">
            <a:extLst>
              <a:ext uri="{FF2B5EF4-FFF2-40B4-BE49-F238E27FC236}">
                <a16:creationId xmlns:a16="http://schemas.microsoft.com/office/drawing/2014/main" id="{52FE0598-751A-4B09-8CF0-21345EB890B5}"/>
              </a:ext>
            </a:extLst>
          </p:cNvPr>
          <p:cNvGraphicFramePr>
            <a:graphicFrameLocks noGrp="1"/>
          </p:cNvGraphicFramePr>
          <p:nvPr>
            <p:extLst>
              <p:ext uri="{D42A27DB-BD31-4B8C-83A1-F6EECF244321}">
                <p14:modId xmlns:p14="http://schemas.microsoft.com/office/powerpoint/2010/main" val="4135199229"/>
              </p:ext>
            </p:extLst>
          </p:nvPr>
        </p:nvGraphicFramePr>
        <p:xfrm>
          <a:off x="2133600" y="2604778"/>
          <a:ext cx="5334000" cy="741680"/>
        </p:xfrm>
        <a:graphic>
          <a:graphicData uri="http://schemas.openxmlformats.org/drawingml/2006/table">
            <a:tbl>
              <a:tblPr firstRow="1" bandRow="1">
                <a:tableStyleId>{93296810-A885-4BE3-A3E7-6D5BEEA58F35}</a:tableStyleId>
              </a:tblPr>
              <a:tblGrid>
                <a:gridCol w="1333500">
                  <a:extLst>
                    <a:ext uri="{9D8B030D-6E8A-4147-A177-3AD203B41FA5}">
                      <a16:colId xmlns:a16="http://schemas.microsoft.com/office/drawing/2014/main" val="36751953"/>
                    </a:ext>
                  </a:extLst>
                </a:gridCol>
                <a:gridCol w="1333500">
                  <a:extLst>
                    <a:ext uri="{9D8B030D-6E8A-4147-A177-3AD203B41FA5}">
                      <a16:colId xmlns:a16="http://schemas.microsoft.com/office/drawing/2014/main" val="3064018996"/>
                    </a:ext>
                  </a:extLst>
                </a:gridCol>
                <a:gridCol w="1333500">
                  <a:extLst>
                    <a:ext uri="{9D8B030D-6E8A-4147-A177-3AD203B41FA5}">
                      <a16:colId xmlns:a16="http://schemas.microsoft.com/office/drawing/2014/main" val="4208403614"/>
                    </a:ext>
                  </a:extLst>
                </a:gridCol>
                <a:gridCol w="1333500">
                  <a:extLst>
                    <a:ext uri="{9D8B030D-6E8A-4147-A177-3AD203B41FA5}">
                      <a16:colId xmlns:a16="http://schemas.microsoft.com/office/drawing/2014/main" val="3486367937"/>
                    </a:ext>
                  </a:extLst>
                </a:gridCol>
              </a:tblGrid>
              <a:tr h="370840">
                <a:tc gridSpan="3">
                  <a:txBody>
                    <a:bodyPr/>
                    <a:lstStyle/>
                    <a:p>
                      <a:pPr algn="ctr"/>
                      <a:r>
                        <a:rPr lang="zh-CN" altLang="en-US" sz="1200" dirty="0">
                          <a:latin typeface="微软雅黑" panose="020B0503020204020204" pitchFamily="34" charset="-122"/>
                          <a:ea typeface="微软雅黑" panose="020B0503020204020204" pitchFamily="34" charset="-122"/>
                        </a:rPr>
                        <a:t>组织唯一标识符 </a:t>
                      </a:r>
                      <a:r>
                        <a:rPr lang="en-US" altLang="zh-CN" sz="1200" dirty="0">
                          <a:latin typeface="微软雅黑" panose="020B0503020204020204" pitchFamily="34" charset="-122"/>
                          <a:ea typeface="微软雅黑" panose="020B0503020204020204" pitchFamily="34" charset="-122"/>
                        </a:rPr>
                        <a:t>OUI  24bit</a:t>
                      </a:r>
                      <a:endParaRPr lang="zh-CN" altLang="en-US" sz="1200" dirty="0">
                        <a:latin typeface="微软雅黑" panose="020B0503020204020204" pitchFamily="34" charset="-122"/>
                        <a:ea typeface="微软雅黑" panose="020B0503020204020204" pitchFamily="34" charset="-122"/>
                      </a:endParaRPr>
                    </a:p>
                  </a:txBody>
                  <a:tcPr anchor="ctr">
                    <a:solidFill>
                      <a:srgbClr val="82A5D0"/>
                    </a:solidFill>
                  </a:tcPr>
                </a:tc>
                <a:tc hMerge="1">
                  <a:txBody>
                    <a:bodyPr/>
                    <a:lstStyle/>
                    <a:p>
                      <a:endParaRPr lang="zh-CN" altLang="en-US" dirty="0"/>
                    </a:p>
                  </a:txBody>
                  <a:tcPr/>
                </a:tc>
                <a:tc hMerge="1">
                  <a:txBody>
                    <a:bodyPr/>
                    <a:lstStyle/>
                    <a:p>
                      <a:endParaRPr lang="zh-CN" altLang="en-US" dirty="0"/>
                    </a:p>
                  </a:txBody>
                  <a:tcPr/>
                </a:tc>
                <a:tc>
                  <a:txBody>
                    <a:bodyPr/>
                    <a:lstStyle/>
                    <a:p>
                      <a:pPr algn="ctr"/>
                      <a:r>
                        <a:rPr lang="zh-CN" altLang="en-US" sz="1200" dirty="0">
                          <a:latin typeface="微软雅黑" panose="020B0503020204020204" pitchFamily="34" charset="-122"/>
                          <a:ea typeface="微软雅黑" panose="020B0503020204020204" pitchFamily="34" charset="-122"/>
                        </a:rPr>
                        <a:t>厂商分配 </a:t>
                      </a:r>
                      <a:r>
                        <a:rPr lang="en-US" altLang="zh-CN" sz="1200" dirty="0">
                          <a:latin typeface="微软雅黑" panose="020B0503020204020204" pitchFamily="34" charset="-122"/>
                          <a:ea typeface="微软雅黑" panose="020B0503020204020204" pitchFamily="34" charset="-122"/>
                        </a:rPr>
                        <a:t>EUI</a:t>
                      </a:r>
                      <a:endParaRPr lang="zh-CN" altLang="en-US" sz="1200" dirty="0">
                        <a:latin typeface="微软雅黑" panose="020B0503020204020204" pitchFamily="34" charset="-122"/>
                        <a:ea typeface="微软雅黑" panose="020B0503020204020204" pitchFamily="34" charset="-122"/>
                      </a:endParaRPr>
                    </a:p>
                  </a:txBody>
                  <a:tcPr anchor="ctr">
                    <a:solidFill>
                      <a:srgbClr val="82A5D0"/>
                    </a:solidFill>
                  </a:tcPr>
                </a:tc>
                <a:extLst>
                  <a:ext uri="{0D108BD9-81ED-4DB2-BD59-A6C34878D82A}">
                    <a16:rowId xmlns:a16="http://schemas.microsoft.com/office/drawing/2014/main" val="1726871018"/>
                  </a:ext>
                </a:extLst>
              </a:tr>
              <a:tr h="370840">
                <a:tc>
                  <a:txBody>
                    <a:bodyPr/>
                    <a:lstStyle/>
                    <a:p>
                      <a:pPr algn="ctr"/>
                      <a:r>
                        <a:rPr lang="en-US" altLang="zh-CN" sz="1200" dirty="0">
                          <a:latin typeface="微软雅黑" panose="020B0503020204020204" pitchFamily="34" charset="-122"/>
                          <a:ea typeface="微软雅黑" panose="020B0503020204020204" pitchFamily="34" charset="-122"/>
                        </a:rPr>
                        <a:t>I/G</a:t>
                      </a:r>
                      <a:endParaRPr lang="zh-CN" altLang="en-US" sz="1200" dirty="0">
                        <a:latin typeface="微软雅黑" panose="020B0503020204020204" pitchFamily="34" charset="-122"/>
                        <a:ea typeface="微软雅黑" panose="020B0503020204020204" pitchFamily="34" charset="-122"/>
                      </a:endParaRPr>
                    </a:p>
                  </a:txBody>
                  <a:tcPr anchor="ctr">
                    <a:solidFill>
                      <a:srgbClr val="CCECFF"/>
                    </a:solidFill>
                  </a:tcPr>
                </a:tc>
                <a:tc>
                  <a:txBody>
                    <a:bodyPr/>
                    <a:lstStyle/>
                    <a:p>
                      <a:pPr algn="ctr"/>
                      <a:r>
                        <a:rPr lang="en-US" altLang="zh-CN" sz="1200" dirty="0">
                          <a:latin typeface="微软雅黑" panose="020B0503020204020204" pitchFamily="34" charset="-122"/>
                          <a:ea typeface="微软雅黑" panose="020B0503020204020204" pitchFamily="34" charset="-122"/>
                        </a:rPr>
                        <a:t>G/L</a:t>
                      </a:r>
                      <a:endParaRPr lang="zh-CN" altLang="en-US" sz="1200" dirty="0">
                        <a:latin typeface="微软雅黑" panose="020B0503020204020204" pitchFamily="34" charset="-122"/>
                        <a:ea typeface="微软雅黑" panose="020B0503020204020204" pitchFamily="34" charset="-122"/>
                      </a:endParaRPr>
                    </a:p>
                  </a:txBody>
                  <a:tcPr anchor="ctr">
                    <a:solidFill>
                      <a:srgbClr val="CCECFF"/>
                    </a:solidFill>
                  </a:tcPr>
                </a:tc>
                <a:tc>
                  <a:txBody>
                    <a:bodyPr/>
                    <a:lstStyle/>
                    <a:p>
                      <a:pPr algn="ctr"/>
                      <a:r>
                        <a:rPr lang="en-US" altLang="zh-CN" sz="1200" dirty="0">
                          <a:latin typeface="微软雅黑" panose="020B0503020204020204" pitchFamily="34" charset="-122"/>
                          <a:ea typeface="微软雅黑" panose="020B0503020204020204" pitchFamily="34" charset="-122"/>
                        </a:rPr>
                        <a:t>22bit</a:t>
                      </a:r>
                      <a:endParaRPr lang="zh-CN" altLang="en-US" sz="1200" dirty="0">
                        <a:latin typeface="微软雅黑" panose="020B0503020204020204" pitchFamily="34" charset="-122"/>
                        <a:ea typeface="微软雅黑" panose="020B0503020204020204" pitchFamily="34" charset="-122"/>
                      </a:endParaRPr>
                    </a:p>
                  </a:txBody>
                  <a:tcPr anchor="ctr">
                    <a:solidFill>
                      <a:srgbClr val="CCECFF"/>
                    </a:solidFill>
                  </a:tcPr>
                </a:tc>
                <a:tc>
                  <a:txBody>
                    <a:bodyPr/>
                    <a:lstStyle/>
                    <a:p>
                      <a:pPr algn="ctr"/>
                      <a:r>
                        <a:rPr lang="en-US" altLang="zh-CN" sz="1200" dirty="0">
                          <a:latin typeface="微软雅黑" panose="020B0503020204020204" pitchFamily="34" charset="-122"/>
                          <a:ea typeface="微软雅黑" panose="020B0503020204020204" pitchFamily="34" charset="-122"/>
                        </a:rPr>
                        <a:t>24bit</a:t>
                      </a:r>
                      <a:endParaRPr lang="zh-CN" altLang="en-US" sz="1200" dirty="0">
                        <a:latin typeface="微软雅黑" panose="020B0503020204020204" pitchFamily="34" charset="-122"/>
                        <a:ea typeface="微软雅黑" panose="020B0503020204020204" pitchFamily="34" charset="-122"/>
                      </a:endParaRPr>
                    </a:p>
                  </a:txBody>
                  <a:tcPr anchor="ctr">
                    <a:solidFill>
                      <a:srgbClr val="CCECFF"/>
                    </a:solidFill>
                  </a:tcPr>
                </a:tc>
                <a:extLst>
                  <a:ext uri="{0D108BD9-81ED-4DB2-BD59-A6C34878D82A}">
                    <a16:rowId xmlns:a16="http://schemas.microsoft.com/office/drawing/2014/main" val="2929992577"/>
                  </a:ext>
                </a:extLst>
              </a:tr>
            </a:tbl>
          </a:graphicData>
        </a:graphic>
      </p:graphicFrame>
    </p:spTree>
    <p:extLst>
      <p:ext uri="{BB962C8B-B14F-4D97-AF65-F5344CB8AC3E}">
        <p14:creationId xmlns:p14="http://schemas.microsoft.com/office/powerpoint/2010/main" val="3482229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FE6C4773-2840-454C-8707-8AB3511D040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C42F15D5-9803-4671-A8F8-AB2DA78692AE}" type="slidenum">
              <a:rPr lang="en-US" altLang="zh-CN" sz="2000" smtClean="0">
                <a:solidFill>
                  <a:schemeClr val="bg2"/>
                </a:solidFill>
              </a:rPr>
              <a:pPr/>
              <a:t>12</a:t>
            </a:fld>
            <a:endParaRPr lang="en-US" altLang="zh-CN" sz="2000">
              <a:solidFill>
                <a:schemeClr val="bg2"/>
              </a:solidFill>
            </a:endParaRPr>
          </a:p>
        </p:txBody>
      </p:sp>
      <p:pic>
        <p:nvPicPr>
          <p:cNvPr id="32776" name="Picture 6">
            <a:extLst>
              <a:ext uri="{FF2B5EF4-FFF2-40B4-BE49-F238E27FC236}">
                <a16:creationId xmlns:a16="http://schemas.microsoft.com/office/drawing/2014/main" id="{2035DC56-7B0B-4DB8-B52A-940331BAC4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598" y="4419600"/>
            <a:ext cx="6705600" cy="105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7" name="Text Box 4">
            <a:extLst>
              <a:ext uri="{FF2B5EF4-FFF2-40B4-BE49-F238E27FC236}">
                <a16:creationId xmlns:a16="http://schemas.microsoft.com/office/drawing/2014/main" id="{9CB7C5D8-FFDE-4E9A-A986-ADADE99FDED5}"/>
              </a:ext>
            </a:extLst>
          </p:cNvPr>
          <p:cNvSpPr txBox="1">
            <a:spLocks noChangeArrowheads="1"/>
          </p:cNvSpPr>
          <p:nvPr/>
        </p:nvSpPr>
        <p:spPr bwMode="auto">
          <a:xfrm>
            <a:off x="3352800" y="5784075"/>
            <a:ext cx="271420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13.7  </a:t>
            </a:r>
            <a:r>
              <a:rPr lang="zh-CN" altLang="en-US" sz="1600" dirty="0">
                <a:latin typeface="Times New Roman" panose="02020603050405020304" pitchFamily="18" charset="0"/>
                <a:ea typeface="宋体" panose="02010600030101010101" pitchFamily="2" charset="-122"/>
              </a:rPr>
              <a:t>单播地址和多播地址</a:t>
            </a:r>
            <a:endParaRPr lang="en-US" altLang="zh-CN" sz="1600" dirty="0">
              <a:latin typeface="Times New Roman" panose="02020603050405020304" pitchFamily="18" charset="0"/>
              <a:ea typeface="宋体" panose="02010600030101010101" pitchFamily="2" charset="-122"/>
            </a:endParaRPr>
          </a:p>
        </p:txBody>
      </p:sp>
      <p:sp>
        <p:nvSpPr>
          <p:cNvPr id="32778" name="文本框 1">
            <a:extLst>
              <a:ext uri="{FF2B5EF4-FFF2-40B4-BE49-F238E27FC236}">
                <a16:creationId xmlns:a16="http://schemas.microsoft.com/office/drawing/2014/main" id="{166C7B23-FBE2-4F19-8279-D3B014799BF5}"/>
              </a:ext>
            </a:extLst>
          </p:cNvPr>
          <p:cNvSpPr txBox="1">
            <a:spLocks noChangeArrowheads="1"/>
          </p:cNvSpPr>
          <p:nvPr/>
        </p:nvSpPr>
        <p:spPr bwMode="auto">
          <a:xfrm>
            <a:off x="2971800" y="89052"/>
            <a:ext cx="2514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r>
              <a:rPr lang="zh-CN" altLang="en-US" sz="2800" dirty="0">
                <a:solidFill>
                  <a:schemeClr val="bg1"/>
                </a:solidFill>
                <a:latin typeface="微软雅黑" panose="020B0503020204020204" pitchFamily="34" charset="-122"/>
                <a:ea typeface="微软雅黑" panose="020B0503020204020204" pitchFamily="34" charset="-122"/>
              </a:rPr>
              <a:t>物理广播地址</a:t>
            </a:r>
          </a:p>
        </p:txBody>
      </p:sp>
      <p:sp>
        <p:nvSpPr>
          <p:cNvPr id="32779" name="Rectangle 11">
            <a:extLst>
              <a:ext uri="{FF2B5EF4-FFF2-40B4-BE49-F238E27FC236}">
                <a16:creationId xmlns:a16="http://schemas.microsoft.com/office/drawing/2014/main" id="{5E894912-0BED-4154-AF98-A20CFC68147B}"/>
              </a:ext>
            </a:extLst>
          </p:cNvPr>
          <p:cNvSpPr>
            <a:spLocks noChangeArrowheads="1"/>
          </p:cNvSpPr>
          <p:nvPr/>
        </p:nvSpPr>
        <p:spPr bwMode="auto">
          <a:xfrm>
            <a:off x="904676" y="1062774"/>
            <a:ext cx="7639447" cy="2911182"/>
          </a:xfrm>
          <a:prstGeom prst="rect">
            <a:avLst/>
          </a:prstGeom>
          <a:noFill/>
          <a:ln>
            <a:noFill/>
          </a:ln>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285750" indent="-285750" algn="just">
              <a:lnSpc>
                <a:spcPts val="32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如果发送方要让局域网上的所有主机都接收它所发送的帧，则在该帧的目的地址字段中插入广播地址（</a:t>
            </a:r>
            <a:r>
              <a:rPr lang="en-US" altLang="zh-CN" sz="1600" b="0" dirty="0">
                <a:latin typeface="微软雅黑" panose="020B0503020204020204" pitchFamily="34" charset="-122"/>
                <a:ea typeface="微软雅黑" panose="020B0503020204020204" pitchFamily="34" charset="-122"/>
              </a:rPr>
              <a:t>Broadcast Address</a:t>
            </a:r>
            <a:r>
              <a:rPr lang="zh-CN" altLang="en-US" sz="1600" b="0" dirty="0">
                <a:latin typeface="微软雅黑" panose="020B0503020204020204" pitchFamily="34" charset="-122"/>
                <a:ea typeface="微软雅黑" panose="020B0503020204020204" pitchFamily="34" charset="-122"/>
              </a:rPr>
              <a:t>），以太网的广播地址是</a:t>
            </a:r>
            <a:r>
              <a:rPr lang="en-US" altLang="zh-CN" sz="1600" b="0" dirty="0">
                <a:latin typeface="微软雅黑" panose="020B0503020204020204" pitchFamily="34" charset="-122"/>
                <a:ea typeface="微软雅黑" panose="020B0503020204020204" pitchFamily="34" charset="-122"/>
              </a:rPr>
              <a:t>48</a:t>
            </a:r>
            <a:r>
              <a:rPr lang="zh-CN" altLang="en-US" sz="1600" b="0" dirty="0">
                <a:latin typeface="微软雅黑" panose="020B0503020204020204" pitchFamily="34" charset="-122"/>
                <a:ea typeface="微软雅黑" panose="020B0503020204020204" pitchFamily="34" charset="-122"/>
              </a:rPr>
              <a:t>个连续的</a:t>
            </a:r>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，用十六进制表示为</a:t>
            </a:r>
            <a:r>
              <a:rPr lang="en-US" altLang="zh-CN" sz="1600" b="0" dirty="0">
                <a:latin typeface="微软雅黑" panose="020B0503020204020204" pitchFamily="34" charset="-122"/>
                <a:ea typeface="微软雅黑" panose="020B0503020204020204" pitchFamily="34" charset="-122"/>
              </a:rPr>
              <a:t>FF-FF-FF-FF-FF-FF</a:t>
            </a:r>
            <a:r>
              <a:rPr lang="zh-CN" altLang="en-US" sz="1600" b="0" dirty="0">
                <a:latin typeface="微软雅黑" panose="020B0503020204020204" pitchFamily="34" charset="-122"/>
                <a:ea typeface="微软雅黑" panose="020B0503020204020204" pitchFamily="34" charset="-122"/>
              </a:rPr>
              <a:t>。</a:t>
            </a:r>
            <a:endParaRPr lang="en-US" altLang="zh-CN" sz="1600" b="0" dirty="0">
              <a:latin typeface="微软雅黑" panose="020B0503020204020204" pitchFamily="34" charset="-122"/>
              <a:ea typeface="微软雅黑" panose="020B0503020204020204" pitchFamily="34" charset="-122"/>
            </a:endParaRPr>
          </a:p>
          <a:p>
            <a:pPr marL="285750" indent="-285750" algn="just">
              <a:lnSpc>
                <a:spcPts val="32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多播（也称或组播）是一种允许一台或多台主机发送单一数据包同时到多台主机的网络技术。多播作为点对多点的通信，是节省网络带宽的有效方法之一。</a:t>
            </a:r>
            <a:endParaRPr lang="en-US" altLang="zh-CN" sz="1600" b="0" dirty="0">
              <a:latin typeface="微软雅黑" panose="020B0503020204020204" pitchFamily="34" charset="-122"/>
              <a:ea typeface="微软雅黑" panose="020B0503020204020204" pitchFamily="34" charset="-122"/>
            </a:endParaRPr>
          </a:p>
          <a:p>
            <a:pPr marL="285750" indent="-285750" algn="just">
              <a:lnSpc>
                <a:spcPts val="3200"/>
              </a:lnSpc>
              <a:buClr>
                <a:srgbClr val="FF0000"/>
              </a:buClr>
              <a:buSzPct val="80000"/>
              <a:buFont typeface="Wingdings" panose="05000000000000000000" pitchFamily="2" charset="2"/>
              <a:buChar char="u"/>
            </a:pPr>
            <a:r>
              <a:rPr lang="en-US" altLang="zh-CN" sz="1600" b="0" dirty="0">
                <a:latin typeface="微软雅黑" panose="020B0503020204020204" pitchFamily="34" charset="-122"/>
                <a:ea typeface="微软雅黑" panose="020B0503020204020204" pitchFamily="34" charset="-122"/>
              </a:rPr>
              <a:t>MAC</a:t>
            </a:r>
            <a:r>
              <a:rPr lang="zh-CN" altLang="en-US" sz="1600" b="0" dirty="0">
                <a:latin typeface="微软雅黑" panose="020B0503020204020204" pitchFamily="34" charset="-122"/>
                <a:ea typeface="微软雅黑" panose="020B0503020204020204" pitchFamily="34" charset="-122"/>
              </a:rPr>
              <a:t>地址第一个字节的最低位决定了地址的类型，该位是</a:t>
            </a:r>
            <a:r>
              <a:rPr lang="en-US" altLang="zh-CN" sz="1600" b="0" dirty="0">
                <a:latin typeface="微软雅黑" panose="020B0503020204020204" pitchFamily="34" charset="-122"/>
                <a:ea typeface="微软雅黑" panose="020B0503020204020204" pitchFamily="34" charset="-122"/>
              </a:rPr>
              <a:t>0</a:t>
            </a:r>
            <a:r>
              <a:rPr lang="zh-CN" altLang="en-US" sz="1600" b="0" dirty="0">
                <a:latin typeface="微软雅黑" panose="020B0503020204020204" pitchFamily="34" charset="-122"/>
                <a:ea typeface="微软雅黑" panose="020B0503020204020204" pitchFamily="34" charset="-122"/>
              </a:rPr>
              <a:t>表示单播地址，否则便是多播地址。广播地址是多播地址的一个特例，它的所有位都是</a:t>
            </a:r>
            <a:r>
              <a:rPr lang="en-US" altLang="zh-CN" sz="1600" b="0" dirty="0">
                <a:latin typeface="微软雅黑" panose="020B0503020204020204" pitchFamily="34" charset="-122"/>
                <a:ea typeface="微软雅黑" panose="020B0503020204020204" pitchFamily="34" charset="-122"/>
              </a:rPr>
              <a:t>1</a:t>
            </a:r>
            <a:r>
              <a:rPr lang="zh-CN" altLang="en-US" sz="1600" b="0" dirty="0">
                <a:latin typeface="微软雅黑" panose="020B0503020204020204" pitchFamily="34" charset="-122"/>
                <a:ea typeface="微软雅黑" panose="020B0503020204020204" pitchFamily="34" charset="-122"/>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1">
            <a:extLst>
              <a:ext uri="{FF2B5EF4-FFF2-40B4-BE49-F238E27FC236}">
                <a16:creationId xmlns:a16="http://schemas.microsoft.com/office/drawing/2014/main" id="{E3B70689-F860-4B12-9709-7591CC656DA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5332B481-1155-4153-8C21-ACF1D348142B}" type="slidenum">
              <a:rPr lang="en-US" altLang="zh-CN" sz="2000" smtClean="0">
                <a:solidFill>
                  <a:schemeClr val="bg2"/>
                </a:solidFill>
              </a:rPr>
              <a:pPr/>
              <a:t>13</a:t>
            </a:fld>
            <a:endParaRPr lang="en-US" altLang="zh-CN" sz="2000">
              <a:solidFill>
                <a:schemeClr val="bg2"/>
              </a:solidFill>
            </a:endParaRPr>
          </a:p>
        </p:txBody>
      </p:sp>
      <p:sp>
        <p:nvSpPr>
          <p:cNvPr id="36874" name="Rectangle 9">
            <a:extLst>
              <a:ext uri="{FF2B5EF4-FFF2-40B4-BE49-F238E27FC236}">
                <a16:creationId xmlns:a16="http://schemas.microsoft.com/office/drawing/2014/main" id="{E2D3EEAB-C91A-40DD-A1F4-2A378A038903}"/>
              </a:ext>
            </a:extLst>
          </p:cNvPr>
          <p:cNvSpPr>
            <a:spLocks noChangeArrowheads="1"/>
          </p:cNvSpPr>
          <p:nvPr/>
        </p:nvSpPr>
        <p:spPr bwMode="auto">
          <a:xfrm>
            <a:off x="871736" y="1165446"/>
            <a:ext cx="7559782" cy="1359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lnSpc>
                <a:spcPct val="250000"/>
              </a:lnSpc>
            </a:pP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MAC</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地址 </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47:20:1B:2E:08:EE </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在线路上的发送次序：</a:t>
            </a:r>
            <a:r>
              <a:rPr lang="zh-CN" altLang="en-US" sz="1800" dirty="0">
                <a:latin typeface="微软雅黑" panose="020B0503020204020204" pitchFamily="34" charset="-122"/>
                <a:ea typeface="微软雅黑" panose="020B0503020204020204" pitchFamily="34" charset="-122"/>
              </a:rPr>
              <a:t>一个字节一个字节地</a:t>
            </a:r>
            <a:r>
              <a:rPr lang="zh-CN" altLang="en-US" sz="1800" dirty="0">
                <a:solidFill>
                  <a:srgbClr val="FF0000"/>
                </a:solidFill>
                <a:latin typeface="微软雅黑" panose="020B0503020204020204" pitchFamily="34" charset="-122"/>
                <a:ea typeface="微软雅黑" panose="020B0503020204020204" pitchFamily="34" charset="-122"/>
              </a:rPr>
              <a:t>从左向右</a:t>
            </a:r>
            <a:r>
              <a:rPr lang="zh-CN" altLang="en-US" sz="1800" dirty="0">
                <a:latin typeface="微软雅黑" panose="020B0503020204020204" pitchFamily="34" charset="-122"/>
                <a:ea typeface="微软雅黑" panose="020B0503020204020204" pitchFamily="34" charset="-122"/>
              </a:rPr>
              <a:t>发送，每个字节是一位一位地</a:t>
            </a:r>
            <a:r>
              <a:rPr lang="zh-CN" altLang="en-US" sz="1800" dirty="0">
                <a:solidFill>
                  <a:srgbClr val="FF0000"/>
                </a:solidFill>
                <a:latin typeface="微软雅黑" panose="020B0503020204020204" pitchFamily="34" charset="-122"/>
                <a:ea typeface="微软雅黑" panose="020B0503020204020204" pitchFamily="34" charset="-122"/>
              </a:rPr>
              <a:t>从右向左</a:t>
            </a:r>
            <a:r>
              <a:rPr lang="zh-CN" altLang="en-US" sz="1800" dirty="0">
                <a:latin typeface="微软雅黑" panose="020B0503020204020204" pitchFamily="34" charset="-122"/>
                <a:ea typeface="微软雅黑" panose="020B0503020204020204" pitchFamily="34" charset="-122"/>
              </a:rPr>
              <a:t>发送。</a:t>
            </a:r>
            <a:endParaRPr lang="en-US" altLang="zh-CN" sz="1800" b="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文本框 1">
            <a:extLst>
              <a:ext uri="{FF2B5EF4-FFF2-40B4-BE49-F238E27FC236}">
                <a16:creationId xmlns:a16="http://schemas.microsoft.com/office/drawing/2014/main" id="{1BCB6261-83A6-42AF-B2E2-E0EB0DF31893}"/>
              </a:ext>
            </a:extLst>
          </p:cNvPr>
          <p:cNvSpPr txBox="1">
            <a:spLocks noChangeArrowheads="1"/>
          </p:cNvSpPr>
          <p:nvPr/>
        </p:nvSpPr>
        <p:spPr bwMode="auto">
          <a:xfrm>
            <a:off x="2971800" y="89052"/>
            <a:ext cx="4114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r>
              <a:rPr lang="en-US" altLang="zh-CN" sz="2800" dirty="0">
                <a:solidFill>
                  <a:schemeClr val="bg1"/>
                </a:solidFill>
                <a:latin typeface="微软雅黑" panose="020B0503020204020204" pitchFamily="34" charset="-122"/>
                <a:ea typeface="微软雅黑" panose="020B0503020204020204" pitchFamily="34" charset="-122"/>
              </a:rPr>
              <a:t>MAC</a:t>
            </a:r>
            <a:r>
              <a:rPr lang="zh-CN" altLang="en-US" sz="2800" dirty="0">
                <a:solidFill>
                  <a:schemeClr val="bg1"/>
                </a:solidFill>
                <a:latin typeface="微软雅黑" panose="020B0503020204020204" pitchFamily="34" charset="-122"/>
                <a:ea typeface="微软雅黑" panose="020B0503020204020204" pitchFamily="34" charset="-122"/>
              </a:rPr>
              <a:t>地址的发送次序</a:t>
            </a:r>
          </a:p>
        </p:txBody>
      </p:sp>
      <p:sp>
        <p:nvSpPr>
          <p:cNvPr id="3" name="矩形 2">
            <a:extLst>
              <a:ext uri="{FF2B5EF4-FFF2-40B4-BE49-F238E27FC236}">
                <a16:creationId xmlns:a16="http://schemas.microsoft.com/office/drawing/2014/main" id="{389749AD-50A9-4478-B391-E15B3AA20720}"/>
              </a:ext>
            </a:extLst>
          </p:cNvPr>
          <p:cNvSpPr/>
          <p:nvPr/>
        </p:nvSpPr>
        <p:spPr>
          <a:xfrm>
            <a:off x="914400" y="4722060"/>
            <a:ext cx="7387973" cy="562783"/>
          </a:xfrm>
          <a:prstGeom prst="rect">
            <a:avLst/>
          </a:prstGeom>
        </p:spPr>
        <p:txBody>
          <a:bodyPr wrap="square">
            <a:spAutoFit/>
          </a:bodyPr>
          <a:lstStyle/>
          <a:p>
            <a:pPr>
              <a:lnSpc>
                <a:spcPct val="200000"/>
              </a:lnSpc>
            </a:pP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11100010 00000100 11011000 01110100 00010000 01110111</a:t>
            </a:r>
          </a:p>
        </p:txBody>
      </p:sp>
      <p:sp>
        <p:nvSpPr>
          <p:cNvPr id="4" name="矩形 3">
            <a:extLst>
              <a:ext uri="{FF2B5EF4-FFF2-40B4-BE49-F238E27FC236}">
                <a16:creationId xmlns:a16="http://schemas.microsoft.com/office/drawing/2014/main" id="{BDD6C53B-FA27-4B48-A5A2-0CCF6441BF60}"/>
              </a:ext>
            </a:extLst>
          </p:cNvPr>
          <p:cNvSpPr/>
          <p:nvPr/>
        </p:nvSpPr>
        <p:spPr>
          <a:xfrm>
            <a:off x="914400" y="3077775"/>
            <a:ext cx="7696200" cy="562783"/>
          </a:xfrm>
          <a:prstGeom prst="rect">
            <a:avLst/>
          </a:prstGeom>
        </p:spPr>
        <p:txBody>
          <a:bodyPr wrap="square">
            <a:spAutoFit/>
          </a:bodyPr>
          <a:lstStyle/>
          <a:p>
            <a:pPr>
              <a:lnSpc>
                <a:spcPct val="200000"/>
              </a:lnSpc>
            </a:pP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01000111 00100000 00011011 00101110 00001000 11101110</a:t>
            </a:r>
          </a:p>
        </p:txBody>
      </p:sp>
      <p:sp>
        <p:nvSpPr>
          <p:cNvPr id="6" name="箭头: 下 5">
            <a:extLst>
              <a:ext uri="{FF2B5EF4-FFF2-40B4-BE49-F238E27FC236}">
                <a16:creationId xmlns:a16="http://schemas.microsoft.com/office/drawing/2014/main" id="{24D8CD09-CF60-47DD-84AC-BF416C74A1F7}"/>
              </a:ext>
            </a:extLst>
          </p:cNvPr>
          <p:cNvSpPr/>
          <p:nvPr/>
        </p:nvSpPr>
        <p:spPr bwMode="auto">
          <a:xfrm>
            <a:off x="4267200" y="4027699"/>
            <a:ext cx="990600" cy="457200"/>
          </a:xfrm>
          <a:prstGeom prst="downArrow">
            <a:avLst/>
          </a:prstGeom>
          <a:solidFill>
            <a:srgbClr val="82A5D0"/>
          </a:solidFill>
          <a:ln w="9525" cap="flat" cmpd="sng" algn="ctr">
            <a:no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7401BDB1-8F60-47DF-9509-88441DE7AFD9}"/>
              </a:ext>
            </a:extLst>
          </p:cNvPr>
          <p:cNvSpPr>
            <a:spLocks noGrp="1"/>
          </p:cNvSpPr>
          <p:nvPr>
            <p:ph type="sldNum" sz="quarter" idx="10"/>
          </p:nvPr>
        </p:nvSpPr>
        <p:spPr>
          <a:xfrm>
            <a:off x="8305800" y="6400800"/>
            <a:ext cx="914400" cy="457200"/>
          </a:xfrm>
        </p:spPr>
        <p:txBody>
          <a:bodyPr/>
          <a:lstStyle/>
          <a:p>
            <a:pPr>
              <a:defRPr/>
            </a:pPr>
            <a:r>
              <a:rPr lang="en-US" altLang="zh-CN"/>
              <a:t>13.</a:t>
            </a:r>
            <a:fld id="{47296285-6BB8-4F45-962F-95FE08018ECB}" type="slidenum">
              <a:rPr lang="en-US" altLang="zh-CN" smtClean="0"/>
              <a:pPr>
                <a:defRPr/>
              </a:pPr>
              <a:t>14</a:t>
            </a:fld>
            <a:endParaRPr lang="en-US" altLang="zh-CN"/>
          </a:p>
        </p:txBody>
      </p:sp>
      <p:sp>
        <p:nvSpPr>
          <p:cNvPr id="6" name="矩形 5">
            <a:extLst>
              <a:ext uri="{FF2B5EF4-FFF2-40B4-BE49-F238E27FC236}">
                <a16:creationId xmlns:a16="http://schemas.microsoft.com/office/drawing/2014/main" id="{D7C1F5CB-688A-4C05-85DB-29643FCD5A2F}"/>
              </a:ext>
            </a:extLst>
          </p:cNvPr>
          <p:cNvSpPr/>
          <p:nvPr/>
        </p:nvSpPr>
        <p:spPr>
          <a:xfrm>
            <a:off x="790708" y="1165328"/>
            <a:ext cx="7664536" cy="1495409"/>
          </a:xfrm>
          <a:prstGeom prst="rect">
            <a:avLst/>
          </a:prstGeom>
        </p:spPr>
        <p:txBody>
          <a:bodyPr wrap="square">
            <a:spAutoFit/>
          </a:bodyPr>
          <a:lstStyle/>
          <a:p>
            <a:pPr algn="just">
              <a:lnSpc>
                <a:spcPct val="200000"/>
              </a:lnSpc>
              <a:buClr>
                <a:srgbClr val="FF0000"/>
              </a:buClr>
              <a:buSzPct val="80000"/>
            </a:pPr>
            <a:r>
              <a:rPr lang="zh-CN" altLang="en-US" sz="1600" b="0" dirty="0">
                <a:latin typeface="微软雅黑" panose="020B0503020204020204" pitchFamily="34" charset="-122"/>
                <a:ea typeface="微软雅黑" panose="020B0503020204020204" pitchFamily="34" charset="-122"/>
              </a:rPr>
              <a:t>设备的</a:t>
            </a:r>
            <a:r>
              <a:rPr lang="en-US" altLang="zh-CN" sz="1600" b="0" dirty="0">
                <a:latin typeface="微软雅黑" panose="020B0503020204020204" pitchFamily="34" charset="-122"/>
                <a:ea typeface="微软雅黑" panose="020B0503020204020204" pitchFamily="34" charset="-122"/>
              </a:rPr>
              <a:t>MAC</a:t>
            </a:r>
            <a:r>
              <a:rPr lang="zh-CN" altLang="en-US" sz="1600" b="0" dirty="0">
                <a:latin typeface="微软雅黑" panose="020B0503020204020204" pitchFamily="34" charset="-122"/>
                <a:ea typeface="微软雅黑" panose="020B0503020204020204" pitchFamily="34" charset="-122"/>
              </a:rPr>
              <a:t>地址具有扁平结构，而且地址不会随着设备位置的改变而发生变化。</a:t>
            </a:r>
            <a:r>
              <a:rPr lang="en-US" altLang="zh-CN" sz="1600" b="0" dirty="0">
                <a:latin typeface="微软雅黑" panose="020B0503020204020204" pitchFamily="34" charset="-122"/>
                <a:ea typeface="微软雅黑" panose="020B0503020204020204" pitchFamily="34" charset="-122"/>
              </a:rPr>
              <a:t>IP</a:t>
            </a:r>
            <a:r>
              <a:rPr lang="zh-CN" altLang="en-US" sz="1600" b="0" dirty="0">
                <a:latin typeface="微软雅黑" panose="020B0503020204020204" pitchFamily="34" charset="-122"/>
                <a:ea typeface="微软雅黑" panose="020B0503020204020204" pitchFamily="34" charset="-122"/>
              </a:rPr>
              <a:t>地址则具有层次结构，并且当设备移动时，</a:t>
            </a:r>
            <a:r>
              <a:rPr lang="en-US" altLang="zh-CN" sz="1600" b="0" dirty="0">
                <a:latin typeface="微软雅黑" panose="020B0503020204020204" pitchFamily="34" charset="-122"/>
                <a:ea typeface="微软雅黑" panose="020B0503020204020204" pitchFamily="34" charset="-122"/>
              </a:rPr>
              <a:t>IP</a:t>
            </a:r>
            <a:r>
              <a:rPr lang="zh-CN" altLang="en-US" sz="1600" b="0" dirty="0">
                <a:latin typeface="微软雅黑" panose="020B0503020204020204" pitchFamily="34" charset="-122"/>
                <a:ea typeface="微软雅黑" panose="020B0503020204020204" pitchFamily="34" charset="-122"/>
              </a:rPr>
              <a:t>地址可能会发生变化，这取决于它所连接到的</a:t>
            </a:r>
            <a:r>
              <a:rPr lang="en-US" altLang="zh-CN" sz="1600" b="0" dirty="0">
                <a:latin typeface="微软雅黑" panose="020B0503020204020204" pitchFamily="34" charset="-122"/>
                <a:ea typeface="微软雅黑" panose="020B0503020204020204" pitchFamily="34" charset="-122"/>
              </a:rPr>
              <a:t>IP</a:t>
            </a:r>
            <a:r>
              <a:rPr lang="zh-CN" altLang="en-US" sz="1600" b="0" dirty="0">
                <a:latin typeface="微软雅黑" panose="020B0503020204020204" pitchFamily="34" charset="-122"/>
                <a:ea typeface="微软雅黑" panose="020B0503020204020204" pitchFamily="34" charset="-122"/>
              </a:rPr>
              <a:t>子网。</a:t>
            </a:r>
            <a:endParaRPr lang="en-US" altLang="zh-CN" sz="1600" b="0" dirty="0">
              <a:latin typeface="微软雅黑" panose="020B0503020204020204" pitchFamily="34" charset="-122"/>
              <a:ea typeface="微软雅黑" panose="020B0503020204020204" pitchFamily="34" charset="-122"/>
            </a:endParaRPr>
          </a:p>
        </p:txBody>
      </p:sp>
      <p:grpSp>
        <p:nvGrpSpPr>
          <p:cNvPr id="2" name="组合 1">
            <a:extLst>
              <a:ext uri="{FF2B5EF4-FFF2-40B4-BE49-F238E27FC236}">
                <a16:creationId xmlns:a16="http://schemas.microsoft.com/office/drawing/2014/main" id="{7934A82E-C993-47CB-9F26-99B7FA649655}"/>
              </a:ext>
            </a:extLst>
          </p:cNvPr>
          <p:cNvGrpSpPr/>
          <p:nvPr/>
        </p:nvGrpSpPr>
        <p:grpSpPr>
          <a:xfrm>
            <a:off x="631200" y="3320049"/>
            <a:ext cx="3056633" cy="2382597"/>
            <a:chOff x="609600" y="3484803"/>
            <a:chExt cx="3056633" cy="2382597"/>
          </a:xfrm>
        </p:grpSpPr>
        <p:pic>
          <p:nvPicPr>
            <p:cNvPr id="7" name="图片 6">
              <a:extLst>
                <a:ext uri="{FF2B5EF4-FFF2-40B4-BE49-F238E27FC236}">
                  <a16:creationId xmlns:a16="http://schemas.microsoft.com/office/drawing/2014/main" id="{C7852A29-103C-42F5-8EDF-82557E1247E9}"/>
                </a:ext>
              </a:extLst>
            </p:cNvPr>
            <p:cNvPicPr>
              <a:picLocks noChangeAspect="1"/>
            </p:cNvPicPr>
            <p:nvPr/>
          </p:nvPicPr>
          <p:blipFill>
            <a:blip r:embed="rId2"/>
            <a:stretch>
              <a:fillRect/>
            </a:stretch>
          </p:blipFill>
          <p:spPr>
            <a:xfrm>
              <a:off x="609600" y="3484803"/>
              <a:ext cx="1295400" cy="966823"/>
            </a:xfrm>
            <a:prstGeom prst="rect">
              <a:avLst/>
            </a:prstGeom>
          </p:spPr>
        </p:pic>
        <p:pic>
          <p:nvPicPr>
            <p:cNvPr id="8" name="图片 7">
              <a:extLst>
                <a:ext uri="{FF2B5EF4-FFF2-40B4-BE49-F238E27FC236}">
                  <a16:creationId xmlns:a16="http://schemas.microsoft.com/office/drawing/2014/main" id="{7FB7923C-0AFA-4798-9C45-191C11136CD8}"/>
                </a:ext>
              </a:extLst>
            </p:cNvPr>
            <p:cNvPicPr>
              <a:picLocks noChangeAspect="1"/>
            </p:cNvPicPr>
            <p:nvPr/>
          </p:nvPicPr>
          <p:blipFill>
            <a:blip r:embed="rId3"/>
            <a:stretch>
              <a:fillRect/>
            </a:stretch>
          </p:blipFill>
          <p:spPr>
            <a:xfrm>
              <a:off x="2362200" y="3484803"/>
              <a:ext cx="1304033" cy="966823"/>
            </a:xfrm>
            <a:prstGeom prst="rect">
              <a:avLst/>
            </a:prstGeom>
          </p:spPr>
        </p:pic>
        <p:sp>
          <p:nvSpPr>
            <p:cNvPr id="9" name="箭头: 左右 8">
              <a:extLst>
                <a:ext uri="{FF2B5EF4-FFF2-40B4-BE49-F238E27FC236}">
                  <a16:creationId xmlns:a16="http://schemas.microsoft.com/office/drawing/2014/main" id="{550613C7-6B27-4C07-8BA1-FD90990130F4}"/>
                </a:ext>
              </a:extLst>
            </p:cNvPr>
            <p:cNvSpPr/>
            <p:nvPr/>
          </p:nvSpPr>
          <p:spPr>
            <a:xfrm>
              <a:off x="1943100" y="3962400"/>
              <a:ext cx="453210" cy="161082"/>
            </a:xfrm>
            <a:prstGeom prst="leftRightArrow">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ZZhengHeiS-R-GB"/>
                <a:cs typeface="+mn-cs"/>
              </a:endParaRPr>
            </a:p>
          </p:txBody>
        </p:sp>
        <p:pic>
          <p:nvPicPr>
            <p:cNvPr id="11" name="Picture 4" descr="https://preview.qiantucdn.com/58pic/36/77/71/89u58PIC8YiiDq7uh5e6d_PIC2018.png%21w1024_new_0">
              <a:extLst>
                <a:ext uri="{FF2B5EF4-FFF2-40B4-BE49-F238E27FC236}">
                  <a16:creationId xmlns:a16="http://schemas.microsoft.com/office/drawing/2014/main" id="{62907668-6C24-4CDC-86D1-A5D1F431E71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1854" t="11466" r="19347" b="6601"/>
            <a:stretch/>
          </p:blipFill>
          <p:spPr bwMode="auto">
            <a:xfrm>
              <a:off x="2646555" y="4811612"/>
              <a:ext cx="757684" cy="105578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https://bkimg.cdn.bcebos.com/pic/e61190ef76c6a7ef71435e45f7faaf51f3de6668">
              <a:extLst>
                <a:ext uri="{FF2B5EF4-FFF2-40B4-BE49-F238E27FC236}">
                  <a16:creationId xmlns:a16="http://schemas.microsoft.com/office/drawing/2014/main" id="{F360966E-F39A-4257-B8DE-F0E5902267C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9108" y="5052976"/>
              <a:ext cx="1018218" cy="641159"/>
            </a:xfrm>
            <a:prstGeom prst="rect">
              <a:avLst/>
            </a:prstGeom>
            <a:noFill/>
            <a:ln>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13" name="箭头: 左右 12">
              <a:extLst>
                <a:ext uri="{FF2B5EF4-FFF2-40B4-BE49-F238E27FC236}">
                  <a16:creationId xmlns:a16="http://schemas.microsoft.com/office/drawing/2014/main" id="{AF20270C-9AAE-48E5-89D6-979A9ECC0D41}"/>
                </a:ext>
              </a:extLst>
            </p:cNvPr>
            <p:cNvSpPr/>
            <p:nvPr/>
          </p:nvSpPr>
          <p:spPr>
            <a:xfrm>
              <a:off x="1943100" y="5325318"/>
              <a:ext cx="453210" cy="161082"/>
            </a:xfrm>
            <a:prstGeom prst="leftRightArrow">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FZZhengHeiS-R-GB"/>
                <a:cs typeface="+mn-cs"/>
              </a:endParaRPr>
            </a:p>
          </p:txBody>
        </p:sp>
      </p:grpSp>
      <p:grpSp>
        <p:nvGrpSpPr>
          <p:cNvPr id="3" name="组合 2">
            <a:extLst>
              <a:ext uri="{FF2B5EF4-FFF2-40B4-BE49-F238E27FC236}">
                <a16:creationId xmlns:a16="http://schemas.microsoft.com/office/drawing/2014/main" id="{F608CA68-F82C-4CA2-9AEA-7ACA997F9C34}"/>
              </a:ext>
            </a:extLst>
          </p:cNvPr>
          <p:cNvGrpSpPr/>
          <p:nvPr/>
        </p:nvGrpSpPr>
        <p:grpSpPr>
          <a:xfrm>
            <a:off x="3963478" y="3190904"/>
            <a:ext cx="4416646" cy="2679728"/>
            <a:chOff x="4038600" y="3307807"/>
            <a:chExt cx="4416646" cy="2679728"/>
          </a:xfrm>
        </p:grpSpPr>
        <p:sp>
          <p:nvSpPr>
            <p:cNvPr id="14" name="矩形 13">
              <a:extLst>
                <a:ext uri="{FF2B5EF4-FFF2-40B4-BE49-F238E27FC236}">
                  <a16:creationId xmlns:a16="http://schemas.microsoft.com/office/drawing/2014/main" id="{6115F10B-9784-44C0-A678-BEE09DE90B95}"/>
                </a:ext>
              </a:extLst>
            </p:cNvPr>
            <p:cNvSpPr/>
            <p:nvPr/>
          </p:nvSpPr>
          <p:spPr>
            <a:xfrm>
              <a:off x="4774176" y="5233959"/>
              <a:ext cx="2236674" cy="360010"/>
            </a:xfrm>
            <a:prstGeom prst="rect">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5" name="矩形 14">
              <a:extLst>
                <a:ext uri="{FF2B5EF4-FFF2-40B4-BE49-F238E27FC236}">
                  <a16:creationId xmlns:a16="http://schemas.microsoft.com/office/drawing/2014/main" id="{3B493442-2D91-4219-B5AB-AA4E1C2B4029}"/>
                </a:ext>
              </a:extLst>
            </p:cNvPr>
            <p:cNvSpPr/>
            <p:nvPr/>
          </p:nvSpPr>
          <p:spPr>
            <a:xfrm>
              <a:off x="4038600" y="5233957"/>
              <a:ext cx="735576" cy="360010"/>
            </a:xfrm>
            <a:prstGeom prst="rect">
              <a:avLst/>
            </a:prstGeom>
            <a:solidFill>
              <a:srgbClr val="E6B9B8"/>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源</a:t>
              </a: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MAC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目的</a:t>
              </a:r>
              <a:r>
                <a:rPr kumimoji="0" lang="en-US" altLang="zh-CN"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MAC</a:t>
              </a:r>
              <a:endParaRPr kumimoji="0" lang="zh-CN" altLang="en-US" sz="9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36BB73D9-4CC1-4577-BC3F-3AE74F91A539}"/>
                </a:ext>
              </a:extLst>
            </p:cNvPr>
            <p:cNvSpPr/>
            <p:nvPr/>
          </p:nvSpPr>
          <p:spPr>
            <a:xfrm>
              <a:off x="7010400" y="5233957"/>
              <a:ext cx="504056" cy="360012"/>
            </a:xfrm>
            <a:prstGeom prst="rect">
              <a:avLst/>
            </a:prstGeom>
            <a:no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1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帧尾</a:t>
              </a:r>
            </a:p>
          </p:txBody>
        </p:sp>
        <p:sp>
          <p:nvSpPr>
            <p:cNvPr id="17" name="矩形 16">
              <a:extLst>
                <a:ext uri="{FF2B5EF4-FFF2-40B4-BE49-F238E27FC236}">
                  <a16:creationId xmlns:a16="http://schemas.microsoft.com/office/drawing/2014/main" id="{E64667AB-D4C7-466E-9DED-AA8366CDFED4}"/>
                </a:ext>
              </a:extLst>
            </p:cNvPr>
            <p:cNvSpPr/>
            <p:nvPr/>
          </p:nvSpPr>
          <p:spPr>
            <a:xfrm>
              <a:off x="4774176" y="4335510"/>
              <a:ext cx="659376" cy="360010"/>
            </a:xfrm>
            <a:prstGeom prst="rect">
              <a:avLst/>
            </a:prstGeom>
            <a:solidFill>
              <a:srgbClr val="D7E4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源</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IP</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目的</a:t>
              </a: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IP</a:t>
              </a:r>
              <a:endPar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18" name="矩形 17">
              <a:extLst>
                <a:ext uri="{FF2B5EF4-FFF2-40B4-BE49-F238E27FC236}">
                  <a16:creationId xmlns:a16="http://schemas.microsoft.com/office/drawing/2014/main" id="{C670B17A-FA47-41AC-AC1D-AA2E98E33C1A}"/>
                </a:ext>
              </a:extLst>
            </p:cNvPr>
            <p:cNvSpPr/>
            <p:nvPr/>
          </p:nvSpPr>
          <p:spPr>
            <a:xfrm>
              <a:off x="5433552" y="4338791"/>
              <a:ext cx="1577306" cy="360010"/>
            </a:xfrm>
            <a:prstGeom prst="rect">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FDF46B7D-16E8-4D03-8446-C0F364E77A91}"/>
                </a:ext>
              </a:extLst>
            </p:cNvPr>
            <p:cNvSpPr/>
            <p:nvPr/>
          </p:nvSpPr>
          <p:spPr>
            <a:xfrm>
              <a:off x="5430072" y="3433729"/>
              <a:ext cx="716107" cy="360010"/>
            </a:xfrm>
            <a:prstGeom prst="rect">
              <a:avLst/>
            </a:prstGeom>
            <a:no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TCP</a:t>
              </a:r>
              <a:r>
                <a:rPr kumimoji="0" lang="zh-CN" altLang="en-US" sz="1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首部</a:t>
              </a:r>
            </a:p>
          </p:txBody>
        </p:sp>
        <p:sp>
          <p:nvSpPr>
            <p:cNvPr id="20" name="矩形 19">
              <a:extLst>
                <a:ext uri="{FF2B5EF4-FFF2-40B4-BE49-F238E27FC236}">
                  <a16:creationId xmlns:a16="http://schemas.microsoft.com/office/drawing/2014/main" id="{FFE18D74-C4D5-4B98-B241-FA5C52D63B9C}"/>
                </a:ext>
              </a:extLst>
            </p:cNvPr>
            <p:cNvSpPr/>
            <p:nvPr/>
          </p:nvSpPr>
          <p:spPr>
            <a:xfrm>
              <a:off x="6146180" y="3433729"/>
              <a:ext cx="864681" cy="360010"/>
            </a:xfrm>
            <a:prstGeom prst="rect">
              <a:avLst/>
            </a:prstGeom>
            <a:solidFill>
              <a:srgbClr val="4F81BD"/>
            </a:solidFill>
            <a:ln w="25400" cap="flat" cmpd="sng" algn="ctr">
              <a:solidFill>
                <a:srgbClr val="4F81BD">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应用层数据</a:t>
              </a:r>
            </a:p>
          </p:txBody>
        </p:sp>
        <p:grpSp>
          <p:nvGrpSpPr>
            <p:cNvPr id="21" name="组合 20">
              <a:extLst>
                <a:ext uri="{FF2B5EF4-FFF2-40B4-BE49-F238E27FC236}">
                  <a16:creationId xmlns:a16="http://schemas.microsoft.com/office/drawing/2014/main" id="{174D4C03-2643-46B3-9624-CD5E37D1579D}"/>
                </a:ext>
              </a:extLst>
            </p:cNvPr>
            <p:cNvGrpSpPr/>
            <p:nvPr/>
          </p:nvGrpSpPr>
          <p:grpSpPr>
            <a:xfrm>
              <a:off x="5430073" y="3793739"/>
              <a:ext cx="1577307" cy="545052"/>
              <a:chOff x="2646952" y="1955818"/>
              <a:chExt cx="3005207" cy="545052"/>
            </a:xfrm>
          </p:grpSpPr>
          <p:cxnSp>
            <p:nvCxnSpPr>
              <p:cNvPr id="22" name="直接连接符 21">
                <a:extLst>
                  <a:ext uri="{FF2B5EF4-FFF2-40B4-BE49-F238E27FC236}">
                    <a16:creationId xmlns:a16="http://schemas.microsoft.com/office/drawing/2014/main" id="{740EED77-C8AF-435C-8E4D-02D6CE345AB8}"/>
                  </a:ext>
                </a:extLst>
              </p:cNvPr>
              <p:cNvCxnSpPr/>
              <p:nvPr/>
            </p:nvCxnSpPr>
            <p:spPr>
              <a:xfrm>
                <a:off x="2646952" y="1955818"/>
                <a:ext cx="0" cy="545052"/>
              </a:xfrm>
              <a:prstGeom prst="line">
                <a:avLst/>
              </a:prstGeom>
              <a:noFill/>
              <a:ln w="19050" cap="flat" cmpd="sng" algn="ctr">
                <a:solidFill>
                  <a:srgbClr val="4F81BD">
                    <a:shade val="95000"/>
                    <a:satMod val="105000"/>
                  </a:srgbClr>
                </a:solidFill>
                <a:prstDash val="sysDash"/>
              </a:ln>
              <a:effectLst/>
            </p:spPr>
          </p:cxnSp>
          <p:cxnSp>
            <p:nvCxnSpPr>
              <p:cNvPr id="23" name="直接连接符 22">
                <a:extLst>
                  <a:ext uri="{FF2B5EF4-FFF2-40B4-BE49-F238E27FC236}">
                    <a16:creationId xmlns:a16="http://schemas.microsoft.com/office/drawing/2014/main" id="{DA870104-6ACF-4A76-9BA6-265FB23CE2FD}"/>
                  </a:ext>
                </a:extLst>
              </p:cNvPr>
              <p:cNvCxnSpPr/>
              <p:nvPr/>
            </p:nvCxnSpPr>
            <p:spPr>
              <a:xfrm>
                <a:off x="5652159" y="1955818"/>
                <a:ext cx="0" cy="545052"/>
              </a:xfrm>
              <a:prstGeom prst="line">
                <a:avLst/>
              </a:prstGeom>
              <a:noFill/>
              <a:ln w="19050" cap="flat" cmpd="sng" algn="ctr">
                <a:solidFill>
                  <a:srgbClr val="4F81BD">
                    <a:shade val="95000"/>
                    <a:satMod val="105000"/>
                  </a:srgbClr>
                </a:solidFill>
                <a:prstDash val="sysDash"/>
              </a:ln>
              <a:effectLst/>
            </p:spPr>
          </p:cxnSp>
          <p:cxnSp>
            <p:nvCxnSpPr>
              <p:cNvPr id="24" name="直接箭头连接符 23">
                <a:extLst>
                  <a:ext uri="{FF2B5EF4-FFF2-40B4-BE49-F238E27FC236}">
                    <a16:creationId xmlns:a16="http://schemas.microsoft.com/office/drawing/2014/main" id="{851CCD65-5D3D-4069-8829-6328A6293390}"/>
                  </a:ext>
                </a:extLst>
              </p:cNvPr>
              <p:cNvCxnSpPr/>
              <p:nvPr/>
            </p:nvCxnSpPr>
            <p:spPr>
              <a:xfrm>
                <a:off x="2646952" y="2171872"/>
                <a:ext cx="3005207" cy="0"/>
              </a:xfrm>
              <a:prstGeom prst="straightConnector1">
                <a:avLst/>
              </a:prstGeom>
              <a:noFill/>
              <a:ln w="12700" cap="flat" cmpd="sng" algn="ctr">
                <a:solidFill>
                  <a:srgbClr val="4F81BD">
                    <a:shade val="95000"/>
                    <a:satMod val="105000"/>
                  </a:srgbClr>
                </a:solidFill>
                <a:prstDash val="solid"/>
                <a:headEnd type="triangle"/>
                <a:tailEnd type="triangle"/>
              </a:ln>
              <a:effectLst/>
            </p:spPr>
          </p:cxnSp>
          <p:sp>
            <p:nvSpPr>
              <p:cNvPr id="25" name="文本框 24">
                <a:extLst>
                  <a:ext uri="{FF2B5EF4-FFF2-40B4-BE49-F238E27FC236}">
                    <a16:creationId xmlns:a16="http://schemas.microsoft.com/office/drawing/2014/main" id="{19ECF1CF-4651-444C-ADD6-477F92EA5C30}"/>
                  </a:ext>
                </a:extLst>
              </p:cNvPr>
              <p:cNvSpPr txBox="1"/>
              <p:nvPr/>
            </p:nvSpPr>
            <p:spPr>
              <a:xfrm>
                <a:off x="3334999" y="2032806"/>
                <a:ext cx="1647457" cy="276999"/>
              </a:xfrm>
              <a:prstGeom prst="rect">
                <a:avLst/>
              </a:prstGeom>
              <a:solidFill>
                <a:sysClr val="window" lastClr="FFFFFF"/>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TCP</a:t>
                </a: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报文</a:t>
                </a:r>
              </a:p>
            </p:txBody>
          </p:sp>
        </p:grpSp>
        <p:grpSp>
          <p:nvGrpSpPr>
            <p:cNvPr id="26" name="组合 25">
              <a:extLst>
                <a:ext uri="{FF2B5EF4-FFF2-40B4-BE49-F238E27FC236}">
                  <a16:creationId xmlns:a16="http://schemas.microsoft.com/office/drawing/2014/main" id="{CA5DA59A-84CF-4E81-82A4-289008B0C7CB}"/>
                </a:ext>
              </a:extLst>
            </p:cNvPr>
            <p:cNvGrpSpPr/>
            <p:nvPr/>
          </p:nvGrpSpPr>
          <p:grpSpPr>
            <a:xfrm>
              <a:off x="4774176" y="4688905"/>
              <a:ext cx="2240148" cy="554948"/>
              <a:chOff x="1991055" y="2850984"/>
              <a:chExt cx="3663078" cy="554948"/>
            </a:xfrm>
          </p:grpSpPr>
          <p:cxnSp>
            <p:nvCxnSpPr>
              <p:cNvPr id="27" name="直接连接符 26">
                <a:extLst>
                  <a:ext uri="{FF2B5EF4-FFF2-40B4-BE49-F238E27FC236}">
                    <a16:creationId xmlns:a16="http://schemas.microsoft.com/office/drawing/2014/main" id="{6E41C169-B910-4677-9AC6-D19CD680A1D9}"/>
                  </a:ext>
                </a:extLst>
              </p:cNvPr>
              <p:cNvCxnSpPr/>
              <p:nvPr/>
            </p:nvCxnSpPr>
            <p:spPr>
              <a:xfrm>
                <a:off x="1991055" y="2850984"/>
                <a:ext cx="0" cy="545052"/>
              </a:xfrm>
              <a:prstGeom prst="line">
                <a:avLst/>
              </a:prstGeom>
              <a:noFill/>
              <a:ln w="19050" cap="flat" cmpd="sng" algn="ctr">
                <a:solidFill>
                  <a:srgbClr val="4F81BD">
                    <a:shade val="95000"/>
                    <a:satMod val="105000"/>
                  </a:srgbClr>
                </a:solidFill>
                <a:prstDash val="sysDash"/>
              </a:ln>
              <a:effectLst/>
            </p:spPr>
          </p:cxnSp>
          <p:cxnSp>
            <p:nvCxnSpPr>
              <p:cNvPr id="28" name="直接连接符 27">
                <a:extLst>
                  <a:ext uri="{FF2B5EF4-FFF2-40B4-BE49-F238E27FC236}">
                    <a16:creationId xmlns:a16="http://schemas.microsoft.com/office/drawing/2014/main" id="{58A6A77E-970C-404B-8B3B-3F9D883C9371}"/>
                  </a:ext>
                </a:extLst>
              </p:cNvPr>
              <p:cNvCxnSpPr/>
              <p:nvPr/>
            </p:nvCxnSpPr>
            <p:spPr>
              <a:xfrm>
                <a:off x="5654133" y="2860880"/>
                <a:ext cx="0" cy="545052"/>
              </a:xfrm>
              <a:prstGeom prst="line">
                <a:avLst/>
              </a:prstGeom>
              <a:noFill/>
              <a:ln w="19050" cap="flat" cmpd="sng" algn="ctr">
                <a:solidFill>
                  <a:srgbClr val="4F81BD">
                    <a:shade val="95000"/>
                    <a:satMod val="105000"/>
                  </a:srgbClr>
                </a:solidFill>
                <a:prstDash val="sysDash"/>
              </a:ln>
              <a:effectLst/>
            </p:spPr>
          </p:cxnSp>
          <p:cxnSp>
            <p:nvCxnSpPr>
              <p:cNvPr id="29" name="直接箭头连接符 28">
                <a:extLst>
                  <a:ext uri="{FF2B5EF4-FFF2-40B4-BE49-F238E27FC236}">
                    <a16:creationId xmlns:a16="http://schemas.microsoft.com/office/drawing/2014/main" id="{05A0F039-205E-4E13-8223-54BDAC28DFD5}"/>
                  </a:ext>
                </a:extLst>
              </p:cNvPr>
              <p:cNvCxnSpPr>
                <a:cxnSpLocks/>
              </p:cNvCxnSpPr>
              <p:nvPr/>
            </p:nvCxnSpPr>
            <p:spPr>
              <a:xfrm>
                <a:off x="1991055" y="3106617"/>
                <a:ext cx="3661104" cy="0"/>
              </a:xfrm>
              <a:prstGeom prst="straightConnector1">
                <a:avLst/>
              </a:prstGeom>
              <a:noFill/>
              <a:ln w="12700" cap="flat" cmpd="sng" algn="ctr">
                <a:solidFill>
                  <a:srgbClr val="4F81BD">
                    <a:shade val="95000"/>
                    <a:satMod val="105000"/>
                  </a:srgbClr>
                </a:solidFill>
                <a:prstDash val="solid"/>
                <a:headEnd type="triangle"/>
                <a:tailEnd type="triangle"/>
              </a:ln>
              <a:effectLst/>
            </p:spPr>
          </p:cxnSp>
          <p:sp>
            <p:nvSpPr>
              <p:cNvPr id="30" name="文本框 29">
                <a:extLst>
                  <a:ext uri="{FF2B5EF4-FFF2-40B4-BE49-F238E27FC236}">
                    <a16:creationId xmlns:a16="http://schemas.microsoft.com/office/drawing/2014/main" id="{385533EC-10A3-4939-8447-8AF3E61637FE}"/>
                  </a:ext>
                </a:extLst>
              </p:cNvPr>
              <p:cNvSpPr txBox="1"/>
              <p:nvPr/>
            </p:nvSpPr>
            <p:spPr>
              <a:xfrm>
                <a:off x="3155680" y="2967552"/>
                <a:ext cx="1475871" cy="276999"/>
              </a:xfrm>
              <a:prstGeom prst="rect">
                <a:avLst/>
              </a:prstGeom>
              <a:solidFill>
                <a:sysClr val="window" lastClr="FFFFFF"/>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IP</a:t>
                </a: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数据报</a:t>
                </a:r>
              </a:p>
            </p:txBody>
          </p:sp>
        </p:grpSp>
        <p:grpSp>
          <p:nvGrpSpPr>
            <p:cNvPr id="31" name="组合 30">
              <a:extLst>
                <a:ext uri="{FF2B5EF4-FFF2-40B4-BE49-F238E27FC236}">
                  <a16:creationId xmlns:a16="http://schemas.microsoft.com/office/drawing/2014/main" id="{13461A24-0069-478C-A809-62E5BB117D52}"/>
                </a:ext>
              </a:extLst>
            </p:cNvPr>
            <p:cNvGrpSpPr/>
            <p:nvPr/>
          </p:nvGrpSpPr>
          <p:grpSpPr>
            <a:xfrm>
              <a:off x="4114800" y="5593967"/>
              <a:ext cx="3399646" cy="393568"/>
              <a:chOff x="1331679" y="3756046"/>
              <a:chExt cx="4824536" cy="393568"/>
            </a:xfrm>
          </p:grpSpPr>
          <p:cxnSp>
            <p:nvCxnSpPr>
              <p:cNvPr id="32" name="直接连接符 31">
                <a:extLst>
                  <a:ext uri="{FF2B5EF4-FFF2-40B4-BE49-F238E27FC236}">
                    <a16:creationId xmlns:a16="http://schemas.microsoft.com/office/drawing/2014/main" id="{130D2400-D017-4C49-9104-D2D5D0AFFF54}"/>
                  </a:ext>
                </a:extLst>
              </p:cNvPr>
              <p:cNvCxnSpPr>
                <a:cxnSpLocks/>
              </p:cNvCxnSpPr>
              <p:nvPr/>
            </p:nvCxnSpPr>
            <p:spPr>
              <a:xfrm>
                <a:off x="1331679" y="3756046"/>
                <a:ext cx="0" cy="393566"/>
              </a:xfrm>
              <a:prstGeom prst="line">
                <a:avLst/>
              </a:prstGeom>
              <a:noFill/>
              <a:ln w="19050" cap="flat" cmpd="sng" algn="ctr">
                <a:solidFill>
                  <a:srgbClr val="4F81BD">
                    <a:shade val="95000"/>
                    <a:satMod val="105000"/>
                  </a:srgbClr>
                </a:solidFill>
                <a:prstDash val="sysDash"/>
              </a:ln>
              <a:effectLst/>
            </p:spPr>
          </p:cxnSp>
          <p:cxnSp>
            <p:nvCxnSpPr>
              <p:cNvPr id="33" name="直接连接符 32">
                <a:extLst>
                  <a:ext uri="{FF2B5EF4-FFF2-40B4-BE49-F238E27FC236}">
                    <a16:creationId xmlns:a16="http://schemas.microsoft.com/office/drawing/2014/main" id="{473CC16D-4189-47DA-924C-FA7A16BC8372}"/>
                  </a:ext>
                </a:extLst>
              </p:cNvPr>
              <p:cNvCxnSpPr>
                <a:cxnSpLocks/>
              </p:cNvCxnSpPr>
              <p:nvPr/>
            </p:nvCxnSpPr>
            <p:spPr>
              <a:xfrm>
                <a:off x="6156215" y="3756046"/>
                <a:ext cx="0" cy="393566"/>
              </a:xfrm>
              <a:prstGeom prst="line">
                <a:avLst/>
              </a:prstGeom>
              <a:noFill/>
              <a:ln w="19050" cap="flat" cmpd="sng" algn="ctr">
                <a:solidFill>
                  <a:srgbClr val="4F81BD">
                    <a:shade val="95000"/>
                    <a:satMod val="105000"/>
                  </a:srgbClr>
                </a:solidFill>
                <a:prstDash val="sysDash"/>
              </a:ln>
              <a:effectLst/>
            </p:spPr>
          </p:cxnSp>
          <p:cxnSp>
            <p:nvCxnSpPr>
              <p:cNvPr id="34" name="直接箭头连接符 33">
                <a:extLst>
                  <a:ext uri="{FF2B5EF4-FFF2-40B4-BE49-F238E27FC236}">
                    <a16:creationId xmlns:a16="http://schemas.microsoft.com/office/drawing/2014/main" id="{3B85DC2C-ED5A-4C1D-8645-970CBF36DCCC}"/>
                  </a:ext>
                </a:extLst>
              </p:cNvPr>
              <p:cNvCxnSpPr>
                <a:cxnSpLocks/>
              </p:cNvCxnSpPr>
              <p:nvPr/>
            </p:nvCxnSpPr>
            <p:spPr>
              <a:xfrm>
                <a:off x="1332730" y="4011679"/>
                <a:ext cx="4823485" cy="0"/>
              </a:xfrm>
              <a:prstGeom prst="straightConnector1">
                <a:avLst/>
              </a:prstGeom>
              <a:noFill/>
              <a:ln w="12700" cap="flat" cmpd="sng" algn="ctr">
                <a:solidFill>
                  <a:srgbClr val="4F81BD">
                    <a:shade val="95000"/>
                    <a:satMod val="105000"/>
                  </a:srgbClr>
                </a:solidFill>
                <a:prstDash val="solid"/>
                <a:headEnd type="triangle"/>
                <a:tailEnd type="triangle"/>
              </a:ln>
              <a:effectLst/>
            </p:spPr>
          </p:cxnSp>
          <p:sp>
            <p:nvSpPr>
              <p:cNvPr id="35" name="文本框 34">
                <a:extLst>
                  <a:ext uri="{FF2B5EF4-FFF2-40B4-BE49-F238E27FC236}">
                    <a16:creationId xmlns:a16="http://schemas.microsoft.com/office/drawing/2014/main" id="{B338E801-8587-476B-B3EE-CC6772EA719A}"/>
                  </a:ext>
                </a:extLst>
              </p:cNvPr>
              <p:cNvSpPr txBox="1"/>
              <p:nvPr/>
            </p:nvSpPr>
            <p:spPr>
              <a:xfrm>
                <a:off x="3061897" y="3872615"/>
                <a:ext cx="1152571" cy="276999"/>
              </a:xfrm>
              <a:prstGeom prst="rect">
                <a:avLst/>
              </a:prstGeom>
              <a:solidFill>
                <a:sysClr val="window" lastClr="FFFFFF"/>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MAC</a:t>
                </a: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帧</a:t>
                </a:r>
                <a:endParaRPr kumimoji="0" lang="en-US" altLang="zh-CN"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grpSp>
        <p:sp>
          <p:nvSpPr>
            <p:cNvPr id="36" name="矩形 35">
              <a:extLst>
                <a:ext uri="{FF2B5EF4-FFF2-40B4-BE49-F238E27FC236}">
                  <a16:creationId xmlns:a16="http://schemas.microsoft.com/office/drawing/2014/main" id="{900191C8-5720-4EAF-A26F-D13E527B2DB8}"/>
                </a:ext>
              </a:extLst>
            </p:cNvPr>
            <p:cNvSpPr/>
            <p:nvPr/>
          </p:nvSpPr>
          <p:spPr>
            <a:xfrm>
              <a:off x="7639683" y="3307807"/>
              <a:ext cx="815563" cy="854259"/>
            </a:xfrm>
            <a:prstGeom prst="rect">
              <a:avLst/>
            </a:prstGeom>
            <a:solidFill>
              <a:srgbClr val="B9CDE5"/>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FZZhengHeiS-R-GB"/>
                  <a:cs typeface="+mn-cs"/>
                </a:rPr>
                <a:t>传输层</a:t>
              </a:r>
            </a:p>
          </p:txBody>
        </p:sp>
        <p:sp>
          <p:nvSpPr>
            <p:cNvPr id="37" name="矩形 36">
              <a:extLst>
                <a:ext uri="{FF2B5EF4-FFF2-40B4-BE49-F238E27FC236}">
                  <a16:creationId xmlns:a16="http://schemas.microsoft.com/office/drawing/2014/main" id="{1357A283-49FF-480D-BC6F-ED5E4E38B38D}"/>
                </a:ext>
              </a:extLst>
            </p:cNvPr>
            <p:cNvSpPr/>
            <p:nvPr/>
          </p:nvSpPr>
          <p:spPr>
            <a:xfrm>
              <a:off x="7639683" y="4158877"/>
              <a:ext cx="815563" cy="854260"/>
            </a:xfrm>
            <a:prstGeom prst="rect">
              <a:avLst/>
            </a:prstGeom>
            <a:solidFill>
              <a:srgbClr val="9BBB59">
                <a:lumMod val="40000"/>
                <a:lumOff val="6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FZZhengHeiS-R-GB"/>
                  <a:cs typeface="+mn-cs"/>
                </a:rPr>
                <a:t>网络层</a:t>
              </a:r>
            </a:p>
          </p:txBody>
        </p:sp>
        <p:sp>
          <p:nvSpPr>
            <p:cNvPr id="38" name="矩形 37">
              <a:extLst>
                <a:ext uri="{FF2B5EF4-FFF2-40B4-BE49-F238E27FC236}">
                  <a16:creationId xmlns:a16="http://schemas.microsoft.com/office/drawing/2014/main" id="{52A01207-9B48-4F27-8B13-B94A5E3F7620}"/>
                </a:ext>
              </a:extLst>
            </p:cNvPr>
            <p:cNvSpPr/>
            <p:nvPr/>
          </p:nvSpPr>
          <p:spPr>
            <a:xfrm>
              <a:off x="7639683" y="5013896"/>
              <a:ext cx="815563" cy="854260"/>
            </a:xfrm>
            <a:prstGeom prst="rect">
              <a:avLst/>
            </a:prstGeom>
            <a:solidFill>
              <a:srgbClr val="E6B9B8"/>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FZZhengHeiS-R-GB"/>
                  <a:cs typeface="+mn-cs"/>
                </a:rPr>
                <a:t>数据</a:t>
              </a:r>
              <a:endParaRPr kumimoji="0" lang="en-US" altLang="zh-CN" sz="1200" b="0" i="0" u="none" strike="noStrike" kern="0" cap="none" spc="0" normalizeH="0" baseline="0" noProof="0" dirty="0">
                <a:ln>
                  <a:noFill/>
                </a:ln>
                <a:solidFill>
                  <a:prstClr val="black"/>
                </a:solidFill>
                <a:effectLst/>
                <a:uLnTx/>
                <a:uFillTx/>
                <a:latin typeface="FZZhengHeiS-R-GB"/>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FZZhengHeiS-R-GB"/>
                  <a:cs typeface="+mn-cs"/>
                </a:rPr>
                <a:t>链路层</a:t>
              </a:r>
            </a:p>
          </p:txBody>
        </p:sp>
      </p:grpSp>
      <p:sp>
        <p:nvSpPr>
          <p:cNvPr id="39" name="文本框 1">
            <a:extLst>
              <a:ext uri="{FF2B5EF4-FFF2-40B4-BE49-F238E27FC236}">
                <a16:creationId xmlns:a16="http://schemas.microsoft.com/office/drawing/2014/main" id="{C3B30939-8749-4840-9291-BF0A57F62CE6}"/>
              </a:ext>
            </a:extLst>
          </p:cNvPr>
          <p:cNvSpPr txBox="1">
            <a:spLocks noChangeArrowheads="1"/>
          </p:cNvSpPr>
          <p:nvPr/>
        </p:nvSpPr>
        <p:spPr bwMode="auto">
          <a:xfrm>
            <a:off x="2971800" y="111354"/>
            <a:ext cx="5029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r>
              <a:rPr lang="en-US" altLang="zh-CN" sz="2800" dirty="0">
                <a:solidFill>
                  <a:schemeClr val="bg1"/>
                </a:solidFill>
                <a:latin typeface="微软雅黑" panose="020B0503020204020204" pitchFamily="34" charset="-122"/>
                <a:ea typeface="微软雅黑" panose="020B0503020204020204" pitchFamily="34" charset="-122"/>
              </a:rPr>
              <a:t>MAC</a:t>
            </a:r>
            <a:r>
              <a:rPr lang="zh-CN" altLang="en-US" sz="2800" dirty="0">
                <a:solidFill>
                  <a:schemeClr val="bg1"/>
                </a:solidFill>
                <a:latin typeface="微软雅黑" panose="020B0503020204020204" pitchFamily="34" charset="-122"/>
                <a:ea typeface="微软雅黑" panose="020B0503020204020204" pitchFamily="34" charset="-122"/>
              </a:rPr>
              <a:t>地址 </a:t>
            </a:r>
            <a:r>
              <a:rPr lang="en-US" altLang="zh-CN" sz="2800" dirty="0">
                <a:solidFill>
                  <a:schemeClr val="bg1"/>
                </a:solidFill>
                <a:latin typeface="微软雅黑" panose="020B0503020204020204" pitchFamily="34" charset="-122"/>
                <a:ea typeface="微软雅黑" panose="020B0503020204020204" pitchFamily="34" charset="-122"/>
              </a:rPr>
              <a:t>vs. IP</a:t>
            </a:r>
            <a:r>
              <a:rPr lang="zh-CN" altLang="en-US" sz="2800" dirty="0">
                <a:solidFill>
                  <a:schemeClr val="bg1"/>
                </a:solidFill>
                <a:latin typeface="微软雅黑" panose="020B0503020204020204" pitchFamily="34" charset="-122"/>
                <a:ea typeface="微软雅黑" panose="020B0503020204020204" pitchFamily="34" charset="-122"/>
              </a:rPr>
              <a:t>地址 </a:t>
            </a:r>
          </a:p>
        </p:txBody>
      </p:sp>
    </p:spTree>
    <p:extLst>
      <p:ext uri="{BB962C8B-B14F-4D97-AF65-F5344CB8AC3E}">
        <p14:creationId xmlns:p14="http://schemas.microsoft.com/office/powerpoint/2010/main" val="626778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a:extLst>
              <a:ext uri="{FF2B5EF4-FFF2-40B4-BE49-F238E27FC236}">
                <a16:creationId xmlns:a16="http://schemas.microsoft.com/office/drawing/2014/main" id="{3A4089A1-839E-464D-834A-EDEDF73F6909}"/>
              </a:ext>
            </a:extLst>
          </p:cNvPr>
          <p:cNvSpPr>
            <a:spLocks noChangeArrowheads="1"/>
          </p:cNvSpPr>
          <p:nvPr/>
        </p:nvSpPr>
        <p:spPr bwMode="auto">
          <a:xfrm>
            <a:off x="0" y="0"/>
            <a:ext cx="9144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565251" name="Text Box 3">
            <a:extLst>
              <a:ext uri="{FF2B5EF4-FFF2-40B4-BE49-F238E27FC236}">
                <a16:creationId xmlns:a16="http://schemas.microsoft.com/office/drawing/2014/main" id="{D02AF75B-4078-4C9B-B7CC-6F9D9413EB78}"/>
              </a:ext>
            </a:extLst>
          </p:cNvPr>
          <p:cNvSpPr txBox="1">
            <a:spLocks noChangeArrowheads="1"/>
          </p:cNvSpPr>
          <p:nvPr/>
        </p:nvSpPr>
        <p:spPr bwMode="auto">
          <a:xfrm>
            <a:off x="228600" y="329624"/>
            <a:ext cx="3357009" cy="584775"/>
          </a:xfrm>
          <a:prstGeom prst="rect">
            <a:avLst/>
          </a:prstGeom>
          <a:noFill/>
          <a:ln>
            <a:noFill/>
          </a:ln>
          <a:effectLst/>
        </p:spPr>
        <p:txBody>
          <a:bodyPr wrap="none">
            <a:spAutoFit/>
          </a:bodyPr>
          <a:lstStyle/>
          <a:p>
            <a:pPr>
              <a:defRPr/>
            </a:pPr>
            <a:r>
              <a:rPr lang="en-US" altLang="zh-CN" dirty="0">
                <a:latin typeface="微软雅黑" panose="020B0503020204020204" pitchFamily="34" charset="-122"/>
                <a:ea typeface="微软雅黑" panose="020B0503020204020204" pitchFamily="34" charset="-122"/>
              </a:rPr>
              <a:t>13.3  </a:t>
            </a:r>
            <a:r>
              <a:rPr lang="zh-CN" altLang="en-US" dirty="0">
                <a:latin typeface="微软雅黑" panose="020B0503020204020204" pitchFamily="34" charset="-122"/>
                <a:ea typeface="微软雅黑" panose="020B0503020204020204" pitchFamily="34" charset="-122"/>
              </a:rPr>
              <a:t>以太网技术</a:t>
            </a:r>
            <a:endParaRPr lang="en-US" altLang="zh-CN" dirty="0">
              <a:latin typeface="微软雅黑" panose="020B0503020204020204" pitchFamily="34" charset="-122"/>
              <a:ea typeface="微软雅黑" panose="020B0503020204020204" pitchFamily="34" charset="-122"/>
            </a:endParaRPr>
          </a:p>
        </p:txBody>
      </p:sp>
      <p:sp>
        <p:nvSpPr>
          <p:cNvPr id="29701" name="Text Box 4">
            <a:extLst>
              <a:ext uri="{FF2B5EF4-FFF2-40B4-BE49-F238E27FC236}">
                <a16:creationId xmlns:a16="http://schemas.microsoft.com/office/drawing/2014/main" id="{0A016508-4F0D-4A8A-BF72-8829B40B47D8}"/>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endParaRPr lang="zh-CN" altLang="zh-CN" sz="1800">
              <a:latin typeface="Times New Roman" panose="02020603050405020304" pitchFamily="18" charset="0"/>
              <a:ea typeface="宋体" panose="02010600030101010101" pitchFamily="2" charset="-122"/>
            </a:endParaRPr>
          </a:p>
        </p:txBody>
      </p:sp>
      <p:sp>
        <p:nvSpPr>
          <p:cNvPr id="11" name="Text Box 4">
            <a:extLst>
              <a:ext uri="{FF2B5EF4-FFF2-40B4-BE49-F238E27FC236}">
                <a16:creationId xmlns:a16="http://schemas.microsoft.com/office/drawing/2014/main" id="{B57EB9C3-6924-469E-A00A-2A4A07A71324}"/>
              </a:ext>
            </a:extLst>
          </p:cNvPr>
          <p:cNvSpPr txBox="1">
            <a:spLocks noChangeArrowheads="1"/>
          </p:cNvSpPr>
          <p:nvPr/>
        </p:nvSpPr>
        <p:spPr bwMode="auto">
          <a:xfrm>
            <a:off x="3359982" y="5871835"/>
            <a:ext cx="250741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13.3  </a:t>
            </a:r>
            <a:r>
              <a:rPr lang="zh-CN" altLang="en-US" sz="1600" dirty="0">
                <a:latin typeface="Times New Roman" panose="02020603050405020304" pitchFamily="18" charset="0"/>
                <a:ea typeface="宋体" panose="02010600030101010101" pitchFamily="2" charset="-122"/>
              </a:rPr>
              <a:t>以太网的四代发展</a:t>
            </a:r>
            <a:endParaRPr lang="en-US" altLang="zh-CN" sz="1600" dirty="0">
              <a:latin typeface="Times New Roman" panose="02020603050405020304" pitchFamily="18" charset="0"/>
              <a:ea typeface="宋体" panose="02010600030101010101" pitchFamily="2" charset="-122"/>
            </a:endParaRPr>
          </a:p>
        </p:txBody>
      </p:sp>
      <p:pic>
        <p:nvPicPr>
          <p:cNvPr id="12" name="Picture 6">
            <a:extLst>
              <a:ext uri="{FF2B5EF4-FFF2-40B4-BE49-F238E27FC236}">
                <a16:creationId xmlns:a16="http://schemas.microsoft.com/office/drawing/2014/main" id="{9318D4C4-19E8-49C9-A0F9-1E3195E8EC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8482" y="3886200"/>
            <a:ext cx="5547035" cy="1768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945433BF-A9ED-46C2-85A1-0475DA2AAFB7}"/>
              </a:ext>
            </a:extLst>
          </p:cNvPr>
          <p:cNvSpPr/>
          <p:nvPr/>
        </p:nvSpPr>
        <p:spPr>
          <a:xfrm>
            <a:off x="537769" y="1333148"/>
            <a:ext cx="8229600" cy="2264851"/>
          </a:xfrm>
          <a:prstGeom prst="rect">
            <a:avLst/>
          </a:prstGeom>
        </p:spPr>
        <p:txBody>
          <a:bodyPr wrap="square">
            <a:spAutoFit/>
          </a:bodyPr>
          <a:lstStyle/>
          <a:p>
            <a:pPr lvl="0" algn="just">
              <a:lnSpc>
                <a:spcPct val="150000"/>
              </a:lnSpc>
            </a:pPr>
            <a:r>
              <a:rPr lang="zh-CN" altLang="zh-CN" sz="1600" b="0" dirty="0">
                <a:solidFill>
                  <a:srgbClr val="000000"/>
                </a:solidFill>
                <a:latin typeface="微软雅黑" panose="020B0503020204020204" pitchFamily="34" charset="-122"/>
                <a:ea typeface="微软雅黑" panose="020B0503020204020204" pitchFamily="34" charset="-122"/>
              </a:rPr>
              <a:t>以太网具有如10BASE-T、10BASE-2</a:t>
            </a:r>
            <a:r>
              <a:rPr lang="zh-CN" altLang="en-US" sz="1600" b="0" dirty="0">
                <a:solidFill>
                  <a:srgbClr val="000000"/>
                </a:solidFill>
                <a:latin typeface="微软雅黑" panose="020B0503020204020204" pitchFamily="34" charset="-122"/>
                <a:ea typeface="微软雅黑" panose="020B0503020204020204" pitchFamily="34" charset="-122"/>
              </a:rPr>
              <a:t>、</a:t>
            </a:r>
            <a:r>
              <a:rPr lang="zh-CN" altLang="zh-CN" sz="1600" b="0" dirty="0">
                <a:solidFill>
                  <a:srgbClr val="000000"/>
                </a:solidFill>
                <a:latin typeface="微软雅黑" panose="020B0503020204020204" pitchFamily="34" charset="-122"/>
                <a:ea typeface="微软雅黑" panose="020B0503020204020204" pitchFamily="34" charset="-122"/>
              </a:rPr>
              <a:t>100BASE-T、1000BASE-LX、10GBASE-T和40</a:t>
            </a:r>
            <a:r>
              <a:rPr lang="en-US" altLang="zh-CN" sz="1600" b="0" dirty="0">
                <a:solidFill>
                  <a:srgbClr val="000000"/>
                </a:solidFill>
                <a:latin typeface="微软雅黑" panose="020B0503020204020204" pitchFamily="34" charset="-122"/>
                <a:ea typeface="微软雅黑" panose="020B0503020204020204" pitchFamily="34" charset="-122"/>
              </a:rPr>
              <a:t>G</a:t>
            </a:r>
            <a:r>
              <a:rPr lang="zh-CN" altLang="zh-CN" sz="1600" b="0" dirty="0">
                <a:solidFill>
                  <a:srgbClr val="000000"/>
                </a:solidFill>
                <a:latin typeface="微软雅黑" panose="020B0503020204020204" pitchFamily="34" charset="-122"/>
                <a:ea typeface="微软雅黑" panose="020B0503020204020204" pitchFamily="34" charset="-122"/>
              </a:rPr>
              <a:t>BASE-T</a:t>
            </a:r>
            <a:r>
              <a:rPr lang="zh-CN" altLang="en-US" sz="1600" b="0" dirty="0">
                <a:solidFill>
                  <a:srgbClr val="000000"/>
                </a:solidFill>
                <a:latin typeface="微软雅黑" panose="020B0503020204020204" pitchFamily="34" charset="-122"/>
                <a:ea typeface="微软雅黑" panose="020B0503020204020204" pitchFamily="34" charset="-122"/>
              </a:rPr>
              <a:t>等形式</a:t>
            </a:r>
            <a:r>
              <a:rPr lang="zh-CN" altLang="zh-CN" sz="1600" b="0" dirty="0">
                <a:solidFill>
                  <a:srgbClr val="000000"/>
                </a:solidFill>
                <a:latin typeface="微软雅黑" panose="020B0503020204020204" pitchFamily="34" charset="-122"/>
                <a:ea typeface="微软雅黑" panose="020B0503020204020204" pitchFamily="34" charset="-122"/>
              </a:rPr>
              <a:t>的首字母缩写词。缩写词的第</a:t>
            </a:r>
            <a:r>
              <a:rPr lang="zh-CN" altLang="en-US" sz="1600" b="0" dirty="0">
                <a:solidFill>
                  <a:srgbClr val="000000"/>
                </a:solidFill>
                <a:latin typeface="微软雅黑" panose="020B0503020204020204" pitchFamily="34" charset="-122"/>
                <a:ea typeface="微软雅黑" panose="020B0503020204020204" pitchFamily="34" charset="-122"/>
              </a:rPr>
              <a:t>一</a:t>
            </a:r>
            <a:r>
              <a:rPr lang="zh-CN" altLang="zh-CN" sz="1600" b="0" dirty="0">
                <a:solidFill>
                  <a:srgbClr val="000000"/>
                </a:solidFill>
                <a:latin typeface="微软雅黑" panose="020B0503020204020204" pitchFamily="34" charset="-122"/>
                <a:ea typeface="微软雅黑" panose="020B0503020204020204" pitchFamily="34" charset="-122"/>
              </a:rPr>
              <a:t>部分指该标准的速率</a:t>
            </a:r>
            <a:r>
              <a:rPr lang="zh-CN" altLang="en-US" sz="1600" b="0" dirty="0">
                <a:solidFill>
                  <a:srgbClr val="000000"/>
                </a:solidFill>
                <a:latin typeface="微软雅黑" panose="020B0503020204020204" pitchFamily="34" charset="-122"/>
                <a:ea typeface="微软雅黑" panose="020B0503020204020204" pitchFamily="34" charset="-122"/>
              </a:rPr>
              <a:t>，</a:t>
            </a:r>
            <a:r>
              <a:rPr lang="zh-CN" altLang="zh-CN" sz="1600" b="0" dirty="0">
                <a:solidFill>
                  <a:srgbClr val="000000"/>
                </a:solidFill>
                <a:latin typeface="微软雅黑" panose="020B0503020204020204" pitchFamily="34" charset="-122"/>
                <a:ea typeface="微软雅黑" panose="020B0503020204020204" pitchFamily="34" charset="-122"/>
              </a:rPr>
              <a:t>分别代表10Mbps、100Mbps、1</a:t>
            </a:r>
            <a:r>
              <a:rPr lang="en-US" altLang="zh-CN" sz="1600" b="0" dirty="0">
                <a:solidFill>
                  <a:srgbClr val="000000"/>
                </a:solidFill>
                <a:latin typeface="微软雅黑" panose="020B0503020204020204" pitchFamily="34" charset="-122"/>
                <a:ea typeface="微软雅黑" panose="020B0503020204020204" pitchFamily="34" charset="-122"/>
              </a:rPr>
              <a:t>G</a:t>
            </a:r>
            <a:r>
              <a:rPr lang="zh-CN" altLang="zh-CN" sz="1600" b="0" dirty="0">
                <a:solidFill>
                  <a:srgbClr val="000000"/>
                </a:solidFill>
                <a:latin typeface="微软雅黑" panose="020B0503020204020204" pitchFamily="34" charset="-122"/>
                <a:ea typeface="微软雅黑" panose="020B0503020204020204" pitchFamily="34" charset="-122"/>
              </a:rPr>
              <a:t>bps</a:t>
            </a:r>
            <a:r>
              <a:rPr lang="zh-CN" altLang="en-US" sz="1600" b="0" dirty="0">
                <a:solidFill>
                  <a:srgbClr val="000000"/>
                </a:solidFill>
                <a:latin typeface="微软雅黑" panose="020B0503020204020204" pitchFamily="34" charset="-122"/>
                <a:ea typeface="微软雅黑" panose="020B0503020204020204" pitchFamily="34" charset="-122"/>
              </a:rPr>
              <a:t>、</a:t>
            </a:r>
            <a:r>
              <a:rPr lang="zh-CN" altLang="zh-CN" sz="1600" b="0" dirty="0">
                <a:solidFill>
                  <a:srgbClr val="000000"/>
                </a:solidFill>
                <a:latin typeface="微软雅黑" panose="020B0503020204020204" pitchFamily="34" charset="-122"/>
                <a:ea typeface="微软雅黑" panose="020B0503020204020204" pitchFamily="34" charset="-122"/>
              </a:rPr>
              <a:t>10Gbps 和40Gbps以太网。“BASE”指基带以太网，意味着该物理媒介仅承载以太网流量</a:t>
            </a:r>
            <a:r>
              <a:rPr lang="zh-CN" altLang="en-US" sz="1600" b="0" dirty="0">
                <a:solidFill>
                  <a:srgbClr val="000000"/>
                </a:solidFill>
                <a:latin typeface="微软雅黑" panose="020B0503020204020204" pitchFamily="34" charset="-122"/>
                <a:ea typeface="微软雅黑" panose="020B0503020204020204" pitchFamily="34" charset="-122"/>
              </a:rPr>
              <a:t>，</a:t>
            </a:r>
            <a:r>
              <a:rPr lang="zh-CN" altLang="zh-CN" sz="1600" b="0" dirty="0">
                <a:solidFill>
                  <a:srgbClr val="000000"/>
                </a:solidFill>
                <a:latin typeface="微软雅黑" panose="020B0503020204020204" pitchFamily="34" charset="-122"/>
                <a:ea typeface="微软雅黑" panose="020B0503020204020204" pitchFamily="34" charset="-122"/>
              </a:rPr>
              <a:t>几乎所有的802.3标准都适用于基带以太网。最后一部分指物理媒介</a:t>
            </a:r>
            <a:r>
              <a:rPr lang="zh-CN" altLang="en-US" sz="1600" b="0" dirty="0">
                <a:solidFill>
                  <a:srgbClr val="000000"/>
                </a:solidFill>
                <a:latin typeface="微软雅黑" panose="020B0503020204020204" pitchFamily="34" charset="-122"/>
                <a:ea typeface="微软雅黑" panose="020B0503020204020204" pitchFamily="34" charset="-122"/>
              </a:rPr>
              <a:t>，</a:t>
            </a:r>
            <a:r>
              <a:rPr lang="zh-CN" altLang="zh-CN" sz="1600" b="0" dirty="0">
                <a:solidFill>
                  <a:srgbClr val="000000"/>
                </a:solidFill>
                <a:latin typeface="微软雅黑" panose="020B0503020204020204" pitchFamily="34" charset="-122"/>
                <a:ea typeface="微软雅黑" panose="020B0503020204020204" pitchFamily="34" charset="-122"/>
              </a:rPr>
              <a:t>以太网是链路层也是物理层的规范，能够</a:t>
            </a:r>
            <a:r>
              <a:rPr lang="zh-CN" altLang="en-US" sz="1600" b="0" dirty="0">
                <a:solidFill>
                  <a:srgbClr val="000000"/>
                </a:solidFill>
                <a:latin typeface="微软雅黑" panose="020B0503020204020204" pitchFamily="34" charset="-122"/>
                <a:ea typeface="微软雅黑" panose="020B0503020204020204" pitchFamily="34" charset="-122"/>
              </a:rPr>
              <a:t>通过</a:t>
            </a:r>
            <a:r>
              <a:rPr lang="zh-CN" altLang="zh-CN" sz="1600" b="0" dirty="0">
                <a:solidFill>
                  <a:srgbClr val="000000"/>
                </a:solidFill>
                <a:latin typeface="微软雅黑" panose="020B0503020204020204" pitchFamily="34" charset="-122"/>
                <a:ea typeface="微软雅黑" panose="020B0503020204020204" pitchFamily="34" charset="-122"/>
              </a:rPr>
              <a:t>各种物理</a:t>
            </a:r>
            <a:r>
              <a:rPr lang="zh-CN" altLang="en-US" sz="1600" b="0" dirty="0">
                <a:solidFill>
                  <a:srgbClr val="000000"/>
                </a:solidFill>
                <a:latin typeface="微软雅黑" panose="020B0503020204020204" pitchFamily="34" charset="-122"/>
                <a:ea typeface="微软雅黑" panose="020B0503020204020204" pitchFamily="34" charset="-122"/>
              </a:rPr>
              <a:t>媒介（</a:t>
            </a:r>
            <a:r>
              <a:rPr lang="zh-CN" altLang="zh-CN" sz="1600" b="0" dirty="0">
                <a:solidFill>
                  <a:srgbClr val="000000"/>
                </a:solidFill>
                <a:latin typeface="微软雅黑" panose="020B0503020204020204" pitchFamily="34" charset="-122"/>
                <a:ea typeface="微软雅黑" panose="020B0503020204020204" pitchFamily="34" charset="-122"/>
              </a:rPr>
              <a:t>包括同轴电缆、铜线和光纤</a:t>
            </a:r>
            <a:r>
              <a:rPr lang="zh-CN" altLang="en-US" sz="1600" b="0" dirty="0">
                <a:solidFill>
                  <a:srgbClr val="000000"/>
                </a:solidFill>
                <a:latin typeface="微软雅黑" panose="020B0503020204020204" pitchFamily="34" charset="-122"/>
                <a:ea typeface="微软雅黑" panose="020B0503020204020204" pitchFamily="34" charset="-122"/>
              </a:rPr>
              <a:t>）</a:t>
            </a:r>
            <a:r>
              <a:rPr lang="zh-CN" altLang="zh-CN" sz="1600" b="0" dirty="0">
                <a:solidFill>
                  <a:srgbClr val="000000"/>
                </a:solidFill>
                <a:latin typeface="微软雅黑" panose="020B0503020204020204" pitchFamily="34" charset="-122"/>
                <a:ea typeface="微软雅黑" panose="020B0503020204020204" pitchFamily="34" charset="-122"/>
              </a:rPr>
              <a:t>承载。</a:t>
            </a:r>
            <a:endParaRPr lang="en-US" altLang="zh-CN" sz="1600" b="0" dirty="0">
              <a:solidFill>
                <a:srgbClr val="000000"/>
              </a:solidFill>
              <a:latin typeface="微软雅黑" panose="020B0503020204020204" pitchFamily="34" charset="-122"/>
              <a:ea typeface="微软雅黑" panose="020B0503020204020204" pitchFamily="34" charset="-122"/>
            </a:endParaRPr>
          </a:p>
        </p:txBody>
      </p:sp>
      <p:sp>
        <p:nvSpPr>
          <p:cNvPr id="9" name="灯片编号占位符 1">
            <a:extLst>
              <a:ext uri="{FF2B5EF4-FFF2-40B4-BE49-F238E27FC236}">
                <a16:creationId xmlns:a16="http://schemas.microsoft.com/office/drawing/2014/main" id="{40C8EB76-14E9-4F91-A947-939601B08D91}"/>
              </a:ext>
            </a:extLst>
          </p:cNvPr>
          <p:cNvSpPr>
            <a:spLocks noGrp="1"/>
          </p:cNvSpPr>
          <p:nvPr>
            <p:ph type="sldNum" sz="quarter" idx="10"/>
          </p:nvPr>
        </p:nvSpPr>
        <p:spPr>
          <a:xfrm>
            <a:off x="8305800" y="6400800"/>
            <a:ext cx="9144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075B3803-654E-45B4-8CF5-0A18479700C3}" type="slidenum">
              <a:rPr lang="en-US" altLang="zh-CN" sz="2000" smtClean="0">
                <a:solidFill>
                  <a:schemeClr val="bg2"/>
                </a:solidFill>
              </a:rPr>
              <a:pPr/>
              <a:t>15</a:t>
            </a:fld>
            <a:endParaRPr lang="en-US" altLang="zh-CN" sz="2000">
              <a:solidFill>
                <a:schemeClr val="bg2"/>
              </a:solidFill>
            </a:endParaRPr>
          </a:p>
        </p:txBody>
      </p:sp>
    </p:spTree>
    <p:extLst>
      <p:ext uri="{BB962C8B-B14F-4D97-AF65-F5344CB8AC3E}">
        <p14:creationId xmlns:p14="http://schemas.microsoft.com/office/powerpoint/2010/main" val="2332556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1">
            <a:extLst>
              <a:ext uri="{FF2B5EF4-FFF2-40B4-BE49-F238E27FC236}">
                <a16:creationId xmlns:a16="http://schemas.microsoft.com/office/drawing/2014/main" id="{440F9D60-A615-4C31-AEF1-A306B2683B7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81F20EA1-E57C-44B1-B525-EEEE7F4C6999}" type="slidenum">
              <a:rPr lang="en-US" altLang="zh-CN" sz="2000" smtClean="0">
                <a:solidFill>
                  <a:schemeClr val="bg2"/>
                </a:solidFill>
              </a:rPr>
              <a:pPr/>
              <a:t>16</a:t>
            </a:fld>
            <a:endParaRPr lang="en-US" altLang="zh-CN" sz="2000">
              <a:solidFill>
                <a:schemeClr val="bg2"/>
              </a:solidFill>
            </a:endParaRPr>
          </a:p>
        </p:txBody>
      </p:sp>
      <p:sp>
        <p:nvSpPr>
          <p:cNvPr id="46085" name="Text Box 4">
            <a:extLst>
              <a:ext uri="{FF2B5EF4-FFF2-40B4-BE49-F238E27FC236}">
                <a16:creationId xmlns:a16="http://schemas.microsoft.com/office/drawing/2014/main" id="{B9E29596-D9A3-4E7A-93D1-C691B0E0E1D9}"/>
              </a:ext>
            </a:extLst>
          </p:cNvPr>
          <p:cNvSpPr txBox="1">
            <a:spLocks noChangeArrowheads="1"/>
          </p:cNvSpPr>
          <p:nvPr/>
        </p:nvSpPr>
        <p:spPr bwMode="auto">
          <a:xfrm>
            <a:off x="3429000" y="3725244"/>
            <a:ext cx="250741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13.8  </a:t>
            </a:r>
            <a:r>
              <a:rPr lang="zh-CN" altLang="en-US" sz="1600" dirty="0">
                <a:latin typeface="Times New Roman" panose="02020603050405020304" pitchFamily="18" charset="0"/>
                <a:ea typeface="宋体" panose="02010600030101010101" pitchFamily="2" charset="-122"/>
              </a:rPr>
              <a:t>标准以太网的分类</a:t>
            </a:r>
            <a:endParaRPr lang="en-US" altLang="zh-CN" sz="1600" dirty="0">
              <a:latin typeface="Times New Roman" panose="02020603050405020304" pitchFamily="18" charset="0"/>
              <a:ea typeface="宋体" panose="02010600030101010101" pitchFamily="2" charset="-122"/>
            </a:endParaRPr>
          </a:p>
        </p:txBody>
      </p:sp>
      <p:pic>
        <p:nvPicPr>
          <p:cNvPr id="46087" name="Picture 6">
            <a:extLst>
              <a:ext uri="{FF2B5EF4-FFF2-40B4-BE49-F238E27FC236}">
                <a16:creationId xmlns:a16="http://schemas.microsoft.com/office/drawing/2014/main" id="{C48B9CB7-996C-4757-A001-18C61CA2BD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9036" y="1045685"/>
            <a:ext cx="4834794" cy="2535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1">
            <a:extLst>
              <a:ext uri="{FF2B5EF4-FFF2-40B4-BE49-F238E27FC236}">
                <a16:creationId xmlns:a16="http://schemas.microsoft.com/office/drawing/2014/main" id="{5FAAA605-CEEA-468D-AA10-5E08614C89DF}"/>
              </a:ext>
            </a:extLst>
          </p:cNvPr>
          <p:cNvSpPr txBox="1">
            <a:spLocks noChangeArrowheads="1"/>
          </p:cNvSpPr>
          <p:nvPr/>
        </p:nvSpPr>
        <p:spPr bwMode="auto">
          <a:xfrm>
            <a:off x="2971800" y="89052"/>
            <a:ext cx="2514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r>
              <a:rPr lang="zh-CN" altLang="en-US" sz="2800" dirty="0">
                <a:solidFill>
                  <a:schemeClr val="bg1"/>
                </a:solidFill>
                <a:latin typeface="微软雅黑" panose="020B0503020204020204" pitchFamily="34" charset="-122"/>
                <a:ea typeface="微软雅黑" panose="020B0503020204020204" pitchFamily="34" charset="-122"/>
              </a:rPr>
              <a:t>标准以太网</a:t>
            </a:r>
          </a:p>
        </p:txBody>
      </p:sp>
      <p:sp>
        <p:nvSpPr>
          <p:cNvPr id="8" name="Text Box 2">
            <a:extLst>
              <a:ext uri="{FF2B5EF4-FFF2-40B4-BE49-F238E27FC236}">
                <a16:creationId xmlns:a16="http://schemas.microsoft.com/office/drawing/2014/main" id="{0C092766-F65D-4447-B3BC-023BDB4063FB}"/>
              </a:ext>
            </a:extLst>
          </p:cNvPr>
          <p:cNvSpPr txBox="1">
            <a:spLocks noChangeArrowheads="1"/>
          </p:cNvSpPr>
          <p:nvPr/>
        </p:nvSpPr>
        <p:spPr bwMode="auto">
          <a:xfrm>
            <a:off x="960863" y="4227136"/>
            <a:ext cx="292099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表</a:t>
            </a:r>
            <a:r>
              <a:rPr lang="en-US" altLang="zh-CN" sz="1600" dirty="0">
                <a:solidFill>
                  <a:schemeClr val="folHlink"/>
                </a:solidFill>
                <a:latin typeface="Times New Roman" panose="02020603050405020304" pitchFamily="18" charset="0"/>
                <a:ea typeface="宋体" panose="02010600030101010101" pitchFamily="2" charset="-122"/>
              </a:rPr>
              <a:t>13.1  </a:t>
            </a:r>
            <a:r>
              <a:rPr lang="zh-CN" altLang="en-US" sz="1600" dirty="0">
                <a:latin typeface="Times New Roman" panose="02020603050405020304" pitchFamily="18" charset="0"/>
                <a:ea typeface="宋体" panose="02010600030101010101" pitchFamily="2" charset="-122"/>
              </a:rPr>
              <a:t>标准以太网实现的总结</a:t>
            </a:r>
            <a:endParaRPr lang="en-US" altLang="zh-CN" sz="1600" dirty="0">
              <a:latin typeface="Times New Roman" panose="02020603050405020304" pitchFamily="18" charset="0"/>
              <a:ea typeface="宋体" panose="02010600030101010101" pitchFamily="2" charset="-122"/>
            </a:endParaRPr>
          </a:p>
        </p:txBody>
      </p:sp>
      <p:pic>
        <p:nvPicPr>
          <p:cNvPr id="9" name="Picture 4">
            <a:extLst>
              <a:ext uri="{FF2B5EF4-FFF2-40B4-BE49-F238E27FC236}">
                <a16:creationId xmlns:a16="http://schemas.microsoft.com/office/drawing/2014/main" id="{9DBE968E-562E-4C42-8539-2FA0D608190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92" r="1912" b="12934"/>
          <a:stretch/>
        </p:blipFill>
        <p:spPr bwMode="auto">
          <a:xfrm>
            <a:off x="960863" y="4596468"/>
            <a:ext cx="7467600" cy="1575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5922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1">
            <a:extLst>
              <a:ext uri="{FF2B5EF4-FFF2-40B4-BE49-F238E27FC236}">
                <a16:creationId xmlns:a16="http://schemas.microsoft.com/office/drawing/2014/main" id="{440F9D60-A615-4C31-AEF1-A306B2683B7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81F20EA1-E57C-44B1-B525-EEEE7F4C6999}" type="slidenum">
              <a:rPr lang="en-US" altLang="zh-CN" sz="2000" smtClean="0">
                <a:solidFill>
                  <a:schemeClr val="bg2"/>
                </a:solidFill>
              </a:rPr>
              <a:pPr/>
              <a:t>17</a:t>
            </a:fld>
            <a:endParaRPr lang="en-US" altLang="zh-CN" sz="2000">
              <a:solidFill>
                <a:schemeClr val="bg2"/>
              </a:solidFill>
            </a:endParaRPr>
          </a:p>
        </p:txBody>
      </p:sp>
      <p:pic>
        <p:nvPicPr>
          <p:cNvPr id="6" name="Picture 6">
            <a:extLst>
              <a:ext uri="{FF2B5EF4-FFF2-40B4-BE49-F238E27FC236}">
                <a16:creationId xmlns:a16="http://schemas.microsoft.com/office/drawing/2014/main" id="{36151157-0CDE-4642-AC39-6F3584597C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1296961"/>
            <a:ext cx="6934200" cy="1475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a:extLst>
              <a:ext uri="{FF2B5EF4-FFF2-40B4-BE49-F238E27FC236}">
                <a16:creationId xmlns:a16="http://schemas.microsoft.com/office/drawing/2014/main" id="{9D63DB80-B9FE-4D7F-8D4B-48C996BF900D}"/>
              </a:ext>
            </a:extLst>
          </p:cNvPr>
          <p:cNvSpPr txBox="1">
            <a:spLocks noChangeArrowheads="1"/>
          </p:cNvSpPr>
          <p:nvPr/>
        </p:nvSpPr>
        <p:spPr bwMode="auto">
          <a:xfrm>
            <a:off x="3115582" y="2989715"/>
            <a:ext cx="282801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13.10  </a:t>
            </a:r>
            <a:r>
              <a:rPr lang="en-US" altLang="zh-CN" sz="1600" dirty="0">
                <a:latin typeface="Times New Roman" panose="02020603050405020304" pitchFamily="18" charset="0"/>
                <a:ea typeface="宋体" panose="02010600030101010101" pitchFamily="2" charset="-122"/>
              </a:rPr>
              <a:t>10Base5: </a:t>
            </a:r>
            <a:r>
              <a:rPr lang="zh-CN" altLang="en-US" sz="1600" dirty="0">
                <a:latin typeface="Times New Roman" panose="02020603050405020304" pitchFamily="18" charset="0"/>
                <a:ea typeface="宋体" panose="02010600030101010101" pitchFamily="2" charset="-122"/>
              </a:rPr>
              <a:t>粗缆以太网</a:t>
            </a:r>
          </a:p>
        </p:txBody>
      </p:sp>
      <p:sp>
        <p:nvSpPr>
          <p:cNvPr id="8" name="Text Box 4">
            <a:extLst>
              <a:ext uri="{FF2B5EF4-FFF2-40B4-BE49-F238E27FC236}">
                <a16:creationId xmlns:a16="http://schemas.microsoft.com/office/drawing/2014/main" id="{6F800D45-D8A2-4DEC-9A6A-9238912AA579}"/>
              </a:ext>
            </a:extLst>
          </p:cNvPr>
          <p:cNvSpPr txBox="1">
            <a:spLocks noChangeArrowheads="1"/>
          </p:cNvSpPr>
          <p:nvPr/>
        </p:nvSpPr>
        <p:spPr bwMode="auto">
          <a:xfrm>
            <a:off x="3124200" y="5868705"/>
            <a:ext cx="29032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13.11  </a:t>
            </a:r>
            <a:r>
              <a:rPr lang="en-US" altLang="zh-CN" sz="1600" dirty="0">
                <a:latin typeface="Times New Roman" panose="02020603050405020304" pitchFamily="18" charset="0"/>
                <a:ea typeface="宋体" panose="02010600030101010101" pitchFamily="2" charset="-122"/>
              </a:rPr>
              <a:t>10Base2</a:t>
            </a:r>
            <a:r>
              <a:rPr lang="zh-CN" altLang="en-US" sz="1600" dirty="0">
                <a:latin typeface="Times New Roman" panose="02020603050405020304" pitchFamily="18" charset="0"/>
                <a:ea typeface="宋体" panose="02010600030101010101" pitchFamily="2" charset="-122"/>
              </a:rPr>
              <a:t>：细缆以太网</a:t>
            </a:r>
            <a:endParaRPr lang="en-US" altLang="zh-CN" sz="1600" dirty="0">
              <a:latin typeface="Times New Roman" panose="02020603050405020304" pitchFamily="18" charset="0"/>
              <a:ea typeface="宋体" panose="02010600030101010101" pitchFamily="2" charset="-122"/>
            </a:endParaRPr>
          </a:p>
        </p:txBody>
      </p:sp>
      <p:pic>
        <p:nvPicPr>
          <p:cNvPr id="9" name="Picture 6">
            <a:extLst>
              <a:ext uri="{FF2B5EF4-FFF2-40B4-BE49-F238E27FC236}">
                <a16:creationId xmlns:a16="http://schemas.microsoft.com/office/drawing/2014/main" id="{86698A41-AA63-46D6-85E7-2761532595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844" y="3657717"/>
            <a:ext cx="5286312" cy="220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9366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1">
            <a:extLst>
              <a:ext uri="{FF2B5EF4-FFF2-40B4-BE49-F238E27FC236}">
                <a16:creationId xmlns:a16="http://schemas.microsoft.com/office/drawing/2014/main" id="{440F9D60-A615-4C31-AEF1-A306B2683B7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81F20EA1-E57C-44B1-B525-EEEE7F4C6999}" type="slidenum">
              <a:rPr lang="en-US" altLang="zh-CN" sz="2000" smtClean="0">
                <a:solidFill>
                  <a:schemeClr val="bg2"/>
                </a:solidFill>
              </a:rPr>
              <a:pPr/>
              <a:t>18</a:t>
            </a:fld>
            <a:endParaRPr lang="en-US" altLang="zh-CN" sz="2000">
              <a:solidFill>
                <a:schemeClr val="bg2"/>
              </a:solidFill>
            </a:endParaRPr>
          </a:p>
        </p:txBody>
      </p:sp>
      <p:sp>
        <p:nvSpPr>
          <p:cNvPr id="10" name="Text Box 4">
            <a:extLst>
              <a:ext uri="{FF2B5EF4-FFF2-40B4-BE49-F238E27FC236}">
                <a16:creationId xmlns:a16="http://schemas.microsoft.com/office/drawing/2014/main" id="{7178A912-E23D-495A-A7DD-1F274F26E338}"/>
              </a:ext>
            </a:extLst>
          </p:cNvPr>
          <p:cNvSpPr txBox="1">
            <a:spLocks noChangeArrowheads="1"/>
          </p:cNvSpPr>
          <p:nvPr/>
        </p:nvSpPr>
        <p:spPr bwMode="auto">
          <a:xfrm>
            <a:off x="2904893" y="3099898"/>
            <a:ext cx="44743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13.12  </a:t>
            </a:r>
            <a:r>
              <a:rPr lang="en-US" altLang="zh-CN" sz="1600" dirty="0">
                <a:latin typeface="Times New Roman" panose="02020603050405020304" pitchFamily="18" charset="0"/>
                <a:ea typeface="宋体" panose="02010600030101010101" pitchFamily="2" charset="-122"/>
              </a:rPr>
              <a:t>10Base-T</a:t>
            </a:r>
            <a:r>
              <a:rPr lang="zh-CN" altLang="en-US" sz="1600" dirty="0">
                <a:latin typeface="Times New Roman" panose="02020603050405020304" pitchFamily="18" charset="0"/>
                <a:ea typeface="宋体" panose="02010600030101010101" pitchFamily="2" charset="-122"/>
              </a:rPr>
              <a:t>：双绞线以太网</a:t>
            </a:r>
            <a:endParaRPr lang="en-US" altLang="zh-CN" sz="1600" dirty="0">
              <a:latin typeface="Times New Roman" panose="02020603050405020304" pitchFamily="18" charset="0"/>
              <a:ea typeface="宋体" panose="02010600030101010101" pitchFamily="2" charset="-122"/>
            </a:endParaRPr>
          </a:p>
        </p:txBody>
      </p:sp>
      <p:pic>
        <p:nvPicPr>
          <p:cNvPr id="11" name="Picture 6">
            <a:extLst>
              <a:ext uri="{FF2B5EF4-FFF2-40B4-BE49-F238E27FC236}">
                <a16:creationId xmlns:a16="http://schemas.microsoft.com/office/drawing/2014/main" id="{7BBDB35A-028D-4EF8-89CF-FD143B19E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3106" y="1140358"/>
            <a:ext cx="5005388" cy="1845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4">
            <a:extLst>
              <a:ext uri="{FF2B5EF4-FFF2-40B4-BE49-F238E27FC236}">
                <a16:creationId xmlns:a16="http://schemas.microsoft.com/office/drawing/2014/main" id="{35FB14C5-A144-4D2B-9111-CFAC2C93C184}"/>
              </a:ext>
            </a:extLst>
          </p:cNvPr>
          <p:cNvSpPr txBox="1">
            <a:spLocks noChangeArrowheads="1"/>
          </p:cNvSpPr>
          <p:nvPr/>
        </p:nvSpPr>
        <p:spPr bwMode="auto">
          <a:xfrm>
            <a:off x="3124200" y="5965017"/>
            <a:ext cx="30059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13.13  </a:t>
            </a:r>
            <a:r>
              <a:rPr lang="en-US" altLang="zh-CN" sz="1600" dirty="0">
                <a:latin typeface="Times New Roman" panose="02020603050405020304" pitchFamily="18" charset="0"/>
                <a:ea typeface="宋体" panose="02010600030101010101" pitchFamily="2" charset="-122"/>
              </a:rPr>
              <a:t>10Base-F</a:t>
            </a:r>
            <a:r>
              <a:rPr lang="zh-CN" altLang="en-US" sz="1600" dirty="0">
                <a:latin typeface="Times New Roman" panose="02020603050405020304" pitchFamily="18" charset="0"/>
                <a:ea typeface="宋体" panose="02010600030101010101" pitchFamily="2" charset="-122"/>
              </a:rPr>
              <a:t>：光纤以太网</a:t>
            </a:r>
            <a:endParaRPr lang="en-US" altLang="zh-CN" sz="1600" dirty="0">
              <a:latin typeface="Times New Roman" panose="02020603050405020304" pitchFamily="18" charset="0"/>
              <a:ea typeface="宋体" panose="02010600030101010101" pitchFamily="2" charset="-122"/>
            </a:endParaRPr>
          </a:p>
        </p:txBody>
      </p:sp>
      <p:pic>
        <p:nvPicPr>
          <p:cNvPr id="13" name="Picture 6">
            <a:extLst>
              <a:ext uri="{FF2B5EF4-FFF2-40B4-BE49-F238E27FC236}">
                <a16:creationId xmlns:a16="http://schemas.microsoft.com/office/drawing/2014/main" id="{622B8727-1E1C-44EC-8163-27B1FE1F94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3886200"/>
            <a:ext cx="5595937" cy="186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5878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1">
            <a:extLst>
              <a:ext uri="{FF2B5EF4-FFF2-40B4-BE49-F238E27FC236}">
                <a16:creationId xmlns:a16="http://schemas.microsoft.com/office/drawing/2014/main" id="{83A5C9B7-D79F-454A-927C-7D7E074FB31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C4D3A843-ECE1-4329-9A7E-C8F428FE5209}" type="slidenum">
              <a:rPr lang="en-US" altLang="zh-CN" sz="2000" smtClean="0">
                <a:solidFill>
                  <a:schemeClr val="bg2"/>
                </a:solidFill>
              </a:rPr>
              <a:pPr/>
              <a:t>19</a:t>
            </a:fld>
            <a:endParaRPr lang="en-US" altLang="zh-CN" sz="2000">
              <a:solidFill>
                <a:schemeClr val="bg2"/>
              </a:solidFill>
            </a:endParaRPr>
          </a:p>
        </p:txBody>
      </p:sp>
      <p:pic>
        <p:nvPicPr>
          <p:cNvPr id="62471" name="Picture 6">
            <a:extLst>
              <a:ext uri="{FF2B5EF4-FFF2-40B4-BE49-F238E27FC236}">
                <a16:creationId xmlns:a16="http://schemas.microsoft.com/office/drawing/2014/main" id="{2C8EFEF3-D7D3-4D8E-A5BD-F76EE64D84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219200"/>
            <a:ext cx="7086600" cy="1903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2" name="Text Box 4">
            <a:extLst>
              <a:ext uri="{FF2B5EF4-FFF2-40B4-BE49-F238E27FC236}">
                <a16:creationId xmlns:a16="http://schemas.microsoft.com/office/drawing/2014/main" id="{2A7BA2DE-5186-4A3E-9D6C-D02F6ECBC8AA}"/>
              </a:ext>
            </a:extLst>
          </p:cNvPr>
          <p:cNvSpPr txBox="1">
            <a:spLocks noChangeArrowheads="1"/>
          </p:cNvSpPr>
          <p:nvPr/>
        </p:nvSpPr>
        <p:spPr bwMode="auto">
          <a:xfrm>
            <a:off x="3627340" y="3208241"/>
            <a:ext cx="17828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13.14  </a:t>
            </a:r>
            <a:r>
              <a:rPr lang="zh-CN" altLang="en-US" sz="1600" dirty="0">
                <a:latin typeface="Times New Roman" panose="02020603050405020304" pitchFamily="18" charset="0"/>
                <a:ea typeface="宋体" panose="02010600030101010101" pitchFamily="2" charset="-122"/>
              </a:rPr>
              <a:t>带宽共享</a:t>
            </a:r>
            <a:endParaRPr lang="en-US" altLang="zh-CN" sz="1600" dirty="0">
              <a:latin typeface="Times New Roman" panose="02020603050405020304" pitchFamily="18" charset="0"/>
              <a:ea typeface="宋体" panose="02010600030101010101" pitchFamily="2" charset="-122"/>
            </a:endParaRPr>
          </a:p>
        </p:txBody>
      </p:sp>
      <p:sp>
        <p:nvSpPr>
          <p:cNvPr id="6" name="文本框 1">
            <a:extLst>
              <a:ext uri="{FF2B5EF4-FFF2-40B4-BE49-F238E27FC236}">
                <a16:creationId xmlns:a16="http://schemas.microsoft.com/office/drawing/2014/main" id="{38C155E0-81D6-4595-AA62-C19CF25F4814}"/>
              </a:ext>
            </a:extLst>
          </p:cNvPr>
          <p:cNvSpPr txBox="1">
            <a:spLocks noChangeArrowheads="1"/>
          </p:cNvSpPr>
          <p:nvPr/>
        </p:nvSpPr>
        <p:spPr bwMode="auto">
          <a:xfrm>
            <a:off x="2971800" y="77901"/>
            <a:ext cx="2514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r>
              <a:rPr lang="zh-CN" altLang="en-US" sz="2800" dirty="0">
                <a:solidFill>
                  <a:schemeClr val="bg1"/>
                </a:solidFill>
                <a:latin typeface="微软雅黑" panose="020B0503020204020204" pitchFamily="34" charset="-122"/>
                <a:ea typeface="微软雅黑" panose="020B0503020204020204" pitchFamily="34" charset="-122"/>
              </a:rPr>
              <a:t>桥接以太网</a:t>
            </a:r>
          </a:p>
        </p:txBody>
      </p:sp>
      <p:grpSp>
        <p:nvGrpSpPr>
          <p:cNvPr id="2" name="组合 1">
            <a:extLst>
              <a:ext uri="{FF2B5EF4-FFF2-40B4-BE49-F238E27FC236}">
                <a16:creationId xmlns:a16="http://schemas.microsoft.com/office/drawing/2014/main" id="{5487BA49-1599-4CF4-861D-6B6D98A8A1DE}"/>
              </a:ext>
            </a:extLst>
          </p:cNvPr>
          <p:cNvGrpSpPr/>
          <p:nvPr/>
        </p:nvGrpSpPr>
        <p:grpSpPr>
          <a:xfrm>
            <a:off x="1708150" y="3911948"/>
            <a:ext cx="5867400" cy="2488852"/>
            <a:chOff x="1708150" y="3911948"/>
            <a:chExt cx="5867400" cy="2488852"/>
          </a:xfrm>
        </p:grpSpPr>
        <p:sp>
          <p:nvSpPr>
            <p:cNvPr id="7" name="Text Box 4">
              <a:extLst>
                <a:ext uri="{FF2B5EF4-FFF2-40B4-BE49-F238E27FC236}">
                  <a16:creationId xmlns:a16="http://schemas.microsoft.com/office/drawing/2014/main" id="{7C8A6DD8-1F97-4D89-8CBA-32CEE0AD5E93}"/>
                </a:ext>
              </a:extLst>
            </p:cNvPr>
            <p:cNvSpPr txBox="1">
              <a:spLocks noChangeArrowheads="1"/>
            </p:cNvSpPr>
            <p:nvPr/>
          </p:nvSpPr>
          <p:spPr bwMode="auto">
            <a:xfrm>
              <a:off x="3124200" y="6062246"/>
              <a:ext cx="30235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13.15  </a:t>
              </a:r>
              <a:r>
                <a:rPr lang="zh-CN" altLang="en-US" sz="1600" dirty="0">
                  <a:latin typeface="Times New Roman" panose="02020603050405020304" pitchFamily="18" charset="0"/>
                  <a:ea typeface="宋体" panose="02010600030101010101" pitchFamily="2" charset="-122"/>
                </a:rPr>
                <a:t>有网桥和无网桥的网络</a:t>
              </a:r>
              <a:endParaRPr lang="en-US" altLang="zh-CN" sz="1600" dirty="0">
                <a:latin typeface="Times New Roman" panose="02020603050405020304" pitchFamily="18" charset="0"/>
                <a:ea typeface="宋体" panose="02010600030101010101" pitchFamily="2" charset="-122"/>
              </a:endParaRPr>
            </a:p>
          </p:txBody>
        </p:sp>
        <p:pic>
          <p:nvPicPr>
            <p:cNvPr id="8" name="Picture 6">
              <a:extLst>
                <a:ext uri="{FF2B5EF4-FFF2-40B4-BE49-F238E27FC236}">
                  <a16:creationId xmlns:a16="http://schemas.microsoft.com/office/drawing/2014/main" id="{A26B1940-5A36-44F6-8C44-593C666167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8150" y="3911948"/>
              <a:ext cx="5867400" cy="2038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1">
            <a:extLst>
              <a:ext uri="{FF2B5EF4-FFF2-40B4-BE49-F238E27FC236}">
                <a16:creationId xmlns:a16="http://schemas.microsoft.com/office/drawing/2014/main" id="{69837A3E-04CB-48CA-9CBC-30704DF1D32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3C9CCC99-DDCE-4C97-9112-3BCB37635BB5}" type="slidenum">
              <a:rPr lang="en-US" altLang="zh-CN" sz="2000" smtClean="0">
                <a:solidFill>
                  <a:schemeClr val="bg2"/>
                </a:solidFill>
              </a:rPr>
              <a:pPr/>
              <a:t>20</a:t>
            </a:fld>
            <a:endParaRPr lang="en-US" altLang="zh-CN" sz="2000">
              <a:solidFill>
                <a:schemeClr val="bg2"/>
              </a:solidFill>
            </a:endParaRPr>
          </a:p>
        </p:txBody>
      </p:sp>
      <p:sp>
        <p:nvSpPr>
          <p:cNvPr id="66565" name="Text Box 4">
            <a:extLst>
              <a:ext uri="{FF2B5EF4-FFF2-40B4-BE49-F238E27FC236}">
                <a16:creationId xmlns:a16="http://schemas.microsoft.com/office/drawing/2014/main" id="{1A6C11C7-D57F-416D-96F8-435CFC6E3169}"/>
              </a:ext>
            </a:extLst>
          </p:cNvPr>
          <p:cNvSpPr txBox="1">
            <a:spLocks noChangeArrowheads="1"/>
          </p:cNvSpPr>
          <p:nvPr/>
        </p:nvSpPr>
        <p:spPr bwMode="auto">
          <a:xfrm>
            <a:off x="2667954" y="3702256"/>
            <a:ext cx="36439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13.16  </a:t>
            </a:r>
            <a:r>
              <a:rPr lang="zh-CN" altLang="en-US" sz="1600" dirty="0">
                <a:latin typeface="Times New Roman" panose="02020603050405020304" pitchFamily="18" charset="0"/>
                <a:ea typeface="宋体" panose="02010600030101010101" pitchFamily="2" charset="-122"/>
              </a:rPr>
              <a:t>有网桥和无网桥网络的冲突域</a:t>
            </a:r>
            <a:endParaRPr lang="en-US" altLang="zh-CN" sz="1600" dirty="0">
              <a:latin typeface="Times New Roman" panose="02020603050405020304" pitchFamily="18" charset="0"/>
              <a:ea typeface="宋体" panose="02010600030101010101" pitchFamily="2" charset="-122"/>
            </a:endParaRPr>
          </a:p>
        </p:txBody>
      </p:sp>
      <p:pic>
        <p:nvPicPr>
          <p:cNvPr id="66567" name="Picture 7">
            <a:extLst>
              <a:ext uri="{FF2B5EF4-FFF2-40B4-BE49-F238E27FC236}">
                <a16:creationId xmlns:a16="http://schemas.microsoft.com/office/drawing/2014/main" id="{CB367192-EE20-4AEF-993E-BC22CB019E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5467" y="970283"/>
            <a:ext cx="5152231" cy="2664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a:extLst>
              <a:ext uri="{FF2B5EF4-FFF2-40B4-BE49-F238E27FC236}">
                <a16:creationId xmlns:a16="http://schemas.microsoft.com/office/drawing/2014/main" id="{7E20B495-1E7E-4650-AEDE-E3C6A4FFE1A0}"/>
              </a:ext>
            </a:extLst>
          </p:cNvPr>
          <p:cNvGrpSpPr/>
          <p:nvPr/>
        </p:nvGrpSpPr>
        <p:grpSpPr>
          <a:xfrm>
            <a:off x="2628900" y="4267200"/>
            <a:ext cx="3886200" cy="2287488"/>
            <a:chOff x="2628900" y="4267200"/>
            <a:chExt cx="3886200" cy="2287488"/>
          </a:xfrm>
        </p:grpSpPr>
        <p:pic>
          <p:nvPicPr>
            <p:cNvPr id="5" name="Picture 7">
              <a:extLst>
                <a:ext uri="{FF2B5EF4-FFF2-40B4-BE49-F238E27FC236}">
                  <a16:creationId xmlns:a16="http://schemas.microsoft.com/office/drawing/2014/main" id="{3DF9F72A-BF9F-4262-8E4F-EE756DF15E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8900" y="4267200"/>
              <a:ext cx="3886200" cy="1922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4">
              <a:extLst>
                <a:ext uri="{FF2B5EF4-FFF2-40B4-BE49-F238E27FC236}">
                  <a16:creationId xmlns:a16="http://schemas.microsoft.com/office/drawing/2014/main" id="{FE911F65-27D6-4506-856D-DC760F704CA5}"/>
                </a:ext>
              </a:extLst>
            </p:cNvPr>
            <p:cNvSpPr txBox="1">
              <a:spLocks noChangeArrowheads="1"/>
            </p:cNvSpPr>
            <p:nvPr/>
          </p:nvSpPr>
          <p:spPr bwMode="auto">
            <a:xfrm>
              <a:off x="3518565" y="6216134"/>
              <a:ext cx="219643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13.17  </a:t>
              </a:r>
              <a:r>
                <a:rPr lang="zh-CN" altLang="en-US" sz="1600" dirty="0">
                  <a:latin typeface="Times New Roman" panose="02020603050405020304" pitchFamily="18" charset="0"/>
                  <a:ea typeface="宋体" panose="02010600030101010101" pitchFamily="2" charset="-122"/>
                </a:rPr>
                <a:t>交换式以太网</a:t>
              </a:r>
              <a:endParaRPr lang="en-US" altLang="zh-CN" sz="1600" dirty="0">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4">
            <a:extLst>
              <a:ext uri="{FF2B5EF4-FFF2-40B4-BE49-F238E27FC236}">
                <a16:creationId xmlns:a16="http://schemas.microsoft.com/office/drawing/2014/main" id="{94CCB170-CDBD-4E81-9EEF-3565DE2E1B8B}"/>
              </a:ext>
            </a:extLst>
          </p:cNvPr>
          <p:cNvSpPr txBox="1">
            <a:spLocks noChangeArrowheads="1"/>
          </p:cNvSpPr>
          <p:nvPr/>
        </p:nvSpPr>
        <p:spPr bwMode="auto">
          <a:xfrm>
            <a:off x="3134519" y="3852446"/>
            <a:ext cx="28167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13.18  </a:t>
            </a:r>
            <a:r>
              <a:rPr lang="zh-CN" altLang="en-US" sz="1600" dirty="0">
                <a:latin typeface="Times New Roman" panose="02020603050405020304" pitchFamily="18" charset="0"/>
                <a:ea typeface="宋体" panose="02010600030101010101" pitchFamily="2" charset="-122"/>
              </a:rPr>
              <a:t>全双工交换式以太网</a:t>
            </a:r>
            <a:endParaRPr lang="en-US" altLang="zh-CN" sz="1600" dirty="0">
              <a:latin typeface="Times New Roman" panose="02020603050405020304" pitchFamily="18" charset="0"/>
              <a:ea typeface="宋体" panose="02010600030101010101" pitchFamily="2" charset="-122"/>
            </a:endParaRPr>
          </a:p>
        </p:txBody>
      </p:sp>
      <p:sp>
        <p:nvSpPr>
          <p:cNvPr id="70659" name="灯片编号占位符 1">
            <a:extLst>
              <a:ext uri="{FF2B5EF4-FFF2-40B4-BE49-F238E27FC236}">
                <a16:creationId xmlns:a16="http://schemas.microsoft.com/office/drawing/2014/main" id="{30DE8C51-FCD8-40D5-9C3E-762B431A844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A8D3700F-1B55-4B55-91E0-A87BED2EBE1C}" type="slidenum">
              <a:rPr lang="en-US" altLang="zh-CN" sz="2000" smtClean="0">
                <a:solidFill>
                  <a:schemeClr val="bg2"/>
                </a:solidFill>
              </a:rPr>
              <a:pPr/>
              <a:t>21</a:t>
            </a:fld>
            <a:endParaRPr lang="en-US" altLang="zh-CN" sz="2000">
              <a:solidFill>
                <a:schemeClr val="bg2"/>
              </a:solidFill>
            </a:endParaRPr>
          </a:p>
        </p:txBody>
      </p:sp>
      <p:sp>
        <p:nvSpPr>
          <p:cNvPr id="70662" name="Text Box 4">
            <a:extLst>
              <a:ext uri="{FF2B5EF4-FFF2-40B4-BE49-F238E27FC236}">
                <a16:creationId xmlns:a16="http://schemas.microsoft.com/office/drawing/2014/main" id="{8AD48C53-0782-4637-BF8A-D5DF8D241EBE}"/>
              </a:ext>
            </a:extLst>
          </p:cNvPr>
          <p:cNvSpPr txBox="1">
            <a:spLocks noChangeArrowheads="1"/>
          </p:cNvSpPr>
          <p:nvPr/>
        </p:nvSpPr>
        <p:spPr bwMode="auto">
          <a:xfrm>
            <a:off x="2938453" y="85494"/>
            <a:ext cx="3416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2800" dirty="0">
                <a:solidFill>
                  <a:schemeClr val="bg1"/>
                </a:solidFill>
                <a:latin typeface="微软雅黑" panose="020B0503020204020204" pitchFamily="34" charset="-122"/>
                <a:ea typeface="微软雅黑" panose="020B0503020204020204" pitchFamily="34" charset="-122"/>
              </a:rPr>
              <a:t>全双工交换式以太网</a:t>
            </a:r>
            <a:endParaRPr lang="en-US" altLang="zh-CN" sz="2800" dirty="0">
              <a:solidFill>
                <a:schemeClr val="bg1"/>
              </a:solidFill>
              <a:latin typeface="微软雅黑" panose="020B0503020204020204" pitchFamily="34" charset="-122"/>
              <a:ea typeface="微软雅黑" panose="020B0503020204020204" pitchFamily="34" charset="-122"/>
            </a:endParaRPr>
          </a:p>
        </p:txBody>
      </p:sp>
      <p:pic>
        <p:nvPicPr>
          <p:cNvPr id="70664" name="Picture 8">
            <a:extLst>
              <a:ext uri="{FF2B5EF4-FFF2-40B4-BE49-F238E27FC236}">
                <a16:creationId xmlns:a16="http://schemas.microsoft.com/office/drawing/2014/main" id="{A42520F7-B233-4943-9868-966404C4AE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4756" y="1324241"/>
            <a:ext cx="4303713" cy="2383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3AD6AC51-165F-4B9E-9109-2F000020C94E}"/>
              </a:ext>
            </a:extLst>
          </p:cNvPr>
          <p:cNvSpPr/>
          <p:nvPr/>
        </p:nvSpPr>
        <p:spPr>
          <a:xfrm>
            <a:off x="1219200" y="4572000"/>
            <a:ext cx="7239000" cy="1495409"/>
          </a:xfrm>
          <a:prstGeom prst="rect">
            <a:avLst/>
          </a:prstGeom>
        </p:spPr>
        <p:txBody>
          <a:bodyPr wrap="square">
            <a:spAutoFit/>
          </a:bodyPr>
          <a:lstStyle/>
          <a:p>
            <a:pPr marL="285750" indent="-285750">
              <a:lnSpc>
                <a:spcPct val="200000"/>
              </a:lnSpc>
              <a:buClr>
                <a:srgbClr val="FF0000"/>
              </a:buClr>
              <a:buSzPct val="80000"/>
              <a:buFont typeface="Wingdings" panose="05000000000000000000" pitchFamily="2" charset="2"/>
              <a:buChar char="u"/>
            </a:pPr>
            <a:r>
              <a:rPr lang="en-US" altLang="zh-CN" sz="1600" b="0" dirty="0">
                <a:latin typeface="微软雅黑" panose="020B0503020204020204" pitchFamily="34" charset="-122"/>
                <a:ea typeface="微软雅黑" panose="020B0503020204020204" pitchFamily="34" charset="-122"/>
              </a:rPr>
              <a:t>10Base5</a:t>
            </a:r>
            <a:r>
              <a:rPr lang="zh-CN" altLang="en-US" sz="1600" b="0" dirty="0">
                <a:latin typeface="微软雅黑" panose="020B0503020204020204" pitchFamily="34" charset="-122"/>
                <a:ea typeface="微软雅黑" panose="020B0503020204020204" pitchFamily="34" charset="-122"/>
              </a:rPr>
              <a:t>和</a:t>
            </a:r>
            <a:r>
              <a:rPr lang="en-US" altLang="zh-CN" sz="1600" b="0" dirty="0">
                <a:latin typeface="微软雅黑" panose="020B0503020204020204" pitchFamily="34" charset="-122"/>
                <a:ea typeface="微软雅黑" panose="020B0503020204020204" pitchFamily="34" charset="-122"/>
              </a:rPr>
              <a:t>10Base2</a:t>
            </a:r>
            <a:r>
              <a:rPr lang="zh-CN" altLang="en-US" sz="1600" b="0" dirty="0">
                <a:latin typeface="微软雅黑" panose="020B0503020204020204" pitchFamily="34" charset="-122"/>
                <a:ea typeface="微软雅黑" panose="020B0503020204020204" pitchFamily="34" charset="-122"/>
              </a:rPr>
              <a:t>工作方式是半双工，</a:t>
            </a:r>
            <a:r>
              <a:rPr lang="en-US" altLang="zh-CN" sz="1600" b="0" dirty="0">
                <a:latin typeface="微软雅黑" panose="020B0503020204020204" pitchFamily="34" charset="-122"/>
                <a:ea typeface="微软雅黑" panose="020B0503020204020204" pitchFamily="34" charset="-122"/>
              </a:rPr>
              <a:t>10Base-T </a:t>
            </a:r>
            <a:r>
              <a:rPr lang="zh-CN" altLang="en-US" sz="1600" b="0" dirty="0">
                <a:latin typeface="微软雅黑" panose="020B0503020204020204" pitchFamily="34" charset="-122"/>
                <a:ea typeface="微软雅黑" panose="020B0503020204020204" pitchFamily="34" charset="-122"/>
              </a:rPr>
              <a:t>和</a:t>
            </a:r>
            <a:r>
              <a:rPr lang="en-US" altLang="zh-CN" sz="1600" b="0" dirty="0">
                <a:latin typeface="微软雅黑" panose="020B0503020204020204" pitchFamily="34" charset="-122"/>
                <a:ea typeface="微软雅黑" panose="020B0503020204020204" pitchFamily="34" charset="-122"/>
              </a:rPr>
              <a:t>10Base-F</a:t>
            </a:r>
            <a:r>
              <a:rPr lang="zh-CN" altLang="en-US" sz="1600" b="0" dirty="0">
                <a:latin typeface="微软雅黑" panose="020B0503020204020204" pitchFamily="34" charset="-122"/>
                <a:ea typeface="微软雅黑" panose="020B0503020204020204" pitchFamily="34" charset="-122"/>
              </a:rPr>
              <a:t>是全双工，全双工模式将每一个域的能力提高到</a:t>
            </a:r>
            <a:r>
              <a:rPr lang="en-US" altLang="zh-CN" sz="1600" b="0" dirty="0">
                <a:latin typeface="微软雅黑" panose="020B0503020204020204" pitchFamily="34" charset="-122"/>
                <a:ea typeface="微软雅黑" panose="020B0503020204020204" pitchFamily="34" charset="-122"/>
              </a:rPr>
              <a:t>2</a:t>
            </a:r>
            <a:r>
              <a:rPr lang="zh-CN" altLang="en-US" sz="1600" b="0" dirty="0">
                <a:latin typeface="微软雅黑" panose="020B0503020204020204" pitchFamily="34" charset="-122"/>
                <a:ea typeface="微软雅黑" panose="020B0503020204020204" pitchFamily="34" charset="-122"/>
              </a:rPr>
              <a:t>倍。</a:t>
            </a:r>
          </a:p>
          <a:p>
            <a:pPr marL="285750" indent="-285750">
              <a:lnSpc>
                <a:spcPct val="200000"/>
              </a:lnSpc>
              <a:buClr>
                <a:srgbClr val="FF0000"/>
              </a:buClr>
              <a:buSzPct val="80000"/>
              <a:buFont typeface="Wingdings" panose="05000000000000000000" pitchFamily="2" charset="2"/>
              <a:buChar char="u"/>
            </a:pPr>
            <a:r>
              <a:rPr lang="zh-CN" altLang="en-US" sz="1600" b="0" dirty="0">
                <a:latin typeface="微软雅黑" panose="020B0503020204020204" pitchFamily="34" charset="-122"/>
                <a:ea typeface="微软雅黑" panose="020B0503020204020204" pitchFamily="34" charset="-122"/>
              </a:rPr>
              <a:t>站点和交换机之间是专用链路，不再需要</a:t>
            </a:r>
            <a:r>
              <a:rPr lang="en-US" altLang="zh-CN" sz="1600" b="0" dirty="0">
                <a:latin typeface="微软雅黑" panose="020B0503020204020204" pitchFamily="34" charset="-122"/>
                <a:ea typeface="微软雅黑" panose="020B0503020204020204" pitchFamily="34" charset="-122"/>
              </a:rPr>
              <a:t>CSMA/CD</a:t>
            </a:r>
            <a:r>
              <a:rPr lang="zh-CN" altLang="en-US" sz="1600" b="0" dirty="0">
                <a:latin typeface="微软雅黑" panose="020B0503020204020204" pitchFamily="34" charset="-122"/>
                <a:ea typeface="微软雅黑" panose="020B0503020204020204" pitchFamily="34" charset="-122"/>
              </a:rPr>
              <a:t>协议解决冲突问题。</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1">
            <a:extLst>
              <a:ext uri="{FF2B5EF4-FFF2-40B4-BE49-F238E27FC236}">
                <a16:creationId xmlns:a16="http://schemas.microsoft.com/office/drawing/2014/main" id="{2757195C-FEE6-43D0-A4D1-CFFCED1F832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1BFAD25F-12DB-48A7-9DC6-965C5E6AF30F}" type="slidenum">
              <a:rPr lang="en-US" altLang="zh-CN" sz="2000" smtClean="0">
                <a:solidFill>
                  <a:schemeClr val="bg2"/>
                </a:solidFill>
              </a:rPr>
              <a:pPr/>
              <a:t>22</a:t>
            </a:fld>
            <a:endParaRPr lang="en-US" altLang="zh-CN" sz="2000">
              <a:solidFill>
                <a:schemeClr val="bg2"/>
              </a:solidFill>
            </a:endParaRPr>
          </a:p>
        </p:txBody>
      </p:sp>
      <p:sp>
        <p:nvSpPr>
          <p:cNvPr id="82947" name="文本框 2">
            <a:extLst>
              <a:ext uri="{FF2B5EF4-FFF2-40B4-BE49-F238E27FC236}">
                <a16:creationId xmlns:a16="http://schemas.microsoft.com/office/drawing/2014/main" id="{28FB1318-C0AD-4514-BCFE-38A84490B47D}"/>
              </a:ext>
            </a:extLst>
          </p:cNvPr>
          <p:cNvSpPr txBox="1">
            <a:spLocks noChangeArrowheads="1"/>
          </p:cNvSpPr>
          <p:nvPr/>
        </p:nvSpPr>
        <p:spPr bwMode="auto">
          <a:xfrm>
            <a:off x="1066800" y="3837560"/>
            <a:ext cx="3276600" cy="2634183"/>
          </a:xfrm>
          <a:prstGeom prst="rect">
            <a:avLst/>
          </a:prstGeom>
          <a:noFill/>
          <a:ln>
            <a:noFill/>
          </a:ln>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数据速率升级为</a:t>
            </a:r>
            <a:r>
              <a:rPr lang="en-US" altLang="zh-CN" sz="1600" b="0" dirty="0">
                <a:latin typeface="微软雅黑" panose="020B0503020204020204" pitchFamily="34" charset="-122"/>
                <a:ea typeface="微软雅黑" panose="020B0503020204020204" pitchFamily="34" charset="-122"/>
              </a:rPr>
              <a:t>100Mbps</a:t>
            </a:r>
          </a:p>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与标准以太网兼容</a:t>
            </a:r>
            <a:endParaRPr lang="en-US" altLang="zh-CN" sz="1600" b="0" dirty="0">
              <a:latin typeface="微软雅黑" panose="020B0503020204020204" pitchFamily="34" charset="-122"/>
              <a:ea typeface="微软雅黑" panose="020B0503020204020204" pitchFamily="34" charset="-122"/>
            </a:endParaRPr>
          </a:p>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保留</a:t>
            </a:r>
            <a:r>
              <a:rPr lang="en-US" altLang="zh-CN" sz="1600" b="0" dirty="0">
                <a:latin typeface="微软雅黑" panose="020B0503020204020204" pitchFamily="34" charset="-122"/>
                <a:ea typeface="微软雅黑" panose="020B0503020204020204" pitchFamily="34" charset="-122"/>
              </a:rPr>
              <a:t>48</a:t>
            </a:r>
            <a:r>
              <a:rPr lang="zh-CN" altLang="en-US" sz="1600" b="0" dirty="0">
                <a:latin typeface="微软雅黑" panose="020B0503020204020204" pitchFamily="34" charset="-122"/>
                <a:ea typeface="微软雅黑" panose="020B0503020204020204" pitchFamily="34" charset="-122"/>
              </a:rPr>
              <a:t>位地址</a:t>
            </a:r>
            <a:endParaRPr lang="en-US" altLang="zh-CN" sz="1600" b="0" dirty="0">
              <a:latin typeface="微软雅黑" panose="020B0503020204020204" pitchFamily="34" charset="-122"/>
              <a:ea typeface="微软雅黑" panose="020B0503020204020204" pitchFamily="34" charset="-122"/>
            </a:endParaRPr>
          </a:p>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保留相同的帧格式</a:t>
            </a:r>
            <a:endParaRPr lang="en-US" altLang="zh-CN" sz="1600" b="0" dirty="0">
              <a:latin typeface="微软雅黑" panose="020B0503020204020204" pitchFamily="34" charset="-122"/>
              <a:ea typeface="微软雅黑" panose="020B0503020204020204" pitchFamily="34" charset="-122"/>
            </a:endParaRPr>
          </a:p>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保留最大和最小帧长度</a:t>
            </a:r>
            <a:endParaRPr lang="en-US" altLang="zh-CN" sz="1600" b="0" dirty="0">
              <a:latin typeface="微软雅黑" panose="020B0503020204020204" pitchFamily="34" charset="-122"/>
              <a:ea typeface="微软雅黑" panose="020B0503020204020204" pitchFamily="34" charset="-122"/>
            </a:endParaRPr>
          </a:p>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放弃总线型拓扑</a:t>
            </a:r>
            <a:endParaRPr lang="en-US" altLang="zh-CN" sz="1600" b="0" dirty="0">
              <a:latin typeface="微软雅黑" panose="020B0503020204020204" pitchFamily="34" charset="-122"/>
              <a:ea typeface="微软雅黑" panose="020B0503020204020204" pitchFamily="34" charset="-122"/>
            </a:endParaRPr>
          </a:p>
          <a:p>
            <a:pPr marL="285750" indent="-285750">
              <a:lnSpc>
                <a:spcPct val="150000"/>
              </a:lnSpc>
              <a:buClr>
                <a:srgbClr val="6666FF"/>
              </a:buClr>
              <a:buSzPct val="80000"/>
              <a:buFont typeface="Wingdings" panose="05000000000000000000" pitchFamily="2" charset="2"/>
              <a:buChar char="n"/>
              <a:tabLst>
                <a:tab pos="534988" algn="l"/>
              </a:tabLst>
              <a:defRPr/>
            </a:pPr>
            <a:endParaRPr lang="zh-CN" altLang="en-US" sz="1600" b="0" dirty="0">
              <a:latin typeface="微软雅黑" panose="020B0503020204020204" pitchFamily="34" charset="-122"/>
              <a:ea typeface="微软雅黑" panose="020B0503020204020204" pitchFamily="34" charset="-122"/>
            </a:endParaRPr>
          </a:p>
        </p:txBody>
      </p:sp>
      <p:sp>
        <p:nvSpPr>
          <p:cNvPr id="5" name="文本框 1">
            <a:extLst>
              <a:ext uri="{FF2B5EF4-FFF2-40B4-BE49-F238E27FC236}">
                <a16:creationId xmlns:a16="http://schemas.microsoft.com/office/drawing/2014/main" id="{7C25B14F-05A6-46F3-85E6-CC56E8B20518}"/>
              </a:ext>
            </a:extLst>
          </p:cNvPr>
          <p:cNvSpPr txBox="1">
            <a:spLocks noChangeArrowheads="1"/>
          </p:cNvSpPr>
          <p:nvPr/>
        </p:nvSpPr>
        <p:spPr bwMode="auto">
          <a:xfrm>
            <a:off x="2971800" y="87351"/>
            <a:ext cx="2514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r>
              <a:rPr lang="zh-CN" altLang="en-US" sz="2800" dirty="0">
                <a:solidFill>
                  <a:schemeClr val="bg1"/>
                </a:solidFill>
                <a:latin typeface="微软雅黑" panose="020B0503020204020204" pitchFamily="34" charset="-122"/>
                <a:ea typeface="微软雅黑" panose="020B0503020204020204" pitchFamily="34" charset="-122"/>
              </a:rPr>
              <a:t>快速以太网</a:t>
            </a:r>
          </a:p>
        </p:txBody>
      </p:sp>
      <p:sp>
        <p:nvSpPr>
          <p:cNvPr id="6" name="Text Box 4">
            <a:extLst>
              <a:ext uri="{FF2B5EF4-FFF2-40B4-BE49-F238E27FC236}">
                <a16:creationId xmlns:a16="http://schemas.microsoft.com/office/drawing/2014/main" id="{4F492474-FFCA-42A0-8F84-4BDEEA991A79}"/>
              </a:ext>
            </a:extLst>
          </p:cNvPr>
          <p:cNvSpPr txBox="1">
            <a:spLocks noChangeArrowheads="1"/>
          </p:cNvSpPr>
          <p:nvPr/>
        </p:nvSpPr>
        <p:spPr bwMode="auto">
          <a:xfrm>
            <a:off x="3257390" y="3082435"/>
            <a:ext cx="26100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13.20  </a:t>
            </a:r>
            <a:r>
              <a:rPr lang="zh-CN" altLang="en-US" sz="1600" dirty="0">
                <a:latin typeface="Times New Roman" panose="02020603050405020304" pitchFamily="18" charset="0"/>
                <a:ea typeface="宋体" panose="02010600030101010101" pitchFamily="2" charset="-122"/>
              </a:rPr>
              <a:t>快速以太网的实现</a:t>
            </a:r>
            <a:endParaRPr lang="en-US" altLang="zh-CN" sz="1600" dirty="0">
              <a:latin typeface="Times New Roman" panose="02020603050405020304" pitchFamily="18" charset="0"/>
              <a:ea typeface="宋体" panose="02010600030101010101" pitchFamily="2" charset="-122"/>
            </a:endParaRPr>
          </a:p>
        </p:txBody>
      </p:sp>
      <p:pic>
        <p:nvPicPr>
          <p:cNvPr id="7" name="Picture 6">
            <a:extLst>
              <a:ext uri="{FF2B5EF4-FFF2-40B4-BE49-F238E27FC236}">
                <a16:creationId xmlns:a16="http://schemas.microsoft.com/office/drawing/2014/main" id="{16A57DF8-2913-4854-88B6-98A4841178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2500" y="1075352"/>
            <a:ext cx="4699000" cy="1829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2">
            <a:extLst>
              <a:ext uri="{FF2B5EF4-FFF2-40B4-BE49-F238E27FC236}">
                <a16:creationId xmlns:a16="http://schemas.microsoft.com/office/drawing/2014/main" id="{F2881D0A-47D3-46C8-95DB-E740E5071CFB}"/>
              </a:ext>
            </a:extLst>
          </p:cNvPr>
          <p:cNvSpPr txBox="1">
            <a:spLocks noChangeArrowheads="1"/>
          </p:cNvSpPr>
          <p:nvPr/>
        </p:nvSpPr>
        <p:spPr bwMode="auto">
          <a:xfrm>
            <a:off x="4965700" y="3847941"/>
            <a:ext cx="3733800" cy="2183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保留星型拓扑</a:t>
            </a:r>
            <a:endParaRPr lang="en-US" altLang="zh-CN" sz="1600" b="0" dirty="0">
              <a:latin typeface="微软雅黑" panose="020B0503020204020204" pitchFamily="34" charset="-122"/>
              <a:ea typeface="微软雅黑" panose="020B0503020204020204" pitchFamily="34" charset="-122"/>
            </a:endParaRPr>
          </a:p>
          <a:p>
            <a:pPr marL="534988" lvl="1" indent="-266700">
              <a:lnSpc>
                <a:spcPct val="150000"/>
              </a:lnSpc>
              <a:buClr>
                <a:srgbClr val="0099FF"/>
              </a:buClr>
              <a:buSzPct val="80000"/>
              <a:buFont typeface="Wingdings" panose="05000000000000000000" pitchFamily="2" charset="2"/>
              <a:buChar char="l"/>
            </a:pPr>
            <a:r>
              <a:rPr lang="zh-CN" altLang="en-US" sz="1200" b="0" dirty="0">
                <a:latin typeface="微软雅黑" panose="020B0503020204020204" pitchFamily="34" charset="-122"/>
                <a:ea typeface="微软雅黑" panose="020B0503020204020204" pitchFamily="34" charset="-122"/>
              </a:rPr>
              <a:t>半双工：集线器、</a:t>
            </a:r>
            <a:r>
              <a:rPr lang="en-US" altLang="zh-CN" sz="1200" b="0" dirty="0">
                <a:latin typeface="微软雅黑" panose="020B0503020204020204" pitchFamily="34" charset="-122"/>
                <a:ea typeface="微软雅黑" panose="020B0503020204020204" pitchFamily="34" charset="-122"/>
                <a:cs typeface="Times New Roman" panose="02020603050405020304" pitchFamily="18" charset="0"/>
              </a:rPr>
              <a:t>CSMA/CD</a:t>
            </a:r>
          </a:p>
          <a:p>
            <a:pPr marL="534988" lvl="1" indent="-266700">
              <a:lnSpc>
                <a:spcPct val="150000"/>
              </a:lnSpc>
              <a:buClr>
                <a:srgbClr val="0099FF"/>
              </a:buClr>
              <a:buSzPct val="80000"/>
              <a:buFont typeface="Wingdings" panose="05000000000000000000" pitchFamily="2" charset="2"/>
              <a:buChar char="l"/>
            </a:pPr>
            <a:r>
              <a:rPr lang="zh-CN" altLang="en-US" sz="1200" b="0" dirty="0">
                <a:latin typeface="微软雅黑" panose="020B0503020204020204" pitchFamily="34" charset="-122"/>
                <a:ea typeface="微软雅黑" panose="020B0503020204020204" pitchFamily="34" charset="-122"/>
              </a:rPr>
              <a:t>全双工：交换机</a:t>
            </a:r>
            <a:endParaRPr lang="en-US" altLang="zh-CN" sz="1200" b="0" dirty="0">
              <a:latin typeface="微软雅黑" panose="020B0503020204020204" pitchFamily="34" charset="-122"/>
              <a:ea typeface="微软雅黑" panose="020B0503020204020204" pitchFamily="34" charset="-122"/>
            </a:endParaRPr>
          </a:p>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自动协商：运行模式和传输速率</a:t>
            </a:r>
            <a:endParaRPr lang="en-US" altLang="zh-CN" sz="1600" b="0" dirty="0">
              <a:latin typeface="微软雅黑" panose="020B0503020204020204" pitchFamily="34" charset="-122"/>
              <a:ea typeface="微软雅黑" panose="020B0503020204020204" pitchFamily="34" charset="-122"/>
            </a:endParaRPr>
          </a:p>
          <a:p>
            <a:pPr marL="534988" lvl="1" indent="-266700">
              <a:lnSpc>
                <a:spcPct val="150000"/>
              </a:lnSpc>
              <a:buClr>
                <a:srgbClr val="0099FF"/>
              </a:buClr>
              <a:buSzPct val="80000"/>
              <a:buFont typeface="Wingdings" panose="05000000000000000000" pitchFamily="2" charset="2"/>
              <a:buChar char="l"/>
            </a:pPr>
            <a:r>
              <a:rPr lang="zh-CN" altLang="en-US" sz="1200" b="0" dirty="0">
                <a:latin typeface="微软雅黑" panose="020B0503020204020204" pitchFamily="34" charset="-122"/>
                <a:ea typeface="微软雅黑" panose="020B0503020204020204" pitchFamily="34" charset="-122"/>
              </a:rPr>
              <a:t>解决不兼容问题</a:t>
            </a:r>
            <a:endParaRPr lang="en-US" altLang="zh-CN" sz="1200" b="0" dirty="0">
              <a:latin typeface="微软雅黑" panose="020B0503020204020204" pitchFamily="34" charset="-122"/>
              <a:ea typeface="微软雅黑" panose="020B0503020204020204" pitchFamily="34" charset="-122"/>
            </a:endParaRPr>
          </a:p>
          <a:p>
            <a:pPr marL="534988" lvl="1" indent="-266700">
              <a:lnSpc>
                <a:spcPct val="150000"/>
              </a:lnSpc>
              <a:buClr>
                <a:srgbClr val="0099FF"/>
              </a:buClr>
              <a:buSzPct val="80000"/>
              <a:buFont typeface="Wingdings" panose="05000000000000000000" pitchFamily="2" charset="2"/>
              <a:buChar char="l"/>
            </a:pPr>
            <a:r>
              <a:rPr lang="zh-CN" altLang="en-US" sz="1200" b="0" dirty="0">
                <a:latin typeface="微软雅黑" panose="020B0503020204020204" pitchFamily="34" charset="-122"/>
                <a:ea typeface="微软雅黑" panose="020B0503020204020204" pitchFamily="34" charset="-122"/>
              </a:rPr>
              <a:t>功能扩展</a:t>
            </a:r>
            <a:endParaRPr lang="en-US" altLang="zh-CN" sz="1200" b="0" dirty="0">
              <a:latin typeface="微软雅黑" panose="020B0503020204020204" pitchFamily="34" charset="-122"/>
              <a:ea typeface="微软雅黑" panose="020B0503020204020204" pitchFamily="34" charset="-122"/>
            </a:endParaRPr>
          </a:p>
          <a:p>
            <a:pPr marL="534988" lvl="1" indent="-266700">
              <a:lnSpc>
                <a:spcPct val="150000"/>
              </a:lnSpc>
              <a:buClr>
                <a:srgbClr val="0099FF"/>
              </a:buClr>
              <a:buSzPct val="80000"/>
              <a:buFont typeface="Wingdings" panose="05000000000000000000" pitchFamily="2" charset="2"/>
              <a:buChar char="l"/>
            </a:pPr>
            <a:r>
              <a:rPr lang="zh-CN" altLang="en-US" sz="1200" b="0" dirty="0">
                <a:latin typeface="微软雅黑" panose="020B0503020204020204" pitchFamily="34" charset="-122"/>
                <a:ea typeface="微软雅黑" panose="020B0503020204020204" pitchFamily="34" charset="-122"/>
              </a:rPr>
              <a:t>检测集线器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2947"/>
                                        </p:tgtEl>
                                        <p:attrNameLst>
                                          <p:attrName>style.visibility</p:attrName>
                                        </p:attrNameLst>
                                      </p:cBhvr>
                                      <p:to>
                                        <p:strVal val="visible"/>
                                      </p:to>
                                    </p:set>
                                    <p:animEffect transition="in" filter="wipe(up)">
                                      <p:cBhvr>
                                        <p:cTn id="7" dur="500"/>
                                        <p:tgtEl>
                                          <p:spTgt spid="829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9AB0D6B-D869-423A-80ED-058939EABB69}"/>
              </a:ext>
            </a:extLst>
          </p:cNvPr>
          <p:cNvSpPr>
            <a:spLocks noGrp="1"/>
          </p:cNvSpPr>
          <p:nvPr>
            <p:ph type="sldNum" sz="quarter" idx="10"/>
          </p:nvPr>
        </p:nvSpPr>
        <p:spPr/>
        <p:txBody>
          <a:bodyPr/>
          <a:lstStyle/>
          <a:p>
            <a:pPr>
              <a:defRPr/>
            </a:pPr>
            <a:r>
              <a:rPr lang="en-US" altLang="zh-CN"/>
              <a:t>13.</a:t>
            </a:r>
            <a:fld id="{C1ED6404-B199-407A-A05F-4C4BEC42ADDC}" type="slidenum">
              <a:rPr lang="en-US" altLang="zh-CN" smtClean="0"/>
              <a:pPr>
                <a:defRPr/>
              </a:pPr>
              <a:t>23</a:t>
            </a:fld>
            <a:endParaRPr lang="en-US" altLang="zh-CN"/>
          </a:p>
        </p:txBody>
      </p:sp>
      <p:sp>
        <p:nvSpPr>
          <p:cNvPr id="3" name="矩形 2">
            <a:extLst>
              <a:ext uri="{FF2B5EF4-FFF2-40B4-BE49-F238E27FC236}">
                <a16:creationId xmlns:a16="http://schemas.microsoft.com/office/drawing/2014/main" id="{48366626-ACFF-4B6F-91CF-D12CF661CE21}"/>
              </a:ext>
            </a:extLst>
          </p:cNvPr>
          <p:cNvSpPr/>
          <p:nvPr/>
        </p:nvSpPr>
        <p:spPr>
          <a:xfrm>
            <a:off x="1066800" y="1410609"/>
            <a:ext cx="7480418" cy="1359155"/>
          </a:xfrm>
          <a:prstGeom prst="rect">
            <a:avLst/>
          </a:prstGeom>
        </p:spPr>
        <p:txBody>
          <a:bodyPr wrap="square">
            <a:spAutoFit/>
          </a:bodyPr>
          <a:lstStyle/>
          <a:p>
            <a:pPr algn="just">
              <a:lnSpc>
                <a:spcPct val="250000"/>
              </a:lnSpc>
            </a:pPr>
            <a:r>
              <a:rPr lang="zh-CN" altLang="en-US" sz="1800" dirty="0">
                <a:latin typeface="微软雅黑" panose="020B0503020204020204" pitchFamily="34" charset="-122"/>
                <a:ea typeface="微软雅黑" panose="020B0503020204020204" pitchFamily="34" charset="-122"/>
              </a:rPr>
              <a:t>共同的链路层，不同的物理层</a:t>
            </a:r>
            <a:r>
              <a:rPr lang="zh-CN" altLang="en-US" sz="1800" b="0" dirty="0">
                <a:latin typeface="微软雅黑" panose="020B0503020204020204" pitchFamily="34" charset="-122"/>
                <a:ea typeface="微软雅黑" panose="020B0503020204020204" pitchFamily="34" charset="-122"/>
              </a:rPr>
              <a:t>：许多不同的以太网标准常具有相同的MAC协议和帧格式，但是具有不同的速率，也使用不同的物理层介质。</a:t>
            </a:r>
          </a:p>
        </p:txBody>
      </p:sp>
      <p:sp>
        <p:nvSpPr>
          <p:cNvPr id="4" name="Freeform 39">
            <a:extLst>
              <a:ext uri="{FF2B5EF4-FFF2-40B4-BE49-F238E27FC236}">
                <a16:creationId xmlns:a16="http://schemas.microsoft.com/office/drawing/2014/main" id="{98092674-9087-468D-BA4F-6F78E2DAFE11}"/>
              </a:ext>
            </a:extLst>
          </p:cNvPr>
          <p:cNvSpPr>
            <a:spLocks/>
          </p:cNvSpPr>
          <p:nvPr/>
        </p:nvSpPr>
        <p:spPr bwMode="auto">
          <a:xfrm>
            <a:off x="2868215" y="3824287"/>
            <a:ext cx="1045369" cy="1145381"/>
          </a:xfrm>
          <a:custGeom>
            <a:avLst/>
            <a:gdLst>
              <a:gd name="T0" fmla="*/ 2147483647 w 878"/>
              <a:gd name="T1" fmla="*/ 0 h 962"/>
              <a:gd name="T2" fmla="*/ 0 w 878"/>
              <a:gd name="T3" fmla="*/ 2147483647 h 962"/>
              <a:gd name="T4" fmla="*/ 2147483647 w 878"/>
              <a:gd name="T5" fmla="*/ 2147483647 h 962"/>
              <a:gd name="T6" fmla="*/ 2147483647 w 878"/>
              <a:gd name="T7" fmla="*/ 2147483647 h 962"/>
              <a:gd name="T8" fmla="*/ 2147483647 w 878"/>
              <a:gd name="T9" fmla="*/ 0 h 9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78" h="962">
                <a:moveTo>
                  <a:pt x="851" y="0"/>
                </a:moveTo>
                <a:lnTo>
                  <a:pt x="0" y="622"/>
                </a:lnTo>
                <a:lnTo>
                  <a:pt x="7" y="962"/>
                </a:lnTo>
                <a:lnTo>
                  <a:pt x="878" y="960"/>
                </a:lnTo>
                <a:lnTo>
                  <a:pt x="851" y="0"/>
                </a:lnTo>
                <a:close/>
              </a:path>
            </a:pathLst>
          </a:custGeom>
          <a:gradFill rotWithShape="1">
            <a:gsLst>
              <a:gs pos="0">
                <a:srgbClr val="DDDDDD"/>
              </a:gs>
              <a:gs pos="100000">
                <a:srgbClr val="FFFFFF"/>
              </a:gs>
            </a:gsLst>
            <a:lin ang="0" scaled="1"/>
          </a:gradFill>
          <a:ln w="9525" cap="flat">
            <a:solidFill>
              <a:srgbClr val="000000"/>
            </a:solidFill>
            <a:prstDash val="dash"/>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defTabSz="685800">
              <a:defRPr/>
            </a:pPr>
            <a:endParaRPr lang="en-US" sz="1500" b="0" kern="0" dirty="0">
              <a:solidFill>
                <a:srgbClr val="000000"/>
              </a:solidFill>
              <a:latin typeface="Calibri" panose="020F0502020204030204"/>
              <a:ea typeface="ＭＳ Ｐゴシック" charset="0"/>
            </a:endParaRPr>
          </a:p>
        </p:txBody>
      </p:sp>
      <p:sp>
        <p:nvSpPr>
          <p:cNvPr id="6" name="Rectangle 41">
            <a:extLst>
              <a:ext uri="{FF2B5EF4-FFF2-40B4-BE49-F238E27FC236}">
                <a16:creationId xmlns:a16="http://schemas.microsoft.com/office/drawing/2014/main" id="{A5C3CDDD-FA43-4A5A-BD15-DAD7110D3C2C}"/>
              </a:ext>
            </a:extLst>
          </p:cNvPr>
          <p:cNvSpPr>
            <a:spLocks noChangeArrowheads="1"/>
          </p:cNvSpPr>
          <p:nvPr/>
        </p:nvSpPr>
        <p:spPr bwMode="auto">
          <a:xfrm>
            <a:off x="1900238" y="3888578"/>
            <a:ext cx="971550" cy="1081091"/>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350" b="0" kern="0" dirty="0">
              <a:solidFill>
                <a:srgbClr val="000000"/>
              </a:solidFill>
              <a:latin typeface="Arial" charset="0"/>
              <a:ea typeface="ＭＳ Ｐゴシック" charset="0"/>
            </a:endParaRPr>
          </a:p>
        </p:txBody>
      </p:sp>
      <p:sp>
        <p:nvSpPr>
          <p:cNvPr id="7" name="Text Box 42">
            <a:extLst>
              <a:ext uri="{FF2B5EF4-FFF2-40B4-BE49-F238E27FC236}">
                <a16:creationId xmlns:a16="http://schemas.microsoft.com/office/drawing/2014/main" id="{45C84BDD-E980-413A-9D45-1254CACFD2E8}"/>
              </a:ext>
            </a:extLst>
          </p:cNvPr>
          <p:cNvSpPr txBox="1">
            <a:spLocks noChangeArrowheads="1"/>
          </p:cNvSpPr>
          <p:nvPr/>
        </p:nvSpPr>
        <p:spPr bwMode="auto">
          <a:xfrm>
            <a:off x="1914250" y="3872273"/>
            <a:ext cx="967978" cy="11310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defTabSz="685800" eaLnBrk="1" hangingPunct="1">
              <a:defRPr/>
            </a:pPr>
            <a:r>
              <a:rPr lang="en-US" sz="1350" b="0" i="0" kern="0" dirty="0">
                <a:solidFill>
                  <a:srgbClr val="000000"/>
                </a:solidFill>
                <a:latin typeface="Calibri" panose="020F0502020204030204"/>
              </a:rPr>
              <a:t>application</a:t>
            </a:r>
          </a:p>
          <a:p>
            <a:pPr algn="ctr" defTabSz="685800" eaLnBrk="1" hangingPunct="1">
              <a:defRPr/>
            </a:pPr>
            <a:r>
              <a:rPr lang="en-US" sz="1350" b="0" i="0" kern="0" dirty="0">
                <a:solidFill>
                  <a:srgbClr val="000000"/>
                </a:solidFill>
                <a:latin typeface="Calibri" panose="020F0502020204030204"/>
              </a:rPr>
              <a:t>transport</a:t>
            </a:r>
          </a:p>
          <a:p>
            <a:pPr algn="ctr" defTabSz="685800" eaLnBrk="1" hangingPunct="1">
              <a:defRPr/>
            </a:pPr>
            <a:r>
              <a:rPr lang="en-US" sz="1350" b="0" i="0" kern="0" dirty="0">
                <a:solidFill>
                  <a:srgbClr val="000000"/>
                </a:solidFill>
                <a:latin typeface="Calibri" panose="020F0502020204030204"/>
              </a:rPr>
              <a:t>network</a:t>
            </a:r>
          </a:p>
          <a:p>
            <a:pPr algn="ctr" defTabSz="685800" eaLnBrk="1" hangingPunct="1">
              <a:defRPr/>
            </a:pPr>
            <a:r>
              <a:rPr lang="en-US" sz="1350" b="0" i="0" kern="0" dirty="0">
                <a:solidFill>
                  <a:srgbClr val="000000"/>
                </a:solidFill>
                <a:latin typeface="Calibri" panose="020F0502020204030204"/>
              </a:rPr>
              <a:t>link</a:t>
            </a:r>
          </a:p>
          <a:p>
            <a:pPr algn="ctr" defTabSz="685800" eaLnBrk="1" hangingPunct="1">
              <a:defRPr/>
            </a:pPr>
            <a:r>
              <a:rPr lang="en-US" sz="1350" b="0" i="0" kern="0" dirty="0">
                <a:solidFill>
                  <a:srgbClr val="000000"/>
                </a:solidFill>
                <a:latin typeface="Calibri" panose="020F0502020204030204"/>
              </a:rPr>
              <a:t>physical</a:t>
            </a:r>
          </a:p>
        </p:txBody>
      </p:sp>
      <p:sp>
        <p:nvSpPr>
          <p:cNvPr id="8" name="Line 43">
            <a:extLst>
              <a:ext uri="{FF2B5EF4-FFF2-40B4-BE49-F238E27FC236}">
                <a16:creationId xmlns:a16="http://schemas.microsoft.com/office/drawing/2014/main" id="{A88D6693-0D5E-4670-80C3-B8A3C8791110}"/>
              </a:ext>
            </a:extLst>
          </p:cNvPr>
          <p:cNvSpPr>
            <a:spLocks noChangeShapeType="1"/>
          </p:cNvSpPr>
          <p:nvPr/>
        </p:nvSpPr>
        <p:spPr bwMode="auto">
          <a:xfrm>
            <a:off x="1900238" y="4101905"/>
            <a:ext cx="971550"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defTabSz="685800">
              <a:defRPr/>
            </a:pPr>
            <a:endParaRPr lang="en-US" sz="1350" b="0" kern="0" dirty="0">
              <a:solidFill>
                <a:srgbClr val="000000"/>
              </a:solidFill>
              <a:latin typeface="Arial" charset="0"/>
              <a:ea typeface="ＭＳ Ｐゴシック" charset="0"/>
            </a:endParaRPr>
          </a:p>
        </p:txBody>
      </p:sp>
      <p:sp>
        <p:nvSpPr>
          <p:cNvPr id="9" name="Line 44">
            <a:extLst>
              <a:ext uri="{FF2B5EF4-FFF2-40B4-BE49-F238E27FC236}">
                <a16:creationId xmlns:a16="http://schemas.microsoft.com/office/drawing/2014/main" id="{788B10C3-5322-47BD-A91F-9E109FA5DF00}"/>
              </a:ext>
            </a:extLst>
          </p:cNvPr>
          <p:cNvSpPr>
            <a:spLocks noChangeShapeType="1"/>
          </p:cNvSpPr>
          <p:nvPr/>
        </p:nvSpPr>
        <p:spPr bwMode="auto">
          <a:xfrm>
            <a:off x="1900238" y="4320224"/>
            <a:ext cx="971550"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defTabSz="685800">
              <a:defRPr/>
            </a:pPr>
            <a:endParaRPr lang="en-US" sz="1350" b="0" kern="0" dirty="0">
              <a:solidFill>
                <a:srgbClr val="000000"/>
              </a:solidFill>
              <a:latin typeface="Arial" charset="0"/>
              <a:ea typeface="ＭＳ Ｐゴシック" charset="0"/>
            </a:endParaRPr>
          </a:p>
        </p:txBody>
      </p:sp>
      <p:sp>
        <p:nvSpPr>
          <p:cNvPr id="10" name="Line 45">
            <a:extLst>
              <a:ext uri="{FF2B5EF4-FFF2-40B4-BE49-F238E27FC236}">
                <a16:creationId xmlns:a16="http://schemas.microsoft.com/office/drawing/2014/main" id="{19CF75F9-FDAE-40C0-B519-B64F1672B4B3}"/>
              </a:ext>
            </a:extLst>
          </p:cNvPr>
          <p:cNvSpPr>
            <a:spLocks noChangeShapeType="1"/>
          </p:cNvSpPr>
          <p:nvPr/>
        </p:nvSpPr>
        <p:spPr bwMode="auto">
          <a:xfrm>
            <a:off x="1896666" y="4530965"/>
            <a:ext cx="971550"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defTabSz="685800">
              <a:defRPr/>
            </a:pPr>
            <a:endParaRPr lang="en-US" sz="1350" b="0" kern="0" dirty="0">
              <a:solidFill>
                <a:srgbClr val="000000"/>
              </a:solidFill>
              <a:latin typeface="Arial" charset="0"/>
              <a:ea typeface="ＭＳ Ｐゴシック" charset="0"/>
            </a:endParaRPr>
          </a:p>
        </p:txBody>
      </p:sp>
      <p:sp>
        <p:nvSpPr>
          <p:cNvPr id="11" name="Line 46">
            <a:extLst>
              <a:ext uri="{FF2B5EF4-FFF2-40B4-BE49-F238E27FC236}">
                <a16:creationId xmlns:a16="http://schemas.microsoft.com/office/drawing/2014/main" id="{31A2F15D-75C4-44E5-9475-9679C236E7AF}"/>
              </a:ext>
            </a:extLst>
          </p:cNvPr>
          <p:cNvSpPr>
            <a:spLocks noChangeShapeType="1"/>
          </p:cNvSpPr>
          <p:nvPr/>
        </p:nvSpPr>
        <p:spPr bwMode="auto">
          <a:xfrm>
            <a:off x="1902619" y="4729757"/>
            <a:ext cx="962025" cy="3572"/>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defTabSz="685800">
              <a:defRPr/>
            </a:pPr>
            <a:endParaRPr lang="en-US" sz="1350" b="0" kern="0" dirty="0">
              <a:solidFill>
                <a:srgbClr val="000000"/>
              </a:solidFill>
              <a:latin typeface="Arial" charset="0"/>
              <a:ea typeface="ＭＳ Ｐゴシック" charset="0"/>
            </a:endParaRPr>
          </a:p>
        </p:txBody>
      </p:sp>
      <p:sp>
        <p:nvSpPr>
          <p:cNvPr id="14" name="Rectangle 49">
            <a:extLst>
              <a:ext uri="{FF2B5EF4-FFF2-40B4-BE49-F238E27FC236}">
                <a16:creationId xmlns:a16="http://schemas.microsoft.com/office/drawing/2014/main" id="{ABFED19C-AD9B-4E63-8CA4-C773E82CA282}"/>
              </a:ext>
            </a:extLst>
          </p:cNvPr>
          <p:cNvSpPr>
            <a:spLocks noChangeArrowheads="1"/>
          </p:cNvSpPr>
          <p:nvPr/>
        </p:nvSpPr>
        <p:spPr bwMode="auto">
          <a:xfrm>
            <a:off x="3886200" y="3796901"/>
            <a:ext cx="3146822" cy="1176338"/>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defTabSz="685800">
              <a:defRPr/>
            </a:pPr>
            <a:endParaRPr lang="en-US" sz="1500" b="0" kern="0" dirty="0">
              <a:solidFill>
                <a:srgbClr val="000000"/>
              </a:solidFill>
              <a:latin typeface="Calibri" panose="020F0502020204030204"/>
              <a:ea typeface="ＭＳ Ｐゴシック" charset="0"/>
            </a:endParaRPr>
          </a:p>
        </p:txBody>
      </p:sp>
      <p:sp>
        <p:nvSpPr>
          <p:cNvPr id="15" name="Line 50">
            <a:extLst>
              <a:ext uri="{FF2B5EF4-FFF2-40B4-BE49-F238E27FC236}">
                <a16:creationId xmlns:a16="http://schemas.microsoft.com/office/drawing/2014/main" id="{6F9DAE37-5605-4AD7-B1F1-D278DF26A7AD}"/>
              </a:ext>
            </a:extLst>
          </p:cNvPr>
          <p:cNvSpPr>
            <a:spLocks noChangeShapeType="1"/>
          </p:cNvSpPr>
          <p:nvPr/>
        </p:nvSpPr>
        <p:spPr bwMode="auto">
          <a:xfrm flipV="1">
            <a:off x="3896915" y="4295774"/>
            <a:ext cx="313372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defTabSz="685800">
              <a:defRPr/>
            </a:pPr>
            <a:endParaRPr lang="en-US" sz="1500" b="0" kern="0" dirty="0">
              <a:solidFill>
                <a:srgbClr val="000000"/>
              </a:solidFill>
              <a:latin typeface="Calibri" panose="020F0502020204030204"/>
              <a:ea typeface="ＭＳ Ｐゴシック" charset="0"/>
            </a:endParaRPr>
          </a:p>
        </p:txBody>
      </p:sp>
      <p:sp>
        <p:nvSpPr>
          <p:cNvPr id="16" name="Text Box 51">
            <a:extLst>
              <a:ext uri="{FF2B5EF4-FFF2-40B4-BE49-F238E27FC236}">
                <a16:creationId xmlns:a16="http://schemas.microsoft.com/office/drawing/2014/main" id="{92441099-95EF-4A61-9EFC-2F84E1579D22}"/>
              </a:ext>
            </a:extLst>
          </p:cNvPr>
          <p:cNvSpPr txBox="1">
            <a:spLocks noChangeArrowheads="1"/>
          </p:cNvSpPr>
          <p:nvPr/>
        </p:nvSpPr>
        <p:spPr bwMode="auto">
          <a:xfrm>
            <a:off x="4711582" y="3827858"/>
            <a:ext cx="1424621" cy="507831"/>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defTabSz="685800" eaLnBrk="1" hangingPunct="1">
              <a:defRPr/>
            </a:pPr>
            <a:r>
              <a:rPr lang="en-US" sz="1350" b="0" i="0" dirty="0">
                <a:solidFill>
                  <a:srgbClr val="000000"/>
                </a:solidFill>
                <a:latin typeface="Calibri" panose="020F0502020204030204"/>
              </a:rPr>
              <a:t>MAC protocol</a:t>
            </a:r>
          </a:p>
          <a:p>
            <a:pPr algn="ctr" defTabSz="685800" eaLnBrk="1" hangingPunct="1">
              <a:defRPr/>
            </a:pPr>
            <a:r>
              <a:rPr lang="en-US" sz="1350" b="0" i="0" dirty="0">
                <a:solidFill>
                  <a:srgbClr val="000000"/>
                </a:solidFill>
                <a:latin typeface="Calibri" panose="020F0502020204030204"/>
              </a:rPr>
              <a:t>and frame format</a:t>
            </a:r>
          </a:p>
        </p:txBody>
      </p:sp>
      <p:sp>
        <p:nvSpPr>
          <p:cNvPr id="17" name="Text Box 52">
            <a:extLst>
              <a:ext uri="{FF2B5EF4-FFF2-40B4-BE49-F238E27FC236}">
                <a16:creationId xmlns:a16="http://schemas.microsoft.com/office/drawing/2014/main" id="{7833C05D-DD9D-493E-8FE2-AD4824C04FE3}"/>
              </a:ext>
            </a:extLst>
          </p:cNvPr>
          <p:cNvSpPr txBox="1">
            <a:spLocks noChangeArrowheads="1"/>
          </p:cNvSpPr>
          <p:nvPr/>
        </p:nvSpPr>
        <p:spPr bwMode="auto">
          <a:xfrm>
            <a:off x="4012407" y="4363639"/>
            <a:ext cx="941283" cy="276999"/>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defTabSz="685800" eaLnBrk="1" hangingPunct="1">
              <a:defRPr/>
            </a:pPr>
            <a:r>
              <a:rPr lang="en-US" sz="1200" b="0" i="0" kern="0" dirty="0">
                <a:solidFill>
                  <a:srgbClr val="000000"/>
                </a:solidFill>
                <a:latin typeface="Calibri" panose="020F0502020204030204"/>
              </a:rPr>
              <a:t>100BASE-TX</a:t>
            </a:r>
          </a:p>
        </p:txBody>
      </p:sp>
      <p:sp>
        <p:nvSpPr>
          <p:cNvPr id="18" name="Text Box 53">
            <a:extLst>
              <a:ext uri="{FF2B5EF4-FFF2-40B4-BE49-F238E27FC236}">
                <a16:creationId xmlns:a16="http://schemas.microsoft.com/office/drawing/2014/main" id="{51FEB4C0-C899-4585-9E6C-4AC515961045}"/>
              </a:ext>
            </a:extLst>
          </p:cNvPr>
          <p:cNvSpPr txBox="1">
            <a:spLocks noChangeArrowheads="1"/>
          </p:cNvSpPr>
          <p:nvPr/>
        </p:nvSpPr>
        <p:spPr bwMode="auto">
          <a:xfrm>
            <a:off x="4020740" y="4633912"/>
            <a:ext cx="939681" cy="276999"/>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defTabSz="685800" eaLnBrk="1" hangingPunct="1">
              <a:defRPr/>
            </a:pPr>
            <a:r>
              <a:rPr lang="en-US" sz="1200" b="0" i="0" kern="0" dirty="0">
                <a:solidFill>
                  <a:srgbClr val="000000"/>
                </a:solidFill>
                <a:latin typeface="Calibri" panose="020F0502020204030204"/>
              </a:rPr>
              <a:t>100BASE-T4</a:t>
            </a:r>
          </a:p>
        </p:txBody>
      </p:sp>
      <p:sp>
        <p:nvSpPr>
          <p:cNvPr id="19" name="Text Box 54">
            <a:extLst>
              <a:ext uri="{FF2B5EF4-FFF2-40B4-BE49-F238E27FC236}">
                <a16:creationId xmlns:a16="http://schemas.microsoft.com/office/drawing/2014/main" id="{1F4328B9-CA8E-41E4-A18C-C3DADFCE8F96}"/>
              </a:ext>
            </a:extLst>
          </p:cNvPr>
          <p:cNvSpPr txBox="1">
            <a:spLocks noChangeArrowheads="1"/>
          </p:cNvSpPr>
          <p:nvPr/>
        </p:nvSpPr>
        <p:spPr bwMode="auto">
          <a:xfrm>
            <a:off x="6046865" y="4360068"/>
            <a:ext cx="936475" cy="276999"/>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defTabSz="685800" eaLnBrk="1" hangingPunct="1">
              <a:defRPr/>
            </a:pPr>
            <a:r>
              <a:rPr lang="en-US" sz="1200" b="0" i="0" kern="0" dirty="0">
                <a:solidFill>
                  <a:srgbClr val="000000"/>
                </a:solidFill>
                <a:latin typeface="Calibri" panose="020F0502020204030204"/>
              </a:rPr>
              <a:t>100BASE-FX</a:t>
            </a:r>
          </a:p>
        </p:txBody>
      </p:sp>
      <p:sp>
        <p:nvSpPr>
          <p:cNvPr id="20" name="Freeform 55">
            <a:extLst>
              <a:ext uri="{FF2B5EF4-FFF2-40B4-BE49-F238E27FC236}">
                <a16:creationId xmlns:a16="http://schemas.microsoft.com/office/drawing/2014/main" id="{460C94BA-1D6F-43F2-8C48-F4854E5542DC}"/>
              </a:ext>
            </a:extLst>
          </p:cNvPr>
          <p:cNvSpPr>
            <a:spLocks/>
          </p:cNvSpPr>
          <p:nvPr/>
        </p:nvSpPr>
        <p:spPr bwMode="auto">
          <a:xfrm>
            <a:off x="2878931" y="4281487"/>
            <a:ext cx="1045369" cy="458390"/>
          </a:xfrm>
          <a:custGeom>
            <a:avLst/>
            <a:gdLst>
              <a:gd name="T0" fmla="*/ 0 w 878"/>
              <a:gd name="T1" fmla="*/ 2147483647 h 385"/>
              <a:gd name="T2" fmla="*/ 2147483647 w 878"/>
              <a:gd name="T3" fmla="*/ 0 h 385"/>
              <a:gd name="T4" fmla="*/ 0 60000 65536"/>
              <a:gd name="T5" fmla="*/ 0 60000 65536"/>
            </a:gdLst>
            <a:ahLst/>
            <a:cxnLst>
              <a:cxn ang="T4">
                <a:pos x="T0" y="T1"/>
              </a:cxn>
              <a:cxn ang="T5">
                <a:pos x="T2" y="T3"/>
              </a:cxn>
            </a:cxnLst>
            <a:rect l="0" t="0" r="r" b="b"/>
            <a:pathLst>
              <a:path w="878" h="385">
                <a:moveTo>
                  <a:pt x="0" y="385"/>
                </a:moveTo>
                <a:lnTo>
                  <a:pt x="878" y="0"/>
                </a:lnTo>
              </a:path>
            </a:pathLst>
          </a:custGeom>
          <a:noFill/>
          <a:ln w="9525" cap="flat">
            <a:solidFill>
              <a:srgbClr val="000000"/>
            </a:solidFill>
            <a:prstDash val="dash"/>
            <a:round/>
            <a:headEnd type="none" w="med" len="med"/>
            <a:tailEnd type="none" w="med" len="me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defTabSz="685800">
              <a:defRPr/>
            </a:pPr>
            <a:endParaRPr lang="en-US" sz="1500" b="0" kern="0" dirty="0">
              <a:solidFill>
                <a:srgbClr val="000000"/>
              </a:solidFill>
              <a:latin typeface="Calibri" panose="020F0502020204030204"/>
              <a:ea typeface="ＭＳ Ｐゴシック" charset="0"/>
            </a:endParaRPr>
          </a:p>
        </p:txBody>
      </p:sp>
      <p:sp>
        <p:nvSpPr>
          <p:cNvPr id="21" name="Text Box 56">
            <a:extLst>
              <a:ext uri="{FF2B5EF4-FFF2-40B4-BE49-F238E27FC236}">
                <a16:creationId xmlns:a16="http://schemas.microsoft.com/office/drawing/2014/main" id="{495334D7-3D70-478E-B3AD-C3095D163546}"/>
              </a:ext>
            </a:extLst>
          </p:cNvPr>
          <p:cNvSpPr txBox="1">
            <a:spLocks noChangeArrowheads="1"/>
          </p:cNvSpPr>
          <p:nvPr/>
        </p:nvSpPr>
        <p:spPr bwMode="auto">
          <a:xfrm>
            <a:off x="5019675" y="4358877"/>
            <a:ext cx="939681" cy="276999"/>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defTabSz="685800" eaLnBrk="1" hangingPunct="1">
              <a:defRPr/>
            </a:pPr>
            <a:r>
              <a:rPr lang="en-US" sz="1200" b="0" i="0" kern="0" dirty="0">
                <a:solidFill>
                  <a:srgbClr val="000000"/>
                </a:solidFill>
                <a:latin typeface="Calibri" panose="020F0502020204030204"/>
              </a:rPr>
              <a:t>100BASE-T2</a:t>
            </a:r>
          </a:p>
        </p:txBody>
      </p:sp>
      <p:sp>
        <p:nvSpPr>
          <p:cNvPr id="22" name="Text Box 57">
            <a:extLst>
              <a:ext uri="{FF2B5EF4-FFF2-40B4-BE49-F238E27FC236}">
                <a16:creationId xmlns:a16="http://schemas.microsoft.com/office/drawing/2014/main" id="{BB5CCCD3-7F71-4A9B-AAF3-55D434C87EDB}"/>
              </a:ext>
            </a:extLst>
          </p:cNvPr>
          <p:cNvSpPr txBox="1">
            <a:spLocks noChangeArrowheads="1"/>
          </p:cNvSpPr>
          <p:nvPr/>
        </p:nvSpPr>
        <p:spPr bwMode="auto">
          <a:xfrm>
            <a:off x="5006578" y="4651451"/>
            <a:ext cx="936475" cy="276999"/>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defTabSz="685800" eaLnBrk="1" hangingPunct="1">
              <a:defRPr/>
            </a:pPr>
            <a:r>
              <a:rPr lang="en-US" sz="1200" b="0" i="0" kern="0" dirty="0">
                <a:solidFill>
                  <a:srgbClr val="000000"/>
                </a:solidFill>
                <a:latin typeface="Calibri" panose="020F0502020204030204"/>
              </a:rPr>
              <a:t>100BASE-SX</a:t>
            </a:r>
          </a:p>
        </p:txBody>
      </p:sp>
      <p:sp>
        <p:nvSpPr>
          <p:cNvPr id="23" name="Text Box 58">
            <a:extLst>
              <a:ext uri="{FF2B5EF4-FFF2-40B4-BE49-F238E27FC236}">
                <a16:creationId xmlns:a16="http://schemas.microsoft.com/office/drawing/2014/main" id="{14145BD7-EE2D-439A-958C-6B83A25FF01B}"/>
              </a:ext>
            </a:extLst>
          </p:cNvPr>
          <p:cNvSpPr txBox="1">
            <a:spLocks noChangeArrowheads="1"/>
          </p:cNvSpPr>
          <p:nvPr/>
        </p:nvSpPr>
        <p:spPr bwMode="auto">
          <a:xfrm>
            <a:off x="6029325" y="4625577"/>
            <a:ext cx="949299" cy="276999"/>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defTabSz="685800" eaLnBrk="1" hangingPunct="1">
              <a:defRPr/>
            </a:pPr>
            <a:r>
              <a:rPr lang="en-US" sz="1200" b="0" i="0" kern="0" dirty="0">
                <a:solidFill>
                  <a:srgbClr val="000000"/>
                </a:solidFill>
                <a:latin typeface="Calibri" panose="020F0502020204030204"/>
              </a:rPr>
              <a:t>100BASE-BX</a:t>
            </a:r>
          </a:p>
        </p:txBody>
      </p:sp>
      <p:grpSp>
        <p:nvGrpSpPr>
          <p:cNvPr id="24" name="Group 67">
            <a:extLst>
              <a:ext uri="{FF2B5EF4-FFF2-40B4-BE49-F238E27FC236}">
                <a16:creationId xmlns:a16="http://schemas.microsoft.com/office/drawing/2014/main" id="{904656DC-135F-4371-A622-4128A0916AB8}"/>
              </a:ext>
            </a:extLst>
          </p:cNvPr>
          <p:cNvGrpSpPr>
            <a:grpSpLocks/>
          </p:cNvGrpSpPr>
          <p:nvPr/>
        </p:nvGrpSpPr>
        <p:grpSpPr bwMode="auto">
          <a:xfrm>
            <a:off x="4995863" y="4336254"/>
            <a:ext cx="2122885" cy="1208485"/>
            <a:chOff x="3597" y="2997"/>
            <a:chExt cx="1783" cy="1015"/>
          </a:xfrm>
        </p:grpSpPr>
        <p:sp>
          <p:nvSpPr>
            <p:cNvPr id="25" name="Freeform 59">
              <a:extLst>
                <a:ext uri="{FF2B5EF4-FFF2-40B4-BE49-F238E27FC236}">
                  <a16:creationId xmlns:a16="http://schemas.microsoft.com/office/drawing/2014/main" id="{5D0C3465-78F4-4F9F-BC24-D6036334460B}"/>
                </a:ext>
              </a:extLst>
            </p:cNvPr>
            <p:cNvSpPr>
              <a:spLocks/>
            </p:cNvSpPr>
            <p:nvPr/>
          </p:nvSpPr>
          <p:spPr bwMode="auto">
            <a:xfrm>
              <a:off x="3597" y="2997"/>
              <a:ext cx="1709" cy="489"/>
            </a:xfrm>
            <a:custGeom>
              <a:avLst/>
              <a:gdLst>
                <a:gd name="T0" fmla="*/ 842 w 1709"/>
                <a:gd name="T1" fmla="*/ 0 h 489"/>
                <a:gd name="T2" fmla="*/ 843 w 1709"/>
                <a:gd name="T3" fmla="*/ 239 h 489"/>
                <a:gd name="T4" fmla="*/ 5 w 1709"/>
                <a:gd name="T5" fmla="*/ 239 h 489"/>
                <a:gd name="T6" fmla="*/ 0 w 1709"/>
                <a:gd name="T7" fmla="*/ 489 h 489"/>
                <a:gd name="T8" fmla="*/ 1709 w 1709"/>
                <a:gd name="T9" fmla="*/ 489 h 489"/>
                <a:gd name="T10" fmla="*/ 1704 w 1709"/>
                <a:gd name="T11" fmla="*/ 0 h 489"/>
                <a:gd name="T12" fmla="*/ 842 w 1709"/>
                <a:gd name="T13" fmla="*/ 0 h 489"/>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09" h="489">
                  <a:moveTo>
                    <a:pt x="842" y="0"/>
                  </a:moveTo>
                  <a:lnTo>
                    <a:pt x="843" y="239"/>
                  </a:lnTo>
                  <a:lnTo>
                    <a:pt x="5" y="239"/>
                  </a:lnTo>
                  <a:lnTo>
                    <a:pt x="0" y="489"/>
                  </a:lnTo>
                  <a:lnTo>
                    <a:pt x="1709" y="489"/>
                  </a:lnTo>
                  <a:cubicBezTo>
                    <a:pt x="1707" y="330"/>
                    <a:pt x="1706" y="159"/>
                    <a:pt x="1704" y="0"/>
                  </a:cubicBezTo>
                  <a:lnTo>
                    <a:pt x="842" y="0"/>
                  </a:lnTo>
                  <a:close/>
                </a:path>
              </a:pathLst>
            </a:custGeom>
            <a:noFill/>
            <a:ln w="19050" cap="flat" cmpd="sng">
              <a:solidFill>
                <a:srgbClr val="FF0000"/>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defTabSz="685800"/>
              <a:endParaRPr lang="en-US" sz="1500" b="0" dirty="0">
                <a:solidFill>
                  <a:srgbClr val="000000"/>
                </a:solidFill>
                <a:latin typeface="Calibri" panose="020F0502020204030204"/>
                <a:ea typeface="ＭＳ Ｐゴシック" charset="0"/>
              </a:endParaRPr>
            </a:p>
          </p:txBody>
        </p:sp>
        <p:sp>
          <p:nvSpPr>
            <p:cNvPr id="26" name="Line 60">
              <a:extLst>
                <a:ext uri="{FF2B5EF4-FFF2-40B4-BE49-F238E27FC236}">
                  <a16:creationId xmlns:a16="http://schemas.microsoft.com/office/drawing/2014/main" id="{F8E7CCEA-6EF0-4B1C-847F-549946077FAE}"/>
                </a:ext>
              </a:extLst>
            </p:cNvPr>
            <p:cNvSpPr>
              <a:spLocks noChangeShapeType="1"/>
            </p:cNvSpPr>
            <p:nvPr/>
          </p:nvSpPr>
          <p:spPr bwMode="auto">
            <a:xfrm>
              <a:off x="4410" y="3494"/>
              <a:ext cx="227" cy="291"/>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defTabSz="685800">
                <a:defRPr/>
              </a:pPr>
              <a:endParaRPr lang="en-US" sz="1500" b="0" dirty="0">
                <a:solidFill>
                  <a:srgbClr val="000000"/>
                </a:solidFill>
                <a:latin typeface="Calibri" panose="020F0502020204030204"/>
                <a:ea typeface="ＭＳ Ｐゴシック" charset="0"/>
              </a:endParaRPr>
            </a:p>
          </p:txBody>
        </p:sp>
        <p:sp>
          <p:nvSpPr>
            <p:cNvPr id="27" name="Text Box 61">
              <a:extLst>
                <a:ext uri="{FF2B5EF4-FFF2-40B4-BE49-F238E27FC236}">
                  <a16:creationId xmlns:a16="http://schemas.microsoft.com/office/drawing/2014/main" id="{11C5765D-83C3-460A-B7D0-6AD03701EC05}"/>
                </a:ext>
              </a:extLst>
            </p:cNvPr>
            <p:cNvSpPr txBox="1">
              <a:spLocks noChangeArrowheads="1"/>
            </p:cNvSpPr>
            <p:nvPr/>
          </p:nvSpPr>
          <p:spPr bwMode="auto">
            <a:xfrm>
              <a:off x="4003" y="3741"/>
              <a:ext cx="1377" cy="2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defTabSz="685800">
                <a:defRPr/>
              </a:pPr>
              <a:r>
                <a:rPr lang="en-US" sz="1500" b="0" i="0" dirty="0">
                  <a:solidFill>
                    <a:srgbClr val="CC0000"/>
                  </a:solidFill>
                  <a:latin typeface="Calibri" panose="020F0502020204030204"/>
                  <a:cs typeface="Arial" charset="0"/>
                </a:rPr>
                <a:t>fiber physical layer</a:t>
              </a:r>
            </a:p>
          </p:txBody>
        </p:sp>
      </p:grpSp>
      <p:grpSp>
        <p:nvGrpSpPr>
          <p:cNvPr id="28" name="Group 66">
            <a:extLst>
              <a:ext uri="{FF2B5EF4-FFF2-40B4-BE49-F238E27FC236}">
                <a16:creationId xmlns:a16="http://schemas.microsoft.com/office/drawing/2014/main" id="{6C9338DB-8650-412E-B243-5B4064F01021}"/>
              </a:ext>
            </a:extLst>
          </p:cNvPr>
          <p:cNvGrpSpPr>
            <a:grpSpLocks/>
          </p:cNvGrpSpPr>
          <p:nvPr/>
        </p:nvGrpSpPr>
        <p:grpSpPr bwMode="auto">
          <a:xfrm>
            <a:off x="2163366" y="4318396"/>
            <a:ext cx="3794522" cy="1244204"/>
            <a:chOff x="1218" y="2982"/>
            <a:chExt cx="3187" cy="1045"/>
          </a:xfrm>
        </p:grpSpPr>
        <p:sp>
          <p:nvSpPr>
            <p:cNvPr id="29" name="Freeform 62">
              <a:extLst>
                <a:ext uri="{FF2B5EF4-FFF2-40B4-BE49-F238E27FC236}">
                  <a16:creationId xmlns:a16="http://schemas.microsoft.com/office/drawing/2014/main" id="{7AA997E2-BD38-46C6-9191-A2D4573C8712}"/>
                </a:ext>
              </a:extLst>
            </p:cNvPr>
            <p:cNvSpPr>
              <a:spLocks/>
            </p:cNvSpPr>
            <p:nvPr/>
          </p:nvSpPr>
          <p:spPr bwMode="auto">
            <a:xfrm>
              <a:off x="2741" y="2982"/>
              <a:ext cx="1664" cy="495"/>
            </a:xfrm>
            <a:custGeom>
              <a:avLst/>
              <a:gdLst>
                <a:gd name="T0" fmla="*/ 1664 w 1664"/>
                <a:gd name="T1" fmla="*/ 0 h 495"/>
                <a:gd name="T2" fmla="*/ 1652 w 1664"/>
                <a:gd name="T3" fmla="*/ 233 h 495"/>
                <a:gd name="T4" fmla="*/ 820 w 1664"/>
                <a:gd name="T5" fmla="*/ 233 h 495"/>
                <a:gd name="T6" fmla="*/ 814 w 1664"/>
                <a:gd name="T7" fmla="*/ 495 h 495"/>
                <a:gd name="T8" fmla="*/ 0 w 1664"/>
                <a:gd name="T9" fmla="*/ 495 h 495"/>
                <a:gd name="T10" fmla="*/ 0 w 1664"/>
                <a:gd name="T11" fmla="*/ 0 h 495"/>
                <a:gd name="T12" fmla="*/ 1664 w 1664"/>
                <a:gd name="T13" fmla="*/ 0 h 49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664" h="495">
                  <a:moveTo>
                    <a:pt x="1664" y="0"/>
                  </a:moveTo>
                  <a:lnTo>
                    <a:pt x="1652" y="233"/>
                  </a:lnTo>
                  <a:lnTo>
                    <a:pt x="820" y="233"/>
                  </a:lnTo>
                  <a:lnTo>
                    <a:pt x="814" y="495"/>
                  </a:lnTo>
                  <a:lnTo>
                    <a:pt x="0" y="495"/>
                  </a:lnTo>
                  <a:lnTo>
                    <a:pt x="0" y="0"/>
                  </a:lnTo>
                  <a:lnTo>
                    <a:pt x="1664" y="0"/>
                  </a:lnTo>
                  <a:close/>
                </a:path>
              </a:pathLst>
            </a:custGeom>
            <a:noFill/>
            <a:ln w="28575" cap="flat" cmpd="sng">
              <a:solidFill>
                <a:srgbClr val="3333CC"/>
              </a:solidFill>
              <a:prstDash val="solid"/>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defTabSz="685800">
                <a:defRPr/>
              </a:pPr>
              <a:endParaRPr lang="en-US" sz="1500" b="0" kern="0" dirty="0">
                <a:solidFill>
                  <a:srgbClr val="000000"/>
                </a:solidFill>
                <a:latin typeface="Calibri" panose="020F0502020204030204"/>
                <a:ea typeface="ＭＳ Ｐゴシック" charset="0"/>
              </a:endParaRPr>
            </a:p>
          </p:txBody>
        </p:sp>
        <p:sp>
          <p:nvSpPr>
            <p:cNvPr id="30" name="Line 63">
              <a:extLst>
                <a:ext uri="{FF2B5EF4-FFF2-40B4-BE49-F238E27FC236}">
                  <a16:creationId xmlns:a16="http://schemas.microsoft.com/office/drawing/2014/main" id="{B978F956-E52E-4912-BA7C-038B60F41C5E}"/>
                </a:ext>
              </a:extLst>
            </p:cNvPr>
            <p:cNvSpPr>
              <a:spLocks noChangeShapeType="1"/>
            </p:cNvSpPr>
            <p:nvPr/>
          </p:nvSpPr>
          <p:spPr bwMode="auto">
            <a:xfrm flipH="1">
              <a:off x="2929" y="3503"/>
              <a:ext cx="227" cy="291"/>
            </a:xfrm>
            <a:prstGeom prst="line">
              <a:avLst/>
            </a:prstGeom>
            <a:noFill/>
            <a:ln w="28575">
              <a:solidFill>
                <a:srgbClr val="3333CC"/>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defTabSz="685800">
                <a:defRPr/>
              </a:pPr>
              <a:endParaRPr lang="en-US" sz="1500" b="0" kern="0" dirty="0">
                <a:solidFill>
                  <a:srgbClr val="000000"/>
                </a:solidFill>
                <a:latin typeface="Calibri" panose="020F0502020204030204"/>
                <a:ea typeface="ＭＳ Ｐゴシック" charset="0"/>
              </a:endParaRPr>
            </a:p>
          </p:txBody>
        </p:sp>
        <p:sp>
          <p:nvSpPr>
            <p:cNvPr id="31" name="Text Box 65">
              <a:extLst>
                <a:ext uri="{FF2B5EF4-FFF2-40B4-BE49-F238E27FC236}">
                  <a16:creationId xmlns:a16="http://schemas.microsoft.com/office/drawing/2014/main" id="{A2172D01-5770-4A97-9777-DBEFBCB76E28}"/>
                </a:ext>
              </a:extLst>
            </p:cNvPr>
            <p:cNvSpPr txBox="1">
              <a:spLocks noChangeArrowheads="1"/>
            </p:cNvSpPr>
            <p:nvPr/>
          </p:nvSpPr>
          <p:spPr bwMode="auto">
            <a:xfrm>
              <a:off x="1218" y="3756"/>
              <a:ext cx="2453" cy="2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defTabSz="685800">
                <a:defRPr/>
              </a:pPr>
              <a:r>
                <a:rPr lang="en-US" sz="1500" b="0" i="0" kern="0" dirty="0">
                  <a:solidFill>
                    <a:srgbClr val="000099"/>
                  </a:solidFill>
                  <a:latin typeface="Calibri" panose="020F0502020204030204"/>
                  <a:cs typeface="Arial" charset="0"/>
                </a:rPr>
                <a:t>copper (twister pair) physical layer</a:t>
              </a:r>
            </a:p>
          </p:txBody>
        </p:sp>
      </p:grpSp>
    </p:spTree>
    <p:extLst>
      <p:ext uri="{BB962C8B-B14F-4D97-AF65-F5344CB8AC3E}">
        <p14:creationId xmlns:p14="http://schemas.microsoft.com/office/powerpoint/2010/main" val="297042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1500"/>
                                  </p:stCondLst>
                                  <p:childTnLst>
                                    <p:set>
                                      <p:cBhvr>
                                        <p:cTn id="9"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1">
            <a:extLst>
              <a:ext uri="{FF2B5EF4-FFF2-40B4-BE49-F238E27FC236}">
                <a16:creationId xmlns:a16="http://schemas.microsoft.com/office/drawing/2014/main" id="{2757195C-FEE6-43D0-A4D1-CFFCED1F832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1BFAD25F-12DB-48A7-9DC6-965C5E6AF30F}" type="slidenum">
              <a:rPr lang="en-US" altLang="zh-CN" sz="2000" smtClean="0">
                <a:solidFill>
                  <a:schemeClr val="bg2"/>
                </a:solidFill>
              </a:rPr>
              <a:pPr/>
              <a:t>24</a:t>
            </a:fld>
            <a:endParaRPr lang="en-US" altLang="zh-CN" sz="2000">
              <a:solidFill>
                <a:schemeClr val="bg2"/>
              </a:solidFill>
            </a:endParaRPr>
          </a:p>
        </p:txBody>
      </p:sp>
      <p:sp>
        <p:nvSpPr>
          <p:cNvPr id="82947" name="文本框 2">
            <a:extLst>
              <a:ext uri="{FF2B5EF4-FFF2-40B4-BE49-F238E27FC236}">
                <a16:creationId xmlns:a16="http://schemas.microsoft.com/office/drawing/2014/main" id="{28FB1318-C0AD-4514-BCFE-38A84490B47D}"/>
              </a:ext>
            </a:extLst>
          </p:cNvPr>
          <p:cNvSpPr txBox="1">
            <a:spLocks noChangeArrowheads="1"/>
          </p:cNvSpPr>
          <p:nvPr/>
        </p:nvSpPr>
        <p:spPr bwMode="auto">
          <a:xfrm>
            <a:off x="1066800" y="3837560"/>
            <a:ext cx="3505200" cy="2264851"/>
          </a:xfrm>
          <a:prstGeom prst="rect">
            <a:avLst/>
          </a:prstGeom>
          <a:noFill/>
          <a:ln>
            <a:noFill/>
          </a:ln>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数据速率升级为</a:t>
            </a:r>
            <a:r>
              <a:rPr lang="en-US" altLang="zh-CN" sz="1600" b="0" dirty="0">
                <a:latin typeface="微软雅黑" panose="020B0503020204020204" pitchFamily="34" charset="-122"/>
                <a:ea typeface="微软雅黑" panose="020B0503020204020204" pitchFamily="34" charset="-122"/>
              </a:rPr>
              <a:t>1000Mbps</a:t>
            </a:r>
            <a:endParaRPr lang="zh-CN" altLang="en-US" sz="1600" b="0" dirty="0">
              <a:latin typeface="微软雅黑" panose="020B0503020204020204" pitchFamily="34" charset="-122"/>
              <a:ea typeface="微软雅黑" panose="020B0503020204020204" pitchFamily="34" charset="-122"/>
            </a:endParaRPr>
          </a:p>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与标准以太网和快速以太网兼容</a:t>
            </a:r>
          </a:p>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保留</a:t>
            </a:r>
            <a:r>
              <a:rPr lang="en-US" altLang="zh-CN" sz="1600" b="0" dirty="0">
                <a:latin typeface="微软雅黑" panose="020B0503020204020204" pitchFamily="34" charset="-122"/>
                <a:ea typeface="微软雅黑" panose="020B0503020204020204" pitchFamily="34" charset="-122"/>
              </a:rPr>
              <a:t>48</a:t>
            </a:r>
            <a:r>
              <a:rPr lang="zh-CN" altLang="en-US" sz="1600" b="0" dirty="0">
                <a:latin typeface="微软雅黑" panose="020B0503020204020204" pitchFamily="34" charset="-122"/>
                <a:ea typeface="微软雅黑" panose="020B0503020204020204" pitchFamily="34" charset="-122"/>
              </a:rPr>
              <a:t>位地址</a:t>
            </a:r>
          </a:p>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保留相同的帧格式</a:t>
            </a:r>
          </a:p>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保留最大和最小帧长度</a:t>
            </a:r>
          </a:p>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支持自动协商</a:t>
            </a:r>
          </a:p>
        </p:txBody>
      </p:sp>
      <p:sp>
        <p:nvSpPr>
          <p:cNvPr id="5" name="文本框 1">
            <a:extLst>
              <a:ext uri="{FF2B5EF4-FFF2-40B4-BE49-F238E27FC236}">
                <a16:creationId xmlns:a16="http://schemas.microsoft.com/office/drawing/2014/main" id="{7C25B14F-05A6-46F3-85E6-CC56E8B20518}"/>
              </a:ext>
            </a:extLst>
          </p:cNvPr>
          <p:cNvSpPr txBox="1">
            <a:spLocks noChangeArrowheads="1"/>
          </p:cNvSpPr>
          <p:nvPr/>
        </p:nvSpPr>
        <p:spPr bwMode="auto">
          <a:xfrm>
            <a:off x="2971800" y="100203"/>
            <a:ext cx="2514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r>
              <a:rPr lang="zh-CN" altLang="en-US" sz="2800" dirty="0">
                <a:solidFill>
                  <a:schemeClr val="bg1"/>
                </a:solidFill>
                <a:latin typeface="微软雅黑" panose="020B0503020204020204" pitchFamily="34" charset="-122"/>
                <a:ea typeface="微软雅黑" panose="020B0503020204020204" pitchFamily="34" charset="-122"/>
              </a:rPr>
              <a:t>千兆以太网</a:t>
            </a:r>
          </a:p>
        </p:txBody>
      </p:sp>
      <p:sp>
        <p:nvSpPr>
          <p:cNvPr id="8" name="文本框 2">
            <a:extLst>
              <a:ext uri="{FF2B5EF4-FFF2-40B4-BE49-F238E27FC236}">
                <a16:creationId xmlns:a16="http://schemas.microsoft.com/office/drawing/2014/main" id="{F2881D0A-47D3-46C8-95DB-E740E5071CFB}"/>
              </a:ext>
            </a:extLst>
          </p:cNvPr>
          <p:cNvSpPr txBox="1">
            <a:spLocks noChangeArrowheads="1"/>
          </p:cNvSpPr>
          <p:nvPr/>
        </p:nvSpPr>
        <p:spPr bwMode="auto">
          <a:xfrm>
            <a:off x="4876800" y="3739808"/>
            <a:ext cx="3733800" cy="2460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全双工：交换机</a:t>
            </a:r>
            <a:endParaRPr lang="en-US" altLang="zh-CN" sz="1600" b="0" dirty="0">
              <a:latin typeface="微软雅黑" panose="020B0503020204020204" pitchFamily="34" charset="-122"/>
              <a:ea typeface="微软雅黑" panose="020B0503020204020204" pitchFamily="34" charset="-122"/>
            </a:endParaRPr>
          </a:p>
          <a:p>
            <a:pPr marL="534988" lvl="1" indent="-266700">
              <a:lnSpc>
                <a:spcPct val="150000"/>
              </a:lnSpc>
              <a:buClr>
                <a:srgbClr val="0099FF"/>
              </a:buClr>
              <a:buSzPct val="80000"/>
              <a:buFont typeface="Wingdings" panose="05000000000000000000" pitchFamily="2" charset="2"/>
              <a:buChar char="l"/>
            </a:pPr>
            <a:r>
              <a:rPr lang="zh-CN" altLang="en-US" sz="1200" b="0" dirty="0">
                <a:latin typeface="微软雅黑" panose="020B0503020204020204" pitchFamily="34" charset="-122"/>
                <a:ea typeface="微软雅黑" panose="020B0503020204020204" pitchFamily="34" charset="-122"/>
              </a:rPr>
              <a:t>无需</a:t>
            </a:r>
            <a:r>
              <a:rPr lang="en-US" altLang="zh-CN" sz="1200" b="0" dirty="0">
                <a:latin typeface="微软雅黑" panose="020B0503020204020204" pitchFamily="34" charset="-122"/>
                <a:ea typeface="微软雅黑" panose="020B0503020204020204" pitchFamily="34" charset="-122"/>
              </a:rPr>
              <a:t>CSMA/CD</a:t>
            </a:r>
          </a:p>
          <a:p>
            <a:pPr marL="534988" lvl="1" indent="-266700">
              <a:lnSpc>
                <a:spcPct val="150000"/>
              </a:lnSpc>
              <a:buClr>
                <a:srgbClr val="0099FF"/>
              </a:buClr>
              <a:buSzPct val="80000"/>
              <a:buFont typeface="Wingdings" panose="05000000000000000000" pitchFamily="2" charset="2"/>
              <a:buChar char="l"/>
            </a:pPr>
            <a:r>
              <a:rPr lang="zh-CN" altLang="en-US" sz="1200" b="0" dirty="0">
                <a:latin typeface="微软雅黑" panose="020B0503020204020204" pitchFamily="34" charset="-122"/>
                <a:ea typeface="微软雅黑" panose="020B0503020204020204" pitchFamily="34" charset="-122"/>
              </a:rPr>
              <a:t>网络的最大长度取决于信号的衰减程度</a:t>
            </a:r>
          </a:p>
          <a:p>
            <a:pPr marL="285750" indent="-285750">
              <a:lnSpc>
                <a:spcPct val="150000"/>
              </a:lnSpc>
              <a:buClr>
                <a:srgbClr val="FF0000"/>
              </a:buClr>
              <a:buSzPct val="80000"/>
              <a:buFont typeface="Wingdings" panose="05000000000000000000" pitchFamily="2" charset="2"/>
              <a:buChar char="u"/>
              <a:tabLst>
                <a:tab pos="534988" algn="l"/>
              </a:tabLst>
              <a:defRPr/>
            </a:pPr>
            <a:r>
              <a:rPr lang="zh-CN" altLang="en-US" sz="1600" b="0" dirty="0">
                <a:latin typeface="微软雅黑" panose="020B0503020204020204" pitchFamily="34" charset="-122"/>
                <a:ea typeface="微软雅黑" panose="020B0503020204020204" pitchFamily="34" charset="-122"/>
              </a:rPr>
              <a:t>半双工：集线器</a:t>
            </a:r>
          </a:p>
          <a:p>
            <a:pPr marL="534988" lvl="1" indent="-266700">
              <a:lnSpc>
                <a:spcPct val="150000"/>
              </a:lnSpc>
              <a:buClr>
                <a:srgbClr val="0099FF"/>
              </a:buClr>
              <a:buSzPct val="80000"/>
              <a:buFont typeface="Wingdings" panose="05000000000000000000" pitchFamily="2" charset="2"/>
              <a:buChar char="l"/>
            </a:pPr>
            <a:r>
              <a:rPr lang="zh-CN" altLang="en-US" sz="1200" b="0" dirty="0">
                <a:latin typeface="微软雅黑" panose="020B0503020204020204" pitchFamily="34" charset="-122"/>
                <a:ea typeface="微软雅黑" panose="020B0503020204020204" pitchFamily="34" charset="-122"/>
              </a:rPr>
              <a:t>网络的最大长度取决于最小帧长</a:t>
            </a:r>
          </a:p>
          <a:p>
            <a:pPr marL="534988" lvl="1" indent="-266700">
              <a:lnSpc>
                <a:spcPct val="150000"/>
              </a:lnSpc>
              <a:buClr>
                <a:srgbClr val="0099FF"/>
              </a:buClr>
              <a:buSzPct val="80000"/>
              <a:buFont typeface="Wingdings" panose="05000000000000000000" pitchFamily="2" charset="2"/>
              <a:buChar char="l"/>
            </a:pPr>
            <a:r>
              <a:rPr lang="zh-CN" altLang="en-US" sz="1200" b="0" dirty="0">
                <a:latin typeface="微软雅黑" panose="020B0503020204020204" pitchFamily="34" charset="-122"/>
                <a:ea typeface="微软雅黑" panose="020B0503020204020204" pitchFamily="34" charset="-122"/>
              </a:rPr>
              <a:t>传统方法：最小帧长</a:t>
            </a:r>
            <a:r>
              <a:rPr lang="en-US" altLang="zh-CN" sz="1200" b="0" dirty="0">
                <a:latin typeface="微软雅黑" panose="020B0503020204020204" pitchFamily="34" charset="-122"/>
                <a:ea typeface="微软雅黑" panose="020B0503020204020204" pitchFamily="34" charset="-122"/>
              </a:rPr>
              <a:t>512bit</a:t>
            </a:r>
          </a:p>
          <a:p>
            <a:pPr marL="534988" lvl="1" indent="-266700">
              <a:lnSpc>
                <a:spcPct val="150000"/>
              </a:lnSpc>
              <a:buClr>
                <a:srgbClr val="0099FF"/>
              </a:buClr>
              <a:buSzPct val="80000"/>
              <a:buFont typeface="Wingdings" panose="05000000000000000000" pitchFamily="2" charset="2"/>
              <a:buChar char="l"/>
            </a:pPr>
            <a:r>
              <a:rPr lang="zh-CN" altLang="en-US" sz="1200" b="0" dirty="0">
                <a:latin typeface="微软雅黑" panose="020B0503020204020204" pitchFamily="34" charset="-122"/>
                <a:ea typeface="微软雅黑" panose="020B0503020204020204" pitchFamily="34" charset="-122"/>
              </a:rPr>
              <a:t>载波扩展方法：最小帧长</a:t>
            </a:r>
            <a:r>
              <a:rPr lang="en-US" altLang="zh-CN" sz="1200" b="0" dirty="0">
                <a:latin typeface="微软雅黑" panose="020B0503020204020204" pitchFamily="34" charset="-122"/>
                <a:ea typeface="微软雅黑" panose="020B0503020204020204" pitchFamily="34" charset="-122"/>
              </a:rPr>
              <a:t>512byte</a:t>
            </a:r>
          </a:p>
          <a:p>
            <a:pPr marL="534988" lvl="1" indent="-266700">
              <a:lnSpc>
                <a:spcPct val="150000"/>
              </a:lnSpc>
              <a:buClr>
                <a:srgbClr val="0099FF"/>
              </a:buClr>
              <a:buSzPct val="80000"/>
              <a:buFont typeface="Wingdings" panose="05000000000000000000" pitchFamily="2" charset="2"/>
              <a:buChar char="l"/>
            </a:pPr>
            <a:r>
              <a:rPr lang="zh-CN" altLang="en-US" sz="1200" b="0" dirty="0">
                <a:latin typeface="微软雅黑" panose="020B0503020204020204" pitchFamily="34" charset="-122"/>
                <a:ea typeface="微软雅黑" panose="020B0503020204020204" pitchFamily="34" charset="-122"/>
              </a:rPr>
              <a:t>帧突发方法：用于短帧</a:t>
            </a:r>
            <a:endParaRPr lang="en-US" altLang="zh-CN" sz="1200" b="0" dirty="0">
              <a:latin typeface="微软雅黑" panose="020B0503020204020204" pitchFamily="34" charset="-122"/>
              <a:ea typeface="微软雅黑" panose="020B0503020204020204" pitchFamily="34" charset="-122"/>
            </a:endParaRPr>
          </a:p>
        </p:txBody>
      </p:sp>
      <p:sp>
        <p:nvSpPr>
          <p:cNvPr id="9" name="Text Box 4">
            <a:extLst>
              <a:ext uri="{FF2B5EF4-FFF2-40B4-BE49-F238E27FC236}">
                <a16:creationId xmlns:a16="http://schemas.microsoft.com/office/drawing/2014/main" id="{B689FE64-A19D-421C-9E21-07FFAF3149FA}"/>
              </a:ext>
            </a:extLst>
          </p:cNvPr>
          <p:cNvSpPr txBox="1">
            <a:spLocks noChangeArrowheads="1"/>
          </p:cNvSpPr>
          <p:nvPr/>
        </p:nvSpPr>
        <p:spPr bwMode="auto">
          <a:xfrm>
            <a:off x="3116313" y="3120154"/>
            <a:ext cx="261001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zh-CN" altLang="en-US" sz="1600" dirty="0">
                <a:solidFill>
                  <a:schemeClr val="folHlink"/>
                </a:solidFill>
                <a:latin typeface="Times New Roman" panose="02020603050405020304" pitchFamily="18" charset="0"/>
                <a:ea typeface="宋体" panose="02010600030101010101" pitchFamily="2" charset="-122"/>
              </a:rPr>
              <a:t>图</a:t>
            </a:r>
            <a:r>
              <a:rPr lang="en-US" altLang="zh-CN" sz="1600" dirty="0">
                <a:solidFill>
                  <a:schemeClr val="folHlink"/>
                </a:solidFill>
                <a:latin typeface="Times New Roman" panose="02020603050405020304" pitchFamily="18" charset="0"/>
                <a:ea typeface="宋体" panose="02010600030101010101" pitchFamily="2" charset="-122"/>
              </a:rPr>
              <a:t>13.23  </a:t>
            </a:r>
            <a:r>
              <a:rPr lang="zh-CN" altLang="en-US" sz="1600" dirty="0">
                <a:latin typeface="Times New Roman" panose="02020603050405020304" pitchFamily="18" charset="0"/>
                <a:ea typeface="宋体" panose="02010600030101010101" pitchFamily="2" charset="-122"/>
              </a:rPr>
              <a:t>千兆以太网的实现</a:t>
            </a:r>
            <a:endParaRPr lang="en-US" altLang="zh-CN" sz="1600" dirty="0">
              <a:latin typeface="Times New Roman" panose="02020603050405020304" pitchFamily="18" charset="0"/>
              <a:ea typeface="宋体" panose="02010600030101010101" pitchFamily="2" charset="-122"/>
            </a:endParaRPr>
          </a:p>
        </p:txBody>
      </p:sp>
      <p:pic>
        <p:nvPicPr>
          <p:cNvPr id="10" name="Picture 6">
            <a:extLst>
              <a:ext uri="{FF2B5EF4-FFF2-40B4-BE49-F238E27FC236}">
                <a16:creationId xmlns:a16="http://schemas.microsoft.com/office/drawing/2014/main" id="{E27BCEDE-7DF9-44E1-95FB-2EB6612830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8168" y="1046960"/>
            <a:ext cx="5427663" cy="1973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0138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2947"/>
                                        </p:tgtEl>
                                        <p:attrNameLst>
                                          <p:attrName>style.visibility</p:attrName>
                                        </p:attrNameLst>
                                      </p:cBhvr>
                                      <p:to>
                                        <p:strVal val="visible"/>
                                      </p:to>
                                    </p:set>
                                    <p:animEffect transition="in" filter="wipe(up)">
                                      <p:cBhvr>
                                        <p:cTn id="7" dur="500"/>
                                        <p:tgtEl>
                                          <p:spTgt spid="829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1">
            <a:extLst>
              <a:ext uri="{FF2B5EF4-FFF2-40B4-BE49-F238E27FC236}">
                <a16:creationId xmlns:a16="http://schemas.microsoft.com/office/drawing/2014/main" id="{2757195C-FEE6-43D0-A4D1-CFFCED1F832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1BFAD25F-12DB-48A7-9DC6-965C5E6AF30F}" type="slidenum">
              <a:rPr lang="en-US" altLang="zh-CN" sz="2000" smtClean="0">
                <a:solidFill>
                  <a:schemeClr val="bg2"/>
                </a:solidFill>
              </a:rPr>
              <a:pPr/>
              <a:t>25</a:t>
            </a:fld>
            <a:endParaRPr lang="en-US" altLang="zh-CN" sz="2000">
              <a:solidFill>
                <a:schemeClr val="bg2"/>
              </a:solidFill>
            </a:endParaRPr>
          </a:p>
        </p:txBody>
      </p:sp>
      <p:sp>
        <p:nvSpPr>
          <p:cNvPr id="5" name="文本框 1">
            <a:extLst>
              <a:ext uri="{FF2B5EF4-FFF2-40B4-BE49-F238E27FC236}">
                <a16:creationId xmlns:a16="http://schemas.microsoft.com/office/drawing/2014/main" id="{7C25B14F-05A6-46F3-85E6-CC56E8B20518}"/>
              </a:ext>
            </a:extLst>
          </p:cNvPr>
          <p:cNvSpPr txBox="1">
            <a:spLocks noChangeArrowheads="1"/>
          </p:cNvSpPr>
          <p:nvPr/>
        </p:nvSpPr>
        <p:spPr bwMode="auto">
          <a:xfrm>
            <a:off x="2971800" y="100203"/>
            <a:ext cx="2514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r>
              <a:rPr lang="zh-CN" altLang="en-US" sz="2800" dirty="0">
                <a:solidFill>
                  <a:schemeClr val="bg1"/>
                </a:solidFill>
                <a:latin typeface="微软雅黑" panose="020B0503020204020204" pitchFamily="34" charset="-122"/>
                <a:ea typeface="微软雅黑" panose="020B0503020204020204" pitchFamily="34" charset="-122"/>
              </a:rPr>
              <a:t>万兆以太网</a:t>
            </a:r>
          </a:p>
        </p:txBody>
      </p:sp>
      <p:sp>
        <p:nvSpPr>
          <p:cNvPr id="12" name="Rectangle 5">
            <a:extLst>
              <a:ext uri="{FF2B5EF4-FFF2-40B4-BE49-F238E27FC236}">
                <a16:creationId xmlns:a16="http://schemas.microsoft.com/office/drawing/2014/main" id="{187209BD-62E8-40B0-AC0B-181378C8AA07}"/>
              </a:ext>
            </a:extLst>
          </p:cNvPr>
          <p:cNvSpPr>
            <a:spLocks noChangeArrowheads="1"/>
          </p:cNvSpPr>
          <p:nvPr/>
        </p:nvSpPr>
        <p:spPr bwMode="auto">
          <a:xfrm>
            <a:off x="838200" y="1295400"/>
            <a:ext cx="7734300" cy="4523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marL="457200" indent="-457200">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indent="0" algn="just">
              <a:lnSpc>
                <a:spcPts val="3500"/>
              </a:lnSpc>
              <a:buClr>
                <a:srgbClr val="6666FF"/>
              </a:buClr>
              <a:buSzPct val="80000"/>
            </a:pP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1999</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月，</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IEEE</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成立高速研究组（</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HSSG</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），致力于万兆以太网（</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10GE</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）技术与标准的研究。</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2002</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年，</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IEEE802</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委员会批准</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IEEE802.3ae</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作为万兆以太网标准。</a:t>
            </a:r>
          </a:p>
          <a:p>
            <a:pPr marL="342900" indent="-342900" algn="just">
              <a:lnSpc>
                <a:spcPts val="3500"/>
              </a:lnSpc>
              <a:buClr>
                <a:srgbClr val="FF0000"/>
              </a:buClr>
              <a:buSzPct val="80000"/>
              <a:buFont typeface="Wingdings" panose="05000000000000000000" pitchFamily="2" charset="2"/>
              <a:buChar char="u"/>
            </a:pP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10GE</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的帧格式与</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10Mbps</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的以太网帧格式基本相同，保留</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802.3</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标准对以太网最小帧长度和最大帧长度的规定。</a:t>
            </a:r>
          </a:p>
          <a:p>
            <a:pPr marL="342900" indent="-342900" algn="just">
              <a:lnSpc>
                <a:spcPts val="3500"/>
              </a:lnSpc>
              <a:buClr>
                <a:srgbClr val="FF0000"/>
              </a:buClr>
              <a:buSzPct val="80000"/>
              <a:buFont typeface="Wingdings" panose="05000000000000000000" pitchFamily="2" charset="2"/>
              <a:buChar char="u"/>
            </a:pP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传输速率高达</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10Gbps</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，传输介质只使用光纤，可用于城域网与广域网的范围。</a:t>
            </a:r>
          </a:p>
          <a:p>
            <a:pPr marL="342900" indent="-342900" algn="just">
              <a:lnSpc>
                <a:spcPts val="3500"/>
              </a:lnSpc>
              <a:buClr>
                <a:srgbClr val="FF0000"/>
              </a:buClr>
              <a:buSzPct val="80000"/>
              <a:buFont typeface="Wingdings" panose="05000000000000000000" pitchFamily="2" charset="2"/>
              <a:buChar char="u"/>
            </a:pP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10GE</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只工作在全双工方式，不存在争用问题，因此传输距离不受冲突检测的限制。</a:t>
            </a:r>
          </a:p>
          <a:p>
            <a:pPr marL="342900" indent="-342900" algn="just">
              <a:lnSpc>
                <a:spcPts val="3500"/>
              </a:lnSpc>
              <a:buClr>
                <a:srgbClr val="FF0000"/>
              </a:buClr>
              <a:buSzPct val="80000"/>
              <a:buFont typeface="Wingdings" panose="05000000000000000000" pitchFamily="2" charset="2"/>
              <a:buChar char="u"/>
            </a:pP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10GE</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的物理层标准分为</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10GE</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局域网与</a:t>
            </a:r>
            <a:r>
              <a:rPr lang="en-US" altLang="zh-CN" sz="1800" b="0" dirty="0">
                <a:latin typeface="微软雅黑" panose="020B0503020204020204" pitchFamily="34" charset="-122"/>
                <a:ea typeface="微软雅黑" panose="020B0503020204020204" pitchFamily="34" charset="-122"/>
                <a:cs typeface="Times New Roman" panose="02020603050405020304" pitchFamily="18" charset="0"/>
              </a:rPr>
              <a:t>10GE</a:t>
            </a:r>
            <a:r>
              <a:rPr lang="zh-CN" altLang="en-US" sz="1800" b="0" dirty="0">
                <a:latin typeface="微软雅黑" panose="020B0503020204020204" pitchFamily="34" charset="-122"/>
                <a:ea typeface="微软雅黑" panose="020B0503020204020204" pitchFamily="34" charset="-122"/>
                <a:cs typeface="Times New Roman" panose="02020603050405020304" pitchFamily="18" charset="0"/>
              </a:rPr>
              <a:t>广域网两类。</a:t>
            </a:r>
          </a:p>
        </p:txBody>
      </p:sp>
    </p:spTree>
    <p:extLst>
      <p:ext uri="{BB962C8B-B14F-4D97-AF65-F5344CB8AC3E}">
        <p14:creationId xmlns:p14="http://schemas.microsoft.com/office/powerpoint/2010/main" val="547937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a:extLst>
              <a:ext uri="{FF2B5EF4-FFF2-40B4-BE49-F238E27FC236}">
                <a16:creationId xmlns:a16="http://schemas.microsoft.com/office/drawing/2014/main" id="{FBD3C787-800C-4262-835F-8429B75CE20C}"/>
              </a:ext>
            </a:extLst>
          </p:cNvPr>
          <p:cNvSpPr>
            <a:spLocks noGrp="1"/>
          </p:cNvSpPr>
          <p:nvPr>
            <p:ph type="title" idx="4294967295"/>
          </p:nvPr>
        </p:nvSpPr>
        <p:spPr bwMode="auto">
          <a:xfrm>
            <a:off x="3048000" y="107796"/>
            <a:ext cx="4648200" cy="701675"/>
          </a:xfrm>
          <a:prstGeom prst="rect">
            <a:avLst/>
          </a:prstGeom>
          <a:ln>
            <a:miter lim="800000"/>
            <a:headEnd/>
            <a:tailEnd/>
          </a:ln>
        </p:spPr>
        <p:txBody>
          <a:bodyPr vert="horz" wrap="square" lIns="91440" tIns="45720" rIns="91440" bIns="45720" numCol="1" anchor="t" anchorCtr="0" compatLnSpc="1">
            <a:prstTxWarp prst="textNoShape">
              <a:avLst/>
            </a:prstTxWarp>
          </a:bodyPr>
          <a:lstStyle/>
          <a:p>
            <a:pPr>
              <a:defRPr/>
            </a:pPr>
            <a:r>
              <a:rPr lang="zh-CN" altLang="en-US" sz="2800" b="1" dirty="0">
                <a:solidFill>
                  <a:schemeClr val="bg1"/>
                </a:solidFill>
                <a:latin typeface="微软雅黑" panose="020B0503020204020204" pitchFamily="34" charset="-122"/>
                <a:ea typeface="微软雅黑" panose="020B0503020204020204" pitchFamily="34" charset="-122"/>
                <a:cs typeface="+mn-cs"/>
              </a:rPr>
              <a:t>最新进展</a:t>
            </a:r>
          </a:p>
        </p:txBody>
      </p:sp>
      <p:sp>
        <p:nvSpPr>
          <p:cNvPr id="102403" name="内容占位符 2">
            <a:extLst>
              <a:ext uri="{FF2B5EF4-FFF2-40B4-BE49-F238E27FC236}">
                <a16:creationId xmlns:a16="http://schemas.microsoft.com/office/drawing/2014/main" id="{D245900B-E19C-4563-ACCF-D2739A6C2731}"/>
              </a:ext>
            </a:extLst>
          </p:cNvPr>
          <p:cNvSpPr>
            <a:spLocks noGrp="1"/>
          </p:cNvSpPr>
          <p:nvPr>
            <p:ph idx="4294967295"/>
          </p:nvPr>
        </p:nvSpPr>
        <p:spPr bwMode="auto">
          <a:xfrm>
            <a:off x="731007" y="931013"/>
            <a:ext cx="7696200" cy="164647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just">
              <a:lnSpc>
                <a:spcPct val="150000"/>
              </a:lnSpc>
              <a:buClr>
                <a:srgbClr val="FF0000"/>
              </a:buClr>
              <a:buSzPct val="80000"/>
              <a:buNone/>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以太网链路速度从上世纪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80 </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年代的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10M </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逐步发展至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56G</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，现升级到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800G</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，且正朝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1.6T </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演进，</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PCIe 7.0 </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规范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25 </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年有望落地。</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PCIe 7.0 </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规范的开发目标是支持 </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800G </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以太网、</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AI/ML</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、云和量子计算等新兴应用，以及超大规模数据中心、高性能计算和军事</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航空航天等数据密集型市场。</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2404" name="灯片编号占位符 3">
            <a:extLst>
              <a:ext uri="{FF2B5EF4-FFF2-40B4-BE49-F238E27FC236}">
                <a16:creationId xmlns:a16="http://schemas.microsoft.com/office/drawing/2014/main" id="{A23AD1CD-DE05-4C60-A94E-5AECC0539749}"/>
              </a:ext>
            </a:extLst>
          </p:cNvPr>
          <p:cNvSpPr>
            <a:spLocks noGrp="1"/>
          </p:cNvSpPr>
          <p:nvPr>
            <p:ph type="sldNum" sz="quarter" idx="10"/>
          </p:nvPr>
        </p:nvSpPr>
        <p:spPr>
          <a:xfrm>
            <a:off x="8305800" y="6400800"/>
            <a:ext cx="9906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zh-CN" sz="2000">
                <a:solidFill>
                  <a:schemeClr val="bg2"/>
                </a:solidFill>
              </a:rPr>
              <a:t>13.</a:t>
            </a:r>
            <a:fld id="{54536112-A98E-4D21-93ED-48097C054ACD}" type="slidenum">
              <a:rPr lang="en-US" altLang="zh-CN" sz="2000" smtClean="0">
                <a:solidFill>
                  <a:schemeClr val="bg2"/>
                </a:solidFill>
              </a:rPr>
              <a:pPr/>
              <a:t>26</a:t>
            </a:fld>
            <a:endParaRPr lang="en-US" altLang="zh-CN" sz="2000">
              <a:solidFill>
                <a:schemeClr val="bg2"/>
              </a:solidFill>
            </a:endParaRPr>
          </a:p>
        </p:txBody>
      </p:sp>
      <p:pic>
        <p:nvPicPr>
          <p:cNvPr id="2050" name="Picture 2" descr="https://pics6.baidu.com/feed/2f738bd4b31c870134022f410b0c34240608ff64.jpeg@f_auto?token=db61674884255e3636f45a98f5fcb508">
            <a:extLst>
              <a:ext uri="{FF2B5EF4-FFF2-40B4-BE49-F238E27FC236}">
                <a16:creationId xmlns:a16="http://schemas.microsoft.com/office/drawing/2014/main" id="{99DD2BBF-4ABF-4A04-A253-B3557DF8B3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 b="1433"/>
          <a:stretch/>
        </p:blipFill>
        <p:spPr bwMode="auto">
          <a:xfrm>
            <a:off x="1676400" y="2519286"/>
            <a:ext cx="5805415" cy="372911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https://www.szhanxin.com/library_show-7.html">
            <a:extLst>
              <a:ext uri="{FF2B5EF4-FFF2-40B4-BE49-F238E27FC236}">
                <a16:creationId xmlns:a16="http://schemas.microsoft.com/office/drawing/2014/main" id="{7217A4C9-5E50-4C5A-8E0E-6E651FFC02B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000" t="2292" r="6088" b="3724"/>
          <a:stretch/>
        </p:blipFill>
        <p:spPr bwMode="auto">
          <a:xfrm>
            <a:off x="1181100" y="2590800"/>
            <a:ext cx="7124700" cy="3848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9762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BD38AC3-3FE2-4745-BC49-861244446715}"/>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27</a:t>
            </a:fld>
            <a:endParaRPr lang="en-US" altLang="zh-CN"/>
          </a:p>
        </p:txBody>
      </p:sp>
      <p:sp>
        <p:nvSpPr>
          <p:cNvPr id="4" name="Rectangle 2">
            <a:extLst>
              <a:ext uri="{FF2B5EF4-FFF2-40B4-BE49-F238E27FC236}">
                <a16:creationId xmlns:a16="http://schemas.microsoft.com/office/drawing/2014/main" id="{E22524DF-12D8-4C7B-92C1-5477D58A0BDF}"/>
              </a:ext>
            </a:extLst>
          </p:cNvPr>
          <p:cNvSpPr>
            <a:spLocks noChangeArrowheads="1"/>
          </p:cNvSpPr>
          <p:nvPr/>
        </p:nvSpPr>
        <p:spPr bwMode="auto">
          <a:xfrm>
            <a:off x="0" y="0"/>
            <a:ext cx="9144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5" name="Text Box 3">
            <a:extLst>
              <a:ext uri="{FF2B5EF4-FFF2-40B4-BE49-F238E27FC236}">
                <a16:creationId xmlns:a16="http://schemas.microsoft.com/office/drawing/2014/main" id="{869BFE03-5F4D-4858-BAD4-F1AEA65A00A1}"/>
              </a:ext>
            </a:extLst>
          </p:cNvPr>
          <p:cNvSpPr txBox="1">
            <a:spLocks noChangeArrowheads="1"/>
          </p:cNvSpPr>
          <p:nvPr/>
        </p:nvSpPr>
        <p:spPr bwMode="auto">
          <a:xfrm>
            <a:off x="228600" y="329624"/>
            <a:ext cx="4870244" cy="584775"/>
          </a:xfrm>
          <a:prstGeom prst="rect">
            <a:avLst/>
          </a:prstGeom>
          <a:noFill/>
          <a:ln>
            <a:noFill/>
          </a:ln>
          <a:effectLst/>
        </p:spPr>
        <p:txBody>
          <a:bodyPr wrap="none">
            <a:spAutoFit/>
          </a:bodyPr>
          <a:lstStyle/>
          <a:p>
            <a:pPr>
              <a:defRPr/>
            </a:pPr>
            <a:r>
              <a:rPr lang="en-US" altLang="zh-CN" dirty="0">
                <a:latin typeface="微软雅黑" panose="020B0503020204020204" pitchFamily="34" charset="-122"/>
                <a:ea typeface="微软雅黑" panose="020B0503020204020204" pitchFamily="34" charset="-122"/>
              </a:rPr>
              <a:t>13.4  </a:t>
            </a:r>
            <a:r>
              <a:rPr lang="en-US" altLang="zh-CN" dirty="0" err="1">
                <a:latin typeface="微软雅黑" panose="020B0503020204020204" pitchFamily="34" charset="-122"/>
                <a:ea typeface="微软雅黑" panose="020B0503020204020204" pitchFamily="34" charset="-122"/>
              </a:rPr>
              <a:t>eNSP</a:t>
            </a:r>
            <a:r>
              <a:rPr lang="zh-CN" altLang="en-US" dirty="0">
                <a:latin typeface="微软雅黑" panose="020B0503020204020204" pitchFamily="34" charset="-122"/>
                <a:ea typeface="微软雅黑" panose="020B0503020204020204" pitchFamily="34" charset="-122"/>
              </a:rPr>
              <a:t>模拟仿真软件</a:t>
            </a:r>
            <a:endParaRPr lang="en-US" altLang="zh-CN"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B69ADB04-83A2-4DDA-9698-F6410CD1373E}"/>
              </a:ext>
            </a:extLst>
          </p:cNvPr>
          <p:cNvSpPr/>
          <p:nvPr/>
        </p:nvSpPr>
        <p:spPr>
          <a:xfrm>
            <a:off x="900803" y="1905000"/>
            <a:ext cx="7342393" cy="3332772"/>
          </a:xfrm>
          <a:prstGeom prst="rect">
            <a:avLst/>
          </a:prstGeom>
        </p:spPr>
        <p:txBody>
          <a:bodyPr wrap="square">
            <a:spAutoFit/>
          </a:bodyPr>
          <a:lstStyle/>
          <a:p>
            <a:pPr algn="just">
              <a:lnSpc>
                <a:spcPct val="200000"/>
              </a:lnSpc>
              <a:spcAft>
                <a:spcPts val="0"/>
              </a:spcAft>
            </a:pPr>
            <a:r>
              <a:rPr lang="zh-CN" altLang="zh-CN" sz="1800" b="0" kern="100" dirty="0">
                <a:latin typeface="微软雅黑" panose="020B0503020204020204" pitchFamily="34" charset="-122"/>
                <a:ea typeface="微软雅黑" panose="020B0503020204020204" pitchFamily="34" charset="-122"/>
                <a:cs typeface="Times New Roman" panose="02020603050405020304" pitchFamily="18" charset="0"/>
              </a:rPr>
              <a:t>华为公司的</a:t>
            </a:r>
            <a:r>
              <a:rPr lang="en-US" altLang="zh-CN" sz="1800" b="0" kern="1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800" b="0" kern="100" dirty="0" err="1">
                <a:latin typeface="微软雅黑" panose="020B0503020204020204" pitchFamily="34" charset="-122"/>
                <a:ea typeface="微软雅黑" panose="020B0503020204020204" pitchFamily="34" charset="-122"/>
                <a:cs typeface="Times New Roman" panose="02020603050405020304" pitchFamily="18" charset="0"/>
              </a:rPr>
              <a:t>eNSP</a:t>
            </a:r>
            <a:r>
              <a:rPr lang="zh-CN" altLang="zh-CN" sz="1800" b="0"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b="0" kern="100" dirty="0">
                <a:latin typeface="微软雅黑" panose="020B0503020204020204" pitchFamily="34" charset="-122"/>
                <a:ea typeface="微软雅黑" panose="020B0503020204020204" pitchFamily="34" charset="-122"/>
                <a:cs typeface="Times New Roman" panose="02020603050405020304" pitchFamily="18" charset="0"/>
              </a:rPr>
              <a:t>Enterprise Network Simulation Platform</a:t>
            </a:r>
            <a:r>
              <a:rPr lang="zh-CN" altLang="zh-CN" sz="1800" b="0" kern="100" dirty="0">
                <a:latin typeface="微软雅黑" panose="020B0503020204020204" pitchFamily="34" charset="-122"/>
                <a:ea typeface="微软雅黑" panose="020B0503020204020204" pitchFamily="34" charset="-122"/>
                <a:cs typeface="Times New Roman" panose="02020603050405020304" pitchFamily="18" charset="0"/>
              </a:rPr>
              <a:t>）是一款免费的、可扩展的、图形化操作的网络仿真工具平台，</a:t>
            </a:r>
            <a:r>
              <a:rPr lang="zh-CN" altLang="en-US" sz="1800" b="0" kern="100" dirty="0">
                <a:latin typeface="微软雅黑" panose="020B0503020204020204" pitchFamily="34" charset="-122"/>
                <a:ea typeface="微软雅黑" panose="020B0503020204020204" pitchFamily="34" charset="-122"/>
                <a:cs typeface="Times New Roman" panose="02020603050405020304" pitchFamily="18" charset="0"/>
              </a:rPr>
              <a:t>可</a:t>
            </a:r>
            <a:r>
              <a:rPr lang="zh-CN" altLang="zh-CN" sz="1800" b="0" kern="100" dirty="0">
                <a:latin typeface="微软雅黑" panose="020B0503020204020204" pitchFamily="34" charset="-122"/>
                <a:ea typeface="微软雅黑" panose="020B0503020204020204" pitchFamily="34" charset="-122"/>
                <a:cs typeface="Times New Roman" panose="02020603050405020304" pitchFamily="18" charset="0"/>
              </a:rPr>
              <a:t>对路由器、交换机</a:t>
            </a:r>
            <a:r>
              <a:rPr lang="zh-CN" altLang="en-US" sz="1800" b="0" kern="100" dirty="0">
                <a:latin typeface="微软雅黑" panose="020B0503020204020204" pitchFamily="34" charset="-122"/>
                <a:ea typeface="微软雅黑" panose="020B0503020204020204" pitchFamily="34" charset="-122"/>
                <a:cs typeface="Times New Roman" panose="02020603050405020304" pitchFamily="18" charset="0"/>
              </a:rPr>
              <a:t>等网络设备</a:t>
            </a:r>
            <a:r>
              <a:rPr lang="zh-CN" altLang="zh-CN" sz="1800" b="0" kern="100" dirty="0">
                <a:latin typeface="微软雅黑" panose="020B0503020204020204" pitchFamily="34" charset="-122"/>
                <a:ea typeface="微软雅黑" panose="020B0503020204020204" pitchFamily="34" charset="-122"/>
                <a:cs typeface="Times New Roman" panose="02020603050405020304" pitchFamily="18" charset="0"/>
              </a:rPr>
              <a:t>进行软件仿真，利用设备命令行接口（</a:t>
            </a:r>
            <a:r>
              <a:rPr lang="en-US" altLang="zh-CN" sz="1800" b="0" kern="100" dirty="0">
                <a:latin typeface="微软雅黑" panose="020B0503020204020204" pitchFamily="34" charset="-122"/>
                <a:ea typeface="微软雅黑" panose="020B0503020204020204" pitchFamily="34" charset="-122"/>
                <a:cs typeface="Times New Roman" panose="02020603050405020304" pitchFamily="18" charset="0"/>
              </a:rPr>
              <a:t>Command-Line Interface, CLI</a:t>
            </a:r>
            <a:r>
              <a:rPr lang="zh-CN" altLang="zh-CN" sz="1800" b="0" kern="100" dirty="0">
                <a:latin typeface="微软雅黑" panose="020B0503020204020204" pitchFamily="34" charset="-122"/>
                <a:ea typeface="微软雅黑" panose="020B0503020204020204" pitchFamily="34" charset="-122"/>
                <a:cs typeface="Times New Roman" panose="02020603050405020304" pitchFamily="18" charset="0"/>
              </a:rPr>
              <a:t>）界面对网络设备进行配置，通过启动分组端到端传输过程检验网络中任意两个终端之间的连通性。它能够完美呈现真实设备实景，</a:t>
            </a:r>
            <a:r>
              <a:rPr lang="zh-CN" altLang="en-US" sz="1800" b="0" kern="100" dirty="0">
                <a:latin typeface="微软雅黑" panose="020B0503020204020204" pitchFamily="34" charset="-122"/>
                <a:ea typeface="微软雅黑" panose="020B0503020204020204" pitchFamily="34" charset="-122"/>
                <a:cs typeface="Times New Roman" panose="02020603050405020304" pitchFamily="18" charset="0"/>
              </a:rPr>
              <a:t>并且</a:t>
            </a:r>
            <a:r>
              <a:rPr lang="zh-CN" altLang="zh-CN" sz="1800" b="0" kern="100" dirty="0">
                <a:latin typeface="微软雅黑" panose="020B0503020204020204" pitchFamily="34" charset="-122"/>
                <a:ea typeface="微软雅黑" panose="020B0503020204020204" pitchFamily="34" charset="-122"/>
                <a:cs typeface="Times New Roman" panose="02020603050405020304" pitchFamily="18" charset="0"/>
              </a:rPr>
              <a:t>支持大型网络模拟。</a:t>
            </a:r>
          </a:p>
        </p:txBody>
      </p:sp>
    </p:spTree>
    <p:extLst>
      <p:ext uri="{BB962C8B-B14F-4D97-AF65-F5344CB8AC3E}">
        <p14:creationId xmlns:p14="http://schemas.microsoft.com/office/powerpoint/2010/main" val="23103079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AE8BECA3-01EC-4F87-BC22-2145A0D708D1}"/>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28</a:t>
            </a:fld>
            <a:endParaRPr lang="en-US" altLang="zh-CN"/>
          </a:p>
        </p:txBody>
      </p:sp>
      <p:pic>
        <p:nvPicPr>
          <p:cNvPr id="4" name="图片 3">
            <a:extLst>
              <a:ext uri="{FF2B5EF4-FFF2-40B4-BE49-F238E27FC236}">
                <a16:creationId xmlns:a16="http://schemas.microsoft.com/office/drawing/2014/main" id="{857A1D8B-6B6D-4123-A31A-D1F1F82F1235}"/>
              </a:ext>
            </a:extLst>
          </p:cNvPr>
          <p:cNvPicPr/>
          <p:nvPr/>
        </p:nvPicPr>
        <p:blipFill>
          <a:blip r:embed="rId2"/>
          <a:stretch>
            <a:fillRect/>
          </a:stretch>
        </p:blipFill>
        <p:spPr>
          <a:xfrm>
            <a:off x="1066800" y="1219200"/>
            <a:ext cx="7239000" cy="4876800"/>
          </a:xfrm>
          <a:prstGeom prst="rect">
            <a:avLst/>
          </a:prstGeom>
        </p:spPr>
      </p:pic>
      <p:sp>
        <p:nvSpPr>
          <p:cNvPr id="5" name="矩形 4">
            <a:extLst>
              <a:ext uri="{FF2B5EF4-FFF2-40B4-BE49-F238E27FC236}">
                <a16:creationId xmlns:a16="http://schemas.microsoft.com/office/drawing/2014/main" id="{F76C0DDD-D1AD-4217-A153-29C28CDD6CC2}"/>
              </a:ext>
            </a:extLst>
          </p:cNvPr>
          <p:cNvSpPr/>
          <p:nvPr/>
        </p:nvSpPr>
        <p:spPr bwMode="auto">
          <a:xfrm>
            <a:off x="6781800" y="2362200"/>
            <a:ext cx="609600" cy="304800"/>
          </a:xfrm>
          <a:prstGeom prst="rect">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noFill/>
              </a:ln>
              <a:solidFill>
                <a:schemeClr val="tx1"/>
              </a:solidFill>
              <a:effectLst/>
              <a:latin typeface="Arial" panose="020B0604020202020204" pitchFamily="34" charset="0"/>
            </a:endParaRPr>
          </a:p>
        </p:txBody>
      </p:sp>
      <p:sp>
        <p:nvSpPr>
          <p:cNvPr id="6" name="矩形 5">
            <a:extLst>
              <a:ext uri="{FF2B5EF4-FFF2-40B4-BE49-F238E27FC236}">
                <a16:creationId xmlns:a16="http://schemas.microsoft.com/office/drawing/2014/main" id="{CF3BA595-71B6-475C-8A0B-43A175498E4E}"/>
              </a:ext>
            </a:extLst>
          </p:cNvPr>
          <p:cNvSpPr/>
          <p:nvPr/>
        </p:nvSpPr>
        <p:spPr>
          <a:xfrm>
            <a:off x="2971800" y="87351"/>
            <a:ext cx="1620957" cy="523220"/>
          </a:xfrm>
          <a:prstGeom prst="rect">
            <a:avLst/>
          </a:prstGeom>
        </p:spPr>
        <p:txBody>
          <a:bodyPr wrap="none">
            <a:spAutoFit/>
          </a:bodyPr>
          <a:lstStyle/>
          <a:p>
            <a:r>
              <a:rPr lang="zh-CN" altLang="en-US" sz="28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启动</a:t>
            </a:r>
            <a:r>
              <a:rPr lang="zh-CN" altLang="zh-CN" sz="28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界面</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51450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35" presetClass="emph" presetSubtype="0" fill="hold" grpId="1" nodeType="afterEffect">
                                  <p:stCondLst>
                                    <p:cond delay="500"/>
                                  </p:stCondLst>
                                  <p:childTnLst>
                                    <p:anim calcmode="discrete" valueType="str">
                                      <p:cBhvr>
                                        <p:cTn id="9" dur="1000" fill="hold"/>
                                        <p:tgtEl>
                                          <p:spTgt spid="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A18A54A-29F4-43A9-A4A0-63D769013052}"/>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29</a:t>
            </a:fld>
            <a:endParaRPr lang="en-US" altLang="zh-CN"/>
          </a:p>
        </p:txBody>
      </p:sp>
      <p:pic>
        <p:nvPicPr>
          <p:cNvPr id="3" name="图片 2">
            <a:extLst>
              <a:ext uri="{FF2B5EF4-FFF2-40B4-BE49-F238E27FC236}">
                <a16:creationId xmlns:a16="http://schemas.microsoft.com/office/drawing/2014/main" id="{483A3E33-517E-4965-A6EF-BAA8820B4DF5}"/>
              </a:ext>
            </a:extLst>
          </p:cNvPr>
          <p:cNvPicPr/>
          <p:nvPr/>
        </p:nvPicPr>
        <p:blipFill>
          <a:blip r:embed="rId2"/>
          <a:stretch>
            <a:fillRect/>
          </a:stretch>
        </p:blipFill>
        <p:spPr>
          <a:xfrm>
            <a:off x="685800" y="1219200"/>
            <a:ext cx="7772400" cy="5029199"/>
          </a:xfrm>
          <a:prstGeom prst="rect">
            <a:avLst/>
          </a:prstGeom>
        </p:spPr>
      </p:pic>
      <p:grpSp>
        <p:nvGrpSpPr>
          <p:cNvPr id="11" name="组合 10">
            <a:extLst>
              <a:ext uri="{FF2B5EF4-FFF2-40B4-BE49-F238E27FC236}">
                <a16:creationId xmlns:a16="http://schemas.microsoft.com/office/drawing/2014/main" id="{C1ABB70A-9054-4F16-A143-2AD5E9C87BB5}"/>
              </a:ext>
            </a:extLst>
          </p:cNvPr>
          <p:cNvGrpSpPr/>
          <p:nvPr/>
        </p:nvGrpSpPr>
        <p:grpSpPr>
          <a:xfrm>
            <a:off x="747132" y="1498721"/>
            <a:ext cx="1427356" cy="1168279"/>
            <a:chOff x="747132" y="1498721"/>
            <a:chExt cx="1427356" cy="1168279"/>
          </a:xfrm>
        </p:grpSpPr>
        <p:sp>
          <p:nvSpPr>
            <p:cNvPr id="4" name="矩形 3">
              <a:extLst>
                <a:ext uri="{FF2B5EF4-FFF2-40B4-BE49-F238E27FC236}">
                  <a16:creationId xmlns:a16="http://schemas.microsoft.com/office/drawing/2014/main" id="{5F0AC0D1-F7F6-4BC2-B575-3738D6E700B9}"/>
                </a:ext>
              </a:extLst>
            </p:cNvPr>
            <p:cNvSpPr/>
            <p:nvPr/>
          </p:nvSpPr>
          <p:spPr bwMode="auto">
            <a:xfrm>
              <a:off x="747132" y="1828800"/>
              <a:ext cx="1416205" cy="838200"/>
            </a:xfrm>
            <a:prstGeom prst="rect">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noFill/>
                </a:ln>
                <a:solidFill>
                  <a:schemeClr val="tx1"/>
                </a:solidFill>
                <a:effectLst/>
                <a:latin typeface="Arial" panose="020B0604020202020204" pitchFamily="34" charset="0"/>
              </a:endParaRPr>
            </a:p>
          </p:txBody>
        </p:sp>
        <p:sp>
          <p:nvSpPr>
            <p:cNvPr id="5" name="文本框 4">
              <a:extLst>
                <a:ext uri="{FF2B5EF4-FFF2-40B4-BE49-F238E27FC236}">
                  <a16:creationId xmlns:a16="http://schemas.microsoft.com/office/drawing/2014/main" id="{F8EBCB38-CC90-49AC-B272-2B87C86A729D}"/>
                </a:ext>
              </a:extLst>
            </p:cNvPr>
            <p:cNvSpPr txBox="1"/>
            <p:nvPr/>
          </p:nvSpPr>
          <p:spPr>
            <a:xfrm>
              <a:off x="956216" y="1498721"/>
              <a:ext cx="1218272" cy="307777"/>
            </a:xfrm>
            <a:prstGeom prst="rect">
              <a:avLst/>
            </a:prstGeom>
            <a:noFill/>
          </p:spPr>
          <p:txBody>
            <a:bodyPr wrap="square" rtlCol="0">
              <a:spAutoFit/>
            </a:bodyPr>
            <a:lstStyle/>
            <a:p>
              <a:r>
                <a:rPr lang="zh-CN" altLang="en-US" sz="1400" dirty="0">
                  <a:solidFill>
                    <a:srgbClr val="FF0000"/>
                  </a:solidFill>
                  <a:latin typeface="微软雅黑" panose="020B0503020204020204" pitchFamily="34" charset="-122"/>
                  <a:ea typeface="微软雅黑" panose="020B0503020204020204" pitchFamily="34" charset="-122"/>
                </a:rPr>
                <a:t>网络设备区</a:t>
              </a:r>
            </a:p>
          </p:txBody>
        </p:sp>
      </p:grpSp>
      <p:grpSp>
        <p:nvGrpSpPr>
          <p:cNvPr id="13" name="组合 12">
            <a:extLst>
              <a:ext uri="{FF2B5EF4-FFF2-40B4-BE49-F238E27FC236}">
                <a16:creationId xmlns:a16="http://schemas.microsoft.com/office/drawing/2014/main" id="{D33F843D-0B9E-45EE-BF12-58026AD4B035}"/>
              </a:ext>
            </a:extLst>
          </p:cNvPr>
          <p:cNvGrpSpPr/>
          <p:nvPr/>
        </p:nvGrpSpPr>
        <p:grpSpPr>
          <a:xfrm>
            <a:off x="6947210" y="1828799"/>
            <a:ext cx="1460810" cy="4215161"/>
            <a:chOff x="6947210" y="1828799"/>
            <a:chExt cx="1460810" cy="4215161"/>
          </a:xfrm>
        </p:grpSpPr>
        <p:sp>
          <p:nvSpPr>
            <p:cNvPr id="6" name="文本框 5">
              <a:extLst>
                <a:ext uri="{FF2B5EF4-FFF2-40B4-BE49-F238E27FC236}">
                  <a16:creationId xmlns:a16="http://schemas.microsoft.com/office/drawing/2014/main" id="{439E0878-7D64-4C58-9939-24D2AF11572C}"/>
                </a:ext>
              </a:extLst>
            </p:cNvPr>
            <p:cNvSpPr txBox="1"/>
            <p:nvPr/>
          </p:nvSpPr>
          <p:spPr>
            <a:xfrm>
              <a:off x="7178596" y="2362939"/>
              <a:ext cx="1218272" cy="307777"/>
            </a:xfrm>
            <a:prstGeom prst="rect">
              <a:avLst/>
            </a:prstGeom>
            <a:noFill/>
          </p:spPr>
          <p:txBody>
            <a:bodyPr wrap="square" rtlCol="0">
              <a:spAutoFit/>
            </a:bodyPr>
            <a:lstStyle/>
            <a:p>
              <a:r>
                <a:rPr lang="zh-CN" altLang="en-US" sz="1400" dirty="0">
                  <a:solidFill>
                    <a:srgbClr val="FF0000"/>
                  </a:solidFill>
                  <a:latin typeface="微软雅黑" panose="020B0503020204020204" pitchFamily="34" charset="-122"/>
                  <a:ea typeface="微软雅黑" panose="020B0503020204020204" pitchFamily="34" charset="-122"/>
                </a:rPr>
                <a:t>设备接口区</a:t>
              </a:r>
            </a:p>
          </p:txBody>
        </p:sp>
        <p:sp>
          <p:nvSpPr>
            <p:cNvPr id="7" name="矩形 6">
              <a:extLst>
                <a:ext uri="{FF2B5EF4-FFF2-40B4-BE49-F238E27FC236}">
                  <a16:creationId xmlns:a16="http://schemas.microsoft.com/office/drawing/2014/main" id="{F6D28200-7FAD-4305-98C8-3493AA3D73C0}"/>
                </a:ext>
              </a:extLst>
            </p:cNvPr>
            <p:cNvSpPr/>
            <p:nvPr/>
          </p:nvSpPr>
          <p:spPr bwMode="auto">
            <a:xfrm>
              <a:off x="6947210" y="1828799"/>
              <a:ext cx="1460810" cy="4215161"/>
            </a:xfrm>
            <a:prstGeom prst="rect">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noFill/>
                </a:ln>
                <a:solidFill>
                  <a:schemeClr val="tx1"/>
                </a:solidFill>
                <a:effectLst/>
                <a:latin typeface="Arial" panose="020B0604020202020204" pitchFamily="34" charset="0"/>
              </a:endParaRPr>
            </a:p>
          </p:txBody>
        </p:sp>
      </p:grpSp>
      <p:grpSp>
        <p:nvGrpSpPr>
          <p:cNvPr id="12" name="组合 11">
            <a:extLst>
              <a:ext uri="{FF2B5EF4-FFF2-40B4-BE49-F238E27FC236}">
                <a16:creationId xmlns:a16="http://schemas.microsoft.com/office/drawing/2014/main" id="{D71865C4-0D52-4A6F-8253-4CF5B0612F76}"/>
              </a:ext>
            </a:extLst>
          </p:cNvPr>
          <p:cNvGrpSpPr/>
          <p:nvPr/>
        </p:nvGrpSpPr>
        <p:grpSpPr>
          <a:xfrm>
            <a:off x="2224669" y="1836234"/>
            <a:ext cx="4557131" cy="4107366"/>
            <a:chOff x="2224669" y="1836234"/>
            <a:chExt cx="4557131" cy="4107366"/>
          </a:xfrm>
        </p:grpSpPr>
        <p:sp>
          <p:nvSpPr>
            <p:cNvPr id="8" name="矩形 7">
              <a:extLst>
                <a:ext uri="{FF2B5EF4-FFF2-40B4-BE49-F238E27FC236}">
                  <a16:creationId xmlns:a16="http://schemas.microsoft.com/office/drawing/2014/main" id="{735CAC8D-69CD-45AE-B734-9754C2321FB2}"/>
                </a:ext>
              </a:extLst>
            </p:cNvPr>
            <p:cNvSpPr/>
            <p:nvPr/>
          </p:nvSpPr>
          <p:spPr bwMode="auto">
            <a:xfrm>
              <a:off x="2224669" y="1836234"/>
              <a:ext cx="4557131" cy="4107366"/>
            </a:xfrm>
            <a:prstGeom prst="rect">
              <a:avLst/>
            </a:prstGeom>
            <a:noFill/>
            <a:ln w="1905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200" b="1" i="0" u="none" strike="noStrike" cap="none" normalizeH="0" baseline="0">
                <a:ln>
                  <a:noFill/>
                </a:ln>
                <a:solidFill>
                  <a:schemeClr val="tx1"/>
                </a:solidFill>
                <a:effectLst/>
                <a:latin typeface="Arial" panose="020B0604020202020204" pitchFamily="34" charset="0"/>
              </a:endParaRPr>
            </a:p>
          </p:txBody>
        </p:sp>
        <p:sp>
          <p:nvSpPr>
            <p:cNvPr id="10" name="文本框 9">
              <a:extLst>
                <a:ext uri="{FF2B5EF4-FFF2-40B4-BE49-F238E27FC236}">
                  <a16:creationId xmlns:a16="http://schemas.microsoft.com/office/drawing/2014/main" id="{20706983-5236-40D8-AC5D-49F87021E7E2}"/>
                </a:ext>
              </a:extLst>
            </p:cNvPr>
            <p:cNvSpPr txBox="1"/>
            <p:nvPr/>
          </p:nvSpPr>
          <p:spPr>
            <a:xfrm>
              <a:off x="4267200" y="3782490"/>
              <a:ext cx="1218272" cy="307777"/>
            </a:xfrm>
            <a:prstGeom prst="rect">
              <a:avLst/>
            </a:prstGeom>
            <a:noFill/>
          </p:spPr>
          <p:txBody>
            <a:bodyPr wrap="square" rtlCol="0">
              <a:spAutoFit/>
            </a:bodyPr>
            <a:lstStyle/>
            <a:p>
              <a:r>
                <a:rPr lang="zh-CN" altLang="en-US" sz="1400" dirty="0">
                  <a:solidFill>
                    <a:srgbClr val="FF0000"/>
                  </a:solidFill>
                  <a:latin typeface="微软雅黑" panose="020B0503020204020204" pitchFamily="34" charset="-122"/>
                  <a:ea typeface="微软雅黑" panose="020B0503020204020204" pitchFamily="34" charset="-122"/>
                </a:rPr>
                <a:t>工作区</a:t>
              </a:r>
            </a:p>
          </p:txBody>
        </p:sp>
      </p:grpSp>
      <p:sp>
        <p:nvSpPr>
          <p:cNvPr id="14" name="矩形 13">
            <a:extLst>
              <a:ext uri="{FF2B5EF4-FFF2-40B4-BE49-F238E27FC236}">
                <a16:creationId xmlns:a16="http://schemas.microsoft.com/office/drawing/2014/main" id="{76668EA1-B03C-45EF-A4FA-40FF69B5B84E}"/>
              </a:ext>
            </a:extLst>
          </p:cNvPr>
          <p:cNvSpPr/>
          <p:nvPr/>
        </p:nvSpPr>
        <p:spPr>
          <a:xfrm>
            <a:off x="2971800" y="87351"/>
            <a:ext cx="1620957" cy="523220"/>
          </a:xfrm>
          <a:prstGeom prst="rect">
            <a:avLst/>
          </a:prstGeom>
        </p:spPr>
        <p:txBody>
          <a:bodyPr wrap="none">
            <a:spAutoFit/>
          </a:bodyPr>
          <a:lstStyle/>
          <a:p>
            <a:r>
              <a:rPr lang="zh-CN" altLang="en-US" sz="28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用户</a:t>
            </a:r>
            <a:r>
              <a:rPr lang="zh-CN" altLang="zh-CN" sz="28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界面</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03511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35" presetClass="emph" presetSubtype="0" fill="hold" nodeType="afterEffect">
                                  <p:stCondLst>
                                    <p:cond delay="500"/>
                                  </p:stCondLst>
                                  <p:childTnLst>
                                    <p:anim calcmode="discrete" valueType="str">
                                      <p:cBhvr>
                                        <p:cTn id="9"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par>
                          <p:cTn id="14" fill="hold">
                            <p:stCondLst>
                              <p:cond delay="0"/>
                            </p:stCondLst>
                            <p:childTnLst>
                              <p:par>
                                <p:cTn id="15" presetID="35" presetClass="emph" presetSubtype="0" fill="hold" nodeType="afterEffect">
                                  <p:stCondLst>
                                    <p:cond delay="500"/>
                                  </p:stCondLst>
                                  <p:childTnLst>
                                    <p:anim calcmode="discrete" valueType="str">
                                      <p:cBhvr>
                                        <p:cTn id="16" dur="1000" fill="hold"/>
                                        <p:tgtEl>
                                          <p:spTgt spid="12"/>
                                        </p:tgtEl>
                                        <p:attrNameLst>
                                          <p:attrName>style.visibility</p:attrName>
                                        </p:attrNameLst>
                                      </p:cBhvr>
                                      <p:tavLst>
                                        <p:tav tm="0">
                                          <p:val>
                                            <p:strVal val="hidden"/>
                                          </p:val>
                                        </p:tav>
                                        <p:tav tm="50000">
                                          <p:val>
                                            <p:strVal val="visible"/>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par>
                          <p:cTn id="21" fill="hold">
                            <p:stCondLst>
                              <p:cond delay="0"/>
                            </p:stCondLst>
                            <p:childTnLst>
                              <p:par>
                                <p:cTn id="22" presetID="35" presetClass="emph" presetSubtype="0" fill="hold" nodeType="afterEffect">
                                  <p:stCondLst>
                                    <p:cond delay="500"/>
                                  </p:stCondLst>
                                  <p:childTnLst>
                                    <p:anim calcmode="discrete" valueType="str">
                                      <p:cBhvr>
                                        <p:cTn id="23" dur="1000" fill="hold"/>
                                        <p:tgtEl>
                                          <p:spTgt spid="1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6C15BAB-94B3-4900-8720-07E6027B8948}"/>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30</a:t>
            </a:fld>
            <a:endParaRPr lang="en-US" altLang="zh-CN"/>
          </a:p>
        </p:txBody>
      </p:sp>
      <p:pic>
        <p:nvPicPr>
          <p:cNvPr id="3" name="图片 2">
            <a:extLst>
              <a:ext uri="{FF2B5EF4-FFF2-40B4-BE49-F238E27FC236}">
                <a16:creationId xmlns:a16="http://schemas.microsoft.com/office/drawing/2014/main" id="{8A2B58C8-5EE0-49DB-9EFB-74C2537F4BE6}"/>
              </a:ext>
            </a:extLst>
          </p:cNvPr>
          <p:cNvPicPr/>
          <p:nvPr/>
        </p:nvPicPr>
        <p:blipFill>
          <a:blip r:embed="rId2"/>
          <a:stretch>
            <a:fillRect/>
          </a:stretch>
        </p:blipFill>
        <p:spPr>
          <a:xfrm>
            <a:off x="1343025" y="1243360"/>
            <a:ext cx="2299335" cy="2567940"/>
          </a:xfrm>
          <a:prstGeom prst="rect">
            <a:avLst/>
          </a:prstGeom>
        </p:spPr>
      </p:pic>
      <p:sp>
        <p:nvSpPr>
          <p:cNvPr id="4" name="矩形 3">
            <a:extLst>
              <a:ext uri="{FF2B5EF4-FFF2-40B4-BE49-F238E27FC236}">
                <a16:creationId xmlns:a16="http://schemas.microsoft.com/office/drawing/2014/main" id="{D36E3696-008C-4C2D-8F4A-7A0FB382FE64}"/>
              </a:ext>
            </a:extLst>
          </p:cNvPr>
          <p:cNvSpPr/>
          <p:nvPr/>
        </p:nvSpPr>
        <p:spPr>
          <a:xfrm>
            <a:off x="4540405" y="1228566"/>
            <a:ext cx="4466063" cy="2829685"/>
          </a:xfrm>
          <a:prstGeom prst="rect">
            <a:avLst/>
          </a:prstGeom>
        </p:spPr>
        <p:txBody>
          <a:bodyPr wrap="square">
            <a:spAutoFit/>
          </a:bodyPr>
          <a:lstStyle/>
          <a:p>
            <a:pPr marL="342900" lvl="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新建拓扑</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：新建一个网络拓扑</a:t>
            </a:r>
          </a:p>
          <a:p>
            <a:pPr marL="342900" lvl="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新建试卷工程</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：新建一份试卷</a:t>
            </a:r>
          </a:p>
          <a:p>
            <a:pPr marL="342900" lvl="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打开拓扑</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：打开一份扩展名为</a:t>
            </a:r>
            <a:r>
              <a:rPr lang="en-US"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.topo</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的拓扑文件</a:t>
            </a:r>
          </a:p>
          <a:p>
            <a:pPr marL="342900" lvl="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打开示例</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：打开</a:t>
            </a:r>
            <a:r>
              <a:rPr lang="en-US" altLang="zh-CN" sz="1200" b="0" kern="100" dirty="0" err="1">
                <a:latin typeface="微软雅黑" panose="020B0503020204020204" pitchFamily="34" charset="-122"/>
                <a:ea typeface="微软雅黑" panose="020B0503020204020204" pitchFamily="34" charset="-122"/>
                <a:cs typeface="Times New Roman" panose="02020603050405020304" pitchFamily="18" charset="0"/>
              </a:rPr>
              <a:t>eNSP</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自带的示例文件</a:t>
            </a:r>
          </a:p>
          <a:p>
            <a:pPr marL="342900" lvl="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保存拓扑</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：保存工作区的拓扑</a:t>
            </a:r>
          </a:p>
          <a:p>
            <a:pPr marL="342900" lvl="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另存为</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：将工作区的拓扑另存为其它拓扑文件</a:t>
            </a:r>
          </a:p>
          <a:p>
            <a:pPr marL="342900" lvl="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向导</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：给出</a:t>
            </a:r>
            <a:r>
              <a:rPr lang="zh-CN" altLang="en-US" sz="1200" b="0" kern="100" dirty="0">
                <a:latin typeface="微软雅黑" panose="020B0503020204020204" pitchFamily="34" charset="-122"/>
                <a:ea typeface="微软雅黑" panose="020B0503020204020204" pitchFamily="34" charset="-122"/>
                <a:cs typeface="Times New Roman" panose="02020603050405020304" pitchFamily="18" charset="0"/>
              </a:rPr>
              <a:t>向导</a:t>
            </a:r>
            <a:endPar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打印</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：打印工作区的拓扑</a:t>
            </a:r>
          </a:p>
          <a:p>
            <a:pPr marL="342900" lvl="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最近打开</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：显示最近打开的拓扑文件</a:t>
            </a:r>
          </a:p>
          <a:p>
            <a:pPr marL="342900" lvl="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退出</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：退出</a:t>
            </a:r>
            <a:r>
              <a:rPr lang="en-US" altLang="zh-CN" sz="1200" b="0" kern="100" dirty="0" err="1">
                <a:latin typeface="微软雅黑" panose="020B0503020204020204" pitchFamily="34" charset="-122"/>
                <a:ea typeface="微软雅黑" panose="020B0503020204020204" pitchFamily="34" charset="-122"/>
                <a:cs typeface="Times New Roman" panose="02020603050405020304" pitchFamily="18" charset="0"/>
              </a:rPr>
              <a:t>eNSP</a:t>
            </a:r>
            <a:endPar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图片 4">
            <a:extLst>
              <a:ext uri="{FF2B5EF4-FFF2-40B4-BE49-F238E27FC236}">
                <a16:creationId xmlns:a16="http://schemas.microsoft.com/office/drawing/2014/main" id="{E119E416-47C3-4B6F-8BCC-BB096616CF48}"/>
              </a:ext>
            </a:extLst>
          </p:cNvPr>
          <p:cNvPicPr/>
          <p:nvPr/>
        </p:nvPicPr>
        <p:blipFill>
          <a:blip r:embed="rId3"/>
          <a:stretch>
            <a:fillRect/>
          </a:stretch>
        </p:blipFill>
        <p:spPr>
          <a:xfrm>
            <a:off x="1828800" y="4343400"/>
            <a:ext cx="1813560" cy="1644650"/>
          </a:xfrm>
          <a:prstGeom prst="rect">
            <a:avLst/>
          </a:prstGeom>
        </p:spPr>
      </p:pic>
      <p:sp>
        <p:nvSpPr>
          <p:cNvPr id="6" name="矩形 5">
            <a:extLst>
              <a:ext uri="{FF2B5EF4-FFF2-40B4-BE49-F238E27FC236}">
                <a16:creationId xmlns:a16="http://schemas.microsoft.com/office/drawing/2014/main" id="{0452B580-6F93-4356-9375-9FAA376774D5}"/>
              </a:ext>
            </a:extLst>
          </p:cNvPr>
          <p:cNvSpPr/>
          <p:nvPr/>
        </p:nvSpPr>
        <p:spPr>
          <a:xfrm>
            <a:off x="4540405" y="4461742"/>
            <a:ext cx="2971800" cy="1167692"/>
          </a:xfrm>
          <a:prstGeom prst="rect">
            <a:avLst/>
          </a:prstGeom>
        </p:spPr>
        <p:txBody>
          <a:bodyPr wrap="square">
            <a:spAutoFit/>
          </a:bodyPr>
          <a:lstStyle/>
          <a:p>
            <a:pPr marL="34290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撤销</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：撤销最近完成的操作</a:t>
            </a:r>
          </a:p>
          <a:p>
            <a:pPr marL="34290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恢复</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：恢复最近撤销的操作</a:t>
            </a:r>
          </a:p>
          <a:p>
            <a:pPr marL="34290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复制</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：复制工作区中的拓扑</a:t>
            </a:r>
          </a:p>
          <a:p>
            <a:pPr marL="34290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粘贴</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：粘贴复制的拓扑</a:t>
            </a:r>
          </a:p>
        </p:txBody>
      </p:sp>
      <p:sp>
        <p:nvSpPr>
          <p:cNvPr id="9" name="矩形 8">
            <a:extLst>
              <a:ext uri="{FF2B5EF4-FFF2-40B4-BE49-F238E27FC236}">
                <a16:creationId xmlns:a16="http://schemas.microsoft.com/office/drawing/2014/main" id="{6695BBF2-DB23-4708-B1F6-539CCB95D614}"/>
              </a:ext>
            </a:extLst>
          </p:cNvPr>
          <p:cNvSpPr/>
          <p:nvPr/>
        </p:nvSpPr>
        <p:spPr>
          <a:xfrm>
            <a:off x="2971800" y="87351"/>
            <a:ext cx="1261884" cy="523220"/>
          </a:xfrm>
          <a:prstGeom prst="rect">
            <a:avLst/>
          </a:prstGeom>
        </p:spPr>
        <p:txBody>
          <a:bodyPr wrap="none">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主菜单</a:t>
            </a:r>
          </a:p>
        </p:txBody>
      </p:sp>
    </p:spTree>
    <p:extLst>
      <p:ext uri="{BB962C8B-B14F-4D97-AF65-F5344CB8AC3E}">
        <p14:creationId xmlns:p14="http://schemas.microsoft.com/office/powerpoint/2010/main" val="4068803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FDEAB4D-02F6-4BB7-80DE-6FCB69B8AB4F}"/>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31</a:t>
            </a:fld>
            <a:endParaRPr lang="en-US" altLang="zh-CN"/>
          </a:p>
        </p:txBody>
      </p:sp>
      <p:pic>
        <p:nvPicPr>
          <p:cNvPr id="3" name="图片 2">
            <a:extLst>
              <a:ext uri="{FF2B5EF4-FFF2-40B4-BE49-F238E27FC236}">
                <a16:creationId xmlns:a16="http://schemas.microsoft.com/office/drawing/2014/main" id="{F7454FBC-26D8-4693-8807-BE59B312542A}"/>
              </a:ext>
            </a:extLst>
          </p:cNvPr>
          <p:cNvPicPr/>
          <p:nvPr/>
        </p:nvPicPr>
        <p:blipFill>
          <a:blip r:embed="rId2"/>
          <a:stretch>
            <a:fillRect/>
          </a:stretch>
        </p:blipFill>
        <p:spPr>
          <a:xfrm>
            <a:off x="1371600" y="1143000"/>
            <a:ext cx="1793240" cy="1661160"/>
          </a:xfrm>
          <a:prstGeom prst="rect">
            <a:avLst/>
          </a:prstGeom>
        </p:spPr>
      </p:pic>
      <p:sp>
        <p:nvSpPr>
          <p:cNvPr id="4" name="矩形 3">
            <a:extLst>
              <a:ext uri="{FF2B5EF4-FFF2-40B4-BE49-F238E27FC236}">
                <a16:creationId xmlns:a16="http://schemas.microsoft.com/office/drawing/2014/main" id="{DB35F086-CA6D-42D7-8E5F-0634B2FDFA3C}"/>
              </a:ext>
            </a:extLst>
          </p:cNvPr>
          <p:cNvSpPr/>
          <p:nvPr/>
        </p:nvSpPr>
        <p:spPr>
          <a:xfrm>
            <a:off x="3836020" y="1604433"/>
            <a:ext cx="4724400" cy="890693"/>
          </a:xfrm>
          <a:prstGeom prst="rect">
            <a:avLst/>
          </a:prstGeom>
        </p:spPr>
        <p:txBody>
          <a:bodyPr wrap="square">
            <a:spAutoFit/>
          </a:bodyPr>
          <a:lstStyle/>
          <a:p>
            <a:pPr marL="34290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缩放</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：放大、缩小工作区的拓扑或复位到初始大小</a:t>
            </a:r>
          </a:p>
          <a:p>
            <a:pPr marL="34290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工具栏</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：勾选左工具栏，显示网络设备区；勾选右工具栏，显示设备接口区</a:t>
            </a:r>
          </a:p>
        </p:txBody>
      </p:sp>
      <p:pic>
        <p:nvPicPr>
          <p:cNvPr id="5" name="图片 4">
            <a:extLst>
              <a:ext uri="{FF2B5EF4-FFF2-40B4-BE49-F238E27FC236}">
                <a16:creationId xmlns:a16="http://schemas.microsoft.com/office/drawing/2014/main" id="{B62158DF-BA7C-4CD9-AE0B-01860AA1888F}"/>
              </a:ext>
            </a:extLst>
          </p:cNvPr>
          <p:cNvPicPr/>
          <p:nvPr/>
        </p:nvPicPr>
        <p:blipFill>
          <a:blip r:embed="rId3"/>
          <a:stretch>
            <a:fillRect/>
          </a:stretch>
        </p:blipFill>
        <p:spPr>
          <a:xfrm>
            <a:off x="1066800" y="3276600"/>
            <a:ext cx="2225675" cy="2705100"/>
          </a:xfrm>
          <a:prstGeom prst="rect">
            <a:avLst/>
          </a:prstGeom>
        </p:spPr>
      </p:pic>
      <p:sp>
        <p:nvSpPr>
          <p:cNvPr id="6" name="矩形 5">
            <a:extLst>
              <a:ext uri="{FF2B5EF4-FFF2-40B4-BE49-F238E27FC236}">
                <a16:creationId xmlns:a16="http://schemas.microsoft.com/office/drawing/2014/main" id="{135D04C0-02C9-48B9-B684-20FBBBE6E366}"/>
              </a:ext>
            </a:extLst>
          </p:cNvPr>
          <p:cNvSpPr/>
          <p:nvPr/>
        </p:nvSpPr>
        <p:spPr>
          <a:xfrm>
            <a:off x="3836020" y="3429014"/>
            <a:ext cx="4572000" cy="2552686"/>
          </a:xfrm>
          <a:prstGeom prst="rect">
            <a:avLst/>
          </a:prstGeom>
        </p:spPr>
        <p:txBody>
          <a:bodyPr>
            <a:spAutoFit/>
          </a:bodyPr>
          <a:lstStyle/>
          <a:p>
            <a:pPr marL="342900" lvl="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调色板</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：用于设置图形的边框类型、粗细和是否填充</a:t>
            </a:r>
          </a:p>
          <a:p>
            <a:pPr marL="34290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启动设备</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：启动选择的设备</a:t>
            </a:r>
          </a:p>
          <a:p>
            <a:pPr marL="34290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停止设备</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：停止选择的设备</a:t>
            </a:r>
          </a:p>
          <a:p>
            <a:pPr marL="34290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数据抓包</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：启动</a:t>
            </a:r>
            <a:r>
              <a:rPr lang="en-US"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Wireshark</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，采集数据报文</a:t>
            </a:r>
          </a:p>
          <a:p>
            <a:pPr marL="34290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选项</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：对有关界面、字体、工具等进行配置</a:t>
            </a:r>
          </a:p>
          <a:p>
            <a:pPr marL="34290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合并</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展开</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CLI</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：将多个设备的</a:t>
            </a:r>
            <a:r>
              <a:rPr lang="en-US"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CLI</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窗口合并为一个或者分别为每个设备生成一个</a:t>
            </a:r>
            <a:r>
              <a:rPr lang="en-US"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CLI</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窗口</a:t>
            </a:r>
          </a:p>
          <a:p>
            <a:pPr marL="34290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注册设备</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：用于注册</a:t>
            </a:r>
            <a:r>
              <a:rPr lang="en-US"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AR</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AC</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AP</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设备</a:t>
            </a:r>
          </a:p>
          <a:p>
            <a:pPr marL="342900" indent="-342900" algn="just">
              <a:lnSpc>
                <a:spcPct val="150000"/>
              </a:lnSpc>
              <a:spcAft>
                <a:spcPts val="0"/>
              </a:spcAft>
              <a:buClr>
                <a:srgbClr val="FF0000"/>
              </a:buClr>
              <a:buSzPct val="80000"/>
              <a:buFont typeface="Wingdings" panose="05000000000000000000" pitchFamily="2" charset="2"/>
              <a:buChar char="u"/>
            </a:pP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添加</a:t>
            </a:r>
            <a:r>
              <a:rPr lang="en-US" altLang="zh-CN" sz="120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200" kern="100" dirty="0">
                <a:latin typeface="微软雅黑" panose="020B0503020204020204" pitchFamily="34" charset="-122"/>
                <a:ea typeface="微软雅黑" panose="020B0503020204020204" pitchFamily="34" charset="-122"/>
                <a:cs typeface="Times New Roman" panose="02020603050405020304" pitchFamily="18" charset="0"/>
              </a:rPr>
              <a:t>删除设备</a:t>
            </a:r>
            <a:r>
              <a:rPr lang="zh-CN" altLang="zh-CN" sz="1200" b="0" kern="100" dirty="0">
                <a:latin typeface="微软雅黑" panose="020B0503020204020204" pitchFamily="34" charset="-122"/>
                <a:ea typeface="微软雅黑" panose="020B0503020204020204" pitchFamily="34" charset="-122"/>
                <a:cs typeface="Times New Roman" panose="02020603050405020304" pitchFamily="18" charset="0"/>
              </a:rPr>
              <a:t>：用于增加或删除某设备型号</a:t>
            </a:r>
          </a:p>
        </p:txBody>
      </p:sp>
    </p:spTree>
    <p:extLst>
      <p:ext uri="{BB962C8B-B14F-4D97-AF65-F5344CB8AC3E}">
        <p14:creationId xmlns:p14="http://schemas.microsoft.com/office/powerpoint/2010/main" val="12413674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E1786DB-0419-4976-A508-25684B35A8B6}"/>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32</a:t>
            </a:fld>
            <a:endParaRPr lang="en-US" altLang="zh-CN"/>
          </a:p>
        </p:txBody>
      </p:sp>
      <p:pic>
        <p:nvPicPr>
          <p:cNvPr id="3" name="图片 2">
            <a:extLst>
              <a:ext uri="{FF2B5EF4-FFF2-40B4-BE49-F238E27FC236}">
                <a16:creationId xmlns:a16="http://schemas.microsoft.com/office/drawing/2014/main" id="{44CF7A3C-0726-4969-901A-C95FC00EEAE2}"/>
              </a:ext>
            </a:extLst>
          </p:cNvPr>
          <p:cNvPicPr/>
          <p:nvPr/>
        </p:nvPicPr>
        <p:blipFill>
          <a:blip r:embed="rId2"/>
          <a:stretch>
            <a:fillRect/>
          </a:stretch>
        </p:blipFill>
        <p:spPr>
          <a:xfrm>
            <a:off x="2133600" y="1126273"/>
            <a:ext cx="4876800" cy="5257800"/>
          </a:xfrm>
          <a:prstGeom prst="rect">
            <a:avLst/>
          </a:prstGeom>
        </p:spPr>
      </p:pic>
    </p:spTree>
    <p:extLst>
      <p:ext uri="{BB962C8B-B14F-4D97-AF65-F5344CB8AC3E}">
        <p14:creationId xmlns:p14="http://schemas.microsoft.com/office/powerpoint/2010/main" val="28526378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2C64679-C0CE-4C8C-8866-B7566B7269A3}"/>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33</a:t>
            </a:fld>
            <a:endParaRPr lang="en-US" altLang="zh-CN"/>
          </a:p>
        </p:txBody>
      </p:sp>
      <p:pic>
        <p:nvPicPr>
          <p:cNvPr id="3" name="图片 2">
            <a:extLst>
              <a:ext uri="{FF2B5EF4-FFF2-40B4-BE49-F238E27FC236}">
                <a16:creationId xmlns:a16="http://schemas.microsoft.com/office/drawing/2014/main" id="{1FD57239-26C2-4736-840A-5EAA5EEFCBFF}"/>
              </a:ext>
            </a:extLst>
          </p:cNvPr>
          <p:cNvPicPr/>
          <p:nvPr/>
        </p:nvPicPr>
        <p:blipFill>
          <a:blip r:embed="rId2"/>
          <a:stretch>
            <a:fillRect/>
          </a:stretch>
        </p:blipFill>
        <p:spPr>
          <a:xfrm>
            <a:off x="1066800" y="1371600"/>
            <a:ext cx="7010400" cy="4572000"/>
          </a:xfrm>
          <a:prstGeom prst="rect">
            <a:avLst/>
          </a:prstGeom>
        </p:spPr>
      </p:pic>
    </p:spTree>
    <p:extLst>
      <p:ext uri="{BB962C8B-B14F-4D97-AF65-F5344CB8AC3E}">
        <p14:creationId xmlns:p14="http://schemas.microsoft.com/office/powerpoint/2010/main" val="8864831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446189F-DE49-4CCD-852F-06719AD2208D}"/>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34</a:t>
            </a:fld>
            <a:endParaRPr lang="en-US" altLang="zh-CN"/>
          </a:p>
        </p:txBody>
      </p:sp>
      <p:pic>
        <p:nvPicPr>
          <p:cNvPr id="3" name="图片 2">
            <a:extLst>
              <a:ext uri="{FF2B5EF4-FFF2-40B4-BE49-F238E27FC236}">
                <a16:creationId xmlns:a16="http://schemas.microsoft.com/office/drawing/2014/main" id="{B84AC731-2930-44F8-8680-FB6F357EB8F0}"/>
              </a:ext>
            </a:extLst>
          </p:cNvPr>
          <p:cNvPicPr/>
          <p:nvPr/>
        </p:nvPicPr>
        <p:blipFill>
          <a:blip r:embed="rId2"/>
          <a:stretch>
            <a:fillRect/>
          </a:stretch>
        </p:blipFill>
        <p:spPr>
          <a:xfrm>
            <a:off x="1390650" y="2209800"/>
            <a:ext cx="6362700" cy="4114800"/>
          </a:xfrm>
          <a:prstGeom prst="rect">
            <a:avLst/>
          </a:prstGeom>
        </p:spPr>
      </p:pic>
      <p:sp>
        <p:nvSpPr>
          <p:cNvPr id="4" name="矩形 3">
            <a:extLst>
              <a:ext uri="{FF2B5EF4-FFF2-40B4-BE49-F238E27FC236}">
                <a16:creationId xmlns:a16="http://schemas.microsoft.com/office/drawing/2014/main" id="{A0FD4A35-E723-4342-95F0-060ED80A0A9C}"/>
              </a:ext>
            </a:extLst>
          </p:cNvPr>
          <p:cNvSpPr/>
          <p:nvPr/>
        </p:nvSpPr>
        <p:spPr>
          <a:xfrm>
            <a:off x="1066800" y="903249"/>
            <a:ext cx="7010400" cy="1156855"/>
          </a:xfrm>
          <a:prstGeom prst="rect">
            <a:avLst/>
          </a:prstGeom>
        </p:spPr>
        <p:txBody>
          <a:bodyPr wrap="square">
            <a:spAutoFit/>
          </a:bodyPr>
          <a:lstStyle/>
          <a:p>
            <a:pPr algn="just">
              <a:lnSpc>
                <a:spcPct val="150000"/>
              </a:lnSpc>
              <a:spcAft>
                <a:spcPts val="0"/>
              </a:spcAft>
            </a:pPr>
            <a:r>
              <a:rPr lang="zh-CN"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如果设备的默认配置无法满足应用，可以为该设备添加模块。鼠标选中设备后点击右键，选择</a:t>
            </a:r>
            <a:r>
              <a:rPr lang="en-US"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设置</a:t>
            </a:r>
            <a:r>
              <a:rPr lang="en-US"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0" kern="100" dirty="0">
                <a:latin typeface="微软雅黑" panose="020B0503020204020204" pitchFamily="34" charset="-122"/>
                <a:ea typeface="微软雅黑" panose="020B0503020204020204" pitchFamily="34" charset="-122"/>
                <a:cs typeface="Times New Roman" panose="02020603050405020304" pitchFamily="18" charset="0"/>
              </a:rPr>
              <a:t> ，然后</a:t>
            </a:r>
            <a:r>
              <a:rPr lang="zh-CN"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关闭电源，选中需要安装的模块，拖动到上方设备的插槽，</a:t>
            </a:r>
            <a:r>
              <a:rPr lang="zh-CN" altLang="en-US" sz="1600" b="0" kern="100" dirty="0">
                <a:latin typeface="微软雅黑" panose="020B0503020204020204" pitchFamily="34" charset="-122"/>
                <a:ea typeface="微软雅黑" panose="020B0503020204020204" pitchFamily="34" charset="-122"/>
                <a:cs typeface="Times New Roman" panose="02020603050405020304" pitchFamily="18" charset="0"/>
              </a:rPr>
              <a:t>最</a:t>
            </a:r>
            <a:r>
              <a:rPr lang="zh-CN"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后再启动设备。</a:t>
            </a:r>
          </a:p>
        </p:txBody>
      </p:sp>
      <p:sp>
        <p:nvSpPr>
          <p:cNvPr id="5" name="矩形 4">
            <a:extLst>
              <a:ext uri="{FF2B5EF4-FFF2-40B4-BE49-F238E27FC236}">
                <a16:creationId xmlns:a16="http://schemas.microsoft.com/office/drawing/2014/main" id="{1EE815FE-2B11-4B15-BA1B-62D09B61DC28}"/>
              </a:ext>
            </a:extLst>
          </p:cNvPr>
          <p:cNvSpPr/>
          <p:nvPr/>
        </p:nvSpPr>
        <p:spPr>
          <a:xfrm>
            <a:off x="2978085" y="99326"/>
            <a:ext cx="1627369" cy="523220"/>
          </a:xfrm>
          <a:prstGeom prst="rect">
            <a:avLst/>
          </a:prstGeom>
        </p:spPr>
        <p:txBody>
          <a:bodyPr wrap="none">
            <a:spAutoFit/>
          </a:bodyPr>
          <a:lstStyle/>
          <a:p>
            <a:r>
              <a:rPr lang="zh-CN" altLang="zh-CN" sz="28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添加模块</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475716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92168F2-EABB-4B71-BA1E-02CC4ABA5FDA}"/>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35</a:t>
            </a:fld>
            <a:endParaRPr lang="en-US" altLang="zh-CN"/>
          </a:p>
        </p:txBody>
      </p:sp>
      <p:sp>
        <p:nvSpPr>
          <p:cNvPr id="3" name="矩形 2">
            <a:extLst>
              <a:ext uri="{FF2B5EF4-FFF2-40B4-BE49-F238E27FC236}">
                <a16:creationId xmlns:a16="http://schemas.microsoft.com/office/drawing/2014/main" id="{786E7104-6A9B-485F-8186-DEC86DF847F5}"/>
              </a:ext>
            </a:extLst>
          </p:cNvPr>
          <p:cNvSpPr/>
          <p:nvPr/>
        </p:nvSpPr>
        <p:spPr>
          <a:xfrm>
            <a:off x="2971800" y="87351"/>
            <a:ext cx="2206053" cy="523220"/>
          </a:xfrm>
          <a:prstGeom prst="rect">
            <a:avLst/>
          </a:prstGeom>
        </p:spPr>
        <p:txBody>
          <a:bodyPr wrap="none">
            <a:spAutoFit/>
          </a:bodyPr>
          <a:lstStyle/>
          <a:p>
            <a:r>
              <a:rPr lang="zh-CN" altLang="zh-CN" sz="28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设备</a:t>
            </a:r>
            <a:r>
              <a:rPr lang="en-US" altLang="zh-CN" sz="28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CLI</a:t>
            </a:r>
            <a:r>
              <a:rPr lang="zh-CN" altLang="zh-CN" sz="28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界面</a:t>
            </a:r>
            <a:endParaRPr lang="zh-CN" altLang="en-US" sz="2800" dirty="0">
              <a:solidFill>
                <a:schemeClr val="bg1"/>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D48D4BD7-CD50-4CFF-A003-9A146195CD0E}"/>
              </a:ext>
            </a:extLst>
          </p:cNvPr>
          <p:cNvPicPr/>
          <p:nvPr/>
        </p:nvPicPr>
        <p:blipFill>
          <a:blip r:embed="rId2"/>
          <a:stretch>
            <a:fillRect/>
          </a:stretch>
        </p:blipFill>
        <p:spPr>
          <a:xfrm>
            <a:off x="1981200" y="2768600"/>
            <a:ext cx="5181600" cy="3581400"/>
          </a:xfrm>
          <a:prstGeom prst="rect">
            <a:avLst/>
          </a:prstGeom>
        </p:spPr>
      </p:pic>
      <p:sp>
        <p:nvSpPr>
          <p:cNvPr id="5" name="矩形 4">
            <a:extLst>
              <a:ext uri="{FF2B5EF4-FFF2-40B4-BE49-F238E27FC236}">
                <a16:creationId xmlns:a16="http://schemas.microsoft.com/office/drawing/2014/main" id="{78729610-20AE-40C3-8BED-A3C25E77A1DB}"/>
              </a:ext>
            </a:extLst>
          </p:cNvPr>
          <p:cNvSpPr/>
          <p:nvPr/>
        </p:nvSpPr>
        <p:spPr>
          <a:xfrm>
            <a:off x="938561" y="990600"/>
            <a:ext cx="7443439" cy="1670073"/>
          </a:xfrm>
          <a:prstGeom prst="rect">
            <a:avLst/>
          </a:prstGeom>
        </p:spPr>
        <p:txBody>
          <a:bodyPr wrap="square">
            <a:spAutoFit/>
          </a:bodyPr>
          <a:lstStyle/>
          <a:p>
            <a:pPr algn="just">
              <a:lnSpc>
                <a:spcPct val="150000"/>
              </a:lnSpc>
              <a:spcAft>
                <a:spcPts val="0"/>
              </a:spcAft>
            </a:pP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启动设备之后，双击该设备则进入</a:t>
            </a:r>
            <a:r>
              <a:rPr lang="en-US"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CLI</a:t>
            </a: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配置界面，此时进入</a:t>
            </a:r>
            <a:r>
              <a:rPr lang="zh-CN" altLang="zh-CN"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用户视图</a:t>
            </a: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，其命令提示符为：</a:t>
            </a:r>
          </a:p>
          <a:p>
            <a:pPr indent="228600" algn="just">
              <a:lnSpc>
                <a:spcPct val="150000"/>
              </a:lnSpc>
              <a:spcAft>
                <a:spcPts val="0"/>
              </a:spcAft>
            </a:pPr>
            <a:r>
              <a:rPr lang="en-US"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  &lt;Huawei&gt;</a:t>
            </a:r>
            <a:endPar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pP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在用户视图下，键入“</a:t>
            </a:r>
            <a:r>
              <a:rPr lang="en-US" altLang="zh-CN" sz="1400" b="0" kern="100" dirty="0">
                <a:latin typeface="微软雅黑" panose="020B0503020204020204" pitchFamily="34" charset="-122"/>
                <a:ea typeface="微软雅黑" panose="020B0503020204020204" pitchFamily="34" charset="-122"/>
              </a:rPr>
              <a:t>?</a:t>
            </a: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”可以查看当前视图下的有关命令。用户只能通过命令查看和修改一些网络设备的状态和控制信息，不能配置网络设备</a:t>
            </a:r>
            <a:r>
              <a:rPr lang="zh-CN" altLang="en-US" sz="1400" b="0" kern="100" dirty="0">
                <a:latin typeface="微软雅黑" panose="020B0503020204020204" pitchFamily="34" charset="-122"/>
                <a:ea typeface="微软雅黑" panose="020B0503020204020204" pitchFamily="34" charset="-122"/>
                <a:cs typeface="Times New Roman" panose="02020603050405020304" pitchFamily="18" charset="0"/>
              </a:rPr>
              <a:t>。如果需要保存设备的配置，需要在用户视图下运行</a:t>
            </a:r>
            <a:r>
              <a:rPr lang="en-US"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save</a:t>
            </a:r>
            <a:r>
              <a:rPr lang="zh-CN" altLang="en-US" sz="1400" b="0" kern="100" dirty="0">
                <a:latin typeface="微软雅黑" panose="020B0503020204020204" pitchFamily="34" charset="-122"/>
                <a:ea typeface="微软雅黑" panose="020B0503020204020204" pitchFamily="34" charset="-122"/>
                <a:cs typeface="Times New Roman" panose="02020603050405020304" pitchFamily="18" charset="0"/>
              </a:rPr>
              <a:t>命令。</a:t>
            </a:r>
            <a:endParaRPr lang="zh-CN" altLang="en-US" sz="140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81947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CA211A5-1B65-4D70-AAFF-A66431D18D5E}"/>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36</a:t>
            </a:fld>
            <a:endParaRPr lang="en-US" altLang="zh-CN"/>
          </a:p>
        </p:txBody>
      </p:sp>
      <p:sp>
        <p:nvSpPr>
          <p:cNvPr id="4" name="矩形 3">
            <a:extLst>
              <a:ext uri="{FF2B5EF4-FFF2-40B4-BE49-F238E27FC236}">
                <a16:creationId xmlns:a16="http://schemas.microsoft.com/office/drawing/2014/main" id="{1E9FBDB6-A780-4EDD-BEDC-83540611EF41}"/>
              </a:ext>
            </a:extLst>
          </p:cNvPr>
          <p:cNvSpPr/>
          <p:nvPr/>
        </p:nvSpPr>
        <p:spPr>
          <a:xfrm>
            <a:off x="990600" y="990600"/>
            <a:ext cx="7543800" cy="1346907"/>
          </a:xfrm>
          <a:prstGeom prst="rect">
            <a:avLst/>
          </a:prstGeom>
        </p:spPr>
        <p:txBody>
          <a:bodyPr wrap="square">
            <a:spAutoFit/>
          </a:bodyPr>
          <a:lstStyle/>
          <a:p>
            <a:pPr algn="just">
              <a:lnSpc>
                <a:spcPct val="150000"/>
              </a:lnSpc>
              <a:spcAft>
                <a:spcPts val="0"/>
              </a:spcAft>
            </a:pP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在用户视图下输入命令</a:t>
            </a:r>
            <a:r>
              <a:rPr lang="en-US"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system-view</a:t>
            </a: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，则可进入</a:t>
            </a:r>
            <a:r>
              <a:rPr lang="zh-CN" altLang="zh-CN" sz="1400"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系统视图</a:t>
            </a: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，命令提示符为：</a:t>
            </a:r>
          </a:p>
          <a:p>
            <a:pPr indent="266700" algn="just">
              <a:lnSpc>
                <a:spcPct val="150000"/>
              </a:lnSpc>
              <a:spcAft>
                <a:spcPts val="0"/>
              </a:spcAft>
            </a:pPr>
            <a:r>
              <a:rPr lang="en-US"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 [Huawei]</a:t>
            </a:r>
            <a:endPar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50000"/>
              </a:lnSpc>
              <a:spcAft>
                <a:spcPts val="0"/>
              </a:spcAft>
            </a:pP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在系统视图下，用户可以查看、修改网络设备的状态和控制信息，对网络设备进行配置。如果需要对网络设备的某些功能进行配置，则需要从系统视图进入此功能的视图模式。</a:t>
            </a:r>
          </a:p>
        </p:txBody>
      </p:sp>
      <p:pic>
        <p:nvPicPr>
          <p:cNvPr id="5" name="图片 4">
            <a:extLst>
              <a:ext uri="{FF2B5EF4-FFF2-40B4-BE49-F238E27FC236}">
                <a16:creationId xmlns:a16="http://schemas.microsoft.com/office/drawing/2014/main" id="{6180E39D-58CE-43BB-89C7-CBD1687EB9D8}"/>
              </a:ext>
            </a:extLst>
          </p:cNvPr>
          <p:cNvPicPr/>
          <p:nvPr/>
        </p:nvPicPr>
        <p:blipFill>
          <a:blip r:embed="rId2"/>
          <a:stretch>
            <a:fillRect/>
          </a:stretch>
        </p:blipFill>
        <p:spPr>
          <a:xfrm>
            <a:off x="1828800" y="2568498"/>
            <a:ext cx="5486400" cy="3886200"/>
          </a:xfrm>
          <a:prstGeom prst="rect">
            <a:avLst/>
          </a:prstGeom>
        </p:spPr>
      </p:pic>
    </p:spTree>
    <p:extLst>
      <p:ext uri="{BB962C8B-B14F-4D97-AF65-F5344CB8AC3E}">
        <p14:creationId xmlns:p14="http://schemas.microsoft.com/office/powerpoint/2010/main" val="12363768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0F93D04-0107-436B-8C28-95F173BE6175}"/>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37</a:t>
            </a:fld>
            <a:endParaRPr lang="en-US" altLang="zh-CN"/>
          </a:p>
        </p:txBody>
      </p:sp>
      <p:sp>
        <p:nvSpPr>
          <p:cNvPr id="3" name="Rectangle 2">
            <a:extLst>
              <a:ext uri="{FF2B5EF4-FFF2-40B4-BE49-F238E27FC236}">
                <a16:creationId xmlns:a16="http://schemas.microsoft.com/office/drawing/2014/main" id="{AE2817A5-D1B5-48DB-A532-FE9639E252D6}"/>
              </a:ext>
            </a:extLst>
          </p:cNvPr>
          <p:cNvSpPr>
            <a:spLocks noChangeArrowheads="1"/>
          </p:cNvSpPr>
          <p:nvPr/>
        </p:nvSpPr>
        <p:spPr bwMode="auto">
          <a:xfrm>
            <a:off x="0" y="0"/>
            <a:ext cx="9144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latin typeface="Times New Roman" pitchFamily="18" charset="0"/>
              <a:ea typeface="宋体" charset="-122"/>
            </a:endParaRPr>
          </a:p>
        </p:txBody>
      </p:sp>
      <p:sp>
        <p:nvSpPr>
          <p:cNvPr id="4" name="Text Box 3">
            <a:extLst>
              <a:ext uri="{FF2B5EF4-FFF2-40B4-BE49-F238E27FC236}">
                <a16:creationId xmlns:a16="http://schemas.microsoft.com/office/drawing/2014/main" id="{134B1FF0-D7B6-4085-B113-19AD592416A9}"/>
              </a:ext>
            </a:extLst>
          </p:cNvPr>
          <p:cNvSpPr txBox="1">
            <a:spLocks noChangeArrowheads="1"/>
          </p:cNvSpPr>
          <p:nvPr/>
        </p:nvSpPr>
        <p:spPr bwMode="auto">
          <a:xfrm>
            <a:off x="228600" y="329624"/>
            <a:ext cx="5866927" cy="584775"/>
          </a:xfrm>
          <a:prstGeom prst="rect">
            <a:avLst/>
          </a:prstGeom>
          <a:noFill/>
          <a:ln>
            <a:noFill/>
          </a:ln>
          <a:effectLst/>
        </p:spPr>
        <p:txBody>
          <a:bodyPr wrap="none">
            <a:spAutoFit/>
          </a:bodyPr>
          <a:lstStyle/>
          <a:p>
            <a:pPr>
              <a:defRPr/>
            </a:pPr>
            <a:r>
              <a:rPr lang="en-US" altLang="zh-CN" dirty="0">
                <a:latin typeface="微软雅黑" panose="020B0503020204020204" pitchFamily="34" charset="-122"/>
                <a:ea typeface="微软雅黑" panose="020B0503020204020204" pitchFamily="34" charset="-122"/>
              </a:rPr>
              <a:t>13.5  Wireshark</a:t>
            </a:r>
            <a:r>
              <a:rPr lang="zh-CN" altLang="en-US" dirty="0">
                <a:latin typeface="微软雅黑" panose="020B0503020204020204" pitchFamily="34" charset="-122"/>
                <a:ea typeface="微软雅黑" panose="020B0503020204020204" pitchFamily="34" charset="-122"/>
              </a:rPr>
              <a:t>数据捕获软件</a:t>
            </a:r>
            <a:endParaRPr lang="en-US" altLang="zh-CN"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01C7955D-C215-4CB7-8F48-C284405DCDEC}"/>
              </a:ext>
            </a:extLst>
          </p:cNvPr>
          <p:cNvSpPr/>
          <p:nvPr/>
        </p:nvSpPr>
        <p:spPr>
          <a:xfrm>
            <a:off x="838200" y="1371600"/>
            <a:ext cx="7467600" cy="1156855"/>
          </a:xfrm>
          <a:prstGeom prst="rect">
            <a:avLst/>
          </a:prstGeom>
        </p:spPr>
        <p:txBody>
          <a:bodyPr wrap="square">
            <a:spAutoFit/>
          </a:bodyPr>
          <a:lstStyle/>
          <a:p>
            <a:pPr algn="just">
              <a:lnSpc>
                <a:spcPct val="150000"/>
              </a:lnSpc>
              <a:spcAft>
                <a:spcPts val="0"/>
              </a:spcAft>
            </a:pPr>
            <a:r>
              <a:rPr lang="en-US"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Wireshark</a:t>
            </a:r>
            <a:r>
              <a:rPr lang="zh-CN"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是一种网络封包分析软件，其功能是抓取网络封包，并尽可能显示出详细的网络封包资料。</a:t>
            </a:r>
            <a:r>
              <a:rPr lang="en-US"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Wireshark</a:t>
            </a:r>
            <a:r>
              <a:rPr lang="zh-CN"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使用</a:t>
            </a:r>
            <a:r>
              <a:rPr lang="en-US" altLang="zh-CN" sz="1600" b="0" kern="100" dirty="0" err="1">
                <a:latin typeface="微软雅黑" panose="020B0503020204020204" pitchFamily="34" charset="-122"/>
                <a:ea typeface="微软雅黑" panose="020B0503020204020204" pitchFamily="34" charset="-122"/>
                <a:cs typeface="Times New Roman" panose="02020603050405020304" pitchFamily="18" charset="0"/>
              </a:rPr>
              <a:t>WinPcap</a:t>
            </a:r>
            <a:r>
              <a:rPr lang="zh-CN"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作为接口，可直接与网卡进行数据报文交换。</a:t>
            </a:r>
          </a:p>
        </p:txBody>
      </p:sp>
      <p:pic>
        <p:nvPicPr>
          <p:cNvPr id="6" name="图片 5">
            <a:extLst>
              <a:ext uri="{FF2B5EF4-FFF2-40B4-BE49-F238E27FC236}">
                <a16:creationId xmlns:a16="http://schemas.microsoft.com/office/drawing/2014/main" id="{23D81254-1602-486C-A0D4-6CDE7CBDE8A6}"/>
              </a:ext>
            </a:extLst>
          </p:cNvPr>
          <p:cNvPicPr>
            <a:picLocks noChangeAspect="1"/>
          </p:cNvPicPr>
          <p:nvPr/>
        </p:nvPicPr>
        <p:blipFill>
          <a:blip r:embed="rId2"/>
          <a:stretch>
            <a:fillRect/>
          </a:stretch>
        </p:blipFill>
        <p:spPr>
          <a:xfrm>
            <a:off x="2163944" y="2640561"/>
            <a:ext cx="4816111" cy="3648132"/>
          </a:xfrm>
          <a:prstGeom prst="rect">
            <a:avLst/>
          </a:prstGeom>
        </p:spPr>
      </p:pic>
    </p:spTree>
    <p:extLst>
      <p:ext uri="{BB962C8B-B14F-4D97-AF65-F5344CB8AC3E}">
        <p14:creationId xmlns:p14="http://schemas.microsoft.com/office/powerpoint/2010/main" val="18645747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51031AD-ADCB-4166-9E48-5C12187AE751}"/>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38</a:t>
            </a:fld>
            <a:endParaRPr lang="en-US" altLang="zh-CN"/>
          </a:p>
        </p:txBody>
      </p:sp>
      <p:sp>
        <p:nvSpPr>
          <p:cNvPr id="3" name="Rectangle 2">
            <a:extLst>
              <a:ext uri="{FF2B5EF4-FFF2-40B4-BE49-F238E27FC236}">
                <a16:creationId xmlns:a16="http://schemas.microsoft.com/office/drawing/2014/main" id="{372DD79D-2FF7-4245-856F-33ED366E2FB4}"/>
              </a:ext>
            </a:extLst>
          </p:cNvPr>
          <p:cNvSpPr>
            <a:spLocks noChangeArrowheads="1"/>
          </p:cNvSpPr>
          <p:nvPr/>
        </p:nvSpPr>
        <p:spPr bwMode="auto">
          <a:xfrm>
            <a:off x="1012902" y="1143000"/>
            <a:ext cx="7168877" cy="1495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200000"/>
              </a:lnSpc>
              <a:spcBef>
                <a:spcPct val="0"/>
              </a:spcBef>
              <a:spcAft>
                <a:spcPct val="0"/>
              </a:spcAft>
              <a:buClrTx/>
              <a:buSzTx/>
              <a:buFontTx/>
              <a:buNone/>
              <a:tabLst/>
            </a:pPr>
            <a:r>
              <a:rPr kumimoji="0" lang="zh-CN"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在菜单中选择</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6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Capture”</a:t>
            </a:r>
            <a:r>
              <a:rPr kumimoji="0" lang="en-US" altLang="zh-CN" sz="16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a:t>
            </a:r>
            <a:r>
              <a:rPr kumimoji="0" lang="en-US" altLang="zh-CN" sz="1600" b="0" i="0" u="none" strike="noStrike" cap="none" normalizeH="0" baseline="0" dirty="0" err="1">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“Interface</a:t>
            </a: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sym typeface="Wingdings" panose="05000000000000000000" pitchFamily="2" charset="2"/>
              </a:rPr>
              <a:t>打开</a:t>
            </a:r>
            <a:r>
              <a:rPr lang="zh-CN" altLang="en-US" sz="1600" b="0" dirty="0">
                <a:latin typeface="微软雅黑" panose="020B0503020204020204" pitchFamily="34" charset="-122"/>
                <a:ea typeface="微软雅黑" panose="020B0503020204020204" pitchFamily="34" charset="-122"/>
                <a:sym typeface="Wingdings" panose="05000000000000000000" pitchFamily="2" charset="2"/>
              </a:rPr>
              <a:t>对话框，选择一个用来捕获数据包的设备，点击“</a:t>
            </a:r>
            <a:r>
              <a:rPr lang="en-US" altLang="zh-CN" sz="1600" b="0" dirty="0">
                <a:latin typeface="微软雅黑" panose="020B0503020204020204" pitchFamily="34" charset="-122"/>
                <a:ea typeface="微软雅黑" panose="020B0503020204020204" pitchFamily="34" charset="-122"/>
                <a:sym typeface="Wingdings" panose="05000000000000000000" pitchFamily="2" charset="2"/>
              </a:rPr>
              <a:t>Start”</a:t>
            </a:r>
            <a:r>
              <a:rPr lang="zh-CN" altLang="en-US" sz="1600" b="0" dirty="0">
                <a:latin typeface="微软雅黑" panose="020B0503020204020204" pitchFamily="34" charset="-122"/>
                <a:ea typeface="微软雅黑" panose="020B0503020204020204" pitchFamily="34" charset="-122"/>
                <a:sym typeface="Wingdings" panose="05000000000000000000" pitchFamily="2" charset="2"/>
              </a:rPr>
              <a:t>。在“</a:t>
            </a:r>
            <a:r>
              <a:rPr lang="en-US" altLang="zh-CN" sz="1600" b="0" dirty="0">
                <a:latin typeface="微软雅黑" panose="020B0503020204020204" pitchFamily="34" charset="-122"/>
                <a:ea typeface="微软雅黑" panose="020B0503020204020204" pitchFamily="34" charset="-122"/>
                <a:sym typeface="Wingdings" panose="05000000000000000000" pitchFamily="2" charset="2"/>
              </a:rPr>
              <a:t>Capture”</a:t>
            </a:r>
            <a:r>
              <a:rPr lang="zh-CN" altLang="en-US" sz="1600" b="0" dirty="0">
                <a:latin typeface="微软雅黑" panose="020B0503020204020204" pitchFamily="34" charset="-122"/>
                <a:ea typeface="微软雅黑" panose="020B0503020204020204" pitchFamily="34" charset="-122"/>
                <a:sym typeface="Wingdings" panose="05000000000000000000" pitchFamily="2" charset="2"/>
              </a:rPr>
              <a:t>的菜单上单击“</a:t>
            </a:r>
            <a:r>
              <a:rPr lang="en-US" altLang="zh-CN" sz="1600" b="0" dirty="0">
                <a:latin typeface="微软雅黑" panose="020B0503020204020204" pitchFamily="34" charset="-122"/>
                <a:ea typeface="微软雅黑" panose="020B0503020204020204" pitchFamily="34" charset="-122"/>
                <a:sym typeface="Wingdings" panose="05000000000000000000" pitchFamily="2" charset="2"/>
              </a:rPr>
              <a:t>Stop”</a:t>
            </a:r>
            <a:r>
              <a:rPr lang="zh-CN" altLang="en-US" sz="1600" b="0" dirty="0">
                <a:latin typeface="微软雅黑" panose="020B0503020204020204" pitchFamily="34" charset="-122"/>
                <a:ea typeface="微软雅黑" panose="020B0503020204020204" pitchFamily="34" charset="-122"/>
                <a:sym typeface="Wingdings" panose="05000000000000000000" pitchFamily="2" charset="2"/>
              </a:rPr>
              <a:t>选项，则停止捕获。</a:t>
            </a:r>
          </a:p>
        </p:txBody>
      </p:sp>
      <p:pic>
        <p:nvPicPr>
          <p:cNvPr id="1025" name="图片 103">
            <a:extLst>
              <a:ext uri="{FF2B5EF4-FFF2-40B4-BE49-F238E27FC236}">
                <a16:creationId xmlns:a16="http://schemas.microsoft.com/office/drawing/2014/main" id="{6489CCB6-1618-4F59-923A-E2CF4D3098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273" r="1295" b="3136"/>
          <a:stretch>
            <a:fillRect/>
          </a:stretch>
        </p:blipFill>
        <p:spPr bwMode="auto">
          <a:xfrm>
            <a:off x="1143000" y="2971800"/>
            <a:ext cx="6864076" cy="2522538"/>
          </a:xfrm>
          <a:prstGeom prst="rect">
            <a:avLst/>
          </a:prstGeom>
          <a:noFill/>
          <a:ln>
            <a:solidFill>
              <a:schemeClr val="bg1">
                <a:lumMod val="65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19973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EB0D102-4C50-4996-A848-63BA5DBE982F}"/>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39</a:t>
            </a:fld>
            <a:endParaRPr lang="en-US" altLang="zh-CN"/>
          </a:p>
        </p:txBody>
      </p:sp>
      <p:pic>
        <p:nvPicPr>
          <p:cNvPr id="3" name="图片 2">
            <a:extLst>
              <a:ext uri="{FF2B5EF4-FFF2-40B4-BE49-F238E27FC236}">
                <a16:creationId xmlns:a16="http://schemas.microsoft.com/office/drawing/2014/main" id="{3FEEEE28-5693-45D8-A8A5-92D59558A235}"/>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143000" y="2438400"/>
            <a:ext cx="6858000" cy="3870960"/>
          </a:xfrm>
          <a:prstGeom prst="rect">
            <a:avLst/>
          </a:prstGeom>
          <a:ln>
            <a:solidFill>
              <a:schemeClr val="bg1">
                <a:lumMod val="65000"/>
              </a:schemeClr>
            </a:solidFill>
          </a:ln>
        </p:spPr>
      </p:pic>
      <p:sp>
        <p:nvSpPr>
          <p:cNvPr id="4" name="矩形 3">
            <a:extLst>
              <a:ext uri="{FF2B5EF4-FFF2-40B4-BE49-F238E27FC236}">
                <a16:creationId xmlns:a16="http://schemas.microsoft.com/office/drawing/2014/main" id="{9ECF0928-110E-4ED7-BFB9-674019C4F14B}"/>
              </a:ext>
            </a:extLst>
          </p:cNvPr>
          <p:cNvSpPr/>
          <p:nvPr/>
        </p:nvSpPr>
        <p:spPr>
          <a:xfrm>
            <a:off x="1028571" y="914400"/>
            <a:ext cx="7086856" cy="1346907"/>
          </a:xfrm>
          <a:prstGeom prst="rect">
            <a:avLst/>
          </a:prstGeom>
        </p:spPr>
        <p:txBody>
          <a:bodyPr wrap="square">
            <a:spAutoFit/>
          </a:bodyPr>
          <a:lstStyle/>
          <a:p>
            <a:pPr algn="just">
              <a:lnSpc>
                <a:spcPct val="150000"/>
              </a:lnSpc>
              <a:spcAft>
                <a:spcPts val="0"/>
              </a:spcAft>
            </a:pPr>
            <a:r>
              <a:rPr lang="zh-CN" altLang="en-US" sz="1400" b="0" kern="100" dirty="0">
                <a:latin typeface="微软雅黑" panose="020B0503020204020204" pitchFamily="34" charset="-122"/>
                <a:ea typeface="微软雅黑" panose="020B0503020204020204" pitchFamily="34" charset="-122"/>
                <a:cs typeface="Times New Roman" panose="02020603050405020304" pitchFamily="18" charset="0"/>
              </a:rPr>
              <a:t>捕获界面</a:t>
            </a: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有三个子面板，从上至下分别是：</a:t>
            </a:r>
            <a:r>
              <a:rPr lang="en-US"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Packet List</a:t>
            </a: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（数据包列表）面板，</a:t>
            </a:r>
            <a:r>
              <a:rPr lang="en-US"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Packet Details</a:t>
            </a: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（数据包细节）面板和</a:t>
            </a:r>
            <a:r>
              <a:rPr lang="en-US"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Packet Bytes</a:t>
            </a: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（数据包字节）面板。在</a:t>
            </a:r>
            <a:r>
              <a:rPr lang="en-US"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Packet List</a:t>
            </a: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面板中选中所要查看的数据包，在</a:t>
            </a:r>
            <a:r>
              <a:rPr lang="en-US"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Packet Details</a:t>
            </a: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面板中选中该数据包中的相应字段，在</a:t>
            </a:r>
            <a:r>
              <a:rPr lang="en-US"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Packet Bytes</a:t>
            </a:r>
            <a:r>
              <a:rPr lang="zh-CN" altLang="zh-CN" sz="1400" b="0" kern="100" dirty="0">
                <a:latin typeface="微软雅黑" panose="020B0503020204020204" pitchFamily="34" charset="-122"/>
                <a:ea typeface="微软雅黑" panose="020B0503020204020204" pitchFamily="34" charset="-122"/>
                <a:cs typeface="Times New Roman" panose="02020603050405020304" pitchFamily="18" charset="0"/>
              </a:rPr>
              <a:t>面板中显示其二进制信息。</a:t>
            </a:r>
          </a:p>
        </p:txBody>
      </p:sp>
      <p:sp>
        <p:nvSpPr>
          <p:cNvPr id="5" name="矩形 4">
            <a:extLst>
              <a:ext uri="{FF2B5EF4-FFF2-40B4-BE49-F238E27FC236}">
                <a16:creationId xmlns:a16="http://schemas.microsoft.com/office/drawing/2014/main" id="{78475044-9AE6-495F-A0DE-E334EA426B22}"/>
              </a:ext>
            </a:extLst>
          </p:cNvPr>
          <p:cNvSpPr/>
          <p:nvPr/>
        </p:nvSpPr>
        <p:spPr>
          <a:xfrm>
            <a:off x="2971800" y="87351"/>
            <a:ext cx="1620957" cy="523220"/>
          </a:xfrm>
          <a:prstGeom prst="rect">
            <a:avLst/>
          </a:prstGeom>
        </p:spPr>
        <p:txBody>
          <a:bodyPr wrap="none">
            <a:spAutoFit/>
          </a:bodyPr>
          <a:lstStyle/>
          <a:p>
            <a:r>
              <a:rPr lang="zh-CN" altLang="en-US" sz="28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捕获</a:t>
            </a:r>
            <a:r>
              <a:rPr lang="zh-CN" altLang="zh-CN" sz="2800" kern="1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界面</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720609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07D69574-82F0-491E-A716-1905A4F1B3C2}"/>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40</a:t>
            </a:fld>
            <a:endParaRPr lang="en-US" altLang="zh-CN"/>
          </a:p>
        </p:txBody>
      </p:sp>
      <p:sp>
        <p:nvSpPr>
          <p:cNvPr id="3" name="矩形 2">
            <a:extLst>
              <a:ext uri="{FF2B5EF4-FFF2-40B4-BE49-F238E27FC236}">
                <a16:creationId xmlns:a16="http://schemas.microsoft.com/office/drawing/2014/main" id="{7AB041B2-D194-4B38-9989-EE0582641AF3}"/>
              </a:ext>
            </a:extLst>
          </p:cNvPr>
          <p:cNvSpPr/>
          <p:nvPr/>
        </p:nvSpPr>
        <p:spPr>
          <a:xfrm>
            <a:off x="2971800" y="87351"/>
            <a:ext cx="3097195" cy="523220"/>
          </a:xfrm>
          <a:prstGeom prst="rect">
            <a:avLst/>
          </a:prstGeom>
        </p:spPr>
        <p:txBody>
          <a:bodyPr wrap="none">
            <a:spAutoFit/>
          </a:bodyPr>
          <a:lstStyle/>
          <a:p>
            <a:r>
              <a:rPr lang="en-US" altLang="zh-CN" sz="2800" dirty="0">
                <a:solidFill>
                  <a:schemeClr val="bg1"/>
                </a:solidFill>
                <a:latin typeface="微软雅黑" panose="020B0503020204020204" pitchFamily="34" charset="-122"/>
                <a:ea typeface="微软雅黑" panose="020B0503020204020204" pitchFamily="34" charset="-122"/>
              </a:rPr>
              <a:t>Wireshark</a:t>
            </a:r>
            <a:r>
              <a:rPr lang="zh-CN" altLang="en-US" sz="2800" dirty="0">
                <a:solidFill>
                  <a:schemeClr val="bg1"/>
                </a:solidFill>
                <a:latin typeface="微软雅黑" panose="020B0503020204020204" pitchFamily="34" charset="-122"/>
                <a:ea typeface="微软雅黑" panose="020B0503020204020204" pitchFamily="34" charset="-122"/>
              </a:rPr>
              <a:t>过滤器</a:t>
            </a:r>
          </a:p>
        </p:txBody>
      </p:sp>
      <p:sp>
        <p:nvSpPr>
          <p:cNvPr id="4" name="矩形 3">
            <a:extLst>
              <a:ext uri="{FF2B5EF4-FFF2-40B4-BE49-F238E27FC236}">
                <a16:creationId xmlns:a16="http://schemas.microsoft.com/office/drawing/2014/main" id="{9E209E89-3CED-4839-AB81-DD9D22CE3310}"/>
              </a:ext>
            </a:extLst>
          </p:cNvPr>
          <p:cNvSpPr/>
          <p:nvPr/>
        </p:nvSpPr>
        <p:spPr>
          <a:xfrm>
            <a:off x="932985" y="1280912"/>
            <a:ext cx="7315200" cy="4296176"/>
          </a:xfrm>
          <a:prstGeom prst="rect">
            <a:avLst/>
          </a:prstGeom>
        </p:spPr>
        <p:txBody>
          <a:bodyPr wrap="square">
            <a:spAutoFit/>
          </a:bodyPr>
          <a:lstStyle/>
          <a:p>
            <a:pPr algn="just">
              <a:lnSpc>
                <a:spcPct val="250000"/>
              </a:lnSpc>
              <a:spcAft>
                <a:spcPts val="0"/>
              </a:spcAft>
            </a:pPr>
            <a:r>
              <a:rPr lang="en-US"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Wireshark</a:t>
            </a:r>
            <a:r>
              <a:rPr lang="zh-CN"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中的过滤器可以更加便捷地捕获和显示指定的数据包。</a:t>
            </a:r>
            <a:r>
              <a:rPr lang="en-US"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Wireshark</a:t>
            </a:r>
            <a:r>
              <a:rPr lang="zh-CN"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捕获到的数据包各种各样，包含了所有经过指定设备的网络数据包，使用过滤器</a:t>
            </a:r>
            <a:r>
              <a:rPr lang="zh-CN" altLang="en-US" sz="1600" b="0" kern="100" dirty="0">
                <a:latin typeface="微软雅黑" panose="020B0503020204020204" pitchFamily="34" charset="-122"/>
                <a:ea typeface="微软雅黑" panose="020B0503020204020204" pitchFamily="34" charset="-122"/>
                <a:cs typeface="Times New Roman" panose="02020603050405020304" pitchFamily="18" charset="0"/>
              </a:rPr>
              <a:t>可</a:t>
            </a:r>
            <a:r>
              <a:rPr lang="zh-CN"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将不必要或者不用于分析的数据包屏蔽掉，会大大地提高数据包分析的效率。在</a:t>
            </a:r>
            <a:r>
              <a:rPr lang="en-US"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Wireshark</a:t>
            </a:r>
            <a:r>
              <a:rPr lang="zh-CN"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中，有捕获过滤器和显示过滤器两种。</a:t>
            </a:r>
            <a:endParaRPr lang="en-US" altLang="zh-CN" sz="1600" b="0" kern="10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gn="just">
              <a:lnSpc>
                <a:spcPct val="250000"/>
              </a:lnSpc>
              <a:spcAft>
                <a:spcPts val="0"/>
              </a:spcAft>
              <a:buClr>
                <a:srgbClr val="FF0000"/>
              </a:buClr>
              <a:buSzPct val="80000"/>
              <a:buFont typeface="Wingdings" panose="05000000000000000000" pitchFamily="2" charset="2"/>
              <a:buChar char="u"/>
            </a:pPr>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捕获过滤器</a:t>
            </a:r>
            <a:r>
              <a:rPr lang="zh-CN" altLang="en-US" sz="1600" b="0" kern="100" dirty="0">
                <a:latin typeface="微软雅黑" panose="020B0503020204020204" pitchFamily="34" charset="-122"/>
                <a:ea typeface="微软雅黑" panose="020B0503020204020204" pitchFamily="34" charset="-122"/>
                <a:cs typeface="Times New Roman" panose="02020603050405020304" pitchFamily="18" charset="0"/>
              </a:rPr>
              <a:t>：在只需要分析指定的数据包时，可以使用捕获过滤器对数据包进行捕获过程中的过滤。</a:t>
            </a:r>
          </a:p>
          <a:p>
            <a:pPr marL="285750" indent="-285750" algn="just">
              <a:lnSpc>
                <a:spcPct val="250000"/>
              </a:lnSpc>
              <a:spcAft>
                <a:spcPts val="0"/>
              </a:spcAft>
              <a:buClr>
                <a:srgbClr val="FF0000"/>
              </a:buClr>
              <a:buSzPct val="80000"/>
              <a:buFont typeface="Wingdings" panose="05000000000000000000" pitchFamily="2" charset="2"/>
              <a:buChar char="u"/>
            </a:pPr>
            <a:r>
              <a:rPr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显示过滤器</a:t>
            </a:r>
            <a:r>
              <a:rPr lang="zh-CN" altLang="en-US" sz="1600" b="0" kern="100" dirty="0">
                <a:latin typeface="微软雅黑" panose="020B0503020204020204" pitchFamily="34" charset="-122"/>
                <a:ea typeface="微软雅黑" panose="020B0503020204020204" pitchFamily="34" charset="-122"/>
                <a:cs typeface="Times New Roman" panose="02020603050405020304" pitchFamily="18" charset="0"/>
              </a:rPr>
              <a:t>：在</a:t>
            </a:r>
            <a:r>
              <a:rPr lang="en-US" altLang="zh-CN" sz="1600" b="0" kern="100" dirty="0">
                <a:latin typeface="微软雅黑" panose="020B0503020204020204" pitchFamily="34" charset="-122"/>
                <a:ea typeface="微软雅黑" panose="020B0503020204020204" pitchFamily="34" charset="-122"/>
                <a:cs typeface="Times New Roman" panose="02020603050405020304" pitchFamily="18" charset="0"/>
              </a:rPr>
              <a:t>Wireshark</a:t>
            </a:r>
            <a:r>
              <a:rPr lang="zh-CN" altLang="en-US" sz="1600" b="0" kern="100" dirty="0">
                <a:latin typeface="微软雅黑" panose="020B0503020204020204" pitchFamily="34" charset="-122"/>
                <a:ea typeface="微软雅黑" panose="020B0503020204020204" pitchFamily="34" charset="-122"/>
                <a:cs typeface="Times New Roman" panose="02020603050405020304" pitchFamily="18" charset="0"/>
              </a:rPr>
              <a:t>中仅显示符合过滤条件的数据包。</a:t>
            </a:r>
            <a:endParaRPr lang="zh-CN" altLang="zh-CN" sz="1600" b="0"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2186430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70ADF8A-5DFE-4A99-816F-646D6ADF891F}"/>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41</a:t>
            </a:fld>
            <a:endParaRPr lang="en-US" altLang="zh-CN"/>
          </a:p>
        </p:txBody>
      </p:sp>
      <p:sp>
        <p:nvSpPr>
          <p:cNvPr id="3" name="文本框 2">
            <a:extLst>
              <a:ext uri="{FF2B5EF4-FFF2-40B4-BE49-F238E27FC236}">
                <a16:creationId xmlns:a16="http://schemas.microsoft.com/office/drawing/2014/main" id="{FB3E493E-A79B-4595-ADED-FABC78BB8CA4}"/>
              </a:ext>
            </a:extLst>
          </p:cNvPr>
          <p:cNvSpPr txBox="1"/>
          <p:nvPr/>
        </p:nvSpPr>
        <p:spPr>
          <a:xfrm>
            <a:off x="876300" y="914400"/>
            <a:ext cx="7391400" cy="1670073"/>
          </a:xfrm>
          <a:prstGeom prst="rect">
            <a:avLst/>
          </a:prstGeom>
          <a:noFill/>
        </p:spPr>
        <p:txBody>
          <a:bodyPr wrap="square" rtlCol="0">
            <a:spAutoFit/>
          </a:bodyPr>
          <a:lstStyle/>
          <a:p>
            <a:pPr marL="285750" indent="-285750" algn="just">
              <a:lnSpc>
                <a:spcPct val="150000"/>
              </a:lnSpc>
              <a:buClr>
                <a:srgbClr val="FF0000"/>
              </a:buClr>
              <a:buSzPct val="80000"/>
              <a:buFont typeface="Wingdings" panose="05000000000000000000" pitchFamily="2" charset="2"/>
              <a:buChar char="u"/>
            </a:pPr>
            <a:r>
              <a:rPr lang="zh-CN" altLang="zh-CN" sz="1400" b="0" dirty="0">
                <a:latin typeface="微软雅黑" panose="020B0503020204020204" pitchFamily="34" charset="-122"/>
                <a:ea typeface="微软雅黑" panose="020B0503020204020204" pitchFamily="34" charset="-122"/>
              </a:rPr>
              <a:t>点击</a:t>
            </a:r>
            <a:r>
              <a:rPr lang="en-US" altLang="zh-CN" sz="1400" b="0" dirty="0">
                <a:latin typeface="微软雅黑" panose="020B0503020204020204" pitchFamily="34" charset="-122"/>
                <a:ea typeface="微软雅黑" panose="020B0503020204020204" pitchFamily="34" charset="-122"/>
              </a:rPr>
              <a:t>“</a:t>
            </a:r>
            <a:r>
              <a:rPr lang="en-US" altLang="zh-CN" sz="1400" b="0" dirty="0" err="1">
                <a:latin typeface="微软雅黑" panose="020B0503020204020204" pitchFamily="34" charset="-122"/>
                <a:ea typeface="微软雅黑" panose="020B0503020204020204" pitchFamily="34" charset="-122"/>
              </a:rPr>
              <a:t>Capture”</a:t>
            </a:r>
            <a:r>
              <a:rPr lang="en-US" altLang="zh-CN" sz="1400" b="0" dirty="0" err="1">
                <a:latin typeface="微软雅黑" panose="020B0503020204020204" pitchFamily="34" charset="-122"/>
                <a:ea typeface="微软雅黑" panose="020B0503020204020204" pitchFamily="34" charset="-122"/>
                <a:sym typeface="Wingdings" panose="05000000000000000000" pitchFamily="2" charset="2"/>
              </a:rPr>
              <a:t></a:t>
            </a:r>
            <a:r>
              <a:rPr lang="en-US" altLang="zh-CN" sz="1400" b="0" dirty="0" err="1">
                <a:latin typeface="微软雅黑" panose="020B0503020204020204" pitchFamily="34" charset="-122"/>
                <a:ea typeface="微软雅黑" panose="020B0503020204020204" pitchFamily="34" charset="-122"/>
              </a:rPr>
              <a:t>“Interface</a:t>
            </a:r>
            <a:r>
              <a:rPr lang="en-US" altLang="zh-CN" sz="1400" b="0" dirty="0">
                <a:latin typeface="微软雅黑" panose="020B0503020204020204" pitchFamily="34" charset="-122"/>
                <a:ea typeface="微软雅黑" panose="020B0503020204020204" pitchFamily="34" charset="-122"/>
              </a:rPr>
              <a:t>”</a:t>
            </a:r>
            <a:r>
              <a:rPr lang="zh-CN" altLang="zh-CN" sz="1400" b="0" dirty="0">
                <a:latin typeface="微软雅黑" panose="020B0503020204020204" pitchFamily="34" charset="-122"/>
                <a:ea typeface="微软雅黑" panose="020B0503020204020204" pitchFamily="34" charset="-122"/>
              </a:rPr>
              <a:t>打开捕获接口对话框，选择要使用的捕获设备，点击右边的</a:t>
            </a:r>
            <a:r>
              <a:rPr lang="en-US" altLang="zh-CN" sz="1400" b="0" dirty="0">
                <a:latin typeface="微软雅黑" panose="020B0503020204020204" pitchFamily="34" charset="-122"/>
                <a:ea typeface="微软雅黑" panose="020B0503020204020204" pitchFamily="34" charset="-122"/>
              </a:rPr>
              <a:t>“Option”</a:t>
            </a:r>
            <a:r>
              <a:rPr lang="zh-CN" altLang="zh-CN" sz="1400" b="0" dirty="0">
                <a:latin typeface="微软雅黑" panose="020B0503020204020204" pitchFamily="34" charset="-122"/>
                <a:ea typeface="微软雅黑" panose="020B0503020204020204" pitchFamily="34" charset="-122"/>
              </a:rPr>
              <a:t>按钮，打开“</a:t>
            </a:r>
            <a:r>
              <a:rPr lang="en-US" altLang="zh-CN" sz="1400" b="0" dirty="0">
                <a:latin typeface="微软雅黑" panose="020B0503020204020204" pitchFamily="34" charset="-122"/>
                <a:ea typeface="微软雅黑" panose="020B0503020204020204" pitchFamily="34" charset="-122"/>
              </a:rPr>
              <a:t>Capture Option</a:t>
            </a:r>
            <a:r>
              <a:rPr lang="zh-CN" altLang="zh-CN" sz="1400" b="0" dirty="0">
                <a:latin typeface="微软雅黑" panose="020B0503020204020204" pitchFamily="34" charset="-122"/>
                <a:ea typeface="微软雅黑" panose="020B0503020204020204" pitchFamily="34" charset="-122"/>
              </a:rPr>
              <a:t>”对话框。</a:t>
            </a:r>
          </a:p>
          <a:p>
            <a:pPr marL="285750" indent="-285750" algn="just">
              <a:lnSpc>
                <a:spcPct val="150000"/>
              </a:lnSpc>
              <a:buClr>
                <a:srgbClr val="FF0000"/>
              </a:buClr>
              <a:buSzPct val="80000"/>
              <a:buFont typeface="Wingdings" panose="05000000000000000000" pitchFamily="2" charset="2"/>
              <a:buChar char="u"/>
            </a:pPr>
            <a:r>
              <a:rPr lang="zh-CN" altLang="zh-CN" sz="1400" b="0" dirty="0">
                <a:latin typeface="微软雅黑" panose="020B0503020204020204" pitchFamily="34" charset="-122"/>
                <a:ea typeface="微软雅黑" panose="020B0503020204020204" pitchFamily="34" charset="-122"/>
              </a:rPr>
              <a:t>在</a:t>
            </a:r>
            <a:r>
              <a:rPr lang="en-US" altLang="zh-CN" sz="1400" b="0" dirty="0">
                <a:latin typeface="微软雅黑" panose="020B0503020204020204" pitchFamily="34" charset="-122"/>
                <a:ea typeface="微软雅黑" panose="020B0503020204020204" pitchFamily="34" charset="-122"/>
              </a:rPr>
              <a:t>“Filter Button”</a:t>
            </a:r>
            <a:r>
              <a:rPr lang="zh-CN" altLang="zh-CN" sz="1400" b="0" dirty="0">
                <a:latin typeface="微软雅黑" panose="020B0503020204020204" pitchFamily="34" charset="-122"/>
                <a:ea typeface="微软雅黑" panose="020B0503020204020204" pitchFamily="34" charset="-122"/>
              </a:rPr>
              <a:t>右边的对话框中输入一个表达式，或者点击</a:t>
            </a:r>
            <a:r>
              <a:rPr lang="en-US" altLang="zh-CN" sz="1400" b="0" dirty="0">
                <a:latin typeface="微软雅黑" panose="020B0503020204020204" pitchFamily="34" charset="-122"/>
                <a:ea typeface="微软雅黑" panose="020B0503020204020204" pitchFamily="34" charset="-122"/>
              </a:rPr>
              <a:t>“Filter Button”</a:t>
            </a:r>
            <a:r>
              <a:rPr lang="zh-CN" altLang="zh-CN" sz="1400" b="0" dirty="0">
                <a:latin typeface="微软雅黑" panose="020B0503020204020204" pitchFamily="34" charset="-122"/>
                <a:ea typeface="微软雅黑" panose="020B0503020204020204" pitchFamily="34" charset="-122"/>
              </a:rPr>
              <a:t>按钮，在</a:t>
            </a:r>
            <a:r>
              <a:rPr lang="en-US" altLang="zh-CN" sz="1400" b="0" dirty="0">
                <a:latin typeface="微软雅黑" panose="020B0503020204020204" pitchFamily="34" charset="-122"/>
                <a:ea typeface="微软雅黑" panose="020B0503020204020204" pitchFamily="34" charset="-122"/>
              </a:rPr>
              <a:t>“Capture Filter”</a:t>
            </a:r>
            <a:r>
              <a:rPr lang="zh-CN" altLang="zh-CN" sz="1400" b="0" dirty="0">
                <a:latin typeface="微软雅黑" panose="020B0503020204020204" pitchFamily="34" charset="-122"/>
                <a:ea typeface="微软雅黑" panose="020B0503020204020204" pitchFamily="34" charset="-122"/>
              </a:rPr>
              <a:t>的对话框中，选择一个过滤器。</a:t>
            </a:r>
          </a:p>
          <a:p>
            <a:pPr marL="285750" indent="-285750" algn="just">
              <a:lnSpc>
                <a:spcPct val="150000"/>
              </a:lnSpc>
              <a:buClr>
                <a:srgbClr val="FF0000"/>
              </a:buClr>
              <a:buSzPct val="80000"/>
              <a:buFont typeface="Wingdings" panose="05000000000000000000" pitchFamily="2" charset="2"/>
              <a:buChar char="u"/>
            </a:pPr>
            <a:r>
              <a:rPr lang="zh-CN" altLang="zh-CN" sz="1400" b="0" dirty="0">
                <a:latin typeface="微软雅黑" panose="020B0503020204020204" pitchFamily="34" charset="-122"/>
                <a:ea typeface="微软雅黑" panose="020B0503020204020204" pitchFamily="34" charset="-122"/>
              </a:rPr>
              <a:t>设定好过滤器后，点击</a:t>
            </a:r>
            <a:r>
              <a:rPr lang="en-US" altLang="zh-CN" sz="1400" b="0" dirty="0">
                <a:latin typeface="微软雅黑" panose="020B0503020204020204" pitchFamily="34" charset="-122"/>
                <a:ea typeface="微软雅黑" panose="020B0503020204020204" pitchFamily="34" charset="-122"/>
              </a:rPr>
              <a:t>“Start”</a:t>
            </a:r>
            <a:r>
              <a:rPr lang="zh-CN" altLang="zh-CN" sz="1400" b="0" dirty="0">
                <a:latin typeface="微软雅黑" panose="020B0503020204020204" pitchFamily="34" charset="-122"/>
                <a:ea typeface="微软雅黑" panose="020B0503020204020204" pitchFamily="34" charset="-122"/>
              </a:rPr>
              <a:t>按钮开始捕获。</a:t>
            </a:r>
          </a:p>
        </p:txBody>
      </p:sp>
      <p:sp>
        <p:nvSpPr>
          <p:cNvPr id="4" name="矩形 3">
            <a:extLst>
              <a:ext uri="{FF2B5EF4-FFF2-40B4-BE49-F238E27FC236}">
                <a16:creationId xmlns:a16="http://schemas.microsoft.com/office/drawing/2014/main" id="{2D007A63-EFB8-4DCF-82AE-EA62AC19BA7B}"/>
              </a:ext>
            </a:extLst>
          </p:cNvPr>
          <p:cNvSpPr/>
          <p:nvPr/>
        </p:nvSpPr>
        <p:spPr>
          <a:xfrm>
            <a:off x="2971800" y="87351"/>
            <a:ext cx="1980029" cy="523220"/>
          </a:xfrm>
          <a:prstGeom prst="rect">
            <a:avLst/>
          </a:prstGeom>
        </p:spPr>
        <p:txBody>
          <a:bodyPr wrap="none">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捕获过滤器</a:t>
            </a:r>
          </a:p>
        </p:txBody>
      </p:sp>
      <p:pic>
        <p:nvPicPr>
          <p:cNvPr id="5" name="图片 4">
            <a:extLst>
              <a:ext uri="{FF2B5EF4-FFF2-40B4-BE49-F238E27FC236}">
                <a16:creationId xmlns:a16="http://schemas.microsoft.com/office/drawing/2014/main" id="{526BEA75-50FF-46D1-9EC1-A149111573F9}"/>
              </a:ext>
            </a:extLst>
          </p:cNvPr>
          <p:cNvPicPr/>
          <p:nvPr/>
        </p:nvPicPr>
        <p:blipFill rotWithShape="1">
          <a:blip r:embed="rId2">
            <a:extLst>
              <a:ext uri="{28A0092B-C50C-407E-A947-70E740481C1C}">
                <a14:useLocalDpi xmlns:a14="http://schemas.microsoft.com/office/drawing/2010/main" val="0"/>
              </a:ext>
            </a:extLst>
          </a:blip>
          <a:srcRect l="1386" r="1411" b="1433"/>
          <a:stretch/>
        </p:blipFill>
        <p:spPr bwMode="auto">
          <a:xfrm>
            <a:off x="2605405" y="2717176"/>
            <a:ext cx="3719195" cy="3627120"/>
          </a:xfrm>
          <a:prstGeom prst="rect">
            <a:avLst/>
          </a:prstGeom>
          <a:ln>
            <a:solidFill>
              <a:schemeClr val="bg1">
                <a:lumMod val="65000"/>
              </a:schemeClr>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784771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E8F3720-DA5F-4CA0-8A2F-C97AACC795CC}"/>
              </a:ext>
            </a:extLst>
          </p:cNvPr>
          <p:cNvSpPr>
            <a:spLocks noGrp="1"/>
          </p:cNvSpPr>
          <p:nvPr>
            <p:ph type="sldNum" sz="quarter" idx="10"/>
          </p:nvPr>
        </p:nvSpPr>
        <p:spPr>
          <a:xfrm>
            <a:off x="8305800" y="6400800"/>
            <a:ext cx="1066800" cy="457200"/>
          </a:xfrm>
        </p:spPr>
        <p:txBody>
          <a:bodyPr/>
          <a:lstStyle/>
          <a:p>
            <a:pPr>
              <a:defRPr/>
            </a:pPr>
            <a:r>
              <a:rPr lang="en-US" altLang="zh-CN"/>
              <a:t>13.</a:t>
            </a:r>
            <a:fld id="{50167F0C-C953-4DC0-99BC-7424AE0FD0EE}" type="slidenum">
              <a:rPr lang="en-US" altLang="zh-CN" smtClean="0"/>
              <a:pPr>
                <a:defRPr/>
              </a:pPr>
              <a:t>42</a:t>
            </a:fld>
            <a:endParaRPr lang="en-US" altLang="zh-CN"/>
          </a:p>
        </p:txBody>
      </p:sp>
      <p:sp>
        <p:nvSpPr>
          <p:cNvPr id="3" name="矩形 2">
            <a:extLst>
              <a:ext uri="{FF2B5EF4-FFF2-40B4-BE49-F238E27FC236}">
                <a16:creationId xmlns:a16="http://schemas.microsoft.com/office/drawing/2014/main" id="{31659857-E9CF-4D32-AB64-351FEE2C5ABA}"/>
              </a:ext>
            </a:extLst>
          </p:cNvPr>
          <p:cNvSpPr/>
          <p:nvPr/>
        </p:nvSpPr>
        <p:spPr>
          <a:xfrm>
            <a:off x="2971800" y="87351"/>
            <a:ext cx="1980029" cy="523220"/>
          </a:xfrm>
          <a:prstGeom prst="rect">
            <a:avLst/>
          </a:prstGeom>
        </p:spPr>
        <p:txBody>
          <a:bodyPr wrap="square">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显示过滤器</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CDD811ED-533D-45F4-BCA2-6EC8C190C2E2}"/>
              </a:ext>
            </a:extLst>
          </p:cNvPr>
          <p:cNvSpPr/>
          <p:nvPr/>
        </p:nvSpPr>
        <p:spPr>
          <a:xfrm>
            <a:off x="1066800" y="914400"/>
            <a:ext cx="7239000" cy="700576"/>
          </a:xfrm>
          <a:prstGeom prst="rect">
            <a:avLst/>
          </a:prstGeom>
        </p:spPr>
        <p:txBody>
          <a:bodyPr wrap="square">
            <a:spAutoFit/>
          </a:bodyPr>
          <a:lstStyle/>
          <a:p>
            <a:pPr algn="just">
              <a:lnSpc>
                <a:spcPct val="150000"/>
              </a:lnSpc>
              <a:buClr>
                <a:srgbClr val="FF0000"/>
              </a:buClr>
              <a:buSzPct val="80000"/>
            </a:pPr>
            <a:r>
              <a:rPr lang="zh-CN" altLang="zh-CN" sz="1400" b="0" dirty="0">
                <a:latin typeface="微软雅黑" panose="020B0503020204020204" pitchFamily="34" charset="-122"/>
                <a:ea typeface="微软雅黑" panose="020B0503020204020204" pitchFamily="34" charset="-122"/>
              </a:rPr>
              <a:t>在</a:t>
            </a:r>
            <a:r>
              <a:rPr lang="en-US" altLang="zh-CN" sz="1400" b="0" dirty="0">
                <a:latin typeface="微软雅黑" panose="020B0503020204020204" pitchFamily="34" charset="-122"/>
                <a:ea typeface="微软雅黑" panose="020B0503020204020204" pitchFamily="34" charset="-122"/>
              </a:rPr>
              <a:t>Packet List</a:t>
            </a:r>
            <a:r>
              <a:rPr lang="zh-CN" altLang="zh-CN" sz="1400" b="0" dirty="0">
                <a:latin typeface="微软雅黑" panose="020B0503020204020204" pitchFamily="34" charset="-122"/>
                <a:ea typeface="微软雅黑" panose="020B0503020204020204" pitchFamily="34" charset="-122"/>
              </a:rPr>
              <a:t>面板上方的</a:t>
            </a:r>
            <a:r>
              <a:rPr lang="en-US" altLang="zh-CN" sz="1400" b="0" dirty="0">
                <a:latin typeface="微软雅黑" panose="020B0503020204020204" pitchFamily="34" charset="-122"/>
                <a:ea typeface="微软雅黑" panose="020B0503020204020204" pitchFamily="34" charset="-122"/>
              </a:rPr>
              <a:t>Filter</a:t>
            </a:r>
            <a:r>
              <a:rPr lang="zh-CN" altLang="zh-CN" sz="1400" b="0" dirty="0">
                <a:latin typeface="微软雅黑" panose="020B0503020204020204" pitchFamily="34" charset="-122"/>
                <a:ea typeface="微软雅黑" panose="020B0503020204020204" pitchFamily="34" charset="-122"/>
              </a:rPr>
              <a:t>文本框中，输入一个过滤条件即可使用显示过滤器对要显示的数据包进行过滤。</a:t>
            </a:r>
            <a:endParaRPr lang="zh-CN" altLang="en-US" sz="1400" b="0"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4EFE37D-3A6B-4DE0-B74A-E9BA51DBCC26}"/>
              </a:ext>
            </a:extLst>
          </p:cNvPr>
          <p:cNvPicPr/>
          <p:nvPr/>
        </p:nvPicPr>
        <p:blipFill>
          <a:blip r:embed="rId2">
            <a:extLst>
              <a:ext uri="{28A0092B-C50C-407E-A947-70E740481C1C}">
                <a14:useLocalDpi xmlns:a14="http://schemas.microsoft.com/office/drawing/2010/main" val="0"/>
              </a:ext>
            </a:extLst>
          </a:blip>
          <a:stretch>
            <a:fillRect/>
          </a:stretch>
        </p:blipFill>
        <p:spPr>
          <a:xfrm>
            <a:off x="1447800" y="1676400"/>
            <a:ext cx="6400800" cy="335352"/>
          </a:xfrm>
          <a:prstGeom prst="rect">
            <a:avLst/>
          </a:prstGeom>
          <a:ln>
            <a:solidFill>
              <a:schemeClr val="bg1">
                <a:lumMod val="65000"/>
              </a:schemeClr>
            </a:solidFill>
          </a:ln>
        </p:spPr>
      </p:pic>
      <p:sp>
        <p:nvSpPr>
          <p:cNvPr id="6" name="Rectangle 2">
            <a:extLst>
              <a:ext uri="{FF2B5EF4-FFF2-40B4-BE49-F238E27FC236}">
                <a16:creationId xmlns:a16="http://schemas.microsoft.com/office/drawing/2014/main" id="{98D18854-13CD-40B5-825B-54474E685954}"/>
              </a:ext>
            </a:extLst>
          </p:cNvPr>
          <p:cNvSpPr>
            <a:spLocks noChangeArrowheads="1"/>
          </p:cNvSpPr>
          <p:nvPr/>
        </p:nvSpPr>
        <p:spPr bwMode="auto">
          <a:xfrm>
            <a:off x="914400" y="2073176"/>
            <a:ext cx="7315200" cy="1671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latinLnBrk="0">
              <a:lnSpc>
                <a:spcPct val="150000"/>
              </a:lnSpc>
              <a:buClr>
                <a:srgbClr val="FF0000"/>
              </a:buClr>
              <a:buSzPct val="80000"/>
              <a:buFont typeface="Wingdings" panose="05000000000000000000" pitchFamily="2" charset="2"/>
              <a:buChar char="u"/>
              <a:tabLst/>
            </a:pPr>
            <a:r>
              <a:rPr lang="zh-CN" altLang="zh-CN" sz="1400" dirty="0">
                <a:latin typeface="微软雅黑" panose="020B0503020204020204" pitchFamily="34" charset="-122"/>
                <a:ea typeface="微软雅黑" panose="020B0503020204020204" pitchFamily="34" charset="-122"/>
              </a:rPr>
              <a:t>通过对话框使用过滤器</a:t>
            </a:r>
            <a:r>
              <a:rPr lang="zh-CN" altLang="en-US" sz="1400" b="0" dirty="0">
                <a:latin typeface="微软雅黑" panose="020B0503020204020204" pitchFamily="34" charset="-122"/>
                <a:ea typeface="微软雅黑" panose="020B0503020204020204" pitchFamily="34" charset="-122"/>
              </a:rPr>
              <a:t>，点击“</a:t>
            </a:r>
            <a:r>
              <a:rPr lang="en-US" altLang="zh-CN" sz="1400" b="0" dirty="0">
                <a:latin typeface="微软雅黑" panose="020B0503020204020204" pitchFamily="34" charset="-122"/>
                <a:ea typeface="微软雅黑" panose="020B0503020204020204" pitchFamily="34" charset="-122"/>
              </a:rPr>
              <a:t>Expression”</a:t>
            </a:r>
            <a:r>
              <a:rPr lang="zh-CN" altLang="en-US" sz="1400" b="0" dirty="0">
                <a:latin typeface="微软雅黑" panose="020B0503020204020204" pitchFamily="34" charset="-122"/>
                <a:ea typeface="微软雅黑" panose="020B0503020204020204" pitchFamily="34" charset="-122"/>
              </a:rPr>
              <a:t>打开过滤对话框，找到要在过滤器中使用的协议，点击协议名旁边的“</a:t>
            </a:r>
            <a:r>
              <a:rPr lang="en-US" altLang="zh-CN" sz="1400" b="0" dirty="0">
                <a:latin typeface="微软雅黑" panose="020B0503020204020204" pitchFamily="34" charset="-122"/>
                <a:ea typeface="微软雅黑" panose="020B0503020204020204" pitchFamily="34" charset="-122"/>
              </a:rPr>
              <a:t>+”</a:t>
            </a:r>
            <a:r>
              <a:rPr lang="zh-CN" altLang="en-US" sz="1400" b="0" dirty="0">
                <a:latin typeface="微软雅黑" panose="020B0503020204020204" pitchFamily="34" charset="-122"/>
                <a:ea typeface="微软雅黑" panose="020B0503020204020204" pitchFamily="34" charset="-122"/>
              </a:rPr>
              <a:t>，展开该协议相关的所有选项。选择过滤关系，如等于、大于或小于等，输入相关值，点击确定。</a:t>
            </a:r>
          </a:p>
          <a:p>
            <a:pPr marL="285750" indent="-285750" algn="just">
              <a:lnSpc>
                <a:spcPct val="150000"/>
              </a:lnSpc>
              <a:buClr>
                <a:srgbClr val="FF0000"/>
              </a:buClr>
              <a:buSzPct val="80000"/>
              <a:buFont typeface="Wingdings" panose="05000000000000000000" pitchFamily="2" charset="2"/>
              <a:buChar char="u"/>
            </a:pPr>
            <a:r>
              <a:rPr lang="zh-CN" altLang="en-US" sz="1400" dirty="0">
                <a:latin typeface="微软雅黑" panose="020B0503020204020204" pitchFamily="34" charset="-122"/>
                <a:ea typeface="微软雅黑" panose="020B0503020204020204" pitchFamily="34" charset="-122"/>
              </a:rPr>
              <a:t>使用表达式定义过滤器</a:t>
            </a:r>
            <a:r>
              <a:rPr lang="zh-CN" altLang="en-US" sz="1400" b="0" dirty="0">
                <a:latin typeface="微软雅黑" panose="020B0503020204020204" pitchFamily="34" charset="-122"/>
                <a:ea typeface="微软雅黑" panose="020B0503020204020204" pitchFamily="34" charset="-122"/>
              </a:rPr>
              <a:t>，如需要查看在捕获的数据包列表中的关于</a:t>
            </a:r>
            <a:r>
              <a:rPr lang="en-US" altLang="zh-CN" sz="1400" b="0" dirty="0">
                <a:latin typeface="微软雅黑" panose="020B0503020204020204" pitchFamily="34" charset="-122"/>
                <a:ea typeface="微软雅黑" panose="020B0503020204020204" pitchFamily="34" charset="-122"/>
              </a:rPr>
              <a:t>192.168.20.1</a:t>
            </a:r>
            <a:r>
              <a:rPr lang="zh-CN" altLang="en-US" sz="1400" b="0" dirty="0">
                <a:latin typeface="微软雅黑" panose="020B0503020204020204" pitchFamily="34" charset="-122"/>
                <a:ea typeface="微软雅黑" panose="020B0503020204020204" pitchFamily="34" charset="-122"/>
              </a:rPr>
              <a:t>这个地址的所有数据包，就可以使用表达式 </a:t>
            </a:r>
            <a:r>
              <a:rPr lang="en-US" altLang="zh-CN" sz="1400" b="0" dirty="0" err="1">
                <a:latin typeface="微软雅黑" panose="020B0503020204020204" pitchFamily="34" charset="-122"/>
                <a:ea typeface="微软雅黑" panose="020B0503020204020204" pitchFamily="34" charset="-122"/>
              </a:rPr>
              <a:t>ip.addr</a:t>
            </a:r>
            <a:r>
              <a:rPr lang="en-US" altLang="zh-CN" sz="1400" b="0" dirty="0">
                <a:latin typeface="微软雅黑" panose="020B0503020204020204" pitchFamily="34" charset="-122"/>
                <a:ea typeface="微软雅黑" panose="020B0503020204020204" pitchFamily="34" charset="-122"/>
              </a:rPr>
              <a:t>==192.168.20.1</a:t>
            </a:r>
            <a:r>
              <a:rPr lang="zh-CN" altLang="en-US" sz="1400" b="0" dirty="0">
                <a:latin typeface="微软雅黑" panose="020B0503020204020204" pitchFamily="34" charset="-122"/>
                <a:ea typeface="微软雅黑" panose="020B0503020204020204" pitchFamily="34" charset="-122"/>
              </a:rPr>
              <a:t>来对数据包进行过滤。</a:t>
            </a:r>
          </a:p>
        </p:txBody>
      </p:sp>
      <p:pic>
        <p:nvPicPr>
          <p:cNvPr id="2049" name="图片 4">
            <a:extLst>
              <a:ext uri="{FF2B5EF4-FFF2-40B4-BE49-F238E27FC236}">
                <a16:creationId xmlns:a16="http://schemas.microsoft.com/office/drawing/2014/main" id="{CECC4B31-F280-4364-9248-B7B31D2891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8112" y="3848100"/>
            <a:ext cx="3787775"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41010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A810157-CD6B-4398-8376-EE3A9E01C847}"/>
              </a:ext>
            </a:extLst>
          </p:cNvPr>
          <p:cNvSpPr>
            <a:spLocks noGrp="1"/>
          </p:cNvSpPr>
          <p:nvPr>
            <p:ph type="sldNum" sz="quarter" idx="10"/>
          </p:nvPr>
        </p:nvSpPr>
        <p:spPr/>
        <p:txBody>
          <a:bodyPr/>
          <a:lstStyle/>
          <a:p>
            <a:pPr>
              <a:defRPr/>
            </a:pPr>
            <a:r>
              <a:rPr lang="en-US" altLang="zh-CN"/>
              <a:t>13.</a:t>
            </a:r>
            <a:fld id="{50167F0C-C953-4DC0-99BC-7424AE0FD0EE}" type="slidenum">
              <a:rPr lang="en-US" altLang="zh-CN" smtClean="0"/>
              <a:pPr>
                <a:defRPr/>
              </a:pPr>
              <a:t>43</a:t>
            </a:fld>
            <a:endParaRPr lang="en-US" altLang="zh-CN"/>
          </a:p>
        </p:txBody>
      </p:sp>
      <p:sp>
        <p:nvSpPr>
          <p:cNvPr id="3" name="矩形 2">
            <a:extLst>
              <a:ext uri="{FF2B5EF4-FFF2-40B4-BE49-F238E27FC236}">
                <a16:creationId xmlns:a16="http://schemas.microsoft.com/office/drawing/2014/main" id="{258D52A5-9204-439B-A11B-E0614E446F71}"/>
              </a:ext>
            </a:extLst>
          </p:cNvPr>
          <p:cNvSpPr/>
          <p:nvPr/>
        </p:nvSpPr>
        <p:spPr>
          <a:xfrm>
            <a:off x="2971800" y="100051"/>
            <a:ext cx="1980029" cy="523220"/>
          </a:xfrm>
          <a:prstGeom prst="rect">
            <a:avLst/>
          </a:prstGeom>
        </p:spPr>
        <p:txBody>
          <a:bodyPr wrap="square">
            <a:spAutoFit/>
          </a:bodyPr>
          <a:lstStyle/>
          <a:p>
            <a:r>
              <a:rPr lang="zh-CN" altLang="en-US" sz="2800" dirty="0">
                <a:solidFill>
                  <a:schemeClr val="bg1"/>
                </a:solidFill>
                <a:latin typeface="微软雅黑" panose="020B0503020204020204" pitchFamily="34" charset="-122"/>
                <a:ea typeface="微软雅黑" panose="020B0503020204020204" pitchFamily="34" charset="-122"/>
              </a:rPr>
              <a:t>课堂实验</a:t>
            </a:r>
            <a:endParaRPr lang="en-US" altLang="zh-CN" sz="2800" dirty="0">
              <a:solidFill>
                <a:schemeClr val="bg1"/>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F51F26F4-227E-46C7-AE19-AE7F47B7AD7B}"/>
              </a:ext>
            </a:extLst>
          </p:cNvPr>
          <p:cNvSpPr txBox="1"/>
          <p:nvPr/>
        </p:nvSpPr>
        <p:spPr>
          <a:xfrm>
            <a:off x="1028700" y="1600200"/>
            <a:ext cx="7200900" cy="3436197"/>
          </a:xfrm>
          <a:prstGeom prst="rect">
            <a:avLst/>
          </a:prstGeom>
          <a:noFill/>
        </p:spPr>
        <p:txBody>
          <a:bodyPr wrap="square" rtlCol="0">
            <a:spAutoFit/>
          </a:bodyPr>
          <a:lstStyle/>
          <a:p>
            <a:pPr marL="285750" indent="-285750">
              <a:lnSpc>
                <a:spcPct val="250000"/>
              </a:lnSpc>
              <a:buClr>
                <a:srgbClr val="FF0000"/>
              </a:buClr>
              <a:buSzPct val="80000"/>
              <a:buFont typeface="Wingdings" panose="05000000000000000000" pitchFamily="2" charset="2"/>
              <a:buChar char="u"/>
            </a:pPr>
            <a:r>
              <a:rPr lang="zh-CN" altLang="en-US" sz="1800" dirty="0"/>
              <a:t>任务</a:t>
            </a:r>
            <a:r>
              <a:rPr lang="en-US" altLang="zh-CN" sz="1800" dirty="0"/>
              <a:t>1</a:t>
            </a:r>
            <a:r>
              <a:rPr lang="zh-CN" altLang="en-US" sz="1800" b="0" dirty="0"/>
              <a:t>：用交换机连接两台</a:t>
            </a:r>
            <a:r>
              <a:rPr lang="en-US" altLang="zh-CN" sz="1800" b="0" dirty="0"/>
              <a:t>PC</a:t>
            </a:r>
            <a:r>
              <a:rPr lang="zh-CN" altLang="en-US" sz="1800" b="0" dirty="0"/>
              <a:t>，为</a:t>
            </a:r>
            <a:r>
              <a:rPr lang="en-US" altLang="zh-CN" sz="1800" b="0" dirty="0"/>
              <a:t>PC</a:t>
            </a:r>
            <a:r>
              <a:rPr lang="zh-CN" altLang="en-US" sz="1800" b="0" dirty="0"/>
              <a:t>配置</a:t>
            </a:r>
            <a:r>
              <a:rPr lang="en-US" altLang="zh-CN" sz="1800" b="0" dirty="0"/>
              <a:t>IP</a:t>
            </a:r>
            <a:r>
              <a:rPr lang="zh-CN" altLang="en-US" sz="1800" b="0" dirty="0"/>
              <a:t>地址和子网掩码，如何配置可以使两台</a:t>
            </a:r>
            <a:r>
              <a:rPr lang="en-US" altLang="zh-CN" sz="1800" b="0" dirty="0"/>
              <a:t>PC</a:t>
            </a:r>
            <a:r>
              <a:rPr lang="zh-CN" altLang="en-US" sz="1800" b="0" dirty="0"/>
              <a:t>能够通信？</a:t>
            </a:r>
            <a:endParaRPr lang="en-US" altLang="zh-CN" sz="1800" b="0" dirty="0"/>
          </a:p>
          <a:p>
            <a:pPr marL="285750" indent="-285750">
              <a:lnSpc>
                <a:spcPct val="250000"/>
              </a:lnSpc>
              <a:buClr>
                <a:srgbClr val="FF0000"/>
              </a:buClr>
              <a:buSzPct val="80000"/>
              <a:buFont typeface="Wingdings" panose="05000000000000000000" pitchFamily="2" charset="2"/>
              <a:buChar char="u"/>
            </a:pPr>
            <a:r>
              <a:rPr lang="zh-CN" altLang="en-US" sz="1800" dirty="0"/>
              <a:t>任务</a:t>
            </a:r>
            <a:r>
              <a:rPr lang="en-US" altLang="zh-CN" sz="1800" dirty="0"/>
              <a:t>2</a:t>
            </a:r>
            <a:r>
              <a:rPr lang="zh-CN" altLang="en-US" sz="1800" b="0" dirty="0"/>
              <a:t>：修改</a:t>
            </a:r>
            <a:r>
              <a:rPr lang="en-US" altLang="zh-CN" sz="1800" b="0" dirty="0"/>
              <a:t>IP</a:t>
            </a:r>
            <a:r>
              <a:rPr lang="zh-CN" altLang="en-US" sz="1800" b="0" dirty="0"/>
              <a:t>地址和子网掩码，当它们如何配置时，两台</a:t>
            </a:r>
            <a:r>
              <a:rPr lang="en-US" altLang="zh-CN" sz="1800" b="0" dirty="0"/>
              <a:t>PC</a:t>
            </a:r>
            <a:r>
              <a:rPr lang="zh-CN" altLang="en-US" sz="1800" b="0" dirty="0"/>
              <a:t>不能通信？</a:t>
            </a:r>
            <a:endParaRPr lang="en-US" altLang="zh-CN" sz="1800" b="0" dirty="0"/>
          </a:p>
          <a:p>
            <a:pPr marL="285750" indent="-285750">
              <a:lnSpc>
                <a:spcPct val="250000"/>
              </a:lnSpc>
              <a:buClr>
                <a:srgbClr val="FF0000"/>
              </a:buClr>
              <a:buSzPct val="80000"/>
              <a:buFont typeface="Wingdings" panose="05000000000000000000" pitchFamily="2" charset="2"/>
              <a:buChar char="u"/>
            </a:pPr>
            <a:r>
              <a:rPr lang="zh-CN" altLang="en-US" sz="1800" dirty="0"/>
              <a:t>任务</a:t>
            </a:r>
            <a:r>
              <a:rPr lang="en-US" altLang="zh-CN" sz="1800" dirty="0"/>
              <a:t>3</a:t>
            </a:r>
            <a:r>
              <a:rPr lang="zh-CN" altLang="en-US" sz="1800" b="0" dirty="0"/>
              <a:t>：使用</a:t>
            </a:r>
            <a:r>
              <a:rPr lang="en-US" altLang="zh-CN" sz="1800" b="0" dirty="0"/>
              <a:t>Wireshark</a:t>
            </a:r>
            <a:r>
              <a:rPr lang="zh-CN" altLang="en-US" sz="1800" b="0" dirty="0"/>
              <a:t>抓取数据帧，查看帧的构成。</a:t>
            </a:r>
          </a:p>
        </p:txBody>
      </p:sp>
    </p:spTree>
    <p:extLst>
      <p:ext uri="{BB962C8B-B14F-4D97-AF65-F5344CB8AC3E}">
        <p14:creationId xmlns:p14="http://schemas.microsoft.com/office/powerpoint/2010/main" val="1838535940"/>
      </p:ext>
    </p:extLst>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6735</TotalTime>
  <Words>3485</Words>
  <Application>Microsoft Office PowerPoint</Application>
  <PresentationFormat>全屏显示(4:3)</PresentationFormat>
  <Paragraphs>283</Paragraphs>
  <Slides>43</Slides>
  <Notes>18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56" baseType="lpstr">
      <vt:lpstr>FZZhengHeiS-R-GB</vt:lpstr>
      <vt:lpstr>McGrawHill-Italic</vt:lpstr>
      <vt:lpstr>ＭＳ Ｐゴシック</vt:lpstr>
      <vt:lpstr>楷体_GB2312</vt:lpstr>
      <vt:lpstr>宋体</vt:lpstr>
      <vt:lpstr>微软雅黑</vt:lpstr>
      <vt:lpstr>Arial</vt:lpstr>
      <vt:lpstr>Calibri</vt:lpstr>
      <vt:lpstr>Tahoma</vt:lpstr>
      <vt:lpstr>Times New Roman</vt:lpstr>
      <vt:lpstr>Wingdings</vt:lpstr>
      <vt:lpstr>Blends</vt:lpstr>
      <vt:lpstr>Visio</vt:lpstr>
      <vt:lpstr>PowerPoint 演示文稿</vt:lpstr>
      <vt:lpstr>PowerPoint 演示文稿</vt:lpstr>
      <vt:lpstr>以太网的发展历程</vt:lpstr>
      <vt:lpstr>以太网的特征</vt:lpstr>
      <vt:lpstr>IEEE标准</vt:lpstr>
      <vt:lpstr>IEEE802系列协议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最新进展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GY</cp:lastModifiedBy>
  <cp:revision>341</cp:revision>
  <dcterms:created xsi:type="dcterms:W3CDTF">2000-01-15T04:50:39Z</dcterms:created>
  <dcterms:modified xsi:type="dcterms:W3CDTF">2025-02-27T13:27:04Z</dcterms:modified>
</cp:coreProperties>
</file>