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0" r:id="rId1"/>
  </p:sldMasterIdLst>
  <p:notesMasterIdLst>
    <p:notesMasterId r:id="rId49"/>
  </p:notesMasterIdLst>
  <p:handoutMasterIdLst>
    <p:handoutMasterId r:id="rId50"/>
  </p:handoutMasterIdLst>
  <p:sldIdLst>
    <p:sldId id="1199" r:id="rId2"/>
    <p:sldId id="535" r:id="rId3"/>
    <p:sldId id="748" r:id="rId4"/>
    <p:sldId id="749" r:id="rId5"/>
    <p:sldId id="818" r:id="rId6"/>
    <p:sldId id="801" r:id="rId7"/>
    <p:sldId id="820" r:id="rId8"/>
    <p:sldId id="750" r:id="rId9"/>
    <p:sldId id="751" r:id="rId10"/>
    <p:sldId id="752" r:id="rId11"/>
    <p:sldId id="753" r:id="rId12"/>
    <p:sldId id="754" r:id="rId13"/>
    <p:sldId id="822" r:id="rId14"/>
    <p:sldId id="755" r:id="rId15"/>
    <p:sldId id="789" r:id="rId16"/>
    <p:sldId id="756" r:id="rId17"/>
    <p:sldId id="824" r:id="rId18"/>
    <p:sldId id="757" r:id="rId19"/>
    <p:sldId id="826" r:id="rId20"/>
    <p:sldId id="798" r:id="rId21"/>
    <p:sldId id="791" r:id="rId22"/>
    <p:sldId id="762" r:id="rId23"/>
    <p:sldId id="799" r:id="rId24"/>
    <p:sldId id="764" r:id="rId25"/>
    <p:sldId id="765" r:id="rId26"/>
    <p:sldId id="766" r:id="rId27"/>
    <p:sldId id="767" r:id="rId28"/>
    <p:sldId id="746" r:id="rId29"/>
    <p:sldId id="768" r:id="rId30"/>
    <p:sldId id="769" r:id="rId31"/>
    <p:sldId id="770" r:id="rId32"/>
    <p:sldId id="805" r:id="rId33"/>
    <p:sldId id="834" r:id="rId34"/>
    <p:sldId id="827" r:id="rId35"/>
    <p:sldId id="814" r:id="rId36"/>
    <p:sldId id="828" r:id="rId37"/>
    <p:sldId id="829" r:id="rId38"/>
    <p:sldId id="774" r:id="rId39"/>
    <p:sldId id="830" r:id="rId40"/>
    <p:sldId id="775" r:id="rId41"/>
    <p:sldId id="776" r:id="rId42"/>
    <p:sldId id="747" r:id="rId43"/>
    <p:sldId id="779" r:id="rId44"/>
    <p:sldId id="780" r:id="rId45"/>
    <p:sldId id="795" r:id="rId46"/>
    <p:sldId id="797" r:id="rId47"/>
    <p:sldId id="831" r:id="rId48"/>
  </p:sldIdLst>
  <p:sldSz cx="12192000" cy="6858000"/>
  <p:notesSz cx="6858000" cy="9144000"/>
  <p:defaultTextStyle>
    <a:defPPr>
      <a:defRPr lang="en-US"/>
    </a:defPPr>
    <a:lvl1pPr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baseline="-140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baseline="-140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baseline="-140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baseline="-14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B9DCFF"/>
    <a:srgbClr val="99CCFF"/>
    <a:srgbClr val="CCECFF"/>
    <a:srgbClr val="99FF33"/>
    <a:srgbClr val="CCFF99"/>
    <a:srgbClr val="66006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85893" autoAdjust="0"/>
  </p:normalViewPr>
  <p:slideViewPr>
    <p:cSldViewPr>
      <p:cViewPr varScale="1">
        <p:scale>
          <a:sx n="71" d="100"/>
          <a:sy n="71" d="100"/>
        </p:scale>
        <p:origin x="374"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1" d="100"/>
          <a:sy n="51" d="100"/>
        </p:scale>
        <p:origin x="-29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B7F0D70-E7FF-4F07-B4A0-E631A75E83A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B8785264-1335-4082-8842-3F9FCCE9AA93}"/>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C0A59EA3-ED43-4935-94A3-934C27D9284E}" type="datetimeFigureOut">
              <a:rPr lang="zh-CN" altLang="en-US"/>
              <a:pPr>
                <a:defRPr/>
              </a:pPr>
              <a:t>2025-05-29</a:t>
            </a:fld>
            <a:endParaRPr lang="zh-CN" altLang="en-US"/>
          </a:p>
        </p:txBody>
      </p:sp>
      <p:sp>
        <p:nvSpPr>
          <p:cNvPr id="4" name="页脚占位符 3">
            <a:extLst>
              <a:ext uri="{FF2B5EF4-FFF2-40B4-BE49-F238E27FC236}">
                <a16:creationId xmlns:a16="http://schemas.microsoft.com/office/drawing/2014/main" id="{048CCBA9-0F19-4010-8108-7C4DDFA2E34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D647CE5E-DA25-457F-B7F4-9FA98D1F2226}"/>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728C9E74-E0CB-40F9-9DF6-1517477476C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9794" name="Rectangle 2">
            <a:extLst>
              <a:ext uri="{FF2B5EF4-FFF2-40B4-BE49-F238E27FC236}">
                <a16:creationId xmlns:a16="http://schemas.microsoft.com/office/drawing/2014/main" id="{0EDDA478-83E6-4250-BF86-AAC6729553B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aseline="0"/>
            </a:lvl1pPr>
          </a:lstStyle>
          <a:p>
            <a:pPr>
              <a:defRPr/>
            </a:pPr>
            <a:endParaRPr lang="en-US" altLang="zh-CN"/>
          </a:p>
        </p:txBody>
      </p:sp>
      <p:sp>
        <p:nvSpPr>
          <p:cNvPr id="929795" name="Rectangle 3">
            <a:extLst>
              <a:ext uri="{FF2B5EF4-FFF2-40B4-BE49-F238E27FC236}">
                <a16:creationId xmlns:a16="http://schemas.microsoft.com/office/drawing/2014/main" id="{369B7EE8-7F1E-4CD1-9010-B4257E1D02F8}"/>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aseline="0"/>
            </a:lvl1pPr>
          </a:lstStyle>
          <a:p>
            <a:pPr>
              <a:defRPr/>
            </a:pPr>
            <a:endParaRPr lang="en-US" altLang="zh-CN"/>
          </a:p>
        </p:txBody>
      </p:sp>
      <p:sp>
        <p:nvSpPr>
          <p:cNvPr id="3076" name="Rectangle 4">
            <a:extLst>
              <a:ext uri="{FF2B5EF4-FFF2-40B4-BE49-F238E27FC236}">
                <a16:creationId xmlns:a16="http://schemas.microsoft.com/office/drawing/2014/main" id="{58F78C97-A43C-49F3-BD6F-DACFF782D6A5}"/>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9797" name="Rectangle 5">
            <a:extLst>
              <a:ext uri="{FF2B5EF4-FFF2-40B4-BE49-F238E27FC236}">
                <a16:creationId xmlns:a16="http://schemas.microsoft.com/office/drawing/2014/main" id="{0FD595BC-A378-428B-8B8E-183DA29E57A5}"/>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9798" name="Rectangle 6">
            <a:extLst>
              <a:ext uri="{FF2B5EF4-FFF2-40B4-BE49-F238E27FC236}">
                <a16:creationId xmlns:a16="http://schemas.microsoft.com/office/drawing/2014/main" id="{264D0D04-D166-48E9-B3CB-3C122DCCE716}"/>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aseline="0"/>
            </a:lvl1pPr>
          </a:lstStyle>
          <a:p>
            <a:pPr>
              <a:defRPr/>
            </a:pPr>
            <a:endParaRPr lang="en-US" altLang="zh-CN"/>
          </a:p>
        </p:txBody>
      </p:sp>
      <p:sp>
        <p:nvSpPr>
          <p:cNvPr id="929799" name="Rectangle 7">
            <a:extLst>
              <a:ext uri="{FF2B5EF4-FFF2-40B4-BE49-F238E27FC236}">
                <a16:creationId xmlns:a16="http://schemas.microsoft.com/office/drawing/2014/main" id="{3C51638C-4834-4ECA-B23B-096203CE456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aseline="0"/>
            </a:lvl1pPr>
          </a:lstStyle>
          <a:p>
            <a:pPr>
              <a:defRPr/>
            </a:pPr>
            <a:fld id="{11C6C5D1-2BCC-4BCD-9C14-90B9C301E23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738C1C6E-F725-4AB4-9F15-70F3C7B7A7E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4BC7381-0D93-4C7D-AACA-C7DD46F537D0}" type="slidenum">
              <a:rPr lang="en-US" altLang="zh-CN" sz="1200" baseline="0" smtClean="0"/>
              <a:pPr/>
              <a:t>2</a:t>
            </a:fld>
            <a:endParaRPr lang="en-US" altLang="zh-CN" sz="1200" baseline="0"/>
          </a:p>
        </p:txBody>
      </p:sp>
      <p:sp>
        <p:nvSpPr>
          <p:cNvPr id="8195" name="Rectangle 2">
            <a:extLst>
              <a:ext uri="{FF2B5EF4-FFF2-40B4-BE49-F238E27FC236}">
                <a16:creationId xmlns:a16="http://schemas.microsoft.com/office/drawing/2014/main" id="{0B4A6366-5086-4778-B437-C4425DFA0BB1}"/>
              </a:ext>
            </a:extLst>
          </p:cNvPr>
          <p:cNvSpPr>
            <a:spLocks noGrp="1" noRot="1" noChangeAspect="1" noChangeArrowheads="1" noTextEdit="1"/>
          </p:cNvSpPr>
          <p:nvPr>
            <p:ph type="sldImg"/>
          </p:nvPr>
        </p:nvSpPr>
        <p:spPr>
          <a:xfrm>
            <a:off x="381000" y="685800"/>
            <a:ext cx="6096000" cy="3429000"/>
          </a:xfrm>
          <a:ln/>
        </p:spPr>
      </p:sp>
      <p:sp>
        <p:nvSpPr>
          <p:cNvPr id="8196" name="Rectangle 3">
            <a:extLst>
              <a:ext uri="{FF2B5EF4-FFF2-40B4-BE49-F238E27FC236}">
                <a16:creationId xmlns:a16="http://schemas.microsoft.com/office/drawing/2014/main" id="{D7FBAF3E-446D-42BF-A839-3D3B527ED95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0996A734-1C75-4B27-AA12-D6F4FDE4EE4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FF7EC73-5F78-43CC-89C4-824F8FC0D09E}" type="slidenum">
              <a:rPr lang="en-US" altLang="zh-CN" sz="1200" baseline="0" smtClean="0"/>
              <a:pPr/>
              <a:t>3</a:t>
            </a:fld>
            <a:endParaRPr lang="en-US" altLang="zh-CN" sz="1200" baseline="0"/>
          </a:p>
        </p:txBody>
      </p:sp>
      <p:sp>
        <p:nvSpPr>
          <p:cNvPr id="10243" name="Rectangle 2">
            <a:extLst>
              <a:ext uri="{FF2B5EF4-FFF2-40B4-BE49-F238E27FC236}">
                <a16:creationId xmlns:a16="http://schemas.microsoft.com/office/drawing/2014/main" id="{9CDC13DB-3D9B-4917-BA1C-AD93232B49BD}"/>
              </a:ext>
            </a:extLst>
          </p:cNvPr>
          <p:cNvSpPr>
            <a:spLocks noGrp="1" noRot="1" noChangeAspect="1" noChangeArrowheads="1" noTextEdit="1"/>
          </p:cNvSpPr>
          <p:nvPr>
            <p:ph type="sldImg"/>
          </p:nvPr>
        </p:nvSpPr>
        <p:spPr>
          <a:xfrm>
            <a:off x="381000" y="685800"/>
            <a:ext cx="6096000" cy="3429000"/>
          </a:xfrm>
          <a:ln/>
        </p:spPr>
      </p:sp>
      <p:sp>
        <p:nvSpPr>
          <p:cNvPr id="10244" name="Rectangle 3">
            <a:extLst>
              <a:ext uri="{FF2B5EF4-FFF2-40B4-BE49-F238E27FC236}">
                <a16:creationId xmlns:a16="http://schemas.microsoft.com/office/drawing/2014/main" id="{9D588D50-082F-4482-A4C2-FE6A9701A1A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CD13534-CD65-422C-B932-5487E41C6FC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A3C723C-C6D5-4F2F-880B-4D4171B6B188}" type="slidenum">
              <a:rPr lang="en-US" altLang="zh-CN" sz="1200" baseline="0" smtClean="0"/>
              <a:pPr/>
              <a:t>4</a:t>
            </a:fld>
            <a:endParaRPr lang="en-US" altLang="zh-CN" sz="1200" baseline="0"/>
          </a:p>
        </p:txBody>
      </p:sp>
      <p:sp>
        <p:nvSpPr>
          <p:cNvPr id="13315" name="Rectangle 2">
            <a:extLst>
              <a:ext uri="{FF2B5EF4-FFF2-40B4-BE49-F238E27FC236}">
                <a16:creationId xmlns:a16="http://schemas.microsoft.com/office/drawing/2014/main" id="{0683D2A8-AAE8-4EA0-BC0B-C8FBF1727C4C}"/>
              </a:ext>
            </a:extLst>
          </p:cNvPr>
          <p:cNvSpPr>
            <a:spLocks noGrp="1" noRot="1" noChangeAspect="1" noChangeArrowheads="1" noTextEdit="1"/>
          </p:cNvSpPr>
          <p:nvPr>
            <p:ph type="sldImg"/>
          </p:nvPr>
        </p:nvSpPr>
        <p:spPr>
          <a:xfrm>
            <a:off x="381000" y="685800"/>
            <a:ext cx="6096000" cy="3429000"/>
          </a:xfrm>
          <a:ln/>
        </p:spPr>
      </p:sp>
      <p:sp>
        <p:nvSpPr>
          <p:cNvPr id="13316" name="Rectangle 3">
            <a:extLst>
              <a:ext uri="{FF2B5EF4-FFF2-40B4-BE49-F238E27FC236}">
                <a16:creationId xmlns:a16="http://schemas.microsoft.com/office/drawing/2014/main" id="{54E261F1-E1D2-4662-AEF2-F56480BAF60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aseline="0" dirty="0">
                <a:latin typeface="微软雅黑" panose="020B0503020204020204" pitchFamily="34" charset="-122"/>
                <a:ea typeface="微软雅黑" panose="020B0503020204020204" pitchFamily="34" charset="-122"/>
              </a:rPr>
              <a:t>虽然数字信号的真实带宽是无限的，但有效带宽是有限的。是波特率而不是比特率决定了数字信号的带宽，波特率和带宽是有关系的。若给定通道带宽，则可以得到最大数据速率</a:t>
            </a:r>
            <a:endParaRPr lang="en-US" altLang="zh-CN" sz="1200" baseline="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aseline="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aseline="0" dirty="0">
                <a:latin typeface="微软雅黑" panose="020B0503020204020204" pitchFamily="34" charset="-122"/>
                <a:ea typeface="微软雅黑" panose="020B0503020204020204" pitchFamily="34" charset="-122"/>
              </a:rPr>
              <a:t>信号速率指每秒发送的信号元素的数量，单位是波特率</a:t>
            </a:r>
            <a:r>
              <a:rPr lang="en-US" altLang="zh-CN" sz="1200" baseline="0" dirty="0">
                <a:latin typeface="微软雅黑" panose="020B0503020204020204" pitchFamily="34" charset="-122"/>
                <a:ea typeface="微软雅黑" panose="020B0503020204020204" pitchFamily="34" charset="-122"/>
              </a:rPr>
              <a:t>(baud)</a:t>
            </a:r>
            <a:r>
              <a:rPr lang="zh-CN" altLang="en-US" sz="1200" baseline="0" dirty="0">
                <a:latin typeface="微软雅黑" panose="020B0503020204020204" pitchFamily="34" charset="-122"/>
                <a:ea typeface="微软雅黑" panose="020B0503020204020204" pitchFamily="34" charset="-122"/>
              </a:rPr>
              <a:t>，或脉冲速率 </a:t>
            </a:r>
            <a:r>
              <a:rPr lang="en-US" altLang="zh-CN" sz="1200" baseline="0" dirty="0">
                <a:latin typeface="微软雅黑" panose="020B0503020204020204" pitchFamily="34" charset="-122"/>
                <a:ea typeface="微软雅黑" panose="020B0503020204020204" pitchFamily="34" charset="-122"/>
              </a:rPr>
              <a:t>(pulse rate)</a:t>
            </a:r>
            <a:r>
              <a:rPr lang="zh-CN" altLang="en-US" sz="1200" baseline="0" dirty="0">
                <a:latin typeface="微软雅黑" panose="020B0503020204020204" pitchFamily="34" charset="-122"/>
                <a:ea typeface="微软雅黑" panose="020B0503020204020204" pitchFamily="34" charset="-122"/>
              </a:rPr>
              <a:t>、调制速率 </a:t>
            </a:r>
            <a:r>
              <a:rPr lang="en-US" altLang="zh-CN" sz="1200" baseline="0" dirty="0">
                <a:latin typeface="微软雅黑" panose="020B0503020204020204" pitchFamily="34" charset="-122"/>
                <a:ea typeface="微软雅黑" panose="020B0503020204020204" pitchFamily="34" charset="-122"/>
              </a:rPr>
              <a:t>(modulation rate)</a:t>
            </a:r>
            <a:r>
              <a:rPr lang="zh-CN" altLang="en-US" sz="1200" baseline="0" dirty="0">
                <a:latin typeface="微软雅黑" panose="020B0503020204020204" pitchFamily="34" charset="-122"/>
                <a:ea typeface="微软雅黑" panose="020B0503020204020204" pitchFamily="34" charset="-122"/>
              </a:rPr>
              <a:t>、波特率 </a:t>
            </a:r>
            <a:r>
              <a:rPr lang="en-US" altLang="zh-CN" sz="1200" baseline="0" dirty="0">
                <a:latin typeface="微软雅黑" panose="020B0503020204020204" pitchFamily="34" charset="-122"/>
                <a:ea typeface="微软雅黑" panose="020B0503020204020204" pitchFamily="34" charset="-122"/>
              </a:rPr>
              <a:t>(baud rate)</a:t>
            </a:r>
            <a:r>
              <a:rPr lang="zh-CN" altLang="en-US" sz="1200" baseline="0" dirty="0">
                <a:latin typeface="微软雅黑" panose="020B0503020204020204" pitchFamily="34" charset="-122"/>
                <a:ea typeface="微软雅黑" panose="020B0503020204020204" pitchFamily="34" charset="-122"/>
              </a:rPr>
              <a:t>。 </a:t>
            </a:r>
            <a:endParaRPr lang="en-US" altLang="zh-CN" sz="1200" baseline="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aseline="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a:defRPr/>
            </a:pPr>
            <a:fld id="{11C6C5D1-2BCC-4BCD-9C14-90B9C301E236}" type="slidenum">
              <a:rPr lang="en-US" altLang="zh-CN" smtClean="0"/>
              <a:pPr>
                <a:defRPr/>
              </a:pPr>
              <a:t>5</a:t>
            </a:fld>
            <a:endParaRPr lang="en-US" altLang="zh-CN"/>
          </a:p>
        </p:txBody>
      </p:sp>
    </p:spTree>
    <p:extLst>
      <p:ext uri="{BB962C8B-B14F-4D97-AF65-F5344CB8AC3E}">
        <p14:creationId xmlns:p14="http://schemas.microsoft.com/office/powerpoint/2010/main" val="3597650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BCE27F78-E469-4BC7-9D43-DF17DE6790D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AFD7F59-582A-4EEB-AC76-AC8505F399C4}" type="slidenum">
              <a:rPr lang="en-US" altLang="zh-CN" sz="1200" baseline="0" smtClean="0"/>
              <a:pPr/>
              <a:t>6</a:t>
            </a:fld>
            <a:endParaRPr lang="en-US" altLang="zh-CN" sz="1200" baseline="0"/>
          </a:p>
        </p:txBody>
      </p:sp>
      <p:sp>
        <p:nvSpPr>
          <p:cNvPr id="21507" name="Rectangle 2">
            <a:extLst>
              <a:ext uri="{FF2B5EF4-FFF2-40B4-BE49-F238E27FC236}">
                <a16:creationId xmlns:a16="http://schemas.microsoft.com/office/drawing/2014/main" id="{1F17FA30-58D6-46DF-8715-44AB100D1E13}"/>
              </a:ext>
            </a:extLst>
          </p:cNvPr>
          <p:cNvSpPr>
            <a:spLocks noGrp="1" noRot="1" noChangeAspect="1" noChangeArrowheads="1" noTextEdit="1"/>
          </p:cNvSpPr>
          <p:nvPr>
            <p:ph type="sldImg"/>
          </p:nvPr>
        </p:nvSpPr>
        <p:spPr>
          <a:xfrm>
            <a:off x="381000" y="685800"/>
            <a:ext cx="6096000" cy="3429000"/>
          </a:xfrm>
          <a:ln/>
        </p:spPr>
      </p:sp>
      <p:sp>
        <p:nvSpPr>
          <p:cNvPr id="21508" name="Rectangle 3">
            <a:extLst>
              <a:ext uri="{FF2B5EF4-FFF2-40B4-BE49-F238E27FC236}">
                <a16:creationId xmlns:a16="http://schemas.microsoft.com/office/drawing/2014/main" id="{74AC1796-7159-44B7-B740-EE94C2DAEF6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基线偏移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(Baseline Wandering)</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：基线是指接收方收到信号功率的运行平均值。接收方将收到信号的功率与基线进行比较得到信号代表的高低电平，</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的长字串会引起基线偏移，使接收方不能正确地进行解码。</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直流分量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(DC Components)</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：接近于零的频率成为直流分量，会给不允许通过低频率的系统或者使用电子耦合的系统带来问题（如直流信号不能通过电容，不能远距离传输，会造成器件老化等）。</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自同步 </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(Self-synchronization)</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：接收方的位间隔与发送方的位间隔严格对应与匹配。数字信号在传输的数据中包含有定时信息，通常是使用信号中包含有提示接收方起始、中间和结束位置的脉冲的跳变</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(transition)</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a:t>
            </a:r>
          </a:p>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差错检测</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：在发送的码序列中加入适当的冗余度以使接收端能够发现传输中是否发生差错的技术。</a:t>
            </a:r>
          </a:p>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抗噪声和抗干扰</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：接收端按约定的规则对收到的码元序列进行检测以发现或纠正错误，用以提高传输的可靠性。</a:t>
            </a:r>
          </a:p>
          <a:p>
            <a:pPr algn="just">
              <a:lnSpc>
                <a:spcPct val="150000"/>
              </a:lnSpc>
              <a:buClr>
                <a:srgbClr val="FF0000"/>
              </a:buClr>
              <a:buSzPct val="80000"/>
              <a:buFont typeface="Wingdings" panose="05000000000000000000" pitchFamily="2" charset="2"/>
              <a:buChar char="u"/>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复杂性</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：代码量大，实现复杂。</a:t>
            </a:r>
          </a:p>
        </p:txBody>
      </p:sp>
      <p:sp>
        <p:nvSpPr>
          <p:cNvPr id="4" name="灯片编号占位符 3"/>
          <p:cNvSpPr>
            <a:spLocks noGrp="1"/>
          </p:cNvSpPr>
          <p:nvPr>
            <p:ph type="sldNum" sz="quarter" idx="5"/>
          </p:nvPr>
        </p:nvSpPr>
        <p:spPr/>
        <p:txBody>
          <a:bodyPr/>
          <a:lstStyle/>
          <a:p>
            <a:pPr>
              <a:defRPr/>
            </a:pPr>
            <a:fld id="{11C6C5D1-2BCC-4BCD-9C14-90B9C301E236}" type="slidenum">
              <a:rPr lang="en-US" altLang="zh-CN" smtClean="0"/>
              <a:pPr>
                <a:defRPr/>
              </a:pPr>
              <a:t>7</a:t>
            </a:fld>
            <a:endParaRPr lang="en-US" altLang="zh-CN"/>
          </a:p>
        </p:txBody>
      </p:sp>
    </p:spTree>
    <p:extLst>
      <p:ext uri="{BB962C8B-B14F-4D97-AF65-F5344CB8AC3E}">
        <p14:creationId xmlns:p14="http://schemas.microsoft.com/office/powerpoint/2010/main" val="2813144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CA79095-D151-46A8-A1CB-0A6200774F7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55193AE-FFCB-458D-A4A6-4625E191B57A}" type="slidenum">
              <a:rPr lang="en-US" altLang="zh-CN" sz="1200" baseline="0" smtClean="0"/>
              <a:pPr/>
              <a:t>8</a:t>
            </a:fld>
            <a:endParaRPr lang="en-US" altLang="zh-CN" sz="1200" baseline="0"/>
          </a:p>
        </p:txBody>
      </p:sp>
      <p:sp>
        <p:nvSpPr>
          <p:cNvPr id="25603" name="Rectangle 2">
            <a:extLst>
              <a:ext uri="{FF2B5EF4-FFF2-40B4-BE49-F238E27FC236}">
                <a16:creationId xmlns:a16="http://schemas.microsoft.com/office/drawing/2014/main" id="{50F20F42-1B9D-4FE2-84CA-E798471FA12C}"/>
              </a:ext>
            </a:extLst>
          </p:cNvPr>
          <p:cNvSpPr>
            <a:spLocks noGrp="1" noRot="1" noChangeAspect="1" noChangeArrowheads="1" noTextEdit="1"/>
          </p:cNvSpPr>
          <p:nvPr>
            <p:ph type="sldImg"/>
          </p:nvPr>
        </p:nvSpPr>
        <p:spPr>
          <a:xfrm>
            <a:off x="381000" y="685800"/>
            <a:ext cx="6096000" cy="3429000"/>
          </a:xfrm>
          <a:ln/>
        </p:spPr>
      </p:sp>
      <p:sp>
        <p:nvSpPr>
          <p:cNvPr id="25604" name="Rectangle 3">
            <a:extLst>
              <a:ext uri="{FF2B5EF4-FFF2-40B4-BE49-F238E27FC236}">
                <a16:creationId xmlns:a16="http://schemas.microsoft.com/office/drawing/2014/main" id="{0575E091-370E-4130-901A-15321C7A9B5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5A14BDC4-9F4D-4C86-BC71-5EF136242D0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A452D1F-1BF8-4242-A7CE-86150D90AA3F}" type="slidenum">
              <a:rPr lang="en-US" altLang="zh-CN" sz="1200" baseline="0" smtClean="0"/>
              <a:pPr/>
              <a:t>9</a:t>
            </a:fld>
            <a:endParaRPr lang="en-US" altLang="zh-CN" sz="1200" baseline="0"/>
          </a:p>
        </p:txBody>
      </p:sp>
      <p:sp>
        <p:nvSpPr>
          <p:cNvPr id="29699" name="Rectangle 2">
            <a:extLst>
              <a:ext uri="{FF2B5EF4-FFF2-40B4-BE49-F238E27FC236}">
                <a16:creationId xmlns:a16="http://schemas.microsoft.com/office/drawing/2014/main" id="{9063E88B-971C-46A8-B392-A42D0F05A89C}"/>
              </a:ext>
            </a:extLst>
          </p:cNvPr>
          <p:cNvSpPr>
            <a:spLocks noGrp="1" noRot="1" noChangeAspect="1" noChangeArrowheads="1" noTextEdit="1"/>
          </p:cNvSpPr>
          <p:nvPr>
            <p:ph type="sldImg"/>
          </p:nvPr>
        </p:nvSpPr>
        <p:spPr>
          <a:xfrm>
            <a:off x="381000" y="685800"/>
            <a:ext cx="6096000" cy="3429000"/>
          </a:xfrm>
          <a:ln/>
        </p:spPr>
      </p:sp>
      <p:sp>
        <p:nvSpPr>
          <p:cNvPr id="29700" name="Rectangle 3">
            <a:extLst>
              <a:ext uri="{FF2B5EF4-FFF2-40B4-BE49-F238E27FC236}">
                <a16:creationId xmlns:a16="http://schemas.microsoft.com/office/drawing/2014/main" id="{F5CDB091-3890-4D3F-A000-CFE65E9CAD7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BE473D2-29A2-4BD7-83BD-60932C8B250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4D107870-D162-4F54-A995-51ED8036E196}" type="slidenum">
              <a:rPr lang="en-US" altLang="zh-CN" sz="1200" baseline="0" smtClean="0"/>
              <a:pPr/>
              <a:t>10</a:t>
            </a:fld>
            <a:endParaRPr lang="en-US" altLang="zh-CN" sz="1200" baseline="0"/>
          </a:p>
        </p:txBody>
      </p:sp>
      <p:sp>
        <p:nvSpPr>
          <p:cNvPr id="31747" name="Rectangle 2">
            <a:extLst>
              <a:ext uri="{FF2B5EF4-FFF2-40B4-BE49-F238E27FC236}">
                <a16:creationId xmlns:a16="http://schemas.microsoft.com/office/drawing/2014/main" id="{0F455D82-9A4E-414F-909D-C2C040B0A3A9}"/>
              </a:ext>
            </a:extLst>
          </p:cNvPr>
          <p:cNvSpPr>
            <a:spLocks noGrp="1" noRot="1" noChangeAspect="1" noChangeArrowheads="1" noTextEdit="1"/>
          </p:cNvSpPr>
          <p:nvPr>
            <p:ph type="sldImg"/>
          </p:nvPr>
        </p:nvSpPr>
        <p:spPr>
          <a:xfrm>
            <a:off x="381000" y="685800"/>
            <a:ext cx="6096000" cy="3429000"/>
          </a:xfrm>
          <a:ln/>
        </p:spPr>
      </p:sp>
      <p:sp>
        <p:nvSpPr>
          <p:cNvPr id="31748" name="Rectangle 3">
            <a:extLst>
              <a:ext uri="{FF2B5EF4-FFF2-40B4-BE49-F238E27FC236}">
                <a16:creationId xmlns:a16="http://schemas.microsoft.com/office/drawing/2014/main" id="{2C80C3F0-3FA2-4CA3-A022-F8A63FFF0E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E84F481-5A16-4C67-8881-3B71CE58878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EF4CAF6-5302-4772-AD1A-41B19A910752}" type="slidenum">
              <a:rPr lang="en-US" altLang="zh-CN" sz="1200" baseline="0" smtClean="0"/>
              <a:pPr/>
              <a:t>11</a:t>
            </a:fld>
            <a:endParaRPr lang="en-US" altLang="zh-CN" sz="1200" baseline="0"/>
          </a:p>
        </p:txBody>
      </p:sp>
      <p:sp>
        <p:nvSpPr>
          <p:cNvPr id="33795" name="Rectangle 2">
            <a:extLst>
              <a:ext uri="{FF2B5EF4-FFF2-40B4-BE49-F238E27FC236}">
                <a16:creationId xmlns:a16="http://schemas.microsoft.com/office/drawing/2014/main" id="{47220D51-9027-4B44-999D-1687D8ECEC15}"/>
              </a:ext>
            </a:extLst>
          </p:cNvPr>
          <p:cNvSpPr>
            <a:spLocks noGrp="1" noRot="1" noChangeAspect="1" noChangeArrowheads="1" noTextEdit="1"/>
          </p:cNvSpPr>
          <p:nvPr>
            <p:ph type="sldImg"/>
          </p:nvPr>
        </p:nvSpPr>
        <p:spPr>
          <a:xfrm>
            <a:off x="381000" y="685800"/>
            <a:ext cx="6096000" cy="3429000"/>
          </a:xfrm>
          <a:ln/>
        </p:spPr>
      </p:sp>
      <p:sp>
        <p:nvSpPr>
          <p:cNvPr id="33796" name="Rectangle 3">
            <a:extLst>
              <a:ext uri="{FF2B5EF4-FFF2-40B4-BE49-F238E27FC236}">
                <a16:creationId xmlns:a16="http://schemas.microsoft.com/office/drawing/2014/main" id="{27A243B2-5B11-4BAD-A167-901C85C31B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47025B5-062F-4D10-9883-33593D90BCB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6386813-279B-4C67-853D-E7C36CAEDC78}" type="slidenum">
              <a:rPr lang="en-US" altLang="zh-CN" sz="1200" baseline="0" smtClean="0"/>
              <a:pPr/>
              <a:t>12</a:t>
            </a:fld>
            <a:endParaRPr lang="en-US" altLang="zh-CN" sz="1200" baseline="0"/>
          </a:p>
        </p:txBody>
      </p:sp>
      <p:sp>
        <p:nvSpPr>
          <p:cNvPr id="39939" name="Rectangle 2">
            <a:extLst>
              <a:ext uri="{FF2B5EF4-FFF2-40B4-BE49-F238E27FC236}">
                <a16:creationId xmlns:a16="http://schemas.microsoft.com/office/drawing/2014/main" id="{CE5C9E28-E36C-42E4-BF89-3F40280A66DD}"/>
              </a:ext>
            </a:extLst>
          </p:cNvPr>
          <p:cNvSpPr>
            <a:spLocks noGrp="1" noRot="1" noChangeAspect="1" noChangeArrowheads="1" noTextEdit="1"/>
          </p:cNvSpPr>
          <p:nvPr>
            <p:ph type="sldImg"/>
          </p:nvPr>
        </p:nvSpPr>
        <p:spPr>
          <a:xfrm>
            <a:off x="381000" y="685800"/>
            <a:ext cx="6096000" cy="3429000"/>
          </a:xfrm>
          <a:ln/>
        </p:spPr>
      </p:sp>
      <p:sp>
        <p:nvSpPr>
          <p:cNvPr id="39940" name="Rectangle 3">
            <a:extLst>
              <a:ext uri="{FF2B5EF4-FFF2-40B4-BE49-F238E27FC236}">
                <a16:creationId xmlns:a16="http://schemas.microsoft.com/office/drawing/2014/main" id="{301D22BE-7964-484C-8152-A428AD41E70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3A966584-4236-4EF5-AE9F-FDD74A0C240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3BB4BEC-C770-45D9-A74C-A5B203CC02C4}" type="slidenum">
              <a:rPr lang="en-US" altLang="zh-CN" sz="1200" baseline="0" smtClean="0"/>
              <a:pPr/>
              <a:t>14</a:t>
            </a:fld>
            <a:endParaRPr lang="en-US" altLang="zh-CN" sz="1200" baseline="0"/>
          </a:p>
        </p:txBody>
      </p:sp>
      <p:sp>
        <p:nvSpPr>
          <p:cNvPr id="43011" name="Rectangle 2">
            <a:extLst>
              <a:ext uri="{FF2B5EF4-FFF2-40B4-BE49-F238E27FC236}">
                <a16:creationId xmlns:a16="http://schemas.microsoft.com/office/drawing/2014/main" id="{54508C29-26E9-4AC0-B307-7F3EA7B5FC68}"/>
              </a:ext>
            </a:extLst>
          </p:cNvPr>
          <p:cNvSpPr>
            <a:spLocks noGrp="1" noRot="1" noChangeAspect="1" noChangeArrowheads="1" noTextEdit="1"/>
          </p:cNvSpPr>
          <p:nvPr>
            <p:ph type="sldImg"/>
          </p:nvPr>
        </p:nvSpPr>
        <p:spPr>
          <a:xfrm>
            <a:off x="381000" y="685800"/>
            <a:ext cx="6096000" cy="3429000"/>
          </a:xfrm>
          <a:ln/>
        </p:spPr>
      </p:sp>
      <p:sp>
        <p:nvSpPr>
          <p:cNvPr id="43012" name="Rectangle 3">
            <a:extLst>
              <a:ext uri="{FF2B5EF4-FFF2-40B4-BE49-F238E27FC236}">
                <a16:creationId xmlns:a16="http://schemas.microsoft.com/office/drawing/2014/main" id="{11FD5A96-A9E5-4885-835B-76FA24FA9F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566B8344-DE08-4BEE-B646-5FF5A1AFDD1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AFFE9B4-E08E-437E-B41E-9FC9A26ED3BF}" type="slidenum">
              <a:rPr lang="en-US" altLang="zh-CN" sz="1200" baseline="0" smtClean="0"/>
              <a:pPr/>
              <a:t>15</a:t>
            </a:fld>
            <a:endParaRPr lang="en-US" altLang="zh-CN" sz="1200" baseline="0"/>
          </a:p>
        </p:txBody>
      </p:sp>
      <p:sp>
        <p:nvSpPr>
          <p:cNvPr id="47107" name="Rectangle 2">
            <a:extLst>
              <a:ext uri="{FF2B5EF4-FFF2-40B4-BE49-F238E27FC236}">
                <a16:creationId xmlns:a16="http://schemas.microsoft.com/office/drawing/2014/main" id="{0D833A80-AEAA-49B7-8835-2A1C5D0DDE19}"/>
              </a:ext>
            </a:extLst>
          </p:cNvPr>
          <p:cNvSpPr>
            <a:spLocks noGrp="1" noRot="1" noChangeAspect="1" noChangeArrowheads="1" noTextEdit="1"/>
          </p:cNvSpPr>
          <p:nvPr>
            <p:ph type="sldImg"/>
          </p:nvPr>
        </p:nvSpPr>
        <p:spPr>
          <a:xfrm>
            <a:off x="381000" y="685800"/>
            <a:ext cx="6096000" cy="3429000"/>
          </a:xfrm>
          <a:ln/>
        </p:spPr>
      </p:sp>
      <p:sp>
        <p:nvSpPr>
          <p:cNvPr id="47108" name="Rectangle 3">
            <a:extLst>
              <a:ext uri="{FF2B5EF4-FFF2-40B4-BE49-F238E27FC236}">
                <a16:creationId xmlns:a16="http://schemas.microsoft.com/office/drawing/2014/main" id="{CB580D80-0A44-45B5-8F4F-B74FAF161C2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0D2CEFF-5A74-4C81-A0AC-FE6AC781628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9A9EDEA-FC95-49A9-9E99-715BD5BA7BA0}" type="slidenum">
              <a:rPr lang="en-US" altLang="zh-CN" sz="1200" baseline="0" smtClean="0"/>
              <a:pPr/>
              <a:t>16</a:t>
            </a:fld>
            <a:endParaRPr lang="en-US" altLang="zh-CN" sz="1200" baseline="0"/>
          </a:p>
        </p:txBody>
      </p:sp>
      <p:sp>
        <p:nvSpPr>
          <p:cNvPr id="50179" name="Rectangle 2">
            <a:extLst>
              <a:ext uri="{FF2B5EF4-FFF2-40B4-BE49-F238E27FC236}">
                <a16:creationId xmlns:a16="http://schemas.microsoft.com/office/drawing/2014/main" id="{A49EF307-3DFD-44D8-AC3F-3CDEB49DF2FC}"/>
              </a:ext>
            </a:extLst>
          </p:cNvPr>
          <p:cNvSpPr>
            <a:spLocks noGrp="1" noRot="1" noChangeAspect="1" noChangeArrowheads="1" noTextEdit="1"/>
          </p:cNvSpPr>
          <p:nvPr>
            <p:ph type="sldImg"/>
          </p:nvPr>
        </p:nvSpPr>
        <p:spPr>
          <a:xfrm>
            <a:off x="381000" y="685800"/>
            <a:ext cx="6096000" cy="3429000"/>
          </a:xfrm>
          <a:ln/>
        </p:spPr>
      </p:sp>
      <p:sp>
        <p:nvSpPr>
          <p:cNvPr id="50180" name="Rectangle 3">
            <a:extLst>
              <a:ext uri="{FF2B5EF4-FFF2-40B4-BE49-F238E27FC236}">
                <a16:creationId xmlns:a16="http://schemas.microsoft.com/office/drawing/2014/main" id="{4EC8D152-0774-400E-BC97-0B17E378104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8DFC3CDC-F97B-4155-8DDD-F68EAEFDF23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B73EA99-FA81-43D2-8B47-6EB492D1FAE2}" type="slidenum">
              <a:rPr lang="en-US" altLang="zh-CN" sz="1200" baseline="0" smtClean="0"/>
              <a:pPr/>
              <a:t>18</a:t>
            </a:fld>
            <a:endParaRPr lang="en-US" altLang="zh-CN" sz="1200" baseline="0"/>
          </a:p>
        </p:txBody>
      </p:sp>
      <p:sp>
        <p:nvSpPr>
          <p:cNvPr id="55299" name="Rectangle 2">
            <a:extLst>
              <a:ext uri="{FF2B5EF4-FFF2-40B4-BE49-F238E27FC236}">
                <a16:creationId xmlns:a16="http://schemas.microsoft.com/office/drawing/2014/main" id="{F43516CE-B6F6-4CB4-BD18-5A483D01BDF1}"/>
              </a:ext>
            </a:extLst>
          </p:cNvPr>
          <p:cNvSpPr>
            <a:spLocks noGrp="1" noRot="1" noChangeAspect="1" noChangeArrowheads="1" noTextEdit="1"/>
          </p:cNvSpPr>
          <p:nvPr>
            <p:ph type="sldImg"/>
          </p:nvPr>
        </p:nvSpPr>
        <p:spPr>
          <a:xfrm>
            <a:off x="381000" y="685800"/>
            <a:ext cx="6096000" cy="3429000"/>
          </a:xfrm>
          <a:ln/>
        </p:spPr>
      </p:sp>
      <p:sp>
        <p:nvSpPr>
          <p:cNvPr id="55300" name="Rectangle 3">
            <a:extLst>
              <a:ext uri="{FF2B5EF4-FFF2-40B4-BE49-F238E27FC236}">
                <a16:creationId xmlns:a16="http://schemas.microsoft.com/office/drawing/2014/main" id="{371E30D8-0A67-4F65-BE4E-C89CD6406FB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8D4F895B-6C59-496F-9FC9-DCC3C57D3FE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0FA5558-1B67-43FF-98F2-68547BC57AA5}" type="slidenum">
              <a:rPr lang="en-US" altLang="zh-CN" sz="1200" baseline="0" smtClean="0"/>
              <a:pPr/>
              <a:t>20</a:t>
            </a:fld>
            <a:endParaRPr lang="en-US" altLang="zh-CN" sz="1200" baseline="0"/>
          </a:p>
        </p:txBody>
      </p:sp>
      <p:sp>
        <p:nvSpPr>
          <p:cNvPr id="65539" name="Rectangle 2">
            <a:extLst>
              <a:ext uri="{FF2B5EF4-FFF2-40B4-BE49-F238E27FC236}">
                <a16:creationId xmlns:a16="http://schemas.microsoft.com/office/drawing/2014/main" id="{6E9342EF-E7E9-4F8E-ABB4-CCADF21915AA}"/>
              </a:ext>
            </a:extLst>
          </p:cNvPr>
          <p:cNvSpPr>
            <a:spLocks noGrp="1" noRot="1" noChangeAspect="1" noChangeArrowheads="1" noTextEdit="1"/>
          </p:cNvSpPr>
          <p:nvPr>
            <p:ph type="sldImg"/>
          </p:nvPr>
        </p:nvSpPr>
        <p:spPr>
          <a:xfrm>
            <a:off x="381000" y="685800"/>
            <a:ext cx="6096000" cy="3429000"/>
          </a:xfrm>
          <a:ln/>
        </p:spPr>
      </p:sp>
      <p:sp>
        <p:nvSpPr>
          <p:cNvPr id="65540" name="Rectangle 3">
            <a:extLst>
              <a:ext uri="{FF2B5EF4-FFF2-40B4-BE49-F238E27FC236}">
                <a16:creationId xmlns:a16="http://schemas.microsoft.com/office/drawing/2014/main" id="{57BDC7E4-A8E5-4308-8336-91B3BF62A37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4FDB658-90A2-4263-B0F0-25C7FF3E596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8C18102-4D0E-4A77-A616-366808D6FD0C}" type="slidenum">
              <a:rPr lang="en-US" altLang="zh-CN" sz="1200" baseline="0" smtClean="0"/>
              <a:pPr/>
              <a:t>21</a:t>
            </a:fld>
            <a:endParaRPr lang="en-US" altLang="zh-CN" sz="1200" baseline="0"/>
          </a:p>
        </p:txBody>
      </p:sp>
      <p:sp>
        <p:nvSpPr>
          <p:cNvPr id="67587" name="Rectangle 2">
            <a:extLst>
              <a:ext uri="{FF2B5EF4-FFF2-40B4-BE49-F238E27FC236}">
                <a16:creationId xmlns:a16="http://schemas.microsoft.com/office/drawing/2014/main" id="{21FDDEA0-E742-417D-A4CF-CEE129D525DA}"/>
              </a:ext>
            </a:extLst>
          </p:cNvPr>
          <p:cNvSpPr>
            <a:spLocks noGrp="1" noRot="1" noChangeAspect="1" noChangeArrowheads="1" noTextEdit="1"/>
          </p:cNvSpPr>
          <p:nvPr>
            <p:ph type="sldImg"/>
          </p:nvPr>
        </p:nvSpPr>
        <p:spPr>
          <a:xfrm>
            <a:off x="381000" y="685800"/>
            <a:ext cx="6096000" cy="3429000"/>
          </a:xfrm>
          <a:ln/>
        </p:spPr>
      </p:sp>
      <p:sp>
        <p:nvSpPr>
          <p:cNvPr id="67588" name="Rectangle 3">
            <a:extLst>
              <a:ext uri="{FF2B5EF4-FFF2-40B4-BE49-F238E27FC236}">
                <a16:creationId xmlns:a16="http://schemas.microsoft.com/office/drawing/2014/main" id="{9D41A50F-CFEA-453B-BB77-34AAA5956B3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A6BB8A0-79A5-4D78-8056-CDACDDEA733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2FBC2E3-87AF-43CE-B7E5-A7B74FD0F16D}" type="slidenum">
              <a:rPr lang="en-US" altLang="zh-CN" sz="1200" baseline="0" smtClean="0"/>
              <a:pPr/>
              <a:t>22</a:t>
            </a:fld>
            <a:endParaRPr lang="en-US" altLang="zh-CN" sz="1200" baseline="0"/>
          </a:p>
        </p:txBody>
      </p:sp>
      <p:sp>
        <p:nvSpPr>
          <p:cNvPr id="71683" name="Rectangle 2">
            <a:extLst>
              <a:ext uri="{FF2B5EF4-FFF2-40B4-BE49-F238E27FC236}">
                <a16:creationId xmlns:a16="http://schemas.microsoft.com/office/drawing/2014/main" id="{83DFE2B8-E684-4558-A590-E896F43891AA}"/>
              </a:ext>
            </a:extLst>
          </p:cNvPr>
          <p:cNvSpPr>
            <a:spLocks noGrp="1" noRot="1" noChangeAspect="1" noChangeArrowheads="1" noTextEdit="1"/>
          </p:cNvSpPr>
          <p:nvPr>
            <p:ph type="sldImg"/>
          </p:nvPr>
        </p:nvSpPr>
        <p:spPr>
          <a:xfrm>
            <a:off x="381000" y="685800"/>
            <a:ext cx="6096000" cy="3429000"/>
          </a:xfrm>
          <a:ln/>
        </p:spPr>
      </p:sp>
      <p:sp>
        <p:nvSpPr>
          <p:cNvPr id="71684" name="Rectangle 3">
            <a:extLst>
              <a:ext uri="{FF2B5EF4-FFF2-40B4-BE49-F238E27FC236}">
                <a16:creationId xmlns:a16="http://schemas.microsoft.com/office/drawing/2014/main" id="{79611CB6-7450-4FF7-91D6-AD5D12A3084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931D49A-3DF7-45BA-BAC8-7031D62A958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AE41B9A-FF4F-4327-83EA-76841110CD87}" type="slidenum">
              <a:rPr lang="en-US" altLang="zh-CN" sz="1200" baseline="0" smtClean="0"/>
              <a:pPr/>
              <a:t>23</a:t>
            </a:fld>
            <a:endParaRPr lang="en-US" altLang="zh-CN" sz="1200" baseline="0"/>
          </a:p>
        </p:txBody>
      </p:sp>
      <p:sp>
        <p:nvSpPr>
          <p:cNvPr id="73731" name="Rectangle 2">
            <a:extLst>
              <a:ext uri="{FF2B5EF4-FFF2-40B4-BE49-F238E27FC236}">
                <a16:creationId xmlns:a16="http://schemas.microsoft.com/office/drawing/2014/main" id="{74881F8F-38AF-4A34-AC07-11B02C4A7B5D}"/>
              </a:ext>
            </a:extLst>
          </p:cNvPr>
          <p:cNvSpPr>
            <a:spLocks noGrp="1" noRot="1" noChangeAspect="1" noChangeArrowheads="1" noTextEdit="1"/>
          </p:cNvSpPr>
          <p:nvPr>
            <p:ph type="sldImg"/>
          </p:nvPr>
        </p:nvSpPr>
        <p:spPr>
          <a:xfrm>
            <a:off x="381000" y="685800"/>
            <a:ext cx="6096000" cy="3429000"/>
          </a:xfrm>
          <a:ln/>
        </p:spPr>
      </p:sp>
      <p:sp>
        <p:nvSpPr>
          <p:cNvPr id="73732" name="Rectangle 3">
            <a:extLst>
              <a:ext uri="{FF2B5EF4-FFF2-40B4-BE49-F238E27FC236}">
                <a16:creationId xmlns:a16="http://schemas.microsoft.com/office/drawing/2014/main" id="{9E3A5F09-BF48-47CE-9D7D-34D2F1F5782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E62E6F8D-8E3D-4941-BC2C-43217CB89CF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1072754-72F7-48AB-AEEC-977D0D18A4E2}" type="slidenum">
              <a:rPr lang="en-US" altLang="zh-CN" sz="1200" baseline="0" smtClean="0"/>
              <a:pPr/>
              <a:t>24</a:t>
            </a:fld>
            <a:endParaRPr lang="en-US" altLang="zh-CN" sz="1200" baseline="0"/>
          </a:p>
        </p:txBody>
      </p:sp>
      <p:sp>
        <p:nvSpPr>
          <p:cNvPr id="77827" name="Rectangle 2">
            <a:extLst>
              <a:ext uri="{FF2B5EF4-FFF2-40B4-BE49-F238E27FC236}">
                <a16:creationId xmlns:a16="http://schemas.microsoft.com/office/drawing/2014/main" id="{88C48190-5CD1-475A-A5A3-49B808A7EAD3}"/>
              </a:ext>
            </a:extLst>
          </p:cNvPr>
          <p:cNvSpPr>
            <a:spLocks noGrp="1" noRot="1" noChangeAspect="1" noChangeArrowheads="1" noTextEdit="1"/>
          </p:cNvSpPr>
          <p:nvPr>
            <p:ph type="sldImg"/>
          </p:nvPr>
        </p:nvSpPr>
        <p:spPr>
          <a:xfrm>
            <a:off x="381000" y="685800"/>
            <a:ext cx="6096000" cy="3429000"/>
          </a:xfrm>
          <a:ln/>
        </p:spPr>
      </p:sp>
      <p:sp>
        <p:nvSpPr>
          <p:cNvPr id="77828" name="Rectangle 3">
            <a:extLst>
              <a:ext uri="{FF2B5EF4-FFF2-40B4-BE49-F238E27FC236}">
                <a16:creationId xmlns:a16="http://schemas.microsoft.com/office/drawing/2014/main" id="{F98F9320-1299-40D0-A372-C1D8AC442A9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F9058C2-07B3-4EED-884D-0C6DE7E880B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AECB76B2-3F2E-4A0B-B7E0-62133FFE1CAA}" type="slidenum">
              <a:rPr lang="en-US" altLang="zh-CN" sz="1200" baseline="0" smtClean="0"/>
              <a:pPr/>
              <a:t>25</a:t>
            </a:fld>
            <a:endParaRPr lang="en-US" altLang="zh-CN" sz="1200" baseline="0"/>
          </a:p>
        </p:txBody>
      </p:sp>
      <p:sp>
        <p:nvSpPr>
          <p:cNvPr id="79875" name="Rectangle 2">
            <a:extLst>
              <a:ext uri="{FF2B5EF4-FFF2-40B4-BE49-F238E27FC236}">
                <a16:creationId xmlns:a16="http://schemas.microsoft.com/office/drawing/2014/main" id="{252F1E5C-9128-4B7C-8E61-F264BDC6182C}"/>
              </a:ext>
            </a:extLst>
          </p:cNvPr>
          <p:cNvSpPr>
            <a:spLocks noGrp="1" noRot="1" noChangeAspect="1" noChangeArrowheads="1" noTextEdit="1"/>
          </p:cNvSpPr>
          <p:nvPr>
            <p:ph type="sldImg"/>
          </p:nvPr>
        </p:nvSpPr>
        <p:spPr>
          <a:xfrm>
            <a:off x="381000" y="685800"/>
            <a:ext cx="6096000" cy="3429000"/>
          </a:xfrm>
          <a:ln/>
        </p:spPr>
      </p:sp>
      <p:sp>
        <p:nvSpPr>
          <p:cNvPr id="79876" name="Rectangle 3">
            <a:extLst>
              <a:ext uri="{FF2B5EF4-FFF2-40B4-BE49-F238E27FC236}">
                <a16:creationId xmlns:a16="http://schemas.microsoft.com/office/drawing/2014/main" id="{90AED65A-A717-40E5-9DA1-1061C21E7A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D9C1743-72F4-4FE0-A5BD-D79035F21A6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68EAD37-DAF1-4DFD-A1B3-41B524035FC0}" type="slidenum">
              <a:rPr lang="en-US" altLang="zh-CN" sz="1200" baseline="0" smtClean="0"/>
              <a:pPr/>
              <a:t>26</a:t>
            </a:fld>
            <a:endParaRPr lang="en-US" altLang="zh-CN" sz="1200" baseline="0"/>
          </a:p>
        </p:txBody>
      </p:sp>
      <p:sp>
        <p:nvSpPr>
          <p:cNvPr id="81923" name="Rectangle 2">
            <a:extLst>
              <a:ext uri="{FF2B5EF4-FFF2-40B4-BE49-F238E27FC236}">
                <a16:creationId xmlns:a16="http://schemas.microsoft.com/office/drawing/2014/main" id="{ED0063BF-8DFB-4B9C-A76C-614A3580FEA5}"/>
              </a:ext>
            </a:extLst>
          </p:cNvPr>
          <p:cNvSpPr>
            <a:spLocks noGrp="1" noRot="1" noChangeAspect="1" noChangeArrowheads="1" noTextEdit="1"/>
          </p:cNvSpPr>
          <p:nvPr>
            <p:ph type="sldImg"/>
          </p:nvPr>
        </p:nvSpPr>
        <p:spPr>
          <a:xfrm>
            <a:off x="381000" y="685800"/>
            <a:ext cx="6096000" cy="3429000"/>
          </a:xfrm>
          <a:ln/>
        </p:spPr>
      </p:sp>
      <p:sp>
        <p:nvSpPr>
          <p:cNvPr id="81924" name="Rectangle 3">
            <a:extLst>
              <a:ext uri="{FF2B5EF4-FFF2-40B4-BE49-F238E27FC236}">
                <a16:creationId xmlns:a16="http://schemas.microsoft.com/office/drawing/2014/main" id="{585BB878-91D2-4936-86BB-9713E150878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F58C236E-2D84-4AED-9404-3955BA40BF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215C9A6-0DE0-4669-B78C-BDA46C99F99D}" type="slidenum">
              <a:rPr lang="en-US" altLang="zh-CN" sz="1200" baseline="0" smtClean="0"/>
              <a:pPr/>
              <a:t>27</a:t>
            </a:fld>
            <a:endParaRPr lang="en-US" altLang="zh-CN" sz="1200" baseline="0"/>
          </a:p>
        </p:txBody>
      </p:sp>
      <p:sp>
        <p:nvSpPr>
          <p:cNvPr id="83971" name="Rectangle 2">
            <a:extLst>
              <a:ext uri="{FF2B5EF4-FFF2-40B4-BE49-F238E27FC236}">
                <a16:creationId xmlns:a16="http://schemas.microsoft.com/office/drawing/2014/main" id="{1A00B549-D359-4D79-8128-CE772023394B}"/>
              </a:ext>
            </a:extLst>
          </p:cNvPr>
          <p:cNvSpPr>
            <a:spLocks noGrp="1" noRot="1" noChangeAspect="1" noChangeArrowheads="1" noTextEdit="1"/>
          </p:cNvSpPr>
          <p:nvPr>
            <p:ph type="sldImg"/>
          </p:nvPr>
        </p:nvSpPr>
        <p:spPr>
          <a:xfrm>
            <a:off x="381000" y="685800"/>
            <a:ext cx="6096000" cy="3429000"/>
          </a:xfrm>
          <a:ln/>
        </p:spPr>
      </p:sp>
      <p:sp>
        <p:nvSpPr>
          <p:cNvPr id="83972" name="Rectangle 3">
            <a:extLst>
              <a:ext uri="{FF2B5EF4-FFF2-40B4-BE49-F238E27FC236}">
                <a16:creationId xmlns:a16="http://schemas.microsoft.com/office/drawing/2014/main" id="{C6ADE814-2140-429C-81A0-D2014D8916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66ADDA67-D22F-4E88-AB3D-00712A844D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4559158-4883-4B61-96C7-547A281930D7}" type="slidenum">
              <a:rPr lang="en-US" altLang="zh-CN" sz="1200" baseline="0" smtClean="0"/>
              <a:pPr/>
              <a:t>28</a:t>
            </a:fld>
            <a:endParaRPr lang="en-US" altLang="zh-CN" sz="1200" baseline="0"/>
          </a:p>
        </p:txBody>
      </p:sp>
      <p:sp>
        <p:nvSpPr>
          <p:cNvPr id="86019" name="Rectangle 2">
            <a:extLst>
              <a:ext uri="{FF2B5EF4-FFF2-40B4-BE49-F238E27FC236}">
                <a16:creationId xmlns:a16="http://schemas.microsoft.com/office/drawing/2014/main" id="{E115B0B9-A077-4FF5-9976-96CA0FAF8789}"/>
              </a:ext>
            </a:extLst>
          </p:cNvPr>
          <p:cNvSpPr>
            <a:spLocks noGrp="1" noRot="1" noChangeAspect="1" noChangeArrowheads="1" noTextEdit="1"/>
          </p:cNvSpPr>
          <p:nvPr>
            <p:ph type="sldImg"/>
          </p:nvPr>
        </p:nvSpPr>
        <p:spPr>
          <a:xfrm>
            <a:off x="381000" y="685800"/>
            <a:ext cx="6096000" cy="3429000"/>
          </a:xfrm>
          <a:ln/>
        </p:spPr>
      </p:sp>
      <p:sp>
        <p:nvSpPr>
          <p:cNvPr id="86020" name="Rectangle 3">
            <a:extLst>
              <a:ext uri="{FF2B5EF4-FFF2-40B4-BE49-F238E27FC236}">
                <a16:creationId xmlns:a16="http://schemas.microsoft.com/office/drawing/2014/main" id="{5F9311CD-2B05-4098-98BD-3EC98AEB84D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054268F-A502-4B52-8CB2-FC095ECE458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A2737638-134D-47A3-8319-5626A734384D}" type="slidenum">
              <a:rPr lang="en-US" altLang="zh-CN" sz="1200" baseline="0" smtClean="0"/>
              <a:pPr/>
              <a:t>29</a:t>
            </a:fld>
            <a:endParaRPr lang="en-US" altLang="zh-CN" sz="1200" baseline="0"/>
          </a:p>
        </p:txBody>
      </p:sp>
      <p:sp>
        <p:nvSpPr>
          <p:cNvPr id="88067" name="Rectangle 2">
            <a:extLst>
              <a:ext uri="{FF2B5EF4-FFF2-40B4-BE49-F238E27FC236}">
                <a16:creationId xmlns:a16="http://schemas.microsoft.com/office/drawing/2014/main" id="{03506140-CBF1-4B05-9401-72148113015D}"/>
              </a:ext>
            </a:extLst>
          </p:cNvPr>
          <p:cNvSpPr>
            <a:spLocks noGrp="1" noRot="1" noChangeAspect="1" noChangeArrowheads="1" noTextEdit="1"/>
          </p:cNvSpPr>
          <p:nvPr>
            <p:ph type="sldImg"/>
          </p:nvPr>
        </p:nvSpPr>
        <p:spPr>
          <a:xfrm>
            <a:off x="381000" y="685800"/>
            <a:ext cx="6096000" cy="3429000"/>
          </a:xfrm>
          <a:ln/>
        </p:spPr>
      </p:sp>
      <p:sp>
        <p:nvSpPr>
          <p:cNvPr id="88068" name="Rectangle 3">
            <a:extLst>
              <a:ext uri="{FF2B5EF4-FFF2-40B4-BE49-F238E27FC236}">
                <a16:creationId xmlns:a16="http://schemas.microsoft.com/office/drawing/2014/main" id="{43FB6A66-16C2-436B-8ECF-C705DAEA2B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baseline="0" dirty="0">
                <a:latin typeface="微软雅黑" panose="020B0503020204020204" pitchFamily="34" charset="-122"/>
                <a:ea typeface="微软雅黑" panose="020B0503020204020204" pitchFamily="34" charset="-122"/>
              </a:rPr>
              <a:t>PCM</a:t>
            </a:r>
            <a:r>
              <a:rPr lang="zh-CN" altLang="en-US" sz="1200" baseline="0" dirty="0">
                <a:latin typeface="微软雅黑" panose="020B0503020204020204" pitchFamily="34" charset="-122"/>
                <a:ea typeface="微软雅黑" panose="020B0503020204020204" pitchFamily="34" charset="-122"/>
              </a:rPr>
              <a:t>广泛应用于音频和视频领域。在音频方面，被用于音频录制、音频传输（如</a:t>
            </a:r>
            <a:r>
              <a:rPr lang="en-US" altLang="zh-CN" sz="1200" baseline="0" dirty="0">
                <a:latin typeface="微软雅黑" panose="020B0503020204020204" pitchFamily="34" charset="-122"/>
                <a:ea typeface="微软雅黑" panose="020B0503020204020204" pitchFamily="34" charset="-122"/>
              </a:rPr>
              <a:t>CD</a:t>
            </a:r>
            <a:r>
              <a:rPr lang="zh-CN" altLang="en-US" sz="1200" baseline="0" dirty="0">
                <a:latin typeface="微软雅黑" panose="020B0503020204020204" pitchFamily="34" charset="-122"/>
                <a:ea typeface="微软雅黑" panose="020B0503020204020204" pitchFamily="34" charset="-122"/>
              </a:rPr>
              <a:t>、数字音频接口）和音频存储（如</a:t>
            </a:r>
            <a:r>
              <a:rPr lang="en-US" altLang="zh-CN" sz="1200" baseline="0" dirty="0">
                <a:latin typeface="微软雅黑" panose="020B0503020204020204" pitchFamily="34" charset="-122"/>
                <a:ea typeface="微软雅黑" panose="020B0503020204020204" pitchFamily="34" charset="-122"/>
              </a:rPr>
              <a:t>WAV</a:t>
            </a:r>
            <a:r>
              <a:rPr lang="zh-CN" altLang="en-US" sz="1200" baseline="0" dirty="0">
                <a:latin typeface="微软雅黑" panose="020B0503020204020204" pitchFamily="34" charset="-122"/>
                <a:ea typeface="微软雅黑" panose="020B0503020204020204" pitchFamily="34" charset="-122"/>
              </a:rPr>
              <a:t>文件格式）。在视频方面，被用于视频编码中的音频部分，如</a:t>
            </a:r>
            <a:r>
              <a:rPr lang="en-US" altLang="zh-CN" sz="1200" baseline="0" dirty="0">
                <a:latin typeface="微软雅黑" panose="020B0503020204020204" pitchFamily="34" charset="-122"/>
                <a:ea typeface="微软雅黑" panose="020B0503020204020204" pitchFamily="34" charset="-122"/>
              </a:rPr>
              <a:t>AVI</a:t>
            </a:r>
            <a:r>
              <a:rPr lang="zh-CN" altLang="en-US" sz="1200" baseline="0" dirty="0">
                <a:latin typeface="微软雅黑" panose="020B0503020204020204" pitchFamily="34" charset="-122"/>
                <a:ea typeface="微软雅黑" panose="020B0503020204020204" pitchFamily="34" charset="-122"/>
              </a:rPr>
              <a:t>文件格式中的音频编码。</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658B87B-E565-497F-93D1-33B7875B47B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1FB9DB7-9A8B-419B-843B-AE4EBDF8674A}" type="slidenum">
              <a:rPr lang="en-US" altLang="zh-CN" sz="1200" baseline="0" smtClean="0"/>
              <a:pPr/>
              <a:t>30</a:t>
            </a:fld>
            <a:endParaRPr lang="en-US" altLang="zh-CN" sz="1200" baseline="0"/>
          </a:p>
        </p:txBody>
      </p:sp>
      <p:sp>
        <p:nvSpPr>
          <p:cNvPr id="90115" name="Rectangle 2">
            <a:extLst>
              <a:ext uri="{FF2B5EF4-FFF2-40B4-BE49-F238E27FC236}">
                <a16:creationId xmlns:a16="http://schemas.microsoft.com/office/drawing/2014/main" id="{6892C374-41D7-4A8A-934B-02B8956015E5}"/>
              </a:ext>
            </a:extLst>
          </p:cNvPr>
          <p:cNvSpPr>
            <a:spLocks noGrp="1" noRot="1" noChangeAspect="1" noChangeArrowheads="1" noTextEdit="1"/>
          </p:cNvSpPr>
          <p:nvPr>
            <p:ph type="sldImg"/>
          </p:nvPr>
        </p:nvSpPr>
        <p:spPr>
          <a:xfrm>
            <a:off x="381000" y="685800"/>
            <a:ext cx="6096000" cy="3429000"/>
          </a:xfrm>
          <a:ln/>
        </p:spPr>
      </p:sp>
      <p:sp>
        <p:nvSpPr>
          <p:cNvPr id="90116" name="Rectangle 3">
            <a:extLst>
              <a:ext uri="{FF2B5EF4-FFF2-40B4-BE49-F238E27FC236}">
                <a16:creationId xmlns:a16="http://schemas.microsoft.com/office/drawing/2014/main" id="{D2E63265-26EE-4265-B238-4A86F2E27C2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94A53246-DB27-4D53-98BC-60DDF2F65B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D46F0144-8427-4175-9998-E33899CEFF87}" type="slidenum">
              <a:rPr lang="en-US" altLang="zh-CN" sz="1200" baseline="0" smtClean="0"/>
              <a:pPr/>
              <a:t>31</a:t>
            </a:fld>
            <a:endParaRPr lang="en-US" altLang="zh-CN" sz="1200" baseline="0"/>
          </a:p>
        </p:txBody>
      </p:sp>
      <p:sp>
        <p:nvSpPr>
          <p:cNvPr id="94211" name="Rectangle 2">
            <a:extLst>
              <a:ext uri="{FF2B5EF4-FFF2-40B4-BE49-F238E27FC236}">
                <a16:creationId xmlns:a16="http://schemas.microsoft.com/office/drawing/2014/main" id="{36C9CD22-E2AF-4832-A049-24F036579A8B}"/>
              </a:ext>
            </a:extLst>
          </p:cNvPr>
          <p:cNvSpPr>
            <a:spLocks noGrp="1" noRot="1" noChangeAspect="1" noChangeArrowheads="1" noTextEdit="1"/>
          </p:cNvSpPr>
          <p:nvPr>
            <p:ph type="sldImg"/>
          </p:nvPr>
        </p:nvSpPr>
        <p:spPr>
          <a:xfrm>
            <a:off x="381000" y="685800"/>
            <a:ext cx="6096000" cy="3429000"/>
          </a:xfrm>
          <a:ln/>
        </p:spPr>
      </p:sp>
      <p:sp>
        <p:nvSpPr>
          <p:cNvPr id="94212" name="Rectangle 3">
            <a:extLst>
              <a:ext uri="{FF2B5EF4-FFF2-40B4-BE49-F238E27FC236}">
                <a16:creationId xmlns:a16="http://schemas.microsoft.com/office/drawing/2014/main" id="{4DFA2543-E109-4761-A9D2-12CCA5BC575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32F9525E-2899-4BC7-B40D-F32F71AF49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8E4AD74-37D6-4180-9DC7-B2BB5810E082}" type="slidenum">
              <a:rPr lang="en-US" altLang="zh-CN" sz="1200" baseline="0" smtClean="0"/>
              <a:pPr/>
              <a:t>32</a:t>
            </a:fld>
            <a:endParaRPr lang="en-US" altLang="zh-CN" sz="1200" baseline="0"/>
          </a:p>
        </p:txBody>
      </p:sp>
      <p:sp>
        <p:nvSpPr>
          <p:cNvPr id="96259" name="Rectangle 2">
            <a:extLst>
              <a:ext uri="{FF2B5EF4-FFF2-40B4-BE49-F238E27FC236}">
                <a16:creationId xmlns:a16="http://schemas.microsoft.com/office/drawing/2014/main" id="{58587EAC-E158-46D5-9531-219475B94A8E}"/>
              </a:ext>
            </a:extLst>
          </p:cNvPr>
          <p:cNvSpPr>
            <a:spLocks noGrp="1" noRot="1" noChangeAspect="1" noChangeArrowheads="1" noTextEdit="1"/>
          </p:cNvSpPr>
          <p:nvPr>
            <p:ph type="sldImg"/>
          </p:nvPr>
        </p:nvSpPr>
        <p:spPr>
          <a:xfrm>
            <a:off x="381000" y="685800"/>
            <a:ext cx="6096000" cy="3429000"/>
          </a:xfrm>
          <a:ln/>
        </p:spPr>
      </p:sp>
      <p:sp>
        <p:nvSpPr>
          <p:cNvPr id="96260" name="Rectangle 3">
            <a:extLst>
              <a:ext uri="{FF2B5EF4-FFF2-40B4-BE49-F238E27FC236}">
                <a16:creationId xmlns:a16="http://schemas.microsoft.com/office/drawing/2014/main" id="{1142FC32-9C34-4B26-B3F7-2DB7A8ADCA3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F28C9563-27FA-439B-B1BB-41D874952F1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C01D524-49FC-4272-96C3-7A069F8FC1B2}" type="slidenum">
              <a:rPr lang="en-US" altLang="zh-CN" sz="1200" baseline="0" smtClean="0"/>
              <a:pPr/>
              <a:t>33</a:t>
            </a:fld>
            <a:endParaRPr lang="en-US" altLang="zh-CN" sz="1200" baseline="0"/>
          </a:p>
        </p:txBody>
      </p:sp>
      <p:sp>
        <p:nvSpPr>
          <p:cNvPr id="100355" name="Rectangle 2">
            <a:extLst>
              <a:ext uri="{FF2B5EF4-FFF2-40B4-BE49-F238E27FC236}">
                <a16:creationId xmlns:a16="http://schemas.microsoft.com/office/drawing/2014/main" id="{71D9F4DD-E99F-44F7-9437-BCFEC60FCF65}"/>
              </a:ext>
            </a:extLst>
          </p:cNvPr>
          <p:cNvSpPr>
            <a:spLocks noGrp="1" noRot="1" noChangeAspect="1" noChangeArrowheads="1" noTextEdit="1"/>
          </p:cNvSpPr>
          <p:nvPr>
            <p:ph type="sldImg"/>
          </p:nvPr>
        </p:nvSpPr>
        <p:spPr>
          <a:xfrm>
            <a:off x="381000" y="685800"/>
            <a:ext cx="6096000" cy="3429000"/>
          </a:xfrm>
          <a:ln/>
        </p:spPr>
      </p:sp>
      <p:sp>
        <p:nvSpPr>
          <p:cNvPr id="100356" name="Rectangle 3">
            <a:extLst>
              <a:ext uri="{FF2B5EF4-FFF2-40B4-BE49-F238E27FC236}">
                <a16:creationId xmlns:a16="http://schemas.microsoft.com/office/drawing/2014/main" id="{6BA4F54C-A6E6-4C2F-8D45-565D8407644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微软雅黑" panose="020B0503020204020204" pitchFamily="34" charset="-122"/>
                <a:ea typeface="微软雅黑" panose="020B0503020204020204" pitchFamily="34" charset="-122"/>
              </a:rPr>
              <a:t>量化是一个近似过程，输出值与实际输入值之间的差值即为量化误差，量化误差对信号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SNR</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的影响取决于量化等级 </a:t>
            </a:r>
            <a:r>
              <a:rPr lang="en-US" altLang="zh-CN" sz="1200" b="1" i="1" dirty="0">
                <a:latin typeface="Times New Roman" panose="02020603050405020304" pitchFamily="18" charset="0"/>
                <a:ea typeface="+mn-ea"/>
                <a:cs typeface="Times New Roman" panose="02020603050405020304" pitchFamily="18" charset="0"/>
              </a:rPr>
              <a:t>L</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或每个样本位数 </a:t>
            </a:r>
            <a:r>
              <a:rPr lang="en-US" altLang="zh-CN" sz="1200" b="1" i="1" dirty="0" err="1">
                <a:latin typeface="Times New Roman" panose="02020603050405020304" pitchFamily="18" charset="0"/>
                <a:ea typeface="+mn-ea"/>
                <a:cs typeface="Times New Roman" panose="02020603050405020304" pitchFamily="18" charset="0"/>
              </a:rPr>
              <a:t>n</a:t>
            </a:r>
            <a:r>
              <a:rPr lang="en-US" altLang="zh-CN" sz="1200" b="1" i="1" baseline="-25000" dirty="0" err="1">
                <a:latin typeface="Times New Roman" panose="02020603050405020304" pitchFamily="18" charset="0"/>
                <a:ea typeface="+mn-ea"/>
                <a:cs typeface="Times New Roman" panose="02020603050405020304" pitchFamily="18" charset="0"/>
              </a:rPr>
              <a:t>b</a:t>
            </a:r>
            <a:r>
              <a:rPr lang="zh-CN" altLang="en-US" sz="1200" b="1" dirty="0">
                <a:latin typeface="Times New Roman" panose="02020603050405020304" pitchFamily="18" charset="0"/>
                <a:ea typeface="+mn-ea"/>
                <a:cs typeface="Times New Roman" panose="02020603050405020304" pitchFamily="18" charset="0"/>
              </a:rPr>
              <a:t>。</a:t>
            </a:r>
            <a:r>
              <a:rPr lang="zh-CN" altLang="en-US" sz="1200" dirty="0">
                <a:latin typeface="微软雅黑" panose="020B0503020204020204" pitchFamily="34" charset="-122"/>
                <a:ea typeface="微软雅黑" panose="020B0503020204020204" pitchFamily="34" charset="-122"/>
              </a:rPr>
              <a:t>常用的量化方法是线性量化，即将模拟信号值均匀地映射到量化级别。线性量化可简化编码和解码过程，但在低信号强度区域可能会浪费比特，而在高信号强度区域可能会引入较大的量化误差。为了解决这个问题，可使用非线性量化方法，在低信号强度区域提供更高的量化精度，而在高信号强度区域提供较低的量化精度。 </a:t>
            </a:r>
          </a:p>
        </p:txBody>
      </p:sp>
      <p:sp>
        <p:nvSpPr>
          <p:cNvPr id="4" name="灯片编号占位符 3"/>
          <p:cNvSpPr>
            <a:spLocks noGrp="1"/>
          </p:cNvSpPr>
          <p:nvPr>
            <p:ph type="sldNum" sz="quarter" idx="5"/>
          </p:nvPr>
        </p:nvSpPr>
        <p:spPr/>
        <p:txBody>
          <a:bodyPr/>
          <a:lstStyle/>
          <a:p>
            <a:pPr>
              <a:defRPr/>
            </a:pPr>
            <a:fld id="{11C6C5D1-2BCC-4BCD-9C14-90B9C301E236}" type="slidenum">
              <a:rPr lang="en-US" altLang="zh-CN" smtClean="0"/>
              <a:pPr>
                <a:defRPr/>
              </a:pPr>
              <a:t>34</a:t>
            </a:fld>
            <a:endParaRPr lang="en-US" altLang="zh-CN"/>
          </a:p>
        </p:txBody>
      </p:sp>
    </p:spTree>
    <p:extLst>
      <p:ext uri="{BB962C8B-B14F-4D97-AF65-F5344CB8AC3E}">
        <p14:creationId xmlns:p14="http://schemas.microsoft.com/office/powerpoint/2010/main" val="735053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48B242E0-5486-4162-B14B-B2F3EF77945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3A7C2F7-4CD2-4CBF-84D9-5B42D5A3084C}" type="slidenum">
              <a:rPr lang="en-US" altLang="zh-CN" sz="1200" baseline="0" smtClean="0"/>
              <a:pPr/>
              <a:t>35</a:t>
            </a:fld>
            <a:endParaRPr lang="en-US" altLang="zh-CN" sz="1200" baseline="0"/>
          </a:p>
        </p:txBody>
      </p:sp>
      <p:sp>
        <p:nvSpPr>
          <p:cNvPr id="109571" name="Rectangle 2">
            <a:extLst>
              <a:ext uri="{FF2B5EF4-FFF2-40B4-BE49-F238E27FC236}">
                <a16:creationId xmlns:a16="http://schemas.microsoft.com/office/drawing/2014/main" id="{C79469BC-1AC8-44C1-93BC-21429E895E10}"/>
              </a:ext>
            </a:extLst>
          </p:cNvPr>
          <p:cNvSpPr>
            <a:spLocks noGrp="1" noRot="1" noChangeAspect="1" noChangeArrowheads="1" noTextEdit="1"/>
          </p:cNvSpPr>
          <p:nvPr>
            <p:ph type="sldImg"/>
          </p:nvPr>
        </p:nvSpPr>
        <p:spPr>
          <a:xfrm>
            <a:off x="381000" y="685800"/>
            <a:ext cx="6096000" cy="3429000"/>
          </a:xfrm>
          <a:ln/>
        </p:spPr>
      </p:sp>
      <p:sp>
        <p:nvSpPr>
          <p:cNvPr id="109572" name="Rectangle 3">
            <a:extLst>
              <a:ext uri="{FF2B5EF4-FFF2-40B4-BE49-F238E27FC236}">
                <a16:creationId xmlns:a16="http://schemas.microsoft.com/office/drawing/2014/main" id="{C2CAE9FF-0581-469C-ACE9-5E2658ACF64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5C209D6F-6224-4A7B-85DD-B9A0AD1C57A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9F5CB03-4540-49DD-A072-4751467C9E0E}" type="slidenum">
              <a:rPr lang="en-US" altLang="zh-CN" sz="1200" baseline="0" smtClean="0"/>
              <a:pPr/>
              <a:t>38</a:t>
            </a:fld>
            <a:endParaRPr lang="en-US" altLang="zh-CN" sz="1200" baseline="0"/>
          </a:p>
        </p:txBody>
      </p:sp>
      <p:sp>
        <p:nvSpPr>
          <p:cNvPr id="118787" name="Rectangle 2">
            <a:extLst>
              <a:ext uri="{FF2B5EF4-FFF2-40B4-BE49-F238E27FC236}">
                <a16:creationId xmlns:a16="http://schemas.microsoft.com/office/drawing/2014/main" id="{82048C2F-5419-43CE-A333-F630A2AC0C9E}"/>
              </a:ext>
            </a:extLst>
          </p:cNvPr>
          <p:cNvSpPr>
            <a:spLocks noGrp="1" noRot="1" noChangeAspect="1" noChangeArrowheads="1" noTextEdit="1"/>
          </p:cNvSpPr>
          <p:nvPr>
            <p:ph type="sldImg"/>
          </p:nvPr>
        </p:nvSpPr>
        <p:spPr>
          <a:xfrm>
            <a:off x="381000" y="685800"/>
            <a:ext cx="6096000" cy="3429000"/>
          </a:xfrm>
          <a:ln/>
        </p:spPr>
      </p:sp>
      <p:sp>
        <p:nvSpPr>
          <p:cNvPr id="118788" name="Rectangle 3">
            <a:extLst>
              <a:ext uri="{FF2B5EF4-FFF2-40B4-BE49-F238E27FC236}">
                <a16:creationId xmlns:a16="http://schemas.microsoft.com/office/drawing/2014/main" id="{57F3FEA9-CFAF-44F7-A368-E5A017643F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4A797B05-6A8F-42A4-B0EB-6BC66AFB649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F2AC239-EA56-479D-83AE-2B846209E4C4}" type="slidenum">
              <a:rPr lang="en-US" altLang="zh-CN" sz="1200" baseline="0" smtClean="0"/>
              <a:pPr/>
              <a:t>40</a:t>
            </a:fld>
            <a:endParaRPr lang="en-US" altLang="zh-CN" sz="1200" baseline="0"/>
          </a:p>
        </p:txBody>
      </p:sp>
      <p:sp>
        <p:nvSpPr>
          <p:cNvPr id="123907" name="Rectangle 2">
            <a:extLst>
              <a:ext uri="{FF2B5EF4-FFF2-40B4-BE49-F238E27FC236}">
                <a16:creationId xmlns:a16="http://schemas.microsoft.com/office/drawing/2014/main" id="{44B62F17-0C19-4DAA-8093-4B9C5DEDEE30}"/>
              </a:ext>
            </a:extLst>
          </p:cNvPr>
          <p:cNvSpPr>
            <a:spLocks noGrp="1" noRot="1" noChangeAspect="1" noChangeArrowheads="1" noTextEdit="1"/>
          </p:cNvSpPr>
          <p:nvPr>
            <p:ph type="sldImg"/>
          </p:nvPr>
        </p:nvSpPr>
        <p:spPr>
          <a:xfrm>
            <a:off x="381000" y="685800"/>
            <a:ext cx="6096000" cy="3429000"/>
          </a:xfrm>
          <a:ln/>
        </p:spPr>
      </p:sp>
      <p:sp>
        <p:nvSpPr>
          <p:cNvPr id="123908" name="Rectangle 3">
            <a:extLst>
              <a:ext uri="{FF2B5EF4-FFF2-40B4-BE49-F238E27FC236}">
                <a16:creationId xmlns:a16="http://schemas.microsoft.com/office/drawing/2014/main" id="{C29DCB66-2639-4CA5-80C6-1B9B03A062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sz="1200" baseline="0" dirty="0">
                <a:solidFill>
                  <a:srgbClr val="333333"/>
                </a:solidFill>
                <a:latin typeface="微软雅黑" panose="020B0503020204020204" pitchFamily="34" charset="-122"/>
                <a:ea typeface="微软雅黑" panose="020B0503020204020204" pitchFamily="34" charset="-122"/>
              </a:rPr>
              <a:t>PCM</a:t>
            </a:r>
            <a:r>
              <a:rPr lang="zh-CN" altLang="en-US" sz="1200" baseline="0" dirty="0">
                <a:solidFill>
                  <a:srgbClr val="333333"/>
                </a:solidFill>
                <a:latin typeface="微软雅黑" panose="020B0503020204020204" pitchFamily="34" charset="-122"/>
                <a:ea typeface="微软雅黑" panose="020B0503020204020204" pitchFamily="34" charset="-122"/>
              </a:rPr>
              <a:t>具有将信号直接转换成二进制编码脉冲序列的特性，增加了系统的带宽要求。为了解决这个问题，采用了增量调制。</a:t>
            </a:r>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14150990-0B58-49AB-8F1C-72DCD97B8E1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CA25535-DF48-41C0-86B0-7E1C23D23E73}" type="slidenum">
              <a:rPr lang="en-US" altLang="zh-CN" sz="1200" baseline="0" smtClean="0"/>
              <a:pPr/>
              <a:t>41</a:t>
            </a:fld>
            <a:endParaRPr lang="en-US" altLang="zh-CN" sz="1200" baseline="0"/>
          </a:p>
        </p:txBody>
      </p:sp>
      <p:sp>
        <p:nvSpPr>
          <p:cNvPr id="125955" name="Rectangle 2">
            <a:extLst>
              <a:ext uri="{FF2B5EF4-FFF2-40B4-BE49-F238E27FC236}">
                <a16:creationId xmlns:a16="http://schemas.microsoft.com/office/drawing/2014/main" id="{08F873D2-6C3E-4051-AEB3-ED28C1EAB8CF}"/>
              </a:ext>
            </a:extLst>
          </p:cNvPr>
          <p:cNvSpPr>
            <a:spLocks noGrp="1" noRot="1" noChangeAspect="1" noChangeArrowheads="1" noTextEdit="1"/>
          </p:cNvSpPr>
          <p:nvPr>
            <p:ph type="sldImg"/>
          </p:nvPr>
        </p:nvSpPr>
        <p:spPr>
          <a:xfrm>
            <a:off x="381000" y="685800"/>
            <a:ext cx="6096000" cy="3429000"/>
          </a:xfrm>
          <a:ln/>
        </p:spPr>
      </p:sp>
      <p:sp>
        <p:nvSpPr>
          <p:cNvPr id="125956" name="Rectangle 3">
            <a:extLst>
              <a:ext uri="{FF2B5EF4-FFF2-40B4-BE49-F238E27FC236}">
                <a16:creationId xmlns:a16="http://schemas.microsoft.com/office/drawing/2014/main" id="{AD56B24B-72E2-44BC-A19B-947EAED8E9A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4C3E1920-5E19-4033-BFD7-3F5BC694BA4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6B09F98-5E7F-4778-9F66-D9259C1B368C}" type="slidenum">
              <a:rPr lang="en-US" altLang="zh-CN" sz="1200" baseline="0" smtClean="0"/>
              <a:pPr/>
              <a:t>42</a:t>
            </a:fld>
            <a:endParaRPr lang="en-US" altLang="zh-CN" sz="1200" baseline="0"/>
          </a:p>
        </p:txBody>
      </p:sp>
      <p:sp>
        <p:nvSpPr>
          <p:cNvPr id="130051" name="Rectangle 2">
            <a:extLst>
              <a:ext uri="{FF2B5EF4-FFF2-40B4-BE49-F238E27FC236}">
                <a16:creationId xmlns:a16="http://schemas.microsoft.com/office/drawing/2014/main" id="{A4FC60DA-6B3F-4443-8C1F-D736BD4E1A9C}"/>
              </a:ext>
            </a:extLst>
          </p:cNvPr>
          <p:cNvSpPr>
            <a:spLocks noGrp="1" noRot="1" noChangeAspect="1" noChangeArrowheads="1" noTextEdit="1"/>
          </p:cNvSpPr>
          <p:nvPr>
            <p:ph type="sldImg"/>
          </p:nvPr>
        </p:nvSpPr>
        <p:spPr>
          <a:xfrm>
            <a:off x="381000" y="685800"/>
            <a:ext cx="6096000" cy="3429000"/>
          </a:xfrm>
          <a:ln/>
        </p:spPr>
      </p:sp>
      <p:sp>
        <p:nvSpPr>
          <p:cNvPr id="130052" name="Rectangle 3">
            <a:extLst>
              <a:ext uri="{FF2B5EF4-FFF2-40B4-BE49-F238E27FC236}">
                <a16:creationId xmlns:a16="http://schemas.microsoft.com/office/drawing/2014/main" id="{6EFD70D0-ED6C-4C27-9662-ACC1B207AD2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B2713FB1-DB9A-49D3-A298-EC2251E9BF1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86C086E-426A-429A-9898-75D8FAC092B8}" type="slidenum">
              <a:rPr lang="en-US" altLang="zh-CN" sz="1200" baseline="0" smtClean="0"/>
              <a:pPr/>
              <a:t>43</a:t>
            </a:fld>
            <a:endParaRPr lang="en-US" altLang="zh-CN" sz="1200" baseline="0"/>
          </a:p>
        </p:txBody>
      </p:sp>
      <p:sp>
        <p:nvSpPr>
          <p:cNvPr id="134147" name="Rectangle 2">
            <a:extLst>
              <a:ext uri="{FF2B5EF4-FFF2-40B4-BE49-F238E27FC236}">
                <a16:creationId xmlns:a16="http://schemas.microsoft.com/office/drawing/2014/main" id="{5512DEB0-F182-45AB-B375-AD918D16DA06}"/>
              </a:ext>
            </a:extLst>
          </p:cNvPr>
          <p:cNvSpPr>
            <a:spLocks noGrp="1" noRot="1" noChangeAspect="1" noChangeArrowheads="1" noTextEdit="1"/>
          </p:cNvSpPr>
          <p:nvPr>
            <p:ph type="sldImg"/>
          </p:nvPr>
        </p:nvSpPr>
        <p:spPr>
          <a:xfrm>
            <a:off x="381000" y="685800"/>
            <a:ext cx="6096000" cy="3429000"/>
          </a:xfrm>
          <a:ln/>
        </p:spPr>
      </p:sp>
      <p:sp>
        <p:nvSpPr>
          <p:cNvPr id="134148" name="Rectangle 3">
            <a:extLst>
              <a:ext uri="{FF2B5EF4-FFF2-40B4-BE49-F238E27FC236}">
                <a16:creationId xmlns:a16="http://schemas.microsoft.com/office/drawing/2014/main" id="{45631C50-0970-44A8-BB03-5BA73EBCE62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AB1FD88A-695D-4B1D-A766-6708C2ECA3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BAC6662-CC46-445F-8479-60223C23C7A0}" type="slidenum">
              <a:rPr lang="en-US" altLang="zh-CN" sz="1200" baseline="0" smtClean="0"/>
              <a:pPr/>
              <a:t>44</a:t>
            </a:fld>
            <a:endParaRPr lang="en-US" altLang="zh-CN" sz="1200" baseline="0"/>
          </a:p>
        </p:txBody>
      </p:sp>
      <p:sp>
        <p:nvSpPr>
          <p:cNvPr id="136195" name="Rectangle 2">
            <a:extLst>
              <a:ext uri="{FF2B5EF4-FFF2-40B4-BE49-F238E27FC236}">
                <a16:creationId xmlns:a16="http://schemas.microsoft.com/office/drawing/2014/main" id="{2909E176-BA51-4613-BEF7-2BFC164921DF}"/>
              </a:ext>
            </a:extLst>
          </p:cNvPr>
          <p:cNvSpPr>
            <a:spLocks noGrp="1" noRot="1" noChangeAspect="1" noChangeArrowheads="1" noTextEdit="1"/>
          </p:cNvSpPr>
          <p:nvPr>
            <p:ph type="sldImg"/>
          </p:nvPr>
        </p:nvSpPr>
        <p:spPr>
          <a:xfrm>
            <a:off x="381000" y="685800"/>
            <a:ext cx="6096000" cy="3429000"/>
          </a:xfrm>
          <a:ln/>
        </p:spPr>
      </p:sp>
      <p:sp>
        <p:nvSpPr>
          <p:cNvPr id="136196" name="Rectangle 3">
            <a:extLst>
              <a:ext uri="{FF2B5EF4-FFF2-40B4-BE49-F238E27FC236}">
                <a16:creationId xmlns:a16="http://schemas.microsoft.com/office/drawing/2014/main" id="{65D73D43-B247-4A1F-8651-1D594F5A304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FF5633F7-FC6C-4397-8D9E-70503B5492B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1A9342F-71A7-40EE-A3C0-04209ED3D1B0}" type="slidenum">
              <a:rPr lang="en-US" altLang="zh-CN" sz="1200" baseline="0" smtClean="0"/>
              <a:pPr/>
              <a:t>45</a:t>
            </a:fld>
            <a:endParaRPr lang="en-US" altLang="zh-CN" sz="1200" baseline="0"/>
          </a:p>
        </p:txBody>
      </p:sp>
      <p:sp>
        <p:nvSpPr>
          <p:cNvPr id="138243" name="Rectangle 2">
            <a:extLst>
              <a:ext uri="{FF2B5EF4-FFF2-40B4-BE49-F238E27FC236}">
                <a16:creationId xmlns:a16="http://schemas.microsoft.com/office/drawing/2014/main" id="{BDF80B16-9C55-4D7A-AE0D-EE79A94DFF16}"/>
              </a:ext>
            </a:extLst>
          </p:cNvPr>
          <p:cNvSpPr>
            <a:spLocks noGrp="1" noRot="1" noChangeAspect="1" noChangeArrowheads="1" noTextEdit="1"/>
          </p:cNvSpPr>
          <p:nvPr>
            <p:ph type="sldImg"/>
          </p:nvPr>
        </p:nvSpPr>
        <p:spPr>
          <a:xfrm>
            <a:off x="381000" y="685800"/>
            <a:ext cx="6096000" cy="3429000"/>
          </a:xfrm>
          <a:ln/>
        </p:spPr>
      </p:sp>
      <p:sp>
        <p:nvSpPr>
          <p:cNvPr id="138244" name="Rectangle 3">
            <a:extLst>
              <a:ext uri="{FF2B5EF4-FFF2-40B4-BE49-F238E27FC236}">
                <a16:creationId xmlns:a16="http://schemas.microsoft.com/office/drawing/2014/main" id="{ED5E99C2-D1A0-4C3A-8132-03C1582B4D1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kumimoji="0" lang="zh-CN"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常见的异步传输的例子是电脑键盘和主机之间的传输。异步传输的实现比较容易，由于每个信息都加上了“同步”信息，每个小组都要添加开始位和结束位，会产生较大的开销。</a:t>
            </a:r>
            <a:endPar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eaLnBrk="1" hangingPunct="1"/>
            <a:endPar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aseline="0" dirty="0">
                <a:latin typeface="微软雅黑" panose="020B0503020204020204" pitchFamily="34" charset="-122"/>
                <a:ea typeface="微软雅黑" panose="020B0503020204020204" pitchFamily="34" charset="-122"/>
              </a:rPr>
              <a:t>在异步传输中信号的时序并不重要，信息的接收和转换通过约定的模式进行，即将位流组成字节作为一个单位进行传输，而接收方不知道什么时候这些字节会到达。为了使接收方知道什么时候消息到达，在不接收消息的时候，接送方通常接收的都是高电平即“</a:t>
            </a:r>
            <a:r>
              <a:rPr lang="en-US" altLang="zh-CN" sz="1200" baseline="0" dirty="0">
                <a:latin typeface="微软雅黑" panose="020B0503020204020204" pitchFamily="34" charset="-122"/>
                <a:ea typeface="微软雅黑" panose="020B0503020204020204" pitchFamily="34" charset="-122"/>
              </a:rPr>
              <a:t>1”</a:t>
            </a:r>
            <a:r>
              <a:rPr lang="zh-CN" altLang="en-US" sz="1200" baseline="0" dirty="0">
                <a:latin typeface="微软雅黑" panose="020B0503020204020204" pitchFamily="34" charset="-122"/>
                <a:ea typeface="微软雅黑" panose="020B0503020204020204" pitchFamily="34" charset="-122"/>
              </a:rPr>
              <a:t>。在有消息到达之前，会有一个起始位“</a:t>
            </a:r>
            <a:r>
              <a:rPr lang="en-US" altLang="zh-CN" sz="1200" baseline="0" dirty="0">
                <a:latin typeface="微软雅黑" panose="020B0503020204020204" pitchFamily="34" charset="-122"/>
                <a:ea typeface="微软雅黑" panose="020B0503020204020204" pitchFamily="34" charset="-122"/>
              </a:rPr>
              <a:t>0</a:t>
            </a:r>
            <a:r>
              <a:rPr lang="zh-CN" altLang="en-US" sz="1200" baseline="0" dirty="0">
                <a:latin typeface="微软雅黑" panose="020B0503020204020204" pitchFamily="34" charset="-122"/>
                <a:ea typeface="微软雅黑" panose="020B0503020204020204" pitchFamily="34" charset="-122"/>
              </a:rPr>
              <a:t>”先发送到接送方，提醒接收方数据已经到达了，给予接收方响应、接收和缓存数据比特的时间。在传输结束时，会有一个终止位“</a:t>
            </a:r>
            <a:r>
              <a:rPr lang="en-US" altLang="zh-CN" sz="1200" baseline="0" dirty="0">
                <a:latin typeface="微软雅黑" panose="020B0503020204020204" pitchFamily="34" charset="-122"/>
                <a:ea typeface="微软雅黑" panose="020B0503020204020204" pitchFamily="34" charset="-122"/>
              </a:rPr>
              <a:t>1</a:t>
            </a:r>
            <a:r>
              <a:rPr lang="zh-CN" altLang="en-US" sz="1200" baseline="0" dirty="0">
                <a:latin typeface="微软雅黑" panose="020B0503020204020204" pitchFamily="34" charset="-122"/>
                <a:ea typeface="微软雅黑" panose="020B0503020204020204" pitchFamily="34" charset="-122"/>
              </a:rPr>
              <a:t>”表示传输结束。在异步传输中没有同步时钟，异步在这里是指在</a:t>
            </a:r>
            <a:r>
              <a:rPr lang="zh-CN" altLang="en-US" sz="1200" b="1" baseline="0" dirty="0">
                <a:solidFill>
                  <a:srgbClr val="FF0000"/>
                </a:solidFill>
                <a:latin typeface="微软雅黑" panose="020B0503020204020204" pitchFamily="34" charset="-122"/>
                <a:ea typeface="微软雅黑" panose="020B0503020204020204" pitchFamily="34" charset="-122"/>
              </a:rPr>
              <a:t>字节级上的异步</a:t>
            </a:r>
            <a:r>
              <a:rPr lang="zh-CN" altLang="en-US" sz="1200" baseline="0" dirty="0">
                <a:latin typeface="微软雅黑" panose="020B0503020204020204" pitchFamily="34" charset="-122"/>
                <a:ea typeface="微软雅黑" panose="020B0503020204020204" pitchFamily="34" charset="-122"/>
              </a:rPr>
              <a:t>，但是</a:t>
            </a:r>
            <a:r>
              <a:rPr lang="zh-CN" altLang="en-US" sz="1200" b="1" baseline="0" dirty="0">
                <a:solidFill>
                  <a:srgbClr val="FF0000"/>
                </a:solidFill>
                <a:latin typeface="微软雅黑" panose="020B0503020204020204" pitchFamily="34" charset="-122"/>
                <a:ea typeface="微软雅黑" panose="020B0503020204020204" pitchFamily="34" charset="-122"/>
              </a:rPr>
              <a:t>每位仍然要同步</a:t>
            </a:r>
            <a:r>
              <a:rPr lang="zh-CN" altLang="en-US" sz="1200" baseline="0" dirty="0">
                <a:latin typeface="微软雅黑" panose="020B0503020204020204" pitchFamily="34" charset="-122"/>
                <a:ea typeface="微软雅黑" panose="020B0503020204020204" pitchFamily="34" charset="-122"/>
              </a:rPr>
              <a:t>，它们的持续时间是相同的。</a:t>
            </a:r>
            <a:r>
              <a:rPr kumimoji="0" lang="zh-CN" altLang="zh-CN"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03225BFB-F3CF-4CFD-93E5-AEE4948B6DC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7D93FF2-BC98-44C5-85BC-CB3C916BF262}" type="slidenum">
              <a:rPr lang="en-US" altLang="zh-CN" sz="1200" baseline="0" smtClean="0"/>
              <a:pPr/>
              <a:t>46</a:t>
            </a:fld>
            <a:endParaRPr lang="en-US" altLang="zh-CN" sz="1200" baseline="0"/>
          </a:p>
        </p:txBody>
      </p:sp>
      <p:sp>
        <p:nvSpPr>
          <p:cNvPr id="142339" name="Rectangle 2">
            <a:extLst>
              <a:ext uri="{FF2B5EF4-FFF2-40B4-BE49-F238E27FC236}">
                <a16:creationId xmlns:a16="http://schemas.microsoft.com/office/drawing/2014/main" id="{104374A9-87FA-4862-B819-479C81EA830E}"/>
              </a:ext>
            </a:extLst>
          </p:cNvPr>
          <p:cNvSpPr>
            <a:spLocks noGrp="1" noRot="1" noChangeAspect="1" noChangeArrowheads="1" noTextEdit="1"/>
          </p:cNvSpPr>
          <p:nvPr>
            <p:ph type="sldImg"/>
          </p:nvPr>
        </p:nvSpPr>
        <p:spPr>
          <a:xfrm>
            <a:off x="381000" y="685800"/>
            <a:ext cx="6096000" cy="3429000"/>
          </a:xfrm>
          <a:ln/>
        </p:spPr>
      </p:sp>
      <p:sp>
        <p:nvSpPr>
          <p:cNvPr id="142340" name="Rectangle 3">
            <a:extLst>
              <a:ext uri="{FF2B5EF4-FFF2-40B4-BE49-F238E27FC236}">
                <a16:creationId xmlns:a16="http://schemas.microsoft.com/office/drawing/2014/main" id="{111F2271-2D50-4A46-8509-4A5D61D6C5F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aseline="0" dirty="0">
                <a:latin typeface="微软雅黑" panose="020B0503020204020204" pitchFamily="34" charset="-122"/>
                <a:ea typeface="微软雅黑" panose="020B0503020204020204" pitchFamily="34" charset="-122"/>
              </a:rPr>
              <a:t>异步传输针对的是每个字节，同步传输针对的是帧，同步传输不必对每个字节进行操作，因而同步传输比异步传输速度快。异步传输经常被用于短距离的通信，如串口通信、调制解调器和鼠标等，同步传输则常用于高速的通信，如交换机、光纤通信和音频视频接口传输等。</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7981B49-7C14-4DDB-9D42-C372F3EF69FE}"/>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D6885F69-33E9-4A6A-A4FA-6299E6922699}"/>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2C46481C-A4B7-4C60-BA92-0524657D57D4}"/>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3" name="Rectangle 5">
                <a:extLst>
                  <a:ext uri="{FF2B5EF4-FFF2-40B4-BE49-F238E27FC236}">
                    <a16:creationId xmlns:a16="http://schemas.microsoft.com/office/drawing/2014/main" id="{37025376-20C8-447D-A38D-8497DB81F8C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grpSp>
          <p:nvGrpSpPr>
            <p:cNvPr id="6" name="Group 6">
              <a:extLst>
                <a:ext uri="{FF2B5EF4-FFF2-40B4-BE49-F238E27FC236}">
                  <a16:creationId xmlns:a16="http://schemas.microsoft.com/office/drawing/2014/main" id="{8CD35F14-D160-42DA-BD7B-CC99881ADC35}"/>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A7294D4E-0EC2-462D-A10E-AECE7B556C87}"/>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1" name="Rectangle 8">
                <a:extLst>
                  <a:ext uri="{FF2B5EF4-FFF2-40B4-BE49-F238E27FC236}">
                    <a16:creationId xmlns:a16="http://schemas.microsoft.com/office/drawing/2014/main" id="{EEE783AB-46B7-40CE-BF15-FB6ED62241C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7" name="Rectangle 9">
              <a:extLst>
                <a:ext uri="{FF2B5EF4-FFF2-40B4-BE49-F238E27FC236}">
                  <a16:creationId xmlns:a16="http://schemas.microsoft.com/office/drawing/2014/main" id="{4DC2670D-5617-4E30-BC05-DFC26C4B43E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8" name="Rectangle 10">
              <a:extLst>
                <a:ext uri="{FF2B5EF4-FFF2-40B4-BE49-F238E27FC236}">
                  <a16:creationId xmlns:a16="http://schemas.microsoft.com/office/drawing/2014/main" id="{39B9E6EA-1D1C-43A6-87B9-FA62884EE218}"/>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9" name="Rectangle 11">
              <a:extLst>
                <a:ext uri="{FF2B5EF4-FFF2-40B4-BE49-F238E27FC236}">
                  <a16:creationId xmlns:a16="http://schemas.microsoft.com/office/drawing/2014/main" id="{69B6E995-8D76-4154-8A09-B6565C252DD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14" name="Text Box 17">
            <a:extLst>
              <a:ext uri="{FF2B5EF4-FFF2-40B4-BE49-F238E27FC236}">
                <a16:creationId xmlns:a16="http://schemas.microsoft.com/office/drawing/2014/main" id="{2A9462FA-3140-48F7-B963-133D64FD8F2C}"/>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eaLnBrk="1" hangingPunct="1">
              <a:spcBef>
                <a:spcPct val="50000"/>
              </a:spcBef>
              <a:defRPr/>
            </a:pPr>
            <a:r>
              <a:rPr lang="en-US" altLang="en-US" sz="1400" b="0" baseline="0">
                <a:latin typeface="McGrawHill-Italic" pitchFamily="2" charset="0"/>
              </a:rPr>
              <a:t>McGraw-Hill</a:t>
            </a:r>
            <a:endParaRPr lang="en-US" altLang="en-US" sz="2400" b="0" baseline="0">
              <a:latin typeface="Times New Roman" pitchFamily="18" charset="0"/>
            </a:endParaRPr>
          </a:p>
        </p:txBody>
      </p:sp>
      <p:sp>
        <p:nvSpPr>
          <p:cNvPr id="15" name="Text Box 18">
            <a:extLst>
              <a:ext uri="{FF2B5EF4-FFF2-40B4-BE49-F238E27FC236}">
                <a16:creationId xmlns:a16="http://schemas.microsoft.com/office/drawing/2014/main" id="{9408F303-2B46-4D67-A446-AA2B22E169C6}"/>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lgn="r" eaLnBrk="1" hangingPunct="1">
              <a:spcBef>
                <a:spcPct val="50000"/>
              </a:spcBef>
              <a:buFontTx/>
              <a:buChar char="©"/>
              <a:defRPr/>
            </a:pPr>
            <a:r>
              <a:rPr lang="en-US" altLang="en-US" sz="1400" b="0" baseline="0">
                <a:latin typeface="McGrawHill-Italic" pitchFamily="2" charset="0"/>
              </a:rPr>
              <a:t>The McGraw-Hill Companies, Inc., 2000</a:t>
            </a:r>
            <a:endParaRPr lang="en-US" altLang="en-US" sz="2400" b="0" baseline="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A7D03BD3-931C-420C-9BF6-220187395154}"/>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D4B24E97-90EF-4E9D-AE70-ECA640DDF711}"/>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44E5EDF7-5B7F-465E-805E-2D97C1872889}"/>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F8470A0D-2F7F-422F-ACD7-AE6271D7C84E}" type="slidenum">
              <a:rPr lang="en-US" altLang="zh-CN"/>
              <a:pPr>
                <a:defRPr/>
              </a:pPr>
              <a:t>‹#›</a:t>
            </a:fld>
            <a:endParaRPr lang="en-US" altLang="zh-CN"/>
          </a:p>
        </p:txBody>
      </p:sp>
    </p:spTree>
    <p:extLst>
      <p:ext uri="{BB962C8B-B14F-4D97-AF65-F5344CB8AC3E}">
        <p14:creationId xmlns:p14="http://schemas.microsoft.com/office/powerpoint/2010/main" val="416960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590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482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41619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25505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114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826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dirty="0"/>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Tree>
    <p:extLst>
      <p:ext uri="{BB962C8B-B14F-4D97-AF65-F5344CB8AC3E}">
        <p14:creationId xmlns:p14="http://schemas.microsoft.com/office/powerpoint/2010/main" val="114621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0043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63834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93545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998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0"/>
            <a:ext cx="2743200" cy="365125"/>
          </a:xfrm>
          <a:prstGeom prst="rect">
            <a:avLst/>
          </a:prstGeom>
        </p:spPr>
        <p:txBody>
          <a:bodyPr/>
          <a:lstStyle/>
          <a:p>
            <a:fld id="{590ED014-C035-4F2F-9D10-AB3B853B4C04}" type="datetimeFigureOut">
              <a:rPr lang="zh-CN" altLang="en-US" smtClean="0"/>
              <a:t>2025-05-29</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197441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5056A2B8-FC22-4C8A-B5D3-98CDF59B6C58}"/>
              </a:ext>
            </a:extLst>
          </p:cNvPr>
          <p:cNvSpPr>
            <a:spLocks noGrp="1" noChangeArrowheads="1"/>
          </p:cNvSpPr>
          <p:nvPr>
            <p:ph type="sldNum" sz="quarter" idx="10"/>
          </p:nvPr>
        </p:nvSpPr>
        <p:spPr>
          <a:ln/>
        </p:spPr>
        <p:txBody>
          <a:bodyPr/>
          <a:lstStyle>
            <a:lvl1pPr>
              <a:defRPr/>
            </a:lvl1pPr>
          </a:lstStyle>
          <a:p>
            <a:pPr>
              <a:defRPr/>
            </a:pPr>
            <a:r>
              <a:rPr lang="en-US" altLang="zh-CN"/>
              <a:t>4.</a:t>
            </a:r>
            <a:fld id="{61620A66-5205-4FD8-8578-4BD02C190C4C}" type="slidenum">
              <a:rPr lang="en-US" altLang="zh-CN" smtClean="0"/>
              <a:pPr>
                <a:defRPr/>
              </a:pPr>
              <a:t>‹#›</a:t>
            </a:fld>
            <a:endParaRPr lang="en-US" altLang="zh-CN"/>
          </a:p>
        </p:txBody>
      </p:sp>
    </p:spTree>
    <p:extLst>
      <p:ext uri="{BB962C8B-B14F-4D97-AF65-F5344CB8AC3E}">
        <p14:creationId xmlns:p14="http://schemas.microsoft.com/office/powerpoint/2010/main" val="2135968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CA5F9BC8-6A81-4272-9075-B67738C38933}"/>
              </a:ext>
            </a:extLst>
          </p:cNvPr>
          <p:cNvSpPr>
            <a:spLocks noGrp="1" noChangeArrowheads="1"/>
          </p:cNvSpPr>
          <p:nvPr>
            <p:ph type="sldNum" sz="quarter" idx="10"/>
          </p:nvPr>
        </p:nvSpPr>
        <p:spPr>
          <a:xfrm>
            <a:off x="11277600" y="6400800"/>
            <a:ext cx="1016000" cy="457200"/>
          </a:xfrm>
          <a:prstGeom prst="rect">
            <a:avLst/>
          </a:prstGeom>
          <a:ln/>
        </p:spPr>
        <p:txBody>
          <a:bodyPr/>
          <a:lstStyle>
            <a:lvl1pPr>
              <a:defRPr/>
            </a:lvl1pPr>
          </a:lstStyle>
          <a:p>
            <a:pPr>
              <a:defRPr/>
            </a:pPr>
            <a:r>
              <a:rPr lang="en-US" altLang="zh-CN"/>
              <a:t>4.</a:t>
            </a:r>
            <a:fld id="{FB34EC7D-FBEB-4BBE-ABEA-7EE9C5C15A83}" type="slidenum">
              <a:rPr lang="en-US" altLang="zh-CN" smtClean="0"/>
              <a:pPr>
                <a:defRPr/>
              </a:pPr>
              <a:t>‹#›</a:t>
            </a:fld>
            <a:endParaRPr lang="en-US" altLang="zh-CN"/>
          </a:p>
        </p:txBody>
      </p:sp>
    </p:spTree>
    <p:extLst>
      <p:ext uri="{BB962C8B-B14F-4D97-AF65-F5344CB8AC3E}">
        <p14:creationId xmlns:p14="http://schemas.microsoft.com/office/powerpoint/2010/main" val="524897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C7A79C1-BAF2-444B-80EF-54C9FB7DEC41}"/>
              </a:ext>
            </a:extLst>
          </p:cNvPr>
          <p:cNvPicPr>
            <a:picLocks noChangeAspect="1"/>
          </p:cNvPicPr>
          <p:nvPr userDrawn="1"/>
        </p:nvPicPr>
        <p:blipFill rotWithShape="1">
          <a:blip r:embed="rId18"/>
          <a:srcRect t="20454"/>
          <a:stretch/>
        </p:blipFill>
        <p:spPr>
          <a:xfrm>
            <a:off x="618836" y="66964"/>
            <a:ext cx="2964358" cy="838200"/>
          </a:xfrm>
          <a:prstGeom prst="rect">
            <a:avLst/>
          </a:prstGeom>
        </p:spPr>
      </p:pic>
    </p:spTree>
    <p:extLst>
      <p:ext uri="{BB962C8B-B14F-4D97-AF65-F5344CB8AC3E}">
        <p14:creationId xmlns:p14="http://schemas.microsoft.com/office/powerpoint/2010/main" val="1088361317"/>
      </p:ext>
    </p:extLst>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 id="2147484014" r:id="rId14"/>
    <p:sldLayoutId id="2147483998" r:id="rId15"/>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4.xml"/><Relationship Id="rId7" Type="http://schemas.openxmlformats.org/officeDocument/2006/relationships/image" Target="../media/image8.wmf"/><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9.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6.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380.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5" name="Rectangle 3">
            <a:extLst>
              <a:ext uri="{FF2B5EF4-FFF2-40B4-BE49-F238E27FC236}">
                <a16:creationId xmlns:a16="http://schemas.microsoft.com/office/drawing/2014/main" id="{DB1619E6-902B-4E59-A47A-7FC947F3A7F3}"/>
              </a:ext>
            </a:extLst>
          </p:cNvPr>
          <p:cNvSpPr>
            <a:spLocks noChangeArrowheads="1"/>
          </p:cNvSpPr>
          <p:nvPr/>
        </p:nvSpPr>
        <p:spPr bwMode="auto">
          <a:xfrm>
            <a:off x="2209800" y="2438400"/>
            <a:ext cx="80772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第四章</a:t>
            </a:r>
            <a:endParaRPr kumimoji="0" lang="en-US" altLang="zh-CN"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lvl="0" algn="ctr"/>
            <a:r>
              <a:rPr lang="zh-CN" altLang="en-US" sz="4800" baseline="0" dirty="0">
                <a:solidFill>
                  <a:srgbClr val="000000"/>
                </a:solidFill>
                <a:latin typeface="微软雅黑" panose="020B0503020204020204" pitchFamily="34" charset="-122"/>
                <a:ea typeface="微软雅黑" panose="020B0503020204020204" pitchFamily="34" charset="-122"/>
              </a:rPr>
              <a:t>数字传输</a:t>
            </a:r>
          </a:p>
        </p:txBody>
      </p:sp>
    </p:spTree>
    <p:extLst>
      <p:ext uri="{BB962C8B-B14F-4D97-AF65-F5344CB8AC3E}">
        <p14:creationId xmlns:p14="http://schemas.microsoft.com/office/powerpoint/2010/main" val="3902430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6F1268A5-D596-431F-835D-0846C3F8736D}"/>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565251" name="Text Box 3">
            <a:extLst>
              <a:ext uri="{FF2B5EF4-FFF2-40B4-BE49-F238E27FC236}">
                <a16:creationId xmlns:a16="http://schemas.microsoft.com/office/drawing/2014/main" id="{E2E9FD13-C52F-43E8-9583-0D9CEDD42C39}"/>
              </a:ext>
            </a:extLst>
          </p:cNvPr>
          <p:cNvSpPr txBox="1">
            <a:spLocks noChangeArrowheads="1"/>
          </p:cNvSpPr>
          <p:nvPr/>
        </p:nvSpPr>
        <p:spPr bwMode="auto">
          <a:xfrm>
            <a:off x="609600" y="257596"/>
            <a:ext cx="4046301" cy="584775"/>
          </a:xfrm>
          <a:prstGeom prst="rect">
            <a:avLst/>
          </a:prstGeom>
          <a:noFill/>
          <a:ln>
            <a:noFill/>
          </a:ln>
          <a:effectLst/>
        </p:spPr>
        <p:txBody>
          <a:bodyPr wrap="none">
            <a:spAutoFit/>
          </a:bodyPr>
          <a:lstStyle/>
          <a:p>
            <a:pPr>
              <a:defRPr/>
            </a:pPr>
            <a:r>
              <a:rPr lang="en-US" altLang="zh-CN" sz="3200" b="1" baseline="0" dirty="0">
                <a:latin typeface="微软雅黑" panose="020B0503020204020204" pitchFamily="34" charset="-122"/>
                <a:ea typeface="微软雅黑" panose="020B0503020204020204" pitchFamily="34" charset="-122"/>
              </a:rPr>
              <a:t>4.1   </a:t>
            </a:r>
            <a:r>
              <a:rPr lang="zh-CN" altLang="en-US" sz="3200" b="1" baseline="0" dirty="0">
                <a:latin typeface="微软雅黑" panose="020B0503020204020204" pitchFamily="34" charset="-122"/>
                <a:ea typeface="微软雅黑" panose="020B0503020204020204" pitchFamily="34" charset="-122"/>
              </a:rPr>
              <a:t>数字到数字转换</a:t>
            </a:r>
            <a:endParaRPr lang="en-US" altLang="zh-CN" sz="3200" b="1" baseline="0" dirty="0">
              <a:latin typeface="微软雅黑" panose="020B0503020204020204" pitchFamily="34" charset="-122"/>
              <a:ea typeface="微软雅黑" panose="020B0503020204020204" pitchFamily="34" charset="-122"/>
            </a:endParaRPr>
          </a:p>
        </p:txBody>
      </p:sp>
      <p:sp>
        <p:nvSpPr>
          <p:cNvPr id="7173" name="Text Box 4">
            <a:extLst>
              <a:ext uri="{FF2B5EF4-FFF2-40B4-BE49-F238E27FC236}">
                <a16:creationId xmlns:a16="http://schemas.microsoft.com/office/drawing/2014/main" id="{C50771FD-7D4B-45EA-8204-18371655CC2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565253" name="Rectangle 5">
            <a:extLst>
              <a:ext uri="{FF2B5EF4-FFF2-40B4-BE49-F238E27FC236}">
                <a16:creationId xmlns:a16="http://schemas.microsoft.com/office/drawing/2014/main" id="{26775C9B-8E90-4484-999E-6428EF30BBA5}"/>
              </a:ext>
            </a:extLst>
          </p:cNvPr>
          <p:cNvSpPr>
            <a:spLocks noChangeArrowheads="1"/>
          </p:cNvSpPr>
          <p:nvPr/>
        </p:nvSpPr>
        <p:spPr bwMode="auto">
          <a:xfrm>
            <a:off x="1295400" y="1600200"/>
            <a:ext cx="9601200" cy="4000582"/>
          </a:xfrm>
          <a:prstGeom prst="rect">
            <a:avLst/>
          </a:prstGeom>
          <a:noFill/>
          <a:ln>
            <a:noFill/>
          </a:ln>
          <a:effectLst/>
        </p:spPr>
        <p:txBody>
          <a:bodyPr wrap="square" anchor="ctr">
            <a:spAutoFit/>
          </a:bodyPr>
          <a:lstStyle/>
          <a:p>
            <a:pPr algn="just" eaLnBrk="1" hangingPunct="1">
              <a:lnSpc>
                <a:spcPct val="200000"/>
              </a:lnSpc>
              <a:defRPr/>
            </a:pPr>
            <a:r>
              <a:rPr lang="zh-CN" altLang="en-US" baseline="0" dirty="0">
                <a:latin typeface="微软雅黑" panose="020B0503020204020204" pitchFamily="34" charset="-122"/>
                <a:ea typeface="微软雅黑" panose="020B0503020204020204" pitchFamily="34" charset="-122"/>
              </a:rPr>
              <a:t>数字数据可采用数字信道来传输，用一系列断续变化的电压脉冲或光脉冲来表示。</a:t>
            </a:r>
            <a:endParaRPr lang="en-US" altLang="zh-CN" baseline="0" dirty="0">
              <a:latin typeface="微软雅黑" panose="020B0503020204020204" pitchFamily="34" charset="-122"/>
              <a:ea typeface="微软雅黑" panose="020B0503020204020204" pitchFamily="34" charset="-122"/>
            </a:endParaRPr>
          </a:p>
          <a:p>
            <a:pPr algn="just" eaLnBrk="1" hangingPunct="1">
              <a:lnSpc>
                <a:spcPct val="200000"/>
              </a:lnSpc>
              <a:defRPr/>
            </a:pPr>
            <a:endParaRPr lang="en-US" altLang="zh-CN" sz="800" baseline="0" dirty="0">
              <a:latin typeface="微软雅黑" panose="020B0503020204020204" pitchFamily="34" charset="-122"/>
              <a:ea typeface="微软雅黑" panose="020B0503020204020204" pitchFamily="34" charset="-122"/>
            </a:endParaRPr>
          </a:p>
          <a:p>
            <a:pPr marL="623888" indent="-355600" algn="just" eaLnBrk="1" hangingPunct="1">
              <a:lnSpc>
                <a:spcPct val="200000"/>
              </a:lnSpc>
              <a:buClr>
                <a:srgbClr val="FF0000"/>
              </a:buClr>
              <a:buSzPct val="80000"/>
              <a:buFont typeface="Wingdings" panose="05000000000000000000" pitchFamily="2" charset="2"/>
              <a:buChar char="u"/>
              <a:defRPr/>
            </a:pPr>
            <a:r>
              <a:rPr lang="zh-CN" altLang="en-US" sz="1800" baseline="0" dirty="0">
                <a:latin typeface="微软雅黑" panose="020B0503020204020204" pitchFamily="34" charset="-122"/>
                <a:ea typeface="微软雅黑" panose="020B0503020204020204" pitchFamily="34" charset="-122"/>
              </a:rPr>
              <a:t>传输质量高，数字信道传输的误码率在 </a:t>
            </a:r>
            <a:r>
              <a:rPr lang="en-US" altLang="zh-CN" sz="1800" baseline="0" dirty="0">
                <a:latin typeface="微软雅黑" panose="020B0503020204020204" pitchFamily="34" charset="-122"/>
                <a:ea typeface="微软雅黑" panose="020B0503020204020204" pitchFamily="34" charset="-122"/>
              </a:rPr>
              <a:t>10</a:t>
            </a:r>
            <a:r>
              <a:rPr lang="en-US" altLang="zh-CN" sz="1800" baseline="30000" dirty="0">
                <a:latin typeface="微软雅黑" panose="020B0503020204020204" pitchFamily="34" charset="-122"/>
                <a:ea typeface="微软雅黑" panose="020B0503020204020204" pitchFamily="34" charset="-122"/>
              </a:rPr>
              <a:t>-6 </a:t>
            </a:r>
            <a:r>
              <a:rPr lang="zh-CN" altLang="en-US" sz="1800" baseline="0" dirty="0">
                <a:latin typeface="微软雅黑" panose="020B0503020204020204" pitchFamily="34" charset="-122"/>
                <a:ea typeface="微软雅黑" panose="020B0503020204020204" pitchFamily="34" charset="-122"/>
              </a:rPr>
              <a:t>以下，模拟信道较难达到；</a:t>
            </a:r>
            <a:endParaRPr lang="en-US" altLang="zh-CN" sz="1800" baseline="0" dirty="0">
              <a:latin typeface="微软雅黑" panose="020B0503020204020204" pitchFamily="34" charset="-122"/>
              <a:ea typeface="微软雅黑" panose="020B0503020204020204" pitchFamily="34" charset="-122"/>
            </a:endParaRPr>
          </a:p>
          <a:p>
            <a:pPr marL="623888" indent="-355600" algn="just" eaLnBrk="1" hangingPunct="1">
              <a:lnSpc>
                <a:spcPct val="200000"/>
              </a:lnSpc>
              <a:buClr>
                <a:srgbClr val="FF0000"/>
              </a:buClr>
              <a:buSzPct val="80000"/>
              <a:buFont typeface="Wingdings" panose="05000000000000000000" pitchFamily="2" charset="2"/>
              <a:buChar char="u"/>
              <a:defRPr/>
            </a:pPr>
            <a:r>
              <a:rPr lang="zh-CN" altLang="en-US" sz="1800" baseline="0" dirty="0">
                <a:latin typeface="微软雅黑" panose="020B0503020204020204" pitchFamily="34" charset="-122"/>
                <a:ea typeface="微软雅黑" panose="020B0503020204020204" pitchFamily="34" charset="-122"/>
              </a:rPr>
              <a:t>信道利用率高，通过复用可传输多路数据信号，相当于多条模拟信道；</a:t>
            </a:r>
            <a:endParaRPr lang="en-US" altLang="zh-CN" sz="1800" baseline="0" dirty="0">
              <a:latin typeface="微软雅黑" panose="020B0503020204020204" pitchFamily="34" charset="-122"/>
              <a:ea typeface="微软雅黑" panose="020B0503020204020204" pitchFamily="34" charset="-122"/>
            </a:endParaRPr>
          </a:p>
          <a:p>
            <a:pPr marL="623888" indent="-355600" algn="just" eaLnBrk="1" hangingPunct="1">
              <a:lnSpc>
                <a:spcPct val="200000"/>
              </a:lnSpc>
              <a:buClr>
                <a:srgbClr val="FF0000"/>
              </a:buClr>
              <a:buSzPct val="80000"/>
              <a:buFont typeface="Wingdings" panose="05000000000000000000" pitchFamily="2" charset="2"/>
              <a:buChar char="u"/>
              <a:defRPr/>
            </a:pPr>
            <a:r>
              <a:rPr lang="zh-CN" altLang="en-US" sz="1800" baseline="0" dirty="0">
                <a:latin typeface="微软雅黑" panose="020B0503020204020204" pitchFamily="34" charset="-122"/>
                <a:ea typeface="微软雅黑" panose="020B0503020204020204" pitchFamily="34" charset="-122"/>
              </a:rPr>
              <a:t>不需要模拟信道的调制解调器，一般只是功能较简单的基带传输装置。</a:t>
            </a:r>
            <a:endParaRPr lang="en-US" altLang="zh-CN" sz="1800" baseline="0" dirty="0">
              <a:latin typeface="微软雅黑" panose="020B0503020204020204" pitchFamily="34" charset="-122"/>
              <a:ea typeface="微软雅黑" panose="020B0503020204020204" pitchFamily="34" charset="-122"/>
            </a:endParaRPr>
          </a:p>
          <a:p>
            <a:pPr algn="just" eaLnBrk="1" hangingPunct="1">
              <a:lnSpc>
                <a:spcPct val="200000"/>
              </a:lnSpc>
              <a:defRPr/>
            </a:pPr>
            <a:endParaRPr lang="zh-CN" altLang="en-US" sz="800" baseline="0" dirty="0">
              <a:latin typeface="微软雅黑" panose="020B0503020204020204" pitchFamily="34" charset="-122"/>
              <a:ea typeface="微软雅黑" panose="020B0503020204020204" pitchFamily="34" charset="-122"/>
            </a:endParaRPr>
          </a:p>
          <a:p>
            <a:pPr algn="just" eaLnBrk="1" hangingPunct="1">
              <a:lnSpc>
                <a:spcPct val="200000"/>
              </a:lnSpc>
              <a:defRPr/>
            </a:pPr>
            <a:r>
              <a:rPr lang="zh-CN" altLang="en-US" baseline="0" dirty="0">
                <a:latin typeface="微软雅黑" panose="020B0503020204020204" pitchFamily="34" charset="-122"/>
                <a:ea typeface="微软雅黑" panose="020B0503020204020204" pitchFamily="34" charset="-122"/>
              </a:rPr>
              <a:t>数字数据采用数字信号传输主要有三种技术：线性编码</a:t>
            </a:r>
            <a:r>
              <a:rPr lang="en-US" altLang="zh-CN" baseline="0" dirty="0">
                <a:latin typeface="微软雅黑" panose="020B0503020204020204" pitchFamily="34" charset="-122"/>
                <a:ea typeface="微软雅黑" panose="020B0503020204020204" pitchFamily="34" charset="-122"/>
              </a:rPr>
              <a:t> (line coding)</a:t>
            </a:r>
            <a:r>
              <a:rPr lang="zh-CN" altLang="en-US" baseline="0" dirty="0">
                <a:latin typeface="微软雅黑" panose="020B0503020204020204" pitchFamily="34" charset="-122"/>
                <a:ea typeface="微软雅黑" panose="020B0503020204020204" pitchFamily="34" charset="-122"/>
              </a:rPr>
              <a:t>、块编码（</a:t>
            </a:r>
            <a:r>
              <a:rPr lang="en-US" altLang="zh-CN" baseline="0" dirty="0">
                <a:latin typeface="微软雅黑" panose="020B0503020204020204" pitchFamily="34" charset="-122"/>
                <a:ea typeface="微软雅黑" panose="020B0503020204020204" pitchFamily="34" charset="-122"/>
              </a:rPr>
              <a:t>block coding</a:t>
            </a:r>
            <a:r>
              <a:rPr lang="zh-CN" altLang="en-US" baseline="0" dirty="0">
                <a:latin typeface="微软雅黑" panose="020B0503020204020204" pitchFamily="34" charset="-122"/>
                <a:ea typeface="微软雅黑" panose="020B0503020204020204" pitchFamily="34" charset="-122"/>
              </a:rPr>
              <a:t>）和扰码（</a:t>
            </a:r>
            <a:r>
              <a:rPr lang="en-US" altLang="zh-CN" baseline="0" dirty="0">
                <a:latin typeface="微软雅黑" panose="020B0503020204020204" pitchFamily="34" charset="-122"/>
                <a:ea typeface="微软雅黑" panose="020B0503020204020204" pitchFamily="34" charset="-122"/>
              </a:rPr>
              <a:t>scrambling</a:t>
            </a:r>
            <a:r>
              <a:rPr lang="zh-CN" altLang="en-US" baseline="0" dirty="0">
                <a:latin typeface="微软雅黑" panose="020B0503020204020204" pitchFamily="34" charset="-122"/>
                <a:ea typeface="微软雅黑" panose="020B0503020204020204" pitchFamily="34" charset="-122"/>
              </a:rPr>
              <a:t>）。</a:t>
            </a:r>
            <a:endParaRPr lang="en-US" altLang="zh-CN"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Text Box 4">
            <a:extLst>
              <a:ext uri="{FF2B5EF4-FFF2-40B4-BE49-F238E27FC236}">
                <a16:creationId xmlns:a16="http://schemas.microsoft.com/office/drawing/2014/main" id="{92531E38-E858-4AEB-A78A-9D034EBF23BA}"/>
              </a:ext>
            </a:extLst>
          </p:cNvPr>
          <p:cNvSpPr txBox="1">
            <a:spLocks noChangeArrowheads="1"/>
          </p:cNvSpPr>
          <p:nvPr/>
        </p:nvSpPr>
        <p:spPr bwMode="auto">
          <a:xfrm>
            <a:off x="4943313" y="5345014"/>
            <a:ext cx="23053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  </a:t>
            </a:r>
            <a:r>
              <a:rPr lang="zh-CN" altLang="en-US" sz="1400" b="1" baseline="0" dirty="0">
                <a:ea typeface="宋体" panose="02010600030101010101" pitchFamily="2" charset="-122"/>
              </a:rPr>
              <a:t>线性编码和解码</a:t>
            </a:r>
            <a:endParaRPr lang="en-US" altLang="zh-CN" sz="1400" b="1" i="1" baseline="0" dirty="0">
              <a:ea typeface="宋体" panose="02010600030101010101" pitchFamily="2" charset="-122"/>
            </a:endParaRPr>
          </a:p>
        </p:txBody>
      </p:sp>
      <p:pic>
        <p:nvPicPr>
          <p:cNvPr id="9223" name="Picture 6">
            <a:extLst>
              <a:ext uri="{FF2B5EF4-FFF2-40B4-BE49-F238E27FC236}">
                <a16:creationId xmlns:a16="http://schemas.microsoft.com/office/drawing/2014/main" id="{2FD6AD09-0688-46F5-A131-1E30B77D9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75" y="2575729"/>
            <a:ext cx="7207250" cy="2208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4" name="Rectangle 11">
            <a:extLst>
              <a:ext uri="{FF2B5EF4-FFF2-40B4-BE49-F238E27FC236}">
                <a16:creationId xmlns:a16="http://schemas.microsoft.com/office/drawing/2014/main" id="{F0BD7AC6-B9EA-4695-B612-1A2E145B4C63}"/>
              </a:ext>
            </a:extLst>
          </p:cNvPr>
          <p:cNvSpPr>
            <a:spLocks noChangeArrowheads="1"/>
          </p:cNvSpPr>
          <p:nvPr/>
        </p:nvSpPr>
        <p:spPr bwMode="auto">
          <a:xfrm>
            <a:off x="1979732" y="1219601"/>
            <a:ext cx="7207250" cy="499624"/>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150000"/>
              </a:lnSpc>
              <a:buClr>
                <a:srgbClr val="FF0000"/>
              </a:buClr>
            </a:pPr>
            <a:r>
              <a:rPr lang="zh-CN" altLang="en-US" baseline="0" dirty="0">
                <a:latin typeface="微软雅黑" panose="020B0503020204020204" pitchFamily="34" charset="-122"/>
                <a:ea typeface="微软雅黑" panose="020B0503020204020204" pitchFamily="34" charset="-122"/>
              </a:rPr>
              <a:t>线性编码是将数字数据转换为数字信号的过程。</a:t>
            </a:r>
          </a:p>
        </p:txBody>
      </p:sp>
      <p:sp>
        <p:nvSpPr>
          <p:cNvPr id="2" name="矩形 1">
            <a:extLst>
              <a:ext uri="{FF2B5EF4-FFF2-40B4-BE49-F238E27FC236}">
                <a16:creationId xmlns:a16="http://schemas.microsoft.com/office/drawing/2014/main" id="{4D9E02A0-2623-4029-B927-E22DEE80AE05}"/>
              </a:ext>
            </a:extLst>
          </p:cNvPr>
          <p:cNvSpPr/>
          <p:nvPr/>
        </p:nvSpPr>
        <p:spPr>
          <a:xfrm>
            <a:off x="3962400" y="78155"/>
            <a:ext cx="1620957" cy="523220"/>
          </a:xfrm>
          <a:prstGeom prst="rect">
            <a:avLst/>
          </a:prstGeom>
        </p:spPr>
        <p:txBody>
          <a:bodyPr wrap="none">
            <a:spAutoFit/>
          </a:bodyPr>
          <a:lstStyle/>
          <a:p>
            <a:r>
              <a:rPr lang="zh-CN" altLang="en-US" sz="2800" b="1" baseline="0" dirty="0">
                <a:solidFill>
                  <a:schemeClr val="bg1"/>
                </a:solidFill>
                <a:latin typeface="微软雅黑" panose="020B0503020204020204" pitchFamily="34" charset="-122"/>
                <a:ea typeface="微软雅黑" panose="020B0503020204020204" pitchFamily="34" charset="-122"/>
              </a:rPr>
              <a:t>线性编码</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ext Box 4">
            <a:extLst>
              <a:ext uri="{FF2B5EF4-FFF2-40B4-BE49-F238E27FC236}">
                <a16:creationId xmlns:a16="http://schemas.microsoft.com/office/drawing/2014/main" id="{2EF1BAB6-228D-4065-B9CC-2C5D60592F27}"/>
              </a:ext>
            </a:extLst>
          </p:cNvPr>
          <p:cNvSpPr txBox="1">
            <a:spLocks noChangeArrowheads="1"/>
          </p:cNvSpPr>
          <p:nvPr/>
        </p:nvSpPr>
        <p:spPr bwMode="auto">
          <a:xfrm>
            <a:off x="7045590" y="5791200"/>
            <a:ext cx="266444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  </a:t>
            </a:r>
            <a:r>
              <a:rPr lang="zh-CN" altLang="en-US" sz="1400" b="1" baseline="0" dirty="0">
                <a:ea typeface="宋体" panose="02010600030101010101" pitchFamily="2" charset="-122"/>
              </a:rPr>
              <a:t>信号元素和数据元素</a:t>
            </a:r>
            <a:endParaRPr lang="en-US" altLang="zh-CN" sz="1400" b="1" baseline="0" dirty="0">
              <a:ea typeface="宋体" panose="02010600030101010101" pitchFamily="2" charset="-122"/>
            </a:endParaRPr>
          </a:p>
        </p:txBody>
      </p:sp>
      <p:pic>
        <p:nvPicPr>
          <p:cNvPr id="12295" name="Picture 6">
            <a:extLst>
              <a:ext uri="{FF2B5EF4-FFF2-40B4-BE49-F238E27FC236}">
                <a16:creationId xmlns:a16="http://schemas.microsoft.com/office/drawing/2014/main" id="{48CFE4CF-D39A-461E-997D-99DDB7481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7513" y="1532068"/>
            <a:ext cx="5080602" cy="406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8EA662FE-CE6E-46DD-B573-8BC240C9511B}"/>
              </a:ext>
            </a:extLst>
          </p:cNvPr>
          <p:cNvSpPr/>
          <p:nvPr/>
        </p:nvSpPr>
        <p:spPr>
          <a:xfrm>
            <a:off x="1273885" y="1303280"/>
            <a:ext cx="4114800" cy="4296176"/>
          </a:xfrm>
          <a:prstGeom prst="rect">
            <a:avLst/>
          </a:prstGeom>
        </p:spPr>
        <p:txBody>
          <a:bodyPr wrap="square">
            <a:spAutoFit/>
          </a:bodyPr>
          <a:lstStyle/>
          <a:p>
            <a:pPr marL="285750" indent="-285750" algn="just">
              <a:lnSpc>
                <a:spcPct val="250000"/>
              </a:lnSpc>
              <a:buClr>
                <a:srgbClr val="FF0000"/>
              </a:buClr>
              <a:buSzPct val="80000"/>
              <a:buFont typeface="Wingdings" panose="05000000000000000000" pitchFamily="2" charset="2"/>
              <a:buChar char="u"/>
            </a:pPr>
            <a:r>
              <a:rPr lang="zh-CN" altLang="en-US" sz="1600" baseline="0" dirty="0">
                <a:latin typeface="微软雅黑" panose="020B0503020204020204" pitchFamily="34" charset="-122"/>
                <a:ea typeface="微软雅黑" panose="020B0503020204020204" pitchFamily="34" charset="-122"/>
              </a:rPr>
              <a:t>数据元素 </a:t>
            </a:r>
            <a:r>
              <a:rPr lang="en-US" altLang="zh-CN" sz="1600" baseline="0" dirty="0">
                <a:latin typeface="微软雅黑" panose="020B0503020204020204" pitchFamily="34" charset="-122"/>
                <a:ea typeface="微软雅黑" panose="020B0503020204020204" pitchFamily="34" charset="-122"/>
              </a:rPr>
              <a:t>(data element) </a:t>
            </a:r>
            <a:r>
              <a:rPr lang="zh-CN" altLang="en-US" sz="1600" baseline="0" dirty="0">
                <a:latin typeface="微软雅黑" panose="020B0503020204020204" pitchFamily="34" charset="-122"/>
                <a:ea typeface="微软雅黑" panose="020B0503020204020204" pitchFamily="34" charset="-122"/>
              </a:rPr>
              <a:t>表示一块信息的最小实体即位 </a:t>
            </a:r>
            <a:r>
              <a:rPr lang="en-US" altLang="zh-CN" sz="1600" baseline="0" dirty="0">
                <a:latin typeface="微软雅黑" panose="020B0503020204020204" pitchFamily="34" charset="-122"/>
                <a:ea typeface="微软雅黑" panose="020B0503020204020204" pitchFamily="34" charset="-122"/>
              </a:rPr>
              <a:t>(bit)</a:t>
            </a:r>
            <a:r>
              <a:rPr lang="zh-CN" altLang="en-US" sz="1600" baseline="0" dirty="0">
                <a:latin typeface="微软雅黑" panose="020B0503020204020204" pitchFamily="34" charset="-122"/>
                <a:ea typeface="微软雅黑" panose="020B0503020204020204" pitchFamily="34" charset="-122"/>
              </a:rPr>
              <a:t>，是被承载的。</a:t>
            </a:r>
            <a:endParaRPr lang="en-US" altLang="zh-CN" sz="1600" baseline="0" dirty="0">
              <a:latin typeface="微软雅黑" panose="020B0503020204020204" pitchFamily="34" charset="-122"/>
              <a:ea typeface="微软雅黑" panose="020B0503020204020204" pitchFamily="34" charset="-122"/>
            </a:endParaRPr>
          </a:p>
          <a:p>
            <a:pPr marL="285750" indent="-285750" algn="just">
              <a:lnSpc>
                <a:spcPct val="250000"/>
              </a:lnSpc>
              <a:buClr>
                <a:srgbClr val="FF0000"/>
              </a:buClr>
              <a:buSzPct val="80000"/>
              <a:buFont typeface="Wingdings" panose="05000000000000000000" pitchFamily="2" charset="2"/>
              <a:buChar char="u"/>
            </a:pPr>
            <a:r>
              <a:rPr lang="zh-CN" altLang="en-US" sz="1600" baseline="0" dirty="0">
                <a:latin typeface="微软雅黑" panose="020B0503020204020204" pitchFamily="34" charset="-122"/>
                <a:ea typeface="微软雅黑" panose="020B0503020204020204" pitchFamily="34" charset="-122"/>
              </a:rPr>
              <a:t>信号元素 </a:t>
            </a:r>
            <a:r>
              <a:rPr lang="en-US" altLang="zh-CN" sz="1600" baseline="0" dirty="0">
                <a:latin typeface="微软雅黑" panose="020B0503020204020204" pitchFamily="34" charset="-122"/>
                <a:ea typeface="微软雅黑" panose="020B0503020204020204" pitchFamily="34" charset="-122"/>
              </a:rPr>
              <a:t>(signal element)</a:t>
            </a:r>
            <a:r>
              <a:rPr lang="zh-CN" altLang="en-US" sz="1600" baseline="0" dirty="0">
                <a:latin typeface="微软雅黑" panose="020B0503020204020204" pitchFamily="34" charset="-122"/>
                <a:ea typeface="微软雅黑" panose="020B0503020204020204" pitchFamily="34" charset="-122"/>
              </a:rPr>
              <a:t> 是数字信号的最小单元，是传输载体。</a:t>
            </a:r>
            <a:endParaRPr lang="en-US" altLang="zh-CN" sz="1600" baseline="0" dirty="0">
              <a:latin typeface="微软雅黑" panose="020B0503020204020204" pitchFamily="34" charset="-122"/>
              <a:ea typeface="微软雅黑" panose="020B0503020204020204" pitchFamily="34" charset="-122"/>
            </a:endParaRPr>
          </a:p>
          <a:p>
            <a:pPr marL="285750" indent="-285750" algn="just">
              <a:lnSpc>
                <a:spcPct val="250000"/>
              </a:lnSpc>
              <a:buClr>
                <a:srgbClr val="FF0000"/>
              </a:buClr>
              <a:buSzPct val="80000"/>
              <a:buFont typeface="Wingdings" panose="05000000000000000000" pitchFamily="2" charset="2"/>
              <a:buChar char="u"/>
            </a:pPr>
            <a:r>
              <a:rPr lang="zh-CN" altLang="en-US" sz="1600" baseline="0" dirty="0">
                <a:latin typeface="微软雅黑" panose="020B0503020204020204" pitchFamily="34" charset="-122"/>
                <a:ea typeface="微软雅黑" panose="020B0503020204020204" pitchFamily="34" charset="-122"/>
              </a:rPr>
              <a:t>信号元素与数据元素的关系是如何用信号表示传输的数据，将每个信号元素承载的数据元素的个数定义为比率 </a:t>
            </a:r>
            <a:r>
              <a:rPr lang="en-US" altLang="zh-CN" sz="1600" baseline="0" dirty="0">
                <a:latin typeface="微软雅黑" panose="020B0503020204020204" pitchFamily="34" charset="-122"/>
                <a:ea typeface="微软雅黑" panose="020B0503020204020204" pitchFamily="34" charset="-122"/>
              </a:rPr>
              <a:t>r </a:t>
            </a:r>
            <a:r>
              <a:rPr lang="zh-CN" altLang="en-US" sz="1600" baseline="0"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灯片编号占位符 3">
            <a:extLst>
              <a:ext uri="{FF2B5EF4-FFF2-40B4-BE49-F238E27FC236}">
                <a16:creationId xmlns:a16="http://schemas.microsoft.com/office/drawing/2014/main" id="{2D47E6B0-5243-4502-AC74-32660C6E965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506E005-028E-4906-A271-7056B938A2C3}" type="slidenum">
              <a:rPr lang="en-US" altLang="zh-CN" baseline="0" smtClean="0">
                <a:solidFill>
                  <a:schemeClr val="bg2"/>
                </a:solidFill>
                <a:latin typeface="Arial" panose="020B0604020202020204" pitchFamily="34" charset="0"/>
              </a:rPr>
              <a:pPr/>
              <a:t>5</a:t>
            </a:fld>
            <a:endParaRPr lang="en-US" altLang="zh-CN" baseline="0">
              <a:solidFill>
                <a:schemeClr val="bg2"/>
              </a:solidFill>
              <a:latin typeface="Arial" panose="020B0604020202020204" pitchFamily="34" charset="0"/>
            </a:endParaRPr>
          </a:p>
        </p:txBody>
      </p:sp>
      <p:sp>
        <p:nvSpPr>
          <p:cNvPr id="15364" name="Rectangle 2">
            <a:extLst>
              <a:ext uri="{FF2B5EF4-FFF2-40B4-BE49-F238E27FC236}">
                <a16:creationId xmlns:a16="http://schemas.microsoft.com/office/drawing/2014/main" id="{F4D89EF6-153F-4749-88DC-98B545C97E73}"/>
              </a:ext>
            </a:extLst>
          </p:cNvPr>
          <p:cNvSpPr>
            <a:spLocks noChangeArrowheads="1"/>
          </p:cNvSpPr>
          <p:nvPr/>
        </p:nvSpPr>
        <p:spPr bwMode="auto">
          <a:xfrm>
            <a:off x="1524000" y="-148758"/>
            <a:ext cx="9144000" cy="29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aphicFrame>
        <p:nvGraphicFramePr>
          <p:cNvPr id="15365" name="对象 5">
            <a:extLst>
              <a:ext uri="{FF2B5EF4-FFF2-40B4-BE49-F238E27FC236}">
                <a16:creationId xmlns:a16="http://schemas.microsoft.com/office/drawing/2014/main" id="{BBFAA256-DA75-4E77-B1C5-048695C2C9C8}"/>
              </a:ext>
            </a:extLst>
          </p:cNvPr>
          <p:cNvGraphicFramePr>
            <a:graphicFrameLocks noChangeAspect="1"/>
          </p:cNvGraphicFramePr>
          <p:nvPr>
            <p:extLst>
              <p:ext uri="{D42A27DB-BD31-4B8C-83A1-F6EECF244321}">
                <p14:modId xmlns:p14="http://schemas.microsoft.com/office/powerpoint/2010/main" val="1411026680"/>
              </p:ext>
            </p:extLst>
          </p:nvPr>
        </p:nvGraphicFramePr>
        <p:xfrm>
          <a:off x="5334000" y="3030588"/>
          <a:ext cx="1524000" cy="735135"/>
        </p:xfrm>
        <a:graphic>
          <a:graphicData uri="http://schemas.openxmlformats.org/presentationml/2006/ole">
            <mc:AlternateContent xmlns:mc="http://schemas.openxmlformats.org/markup-compatibility/2006">
              <mc:Choice xmlns:v="urn:schemas-microsoft-com:vml" Requires="v">
                <p:oleObj spid="_x0000_s15584" name="Equation" r:id="rId4" imgW="812447" imgH="393529" progId="Equation.DSMT4">
                  <p:embed/>
                </p:oleObj>
              </mc:Choice>
              <mc:Fallback>
                <p:oleObj name="Equation" r:id="rId4" imgW="812447" imgH="393529"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3030588"/>
                        <a:ext cx="1524000" cy="735135"/>
                      </a:xfrm>
                      <a:prstGeom prst="rect">
                        <a:avLst/>
                      </a:prstGeom>
                      <a:noFill/>
                      <a:ln>
                        <a:noFill/>
                      </a:ln>
                      <a:extLst/>
                    </p:spPr>
                  </p:pic>
                </p:oleObj>
              </mc:Fallback>
            </mc:AlternateContent>
          </a:graphicData>
        </a:graphic>
      </p:graphicFrame>
      <p:sp>
        <p:nvSpPr>
          <p:cNvPr id="2" name="矩形 1">
            <a:extLst>
              <a:ext uri="{FF2B5EF4-FFF2-40B4-BE49-F238E27FC236}">
                <a16:creationId xmlns:a16="http://schemas.microsoft.com/office/drawing/2014/main" id="{C5B6F819-09CD-4FFD-898F-D8CBD5F3605A}"/>
              </a:ext>
            </a:extLst>
          </p:cNvPr>
          <p:cNvSpPr/>
          <p:nvPr/>
        </p:nvSpPr>
        <p:spPr>
          <a:xfrm>
            <a:off x="1371600" y="1066801"/>
            <a:ext cx="9677400" cy="1670778"/>
          </a:xfrm>
          <a:prstGeom prst="rect">
            <a:avLst/>
          </a:prstGeom>
        </p:spPr>
        <p:txBody>
          <a:bodyPr wrap="square">
            <a:spAutoFit/>
          </a:bodyPr>
          <a:lstStyle/>
          <a:p>
            <a:pPr marL="285750" indent="-285750" algn="just">
              <a:lnSpc>
                <a:spcPct val="200000"/>
              </a:lnSpc>
              <a:buClr>
                <a:srgbClr val="FF0000"/>
              </a:buClr>
              <a:buSzPct val="80000"/>
              <a:buFont typeface="Wingdings" panose="05000000000000000000" pitchFamily="2" charset="2"/>
              <a:buChar char="u"/>
            </a:pPr>
            <a:r>
              <a:rPr lang="zh-CN" altLang="en-US" sz="1800" baseline="0" dirty="0">
                <a:latin typeface="微软雅黑" panose="020B0503020204020204" pitchFamily="34" charset="-122"/>
                <a:ea typeface="微软雅黑" panose="020B0503020204020204" pitchFamily="34" charset="-122"/>
              </a:rPr>
              <a:t>数据速率指每秒发送的数据元素的数量，单位是 </a:t>
            </a:r>
            <a:r>
              <a:rPr lang="en-US" altLang="zh-CN" sz="1800" baseline="0" dirty="0">
                <a:latin typeface="微软雅黑" panose="020B0503020204020204" pitchFamily="34" charset="-122"/>
                <a:ea typeface="微软雅黑" panose="020B0503020204020204" pitchFamily="34" charset="-122"/>
              </a:rPr>
              <a:t>bps </a:t>
            </a:r>
            <a:r>
              <a:rPr lang="zh-CN" altLang="en-US" sz="1800" baseline="0" dirty="0">
                <a:latin typeface="微软雅黑" panose="020B0503020204020204" pitchFamily="34" charset="-122"/>
                <a:ea typeface="微软雅黑" panose="020B0503020204020204" pitchFamily="34" charset="-122"/>
              </a:rPr>
              <a:t>或 </a:t>
            </a:r>
            <a:r>
              <a:rPr lang="en-US" altLang="zh-CN" sz="1800" baseline="0" dirty="0">
                <a:latin typeface="微软雅黑" panose="020B0503020204020204" pitchFamily="34" charset="-122"/>
                <a:ea typeface="微软雅黑" panose="020B0503020204020204" pitchFamily="34" charset="-122"/>
              </a:rPr>
              <a:t>b/s</a:t>
            </a:r>
            <a:r>
              <a:rPr lang="zh-CN" altLang="en-US" sz="1800" baseline="0" dirty="0">
                <a:latin typeface="微软雅黑" panose="020B0503020204020204" pitchFamily="34" charset="-122"/>
                <a:ea typeface="微软雅黑" panose="020B0503020204020204" pitchFamily="34" charset="-122"/>
              </a:rPr>
              <a:t>，也叫比特率。</a:t>
            </a:r>
            <a:endParaRPr lang="en-US" altLang="zh-CN" sz="180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pPr>
            <a:r>
              <a:rPr lang="zh-CN" altLang="en-US" sz="1800" baseline="0" dirty="0">
                <a:latin typeface="微软雅黑" panose="020B0503020204020204" pitchFamily="34" charset="-122"/>
                <a:ea typeface="微软雅黑" panose="020B0503020204020204" pitchFamily="34" charset="-122"/>
              </a:rPr>
              <a:t>信号速率指每秒发送的信号元素的数量，单位是波特 </a:t>
            </a:r>
            <a:r>
              <a:rPr lang="en-US" altLang="zh-CN" sz="1800" baseline="0" dirty="0">
                <a:latin typeface="微软雅黑" panose="020B0503020204020204" pitchFamily="34" charset="-122"/>
                <a:ea typeface="微软雅黑" panose="020B0503020204020204" pitchFamily="34" charset="-122"/>
              </a:rPr>
              <a:t>(baud)</a:t>
            </a:r>
            <a:r>
              <a:rPr lang="zh-CN" altLang="en-US" sz="1800" baseline="0" dirty="0">
                <a:latin typeface="微软雅黑" panose="020B0503020204020204" pitchFamily="34" charset="-122"/>
                <a:ea typeface="微软雅黑" panose="020B0503020204020204" pitchFamily="34" charset="-122"/>
              </a:rPr>
              <a:t> 。 </a:t>
            </a:r>
            <a:endParaRPr lang="en-US" altLang="zh-CN" sz="180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pPr>
            <a:r>
              <a:rPr lang="zh-CN" altLang="en-US" sz="1800" b="1" baseline="0" dirty="0">
                <a:latin typeface="微软雅黑" panose="020B0503020204020204" pitchFamily="34" charset="-122"/>
                <a:ea typeface="微软雅黑" panose="020B0503020204020204" pitchFamily="34" charset="-122"/>
              </a:rPr>
              <a:t>编码的目标是增加数据速率而降低信号速率。</a:t>
            </a:r>
            <a:r>
              <a:rPr lang="zh-CN" altLang="en-US" sz="1800" baseline="0" dirty="0">
                <a:latin typeface="微软雅黑" panose="020B0503020204020204" pitchFamily="34" charset="-122"/>
                <a:ea typeface="微软雅黑" panose="020B0503020204020204" pitchFamily="34" charset="-122"/>
              </a:rPr>
              <a:t>信号速率和数据速率的关系：</a:t>
            </a:r>
            <a:endParaRPr lang="en-US" altLang="zh-CN" sz="1800" baseline="0" dirty="0">
              <a:latin typeface="微软雅黑" panose="020B0503020204020204" pitchFamily="34" charset="-122"/>
              <a:ea typeface="微软雅黑" panose="020B0503020204020204" pitchFamily="34" charset="-122"/>
            </a:endParaRPr>
          </a:p>
        </p:txBody>
      </p:sp>
      <p:sp>
        <p:nvSpPr>
          <p:cNvPr id="12" name="Rectangle 11">
            <a:extLst>
              <a:ext uri="{FF2B5EF4-FFF2-40B4-BE49-F238E27FC236}">
                <a16:creationId xmlns:a16="http://schemas.microsoft.com/office/drawing/2014/main" id="{1C4DC72A-196D-42BC-92BF-343A7E638F4B}"/>
              </a:ext>
            </a:extLst>
          </p:cNvPr>
          <p:cNvSpPr>
            <a:spLocks noChangeArrowheads="1"/>
          </p:cNvSpPr>
          <p:nvPr/>
        </p:nvSpPr>
        <p:spPr bwMode="auto">
          <a:xfrm>
            <a:off x="1374289" y="4326060"/>
            <a:ext cx="7239000" cy="1659237"/>
          </a:xfrm>
          <a:prstGeom prst="rect">
            <a:avLst/>
          </a:prstGeom>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285750" indent="-285750" algn="just">
              <a:lnSpc>
                <a:spcPct val="150000"/>
              </a:lnSpc>
              <a:buClr>
                <a:srgbClr val="FF0000"/>
              </a:buClr>
              <a:buSzPct val="80000"/>
              <a:buFont typeface="Wingdings" panose="05000000000000000000" pitchFamily="2" charset="2"/>
              <a:buChar char="u"/>
            </a:pPr>
            <a:r>
              <a:rPr lang="zh-CN" altLang="en-US" sz="1800" baseline="0" dirty="0">
                <a:latin typeface="微软雅黑" panose="020B0503020204020204" pitchFamily="34" charset="-122"/>
                <a:ea typeface="微软雅黑" panose="020B0503020204020204" pitchFamily="34" charset="-122"/>
              </a:rPr>
              <a:t>最小带宽</a:t>
            </a:r>
            <a:endParaRPr lang="en-US" altLang="zh-CN" sz="1800" baseline="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endParaRPr lang="en-US" altLang="zh-CN" sz="1700" baseline="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endParaRPr lang="en-US" altLang="zh-CN" sz="1700" baseline="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800" baseline="0" dirty="0">
                <a:latin typeface="微软雅黑" panose="020B0503020204020204" pitchFamily="34" charset="-122"/>
                <a:ea typeface="微软雅黑" panose="020B0503020204020204" pitchFamily="34" charset="-122"/>
              </a:rPr>
              <a:t>最大数据速率为</a:t>
            </a:r>
          </a:p>
        </p:txBody>
      </p:sp>
      <p:graphicFrame>
        <p:nvGraphicFramePr>
          <p:cNvPr id="13" name="对象 1">
            <a:extLst>
              <a:ext uri="{FF2B5EF4-FFF2-40B4-BE49-F238E27FC236}">
                <a16:creationId xmlns:a16="http://schemas.microsoft.com/office/drawing/2014/main" id="{5C821E36-20DC-4A83-826C-0B1B6009A381}"/>
              </a:ext>
            </a:extLst>
          </p:cNvPr>
          <p:cNvGraphicFramePr>
            <a:graphicFrameLocks noChangeAspect="1"/>
          </p:cNvGraphicFramePr>
          <p:nvPr>
            <p:extLst>
              <p:ext uri="{D42A27DB-BD31-4B8C-83A1-F6EECF244321}">
                <p14:modId xmlns:p14="http://schemas.microsoft.com/office/powerpoint/2010/main" val="1014797333"/>
              </p:ext>
            </p:extLst>
          </p:nvPr>
        </p:nvGraphicFramePr>
        <p:xfrm>
          <a:off x="5224234" y="4240330"/>
          <a:ext cx="1743532" cy="699271"/>
        </p:xfrm>
        <a:graphic>
          <a:graphicData uri="http://schemas.openxmlformats.org/presentationml/2006/ole">
            <mc:AlternateContent xmlns:mc="http://schemas.openxmlformats.org/markup-compatibility/2006">
              <mc:Choice xmlns:v="urn:schemas-microsoft-com:vml" Requires="v">
                <p:oleObj spid="_x0000_s15585" name="Equation" r:id="rId6" imgW="977476" imgH="393529" progId="Equation.DSMT4">
                  <p:embed/>
                </p:oleObj>
              </mc:Choice>
              <mc:Fallback>
                <p:oleObj name="Equation" r:id="rId6" imgW="977476" imgH="393529" progId="Equation.DSMT4">
                  <p:embed/>
                  <p:pic>
                    <p:nvPicPr>
                      <p:cNvPr id="18446" name="对象 1">
                        <a:extLst>
                          <a:ext uri="{FF2B5EF4-FFF2-40B4-BE49-F238E27FC236}">
                            <a16:creationId xmlns:a16="http://schemas.microsoft.com/office/drawing/2014/main" id="{3BDFA502-25A4-42EB-91FF-36D22221FC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4234" y="4240330"/>
                        <a:ext cx="1743532" cy="699271"/>
                      </a:xfrm>
                      <a:prstGeom prst="rect">
                        <a:avLst/>
                      </a:prstGeom>
                      <a:noFill/>
                      <a:ln>
                        <a:noFill/>
                      </a:ln>
                      <a:extLst/>
                    </p:spPr>
                  </p:pic>
                </p:oleObj>
              </mc:Fallback>
            </mc:AlternateContent>
          </a:graphicData>
        </a:graphic>
      </p:graphicFrame>
      <p:graphicFrame>
        <p:nvGraphicFramePr>
          <p:cNvPr id="14" name="对象 2">
            <a:extLst>
              <a:ext uri="{FF2B5EF4-FFF2-40B4-BE49-F238E27FC236}">
                <a16:creationId xmlns:a16="http://schemas.microsoft.com/office/drawing/2014/main" id="{1E8FB4E9-B6D4-483B-80A2-4D7083BBCFBD}"/>
              </a:ext>
            </a:extLst>
          </p:cNvPr>
          <p:cNvGraphicFramePr>
            <a:graphicFrameLocks noChangeAspect="1"/>
          </p:cNvGraphicFramePr>
          <p:nvPr>
            <p:extLst>
              <p:ext uri="{D42A27DB-BD31-4B8C-83A1-F6EECF244321}">
                <p14:modId xmlns:p14="http://schemas.microsoft.com/office/powerpoint/2010/main" val="1920958075"/>
              </p:ext>
            </p:extLst>
          </p:nvPr>
        </p:nvGraphicFramePr>
        <p:xfrm>
          <a:off x="5200650" y="5414208"/>
          <a:ext cx="1905000" cy="753984"/>
        </p:xfrm>
        <a:graphic>
          <a:graphicData uri="http://schemas.openxmlformats.org/presentationml/2006/ole">
            <mc:AlternateContent xmlns:mc="http://schemas.openxmlformats.org/markup-compatibility/2006">
              <mc:Choice xmlns:v="urn:schemas-microsoft-com:vml" Requires="v">
                <p:oleObj spid="_x0000_s15586" name="Equation" r:id="rId8" imgW="990170" imgH="393529" progId="Equation.DSMT4">
                  <p:embed/>
                </p:oleObj>
              </mc:Choice>
              <mc:Fallback>
                <p:oleObj name="Equation" r:id="rId8" imgW="990170" imgH="393529" progId="Equation.DSMT4">
                  <p:embed/>
                  <p:pic>
                    <p:nvPicPr>
                      <p:cNvPr id="18447" name="对象 2">
                        <a:extLst>
                          <a:ext uri="{FF2B5EF4-FFF2-40B4-BE49-F238E27FC236}">
                            <a16:creationId xmlns:a16="http://schemas.microsoft.com/office/drawing/2014/main" id="{6253A61D-A790-4DF7-AA74-6FC30E5A99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0650" y="5414208"/>
                        <a:ext cx="1905000" cy="753984"/>
                      </a:xfrm>
                      <a:prstGeom prst="rect">
                        <a:avLst/>
                      </a:prstGeom>
                      <a:noFill/>
                      <a:ln>
                        <a:noFill/>
                      </a:ln>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 name="Rectangle 9">
            <a:extLst>
              <a:ext uri="{FF2B5EF4-FFF2-40B4-BE49-F238E27FC236}">
                <a16:creationId xmlns:a16="http://schemas.microsoft.com/office/drawing/2014/main" id="{E268F91A-2FED-4DD6-AAAB-D30CBC9DBDE0}"/>
              </a:ext>
            </a:extLst>
          </p:cNvPr>
          <p:cNvSpPr>
            <a:spLocks noChangeArrowheads="1"/>
          </p:cNvSpPr>
          <p:nvPr/>
        </p:nvSpPr>
        <p:spPr bwMode="auto">
          <a:xfrm>
            <a:off x="1524000" y="1143000"/>
            <a:ext cx="9220199" cy="135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250000"/>
              </a:lnSpc>
            </a:pPr>
            <a:r>
              <a:rPr lang="zh-CN" altLang="en-US" sz="1800" b="1" baseline="0" dirty="0">
                <a:solidFill>
                  <a:srgbClr val="FF0000"/>
                </a:solidFill>
                <a:latin typeface="微软雅黑" panose="020B0503020204020204" pitchFamily="34" charset="-122"/>
                <a:ea typeface="微软雅黑" panose="020B0503020204020204" pitchFamily="34" charset="-122"/>
              </a:rPr>
              <a:t>例</a:t>
            </a:r>
            <a:r>
              <a:rPr lang="en-US" altLang="zh-CN" sz="1800" b="1" baseline="0" dirty="0">
                <a:solidFill>
                  <a:srgbClr val="FF0000"/>
                </a:solidFill>
                <a:latin typeface="微软雅黑" panose="020B0503020204020204" pitchFamily="34" charset="-122"/>
                <a:ea typeface="微软雅黑" panose="020B0503020204020204" pitchFamily="34" charset="-122"/>
              </a:rPr>
              <a:t>4.2  </a:t>
            </a:r>
            <a:r>
              <a:rPr lang="zh-CN" altLang="en-US" sz="1800" baseline="0" dirty="0">
                <a:latin typeface="微软雅黑" panose="020B0503020204020204" pitchFamily="34" charset="-122"/>
                <a:ea typeface="微软雅黑" panose="020B0503020204020204" pitchFamily="34" charset="-122"/>
              </a:rPr>
              <a:t>通道的最大数据速率是</a:t>
            </a:r>
            <a:r>
              <a:rPr lang="zh-CN" altLang="en-US" sz="1800" b="1" baseline="0" dirty="0">
                <a:latin typeface="微软雅黑" panose="020B0503020204020204" pitchFamily="34" charset="-122"/>
                <a:ea typeface="微软雅黑" panose="020B0503020204020204" pitchFamily="34" charset="-122"/>
              </a:rPr>
              <a:t> </a:t>
            </a:r>
            <a:r>
              <a:rPr lang="en-US" altLang="zh-CN" sz="1800" b="1" i="1" baseline="0" dirty="0" err="1">
                <a:ea typeface="宋体" panose="02010600030101010101" pitchFamily="2" charset="-122"/>
              </a:rPr>
              <a:t>N</a:t>
            </a:r>
            <a:r>
              <a:rPr lang="en-US" altLang="zh-CN" sz="1800" b="1" dirty="0" err="1">
                <a:ea typeface="宋体" panose="02010600030101010101" pitchFamily="2" charset="-122"/>
              </a:rPr>
              <a:t>max</a:t>
            </a:r>
            <a:r>
              <a:rPr lang="en-US" altLang="zh-CN" sz="1800" b="1" baseline="0" dirty="0">
                <a:ea typeface="宋体" panose="02010600030101010101" pitchFamily="2" charset="-122"/>
              </a:rPr>
              <a:t> = 2 × </a:t>
            </a:r>
            <a:r>
              <a:rPr lang="en-US" altLang="zh-CN" sz="1800" b="1" i="1" baseline="0" dirty="0">
                <a:ea typeface="宋体" panose="02010600030101010101" pitchFamily="2" charset="-122"/>
              </a:rPr>
              <a:t>B</a:t>
            </a:r>
            <a:r>
              <a:rPr lang="en-US" altLang="zh-CN" sz="1800" b="1" baseline="0" dirty="0">
                <a:ea typeface="宋体" panose="02010600030101010101" pitchFamily="2" charset="-122"/>
              </a:rPr>
              <a:t> × log</a:t>
            </a:r>
            <a:r>
              <a:rPr lang="en-US" altLang="zh-CN" sz="1800" b="1" baseline="-25000" dirty="0">
                <a:ea typeface="宋体" panose="02010600030101010101" pitchFamily="2" charset="-122"/>
              </a:rPr>
              <a:t>2</a:t>
            </a:r>
            <a:r>
              <a:rPr lang="en-US" altLang="zh-CN" sz="1800" b="1" baseline="0" dirty="0">
                <a:ea typeface="宋体" panose="02010600030101010101" pitchFamily="2" charset="-122"/>
              </a:rPr>
              <a:t> </a:t>
            </a:r>
            <a:r>
              <a:rPr lang="en-US" altLang="zh-CN" sz="1800" b="1" i="1" baseline="0" dirty="0">
                <a:ea typeface="宋体" panose="02010600030101010101" pitchFamily="2" charset="-122"/>
              </a:rPr>
              <a:t>L</a:t>
            </a:r>
            <a:r>
              <a:rPr lang="en-US" altLang="zh-CN" sz="1800" b="1" baseline="0" dirty="0">
                <a:ea typeface="宋体" panose="02010600030101010101" pitchFamily="2" charset="-122"/>
              </a:rPr>
              <a:t> </a:t>
            </a:r>
            <a:r>
              <a:rPr lang="zh-CN" altLang="en-US" sz="1800" baseline="0" dirty="0">
                <a:latin typeface="微软雅黑" panose="020B0503020204020204" pitchFamily="34" charset="-122"/>
                <a:ea typeface="微软雅黑" panose="020B0503020204020204" pitchFamily="34" charset="-122"/>
              </a:rPr>
              <a:t>（由奈奎斯特公式定义），与前面定义的 </a:t>
            </a:r>
            <a:r>
              <a:rPr lang="en-US" altLang="zh-CN" sz="1800" b="1" i="1" baseline="0" dirty="0" err="1">
                <a:ea typeface="宋体" panose="02010600030101010101" pitchFamily="2" charset="-122"/>
              </a:rPr>
              <a:t>N</a:t>
            </a:r>
            <a:r>
              <a:rPr lang="en-US" altLang="zh-CN" sz="1800" b="1" baseline="-25000" dirty="0" err="1">
                <a:ea typeface="宋体" panose="02010600030101010101" pitchFamily="2" charset="-122"/>
              </a:rPr>
              <a:t>max</a:t>
            </a:r>
            <a:r>
              <a:rPr lang="en-US" altLang="zh-CN" sz="1800" b="1" baseline="-25000" dirty="0">
                <a:ea typeface="宋体" panose="02010600030101010101" pitchFamily="2" charset="-122"/>
              </a:rPr>
              <a:t> </a:t>
            </a:r>
            <a:r>
              <a:rPr lang="zh-CN" altLang="en-US" sz="1800" baseline="0" dirty="0">
                <a:latin typeface="微软雅黑" panose="020B0503020204020204" pitchFamily="34" charset="-122"/>
                <a:ea typeface="微软雅黑" panose="020B0503020204020204" pitchFamily="34" charset="-122"/>
              </a:rPr>
              <a:t>公式一致吗？</a:t>
            </a:r>
            <a:endParaRPr lang="en-US" altLang="zh-CN" sz="1800" baseline="0" dirty="0">
              <a:latin typeface="微软雅黑" panose="020B0503020204020204" pitchFamily="34" charset="-122"/>
              <a:ea typeface="微软雅黑" panose="020B0503020204020204" pitchFamily="34" charset="-122"/>
            </a:endParaRPr>
          </a:p>
        </p:txBody>
      </p:sp>
      <p:sp>
        <p:nvSpPr>
          <p:cNvPr id="20491" name="Rectangle 10">
            <a:extLst>
              <a:ext uri="{FF2B5EF4-FFF2-40B4-BE49-F238E27FC236}">
                <a16:creationId xmlns:a16="http://schemas.microsoft.com/office/drawing/2014/main" id="{33F9E949-CBA4-44ED-8036-CD22E60F9769}"/>
              </a:ext>
            </a:extLst>
          </p:cNvPr>
          <p:cNvSpPr>
            <a:spLocks noChangeArrowheads="1"/>
          </p:cNvSpPr>
          <p:nvPr/>
        </p:nvSpPr>
        <p:spPr bwMode="auto">
          <a:xfrm>
            <a:off x="1600199" y="2768936"/>
            <a:ext cx="9143999" cy="135915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250000"/>
              </a:lnSpc>
            </a:pPr>
            <a:r>
              <a:rPr lang="zh-CN" altLang="en-US" sz="1800" baseline="0" dirty="0">
                <a:latin typeface="微软雅黑" panose="020B0503020204020204" pitchFamily="34" charset="-122"/>
                <a:ea typeface="微软雅黑" panose="020B0503020204020204" pitchFamily="34" charset="-122"/>
              </a:rPr>
              <a:t>解：若有</a:t>
            </a:r>
            <a:r>
              <a:rPr lang="zh-CN" altLang="en-US" sz="1800" baseline="0" dirty="0">
                <a:solidFill>
                  <a:schemeClr val="bg2"/>
                </a:solidFill>
                <a:ea typeface="宋体" panose="02010600030101010101" pitchFamily="2" charset="-122"/>
              </a:rPr>
              <a:t> </a:t>
            </a:r>
            <a:r>
              <a:rPr lang="en-US" altLang="zh-CN" sz="1800" b="1" i="1" baseline="0" dirty="0">
                <a:solidFill>
                  <a:schemeClr val="bg2"/>
                </a:solidFill>
                <a:ea typeface="宋体" panose="02010600030101010101" pitchFamily="2" charset="-122"/>
              </a:rPr>
              <a:t>L </a:t>
            </a:r>
            <a:r>
              <a:rPr lang="zh-CN" altLang="en-US" sz="1800" baseline="0" dirty="0">
                <a:latin typeface="微软雅黑" panose="020B0503020204020204" pitchFamily="34" charset="-122"/>
                <a:ea typeface="微软雅黑" panose="020B0503020204020204" pitchFamily="34" charset="-122"/>
              </a:rPr>
              <a:t>个电平信号，则每个电平可以携带 </a:t>
            </a:r>
            <a:r>
              <a:rPr lang="en-US" altLang="zh-CN" sz="1800" b="1" baseline="0" dirty="0">
                <a:ea typeface="宋体" panose="02010600030101010101" pitchFamily="2" charset="-122"/>
                <a:cs typeface="Times New Roman" panose="02020603050405020304" pitchFamily="18" charset="0"/>
              </a:rPr>
              <a:t>log</a:t>
            </a:r>
            <a:r>
              <a:rPr lang="en-US" altLang="zh-CN" sz="1800" b="1" baseline="-16000" dirty="0">
                <a:ea typeface="宋体" panose="02010600030101010101" pitchFamily="2" charset="-122"/>
                <a:cs typeface="Times New Roman" panose="02020603050405020304" pitchFamily="18" charset="0"/>
              </a:rPr>
              <a:t>2</a:t>
            </a:r>
            <a:r>
              <a:rPr lang="en-US" altLang="zh-CN" sz="1800" b="1" i="1" baseline="0" dirty="0">
                <a:ea typeface="宋体" panose="02010600030101010101" pitchFamily="2" charset="-122"/>
                <a:cs typeface="Times New Roman" panose="02020603050405020304" pitchFamily="18" charset="0"/>
              </a:rPr>
              <a:t>L </a:t>
            </a:r>
            <a:r>
              <a:rPr lang="zh-CN" altLang="en-US" sz="1800" baseline="0" dirty="0">
                <a:latin typeface="微软雅黑" panose="020B0503020204020204" pitchFamily="34" charset="-122"/>
                <a:ea typeface="微软雅黑" panose="020B0503020204020204" pitchFamily="34" charset="-122"/>
              </a:rPr>
              <a:t>个比特。如果每个电平与一个信号元素对应，假定一般情形 </a:t>
            </a:r>
            <a:r>
              <a:rPr lang="en-US" altLang="zh-CN" sz="1800" baseline="0" dirty="0">
                <a:latin typeface="微软雅黑" panose="020B0503020204020204" pitchFamily="34" charset="-122"/>
                <a:ea typeface="微软雅黑" panose="020B0503020204020204" pitchFamily="34" charset="-122"/>
              </a:rPr>
              <a:t>(</a:t>
            </a:r>
            <a:r>
              <a:rPr lang="en-US" altLang="zh-CN" sz="1800" b="1" i="1" baseline="0" dirty="0">
                <a:ea typeface="微软雅黑" panose="020B0503020204020204" pitchFamily="34" charset="-122"/>
                <a:cs typeface="Times New Roman" panose="02020603050405020304" pitchFamily="18" charset="0"/>
              </a:rPr>
              <a:t>c</a:t>
            </a:r>
            <a:r>
              <a:rPr lang="en-US" altLang="zh-CN" sz="1800" b="1" baseline="0" dirty="0">
                <a:ea typeface="微软雅黑" panose="020B0503020204020204" pitchFamily="34" charset="-122"/>
                <a:cs typeface="Times New Roman" panose="02020603050405020304" pitchFamily="18" charset="0"/>
              </a:rPr>
              <a:t> = 1/2</a:t>
            </a:r>
            <a:r>
              <a:rPr lang="en-US" altLang="zh-CN" sz="1800" baseline="0" dirty="0">
                <a:latin typeface="微软雅黑" panose="020B0503020204020204" pitchFamily="34" charset="-122"/>
                <a:ea typeface="微软雅黑" panose="020B0503020204020204" pitchFamily="34" charset="-122"/>
              </a:rPr>
              <a:t>)</a:t>
            </a:r>
            <a:r>
              <a:rPr lang="zh-CN" altLang="en-US" sz="1800" baseline="0" dirty="0">
                <a:latin typeface="微软雅黑" panose="020B0503020204020204" pitchFamily="34" charset="-122"/>
                <a:ea typeface="微软雅黑" panose="020B0503020204020204" pitchFamily="34" charset="-122"/>
              </a:rPr>
              <a:t>，</a:t>
            </a:r>
            <a:r>
              <a:rPr lang="en-US" altLang="zh-CN" sz="1800" baseline="0" dirty="0">
                <a:latin typeface="微软雅黑" panose="020B0503020204020204" pitchFamily="34" charset="-122"/>
                <a:ea typeface="微软雅黑" panose="020B0503020204020204" pitchFamily="34" charset="-122"/>
              </a:rPr>
              <a:t> </a:t>
            </a:r>
            <a:r>
              <a:rPr lang="zh-CN" altLang="en-US" sz="1800" baseline="0" dirty="0">
                <a:latin typeface="微软雅黑" panose="020B0503020204020204" pitchFamily="34" charset="-122"/>
                <a:ea typeface="微软雅黑" panose="020B0503020204020204" pitchFamily="34" charset="-122"/>
              </a:rPr>
              <a:t>则有</a:t>
            </a:r>
            <a:endParaRPr lang="en-US" altLang="zh-CN" sz="1800" baseline="0" dirty="0">
              <a:latin typeface="微软雅黑" panose="020B0503020204020204" pitchFamily="34" charset="-122"/>
              <a:ea typeface="微软雅黑" panose="020B0503020204020204" pitchFamily="34" charset="-122"/>
            </a:endParaRPr>
          </a:p>
        </p:txBody>
      </p:sp>
      <p:graphicFrame>
        <p:nvGraphicFramePr>
          <p:cNvPr id="12" name="对象 2">
            <a:extLst>
              <a:ext uri="{FF2B5EF4-FFF2-40B4-BE49-F238E27FC236}">
                <a16:creationId xmlns:a16="http://schemas.microsoft.com/office/drawing/2014/main" id="{BE12B994-5D50-4075-A860-2564695A82A8}"/>
              </a:ext>
            </a:extLst>
          </p:cNvPr>
          <p:cNvGraphicFramePr>
            <a:graphicFrameLocks noChangeAspect="1"/>
          </p:cNvGraphicFramePr>
          <p:nvPr>
            <p:extLst>
              <p:ext uri="{D42A27DB-BD31-4B8C-83A1-F6EECF244321}">
                <p14:modId xmlns:p14="http://schemas.microsoft.com/office/powerpoint/2010/main" val="2724052889"/>
              </p:ext>
            </p:extLst>
          </p:nvPr>
        </p:nvGraphicFramePr>
        <p:xfrm>
          <a:off x="3950110" y="4572000"/>
          <a:ext cx="1905000" cy="753984"/>
        </p:xfrm>
        <a:graphic>
          <a:graphicData uri="http://schemas.openxmlformats.org/presentationml/2006/ole">
            <mc:AlternateContent xmlns:mc="http://schemas.openxmlformats.org/markup-compatibility/2006">
              <mc:Choice xmlns:v="urn:schemas-microsoft-com:vml" Requires="v">
                <p:oleObj spid="_x0000_s122950" name="Equation" r:id="rId4" imgW="990170" imgH="393529" progId="Equation.DSMT4">
                  <p:embed/>
                </p:oleObj>
              </mc:Choice>
              <mc:Fallback>
                <p:oleObj name="Equation" r:id="rId4" imgW="990170" imgH="393529" progId="Equation.DSMT4">
                  <p:embed/>
                  <p:pic>
                    <p:nvPicPr>
                      <p:cNvPr id="14" name="对象 2">
                        <a:extLst>
                          <a:ext uri="{FF2B5EF4-FFF2-40B4-BE49-F238E27FC236}">
                            <a16:creationId xmlns:a16="http://schemas.microsoft.com/office/drawing/2014/main" id="{1E8FB4E9-B6D4-483B-80A2-4D7083BBCF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0110" y="4572000"/>
                        <a:ext cx="1905000" cy="753984"/>
                      </a:xfrm>
                      <a:prstGeom prst="rect">
                        <a:avLst/>
                      </a:prstGeom>
                      <a:noFill/>
                      <a:ln>
                        <a:noFill/>
                      </a:ln>
                      <a:extLst/>
                    </p:spPr>
                  </p:pic>
                </p:oleObj>
              </mc:Fallback>
            </mc:AlternateContent>
          </a:graphicData>
        </a:graphic>
      </p:graphicFrame>
      <p:sp>
        <p:nvSpPr>
          <p:cNvPr id="6" name="文本框 5">
            <a:extLst>
              <a:ext uri="{FF2B5EF4-FFF2-40B4-BE49-F238E27FC236}">
                <a16:creationId xmlns:a16="http://schemas.microsoft.com/office/drawing/2014/main" id="{B92295EB-D8E0-49AE-BEAB-459AA7EA8E6C}"/>
              </a:ext>
            </a:extLst>
          </p:cNvPr>
          <p:cNvSpPr txBox="1"/>
          <p:nvPr/>
        </p:nvSpPr>
        <p:spPr>
          <a:xfrm>
            <a:off x="5887065" y="4748937"/>
            <a:ext cx="2164375" cy="400110"/>
          </a:xfrm>
          <a:prstGeom prst="rect">
            <a:avLst/>
          </a:prstGeom>
          <a:noFill/>
        </p:spPr>
        <p:txBody>
          <a:bodyPr wrap="none" rtlCol="0">
            <a:spAutoFit/>
          </a:bodyPr>
          <a:lstStyle/>
          <a:p>
            <a:r>
              <a:rPr lang="en-US" altLang="zh-CN" baseline="0" dirty="0">
                <a:ea typeface="宋体" panose="02010600030101010101" pitchFamily="2" charset="-122"/>
              </a:rPr>
              <a:t>= 2 × </a:t>
            </a:r>
            <a:r>
              <a:rPr lang="en-US" altLang="zh-CN" i="1" baseline="0" dirty="0">
                <a:ea typeface="宋体" panose="02010600030101010101" pitchFamily="2" charset="-122"/>
              </a:rPr>
              <a:t>B</a:t>
            </a:r>
            <a:r>
              <a:rPr lang="en-US" altLang="zh-CN" baseline="0" dirty="0">
                <a:ea typeface="宋体" panose="02010600030101010101" pitchFamily="2" charset="-122"/>
              </a:rPr>
              <a:t> × log</a:t>
            </a:r>
            <a:r>
              <a:rPr lang="en-US" altLang="zh-CN" baseline="-25000" dirty="0">
                <a:ea typeface="宋体" panose="02010600030101010101" pitchFamily="2" charset="-122"/>
              </a:rPr>
              <a:t>2</a:t>
            </a:r>
            <a:r>
              <a:rPr lang="en-US" altLang="zh-CN" baseline="0" dirty="0">
                <a:ea typeface="宋体" panose="02010600030101010101" pitchFamily="2" charset="-122"/>
              </a:rPr>
              <a:t> </a:t>
            </a:r>
            <a:r>
              <a:rPr lang="en-US" altLang="zh-CN" i="1" baseline="0" dirty="0">
                <a:ea typeface="宋体" panose="02010600030101010101" pitchFamily="2" charset="-122"/>
              </a:rPr>
              <a:t>L</a:t>
            </a:r>
            <a:r>
              <a:rPr lang="en-US" altLang="zh-CN" baseline="0" dirty="0">
                <a:ea typeface="宋体" panose="02010600030101010101" pitchFamily="2" charset="-122"/>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91"/>
                                        </p:tgtEl>
                                        <p:attrNameLst>
                                          <p:attrName>style.visibility</p:attrName>
                                        </p:attrNameLst>
                                      </p:cBhvr>
                                      <p:to>
                                        <p:strVal val="visible"/>
                                      </p:to>
                                    </p:set>
                                    <p:animEffect transition="in" filter="wipe(left)">
                                      <p:cBhvr>
                                        <p:cTn id="7" dur="500"/>
                                        <p:tgtEl>
                                          <p:spTgt spid="2049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1"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7949EF2D-27A9-4651-A35C-362D9E326326}"/>
              </a:ext>
            </a:extLst>
          </p:cNvPr>
          <p:cNvSpPr>
            <a:spLocks noGrp="1"/>
          </p:cNvSpPr>
          <p:nvPr>
            <p:ph type="title"/>
          </p:nvPr>
        </p:nvSpPr>
        <p:spPr bwMode="auto">
          <a:xfrm>
            <a:off x="4038600" y="65443"/>
            <a:ext cx="3413023" cy="523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solidFill>
                  <a:schemeClr val="bg1"/>
                </a:solidFill>
                <a:latin typeface="微软雅黑" panose="020B0503020204020204" pitchFamily="34" charset="-122"/>
                <a:ea typeface="微软雅黑" panose="020B0503020204020204" pitchFamily="34" charset="-122"/>
              </a:rPr>
              <a:t>编码需要解决的问题</a:t>
            </a:r>
          </a:p>
        </p:txBody>
      </p:sp>
      <p:sp>
        <p:nvSpPr>
          <p:cNvPr id="22531" name="内容占位符 2">
            <a:extLst>
              <a:ext uri="{FF2B5EF4-FFF2-40B4-BE49-F238E27FC236}">
                <a16:creationId xmlns:a16="http://schemas.microsoft.com/office/drawing/2014/main" id="{0E294683-55EE-498B-BD16-6D49B681FF6D}"/>
              </a:ext>
            </a:extLst>
          </p:cNvPr>
          <p:cNvSpPr>
            <a:spLocks noGrp="1"/>
          </p:cNvSpPr>
          <p:nvPr>
            <p:ph idx="1"/>
          </p:nvPr>
        </p:nvSpPr>
        <p:spPr bwMode="auto">
          <a:xfrm>
            <a:off x="1295400" y="1143000"/>
            <a:ext cx="97536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基线偏移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(Baseline Wandering)</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：基线是指接收方收到信号功率的运行平均值，</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的长字串会引起基线偏移，使接收方不能正确地进行解码。</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直流分量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(DC Components)</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：接近于零的频率成为直流分量，会给不允许通过低频率的系统或者使用电子耦合的系统带来问题。</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自同步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(Self-synchronization)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：接收方的位间隔与发送方的位间隔严格对应与匹配，数字信号在传输的数据中包含有定时信息。</a:t>
            </a: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差错检测</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：在发送的码序列中加入适当的冗余度以使接收端能够发现传输中是否发生差错的技术。</a:t>
            </a: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抗噪声和抗干扰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：接收端按约定规则对收到的码元序列进行检测以发现或纠正错误，提高传输可靠性。</a:t>
            </a: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复杂性</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：代码量大，实现复杂。</a:t>
            </a:r>
          </a:p>
        </p:txBody>
      </p:sp>
      <p:sp>
        <p:nvSpPr>
          <p:cNvPr id="22532" name="灯片编号占位符 3">
            <a:extLst>
              <a:ext uri="{FF2B5EF4-FFF2-40B4-BE49-F238E27FC236}">
                <a16:creationId xmlns:a16="http://schemas.microsoft.com/office/drawing/2014/main" id="{1CB5D049-603A-436C-BDA5-C0F91AAED00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324DBCB-D0D1-4262-9CCD-D3946EE4A311}" type="slidenum">
              <a:rPr lang="en-US" altLang="zh-CN" baseline="0" smtClean="0">
                <a:solidFill>
                  <a:schemeClr val="bg2"/>
                </a:solidFill>
                <a:latin typeface="Arial" panose="020B0604020202020204" pitchFamily="34" charset="0"/>
              </a:rPr>
              <a:pPr/>
              <a:t>7</a:t>
            </a:fld>
            <a:endParaRPr lang="en-US" altLang="zh-CN" baseline="0">
              <a:solidFill>
                <a:schemeClr val="bg2"/>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Text Box 4">
            <a:extLst>
              <a:ext uri="{FF2B5EF4-FFF2-40B4-BE49-F238E27FC236}">
                <a16:creationId xmlns:a16="http://schemas.microsoft.com/office/drawing/2014/main" id="{56745B26-8039-4B7F-829E-65FAAC0A8079}"/>
              </a:ext>
            </a:extLst>
          </p:cNvPr>
          <p:cNvSpPr txBox="1">
            <a:spLocks noChangeArrowheads="1"/>
          </p:cNvSpPr>
          <p:nvPr/>
        </p:nvSpPr>
        <p:spPr bwMode="auto">
          <a:xfrm>
            <a:off x="4953001" y="3978252"/>
            <a:ext cx="24849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  </a:t>
            </a:r>
            <a:r>
              <a:rPr lang="zh-CN" altLang="en-US" sz="1400" b="1" baseline="0" dirty="0">
                <a:ea typeface="宋体" panose="02010600030101010101" pitchFamily="2" charset="-122"/>
              </a:rPr>
              <a:t>缺乏自同步的效果</a:t>
            </a:r>
            <a:endParaRPr lang="en-US" altLang="zh-CN" sz="1400" b="1" i="1" baseline="0" dirty="0">
              <a:ea typeface="宋体" panose="02010600030101010101" pitchFamily="2" charset="-122"/>
            </a:endParaRPr>
          </a:p>
        </p:txBody>
      </p:sp>
      <p:pic>
        <p:nvPicPr>
          <p:cNvPr id="24583" name="Picture 6">
            <a:extLst>
              <a:ext uri="{FF2B5EF4-FFF2-40B4-BE49-F238E27FC236}">
                <a16:creationId xmlns:a16="http://schemas.microsoft.com/office/drawing/2014/main" id="{E17B7295-B46D-45E7-BDEE-78021E8D1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990600"/>
            <a:ext cx="4570412" cy="2945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9">
            <a:extLst>
              <a:ext uri="{FF2B5EF4-FFF2-40B4-BE49-F238E27FC236}">
                <a16:creationId xmlns:a16="http://schemas.microsoft.com/office/drawing/2014/main" id="{70D3731B-B7D1-4D6E-9183-D8356B0A2862}"/>
              </a:ext>
            </a:extLst>
          </p:cNvPr>
          <p:cNvSpPr>
            <a:spLocks noChangeArrowheads="1"/>
          </p:cNvSpPr>
          <p:nvPr/>
        </p:nvSpPr>
        <p:spPr bwMode="auto">
          <a:xfrm>
            <a:off x="1219200" y="4327815"/>
            <a:ext cx="9982200" cy="74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zh-CN" altLang="en-US" sz="1500" b="1" baseline="0" dirty="0">
                <a:solidFill>
                  <a:srgbClr val="FF0000"/>
                </a:solidFill>
                <a:latin typeface="微软雅黑" panose="020B0503020204020204" pitchFamily="34" charset="-122"/>
                <a:ea typeface="微软雅黑" panose="020B0503020204020204" pitchFamily="34" charset="-122"/>
              </a:rPr>
              <a:t>例</a:t>
            </a:r>
            <a:r>
              <a:rPr lang="en-US" altLang="zh-CN" sz="1500" b="1" baseline="0" dirty="0">
                <a:solidFill>
                  <a:srgbClr val="FF0000"/>
                </a:solidFill>
                <a:latin typeface="微软雅黑" panose="020B0503020204020204" pitchFamily="34" charset="-122"/>
                <a:ea typeface="微软雅黑" panose="020B0503020204020204" pitchFamily="34" charset="-122"/>
              </a:rPr>
              <a:t>4.3 </a:t>
            </a:r>
            <a:r>
              <a:rPr lang="zh-CN" altLang="en-US" sz="1500" baseline="0" dirty="0">
                <a:latin typeface="微软雅黑" panose="020B0503020204020204" pitchFamily="34" charset="-122"/>
                <a:ea typeface="微软雅黑" panose="020B0503020204020204" pitchFamily="34" charset="-122"/>
              </a:rPr>
              <a:t>在数字传输中，接收方时钟比发送方时钟快 </a:t>
            </a:r>
            <a:r>
              <a:rPr lang="en-US" altLang="zh-CN" sz="1500" baseline="0" dirty="0">
                <a:latin typeface="微软雅黑" panose="020B0503020204020204" pitchFamily="34" charset="-122"/>
                <a:ea typeface="微软雅黑" panose="020B0503020204020204" pitchFamily="34" charset="-122"/>
              </a:rPr>
              <a:t>0.1%, </a:t>
            </a:r>
            <a:r>
              <a:rPr lang="zh-CN" altLang="en-US" sz="1500" baseline="0" dirty="0">
                <a:latin typeface="微软雅黑" panose="020B0503020204020204" pitchFamily="34" charset="-122"/>
                <a:ea typeface="微软雅黑" panose="020B0503020204020204" pitchFamily="34" charset="-122"/>
              </a:rPr>
              <a:t>如果数据速率是 </a:t>
            </a:r>
            <a:r>
              <a:rPr lang="en-US" altLang="zh-CN" sz="1500" baseline="0" dirty="0">
                <a:latin typeface="微软雅黑" panose="020B0503020204020204" pitchFamily="34" charset="-122"/>
                <a:ea typeface="微软雅黑" panose="020B0503020204020204" pitchFamily="34" charset="-122"/>
              </a:rPr>
              <a:t>1kbps</a:t>
            </a:r>
            <a:r>
              <a:rPr lang="zh-CN" altLang="en-US" sz="1500" baseline="0" dirty="0">
                <a:latin typeface="微软雅黑" panose="020B0503020204020204" pitchFamily="34" charset="-122"/>
                <a:ea typeface="微软雅黑" panose="020B0503020204020204" pitchFamily="34" charset="-122"/>
              </a:rPr>
              <a:t>，则接收方每秒钟可以接收到多少额外的位？如果数据速率是</a:t>
            </a:r>
            <a:r>
              <a:rPr lang="en-US" altLang="zh-CN" sz="1500" baseline="0" dirty="0">
                <a:latin typeface="微软雅黑" panose="020B0503020204020204" pitchFamily="34" charset="-122"/>
                <a:ea typeface="微软雅黑" panose="020B0503020204020204" pitchFamily="34" charset="-122"/>
              </a:rPr>
              <a:t> 1 Mbps</a:t>
            </a:r>
            <a:r>
              <a:rPr lang="zh-CN" altLang="en-US" sz="1500" baseline="0" dirty="0">
                <a:latin typeface="微软雅黑" panose="020B0503020204020204" pitchFamily="34" charset="-122"/>
                <a:ea typeface="微软雅黑" panose="020B0503020204020204" pitchFamily="34" charset="-122"/>
              </a:rPr>
              <a:t>呢</a:t>
            </a:r>
            <a:r>
              <a:rPr lang="en-US" altLang="zh-CN" sz="1500" baseline="0" dirty="0">
                <a:latin typeface="微软雅黑" panose="020B0503020204020204" pitchFamily="34" charset="-122"/>
                <a:ea typeface="微软雅黑" panose="020B0503020204020204" pitchFamily="34" charset="-122"/>
              </a:rPr>
              <a:t>?</a:t>
            </a:r>
          </a:p>
        </p:txBody>
      </p:sp>
      <p:sp>
        <p:nvSpPr>
          <p:cNvPr id="6" name="Rectangle 9">
            <a:extLst>
              <a:ext uri="{FF2B5EF4-FFF2-40B4-BE49-F238E27FC236}">
                <a16:creationId xmlns:a16="http://schemas.microsoft.com/office/drawing/2014/main" id="{EBF86C1F-DFB4-41C5-B8EE-B99FF7AA3AE9}"/>
              </a:ext>
            </a:extLst>
          </p:cNvPr>
          <p:cNvSpPr>
            <a:spLocks noChangeArrowheads="1"/>
          </p:cNvSpPr>
          <p:nvPr/>
        </p:nvSpPr>
        <p:spPr bwMode="auto">
          <a:xfrm>
            <a:off x="1205753" y="5071865"/>
            <a:ext cx="10210800" cy="1090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zh-CN" altLang="en-US" sz="1500" baseline="0" dirty="0">
                <a:latin typeface="微软雅黑" panose="020B0503020204020204" pitchFamily="34" charset="-122"/>
                <a:ea typeface="微软雅黑" panose="020B0503020204020204" pitchFamily="34" charset="-122"/>
              </a:rPr>
              <a:t>解：</a:t>
            </a:r>
            <a:endParaRPr lang="en-US" altLang="zh-CN" sz="1500" baseline="0" dirty="0">
              <a:latin typeface="微软雅黑" panose="020B0503020204020204" pitchFamily="34" charset="-122"/>
              <a:ea typeface="微软雅黑" panose="020B0503020204020204" pitchFamily="34" charset="-122"/>
            </a:endParaRPr>
          </a:p>
          <a:p>
            <a:pPr algn="just">
              <a:lnSpc>
                <a:spcPct val="150000"/>
              </a:lnSpc>
            </a:pPr>
            <a:r>
              <a:rPr lang="zh-CN" altLang="en-US" sz="1500" baseline="0" dirty="0">
                <a:latin typeface="微软雅黑" panose="020B0503020204020204" pitchFamily="34" charset="-122"/>
                <a:ea typeface="微软雅黑" panose="020B0503020204020204" pitchFamily="34" charset="-122"/>
              </a:rPr>
              <a:t>数据速率是 </a:t>
            </a:r>
            <a:r>
              <a:rPr lang="en-US" altLang="zh-CN" sz="1500" baseline="0" dirty="0">
                <a:latin typeface="微软雅黑" panose="020B0503020204020204" pitchFamily="34" charset="-122"/>
                <a:ea typeface="微软雅黑" panose="020B0503020204020204" pitchFamily="34" charset="-122"/>
              </a:rPr>
              <a:t>1kbps </a:t>
            </a:r>
            <a:r>
              <a:rPr lang="zh-CN" altLang="en-US" sz="1500" baseline="0" dirty="0">
                <a:latin typeface="微软雅黑" panose="020B0503020204020204" pitchFamily="34" charset="-122"/>
                <a:ea typeface="微软雅黑" panose="020B0503020204020204" pitchFamily="34" charset="-122"/>
              </a:rPr>
              <a:t>时</a:t>
            </a:r>
            <a:r>
              <a:rPr lang="en-US" altLang="zh-CN" sz="1500" baseline="0" dirty="0">
                <a:latin typeface="微软雅黑" panose="020B0503020204020204" pitchFamily="34" charset="-122"/>
                <a:ea typeface="微软雅黑" panose="020B0503020204020204" pitchFamily="34" charset="-122"/>
              </a:rPr>
              <a:t>, </a:t>
            </a:r>
            <a:r>
              <a:rPr lang="zh-CN" altLang="en-US" sz="1500" baseline="0" dirty="0">
                <a:latin typeface="微软雅黑" panose="020B0503020204020204" pitchFamily="34" charset="-122"/>
                <a:ea typeface="微软雅黑" panose="020B0503020204020204" pitchFamily="34" charset="-122"/>
              </a:rPr>
              <a:t>接收方接收的速率是 </a:t>
            </a:r>
            <a:r>
              <a:rPr lang="en-US" altLang="zh-CN" sz="1500" baseline="0" dirty="0">
                <a:latin typeface="微软雅黑" panose="020B0503020204020204" pitchFamily="34" charset="-122"/>
                <a:ea typeface="微软雅黑" panose="020B0503020204020204" pitchFamily="34" charset="-122"/>
              </a:rPr>
              <a:t>1001 </a:t>
            </a:r>
            <a:r>
              <a:rPr lang="zh-CN" altLang="en-US" sz="1500" baseline="0" dirty="0">
                <a:latin typeface="微软雅黑" panose="020B0503020204020204" pitchFamily="34" charset="-122"/>
                <a:ea typeface="微软雅黑" panose="020B0503020204020204" pitchFamily="34" charset="-122"/>
              </a:rPr>
              <a:t>而不是 </a:t>
            </a:r>
            <a:r>
              <a:rPr lang="en-US" altLang="zh-CN" sz="1500" baseline="0" dirty="0">
                <a:latin typeface="微软雅黑" panose="020B0503020204020204" pitchFamily="34" charset="-122"/>
                <a:ea typeface="微软雅黑" panose="020B0503020204020204" pitchFamily="34" charset="-122"/>
              </a:rPr>
              <a:t>1000 bps</a:t>
            </a:r>
            <a:r>
              <a:rPr lang="zh-CN" altLang="en-US" sz="1500" baseline="0" dirty="0">
                <a:latin typeface="微软雅黑" panose="020B0503020204020204" pitchFamily="34" charset="-122"/>
                <a:ea typeface="微软雅黑" panose="020B0503020204020204" pitchFamily="34" charset="-122"/>
              </a:rPr>
              <a:t>，因此接收到 </a:t>
            </a:r>
            <a:r>
              <a:rPr lang="en-US" altLang="zh-CN" sz="1500" baseline="0" dirty="0">
                <a:latin typeface="微软雅黑" panose="020B0503020204020204" pitchFamily="34" charset="-122"/>
                <a:ea typeface="微软雅黑" panose="020B0503020204020204" pitchFamily="34" charset="-122"/>
              </a:rPr>
              <a:t>1 </a:t>
            </a:r>
            <a:r>
              <a:rPr lang="zh-CN" altLang="en-US" sz="1500" baseline="0" dirty="0">
                <a:latin typeface="微软雅黑" panose="020B0503020204020204" pitchFamily="34" charset="-122"/>
                <a:ea typeface="微软雅黑" panose="020B0503020204020204" pitchFamily="34" charset="-122"/>
              </a:rPr>
              <a:t>个额外的位。数据速率是 </a:t>
            </a:r>
            <a:r>
              <a:rPr lang="en-US" altLang="zh-CN" sz="1500" baseline="0" dirty="0">
                <a:latin typeface="微软雅黑" panose="020B0503020204020204" pitchFamily="34" charset="-122"/>
                <a:ea typeface="微软雅黑" panose="020B0503020204020204" pitchFamily="34" charset="-122"/>
              </a:rPr>
              <a:t>1Mbps </a:t>
            </a:r>
            <a:r>
              <a:rPr lang="zh-CN" altLang="en-US" sz="1500" baseline="0" dirty="0">
                <a:latin typeface="微软雅黑" panose="020B0503020204020204" pitchFamily="34" charset="-122"/>
                <a:ea typeface="微软雅黑" panose="020B0503020204020204" pitchFamily="34" charset="-122"/>
              </a:rPr>
              <a:t>时，接收方接收的速率是 </a:t>
            </a:r>
            <a:r>
              <a:rPr lang="en-US" altLang="zh-CN" sz="1500" baseline="0" dirty="0">
                <a:latin typeface="微软雅黑" panose="020B0503020204020204" pitchFamily="34" charset="-122"/>
                <a:ea typeface="微软雅黑" panose="020B0503020204020204" pitchFamily="34" charset="-122"/>
              </a:rPr>
              <a:t>1,001,000  </a:t>
            </a:r>
            <a:r>
              <a:rPr lang="zh-CN" altLang="en-US" sz="1500" baseline="0" dirty="0">
                <a:latin typeface="微软雅黑" panose="020B0503020204020204" pitchFamily="34" charset="-122"/>
                <a:ea typeface="微软雅黑" panose="020B0503020204020204" pitchFamily="34" charset="-122"/>
              </a:rPr>
              <a:t>而不是 </a:t>
            </a:r>
            <a:r>
              <a:rPr lang="en-US" altLang="zh-CN" sz="1500" baseline="0" dirty="0">
                <a:latin typeface="微软雅黑" panose="020B0503020204020204" pitchFamily="34" charset="-122"/>
                <a:ea typeface="微软雅黑" panose="020B0503020204020204" pitchFamily="34" charset="-122"/>
              </a:rPr>
              <a:t>1,000,000 bps</a:t>
            </a:r>
            <a:r>
              <a:rPr lang="zh-CN" altLang="en-US" sz="1500" baseline="0" dirty="0">
                <a:latin typeface="微软雅黑" panose="020B0503020204020204" pitchFamily="34" charset="-122"/>
                <a:ea typeface="微软雅黑" panose="020B0503020204020204" pitchFamily="34" charset="-122"/>
              </a:rPr>
              <a:t>，此时接收到 </a:t>
            </a:r>
            <a:r>
              <a:rPr lang="en-US" altLang="zh-CN" sz="1500" baseline="0" dirty="0">
                <a:latin typeface="微软雅黑" panose="020B0503020204020204" pitchFamily="34" charset="-122"/>
                <a:ea typeface="微软雅黑" panose="020B0503020204020204" pitchFamily="34" charset="-122"/>
              </a:rPr>
              <a:t>1000 </a:t>
            </a:r>
            <a:r>
              <a:rPr lang="zh-CN" altLang="en-US" sz="1500" baseline="0" dirty="0">
                <a:latin typeface="微软雅黑" panose="020B0503020204020204" pitchFamily="34" charset="-122"/>
                <a:ea typeface="微软雅黑" panose="020B0503020204020204" pitchFamily="34" charset="-122"/>
              </a:rPr>
              <a:t>个额外的位。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4">
            <a:extLst>
              <a:ext uri="{FF2B5EF4-FFF2-40B4-BE49-F238E27FC236}">
                <a16:creationId xmlns:a16="http://schemas.microsoft.com/office/drawing/2014/main" id="{E7BC177B-B140-4DBA-86AE-A0B295AF1CA4}"/>
              </a:ext>
            </a:extLst>
          </p:cNvPr>
          <p:cNvSpPr txBox="1">
            <a:spLocks noChangeArrowheads="1"/>
          </p:cNvSpPr>
          <p:nvPr/>
        </p:nvSpPr>
        <p:spPr bwMode="auto">
          <a:xfrm>
            <a:off x="5334000" y="5716708"/>
            <a:ext cx="2125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4.4  </a:t>
            </a:r>
            <a:r>
              <a:rPr lang="zh-CN" altLang="en-US" sz="1400" b="1" baseline="0" dirty="0">
                <a:ea typeface="宋体" panose="02010600030101010101" pitchFamily="2" charset="-122"/>
              </a:rPr>
              <a:t>线路编码方案</a:t>
            </a:r>
            <a:endParaRPr lang="en-US" altLang="zh-CN" sz="1400" b="1" i="1" baseline="0" dirty="0">
              <a:ea typeface="宋体" panose="02010600030101010101" pitchFamily="2" charset="-122"/>
            </a:endParaRPr>
          </a:p>
        </p:txBody>
      </p:sp>
      <p:pic>
        <p:nvPicPr>
          <p:cNvPr id="28676" name="Picture 6">
            <a:extLst>
              <a:ext uri="{FF2B5EF4-FFF2-40B4-BE49-F238E27FC236}">
                <a16:creationId xmlns:a16="http://schemas.microsoft.com/office/drawing/2014/main" id="{2B64D938-09AD-4FFD-9672-8327E0B10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888" y="2268250"/>
            <a:ext cx="6880225" cy="3038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7" name="标题 1">
            <a:extLst>
              <a:ext uri="{FF2B5EF4-FFF2-40B4-BE49-F238E27FC236}">
                <a16:creationId xmlns:a16="http://schemas.microsoft.com/office/drawing/2014/main" id="{FA1486D5-1261-48D2-9823-6DDD80687E49}"/>
              </a:ext>
            </a:extLst>
          </p:cNvPr>
          <p:cNvSpPr txBox="1">
            <a:spLocks/>
          </p:cNvSpPr>
          <p:nvPr/>
        </p:nvSpPr>
        <p:spPr bwMode="auto">
          <a:xfrm>
            <a:off x="1828800" y="1219198"/>
            <a:ext cx="7605656" cy="6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nSpc>
                <a:spcPct val="150000"/>
              </a:lnSpc>
            </a:pPr>
            <a:r>
              <a:rPr lang="zh-CN" altLang="en-US" sz="1800" baseline="0" dirty="0">
                <a:latin typeface="微软雅黑" panose="020B0503020204020204" pitchFamily="34" charset="-122"/>
                <a:ea typeface="微软雅黑" panose="020B0503020204020204" pitchFamily="34" charset="-122"/>
              </a:rPr>
              <a:t>线性编码包括单极性码、极性编码、双极性编码、多电平和多跳变等。</a:t>
            </a:r>
            <a:endPar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4">
            <a:extLst>
              <a:ext uri="{FF2B5EF4-FFF2-40B4-BE49-F238E27FC236}">
                <a16:creationId xmlns:a16="http://schemas.microsoft.com/office/drawing/2014/main" id="{16B97E6C-8540-49F1-935D-E3D2412ED607}"/>
              </a:ext>
            </a:extLst>
          </p:cNvPr>
          <p:cNvSpPr txBox="1">
            <a:spLocks noChangeArrowheads="1"/>
          </p:cNvSpPr>
          <p:nvPr/>
        </p:nvSpPr>
        <p:spPr bwMode="auto">
          <a:xfrm>
            <a:off x="2367724" y="4635081"/>
            <a:ext cx="26383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600" b="1" baseline="0" dirty="0">
                <a:solidFill>
                  <a:schemeClr val="folHlink"/>
                </a:solidFill>
                <a:ea typeface="宋体" panose="02010600030101010101" pitchFamily="2" charset="-122"/>
              </a:rPr>
              <a:t>Figure 4.5  </a:t>
            </a:r>
            <a:r>
              <a:rPr lang="zh-CN" altLang="en-US" sz="1600" b="1" baseline="0" dirty="0">
                <a:ea typeface="宋体" panose="02010600030101010101" pitchFamily="2" charset="-122"/>
              </a:rPr>
              <a:t>单极性</a:t>
            </a:r>
            <a:r>
              <a:rPr lang="en-US" altLang="zh-CN" sz="1600" b="1" baseline="0" dirty="0">
                <a:ea typeface="宋体" panose="02010600030101010101" pitchFamily="2" charset="-122"/>
              </a:rPr>
              <a:t>NRZ</a:t>
            </a:r>
            <a:r>
              <a:rPr lang="zh-CN" altLang="en-US" sz="1600" b="1" baseline="0" dirty="0">
                <a:ea typeface="宋体" panose="02010600030101010101" pitchFamily="2" charset="-122"/>
              </a:rPr>
              <a:t>编码</a:t>
            </a:r>
            <a:endParaRPr lang="en-US" altLang="zh-CN" sz="1600" b="1" baseline="0" dirty="0">
              <a:ea typeface="宋体" panose="02010600030101010101" pitchFamily="2" charset="-122"/>
            </a:endParaRPr>
          </a:p>
        </p:txBody>
      </p:sp>
      <p:pic>
        <p:nvPicPr>
          <p:cNvPr id="30724" name="Picture 6">
            <a:extLst>
              <a:ext uri="{FF2B5EF4-FFF2-40B4-BE49-F238E27FC236}">
                <a16:creationId xmlns:a16="http://schemas.microsoft.com/office/drawing/2014/main" id="{B47650AB-A652-4834-BCFC-B7BF72B8A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500" t="31277"/>
          <a:stretch/>
        </p:blipFill>
        <p:spPr bwMode="auto">
          <a:xfrm>
            <a:off x="2696299" y="1342070"/>
            <a:ext cx="1981200" cy="108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5" name="标题 1">
            <a:extLst>
              <a:ext uri="{FF2B5EF4-FFF2-40B4-BE49-F238E27FC236}">
                <a16:creationId xmlns:a16="http://schemas.microsoft.com/office/drawing/2014/main" id="{8D983E51-C025-4A5D-9763-05CFFDD90AD7}"/>
              </a:ext>
            </a:extLst>
          </p:cNvPr>
          <p:cNvSpPr txBox="1">
            <a:spLocks/>
          </p:cNvSpPr>
          <p:nvPr/>
        </p:nvSpPr>
        <p:spPr bwMode="auto">
          <a:xfrm>
            <a:off x="3962400" y="83175"/>
            <a:ext cx="5991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单极性编码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不归零码（</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NRZ</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 name="文本框 1">
            <a:extLst>
              <a:ext uri="{FF2B5EF4-FFF2-40B4-BE49-F238E27FC236}">
                <a16:creationId xmlns:a16="http://schemas.microsoft.com/office/drawing/2014/main" id="{EAF8A75F-A464-49A8-8D67-0357C53DD407}"/>
              </a:ext>
            </a:extLst>
          </p:cNvPr>
          <p:cNvSpPr txBox="1"/>
          <p:nvPr/>
        </p:nvSpPr>
        <p:spPr>
          <a:xfrm>
            <a:off x="1438835" y="5461258"/>
            <a:ext cx="7323496" cy="400110"/>
          </a:xfrm>
          <a:prstGeom prst="rect">
            <a:avLst/>
          </a:prstGeom>
          <a:noFill/>
        </p:spPr>
        <p:txBody>
          <a:bodyPr wrap="square" rtlCol="0">
            <a:spAutoFit/>
          </a:bodyPr>
          <a:lstStyle/>
          <a:p>
            <a:r>
              <a:rPr lang="zh-CN" altLang="en-US" baseline="0" dirty="0">
                <a:latin typeface="微软雅黑" panose="020B0503020204020204" pitchFamily="34" charset="-122"/>
                <a:ea typeface="微软雅黑" panose="020B0503020204020204" pitchFamily="34" charset="-122"/>
              </a:rPr>
              <a:t>单极性不归零码存在有基线偏移、有直流分量和无同步等问题。</a:t>
            </a:r>
          </a:p>
        </p:txBody>
      </p:sp>
      <p:pic>
        <p:nvPicPr>
          <p:cNvPr id="123918" name="Picture 14">
            <a:extLst>
              <a:ext uri="{FF2B5EF4-FFF2-40B4-BE49-F238E27FC236}">
                <a16:creationId xmlns:a16="http://schemas.microsoft.com/office/drawing/2014/main" id="{2A2D7FC2-EA76-486E-BB6B-E52A83BACB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196687"/>
            <a:ext cx="3611583" cy="42135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4CC50015-3108-45C7-BAAE-E510F7673B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5000"/>
          <a:stretch/>
        </p:blipFill>
        <p:spPr bwMode="auto">
          <a:xfrm>
            <a:off x="1617797" y="2567741"/>
            <a:ext cx="4478203" cy="1776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3918"/>
                                        </p:tgtEl>
                                        <p:attrNameLst>
                                          <p:attrName>style.visibility</p:attrName>
                                        </p:attrNameLst>
                                      </p:cBhvr>
                                      <p:to>
                                        <p:strVal val="visible"/>
                                      </p:to>
                                    </p:set>
                                    <p:animEffect transition="in" filter="wipe(left)">
                                      <p:cBhvr>
                                        <p:cTn id="7" dur="500"/>
                                        <p:tgtEl>
                                          <p:spTgt spid="1239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4">
            <a:extLst>
              <a:ext uri="{FF2B5EF4-FFF2-40B4-BE49-F238E27FC236}">
                <a16:creationId xmlns:a16="http://schemas.microsoft.com/office/drawing/2014/main" id="{24CE4A0B-FCB4-4D39-A0CE-BC426B2256B7}"/>
              </a:ext>
            </a:extLst>
          </p:cNvPr>
          <p:cNvSpPr txBox="1">
            <a:spLocks noChangeArrowheads="1"/>
          </p:cNvSpPr>
          <p:nvPr/>
        </p:nvSpPr>
        <p:spPr bwMode="auto">
          <a:xfrm>
            <a:off x="4971675" y="3717088"/>
            <a:ext cx="30155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4.6  </a:t>
            </a:r>
            <a:r>
              <a:rPr lang="zh-CN" altLang="en-US" sz="1400" b="1" baseline="0" dirty="0">
                <a:ea typeface="宋体" panose="02010600030101010101" pitchFamily="2" charset="-122"/>
              </a:rPr>
              <a:t>极性</a:t>
            </a:r>
            <a:r>
              <a:rPr lang="en-US" altLang="zh-CN" sz="1400" b="1" baseline="0" dirty="0">
                <a:ea typeface="宋体" panose="02010600030101010101" pitchFamily="2" charset="-122"/>
              </a:rPr>
              <a:t>NRZ-L</a:t>
            </a:r>
            <a:r>
              <a:rPr lang="zh-CN" altLang="en-US" sz="1400" b="1" baseline="0" dirty="0">
                <a:ea typeface="宋体" panose="02010600030101010101" pitchFamily="2" charset="-122"/>
              </a:rPr>
              <a:t>和</a:t>
            </a:r>
            <a:r>
              <a:rPr lang="en-US" altLang="zh-CN" sz="1400" b="1" baseline="0" dirty="0">
                <a:ea typeface="宋体" panose="02010600030101010101" pitchFamily="2" charset="-122"/>
              </a:rPr>
              <a:t>NRZ-I</a:t>
            </a:r>
            <a:r>
              <a:rPr lang="zh-CN" altLang="en-US" sz="1400" b="1" baseline="0" dirty="0">
                <a:ea typeface="宋体" panose="02010600030101010101" pitchFamily="2" charset="-122"/>
              </a:rPr>
              <a:t>编码</a:t>
            </a:r>
            <a:endParaRPr lang="en-US" altLang="zh-CN" sz="1400" b="1" baseline="0" dirty="0">
              <a:ea typeface="宋体" panose="02010600030101010101" pitchFamily="2" charset="-122"/>
            </a:endParaRPr>
          </a:p>
        </p:txBody>
      </p:sp>
      <p:pic>
        <p:nvPicPr>
          <p:cNvPr id="32772" name="Picture 6">
            <a:extLst>
              <a:ext uri="{FF2B5EF4-FFF2-40B4-BE49-F238E27FC236}">
                <a16:creationId xmlns:a16="http://schemas.microsoft.com/office/drawing/2014/main" id="{A4F22B66-B0F0-43EF-B282-14BB9A059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262" y="1143000"/>
            <a:ext cx="731053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3" name="标题 1">
            <a:extLst>
              <a:ext uri="{FF2B5EF4-FFF2-40B4-BE49-F238E27FC236}">
                <a16:creationId xmlns:a16="http://schemas.microsoft.com/office/drawing/2014/main" id="{369AC09C-E6F3-4348-BA0F-B3E24461ECEE}"/>
              </a:ext>
            </a:extLst>
          </p:cNvPr>
          <p:cNvSpPr txBox="1">
            <a:spLocks/>
          </p:cNvSpPr>
          <p:nvPr/>
        </p:nvSpPr>
        <p:spPr bwMode="auto">
          <a:xfrm>
            <a:off x="4038600" y="62928"/>
            <a:ext cx="59340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极性编码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不归零码（</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NRZ</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2774" name="Rectangle 11">
            <a:extLst>
              <a:ext uri="{FF2B5EF4-FFF2-40B4-BE49-F238E27FC236}">
                <a16:creationId xmlns:a16="http://schemas.microsoft.com/office/drawing/2014/main" id="{97F803BD-0A8D-4298-BA40-FA8F29854306}"/>
              </a:ext>
            </a:extLst>
          </p:cNvPr>
          <p:cNvSpPr>
            <a:spLocks noChangeArrowheads="1"/>
          </p:cNvSpPr>
          <p:nvPr/>
        </p:nvSpPr>
        <p:spPr bwMode="auto">
          <a:xfrm>
            <a:off x="1447800" y="4161910"/>
            <a:ext cx="8915399" cy="562783"/>
          </a:xfrm>
          <a:prstGeom prst="rect">
            <a:avLst/>
          </a:prstGeom>
          <a:noFill/>
          <a:extLs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nSpc>
                <a:spcPct val="200000"/>
              </a:lnSpc>
            </a:pPr>
            <a:r>
              <a:rPr lang="zh-CN" altLang="en-US" sz="1800" b="1" baseline="0" dirty="0">
                <a:latin typeface="微软雅黑" panose="020B0503020204020204" pitchFamily="34" charset="-122"/>
                <a:ea typeface="微软雅黑" panose="020B0503020204020204" pitchFamily="34" charset="-122"/>
              </a:rPr>
              <a:t>在 </a:t>
            </a:r>
            <a:r>
              <a:rPr lang="en-US" altLang="zh-CN" sz="1800" b="1" baseline="0" dirty="0">
                <a:latin typeface="微软雅黑" panose="020B0503020204020204" pitchFamily="34" charset="-122"/>
                <a:ea typeface="微软雅黑" panose="020B0503020204020204" pitchFamily="34" charset="-122"/>
              </a:rPr>
              <a:t>NRZ-L </a:t>
            </a:r>
            <a:r>
              <a:rPr lang="zh-CN" altLang="en-US" sz="1800" b="1" baseline="0" dirty="0">
                <a:latin typeface="微软雅黑" panose="020B0503020204020204" pitchFamily="34" charset="-122"/>
                <a:ea typeface="微软雅黑" panose="020B0503020204020204" pitchFamily="34" charset="-122"/>
              </a:rPr>
              <a:t>中电平决定位值，在 </a:t>
            </a:r>
            <a:r>
              <a:rPr lang="en-US" altLang="zh-CN" sz="1800" b="1" baseline="0" dirty="0">
                <a:latin typeface="微软雅黑" panose="020B0503020204020204" pitchFamily="34" charset="-122"/>
                <a:ea typeface="微软雅黑" panose="020B0503020204020204" pitchFamily="34" charset="-122"/>
              </a:rPr>
              <a:t>NRZ-I </a:t>
            </a:r>
            <a:r>
              <a:rPr lang="zh-CN" altLang="en-US" sz="1800" b="1" baseline="0" dirty="0">
                <a:latin typeface="微软雅黑" panose="020B0503020204020204" pitchFamily="34" charset="-122"/>
                <a:ea typeface="微软雅黑" panose="020B0503020204020204" pitchFamily="34" charset="-122"/>
              </a:rPr>
              <a:t>中电平是否反相决定位值。</a:t>
            </a:r>
            <a:endParaRPr lang="en-US" altLang="zh-CN" sz="1800" b="1" baseline="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D4E6494A-8849-43DB-9AEA-2AEE69C4D5F6}"/>
              </a:ext>
            </a:extLst>
          </p:cNvPr>
          <p:cNvSpPr txBox="1"/>
          <p:nvPr/>
        </p:nvSpPr>
        <p:spPr>
          <a:xfrm>
            <a:off x="1447800" y="4861738"/>
            <a:ext cx="9372601" cy="1002967"/>
          </a:xfrm>
          <a:prstGeom prst="rect">
            <a:avLst/>
          </a:prstGeom>
          <a:noFill/>
        </p:spPr>
        <p:txBody>
          <a:bodyPr wrap="square" rtlCol="0">
            <a:spAutoFit/>
          </a:bodyPr>
          <a:lstStyle/>
          <a:p>
            <a:pPr algn="just">
              <a:lnSpc>
                <a:spcPct val="200000"/>
              </a:lnSpc>
            </a:pPr>
            <a:r>
              <a:rPr lang="zh-CN" altLang="en-US" sz="1600" baseline="0" dirty="0">
                <a:latin typeface="微软雅黑" panose="020B0503020204020204" pitchFamily="34" charset="-122"/>
                <a:ea typeface="微软雅黑" panose="020B0503020204020204" pitchFamily="34" charset="-122"/>
              </a:rPr>
              <a:t>平均信号速率为 </a:t>
            </a:r>
            <a:r>
              <a:rPr lang="en-US" altLang="zh-CN" sz="1600" baseline="0" dirty="0">
                <a:latin typeface="微软雅黑" panose="020B0503020204020204" pitchFamily="34" charset="-122"/>
                <a:ea typeface="微软雅黑" panose="020B0503020204020204" pitchFamily="34" charset="-122"/>
              </a:rPr>
              <a:t>N/2 Baud</a:t>
            </a:r>
            <a:r>
              <a:rPr lang="zh-CN" altLang="en-US" sz="1600" baseline="0" dirty="0">
                <a:latin typeface="微软雅黑" panose="020B0503020204020204" pitchFamily="34" charset="-122"/>
                <a:ea typeface="微软雅黑" panose="020B0503020204020204" pitchFamily="34" charset="-122"/>
              </a:rPr>
              <a:t>，能量集中在频率 </a:t>
            </a:r>
            <a:r>
              <a:rPr lang="en-US" altLang="zh-CN" sz="1600" baseline="0" dirty="0">
                <a:latin typeface="微软雅黑" panose="020B0503020204020204" pitchFamily="34" charset="-122"/>
                <a:ea typeface="微软雅黑" panose="020B0503020204020204" pitchFamily="34" charset="-122"/>
              </a:rPr>
              <a:t>0 ~ N/2 </a:t>
            </a:r>
            <a:r>
              <a:rPr lang="zh-CN" altLang="en-US" sz="1600" baseline="0" dirty="0">
                <a:latin typeface="微软雅黑" panose="020B0503020204020204" pitchFamily="34" charset="-122"/>
                <a:ea typeface="微软雅黑" panose="020B0503020204020204" pitchFamily="34" charset="-122"/>
              </a:rPr>
              <a:t>之间，都存在基线偏移和直流分量等问题。</a:t>
            </a:r>
            <a:r>
              <a:rPr lang="en-US" altLang="zh-CN" sz="1600" baseline="0" dirty="0">
                <a:latin typeface="微软雅黑" panose="020B0503020204020204" pitchFamily="34" charset="-122"/>
                <a:ea typeface="微软雅黑" panose="020B0503020204020204" pitchFamily="34" charset="-122"/>
              </a:rPr>
              <a:t>NRZ-L </a:t>
            </a:r>
            <a:r>
              <a:rPr lang="zh-CN" altLang="en-US" sz="1600" baseline="0" dirty="0">
                <a:latin typeface="微软雅黑" panose="020B0503020204020204" pitchFamily="34" charset="-122"/>
                <a:ea typeface="微软雅黑" panose="020B0503020204020204" pitchFamily="34" charset="-122"/>
              </a:rPr>
              <a:t>没有自同步，</a:t>
            </a:r>
            <a:r>
              <a:rPr lang="en-US" altLang="zh-CN" sz="1600" baseline="0" dirty="0">
                <a:latin typeface="微软雅黑" panose="020B0503020204020204" pitchFamily="34" charset="-122"/>
                <a:ea typeface="微软雅黑" panose="020B0503020204020204" pitchFamily="34" charset="-122"/>
              </a:rPr>
              <a:t>NRZ-I </a:t>
            </a:r>
            <a:r>
              <a:rPr lang="zh-CN" altLang="en-US" sz="1600" baseline="0" dirty="0">
                <a:latin typeface="微软雅黑" panose="020B0503020204020204" pitchFamily="34" charset="-122"/>
                <a:ea typeface="微软雅黑" panose="020B0503020204020204" pitchFamily="34" charset="-122"/>
              </a:rPr>
              <a:t>的长 </a:t>
            </a:r>
            <a:r>
              <a:rPr lang="en-US" altLang="zh-CN" sz="1600" baseline="0" dirty="0">
                <a:latin typeface="微软雅黑" panose="020B0503020204020204" pitchFamily="34" charset="-122"/>
                <a:ea typeface="微软雅黑" panose="020B0503020204020204" pitchFamily="34" charset="-122"/>
              </a:rPr>
              <a:t>1 </a:t>
            </a:r>
            <a:r>
              <a:rPr lang="zh-CN" altLang="en-US" sz="1600" baseline="0" dirty="0">
                <a:latin typeface="微软雅黑" panose="020B0503020204020204" pitchFamily="34" charset="-122"/>
                <a:ea typeface="微软雅黑" panose="020B0503020204020204" pitchFamily="34" charset="-122"/>
              </a:rPr>
              <a:t>序列有自同步，长 </a:t>
            </a:r>
            <a:r>
              <a:rPr lang="en-US" altLang="zh-CN" sz="1600" baseline="0" dirty="0">
                <a:latin typeface="微软雅黑" panose="020B0503020204020204" pitchFamily="34" charset="-122"/>
                <a:ea typeface="微软雅黑" panose="020B0503020204020204" pitchFamily="34" charset="-122"/>
              </a:rPr>
              <a:t>0 </a:t>
            </a:r>
            <a:r>
              <a:rPr lang="zh-CN" altLang="en-US" sz="1600" baseline="0" dirty="0">
                <a:latin typeface="微软雅黑" panose="020B0503020204020204" pitchFamily="34" charset="-122"/>
                <a:ea typeface="微软雅黑" panose="020B0503020204020204" pitchFamily="34" charset="-122"/>
              </a:rPr>
              <a:t>序列无自同步。</a:t>
            </a:r>
          </a:p>
        </p:txBody>
      </p:sp>
      <p:sp>
        <p:nvSpPr>
          <p:cNvPr id="2" name="矩形 1">
            <a:extLst>
              <a:ext uri="{FF2B5EF4-FFF2-40B4-BE49-F238E27FC236}">
                <a16:creationId xmlns:a16="http://schemas.microsoft.com/office/drawing/2014/main" id="{67CE08D9-0CC4-49C2-84E6-DAF962DFB771}"/>
              </a:ext>
            </a:extLst>
          </p:cNvPr>
          <p:cNvSpPr/>
          <p:nvPr/>
        </p:nvSpPr>
        <p:spPr>
          <a:xfrm>
            <a:off x="1761749" y="1567132"/>
            <a:ext cx="1118897" cy="523220"/>
          </a:xfrm>
          <a:prstGeom prst="rect">
            <a:avLst/>
          </a:prstGeom>
        </p:spPr>
        <p:txBody>
          <a:bodyPr wrap="square">
            <a:spAutoFit/>
          </a:bodyPr>
          <a:lstStyle/>
          <a:p>
            <a:pPr algn="ctr"/>
            <a:r>
              <a:rPr lang="zh-CN" altLang="en-US" sz="1400" b="1" baseline="0" dirty="0">
                <a:latin typeface="微软雅黑" panose="020B0503020204020204" pitchFamily="34" charset="-122"/>
                <a:ea typeface="微软雅黑" panose="020B0503020204020204" pitchFamily="34" charset="-122"/>
              </a:rPr>
              <a:t>电平编码</a:t>
            </a:r>
            <a:endParaRPr lang="en-US" altLang="zh-CN" sz="1400" b="1" baseline="0" dirty="0">
              <a:latin typeface="微软雅黑" panose="020B0503020204020204" pitchFamily="34" charset="-122"/>
              <a:ea typeface="微软雅黑" panose="020B0503020204020204" pitchFamily="34" charset="-122"/>
            </a:endParaRPr>
          </a:p>
          <a:p>
            <a:pPr algn="ctr"/>
            <a:r>
              <a:rPr lang="en-US" altLang="zh-CN" sz="1400" b="1" baseline="0" dirty="0">
                <a:latin typeface="微软雅黑" panose="020B0503020204020204" pitchFamily="34" charset="-122"/>
                <a:ea typeface="微软雅黑" panose="020B0503020204020204" pitchFamily="34" charset="-122"/>
              </a:rPr>
              <a:t>NRZ-Level</a:t>
            </a:r>
            <a:endParaRPr lang="zh-CN" altLang="en-US" sz="1400" b="1" dirty="0"/>
          </a:p>
        </p:txBody>
      </p:sp>
      <p:sp>
        <p:nvSpPr>
          <p:cNvPr id="3" name="矩形 2">
            <a:extLst>
              <a:ext uri="{FF2B5EF4-FFF2-40B4-BE49-F238E27FC236}">
                <a16:creationId xmlns:a16="http://schemas.microsoft.com/office/drawing/2014/main" id="{C055674B-4621-40A2-A23C-D5747E8EBC50}"/>
              </a:ext>
            </a:extLst>
          </p:cNvPr>
          <p:cNvSpPr/>
          <p:nvPr/>
        </p:nvSpPr>
        <p:spPr>
          <a:xfrm>
            <a:off x="1703716" y="2252874"/>
            <a:ext cx="1196546" cy="523220"/>
          </a:xfrm>
          <a:prstGeom prst="rect">
            <a:avLst/>
          </a:prstGeom>
        </p:spPr>
        <p:txBody>
          <a:bodyPr wrap="none">
            <a:spAutoFit/>
          </a:bodyPr>
          <a:lstStyle/>
          <a:p>
            <a:pPr algn="ctr"/>
            <a:r>
              <a:rPr lang="zh-CN" altLang="en-US" sz="1400" b="1" baseline="0" dirty="0">
                <a:latin typeface="微软雅黑" panose="020B0503020204020204" pitchFamily="34" charset="-122"/>
                <a:ea typeface="微软雅黑" panose="020B0503020204020204" pitchFamily="34" charset="-122"/>
              </a:rPr>
              <a:t>反相编码</a:t>
            </a:r>
            <a:endParaRPr lang="en-US" altLang="zh-CN" sz="1400" b="1" baseline="0" dirty="0">
              <a:latin typeface="微软雅黑" panose="020B0503020204020204" pitchFamily="34" charset="-122"/>
              <a:ea typeface="微软雅黑" panose="020B0503020204020204" pitchFamily="34" charset="-122"/>
            </a:endParaRPr>
          </a:p>
          <a:p>
            <a:pPr algn="ctr"/>
            <a:r>
              <a:rPr lang="en-US" altLang="zh-CN" sz="1400" b="1" baseline="0" dirty="0">
                <a:latin typeface="微软雅黑" panose="020B0503020204020204" pitchFamily="34" charset="-122"/>
                <a:ea typeface="微软雅黑" panose="020B0503020204020204" pitchFamily="34" charset="-122"/>
              </a:rPr>
              <a:t>NRZ-Invert</a:t>
            </a:r>
            <a:endParaRPr lang="zh-CN" altLang="en-US" sz="1400" b="1"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4">
            <a:extLst>
              <a:ext uri="{FF2B5EF4-FFF2-40B4-BE49-F238E27FC236}">
                <a16:creationId xmlns:a16="http://schemas.microsoft.com/office/drawing/2014/main" id="{BCBC3DC4-8316-4286-89CC-82C676163265}"/>
              </a:ext>
            </a:extLst>
          </p:cNvPr>
          <p:cNvSpPr txBox="1">
            <a:spLocks noChangeArrowheads="1"/>
          </p:cNvSpPr>
          <p:nvPr/>
        </p:nvSpPr>
        <p:spPr bwMode="auto">
          <a:xfrm>
            <a:off x="5122849" y="3790044"/>
            <a:ext cx="19463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4.7  </a:t>
            </a:r>
            <a:r>
              <a:rPr lang="zh-CN" altLang="en-US" sz="1400" b="1" baseline="0" dirty="0">
                <a:ea typeface="宋体" panose="02010600030101010101" pitchFamily="2" charset="-122"/>
              </a:rPr>
              <a:t>极性归零码</a:t>
            </a:r>
            <a:endParaRPr lang="en-US" altLang="zh-CN" sz="1400" b="1" baseline="0" dirty="0">
              <a:ea typeface="宋体" panose="02010600030101010101" pitchFamily="2" charset="-122"/>
            </a:endParaRPr>
          </a:p>
        </p:txBody>
      </p:sp>
      <p:pic>
        <p:nvPicPr>
          <p:cNvPr id="38916" name="Picture 6">
            <a:extLst>
              <a:ext uri="{FF2B5EF4-FFF2-40B4-BE49-F238E27FC236}">
                <a16:creationId xmlns:a16="http://schemas.microsoft.com/office/drawing/2014/main" id="{0509FF31-61BC-4D78-A495-2F4B9A2FE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460717"/>
            <a:ext cx="6761162" cy="204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7" name="标题 1">
            <a:extLst>
              <a:ext uri="{FF2B5EF4-FFF2-40B4-BE49-F238E27FC236}">
                <a16:creationId xmlns:a16="http://schemas.microsoft.com/office/drawing/2014/main" id="{49B5707A-F323-4289-A509-F9161138A1B2}"/>
              </a:ext>
            </a:extLst>
          </p:cNvPr>
          <p:cNvSpPr txBox="1">
            <a:spLocks/>
          </p:cNvSpPr>
          <p:nvPr/>
        </p:nvSpPr>
        <p:spPr bwMode="auto">
          <a:xfrm>
            <a:off x="3962400" y="71889"/>
            <a:ext cx="5654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极性编码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归零码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(RZ)</a:t>
            </a:r>
            <a:endPar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921" name="Rectangle 11">
            <a:extLst>
              <a:ext uri="{FF2B5EF4-FFF2-40B4-BE49-F238E27FC236}">
                <a16:creationId xmlns:a16="http://schemas.microsoft.com/office/drawing/2014/main" id="{F903D2A3-B5BC-4670-A737-B79C680129FD}"/>
              </a:ext>
            </a:extLst>
          </p:cNvPr>
          <p:cNvSpPr>
            <a:spLocks noChangeArrowheads="1"/>
          </p:cNvSpPr>
          <p:nvPr/>
        </p:nvSpPr>
        <p:spPr bwMode="auto">
          <a:xfrm>
            <a:off x="1447800" y="4343400"/>
            <a:ext cx="9677400" cy="1116781"/>
          </a:xfrm>
          <a:prstGeom prst="rect">
            <a:avLst/>
          </a:prstGeom>
          <a:noFill/>
          <a:extLs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200000"/>
              </a:lnSpc>
            </a:pPr>
            <a:r>
              <a:rPr lang="zh-CN" altLang="en-US" sz="1800" baseline="0" dirty="0">
                <a:latin typeface="微软雅黑" panose="020B0503020204020204" pitchFamily="34" charset="-122"/>
                <a:ea typeface="微软雅黑" panose="020B0503020204020204" pitchFamily="34" charset="-122"/>
              </a:rPr>
              <a:t>归零码的信号有正值，负值和零三种值，在每个位的中间信号都回到</a:t>
            </a:r>
            <a:r>
              <a:rPr lang="en-US" altLang="zh-CN" sz="1800" baseline="0" dirty="0">
                <a:latin typeface="微软雅黑" panose="020B0503020204020204" pitchFamily="34" charset="-122"/>
                <a:ea typeface="微软雅黑" panose="020B0503020204020204" pitchFamily="34" charset="-122"/>
              </a:rPr>
              <a:t>0</a:t>
            </a:r>
            <a:r>
              <a:rPr lang="zh-CN" altLang="en-US" sz="1800" baseline="0" dirty="0">
                <a:latin typeface="微软雅黑" panose="020B0503020204020204" pitchFamily="34" charset="-122"/>
                <a:ea typeface="微软雅黑" panose="020B0503020204020204" pitchFamily="34" charset="-122"/>
              </a:rPr>
              <a:t>。其优点是有自同步、无直流分量，但缺点是占用的带宽大，且三个电平的生成和辨别更加困难。</a:t>
            </a:r>
            <a:endParaRPr lang="en-US" altLang="zh-CN" sz="18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50DDE048-8159-4F94-A9DF-7546725895E4}"/>
              </a:ext>
            </a:extLst>
          </p:cNvPr>
          <p:cNvSpPr>
            <a:spLocks noGrp="1"/>
          </p:cNvSpPr>
          <p:nvPr>
            <p:ph type="title"/>
          </p:nvPr>
        </p:nvSpPr>
        <p:spPr bwMode="auto">
          <a:xfrm>
            <a:off x="4038600" y="75218"/>
            <a:ext cx="5829300" cy="57830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极性编码 </a:t>
            </a:r>
            <a:r>
              <a:rPr lang="en-US" altLang="zh-CN"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双相码 </a:t>
            </a:r>
            <a:r>
              <a:rPr lang="en-US" altLang="zh-CN"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120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biphase</a:t>
            </a:r>
            <a:r>
              <a:rPr lang="en-US" altLang="zh-CN"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963" name="内容占位符 2">
            <a:extLst>
              <a:ext uri="{FF2B5EF4-FFF2-40B4-BE49-F238E27FC236}">
                <a16:creationId xmlns:a16="http://schemas.microsoft.com/office/drawing/2014/main" id="{667A965D-6764-44B9-BFA7-45CB535E8F81}"/>
              </a:ext>
            </a:extLst>
          </p:cNvPr>
          <p:cNvSpPr>
            <a:spLocks noGrp="1"/>
          </p:cNvSpPr>
          <p:nvPr>
            <p:ph idx="1"/>
          </p:nvPr>
        </p:nvSpPr>
        <p:spPr bwMode="auto">
          <a:xfrm>
            <a:off x="1447800" y="1295400"/>
            <a:ext cx="99060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nSpc>
                <a:spcPts val="4100"/>
              </a:lnSpc>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包括曼彻斯特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(Manchester)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编码和差分曼彻斯特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(Differential Manchester)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编码。</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ts val="4100"/>
              </a:lnSpc>
              <a:buClr>
                <a:srgbClr val="FF0000"/>
              </a:buClr>
              <a:buSzPct val="80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曼彻斯特编码</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RZ</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的位中间跳变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NRZ-L</a:t>
            </a:r>
          </a:p>
          <a:p>
            <a:pPr lvl="1">
              <a:lnSpc>
                <a:spcPts val="4100"/>
              </a:lnSpc>
              <a:buClr>
                <a:srgbClr val="3366FF"/>
              </a:buClr>
              <a:buSzPct val="80000"/>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位中间总有跳变，跳变提供了同步</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4100"/>
              </a:lnSpc>
              <a:buClr>
                <a:srgbClr val="3366FF"/>
              </a:buClr>
              <a:buSzPct val="80000"/>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：由高</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低，   </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：由低高</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a:lnSpc>
                <a:spcPts val="4100"/>
              </a:lnSpc>
              <a:buClr>
                <a:srgbClr val="FF0000"/>
              </a:buClr>
              <a:buSzPct val="80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差分曼彻斯特编码</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RZ</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的位中间跳变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 NRZ-I</a:t>
            </a:r>
          </a:p>
          <a:p>
            <a:pPr lvl="1">
              <a:lnSpc>
                <a:spcPts val="4100"/>
              </a:lnSpc>
              <a:buClr>
                <a:srgbClr val="3366FF"/>
              </a:buClr>
              <a:buSzPct val="80000"/>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位中间总有跳变，在位起始位置如果下一位为</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lvl="1">
              <a:lnSpc>
                <a:spcPts val="4100"/>
              </a:lnSpc>
              <a:buClr>
                <a:srgbClr val="3366FF"/>
              </a:buClr>
              <a:buSzPct val="80000"/>
              <a:buFont typeface="Wingdings" panose="05000000000000000000" pitchFamily="2" charset="2"/>
              <a:buChar char="l"/>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：起始不跳变； </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0</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：起始有跳变</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964" name="灯片编号占位符 3">
            <a:extLst>
              <a:ext uri="{FF2B5EF4-FFF2-40B4-BE49-F238E27FC236}">
                <a16:creationId xmlns:a16="http://schemas.microsoft.com/office/drawing/2014/main" id="{23DFAC00-AB15-4902-AB91-09E027CA195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7EEBFDC-7A5C-4D57-BE49-D3ADEBE1FEA8}" type="slidenum">
              <a:rPr lang="en-US" altLang="zh-CN" baseline="0" smtClean="0">
                <a:solidFill>
                  <a:schemeClr val="bg2"/>
                </a:solidFill>
                <a:latin typeface="Arial" panose="020B0604020202020204" pitchFamily="34" charset="0"/>
              </a:rPr>
              <a:pPr/>
              <a:t>13</a:t>
            </a:fld>
            <a:endParaRPr lang="en-US" altLang="zh-CN" baseline="0">
              <a:solidFill>
                <a:schemeClr val="bg2"/>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Text Box 4">
            <a:extLst>
              <a:ext uri="{FF2B5EF4-FFF2-40B4-BE49-F238E27FC236}">
                <a16:creationId xmlns:a16="http://schemas.microsoft.com/office/drawing/2014/main" id="{8B960ED0-2518-47BE-931B-89745F03A5A4}"/>
              </a:ext>
            </a:extLst>
          </p:cNvPr>
          <p:cNvSpPr txBox="1">
            <a:spLocks noChangeArrowheads="1"/>
          </p:cNvSpPr>
          <p:nvPr/>
        </p:nvSpPr>
        <p:spPr bwMode="auto">
          <a:xfrm>
            <a:off x="4660938" y="4419601"/>
            <a:ext cx="4459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4.8  </a:t>
            </a:r>
            <a:r>
              <a:rPr lang="zh-CN" altLang="en-US" sz="1400" b="1" baseline="0" dirty="0">
                <a:ea typeface="宋体" panose="02010600030101010101" pitchFamily="2" charset="-122"/>
              </a:rPr>
              <a:t>双相码：曼彻斯特编码和差分曼彻斯特编码</a:t>
            </a:r>
            <a:endParaRPr lang="en-US" altLang="zh-CN" sz="1400" b="1" baseline="0" dirty="0">
              <a:ea typeface="宋体" panose="02010600030101010101" pitchFamily="2" charset="-122"/>
            </a:endParaRPr>
          </a:p>
        </p:txBody>
      </p:sp>
      <p:pic>
        <p:nvPicPr>
          <p:cNvPr id="41991" name="Picture 7">
            <a:extLst>
              <a:ext uri="{FF2B5EF4-FFF2-40B4-BE49-F238E27FC236}">
                <a16:creationId xmlns:a16="http://schemas.microsoft.com/office/drawing/2014/main" id="{1D54DF4B-99E4-4F82-BE34-52637EC6D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554" y="1228156"/>
            <a:ext cx="6300787" cy="3025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1">
            <a:extLst>
              <a:ext uri="{FF2B5EF4-FFF2-40B4-BE49-F238E27FC236}">
                <a16:creationId xmlns:a16="http://schemas.microsoft.com/office/drawing/2014/main" id="{D5BCA141-1C74-4288-872C-D17078EC2172}"/>
              </a:ext>
            </a:extLst>
          </p:cNvPr>
          <p:cNvSpPr>
            <a:spLocks noChangeArrowheads="1"/>
          </p:cNvSpPr>
          <p:nvPr/>
        </p:nvSpPr>
        <p:spPr bwMode="auto">
          <a:xfrm>
            <a:off x="2925098" y="4910395"/>
            <a:ext cx="5990303" cy="1116331"/>
          </a:xfrm>
          <a:prstGeom prst="rect">
            <a:avLst/>
          </a:prstGeom>
          <a:noFill/>
          <a:extLs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200000"/>
              </a:lnSpc>
            </a:pPr>
            <a:r>
              <a:rPr lang="zh-CN" altLang="en-US" sz="1800" baseline="0" dirty="0">
                <a:latin typeface="微软雅黑" panose="020B0503020204020204" pitchFamily="34" charset="-122"/>
                <a:ea typeface="微软雅黑" panose="020B0503020204020204" pitchFamily="34" charset="-122"/>
              </a:rPr>
              <a:t>优点：没有基线偏移，没有直流分量，可自同步。</a:t>
            </a:r>
            <a:endParaRPr lang="en-US" altLang="zh-CN" sz="1800" baseline="0" dirty="0">
              <a:latin typeface="微软雅黑" panose="020B0503020204020204" pitchFamily="34" charset="-122"/>
              <a:ea typeface="微软雅黑" panose="020B0503020204020204" pitchFamily="34" charset="-122"/>
            </a:endParaRPr>
          </a:p>
          <a:p>
            <a:pPr marL="0" indent="0">
              <a:lnSpc>
                <a:spcPct val="200000"/>
              </a:lnSpc>
            </a:pPr>
            <a:r>
              <a:rPr lang="zh-CN" altLang="en-US" sz="1800" baseline="0" dirty="0">
                <a:latin typeface="微软雅黑" panose="020B0503020204020204" pitchFamily="34" charset="-122"/>
                <a:ea typeface="微软雅黑" panose="020B0503020204020204" pitchFamily="34" charset="-122"/>
              </a:rPr>
              <a:t>缺点：最小带宽是 </a:t>
            </a:r>
            <a:r>
              <a:rPr lang="en-US" altLang="zh-CN" sz="1800" baseline="0" dirty="0">
                <a:latin typeface="微软雅黑" panose="020B0503020204020204" pitchFamily="34" charset="-122"/>
                <a:ea typeface="微软雅黑" panose="020B0503020204020204" pitchFamily="34" charset="-122"/>
              </a:rPr>
              <a:t>NRZ </a:t>
            </a:r>
            <a:r>
              <a:rPr lang="zh-CN" altLang="en-US" sz="1800" baseline="0" dirty="0">
                <a:latin typeface="微软雅黑" panose="020B0503020204020204" pitchFamily="34" charset="-122"/>
                <a:ea typeface="微软雅黑" panose="020B0503020204020204" pitchFamily="34" charset="-122"/>
              </a:rPr>
              <a:t>的两倍。</a:t>
            </a:r>
            <a:endParaRPr lang="en-US" altLang="zh-CN" sz="1800" baseline="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A328BF28-247A-488A-A248-A55E0C9FD3B6}"/>
              </a:ext>
            </a:extLst>
          </p:cNvPr>
          <p:cNvSpPr/>
          <p:nvPr/>
        </p:nvSpPr>
        <p:spPr>
          <a:xfrm>
            <a:off x="2182637" y="1524000"/>
            <a:ext cx="1326004" cy="1002582"/>
          </a:xfrm>
          <a:prstGeom prst="rect">
            <a:avLst/>
          </a:prstGeom>
        </p:spPr>
        <p:txBody>
          <a:bodyPr wrap="none">
            <a:spAutoFit/>
          </a:bodyPr>
          <a:lstStyle/>
          <a:p>
            <a:pPr marL="0" lvl="1">
              <a:lnSpc>
                <a:spcPct val="200000"/>
              </a:lnSpc>
              <a:buClr>
                <a:srgbClr val="3366FF"/>
              </a:buClr>
              <a:buSzPct val="80000"/>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：由高</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低</a:t>
            </a:r>
            <a:endPar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marL="0" lvl="1">
              <a:lnSpc>
                <a:spcPct val="200000"/>
              </a:lnSpc>
              <a:buClr>
                <a:srgbClr val="3366FF"/>
              </a:buClr>
              <a:buSzPct val="80000"/>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：由低高</a:t>
            </a:r>
            <a:endPar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p:txBody>
      </p:sp>
      <p:sp>
        <p:nvSpPr>
          <p:cNvPr id="3" name="矩形 2">
            <a:extLst>
              <a:ext uri="{FF2B5EF4-FFF2-40B4-BE49-F238E27FC236}">
                <a16:creationId xmlns:a16="http://schemas.microsoft.com/office/drawing/2014/main" id="{56B11FEB-6EA4-463D-AA66-2C9AB8B44C5D}"/>
              </a:ext>
            </a:extLst>
          </p:cNvPr>
          <p:cNvSpPr/>
          <p:nvPr/>
        </p:nvSpPr>
        <p:spPr>
          <a:xfrm>
            <a:off x="2133600" y="3087298"/>
            <a:ext cx="1535998" cy="1002967"/>
          </a:xfrm>
          <a:prstGeom prst="rect">
            <a:avLst/>
          </a:prstGeom>
        </p:spPr>
        <p:txBody>
          <a:bodyPr wrap="none">
            <a:spAutoFit/>
          </a:bodyPr>
          <a:lstStyle/>
          <a:p>
            <a:pPr marL="0" lvl="1">
              <a:lnSpc>
                <a:spcPct val="200000"/>
              </a:lnSpc>
              <a:buClr>
                <a:srgbClr val="3366FF"/>
              </a:buClr>
              <a:buSzPct val="80000"/>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：起始不跳变</a:t>
            </a:r>
            <a:endPar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endParaRPr>
          </a:p>
          <a:p>
            <a:pPr marL="0" lvl="1">
              <a:lnSpc>
                <a:spcPct val="200000"/>
              </a:lnSpc>
              <a:buClr>
                <a:srgbClr val="3366FF"/>
              </a:buClr>
              <a:buSzPct val="80000"/>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0</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：起始有跳变</a:t>
            </a:r>
            <a:endPar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标题 1">
            <a:extLst>
              <a:ext uri="{FF2B5EF4-FFF2-40B4-BE49-F238E27FC236}">
                <a16:creationId xmlns:a16="http://schemas.microsoft.com/office/drawing/2014/main" id="{8563DC2E-6A22-48FC-9128-DF1B631EEC14}"/>
              </a:ext>
            </a:extLst>
          </p:cNvPr>
          <p:cNvSpPr txBox="1">
            <a:spLocks/>
          </p:cNvSpPr>
          <p:nvPr/>
        </p:nvSpPr>
        <p:spPr bwMode="auto">
          <a:xfrm>
            <a:off x="3962400" y="65403"/>
            <a:ext cx="472440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双极性编码</a:t>
            </a:r>
          </a:p>
        </p:txBody>
      </p:sp>
      <p:sp>
        <p:nvSpPr>
          <p:cNvPr id="46084" name="内容占位符 2">
            <a:extLst>
              <a:ext uri="{FF2B5EF4-FFF2-40B4-BE49-F238E27FC236}">
                <a16:creationId xmlns:a16="http://schemas.microsoft.com/office/drawing/2014/main" id="{62116F2E-F867-441E-8B3A-4EBE266E1FFC}"/>
              </a:ext>
            </a:extLst>
          </p:cNvPr>
          <p:cNvSpPr txBox="1">
            <a:spLocks/>
          </p:cNvSpPr>
          <p:nvPr/>
        </p:nvSpPr>
        <p:spPr bwMode="auto">
          <a:xfrm>
            <a:off x="1524000" y="1219200"/>
            <a:ext cx="94869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200000"/>
              </a:lnSpc>
              <a:spcBef>
                <a:spcPct val="20000"/>
              </a:spcBef>
              <a:buClr>
                <a:schemeClr val="folHlink"/>
              </a:buClr>
              <a:buSzPct val="60000"/>
            </a:pP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双极性编码也称为多电平二进制 </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(multilevel binary)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编码，使用正电平、负电平和零三种电平，一个数据元素的电平是</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，另一个数据元素的电平在正值和负值间交替。</a:t>
            </a:r>
            <a:endPar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200000"/>
              </a:lnSpc>
              <a:spcBef>
                <a:spcPct val="20000"/>
              </a:spcBef>
              <a:buClr>
                <a:srgbClr val="FF0000"/>
              </a:buClr>
              <a:buSzPct val="80000"/>
              <a:buFont typeface="Wingdings" panose="05000000000000000000" pitchFamily="2" charset="2"/>
              <a:buChar char="u"/>
            </a:pPr>
            <a:r>
              <a:rPr lang="en-US" altLang="zh-CN" sz="1800" b="1" baseline="0" dirty="0">
                <a:latin typeface="微软雅黑" panose="020B0503020204020204" pitchFamily="34" charset="-122"/>
                <a:ea typeface="微软雅黑" panose="020B0503020204020204" pitchFamily="34" charset="-122"/>
                <a:cs typeface="Times New Roman" panose="02020603050405020304" pitchFamily="18" charset="0"/>
              </a:rPr>
              <a:t>AMI</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：交替传号反码 </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(Alternate Mark Inversion)</a:t>
            </a:r>
          </a:p>
          <a:p>
            <a:pPr marL="541338" lvl="1" indent="-276225">
              <a:lnSpc>
                <a:spcPct val="200000"/>
              </a:lnSpc>
              <a:spcBef>
                <a:spcPct val="20000"/>
              </a:spcBef>
              <a:buClr>
                <a:srgbClr val="3366FF"/>
              </a:buClr>
              <a:buSzPct val="80000"/>
              <a:buFont typeface="Wingdings" panose="05000000000000000000" pitchFamily="2" charset="2"/>
              <a:buChar char="l"/>
            </a:pP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传号指</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AMI</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是交替</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的翻转替换</a:t>
            </a:r>
          </a:p>
          <a:p>
            <a:pPr marL="541338" lvl="1" indent="-276225">
              <a:lnSpc>
                <a:spcPct val="200000"/>
              </a:lnSpc>
              <a:spcBef>
                <a:spcPct val="20000"/>
              </a:spcBef>
              <a:buClr>
                <a:srgbClr val="3366FF"/>
              </a:buClr>
              <a:buSzPct val="80000"/>
              <a:buFont typeface="Wingdings" panose="05000000000000000000" pitchFamily="2" charset="2"/>
              <a:buChar char="l"/>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：零电平， </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：交替正负电平</a:t>
            </a:r>
          </a:p>
          <a:p>
            <a:pPr marL="285750" indent="-285750">
              <a:lnSpc>
                <a:spcPct val="150000"/>
              </a:lnSpc>
              <a:spcBef>
                <a:spcPct val="20000"/>
              </a:spcBef>
              <a:buClr>
                <a:srgbClr val="FF0000"/>
              </a:buClr>
              <a:buSzPct val="80000"/>
              <a:buFont typeface="Wingdings" panose="05000000000000000000" pitchFamily="2" charset="2"/>
              <a:buChar char="u"/>
            </a:pPr>
            <a:r>
              <a:rPr lang="zh-CN" altLang="en-US" sz="1800" b="1" baseline="0" dirty="0">
                <a:latin typeface="微软雅黑" panose="020B0503020204020204" pitchFamily="34" charset="-122"/>
                <a:ea typeface="微软雅黑" panose="020B0503020204020204" pitchFamily="34" charset="-122"/>
                <a:cs typeface="Times New Roman" panose="02020603050405020304" pitchFamily="18" charset="0"/>
              </a:rPr>
              <a:t>伪三元编码 </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aseline="0" dirty="0" err="1">
                <a:latin typeface="微软雅黑" panose="020B0503020204020204" pitchFamily="34" charset="-122"/>
                <a:ea typeface="微软雅黑" panose="020B0503020204020204" pitchFamily="34" charset="-122"/>
                <a:cs typeface="Times New Roman" panose="02020603050405020304" pitchFamily="18" charset="0"/>
              </a:rPr>
              <a:t>Pseudoternary</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a:t>
            </a:r>
          </a:p>
          <a:p>
            <a:pPr marL="541338" lvl="1" indent="-276225">
              <a:lnSpc>
                <a:spcPct val="200000"/>
              </a:lnSpc>
              <a:spcBef>
                <a:spcPct val="20000"/>
              </a:spcBef>
              <a:buClr>
                <a:srgbClr val="3366FF"/>
              </a:buClr>
              <a:buSzPct val="80000"/>
              <a:buFont typeface="Wingdings" panose="05000000000000000000" pitchFamily="2" charset="2"/>
              <a:buChar char="l"/>
            </a:pP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AMI</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的变形</a:t>
            </a:r>
          </a:p>
          <a:p>
            <a:pPr marL="541338" lvl="1" indent="-276225">
              <a:lnSpc>
                <a:spcPct val="200000"/>
              </a:lnSpc>
              <a:spcBef>
                <a:spcPct val="20000"/>
              </a:spcBef>
              <a:buClr>
                <a:srgbClr val="3366FF"/>
              </a:buClr>
              <a:buSzPct val="80000"/>
              <a:buFont typeface="Wingdings" panose="05000000000000000000" pitchFamily="2" charset="2"/>
              <a:buChar char="l"/>
            </a:pP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：零电平，</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：交替正负电平</a:t>
            </a:r>
          </a:p>
          <a:p>
            <a:pPr marL="0" indent="0">
              <a:lnSpc>
                <a:spcPct val="150000"/>
              </a:lnSpc>
              <a:spcBef>
                <a:spcPct val="20000"/>
              </a:spcBef>
              <a:buClr>
                <a:schemeClr val="folHlink"/>
              </a:buClr>
              <a:buSzPct val="60000"/>
            </a:pPr>
            <a:endPar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Text Box 4">
            <a:extLst>
              <a:ext uri="{FF2B5EF4-FFF2-40B4-BE49-F238E27FC236}">
                <a16:creationId xmlns:a16="http://schemas.microsoft.com/office/drawing/2014/main" id="{D47C3CF1-4C37-4E28-83B9-B65E2B809C34}"/>
              </a:ext>
            </a:extLst>
          </p:cNvPr>
          <p:cNvSpPr txBox="1">
            <a:spLocks noChangeArrowheads="1"/>
          </p:cNvSpPr>
          <p:nvPr/>
        </p:nvSpPr>
        <p:spPr bwMode="auto">
          <a:xfrm>
            <a:off x="4343400" y="3962400"/>
            <a:ext cx="33938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4.9  </a:t>
            </a:r>
            <a:r>
              <a:rPr lang="zh-CN" altLang="en-US" sz="1400" b="1" baseline="0" dirty="0">
                <a:ea typeface="宋体" panose="02010600030101010101" pitchFamily="2" charset="-122"/>
              </a:rPr>
              <a:t>双极性编码：</a:t>
            </a:r>
            <a:r>
              <a:rPr lang="en-US" altLang="zh-CN" sz="1400" b="1" baseline="0" dirty="0">
                <a:ea typeface="宋体" panose="02010600030101010101" pitchFamily="2" charset="-122"/>
              </a:rPr>
              <a:t>AMI</a:t>
            </a:r>
            <a:r>
              <a:rPr lang="zh-CN" altLang="en-US" sz="1400" b="1" baseline="0" dirty="0">
                <a:ea typeface="宋体" panose="02010600030101010101" pitchFamily="2" charset="-122"/>
              </a:rPr>
              <a:t>和伪三元码</a:t>
            </a:r>
            <a:endParaRPr lang="en-US" altLang="zh-CN" sz="1400" b="1" baseline="0" dirty="0">
              <a:ea typeface="宋体" panose="02010600030101010101" pitchFamily="2" charset="-122"/>
            </a:endParaRPr>
          </a:p>
        </p:txBody>
      </p:sp>
      <p:pic>
        <p:nvPicPr>
          <p:cNvPr id="49159" name="Picture 7">
            <a:extLst>
              <a:ext uri="{FF2B5EF4-FFF2-40B4-BE49-F238E27FC236}">
                <a16:creationId xmlns:a16="http://schemas.microsoft.com/office/drawing/2014/main" id="{889B8452-EE37-4908-9854-7BEEB7B65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75081"/>
            <a:ext cx="7783313" cy="2164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60" name="文本框 1">
            <a:extLst>
              <a:ext uri="{FF2B5EF4-FFF2-40B4-BE49-F238E27FC236}">
                <a16:creationId xmlns:a16="http://schemas.microsoft.com/office/drawing/2014/main" id="{FCFE3EEB-64CC-4266-8D80-B2DE16243EBB}"/>
              </a:ext>
            </a:extLst>
          </p:cNvPr>
          <p:cNvSpPr txBox="1">
            <a:spLocks noChangeArrowheads="1"/>
          </p:cNvSpPr>
          <p:nvPr/>
        </p:nvSpPr>
        <p:spPr bwMode="auto">
          <a:xfrm>
            <a:off x="1371600" y="4572000"/>
            <a:ext cx="9677400" cy="1116781"/>
          </a:xfrm>
          <a:prstGeom prst="rect">
            <a:avLst/>
          </a:prstGeom>
          <a:noFill/>
          <a:extLs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en-US"/>
            </a:defPPr>
            <a:lvl1pPr marL="0" indent="0">
              <a:lnSpc>
                <a:spcPct val="200000"/>
              </a:lnSpc>
              <a:defRPr sz="1800" baseline="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双极性编码的能量集中于频率 </a:t>
            </a:r>
            <a:r>
              <a:rPr lang="en-US" altLang="zh-CN" dirty="0"/>
              <a:t>N/2 </a:t>
            </a:r>
            <a:r>
              <a:rPr lang="zh-CN" altLang="en-US" dirty="0"/>
              <a:t>处，信号速率与 </a:t>
            </a:r>
            <a:r>
              <a:rPr lang="en-US" altLang="zh-CN" dirty="0"/>
              <a:t>NRZ </a:t>
            </a:r>
            <a:r>
              <a:rPr lang="zh-CN" altLang="en-US" dirty="0"/>
              <a:t>一样，但没有直流分量，</a:t>
            </a:r>
            <a:r>
              <a:rPr lang="en-US" altLang="zh-CN" dirty="0"/>
              <a:t>AMI </a:t>
            </a:r>
            <a:r>
              <a:rPr lang="zh-CN" altLang="en-US" dirty="0"/>
              <a:t>在长序列 </a:t>
            </a:r>
            <a:r>
              <a:rPr lang="en-US" altLang="zh-CN" dirty="0"/>
              <a:t>0 </a:t>
            </a:r>
            <a:r>
              <a:rPr lang="zh-CN" altLang="en-US" dirty="0"/>
              <a:t>时有同步问题。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F0B6A9E6-6288-4812-BAD6-B354AEBB6B60}"/>
              </a:ext>
            </a:extLst>
          </p:cNvPr>
          <p:cNvSpPr>
            <a:spLocks noGrp="1"/>
          </p:cNvSpPr>
          <p:nvPr>
            <p:ph type="title"/>
          </p:nvPr>
        </p:nvSpPr>
        <p:spPr bwMode="auto">
          <a:xfrm>
            <a:off x="4114800" y="70040"/>
            <a:ext cx="30480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多电平编码</a:t>
            </a:r>
            <a:endParaRPr lang="zh-CN" altLang="en-US" sz="3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203" name="内容占位符 2">
            <a:extLst>
              <a:ext uri="{FF2B5EF4-FFF2-40B4-BE49-F238E27FC236}">
                <a16:creationId xmlns:a16="http://schemas.microsoft.com/office/drawing/2014/main" id="{FEFEDC5F-D5F8-42D4-A492-C83A39572EE0}"/>
              </a:ext>
            </a:extLst>
          </p:cNvPr>
          <p:cNvSpPr>
            <a:spLocks noGrp="1"/>
          </p:cNvSpPr>
          <p:nvPr>
            <p:ph idx="1"/>
          </p:nvPr>
        </p:nvSpPr>
        <p:spPr bwMode="auto">
          <a:xfrm>
            <a:off x="1295400" y="1333500"/>
            <a:ext cx="9829800" cy="4686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150000"/>
              </a:lnSpc>
              <a:buNone/>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多电平编码是把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m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个数据元素编码成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个信号元素的模式，增加了每波特的位数。多电平编码用 </a:t>
            </a:r>
            <a:r>
              <a:rPr lang="en-US" altLang="zh-CN" sz="1800" b="1" i="1"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800" b="1" dirty="0" err="1">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800" b="1" i="1"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b="1" dirty="0" err="1">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表示，其中 </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m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表示二进制模式的长度，</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表示二进制数据，</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是信号模式的长度，</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是信号的电平数。</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L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2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时用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替换，</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L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3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时用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替换，</a:t>
            </a:r>
            <a:r>
              <a:rPr lang="en-US" altLang="zh-CN" sz="1800" b="1" i="1" dirty="0">
                <a:latin typeface="Times New Roman" panose="02020603050405020304" pitchFamily="18" charset="0"/>
                <a:ea typeface="微软雅黑" panose="020B0503020204020204" pitchFamily="34" charset="-122"/>
                <a:cs typeface="Times New Roman" panose="02020603050405020304" pitchFamily="18" charset="0"/>
              </a:rPr>
              <a:t>L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 4</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时则用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Q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替换。</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pP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Clr>
                <a:srgbClr val="FF0000"/>
              </a:buClr>
              <a:buSzPct val="80000"/>
              <a:buNone/>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两种数据元素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(0,1)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表示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m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个数据元素组可以产生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m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个数据模式组合。不同的信号元素用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个不同的电平表示，可以产生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n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个信号模式组合。</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若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 = L</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，每个数据模式编成一个信号模式；</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若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m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&lt; L</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，每个数据模式只能占据一个信号模式的子集；</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若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m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&gt; L</a:t>
            </a:r>
            <a:r>
              <a:rPr lang="en-US" altLang="zh-CN" sz="1800" b="1" i="1" baseline="30000"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，则无法进行数据编码。</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buNone/>
            </a:pP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buNone/>
            </a:pPr>
            <a:endParaRPr lang="zh-CN" altLang="en-US" sz="1800" b="1" dirty="0">
              <a:ea typeface="宋体" panose="02010600030101010101" pitchFamily="2" charset="-122"/>
              <a:cs typeface="Times New Roman" panose="02020603050405020304" pitchFamily="18" charset="0"/>
            </a:endParaRPr>
          </a:p>
        </p:txBody>
      </p:sp>
      <p:sp>
        <p:nvSpPr>
          <p:cNvPr id="51204" name="灯片编号占位符 3">
            <a:extLst>
              <a:ext uri="{FF2B5EF4-FFF2-40B4-BE49-F238E27FC236}">
                <a16:creationId xmlns:a16="http://schemas.microsoft.com/office/drawing/2014/main" id="{99AA4FC3-28EF-47E4-91BE-2825E43D138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13B40E0-38FB-48AA-9F1C-05622080025C}" type="slidenum">
              <a:rPr lang="en-US" altLang="zh-CN" baseline="0" smtClean="0">
                <a:solidFill>
                  <a:schemeClr val="bg2"/>
                </a:solidFill>
                <a:latin typeface="Arial" panose="020B0604020202020204" pitchFamily="34" charset="0"/>
              </a:rPr>
              <a:pPr/>
              <a:t>17</a:t>
            </a:fld>
            <a:endParaRPr lang="en-US" altLang="zh-CN" baseline="0">
              <a:solidFill>
                <a:schemeClr val="bg2"/>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Text Box 4">
            <a:extLst>
              <a:ext uri="{FF2B5EF4-FFF2-40B4-BE49-F238E27FC236}">
                <a16:creationId xmlns:a16="http://schemas.microsoft.com/office/drawing/2014/main" id="{7E0B5F3A-60D5-4D42-9177-32FC73D11A76}"/>
              </a:ext>
            </a:extLst>
          </p:cNvPr>
          <p:cNvSpPr txBox="1">
            <a:spLocks noChangeArrowheads="1"/>
          </p:cNvSpPr>
          <p:nvPr/>
        </p:nvSpPr>
        <p:spPr bwMode="auto">
          <a:xfrm>
            <a:off x="4768585" y="4336463"/>
            <a:ext cx="26548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4.10  </a:t>
            </a:r>
            <a:r>
              <a:rPr lang="zh-CN" altLang="en-US" sz="1400" b="1" baseline="0" dirty="0">
                <a:ea typeface="宋体" panose="02010600030101010101" pitchFamily="2" charset="-122"/>
              </a:rPr>
              <a:t>多电平编码：</a:t>
            </a:r>
            <a:r>
              <a:rPr lang="en-US" altLang="zh-CN" sz="1400" b="1" baseline="0" dirty="0">
                <a:ea typeface="宋体" panose="02010600030101010101" pitchFamily="2" charset="-122"/>
              </a:rPr>
              <a:t>2B1Q</a:t>
            </a:r>
          </a:p>
        </p:txBody>
      </p:sp>
      <p:pic>
        <p:nvPicPr>
          <p:cNvPr id="54279" name="Picture 6">
            <a:extLst>
              <a:ext uri="{FF2B5EF4-FFF2-40B4-BE49-F238E27FC236}">
                <a16:creationId xmlns:a16="http://schemas.microsoft.com/office/drawing/2014/main" id="{57F97DB7-D921-46A5-9D40-E32725669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957" y="954100"/>
            <a:ext cx="4764087" cy="326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a:extLst>
              <a:ext uri="{FF2B5EF4-FFF2-40B4-BE49-F238E27FC236}">
                <a16:creationId xmlns:a16="http://schemas.microsoft.com/office/drawing/2014/main" id="{B5D8E6C9-57A2-4FAE-B493-1A6373B5470C}"/>
              </a:ext>
            </a:extLst>
          </p:cNvPr>
          <p:cNvSpPr txBox="1">
            <a:spLocks noChangeArrowheads="1"/>
          </p:cNvSpPr>
          <p:nvPr/>
        </p:nvSpPr>
        <p:spPr bwMode="auto">
          <a:xfrm>
            <a:off x="4797695" y="6246912"/>
            <a:ext cx="26257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4.11  </a:t>
            </a:r>
            <a:r>
              <a:rPr lang="zh-CN" altLang="en-US" sz="1400" b="1" baseline="0" dirty="0">
                <a:ea typeface="宋体" panose="02010600030101010101" pitchFamily="2" charset="-122"/>
              </a:rPr>
              <a:t>多电平编码：</a:t>
            </a:r>
            <a:r>
              <a:rPr lang="en-US" altLang="zh-CN" sz="1400" b="1" baseline="0" dirty="0">
                <a:ea typeface="宋体" panose="02010600030101010101" pitchFamily="2" charset="-122"/>
              </a:rPr>
              <a:t>8B6T</a:t>
            </a:r>
          </a:p>
        </p:txBody>
      </p:sp>
      <p:pic>
        <p:nvPicPr>
          <p:cNvPr id="6" name="Picture 6">
            <a:extLst>
              <a:ext uri="{FF2B5EF4-FFF2-40B4-BE49-F238E27FC236}">
                <a16:creationId xmlns:a16="http://schemas.microsoft.com/office/drawing/2014/main" id="{ACD9B5FB-2265-40DE-BC90-14104E31D6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876801"/>
            <a:ext cx="6170256" cy="1246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73E5D1FE-F799-4FF5-B473-5A5E810999C9}"/>
              </a:ext>
            </a:extLst>
          </p:cNvPr>
          <p:cNvSpPr>
            <a:spLocks noGrp="1"/>
          </p:cNvSpPr>
          <p:nvPr>
            <p:ph type="title"/>
          </p:nvPr>
        </p:nvSpPr>
        <p:spPr bwMode="auto">
          <a:xfrm>
            <a:off x="4038600" y="74349"/>
            <a:ext cx="4419600" cy="579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多线路传输 </a:t>
            </a:r>
            <a:r>
              <a:rPr lang="en-US" altLang="zh-CN"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MLT-3</a:t>
            </a:r>
            <a:endParaRPr lang="zh-CN" altLang="en-US" sz="2800" b="1" kern="12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443" name="内容占位符 2">
            <a:extLst>
              <a:ext uri="{FF2B5EF4-FFF2-40B4-BE49-F238E27FC236}">
                <a16:creationId xmlns:a16="http://schemas.microsoft.com/office/drawing/2014/main" id="{B8AB7AAF-5336-47F9-9FFB-83199C9A75B9}"/>
              </a:ext>
            </a:extLst>
          </p:cNvPr>
          <p:cNvSpPr>
            <a:spLocks noGrp="1"/>
          </p:cNvSpPr>
          <p:nvPr>
            <p:ph idx="1"/>
          </p:nvPr>
        </p:nvSpPr>
        <p:spPr bwMode="auto">
          <a:xfrm>
            <a:off x="1295400" y="904934"/>
            <a:ext cx="9982200" cy="214306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nSpc>
                <a:spcPct val="150000"/>
              </a:lnSpc>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三电平多线路传输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(three level multiline transmission)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是一种多于两个跳变规则的差分编码，包括正电平、零和负电平三种电平。编码规则为：</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452438" lvl="1" indent="-276225">
              <a:lnSpc>
                <a:spcPct val="150000"/>
              </a:lnSpc>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如果下一位是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，则不跳变；</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452438" lvl="1" indent="-276225">
              <a:lnSpc>
                <a:spcPct val="150000"/>
              </a:lnSpc>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如果下一位是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且当前电平是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，下一个电平是最后一个非零电平的相反值；</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452438" lvl="1" indent="-276225">
              <a:lnSpc>
                <a:spcPct val="150000"/>
              </a:lnSpc>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如果下一位是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且当前电平不是</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，下一个电平是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50000"/>
              </a:lnSpc>
              <a:buNone/>
            </a:pP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61444" name="灯片编号占位符 3">
            <a:extLst>
              <a:ext uri="{FF2B5EF4-FFF2-40B4-BE49-F238E27FC236}">
                <a16:creationId xmlns:a16="http://schemas.microsoft.com/office/drawing/2014/main" id="{DC3A6DA6-EB84-43DF-9134-35058E022AE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04317382-4F79-4487-8314-4123A4CC6CDD}" type="slidenum">
              <a:rPr lang="en-US" altLang="zh-CN" baseline="0" smtClean="0">
                <a:solidFill>
                  <a:schemeClr val="bg2"/>
                </a:solidFill>
                <a:latin typeface="Arial" panose="020B0604020202020204" pitchFamily="34" charset="0"/>
              </a:rPr>
              <a:pPr/>
              <a:t>19</a:t>
            </a:fld>
            <a:endParaRPr lang="en-US" altLang="zh-CN" baseline="0">
              <a:solidFill>
                <a:schemeClr val="bg2"/>
              </a:solidFill>
              <a:latin typeface="Arial" panose="020B0604020202020204" pitchFamily="34" charset="0"/>
            </a:endParaRPr>
          </a:p>
        </p:txBody>
      </p:sp>
      <p:sp>
        <p:nvSpPr>
          <p:cNvPr id="5" name="Text Box 4">
            <a:extLst>
              <a:ext uri="{FF2B5EF4-FFF2-40B4-BE49-F238E27FC236}">
                <a16:creationId xmlns:a16="http://schemas.microsoft.com/office/drawing/2014/main" id="{1453FECF-B329-4C7A-80FF-60EE3A745D32}"/>
              </a:ext>
            </a:extLst>
          </p:cNvPr>
          <p:cNvSpPr txBox="1">
            <a:spLocks noChangeArrowheads="1"/>
          </p:cNvSpPr>
          <p:nvPr/>
        </p:nvSpPr>
        <p:spPr bwMode="auto">
          <a:xfrm>
            <a:off x="4724952" y="6059283"/>
            <a:ext cx="27420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4.13  </a:t>
            </a:r>
            <a:r>
              <a:rPr lang="zh-CN" altLang="en-US" sz="1400" b="1" baseline="0" dirty="0">
                <a:ea typeface="宋体" panose="02010600030101010101" pitchFamily="2" charset="-122"/>
              </a:rPr>
              <a:t>多线路编码：</a:t>
            </a:r>
            <a:r>
              <a:rPr lang="en-US" altLang="zh-CN" sz="1400" b="1" baseline="0" dirty="0">
                <a:ea typeface="宋体" panose="02010600030101010101" pitchFamily="2" charset="-122"/>
              </a:rPr>
              <a:t>MLT-3</a:t>
            </a:r>
          </a:p>
        </p:txBody>
      </p:sp>
      <p:pic>
        <p:nvPicPr>
          <p:cNvPr id="6" name="Picture 6">
            <a:extLst>
              <a:ext uri="{FF2B5EF4-FFF2-40B4-BE49-F238E27FC236}">
                <a16:creationId xmlns:a16="http://schemas.microsoft.com/office/drawing/2014/main" id="{C2A84383-9386-43AF-9C1D-338A66D93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154216"/>
            <a:ext cx="6019800" cy="279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2">
            <a:extLst>
              <a:ext uri="{FF2B5EF4-FFF2-40B4-BE49-F238E27FC236}">
                <a16:creationId xmlns:a16="http://schemas.microsoft.com/office/drawing/2014/main" id="{8709AD52-9D53-4DBD-9C3C-D38E795FB023}"/>
              </a:ext>
            </a:extLst>
          </p:cNvPr>
          <p:cNvSpPr txBox="1">
            <a:spLocks noChangeArrowheads="1"/>
          </p:cNvSpPr>
          <p:nvPr/>
        </p:nvSpPr>
        <p:spPr bwMode="auto">
          <a:xfrm>
            <a:off x="1905000" y="1269319"/>
            <a:ext cx="27322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600" b="1" baseline="0" dirty="0">
                <a:solidFill>
                  <a:schemeClr val="folHlink"/>
                </a:solidFill>
                <a:ea typeface="宋体" panose="02010600030101010101" pitchFamily="2" charset="-122"/>
              </a:rPr>
              <a:t>Table 4.1  </a:t>
            </a:r>
            <a:r>
              <a:rPr lang="zh-CN" altLang="en-US" sz="1600" b="1" baseline="0" dirty="0">
                <a:ea typeface="宋体" panose="02010600030101010101" pitchFamily="2" charset="-122"/>
              </a:rPr>
              <a:t>线路编码方案比较</a:t>
            </a:r>
            <a:endParaRPr lang="en-US" altLang="zh-CN" sz="1600" b="1" baseline="0" dirty="0">
              <a:ea typeface="宋体" panose="02010600030101010101" pitchFamily="2" charset="-122"/>
            </a:endParaRPr>
          </a:p>
        </p:txBody>
      </p:sp>
      <p:pic>
        <p:nvPicPr>
          <p:cNvPr id="64520" name="图片 1">
            <a:extLst>
              <a:ext uri="{FF2B5EF4-FFF2-40B4-BE49-F238E27FC236}">
                <a16:creationId xmlns:a16="http://schemas.microsoft.com/office/drawing/2014/main" id="{74DA2A60-4BE1-42E7-B800-0D15A1C94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791" y="1801174"/>
            <a:ext cx="8155647" cy="3787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11">
            <a:extLst>
              <a:ext uri="{FF2B5EF4-FFF2-40B4-BE49-F238E27FC236}">
                <a16:creationId xmlns:a16="http://schemas.microsoft.com/office/drawing/2014/main" id="{A4244296-F86D-40C0-8280-DAB5D46046C0}"/>
              </a:ext>
            </a:extLst>
          </p:cNvPr>
          <p:cNvSpPr>
            <a:spLocks noChangeArrowheads="1"/>
          </p:cNvSpPr>
          <p:nvPr/>
        </p:nvSpPr>
        <p:spPr bwMode="auto">
          <a:xfrm>
            <a:off x="1333799" y="991574"/>
            <a:ext cx="9829800"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200000"/>
              </a:lnSpc>
              <a:buSzPct val="80000"/>
            </a:pP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块编码常称为</a:t>
            </a:r>
            <a:r>
              <a:rPr lang="en-US" altLang="zh-CN" sz="1800" b="1" i="1" baseline="0" dirty="0" err="1">
                <a:ea typeface="宋体" panose="02010600030101010101" pitchFamily="2" charset="-122"/>
                <a:cs typeface="Times New Roman" panose="02020603050405020304" pitchFamily="18" charset="0"/>
              </a:rPr>
              <a:t>m</a:t>
            </a:r>
            <a:r>
              <a:rPr lang="en-US" altLang="zh-CN" sz="1800" b="1" baseline="0" dirty="0" err="1">
                <a:ea typeface="宋体" panose="02010600030101010101" pitchFamily="2" charset="-122"/>
                <a:cs typeface="Times New Roman" panose="02020603050405020304" pitchFamily="18" charset="0"/>
              </a:rPr>
              <a:t>B</a:t>
            </a:r>
            <a:r>
              <a:rPr lang="en-US" altLang="zh-CN" sz="1800" b="1" baseline="0" dirty="0">
                <a:ea typeface="宋体" panose="02010600030101010101" pitchFamily="2" charset="-122"/>
                <a:cs typeface="Times New Roman" panose="02020603050405020304" pitchFamily="18" charset="0"/>
              </a:rPr>
              <a:t>/</a:t>
            </a:r>
            <a:r>
              <a:rPr lang="en-US" altLang="zh-CN" sz="1800" b="1" i="1" baseline="0" dirty="0" err="1">
                <a:ea typeface="宋体" panose="02010600030101010101" pitchFamily="2" charset="-122"/>
                <a:cs typeface="Times New Roman" panose="02020603050405020304" pitchFamily="18" charset="0"/>
              </a:rPr>
              <a:t>n</a:t>
            </a:r>
            <a:r>
              <a:rPr lang="en-US" altLang="zh-CN" sz="1800" b="1" baseline="0" dirty="0" err="1">
                <a:ea typeface="宋体" panose="02010600030101010101" pitchFamily="2" charset="-122"/>
                <a:cs typeface="Times New Roman" panose="02020603050405020304" pitchFamily="18" charset="0"/>
              </a:rPr>
              <a:t>B</a:t>
            </a:r>
            <a:r>
              <a:rPr lang="en-US" altLang="zh-CN" sz="1800" b="1" baseline="0" dirty="0">
                <a:ea typeface="宋体" panose="02010600030101010101" pitchFamily="2" charset="-122"/>
                <a:cs typeface="Times New Roman" panose="02020603050405020304" pitchFamily="18" charset="0"/>
              </a:rPr>
              <a:t>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编码技术，把</a:t>
            </a:r>
            <a:r>
              <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b="1" i="1" baseline="0" dirty="0">
                <a:ea typeface="宋体" panose="02010600030101010101" pitchFamily="2" charset="-122"/>
                <a:cs typeface="Times New Roman" panose="02020603050405020304" pitchFamily="18" charset="0"/>
              </a:rPr>
              <a:t>m</a:t>
            </a:r>
            <a:r>
              <a:rPr lang="en-US" altLang="zh-CN" sz="1800" b="1" baseline="0" dirty="0">
                <a:ea typeface="宋体" panose="02010600030101010101" pitchFamily="2" charset="-122"/>
                <a:cs typeface="Times New Roman" panose="02020603050405020304" pitchFamily="18" charset="0"/>
              </a:rPr>
              <a:t>-bit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位组变成 </a:t>
            </a:r>
            <a:r>
              <a:rPr lang="en-US" altLang="zh-CN" sz="1800" b="1" i="1" baseline="0" dirty="0">
                <a:ea typeface="宋体" panose="02010600030101010101" pitchFamily="2" charset="-122"/>
                <a:cs typeface="Times New Roman" panose="02020603050405020304" pitchFamily="18" charset="0"/>
              </a:rPr>
              <a:t>n</a:t>
            </a:r>
            <a:r>
              <a:rPr lang="en-US" altLang="zh-CN" sz="1800" b="1" baseline="0" dirty="0">
                <a:ea typeface="宋体" panose="02010600030101010101" pitchFamily="2" charset="-122"/>
                <a:cs typeface="Times New Roman" panose="02020603050405020304" pitchFamily="18" charset="0"/>
              </a:rPr>
              <a:t>-bit</a:t>
            </a:r>
            <a:r>
              <a:rPr lang="zh-CN" altLang="en-US" sz="1800" b="1" baseline="0" dirty="0">
                <a:ea typeface="宋体" panose="02010600030101010101" pitchFamily="2" charset="-122"/>
                <a:cs typeface="Times New Roman" panose="02020603050405020304" pitchFamily="18" charset="0"/>
              </a:rPr>
              <a:t>（</a:t>
            </a:r>
            <a:r>
              <a:rPr lang="en-US" altLang="zh-CN" sz="1800" b="1" i="1" baseline="0" dirty="0">
                <a:ea typeface="宋体" panose="02010600030101010101" pitchFamily="2" charset="-122"/>
                <a:cs typeface="Times New Roman" panose="02020603050405020304" pitchFamily="18" charset="0"/>
              </a:rPr>
              <a:t>n</a:t>
            </a:r>
            <a:r>
              <a:rPr lang="en-US" altLang="zh-CN" sz="1800" b="1" baseline="0" dirty="0">
                <a:ea typeface="宋体" panose="02010600030101010101" pitchFamily="2" charset="-122"/>
                <a:cs typeface="Times New Roman" panose="02020603050405020304" pitchFamily="18" charset="0"/>
              </a:rPr>
              <a:t>&gt;</a:t>
            </a:r>
            <a:r>
              <a:rPr lang="en-US" altLang="zh-CN" sz="1800" b="1" i="1" baseline="0" dirty="0">
                <a:ea typeface="宋体" panose="02010600030101010101" pitchFamily="2" charset="-122"/>
                <a:cs typeface="Times New Roman" panose="02020603050405020304" pitchFamily="18" charset="0"/>
              </a:rPr>
              <a:t>m</a:t>
            </a:r>
            <a:r>
              <a:rPr lang="zh-CN" altLang="en-US" sz="1800" b="1" baseline="0" dirty="0">
                <a:ea typeface="宋体" panose="02010600030101010101" pitchFamily="2" charset="-122"/>
                <a:cs typeface="Times New Roman" panose="02020603050405020304" pitchFamily="18" charset="0"/>
              </a:rPr>
              <a:t>），</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目的是利用冗余确保同步和差错检测。</a:t>
            </a:r>
            <a:endPar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564" name="标题 1">
            <a:extLst>
              <a:ext uri="{FF2B5EF4-FFF2-40B4-BE49-F238E27FC236}">
                <a16:creationId xmlns:a16="http://schemas.microsoft.com/office/drawing/2014/main" id="{DA616A57-A28C-4ACF-90BD-48FD770B6C54}"/>
              </a:ext>
            </a:extLst>
          </p:cNvPr>
          <p:cNvSpPr txBox="1">
            <a:spLocks/>
          </p:cNvSpPr>
          <p:nvPr/>
        </p:nvSpPr>
        <p:spPr bwMode="auto">
          <a:xfrm>
            <a:off x="4038600" y="81232"/>
            <a:ext cx="19812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rPr>
              <a:t>块编码</a:t>
            </a:r>
          </a:p>
        </p:txBody>
      </p:sp>
      <p:sp>
        <p:nvSpPr>
          <p:cNvPr id="5" name="Text Box 4">
            <a:extLst>
              <a:ext uri="{FF2B5EF4-FFF2-40B4-BE49-F238E27FC236}">
                <a16:creationId xmlns:a16="http://schemas.microsoft.com/office/drawing/2014/main" id="{43B1213E-B300-4929-872B-573CFF148379}"/>
              </a:ext>
            </a:extLst>
          </p:cNvPr>
          <p:cNvSpPr txBox="1">
            <a:spLocks noChangeArrowheads="1"/>
          </p:cNvSpPr>
          <p:nvPr/>
        </p:nvSpPr>
        <p:spPr bwMode="auto">
          <a:xfrm>
            <a:off x="5410200" y="5964993"/>
            <a:ext cx="1676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4.14  </a:t>
            </a:r>
            <a:r>
              <a:rPr lang="zh-CN" altLang="en-US" sz="1400" b="1" baseline="0" dirty="0">
                <a:ea typeface="宋体" panose="02010600030101010101" pitchFamily="2" charset="-122"/>
              </a:rPr>
              <a:t>块编码</a:t>
            </a:r>
            <a:endParaRPr lang="en-US" altLang="zh-CN" sz="1400" b="1" baseline="0" dirty="0">
              <a:ea typeface="宋体" panose="02010600030101010101" pitchFamily="2" charset="-122"/>
            </a:endParaRPr>
          </a:p>
        </p:txBody>
      </p:sp>
      <p:pic>
        <p:nvPicPr>
          <p:cNvPr id="6" name="Picture 6">
            <a:extLst>
              <a:ext uri="{FF2B5EF4-FFF2-40B4-BE49-F238E27FC236}">
                <a16:creationId xmlns:a16="http://schemas.microsoft.com/office/drawing/2014/main" id="{E0885D0D-2975-4DBE-B0F5-34A070093C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2207207"/>
            <a:ext cx="4941887" cy="3534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Text Box 4">
            <a:extLst>
              <a:ext uri="{FF2B5EF4-FFF2-40B4-BE49-F238E27FC236}">
                <a16:creationId xmlns:a16="http://schemas.microsoft.com/office/drawing/2014/main" id="{52D12DCE-579E-4505-BD63-B266E66C2842}"/>
              </a:ext>
            </a:extLst>
          </p:cNvPr>
          <p:cNvSpPr txBox="1">
            <a:spLocks noChangeArrowheads="1"/>
          </p:cNvSpPr>
          <p:nvPr/>
        </p:nvSpPr>
        <p:spPr bwMode="auto">
          <a:xfrm>
            <a:off x="4563357" y="5957670"/>
            <a:ext cx="319504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4.15  </a:t>
            </a:r>
            <a:r>
              <a:rPr lang="en-US" altLang="zh-CN" sz="1400" b="1" baseline="0" dirty="0">
                <a:ea typeface="宋体" panose="02010600030101010101" pitchFamily="2" charset="-122"/>
              </a:rPr>
              <a:t>4B/5B</a:t>
            </a:r>
            <a:r>
              <a:rPr lang="zh-CN" altLang="en-US" sz="1400" b="1" baseline="0" dirty="0">
                <a:ea typeface="宋体" panose="02010600030101010101" pitchFamily="2" charset="-122"/>
              </a:rPr>
              <a:t>编码结合</a:t>
            </a:r>
            <a:r>
              <a:rPr lang="en-US" altLang="zh-CN" sz="1400" b="1" baseline="0" dirty="0">
                <a:ea typeface="宋体" panose="02010600030101010101" pitchFamily="2" charset="-122"/>
              </a:rPr>
              <a:t>NRZ-I</a:t>
            </a:r>
            <a:r>
              <a:rPr lang="zh-CN" altLang="en-US" sz="1400" b="1" baseline="0" dirty="0">
                <a:ea typeface="宋体" panose="02010600030101010101" pitchFamily="2" charset="-122"/>
              </a:rPr>
              <a:t>编码</a:t>
            </a:r>
            <a:endParaRPr lang="en-US" altLang="zh-CN" sz="1400" b="1" baseline="0" dirty="0">
              <a:ea typeface="宋体" panose="02010600030101010101" pitchFamily="2" charset="-122"/>
            </a:endParaRPr>
          </a:p>
        </p:txBody>
      </p:sp>
      <p:pic>
        <p:nvPicPr>
          <p:cNvPr id="70663" name="Picture 6">
            <a:extLst>
              <a:ext uri="{FF2B5EF4-FFF2-40B4-BE49-F238E27FC236}">
                <a16:creationId xmlns:a16="http://schemas.microsoft.com/office/drawing/2014/main" id="{3BD255A5-D623-463F-B6B9-86C5352B2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3962400"/>
            <a:ext cx="5768557"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4">
            <a:extLst>
              <a:ext uri="{FF2B5EF4-FFF2-40B4-BE49-F238E27FC236}">
                <a16:creationId xmlns:a16="http://schemas.microsoft.com/office/drawing/2014/main" id="{784514EA-3FB9-457B-85C3-04E8E040DDCF}"/>
              </a:ext>
            </a:extLst>
          </p:cNvPr>
          <p:cNvSpPr txBox="1">
            <a:spLocks noChangeArrowheads="1"/>
          </p:cNvSpPr>
          <p:nvPr/>
        </p:nvSpPr>
        <p:spPr bwMode="auto">
          <a:xfrm>
            <a:off x="4953000" y="3335755"/>
            <a:ext cx="21466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4.16  </a:t>
            </a:r>
            <a:r>
              <a:rPr lang="en-US" altLang="zh-CN" sz="1400" b="1" baseline="0" dirty="0">
                <a:ea typeface="宋体" panose="02010600030101010101" pitchFamily="2" charset="-122"/>
              </a:rPr>
              <a:t>4B/5B</a:t>
            </a:r>
            <a:r>
              <a:rPr lang="zh-CN" altLang="en-US" sz="1400" b="1" baseline="0" dirty="0">
                <a:ea typeface="宋体" panose="02010600030101010101" pitchFamily="2" charset="-122"/>
              </a:rPr>
              <a:t>块编码</a:t>
            </a:r>
            <a:endParaRPr lang="en-US" altLang="zh-CN" sz="1400" b="1" baseline="0" dirty="0">
              <a:ea typeface="宋体" panose="02010600030101010101" pitchFamily="2" charset="-122"/>
            </a:endParaRPr>
          </a:p>
        </p:txBody>
      </p:sp>
      <p:pic>
        <p:nvPicPr>
          <p:cNvPr id="10" name="Picture 6">
            <a:extLst>
              <a:ext uri="{FF2B5EF4-FFF2-40B4-BE49-F238E27FC236}">
                <a16:creationId xmlns:a16="http://schemas.microsoft.com/office/drawing/2014/main" id="{1D5BB26B-D86D-4493-A59E-01759FD3B0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5563" y="1095544"/>
            <a:ext cx="6420874" cy="215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2">
            <a:extLst>
              <a:ext uri="{FF2B5EF4-FFF2-40B4-BE49-F238E27FC236}">
                <a16:creationId xmlns:a16="http://schemas.microsoft.com/office/drawing/2014/main" id="{EABFB517-566D-4312-8BB0-CA17AD01FC1E}"/>
              </a:ext>
            </a:extLst>
          </p:cNvPr>
          <p:cNvSpPr txBox="1">
            <a:spLocks noChangeArrowheads="1"/>
          </p:cNvSpPr>
          <p:nvPr/>
        </p:nvSpPr>
        <p:spPr bwMode="auto">
          <a:xfrm>
            <a:off x="3441291" y="926711"/>
            <a:ext cx="17952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Table 4.2  </a:t>
            </a:r>
            <a:r>
              <a:rPr lang="en-US" altLang="zh-CN" sz="1400" b="1" baseline="0" dirty="0">
                <a:ea typeface="宋体" panose="02010600030101010101" pitchFamily="2" charset="-122"/>
              </a:rPr>
              <a:t>4B/5B</a:t>
            </a:r>
            <a:r>
              <a:rPr lang="zh-CN" altLang="en-US" sz="1400" b="1" baseline="0" dirty="0">
                <a:ea typeface="宋体" panose="02010600030101010101" pitchFamily="2" charset="-122"/>
              </a:rPr>
              <a:t>编码</a:t>
            </a:r>
            <a:endParaRPr lang="en-US" altLang="zh-CN" sz="1400" b="1" baseline="0" dirty="0">
              <a:ea typeface="宋体" panose="02010600030101010101" pitchFamily="2" charset="-122"/>
            </a:endParaRPr>
          </a:p>
        </p:txBody>
      </p:sp>
      <p:grpSp>
        <p:nvGrpSpPr>
          <p:cNvPr id="72708" name="Group 7">
            <a:extLst>
              <a:ext uri="{FF2B5EF4-FFF2-40B4-BE49-F238E27FC236}">
                <a16:creationId xmlns:a16="http://schemas.microsoft.com/office/drawing/2014/main" id="{EFCA4C7F-6476-460F-9BF2-2C2C87E9B35E}"/>
              </a:ext>
            </a:extLst>
          </p:cNvPr>
          <p:cNvGrpSpPr>
            <a:grpSpLocks/>
          </p:cNvGrpSpPr>
          <p:nvPr/>
        </p:nvGrpSpPr>
        <p:grpSpPr bwMode="auto">
          <a:xfrm>
            <a:off x="3426542" y="1234488"/>
            <a:ext cx="5353460" cy="3702161"/>
            <a:chOff x="134" y="559"/>
            <a:chExt cx="5502" cy="4058"/>
          </a:xfrm>
        </p:grpSpPr>
        <p:pic>
          <p:nvPicPr>
            <p:cNvPr id="72710" name="Picture 5">
              <a:extLst>
                <a:ext uri="{FF2B5EF4-FFF2-40B4-BE49-F238E27FC236}">
                  <a16:creationId xmlns:a16="http://schemas.microsoft.com/office/drawing/2014/main" id="{0996D544-090F-40D3-B3A5-7D5013026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 y="559"/>
              <a:ext cx="5482" cy="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1" name="Picture 6">
              <a:extLst>
                <a:ext uri="{FF2B5EF4-FFF2-40B4-BE49-F238E27FC236}">
                  <a16:creationId xmlns:a16="http://schemas.microsoft.com/office/drawing/2014/main" id="{A2ACF20A-5EA8-47ED-A2AF-8F8C3F91BD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 y="2208"/>
              <a:ext cx="5465" cy="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 name="Rectangle 11">
            <a:extLst>
              <a:ext uri="{FF2B5EF4-FFF2-40B4-BE49-F238E27FC236}">
                <a16:creationId xmlns:a16="http://schemas.microsoft.com/office/drawing/2014/main" id="{896C4BC4-6678-459F-B96D-25D386788F6D}"/>
              </a:ext>
            </a:extLst>
          </p:cNvPr>
          <p:cNvSpPr>
            <a:spLocks noChangeArrowheads="1"/>
          </p:cNvSpPr>
          <p:nvPr/>
        </p:nvSpPr>
        <p:spPr bwMode="auto">
          <a:xfrm>
            <a:off x="1295400" y="5181600"/>
            <a:ext cx="9525000" cy="109029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a:spAutoFit/>
          </a:bodyPr>
          <a:lstStyle/>
          <a:p>
            <a:pPr algn="just">
              <a:lnSpc>
                <a:spcPct val="150000"/>
              </a:lnSpc>
              <a:buClr>
                <a:srgbClr val="FF0000"/>
              </a:buClr>
              <a:buSzPct val="80000"/>
              <a:defRPr/>
            </a:pP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4B/5B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编码方案，仅包含不超过一个前导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（左边位）和两个后缀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（右边位），使不同组合形成新的序列时，最多只会有连续的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，解决了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NRZ-I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存在的长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序列不能自同步的问题，但增加了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20%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的信号速率，且没有解决 </a:t>
            </a:r>
            <a:r>
              <a:rPr lang="en-US" altLang="zh-CN"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NRZ-I </a:t>
            </a:r>
            <a:r>
              <a:rPr lang="zh-CN" altLang="en-US" sz="150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的直流分量问题。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Text Box 4">
            <a:extLst>
              <a:ext uri="{FF2B5EF4-FFF2-40B4-BE49-F238E27FC236}">
                <a16:creationId xmlns:a16="http://schemas.microsoft.com/office/drawing/2014/main" id="{A92005D2-9FAF-4FCB-BCF0-2BA397F9C683}"/>
              </a:ext>
            </a:extLst>
          </p:cNvPr>
          <p:cNvSpPr txBox="1">
            <a:spLocks noChangeArrowheads="1"/>
          </p:cNvSpPr>
          <p:nvPr/>
        </p:nvSpPr>
        <p:spPr bwMode="auto">
          <a:xfrm>
            <a:off x="4800600" y="3499700"/>
            <a:ext cx="22364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4.17  </a:t>
            </a:r>
            <a:r>
              <a:rPr lang="en-US" altLang="zh-CN" sz="1400" b="1" baseline="0" dirty="0">
                <a:ea typeface="宋体" panose="02010600030101010101" pitchFamily="2" charset="-122"/>
              </a:rPr>
              <a:t>8B/10B</a:t>
            </a:r>
            <a:r>
              <a:rPr lang="zh-CN" altLang="en-US" sz="1400" b="1" baseline="0" dirty="0">
                <a:ea typeface="宋体" panose="02010600030101010101" pitchFamily="2" charset="-122"/>
              </a:rPr>
              <a:t>块编码</a:t>
            </a:r>
            <a:endParaRPr lang="en-US" altLang="zh-CN" sz="1400" b="1" baseline="0" dirty="0">
              <a:ea typeface="宋体" panose="02010600030101010101" pitchFamily="2" charset="-122"/>
            </a:endParaRPr>
          </a:p>
        </p:txBody>
      </p:sp>
      <p:pic>
        <p:nvPicPr>
          <p:cNvPr id="76807" name="Picture 6">
            <a:extLst>
              <a:ext uri="{FF2B5EF4-FFF2-40B4-BE49-F238E27FC236}">
                <a16:creationId xmlns:a16="http://schemas.microsoft.com/office/drawing/2014/main" id="{4A9E6C0F-7440-47A8-BFE2-6AC717D60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8615" y="1224685"/>
            <a:ext cx="6454771" cy="204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8" name="Rectangle 11">
            <a:extLst>
              <a:ext uri="{FF2B5EF4-FFF2-40B4-BE49-F238E27FC236}">
                <a16:creationId xmlns:a16="http://schemas.microsoft.com/office/drawing/2014/main" id="{32AEFB96-9C93-4911-8D62-F85935F9071E}"/>
              </a:ext>
            </a:extLst>
          </p:cNvPr>
          <p:cNvSpPr>
            <a:spLocks noChangeArrowheads="1"/>
          </p:cNvSpPr>
          <p:nvPr/>
        </p:nvSpPr>
        <p:spPr bwMode="auto">
          <a:xfrm>
            <a:off x="1181100" y="4042141"/>
            <a:ext cx="9829800" cy="1670586"/>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gn="just">
              <a:lnSpc>
                <a:spcPct val="200000"/>
              </a:lnSpc>
              <a:buClr>
                <a:srgbClr val="FF0000"/>
              </a:buClr>
            </a:pPr>
            <a:r>
              <a:rPr lang="en-US" altLang="zh-CN" sz="1800" baseline="0" dirty="0">
                <a:ea typeface="宋体" panose="02010600030101010101" pitchFamily="2" charset="-122"/>
              </a:rPr>
              <a:t>8B/10B </a:t>
            </a:r>
            <a:r>
              <a:rPr lang="zh-CN" altLang="en-US" sz="1800" baseline="0" dirty="0">
                <a:latin typeface="微软雅黑" panose="020B0503020204020204" pitchFamily="34" charset="-122"/>
                <a:ea typeface="微软雅黑" panose="020B0503020204020204" pitchFamily="34" charset="-122"/>
              </a:rPr>
              <a:t>编码类似于 </a:t>
            </a:r>
            <a:r>
              <a:rPr lang="en-US" altLang="zh-CN" sz="1800" baseline="0" dirty="0">
                <a:ea typeface="宋体" panose="02010600030101010101" pitchFamily="2" charset="-122"/>
              </a:rPr>
              <a:t>4B/5B </a:t>
            </a:r>
            <a:r>
              <a:rPr lang="zh-CN" altLang="en-US" sz="1800" baseline="0" dirty="0">
                <a:latin typeface="微软雅黑" panose="020B0503020204020204" pitchFamily="34" charset="-122"/>
                <a:ea typeface="微软雅黑" panose="020B0503020204020204" pitchFamily="34" charset="-122"/>
              </a:rPr>
              <a:t>编码，</a:t>
            </a:r>
            <a:r>
              <a:rPr lang="en-US" altLang="zh-CN" sz="1800" baseline="0" dirty="0">
                <a:ea typeface="宋体" panose="02010600030101010101" pitchFamily="2" charset="-122"/>
              </a:rPr>
              <a:t>8 </a:t>
            </a:r>
            <a:r>
              <a:rPr lang="zh-CN" altLang="en-US" sz="1800" baseline="0" dirty="0">
                <a:latin typeface="微软雅黑" panose="020B0503020204020204" pitchFamily="34" charset="-122"/>
                <a:ea typeface="微软雅黑" panose="020B0503020204020204" pitchFamily="34" charset="-122"/>
              </a:rPr>
              <a:t>位数据组被置换成 </a:t>
            </a:r>
            <a:r>
              <a:rPr lang="en-US" altLang="zh-CN" sz="1800" baseline="0" dirty="0">
                <a:ea typeface="宋体" panose="02010600030101010101" pitchFamily="2" charset="-122"/>
              </a:rPr>
              <a:t>10</a:t>
            </a:r>
            <a:r>
              <a:rPr lang="zh-CN" altLang="en-US" sz="1800" baseline="0" dirty="0">
                <a:latin typeface="微软雅黑" panose="020B0503020204020204" pitchFamily="34" charset="-122"/>
                <a:ea typeface="微软雅黑" panose="020B0503020204020204" pitchFamily="34" charset="-122"/>
              </a:rPr>
              <a:t>位 编码，提供了更高的差错控制能力。</a:t>
            </a:r>
            <a:r>
              <a:rPr lang="en-US" altLang="zh-CN" sz="1800" baseline="0" dirty="0">
                <a:latin typeface="微软雅黑" panose="020B0503020204020204" pitchFamily="34" charset="-122"/>
                <a:ea typeface="微软雅黑" panose="020B0503020204020204" pitchFamily="34" charset="-122"/>
              </a:rPr>
              <a:t> </a:t>
            </a:r>
            <a:r>
              <a:rPr lang="en-US" altLang="zh-CN" sz="1800" baseline="0" dirty="0">
                <a:ea typeface="宋体" panose="02010600030101010101" pitchFamily="2" charset="-122"/>
              </a:rPr>
              <a:t>8B/10B </a:t>
            </a:r>
            <a:r>
              <a:rPr lang="zh-CN" altLang="en-US" sz="1800" baseline="0" dirty="0">
                <a:latin typeface="微软雅黑" panose="020B0503020204020204" pitchFamily="34" charset="-122"/>
                <a:ea typeface="微软雅黑" panose="020B0503020204020204" pitchFamily="34" charset="-122"/>
              </a:rPr>
              <a:t>实际上是 </a:t>
            </a:r>
            <a:r>
              <a:rPr lang="en-US" altLang="zh-CN" sz="1800" baseline="0" dirty="0">
                <a:ea typeface="宋体" panose="02010600030101010101" pitchFamily="2" charset="-122"/>
              </a:rPr>
              <a:t>5B/6B </a:t>
            </a:r>
            <a:r>
              <a:rPr lang="zh-CN" altLang="en-US" sz="1800" baseline="0" dirty="0">
                <a:latin typeface="微软雅黑" panose="020B0503020204020204" pitchFamily="34" charset="-122"/>
                <a:ea typeface="微软雅黑" panose="020B0503020204020204" pitchFamily="34" charset="-122"/>
              </a:rPr>
              <a:t>编码和 </a:t>
            </a:r>
            <a:r>
              <a:rPr lang="en-US" altLang="zh-CN" sz="1800" baseline="0" dirty="0">
                <a:ea typeface="宋体" panose="02010600030101010101" pitchFamily="2" charset="-122"/>
              </a:rPr>
              <a:t>3B/4B </a:t>
            </a:r>
            <a:r>
              <a:rPr lang="zh-CN" altLang="en-US" sz="1800" baseline="0" dirty="0">
                <a:latin typeface="微软雅黑" panose="020B0503020204020204" pitchFamily="34" charset="-122"/>
                <a:ea typeface="微软雅黑" panose="020B0503020204020204" pitchFamily="34" charset="-122"/>
              </a:rPr>
              <a:t>编码的组合，为了防止连续 </a:t>
            </a:r>
            <a:r>
              <a:rPr lang="en-US" altLang="zh-CN" sz="1800" baseline="0" dirty="0">
                <a:latin typeface="微软雅黑" panose="020B0503020204020204" pitchFamily="34" charset="-122"/>
                <a:ea typeface="微软雅黑" panose="020B0503020204020204" pitchFamily="34" charset="-122"/>
              </a:rPr>
              <a:t>0 </a:t>
            </a:r>
            <a:r>
              <a:rPr lang="zh-CN" altLang="en-US" sz="1800" baseline="0" dirty="0">
                <a:latin typeface="微软雅黑" panose="020B0503020204020204" pitchFamily="34" charset="-122"/>
                <a:ea typeface="微软雅黑" panose="020B0503020204020204" pitchFamily="34" charset="-122"/>
              </a:rPr>
              <a:t>或者 </a:t>
            </a:r>
            <a:r>
              <a:rPr lang="en-US" altLang="zh-CN" sz="1800" baseline="0" dirty="0">
                <a:latin typeface="微软雅黑" panose="020B0503020204020204" pitchFamily="34" charset="-122"/>
                <a:ea typeface="微软雅黑" panose="020B0503020204020204" pitchFamily="34" charset="-122"/>
              </a:rPr>
              <a:t>1 </a:t>
            </a:r>
            <a:r>
              <a:rPr lang="zh-CN" altLang="en-US" sz="1800" baseline="0" dirty="0">
                <a:latin typeface="微软雅黑" panose="020B0503020204020204" pitchFamily="34" charset="-122"/>
                <a:ea typeface="微软雅黑" panose="020B0503020204020204" pitchFamily="34" charset="-122"/>
              </a:rPr>
              <a:t>的长串，使用不均等性控制器。编码有 </a:t>
            </a:r>
            <a:r>
              <a:rPr lang="en-US" altLang="zh-CN" sz="1800" baseline="0" dirty="0">
                <a:ea typeface="宋体" panose="02010600030101010101" pitchFamily="2" charset="-122"/>
              </a:rPr>
              <a:t>2</a:t>
            </a:r>
            <a:r>
              <a:rPr lang="en-US" altLang="zh-CN" sz="1800" baseline="30000" dirty="0">
                <a:ea typeface="宋体" panose="02010600030101010101" pitchFamily="2" charset="-122"/>
              </a:rPr>
              <a:t>10</a:t>
            </a:r>
            <a:r>
              <a:rPr lang="en-US" altLang="zh-CN" sz="1800" baseline="0" dirty="0">
                <a:ea typeface="宋体" panose="02010600030101010101" pitchFamily="2" charset="-122"/>
              </a:rPr>
              <a:t>-2</a:t>
            </a:r>
            <a:r>
              <a:rPr lang="en-US" altLang="zh-CN" sz="1800" baseline="30000" dirty="0">
                <a:ea typeface="宋体" panose="02010600030101010101" pitchFamily="2" charset="-122"/>
              </a:rPr>
              <a:t>8 </a:t>
            </a:r>
            <a:r>
              <a:rPr lang="en-US" altLang="zh-CN" sz="1800" baseline="0" dirty="0">
                <a:ea typeface="宋体" panose="02010600030101010101" pitchFamily="2" charset="-122"/>
              </a:rPr>
              <a:t>= 768 </a:t>
            </a:r>
            <a:r>
              <a:rPr lang="zh-CN" altLang="en-US" sz="1800" baseline="0" dirty="0">
                <a:latin typeface="微软雅黑" panose="020B0503020204020204" pitchFamily="34" charset="-122"/>
                <a:ea typeface="微软雅黑" panose="020B0503020204020204" pitchFamily="34" charset="-122"/>
              </a:rPr>
              <a:t>个冗余组。</a:t>
            </a:r>
            <a:endParaRPr lang="en-US" altLang="zh-CN" sz="18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ext Box 4">
            <a:extLst>
              <a:ext uri="{FF2B5EF4-FFF2-40B4-BE49-F238E27FC236}">
                <a16:creationId xmlns:a16="http://schemas.microsoft.com/office/drawing/2014/main" id="{8E204CC4-20DD-4B33-AF04-11BD6BA79B0A}"/>
              </a:ext>
            </a:extLst>
          </p:cNvPr>
          <p:cNvSpPr txBox="1">
            <a:spLocks noChangeArrowheads="1"/>
          </p:cNvSpPr>
          <p:nvPr/>
        </p:nvSpPr>
        <p:spPr bwMode="auto">
          <a:xfrm>
            <a:off x="4803050" y="5758563"/>
            <a:ext cx="25859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4.18  </a:t>
            </a:r>
            <a:r>
              <a:rPr lang="zh-CN" altLang="en-US" sz="1400" b="1" baseline="0" dirty="0">
                <a:ea typeface="宋体" panose="02010600030101010101" pitchFamily="2" charset="-122"/>
              </a:rPr>
              <a:t>修改</a:t>
            </a:r>
            <a:r>
              <a:rPr lang="en-US" altLang="zh-CN" sz="1400" b="1" baseline="0" dirty="0">
                <a:ea typeface="宋体" panose="02010600030101010101" pitchFamily="2" charset="-122"/>
              </a:rPr>
              <a:t>AMI</a:t>
            </a:r>
            <a:r>
              <a:rPr lang="zh-CN" altLang="en-US" sz="1400" b="1" baseline="0" dirty="0">
                <a:ea typeface="宋体" panose="02010600030101010101" pitchFamily="2" charset="-122"/>
              </a:rPr>
              <a:t>引入扰码</a:t>
            </a:r>
            <a:endParaRPr lang="en-US" altLang="zh-CN" sz="1400" b="1" baseline="0" dirty="0">
              <a:ea typeface="宋体" panose="02010600030101010101" pitchFamily="2" charset="-122"/>
            </a:endParaRPr>
          </a:p>
        </p:txBody>
      </p:sp>
      <p:pic>
        <p:nvPicPr>
          <p:cNvPr id="78852" name="Picture 6">
            <a:extLst>
              <a:ext uri="{FF2B5EF4-FFF2-40B4-BE49-F238E27FC236}">
                <a16:creationId xmlns:a16="http://schemas.microsoft.com/office/drawing/2014/main" id="{A38E6713-3608-4983-A8F0-4CF02452F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159178"/>
            <a:ext cx="6705600" cy="222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3" name="标题 1">
            <a:extLst>
              <a:ext uri="{FF2B5EF4-FFF2-40B4-BE49-F238E27FC236}">
                <a16:creationId xmlns:a16="http://schemas.microsoft.com/office/drawing/2014/main" id="{3478A5B5-9924-4EF0-B6A7-72D366E55535}"/>
              </a:ext>
            </a:extLst>
          </p:cNvPr>
          <p:cNvSpPr txBox="1">
            <a:spLocks/>
          </p:cNvSpPr>
          <p:nvPr/>
        </p:nvSpPr>
        <p:spPr bwMode="auto">
          <a:xfrm>
            <a:off x="4038600" y="84181"/>
            <a:ext cx="2384320" cy="58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扰码</a:t>
            </a:r>
            <a:endParaRPr lang="zh-CN" altLang="en-US" sz="2800" b="1" baseline="0" dirty="0">
              <a:ea typeface="宋体" panose="02010600030101010101" pitchFamily="2" charset="-122"/>
              <a:cs typeface="Times New Roman" panose="02020603050405020304" pitchFamily="18" charset="0"/>
            </a:endParaRPr>
          </a:p>
        </p:txBody>
      </p:sp>
      <p:sp>
        <p:nvSpPr>
          <p:cNvPr id="78854" name="Rectangle 11">
            <a:extLst>
              <a:ext uri="{FF2B5EF4-FFF2-40B4-BE49-F238E27FC236}">
                <a16:creationId xmlns:a16="http://schemas.microsoft.com/office/drawing/2014/main" id="{AC593C26-10A8-42C1-9E7B-47CF853E8CA2}"/>
              </a:ext>
            </a:extLst>
          </p:cNvPr>
          <p:cNvSpPr>
            <a:spLocks noChangeArrowheads="1"/>
          </p:cNvSpPr>
          <p:nvPr/>
        </p:nvSpPr>
        <p:spPr bwMode="auto">
          <a:xfrm>
            <a:off x="1485900" y="1035981"/>
            <a:ext cx="9220200" cy="1670778"/>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gn="just">
              <a:lnSpc>
                <a:spcPct val="200000"/>
              </a:lnSpc>
              <a:buClr>
                <a:srgbClr val="FF0000"/>
              </a:buClr>
            </a:pPr>
            <a:r>
              <a:rPr lang="zh-CN" altLang="en-US" sz="1800" baseline="0" dirty="0">
                <a:latin typeface="微软雅黑" panose="020B0503020204020204" pitchFamily="34" charset="-122"/>
                <a:ea typeface="微软雅黑" panose="020B0503020204020204" pitchFamily="34" charset="-122"/>
              </a:rPr>
              <a:t>双相码适用于 </a:t>
            </a:r>
            <a:r>
              <a:rPr lang="en-US" altLang="zh-CN" sz="1800" baseline="0" dirty="0">
                <a:latin typeface="微软雅黑" panose="020B0503020204020204" pitchFamily="34" charset="-122"/>
                <a:ea typeface="微软雅黑" panose="020B0503020204020204" pitchFamily="34" charset="-122"/>
              </a:rPr>
              <a:t>LAN </a:t>
            </a:r>
            <a:r>
              <a:rPr lang="zh-CN" altLang="en-US" sz="1800" baseline="0" dirty="0">
                <a:latin typeface="微软雅黑" panose="020B0503020204020204" pitchFamily="34" charset="-122"/>
                <a:ea typeface="微软雅黑" panose="020B0503020204020204" pitchFamily="34" charset="-122"/>
              </a:rPr>
              <a:t>中间站的专用链路，不适用于长距离通信；块编码和 </a:t>
            </a:r>
            <a:r>
              <a:rPr lang="en-US" altLang="zh-CN" sz="1800" baseline="0" dirty="0">
                <a:latin typeface="微软雅黑" panose="020B0503020204020204" pitchFamily="34" charset="-122"/>
                <a:ea typeface="微软雅黑" panose="020B0503020204020204" pitchFamily="34" charset="-122"/>
              </a:rPr>
              <a:t>NRZ </a:t>
            </a:r>
            <a:r>
              <a:rPr lang="zh-CN" altLang="en-US" sz="1800" baseline="0" dirty="0">
                <a:latin typeface="微软雅黑" panose="020B0503020204020204" pitchFamily="34" charset="-122"/>
                <a:ea typeface="微软雅黑" panose="020B0503020204020204" pitchFamily="34" charset="-122"/>
              </a:rPr>
              <a:t>编码的组合有 </a:t>
            </a:r>
            <a:r>
              <a:rPr lang="en-US" altLang="zh-CN" sz="1800" baseline="0" dirty="0">
                <a:latin typeface="微软雅黑" panose="020B0503020204020204" pitchFamily="34" charset="-122"/>
                <a:ea typeface="微软雅黑" panose="020B0503020204020204" pitchFamily="34" charset="-122"/>
              </a:rPr>
              <a:t>DC </a:t>
            </a:r>
            <a:r>
              <a:rPr lang="zh-CN" altLang="en-US" sz="1800" baseline="0" dirty="0">
                <a:latin typeface="微软雅黑" panose="020B0503020204020204" pitchFamily="34" charset="-122"/>
                <a:ea typeface="微软雅黑" panose="020B0503020204020204" pitchFamily="34" charset="-122"/>
              </a:rPr>
              <a:t>分量，也不适合于长距离通信；双极性 </a:t>
            </a:r>
            <a:r>
              <a:rPr lang="en-US" altLang="zh-CN" sz="1800" baseline="0" dirty="0">
                <a:latin typeface="微软雅黑" panose="020B0503020204020204" pitchFamily="34" charset="-122"/>
                <a:ea typeface="微软雅黑" panose="020B0503020204020204" pitchFamily="34" charset="-122"/>
              </a:rPr>
              <a:t>AMI </a:t>
            </a:r>
            <a:r>
              <a:rPr lang="zh-CN" altLang="en-US" sz="1800" baseline="0" dirty="0">
                <a:latin typeface="微软雅黑" panose="020B0503020204020204" pitchFamily="34" charset="-122"/>
                <a:ea typeface="微软雅黑" panose="020B0503020204020204" pitchFamily="34" charset="-122"/>
              </a:rPr>
              <a:t>带宽窄且没有 </a:t>
            </a:r>
            <a:r>
              <a:rPr lang="en-US" altLang="zh-CN" sz="1800" baseline="0" dirty="0">
                <a:latin typeface="微软雅黑" panose="020B0503020204020204" pitchFamily="34" charset="-122"/>
                <a:ea typeface="微软雅黑" panose="020B0503020204020204" pitchFamily="34" charset="-122"/>
              </a:rPr>
              <a:t>DC </a:t>
            </a:r>
            <a:r>
              <a:rPr lang="zh-CN" altLang="en-US" sz="1800" baseline="0" dirty="0">
                <a:latin typeface="微软雅黑" panose="020B0503020204020204" pitchFamily="34" charset="-122"/>
                <a:ea typeface="微软雅黑" panose="020B0503020204020204" pitchFamily="34" charset="-122"/>
              </a:rPr>
              <a:t>分量，但连续 </a:t>
            </a:r>
            <a:r>
              <a:rPr lang="en-US" altLang="zh-CN" sz="1800" baseline="0" dirty="0">
                <a:latin typeface="微软雅黑" panose="020B0503020204020204" pitchFamily="34" charset="-122"/>
                <a:ea typeface="微软雅黑" panose="020B0503020204020204" pitchFamily="34" charset="-122"/>
              </a:rPr>
              <a:t>0 </a:t>
            </a:r>
            <a:r>
              <a:rPr lang="zh-CN" altLang="en-US" sz="1800" baseline="0" dirty="0">
                <a:latin typeface="微软雅黑" panose="020B0503020204020204" pitchFamily="34" charset="-122"/>
                <a:ea typeface="微软雅黑" panose="020B0503020204020204" pitchFamily="34" charset="-122"/>
              </a:rPr>
              <a:t>的长序列会失去同步；对 </a:t>
            </a:r>
            <a:r>
              <a:rPr lang="en-US" altLang="zh-CN" sz="1800" baseline="0" dirty="0">
                <a:latin typeface="微软雅黑" panose="020B0503020204020204" pitchFamily="34" charset="-122"/>
                <a:ea typeface="微软雅黑" panose="020B0503020204020204" pitchFamily="34" charset="-122"/>
              </a:rPr>
              <a:t>AMI </a:t>
            </a:r>
            <a:r>
              <a:rPr lang="zh-CN" altLang="en-US" sz="1800" baseline="0" dirty="0">
                <a:latin typeface="微软雅黑" panose="020B0503020204020204" pitchFamily="34" charset="-122"/>
                <a:ea typeface="微软雅黑" panose="020B0503020204020204" pitchFamily="34" charset="-122"/>
              </a:rPr>
              <a:t>规则进行部分修改后引入扰码 </a:t>
            </a:r>
            <a:r>
              <a:rPr lang="en-US" altLang="zh-CN" sz="1800" baseline="0" dirty="0">
                <a:latin typeface="微软雅黑" panose="020B0503020204020204" pitchFamily="34" charset="-122"/>
                <a:ea typeface="微软雅黑" panose="020B0503020204020204" pitchFamily="34" charset="-122"/>
              </a:rPr>
              <a:t>B8ZS </a:t>
            </a:r>
            <a:r>
              <a:rPr lang="zh-CN" altLang="en-US" sz="1800" baseline="0" dirty="0">
                <a:latin typeface="微软雅黑" panose="020B0503020204020204" pitchFamily="34" charset="-122"/>
                <a:ea typeface="微软雅黑" panose="020B0503020204020204" pitchFamily="34" charset="-122"/>
              </a:rPr>
              <a:t>和 </a:t>
            </a:r>
            <a:r>
              <a:rPr lang="en-US" altLang="zh-CN" sz="1800" baseline="0" dirty="0">
                <a:latin typeface="微软雅黑" panose="020B0503020204020204" pitchFamily="34" charset="-122"/>
                <a:ea typeface="微软雅黑" panose="020B0503020204020204" pitchFamily="34" charset="-122"/>
              </a:rPr>
              <a:t>HDB3</a:t>
            </a:r>
            <a:r>
              <a:rPr lang="zh-CN" altLang="en-US" sz="1800" baseline="0" dirty="0">
                <a:latin typeface="微软雅黑" panose="020B0503020204020204" pitchFamily="34" charset="-122"/>
                <a:ea typeface="微软雅黑" panose="020B0503020204020204" pitchFamily="34" charset="-122"/>
              </a:rPr>
              <a:t>。</a:t>
            </a:r>
            <a:endParaRPr lang="en-US" altLang="zh-CN" sz="18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4">
            <a:extLst>
              <a:ext uri="{FF2B5EF4-FFF2-40B4-BE49-F238E27FC236}">
                <a16:creationId xmlns:a16="http://schemas.microsoft.com/office/drawing/2014/main" id="{3B6C77C2-368B-4290-B49A-A74A22712FFA}"/>
              </a:ext>
            </a:extLst>
          </p:cNvPr>
          <p:cNvSpPr txBox="1">
            <a:spLocks noChangeArrowheads="1"/>
          </p:cNvSpPr>
          <p:nvPr/>
        </p:nvSpPr>
        <p:spPr bwMode="auto">
          <a:xfrm>
            <a:off x="4914831" y="5750653"/>
            <a:ext cx="22861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4.19  </a:t>
            </a:r>
            <a:r>
              <a:rPr lang="en-US" altLang="zh-CN" sz="1400" b="1" baseline="0" dirty="0">
                <a:ea typeface="宋体" panose="02010600030101010101" pitchFamily="2" charset="-122"/>
              </a:rPr>
              <a:t>B8ZS</a:t>
            </a:r>
            <a:r>
              <a:rPr lang="zh-CN" altLang="en-US" sz="1400" b="1" baseline="0" dirty="0">
                <a:ea typeface="宋体" panose="02010600030101010101" pitchFamily="2" charset="-122"/>
              </a:rPr>
              <a:t>扰码方案</a:t>
            </a:r>
            <a:endParaRPr lang="en-US" altLang="zh-CN" sz="1400" b="1" baseline="0" dirty="0">
              <a:ea typeface="宋体" panose="02010600030101010101" pitchFamily="2" charset="-122"/>
            </a:endParaRPr>
          </a:p>
        </p:txBody>
      </p:sp>
      <p:pic>
        <p:nvPicPr>
          <p:cNvPr id="80900" name="Picture 6">
            <a:extLst>
              <a:ext uri="{FF2B5EF4-FFF2-40B4-BE49-F238E27FC236}">
                <a16:creationId xmlns:a16="http://schemas.microsoft.com/office/drawing/2014/main" id="{DED4FE10-261B-48B7-BE77-74ED83720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3556631"/>
            <a:ext cx="6934200" cy="2055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01" name="Rectangle 11">
            <a:extLst>
              <a:ext uri="{FF2B5EF4-FFF2-40B4-BE49-F238E27FC236}">
                <a16:creationId xmlns:a16="http://schemas.microsoft.com/office/drawing/2014/main" id="{740A5C24-1152-4441-BBF9-8EDDC974110F}"/>
              </a:ext>
            </a:extLst>
          </p:cNvPr>
          <p:cNvSpPr>
            <a:spLocks noChangeArrowheads="1"/>
          </p:cNvSpPr>
          <p:nvPr/>
        </p:nvSpPr>
        <p:spPr bwMode="auto">
          <a:xfrm>
            <a:off x="1600200" y="1024126"/>
            <a:ext cx="9220199" cy="2224776"/>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200000"/>
              </a:lnSpc>
              <a:buClr>
                <a:srgbClr val="FF0000"/>
              </a:buClr>
              <a:buSzPct val="80000"/>
              <a:buFont typeface="Wingdings" panose="05000000000000000000" pitchFamily="2" charset="2"/>
              <a:buChar char="u"/>
            </a:pPr>
            <a:r>
              <a:rPr lang="en-US" altLang="zh-CN" sz="1800" baseline="0" dirty="0">
                <a:latin typeface="微软雅黑" panose="020B0503020204020204" pitchFamily="34" charset="-122"/>
                <a:ea typeface="微软雅黑" panose="020B0503020204020204" pitchFamily="34" charset="-122"/>
              </a:rPr>
              <a:t>8 </a:t>
            </a:r>
            <a:r>
              <a:rPr lang="zh-CN" altLang="en-US" sz="1800" baseline="0" dirty="0">
                <a:latin typeface="微软雅黑" panose="020B0503020204020204" pitchFamily="34" charset="-122"/>
                <a:ea typeface="微软雅黑" panose="020B0503020204020204" pitchFamily="34" charset="-122"/>
              </a:rPr>
              <a:t>个连续 </a:t>
            </a:r>
            <a:r>
              <a:rPr lang="en-US" altLang="zh-CN" sz="1800" baseline="0" dirty="0">
                <a:latin typeface="微软雅黑" panose="020B0503020204020204" pitchFamily="34" charset="-122"/>
                <a:ea typeface="微软雅黑" panose="020B0503020204020204" pitchFamily="34" charset="-122"/>
              </a:rPr>
              <a:t>0 </a:t>
            </a:r>
            <a:r>
              <a:rPr lang="zh-CN" altLang="en-US" sz="1800" baseline="0" dirty="0">
                <a:latin typeface="微软雅黑" panose="020B0503020204020204" pitchFamily="34" charset="-122"/>
                <a:ea typeface="微软雅黑" panose="020B0503020204020204" pitchFamily="34" charset="-122"/>
              </a:rPr>
              <a:t>电平会被替换成 </a:t>
            </a:r>
            <a:r>
              <a:rPr lang="en-US" altLang="zh-CN" sz="1800" baseline="0" dirty="0">
                <a:latin typeface="微软雅黑" panose="020B0503020204020204" pitchFamily="34" charset="-122"/>
                <a:ea typeface="微软雅黑" panose="020B0503020204020204" pitchFamily="34" charset="-122"/>
              </a:rPr>
              <a:t>000VB0VB</a:t>
            </a:r>
            <a:r>
              <a:rPr lang="zh-CN" altLang="en-US" sz="1800" baseline="0" dirty="0">
                <a:latin typeface="微软雅黑" panose="020B0503020204020204" pitchFamily="34" charset="-122"/>
                <a:ea typeface="微软雅黑" panose="020B0503020204020204" pitchFamily="34" charset="-122"/>
              </a:rPr>
              <a:t>；</a:t>
            </a:r>
            <a:endParaRPr lang="en-US" altLang="zh-CN" sz="1800" baseline="0" dirty="0">
              <a:latin typeface="微软雅黑" panose="020B0503020204020204" pitchFamily="34" charset="-122"/>
              <a:ea typeface="微软雅黑" panose="020B0503020204020204" pitchFamily="34" charset="-122"/>
            </a:endParaRPr>
          </a:p>
          <a:p>
            <a:pPr algn="just">
              <a:lnSpc>
                <a:spcPct val="200000"/>
              </a:lnSpc>
              <a:buClr>
                <a:srgbClr val="FF0000"/>
              </a:buClr>
              <a:buSzPct val="80000"/>
              <a:buFont typeface="Wingdings" panose="05000000000000000000" pitchFamily="2" charset="2"/>
              <a:buChar char="u"/>
            </a:pPr>
            <a:r>
              <a:rPr lang="en-US" altLang="zh-CN" sz="1800" baseline="0" dirty="0">
                <a:latin typeface="微软雅黑" panose="020B0503020204020204" pitchFamily="34" charset="-122"/>
                <a:ea typeface="微软雅黑" panose="020B0503020204020204" pitchFamily="34" charset="-122"/>
              </a:rPr>
              <a:t>V </a:t>
            </a:r>
            <a:r>
              <a:rPr lang="zh-CN" altLang="en-US" sz="1800" baseline="0" dirty="0">
                <a:latin typeface="微软雅黑" panose="020B0503020204020204" pitchFamily="34" charset="-122"/>
                <a:ea typeface="微软雅黑" panose="020B0503020204020204" pitchFamily="34" charset="-122"/>
              </a:rPr>
              <a:t>表示违反 </a:t>
            </a:r>
            <a:r>
              <a:rPr lang="en-US" altLang="zh-CN" sz="1800" baseline="0" dirty="0">
                <a:latin typeface="微软雅黑" panose="020B0503020204020204" pitchFamily="34" charset="-122"/>
                <a:ea typeface="微软雅黑" panose="020B0503020204020204" pitchFamily="34" charset="-122"/>
              </a:rPr>
              <a:t>(Violation)</a:t>
            </a:r>
            <a:r>
              <a:rPr lang="zh-CN" altLang="en-US" sz="1800" baseline="0" dirty="0">
                <a:latin typeface="微软雅黑" panose="020B0503020204020204" pitchFamily="34" charset="-122"/>
                <a:ea typeface="微软雅黑" panose="020B0503020204020204" pitchFamily="34" charset="-122"/>
              </a:rPr>
              <a:t>，是个非零电平，与前一个非零脉冲极性相同的极性，即违反了 </a:t>
            </a:r>
            <a:r>
              <a:rPr lang="en-US" altLang="zh-CN" sz="1800" baseline="0" dirty="0">
                <a:latin typeface="微软雅黑" panose="020B0503020204020204" pitchFamily="34" charset="-122"/>
                <a:ea typeface="微软雅黑" panose="020B0503020204020204" pitchFamily="34" charset="-122"/>
              </a:rPr>
              <a:t>AMI </a:t>
            </a:r>
            <a:r>
              <a:rPr lang="zh-CN" altLang="en-US" sz="1800" baseline="0" dirty="0">
                <a:latin typeface="微软雅黑" panose="020B0503020204020204" pitchFamily="34" charset="-122"/>
                <a:ea typeface="微软雅黑" panose="020B0503020204020204" pitchFamily="34" charset="-122"/>
              </a:rPr>
              <a:t>编码规则；</a:t>
            </a:r>
            <a:endParaRPr lang="en-US" altLang="zh-CN" sz="1800" baseline="0" dirty="0">
              <a:latin typeface="微软雅黑" panose="020B0503020204020204" pitchFamily="34" charset="-122"/>
              <a:ea typeface="微软雅黑" panose="020B0503020204020204" pitchFamily="34" charset="-122"/>
            </a:endParaRPr>
          </a:p>
          <a:p>
            <a:pPr algn="just">
              <a:lnSpc>
                <a:spcPct val="200000"/>
              </a:lnSpc>
              <a:buClr>
                <a:srgbClr val="FF0000"/>
              </a:buClr>
              <a:buSzPct val="80000"/>
              <a:buFont typeface="Wingdings" panose="05000000000000000000" pitchFamily="2" charset="2"/>
              <a:buChar char="u"/>
            </a:pPr>
            <a:r>
              <a:rPr lang="en-US" altLang="zh-CN" sz="1800" baseline="0" dirty="0">
                <a:latin typeface="微软雅黑" panose="020B0503020204020204" pitchFamily="34" charset="-122"/>
                <a:ea typeface="微软雅黑" panose="020B0503020204020204" pitchFamily="34" charset="-122"/>
              </a:rPr>
              <a:t>B </a:t>
            </a:r>
            <a:r>
              <a:rPr lang="zh-CN" altLang="en-US" sz="1800" baseline="0" dirty="0">
                <a:latin typeface="微软雅黑" panose="020B0503020204020204" pitchFamily="34" charset="-122"/>
                <a:ea typeface="微软雅黑" panose="020B0503020204020204" pitchFamily="34" charset="-122"/>
              </a:rPr>
              <a:t>表示双极，表示与 </a:t>
            </a:r>
            <a:r>
              <a:rPr lang="en-US" altLang="zh-CN" sz="1800" baseline="0" dirty="0">
                <a:latin typeface="微软雅黑" panose="020B0503020204020204" pitchFamily="34" charset="-122"/>
                <a:ea typeface="微软雅黑" panose="020B0503020204020204" pitchFamily="34" charset="-122"/>
              </a:rPr>
              <a:t>AMI </a:t>
            </a:r>
            <a:r>
              <a:rPr lang="zh-CN" altLang="en-US" sz="1800" baseline="0" dirty="0">
                <a:latin typeface="微软雅黑" panose="020B0503020204020204" pitchFamily="34" charset="-122"/>
                <a:ea typeface="微软雅黑" panose="020B0503020204020204" pitchFamily="34" charset="-122"/>
              </a:rPr>
              <a:t>相一致的非零电平，即与前一个非零脉冲极性相反的极性。</a:t>
            </a:r>
            <a:endParaRPr lang="en-US" altLang="zh-CN" sz="1800" baseline="0" dirty="0">
              <a:latin typeface="微软雅黑" panose="020B0503020204020204" pitchFamily="34" charset="-122"/>
              <a:ea typeface="微软雅黑" panose="020B0503020204020204" pitchFamily="34" charset="-122"/>
            </a:endParaRPr>
          </a:p>
        </p:txBody>
      </p:sp>
      <p:sp>
        <p:nvSpPr>
          <p:cNvPr id="80902" name="标题 1">
            <a:extLst>
              <a:ext uri="{FF2B5EF4-FFF2-40B4-BE49-F238E27FC236}">
                <a16:creationId xmlns:a16="http://schemas.microsoft.com/office/drawing/2014/main" id="{17204101-51AD-4E56-898A-CEC53BD87132}"/>
              </a:ext>
            </a:extLst>
          </p:cNvPr>
          <p:cNvSpPr txBox="1">
            <a:spLocks/>
          </p:cNvSpPr>
          <p:nvPr/>
        </p:nvSpPr>
        <p:spPr bwMode="auto">
          <a:xfrm>
            <a:off x="3962400" y="86794"/>
            <a:ext cx="48006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零置换的双极编码</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B8ZS</a:t>
            </a:r>
            <a:endPar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4">
            <a:extLst>
              <a:ext uri="{FF2B5EF4-FFF2-40B4-BE49-F238E27FC236}">
                <a16:creationId xmlns:a16="http://schemas.microsoft.com/office/drawing/2014/main" id="{2F16236B-76CA-44BF-938C-9BDA083FB601}"/>
              </a:ext>
            </a:extLst>
          </p:cNvPr>
          <p:cNvSpPr txBox="1">
            <a:spLocks noChangeArrowheads="1"/>
          </p:cNvSpPr>
          <p:nvPr/>
        </p:nvSpPr>
        <p:spPr bwMode="auto">
          <a:xfrm>
            <a:off x="4928084" y="6114466"/>
            <a:ext cx="23358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4.20  </a:t>
            </a:r>
            <a:r>
              <a:rPr lang="en-US" altLang="zh-CN" sz="1400" b="1" baseline="0" dirty="0">
                <a:ea typeface="宋体" panose="02010600030101010101" pitchFamily="2" charset="-122"/>
              </a:rPr>
              <a:t>HDB3</a:t>
            </a:r>
            <a:r>
              <a:rPr lang="zh-CN" altLang="en-US" sz="1400" b="1" baseline="0" dirty="0">
                <a:ea typeface="宋体" panose="02010600030101010101" pitchFamily="2" charset="-122"/>
              </a:rPr>
              <a:t>扰码方案</a:t>
            </a:r>
            <a:endParaRPr lang="en-US" altLang="zh-CN" sz="1400" b="1" baseline="0" dirty="0">
              <a:ea typeface="宋体" panose="02010600030101010101" pitchFamily="2" charset="-122"/>
            </a:endParaRPr>
          </a:p>
        </p:txBody>
      </p:sp>
      <p:pic>
        <p:nvPicPr>
          <p:cNvPr id="82948" name="Picture 6">
            <a:extLst>
              <a:ext uri="{FF2B5EF4-FFF2-40B4-BE49-F238E27FC236}">
                <a16:creationId xmlns:a16="http://schemas.microsoft.com/office/drawing/2014/main" id="{F243CDBD-E228-455D-9A86-A8421B137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3189" y="2784551"/>
            <a:ext cx="5692211" cy="305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9" name="标题 1">
            <a:extLst>
              <a:ext uri="{FF2B5EF4-FFF2-40B4-BE49-F238E27FC236}">
                <a16:creationId xmlns:a16="http://schemas.microsoft.com/office/drawing/2014/main" id="{9DE3DDE9-1844-4148-8C6B-4E2F94F126B8}"/>
              </a:ext>
            </a:extLst>
          </p:cNvPr>
          <p:cNvSpPr txBox="1">
            <a:spLocks/>
          </p:cNvSpPr>
          <p:nvPr/>
        </p:nvSpPr>
        <p:spPr bwMode="auto">
          <a:xfrm>
            <a:off x="4038600" y="88508"/>
            <a:ext cx="48768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高密度双极</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零编码</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HDB3</a:t>
            </a:r>
            <a:endPar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2950" name="Rectangle 11">
            <a:extLst>
              <a:ext uri="{FF2B5EF4-FFF2-40B4-BE49-F238E27FC236}">
                <a16:creationId xmlns:a16="http://schemas.microsoft.com/office/drawing/2014/main" id="{485C7153-DAA2-4E06-8497-BAB2E1246D8C}"/>
              </a:ext>
            </a:extLst>
          </p:cNvPr>
          <p:cNvSpPr>
            <a:spLocks noChangeArrowheads="1"/>
          </p:cNvSpPr>
          <p:nvPr/>
        </p:nvSpPr>
        <p:spPr bwMode="auto">
          <a:xfrm>
            <a:off x="1295400" y="1016338"/>
            <a:ext cx="9753600" cy="1495409"/>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354013" indent="-354013" algn="just">
              <a:lnSpc>
                <a:spcPct val="200000"/>
              </a:lnSpc>
              <a:buClr>
                <a:srgbClr val="FF0000"/>
              </a:buClr>
              <a:buSzPct val="80000"/>
              <a:buFont typeface="Wingdings" panose="05000000000000000000" pitchFamily="2" charset="2"/>
              <a:buChar char="u"/>
            </a:pPr>
            <a:r>
              <a:rPr lang="en-US" altLang="zh-CN" sz="1600" baseline="0" dirty="0">
                <a:latin typeface="微软雅黑" panose="020B0503020204020204" pitchFamily="34" charset="-122"/>
                <a:ea typeface="微软雅黑" panose="020B0503020204020204" pitchFamily="34" charset="-122"/>
              </a:rPr>
              <a:t>4 </a:t>
            </a:r>
            <a:r>
              <a:rPr lang="zh-CN" altLang="en-US" sz="1600" baseline="0" dirty="0">
                <a:latin typeface="微软雅黑" panose="020B0503020204020204" pitchFamily="34" charset="-122"/>
                <a:ea typeface="微软雅黑" panose="020B0503020204020204" pitchFamily="34" charset="-122"/>
              </a:rPr>
              <a:t>个连续 </a:t>
            </a:r>
            <a:r>
              <a:rPr lang="en-US" altLang="zh-CN" sz="1600" baseline="0" dirty="0">
                <a:latin typeface="微软雅黑" panose="020B0503020204020204" pitchFamily="34" charset="-122"/>
                <a:ea typeface="微软雅黑" panose="020B0503020204020204" pitchFamily="34" charset="-122"/>
              </a:rPr>
              <a:t>0 </a:t>
            </a:r>
            <a:r>
              <a:rPr lang="zh-CN" altLang="en-US" sz="1600" baseline="0" dirty="0">
                <a:latin typeface="微软雅黑" panose="020B0503020204020204" pitchFamily="34" charset="-122"/>
                <a:ea typeface="微软雅黑" panose="020B0503020204020204" pitchFamily="34" charset="-122"/>
              </a:rPr>
              <a:t>电平被置换成 </a:t>
            </a:r>
            <a:r>
              <a:rPr lang="en-US" altLang="zh-CN" sz="1600" baseline="0" dirty="0">
                <a:latin typeface="微软雅黑" panose="020B0503020204020204" pitchFamily="34" charset="-122"/>
                <a:ea typeface="微软雅黑" panose="020B0503020204020204" pitchFamily="34" charset="-122"/>
              </a:rPr>
              <a:t>000V </a:t>
            </a:r>
            <a:r>
              <a:rPr lang="zh-CN" altLang="en-US" sz="1600" baseline="0" dirty="0">
                <a:latin typeface="微软雅黑" panose="020B0503020204020204" pitchFamily="34" charset="-122"/>
                <a:ea typeface="微软雅黑" panose="020B0503020204020204" pitchFamily="34" charset="-122"/>
              </a:rPr>
              <a:t>或 </a:t>
            </a:r>
            <a:r>
              <a:rPr lang="en-US" altLang="zh-CN" sz="1600" baseline="0" dirty="0">
                <a:latin typeface="微软雅黑" panose="020B0503020204020204" pitchFamily="34" charset="-122"/>
                <a:ea typeface="微软雅黑" panose="020B0503020204020204" pitchFamily="34" charset="-122"/>
              </a:rPr>
              <a:t>B00V</a:t>
            </a:r>
            <a:r>
              <a:rPr lang="zh-CN" altLang="en-US" sz="1600" baseline="0" dirty="0">
                <a:latin typeface="微软雅黑" panose="020B0503020204020204" pitchFamily="34" charset="-122"/>
                <a:ea typeface="微软雅黑" panose="020B0503020204020204" pitchFamily="34" charset="-122"/>
              </a:rPr>
              <a:t>，有两种不同的置换是为了维持每次置换后非零脉冲为偶数；</a:t>
            </a:r>
            <a:endParaRPr lang="en-US" altLang="zh-CN" sz="1600" baseline="0" dirty="0">
              <a:latin typeface="微软雅黑" panose="020B0503020204020204" pitchFamily="34" charset="-122"/>
              <a:ea typeface="微软雅黑" panose="020B0503020204020204" pitchFamily="34" charset="-122"/>
            </a:endParaRPr>
          </a:p>
          <a:p>
            <a:pPr marL="354013" indent="-354013" algn="just">
              <a:lnSpc>
                <a:spcPct val="200000"/>
              </a:lnSpc>
              <a:buClr>
                <a:srgbClr val="FF0000"/>
              </a:buClr>
              <a:buSzPct val="80000"/>
              <a:buFont typeface="Wingdings" panose="05000000000000000000" pitchFamily="2" charset="2"/>
              <a:buChar char="u"/>
            </a:pPr>
            <a:r>
              <a:rPr lang="zh-CN" altLang="en-US" sz="1600" baseline="0" dirty="0">
                <a:latin typeface="微软雅黑" panose="020B0503020204020204" pitchFamily="34" charset="-122"/>
                <a:ea typeface="微软雅黑" panose="020B0503020204020204" pitchFamily="34" charset="-122"/>
              </a:rPr>
              <a:t>如果最后一次置换后的非零脉冲数是奇数，则置换为 </a:t>
            </a:r>
            <a:r>
              <a:rPr lang="en-US" altLang="zh-CN" sz="1600" baseline="0" dirty="0">
                <a:latin typeface="微软雅黑" panose="020B0503020204020204" pitchFamily="34" charset="-122"/>
                <a:ea typeface="微软雅黑" panose="020B0503020204020204" pitchFamily="34" charset="-122"/>
              </a:rPr>
              <a:t>000V</a:t>
            </a:r>
            <a:r>
              <a:rPr lang="zh-CN" altLang="en-US" sz="1600" baseline="0" dirty="0">
                <a:latin typeface="微软雅黑" panose="020B0503020204020204" pitchFamily="34" charset="-122"/>
                <a:ea typeface="微软雅黑" panose="020B0503020204020204" pitchFamily="34" charset="-122"/>
              </a:rPr>
              <a:t>，使非零脉冲总数为偶数；</a:t>
            </a:r>
            <a:endParaRPr lang="en-US" altLang="zh-CN" sz="1600" baseline="0" dirty="0">
              <a:latin typeface="微软雅黑" panose="020B0503020204020204" pitchFamily="34" charset="-122"/>
              <a:ea typeface="微软雅黑" panose="020B0503020204020204" pitchFamily="34" charset="-122"/>
            </a:endParaRPr>
          </a:p>
          <a:p>
            <a:pPr marL="354013" indent="-354013" algn="just">
              <a:lnSpc>
                <a:spcPct val="200000"/>
              </a:lnSpc>
              <a:buClr>
                <a:srgbClr val="FF0000"/>
              </a:buClr>
              <a:buSzPct val="80000"/>
              <a:buFont typeface="Wingdings" panose="05000000000000000000" pitchFamily="2" charset="2"/>
              <a:buChar char="u"/>
            </a:pPr>
            <a:r>
              <a:rPr lang="zh-CN" altLang="en-US" sz="1600" baseline="0" dirty="0">
                <a:latin typeface="微软雅黑" panose="020B0503020204020204" pitchFamily="34" charset="-122"/>
                <a:ea typeface="微软雅黑" panose="020B0503020204020204" pitchFamily="34" charset="-122"/>
              </a:rPr>
              <a:t>如果最后一次置换后的非零脉冲数是偶数，则置换为 </a:t>
            </a:r>
            <a:r>
              <a:rPr lang="en-US" altLang="zh-CN" sz="1600" baseline="0" dirty="0">
                <a:latin typeface="微软雅黑" panose="020B0503020204020204" pitchFamily="34" charset="-122"/>
                <a:ea typeface="微软雅黑" panose="020B0503020204020204" pitchFamily="34" charset="-122"/>
              </a:rPr>
              <a:t>B00V</a:t>
            </a:r>
            <a:r>
              <a:rPr lang="zh-CN" altLang="en-US" sz="1600" baseline="0" dirty="0">
                <a:latin typeface="微软雅黑" panose="020B0503020204020204" pitchFamily="34" charset="-122"/>
                <a:ea typeface="微软雅黑" panose="020B0503020204020204" pitchFamily="34" charset="-122"/>
              </a:rPr>
              <a:t>，使非零脉冲总数为偶数。</a:t>
            </a:r>
            <a:endParaRPr lang="en-US" altLang="zh-CN" sz="16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996F5E46-C71B-4FD2-8CFC-4E8982EC039B}"/>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858115" name="Text Box 3">
            <a:extLst>
              <a:ext uri="{FF2B5EF4-FFF2-40B4-BE49-F238E27FC236}">
                <a16:creationId xmlns:a16="http://schemas.microsoft.com/office/drawing/2014/main" id="{BDF47E72-344C-402B-9F3B-58C53D744A92}"/>
              </a:ext>
            </a:extLst>
          </p:cNvPr>
          <p:cNvSpPr txBox="1">
            <a:spLocks noChangeArrowheads="1"/>
          </p:cNvSpPr>
          <p:nvPr/>
        </p:nvSpPr>
        <p:spPr bwMode="auto">
          <a:xfrm>
            <a:off x="533400" y="279112"/>
            <a:ext cx="4046301" cy="584775"/>
          </a:xfrm>
          <a:prstGeom prst="rect">
            <a:avLst/>
          </a:prstGeom>
          <a:noFill/>
          <a:ln>
            <a:noFill/>
          </a:ln>
          <a:effectLst/>
        </p:spPr>
        <p:txBody>
          <a:bodyPr wrap="none">
            <a:spAutoFit/>
          </a:bodyPr>
          <a:lstStyle/>
          <a:p>
            <a:pPr>
              <a:defRPr/>
            </a:pPr>
            <a:r>
              <a:rPr lang="en-US" altLang="zh-CN" sz="3200" b="1" baseline="0" dirty="0">
                <a:latin typeface="微软雅黑" panose="020B0503020204020204" pitchFamily="34" charset="-122"/>
                <a:ea typeface="微软雅黑" panose="020B0503020204020204" pitchFamily="34" charset="-122"/>
              </a:rPr>
              <a:t>4.2   </a:t>
            </a:r>
            <a:r>
              <a:rPr lang="zh-CN" altLang="en-US" sz="3200" b="1" baseline="0" dirty="0">
                <a:latin typeface="微软雅黑" panose="020B0503020204020204" pitchFamily="34" charset="-122"/>
                <a:ea typeface="微软雅黑" panose="020B0503020204020204" pitchFamily="34" charset="-122"/>
              </a:rPr>
              <a:t>模拟到数字转换</a:t>
            </a:r>
            <a:endParaRPr lang="en-US" altLang="zh-CN" sz="3200" b="1" baseline="0" dirty="0">
              <a:latin typeface="微软雅黑" panose="020B0503020204020204" pitchFamily="34" charset="-122"/>
              <a:ea typeface="微软雅黑" panose="020B0503020204020204" pitchFamily="34" charset="-122"/>
            </a:endParaRPr>
          </a:p>
        </p:txBody>
      </p:sp>
      <p:sp>
        <p:nvSpPr>
          <p:cNvPr id="84997" name="Text Box 4">
            <a:extLst>
              <a:ext uri="{FF2B5EF4-FFF2-40B4-BE49-F238E27FC236}">
                <a16:creationId xmlns:a16="http://schemas.microsoft.com/office/drawing/2014/main" id="{08295E91-FECD-4464-96FC-03137402ED4A}"/>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84998" name="Rectangle 5">
            <a:extLst>
              <a:ext uri="{FF2B5EF4-FFF2-40B4-BE49-F238E27FC236}">
                <a16:creationId xmlns:a16="http://schemas.microsoft.com/office/drawing/2014/main" id="{DAE6C003-8BEE-4D05-9027-5F1A3EE7EC06}"/>
              </a:ext>
            </a:extLst>
          </p:cNvPr>
          <p:cNvSpPr>
            <a:spLocks noChangeArrowheads="1"/>
          </p:cNvSpPr>
          <p:nvPr/>
        </p:nvSpPr>
        <p:spPr bwMode="auto">
          <a:xfrm>
            <a:off x="1524000" y="1681794"/>
            <a:ext cx="9296400" cy="3969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eaLnBrk="1" hangingPunct="1">
              <a:lnSpc>
                <a:spcPct val="200000"/>
              </a:lnSpc>
            </a:pPr>
            <a:r>
              <a:rPr lang="zh-CN" altLang="en-US" baseline="0" dirty="0">
                <a:latin typeface="微软雅黑" panose="020B0503020204020204" pitchFamily="34" charset="-122"/>
                <a:ea typeface="微软雅黑" panose="020B0503020204020204" pitchFamily="34" charset="-122"/>
              </a:rPr>
              <a:t>模拟数据是由传感器采集得到的连续变化的值，如温度、压力，以及电话、无线电和电视广播中的声音和图像等。数字信号在很多方面优于模拟信号，在计算机、局域网与城域网中均使用二进制数字信号，广域网中则既有数字信号也有模拟信号，但更具应用发展前景的是数字信号。</a:t>
            </a:r>
            <a:endParaRPr lang="en-US" altLang="zh-CN" baseline="0" dirty="0">
              <a:latin typeface="微软雅黑" panose="020B0503020204020204" pitchFamily="34" charset="-122"/>
              <a:ea typeface="微软雅黑" panose="020B0503020204020204" pitchFamily="34" charset="-122"/>
            </a:endParaRPr>
          </a:p>
          <a:p>
            <a:pPr algn="just" eaLnBrk="1" hangingPunct="1">
              <a:lnSpc>
                <a:spcPct val="200000"/>
              </a:lnSpc>
            </a:pPr>
            <a:endParaRPr lang="en-US" altLang="zh-CN" sz="900" baseline="0" dirty="0">
              <a:latin typeface="微软雅黑" panose="020B0503020204020204" pitchFamily="34" charset="-122"/>
              <a:ea typeface="微软雅黑" panose="020B0503020204020204" pitchFamily="34" charset="-122"/>
            </a:endParaRPr>
          </a:p>
          <a:p>
            <a:pPr algn="just" eaLnBrk="1" hangingPunct="1">
              <a:lnSpc>
                <a:spcPct val="200000"/>
              </a:lnSpc>
            </a:pPr>
            <a:r>
              <a:rPr lang="zh-CN" altLang="en-US" baseline="0" dirty="0">
                <a:latin typeface="微软雅黑" panose="020B0503020204020204" pitchFamily="34" charset="-122"/>
                <a:ea typeface="微软雅黑" panose="020B0503020204020204" pitchFamily="34" charset="-122"/>
              </a:rPr>
              <a:t>将模拟数据转换成数字信号有两种方案：脉冲码调制 </a:t>
            </a:r>
            <a:r>
              <a:rPr lang="en-US" altLang="zh-CN" baseline="0" dirty="0">
                <a:latin typeface="微软雅黑" panose="020B0503020204020204" pitchFamily="34" charset="-122"/>
                <a:ea typeface="微软雅黑" panose="020B0503020204020204" pitchFamily="34" charset="-122"/>
              </a:rPr>
              <a:t>PCM (pulse code modulation) </a:t>
            </a:r>
            <a:r>
              <a:rPr lang="zh-CN" altLang="en-US" baseline="0" dirty="0">
                <a:latin typeface="微软雅黑" panose="020B0503020204020204" pitchFamily="34" charset="-122"/>
                <a:ea typeface="微软雅黑" panose="020B0503020204020204" pitchFamily="34" charset="-122"/>
              </a:rPr>
              <a:t>和 </a:t>
            </a:r>
            <a:r>
              <a:rPr lang="en-US" altLang="zh-CN" baseline="0" dirty="0">
                <a:latin typeface="微软雅黑" panose="020B0503020204020204" pitchFamily="34" charset="-122"/>
                <a:ea typeface="微软雅黑" panose="020B0503020204020204" pitchFamily="34" charset="-122"/>
              </a:rPr>
              <a:t>Delta </a:t>
            </a:r>
            <a:r>
              <a:rPr lang="zh-CN" altLang="en-US" baseline="0" dirty="0">
                <a:latin typeface="微软雅黑" panose="020B0503020204020204" pitchFamily="34" charset="-122"/>
                <a:ea typeface="微软雅黑" panose="020B0503020204020204" pitchFamily="34" charset="-122"/>
              </a:rPr>
              <a:t>调制 </a:t>
            </a:r>
            <a:r>
              <a:rPr lang="en-US" altLang="zh-CN" baseline="0" dirty="0">
                <a:latin typeface="微软雅黑" panose="020B0503020204020204" pitchFamily="34" charset="-122"/>
                <a:ea typeface="微软雅黑" panose="020B0503020204020204" pitchFamily="34" charset="-122"/>
              </a:rPr>
              <a:t>(delta modulation)</a:t>
            </a:r>
            <a:r>
              <a:rPr lang="zh-CN" altLang="en-US" baseline="0" dirty="0">
                <a:latin typeface="微软雅黑" panose="020B0503020204020204" pitchFamily="34" charset="-122"/>
                <a:ea typeface="微软雅黑" panose="020B0503020204020204" pitchFamily="34" charset="-122"/>
              </a:rPr>
              <a:t>。</a:t>
            </a:r>
            <a:r>
              <a:rPr lang="en-US" altLang="zh-CN" baseline="0" dirty="0">
                <a:latin typeface="微软雅黑" panose="020B0503020204020204" pitchFamily="34" charset="-122"/>
                <a:ea typeface="微软雅黑" panose="020B0503020204020204" pitchFamily="34" charset="-122"/>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4">
            <a:extLst>
              <a:ext uri="{FF2B5EF4-FFF2-40B4-BE49-F238E27FC236}">
                <a16:creationId xmlns:a16="http://schemas.microsoft.com/office/drawing/2014/main" id="{448F81B0-3EB0-433F-B715-ACA7CA1EB221}"/>
              </a:ext>
            </a:extLst>
          </p:cNvPr>
          <p:cNvSpPr txBox="1">
            <a:spLocks noChangeArrowheads="1"/>
          </p:cNvSpPr>
          <p:nvPr/>
        </p:nvSpPr>
        <p:spPr bwMode="auto">
          <a:xfrm>
            <a:off x="5029201" y="6060849"/>
            <a:ext cx="19062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4.21  </a:t>
            </a:r>
            <a:r>
              <a:rPr lang="en-US" altLang="zh-CN" sz="1400" b="1" baseline="0" dirty="0">
                <a:ea typeface="宋体" panose="02010600030101010101" pitchFamily="2" charset="-122"/>
              </a:rPr>
              <a:t>PCM</a:t>
            </a:r>
            <a:r>
              <a:rPr lang="zh-CN" altLang="en-US" sz="1400" b="1" baseline="0" dirty="0">
                <a:ea typeface="宋体" panose="02010600030101010101" pitchFamily="2" charset="-122"/>
              </a:rPr>
              <a:t>编码</a:t>
            </a:r>
            <a:endParaRPr lang="en-US" altLang="zh-CN" sz="1400" b="1" baseline="0" dirty="0">
              <a:ea typeface="宋体" panose="02010600030101010101" pitchFamily="2" charset="-122"/>
            </a:endParaRPr>
          </a:p>
        </p:txBody>
      </p:sp>
      <p:pic>
        <p:nvPicPr>
          <p:cNvPr id="87044" name="Picture 6">
            <a:extLst>
              <a:ext uri="{FF2B5EF4-FFF2-40B4-BE49-F238E27FC236}">
                <a16:creationId xmlns:a16="http://schemas.microsoft.com/office/drawing/2014/main" id="{31F3CF25-12D3-40D0-AE8E-F32B43838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5353" y="2426746"/>
            <a:ext cx="7421291" cy="336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45" name="标题 1">
            <a:extLst>
              <a:ext uri="{FF2B5EF4-FFF2-40B4-BE49-F238E27FC236}">
                <a16:creationId xmlns:a16="http://schemas.microsoft.com/office/drawing/2014/main" id="{A2BB1A5C-D5F6-4A7F-910E-41DFD8377C79}"/>
              </a:ext>
            </a:extLst>
          </p:cNvPr>
          <p:cNvSpPr txBox="1">
            <a:spLocks/>
          </p:cNvSpPr>
          <p:nvPr/>
        </p:nvSpPr>
        <p:spPr bwMode="auto">
          <a:xfrm>
            <a:off x="4038600" y="87765"/>
            <a:ext cx="3886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脉冲码调制</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PCM</a:t>
            </a:r>
            <a:endPar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71154E4B-F8D0-48D5-A50D-22D7C4290632}"/>
              </a:ext>
            </a:extLst>
          </p:cNvPr>
          <p:cNvSpPr/>
          <p:nvPr/>
        </p:nvSpPr>
        <p:spPr>
          <a:xfrm>
            <a:off x="1295400" y="1011261"/>
            <a:ext cx="9677399" cy="1289905"/>
          </a:xfrm>
          <a:prstGeom prst="rect">
            <a:avLst/>
          </a:prstGeom>
        </p:spPr>
        <p:txBody>
          <a:bodyPr wrap="square">
            <a:spAutoFit/>
          </a:bodyPr>
          <a:lstStyle/>
          <a:p>
            <a:pPr algn="just">
              <a:lnSpc>
                <a:spcPct val="150000"/>
              </a:lnSpc>
            </a:pPr>
            <a:r>
              <a:rPr lang="zh-CN" altLang="en-US" sz="1800" baseline="0" dirty="0">
                <a:latin typeface="微软雅黑" panose="020B0503020204020204" pitchFamily="34" charset="-122"/>
                <a:ea typeface="微软雅黑" panose="020B0503020204020204" pitchFamily="34" charset="-122"/>
              </a:rPr>
              <a:t>脉冲编码调制是最常用、最简单的波形编码，它把一个时间连续、幅度连续的模拟信号变换成</a:t>
            </a:r>
            <a:r>
              <a:rPr lang="zh-CN" altLang="en-US" sz="1800" b="1" baseline="0" dirty="0">
                <a:latin typeface="微软雅黑" panose="020B0503020204020204" pitchFamily="34" charset="-122"/>
                <a:ea typeface="微软雅黑" panose="020B0503020204020204" pitchFamily="34" charset="-122"/>
              </a:rPr>
              <a:t>时间离散、幅度离散</a:t>
            </a:r>
            <a:r>
              <a:rPr lang="zh-CN" altLang="en-US" sz="1800" baseline="0" dirty="0">
                <a:latin typeface="微软雅黑" panose="020B0503020204020204" pitchFamily="34" charset="-122"/>
                <a:ea typeface="微软雅黑" panose="020B0503020204020204" pitchFamily="34" charset="-122"/>
              </a:rPr>
              <a:t>的数字信号后在信道中传输。脉冲编码调制先对模拟信号进行</a:t>
            </a:r>
            <a:r>
              <a:rPr lang="zh-CN" altLang="en-US" sz="1800" b="1" baseline="0" dirty="0">
                <a:latin typeface="微软雅黑" panose="020B0503020204020204" pitchFamily="34" charset="-122"/>
                <a:ea typeface="微软雅黑" panose="020B0503020204020204" pitchFamily="34" charset="-122"/>
              </a:rPr>
              <a:t>采样</a:t>
            </a:r>
            <a:r>
              <a:rPr lang="zh-CN" altLang="en-US" sz="1800" baseline="0" dirty="0">
                <a:latin typeface="微软雅黑" panose="020B0503020204020204" pitchFamily="34" charset="-122"/>
                <a:ea typeface="微软雅黑" panose="020B0503020204020204" pitchFamily="34" charset="-122"/>
              </a:rPr>
              <a:t>，再对样值幅度</a:t>
            </a:r>
            <a:r>
              <a:rPr lang="zh-CN" altLang="en-US" sz="1800" b="1" baseline="0" dirty="0">
                <a:latin typeface="微软雅黑" panose="020B0503020204020204" pitchFamily="34" charset="-122"/>
                <a:ea typeface="微软雅黑" panose="020B0503020204020204" pitchFamily="34" charset="-122"/>
              </a:rPr>
              <a:t>量化</a:t>
            </a:r>
            <a:r>
              <a:rPr lang="zh-CN" altLang="en-US" sz="1800" baseline="0" dirty="0">
                <a:latin typeface="微软雅黑" panose="020B0503020204020204" pitchFamily="34" charset="-122"/>
                <a:ea typeface="微软雅黑" panose="020B0503020204020204" pitchFamily="34" charset="-122"/>
              </a:rPr>
              <a:t>，然后</a:t>
            </a:r>
            <a:r>
              <a:rPr lang="zh-CN" altLang="en-US" sz="1800" b="1" baseline="0" dirty="0">
                <a:latin typeface="微软雅黑" panose="020B0503020204020204" pitchFamily="34" charset="-122"/>
                <a:ea typeface="微软雅黑" panose="020B0503020204020204" pitchFamily="34" charset="-122"/>
              </a:rPr>
              <a:t>编码</a:t>
            </a:r>
            <a:r>
              <a:rPr lang="zh-CN" altLang="en-US" sz="1800" baseline="0" dirty="0">
                <a:latin typeface="微软雅黑" panose="020B0503020204020204" pitchFamily="34" charset="-122"/>
                <a:ea typeface="微软雅黑" panose="020B0503020204020204" pitchFamily="34" charset="-122"/>
              </a:rPr>
              <a:t>产生数字信号。</a:t>
            </a:r>
            <a:endParaRPr lang="en-US" altLang="zh-CN" sz="18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Text Box 4">
            <a:extLst>
              <a:ext uri="{FF2B5EF4-FFF2-40B4-BE49-F238E27FC236}">
                <a16:creationId xmlns:a16="http://schemas.microsoft.com/office/drawing/2014/main" id="{3DF4F378-6711-4723-B88D-3D70417B24AA}"/>
              </a:ext>
            </a:extLst>
          </p:cNvPr>
          <p:cNvSpPr txBox="1">
            <a:spLocks noChangeArrowheads="1"/>
          </p:cNvSpPr>
          <p:nvPr/>
        </p:nvSpPr>
        <p:spPr bwMode="auto">
          <a:xfrm>
            <a:off x="4761751" y="6132871"/>
            <a:ext cx="280390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4.22  </a:t>
            </a:r>
            <a:r>
              <a:rPr lang="en-US" altLang="zh-CN" sz="1400" b="1" baseline="0" dirty="0">
                <a:ea typeface="宋体" panose="02010600030101010101" pitchFamily="2" charset="-122"/>
              </a:rPr>
              <a:t>PCM</a:t>
            </a:r>
            <a:r>
              <a:rPr lang="zh-CN" altLang="en-US" sz="1400" b="1" baseline="0" dirty="0">
                <a:ea typeface="宋体" panose="02010600030101010101" pitchFamily="2" charset="-122"/>
              </a:rPr>
              <a:t>的三种采样方法</a:t>
            </a:r>
            <a:endParaRPr lang="en-US" altLang="zh-CN" sz="1400" b="1" baseline="0" dirty="0">
              <a:ea typeface="宋体" panose="02010600030101010101" pitchFamily="2" charset="-122"/>
            </a:endParaRPr>
          </a:p>
        </p:txBody>
      </p:sp>
      <p:pic>
        <p:nvPicPr>
          <p:cNvPr id="89095" name="Picture 6">
            <a:extLst>
              <a:ext uri="{FF2B5EF4-FFF2-40B4-BE49-F238E27FC236}">
                <a16:creationId xmlns:a16="http://schemas.microsoft.com/office/drawing/2014/main" id="{46B95DA4-D3A0-4737-A96F-B50F071866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7685" y="2325477"/>
            <a:ext cx="6572039" cy="359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6F657E56-53D1-4A0D-9EBB-DE4AD0BA8C4C}"/>
              </a:ext>
            </a:extLst>
          </p:cNvPr>
          <p:cNvSpPr/>
          <p:nvPr/>
        </p:nvSpPr>
        <p:spPr>
          <a:xfrm>
            <a:off x="1295400" y="875073"/>
            <a:ext cx="9448800" cy="1156855"/>
          </a:xfrm>
          <a:prstGeom prst="rect">
            <a:avLst/>
          </a:prstGeom>
        </p:spPr>
        <p:txBody>
          <a:bodyPr wrap="square">
            <a:spAutoFit/>
          </a:bodyPr>
          <a:lstStyle/>
          <a:p>
            <a:pPr algn="just">
              <a:lnSpc>
                <a:spcPct val="150000"/>
              </a:lnSpc>
            </a:pPr>
            <a:r>
              <a:rPr lang="zh-CN" altLang="en-US" sz="1600" b="1" baseline="0" dirty="0">
                <a:latin typeface="微软雅黑" panose="020B0503020204020204" pitchFamily="34" charset="-122"/>
                <a:ea typeface="微软雅黑" panose="020B0503020204020204" pitchFamily="34" charset="-122"/>
              </a:rPr>
              <a:t>采样就是对模拟信号进行周期性扫描，把时间上连续的信号变成时间上离散的信号。</a:t>
            </a:r>
            <a:r>
              <a:rPr lang="zh-CN" altLang="en-US" sz="1600" baseline="0" dirty="0">
                <a:latin typeface="微软雅黑" panose="020B0503020204020204" pitchFamily="34" charset="-122"/>
                <a:ea typeface="微软雅黑" panose="020B0503020204020204" pitchFamily="34" charset="-122"/>
              </a:rPr>
              <a:t>采样率也称采样速度或者采样频率，定义了单位时间内从连续信号中提取并组成离散信号的采样个数，单位是赫兹</a:t>
            </a:r>
            <a:r>
              <a:rPr lang="en-US" altLang="zh-CN" sz="1600" baseline="0" dirty="0">
                <a:latin typeface="微软雅黑" panose="020B0503020204020204" pitchFamily="34" charset="-122"/>
                <a:ea typeface="微软雅黑" panose="020B0503020204020204" pitchFamily="34" charset="-122"/>
              </a:rPr>
              <a:t>(Hz)</a:t>
            </a:r>
            <a:r>
              <a:rPr lang="zh-CN" altLang="en-US" sz="1600" baseline="0" dirty="0">
                <a:latin typeface="微软雅黑" panose="020B0503020204020204" pitchFamily="34" charset="-122"/>
                <a:ea typeface="微软雅黑" panose="020B0503020204020204" pitchFamily="34" charset="-122"/>
              </a:rPr>
              <a:t>。采样频率的倒数称为采样周期或采样时间。</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Text Box 4">
            <a:extLst>
              <a:ext uri="{FF2B5EF4-FFF2-40B4-BE49-F238E27FC236}">
                <a16:creationId xmlns:a16="http://schemas.microsoft.com/office/drawing/2014/main" id="{3B2A1F80-AFA9-47ED-BCEB-AA93A26B20B7}"/>
              </a:ext>
            </a:extLst>
          </p:cNvPr>
          <p:cNvSpPr txBox="1">
            <a:spLocks noChangeArrowheads="1"/>
          </p:cNvSpPr>
          <p:nvPr/>
        </p:nvSpPr>
        <p:spPr bwMode="auto">
          <a:xfrm>
            <a:off x="4332684" y="5867401"/>
            <a:ext cx="38314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4.23  </a:t>
            </a:r>
            <a:r>
              <a:rPr lang="zh-CN" altLang="en-US" sz="1400" b="1" baseline="0" dirty="0">
                <a:ea typeface="宋体" panose="02010600030101010101" pitchFamily="2" charset="-122"/>
              </a:rPr>
              <a:t>低通和带通信号的奈奎斯特采样率</a:t>
            </a:r>
            <a:endParaRPr lang="en-US" altLang="zh-CN" sz="1400" b="1" baseline="0" dirty="0">
              <a:ea typeface="宋体" panose="02010600030101010101" pitchFamily="2" charset="-122"/>
            </a:endParaRPr>
          </a:p>
        </p:txBody>
      </p:sp>
      <p:pic>
        <p:nvPicPr>
          <p:cNvPr id="93191" name="Picture 6">
            <a:extLst>
              <a:ext uri="{FF2B5EF4-FFF2-40B4-BE49-F238E27FC236}">
                <a16:creationId xmlns:a16="http://schemas.microsoft.com/office/drawing/2014/main" id="{9FFE5924-1BD6-4088-805F-55ECAE20A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999" y="2608955"/>
            <a:ext cx="5638800" cy="277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92AA6AC9-F086-454B-B149-263EB793BDBA}"/>
              </a:ext>
            </a:extLst>
          </p:cNvPr>
          <p:cNvSpPr/>
          <p:nvPr/>
        </p:nvSpPr>
        <p:spPr>
          <a:xfrm>
            <a:off x="1485899" y="1006728"/>
            <a:ext cx="9525000" cy="1116781"/>
          </a:xfrm>
          <a:prstGeom prst="rect">
            <a:avLst/>
          </a:prstGeom>
        </p:spPr>
        <p:txBody>
          <a:bodyPr wrap="square">
            <a:spAutoFit/>
          </a:bodyPr>
          <a:lstStyle/>
          <a:p>
            <a:pPr>
              <a:lnSpc>
                <a:spcPct val="200000"/>
              </a:lnSpc>
            </a:pPr>
            <a:r>
              <a:rPr lang="zh-CN" altLang="en-US" sz="1800" baseline="0" dirty="0">
                <a:latin typeface="微软雅黑" panose="020B0503020204020204" pitchFamily="34" charset="-122"/>
                <a:ea typeface="微软雅黑" panose="020B0503020204020204" pitchFamily="34" charset="-122"/>
              </a:rPr>
              <a:t>模拟信号经过采样后应当包含原信号中的所有信息，即能够无失真地恢复原始模拟信号。采样速率的下限是由</a:t>
            </a:r>
            <a:r>
              <a:rPr lang="en-US" altLang="zh-CN" sz="1800" baseline="0" dirty="0">
                <a:latin typeface="微软雅黑" panose="020B0503020204020204" pitchFamily="34" charset="-122"/>
                <a:ea typeface="微软雅黑" panose="020B0503020204020204" pitchFamily="34" charset="-122"/>
              </a:rPr>
              <a:t>Nyquist</a:t>
            </a:r>
            <a:r>
              <a:rPr lang="zh-CN" altLang="en-US" sz="1800" baseline="0" dirty="0">
                <a:latin typeface="微软雅黑" panose="020B0503020204020204" pitchFamily="34" charset="-122"/>
                <a:ea typeface="微软雅黑" panose="020B0503020204020204" pitchFamily="34" charset="-122"/>
              </a:rPr>
              <a:t>采样定理确定的，</a:t>
            </a:r>
            <a:r>
              <a:rPr lang="zh-CN" altLang="en-US" sz="1800" b="1" baseline="0" dirty="0">
                <a:latin typeface="微软雅黑" panose="020B0503020204020204" pitchFamily="34" charset="-122"/>
                <a:ea typeface="微软雅黑" panose="020B0503020204020204" pitchFamily="34" charset="-122"/>
              </a:rPr>
              <a:t>采样率必须至少是信号所包含最高频率的</a:t>
            </a:r>
            <a:r>
              <a:rPr lang="en-US" altLang="zh-CN" sz="1800" b="1" baseline="0" dirty="0">
                <a:latin typeface="微软雅黑" panose="020B0503020204020204" pitchFamily="34" charset="-122"/>
                <a:ea typeface="微软雅黑" panose="020B0503020204020204" pitchFamily="34" charset="-122"/>
              </a:rPr>
              <a:t>2</a:t>
            </a:r>
            <a:r>
              <a:rPr lang="zh-CN" altLang="en-US" sz="1800" b="1" baseline="0" dirty="0">
                <a:latin typeface="微软雅黑" panose="020B0503020204020204" pitchFamily="34" charset="-122"/>
                <a:ea typeface="微软雅黑" panose="020B0503020204020204" pitchFamily="34" charset="-122"/>
              </a:rPr>
              <a:t>倍。</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9">
            <a:extLst>
              <a:ext uri="{FF2B5EF4-FFF2-40B4-BE49-F238E27FC236}">
                <a16:creationId xmlns:a16="http://schemas.microsoft.com/office/drawing/2014/main" id="{CB0FD4E5-0C5A-4044-B763-FF2AADE6CD3A}"/>
              </a:ext>
            </a:extLst>
          </p:cNvPr>
          <p:cNvSpPr>
            <a:spLocks noChangeArrowheads="1"/>
          </p:cNvSpPr>
          <p:nvPr/>
        </p:nvSpPr>
        <p:spPr bwMode="auto">
          <a:xfrm>
            <a:off x="1524000" y="914400"/>
            <a:ext cx="9372600" cy="152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zh-CN" altLang="en-US" sz="1600" b="1" baseline="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1600" b="1" baseline="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4.6  </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以三种采样率对简单正弦波进行采样</a:t>
            </a:r>
            <a:r>
              <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rPr>
              <a:t> : </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以 </a:t>
            </a:r>
            <a:r>
              <a:rPr lang="en-US" altLang="zh-CN" sz="1600" b="1" i="1" baseline="0" dirty="0">
                <a:ea typeface="宋体" panose="02010600030101010101" pitchFamily="2" charset="-122"/>
                <a:cs typeface="Times New Roman" panose="02020603050405020304" pitchFamily="18" charset="0"/>
              </a:rPr>
              <a:t>f</a:t>
            </a:r>
            <a:r>
              <a:rPr lang="en-US" altLang="zh-CN" sz="1600" b="1" baseline="-25000" dirty="0">
                <a:ea typeface="宋体" panose="02010600030101010101" pitchFamily="2" charset="-122"/>
                <a:cs typeface="Times New Roman" panose="02020603050405020304" pitchFamily="18" charset="0"/>
              </a:rPr>
              <a:t>s</a:t>
            </a:r>
            <a:r>
              <a:rPr lang="en-US" altLang="zh-CN" sz="1600" b="1" baseline="0" dirty="0">
                <a:ea typeface="宋体" panose="02010600030101010101" pitchFamily="2" charset="-122"/>
                <a:cs typeface="Times New Roman" panose="02020603050405020304" pitchFamily="18" charset="0"/>
              </a:rPr>
              <a:t> = 2</a:t>
            </a:r>
            <a:r>
              <a:rPr lang="en-US" altLang="zh-CN" sz="1600" b="1" i="1" baseline="0" dirty="0">
                <a:ea typeface="宋体" panose="02010600030101010101" pitchFamily="2" charset="-122"/>
                <a:cs typeface="Times New Roman" panose="02020603050405020304" pitchFamily="18" charset="0"/>
              </a:rPr>
              <a:t>f </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（奈奎斯特采样率）进行采样可以得到与原始正弦波较好近似的信号；以 </a:t>
            </a:r>
            <a:r>
              <a:rPr lang="en-US" altLang="zh-CN" sz="1600" b="1" i="1" baseline="0" dirty="0">
                <a:ea typeface="宋体" panose="02010600030101010101" pitchFamily="2" charset="-122"/>
                <a:cs typeface="Times New Roman" panose="02020603050405020304" pitchFamily="18" charset="0"/>
              </a:rPr>
              <a:t>f</a:t>
            </a:r>
            <a:r>
              <a:rPr lang="en-US" altLang="zh-CN" sz="1600" b="1" baseline="-25000" dirty="0">
                <a:ea typeface="宋体" panose="02010600030101010101" pitchFamily="2" charset="-122"/>
                <a:cs typeface="Times New Roman" panose="02020603050405020304" pitchFamily="18" charset="0"/>
              </a:rPr>
              <a:t>s</a:t>
            </a:r>
            <a:r>
              <a:rPr lang="en-US" altLang="zh-CN" sz="1600" b="1" baseline="0" dirty="0">
                <a:ea typeface="宋体" panose="02010600030101010101" pitchFamily="2" charset="-122"/>
                <a:cs typeface="Times New Roman" panose="02020603050405020304" pitchFamily="18" charset="0"/>
              </a:rPr>
              <a:t> = 4</a:t>
            </a:r>
            <a:r>
              <a:rPr lang="en-US" altLang="zh-CN" sz="1600" b="1" i="1" baseline="0" dirty="0">
                <a:ea typeface="宋体" panose="02010600030101010101" pitchFamily="2" charset="-122"/>
                <a:cs typeface="Times New Roman" panose="02020603050405020304" pitchFamily="18" charset="0"/>
              </a:rPr>
              <a:t>f</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baseline="0" dirty="0">
                <a:ea typeface="宋体" panose="02010600030101010101" pitchFamily="2" charset="-122"/>
                <a:cs typeface="Times New Roman" panose="02020603050405020304" pitchFamily="18" charset="0"/>
              </a:rPr>
              <a:t>2 </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倍奈奎斯特采样率）进行采样是过采样，虽然能得到相同的近似信号，但它是冗余的，没有必要；以 </a:t>
            </a:r>
            <a:r>
              <a:rPr lang="en-US" altLang="zh-CN" sz="1600" b="1" i="1" baseline="0" dirty="0">
                <a:ea typeface="宋体" panose="02010600030101010101" pitchFamily="2" charset="-122"/>
                <a:cs typeface="Times New Roman" panose="02020603050405020304" pitchFamily="18" charset="0"/>
              </a:rPr>
              <a:t>f</a:t>
            </a:r>
            <a:r>
              <a:rPr lang="en-US" altLang="zh-CN" sz="1600" b="1" baseline="-25000" dirty="0">
                <a:ea typeface="宋体" panose="02010600030101010101" pitchFamily="2" charset="-122"/>
                <a:cs typeface="Times New Roman" panose="02020603050405020304" pitchFamily="18" charset="0"/>
              </a:rPr>
              <a:t>s</a:t>
            </a:r>
            <a:r>
              <a:rPr lang="en-US" altLang="zh-CN" sz="1600" b="1" baseline="0" dirty="0">
                <a:ea typeface="宋体" panose="02010600030101010101" pitchFamily="2" charset="-122"/>
                <a:cs typeface="Times New Roman" panose="02020603050405020304" pitchFamily="18" charset="0"/>
              </a:rPr>
              <a:t> = </a:t>
            </a:r>
            <a:r>
              <a:rPr lang="en-US" altLang="zh-CN" sz="1600" b="1" i="1" baseline="0" dirty="0">
                <a:ea typeface="宋体" panose="02010600030101010101" pitchFamily="2" charset="-122"/>
                <a:cs typeface="Times New Roman" panose="02020603050405020304" pitchFamily="18" charset="0"/>
              </a:rPr>
              <a:t>f</a:t>
            </a:r>
            <a:r>
              <a:rPr lang="en-US" altLang="zh-CN" sz="1600" b="1" baseline="0" dirty="0">
                <a:ea typeface="宋体" panose="02010600030101010101" pitchFamily="2" charset="-122"/>
                <a:cs typeface="Times New Roman" panose="02020603050405020304" pitchFamily="18" charset="0"/>
              </a:rPr>
              <a:t> </a:t>
            </a:r>
            <a:r>
              <a:rPr lang="zh-CN" altLang="en-US" sz="1600" baseline="0" dirty="0">
                <a:latin typeface="微软雅黑" panose="020B0503020204020204" pitchFamily="34" charset="-122"/>
                <a:ea typeface="微软雅黑" panose="020B0503020204020204" pitchFamily="34" charset="-122"/>
                <a:cs typeface="Times New Roman" panose="02020603050405020304" pitchFamily="18" charset="0"/>
              </a:rPr>
              <a:t>（一半奈奎斯特采样率）采样低于奈奎斯特采样率，则不能产生与原始正弦波相似的信号。</a:t>
            </a:r>
            <a:endParaRPr lang="en-US" altLang="zh-CN" sz="16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6">
            <a:extLst>
              <a:ext uri="{FF2B5EF4-FFF2-40B4-BE49-F238E27FC236}">
                <a16:creationId xmlns:a16="http://schemas.microsoft.com/office/drawing/2014/main" id="{7E0C9106-BCBD-4F8C-8537-2705A2788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888" y="2553793"/>
            <a:ext cx="4895912"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4">
            <a:extLst>
              <a:ext uri="{FF2B5EF4-FFF2-40B4-BE49-F238E27FC236}">
                <a16:creationId xmlns:a16="http://schemas.microsoft.com/office/drawing/2014/main" id="{C20EBA54-E120-411B-B844-4CAE16F77759}"/>
              </a:ext>
            </a:extLst>
          </p:cNvPr>
          <p:cNvSpPr txBox="1">
            <a:spLocks noChangeArrowheads="1"/>
          </p:cNvSpPr>
          <p:nvPr/>
        </p:nvSpPr>
        <p:spPr bwMode="auto">
          <a:xfrm>
            <a:off x="4486244" y="6321624"/>
            <a:ext cx="329282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4.24  </a:t>
            </a:r>
            <a:r>
              <a:rPr lang="zh-CN" altLang="en-US" sz="1400" b="1" baseline="0" dirty="0">
                <a:ea typeface="宋体" panose="02010600030101010101" pitchFamily="2" charset="-122"/>
              </a:rPr>
              <a:t>不同采样率时正弦波的恢复</a:t>
            </a:r>
            <a:endParaRPr lang="en-US" altLang="zh-CN" sz="1400" b="1" baseline="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5" name="图片 1">
            <a:extLst>
              <a:ext uri="{FF2B5EF4-FFF2-40B4-BE49-F238E27FC236}">
                <a16:creationId xmlns:a16="http://schemas.microsoft.com/office/drawing/2014/main" id="{48117636-910D-4A19-B497-38156239665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b="64070"/>
          <a:stretch/>
        </p:blipFill>
        <p:spPr bwMode="auto">
          <a:xfrm>
            <a:off x="1066800" y="1524001"/>
            <a:ext cx="6710362" cy="1520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1" name="标题 1">
            <a:extLst>
              <a:ext uri="{FF2B5EF4-FFF2-40B4-BE49-F238E27FC236}">
                <a16:creationId xmlns:a16="http://schemas.microsoft.com/office/drawing/2014/main" id="{C225E7DB-5871-4B56-AE6B-396A98488227}"/>
              </a:ext>
            </a:extLst>
          </p:cNvPr>
          <p:cNvSpPr txBox="1">
            <a:spLocks/>
          </p:cNvSpPr>
          <p:nvPr/>
        </p:nvSpPr>
        <p:spPr bwMode="auto">
          <a:xfrm>
            <a:off x="4038600" y="73381"/>
            <a:ext cx="382628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baseline="0" dirty="0">
                <a:solidFill>
                  <a:schemeClr val="bg1"/>
                </a:solidFill>
                <a:latin typeface="微软雅黑" panose="020B0503020204020204" pitchFamily="34" charset="-122"/>
                <a:ea typeface="微软雅黑" panose="020B0503020204020204" pitchFamily="34" charset="-122"/>
              </a:rPr>
              <a:t>Nyquist</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采样定理</a:t>
            </a:r>
          </a:p>
        </p:txBody>
      </p:sp>
      <p:sp>
        <p:nvSpPr>
          <p:cNvPr id="99336" name="AutoShape 4" descr="[公式]">
            <a:extLst>
              <a:ext uri="{FF2B5EF4-FFF2-40B4-BE49-F238E27FC236}">
                <a16:creationId xmlns:a16="http://schemas.microsoft.com/office/drawing/2014/main" id="{93983100-7778-406C-BA74-655651C6B49A}"/>
              </a:ext>
            </a:extLst>
          </p:cNvPr>
          <p:cNvSpPr>
            <a:spLocks noChangeAspect="1" noChangeArrowheads="1"/>
          </p:cNvSpPr>
          <p:nvPr/>
        </p:nvSpPr>
        <p:spPr bwMode="auto">
          <a:xfrm>
            <a:off x="4269582" y="327660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 name="文本框 12">
            <a:extLst>
              <a:ext uri="{FF2B5EF4-FFF2-40B4-BE49-F238E27FC236}">
                <a16:creationId xmlns:a16="http://schemas.microsoft.com/office/drawing/2014/main" id="{2F0855AB-BC96-4C71-A289-2B2E6935B6DF}"/>
              </a:ext>
            </a:extLst>
          </p:cNvPr>
          <p:cNvSpPr txBox="1">
            <a:spLocks noChangeArrowheads="1"/>
          </p:cNvSpPr>
          <p:nvPr/>
        </p:nvSpPr>
        <p:spPr bwMode="auto">
          <a:xfrm>
            <a:off x="8859088" y="3208854"/>
            <a:ext cx="1388806" cy="400110"/>
          </a:xfrm>
          <a:prstGeom prst="rect">
            <a:avLst/>
          </a:prstGeom>
          <a:noFill/>
          <a:ln>
            <a:noFill/>
          </a:ln>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l-GR" altLang="zh-CN" b="1" i="1" baseline="0" dirty="0">
                <a:solidFill>
                  <a:srgbClr val="FF0000"/>
                </a:solidFill>
              </a:rPr>
              <a:t>ω</a:t>
            </a:r>
            <a:r>
              <a:rPr lang="en-US" altLang="zh-CN" b="1" i="1" baseline="-25000" dirty="0">
                <a:solidFill>
                  <a:srgbClr val="FF0000"/>
                </a:solidFill>
                <a:ea typeface="宋体" panose="02010600030101010101" pitchFamily="2" charset="-122"/>
              </a:rPr>
              <a:t>s </a:t>
            </a:r>
            <a:r>
              <a:rPr lang="en-US" altLang="zh-CN" b="1" baseline="0" dirty="0">
                <a:solidFill>
                  <a:srgbClr val="FF0000"/>
                </a:solidFill>
                <a:ea typeface="宋体" panose="02010600030101010101" pitchFamily="2" charset="-122"/>
              </a:rPr>
              <a:t>≥ 2</a:t>
            </a:r>
            <a:r>
              <a:rPr lang="el-GR" altLang="zh-CN" b="1" baseline="0" dirty="0">
                <a:solidFill>
                  <a:srgbClr val="FF0000"/>
                </a:solidFill>
              </a:rPr>
              <a:t> </a:t>
            </a:r>
            <a:r>
              <a:rPr lang="el-GR" altLang="zh-CN" b="1" i="1" baseline="0" dirty="0">
                <a:solidFill>
                  <a:srgbClr val="FF0000"/>
                </a:solidFill>
              </a:rPr>
              <a:t>ω</a:t>
            </a:r>
            <a:r>
              <a:rPr lang="en-US" altLang="zh-CN" b="1" i="1" baseline="-25000" dirty="0">
                <a:solidFill>
                  <a:srgbClr val="FF0000"/>
                </a:solidFill>
                <a:ea typeface="宋体" panose="02010600030101010101" pitchFamily="2" charset="-122"/>
              </a:rPr>
              <a:t>m  </a:t>
            </a:r>
            <a:endParaRPr lang="zh-CN" altLang="en-US" b="1" i="1" baseline="-25000" dirty="0">
              <a:solidFill>
                <a:srgbClr val="FF0000"/>
              </a:solidFill>
              <a:ea typeface="宋体" panose="02010600030101010101" pitchFamily="2" charset="-122"/>
            </a:endParaRPr>
          </a:p>
        </p:txBody>
      </p:sp>
      <p:sp>
        <p:nvSpPr>
          <p:cNvPr id="2" name="箭头: 下 1">
            <a:extLst>
              <a:ext uri="{FF2B5EF4-FFF2-40B4-BE49-F238E27FC236}">
                <a16:creationId xmlns:a16="http://schemas.microsoft.com/office/drawing/2014/main" id="{3AD37061-B292-4D80-9670-5E411FCF1118}"/>
              </a:ext>
            </a:extLst>
          </p:cNvPr>
          <p:cNvSpPr>
            <a:spLocks noChangeArrowheads="1"/>
          </p:cNvSpPr>
          <p:nvPr/>
        </p:nvSpPr>
        <p:spPr bwMode="auto">
          <a:xfrm rot="10800000">
            <a:off x="9397916" y="3715584"/>
            <a:ext cx="311150" cy="481012"/>
          </a:xfrm>
          <a:prstGeom prst="downArrow">
            <a:avLst>
              <a:gd name="adj1" fmla="val 50000"/>
              <a:gd name="adj2" fmla="val 50020"/>
            </a:avLst>
          </a:prstGeom>
          <a:solidFill>
            <a:srgbClr val="3366FF"/>
          </a:solidFill>
          <a:ln>
            <a:noFill/>
          </a:ln>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 name="文本框 11">
            <a:extLst>
              <a:ext uri="{FF2B5EF4-FFF2-40B4-BE49-F238E27FC236}">
                <a16:creationId xmlns:a16="http://schemas.microsoft.com/office/drawing/2014/main" id="{9C39D686-52E3-4EF8-B326-779BFB534631}"/>
              </a:ext>
            </a:extLst>
          </p:cNvPr>
          <p:cNvSpPr txBox="1">
            <a:spLocks noChangeArrowheads="1"/>
          </p:cNvSpPr>
          <p:nvPr/>
        </p:nvSpPr>
        <p:spPr bwMode="auto">
          <a:xfrm>
            <a:off x="8859088" y="2084153"/>
            <a:ext cx="1388806" cy="400110"/>
          </a:xfrm>
          <a:prstGeom prst="rect">
            <a:avLst/>
          </a:prstGeom>
          <a:noFill/>
          <a:ln>
            <a:noFill/>
          </a:ln>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defRPr/>
            </a:pPr>
            <a:r>
              <a:rPr lang="en-US" altLang="zh-CN" b="1" i="1" baseline="0" dirty="0">
                <a:solidFill>
                  <a:srgbClr val="FF0000"/>
                </a:solidFill>
              </a:rPr>
              <a:t>f</a:t>
            </a:r>
            <a:r>
              <a:rPr lang="en-US" altLang="zh-CN" b="1" i="1" baseline="-25000" dirty="0">
                <a:solidFill>
                  <a:srgbClr val="FF0000"/>
                </a:solidFill>
                <a:ea typeface="宋体" panose="02010600030101010101" pitchFamily="2" charset="-122"/>
              </a:rPr>
              <a:t>s </a:t>
            </a:r>
            <a:r>
              <a:rPr lang="en-US" altLang="zh-CN" b="1" baseline="0" dirty="0">
                <a:solidFill>
                  <a:srgbClr val="FF0000"/>
                </a:solidFill>
                <a:ea typeface="宋体" panose="02010600030101010101" pitchFamily="2" charset="-122"/>
              </a:rPr>
              <a:t>≥ 2</a:t>
            </a:r>
            <a:r>
              <a:rPr lang="en-US" altLang="zh-CN" b="1" i="1" baseline="0" dirty="0">
                <a:solidFill>
                  <a:srgbClr val="FF0000"/>
                </a:solidFill>
                <a:ea typeface="宋体" panose="02010600030101010101" pitchFamily="2" charset="-122"/>
              </a:rPr>
              <a:t>f</a:t>
            </a:r>
            <a:r>
              <a:rPr lang="en-US" altLang="zh-CN" b="1" i="1" baseline="-25000" dirty="0">
                <a:solidFill>
                  <a:srgbClr val="FF0000"/>
                </a:solidFill>
                <a:ea typeface="宋体" panose="02010600030101010101" pitchFamily="2" charset="-122"/>
              </a:rPr>
              <a:t>m  </a:t>
            </a:r>
            <a:endParaRPr lang="zh-CN" altLang="en-US" b="1" i="1" baseline="-25000" dirty="0">
              <a:solidFill>
                <a:srgbClr val="FF0000"/>
              </a:solidFill>
              <a:ea typeface="宋体" panose="02010600030101010101" pitchFamily="2" charset="-122"/>
            </a:endParaRPr>
          </a:p>
        </p:txBody>
      </p:sp>
      <p:sp>
        <p:nvSpPr>
          <p:cNvPr id="99341" name="文本框 2">
            <a:extLst>
              <a:ext uri="{FF2B5EF4-FFF2-40B4-BE49-F238E27FC236}">
                <a16:creationId xmlns:a16="http://schemas.microsoft.com/office/drawing/2014/main" id="{ABB494C1-5B7D-4421-B958-FFAE9456D646}"/>
              </a:ext>
            </a:extLst>
          </p:cNvPr>
          <p:cNvSpPr txBox="1">
            <a:spLocks noChangeArrowheads="1"/>
          </p:cNvSpPr>
          <p:nvPr/>
        </p:nvSpPr>
        <p:spPr bwMode="auto">
          <a:xfrm>
            <a:off x="1371600" y="962343"/>
            <a:ext cx="9601200" cy="455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nSpc>
                <a:spcPct val="150000"/>
              </a:lnSpc>
            </a:pPr>
            <a:r>
              <a:rPr lang="zh-CN" altLang="en-US" sz="1800" baseline="0" dirty="0">
                <a:latin typeface="微软雅黑" panose="020B0503020204020204" pitchFamily="34" charset="-122"/>
                <a:ea typeface="微软雅黑" panose="020B0503020204020204" pitchFamily="34" charset="-122"/>
              </a:rPr>
              <a:t>设模拟信号的最高频率为 </a:t>
            </a:r>
            <a:r>
              <a:rPr lang="en-US" altLang="zh-CN" sz="1800" b="1" i="1" baseline="0" dirty="0" err="1">
                <a:ea typeface="宋体" panose="02010600030101010101" pitchFamily="2" charset="-122"/>
              </a:rPr>
              <a:t>f</a:t>
            </a:r>
            <a:r>
              <a:rPr lang="en-US" altLang="zh-CN" sz="1800" b="1" i="1" dirty="0" err="1">
                <a:ea typeface="宋体" panose="02010600030101010101" pitchFamily="2" charset="-122"/>
              </a:rPr>
              <a:t>m</a:t>
            </a:r>
            <a:r>
              <a:rPr lang="zh-CN" altLang="en-US" sz="1800" b="1" dirty="0">
                <a:ea typeface="宋体" panose="02010600030101010101" pitchFamily="2" charset="-122"/>
              </a:rPr>
              <a:t>，</a:t>
            </a:r>
            <a:r>
              <a:rPr lang="zh-CN" altLang="en-US" sz="1800" baseline="0" dirty="0">
                <a:latin typeface="微软雅黑" panose="020B0503020204020204" pitchFamily="34" charset="-122"/>
                <a:ea typeface="微软雅黑" panose="020B0503020204020204" pitchFamily="34" charset="-122"/>
              </a:rPr>
              <a:t>角频率为 </a:t>
            </a:r>
            <a:r>
              <a:rPr lang="el-GR" altLang="zh-CN" sz="1800" b="1" i="1" baseline="0" dirty="0"/>
              <a:t>ω</a:t>
            </a:r>
            <a:r>
              <a:rPr lang="en-US" altLang="zh-CN" sz="1800" b="1" i="1" baseline="-25000" dirty="0">
                <a:ea typeface="宋体" panose="02010600030101010101" pitchFamily="2" charset="-122"/>
              </a:rPr>
              <a:t>m</a:t>
            </a:r>
            <a:r>
              <a:rPr lang="en-US" altLang="zh-CN" sz="1800" b="1" i="1" baseline="0" dirty="0">
                <a:ea typeface="宋体" panose="02010600030101010101" pitchFamily="2" charset="-122"/>
              </a:rPr>
              <a:t> = </a:t>
            </a:r>
            <a:r>
              <a:rPr lang="en-US" altLang="zh-CN" sz="1800" b="1" baseline="0" dirty="0">
                <a:ea typeface="宋体" panose="02010600030101010101" pitchFamily="2" charset="-122"/>
              </a:rPr>
              <a:t>2</a:t>
            </a:r>
            <a:r>
              <a:rPr lang="en-US" altLang="zh-CN" sz="1800" b="1" i="1" baseline="0" dirty="0">
                <a:ea typeface="宋体" panose="02010600030101010101" pitchFamily="2" charset="-122"/>
              </a:rPr>
              <a:t>π</a:t>
            </a:r>
            <a:r>
              <a:rPr lang="en-US" altLang="zh-CN" sz="1800" b="1" i="1" baseline="0" dirty="0" err="1">
                <a:ea typeface="宋体" panose="02010600030101010101" pitchFamily="2" charset="-122"/>
              </a:rPr>
              <a:t>f</a:t>
            </a:r>
            <a:r>
              <a:rPr lang="en-US" altLang="zh-CN" sz="1800" b="1" i="1" baseline="-25000" dirty="0" err="1">
                <a:ea typeface="宋体" panose="02010600030101010101" pitchFamily="2" charset="-122"/>
              </a:rPr>
              <a:t>m</a:t>
            </a:r>
            <a:r>
              <a:rPr lang="en-US" altLang="zh-CN" sz="1800" b="1" i="1" baseline="-25000" dirty="0">
                <a:ea typeface="宋体" panose="02010600030101010101" pitchFamily="2" charset="-122"/>
              </a:rPr>
              <a:t> </a:t>
            </a:r>
            <a:r>
              <a:rPr lang="zh-CN" altLang="en-US" sz="1800" b="1" dirty="0">
                <a:ea typeface="宋体" panose="02010600030101010101" pitchFamily="2" charset="-122"/>
              </a:rPr>
              <a:t>，</a:t>
            </a:r>
            <a:r>
              <a:rPr lang="zh-CN" altLang="en-US" sz="1800" baseline="0" dirty="0">
                <a:latin typeface="微软雅黑" panose="020B0503020204020204" pitchFamily="34" charset="-122"/>
                <a:ea typeface="微软雅黑" panose="020B0503020204020204" pitchFamily="34" charset="-122"/>
              </a:rPr>
              <a:t>采样频率为</a:t>
            </a:r>
            <a:r>
              <a:rPr lang="zh-CN" altLang="en-US" sz="1800" b="1" baseline="0" dirty="0">
                <a:ea typeface="宋体" panose="02010600030101010101" pitchFamily="2" charset="-122"/>
              </a:rPr>
              <a:t> </a:t>
            </a:r>
            <a:r>
              <a:rPr lang="en-US" altLang="zh-CN" sz="1800" b="1" i="1" baseline="0" dirty="0">
                <a:ea typeface="宋体" panose="02010600030101010101" pitchFamily="2" charset="-122"/>
              </a:rPr>
              <a:t>f</a:t>
            </a:r>
            <a:r>
              <a:rPr lang="en-US" altLang="zh-CN" sz="1800" b="1" i="1" baseline="-25000" dirty="0">
                <a:ea typeface="宋体" panose="02010600030101010101" pitchFamily="2" charset="-122"/>
              </a:rPr>
              <a:t>s</a:t>
            </a:r>
            <a:r>
              <a:rPr lang="zh-CN" altLang="en-US" sz="1800" b="1" dirty="0">
                <a:ea typeface="宋体" panose="02010600030101010101" pitchFamily="2" charset="-122"/>
              </a:rPr>
              <a:t>，</a:t>
            </a:r>
            <a:r>
              <a:rPr lang="zh-CN" altLang="en-US" sz="1800" baseline="0" dirty="0">
                <a:latin typeface="微软雅黑" panose="020B0503020204020204" pitchFamily="34" charset="-122"/>
                <a:ea typeface="微软雅黑" panose="020B0503020204020204" pitchFamily="34" charset="-122"/>
              </a:rPr>
              <a:t>角频率为 </a:t>
            </a:r>
            <a:r>
              <a:rPr lang="el-GR" altLang="zh-CN" sz="1800" b="1" i="1" baseline="0" dirty="0"/>
              <a:t>ω</a:t>
            </a:r>
            <a:r>
              <a:rPr lang="en-US" altLang="zh-CN" sz="1800" b="1" i="1" baseline="-25000" dirty="0">
                <a:ea typeface="宋体" panose="02010600030101010101" pitchFamily="2" charset="-122"/>
              </a:rPr>
              <a:t>s</a:t>
            </a:r>
            <a:r>
              <a:rPr lang="en-US" altLang="zh-CN" sz="1800" b="1" i="1" baseline="0" dirty="0">
                <a:ea typeface="宋体" panose="02010600030101010101" pitchFamily="2" charset="-122"/>
              </a:rPr>
              <a:t> = </a:t>
            </a:r>
            <a:r>
              <a:rPr lang="en-US" altLang="zh-CN" sz="1800" b="1" baseline="0" dirty="0">
                <a:ea typeface="宋体" panose="02010600030101010101" pitchFamily="2" charset="-122"/>
              </a:rPr>
              <a:t>2</a:t>
            </a:r>
            <a:r>
              <a:rPr lang="en-US" altLang="zh-CN" sz="1800" b="1" i="1" baseline="0" dirty="0">
                <a:ea typeface="宋体" panose="02010600030101010101" pitchFamily="2" charset="-122"/>
              </a:rPr>
              <a:t>πf</a:t>
            </a:r>
            <a:r>
              <a:rPr lang="en-US" altLang="zh-CN" sz="1800" b="1" i="1" baseline="-25000" dirty="0">
                <a:ea typeface="宋体" panose="02010600030101010101" pitchFamily="2" charset="-122"/>
              </a:rPr>
              <a:t>s </a:t>
            </a:r>
            <a:r>
              <a:rPr lang="en-US" altLang="zh-CN" sz="1800" b="1" i="1" baseline="0" dirty="0">
                <a:ea typeface="宋体" panose="02010600030101010101" pitchFamily="2" charset="-122"/>
              </a:rPr>
              <a:t>= </a:t>
            </a:r>
            <a:r>
              <a:rPr lang="en-US" altLang="zh-CN" sz="1800" b="1" baseline="0" dirty="0">
                <a:ea typeface="宋体" panose="02010600030101010101" pitchFamily="2" charset="-122"/>
              </a:rPr>
              <a:t>2</a:t>
            </a:r>
            <a:r>
              <a:rPr lang="en-US" altLang="zh-CN" sz="1800" b="1" i="1" baseline="0" dirty="0">
                <a:ea typeface="宋体" panose="02010600030101010101" pitchFamily="2" charset="-122"/>
              </a:rPr>
              <a:t>π/T</a:t>
            </a:r>
            <a:r>
              <a:rPr lang="en-US" altLang="zh-CN" sz="1800" b="1" i="1" baseline="-25000" dirty="0">
                <a:ea typeface="宋体" panose="02010600030101010101" pitchFamily="2" charset="-122"/>
              </a:rPr>
              <a:t>s</a:t>
            </a:r>
            <a:r>
              <a:rPr lang="zh-CN" altLang="en-US" sz="1800" b="1" baseline="0" dirty="0">
                <a:ea typeface="宋体" panose="02010600030101010101" pitchFamily="2" charset="-122"/>
              </a:rPr>
              <a:t>。</a:t>
            </a:r>
          </a:p>
        </p:txBody>
      </p:sp>
      <p:pic>
        <p:nvPicPr>
          <p:cNvPr id="11" name="图片 1">
            <a:extLst>
              <a:ext uri="{FF2B5EF4-FFF2-40B4-BE49-F238E27FC236}">
                <a16:creationId xmlns:a16="http://schemas.microsoft.com/office/drawing/2014/main" id="{CBDD6309-37CF-4A35-A900-3B976589A18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t="35167" b="31531"/>
          <a:stretch/>
        </p:blipFill>
        <p:spPr bwMode="auto">
          <a:xfrm>
            <a:off x="1066800" y="3086548"/>
            <a:ext cx="6710362" cy="140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
            <a:extLst>
              <a:ext uri="{FF2B5EF4-FFF2-40B4-BE49-F238E27FC236}">
                <a16:creationId xmlns:a16="http://schemas.microsoft.com/office/drawing/2014/main" id="{D8CB1C2F-321F-4A0E-AC82-3C8E3A1DCD7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t="67199"/>
          <a:stretch/>
        </p:blipFill>
        <p:spPr bwMode="auto">
          <a:xfrm>
            <a:off x="1066800" y="4555550"/>
            <a:ext cx="6710362" cy="138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a:ext uri="{FF2B5EF4-FFF2-40B4-BE49-F238E27FC236}">
                <a16:creationId xmlns:a16="http://schemas.microsoft.com/office/drawing/2014/main" id="{166DB494-8174-4AAE-902C-3B7EF2D20F97}"/>
              </a:ext>
            </a:extLst>
          </p:cNvPr>
          <p:cNvGrpSpPr/>
          <p:nvPr/>
        </p:nvGrpSpPr>
        <p:grpSpPr>
          <a:xfrm>
            <a:off x="5380308" y="4967029"/>
            <a:ext cx="790214" cy="576432"/>
            <a:chOff x="7054326" y="4779084"/>
            <a:chExt cx="790214" cy="576432"/>
          </a:xfrm>
        </p:grpSpPr>
        <p:cxnSp>
          <p:nvCxnSpPr>
            <p:cNvPr id="5" name="直接连接符 4">
              <a:extLst>
                <a:ext uri="{FF2B5EF4-FFF2-40B4-BE49-F238E27FC236}">
                  <a16:creationId xmlns:a16="http://schemas.microsoft.com/office/drawing/2014/main" id="{3E7A1BEC-9DBC-4A7D-ACCB-82EFBC88BC60}"/>
                </a:ext>
              </a:extLst>
            </p:cNvPr>
            <p:cNvCxnSpPr>
              <a:cxnSpLocks/>
            </p:cNvCxnSpPr>
            <p:nvPr/>
          </p:nvCxnSpPr>
          <p:spPr bwMode="auto">
            <a:xfrm>
              <a:off x="7054326" y="4779084"/>
              <a:ext cx="0" cy="5764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5DC60B5D-7B24-4C56-9CED-2F25D055C1CA}"/>
                </a:ext>
              </a:extLst>
            </p:cNvPr>
            <p:cNvCxnSpPr>
              <a:cxnSpLocks/>
            </p:cNvCxnSpPr>
            <p:nvPr/>
          </p:nvCxnSpPr>
          <p:spPr bwMode="auto">
            <a:xfrm>
              <a:off x="7837842" y="4779084"/>
              <a:ext cx="0" cy="576432"/>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C769C62D-071F-413C-B31E-5A0FF0A11C72}"/>
                </a:ext>
              </a:extLst>
            </p:cNvPr>
            <p:cNvCxnSpPr/>
            <p:nvPr/>
          </p:nvCxnSpPr>
          <p:spPr bwMode="auto">
            <a:xfrm>
              <a:off x="7054326" y="4779084"/>
              <a:ext cx="790214" cy="0"/>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 name="直接箭头连接符 18">
            <a:extLst>
              <a:ext uri="{FF2B5EF4-FFF2-40B4-BE49-F238E27FC236}">
                <a16:creationId xmlns:a16="http://schemas.microsoft.com/office/drawing/2014/main" id="{77998B43-99E6-413F-8974-4BD494B5007C}"/>
              </a:ext>
            </a:extLst>
          </p:cNvPr>
          <p:cNvCxnSpPr>
            <a:cxnSpLocks/>
          </p:cNvCxnSpPr>
          <p:nvPr/>
        </p:nvCxnSpPr>
        <p:spPr bwMode="auto">
          <a:xfrm flipH="1" flipV="1">
            <a:off x="3126582" y="2819400"/>
            <a:ext cx="2133600" cy="2057400"/>
          </a:xfrm>
          <a:prstGeom prst="straightConnector1">
            <a:avLst/>
          </a:prstGeom>
          <a:solidFill>
            <a:schemeClr val="accent1"/>
          </a:solidFill>
          <a:ln w="19050" cap="flat" cmpd="sng" algn="ctr">
            <a:solidFill>
              <a:srgbClr val="FF0000"/>
            </a:solidFill>
            <a:prstDash val="solid"/>
            <a:round/>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 name="图片 22">
            <a:extLst>
              <a:ext uri="{FF2B5EF4-FFF2-40B4-BE49-F238E27FC236}">
                <a16:creationId xmlns:a16="http://schemas.microsoft.com/office/drawing/2014/main" id="{36E56E18-4218-4D6F-B1B7-F93E6604ABD7}"/>
              </a:ext>
            </a:extLst>
          </p:cNvPr>
          <p:cNvPicPr>
            <a:picLocks noChangeAspect="1"/>
          </p:cNvPicPr>
          <p:nvPr/>
        </p:nvPicPr>
        <p:blipFill>
          <a:blip r:embed="rId5"/>
          <a:stretch>
            <a:fillRect/>
          </a:stretch>
        </p:blipFill>
        <p:spPr>
          <a:xfrm>
            <a:off x="8153400" y="4325808"/>
            <a:ext cx="2943529" cy="1429847"/>
          </a:xfrm>
          <a:prstGeom prst="rect">
            <a:avLst/>
          </a:prstGeom>
        </p:spPr>
      </p:pic>
      <p:sp>
        <p:nvSpPr>
          <p:cNvPr id="28" name="箭头: 下 27">
            <a:extLst>
              <a:ext uri="{FF2B5EF4-FFF2-40B4-BE49-F238E27FC236}">
                <a16:creationId xmlns:a16="http://schemas.microsoft.com/office/drawing/2014/main" id="{E5452F15-2BE7-4DB5-BE7C-E941E8C169B3}"/>
              </a:ext>
            </a:extLst>
          </p:cNvPr>
          <p:cNvSpPr>
            <a:spLocks noChangeArrowheads="1"/>
          </p:cNvSpPr>
          <p:nvPr/>
        </p:nvSpPr>
        <p:spPr bwMode="auto">
          <a:xfrm rot="10800000">
            <a:off x="9397916" y="2605536"/>
            <a:ext cx="311150" cy="481012"/>
          </a:xfrm>
          <a:prstGeom prst="downArrow">
            <a:avLst>
              <a:gd name="adj1" fmla="val 50000"/>
              <a:gd name="adj2" fmla="val 50020"/>
            </a:avLst>
          </a:prstGeom>
          <a:solidFill>
            <a:srgbClr val="3366FF"/>
          </a:solidFill>
          <a:ln>
            <a:noFill/>
          </a:ln>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4" name="矩形 23">
            <a:extLst>
              <a:ext uri="{FF2B5EF4-FFF2-40B4-BE49-F238E27FC236}">
                <a16:creationId xmlns:a16="http://schemas.microsoft.com/office/drawing/2014/main" id="{04F377F9-A061-4FB9-84F0-63CEA9DFF871}"/>
              </a:ext>
            </a:extLst>
          </p:cNvPr>
          <p:cNvSpPr/>
          <p:nvPr/>
        </p:nvSpPr>
        <p:spPr bwMode="auto">
          <a:xfrm>
            <a:off x="7924799" y="1828800"/>
            <a:ext cx="3352801" cy="4066849"/>
          </a:xfrm>
          <a:prstGeom prst="rect">
            <a:avLst/>
          </a:prstGeom>
          <a:noFill/>
          <a:ln w="12700" cap="flat" cmpd="sng" algn="ctr">
            <a:solidFill>
              <a:srgbClr val="FF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1800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9335"/>
                                        </p:tgtEl>
                                        <p:attrNameLst>
                                          <p:attrName>style.visibility</p:attrName>
                                        </p:attrNameLst>
                                      </p:cBhvr>
                                      <p:to>
                                        <p:strVal val="visible"/>
                                      </p:to>
                                    </p:set>
                                    <p:animEffect transition="in" filter="wipe(left)">
                                      <p:cBhvr>
                                        <p:cTn id="7" dur="500"/>
                                        <p:tgtEl>
                                          <p:spTgt spid="993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childTnLst>
                                </p:cTn>
                              </p:par>
                            </p:childTnLst>
                          </p:cTn>
                        </p:par>
                        <p:par>
                          <p:cTn id="32" fill="hold">
                            <p:stCondLst>
                              <p:cond delay="0"/>
                            </p:stCondLst>
                            <p:childTnLst>
                              <p:par>
                                <p:cTn id="33" presetID="22" presetClass="entr" presetSubtype="8"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down)">
                                      <p:cBhvr>
                                        <p:cTn id="40" dur="500"/>
                                        <p:tgtEl>
                                          <p:spTgt spid="2"/>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00"/>
                                        <p:tgtEl>
                                          <p:spTgt spid="28"/>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animBg="1"/>
      <p:bldP spid="12" grpId="0"/>
      <p:bldP spid="28" grpId="0" animBg="1"/>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内容占位符 2">
            <a:extLst>
              <a:ext uri="{FF2B5EF4-FFF2-40B4-BE49-F238E27FC236}">
                <a16:creationId xmlns:a16="http://schemas.microsoft.com/office/drawing/2014/main" id="{05861E44-DE0D-4038-96D6-E135492D85F0}"/>
              </a:ext>
            </a:extLst>
          </p:cNvPr>
          <p:cNvSpPr>
            <a:spLocks noGrp="1"/>
          </p:cNvSpPr>
          <p:nvPr>
            <p:ph idx="1"/>
          </p:nvPr>
        </p:nvSpPr>
        <p:spPr bwMode="auto">
          <a:xfrm>
            <a:off x="1447800" y="1524000"/>
            <a:ext cx="9525000" cy="4953000"/>
          </a:xfrm>
        </p:spPr>
        <p:txBody>
          <a:bodyPr vert="horz" wrap="square" lIns="91440" tIns="45720" rIns="91440" bIns="45720" numCol="1" anchor="t" anchorCtr="0" compatLnSpc="1">
            <a:prstTxWarp prst="textNoShape">
              <a:avLst/>
            </a:prstTxWarp>
          </a:bodyPr>
          <a:lstStyle/>
          <a:p>
            <a:pPr marL="0" indent="0" algn="just">
              <a:lnSpc>
                <a:spcPct val="200000"/>
              </a:lnSpc>
              <a:buNone/>
              <a:defRPr/>
            </a:pPr>
            <a:r>
              <a:rPr lang="zh-CN" altLang="en-US" sz="1800" dirty="0">
                <a:latin typeface="微软雅黑" panose="020B0503020204020204" pitchFamily="34" charset="-122"/>
                <a:ea typeface="微软雅黑" panose="020B0503020204020204" pitchFamily="34" charset="-122"/>
              </a:rPr>
              <a:t>量化就是把经过采样得到的瞬时值</a:t>
            </a:r>
            <a:r>
              <a:rPr lang="zh-CN" altLang="en-US" sz="1800" b="1" dirty="0">
                <a:latin typeface="微软雅黑" panose="020B0503020204020204" pitchFamily="34" charset="-122"/>
                <a:ea typeface="微软雅黑" panose="020B0503020204020204" pitchFamily="34" charset="-122"/>
              </a:rPr>
              <a:t>幅度离散</a:t>
            </a:r>
            <a:r>
              <a:rPr lang="zh-CN" altLang="en-US" sz="1800" dirty="0">
                <a:latin typeface="微软雅黑" panose="020B0503020204020204" pitchFamily="34" charset="-122"/>
                <a:ea typeface="微软雅黑" panose="020B0503020204020204" pitchFamily="34" charset="-122"/>
              </a:rPr>
              <a:t>，即用一组规定的电平把瞬时采样值用最接近的电平值来表示。采样量化后得到的量化脉冲幅度调制信号仅为有限个数值，是一系列振幅值介于信号最大振幅和最小振幅间的脉冲。</a:t>
            </a:r>
            <a:endParaRPr lang="en-US" altLang="zh-CN" sz="1800" dirty="0">
              <a:latin typeface="微软雅黑" panose="020B0503020204020204" pitchFamily="34" charset="-122"/>
              <a:ea typeface="微软雅黑" panose="020B0503020204020204" pitchFamily="34" charset="-122"/>
            </a:endParaRPr>
          </a:p>
          <a:p>
            <a:pPr marL="0" indent="0" algn="just">
              <a:lnSpc>
                <a:spcPct val="200000"/>
              </a:lnSpc>
              <a:buNone/>
              <a:defRPr/>
            </a:pPr>
            <a:endParaRPr lang="en-US" altLang="zh-CN" sz="800" dirty="0">
              <a:latin typeface="微软雅黑" panose="020B0503020204020204" pitchFamily="34" charset="-122"/>
              <a:ea typeface="微软雅黑" panose="020B0503020204020204" pitchFamily="34" charset="-122"/>
            </a:endParaRPr>
          </a:p>
          <a:p>
            <a:pPr marL="0" indent="0" algn="just">
              <a:lnSpc>
                <a:spcPct val="200000"/>
              </a:lnSpc>
              <a:buNone/>
              <a:defRPr/>
            </a:pPr>
            <a:r>
              <a:rPr lang="zh-CN" altLang="en-US" sz="1800" dirty="0">
                <a:latin typeface="微软雅黑" panose="020B0503020204020204" pitchFamily="34" charset="-122"/>
                <a:ea typeface="微软雅黑" panose="020B0503020204020204" pitchFamily="34" charset="-122"/>
              </a:rPr>
              <a:t>将原始模拟信号的振幅 </a:t>
            </a:r>
            <a:r>
              <a:rPr lang="en-US" altLang="zh-CN" sz="1800" dirty="0">
                <a:latin typeface="微软雅黑" panose="020B0503020204020204" pitchFamily="34" charset="-122"/>
                <a:ea typeface="微软雅黑" panose="020B0503020204020204" pitchFamily="34" charset="-122"/>
              </a:rPr>
              <a:t>[</a:t>
            </a:r>
            <a:r>
              <a:rPr lang="en-US" altLang="zh-CN" sz="1800" b="1" i="1" dirty="0" err="1">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baseline="-25000" dirty="0" err="1">
                <a:latin typeface="Times New Roman" panose="02020603050405020304" pitchFamily="18" charset="0"/>
                <a:ea typeface="宋体" panose="02010600030101010101" pitchFamily="2" charset="-122"/>
                <a:cs typeface="Times New Roman" panose="02020603050405020304" pitchFamily="18" charset="0"/>
              </a:rPr>
              <a:t>min</a:t>
            </a:r>
            <a:r>
              <a:rPr lang="en-US" altLang="zh-CN" sz="1800" b="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baseline="-25000" dirty="0">
                <a:latin typeface="Times New Roman" panose="02020603050405020304" pitchFamily="18" charset="0"/>
                <a:ea typeface="宋体" panose="02010600030101010101" pitchFamily="2" charset="-122"/>
                <a:cs typeface="Times New Roman" panose="02020603050405020304" pitchFamily="18" charset="0"/>
              </a:rPr>
              <a:t>max</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分成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 </a:t>
            </a:r>
            <a:r>
              <a:rPr lang="zh-CN" altLang="en-US" sz="1800" dirty="0">
                <a:latin typeface="微软雅黑" panose="020B0503020204020204" pitchFamily="34" charset="-122"/>
                <a:ea typeface="微软雅黑" panose="020B0503020204020204" pitchFamily="34" charset="-122"/>
              </a:rPr>
              <a:t>个区间（量化等级），每个区间的高度为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Δ =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baseline="-25000" dirty="0">
                <a:latin typeface="Times New Roman" panose="02020603050405020304" pitchFamily="18" charset="0"/>
                <a:ea typeface="宋体" panose="02010600030101010101" pitchFamily="2" charset="-122"/>
                <a:cs typeface="Times New Roman" panose="02020603050405020304" pitchFamily="18" charset="0"/>
              </a:rPr>
              <a:t>max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latin typeface="Times New Roman" panose="02020603050405020304" pitchFamily="18" charset="0"/>
                <a:ea typeface="宋体" panose="02010600030101010101" pitchFamily="2" charset="-122"/>
                <a:cs typeface="Times New Roman" panose="02020603050405020304" pitchFamily="18" charset="0"/>
              </a:rPr>
              <a:t>V</a:t>
            </a:r>
            <a:r>
              <a:rPr lang="en-US" altLang="zh-CN" sz="1800" b="1" baseline="-25000" dirty="0" err="1">
                <a:latin typeface="Times New Roman" panose="02020603050405020304" pitchFamily="18" charset="0"/>
                <a:ea typeface="宋体" panose="02010600030101010101" pitchFamily="2" charset="-122"/>
                <a:cs typeface="Times New Roman" panose="02020603050405020304" pitchFamily="18" charset="0"/>
              </a:rPr>
              <a:t>min</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 </a:t>
            </a:r>
            <a:r>
              <a:rPr lang="zh-CN" altLang="en-US" sz="1800" dirty="0">
                <a:latin typeface="微软雅黑" panose="020B0503020204020204" pitchFamily="34" charset="-122"/>
                <a:ea typeface="微软雅黑" panose="020B0503020204020204" pitchFamily="34" charset="-122"/>
              </a:rPr>
              <a:t>与信号振幅范围及恢复信号的准确度有关。分配</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1800" dirty="0">
                <a:latin typeface="微软雅黑" panose="020B0503020204020204" pitchFamily="34" charset="-122"/>
                <a:ea typeface="微软雅黑" panose="020B0503020204020204" pitchFamily="34" charset="-122"/>
              </a:rPr>
              <a:t>到</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dirty="0">
                <a:latin typeface="微软雅黑" panose="020B0503020204020204" pitchFamily="34" charset="-122"/>
                <a:ea typeface="微软雅黑" panose="020B0503020204020204" pitchFamily="34" charset="-122"/>
              </a:rPr>
              <a:t>的量化值给每个区间的中点，样本振幅值即近似为量化值。</a:t>
            </a:r>
            <a:r>
              <a:rPr lang="zh-CN" altLang="en-US" sz="1800" b="1" dirty="0">
                <a:latin typeface="微软雅黑" panose="020B0503020204020204" pitchFamily="34" charset="-122"/>
                <a:ea typeface="微软雅黑" panose="020B0503020204020204" pitchFamily="34" charset="-122"/>
              </a:rPr>
              <a:t>量化位数决定了量化级别的数量，即数字化的精度。</a:t>
            </a:r>
            <a:endParaRPr lang="en-US" altLang="zh-CN" sz="1800" b="1" dirty="0">
              <a:latin typeface="微软雅黑" panose="020B0503020204020204" pitchFamily="34" charset="-122"/>
              <a:ea typeface="微软雅黑" panose="020B0503020204020204" pitchFamily="34" charset="-122"/>
            </a:endParaRPr>
          </a:p>
          <a:p>
            <a:pPr marL="0" indent="0" algn="just">
              <a:lnSpc>
                <a:spcPct val="150000"/>
              </a:lnSpc>
              <a:buNone/>
              <a:defRPr/>
            </a:pPr>
            <a:endParaRPr lang="en-US" altLang="zh-CN" sz="800" dirty="0">
              <a:latin typeface="微软雅黑" panose="020B0503020204020204" pitchFamily="34" charset="-122"/>
              <a:ea typeface="微软雅黑" panose="020B0503020204020204" pitchFamily="34" charset="-122"/>
            </a:endParaRPr>
          </a:p>
          <a:p>
            <a:pPr marL="0" indent="0" algn="just">
              <a:lnSpc>
                <a:spcPct val="150000"/>
              </a:lnSpc>
              <a:buNone/>
              <a:defRPr/>
            </a:pPr>
            <a:endParaRPr lang="zh-CN" altLang="en-US" sz="1600" dirty="0">
              <a:latin typeface="微软雅黑" panose="020B0503020204020204" pitchFamily="34" charset="-122"/>
              <a:ea typeface="微软雅黑" panose="020B0503020204020204" pitchFamily="34" charset="-122"/>
            </a:endParaRPr>
          </a:p>
        </p:txBody>
      </p:sp>
      <p:sp>
        <p:nvSpPr>
          <p:cNvPr id="107523" name="灯片编号占位符 3">
            <a:extLst>
              <a:ext uri="{FF2B5EF4-FFF2-40B4-BE49-F238E27FC236}">
                <a16:creationId xmlns:a16="http://schemas.microsoft.com/office/drawing/2014/main" id="{83243AA4-0B5C-4886-9C8C-9D5A8B6C3B4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5DC017AE-FBE9-45C5-996D-0FED72BC8968}" type="slidenum">
              <a:rPr lang="en-US" altLang="zh-CN" baseline="0" smtClean="0">
                <a:solidFill>
                  <a:schemeClr val="bg2"/>
                </a:solidFill>
                <a:latin typeface="Arial" panose="020B0604020202020204" pitchFamily="34" charset="0"/>
              </a:rPr>
              <a:pPr/>
              <a:t>34</a:t>
            </a:fld>
            <a:endParaRPr lang="en-US" altLang="zh-CN" baseline="0">
              <a:solidFill>
                <a:schemeClr val="bg2"/>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Text Box 4">
            <a:extLst>
              <a:ext uri="{FF2B5EF4-FFF2-40B4-BE49-F238E27FC236}">
                <a16:creationId xmlns:a16="http://schemas.microsoft.com/office/drawing/2014/main" id="{9A070CE7-C6A7-4C8F-ABBA-95E2DEAB6E55}"/>
              </a:ext>
            </a:extLst>
          </p:cNvPr>
          <p:cNvSpPr txBox="1">
            <a:spLocks noChangeArrowheads="1"/>
          </p:cNvSpPr>
          <p:nvPr/>
        </p:nvSpPr>
        <p:spPr bwMode="auto">
          <a:xfrm>
            <a:off x="4724400" y="6169224"/>
            <a:ext cx="293375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4.26  </a:t>
            </a:r>
            <a:r>
              <a:rPr lang="zh-CN" altLang="en-US" sz="1400" b="1" baseline="0" dirty="0">
                <a:ea typeface="宋体" panose="02010600030101010101" pitchFamily="2" charset="-122"/>
              </a:rPr>
              <a:t>采样信号的量化和编码</a:t>
            </a:r>
            <a:endParaRPr lang="en-US" altLang="zh-CN" sz="1400" b="1" baseline="0" dirty="0">
              <a:ea typeface="宋体" panose="02010600030101010101" pitchFamily="2" charset="-122"/>
            </a:endParaRPr>
          </a:p>
        </p:txBody>
      </p:sp>
      <p:pic>
        <p:nvPicPr>
          <p:cNvPr id="108548" name="Picture 7">
            <a:extLst>
              <a:ext uri="{FF2B5EF4-FFF2-40B4-BE49-F238E27FC236}">
                <a16:creationId xmlns:a16="http://schemas.microsoft.com/office/drawing/2014/main" id="{4226C2B5-1CAB-4D7F-9E1E-932397FFE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066801"/>
            <a:ext cx="6533700" cy="488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D12D8ACE-789F-4E68-BF1C-B77FF82A3AB8}"/>
              </a:ext>
            </a:extLst>
          </p:cNvPr>
          <p:cNvSpPr txBox="1"/>
          <p:nvPr/>
        </p:nvSpPr>
        <p:spPr>
          <a:xfrm>
            <a:off x="9213251" y="4147968"/>
            <a:ext cx="1238700" cy="338554"/>
          </a:xfrm>
          <a:prstGeom prst="rect">
            <a:avLst/>
          </a:prstGeom>
          <a:noFill/>
        </p:spPr>
        <p:txBody>
          <a:bodyPr wrap="square" rtlCol="0">
            <a:spAutoFit/>
          </a:bodyPr>
          <a:lstStyle/>
          <a:p>
            <a:r>
              <a:rPr lang="zh-CN" altLang="en-US" sz="1600" baseline="0" dirty="0">
                <a:latin typeface="微软雅黑" panose="020B0503020204020204" pitchFamily="34" charset="-122"/>
                <a:ea typeface="微软雅黑" panose="020B0503020204020204" pitchFamily="34" charset="-122"/>
              </a:rPr>
              <a:t>幅度</a:t>
            </a:r>
            <a:r>
              <a:rPr lang="en-US" altLang="zh-CN" sz="1600" baseline="0" dirty="0">
                <a:latin typeface="微软雅黑" panose="020B0503020204020204" pitchFamily="34" charset="-122"/>
                <a:ea typeface="微软雅黑" panose="020B0503020204020204" pitchFamily="34" charset="-122"/>
              </a:rPr>
              <a:t>/Δ</a:t>
            </a:r>
            <a:endParaRPr lang="zh-CN" altLang="en-US" sz="16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内容占位符 2">
            <a:extLst>
              <a:ext uri="{FF2B5EF4-FFF2-40B4-BE49-F238E27FC236}">
                <a16:creationId xmlns:a16="http://schemas.microsoft.com/office/drawing/2014/main" id="{AB618E80-FB54-45D7-8BA7-C4B0507BCD52}"/>
              </a:ext>
            </a:extLst>
          </p:cNvPr>
          <p:cNvSpPr>
            <a:spLocks noGrp="1"/>
          </p:cNvSpPr>
          <p:nvPr>
            <p:ph idx="1"/>
          </p:nvPr>
        </p:nvSpPr>
        <p:spPr bwMode="auto">
          <a:xfrm>
            <a:off x="1600200" y="1190390"/>
            <a:ext cx="9144000" cy="2438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150000"/>
              </a:lnSpc>
              <a:buNone/>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编码是用一组二进制码组来表示每一个有固定电平的量化值。实际上量化是在编码过程中同时完成的，故编码过程也称为模</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数变换，可记作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A/D</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。如果每个样本可以转换成 </a:t>
            </a:r>
            <a:r>
              <a:rPr lang="en-US" altLang="zh-CN" sz="1800" b="1"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个位的码字，量化等级是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，则</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log</a:t>
            </a:r>
            <a:r>
              <a:rPr lang="en-US" altLang="zh-CN" sz="1800" b="1" baseline="-250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L</a:t>
            </a:r>
          </a:p>
          <a:p>
            <a:pPr marL="0" indent="0" algn="just">
              <a:lnSpc>
                <a:spcPct val="150000"/>
              </a:lnSpc>
              <a:buNone/>
            </a:pPr>
            <a:endParaRPr lang="en-US" altLang="zh-CN" sz="800" b="1" i="1"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150000"/>
              </a:lnSpc>
              <a:buNone/>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比特率 </a:t>
            </a:r>
            <a:r>
              <a:rPr lang="en-US" altLang="zh-CN" sz="18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采样率</a:t>
            </a:r>
            <a:r>
              <a:rPr lang="en-US" altLang="zh-CN" sz="18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每个样本位数 </a:t>
            </a:r>
            <a:r>
              <a:rPr lang="en-US" altLang="zh-CN" sz="1800" b="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b="1" i="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1800" b="1" i="1" baseline="-25000" dirty="0">
                <a:latin typeface="Times New Roman" panose="02020603050405020304" pitchFamily="18" charset="0"/>
                <a:ea typeface="宋体" panose="02010600030101010101" pitchFamily="2" charset="-122"/>
                <a:cs typeface="Times New Roman" panose="02020603050405020304" pitchFamily="18" charset="0"/>
              </a:rPr>
              <a:t>s </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b</a:t>
            </a:r>
            <a:endParaRPr lang="zh-CN" altLang="en-US" sz="1800" b="1" i="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667" name="灯片编号占位符 3">
            <a:extLst>
              <a:ext uri="{FF2B5EF4-FFF2-40B4-BE49-F238E27FC236}">
                <a16:creationId xmlns:a16="http://schemas.microsoft.com/office/drawing/2014/main" id="{520A5FC3-92C5-410A-923E-76F78AB9140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1CB05F2-B5B7-4BAA-8E76-7BBDF05880F2}" type="slidenum">
              <a:rPr lang="en-US" altLang="zh-CN" baseline="0" smtClean="0">
                <a:solidFill>
                  <a:schemeClr val="bg2"/>
                </a:solidFill>
                <a:latin typeface="Arial" panose="020B0604020202020204" pitchFamily="34" charset="0"/>
              </a:rPr>
              <a:pPr/>
              <a:t>36</a:t>
            </a:fld>
            <a:endParaRPr lang="en-US" altLang="zh-CN" baseline="0">
              <a:solidFill>
                <a:schemeClr val="bg2"/>
              </a:solidFill>
              <a:latin typeface="Arial" panose="020B0604020202020204" pitchFamily="34" charset="0"/>
            </a:endParaRPr>
          </a:p>
        </p:txBody>
      </p:sp>
      <p:sp>
        <p:nvSpPr>
          <p:cNvPr id="6" name="Rectangle 9">
            <a:extLst>
              <a:ext uri="{FF2B5EF4-FFF2-40B4-BE49-F238E27FC236}">
                <a16:creationId xmlns:a16="http://schemas.microsoft.com/office/drawing/2014/main" id="{2CBA2C32-69FA-4F98-A6A5-76C0BB28BC45}"/>
              </a:ext>
            </a:extLst>
          </p:cNvPr>
          <p:cNvSpPr>
            <a:spLocks noChangeArrowheads="1"/>
          </p:cNvSpPr>
          <p:nvPr/>
        </p:nvSpPr>
        <p:spPr bwMode="auto">
          <a:xfrm>
            <a:off x="1600200" y="3962400"/>
            <a:ext cx="9144000" cy="170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zh-CN" altLang="en-US" sz="1800" b="1" baseline="0" dirty="0">
                <a:solidFill>
                  <a:srgbClr val="FF0000"/>
                </a:solidFill>
                <a:ea typeface="微软雅黑" panose="020B0503020204020204" pitchFamily="34" charset="-122"/>
                <a:cs typeface="Times New Roman" panose="02020603050405020304" pitchFamily="18" charset="0"/>
              </a:rPr>
              <a:t>例</a:t>
            </a:r>
            <a:r>
              <a:rPr lang="en-US" altLang="zh-CN" sz="1800" b="1" baseline="0" dirty="0">
                <a:solidFill>
                  <a:srgbClr val="FF0000"/>
                </a:solidFill>
                <a:ea typeface="微软雅黑" panose="020B0503020204020204" pitchFamily="34" charset="-122"/>
                <a:cs typeface="Times New Roman" panose="02020603050405020304" pitchFamily="18" charset="0"/>
              </a:rPr>
              <a:t>4.14  </a:t>
            </a:r>
            <a:r>
              <a:rPr lang="zh-CN" altLang="en-US" sz="1800" baseline="0" dirty="0">
                <a:ea typeface="微软雅黑" panose="020B0503020204020204" pitchFamily="34" charset="-122"/>
                <a:cs typeface="Times New Roman" panose="02020603050405020304" pitchFamily="18" charset="0"/>
              </a:rPr>
              <a:t>对人的语音进行数字化，若每个样本有 </a:t>
            </a:r>
            <a:r>
              <a:rPr lang="en-US" altLang="zh-CN" sz="1800" baseline="0" dirty="0">
                <a:ea typeface="微软雅黑" panose="020B0503020204020204" pitchFamily="34" charset="-122"/>
                <a:cs typeface="Times New Roman" panose="02020603050405020304" pitchFamily="18" charset="0"/>
              </a:rPr>
              <a:t>8 </a:t>
            </a:r>
            <a:r>
              <a:rPr lang="zh-CN" altLang="en-US" sz="1800" baseline="0" dirty="0">
                <a:ea typeface="微软雅黑" panose="020B0503020204020204" pitchFamily="34" charset="-122"/>
                <a:cs typeface="Times New Roman" panose="02020603050405020304" pitchFamily="18" charset="0"/>
              </a:rPr>
              <a:t>位，则比特率是多少</a:t>
            </a:r>
            <a:r>
              <a:rPr lang="en-US" altLang="zh-CN" sz="1800" baseline="0" dirty="0">
                <a:ea typeface="微软雅黑" panose="020B0503020204020204" pitchFamily="34" charset="-122"/>
                <a:cs typeface="Times New Roman" panose="02020603050405020304" pitchFamily="18" charset="0"/>
              </a:rPr>
              <a:t>?</a:t>
            </a:r>
          </a:p>
          <a:p>
            <a:pPr algn="just">
              <a:lnSpc>
                <a:spcPct val="150000"/>
              </a:lnSpc>
            </a:pPr>
            <a:r>
              <a:rPr lang="zh-CN" altLang="en-US" sz="1800" baseline="0" dirty="0">
                <a:ea typeface="微软雅黑" panose="020B0503020204020204" pitchFamily="34" charset="-122"/>
                <a:cs typeface="Times New Roman" panose="02020603050405020304" pitchFamily="18" charset="0"/>
              </a:rPr>
              <a:t>解：人的语音通常包含 </a:t>
            </a:r>
            <a:r>
              <a:rPr lang="en-US" altLang="zh-CN" sz="1800" baseline="0" dirty="0">
                <a:ea typeface="微软雅黑" panose="020B0503020204020204" pitchFamily="34" charset="-122"/>
                <a:cs typeface="Times New Roman" panose="02020603050405020304" pitchFamily="18" charset="0"/>
              </a:rPr>
              <a:t>0 </a:t>
            </a:r>
            <a:r>
              <a:rPr lang="zh-CN" altLang="en-US" sz="1800" baseline="0" dirty="0">
                <a:ea typeface="微软雅黑" panose="020B0503020204020204" pitchFamily="34" charset="-122"/>
                <a:cs typeface="Times New Roman" panose="02020603050405020304" pitchFamily="18" charset="0"/>
              </a:rPr>
              <a:t>到</a:t>
            </a:r>
            <a:r>
              <a:rPr lang="en-US" altLang="zh-CN" sz="1800" baseline="0" dirty="0">
                <a:ea typeface="微软雅黑" panose="020B0503020204020204" pitchFamily="34" charset="-122"/>
                <a:cs typeface="Times New Roman" panose="02020603050405020304" pitchFamily="18" charset="0"/>
              </a:rPr>
              <a:t> 4000Hz </a:t>
            </a:r>
            <a:r>
              <a:rPr lang="zh-CN" altLang="en-US" sz="1800" baseline="0" dirty="0">
                <a:ea typeface="微软雅黑" panose="020B0503020204020204" pitchFamily="34" charset="-122"/>
                <a:cs typeface="Times New Roman" panose="02020603050405020304" pitchFamily="18" charset="0"/>
              </a:rPr>
              <a:t>的频率，则有</a:t>
            </a:r>
            <a:r>
              <a:rPr lang="en-US" altLang="zh-CN" sz="1800" baseline="0" dirty="0">
                <a:ea typeface="微软雅黑" panose="020B0503020204020204" pitchFamily="34" charset="-122"/>
                <a:cs typeface="Times New Roman" panose="02020603050405020304" pitchFamily="18" charset="0"/>
              </a:rPr>
              <a:t>:</a:t>
            </a:r>
          </a:p>
          <a:p>
            <a:pPr algn="just">
              <a:lnSpc>
                <a:spcPct val="150000"/>
              </a:lnSpc>
            </a:pPr>
            <a:r>
              <a:rPr lang="zh-CN" altLang="en-US" sz="1800" baseline="0" dirty="0">
                <a:ea typeface="微软雅黑" panose="020B0503020204020204" pitchFamily="34" charset="-122"/>
                <a:cs typeface="Times New Roman" panose="02020603050405020304" pitchFamily="18" charset="0"/>
              </a:rPr>
              <a:t>        采样率 </a:t>
            </a:r>
            <a:r>
              <a:rPr lang="en-US" altLang="zh-CN" sz="1800" baseline="0" dirty="0">
                <a:ea typeface="微软雅黑" panose="020B0503020204020204" pitchFamily="34" charset="-122"/>
                <a:cs typeface="Times New Roman" panose="02020603050405020304" pitchFamily="18" charset="0"/>
              </a:rPr>
              <a:t>= 4000×2 = 8000 samples/s</a:t>
            </a:r>
          </a:p>
          <a:p>
            <a:pPr algn="just">
              <a:lnSpc>
                <a:spcPct val="150000"/>
              </a:lnSpc>
            </a:pPr>
            <a:r>
              <a:rPr lang="zh-CN" altLang="en-US" sz="1800" baseline="0" dirty="0">
                <a:ea typeface="微软雅黑" panose="020B0503020204020204" pitchFamily="34" charset="-122"/>
                <a:cs typeface="Times New Roman" panose="02020603050405020304" pitchFamily="18" charset="0"/>
              </a:rPr>
              <a:t>        比特率 </a:t>
            </a:r>
            <a:r>
              <a:rPr lang="en-US" altLang="zh-CN" sz="1800" baseline="0" dirty="0">
                <a:ea typeface="微软雅黑" panose="020B0503020204020204" pitchFamily="34" charset="-122"/>
                <a:cs typeface="Times New Roman" panose="02020603050405020304" pitchFamily="18" charset="0"/>
              </a:rPr>
              <a:t>= 8000×8 = 64,000bps = 64kbps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标题 1">
            <a:extLst>
              <a:ext uri="{FF2B5EF4-FFF2-40B4-BE49-F238E27FC236}">
                <a16:creationId xmlns:a16="http://schemas.microsoft.com/office/drawing/2014/main" id="{BFEFE388-B2D3-490B-A825-75B2C2BBEFC7}"/>
              </a:ext>
            </a:extLst>
          </p:cNvPr>
          <p:cNvSpPr txBox="1">
            <a:spLocks noGrp="1"/>
          </p:cNvSpPr>
          <p:nvPr>
            <p:ph type="title"/>
          </p:nvPr>
        </p:nvSpPr>
        <p:spPr bwMode="auto">
          <a:xfrm>
            <a:off x="1752600" y="1492931"/>
            <a:ext cx="2152769" cy="41254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PCM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的带宽为</a:t>
            </a:r>
          </a:p>
        </p:txBody>
      </p:sp>
      <p:sp>
        <p:nvSpPr>
          <p:cNvPr id="116738" name="灯片编号占位符 3">
            <a:extLst>
              <a:ext uri="{FF2B5EF4-FFF2-40B4-BE49-F238E27FC236}">
                <a16:creationId xmlns:a16="http://schemas.microsoft.com/office/drawing/2014/main" id="{ABA01576-59EA-4E24-870B-5226EB8DE3E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15D8B22-DB83-4F38-821D-8EB97E4574BE}" type="slidenum">
              <a:rPr lang="en-US" altLang="zh-CN" baseline="0" smtClean="0">
                <a:solidFill>
                  <a:schemeClr val="bg2"/>
                </a:solidFill>
                <a:latin typeface="Arial" panose="020B0604020202020204" pitchFamily="34" charset="0"/>
              </a:rPr>
              <a:pPr/>
              <a:t>37</a:t>
            </a:fld>
            <a:endParaRPr lang="en-US" altLang="zh-CN" baseline="0">
              <a:solidFill>
                <a:schemeClr val="bg2"/>
              </a:solidFill>
              <a:latin typeface="Arial" panose="020B0604020202020204" pitchFamily="34" charset="0"/>
            </a:endParaRPr>
          </a:p>
        </p:txBody>
      </p:sp>
      <p:sp>
        <p:nvSpPr>
          <p:cNvPr id="116741" name="矩形 2">
            <a:extLst>
              <a:ext uri="{FF2B5EF4-FFF2-40B4-BE49-F238E27FC236}">
                <a16:creationId xmlns:a16="http://schemas.microsoft.com/office/drawing/2014/main" id="{9AB460B3-40DD-40B6-A1DE-D06D2F702BB4}"/>
              </a:ext>
            </a:extLst>
          </p:cNvPr>
          <p:cNvSpPr>
            <a:spLocks noChangeArrowheads="1"/>
          </p:cNvSpPr>
          <p:nvPr/>
        </p:nvSpPr>
        <p:spPr bwMode="auto">
          <a:xfrm>
            <a:off x="1828800" y="4724400"/>
            <a:ext cx="9448800" cy="729943"/>
          </a:xfrm>
          <a:prstGeom prst="rect">
            <a:avLst/>
          </a:prstGeom>
          <a:noFill/>
          <a:ln>
            <a:noFill/>
          </a:ln>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nSpc>
                <a:spcPct val="250000"/>
              </a:lnSpc>
            </a:pPr>
            <a:r>
              <a:rPr lang="zh-CN" altLang="en-US" b="1" baseline="0" dirty="0">
                <a:latin typeface="微软雅黑" panose="020B0503020204020204" pitchFamily="34" charset="-122"/>
                <a:ea typeface="微软雅黑" panose="020B0503020204020204" pitchFamily="34" charset="-122"/>
                <a:cs typeface="Times New Roman" panose="02020603050405020304" pitchFamily="18" charset="0"/>
              </a:rPr>
              <a:t>结论</a:t>
            </a:r>
            <a:r>
              <a:rPr lang="zh-CN" altLang="en-US" baseline="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aseline="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数字信号的最小带宽是模拟信号带宽的 </a:t>
            </a:r>
            <a:r>
              <a:rPr lang="zh-CN" altLang="en-US" b="1" baseline="0" dirty="0">
                <a:solidFill>
                  <a:srgbClr val="FF0000"/>
                </a:solidFill>
                <a:ea typeface="微软雅黑" panose="020B0503020204020204" pitchFamily="34" charset="-122"/>
                <a:cs typeface="Times New Roman" panose="02020603050405020304" pitchFamily="18" charset="0"/>
              </a:rPr>
              <a:t>𝑛</a:t>
            </a:r>
            <a:r>
              <a:rPr lang="zh-CN" altLang="en-US" b="1" baseline="-25000" dirty="0">
                <a:solidFill>
                  <a:srgbClr val="FF0000"/>
                </a:solidFill>
                <a:ea typeface="微软雅黑" panose="020B0503020204020204" pitchFamily="34" charset="-122"/>
                <a:cs typeface="Times New Roman" panose="02020603050405020304" pitchFamily="18" charset="0"/>
              </a:rPr>
              <a:t>𝑏</a:t>
            </a:r>
            <a:r>
              <a:rPr lang="zh-CN" altLang="en-US" baseline="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倍。</a:t>
            </a:r>
            <a:r>
              <a:rPr lang="zh-CN" altLang="en-US" baseline="0" dirty="0">
                <a:latin typeface="微软雅黑" panose="020B0503020204020204" pitchFamily="34" charset="-122"/>
                <a:ea typeface="微软雅黑" panose="020B0503020204020204" pitchFamily="34" charset="-122"/>
                <a:cs typeface="Times New Roman" panose="02020603050405020304" pitchFamily="18" charset="0"/>
              </a:rPr>
              <a:t>这是数字化的代价！</a:t>
            </a: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3C37C22A-2E50-4AD1-BA90-B178E0CA1D4F}"/>
                  </a:ext>
                </a:extLst>
              </p:cNvPr>
              <p:cNvSpPr/>
              <p:nvPr/>
            </p:nvSpPr>
            <p:spPr>
              <a:xfrm>
                <a:off x="3538388" y="1307262"/>
                <a:ext cx="2181623"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b="1" i="1" baseline="0">
                              <a:solidFill>
                                <a:srgbClr val="000000"/>
                              </a:solidFill>
                              <a:latin typeface="Cambria Math" panose="02040503050406030204" pitchFamily="18" charset="0"/>
                            </a:rPr>
                          </m:ctrlPr>
                        </m:sSubPr>
                        <m:e>
                          <m:r>
                            <m:rPr>
                              <m:nor/>
                            </m:rPr>
                            <a:rPr lang="zh-CN" altLang="en-US" b="1" i="1" baseline="0">
                              <a:solidFill>
                                <a:srgbClr val="000000"/>
                              </a:solidFill>
                              <a:cs typeface="Times New Roman" panose="02020603050405020304" pitchFamily="18" charset="0"/>
                            </a:rPr>
                            <m:t>B</m:t>
                          </m:r>
                        </m:e>
                        <m:sub>
                          <m:r>
                            <a:rPr lang="en-US" altLang="zh-CN" b="1" i="1" baseline="0">
                              <a:solidFill>
                                <a:srgbClr val="000000"/>
                              </a:solidFill>
                              <a:latin typeface="Cambria Math" panose="02040503050406030204" pitchFamily="18" charset="0"/>
                            </a:rPr>
                            <m:t>𝒎𝒊𝒏</m:t>
                          </m:r>
                        </m:sub>
                      </m:sSub>
                      <m:r>
                        <a:rPr lang="zh-CN" altLang="en-US" b="1" i="1" baseline="0">
                          <a:solidFill>
                            <a:srgbClr val="000000"/>
                          </a:solidFill>
                          <a:latin typeface="Cambria Math" panose="02040503050406030204" pitchFamily="18" charset="0"/>
                        </a:rPr>
                        <m:t>=</m:t>
                      </m:r>
                      <m:r>
                        <a:rPr lang="zh-CN" altLang="en-US" b="1" i="1" baseline="0">
                          <a:solidFill>
                            <a:srgbClr val="000000"/>
                          </a:solidFill>
                          <a:latin typeface="Cambria Math" panose="02040503050406030204" pitchFamily="18" charset="0"/>
                        </a:rPr>
                        <m:t>𝒄</m:t>
                      </m:r>
                      <m:r>
                        <a:rPr lang="zh-CN" altLang="en-US" b="1" i="1" baseline="0">
                          <a:solidFill>
                            <a:srgbClr val="000000"/>
                          </a:solidFill>
                          <a:latin typeface="Cambria Math" panose="02040503050406030204" pitchFamily="18" charset="0"/>
                        </a:rPr>
                        <m:t>×</m:t>
                      </m:r>
                      <m:r>
                        <a:rPr lang="zh-CN" altLang="en-US" b="1" i="1" baseline="0">
                          <a:solidFill>
                            <a:srgbClr val="000000"/>
                          </a:solidFill>
                          <a:latin typeface="Cambria Math" panose="02040503050406030204" pitchFamily="18" charset="0"/>
                        </a:rPr>
                        <m:t>𝑵</m:t>
                      </m:r>
                      <m:r>
                        <a:rPr lang="zh-CN" altLang="en-US" b="1" i="1" baseline="0">
                          <a:solidFill>
                            <a:srgbClr val="000000"/>
                          </a:solidFill>
                          <a:latin typeface="Cambria Math" panose="02040503050406030204" pitchFamily="18" charset="0"/>
                        </a:rPr>
                        <m:t>×</m:t>
                      </m:r>
                      <m:f>
                        <m:fPr>
                          <m:ctrlPr>
                            <a:rPr lang="zh-CN" altLang="en-US" b="1" i="1" baseline="0">
                              <a:solidFill>
                                <a:srgbClr val="000000"/>
                              </a:solidFill>
                              <a:latin typeface="Cambria Math" panose="02040503050406030204" pitchFamily="18" charset="0"/>
                            </a:rPr>
                          </m:ctrlPr>
                        </m:fPr>
                        <m:num>
                          <m:r>
                            <a:rPr lang="zh-CN" altLang="en-US" b="1" i="1" baseline="0">
                              <a:solidFill>
                                <a:srgbClr val="000000"/>
                              </a:solidFill>
                              <a:latin typeface="Cambria Math" panose="02040503050406030204" pitchFamily="18" charset="0"/>
                            </a:rPr>
                            <m:t>𝟏</m:t>
                          </m:r>
                        </m:num>
                        <m:den>
                          <m:r>
                            <a:rPr lang="zh-CN" altLang="en-US" b="1" i="1" baseline="0">
                              <a:solidFill>
                                <a:srgbClr val="000000"/>
                              </a:solidFill>
                              <a:latin typeface="Cambria Math" panose="02040503050406030204" pitchFamily="18" charset="0"/>
                            </a:rPr>
                            <m:t>𝒓</m:t>
                          </m:r>
                        </m:den>
                      </m:f>
                    </m:oMath>
                  </m:oMathPara>
                </a14:m>
                <a:endParaRPr lang="zh-CN" altLang="en-US" b="1" dirty="0"/>
              </a:p>
            </p:txBody>
          </p:sp>
        </mc:Choice>
        <mc:Fallback>
          <p:sp>
            <p:nvSpPr>
              <p:cNvPr id="4" name="矩形 3">
                <a:extLst>
                  <a:ext uri="{FF2B5EF4-FFF2-40B4-BE49-F238E27FC236}">
                    <a16:creationId xmlns:a16="http://schemas.microsoft.com/office/drawing/2014/main" id="{3C37C22A-2E50-4AD1-BA90-B178E0CA1D4F}"/>
                  </a:ext>
                </a:extLst>
              </p:cNvPr>
              <p:cNvSpPr>
                <a:spLocks noRot="1" noChangeAspect="1" noMove="1" noResize="1" noEditPoints="1" noAdjustHandles="1" noChangeArrowheads="1" noChangeShapeType="1" noTextEdit="1"/>
              </p:cNvSpPr>
              <p:nvPr/>
            </p:nvSpPr>
            <p:spPr>
              <a:xfrm>
                <a:off x="3538388" y="1307262"/>
                <a:ext cx="2181623" cy="668516"/>
              </a:xfrm>
              <a:prstGeom prst="rect">
                <a:avLst/>
              </a:prstGeom>
              <a:blipFill>
                <a:blip r:embed="rId2"/>
                <a:stretch>
                  <a:fillRect/>
                </a:stretch>
              </a:blipFill>
            </p:spPr>
            <p:txBody>
              <a:bodyPr/>
              <a:lstStyle/>
              <a:p>
                <a:r>
                  <a:rPr lang="zh-CN" altLang="en-US">
                    <a:noFill/>
                  </a:rPr>
                  <a:t> </a:t>
                </a:r>
              </a:p>
            </p:txBody>
          </p:sp>
        </mc:Fallback>
      </mc:AlternateContent>
      <p:sp>
        <p:nvSpPr>
          <p:cNvPr id="10" name="标题 1">
            <a:extLst>
              <a:ext uri="{FF2B5EF4-FFF2-40B4-BE49-F238E27FC236}">
                <a16:creationId xmlns:a16="http://schemas.microsoft.com/office/drawing/2014/main" id="{7FC0AE3B-1718-4743-B652-CAF1337179FA}"/>
              </a:ext>
            </a:extLst>
          </p:cNvPr>
          <p:cNvSpPr txBox="1">
            <a:spLocks/>
          </p:cNvSpPr>
          <p:nvPr/>
        </p:nvSpPr>
        <p:spPr bwMode="auto">
          <a:xfrm>
            <a:off x="1752600" y="2266854"/>
            <a:ext cx="3505200" cy="4125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把 </a:t>
            </a:r>
            <a:r>
              <a:rPr lang="en-US" altLang="zh-CN" sz="1800" b="1" i="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替换为</a:t>
            </a:r>
            <a:r>
              <a:rPr lang="en-US" altLang="zh-CN" sz="1800" b="1"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b="1" i="1"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b="1" i="1"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baseline="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得到</a:t>
            </a: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AC996B69-5F94-4470-8890-E4866FF64C21}"/>
                  </a:ext>
                </a:extLst>
              </p:cNvPr>
              <p:cNvSpPr/>
              <p:nvPr/>
            </p:nvSpPr>
            <p:spPr>
              <a:xfrm>
                <a:off x="4397891" y="2075627"/>
                <a:ext cx="6477000" cy="6685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𝑩</m:t>
                          </m:r>
                        </m:e>
                        <m:sub>
                          <m:r>
                            <a:rPr lang="en-US" altLang="zh-CN" b="1" i="1" baseline="0">
                              <a:solidFill>
                                <a:srgbClr val="000000"/>
                              </a:solidFill>
                              <a:latin typeface="Cambria Math" panose="02040503050406030204" pitchFamily="18" charset="0"/>
                            </a:rPr>
                            <m:t>𝒎𝒊𝒏</m:t>
                          </m:r>
                        </m:sub>
                      </m:sSub>
                      <m:r>
                        <a:rPr lang="zh-CN" altLang="en-US" b="1" i="1" baseline="0">
                          <a:solidFill>
                            <a:srgbClr val="000000"/>
                          </a:solidFill>
                          <a:latin typeface="Cambria Math" panose="02040503050406030204" pitchFamily="18" charset="0"/>
                        </a:rPr>
                        <m:t>=</m:t>
                      </m:r>
                      <m:r>
                        <a:rPr lang="zh-CN" altLang="en-US" b="1" i="1" baseline="0">
                          <a:solidFill>
                            <a:srgbClr val="000000"/>
                          </a:solidFill>
                          <a:latin typeface="Cambria Math" panose="02040503050406030204" pitchFamily="18" charset="0"/>
                        </a:rPr>
                        <m:t>𝒄</m:t>
                      </m:r>
                      <m:r>
                        <a:rPr lang="zh-CN" altLang="en-US" b="1" i="1" baseline="0">
                          <a:solidFill>
                            <a:srgbClr val="000000"/>
                          </a:solidFill>
                          <a:latin typeface="Cambria Math" panose="02040503050406030204" pitchFamily="18" charset="0"/>
                        </a:rPr>
                        <m:t>×</m:t>
                      </m:r>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𝒇</m:t>
                          </m:r>
                        </m:e>
                        <m:sub>
                          <m:r>
                            <a:rPr lang="zh-CN" altLang="en-US" b="1" i="1" baseline="0">
                              <a:solidFill>
                                <a:srgbClr val="000000"/>
                              </a:solidFill>
                              <a:latin typeface="Cambria Math" panose="02040503050406030204" pitchFamily="18" charset="0"/>
                            </a:rPr>
                            <m:t>𝒔</m:t>
                          </m:r>
                        </m:sub>
                      </m:sSub>
                      <m:r>
                        <a:rPr lang="zh-CN" altLang="en-US" b="1" i="1" baseline="0">
                          <a:solidFill>
                            <a:srgbClr val="000000"/>
                          </a:solidFill>
                          <a:latin typeface="Cambria Math" panose="02040503050406030204" pitchFamily="18" charset="0"/>
                        </a:rPr>
                        <m:t>×</m:t>
                      </m:r>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𝒏</m:t>
                          </m:r>
                        </m:e>
                        <m:sub>
                          <m:r>
                            <a:rPr lang="zh-CN" altLang="en-US" b="1" i="1" baseline="0">
                              <a:solidFill>
                                <a:srgbClr val="000000"/>
                              </a:solidFill>
                              <a:latin typeface="Cambria Math" panose="02040503050406030204" pitchFamily="18" charset="0"/>
                            </a:rPr>
                            <m:t>𝒃</m:t>
                          </m:r>
                        </m:sub>
                      </m:sSub>
                      <m:r>
                        <a:rPr lang="zh-CN" altLang="en-US" b="1" i="1" baseline="0">
                          <a:solidFill>
                            <a:srgbClr val="000000"/>
                          </a:solidFill>
                          <a:latin typeface="Cambria Math" panose="02040503050406030204" pitchFamily="18" charset="0"/>
                        </a:rPr>
                        <m:t>×</m:t>
                      </m:r>
                      <m:f>
                        <m:fPr>
                          <m:ctrlPr>
                            <a:rPr lang="zh-CN" altLang="en-US" b="1" i="1" baseline="0">
                              <a:solidFill>
                                <a:srgbClr val="000000"/>
                              </a:solidFill>
                              <a:latin typeface="Cambria Math" panose="02040503050406030204" pitchFamily="18" charset="0"/>
                            </a:rPr>
                          </m:ctrlPr>
                        </m:fPr>
                        <m:num>
                          <m:r>
                            <a:rPr lang="zh-CN" altLang="en-US" b="1" i="1" baseline="0">
                              <a:solidFill>
                                <a:srgbClr val="000000"/>
                              </a:solidFill>
                              <a:latin typeface="Cambria Math" panose="02040503050406030204" pitchFamily="18" charset="0"/>
                            </a:rPr>
                            <m:t>𝟏</m:t>
                          </m:r>
                        </m:num>
                        <m:den>
                          <m:r>
                            <a:rPr lang="zh-CN" altLang="en-US" b="1" i="1" baseline="0">
                              <a:solidFill>
                                <a:srgbClr val="000000"/>
                              </a:solidFill>
                              <a:latin typeface="Cambria Math" panose="02040503050406030204" pitchFamily="18" charset="0"/>
                            </a:rPr>
                            <m:t>𝒓</m:t>
                          </m:r>
                        </m:den>
                      </m:f>
                      <m:r>
                        <a:rPr lang="en-US" altLang="zh-CN" b="1" i="1" baseline="0">
                          <a:solidFill>
                            <a:srgbClr val="000000"/>
                          </a:solidFill>
                          <a:latin typeface="Cambria Math" panose="02040503050406030204" pitchFamily="18" charset="0"/>
                        </a:rPr>
                        <m:t> =</m:t>
                      </m:r>
                      <m:r>
                        <a:rPr lang="zh-CN" altLang="en-US" b="1" i="1" baseline="0">
                          <a:solidFill>
                            <a:srgbClr val="000000"/>
                          </a:solidFill>
                          <a:latin typeface="Cambria Math" panose="02040503050406030204" pitchFamily="18" charset="0"/>
                        </a:rPr>
                        <m:t>𝒄</m:t>
                      </m:r>
                      <m:r>
                        <a:rPr lang="zh-CN" altLang="en-US" b="1" i="1" baseline="0">
                          <a:solidFill>
                            <a:srgbClr val="000000"/>
                          </a:solidFill>
                          <a:latin typeface="Cambria Math" panose="02040503050406030204" pitchFamily="18" charset="0"/>
                        </a:rPr>
                        <m:t>×</m:t>
                      </m:r>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𝒏</m:t>
                          </m:r>
                        </m:e>
                        <m:sub>
                          <m:r>
                            <a:rPr lang="zh-CN" altLang="en-US" b="1" i="1" baseline="0">
                              <a:solidFill>
                                <a:srgbClr val="000000"/>
                              </a:solidFill>
                              <a:latin typeface="Cambria Math" panose="02040503050406030204" pitchFamily="18" charset="0"/>
                            </a:rPr>
                            <m:t>𝒃</m:t>
                          </m:r>
                        </m:sub>
                      </m:sSub>
                      <m:r>
                        <a:rPr lang="zh-CN" altLang="en-US" b="1" i="1" baseline="0">
                          <a:solidFill>
                            <a:srgbClr val="000000"/>
                          </a:solidFill>
                          <a:latin typeface="Cambria Math" panose="02040503050406030204" pitchFamily="18" charset="0"/>
                        </a:rPr>
                        <m:t>×</m:t>
                      </m:r>
                      <m:r>
                        <a:rPr lang="zh-CN" altLang="en-US" b="1" i="1" baseline="0">
                          <a:solidFill>
                            <a:srgbClr val="000000"/>
                          </a:solidFill>
                          <a:latin typeface="Cambria Math" panose="02040503050406030204" pitchFamily="18" charset="0"/>
                        </a:rPr>
                        <m:t>𝟐</m:t>
                      </m:r>
                      <m:r>
                        <a:rPr lang="zh-CN" altLang="en-US" b="1" i="1" baseline="0">
                          <a:solidFill>
                            <a:srgbClr val="000000"/>
                          </a:solidFill>
                          <a:latin typeface="Cambria Math" panose="02040503050406030204" pitchFamily="18" charset="0"/>
                        </a:rPr>
                        <m:t>×</m:t>
                      </m:r>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𝑩</m:t>
                          </m:r>
                        </m:e>
                        <m:sub>
                          <m:r>
                            <a:rPr lang="en-US" altLang="zh-CN" b="1" i="1" baseline="0">
                              <a:solidFill>
                                <a:srgbClr val="000000"/>
                              </a:solidFill>
                              <a:latin typeface="Cambria Math" panose="02040503050406030204" pitchFamily="18" charset="0"/>
                            </a:rPr>
                            <m:t>𝒂𝒏𝒂𝒍𝒐𝒈</m:t>
                          </m:r>
                        </m:sub>
                      </m:sSub>
                      <m:r>
                        <a:rPr lang="zh-CN" altLang="en-US" b="1" i="1" baseline="0">
                          <a:solidFill>
                            <a:srgbClr val="000000"/>
                          </a:solidFill>
                          <a:latin typeface="Cambria Math" panose="02040503050406030204" pitchFamily="18" charset="0"/>
                        </a:rPr>
                        <m:t>×</m:t>
                      </m:r>
                      <m:f>
                        <m:fPr>
                          <m:ctrlPr>
                            <a:rPr lang="zh-CN" altLang="en-US" b="1" i="1" baseline="0">
                              <a:solidFill>
                                <a:srgbClr val="000000"/>
                              </a:solidFill>
                              <a:latin typeface="Cambria Math" panose="02040503050406030204" pitchFamily="18" charset="0"/>
                            </a:rPr>
                          </m:ctrlPr>
                        </m:fPr>
                        <m:num>
                          <m:r>
                            <a:rPr lang="zh-CN" altLang="en-US" b="1" i="1" baseline="0">
                              <a:solidFill>
                                <a:srgbClr val="000000"/>
                              </a:solidFill>
                              <a:latin typeface="Cambria Math" panose="02040503050406030204" pitchFamily="18" charset="0"/>
                            </a:rPr>
                            <m:t>𝟏</m:t>
                          </m:r>
                        </m:num>
                        <m:den>
                          <m:r>
                            <a:rPr lang="zh-CN" altLang="en-US" b="1" i="1" baseline="0">
                              <a:solidFill>
                                <a:srgbClr val="000000"/>
                              </a:solidFill>
                              <a:latin typeface="Cambria Math" panose="02040503050406030204" pitchFamily="18" charset="0"/>
                            </a:rPr>
                            <m:t>𝒓</m:t>
                          </m:r>
                        </m:den>
                      </m:f>
                    </m:oMath>
                  </m:oMathPara>
                </a14:m>
                <a:endParaRPr lang="zh-CN" altLang="en-US" b="1" dirty="0">
                  <a:cs typeface="Times New Roman" panose="02020603050405020304" pitchFamily="18" charset="0"/>
                </a:endParaRPr>
              </a:p>
            </p:txBody>
          </p:sp>
        </mc:Choice>
        <mc:Fallback>
          <p:sp>
            <p:nvSpPr>
              <p:cNvPr id="7" name="矩形 6">
                <a:extLst>
                  <a:ext uri="{FF2B5EF4-FFF2-40B4-BE49-F238E27FC236}">
                    <a16:creationId xmlns:a16="http://schemas.microsoft.com/office/drawing/2014/main" id="{AC996B69-5F94-4470-8890-E4866FF64C21}"/>
                  </a:ext>
                </a:extLst>
              </p:cNvPr>
              <p:cNvSpPr>
                <a:spLocks noRot="1" noChangeAspect="1" noMove="1" noResize="1" noEditPoints="1" noAdjustHandles="1" noChangeArrowheads="1" noChangeShapeType="1" noTextEdit="1"/>
              </p:cNvSpPr>
              <p:nvPr/>
            </p:nvSpPr>
            <p:spPr>
              <a:xfrm>
                <a:off x="4397891" y="2075627"/>
                <a:ext cx="6477000" cy="668516"/>
              </a:xfrm>
              <a:prstGeom prst="rect">
                <a:avLst/>
              </a:prstGeom>
              <a:blipFill>
                <a:blip r:embed="rId3"/>
                <a:stretch>
                  <a:fillRect/>
                </a:stretch>
              </a:blipFill>
            </p:spPr>
            <p:txBody>
              <a:bodyPr/>
              <a:lstStyle/>
              <a:p>
                <a:r>
                  <a:rPr lang="zh-CN" altLang="en-US">
                    <a:noFill/>
                  </a:rPr>
                  <a:t> </a:t>
                </a:r>
              </a:p>
            </p:txBody>
          </p:sp>
        </mc:Fallback>
      </mc:AlternateContent>
      <p:sp>
        <p:nvSpPr>
          <p:cNvPr id="13" name="标题 1">
            <a:extLst>
              <a:ext uri="{FF2B5EF4-FFF2-40B4-BE49-F238E27FC236}">
                <a16:creationId xmlns:a16="http://schemas.microsoft.com/office/drawing/2014/main" id="{AE5E1A44-0C5E-48B0-AE5A-571BB7CBAB71}"/>
              </a:ext>
            </a:extLst>
          </p:cNvPr>
          <p:cNvSpPr txBox="1">
            <a:spLocks/>
          </p:cNvSpPr>
          <p:nvPr/>
        </p:nvSpPr>
        <p:spPr bwMode="auto">
          <a:xfrm>
            <a:off x="1752600" y="3039958"/>
            <a:ext cx="6162855" cy="4125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当 </a:t>
            </a:r>
            <a:r>
              <a:rPr lang="en-US" altLang="zh-CN" sz="2000" b="1" i="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 </a:t>
            </a:r>
            <a:r>
              <a:rPr lang="en-US" altLang="zh-CN" sz="2000" b="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1</a:t>
            </a:r>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NRZ </a:t>
            </a:r>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或双极性编码），</a:t>
            </a:r>
            <a:r>
              <a:rPr lang="en-US" altLang="zh-CN" sz="2000" b="1" i="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b="1" kern="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1/2 </a:t>
            </a:r>
            <a:r>
              <a:rPr lang="zh-CN" altLang="en-US" sz="1800" kern="0" baseline="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9FFEB72-D05C-49F3-949B-A15C190C3C6F}"/>
                  </a:ext>
                </a:extLst>
              </p:cNvPr>
              <p:cNvSpPr/>
              <p:nvPr/>
            </p:nvSpPr>
            <p:spPr>
              <a:xfrm>
                <a:off x="4576289" y="3886610"/>
                <a:ext cx="3039422" cy="4966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b="1" i="1" baseline="0">
                              <a:solidFill>
                                <a:srgbClr val="FF0000"/>
                              </a:solidFill>
                              <a:latin typeface="Cambria Math" panose="02040503050406030204" pitchFamily="18" charset="0"/>
                            </a:rPr>
                          </m:ctrlPr>
                        </m:sSubPr>
                        <m:e>
                          <m:r>
                            <a:rPr lang="zh-CN" altLang="en-US" sz="2400" b="1" i="1" baseline="0">
                              <a:solidFill>
                                <a:srgbClr val="FF0000"/>
                              </a:solidFill>
                              <a:latin typeface="Cambria Math" panose="02040503050406030204" pitchFamily="18" charset="0"/>
                            </a:rPr>
                            <m:t>𝑩</m:t>
                          </m:r>
                        </m:e>
                        <m:sub>
                          <m:r>
                            <a:rPr lang="en-US" altLang="zh-CN" sz="2400" b="1" i="1" baseline="0">
                              <a:solidFill>
                                <a:srgbClr val="FF0000"/>
                              </a:solidFill>
                              <a:latin typeface="Cambria Math" panose="02040503050406030204" pitchFamily="18" charset="0"/>
                            </a:rPr>
                            <m:t>𝒎𝒊𝒏</m:t>
                          </m:r>
                        </m:sub>
                      </m:sSub>
                      <m:r>
                        <a:rPr lang="zh-CN" altLang="en-US" sz="2400" b="1" i="1" baseline="0">
                          <a:solidFill>
                            <a:srgbClr val="FF0000"/>
                          </a:solidFill>
                          <a:latin typeface="Cambria Math" panose="02040503050406030204" pitchFamily="18" charset="0"/>
                        </a:rPr>
                        <m:t>=</m:t>
                      </m:r>
                      <m:sSub>
                        <m:sSubPr>
                          <m:ctrlPr>
                            <a:rPr lang="zh-CN" altLang="en-US" sz="2400" b="1" i="1" baseline="0">
                              <a:solidFill>
                                <a:srgbClr val="FF0000"/>
                              </a:solidFill>
                              <a:latin typeface="Cambria Math" panose="02040503050406030204" pitchFamily="18" charset="0"/>
                            </a:rPr>
                          </m:ctrlPr>
                        </m:sSubPr>
                        <m:e>
                          <m:r>
                            <a:rPr lang="zh-CN" altLang="en-US" sz="2400" b="1" i="1" baseline="0">
                              <a:solidFill>
                                <a:srgbClr val="FF0000"/>
                              </a:solidFill>
                              <a:latin typeface="Cambria Math" panose="02040503050406030204" pitchFamily="18" charset="0"/>
                            </a:rPr>
                            <m:t>𝒏</m:t>
                          </m:r>
                        </m:e>
                        <m:sub>
                          <m:r>
                            <a:rPr lang="zh-CN" altLang="en-US" sz="2400" b="1" i="1" baseline="0">
                              <a:solidFill>
                                <a:srgbClr val="FF0000"/>
                              </a:solidFill>
                              <a:latin typeface="Cambria Math" panose="02040503050406030204" pitchFamily="18" charset="0"/>
                            </a:rPr>
                            <m:t>𝒃</m:t>
                          </m:r>
                        </m:sub>
                      </m:sSub>
                      <m:r>
                        <a:rPr lang="zh-CN" altLang="en-US" sz="2400" b="1" i="1" baseline="0">
                          <a:solidFill>
                            <a:srgbClr val="FF0000"/>
                          </a:solidFill>
                          <a:latin typeface="Cambria Math" panose="02040503050406030204" pitchFamily="18" charset="0"/>
                        </a:rPr>
                        <m:t>×</m:t>
                      </m:r>
                      <m:sSub>
                        <m:sSubPr>
                          <m:ctrlPr>
                            <a:rPr lang="zh-CN" altLang="en-US" sz="2400" b="1" i="1" baseline="0">
                              <a:solidFill>
                                <a:srgbClr val="FF0000"/>
                              </a:solidFill>
                              <a:latin typeface="Cambria Math" panose="02040503050406030204" pitchFamily="18" charset="0"/>
                            </a:rPr>
                          </m:ctrlPr>
                        </m:sSubPr>
                        <m:e>
                          <m:r>
                            <a:rPr lang="zh-CN" altLang="en-US" sz="2400" b="1" i="1" baseline="0">
                              <a:solidFill>
                                <a:srgbClr val="FF0000"/>
                              </a:solidFill>
                              <a:latin typeface="Cambria Math" panose="02040503050406030204" pitchFamily="18" charset="0"/>
                            </a:rPr>
                            <m:t>𝑩</m:t>
                          </m:r>
                        </m:e>
                        <m:sub>
                          <m:r>
                            <a:rPr lang="en-US" altLang="zh-CN" sz="2400" b="1" i="1" baseline="0">
                              <a:solidFill>
                                <a:srgbClr val="FF0000"/>
                              </a:solidFill>
                              <a:latin typeface="Cambria Math" panose="02040503050406030204" pitchFamily="18" charset="0"/>
                            </a:rPr>
                            <m:t>𝒂𝒏𝒂𝒍𝒐𝒈</m:t>
                          </m:r>
                        </m:sub>
                      </m:sSub>
                    </m:oMath>
                  </m:oMathPara>
                </a14:m>
                <a:endParaRPr lang="zh-CN" altLang="en-US" sz="2400" b="1" dirty="0">
                  <a:solidFill>
                    <a:srgbClr val="FF0000"/>
                  </a:solidFill>
                </a:endParaRPr>
              </a:p>
            </p:txBody>
          </p:sp>
        </mc:Choice>
        <mc:Fallback xmlns="">
          <p:sp>
            <p:nvSpPr>
              <p:cNvPr id="8" name="矩形 7">
                <a:extLst>
                  <a:ext uri="{FF2B5EF4-FFF2-40B4-BE49-F238E27FC236}">
                    <a16:creationId xmlns:a16="http://schemas.microsoft.com/office/drawing/2014/main" id="{79FFEB72-D05C-49F3-949B-A15C190C3C6F}"/>
                  </a:ext>
                </a:extLst>
              </p:cNvPr>
              <p:cNvSpPr>
                <a:spLocks noRot="1" noChangeAspect="1" noMove="1" noResize="1" noEditPoints="1" noAdjustHandles="1" noChangeArrowheads="1" noChangeShapeType="1" noTextEdit="1"/>
              </p:cNvSpPr>
              <p:nvPr/>
            </p:nvSpPr>
            <p:spPr>
              <a:xfrm>
                <a:off x="4576289" y="3886610"/>
                <a:ext cx="3039422" cy="496611"/>
              </a:xfrm>
              <a:prstGeom prst="rect">
                <a:avLst/>
              </a:prstGeom>
              <a:blipFill>
                <a:blip r:embed="rId4"/>
                <a:stretch>
                  <a:fillRect b="-1234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6741"/>
                                        </p:tgtEl>
                                        <p:attrNameLst>
                                          <p:attrName>style.visibility</p:attrName>
                                        </p:attrNameLst>
                                      </p:cBhvr>
                                      <p:to>
                                        <p:strVal val="visible"/>
                                      </p:to>
                                    </p:set>
                                    <p:animEffect transition="in" filter="wipe(left)">
                                      <p:cBhvr>
                                        <p:cTn id="25" dur="500"/>
                                        <p:tgtEl>
                                          <p:spTgt spid="116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p:bldP spid="10" grpId="0"/>
      <p:bldP spid="7" grpId="0"/>
      <p:bldP spid="13"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Text Box 4">
            <a:extLst>
              <a:ext uri="{FF2B5EF4-FFF2-40B4-BE49-F238E27FC236}">
                <a16:creationId xmlns:a16="http://schemas.microsoft.com/office/drawing/2014/main" id="{19F9BDAF-7B27-4187-A806-B9DF730E3FAA}"/>
              </a:ext>
            </a:extLst>
          </p:cNvPr>
          <p:cNvSpPr txBox="1">
            <a:spLocks noChangeArrowheads="1"/>
          </p:cNvSpPr>
          <p:nvPr/>
        </p:nvSpPr>
        <p:spPr bwMode="auto">
          <a:xfrm>
            <a:off x="5181600" y="5943601"/>
            <a:ext cx="20857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4.27  </a:t>
            </a:r>
            <a:r>
              <a:rPr lang="en-US" altLang="zh-CN" sz="1400" b="1" baseline="0" dirty="0">
                <a:ea typeface="宋体" panose="02010600030101010101" pitchFamily="2" charset="-122"/>
              </a:rPr>
              <a:t>PCM</a:t>
            </a:r>
            <a:r>
              <a:rPr lang="zh-CN" altLang="en-US" sz="1400" b="1" baseline="0" dirty="0">
                <a:ea typeface="宋体" panose="02010600030101010101" pitchFamily="2" charset="-122"/>
              </a:rPr>
              <a:t>解码器</a:t>
            </a:r>
            <a:endParaRPr lang="en-US" altLang="zh-CN" sz="1400" b="1" baseline="0" dirty="0">
              <a:ea typeface="宋体" panose="02010600030101010101" pitchFamily="2" charset="-122"/>
            </a:endParaRPr>
          </a:p>
        </p:txBody>
      </p:sp>
      <p:pic>
        <p:nvPicPr>
          <p:cNvPr id="117764" name="Picture 6">
            <a:extLst>
              <a:ext uri="{FF2B5EF4-FFF2-40B4-BE49-F238E27FC236}">
                <a16:creationId xmlns:a16="http://schemas.microsoft.com/office/drawing/2014/main" id="{09747941-EB25-41DE-B9B0-A5F37F139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4482" y="2680077"/>
            <a:ext cx="7457144" cy="299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8D83F60F-8B51-49AA-A1E9-82685A7C309C}"/>
              </a:ext>
            </a:extLst>
          </p:cNvPr>
          <p:cNvSpPr/>
          <p:nvPr/>
        </p:nvSpPr>
        <p:spPr>
          <a:xfrm>
            <a:off x="1380554" y="933098"/>
            <a:ext cx="9525000" cy="1495409"/>
          </a:xfrm>
          <a:prstGeom prst="rect">
            <a:avLst/>
          </a:prstGeom>
        </p:spPr>
        <p:txBody>
          <a:bodyPr wrap="square">
            <a:spAutoFit/>
          </a:bodyPr>
          <a:lstStyle/>
          <a:p>
            <a:pPr algn="just">
              <a:lnSpc>
                <a:spcPct val="200000"/>
              </a:lnSpc>
            </a:pPr>
            <a:r>
              <a:rPr lang="en-US" altLang="zh-CN" sz="1600" baseline="0" dirty="0">
                <a:solidFill>
                  <a:srgbClr val="4D4D4D"/>
                </a:solidFill>
                <a:latin typeface="微软雅黑" panose="020B0503020204020204" pitchFamily="34" charset="-122"/>
                <a:ea typeface="微软雅黑" panose="020B0503020204020204" pitchFamily="34" charset="-122"/>
              </a:rPr>
              <a:t>PCM </a:t>
            </a:r>
            <a:r>
              <a:rPr lang="zh-CN" altLang="en-US" sz="1600" baseline="0" dirty="0">
                <a:solidFill>
                  <a:srgbClr val="4D4D4D"/>
                </a:solidFill>
                <a:latin typeface="微软雅黑" panose="020B0503020204020204" pitchFamily="34" charset="-122"/>
                <a:ea typeface="微软雅黑" panose="020B0503020204020204" pitchFamily="34" charset="-122"/>
              </a:rPr>
              <a:t>的解码和重构过程涉及从 </a:t>
            </a:r>
            <a:r>
              <a:rPr lang="en-US" altLang="zh-CN" sz="1600" baseline="0" dirty="0">
                <a:solidFill>
                  <a:srgbClr val="4D4D4D"/>
                </a:solidFill>
                <a:latin typeface="微软雅黑" panose="020B0503020204020204" pitchFamily="34" charset="-122"/>
                <a:ea typeface="微软雅黑" panose="020B0503020204020204" pitchFamily="34" charset="-122"/>
              </a:rPr>
              <a:t>PCM </a:t>
            </a:r>
            <a:r>
              <a:rPr lang="zh-CN" altLang="en-US" sz="1600" baseline="0" dirty="0">
                <a:solidFill>
                  <a:srgbClr val="4D4D4D"/>
                </a:solidFill>
                <a:latin typeface="微软雅黑" panose="020B0503020204020204" pitchFamily="34" charset="-122"/>
                <a:ea typeface="微软雅黑" panose="020B0503020204020204" pitchFamily="34" charset="-122"/>
              </a:rPr>
              <a:t>编码数据中读取样本，并将其转换为对应的数字值。然后利用解码算法还原样本的原始幅度值，通过重构滤波器的滤波和恢复放大器的放大，将解码后的数字信号转换回原始的模拟信号。</a:t>
            </a:r>
            <a:endParaRPr lang="zh-CN" altLang="en-US" sz="160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内容占位符 2">
            <a:extLst>
              <a:ext uri="{FF2B5EF4-FFF2-40B4-BE49-F238E27FC236}">
                <a16:creationId xmlns:a16="http://schemas.microsoft.com/office/drawing/2014/main" id="{6D786B1D-EC44-4878-A5BF-94FD706AC685}"/>
              </a:ext>
            </a:extLst>
          </p:cNvPr>
          <p:cNvSpPr>
            <a:spLocks noGrp="1"/>
          </p:cNvSpPr>
          <p:nvPr>
            <p:ph idx="1"/>
          </p:nvPr>
        </p:nvSpPr>
        <p:spPr bwMode="auto">
          <a:xfrm>
            <a:off x="1676400" y="1307690"/>
            <a:ext cx="8610600" cy="3687763"/>
          </a:xfrm>
        </p:spPr>
        <p:txBody>
          <a:bodyPr vert="horz" wrap="square" lIns="91440" tIns="45720" rIns="91440" bIns="45720" numCol="1" anchor="t" anchorCtr="0" compatLnSpc="1">
            <a:prstTxWarp prst="textNoShape">
              <a:avLst/>
            </a:prstTxWarp>
          </a:bodyPr>
          <a:lstStyle/>
          <a:p>
            <a:pPr marL="0" indent="0" algn="just">
              <a:lnSpc>
                <a:spcPct val="150000"/>
              </a:lnSpc>
              <a:buNone/>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通道的最大数据速率为</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defRPr/>
            </a:pPr>
            <a:r>
              <a:rPr lang="en-US" altLang="zh-CN" sz="2000" b="1" i="1"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baseline="-25000" dirty="0" err="1">
                <a:latin typeface="Times New Roman" panose="02020603050405020304" pitchFamily="18" charset="0"/>
                <a:ea typeface="宋体" panose="02010600030101010101" pitchFamily="2" charset="-122"/>
                <a:cs typeface="Times New Roman" panose="02020603050405020304" pitchFamily="18" charset="0"/>
              </a:rPr>
              <a:t>max</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2×</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×log</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L</a:t>
            </a:r>
          </a:p>
          <a:p>
            <a:pPr marL="0" indent="0" algn="just">
              <a:lnSpc>
                <a:spcPct val="150000"/>
              </a:lnSpc>
              <a:buNone/>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如果发送的数字信号有</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L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个电平，且每个电平表示一个信号元素，则有</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defRPr/>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log</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L</a:t>
            </a:r>
          </a:p>
          <a:p>
            <a:pPr marL="0" indent="0" algn="just">
              <a:lnSpc>
                <a:spcPct val="150000"/>
              </a:lnSpc>
              <a:buNone/>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而 </a:t>
            </a:r>
            <a:r>
              <a:rPr lang="en-US" altLang="zh-CN" sz="1800" b="1" dirty="0">
                <a:latin typeface="Times New Roman" panose="02020603050405020304" pitchFamily="18" charset="0"/>
                <a:ea typeface="微软雅黑" panose="020B0503020204020204" pitchFamily="34" charset="-122"/>
                <a:cs typeface="Times New Roman" panose="02020603050405020304" pitchFamily="18" charset="0"/>
              </a:rPr>
              <a:t>PCM </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的最大数据速率是</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50000"/>
              </a:lnSpc>
              <a:buNone/>
              <a:defRPr/>
            </a:pP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                                               N </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i="1" baseline="-25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2×</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×log</a:t>
            </a:r>
            <a:r>
              <a:rPr lang="en-US" altLang="zh-CN" sz="2000" b="1"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L</a:t>
            </a:r>
          </a:p>
          <a:p>
            <a:pPr marL="0" indent="0" algn="just">
              <a:lnSpc>
                <a:spcPct val="150000"/>
              </a:lnSpc>
              <a:buNone/>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如果数据速率和信号电平数一定，所需最小带宽为</a:t>
            </a:r>
          </a:p>
        </p:txBody>
      </p:sp>
      <p:sp>
        <p:nvSpPr>
          <p:cNvPr id="121860" name="灯片编号占位符 3">
            <a:extLst>
              <a:ext uri="{FF2B5EF4-FFF2-40B4-BE49-F238E27FC236}">
                <a16:creationId xmlns:a16="http://schemas.microsoft.com/office/drawing/2014/main" id="{666940D0-082C-445A-927E-0F40F34B222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C9F95EDE-0EFF-481D-96BB-AB20698A14AF}" type="slidenum">
              <a:rPr lang="en-US" altLang="zh-CN" baseline="0" smtClean="0">
                <a:solidFill>
                  <a:schemeClr val="bg2"/>
                </a:solidFill>
                <a:latin typeface="Arial" panose="020B0604020202020204" pitchFamily="34" charset="0"/>
              </a:rPr>
              <a:pPr/>
              <a:t>39</a:t>
            </a:fld>
            <a:endParaRPr lang="en-US" altLang="zh-CN" baseline="0">
              <a:solidFill>
                <a:schemeClr val="bg2"/>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21861" name="对象 8">
                <a:extLst>
                  <a:ext uri="{FF2B5EF4-FFF2-40B4-BE49-F238E27FC236}">
                    <a16:creationId xmlns:a16="http://schemas.microsoft.com/office/drawing/2014/main" id="{279A3B6D-5FF1-46CE-A63B-C1871229E209}"/>
                  </a:ext>
                </a:extLst>
              </p:cNvPr>
              <p:cNvSpPr txBox="1"/>
              <p:nvPr/>
            </p:nvSpPr>
            <p:spPr bwMode="auto">
              <a:xfrm>
                <a:off x="4495800" y="4995453"/>
                <a:ext cx="2798762" cy="9144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b="1" i="1" baseline="0">
                              <a:solidFill>
                                <a:srgbClr val="000000"/>
                              </a:solidFill>
                              <a:latin typeface="Cambria Math" panose="02040503050406030204" pitchFamily="18" charset="0"/>
                            </a:rPr>
                          </m:ctrlPr>
                        </m:sSubPr>
                        <m:e>
                          <m:r>
                            <a:rPr lang="zh-CN" altLang="en-US" b="1" i="1" baseline="0">
                              <a:solidFill>
                                <a:srgbClr val="000000"/>
                              </a:solidFill>
                              <a:latin typeface="Cambria Math" panose="02040503050406030204" pitchFamily="18" charset="0"/>
                            </a:rPr>
                            <m:t>𝑩</m:t>
                          </m:r>
                        </m:e>
                        <m:sub>
                          <m:r>
                            <a:rPr lang="en-US" altLang="zh-CN" b="1" i="1" baseline="0">
                              <a:solidFill>
                                <a:srgbClr val="000000"/>
                              </a:solidFill>
                              <a:latin typeface="Cambria Math" panose="02040503050406030204" pitchFamily="18" charset="0"/>
                            </a:rPr>
                            <m:t>𝒎𝒊𝒏</m:t>
                          </m:r>
                        </m:sub>
                      </m:sSub>
                      <m:r>
                        <a:rPr lang="zh-CN" altLang="en-US" b="1" i="1" baseline="0">
                          <a:solidFill>
                            <a:srgbClr val="000000"/>
                          </a:solidFill>
                          <a:latin typeface="Cambria Math" panose="02040503050406030204" pitchFamily="18" charset="0"/>
                        </a:rPr>
                        <m:t>=</m:t>
                      </m:r>
                      <m:f>
                        <m:fPr>
                          <m:ctrlPr>
                            <a:rPr lang="zh-CN" altLang="en-US" b="1" i="1" baseline="0">
                              <a:solidFill>
                                <a:srgbClr val="000000"/>
                              </a:solidFill>
                              <a:latin typeface="Cambria Math" panose="02040503050406030204" pitchFamily="18" charset="0"/>
                            </a:rPr>
                          </m:ctrlPr>
                        </m:fPr>
                        <m:num>
                          <m:r>
                            <a:rPr lang="zh-CN" altLang="en-US" b="1" i="1" baseline="0">
                              <a:solidFill>
                                <a:srgbClr val="000000"/>
                              </a:solidFill>
                              <a:latin typeface="Cambria Math" panose="02040503050406030204" pitchFamily="18" charset="0"/>
                            </a:rPr>
                            <m:t>𝑵</m:t>
                          </m:r>
                        </m:num>
                        <m:den>
                          <m:r>
                            <a:rPr lang="zh-CN" altLang="en-US" b="1" i="1" baseline="0">
                              <a:solidFill>
                                <a:srgbClr val="000000"/>
                              </a:solidFill>
                              <a:latin typeface="Cambria Math" panose="02040503050406030204" pitchFamily="18" charset="0"/>
                            </a:rPr>
                            <m:t>𝟐</m:t>
                          </m:r>
                          <m:r>
                            <a:rPr lang="zh-CN" altLang="en-US" b="1" i="1" baseline="0">
                              <a:solidFill>
                                <a:srgbClr val="000000"/>
                              </a:solidFill>
                              <a:latin typeface="Cambria Math" panose="02040503050406030204" pitchFamily="18" charset="0"/>
                            </a:rPr>
                            <m:t>×</m:t>
                          </m:r>
                          <m:func>
                            <m:funcPr>
                              <m:ctrlPr>
                                <a:rPr lang="zh-CN" altLang="en-US" b="1" i="1" baseline="0">
                                  <a:solidFill>
                                    <a:srgbClr val="000000"/>
                                  </a:solidFill>
                                  <a:latin typeface="Cambria Math" panose="02040503050406030204" pitchFamily="18" charset="0"/>
                                </a:rPr>
                              </m:ctrlPr>
                            </m:funcPr>
                            <m:fName>
                              <m:sSub>
                                <m:sSubPr>
                                  <m:ctrlPr>
                                    <a:rPr lang="zh-CN" altLang="en-US" b="1" i="1" baseline="0">
                                      <a:solidFill>
                                        <a:srgbClr val="000000"/>
                                      </a:solidFill>
                                      <a:latin typeface="Cambria Math" panose="02040503050406030204" pitchFamily="18" charset="0"/>
                                    </a:rPr>
                                  </m:ctrlPr>
                                </m:sSubPr>
                                <m:e>
                                  <m:r>
                                    <a:rPr lang="zh-CN" altLang="en-US" b="1" baseline="0">
                                      <a:solidFill>
                                        <a:srgbClr val="000000"/>
                                      </a:solidFill>
                                      <a:latin typeface="Cambria Math" panose="02040503050406030204" pitchFamily="18" charset="0"/>
                                    </a:rPr>
                                    <m:t>𝐥𝐨𝐠</m:t>
                                  </m:r>
                                </m:e>
                                <m:sub>
                                  <m:r>
                                    <a:rPr lang="zh-CN" altLang="en-US" b="1" i="1" baseline="0">
                                      <a:solidFill>
                                        <a:srgbClr val="000000"/>
                                      </a:solidFill>
                                      <a:latin typeface="Cambria Math" panose="02040503050406030204" pitchFamily="18" charset="0"/>
                                    </a:rPr>
                                    <m:t>𝟐</m:t>
                                  </m:r>
                                </m:sub>
                              </m:sSub>
                            </m:fName>
                            <m:e>
                              <m:r>
                                <a:rPr lang="zh-CN" altLang="en-US" b="1" i="1" baseline="0">
                                  <a:solidFill>
                                    <a:srgbClr val="000000"/>
                                  </a:solidFill>
                                  <a:latin typeface="Cambria Math" panose="02040503050406030204" pitchFamily="18" charset="0"/>
                                </a:rPr>
                                <m:t>𝑳</m:t>
                              </m:r>
                            </m:e>
                          </m:func>
                        </m:den>
                      </m:f>
                      <m:r>
                        <m:rPr>
                          <m:nor/>
                        </m:rPr>
                        <a:rPr lang="zh-CN" altLang="en-US" b="1" baseline="0">
                          <a:solidFill>
                            <a:srgbClr val="000000"/>
                          </a:solidFill>
                          <a:latin typeface="Cambria Math" panose="02040503050406030204" pitchFamily="18" charset="0"/>
                        </a:rPr>
                        <m:t>  </m:t>
                      </m:r>
                      <m:r>
                        <a:rPr lang="zh-CN" altLang="en-US" b="1" baseline="0">
                          <a:solidFill>
                            <a:srgbClr val="000000"/>
                          </a:solidFill>
                          <a:latin typeface="Cambria Math" panose="02040503050406030204" pitchFamily="18" charset="0"/>
                        </a:rPr>
                        <m:t>𝐇𝐳</m:t>
                      </m:r>
                    </m:oMath>
                  </m:oMathPara>
                </a14:m>
                <a:endParaRPr lang="zh-CN" altLang="en-US" b="1" baseline="0" dirty="0"/>
              </a:p>
            </p:txBody>
          </p:sp>
        </mc:Choice>
        <mc:Fallback xmlns="">
          <p:sp>
            <p:nvSpPr>
              <p:cNvPr id="121861" name="对象 8">
                <a:extLst>
                  <a:ext uri="{FF2B5EF4-FFF2-40B4-BE49-F238E27FC236}">
                    <a16:creationId xmlns:a16="http://schemas.microsoft.com/office/drawing/2014/main" id="{279A3B6D-5FF1-46CE-A63B-C1871229E209}"/>
                  </a:ext>
                </a:extLst>
              </p:cNvPr>
              <p:cNvSpPr txBox="1">
                <a:spLocks noRot="1" noChangeAspect="1" noMove="1" noResize="1" noEditPoints="1" noAdjustHandles="1" noChangeArrowheads="1" noChangeShapeType="1" noTextEdit="1"/>
              </p:cNvSpPr>
              <p:nvPr/>
            </p:nvSpPr>
            <p:spPr bwMode="auto">
              <a:xfrm>
                <a:off x="4495800" y="4995453"/>
                <a:ext cx="2798762" cy="914400"/>
              </a:xfrm>
              <a:prstGeom prst="rect">
                <a:avLst/>
              </a:prstGeom>
              <a:blipFill>
                <a:blip r:embed="rId2"/>
                <a:stretch>
                  <a:fillRect/>
                </a:stretch>
              </a:blipFill>
              <a:ln>
                <a:noFill/>
              </a:ln>
              <a:extLst/>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Text Box 4">
            <a:extLst>
              <a:ext uri="{FF2B5EF4-FFF2-40B4-BE49-F238E27FC236}">
                <a16:creationId xmlns:a16="http://schemas.microsoft.com/office/drawing/2014/main" id="{8DEB67CE-C694-4FBF-B27E-53BE19D96DCF}"/>
              </a:ext>
            </a:extLst>
          </p:cNvPr>
          <p:cNvSpPr txBox="1">
            <a:spLocks noChangeArrowheads="1"/>
          </p:cNvSpPr>
          <p:nvPr/>
        </p:nvSpPr>
        <p:spPr bwMode="auto">
          <a:xfrm>
            <a:off x="5257186" y="5915413"/>
            <a:ext cx="19062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4.28  </a:t>
            </a:r>
            <a:r>
              <a:rPr lang="en-US" altLang="zh-CN" sz="1400" b="1" baseline="0" dirty="0">
                <a:ea typeface="宋体" panose="02010600030101010101" pitchFamily="2" charset="-122"/>
              </a:rPr>
              <a:t>Delta</a:t>
            </a:r>
            <a:r>
              <a:rPr lang="zh-CN" altLang="en-US" sz="1400" b="1" baseline="0" dirty="0">
                <a:ea typeface="宋体" panose="02010600030101010101" pitchFamily="2" charset="-122"/>
              </a:rPr>
              <a:t>调制</a:t>
            </a:r>
            <a:endParaRPr lang="en-US" altLang="zh-CN" sz="1400" b="1" baseline="0" dirty="0">
              <a:ea typeface="宋体" panose="02010600030101010101" pitchFamily="2" charset="-122"/>
            </a:endParaRPr>
          </a:p>
        </p:txBody>
      </p:sp>
      <p:pic>
        <p:nvPicPr>
          <p:cNvPr id="122884" name="Picture 6">
            <a:extLst>
              <a:ext uri="{FF2B5EF4-FFF2-40B4-BE49-F238E27FC236}">
                <a16:creationId xmlns:a16="http://schemas.microsoft.com/office/drawing/2014/main" id="{B6CEF14A-0721-417B-AC9C-9785462B2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312" y="3094895"/>
            <a:ext cx="6315977" cy="241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85" name="标题 1">
            <a:extLst>
              <a:ext uri="{FF2B5EF4-FFF2-40B4-BE49-F238E27FC236}">
                <a16:creationId xmlns:a16="http://schemas.microsoft.com/office/drawing/2014/main" id="{82DBF8EE-F599-4C2E-8D56-C37C7971B55C}"/>
              </a:ext>
            </a:extLst>
          </p:cNvPr>
          <p:cNvSpPr txBox="1">
            <a:spLocks/>
          </p:cNvSpPr>
          <p:nvPr/>
        </p:nvSpPr>
        <p:spPr bwMode="auto">
          <a:xfrm>
            <a:off x="4038600" y="82748"/>
            <a:ext cx="3276600" cy="5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Delta</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调制</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DM</a:t>
            </a:r>
            <a:endPar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8AE345A5-4F5E-4B30-A6F5-D461BC3D012A}"/>
              </a:ext>
            </a:extLst>
          </p:cNvPr>
          <p:cNvSpPr/>
          <p:nvPr/>
        </p:nvSpPr>
        <p:spPr>
          <a:xfrm>
            <a:off x="1257300" y="1116496"/>
            <a:ext cx="9677400" cy="1526187"/>
          </a:xfrm>
          <a:prstGeom prst="rect">
            <a:avLst/>
          </a:prstGeom>
        </p:spPr>
        <p:txBody>
          <a:bodyPr wrap="square">
            <a:spAutoFit/>
          </a:bodyPr>
          <a:lstStyle/>
          <a:p>
            <a:pPr algn="just">
              <a:lnSpc>
                <a:spcPct val="150000"/>
              </a:lnSpc>
            </a:pPr>
            <a:r>
              <a:rPr lang="en-US" altLang="zh-CN" sz="1600" baseline="0" dirty="0">
                <a:solidFill>
                  <a:srgbClr val="333333"/>
                </a:solidFill>
                <a:latin typeface="微软雅黑" panose="020B0503020204020204" pitchFamily="34" charset="-122"/>
                <a:ea typeface="微软雅黑" panose="020B0503020204020204" pitchFamily="34" charset="-122"/>
              </a:rPr>
              <a:t>Delta</a:t>
            </a:r>
            <a:r>
              <a:rPr lang="zh-CN" altLang="en-US" sz="1600" baseline="0" dirty="0">
                <a:solidFill>
                  <a:srgbClr val="333333"/>
                </a:solidFill>
                <a:latin typeface="微软雅黑" panose="020B0503020204020204" pitchFamily="34" charset="-122"/>
                <a:ea typeface="微软雅黑" panose="020B0503020204020204" pitchFamily="34" charset="-122"/>
              </a:rPr>
              <a:t>调制是一种将编码信息转换成 </a:t>
            </a:r>
            <a:r>
              <a:rPr lang="en-US" altLang="zh-CN" sz="1600" baseline="0" dirty="0">
                <a:solidFill>
                  <a:srgbClr val="333333"/>
                </a:solidFill>
                <a:latin typeface="微软雅黑" panose="020B0503020204020204" pitchFamily="34" charset="-122"/>
                <a:ea typeface="微软雅黑" panose="020B0503020204020204" pitchFamily="34" charset="-122"/>
              </a:rPr>
              <a:t>1 </a:t>
            </a:r>
            <a:r>
              <a:rPr lang="zh-CN" altLang="en-US" sz="1600" baseline="0" dirty="0">
                <a:solidFill>
                  <a:srgbClr val="333333"/>
                </a:solidFill>
                <a:latin typeface="微软雅黑" panose="020B0503020204020204" pitchFamily="34" charset="-122"/>
                <a:ea typeface="微软雅黑" panose="020B0503020204020204" pitchFamily="34" charset="-122"/>
              </a:rPr>
              <a:t>个二进制位流的调制方法，只需要 </a:t>
            </a:r>
            <a:r>
              <a:rPr lang="en-US" altLang="zh-CN" sz="1600" baseline="0" dirty="0">
                <a:solidFill>
                  <a:srgbClr val="333333"/>
                </a:solidFill>
                <a:latin typeface="微软雅黑" panose="020B0503020204020204" pitchFamily="34" charset="-122"/>
                <a:ea typeface="微软雅黑" panose="020B0503020204020204" pitchFamily="34" charset="-122"/>
              </a:rPr>
              <a:t>1 </a:t>
            </a:r>
            <a:r>
              <a:rPr lang="zh-CN" altLang="en-US" sz="1600" baseline="0" dirty="0">
                <a:solidFill>
                  <a:srgbClr val="333333"/>
                </a:solidFill>
                <a:latin typeface="微软雅黑" panose="020B0503020204020204" pitchFamily="34" charset="-122"/>
                <a:ea typeface="微软雅黑" panose="020B0503020204020204" pitchFamily="34" charset="-122"/>
              </a:rPr>
              <a:t>位将 </a:t>
            </a:r>
            <a:r>
              <a:rPr lang="en-US" altLang="zh-CN" sz="1600" baseline="0" dirty="0">
                <a:solidFill>
                  <a:srgbClr val="333333"/>
                </a:solidFill>
                <a:latin typeface="微软雅黑" panose="020B0503020204020204" pitchFamily="34" charset="-122"/>
                <a:ea typeface="微软雅黑" panose="020B0503020204020204" pitchFamily="34" charset="-122"/>
              </a:rPr>
              <a:t>1 </a:t>
            </a:r>
            <a:r>
              <a:rPr lang="zh-CN" altLang="en-US" sz="1600" baseline="0" dirty="0">
                <a:solidFill>
                  <a:srgbClr val="333333"/>
                </a:solidFill>
                <a:latin typeface="微软雅黑" panose="020B0503020204020204" pitchFamily="34" charset="-122"/>
                <a:ea typeface="微软雅黑" panose="020B0503020204020204" pitchFamily="34" charset="-122"/>
              </a:rPr>
              <a:t>个电平进行编码。工作原理是将当前采样值与之前采样值进行比较，两者的差值决定传输值的增量或减量。如果极性差为正，则 </a:t>
            </a:r>
            <a:r>
              <a:rPr lang="en-US" altLang="zh-CN" sz="1600" baseline="0" dirty="0">
                <a:solidFill>
                  <a:srgbClr val="333333"/>
                </a:solidFill>
                <a:latin typeface="微软雅黑" panose="020B0503020204020204" pitchFamily="34" charset="-122"/>
                <a:ea typeface="微软雅黑" panose="020B0503020204020204" pitchFamily="34" charset="-122"/>
              </a:rPr>
              <a:t>Δ </a:t>
            </a:r>
            <a:r>
              <a:rPr lang="zh-CN" altLang="en-US" sz="1600" baseline="0" dirty="0">
                <a:solidFill>
                  <a:srgbClr val="333333"/>
                </a:solidFill>
                <a:latin typeface="微软雅黑" panose="020B0503020204020204" pitchFamily="34" charset="-122"/>
                <a:ea typeface="微软雅黑" panose="020B0503020204020204" pitchFamily="34" charset="-122"/>
              </a:rPr>
              <a:t>表示的信号步长增加 </a:t>
            </a:r>
            <a:r>
              <a:rPr lang="en-US" altLang="zh-CN" sz="1600" baseline="0" dirty="0">
                <a:solidFill>
                  <a:srgbClr val="333333"/>
                </a:solidFill>
                <a:latin typeface="微软雅黑" panose="020B0503020204020204" pitchFamily="34" charset="-122"/>
                <a:ea typeface="微软雅黑" panose="020B0503020204020204" pitchFamily="34" charset="-122"/>
              </a:rPr>
              <a:t>1</a:t>
            </a:r>
            <a:r>
              <a:rPr lang="zh-CN" altLang="en-US" sz="1600" baseline="0" dirty="0">
                <a:solidFill>
                  <a:srgbClr val="333333"/>
                </a:solidFill>
                <a:latin typeface="微软雅黑" panose="020B0503020204020204" pitchFamily="34" charset="-122"/>
                <a:ea typeface="微软雅黑" panose="020B0503020204020204" pitchFamily="34" charset="-122"/>
              </a:rPr>
              <a:t>，则传输 </a:t>
            </a:r>
            <a:r>
              <a:rPr lang="en-US" altLang="zh-CN" sz="1600" baseline="0" dirty="0">
                <a:solidFill>
                  <a:srgbClr val="333333"/>
                </a:solidFill>
                <a:latin typeface="微软雅黑" panose="020B0503020204020204" pitchFamily="34" charset="-122"/>
                <a:ea typeface="微软雅黑" panose="020B0503020204020204" pitchFamily="34" charset="-122"/>
              </a:rPr>
              <a:t>1</a:t>
            </a:r>
            <a:r>
              <a:rPr lang="zh-CN" altLang="en-US" sz="1600" baseline="0" dirty="0">
                <a:solidFill>
                  <a:srgbClr val="333333"/>
                </a:solidFill>
                <a:latin typeface="微软雅黑" panose="020B0503020204020204" pitchFamily="34" charset="-122"/>
                <a:ea typeface="微软雅黑" panose="020B0503020204020204" pitchFamily="34" charset="-122"/>
              </a:rPr>
              <a:t>。而当极性差为负时，则信号的 </a:t>
            </a:r>
            <a:r>
              <a:rPr lang="en-US" altLang="zh-CN" sz="1600" baseline="0" dirty="0">
                <a:solidFill>
                  <a:srgbClr val="333333"/>
                </a:solidFill>
                <a:latin typeface="微软雅黑" panose="020B0503020204020204" pitchFamily="34" charset="-122"/>
                <a:ea typeface="微软雅黑" panose="020B0503020204020204" pitchFamily="34" charset="-122"/>
              </a:rPr>
              <a:t>Δ </a:t>
            </a:r>
            <a:r>
              <a:rPr lang="zh-CN" altLang="en-US" sz="1600" baseline="0" dirty="0">
                <a:solidFill>
                  <a:srgbClr val="333333"/>
                </a:solidFill>
                <a:latin typeface="微软雅黑" panose="020B0503020204020204" pitchFamily="34" charset="-122"/>
                <a:ea typeface="微软雅黑" panose="020B0503020204020204" pitchFamily="34" charset="-122"/>
              </a:rPr>
              <a:t>即步长减小，则传递 </a:t>
            </a:r>
            <a:r>
              <a:rPr lang="en-US" altLang="zh-CN" sz="1600" baseline="0" dirty="0">
                <a:solidFill>
                  <a:srgbClr val="333333"/>
                </a:solidFill>
                <a:latin typeface="微软雅黑" panose="020B0503020204020204" pitchFamily="34" charset="-122"/>
                <a:ea typeface="微软雅黑" panose="020B0503020204020204" pitchFamily="34" charset="-122"/>
              </a:rPr>
              <a:t>0</a:t>
            </a:r>
            <a:r>
              <a:rPr lang="zh-CN" altLang="en-US" sz="1600" baseline="0" dirty="0">
                <a:solidFill>
                  <a:srgbClr val="333333"/>
                </a:solidFill>
                <a:latin typeface="微软雅黑" panose="020B0503020204020204" pitchFamily="34" charset="-122"/>
                <a:ea typeface="微软雅黑" panose="020B0503020204020204" pitchFamily="34" charset="-122"/>
              </a:rPr>
              <a:t>。因此，每个样本只允许传输一个二进制位。</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Text Box 4">
            <a:extLst>
              <a:ext uri="{FF2B5EF4-FFF2-40B4-BE49-F238E27FC236}">
                <a16:creationId xmlns:a16="http://schemas.microsoft.com/office/drawing/2014/main" id="{A2819A32-B388-49FE-A5FC-2988074BE7E5}"/>
              </a:ext>
            </a:extLst>
          </p:cNvPr>
          <p:cNvSpPr txBox="1">
            <a:spLocks noChangeArrowheads="1"/>
          </p:cNvSpPr>
          <p:nvPr/>
        </p:nvSpPr>
        <p:spPr bwMode="auto">
          <a:xfrm>
            <a:off x="5105400" y="3146570"/>
            <a:ext cx="22653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4.29  </a:t>
            </a:r>
            <a:r>
              <a:rPr lang="en-US" altLang="zh-CN" sz="1400" b="1" baseline="0" dirty="0">
                <a:ea typeface="宋体" panose="02010600030101010101" pitchFamily="2" charset="-122"/>
              </a:rPr>
              <a:t>Delta</a:t>
            </a:r>
            <a:r>
              <a:rPr lang="zh-CN" altLang="en-US" sz="1400" b="1" baseline="0" dirty="0">
                <a:ea typeface="宋体" panose="02010600030101010101" pitchFamily="2" charset="-122"/>
              </a:rPr>
              <a:t>调制实现</a:t>
            </a:r>
            <a:endParaRPr lang="en-US" altLang="zh-CN" sz="1400" b="1" baseline="0" dirty="0">
              <a:ea typeface="宋体" panose="02010600030101010101" pitchFamily="2" charset="-122"/>
            </a:endParaRPr>
          </a:p>
        </p:txBody>
      </p:sp>
      <p:pic>
        <p:nvPicPr>
          <p:cNvPr id="124935" name="Picture 6">
            <a:extLst>
              <a:ext uri="{FF2B5EF4-FFF2-40B4-BE49-F238E27FC236}">
                <a16:creationId xmlns:a16="http://schemas.microsoft.com/office/drawing/2014/main" id="{88DA14E7-8CEC-439D-8B04-D6C7B7C680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066" y="1111031"/>
            <a:ext cx="6217868" cy="1877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a:extLst>
              <a:ext uri="{FF2B5EF4-FFF2-40B4-BE49-F238E27FC236}">
                <a16:creationId xmlns:a16="http://schemas.microsoft.com/office/drawing/2014/main" id="{EF52828E-A7BB-41BB-896C-29B8122564C5}"/>
              </a:ext>
            </a:extLst>
          </p:cNvPr>
          <p:cNvSpPr txBox="1">
            <a:spLocks noChangeArrowheads="1"/>
          </p:cNvSpPr>
          <p:nvPr/>
        </p:nvSpPr>
        <p:spPr bwMode="auto">
          <a:xfrm>
            <a:off x="5105400" y="6246912"/>
            <a:ext cx="22653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4.30  </a:t>
            </a:r>
            <a:r>
              <a:rPr lang="en-US" altLang="zh-CN" sz="1400" b="1" baseline="0" dirty="0">
                <a:ea typeface="宋体" panose="02010600030101010101" pitchFamily="2" charset="-122"/>
              </a:rPr>
              <a:t>Delta</a:t>
            </a:r>
            <a:r>
              <a:rPr lang="zh-CN" altLang="en-US" sz="1400" b="1" baseline="0" dirty="0">
                <a:ea typeface="宋体" panose="02010600030101010101" pitchFamily="2" charset="-122"/>
              </a:rPr>
              <a:t>解调实现</a:t>
            </a:r>
            <a:endParaRPr lang="en-US" altLang="zh-CN" sz="1400" b="1" baseline="0" dirty="0">
              <a:ea typeface="宋体" panose="02010600030101010101" pitchFamily="2" charset="-122"/>
            </a:endParaRPr>
          </a:p>
        </p:txBody>
      </p:sp>
      <p:pic>
        <p:nvPicPr>
          <p:cNvPr id="6" name="Picture 6">
            <a:extLst>
              <a:ext uri="{FF2B5EF4-FFF2-40B4-BE49-F238E27FC236}">
                <a16:creationId xmlns:a16="http://schemas.microsoft.com/office/drawing/2014/main" id="{198D0AD5-0BBD-4C1B-80AD-DCD803F1BA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8532" y="3920239"/>
            <a:ext cx="6217868" cy="204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6056B7AA-B732-4E3A-80EF-9472D6B63121}"/>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859139" name="Text Box 3">
            <a:extLst>
              <a:ext uri="{FF2B5EF4-FFF2-40B4-BE49-F238E27FC236}">
                <a16:creationId xmlns:a16="http://schemas.microsoft.com/office/drawing/2014/main" id="{BEFFA030-E01E-40B0-B8A9-5EFE9A1FCD42}"/>
              </a:ext>
            </a:extLst>
          </p:cNvPr>
          <p:cNvSpPr txBox="1">
            <a:spLocks noChangeArrowheads="1"/>
          </p:cNvSpPr>
          <p:nvPr/>
        </p:nvSpPr>
        <p:spPr bwMode="auto">
          <a:xfrm>
            <a:off x="609600" y="279112"/>
            <a:ext cx="2815194" cy="584775"/>
          </a:xfrm>
          <a:prstGeom prst="rect">
            <a:avLst/>
          </a:prstGeom>
          <a:noFill/>
          <a:ln>
            <a:noFill/>
          </a:ln>
          <a:effectLst/>
        </p:spPr>
        <p:txBody>
          <a:bodyPr wrap="none">
            <a:spAutoFit/>
          </a:bodyPr>
          <a:lstStyle/>
          <a:p>
            <a:pPr>
              <a:defRPr/>
            </a:pPr>
            <a:r>
              <a:rPr lang="en-US" altLang="zh-CN" sz="3200" b="1" baseline="0" dirty="0">
                <a:latin typeface="微软雅黑" panose="020B0503020204020204" pitchFamily="34" charset="-122"/>
                <a:ea typeface="微软雅黑" panose="020B0503020204020204" pitchFamily="34" charset="-122"/>
              </a:rPr>
              <a:t>4.3   </a:t>
            </a:r>
            <a:r>
              <a:rPr lang="zh-CN" altLang="en-US" sz="3200" b="1" baseline="0" dirty="0">
                <a:latin typeface="微软雅黑" panose="020B0503020204020204" pitchFamily="34" charset="-122"/>
                <a:ea typeface="微软雅黑" panose="020B0503020204020204" pitchFamily="34" charset="-122"/>
              </a:rPr>
              <a:t>传输模式</a:t>
            </a:r>
            <a:endParaRPr lang="en-US" altLang="zh-CN" sz="3200" b="1" baseline="0" dirty="0">
              <a:latin typeface="微软雅黑" panose="020B0503020204020204" pitchFamily="34" charset="-122"/>
              <a:ea typeface="微软雅黑" panose="020B0503020204020204" pitchFamily="34" charset="-122"/>
            </a:endParaRPr>
          </a:p>
        </p:txBody>
      </p:sp>
      <p:sp>
        <p:nvSpPr>
          <p:cNvPr id="129029" name="Text Box 4">
            <a:extLst>
              <a:ext uri="{FF2B5EF4-FFF2-40B4-BE49-F238E27FC236}">
                <a16:creationId xmlns:a16="http://schemas.microsoft.com/office/drawing/2014/main" id="{B1BA24BB-B0C2-4862-82EB-27875458023C}"/>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129030" name="Rectangle 5">
            <a:extLst>
              <a:ext uri="{FF2B5EF4-FFF2-40B4-BE49-F238E27FC236}">
                <a16:creationId xmlns:a16="http://schemas.microsoft.com/office/drawing/2014/main" id="{4A4F78C4-35F2-4007-BAEE-C9367D390FEA}"/>
              </a:ext>
            </a:extLst>
          </p:cNvPr>
          <p:cNvSpPr>
            <a:spLocks noChangeArrowheads="1"/>
          </p:cNvSpPr>
          <p:nvPr/>
        </p:nvSpPr>
        <p:spPr bwMode="auto">
          <a:xfrm>
            <a:off x="1219200" y="1388878"/>
            <a:ext cx="9829800" cy="1670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eaLnBrk="1" hangingPunct="1">
              <a:lnSpc>
                <a:spcPct val="200000"/>
              </a:lnSpc>
            </a:pPr>
            <a:r>
              <a:rPr lang="zh-CN" altLang="en-US" sz="1800" baseline="0" dirty="0">
                <a:latin typeface="微软雅黑" panose="020B0503020204020204" pitchFamily="34" charset="-122"/>
                <a:ea typeface="微软雅黑" panose="020B0503020204020204" pitchFamily="34" charset="-122"/>
              </a:rPr>
              <a:t>通过链路传输二进制数据可以采用并行模式或串行模式。在并行模式中，每个时钟脉冲发送多位。在串行模式中，每个时钟脉冲发送 </a:t>
            </a:r>
            <a:r>
              <a:rPr lang="en-US" altLang="zh-CN" sz="1800" baseline="0" dirty="0">
                <a:latin typeface="微软雅黑" panose="020B0503020204020204" pitchFamily="34" charset="-122"/>
                <a:ea typeface="微软雅黑" panose="020B0503020204020204" pitchFamily="34" charset="-122"/>
              </a:rPr>
              <a:t>1 </a:t>
            </a:r>
            <a:r>
              <a:rPr lang="zh-CN" altLang="en-US" sz="1800" baseline="0" dirty="0">
                <a:latin typeface="微软雅黑" panose="020B0503020204020204" pitchFamily="34" charset="-122"/>
                <a:ea typeface="微软雅黑" panose="020B0503020204020204" pitchFamily="34" charset="-122"/>
              </a:rPr>
              <a:t>位。并行传输只有一种方式，串行传输则包括三类：异步</a:t>
            </a:r>
            <a:r>
              <a:rPr lang="en-US" altLang="zh-CN" sz="1800" baseline="0" dirty="0">
                <a:latin typeface="微软雅黑" panose="020B0503020204020204" pitchFamily="34" charset="-122"/>
                <a:ea typeface="微软雅黑" panose="020B0503020204020204" pitchFamily="34" charset="-122"/>
              </a:rPr>
              <a:t>(asynchronous)</a:t>
            </a:r>
            <a:r>
              <a:rPr lang="zh-CN" altLang="en-US" sz="1800" baseline="0" dirty="0">
                <a:latin typeface="微软雅黑" panose="020B0503020204020204" pitchFamily="34" charset="-122"/>
                <a:ea typeface="微软雅黑" panose="020B0503020204020204" pitchFamily="34" charset="-122"/>
              </a:rPr>
              <a:t>、同步 </a:t>
            </a:r>
            <a:r>
              <a:rPr lang="en-US" altLang="zh-CN" sz="1800" baseline="0" dirty="0">
                <a:latin typeface="微软雅黑" panose="020B0503020204020204" pitchFamily="34" charset="-122"/>
                <a:ea typeface="微软雅黑" panose="020B0503020204020204" pitchFamily="34" charset="-122"/>
              </a:rPr>
              <a:t>(synchronous) </a:t>
            </a:r>
            <a:r>
              <a:rPr lang="zh-CN" altLang="en-US" sz="1800" baseline="0" dirty="0">
                <a:latin typeface="微软雅黑" panose="020B0503020204020204" pitchFamily="34" charset="-122"/>
                <a:ea typeface="微软雅黑" panose="020B0503020204020204" pitchFamily="34" charset="-122"/>
              </a:rPr>
              <a:t>和等时 </a:t>
            </a:r>
            <a:r>
              <a:rPr lang="en-US" altLang="zh-CN" sz="1800" baseline="0" dirty="0">
                <a:latin typeface="微软雅黑" panose="020B0503020204020204" pitchFamily="34" charset="-122"/>
                <a:ea typeface="微软雅黑" panose="020B0503020204020204" pitchFamily="34" charset="-122"/>
              </a:rPr>
              <a:t>(</a:t>
            </a:r>
            <a:r>
              <a:rPr lang="en-US" altLang="zh-CN" sz="1800" baseline="0" dirty="0" err="1">
                <a:latin typeface="微软雅黑" panose="020B0503020204020204" pitchFamily="34" charset="-122"/>
                <a:ea typeface="微软雅黑" panose="020B0503020204020204" pitchFamily="34" charset="-122"/>
              </a:rPr>
              <a:t>isynchronous</a:t>
            </a:r>
            <a:r>
              <a:rPr lang="en-US" altLang="zh-CN" sz="1800" baseline="0" dirty="0">
                <a:latin typeface="微软雅黑" panose="020B0503020204020204" pitchFamily="34" charset="-122"/>
                <a:ea typeface="微软雅黑" panose="020B0503020204020204" pitchFamily="34" charset="-122"/>
              </a:rPr>
              <a:t>)</a:t>
            </a:r>
            <a:r>
              <a:rPr lang="zh-CN" altLang="en-US" sz="1800" baseline="0" dirty="0">
                <a:latin typeface="微软雅黑" panose="020B0503020204020204" pitchFamily="34" charset="-122"/>
                <a:ea typeface="微软雅黑" panose="020B0503020204020204" pitchFamily="34" charset="-122"/>
              </a:rPr>
              <a:t>。</a:t>
            </a:r>
            <a:endParaRPr lang="en-US" altLang="zh-CN" sz="1800" baseline="0" dirty="0">
              <a:latin typeface="微软雅黑" panose="020B0503020204020204" pitchFamily="34" charset="-122"/>
              <a:ea typeface="微软雅黑" panose="020B0503020204020204" pitchFamily="34" charset="-122"/>
            </a:endParaRPr>
          </a:p>
        </p:txBody>
      </p:sp>
      <p:sp>
        <p:nvSpPr>
          <p:cNvPr id="10" name="Text Box 4">
            <a:extLst>
              <a:ext uri="{FF2B5EF4-FFF2-40B4-BE49-F238E27FC236}">
                <a16:creationId xmlns:a16="http://schemas.microsoft.com/office/drawing/2014/main" id="{A0B89297-9E09-425D-85C5-02ABC4448F1C}"/>
              </a:ext>
            </a:extLst>
          </p:cNvPr>
          <p:cNvSpPr txBox="1">
            <a:spLocks noChangeArrowheads="1"/>
          </p:cNvSpPr>
          <p:nvPr/>
        </p:nvSpPr>
        <p:spPr bwMode="auto">
          <a:xfrm>
            <a:off x="4950816" y="6093024"/>
            <a:ext cx="239514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4.31  </a:t>
            </a:r>
            <a:r>
              <a:rPr lang="zh-CN" altLang="en-US" sz="1400" b="1" baseline="0" dirty="0">
                <a:ea typeface="宋体" panose="02010600030101010101" pitchFamily="2" charset="-122"/>
              </a:rPr>
              <a:t>数据传输和模式</a:t>
            </a:r>
            <a:endParaRPr lang="en-US" altLang="zh-CN" sz="1400" b="1" baseline="0" dirty="0">
              <a:ea typeface="宋体" panose="02010600030101010101" pitchFamily="2" charset="-122"/>
            </a:endParaRPr>
          </a:p>
        </p:txBody>
      </p:sp>
      <p:pic>
        <p:nvPicPr>
          <p:cNvPr id="11" name="Picture 6">
            <a:extLst>
              <a:ext uri="{FF2B5EF4-FFF2-40B4-BE49-F238E27FC236}">
                <a16:creationId xmlns:a16="http://schemas.microsoft.com/office/drawing/2014/main" id="{40B399E8-C233-43E4-A8DC-121EC37F6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799" y="3429000"/>
            <a:ext cx="6353175" cy="2311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Text Box 4">
            <a:extLst>
              <a:ext uri="{FF2B5EF4-FFF2-40B4-BE49-F238E27FC236}">
                <a16:creationId xmlns:a16="http://schemas.microsoft.com/office/drawing/2014/main" id="{FE940B5F-4F73-462F-8288-5B68993FC96F}"/>
              </a:ext>
            </a:extLst>
          </p:cNvPr>
          <p:cNvSpPr txBox="1">
            <a:spLocks noChangeArrowheads="1"/>
          </p:cNvSpPr>
          <p:nvPr/>
        </p:nvSpPr>
        <p:spPr bwMode="auto">
          <a:xfrm>
            <a:off x="5283620" y="5867401"/>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4.32  </a:t>
            </a:r>
            <a:r>
              <a:rPr lang="zh-CN" altLang="en-US" sz="1400" b="1" baseline="0" dirty="0">
                <a:ea typeface="宋体" panose="02010600030101010101" pitchFamily="2" charset="-122"/>
              </a:rPr>
              <a:t>并行传输</a:t>
            </a:r>
            <a:endParaRPr lang="en-US" altLang="zh-CN" sz="1400" b="1" baseline="0" dirty="0">
              <a:ea typeface="宋体" panose="02010600030101010101" pitchFamily="2" charset="-122"/>
            </a:endParaRPr>
          </a:p>
        </p:txBody>
      </p:sp>
      <p:pic>
        <p:nvPicPr>
          <p:cNvPr id="133124" name="Picture 6">
            <a:extLst>
              <a:ext uri="{FF2B5EF4-FFF2-40B4-BE49-F238E27FC236}">
                <a16:creationId xmlns:a16="http://schemas.microsoft.com/office/drawing/2014/main" id="{58CA8FA3-607D-46AB-BA7A-1094D827A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1" y="2477019"/>
            <a:ext cx="5108575" cy="297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25" name="标题 1">
            <a:extLst>
              <a:ext uri="{FF2B5EF4-FFF2-40B4-BE49-F238E27FC236}">
                <a16:creationId xmlns:a16="http://schemas.microsoft.com/office/drawing/2014/main" id="{AAEB240F-E742-469B-B21E-67FC351EBFBC}"/>
              </a:ext>
            </a:extLst>
          </p:cNvPr>
          <p:cNvSpPr txBox="1">
            <a:spLocks/>
          </p:cNvSpPr>
          <p:nvPr/>
        </p:nvSpPr>
        <p:spPr bwMode="auto">
          <a:xfrm>
            <a:off x="4038600" y="73222"/>
            <a:ext cx="2286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并行传输</a:t>
            </a:r>
          </a:p>
        </p:txBody>
      </p:sp>
      <p:sp>
        <p:nvSpPr>
          <p:cNvPr id="10" name="Rectangle 11">
            <a:extLst>
              <a:ext uri="{FF2B5EF4-FFF2-40B4-BE49-F238E27FC236}">
                <a16:creationId xmlns:a16="http://schemas.microsoft.com/office/drawing/2014/main" id="{004F2882-7F9B-44EB-A724-515562DDA38F}"/>
              </a:ext>
            </a:extLst>
          </p:cNvPr>
          <p:cNvSpPr>
            <a:spLocks noChangeArrowheads="1"/>
          </p:cNvSpPr>
          <p:nvPr/>
        </p:nvSpPr>
        <p:spPr bwMode="auto">
          <a:xfrm>
            <a:off x="1447800" y="1270844"/>
            <a:ext cx="9104671" cy="562590"/>
          </a:xfrm>
          <a:prstGeom prst="rect">
            <a:avLst/>
          </a:prstGeom>
          <a:noFill/>
          <a:ln>
            <a:noFill/>
          </a:ln>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nSpc>
                <a:spcPct val="200000"/>
              </a:lnSpc>
              <a:buClr>
                <a:srgbClr val="FF0000"/>
              </a:buClr>
            </a:pP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并行传输每次使用 </a:t>
            </a:r>
            <a:r>
              <a:rPr lang="en-US" altLang="zh-CN" sz="1800" b="1" i="1" baseline="0" dirty="0">
                <a:ea typeface="微软雅黑" panose="020B0503020204020204" pitchFamily="34" charset="-122"/>
                <a:cs typeface="Times New Roman" panose="02020603050405020304" pitchFamily="18" charset="0"/>
              </a:rPr>
              <a:t>n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条线路传送 </a:t>
            </a:r>
            <a:r>
              <a:rPr lang="en-US" altLang="zh-CN" sz="1800" b="1" i="1" baseline="0" dirty="0">
                <a:ea typeface="微软雅黑" panose="020B0503020204020204" pitchFamily="34" charset="-122"/>
                <a:cs typeface="Times New Roman" panose="02020603050405020304" pitchFamily="18" charset="0"/>
              </a:rPr>
              <a:t>n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位，优点是速度高，缺点是成本高，需要 </a:t>
            </a:r>
            <a:r>
              <a:rPr lang="en-US" altLang="zh-CN" sz="1800" b="1" i="1" baseline="0" dirty="0">
                <a:ea typeface="微软雅黑" panose="020B0503020204020204" pitchFamily="34" charset="-122"/>
                <a:cs typeface="Times New Roman" panose="02020603050405020304" pitchFamily="18" charset="0"/>
              </a:rPr>
              <a:t>n </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条线路。</a:t>
            </a:r>
            <a:endPar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3" name="Text Box 4">
            <a:extLst>
              <a:ext uri="{FF2B5EF4-FFF2-40B4-BE49-F238E27FC236}">
                <a16:creationId xmlns:a16="http://schemas.microsoft.com/office/drawing/2014/main" id="{77250105-B026-4DF8-89F4-1C0B5BEFFCF4}"/>
              </a:ext>
            </a:extLst>
          </p:cNvPr>
          <p:cNvSpPr txBox="1">
            <a:spLocks noChangeArrowheads="1"/>
          </p:cNvSpPr>
          <p:nvPr/>
        </p:nvSpPr>
        <p:spPr bwMode="auto">
          <a:xfrm>
            <a:off x="5196307" y="5809375"/>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4.33  </a:t>
            </a:r>
            <a:r>
              <a:rPr lang="zh-CN" altLang="en-US" sz="1400" b="1" baseline="0" dirty="0">
                <a:ea typeface="宋体" panose="02010600030101010101" pitchFamily="2" charset="-122"/>
              </a:rPr>
              <a:t>串行传输</a:t>
            </a:r>
            <a:endParaRPr lang="en-US" altLang="zh-CN" sz="1400" b="1" i="1" baseline="0" dirty="0">
              <a:ea typeface="宋体" panose="02010600030101010101" pitchFamily="2" charset="-122"/>
            </a:endParaRPr>
          </a:p>
        </p:txBody>
      </p:sp>
      <p:pic>
        <p:nvPicPr>
          <p:cNvPr id="135175" name="Picture 6">
            <a:extLst>
              <a:ext uri="{FF2B5EF4-FFF2-40B4-BE49-F238E27FC236}">
                <a16:creationId xmlns:a16="http://schemas.microsoft.com/office/drawing/2014/main" id="{6AD9EE15-A836-4B9C-8AB3-5FA5B091A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5496" y="2549422"/>
            <a:ext cx="5638159"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1">
            <a:extLst>
              <a:ext uri="{FF2B5EF4-FFF2-40B4-BE49-F238E27FC236}">
                <a16:creationId xmlns:a16="http://schemas.microsoft.com/office/drawing/2014/main" id="{56235ECE-B4DB-47EB-AD34-325702105E40}"/>
              </a:ext>
            </a:extLst>
          </p:cNvPr>
          <p:cNvSpPr>
            <a:spLocks noChangeArrowheads="1"/>
          </p:cNvSpPr>
          <p:nvPr/>
        </p:nvSpPr>
        <p:spPr bwMode="auto">
          <a:xfrm>
            <a:off x="1295400" y="1068288"/>
            <a:ext cx="10058400" cy="11167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gn="just">
              <a:lnSpc>
                <a:spcPct val="200000"/>
              </a:lnSpc>
              <a:buClr>
                <a:srgbClr val="FF0000"/>
              </a:buClr>
            </a:pP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串行传输中，位是依次传输的，两个通信设备之间只需要一条通道。其优点是只要一条通信信道，成本只有并行的 </a:t>
            </a:r>
            <a:r>
              <a:rPr lang="en-US" altLang="zh-CN" sz="1800" b="1" baseline="0" dirty="0">
                <a:ea typeface="微软雅黑" panose="020B0503020204020204" pitchFamily="34" charset="-122"/>
                <a:cs typeface="Times New Roman" panose="02020603050405020304" pitchFamily="18" charset="0"/>
              </a:rPr>
              <a:t>1</a:t>
            </a:r>
            <a:r>
              <a:rPr lang="en-US" altLang="zh-CN" sz="1800" b="1" i="1" baseline="0" dirty="0">
                <a:ea typeface="微软雅黑" panose="020B0503020204020204" pitchFamily="34" charset="-122"/>
                <a:cs typeface="Times New Roman" panose="02020603050405020304" pitchFamily="18" charset="0"/>
              </a:rPr>
              <a:t>/n</a:t>
            </a:r>
            <a:r>
              <a:rPr lang="zh-CN" altLang="en-US" sz="1800" baseline="0" dirty="0">
                <a:latin typeface="微软雅黑" panose="020B0503020204020204" pitchFamily="34" charset="-122"/>
                <a:ea typeface="微软雅黑" panose="020B0503020204020204" pitchFamily="34" charset="-122"/>
                <a:cs typeface="Times New Roman" panose="02020603050405020304" pitchFamily="18" charset="0"/>
              </a:rPr>
              <a:t>，缺点是速度低。</a:t>
            </a:r>
            <a:endParaRPr lang="en-US" altLang="zh-CN" sz="1800" baseline="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标题 1">
            <a:extLst>
              <a:ext uri="{FF2B5EF4-FFF2-40B4-BE49-F238E27FC236}">
                <a16:creationId xmlns:a16="http://schemas.microsoft.com/office/drawing/2014/main" id="{59DC1C1A-EDC1-4B06-964A-52F6F49455D2}"/>
              </a:ext>
            </a:extLst>
          </p:cNvPr>
          <p:cNvSpPr txBox="1">
            <a:spLocks/>
          </p:cNvSpPr>
          <p:nvPr/>
        </p:nvSpPr>
        <p:spPr bwMode="auto">
          <a:xfrm>
            <a:off x="4038600" y="110246"/>
            <a:ext cx="22860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串行传输</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9">
            <a:extLst>
              <a:ext uri="{FF2B5EF4-FFF2-40B4-BE49-F238E27FC236}">
                <a16:creationId xmlns:a16="http://schemas.microsoft.com/office/drawing/2014/main" id="{234C3BA5-1411-429C-9149-56AF428F46BD}"/>
              </a:ext>
            </a:extLst>
          </p:cNvPr>
          <p:cNvSpPr>
            <a:spLocks noChangeArrowheads="1"/>
          </p:cNvSpPr>
          <p:nvPr/>
        </p:nvSpPr>
        <p:spPr bwMode="auto">
          <a:xfrm>
            <a:off x="1181097" y="980415"/>
            <a:ext cx="9829799" cy="1495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marL="0" indent="0" algn="just">
              <a:lnSpc>
                <a:spcPct val="200000"/>
              </a:lnSpc>
              <a:buClr>
                <a:srgbClr val="FF0000"/>
              </a:buClr>
            </a:pPr>
            <a:r>
              <a:rPr lang="zh-CN" altLang="en-US" sz="1600" baseline="0" dirty="0">
                <a:latin typeface="微软雅黑" panose="020B0503020204020204" pitchFamily="34" charset="-122"/>
                <a:ea typeface="微软雅黑" panose="020B0503020204020204" pitchFamily="34" charset="-122"/>
              </a:rPr>
              <a:t>在异步传输中信号的时序并不重要，信息的接收和转换通过约定的模式进行，即将位流组成字节作为一个单位进行传输。为了使接收方知道什么时候消息到达，增加起始位“</a:t>
            </a:r>
            <a:r>
              <a:rPr lang="en-US" altLang="zh-CN" sz="1600" baseline="0" dirty="0">
                <a:latin typeface="微软雅黑" panose="020B0503020204020204" pitchFamily="34" charset="-122"/>
                <a:ea typeface="微软雅黑" panose="020B0503020204020204" pitchFamily="34" charset="-122"/>
              </a:rPr>
              <a:t>0</a:t>
            </a:r>
            <a:r>
              <a:rPr lang="zh-CN" altLang="en-US" sz="1600" baseline="0" dirty="0">
                <a:latin typeface="微软雅黑" panose="020B0503020204020204" pitchFamily="34" charset="-122"/>
                <a:ea typeface="微软雅黑" panose="020B0503020204020204" pitchFamily="34" charset="-122"/>
              </a:rPr>
              <a:t>”和终止位“</a:t>
            </a:r>
            <a:r>
              <a:rPr lang="en-US" altLang="zh-CN" sz="1600" baseline="0" dirty="0">
                <a:latin typeface="微软雅黑" panose="020B0503020204020204" pitchFamily="34" charset="-122"/>
                <a:ea typeface="微软雅黑" panose="020B0503020204020204" pitchFamily="34" charset="-122"/>
              </a:rPr>
              <a:t>1</a:t>
            </a:r>
            <a:r>
              <a:rPr lang="zh-CN" altLang="en-US" sz="1600" baseline="0" dirty="0">
                <a:latin typeface="微软雅黑" panose="020B0503020204020204" pitchFamily="34" charset="-122"/>
                <a:ea typeface="微软雅黑" panose="020B0503020204020204" pitchFamily="34" charset="-122"/>
              </a:rPr>
              <a:t>”。</a:t>
            </a:r>
            <a:r>
              <a:rPr lang="zh-CN" altLang="en-US" sz="1600" b="1" baseline="0" dirty="0">
                <a:latin typeface="微软雅黑" panose="020B0503020204020204" pitchFamily="34" charset="-122"/>
                <a:ea typeface="微软雅黑" panose="020B0503020204020204" pitchFamily="34" charset="-122"/>
              </a:rPr>
              <a:t>在异步传输中没有同步时钟</a:t>
            </a:r>
            <a:r>
              <a:rPr lang="zh-CN" altLang="en-US" sz="1600" baseline="0" dirty="0">
                <a:latin typeface="微软雅黑" panose="020B0503020204020204" pitchFamily="34" charset="-122"/>
                <a:ea typeface="微软雅黑" panose="020B0503020204020204" pitchFamily="34" charset="-122"/>
              </a:rPr>
              <a:t>，异步在这里是指在</a:t>
            </a:r>
            <a:r>
              <a:rPr lang="zh-CN" altLang="en-US" sz="1600" b="1" baseline="0" dirty="0">
                <a:solidFill>
                  <a:srgbClr val="FF0000"/>
                </a:solidFill>
                <a:latin typeface="微软雅黑" panose="020B0503020204020204" pitchFamily="34" charset="-122"/>
                <a:ea typeface="微软雅黑" panose="020B0503020204020204" pitchFamily="34" charset="-122"/>
              </a:rPr>
              <a:t>字节级上的异步</a:t>
            </a:r>
            <a:r>
              <a:rPr lang="zh-CN" altLang="en-US" sz="1600" baseline="0" dirty="0">
                <a:latin typeface="微软雅黑" panose="020B0503020204020204" pitchFamily="34" charset="-122"/>
                <a:ea typeface="微软雅黑" panose="020B0503020204020204" pitchFamily="34" charset="-122"/>
              </a:rPr>
              <a:t>，但是</a:t>
            </a:r>
            <a:r>
              <a:rPr lang="zh-CN" altLang="en-US" sz="1600" b="1" baseline="0" dirty="0">
                <a:solidFill>
                  <a:srgbClr val="FF0000"/>
                </a:solidFill>
                <a:latin typeface="微软雅黑" panose="020B0503020204020204" pitchFamily="34" charset="-122"/>
                <a:ea typeface="微软雅黑" panose="020B0503020204020204" pitchFamily="34" charset="-122"/>
              </a:rPr>
              <a:t>每位仍然要同步</a:t>
            </a:r>
            <a:r>
              <a:rPr lang="zh-CN" altLang="en-US" sz="1600" baseline="0" dirty="0">
                <a:latin typeface="微软雅黑" panose="020B0503020204020204" pitchFamily="34" charset="-122"/>
                <a:ea typeface="微软雅黑" panose="020B0503020204020204" pitchFamily="34" charset="-122"/>
              </a:rPr>
              <a:t>，它们的持续时间是相同的。</a:t>
            </a:r>
            <a:endParaRPr lang="en-US" altLang="zh-CN" sz="1600" baseline="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EF385186-D8A1-436E-9B0C-232C3A6A1537}"/>
              </a:ext>
            </a:extLst>
          </p:cNvPr>
          <p:cNvSpPr txBox="1">
            <a:spLocks/>
          </p:cNvSpPr>
          <p:nvPr/>
        </p:nvSpPr>
        <p:spPr bwMode="auto">
          <a:xfrm>
            <a:off x="4038600" y="73222"/>
            <a:ext cx="4419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串行传输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异步传输</a:t>
            </a:r>
          </a:p>
        </p:txBody>
      </p:sp>
      <p:sp>
        <p:nvSpPr>
          <p:cNvPr id="6" name="Text Box 4">
            <a:extLst>
              <a:ext uri="{FF2B5EF4-FFF2-40B4-BE49-F238E27FC236}">
                <a16:creationId xmlns:a16="http://schemas.microsoft.com/office/drawing/2014/main" id="{05603688-3A35-416A-9B10-A62B435F1D49}"/>
              </a:ext>
            </a:extLst>
          </p:cNvPr>
          <p:cNvSpPr txBox="1">
            <a:spLocks noChangeArrowheads="1"/>
          </p:cNvSpPr>
          <p:nvPr/>
        </p:nvSpPr>
        <p:spPr bwMode="auto">
          <a:xfrm>
            <a:off x="5167730" y="6123841"/>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4.34  </a:t>
            </a:r>
            <a:r>
              <a:rPr lang="zh-CN" altLang="en-US" sz="1400" b="1" baseline="0" dirty="0">
                <a:ea typeface="宋体" panose="02010600030101010101" pitchFamily="2" charset="-122"/>
              </a:rPr>
              <a:t>异步传输</a:t>
            </a:r>
            <a:endParaRPr lang="en-US" altLang="zh-CN" sz="1400" b="1" baseline="0" dirty="0">
              <a:ea typeface="宋体" panose="02010600030101010101" pitchFamily="2" charset="-122"/>
            </a:endParaRPr>
          </a:p>
        </p:txBody>
      </p:sp>
      <p:pic>
        <p:nvPicPr>
          <p:cNvPr id="7" name="Picture 6">
            <a:extLst>
              <a:ext uri="{FF2B5EF4-FFF2-40B4-BE49-F238E27FC236}">
                <a16:creationId xmlns:a16="http://schemas.microsoft.com/office/drawing/2014/main" id="{8FCE62AB-F3C5-4224-A501-887BB460D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094" y="2841740"/>
            <a:ext cx="7361804" cy="2873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7" name="Rectangle 11">
            <a:extLst>
              <a:ext uri="{FF2B5EF4-FFF2-40B4-BE49-F238E27FC236}">
                <a16:creationId xmlns:a16="http://schemas.microsoft.com/office/drawing/2014/main" id="{52E1BAB1-9DA3-45BE-B1A3-76E905416770}"/>
              </a:ext>
            </a:extLst>
          </p:cNvPr>
          <p:cNvSpPr>
            <a:spLocks noChangeArrowheads="1"/>
          </p:cNvSpPr>
          <p:nvPr/>
        </p:nvSpPr>
        <p:spPr bwMode="auto">
          <a:xfrm>
            <a:off x="1431533" y="954616"/>
            <a:ext cx="9448800" cy="1495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200000"/>
              </a:lnSpc>
              <a:buClr>
                <a:srgbClr val="FF0000"/>
              </a:buClr>
            </a:pPr>
            <a:r>
              <a:rPr lang="zh-CN" altLang="en-US" sz="1600" baseline="0" dirty="0">
                <a:latin typeface="微软雅黑" panose="020B0503020204020204" pitchFamily="34" charset="-122"/>
                <a:ea typeface="微软雅黑" panose="020B0503020204020204" pitchFamily="34" charset="-122"/>
              </a:rPr>
              <a:t>在同步传输模式中，不是独立地发送每个字节，而是组合成帧一起发送，由接收方负责将位流分解为字节。帧的开始部分包含一组同步字符，通知接收方帧已经到达，同时确保接收方的采样速度和比特的到达速度保持一致，使收发双方进入同步。帧的最后部分是帧的结束标记，表示这一帧的传输结束。</a:t>
            </a:r>
            <a:endParaRPr lang="en-US" altLang="zh-CN" sz="1600" baseline="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DC7021F3-2B85-4D6F-AFB6-EA34FC184684}"/>
              </a:ext>
            </a:extLst>
          </p:cNvPr>
          <p:cNvSpPr txBox="1">
            <a:spLocks/>
          </p:cNvSpPr>
          <p:nvPr/>
        </p:nvSpPr>
        <p:spPr bwMode="auto">
          <a:xfrm>
            <a:off x="4038600" y="73222"/>
            <a:ext cx="4419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串行传输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同步传输</a:t>
            </a:r>
          </a:p>
        </p:txBody>
      </p:sp>
      <p:sp>
        <p:nvSpPr>
          <p:cNvPr id="6" name="Text Box 4">
            <a:extLst>
              <a:ext uri="{FF2B5EF4-FFF2-40B4-BE49-F238E27FC236}">
                <a16:creationId xmlns:a16="http://schemas.microsoft.com/office/drawing/2014/main" id="{2A44E303-05FA-4349-909B-82BCD6F5AEE4}"/>
              </a:ext>
            </a:extLst>
          </p:cNvPr>
          <p:cNvSpPr txBox="1">
            <a:spLocks noChangeArrowheads="1"/>
          </p:cNvSpPr>
          <p:nvPr/>
        </p:nvSpPr>
        <p:spPr bwMode="auto">
          <a:xfrm>
            <a:off x="5486400" y="4928793"/>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1400" b="1" baseline="0" dirty="0">
                <a:solidFill>
                  <a:schemeClr val="folHlink"/>
                </a:solidFill>
                <a:ea typeface="宋体" panose="02010600030101010101" pitchFamily="2" charset="-122"/>
              </a:rPr>
              <a:t>Figure 4.35  </a:t>
            </a:r>
            <a:r>
              <a:rPr lang="zh-CN" altLang="en-US" sz="1400" b="1" baseline="0" dirty="0">
                <a:ea typeface="宋体" panose="02010600030101010101" pitchFamily="2" charset="-122"/>
              </a:rPr>
              <a:t>同步传输</a:t>
            </a:r>
            <a:endParaRPr lang="en-US" altLang="zh-CN" sz="1400" b="1" baseline="0" dirty="0">
              <a:ea typeface="宋体" panose="02010600030101010101" pitchFamily="2" charset="-122"/>
            </a:endParaRPr>
          </a:p>
        </p:txBody>
      </p:sp>
      <p:pic>
        <p:nvPicPr>
          <p:cNvPr id="7" name="Picture 7">
            <a:extLst>
              <a:ext uri="{FF2B5EF4-FFF2-40B4-BE49-F238E27FC236}">
                <a16:creationId xmlns:a16="http://schemas.microsoft.com/office/drawing/2014/main" id="{5C919C18-7225-4B6F-A12F-AE09C2FB0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9015" y="2799793"/>
            <a:ext cx="7333835" cy="190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a:extLst>
              <a:ext uri="{FF2B5EF4-FFF2-40B4-BE49-F238E27FC236}">
                <a16:creationId xmlns:a16="http://schemas.microsoft.com/office/drawing/2014/main" id="{EA9C412A-4BB1-4E72-8A6A-A7EAF31E0C53}"/>
              </a:ext>
            </a:extLst>
          </p:cNvPr>
          <p:cNvSpPr/>
          <p:nvPr/>
        </p:nvSpPr>
        <p:spPr>
          <a:xfrm>
            <a:off x="1524000" y="5464924"/>
            <a:ext cx="9448800" cy="562783"/>
          </a:xfrm>
          <a:prstGeom prst="rect">
            <a:avLst/>
          </a:prstGeom>
        </p:spPr>
        <p:txBody>
          <a:bodyPr wrap="square">
            <a:spAutoFit/>
          </a:bodyPr>
          <a:lstStyle/>
          <a:p>
            <a:pPr>
              <a:lnSpc>
                <a:spcPct val="200000"/>
              </a:lnSpc>
            </a:pPr>
            <a:r>
              <a:rPr lang="zh-CN" altLang="en-US" sz="1800" b="1" baseline="0" dirty="0">
                <a:latin typeface="微软雅黑" panose="020B0503020204020204" pitchFamily="34" charset="-122"/>
                <a:ea typeface="微软雅黑" panose="020B0503020204020204" pitchFamily="34" charset="-122"/>
              </a:rPr>
              <a:t>同步传输比异步传输速度快，异步传输常用于短距离通信，而同步传输则常用于高速通信。</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内容占位符 2">
            <a:extLst>
              <a:ext uri="{FF2B5EF4-FFF2-40B4-BE49-F238E27FC236}">
                <a16:creationId xmlns:a16="http://schemas.microsoft.com/office/drawing/2014/main" id="{6BFB036E-93D1-4B36-8AD8-78628C9E89A6}"/>
              </a:ext>
            </a:extLst>
          </p:cNvPr>
          <p:cNvSpPr>
            <a:spLocks noGrp="1"/>
          </p:cNvSpPr>
          <p:nvPr>
            <p:ph idx="1"/>
          </p:nvPr>
        </p:nvSpPr>
        <p:spPr bwMode="auto">
          <a:xfrm>
            <a:off x="1524000" y="1143000"/>
            <a:ext cx="9296400" cy="1318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150000"/>
              </a:lnSpc>
              <a:buNone/>
            </a:pPr>
            <a:r>
              <a:rPr lang="zh-CN" altLang="en-US" sz="1800" dirty="0">
                <a:solidFill>
                  <a:srgbClr val="060607"/>
                </a:solidFill>
                <a:latin typeface="微软雅黑" panose="020B0503020204020204" pitchFamily="34" charset="-122"/>
                <a:ea typeface="微软雅黑" panose="020B0503020204020204" pitchFamily="34" charset="-122"/>
              </a:rPr>
              <a:t>等时传输在需要保证数据传输的连续性和同步性的应用中非常重要，例如在音频和视频通信、实时游戏和某些类型的工业控制系统中</a:t>
            </a:r>
            <a:r>
              <a:rPr lang="zh-CN" altLang="en-US" sz="1800" dirty="0">
                <a:latin typeface="微软雅黑" panose="020B0503020204020204" pitchFamily="34" charset="-122"/>
                <a:ea typeface="微软雅黑" panose="020B0503020204020204" pitchFamily="34" charset="-122"/>
              </a:rPr>
              <a:t>，帧间的不等延迟是不可接受的，等时传输可保证数据以固定速率到达，整个流保持同步。</a:t>
            </a:r>
          </a:p>
        </p:txBody>
      </p:sp>
      <p:sp>
        <p:nvSpPr>
          <p:cNvPr id="145411" name="灯片编号占位符 3">
            <a:extLst>
              <a:ext uri="{FF2B5EF4-FFF2-40B4-BE49-F238E27FC236}">
                <a16:creationId xmlns:a16="http://schemas.microsoft.com/office/drawing/2014/main" id="{B47B0193-7007-4496-AA3B-A3BA31E4449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90B8E85-B181-4A9A-9694-D580B9CEA9CC}" type="slidenum">
              <a:rPr lang="en-US" altLang="zh-CN" baseline="0" smtClean="0">
                <a:solidFill>
                  <a:schemeClr val="bg2"/>
                </a:solidFill>
                <a:latin typeface="Arial" panose="020B0604020202020204" pitchFamily="34" charset="0"/>
              </a:rPr>
              <a:pPr/>
              <a:t>47</a:t>
            </a:fld>
            <a:endParaRPr lang="en-US" altLang="zh-CN" baseline="0">
              <a:solidFill>
                <a:schemeClr val="bg2"/>
              </a:solidFill>
              <a:latin typeface="Arial" panose="020B0604020202020204" pitchFamily="34" charset="0"/>
            </a:endParaRPr>
          </a:p>
        </p:txBody>
      </p:sp>
      <p:sp>
        <p:nvSpPr>
          <p:cNvPr id="5" name="标题 1">
            <a:extLst>
              <a:ext uri="{FF2B5EF4-FFF2-40B4-BE49-F238E27FC236}">
                <a16:creationId xmlns:a16="http://schemas.microsoft.com/office/drawing/2014/main" id="{3CF6052B-69D3-4551-A09B-BE9B92863F62}"/>
              </a:ext>
            </a:extLst>
          </p:cNvPr>
          <p:cNvSpPr txBox="1">
            <a:spLocks/>
          </p:cNvSpPr>
          <p:nvPr/>
        </p:nvSpPr>
        <p:spPr bwMode="auto">
          <a:xfrm>
            <a:off x="4038600" y="62464"/>
            <a:ext cx="44196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串行传输 </a:t>
            </a:r>
            <a:r>
              <a:rPr lang="en-US" altLang="zh-CN"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等时传输</a:t>
            </a:r>
          </a:p>
        </p:txBody>
      </p:sp>
      <p:sp>
        <p:nvSpPr>
          <p:cNvPr id="2" name="矩形 1">
            <a:extLst>
              <a:ext uri="{FF2B5EF4-FFF2-40B4-BE49-F238E27FC236}">
                <a16:creationId xmlns:a16="http://schemas.microsoft.com/office/drawing/2014/main" id="{99D64243-2D09-465D-AF07-99333831FD06}"/>
              </a:ext>
            </a:extLst>
          </p:cNvPr>
          <p:cNvSpPr/>
          <p:nvPr/>
        </p:nvSpPr>
        <p:spPr>
          <a:xfrm>
            <a:off x="1524000" y="2590800"/>
            <a:ext cx="9448800" cy="3332772"/>
          </a:xfrm>
          <a:prstGeom prst="rect">
            <a:avLst/>
          </a:prstGeom>
        </p:spPr>
        <p:txBody>
          <a:bodyPr wrap="square">
            <a:spAutoFit/>
          </a:bodyPr>
          <a:lstStyle/>
          <a:p>
            <a:pPr marL="285750" indent="-285750" algn="just">
              <a:lnSpc>
                <a:spcPct val="200000"/>
              </a:lnSpc>
              <a:buClr>
                <a:srgbClr val="FF0000"/>
              </a:buClr>
              <a:buSzPct val="80000"/>
              <a:buFont typeface="Wingdings" panose="05000000000000000000" pitchFamily="2" charset="2"/>
              <a:buChar char="u"/>
            </a:pPr>
            <a:r>
              <a:rPr lang="zh-CN" altLang="en-US" sz="1800" b="1" baseline="0" dirty="0">
                <a:solidFill>
                  <a:srgbClr val="060607"/>
                </a:solidFill>
                <a:latin typeface="微软雅黑" panose="020B0503020204020204" pitchFamily="34" charset="-122"/>
                <a:ea typeface="微软雅黑" panose="020B0503020204020204" pitchFamily="34" charset="-122"/>
              </a:rPr>
              <a:t>固定速率</a:t>
            </a:r>
            <a:r>
              <a:rPr lang="zh-CN" altLang="en-US" sz="1800" baseline="0" dirty="0">
                <a:solidFill>
                  <a:srgbClr val="060607"/>
                </a:solidFill>
                <a:latin typeface="微软雅黑" panose="020B0503020204020204" pitchFamily="34" charset="-122"/>
                <a:ea typeface="微软雅黑" panose="020B0503020204020204" pitchFamily="34" charset="-122"/>
              </a:rPr>
              <a:t>：数据以固定的速率传输，意味着每个数据位之间的时间间隔恒定。</a:t>
            </a:r>
          </a:p>
          <a:p>
            <a:pPr marL="285750" indent="-285750" algn="just">
              <a:lnSpc>
                <a:spcPct val="200000"/>
              </a:lnSpc>
              <a:buClr>
                <a:srgbClr val="FF0000"/>
              </a:buClr>
              <a:buSzPct val="80000"/>
              <a:buFont typeface="Wingdings" panose="05000000000000000000" pitchFamily="2" charset="2"/>
              <a:buChar char="u"/>
            </a:pPr>
            <a:r>
              <a:rPr lang="zh-CN" altLang="en-US" sz="1800" b="1" baseline="0" dirty="0">
                <a:solidFill>
                  <a:srgbClr val="060607"/>
                </a:solidFill>
                <a:latin typeface="微软雅黑" panose="020B0503020204020204" pitchFamily="34" charset="-122"/>
                <a:ea typeface="微软雅黑" panose="020B0503020204020204" pitchFamily="34" charset="-122"/>
              </a:rPr>
              <a:t>同步</a:t>
            </a:r>
            <a:r>
              <a:rPr lang="zh-CN" altLang="en-US" sz="1800" baseline="0" dirty="0">
                <a:solidFill>
                  <a:srgbClr val="060607"/>
                </a:solidFill>
                <a:latin typeface="微软雅黑" panose="020B0503020204020204" pitchFamily="34" charset="-122"/>
                <a:ea typeface="微软雅黑" panose="020B0503020204020204" pitchFamily="34" charset="-122"/>
              </a:rPr>
              <a:t>：发送方和接收方必须同步，以正确地识别数据位的开始和结束。</a:t>
            </a:r>
          </a:p>
          <a:p>
            <a:pPr marL="285750" indent="-285750" algn="just">
              <a:lnSpc>
                <a:spcPct val="200000"/>
              </a:lnSpc>
              <a:buClr>
                <a:srgbClr val="FF0000"/>
              </a:buClr>
              <a:buSzPct val="80000"/>
              <a:buFont typeface="Wingdings" panose="05000000000000000000" pitchFamily="2" charset="2"/>
              <a:buChar char="u"/>
            </a:pPr>
            <a:r>
              <a:rPr lang="zh-CN" altLang="en-US" sz="1800" b="1" baseline="0" dirty="0">
                <a:solidFill>
                  <a:srgbClr val="060607"/>
                </a:solidFill>
                <a:latin typeface="微软雅黑" panose="020B0503020204020204" pitchFamily="34" charset="-122"/>
                <a:ea typeface="微软雅黑" panose="020B0503020204020204" pitchFamily="34" charset="-122"/>
              </a:rPr>
              <a:t>时钟信号</a:t>
            </a:r>
            <a:r>
              <a:rPr lang="zh-CN" altLang="en-US" sz="1800" baseline="0" dirty="0">
                <a:solidFill>
                  <a:srgbClr val="060607"/>
                </a:solidFill>
                <a:latin typeface="微软雅黑" panose="020B0503020204020204" pitchFamily="34" charset="-122"/>
                <a:ea typeface="微软雅黑" panose="020B0503020204020204" pitchFamily="34" charset="-122"/>
              </a:rPr>
              <a:t>：通常需要时钟信号来同步发送方和接收方，确保数据位在正确的时间被发送和接收。</a:t>
            </a:r>
          </a:p>
          <a:p>
            <a:pPr marL="285750" indent="-285750" algn="just">
              <a:lnSpc>
                <a:spcPct val="200000"/>
              </a:lnSpc>
              <a:buClr>
                <a:srgbClr val="FF0000"/>
              </a:buClr>
              <a:buSzPct val="80000"/>
              <a:buFont typeface="Wingdings" panose="05000000000000000000" pitchFamily="2" charset="2"/>
              <a:buChar char="u"/>
            </a:pPr>
            <a:r>
              <a:rPr lang="zh-CN" altLang="en-US" sz="1800" b="1" baseline="0" dirty="0">
                <a:solidFill>
                  <a:srgbClr val="060607"/>
                </a:solidFill>
                <a:latin typeface="微软雅黑" panose="020B0503020204020204" pitchFamily="34" charset="-122"/>
                <a:ea typeface="微软雅黑" panose="020B0503020204020204" pitchFamily="34" charset="-122"/>
              </a:rPr>
              <a:t>带宽利用率</a:t>
            </a:r>
            <a:r>
              <a:rPr lang="zh-CN" altLang="en-US" sz="1800" baseline="0" dirty="0">
                <a:solidFill>
                  <a:srgbClr val="060607"/>
                </a:solidFill>
                <a:latin typeface="微软雅黑" panose="020B0503020204020204" pitchFamily="34" charset="-122"/>
                <a:ea typeface="微软雅黑" panose="020B0503020204020204" pitchFamily="34" charset="-122"/>
              </a:rPr>
              <a:t>：由于数据以固定速率传输，带宽的利用率可能不如变速传输（如异步传输）高效，后者可以根据数据的实际需要调整传输速率。</a:t>
            </a:r>
          </a:p>
        </p:txBody>
      </p:sp>
    </p:spTree>
  </p:cSld>
  <p:clrMapOvr>
    <a:masterClrMapping/>
  </p:clrMapOvr>
</p:sld>
</file>

<file path=ppt/theme/theme1.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lnDef>
    <a:txDef>
      <a:spPr>
        <a:noFill/>
      </a:spPr>
      <a:bodyPr wrap="square" rtlCol="0">
        <a:spAutoFit/>
      </a:bodyPr>
      <a:lstStyle>
        <a:defPPr algn="l">
          <a:defRPr sz="2400" b="0" baseline="0" dirty="0" smtClean="0">
            <a:latin typeface="宋体" panose="02010600030101010101" pitchFamily="2" charset="-122"/>
            <a:ea typeface="宋体" panose="02010600030101010101" pitchFamily="2" charset="-122"/>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9467</TotalTime>
  <Words>4307</Words>
  <Application>Microsoft Office PowerPoint</Application>
  <PresentationFormat>宽屏</PresentationFormat>
  <Paragraphs>257</Paragraphs>
  <Slides>47</Slides>
  <Notes>39</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7" baseType="lpstr">
      <vt:lpstr>McGrawHill-Italic</vt:lpstr>
      <vt:lpstr>宋体</vt:lpstr>
      <vt:lpstr>微软雅黑</vt:lpstr>
      <vt:lpstr>Arial</vt:lpstr>
      <vt:lpstr>Cambria Math</vt:lpstr>
      <vt:lpstr>Tahoma</vt:lpstr>
      <vt:lpstr>Times New Roman</vt:lpstr>
      <vt:lpstr>Wingdings</vt:lpstr>
      <vt:lpstr>1_Blends</vt:lpstr>
      <vt:lpstr>Equation</vt:lpstr>
      <vt:lpstr>PowerPoint 演示文稿</vt:lpstr>
      <vt:lpstr>PowerPoint 演示文稿</vt:lpstr>
      <vt:lpstr>PowerPoint 演示文稿</vt:lpstr>
      <vt:lpstr>PowerPoint 演示文稿</vt:lpstr>
      <vt:lpstr>PowerPoint 演示文稿</vt:lpstr>
      <vt:lpstr>PowerPoint 演示文稿</vt:lpstr>
      <vt:lpstr>编码需要解决的问题</vt:lpstr>
      <vt:lpstr>PowerPoint 演示文稿</vt:lpstr>
      <vt:lpstr>PowerPoint 演示文稿</vt:lpstr>
      <vt:lpstr>PowerPoint 演示文稿</vt:lpstr>
      <vt:lpstr>PowerPoint 演示文稿</vt:lpstr>
      <vt:lpstr>PowerPoint 演示文稿</vt:lpstr>
      <vt:lpstr>极性编码 —— 双相码 (biphase)</vt:lpstr>
      <vt:lpstr>PowerPoint 演示文稿</vt:lpstr>
      <vt:lpstr>PowerPoint 演示文稿</vt:lpstr>
      <vt:lpstr>PowerPoint 演示文稿</vt:lpstr>
      <vt:lpstr>多电平编码</vt:lpstr>
      <vt:lpstr>PowerPoint 演示文稿</vt:lpstr>
      <vt:lpstr>多线路传输 —— MLT-3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PCM 的带宽为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492</cp:revision>
  <dcterms:created xsi:type="dcterms:W3CDTF">2000-01-15T04:50:39Z</dcterms:created>
  <dcterms:modified xsi:type="dcterms:W3CDTF">2025-05-29T10:48:48Z</dcterms:modified>
</cp:coreProperties>
</file>