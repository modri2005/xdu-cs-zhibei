
<file path=[Content_Types].xml><?xml version="1.0" encoding="utf-8"?>
<Types xmlns="http://schemas.openxmlformats.org/package/2006/content-types">
  <Default Extension="png" ContentType="image/png"/>
  <Default Extension="jpeg" ContentType="image/jpeg"/>
  <Default Extension="emf" ContentType="image/x-emf"/>
  <Default Extension="rels" ContentType="application/vnd.openxmlformats-package.relationships+xml"/>
  <Default Extension="xml" ContentType="application/xml"/>
  <Default Extension="JPG" ContentType="image/jpeg"/>
  <Override PartName="/ppt/presentation.xml" ContentType="application/vnd.openxmlformats-officedocument.presentationml.presentation.main+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slides/slide32.xml" ContentType="application/vnd.openxmlformats-officedocument.presentationml.slide+xml"/>
  <Override PartName="/ppt/slides/slide33.xml" ContentType="application/vnd.openxmlformats-officedocument.presentationml.slide+xml"/>
  <Override PartName="/ppt/slides/slide34.xml" ContentType="application/vnd.openxmlformats-officedocument.presentationml.slide+xml"/>
  <Override PartName="/ppt/slides/slide35.xml" ContentType="application/vnd.openxmlformats-officedocument.presentationml.slide+xml"/>
  <Override PartName="/ppt/slides/slide36.xml" ContentType="application/vnd.openxmlformats-officedocument.presentationml.slide+xml"/>
  <Override PartName="/ppt/slides/slide37.xml" ContentType="application/vnd.openxmlformats-officedocument.presentationml.slide+xml"/>
  <Override PartName="/ppt/slides/slide38.xml" ContentType="application/vnd.openxmlformats-officedocument.presentationml.slide+xml"/>
  <Override PartName="/ppt/slides/slide39.xml" ContentType="application/vnd.openxmlformats-officedocument.presentationml.slide+xml"/>
  <Override PartName="/ppt/slides/slide40.xml" ContentType="application/vnd.openxmlformats-officedocument.presentationml.slide+xml"/>
  <Override PartName="/ppt/slides/slide41.xml" ContentType="application/vnd.openxmlformats-officedocument.presentationml.slide+xml"/>
  <Override PartName="/ppt/slides/slide42.xml" ContentType="application/vnd.openxmlformats-officedocument.presentationml.slide+xml"/>
  <Override PartName="/ppt/slides/slide43.xml" ContentType="application/vnd.openxmlformats-officedocument.presentationml.slide+xml"/>
  <Override PartName="/ppt/slides/slide44.xml" ContentType="application/vnd.openxmlformats-officedocument.presentationml.slide+xml"/>
  <Override PartName="/ppt/slides/slide45.xml" ContentType="application/vnd.openxmlformats-officedocument.presentationml.slide+xml"/>
  <Override PartName="/ppt/slides/slide46.xml" ContentType="application/vnd.openxmlformats-officedocument.presentationml.slide+xml"/>
  <Override PartName="/ppt/slides/slide47.xml" ContentType="application/vnd.openxmlformats-officedocument.presentationml.slide+xml"/>
  <Override PartName="/ppt/slides/slide48.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28.xml" ContentType="application/vnd.openxmlformats-officedocument.presentationml.slideLayout+xml"/>
  <Override PartName="/ppt/slideLayouts/slideLayout29.xml" ContentType="application/vnd.openxmlformats-officedocument.presentationml.slideLayout+xml"/>
  <Override PartName="/ppt/slideLayouts/slideLayout30.xml" ContentType="application/vnd.openxmlformats-officedocument.presentationml.slideLayout+xml"/>
  <Override PartName="/ppt/theme/theme2.xml" ContentType="application/vnd.openxmlformats-officedocument.theme+xml"/>
  <Override PartName="/ppt/slideLayouts/slideLayout31.xml" ContentType="application/vnd.openxmlformats-officedocument.presentationml.slideLayout+xml"/>
  <Override PartName="/ppt/slideLayouts/slideLayout32.xml" ContentType="application/vnd.openxmlformats-officedocument.presentationml.slideLayout+xml"/>
  <Override PartName="/ppt/slideLayouts/slideLayout33.xml" ContentType="application/vnd.openxmlformats-officedocument.presentationml.slideLayout+xml"/>
  <Override PartName="/ppt/slideLayouts/slideLayout34.xml" ContentType="application/vnd.openxmlformats-officedocument.presentationml.slideLayout+xml"/>
  <Override PartName="/ppt/slideLayouts/slideLayout35.xml" ContentType="application/vnd.openxmlformats-officedocument.presentationml.slideLayout+xml"/>
  <Override PartName="/ppt/slideLayouts/slideLayout36.xml" ContentType="application/vnd.openxmlformats-officedocument.presentationml.slideLayout+xml"/>
  <Override PartName="/ppt/slideLayouts/slideLayout37.xml" ContentType="application/vnd.openxmlformats-officedocument.presentationml.slideLayout+xml"/>
  <Override PartName="/ppt/slideLayouts/slideLayout38.xml" ContentType="application/vnd.openxmlformats-officedocument.presentationml.slideLayout+xml"/>
  <Override PartName="/ppt/slideLayouts/slideLayout39.xml" ContentType="application/vnd.openxmlformats-officedocument.presentationml.slideLayout+xml"/>
  <Override PartName="/ppt/slideLayouts/slideLayout40.xml" ContentType="application/vnd.openxmlformats-officedocument.presentationml.slideLayout+xml"/>
  <Override PartName="/ppt/slideLayouts/slideLayout41.xml" ContentType="application/vnd.openxmlformats-officedocument.presentationml.slideLayout+xml"/>
  <Override PartName="/ppt/slideLayouts/slideLayout42.xml" ContentType="application/vnd.openxmlformats-officedocument.presentationml.slideLayout+xml"/>
  <Override PartName="/ppt/slideLayouts/slideLayout43.xml" ContentType="application/vnd.openxmlformats-officedocument.presentationml.slideLayout+xml"/>
  <Override PartName="/ppt/theme/theme3.xml" ContentType="application/vnd.openxmlformats-officedocument.theme+xml"/>
  <Override PartName="/ppt/theme/theme4.xml" ContentType="application/vnd.openxmlformats-officedocument.theme+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Override PartName="/docProps/custom.xml" ContentType="application/vnd.openxmlformats-officedocument.custom-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5" Type="http://schemas.openxmlformats.org/officeDocument/2006/relationships/custom-properties" Target="docProps/custom.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trictFirstAndLastChars="0" saveSubsetFonts="1">
  <p:sldMasterIdLst>
    <p:sldMasterId id="2147483792" r:id="rId1"/>
    <p:sldMasterId id="2147483810" r:id="rId2"/>
    <p:sldMasterId id="2147483824" r:id="rId3"/>
  </p:sldMasterIdLst>
  <p:notesMasterIdLst>
    <p:notesMasterId r:id="rId52"/>
  </p:notesMasterIdLst>
  <p:sldIdLst>
    <p:sldId id="1200" r:id="rId4"/>
    <p:sldId id="1201" r:id="rId5"/>
    <p:sldId id="837" r:id="rId6"/>
    <p:sldId id="833" r:id="rId7"/>
    <p:sldId id="834" r:id="rId8"/>
    <p:sldId id="838" r:id="rId9"/>
    <p:sldId id="827" r:id="rId10"/>
    <p:sldId id="839" r:id="rId11"/>
    <p:sldId id="1199" r:id="rId12"/>
    <p:sldId id="821" r:id="rId13"/>
    <p:sldId id="735" r:id="rId14"/>
    <p:sldId id="840" r:id="rId15"/>
    <p:sldId id="822" r:id="rId16"/>
    <p:sldId id="737" r:id="rId17"/>
    <p:sldId id="830" r:id="rId18"/>
    <p:sldId id="667" r:id="rId19"/>
    <p:sldId id="633" r:id="rId20"/>
    <p:sldId id="670" r:id="rId21"/>
    <p:sldId id="738" r:id="rId22"/>
    <p:sldId id="640" r:id="rId23"/>
    <p:sldId id="641" r:id="rId24"/>
    <p:sldId id="643" r:id="rId25"/>
    <p:sldId id="813" r:id="rId26"/>
    <p:sldId id="814" r:id="rId27"/>
    <p:sldId id="823" r:id="rId28"/>
    <p:sldId id="645" r:id="rId29"/>
    <p:sldId id="815" r:id="rId30"/>
    <p:sldId id="739" r:id="rId31"/>
    <p:sldId id="649" r:id="rId32"/>
    <p:sldId id="651" r:id="rId33"/>
    <p:sldId id="652" r:id="rId34"/>
    <p:sldId id="653" r:id="rId35"/>
    <p:sldId id="740" r:id="rId36"/>
    <p:sldId id="774" r:id="rId37"/>
    <p:sldId id="1202" r:id="rId38"/>
    <p:sldId id="777" r:id="rId39"/>
    <p:sldId id="817" r:id="rId40"/>
    <p:sldId id="741" r:id="rId41"/>
    <p:sldId id="791" r:id="rId42"/>
    <p:sldId id="784" r:id="rId43"/>
    <p:sldId id="818" r:id="rId44"/>
    <p:sldId id="786" r:id="rId45"/>
    <p:sldId id="654" r:id="rId46"/>
    <p:sldId id="831" r:id="rId47"/>
    <p:sldId id="841" r:id="rId48"/>
    <p:sldId id="885" r:id="rId49"/>
    <p:sldId id="886" r:id="rId50"/>
    <p:sldId id="832" r:id="rId51"/>
  </p:sldIdLst>
  <p:sldSz cx="12192000" cy="6858000"/>
  <p:notesSz cx="6858000" cy="9144000"/>
  <p:defaultTextStyle>
    <a:defPPr>
      <a:defRPr lang="en-US"/>
    </a:defPPr>
    <a:lvl1pPr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1pPr>
    <a:lvl2pPr marL="4572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2pPr>
    <a:lvl3pPr marL="9144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3pPr>
    <a:lvl4pPr marL="13716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4pPr>
    <a:lvl5pPr marL="1828800" algn="l" rtl="0" eaLnBrk="0" fontAlgn="base" hangingPunct="0">
      <a:spcBef>
        <a:spcPct val="0"/>
      </a:spcBef>
      <a:spcAft>
        <a:spcPct val="0"/>
      </a:spcAft>
      <a:defRPr sz="2800" b="1" i="1" kern="1200" baseline="-18000">
        <a:solidFill>
          <a:schemeClr val="tx1"/>
        </a:solidFill>
        <a:latin typeface="Times New Roman" panose="02020603050405020304" pitchFamily="18" charset="0"/>
        <a:ea typeface="+mn-ea"/>
        <a:cs typeface="+mn-cs"/>
      </a:defRPr>
    </a:lvl5pPr>
    <a:lvl6pPr marL="2286000" algn="l" defTabSz="914400" rtl="0" eaLnBrk="1" latinLnBrk="0" hangingPunct="1">
      <a:defRPr sz="2800" b="1" i="1" kern="1200" baseline="-18000">
        <a:solidFill>
          <a:schemeClr val="tx1"/>
        </a:solidFill>
        <a:latin typeface="Times New Roman" panose="02020603050405020304" pitchFamily="18" charset="0"/>
        <a:ea typeface="+mn-ea"/>
        <a:cs typeface="+mn-cs"/>
      </a:defRPr>
    </a:lvl6pPr>
    <a:lvl7pPr marL="2743200" algn="l" defTabSz="914400" rtl="0" eaLnBrk="1" latinLnBrk="0" hangingPunct="1">
      <a:defRPr sz="2800" b="1" i="1" kern="1200" baseline="-18000">
        <a:solidFill>
          <a:schemeClr val="tx1"/>
        </a:solidFill>
        <a:latin typeface="Times New Roman" panose="02020603050405020304" pitchFamily="18" charset="0"/>
        <a:ea typeface="+mn-ea"/>
        <a:cs typeface="+mn-cs"/>
      </a:defRPr>
    </a:lvl7pPr>
    <a:lvl8pPr marL="3200400" algn="l" defTabSz="914400" rtl="0" eaLnBrk="1" latinLnBrk="0" hangingPunct="1">
      <a:defRPr sz="2800" b="1" i="1" kern="1200" baseline="-18000">
        <a:solidFill>
          <a:schemeClr val="tx1"/>
        </a:solidFill>
        <a:latin typeface="Times New Roman" panose="02020603050405020304" pitchFamily="18" charset="0"/>
        <a:ea typeface="+mn-ea"/>
        <a:cs typeface="+mn-cs"/>
      </a:defRPr>
    </a:lvl8pPr>
    <a:lvl9pPr marL="3657600" algn="l" defTabSz="914400" rtl="0" eaLnBrk="1" latinLnBrk="0" hangingPunct="1">
      <a:defRPr sz="2800" b="1" i="1" kern="1200" baseline="-18000">
        <a:solidFill>
          <a:schemeClr val="tx1"/>
        </a:solidFill>
        <a:latin typeface="Times New Roman" panose="02020603050405020304" pitchFamily="18" charset="0"/>
        <a:ea typeface="+mn-ea"/>
        <a:cs typeface="+mn-cs"/>
      </a:defRPr>
    </a:lvl9pPr>
  </p:defaultTextStyle>
  <p:extLst>
    <p:ext uri="{EFAFB233-063F-42B5-8137-9DF3F51BA10A}">
      <p15:sldGuideLst xmlns:p15="http://schemas.microsoft.com/office/powerpoint/2012/main">
        <p15:guide id="1" orient="horz" pos="2049" userDrawn="1">
          <p15:clr>
            <a:srgbClr val="A4A3A4"/>
          </p15:clr>
        </p15:guide>
        <p15:guide id="2" pos="3904"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showNarration="1">
    <p:present/>
    <p:sldAll/>
    <p:penClr>
      <a:srgbClr val="FF0000"/>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0"/>
      </p:ext>
    </p:extLst>
  </p:showPr>
  <p:clrMru>
    <a:srgbClr val="B9DCFF"/>
    <a:srgbClr val="D9ECFF"/>
    <a:srgbClr val="C1E0FF"/>
    <a:srgbClr val="0099FF"/>
    <a:srgbClr val="FF9900"/>
    <a:srgbClr val="D6A300"/>
    <a:srgbClr val="558ED5"/>
    <a:srgbClr val="99CCFF"/>
    <a:srgbClr val="B6C8E8"/>
    <a:srgbClr val="C2D1EC"/>
  </p:clrMru>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a:tblStyle styleId="{5C22544A-7EE6-4342-B048-85BDC9FD1C3A}" styleName="中度样式 2 - 强调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099" autoAdjust="0"/>
    <p:restoredTop sz="82397" autoAdjust="0"/>
  </p:normalViewPr>
  <p:slideViewPr>
    <p:cSldViewPr snapToObjects="1">
      <p:cViewPr varScale="1">
        <p:scale>
          <a:sx n="68" d="100"/>
          <a:sy n="68" d="100"/>
        </p:scale>
        <p:origin x="1186" y="53"/>
      </p:cViewPr>
      <p:guideLst>
        <p:guide orient="horz" pos="2049"/>
        <p:guide pos="3904"/>
      </p:guideLst>
    </p:cSldViewPr>
  </p:slideViewPr>
  <p:notesTextViewPr>
    <p:cViewPr>
      <p:scale>
        <a:sx n="1" d="1"/>
        <a:sy n="1" d="1"/>
      </p:scale>
      <p:origin x="0" y="0"/>
    </p:cViewPr>
  </p:notesTextViewPr>
  <p:gridSpacing cx="76198" cy="76198"/>
</p:viewPr>
</file>

<file path=ppt/_rels/presentation.xml.rels><?xml version="1.0" encoding="UTF-8" standalone="yes"?>
<Relationships xmlns="http://schemas.openxmlformats.org/package/2006/relationships"><Relationship Id="rId13" Type="http://schemas.openxmlformats.org/officeDocument/2006/relationships/slide" Target="slides/slide10.xml"/><Relationship Id="rId18" Type="http://schemas.openxmlformats.org/officeDocument/2006/relationships/slide" Target="slides/slide15.xml"/><Relationship Id="rId26" Type="http://schemas.openxmlformats.org/officeDocument/2006/relationships/slide" Target="slides/slide23.xml"/><Relationship Id="rId39" Type="http://schemas.openxmlformats.org/officeDocument/2006/relationships/slide" Target="slides/slide36.xml"/><Relationship Id="rId21" Type="http://schemas.openxmlformats.org/officeDocument/2006/relationships/slide" Target="slides/slide18.xml"/><Relationship Id="rId34" Type="http://schemas.openxmlformats.org/officeDocument/2006/relationships/slide" Target="slides/slide31.xml"/><Relationship Id="rId42" Type="http://schemas.openxmlformats.org/officeDocument/2006/relationships/slide" Target="slides/slide39.xml"/><Relationship Id="rId47" Type="http://schemas.openxmlformats.org/officeDocument/2006/relationships/slide" Target="slides/slide44.xml"/><Relationship Id="rId50" Type="http://schemas.openxmlformats.org/officeDocument/2006/relationships/slide" Target="slides/slide47.xml"/><Relationship Id="rId55" Type="http://schemas.openxmlformats.org/officeDocument/2006/relationships/theme" Target="theme/theme1.xml"/><Relationship Id="rId7" Type="http://schemas.openxmlformats.org/officeDocument/2006/relationships/slide" Target="slides/slide4.xml"/><Relationship Id="rId2" Type="http://schemas.openxmlformats.org/officeDocument/2006/relationships/slideMaster" Target="slideMasters/slideMaster2.xml"/><Relationship Id="rId16" Type="http://schemas.openxmlformats.org/officeDocument/2006/relationships/slide" Target="slides/slide13.xml"/><Relationship Id="rId29" Type="http://schemas.openxmlformats.org/officeDocument/2006/relationships/slide" Target="slides/slide26.xml"/><Relationship Id="rId11" Type="http://schemas.openxmlformats.org/officeDocument/2006/relationships/slide" Target="slides/slide8.xml"/><Relationship Id="rId24" Type="http://schemas.openxmlformats.org/officeDocument/2006/relationships/slide" Target="slides/slide21.xml"/><Relationship Id="rId32" Type="http://schemas.openxmlformats.org/officeDocument/2006/relationships/slide" Target="slides/slide29.xml"/><Relationship Id="rId37" Type="http://schemas.openxmlformats.org/officeDocument/2006/relationships/slide" Target="slides/slide34.xml"/><Relationship Id="rId40" Type="http://schemas.openxmlformats.org/officeDocument/2006/relationships/slide" Target="slides/slide37.xml"/><Relationship Id="rId45" Type="http://schemas.openxmlformats.org/officeDocument/2006/relationships/slide" Target="slides/slide42.xml"/><Relationship Id="rId53" Type="http://schemas.openxmlformats.org/officeDocument/2006/relationships/presProps" Target="presProps.xml"/><Relationship Id="rId5" Type="http://schemas.openxmlformats.org/officeDocument/2006/relationships/slide" Target="slides/slide2.xml"/><Relationship Id="rId10" Type="http://schemas.openxmlformats.org/officeDocument/2006/relationships/slide" Target="slides/slide7.xml"/><Relationship Id="rId19" Type="http://schemas.openxmlformats.org/officeDocument/2006/relationships/slide" Target="slides/slide16.xml"/><Relationship Id="rId31" Type="http://schemas.openxmlformats.org/officeDocument/2006/relationships/slide" Target="slides/slide28.xml"/><Relationship Id="rId44" Type="http://schemas.openxmlformats.org/officeDocument/2006/relationships/slide" Target="slides/slide41.xml"/><Relationship Id="rId52" Type="http://schemas.openxmlformats.org/officeDocument/2006/relationships/notesMaster" Target="notesMasters/notesMaster1.xml"/><Relationship Id="rId4" Type="http://schemas.openxmlformats.org/officeDocument/2006/relationships/slide" Target="slides/slide1.xml"/><Relationship Id="rId9" Type="http://schemas.openxmlformats.org/officeDocument/2006/relationships/slide" Target="slides/slide6.xml"/><Relationship Id="rId14" Type="http://schemas.openxmlformats.org/officeDocument/2006/relationships/slide" Target="slides/slide11.xml"/><Relationship Id="rId22" Type="http://schemas.openxmlformats.org/officeDocument/2006/relationships/slide" Target="slides/slide19.xml"/><Relationship Id="rId27" Type="http://schemas.openxmlformats.org/officeDocument/2006/relationships/slide" Target="slides/slide24.xml"/><Relationship Id="rId30" Type="http://schemas.openxmlformats.org/officeDocument/2006/relationships/slide" Target="slides/slide27.xml"/><Relationship Id="rId35" Type="http://schemas.openxmlformats.org/officeDocument/2006/relationships/slide" Target="slides/slide32.xml"/><Relationship Id="rId43" Type="http://schemas.openxmlformats.org/officeDocument/2006/relationships/slide" Target="slides/slide40.xml"/><Relationship Id="rId48" Type="http://schemas.openxmlformats.org/officeDocument/2006/relationships/slide" Target="slides/slide45.xml"/><Relationship Id="rId56" Type="http://schemas.openxmlformats.org/officeDocument/2006/relationships/tableStyles" Target="tableStyles.xml"/><Relationship Id="rId8" Type="http://schemas.openxmlformats.org/officeDocument/2006/relationships/slide" Target="slides/slide5.xml"/><Relationship Id="rId51" Type="http://schemas.openxmlformats.org/officeDocument/2006/relationships/slide" Target="slides/slide48.xml"/><Relationship Id="rId3" Type="http://schemas.openxmlformats.org/officeDocument/2006/relationships/slideMaster" Target="slideMasters/slideMaster3.xml"/><Relationship Id="rId12" Type="http://schemas.openxmlformats.org/officeDocument/2006/relationships/slide" Target="slides/slide9.xml"/><Relationship Id="rId17" Type="http://schemas.openxmlformats.org/officeDocument/2006/relationships/slide" Target="slides/slide14.xml"/><Relationship Id="rId25" Type="http://schemas.openxmlformats.org/officeDocument/2006/relationships/slide" Target="slides/slide22.xml"/><Relationship Id="rId33" Type="http://schemas.openxmlformats.org/officeDocument/2006/relationships/slide" Target="slides/slide30.xml"/><Relationship Id="rId38" Type="http://schemas.openxmlformats.org/officeDocument/2006/relationships/slide" Target="slides/slide35.xml"/><Relationship Id="rId46" Type="http://schemas.openxmlformats.org/officeDocument/2006/relationships/slide" Target="slides/slide43.xml"/><Relationship Id="rId20" Type="http://schemas.openxmlformats.org/officeDocument/2006/relationships/slide" Target="slides/slide17.xml"/><Relationship Id="rId41" Type="http://schemas.openxmlformats.org/officeDocument/2006/relationships/slide" Target="slides/slide38.xml"/><Relationship Id="rId54" Type="http://schemas.openxmlformats.org/officeDocument/2006/relationships/viewProps" Target="viewProps.xml"/><Relationship Id="rId1" Type="http://schemas.openxmlformats.org/officeDocument/2006/relationships/slideMaster" Target="slideMasters/slideMaster1.xml"/><Relationship Id="rId6" Type="http://schemas.openxmlformats.org/officeDocument/2006/relationships/slide" Target="slides/slide3.xml"/><Relationship Id="rId15" Type="http://schemas.openxmlformats.org/officeDocument/2006/relationships/slide" Target="slides/slide12.xml"/><Relationship Id="rId23" Type="http://schemas.openxmlformats.org/officeDocument/2006/relationships/slide" Target="slides/slide20.xml"/><Relationship Id="rId28" Type="http://schemas.openxmlformats.org/officeDocument/2006/relationships/slide" Target="slides/slide25.xml"/><Relationship Id="rId36" Type="http://schemas.openxmlformats.org/officeDocument/2006/relationships/slide" Target="slides/slide33.xml"/><Relationship Id="rId49" Type="http://schemas.openxmlformats.org/officeDocument/2006/relationships/slide" Target="slides/slide46.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4.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bwMode="auto">
      <p:bgPr>
        <a:solidFill>
          <a:schemeClr val="bg1"/>
        </a:solidFill>
        <a:effectLst/>
      </p:bgPr>
    </p:bg>
    <p:spTree>
      <p:nvGrpSpPr>
        <p:cNvPr id="1" name=""/>
        <p:cNvGrpSpPr/>
        <p:nvPr/>
      </p:nvGrpSpPr>
      <p:grpSpPr>
        <a:xfrm>
          <a:off x="0" y="0"/>
          <a:ext cx="0" cy="0"/>
          <a:chOff x="0" y="0"/>
          <a:chExt cx="0" cy="0"/>
        </a:xfrm>
      </p:grpSpPr>
      <p:sp>
        <p:nvSpPr>
          <p:cNvPr id="3074" name="Rectangle 2">
            <a:extLst>
              <a:ext uri="{FF2B5EF4-FFF2-40B4-BE49-F238E27FC236}">
                <a16:creationId xmlns:a16="http://schemas.microsoft.com/office/drawing/2014/main" id="{E2E53CFB-987E-45A6-885F-9AAB2CF55356}"/>
              </a:ext>
            </a:extLst>
          </p:cNvPr>
          <p:cNvSpPr>
            <a:spLocks noGrp="1" noChangeArrowheads="1"/>
          </p:cNvSpPr>
          <p:nvPr>
            <p:ph type="hdr" sz="quarter"/>
          </p:nvPr>
        </p:nvSpPr>
        <p:spPr bwMode="auto">
          <a:xfrm>
            <a:off x="0" y="0"/>
            <a:ext cx="2971800" cy="457200"/>
          </a:xfrm>
          <a:prstGeom prst="rect">
            <a:avLst/>
          </a:prstGeom>
          <a:noFill/>
          <a:ln>
            <a:noFill/>
          </a:ln>
          <a:effectLst/>
        </p:spPr>
        <p:txBody>
          <a:bodyPr vert="horz" wrap="square" lIns="91440" tIns="45720" rIns="91440" bIns="45720" numCol="1" anchor="t" anchorCtr="0" compatLnSpc="1"/>
          <a:lstStyle>
            <a:lvl1pPr eaLnBrk="1" hangingPunct="1">
              <a:buFont typeface="Arial" panose="020B0604020202020204" pitchFamily="34" charset="0"/>
              <a:buNone/>
              <a:defRPr sz="1200" b="0" i="0" baseline="0"/>
            </a:lvl1pPr>
          </a:lstStyle>
          <a:p>
            <a:pPr>
              <a:defRPr/>
            </a:pPr>
            <a:endParaRPr lang="en-US" altLang="zh-CN"/>
          </a:p>
        </p:txBody>
      </p:sp>
      <p:sp>
        <p:nvSpPr>
          <p:cNvPr id="3075" name="Rectangle 3">
            <a:extLst>
              <a:ext uri="{FF2B5EF4-FFF2-40B4-BE49-F238E27FC236}">
                <a16:creationId xmlns:a16="http://schemas.microsoft.com/office/drawing/2014/main" id="{3FD2511E-33F9-4147-82EF-37AC019F99E7}"/>
              </a:ext>
            </a:extLst>
          </p:cNvPr>
          <p:cNvSpPr>
            <a:spLocks noGrp="1" noChangeArrowheads="1"/>
          </p:cNvSpPr>
          <p:nvPr>
            <p:ph type="dt" idx="1"/>
          </p:nvPr>
        </p:nvSpPr>
        <p:spPr bwMode="auto">
          <a:xfrm>
            <a:off x="3884613" y="0"/>
            <a:ext cx="2971800" cy="457200"/>
          </a:xfrm>
          <a:prstGeom prst="rect">
            <a:avLst/>
          </a:prstGeom>
          <a:noFill/>
          <a:ln>
            <a:noFill/>
          </a:ln>
          <a:effectLst/>
        </p:spPr>
        <p:txBody>
          <a:bodyPr vert="horz" wrap="square" lIns="91440" tIns="45720" rIns="91440" bIns="45720" numCol="1" anchor="t" anchorCtr="0" compatLnSpc="1"/>
          <a:lstStyle>
            <a:lvl1pPr algn="r" eaLnBrk="1" hangingPunct="1">
              <a:buFont typeface="Arial" panose="020B0604020202020204" pitchFamily="34" charset="0"/>
              <a:buNone/>
              <a:defRPr sz="1200" b="0" i="0" baseline="0"/>
            </a:lvl1pPr>
          </a:lstStyle>
          <a:p>
            <a:pPr>
              <a:defRPr/>
            </a:pPr>
            <a:endParaRPr lang="en-US" altLang="zh-CN"/>
          </a:p>
        </p:txBody>
      </p:sp>
      <p:sp>
        <p:nvSpPr>
          <p:cNvPr id="3076" name="Rectangle 4">
            <a:extLst>
              <a:ext uri="{FF2B5EF4-FFF2-40B4-BE49-F238E27FC236}">
                <a16:creationId xmlns:a16="http://schemas.microsoft.com/office/drawing/2014/main" id="{AC63FD4C-CEAE-4B30-A136-26EDCBE8122E}"/>
              </a:ext>
            </a:extLst>
          </p:cNvPr>
          <p:cNvSpPr>
            <a:spLocks noGrp="1" noRot="1" noChangeAspect="1" noChangeArrowheads="1"/>
          </p:cNvSpPr>
          <p:nvPr>
            <p:ph type="sldImg" idx="4294967295"/>
          </p:nvPr>
        </p:nvSpPr>
        <p:spPr bwMode="auto">
          <a:xfrm>
            <a:off x="381000" y="685800"/>
            <a:ext cx="6096000" cy="3429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sp>
      <p:sp>
        <p:nvSpPr>
          <p:cNvPr id="3077" name="Rectangle 5">
            <a:extLst>
              <a:ext uri="{FF2B5EF4-FFF2-40B4-BE49-F238E27FC236}">
                <a16:creationId xmlns:a16="http://schemas.microsoft.com/office/drawing/2014/main" id="{6CFDC11D-227C-4FA1-9D75-146A18F1DD7C}"/>
              </a:ext>
            </a:extLst>
          </p:cNvPr>
          <p:cNvSpPr>
            <a:spLocks noGrp="1" noRot="1" noChangeArrowheads="1"/>
          </p:cNvSpPr>
          <p:nvPr>
            <p:ph type="body" sz="quarter" idx="3"/>
          </p:nvPr>
        </p:nvSpPr>
        <p:spPr bwMode="auto">
          <a:xfrm>
            <a:off x="685800" y="4343400"/>
            <a:ext cx="5486400" cy="4114800"/>
          </a:xfrm>
          <a:prstGeom prst="rect">
            <a:avLst/>
          </a:prstGeom>
          <a:noFill/>
          <a:ln>
            <a:noFill/>
          </a:ln>
          <a:effectLst/>
        </p:spPr>
        <p:txBody>
          <a:bodyPr vert="horz" wrap="square" lIns="91440" tIns="45720" rIns="91440" bIns="45720" numCol="1" anchor="ctr" anchorCtr="0" compatLnSpc="1"/>
          <a:lstStyle/>
          <a:p>
            <a:pPr lvl="0"/>
            <a:r>
              <a:rPr lang="en-US" altLang="zh-CN" noProof="0"/>
              <a:t>Click to edit Master text styles</a:t>
            </a:r>
          </a:p>
          <a:p>
            <a:pPr lvl="1"/>
            <a:r>
              <a:rPr lang="en-US" altLang="zh-CN" noProof="0"/>
              <a:t>Second level</a:t>
            </a:r>
          </a:p>
          <a:p>
            <a:pPr lvl="2"/>
            <a:r>
              <a:rPr lang="en-US" altLang="zh-CN" noProof="0"/>
              <a:t>Third level</a:t>
            </a:r>
          </a:p>
          <a:p>
            <a:pPr lvl="3"/>
            <a:r>
              <a:rPr lang="en-US" altLang="zh-CN" noProof="0"/>
              <a:t>Fourth level</a:t>
            </a:r>
          </a:p>
          <a:p>
            <a:pPr lvl="4"/>
            <a:r>
              <a:rPr lang="en-US" altLang="zh-CN" noProof="0"/>
              <a:t>Fifth level</a:t>
            </a:r>
          </a:p>
        </p:txBody>
      </p:sp>
      <p:sp>
        <p:nvSpPr>
          <p:cNvPr id="3078" name="Rectangle 6">
            <a:extLst>
              <a:ext uri="{FF2B5EF4-FFF2-40B4-BE49-F238E27FC236}">
                <a16:creationId xmlns:a16="http://schemas.microsoft.com/office/drawing/2014/main" id="{F06D4157-3F34-44E6-9EE3-191456975B99}"/>
              </a:ext>
            </a:extLst>
          </p:cNvPr>
          <p:cNvSpPr>
            <a:spLocks noGrp="1" noChangeArrowheads="1"/>
          </p:cNvSpPr>
          <p:nvPr>
            <p:ph type="ftr" sz="quarter" idx="4"/>
          </p:nvPr>
        </p:nvSpPr>
        <p:spPr bwMode="auto">
          <a:xfrm>
            <a:off x="0" y="8685213"/>
            <a:ext cx="2971800" cy="457200"/>
          </a:xfrm>
          <a:prstGeom prst="rect">
            <a:avLst/>
          </a:prstGeom>
          <a:noFill/>
          <a:ln>
            <a:noFill/>
          </a:ln>
          <a:effectLst/>
        </p:spPr>
        <p:txBody>
          <a:bodyPr vert="horz" wrap="square" lIns="91440" tIns="45720" rIns="91440" bIns="45720" numCol="1" anchor="b" anchorCtr="0" compatLnSpc="1"/>
          <a:lstStyle>
            <a:lvl1pPr eaLnBrk="1" hangingPunct="1">
              <a:buFont typeface="Arial" panose="020B0604020202020204" pitchFamily="34" charset="0"/>
              <a:buNone/>
              <a:defRPr sz="1200" b="0" i="0" baseline="0"/>
            </a:lvl1pPr>
          </a:lstStyle>
          <a:p>
            <a:pPr>
              <a:defRPr/>
            </a:pPr>
            <a:endParaRPr lang="en-US" altLang="zh-CN"/>
          </a:p>
        </p:txBody>
      </p:sp>
      <p:sp>
        <p:nvSpPr>
          <p:cNvPr id="3079" name="Rectangle 7">
            <a:extLst>
              <a:ext uri="{FF2B5EF4-FFF2-40B4-BE49-F238E27FC236}">
                <a16:creationId xmlns:a16="http://schemas.microsoft.com/office/drawing/2014/main" id="{A32597BC-3020-4DBA-A861-53090D0E3776}"/>
              </a:ext>
            </a:extLst>
          </p:cNvPr>
          <p:cNvSpPr>
            <a:spLocks noGrp="1" noChangeArrowheads="1"/>
          </p:cNvSpPr>
          <p:nvPr>
            <p:ph type="sldNum" sz="quarter" idx="5"/>
          </p:nvPr>
        </p:nvSpPr>
        <p:spPr bwMode="auto">
          <a:xfrm>
            <a:off x="3884613" y="8685213"/>
            <a:ext cx="2971800" cy="457200"/>
          </a:xfrm>
          <a:prstGeom prst="rect">
            <a:avLst/>
          </a:prstGeom>
          <a:noFill/>
          <a:ln>
            <a:noFill/>
          </a:ln>
          <a:effectLst/>
        </p:spPr>
        <p:txBody>
          <a:bodyPr vert="horz" wrap="square" lIns="91440" tIns="45720" rIns="91440" bIns="45720" numCol="1" anchor="b" anchorCtr="0" compatLnSpc="1"/>
          <a:lstStyle>
            <a:lvl1pPr algn="r" eaLnBrk="1" hangingPunct="1">
              <a:buFont typeface="Arial" panose="020B0604020202020204" pitchFamily="34" charset="0"/>
              <a:buNone/>
              <a:defRPr sz="1200" b="0" i="0" baseline="0"/>
            </a:lvl1pPr>
          </a:lstStyle>
          <a:p>
            <a:pPr>
              <a:defRPr/>
            </a:pPr>
            <a:fld id="{FDF11910-3162-48D0-9650-63345A94A6D1}" type="slidenum">
              <a:rPr lang="en-US" altLang="zh-CN"/>
              <a:pPr>
                <a:defRPr/>
              </a:pPr>
              <a:t>‹#›</a:t>
            </a:fld>
            <a:endParaRPr lang="en-US" altLang="zh-CN"/>
          </a:p>
        </p:txBody>
      </p:sp>
    </p:spTree>
  </p:cSld>
  <p:clrMap bg1="lt1" tx1="dk1" bg2="lt2" tx2="dk2" accent1="accent1" accent2="accent2" accent3="accent3" accent4="accent4" accent5="accent5" accent6="accent6" hlink="hlink" folHlink="folHlink"/>
  <p:notesStyle>
    <a:lvl1pPr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1pPr>
    <a:lvl2pPr marL="4572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2pPr>
    <a:lvl3pPr marL="9144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3pPr>
    <a:lvl4pPr marL="13716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4pPr>
    <a:lvl5pPr marL="1828800" algn="l" rtl="0" eaLnBrk="0" fontAlgn="base" hangingPunct="0">
      <a:spcBef>
        <a:spcPct val="30000"/>
      </a:spcBef>
      <a:spcAft>
        <a:spcPct val="0"/>
      </a:spcAft>
      <a:defRPr sz="1200" kern="1200">
        <a:solidFill>
          <a:schemeClr val="tx1"/>
        </a:solidFill>
        <a:latin typeface="Times New Roman" panose="02020603050405020304" pitchFamily="18" charset="0"/>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xml"/><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2" Type="http://schemas.openxmlformats.org/officeDocument/2006/relationships/slide" Target="../slides/slide3.xml"/><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2" Type="http://schemas.openxmlformats.org/officeDocument/2006/relationships/slide" Target="../slides/slide4.xml"/><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2" Type="http://schemas.openxmlformats.org/officeDocument/2006/relationships/slide" Target="../slides/slide5.xml"/><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2" Type="http://schemas.openxmlformats.org/officeDocument/2006/relationships/slide" Target="../slides/slide7.xml"/><Relationship Id="rId1" Type="http://schemas.openxmlformats.org/officeDocument/2006/relationships/notesMaster" Target="../notesMasters/notesMaster1.xml"/></Relationships>
</file>

<file path=ppt/notesSlides/_rels/notesSlide6.xml.rels><?xml version="1.0" encoding="UTF-8" standalone="yes"?>
<Relationships xmlns="http://schemas.openxmlformats.org/package/2006/relationships"><Relationship Id="rId2" Type="http://schemas.openxmlformats.org/officeDocument/2006/relationships/slide" Target="../slides/slide8.xml"/><Relationship Id="rId1" Type="http://schemas.openxmlformats.org/officeDocument/2006/relationships/notesMaster" Target="../notesMasters/notesMaster1.xml"/></Relationships>
</file>

<file path=ppt/notesSlides/_rels/notesSlide7.xml.rels><?xml version="1.0" encoding="UTF-8" standalone="yes"?>
<Relationships xmlns="http://schemas.openxmlformats.org/package/2006/relationships"><Relationship Id="rId2" Type="http://schemas.openxmlformats.org/officeDocument/2006/relationships/slide" Target="../slides/slide11.xml"/><Relationship Id="rId1" Type="http://schemas.openxmlformats.org/officeDocument/2006/relationships/notesMaster" Target="../notesMasters/notesMaster1.xml"/></Relationships>
</file>

<file path=ppt/notesSlides/_rels/notesSlide8.xml.rels><?xml version="1.0" encoding="UTF-8" standalone="yes"?>
<Relationships xmlns="http://schemas.openxmlformats.org/package/2006/relationships"><Relationship Id="rId2" Type="http://schemas.openxmlformats.org/officeDocument/2006/relationships/slide" Target="../slides/slide15.xml"/><Relationship Id="rId1" Type="http://schemas.openxmlformats.org/officeDocument/2006/relationships/notesMaster" Target="../notesMasters/notesMaster1.xml"/></Relationships>
</file>

<file path=ppt/notesSlides/_rels/notesSlide9.xml.rels><?xml version="1.0" encoding="UTF-8" standalone="yes"?>
<Relationships xmlns="http://schemas.openxmlformats.org/package/2006/relationships"><Relationship Id="rId2" Type="http://schemas.openxmlformats.org/officeDocument/2006/relationships/slide" Target="../slides/slide16.xml"/><Relationship Id="rId1" Type="http://schemas.openxmlformats.org/officeDocument/2006/relationships/notesMaster" Target="../notesMasters/notesMaster1.xml"/></Relationships>
</file>

<file path=ppt/notesSlides/_rels/notesSlide10.xml.rels><?xml version="1.0" encoding="UTF-8" standalone="yes"?>
<Relationships xmlns="http://schemas.openxmlformats.org/package/2006/relationships"><Relationship Id="rId2" Type="http://schemas.openxmlformats.org/officeDocument/2006/relationships/slide" Target="../slides/slide20.xml"/><Relationship Id="rId1" Type="http://schemas.openxmlformats.org/officeDocument/2006/relationships/notesMaster" Target="../notesMasters/notesMaster1.xml"/></Relationships>
</file>

<file path=ppt/notesSlides/_rels/notesSlide11.xml.rels><?xml version="1.0" encoding="UTF-8" standalone="yes"?>
<Relationships xmlns="http://schemas.openxmlformats.org/package/2006/relationships"><Relationship Id="rId2" Type="http://schemas.openxmlformats.org/officeDocument/2006/relationships/slide" Target="../slides/slide40.xml"/><Relationship Id="rId1" Type="http://schemas.openxmlformats.org/officeDocument/2006/relationships/notesMaster" Target="../notesMasters/notesMaster1.xml"/></Relationships>
</file>

<file path=ppt/notesSlides/_rels/notesSlide12.xml.rels><?xml version="1.0" encoding="UTF-8" standalone="yes"?>
<Relationships xmlns="http://schemas.openxmlformats.org/package/2006/relationships"><Relationship Id="rId2" Type="http://schemas.openxmlformats.org/officeDocument/2006/relationships/slide" Target="../slides/slide46.xml"/><Relationship Id="rId1" Type="http://schemas.openxmlformats.org/officeDocument/2006/relationships/notesMaster" Target="../notesMasters/notesMaster1.xml"/></Relationships>
</file>

<file path=ppt/notesSlides/_rels/notesSlide13.xml.rels><?xml version="1.0" encoding="UTF-8" standalone="yes"?>
<Relationships xmlns="http://schemas.openxmlformats.org/package/2006/relationships"><Relationship Id="rId2" Type="http://schemas.openxmlformats.org/officeDocument/2006/relationships/slide" Target="../slides/slide4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dirty="0"/>
              <a:t>应用程序</a:t>
            </a:r>
            <a:r>
              <a:rPr lang="en-US" altLang="zh-CN" dirty="0"/>
              <a:t>(</a:t>
            </a:r>
            <a:r>
              <a:rPr lang="zh-CN" altLang="en-US" dirty="0"/>
              <a:t>浏览器</a:t>
            </a:r>
            <a:r>
              <a:rPr lang="en-US" altLang="zh-CN" dirty="0"/>
              <a:t>)</a:t>
            </a:r>
            <a:r>
              <a:rPr lang="zh-CN" altLang="en-US" dirty="0"/>
              <a:t>通过调用</a:t>
            </a:r>
            <a:r>
              <a:rPr lang="en-US" altLang="zh-CN" dirty="0"/>
              <a:t>Socket</a:t>
            </a:r>
            <a:r>
              <a:rPr lang="zh-CN" altLang="en-US" dirty="0"/>
              <a:t>库，来委托协议栈工作。协议栈的上半部分有两块，分别是负责收发数据的</a:t>
            </a:r>
            <a:r>
              <a:rPr lang="en-US" altLang="zh-CN" dirty="0"/>
              <a:t>TCP</a:t>
            </a:r>
            <a:r>
              <a:rPr lang="zh-CN" altLang="en-US" dirty="0"/>
              <a:t>和</a:t>
            </a:r>
            <a:r>
              <a:rPr lang="en-US" altLang="zh-CN" dirty="0"/>
              <a:t>UDP</a:t>
            </a:r>
            <a:r>
              <a:rPr lang="zh-CN" altLang="en-US" dirty="0"/>
              <a:t>协议，这两个传输协议会接受应用层的委托执行收发数据的操作。</a:t>
            </a:r>
            <a:br>
              <a:rPr lang="zh-CN" altLang="en-US" dirty="0"/>
            </a:br>
            <a:r>
              <a:rPr lang="zh-CN" altLang="en-US" dirty="0"/>
              <a:t>协议栈的下面一半是用</a:t>
            </a:r>
            <a:r>
              <a:rPr lang="en-US" altLang="zh-CN" dirty="0"/>
              <a:t>IP</a:t>
            </a:r>
            <a:r>
              <a:rPr lang="zh-CN" altLang="en-US" dirty="0"/>
              <a:t>协议控制网络包收发操作，在互联网上传数据时，数据会被切分成一块块的网络包，而将网络包发送给对方的操作就是由</a:t>
            </a:r>
            <a:r>
              <a:rPr lang="en-US" altLang="zh-CN" dirty="0"/>
              <a:t>IP</a:t>
            </a:r>
            <a:r>
              <a:rPr lang="zh-CN" altLang="en-US" dirty="0"/>
              <a:t>负责的。</a:t>
            </a:r>
            <a:br>
              <a:rPr lang="zh-CN" altLang="en-US" dirty="0"/>
            </a:br>
            <a:r>
              <a:rPr lang="en-US" altLang="zh-CN" dirty="0"/>
              <a:t>IP</a:t>
            </a:r>
            <a:r>
              <a:rPr lang="zh-CN" altLang="en-US" dirty="0"/>
              <a:t>下面的网卡驱动程序负责控制网卡硬件，而最下面的网卡则负责完成实际的收发操作，也就是对网线中的信号执行发送和接收操作。</a:t>
            </a:r>
            <a:endParaRPr lang="en-US" altLang="zh-CN" dirty="0">
              <a:solidFill>
                <a:srgbClr val="333333"/>
              </a:solidFill>
              <a:latin typeface="Adobe ｺﾚﾌ・Std R"/>
            </a:endParaRPr>
          </a:p>
          <a:p>
            <a:endParaRPr lang="zh-CN" altLang="en-US" dirty="0"/>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2</a:t>
            </a:fld>
            <a:endParaRPr lang="en-US" altLang="zh-CN"/>
          </a:p>
        </p:txBody>
      </p:sp>
    </p:spTree>
    <p:extLst>
      <p:ext uri="{BB962C8B-B14F-4D97-AF65-F5344CB8AC3E}">
        <p14:creationId xmlns:p14="http://schemas.microsoft.com/office/powerpoint/2010/main" val="1900442373"/>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r>
              <a:rPr lang="en-US" altLang="zh-CN" dirty="0"/>
              <a:t>MAC</a:t>
            </a:r>
            <a:r>
              <a:rPr lang="zh-CN" altLang="en-US" dirty="0"/>
              <a:t>模块从前导码开始将数字信息按每个比特转换成电信号，然后由物理层装置</a:t>
            </a:r>
            <a:r>
              <a:rPr lang="en-US" altLang="zh-CN" dirty="0"/>
              <a:t>PHY</a:t>
            </a:r>
            <a:r>
              <a:rPr lang="zh-CN" altLang="en-US" dirty="0"/>
              <a:t>模块将其转换为可在网线上传输的格式发送出去。</a:t>
            </a: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3</a:t>
            </a:fld>
            <a:endParaRPr lang="en-US" altLang="zh-CN"/>
          </a:p>
        </p:txBody>
      </p:sp>
    </p:spTree>
    <p:extLst>
      <p:ext uri="{BB962C8B-B14F-4D97-AF65-F5344CB8AC3E}">
        <p14:creationId xmlns:p14="http://schemas.microsoft.com/office/powerpoint/2010/main" val="4014228128"/>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baseline="0" dirty="0">
                <a:latin typeface="微软雅黑" panose="020B0503020204020204" pitchFamily="34" charset="-122"/>
                <a:ea typeface="微软雅黑" panose="020B0503020204020204" pitchFamily="34" charset="-122"/>
                <a:cs typeface="+mn-ea"/>
              </a:rPr>
              <a:t>用电信号来表达数字信息时，需要让</a:t>
            </a:r>
            <a:r>
              <a:rPr lang="en-US" altLang="zh-CN" sz="1200" b="0" i="0" baseline="0" dirty="0">
                <a:latin typeface="微软雅黑" panose="020B0503020204020204" pitchFamily="34" charset="-122"/>
                <a:ea typeface="微软雅黑" panose="020B0503020204020204" pitchFamily="34" charset="-122"/>
                <a:cs typeface="+mn-ea"/>
              </a:rPr>
              <a:t>0</a:t>
            </a:r>
            <a:r>
              <a:rPr lang="zh-CN" altLang="en-US" sz="1200" b="0" i="0" baseline="0" dirty="0">
                <a:latin typeface="微软雅黑" panose="020B0503020204020204" pitchFamily="34" charset="-122"/>
                <a:ea typeface="微软雅黑" panose="020B0503020204020204" pitchFamily="34" charset="-122"/>
                <a:cs typeface="+mn-ea"/>
              </a:rPr>
              <a:t>和</a:t>
            </a:r>
            <a:r>
              <a:rPr lang="en-US" altLang="zh-CN" sz="1200" b="0" i="0" baseline="0" dirty="0">
                <a:latin typeface="微软雅黑" panose="020B0503020204020204" pitchFamily="34" charset="-122"/>
                <a:ea typeface="微软雅黑" panose="020B0503020204020204" pitchFamily="34" charset="-122"/>
                <a:cs typeface="+mn-ea"/>
              </a:rPr>
              <a:t>1</a:t>
            </a:r>
            <a:r>
              <a:rPr lang="zh-CN" altLang="en-US" sz="1200" b="0" i="0" baseline="0" dirty="0">
                <a:latin typeface="微软雅黑" panose="020B0503020204020204" pitchFamily="34" charset="-122"/>
                <a:ea typeface="微软雅黑" panose="020B0503020204020204" pitchFamily="34" charset="-122"/>
                <a:cs typeface="+mn-ea"/>
              </a:rPr>
              <a:t>两种比特分别对应特定的电压和电流。但实际信号并不会有分隔每个比特的分隔线，在测量电压或电流时必须先判断出每个比特的界限在哪里，最简单的方法就是在数据信号之外再发送一组用来区分比特间隔的时钟信号。但距离较远、网线较长时数据信号和时钟信号的传输会产生时间差，时钟会发生偏移。解决办法是将数据信号和时钟信号叠加在一起。判断时钟信号的变化周期，则通过前同步码进行。数据加上前同步码、起始帧分界符和</a:t>
            </a:r>
            <a:r>
              <a:rPr lang="en-US" altLang="zh-CN" sz="1200" b="0" i="0" baseline="0" dirty="0">
                <a:latin typeface="微软雅黑" panose="020B0503020204020204" pitchFamily="34" charset="-122"/>
                <a:ea typeface="微软雅黑" panose="020B0503020204020204" pitchFamily="34" charset="-122"/>
                <a:cs typeface="+mn-ea"/>
              </a:rPr>
              <a:t>FCS</a:t>
            </a:r>
            <a:r>
              <a:rPr lang="zh-CN" altLang="en-US" sz="1200" b="0" i="0" baseline="0" dirty="0">
                <a:latin typeface="微软雅黑" panose="020B0503020204020204" pitchFamily="34" charset="-122"/>
                <a:ea typeface="微软雅黑" panose="020B0503020204020204" pitchFamily="34" charset="-122"/>
                <a:cs typeface="+mn-ea"/>
              </a:rPr>
              <a:t>之后，就可以通过网线发送出去。发送信号的操作有使用集线器的半双工模式和使用交换机的全双工模式。</a:t>
            </a:r>
          </a:p>
          <a:p>
            <a:endParaRPr lang="zh-CN" altLang="en-US" dirty="0"/>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4</a:t>
            </a:fld>
            <a:endParaRPr lang="en-US" altLang="zh-CN"/>
          </a:p>
        </p:txBody>
      </p:sp>
    </p:spTree>
    <p:extLst>
      <p:ext uri="{BB962C8B-B14F-4D97-AF65-F5344CB8AC3E}">
        <p14:creationId xmlns:p14="http://schemas.microsoft.com/office/powerpoint/2010/main" val="1411053288"/>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2" name="Rectangle 6">
            <a:extLst>
              <a:ext uri="{FF2B5EF4-FFF2-40B4-BE49-F238E27FC236}">
                <a16:creationId xmlns:a16="http://schemas.microsoft.com/office/drawing/2014/main" id="{57642235-9F51-4D38-B68D-ECE14FB33051}"/>
              </a:ext>
            </a:extLst>
          </p:cNvPr>
          <p:cNvSpPr>
            <a:spLocks noGrp="1" noChangeArrowheads="1"/>
          </p:cNvSpPr>
          <p:nvPr>
            <p:ph type="ftr" sz="quarter" idx="4"/>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marL="0" marR="0" lvl="0" indent="0" algn="l" defTabSz="914400" rtl="0" eaLnBrk="1" fontAlgn="base" latinLnBrk="0" hangingPunct="1">
              <a:lnSpc>
                <a:spcPct val="100000"/>
              </a:lnSpc>
              <a:spcBef>
                <a:spcPct val="0"/>
              </a:spcBef>
              <a:spcAft>
                <a:spcPct val="0"/>
              </a:spcAft>
              <a:buClrTx/>
              <a:buSzTx/>
              <a:buFontTx/>
              <a:buNone/>
              <a:tabLst/>
              <a:defRPr/>
            </a:pPr>
            <a:r>
              <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rPr>
              <a:t>1.#</a:t>
            </a:r>
          </a:p>
        </p:txBody>
      </p:sp>
      <p:sp>
        <p:nvSpPr>
          <p:cNvPr id="30723" name="Rectangle 2">
            <a:extLst>
              <a:ext uri="{FF2B5EF4-FFF2-40B4-BE49-F238E27FC236}">
                <a16:creationId xmlns:a16="http://schemas.microsoft.com/office/drawing/2014/main" id="{682F50DD-2800-4E13-9B1E-579E23BC972C}"/>
              </a:ext>
            </a:extLst>
          </p:cNvPr>
          <p:cNvSpPr>
            <a:spLocks noGrp="1" noRot="1" noChangeAspect="1" noChangeArrowheads="1" noTextEdit="1"/>
          </p:cNvSpPr>
          <p:nvPr>
            <p:ph type="sldImg"/>
          </p:nvPr>
        </p:nvSpPr>
        <p:spPr>
          <a:xfrm>
            <a:off x="381000" y="685800"/>
            <a:ext cx="6096000" cy="3429000"/>
          </a:xfrm>
          <a:ln/>
        </p:spPr>
      </p:sp>
      <p:sp>
        <p:nvSpPr>
          <p:cNvPr id="30724" name="Rectangle 3">
            <a:extLst>
              <a:ext uri="{FF2B5EF4-FFF2-40B4-BE49-F238E27FC236}">
                <a16:creationId xmlns:a16="http://schemas.microsoft.com/office/drawing/2014/main" id="{4BD1DBD9-0EDB-45F0-81F6-EF6C467507FD}"/>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extLst>
      <p:ext uri="{BB962C8B-B14F-4D97-AF65-F5344CB8AC3E}">
        <p14:creationId xmlns:p14="http://schemas.microsoft.com/office/powerpoint/2010/main" val="3949915130"/>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a:lnSpc>
                <a:spcPct val="150000"/>
              </a:lnSpc>
              <a:buClr>
                <a:srgbClr val="FF0000"/>
              </a:buClr>
              <a:buSzPct val="80000"/>
              <a:defRPr/>
            </a:pPr>
            <a:r>
              <a:rPr lang="zh-CN" altLang="en-US" sz="1200" b="0" i="0" baseline="0" dirty="0">
                <a:latin typeface="微软雅黑" panose="020B0503020204020204" pitchFamily="34" charset="-122"/>
                <a:ea typeface="微软雅黑" panose="020B0503020204020204" pitchFamily="34" charset="-122"/>
                <a:cs typeface="+mn-ea"/>
                <a:sym typeface="+mn-lt"/>
              </a:rPr>
              <a:t>物理层的主要作用是实现通信设备之间的物理连接，并尽可能地屏蔽掉物理设备和传输媒体、通信手段的不同，使数据链路层感觉不到这些差异。</a:t>
            </a:r>
            <a:endParaRPr lang="en-US" altLang="zh-CN" sz="1200" b="0" i="0" baseline="0" dirty="0">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传输媒介</a:t>
            </a:r>
            <a:r>
              <a:rPr lang="zh-CN" altLang="en-US" sz="1200" b="0" i="0" baseline="0" dirty="0">
                <a:latin typeface="微软雅黑" panose="020B0503020204020204" pitchFamily="34" charset="-122"/>
                <a:ea typeface="微软雅黑" panose="020B0503020204020204" pitchFamily="34" charset="-122"/>
                <a:cs typeface="+mn-ea"/>
                <a:sym typeface="+mn-lt"/>
              </a:rPr>
              <a:t>：定义和选择用于数据传输的物理介质，并确定了传输媒介的特性和参数，如带宽、传输速率、传输距离等。</a:t>
            </a: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信号编码</a:t>
            </a:r>
            <a:r>
              <a:rPr lang="zh-CN" altLang="en-US" sz="1200" b="0" i="0" baseline="0" dirty="0">
                <a:latin typeface="微软雅黑" panose="020B0503020204020204" pitchFamily="34" charset="-122"/>
                <a:ea typeface="微软雅黑" panose="020B0503020204020204" pitchFamily="34" charset="-122"/>
                <a:cs typeface="+mn-ea"/>
                <a:sym typeface="+mn-lt"/>
              </a:rPr>
              <a:t>：将比特流转化为适合在传输介质上传输的信号，包括将比特流分解为适当的电压、频率或光强度等信号。</a:t>
            </a: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数据传输方式</a:t>
            </a:r>
            <a:r>
              <a:rPr lang="zh-CN" altLang="en-US" sz="1200" b="0" i="0" baseline="0" dirty="0">
                <a:latin typeface="微软雅黑" panose="020B0503020204020204" pitchFamily="34" charset="-122"/>
                <a:ea typeface="微软雅黑" panose="020B0503020204020204" pitchFamily="34" charset="-122"/>
                <a:cs typeface="+mn-ea"/>
                <a:sym typeface="+mn-lt"/>
              </a:rPr>
              <a:t>：定义了数据在传输介质上的传输方式，包括串行传输和并行传输。</a:t>
            </a:r>
            <a:endParaRPr lang="en-US" altLang="zh-CN" sz="1200" b="0" i="0" baseline="0" dirty="0">
              <a:latin typeface="微软雅黑" panose="020B0503020204020204" pitchFamily="34" charset="-122"/>
              <a:ea typeface="微软雅黑" panose="020B0503020204020204" pitchFamily="34" charset="-122"/>
              <a:cs typeface="+mn-ea"/>
              <a:sym typeface="+mn-lt"/>
            </a:endParaRP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时钟同步</a:t>
            </a:r>
            <a:r>
              <a:rPr lang="zh-CN" altLang="en-US" sz="1200" b="0" i="0" baseline="0" dirty="0">
                <a:latin typeface="微软雅黑" panose="020B0503020204020204" pitchFamily="34" charset="-122"/>
                <a:ea typeface="微软雅黑" panose="020B0503020204020204" pitchFamily="34" charset="-122"/>
                <a:cs typeface="+mn-ea"/>
                <a:sym typeface="+mn-lt"/>
              </a:rPr>
              <a:t>：确保发送端和接收端时钟同步，以确保数据的正确传输和解码。</a:t>
            </a: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数据传输速率</a:t>
            </a:r>
            <a:r>
              <a:rPr lang="zh-CN" altLang="en-US" sz="1200" b="0" i="0" baseline="0" dirty="0">
                <a:latin typeface="微软雅黑" panose="020B0503020204020204" pitchFamily="34" charset="-122"/>
                <a:ea typeface="微软雅黑" panose="020B0503020204020204" pitchFamily="34" charset="-122"/>
                <a:cs typeface="+mn-ea"/>
                <a:sym typeface="+mn-lt"/>
              </a:rPr>
              <a:t>：定义了数据传输速率，并根据不同的传输需求进行调整。</a:t>
            </a: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信号放大与衰减</a:t>
            </a:r>
            <a:r>
              <a:rPr lang="zh-CN" altLang="en-US" sz="1200" b="0" i="0" baseline="0" dirty="0">
                <a:latin typeface="微软雅黑" panose="020B0503020204020204" pitchFamily="34" charset="-122"/>
                <a:ea typeface="微软雅黑" panose="020B0503020204020204" pitchFamily="34" charset="-122"/>
                <a:cs typeface="+mn-ea"/>
                <a:sym typeface="+mn-lt"/>
              </a:rPr>
              <a:t>：在信号传输过程中进行信号的放大和衰减，保证信号在传输过程中不受干扰。</a:t>
            </a:r>
          </a:p>
          <a:p>
            <a:pPr marL="285750" indent="-285750" algn="just">
              <a:lnSpc>
                <a:spcPct val="1500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sym typeface="+mn-lt"/>
              </a:rPr>
              <a:t>传输模式</a:t>
            </a:r>
            <a:r>
              <a:rPr lang="zh-CN" altLang="en-US" sz="1200" b="0" i="0" baseline="0" dirty="0">
                <a:latin typeface="微软雅黑" panose="020B0503020204020204" pitchFamily="34" charset="-122"/>
                <a:ea typeface="微软雅黑" panose="020B0503020204020204" pitchFamily="34" charset="-122"/>
                <a:cs typeface="+mn-ea"/>
                <a:sym typeface="+mn-lt"/>
              </a:rPr>
              <a:t>：定义了数据传输的模式，包括单工、半双工和全双工。</a:t>
            </a:r>
            <a:endParaRPr lang="zh-CN" altLang="en-US" dirty="0"/>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7</a:t>
            </a:fld>
            <a:endParaRPr lang="en-US" altLang="zh-CN"/>
          </a:p>
        </p:txBody>
      </p:sp>
    </p:spTree>
    <p:extLst>
      <p:ext uri="{BB962C8B-B14F-4D97-AF65-F5344CB8AC3E}">
        <p14:creationId xmlns:p14="http://schemas.microsoft.com/office/powerpoint/2010/main" val="3314897472"/>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285750" indent="-285750" algn="just" defTabSz="457200" eaLnBrk="1" hangingPunct="1">
              <a:lnSpc>
                <a:spcPts val="33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rPr>
              <a:t>编码技术</a:t>
            </a:r>
            <a:r>
              <a:rPr lang="zh-CN" altLang="en-US" sz="1200" b="0" i="0" baseline="0" dirty="0">
                <a:latin typeface="微软雅黑" panose="020B0503020204020204" pitchFamily="34" charset="-122"/>
                <a:ea typeface="微软雅黑" panose="020B0503020204020204" pitchFamily="34" charset="-122"/>
                <a:cs typeface="+mn-ea"/>
              </a:rPr>
              <a:t>：将比特流转换为传输介质上的信号，常见的编码技术包括不归零编码</a:t>
            </a:r>
            <a:r>
              <a:rPr lang="en-US" altLang="zh-CN" sz="1200" b="0" i="0" baseline="0" dirty="0">
                <a:latin typeface="微软雅黑" panose="020B0503020204020204" pitchFamily="34" charset="-122"/>
                <a:ea typeface="微软雅黑" panose="020B0503020204020204" pitchFamily="34" charset="-122"/>
                <a:cs typeface="+mn-ea"/>
              </a:rPr>
              <a:t>NRZ</a:t>
            </a:r>
            <a:r>
              <a:rPr lang="zh-CN" altLang="en-US" sz="1200" b="0" i="0" baseline="0" dirty="0">
                <a:latin typeface="微软雅黑" panose="020B0503020204020204" pitchFamily="34" charset="-122"/>
                <a:ea typeface="微软雅黑" panose="020B0503020204020204" pitchFamily="34" charset="-122"/>
                <a:cs typeface="+mn-ea"/>
              </a:rPr>
              <a:t>、曼彻斯特编码、差分曼彻斯特编码等，可提高信号的可靠性、抗干扰能力和时钟同步性。</a:t>
            </a:r>
          </a:p>
          <a:p>
            <a:pPr marL="285750" indent="-285750" algn="just" defTabSz="457200" eaLnBrk="1" hangingPunct="1">
              <a:lnSpc>
                <a:spcPts val="33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rPr>
              <a:t>调制技术</a:t>
            </a:r>
            <a:r>
              <a:rPr lang="zh-CN" altLang="en-US" sz="1200" b="0" i="0" baseline="0" dirty="0">
                <a:latin typeface="微软雅黑" panose="020B0503020204020204" pitchFamily="34" charset="-122"/>
                <a:ea typeface="微软雅黑" panose="020B0503020204020204" pitchFamily="34" charset="-122"/>
                <a:cs typeface="+mn-ea"/>
              </a:rPr>
              <a:t>：将数字信号转换为模拟信号，以便在传输介质上进行传输。常见的调制技术包括调幅调制</a:t>
            </a:r>
            <a:r>
              <a:rPr lang="en-US" altLang="zh-CN" sz="1200" b="0" i="0" baseline="0" dirty="0">
                <a:latin typeface="微软雅黑" panose="020B0503020204020204" pitchFamily="34" charset="-122"/>
                <a:ea typeface="微软雅黑" panose="020B0503020204020204" pitchFamily="34" charset="-122"/>
                <a:cs typeface="+mn-ea"/>
              </a:rPr>
              <a:t>AM</a:t>
            </a:r>
            <a:r>
              <a:rPr lang="zh-CN" altLang="en-US" sz="1200" b="0" i="0" baseline="0" dirty="0">
                <a:latin typeface="微软雅黑" panose="020B0503020204020204" pitchFamily="34" charset="-122"/>
                <a:ea typeface="微软雅黑" panose="020B0503020204020204" pitchFamily="34" charset="-122"/>
                <a:cs typeface="+mn-ea"/>
              </a:rPr>
              <a:t>、调频调制</a:t>
            </a:r>
            <a:r>
              <a:rPr lang="en-US" altLang="zh-CN" sz="1200" b="0" i="0" baseline="0" dirty="0">
                <a:latin typeface="微软雅黑" panose="020B0503020204020204" pitchFamily="34" charset="-122"/>
                <a:ea typeface="微软雅黑" panose="020B0503020204020204" pitchFamily="34" charset="-122"/>
                <a:cs typeface="+mn-ea"/>
              </a:rPr>
              <a:t>FM</a:t>
            </a:r>
            <a:r>
              <a:rPr lang="zh-CN" altLang="en-US" sz="1200" b="0" i="0" baseline="0" dirty="0">
                <a:latin typeface="微软雅黑" panose="020B0503020204020204" pitchFamily="34" charset="-122"/>
                <a:ea typeface="微软雅黑" panose="020B0503020204020204" pitchFamily="34" charset="-122"/>
                <a:cs typeface="+mn-ea"/>
              </a:rPr>
              <a:t>、相位调制</a:t>
            </a:r>
            <a:r>
              <a:rPr lang="en-US" altLang="zh-CN" sz="1200" b="0" i="0" baseline="0" dirty="0">
                <a:latin typeface="微软雅黑" panose="020B0503020204020204" pitchFamily="34" charset="-122"/>
                <a:ea typeface="微软雅黑" panose="020B0503020204020204" pitchFamily="34" charset="-122"/>
                <a:cs typeface="+mn-ea"/>
              </a:rPr>
              <a:t>PM</a:t>
            </a:r>
            <a:r>
              <a:rPr lang="zh-CN" altLang="en-US" sz="1200" b="0" i="0" baseline="0" dirty="0">
                <a:latin typeface="微软雅黑" panose="020B0503020204020204" pitchFamily="34" charset="-122"/>
                <a:ea typeface="微软雅黑" panose="020B0503020204020204" pitchFamily="34" charset="-122"/>
                <a:cs typeface="+mn-ea"/>
              </a:rPr>
              <a:t>等，可根据传输介质的特性选择合适的调制方式，提高信号的传输质量和抗干扰能力。</a:t>
            </a:r>
          </a:p>
          <a:p>
            <a:pPr marL="285750" indent="-285750" algn="just" defTabSz="457200" eaLnBrk="1" hangingPunct="1">
              <a:lnSpc>
                <a:spcPts val="33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rPr>
              <a:t>多路复用技术</a:t>
            </a:r>
            <a:r>
              <a:rPr lang="zh-CN" altLang="en-US" sz="1200" b="0" i="0" baseline="0" dirty="0">
                <a:latin typeface="微软雅黑" panose="020B0503020204020204" pitchFamily="34" charset="-122"/>
                <a:ea typeface="微软雅黑" panose="020B0503020204020204" pitchFamily="34" charset="-122"/>
                <a:cs typeface="+mn-ea"/>
              </a:rPr>
              <a:t>：将多个信号同时在同一传输介质上传输，以提高传输效率。常见的多路复用技术包括频分多路复用</a:t>
            </a:r>
            <a:r>
              <a:rPr lang="en-US" altLang="zh-CN" sz="1200" b="0" i="0" baseline="0" dirty="0">
                <a:latin typeface="微软雅黑" panose="020B0503020204020204" pitchFamily="34" charset="-122"/>
                <a:ea typeface="微软雅黑" panose="020B0503020204020204" pitchFamily="34" charset="-122"/>
                <a:cs typeface="+mn-ea"/>
              </a:rPr>
              <a:t>FDM</a:t>
            </a:r>
            <a:r>
              <a:rPr lang="zh-CN" altLang="en-US" sz="1200" b="0" i="0" baseline="0" dirty="0">
                <a:latin typeface="微软雅黑" panose="020B0503020204020204" pitchFamily="34" charset="-122"/>
                <a:ea typeface="微软雅黑" panose="020B0503020204020204" pitchFamily="34" charset="-122"/>
                <a:cs typeface="+mn-ea"/>
              </a:rPr>
              <a:t>、时分多路复用</a:t>
            </a:r>
            <a:r>
              <a:rPr lang="en-US" altLang="zh-CN" sz="1200" b="0" i="0" baseline="0" dirty="0">
                <a:latin typeface="微软雅黑" panose="020B0503020204020204" pitchFamily="34" charset="-122"/>
                <a:ea typeface="微软雅黑" panose="020B0503020204020204" pitchFamily="34" charset="-122"/>
                <a:cs typeface="+mn-ea"/>
              </a:rPr>
              <a:t>TDM</a:t>
            </a:r>
            <a:r>
              <a:rPr lang="zh-CN" altLang="en-US" sz="1200" b="0" i="0" baseline="0" dirty="0">
                <a:latin typeface="微软雅黑" panose="020B0503020204020204" pitchFamily="34" charset="-122"/>
                <a:ea typeface="微软雅黑" panose="020B0503020204020204" pitchFamily="34" charset="-122"/>
                <a:cs typeface="+mn-ea"/>
              </a:rPr>
              <a:t>、码分多址</a:t>
            </a:r>
            <a:r>
              <a:rPr lang="en-US" altLang="zh-CN" sz="1200" b="0" i="0" baseline="0" dirty="0">
                <a:latin typeface="微软雅黑" panose="020B0503020204020204" pitchFamily="34" charset="-122"/>
                <a:ea typeface="微软雅黑" panose="020B0503020204020204" pitchFamily="34" charset="-122"/>
                <a:cs typeface="+mn-ea"/>
              </a:rPr>
              <a:t>CDMA</a:t>
            </a:r>
            <a:r>
              <a:rPr lang="zh-CN" altLang="en-US" sz="1200" b="0" i="0" baseline="0" dirty="0">
                <a:latin typeface="微软雅黑" panose="020B0503020204020204" pitchFamily="34" charset="-122"/>
                <a:ea typeface="微软雅黑" panose="020B0503020204020204" pitchFamily="34" charset="-122"/>
                <a:cs typeface="+mn-ea"/>
              </a:rPr>
              <a:t>等，实现多个通信信号的共享和同时传输。</a:t>
            </a:r>
          </a:p>
          <a:p>
            <a:pPr marL="285750" indent="-285750" algn="just" defTabSz="457200" eaLnBrk="1" hangingPunct="1">
              <a:lnSpc>
                <a:spcPts val="3300"/>
              </a:lnSpc>
              <a:buClr>
                <a:srgbClr val="FF0000"/>
              </a:buClr>
              <a:buSzPct val="80000"/>
              <a:buFont typeface="Wingdings" panose="05000000000000000000" pitchFamily="2" charset="2"/>
              <a:buChar char="u"/>
              <a:defRPr/>
            </a:pPr>
            <a:r>
              <a:rPr lang="zh-CN" altLang="en-US" sz="1200" i="0" baseline="0" dirty="0">
                <a:latin typeface="微软雅黑" panose="020B0503020204020204" pitchFamily="34" charset="-122"/>
                <a:ea typeface="微软雅黑" panose="020B0503020204020204" pitchFamily="34" charset="-122"/>
                <a:cs typeface="+mn-ea"/>
              </a:rPr>
              <a:t>信号放大与衰减技术</a:t>
            </a:r>
            <a:r>
              <a:rPr lang="zh-CN" altLang="en-US" sz="1200" b="0" i="0" baseline="0" dirty="0">
                <a:latin typeface="微软雅黑" panose="020B0503020204020204" pitchFamily="34" charset="-122"/>
                <a:ea typeface="微软雅黑" panose="020B0503020204020204" pitchFamily="34" charset="-122"/>
                <a:cs typeface="+mn-ea"/>
              </a:rPr>
              <a:t>：信号会因为传输距离、传输介质的损耗等原因而衰减，物理层使用信号放大器进行信号放大，以补偿信号的衰减。同时，还使用信号衰减器来控制信号的强度，避免信号过强导致的干扰。</a:t>
            </a: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8</a:t>
            </a:fld>
            <a:endParaRPr lang="en-US" altLang="zh-CN"/>
          </a:p>
        </p:txBody>
      </p:sp>
    </p:spTree>
    <p:extLst>
      <p:ext uri="{BB962C8B-B14F-4D97-AF65-F5344CB8AC3E}">
        <p14:creationId xmlns:p14="http://schemas.microsoft.com/office/powerpoint/2010/main" val="3865701868"/>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algn="just" eaLnBrk="1" hangingPunct="1">
              <a:lnSpc>
                <a:spcPct val="150000"/>
              </a:lnSpc>
              <a:buFont typeface="Arial" panose="020B0604020202020204" pitchFamily="34" charset="0"/>
              <a:buNone/>
            </a:pPr>
            <a:r>
              <a:rPr lang="zh-CN" altLang="en-US" sz="1200" i="0" baseline="0" dirty="0">
                <a:solidFill>
                  <a:srgbClr val="FF0000"/>
                </a:solidFill>
                <a:latin typeface="微软雅黑" panose="020B0503020204020204" pitchFamily="34" charset="-122"/>
                <a:ea typeface="微软雅黑" panose="020B0503020204020204" pitchFamily="34" charset="-122"/>
              </a:rPr>
              <a:t>数据</a:t>
            </a:r>
            <a:r>
              <a:rPr lang="zh-CN" altLang="en-US" sz="1200" b="0" i="0" baseline="0" dirty="0">
                <a:latin typeface="微软雅黑" panose="020B0503020204020204" pitchFamily="34" charset="-122"/>
                <a:ea typeface="微软雅黑" panose="020B0503020204020204" pitchFamily="34" charset="-122"/>
              </a:rPr>
              <a:t>可以是模拟的也可以是数字的。模拟数据指的是连续状态的信息，是由传感器采集得到的连续变化的值，例如温度、压力，以及在电话、无线电和电视广播中的声音和图像。而数字数据指的是离散状态的信息，是模拟数据经量化后得到的离散的值，例如在计算机中用二进制代码表示的字符、图形、音频与视频数据。</a:t>
            </a:r>
            <a:endParaRPr lang="en-US" altLang="zh-CN" sz="1200" b="0" i="0" baseline="0" dirty="0">
              <a:latin typeface="微软雅黑" panose="020B0503020204020204" pitchFamily="34" charset="-122"/>
              <a:ea typeface="微软雅黑" panose="020B0503020204020204" pitchFamily="34" charset="-122"/>
            </a:endParaRPr>
          </a:p>
          <a:p>
            <a:pPr algn="just" eaLnBrk="1" hangingPunct="1">
              <a:lnSpc>
                <a:spcPct val="150000"/>
              </a:lnSpc>
              <a:buFont typeface="Arial" panose="020B0604020202020204" pitchFamily="34" charset="0"/>
              <a:buNone/>
            </a:pPr>
            <a:r>
              <a:rPr lang="zh-CN" altLang="en-US" sz="1200" i="0" baseline="0" dirty="0">
                <a:solidFill>
                  <a:srgbClr val="FF0000"/>
                </a:solidFill>
                <a:latin typeface="微软雅黑" panose="020B0503020204020204" pitchFamily="34" charset="-122"/>
                <a:ea typeface="微软雅黑" panose="020B0503020204020204" pitchFamily="34" charset="-122"/>
              </a:rPr>
              <a:t>信号</a:t>
            </a:r>
            <a:r>
              <a:rPr lang="zh-CN" altLang="en-US" sz="1200" b="0" i="0" baseline="0" dirty="0">
                <a:latin typeface="微软雅黑" panose="020B0503020204020204" pitchFamily="34" charset="-122"/>
                <a:ea typeface="微软雅黑" panose="020B0503020204020204" pitchFamily="34" charset="-122"/>
              </a:rPr>
              <a:t>可以是模拟的也可以是数字的。模拟信号在一个范围内可以有无穷多个取值，数字信号只能有有限个数值。</a:t>
            </a: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11</a:t>
            </a:fld>
            <a:endParaRPr lang="en-US" altLang="zh-CN"/>
          </a:p>
        </p:txBody>
      </p:sp>
    </p:spTree>
    <p:extLst>
      <p:ext uri="{BB962C8B-B14F-4D97-AF65-F5344CB8AC3E}">
        <p14:creationId xmlns:p14="http://schemas.microsoft.com/office/powerpoint/2010/main" val="175126070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endParaRPr lang="zh-CN" altLang="en-US" dirty="0"/>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15</a:t>
            </a:fld>
            <a:endParaRPr lang="en-US" altLang="zh-CN"/>
          </a:p>
        </p:txBody>
      </p:sp>
    </p:spTree>
    <p:extLst>
      <p:ext uri="{BB962C8B-B14F-4D97-AF65-F5344CB8AC3E}">
        <p14:creationId xmlns:p14="http://schemas.microsoft.com/office/powerpoint/2010/main" val="4111972094"/>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anose="02020603050405020304" pitchFamily="18" charset="0"/>
                <a:ea typeface="+mn-ea"/>
                <a:cs typeface="+mn-cs"/>
              </a:rPr>
              <a:t>请你编写一个程序，生成一个包括</a:t>
            </a:r>
            <a:r>
              <a:rPr lang="en-US" altLang="zh-CN" sz="1200" b="0" i="0" kern="1200" dirty="0">
                <a:solidFill>
                  <a:schemeClr val="tx1"/>
                </a:solidFill>
                <a:effectLst/>
                <a:latin typeface="Times New Roman" panose="02020603050405020304" pitchFamily="18" charset="0"/>
                <a:ea typeface="+mn-ea"/>
                <a:cs typeface="+mn-cs"/>
              </a:rPr>
              <a:t>100Hz</a:t>
            </a:r>
            <a:r>
              <a:rPr lang="zh-CN" altLang="en-US" sz="1200" b="0" i="0" kern="1200" dirty="0">
                <a:solidFill>
                  <a:schemeClr val="tx1"/>
                </a:solidFill>
                <a:effectLst/>
                <a:latin typeface="Times New Roman" panose="02020603050405020304" pitchFamily="18" charset="0"/>
                <a:ea typeface="+mn-ea"/>
                <a:cs typeface="+mn-cs"/>
              </a:rPr>
              <a:t>、</a:t>
            </a:r>
            <a:r>
              <a:rPr lang="en-US" altLang="zh-CN" sz="1200" b="0" i="0" kern="1200" dirty="0">
                <a:solidFill>
                  <a:schemeClr val="tx1"/>
                </a:solidFill>
                <a:effectLst/>
                <a:latin typeface="Times New Roman" panose="02020603050405020304" pitchFamily="18" charset="0"/>
                <a:ea typeface="+mn-ea"/>
                <a:cs typeface="+mn-cs"/>
              </a:rPr>
              <a:t>300Hz</a:t>
            </a:r>
            <a:r>
              <a:rPr lang="zh-CN" altLang="en-US" sz="1200" b="0" i="0" kern="1200" dirty="0">
                <a:solidFill>
                  <a:schemeClr val="tx1"/>
                </a:solidFill>
                <a:effectLst/>
                <a:latin typeface="Times New Roman" panose="02020603050405020304" pitchFamily="18" charset="0"/>
                <a:ea typeface="+mn-ea"/>
                <a:cs typeface="+mn-cs"/>
              </a:rPr>
              <a:t>和</a:t>
            </a:r>
            <a:r>
              <a:rPr lang="en-US" altLang="zh-CN" sz="1200" b="0" i="0" kern="1200" dirty="0">
                <a:solidFill>
                  <a:schemeClr val="tx1"/>
                </a:solidFill>
                <a:effectLst/>
                <a:latin typeface="Times New Roman" panose="02020603050405020304" pitchFamily="18" charset="0"/>
                <a:ea typeface="+mn-ea"/>
                <a:cs typeface="+mn-cs"/>
              </a:rPr>
              <a:t>900Hz</a:t>
            </a:r>
            <a:r>
              <a:rPr lang="zh-CN" altLang="en-US" sz="1200" b="0" i="0" kern="1200" dirty="0">
                <a:solidFill>
                  <a:schemeClr val="tx1"/>
                </a:solidFill>
                <a:effectLst/>
                <a:latin typeface="Times New Roman" panose="02020603050405020304" pitchFamily="18" charset="0"/>
                <a:ea typeface="+mn-ea"/>
                <a:cs typeface="+mn-cs"/>
              </a:rPr>
              <a:t>的复合信号，请分别在时域和频域显示这</a:t>
            </a:r>
            <a:r>
              <a:rPr lang="en-US" altLang="zh-CN" sz="1200" b="0" i="0" kern="1200" dirty="0">
                <a:solidFill>
                  <a:schemeClr val="tx1"/>
                </a:solidFill>
                <a:effectLst/>
                <a:latin typeface="Times New Roman" panose="02020603050405020304" pitchFamily="18" charset="0"/>
                <a:ea typeface="+mn-ea"/>
                <a:cs typeface="+mn-cs"/>
              </a:rPr>
              <a:t>4</a:t>
            </a:r>
            <a:r>
              <a:rPr lang="zh-CN" altLang="en-US" sz="1200" b="0" i="0" kern="1200" dirty="0">
                <a:solidFill>
                  <a:schemeClr val="tx1"/>
                </a:solidFill>
                <a:effectLst/>
                <a:latin typeface="Times New Roman" panose="02020603050405020304" pitchFamily="18" charset="0"/>
                <a:ea typeface="+mn-ea"/>
                <a:cs typeface="+mn-cs"/>
              </a:rPr>
              <a:t>个信号的波形，最终给出</a:t>
            </a:r>
            <a:r>
              <a:rPr lang="en-US" altLang="zh-CN" sz="1200" b="0" i="0" kern="1200" dirty="0">
                <a:solidFill>
                  <a:schemeClr val="tx1"/>
                </a:solidFill>
                <a:effectLst/>
                <a:latin typeface="Times New Roman" panose="02020603050405020304" pitchFamily="18" charset="0"/>
                <a:ea typeface="+mn-ea"/>
                <a:cs typeface="+mn-cs"/>
              </a:rPr>
              <a:t>html</a:t>
            </a:r>
            <a:r>
              <a:rPr lang="zh-CN" altLang="en-US" sz="1200" b="0" i="0" kern="1200" dirty="0">
                <a:solidFill>
                  <a:schemeClr val="tx1"/>
                </a:solidFill>
                <a:effectLst/>
                <a:latin typeface="Times New Roman" panose="02020603050405020304" pitchFamily="18" charset="0"/>
                <a:ea typeface="+mn-ea"/>
                <a:cs typeface="+mn-cs"/>
              </a:rPr>
              <a:t>文件。</a:t>
            </a:r>
            <a:endParaRPr lang="zh-CN" altLang="en-US" dirty="0"/>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16</a:t>
            </a:fld>
            <a:endParaRPr lang="en-US" altLang="zh-CN"/>
          </a:p>
        </p:txBody>
      </p:sp>
    </p:spTree>
    <p:extLst>
      <p:ext uri="{BB962C8B-B14F-4D97-AF65-F5344CB8AC3E}">
        <p14:creationId xmlns:p14="http://schemas.microsoft.com/office/powerpoint/2010/main" val="64671460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p:sp>
      <p:sp>
        <p:nvSpPr>
          <p:cNvPr id="3" name="备注占位符 2"/>
          <p:cNvSpPr>
            <a:spLocks noGrp="1"/>
          </p:cNvSpPr>
          <p:nvPr>
            <p:ph type="body" idx="1"/>
          </p:nvPr>
        </p:nvSpPr>
        <p:spPr/>
        <p:txBody>
          <a:bodyPr/>
          <a:lstStyle/>
          <a:p>
            <a:r>
              <a:rPr lang="zh-CN" altLang="en-US" sz="1200" b="0" i="0" kern="1200" dirty="0">
                <a:solidFill>
                  <a:schemeClr val="tx1"/>
                </a:solidFill>
                <a:effectLst/>
                <a:latin typeface="Times New Roman" panose="02020603050405020304" pitchFamily="18" charset="0"/>
                <a:ea typeface="+mn-ea"/>
                <a:cs typeface="+mn-cs"/>
              </a:rPr>
              <a:t>如果用高电平表示</a:t>
            </a:r>
            <a:r>
              <a:rPr lang="en-US" altLang="zh-CN" sz="1200" b="0" i="0" kern="1200" dirty="0">
                <a:solidFill>
                  <a:schemeClr val="tx1"/>
                </a:solidFill>
                <a:effectLst/>
                <a:latin typeface="Times New Roman" panose="02020603050405020304" pitchFamily="18" charset="0"/>
                <a:ea typeface="+mn-ea"/>
                <a:cs typeface="+mn-cs"/>
              </a:rPr>
              <a:t>1</a:t>
            </a:r>
            <a:r>
              <a:rPr lang="zh-CN" altLang="en-US" sz="1200" b="0" i="0" kern="1200" dirty="0">
                <a:solidFill>
                  <a:schemeClr val="tx1"/>
                </a:solidFill>
                <a:effectLst/>
                <a:latin typeface="Times New Roman" panose="02020603050405020304" pitchFamily="18" charset="0"/>
                <a:ea typeface="+mn-ea"/>
                <a:cs typeface="+mn-cs"/>
              </a:rPr>
              <a:t>，低电平表示</a:t>
            </a:r>
            <a:r>
              <a:rPr lang="en-US" altLang="zh-CN" sz="1200" b="0" i="0" kern="1200" dirty="0">
                <a:solidFill>
                  <a:schemeClr val="tx1"/>
                </a:solidFill>
                <a:effectLst/>
                <a:latin typeface="Times New Roman" panose="02020603050405020304" pitchFamily="18" charset="0"/>
                <a:ea typeface="+mn-ea"/>
                <a:cs typeface="+mn-cs"/>
              </a:rPr>
              <a:t>0</a:t>
            </a:r>
            <a:r>
              <a:rPr lang="zh-CN" altLang="en-US" sz="1200" b="0" i="0" kern="1200" dirty="0">
                <a:solidFill>
                  <a:schemeClr val="tx1"/>
                </a:solidFill>
                <a:effectLst/>
                <a:latin typeface="Times New Roman" panose="02020603050405020304" pitchFamily="18" charset="0"/>
                <a:ea typeface="+mn-ea"/>
                <a:cs typeface="+mn-cs"/>
              </a:rPr>
              <a:t>，请你生成</a:t>
            </a:r>
            <a:r>
              <a:rPr lang="en-US" altLang="zh-CN" sz="1200" b="0" i="0" kern="1200" dirty="0">
                <a:solidFill>
                  <a:schemeClr val="tx1"/>
                </a:solidFill>
                <a:effectLst/>
                <a:latin typeface="Times New Roman" panose="02020603050405020304" pitchFamily="18" charset="0"/>
                <a:ea typeface="+mn-ea"/>
                <a:cs typeface="+mn-cs"/>
              </a:rPr>
              <a:t>101010</a:t>
            </a:r>
            <a:r>
              <a:rPr lang="zh-CN" altLang="en-US" sz="1200" b="0" i="0" kern="1200" dirty="0">
                <a:solidFill>
                  <a:schemeClr val="tx1"/>
                </a:solidFill>
                <a:effectLst/>
                <a:latin typeface="Times New Roman" panose="02020603050405020304" pitchFamily="18" charset="0"/>
                <a:ea typeface="+mn-ea"/>
                <a:cs typeface="+mn-cs"/>
              </a:rPr>
              <a:t>的波形图。另外再生成其在频域的波形图，给出</a:t>
            </a:r>
            <a:r>
              <a:rPr lang="en-US" altLang="zh-CN" sz="1200" b="0" i="0" kern="1200" dirty="0">
                <a:solidFill>
                  <a:schemeClr val="tx1"/>
                </a:solidFill>
                <a:effectLst/>
                <a:latin typeface="Times New Roman" panose="02020603050405020304" pitchFamily="18" charset="0"/>
                <a:ea typeface="+mn-ea"/>
                <a:cs typeface="+mn-cs"/>
              </a:rPr>
              <a:t>html</a:t>
            </a:r>
            <a:r>
              <a:rPr lang="zh-CN" altLang="en-US" sz="1200" b="0" i="0" kern="1200" dirty="0">
                <a:solidFill>
                  <a:schemeClr val="tx1"/>
                </a:solidFill>
                <a:effectLst/>
                <a:latin typeface="Times New Roman" panose="02020603050405020304" pitchFamily="18" charset="0"/>
                <a:ea typeface="+mn-ea"/>
                <a:cs typeface="+mn-cs"/>
              </a:rPr>
              <a:t>文件。</a:t>
            </a:r>
            <a:endParaRPr lang="en-US" altLang="zh-CN" sz="1200" b="0" i="0" kern="1200" dirty="0">
              <a:solidFill>
                <a:schemeClr val="tx1"/>
              </a:solidFill>
              <a:effectLst/>
              <a:latin typeface="Times New Roman" panose="02020603050405020304" pitchFamily="18" charset="0"/>
              <a:ea typeface="+mn-ea"/>
              <a:cs typeface="+mn-cs"/>
            </a:endParaRP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20</a:t>
            </a:fld>
            <a:endParaRPr lang="en-US" altLang="zh-CN"/>
          </a:p>
        </p:txBody>
      </p:sp>
    </p:spTree>
    <p:extLst>
      <p:ext uri="{BB962C8B-B14F-4D97-AF65-F5344CB8AC3E}">
        <p14:creationId xmlns:p14="http://schemas.microsoft.com/office/powerpoint/2010/main" val="3477381983"/>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幻灯片图像占位符 1"/>
          <p:cNvSpPr>
            <a:spLocks noGrp="1" noRot="1" noChangeAspect="1"/>
          </p:cNvSpPr>
          <p:nvPr>
            <p:ph type="sldImg"/>
          </p:nvPr>
        </p:nvSpPr>
        <p:spPr>
          <a:xfrm>
            <a:off x="381000" y="685800"/>
            <a:ext cx="6096000" cy="3429000"/>
          </a:xfrm>
        </p:spPr>
      </p:sp>
      <p:sp>
        <p:nvSpPr>
          <p:cNvPr id="3" name="备注占位符 2"/>
          <p:cNvSpPr>
            <a:spLocks noGrp="1"/>
          </p:cNvSpPr>
          <p:nvPr>
            <p:ph type="body" idx="1"/>
          </p:nvPr>
        </p:nvSpPr>
        <p:spPr/>
        <p:txBody>
          <a:bodyPr/>
          <a:lstStyle/>
          <a:p>
            <a:pPr marL="0" marR="0" lvl="0" indent="0" algn="l" defTabSz="914400" rtl="0" eaLnBrk="0" fontAlgn="base" latinLnBrk="0" hangingPunct="0">
              <a:lnSpc>
                <a:spcPct val="100000"/>
              </a:lnSpc>
              <a:spcBef>
                <a:spcPct val="30000"/>
              </a:spcBef>
              <a:spcAft>
                <a:spcPct val="0"/>
              </a:spcAft>
              <a:buClrTx/>
              <a:buSzTx/>
              <a:buFontTx/>
              <a:buNone/>
              <a:tabLst/>
              <a:defRPr/>
            </a:pPr>
            <a:r>
              <a:rPr lang="zh-CN" altLang="en-US" sz="1200" b="0" i="0" baseline="0" dirty="0">
                <a:latin typeface="微软雅黑" panose="020B0503020204020204" pitchFamily="34" charset="-122"/>
                <a:ea typeface="微软雅黑" panose="020B0503020204020204" pitchFamily="34" charset="-122"/>
              </a:rPr>
              <a:t>当讨论通信链路的带宽时，一般是指链路上每秒所能传送的比特数，它取决于链路时钟速率和信道编码，在计算机网络中又称为线速。但是链路上的可用带宽（带宽）与实际链路中每秒所能传送的比特数（吞吐量）不同，通常更倾向于用“吞吐量”一词来表示一个系统的测试性能，因为实现受各种低效率因素的影响，吞吐量可能远远不能达到实际带宽的发送速率。</a:t>
            </a:r>
          </a:p>
        </p:txBody>
      </p:sp>
      <p:sp>
        <p:nvSpPr>
          <p:cNvPr id="4" name="灯片编号占位符 3"/>
          <p:cNvSpPr>
            <a:spLocks noGrp="1"/>
          </p:cNvSpPr>
          <p:nvPr>
            <p:ph type="sldNum" sz="quarter" idx="5"/>
          </p:nvPr>
        </p:nvSpPr>
        <p:spPr/>
        <p:txBody>
          <a:bodyPr/>
          <a:lstStyle/>
          <a:p>
            <a:pPr>
              <a:defRPr/>
            </a:pPr>
            <a:fld id="{FDF11910-3162-48D0-9650-63345A94A6D1}" type="slidenum">
              <a:rPr lang="en-US" altLang="zh-CN" smtClean="0"/>
              <a:pPr>
                <a:defRPr/>
              </a:pPr>
              <a:t>40</a:t>
            </a:fld>
            <a:endParaRPr lang="en-US" altLang="zh-CN"/>
          </a:p>
        </p:txBody>
      </p:sp>
    </p:spTree>
    <p:extLst>
      <p:ext uri="{BB962C8B-B14F-4D97-AF65-F5344CB8AC3E}">
        <p14:creationId xmlns:p14="http://schemas.microsoft.com/office/powerpoint/2010/main" val="1390530606"/>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0290" name="Rectangle 7">
            <a:extLst>
              <a:ext uri="{FF2B5EF4-FFF2-40B4-BE49-F238E27FC236}">
                <a16:creationId xmlns:a16="http://schemas.microsoft.com/office/drawing/2014/main" id="{59B0C5A6-BB35-4CAE-98FC-13C8F9AD868A}"/>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CFC1AEB5-7DE5-4252-B883-1FDEABD153BD}"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46</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0291" name="Rectangle 2">
            <a:extLst>
              <a:ext uri="{FF2B5EF4-FFF2-40B4-BE49-F238E27FC236}">
                <a16:creationId xmlns:a16="http://schemas.microsoft.com/office/drawing/2014/main" id="{C712C497-37C3-4528-ADF9-09BE98992216}"/>
              </a:ext>
            </a:extLst>
          </p:cNvPr>
          <p:cNvSpPr>
            <a:spLocks noGrp="1" noRot="1" noChangeAspect="1" noChangeArrowheads="1" noTextEdit="1"/>
          </p:cNvSpPr>
          <p:nvPr>
            <p:ph type="sldImg"/>
          </p:nvPr>
        </p:nvSpPr>
        <p:spPr>
          <a:xfrm>
            <a:off x="381000" y="685800"/>
            <a:ext cx="6096000" cy="3429000"/>
          </a:xfrm>
          <a:ln/>
        </p:spPr>
      </p:sp>
      <p:sp>
        <p:nvSpPr>
          <p:cNvPr id="140292" name="Rectangle 3">
            <a:extLst>
              <a:ext uri="{FF2B5EF4-FFF2-40B4-BE49-F238E27FC236}">
                <a16:creationId xmlns:a16="http://schemas.microsoft.com/office/drawing/2014/main" id="{8B8E6557-D1E6-4AF0-B978-B0FA012332D6}"/>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2338" name="Rectangle 7">
            <a:extLst>
              <a:ext uri="{FF2B5EF4-FFF2-40B4-BE49-F238E27FC236}">
                <a16:creationId xmlns:a16="http://schemas.microsoft.com/office/drawing/2014/main" id="{8D51E7EE-5054-4A98-AB39-F5C8AF9A7D2F}"/>
              </a:ext>
            </a:extLst>
          </p:cNvPr>
          <p:cNvSpPr>
            <a:spLocks noGrp="1" noChangeArrowheads="1"/>
          </p:cNvSpPr>
          <p:nvPr>
            <p:ph type="sldNum" sz="quarter" idx="5"/>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r" defTabSz="914400" rtl="0" eaLnBrk="1" fontAlgn="base" latinLnBrk="0" hangingPunct="1">
              <a:lnSpc>
                <a:spcPct val="100000"/>
              </a:lnSpc>
              <a:spcBef>
                <a:spcPct val="0"/>
              </a:spcBef>
              <a:spcAft>
                <a:spcPct val="0"/>
              </a:spcAft>
              <a:buClrTx/>
              <a:buSzTx/>
              <a:buFontTx/>
              <a:buNone/>
              <a:tabLst/>
              <a:defRPr/>
            </a:pPr>
            <a:fld id="{E8EA056D-BC94-4A6A-B66C-48DF29BBEC57}" type="slidenum">
              <a:rPr kumimoji="0" lang="en-US" altLang="zh-CN" sz="1200" b="0" i="0" u="none" strike="noStrike" kern="1200" cap="none" spc="0" normalizeH="0" baseline="0" noProof="0" smtClean="0">
                <a:ln>
                  <a:noFill/>
                </a:ln>
                <a:solidFill>
                  <a:srgbClr val="000000"/>
                </a:solidFill>
                <a:effectLst/>
                <a:uLnTx/>
                <a:uFillTx/>
                <a:latin typeface="Times New Roman" panose="02020603050405020304" pitchFamily="18" charset="0"/>
                <a:ea typeface="宋体" panose="02010600030101010101" pitchFamily="2" charset="-122"/>
                <a:cs typeface="+mn-cs"/>
              </a:rPr>
              <a:pPr marL="0" marR="0" lvl="0" indent="0" algn="r" defTabSz="914400" rtl="0" eaLnBrk="1" fontAlgn="base" latinLnBrk="0" hangingPunct="1">
                <a:lnSpc>
                  <a:spcPct val="100000"/>
                </a:lnSpc>
                <a:spcBef>
                  <a:spcPct val="0"/>
                </a:spcBef>
                <a:spcAft>
                  <a:spcPct val="0"/>
                </a:spcAft>
                <a:buClrTx/>
                <a:buSzTx/>
                <a:buFontTx/>
                <a:buNone/>
                <a:tabLst/>
                <a:defRPr/>
              </a:pPr>
              <a:t>47</a:t>
            </a:fld>
            <a:endParaRPr kumimoji="0" lang="en-US" altLang="zh-CN" sz="1200" b="0" i="0" u="none" strike="noStrike" kern="1200" cap="none" spc="0" normalizeH="0" baseline="0" noProof="0">
              <a:ln>
                <a:noFill/>
              </a:ln>
              <a:solidFill>
                <a:srgbClr val="000000"/>
              </a:solidFill>
              <a:effectLst/>
              <a:uLnTx/>
              <a:uFillTx/>
              <a:latin typeface="Times New Roman" panose="02020603050405020304" pitchFamily="18" charset="0"/>
              <a:ea typeface="宋体" panose="02010600030101010101" pitchFamily="2" charset="-122"/>
              <a:cs typeface="+mn-cs"/>
            </a:endParaRPr>
          </a:p>
        </p:txBody>
      </p:sp>
      <p:sp>
        <p:nvSpPr>
          <p:cNvPr id="142339" name="Rectangle 2">
            <a:extLst>
              <a:ext uri="{FF2B5EF4-FFF2-40B4-BE49-F238E27FC236}">
                <a16:creationId xmlns:a16="http://schemas.microsoft.com/office/drawing/2014/main" id="{C8314721-456E-456A-82F8-E1C4520C9639}"/>
              </a:ext>
            </a:extLst>
          </p:cNvPr>
          <p:cNvSpPr>
            <a:spLocks noGrp="1" noRot="1" noChangeAspect="1" noChangeArrowheads="1" noTextEdit="1"/>
          </p:cNvSpPr>
          <p:nvPr>
            <p:ph type="sldImg"/>
          </p:nvPr>
        </p:nvSpPr>
        <p:spPr>
          <a:xfrm>
            <a:off x="381000" y="685800"/>
            <a:ext cx="6096000" cy="3429000"/>
          </a:xfrm>
          <a:ln/>
        </p:spPr>
      </p:sp>
      <p:sp>
        <p:nvSpPr>
          <p:cNvPr id="142340" name="Rectangle 3">
            <a:extLst>
              <a:ext uri="{FF2B5EF4-FFF2-40B4-BE49-F238E27FC236}">
                <a16:creationId xmlns:a16="http://schemas.microsoft.com/office/drawing/2014/main" id="{4BE13769-8F5C-45D5-B790-741F303C332A}"/>
              </a:ext>
            </a:extLst>
          </p:cNvPr>
          <p:cNvSpPr>
            <a:spLocks noGrp="1" noChangeArrowheads="1"/>
          </p:cNvSpPr>
          <p:nvPr>
            <p:ph type="body" idx="1"/>
          </p:nvPr>
        </p:nvSpPr>
        <p:spPr>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p>
            <a:pPr eaLnBrk="1" hangingPunct="1"/>
            <a:endParaRPr lang="zh-CN" altLang="zh-CN"/>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8.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29.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0.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3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6.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7.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8.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39.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0.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1.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2.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43.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BFC91707-65D8-4474-8126-58CD2E2E4284}"/>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78D1F527-9754-4E72-9F1C-E57A979B61EF}"/>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FFBA8C39-71C6-48CA-BE60-1AC1897A51B9}"/>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13" name="Rectangle 5">
                <a:extLst>
                  <a:ext uri="{FF2B5EF4-FFF2-40B4-BE49-F238E27FC236}">
                    <a16:creationId xmlns:a16="http://schemas.microsoft.com/office/drawing/2014/main" id="{AC1C1232-6100-47AE-B078-702973E08F1E}"/>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grpSp>
          <p:nvGrpSpPr>
            <p:cNvPr id="6" name="Group 6">
              <a:extLst>
                <a:ext uri="{FF2B5EF4-FFF2-40B4-BE49-F238E27FC236}">
                  <a16:creationId xmlns:a16="http://schemas.microsoft.com/office/drawing/2014/main" id="{53F07CBA-8BB4-4413-AABA-ABCA18F26D1A}"/>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85E7355F-4FD7-4C55-BA14-F00D8539BAC0}"/>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11" name="Rectangle 8">
                <a:extLst>
                  <a:ext uri="{FF2B5EF4-FFF2-40B4-BE49-F238E27FC236}">
                    <a16:creationId xmlns:a16="http://schemas.microsoft.com/office/drawing/2014/main" id="{F0F1F512-B5E4-4B79-97E2-78A51869E096}"/>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sp>
          <p:nvSpPr>
            <p:cNvPr id="7" name="Rectangle 9">
              <a:extLst>
                <a:ext uri="{FF2B5EF4-FFF2-40B4-BE49-F238E27FC236}">
                  <a16:creationId xmlns:a16="http://schemas.microsoft.com/office/drawing/2014/main" id="{6C5EA5C7-A9B9-4816-BB65-32A1A6679CA1}"/>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8" name="Rectangle 10">
              <a:extLst>
                <a:ext uri="{FF2B5EF4-FFF2-40B4-BE49-F238E27FC236}">
                  <a16:creationId xmlns:a16="http://schemas.microsoft.com/office/drawing/2014/main" id="{99E63747-D916-44BF-A145-4EDC772D562A}"/>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sp>
          <p:nvSpPr>
            <p:cNvPr id="9" name="Rectangle 11">
              <a:extLst>
                <a:ext uri="{FF2B5EF4-FFF2-40B4-BE49-F238E27FC236}">
                  <a16:creationId xmlns:a16="http://schemas.microsoft.com/office/drawing/2014/main" id="{31F98F07-556E-4C82-AF62-5ACC9A765FE4}"/>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defRPr/>
              </a:pPr>
              <a:endParaRPr lang="zh-CN" altLang="en-US" sz="3200">
                <a:ea typeface="宋体" charset="-122"/>
              </a:endParaRPr>
            </a:p>
          </p:txBody>
        </p:sp>
      </p:grpSp>
      <p:sp>
        <p:nvSpPr>
          <p:cNvPr id="14" name="Text Box 17">
            <a:extLst>
              <a:ext uri="{FF2B5EF4-FFF2-40B4-BE49-F238E27FC236}">
                <a16:creationId xmlns:a16="http://schemas.microsoft.com/office/drawing/2014/main" id="{0687A17C-8E0E-44AE-BED6-C97A578C77A0}"/>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eaLnBrk="1" hangingPunct="1">
              <a:spcBef>
                <a:spcPct val="50000"/>
              </a:spcBef>
              <a:defRPr/>
            </a:pPr>
            <a:r>
              <a:rPr lang="en-US" altLang="en-US" sz="1400" b="0">
                <a:latin typeface="McGrawHill-Italic" pitchFamily="2" charset="0"/>
              </a:rPr>
              <a:t>McGraw-Hill</a:t>
            </a:r>
            <a:endParaRPr lang="en-US" altLang="en-US" sz="2400" b="0">
              <a:latin typeface="Times New Roman" pitchFamily="18" charset="0"/>
            </a:endParaRPr>
          </a:p>
        </p:txBody>
      </p:sp>
      <p:sp>
        <p:nvSpPr>
          <p:cNvPr id="15" name="Text Box 18">
            <a:extLst>
              <a:ext uri="{FF2B5EF4-FFF2-40B4-BE49-F238E27FC236}">
                <a16:creationId xmlns:a16="http://schemas.microsoft.com/office/drawing/2014/main" id="{5790C91D-15FE-4730-96F1-F3A97A5A99F1}"/>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3200" b="1">
                <a:solidFill>
                  <a:schemeClr val="tx1"/>
                </a:solidFill>
                <a:latin typeface="Arial" charset="0"/>
              </a:defRPr>
            </a:lvl1pPr>
            <a:lvl2pPr marL="742950" indent="-285750">
              <a:defRPr sz="3200" b="1">
                <a:solidFill>
                  <a:schemeClr val="tx1"/>
                </a:solidFill>
                <a:latin typeface="Arial" charset="0"/>
              </a:defRPr>
            </a:lvl2pPr>
            <a:lvl3pPr marL="1143000" indent="-228600">
              <a:defRPr sz="3200" b="1">
                <a:solidFill>
                  <a:schemeClr val="tx1"/>
                </a:solidFill>
                <a:latin typeface="Arial" charset="0"/>
              </a:defRPr>
            </a:lvl3pPr>
            <a:lvl4pPr marL="1600200" indent="-228600">
              <a:defRPr sz="3200" b="1">
                <a:solidFill>
                  <a:schemeClr val="tx1"/>
                </a:solidFill>
                <a:latin typeface="Arial" charset="0"/>
              </a:defRPr>
            </a:lvl4pPr>
            <a:lvl5pPr marL="2057400" indent="-228600">
              <a:defRPr sz="3200" b="1">
                <a:solidFill>
                  <a:schemeClr val="tx1"/>
                </a:solidFill>
                <a:latin typeface="Arial" charset="0"/>
              </a:defRPr>
            </a:lvl5pPr>
            <a:lvl6pPr marL="2514600" indent="-228600" eaLnBrk="0" fontAlgn="base" hangingPunct="0">
              <a:spcBef>
                <a:spcPct val="0"/>
              </a:spcBef>
              <a:spcAft>
                <a:spcPct val="0"/>
              </a:spcAft>
              <a:defRPr sz="3200" b="1">
                <a:solidFill>
                  <a:schemeClr val="tx1"/>
                </a:solidFill>
                <a:latin typeface="Arial" charset="0"/>
              </a:defRPr>
            </a:lvl6pPr>
            <a:lvl7pPr marL="2971800" indent="-228600" eaLnBrk="0" fontAlgn="base" hangingPunct="0">
              <a:spcBef>
                <a:spcPct val="0"/>
              </a:spcBef>
              <a:spcAft>
                <a:spcPct val="0"/>
              </a:spcAft>
              <a:defRPr sz="3200" b="1">
                <a:solidFill>
                  <a:schemeClr val="tx1"/>
                </a:solidFill>
                <a:latin typeface="Arial" charset="0"/>
              </a:defRPr>
            </a:lvl7pPr>
            <a:lvl8pPr marL="3429000" indent="-228600" eaLnBrk="0" fontAlgn="base" hangingPunct="0">
              <a:spcBef>
                <a:spcPct val="0"/>
              </a:spcBef>
              <a:spcAft>
                <a:spcPct val="0"/>
              </a:spcAft>
              <a:defRPr sz="3200" b="1">
                <a:solidFill>
                  <a:schemeClr val="tx1"/>
                </a:solidFill>
                <a:latin typeface="Arial" charset="0"/>
              </a:defRPr>
            </a:lvl8pPr>
            <a:lvl9pPr marL="3886200" indent="-228600" eaLnBrk="0" fontAlgn="base" hangingPunct="0">
              <a:spcBef>
                <a:spcPct val="0"/>
              </a:spcBef>
              <a:spcAft>
                <a:spcPct val="0"/>
              </a:spcAft>
              <a:defRPr sz="3200" b="1">
                <a:solidFill>
                  <a:schemeClr val="tx1"/>
                </a:solidFill>
                <a:latin typeface="Arial" charset="0"/>
              </a:defRPr>
            </a:lvl9pPr>
          </a:lstStyle>
          <a:p>
            <a:pPr algn="r" eaLnBrk="1" hangingPunct="1">
              <a:spcBef>
                <a:spcPct val="50000"/>
              </a:spcBef>
              <a:buFontTx/>
              <a:buChar char="©"/>
              <a:defRPr/>
            </a:pPr>
            <a:r>
              <a:rPr lang="en-US" altLang="en-US" sz="1400" b="0">
                <a:latin typeface="McGrawHill-Italic" pitchFamily="2" charset="0"/>
              </a:rPr>
              <a:t>The McGraw-Hill Companies, Inc., 2000</a:t>
            </a:r>
            <a:endParaRPr lang="en-US" altLang="en-US" sz="2400" b="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8AB092C4-A841-4CB7-83E8-7CC673C759EB}"/>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35E40068-5177-4B28-A76F-9D77CE1D04D9}"/>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C01A0EDB-B4EE-4D01-89D9-98F17DD0B7DA}"/>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49F4F3DD-1B99-4206-AFC2-04BC919D3710}" type="slidenum">
              <a:rPr lang="en-US" altLang="zh-CN"/>
              <a:pPr>
                <a:defRPr/>
              </a:pPr>
              <a:t>‹#›</a:t>
            </a:fld>
            <a:endParaRPr lang="en-US" altLang="zh-CN"/>
          </a:p>
        </p:txBody>
      </p:sp>
    </p:spTree>
    <p:extLst>
      <p:ext uri="{BB962C8B-B14F-4D97-AF65-F5344CB8AC3E}">
        <p14:creationId xmlns:p14="http://schemas.microsoft.com/office/powerpoint/2010/main" val="270955254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12234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378335916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76728587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8435414"/>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2848752725"/>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36620232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3323116131"/>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4079044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67103441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56474988"/>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747959595"/>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4144390637"/>
      </p:ext>
    </p:extLst>
  </p:cSld>
  <p:clrMapOvr>
    <a:masterClrMapping/>
  </p:clrMapOvr>
  <p:transition spd="slow" advTm="35000">
    <p:fade/>
  </p:transition>
</p:sldLayout>
</file>

<file path=ppt/slideLayouts/slideLayout14.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p:txBody>
          <a:bodyPr/>
          <a:lstStyle/>
          <a:p>
            <a:endParaRPr lang="zh-CN" altLang="en-US" dirty="0"/>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p:txBody>
          <a:bodyPr/>
          <a:lstStyle/>
          <a:p>
            <a:endParaRPr lang="zh-CN" altLang="en-US" dirty="0"/>
          </a:p>
        </p:txBody>
      </p:sp>
    </p:spTree>
    <p:extLst>
      <p:ext uri="{BB962C8B-B14F-4D97-AF65-F5344CB8AC3E}">
        <p14:creationId xmlns:p14="http://schemas.microsoft.com/office/powerpoint/2010/main" val="52957152"/>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2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2"/>
            <a:ext cx="2743200" cy="365125"/>
          </a:xfrm>
          <a:prstGeom prst="rect">
            <a:avLst/>
          </a:prstGeom>
        </p:spPr>
        <p:txBody>
          <a:bodyPr/>
          <a:lstStyle/>
          <a:p>
            <a:fld id="{590ED014-C035-4F2F-9D10-AB3B853B4C04}" type="datetimeFigureOut">
              <a:rPr lang="zh-CN" altLang="en-US" smtClean="0"/>
              <a:t>2025-05-22</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2"/>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C92C279-1FB7-4944-9312-96E97344DF18}"/>
              </a:ext>
            </a:extLst>
          </p:cNvPr>
          <p:cNvSpPr>
            <a:spLocks noGrp="1"/>
          </p:cNvSpPr>
          <p:nvPr>
            <p:ph type="sldNum" sz="quarter" idx="12"/>
          </p:nvPr>
        </p:nvSpPr>
        <p:spPr>
          <a:xfrm>
            <a:off x="8610600" y="6356352"/>
            <a:ext cx="2743200" cy="365125"/>
          </a:xfrm>
          <a:prstGeom prst="rect">
            <a:avLst/>
          </a:prstGeom>
        </p:spPr>
        <p:txBody>
          <a:bodyPr/>
          <a:lstStyle/>
          <a:p>
            <a:fld id="{1B3167B1-0900-4986-B633-BCD25AEEE273}" type="slidenum">
              <a:rPr lang="zh-CN" altLang="en-US" smtClean="0"/>
              <a:t>‹#›</a:t>
            </a:fld>
            <a:endParaRPr lang="zh-CN" altLang="en-US"/>
          </a:p>
        </p:txBody>
      </p:sp>
    </p:spTree>
    <p:extLst>
      <p:ext uri="{BB962C8B-B14F-4D97-AF65-F5344CB8AC3E}">
        <p14:creationId xmlns:p14="http://schemas.microsoft.com/office/powerpoint/2010/main" val="22128327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userDrawn="1">
  <p:cSld name="3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0"/>
            <a:ext cx="2743200" cy="365125"/>
          </a:xfrm>
          <a:prstGeom prst="rect">
            <a:avLst/>
          </a:prstGeom>
        </p:spPr>
        <p:txBody>
          <a:bodyPr/>
          <a:lstStyle/>
          <a:p>
            <a:fld id="{590ED014-C035-4F2F-9D10-AB3B853B4C04}" type="datetimeFigureOut">
              <a:rPr lang="zh-CN" altLang="en-US" smtClean="0"/>
              <a:t>2025-05-22</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
        <p:nvSpPr>
          <p:cNvPr id="6" name="灯片编号占位符 5">
            <a:extLst>
              <a:ext uri="{FF2B5EF4-FFF2-40B4-BE49-F238E27FC236}">
                <a16:creationId xmlns:a16="http://schemas.microsoft.com/office/drawing/2014/main" id="{3C92C279-1FB7-4944-9312-96E97344DF18}"/>
              </a:ext>
            </a:extLst>
          </p:cNvPr>
          <p:cNvSpPr>
            <a:spLocks noGrp="1"/>
          </p:cNvSpPr>
          <p:nvPr>
            <p:ph type="sldNum" sz="quarter" idx="12"/>
          </p:nvPr>
        </p:nvSpPr>
        <p:spPr>
          <a:xfrm>
            <a:off x="8610600" y="6356350"/>
            <a:ext cx="2743200" cy="365125"/>
          </a:xfrm>
          <a:prstGeom prst="rect">
            <a:avLst/>
          </a:prstGeom>
        </p:spPr>
        <p:txBody>
          <a:bodyPr/>
          <a:lstStyle/>
          <a:p>
            <a:fld id="{1B3167B1-0900-4986-B633-BCD25AEEE273}" type="slidenum">
              <a:rPr lang="zh-CN" altLang="en-US" smtClean="0"/>
              <a:t>‹#›</a:t>
            </a:fld>
            <a:endParaRPr lang="zh-CN" altLang="en-US"/>
          </a:p>
        </p:txBody>
      </p:sp>
    </p:spTree>
    <p:extLst>
      <p:ext uri="{BB962C8B-B14F-4D97-AF65-F5344CB8AC3E}">
        <p14:creationId xmlns:p14="http://schemas.microsoft.com/office/powerpoint/2010/main" val="1546519860"/>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4_标题和内容">
    <p:spTree>
      <p:nvGrpSpPr>
        <p:cNvPr id="1" name=""/>
        <p:cNvGrpSpPr/>
        <p:nvPr/>
      </p:nvGrpSpPr>
      <p:grpSpPr>
        <a:xfrm>
          <a:off x="0" y="0"/>
          <a:ext cx="0" cy="0"/>
          <a:chOff x="0" y="0"/>
          <a:chExt cx="0" cy="0"/>
        </a:xfrm>
      </p:grpSpPr>
      <p:sp>
        <p:nvSpPr>
          <p:cNvPr id="5" name="Rectangle 16">
            <a:extLst>
              <a:ext uri="{FF2B5EF4-FFF2-40B4-BE49-F238E27FC236}">
                <a16:creationId xmlns:a16="http://schemas.microsoft.com/office/drawing/2014/main" id="{D2424670-E61F-48FC-9670-7A1EB5D692CC}"/>
              </a:ext>
            </a:extLst>
          </p:cNvPr>
          <p:cNvSpPr>
            <a:spLocks noGrp="1" noChangeArrowheads="1"/>
          </p:cNvSpPr>
          <p:nvPr>
            <p:ph type="sldNum" sz="quarter" idx="10"/>
          </p:nvPr>
        </p:nvSpPr>
        <p:spPr>
          <a:xfrm>
            <a:off x="10972800" y="6400800"/>
            <a:ext cx="1422400" cy="457200"/>
          </a:xfrm>
          <a:prstGeom prst="rect">
            <a:avLst/>
          </a:prstGeom>
        </p:spPr>
        <p:txBody>
          <a:bodyPr/>
          <a:lstStyle>
            <a:lvl1pPr>
              <a:defRPr/>
            </a:lvl1pPr>
          </a:lstStyle>
          <a:p>
            <a:pPr>
              <a:defRPr/>
            </a:pPr>
            <a:r>
              <a:rPr lang="en-US" altLang="zh-CN"/>
              <a:t>13.</a:t>
            </a:r>
            <a:fld id="{50167F0C-C953-4DC0-99BC-7424AE0FD0EE}" type="slidenum">
              <a:rPr lang="en-US" altLang="zh-CN"/>
              <a:pPr>
                <a:defRPr/>
              </a:pPr>
              <a:t>‹#›</a:t>
            </a:fld>
            <a:endParaRPr lang="en-US" altLang="zh-CN"/>
          </a:p>
        </p:txBody>
      </p:sp>
    </p:spTree>
    <p:extLst>
      <p:ext uri="{BB962C8B-B14F-4D97-AF65-F5344CB8AC3E}">
        <p14:creationId xmlns:p14="http://schemas.microsoft.com/office/powerpoint/2010/main" val="3001297916"/>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7981B49-7C14-4DDB-9D42-C372F3EF69FE}"/>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D6885F69-33E9-4A6A-A4FA-6299E6922699}"/>
                </a:ext>
              </a:extLst>
            </p:cNvPr>
            <p:cNvGrpSpPr>
              <a:grpSpLocks/>
            </p:cNvGrpSpPr>
            <p:nvPr/>
          </p:nvGrpSpPr>
          <p:grpSpPr bwMode="auto">
            <a:xfrm>
              <a:off x="185" y="1604"/>
              <a:ext cx="449" cy="299"/>
              <a:chOff x="720" y="336"/>
              <a:chExt cx="624" cy="432"/>
            </a:xfrm>
          </p:grpSpPr>
          <p:sp>
            <p:nvSpPr>
              <p:cNvPr id="12" name="Rectangle 4">
                <a:extLst>
                  <a:ext uri="{FF2B5EF4-FFF2-40B4-BE49-F238E27FC236}">
                    <a16:creationId xmlns:a16="http://schemas.microsoft.com/office/drawing/2014/main" id="{2C46481C-A4B7-4C60-BA92-0524657D57D4}"/>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3" name="Rectangle 5">
                <a:extLst>
                  <a:ext uri="{FF2B5EF4-FFF2-40B4-BE49-F238E27FC236}">
                    <a16:creationId xmlns:a16="http://schemas.microsoft.com/office/drawing/2014/main" id="{37025376-20C8-447D-A38D-8497DB81F8C0}"/>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grpSp>
          <p:nvGrpSpPr>
            <p:cNvPr id="6" name="Group 6">
              <a:extLst>
                <a:ext uri="{FF2B5EF4-FFF2-40B4-BE49-F238E27FC236}">
                  <a16:creationId xmlns:a16="http://schemas.microsoft.com/office/drawing/2014/main" id="{8CD35F14-D160-42DA-BD7B-CC99881ADC35}"/>
                </a:ext>
              </a:extLst>
            </p:cNvPr>
            <p:cNvGrpSpPr>
              <a:grpSpLocks/>
            </p:cNvGrpSpPr>
            <p:nvPr/>
          </p:nvGrpSpPr>
          <p:grpSpPr bwMode="auto">
            <a:xfrm>
              <a:off x="263" y="1870"/>
              <a:ext cx="466" cy="299"/>
              <a:chOff x="912" y="2640"/>
              <a:chExt cx="672" cy="432"/>
            </a:xfrm>
          </p:grpSpPr>
          <p:sp>
            <p:nvSpPr>
              <p:cNvPr id="10" name="Rectangle 7">
                <a:extLst>
                  <a:ext uri="{FF2B5EF4-FFF2-40B4-BE49-F238E27FC236}">
                    <a16:creationId xmlns:a16="http://schemas.microsoft.com/office/drawing/2014/main" id="{A7294D4E-0EC2-462D-A10E-AECE7B556C87}"/>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11" name="Rectangle 8">
                <a:extLst>
                  <a:ext uri="{FF2B5EF4-FFF2-40B4-BE49-F238E27FC236}">
                    <a16:creationId xmlns:a16="http://schemas.microsoft.com/office/drawing/2014/main" id="{EEE783AB-46B7-40CE-BF15-FB6ED62241CB}"/>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7" name="Rectangle 9">
              <a:extLst>
                <a:ext uri="{FF2B5EF4-FFF2-40B4-BE49-F238E27FC236}">
                  <a16:creationId xmlns:a16="http://schemas.microsoft.com/office/drawing/2014/main" id="{4DC2670D-5617-4E30-BC05-DFC26C4B43E4}"/>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8" name="Rectangle 10">
              <a:extLst>
                <a:ext uri="{FF2B5EF4-FFF2-40B4-BE49-F238E27FC236}">
                  <a16:creationId xmlns:a16="http://schemas.microsoft.com/office/drawing/2014/main" id="{39B9E6EA-1D1C-43A6-87B9-FA62884EE218}"/>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sp>
          <p:nvSpPr>
            <p:cNvPr id="9" name="Rectangle 11">
              <a:extLst>
                <a:ext uri="{FF2B5EF4-FFF2-40B4-BE49-F238E27FC236}">
                  <a16:creationId xmlns:a16="http://schemas.microsoft.com/office/drawing/2014/main" id="{69B6E995-8D76-4154-8A09-B6565C252DDF}"/>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a:defRPr/>
              </a:pPr>
              <a:endParaRPr lang="zh-CN" altLang="en-US" sz="3200">
                <a:ea typeface="宋体" panose="02010600030101010101" pitchFamily="2" charset="-122"/>
              </a:endParaRPr>
            </a:p>
          </p:txBody>
        </p:sp>
      </p:grpSp>
      <p:sp>
        <p:nvSpPr>
          <p:cNvPr id="14" name="Text Box 17">
            <a:extLst>
              <a:ext uri="{FF2B5EF4-FFF2-40B4-BE49-F238E27FC236}">
                <a16:creationId xmlns:a16="http://schemas.microsoft.com/office/drawing/2014/main" id="{2A9462FA-3140-48F7-B963-133D64FD8F2C}"/>
              </a:ext>
            </a:extLst>
          </p:cNvPr>
          <p:cNvSpPr txBox="1">
            <a:spLocks noChangeArrowheads="1"/>
          </p:cNvSpPr>
          <p:nvPr userDrawn="1"/>
        </p:nvSpPr>
        <p:spPr bwMode="auto">
          <a:xfrm>
            <a:off x="0" y="6553200"/>
            <a:ext cx="29464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eaLnBrk="1" hangingPunct="1">
              <a:spcBef>
                <a:spcPct val="50000"/>
              </a:spcBef>
              <a:defRPr/>
            </a:pPr>
            <a:r>
              <a:rPr lang="en-US" altLang="en-US" sz="1400" b="0" baseline="0">
                <a:latin typeface="McGrawHill-Italic" pitchFamily="2" charset="0"/>
              </a:rPr>
              <a:t>McGraw-Hill</a:t>
            </a:r>
            <a:endParaRPr lang="en-US" altLang="en-US" sz="2400" b="0" baseline="0">
              <a:latin typeface="Times New Roman" pitchFamily="18" charset="0"/>
            </a:endParaRPr>
          </a:p>
        </p:txBody>
      </p:sp>
      <p:sp>
        <p:nvSpPr>
          <p:cNvPr id="15" name="Text Box 18">
            <a:extLst>
              <a:ext uri="{FF2B5EF4-FFF2-40B4-BE49-F238E27FC236}">
                <a16:creationId xmlns:a16="http://schemas.microsoft.com/office/drawing/2014/main" id="{9408F303-2B46-4D67-A446-AA2B22E169C6}"/>
              </a:ext>
            </a:extLst>
          </p:cNvPr>
          <p:cNvSpPr txBox="1">
            <a:spLocks noChangeArrowheads="1"/>
          </p:cNvSpPr>
          <p:nvPr userDrawn="1"/>
        </p:nvSpPr>
        <p:spPr bwMode="auto">
          <a:xfrm>
            <a:off x="6096000" y="6553200"/>
            <a:ext cx="60960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lgn="r" eaLnBrk="1" hangingPunct="1">
              <a:spcBef>
                <a:spcPct val="50000"/>
              </a:spcBef>
              <a:buFontTx/>
              <a:buChar char="©"/>
              <a:defRPr/>
            </a:pPr>
            <a:r>
              <a:rPr lang="en-US" altLang="en-US" sz="1400" b="0" baseline="0">
                <a:latin typeface="McGrawHill-Italic" pitchFamily="2" charset="0"/>
              </a:rPr>
              <a:t>The McGraw-Hill Companies, Inc., 2000</a:t>
            </a:r>
            <a:endParaRPr lang="en-US" altLang="en-US" sz="2400" b="0" baseline="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A7D03BD3-931C-420C-9BF6-220187395154}"/>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D4B24E97-90EF-4E9D-AE70-ECA640DDF711}"/>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44E5EDF7-5B7F-465E-805E-2D97C1872889}"/>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F8470A0D-2F7F-422F-ACD7-AE6271D7C84E}" type="slidenum">
              <a:rPr lang="en-US" altLang="zh-CN"/>
              <a:pPr>
                <a:defRPr/>
              </a:pPr>
              <a:t>‹#›</a:t>
            </a:fld>
            <a:endParaRPr lang="en-US" altLang="zh-CN"/>
          </a:p>
        </p:txBody>
      </p:sp>
    </p:spTree>
    <p:extLst>
      <p:ext uri="{BB962C8B-B14F-4D97-AF65-F5344CB8AC3E}">
        <p14:creationId xmlns:p14="http://schemas.microsoft.com/office/powerpoint/2010/main" val="550372999"/>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标题和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1358577114"/>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节标题">
    <p:spTree>
      <p:nvGrpSpPr>
        <p:cNvPr id="1" name=""/>
        <p:cNvGrpSpPr/>
        <p:nvPr/>
      </p:nvGrpSpPr>
      <p:grpSpPr>
        <a:xfrm>
          <a:off x="0" y="0"/>
          <a:ext cx="0" cy="0"/>
          <a:chOff x="0" y="0"/>
          <a:chExt cx="0" cy="0"/>
        </a:xfrm>
      </p:grpSpPr>
    </p:spTree>
    <p:extLst>
      <p:ext uri="{BB962C8B-B14F-4D97-AF65-F5344CB8AC3E}">
        <p14:creationId xmlns:p14="http://schemas.microsoft.com/office/powerpoint/2010/main" val="2875775798"/>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16594337"/>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464042197"/>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857672972"/>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2432287135"/>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dirty="0"/>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dirty="0"/>
              <a:t>单击此处编辑母版文本样式</a:t>
            </a:r>
          </a:p>
        </p:txBody>
      </p:sp>
    </p:spTree>
    <p:extLst>
      <p:ext uri="{BB962C8B-B14F-4D97-AF65-F5344CB8AC3E}">
        <p14:creationId xmlns:p14="http://schemas.microsoft.com/office/powerpoint/2010/main" val="428858460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2864282569"/>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698045068"/>
      </p:ext>
    </p:extLst>
  </p:cSld>
  <p:clrMapOvr>
    <a:masterClrMapping/>
  </p:clrMapOvr>
</p:sldLayout>
</file>

<file path=ppt/slideLayouts/slideLayout28.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dirty="0"/>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dirty="0"/>
              <a:t>单击此处编辑母版文本样式</a:t>
            </a:r>
          </a:p>
          <a:p>
            <a:pPr lvl="1"/>
            <a:r>
              <a:rPr lang="zh-CN" altLang="en-US" dirty="0"/>
              <a:t>第二级</a:t>
            </a:r>
          </a:p>
          <a:p>
            <a:pPr lvl="2"/>
            <a:r>
              <a:rPr lang="zh-CN" altLang="en-US" dirty="0"/>
              <a:t>第三级</a:t>
            </a:r>
          </a:p>
          <a:p>
            <a:pPr lvl="3"/>
            <a:r>
              <a:rPr lang="zh-CN" altLang="en-US" dirty="0"/>
              <a:t>第四级</a:t>
            </a:r>
          </a:p>
          <a:p>
            <a:pPr lvl="4"/>
            <a:r>
              <a:rPr lang="zh-CN" altLang="en-US" dirty="0"/>
              <a:t>第五级</a:t>
            </a:r>
          </a:p>
        </p:txBody>
      </p:sp>
    </p:spTree>
    <p:extLst>
      <p:ext uri="{BB962C8B-B14F-4D97-AF65-F5344CB8AC3E}">
        <p14:creationId xmlns:p14="http://schemas.microsoft.com/office/powerpoint/2010/main" val="2380707510"/>
      </p:ext>
    </p:extLst>
  </p:cSld>
  <p:clrMapOvr>
    <a:masterClrMapping/>
  </p:clrMapOvr>
</p:sldLayout>
</file>

<file path=ppt/slideLayouts/slideLayout29.xml><?xml version="1.0" encoding="utf-8"?>
<p:sldLayout xmlns:a="http://schemas.openxmlformats.org/drawingml/2006/main" xmlns:r="http://schemas.openxmlformats.org/officeDocument/2006/relationships" xmlns:p="http://schemas.openxmlformats.org/presentationml/2006/main" preserve="1" userDrawn="1">
  <p:cSld name="内容">
    <p:spTree>
      <p:nvGrpSpPr>
        <p:cNvPr id="1" name=""/>
        <p:cNvGrpSpPr/>
        <p:nvPr/>
      </p:nvGrpSpPr>
      <p:grpSpPr>
        <a:xfrm>
          <a:off x="0" y="0"/>
          <a:ext cx="0" cy="0"/>
          <a:chOff x="0" y="0"/>
          <a:chExt cx="0" cy="0"/>
        </a:xfrm>
      </p:grpSpPr>
    </p:spTree>
    <p:extLst>
      <p:ext uri="{BB962C8B-B14F-4D97-AF65-F5344CB8AC3E}">
        <p14:creationId xmlns:p14="http://schemas.microsoft.com/office/powerpoint/2010/main" val="3204648694"/>
      </p:ext>
    </p:extLst>
  </p:cSld>
  <p:clrMapOvr>
    <a:masterClrMapping/>
  </p:clrMapOvr>
</p:sldLayout>
</file>

<file path=ppt/slideLayouts/slideLayout30.xml><?xml version="1.0" encoding="utf-8"?>
<p:sldLayout xmlns:a="http://schemas.openxmlformats.org/drawingml/2006/main" xmlns:r="http://schemas.openxmlformats.org/officeDocument/2006/relationships" xmlns:p="http://schemas.openxmlformats.org/presentationml/2006/main" userDrawn="1">
  <p:cSld name="1_标题和内容">
    <p:spTree>
      <p:nvGrpSpPr>
        <p:cNvPr id="1" name=""/>
        <p:cNvGrpSpPr/>
        <p:nvPr/>
      </p:nvGrpSpPr>
      <p:grpSpPr>
        <a:xfrm>
          <a:off x="0" y="0"/>
          <a:ext cx="0" cy="0"/>
          <a:chOff x="0" y="0"/>
          <a:chExt cx="0" cy="0"/>
        </a:xfrm>
      </p:grpSpPr>
      <p:sp>
        <p:nvSpPr>
          <p:cNvPr id="4" name="日期占位符 3">
            <a:extLst>
              <a:ext uri="{FF2B5EF4-FFF2-40B4-BE49-F238E27FC236}">
                <a16:creationId xmlns:a16="http://schemas.microsoft.com/office/drawing/2014/main" id="{E0F4F38F-2049-4505-9944-F0F0A234CF32}"/>
              </a:ext>
            </a:extLst>
          </p:cNvPr>
          <p:cNvSpPr>
            <a:spLocks noGrp="1"/>
          </p:cNvSpPr>
          <p:nvPr>
            <p:ph type="dt" sz="half" idx="10"/>
          </p:nvPr>
        </p:nvSpPr>
        <p:spPr>
          <a:xfrm>
            <a:off x="838200" y="6356350"/>
            <a:ext cx="2743200" cy="365125"/>
          </a:xfrm>
          <a:prstGeom prst="rect">
            <a:avLst/>
          </a:prstGeom>
        </p:spPr>
        <p:txBody>
          <a:bodyPr/>
          <a:lstStyle/>
          <a:p>
            <a:fld id="{590ED014-C035-4F2F-9D10-AB3B853B4C04}" type="datetimeFigureOut">
              <a:rPr lang="zh-CN" altLang="en-US" smtClean="0"/>
              <a:t>2025-05-22</a:t>
            </a:fld>
            <a:endParaRPr lang="zh-CN" altLang="en-US"/>
          </a:p>
        </p:txBody>
      </p:sp>
      <p:sp>
        <p:nvSpPr>
          <p:cNvPr id="5" name="页脚占位符 4">
            <a:extLst>
              <a:ext uri="{FF2B5EF4-FFF2-40B4-BE49-F238E27FC236}">
                <a16:creationId xmlns:a16="http://schemas.microsoft.com/office/drawing/2014/main" id="{0710F410-64ED-4AE4-90F9-B3C3F36EA59C}"/>
              </a:ext>
            </a:extLst>
          </p:cNvPr>
          <p:cNvSpPr>
            <a:spLocks noGrp="1"/>
          </p:cNvSpPr>
          <p:nvPr>
            <p:ph type="ftr" sz="quarter" idx="11"/>
          </p:nvPr>
        </p:nvSpPr>
        <p:spPr>
          <a:xfrm>
            <a:off x="4038600" y="6356350"/>
            <a:ext cx="4114800" cy="365125"/>
          </a:xfrm>
          <a:prstGeom prst="rect">
            <a:avLst/>
          </a:prstGeom>
        </p:spPr>
        <p:txBody>
          <a:bodyPr/>
          <a:lstStyle/>
          <a:p>
            <a:endParaRPr lang="zh-CN" altLang="en-US"/>
          </a:p>
        </p:txBody>
      </p:sp>
    </p:spTree>
    <p:extLst>
      <p:ext uri="{BB962C8B-B14F-4D97-AF65-F5344CB8AC3E}">
        <p14:creationId xmlns:p14="http://schemas.microsoft.com/office/powerpoint/2010/main" val="3076699109"/>
      </p:ext>
    </p:extLst>
  </p:cSld>
  <p:clrMapOvr>
    <a:masterClrMapping/>
  </p:clrMapOvr>
</p:sldLayout>
</file>

<file path=ppt/slideLayouts/slideLayout31.xml><?xml version="1.0" encoding="utf-8"?>
<p:sldLayout xmlns:a="http://schemas.openxmlformats.org/drawingml/2006/main" xmlns:r="http://schemas.openxmlformats.org/officeDocument/2006/relationships" xmlns:p="http://schemas.openxmlformats.org/presentationml/2006/main" type="title" preserve="1">
  <p:cSld name="标题幻灯片">
    <p:spTree>
      <p:nvGrpSpPr>
        <p:cNvPr id="1" name=""/>
        <p:cNvGrpSpPr/>
        <p:nvPr/>
      </p:nvGrpSpPr>
      <p:grpSpPr>
        <a:xfrm>
          <a:off x="0" y="0"/>
          <a:ext cx="0" cy="0"/>
          <a:chOff x="0" y="0"/>
          <a:chExt cx="0" cy="0"/>
        </a:xfrm>
      </p:grpSpPr>
      <p:grpSp>
        <p:nvGrpSpPr>
          <p:cNvPr id="4" name="Group 2">
            <a:extLst>
              <a:ext uri="{FF2B5EF4-FFF2-40B4-BE49-F238E27FC236}">
                <a16:creationId xmlns:a16="http://schemas.microsoft.com/office/drawing/2014/main" id="{01AB8619-697A-497F-9D68-1CBA16161B34}"/>
              </a:ext>
            </a:extLst>
          </p:cNvPr>
          <p:cNvGrpSpPr>
            <a:grpSpLocks/>
          </p:cNvGrpSpPr>
          <p:nvPr/>
        </p:nvGrpSpPr>
        <p:grpSpPr bwMode="auto">
          <a:xfrm>
            <a:off x="1" y="2438401"/>
            <a:ext cx="12012084" cy="1052513"/>
            <a:chOff x="0" y="1536"/>
            <a:chExt cx="5675" cy="663"/>
          </a:xfrm>
        </p:grpSpPr>
        <p:grpSp>
          <p:nvGrpSpPr>
            <p:cNvPr id="5" name="Group 3">
              <a:extLst>
                <a:ext uri="{FF2B5EF4-FFF2-40B4-BE49-F238E27FC236}">
                  <a16:creationId xmlns:a16="http://schemas.microsoft.com/office/drawing/2014/main" id="{DD487746-C593-4717-A6CF-98EC6F1089C3}"/>
                </a:ext>
              </a:extLst>
            </p:cNvPr>
            <p:cNvGrpSpPr>
              <a:grpSpLocks/>
            </p:cNvGrpSpPr>
            <p:nvPr/>
          </p:nvGrpSpPr>
          <p:grpSpPr bwMode="auto">
            <a:xfrm>
              <a:off x="183" y="1604"/>
              <a:ext cx="448" cy="299"/>
              <a:chOff x="720" y="336"/>
              <a:chExt cx="624" cy="432"/>
            </a:xfrm>
          </p:grpSpPr>
          <p:sp>
            <p:nvSpPr>
              <p:cNvPr id="12" name="Rectangle 4">
                <a:extLst>
                  <a:ext uri="{FF2B5EF4-FFF2-40B4-BE49-F238E27FC236}">
                    <a16:creationId xmlns:a16="http://schemas.microsoft.com/office/drawing/2014/main" id="{74117CC0-38D2-4513-9CB4-D10F7DEB74AF}"/>
                  </a:ext>
                </a:extLst>
              </p:cNvPr>
              <p:cNvSpPr>
                <a:spLocks noChangeArrowheads="1"/>
              </p:cNvSpPr>
              <p:nvPr/>
            </p:nvSpPr>
            <p:spPr bwMode="auto">
              <a:xfrm>
                <a:off x="720" y="336"/>
                <a:ext cx="384" cy="432"/>
              </a:xfrm>
              <a:prstGeom prst="rect">
                <a:avLst/>
              </a:prstGeom>
              <a:solidFill>
                <a:schemeClr val="folHlink"/>
              </a:soli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sp>
            <p:nvSpPr>
              <p:cNvPr id="13" name="Rectangle 5">
                <a:extLst>
                  <a:ext uri="{FF2B5EF4-FFF2-40B4-BE49-F238E27FC236}">
                    <a16:creationId xmlns:a16="http://schemas.microsoft.com/office/drawing/2014/main" id="{DE7B0478-ABF5-4765-9FFA-587F8E899DBB}"/>
                  </a:ext>
                </a:extLst>
              </p:cNvPr>
              <p:cNvSpPr>
                <a:spLocks noChangeArrowheads="1"/>
              </p:cNvSpPr>
              <p:nvPr/>
            </p:nvSpPr>
            <p:spPr bwMode="auto">
              <a:xfrm>
                <a:off x="1056" y="336"/>
                <a:ext cx="288" cy="432"/>
              </a:xfrm>
              <a:prstGeom prst="rect">
                <a:avLst/>
              </a:prstGeom>
              <a:gradFill rotWithShape="0">
                <a:gsLst>
                  <a:gs pos="0">
                    <a:schemeClr val="folHlink"/>
                  </a:gs>
                  <a:gs pos="100000">
                    <a:schemeClr val="bg1"/>
                  </a:gs>
                </a:gsLst>
                <a:lin ang="0" scaled="1"/>
              </a:gra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grpSp>
        <p:grpSp>
          <p:nvGrpSpPr>
            <p:cNvPr id="6" name="Group 6">
              <a:extLst>
                <a:ext uri="{FF2B5EF4-FFF2-40B4-BE49-F238E27FC236}">
                  <a16:creationId xmlns:a16="http://schemas.microsoft.com/office/drawing/2014/main" id="{F7E2F6C6-B886-43F3-8BE0-E50C63497CC0}"/>
                </a:ext>
              </a:extLst>
            </p:cNvPr>
            <p:cNvGrpSpPr>
              <a:grpSpLocks/>
            </p:cNvGrpSpPr>
            <p:nvPr/>
          </p:nvGrpSpPr>
          <p:grpSpPr bwMode="auto">
            <a:xfrm>
              <a:off x="261" y="1870"/>
              <a:ext cx="465" cy="299"/>
              <a:chOff x="912" y="2640"/>
              <a:chExt cx="672" cy="432"/>
            </a:xfrm>
          </p:grpSpPr>
          <p:sp>
            <p:nvSpPr>
              <p:cNvPr id="10" name="Rectangle 7">
                <a:extLst>
                  <a:ext uri="{FF2B5EF4-FFF2-40B4-BE49-F238E27FC236}">
                    <a16:creationId xmlns:a16="http://schemas.microsoft.com/office/drawing/2014/main" id="{47A6A5DE-29BD-413E-AF21-D4D712FA8E90}"/>
                  </a:ext>
                </a:extLst>
              </p:cNvPr>
              <p:cNvSpPr>
                <a:spLocks noChangeArrowheads="1"/>
              </p:cNvSpPr>
              <p:nvPr/>
            </p:nvSpPr>
            <p:spPr bwMode="auto">
              <a:xfrm>
                <a:off x="912" y="2640"/>
                <a:ext cx="384" cy="432"/>
              </a:xfrm>
              <a:prstGeom prst="rect">
                <a:avLst/>
              </a:prstGeom>
              <a:solidFill>
                <a:schemeClr val="accent2"/>
              </a:soli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sp>
            <p:nvSpPr>
              <p:cNvPr id="11" name="Rectangle 8">
                <a:extLst>
                  <a:ext uri="{FF2B5EF4-FFF2-40B4-BE49-F238E27FC236}">
                    <a16:creationId xmlns:a16="http://schemas.microsoft.com/office/drawing/2014/main" id="{0A466FEF-9A2A-40DD-B787-8939A5E20907}"/>
                  </a:ext>
                </a:extLst>
              </p:cNvPr>
              <p:cNvSpPr>
                <a:spLocks noChangeArrowheads="1"/>
              </p:cNvSpPr>
              <p:nvPr/>
            </p:nvSpPr>
            <p:spPr bwMode="auto">
              <a:xfrm>
                <a:off x="1249" y="2640"/>
                <a:ext cx="335" cy="432"/>
              </a:xfrm>
              <a:prstGeom prst="rect">
                <a:avLst/>
              </a:prstGeom>
              <a:gradFill rotWithShape="0">
                <a:gsLst>
                  <a:gs pos="0">
                    <a:schemeClr val="accent2"/>
                  </a:gs>
                  <a:gs pos="100000">
                    <a:schemeClr val="bg1"/>
                  </a:gs>
                </a:gsLst>
                <a:lin ang="0" scaled="1"/>
              </a:gra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grpSp>
        <p:sp>
          <p:nvSpPr>
            <p:cNvPr id="7" name="Rectangle 9">
              <a:extLst>
                <a:ext uri="{FF2B5EF4-FFF2-40B4-BE49-F238E27FC236}">
                  <a16:creationId xmlns:a16="http://schemas.microsoft.com/office/drawing/2014/main" id="{58E14634-2E66-4EF9-A957-0E8E02F6382B}"/>
                </a:ext>
              </a:extLst>
            </p:cNvPr>
            <p:cNvSpPr>
              <a:spLocks noChangeArrowheads="1"/>
            </p:cNvSpPr>
            <p:nvPr/>
          </p:nvSpPr>
          <p:spPr bwMode="auto">
            <a:xfrm>
              <a:off x="0" y="1824"/>
              <a:ext cx="353" cy="266"/>
            </a:xfrm>
            <a:prstGeom prst="rect">
              <a:avLst/>
            </a:prstGeom>
            <a:gradFill rotWithShape="0">
              <a:gsLst>
                <a:gs pos="0">
                  <a:schemeClr val="bg1"/>
                </a:gs>
                <a:gs pos="100000">
                  <a:schemeClr val="hlink"/>
                </a:gs>
              </a:gsLst>
              <a:lin ang="18900000" scaled="1"/>
            </a:gra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sp>
          <p:nvSpPr>
            <p:cNvPr id="8" name="Rectangle 10">
              <a:extLst>
                <a:ext uri="{FF2B5EF4-FFF2-40B4-BE49-F238E27FC236}">
                  <a16:creationId xmlns:a16="http://schemas.microsoft.com/office/drawing/2014/main" id="{35483E5A-9B57-4F12-8A7B-E635FA068B0F}"/>
                </a:ext>
              </a:extLst>
            </p:cNvPr>
            <p:cNvSpPr>
              <a:spLocks noChangeArrowheads="1"/>
            </p:cNvSpPr>
            <p:nvPr/>
          </p:nvSpPr>
          <p:spPr bwMode="auto">
            <a:xfrm>
              <a:off x="400" y="1536"/>
              <a:ext cx="20" cy="663"/>
            </a:xfrm>
            <a:prstGeom prst="rect">
              <a:avLst/>
            </a:prstGeom>
            <a:solidFill>
              <a:schemeClr val="bg2"/>
            </a:soli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sp>
          <p:nvSpPr>
            <p:cNvPr id="9" name="Rectangle 11">
              <a:extLst>
                <a:ext uri="{FF2B5EF4-FFF2-40B4-BE49-F238E27FC236}">
                  <a16:creationId xmlns:a16="http://schemas.microsoft.com/office/drawing/2014/main" id="{3F8815FA-637D-4DBC-B77E-DF1790B8E7AE}"/>
                </a:ext>
              </a:extLst>
            </p:cNvPr>
            <p:cNvSpPr>
              <a:spLocks noChangeArrowheads="1"/>
            </p:cNvSpPr>
            <p:nvPr/>
          </p:nvSpPr>
          <p:spPr bwMode="auto">
            <a:xfrm flipV="1">
              <a:off x="199" y="2054"/>
              <a:ext cx="5476" cy="35"/>
            </a:xfrm>
            <a:prstGeom prst="rect">
              <a:avLst/>
            </a:prstGeom>
            <a:gradFill rotWithShape="0">
              <a:gsLst>
                <a:gs pos="0">
                  <a:schemeClr val="bg2"/>
                </a:gs>
                <a:gs pos="100000">
                  <a:schemeClr val="bg1"/>
                </a:gs>
              </a:gsLst>
              <a:lin ang="0" scaled="1"/>
            </a:gradFill>
            <a:ln>
              <a:noFill/>
            </a:ln>
            <a:effectLst/>
          </p:spPr>
          <p:txBody>
            <a:bodyPr wrap="none" anchor="ct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defRPr/>
              </a:pPr>
              <a:endParaRPr lang="zh-CN" altLang="en-US" sz="3200">
                <a:ea typeface="宋体" charset="-122"/>
              </a:endParaRPr>
            </a:p>
          </p:txBody>
        </p:sp>
      </p:grpSp>
      <p:sp>
        <p:nvSpPr>
          <p:cNvPr id="14" name="Text Box 17">
            <a:extLst>
              <a:ext uri="{FF2B5EF4-FFF2-40B4-BE49-F238E27FC236}">
                <a16:creationId xmlns:a16="http://schemas.microsoft.com/office/drawing/2014/main" id="{C1835421-CE9D-4AB6-95EF-E22BA9B811E2}"/>
              </a:ext>
            </a:extLst>
          </p:cNvPr>
          <p:cNvSpPr txBox="1">
            <a:spLocks noChangeArrowheads="1"/>
          </p:cNvSpPr>
          <p:nvPr/>
        </p:nvSpPr>
        <p:spPr bwMode="auto">
          <a:xfrm>
            <a:off x="0" y="6553200"/>
            <a:ext cx="29464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eaLnBrk="1" hangingPunct="1">
              <a:spcBef>
                <a:spcPct val="50000"/>
              </a:spcBef>
              <a:defRPr/>
            </a:pPr>
            <a:r>
              <a:rPr lang="en-US" altLang="en-US" sz="1400" b="0" baseline="0">
                <a:latin typeface="McGrawHill-Italic" pitchFamily="2" charset="0"/>
              </a:rPr>
              <a:t>McGraw-Hill</a:t>
            </a:r>
            <a:endParaRPr lang="en-US" altLang="en-US" sz="2400" b="0" baseline="0">
              <a:latin typeface="Times New Roman" pitchFamily="18" charset="0"/>
            </a:endParaRPr>
          </a:p>
        </p:txBody>
      </p:sp>
      <p:sp>
        <p:nvSpPr>
          <p:cNvPr id="15" name="Text Box 18">
            <a:extLst>
              <a:ext uri="{FF2B5EF4-FFF2-40B4-BE49-F238E27FC236}">
                <a16:creationId xmlns:a16="http://schemas.microsoft.com/office/drawing/2014/main" id="{B8A8D50D-A803-4BA0-8EED-616DF3936BE4}"/>
              </a:ext>
            </a:extLst>
          </p:cNvPr>
          <p:cNvSpPr txBox="1">
            <a:spLocks noChangeArrowheads="1"/>
          </p:cNvSpPr>
          <p:nvPr/>
        </p:nvSpPr>
        <p:spPr bwMode="auto">
          <a:xfrm>
            <a:off x="6096000" y="6553200"/>
            <a:ext cx="6096000" cy="304800"/>
          </a:xfrm>
          <a:prstGeom prst="rect">
            <a:avLst/>
          </a:prstGeom>
          <a:noFill/>
          <a:ln>
            <a:noFill/>
          </a:ln>
          <a:effectLst/>
        </p:spPr>
        <p:txBody>
          <a:bodyPr>
            <a:spAutoFit/>
          </a:bodyPr>
          <a:lstStyle>
            <a:lvl1pPr>
              <a:defRPr sz="3200" b="1" baseline="-18000">
                <a:solidFill>
                  <a:schemeClr val="tx1"/>
                </a:solidFill>
                <a:latin typeface="Arial" charset="0"/>
              </a:defRPr>
            </a:lvl1pPr>
            <a:lvl2pPr marL="742950" indent="-285750">
              <a:defRPr sz="3200" b="1" baseline="-18000">
                <a:solidFill>
                  <a:schemeClr val="tx1"/>
                </a:solidFill>
                <a:latin typeface="Arial" charset="0"/>
              </a:defRPr>
            </a:lvl2pPr>
            <a:lvl3pPr marL="1143000" indent="-228600">
              <a:defRPr sz="3200" b="1" baseline="-18000">
                <a:solidFill>
                  <a:schemeClr val="tx1"/>
                </a:solidFill>
                <a:latin typeface="Arial" charset="0"/>
              </a:defRPr>
            </a:lvl3pPr>
            <a:lvl4pPr marL="1600200" indent="-228600">
              <a:defRPr sz="3200" b="1" baseline="-18000">
                <a:solidFill>
                  <a:schemeClr val="tx1"/>
                </a:solidFill>
                <a:latin typeface="Arial" charset="0"/>
              </a:defRPr>
            </a:lvl4pPr>
            <a:lvl5pPr marL="2057400" indent="-228600">
              <a:defRPr sz="3200" b="1" baseline="-18000">
                <a:solidFill>
                  <a:schemeClr val="tx1"/>
                </a:solidFill>
                <a:latin typeface="Arial" charset="0"/>
              </a:defRPr>
            </a:lvl5pPr>
            <a:lvl6pPr marL="2514600" indent="-228600" eaLnBrk="0" fontAlgn="base" hangingPunct="0">
              <a:spcBef>
                <a:spcPct val="0"/>
              </a:spcBef>
              <a:spcAft>
                <a:spcPct val="0"/>
              </a:spcAft>
              <a:defRPr sz="3200" b="1" baseline="-18000">
                <a:solidFill>
                  <a:schemeClr val="tx1"/>
                </a:solidFill>
                <a:latin typeface="Arial" charset="0"/>
              </a:defRPr>
            </a:lvl6pPr>
            <a:lvl7pPr marL="2971800" indent="-228600" eaLnBrk="0" fontAlgn="base" hangingPunct="0">
              <a:spcBef>
                <a:spcPct val="0"/>
              </a:spcBef>
              <a:spcAft>
                <a:spcPct val="0"/>
              </a:spcAft>
              <a:defRPr sz="3200" b="1" baseline="-18000">
                <a:solidFill>
                  <a:schemeClr val="tx1"/>
                </a:solidFill>
                <a:latin typeface="Arial" charset="0"/>
              </a:defRPr>
            </a:lvl7pPr>
            <a:lvl8pPr marL="3429000" indent="-228600" eaLnBrk="0" fontAlgn="base" hangingPunct="0">
              <a:spcBef>
                <a:spcPct val="0"/>
              </a:spcBef>
              <a:spcAft>
                <a:spcPct val="0"/>
              </a:spcAft>
              <a:defRPr sz="3200" b="1" baseline="-18000">
                <a:solidFill>
                  <a:schemeClr val="tx1"/>
                </a:solidFill>
                <a:latin typeface="Arial" charset="0"/>
              </a:defRPr>
            </a:lvl8pPr>
            <a:lvl9pPr marL="3886200" indent="-228600" eaLnBrk="0" fontAlgn="base" hangingPunct="0">
              <a:spcBef>
                <a:spcPct val="0"/>
              </a:spcBef>
              <a:spcAft>
                <a:spcPct val="0"/>
              </a:spcAft>
              <a:defRPr sz="3200" b="1" baseline="-18000">
                <a:solidFill>
                  <a:schemeClr val="tx1"/>
                </a:solidFill>
                <a:latin typeface="Arial" charset="0"/>
              </a:defRPr>
            </a:lvl9pPr>
          </a:lstStyle>
          <a:p>
            <a:pPr algn="r" eaLnBrk="1" hangingPunct="1">
              <a:spcBef>
                <a:spcPct val="50000"/>
              </a:spcBef>
              <a:buFontTx/>
              <a:buChar char="©"/>
              <a:defRPr/>
            </a:pPr>
            <a:r>
              <a:rPr lang="en-US" altLang="en-US" sz="1400" b="0" baseline="0">
                <a:latin typeface="McGrawHill-Italic" pitchFamily="2" charset="0"/>
              </a:rPr>
              <a:t>The McGraw-Hill Companies, Inc., 2000</a:t>
            </a:r>
            <a:endParaRPr lang="en-US" altLang="en-US" sz="2400" b="0" baseline="0">
              <a:latin typeface="Times New Roman" pitchFamily="18" charset="0"/>
            </a:endParaRPr>
          </a:p>
        </p:txBody>
      </p:sp>
      <p:sp>
        <p:nvSpPr>
          <p:cNvPr id="210956" name="Rectangle 12"/>
          <p:cNvSpPr>
            <a:spLocks noGrp="1" noChangeArrowheads="1"/>
          </p:cNvSpPr>
          <p:nvPr>
            <p:ph type="ctrTitle"/>
          </p:nvPr>
        </p:nvSpPr>
        <p:spPr bwMode="auto">
          <a:xfrm>
            <a:off x="1320800" y="1676400"/>
            <a:ext cx="10363200" cy="1462088"/>
          </a:xfrm>
          <a:prstGeom prst="rect">
            <a:avLst/>
          </a:prstGeom>
          <a:noFill/>
        </p:spPr>
        <p:txBody>
          <a:bodyPr vert="horz" wrap="square" lIns="91440" tIns="45720" rIns="91440" bIns="45720" numCol="1" anchor="b" anchorCtr="0" compatLnSpc="1">
            <a:prstTxWarp prst="textNoShape">
              <a:avLst/>
            </a:prstTxWarp>
          </a:bodyPr>
          <a:lstStyle>
            <a:lvl1pPr>
              <a:defRPr/>
            </a:lvl1pPr>
          </a:lstStyle>
          <a:p>
            <a:pPr lvl="0"/>
            <a:r>
              <a:rPr lang="en-US" altLang="zh-CN" noProof="0"/>
              <a:t>Click to edit Master title style</a:t>
            </a:r>
          </a:p>
        </p:txBody>
      </p:sp>
      <p:sp>
        <p:nvSpPr>
          <p:cNvPr id="210957" name="Rectangle 13"/>
          <p:cNvSpPr>
            <a:spLocks noGrp="1" noChangeArrowheads="1"/>
          </p:cNvSpPr>
          <p:nvPr>
            <p:ph type="subTitle" idx="1"/>
          </p:nvPr>
        </p:nvSpPr>
        <p:spPr bwMode="auto">
          <a:xfrm>
            <a:off x="1828800" y="3886200"/>
            <a:ext cx="8534400" cy="1752600"/>
          </a:xfrm>
          <a:prstGeom prst="rect">
            <a:avLst/>
          </a:prstGeom>
          <a:noFill/>
        </p:spPr>
        <p:txBody>
          <a:bodyPr vert="horz" wrap="square" lIns="91440" tIns="45720" rIns="91440" bIns="45720" numCol="1" anchor="t" anchorCtr="0" compatLnSpc="1">
            <a:prstTxWarp prst="textNoShape">
              <a:avLst/>
            </a:prstTxWarp>
          </a:bodyPr>
          <a:lstStyle>
            <a:lvl1pPr marL="0" indent="0" algn="ctr">
              <a:buFont typeface="Wingdings" pitchFamily="2" charset="2"/>
              <a:buNone/>
              <a:defRPr/>
            </a:lvl1pPr>
          </a:lstStyle>
          <a:p>
            <a:pPr lvl="0"/>
            <a:r>
              <a:rPr lang="en-US" altLang="zh-CN" noProof="0"/>
              <a:t>Click to edit Master subtitle style</a:t>
            </a:r>
          </a:p>
        </p:txBody>
      </p:sp>
      <p:sp>
        <p:nvSpPr>
          <p:cNvPr id="16" name="Rectangle 14">
            <a:extLst>
              <a:ext uri="{FF2B5EF4-FFF2-40B4-BE49-F238E27FC236}">
                <a16:creationId xmlns:a16="http://schemas.microsoft.com/office/drawing/2014/main" id="{F8BD1972-EA2B-493E-98FB-A108C2896564}"/>
              </a:ext>
            </a:extLst>
          </p:cNvPr>
          <p:cNvSpPr>
            <a:spLocks noGrp="1" noChangeArrowheads="1"/>
          </p:cNvSpPr>
          <p:nvPr>
            <p:ph type="dt" sz="half" idx="10"/>
          </p:nvPr>
        </p:nvSpPr>
        <p:spPr bwMode="auto">
          <a:xfrm>
            <a:off x="1320800" y="6248400"/>
            <a:ext cx="2540000" cy="457200"/>
          </a:xfrm>
          <a:prstGeom prst="rect">
            <a:avLst/>
          </a:prstGeom>
        </p:spPr>
        <p:txBody>
          <a:bodyPr vert="horz" wrap="square" lIns="91440" tIns="45720" rIns="91440" bIns="45720" numCol="1" anchor="b" anchorCtr="0" compatLnSpc="1">
            <a:prstTxWarp prst="textNoShape">
              <a:avLst/>
            </a:prstTxWarp>
          </a:bodyPr>
          <a:lstStyle>
            <a:lvl1pPr eaLnBrk="1" hangingPunct="1">
              <a:defRPr sz="1400" b="0" baseline="0">
                <a:solidFill>
                  <a:schemeClr val="bg2"/>
                </a:solidFill>
                <a:latin typeface="+mn-lt"/>
                <a:ea typeface="宋体" charset="-122"/>
              </a:defRPr>
            </a:lvl1pPr>
          </a:lstStyle>
          <a:p>
            <a:pPr>
              <a:defRPr/>
            </a:pPr>
            <a:endParaRPr lang="en-US" altLang="zh-CN"/>
          </a:p>
        </p:txBody>
      </p:sp>
      <p:sp>
        <p:nvSpPr>
          <p:cNvPr id="17" name="Rectangle 15">
            <a:extLst>
              <a:ext uri="{FF2B5EF4-FFF2-40B4-BE49-F238E27FC236}">
                <a16:creationId xmlns:a16="http://schemas.microsoft.com/office/drawing/2014/main" id="{242DE30E-9855-4919-9CE3-5583A22724DA}"/>
              </a:ext>
            </a:extLst>
          </p:cNvPr>
          <p:cNvSpPr>
            <a:spLocks noGrp="1" noChangeArrowheads="1"/>
          </p:cNvSpPr>
          <p:nvPr>
            <p:ph type="ftr" sz="quarter" idx="11"/>
          </p:nvPr>
        </p:nvSpPr>
        <p:spPr bwMode="auto">
          <a:xfrm>
            <a:off x="4572000" y="6248400"/>
            <a:ext cx="3860800" cy="457200"/>
          </a:xfrm>
          <a:prstGeom prst="rect">
            <a:avLst/>
          </a:prstGeom>
        </p:spPr>
        <p:txBody>
          <a:bodyPr vert="horz" wrap="square" lIns="91440" tIns="45720" rIns="91440" bIns="45720" numCol="1" anchor="b" anchorCtr="0" compatLnSpc="1">
            <a:prstTxWarp prst="textNoShape">
              <a:avLst/>
            </a:prstTxWarp>
          </a:bodyPr>
          <a:lstStyle>
            <a:lvl1pPr algn="ctr" eaLnBrk="1" hangingPunct="1">
              <a:defRPr sz="1400" b="0" baseline="0">
                <a:solidFill>
                  <a:schemeClr val="bg2"/>
                </a:solidFill>
                <a:latin typeface="+mn-lt"/>
                <a:ea typeface="宋体" charset="-122"/>
              </a:defRPr>
            </a:lvl1pPr>
          </a:lstStyle>
          <a:p>
            <a:pPr>
              <a:defRPr/>
            </a:pPr>
            <a:endParaRPr lang="en-US" altLang="zh-CN"/>
          </a:p>
        </p:txBody>
      </p:sp>
      <p:sp>
        <p:nvSpPr>
          <p:cNvPr id="18" name="Rectangle 16">
            <a:extLst>
              <a:ext uri="{FF2B5EF4-FFF2-40B4-BE49-F238E27FC236}">
                <a16:creationId xmlns:a16="http://schemas.microsoft.com/office/drawing/2014/main" id="{8F4827E2-0C79-4859-A280-D1DD56826CC7}"/>
              </a:ext>
            </a:extLst>
          </p:cNvPr>
          <p:cNvSpPr>
            <a:spLocks noGrp="1" noChangeArrowheads="1"/>
          </p:cNvSpPr>
          <p:nvPr>
            <p:ph type="sldNum" sz="quarter" idx="12"/>
          </p:nvPr>
        </p:nvSpPr>
        <p:spPr>
          <a:xfrm>
            <a:off x="9144000" y="6248400"/>
            <a:ext cx="2540000" cy="457200"/>
          </a:xfrm>
          <a:prstGeom prst="rect">
            <a:avLst/>
          </a:prstGeom>
        </p:spPr>
        <p:txBody>
          <a:bodyPr/>
          <a:lstStyle>
            <a:lvl1pPr algn="r">
              <a:defRPr sz="1400" b="0">
                <a:latin typeface="Tahoma" panose="020B0604030504040204" pitchFamily="34" charset="0"/>
              </a:defRPr>
            </a:lvl1pPr>
          </a:lstStyle>
          <a:p>
            <a:pPr>
              <a:defRPr/>
            </a:pPr>
            <a:fld id="{91C6C6FB-70C8-4E67-9278-DE9BB2700A92}" type="slidenum">
              <a:rPr lang="en-US" altLang="zh-CN"/>
              <a:pPr>
                <a:defRPr/>
              </a:pPr>
              <a:t>‹#›</a:t>
            </a:fld>
            <a:endParaRPr lang="en-US" altLang="zh-CN"/>
          </a:p>
        </p:txBody>
      </p:sp>
    </p:spTree>
    <p:extLst>
      <p:ext uri="{BB962C8B-B14F-4D97-AF65-F5344CB8AC3E}">
        <p14:creationId xmlns:p14="http://schemas.microsoft.com/office/powerpoint/2010/main" val="3486859"/>
      </p:ext>
    </p:extLst>
  </p:cSld>
  <p:clrMapOvr>
    <a:masterClrMapping/>
  </p:clrMapOvr>
</p:sldLayout>
</file>

<file path=ppt/slideLayouts/slideLayout32.xml><?xml version="1.0" encoding="utf-8"?>
<p:sldLayout xmlns:a="http://schemas.openxmlformats.org/drawingml/2006/main" xmlns:r="http://schemas.openxmlformats.org/officeDocument/2006/relationships" xmlns:p="http://schemas.openxmlformats.org/presentationml/2006/main" type="obj" preserve="1">
  <p:cSld name="标题和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idx="1"/>
          </p:nvPr>
        </p:nvSpPr>
        <p:spPr>
          <a:xfrm>
            <a:off x="609600" y="1600201"/>
            <a:ext cx="10972800" cy="4525963"/>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345953121"/>
      </p:ext>
    </p:extLst>
  </p:cSld>
  <p:clrMapOvr>
    <a:masterClrMapping/>
  </p:clrMapOvr>
</p:sldLayout>
</file>

<file path=ppt/slideLayouts/slideLayout33.xml><?xml version="1.0" encoding="utf-8"?>
<p:sldLayout xmlns:a="http://schemas.openxmlformats.org/drawingml/2006/main" xmlns:r="http://schemas.openxmlformats.org/officeDocument/2006/relationships" xmlns:p="http://schemas.openxmlformats.org/presentationml/2006/main" type="secHead" preserve="1">
  <p:cSld name="节标题">
    <p:spTree>
      <p:nvGrpSpPr>
        <p:cNvPr id="1" name=""/>
        <p:cNvGrpSpPr/>
        <p:nvPr/>
      </p:nvGrpSpPr>
      <p:grpSpPr>
        <a:xfrm>
          <a:off x="0" y="0"/>
          <a:ext cx="0" cy="0"/>
          <a:chOff x="0" y="0"/>
          <a:chExt cx="0" cy="0"/>
        </a:xfrm>
      </p:grpSpPr>
      <p:sp>
        <p:nvSpPr>
          <p:cNvPr id="2" name="标题 1"/>
          <p:cNvSpPr>
            <a:spLocks noGrp="1"/>
          </p:cNvSpPr>
          <p:nvPr>
            <p:ph type="title"/>
          </p:nvPr>
        </p:nvSpPr>
        <p:spPr>
          <a:xfrm>
            <a:off x="963084" y="4406901"/>
            <a:ext cx="10363200" cy="1362075"/>
          </a:xfrm>
          <a:prstGeom prst="rect">
            <a:avLst/>
          </a:prstGeom>
        </p:spPr>
        <p:txBody>
          <a:bodyPr anchor="t"/>
          <a:lstStyle>
            <a:lvl1pPr algn="l">
              <a:defRPr sz="4000" b="1" cap="all"/>
            </a:lvl1pPr>
          </a:lstStyle>
          <a:p>
            <a:r>
              <a:rPr lang="zh-CN" altLang="en-US"/>
              <a:t>单击此处编辑母版标题样式</a:t>
            </a:r>
          </a:p>
        </p:txBody>
      </p:sp>
      <p:sp>
        <p:nvSpPr>
          <p:cNvPr id="3" name="文本占位符 2"/>
          <p:cNvSpPr>
            <a:spLocks noGrp="1"/>
          </p:cNvSpPr>
          <p:nvPr>
            <p:ph type="body" idx="1"/>
          </p:nvPr>
        </p:nvSpPr>
        <p:spPr>
          <a:xfrm>
            <a:off x="963084" y="2906713"/>
            <a:ext cx="10363200" cy="1500187"/>
          </a:xfrm>
          <a:prstGeom prst="rect">
            <a:avLst/>
          </a:prstGeom>
        </p:spPr>
        <p:txBody>
          <a:bodyPr anchor="b"/>
          <a:lstStyle>
            <a:lvl1pPr marL="0" indent="0">
              <a:buNone/>
              <a:defRPr sz="2000"/>
            </a:lvl1pPr>
            <a:lvl2pPr marL="457200" indent="0">
              <a:buNone/>
              <a:defRPr sz="1800"/>
            </a:lvl2pPr>
            <a:lvl3pPr marL="914400" indent="0">
              <a:buNone/>
              <a:defRPr sz="1600"/>
            </a:lvl3pPr>
            <a:lvl4pPr marL="1371600" indent="0">
              <a:buNone/>
              <a:defRPr sz="1400"/>
            </a:lvl4pPr>
            <a:lvl5pPr marL="1828800" indent="0">
              <a:buNone/>
              <a:defRPr sz="1400"/>
            </a:lvl5pPr>
            <a:lvl6pPr marL="2286000" indent="0">
              <a:buNone/>
              <a:defRPr sz="1400"/>
            </a:lvl6pPr>
            <a:lvl7pPr marL="2743200" indent="0">
              <a:buNone/>
              <a:defRPr sz="1400"/>
            </a:lvl7pPr>
            <a:lvl8pPr marL="3200400" indent="0">
              <a:buNone/>
              <a:defRPr sz="1400"/>
            </a:lvl8pPr>
            <a:lvl9pPr marL="3657600" indent="0">
              <a:buNone/>
              <a:defRPr sz="1400"/>
            </a:lvl9pPr>
          </a:lstStyle>
          <a:p>
            <a:pPr lvl="0"/>
            <a:r>
              <a:rPr lang="zh-CN" altLang="en-US"/>
              <a:t>单击此处编辑母版文本样式</a:t>
            </a:r>
          </a:p>
        </p:txBody>
      </p:sp>
    </p:spTree>
    <p:extLst>
      <p:ext uri="{BB962C8B-B14F-4D97-AF65-F5344CB8AC3E}">
        <p14:creationId xmlns:p14="http://schemas.microsoft.com/office/powerpoint/2010/main" val="2654712385"/>
      </p:ext>
    </p:extLst>
  </p:cSld>
  <p:clrMapOvr>
    <a:masterClrMapping/>
  </p:clrMapOvr>
</p:sldLayout>
</file>

<file path=ppt/slideLayouts/slideLayout34.xml><?xml version="1.0" encoding="utf-8"?>
<p:sldLayout xmlns:a="http://schemas.openxmlformats.org/drawingml/2006/main" xmlns:r="http://schemas.openxmlformats.org/officeDocument/2006/relationships" xmlns:p="http://schemas.openxmlformats.org/presentationml/2006/main" type="twoObj" preserve="1">
  <p:cSld name="两栏内容">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内容占位符 2"/>
          <p:cNvSpPr>
            <a:spLocks noGrp="1"/>
          </p:cNvSpPr>
          <p:nvPr>
            <p:ph sz="half" idx="1"/>
          </p:nvPr>
        </p:nvSpPr>
        <p:spPr>
          <a:xfrm>
            <a:off x="609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内容占位符 3"/>
          <p:cNvSpPr>
            <a:spLocks noGrp="1"/>
          </p:cNvSpPr>
          <p:nvPr>
            <p:ph sz="half" idx="2"/>
          </p:nvPr>
        </p:nvSpPr>
        <p:spPr>
          <a:xfrm>
            <a:off x="6197600" y="1600201"/>
            <a:ext cx="5384800" cy="4525963"/>
          </a:xfrm>
          <a:prstGeom prst="rect">
            <a:avLst/>
          </a:prstGeo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127460778"/>
      </p:ext>
    </p:extLst>
  </p:cSld>
  <p:clrMapOvr>
    <a:masterClrMapping/>
  </p:clrMapOvr>
</p:sldLayout>
</file>

<file path=ppt/slideLayouts/slideLayout35.xml><?xml version="1.0" encoding="utf-8"?>
<p:sldLayout xmlns:a="http://schemas.openxmlformats.org/drawingml/2006/main" xmlns:r="http://schemas.openxmlformats.org/officeDocument/2006/relationships" xmlns:p="http://schemas.openxmlformats.org/presentationml/2006/main" type="twoTxTwoObj" preserve="1">
  <p:cSld name="比较">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lvl1pPr>
              <a:defRPr/>
            </a:lvl1pPr>
          </a:lstStyle>
          <a:p>
            <a:r>
              <a:rPr lang="zh-CN" altLang="en-US"/>
              <a:t>单击此处编辑母版标题样式</a:t>
            </a:r>
          </a:p>
        </p:txBody>
      </p:sp>
      <p:sp>
        <p:nvSpPr>
          <p:cNvPr id="3" name="文本占位符 2"/>
          <p:cNvSpPr>
            <a:spLocks noGrp="1"/>
          </p:cNvSpPr>
          <p:nvPr>
            <p:ph type="body" idx="1"/>
          </p:nvPr>
        </p:nvSpPr>
        <p:spPr>
          <a:xfrm>
            <a:off x="609600" y="1535113"/>
            <a:ext cx="5386917"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4" name="内容占位符 3"/>
          <p:cNvSpPr>
            <a:spLocks noGrp="1"/>
          </p:cNvSpPr>
          <p:nvPr>
            <p:ph sz="half" idx="2"/>
          </p:nvPr>
        </p:nvSpPr>
        <p:spPr>
          <a:xfrm>
            <a:off x="609600" y="2174875"/>
            <a:ext cx="5386917"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5" name="文本占位符 4"/>
          <p:cNvSpPr>
            <a:spLocks noGrp="1"/>
          </p:cNvSpPr>
          <p:nvPr>
            <p:ph type="body" sz="quarter" idx="3"/>
          </p:nvPr>
        </p:nvSpPr>
        <p:spPr>
          <a:xfrm>
            <a:off x="6193368" y="1535113"/>
            <a:ext cx="5389033" cy="639762"/>
          </a:xfrm>
          <a:prstGeom prst="rect">
            <a:avLst/>
          </a:prstGeo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zh-CN" altLang="en-US"/>
              <a:t>单击此处编辑母版文本样式</a:t>
            </a:r>
          </a:p>
        </p:txBody>
      </p:sp>
      <p:sp>
        <p:nvSpPr>
          <p:cNvPr id="6" name="内容占位符 5"/>
          <p:cNvSpPr>
            <a:spLocks noGrp="1"/>
          </p:cNvSpPr>
          <p:nvPr>
            <p:ph sz="quarter" idx="4"/>
          </p:nvPr>
        </p:nvSpPr>
        <p:spPr>
          <a:xfrm>
            <a:off x="6193368" y="2174875"/>
            <a:ext cx="5389033" cy="3951288"/>
          </a:xfrm>
          <a:prstGeom prst="rect">
            <a:avLst/>
          </a:prstGeo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1353443139"/>
      </p:ext>
    </p:extLst>
  </p:cSld>
  <p:clrMapOvr>
    <a:masterClrMapping/>
  </p:clrMapOvr>
</p:sldLayout>
</file>

<file path=ppt/slideLayouts/slideLayout36.xml><?xml version="1.0" encoding="utf-8"?>
<p:sldLayout xmlns:a="http://schemas.openxmlformats.org/drawingml/2006/main" xmlns:r="http://schemas.openxmlformats.org/officeDocument/2006/relationships" xmlns:p="http://schemas.openxmlformats.org/presentationml/2006/main" type="titleOnly" preserve="1">
  <p:cSld name="仅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Tree>
    <p:extLst>
      <p:ext uri="{BB962C8B-B14F-4D97-AF65-F5344CB8AC3E}">
        <p14:creationId xmlns:p14="http://schemas.microsoft.com/office/powerpoint/2010/main" val="3569656897"/>
      </p:ext>
    </p:extLst>
  </p:cSld>
  <p:clrMapOvr>
    <a:masterClrMapping/>
  </p:clrMapOvr>
</p:sldLayout>
</file>

<file path=ppt/slideLayouts/slideLayout37.xml><?xml version="1.0" encoding="utf-8"?>
<p:sldLayout xmlns:a="http://schemas.openxmlformats.org/drawingml/2006/main" xmlns:r="http://schemas.openxmlformats.org/officeDocument/2006/relationships" xmlns:p="http://schemas.openxmlformats.org/presentationml/2006/main" type="blank" preserve="1">
  <p:cSld name="空白">
    <p:spTree>
      <p:nvGrpSpPr>
        <p:cNvPr id="1" name=""/>
        <p:cNvGrpSpPr/>
        <p:nvPr/>
      </p:nvGrpSpPr>
      <p:grpSpPr>
        <a:xfrm>
          <a:off x="0" y="0"/>
          <a:ext cx="0" cy="0"/>
          <a:chOff x="0" y="0"/>
          <a:chExt cx="0" cy="0"/>
        </a:xfrm>
      </p:grpSpPr>
    </p:spTree>
    <p:extLst>
      <p:ext uri="{BB962C8B-B14F-4D97-AF65-F5344CB8AC3E}">
        <p14:creationId xmlns:p14="http://schemas.microsoft.com/office/powerpoint/2010/main" val="801141839"/>
      </p:ext>
    </p:extLst>
  </p:cSld>
  <p:clrMapOvr>
    <a:masterClrMapping/>
  </p:clrMapOvr>
</p:sldLayout>
</file>

<file path=ppt/slideLayouts/slideLayout38.xml><?xml version="1.0" encoding="utf-8"?>
<p:sldLayout xmlns:a="http://schemas.openxmlformats.org/drawingml/2006/main" xmlns:r="http://schemas.openxmlformats.org/officeDocument/2006/relationships" xmlns:p="http://schemas.openxmlformats.org/presentationml/2006/main" type="objTx" preserve="1">
  <p:cSld name="内容与标题">
    <p:spTree>
      <p:nvGrpSpPr>
        <p:cNvPr id="1" name=""/>
        <p:cNvGrpSpPr/>
        <p:nvPr/>
      </p:nvGrpSpPr>
      <p:grpSpPr>
        <a:xfrm>
          <a:off x="0" y="0"/>
          <a:ext cx="0" cy="0"/>
          <a:chOff x="0" y="0"/>
          <a:chExt cx="0" cy="0"/>
        </a:xfrm>
      </p:grpSpPr>
      <p:sp>
        <p:nvSpPr>
          <p:cNvPr id="2" name="标题 1"/>
          <p:cNvSpPr>
            <a:spLocks noGrp="1"/>
          </p:cNvSpPr>
          <p:nvPr>
            <p:ph type="title"/>
          </p:nvPr>
        </p:nvSpPr>
        <p:spPr>
          <a:xfrm>
            <a:off x="609601" y="273050"/>
            <a:ext cx="4011084" cy="1162050"/>
          </a:xfrm>
          <a:prstGeom prst="rect">
            <a:avLst/>
          </a:prstGeom>
        </p:spPr>
        <p:txBody>
          <a:bodyPr anchor="b"/>
          <a:lstStyle>
            <a:lvl1pPr algn="l">
              <a:defRPr sz="2000" b="1"/>
            </a:lvl1pPr>
          </a:lstStyle>
          <a:p>
            <a:r>
              <a:rPr lang="zh-CN" altLang="en-US"/>
              <a:t>单击此处编辑母版标题样式</a:t>
            </a:r>
          </a:p>
        </p:txBody>
      </p:sp>
      <p:sp>
        <p:nvSpPr>
          <p:cNvPr id="3" name="内容占位符 2"/>
          <p:cNvSpPr>
            <a:spLocks noGrp="1"/>
          </p:cNvSpPr>
          <p:nvPr>
            <p:ph idx="1"/>
          </p:nvPr>
        </p:nvSpPr>
        <p:spPr>
          <a:xfrm>
            <a:off x="4766733" y="273051"/>
            <a:ext cx="6815667" cy="5853113"/>
          </a:xfrm>
          <a:prstGeom prst="rect">
            <a:avLst/>
          </a:prstGeo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
        <p:nvSpPr>
          <p:cNvPr id="4" name="文本占位符 3"/>
          <p:cNvSpPr>
            <a:spLocks noGrp="1"/>
          </p:cNvSpPr>
          <p:nvPr>
            <p:ph type="body" sz="half" idx="2"/>
          </p:nvPr>
        </p:nvSpPr>
        <p:spPr>
          <a:xfrm>
            <a:off x="609601" y="1435101"/>
            <a:ext cx="4011084" cy="4691063"/>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215642337"/>
      </p:ext>
    </p:extLst>
  </p:cSld>
  <p:clrMapOvr>
    <a:masterClrMapping/>
  </p:clrMapOvr>
</p:sldLayout>
</file>

<file path=ppt/slideLayouts/slideLayout39.xml><?xml version="1.0" encoding="utf-8"?>
<p:sldLayout xmlns:a="http://schemas.openxmlformats.org/drawingml/2006/main" xmlns:r="http://schemas.openxmlformats.org/officeDocument/2006/relationships" xmlns:p="http://schemas.openxmlformats.org/presentationml/2006/main" type="picTx" preserve="1">
  <p:cSld name="图片与标题">
    <p:spTree>
      <p:nvGrpSpPr>
        <p:cNvPr id="1" name=""/>
        <p:cNvGrpSpPr/>
        <p:nvPr/>
      </p:nvGrpSpPr>
      <p:grpSpPr>
        <a:xfrm>
          <a:off x="0" y="0"/>
          <a:ext cx="0" cy="0"/>
          <a:chOff x="0" y="0"/>
          <a:chExt cx="0" cy="0"/>
        </a:xfrm>
      </p:grpSpPr>
      <p:sp>
        <p:nvSpPr>
          <p:cNvPr id="2" name="标题 1"/>
          <p:cNvSpPr>
            <a:spLocks noGrp="1"/>
          </p:cNvSpPr>
          <p:nvPr>
            <p:ph type="title"/>
          </p:nvPr>
        </p:nvSpPr>
        <p:spPr>
          <a:xfrm>
            <a:off x="2389717" y="4800600"/>
            <a:ext cx="7315200" cy="566738"/>
          </a:xfrm>
          <a:prstGeom prst="rect">
            <a:avLst/>
          </a:prstGeom>
        </p:spPr>
        <p:txBody>
          <a:bodyPr anchor="b"/>
          <a:lstStyle>
            <a:lvl1pPr algn="l">
              <a:defRPr sz="2000" b="1"/>
            </a:lvl1pPr>
          </a:lstStyle>
          <a:p>
            <a:r>
              <a:rPr lang="zh-CN" altLang="en-US"/>
              <a:t>单击此处编辑母版标题样式</a:t>
            </a:r>
          </a:p>
        </p:txBody>
      </p:sp>
      <p:sp>
        <p:nvSpPr>
          <p:cNvPr id="3" name="图片占位符 2"/>
          <p:cNvSpPr>
            <a:spLocks noGrp="1"/>
          </p:cNvSpPr>
          <p:nvPr>
            <p:ph type="pic" idx="1"/>
          </p:nvPr>
        </p:nvSpPr>
        <p:spPr>
          <a:xfrm>
            <a:off x="2389717" y="612775"/>
            <a:ext cx="7315200" cy="4114800"/>
          </a:xfrm>
          <a:prstGeom prst="rect">
            <a:avLst/>
          </a:prstGeo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pPr lvl="0"/>
            <a:endParaRPr lang="zh-CN" altLang="en-US" noProof="0"/>
          </a:p>
        </p:txBody>
      </p:sp>
      <p:sp>
        <p:nvSpPr>
          <p:cNvPr id="4" name="文本占位符 3"/>
          <p:cNvSpPr>
            <a:spLocks noGrp="1"/>
          </p:cNvSpPr>
          <p:nvPr>
            <p:ph type="body" sz="half" idx="2"/>
          </p:nvPr>
        </p:nvSpPr>
        <p:spPr>
          <a:xfrm>
            <a:off x="2389717" y="5367338"/>
            <a:ext cx="7315200" cy="804862"/>
          </a:xfrm>
          <a:prstGeom prst="rect">
            <a:avLst/>
          </a:prstGeo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zh-CN" altLang="en-US"/>
              <a:t>单击此处编辑母版文本样式</a:t>
            </a:r>
          </a:p>
        </p:txBody>
      </p:sp>
    </p:spTree>
    <p:extLst>
      <p:ext uri="{BB962C8B-B14F-4D97-AF65-F5344CB8AC3E}">
        <p14:creationId xmlns:p14="http://schemas.microsoft.com/office/powerpoint/2010/main" val="1024827432"/>
      </p:ext>
    </p:extLst>
  </p:cSld>
  <p:clrMapOvr>
    <a:masterClrMapping/>
  </p:clrMapOvr>
</p:sldLayout>
</file>

<file path=ppt/slideLayouts/slideLayout40.xml><?xml version="1.0" encoding="utf-8"?>
<p:sldLayout xmlns:a="http://schemas.openxmlformats.org/drawingml/2006/main" xmlns:r="http://schemas.openxmlformats.org/officeDocument/2006/relationships" xmlns:p="http://schemas.openxmlformats.org/presentationml/2006/main" type="vertTx" preserve="1">
  <p:cSld name="标题和竖排文字">
    <p:spTree>
      <p:nvGrpSpPr>
        <p:cNvPr id="1" name=""/>
        <p:cNvGrpSpPr/>
        <p:nvPr/>
      </p:nvGrpSpPr>
      <p:grpSpPr>
        <a:xfrm>
          <a:off x="0" y="0"/>
          <a:ext cx="0" cy="0"/>
          <a:chOff x="0" y="0"/>
          <a:chExt cx="0" cy="0"/>
        </a:xfrm>
      </p:grpSpPr>
      <p:sp>
        <p:nvSpPr>
          <p:cNvPr id="2" name="标题 1"/>
          <p:cNvSpPr>
            <a:spLocks noGrp="1"/>
          </p:cNvSpPr>
          <p:nvPr>
            <p:ph type="title"/>
          </p:nvPr>
        </p:nvSpPr>
        <p:spPr>
          <a:xfrm>
            <a:off x="609600" y="274638"/>
            <a:ext cx="10972800" cy="1143000"/>
          </a:xfrm>
          <a:prstGeom prst="rect">
            <a:avLst/>
          </a:prstGeom>
        </p:spPr>
        <p:txBody>
          <a:bodyPr/>
          <a:lstStyle/>
          <a:p>
            <a:r>
              <a:rPr lang="zh-CN" altLang="en-US"/>
              <a:t>单击此处编辑母版标题样式</a:t>
            </a:r>
          </a:p>
        </p:txBody>
      </p:sp>
      <p:sp>
        <p:nvSpPr>
          <p:cNvPr id="3" name="竖排文字占位符 2"/>
          <p:cNvSpPr>
            <a:spLocks noGrp="1"/>
          </p:cNvSpPr>
          <p:nvPr>
            <p:ph type="body" orient="vert" idx="1"/>
          </p:nvPr>
        </p:nvSpPr>
        <p:spPr>
          <a:xfrm>
            <a:off x="609600" y="1600201"/>
            <a:ext cx="10972800" cy="4525963"/>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802638217"/>
      </p:ext>
    </p:extLst>
  </p:cSld>
  <p:clrMapOvr>
    <a:masterClrMapping/>
  </p:clrMapOvr>
</p:sldLayout>
</file>

<file path=ppt/slideLayouts/slideLayout41.xml><?xml version="1.0" encoding="utf-8"?>
<p:sldLayout xmlns:a="http://schemas.openxmlformats.org/drawingml/2006/main" xmlns:r="http://schemas.openxmlformats.org/officeDocument/2006/relationships" xmlns:p="http://schemas.openxmlformats.org/presentationml/2006/main" type="vertTitleAndTx" preserve="1">
  <p:cSld name="垂直排列标题与文本">
    <p:spTree>
      <p:nvGrpSpPr>
        <p:cNvPr id="1" name=""/>
        <p:cNvGrpSpPr/>
        <p:nvPr/>
      </p:nvGrpSpPr>
      <p:grpSpPr>
        <a:xfrm>
          <a:off x="0" y="0"/>
          <a:ext cx="0" cy="0"/>
          <a:chOff x="0" y="0"/>
          <a:chExt cx="0" cy="0"/>
        </a:xfrm>
      </p:grpSpPr>
      <p:sp>
        <p:nvSpPr>
          <p:cNvPr id="2" name="竖排标题 1"/>
          <p:cNvSpPr>
            <a:spLocks noGrp="1"/>
          </p:cNvSpPr>
          <p:nvPr>
            <p:ph type="title" orient="vert"/>
          </p:nvPr>
        </p:nvSpPr>
        <p:spPr>
          <a:xfrm>
            <a:off x="8839200" y="274639"/>
            <a:ext cx="2743200" cy="5851525"/>
          </a:xfrm>
          <a:prstGeom prst="rect">
            <a:avLst/>
          </a:prstGeom>
        </p:spPr>
        <p:txBody>
          <a:bodyPr vert="eaVert"/>
          <a:lstStyle/>
          <a:p>
            <a:r>
              <a:rPr lang="zh-CN" altLang="en-US"/>
              <a:t>单击此处编辑母版标题样式</a:t>
            </a:r>
          </a:p>
        </p:txBody>
      </p:sp>
      <p:sp>
        <p:nvSpPr>
          <p:cNvPr id="3" name="竖排文字占位符 2"/>
          <p:cNvSpPr>
            <a:spLocks noGrp="1"/>
          </p:cNvSpPr>
          <p:nvPr>
            <p:ph type="body" orient="vert" idx="1"/>
          </p:nvPr>
        </p:nvSpPr>
        <p:spPr>
          <a:xfrm>
            <a:off x="609600" y="274639"/>
            <a:ext cx="8026400" cy="5851525"/>
          </a:xfrm>
          <a:prstGeom prst="rect">
            <a:avLst/>
          </a:prstGeom>
        </p:spPr>
        <p:txBody>
          <a:bodyPr vert="eaVert"/>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767027940"/>
      </p:ext>
    </p:extLst>
  </p:cSld>
  <p:clrMapOvr>
    <a:masterClrMapping/>
  </p:clrMapOvr>
</p:sldLayout>
</file>

<file path=ppt/slideLayouts/slideLayout42.xml><?xml version="1.0" encoding="utf-8"?>
<p:sldLayout xmlns:a="http://schemas.openxmlformats.org/drawingml/2006/main" xmlns:r="http://schemas.openxmlformats.org/officeDocument/2006/relationships" xmlns:p="http://schemas.openxmlformats.org/presentationml/2006/main" type="objOnly" preserve="1">
  <p:cSld name="内容">
    <p:spTree>
      <p:nvGrpSpPr>
        <p:cNvPr id="1" name=""/>
        <p:cNvGrpSpPr/>
        <p:nvPr/>
      </p:nvGrpSpPr>
      <p:grpSpPr>
        <a:xfrm>
          <a:off x="0" y="0"/>
          <a:ext cx="0" cy="0"/>
          <a:chOff x="0" y="0"/>
          <a:chExt cx="0" cy="0"/>
        </a:xfrm>
      </p:grpSpPr>
      <p:sp>
        <p:nvSpPr>
          <p:cNvPr id="2" name="内容占位符 1"/>
          <p:cNvSpPr>
            <a:spLocks noGrp="1"/>
          </p:cNvSpPr>
          <p:nvPr>
            <p:ph/>
          </p:nvPr>
        </p:nvSpPr>
        <p:spPr>
          <a:xfrm>
            <a:off x="609600" y="274639"/>
            <a:ext cx="10972800" cy="5851525"/>
          </a:xfrm>
          <a:prstGeom prst="rect">
            <a:avLst/>
          </a:prstGeom>
        </p:spPr>
        <p:txBody>
          <a:bodyPr/>
          <a:lstStyle/>
          <a:p>
            <a:pPr lvl="0"/>
            <a:r>
              <a:rPr lang="zh-CN" altLang="en-US"/>
              <a:t>单击此处编辑母版文本样式</a:t>
            </a:r>
          </a:p>
          <a:p>
            <a:pPr lvl="1"/>
            <a:r>
              <a:rPr lang="zh-CN" altLang="en-US"/>
              <a:t>第二级</a:t>
            </a:r>
          </a:p>
          <a:p>
            <a:pPr lvl="2"/>
            <a:r>
              <a:rPr lang="zh-CN" altLang="en-US"/>
              <a:t>第三级</a:t>
            </a:r>
          </a:p>
          <a:p>
            <a:pPr lvl="3"/>
            <a:r>
              <a:rPr lang="zh-CN" altLang="en-US"/>
              <a:t>第四级</a:t>
            </a:r>
          </a:p>
          <a:p>
            <a:pPr lvl="4"/>
            <a:r>
              <a:rPr lang="zh-CN" altLang="en-US"/>
              <a:t>第五级</a:t>
            </a:r>
          </a:p>
        </p:txBody>
      </p:sp>
    </p:spTree>
    <p:extLst>
      <p:ext uri="{BB962C8B-B14F-4D97-AF65-F5344CB8AC3E}">
        <p14:creationId xmlns:p14="http://schemas.microsoft.com/office/powerpoint/2010/main" val="2343195820"/>
      </p:ext>
    </p:extLst>
  </p:cSld>
  <p:clrMapOvr>
    <a:masterClrMapping/>
  </p:clrMapOvr>
</p:sldLayout>
</file>

<file path=ppt/slideLayouts/slideLayout43.xml><?xml version="1.0" encoding="utf-8"?>
<p:sldLayout xmlns:a="http://schemas.openxmlformats.org/drawingml/2006/main" xmlns:r="http://schemas.openxmlformats.org/officeDocument/2006/relationships" xmlns:p="http://schemas.openxmlformats.org/presentationml/2006/main" userDrawn="1">
  <p:cSld name="5_自定义版式">
    <p:spTree>
      <p:nvGrpSpPr>
        <p:cNvPr id="1" name=""/>
        <p:cNvGrpSpPr/>
        <p:nvPr/>
      </p:nvGrpSpPr>
      <p:grpSpPr>
        <a:xfrm>
          <a:off x="0" y="0"/>
          <a:ext cx="0" cy="0"/>
          <a:chOff x="0" y="0"/>
          <a:chExt cx="0" cy="0"/>
        </a:xfrm>
      </p:grpSpPr>
    </p:spTree>
    <p:extLst>
      <p:ext uri="{BB962C8B-B14F-4D97-AF65-F5344CB8AC3E}">
        <p14:creationId xmlns:p14="http://schemas.microsoft.com/office/powerpoint/2010/main" val="814441957"/>
      </p:ext>
    </p:extLst>
  </p:cSld>
  <p:clrMapOvr>
    <a:masterClrMapping/>
  </p:clrMapOvr>
  <p:transition spd="slow" advTm="35000">
    <p:fade/>
  </p:transition>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13" Type="http://schemas.openxmlformats.org/officeDocument/2006/relationships/slideLayout" Target="../slideLayouts/slideLayout13.xml"/><Relationship Id="rId18" Type="http://schemas.openxmlformats.org/officeDocument/2006/relationships/theme" Target="../theme/theme1.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slideLayout" Target="../slideLayouts/slideLayout12.xml"/><Relationship Id="rId17" Type="http://schemas.openxmlformats.org/officeDocument/2006/relationships/slideLayout" Target="../slideLayouts/slideLayout17.xml"/><Relationship Id="rId2" Type="http://schemas.openxmlformats.org/officeDocument/2006/relationships/slideLayout" Target="../slideLayouts/slideLayout2.xml"/><Relationship Id="rId16" Type="http://schemas.openxmlformats.org/officeDocument/2006/relationships/slideLayout" Target="../slideLayouts/slideLayout16.xml"/><Relationship Id="rId20" Type="http://schemas.openxmlformats.org/officeDocument/2006/relationships/image" Target="../media/image2.JPG"/><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5" Type="http://schemas.openxmlformats.org/officeDocument/2006/relationships/slideLayout" Target="../slideLayouts/slideLayout15.xml"/><Relationship Id="rId10" Type="http://schemas.openxmlformats.org/officeDocument/2006/relationships/slideLayout" Target="../slideLayouts/slideLayout10.xml"/><Relationship Id="rId19" Type="http://schemas.openxmlformats.org/officeDocument/2006/relationships/image" Target="../media/image1.jpeg"/><Relationship Id="rId4" Type="http://schemas.openxmlformats.org/officeDocument/2006/relationships/slideLayout" Target="../slideLayouts/slideLayout4.xml"/><Relationship Id="rId9" Type="http://schemas.openxmlformats.org/officeDocument/2006/relationships/slideLayout" Target="../slideLayouts/slideLayout9.xml"/><Relationship Id="rId14" Type="http://schemas.openxmlformats.org/officeDocument/2006/relationships/slideLayout" Target="../slideLayouts/slideLayout14.xml"/></Relationships>
</file>

<file path=ppt/slideMasters/_rels/slideMaster2.xml.rels><?xml version="1.0" encoding="UTF-8" standalone="yes"?>
<Relationships xmlns="http://schemas.openxmlformats.org/package/2006/relationships"><Relationship Id="rId8" Type="http://schemas.openxmlformats.org/officeDocument/2006/relationships/slideLayout" Target="../slideLayouts/slideLayout25.xml"/><Relationship Id="rId13" Type="http://schemas.openxmlformats.org/officeDocument/2006/relationships/slideLayout" Target="../slideLayouts/slideLayout30.xml"/><Relationship Id="rId3" Type="http://schemas.openxmlformats.org/officeDocument/2006/relationships/slideLayout" Target="../slideLayouts/slideLayout20.xml"/><Relationship Id="rId7" Type="http://schemas.openxmlformats.org/officeDocument/2006/relationships/slideLayout" Target="../slideLayouts/slideLayout24.xml"/><Relationship Id="rId12" Type="http://schemas.openxmlformats.org/officeDocument/2006/relationships/slideLayout" Target="../slideLayouts/slideLayout29.xml"/><Relationship Id="rId2" Type="http://schemas.openxmlformats.org/officeDocument/2006/relationships/slideLayout" Target="../slideLayouts/slideLayout19.xml"/><Relationship Id="rId16" Type="http://schemas.openxmlformats.org/officeDocument/2006/relationships/image" Target="../media/image3.png"/><Relationship Id="rId1" Type="http://schemas.openxmlformats.org/officeDocument/2006/relationships/slideLayout" Target="../slideLayouts/slideLayout18.xml"/><Relationship Id="rId6" Type="http://schemas.openxmlformats.org/officeDocument/2006/relationships/slideLayout" Target="../slideLayouts/slideLayout23.xml"/><Relationship Id="rId11" Type="http://schemas.openxmlformats.org/officeDocument/2006/relationships/slideLayout" Target="../slideLayouts/slideLayout28.xml"/><Relationship Id="rId5" Type="http://schemas.openxmlformats.org/officeDocument/2006/relationships/slideLayout" Target="../slideLayouts/slideLayout22.xml"/><Relationship Id="rId15" Type="http://schemas.openxmlformats.org/officeDocument/2006/relationships/image" Target="../media/image1.jpeg"/><Relationship Id="rId10" Type="http://schemas.openxmlformats.org/officeDocument/2006/relationships/slideLayout" Target="../slideLayouts/slideLayout27.xml"/><Relationship Id="rId4" Type="http://schemas.openxmlformats.org/officeDocument/2006/relationships/slideLayout" Target="../slideLayouts/slideLayout21.xml"/><Relationship Id="rId9" Type="http://schemas.openxmlformats.org/officeDocument/2006/relationships/slideLayout" Target="../slideLayouts/slideLayout26.xml"/><Relationship Id="rId14"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8" Type="http://schemas.openxmlformats.org/officeDocument/2006/relationships/slideLayout" Target="../slideLayouts/slideLayout38.xml"/><Relationship Id="rId13" Type="http://schemas.openxmlformats.org/officeDocument/2006/relationships/slideLayout" Target="../slideLayouts/slideLayout43.xml"/><Relationship Id="rId3" Type="http://schemas.openxmlformats.org/officeDocument/2006/relationships/slideLayout" Target="../slideLayouts/slideLayout33.xml"/><Relationship Id="rId7" Type="http://schemas.openxmlformats.org/officeDocument/2006/relationships/slideLayout" Target="../slideLayouts/slideLayout37.xml"/><Relationship Id="rId12" Type="http://schemas.openxmlformats.org/officeDocument/2006/relationships/slideLayout" Target="../slideLayouts/slideLayout42.xml"/><Relationship Id="rId2" Type="http://schemas.openxmlformats.org/officeDocument/2006/relationships/slideLayout" Target="../slideLayouts/slideLayout32.xml"/><Relationship Id="rId16" Type="http://schemas.openxmlformats.org/officeDocument/2006/relationships/image" Target="../media/image2.JPG"/><Relationship Id="rId1" Type="http://schemas.openxmlformats.org/officeDocument/2006/relationships/slideLayout" Target="../slideLayouts/slideLayout31.xml"/><Relationship Id="rId6" Type="http://schemas.openxmlformats.org/officeDocument/2006/relationships/slideLayout" Target="../slideLayouts/slideLayout36.xml"/><Relationship Id="rId11" Type="http://schemas.openxmlformats.org/officeDocument/2006/relationships/slideLayout" Target="../slideLayouts/slideLayout41.xml"/><Relationship Id="rId5" Type="http://schemas.openxmlformats.org/officeDocument/2006/relationships/slideLayout" Target="../slideLayouts/slideLayout35.xml"/><Relationship Id="rId15" Type="http://schemas.openxmlformats.org/officeDocument/2006/relationships/image" Target="../media/image1.jpeg"/><Relationship Id="rId10" Type="http://schemas.openxmlformats.org/officeDocument/2006/relationships/slideLayout" Target="../slideLayouts/slideLayout40.xml"/><Relationship Id="rId4" Type="http://schemas.openxmlformats.org/officeDocument/2006/relationships/slideLayout" Target="../slideLayouts/slideLayout34.xml"/><Relationship Id="rId9" Type="http://schemas.openxmlformats.org/officeDocument/2006/relationships/slideLayout" Target="../slideLayouts/slideLayout39.xml"/><Relationship Id="rId14" Type="http://schemas.openxmlformats.org/officeDocument/2006/relationships/theme" Target="../theme/theme3.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blipFill dpi="0" rotWithShape="0">
          <a:blip r:embed="rId19"/>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3E9B9112-1186-4335-9306-FB66E8A81B51}"/>
              </a:ext>
            </a:extLst>
          </p:cNvPr>
          <p:cNvPicPr>
            <a:picLocks noChangeAspect="1"/>
          </p:cNvPicPr>
          <p:nvPr userDrawn="1"/>
        </p:nvPicPr>
        <p:blipFill rotWithShape="1">
          <a:blip r:embed="rId20">
            <a:extLst>
              <a:ext uri="{28A0092B-C50C-407E-A947-70E740481C1C}">
                <a14:useLocalDpi xmlns:a14="http://schemas.microsoft.com/office/drawing/2010/main" val="0"/>
              </a:ext>
            </a:extLst>
          </a:blip>
          <a:srcRect t="21695"/>
          <a:stretch/>
        </p:blipFill>
        <p:spPr>
          <a:xfrm>
            <a:off x="581892" y="66964"/>
            <a:ext cx="3011316" cy="838200"/>
          </a:xfrm>
          <a:prstGeom prst="rect">
            <a:avLst/>
          </a:prstGeom>
        </p:spPr>
      </p:pic>
    </p:spTree>
    <p:extLst>
      <p:ext uri="{BB962C8B-B14F-4D97-AF65-F5344CB8AC3E}">
        <p14:creationId xmlns:p14="http://schemas.microsoft.com/office/powerpoint/2010/main" val="384623035"/>
      </p:ext>
    </p:extLst>
  </p:cSld>
  <p:clrMap bg1="lt1" tx1="dk1" bg2="lt2" tx2="dk2" accent1="accent1" accent2="accent2" accent3="accent3" accent4="accent4" accent5="accent5" accent6="accent6" hlink="hlink" folHlink="folHlink"/>
  <p:sldLayoutIdLst>
    <p:sldLayoutId id="2147483793" r:id="rId1"/>
    <p:sldLayoutId id="2147483794" r:id="rId2"/>
    <p:sldLayoutId id="2147483795" r:id="rId3"/>
    <p:sldLayoutId id="2147483796" r:id="rId4"/>
    <p:sldLayoutId id="2147483797" r:id="rId5"/>
    <p:sldLayoutId id="2147483798" r:id="rId6"/>
    <p:sldLayoutId id="2147483799" r:id="rId7"/>
    <p:sldLayoutId id="2147483800" r:id="rId8"/>
    <p:sldLayoutId id="2147483801" r:id="rId9"/>
    <p:sldLayoutId id="2147483802" r:id="rId10"/>
    <p:sldLayoutId id="2147483803" r:id="rId11"/>
    <p:sldLayoutId id="2147483804" r:id="rId12"/>
    <p:sldLayoutId id="2147483805" r:id="rId13"/>
    <p:sldLayoutId id="2147483806" r:id="rId14"/>
    <p:sldLayoutId id="2147483807" r:id="rId15"/>
    <p:sldLayoutId id="2147483779" r:id="rId16"/>
    <p:sldLayoutId id="2147483743" r:id="rId17"/>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2.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C7A79C1-BAF2-444B-80EF-54C9FB7DEC41}"/>
              </a:ext>
            </a:extLst>
          </p:cNvPr>
          <p:cNvPicPr>
            <a:picLocks noChangeAspect="1"/>
          </p:cNvPicPr>
          <p:nvPr userDrawn="1"/>
        </p:nvPicPr>
        <p:blipFill rotWithShape="1">
          <a:blip r:embed="rId16"/>
          <a:srcRect t="20454"/>
          <a:stretch/>
        </p:blipFill>
        <p:spPr>
          <a:xfrm>
            <a:off x="618836" y="66964"/>
            <a:ext cx="2964358" cy="838200"/>
          </a:xfrm>
          <a:prstGeom prst="rect">
            <a:avLst/>
          </a:prstGeom>
        </p:spPr>
      </p:pic>
    </p:spTree>
    <p:extLst>
      <p:ext uri="{BB962C8B-B14F-4D97-AF65-F5344CB8AC3E}">
        <p14:creationId xmlns:p14="http://schemas.microsoft.com/office/powerpoint/2010/main" val="3653892013"/>
      </p:ext>
    </p:extLst>
  </p:cSld>
  <p:clrMap bg1="lt1" tx1="dk1" bg2="lt2" tx2="dk2" accent1="accent1" accent2="accent2" accent3="accent3" accent4="accent4" accent5="accent5" accent6="accent6" hlink="hlink" folHlink="folHlink"/>
  <p:sldLayoutIdLst>
    <p:sldLayoutId id="2147483811" r:id="rId1"/>
    <p:sldLayoutId id="2147483812" r:id="rId2"/>
    <p:sldLayoutId id="2147483813" r:id="rId3"/>
    <p:sldLayoutId id="2147483814" r:id="rId4"/>
    <p:sldLayoutId id="2147483815" r:id="rId5"/>
    <p:sldLayoutId id="2147483816" r:id="rId6"/>
    <p:sldLayoutId id="2147483817" r:id="rId7"/>
    <p:sldLayoutId id="2147483818" r:id="rId8"/>
    <p:sldLayoutId id="2147483819" r:id="rId9"/>
    <p:sldLayoutId id="2147483820" r:id="rId10"/>
    <p:sldLayoutId id="2147483821" r:id="rId11"/>
    <p:sldLayoutId id="2147483822" r:id="rId12"/>
    <p:sldLayoutId id="2147483823" r:id="rId13"/>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Masters/slideMaster3.xml><?xml version="1.0" encoding="utf-8"?>
<p:sldMaster xmlns:a="http://schemas.openxmlformats.org/drawingml/2006/main" xmlns:r="http://schemas.openxmlformats.org/officeDocument/2006/relationships" xmlns:p="http://schemas.openxmlformats.org/presentationml/2006/main">
  <p:cSld>
    <p:bg>
      <p:bgPr>
        <a:blipFill dpi="0" rotWithShape="1">
          <a:blip r:embed="rId15">
            <a:lum/>
          </a:blip>
          <a:srcRect/>
          <a:stretch>
            <a:fillRect/>
          </a:stretch>
        </a:blipFill>
        <a:effectLst/>
      </p:bgPr>
    </p:bg>
    <p:spTree>
      <p:nvGrpSpPr>
        <p:cNvPr id="1" name=""/>
        <p:cNvGrpSpPr/>
        <p:nvPr/>
      </p:nvGrpSpPr>
      <p:grpSpPr>
        <a:xfrm>
          <a:off x="0" y="0"/>
          <a:ext cx="0" cy="0"/>
          <a:chOff x="0" y="0"/>
          <a:chExt cx="0" cy="0"/>
        </a:xfrm>
      </p:grpSpPr>
      <p:pic>
        <p:nvPicPr>
          <p:cNvPr id="3" name="图片 2">
            <a:extLst>
              <a:ext uri="{FF2B5EF4-FFF2-40B4-BE49-F238E27FC236}">
                <a16:creationId xmlns:a16="http://schemas.microsoft.com/office/drawing/2014/main" id="{47AF60EA-C5F8-4DC4-B75C-4CF97CA2AF45}"/>
              </a:ext>
            </a:extLst>
          </p:cNvPr>
          <p:cNvPicPr>
            <a:picLocks noChangeAspect="1"/>
          </p:cNvPicPr>
          <p:nvPr userDrawn="1"/>
        </p:nvPicPr>
        <p:blipFill rotWithShape="1">
          <a:blip r:embed="rId16">
            <a:extLst>
              <a:ext uri="{28A0092B-C50C-407E-A947-70E740481C1C}">
                <a14:useLocalDpi xmlns:a14="http://schemas.microsoft.com/office/drawing/2010/main" val="0"/>
              </a:ext>
            </a:extLst>
          </a:blip>
          <a:srcRect t="21695"/>
          <a:stretch/>
        </p:blipFill>
        <p:spPr>
          <a:xfrm>
            <a:off x="591128" y="32327"/>
            <a:ext cx="3011316" cy="838200"/>
          </a:xfrm>
          <a:prstGeom prst="rect">
            <a:avLst/>
          </a:prstGeom>
        </p:spPr>
      </p:pic>
    </p:spTree>
    <p:extLst>
      <p:ext uri="{BB962C8B-B14F-4D97-AF65-F5344CB8AC3E}">
        <p14:creationId xmlns:p14="http://schemas.microsoft.com/office/powerpoint/2010/main" val="3608039134"/>
      </p:ext>
    </p:extLst>
  </p:cSld>
  <p:clrMap bg1="lt1" tx1="dk1" bg2="lt2" tx2="dk2" accent1="accent1" accent2="accent2" accent3="accent3" accent4="accent4" accent5="accent5" accent6="accent6" hlink="hlink" folHlink="folHlink"/>
  <p:sldLayoutIdLst>
    <p:sldLayoutId id="2147483825" r:id="rId1"/>
    <p:sldLayoutId id="2147483826" r:id="rId2"/>
    <p:sldLayoutId id="2147483827" r:id="rId3"/>
    <p:sldLayoutId id="2147483828" r:id="rId4"/>
    <p:sldLayoutId id="2147483829" r:id="rId5"/>
    <p:sldLayoutId id="2147483830" r:id="rId6"/>
    <p:sldLayoutId id="2147483831" r:id="rId7"/>
    <p:sldLayoutId id="2147483832" r:id="rId8"/>
    <p:sldLayoutId id="2147483833" r:id="rId9"/>
    <p:sldLayoutId id="2147483834" r:id="rId10"/>
    <p:sldLayoutId id="2147483835" r:id="rId11"/>
    <p:sldLayoutId id="2147483836" r:id="rId12"/>
    <p:sldLayoutId id="2147483837" r:id="rId13"/>
  </p:sldLayoutIdLst>
  <p:hf hdr="0" ftr="0" dt="0"/>
  <p:txStyles>
    <p:titleStyle>
      <a:lvl1pPr algn="l" rtl="0" eaLnBrk="0" fontAlgn="base" hangingPunct="0">
        <a:spcBef>
          <a:spcPct val="0"/>
        </a:spcBef>
        <a:spcAft>
          <a:spcPct val="0"/>
        </a:spcAft>
        <a:defRPr sz="4400">
          <a:solidFill>
            <a:schemeClr val="tx2"/>
          </a:solidFill>
          <a:latin typeface="+mj-lt"/>
          <a:ea typeface="+mj-ea"/>
          <a:cs typeface="+mj-cs"/>
        </a:defRPr>
      </a:lvl1pPr>
      <a:lvl2pPr algn="l" rtl="0" eaLnBrk="0" fontAlgn="base" hangingPunct="0">
        <a:spcBef>
          <a:spcPct val="0"/>
        </a:spcBef>
        <a:spcAft>
          <a:spcPct val="0"/>
        </a:spcAft>
        <a:defRPr sz="4400">
          <a:solidFill>
            <a:schemeClr val="tx2"/>
          </a:solidFill>
          <a:latin typeface="Tahoma" pitchFamily="34" charset="0"/>
        </a:defRPr>
      </a:lvl2pPr>
      <a:lvl3pPr algn="l" rtl="0" eaLnBrk="0" fontAlgn="base" hangingPunct="0">
        <a:spcBef>
          <a:spcPct val="0"/>
        </a:spcBef>
        <a:spcAft>
          <a:spcPct val="0"/>
        </a:spcAft>
        <a:defRPr sz="4400">
          <a:solidFill>
            <a:schemeClr val="tx2"/>
          </a:solidFill>
          <a:latin typeface="Tahoma" pitchFamily="34" charset="0"/>
        </a:defRPr>
      </a:lvl3pPr>
      <a:lvl4pPr algn="l" rtl="0" eaLnBrk="0" fontAlgn="base" hangingPunct="0">
        <a:spcBef>
          <a:spcPct val="0"/>
        </a:spcBef>
        <a:spcAft>
          <a:spcPct val="0"/>
        </a:spcAft>
        <a:defRPr sz="4400">
          <a:solidFill>
            <a:schemeClr val="tx2"/>
          </a:solidFill>
          <a:latin typeface="Tahoma" pitchFamily="34" charset="0"/>
        </a:defRPr>
      </a:lvl4pPr>
      <a:lvl5pPr algn="l" rtl="0" eaLnBrk="0" fontAlgn="base" hangingPunct="0">
        <a:spcBef>
          <a:spcPct val="0"/>
        </a:spcBef>
        <a:spcAft>
          <a:spcPct val="0"/>
        </a:spcAft>
        <a:defRPr sz="4400">
          <a:solidFill>
            <a:schemeClr val="tx2"/>
          </a:solidFill>
          <a:latin typeface="Tahoma" pitchFamily="34" charset="0"/>
        </a:defRPr>
      </a:lvl5pPr>
      <a:lvl6pPr marL="457200" algn="l" rtl="0" fontAlgn="base">
        <a:spcBef>
          <a:spcPct val="0"/>
        </a:spcBef>
        <a:spcAft>
          <a:spcPct val="0"/>
        </a:spcAft>
        <a:defRPr sz="4400">
          <a:solidFill>
            <a:schemeClr val="tx2"/>
          </a:solidFill>
          <a:latin typeface="Tahoma" pitchFamily="34" charset="0"/>
        </a:defRPr>
      </a:lvl6pPr>
      <a:lvl7pPr marL="914400" algn="l" rtl="0" fontAlgn="base">
        <a:spcBef>
          <a:spcPct val="0"/>
        </a:spcBef>
        <a:spcAft>
          <a:spcPct val="0"/>
        </a:spcAft>
        <a:defRPr sz="4400">
          <a:solidFill>
            <a:schemeClr val="tx2"/>
          </a:solidFill>
          <a:latin typeface="Tahoma" pitchFamily="34" charset="0"/>
        </a:defRPr>
      </a:lvl7pPr>
      <a:lvl8pPr marL="1371600" algn="l" rtl="0" fontAlgn="base">
        <a:spcBef>
          <a:spcPct val="0"/>
        </a:spcBef>
        <a:spcAft>
          <a:spcPct val="0"/>
        </a:spcAft>
        <a:defRPr sz="4400">
          <a:solidFill>
            <a:schemeClr val="tx2"/>
          </a:solidFill>
          <a:latin typeface="Tahoma" pitchFamily="34" charset="0"/>
        </a:defRPr>
      </a:lvl8pPr>
      <a:lvl9pPr marL="1828800" algn="l" rtl="0" fontAlgn="base">
        <a:spcBef>
          <a:spcPct val="0"/>
        </a:spcBef>
        <a:spcAft>
          <a:spcPct val="0"/>
        </a:spcAft>
        <a:defRPr sz="4400">
          <a:solidFill>
            <a:schemeClr val="tx2"/>
          </a:solidFill>
          <a:latin typeface="Tahoma" pitchFamily="34" charset="0"/>
        </a:defRPr>
      </a:lvl9pPr>
    </p:titleStyle>
    <p:bodyStyle>
      <a:lvl1pPr marL="342900" indent="-342900" algn="l" rtl="0" eaLnBrk="0" fontAlgn="base" hangingPunct="0">
        <a:spcBef>
          <a:spcPct val="20000"/>
        </a:spcBef>
        <a:spcAft>
          <a:spcPct val="0"/>
        </a:spcAft>
        <a:buClr>
          <a:schemeClr val="folHlink"/>
        </a:buClr>
        <a:buSzPct val="60000"/>
        <a:buFont typeface="Wingdings" panose="05000000000000000000" pitchFamily="2" charset="2"/>
        <a:buChar char="n"/>
        <a:defRPr sz="3200">
          <a:solidFill>
            <a:schemeClr val="tx1"/>
          </a:solidFill>
          <a:latin typeface="+mn-lt"/>
          <a:ea typeface="+mn-ea"/>
          <a:cs typeface="+mn-cs"/>
        </a:defRPr>
      </a:lvl1pPr>
      <a:lvl2pPr marL="742950" indent="-285750" algn="l" rtl="0" eaLnBrk="0" fontAlgn="base" hangingPunct="0">
        <a:spcBef>
          <a:spcPct val="20000"/>
        </a:spcBef>
        <a:spcAft>
          <a:spcPct val="0"/>
        </a:spcAft>
        <a:buClr>
          <a:schemeClr val="hlink"/>
        </a:buClr>
        <a:buSzPct val="55000"/>
        <a:buFont typeface="Wingdings" panose="05000000000000000000" pitchFamily="2" charset="2"/>
        <a:buChar char="n"/>
        <a:defRPr sz="2800">
          <a:solidFill>
            <a:schemeClr val="tx1"/>
          </a:solidFill>
          <a:latin typeface="+mn-lt"/>
        </a:defRPr>
      </a:lvl2pPr>
      <a:lvl3pPr marL="1143000" indent="-228600" algn="l" rtl="0" eaLnBrk="0" fontAlgn="base" hangingPunct="0">
        <a:spcBef>
          <a:spcPct val="20000"/>
        </a:spcBef>
        <a:spcAft>
          <a:spcPct val="0"/>
        </a:spcAft>
        <a:buClr>
          <a:schemeClr val="folHlink"/>
        </a:buClr>
        <a:buSzPct val="50000"/>
        <a:buFont typeface="Wingdings" panose="05000000000000000000" pitchFamily="2" charset="2"/>
        <a:buChar char="n"/>
        <a:defRPr sz="2400">
          <a:solidFill>
            <a:schemeClr val="tx1"/>
          </a:solidFill>
          <a:latin typeface="+mn-lt"/>
        </a:defRPr>
      </a:lvl3pPr>
      <a:lvl4pPr marL="1600200" indent="-228600" algn="l" rtl="0" eaLnBrk="0" fontAlgn="base" hangingPunct="0">
        <a:spcBef>
          <a:spcPct val="20000"/>
        </a:spcBef>
        <a:spcAft>
          <a:spcPct val="0"/>
        </a:spcAft>
        <a:buClr>
          <a:schemeClr val="accent2"/>
        </a:buClr>
        <a:buSzPct val="55000"/>
        <a:buFont typeface="Wingdings" panose="05000000000000000000" pitchFamily="2" charset="2"/>
        <a:buChar char="n"/>
        <a:defRPr sz="2000">
          <a:solidFill>
            <a:schemeClr val="tx1"/>
          </a:solidFill>
          <a:latin typeface="+mn-lt"/>
        </a:defRPr>
      </a:lvl4pPr>
      <a:lvl5pPr marL="2057400" indent="-228600" algn="l" rtl="0" eaLnBrk="0" fontAlgn="base" hangingPunct="0">
        <a:spcBef>
          <a:spcPct val="20000"/>
        </a:spcBef>
        <a:spcAft>
          <a:spcPct val="0"/>
        </a:spcAft>
        <a:buClr>
          <a:schemeClr val="accent1"/>
        </a:buClr>
        <a:buSzPct val="50000"/>
        <a:buFont typeface="Wingdings" panose="05000000000000000000" pitchFamily="2" charset="2"/>
        <a:buChar char="n"/>
        <a:defRPr sz="2000">
          <a:solidFill>
            <a:schemeClr val="tx1"/>
          </a:solidFill>
          <a:latin typeface="+mn-lt"/>
        </a:defRPr>
      </a:lvl5pPr>
      <a:lvl6pPr marL="25146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6pPr>
      <a:lvl7pPr marL="29718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7pPr>
      <a:lvl8pPr marL="34290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8pPr>
      <a:lvl9pPr marL="3886200" indent="-228600" algn="l" rtl="0" fontAlgn="base">
        <a:spcBef>
          <a:spcPct val="20000"/>
        </a:spcBef>
        <a:spcAft>
          <a:spcPct val="0"/>
        </a:spcAft>
        <a:buClr>
          <a:schemeClr val="accent1"/>
        </a:buClr>
        <a:buSzPct val="50000"/>
        <a:buFont typeface="Wingdings" pitchFamily="2" charset="2"/>
        <a:buChar char="n"/>
        <a:defRPr sz="2000">
          <a:solidFill>
            <a:schemeClr val="tx1"/>
          </a:solidFill>
          <a:latin typeface="+mn-lt"/>
        </a:defRPr>
      </a:lvl9pPr>
    </p:bodyStyle>
    <p:otherStyle>
      <a:defPPr>
        <a:defRPr lang="zh-CN"/>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9.xml"/><Relationship Id="rId4" Type="http://schemas.openxmlformats.org/officeDocument/2006/relationships/image" Target="../media/image6.jpeg"/></Relationships>
</file>

<file path=ppt/slides/_rels/slide2.xml.rels><?xml version="1.0" encoding="UTF-8" standalone="yes"?>
<Relationships xmlns="http://schemas.openxmlformats.org/package/2006/relationships"><Relationship Id="rId3" Type="http://schemas.openxmlformats.org/officeDocument/2006/relationships/image" Target="../media/image7.emf"/><Relationship Id="rId7" Type="http://schemas.openxmlformats.org/officeDocument/2006/relationships/image" Target="../media/image11.emf"/><Relationship Id="rId2" Type="http://schemas.openxmlformats.org/officeDocument/2006/relationships/notesSlide" Target="../notesSlides/notesSlide1.xml"/><Relationship Id="rId1" Type="http://schemas.openxmlformats.org/officeDocument/2006/relationships/slideLayout" Target="../slideLayouts/slideLayout14.xml"/><Relationship Id="rId6" Type="http://schemas.openxmlformats.org/officeDocument/2006/relationships/image" Target="../media/image10.emf"/><Relationship Id="rId5" Type="http://schemas.openxmlformats.org/officeDocument/2006/relationships/image" Target="../media/image9.emf"/><Relationship Id="rId4" Type="http://schemas.openxmlformats.org/officeDocument/2006/relationships/image" Target="../media/image8.emf"/></Relationships>
</file>

<file path=ppt/slides/_rels/slide3.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notesSlide" Target="../notesSlides/notesSlide2.xml"/><Relationship Id="rId1" Type="http://schemas.openxmlformats.org/officeDocument/2006/relationships/slideLayout" Target="../slideLayouts/slideLayout14.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14.xml"/></Relationships>
</file>

<file path=ppt/slides/_rels/slide5.xml.rels><?xml version="1.0" encoding="UTF-8" standalone="yes"?>
<Relationships xmlns="http://schemas.openxmlformats.org/package/2006/relationships"><Relationship Id="rId3" Type="http://schemas.openxmlformats.org/officeDocument/2006/relationships/image" Target="../media/image13.png"/><Relationship Id="rId2" Type="http://schemas.openxmlformats.org/officeDocument/2006/relationships/notesSlide" Target="../notesSlides/notesSlide4.xml"/><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14.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14.xml"/></Relationships>
</file>

<file path=ppt/slides/_rels/slide9.xml.rels><?xml version="1.0" encoding="UTF-8" standalone="yes"?>
<Relationships xmlns="http://schemas.openxmlformats.org/package/2006/relationships"><Relationship Id="rId3" Type="http://schemas.openxmlformats.org/officeDocument/2006/relationships/image" Target="../media/image5.png"/><Relationship Id="rId2" Type="http://schemas.openxmlformats.org/officeDocument/2006/relationships/image" Target="../media/image4.jpg"/><Relationship Id="rId1" Type="http://schemas.openxmlformats.org/officeDocument/2006/relationships/slideLayout" Target="../slideLayouts/slideLayout29.xml"/></Relationships>
</file>

<file path=ppt/slides/_rels/slide10.xml.rels><?xml version="1.0" encoding="UTF-8" standalone="yes"?>
<Relationships xmlns="http://schemas.openxmlformats.org/package/2006/relationships"><Relationship Id="rId2" Type="http://schemas.openxmlformats.org/officeDocument/2006/relationships/image" Target="../media/image14.png"/><Relationship Id="rId1" Type="http://schemas.openxmlformats.org/officeDocument/2006/relationships/slideLayout" Target="../slideLayouts/slideLayout7.xml"/></Relationships>
</file>

<file path=ppt/slides/_rels/slide11.xml.rels><?xml version="1.0" encoding="UTF-8" standalone="yes"?>
<Relationships xmlns="http://schemas.openxmlformats.org/package/2006/relationships"><Relationship Id="rId3" Type="http://schemas.openxmlformats.org/officeDocument/2006/relationships/image" Target="../media/image15.png"/><Relationship Id="rId2" Type="http://schemas.openxmlformats.org/officeDocument/2006/relationships/notesSlide" Target="../notesSlides/notesSlide7.xml"/><Relationship Id="rId1" Type="http://schemas.openxmlformats.org/officeDocument/2006/relationships/slideLayout" Target="../slideLayouts/slideLayout7.xml"/></Relationships>
</file>

<file path=ppt/slides/_rels/slide12.xml.rels><?xml version="1.0" encoding="UTF-8" standalone="yes"?>
<Relationships xmlns="http://schemas.openxmlformats.org/package/2006/relationships"><Relationship Id="rId2" Type="http://schemas.openxmlformats.org/officeDocument/2006/relationships/image" Target="../media/image16.png"/><Relationship Id="rId1" Type="http://schemas.openxmlformats.org/officeDocument/2006/relationships/slideLayout" Target="../slideLayouts/slideLayout7.xml"/></Relationships>
</file>

<file path=ppt/slides/_rels/slide13.xml.rels><?xml version="1.0" encoding="UTF-8" standalone="yes"?>
<Relationships xmlns="http://schemas.openxmlformats.org/package/2006/relationships"><Relationship Id="rId2" Type="http://schemas.openxmlformats.org/officeDocument/2006/relationships/image" Target="../media/image17.png"/><Relationship Id="rId1" Type="http://schemas.openxmlformats.org/officeDocument/2006/relationships/slideLayout" Target="../slideLayouts/slideLayout7.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15.xml.rels><?xml version="1.0" encoding="UTF-8" standalone="yes"?>
<Relationships xmlns="http://schemas.openxmlformats.org/package/2006/relationships"><Relationship Id="rId3" Type="http://schemas.openxmlformats.org/officeDocument/2006/relationships/image" Target="../media/image18.png"/><Relationship Id="rId2" Type="http://schemas.openxmlformats.org/officeDocument/2006/relationships/notesSlide" Target="../notesSlides/notesSlide8.xml"/><Relationship Id="rId1" Type="http://schemas.openxmlformats.org/officeDocument/2006/relationships/slideLayout" Target="../slideLayouts/slideLayout7.xml"/><Relationship Id="rId4" Type="http://schemas.openxmlformats.org/officeDocument/2006/relationships/image" Target="../media/image19.png"/></Relationships>
</file>

<file path=ppt/slides/_rels/slide16.xml.rels><?xml version="1.0" encoding="UTF-8" standalone="yes"?>
<Relationships xmlns="http://schemas.openxmlformats.org/package/2006/relationships"><Relationship Id="rId3" Type="http://schemas.openxmlformats.org/officeDocument/2006/relationships/image" Target="../media/image20.png"/><Relationship Id="rId2" Type="http://schemas.openxmlformats.org/officeDocument/2006/relationships/notesSlide" Target="../notesSlides/notesSlide9.xml"/><Relationship Id="rId1" Type="http://schemas.openxmlformats.org/officeDocument/2006/relationships/slideLayout" Target="../slideLayouts/slideLayout7.xml"/></Relationships>
</file>

<file path=ppt/slides/_rels/slide17.xml.rels><?xml version="1.0" encoding="UTF-8" standalone="yes"?>
<Relationships xmlns="http://schemas.openxmlformats.org/package/2006/relationships"><Relationship Id="rId2" Type="http://schemas.openxmlformats.org/officeDocument/2006/relationships/image" Target="../media/image21.png"/><Relationship Id="rId1" Type="http://schemas.openxmlformats.org/officeDocument/2006/relationships/slideLayout" Target="../slideLayouts/slideLayout7.xml"/></Relationships>
</file>

<file path=ppt/slides/_rels/slide18.xml.rels><?xml version="1.0" encoding="UTF-8" standalone="yes"?>
<Relationships xmlns="http://schemas.openxmlformats.org/package/2006/relationships"><Relationship Id="rId2" Type="http://schemas.openxmlformats.org/officeDocument/2006/relationships/image" Target="../media/image22.png"/><Relationship Id="rId1" Type="http://schemas.openxmlformats.org/officeDocument/2006/relationships/slideLayout" Target="../slideLayouts/slideLayout7.xml"/></Relationships>
</file>

<file path=ppt/slides/_rels/slide19.xml.rels><?xml version="1.0" encoding="UTF-8" standalone="yes"?>
<Relationships xmlns="http://schemas.openxmlformats.org/package/2006/relationships"><Relationship Id="rId2" Type="http://schemas.openxmlformats.org/officeDocument/2006/relationships/image" Target="../media/image23.png"/><Relationship Id="rId1" Type="http://schemas.openxmlformats.org/officeDocument/2006/relationships/slideLayout" Target="../slideLayouts/slideLayout7.xml"/></Relationships>
</file>

<file path=ppt/slides/_rels/slide20.xml.rels><?xml version="1.0" encoding="UTF-8" standalone="yes"?>
<Relationships xmlns="http://schemas.openxmlformats.org/package/2006/relationships"><Relationship Id="rId3" Type="http://schemas.openxmlformats.org/officeDocument/2006/relationships/image" Target="../media/image24.png"/><Relationship Id="rId2" Type="http://schemas.openxmlformats.org/officeDocument/2006/relationships/notesSlide" Target="../notesSlides/notesSlide10.xml"/><Relationship Id="rId1" Type="http://schemas.openxmlformats.org/officeDocument/2006/relationships/slideLayout" Target="../slideLayouts/slideLayout7.xml"/></Relationships>
</file>

<file path=ppt/slides/_rels/slide21.xml.rels><?xml version="1.0" encoding="UTF-8" standalone="yes"?>
<Relationships xmlns="http://schemas.openxmlformats.org/package/2006/relationships"><Relationship Id="rId3" Type="http://schemas.openxmlformats.org/officeDocument/2006/relationships/image" Target="../media/image26.png"/><Relationship Id="rId2" Type="http://schemas.openxmlformats.org/officeDocument/2006/relationships/image" Target="../media/image25.png"/><Relationship Id="rId1" Type="http://schemas.openxmlformats.org/officeDocument/2006/relationships/slideLayout" Target="../slideLayouts/slideLayout7.xml"/></Relationships>
</file>

<file path=ppt/slides/_rels/slide22.xml.rels><?xml version="1.0" encoding="UTF-8" standalone="yes"?>
<Relationships xmlns="http://schemas.openxmlformats.org/package/2006/relationships"><Relationship Id="rId2" Type="http://schemas.openxmlformats.org/officeDocument/2006/relationships/image" Target="../media/image27.png"/><Relationship Id="rId1" Type="http://schemas.openxmlformats.org/officeDocument/2006/relationships/slideLayout" Target="../slideLayouts/slideLayout7.xml"/></Relationships>
</file>

<file path=ppt/slides/_rels/slide23.xml.rels><?xml version="1.0" encoding="UTF-8" standalone="yes"?>
<Relationships xmlns="http://schemas.openxmlformats.org/package/2006/relationships"><Relationship Id="rId2" Type="http://schemas.openxmlformats.org/officeDocument/2006/relationships/image" Target="../media/image28.png"/><Relationship Id="rId1" Type="http://schemas.openxmlformats.org/officeDocument/2006/relationships/slideLayout" Target="../slideLayouts/slideLayout7.xml"/></Relationships>
</file>

<file path=ppt/slides/_rels/slide24.xml.rels><?xml version="1.0" encoding="UTF-8" standalone="yes"?>
<Relationships xmlns="http://schemas.openxmlformats.org/package/2006/relationships"><Relationship Id="rId2" Type="http://schemas.openxmlformats.org/officeDocument/2006/relationships/image" Target="../media/image29.png"/><Relationship Id="rId1" Type="http://schemas.openxmlformats.org/officeDocument/2006/relationships/slideLayout" Target="../slideLayouts/slideLayout7.xml"/></Relationships>
</file>

<file path=ppt/slides/_rels/slide25.xml.rels><?xml version="1.0" encoding="UTF-8" standalone="yes"?>
<Relationships xmlns="http://schemas.openxmlformats.org/package/2006/relationships"><Relationship Id="rId2" Type="http://schemas.openxmlformats.org/officeDocument/2006/relationships/image" Target="../media/image30.png"/><Relationship Id="rId1" Type="http://schemas.openxmlformats.org/officeDocument/2006/relationships/slideLayout" Target="../slideLayouts/slideLayout7.xml"/></Relationships>
</file>

<file path=ppt/slides/_rels/slide26.xml.rels><?xml version="1.0" encoding="UTF-8" standalone="yes"?>
<Relationships xmlns="http://schemas.openxmlformats.org/package/2006/relationships"><Relationship Id="rId2" Type="http://schemas.openxmlformats.org/officeDocument/2006/relationships/image" Target="../media/image31.png"/><Relationship Id="rId1" Type="http://schemas.openxmlformats.org/officeDocument/2006/relationships/slideLayout" Target="../slideLayouts/slideLayout7.xml"/></Relationships>
</file>

<file path=ppt/slides/_rels/slide27.xml.rels><?xml version="1.0" encoding="UTF-8" standalone="yes"?>
<Relationships xmlns="http://schemas.openxmlformats.org/package/2006/relationships"><Relationship Id="rId2" Type="http://schemas.openxmlformats.org/officeDocument/2006/relationships/image" Target="../media/image32.png"/><Relationship Id="rId1" Type="http://schemas.openxmlformats.org/officeDocument/2006/relationships/slideLayout" Target="../slideLayouts/slideLayout7.xml"/></Relationships>
</file>

<file path=ppt/slides/_rels/slide28.xml.rels><?xml version="1.0" encoding="UTF-8" standalone="yes"?>
<Relationships xmlns="http://schemas.openxmlformats.org/package/2006/relationships"><Relationship Id="rId2" Type="http://schemas.openxmlformats.org/officeDocument/2006/relationships/image" Target="../media/image33.png"/><Relationship Id="rId1" Type="http://schemas.openxmlformats.org/officeDocument/2006/relationships/slideLayout" Target="../slideLayouts/slideLayout7.xml"/></Relationships>
</file>

<file path=ppt/slides/_rels/slide29.xml.rels><?xml version="1.0" encoding="UTF-8" standalone="yes"?>
<Relationships xmlns="http://schemas.openxmlformats.org/package/2006/relationships"><Relationship Id="rId2" Type="http://schemas.openxmlformats.org/officeDocument/2006/relationships/image" Target="../media/image34.png"/><Relationship Id="rId1" Type="http://schemas.openxmlformats.org/officeDocument/2006/relationships/slideLayout" Target="../slideLayouts/slideLayout7.xml"/></Relationships>
</file>

<file path=ppt/slides/_rels/slide30.xml.rels><?xml version="1.0" encoding="UTF-8" standalone="yes"?>
<Relationships xmlns="http://schemas.openxmlformats.org/package/2006/relationships"><Relationship Id="rId2" Type="http://schemas.openxmlformats.org/officeDocument/2006/relationships/image" Target="../media/image35.png"/><Relationship Id="rId1" Type="http://schemas.openxmlformats.org/officeDocument/2006/relationships/slideLayout" Target="../slideLayouts/slideLayout7.xml"/></Relationships>
</file>

<file path=ppt/slides/_rels/slide31.xml.rels><?xml version="1.0" encoding="UTF-8" standalone="yes"?>
<Relationships xmlns="http://schemas.openxmlformats.org/package/2006/relationships"><Relationship Id="rId2" Type="http://schemas.openxmlformats.org/officeDocument/2006/relationships/image" Target="../media/image36.png"/><Relationship Id="rId1" Type="http://schemas.openxmlformats.org/officeDocument/2006/relationships/slideLayout" Target="../slideLayouts/slideLayout7.xml"/></Relationships>
</file>

<file path=ppt/slides/_rels/slide32.xml.rels><?xml version="1.0" encoding="UTF-8" standalone="yes"?>
<Relationships xmlns="http://schemas.openxmlformats.org/package/2006/relationships"><Relationship Id="rId2" Type="http://schemas.openxmlformats.org/officeDocument/2006/relationships/image" Target="../media/image37.png"/><Relationship Id="rId1" Type="http://schemas.openxmlformats.org/officeDocument/2006/relationships/slideLayout" Target="../slideLayouts/slideLayout7.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9.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0.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7.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3.xml.rels><?xml version="1.0" encoding="UTF-8" standalone="yes"?>
<Relationships xmlns="http://schemas.openxmlformats.org/package/2006/relationships"><Relationship Id="rId3" Type="http://schemas.openxmlformats.org/officeDocument/2006/relationships/image" Target="../media/image39.png"/><Relationship Id="rId2" Type="http://schemas.openxmlformats.org/officeDocument/2006/relationships/image" Target="../media/image38.png"/><Relationship Id="rId1" Type="http://schemas.openxmlformats.org/officeDocument/2006/relationships/slideLayout" Target="../slideLayouts/slideLayout7.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6.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37.xml"/></Relationships>
</file>

<file path=ppt/slides/_rels/slide47.xml.rels><?xml version="1.0" encoding="UTF-8" standalone="yes"?>
<Relationships xmlns="http://schemas.openxmlformats.org/package/2006/relationships"><Relationship Id="rId2" Type="http://schemas.openxmlformats.org/officeDocument/2006/relationships/notesSlide" Target="../notesSlides/notesSlide13.xml"/><Relationship Id="rId1" Type="http://schemas.openxmlformats.org/officeDocument/2006/relationships/slideLayout" Target="../slideLayouts/slideLayout37.xml"/></Relationships>
</file>

<file path=ppt/slides/_rels/slide4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4" name="Rectangle 3">
            <a:extLst>
              <a:ext uri="{FF2B5EF4-FFF2-40B4-BE49-F238E27FC236}">
                <a16:creationId xmlns:a16="http://schemas.microsoft.com/office/drawing/2014/main" id="{B552011D-4A1A-4EC2-87B3-261DD421F9EC}"/>
              </a:ext>
            </a:extLst>
          </p:cNvPr>
          <p:cNvSpPr>
            <a:spLocks noChangeArrowheads="1"/>
          </p:cNvSpPr>
          <p:nvPr/>
        </p:nvSpPr>
        <p:spPr bwMode="auto">
          <a:xfrm>
            <a:off x="2667000" y="2895601"/>
            <a:ext cx="6858000" cy="92392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lvl="0" algn="ctr"/>
            <a:r>
              <a:rPr lang="zh-CN" altLang="en-US" sz="5400" i="0" baseline="0" dirty="0">
                <a:solidFill>
                  <a:srgbClr val="000000"/>
                </a:solidFill>
                <a:latin typeface="微软雅黑" panose="020B0503020204020204" pitchFamily="34" charset="-122"/>
                <a:ea typeface="微软雅黑" panose="020B0503020204020204" pitchFamily="34" charset="-122"/>
              </a:rPr>
              <a:t>物理层</a:t>
            </a:r>
          </a:p>
        </p:txBody>
      </p:sp>
      <p:pic>
        <p:nvPicPr>
          <p:cNvPr id="6" name="Picture 2" descr="Forouzan4e07_banner">
            <a:extLst>
              <a:ext uri="{FF2B5EF4-FFF2-40B4-BE49-F238E27FC236}">
                <a16:creationId xmlns:a16="http://schemas.microsoft.com/office/drawing/2014/main" id="{828FF23B-51EC-4D98-A3D1-9F28441312C2}"/>
              </a:ext>
            </a:extLst>
          </p:cNvPr>
          <p:cNvPicPr>
            <a:picLocks noChangeAspect="1" noChangeArrowheads="1"/>
          </p:cNvPicPr>
          <p:nvPr/>
        </p:nvPicPr>
        <p:blipFill>
          <a:blip r:embed="rId4">
            <a:extLst>
              <a:ext uri="{28A0092B-C50C-407E-A947-70E740481C1C}">
                <a14:useLocalDpi xmlns:a14="http://schemas.microsoft.com/office/drawing/2010/main" val="0"/>
              </a:ext>
            </a:extLst>
          </a:blip>
          <a:srcRect/>
          <a:stretch>
            <a:fillRect/>
          </a:stretch>
        </p:blipFill>
        <p:spPr bwMode="auto">
          <a:xfrm>
            <a:off x="1905000" y="5915025"/>
            <a:ext cx="9220200" cy="923925"/>
          </a:xfrm>
          <a:prstGeom prst="rect">
            <a:avLst/>
          </a:prstGeom>
          <a:noFill/>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extLst>
      <p:ext uri="{BB962C8B-B14F-4D97-AF65-F5344CB8AC3E}">
        <p14:creationId xmlns:p14="http://schemas.microsoft.com/office/powerpoint/2010/main" val="943808674"/>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圆角 1">
            <a:extLst>
              <a:ext uri="{FF2B5EF4-FFF2-40B4-BE49-F238E27FC236}">
                <a16:creationId xmlns:a16="http://schemas.microsoft.com/office/drawing/2014/main" id="{65E2FA1C-08E8-4337-8E9D-53E06FC1F5B7}"/>
              </a:ext>
            </a:extLst>
          </p:cNvPr>
          <p:cNvSpPr/>
          <p:nvPr/>
        </p:nvSpPr>
        <p:spPr>
          <a:xfrm>
            <a:off x="1379597" y="4580069"/>
            <a:ext cx="9359173" cy="666394"/>
          </a:xfrm>
          <a:prstGeom prst="roundRect">
            <a:avLst/>
          </a:prstGeom>
          <a:solidFill>
            <a:srgbClr val="FFCCCC"/>
          </a:solidFill>
          <a:ln w="28575" cap="flat" cmpd="sng" algn="ctr">
            <a:solidFill>
              <a:srgbClr val="FF0000"/>
            </a:solidFill>
            <a:prstDash val="sysDash"/>
            <a:miter lim="800000"/>
          </a:ln>
          <a:effectLst/>
        </p:spPr>
        <p:txBody>
          <a:bodyPr rtlCol="0" anchor="ctr"/>
          <a:lstStyle/>
          <a:p>
            <a:pPr marL="0" marR="0" lvl="0" indent="0" algn="ctr" defTabSz="914400" rtl="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dirty="0">
              <a:ln>
                <a:noFill/>
              </a:ln>
              <a:solidFill>
                <a:prstClr val="white"/>
              </a:solidFill>
              <a:effectLst/>
              <a:uLnTx/>
              <a:uFillTx/>
              <a:latin typeface="等线" panose="020F0502020204030204"/>
              <a:ea typeface="+mn-ea"/>
              <a:cs typeface="+mn-cs"/>
            </a:endParaRPr>
          </a:p>
        </p:txBody>
      </p:sp>
      <p:grpSp>
        <p:nvGrpSpPr>
          <p:cNvPr id="3" name="组合 2">
            <a:extLst>
              <a:ext uri="{FF2B5EF4-FFF2-40B4-BE49-F238E27FC236}">
                <a16:creationId xmlns:a16="http://schemas.microsoft.com/office/drawing/2014/main" id="{47B70834-F42B-431B-801E-8BE575CB119B}"/>
              </a:ext>
            </a:extLst>
          </p:cNvPr>
          <p:cNvGrpSpPr/>
          <p:nvPr/>
        </p:nvGrpSpPr>
        <p:grpSpPr>
          <a:xfrm>
            <a:off x="3768825" y="1685832"/>
            <a:ext cx="4596676" cy="319188"/>
            <a:chOff x="3006825" y="2168231"/>
            <a:chExt cx="4596676" cy="319188"/>
          </a:xfrm>
        </p:grpSpPr>
        <p:sp>
          <p:nvSpPr>
            <p:cNvPr id="4" name="箭头: 左右 3">
              <a:extLst>
                <a:ext uri="{FF2B5EF4-FFF2-40B4-BE49-F238E27FC236}">
                  <a16:creationId xmlns:a16="http://schemas.microsoft.com/office/drawing/2014/main" id="{51F367CB-4968-4573-825E-25038A7B9D5A}"/>
                </a:ext>
              </a:extLst>
            </p:cNvPr>
            <p:cNvSpPr/>
            <p:nvPr/>
          </p:nvSpPr>
          <p:spPr>
            <a:xfrm>
              <a:off x="3006825" y="2218924"/>
              <a:ext cx="4596676" cy="219690"/>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5" name="矩形: 圆角 5">
              <a:extLst>
                <a:ext uri="{FF2B5EF4-FFF2-40B4-BE49-F238E27FC236}">
                  <a16:creationId xmlns:a16="http://schemas.microsoft.com/office/drawing/2014/main" id="{C4CA6267-BD81-471B-BD42-09300507E897}"/>
                </a:ext>
              </a:extLst>
            </p:cNvPr>
            <p:cNvSpPr>
              <a:spLocks noChangeArrowheads="1"/>
            </p:cNvSpPr>
            <p:nvPr/>
          </p:nvSpPr>
          <p:spPr bwMode="auto">
            <a:xfrm>
              <a:off x="3429000" y="2168231"/>
              <a:ext cx="3774788" cy="319188"/>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应用程序通过调用</a:t>
              </a:r>
              <a:r>
                <a:rPr kumimoji="0" lang="en-US" altLang="zh-CN"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Socket</a:t>
              </a: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库来委托协议栈工作</a:t>
              </a:r>
            </a:p>
          </p:txBody>
        </p:sp>
      </p:grpSp>
      <p:grpSp>
        <p:nvGrpSpPr>
          <p:cNvPr id="6" name="组合 5">
            <a:extLst>
              <a:ext uri="{FF2B5EF4-FFF2-40B4-BE49-F238E27FC236}">
                <a16:creationId xmlns:a16="http://schemas.microsoft.com/office/drawing/2014/main" id="{6B1B7621-21AF-4071-B7D4-EA0BFD64EC75}"/>
              </a:ext>
            </a:extLst>
          </p:cNvPr>
          <p:cNvGrpSpPr/>
          <p:nvPr/>
        </p:nvGrpSpPr>
        <p:grpSpPr>
          <a:xfrm>
            <a:off x="990600" y="1470195"/>
            <a:ext cx="248494" cy="3676166"/>
            <a:chOff x="391740" y="1952594"/>
            <a:chExt cx="248494" cy="3676166"/>
          </a:xfrm>
        </p:grpSpPr>
        <p:sp>
          <p:nvSpPr>
            <p:cNvPr id="7" name="矩形 6">
              <a:extLst>
                <a:ext uri="{FF2B5EF4-FFF2-40B4-BE49-F238E27FC236}">
                  <a16:creationId xmlns:a16="http://schemas.microsoft.com/office/drawing/2014/main" id="{54FF019D-A853-473C-83CD-F77C663E5C0A}"/>
                </a:ext>
              </a:extLst>
            </p:cNvPr>
            <p:cNvSpPr/>
            <p:nvPr/>
          </p:nvSpPr>
          <p:spPr>
            <a:xfrm>
              <a:off x="398208" y="1952594"/>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应用程序</a:t>
              </a:r>
            </a:p>
          </p:txBody>
        </p:sp>
        <p:sp>
          <p:nvSpPr>
            <p:cNvPr id="8" name="矩形 7">
              <a:extLst>
                <a:ext uri="{FF2B5EF4-FFF2-40B4-BE49-F238E27FC236}">
                  <a16:creationId xmlns:a16="http://schemas.microsoft.com/office/drawing/2014/main" id="{54968D47-446E-4C9D-BAA0-60351FFAC776}"/>
                </a:ext>
              </a:extLst>
            </p:cNvPr>
            <p:cNvSpPr/>
            <p:nvPr/>
          </p:nvSpPr>
          <p:spPr>
            <a:xfrm>
              <a:off x="398208" y="3256518"/>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操作系统</a:t>
              </a:r>
            </a:p>
          </p:txBody>
        </p:sp>
        <p:sp>
          <p:nvSpPr>
            <p:cNvPr id="9" name="矩形 8">
              <a:extLst>
                <a:ext uri="{FF2B5EF4-FFF2-40B4-BE49-F238E27FC236}">
                  <a16:creationId xmlns:a16="http://schemas.microsoft.com/office/drawing/2014/main" id="{CE13C2C4-2DCD-4394-8D94-4A0A7D566523}"/>
                </a:ext>
              </a:extLst>
            </p:cNvPr>
            <p:cNvSpPr/>
            <p:nvPr/>
          </p:nvSpPr>
          <p:spPr>
            <a:xfrm>
              <a:off x="398208" y="4322411"/>
              <a:ext cx="242026" cy="742822"/>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驱动程序</a:t>
              </a:r>
            </a:p>
          </p:txBody>
        </p:sp>
        <p:sp>
          <p:nvSpPr>
            <p:cNvPr id="10" name="矩形 9">
              <a:extLst>
                <a:ext uri="{FF2B5EF4-FFF2-40B4-BE49-F238E27FC236}">
                  <a16:creationId xmlns:a16="http://schemas.microsoft.com/office/drawing/2014/main" id="{B81A690D-61C8-4049-9906-A232CBDDCE8E}"/>
                </a:ext>
              </a:extLst>
            </p:cNvPr>
            <p:cNvSpPr/>
            <p:nvPr/>
          </p:nvSpPr>
          <p:spPr>
            <a:xfrm>
              <a:off x="391740" y="5138981"/>
              <a:ext cx="242026" cy="489779"/>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硬件</a:t>
              </a:r>
            </a:p>
          </p:txBody>
        </p:sp>
      </p:grpSp>
      <p:grpSp>
        <p:nvGrpSpPr>
          <p:cNvPr id="11" name="组合 10">
            <a:extLst>
              <a:ext uri="{FF2B5EF4-FFF2-40B4-BE49-F238E27FC236}">
                <a16:creationId xmlns:a16="http://schemas.microsoft.com/office/drawing/2014/main" id="{1B058EBE-8C50-4546-8AD8-61BBD59A1D35}"/>
              </a:ext>
            </a:extLst>
          </p:cNvPr>
          <p:cNvGrpSpPr/>
          <p:nvPr/>
        </p:nvGrpSpPr>
        <p:grpSpPr>
          <a:xfrm>
            <a:off x="1492047" y="1295400"/>
            <a:ext cx="2411361" cy="4038872"/>
            <a:chOff x="730047" y="1777799"/>
            <a:chExt cx="2411361" cy="4038872"/>
          </a:xfrm>
        </p:grpSpPr>
        <p:grpSp>
          <p:nvGrpSpPr>
            <p:cNvPr id="12" name="组合 11">
              <a:extLst>
                <a:ext uri="{FF2B5EF4-FFF2-40B4-BE49-F238E27FC236}">
                  <a16:creationId xmlns:a16="http://schemas.microsoft.com/office/drawing/2014/main" id="{1AB2F518-2CB5-4FD6-9E2B-3F57F48C7E03}"/>
                </a:ext>
              </a:extLst>
            </p:cNvPr>
            <p:cNvGrpSpPr/>
            <p:nvPr/>
          </p:nvGrpSpPr>
          <p:grpSpPr>
            <a:xfrm>
              <a:off x="877531" y="1952593"/>
              <a:ext cx="2116394" cy="3691187"/>
              <a:chOff x="877531" y="1952593"/>
              <a:chExt cx="2116394" cy="3691187"/>
            </a:xfrm>
          </p:grpSpPr>
          <p:sp>
            <p:nvSpPr>
              <p:cNvPr id="14" name="矩形 13">
                <a:extLst>
                  <a:ext uri="{FF2B5EF4-FFF2-40B4-BE49-F238E27FC236}">
                    <a16:creationId xmlns:a16="http://schemas.microsoft.com/office/drawing/2014/main" id="{2BE9749F-B9E8-436A-AA7F-F3C9F5F01B2D}"/>
                  </a:ext>
                </a:extLst>
              </p:cNvPr>
              <p:cNvSpPr/>
              <p:nvPr/>
            </p:nvSpPr>
            <p:spPr>
              <a:xfrm>
                <a:off x="877531" y="1952593"/>
                <a:ext cx="2116394"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网络应用程序</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HTTP</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DNS</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DHCP</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900" b="0" i="0" u="none" strike="noStrike" kern="0" cap="none" spc="0" normalizeH="0" baseline="0" noProof="0" dirty="0">
                  <a:ln>
                    <a:noFill/>
                  </a:ln>
                  <a:solidFill>
                    <a:prstClr val="white"/>
                  </a:solidFill>
                  <a:effectLst/>
                  <a:uLnTx/>
                  <a:uFillTx/>
                  <a:latin typeface="等线" panose="020F0502020204030204"/>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dirty="0">
                  <a:ln>
                    <a:noFill/>
                  </a:ln>
                  <a:solidFill>
                    <a:prstClr val="white"/>
                  </a:solidFill>
                  <a:effectLst/>
                  <a:uLnTx/>
                  <a:uFillTx/>
                  <a:latin typeface="等线" panose="020F0502020204030204"/>
                  <a:ea typeface="+mn-ea"/>
                  <a:cs typeface="+mn-cs"/>
                </a:endParaRPr>
              </a:p>
            </p:txBody>
          </p:sp>
          <p:sp>
            <p:nvSpPr>
              <p:cNvPr id="15" name="矩形 14">
                <a:extLst>
                  <a:ext uri="{FF2B5EF4-FFF2-40B4-BE49-F238E27FC236}">
                    <a16:creationId xmlns:a16="http://schemas.microsoft.com/office/drawing/2014/main" id="{9241BA99-5038-4D85-B199-07F8B3CB76B6}"/>
                  </a:ext>
                </a:extLst>
              </p:cNvPr>
              <p:cNvSpPr/>
              <p:nvPr/>
            </p:nvSpPr>
            <p:spPr>
              <a:xfrm>
                <a:off x="1080320" y="2409795"/>
                <a:ext cx="1714501" cy="24334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Socket</a:t>
                </a: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库</a:t>
                </a:r>
              </a:p>
            </p:txBody>
          </p:sp>
          <p:sp>
            <p:nvSpPr>
              <p:cNvPr id="16" name="矩形 15">
                <a:extLst>
                  <a:ext uri="{FF2B5EF4-FFF2-40B4-BE49-F238E27FC236}">
                    <a16:creationId xmlns:a16="http://schemas.microsoft.com/office/drawing/2014/main" id="{35700757-0FAA-40EE-A113-C4A8C454E39D}"/>
                  </a:ext>
                </a:extLst>
              </p:cNvPr>
              <p:cNvSpPr/>
              <p:nvPr/>
            </p:nvSpPr>
            <p:spPr>
              <a:xfrm>
                <a:off x="877531" y="2837499"/>
                <a:ext cx="2116394" cy="157070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协议栈</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17" name="矩形 16">
                <a:extLst>
                  <a:ext uri="{FF2B5EF4-FFF2-40B4-BE49-F238E27FC236}">
                    <a16:creationId xmlns:a16="http://schemas.microsoft.com/office/drawing/2014/main" id="{EA7872BE-E3F6-4931-8EE8-484017786151}"/>
                  </a:ext>
                </a:extLst>
              </p:cNvPr>
              <p:cNvSpPr/>
              <p:nvPr/>
            </p:nvSpPr>
            <p:spPr>
              <a:xfrm>
                <a:off x="989986" y="3228335"/>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  TCP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（需要连接）</a:t>
                </a:r>
              </a:p>
            </p:txBody>
          </p:sp>
          <p:sp>
            <p:nvSpPr>
              <p:cNvPr id="18" name="矩形 17">
                <a:extLst>
                  <a:ext uri="{FF2B5EF4-FFF2-40B4-BE49-F238E27FC236}">
                    <a16:creationId xmlns:a16="http://schemas.microsoft.com/office/drawing/2014/main" id="{A1548E58-F377-49E4-9FF5-EC2426D42B97}"/>
                  </a:ext>
                </a:extLst>
              </p:cNvPr>
              <p:cNvSpPr/>
              <p:nvPr/>
            </p:nvSpPr>
            <p:spPr>
              <a:xfrm>
                <a:off x="1989187" y="3228335"/>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  UDP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（不需要连接）</a:t>
                </a:r>
              </a:p>
            </p:txBody>
          </p:sp>
          <p:sp>
            <p:nvSpPr>
              <p:cNvPr id="19" name="矩形 18">
                <a:extLst>
                  <a:ext uri="{FF2B5EF4-FFF2-40B4-BE49-F238E27FC236}">
                    <a16:creationId xmlns:a16="http://schemas.microsoft.com/office/drawing/2014/main" id="{078D5310-F841-463D-8855-534EA3DCCDB6}"/>
                  </a:ext>
                </a:extLst>
              </p:cNvPr>
              <p:cNvSpPr/>
              <p:nvPr/>
            </p:nvSpPr>
            <p:spPr>
              <a:xfrm>
                <a:off x="989985" y="3777712"/>
                <a:ext cx="1904386"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IP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（发送数据包、路由）</a:t>
                </a:r>
              </a:p>
            </p:txBody>
          </p:sp>
          <p:sp>
            <p:nvSpPr>
              <p:cNvPr id="20" name="矩形 19">
                <a:extLst>
                  <a:ext uri="{FF2B5EF4-FFF2-40B4-BE49-F238E27FC236}">
                    <a16:creationId xmlns:a16="http://schemas.microsoft.com/office/drawing/2014/main" id="{3A963A90-143E-472B-8387-52616B61AC72}"/>
                  </a:ext>
                </a:extLst>
              </p:cNvPr>
              <p:cNvSpPr/>
              <p:nvPr/>
            </p:nvSpPr>
            <p:spPr>
              <a:xfrm>
                <a:off x="1043449" y="3833016"/>
                <a:ext cx="505791" cy="176982"/>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ICMP</a:t>
                </a:r>
                <a:endParaRPr kumimoji="0" lang="zh-CN" altLang="en-US"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1" name="矩形 20">
                <a:extLst>
                  <a:ext uri="{FF2B5EF4-FFF2-40B4-BE49-F238E27FC236}">
                    <a16:creationId xmlns:a16="http://schemas.microsoft.com/office/drawing/2014/main" id="{0F9B768E-88F5-4DB0-B2EE-EF3526F874B2}"/>
                  </a:ext>
                </a:extLst>
              </p:cNvPr>
              <p:cNvSpPr/>
              <p:nvPr/>
            </p:nvSpPr>
            <p:spPr>
              <a:xfrm>
                <a:off x="2451919" y="4009998"/>
                <a:ext cx="390834" cy="176982"/>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ARP</a:t>
                </a:r>
                <a:endParaRPr kumimoji="0" lang="zh-CN" altLang="en-US"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22" name="矩形 21">
                <a:extLst>
                  <a:ext uri="{FF2B5EF4-FFF2-40B4-BE49-F238E27FC236}">
                    <a16:creationId xmlns:a16="http://schemas.microsoft.com/office/drawing/2014/main" id="{890C5523-8B8C-4B44-93F9-899067AAABA5}"/>
                  </a:ext>
                </a:extLst>
              </p:cNvPr>
              <p:cNvSpPr/>
              <p:nvPr/>
            </p:nvSpPr>
            <p:spPr>
              <a:xfrm>
                <a:off x="877531" y="4511438"/>
                <a:ext cx="2116394" cy="517668"/>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网卡驱动程序</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（控制网卡）</a:t>
                </a:r>
                <a:endParaRPr kumimoji="0" lang="zh-CN" altLang="en-US" sz="900" b="0" i="0" u="none" strike="noStrike" kern="0" cap="none" spc="0" normalizeH="0" baseline="0" noProof="0" dirty="0">
                  <a:ln>
                    <a:noFill/>
                  </a:ln>
                  <a:solidFill>
                    <a:prstClr val="white"/>
                  </a:solidFill>
                  <a:effectLst/>
                  <a:uLnTx/>
                  <a:uFillTx/>
                  <a:latin typeface="等线" panose="020F0502020204030204"/>
                  <a:ea typeface="+mn-ea"/>
                  <a:cs typeface="+mn-cs"/>
                </a:endParaRPr>
              </a:p>
            </p:txBody>
          </p:sp>
          <p:sp>
            <p:nvSpPr>
              <p:cNvPr id="23" name="矩形 22">
                <a:extLst>
                  <a:ext uri="{FF2B5EF4-FFF2-40B4-BE49-F238E27FC236}">
                    <a16:creationId xmlns:a16="http://schemas.microsoft.com/office/drawing/2014/main" id="{ABAE2396-0819-4838-859C-FE5E2855BEA2}"/>
                  </a:ext>
                </a:extLst>
              </p:cNvPr>
              <p:cNvSpPr/>
              <p:nvPr/>
            </p:nvSpPr>
            <p:spPr>
              <a:xfrm>
                <a:off x="877531" y="5138253"/>
                <a:ext cx="2116394" cy="505527"/>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物理硬件网卡</a:t>
                </a:r>
                <a:endParaRPr kumimoji="0" lang="en-US" altLang="zh-CN" sz="1050" b="0" i="0" u="none" strike="noStrike" kern="0" cap="none" spc="0" normalizeH="0" baseline="0" noProof="0" dirty="0">
                  <a:ln>
                    <a:noFill/>
                  </a:ln>
                  <a:solidFill>
                    <a:prstClr val="white"/>
                  </a:solidFill>
                  <a:effectLst/>
                  <a:uLnTx/>
                  <a:uFillTx/>
                  <a:latin typeface="等线" panose="020F0502020204030204"/>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等线" panose="020F0502020204030204"/>
                    <a:ea typeface="+mn-ea"/>
                    <a:cs typeface="+mn-cs"/>
                  </a:rPr>
                  <a:t>（数模、模数转换、编码）</a:t>
                </a:r>
              </a:p>
            </p:txBody>
          </p:sp>
        </p:grpSp>
        <p:sp>
          <p:nvSpPr>
            <p:cNvPr id="13" name="矩形: 圆角 12">
              <a:extLst>
                <a:ext uri="{FF2B5EF4-FFF2-40B4-BE49-F238E27FC236}">
                  <a16:creationId xmlns:a16="http://schemas.microsoft.com/office/drawing/2014/main" id="{9A80EE90-EFC9-49C7-B53D-DCC1EE633224}"/>
                </a:ext>
              </a:extLst>
            </p:cNvPr>
            <p:cNvSpPr/>
            <p:nvPr/>
          </p:nvSpPr>
          <p:spPr>
            <a:xfrm>
              <a:off x="730047" y="1777799"/>
              <a:ext cx="2411361" cy="4038872"/>
            </a:xfrm>
            <a:prstGeom prst="roundRect">
              <a:avLst/>
            </a:prstGeom>
            <a:noFill/>
            <a:ln w="19050" cap="flat" cmpd="sng" algn="ctr">
              <a:solidFill>
                <a:srgbClr val="ED7D31"/>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grpSp>
      <p:grpSp>
        <p:nvGrpSpPr>
          <p:cNvPr id="24" name="组合 23">
            <a:extLst>
              <a:ext uri="{FF2B5EF4-FFF2-40B4-BE49-F238E27FC236}">
                <a16:creationId xmlns:a16="http://schemas.microsoft.com/office/drawing/2014/main" id="{837C8253-216E-4128-96CE-528F42DE377F}"/>
              </a:ext>
            </a:extLst>
          </p:cNvPr>
          <p:cNvGrpSpPr/>
          <p:nvPr/>
        </p:nvGrpSpPr>
        <p:grpSpPr>
          <a:xfrm>
            <a:off x="8218018" y="1295400"/>
            <a:ext cx="2411361" cy="4038877"/>
            <a:chOff x="6017295" y="1777799"/>
            <a:chExt cx="2411361" cy="4038877"/>
          </a:xfrm>
        </p:grpSpPr>
        <p:sp>
          <p:nvSpPr>
            <p:cNvPr id="25" name="矩形 24">
              <a:extLst>
                <a:ext uri="{FF2B5EF4-FFF2-40B4-BE49-F238E27FC236}">
                  <a16:creationId xmlns:a16="http://schemas.microsoft.com/office/drawing/2014/main" id="{E41F79AA-B535-4D1B-B65A-3AF3A238654D}"/>
                </a:ext>
              </a:extLst>
            </p:cNvPr>
            <p:cNvSpPr/>
            <p:nvPr/>
          </p:nvSpPr>
          <p:spPr>
            <a:xfrm>
              <a:off x="6164778" y="1952598"/>
              <a:ext cx="2116394"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网络应用程序</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HTTP</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DNS</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r>
                <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DHCP</a:t>
              </a: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a:t>
              </a:r>
              <a:endParaRPr kumimoji="0" lang="en-US" altLang="zh-CN"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900" b="0" i="0" u="none" strike="noStrike" kern="0" cap="none" spc="0" normalizeH="0" baseline="0" noProof="0" dirty="0">
                <a:ln>
                  <a:noFill/>
                </a:ln>
                <a:solidFill>
                  <a:prstClr val="white"/>
                </a:solidFill>
                <a:effectLst/>
                <a:uLnTx/>
                <a:uFillTx/>
                <a:latin typeface="等线" panose="020F0502020204030204"/>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900" b="0" i="0" u="none" strike="noStrike" kern="0" cap="none" spc="0" normalizeH="0" baseline="0" noProof="0" dirty="0">
                <a:ln>
                  <a:noFill/>
                </a:ln>
                <a:solidFill>
                  <a:prstClr val="white"/>
                </a:solidFill>
                <a:effectLst/>
                <a:uLnTx/>
                <a:uFillTx/>
                <a:latin typeface="等线" panose="020F0502020204030204"/>
                <a:ea typeface="+mn-ea"/>
                <a:cs typeface="+mn-cs"/>
              </a:endParaRPr>
            </a:p>
          </p:txBody>
        </p:sp>
        <p:sp>
          <p:nvSpPr>
            <p:cNvPr id="26" name="矩形 25">
              <a:extLst>
                <a:ext uri="{FF2B5EF4-FFF2-40B4-BE49-F238E27FC236}">
                  <a16:creationId xmlns:a16="http://schemas.microsoft.com/office/drawing/2014/main" id="{1B2EED38-5B0D-4A11-8C7B-6CDC7CC509AA}"/>
                </a:ext>
              </a:extLst>
            </p:cNvPr>
            <p:cNvSpPr/>
            <p:nvPr/>
          </p:nvSpPr>
          <p:spPr>
            <a:xfrm>
              <a:off x="6367567" y="2409801"/>
              <a:ext cx="1714501" cy="24334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Socket</a:t>
              </a: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库</a:t>
              </a:r>
            </a:p>
          </p:txBody>
        </p:sp>
        <p:sp>
          <p:nvSpPr>
            <p:cNvPr id="27" name="矩形 26">
              <a:extLst>
                <a:ext uri="{FF2B5EF4-FFF2-40B4-BE49-F238E27FC236}">
                  <a16:creationId xmlns:a16="http://schemas.microsoft.com/office/drawing/2014/main" id="{CE6CE1C3-83EB-4644-8D97-408007D29DE0}"/>
                </a:ext>
              </a:extLst>
            </p:cNvPr>
            <p:cNvSpPr/>
            <p:nvPr/>
          </p:nvSpPr>
          <p:spPr>
            <a:xfrm>
              <a:off x="6164778" y="2837504"/>
              <a:ext cx="2116394" cy="157070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协议栈</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p:txBody>
        </p:sp>
        <p:sp>
          <p:nvSpPr>
            <p:cNvPr id="28" name="矩形 27">
              <a:extLst>
                <a:ext uri="{FF2B5EF4-FFF2-40B4-BE49-F238E27FC236}">
                  <a16:creationId xmlns:a16="http://schemas.microsoft.com/office/drawing/2014/main" id="{64CA1BE9-E824-48B1-9ED5-8189487FECF0}"/>
                </a:ext>
              </a:extLst>
            </p:cNvPr>
            <p:cNvSpPr/>
            <p:nvPr/>
          </p:nvSpPr>
          <p:spPr>
            <a:xfrm>
              <a:off x="6277233" y="3228340"/>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  TCP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（需要连接）</a:t>
              </a:r>
            </a:p>
          </p:txBody>
        </p:sp>
        <p:sp>
          <p:nvSpPr>
            <p:cNvPr id="29" name="矩形 28">
              <a:extLst>
                <a:ext uri="{FF2B5EF4-FFF2-40B4-BE49-F238E27FC236}">
                  <a16:creationId xmlns:a16="http://schemas.microsoft.com/office/drawing/2014/main" id="{8D59124A-E801-40F1-AC07-550B1655B4B0}"/>
                </a:ext>
              </a:extLst>
            </p:cNvPr>
            <p:cNvSpPr/>
            <p:nvPr/>
          </p:nvSpPr>
          <p:spPr>
            <a:xfrm>
              <a:off x="7276435" y="3228340"/>
              <a:ext cx="905183"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  UDP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（不需要连接）</a:t>
              </a:r>
            </a:p>
          </p:txBody>
        </p:sp>
        <p:sp>
          <p:nvSpPr>
            <p:cNvPr id="30" name="矩形 29">
              <a:extLst>
                <a:ext uri="{FF2B5EF4-FFF2-40B4-BE49-F238E27FC236}">
                  <a16:creationId xmlns:a16="http://schemas.microsoft.com/office/drawing/2014/main" id="{4DA2C238-037A-4EA6-A77B-0C31E3DEF4AE}"/>
                </a:ext>
              </a:extLst>
            </p:cNvPr>
            <p:cNvSpPr/>
            <p:nvPr/>
          </p:nvSpPr>
          <p:spPr>
            <a:xfrm>
              <a:off x="6277232" y="3777717"/>
              <a:ext cx="1904386" cy="479318"/>
            </a:xfrm>
            <a:prstGeom prst="rect">
              <a:avLst/>
            </a:prstGeom>
            <a:solidFill>
              <a:srgbClr val="4472C4">
                <a:lumMod val="40000"/>
                <a:lumOff val="60000"/>
              </a:srgbClr>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IP</a:t>
              </a: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4472C4">
                      <a:lumMod val="75000"/>
                    </a:srgbClr>
                  </a:solidFill>
                  <a:effectLst/>
                  <a:uLnTx/>
                  <a:uFillTx/>
                  <a:latin typeface="微软雅黑" panose="020B0503020204020204" pitchFamily="34" charset="-122"/>
                  <a:ea typeface="微软雅黑" panose="020B0503020204020204" pitchFamily="34" charset="-122"/>
                  <a:cs typeface="+mn-cs"/>
                </a:rPr>
                <a:t>（发送数据包、路由）</a:t>
              </a:r>
            </a:p>
          </p:txBody>
        </p:sp>
        <p:sp>
          <p:nvSpPr>
            <p:cNvPr id="31" name="矩形 30">
              <a:extLst>
                <a:ext uri="{FF2B5EF4-FFF2-40B4-BE49-F238E27FC236}">
                  <a16:creationId xmlns:a16="http://schemas.microsoft.com/office/drawing/2014/main" id="{8F692576-0C9D-4025-A09D-A44E000A8910}"/>
                </a:ext>
              </a:extLst>
            </p:cNvPr>
            <p:cNvSpPr/>
            <p:nvPr/>
          </p:nvSpPr>
          <p:spPr>
            <a:xfrm>
              <a:off x="6330698" y="3833021"/>
              <a:ext cx="491612" cy="176977"/>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ICMP</a:t>
              </a:r>
              <a:endParaRPr kumimoji="0" lang="zh-CN" altLang="en-US"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2" name="矩形 31">
              <a:extLst>
                <a:ext uri="{FF2B5EF4-FFF2-40B4-BE49-F238E27FC236}">
                  <a16:creationId xmlns:a16="http://schemas.microsoft.com/office/drawing/2014/main" id="{E1A2DB7D-4E3F-429C-B125-3927E65514D2}"/>
                </a:ext>
              </a:extLst>
            </p:cNvPr>
            <p:cNvSpPr/>
            <p:nvPr/>
          </p:nvSpPr>
          <p:spPr>
            <a:xfrm>
              <a:off x="7738865" y="4010003"/>
              <a:ext cx="401894" cy="199098"/>
            </a:xfrm>
            <a:prstGeom prst="rect">
              <a:avLst/>
            </a:prstGeom>
            <a:solidFill>
              <a:srgbClr val="FFC000">
                <a:lumMod val="40000"/>
                <a:lumOff val="60000"/>
              </a:srgbClr>
            </a:solidFill>
            <a:ln w="12700" cap="flat" cmpd="sng" algn="ctr">
              <a:solidFill>
                <a:srgbClr val="FFC000">
                  <a:lumMod val="75000"/>
                </a:srgbClr>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ARP</a:t>
              </a:r>
              <a:endParaRPr kumimoji="0" lang="zh-CN" altLang="en-US" sz="7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endParaRPr>
            </a:p>
          </p:txBody>
        </p:sp>
        <p:sp>
          <p:nvSpPr>
            <p:cNvPr id="33" name="矩形 32">
              <a:extLst>
                <a:ext uri="{FF2B5EF4-FFF2-40B4-BE49-F238E27FC236}">
                  <a16:creationId xmlns:a16="http://schemas.microsoft.com/office/drawing/2014/main" id="{D0D35908-FA42-4737-BA4D-B6BE470DC436}"/>
                </a:ext>
              </a:extLst>
            </p:cNvPr>
            <p:cNvSpPr/>
            <p:nvPr/>
          </p:nvSpPr>
          <p:spPr>
            <a:xfrm>
              <a:off x="6164778" y="4511443"/>
              <a:ext cx="2116394" cy="517668"/>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网卡驱动程序</a:t>
              </a:r>
              <a:endParaRPr kumimoji="0" lang="en-US" altLang="zh-CN" sz="105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prstClr val="white"/>
                  </a:solidFill>
                  <a:effectLst/>
                  <a:uLnTx/>
                  <a:uFillTx/>
                  <a:latin typeface="微软雅黑" panose="020B0503020204020204" pitchFamily="34" charset="-122"/>
                  <a:ea typeface="微软雅黑" panose="020B0503020204020204" pitchFamily="34" charset="-122"/>
                  <a:cs typeface="+mn-cs"/>
                </a:rPr>
                <a:t>（控制网卡）</a:t>
              </a:r>
              <a:endParaRPr kumimoji="0" lang="zh-CN" altLang="en-US" sz="900" b="0" i="0" u="none" strike="noStrike" kern="0" cap="none" spc="0" normalizeH="0" baseline="0" noProof="0" dirty="0">
                <a:ln>
                  <a:noFill/>
                </a:ln>
                <a:solidFill>
                  <a:prstClr val="white"/>
                </a:solidFill>
                <a:effectLst/>
                <a:uLnTx/>
                <a:uFillTx/>
                <a:latin typeface="等线" panose="020F0502020204030204"/>
                <a:ea typeface="+mn-ea"/>
                <a:cs typeface="+mn-cs"/>
              </a:endParaRPr>
            </a:p>
          </p:txBody>
        </p:sp>
        <p:sp>
          <p:nvSpPr>
            <p:cNvPr id="34" name="矩形 33">
              <a:extLst>
                <a:ext uri="{FF2B5EF4-FFF2-40B4-BE49-F238E27FC236}">
                  <a16:creationId xmlns:a16="http://schemas.microsoft.com/office/drawing/2014/main" id="{C658F547-EEA0-40DB-8EED-1962BEE5CC06}"/>
                </a:ext>
              </a:extLst>
            </p:cNvPr>
            <p:cNvSpPr/>
            <p:nvPr/>
          </p:nvSpPr>
          <p:spPr>
            <a:xfrm>
              <a:off x="6164778" y="5138258"/>
              <a:ext cx="2116394" cy="505527"/>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物理硬件网卡</a:t>
              </a:r>
              <a:endParaRPr kumimoji="0" lang="en-US" altLang="zh-CN" sz="1050" b="0" i="0" u="none" strike="noStrike" kern="0" cap="none" spc="0" normalizeH="0" baseline="0" noProof="0" dirty="0">
                <a:ln>
                  <a:noFill/>
                </a:ln>
                <a:solidFill>
                  <a:prstClr val="white"/>
                </a:solidFill>
                <a:effectLst/>
                <a:uLnTx/>
                <a:uFillTx/>
                <a:latin typeface="等线" panose="020F0502020204030204"/>
                <a:ea typeface="+mn-ea"/>
                <a:cs typeface="+mn-cs"/>
              </a:endParaRPr>
            </a:p>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（数模、模数转换、编码）</a:t>
              </a:r>
            </a:p>
          </p:txBody>
        </p:sp>
        <p:sp>
          <p:nvSpPr>
            <p:cNvPr id="35" name="矩形: 圆角 34">
              <a:extLst>
                <a:ext uri="{FF2B5EF4-FFF2-40B4-BE49-F238E27FC236}">
                  <a16:creationId xmlns:a16="http://schemas.microsoft.com/office/drawing/2014/main" id="{DA5BB918-B509-4C62-92C7-D245908547D1}"/>
                </a:ext>
              </a:extLst>
            </p:cNvPr>
            <p:cNvSpPr/>
            <p:nvPr/>
          </p:nvSpPr>
          <p:spPr>
            <a:xfrm>
              <a:off x="6017295" y="1777799"/>
              <a:ext cx="2411361" cy="4038877"/>
            </a:xfrm>
            <a:prstGeom prst="roundRect">
              <a:avLst/>
            </a:prstGeom>
            <a:noFill/>
            <a:ln w="19050" cap="flat" cmpd="sng" algn="ctr">
              <a:solidFill>
                <a:srgbClr val="ED7D31"/>
              </a:solidFill>
              <a:prstDash val="dash"/>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grpSp>
      <p:grpSp>
        <p:nvGrpSpPr>
          <p:cNvPr id="36" name="组合 35">
            <a:extLst>
              <a:ext uri="{FF2B5EF4-FFF2-40B4-BE49-F238E27FC236}">
                <a16:creationId xmlns:a16="http://schemas.microsoft.com/office/drawing/2014/main" id="{7D5FB903-FFF7-4395-86E6-0557383637F6}"/>
              </a:ext>
            </a:extLst>
          </p:cNvPr>
          <p:cNvGrpSpPr/>
          <p:nvPr/>
        </p:nvGrpSpPr>
        <p:grpSpPr>
          <a:xfrm>
            <a:off x="10876705" y="1473885"/>
            <a:ext cx="248495" cy="3676166"/>
            <a:chOff x="8523582" y="1956284"/>
            <a:chExt cx="248495" cy="3676166"/>
          </a:xfrm>
        </p:grpSpPr>
        <p:sp>
          <p:nvSpPr>
            <p:cNvPr id="37" name="矩形 36">
              <a:extLst>
                <a:ext uri="{FF2B5EF4-FFF2-40B4-BE49-F238E27FC236}">
                  <a16:creationId xmlns:a16="http://schemas.microsoft.com/office/drawing/2014/main" id="{A2EE7096-C15A-43A2-92AA-92D482C69BD0}"/>
                </a:ext>
              </a:extLst>
            </p:cNvPr>
            <p:cNvSpPr/>
            <p:nvPr/>
          </p:nvSpPr>
          <p:spPr>
            <a:xfrm>
              <a:off x="8530051" y="1956284"/>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应用程序</a:t>
              </a:r>
            </a:p>
          </p:txBody>
        </p:sp>
        <p:sp>
          <p:nvSpPr>
            <p:cNvPr id="38" name="矩形 37">
              <a:extLst>
                <a:ext uri="{FF2B5EF4-FFF2-40B4-BE49-F238E27FC236}">
                  <a16:creationId xmlns:a16="http://schemas.microsoft.com/office/drawing/2014/main" id="{F16233DB-EEB1-4D2E-8691-0E2E8CA88D20}"/>
                </a:ext>
              </a:extLst>
            </p:cNvPr>
            <p:cNvSpPr/>
            <p:nvPr/>
          </p:nvSpPr>
          <p:spPr>
            <a:xfrm>
              <a:off x="8530050" y="3260208"/>
              <a:ext cx="242026" cy="796413"/>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操作系统</a:t>
              </a:r>
            </a:p>
          </p:txBody>
        </p:sp>
        <p:sp>
          <p:nvSpPr>
            <p:cNvPr id="39" name="矩形 38">
              <a:extLst>
                <a:ext uri="{FF2B5EF4-FFF2-40B4-BE49-F238E27FC236}">
                  <a16:creationId xmlns:a16="http://schemas.microsoft.com/office/drawing/2014/main" id="{A46229AF-33C0-41C1-926A-CF550F0CED9C}"/>
                </a:ext>
              </a:extLst>
            </p:cNvPr>
            <p:cNvSpPr/>
            <p:nvPr/>
          </p:nvSpPr>
          <p:spPr>
            <a:xfrm>
              <a:off x="8530050" y="4326101"/>
              <a:ext cx="242026" cy="742822"/>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驱动程序</a:t>
              </a:r>
            </a:p>
          </p:txBody>
        </p:sp>
        <p:sp>
          <p:nvSpPr>
            <p:cNvPr id="40" name="矩形 39">
              <a:extLst>
                <a:ext uri="{FF2B5EF4-FFF2-40B4-BE49-F238E27FC236}">
                  <a16:creationId xmlns:a16="http://schemas.microsoft.com/office/drawing/2014/main" id="{897F9F75-3FD4-4566-BD37-A291FE06E01C}"/>
                </a:ext>
              </a:extLst>
            </p:cNvPr>
            <p:cNvSpPr/>
            <p:nvPr/>
          </p:nvSpPr>
          <p:spPr>
            <a:xfrm>
              <a:off x="8523582" y="5142671"/>
              <a:ext cx="242026" cy="489779"/>
            </a:xfrm>
            <a:prstGeom prst="rect">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white"/>
                  </a:solidFill>
                  <a:effectLst/>
                  <a:uLnTx/>
                  <a:uFillTx/>
                  <a:latin typeface="等线" panose="020F0502020204030204"/>
                  <a:ea typeface="+mn-ea"/>
                  <a:cs typeface="+mn-cs"/>
                </a:rPr>
                <a:t>硬件</a:t>
              </a:r>
            </a:p>
          </p:txBody>
        </p:sp>
      </p:grpSp>
      <p:grpSp>
        <p:nvGrpSpPr>
          <p:cNvPr id="41" name="组合 40">
            <a:extLst>
              <a:ext uri="{FF2B5EF4-FFF2-40B4-BE49-F238E27FC236}">
                <a16:creationId xmlns:a16="http://schemas.microsoft.com/office/drawing/2014/main" id="{84874C8B-190C-4113-91D2-74C6953A80B9}"/>
              </a:ext>
            </a:extLst>
          </p:cNvPr>
          <p:cNvGrpSpPr/>
          <p:nvPr/>
        </p:nvGrpSpPr>
        <p:grpSpPr>
          <a:xfrm>
            <a:off x="3344245" y="5093170"/>
            <a:ext cx="5224046" cy="1107516"/>
            <a:chOff x="2633077" y="5517531"/>
            <a:chExt cx="4982315" cy="949906"/>
          </a:xfrm>
        </p:grpSpPr>
        <p:pic>
          <p:nvPicPr>
            <p:cNvPr id="42" name="图片 41">
              <a:extLst>
                <a:ext uri="{FF2B5EF4-FFF2-40B4-BE49-F238E27FC236}">
                  <a16:creationId xmlns:a16="http://schemas.microsoft.com/office/drawing/2014/main" id="{45D25599-71A2-4EAE-BD79-08ABF6700173}"/>
                </a:ext>
              </a:extLst>
            </p:cNvPr>
            <p:cNvPicPr>
              <a:picLocks noChangeAspect="1"/>
            </p:cNvPicPr>
            <p:nvPr/>
          </p:nvPicPr>
          <p:blipFill>
            <a:blip r:embed="rId3"/>
            <a:stretch>
              <a:fillRect/>
            </a:stretch>
          </p:blipFill>
          <p:spPr>
            <a:xfrm>
              <a:off x="2688167" y="5517531"/>
              <a:ext cx="416726" cy="568054"/>
            </a:xfrm>
            <a:prstGeom prst="rect">
              <a:avLst/>
            </a:prstGeom>
          </p:spPr>
        </p:pic>
        <p:pic>
          <p:nvPicPr>
            <p:cNvPr id="43" name="图片 42">
              <a:extLst>
                <a:ext uri="{FF2B5EF4-FFF2-40B4-BE49-F238E27FC236}">
                  <a16:creationId xmlns:a16="http://schemas.microsoft.com/office/drawing/2014/main" id="{230D2547-2517-4EE0-97F7-63CA207ED0EF}"/>
                </a:ext>
              </a:extLst>
            </p:cNvPr>
            <p:cNvPicPr>
              <a:picLocks noChangeAspect="1"/>
            </p:cNvPicPr>
            <p:nvPr/>
          </p:nvPicPr>
          <p:blipFill>
            <a:blip r:embed="rId4"/>
            <a:stretch>
              <a:fillRect/>
            </a:stretch>
          </p:blipFill>
          <p:spPr>
            <a:xfrm>
              <a:off x="3422831" y="5989518"/>
              <a:ext cx="344090" cy="397000"/>
            </a:xfrm>
            <a:prstGeom prst="rect">
              <a:avLst/>
            </a:prstGeom>
          </p:spPr>
        </p:pic>
        <p:pic>
          <p:nvPicPr>
            <p:cNvPr id="44" name="图片 43">
              <a:extLst>
                <a:ext uri="{FF2B5EF4-FFF2-40B4-BE49-F238E27FC236}">
                  <a16:creationId xmlns:a16="http://schemas.microsoft.com/office/drawing/2014/main" id="{69337048-300C-4EA1-9659-CCBB72B7C8DF}"/>
                </a:ext>
              </a:extLst>
            </p:cNvPr>
            <p:cNvPicPr>
              <a:picLocks noChangeAspect="1"/>
            </p:cNvPicPr>
            <p:nvPr/>
          </p:nvPicPr>
          <p:blipFill>
            <a:blip r:embed="rId5"/>
            <a:stretch>
              <a:fillRect/>
            </a:stretch>
          </p:blipFill>
          <p:spPr>
            <a:xfrm>
              <a:off x="4184116" y="6124235"/>
              <a:ext cx="344090" cy="343201"/>
            </a:xfrm>
            <a:prstGeom prst="rect">
              <a:avLst/>
            </a:prstGeom>
          </p:spPr>
        </p:pic>
        <p:pic>
          <p:nvPicPr>
            <p:cNvPr id="45" name="图片 44">
              <a:extLst>
                <a:ext uri="{FF2B5EF4-FFF2-40B4-BE49-F238E27FC236}">
                  <a16:creationId xmlns:a16="http://schemas.microsoft.com/office/drawing/2014/main" id="{782E6B40-A0D1-4344-8F7C-438A6CADD774}"/>
                </a:ext>
              </a:extLst>
            </p:cNvPr>
            <p:cNvPicPr>
              <a:picLocks noChangeAspect="1"/>
            </p:cNvPicPr>
            <p:nvPr/>
          </p:nvPicPr>
          <p:blipFill>
            <a:blip r:embed="rId5"/>
            <a:stretch>
              <a:fillRect/>
            </a:stretch>
          </p:blipFill>
          <p:spPr>
            <a:xfrm>
              <a:off x="5762232" y="6124235"/>
              <a:ext cx="344091" cy="343202"/>
            </a:xfrm>
            <a:prstGeom prst="rect">
              <a:avLst/>
            </a:prstGeom>
          </p:spPr>
        </p:pic>
        <p:pic>
          <p:nvPicPr>
            <p:cNvPr id="46" name="图片 45">
              <a:extLst>
                <a:ext uri="{FF2B5EF4-FFF2-40B4-BE49-F238E27FC236}">
                  <a16:creationId xmlns:a16="http://schemas.microsoft.com/office/drawing/2014/main" id="{770DA011-6223-42CF-9AEF-0106659CA9ED}"/>
                </a:ext>
              </a:extLst>
            </p:cNvPr>
            <p:cNvPicPr>
              <a:picLocks noChangeAspect="1"/>
            </p:cNvPicPr>
            <p:nvPr/>
          </p:nvPicPr>
          <p:blipFill>
            <a:blip r:embed="rId4"/>
            <a:stretch>
              <a:fillRect/>
            </a:stretch>
          </p:blipFill>
          <p:spPr>
            <a:xfrm>
              <a:off x="6526742" y="5948820"/>
              <a:ext cx="344090" cy="397000"/>
            </a:xfrm>
            <a:prstGeom prst="rect">
              <a:avLst/>
            </a:prstGeom>
          </p:spPr>
        </p:pic>
        <p:pic>
          <p:nvPicPr>
            <p:cNvPr id="47" name="图片 46">
              <a:extLst>
                <a:ext uri="{FF2B5EF4-FFF2-40B4-BE49-F238E27FC236}">
                  <a16:creationId xmlns:a16="http://schemas.microsoft.com/office/drawing/2014/main" id="{485B9BBE-6518-4B89-9C45-16C26DC0A7CA}"/>
                </a:ext>
              </a:extLst>
            </p:cNvPr>
            <p:cNvPicPr>
              <a:picLocks noChangeAspect="1"/>
            </p:cNvPicPr>
            <p:nvPr/>
          </p:nvPicPr>
          <p:blipFill>
            <a:blip r:embed="rId6"/>
            <a:stretch>
              <a:fillRect/>
            </a:stretch>
          </p:blipFill>
          <p:spPr>
            <a:xfrm>
              <a:off x="7111897" y="5561737"/>
              <a:ext cx="412120" cy="530945"/>
            </a:xfrm>
            <a:prstGeom prst="rect">
              <a:avLst/>
            </a:prstGeom>
          </p:spPr>
        </p:pic>
        <p:pic>
          <p:nvPicPr>
            <p:cNvPr id="48" name="图片 47">
              <a:extLst>
                <a:ext uri="{FF2B5EF4-FFF2-40B4-BE49-F238E27FC236}">
                  <a16:creationId xmlns:a16="http://schemas.microsoft.com/office/drawing/2014/main" id="{37C318C6-D201-4246-9DA9-2B81F876D54B}"/>
                </a:ext>
              </a:extLst>
            </p:cNvPr>
            <p:cNvPicPr>
              <a:picLocks noChangeAspect="1"/>
            </p:cNvPicPr>
            <p:nvPr/>
          </p:nvPicPr>
          <p:blipFill>
            <a:blip r:embed="rId7"/>
            <a:stretch>
              <a:fillRect/>
            </a:stretch>
          </p:blipFill>
          <p:spPr>
            <a:xfrm>
              <a:off x="4961195" y="6141128"/>
              <a:ext cx="399764" cy="309415"/>
            </a:xfrm>
            <a:prstGeom prst="rect">
              <a:avLst/>
            </a:prstGeom>
          </p:spPr>
        </p:pic>
        <p:cxnSp>
          <p:nvCxnSpPr>
            <p:cNvPr id="49" name="直接箭头连接符 48">
              <a:extLst>
                <a:ext uri="{FF2B5EF4-FFF2-40B4-BE49-F238E27FC236}">
                  <a16:creationId xmlns:a16="http://schemas.microsoft.com/office/drawing/2014/main" id="{32556F67-BD05-4496-B4F9-A6F31D7A1E7C}"/>
                </a:ext>
              </a:extLst>
            </p:cNvPr>
            <p:cNvCxnSpPr>
              <a:cxnSpLocks/>
              <a:endCxn id="43" idx="1"/>
            </p:cNvCxnSpPr>
            <p:nvPr/>
          </p:nvCxnSpPr>
          <p:spPr>
            <a:xfrm>
              <a:off x="3074072" y="5934415"/>
              <a:ext cx="348759" cy="253603"/>
            </a:xfrm>
            <a:prstGeom prst="straightConnector1">
              <a:avLst/>
            </a:prstGeom>
            <a:noFill/>
            <a:ln w="6350" cap="flat" cmpd="sng" algn="ctr">
              <a:solidFill>
                <a:srgbClr val="4472C4"/>
              </a:solidFill>
              <a:prstDash val="solid"/>
              <a:miter lim="800000"/>
              <a:headEnd type="triangle"/>
              <a:tailEnd type="triangle"/>
            </a:ln>
            <a:effectLst/>
          </p:spPr>
        </p:cxnSp>
        <p:cxnSp>
          <p:nvCxnSpPr>
            <p:cNvPr id="50" name="直接箭头连接符 49">
              <a:extLst>
                <a:ext uri="{FF2B5EF4-FFF2-40B4-BE49-F238E27FC236}">
                  <a16:creationId xmlns:a16="http://schemas.microsoft.com/office/drawing/2014/main" id="{4E28EDCE-7A80-4B6F-9C99-9142F2FDF421}"/>
                </a:ext>
              </a:extLst>
            </p:cNvPr>
            <p:cNvCxnSpPr>
              <a:cxnSpLocks/>
              <a:stCxn id="43" idx="3"/>
              <a:endCxn id="44" idx="1"/>
            </p:cNvCxnSpPr>
            <p:nvPr/>
          </p:nvCxnSpPr>
          <p:spPr>
            <a:xfrm>
              <a:off x="3766921" y="6188018"/>
              <a:ext cx="417195" cy="107818"/>
            </a:xfrm>
            <a:prstGeom prst="straightConnector1">
              <a:avLst/>
            </a:prstGeom>
            <a:noFill/>
            <a:ln w="6350" cap="flat" cmpd="sng" algn="ctr">
              <a:solidFill>
                <a:srgbClr val="4472C4"/>
              </a:solidFill>
              <a:prstDash val="solid"/>
              <a:miter lim="800000"/>
              <a:headEnd type="triangle"/>
              <a:tailEnd type="triangle"/>
            </a:ln>
            <a:effectLst/>
          </p:spPr>
        </p:cxnSp>
        <p:cxnSp>
          <p:nvCxnSpPr>
            <p:cNvPr id="51" name="直接箭头连接符 50">
              <a:extLst>
                <a:ext uri="{FF2B5EF4-FFF2-40B4-BE49-F238E27FC236}">
                  <a16:creationId xmlns:a16="http://schemas.microsoft.com/office/drawing/2014/main" id="{23F175CB-2DAE-42FC-AC58-EC38AB8FFD6C}"/>
                </a:ext>
              </a:extLst>
            </p:cNvPr>
            <p:cNvCxnSpPr>
              <a:cxnSpLocks/>
              <a:stCxn id="44" idx="3"/>
              <a:endCxn id="48" idx="1"/>
            </p:cNvCxnSpPr>
            <p:nvPr/>
          </p:nvCxnSpPr>
          <p:spPr>
            <a:xfrm>
              <a:off x="4528206" y="6295836"/>
              <a:ext cx="432989" cy="0"/>
            </a:xfrm>
            <a:prstGeom prst="straightConnector1">
              <a:avLst/>
            </a:prstGeom>
            <a:noFill/>
            <a:ln w="6350" cap="flat" cmpd="sng" algn="ctr">
              <a:solidFill>
                <a:srgbClr val="4472C4"/>
              </a:solidFill>
              <a:prstDash val="solid"/>
              <a:miter lim="800000"/>
              <a:headEnd type="triangle"/>
              <a:tailEnd type="triangle"/>
            </a:ln>
            <a:effectLst/>
          </p:spPr>
        </p:cxnSp>
        <p:cxnSp>
          <p:nvCxnSpPr>
            <p:cNvPr id="52" name="直接箭头连接符 51">
              <a:extLst>
                <a:ext uri="{FF2B5EF4-FFF2-40B4-BE49-F238E27FC236}">
                  <a16:creationId xmlns:a16="http://schemas.microsoft.com/office/drawing/2014/main" id="{459A8831-B67E-4C39-84E6-A665BA4C5D4B}"/>
                </a:ext>
              </a:extLst>
            </p:cNvPr>
            <p:cNvCxnSpPr>
              <a:cxnSpLocks/>
              <a:stCxn id="48" idx="3"/>
              <a:endCxn id="45" idx="1"/>
            </p:cNvCxnSpPr>
            <p:nvPr/>
          </p:nvCxnSpPr>
          <p:spPr>
            <a:xfrm>
              <a:off x="5360959" y="6295836"/>
              <a:ext cx="401273" cy="0"/>
            </a:xfrm>
            <a:prstGeom prst="straightConnector1">
              <a:avLst/>
            </a:prstGeom>
            <a:noFill/>
            <a:ln w="6350" cap="flat" cmpd="sng" algn="ctr">
              <a:solidFill>
                <a:srgbClr val="4472C4"/>
              </a:solidFill>
              <a:prstDash val="solid"/>
              <a:miter lim="800000"/>
              <a:headEnd type="triangle"/>
              <a:tailEnd type="triangle"/>
            </a:ln>
            <a:effectLst/>
          </p:spPr>
        </p:cxnSp>
        <p:cxnSp>
          <p:nvCxnSpPr>
            <p:cNvPr id="53" name="直接箭头连接符 52">
              <a:extLst>
                <a:ext uri="{FF2B5EF4-FFF2-40B4-BE49-F238E27FC236}">
                  <a16:creationId xmlns:a16="http://schemas.microsoft.com/office/drawing/2014/main" id="{C2A11BA3-CE59-4AB5-AB34-1AE8DCF8C831}"/>
                </a:ext>
              </a:extLst>
            </p:cNvPr>
            <p:cNvCxnSpPr>
              <a:cxnSpLocks/>
              <a:stCxn id="45" idx="3"/>
              <a:endCxn id="46" idx="1"/>
            </p:cNvCxnSpPr>
            <p:nvPr/>
          </p:nvCxnSpPr>
          <p:spPr>
            <a:xfrm flipV="1">
              <a:off x="6106323" y="6147320"/>
              <a:ext cx="420419" cy="148516"/>
            </a:xfrm>
            <a:prstGeom prst="straightConnector1">
              <a:avLst/>
            </a:prstGeom>
            <a:noFill/>
            <a:ln w="6350" cap="flat" cmpd="sng" algn="ctr">
              <a:solidFill>
                <a:srgbClr val="4472C4"/>
              </a:solidFill>
              <a:prstDash val="solid"/>
              <a:miter lim="800000"/>
              <a:headEnd type="triangle"/>
              <a:tailEnd type="triangle"/>
            </a:ln>
            <a:effectLst/>
          </p:spPr>
        </p:cxnSp>
        <p:cxnSp>
          <p:nvCxnSpPr>
            <p:cNvPr id="54" name="直接箭头连接符 53">
              <a:extLst>
                <a:ext uri="{FF2B5EF4-FFF2-40B4-BE49-F238E27FC236}">
                  <a16:creationId xmlns:a16="http://schemas.microsoft.com/office/drawing/2014/main" id="{1A766459-6E31-4563-85A1-42764D1DD835}"/>
                </a:ext>
              </a:extLst>
            </p:cNvPr>
            <p:cNvCxnSpPr>
              <a:cxnSpLocks/>
              <a:stCxn id="46" idx="3"/>
            </p:cNvCxnSpPr>
            <p:nvPr/>
          </p:nvCxnSpPr>
          <p:spPr>
            <a:xfrm flipV="1">
              <a:off x="6870832" y="5962516"/>
              <a:ext cx="345030" cy="184804"/>
            </a:xfrm>
            <a:prstGeom prst="straightConnector1">
              <a:avLst/>
            </a:prstGeom>
            <a:noFill/>
            <a:ln w="6350" cap="flat" cmpd="sng" algn="ctr">
              <a:solidFill>
                <a:srgbClr val="4472C4"/>
              </a:solidFill>
              <a:prstDash val="solid"/>
              <a:miter lim="800000"/>
              <a:headEnd type="triangle"/>
              <a:tailEnd type="triangle"/>
            </a:ln>
            <a:effectLst/>
          </p:spPr>
        </p:cxnSp>
        <p:sp>
          <p:nvSpPr>
            <p:cNvPr id="55" name="文本框 54">
              <a:extLst>
                <a:ext uri="{FF2B5EF4-FFF2-40B4-BE49-F238E27FC236}">
                  <a16:creationId xmlns:a16="http://schemas.microsoft.com/office/drawing/2014/main" id="{EF810753-26B1-4B3B-80CD-AE37F92ED933}"/>
                </a:ext>
              </a:extLst>
            </p:cNvPr>
            <p:cNvSpPr txBox="1"/>
            <p:nvPr/>
          </p:nvSpPr>
          <p:spPr>
            <a:xfrm>
              <a:off x="2633077" y="6048044"/>
              <a:ext cx="673635" cy="25391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服务器</a:t>
              </a:r>
            </a:p>
          </p:txBody>
        </p:sp>
        <p:sp>
          <p:nvSpPr>
            <p:cNvPr id="56" name="文本框 55">
              <a:extLst>
                <a:ext uri="{FF2B5EF4-FFF2-40B4-BE49-F238E27FC236}">
                  <a16:creationId xmlns:a16="http://schemas.microsoft.com/office/drawing/2014/main" id="{DDECA298-A2F7-42B5-8A8A-FA101CC23F8D}"/>
                </a:ext>
              </a:extLst>
            </p:cNvPr>
            <p:cNvSpPr txBox="1"/>
            <p:nvPr/>
          </p:nvSpPr>
          <p:spPr>
            <a:xfrm>
              <a:off x="6941757" y="6091904"/>
              <a:ext cx="673635" cy="253916"/>
            </a:xfrm>
            <a:prstGeom prst="rect">
              <a:avLst/>
            </a:prstGeom>
            <a:noFill/>
          </p:spPr>
          <p:txBody>
            <a:bodyPr wrap="square" rtlCol="0">
              <a:spAutoFit/>
            </a:bodyPr>
            <a:lstStyle/>
            <a:p>
              <a:pPr marL="0" marR="0" lvl="0" indent="0" algn="l"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客户端</a:t>
              </a:r>
            </a:p>
          </p:txBody>
        </p:sp>
      </p:grpSp>
      <p:sp>
        <p:nvSpPr>
          <p:cNvPr id="57" name="对话气泡: 椭圆形 56">
            <a:extLst>
              <a:ext uri="{FF2B5EF4-FFF2-40B4-BE49-F238E27FC236}">
                <a16:creationId xmlns:a16="http://schemas.microsoft.com/office/drawing/2014/main" id="{3CBE71E8-DFCA-4D4D-A4F6-2631494269B1}"/>
              </a:ext>
            </a:extLst>
          </p:cNvPr>
          <p:cNvSpPr/>
          <p:nvPr/>
        </p:nvSpPr>
        <p:spPr>
          <a:xfrm>
            <a:off x="8981587" y="5536210"/>
            <a:ext cx="1431539" cy="361816"/>
          </a:xfrm>
          <a:prstGeom prst="wedgeEllipseCallout">
            <a:avLst>
              <a:gd name="adj1" fmla="val -73083"/>
              <a:gd name="adj2" fmla="val -82480"/>
            </a:avLst>
          </a:prstGeom>
          <a:solidFill>
            <a:srgbClr val="FFC000"/>
          </a:solidFill>
          <a:ln w="12700" cap="flat" cmpd="sng" algn="ctr">
            <a:no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我要访问网站</a:t>
            </a:r>
          </a:p>
        </p:txBody>
      </p:sp>
      <p:sp>
        <p:nvSpPr>
          <p:cNvPr id="58" name="对话气泡: 椭圆形 57">
            <a:extLst>
              <a:ext uri="{FF2B5EF4-FFF2-40B4-BE49-F238E27FC236}">
                <a16:creationId xmlns:a16="http://schemas.microsoft.com/office/drawing/2014/main" id="{D981642A-CFEA-45BE-9FC9-626F9A7411A2}"/>
              </a:ext>
            </a:extLst>
          </p:cNvPr>
          <p:cNvSpPr/>
          <p:nvPr/>
        </p:nvSpPr>
        <p:spPr>
          <a:xfrm>
            <a:off x="1693597" y="5519778"/>
            <a:ext cx="1553997" cy="369059"/>
          </a:xfrm>
          <a:prstGeom prst="wedgeEllipseCallout">
            <a:avLst>
              <a:gd name="adj1" fmla="val 68311"/>
              <a:gd name="adj2" fmla="val -90589"/>
            </a:avLst>
          </a:prstGeom>
          <a:solidFill>
            <a:srgbClr val="FFC000"/>
          </a:solidFill>
          <a:ln w="12700" cap="flat" cmpd="sng" algn="ctr">
            <a:no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mn-cs"/>
              </a:rPr>
              <a:t>好的，发给你</a:t>
            </a:r>
          </a:p>
        </p:txBody>
      </p:sp>
      <p:sp>
        <p:nvSpPr>
          <p:cNvPr id="59" name="箭头: 左右 58">
            <a:extLst>
              <a:ext uri="{FF2B5EF4-FFF2-40B4-BE49-F238E27FC236}">
                <a16:creationId xmlns:a16="http://schemas.microsoft.com/office/drawing/2014/main" id="{1CC03B0B-1EBE-4C45-AA57-72D0E574C341}"/>
              </a:ext>
            </a:extLst>
          </p:cNvPr>
          <p:cNvSpPr/>
          <p:nvPr/>
        </p:nvSpPr>
        <p:spPr>
          <a:xfrm>
            <a:off x="3768825" y="2840167"/>
            <a:ext cx="4596676" cy="216921"/>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60" name="矩形: 圆角 11">
            <a:extLst>
              <a:ext uri="{FF2B5EF4-FFF2-40B4-BE49-F238E27FC236}">
                <a16:creationId xmlns:a16="http://schemas.microsoft.com/office/drawing/2014/main" id="{B7F82160-DBAC-4B6F-9A02-7A10E2040EC3}"/>
              </a:ext>
            </a:extLst>
          </p:cNvPr>
          <p:cNvSpPr>
            <a:spLocks noChangeArrowheads="1"/>
          </p:cNvSpPr>
          <p:nvPr/>
        </p:nvSpPr>
        <p:spPr bwMode="auto">
          <a:xfrm>
            <a:off x="4206135" y="2774179"/>
            <a:ext cx="3759653" cy="319855"/>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en-US" altLang="zh-CN"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TCP</a:t>
            </a: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和</a:t>
            </a:r>
            <a:r>
              <a:rPr kumimoji="0" lang="en-US" altLang="zh-CN"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UDP</a:t>
            </a:r>
            <a:r>
              <a:rPr kumimoji="0" lang="zh-CN" altLang="en-US" sz="105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接受应用层的委托负责收发数据</a:t>
            </a:r>
          </a:p>
        </p:txBody>
      </p:sp>
      <p:sp>
        <p:nvSpPr>
          <p:cNvPr id="72" name="箭头: 左右 71">
            <a:extLst>
              <a:ext uri="{FF2B5EF4-FFF2-40B4-BE49-F238E27FC236}">
                <a16:creationId xmlns:a16="http://schemas.microsoft.com/office/drawing/2014/main" id="{7E318E64-74EB-4B7A-BF2D-3F28D18FDC45}"/>
              </a:ext>
            </a:extLst>
          </p:cNvPr>
          <p:cNvSpPr/>
          <p:nvPr/>
        </p:nvSpPr>
        <p:spPr>
          <a:xfrm>
            <a:off x="3774734" y="3525339"/>
            <a:ext cx="4582850" cy="213532"/>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73" name="箭头: 左右 72">
            <a:extLst>
              <a:ext uri="{FF2B5EF4-FFF2-40B4-BE49-F238E27FC236}">
                <a16:creationId xmlns:a16="http://schemas.microsoft.com/office/drawing/2014/main" id="{66B729C0-C920-404D-B34E-2BFED41B5D81}"/>
              </a:ext>
            </a:extLst>
          </p:cNvPr>
          <p:cNvSpPr/>
          <p:nvPr/>
        </p:nvSpPr>
        <p:spPr>
          <a:xfrm>
            <a:off x="3768825" y="4187797"/>
            <a:ext cx="4596676" cy="213532"/>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74" name="箭头: 左右 73">
            <a:extLst>
              <a:ext uri="{FF2B5EF4-FFF2-40B4-BE49-F238E27FC236}">
                <a16:creationId xmlns:a16="http://schemas.microsoft.com/office/drawing/2014/main" id="{A7195F98-B47D-43D8-895C-8D624C113098}"/>
              </a:ext>
            </a:extLst>
          </p:cNvPr>
          <p:cNvSpPr/>
          <p:nvPr/>
        </p:nvSpPr>
        <p:spPr>
          <a:xfrm>
            <a:off x="3769760" y="4794448"/>
            <a:ext cx="4588415" cy="221869"/>
          </a:xfrm>
          <a:prstGeom prst="leftRightArrow">
            <a:avLst/>
          </a:prstGeom>
          <a:solidFill>
            <a:srgbClr val="4472C4"/>
          </a:solidFill>
          <a:ln w="12700" cap="flat" cmpd="sng" algn="ctr">
            <a:solidFill>
              <a:srgbClr val="4472C4">
                <a:shade val="50000"/>
              </a:srgbClr>
            </a:solidFill>
            <a:prstDash val="solid"/>
            <a:miter lim="800000"/>
          </a:ln>
          <a:effectLst/>
        </p:spPr>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endParaRPr kumimoji="0" lang="zh-CN" altLang="en-US" sz="135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75" name="矩形: 圆角 12">
            <a:extLst>
              <a:ext uri="{FF2B5EF4-FFF2-40B4-BE49-F238E27FC236}">
                <a16:creationId xmlns:a16="http://schemas.microsoft.com/office/drawing/2014/main" id="{97BE6ADA-8710-46AD-A1ED-9EF119E8F47C}"/>
              </a:ext>
            </a:extLst>
          </p:cNvPr>
          <p:cNvSpPr>
            <a:spLocks noChangeArrowheads="1"/>
          </p:cNvSpPr>
          <p:nvPr/>
        </p:nvSpPr>
        <p:spPr bwMode="auto">
          <a:xfrm>
            <a:off x="4191000" y="3448097"/>
            <a:ext cx="3752913" cy="357564"/>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en-US" altLang="zh-CN"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IP</a:t>
            </a: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协议控制数据包的收发操作</a:t>
            </a:r>
          </a:p>
        </p:txBody>
      </p:sp>
      <p:sp>
        <p:nvSpPr>
          <p:cNvPr id="76" name="矩形: 圆角 13">
            <a:extLst>
              <a:ext uri="{FF2B5EF4-FFF2-40B4-BE49-F238E27FC236}">
                <a16:creationId xmlns:a16="http://schemas.microsoft.com/office/drawing/2014/main" id="{FECE7EBE-2A42-4717-8E41-AD623FAD8C3C}"/>
              </a:ext>
            </a:extLst>
          </p:cNvPr>
          <p:cNvSpPr>
            <a:spLocks noChangeArrowheads="1"/>
          </p:cNvSpPr>
          <p:nvPr/>
        </p:nvSpPr>
        <p:spPr bwMode="auto">
          <a:xfrm>
            <a:off x="4200833" y="4114800"/>
            <a:ext cx="3743079" cy="357564"/>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网卡驱动程序负责控制网卡硬件</a:t>
            </a:r>
          </a:p>
        </p:txBody>
      </p:sp>
      <p:sp>
        <p:nvSpPr>
          <p:cNvPr id="77" name="矩形: 圆角 14">
            <a:extLst>
              <a:ext uri="{FF2B5EF4-FFF2-40B4-BE49-F238E27FC236}">
                <a16:creationId xmlns:a16="http://schemas.microsoft.com/office/drawing/2014/main" id="{68B31938-A20B-4C14-8A58-4DE581FDDEF0}"/>
              </a:ext>
            </a:extLst>
          </p:cNvPr>
          <p:cNvSpPr>
            <a:spLocks noChangeArrowheads="1"/>
          </p:cNvSpPr>
          <p:nvPr/>
        </p:nvSpPr>
        <p:spPr bwMode="auto">
          <a:xfrm>
            <a:off x="4187645" y="4733511"/>
            <a:ext cx="3743079" cy="359659"/>
          </a:xfrm>
          <a:prstGeom prst="roundRect">
            <a:avLst>
              <a:gd name="adj" fmla="val 16667"/>
            </a:avLst>
          </a:prstGeom>
          <a:solidFill>
            <a:srgbClr val="CCECFF"/>
          </a:solidFill>
          <a:ln w="9525" algn="ctr">
            <a:noFill/>
            <a:round/>
            <a:headEnd/>
            <a:tailEnd/>
          </a:ln>
        </p:spPr>
        <p:txBody>
          <a:bodyPr anchor="ctr" anchorCtr="1"/>
          <a:lstStyle>
            <a:lvl1pPr>
              <a:defRPr b="1">
                <a:solidFill>
                  <a:schemeClr val="tx1"/>
                </a:solidFill>
                <a:latin typeface="Times New Roman" panose="02020603050405020304" pitchFamily="18" charset="0"/>
              </a:defRPr>
            </a:lvl1pPr>
            <a:lvl2pPr marL="742950" indent="-285750">
              <a:defRPr b="1">
                <a:solidFill>
                  <a:schemeClr val="tx1"/>
                </a:solidFill>
                <a:latin typeface="Times New Roman" panose="02020603050405020304" pitchFamily="18" charset="0"/>
              </a:defRPr>
            </a:lvl2pPr>
            <a:lvl3pPr marL="1143000" indent="-228600">
              <a:defRPr b="1">
                <a:solidFill>
                  <a:schemeClr val="tx1"/>
                </a:solidFill>
                <a:latin typeface="Times New Roman" panose="02020603050405020304" pitchFamily="18" charset="0"/>
              </a:defRPr>
            </a:lvl3pPr>
            <a:lvl4pPr marL="1600200" indent="-228600">
              <a:defRPr b="1">
                <a:solidFill>
                  <a:schemeClr val="tx1"/>
                </a:solidFill>
                <a:latin typeface="Times New Roman" panose="02020603050405020304" pitchFamily="18" charset="0"/>
              </a:defRPr>
            </a:lvl4pPr>
            <a:lvl5pPr marL="2057400" indent="-228600">
              <a:defRPr b="1">
                <a:solidFill>
                  <a:schemeClr val="tx1"/>
                </a:solidFill>
                <a:latin typeface="Times New Roman" panose="02020603050405020304" pitchFamily="18" charset="0"/>
              </a:defRPr>
            </a:lvl5pPr>
            <a:lvl6pPr marL="2514600" indent="-228600" eaLnBrk="0" fontAlgn="base" hangingPunct="0">
              <a:spcBef>
                <a:spcPct val="0"/>
              </a:spcBef>
              <a:spcAft>
                <a:spcPct val="0"/>
              </a:spcAft>
              <a:defRPr b="1">
                <a:solidFill>
                  <a:schemeClr val="tx1"/>
                </a:solidFill>
                <a:latin typeface="Times New Roman" panose="02020603050405020304" pitchFamily="18" charset="0"/>
              </a:defRPr>
            </a:lvl6pPr>
            <a:lvl7pPr marL="2971800" indent="-228600" eaLnBrk="0" fontAlgn="base" hangingPunct="0">
              <a:spcBef>
                <a:spcPct val="0"/>
              </a:spcBef>
              <a:spcAft>
                <a:spcPct val="0"/>
              </a:spcAft>
              <a:defRPr b="1">
                <a:solidFill>
                  <a:schemeClr val="tx1"/>
                </a:solidFill>
                <a:latin typeface="Times New Roman" panose="02020603050405020304" pitchFamily="18" charset="0"/>
              </a:defRPr>
            </a:lvl7pPr>
            <a:lvl8pPr marL="3429000" indent="-228600" eaLnBrk="0" fontAlgn="base" hangingPunct="0">
              <a:spcBef>
                <a:spcPct val="0"/>
              </a:spcBef>
              <a:spcAft>
                <a:spcPct val="0"/>
              </a:spcAft>
              <a:defRPr b="1">
                <a:solidFill>
                  <a:schemeClr val="tx1"/>
                </a:solidFill>
                <a:latin typeface="Times New Roman" panose="02020603050405020304" pitchFamily="18" charset="0"/>
              </a:defRPr>
            </a:lvl8pPr>
            <a:lvl9pPr marL="3886200" indent="-228600" eaLnBrk="0" fontAlgn="base" hangingPunct="0">
              <a:spcBef>
                <a:spcPct val="0"/>
              </a:spcBef>
              <a:spcAft>
                <a:spcPct val="0"/>
              </a:spcAft>
              <a:defRPr b="1">
                <a:solidFill>
                  <a:schemeClr val="tx1"/>
                </a:solidFill>
                <a:latin typeface="Times New Roman" panose="02020603050405020304" pitchFamily="18" charset="0"/>
              </a:defRPr>
            </a:lvl9pPr>
          </a:lstStyle>
          <a:p>
            <a:pPr marL="0" marR="0" lvl="0" indent="0" algn="just" defTabSz="685800" rtl="0" eaLnBrk="1" fontAlgn="auto" latinLnBrk="0" hangingPunct="1">
              <a:lnSpc>
                <a:spcPct val="100000"/>
              </a:lnSpc>
              <a:spcBef>
                <a:spcPts val="0"/>
              </a:spcBef>
              <a:spcAft>
                <a:spcPts val="0"/>
              </a:spcAft>
              <a:buClrTx/>
              <a:buSzTx/>
              <a:buFontTx/>
              <a:buNone/>
              <a:tabLst/>
              <a:defRPr/>
            </a:pPr>
            <a:r>
              <a:rPr kumimoji="0" lang="zh-CN" altLang="en-US" sz="900" b="0" i="0" u="none" strike="noStrike" kern="120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网卡对</a:t>
            </a:r>
            <a:r>
              <a:rPr kumimoji="0" lang="zh-CN" altLang="en-US" sz="105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网线中的信号执行发送和接收操作</a:t>
            </a:r>
          </a:p>
        </p:txBody>
      </p:sp>
      <p:sp>
        <p:nvSpPr>
          <p:cNvPr id="78" name="箭头: 左右 77">
            <a:extLst>
              <a:ext uri="{FF2B5EF4-FFF2-40B4-BE49-F238E27FC236}">
                <a16:creationId xmlns:a16="http://schemas.microsoft.com/office/drawing/2014/main" id="{F249BB59-3961-4D30-919F-50C7F28BDE04}"/>
              </a:ext>
            </a:extLst>
          </p:cNvPr>
          <p:cNvSpPr/>
          <p:nvPr/>
        </p:nvSpPr>
        <p:spPr>
          <a:xfrm>
            <a:off x="3818965" y="5273073"/>
            <a:ext cx="4221403" cy="414314"/>
          </a:xfrm>
          <a:prstGeom prst="leftRightArrow">
            <a:avLst/>
          </a:prstGeom>
          <a:solidFill>
            <a:schemeClr val="accent2"/>
          </a:solidFill>
          <a:ln>
            <a:noFill/>
          </a:ln>
        </p:spPr>
        <p:style>
          <a:lnRef idx="2">
            <a:schemeClr val="accent1">
              <a:shade val="50000"/>
            </a:schemeClr>
          </a:lnRef>
          <a:fillRef idx="1">
            <a:schemeClr val="accent1"/>
          </a:fillRef>
          <a:effectRef idx="0">
            <a:schemeClr val="accent1"/>
          </a:effectRef>
          <a:fontRef idx="minor">
            <a:schemeClr val="lt1"/>
          </a:fontRef>
        </p:style>
        <p:txBody>
          <a:bodyPr rtlCol="0" anchor="ctr"/>
          <a:lstStyle/>
          <a:p>
            <a:pPr marL="0" marR="0" lvl="0" indent="0" algn="ctr" defTabSz="685800" rtl="0" eaLnBrk="1" fontAlgn="auto" latinLnBrk="0" hangingPunct="1">
              <a:lnSpc>
                <a:spcPct val="100000"/>
              </a:lnSpc>
              <a:spcBef>
                <a:spcPts val="0"/>
              </a:spcBef>
              <a:spcAft>
                <a:spcPts val="0"/>
              </a:spcAft>
              <a:buClrTx/>
              <a:buSzTx/>
              <a:buFontTx/>
              <a:buNone/>
              <a:tabLst/>
              <a:defRPr/>
            </a:pPr>
            <a:r>
              <a:rPr kumimoji="0" lang="en-US" altLang="zh-CN" sz="135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rPr>
              <a:t>10111010111011010110100101000101011</a:t>
            </a:r>
            <a:endParaRPr kumimoji="0" lang="zh-CN" altLang="en-US" sz="1350" b="0" i="0" u="none" strike="noStrike" kern="1200" cap="none" spc="0" normalizeH="0" baseline="0" noProof="0" dirty="0">
              <a:ln>
                <a:noFill/>
              </a:ln>
              <a:solidFill>
                <a:schemeClr val="tx1"/>
              </a:solidFill>
              <a:effectLst/>
              <a:uLnTx/>
              <a:uFillTx/>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353627035"/>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2"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right)">
                                      <p:cBhvr>
                                        <p:cTn id="7" dur="500"/>
                                        <p:tgtEl>
                                          <p:spTgt spid="2"/>
                                        </p:tgtEl>
                                      </p:cBhvr>
                                    </p:animEffect>
                                  </p:childTnLst>
                                </p:cTn>
                              </p:par>
                            </p:childTnLst>
                          </p:cTn>
                        </p:par>
                        <p:par>
                          <p:cTn id="8" fill="hold">
                            <p:stCondLst>
                              <p:cond delay="500"/>
                            </p:stCondLst>
                            <p:childTnLst>
                              <p:par>
                                <p:cTn id="9" presetID="16" presetClass="entr" presetSubtype="37" fill="hold" grpId="0" nodeType="afterEffect">
                                  <p:stCondLst>
                                    <p:cond delay="0"/>
                                  </p:stCondLst>
                                  <p:childTnLst>
                                    <p:set>
                                      <p:cBhvr>
                                        <p:cTn id="10" dur="1" fill="hold">
                                          <p:stCondLst>
                                            <p:cond delay="0"/>
                                          </p:stCondLst>
                                        </p:cTn>
                                        <p:tgtEl>
                                          <p:spTgt spid="78"/>
                                        </p:tgtEl>
                                        <p:attrNameLst>
                                          <p:attrName>style.visibility</p:attrName>
                                        </p:attrNameLst>
                                      </p:cBhvr>
                                      <p:to>
                                        <p:strVal val="visible"/>
                                      </p:to>
                                    </p:set>
                                    <p:animEffect transition="in" filter="barn(outVertical)">
                                      <p:cBhvr>
                                        <p:cTn id="11" dur="500"/>
                                        <p:tgtEl>
                                          <p:spTgt spid="7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animBg="1"/>
      <p:bldP spid="78" grpId="0" animBg="1"/>
    </p:bldLst>
  </p:timing>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1" name="矩形 40">
            <a:extLst>
              <a:ext uri="{FF2B5EF4-FFF2-40B4-BE49-F238E27FC236}">
                <a16:creationId xmlns:a16="http://schemas.microsoft.com/office/drawing/2014/main" id="{BC235DC0-6327-4CC8-8716-4ED9BF34C8C5}"/>
              </a:ext>
            </a:extLst>
          </p:cNvPr>
          <p:cNvSpPr/>
          <p:nvPr/>
        </p:nvSpPr>
        <p:spPr>
          <a:xfrm>
            <a:off x="4248795" y="2937208"/>
            <a:ext cx="3657504" cy="3006326"/>
          </a:xfrm>
          <a:prstGeom prst="rect">
            <a:avLst/>
          </a:prstGeom>
          <a:noFill/>
          <a:ln w="28575" cap="flat" cmpd="sng" algn="ctr">
            <a:solidFill>
              <a:srgbClr val="4472C4">
                <a:shade val="50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pic>
        <p:nvPicPr>
          <p:cNvPr id="42" name="图片 41">
            <a:extLst>
              <a:ext uri="{FF2B5EF4-FFF2-40B4-BE49-F238E27FC236}">
                <a16:creationId xmlns:a16="http://schemas.microsoft.com/office/drawing/2014/main" id="{FB486345-49BF-4E95-9F7E-187600F34A09}"/>
              </a:ext>
            </a:extLst>
          </p:cNvPr>
          <p:cNvPicPr>
            <a:picLocks noChangeAspect="1"/>
          </p:cNvPicPr>
          <p:nvPr/>
        </p:nvPicPr>
        <p:blipFill>
          <a:blip r:embed="rId3"/>
          <a:stretch>
            <a:fillRect/>
          </a:stretch>
        </p:blipFill>
        <p:spPr>
          <a:xfrm>
            <a:off x="2688101" y="2860284"/>
            <a:ext cx="990574" cy="990574"/>
          </a:xfrm>
          <a:prstGeom prst="rect">
            <a:avLst/>
          </a:prstGeom>
        </p:spPr>
      </p:pic>
      <p:sp>
        <p:nvSpPr>
          <p:cNvPr id="43" name="monitor-and-computer-case_103">
            <a:extLst>
              <a:ext uri="{FF2B5EF4-FFF2-40B4-BE49-F238E27FC236}">
                <a16:creationId xmlns:a16="http://schemas.microsoft.com/office/drawing/2014/main" id="{BC6A8D97-F7E3-4577-B4AB-8BCAADEF7E4D}"/>
              </a:ext>
            </a:extLst>
          </p:cNvPr>
          <p:cNvSpPr/>
          <p:nvPr/>
        </p:nvSpPr>
        <p:spPr>
          <a:xfrm>
            <a:off x="2812378" y="1964548"/>
            <a:ext cx="838229" cy="649878"/>
          </a:xfrm>
          <a:custGeom>
            <a:avLst/>
            <a:gdLst>
              <a:gd name="connsiteX0" fmla="*/ 474014 w 560604"/>
              <a:gd name="connsiteY0" fmla="*/ 279973 h 438626"/>
              <a:gd name="connsiteX1" fmla="*/ 446881 w 560604"/>
              <a:gd name="connsiteY1" fmla="*/ 307041 h 438626"/>
              <a:gd name="connsiteX2" fmla="*/ 474014 w 560604"/>
              <a:gd name="connsiteY2" fmla="*/ 334108 h 438626"/>
              <a:gd name="connsiteX3" fmla="*/ 502438 w 560604"/>
              <a:gd name="connsiteY3" fmla="*/ 307041 h 438626"/>
              <a:gd name="connsiteX4" fmla="*/ 474014 w 560604"/>
              <a:gd name="connsiteY4" fmla="*/ 279973 h 438626"/>
              <a:gd name="connsiteX5" fmla="*/ 474014 w 560604"/>
              <a:gd name="connsiteY5" fmla="*/ 263217 h 438626"/>
              <a:gd name="connsiteX6" fmla="*/ 517942 w 560604"/>
              <a:gd name="connsiteY6" fmla="*/ 307041 h 438626"/>
              <a:gd name="connsiteX7" fmla="*/ 474014 w 560604"/>
              <a:gd name="connsiteY7" fmla="*/ 349575 h 438626"/>
              <a:gd name="connsiteX8" fmla="*/ 431377 w 560604"/>
              <a:gd name="connsiteY8" fmla="*/ 307041 h 438626"/>
              <a:gd name="connsiteX9" fmla="*/ 474014 w 560604"/>
              <a:gd name="connsiteY9" fmla="*/ 263217 h 438626"/>
              <a:gd name="connsiteX10" fmla="*/ 415845 w 560604"/>
              <a:gd name="connsiteY10" fmla="*/ 158634 h 438626"/>
              <a:gd name="connsiteX11" fmla="*/ 533475 w 560604"/>
              <a:gd name="connsiteY11" fmla="*/ 158634 h 438626"/>
              <a:gd name="connsiteX12" fmla="*/ 533475 w 560604"/>
              <a:gd name="connsiteY12" fmla="*/ 179343 h 438626"/>
              <a:gd name="connsiteX13" fmla="*/ 415845 w 560604"/>
              <a:gd name="connsiteY13" fmla="*/ 179343 h 438626"/>
              <a:gd name="connsiteX14" fmla="*/ 415845 w 560604"/>
              <a:gd name="connsiteY14" fmla="*/ 123842 h 438626"/>
              <a:gd name="connsiteX15" fmla="*/ 533475 w 560604"/>
              <a:gd name="connsiteY15" fmla="*/ 123842 h 438626"/>
              <a:gd name="connsiteX16" fmla="*/ 533475 w 560604"/>
              <a:gd name="connsiteY16" fmla="*/ 144344 h 438626"/>
              <a:gd name="connsiteX17" fmla="*/ 415845 w 560604"/>
              <a:gd name="connsiteY17" fmla="*/ 144344 h 438626"/>
              <a:gd name="connsiteX18" fmla="*/ 33591 w 560604"/>
              <a:gd name="connsiteY18" fmla="*/ 122590 h 438626"/>
              <a:gd name="connsiteX19" fmla="*/ 33591 w 560604"/>
              <a:gd name="connsiteY19" fmla="*/ 330271 h 438626"/>
              <a:gd name="connsiteX20" fmla="*/ 334622 w 560604"/>
              <a:gd name="connsiteY20" fmla="*/ 330271 h 438626"/>
              <a:gd name="connsiteX21" fmla="*/ 334622 w 560604"/>
              <a:gd name="connsiteY21" fmla="*/ 122590 h 438626"/>
              <a:gd name="connsiteX22" fmla="*/ 416052 w 560604"/>
              <a:gd name="connsiteY22" fmla="*/ 89051 h 438626"/>
              <a:gd name="connsiteX23" fmla="*/ 533474 w 560604"/>
              <a:gd name="connsiteY23" fmla="*/ 89051 h 438626"/>
              <a:gd name="connsiteX24" fmla="*/ 533474 w 560604"/>
              <a:gd name="connsiteY24" fmla="*/ 109553 h 438626"/>
              <a:gd name="connsiteX25" fmla="*/ 416052 w 560604"/>
              <a:gd name="connsiteY25" fmla="*/ 109553 h 438626"/>
              <a:gd name="connsiteX26" fmla="*/ 0 w 560604"/>
              <a:gd name="connsiteY26" fmla="*/ 89051 h 438626"/>
              <a:gd name="connsiteX27" fmla="*/ 368213 w 560604"/>
              <a:gd name="connsiteY27" fmla="*/ 89051 h 438626"/>
              <a:gd name="connsiteX28" fmla="*/ 368213 w 560604"/>
              <a:gd name="connsiteY28" fmla="*/ 365099 h 438626"/>
              <a:gd name="connsiteX29" fmla="*/ 220928 w 560604"/>
              <a:gd name="connsiteY29" fmla="*/ 365099 h 438626"/>
              <a:gd name="connsiteX30" fmla="*/ 220928 w 560604"/>
              <a:gd name="connsiteY30" fmla="*/ 411537 h 438626"/>
              <a:gd name="connsiteX31" fmla="*/ 258395 w 560604"/>
              <a:gd name="connsiteY31" fmla="*/ 411537 h 438626"/>
              <a:gd name="connsiteX32" fmla="*/ 258395 w 560604"/>
              <a:gd name="connsiteY32" fmla="*/ 438626 h 438626"/>
              <a:gd name="connsiteX33" fmla="*/ 109818 w 560604"/>
              <a:gd name="connsiteY33" fmla="*/ 438626 h 438626"/>
              <a:gd name="connsiteX34" fmla="*/ 109818 w 560604"/>
              <a:gd name="connsiteY34" fmla="*/ 411537 h 438626"/>
              <a:gd name="connsiteX35" fmla="*/ 147285 w 560604"/>
              <a:gd name="connsiteY35" fmla="*/ 411537 h 438626"/>
              <a:gd name="connsiteX36" fmla="*/ 147285 w 560604"/>
              <a:gd name="connsiteY36" fmla="*/ 365099 h 438626"/>
              <a:gd name="connsiteX37" fmla="*/ 0 w 560604"/>
              <a:gd name="connsiteY37" fmla="*/ 365099 h 438626"/>
              <a:gd name="connsiteX38" fmla="*/ 415845 w 560604"/>
              <a:gd name="connsiteY38" fmla="*/ 29615 h 438626"/>
              <a:gd name="connsiteX39" fmla="*/ 533475 w 560604"/>
              <a:gd name="connsiteY39" fmla="*/ 29615 h 438626"/>
              <a:gd name="connsiteX40" fmla="*/ 533475 w 560604"/>
              <a:gd name="connsiteY40" fmla="*/ 74762 h 438626"/>
              <a:gd name="connsiteX41" fmla="*/ 415845 w 560604"/>
              <a:gd name="connsiteY41" fmla="*/ 74762 h 438626"/>
              <a:gd name="connsiteX42" fmla="*/ 405517 w 560604"/>
              <a:gd name="connsiteY42" fmla="*/ 18061 h 438626"/>
              <a:gd name="connsiteX43" fmla="*/ 405517 w 560604"/>
              <a:gd name="connsiteY43" fmla="*/ 421855 h 438626"/>
              <a:gd name="connsiteX44" fmla="*/ 543803 w 560604"/>
              <a:gd name="connsiteY44" fmla="*/ 421855 h 438626"/>
              <a:gd name="connsiteX45" fmla="*/ 543803 w 560604"/>
              <a:gd name="connsiteY45" fmla="*/ 18061 h 438626"/>
              <a:gd name="connsiteX46" fmla="*/ 388716 w 560604"/>
              <a:gd name="connsiteY46" fmla="*/ 0 h 438626"/>
              <a:gd name="connsiteX47" fmla="*/ 560604 w 560604"/>
              <a:gd name="connsiteY47" fmla="*/ 0 h 438626"/>
              <a:gd name="connsiteX48" fmla="*/ 560604 w 560604"/>
              <a:gd name="connsiteY48" fmla="*/ 438626 h 438626"/>
              <a:gd name="connsiteX49" fmla="*/ 388716 w 560604"/>
              <a:gd name="connsiteY49" fmla="*/ 438626 h 438626"/>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Lst>
            <a:rect l="l" t="t" r="r" b="b"/>
            <a:pathLst>
              <a:path w="560604" h="438626">
                <a:moveTo>
                  <a:pt x="474014" y="279973"/>
                </a:moveTo>
                <a:cubicBezTo>
                  <a:pt x="459801" y="279973"/>
                  <a:pt x="446881" y="291574"/>
                  <a:pt x="446881" y="307041"/>
                </a:cubicBezTo>
                <a:cubicBezTo>
                  <a:pt x="446881" y="322508"/>
                  <a:pt x="459801" y="334108"/>
                  <a:pt x="474014" y="334108"/>
                </a:cubicBezTo>
                <a:cubicBezTo>
                  <a:pt x="489518" y="334108"/>
                  <a:pt x="502438" y="322508"/>
                  <a:pt x="502438" y="307041"/>
                </a:cubicBezTo>
                <a:cubicBezTo>
                  <a:pt x="502438" y="291574"/>
                  <a:pt x="489518" y="279973"/>
                  <a:pt x="474014" y="279973"/>
                </a:cubicBezTo>
                <a:close/>
                <a:moveTo>
                  <a:pt x="474014" y="263217"/>
                </a:moveTo>
                <a:cubicBezTo>
                  <a:pt x="498562" y="263217"/>
                  <a:pt x="517942" y="282551"/>
                  <a:pt x="517942" y="307041"/>
                </a:cubicBezTo>
                <a:cubicBezTo>
                  <a:pt x="517942" y="330241"/>
                  <a:pt x="498562" y="349575"/>
                  <a:pt x="474014" y="349575"/>
                </a:cubicBezTo>
                <a:cubicBezTo>
                  <a:pt x="450757" y="349575"/>
                  <a:pt x="431377" y="330241"/>
                  <a:pt x="431377" y="307041"/>
                </a:cubicBezTo>
                <a:cubicBezTo>
                  <a:pt x="431377" y="282551"/>
                  <a:pt x="450757" y="263217"/>
                  <a:pt x="474014" y="263217"/>
                </a:cubicBezTo>
                <a:close/>
                <a:moveTo>
                  <a:pt x="415845" y="158634"/>
                </a:moveTo>
                <a:lnTo>
                  <a:pt x="533475" y="158634"/>
                </a:lnTo>
                <a:lnTo>
                  <a:pt x="533475" y="179343"/>
                </a:lnTo>
                <a:lnTo>
                  <a:pt x="415845" y="179343"/>
                </a:lnTo>
                <a:close/>
                <a:moveTo>
                  <a:pt x="415845" y="123842"/>
                </a:moveTo>
                <a:lnTo>
                  <a:pt x="533475" y="123842"/>
                </a:lnTo>
                <a:lnTo>
                  <a:pt x="533475" y="144344"/>
                </a:lnTo>
                <a:lnTo>
                  <a:pt x="415845" y="144344"/>
                </a:lnTo>
                <a:close/>
                <a:moveTo>
                  <a:pt x="33591" y="122590"/>
                </a:moveTo>
                <a:lnTo>
                  <a:pt x="33591" y="330271"/>
                </a:lnTo>
                <a:lnTo>
                  <a:pt x="334622" y="330271"/>
                </a:lnTo>
                <a:lnTo>
                  <a:pt x="334622" y="122590"/>
                </a:lnTo>
                <a:close/>
                <a:moveTo>
                  <a:pt x="416052" y="89051"/>
                </a:moveTo>
                <a:lnTo>
                  <a:pt x="533474" y="89051"/>
                </a:lnTo>
                <a:lnTo>
                  <a:pt x="533474" y="109553"/>
                </a:lnTo>
                <a:lnTo>
                  <a:pt x="416052" y="109553"/>
                </a:lnTo>
                <a:close/>
                <a:moveTo>
                  <a:pt x="0" y="89051"/>
                </a:moveTo>
                <a:lnTo>
                  <a:pt x="368213" y="89051"/>
                </a:lnTo>
                <a:lnTo>
                  <a:pt x="368213" y="365099"/>
                </a:lnTo>
                <a:lnTo>
                  <a:pt x="220928" y="365099"/>
                </a:lnTo>
                <a:lnTo>
                  <a:pt x="220928" y="411537"/>
                </a:lnTo>
                <a:lnTo>
                  <a:pt x="258395" y="411537"/>
                </a:lnTo>
                <a:lnTo>
                  <a:pt x="258395" y="438626"/>
                </a:lnTo>
                <a:lnTo>
                  <a:pt x="109818" y="438626"/>
                </a:lnTo>
                <a:lnTo>
                  <a:pt x="109818" y="411537"/>
                </a:lnTo>
                <a:lnTo>
                  <a:pt x="147285" y="411537"/>
                </a:lnTo>
                <a:lnTo>
                  <a:pt x="147285" y="365099"/>
                </a:lnTo>
                <a:lnTo>
                  <a:pt x="0" y="365099"/>
                </a:lnTo>
                <a:close/>
                <a:moveTo>
                  <a:pt x="415845" y="29615"/>
                </a:moveTo>
                <a:lnTo>
                  <a:pt x="533475" y="29615"/>
                </a:lnTo>
                <a:lnTo>
                  <a:pt x="533475" y="74762"/>
                </a:lnTo>
                <a:lnTo>
                  <a:pt x="415845" y="74762"/>
                </a:lnTo>
                <a:close/>
                <a:moveTo>
                  <a:pt x="405517" y="18061"/>
                </a:moveTo>
                <a:lnTo>
                  <a:pt x="405517" y="421855"/>
                </a:lnTo>
                <a:lnTo>
                  <a:pt x="543803" y="421855"/>
                </a:lnTo>
                <a:lnTo>
                  <a:pt x="543803" y="18061"/>
                </a:lnTo>
                <a:close/>
                <a:moveTo>
                  <a:pt x="388716" y="0"/>
                </a:moveTo>
                <a:lnTo>
                  <a:pt x="560604" y="0"/>
                </a:lnTo>
                <a:lnTo>
                  <a:pt x="560604" y="438626"/>
                </a:lnTo>
                <a:lnTo>
                  <a:pt x="388716" y="438626"/>
                </a:lnTo>
                <a:close/>
              </a:path>
            </a:pathLst>
          </a:custGeom>
          <a:solidFill>
            <a:srgbClr val="4472C4"/>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sp>
        <p:nvSpPr>
          <p:cNvPr id="44" name="矩形: 圆角 43">
            <a:extLst>
              <a:ext uri="{FF2B5EF4-FFF2-40B4-BE49-F238E27FC236}">
                <a16:creationId xmlns:a16="http://schemas.microsoft.com/office/drawing/2014/main" id="{11BFDD4E-AB53-47AD-820C-C02D68C6A396}"/>
              </a:ext>
            </a:extLst>
          </p:cNvPr>
          <p:cNvSpPr/>
          <p:nvPr/>
        </p:nvSpPr>
        <p:spPr>
          <a:xfrm>
            <a:off x="4265967" y="951393"/>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应用程序</a:t>
            </a:r>
          </a:p>
        </p:txBody>
      </p:sp>
      <p:sp>
        <p:nvSpPr>
          <p:cNvPr id="45" name="矩形: 圆角 44">
            <a:extLst>
              <a:ext uri="{FF2B5EF4-FFF2-40B4-BE49-F238E27FC236}">
                <a16:creationId xmlns:a16="http://schemas.microsoft.com/office/drawing/2014/main" id="{11E8A162-C438-4A7B-97D2-15A73DD1F3DD}"/>
              </a:ext>
            </a:extLst>
          </p:cNvPr>
          <p:cNvSpPr/>
          <p:nvPr/>
        </p:nvSpPr>
        <p:spPr>
          <a:xfrm>
            <a:off x="4275831" y="1441818"/>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协议栈</a:t>
            </a:r>
          </a:p>
        </p:txBody>
      </p:sp>
      <p:sp>
        <p:nvSpPr>
          <p:cNvPr id="46" name="矩形: 圆角 45">
            <a:extLst>
              <a:ext uri="{FF2B5EF4-FFF2-40B4-BE49-F238E27FC236}">
                <a16:creationId xmlns:a16="http://schemas.microsoft.com/office/drawing/2014/main" id="{563F8203-7DCB-405E-9E3A-E1BD6196BB88}"/>
              </a:ext>
            </a:extLst>
          </p:cNvPr>
          <p:cNvSpPr/>
          <p:nvPr/>
        </p:nvSpPr>
        <p:spPr>
          <a:xfrm>
            <a:off x="4265967" y="1932243"/>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网卡驱动</a:t>
            </a:r>
          </a:p>
        </p:txBody>
      </p:sp>
      <p:sp>
        <p:nvSpPr>
          <p:cNvPr id="47" name="矩形: 圆角 46">
            <a:extLst>
              <a:ext uri="{FF2B5EF4-FFF2-40B4-BE49-F238E27FC236}">
                <a16:creationId xmlns:a16="http://schemas.microsoft.com/office/drawing/2014/main" id="{182308F1-1E29-415B-BFCB-1748CF370C77}"/>
              </a:ext>
            </a:extLst>
          </p:cNvPr>
          <p:cNvSpPr/>
          <p:nvPr/>
        </p:nvSpPr>
        <p:spPr>
          <a:xfrm>
            <a:off x="4265967" y="2422668"/>
            <a:ext cx="3630468" cy="353787"/>
          </a:xfrm>
          <a:prstGeom prst="roundRect">
            <a:avLst/>
          </a:prstGeom>
          <a:solidFill>
            <a:srgbClr val="ED7D31">
              <a:lumMod val="20000"/>
              <a:lumOff val="80000"/>
            </a:srgbClr>
          </a:solidFill>
          <a:ln w="12700" cap="flat" cmpd="sng" algn="ctr">
            <a:solidFill>
              <a:srgbClr val="ED7D31">
                <a:lumMod val="75000"/>
              </a:srgbClr>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cs typeface="+mn-cs"/>
              </a:rPr>
              <a:t>扩展总线接口</a:t>
            </a:r>
          </a:p>
        </p:txBody>
      </p:sp>
      <p:sp>
        <p:nvSpPr>
          <p:cNvPr id="48" name="矩形 47">
            <a:extLst>
              <a:ext uri="{FF2B5EF4-FFF2-40B4-BE49-F238E27FC236}">
                <a16:creationId xmlns:a16="http://schemas.microsoft.com/office/drawing/2014/main" id="{276C12A1-6E4B-4B31-A2BC-2400102367A7}"/>
              </a:ext>
            </a:extLst>
          </p:cNvPr>
          <p:cNvSpPr/>
          <p:nvPr/>
        </p:nvSpPr>
        <p:spPr>
          <a:xfrm>
            <a:off x="5384385" y="3124208"/>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缓冲区</a:t>
            </a:r>
          </a:p>
        </p:txBody>
      </p:sp>
      <p:sp>
        <p:nvSpPr>
          <p:cNvPr id="49" name="矩形 48">
            <a:extLst>
              <a:ext uri="{FF2B5EF4-FFF2-40B4-BE49-F238E27FC236}">
                <a16:creationId xmlns:a16="http://schemas.microsoft.com/office/drawing/2014/main" id="{7568CE0F-57B3-47FE-AD66-FB4BC65B0C3C}"/>
              </a:ext>
            </a:extLst>
          </p:cNvPr>
          <p:cNvSpPr/>
          <p:nvPr/>
        </p:nvSpPr>
        <p:spPr>
          <a:xfrm>
            <a:off x="5384385" y="3945226"/>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MAC</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50" name="矩形 49">
            <a:extLst>
              <a:ext uri="{FF2B5EF4-FFF2-40B4-BE49-F238E27FC236}">
                <a16:creationId xmlns:a16="http://schemas.microsoft.com/office/drawing/2014/main" id="{5578D229-DDC3-4F06-9F5A-EC4762150D6D}"/>
              </a:ext>
            </a:extLst>
          </p:cNvPr>
          <p:cNvSpPr/>
          <p:nvPr/>
        </p:nvSpPr>
        <p:spPr>
          <a:xfrm>
            <a:off x="5389201" y="5635732"/>
            <a:ext cx="1450326"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RJ-45</a:t>
            </a:r>
            <a:r>
              <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接口</a:t>
            </a:r>
          </a:p>
        </p:txBody>
      </p:sp>
      <p:sp>
        <p:nvSpPr>
          <p:cNvPr id="51" name="矩形 50">
            <a:extLst>
              <a:ext uri="{FF2B5EF4-FFF2-40B4-BE49-F238E27FC236}">
                <a16:creationId xmlns:a16="http://schemas.microsoft.com/office/drawing/2014/main" id="{405F074D-6385-4E7D-AE7E-36AE83FB1BD5}"/>
              </a:ext>
            </a:extLst>
          </p:cNvPr>
          <p:cNvSpPr/>
          <p:nvPr/>
        </p:nvSpPr>
        <p:spPr>
          <a:xfrm>
            <a:off x="4513015" y="3945227"/>
            <a:ext cx="650153" cy="321973"/>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ROM</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sp>
        <p:nvSpPr>
          <p:cNvPr id="52" name="等腰三角形 51">
            <a:extLst>
              <a:ext uri="{FF2B5EF4-FFF2-40B4-BE49-F238E27FC236}">
                <a16:creationId xmlns:a16="http://schemas.microsoft.com/office/drawing/2014/main" id="{FA23F86B-ECA5-4AEA-8A15-9C5DAE57117F}"/>
              </a:ext>
            </a:extLst>
          </p:cNvPr>
          <p:cNvSpPr/>
          <p:nvPr/>
        </p:nvSpPr>
        <p:spPr>
          <a:xfrm rot="16200000">
            <a:off x="2426192" y="4226425"/>
            <a:ext cx="3082524" cy="504089"/>
          </a:xfrm>
          <a:prstGeom prst="triangle">
            <a:avLst>
              <a:gd name="adj" fmla="val 89924"/>
            </a:avLst>
          </a:prstGeom>
          <a:gradFill>
            <a:gsLst>
              <a:gs pos="0">
                <a:srgbClr val="DFE7F5"/>
              </a:gs>
              <a:gs pos="50000">
                <a:srgbClr val="B6C8E8"/>
              </a:gs>
              <a:gs pos="70000">
                <a:srgbClr val="C2D1EC"/>
              </a:gs>
              <a:gs pos="100000">
                <a:srgbClr val="4472C4">
                  <a:lumMod val="30000"/>
                  <a:lumOff val="70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3" name="等腰三角形 52">
            <a:extLst>
              <a:ext uri="{FF2B5EF4-FFF2-40B4-BE49-F238E27FC236}">
                <a16:creationId xmlns:a16="http://schemas.microsoft.com/office/drawing/2014/main" id="{FD4B43B1-BEE1-456E-990F-53C7AD70529F}"/>
              </a:ext>
            </a:extLst>
          </p:cNvPr>
          <p:cNvSpPr/>
          <p:nvPr/>
        </p:nvSpPr>
        <p:spPr>
          <a:xfrm rot="6684520">
            <a:off x="3464789" y="1592817"/>
            <a:ext cx="1568675" cy="579534"/>
          </a:xfrm>
          <a:prstGeom prst="triangle">
            <a:avLst>
              <a:gd name="adj" fmla="val 100000"/>
            </a:avLst>
          </a:prstGeom>
          <a:gradFill>
            <a:gsLst>
              <a:gs pos="0">
                <a:srgbClr val="FBE5D6">
                  <a:alpha val="62000"/>
                  <a:lumMod val="49000"/>
                  <a:lumOff val="51000"/>
                </a:srgbClr>
              </a:gs>
              <a:gs pos="59000">
                <a:srgbClr val="FBE5D6">
                  <a:lumMod val="84000"/>
                  <a:lumOff val="16000"/>
                </a:srgbClr>
              </a:gs>
              <a:gs pos="83000">
                <a:srgbClr val="FBE5D6"/>
              </a:gs>
              <a:gs pos="100000">
                <a:srgbClr val="FBE5D6">
                  <a:lumMod val="58000"/>
                  <a:lumOff val="42000"/>
                </a:srgbClr>
              </a:gs>
            </a:gsLst>
            <a:lin ang="5400000" scaled="1"/>
          </a:gra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zh-CN" altLang="en-US" sz="1800" b="0" i="0" u="none" strike="noStrike" kern="0" cap="none" spc="0" normalizeH="0" baseline="0" noProof="0">
              <a:ln>
                <a:noFill/>
              </a:ln>
              <a:solidFill>
                <a:prstClr val="white"/>
              </a:solidFill>
              <a:effectLst/>
              <a:uLnTx/>
              <a:uFillTx/>
              <a:latin typeface="等线" panose="020F0502020204030204"/>
              <a:ea typeface="等线" panose="02010600030101010101" pitchFamily="2" charset="-122"/>
              <a:cs typeface="+mn-cs"/>
            </a:endParaRPr>
          </a:p>
        </p:txBody>
      </p:sp>
      <p:sp>
        <p:nvSpPr>
          <p:cNvPr id="54" name="文本框 53">
            <a:extLst>
              <a:ext uri="{FF2B5EF4-FFF2-40B4-BE49-F238E27FC236}">
                <a16:creationId xmlns:a16="http://schemas.microsoft.com/office/drawing/2014/main" id="{089235F5-AF8C-4E02-8F21-E53A3B23154F}"/>
              </a:ext>
            </a:extLst>
          </p:cNvPr>
          <p:cNvSpPr txBox="1"/>
          <p:nvPr/>
        </p:nvSpPr>
        <p:spPr>
          <a:xfrm>
            <a:off x="7105030" y="3273729"/>
            <a:ext cx="2877067"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用于临时保存要收发的包的内存空间</a:t>
            </a:r>
          </a:p>
        </p:txBody>
      </p:sp>
      <p:sp>
        <p:nvSpPr>
          <p:cNvPr id="55" name="文本框 54">
            <a:extLst>
              <a:ext uri="{FF2B5EF4-FFF2-40B4-BE49-F238E27FC236}">
                <a16:creationId xmlns:a16="http://schemas.microsoft.com/office/drawing/2014/main" id="{CAA9686E-0C29-4BEB-9ABF-36C834FEDCE9}"/>
              </a:ext>
            </a:extLst>
          </p:cNvPr>
          <p:cNvSpPr txBox="1"/>
          <p:nvPr/>
        </p:nvSpPr>
        <p:spPr>
          <a:xfrm>
            <a:off x="7144338" y="4073419"/>
            <a:ext cx="3544396"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控制冲突检测、重发等以太网收发操作的部分</a:t>
            </a:r>
          </a:p>
        </p:txBody>
      </p:sp>
      <p:sp>
        <p:nvSpPr>
          <p:cNvPr id="56" name="文本框 55">
            <a:extLst>
              <a:ext uri="{FF2B5EF4-FFF2-40B4-BE49-F238E27FC236}">
                <a16:creationId xmlns:a16="http://schemas.microsoft.com/office/drawing/2014/main" id="{0E2688E0-0FEC-480D-8635-5AA5E191EE88}"/>
              </a:ext>
            </a:extLst>
          </p:cNvPr>
          <p:cNvSpPr txBox="1"/>
          <p:nvPr/>
        </p:nvSpPr>
        <p:spPr>
          <a:xfrm>
            <a:off x="7181892" y="4927881"/>
            <a:ext cx="1791842"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发送和接收信号的电路</a:t>
            </a:r>
          </a:p>
        </p:txBody>
      </p:sp>
      <p:sp>
        <p:nvSpPr>
          <p:cNvPr id="57" name="文本框 56">
            <a:extLst>
              <a:ext uri="{FF2B5EF4-FFF2-40B4-BE49-F238E27FC236}">
                <a16:creationId xmlns:a16="http://schemas.microsoft.com/office/drawing/2014/main" id="{B614808B-04AF-473A-9257-DA6EDCC2F1C7}"/>
              </a:ext>
            </a:extLst>
          </p:cNvPr>
          <p:cNvSpPr txBox="1"/>
          <p:nvPr/>
        </p:nvSpPr>
        <p:spPr>
          <a:xfrm>
            <a:off x="7105031" y="5785694"/>
            <a:ext cx="1791842" cy="276999"/>
          </a:xfrm>
          <a:prstGeom prst="rect">
            <a:avLst/>
          </a:prstGeom>
          <a:solidFill>
            <a:sysClr val="window" lastClr="FFFFFF"/>
          </a:solidFill>
        </p:spPr>
        <p:txBody>
          <a:bodyPr wrap="square" rtlCol="0">
            <a:spAutoFit/>
          </a:bodyPr>
          <a:lstStyle/>
          <a:p>
            <a:pPr marL="0" marR="0" lvl="0" indent="0" defTabSz="914400" eaLnBrk="1" fontAlgn="auto" latinLnBrk="0" hangingPunct="1">
              <a:lnSpc>
                <a:spcPct val="100000"/>
              </a:lnSpc>
              <a:spcBef>
                <a:spcPts val="0"/>
              </a:spcBef>
              <a:spcAft>
                <a:spcPts val="0"/>
              </a:spcAft>
              <a:buClrTx/>
              <a:buSzTx/>
              <a:buFontTx/>
              <a:buNone/>
              <a:tabLst/>
              <a:defRPr/>
            </a:pPr>
            <a:r>
              <a:rPr kumimoji="0" lang="zh-CN" altLang="en-US" sz="1200" b="0" i="0" u="none" strike="noStrike" kern="0" cap="none" spc="0" normalizeH="0" baseline="0" noProof="0" dirty="0">
                <a:ln>
                  <a:noFill/>
                </a:ln>
                <a:solidFill>
                  <a:prstClr val="black"/>
                </a:solidFill>
                <a:effectLst/>
                <a:uLnTx/>
                <a:uFillTx/>
                <a:latin typeface="微软雅黑" panose="020B0503020204020204" pitchFamily="34" charset="-122"/>
                <a:ea typeface="微软雅黑" panose="020B0503020204020204" pitchFamily="34" charset="-122"/>
              </a:rPr>
              <a:t>连接网线的插座</a:t>
            </a:r>
          </a:p>
        </p:txBody>
      </p:sp>
      <p:cxnSp>
        <p:nvCxnSpPr>
          <p:cNvPr id="58" name="直接连接符 57">
            <a:extLst>
              <a:ext uri="{FF2B5EF4-FFF2-40B4-BE49-F238E27FC236}">
                <a16:creationId xmlns:a16="http://schemas.microsoft.com/office/drawing/2014/main" id="{A00BC02A-079E-4312-837C-31E4FBB35F53}"/>
              </a:ext>
            </a:extLst>
          </p:cNvPr>
          <p:cNvCxnSpPr/>
          <p:nvPr/>
        </p:nvCxnSpPr>
        <p:spPr>
          <a:xfrm>
            <a:off x="5696557" y="4478612"/>
            <a:ext cx="0" cy="1157120"/>
          </a:xfrm>
          <a:prstGeom prst="line">
            <a:avLst/>
          </a:prstGeom>
          <a:noFill/>
          <a:ln w="28575" cap="flat" cmpd="sng" algn="ctr">
            <a:solidFill>
              <a:sysClr val="windowText" lastClr="000000"/>
            </a:solidFill>
            <a:prstDash val="solid"/>
            <a:miter lim="800000"/>
          </a:ln>
          <a:effectLst/>
        </p:spPr>
      </p:cxnSp>
      <p:cxnSp>
        <p:nvCxnSpPr>
          <p:cNvPr id="59" name="直接连接符 58">
            <a:extLst>
              <a:ext uri="{FF2B5EF4-FFF2-40B4-BE49-F238E27FC236}">
                <a16:creationId xmlns:a16="http://schemas.microsoft.com/office/drawing/2014/main" id="{D23EE794-9B8D-4AD5-8E5D-E87CE1B58813}"/>
              </a:ext>
            </a:extLst>
          </p:cNvPr>
          <p:cNvCxnSpPr/>
          <p:nvPr/>
        </p:nvCxnSpPr>
        <p:spPr>
          <a:xfrm>
            <a:off x="6534735" y="4478612"/>
            <a:ext cx="0" cy="1157120"/>
          </a:xfrm>
          <a:prstGeom prst="line">
            <a:avLst/>
          </a:prstGeom>
          <a:noFill/>
          <a:ln w="28575" cap="flat" cmpd="sng" algn="ctr">
            <a:solidFill>
              <a:sysClr val="windowText" lastClr="000000"/>
            </a:solidFill>
            <a:prstDash val="solid"/>
            <a:miter lim="800000"/>
          </a:ln>
          <a:effectLst/>
        </p:spPr>
      </p:cxnSp>
      <p:sp>
        <p:nvSpPr>
          <p:cNvPr id="60" name="矩形 59">
            <a:extLst>
              <a:ext uri="{FF2B5EF4-FFF2-40B4-BE49-F238E27FC236}">
                <a16:creationId xmlns:a16="http://schemas.microsoft.com/office/drawing/2014/main" id="{802C5A4B-ED61-4B2A-9AB5-62D81424AF99}"/>
              </a:ext>
            </a:extLst>
          </p:cNvPr>
          <p:cNvSpPr/>
          <p:nvPr/>
        </p:nvSpPr>
        <p:spPr>
          <a:xfrm>
            <a:off x="5384385" y="4790479"/>
            <a:ext cx="1450323" cy="533386"/>
          </a:xfrm>
          <a:prstGeom prst="rect">
            <a:avLst/>
          </a:prstGeom>
          <a:solidFill>
            <a:srgbClr val="C1E0FF"/>
          </a:solidFill>
          <a:ln w="12700" cap="flat" cmpd="sng" algn="ctr">
            <a:solidFill>
              <a:srgbClr val="00B0F0"/>
            </a:solidFill>
            <a:prstDash val="solid"/>
            <a:miter lim="800000"/>
          </a:ln>
          <a:effectLst/>
        </p:spPr>
        <p:txBody>
          <a:bodyPr rot="0" spcFirstLastPara="0" vertOverflow="overflow" horzOverflow="overflow" vert="horz" wrap="square" lIns="91440" tIns="45720" rIns="91440" bIns="45720" numCol="1" spcCol="0" rtlCol="0" fromWordArt="0" anchor="ctr" anchorCtr="0" forceAA="0" compatLnSpc="1">
            <a:prstTxWarp prst="textNoShape">
              <a:avLst/>
            </a:prstTxWarp>
            <a:noAutofit/>
          </a:bodyPr>
          <a:lstStyle/>
          <a:p>
            <a:pPr marL="0" marR="0" lvl="0" indent="0" algn="ctr" defTabSz="914400" eaLnBrk="1" fontAlgn="auto" latinLnBrk="0" hangingPunct="1">
              <a:lnSpc>
                <a:spcPct val="100000"/>
              </a:lnSpc>
              <a:spcBef>
                <a:spcPts val="0"/>
              </a:spcBef>
              <a:spcAft>
                <a:spcPts val="0"/>
              </a:spcAft>
              <a:buClrTx/>
              <a:buSzTx/>
              <a:buFontTx/>
              <a:buNone/>
              <a:tabLst/>
              <a:defRPr/>
            </a:pPr>
            <a:r>
              <a:rPr kumimoji="0" lang="en-US" altLang="zh-CN"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rPr>
              <a:t>PHY (MAU)</a:t>
            </a:r>
            <a:endParaRPr kumimoji="0" lang="zh-CN" altLang="en-US" sz="1200" b="0" i="0" u="none" strike="noStrike" kern="0" cap="none" spc="0" normalizeH="0" baseline="0" noProof="0" dirty="0">
              <a:ln>
                <a:noFill/>
              </a:ln>
              <a:solidFill>
                <a:srgbClr val="70AD47">
                  <a:lumMod val="50000"/>
                </a:srgbClr>
              </a:solidFill>
              <a:effectLst/>
              <a:uLnTx/>
              <a:uFillTx/>
              <a:latin typeface="微软雅黑" panose="020B0503020204020204" pitchFamily="34" charset="-122"/>
              <a:ea typeface="微软雅黑" panose="020B0503020204020204" pitchFamily="34" charset="-122"/>
              <a:cs typeface="+mn-cs"/>
            </a:endParaRPr>
          </a:p>
        </p:txBody>
      </p:sp>
      <p:cxnSp>
        <p:nvCxnSpPr>
          <p:cNvPr id="61" name="直接连接符 60">
            <a:extLst>
              <a:ext uri="{FF2B5EF4-FFF2-40B4-BE49-F238E27FC236}">
                <a16:creationId xmlns:a16="http://schemas.microsoft.com/office/drawing/2014/main" id="{4454D751-6C9F-492F-95E5-F0C640FD8A02}"/>
              </a:ext>
            </a:extLst>
          </p:cNvPr>
          <p:cNvCxnSpPr>
            <a:cxnSpLocks/>
            <a:stCxn id="48" idx="2"/>
            <a:endCxn id="49" idx="0"/>
          </p:cNvCxnSpPr>
          <p:nvPr/>
        </p:nvCxnSpPr>
        <p:spPr>
          <a:xfrm>
            <a:off x="6109547" y="3657594"/>
            <a:ext cx="0" cy="287632"/>
          </a:xfrm>
          <a:prstGeom prst="line">
            <a:avLst/>
          </a:prstGeom>
          <a:noFill/>
          <a:ln w="28575" cap="flat" cmpd="sng" algn="ctr">
            <a:solidFill>
              <a:sysClr val="windowText" lastClr="000000"/>
            </a:solidFill>
            <a:prstDash val="solid"/>
            <a:miter lim="800000"/>
          </a:ln>
          <a:effectLst/>
        </p:spPr>
      </p:cxnSp>
      <p:sp>
        <p:nvSpPr>
          <p:cNvPr id="62" name="文本框 61">
            <a:extLst>
              <a:ext uri="{FF2B5EF4-FFF2-40B4-BE49-F238E27FC236}">
                <a16:creationId xmlns:a16="http://schemas.microsoft.com/office/drawing/2014/main" id="{33077121-3E43-4B25-A19A-5A1FF41E3D91}"/>
              </a:ext>
            </a:extLst>
          </p:cNvPr>
          <p:cNvSpPr txBox="1"/>
          <p:nvPr/>
        </p:nvSpPr>
        <p:spPr>
          <a:xfrm>
            <a:off x="4304070" y="2980814"/>
            <a:ext cx="668606" cy="276999"/>
          </a:xfrm>
          <a:prstGeom prst="rect">
            <a:avLst/>
          </a:prstGeom>
          <a:noFill/>
        </p:spPr>
        <p:txBody>
          <a:bodyPr wrap="square" rtlCol="0">
            <a:spAutoFit/>
          </a:bodyPr>
          <a:lstStyle/>
          <a:p>
            <a:r>
              <a:rPr lang="zh-CN" altLang="en-US" sz="1200" i="0" baseline="0" dirty="0">
                <a:solidFill>
                  <a:prstClr val="black"/>
                </a:solidFill>
                <a:latin typeface="微软雅黑" panose="020B0503020204020204" pitchFamily="34" charset="-122"/>
                <a:ea typeface="微软雅黑" panose="020B0503020204020204" pitchFamily="34" charset="-122"/>
              </a:rPr>
              <a:t>网卡</a:t>
            </a:r>
          </a:p>
        </p:txBody>
      </p:sp>
      <p:sp>
        <p:nvSpPr>
          <p:cNvPr id="63" name="文本框 62">
            <a:extLst>
              <a:ext uri="{FF2B5EF4-FFF2-40B4-BE49-F238E27FC236}">
                <a16:creationId xmlns:a16="http://schemas.microsoft.com/office/drawing/2014/main" id="{DBC8CC7B-09F0-4271-AFFB-64DFB24ADE3F}"/>
              </a:ext>
            </a:extLst>
          </p:cNvPr>
          <p:cNvSpPr txBox="1"/>
          <p:nvPr/>
        </p:nvSpPr>
        <p:spPr>
          <a:xfrm>
            <a:off x="4352033" y="4253029"/>
            <a:ext cx="972115" cy="461665"/>
          </a:xfrm>
          <a:prstGeom prst="rect">
            <a:avLst/>
          </a:prstGeom>
          <a:noFill/>
        </p:spPr>
        <p:txBody>
          <a:bodyPr wrap="square" rtlCol="0">
            <a:spAutoFit/>
          </a:bodyPr>
          <a:lstStyle/>
          <a:p>
            <a:pPr algn="ctr"/>
            <a:r>
              <a:rPr lang="zh-CN" altLang="en-US" sz="1200" b="0" i="0" baseline="0" dirty="0">
                <a:solidFill>
                  <a:prstClr val="black"/>
                </a:solidFill>
                <a:latin typeface="微软雅黑" panose="020B0503020204020204" pitchFamily="34" charset="-122"/>
                <a:ea typeface="微软雅黑" panose="020B0503020204020204" pitchFamily="34" charset="-122"/>
              </a:rPr>
              <a:t>存放</a:t>
            </a:r>
            <a:endParaRPr lang="en-US" altLang="zh-CN" sz="1200" b="0" i="0" baseline="0" dirty="0">
              <a:solidFill>
                <a:prstClr val="black"/>
              </a:solidFill>
              <a:latin typeface="微软雅黑" panose="020B0503020204020204" pitchFamily="34" charset="-122"/>
              <a:ea typeface="微软雅黑" panose="020B0503020204020204" pitchFamily="34" charset="-122"/>
            </a:endParaRPr>
          </a:p>
          <a:p>
            <a:pPr algn="ctr"/>
            <a:r>
              <a:rPr lang="en-US" altLang="zh-CN" sz="1200" b="0" i="0" baseline="0" dirty="0">
                <a:solidFill>
                  <a:srgbClr val="558ED5"/>
                </a:solidFill>
                <a:latin typeface="微软雅黑" panose="020B0503020204020204" pitchFamily="34" charset="-122"/>
                <a:ea typeface="微软雅黑" panose="020B0503020204020204" pitchFamily="34" charset="-122"/>
              </a:rPr>
              <a:t>MAC</a:t>
            </a:r>
            <a:r>
              <a:rPr lang="zh-CN" altLang="en-US" sz="1200" b="0" i="0" baseline="0" dirty="0">
                <a:solidFill>
                  <a:srgbClr val="558ED5"/>
                </a:solidFill>
                <a:latin typeface="微软雅黑" panose="020B0503020204020204" pitchFamily="34" charset="-122"/>
                <a:ea typeface="微软雅黑" panose="020B0503020204020204" pitchFamily="34" charset="-122"/>
              </a:rPr>
              <a:t>地址</a:t>
            </a:r>
          </a:p>
        </p:txBody>
      </p:sp>
      <p:sp>
        <p:nvSpPr>
          <p:cNvPr id="64" name="文本框 63">
            <a:extLst>
              <a:ext uri="{FF2B5EF4-FFF2-40B4-BE49-F238E27FC236}">
                <a16:creationId xmlns:a16="http://schemas.microsoft.com/office/drawing/2014/main" id="{E796788F-E40E-43F8-AED0-C12561230083}"/>
              </a:ext>
            </a:extLst>
          </p:cNvPr>
          <p:cNvSpPr txBox="1"/>
          <p:nvPr/>
        </p:nvSpPr>
        <p:spPr>
          <a:xfrm>
            <a:off x="4262045" y="5353038"/>
            <a:ext cx="1192669"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发送用信号线</a:t>
            </a:r>
          </a:p>
        </p:txBody>
      </p:sp>
      <p:sp>
        <p:nvSpPr>
          <p:cNvPr id="65" name="文本框 64">
            <a:extLst>
              <a:ext uri="{FF2B5EF4-FFF2-40B4-BE49-F238E27FC236}">
                <a16:creationId xmlns:a16="http://schemas.microsoft.com/office/drawing/2014/main" id="{BE39A581-0749-4CB3-BD91-88F8E83FFB82}"/>
              </a:ext>
            </a:extLst>
          </p:cNvPr>
          <p:cNvSpPr txBox="1"/>
          <p:nvPr/>
        </p:nvSpPr>
        <p:spPr>
          <a:xfrm>
            <a:off x="6839528" y="5343323"/>
            <a:ext cx="1219168"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接收用信号线</a:t>
            </a:r>
          </a:p>
        </p:txBody>
      </p:sp>
      <p:cxnSp>
        <p:nvCxnSpPr>
          <p:cNvPr id="66" name="直接连接符 65">
            <a:extLst>
              <a:ext uri="{FF2B5EF4-FFF2-40B4-BE49-F238E27FC236}">
                <a16:creationId xmlns:a16="http://schemas.microsoft.com/office/drawing/2014/main" id="{2E3F0863-C6A3-4ACD-B062-88F2F38AC256}"/>
              </a:ext>
            </a:extLst>
          </p:cNvPr>
          <p:cNvCxnSpPr/>
          <p:nvPr/>
        </p:nvCxnSpPr>
        <p:spPr>
          <a:xfrm>
            <a:off x="5324148" y="5491537"/>
            <a:ext cx="372409" cy="0"/>
          </a:xfrm>
          <a:prstGeom prst="line">
            <a:avLst/>
          </a:prstGeom>
          <a:noFill/>
          <a:ln w="19050" cap="flat" cmpd="sng" algn="ctr">
            <a:solidFill>
              <a:srgbClr val="00B0F0"/>
            </a:solidFill>
            <a:prstDash val="sysDash"/>
            <a:miter lim="800000"/>
            <a:tailEnd type="oval"/>
          </a:ln>
          <a:effectLst/>
        </p:spPr>
      </p:cxnSp>
      <p:cxnSp>
        <p:nvCxnSpPr>
          <p:cNvPr id="67" name="直接连接符 66">
            <a:extLst>
              <a:ext uri="{FF2B5EF4-FFF2-40B4-BE49-F238E27FC236}">
                <a16:creationId xmlns:a16="http://schemas.microsoft.com/office/drawing/2014/main" id="{A0DBC3B2-ED48-48B3-85D3-2BAFB4145142}"/>
              </a:ext>
            </a:extLst>
          </p:cNvPr>
          <p:cNvCxnSpPr>
            <a:cxnSpLocks/>
            <a:stCxn id="65" idx="1"/>
          </p:cNvCxnSpPr>
          <p:nvPr/>
        </p:nvCxnSpPr>
        <p:spPr>
          <a:xfrm flipH="1">
            <a:off x="6537298" y="5481823"/>
            <a:ext cx="302230" cy="0"/>
          </a:xfrm>
          <a:prstGeom prst="line">
            <a:avLst/>
          </a:prstGeom>
          <a:noFill/>
          <a:ln w="19050" cap="flat" cmpd="sng" algn="ctr">
            <a:solidFill>
              <a:srgbClr val="00B0F0"/>
            </a:solidFill>
            <a:prstDash val="sysDash"/>
            <a:miter lim="800000"/>
            <a:tailEnd type="oval"/>
          </a:ln>
          <a:effectLst/>
        </p:spPr>
      </p:cxnSp>
      <p:cxnSp>
        <p:nvCxnSpPr>
          <p:cNvPr id="68" name="直接连接符 67">
            <a:extLst>
              <a:ext uri="{FF2B5EF4-FFF2-40B4-BE49-F238E27FC236}">
                <a16:creationId xmlns:a16="http://schemas.microsoft.com/office/drawing/2014/main" id="{725FE16B-542A-4AC8-A0E8-D330CE3FA0D4}"/>
              </a:ext>
            </a:extLst>
          </p:cNvPr>
          <p:cNvCxnSpPr>
            <a:cxnSpLocks/>
          </p:cNvCxnSpPr>
          <p:nvPr/>
        </p:nvCxnSpPr>
        <p:spPr>
          <a:xfrm>
            <a:off x="6131647" y="6169118"/>
            <a:ext cx="0" cy="440277"/>
          </a:xfrm>
          <a:prstGeom prst="line">
            <a:avLst/>
          </a:prstGeom>
          <a:noFill/>
          <a:ln w="28575" cap="flat" cmpd="sng" algn="ctr">
            <a:solidFill>
              <a:sysClr val="windowText" lastClr="000000"/>
            </a:solidFill>
            <a:prstDash val="solid"/>
            <a:miter lim="800000"/>
          </a:ln>
          <a:effectLst/>
        </p:spPr>
      </p:cxnSp>
      <p:sp>
        <p:nvSpPr>
          <p:cNvPr id="69" name="文本框 68">
            <a:extLst>
              <a:ext uri="{FF2B5EF4-FFF2-40B4-BE49-F238E27FC236}">
                <a16:creationId xmlns:a16="http://schemas.microsoft.com/office/drawing/2014/main" id="{AA336D46-FD68-4513-9AFD-E8056B268FAF}"/>
              </a:ext>
            </a:extLst>
          </p:cNvPr>
          <p:cNvSpPr txBox="1"/>
          <p:nvPr/>
        </p:nvSpPr>
        <p:spPr>
          <a:xfrm>
            <a:off x="6052414" y="6213238"/>
            <a:ext cx="576972" cy="461665"/>
          </a:xfrm>
          <a:prstGeom prst="rect">
            <a:avLst/>
          </a:prstGeom>
          <a:noFill/>
        </p:spPr>
        <p:txBody>
          <a:bodyPr wrap="square" rtlCol="0">
            <a:spAutoFit/>
          </a:bodyPr>
          <a:lstStyle/>
          <a:p>
            <a:pPr algn="ctr"/>
            <a:r>
              <a:rPr lang="en-US" altLang="zh-CN" sz="1200" b="0" i="0" baseline="0" dirty="0">
                <a:solidFill>
                  <a:prstClr val="black"/>
                </a:solidFill>
                <a:latin typeface="微软雅黑" panose="020B0503020204020204" pitchFamily="34" charset="-122"/>
                <a:ea typeface="微软雅黑" panose="020B0503020204020204" pitchFamily="34" charset="-122"/>
              </a:rPr>
              <a:t>LAN</a:t>
            </a:r>
          </a:p>
          <a:p>
            <a:pPr algn="ctr"/>
            <a:r>
              <a:rPr lang="zh-CN" altLang="en-US" sz="1200" b="0" i="0" baseline="0" dirty="0">
                <a:solidFill>
                  <a:prstClr val="black"/>
                </a:solidFill>
                <a:latin typeface="微软雅黑" panose="020B0503020204020204" pitchFamily="34" charset="-122"/>
                <a:ea typeface="微软雅黑" panose="020B0503020204020204" pitchFamily="34" charset="-122"/>
              </a:rPr>
              <a:t>网线</a:t>
            </a:r>
          </a:p>
        </p:txBody>
      </p:sp>
      <p:sp>
        <p:nvSpPr>
          <p:cNvPr id="70" name="6652b372-c0f5-4ce2-aad4-1f21b37634c4">
            <a:extLst>
              <a:ext uri="{FF2B5EF4-FFF2-40B4-BE49-F238E27FC236}">
                <a16:creationId xmlns:a16="http://schemas.microsoft.com/office/drawing/2014/main" id="{BDDF62E8-9E09-4F8A-BF8D-C84911673510}"/>
              </a:ext>
            </a:extLst>
          </p:cNvPr>
          <p:cNvSpPr/>
          <p:nvPr/>
        </p:nvSpPr>
        <p:spPr>
          <a:xfrm>
            <a:off x="2801033" y="4580382"/>
            <a:ext cx="728535" cy="609685"/>
          </a:xfrm>
          <a:custGeom>
            <a:avLst/>
            <a:gdLst>
              <a:gd name="connsiteX0" fmla="*/ 372122 w 2229007"/>
              <a:gd name="connsiteY0" fmla="*/ 1760277 h 2230500"/>
              <a:gd name="connsiteX1" fmla="*/ 583058 w 2229007"/>
              <a:gd name="connsiteY1" fmla="*/ 1760277 h 2230500"/>
              <a:gd name="connsiteX2" fmla="*/ 636787 w 2229007"/>
              <a:gd name="connsiteY2" fmla="*/ 1814006 h 2230500"/>
              <a:gd name="connsiteX3" fmla="*/ 636787 w 2229007"/>
              <a:gd name="connsiteY3" fmla="*/ 1864252 h 2230500"/>
              <a:gd name="connsiteX4" fmla="*/ 583058 w 2229007"/>
              <a:gd name="connsiteY4" fmla="*/ 1917981 h 2230500"/>
              <a:gd name="connsiteX5" fmla="*/ 372122 w 2229007"/>
              <a:gd name="connsiteY5" fmla="*/ 1917981 h 2230500"/>
              <a:gd name="connsiteX6" fmla="*/ 371998 w 2229007"/>
              <a:gd name="connsiteY6" fmla="*/ 1917981 h 2230500"/>
              <a:gd name="connsiteX7" fmla="*/ 318393 w 2229007"/>
              <a:gd name="connsiteY7" fmla="*/ 1864252 h 2230500"/>
              <a:gd name="connsiteX8" fmla="*/ 318393 w 2229007"/>
              <a:gd name="connsiteY8" fmla="*/ 1814006 h 2230500"/>
              <a:gd name="connsiteX9" fmla="*/ 372122 w 2229007"/>
              <a:gd name="connsiteY9" fmla="*/ 1760277 h 2230500"/>
              <a:gd name="connsiteX10" fmla="*/ 1825168 w 2229007"/>
              <a:gd name="connsiteY10" fmla="*/ 1760121 h 2230500"/>
              <a:gd name="connsiteX11" fmla="*/ 1826785 w 2229007"/>
              <a:gd name="connsiteY11" fmla="*/ 1760121 h 2230500"/>
              <a:gd name="connsiteX12" fmla="*/ 1905637 w 2229007"/>
              <a:gd name="connsiteY12" fmla="*/ 1838880 h 2230500"/>
              <a:gd name="connsiteX13" fmla="*/ 1905637 w 2229007"/>
              <a:gd name="connsiteY13" fmla="*/ 1839129 h 2230500"/>
              <a:gd name="connsiteX14" fmla="*/ 1826785 w 2229007"/>
              <a:gd name="connsiteY14" fmla="*/ 1917981 h 2230500"/>
              <a:gd name="connsiteX15" fmla="*/ 1825168 w 2229007"/>
              <a:gd name="connsiteY15" fmla="*/ 1917981 h 2230500"/>
              <a:gd name="connsiteX16" fmla="*/ 1825044 w 2229007"/>
              <a:gd name="connsiteY16" fmla="*/ 1917981 h 2230500"/>
              <a:gd name="connsiteX17" fmla="*/ 1825012 w 2229007"/>
              <a:gd name="connsiteY17" fmla="*/ 1917981 h 2230500"/>
              <a:gd name="connsiteX18" fmla="*/ 1746316 w 2229007"/>
              <a:gd name="connsiteY18" fmla="*/ 1839222 h 2230500"/>
              <a:gd name="connsiteX19" fmla="*/ 1746316 w 2229007"/>
              <a:gd name="connsiteY19" fmla="*/ 1838974 h 2230500"/>
              <a:gd name="connsiteX20" fmla="*/ 1825168 w 2229007"/>
              <a:gd name="connsiteY20" fmla="*/ 1760121 h 2230500"/>
              <a:gd name="connsiteX21" fmla="*/ 1506650 w 2229007"/>
              <a:gd name="connsiteY21" fmla="*/ 1760121 h 2230500"/>
              <a:gd name="connsiteX22" fmla="*/ 1508391 w 2229007"/>
              <a:gd name="connsiteY22" fmla="*/ 1760121 h 2230500"/>
              <a:gd name="connsiteX23" fmla="*/ 1587243 w 2229007"/>
              <a:gd name="connsiteY23" fmla="*/ 1838880 h 2230500"/>
              <a:gd name="connsiteX24" fmla="*/ 1587243 w 2229007"/>
              <a:gd name="connsiteY24" fmla="*/ 1839129 h 2230500"/>
              <a:gd name="connsiteX25" fmla="*/ 1508391 w 2229007"/>
              <a:gd name="connsiteY25" fmla="*/ 1917981 h 2230500"/>
              <a:gd name="connsiteX26" fmla="*/ 1506650 w 2229007"/>
              <a:gd name="connsiteY26" fmla="*/ 1917981 h 2230500"/>
              <a:gd name="connsiteX27" fmla="*/ 1506650 w 2229007"/>
              <a:gd name="connsiteY27" fmla="*/ 1918075 h 2230500"/>
              <a:gd name="connsiteX28" fmla="*/ 1506401 w 2229007"/>
              <a:gd name="connsiteY28" fmla="*/ 1918075 h 2230500"/>
              <a:gd name="connsiteX29" fmla="*/ 1427797 w 2229007"/>
              <a:gd name="connsiteY29" fmla="*/ 1839222 h 2230500"/>
              <a:gd name="connsiteX30" fmla="*/ 1427797 w 2229007"/>
              <a:gd name="connsiteY30" fmla="*/ 1838974 h 2230500"/>
              <a:gd name="connsiteX31" fmla="*/ 1506650 w 2229007"/>
              <a:gd name="connsiteY31" fmla="*/ 1760121 h 2230500"/>
              <a:gd name="connsiteX32" fmla="*/ 1190867 w 2229007"/>
              <a:gd name="connsiteY32" fmla="*/ 1760121 h 2230500"/>
              <a:gd name="connsiteX33" fmla="*/ 1192484 w 2229007"/>
              <a:gd name="connsiteY33" fmla="*/ 1760121 h 2230500"/>
              <a:gd name="connsiteX34" fmla="*/ 1271336 w 2229007"/>
              <a:gd name="connsiteY34" fmla="*/ 1838880 h 2230500"/>
              <a:gd name="connsiteX35" fmla="*/ 1271336 w 2229007"/>
              <a:gd name="connsiteY35" fmla="*/ 1839129 h 2230500"/>
              <a:gd name="connsiteX36" fmla="*/ 1192484 w 2229007"/>
              <a:gd name="connsiteY36" fmla="*/ 1917981 h 2230500"/>
              <a:gd name="connsiteX37" fmla="*/ 1190867 w 2229007"/>
              <a:gd name="connsiteY37" fmla="*/ 1917981 h 2230500"/>
              <a:gd name="connsiteX38" fmla="*/ 1190743 w 2229007"/>
              <a:gd name="connsiteY38" fmla="*/ 1917981 h 2230500"/>
              <a:gd name="connsiteX39" fmla="*/ 1190712 w 2229007"/>
              <a:gd name="connsiteY39" fmla="*/ 1917981 h 2230500"/>
              <a:gd name="connsiteX40" fmla="*/ 1112015 w 2229007"/>
              <a:gd name="connsiteY40" fmla="*/ 1839222 h 2230500"/>
              <a:gd name="connsiteX41" fmla="*/ 1112015 w 2229007"/>
              <a:gd name="connsiteY41" fmla="*/ 1838974 h 2230500"/>
              <a:gd name="connsiteX42" fmla="*/ 1190867 w 2229007"/>
              <a:gd name="connsiteY42" fmla="*/ 1760121 h 2230500"/>
              <a:gd name="connsiteX43" fmla="*/ 872349 w 2229007"/>
              <a:gd name="connsiteY43" fmla="*/ 1760121 h 2230500"/>
              <a:gd name="connsiteX44" fmla="*/ 874090 w 2229007"/>
              <a:gd name="connsiteY44" fmla="*/ 1760121 h 2230500"/>
              <a:gd name="connsiteX45" fmla="*/ 952942 w 2229007"/>
              <a:gd name="connsiteY45" fmla="*/ 1838880 h 2230500"/>
              <a:gd name="connsiteX46" fmla="*/ 952942 w 2229007"/>
              <a:gd name="connsiteY46" fmla="*/ 1839129 h 2230500"/>
              <a:gd name="connsiteX47" fmla="*/ 874090 w 2229007"/>
              <a:gd name="connsiteY47" fmla="*/ 1917981 h 2230500"/>
              <a:gd name="connsiteX48" fmla="*/ 872349 w 2229007"/>
              <a:gd name="connsiteY48" fmla="*/ 1917981 h 2230500"/>
              <a:gd name="connsiteX49" fmla="*/ 872349 w 2229007"/>
              <a:gd name="connsiteY49" fmla="*/ 1918075 h 2230500"/>
              <a:gd name="connsiteX50" fmla="*/ 872100 w 2229007"/>
              <a:gd name="connsiteY50" fmla="*/ 1918075 h 2230500"/>
              <a:gd name="connsiteX51" fmla="*/ 793497 w 2229007"/>
              <a:gd name="connsiteY51" fmla="*/ 1839222 h 2230500"/>
              <a:gd name="connsiteX52" fmla="*/ 793497 w 2229007"/>
              <a:gd name="connsiteY52" fmla="*/ 1838974 h 2230500"/>
              <a:gd name="connsiteX53" fmla="*/ 872349 w 2229007"/>
              <a:gd name="connsiteY53" fmla="*/ 1760121 h 2230500"/>
              <a:gd name="connsiteX54" fmla="*/ 372122 w 2229007"/>
              <a:gd name="connsiteY54" fmla="*/ 1443127 h 2230500"/>
              <a:gd name="connsiteX55" fmla="*/ 583058 w 2229007"/>
              <a:gd name="connsiteY55" fmla="*/ 1443127 h 2230500"/>
              <a:gd name="connsiteX56" fmla="*/ 636787 w 2229007"/>
              <a:gd name="connsiteY56" fmla="*/ 1496856 h 2230500"/>
              <a:gd name="connsiteX57" fmla="*/ 636787 w 2229007"/>
              <a:gd name="connsiteY57" fmla="*/ 1547102 h 2230500"/>
              <a:gd name="connsiteX58" fmla="*/ 583058 w 2229007"/>
              <a:gd name="connsiteY58" fmla="*/ 1600831 h 2230500"/>
              <a:gd name="connsiteX59" fmla="*/ 372122 w 2229007"/>
              <a:gd name="connsiteY59" fmla="*/ 1600831 h 2230500"/>
              <a:gd name="connsiteX60" fmla="*/ 318393 w 2229007"/>
              <a:gd name="connsiteY60" fmla="*/ 1547102 h 2230500"/>
              <a:gd name="connsiteX61" fmla="*/ 318393 w 2229007"/>
              <a:gd name="connsiteY61" fmla="*/ 1496856 h 2230500"/>
              <a:gd name="connsiteX62" fmla="*/ 372122 w 2229007"/>
              <a:gd name="connsiteY62" fmla="*/ 1443127 h 2230500"/>
              <a:gd name="connsiteX63" fmla="*/ 1825168 w 2229007"/>
              <a:gd name="connsiteY63" fmla="*/ 1442971 h 2230500"/>
              <a:gd name="connsiteX64" fmla="*/ 1826785 w 2229007"/>
              <a:gd name="connsiteY64" fmla="*/ 1442971 h 2230500"/>
              <a:gd name="connsiteX65" fmla="*/ 1905637 w 2229007"/>
              <a:gd name="connsiteY65" fmla="*/ 1521730 h 2230500"/>
              <a:gd name="connsiteX66" fmla="*/ 1905637 w 2229007"/>
              <a:gd name="connsiteY66" fmla="*/ 1521979 h 2230500"/>
              <a:gd name="connsiteX67" fmla="*/ 1826785 w 2229007"/>
              <a:gd name="connsiteY67" fmla="*/ 1600831 h 2230500"/>
              <a:gd name="connsiteX68" fmla="*/ 1825168 w 2229007"/>
              <a:gd name="connsiteY68" fmla="*/ 1600831 h 2230500"/>
              <a:gd name="connsiteX69" fmla="*/ 1746316 w 2229007"/>
              <a:gd name="connsiteY69" fmla="*/ 1522072 h 2230500"/>
              <a:gd name="connsiteX70" fmla="*/ 1746316 w 2229007"/>
              <a:gd name="connsiteY70" fmla="*/ 1521823 h 2230500"/>
              <a:gd name="connsiteX71" fmla="*/ 1825168 w 2229007"/>
              <a:gd name="connsiteY71" fmla="*/ 1442971 h 2230500"/>
              <a:gd name="connsiteX72" fmla="*/ 1506650 w 2229007"/>
              <a:gd name="connsiteY72" fmla="*/ 1442971 h 2230500"/>
              <a:gd name="connsiteX73" fmla="*/ 1508391 w 2229007"/>
              <a:gd name="connsiteY73" fmla="*/ 1442971 h 2230500"/>
              <a:gd name="connsiteX74" fmla="*/ 1587243 w 2229007"/>
              <a:gd name="connsiteY74" fmla="*/ 1521730 h 2230500"/>
              <a:gd name="connsiteX75" fmla="*/ 1587243 w 2229007"/>
              <a:gd name="connsiteY75" fmla="*/ 1521979 h 2230500"/>
              <a:gd name="connsiteX76" fmla="*/ 1508391 w 2229007"/>
              <a:gd name="connsiteY76" fmla="*/ 1600831 h 2230500"/>
              <a:gd name="connsiteX77" fmla="*/ 1506650 w 2229007"/>
              <a:gd name="connsiteY77" fmla="*/ 1600831 h 2230500"/>
              <a:gd name="connsiteX78" fmla="*/ 1506650 w 2229007"/>
              <a:gd name="connsiteY78" fmla="*/ 1600924 h 2230500"/>
              <a:gd name="connsiteX79" fmla="*/ 1427797 w 2229007"/>
              <a:gd name="connsiteY79" fmla="*/ 1522072 h 2230500"/>
              <a:gd name="connsiteX80" fmla="*/ 1427797 w 2229007"/>
              <a:gd name="connsiteY80" fmla="*/ 1521823 h 2230500"/>
              <a:gd name="connsiteX81" fmla="*/ 1506650 w 2229007"/>
              <a:gd name="connsiteY81" fmla="*/ 1442971 h 2230500"/>
              <a:gd name="connsiteX82" fmla="*/ 1190867 w 2229007"/>
              <a:gd name="connsiteY82" fmla="*/ 1442971 h 2230500"/>
              <a:gd name="connsiteX83" fmla="*/ 1192484 w 2229007"/>
              <a:gd name="connsiteY83" fmla="*/ 1442971 h 2230500"/>
              <a:gd name="connsiteX84" fmla="*/ 1271336 w 2229007"/>
              <a:gd name="connsiteY84" fmla="*/ 1521730 h 2230500"/>
              <a:gd name="connsiteX85" fmla="*/ 1271336 w 2229007"/>
              <a:gd name="connsiteY85" fmla="*/ 1521979 h 2230500"/>
              <a:gd name="connsiteX86" fmla="*/ 1192484 w 2229007"/>
              <a:gd name="connsiteY86" fmla="*/ 1600831 h 2230500"/>
              <a:gd name="connsiteX87" fmla="*/ 1190867 w 2229007"/>
              <a:gd name="connsiteY87" fmla="*/ 1600831 h 2230500"/>
              <a:gd name="connsiteX88" fmla="*/ 1112015 w 2229007"/>
              <a:gd name="connsiteY88" fmla="*/ 1522072 h 2230500"/>
              <a:gd name="connsiteX89" fmla="*/ 1112015 w 2229007"/>
              <a:gd name="connsiteY89" fmla="*/ 1521823 h 2230500"/>
              <a:gd name="connsiteX90" fmla="*/ 1190867 w 2229007"/>
              <a:gd name="connsiteY90" fmla="*/ 1442971 h 2230500"/>
              <a:gd name="connsiteX91" fmla="*/ 872349 w 2229007"/>
              <a:gd name="connsiteY91" fmla="*/ 1442971 h 2230500"/>
              <a:gd name="connsiteX92" fmla="*/ 874090 w 2229007"/>
              <a:gd name="connsiteY92" fmla="*/ 1442971 h 2230500"/>
              <a:gd name="connsiteX93" fmla="*/ 952942 w 2229007"/>
              <a:gd name="connsiteY93" fmla="*/ 1521730 h 2230500"/>
              <a:gd name="connsiteX94" fmla="*/ 952942 w 2229007"/>
              <a:gd name="connsiteY94" fmla="*/ 1521979 h 2230500"/>
              <a:gd name="connsiteX95" fmla="*/ 874090 w 2229007"/>
              <a:gd name="connsiteY95" fmla="*/ 1600831 h 2230500"/>
              <a:gd name="connsiteX96" fmla="*/ 872349 w 2229007"/>
              <a:gd name="connsiteY96" fmla="*/ 1600831 h 2230500"/>
              <a:gd name="connsiteX97" fmla="*/ 872349 w 2229007"/>
              <a:gd name="connsiteY97" fmla="*/ 1600924 h 2230500"/>
              <a:gd name="connsiteX98" fmla="*/ 793497 w 2229007"/>
              <a:gd name="connsiteY98" fmla="*/ 1522072 h 2230500"/>
              <a:gd name="connsiteX99" fmla="*/ 793497 w 2229007"/>
              <a:gd name="connsiteY99" fmla="*/ 1521823 h 2230500"/>
              <a:gd name="connsiteX100" fmla="*/ 872349 w 2229007"/>
              <a:gd name="connsiteY100" fmla="*/ 1442971 h 2230500"/>
              <a:gd name="connsiteX101" fmla="*/ 159197 w 2229007"/>
              <a:gd name="connsiteY101" fmla="*/ 1278178 h 2230500"/>
              <a:gd name="connsiteX102" fmla="*/ 159197 w 2229007"/>
              <a:gd name="connsiteY102" fmla="*/ 2071209 h 2230500"/>
              <a:gd name="connsiteX103" fmla="*/ 2069561 w 2229007"/>
              <a:gd name="connsiteY103" fmla="*/ 2071209 h 2230500"/>
              <a:gd name="connsiteX104" fmla="*/ 2069561 w 2229007"/>
              <a:gd name="connsiteY104" fmla="*/ 1278178 h 2230500"/>
              <a:gd name="connsiteX105" fmla="*/ 1275815 w 2229007"/>
              <a:gd name="connsiteY105" fmla="*/ 583339 h 2230500"/>
              <a:gd name="connsiteX106" fmla="*/ 1268850 w 2229007"/>
              <a:gd name="connsiteY106" fmla="*/ 773007 h 2230500"/>
              <a:gd name="connsiteX107" fmla="*/ 485800 w 2229007"/>
              <a:gd name="connsiteY107" fmla="*/ 773007 h 2230500"/>
              <a:gd name="connsiteX108" fmla="*/ 466149 w 2229007"/>
              <a:gd name="connsiteY108" fmla="*/ 953721 h 2230500"/>
              <a:gd name="connsiteX109" fmla="*/ 1262134 w 2229007"/>
              <a:gd name="connsiteY109" fmla="*/ 953721 h 2230500"/>
              <a:gd name="connsiteX110" fmla="*/ 1255666 w 2229007"/>
              <a:gd name="connsiteY110" fmla="*/ 1126599 h 2230500"/>
              <a:gd name="connsiteX111" fmla="*/ 1801662 w 2229007"/>
              <a:gd name="connsiteY111" fmla="*/ 848253 h 2230500"/>
              <a:gd name="connsiteX112" fmla="*/ 1033288 w 2229007"/>
              <a:gd name="connsiteY112" fmla="*/ 163084 h 2230500"/>
              <a:gd name="connsiteX113" fmla="*/ 502466 w 2229007"/>
              <a:gd name="connsiteY113" fmla="*/ 408844 h 2230500"/>
              <a:gd name="connsiteX114" fmla="*/ 1002195 w 2229007"/>
              <a:gd name="connsiteY114" fmla="*/ 666296 h 2230500"/>
              <a:gd name="connsiteX115" fmla="*/ 1012891 w 2229007"/>
              <a:gd name="connsiteY115" fmla="*/ 494164 h 2230500"/>
              <a:gd name="connsiteX116" fmla="*/ 1798180 w 2229007"/>
              <a:gd name="connsiteY116" fmla="*/ 494164 h 2230500"/>
              <a:gd name="connsiteX117" fmla="*/ 1796190 w 2229007"/>
              <a:gd name="connsiteY117" fmla="*/ 327256 h 2230500"/>
              <a:gd name="connsiteX118" fmla="*/ 1022965 w 2229007"/>
              <a:gd name="connsiteY118" fmla="*/ 327256 h 2230500"/>
              <a:gd name="connsiteX119" fmla="*/ 248248 w 2229007"/>
              <a:gd name="connsiteY119" fmla="*/ 0 h 2230500"/>
              <a:gd name="connsiteX120" fmla="*/ 1985112 w 2229007"/>
              <a:gd name="connsiteY120" fmla="*/ 0 h 2230500"/>
              <a:gd name="connsiteX121" fmla="*/ 2063964 w 2229007"/>
              <a:gd name="connsiteY121" fmla="*/ 68654 h 2230500"/>
              <a:gd name="connsiteX122" fmla="*/ 2228758 w 2229007"/>
              <a:gd name="connsiteY122" fmla="*/ 1278178 h 2230500"/>
              <a:gd name="connsiteX123" fmla="*/ 2227017 w 2229007"/>
              <a:gd name="connsiteY123" fmla="*/ 1278209 h 2230500"/>
              <a:gd name="connsiteX124" fmla="*/ 2229007 w 2229007"/>
              <a:gd name="connsiteY124" fmla="*/ 1280199 h 2230500"/>
              <a:gd name="connsiteX125" fmla="*/ 2229007 w 2229007"/>
              <a:gd name="connsiteY125" fmla="*/ 2139459 h 2230500"/>
              <a:gd name="connsiteX126" fmla="*/ 2137966 w 2229007"/>
              <a:gd name="connsiteY126" fmla="*/ 2230500 h 2230500"/>
              <a:gd name="connsiteX127" fmla="*/ 91041 w 2229007"/>
              <a:gd name="connsiteY127" fmla="*/ 2230500 h 2230500"/>
              <a:gd name="connsiteX128" fmla="*/ 0 w 2229007"/>
              <a:gd name="connsiteY128" fmla="*/ 2139459 h 2230500"/>
              <a:gd name="connsiteX129" fmla="*/ 0 w 2229007"/>
              <a:gd name="connsiteY129" fmla="*/ 1280168 h 2230500"/>
              <a:gd name="connsiteX130" fmla="*/ 1990 w 2229007"/>
              <a:gd name="connsiteY130" fmla="*/ 1278178 h 2230500"/>
              <a:gd name="connsiteX131" fmla="*/ 0 w 2229007"/>
              <a:gd name="connsiteY131" fmla="*/ 1278178 h 2230500"/>
              <a:gd name="connsiteX132" fmla="*/ 169396 w 2229007"/>
              <a:gd name="connsiteY132" fmla="*/ 68405 h 2230500"/>
              <a:gd name="connsiteX133" fmla="*/ 248248 w 2229007"/>
              <a:gd name="connsiteY133" fmla="*/ 0 h 2230500"/>
            </a:gdLst>
            <a:ahLst/>
            <a:cxnLst>
              <a:cxn ang="0">
                <a:pos x="connsiteX0" y="connsiteY0"/>
              </a:cxn>
              <a:cxn ang="0">
                <a:pos x="connsiteX1" y="connsiteY1"/>
              </a:cxn>
              <a:cxn ang="0">
                <a:pos x="connsiteX2" y="connsiteY2"/>
              </a:cxn>
              <a:cxn ang="0">
                <a:pos x="connsiteX3" y="connsiteY3"/>
              </a:cxn>
              <a:cxn ang="0">
                <a:pos x="connsiteX4" y="connsiteY4"/>
              </a:cxn>
              <a:cxn ang="0">
                <a:pos x="connsiteX5" y="connsiteY5"/>
              </a:cxn>
              <a:cxn ang="0">
                <a:pos x="connsiteX6" y="connsiteY6"/>
              </a:cxn>
              <a:cxn ang="0">
                <a:pos x="connsiteX7" y="connsiteY7"/>
              </a:cxn>
              <a:cxn ang="0">
                <a:pos x="connsiteX8" y="connsiteY8"/>
              </a:cxn>
              <a:cxn ang="0">
                <a:pos x="connsiteX9" y="connsiteY9"/>
              </a:cxn>
              <a:cxn ang="0">
                <a:pos x="connsiteX10" y="connsiteY10"/>
              </a:cxn>
              <a:cxn ang="0">
                <a:pos x="connsiteX11" y="connsiteY11"/>
              </a:cxn>
              <a:cxn ang="0">
                <a:pos x="connsiteX12" y="connsiteY12"/>
              </a:cxn>
              <a:cxn ang="0">
                <a:pos x="connsiteX13" y="connsiteY13"/>
              </a:cxn>
              <a:cxn ang="0">
                <a:pos x="connsiteX14" y="connsiteY14"/>
              </a:cxn>
              <a:cxn ang="0">
                <a:pos x="connsiteX15" y="connsiteY15"/>
              </a:cxn>
              <a:cxn ang="0">
                <a:pos x="connsiteX16" y="connsiteY16"/>
              </a:cxn>
              <a:cxn ang="0">
                <a:pos x="connsiteX17" y="connsiteY17"/>
              </a:cxn>
              <a:cxn ang="0">
                <a:pos x="connsiteX18" y="connsiteY18"/>
              </a:cxn>
              <a:cxn ang="0">
                <a:pos x="connsiteX19" y="connsiteY19"/>
              </a:cxn>
              <a:cxn ang="0">
                <a:pos x="connsiteX20" y="connsiteY20"/>
              </a:cxn>
              <a:cxn ang="0">
                <a:pos x="connsiteX21" y="connsiteY21"/>
              </a:cxn>
              <a:cxn ang="0">
                <a:pos x="connsiteX22" y="connsiteY22"/>
              </a:cxn>
              <a:cxn ang="0">
                <a:pos x="connsiteX23" y="connsiteY23"/>
              </a:cxn>
              <a:cxn ang="0">
                <a:pos x="connsiteX24" y="connsiteY24"/>
              </a:cxn>
              <a:cxn ang="0">
                <a:pos x="connsiteX25" y="connsiteY25"/>
              </a:cxn>
              <a:cxn ang="0">
                <a:pos x="connsiteX26" y="connsiteY26"/>
              </a:cxn>
              <a:cxn ang="0">
                <a:pos x="connsiteX27" y="connsiteY27"/>
              </a:cxn>
              <a:cxn ang="0">
                <a:pos x="connsiteX28" y="connsiteY28"/>
              </a:cxn>
              <a:cxn ang="0">
                <a:pos x="connsiteX29" y="connsiteY29"/>
              </a:cxn>
              <a:cxn ang="0">
                <a:pos x="connsiteX30" y="connsiteY30"/>
              </a:cxn>
              <a:cxn ang="0">
                <a:pos x="connsiteX31" y="connsiteY31"/>
              </a:cxn>
              <a:cxn ang="0">
                <a:pos x="connsiteX32" y="connsiteY32"/>
              </a:cxn>
              <a:cxn ang="0">
                <a:pos x="connsiteX33" y="connsiteY33"/>
              </a:cxn>
              <a:cxn ang="0">
                <a:pos x="connsiteX34" y="connsiteY34"/>
              </a:cxn>
              <a:cxn ang="0">
                <a:pos x="connsiteX35" y="connsiteY35"/>
              </a:cxn>
              <a:cxn ang="0">
                <a:pos x="connsiteX36" y="connsiteY36"/>
              </a:cxn>
              <a:cxn ang="0">
                <a:pos x="connsiteX37" y="connsiteY37"/>
              </a:cxn>
              <a:cxn ang="0">
                <a:pos x="connsiteX38" y="connsiteY38"/>
              </a:cxn>
              <a:cxn ang="0">
                <a:pos x="connsiteX39" y="connsiteY39"/>
              </a:cxn>
              <a:cxn ang="0">
                <a:pos x="connsiteX40" y="connsiteY40"/>
              </a:cxn>
              <a:cxn ang="0">
                <a:pos x="connsiteX41" y="connsiteY41"/>
              </a:cxn>
              <a:cxn ang="0">
                <a:pos x="connsiteX42" y="connsiteY42"/>
              </a:cxn>
              <a:cxn ang="0">
                <a:pos x="connsiteX43" y="connsiteY43"/>
              </a:cxn>
              <a:cxn ang="0">
                <a:pos x="connsiteX44" y="connsiteY44"/>
              </a:cxn>
              <a:cxn ang="0">
                <a:pos x="connsiteX45" y="connsiteY45"/>
              </a:cxn>
              <a:cxn ang="0">
                <a:pos x="connsiteX46" y="connsiteY46"/>
              </a:cxn>
              <a:cxn ang="0">
                <a:pos x="connsiteX47" y="connsiteY47"/>
              </a:cxn>
              <a:cxn ang="0">
                <a:pos x="connsiteX48" y="connsiteY48"/>
              </a:cxn>
              <a:cxn ang="0">
                <a:pos x="connsiteX49" y="connsiteY49"/>
              </a:cxn>
              <a:cxn ang="0">
                <a:pos x="connsiteX50" y="connsiteY50"/>
              </a:cxn>
              <a:cxn ang="0">
                <a:pos x="connsiteX51" y="connsiteY51"/>
              </a:cxn>
              <a:cxn ang="0">
                <a:pos x="connsiteX52" y="connsiteY52"/>
              </a:cxn>
              <a:cxn ang="0">
                <a:pos x="connsiteX53" y="connsiteY53"/>
              </a:cxn>
              <a:cxn ang="0">
                <a:pos x="connsiteX54" y="connsiteY54"/>
              </a:cxn>
              <a:cxn ang="0">
                <a:pos x="connsiteX55" y="connsiteY55"/>
              </a:cxn>
              <a:cxn ang="0">
                <a:pos x="connsiteX56" y="connsiteY56"/>
              </a:cxn>
              <a:cxn ang="0">
                <a:pos x="connsiteX57" y="connsiteY57"/>
              </a:cxn>
              <a:cxn ang="0">
                <a:pos x="connsiteX58" y="connsiteY58"/>
              </a:cxn>
              <a:cxn ang="0">
                <a:pos x="connsiteX59" y="connsiteY59"/>
              </a:cxn>
              <a:cxn ang="0">
                <a:pos x="connsiteX60" y="connsiteY60"/>
              </a:cxn>
              <a:cxn ang="0">
                <a:pos x="connsiteX61" y="connsiteY61"/>
              </a:cxn>
              <a:cxn ang="0">
                <a:pos x="connsiteX62" y="connsiteY62"/>
              </a:cxn>
              <a:cxn ang="0">
                <a:pos x="connsiteX63" y="connsiteY63"/>
              </a:cxn>
              <a:cxn ang="0">
                <a:pos x="connsiteX64" y="connsiteY64"/>
              </a:cxn>
              <a:cxn ang="0">
                <a:pos x="connsiteX65" y="connsiteY65"/>
              </a:cxn>
              <a:cxn ang="0">
                <a:pos x="connsiteX66" y="connsiteY66"/>
              </a:cxn>
              <a:cxn ang="0">
                <a:pos x="connsiteX67" y="connsiteY67"/>
              </a:cxn>
              <a:cxn ang="0">
                <a:pos x="connsiteX68" y="connsiteY68"/>
              </a:cxn>
              <a:cxn ang="0">
                <a:pos x="connsiteX69" y="connsiteY69"/>
              </a:cxn>
              <a:cxn ang="0">
                <a:pos x="connsiteX70" y="connsiteY70"/>
              </a:cxn>
              <a:cxn ang="0">
                <a:pos x="connsiteX71" y="connsiteY71"/>
              </a:cxn>
              <a:cxn ang="0">
                <a:pos x="connsiteX72" y="connsiteY72"/>
              </a:cxn>
              <a:cxn ang="0">
                <a:pos x="connsiteX73" y="connsiteY73"/>
              </a:cxn>
              <a:cxn ang="0">
                <a:pos x="connsiteX74" y="connsiteY74"/>
              </a:cxn>
              <a:cxn ang="0">
                <a:pos x="connsiteX75" y="connsiteY75"/>
              </a:cxn>
              <a:cxn ang="0">
                <a:pos x="connsiteX76" y="connsiteY76"/>
              </a:cxn>
              <a:cxn ang="0">
                <a:pos x="connsiteX77" y="connsiteY77"/>
              </a:cxn>
              <a:cxn ang="0">
                <a:pos x="connsiteX78" y="connsiteY78"/>
              </a:cxn>
              <a:cxn ang="0">
                <a:pos x="connsiteX79" y="connsiteY79"/>
              </a:cxn>
              <a:cxn ang="0">
                <a:pos x="connsiteX80" y="connsiteY80"/>
              </a:cxn>
              <a:cxn ang="0">
                <a:pos x="connsiteX81" y="connsiteY81"/>
              </a:cxn>
              <a:cxn ang="0">
                <a:pos x="connsiteX82" y="connsiteY82"/>
              </a:cxn>
              <a:cxn ang="0">
                <a:pos x="connsiteX83" y="connsiteY83"/>
              </a:cxn>
              <a:cxn ang="0">
                <a:pos x="connsiteX84" y="connsiteY84"/>
              </a:cxn>
              <a:cxn ang="0">
                <a:pos x="connsiteX85" y="connsiteY85"/>
              </a:cxn>
              <a:cxn ang="0">
                <a:pos x="connsiteX86" y="connsiteY86"/>
              </a:cxn>
              <a:cxn ang="0">
                <a:pos x="connsiteX87" y="connsiteY87"/>
              </a:cxn>
              <a:cxn ang="0">
                <a:pos x="connsiteX88" y="connsiteY88"/>
              </a:cxn>
              <a:cxn ang="0">
                <a:pos x="connsiteX89" y="connsiteY89"/>
              </a:cxn>
              <a:cxn ang="0">
                <a:pos x="connsiteX90" y="connsiteY90"/>
              </a:cxn>
              <a:cxn ang="0">
                <a:pos x="connsiteX91" y="connsiteY91"/>
              </a:cxn>
              <a:cxn ang="0">
                <a:pos x="connsiteX92" y="connsiteY92"/>
              </a:cxn>
              <a:cxn ang="0">
                <a:pos x="connsiteX93" y="connsiteY93"/>
              </a:cxn>
              <a:cxn ang="0">
                <a:pos x="connsiteX94" y="connsiteY94"/>
              </a:cxn>
              <a:cxn ang="0">
                <a:pos x="connsiteX95" y="connsiteY95"/>
              </a:cxn>
              <a:cxn ang="0">
                <a:pos x="connsiteX96" y="connsiteY96"/>
              </a:cxn>
              <a:cxn ang="0">
                <a:pos x="connsiteX97" y="connsiteY97"/>
              </a:cxn>
              <a:cxn ang="0">
                <a:pos x="connsiteX98" y="connsiteY98"/>
              </a:cxn>
              <a:cxn ang="0">
                <a:pos x="connsiteX99" y="connsiteY99"/>
              </a:cxn>
              <a:cxn ang="0">
                <a:pos x="connsiteX100" y="connsiteY100"/>
              </a:cxn>
              <a:cxn ang="0">
                <a:pos x="connsiteX101" y="connsiteY101"/>
              </a:cxn>
              <a:cxn ang="0">
                <a:pos x="connsiteX102" y="connsiteY102"/>
              </a:cxn>
              <a:cxn ang="0">
                <a:pos x="connsiteX103" y="connsiteY103"/>
              </a:cxn>
              <a:cxn ang="0">
                <a:pos x="connsiteX104" y="connsiteY104"/>
              </a:cxn>
              <a:cxn ang="0">
                <a:pos x="connsiteX105" y="connsiteY105"/>
              </a:cxn>
              <a:cxn ang="0">
                <a:pos x="connsiteX106" y="connsiteY106"/>
              </a:cxn>
              <a:cxn ang="0">
                <a:pos x="connsiteX107" y="connsiteY107"/>
              </a:cxn>
              <a:cxn ang="0">
                <a:pos x="connsiteX108" y="connsiteY108"/>
              </a:cxn>
              <a:cxn ang="0">
                <a:pos x="connsiteX109" y="connsiteY109"/>
              </a:cxn>
              <a:cxn ang="0">
                <a:pos x="connsiteX110" y="connsiteY110"/>
              </a:cxn>
              <a:cxn ang="0">
                <a:pos x="connsiteX111" y="connsiteY111"/>
              </a:cxn>
              <a:cxn ang="0">
                <a:pos x="connsiteX112" y="connsiteY112"/>
              </a:cxn>
              <a:cxn ang="0">
                <a:pos x="connsiteX113" y="connsiteY113"/>
              </a:cxn>
              <a:cxn ang="0">
                <a:pos x="connsiteX114" y="connsiteY114"/>
              </a:cxn>
              <a:cxn ang="0">
                <a:pos x="connsiteX115" y="connsiteY115"/>
              </a:cxn>
              <a:cxn ang="0">
                <a:pos x="connsiteX116" y="connsiteY116"/>
              </a:cxn>
              <a:cxn ang="0">
                <a:pos x="connsiteX117" y="connsiteY117"/>
              </a:cxn>
              <a:cxn ang="0">
                <a:pos x="connsiteX118" y="connsiteY118"/>
              </a:cxn>
              <a:cxn ang="0">
                <a:pos x="connsiteX119" y="connsiteY119"/>
              </a:cxn>
              <a:cxn ang="0">
                <a:pos x="connsiteX120" y="connsiteY120"/>
              </a:cxn>
              <a:cxn ang="0">
                <a:pos x="connsiteX121" y="connsiteY121"/>
              </a:cxn>
              <a:cxn ang="0">
                <a:pos x="connsiteX122" y="connsiteY122"/>
              </a:cxn>
              <a:cxn ang="0">
                <a:pos x="connsiteX123" y="connsiteY123"/>
              </a:cxn>
              <a:cxn ang="0">
                <a:pos x="connsiteX124" y="connsiteY124"/>
              </a:cxn>
              <a:cxn ang="0">
                <a:pos x="connsiteX125" y="connsiteY125"/>
              </a:cxn>
              <a:cxn ang="0">
                <a:pos x="connsiteX126" y="connsiteY126"/>
              </a:cxn>
              <a:cxn ang="0">
                <a:pos x="connsiteX127" y="connsiteY127"/>
              </a:cxn>
              <a:cxn ang="0">
                <a:pos x="connsiteX128" y="connsiteY128"/>
              </a:cxn>
              <a:cxn ang="0">
                <a:pos x="connsiteX129" y="connsiteY129"/>
              </a:cxn>
              <a:cxn ang="0">
                <a:pos x="connsiteX130" y="connsiteY130"/>
              </a:cxn>
              <a:cxn ang="0">
                <a:pos x="connsiteX131" y="connsiteY131"/>
              </a:cxn>
              <a:cxn ang="0">
                <a:pos x="connsiteX132" y="connsiteY132"/>
              </a:cxn>
              <a:cxn ang="0">
                <a:pos x="connsiteX133" y="connsiteY133"/>
              </a:cxn>
            </a:cxnLst>
            <a:rect l="l" t="t" r="r" b="b"/>
            <a:pathLst>
              <a:path w="2229007" h="2230500">
                <a:moveTo>
                  <a:pt x="372122" y="1760277"/>
                </a:moveTo>
                <a:lnTo>
                  <a:pt x="583058" y="1760277"/>
                </a:lnTo>
                <a:cubicBezTo>
                  <a:pt x="612712" y="1760330"/>
                  <a:pt x="636734" y="1784352"/>
                  <a:pt x="636787" y="1814006"/>
                </a:cubicBezTo>
                <a:lnTo>
                  <a:pt x="636787" y="1864252"/>
                </a:lnTo>
                <a:cubicBezTo>
                  <a:pt x="636734" y="1893906"/>
                  <a:pt x="612712" y="1917929"/>
                  <a:pt x="583058" y="1917981"/>
                </a:cubicBezTo>
                <a:lnTo>
                  <a:pt x="372122" y="1917981"/>
                </a:lnTo>
                <a:cubicBezTo>
                  <a:pt x="372081" y="1917981"/>
                  <a:pt x="372039" y="1917981"/>
                  <a:pt x="371998" y="1917981"/>
                </a:cubicBezTo>
                <a:cubicBezTo>
                  <a:pt x="342358" y="1917947"/>
                  <a:pt x="318359" y="1893890"/>
                  <a:pt x="318393" y="1864252"/>
                </a:cubicBezTo>
                <a:lnTo>
                  <a:pt x="318393" y="1814006"/>
                </a:lnTo>
                <a:cubicBezTo>
                  <a:pt x="318444" y="1784352"/>
                  <a:pt x="342470" y="1760330"/>
                  <a:pt x="372122" y="1760277"/>
                </a:cubicBezTo>
                <a:close/>
                <a:moveTo>
                  <a:pt x="1825168" y="1760121"/>
                </a:moveTo>
                <a:lnTo>
                  <a:pt x="1826785" y="1760121"/>
                </a:lnTo>
                <a:cubicBezTo>
                  <a:pt x="1870290" y="1760137"/>
                  <a:pt x="1905569" y="1795375"/>
                  <a:pt x="1905637" y="1838880"/>
                </a:cubicBezTo>
                <a:lnTo>
                  <a:pt x="1905637" y="1839129"/>
                </a:lnTo>
                <a:cubicBezTo>
                  <a:pt x="1905621" y="1882672"/>
                  <a:pt x="1870328" y="1917966"/>
                  <a:pt x="1826785" y="1917981"/>
                </a:cubicBezTo>
                <a:lnTo>
                  <a:pt x="1825168" y="1917981"/>
                </a:lnTo>
                <a:lnTo>
                  <a:pt x="1825044" y="1917981"/>
                </a:lnTo>
                <a:lnTo>
                  <a:pt x="1825012" y="1917981"/>
                </a:lnTo>
                <a:cubicBezTo>
                  <a:pt x="1781532" y="1917963"/>
                  <a:pt x="1746297" y="1882703"/>
                  <a:pt x="1746316" y="1839222"/>
                </a:cubicBezTo>
                <a:lnTo>
                  <a:pt x="1746316" y="1838974"/>
                </a:lnTo>
                <a:cubicBezTo>
                  <a:pt x="1746334" y="1795431"/>
                  <a:pt x="1781625" y="1760137"/>
                  <a:pt x="1825168" y="1760121"/>
                </a:cubicBezTo>
                <a:close/>
                <a:moveTo>
                  <a:pt x="1506650" y="1760121"/>
                </a:moveTo>
                <a:lnTo>
                  <a:pt x="1508391" y="1760121"/>
                </a:lnTo>
                <a:cubicBezTo>
                  <a:pt x="1551896" y="1760137"/>
                  <a:pt x="1587175" y="1795375"/>
                  <a:pt x="1587243" y="1838880"/>
                </a:cubicBezTo>
                <a:lnTo>
                  <a:pt x="1587243" y="1839129"/>
                </a:lnTo>
                <a:cubicBezTo>
                  <a:pt x="1587224" y="1882672"/>
                  <a:pt x="1551934" y="1917966"/>
                  <a:pt x="1508391" y="1917981"/>
                </a:cubicBezTo>
                <a:lnTo>
                  <a:pt x="1506650" y="1917981"/>
                </a:lnTo>
                <a:lnTo>
                  <a:pt x="1506650" y="1918075"/>
                </a:lnTo>
                <a:cubicBezTo>
                  <a:pt x="1506566" y="1918075"/>
                  <a:pt x="1506485" y="1918075"/>
                  <a:pt x="1506401" y="1918075"/>
                </a:cubicBezTo>
                <a:cubicBezTo>
                  <a:pt x="1462920" y="1918006"/>
                  <a:pt x="1427729" y="1882703"/>
                  <a:pt x="1427797" y="1839222"/>
                </a:cubicBezTo>
                <a:lnTo>
                  <a:pt x="1427797" y="1838974"/>
                </a:lnTo>
                <a:cubicBezTo>
                  <a:pt x="1427816" y="1795431"/>
                  <a:pt x="1463107" y="1760137"/>
                  <a:pt x="1506650" y="1760121"/>
                </a:cubicBezTo>
                <a:close/>
                <a:moveTo>
                  <a:pt x="1190867" y="1760121"/>
                </a:moveTo>
                <a:lnTo>
                  <a:pt x="1192484" y="1760121"/>
                </a:lnTo>
                <a:cubicBezTo>
                  <a:pt x="1235990" y="1760137"/>
                  <a:pt x="1271268" y="1795375"/>
                  <a:pt x="1271336" y="1838880"/>
                </a:cubicBezTo>
                <a:lnTo>
                  <a:pt x="1271336" y="1839129"/>
                </a:lnTo>
                <a:cubicBezTo>
                  <a:pt x="1271318" y="1882672"/>
                  <a:pt x="1236027" y="1917966"/>
                  <a:pt x="1192484" y="1917981"/>
                </a:cubicBezTo>
                <a:lnTo>
                  <a:pt x="1190867" y="1917981"/>
                </a:lnTo>
                <a:lnTo>
                  <a:pt x="1190743" y="1917981"/>
                </a:lnTo>
                <a:lnTo>
                  <a:pt x="1190712" y="1917981"/>
                </a:lnTo>
                <a:cubicBezTo>
                  <a:pt x="1147231" y="1917963"/>
                  <a:pt x="1111996" y="1882703"/>
                  <a:pt x="1112015" y="1839222"/>
                </a:cubicBezTo>
                <a:lnTo>
                  <a:pt x="1112015" y="1838974"/>
                </a:lnTo>
                <a:cubicBezTo>
                  <a:pt x="1112034" y="1795431"/>
                  <a:pt x="1147324" y="1760137"/>
                  <a:pt x="1190867" y="1760121"/>
                </a:cubicBezTo>
                <a:close/>
                <a:moveTo>
                  <a:pt x="872349" y="1760121"/>
                </a:moveTo>
                <a:lnTo>
                  <a:pt x="874090" y="1760121"/>
                </a:lnTo>
                <a:cubicBezTo>
                  <a:pt x="917596" y="1760137"/>
                  <a:pt x="952874" y="1795375"/>
                  <a:pt x="952942" y="1838880"/>
                </a:cubicBezTo>
                <a:lnTo>
                  <a:pt x="952942" y="1839129"/>
                </a:lnTo>
                <a:cubicBezTo>
                  <a:pt x="952924" y="1882672"/>
                  <a:pt x="917633" y="1917966"/>
                  <a:pt x="874090" y="1917981"/>
                </a:cubicBezTo>
                <a:lnTo>
                  <a:pt x="872349" y="1917981"/>
                </a:lnTo>
                <a:lnTo>
                  <a:pt x="872349" y="1918075"/>
                </a:lnTo>
                <a:cubicBezTo>
                  <a:pt x="872265" y="1918075"/>
                  <a:pt x="872184" y="1918075"/>
                  <a:pt x="872100" y="1918075"/>
                </a:cubicBezTo>
                <a:cubicBezTo>
                  <a:pt x="828619" y="1918006"/>
                  <a:pt x="793428" y="1882703"/>
                  <a:pt x="793497" y="1839222"/>
                </a:cubicBezTo>
                <a:lnTo>
                  <a:pt x="793497" y="1838974"/>
                </a:lnTo>
                <a:cubicBezTo>
                  <a:pt x="793515" y="1795431"/>
                  <a:pt x="828806" y="1760137"/>
                  <a:pt x="872349" y="1760121"/>
                </a:cubicBezTo>
                <a:close/>
                <a:moveTo>
                  <a:pt x="372122" y="1443127"/>
                </a:moveTo>
                <a:lnTo>
                  <a:pt x="583058" y="1443127"/>
                </a:lnTo>
                <a:cubicBezTo>
                  <a:pt x="612712" y="1443179"/>
                  <a:pt x="636734" y="1467202"/>
                  <a:pt x="636787" y="1496856"/>
                </a:cubicBezTo>
                <a:lnTo>
                  <a:pt x="636787" y="1547102"/>
                </a:lnTo>
                <a:cubicBezTo>
                  <a:pt x="636734" y="1576756"/>
                  <a:pt x="612712" y="1600778"/>
                  <a:pt x="583058" y="1600831"/>
                </a:cubicBezTo>
                <a:lnTo>
                  <a:pt x="372122" y="1600831"/>
                </a:lnTo>
                <a:cubicBezTo>
                  <a:pt x="342470" y="1600778"/>
                  <a:pt x="318444" y="1576756"/>
                  <a:pt x="318393" y="1547102"/>
                </a:cubicBezTo>
                <a:lnTo>
                  <a:pt x="318393" y="1496856"/>
                </a:lnTo>
                <a:cubicBezTo>
                  <a:pt x="318444" y="1467202"/>
                  <a:pt x="342470" y="1443179"/>
                  <a:pt x="372122" y="1443127"/>
                </a:cubicBezTo>
                <a:close/>
                <a:moveTo>
                  <a:pt x="1825168" y="1442971"/>
                </a:moveTo>
                <a:lnTo>
                  <a:pt x="1826785" y="1442971"/>
                </a:lnTo>
                <a:cubicBezTo>
                  <a:pt x="1870290" y="1442987"/>
                  <a:pt x="1905569" y="1478225"/>
                  <a:pt x="1905637" y="1521730"/>
                </a:cubicBezTo>
                <a:lnTo>
                  <a:pt x="1905637" y="1521979"/>
                </a:lnTo>
                <a:cubicBezTo>
                  <a:pt x="1905621" y="1565522"/>
                  <a:pt x="1870328" y="1600816"/>
                  <a:pt x="1826785" y="1600831"/>
                </a:cubicBezTo>
                <a:lnTo>
                  <a:pt x="1825168" y="1600831"/>
                </a:lnTo>
                <a:cubicBezTo>
                  <a:pt x="1781662" y="1600816"/>
                  <a:pt x="1746384" y="1565578"/>
                  <a:pt x="1746316" y="1522072"/>
                </a:cubicBezTo>
                <a:lnTo>
                  <a:pt x="1746316" y="1521823"/>
                </a:lnTo>
                <a:cubicBezTo>
                  <a:pt x="1746334" y="1478281"/>
                  <a:pt x="1781625" y="1442987"/>
                  <a:pt x="1825168" y="1442971"/>
                </a:cubicBezTo>
                <a:close/>
                <a:moveTo>
                  <a:pt x="1506650" y="1442971"/>
                </a:moveTo>
                <a:lnTo>
                  <a:pt x="1508391" y="1442971"/>
                </a:lnTo>
                <a:cubicBezTo>
                  <a:pt x="1551896" y="1442987"/>
                  <a:pt x="1587175" y="1478225"/>
                  <a:pt x="1587243" y="1521730"/>
                </a:cubicBezTo>
                <a:lnTo>
                  <a:pt x="1587243" y="1521979"/>
                </a:lnTo>
                <a:cubicBezTo>
                  <a:pt x="1587224" y="1565522"/>
                  <a:pt x="1551934" y="1600816"/>
                  <a:pt x="1508391" y="1600831"/>
                </a:cubicBezTo>
                <a:lnTo>
                  <a:pt x="1506650" y="1600831"/>
                </a:lnTo>
                <a:lnTo>
                  <a:pt x="1506650" y="1600924"/>
                </a:lnTo>
                <a:cubicBezTo>
                  <a:pt x="1463107" y="1600906"/>
                  <a:pt x="1427816" y="1565615"/>
                  <a:pt x="1427797" y="1522072"/>
                </a:cubicBezTo>
                <a:lnTo>
                  <a:pt x="1427797" y="1521823"/>
                </a:lnTo>
                <a:cubicBezTo>
                  <a:pt x="1427816" y="1478281"/>
                  <a:pt x="1463107" y="1442987"/>
                  <a:pt x="1506650" y="1442971"/>
                </a:cubicBezTo>
                <a:close/>
                <a:moveTo>
                  <a:pt x="1190867" y="1442971"/>
                </a:moveTo>
                <a:lnTo>
                  <a:pt x="1192484" y="1442971"/>
                </a:lnTo>
                <a:cubicBezTo>
                  <a:pt x="1235990" y="1442987"/>
                  <a:pt x="1271268" y="1478225"/>
                  <a:pt x="1271336" y="1521730"/>
                </a:cubicBezTo>
                <a:lnTo>
                  <a:pt x="1271336" y="1521979"/>
                </a:lnTo>
                <a:cubicBezTo>
                  <a:pt x="1271318" y="1565522"/>
                  <a:pt x="1236027" y="1600816"/>
                  <a:pt x="1192484" y="1600831"/>
                </a:cubicBezTo>
                <a:lnTo>
                  <a:pt x="1190867" y="1600831"/>
                </a:lnTo>
                <a:cubicBezTo>
                  <a:pt x="1147362" y="1600816"/>
                  <a:pt x="1112083" y="1565578"/>
                  <a:pt x="1112015" y="1522072"/>
                </a:cubicBezTo>
                <a:lnTo>
                  <a:pt x="1112015" y="1521823"/>
                </a:lnTo>
                <a:cubicBezTo>
                  <a:pt x="1112034" y="1478281"/>
                  <a:pt x="1147324" y="1442987"/>
                  <a:pt x="1190867" y="1442971"/>
                </a:cubicBezTo>
                <a:close/>
                <a:moveTo>
                  <a:pt x="872349" y="1442971"/>
                </a:moveTo>
                <a:lnTo>
                  <a:pt x="874090" y="1442971"/>
                </a:lnTo>
                <a:cubicBezTo>
                  <a:pt x="917596" y="1442987"/>
                  <a:pt x="952874" y="1478225"/>
                  <a:pt x="952942" y="1521730"/>
                </a:cubicBezTo>
                <a:lnTo>
                  <a:pt x="952942" y="1521979"/>
                </a:lnTo>
                <a:cubicBezTo>
                  <a:pt x="952924" y="1565522"/>
                  <a:pt x="917633" y="1600816"/>
                  <a:pt x="874090" y="1600831"/>
                </a:cubicBezTo>
                <a:lnTo>
                  <a:pt x="872349" y="1600831"/>
                </a:lnTo>
                <a:lnTo>
                  <a:pt x="872349" y="1600924"/>
                </a:lnTo>
                <a:cubicBezTo>
                  <a:pt x="828806" y="1600906"/>
                  <a:pt x="793515" y="1565615"/>
                  <a:pt x="793497" y="1522072"/>
                </a:cubicBezTo>
                <a:lnTo>
                  <a:pt x="793497" y="1521823"/>
                </a:lnTo>
                <a:cubicBezTo>
                  <a:pt x="793515" y="1478281"/>
                  <a:pt x="828806" y="1442987"/>
                  <a:pt x="872349" y="1442971"/>
                </a:cubicBezTo>
                <a:close/>
                <a:moveTo>
                  <a:pt x="159197" y="1278178"/>
                </a:moveTo>
                <a:lnTo>
                  <a:pt x="159197" y="2071209"/>
                </a:lnTo>
                <a:lnTo>
                  <a:pt x="2069561" y="2071209"/>
                </a:lnTo>
                <a:lnTo>
                  <a:pt x="2069561" y="1278178"/>
                </a:lnTo>
                <a:close/>
                <a:moveTo>
                  <a:pt x="1275815" y="583339"/>
                </a:moveTo>
                <a:lnTo>
                  <a:pt x="1268850" y="773007"/>
                </a:lnTo>
                <a:lnTo>
                  <a:pt x="485800" y="773007"/>
                </a:lnTo>
                <a:lnTo>
                  <a:pt x="466149" y="953721"/>
                </a:lnTo>
                <a:lnTo>
                  <a:pt x="1262134" y="953721"/>
                </a:lnTo>
                <a:lnTo>
                  <a:pt x="1255666" y="1126599"/>
                </a:lnTo>
                <a:lnTo>
                  <a:pt x="1801662" y="848253"/>
                </a:lnTo>
                <a:close/>
                <a:moveTo>
                  <a:pt x="1033288" y="163084"/>
                </a:moveTo>
                <a:lnTo>
                  <a:pt x="502466" y="408844"/>
                </a:lnTo>
                <a:lnTo>
                  <a:pt x="1002195" y="666296"/>
                </a:lnTo>
                <a:lnTo>
                  <a:pt x="1012891" y="494164"/>
                </a:lnTo>
                <a:lnTo>
                  <a:pt x="1798180" y="494164"/>
                </a:lnTo>
                <a:lnTo>
                  <a:pt x="1796190" y="327256"/>
                </a:lnTo>
                <a:lnTo>
                  <a:pt x="1022965" y="327256"/>
                </a:lnTo>
                <a:close/>
                <a:moveTo>
                  <a:pt x="248248" y="0"/>
                </a:moveTo>
                <a:lnTo>
                  <a:pt x="1985112" y="0"/>
                </a:lnTo>
                <a:cubicBezTo>
                  <a:pt x="2024849" y="-5"/>
                  <a:pt x="2058501" y="29295"/>
                  <a:pt x="2063964" y="68654"/>
                </a:cubicBezTo>
                <a:lnTo>
                  <a:pt x="2228758" y="1278178"/>
                </a:lnTo>
                <a:lnTo>
                  <a:pt x="2227017" y="1278209"/>
                </a:lnTo>
                <a:lnTo>
                  <a:pt x="2229007" y="1280199"/>
                </a:lnTo>
                <a:lnTo>
                  <a:pt x="2229007" y="2139459"/>
                </a:lnTo>
                <a:cubicBezTo>
                  <a:pt x="2228988" y="2189733"/>
                  <a:pt x="2188241" y="2230484"/>
                  <a:pt x="2137966" y="2230500"/>
                </a:cubicBezTo>
                <a:lnTo>
                  <a:pt x="91041" y="2230500"/>
                </a:lnTo>
                <a:cubicBezTo>
                  <a:pt x="40767" y="2230481"/>
                  <a:pt x="17" y="2189733"/>
                  <a:pt x="0" y="2139459"/>
                </a:cubicBezTo>
                <a:lnTo>
                  <a:pt x="0" y="1280168"/>
                </a:lnTo>
                <a:lnTo>
                  <a:pt x="1990" y="1278178"/>
                </a:lnTo>
                <a:lnTo>
                  <a:pt x="0" y="1278178"/>
                </a:lnTo>
                <a:lnTo>
                  <a:pt x="169396" y="68405"/>
                </a:lnTo>
                <a:cubicBezTo>
                  <a:pt x="175035" y="29180"/>
                  <a:pt x="208619" y="45"/>
                  <a:pt x="248248" y="0"/>
                </a:cubicBezTo>
                <a:close/>
              </a:path>
            </a:pathLst>
          </a:custGeom>
          <a:solidFill>
            <a:srgbClr val="FFC000">
              <a:lumMod val="75000"/>
            </a:srgbClr>
          </a:solidFill>
          <a:ln w="12700" cap="flat" cmpd="sng" algn="ctr">
            <a:noFill/>
            <a:prstDash val="solid"/>
            <a:miter lim="800000"/>
          </a:ln>
          <a:effectLst/>
        </p:spPr>
        <p:txBody>
          <a:bodyPr rtlCol="0" anchor="ctr"/>
          <a:lstStyle/>
          <a:p>
            <a:pPr marL="0" marR="0" lvl="0" indent="0" algn="ctr" defTabSz="914400" eaLnBrk="1" fontAlgn="auto" latinLnBrk="0" hangingPunct="1">
              <a:lnSpc>
                <a:spcPct val="100000"/>
              </a:lnSpc>
              <a:spcBef>
                <a:spcPts val="0"/>
              </a:spcBef>
              <a:spcAft>
                <a:spcPts val="0"/>
              </a:spcAft>
              <a:buClrTx/>
              <a:buSzTx/>
              <a:buFontTx/>
              <a:buNone/>
              <a:tabLst/>
              <a:defRPr/>
            </a:pPr>
            <a:endParaRPr kumimoji="0" lang="en-US" sz="1800" b="0" i="0" u="none" strike="noStrike" kern="0" cap="none" spc="0" normalizeH="0" baseline="0" noProof="0">
              <a:ln>
                <a:noFill/>
              </a:ln>
              <a:solidFill>
                <a:prstClr val="white"/>
              </a:solidFill>
              <a:effectLst/>
              <a:uLnTx/>
              <a:uFillTx/>
              <a:latin typeface="等线" panose="020F0502020204030204"/>
              <a:ea typeface="+mn-ea"/>
              <a:cs typeface="+mn-cs"/>
            </a:endParaRPr>
          </a:p>
        </p:txBody>
      </p:sp>
      <p:cxnSp>
        <p:nvCxnSpPr>
          <p:cNvPr id="71" name="直接连接符 70">
            <a:extLst>
              <a:ext uri="{FF2B5EF4-FFF2-40B4-BE49-F238E27FC236}">
                <a16:creationId xmlns:a16="http://schemas.microsoft.com/office/drawing/2014/main" id="{FE8788E8-017E-40A6-9AD3-C8DF843433EA}"/>
              </a:ext>
            </a:extLst>
          </p:cNvPr>
          <p:cNvCxnSpPr>
            <a:cxnSpLocks/>
          </p:cNvCxnSpPr>
          <p:nvPr/>
        </p:nvCxnSpPr>
        <p:spPr>
          <a:xfrm flipH="1">
            <a:off x="3182023" y="3598606"/>
            <a:ext cx="9768" cy="981776"/>
          </a:xfrm>
          <a:prstGeom prst="line">
            <a:avLst/>
          </a:prstGeom>
          <a:noFill/>
          <a:ln w="28575" cap="flat" cmpd="sng" algn="ctr">
            <a:solidFill>
              <a:sysClr val="windowText" lastClr="000000"/>
            </a:solidFill>
            <a:prstDash val="solid"/>
            <a:miter lim="800000"/>
          </a:ln>
          <a:effectLst/>
        </p:spPr>
      </p:cxnSp>
      <p:cxnSp>
        <p:nvCxnSpPr>
          <p:cNvPr id="72" name="直接箭头连接符 71">
            <a:extLst>
              <a:ext uri="{FF2B5EF4-FFF2-40B4-BE49-F238E27FC236}">
                <a16:creationId xmlns:a16="http://schemas.microsoft.com/office/drawing/2014/main" id="{ABB1144F-DDDA-47C7-8E50-6AAA325C370C}"/>
              </a:ext>
            </a:extLst>
          </p:cNvPr>
          <p:cNvCxnSpPr>
            <a:stCxn id="70" idx="131"/>
          </p:cNvCxnSpPr>
          <p:nvPr/>
        </p:nvCxnSpPr>
        <p:spPr>
          <a:xfrm flipH="1" flipV="1">
            <a:off x="1886657" y="4915779"/>
            <a:ext cx="914376" cy="13980"/>
          </a:xfrm>
          <a:prstGeom prst="straightConnector1">
            <a:avLst/>
          </a:prstGeom>
          <a:noFill/>
          <a:ln w="28575" cap="flat" cmpd="sng" algn="ctr">
            <a:solidFill>
              <a:sysClr val="windowText" lastClr="000000"/>
            </a:solidFill>
            <a:prstDash val="solid"/>
            <a:miter lim="800000"/>
            <a:tailEnd type="triangle" w="lg" len="lg"/>
          </a:ln>
          <a:effectLst/>
        </p:spPr>
      </p:cxnSp>
      <p:sp>
        <p:nvSpPr>
          <p:cNvPr id="73" name="文本框 72">
            <a:extLst>
              <a:ext uri="{FF2B5EF4-FFF2-40B4-BE49-F238E27FC236}">
                <a16:creationId xmlns:a16="http://schemas.microsoft.com/office/drawing/2014/main" id="{59DF6E01-B18B-43C6-9A60-7C80E05ABF78}"/>
              </a:ext>
            </a:extLst>
          </p:cNvPr>
          <p:cNvSpPr txBox="1"/>
          <p:nvPr/>
        </p:nvSpPr>
        <p:spPr>
          <a:xfrm>
            <a:off x="1889589" y="4608225"/>
            <a:ext cx="1192669"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连接互联网</a:t>
            </a:r>
          </a:p>
        </p:txBody>
      </p:sp>
      <p:sp>
        <p:nvSpPr>
          <p:cNvPr id="74" name="文本框 73">
            <a:extLst>
              <a:ext uri="{FF2B5EF4-FFF2-40B4-BE49-F238E27FC236}">
                <a16:creationId xmlns:a16="http://schemas.microsoft.com/office/drawing/2014/main" id="{D6FCDF0B-2BEA-4B7E-BA5B-629A7AABE050}"/>
              </a:ext>
            </a:extLst>
          </p:cNvPr>
          <p:cNvSpPr txBox="1"/>
          <p:nvPr/>
        </p:nvSpPr>
        <p:spPr>
          <a:xfrm>
            <a:off x="2548871" y="5228606"/>
            <a:ext cx="1192669"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集线器</a:t>
            </a:r>
            <a:r>
              <a:rPr lang="en-US" altLang="zh-CN" sz="1200" b="0" i="0" baseline="0" dirty="0">
                <a:solidFill>
                  <a:prstClr val="black"/>
                </a:solidFill>
                <a:latin typeface="微软雅黑" panose="020B0503020204020204" pitchFamily="34" charset="-122"/>
                <a:ea typeface="微软雅黑" panose="020B0503020204020204" pitchFamily="34" charset="-122"/>
              </a:rPr>
              <a:t>/</a:t>
            </a:r>
            <a:r>
              <a:rPr lang="zh-CN" altLang="en-US" sz="1200" b="0" i="0" baseline="0" dirty="0">
                <a:solidFill>
                  <a:prstClr val="black"/>
                </a:solidFill>
                <a:latin typeface="微软雅黑" panose="020B0503020204020204" pitchFamily="34" charset="-122"/>
                <a:ea typeface="微软雅黑" panose="020B0503020204020204" pitchFamily="34" charset="-122"/>
              </a:rPr>
              <a:t>交换机</a:t>
            </a:r>
          </a:p>
        </p:txBody>
      </p:sp>
      <p:cxnSp>
        <p:nvCxnSpPr>
          <p:cNvPr id="75" name="直接箭头连接符 74">
            <a:extLst>
              <a:ext uri="{FF2B5EF4-FFF2-40B4-BE49-F238E27FC236}">
                <a16:creationId xmlns:a16="http://schemas.microsoft.com/office/drawing/2014/main" id="{10CCDF6F-7CEC-4FE6-88E9-F172E72EAA5C}"/>
              </a:ext>
            </a:extLst>
          </p:cNvPr>
          <p:cNvCxnSpPr/>
          <p:nvPr/>
        </p:nvCxnSpPr>
        <p:spPr>
          <a:xfrm>
            <a:off x="5510352" y="1305180"/>
            <a:ext cx="0" cy="5046557"/>
          </a:xfrm>
          <a:prstGeom prst="straightConnector1">
            <a:avLst/>
          </a:prstGeom>
          <a:noFill/>
          <a:ln w="28575" cap="flat" cmpd="sng" algn="ctr">
            <a:solidFill>
              <a:srgbClr val="4472C4"/>
            </a:solidFill>
            <a:prstDash val="solid"/>
            <a:miter lim="800000"/>
            <a:headEnd w="lg" len="med"/>
            <a:tailEnd type="triangle" w="lg" len="med"/>
          </a:ln>
          <a:effectLst/>
        </p:spPr>
      </p:cxnSp>
      <p:sp>
        <p:nvSpPr>
          <p:cNvPr id="76" name="文本框 75">
            <a:extLst>
              <a:ext uri="{FF2B5EF4-FFF2-40B4-BE49-F238E27FC236}">
                <a16:creationId xmlns:a16="http://schemas.microsoft.com/office/drawing/2014/main" id="{A1FA145C-C858-4BAC-BA6B-C892EA487F4B}"/>
              </a:ext>
            </a:extLst>
          </p:cNvPr>
          <p:cNvSpPr txBox="1"/>
          <p:nvPr/>
        </p:nvSpPr>
        <p:spPr>
          <a:xfrm>
            <a:off x="5262730" y="6332396"/>
            <a:ext cx="623093"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发送</a:t>
            </a:r>
          </a:p>
        </p:txBody>
      </p:sp>
      <p:sp>
        <p:nvSpPr>
          <p:cNvPr id="77" name="文本框 76">
            <a:extLst>
              <a:ext uri="{FF2B5EF4-FFF2-40B4-BE49-F238E27FC236}">
                <a16:creationId xmlns:a16="http://schemas.microsoft.com/office/drawing/2014/main" id="{DA7C92DB-205F-49AA-8D16-E45F4DAFD841}"/>
              </a:ext>
            </a:extLst>
          </p:cNvPr>
          <p:cNvSpPr txBox="1"/>
          <p:nvPr/>
        </p:nvSpPr>
        <p:spPr>
          <a:xfrm>
            <a:off x="6507650" y="6329871"/>
            <a:ext cx="623093" cy="276999"/>
          </a:xfrm>
          <a:prstGeom prst="rect">
            <a:avLst/>
          </a:prstGeom>
          <a:noFill/>
        </p:spPr>
        <p:txBody>
          <a:bodyPr wrap="square" rtlCol="0">
            <a:spAutoFit/>
          </a:bodyPr>
          <a:lstStyle/>
          <a:p>
            <a:r>
              <a:rPr lang="zh-CN" altLang="en-US" sz="1200" b="0" i="0" baseline="0" dirty="0">
                <a:solidFill>
                  <a:prstClr val="black"/>
                </a:solidFill>
                <a:latin typeface="微软雅黑" panose="020B0503020204020204" pitchFamily="34" charset="-122"/>
                <a:ea typeface="微软雅黑" panose="020B0503020204020204" pitchFamily="34" charset="-122"/>
              </a:rPr>
              <a:t>接收</a:t>
            </a:r>
          </a:p>
        </p:txBody>
      </p:sp>
      <p:cxnSp>
        <p:nvCxnSpPr>
          <p:cNvPr id="78" name="直接箭头连接符 77">
            <a:extLst>
              <a:ext uri="{FF2B5EF4-FFF2-40B4-BE49-F238E27FC236}">
                <a16:creationId xmlns:a16="http://schemas.microsoft.com/office/drawing/2014/main" id="{76805C5C-3AE8-4E9A-9401-C441E773FB9E}"/>
              </a:ext>
            </a:extLst>
          </p:cNvPr>
          <p:cNvCxnSpPr/>
          <p:nvPr/>
        </p:nvCxnSpPr>
        <p:spPr>
          <a:xfrm>
            <a:off x="6706795" y="1305180"/>
            <a:ext cx="0" cy="5046557"/>
          </a:xfrm>
          <a:prstGeom prst="straightConnector1">
            <a:avLst/>
          </a:prstGeom>
          <a:noFill/>
          <a:ln w="28575" cap="flat" cmpd="sng" algn="ctr">
            <a:solidFill>
              <a:srgbClr val="FF9900"/>
            </a:solidFill>
            <a:prstDash val="solid"/>
            <a:miter lim="800000"/>
            <a:headEnd type="triangle" w="lg" len="med"/>
            <a:tailEnd type="none"/>
          </a:ln>
          <a:effectLst/>
        </p:spPr>
      </p:cxnSp>
    </p:spTree>
    <p:extLst>
      <p:ext uri="{BB962C8B-B14F-4D97-AF65-F5344CB8AC3E}">
        <p14:creationId xmlns:p14="http://schemas.microsoft.com/office/powerpoint/2010/main" val="1244479810"/>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71935121-934C-4BE5-BC3B-CF65DAA20E0C}"/>
              </a:ext>
            </a:extLst>
          </p:cNvPr>
          <p:cNvSpPr txBox="1"/>
          <p:nvPr/>
        </p:nvSpPr>
        <p:spPr>
          <a:xfrm>
            <a:off x="1505070" y="1187500"/>
            <a:ext cx="9181859" cy="4406143"/>
          </a:xfrm>
          <a:prstGeom prst="rect">
            <a:avLst/>
          </a:prstGeom>
          <a:noFill/>
        </p:spPr>
        <p:txBody>
          <a:bodyPr wrap="square" rtlCol="0">
            <a:spAutoFit/>
          </a:bodyPr>
          <a:lstStyle/>
          <a:p>
            <a:pPr algn="just">
              <a:lnSpc>
                <a:spcPct val="250000"/>
              </a:lnSpc>
            </a:pPr>
            <a:r>
              <a:rPr lang="zh-CN" altLang="en-US" sz="1800" b="0" i="0" baseline="0" dirty="0">
                <a:latin typeface="微软雅黑" panose="020B0503020204020204" pitchFamily="34" charset="-122"/>
                <a:ea typeface="微软雅黑" panose="020B0503020204020204" pitchFamily="34" charset="-122"/>
                <a:cs typeface="+mn-ea"/>
              </a:rPr>
              <a:t>数据链路层将网络层数据报转化为适合在物理媒介上传输的帧之后，通过物理层实现实际的数据传输。物理层</a:t>
            </a:r>
            <a:r>
              <a:rPr lang="zh-CN" altLang="en-US" sz="1800" i="0" baseline="0" dirty="0">
                <a:latin typeface="微软雅黑" panose="020B0503020204020204" pitchFamily="34" charset="-122"/>
                <a:ea typeface="微软雅黑" panose="020B0503020204020204" pitchFamily="34" charset="-122"/>
                <a:cs typeface="+mn-ea"/>
              </a:rPr>
              <a:t>负责传输数据的二进制符号，并控制信号的传输速率、编码方式和电气特性等</a:t>
            </a:r>
            <a:r>
              <a:rPr lang="zh-CN" altLang="en-US" sz="1800" b="0" i="0" baseline="0" dirty="0">
                <a:latin typeface="微软雅黑" panose="020B0503020204020204" pitchFamily="34" charset="-122"/>
                <a:ea typeface="微软雅黑" panose="020B0503020204020204" pitchFamily="34" charset="-122"/>
                <a:cs typeface="+mn-ea"/>
              </a:rPr>
              <a:t>。</a:t>
            </a:r>
            <a:endParaRPr lang="en-US" altLang="zh-CN" sz="1800" b="0" i="0" baseline="0" dirty="0">
              <a:latin typeface="微软雅黑" panose="020B0503020204020204" pitchFamily="34" charset="-122"/>
              <a:ea typeface="微软雅黑" panose="020B0503020204020204" pitchFamily="34" charset="-122"/>
              <a:cs typeface="+mn-ea"/>
            </a:endParaRPr>
          </a:p>
          <a:p>
            <a:pPr algn="just"/>
            <a:endParaRPr lang="en-US" altLang="zh-CN" sz="1800" b="0" i="0" baseline="0" dirty="0">
              <a:latin typeface="微软雅黑" panose="020B0503020204020204" pitchFamily="34" charset="-122"/>
              <a:ea typeface="微软雅黑" panose="020B0503020204020204" pitchFamily="34" charset="-122"/>
              <a:cs typeface="+mn-ea"/>
            </a:endParaRPr>
          </a:p>
          <a:p>
            <a:pPr algn="just">
              <a:lnSpc>
                <a:spcPct val="250000"/>
              </a:lnSpc>
            </a:pPr>
            <a:r>
              <a:rPr lang="zh-CN" altLang="en-US" sz="1800" b="0" i="0" baseline="0" dirty="0">
                <a:latin typeface="微软雅黑" panose="020B0503020204020204" pitchFamily="34" charset="-122"/>
                <a:ea typeface="微软雅黑" panose="020B0503020204020204" pitchFamily="34" charset="-122"/>
                <a:cs typeface="+mn-ea"/>
              </a:rPr>
              <a:t>用电信号来表达数字信息时，需要让 </a:t>
            </a:r>
            <a:r>
              <a:rPr lang="en-US" altLang="zh-CN" sz="1800" b="0" i="0" baseline="0" dirty="0">
                <a:latin typeface="微软雅黑" panose="020B0503020204020204" pitchFamily="34" charset="-122"/>
                <a:ea typeface="微软雅黑" panose="020B0503020204020204" pitchFamily="34" charset="-122"/>
                <a:cs typeface="+mn-ea"/>
              </a:rPr>
              <a:t>0 </a:t>
            </a:r>
            <a:r>
              <a:rPr lang="zh-CN" altLang="en-US" sz="1800" b="0" i="0" baseline="0" dirty="0">
                <a:latin typeface="微软雅黑" panose="020B0503020204020204" pitchFamily="34" charset="-122"/>
                <a:ea typeface="微软雅黑" panose="020B0503020204020204" pitchFamily="34" charset="-122"/>
                <a:cs typeface="+mn-ea"/>
              </a:rPr>
              <a:t>和 </a:t>
            </a:r>
            <a:r>
              <a:rPr lang="en-US" altLang="zh-CN" sz="1800" b="0" i="0" baseline="0" dirty="0">
                <a:latin typeface="微软雅黑" panose="020B0503020204020204" pitchFamily="34" charset="-122"/>
                <a:ea typeface="微软雅黑" panose="020B0503020204020204" pitchFamily="34" charset="-122"/>
                <a:cs typeface="+mn-ea"/>
              </a:rPr>
              <a:t>1 </a:t>
            </a:r>
            <a:r>
              <a:rPr lang="zh-CN" altLang="en-US" sz="1800" b="0" i="0" baseline="0" dirty="0">
                <a:latin typeface="微软雅黑" panose="020B0503020204020204" pitchFamily="34" charset="-122"/>
                <a:ea typeface="微软雅黑" panose="020B0503020204020204" pitchFamily="34" charset="-122"/>
                <a:cs typeface="+mn-ea"/>
              </a:rPr>
              <a:t>两种比特分别对应特定的电压和电流。但实际信号并不会有分隔每个比特的分隔线，在测量电压或电流时必须先判断出每个比特的界限在哪里，这就需要时钟信号。</a:t>
            </a:r>
          </a:p>
        </p:txBody>
      </p:sp>
    </p:spTree>
    <p:extLst>
      <p:ext uri="{BB962C8B-B14F-4D97-AF65-F5344CB8AC3E}">
        <p14:creationId xmlns:p14="http://schemas.microsoft.com/office/powerpoint/2010/main" val="307336414"/>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29701" name="Text Box 4">
            <a:extLst>
              <a:ext uri="{FF2B5EF4-FFF2-40B4-BE49-F238E27FC236}">
                <a16:creationId xmlns:a16="http://schemas.microsoft.com/office/drawing/2014/main" id="{0A016508-4F0D-4A8A-BF72-8829B40B47D8}"/>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endParaRPr lang="zh-CN" altLang="zh-CN" sz="1800" i="0" baseline="0">
              <a:solidFill>
                <a:srgbClr val="000000"/>
              </a:solidFill>
              <a:latin typeface="Times New Roman" panose="02020603050405020304" pitchFamily="18" charset="0"/>
              <a:ea typeface="宋体" panose="02010600030101010101" pitchFamily="2" charset="-122"/>
            </a:endParaRPr>
          </a:p>
        </p:txBody>
      </p:sp>
      <p:pic>
        <p:nvPicPr>
          <p:cNvPr id="9" name="Picture 6">
            <a:extLst>
              <a:ext uri="{FF2B5EF4-FFF2-40B4-BE49-F238E27FC236}">
                <a16:creationId xmlns:a16="http://schemas.microsoft.com/office/drawing/2014/main" id="{9258B786-6E07-4191-B260-FD39A1685D2E}"/>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281719" y="1425866"/>
            <a:ext cx="7657950" cy="224488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 name="Text Box 4">
            <a:extLst>
              <a:ext uri="{FF2B5EF4-FFF2-40B4-BE49-F238E27FC236}">
                <a16:creationId xmlns:a16="http://schemas.microsoft.com/office/drawing/2014/main" id="{DA6EA990-DE71-4794-B596-B8A7A04E17C8}"/>
              </a:ext>
            </a:extLst>
          </p:cNvPr>
          <p:cNvSpPr txBox="1">
            <a:spLocks noChangeArrowheads="1"/>
          </p:cNvSpPr>
          <p:nvPr/>
        </p:nvSpPr>
        <p:spPr bwMode="auto">
          <a:xfrm>
            <a:off x="5101663" y="3670746"/>
            <a:ext cx="2217274"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3200" b="1">
                <a:solidFill>
                  <a:schemeClr val="tx1"/>
                </a:solidFill>
                <a:latin typeface="Arial" panose="020B0604020202020204" pitchFamily="34" charset="0"/>
              </a:defRPr>
            </a:lvl1pPr>
            <a:lvl2pPr marL="742950" indent="-285750">
              <a:defRPr sz="3200" b="1">
                <a:solidFill>
                  <a:schemeClr val="tx1"/>
                </a:solidFill>
                <a:latin typeface="Arial" panose="020B0604020202020204" pitchFamily="34" charset="0"/>
              </a:defRPr>
            </a:lvl2pPr>
            <a:lvl3pPr marL="1143000" indent="-228600">
              <a:defRPr sz="3200" b="1">
                <a:solidFill>
                  <a:schemeClr val="tx1"/>
                </a:solidFill>
                <a:latin typeface="Arial" panose="020B0604020202020204" pitchFamily="34" charset="0"/>
              </a:defRPr>
            </a:lvl3pPr>
            <a:lvl4pPr marL="1600200" indent="-228600">
              <a:defRPr sz="3200" b="1">
                <a:solidFill>
                  <a:schemeClr val="tx1"/>
                </a:solidFill>
                <a:latin typeface="Arial" panose="020B0604020202020204" pitchFamily="34" charset="0"/>
              </a:defRPr>
            </a:lvl4pPr>
            <a:lvl5pPr marL="2057400" indent="-228600">
              <a:defRPr sz="3200" b="1">
                <a:solidFill>
                  <a:schemeClr val="tx1"/>
                </a:solidFill>
                <a:latin typeface="Arial" panose="020B0604020202020204" pitchFamily="34" charset="0"/>
              </a:defRPr>
            </a:lvl5pPr>
            <a:lvl6pPr marL="2514600" indent="-228600" eaLnBrk="0" fontAlgn="base" hangingPunct="0">
              <a:spcBef>
                <a:spcPct val="0"/>
              </a:spcBef>
              <a:spcAft>
                <a:spcPct val="0"/>
              </a:spcAft>
              <a:defRPr sz="3200" b="1">
                <a:solidFill>
                  <a:schemeClr val="tx1"/>
                </a:solidFill>
                <a:latin typeface="Arial" panose="020B0604020202020204" pitchFamily="34" charset="0"/>
              </a:defRPr>
            </a:lvl6pPr>
            <a:lvl7pPr marL="2971800" indent="-228600" eaLnBrk="0" fontAlgn="base" hangingPunct="0">
              <a:spcBef>
                <a:spcPct val="0"/>
              </a:spcBef>
              <a:spcAft>
                <a:spcPct val="0"/>
              </a:spcAft>
              <a:defRPr sz="3200" b="1">
                <a:solidFill>
                  <a:schemeClr val="tx1"/>
                </a:solidFill>
                <a:latin typeface="Arial" panose="020B0604020202020204" pitchFamily="34" charset="0"/>
              </a:defRPr>
            </a:lvl7pPr>
            <a:lvl8pPr marL="3429000" indent="-228600" eaLnBrk="0" fontAlgn="base" hangingPunct="0">
              <a:spcBef>
                <a:spcPct val="0"/>
              </a:spcBef>
              <a:spcAft>
                <a:spcPct val="0"/>
              </a:spcAft>
              <a:defRPr sz="3200" b="1">
                <a:solidFill>
                  <a:schemeClr val="tx1"/>
                </a:solidFill>
                <a:latin typeface="Arial" panose="020B0604020202020204" pitchFamily="34" charset="0"/>
              </a:defRPr>
            </a:lvl8pPr>
            <a:lvl9pPr marL="3886200" indent="-228600" eaLnBrk="0" fontAlgn="base" hangingPunct="0">
              <a:spcBef>
                <a:spcPct val="0"/>
              </a:spcBef>
              <a:spcAft>
                <a:spcPct val="0"/>
              </a:spcAft>
              <a:defRPr sz="3200" b="1">
                <a:solidFill>
                  <a:schemeClr val="tx1"/>
                </a:solidFill>
                <a:latin typeface="Arial" panose="020B0604020202020204" pitchFamily="34" charset="0"/>
              </a:defRPr>
            </a:lvl9pPr>
          </a:lstStyle>
          <a:p>
            <a:pPr>
              <a:defRPr/>
            </a:pPr>
            <a:r>
              <a:rPr lang="zh-CN" altLang="en-US" sz="1600" i="0" baseline="0" dirty="0">
                <a:solidFill>
                  <a:srgbClr val="3333CC"/>
                </a:solidFill>
                <a:latin typeface="Times New Roman" panose="02020603050405020304" pitchFamily="18" charset="0"/>
                <a:ea typeface="宋体" panose="02010600030101010101" pitchFamily="2" charset="-122"/>
              </a:rPr>
              <a:t>图</a:t>
            </a:r>
            <a:r>
              <a:rPr lang="en-US" altLang="zh-CN" sz="1600" i="0" baseline="0" dirty="0">
                <a:solidFill>
                  <a:srgbClr val="3333CC"/>
                </a:solidFill>
                <a:latin typeface="Times New Roman" panose="02020603050405020304" pitchFamily="18" charset="0"/>
                <a:ea typeface="宋体" panose="02010600030101010101" pitchFamily="2" charset="-122"/>
              </a:rPr>
              <a:t>13.4  </a:t>
            </a:r>
            <a:r>
              <a:rPr lang="en-US" altLang="zh-CN" sz="1600" i="0" baseline="0" dirty="0">
                <a:solidFill>
                  <a:srgbClr val="000000"/>
                </a:solidFill>
                <a:latin typeface="Times New Roman" panose="02020603050405020304" pitchFamily="18" charset="0"/>
                <a:ea typeface="宋体" panose="02010600030101010101" pitchFamily="2" charset="-122"/>
              </a:rPr>
              <a:t>802.3</a:t>
            </a:r>
            <a:r>
              <a:rPr lang="zh-CN" altLang="en-US" sz="1600" i="0" baseline="0" dirty="0">
                <a:solidFill>
                  <a:srgbClr val="000000"/>
                </a:solidFill>
                <a:latin typeface="Times New Roman" panose="02020603050405020304" pitchFamily="18" charset="0"/>
                <a:ea typeface="宋体" panose="02010600030101010101" pitchFamily="2" charset="-122"/>
              </a:rPr>
              <a:t>的</a:t>
            </a:r>
            <a:r>
              <a:rPr lang="en-US" altLang="zh-CN" sz="1600" i="0" baseline="0" dirty="0">
                <a:solidFill>
                  <a:srgbClr val="000000"/>
                </a:solidFill>
                <a:latin typeface="Times New Roman" panose="02020603050405020304" pitchFamily="18" charset="0"/>
                <a:ea typeface="宋体" panose="02010600030101010101" pitchFamily="2" charset="-122"/>
              </a:rPr>
              <a:t>MAC</a:t>
            </a:r>
            <a:r>
              <a:rPr lang="zh-CN" altLang="en-US" sz="1600" i="0" baseline="0" dirty="0">
                <a:solidFill>
                  <a:srgbClr val="000000"/>
                </a:solidFill>
                <a:latin typeface="Times New Roman" panose="02020603050405020304" pitchFamily="18" charset="0"/>
                <a:ea typeface="宋体" panose="02010600030101010101" pitchFamily="2" charset="-122"/>
              </a:rPr>
              <a:t>帧</a:t>
            </a:r>
            <a:endParaRPr lang="en-US" altLang="zh-CN" sz="1600" i="0" baseline="0" dirty="0">
              <a:solidFill>
                <a:srgbClr val="000000"/>
              </a:solidFill>
              <a:latin typeface="Times New Roman" panose="02020603050405020304" pitchFamily="18" charset="0"/>
              <a:ea typeface="宋体" panose="02010600030101010101" pitchFamily="2" charset="-122"/>
            </a:endParaRPr>
          </a:p>
        </p:txBody>
      </p:sp>
      <p:sp>
        <p:nvSpPr>
          <p:cNvPr id="2" name="矩形 1">
            <a:extLst>
              <a:ext uri="{FF2B5EF4-FFF2-40B4-BE49-F238E27FC236}">
                <a16:creationId xmlns:a16="http://schemas.microsoft.com/office/drawing/2014/main" id="{534B2267-0751-4ED2-ADDB-2D9E0749A723}"/>
              </a:ext>
            </a:extLst>
          </p:cNvPr>
          <p:cNvSpPr/>
          <p:nvPr/>
        </p:nvSpPr>
        <p:spPr>
          <a:xfrm>
            <a:off x="1600321" y="4333857"/>
            <a:ext cx="9219958" cy="1495409"/>
          </a:xfrm>
          <a:prstGeom prst="rect">
            <a:avLst/>
          </a:prstGeom>
        </p:spPr>
        <p:txBody>
          <a:bodyPr wrap="square">
            <a:spAutoFit/>
          </a:bodyPr>
          <a:lstStyle/>
          <a:p>
            <a:pPr algn="just">
              <a:lnSpc>
                <a:spcPct val="200000"/>
              </a:lnSpc>
              <a:defRPr/>
            </a:pPr>
            <a:r>
              <a:rPr lang="zh-CN" altLang="en-US" sz="16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前同步码（</a:t>
            </a:r>
            <a:r>
              <a:rPr lang="en-US" altLang="zh-CN" sz="16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8</a:t>
            </a:r>
            <a:r>
              <a:rPr lang="zh-CN" altLang="en-US" sz="16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字节）</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：以太网帧以前同步码字段开始，前</a:t>
            </a:r>
            <a:r>
              <a:rPr lang="en-US" altLang="zh-CN"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7</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字节是</a:t>
            </a:r>
            <a:r>
              <a:rPr lang="en-US" altLang="zh-CN"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和</a:t>
            </a:r>
            <a:r>
              <a:rPr lang="en-US" altLang="zh-CN"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0</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交替出现的</a:t>
            </a:r>
            <a:r>
              <a:rPr lang="zh-CN" altLang="en-US" sz="16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前导码</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，最后一个字节是</a:t>
            </a:r>
            <a:r>
              <a:rPr lang="zh-CN" altLang="en-US" sz="16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起始帧分界符</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，结构为</a:t>
            </a:r>
            <a:r>
              <a:rPr lang="en-US" altLang="zh-CN"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10101011</a:t>
            </a:r>
            <a:r>
              <a:rPr lang="zh-CN" altLang="en-US"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。前导码用于“唤醒”接收端，并将它们的时钟和发送方时钟同步。起始帧分界符的最后两个比特警告接收端“重要的内容”就要到来了。</a:t>
            </a:r>
            <a:endParaRPr lang="en-US" altLang="zh-CN" sz="16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extLst>
      <p:ext uri="{BB962C8B-B14F-4D97-AF65-F5344CB8AC3E}">
        <p14:creationId xmlns:p14="http://schemas.microsoft.com/office/powerpoint/2010/main" val="2715735198"/>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graphicFrame>
        <p:nvGraphicFramePr>
          <p:cNvPr id="31" name="表格 30">
            <a:extLst>
              <a:ext uri="{FF2B5EF4-FFF2-40B4-BE49-F238E27FC236}">
                <a16:creationId xmlns:a16="http://schemas.microsoft.com/office/drawing/2014/main" id="{FC59CB7D-3571-4469-84EE-418857FE6106}"/>
              </a:ext>
            </a:extLst>
          </p:cNvPr>
          <p:cNvGraphicFramePr>
            <a:graphicFrameLocks noGrp="1"/>
          </p:cNvGraphicFramePr>
          <p:nvPr>
            <p:extLst>
              <p:ext uri="{D42A27DB-BD31-4B8C-83A1-F6EECF244321}">
                <p14:modId xmlns:p14="http://schemas.microsoft.com/office/powerpoint/2010/main" val="3801103536"/>
              </p:ext>
            </p:extLst>
          </p:nvPr>
        </p:nvGraphicFramePr>
        <p:xfrm>
          <a:off x="3070659" y="1327502"/>
          <a:ext cx="3310349" cy="213360"/>
        </p:xfrm>
        <a:graphic>
          <a:graphicData uri="http://schemas.openxmlformats.org/drawingml/2006/table">
            <a:tbl>
              <a:tblPr firstRow="1" bandRow="1">
                <a:tableStyleId>{5C22544A-7EE6-4342-B048-85BDC9FD1C3A}</a:tableStyleId>
              </a:tblPr>
              <a:tblGrid>
                <a:gridCol w="3310349">
                  <a:extLst>
                    <a:ext uri="{9D8B030D-6E8A-4147-A177-3AD203B41FA5}">
                      <a16:colId xmlns:a16="http://schemas.microsoft.com/office/drawing/2014/main" val="3197240255"/>
                    </a:ext>
                  </a:extLst>
                </a:gridCol>
              </a:tblGrid>
              <a:tr h="137091">
                <a:tc>
                  <a:txBody>
                    <a:bodyPr/>
                    <a:lstStyle/>
                    <a:p>
                      <a:endParaRPr lang="zh-CN" altLang="en-US" sz="800" dirty="0"/>
                    </a:p>
                  </a:txBody>
                  <a:tcPr>
                    <a:lnL w="19050" cap="flat" cmpd="sng" algn="ctr">
                      <a:solidFill>
                        <a:srgbClr val="0099FF"/>
                      </a:solidFill>
                      <a:prstDash val="solid"/>
                      <a:round/>
                      <a:headEnd type="none" w="med" len="med"/>
                      <a:tailEnd type="none" w="med" len="med"/>
                    </a:lnL>
                    <a:lnR w="19050" cap="flat" cmpd="sng" algn="ctr">
                      <a:solidFill>
                        <a:srgbClr val="0099FF"/>
                      </a:solidFill>
                      <a:prstDash val="solid"/>
                      <a:round/>
                      <a:headEnd type="none" w="med" len="med"/>
                      <a:tailEnd type="none" w="med" len="med"/>
                    </a:lnR>
                    <a:lnT w="19050" cap="flat" cmpd="sng" algn="ctr">
                      <a:solidFill>
                        <a:srgbClr val="0099FF"/>
                      </a:solidFill>
                      <a:prstDash val="solid"/>
                      <a:round/>
                      <a:headEnd type="none" w="med" len="med"/>
                      <a:tailEnd type="none" w="med" len="med"/>
                    </a:lnT>
                    <a:noFill/>
                  </a:tcPr>
                </a:tc>
                <a:extLst>
                  <a:ext uri="{0D108BD9-81ED-4DB2-BD59-A6C34878D82A}">
                    <a16:rowId xmlns:a16="http://schemas.microsoft.com/office/drawing/2014/main" val="3290805028"/>
                  </a:ext>
                </a:extLst>
              </a:tr>
            </a:tbl>
          </a:graphicData>
        </a:graphic>
      </p:graphicFrame>
      <p:graphicFrame>
        <p:nvGraphicFramePr>
          <p:cNvPr id="32" name="表格 31">
            <a:extLst>
              <a:ext uri="{FF2B5EF4-FFF2-40B4-BE49-F238E27FC236}">
                <a16:creationId xmlns:a16="http://schemas.microsoft.com/office/drawing/2014/main" id="{7266009D-16B9-4915-8FF8-97CF64CAAFBE}"/>
              </a:ext>
            </a:extLst>
          </p:cNvPr>
          <p:cNvGraphicFramePr>
            <a:graphicFrameLocks noGrp="1"/>
          </p:cNvGraphicFramePr>
          <p:nvPr>
            <p:extLst>
              <p:ext uri="{D42A27DB-BD31-4B8C-83A1-F6EECF244321}">
                <p14:modId xmlns:p14="http://schemas.microsoft.com/office/powerpoint/2010/main" val="3539887527"/>
              </p:ext>
            </p:extLst>
          </p:nvPr>
        </p:nvGraphicFramePr>
        <p:xfrm>
          <a:off x="6544660" y="1325154"/>
          <a:ext cx="1303894" cy="213360"/>
        </p:xfrm>
        <a:graphic>
          <a:graphicData uri="http://schemas.openxmlformats.org/drawingml/2006/table">
            <a:tbl>
              <a:tblPr firstRow="1" bandRow="1">
                <a:tableStyleId>{5C22544A-7EE6-4342-B048-85BDC9FD1C3A}</a:tableStyleId>
              </a:tblPr>
              <a:tblGrid>
                <a:gridCol w="1303894">
                  <a:extLst>
                    <a:ext uri="{9D8B030D-6E8A-4147-A177-3AD203B41FA5}">
                      <a16:colId xmlns:a16="http://schemas.microsoft.com/office/drawing/2014/main" val="3197240255"/>
                    </a:ext>
                  </a:extLst>
                </a:gridCol>
              </a:tblGrid>
              <a:tr h="137091">
                <a:tc>
                  <a:txBody>
                    <a:bodyPr/>
                    <a:lstStyle/>
                    <a:p>
                      <a:endParaRPr lang="zh-CN" altLang="en-US" sz="800" dirty="0"/>
                    </a:p>
                  </a:txBody>
                  <a:tcPr>
                    <a:lnL w="19050" cap="flat" cmpd="sng" algn="ctr">
                      <a:solidFill>
                        <a:srgbClr val="0099FF"/>
                      </a:solidFill>
                      <a:prstDash val="solid"/>
                      <a:round/>
                      <a:headEnd type="none" w="med" len="med"/>
                      <a:tailEnd type="none" w="med" len="med"/>
                    </a:lnL>
                    <a:lnR w="19050" cap="flat" cmpd="sng" algn="ctr">
                      <a:solidFill>
                        <a:srgbClr val="0099FF"/>
                      </a:solidFill>
                      <a:prstDash val="solid"/>
                      <a:round/>
                      <a:headEnd type="none" w="med" len="med"/>
                      <a:tailEnd type="none" w="med" len="med"/>
                    </a:lnR>
                    <a:lnT w="19050" cap="flat" cmpd="sng" algn="ctr">
                      <a:solidFill>
                        <a:srgbClr val="0099FF"/>
                      </a:solidFill>
                      <a:prstDash val="solid"/>
                      <a:round/>
                      <a:headEnd type="none" w="med" len="med"/>
                      <a:tailEnd type="none" w="med" len="med"/>
                    </a:lnT>
                    <a:noFill/>
                  </a:tcPr>
                </a:tc>
                <a:extLst>
                  <a:ext uri="{0D108BD9-81ED-4DB2-BD59-A6C34878D82A}">
                    <a16:rowId xmlns:a16="http://schemas.microsoft.com/office/drawing/2014/main" val="3290805028"/>
                  </a:ext>
                </a:extLst>
              </a:tr>
            </a:tbl>
          </a:graphicData>
        </a:graphic>
      </p:graphicFrame>
      <p:sp>
        <p:nvSpPr>
          <p:cNvPr id="5" name="矩形 4">
            <a:extLst>
              <a:ext uri="{FF2B5EF4-FFF2-40B4-BE49-F238E27FC236}">
                <a16:creationId xmlns:a16="http://schemas.microsoft.com/office/drawing/2014/main" id="{353D263E-B545-464D-A908-08BA3B06814D}"/>
              </a:ext>
            </a:extLst>
          </p:cNvPr>
          <p:cNvSpPr/>
          <p:nvPr/>
        </p:nvSpPr>
        <p:spPr bwMode="auto">
          <a:xfrm>
            <a:off x="2906941" y="1524050"/>
            <a:ext cx="5127844" cy="533386"/>
          </a:xfrm>
          <a:prstGeom prst="rect">
            <a:avLst/>
          </a:prstGeom>
          <a:solidFill>
            <a:srgbClr val="B9D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zh-CN" altLang="en-US" sz="3200" i="0" baseline="0">
              <a:latin typeface="Arial" panose="020B0604020202020204" pitchFamily="34" charset="0"/>
            </a:endParaRPr>
          </a:p>
        </p:txBody>
      </p:sp>
      <p:sp>
        <p:nvSpPr>
          <p:cNvPr id="16" name="矩形 15">
            <a:extLst>
              <a:ext uri="{FF2B5EF4-FFF2-40B4-BE49-F238E27FC236}">
                <a16:creationId xmlns:a16="http://schemas.microsoft.com/office/drawing/2014/main" id="{34A7F354-8694-4C86-8D7E-D2065380B623}"/>
              </a:ext>
            </a:extLst>
          </p:cNvPr>
          <p:cNvSpPr/>
          <p:nvPr/>
        </p:nvSpPr>
        <p:spPr bwMode="auto">
          <a:xfrm>
            <a:off x="6629386" y="2514624"/>
            <a:ext cx="2895524" cy="2322548"/>
          </a:xfrm>
          <a:prstGeom prst="rect">
            <a:avLst/>
          </a:prstGeom>
          <a:solidFill>
            <a:schemeClr val="accent2">
              <a:lumMod val="40000"/>
              <a:lumOff val="60000"/>
            </a:schemeClr>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zh-CN" altLang="en-US" sz="3200" i="0" baseline="0">
              <a:latin typeface="Arial" panose="020B0604020202020204" pitchFamily="34" charset="0"/>
            </a:endParaRPr>
          </a:p>
        </p:txBody>
      </p:sp>
      <p:sp>
        <p:nvSpPr>
          <p:cNvPr id="11" name="矩形 10">
            <a:extLst>
              <a:ext uri="{FF2B5EF4-FFF2-40B4-BE49-F238E27FC236}">
                <a16:creationId xmlns:a16="http://schemas.microsoft.com/office/drawing/2014/main" id="{AB1AA995-C596-4C8D-88D6-E3FAEAECEE11}"/>
              </a:ext>
            </a:extLst>
          </p:cNvPr>
          <p:cNvSpPr/>
          <p:nvPr/>
        </p:nvSpPr>
        <p:spPr bwMode="auto">
          <a:xfrm>
            <a:off x="2906941" y="2514624"/>
            <a:ext cx="2895524" cy="2322548"/>
          </a:xfrm>
          <a:prstGeom prst="rect">
            <a:avLst/>
          </a:prstGeom>
          <a:solidFill>
            <a:srgbClr val="D9ECFF"/>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t" anchorCtr="0" compatLnSpc="1">
            <a:prstTxWarp prst="textNoShape">
              <a:avLst/>
            </a:prstTxWarp>
          </a:bodyPr>
          <a:lstStyle/>
          <a:p>
            <a:endParaRPr lang="zh-CN" altLang="en-US" sz="3200" i="0" baseline="0">
              <a:latin typeface="Arial" panose="020B0604020202020204" pitchFamily="34" charset="0"/>
            </a:endParaRPr>
          </a:p>
        </p:txBody>
      </p:sp>
      <p:sp>
        <p:nvSpPr>
          <p:cNvPr id="4" name="文本框 3">
            <a:extLst>
              <a:ext uri="{FF2B5EF4-FFF2-40B4-BE49-F238E27FC236}">
                <a16:creationId xmlns:a16="http://schemas.microsoft.com/office/drawing/2014/main" id="{26B0C7A7-6CF5-4799-8941-94E9F6F3AEF9}"/>
              </a:ext>
            </a:extLst>
          </p:cNvPr>
          <p:cNvSpPr txBox="1"/>
          <p:nvPr/>
        </p:nvSpPr>
        <p:spPr>
          <a:xfrm>
            <a:off x="2939407" y="1644107"/>
            <a:ext cx="5127844" cy="338554"/>
          </a:xfrm>
          <a:prstGeom prst="rect">
            <a:avLst/>
          </a:prstGeom>
          <a:noFill/>
        </p:spPr>
        <p:txBody>
          <a:bodyPr wrap="square" rtlCol="0">
            <a:spAutoFit/>
          </a:bodyPr>
          <a:lstStyle/>
          <a:p>
            <a:r>
              <a:rPr lang="en-US" altLang="zh-CN" sz="1600" b="0" i="0" baseline="0" dirty="0">
                <a:latin typeface="微软雅黑" panose="020B0503020204020204" pitchFamily="34" charset="-122"/>
                <a:ea typeface="微软雅黑" panose="020B0503020204020204" pitchFamily="34" charset="-122"/>
              </a:rPr>
              <a:t>1 0 1 0 1 0 1 0  ••••••1 0 1 0 1 0 1 0 1 0 1 0 1 0 1 1</a:t>
            </a:r>
            <a:endParaRPr lang="zh-CN" altLang="en-US" sz="1600" b="0" i="0" baseline="0" dirty="0">
              <a:latin typeface="微软雅黑" panose="020B0503020204020204" pitchFamily="34" charset="-122"/>
              <a:ea typeface="微软雅黑" panose="020B0503020204020204" pitchFamily="34" charset="-122"/>
            </a:endParaRPr>
          </a:p>
        </p:txBody>
      </p:sp>
      <p:graphicFrame>
        <p:nvGraphicFramePr>
          <p:cNvPr id="6" name="表格 5">
            <a:extLst>
              <a:ext uri="{FF2B5EF4-FFF2-40B4-BE49-F238E27FC236}">
                <a16:creationId xmlns:a16="http://schemas.microsoft.com/office/drawing/2014/main" id="{BBCCBEFF-60F3-4211-B26B-F3E1E8E59732}"/>
              </a:ext>
            </a:extLst>
          </p:cNvPr>
          <p:cNvGraphicFramePr>
            <a:graphicFrameLocks noGrp="1"/>
          </p:cNvGraphicFramePr>
          <p:nvPr>
            <p:extLst>
              <p:ext uri="{D42A27DB-BD31-4B8C-83A1-F6EECF244321}">
                <p14:modId xmlns:p14="http://schemas.microsoft.com/office/powerpoint/2010/main" val="2683544758"/>
              </p:ext>
            </p:extLst>
          </p:nvPr>
        </p:nvGraphicFramePr>
        <p:xfrm>
          <a:off x="3287931" y="2647252"/>
          <a:ext cx="2133544" cy="2000916"/>
        </p:xfrm>
        <a:graphic>
          <a:graphicData uri="http://schemas.openxmlformats.org/drawingml/2006/table">
            <a:tbl>
              <a:tblPr firstRow="1" bandRow="1">
                <a:tableStyleId>{5C22544A-7EE6-4342-B048-85BDC9FD1C3A}</a:tableStyleId>
              </a:tblPr>
              <a:tblGrid>
                <a:gridCol w="533386">
                  <a:extLst>
                    <a:ext uri="{9D8B030D-6E8A-4147-A177-3AD203B41FA5}">
                      <a16:colId xmlns:a16="http://schemas.microsoft.com/office/drawing/2014/main" val="1362499578"/>
                    </a:ext>
                  </a:extLst>
                </a:gridCol>
                <a:gridCol w="533386">
                  <a:extLst>
                    <a:ext uri="{9D8B030D-6E8A-4147-A177-3AD203B41FA5}">
                      <a16:colId xmlns:a16="http://schemas.microsoft.com/office/drawing/2014/main" val="771874559"/>
                    </a:ext>
                  </a:extLst>
                </a:gridCol>
                <a:gridCol w="533386">
                  <a:extLst>
                    <a:ext uri="{9D8B030D-6E8A-4147-A177-3AD203B41FA5}">
                      <a16:colId xmlns:a16="http://schemas.microsoft.com/office/drawing/2014/main" val="1222302043"/>
                    </a:ext>
                  </a:extLst>
                </a:gridCol>
                <a:gridCol w="533386">
                  <a:extLst>
                    <a:ext uri="{9D8B030D-6E8A-4147-A177-3AD203B41FA5}">
                      <a16:colId xmlns:a16="http://schemas.microsoft.com/office/drawing/2014/main" val="994737528"/>
                    </a:ext>
                  </a:extLst>
                </a:gridCol>
              </a:tblGrid>
              <a:tr h="472189">
                <a:tc>
                  <a:txBody>
                    <a:bodyPr/>
                    <a:lstStyle/>
                    <a:p>
                      <a:pPr algn="ctr"/>
                      <a:r>
                        <a:rPr lang="en-US" altLang="zh-CN" sz="1400" b="1" dirty="0">
                          <a:solidFill>
                            <a:srgbClr val="0070C0"/>
                          </a:solidFill>
                          <a:latin typeface="微软雅黑" panose="020B0503020204020204" pitchFamily="34" charset="-122"/>
                          <a:ea typeface="微软雅黑" panose="020B0503020204020204" pitchFamily="34" charset="-122"/>
                        </a:rPr>
                        <a:t>1</a:t>
                      </a:r>
                      <a:endParaRPr lang="zh-CN" altLang="en-US" sz="1400" b="1" dirty="0">
                        <a:solidFill>
                          <a:srgbClr val="0070C0"/>
                        </a:solidFill>
                        <a:latin typeface="微软雅黑" panose="020B0503020204020204" pitchFamily="34" charset="-122"/>
                        <a:ea typeface="微软雅黑" panose="020B0503020204020204" pitchFamily="34" charset="-122"/>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rgbClr val="D9ECFF"/>
                    </a:solidFill>
                  </a:tcPr>
                </a:tc>
                <a:tc>
                  <a:txBody>
                    <a:bodyPr/>
                    <a:lstStyle/>
                    <a:p>
                      <a:pPr algn="ctr"/>
                      <a:r>
                        <a:rPr lang="en-US" altLang="zh-CN" sz="1400" b="1" dirty="0">
                          <a:solidFill>
                            <a:srgbClr val="0070C0"/>
                          </a:solidFill>
                          <a:latin typeface="微软雅黑" panose="020B0503020204020204" pitchFamily="34" charset="-122"/>
                          <a:ea typeface="微软雅黑" panose="020B0503020204020204" pitchFamily="34" charset="-122"/>
                        </a:rPr>
                        <a:t>0</a:t>
                      </a:r>
                      <a:endParaRPr lang="zh-CN" altLang="en-US" sz="1400" b="1" dirty="0">
                        <a:solidFill>
                          <a:srgbClr val="0070C0"/>
                        </a:solidFill>
                        <a:latin typeface="微软雅黑" panose="020B0503020204020204" pitchFamily="34" charset="-122"/>
                        <a:ea typeface="微软雅黑" panose="020B0503020204020204" pitchFamily="34" charset="-122"/>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rgbClr val="D9ECFF"/>
                    </a:solidFill>
                  </a:tcPr>
                </a:tc>
                <a:tc>
                  <a:txBody>
                    <a:bodyPr/>
                    <a:lstStyle/>
                    <a:p>
                      <a:pPr algn="ctr"/>
                      <a:r>
                        <a:rPr lang="en-US" altLang="zh-CN" sz="1400" b="1" dirty="0">
                          <a:solidFill>
                            <a:srgbClr val="0070C0"/>
                          </a:solidFill>
                          <a:latin typeface="微软雅黑" panose="020B0503020204020204" pitchFamily="34" charset="-122"/>
                          <a:ea typeface="微软雅黑" panose="020B0503020204020204" pitchFamily="34" charset="-122"/>
                        </a:rPr>
                        <a:t>1</a:t>
                      </a:r>
                      <a:endParaRPr lang="zh-CN" altLang="en-US" sz="1400" b="1" dirty="0">
                        <a:solidFill>
                          <a:srgbClr val="0070C0"/>
                        </a:solidFill>
                        <a:latin typeface="微软雅黑" panose="020B0503020204020204" pitchFamily="34" charset="-122"/>
                        <a:ea typeface="微软雅黑" panose="020B0503020204020204" pitchFamily="34" charset="-122"/>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rgbClr val="D9ECFF"/>
                    </a:solidFill>
                  </a:tcPr>
                </a:tc>
                <a:tc>
                  <a:txBody>
                    <a:bodyPr/>
                    <a:lstStyle/>
                    <a:p>
                      <a:pPr algn="ctr"/>
                      <a:r>
                        <a:rPr lang="en-US" altLang="zh-CN" sz="1400" b="1" dirty="0">
                          <a:solidFill>
                            <a:srgbClr val="0070C0"/>
                          </a:solidFill>
                          <a:latin typeface="微软雅黑" panose="020B0503020204020204" pitchFamily="34" charset="-122"/>
                          <a:ea typeface="微软雅黑" panose="020B0503020204020204" pitchFamily="34" charset="-122"/>
                        </a:rPr>
                        <a:t>0</a:t>
                      </a:r>
                      <a:endParaRPr lang="zh-CN" altLang="en-US" sz="1400" b="1" dirty="0">
                        <a:solidFill>
                          <a:srgbClr val="0070C0"/>
                        </a:solidFill>
                        <a:latin typeface="微软雅黑" panose="020B0503020204020204" pitchFamily="34" charset="-122"/>
                        <a:ea typeface="微软雅黑" panose="020B0503020204020204" pitchFamily="34" charset="-122"/>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rgbClr val="D9ECFF"/>
                    </a:solidFill>
                  </a:tcPr>
                </a:tc>
                <a:extLst>
                  <a:ext uri="{0D108BD9-81ED-4DB2-BD59-A6C34878D82A}">
                    <a16:rowId xmlns:a16="http://schemas.microsoft.com/office/drawing/2014/main" val="406612144"/>
                  </a:ext>
                </a:extLst>
              </a:tr>
              <a:tr h="1528727">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rgbClr val="D9ECFF"/>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rgbClr val="D9ECFF"/>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rgbClr val="D9ECFF"/>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rgbClr val="D9ECFF"/>
                    </a:solidFill>
                  </a:tcPr>
                </a:tc>
                <a:extLst>
                  <a:ext uri="{0D108BD9-81ED-4DB2-BD59-A6C34878D82A}">
                    <a16:rowId xmlns:a16="http://schemas.microsoft.com/office/drawing/2014/main" val="2942527423"/>
                  </a:ext>
                </a:extLst>
              </a:tr>
            </a:tbl>
          </a:graphicData>
        </a:graphic>
      </p:graphicFrame>
      <p:graphicFrame>
        <p:nvGraphicFramePr>
          <p:cNvPr id="7" name="表格 6">
            <a:extLst>
              <a:ext uri="{FF2B5EF4-FFF2-40B4-BE49-F238E27FC236}">
                <a16:creationId xmlns:a16="http://schemas.microsoft.com/office/drawing/2014/main" id="{6D95AE5D-8058-4B31-8B0C-204B55D390A6}"/>
              </a:ext>
            </a:extLst>
          </p:cNvPr>
          <p:cNvGraphicFramePr>
            <a:graphicFrameLocks noGrp="1"/>
          </p:cNvGraphicFramePr>
          <p:nvPr>
            <p:extLst>
              <p:ext uri="{D42A27DB-BD31-4B8C-83A1-F6EECF244321}">
                <p14:modId xmlns:p14="http://schemas.microsoft.com/office/powerpoint/2010/main" val="3622314086"/>
              </p:ext>
            </p:extLst>
          </p:nvPr>
        </p:nvGraphicFramePr>
        <p:xfrm>
          <a:off x="3558856" y="3352803"/>
          <a:ext cx="2133544" cy="995341"/>
        </p:xfrm>
        <a:graphic>
          <a:graphicData uri="http://schemas.openxmlformats.org/drawingml/2006/table">
            <a:tbl>
              <a:tblPr firstRow="1" bandRow="1">
                <a:tableStyleId>{5C22544A-7EE6-4342-B048-85BDC9FD1C3A}</a:tableStyleId>
              </a:tblPr>
              <a:tblGrid>
                <a:gridCol w="533386">
                  <a:extLst>
                    <a:ext uri="{9D8B030D-6E8A-4147-A177-3AD203B41FA5}">
                      <a16:colId xmlns:a16="http://schemas.microsoft.com/office/drawing/2014/main" val="567252329"/>
                    </a:ext>
                  </a:extLst>
                </a:gridCol>
                <a:gridCol w="533386">
                  <a:extLst>
                    <a:ext uri="{9D8B030D-6E8A-4147-A177-3AD203B41FA5}">
                      <a16:colId xmlns:a16="http://schemas.microsoft.com/office/drawing/2014/main" val="3983122003"/>
                    </a:ext>
                  </a:extLst>
                </a:gridCol>
                <a:gridCol w="533386">
                  <a:extLst>
                    <a:ext uri="{9D8B030D-6E8A-4147-A177-3AD203B41FA5}">
                      <a16:colId xmlns:a16="http://schemas.microsoft.com/office/drawing/2014/main" val="1512536615"/>
                    </a:ext>
                  </a:extLst>
                </a:gridCol>
                <a:gridCol w="533386">
                  <a:extLst>
                    <a:ext uri="{9D8B030D-6E8A-4147-A177-3AD203B41FA5}">
                      <a16:colId xmlns:a16="http://schemas.microsoft.com/office/drawing/2014/main" val="850238071"/>
                    </a:ext>
                  </a:extLst>
                </a:gridCol>
              </a:tblGrid>
              <a:tr h="995341">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09546989"/>
                  </a:ext>
                </a:extLst>
              </a:tr>
            </a:tbl>
          </a:graphicData>
        </a:graphic>
      </p:graphicFrame>
      <p:cxnSp>
        <p:nvCxnSpPr>
          <p:cNvPr id="9" name="直接连接符 8">
            <a:extLst>
              <a:ext uri="{FF2B5EF4-FFF2-40B4-BE49-F238E27FC236}">
                <a16:creationId xmlns:a16="http://schemas.microsoft.com/office/drawing/2014/main" id="{E1175C97-5C5F-4B94-936F-F8F12171D24A}"/>
              </a:ext>
            </a:extLst>
          </p:cNvPr>
          <p:cNvCxnSpPr/>
          <p:nvPr/>
        </p:nvCxnSpPr>
        <p:spPr bwMode="auto">
          <a:xfrm>
            <a:off x="3287932" y="4348143"/>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0" name="直接连接符 9">
            <a:extLst>
              <a:ext uri="{FF2B5EF4-FFF2-40B4-BE49-F238E27FC236}">
                <a16:creationId xmlns:a16="http://schemas.microsoft.com/office/drawing/2014/main" id="{9B952986-1CEB-4C6C-A0D6-4D7605DB1158}"/>
              </a:ext>
            </a:extLst>
          </p:cNvPr>
          <p:cNvCxnSpPr/>
          <p:nvPr/>
        </p:nvCxnSpPr>
        <p:spPr bwMode="auto">
          <a:xfrm>
            <a:off x="5150551" y="4336854"/>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graphicFrame>
        <p:nvGraphicFramePr>
          <p:cNvPr id="12" name="表格 11">
            <a:extLst>
              <a:ext uri="{FF2B5EF4-FFF2-40B4-BE49-F238E27FC236}">
                <a16:creationId xmlns:a16="http://schemas.microsoft.com/office/drawing/2014/main" id="{4C0440C8-ACCE-4B8E-A1E7-33F119F5A6C4}"/>
              </a:ext>
            </a:extLst>
          </p:cNvPr>
          <p:cNvGraphicFramePr>
            <a:graphicFrameLocks noGrp="1"/>
          </p:cNvGraphicFramePr>
          <p:nvPr>
            <p:extLst>
              <p:ext uri="{D42A27DB-BD31-4B8C-83A1-F6EECF244321}">
                <p14:modId xmlns:p14="http://schemas.microsoft.com/office/powerpoint/2010/main" val="1111492711"/>
              </p:ext>
            </p:extLst>
          </p:nvPr>
        </p:nvGraphicFramePr>
        <p:xfrm>
          <a:off x="7010376" y="2647252"/>
          <a:ext cx="2133544" cy="2000916"/>
        </p:xfrm>
        <a:graphic>
          <a:graphicData uri="http://schemas.openxmlformats.org/drawingml/2006/table">
            <a:tbl>
              <a:tblPr firstRow="1" bandRow="1">
                <a:tableStyleId>{5C22544A-7EE6-4342-B048-85BDC9FD1C3A}</a:tableStyleId>
              </a:tblPr>
              <a:tblGrid>
                <a:gridCol w="533386">
                  <a:extLst>
                    <a:ext uri="{9D8B030D-6E8A-4147-A177-3AD203B41FA5}">
                      <a16:colId xmlns:a16="http://schemas.microsoft.com/office/drawing/2014/main" val="1362499578"/>
                    </a:ext>
                  </a:extLst>
                </a:gridCol>
                <a:gridCol w="533386">
                  <a:extLst>
                    <a:ext uri="{9D8B030D-6E8A-4147-A177-3AD203B41FA5}">
                      <a16:colId xmlns:a16="http://schemas.microsoft.com/office/drawing/2014/main" val="771874559"/>
                    </a:ext>
                  </a:extLst>
                </a:gridCol>
                <a:gridCol w="533386">
                  <a:extLst>
                    <a:ext uri="{9D8B030D-6E8A-4147-A177-3AD203B41FA5}">
                      <a16:colId xmlns:a16="http://schemas.microsoft.com/office/drawing/2014/main" val="1222302043"/>
                    </a:ext>
                  </a:extLst>
                </a:gridCol>
                <a:gridCol w="533386">
                  <a:extLst>
                    <a:ext uri="{9D8B030D-6E8A-4147-A177-3AD203B41FA5}">
                      <a16:colId xmlns:a16="http://schemas.microsoft.com/office/drawing/2014/main" val="994737528"/>
                    </a:ext>
                  </a:extLst>
                </a:gridCol>
              </a:tblGrid>
              <a:tr h="472189">
                <a:tc>
                  <a:txBody>
                    <a:bodyPr/>
                    <a:lstStyle/>
                    <a:p>
                      <a:pPr marL="0" algn="ctr" defTabSz="914400" rtl="0" eaLnBrk="1" latinLnBrk="0" hangingPunct="1"/>
                      <a:r>
                        <a:rPr lang="en-US" altLang="zh-CN" sz="1400" b="1" kern="1200" dirty="0">
                          <a:solidFill>
                            <a:srgbClr val="0070C0"/>
                          </a:solidFill>
                          <a:latin typeface="微软雅黑" panose="020B0503020204020204" pitchFamily="34" charset="-122"/>
                          <a:ea typeface="微软雅黑" panose="020B0503020204020204" pitchFamily="34" charset="-122"/>
                          <a:cs typeface="+mn-cs"/>
                        </a:rPr>
                        <a:t>1</a:t>
                      </a:r>
                      <a:endParaRPr lang="zh-CN" altLang="en-US" sz="1400" b="1"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400" b="1" kern="1200" dirty="0">
                          <a:solidFill>
                            <a:srgbClr val="0070C0"/>
                          </a:solidFill>
                          <a:latin typeface="微软雅黑" panose="020B0503020204020204" pitchFamily="34" charset="-122"/>
                          <a:ea typeface="微软雅黑" panose="020B0503020204020204" pitchFamily="34" charset="-122"/>
                          <a:cs typeface="+mn-cs"/>
                        </a:rPr>
                        <a:t>0</a:t>
                      </a:r>
                      <a:endParaRPr lang="zh-CN" altLang="en-US" sz="1400" b="1"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400" b="1" kern="1200" dirty="0">
                          <a:solidFill>
                            <a:srgbClr val="0070C0"/>
                          </a:solidFill>
                          <a:latin typeface="微软雅黑" panose="020B0503020204020204" pitchFamily="34" charset="-122"/>
                          <a:ea typeface="微软雅黑" panose="020B0503020204020204" pitchFamily="34" charset="-122"/>
                          <a:cs typeface="+mn-cs"/>
                        </a:rPr>
                        <a:t>1</a:t>
                      </a:r>
                      <a:endParaRPr lang="zh-CN" altLang="en-US" sz="1400" b="1"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tc>
                  <a:txBody>
                    <a:bodyPr/>
                    <a:lstStyle/>
                    <a:p>
                      <a:pPr marL="0" algn="ctr" defTabSz="914400" rtl="0" eaLnBrk="1" latinLnBrk="0" hangingPunct="1"/>
                      <a:r>
                        <a:rPr lang="en-US" altLang="zh-CN" sz="1400" b="1" kern="1200" dirty="0">
                          <a:solidFill>
                            <a:srgbClr val="0070C0"/>
                          </a:solidFill>
                          <a:latin typeface="微软雅黑" panose="020B0503020204020204" pitchFamily="34" charset="-122"/>
                          <a:ea typeface="微软雅黑" panose="020B0503020204020204" pitchFamily="34" charset="-122"/>
                          <a:cs typeface="+mn-cs"/>
                        </a:rPr>
                        <a:t>1</a:t>
                      </a:r>
                      <a:endParaRPr lang="zh-CN" altLang="en-US" sz="1400" b="1" kern="1200" dirty="0">
                        <a:solidFill>
                          <a:srgbClr val="0070C0"/>
                        </a:solidFill>
                        <a:latin typeface="微软雅黑" panose="020B0503020204020204" pitchFamily="34" charset="-122"/>
                        <a:ea typeface="微软雅黑" panose="020B0503020204020204" pitchFamily="34" charset="-122"/>
                        <a:cs typeface="+mn-cs"/>
                      </a:endParaRPr>
                    </a:p>
                  </a:txBody>
                  <a:tcPr>
                    <a:lnL w="12700" cap="flat" cmpd="sng" algn="ctr">
                      <a:noFill/>
                      <a:prstDash val="dash"/>
                      <a:round/>
                      <a:headEnd type="none" w="med" len="med"/>
                      <a:tailEnd type="none" w="med" len="med"/>
                    </a:lnL>
                    <a:lnR w="12700" cap="flat" cmpd="sng" algn="ctr">
                      <a:noFill/>
                      <a:prstDash val="dash"/>
                      <a:round/>
                      <a:headEnd type="none" w="med" len="med"/>
                      <a:tailEnd type="none" w="med" len="med"/>
                    </a:lnR>
                    <a:lnT w="12700" cap="flat" cmpd="sng" algn="ctr">
                      <a:noFill/>
                      <a:prstDash val="solid"/>
                      <a:round/>
                      <a:headEnd type="none" w="med" len="med"/>
                      <a:tailEnd type="none" w="med" len="med"/>
                    </a:lnT>
                    <a:lnB w="12700" cap="flat" cmpd="sng" algn="ctr">
                      <a:noFill/>
                      <a:prstDash val="dash"/>
                      <a:round/>
                      <a:headEnd type="none" w="med" len="med"/>
                      <a:tailEnd type="none" w="med" len="med"/>
                    </a:lnB>
                    <a:lnTlToBr w="12700" cmpd="sng">
                      <a:noFill/>
                      <a:prstDash val="solid"/>
                    </a:lnTlToBr>
                    <a:lnBlToTr w="12700" cmpd="sng">
                      <a:noFill/>
                      <a:prstDash val="solid"/>
                    </a:lnBlToTr>
                    <a:solidFill>
                      <a:schemeClr val="accent2">
                        <a:lumMod val="40000"/>
                        <a:lumOff val="60000"/>
                      </a:schemeClr>
                    </a:solidFill>
                  </a:tcPr>
                </a:tc>
                <a:extLst>
                  <a:ext uri="{0D108BD9-81ED-4DB2-BD59-A6C34878D82A}">
                    <a16:rowId xmlns:a16="http://schemas.microsoft.com/office/drawing/2014/main" val="406612144"/>
                  </a:ext>
                </a:extLst>
              </a:tr>
              <a:tr h="1528727">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chemeClr val="accent2">
                        <a:lumMod val="40000"/>
                        <a:lumOff val="60000"/>
                      </a:schemeClr>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chemeClr val="accent2">
                        <a:lumMod val="40000"/>
                        <a:lumOff val="60000"/>
                      </a:schemeClr>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chemeClr val="accent2">
                        <a:lumMod val="40000"/>
                        <a:lumOff val="60000"/>
                      </a:schemeClr>
                    </a:solidFill>
                  </a:tcPr>
                </a:tc>
                <a:tc>
                  <a:txBody>
                    <a:bodyPr/>
                    <a:lstStyle/>
                    <a:p>
                      <a:endParaRPr lang="zh-CN" altLang="en-US" dirty="0"/>
                    </a:p>
                  </a:txBody>
                  <a:tcPr>
                    <a:lnL w="12700" cap="flat" cmpd="sng" algn="ctr">
                      <a:solidFill>
                        <a:schemeClr val="tx1"/>
                      </a:solidFill>
                      <a:prstDash val="dash"/>
                      <a:round/>
                      <a:headEnd type="none" w="med" len="med"/>
                      <a:tailEnd type="none" w="med" len="med"/>
                    </a:lnL>
                    <a:lnR w="12700" cap="flat" cmpd="sng" algn="ctr">
                      <a:solidFill>
                        <a:schemeClr val="tx1"/>
                      </a:solid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solidFill>
                      <a:schemeClr val="accent2">
                        <a:lumMod val="40000"/>
                        <a:lumOff val="60000"/>
                      </a:schemeClr>
                    </a:solidFill>
                  </a:tcPr>
                </a:tc>
                <a:extLst>
                  <a:ext uri="{0D108BD9-81ED-4DB2-BD59-A6C34878D82A}">
                    <a16:rowId xmlns:a16="http://schemas.microsoft.com/office/drawing/2014/main" val="2942527423"/>
                  </a:ext>
                </a:extLst>
              </a:tr>
            </a:tbl>
          </a:graphicData>
        </a:graphic>
      </p:graphicFrame>
      <p:graphicFrame>
        <p:nvGraphicFramePr>
          <p:cNvPr id="13" name="表格 12">
            <a:extLst>
              <a:ext uri="{FF2B5EF4-FFF2-40B4-BE49-F238E27FC236}">
                <a16:creationId xmlns:a16="http://schemas.microsoft.com/office/drawing/2014/main" id="{EC38BBAD-33FA-4A56-9F6E-12F6245D6317}"/>
              </a:ext>
            </a:extLst>
          </p:cNvPr>
          <p:cNvGraphicFramePr>
            <a:graphicFrameLocks noGrp="1"/>
          </p:cNvGraphicFramePr>
          <p:nvPr>
            <p:extLst>
              <p:ext uri="{D42A27DB-BD31-4B8C-83A1-F6EECF244321}">
                <p14:modId xmlns:p14="http://schemas.microsoft.com/office/powerpoint/2010/main" val="3480229608"/>
              </p:ext>
            </p:extLst>
          </p:nvPr>
        </p:nvGraphicFramePr>
        <p:xfrm>
          <a:off x="7281301" y="3352803"/>
          <a:ext cx="2133544" cy="995341"/>
        </p:xfrm>
        <a:graphic>
          <a:graphicData uri="http://schemas.openxmlformats.org/drawingml/2006/table">
            <a:tbl>
              <a:tblPr firstRow="1" bandRow="1">
                <a:tableStyleId>{5C22544A-7EE6-4342-B048-85BDC9FD1C3A}</a:tableStyleId>
              </a:tblPr>
              <a:tblGrid>
                <a:gridCol w="533386">
                  <a:extLst>
                    <a:ext uri="{9D8B030D-6E8A-4147-A177-3AD203B41FA5}">
                      <a16:colId xmlns:a16="http://schemas.microsoft.com/office/drawing/2014/main" val="567252329"/>
                    </a:ext>
                  </a:extLst>
                </a:gridCol>
                <a:gridCol w="533386">
                  <a:extLst>
                    <a:ext uri="{9D8B030D-6E8A-4147-A177-3AD203B41FA5}">
                      <a16:colId xmlns:a16="http://schemas.microsoft.com/office/drawing/2014/main" val="3983122003"/>
                    </a:ext>
                  </a:extLst>
                </a:gridCol>
                <a:gridCol w="533386">
                  <a:extLst>
                    <a:ext uri="{9D8B030D-6E8A-4147-A177-3AD203B41FA5}">
                      <a16:colId xmlns:a16="http://schemas.microsoft.com/office/drawing/2014/main" val="1512536615"/>
                    </a:ext>
                  </a:extLst>
                </a:gridCol>
                <a:gridCol w="533386">
                  <a:extLst>
                    <a:ext uri="{9D8B030D-6E8A-4147-A177-3AD203B41FA5}">
                      <a16:colId xmlns:a16="http://schemas.microsoft.com/office/drawing/2014/main" val="850238071"/>
                    </a:ext>
                  </a:extLst>
                </a:gridCol>
              </a:tblGrid>
              <a:tr h="995341">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28575" cap="flat" cmpd="sng" algn="ctr">
                      <a:solidFill>
                        <a:schemeClr val="tx1"/>
                      </a:solidFill>
                      <a:prstDash val="solid"/>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28575" cap="flat" cmpd="sng" algn="ctr">
                      <a:solidFill>
                        <a:schemeClr val="tx1"/>
                      </a:solidFill>
                      <a:prstDash val="solid"/>
                      <a:round/>
                      <a:headEnd type="none" w="med" len="med"/>
                      <a:tailEnd type="none" w="med" len="med"/>
                    </a:lnR>
                    <a:lnT w="12700" cap="flat" cmpd="sng" algn="ctr">
                      <a:noFill/>
                      <a:prstDash val="solid"/>
                      <a:round/>
                      <a:headEnd type="none" w="med" len="med"/>
                      <a:tailEnd type="none" w="med" len="med"/>
                    </a:lnT>
                    <a:lnB w="28575" cap="flat" cmpd="sng" algn="ctr">
                      <a:solidFill>
                        <a:schemeClr val="tx1"/>
                      </a:solidFill>
                      <a:prstDash val="solid"/>
                      <a:round/>
                      <a:headEnd type="none" w="med" len="med"/>
                      <a:tailEnd type="none" w="med" len="med"/>
                    </a:lnB>
                    <a:noFill/>
                  </a:tcPr>
                </a:tc>
                <a:tc>
                  <a:txBody>
                    <a:bodyPr/>
                    <a:lstStyle/>
                    <a:p>
                      <a:endParaRPr lang="zh-CN" altLang="en-US" dirty="0"/>
                    </a:p>
                  </a:txBody>
                  <a:tcPr>
                    <a:lnL w="28575" cap="flat" cmpd="sng" algn="ctr">
                      <a:solidFill>
                        <a:schemeClr val="tx1"/>
                      </a:solidFill>
                      <a:prstDash val="solid"/>
                      <a:round/>
                      <a:headEnd type="none" w="med" len="med"/>
                      <a:tailEnd type="none" w="med" len="med"/>
                    </a:lnL>
                    <a:lnR w="12700" cap="flat" cmpd="sng" algn="ctr">
                      <a:noFill/>
                      <a:prstDash val="dash"/>
                      <a:round/>
                      <a:headEnd type="none" w="med" len="med"/>
                      <a:tailEnd type="none" w="med" len="med"/>
                    </a:lnR>
                    <a:lnT w="12700" cap="flat" cmpd="sng" algn="ctr">
                      <a:noFill/>
                      <a:prstDash val="dash"/>
                      <a:round/>
                      <a:headEnd type="none" w="med" len="med"/>
                      <a:tailEnd type="none" w="med" len="med"/>
                    </a:lnT>
                    <a:lnB w="12700" cap="flat" cmpd="sng" algn="ctr">
                      <a:noFill/>
                      <a:prstDash val="solid"/>
                      <a:round/>
                      <a:headEnd type="none" w="med" len="med"/>
                      <a:tailEnd type="none" w="med" len="med"/>
                    </a:lnB>
                    <a:noFill/>
                  </a:tcPr>
                </a:tc>
                <a:tc>
                  <a:txBody>
                    <a:bodyPr/>
                    <a:lstStyle/>
                    <a:p>
                      <a:endParaRPr lang="zh-CN" altLang="en-US" dirty="0"/>
                    </a:p>
                  </a:txBody>
                  <a:tcPr>
                    <a:lnL w="12700" cap="flat" cmpd="sng" algn="ctr">
                      <a:noFill/>
                      <a:prstDash val="dash"/>
                      <a:round/>
                      <a:headEnd type="none" w="med" len="med"/>
                      <a:tailEnd type="none" w="med" len="med"/>
                    </a:lnL>
                    <a:lnR w="28575" cap="flat" cmpd="sng" algn="ctr">
                      <a:noFill/>
                      <a:prstDash val="solid"/>
                      <a:round/>
                      <a:headEnd type="none" w="med" len="med"/>
                      <a:tailEnd type="none" w="med" len="med"/>
                    </a:lnR>
                    <a:lnT w="12700" cap="flat" cmpd="sng" algn="ctr">
                      <a:noFill/>
                      <a:prstDash val="solid"/>
                      <a:round/>
                      <a:headEnd type="none" w="med" len="med"/>
                      <a:tailEnd type="none" w="med" len="med"/>
                    </a:lnT>
                    <a:lnB w="12700" cap="flat" cmpd="sng" algn="ctr">
                      <a:noFill/>
                      <a:prstDash val="solid"/>
                      <a:round/>
                      <a:headEnd type="none" w="med" len="med"/>
                      <a:tailEnd type="none" w="med" len="med"/>
                    </a:lnB>
                    <a:noFill/>
                  </a:tcPr>
                </a:tc>
                <a:extLst>
                  <a:ext uri="{0D108BD9-81ED-4DB2-BD59-A6C34878D82A}">
                    <a16:rowId xmlns:a16="http://schemas.microsoft.com/office/drawing/2014/main" val="1709546989"/>
                  </a:ext>
                </a:extLst>
              </a:tr>
            </a:tbl>
          </a:graphicData>
        </a:graphic>
      </p:graphicFrame>
      <p:cxnSp>
        <p:nvCxnSpPr>
          <p:cNvPr id="14" name="直接连接符 13">
            <a:extLst>
              <a:ext uri="{FF2B5EF4-FFF2-40B4-BE49-F238E27FC236}">
                <a16:creationId xmlns:a16="http://schemas.microsoft.com/office/drawing/2014/main" id="{881EBBB3-7FF0-483B-B4AF-9334D445841C}"/>
              </a:ext>
            </a:extLst>
          </p:cNvPr>
          <p:cNvCxnSpPr/>
          <p:nvPr/>
        </p:nvCxnSpPr>
        <p:spPr bwMode="auto">
          <a:xfrm>
            <a:off x="7010377" y="4348143"/>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5" name="直接连接符 14">
            <a:extLst>
              <a:ext uri="{FF2B5EF4-FFF2-40B4-BE49-F238E27FC236}">
                <a16:creationId xmlns:a16="http://schemas.microsoft.com/office/drawing/2014/main" id="{78079E00-017A-43F2-A183-C52D68CB9289}"/>
              </a:ext>
            </a:extLst>
          </p:cNvPr>
          <p:cNvCxnSpPr/>
          <p:nvPr/>
        </p:nvCxnSpPr>
        <p:spPr bwMode="auto">
          <a:xfrm>
            <a:off x="8610503" y="4336854"/>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7" name="直接连接符 16">
            <a:extLst>
              <a:ext uri="{FF2B5EF4-FFF2-40B4-BE49-F238E27FC236}">
                <a16:creationId xmlns:a16="http://schemas.microsoft.com/office/drawing/2014/main" id="{E8E653D5-3FD7-427A-A685-2196D13A39AA}"/>
              </a:ext>
            </a:extLst>
          </p:cNvPr>
          <p:cNvCxnSpPr/>
          <p:nvPr/>
        </p:nvCxnSpPr>
        <p:spPr bwMode="auto">
          <a:xfrm>
            <a:off x="8339578" y="3364091"/>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19" name="直接连接符 18">
            <a:extLst>
              <a:ext uri="{FF2B5EF4-FFF2-40B4-BE49-F238E27FC236}">
                <a16:creationId xmlns:a16="http://schemas.microsoft.com/office/drawing/2014/main" id="{BA62DDF1-5939-4E59-BE9D-DC9848A958D8}"/>
              </a:ext>
            </a:extLst>
          </p:cNvPr>
          <p:cNvCxnSpPr/>
          <p:nvPr/>
        </p:nvCxnSpPr>
        <p:spPr bwMode="auto">
          <a:xfrm>
            <a:off x="8610502" y="3352803"/>
            <a:ext cx="0" cy="995341"/>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0" name="直接连接符 19">
            <a:extLst>
              <a:ext uri="{FF2B5EF4-FFF2-40B4-BE49-F238E27FC236}">
                <a16:creationId xmlns:a16="http://schemas.microsoft.com/office/drawing/2014/main" id="{552C9982-D9F1-4705-9499-B99D040A8CA3}"/>
              </a:ext>
            </a:extLst>
          </p:cNvPr>
          <p:cNvCxnSpPr/>
          <p:nvPr/>
        </p:nvCxnSpPr>
        <p:spPr bwMode="auto">
          <a:xfrm>
            <a:off x="8870138" y="3352803"/>
            <a:ext cx="0" cy="995341"/>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1" name="直接连接符 20">
            <a:extLst>
              <a:ext uri="{FF2B5EF4-FFF2-40B4-BE49-F238E27FC236}">
                <a16:creationId xmlns:a16="http://schemas.microsoft.com/office/drawing/2014/main" id="{E29A7C90-BD33-4D8B-8816-3FE11065CFEF}"/>
              </a:ext>
            </a:extLst>
          </p:cNvPr>
          <p:cNvCxnSpPr/>
          <p:nvPr/>
        </p:nvCxnSpPr>
        <p:spPr bwMode="auto">
          <a:xfrm>
            <a:off x="8870139" y="3368832"/>
            <a:ext cx="270925" cy="0"/>
          </a:xfrm>
          <a:prstGeom prst="line">
            <a:avLst/>
          </a:prstGeom>
          <a:solidFill>
            <a:schemeClr val="accent1"/>
          </a:solidFill>
          <a:ln w="2857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3" name="直接连接符 22">
            <a:extLst>
              <a:ext uri="{FF2B5EF4-FFF2-40B4-BE49-F238E27FC236}">
                <a16:creationId xmlns:a16="http://schemas.microsoft.com/office/drawing/2014/main" id="{198AECC2-4B8B-4917-87F4-532BF01336B2}"/>
              </a:ext>
            </a:extLst>
          </p:cNvPr>
          <p:cNvCxnSpPr/>
          <p:nvPr/>
        </p:nvCxnSpPr>
        <p:spPr bwMode="auto">
          <a:xfrm>
            <a:off x="3550424" y="4348144"/>
            <a:ext cx="0" cy="833411"/>
          </a:xfrm>
          <a:prstGeom prst="line">
            <a:avLst/>
          </a:prstGeom>
          <a:solidFill>
            <a:schemeClr val="accent1"/>
          </a:solidFill>
          <a:ln w="9525" cap="flat" cmpd="sng" algn="ctr">
            <a:solidFill>
              <a:schemeClr val="tx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4" name="直接连接符 23">
            <a:extLst>
              <a:ext uri="{FF2B5EF4-FFF2-40B4-BE49-F238E27FC236}">
                <a16:creationId xmlns:a16="http://schemas.microsoft.com/office/drawing/2014/main" id="{8812A05D-5D2B-41E3-BEED-163C8D531A3A}"/>
              </a:ext>
            </a:extLst>
          </p:cNvPr>
          <p:cNvCxnSpPr/>
          <p:nvPr/>
        </p:nvCxnSpPr>
        <p:spPr bwMode="auto">
          <a:xfrm>
            <a:off x="4083810" y="4348144"/>
            <a:ext cx="0" cy="833411"/>
          </a:xfrm>
          <a:prstGeom prst="line">
            <a:avLst/>
          </a:prstGeom>
          <a:solidFill>
            <a:schemeClr val="accent1"/>
          </a:solidFill>
          <a:ln w="9525" cap="flat" cmpd="sng" algn="ctr">
            <a:solidFill>
              <a:schemeClr val="tx1"/>
            </a:solidFill>
            <a:prstDash val="sysDash"/>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26" name="直接箭头连接符 25">
            <a:extLst>
              <a:ext uri="{FF2B5EF4-FFF2-40B4-BE49-F238E27FC236}">
                <a16:creationId xmlns:a16="http://schemas.microsoft.com/office/drawing/2014/main" id="{717723D8-B689-4AC9-A79D-68F292D09289}"/>
              </a:ext>
            </a:extLst>
          </p:cNvPr>
          <p:cNvCxnSpPr/>
          <p:nvPr/>
        </p:nvCxnSpPr>
        <p:spPr bwMode="auto">
          <a:xfrm>
            <a:off x="3558857" y="5029158"/>
            <a:ext cx="536211" cy="0"/>
          </a:xfrm>
          <a:prstGeom prst="straightConnector1">
            <a:avLst/>
          </a:prstGeom>
          <a:solidFill>
            <a:schemeClr val="accent1"/>
          </a:solidFill>
          <a:ln w="9525" cap="flat" cmpd="sng" algn="ctr">
            <a:solidFill>
              <a:schemeClr val="tx1"/>
            </a:solidFill>
            <a:prstDash val="solid"/>
            <a:round/>
            <a:headEnd type="triangle"/>
            <a:tailEnd type="triangle"/>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27" name="文本框 26">
            <a:extLst>
              <a:ext uri="{FF2B5EF4-FFF2-40B4-BE49-F238E27FC236}">
                <a16:creationId xmlns:a16="http://schemas.microsoft.com/office/drawing/2014/main" id="{E47ABF9C-D955-4CB6-8A3B-88EFA895B31D}"/>
              </a:ext>
            </a:extLst>
          </p:cNvPr>
          <p:cNvSpPr txBox="1"/>
          <p:nvPr/>
        </p:nvSpPr>
        <p:spPr>
          <a:xfrm>
            <a:off x="1905118" y="5257752"/>
            <a:ext cx="4190884" cy="889090"/>
          </a:xfrm>
          <a:prstGeom prst="rect">
            <a:avLst/>
          </a:prstGeom>
          <a:noFill/>
        </p:spPr>
        <p:txBody>
          <a:bodyPr wrap="square" rtlCol="0">
            <a:spAutoFit/>
          </a:bodyPr>
          <a:lstStyle/>
          <a:p>
            <a:pPr algn="just">
              <a:lnSpc>
                <a:spcPct val="200000"/>
              </a:lnSpc>
            </a:pPr>
            <a:r>
              <a:rPr lang="zh-CN" altLang="en-US" sz="1400" b="0" i="0" baseline="0" dirty="0">
                <a:latin typeface="微软雅黑" panose="020B0503020204020204" pitchFamily="34" charset="-122"/>
                <a:ea typeface="微软雅黑" panose="020B0503020204020204" pitchFamily="34" charset="-122"/>
              </a:rPr>
              <a:t>信号按一定间隔上下变化</a:t>
            </a:r>
            <a:r>
              <a:rPr lang="en-US" altLang="zh-CN" sz="1400" b="0" i="0" baseline="0" dirty="0">
                <a:latin typeface="微软雅黑" panose="020B0503020204020204" pitchFamily="34" charset="-122"/>
                <a:ea typeface="微软雅黑" panose="020B0503020204020204" pitchFamily="34" charset="-122"/>
              </a:rPr>
              <a:t>(10BASE-T)</a:t>
            </a:r>
            <a:r>
              <a:rPr lang="zh-CN" altLang="en-US" sz="1400" b="0" i="0" baseline="0" dirty="0">
                <a:latin typeface="微软雅黑" panose="020B0503020204020204" pitchFamily="34" charset="-122"/>
                <a:ea typeface="微软雅黑" panose="020B0503020204020204" pitchFamily="34" charset="-122"/>
              </a:rPr>
              <a:t>，通过测量波形的时间，可以判断出每个比特信号的中间位置。</a:t>
            </a:r>
          </a:p>
        </p:txBody>
      </p:sp>
      <p:sp>
        <p:nvSpPr>
          <p:cNvPr id="28" name="文本框 27">
            <a:extLst>
              <a:ext uri="{FF2B5EF4-FFF2-40B4-BE49-F238E27FC236}">
                <a16:creationId xmlns:a16="http://schemas.microsoft.com/office/drawing/2014/main" id="{D4798A54-358D-4DE3-98E1-394F602E0B6A}"/>
              </a:ext>
            </a:extLst>
          </p:cNvPr>
          <p:cNvSpPr txBox="1"/>
          <p:nvPr/>
        </p:nvSpPr>
        <p:spPr>
          <a:xfrm>
            <a:off x="6544661" y="5257752"/>
            <a:ext cx="4190884" cy="889090"/>
          </a:xfrm>
          <a:prstGeom prst="rect">
            <a:avLst/>
          </a:prstGeom>
          <a:noFill/>
        </p:spPr>
        <p:txBody>
          <a:bodyPr wrap="square" rtlCol="0">
            <a:spAutoFit/>
          </a:bodyPr>
          <a:lstStyle/>
          <a:p>
            <a:pPr algn="just">
              <a:lnSpc>
                <a:spcPct val="200000"/>
              </a:lnSpc>
            </a:pPr>
            <a:r>
              <a:rPr lang="zh-CN" altLang="en-US" sz="1400" b="0" i="0" baseline="0" dirty="0">
                <a:latin typeface="微软雅黑" panose="020B0503020204020204" pitchFamily="34" charset="-122"/>
                <a:ea typeface="微软雅黑" panose="020B0503020204020204" pitchFamily="34" charset="-122"/>
              </a:rPr>
              <a:t>起始帧分界符的最后两个比特为</a:t>
            </a:r>
            <a:r>
              <a:rPr lang="en-US" altLang="zh-CN" sz="1400" b="0" i="0" baseline="0" dirty="0">
                <a:latin typeface="微软雅黑" panose="020B0503020204020204" pitchFamily="34" charset="-122"/>
                <a:ea typeface="微软雅黑" panose="020B0503020204020204" pitchFamily="34" charset="-122"/>
              </a:rPr>
              <a:t>11</a:t>
            </a:r>
            <a:r>
              <a:rPr lang="zh-CN" altLang="en-US" sz="1400" b="0" i="0" baseline="0" dirty="0">
                <a:latin typeface="微软雅黑" panose="020B0503020204020204" pitchFamily="34" charset="-122"/>
                <a:ea typeface="微软雅黑" panose="020B0503020204020204" pitchFamily="34" charset="-122"/>
              </a:rPr>
              <a:t>，这里的波形和前面不一样，网卡会将这里作为包的起始位置。</a:t>
            </a:r>
          </a:p>
        </p:txBody>
      </p:sp>
      <p:sp>
        <p:nvSpPr>
          <p:cNvPr id="29" name="矩形 28">
            <a:extLst>
              <a:ext uri="{FF2B5EF4-FFF2-40B4-BE49-F238E27FC236}">
                <a16:creationId xmlns:a16="http://schemas.microsoft.com/office/drawing/2014/main" id="{F1DE876C-6742-4DE2-BC87-777EDFE813D1}"/>
              </a:ext>
            </a:extLst>
          </p:cNvPr>
          <p:cNvSpPr/>
          <p:nvPr/>
        </p:nvSpPr>
        <p:spPr bwMode="auto">
          <a:xfrm>
            <a:off x="8034785" y="1524050"/>
            <a:ext cx="1490125" cy="533386"/>
          </a:xfrm>
          <a:prstGeom prst="rect">
            <a:avLst/>
          </a:prstGeom>
          <a:solidFill>
            <a:srgbClr val="FFC000"/>
          </a:solidFill>
          <a:ln w="9525" cap="flat" cmpd="sng" algn="ctr">
            <a:solidFill>
              <a:schemeClr val="tx1"/>
            </a:solidFill>
            <a:prstDash val="solid"/>
            <a:round/>
            <a:headEnd type="none" w="med" len="med"/>
            <a:tailEnd type="none" w="med" len="med"/>
          </a:ln>
          <a:effectLst/>
          <a:extLst/>
        </p:spPr>
        <p:txBody>
          <a:bodyPr vert="horz" wrap="square" lIns="91440" tIns="45720" rIns="91440" bIns="45720" numCol="1" rtlCol="0" anchor="ctr" anchorCtr="0" compatLnSpc="1">
            <a:prstTxWarp prst="textNoShape">
              <a:avLst/>
            </a:prstTxWarp>
          </a:bodyPr>
          <a:lstStyle/>
          <a:p>
            <a:pPr algn="ctr"/>
            <a:r>
              <a:rPr lang="zh-CN" altLang="en-US" sz="1400" i="0" baseline="0" dirty="0">
                <a:latin typeface="微软雅黑" panose="020B0503020204020204" pitchFamily="34" charset="-122"/>
                <a:ea typeface="微软雅黑" panose="020B0503020204020204" pitchFamily="34" charset="-122"/>
              </a:rPr>
              <a:t>帧</a:t>
            </a:r>
          </a:p>
        </p:txBody>
      </p:sp>
      <p:sp>
        <p:nvSpPr>
          <p:cNvPr id="33" name="矩形 32">
            <a:extLst>
              <a:ext uri="{FF2B5EF4-FFF2-40B4-BE49-F238E27FC236}">
                <a16:creationId xmlns:a16="http://schemas.microsoft.com/office/drawing/2014/main" id="{3E631242-9CD4-4D5F-8AC8-F479738F76BF}"/>
              </a:ext>
            </a:extLst>
          </p:cNvPr>
          <p:cNvSpPr/>
          <p:nvPr/>
        </p:nvSpPr>
        <p:spPr>
          <a:xfrm>
            <a:off x="4332085" y="1009313"/>
            <a:ext cx="776175" cy="307777"/>
          </a:xfrm>
          <a:prstGeom prst="rect">
            <a:avLst/>
          </a:prstGeom>
        </p:spPr>
        <p:txBody>
          <a:bodyPr wrap="none">
            <a:spAutoFit/>
          </a:bodyPr>
          <a:lstStyle/>
          <a:p>
            <a:r>
              <a:rPr lang="zh-CN" altLang="en-US" sz="14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 </a:t>
            </a:r>
            <a:r>
              <a:rPr lang="zh-CN" altLang="en-US" sz="14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前导码</a:t>
            </a:r>
            <a:endParaRPr lang="zh-CN" altLang="en-US" sz="1400" dirty="0"/>
          </a:p>
        </p:txBody>
      </p:sp>
      <p:cxnSp>
        <p:nvCxnSpPr>
          <p:cNvPr id="35" name="直接箭头连接符 34">
            <a:extLst>
              <a:ext uri="{FF2B5EF4-FFF2-40B4-BE49-F238E27FC236}">
                <a16:creationId xmlns:a16="http://schemas.microsoft.com/office/drawing/2014/main" id="{E8D96C77-D7D4-4FBF-9ABE-B30B1F10BE26}"/>
              </a:ext>
            </a:extLst>
          </p:cNvPr>
          <p:cNvCxnSpPr>
            <a:cxnSpLocks/>
          </p:cNvCxnSpPr>
          <p:nvPr/>
        </p:nvCxnSpPr>
        <p:spPr bwMode="auto">
          <a:xfrm>
            <a:off x="4800634" y="2057436"/>
            <a:ext cx="0" cy="457188"/>
          </a:xfrm>
          <a:prstGeom prst="straightConnector1">
            <a:avLst/>
          </a:prstGeom>
          <a:solidFill>
            <a:schemeClr val="accent1"/>
          </a:solidFill>
          <a:ln w="19050" cap="flat" cmpd="sng" algn="ctr">
            <a:solidFill>
              <a:schemeClr val="tx1"/>
            </a:solidFill>
            <a:prstDash val="solid"/>
            <a:round/>
            <a:headEnd type="none" w="lg"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6" name="直接箭头连接符 35">
            <a:extLst>
              <a:ext uri="{FF2B5EF4-FFF2-40B4-BE49-F238E27FC236}">
                <a16:creationId xmlns:a16="http://schemas.microsoft.com/office/drawing/2014/main" id="{03B417D1-CA35-4DE8-ACFC-E298C13EF44F}"/>
              </a:ext>
            </a:extLst>
          </p:cNvPr>
          <p:cNvCxnSpPr>
            <a:cxnSpLocks/>
          </p:cNvCxnSpPr>
          <p:nvPr/>
        </p:nvCxnSpPr>
        <p:spPr bwMode="auto">
          <a:xfrm>
            <a:off x="7281301" y="2057436"/>
            <a:ext cx="0" cy="457188"/>
          </a:xfrm>
          <a:prstGeom prst="straightConnector1">
            <a:avLst/>
          </a:prstGeom>
          <a:solidFill>
            <a:schemeClr val="accent1"/>
          </a:solidFill>
          <a:ln w="19050" cap="flat" cmpd="sng" algn="ctr">
            <a:solidFill>
              <a:schemeClr val="tx1"/>
            </a:solidFill>
            <a:prstDash val="solid"/>
            <a:round/>
            <a:headEnd type="none" w="lg" len="med"/>
            <a:tailEnd type="triangle" w="lg" len="lg"/>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38" name="直接连接符 37">
            <a:extLst>
              <a:ext uri="{FF2B5EF4-FFF2-40B4-BE49-F238E27FC236}">
                <a16:creationId xmlns:a16="http://schemas.microsoft.com/office/drawing/2014/main" id="{669FAAA0-208B-4DB8-A22F-74BBC90A4CAA}"/>
              </a:ext>
            </a:extLst>
          </p:cNvPr>
          <p:cNvCxnSpPr>
            <a:cxnSpLocks/>
          </p:cNvCxnSpPr>
          <p:nvPr/>
        </p:nvCxnSpPr>
        <p:spPr bwMode="auto">
          <a:xfrm>
            <a:off x="8610502" y="4406270"/>
            <a:ext cx="0" cy="907200"/>
          </a:xfrm>
          <a:prstGeom prst="line">
            <a:avLst/>
          </a:prstGeom>
          <a:solidFill>
            <a:schemeClr val="accent1"/>
          </a:solidFill>
          <a:ln w="19050" cap="flat" cmpd="sng" algn="ctr">
            <a:solidFill>
              <a:srgbClr val="0070C0"/>
            </a:solidFill>
            <a:prstDash val="sysDash"/>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cxnSp>
        <p:nvCxnSpPr>
          <p:cNvPr id="41" name="直接连接符 40">
            <a:extLst>
              <a:ext uri="{FF2B5EF4-FFF2-40B4-BE49-F238E27FC236}">
                <a16:creationId xmlns:a16="http://schemas.microsoft.com/office/drawing/2014/main" id="{5982DC38-9C0D-4E20-8AC7-F6141E350F95}"/>
              </a:ext>
            </a:extLst>
          </p:cNvPr>
          <p:cNvCxnSpPr>
            <a:cxnSpLocks/>
          </p:cNvCxnSpPr>
          <p:nvPr/>
        </p:nvCxnSpPr>
        <p:spPr bwMode="auto">
          <a:xfrm>
            <a:off x="3826961" y="5029158"/>
            <a:ext cx="0" cy="304792"/>
          </a:xfrm>
          <a:prstGeom prst="line">
            <a:avLst/>
          </a:prstGeom>
          <a:solidFill>
            <a:schemeClr val="accent1"/>
          </a:solidFill>
          <a:ln w="19050" cap="flat" cmpd="sng" algn="ctr">
            <a:solidFill>
              <a:srgbClr val="0070C0"/>
            </a:solidFill>
            <a:prstDash val="sysDash"/>
            <a:round/>
            <a:headEnd type="oval"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p:spPr>
      </p:cxnSp>
      <p:sp>
        <p:nvSpPr>
          <p:cNvPr id="34" name="矩形 33">
            <a:extLst>
              <a:ext uri="{FF2B5EF4-FFF2-40B4-BE49-F238E27FC236}">
                <a16:creationId xmlns:a16="http://schemas.microsoft.com/office/drawing/2014/main" id="{3F979282-82DE-46B9-AA85-E82CA1F43FD2}"/>
              </a:ext>
            </a:extLst>
          </p:cNvPr>
          <p:cNvSpPr/>
          <p:nvPr/>
        </p:nvSpPr>
        <p:spPr>
          <a:xfrm>
            <a:off x="6564092" y="1009313"/>
            <a:ext cx="1261884" cy="307777"/>
          </a:xfrm>
          <a:prstGeom prst="rect">
            <a:avLst/>
          </a:prstGeom>
        </p:spPr>
        <p:txBody>
          <a:bodyPr wrap="none">
            <a:spAutoFit/>
          </a:bodyPr>
          <a:lstStyle/>
          <a:p>
            <a:r>
              <a:rPr lang="zh-CN" altLang="en-US" sz="14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起始帧分界符</a:t>
            </a:r>
            <a:endParaRPr lang="zh-CN" altLang="en-US" sz="1400" dirty="0"/>
          </a:p>
        </p:txBody>
      </p:sp>
    </p:spTree>
    <p:extLst>
      <p:ext uri="{BB962C8B-B14F-4D97-AF65-F5344CB8AC3E}">
        <p14:creationId xmlns:p14="http://schemas.microsoft.com/office/powerpoint/2010/main" val="2998795189"/>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par>
                                <p:cTn id="8" presetID="22" presetClass="entr" presetSubtype="8" fill="hold" grpId="0" nodeType="withEffect">
                                  <p:stCondLst>
                                    <p:cond delay="0"/>
                                  </p:stCondLst>
                                  <p:childTnLst>
                                    <p:set>
                                      <p:cBhvr>
                                        <p:cTn id="9" dur="1" fill="hold">
                                          <p:stCondLst>
                                            <p:cond delay="0"/>
                                          </p:stCondLst>
                                        </p:cTn>
                                        <p:tgtEl>
                                          <p:spTgt spid="5"/>
                                        </p:tgtEl>
                                        <p:attrNameLst>
                                          <p:attrName>style.visibility</p:attrName>
                                        </p:attrNameLst>
                                      </p:cBhvr>
                                      <p:to>
                                        <p:strVal val="visible"/>
                                      </p:to>
                                    </p:set>
                                    <p:animEffect transition="in" filter="wipe(left)">
                                      <p:cBhvr>
                                        <p:cTn id="10" dur="500"/>
                                        <p:tgtEl>
                                          <p:spTgt spid="5"/>
                                        </p:tgtEl>
                                      </p:cBhvr>
                                    </p:animEffect>
                                  </p:childTnLst>
                                </p:cTn>
                              </p:par>
                            </p:childTnLst>
                          </p:cTn>
                        </p:par>
                        <p:par>
                          <p:cTn id="11" fill="hold">
                            <p:stCondLst>
                              <p:cond delay="500"/>
                            </p:stCondLst>
                            <p:childTnLst>
                              <p:par>
                                <p:cTn id="12" presetID="22" presetClass="entr" presetSubtype="8" fill="hold" grpId="0" nodeType="afterEffect">
                                  <p:stCondLst>
                                    <p:cond delay="0"/>
                                  </p:stCondLst>
                                  <p:childTnLst>
                                    <p:set>
                                      <p:cBhvr>
                                        <p:cTn id="13" dur="1" fill="hold">
                                          <p:stCondLst>
                                            <p:cond delay="0"/>
                                          </p:stCondLst>
                                        </p:cTn>
                                        <p:tgtEl>
                                          <p:spTgt spid="29"/>
                                        </p:tgtEl>
                                        <p:attrNameLst>
                                          <p:attrName>style.visibility</p:attrName>
                                        </p:attrNameLst>
                                      </p:cBhvr>
                                      <p:to>
                                        <p:strVal val="visible"/>
                                      </p:to>
                                    </p:set>
                                    <p:animEffect transition="in" filter="wipe(left)">
                                      <p:cBhvr>
                                        <p:cTn id="14" dur="500"/>
                                        <p:tgtEl>
                                          <p:spTgt spid="29"/>
                                        </p:tgtEl>
                                      </p:cBhvr>
                                    </p:animEffect>
                                  </p:childTnLst>
                                </p:cTn>
                              </p:par>
                            </p:childTnLst>
                          </p:cTn>
                        </p:par>
                      </p:childTnLst>
                    </p:cTn>
                  </p:par>
                  <p:par>
                    <p:cTn id="15" fill="hold">
                      <p:stCondLst>
                        <p:cond delay="indefinite"/>
                      </p:stCondLst>
                      <p:childTnLst>
                        <p:par>
                          <p:cTn id="16" fill="hold">
                            <p:stCondLst>
                              <p:cond delay="0"/>
                            </p:stCondLst>
                            <p:childTnLst>
                              <p:par>
                                <p:cTn id="17" presetID="22" presetClass="entr" presetSubtype="1" fill="hold" grpId="0" nodeType="clickEffect">
                                  <p:stCondLst>
                                    <p:cond delay="0"/>
                                  </p:stCondLst>
                                  <p:childTnLst>
                                    <p:set>
                                      <p:cBhvr>
                                        <p:cTn id="18" dur="1" fill="hold">
                                          <p:stCondLst>
                                            <p:cond delay="0"/>
                                          </p:stCondLst>
                                        </p:cTn>
                                        <p:tgtEl>
                                          <p:spTgt spid="33"/>
                                        </p:tgtEl>
                                        <p:attrNameLst>
                                          <p:attrName>style.visibility</p:attrName>
                                        </p:attrNameLst>
                                      </p:cBhvr>
                                      <p:to>
                                        <p:strVal val="visible"/>
                                      </p:to>
                                    </p:set>
                                    <p:animEffect transition="in" filter="wipe(up)">
                                      <p:cBhvr>
                                        <p:cTn id="19" dur="500"/>
                                        <p:tgtEl>
                                          <p:spTgt spid="33"/>
                                        </p:tgtEl>
                                      </p:cBhvr>
                                    </p:animEffect>
                                  </p:childTnLst>
                                </p:cTn>
                              </p:par>
                            </p:childTnLst>
                          </p:cTn>
                        </p:par>
                        <p:par>
                          <p:cTn id="20" fill="hold">
                            <p:stCondLst>
                              <p:cond delay="500"/>
                            </p:stCondLst>
                            <p:childTnLst>
                              <p:par>
                                <p:cTn id="21" presetID="22" presetClass="entr" presetSubtype="1" fill="hold" nodeType="afterEffect">
                                  <p:stCondLst>
                                    <p:cond delay="0"/>
                                  </p:stCondLst>
                                  <p:childTnLst>
                                    <p:set>
                                      <p:cBhvr>
                                        <p:cTn id="22" dur="1" fill="hold">
                                          <p:stCondLst>
                                            <p:cond delay="0"/>
                                          </p:stCondLst>
                                        </p:cTn>
                                        <p:tgtEl>
                                          <p:spTgt spid="31"/>
                                        </p:tgtEl>
                                        <p:attrNameLst>
                                          <p:attrName>style.visibility</p:attrName>
                                        </p:attrNameLst>
                                      </p:cBhvr>
                                      <p:to>
                                        <p:strVal val="visible"/>
                                      </p:to>
                                    </p:set>
                                    <p:animEffect transition="in" filter="wipe(up)">
                                      <p:cBhvr>
                                        <p:cTn id="23" dur="500"/>
                                        <p:tgtEl>
                                          <p:spTgt spid="31"/>
                                        </p:tgtEl>
                                      </p:cBhvr>
                                    </p:animEffect>
                                  </p:childTnLst>
                                </p:cTn>
                              </p:par>
                            </p:childTnLst>
                          </p:cTn>
                        </p:par>
                        <p:par>
                          <p:cTn id="24" fill="hold">
                            <p:stCondLst>
                              <p:cond delay="1000"/>
                            </p:stCondLst>
                            <p:childTnLst>
                              <p:par>
                                <p:cTn id="25" presetID="22" presetClass="entr" presetSubtype="1" fill="hold" nodeType="afterEffect">
                                  <p:stCondLst>
                                    <p:cond delay="0"/>
                                  </p:stCondLst>
                                  <p:childTnLst>
                                    <p:set>
                                      <p:cBhvr>
                                        <p:cTn id="26" dur="1" fill="hold">
                                          <p:stCondLst>
                                            <p:cond delay="0"/>
                                          </p:stCondLst>
                                        </p:cTn>
                                        <p:tgtEl>
                                          <p:spTgt spid="35"/>
                                        </p:tgtEl>
                                        <p:attrNameLst>
                                          <p:attrName>style.visibility</p:attrName>
                                        </p:attrNameLst>
                                      </p:cBhvr>
                                      <p:to>
                                        <p:strVal val="visible"/>
                                      </p:to>
                                    </p:set>
                                    <p:animEffect transition="in" filter="wipe(up)">
                                      <p:cBhvr>
                                        <p:cTn id="27" dur="500"/>
                                        <p:tgtEl>
                                          <p:spTgt spid="35"/>
                                        </p:tgtEl>
                                      </p:cBhvr>
                                    </p:animEffect>
                                  </p:childTnLst>
                                </p:cTn>
                              </p:par>
                            </p:childTnLst>
                          </p:cTn>
                        </p:par>
                        <p:par>
                          <p:cTn id="28" fill="hold">
                            <p:stCondLst>
                              <p:cond delay="1500"/>
                            </p:stCondLst>
                            <p:childTnLst>
                              <p:par>
                                <p:cTn id="29" presetID="22" presetClass="entr" presetSubtype="1" fill="hold" grpId="0" nodeType="afterEffect">
                                  <p:stCondLst>
                                    <p:cond delay="0"/>
                                  </p:stCondLst>
                                  <p:childTnLst>
                                    <p:set>
                                      <p:cBhvr>
                                        <p:cTn id="30" dur="1" fill="hold">
                                          <p:stCondLst>
                                            <p:cond delay="0"/>
                                          </p:stCondLst>
                                        </p:cTn>
                                        <p:tgtEl>
                                          <p:spTgt spid="11"/>
                                        </p:tgtEl>
                                        <p:attrNameLst>
                                          <p:attrName>style.visibility</p:attrName>
                                        </p:attrNameLst>
                                      </p:cBhvr>
                                      <p:to>
                                        <p:strVal val="visible"/>
                                      </p:to>
                                    </p:set>
                                    <p:animEffect transition="in" filter="wipe(up)">
                                      <p:cBhvr>
                                        <p:cTn id="31" dur="500"/>
                                        <p:tgtEl>
                                          <p:spTgt spid="11"/>
                                        </p:tgtEl>
                                      </p:cBhvr>
                                    </p:animEffect>
                                  </p:childTnLst>
                                </p:cTn>
                              </p:par>
                            </p:childTnLst>
                          </p:cTn>
                        </p:par>
                        <p:par>
                          <p:cTn id="32" fill="hold">
                            <p:stCondLst>
                              <p:cond delay="2000"/>
                            </p:stCondLst>
                            <p:childTnLst>
                              <p:par>
                                <p:cTn id="33" presetID="22" presetClass="entr" presetSubtype="1" fill="hold" nodeType="afterEffect">
                                  <p:stCondLst>
                                    <p:cond delay="0"/>
                                  </p:stCondLst>
                                  <p:childTnLst>
                                    <p:set>
                                      <p:cBhvr>
                                        <p:cTn id="34" dur="1" fill="hold">
                                          <p:stCondLst>
                                            <p:cond delay="0"/>
                                          </p:stCondLst>
                                        </p:cTn>
                                        <p:tgtEl>
                                          <p:spTgt spid="6"/>
                                        </p:tgtEl>
                                        <p:attrNameLst>
                                          <p:attrName>style.visibility</p:attrName>
                                        </p:attrNameLst>
                                      </p:cBhvr>
                                      <p:to>
                                        <p:strVal val="visible"/>
                                      </p:to>
                                    </p:set>
                                    <p:animEffect transition="in" filter="wipe(up)">
                                      <p:cBhvr>
                                        <p:cTn id="35" dur="500"/>
                                        <p:tgtEl>
                                          <p:spTgt spid="6"/>
                                        </p:tgtEl>
                                      </p:cBhvr>
                                    </p:animEffect>
                                  </p:childTnLst>
                                </p:cTn>
                              </p:par>
                              <p:par>
                                <p:cTn id="36" presetID="22" presetClass="entr" presetSubtype="1" fill="hold" nodeType="withEffect">
                                  <p:stCondLst>
                                    <p:cond delay="0"/>
                                  </p:stCondLst>
                                  <p:childTnLst>
                                    <p:set>
                                      <p:cBhvr>
                                        <p:cTn id="37" dur="1" fill="hold">
                                          <p:stCondLst>
                                            <p:cond delay="0"/>
                                          </p:stCondLst>
                                        </p:cTn>
                                        <p:tgtEl>
                                          <p:spTgt spid="7"/>
                                        </p:tgtEl>
                                        <p:attrNameLst>
                                          <p:attrName>style.visibility</p:attrName>
                                        </p:attrNameLst>
                                      </p:cBhvr>
                                      <p:to>
                                        <p:strVal val="visible"/>
                                      </p:to>
                                    </p:set>
                                    <p:animEffect transition="in" filter="wipe(up)">
                                      <p:cBhvr>
                                        <p:cTn id="38" dur="500"/>
                                        <p:tgtEl>
                                          <p:spTgt spid="7"/>
                                        </p:tgtEl>
                                      </p:cBhvr>
                                    </p:animEffect>
                                  </p:childTnLst>
                                </p:cTn>
                              </p:par>
                              <p:par>
                                <p:cTn id="39" presetID="22" presetClass="entr" presetSubtype="1" fill="hold" nodeType="withEffect">
                                  <p:stCondLst>
                                    <p:cond delay="0"/>
                                  </p:stCondLst>
                                  <p:childTnLst>
                                    <p:set>
                                      <p:cBhvr>
                                        <p:cTn id="40" dur="1" fill="hold">
                                          <p:stCondLst>
                                            <p:cond delay="0"/>
                                          </p:stCondLst>
                                        </p:cTn>
                                        <p:tgtEl>
                                          <p:spTgt spid="9"/>
                                        </p:tgtEl>
                                        <p:attrNameLst>
                                          <p:attrName>style.visibility</p:attrName>
                                        </p:attrNameLst>
                                      </p:cBhvr>
                                      <p:to>
                                        <p:strVal val="visible"/>
                                      </p:to>
                                    </p:set>
                                    <p:animEffect transition="in" filter="wipe(up)">
                                      <p:cBhvr>
                                        <p:cTn id="41" dur="500"/>
                                        <p:tgtEl>
                                          <p:spTgt spid="9"/>
                                        </p:tgtEl>
                                      </p:cBhvr>
                                    </p:animEffect>
                                  </p:childTnLst>
                                </p:cTn>
                              </p:par>
                              <p:par>
                                <p:cTn id="42" presetID="22" presetClass="entr" presetSubtype="1" fill="hold" nodeType="withEffect">
                                  <p:stCondLst>
                                    <p:cond delay="0"/>
                                  </p:stCondLst>
                                  <p:childTnLst>
                                    <p:set>
                                      <p:cBhvr>
                                        <p:cTn id="43" dur="1" fill="hold">
                                          <p:stCondLst>
                                            <p:cond delay="0"/>
                                          </p:stCondLst>
                                        </p:cTn>
                                        <p:tgtEl>
                                          <p:spTgt spid="10"/>
                                        </p:tgtEl>
                                        <p:attrNameLst>
                                          <p:attrName>style.visibility</p:attrName>
                                        </p:attrNameLst>
                                      </p:cBhvr>
                                      <p:to>
                                        <p:strVal val="visible"/>
                                      </p:to>
                                    </p:set>
                                    <p:animEffect transition="in" filter="wipe(up)">
                                      <p:cBhvr>
                                        <p:cTn id="44" dur="500"/>
                                        <p:tgtEl>
                                          <p:spTgt spid="10"/>
                                        </p:tgtEl>
                                      </p:cBhvr>
                                    </p:animEffect>
                                  </p:childTnLst>
                                </p:cTn>
                              </p:par>
                            </p:childTnLst>
                          </p:cTn>
                        </p:par>
                        <p:par>
                          <p:cTn id="45" fill="hold">
                            <p:stCondLst>
                              <p:cond delay="2500"/>
                            </p:stCondLst>
                            <p:childTnLst>
                              <p:par>
                                <p:cTn id="46" presetID="22" presetClass="entr" presetSubtype="1" fill="hold" nodeType="afterEffect">
                                  <p:stCondLst>
                                    <p:cond delay="0"/>
                                  </p:stCondLst>
                                  <p:childTnLst>
                                    <p:set>
                                      <p:cBhvr>
                                        <p:cTn id="47" dur="1" fill="hold">
                                          <p:stCondLst>
                                            <p:cond delay="0"/>
                                          </p:stCondLst>
                                        </p:cTn>
                                        <p:tgtEl>
                                          <p:spTgt spid="23"/>
                                        </p:tgtEl>
                                        <p:attrNameLst>
                                          <p:attrName>style.visibility</p:attrName>
                                        </p:attrNameLst>
                                      </p:cBhvr>
                                      <p:to>
                                        <p:strVal val="visible"/>
                                      </p:to>
                                    </p:set>
                                    <p:animEffect transition="in" filter="wipe(up)">
                                      <p:cBhvr>
                                        <p:cTn id="48" dur="500"/>
                                        <p:tgtEl>
                                          <p:spTgt spid="23"/>
                                        </p:tgtEl>
                                      </p:cBhvr>
                                    </p:animEffect>
                                  </p:childTnLst>
                                </p:cTn>
                              </p:par>
                              <p:par>
                                <p:cTn id="49" presetID="22" presetClass="entr" presetSubtype="1" fill="hold" nodeType="withEffect">
                                  <p:stCondLst>
                                    <p:cond delay="0"/>
                                  </p:stCondLst>
                                  <p:childTnLst>
                                    <p:set>
                                      <p:cBhvr>
                                        <p:cTn id="50" dur="1" fill="hold">
                                          <p:stCondLst>
                                            <p:cond delay="0"/>
                                          </p:stCondLst>
                                        </p:cTn>
                                        <p:tgtEl>
                                          <p:spTgt spid="24"/>
                                        </p:tgtEl>
                                        <p:attrNameLst>
                                          <p:attrName>style.visibility</p:attrName>
                                        </p:attrNameLst>
                                      </p:cBhvr>
                                      <p:to>
                                        <p:strVal val="visible"/>
                                      </p:to>
                                    </p:set>
                                    <p:animEffect transition="in" filter="wipe(up)">
                                      <p:cBhvr>
                                        <p:cTn id="51" dur="500"/>
                                        <p:tgtEl>
                                          <p:spTgt spid="24"/>
                                        </p:tgtEl>
                                      </p:cBhvr>
                                    </p:animEffect>
                                  </p:childTnLst>
                                </p:cTn>
                              </p:par>
                            </p:childTnLst>
                          </p:cTn>
                        </p:par>
                        <p:par>
                          <p:cTn id="52" fill="hold">
                            <p:stCondLst>
                              <p:cond delay="3000"/>
                            </p:stCondLst>
                            <p:childTnLst>
                              <p:par>
                                <p:cTn id="53" presetID="16" presetClass="entr" presetSubtype="37" fill="hold" nodeType="afterEffect">
                                  <p:stCondLst>
                                    <p:cond delay="0"/>
                                  </p:stCondLst>
                                  <p:childTnLst>
                                    <p:set>
                                      <p:cBhvr>
                                        <p:cTn id="54" dur="1" fill="hold">
                                          <p:stCondLst>
                                            <p:cond delay="0"/>
                                          </p:stCondLst>
                                        </p:cTn>
                                        <p:tgtEl>
                                          <p:spTgt spid="26"/>
                                        </p:tgtEl>
                                        <p:attrNameLst>
                                          <p:attrName>style.visibility</p:attrName>
                                        </p:attrNameLst>
                                      </p:cBhvr>
                                      <p:to>
                                        <p:strVal val="visible"/>
                                      </p:to>
                                    </p:set>
                                    <p:animEffect transition="in" filter="barn(outVertical)">
                                      <p:cBhvr>
                                        <p:cTn id="55" dur="500"/>
                                        <p:tgtEl>
                                          <p:spTgt spid="26"/>
                                        </p:tgtEl>
                                      </p:cBhvr>
                                    </p:animEffect>
                                  </p:childTnLst>
                                </p:cTn>
                              </p:par>
                            </p:childTnLst>
                          </p:cTn>
                        </p:par>
                        <p:par>
                          <p:cTn id="56" fill="hold">
                            <p:stCondLst>
                              <p:cond delay="3500"/>
                            </p:stCondLst>
                            <p:childTnLst>
                              <p:par>
                                <p:cTn id="57" presetID="22" presetClass="entr" presetSubtype="1" fill="hold" nodeType="afterEffect">
                                  <p:stCondLst>
                                    <p:cond delay="0"/>
                                  </p:stCondLst>
                                  <p:childTnLst>
                                    <p:set>
                                      <p:cBhvr>
                                        <p:cTn id="58" dur="1" fill="hold">
                                          <p:stCondLst>
                                            <p:cond delay="0"/>
                                          </p:stCondLst>
                                        </p:cTn>
                                        <p:tgtEl>
                                          <p:spTgt spid="41"/>
                                        </p:tgtEl>
                                        <p:attrNameLst>
                                          <p:attrName>style.visibility</p:attrName>
                                        </p:attrNameLst>
                                      </p:cBhvr>
                                      <p:to>
                                        <p:strVal val="visible"/>
                                      </p:to>
                                    </p:set>
                                    <p:animEffect transition="in" filter="wipe(up)">
                                      <p:cBhvr>
                                        <p:cTn id="59" dur="500"/>
                                        <p:tgtEl>
                                          <p:spTgt spid="41"/>
                                        </p:tgtEl>
                                      </p:cBhvr>
                                    </p:animEffect>
                                  </p:childTnLst>
                                </p:cTn>
                              </p:par>
                            </p:childTnLst>
                          </p:cTn>
                        </p:par>
                        <p:par>
                          <p:cTn id="60" fill="hold">
                            <p:stCondLst>
                              <p:cond delay="4000"/>
                            </p:stCondLst>
                            <p:childTnLst>
                              <p:par>
                                <p:cTn id="61" presetID="22" presetClass="entr" presetSubtype="1" fill="hold" grpId="0" nodeType="afterEffect">
                                  <p:stCondLst>
                                    <p:cond delay="0"/>
                                  </p:stCondLst>
                                  <p:childTnLst>
                                    <p:set>
                                      <p:cBhvr>
                                        <p:cTn id="62" dur="1" fill="hold">
                                          <p:stCondLst>
                                            <p:cond delay="0"/>
                                          </p:stCondLst>
                                        </p:cTn>
                                        <p:tgtEl>
                                          <p:spTgt spid="27"/>
                                        </p:tgtEl>
                                        <p:attrNameLst>
                                          <p:attrName>style.visibility</p:attrName>
                                        </p:attrNameLst>
                                      </p:cBhvr>
                                      <p:to>
                                        <p:strVal val="visible"/>
                                      </p:to>
                                    </p:set>
                                    <p:animEffect transition="in" filter="wipe(up)">
                                      <p:cBhvr>
                                        <p:cTn id="63" dur="500"/>
                                        <p:tgtEl>
                                          <p:spTgt spid="27"/>
                                        </p:tgtEl>
                                      </p:cBhvr>
                                    </p:animEffect>
                                  </p:childTnLst>
                                </p:cTn>
                              </p:par>
                            </p:childTnLst>
                          </p:cTn>
                        </p:par>
                      </p:childTnLst>
                    </p:cTn>
                  </p:par>
                  <p:par>
                    <p:cTn id="64" fill="hold">
                      <p:stCondLst>
                        <p:cond delay="indefinite"/>
                      </p:stCondLst>
                      <p:childTnLst>
                        <p:par>
                          <p:cTn id="65" fill="hold">
                            <p:stCondLst>
                              <p:cond delay="0"/>
                            </p:stCondLst>
                            <p:childTnLst>
                              <p:par>
                                <p:cTn id="66" presetID="22" presetClass="entr" presetSubtype="1" fill="hold" grpId="0" nodeType="clickEffect">
                                  <p:stCondLst>
                                    <p:cond delay="0"/>
                                  </p:stCondLst>
                                  <p:childTnLst>
                                    <p:set>
                                      <p:cBhvr>
                                        <p:cTn id="67" dur="1" fill="hold">
                                          <p:stCondLst>
                                            <p:cond delay="0"/>
                                          </p:stCondLst>
                                        </p:cTn>
                                        <p:tgtEl>
                                          <p:spTgt spid="34"/>
                                        </p:tgtEl>
                                        <p:attrNameLst>
                                          <p:attrName>style.visibility</p:attrName>
                                        </p:attrNameLst>
                                      </p:cBhvr>
                                      <p:to>
                                        <p:strVal val="visible"/>
                                      </p:to>
                                    </p:set>
                                    <p:animEffect transition="in" filter="wipe(up)">
                                      <p:cBhvr>
                                        <p:cTn id="68" dur="500"/>
                                        <p:tgtEl>
                                          <p:spTgt spid="34"/>
                                        </p:tgtEl>
                                      </p:cBhvr>
                                    </p:animEffect>
                                  </p:childTnLst>
                                </p:cTn>
                              </p:par>
                            </p:childTnLst>
                          </p:cTn>
                        </p:par>
                        <p:par>
                          <p:cTn id="69" fill="hold">
                            <p:stCondLst>
                              <p:cond delay="500"/>
                            </p:stCondLst>
                            <p:childTnLst>
                              <p:par>
                                <p:cTn id="70" presetID="22" presetClass="entr" presetSubtype="1" fill="hold" nodeType="afterEffect">
                                  <p:stCondLst>
                                    <p:cond delay="0"/>
                                  </p:stCondLst>
                                  <p:childTnLst>
                                    <p:set>
                                      <p:cBhvr>
                                        <p:cTn id="71" dur="1" fill="hold">
                                          <p:stCondLst>
                                            <p:cond delay="0"/>
                                          </p:stCondLst>
                                        </p:cTn>
                                        <p:tgtEl>
                                          <p:spTgt spid="32"/>
                                        </p:tgtEl>
                                        <p:attrNameLst>
                                          <p:attrName>style.visibility</p:attrName>
                                        </p:attrNameLst>
                                      </p:cBhvr>
                                      <p:to>
                                        <p:strVal val="visible"/>
                                      </p:to>
                                    </p:set>
                                    <p:animEffect transition="in" filter="wipe(up)">
                                      <p:cBhvr>
                                        <p:cTn id="72" dur="500"/>
                                        <p:tgtEl>
                                          <p:spTgt spid="32"/>
                                        </p:tgtEl>
                                      </p:cBhvr>
                                    </p:animEffect>
                                  </p:childTnLst>
                                </p:cTn>
                              </p:par>
                            </p:childTnLst>
                          </p:cTn>
                        </p:par>
                        <p:par>
                          <p:cTn id="73" fill="hold">
                            <p:stCondLst>
                              <p:cond delay="1000"/>
                            </p:stCondLst>
                            <p:childTnLst>
                              <p:par>
                                <p:cTn id="74" presetID="22" presetClass="entr" presetSubtype="1" fill="hold" nodeType="afterEffect">
                                  <p:stCondLst>
                                    <p:cond delay="0"/>
                                  </p:stCondLst>
                                  <p:childTnLst>
                                    <p:set>
                                      <p:cBhvr>
                                        <p:cTn id="75" dur="1" fill="hold">
                                          <p:stCondLst>
                                            <p:cond delay="0"/>
                                          </p:stCondLst>
                                        </p:cTn>
                                        <p:tgtEl>
                                          <p:spTgt spid="36"/>
                                        </p:tgtEl>
                                        <p:attrNameLst>
                                          <p:attrName>style.visibility</p:attrName>
                                        </p:attrNameLst>
                                      </p:cBhvr>
                                      <p:to>
                                        <p:strVal val="visible"/>
                                      </p:to>
                                    </p:set>
                                    <p:animEffect transition="in" filter="wipe(up)">
                                      <p:cBhvr>
                                        <p:cTn id="76" dur="500"/>
                                        <p:tgtEl>
                                          <p:spTgt spid="36"/>
                                        </p:tgtEl>
                                      </p:cBhvr>
                                    </p:animEffect>
                                  </p:childTnLst>
                                </p:cTn>
                              </p:par>
                            </p:childTnLst>
                          </p:cTn>
                        </p:par>
                        <p:par>
                          <p:cTn id="77" fill="hold">
                            <p:stCondLst>
                              <p:cond delay="1500"/>
                            </p:stCondLst>
                            <p:childTnLst>
                              <p:par>
                                <p:cTn id="78" presetID="22" presetClass="entr" presetSubtype="1" fill="hold" grpId="0" nodeType="afterEffect">
                                  <p:stCondLst>
                                    <p:cond delay="0"/>
                                  </p:stCondLst>
                                  <p:childTnLst>
                                    <p:set>
                                      <p:cBhvr>
                                        <p:cTn id="79" dur="1" fill="hold">
                                          <p:stCondLst>
                                            <p:cond delay="0"/>
                                          </p:stCondLst>
                                        </p:cTn>
                                        <p:tgtEl>
                                          <p:spTgt spid="16"/>
                                        </p:tgtEl>
                                        <p:attrNameLst>
                                          <p:attrName>style.visibility</p:attrName>
                                        </p:attrNameLst>
                                      </p:cBhvr>
                                      <p:to>
                                        <p:strVal val="visible"/>
                                      </p:to>
                                    </p:set>
                                    <p:animEffect transition="in" filter="wipe(up)">
                                      <p:cBhvr>
                                        <p:cTn id="80" dur="500"/>
                                        <p:tgtEl>
                                          <p:spTgt spid="16"/>
                                        </p:tgtEl>
                                      </p:cBhvr>
                                    </p:animEffect>
                                  </p:childTnLst>
                                </p:cTn>
                              </p:par>
                              <p:par>
                                <p:cTn id="81" presetID="22" presetClass="entr" presetSubtype="1" fill="hold" nodeType="withEffect">
                                  <p:stCondLst>
                                    <p:cond delay="0"/>
                                  </p:stCondLst>
                                  <p:childTnLst>
                                    <p:set>
                                      <p:cBhvr>
                                        <p:cTn id="82" dur="1" fill="hold">
                                          <p:stCondLst>
                                            <p:cond delay="0"/>
                                          </p:stCondLst>
                                        </p:cTn>
                                        <p:tgtEl>
                                          <p:spTgt spid="12"/>
                                        </p:tgtEl>
                                        <p:attrNameLst>
                                          <p:attrName>style.visibility</p:attrName>
                                        </p:attrNameLst>
                                      </p:cBhvr>
                                      <p:to>
                                        <p:strVal val="visible"/>
                                      </p:to>
                                    </p:set>
                                    <p:animEffect transition="in" filter="wipe(up)">
                                      <p:cBhvr>
                                        <p:cTn id="83" dur="500"/>
                                        <p:tgtEl>
                                          <p:spTgt spid="12"/>
                                        </p:tgtEl>
                                      </p:cBhvr>
                                    </p:animEffect>
                                  </p:childTnLst>
                                </p:cTn>
                              </p:par>
                              <p:par>
                                <p:cTn id="84" presetID="22" presetClass="entr" presetSubtype="1" fill="hold" nodeType="withEffect">
                                  <p:stCondLst>
                                    <p:cond delay="0"/>
                                  </p:stCondLst>
                                  <p:childTnLst>
                                    <p:set>
                                      <p:cBhvr>
                                        <p:cTn id="85" dur="1" fill="hold">
                                          <p:stCondLst>
                                            <p:cond delay="0"/>
                                          </p:stCondLst>
                                        </p:cTn>
                                        <p:tgtEl>
                                          <p:spTgt spid="13"/>
                                        </p:tgtEl>
                                        <p:attrNameLst>
                                          <p:attrName>style.visibility</p:attrName>
                                        </p:attrNameLst>
                                      </p:cBhvr>
                                      <p:to>
                                        <p:strVal val="visible"/>
                                      </p:to>
                                    </p:set>
                                    <p:animEffect transition="in" filter="wipe(up)">
                                      <p:cBhvr>
                                        <p:cTn id="86" dur="500"/>
                                        <p:tgtEl>
                                          <p:spTgt spid="13"/>
                                        </p:tgtEl>
                                      </p:cBhvr>
                                    </p:animEffect>
                                  </p:childTnLst>
                                </p:cTn>
                              </p:par>
                              <p:par>
                                <p:cTn id="87" presetID="22" presetClass="entr" presetSubtype="1" fill="hold" nodeType="withEffect">
                                  <p:stCondLst>
                                    <p:cond delay="0"/>
                                  </p:stCondLst>
                                  <p:childTnLst>
                                    <p:set>
                                      <p:cBhvr>
                                        <p:cTn id="88" dur="1" fill="hold">
                                          <p:stCondLst>
                                            <p:cond delay="0"/>
                                          </p:stCondLst>
                                        </p:cTn>
                                        <p:tgtEl>
                                          <p:spTgt spid="14"/>
                                        </p:tgtEl>
                                        <p:attrNameLst>
                                          <p:attrName>style.visibility</p:attrName>
                                        </p:attrNameLst>
                                      </p:cBhvr>
                                      <p:to>
                                        <p:strVal val="visible"/>
                                      </p:to>
                                    </p:set>
                                    <p:animEffect transition="in" filter="wipe(up)">
                                      <p:cBhvr>
                                        <p:cTn id="89" dur="500"/>
                                        <p:tgtEl>
                                          <p:spTgt spid="14"/>
                                        </p:tgtEl>
                                      </p:cBhvr>
                                    </p:animEffect>
                                  </p:childTnLst>
                                </p:cTn>
                              </p:par>
                              <p:par>
                                <p:cTn id="90" presetID="22" presetClass="entr" presetSubtype="1" fill="hold" nodeType="withEffect">
                                  <p:stCondLst>
                                    <p:cond delay="0"/>
                                  </p:stCondLst>
                                  <p:childTnLst>
                                    <p:set>
                                      <p:cBhvr>
                                        <p:cTn id="91" dur="1" fill="hold">
                                          <p:stCondLst>
                                            <p:cond delay="0"/>
                                          </p:stCondLst>
                                        </p:cTn>
                                        <p:tgtEl>
                                          <p:spTgt spid="15"/>
                                        </p:tgtEl>
                                        <p:attrNameLst>
                                          <p:attrName>style.visibility</p:attrName>
                                        </p:attrNameLst>
                                      </p:cBhvr>
                                      <p:to>
                                        <p:strVal val="visible"/>
                                      </p:to>
                                    </p:set>
                                    <p:animEffect transition="in" filter="wipe(up)">
                                      <p:cBhvr>
                                        <p:cTn id="92" dur="500"/>
                                        <p:tgtEl>
                                          <p:spTgt spid="15"/>
                                        </p:tgtEl>
                                      </p:cBhvr>
                                    </p:animEffect>
                                  </p:childTnLst>
                                </p:cTn>
                              </p:par>
                              <p:par>
                                <p:cTn id="93" presetID="22" presetClass="entr" presetSubtype="1" fill="hold" nodeType="withEffect">
                                  <p:stCondLst>
                                    <p:cond delay="0"/>
                                  </p:stCondLst>
                                  <p:childTnLst>
                                    <p:set>
                                      <p:cBhvr>
                                        <p:cTn id="94" dur="1" fill="hold">
                                          <p:stCondLst>
                                            <p:cond delay="0"/>
                                          </p:stCondLst>
                                        </p:cTn>
                                        <p:tgtEl>
                                          <p:spTgt spid="17"/>
                                        </p:tgtEl>
                                        <p:attrNameLst>
                                          <p:attrName>style.visibility</p:attrName>
                                        </p:attrNameLst>
                                      </p:cBhvr>
                                      <p:to>
                                        <p:strVal val="visible"/>
                                      </p:to>
                                    </p:set>
                                    <p:animEffect transition="in" filter="wipe(up)">
                                      <p:cBhvr>
                                        <p:cTn id="95" dur="500"/>
                                        <p:tgtEl>
                                          <p:spTgt spid="17"/>
                                        </p:tgtEl>
                                      </p:cBhvr>
                                    </p:animEffect>
                                  </p:childTnLst>
                                </p:cTn>
                              </p:par>
                              <p:par>
                                <p:cTn id="96" presetID="22" presetClass="entr" presetSubtype="1" fill="hold" nodeType="withEffect">
                                  <p:stCondLst>
                                    <p:cond delay="0"/>
                                  </p:stCondLst>
                                  <p:childTnLst>
                                    <p:set>
                                      <p:cBhvr>
                                        <p:cTn id="97" dur="1" fill="hold">
                                          <p:stCondLst>
                                            <p:cond delay="0"/>
                                          </p:stCondLst>
                                        </p:cTn>
                                        <p:tgtEl>
                                          <p:spTgt spid="19"/>
                                        </p:tgtEl>
                                        <p:attrNameLst>
                                          <p:attrName>style.visibility</p:attrName>
                                        </p:attrNameLst>
                                      </p:cBhvr>
                                      <p:to>
                                        <p:strVal val="visible"/>
                                      </p:to>
                                    </p:set>
                                    <p:animEffect transition="in" filter="wipe(up)">
                                      <p:cBhvr>
                                        <p:cTn id="98" dur="500"/>
                                        <p:tgtEl>
                                          <p:spTgt spid="19"/>
                                        </p:tgtEl>
                                      </p:cBhvr>
                                    </p:animEffect>
                                  </p:childTnLst>
                                </p:cTn>
                              </p:par>
                              <p:par>
                                <p:cTn id="99" presetID="22" presetClass="entr" presetSubtype="1" fill="hold" nodeType="withEffect">
                                  <p:stCondLst>
                                    <p:cond delay="0"/>
                                  </p:stCondLst>
                                  <p:childTnLst>
                                    <p:set>
                                      <p:cBhvr>
                                        <p:cTn id="100" dur="1" fill="hold">
                                          <p:stCondLst>
                                            <p:cond delay="0"/>
                                          </p:stCondLst>
                                        </p:cTn>
                                        <p:tgtEl>
                                          <p:spTgt spid="20"/>
                                        </p:tgtEl>
                                        <p:attrNameLst>
                                          <p:attrName>style.visibility</p:attrName>
                                        </p:attrNameLst>
                                      </p:cBhvr>
                                      <p:to>
                                        <p:strVal val="visible"/>
                                      </p:to>
                                    </p:set>
                                    <p:animEffect transition="in" filter="wipe(up)">
                                      <p:cBhvr>
                                        <p:cTn id="101" dur="500"/>
                                        <p:tgtEl>
                                          <p:spTgt spid="20"/>
                                        </p:tgtEl>
                                      </p:cBhvr>
                                    </p:animEffect>
                                  </p:childTnLst>
                                </p:cTn>
                              </p:par>
                              <p:par>
                                <p:cTn id="102" presetID="22" presetClass="entr" presetSubtype="1" fill="hold" nodeType="withEffect">
                                  <p:stCondLst>
                                    <p:cond delay="0"/>
                                  </p:stCondLst>
                                  <p:childTnLst>
                                    <p:set>
                                      <p:cBhvr>
                                        <p:cTn id="103" dur="1" fill="hold">
                                          <p:stCondLst>
                                            <p:cond delay="0"/>
                                          </p:stCondLst>
                                        </p:cTn>
                                        <p:tgtEl>
                                          <p:spTgt spid="21"/>
                                        </p:tgtEl>
                                        <p:attrNameLst>
                                          <p:attrName>style.visibility</p:attrName>
                                        </p:attrNameLst>
                                      </p:cBhvr>
                                      <p:to>
                                        <p:strVal val="visible"/>
                                      </p:to>
                                    </p:set>
                                    <p:animEffect transition="in" filter="wipe(up)">
                                      <p:cBhvr>
                                        <p:cTn id="104" dur="500"/>
                                        <p:tgtEl>
                                          <p:spTgt spid="21"/>
                                        </p:tgtEl>
                                      </p:cBhvr>
                                    </p:animEffect>
                                  </p:childTnLst>
                                </p:cTn>
                              </p:par>
                            </p:childTnLst>
                          </p:cTn>
                        </p:par>
                        <p:par>
                          <p:cTn id="105" fill="hold">
                            <p:stCondLst>
                              <p:cond delay="2000"/>
                            </p:stCondLst>
                            <p:childTnLst>
                              <p:par>
                                <p:cTn id="106" presetID="22" presetClass="entr" presetSubtype="1" fill="hold" nodeType="afterEffect">
                                  <p:stCondLst>
                                    <p:cond delay="0"/>
                                  </p:stCondLst>
                                  <p:childTnLst>
                                    <p:set>
                                      <p:cBhvr>
                                        <p:cTn id="107" dur="1" fill="hold">
                                          <p:stCondLst>
                                            <p:cond delay="0"/>
                                          </p:stCondLst>
                                        </p:cTn>
                                        <p:tgtEl>
                                          <p:spTgt spid="38"/>
                                        </p:tgtEl>
                                        <p:attrNameLst>
                                          <p:attrName>style.visibility</p:attrName>
                                        </p:attrNameLst>
                                      </p:cBhvr>
                                      <p:to>
                                        <p:strVal val="visible"/>
                                      </p:to>
                                    </p:set>
                                    <p:animEffect transition="in" filter="wipe(up)">
                                      <p:cBhvr>
                                        <p:cTn id="108" dur="500"/>
                                        <p:tgtEl>
                                          <p:spTgt spid="38"/>
                                        </p:tgtEl>
                                      </p:cBhvr>
                                    </p:animEffect>
                                  </p:childTnLst>
                                </p:cTn>
                              </p:par>
                            </p:childTnLst>
                          </p:cTn>
                        </p:par>
                        <p:par>
                          <p:cTn id="109" fill="hold">
                            <p:stCondLst>
                              <p:cond delay="2500"/>
                            </p:stCondLst>
                            <p:childTnLst>
                              <p:par>
                                <p:cTn id="110" presetID="22" presetClass="entr" presetSubtype="1" fill="hold" grpId="0" nodeType="afterEffect">
                                  <p:stCondLst>
                                    <p:cond delay="0"/>
                                  </p:stCondLst>
                                  <p:childTnLst>
                                    <p:set>
                                      <p:cBhvr>
                                        <p:cTn id="111" dur="1" fill="hold">
                                          <p:stCondLst>
                                            <p:cond delay="0"/>
                                          </p:stCondLst>
                                        </p:cTn>
                                        <p:tgtEl>
                                          <p:spTgt spid="28"/>
                                        </p:tgtEl>
                                        <p:attrNameLst>
                                          <p:attrName>style.visibility</p:attrName>
                                        </p:attrNameLst>
                                      </p:cBhvr>
                                      <p:to>
                                        <p:strVal val="visible"/>
                                      </p:to>
                                    </p:set>
                                    <p:animEffect transition="in" filter="wipe(up)">
                                      <p:cBhvr>
                                        <p:cTn id="112" dur="500"/>
                                        <p:tgtEl>
                                          <p:spTgt spid="2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5" grpId="0" animBg="1"/>
      <p:bldP spid="16" grpId="0" animBg="1"/>
      <p:bldP spid="11" grpId="0" animBg="1"/>
      <p:bldP spid="4" grpId="0"/>
      <p:bldP spid="27" grpId="0"/>
      <p:bldP spid="28" grpId="0"/>
      <p:bldP spid="29" grpId="0" animBg="1"/>
      <p:bldP spid="33" grpId="0"/>
      <p:bldP spid="34" grpId="0"/>
    </p:bldLst>
  </p:timing>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6">
            <a:extLst>
              <a:ext uri="{FF2B5EF4-FFF2-40B4-BE49-F238E27FC236}">
                <a16:creationId xmlns:a16="http://schemas.microsoft.com/office/drawing/2014/main" id="{1E4FB084-38CD-406E-81F4-84F92A627FED}"/>
              </a:ext>
            </a:extLst>
          </p:cNvPr>
          <p:cNvSpPr txBox="1"/>
          <p:nvPr/>
        </p:nvSpPr>
        <p:spPr>
          <a:xfrm>
            <a:off x="1447922" y="1295456"/>
            <a:ext cx="9448552" cy="4450064"/>
          </a:xfrm>
          <a:prstGeom prst="rect">
            <a:avLst/>
          </a:prstGeom>
          <a:noFill/>
        </p:spPr>
        <p:txBody>
          <a:bodyPr wrap="square">
            <a:spAutoFit/>
          </a:bodyPr>
          <a:ls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a:lstStyle>
          <a:p>
            <a:pPr algn="just">
              <a:lnSpc>
                <a:spcPct val="200000"/>
              </a:lnSpc>
              <a:buClr>
                <a:srgbClr val="FF0000"/>
              </a:buClr>
              <a:buSzPct val="80000"/>
              <a:defRPr/>
            </a:pPr>
            <a:r>
              <a:rPr lang="zh-CN" altLang="en-US" sz="1600" b="0" i="0" baseline="0" dirty="0">
                <a:latin typeface="微软雅黑" panose="020B0503020204020204" pitchFamily="34" charset="-122"/>
                <a:ea typeface="微软雅黑" panose="020B0503020204020204" pitchFamily="34" charset="-122"/>
                <a:cs typeface="+mn-ea"/>
                <a:sym typeface="+mn-lt"/>
              </a:rPr>
              <a:t>物理层的主要作用是实现通信设备之间的物理连接，并尽可能地屏蔽掉物理设备和传输媒体、通信手段的不同，使数据链路层感觉不到这些差异。</a:t>
            </a:r>
            <a:endParaRPr lang="en-US" altLang="zh-CN" sz="1600" b="0" i="0" baseline="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传输媒介</a:t>
            </a:r>
            <a:r>
              <a:rPr lang="zh-CN" altLang="en-US" sz="1600" b="0" i="0" baseline="0" dirty="0">
                <a:latin typeface="微软雅黑" panose="020B0503020204020204" pitchFamily="34" charset="-122"/>
                <a:ea typeface="微软雅黑" panose="020B0503020204020204" pitchFamily="34" charset="-122"/>
                <a:cs typeface="+mn-ea"/>
                <a:sym typeface="+mn-lt"/>
              </a:rPr>
              <a:t>：定义和选择用于数据传输的物理介质，确定了传输媒介特性和参数。</a:t>
            </a: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信号编码</a:t>
            </a:r>
            <a:r>
              <a:rPr lang="zh-CN" altLang="en-US" sz="1600" b="0" i="0" baseline="0" dirty="0">
                <a:latin typeface="微软雅黑" panose="020B0503020204020204" pitchFamily="34" charset="-122"/>
                <a:ea typeface="微软雅黑" panose="020B0503020204020204" pitchFamily="34" charset="-122"/>
                <a:cs typeface="+mn-ea"/>
                <a:sym typeface="+mn-lt"/>
              </a:rPr>
              <a:t>：将比特流转化为适合在传输介质上传输的信号。</a:t>
            </a: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数据传输方式</a:t>
            </a:r>
            <a:r>
              <a:rPr lang="zh-CN" altLang="en-US" sz="1600" b="0" i="0" baseline="0" dirty="0">
                <a:latin typeface="微软雅黑" panose="020B0503020204020204" pitchFamily="34" charset="-122"/>
                <a:ea typeface="微软雅黑" panose="020B0503020204020204" pitchFamily="34" charset="-122"/>
                <a:cs typeface="+mn-ea"/>
                <a:sym typeface="+mn-lt"/>
              </a:rPr>
              <a:t>：定义数据在传输介质上的传输方式，包括串行传输和并行传输。</a:t>
            </a:r>
            <a:endParaRPr lang="en-US" altLang="zh-CN" sz="1600" b="0" i="0" baseline="0" dirty="0">
              <a:latin typeface="微软雅黑" panose="020B0503020204020204" pitchFamily="34" charset="-122"/>
              <a:ea typeface="微软雅黑" panose="020B0503020204020204" pitchFamily="34" charset="-122"/>
              <a:cs typeface="+mn-ea"/>
              <a:sym typeface="+mn-lt"/>
            </a:endParaRP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时钟同步</a:t>
            </a:r>
            <a:r>
              <a:rPr lang="zh-CN" altLang="en-US" sz="1600" b="0" i="0" baseline="0" dirty="0">
                <a:latin typeface="微软雅黑" panose="020B0503020204020204" pitchFamily="34" charset="-122"/>
                <a:ea typeface="微软雅黑" panose="020B0503020204020204" pitchFamily="34" charset="-122"/>
                <a:cs typeface="+mn-ea"/>
                <a:sym typeface="+mn-lt"/>
              </a:rPr>
              <a:t>：确保发送端和接收端时钟同步，以确保数据的正确传输和解码。</a:t>
            </a: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数据传输速率</a:t>
            </a:r>
            <a:r>
              <a:rPr lang="zh-CN" altLang="en-US" sz="1600" b="0" i="0" baseline="0" dirty="0">
                <a:latin typeface="微软雅黑" panose="020B0503020204020204" pitchFamily="34" charset="-122"/>
                <a:ea typeface="微软雅黑" panose="020B0503020204020204" pitchFamily="34" charset="-122"/>
                <a:cs typeface="+mn-ea"/>
                <a:sym typeface="+mn-lt"/>
              </a:rPr>
              <a:t>：定义了数据传输速率，并根据不同的传输需求进行调整。</a:t>
            </a: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信号放大与衰减</a:t>
            </a:r>
            <a:r>
              <a:rPr lang="zh-CN" altLang="en-US" sz="1600" b="0" i="0" baseline="0" dirty="0">
                <a:latin typeface="微软雅黑" panose="020B0503020204020204" pitchFamily="34" charset="-122"/>
                <a:ea typeface="微软雅黑" panose="020B0503020204020204" pitchFamily="34" charset="-122"/>
                <a:cs typeface="+mn-ea"/>
                <a:sym typeface="+mn-lt"/>
              </a:rPr>
              <a:t>：在信号传输过程中进行信号的放大和衰减。</a:t>
            </a:r>
          </a:p>
          <a:p>
            <a:pPr marL="285750" indent="-285750" algn="just">
              <a:lnSpc>
                <a:spcPct val="200000"/>
              </a:lnSpc>
              <a:buClr>
                <a:srgbClr val="FF0000"/>
              </a:buClr>
              <a:buSzPct val="80000"/>
              <a:buFont typeface="Wingdings" panose="05000000000000000000" pitchFamily="2" charset="2"/>
              <a:buChar char="u"/>
              <a:defRPr/>
            </a:pPr>
            <a:r>
              <a:rPr lang="zh-CN" altLang="en-US" sz="1600" i="0" baseline="0" dirty="0">
                <a:latin typeface="微软雅黑" panose="020B0503020204020204" pitchFamily="34" charset="-122"/>
                <a:ea typeface="微软雅黑" panose="020B0503020204020204" pitchFamily="34" charset="-122"/>
                <a:cs typeface="+mn-ea"/>
                <a:sym typeface="+mn-lt"/>
              </a:rPr>
              <a:t>传输模式</a:t>
            </a:r>
            <a:r>
              <a:rPr lang="zh-CN" altLang="en-US" sz="1600" b="0" i="0" baseline="0" dirty="0">
                <a:latin typeface="微软雅黑" panose="020B0503020204020204" pitchFamily="34" charset="-122"/>
                <a:ea typeface="微软雅黑" panose="020B0503020204020204" pitchFamily="34" charset="-122"/>
                <a:cs typeface="+mn-ea"/>
                <a:sym typeface="+mn-lt"/>
              </a:rPr>
              <a:t>：定义了数据传输的模式，包括单工、半双工和全双工。</a:t>
            </a:r>
            <a:endParaRPr lang="en-US" altLang="zh-CN" sz="1600" b="0" i="0" baseline="0" dirty="0">
              <a:latin typeface="微软雅黑" panose="020B0503020204020204" pitchFamily="34" charset="-122"/>
              <a:ea typeface="微软雅黑" panose="020B0503020204020204" pitchFamily="34" charset="-122"/>
              <a:cs typeface="+mn-ea"/>
              <a:sym typeface="+mn-lt"/>
            </a:endParaRPr>
          </a:p>
        </p:txBody>
      </p:sp>
      <p:sp>
        <p:nvSpPr>
          <p:cNvPr id="4" name="矩形 3">
            <a:extLst>
              <a:ext uri="{FF2B5EF4-FFF2-40B4-BE49-F238E27FC236}">
                <a16:creationId xmlns:a16="http://schemas.microsoft.com/office/drawing/2014/main" id="{612D50E6-EC5D-4F22-BA05-C22EBA1B1FC0}"/>
              </a:ext>
            </a:extLst>
          </p:cNvPr>
          <p:cNvSpPr/>
          <p:nvPr/>
        </p:nvSpPr>
        <p:spPr>
          <a:xfrm>
            <a:off x="4038654" y="79194"/>
            <a:ext cx="2339102" cy="523220"/>
          </a:xfrm>
          <a:prstGeom prst="rect">
            <a:avLst/>
          </a:prstGeom>
        </p:spPr>
        <p:txBody>
          <a:bodyPr wrap="non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物理层的功能</a:t>
            </a:r>
          </a:p>
        </p:txBody>
      </p:sp>
    </p:spTree>
    <p:extLst>
      <p:ext uri="{BB962C8B-B14F-4D97-AF65-F5344CB8AC3E}">
        <p14:creationId xmlns:p14="http://schemas.microsoft.com/office/powerpoint/2010/main" val="4168136265"/>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67382BA6-209B-43FF-8DD3-A06446AA68C7}"/>
              </a:ext>
            </a:extLst>
          </p:cNvPr>
          <p:cNvSpPr/>
          <p:nvPr/>
        </p:nvSpPr>
        <p:spPr>
          <a:xfrm>
            <a:off x="1447922" y="1295457"/>
            <a:ext cx="9219958" cy="4440767"/>
          </a:xfrm>
          <a:prstGeom prst="rect">
            <a:avLst/>
          </a:prstGeom>
        </p:spPr>
        <p:txBody>
          <a:bodyPr wrap="square">
            <a:spAutoFit/>
          </a:bodyPr>
          <a:lstStyle/>
          <a:p>
            <a:pPr marL="285750" indent="-285750" algn="just" defTabSz="457200" eaLnBrk="1" hangingPunct="1">
              <a:lnSpc>
                <a:spcPct val="200000"/>
              </a:lnSpc>
              <a:buClr>
                <a:srgbClr val="FF0000"/>
              </a:buClr>
              <a:buSzPct val="80000"/>
              <a:buFont typeface="Wingdings" panose="05000000000000000000" pitchFamily="2" charset="2"/>
              <a:buChar char="u"/>
              <a:defRPr/>
            </a:pPr>
            <a:r>
              <a:rPr lang="zh-CN" altLang="en-US" sz="1800" i="0" baseline="0" dirty="0">
                <a:latin typeface="微软雅黑" panose="020B0503020204020204" pitchFamily="34" charset="-122"/>
                <a:ea typeface="微软雅黑" panose="020B0503020204020204" pitchFamily="34" charset="-122"/>
                <a:cs typeface="+mn-ea"/>
              </a:rPr>
              <a:t>编码技术</a:t>
            </a:r>
            <a:r>
              <a:rPr lang="zh-CN" altLang="en-US" sz="1800" b="0" i="0" baseline="0" dirty="0">
                <a:latin typeface="微软雅黑" panose="020B0503020204020204" pitchFamily="34" charset="-122"/>
                <a:ea typeface="微软雅黑" panose="020B0503020204020204" pitchFamily="34" charset="-122"/>
                <a:cs typeface="+mn-ea"/>
              </a:rPr>
              <a:t>：将比特流转换为传输介质上的信号，提高信号的可靠性、抗干扰能力和时钟同步性。</a:t>
            </a:r>
          </a:p>
          <a:p>
            <a:pPr marL="285750" indent="-285750" algn="just" defTabSz="457200" eaLnBrk="1" hangingPunct="1">
              <a:lnSpc>
                <a:spcPct val="200000"/>
              </a:lnSpc>
              <a:buClr>
                <a:srgbClr val="FF0000"/>
              </a:buClr>
              <a:buSzPct val="80000"/>
              <a:buFont typeface="Wingdings" panose="05000000000000000000" pitchFamily="2" charset="2"/>
              <a:buChar char="u"/>
              <a:defRPr/>
            </a:pPr>
            <a:r>
              <a:rPr lang="zh-CN" altLang="en-US" sz="1800" i="0" baseline="0" dirty="0">
                <a:latin typeface="微软雅黑" panose="020B0503020204020204" pitchFamily="34" charset="-122"/>
                <a:ea typeface="微软雅黑" panose="020B0503020204020204" pitchFamily="34" charset="-122"/>
                <a:cs typeface="+mn-ea"/>
              </a:rPr>
              <a:t>调制技术</a:t>
            </a:r>
            <a:r>
              <a:rPr lang="zh-CN" altLang="en-US" sz="1800" b="0" i="0" baseline="0" dirty="0">
                <a:latin typeface="微软雅黑" panose="020B0503020204020204" pitchFamily="34" charset="-122"/>
                <a:ea typeface="微软雅黑" panose="020B0503020204020204" pitchFamily="34" charset="-122"/>
                <a:cs typeface="+mn-ea"/>
              </a:rPr>
              <a:t>：将数字信号转换为模拟信号以便在传输介质上进行传输，根据传输介质特性选择调制方式，提高信号的传输质量和抗干扰能力。</a:t>
            </a:r>
          </a:p>
          <a:p>
            <a:pPr marL="285750" indent="-285750" algn="just" defTabSz="457200" eaLnBrk="1" hangingPunct="1">
              <a:lnSpc>
                <a:spcPct val="200000"/>
              </a:lnSpc>
              <a:buClr>
                <a:srgbClr val="FF0000"/>
              </a:buClr>
              <a:buSzPct val="80000"/>
              <a:buFont typeface="Wingdings" panose="05000000000000000000" pitchFamily="2" charset="2"/>
              <a:buChar char="u"/>
              <a:defRPr/>
            </a:pPr>
            <a:r>
              <a:rPr lang="zh-CN" altLang="en-US" sz="1800" i="0" baseline="0" dirty="0">
                <a:latin typeface="微软雅黑" panose="020B0503020204020204" pitchFamily="34" charset="-122"/>
                <a:ea typeface="微软雅黑" panose="020B0503020204020204" pitchFamily="34" charset="-122"/>
                <a:cs typeface="+mn-ea"/>
              </a:rPr>
              <a:t>多路复用技术</a:t>
            </a:r>
            <a:r>
              <a:rPr lang="zh-CN" altLang="en-US" sz="1800" b="0" i="0" baseline="0" dirty="0">
                <a:latin typeface="微软雅黑" panose="020B0503020204020204" pitchFamily="34" charset="-122"/>
                <a:ea typeface="微软雅黑" panose="020B0503020204020204" pitchFamily="34" charset="-122"/>
                <a:cs typeface="+mn-ea"/>
              </a:rPr>
              <a:t>：使多个信号同时在同一传输介质上传输，以提高传输效率，实现多个通信信号的共享和同时传输。</a:t>
            </a:r>
          </a:p>
          <a:p>
            <a:pPr marL="285750" indent="-285750" algn="just" defTabSz="457200" eaLnBrk="1" hangingPunct="1">
              <a:lnSpc>
                <a:spcPct val="200000"/>
              </a:lnSpc>
              <a:buClr>
                <a:srgbClr val="FF0000"/>
              </a:buClr>
              <a:buSzPct val="80000"/>
              <a:buFont typeface="Wingdings" panose="05000000000000000000" pitchFamily="2" charset="2"/>
              <a:buChar char="u"/>
              <a:defRPr/>
            </a:pPr>
            <a:r>
              <a:rPr lang="zh-CN" altLang="en-US" sz="1800" i="0" baseline="0" dirty="0">
                <a:latin typeface="微软雅黑" panose="020B0503020204020204" pitchFamily="34" charset="-122"/>
                <a:ea typeface="微软雅黑" panose="020B0503020204020204" pitchFamily="34" charset="-122"/>
                <a:cs typeface="+mn-ea"/>
              </a:rPr>
              <a:t>信号放大与衰减技术</a:t>
            </a:r>
            <a:r>
              <a:rPr lang="zh-CN" altLang="en-US" sz="1800" b="0" i="0" baseline="0" dirty="0">
                <a:latin typeface="微软雅黑" panose="020B0503020204020204" pitchFamily="34" charset="-122"/>
                <a:ea typeface="微软雅黑" panose="020B0503020204020204" pitchFamily="34" charset="-122"/>
                <a:cs typeface="+mn-ea"/>
              </a:rPr>
              <a:t>：信号会因为传输距离、传输介质的损耗等原因而衰减，使用信号放大器进行信号放大或信号衰减器控制信号强度。</a:t>
            </a:r>
          </a:p>
        </p:txBody>
      </p:sp>
      <p:sp>
        <p:nvSpPr>
          <p:cNvPr id="4" name="矩形 3">
            <a:extLst>
              <a:ext uri="{FF2B5EF4-FFF2-40B4-BE49-F238E27FC236}">
                <a16:creationId xmlns:a16="http://schemas.microsoft.com/office/drawing/2014/main" id="{8B142D0C-B16E-4FAC-9CCF-AFA3F0785964}"/>
              </a:ext>
            </a:extLst>
          </p:cNvPr>
          <p:cNvSpPr/>
          <p:nvPr/>
        </p:nvSpPr>
        <p:spPr>
          <a:xfrm>
            <a:off x="3962456" y="84752"/>
            <a:ext cx="3416320" cy="523220"/>
          </a:xfrm>
          <a:prstGeom prst="rect">
            <a:avLst/>
          </a:prstGeom>
        </p:spPr>
        <p:txBody>
          <a:bodyPr wrap="non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物理层的技术和协议</a:t>
            </a:r>
          </a:p>
        </p:txBody>
      </p:sp>
    </p:spTree>
    <p:extLst>
      <p:ext uri="{BB962C8B-B14F-4D97-AF65-F5344CB8AC3E}">
        <p14:creationId xmlns:p14="http://schemas.microsoft.com/office/powerpoint/2010/main" val="388814570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lum/>
          </a:blip>
          <a:srcRect/>
          <a:stretch>
            <a:fillRect/>
          </a:stretch>
        </a:blipFill>
        <a:effectLst/>
      </p:bgPr>
    </p:bg>
    <p:spTree>
      <p:nvGrpSpPr>
        <p:cNvPr id="1" name=""/>
        <p:cNvGrpSpPr/>
        <p:nvPr/>
      </p:nvGrpSpPr>
      <p:grpSpPr>
        <a:xfrm>
          <a:off x="0" y="0"/>
          <a:ext cx="0" cy="0"/>
          <a:chOff x="0" y="0"/>
          <a:chExt cx="0" cy="0"/>
        </a:xfrm>
      </p:grpSpPr>
      <p:pic>
        <p:nvPicPr>
          <p:cNvPr id="2" name="图片 1">
            <a:extLst>
              <a:ext uri="{FF2B5EF4-FFF2-40B4-BE49-F238E27FC236}">
                <a16:creationId xmlns:a16="http://schemas.microsoft.com/office/drawing/2014/main" id="{6A2267D9-52EE-4BC3-9CFD-C26DD971CE09}"/>
              </a:ext>
            </a:extLst>
          </p:cNvPr>
          <p:cNvPicPr>
            <a:picLocks noChangeAspect="1"/>
          </p:cNvPicPr>
          <p:nvPr/>
        </p:nvPicPr>
        <p:blipFill>
          <a:blip r:embed="rId3"/>
          <a:stretch>
            <a:fillRect/>
          </a:stretch>
        </p:blipFill>
        <p:spPr>
          <a:xfrm>
            <a:off x="533400" y="18826"/>
            <a:ext cx="4800600" cy="1755924"/>
          </a:xfrm>
          <a:prstGeom prst="rect">
            <a:avLst/>
          </a:prstGeom>
        </p:spPr>
      </p:pic>
      <p:sp>
        <p:nvSpPr>
          <p:cNvPr id="5" name="Rectangle 3">
            <a:extLst>
              <a:ext uri="{FF2B5EF4-FFF2-40B4-BE49-F238E27FC236}">
                <a16:creationId xmlns:a16="http://schemas.microsoft.com/office/drawing/2014/main" id="{DB1619E6-902B-4E59-A47A-7FC947F3A7F3}"/>
              </a:ext>
            </a:extLst>
          </p:cNvPr>
          <p:cNvSpPr>
            <a:spLocks noChangeArrowheads="1"/>
          </p:cNvSpPr>
          <p:nvPr/>
        </p:nvSpPr>
        <p:spPr bwMode="auto">
          <a:xfrm>
            <a:off x="2209800" y="2438400"/>
            <a:ext cx="8077200" cy="187743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ctr" defTabSz="914400" rtl="0" eaLnBrk="0" fontAlgn="base" latinLnBrk="0" hangingPunct="0">
              <a:lnSpc>
                <a:spcPct val="100000"/>
              </a:lnSpc>
              <a:spcBef>
                <a:spcPct val="0"/>
              </a:spcBef>
              <a:spcAft>
                <a:spcPct val="0"/>
              </a:spcAft>
              <a:buClrTx/>
              <a:buSzTx/>
              <a:buFontTx/>
              <a:buNone/>
              <a:tabLst/>
              <a:defRPr/>
            </a:pPr>
            <a:r>
              <a:rPr kumimoji="0" lang="zh-CN" altLang="en-US"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第三章</a:t>
            </a:r>
            <a:endParaRPr kumimoji="0" lang="en-US" altLang="zh-CN" sz="4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marL="0" marR="0" lvl="0" indent="0" algn="ctr" defTabSz="914400" rtl="0" eaLnBrk="0" fontAlgn="base" latinLnBrk="0" hangingPunct="0">
              <a:lnSpc>
                <a:spcPct val="100000"/>
              </a:lnSpc>
              <a:spcBef>
                <a:spcPct val="0"/>
              </a:spcBef>
              <a:spcAft>
                <a:spcPct val="0"/>
              </a:spcAft>
              <a:buClrTx/>
              <a:buSzTx/>
              <a:buFontTx/>
              <a:buNone/>
              <a:tabLst/>
              <a:defRPr/>
            </a:pPr>
            <a:endParaRPr kumimoji="0" lang="en-US" altLang="en-US" sz="20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endParaRPr>
          </a:p>
          <a:p>
            <a:pPr lvl="0" algn="ctr"/>
            <a:r>
              <a:rPr lang="zh-CN" altLang="en-US" sz="4800" i="0" baseline="0" dirty="0">
                <a:solidFill>
                  <a:srgbClr val="000000"/>
                </a:solidFill>
                <a:latin typeface="微软雅黑" panose="020B0503020204020204" pitchFamily="34" charset="-122"/>
                <a:ea typeface="微软雅黑" panose="020B0503020204020204" pitchFamily="34" charset="-122"/>
              </a:rPr>
              <a:t>数据和信号</a:t>
            </a:r>
          </a:p>
        </p:txBody>
      </p:sp>
    </p:spTree>
    <p:extLst>
      <p:ext uri="{BB962C8B-B14F-4D97-AF65-F5344CB8AC3E}">
        <p14:creationId xmlns:p14="http://schemas.microsoft.com/office/powerpoint/2010/main" val="39024305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127" name="内容占位符 2">
            <a:extLst>
              <a:ext uri="{FF2B5EF4-FFF2-40B4-BE49-F238E27FC236}">
                <a16:creationId xmlns:a16="http://schemas.microsoft.com/office/drawing/2014/main" id="{E1A4BD43-CD3B-4F31-AFF7-6F6037EB5ED4}"/>
              </a:ext>
            </a:extLst>
          </p:cNvPr>
          <p:cNvSpPr txBox="1">
            <a:spLocks noChangeArrowheads="1"/>
          </p:cNvSpPr>
          <p:nvPr/>
        </p:nvSpPr>
        <p:spPr bwMode="auto">
          <a:xfrm>
            <a:off x="1828912" y="1134655"/>
            <a:ext cx="7794104" cy="15168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nchor="b"/>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marL="285750" indent="-285750" eaLnBrk="1" hangingPunct="1">
              <a:lnSpc>
                <a:spcPct val="200000"/>
              </a:lnSpc>
              <a:buClr>
                <a:srgbClr val="FF0000"/>
              </a:buClr>
              <a:buSzPct val="80000"/>
              <a:buFont typeface="Wingdings" panose="05000000000000000000" pitchFamily="2" charset="2"/>
              <a:buChar char="u"/>
            </a:pPr>
            <a:r>
              <a:rPr lang="zh-CN"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信息</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message</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）：通信的目的是传送信息，如文字、图像、视频和音频等。</a:t>
            </a:r>
          </a:p>
          <a:p>
            <a:pPr marL="285750" indent="-285750" eaLnBrk="1" hangingPunct="1">
              <a:lnSpc>
                <a:spcPct val="200000"/>
              </a:lnSpc>
              <a:buClr>
                <a:srgbClr val="FF0000"/>
              </a:buClr>
              <a:buSzPct val="80000"/>
              <a:buFont typeface="Wingdings" panose="05000000000000000000" pitchFamily="2" charset="2"/>
              <a:buChar char="u"/>
            </a:pPr>
            <a:r>
              <a:rPr lang="zh-CN"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数据</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data</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）：信息在传输之前需要进行编码，编码后的信息就变成数据。</a:t>
            </a:r>
          </a:p>
          <a:p>
            <a:pPr marL="285750" indent="-285750" eaLnBrk="1" hangingPunct="1">
              <a:lnSpc>
                <a:spcPct val="200000"/>
              </a:lnSpc>
              <a:buClr>
                <a:srgbClr val="FF0000"/>
              </a:buClr>
              <a:buSzPct val="80000"/>
              <a:buFont typeface="Wingdings" panose="05000000000000000000" pitchFamily="2" charset="2"/>
              <a:buChar char="u"/>
            </a:pPr>
            <a:r>
              <a:rPr lang="zh-CN" altLang="zh-CN" sz="1600" i="0" baseline="0" dirty="0">
                <a:latin typeface="微软雅黑" panose="020B0503020204020204" pitchFamily="34" charset="-122"/>
                <a:ea typeface="微软雅黑" panose="020B0503020204020204" pitchFamily="34" charset="-122"/>
                <a:cs typeface="Times New Roman" panose="02020603050405020304" pitchFamily="18" charset="0"/>
              </a:rPr>
              <a:t>信号</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a:t>
            </a:r>
            <a:r>
              <a:rPr lang="en-US"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signal</a:t>
            </a:r>
            <a:r>
              <a:rPr lang="zh-CN" altLang="zh-CN" sz="1600" b="0" i="0" baseline="0" dirty="0">
                <a:latin typeface="微软雅黑" panose="020B0503020204020204" pitchFamily="34" charset="-122"/>
                <a:ea typeface="微软雅黑" panose="020B0503020204020204" pitchFamily="34" charset="-122"/>
                <a:cs typeface="Times New Roman" panose="02020603050405020304" pitchFamily="18" charset="0"/>
              </a:rPr>
              <a:t>）：数据在通信线路上传递需要变成电信号或光信号。</a:t>
            </a:r>
          </a:p>
        </p:txBody>
      </p:sp>
      <p:pic>
        <p:nvPicPr>
          <p:cNvPr id="5128" name="图片 9">
            <a:extLst>
              <a:ext uri="{FF2B5EF4-FFF2-40B4-BE49-F238E27FC236}">
                <a16:creationId xmlns:a16="http://schemas.microsoft.com/office/drawing/2014/main" id="{ED1BCC1F-55FD-4F32-93AC-D0F16BCA0B5E}"/>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563418" y="3200406"/>
            <a:ext cx="9065164" cy="228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173" name="Text Box 4">
            <a:extLst>
              <a:ext uri="{FF2B5EF4-FFF2-40B4-BE49-F238E27FC236}">
                <a16:creationId xmlns:a16="http://schemas.microsoft.com/office/drawing/2014/main" id="{4957F1B8-3227-4ED5-ADF8-9A0E96D2089A}"/>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7174" name="Rectangle 5">
            <a:extLst>
              <a:ext uri="{FF2B5EF4-FFF2-40B4-BE49-F238E27FC236}">
                <a16:creationId xmlns:a16="http://schemas.microsoft.com/office/drawing/2014/main" id="{463FF810-CB00-40AA-8D19-A83EA7BAE2B2}"/>
              </a:ext>
            </a:extLst>
          </p:cNvPr>
          <p:cNvSpPr>
            <a:spLocks noChangeArrowheads="1"/>
          </p:cNvSpPr>
          <p:nvPr/>
        </p:nvSpPr>
        <p:spPr bwMode="auto">
          <a:xfrm>
            <a:off x="1600318" y="1103404"/>
            <a:ext cx="8991364" cy="198785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200000"/>
              </a:lnSpc>
              <a:buFont typeface="Arial" panose="020B0604020202020204" pitchFamily="34" charset="0"/>
              <a:buNone/>
            </a:pPr>
            <a:r>
              <a:rPr lang="zh-CN" altLang="en-US" sz="1600" i="0" baseline="0" dirty="0">
                <a:solidFill>
                  <a:srgbClr val="FF0000"/>
                </a:solidFill>
                <a:latin typeface="微软雅黑" panose="020B0503020204020204" pitchFamily="34" charset="-122"/>
                <a:ea typeface="微软雅黑" panose="020B0503020204020204" pitchFamily="34" charset="-122"/>
              </a:rPr>
              <a:t>数据</a:t>
            </a:r>
            <a:r>
              <a:rPr lang="zh-CN" altLang="en-US" sz="1600" b="0" i="0" baseline="0" dirty="0">
                <a:latin typeface="微软雅黑" panose="020B0503020204020204" pitchFamily="34" charset="-122"/>
                <a:ea typeface="微软雅黑" panose="020B0503020204020204" pitchFamily="34" charset="-122"/>
              </a:rPr>
              <a:t>可以是模拟的也可以是数字的。模拟数据指的是连续状态的信息，是由传感器采集得到的连续变化的值。而数字数据指的是离散状态的信息，是模拟数据经量化后得到的离散的值。</a:t>
            </a:r>
            <a:endParaRPr lang="en-US" altLang="zh-CN" sz="1600" b="0" i="0" baseline="0" dirty="0">
              <a:latin typeface="微软雅黑" panose="020B0503020204020204" pitchFamily="34" charset="-122"/>
              <a:ea typeface="微软雅黑" panose="020B0503020204020204" pitchFamily="34" charset="-122"/>
            </a:endParaRPr>
          </a:p>
          <a:p>
            <a:pPr algn="just" eaLnBrk="1" hangingPunct="1">
              <a:lnSpc>
                <a:spcPct val="200000"/>
              </a:lnSpc>
              <a:buFont typeface="Arial" panose="020B0604020202020204" pitchFamily="34" charset="0"/>
              <a:buNone/>
            </a:pPr>
            <a:r>
              <a:rPr lang="zh-CN" altLang="en-US" sz="1600" i="0" baseline="0" dirty="0">
                <a:solidFill>
                  <a:srgbClr val="FF0000"/>
                </a:solidFill>
                <a:latin typeface="微软雅黑" panose="020B0503020204020204" pitchFamily="34" charset="-122"/>
                <a:ea typeface="微软雅黑" panose="020B0503020204020204" pitchFamily="34" charset="-122"/>
              </a:rPr>
              <a:t>信号</a:t>
            </a:r>
            <a:r>
              <a:rPr lang="zh-CN" altLang="en-US" sz="1600" b="0" i="0" baseline="0" dirty="0">
                <a:latin typeface="微软雅黑" panose="020B0503020204020204" pitchFamily="34" charset="-122"/>
                <a:ea typeface="微软雅黑" panose="020B0503020204020204" pitchFamily="34" charset="-122"/>
              </a:rPr>
              <a:t>可以是模拟的也可以是数字的。模拟信号在一个范围内可以有无穷多个取值，数字信号只能有有限个数值。</a:t>
            </a:r>
          </a:p>
        </p:txBody>
      </p:sp>
      <p:sp>
        <p:nvSpPr>
          <p:cNvPr id="7" name="Text Box 4">
            <a:extLst>
              <a:ext uri="{FF2B5EF4-FFF2-40B4-BE49-F238E27FC236}">
                <a16:creationId xmlns:a16="http://schemas.microsoft.com/office/drawing/2014/main" id="{494F913D-5232-4C94-A9F6-FE49788246AB}"/>
              </a:ext>
            </a:extLst>
          </p:cNvPr>
          <p:cNvSpPr txBox="1">
            <a:spLocks noChangeArrowheads="1"/>
          </p:cNvSpPr>
          <p:nvPr/>
        </p:nvSpPr>
        <p:spPr bwMode="auto">
          <a:xfrm>
            <a:off x="4952270" y="5908357"/>
            <a:ext cx="2339102"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400" i="0" baseline="0" dirty="0">
                <a:solidFill>
                  <a:schemeClr val="folHlink"/>
                </a:solidFill>
                <a:ea typeface="宋体" panose="02010600030101010101" pitchFamily="2" charset="-122"/>
              </a:rPr>
              <a:t>图3.1   </a:t>
            </a:r>
            <a:r>
              <a:rPr lang="zh-CN" altLang="en-US" sz="1400" i="0" baseline="0" dirty="0">
                <a:ea typeface="宋体" panose="02010600030101010101" pitchFamily="2" charset="-122"/>
              </a:rPr>
              <a:t>模拟信号和数字信号</a:t>
            </a:r>
          </a:p>
        </p:txBody>
      </p:sp>
      <p:pic>
        <p:nvPicPr>
          <p:cNvPr id="8" name="Picture 6">
            <a:extLst>
              <a:ext uri="{FF2B5EF4-FFF2-40B4-BE49-F238E27FC236}">
                <a16:creationId xmlns:a16="http://schemas.microsoft.com/office/drawing/2014/main" id="{B01B380C-5202-454E-8D05-3373D3BC0305}"/>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93508" y="3375366"/>
            <a:ext cx="6983161" cy="234895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7" name="内容占位符 3">
            <a:extLst>
              <a:ext uri="{FF2B5EF4-FFF2-40B4-BE49-F238E27FC236}">
                <a16:creationId xmlns:a16="http://schemas.microsoft.com/office/drawing/2014/main" id="{1A3C6B6B-727D-4FDA-99F7-4068836CA91B}"/>
              </a:ext>
            </a:extLst>
          </p:cNvPr>
          <p:cNvPicPr>
            <a:picLocks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11878" y="4724366"/>
            <a:ext cx="7520639" cy="86993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50" name="内容占位符 2">
            <a:extLst>
              <a:ext uri="{FF2B5EF4-FFF2-40B4-BE49-F238E27FC236}">
                <a16:creationId xmlns:a16="http://schemas.microsoft.com/office/drawing/2014/main" id="{AA29B911-7BE6-4143-B2C4-68A748476BD0}"/>
              </a:ext>
            </a:extLst>
          </p:cNvPr>
          <p:cNvSpPr txBox="1">
            <a:spLocks noChangeArrowheads="1"/>
          </p:cNvSpPr>
          <p:nvPr/>
        </p:nvSpPr>
        <p:spPr bwMode="auto">
          <a:xfrm>
            <a:off x="1447922" y="1196858"/>
            <a:ext cx="9448552" cy="276106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200000"/>
              </a:lnSpc>
              <a:spcBef>
                <a:spcPct val="20000"/>
              </a:spcBef>
              <a:buClr>
                <a:srgbClr val="FF0000"/>
              </a:buClr>
              <a:buSzPct val="80000"/>
              <a:buFont typeface="Wingdings" panose="05000000000000000000" pitchFamily="2" charset="2"/>
              <a:buChar char="u"/>
            </a:pPr>
            <a:r>
              <a:rPr lang="zh-CN" altLang="en-US" sz="2000" i="0" baseline="0" dirty="0">
                <a:latin typeface="微软雅黑" panose="020B0503020204020204" pitchFamily="34" charset="-122"/>
                <a:ea typeface="微软雅黑" panose="020B0503020204020204" pitchFamily="34" charset="-122"/>
              </a:rPr>
              <a:t>模拟信号</a:t>
            </a:r>
            <a:endParaRPr lang="en-US" altLang="zh-CN" sz="2000" i="0" baseline="0" dirty="0">
              <a:latin typeface="微软雅黑" panose="020B0503020204020204" pitchFamily="34" charset="-122"/>
              <a:ea typeface="微软雅黑" panose="020B0503020204020204" pitchFamily="34" charset="-122"/>
            </a:endParaRP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优点：具有精确的分辨率，模拟信号比数字信号的信息密度更高。处理更简单，可以直接通过模拟电路组件实现。</a:t>
            </a: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缺点：易受干扰</a:t>
            </a:r>
            <a:r>
              <a:rPr lang="zh-CN" altLang="zh-CN" sz="1800" b="0" i="0" baseline="0" dirty="0">
                <a:latin typeface="微软雅黑" panose="020B0503020204020204" pitchFamily="34" charset="-122"/>
                <a:ea typeface="微软雅黑" panose="020B0503020204020204" pitchFamily="34" charset="-122"/>
              </a:rPr>
              <a:t>，很难纠正</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在数据通信中常使用</a:t>
            </a:r>
            <a:r>
              <a:rPr lang="zh-CN" altLang="en-US" sz="1800" i="0" baseline="0" dirty="0">
                <a:latin typeface="微软雅黑" panose="020B0503020204020204" pitchFamily="34" charset="-122"/>
                <a:ea typeface="微软雅黑" panose="020B0503020204020204" pitchFamily="34" charset="-122"/>
              </a:rPr>
              <a:t>周期模拟信号</a:t>
            </a:r>
            <a:r>
              <a:rPr lang="zh-CN" altLang="en-US" sz="1800" b="0" i="0" baseline="0" dirty="0">
                <a:latin typeface="微软雅黑" panose="020B0503020204020204" pitchFamily="34" charset="-122"/>
                <a:ea typeface="微软雅黑" panose="020B0503020204020204" pitchFamily="34" charset="-122"/>
              </a:rPr>
              <a:t>，因为它需要的带宽更小。</a:t>
            </a:r>
          </a:p>
        </p:txBody>
      </p:sp>
    </p:spTree>
    <p:extLst>
      <p:ext uri="{BB962C8B-B14F-4D97-AF65-F5344CB8AC3E}">
        <p14:creationId xmlns:p14="http://schemas.microsoft.com/office/powerpoint/2010/main" val="206662339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10248" name="图片 8">
            <a:extLst>
              <a:ext uri="{FF2B5EF4-FFF2-40B4-BE49-F238E27FC236}">
                <a16:creationId xmlns:a16="http://schemas.microsoft.com/office/drawing/2014/main" id="{0B7D7082-566B-4DD3-9495-FF6CFE619E2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286100" y="4571970"/>
            <a:ext cx="7772195" cy="99204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10249" name="内容占位符 2">
            <a:extLst>
              <a:ext uri="{FF2B5EF4-FFF2-40B4-BE49-F238E27FC236}">
                <a16:creationId xmlns:a16="http://schemas.microsoft.com/office/drawing/2014/main" id="{48F69256-8F3F-461E-85BD-A02A807AA271}"/>
              </a:ext>
            </a:extLst>
          </p:cNvPr>
          <p:cNvSpPr txBox="1">
            <a:spLocks noChangeArrowheads="1"/>
          </p:cNvSpPr>
          <p:nvPr/>
        </p:nvSpPr>
        <p:spPr bwMode="auto">
          <a:xfrm>
            <a:off x="1447923" y="1143060"/>
            <a:ext cx="9524750" cy="28955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a:lstStyle>
            <a:lvl1pPr marL="342900" indent="-342900">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200000"/>
              </a:lnSpc>
              <a:spcBef>
                <a:spcPct val="20000"/>
              </a:spcBef>
              <a:buClr>
                <a:srgbClr val="FF0000"/>
              </a:buClr>
              <a:buSzPct val="80000"/>
              <a:buFont typeface="Wingdings" panose="05000000000000000000" pitchFamily="2" charset="2"/>
              <a:buChar char="u"/>
              <a:defRPr/>
            </a:pPr>
            <a:r>
              <a:rPr lang="zh-CN" altLang="zh-CN" sz="2000" i="0" baseline="0" dirty="0">
                <a:latin typeface="微软雅黑" panose="020B0503020204020204" pitchFamily="34" charset="-122"/>
                <a:ea typeface="微软雅黑" panose="020B0503020204020204" pitchFamily="34" charset="-122"/>
              </a:rPr>
              <a:t>数字信号</a:t>
            </a:r>
            <a:endParaRPr lang="en-US" altLang="zh-CN" sz="2000" i="0" baseline="0" dirty="0">
              <a:latin typeface="微软雅黑" panose="020B0503020204020204" pitchFamily="34" charset="-122"/>
              <a:ea typeface="微软雅黑" panose="020B0503020204020204" pitchFamily="34" charset="-122"/>
            </a:endParaRP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优点：抗干扰能力更强，传输距离更远，失真幅度小。便于加密处理、存储、处理和交换，设备便于集成化、微型，占用信道频带较宽。</a:t>
            </a: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缺点：算法复杂。</a:t>
            </a:r>
            <a:endParaRPr lang="en-US" altLang="zh-CN" sz="1800" b="0" i="0" baseline="0" dirty="0">
              <a:latin typeface="微软雅黑" panose="020B0503020204020204" pitchFamily="34" charset="-122"/>
              <a:ea typeface="微软雅黑" panose="020B0503020204020204" pitchFamily="34" charset="-122"/>
            </a:endParaRPr>
          </a:p>
          <a:p>
            <a:pPr marL="628650" indent="-274638">
              <a:lnSpc>
                <a:spcPct val="200000"/>
              </a:lnSpc>
              <a:spcBef>
                <a:spcPct val="20000"/>
              </a:spcBef>
              <a:buClr>
                <a:srgbClr val="3366FF"/>
              </a:buClr>
              <a:buSzPct val="80000"/>
              <a:buFont typeface="Wingdings" panose="05000000000000000000" pitchFamily="2" charset="2"/>
              <a:buChar char="l"/>
              <a:defRPr/>
            </a:pPr>
            <a:r>
              <a:rPr lang="zh-CN" altLang="en-US" sz="1800" b="0" i="0" baseline="0" dirty="0">
                <a:latin typeface="微软雅黑" panose="020B0503020204020204" pitchFamily="34" charset="-122"/>
                <a:ea typeface="微软雅黑" panose="020B0503020204020204" pitchFamily="34" charset="-122"/>
              </a:rPr>
              <a:t>在数据通信中常使用</a:t>
            </a:r>
            <a:r>
              <a:rPr lang="zh-CN" altLang="en-US" sz="1800" i="0" baseline="0" dirty="0">
                <a:latin typeface="微软雅黑" panose="020B0503020204020204" pitchFamily="34" charset="-122"/>
                <a:ea typeface="微软雅黑" panose="020B0503020204020204" pitchFamily="34" charset="-122"/>
              </a:rPr>
              <a:t>非周期数字信号</a:t>
            </a:r>
            <a:r>
              <a:rPr lang="zh-CN" altLang="en-US" sz="1800" b="0" i="0" baseline="0" dirty="0">
                <a:latin typeface="微软雅黑" panose="020B0503020204020204" pitchFamily="34" charset="-122"/>
                <a:ea typeface="微软雅黑" panose="020B0503020204020204" pitchFamily="34" charset="-122"/>
              </a:rPr>
              <a:t>，因为它可以更好地表示数据变化。</a:t>
            </a:r>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432EF3E-2B8A-4CB6-8248-E6C542CF9230}"/>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11267" name="Text Box 3">
            <a:extLst>
              <a:ext uri="{FF2B5EF4-FFF2-40B4-BE49-F238E27FC236}">
                <a16:creationId xmlns:a16="http://schemas.microsoft.com/office/drawing/2014/main" id="{BE5DF54F-B7DA-4972-89DD-B1BD8021497C}"/>
              </a:ext>
            </a:extLst>
          </p:cNvPr>
          <p:cNvSpPr txBox="1">
            <a:spLocks noChangeArrowheads="1"/>
          </p:cNvSpPr>
          <p:nvPr/>
        </p:nvSpPr>
        <p:spPr bwMode="auto">
          <a:xfrm>
            <a:off x="678893" y="256534"/>
            <a:ext cx="3635932" cy="584775"/>
          </a:xfrm>
          <a:prstGeom prst="rect">
            <a:avLst/>
          </a:prstGeom>
          <a:noFill/>
          <a:ln>
            <a:noFill/>
          </a:ln>
          <a:effec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buFont typeface="Arial" panose="020B0604020202020204" pitchFamily="34" charset="0"/>
              <a:defRPr sz="2800" b="1" i="1" baseline="-18000">
                <a:solidFill>
                  <a:schemeClr val="tx1"/>
                </a:solidFill>
                <a:latin typeface="Times New Roman" panose="02020603050405020304" pitchFamily="18" charset="0"/>
              </a:defRPr>
            </a:lvl9pPr>
          </a:lstStyle>
          <a:p>
            <a:pPr>
              <a:buFont typeface="Arial" panose="020B0604020202020204" pitchFamily="34" charset="0"/>
              <a:buNone/>
              <a:defRPr/>
            </a:pPr>
            <a:r>
              <a:rPr lang="zh-CN" altLang="en-US" sz="3200" i="0" baseline="0" dirty="0">
                <a:latin typeface="微软雅黑" panose="020B0503020204020204" pitchFamily="34" charset="-122"/>
                <a:ea typeface="微软雅黑" panose="020B0503020204020204" pitchFamily="34" charset="-122"/>
              </a:rPr>
              <a:t>3</a:t>
            </a:r>
            <a:r>
              <a:rPr lang="en-US" altLang="zh-CN" sz="3200" i="0" baseline="0" dirty="0">
                <a:latin typeface="微软雅黑" panose="020B0503020204020204" pitchFamily="34" charset="-122"/>
                <a:ea typeface="微软雅黑" panose="020B0503020204020204" pitchFamily="34" charset="-122"/>
              </a:rPr>
              <a:t>.1</a:t>
            </a:r>
            <a:r>
              <a:rPr lang="zh-CN" altLang="en-US" sz="3200" i="0" baseline="0" dirty="0">
                <a:latin typeface="微软雅黑" panose="020B0503020204020204" pitchFamily="34" charset="-122"/>
                <a:ea typeface="微软雅黑" panose="020B0503020204020204" pitchFamily="34" charset="-122"/>
              </a:rPr>
              <a:t>   周期模拟信号</a:t>
            </a:r>
          </a:p>
        </p:txBody>
      </p:sp>
      <p:sp>
        <p:nvSpPr>
          <p:cNvPr id="12293" name="Text Box 4">
            <a:extLst>
              <a:ext uri="{FF2B5EF4-FFF2-40B4-BE49-F238E27FC236}">
                <a16:creationId xmlns:a16="http://schemas.microsoft.com/office/drawing/2014/main" id="{B07CA0AA-8680-4A2A-8A17-31182B77850F}"/>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12294" name="Rectangle 5">
            <a:extLst>
              <a:ext uri="{FF2B5EF4-FFF2-40B4-BE49-F238E27FC236}">
                <a16:creationId xmlns:a16="http://schemas.microsoft.com/office/drawing/2014/main" id="{B08244F8-18A5-419F-A6B3-6F7D7C95AD8C}"/>
              </a:ext>
            </a:extLst>
          </p:cNvPr>
          <p:cNvSpPr>
            <a:spLocks noChangeArrowheads="1"/>
          </p:cNvSpPr>
          <p:nvPr/>
        </p:nvSpPr>
        <p:spPr bwMode="auto">
          <a:xfrm>
            <a:off x="1371724" y="1854652"/>
            <a:ext cx="9524750" cy="2692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300000"/>
              </a:lnSpc>
              <a:buFont typeface="Arial" panose="020B0604020202020204" pitchFamily="34" charset="0"/>
              <a:buNone/>
            </a:pPr>
            <a:r>
              <a:rPr lang="zh-CN" altLang="en-US" sz="2000" b="0" i="0" baseline="0" dirty="0">
                <a:latin typeface="微软雅黑" panose="020B0503020204020204" pitchFamily="34" charset="-122"/>
                <a:ea typeface="微软雅黑" panose="020B0503020204020204" pitchFamily="34" charset="-122"/>
              </a:rPr>
              <a:t>周期模拟信号可以分为简单类型和复合类型两种。简单类型模拟信号，即正弦波（</a:t>
            </a:r>
            <a:r>
              <a:rPr lang="en-US" altLang="zh-CN" sz="2000" b="0" i="0" baseline="0" dirty="0">
                <a:latin typeface="微软雅黑" panose="020B0503020204020204" pitchFamily="34" charset="-122"/>
                <a:ea typeface="微软雅黑" panose="020B0503020204020204" pitchFamily="34" charset="-122"/>
              </a:rPr>
              <a:t>sine wave</a:t>
            </a:r>
            <a:r>
              <a:rPr lang="zh-CN" altLang="en-US" sz="2000" b="0" i="0" baseline="0" dirty="0">
                <a:latin typeface="微软雅黑" panose="020B0503020204020204" pitchFamily="34" charset="-122"/>
                <a:ea typeface="微软雅黑" panose="020B0503020204020204" pitchFamily="34" charset="-122"/>
              </a:rPr>
              <a:t>），不能再分解为更简单的信号。单一频率的正弦波在数据通信中没有用处，需要发送复合信号，复合信号由多个简单正弦波组成。</a:t>
            </a:r>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文本框 1">
            <a:extLst>
              <a:ext uri="{FF2B5EF4-FFF2-40B4-BE49-F238E27FC236}">
                <a16:creationId xmlns:a16="http://schemas.microsoft.com/office/drawing/2014/main" id="{A8862D4C-2380-4A42-91DA-E0642710FF31}"/>
              </a:ext>
            </a:extLst>
          </p:cNvPr>
          <p:cNvSpPr txBox="1"/>
          <p:nvPr/>
        </p:nvSpPr>
        <p:spPr>
          <a:xfrm>
            <a:off x="1371724" y="1143060"/>
            <a:ext cx="9448552" cy="18461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defPPr>
              <a:defRPr lang="en-US"/>
            </a:defPPr>
            <a:lvl1pPr algn="just" eaLnBrk="1" hangingPunct="1">
              <a:lnSpc>
                <a:spcPct val="250000"/>
              </a:lnSpc>
              <a:buFont typeface="Arial" panose="020B0604020202020204" pitchFamily="34" charset="0"/>
              <a:buNone/>
              <a:defRPr sz="1800" b="0" i="0" baseline="0">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pPr>
              <a:lnSpc>
                <a:spcPct val="200000"/>
              </a:lnSpc>
            </a:pPr>
            <a:r>
              <a:rPr lang="zh-CN" altLang="en-US" sz="2000" dirty="0"/>
              <a:t>傅里叶变换和傅里叶级数是有史以来最伟大的数学发现之一，它们可将函数分解成其基本成分。傅里叶级数用于将周期性函数分解为正弦和余弦之和，而傅里叶变换则用于非周期性函数。经过变换后，任何函数都可以写成正弦函数之和。</a:t>
            </a:r>
          </a:p>
        </p:txBody>
      </p:sp>
      <mc:AlternateContent xmlns:mc="http://schemas.openxmlformats.org/markup-compatibility/2006" xmlns:a14="http://schemas.microsoft.com/office/drawing/2010/main">
        <mc:Choice Requires="a14">
          <p:sp>
            <p:nvSpPr>
              <p:cNvPr id="6" name="文本框 5">
                <a:extLst>
                  <a:ext uri="{FF2B5EF4-FFF2-40B4-BE49-F238E27FC236}">
                    <a16:creationId xmlns:a16="http://schemas.microsoft.com/office/drawing/2014/main" id="{4DD4EF6D-B8B3-480C-A359-6FD6B0E28F08}"/>
                  </a:ext>
                </a:extLst>
              </p:cNvPr>
              <p:cNvSpPr txBox="1"/>
              <p:nvPr/>
            </p:nvSpPr>
            <p:spPr>
              <a:xfrm>
                <a:off x="3477308" y="3749269"/>
                <a:ext cx="5178565" cy="755143"/>
              </a:xfrm>
              <a:prstGeom prst="rect">
                <a:avLst/>
              </a:prstGeom>
              <a:noFill/>
            </p:spPr>
            <p:txBody>
              <a:bodyPr wrap="square" lIns="0" tIns="0" rIns="0" bIns="0" rtlCol="0">
                <a:spAutoFit/>
              </a:bodyPr>
              <a:lstStyle/>
              <a:p>
                <a:pPr algn="just"/>
                <a14:m>
                  <m:oMathPara xmlns:m="http://schemas.openxmlformats.org/officeDocument/2006/math">
                    <m:oMathParaPr>
                      <m:jc m:val="centerGroup"/>
                    </m:oMathParaPr>
                    <m:oMath xmlns:m="http://schemas.openxmlformats.org/officeDocument/2006/math">
                      <m:r>
                        <a:rPr lang="pt-BR" altLang="zh-CN" sz="1800" baseline="0">
                          <a:latin typeface="Cambria Math" panose="02040503050406030204" pitchFamily="18" charset="0"/>
                        </a:rPr>
                        <m:t>𝒇</m:t>
                      </m:r>
                      <m:d>
                        <m:dPr>
                          <m:ctrlPr>
                            <a:rPr lang="pt-BR" altLang="zh-CN" sz="1800" i="1" baseline="0">
                              <a:latin typeface="Cambria Math" panose="02040503050406030204" pitchFamily="18" charset="0"/>
                            </a:rPr>
                          </m:ctrlPr>
                        </m:dPr>
                        <m:e>
                          <m:r>
                            <a:rPr lang="pt-BR" altLang="zh-CN" sz="1800" baseline="0">
                              <a:latin typeface="Cambria Math" panose="02040503050406030204" pitchFamily="18" charset="0"/>
                            </a:rPr>
                            <m:t>𝒙</m:t>
                          </m:r>
                        </m:e>
                      </m:d>
                      <m:r>
                        <a:rPr lang="pt-BR" altLang="zh-CN" sz="1800" baseline="0">
                          <a:latin typeface="Cambria Math" panose="02040503050406030204" pitchFamily="18" charset="0"/>
                        </a:rPr>
                        <m:t>=</m:t>
                      </m:r>
                      <m:f>
                        <m:fPr>
                          <m:ctrlPr>
                            <a:rPr lang="pt-BR" altLang="zh-CN" sz="1800" i="1" baseline="0">
                              <a:latin typeface="Cambria Math" panose="02040503050406030204" pitchFamily="18" charset="0"/>
                            </a:rPr>
                          </m:ctrlPr>
                        </m:fPr>
                        <m:num>
                          <m:sSub>
                            <m:sSubPr>
                              <m:ctrlPr>
                                <a:rPr lang="pt-BR" altLang="zh-CN" sz="1800" i="1" baseline="0">
                                  <a:latin typeface="Cambria Math" panose="02040503050406030204" pitchFamily="18" charset="0"/>
                                </a:rPr>
                              </m:ctrlPr>
                            </m:sSubPr>
                            <m:e>
                              <m:r>
                                <a:rPr lang="pt-BR" altLang="zh-CN" sz="1800" baseline="0">
                                  <a:latin typeface="Cambria Math" panose="02040503050406030204" pitchFamily="18" charset="0"/>
                                </a:rPr>
                                <m:t>𝒂</m:t>
                              </m:r>
                            </m:e>
                            <m:sub>
                              <m:r>
                                <a:rPr lang="pt-BR" altLang="zh-CN" sz="1800" baseline="0">
                                  <a:latin typeface="Cambria Math" panose="02040503050406030204" pitchFamily="18" charset="0"/>
                                </a:rPr>
                                <m:t>𝟎</m:t>
                              </m:r>
                            </m:sub>
                          </m:sSub>
                        </m:num>
                        <m:den>
                          <m:r>
                            <a:rPr lang="en-US" altLang="zh-CN" sz="1800" baseline="0">
                              <a:latin typeface="Cambria Math" panose="02040503050406030204" pitchFamily="18" charset="0"/>
                            </a:rPr>
                            <m:t>𝟐</m:t>
                          </m:r>
                        </m:den>
                      </m:f>
                      <m:r>
                        <a:rPr lang="pt-BR" altLang="zh-CN" sz="1800" baseline="0">
                          <a:latin typeface="Cambria Math" panose="02040503050406030204" pitchFamily="18" charset="0"/>
                        </a:rPr>
                        <m:t>+</m:t>
                      </m:r>
                      <m:nary>
                        <m:naryPr>
                          <m:chr m:val="∑"/>
                          <m:ctrlPr>
                            <a:rPr lang="pt-BR" altLang="zh-CN" sz="1800" i="1" baseline="0">
                              <a:latin typeface="Cambria Math" panose="02040503050406030204" pitchFamily="18" charset="0"/>
                            </a:rPr>
                          </m:ctrlPr>
                        </m:naryPr>
                        <m:sub>
                          <m:r>
                            <a:rPr lang="pt-BR" altLang="zh-CN" sz="1800" baseline="0">
                              <a:latin typeface="Cambria Math" panose="02040503050406030204" pitchFamily="18" charset="0"/>
                            </a:rPr>
                            <m:t>𝒏</m:t>
                          </m:r>
                          <m:r>
                            <a:rPr lang="pt-BR" altLang="zh-CN" sz="1800" baseline="0">
                              <a:latin typeface="Cambria Math" panose="02040503050406030204" pitchFamily="18" charset="0"/>
                            </a:rPr>
                            <m:t>=</m:t>
                          </m:r>
                          <m:r>
                            <a:rPr lang="pt-BR" altLang="zh-CN" sz="1800" baseline="0">
                              <a:latin typeface="Cambria Math" panose="02040503050406030204" pitchFamily="18" charset="0"/>
                            </a:rPr>
                            <m:t>𝟏</m:t>
                          </m:r>
                        </m:sub>
                        <m:sup>
                          <m:r>
                            <a:rPr lang="pt-BR" altLang="zh-CN" sz="1800" baseline="0">
                              <a:latin typeface="Cambria Math" panose="02040503050406030204" pitchFamily="18" charset="0"/>
                            </a:rPr>
                            <m:t>∞</m:t>
                          </m:r>
                        </m:sup>
                        <m:e>
                          <m:d>
                            <m:dPr>
                              <m:ctrlPr>
                                <a:rPr lang="pt-BR" altLang="zh-CN" sz="1800" i="1" baseline="0">
                                  <a:latin typeface="Cambria Math" panose="02040503050406030204" pitchFamily="18" charset="0"/>
                                </a:rPr>
                              </m:ctrlPr>
                            </m:dPr>
                            <m:e>
                              <m:sSub>
                                <m:sSubPr>
                                  <m:ctrlPr>
                                    <a:rPr lang="pt-BR" altLang="zh-CN" sz="1800" i="1" baseline="0">
                                      <a:latin typeface="Cambria Math" panose="02040503050406030204" pitchFamily="18" charset="0"/>
                                    </a:rPr>
                                  </m:ctrlPr>
                                </m:sSubPr>
                                <m:e>
                                  <m:r>
                                    <a:rPr lang="pt-BR" altLang="zh-CN" sz="1800" baseline="0">
                                      <a:latin typeface="Cambria Math" panose="02040503050406030204" pitchFamily="18" charset="0"/>
                                    </a:rPr>
                                    <m:t>𝒂</m:t>
                                  </m:r>
                                </m:e>
                                <m:sub>
                                  <m:r>
                                    <a:rPr lang="pt-BR" altLang="zh-CN" sz="1800" baseline="0">
                                      <a:latin typeface="Cambria Math" panose="02040503050406030204" pitchFamily="18" charset="0"/>
                                    </a:rPr>
                                    <m:t>𝒏</m:t>
                                  </m:r>
                                </m:sub>
                              </m:sSub>
                              <m:func>
                                <m:funcPr>
                                  <m:ctrlPr>
                                    <a:rPr lang="pt-BR" altLang="zh-CN" sz="1800" i="1" baseline="0">
                                      <a:latin typeface="Cambria Math" panose="02040503050406030204" pitchFamily="18" charset="0"/>
                                    </a:rPr>
                                  </m:ctrlPr>
                                </m:funcPr>
                                <m:fName>
                                  <m:r>
                                    <a:rPr lang="pt-BR" altLang="zh-CN" sz="1800" i="0" baseline="0">
                                      <a:latin typeface="Cambria Math" panose="02040503050406030204" pitchFamily="18" charset="0"/>
                                    </a:rPr>
                                    <m:t>𝐜𝐨𝐬</m:t>
                                  </m:r>
                                </m:fName>
                                <m:e>
                                  <m:f>
                                    <m:fPr>
                                      <m:ctrlPr>
                                        <a:rPr lang="pt-BR" altLang="zh-CN" sz="1800" i="1" baseline="0">
                                          <a:latin typeface="Cambria Math" panose="02040503050406030204" pitchFamily="18" charset="0"/>
                                        </a:rPr>
                                      </m:ctrlPr>
                                    </m:fPr>
                                    <m:num>
                                      <m:r>
                                        <a:rPr lang="en-US" altLang="zh-CN" sz="1800" baseline="0">
                                          <a:latin typeface="Cambria Math" panose="02040503050406030204" pitchFamily="18" charset="0"/>
                                        </a:rPr>
                                        <m:t>𝟐</m:t>
                                      </m:r>
                                      <m:r>
                                        <a:rPr lang="pt-BR" altLang="zh-CN" sz="1800" baseline="0">
                                          <a:latin typeface="Cambria Math" panose="02040503050406030204" pitchFamily="18" charset="0"/>
                                        </a:rPr>
                                        <m:t>𝝅</m:t>
                                      </m:r>
                                      <m:r>
                                        <a:rPr lang="pt-BR" altLang="zh-CN" sz="1800" baseline="0">
                                          <a:latin typeface="Cambria Math" panose="02040503050406030204" pitchFamily="18" charset="0"/>
                                        </a:rPr>
                                        <m:t>𝒏𝒕</m:t>
                                      </m:r>
                                    </m:num>
                                    <m:den>
                                      <m:r>
                                        <a:rPr lang="en-US" altLang="zh-CN" sz="1800" baseline="0">
                                          <a:latin typeface="Cambria Math" panose="02040503050406030204" pitchFamily="18" charset="0"/>
                                        </a:rPr>
                                        <m:t>𝑻</m:t>
                                      </m:r>
                                    </m:den>
                                  </m:f>
                                </m:e>
                              </m:func>
                              <m:r>
                                <a:rPr lang="pt-BR" altLang="zh-CN" sz="1800" baseline="0">
                                  <a:latin typeface="Cambria Math" panose="02040503050406030204" pitchFamily="18" charset="0"/>
                                </a:rPr>
                                <m:t>+</m:t>
                              </m:r>
                              <m:sSub>
                                <m:sSubPr>
                                  <m:ctrlPr>
                                    <a:rPr lang="pt-BR" altLang="zh-CN" sz="1800" i="1" baseline="0">
                                      <a:latin typeface="Cambria Math" panose="02040503050406030204" pitchFamily="18" charset="0"/>
                                    </a:rPr>
                                  </m:ctrlPr>
                                </m:sSubPr>
                                <m:e>
                                  <m:r>
                                    <a:rPr lang="pt-BR" altLang="zh-CN" sz="1800" baseline="0">
                                      <a:latin typeface="Cambria Math" panose="02040503050406030204" pitchFamily="18" charset="0"/>
                                    </a:rPr>
                                    <m:t>𝒃</m:t>
                                  </m:r>
                                </m:e>
                                <m:sub>
                                  <m:r>
                                    <a:rPr lang="pt-BR" altLang="zh-CN" sz="1800" baseline="0">
                                      <a:latin typeface="Cambria Math" panose="02040503050406030204" pitchFamily="18" charset="0"/>
                                    </a:rPr>
                                    <m:t>𝒏</m:t>
                                  </m:r>
                                </m:sub>
                              </m:sSub>
                              <m:func>
                                <m:funcPr>
                                  <m:ctrlPr>
                                    <a:rPr lang="pt-BR" altLang="zh-CN" sz="1800" i="1" baseline="0">
                                      <a:latin typeface="Cambria Math" panose="02040503050406030204" pitchFamily="18" charset="0"/>
                                    </a:rPr>
                                  </m:ctrlPr>
                                </m:funcPr>
                                <m:fName>
                                  <m:r>
                                    <a:rPr lang="pt-BR" altLang="zh-CN" sz="1800" i="0" baseline="0">
                                      <a:latin typeface="Cambria Math" panose="02040503050406030204" pitchFamily="18" charset="0"/>
                                    </a:rPr>
                                    <m:t>𝐬𝐢𝐧</m:t>
                                  </m:r>
                                </m:fName>
                                <m:e>
                                  <m:f>
                                    <m:fPr>
                                      <m:ctrlPr>
                                        <a:rPr lang="pt-BR" altLang="zh-CN" sz="1800" i="1" baseline="0">
                                          <a:latin typeface="Cambria Math" panose="02040503050406030204" pitchFamily="18" charset="0"/>
                                        </a:rPr>
                                      </m:ctrlPr>
                                    </m:fPr>
                                    <m:num>
                                      <m:r>
                                        <a:rPr lang="en-US" altLang="zh-CN" sz="1800" baseline="0">
                                          <a:latin typeface="Cambria Math" panose="02040503050406030204" pitchFamily="18" charset="0"/>
                                        </a:rPr>
                                        <m:t>𝟐</m:t>
                                      </m:r>
                                      <m:r>
                                        <a:rPr lang="pt-BR" altLang="zh-CN" sz="1800" baseline="0">
                                          <a:latin typeface="Cambria Math" panose="02040503050406030204" pitchFamily="18" charset="0"/>
                                        </a:rPr>
                                        <m:t>𝝅</m:t>
                                      </m:r>
                                      <m:r>
                                        <a:rPr lang="pt-BR" altLang="zh-CN" sz="1800" baseline="0">
                                          <a:latin typeface="Cambria Math" panose="02040503050406030204" pitchFamily="18" charset="0"/>
                                        </a:rPr>
                                        <m:t>𝒏𝒕</m:t>
                                      </m:r>
                                    </m:num>
                                    <m:den>
                                      <m:r>
                                        <a:rPr lang="en-US" altLang="zh-CN" sz="1800" baseline="0">
                                          <a:latin typeface="Cambria Math" panose="02040503050406030204" pitchFamily="18" charset="0"/>
                                        </a:rPr>
                                        <m:t>𝑻</m:t>
                                      </m:r>
                                    </m:den>
                                  </m:f>
                                </m:e>
                              </m:func>
                            </m:e>
                          </m:d>
                        </m:e>
                      </m:nary>
                    </m:oMath>
                  </m:oMathPara>
                </a14:m>
                <a:endParaRPr lang="en-US" altLang="zh-CN" sz="1800" baseline="0" dirty="0">
                  <a:cs typeface="Times New Roman" panose="02020603050405020304" pitchFamily="18" charset="0"/>
                </a:endParaRPr>
              </a:p>
            </p:txBody>
          </p:sp>
        </mc:Choice>
        <mc:Fallback xmlns="">
          <p:sp>
            <p:nvSpPr>
              <p:cNvPr id="6" name="文本框 5">
                <a:extLst>
                  <a:ext uri="{FF2B5EF4-FFF2-40B4-BE49-F238E27FC236}">
                    <a16:creationId xmlns:a16="http://schemas.microsoft.com/office/drawing/2014/main" id="{4DD4EF6D-B8B3-480C-A359-6FD6B0E28F08}"/>
                  </a:ext>
                </a:extLst>
              </p:cNvPr>
              <p:cNvSpPr txBox="1">
                <a:spLocks noRot="1" noChangeAspect="1" noMove="1" noResize="1" noEditPoints="1" noAdjustHandles="1" noChangeArrowheads="1" noChangeShapeType="1" noTextEdit="1"/>
              </p:cNvSpPr>
              <p:nvPr/>
            </p:nvSpPr>
            <p:spPr>
              <a:xfrm>
                <a:off x="3477308" y="3749269"/>
                <a:ext cx="5178565" cy="755143"/>
              </a:xfrm>
              <a:prstGeom prst="rect">
                <a:avLst/>
              </a:prstGeom>
              <a:blipFill>
                <a:blip r:embed="rId3"/>
                <a:stretch>
                  <a:fillRect/>
                </a:stretch>
              </a:blipFill>
            </p:spPr>
            <p:txBody>
              <a:bodyPr/>
              <a:lstStyle/>
              <a:p>
                <a:r>
                  <a:rPr lang="zh-CN" altLang="en-US">
                    <a:noFill/>
                  </a:rPr>
                  <a:t> </a:t>
                </a:r>
              </a:p>
            </p:txBody>
          </p:sp>
        </mc:Fallback>
      </mc:AlternateContent>
      <mc:AlternateContent xmlns:mc="http://schemas.openxmlformats.org/markup-compatibility/2006" xmlns:a14="http://schemas.microsoft.com/office/drawing/2010/main">
        <mc:Choice Requires="a14">
          <p:sp>
            <p:nvSpPr>
              <p:cNvPr id="8" name="文本框 7">
                <a:extLst>
                  <a:ext uri="{FF2B5EF4-FFF2-40B4-BE49-F238E27FC236}">
                    <a16:creationId xmlns:a16="http://schemas.microsoft.com/office/drawing/2014/main" id="{45DAEA3E-0447-4CF7-9352-D31319F1AD94}"/>
                  </a:ext>
                </a:extLst>
              </p:cNvPr>
              <p:cNvSpPr txBox="1"/>
              <p:nvPr/>
            </p:nvSpPr>
            <p:spPr>
              <a:xfrm>
                <a:off x="4191050" y="5018334"/>
                <a:ext cx="4493064" cy="468013"/>
              </a:xfrm>
              <a:prstGeom prst="rect">
                <a:avLst/>
              </a:prstGeom>
              <a:noFill/>
            </p:spPr>
            <p:txBody>
              <a:bodyPr wrap="square" lIns="0" tIns="0" rIns="0" bIns="0" rtlCol="0">
                <a:spAutoFit/>
              </a:bodyPr>
              <a:lstStyle>
                <a:defPPr>
                  <a:defRPr lang="en-US"/>
                </a:defPPr>
                <a:lvl1pPr algn="just">
                  <a:defRPr sz="1800" baseline="0">
                    <a:latin typeface="Cambria Math" panose="02040503050406030204" pitchFamily="18" charset="0"/>
                  </a:defRPr>
                </a:lvl1pPr>
              </a:lstStyle>
              <a:p>
                <a14:m>
                  <m:oMath xmlns:m="http://schemas.openxmlformats.org/officeDocument/2006/math">
                    <m:r>
                      <a:rPr lang="en-US" altLang="zh-CN" sz="2400">
                        <a:latin typeface="Cambria Math" panose="02040503050406030204" pitchFamily="18" charset="0"/>
                      </a:rPr>
                      <m:t>𝐹</m:t>
                    </m:r>
                    <m:r>
                      <a:rPr lang="en-US" altLang="zh-CN" sz="2400">
                        <a:latin typeface="Cambria Math" panose="02040503050406030204" pitchFamily="18" charset="0"/>
                      </a:rPr>
                      <m:t>(</m:t>
                    </m:r>
                    <m:r>
                      <a:rPr lang="en-US" altLang="zh-CN" sz="2400">
                        <a:latin typeface="Cambria Math" panose="02040503050406030204" pitchFamily="18" charset="0"/>
                      </a:rPr>
                      <m:t>𝒋</m:t>
                    </m:r>
                    <m:r>
                      <a:rPr lang="zh-CN" altLang="en-US" sz="2400">
                        <a:latin typeface="Cambria Math" panose="02040503050406030204" pitchFamily="18" charset="0"/>
                      </a:rPr>
                      <m:t>𝝎</m:t>
                    </m:r>
                    <m:r>
                      <a:rPr lang="en-US" altLang="zh-CN" sz="2400">
                        <a:latin typeface="Cambria Math" panose="02040503050406030204" pitchFamily="18" charset="0"/>
                      </a:rPr>
                      <m:t>)=</m:t>
                    </m:r>
                    <m:nary>
                      <m:naryPr>
                        <m:limLoc m:val="undOvr"/>
                        <m:ctrlPr>
                          <a:rPr lang="en-US" altLang="zh-CN" sz="2400" i="1">
                            <a:latin typeface="Cambria Math" panose="02040503050406030204" pitchFamily="18" charset="0"/>
                          </a:rPr>
                        </m:ctrlPr>
                      </m:naryPr>
                      <m:sub>
                        <m:r>
                          <m:rPr>
                            <m:brk m:alnAt="24"/>
                          </m:rPr>
                          <a:rPr lang="en-US" altLang="zh-CN" sz="2400">
                            <a:latin typeface="Cambria Math" panose="02040503050406030204" pitchFamily="18" charset="0"/>
                          </a:rPr>
                          <m:t>−</m:t>
                        </m:r>
                        <m:r>
                          <a:rPr lang="zh-CN" altLang="en-US" sz="2400">
                            <a:latin typeface="Cambria Math" panose="02040503050406030204" pitchFamily="18" charset="0"/>
                          </a:rPr>
                          <m:t>∞</m:t>
                        </m:r>
                      </m:sub>
                      <m:sup>
                        <m:r>
                          <a:rPr lang="zh-CN" altLang="en-US" sz="2400">
                            <a:latin typeface="Cambria Math" panose="02040503050406030204" pitchFamily="18" charset="0"/>
                          </a:rPr>
                          <m:t>∞</m:t>
                        </m:r>
                      </m:sup>
                      <m:e>
                        <m:r>
                          <a:rPr lang="en-US" altLang="zh-CN" sz="2400">
                            <a:latin typeface="Cambria Math" panose="02040503050406030204" pitchFamily="18" charset="0"/>
                          </a:rPr>
                          <m:t>𝒇</m:t>
                        </m:r>
                        <m:d>
                          <m:dPr>
                            <m:ctrlPr>
                              <a:rPr lang="en-US" altLang="zh-CN" sz="2400" i="1">
                                <a:latin typeface="Cambria Math" panose="02040503050406030204" pitchFamily="18" charset="0"/>
                              </a:rPr>
                            </m:ctrlPr>
                          </m:dPr>
                          <m:e>
                            <m:r>
                              <a:rPr lang="en-US" altLang="zh-CN" sz="2400">
                                <a:latin typeface="Cambria Math" panose="02040503050406030204" pitchFamily="18" charset="0"/>
                              </a:rPr>
                              <m:t>𝒕</m:t>
                            </m:r>
                          </m:e>
                        </m:d>
                      </m:e>
                    </m:nary>
                    <m:sSup>
                      <m:sSupPr>
                        <m:ctrlPr>
                          <a:rPr lang="en-US" altLang="zh-CN" sz="2400" i="1">
                            <a:latin typeface="Cambria Math" panose="02040503050406030204" pitchFamily="18" charset="0"/>
                          </a:rPr>
                        </m:ctrlPr>
                      </m:sSupPr>
                      <m:e>
                        <m:r>
                          <a:rPr lang="en-US" altLang="zh-CN" sz="2400">
                            <a:latin typeface="Cambria Math" panose="02040503050406030204" pitchFamily="18" charset="0"/>
                          </a:rPr>
                          <m:t>𝒆</m:t>
                        </m:r>
                      </m:e>
                      <m:sup>
                        <m:r>
                          <a:rPr lang="en-US" altLang="zh-CN" sz="2400">
                            <a:latin typeface="Cambria Math" panose="02040503050406030204" pitchFamily="18" charset="0"/>
                          </a:rPr>
                          <m:t>−</m:t>
                        </m:r>
                        <m:r>
                          <a:rPr lang="en-US" altLang="zh-CN" sz="2400">
                            <a:latin typeface="Cambria Math" panose="02040503050406030204" pitchFamily="18" charset="0"/>
                          </a:rPr>
                          <m:t>𝒋</m:t>
                        </m:r>
                        <m:r>
                          <a:rPr lang="zh-CN" altLang="en-US" sz="2400">
                            <a:latin typeface="Cambria Math" panose="02040503050406030204" pitchFamily="18" charset="0"/>
                          </a:rPr>
                          <m:t>𝝎</m:t>
                        </m:r>
                        <m:r>
                          <a:rPr lang="en-US" altLang="zh-CN" sz="2400">
                            <a:latin typeface="Cambria Math" panose="02040503050406030204" pitchFamily="18" charset="0"/>
                          </a:rPr>
                          <m:t>𝒕</m:t>
                        </m:r>
                      </m:sup>
                    </m:sSup>
                  </m:oMath>
                </a14:m>
                <a:r>
                  <a:rPr lang="en-US" altLang="zh-CN" sz="2400" dirty="0"/>
                  <a:t>dt</a:t>
                </a:r>
                <a:endParaRPr lang="zh-CN" altLang="en-US" sz="2400" dirty="0"/>
              </a:p>
            </p:txBody>
          </p:sp>
        </mc:Choice>
        <mc:Fallback xmlns="">
          <p:sp>
            <p:nvSpPr>
              <p:cNvPr id="8" name="文本框 7">
                <a:extLst>
                  <a:ext uri="{FF2B5EF4-FFF2-40B4-BE49-F238E27FC236}">
                    <a16:creationId xmlns:a16="http://schemas.microsoft.com/office/drawing/2014/main" id="{45DAEA3E-0447-4CF7-9352-D31319F1AD94}"/>
                  </a:ext>
                </a:extLst>
              </p:cNvPr>
              <p:cNvSpPr txBox="1">
                <a:spLocks noRot="1" noChangeAspect="1" noMove="1" noResize="1" noEditPoints="1" noAdjustHandles="1" noChangeArrowheads="1" noChangeShapeType="1" noTextEdit="1"/>
              </p:cNvSpPr>
              <p:nvPr/>
            </p:nvSpPr>
            <p:spPr>
              <a:xfrm>
                <a:off x="4191050" y="5018334"/>
                <a:ext cx="4493064" cy="468013"/>
              </a:xfrm>
              <a:prstGeom prst="rect">
                <a:avLst/>
              </a:prstGeom>
              <a:blipFill>
                <a:blip r:embed="rId4"/>
                <a:stretch>
                  <a:fillRect t="-11688" b="-25974"/>
                </a:stretch>
              </a:blipFill>
            </p:spPr>
            <p:txBody>
              <a:bodyPr/>
              <a:lstStyle/>
              <a:p>
                <a:r>
                  <a:rPr lang="zh-CN" altLang="en-US">
                    <a:noFill/>
                  </a:rPr>
                  <a:t> </a:t>
                </a:r>
              </a:p>
            </p:txBody>
          </p:sp>
        </mc:Fallback>
      </mc:AlternateContent>
    </p:spTree>
    <p:extLst>
      <p:ext uri="{BB962C8B-B14F-4D97-AF65-F5344CB8AC3E}">
        <p14:creationId xmlns:p14="http://schemas.microsoft.com/office/powerpoint/2010/main" val="1547771646"/>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348" name="Rectangle 11">
            <a:extLst>
              <a:ext uri="{FF2B5EF4-FFF2-40B4-BE49-F238E27FC236}">
                <a16:creationId xmlns:a16="http://schemas.microsoft.com/office/drawing/2014/main" id="{FF429DFB-6818-4D29-B5B6-5FEE36C6831D}"/>
              </a:ext>
            </a:extLst>
          </p:cNvPr>
          <p:cNvSpPr>
            <a:spLocks noChangeArrowheads="1"/>
          </p:cNvSpPr>
          <p:nvPr/>
        </p:nvSpPr>
        <p:spPr bwMode="auto">
          <a:xfrm>
            <a:off x="1295526" y="990665"/>
            <a:ext cx="9829542" cy="1670778"/>
          </a:xfrm>
          <a:prstGeom prst="rect">
            <a:avLst/>
          </a:prstGeom>
          <a:noFill/>
          <a:ln>
            <a:noFill/>
          </a:ln>
          <a:extLst/>
        </p:spPr>
        <p:txBody>
          <a:bodyPr wrap="square">
            <a:spAutoFit/>
          </a:bodyPr>
          <a:lstStyle>
            <a:lvl1pPr marL="457200" indent="-457200">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buClr>
                <a:srgbClr val="FF0000"/>
              </a:buClr>
              <a:buSzPct val="80000"/>
              <a:buFont typeface="Wingdings" panose="05000000000000000000" pitchFamily="2" charset="2"/>
              <a:buChar char="u"/>
            </a:pPr>
            <a:r>
              <a:rPr lang="zh-CN" altLang="en-US" sz="1800" b="0" i="0" baseline="0" dirty="0">
                <a:latin typeface="微软雅黑" panose="020B0503020204020204" pitchFamily="34" charset="-122"/>
                <a:ea typeface="微软雅黑" panose="020B0503020204020204" pitchFamily="34" charset="-122"/>
              </a:rPr>
              <a:t>按照傅里叶分析，任何复合信号是由具有不同频率、相位和振幅的简单正弦波组合而成。</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buClr>
                <a:srgbClr val="FF0000"/>
              </a:buClr>
              <a:buSzPct val="80000"/>
              <a:buFont typeface="Wingdings" panose="05000000000000000000" pitchFamily="2" charset="2"/>
              <a:buChar char="u"/>
            </a:pPr>
            <a:r>
              <a:rPr lang="zh-CN" altLang="en-US" sz="1800" b="0" i="0" baseline="0" dirty="0">
                <a:latin typeface="微软雅黑" panose="020B0503020204020204" pitchFamily="34" charset="-122"/>
                <a:ea typeface="微软雅黑" panose="020B0503020204020204" pitchFamily="34" charset="-122"/>
              </a:rPr>
              <a:t>如果复合信号是</a:t>
            </a:r>
            <a:r>
              <a:rPr lang="zh-CN" altLang="en-US" sz="1800" b="0" i="0" baseline="0" dirty="0">
                <a:solidFill>
                  <a:srgbClr val="FF0000"/>
                </a:solidFill>
                <a:latin typeface="微软雅黑" panose="020B0503020204020204" pitchFamily="34" charset="-122"/>
                <a:ea typeface="微软雅黑" panose="020B0503020204020204" pitchFamily="34" charset="-122"/>
              </a:rPr>
              <a:t>周期性</a:t>
            </a:r>
            <a:r>
              <a:rPr lang="zh-CN" altLang="en-US" sz="1800" b="0" i="0" baseline="0" dirty="0">
                <a:latin typeface="微软雅黑" panose="020B0503020204020204" pitchFamily="34" charset="-122"/>
                <a:ea typeface="微软雅黑" panose="020B0503020204020204" pitchFamily="34" charset="-122"/>
              </a:rPr>
              <a:t>的，分解得到的是一系列具有</a:t>
            </a:r>
            <a:r>
              <a:rPr lang="zh-CN" altLang="en-US" sz="1800" b="0" i="0" baseline="0" dirty="0">
                <a:solidFill>
                  <a:srgbClr val="FF0000"/>
                </a:solidFill>
                <a:latin typeface="微软雅黑" panose="020B0503020204020204" pitchFamily="34" charset="-122"/>
                <a:ea typeface="微软雅黑" panose="020B0503020204020204" pitchFamily="34" charset="-122"/>
              </a:rPr>
              <a:t>离散</a:t>
            </a:r>
            <a:r>
              <a:rPr lang="zh-CN" altLang="en-US" sz="1800" b="0" i="0" baseline="0" dirty="0">
                <a:latin typeface="微软雅黑" panose="020B0503020204020204" pitchFamily="34" charset="-122"/>
                <a:ea typeface="微软雅黑" panose="020B0503020204020204" pitchFamily="34" charset="-122"/>
              </a:rPr>
              <a:t>频率的信号。</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buClr>
                <a:srgbClr val="FF0000"/>
              </a:buClr>
              <a:buSzPct val="80000"/>
              <a:buFont typeface="Wingdings" panose="05000000000000000000" pitchFamily="2" charset="2"/>
              <a:buChar char="u"/>
            </a:pPr>
            <a:r>
              <a:rPr lang="zh-CN" altLang="en-US" sz="1800" b="0" i="0" baseline="0" dirty="0">
                <a:latin typeface="微软雅黑" panose="020B0503020204020204" pitchFamily="34" charset="-122"/>
                <a:ea typeface="微软雅黑" panose="020B0503020204020204" pitchFamily="34" charset="-122"/>
              </a:rPr>
              <a:t>如果复合信号是</a:t>
            </a:r>
            <a:r>
              <a:rPr lang="zh-CN" altLang="en-US" sz="1800" b="0" i="0" baseline="0" dirty="0">
                <a:solidFill>
                  <a:srgbClr val="FF0000"/>
                </a:solidFill>
                <a:latin typeface="微软雅黑" panose="020B0503020204020204" pitchFamily="34" charset="-122"/>
                <a:ea typeface="微软雅黑" panose="020B0503020204020204" pitchFamily="34" charset="-122"/>
              </a:rPr>
              <a:t>非周期性</a:t>
            </a:r>
            <a:r>
              <a:rPr lang="zh-CN" altLang="en-US" sz="1800" b="0" i="0" baseline="0" dirty="0">
                <a:latin typeface="微软雅黑" panose="020B0503020204020204" pitchFamily="34" charset="-122"/>
                <a:ea typeface="微软雅黑" panose="020B0503020204020204" pitchFamily="34" charset="-122"/>
              </a:rPr>
              <a:t>的，分解得到的是具有</a:t>
            </a:r>
            <a:r>
              <a:rPr lang="zh-CN" altLang="en-US" sz="1800" b="0" i="0" baseline="0" dirty="0">
                <a:solidFill>
                  <a:srgbClr val="FF0000"/>
                </a:solidFill>
                <a:latin typeface="微软雅黑" panose="020B0503020204020204" pitchFamily="34" charset="-122"/>
                <a:ea typeface="微软雅黑" panose="020B0503020204020204" pitchFamily="34" charset="-122"/>
              </a:rPr>
              <a:t>连续</a:t>
            </a:r>
            <a:r>
              <a:rPr lang="zh-CN" altLang="en-US" sz="1800" b="0" i="0" baseline="0" dirty="0">
                <a:latin typeface="微软雅黑" panose="020B0503020204020204" pitchFamily="34" charset="-122"/>
                <a:ea typeface="微软雅黑" panose="020B0503020204020204" pitchFamily="34" charset="-122"/>
              </a:rPr>
              <a:t>频率的正弦波组合。</a:t>
            </a:r>
          </a:p>
        </p:txBody>
      </p:sp>
      <p:sp>
        <p:nvSpPr>
          <p:cNvPr id="2" name="矩形 1">
            <a:extLst>
              <a:ext uri="{FF2B5EF4-FFF2-40B4-BE49-F238E27FC236}">
                <a16:creationId xmlns:a16="http://schemas.microsoft.com/office/drawing/2014/main" id="{5F6263E5-D97F-4FF9-A3D9-AE3FFCE1FF7A}"/>
              </a:ext>
            </a:extLst>
          </p:cNvPr>
          <p:cNvSpPr/>
          <p:nvPr/>
        </p:nvSpPr>
        <p:spPr>
          <a:xfrm>
            <a:off x="3962456" y="76288"/>
            <a:ext cx="1627369" cy="523220"/>
          </a:xfrm>
          <a:prstGeom prst="rect">
            <a:avLst/>
          </a:prstGeom>
        </p:spPr>
        <p:txBody>
          <a:bodyPr wrap="none">
            <a:spAutoFit/>
          </a:bodyPr>
          <a:lstStyle/>
          <a:p>
            <a:pPr>
              <a:buFont typeface="Arial" panose="020B0604020202020204" pitchFamily="34" charset="0"/>
              <a:buNone/>
            </a:pPr>
            <a:r>
              <a:rPr lang="zh-CN" altLang="en-US" i="0" baseline="0" dirty="0">
                <a:solidFill>
                  <a:schemeClr val="bg1"/>
                </a:solidFill>
                <a:latin typeface="微软雅黑" panose="020B0503020204020204" pitchFamily="34" charset="-122"/>
                <a:ea typeface="微软雅黑" panose="020B0503020204020204" pitchFamily="34" charset="-122"/>
              </a:rPr>
              <a:t>复合信号</a:t>
            </a:r>
          </a:p>
        </p:txBody>
      </p:sp>
      <p:sp>
        <p:nvSpPr>
          <p:cNvPr id="6" name="Text Box 4">
            <a:extLst>
              <a:ext uri="{FF2B5EF4-FFF2-40B4-BE49-F238E27FC236}">
                <a16:creationId xmlns:a16="http://schemas.microsoft.com/office/drawing/2014/main" id="{5F2BCDDE-6D7E-41C6-8936-BE53B2CDE475}"/>
              </a:ext>
            </a:extLst>
          </p:cNvPr>
          <p:cNvSpPr txBox="1">
            <a:spLocks noChangeArrowheads="1"/>
          </p:cNvSpPr>
          <p:nvPr/>
        </p:nvSpPr>
        <p:spPr bwMode="auto">
          <a:xfrm>
            <a:off x="4953031" y="5892946"/>
            <a:ext cx="2042547"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 3.9  </a:t>
            </a:r>
            <a:r>
              <a:rPr lang="zh-CN" altLang="en-US" sz="1600" i="0" baseline="0" dirty="0">
                <a:ea typeface="宋体" panose="02010600030101010101" pitchFamily="2" charset="-122"/>
              </a:rPr>
              <a:t>复合周期信号</a:t>
            </a:r>
          </a:p>
        </p:txBody>
      </p:sp>
      <p:pic>
        <p:nvPicPr>
          <p:cNvPr id="7" name="Picture 6">
            <a:extLst>
              <a:ext uri="{FF2B5EF4-FFF2-40B4-BE49-F238E27FC236}">
                <a16:creationId xmlns:a16="http://schemas.microsoft.com/office/drawing/2014/main" id="{9D012BA8-3A7E-4F0D-AC0E-40172F56967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3054001" y="3282802"/>
            <a:ext cx="6312592" cy="22859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6389" name="Text Box 4">
            <a:extLst>
              <a:ext uri="{FF2B5EF4-FFF2-40B4-BE49-F238E27FC236}">
                <a16:creationId xmlns:a16="http://schemas.microsoft.com/office/drawing/2014/main" id="{C727D2F4-7920-4BAC-88DD-9B27794B4116}"/>
              </a:ext>
            </a:extLst>
          </p:cNvPr>
          <p:cNvSpPr txBox="1">
            <a:spLocks noChangeArrowheads="1"/>
          </p:cNvSpPr>
          <p:nvPr/>
        </p:nvSpPr>
        <p:spPr bwMode="auto">
          <a:xfrm>
            <a:off x="3989494" y="4538208"/>
            <a:ext cx="42130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3.10  </a:t>
            </a:r>
            <a:r>
              <a:rPr lang="zh-CN" altLang="en-US" sz="1600" i="0" baseline="0" dirty="0">
                <a:ea typeface="宋体" panose="02010600030101010101" pitchFamily="2" charset="-122"/>
              </a:rPr>
              <a:t>复合周期信号在时域和频域中的分解</a:t>
            </a:r>
          </a:p>
        </p:txBody>
      </p:sp>
      <p:pic>
        <p:nvPicPr>
          <p:cNvPr id="5" name="图片 4">
            <a:extLst>
              <a:ext uri="{FF2B5EF4-FFF2-40B4-BE49-F238E27FC236}">
                <a16:creationId xmlns:a16="http://schemas.microsoft.com/office/drawing/2014/main" id="{8551215A-1532-462C-8172-EDE6D11D769F}"/>
              </a:ext>
            </a:extLst>
          </p:cNvPr>
          <p:cNvPicPr>
            <a:picLocks noChangeAspect="1"/>
          </p:cNvPicPr>
          <p:nvPr/>
        </p:nvPicPr>
        <p:blipFill>
          <a:blip r:embed="rId2">
            <a:extLst>
              <a:ext uri="{28A0092B-C50C-407E-A947-70E740481C1C}">
                <a14:useLocalDpi xmlns:a14="http://schemas.microsoft.com/office/drawing/2010/main" val="0"/>
              </a:ext>
            </a:extLst>
          </a:blip>
          <a:stretch>
            <a:fillRect/>
          </a:stretch>
        </p:blipFill>
        <p:spPr>
          <a:xfrm>
            <a:off x="3562251" y="1124549"/>
            <a:ext cx="5067498" cy="3244516"/>
          </a:xfrm>
          <a:prstGeom prst="rect">
            <a:avLst/>
          </a:prstGeom>
        </p:spPr>
      </p:pic>
      <p:sp>
        <p:nvSpPr>
          <p:cNvPr id="6" name="矩形 5">
            <a:extLst>
              <a:ext uri="{FF2B5EF4-FFF2-40B4-BE49-F238E27FC236}">
                <a16:creationId xmlns:a16="http://schemas.microsoft.com/office/drawing/2014/main" id="{4EBFAF57-4290-4D50-868D-C03C1D586FED}"/>
              </a:ext>
            </a:extLst>
          </p:cNvPr>
          <p:cNvSpPr/>
          <p:nvPr/>
        </p:nvSpPr>
        <p:spPr>
          <a:xfrm>
            <a:off x="2667090" y="5029159"/>
            <a:ext cx="7162612" cy="1156855"/>
          </a:xfrm>
          <a:prstGeom prst="rect">
            <a:avLst/>
          </a:prstGeom>
        </p:spPr>
        <p:txBody>
          <a:bodyPr wrap="square">
            <a:spAutoFit/>
          </a:bodyPr>
          <a:lstStyle/>
          <a:p>
            <a:pPr marL="285750" indent="-285750">
              <a:lnSpc>
                <a:spcPct val="150000"/>
              </a:lnSpc>
              <a:buClr>
                <a:srgbClr val="FF0000"/>
              </a:buClr>
              <a:buSzPct val="80000"/>
              <a:buFont typeface="Wingdings" panose="05000000000000000000" pitchFamily="2" charset="2"/>
              <a:buChar char="u"/>
            </a:pPr>
            <a:r>
              <a:rPr lang="zh-CN" altLang="en-US" sz="1600" b="0" i="0" baseline="0" dirty="0">
                <a:latin typeface="微软雅黑" panose="020B0503020204020204" pitchFamily="34" charset="-122"/>
                <a:ea typeface="微软雅黑" panose="020B0503020204020204" pitchFamily="34" charset="-122"/>
              </a:rPr>
              <a:t>频率为 </a:t>
            </a:r>
            <a:r>
              <a:rPr lang="en-US" altLang="zh-CN" sz="1600" b="0" i="0" baseline="0" dirty="0">
                <a:latin typeface="微软雅黑" panose="020B0503020204020204" pitchFamily="34" charset="-122"/>
                <a:ea typeface="微软雅黑" panose="020B0503020204020204" pitchFamily="34" charset="-122"/>
              </a:rPr>
              <a:t>f </a:t>
            </a:r>
            <a:r>
              <a:rPr lang="zh-CN" altLang="en-US" sz="1600" b="0" i="0" baseline="0" dirty="0">
                <a:latin typeface="微软雅黑" panose="020B0503020204020204" pitchFamily="34" charset="-122"/>
                <a:ea typeface="微软雅黑" panose="020B0503020204020204" pitchFamily="34" charset="-122"/>
              </a:rPr>
              <a:t>的正弦波的频率与复合信号频率一样，称为基础频率或第一谐波；</a:t>
            </a:r>
            <a:endParaRPr lang="en-US" altLang="zh-CN" sz="1600" b="0" i="0" baseline="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pPr>
            <a:r>
              <a:rPr lang="zh-CN" altLang="en-US" sz="1600" b="0" i="0" baseline="0" dirty="0">
                <a:latin typeface="微软雅黑" panose="020B0503020204020204" pitchFamily="34" charset="-122"/>
                <a:ea typeface="微软雅黑" panose="020B0503020204020204" pitchFamily="34" charset="-122"/>
              </a:rPr>
              <a:t>频率为 </a:t>
            </a:r>
            <a:r>
              <a:rPr lang="en-US" altLang="zh-CN" sz="1600" b="0" i="0" baseline="0" dirty="0">
                <a:latin typeface="微软雅黑" panose="020B0503020204020204" pitchFamily="34" charset="-122"/>
                <a:ea typeface="微软雅黑" panose="020B0503020204020204" pitchFamily="34" charset="-122"/>
              </a:rPr>
              <a:t>3f </a:t>
            </a:r>
            <a:r>
              <a:rPr lang="zh-CN" altLang="en-US" sz="1600" b="0" i="0" baseline="0" dirty="0">
                <a:latin typeface="微软雅黑" panose="020B0503020204020204" pitchFamily="34" charset="-122"/>
                <a:ea typeface="微软雅黑" panose="020B0503020204020204" pitchFamily="34" charset="-122"/>
              </a:rPr>
              <a:t>的正弦波的频率为基础频率的 </a:t>
            </a:r>
            <a:r>
              <a:rPr lang="en-US" altLang="zh-CN" sz="1600" b="0" i="0" baseline="0" dirty="0">
                <a:latin typeface="微软雅黑" panose="020B0503020204020204" pitchFamily="34" charset="-122"/>
                <a:ea typeface="微软雅黑" panose="020B0503020204020204" pitchFamily="34" charset="-122"/>
              </a:rPr>
              <a:t>3 </a:t>
            </a:r>
            <a:r>
              <a:rPr lang="zh-CN" altLang="en-US" sz="1600" b="0" i="0" baseline="0" dirty="0">
                <a:latin typeface="微软雅黑" panose="020B0503020204020204" pitchFamily="34" charset="-122"/>
                <a:ea typeface="微软雅黑" panose="020B0503020204020204" pitchFamily="34" charset="-122"/>
              </a:rPr>
              <a:t>倍，称为第三谐波；</a:t>
            </a:r>
            <a:endParaRPr lang="en-US" altLang="zh-CN" sz="1600" b="0" i="0" baseline="0" dirty="0">
              <a:latin typeface="微软雅黑" panose="020B0503020204020204" pitchFamily="34" charset="-122"/>
              <a:ea typeface="微软雅黑" panose="020B0503020204020204" pitchFamily="34" charset="-122"/>
            </a:endParaRPr>
          </a:p>
          <a:p>
            <a:pPr marL="285750" indent="-285750">
              <a:lnSpc>
                <a:spcPct val="150000"/>
              </a:lnSpc>
              <a:buClr>
                <a:srgbClr val="FF0000"/>
              </a:buClr>
              <a:buSzPct val="80000"/>
              <a:buFont typeface="Wingdings" panose="05000000000000000000" pitchFamily="2" charset="2"/>
              <a:buChar char="u"/>
            </a:pPr>
            <a:r>
              <a:rPr lang="zh-CN" altLang="en-US" sz="1600" b="0" i="0" baseline="0" dirty="0">
                <a:latin typeface="微软雅黑" panose="020B0503020204020204" pitchFamily="34" charset="-122"/>
                <a:ea typeface="微软雅黑" panose="020B0503020204020204" pitchFamily="34" charset="-122"/>
              </a:rPr>
              <a:t>频率为 </a:t>
            </a:r>
            <a:r>
              <a:rPr lang="en-US" altLang="zh-CN" sz="1600" b="0" i="0" baseline="0" dirty="0">
                <a:latin typeface="微软雅黑" panose="020B0503020204020204" pitchFamily="34" charset="-122"/>
                <a:ea typeface="微软雅黑" panose="020B0503020204020204" pitchFamily="34" charset="-122"/>
              </a:rPr>
              <a:t>9f </a:t>
            </a:r>
            <a:r>
              <a:rPr lang="zh-CN" altLang="en-US" sz="1600" b="0" i="0" baseline="0" dirty="0">
                <a:latin typeface="微软雅黑" panose="020B0503020204020204" pitchFamily="34" charset="-122"/>
                <a:ea typeface="微软雅黑" panose="020B0503020204020204" pitchFamily="34" charset="-122"/>
              </a:rPr>
              <a:t>的正弦波的频率为基础频率的 </a:t>
            </a:r>
            <a:r>
              <a:rPr lang="en-US" altLang="zh-CN" sz="1600" b="0" i="0" baseline="0" dirty="0">
                <a:latin typeface="微软雅黑" panose="020B0503020204020204" pitchFamily="34" charset="-122"/>
                <a:ea typeface="微软雅黑" panose="020B0503020204020204" pitchFamily="34" charset="-122"/>
              </a:rPr>
              <a:t>9 </a:t>
            </a:r>
            <a:r>
              <a:rPr lang="zh-CN" altLang="en-US" sz="1600" b="0" i="0" baseline="0" dirty="0">
                <a:latin typeface="微软雅黑" panose="020B0503020204020204" pitchFamily="34" charset="-122"/>
                <a:ea typeface="微软雅黑" panose="020B0503020204020204" pitchFamily="34" charset="-122"/>
              </a:rPr>
              <a:t>倍，称为第九谐波。</a:t>
            </a:r>
            <a:endParaRPr lang="en-US" altLang="zh-CN" sz="1600" b="0" i="0" baseline="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7420" name="Rectangle 11">
            <a:extLst>
              <a:ext uri="{FF2B5EF4-FFF2-40B4-BE49-F238E27FC236}">
                <a16:creationId xmlns:a16="http://schemas.microsoft.com/office/drawing/2014/main" id="{009486F9-DC1F-47A3-AD00-852F4B7F6BE2}"/>
              </a:ext>
            </a:extLst>
          </p:cNvPr>
          <p:cNvSpPr>
            <a:spLocks noChangeArrowheads="1"/>
          </p:cNvSpPr>
          <p:nvPr/>
        </p:nvSpPr>
        <p:spPr bwMode="auto">
          <a:xfrm>
            <a:off x="2590892" y="1143060"/>
            <a:ext cx="6476830" cy="369332"/>
          </a:xfrm>
          <a:prstGeom prst="rect">
            <a:avLst/>
          </a:prstGeom>
          <a:noFill/>
          <a:ln>
            <a:noFill/>
          </a:ln>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800" b="0" i="0" baseline="0">
                <a:latin typeface="微软雅黑" panose="020B0503020204020204" pitchFamily="34" charset="-122"/>
                <a:ea typeface="微软雅黑" panose="020B0503020204020204" pitchFamily="34" charset="-122"/>
              </a:rPr>
              <a:t>复合信号的带宽是信号最高频率与最低频率的差值。</a:t>
            </a:r>
          </a:p>
        </p:txBody>
      </p:sp>
      <p:sp>
        <p:nvSpPr>
          <p:cNvPr id="2" name="矩形 1">
            <a:extLst>
              <a:ext uri="{FF2B5EF4-FFF2-40B4-BE49-F238E27FC236}">
                <a16:creationId xmlns:a16="http://schemas.microsoft.com/office/drawing/2014/main" id="{A615CF95-AB98-4641-8305-DCF1EA91BE6B}"/>
              </a:ext>
            </a:extLst>
          </p:cNvPr>
          <p:cNvSpPr/>
          <p:nvPr/>
        </p:nvSpPr>
        <p:spPr>
          <a:xfrm>
            <a:off x="3962456" y="95952"/>
            <a:ext cx="906017" cy="523220"/>
          </a:xfrm>
          <a:prstGeom prst="rect">
            <a:avLst/>
          </a:prstGeom>
        </p:spPr>
        <p:txBody>
          <a:bodyPr wrap="non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带宽</a:t>
            </a:r>
          </a:p>
        </p:txBody>
      </p:sp>
      <p:sp>
        <p:nvSpPr>
          <p:cNvPr id="6" name="Text Box 4">
            <a:extLst>
              <a:ext uri="{FF2B5EF4-FFF2-40B4-BE49-F238E27FC236}">
                <a16:creationId xmlns:a16="http://schemas.microsoft.com/office/drawing/2014/main" id="{926EC727-5225-46C6-848F-E23966868E18}"/>
              </a:ext>
            </a:extLst>
          </p:cNvPr>
          <p:cNvSpPr txBox="1">
            <a:spLocks noChangeArrowheads="1"/>
          </p:cNvSpPr>
          <p:nvPr/>
        </p:nvSpPr>
        <p:spPr bwMode="auto">
          <a:xfrm>
            <a:off x="3886100" y="6231523"/>
            <a:ext cx="441980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3.12  </a:t>
            </a:r>
            <a:r>
              <a:rPr lang="zh-CN" altLang="en-US" sz="1600" i="0" baseline="0" dirty="0">
                <a:ea typeface="宋体" panose="02010600030101010101" pitchFamily="2" charset="-122"/>
              </a:rPr>
              <a:t>周期复合信号和非周期复合信号的带宽</a:t>
            </a:r>
          </a:p>
        </p:txBody>
      </p:sp>
      <p:pic>
        <p:nvPicPr>
          <p:cNvPr id="7" name="Picture 6">
            <a:extLst>
              <a:ext uri="{FF2B5EF4-FFF2-40B4-BE49-F238E27FC236}">
                <a16:creationId xmlns:a16="http://schemas.microsoft.com/office/drawing/2014/main" id="{536064F1-3513-4292-B271-1AA381FD3B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504752" y="1752644"/>
            <a:ext cx="5182496" cy="424205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C0D8A445-5192-4EA7-906F-150C1CE9D396}"/>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53251" name="Text Box 3">
            <a:extLst>
              <a:ext uri="{FF2B5EF4-FFF2-40B4-BE49-F238E27FC236}">
                <a16:creationId xmlns:a16="http://schemas.microsoft.com/office/drawing/2014/main" id="{0E1D77D3-0CB8-4AED-8AA1-EE21C32CF876}"/>
              </a:ext>
            </a:extLst>
          </p:cNvPr>
          <p:cNvSpPr txBox="1">
            <a:spLocks noChangeArrowheads="1"/>
          </p:cNvSpPr>
          <p:nvPr/>
        </p:nvSpPr>
        <p:spPr bwMode="auto">
          <a:xfrm>
            <a:off x="533546" y="245429"/>
            <a:ext cx="2877711" cy="584775"/>
          </a:xfrm>
          <a:prstGeom prst="rect">
            <a:avLst/>
          </a:prstGeom>
          <a:noFill/>
          <a:ln>
            <a:noFill/>
          </a:ln>
          <a:effectLst/>
        </p:spPr>
        <p:txBody>
          <a:bodyPr wrap="none">
            <a:spAutoFit/>
          </a:bodyPr>
          <a:lstStyle/>
          <a:p>
            <a:pPr>
              <a:buFont typeface="Arial" panose="020B0604020202020204" pitchFamily="34" charset="0"/>
              <a:buNone/>
              <a:defRPr/>
            </a:pPr>
            <a:r>
              <a:rPr lang="zh-CN" altLang="en-US" sz="3200" i="0" baseline="0" dirty="0">
                <a:latin typeface="微软雅黑" panose="020B0503020204020204" pitchFamily="34" charset="-122"/>
                <a:ea typeface="微软雅黑" panose="020B0503020204020204" pitchFamily="34" charset="-122"/>
              </a:rPr>
              <a:t>3</a:t>
            </a:r>
            <a:r>
              <a:rPr lang="en-US" altLang="zh-CN" sz="3200" i="0" baseline="0" dirty="0">
                <a:latin typeface="微软雅黑" panose="020B0503020204020204" pitchFamily="34" charset="-122"/>
                <a:ea typeface="微软雅黑" panose="020B0503020204020204" pitchFamily="34" charset="-122"/>
              </a:rPr>
              <a:t>.2</a:t>
            </a:r>
            <a:r>
              <a:rPr lang="zh-CN" altLang="en-US" sz="3200" i="0" baseline="0" dirty="0">
                <a:latin typeface="微软雅黑" panose="020B0503020204020204" pitchFamily="34" charset="-122"/>
                <a:ea typeface="微软雅黑" panose="020B0503020204020204" pitchFamily="34" charset="-122"/>
              </a:rPr>
              <a:t>   数字信号</a:t>
            </a:r>
          </a:p>
        </p:txBody>
      </p:sp>
      <p:sp>
        <p:nvSpPr>
          <p:cNvPr id="19461" name="Text Box 4">
            <a:extLst>
              <a:ext uri="{FF2B5EF4-FFF2-40B4-BE49-F238E27FC236}">
                <a16:creationId xmlns:a16="http://schemas.microsoft.com/office/drawing/2014/main" id="{7E238E9B-A65C-4E87-9E5F-6CCF2884E911}"/>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19462" name="Rectangle 5">
            <a:extLst>
              <a:ext uri="{FF2B5EF4-FFF2-40B4-BE49-F238E27FC236}">
                <a16:creationId xmlns:a16="http://schemas.microsoft.com/office/drawing/2014/main" id="{303DEB88-96CA-47FB-816A-CC0403C54EE1}"/>
              </a:ext>
            </a:extLst>
          </p:cNvPr>
          <p:cNvSpPr>
            <a:spLocks noChangeArrowheads="1"/>
          </p:cNvSpPr>
          <p:nvPr/>
        </p:nvSpPr>
        <p:spPr bwMode="auto">
          <a:xfrm>
            <a:off x="1211029" y="1301244"/>
            <a:ext cx="9524750" cy="128990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15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数据除了可以用模拟信号表示外，还可以使用数字信号表示。一个数字信号可以多于两个电平表示。在这种情况下，每个电平就可以发送多个位。每秒发送的位数称为</a:t>
            </a:r>
            <a:r>
              <a:rPr lang="zh-CN" altLang="en-US" sz="1800" i="0" baseline="0" dirty="0">
                <a:latin typeface="微软雅黑" panose="020B0503020204020204" pitchFamily="34" charset="-122"/>
                <a:ea typeface="微软雅黑" panose="020B0503020204020204" pitchFamily="34" charset="-122"/>
              </a:rPr>
              <a:t>比特率</a:t>
            </a:r>
            <a:r>
              <a:rPr lang="zh-CN" altLang="en-US" sz="1800" b="0" i="0" baseline="0" dirty="0">
                <a:latin typeface="微软雅黑" panose="020B0503020204020204" pitchFamily="34" charset="-122"/>
                <a:ea typeface="微软雅黑" panose="020B0503020204020204" pitchFamily="34" charset="-122"/>
              </a:rPr>
              <a:t>，单位是</a:t>
            </a:r>
            <a:r>
              <a:rPr lang="en-US" altLang="zh-CN" sz="1800" b="0" i="0" baseline="0" dirty="0">
                <a:latin typeface="微软雅黑" panose="020B0503020204020204" pitchFamily="34" charset="-122"/>
                <a:ea typeface="微软雅黑" panose="020B0503020204020204" pitchFamily="34" charset="-122"/>
              </a:rPr>
              <a:t>bit/s </a:t>
            </a:r>
            <a:r>
              <a:rPr lang="zh-CN" altLang="en-US" sz="1800" b="0" i="0" baseline="0" dirty="0">
                <a:latin typeface="微软雅黑" panose="020B0503020204020204" pitchFamily="34" charset="-122"/>
                <a:ea typeface="微软雅黑" panose="020B0503020204020204" pitchFamily="34" charset="-122"/>
              </a:rPr>
              <a:t>或者 </a:t>
            </a:r>
            <a:r>
              <a:rPr lang="en-US" altLang="zh-CN" sz="1800" b="0" i="0" baseline="0" dirty="0">
                <a:latin typeface="微软雅黑" panose="020B0503020204020204" pitchFamily="34" charset="-122"/>
                <a:ea typeface="微软雅黑" panose="020B0503020204020204" pitchFamily="34" charset="-122"/>
              </a:rPr>
              <a:t>bps</a:t>
            </a:r>
            <a:r>
              <a:rPr lang="zh-CN" altLang="en-US" sz="1800" b="0" i="0" baseline="0" dirty="0">
                <a:latin typeface="微软雅黑" panose="020B0503020204020204" pitchFamily="34" charset="-122"/>
                <a:ea typeface="微软雅黑" panose="020B0503020204020204" pitchFamily="34" charset="-122"/>
              </a:rPr>
              <a:t>。</a:t>
            </a:r>
            <a:endParaRPr lang="en-US" altLang="zh-CN" sz="1800" b="0" i="0" baseline="0" dirty="0">
              <a:latin typeface="微软雅黑" panose="020B0503020204020204" pitchFamily="34" charset="-122"/>
              <a:ea typeface="微软雅黑" panose="020B0503020204020204" pitchFamily="34" charset="-122"/>
            </a:endParaRPr>
          </a:p>
        </p:txBody>
      </p:sp>
      <p:sp>
        <p:nvSpPr>
          <p:cNvPr id="8" name="Text Box 4">
            <a:extLst>
              <a:ext uri="{FF2B5EF4-FFF2-40B4-BE49-F238E27FC236}">
                <a16:creationId xmlns:a16="http://schemas.microsoft.com/office/drawing/2014/main" id="{230182FA-96FA-4678-96AB-1E1B4572A9EA}"/>
              </a:ext>
            </a:extLst>
          </p:cNvPr>
          <p:cNvSpPr txBox="1">
            <a:spLocks noChangeArrowheads="1"/>
          </p:cNvSpPr>
          <p:nvPr/>
        </p:nvSpPr>
        <p:spPr bwMode="auto">
          <a:xfrm>
            <a:off x="4900835" y="6176375"/>
            <a:ext cx="2145139"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3.16  </a:t>
            </a:r>
            <a:r>
              <a:rPr lang="zh-CN" altLang="en-US" sz="1600" i="0" baseline="0" dirty="0">
                <a:ea typeface="宋体" panose="02010600030101010101" pitchFamily="2" charset="-122"/>
              </a:rPr>
              <a:t>两种数字信号</a:t>
            </a:r>
          </a:p>
        </p:txBody>
      </p:sp>
      <p:pic>
        <p:nvPicPr>
          <p:cNvPr id="9" name="Picture 6">
            <a:extLst>
              <a:ext uri="{FF2B5EF4-FFF2-40B4-BE49-F238E27FC236}">
                <a16:creationId xmlns:a16="http://schemas.microsoft.com/office/drawing/2014/main" id="{0CB21153-23FB-4B71-8D0F-8C024D35BEB6}"/>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4031088" y="2404992"/>
            <a:ext cx="4122258" cy="365989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4581" name="Text Box 4">
            <a:extLst>
              <a:ext uri="{FF2B5EF4-FFF2-40B4-BE49-F238E27FC236}">
                <a16:creationId xmlns:a16="http://schemas.microsoft.com/office/drawing/2014/main" id="{50B95919-BE0A-4FD2-9463-28D4ABD5E579}"/>
              </a:ext>
            </a:extLst>
          </p:cNvPr>
          <p:cNvSpPr txBox="1">
            <a:spLocks noChangeArrowheads="1"/>
          </p:cNvSpPr>
          <p:nvPr/>
        </p:nvSpPr>
        <p:spPr bwMode="auto">
          <a:xfrm>
            <a:off x="3575919" y="5834309"/>
            <a:ext cx="5040162"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3.17  </a:t>
            </a:r>
            <a:r>
              <a:rPr lang="zh-CN" altLang="en-US" sz="1600" i="0" baseline="0" dirty="0">
                <a:ea typeface="宋体" panose="02010600030101010101" pitchFamily="2" charset="-122"/>
              </a:rPr>
              <a:t>周期数字信号和非周期数字信号的时域和频域</a:t>
            </a:r>
          </a:p>
        </p:txBody>
      </p:sp>
      <p:pic>
        <p:nvPicPr>
          <p:cNvPr id="24583" name="Picture 6">
            <a:extLst>
              <a:ext uri="{FF2B5EF4-FFF2-40B4-BE49-F238E27FC236}">
                <a16:creationId xmlns:a16="http://schemas.microsoft.com/office/drawing/2014/main" id="{5C0FC1D4-0FB4-4F62-9C80-E8B4CFCAC213}"/>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2878958" y="1989180"/>
            <a:ext cx="6434084" cy="34753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FD52DCEC-FB40-4E5D-9310-FC8D14E8DD42}"/>
              </a:ext>
            </a:extLst>
          </p:cNvPr>
          <p:cNvSpPr/>
          <p:nvPr/>
        </p:nvSpPr>
        <p:spPr>
          <a:xfrm>
            <a:off x="2667090" y="1219258"/>
            <a:ext cx="6183218" cy="400110"/>
          </a:xfrm>
          <a:prstGeom prst="rect">
            <a:avLst/>
          </a:prstGeom>
        </p:spPr>
        <p:txBody>
          <a:bodyPr wrap="square">
            <a:spAutoFit/>
          </a:bodyPr>
          <a:lstStyle/>
          <a:p>
            <a:pPr>
              <a:buFont typeface="Arial" panose="020B0604020202020204" pitchFamily="34" charset="0"/>
              <a:buNone/>
            </a:pPr>
            <a:r>
              <a:rPr lang="zh-CN" altLang="en-US" sz="2000" i="0" baseline="0" dirty="0">
                <a:latin typeface="微软雅黑" panose="020B0503020204020204" pitchFamily="34" charset="-122"/>
                <a:ea typeface="微软雅黑" panose="020B0503020204020204" pitchFamily="34" charset="-122"/>
              </a:rPr>
              <a:t>数字信号是一种无穷大带宽的复合模拟信号。</a:t>
            </a:r>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6629" name="Text Box 4">
            <a:extLst>
              <a:ext uri="{FF2B5EF4-FFF2-40B4-BE49-F238E27FC236}">
                <a16:creationId xmlns:a16="http://schemas.microsoft.com/office/drawing/2014/main" id="{A6B4A663-73E1-4AD5-9232-608B47E42B27}"/>
              </a:ext>
            </a:extLst>
          </p:cNvPr>
          <p:cNvSpPr txBox="1">
            <a:spLocks noChangeArrowheads="1"/>
          </p:cNvSpPr>
          <p:nvPr/>
        </p:nvSpPr>
        <p:spPr bwMode="auto">
          <a:xfrm>
            <a:off x="2667090" y="5864351"/>
            <a:ext cx="1531188"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400" i="0" baseline="0" dirty="0">
                <a:solidFill>
                  <a:schemeClr val="folHlink"/>
                </a:solidFill>
                <a:ea typeface="宋体" panose="02010600030101010101" pitchFamily="2" charset="-122"/>
              </a:rPr>
              <a:t>图 3.18  </a:t>
            </a:r>
            <a:r>
              <a:rPr lang="zh-CN" altLang="en-US" sz="1400" i="0" baseline="0" dirty="0">
                <a:ea typeface="宋体" panose="02010600030101010101" pitchFamily="2" charset="-122"/>
              </a:rPr>
              <a:t>基带传输</a:t>
            </a:r>
          </a:p>
        </p:txBody>
      </p:sp>
      <p:pic>
        <p:nvPicPr>
          <p:cNvPr id="26631" name="Picture 6">
            <a:extLst>
              <a:ext uri="{FF2B5EF4-FFF2-40B4-BE49-F238E27FC236}">
                <a16:creationId xmlns:a16="http://schemas.microsoft.com/office/drawing/2014/main" id="{65DC52CD-12C8-45E2-A262-A4C4302E98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1333620" y="3810050"/>
            <a:ext cx="4381032" cy="1114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B3248E1D-FF0D-4C50-97B1-0A5ECFC12D4F}"/>
              </a:ext>
            </a:extLst>
          </p:cNvPr>
          <p:cNvSpPr/>
          <p:nvPr/>
        </p:nvSpPr>
        <p:spPr>
          <a:xfrm>
            <a:off x="1333620" y="813877"/>
            <a:ext cx="9677146" cy="2234073"/>
          </a:xfrm>
          <a:prstGeom prst="rect">
            <a:avLst/>
          </a:prstGeom>
        </p:spPr>
        <p:txBody>
          <a:bodyPr wrap="square">
            <a:spAutoFit/>
          </a:bodyPr>
          <a:lstStyle/>
          <a:p>
            <a:pPr>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数字信号传输有</a:t>
            </a:r>
            <a:r>
              <a:rPr lang="zh-CN" altLang="en-US" sz="1800" i="0" baseline="0" dirty="0">
                <a:latin typeface="微软雅黑" panose="020B0503020204020204" pitchFamily="34" charset="-122"/>
                <a:ea typeface="微软雅黑" panose="020B0503020204020204" pitchFamily="34" charset="-122"/>
              </a:rPr>
              <a:t>基带传输和宽带传输</a:t>
            </a:r>
            <a:r>
              <a:rPr lang="zh-CN" altLang="en-US" sz="1800" b="0" i="0" baseline="0" dirty="0">
                <a:latin typeface="微软雅黑" panose="020B0503020204020204" pitchFamily="34" charset="-122"/>
                <a:ea typeface="微软雅黑" panose="020B0503020204020204" pitchFamily="34" charset="-122"/>
              </a:rPr>
              <a:t>两种方法。</a:t>
            </a:r>
            <a:endParaRPr lang="en-US" altLang="zh-CN" sz="1800" b="0" i="0" baseline="0" dirty="0">
              <a:latin typeface="微软雅黑" panose="020B0503020204020204" pitchFamily="34" charset="-122"/>
              <a:ea typeface="微软雅黑" panose="020B0503020204020204" pitchFamily="34" charset="-122"/>
            </a:endParaRPr>
          </a:p>
          <a:p>
            <a:pPr marL="285750" indent="-285750">
              <a:lnSpc>
                <a:spcPct val="200000"/>
              </a:lnSpc>
              <a:buClr>
                <a:srgbClr val="FF0000"/>
              </a:buClr>
              <a:buSzPct val="80000"/>
              <a:buFont typeface="Wingdings" panose="05000000000000000000" pitchFamily="2" charset="2"/>
              <a:buChar char="u"/>
            </a:pPr>
            <a:r>
              <a:rPr lang="zh-CN" altLang="en-US" sz="2000" i="0" baseline="0" dirty="0">
                <a:latin typeface="微软雅黑" panose="020B0503020204020204" pitchFamily="34" charset="-122"/>
                <a:ea typeface="微软雅黑" panose="020B0503020204020204" pitchFamily="34" charset="-122"/>
              </a:rPr>
              <a:t>基带传输</a:t>
            </a:r>
            <a:endParaRPr lang="en-US" altLang="zh-CN" sz="2000" i="0" baseline="0" dirty="0">
              <a:latin typeface="微软雅黑" panose="020B0503020204020204" pitchFamily="34" charset="-122"/>
              <a:ea typeface="微软雅黑" panose="020B0503020204020204" pitchFamily="34" charset="-122"/>
            </a:endParaRPr>
          </a:p>
          <a:p>
            <a:pPr marL="271463">
              <a:lnSpc>
                <a:spcPct val="200000"/>
              </a:lnSpc>
              <a:buClr>
                <a:srgbClr val="FF0000"/>
              </a:buClr>
              <a:buSzPct val="80000"/>
            </a:pPr>
            <a:r>
              <a:rPr lang="zh-CN" altLang="en-US" sz="1600" b="0" i="0" baseline="0" dirty="0">
                <a:latin typeface="微软雅黑" panose="020B0503020204020204" pitchFamily="34" charset="-122"/>
                <a:ea typeface="微软雅黑" panose="020B0503020204020204" pitchFamily="34" charset="-122"/>
              </a:rPr>
              <a:t>通过通道直接传输数字信号，不转换为模拟信号，需要一个带宽下限是 </a:t>
            </a:r>
            <a:r>
              <a:rPr lang="en-US" altLang="zh-CN" sz="1600" b="0" i="0" baseline="0" dirty="0">
                <a:latin typeface="微软雅黑" panose="020B0503020204020204" pitchFamily="34" charset="-122"/>
                <a:ea typeface="微软雅黑" panose="020B0503020204020204" pitchFamily="34" charset="-122"/>
              </a:rPr>
              <a:t>0 </a:t>
            </a:r>
            <a:r>
              <a:rPr lang="zh-CN" altLang="en-US" sz="1600" b="0" i="0" baseline="0" dirty="0">
                <a:latin typeface="微软雅黑" panose="020B0503020204020204" pitchFamily="34" charset="-122"/>
                <a:ea typeface="微软雅黑" panose="020B0503020204020204" pitchFamily="34" charset="-122"/>
              </a:rPr>
              <a:t>的低通通道。宽带传输则需要对信号进行调制，通道不包括 </a:t>
            </a:r>
            <a:r>
              <a:rPr lang="en-US" altLang="zh-CN" sz="1600" b="0" i="0" baseline="0" dirty="0">
                <a:latin typeface="微软雅黑" panose="020B0503020204020204" pitchFamily="34" charset="-122"/>
                <a:ea typeface="微软雅黑" panose="020B0503020204020204" pitchFamily="34" charset="-122"/>
              </a:rPr>
              <a:t>0 </a:t>
            </a:r>
            <a:r>
              <a:rPr lang="zh-CN" altLang="en-US" sz="1600" b="0" i="0" baseline="0" dirty="0">
                <a:latin typeface="微软雅黑" panose="020B0503020204020204" pitchFamily="34" charset="-122"/>
                <a:ea typeface="微软雅黑" panose="020B0503020204020204" pitchFamily="34" charset="-122"/>
              </a:rPr>
              <a:t>频率。</a:t>
            </a:r>
          </a:p>
        </p:txBody>
      </p:sp>
      <p:pic>
        <p:nvPicPr>
          <p:cNvPr id="7" name="Picture 6">
            <a:extLst>
              <a:ext uri="{FF2B5EF4-FFF2-40B4-BE49-F238E27FC236}">
                <a16:creationId xmlns:a16="http://schemas.microsoft.com/office/drawing/2014/main" id="{89B4E522-8220-4CB6-A7B0-59BDC6A8C0B6}"/>
              </a:ext>
            </a:extLst>
          </p:cNvPr>
          <p:cNvPicPr>
            <a:picLocks noChangeAspect="1" noChangeArrowheads="1"/>
          </p:cNvPicPr>
          <p:nvPr/>
        </p:nvPicPr>
        <p:blipFill>
          <a:blip r:embed="rId3">
            <a:extLst>
              <a:ext uri="{28A0092B-C50C-407E-A947-70E740481C1C}">
                <a14:useLocalDpi xmlns:a14="http://schemas.microsoft.com/office/drawing/2010/main" val="0"/>
              </a:ext>
            </a:extLst>
          </a:blip>
          <a:srcRect/>
          <a:stretch>
            <a:fillRect/>
          </a:stretch>
        </p:blipFill>
        <p:spPr bwMode="auto">
          <a:xfrm>
            <a:off x="6248396" y="2869681"/>
            <a:ext cx="4492929" cy="268200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9" name="Text Box 4">
            <a:extLst>
              <a:ext uri="{FF2B5EF4-FFF2-40B4-BE49-F238E27FC236}">
                <a16:creationId xmlns:a16="http://schemas.microsoft.com/office/drawing/2014/main" id="{E10831B7-BEC0-41A5-AE22-3C4BADAB4F2F}"/>
              </a:ext>
            </a:extLst>
          </p:cNvPr>
          <p:cNvSpPr txBox="1">
            <a:spLocks noChangeArrowheads="1"/>
          </p:cNvSpPr>
          <p:nvPr/>
        </p:nvSpPr>
        <p:spPr bwMode="auto">
          <a:xfrm>
            <a:off x="7467564" y="5858715"/>
            <a:ext cx="24288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400" i="0" baseline="0" dirty="0">
                <a:solidFill>
                  <a:schemeClr val="folHlink"/>
                </a:solidFill>
                <a:ea typeface="宋体" panose="02010600030101010101" pitchFamily="2" charset="-122"/>
              </a:rPr>
              <a:t>图 3.19  </a:t>
            </a:r>
            <a:r>
              <a:rPr lang="zh-CN" altLang="en-US" sz="1400" i="0" baseline="0" dirty="0">
                <a:ea typeface="宋体" panose="02010600030101010101" pitchFamily="2" charset="-122"/>
              </a:rPr>
              <a:t>两条低通通道的带宽</a:t>
            </a:r>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8677" name="Text Box 4">
            <a:extLst>
              <a:ext uri="{FF2B5EF4-FFF2-40B4-BE49-F238E27FC236}">
                <a16:creationId xmlns:a16="http://schemas.microsoft.com/office/drawing/2014/main" id="{535B323A-CA1B-43D3-9A07-C6FC4E402BB9}"/>
              </a:ext>
            </a:extLst>
          </p:cNvPr>
          <p:cNvSpPr txBox="1">
            <a:spLocks noChangeArrowheads="1"/>
          </p:cNvSpPr>
          <p:nvPr/>
        </p:nvSpPr>
        <p:spPr bwMode="auto">
          <a:xfrm>
            <a:off x="4506463" y="4288279"/>
            <a:ext cx="3179075"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3.20  </a:t>
            </a:r>
            <a:r>
              <a:rPr lang="zh-CN" altLang="en-US" sz="1600" i="0" baseline="0" dirty="0">
                <a:ea typeface="宋体" panose="02010600030101010101" pitchFamily="2" charset="-122"/>
              </a:rPr>
              <a:t>使用专用介质的基带传输</a:t>
            </a:r>
          </a:p>
        </p:txBody>
      </p:sp>
      <p:pic>
        <p:nvPicPr>
          <p:cNvPr id="28679" name="Picture 6">
            <a:extLst>
              <a:ext uri="{FF2B5EF4-FFF2-40B4-BE49-F238E27FC236}">
                <a16:creationId xmlns:a16="http://schemas.microsoft.com/office/drawing/2014/main" id="{793A2BA1-6574-4801-8949-0A2EDCF121C0}"/>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455862" y="2057436"/>
            <a:ext cx="7415960" cy="188665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8687" name="圆角矩形 9">
            <a:extLst>
              <a:ext uri="{FF2B5EF4-FFF2-40B4-BE49-F238E27FC236}">
                <a16:creationId xmlns:a16="http://schemas.microsoft.com/office/drawing/2014/main" id="{AEAEC4CE-B2A3-4BE7-8A2D-946876AC6F8E}"/>
              </a:ext>
            </a:extLst>
          </p:cNvPr>
          <p:cNvSpPr>
            <a:spLocks noChangeArrowheads="1"/>
          </p:cNvSpPr>
          <p:nvPr/>
        </p:nvSpPr>
        <p:spPr bwMode="auto">
          <a:xfrm>
            <a:off x="1524120" y="1130569"/>
            <a:ext cx="2906713" cy="454905"/>
          </a:xfrm>
          <a:prstGeom prst="roundRect">
            <a:avLst>
              <a:gd name="adj" fmla="val 16667"/>
            </a:avLst>
          </a:prstGeom>
          <a:noFill/>
          <a:ln w="9525">
            <a:noFill/>
            <a:round/>
            <a:headEnd/>
            <a:tailEnd/>
          </a:ln>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marL="285750" indent="-285750">
              <a:buClr>
                <a:srgbClr val="558ED5"/>
              </a:buClr>
              <a:buSzPct val="80000"/>
              <a:buFont typeface="Wingdings" panose="05000000000000000000" pitchFamily="2" charset="2"/>
              <a:buChar char="l"/>
            </a:pPr>
            <a:r>
              <a:rPr lang="zh-CN" altLang="en-US" sz="1800" i="0" baseline="0" dirty="0">
                <a:latin typeface="微软雅黑" panose="020B0503020204020204" pitchFamily="34" charset="-122"/>
                <a:ea typeface="微软雅黑" panose="020B0503020204020204" pitchFamily="34" charset="-122"/>
              </a:rPr>
              <a:t>宽带宽的低通信道</a:t>
            </a:r>
          </a:p>
        </p:txBody>
      </p:sp>
      <p:sp>
        <p:nvSpPr>
          <p:cNvPr id="13" name="Rectangle 11">
            <a:extLst>
              <a:ext uri="{FF2B5EF4-FFF2-40B4-BE49-F238E27FC236}">
                <a16:creationId xmlns:a16="http://schemas.microsoft.com/office/drawing/2014/main" id="{274E6213-E294-4617-B594-0EE801520921}"/>
              </a:ext>
            </a:extLst>
          </p:cNvPr>
          <p:cNvSpPr>
            <a:spLocks noChangeArrowheads="1"/>
          </p:cNvSpPr>
          <p:nvPr/>
        </p:nvSpPr>
        <p:spPr bwMode="auto">
          <a:xfrm>
            <a:off x="1524120" y="4888015"/>
            <a:ext cx="9448552" cy="1116781"/>
          </a:xfrm>
          <a:prstGeom prst="rect">
            <a:avLst/>
          </a:prstGeom>
          <a:noFill/>
          <a:ln>
            <a:noFill/>
          </a:ln>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buFont typeface="Arial" panose="020B0604020202020204" pitchFamily="34" charset="0"/>
              <a:buNone/>
            </a:pPr>
            <a:r>
              <a:rPr lang="zh-CN" altLang="en-US" sz="1800" i="0" baseline="0" dirty="0">
                <a:solidFill>
                  <a:srgbClr val="FF0000"/>
                </a:solidFill>
                <a:latin typeface="微软雅黑" panose="020B0503020204020204" pitchFamily="34" charset="-122"/>
                <a:ea typeface="微软雅黑" panose="020B0503020204020204" pitchFamily="34" charset="-122"/>
              </a:rPr>
              <a:t>结论：</a:t>
            </a:r>
            <a:r>
              <a:rPr lang="zh-CN" altLang="en-US" sz="1800" i="0" baseline="0" dirty="0">
                <a:latin typeface="微软雅黑" panose="020B0503020204020204" pitchFamily="34" charset="-122"/>
                <a:ea typeface="微软雅黑" panose="020B0503020204020204" pitchFamily="34" charset="-122"/>
              </a:rPr>
              <a:t>只有存在无穷大或非常大带宽的低通通道，保持数字信号形状的数字信号基带传输才是可能的。</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13"/>
                                        </p:tgtEl>
                                        <p:attrNameLst>
                                          <p:attrName>style.visibility</p:attrName>
                                        </p:attrNameLst>
                                      </p:cBhvr>
                                      <p:to>
                                        <p:strVal val="visible"/>
                                      </p:to>
                                    </p:set>
                                    <p:animEffect transition="in" filter="wipe(up)">
                                      <p:cBhvr>
                                        <p:cTn id="7" dur="500"/>
                                        <p:tgtEl>
                                          <p:spTgt spid="13"/>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3" grpId="0"/>
    </p:bldLst>
  </p:timing>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0725" name="Text Box 4">
            <a:extLst>
              <a:ext uri="{FF2B5EF4-FFF2-40B4-BE49-F238E27FC236}">
                <a16:creationId xmlns:a16="http://schemas.microsoft.com/office/drawing/2014/main" id="{9E4E443D-67A4-42C3-B798-B99B5073A97A}"/>
              </a:ext>
            </a:extLst>
          </p:cNvPr>
          <p:cNvSpPr txBox="1">
            <a:spLocks noChangeArrowheads="1"/>
          </p:cNvSpPr>
          <p:nvPr/>
        </p:nvSpPr>
        <p:spPr bwMode="auto">
          <a:xfrm>
            <a:off x="4191051" y="6274640"/>
            <a:ext cx="42130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 3.21  </a:t>
            </a:r>
            <a:r>
              <a:rPr lang="zh-CN" altLang="en-US" sz="1600" i="0" baseline="0" dirty="0">
                <a:ea typeface="宋体" panose="02010600030101010101" pitchFamily="2" charset="-122"/>
              </a:rPr>
              <a:t>对数字信号使用第一谐波的大致近似</a:t>
            </a:r>
          </a:p>
        </p:txBody>
      </p:sp>
      <p:pic>
        <p:nvPicPr>
          <p:cNvPr id="30727" name="Picture 6">
            <a:extLst>
              <a:ext uri="{FF2B5EF4-FFF2-40B4-BE49-F238E27FC236}">
                <a16:creationId xmlns:a16="http://schemas.microsoft.com/office/drawing/2014/main" id="{964A2BD3-849E-4967-B787-5AC23015ED2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429070" y="1069728"/>
            <a:ext cx="6324434" cy="494566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0728" name="圆角矩形 9">
            <a:extLst>
              <a:ext uri="{FF2B5EF4-FFF2-40B4-BE49-F238E27FC236}">
                <a16:creationId xmlns:a16="http://schemas.microsoft.com/office/drawing/2014/main" id="{60AB39E4-DD61-4FB7-84BF-F1B7B821DCFC}"/>
              </a:ext>
            </a:extLst>
          </p:cNvPr>
          <p:cNvSpPr>
            <a:spLocks noChangeArrowheads="1"/>
          </p:cNvSpPr>
          <p:nvPr/>
        </p:nvSpPr>
        <p:spPr bwMode="auto">
          <a:xfrm>
            <a:off x="1371724" y="1616372"/>
            <a:ext cx="3408363" cy="489436"/>
          </a:xfrm>
          <a:prstGeom prst="roundRect">
            <a:avLst>
              <a:gd name="adj" fmla="val 16667"/>
            </a:avLst>
          </a:prstGeom>
          <a:noFill/>
          <a:ln w="9525">
            <a:noFill/>
            <a:round/>
            <a:headEnd/>
            <a:tailEnd/>
          </a:ln>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marL="285750" indent="-285750">
              <a:buClr>
                <a:srgbClr val="558ED5"/>
              </a:buClr>
              <a:buSzPct val="80000"/>
              <a:buFont typeface="Wingdings" panose="05000000000000000000" pitchFamily="2" charset="2"/>
              <a:buChar char="l"/>
            </a:pPr>
            <a:r>
              <a:rPr lang="zh-CN" altLang="en-US" sz="1800" i="0" baseline="0" dirty="0">
                <a:latin typeface="微软雅黑" panose="020B0503020204020204" pitchFamily="34" charset="-122"/>
                <a:ea typeface="微软雅黑" panose="020B0503020204020204" pitchFamily="34" charset="-122"/>
              </a:rPr>
              <a:t>有限宽带宽的低通信道</a:t>
            </a:r>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1749" name="Text Box 4">
            <a:extLst>
              <a:ext uri="{FF2B5EF4-FFF2-40B4-BE49-F238E27FC236}">
                <a16:creationId xmlns:a16="http://schemas.microsoft.com/office/drawing/2014/main" id="{95AB5922-0153-46C9-B921-0A77ACB3529D}"/>
              </a:ext>
            </a:extLst>
          </p:cNvPr>
          <p:cNvSpPr txBox="1">
            <a:spLocks noChangeArrowheads="1"/>
          </p:cNvSpPr>
          <p:nvPr/>
        </p:nvSpPr>
        <p:spPr bwMode="auto">
          <a:xfrm>
            <a:off x="4253791" y="5105356"/>
            <a:ext cx="379943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 3.22  </a:t>
            </a:r>
            <a:r>
              <a:rPr lang="zh-CN" altLang="en-US" sz="1600" i="0" baseline="0" dirty="0">
                <a:ea typeface="宋体" panose="02010600030101010101" pitchFamily="2" charset="-122"/>
              </a:rPr>
              <a:t>使用三个第一谐波模拟数字信号</a:t>
            </a:r>
          </a:p>
        </p:txBody>
      </p:sp>
      <p:pic>
        <p:nvPicPr>
          <p:cNvPr id="31751" name="Picture 6">
            <a:extLst>
              <a:ext uri="{FF2B5EF4-FFF2-40B4-BE49-F238E27FC236}">
                <a16:creationId xmlns:a16="http://schemas.microsoft.com/office/drawing/2014/main" id="{6957EF99-5432-4EA0-AB88-75EE03F11BD7}"/>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657665" y="1066863"/>
            <a:ext cx="4991693" cy="389171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 name="Rectangle 15">
            <a:extLst>
              <a:ext uri="{FF2B5EF4-FFF2-40B4-BE49-F238E27FC236}">
                <a16:creationId xmlns:a16="http://schemas.microsoft.com/office/drawing/2014/main" id="{03F51259-C06A-413D-A83F-3B36E4D72DE6}"/>
              </a:ext>
            </a:extLst>
          </p:cNvPr>
          <p:cNvSpPr>
            <a:spLocks noChangeArrowheads="1"/>
          </p:cNvSpPr>
          <p:nvPr/>
        </p:nvSpPr>
        <p:spPr bwMode="auto">
          <a:xfrm>
            <a:off x="1543531" y="5590688"/>
            <a:ext cx="9219958" cy="458908"/>
          </a:xfrm>
          <a:prstGeom prst="rect">
            <a:avLst/>
          </a:prstGeom>
          <a:noFill/>
          <a:ln>
            <a:noFill/>
          </a:ln>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15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在基带传输中，所需</a:t>
            </a:r>
            <a:r>
              <a:rPr lang="zh-CN" altLang="en-US" sz="1800" i="0" baseline="0" dirty="0">
                <a:solidFill>
                  <a:srgbClr val="FF0000"/>
                </a:solidFill>
                <a:latin typeface="微软雅黑" panose="020B0503020204020204" pitchFamily="34" charset="-122"/>
                <a:ea typeface="微软雅黑" panose="020B0503020204020204" pitchFamily="34" charset="-122"/>
              </a:rPr>
              <a:t>带宽与比特率成正比</a:t>
            </a:r>
            <a:r>
              <a:rPr lang="zh-CN" altLang="en-US" sz="1800" b="0" i="0" baseline="0" dirty="0">
                <a:latin typeface="微软雅黑" panose="020B0503020204020204" pitchFamily="34" charset="-122"/>
                <a:ea typeface="微软雅黑" panose="020B0503020204020204" pitchFamily="34" charset="-122"/>
              </a:rPr>
              <a:t>；如果需要更快地发送位，就需要更大的带宽。</a:t>
            </a:r>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32775" name="图片 8">
            <a:extLst>
              <a:ext uri="{FF2B5EF4-FFF2-40B4-BE49-F238E27FC236}">
                <a16:creationId xmlns:a16="http://schemas.microsoft.com/office/drawing/2014/main" id="{60B57B02-655A-4AB8-8898-9CA4CC88844C}"/>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147006" y="1097850"/>
            <a:ext cx="7897987" cy="502061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2773" name="Text Box 4">
            <a:extLst>
              <a:ext uri="{FF2B5EF4-FFF2-40B4-BE49-F238E27FC236}">
                <a16:creationId xmlns:a16="http://schemas.microsoft.com/office/drawing/2014/main" id="{E8055F99-A826-4D84-A553-7550EEE80F00}"/>
              </a:ext>
            </a:extLst>
          </p:cNvPr>
          <p:cNvSpPr txBox="1">
            <a:spLocks noChangeArrowheads="1"/>
          </p:cNvSpPr>
          <p:nvPr/>
        </p:nvSpPr>
        <p:spPr bwMode="auto">
          <a:xfrm>
            <a:off x="3200476" y="1049867"/>
            <a:ext cx="5493812" cy="369332"/>
          </a:xfrm>
          <a:prstGeom prst="rect">
            <a:avLst/>
          </a:prstGeom>
          <a:solidFill>
            <a:schemeClr val="bg1"/>
          </a:solidFill>
          <a:ln>
            <a:noFill/>
          </a:ln>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1800" i="0" baseline="0" dirty="0">
                <a:latin typeface="微软雅黑" panose="020B0503020204020204" pitchFamily="34" charset="-122"/>
                <a:ea typeface="微软雅黑" panose="020B0503020204020204" pitchFamily="34" charset="-122"/>
              </a:rPr>
              <a:t>数字信号是由基波加上谐波等若干模拟信号叠加而成</a:t>
            </a:r>
          </a:p>
        </p:txBody>
      </p:sp>
    </p:spTree>
    <p:extLst>
      <p:ext uri="{BB962C8B-B14F-4D97-AF65-F5344CB8AC3E}">
        <p14:creationId xmlns:p14="http://schemas.microsoft.com/office/powerpoint/2010/main" val="3322515196"/>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5845" name="Text Box 4">
            <a:extLst>
              <a:ext uri="{FF2B5EF4-FFF2-40B4-BE49-F238E27FC236}">
                <a16:creationId xmlns:a16="http://schemas.microsoft.com/office/drawing/2014/main" id="{C1F06887-1C2C-477E-A10E-105A1E6D89FC}"/>
              </a:ext>
            </a:extLst>
          </p:cNvPr>
          <p:cNvSpPr txBox="1">
            <a:spLocks noChangeArrowheads="1"/>
          </p:cNvSpPr>
          <p:nvPr/>
        </p:nvSpPr>
        <p:spPr bwMode="auto">
          <a:xfrm>
            <a:off x="4800634" y="5300188"/>
            <a:ext cx="2351926"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3.23  </a:t>
            </a:r>
            <a:r>
              <a:rPr lang="zh-CN" altLang="en-US" sz="1600" i="0" baseline="0" dirty="0">
                <a:ea typeface="宋体" panose="02010600030101010101" pitchFamily="2" charset="-122"/>
              </a:rPr>
              <a:t>带通通道的带宽</a:t>
            </a:r>
          </a:p>
        </p:txBody>
      </p:sp>
      <p:pic>
        <p:nvPicPr>
          <p:cNvPr id="35847" name="Picture 6">
            <a:extLst>
              <a:ext uri="{FF2B5EF4-FFF2-40B4-BE49-F238E27FC236}">
                <a16:creationId xmlns:a16="http://schemas.microsoft.com/office/drawing/2014/main" id="{BF419B4D-D893-465D-9445-161B9832C5A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566230" y="3244375"/>
            <a:ext cx="7211927" cy="168012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7" name="Rectangle 11">
            <a:extLst>
              <a:ext uri="{FF2B5EF4-FFF2-40B4-BE49-F238E27FC236}">
                <a16:creationId xmlns:a16="http://schemas.microsoft.com/office/drawing/2014/main" id="{13D7E653-C019-44E5-9DFB-FA788EEFF79E}"/>
              </a:ext>
            </a:extLst>
          </p:cNvPr>
          <p:cNvSpPr>
            <a:spLocks noChangeArrowheads="1"/>
          </p:cNvSpPr>
          <p:nvPr/>
        </p:nvSpPr>
        <p:spPr bwMode="auto">
          <a:xfrm>
            <a:off x="1638412" y="1017720"/>
            <a:ext cx="9067562" cy="1732334"/>
          </a:xfrm>
          <a:prstGeom prst="rect">
            <a:avLst/>
          </a:prstGeom>
          <a:noFill/>
          <a:ln>
            <a:noFill/>
          </a:ln>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marL="285750" indent="-285750">
              <a:lnSpc>
                <a:spcPct val="200000"/>
              </a:lnSpc>
              <a:buClr>
                <a:srgbClr val="FF0000"/>
              </a:buClr>
              <a:buSzPct val="80000"/>
              <a:buFont typeface="Wingdings" panose="05000000000000000000" pitchFamily="2" charset="2"/>
              <a:buChar char="u"/>
            </a:pPr>
            <a:r>
              <a:rPr lang="zh-CN" altLang="en-US" sz="2000" i="0" baseline="0" dirty="0">
                <a:latin typeface="微软雅黑" panose="020B0503020204020204" pitchFamily="34" charset="-122"/>
                <a:ea typeface="微软雅黑" panose="020B0503020204020204" pitchFamily="34" charset="-122"/>
              </a:rPr>
              <a:t>宽带传输</a:t>
            </a:r>
            <a:endParaRPr lang="en-US" altLang="zh-CN" sz="2000" i="0" baseline="0" dirty="0">
              <a:latin typeface="微软雅黑" panose="020B0503020204020204" pitchFamily="34" charset="-122"/>
              <a:ea typeface="微软雅黑" panose="020B0503020204020204" pitchFamily="34" charset="-122"/>
            </a:endParaRPr>
          </a:p>
          <a:p>
            <a:pPr marL="271463">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如果可用通道是带通通道，不能直接发送数字信号到通道，需要在传输前把数字信号转换成模拟信号。</a:t>
            </a:r>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37893" name="Text Box 4">
            <a:extLst>
              <a:ext uri="{FF2B5EF4-FFF2-40B4-BE49-F238E27FC236}">
                <a16:creationId xmlns:a16="http://schemas.microsoft.com/office/drawing/2014/main" id="{F606AD30-7667-4365-B862-EC74D9880E9B}"/>
              </a:ext>
            </a:extLst>
          </p:cNvPr>
          <p:cNvSpPr txBox="1">
            <a:spLocks noChangeArrowheads="1"/>
          </p:cNvSpPr>
          <p:nvPr/>
        </p:nvSpPr>
        <p:spPr bwMode="auto">
          <a:xfrm>
            <a:off x="3810061" y="5714940"/>
            <a:ext cx="4213013"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r>
              <a:rPr lang="zh-CN" altLang="en-US" sz="1600" i="0" baseline="0" dirty="0">
                <a:solidFill>
                  <a:schemeClr val="folHlink"/>
                </a:solidFill>
                <a:ea typeface="宋体" panose="02010600030101010101" pitchFamily="2" charset="-122"/>
              </a:rPr>
              <a:t>图 3.24  </a:t>
            </a:r>
            <a:r>
              <a:rPr lang="zh-CN" altLang="en-US" sz="1600" i="0" baseline="0" dirty="0">
                <a:ea typeface="宋体" panose="02010600030101010101" pitchFamily="2" charset="-122"/>
              </a:rPr>
              <a:t>数字信号在带通通道传输的调制过程</a:t>
            </a:r>
          </a:p>
        </p:txBody>
      </p:sp>
      <p:pic>
        <p:nvPicPr>
          <p:cNvPr id="37895" name="Picture 6">
            <a:extLst>
              <a:ext uri="{FF2B5EF4-FFF2-40B4-BE49-F238E27FC236}">
                <a16:creationId xmlns:a16="http://schemas.microsoft.com/office/drawing/2014/main" id="{D1A44BF7-32BC-4D74-AD07-2D54C2917BC5}"/>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372180" y="1676447"/>
            <a:ext cx="7447641" cy="369658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D0EA0918-63F2-4305-8616-006AA6FDA042}"/>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79875" name="Text Box 3">
            <a:extLst>
              <a:ext uri="{FF2B5EF4-FFF2-40B4-BE49-F238E27FC236}">
                <a16:creationId xmlns:a16="http://schemas.microsoft.com/office/drawing/2014/main" id="{6B5F8E69-BD0B-4E87-8C04-7A8FF5A8951C}"/>
              </a:ext>
            </a:extLst>
          </p:cNvPr>
          <p:cNvSpPr txBox="1">
            <a:spLocks noChangeArrowheads="1"/>
          </p:cNvSpPr>
          <p:nvPr/>
        </p:nvSpPr>
        <p:spPr bwMode="auto">
          <a:xfrm>
            <a:off x="507106" y="276004"/>
            <a:ext cx="2815194" cy="584775"/>
          </a:xfrm>
          <a:prstGeom prst="rect">
            <a:avLst/>
          </a:prstGeom>
          <a:noFill/>
          <a:ln>
            <a:noFill/>
          </a:ln>
          <a:effectLst/>
        </p:spPr>
        <p:txBody>
          <a:bodyPr wrap="none">
            <a:spAutoFit/>
          </a:bodyPr>
          <a:lstStyle/>
          <a:p>
            <a:pPr>
              <a:buFont typeface="Arial" panose="020B0604020202020204" pitchFamily="34" charset="0"/>
              <a:buNone/>
              <a:defRPr/>
            </a:pPr>
            <a:r>
              <a:rPr lang="zh-CN" altLang="en-US" sz="3200" i="0" baseline="0" dirty="0">
                <a:latin typeface="微软雅黑" panose="020B0503020204020204" pitchFamily="34" charset="-122"/>
                <a:ea typeface="微软雅黑" panose="020B0503020204020204" pitchFamily="34" charset="-122"/>
              </a:rPr>
              <a:t>3</a:t>
            </a:r>
            <a:r>
              <a:rPr lang="en-US" altLang="zh-CN" sz="3200" i="0" baseline="0" dirty="0">
                <a:latin typeface="微软雅黑" panose="020B0503020204020204" pitchFamily="34" charset="-122"/>
                <a:ea typeface="微软雅黑" panose="020B0503020204020204" pitchFamily="34" charset="-122"/>
              </a:rPr>
              <a:t>.3</a:t>
            </a:r>
            <a:r>
              <a:rPr lang="zh-CN" altLang="en-US" sz="3200" i="0" baseline="0" dirty="0">
                <a:latin typeface="微软雅黑" panose="020B0503020204020204" pitchFamily="34" charset="-122"/>
                <a:ea typeface="微软雅黑" panose="020B0503020204020204" pitchFamily="34" charset="-122"/>
              </a:rPr>
              <a:t>   传输减损</a:t>
            </a:r>
          </a:p>
        </p:txBody>
      </p:sp>
      <p:sp>
        <p:nvSpPr>
          <p:cNvPr id="38917" name="Text Box 4">
            <a:extLst>
              <a:ext uri="{FF2B5EF4-FFF2-40B4-BE49-F238E27FC236}">
                <a16:creationId xmlns:a16="http://schemas.microsoft.com/office/drawing/2014/main" id="{A3A5E78E-733A-4997-BC05-DE65F7BC6F5F}"/>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38918" name="Rectangle 5">
            <a:extLst>
              <a:ext uri="{FF2B5EF4-FFF2-40B4-BE49-F238E27FC236}">
                <a16:creationId xmlns:a16="http://schemas.microsoft.com/office/drawing/2014/main" id="{6A2EE6C7-7FEA-4118-B790-E41CBED5C5AB}"/>
              </a:ext>
            </a:extLst>
          </p:cNvPr>
          <p:cNvSpPr>
            <a:spLocks noChangeArrowheads="1"/>
          </p:cNvSpPr>
          <p:nvPr/>
        </p:nvSpPr>
        <p:spPr bwMode="auto">
          <a:xfrm>
            <a:off x="1105031" y="1504637"/>
            <a:ext cx="9981938"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信号通过介质进行传输，其传输并不是完美无缺的，传输过程中存在信号减损，即信号在介质的开始端和结束端是不相同的。常见的传输减损有三种：衰减、失真和噪声。</a:t>
            </a:r>
          </a:p>
        </p:txBody>
      </p:sp>
      <p:sp>
        <p:nvSpPr>
          <p:cNvPr id="8" name="Text Box 4">
            <a:extLst>
              <a:ext uri="{FF2B5EF4-FFF2-40B4-BE49-F238E27FC236}">
                <a16:creationId xmlns:a16="http://schemas.microsoft.com/office/drawing/2014/main" id="{BE7D5A43-8348-4F6A-BBDD-D82A15D77A00}"/>
              </a:ext>
            </a:extLst>
          </p:cNvPr>
          <p:cNvSpPr txBox="1">
            <a:spLocks noChangeArrowheads="1"/>
          </p:cNvSpPr>
          <p:nvPr/>
        </p:nvSpPr>
        <p:spPr bwMode="auto">
          <a:xfrm>
            <a:off x="5126825" y="5457047"/>
            <a:ext cx="1938351"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3.25  </a:t>
            </a:r>
            <a:r>
              <a:rPr lang="zh-CN" altLang="en-US" sz="1600" i="0" baseline="0" dirty="0">
                <a:ea typeface="宋体" panose="02010600030101010101" pitchFamily="2" charset="-122"/>
              </a:rPr>
              <a:t>减损的原因</a:t>
            </a:r>
          </a:p>
        </p:txBody>
      </p:sp>
      <p:pic>
        <p:nvPicPr>
          <p:cNvPr id="9" name="Picture 6">
            <a:extLst>
              <a:ext uri="{FF2B5EF4-FFF2-40B4-BE49-F238E27FC236}">
                <a16:creationId xmlns:a16="http://schemas.microsoft.com/office/drawing/2014/main" id="{AD361596-5424-441D-854E-94C0A6CB491A}"/>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322300" y="3203234"/>
            <a:ext cx="5579250" cy="1762599"/>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0965" name="Text Box 4">
            <a:extLst>
              <a:ext uri="{FF2B5EF4-FFF2-40B4-BE49-F238E27FC236}">
                <a16:creationId xmlns:a16="http://schemas.microsoft.com/office/drawing/2014/main" id="{C7893E38-6A1D-4F51-9540-B6EF94A25E0F}"/>
              </a:ext>
            </a:extLst>
          </p:cNvPr>
          <p:cNvSpPr txBox="1">
            <a:spLocks noChangeArrowheads="1"/>
          </p:cNvSpPr>
          <p:nvPr/>
        </p:nvSpPr>
        <p:spPr bwMode="auto">
          <a:xfrm>
            <a:off x="5437005" y="4178248"/>
            <a:ext cx="13179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3.26  </a:t>
            </a:r>
            <a:r>
              <a:rPr lang="zh-CN" altLang="en-US" sz="1600" i="0" baseline="0" dirty="0">
                <a:ea typeface="宋体" panose="02010600030101010101" pitchFamily="2" charset="-122"/>
              </a:rPr>
              <a:t>衰减</a:t>
            </a:r>
          </a:p>
        </p:txBody>
      </p:sp>
      <p:pic>
        <p:nvPicPr>
          <p:cNvPr id="40967" name="Picture 6">
            <a:extLst>
              <a:ext uri="{FF2B5EF4-FFF2-40B4-BE49-F238E27FC236}">
                <a16:creationId xmlns:a16="http://schemas.microsoft.com/office/drawing/2014/main" id="{EC92E845-45A9-463B-8C62-9B101889D69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895634" y="1491824"/>
            <a:ext cx="6400732" cy="2430246"/>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1E840123-B215-4F45-B384-2AAC146991A8}"/>
              </a:ext>
            </a:extLst>
          </p:cNvPr>
          <p:cNvSpPr/>
          <p:nvPr/>
        </p:nvSpPr>
        <p:spPr>
          <a:xfrm>
            <a:off x="2776861" y="5029158"/>
            <a:ext cx="7171169" cy="458908"/>
          </a:xfrm>
          <a:prstGeom prst="rect">
            <a:avLst/>
          </a:prstGeom>
        </p:spPr>
        <p:txBody>
          <a:bodyPr wrap="square">
            <a:spAutoFit/>
          </a:bodyPr>
          <a:lstStyle/>
          <a:p>
            <a:pPr>
              <a:lnSpc>
                <a:spcPct val="15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衰减意味着能量损失，通常使用分贝来表示： </a:t>
            </a:r>
            <a:r>
              <a:rPr lang="en-US" altLang="zh-CN" sz="1800" b="0" i="0" baseline="0" dirty="0">
                <a:latin typeface="微软雅黑" panose="020B0503020204020204" pitchFamily="34" charset="-122"/>
                <a:ea typeface="微软雅黑" panose="020B0503020204020204" pitchFamily="34" charset="-122"/>
              </a:rPr>
              <a:t>dB = 10log</a:t>
            </a:r>
            <a:r>
              <a:rPr lang="en-US" altLang="zh-CN" sz="1800" b="0" i="0" baseline="-25000" dirty="0">
                <a:latin typeface="微软雅黑" panose="020B0503020204020204" pitchFamily="34" charset="-122"/>
                <a:ea typeface="微软雅黑" panose="020B0503020204020204" pitchFamily="34" charset="-122"/>
              </a:rPr>
              <a:t>10 </a:t>
            </a:r>
            <a:r>
              <a:rPr lang="en-US" altLang="zh-CN" sz="1800" b="0" i="0" baseline="0" dirty="0">
                <a:latin typeface="微软雅黑" panose="020B0503020204020204" pitchFamily="34" charset="-122"/>
                <a:ea typeface="微软雅黑" panose="020B0503020204020204" pitchFamily="34" charset="-122"/>
              </a:rPr>
              <a:t>P</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/P</a:t>
            </a:r>
            <a:r>
              <a:rPr lang="en-US" altLang="zh-CN" sz="1800" b="0" i="0" baseline="-25000" dirty="0">
                <a:latin typeface="微软雅黑" panose="020B0503020204020204" pitchFamily="34" charset="-122"/>
                <a:ea typeface="微软雅黑" panose="020B0503020204020204" pitchFamily="34" charset="-122"/>
              </a:rPr>
              <a:t>1</a:t>
            </a:r>
            <a:endParaRPr lang="zh-CN" altLang="en-US" sz="1800" b="0" dirty="0">
              <a:latin typeface="微软雅黑" panose="020B0503020204020204" pitchFamily="34" charset="-122"/>
              <a:ea typeface="微软雅黑" panose="020B0503020204020204" pitchFamily="34" charset="-122"/>
            </a:endParaRPr>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4037" name="Text Box 4">
            <a:extLst>
              <a:ext uri="{FF2B5EF4-FFF2-40B4-BE49-F238E27FC236}">
                <a16:creationId xmlns:a16="http://schemas.microsoft.com/office/drawing/2014/main" id="{AB2E777C-240F-4F56-B0F8-1DD967C25101}"/>
              </a:ext>
            </a:extLst>
          </p:cNvPr>
          <p:cNvSpPr txBox="1">
            <a:spLocks noChangeArrowheads="1"/>
          </p:cNvSpPr>
          <p:nvPr/>
        </p:nvSpPr>
        <p:spPr bwMode="auto">
          <a:xfrm>
            <a:off x="5398906" y="4223959"/>
            <a:ext cx="13179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3.28  </a:t>
            </a:r>
            <a:r>
              <a:rPr lang="zh-CN" altLang="en-US" sz="1600" i="0" baseline="0" dirty="0">
                <a:ea typeface="宋体" panose="02010600030101010101" pitchFamily="2" charset="-122"/>
              </a:rPr>
              <a:t>失真</a:t>
            </a:r>
          </a:p>
        </p:txBody>
      </p:sp>
      <p:pic>
        <p:nvPicPr>
          <p:cNvPr id="44039" name="Picture 6">
            <a:extLst>
              <a:ext uri="{FF2B5EF4-FFF2-40B4-BE49-F238E27FC236}">
                <a16:creationId xmlns:a16="http://schemas.microsoft.com/office/drawing/2014/main" id="{9F532B74-7402-4D9C-AC96-0D4FAF269BDB}"/>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40842" y="1354017"/>
            <a:ext cx="6910316" cy="266804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2" name="矩形 1">
            <a:extLst>
              <a:ext uri="{FF2B5EF4-FFF2-40B4-BE49-F238E27FC236}">
                <a16:creationId xmlns:a16="http://schemas.microsoft.com/office/drawing/2014/main" id="{E2824245-49BC-471E-96BA-4CD155B8A211}"/>
              </a:ext>
            </a:extLst>
          </p:cNvPr>
          <p:cNvSpPr/>
          <p:nvPr/>
        </p:nvSpPr>
        <p:spPr>
          <a:xfrm>
            <a:off x="2640842" y="5106388"/>
            <a:ext cx="7543602" cy="369332"/>
          </a:xfrm>
          <a:prstGeom prst="rect">
            <a:avLst/>
          </a:prstGeom>
        </p:spPr>
        <p:txBody>
          <a:bodyPr wrap="square">
            <a:spAutoFit/>
          </a:bodyPr>
          <a:lstStyle/>
          <a:p>
            <a:pPr>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失真意味着信号改变了形状或形态，通常也使用分贝来表示。</a:t>
            </a:r>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5061" name="Text Box 4">
            <a:extLst>
              <a:ext uri="{FF2B5EF4-FFF2-40B4-BE49-F238E27FC236}">
                <a16:creationId xmlns:a16="http://schemas.microsoft.com/office/drawing/2014/main" id="{8B3B3287-453E-44BB-9C6F-B897DDACE4ED}"/>
              </a:ext>
            </a:extLst>
          </p:cNvPr>
          <p:cNvSpPr txBox="1">
            <a:spLocks noChangeArrowheads="1"/>
          </p:cNvSpPr>
          <p:nvPr/>
        </p:nvSpPr>
        <p:spPr bwMode="auto">
          <a:xfrm>
            <a:off x="5334020" y="3924764"/>
            <a:ext cx="1317990"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3.29  </a:t>
            </a:r>
            <a:r>
              <a:rPr lang="zh-CN" altLang="en-US" sz="1600" i="0" baseline="0" dirty="0">
                <a:ea typeface="宋体" panose="02010600030101010101" pitchFamily="2" charset="-122"/>
              </a:rPr>
              <a:t>噪声</a:t>
            </a:r>
          </a:p>
        </p:txBody>
      </p:sp>
      <p:pic>
        <p:nvPicPr>
          <p:cNvPr id="45063" name="Picture 6">
            <a:extLst>
              <a:ext uri="{FF2B5EF4-FFF2-40B4-BE49-F238E27FC236}">
                <a16:creationId xmlns:a16="http://schemas.microsoft.com/office/drawing/2014/main" id="{3C274A1C-1558-4BDA-8868-02A2AEA48671}"/>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639104" y="1219259"/>
            <a:ext cx="6913793" cy="2490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482479D9-E99E-470F-913C-2E399B67C0B7}"/>
              </a:ext>
            </a:extLst>
          </p:cNvPr>
          <p:cNvSpPr/>
          <p:nvPr/>
        </p:nvSpPr>
        <p:spPr>
          <a:xfrm>
            <a:off x="1828952" y="4419574"/>
            <a:ext cx="8686532" cy="1722074"/>
          </a:xfrm>
          <a:prstGeom prst="rect">
            <a:avLst/>
          </a:prstGeom>
        </p:spPr>
        <p:txBody>
          <a:bodyPr wrap="square">
            <a:spAutoFit/>
          </a:bodyPr>
          <a:lstStyle/>
          <a:p>
            <a:pPr algn="just">
              <a:lnSpc>
                <a:spcPct val="200000"/>
              </a:lnSpc>
              <a:buFont typeface="Arial" panose="020B0604020202020204" pitchFamily="34" charset="0"/>
              <a:buNone/>
              <a:defRPr/>
            </a:pPr>
            <a:r>
              <a:rPr lang="zh-CN" altLang="en-US" sz="1800" b="0" i="0" baseline="0" dirty="0">
                <a:latin typeface="微软雅黑" panose="020B0503020204020204" pitchFamily="34" charset="-122"/>
                <a:ea typeface="微软雅黑" panose="020B0503020204020204" pitchFamily="34" charset="-122"/>
              </a:rPr>
              <a:t>噪声有热噪声、感应噪声、串扰和脉冲噪声，常用信噪比来衡量：</a:t>
            </a:r>
            <a:endParaRPr lang="en-US" altLang="zh-CN" sz="1800" b="0" i="0" baseline="0" dirty="0">
              <a:latin typeface="微软雅黑" panose="020B0503020204020204" pitchFamily="34" charset="-122"/>
              <a:ea typeface="微软雅黑" panose="020B0503020204020204" pitchFamily="34" charset="-122"/>
            </a:endParaRPr>
          </a:p>
          <a:p>
            <a:pPr algn="ctr">
              <a:lnSpc>
                <a:spcPct val="200000"/>
              </a:lnSpc>
              <a:buFont typeface="Arial" panose="020B0604020202020204" pitchFamily="34" charset="0"/>
              <a:buNone/>
              <a:defRPr/>
            </a:pPr>
            <a:r>
              <a:rPr lang="zh-CN" altLang="en-US" sz="1800" i="0" baseline="0" dirty="0">
                <a:latin typeface="微软雅黑" panose="020B0503020204020204" pitchFamily="34" charset="-122"/>
                <a:ea typeface="微软雅黑" panose="020B0503020204020204" pitchFamily="34" charset="-122"/>
              </a:rPr>
              <a:t>信噪比 </a:t>
            </a:r>
            <a:r>
              <a:rPr lang="en-US" altLang="zh-CN" sz="1800" i="0" baseline="0" dirty="0">
                <a:latin typeface="微软雅黑" panose="020B0503020204020204" pitchFamily="34" charset="-122"/>
                <a:ea typeface="微软雅黑" panose="020B0503020204020204" pitchFamily="34" charset="-122"/>
              </a:rPr>
              <a:t>= </a:t>
            </a:r>
            <a:r>
              <a:rPr lang="zh-CN" altLang="en-US" sz="1800" i="0" baseline="0" dirty="0">
                <a:latin typeface="微软雅黑" panose="020B0503020204020204" pitchFamily="34" charset="-122"/>
                <a:ea typeface="微软雅黑" panose="020B0503020204020204" pitchFamily="34" charset="-122"/>
              </a:rPr>
              <a:t>平均信号功率 </a:t>
            </a:r>
            <a:r>
              <a:rPr lang="en-US" altLang="zh-CN" sz="1800" i="0" baseline="0" dirty="0">
                <a:latin typeface="微软雅黑" panose="020B0503020204020204" pitchFamily="34" charset="-122"/>
                <a:ea typeface="微软雅黑" panose="020B0503020204020204" pitchFamily="34" charset="-122"/>
              </a:rPr>
              <a:t>/ </a:t>
            </a:r>
            <a:r>
              <a:rPr lang="zh-CN" altLang="en-US" sz="1800" i="0" baseline="0" dirty="0">
                <a:latin typeface="微软雅黑" panose="020B0503020204020204" pitchFamily="34" charset="-122"/>
                <a:ea typeface="微软雅黑" panose="020B0503020204020204" pitchFamily="34" charset="-122"/>
              </a:rPr>
              <a:t>平均噪声功率</a:t>
            </a:r>
            <a:endParaRPr lang="en-US" altLang="zh-CN" sz="1800" i="0" baseline="0" dirty="0">
              <a:latin typeface="微软雅黑" panose="020B0503020204020204" pitchFamily="34" charset="-122"/>
              <a:ea typeface="微软雅黑" panose="020B0503020204020204" pitchFamily="34" charset="-122"/>
            </a:endParaRP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在实际中，信噪比通常以分贝（</a:t>
            </a:r>
            <a:r>
              <a:rPr lang="en-US" altLang="zh-CN" sz="1800" b="0" i="0" baseline="0" dirty="0">
                <a:latin typeface="微软雅黑" panose="020B0503020204020204" pitchFamily="34" charset="-122"/>
                <a:ea typeface="微软雅黑" panose="020B0503020204020204" pitchFamily="34" charset="-122"/>
              </a:rPr>
              <a:t>dB</a:t>
            </a:r>
            <a:r>
              <a:rPr lang="zh-CN" altLang="en-US" sz="1800" b="0" i="0" baseline="0" dirty="0">
                <a:latin typeface="微软雅黑" panose="020B0503020204020204" pitchFamily="34" charset="-122"/>
                <a:ea typeface="微软雅黑" panose="020B0503020204020204" pitchFamily="34" charset="-122"/>
              </a:rPr>
              <a:t>）为单位来表示：</a:t>
            </a:r>
            <a:r>
              <a:rPr lang="pt-BR" altLang="zh-CN" sz="2000" i="0" baseline="0" dirty="0">
                <a:solidFill>
                  <a:srgbClr val="FF0000"/>
                </a:solidFill>
              </a:rPr>
              <a:t>SNR(dB) = 10·log₁₀(S/N)</a:t>
            </a:r>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7109" name="Text Box 4">
            <a:extLst>
              <a:ext uri="{FF2B5EF4-FFF2-40B4-BE49-F238E27FC236}">
                <a16:creationId xmlns:a16="http://schemas.microsoft.com/office/drawing/2014/main" id="{D2B6504F-C9A7-4D5D-94BD-8A9C2F487824}"/>
              </a:ext>
            </a:extLst>
          </p:cNvPr>
          <p:cNvSpPr txBox="1">
            <a:spLocks noChangeArrowheads="1"/>
          </p:cNvSpPr>
          <p:nvPr/>
        </p:nvSpPr>
        <p:spPr bwMode="auto">
          <a:xfrm>
            <a:off x="4092086" y="5562544"/>
            <a:ext cx="4007828" cy="33855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600" i="0" baseline="0" dirty="0">
                <a:solidFill>
                  <a:schemeClr val="folHlink"/>
                </a:solidFill>
                <a:ea typeface="宋体" panose="02010600030101010101" pitchFamily="2" charset="-122"/>
              </a:rPr>
              <a:t>图 3.30  </a:t>
            </a:r>
            <a:r>
              <a:rPr lang="zh-CN" altLang="en-US" sz="1600" i="0" baseline="0" dirty="0">
                <a:ea typeface="宋体" panose="02010600030101010101" pitchFamily="2" charset="-122"/>
              </a:rPr>
              <a:t>SNR的两种情形: 高 SNR和低 SNR</a:t>
            </a:r>
          </a:p>
        </p:txBody>
      </p:sp>
      <p:pic>
        <p:nvPicPr>
          <p:cNvPr id="47111" name="Picture 6">
            <a:extLst>
              <a:ext uri="{FF2B5EF4-FFF2-40B4-BE49-F238E27FC236}">
                <a16:creationId xmlns:a16="http://schemas.microsoft.com/office/drawing/2014/main" id="{35FB8269-4016-4E96-A79A-B62BFA9FE3A3}"/>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2781387" y="1371654"/>
            <a:ext cx="6629226" cy="38146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5F796875-BD24-4047-B0AB-089AFAC8F251}"/>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94211" name="Text Box 3">
            <a:extLst>
              <a:ext uri="{FF2B5EF4-FFF2-40B4-BE49-F238E27FC236}">
                <a16:creationId xmlns:a16="http://schemas.microsoft.com/office/drawing/2014/main" id="{CB31F7BE-BF85-4AA5-8FE3-291537BD3919}"/>
              </a:ext>
            </a:extLst>
          </p:cNvPr>
          <p:cNvSpPr txBox="1">
            <a:spLocks noChangeArrowheads="1"/>
          </p:cNvSpPr>
          <p:nvPr/>
        </p:nvSpPr>
        <p:spPr bwMode="auto">
          <a:xfrm>
            <a:off x="457348" y="259828"/>
            <a:ext cx="3635932" cy="584775"/>
          </a:xfrm>
          <a:prstGeom prst="rect">
            <a:avLst/>
          </a:prstGeom>
          <a:noFill/>
          <a:ln>
            <a:noFill/>
          </a:ln>
          <a:effectLst/>
        </p:spPr>
        <p:txBody>
          <a:bodyPr wrap="none">
            <a:spAutoFit/>
          </a:bodyPr>
          <a:lstStyle/>
          <a:p>
            <a:pPr>
              <a:buFont typeface="Arial" panose="020B0604020202020204" pitchFamily="34" charset="0"/>
              <a:buNone/>
              <a:defRPr/>
            </a:pPr>
            <a:r>
              <a:rPr lang="zh-CN" altLang="en-US" sz="3200" i="0" baseline="0" dirty="0">
                <a:latin typeface="微软雅黑" panose="020B0503020204020204" pitchFamily="34" charset="-122"/>
                <a:ea typeface="微软雅黑" panose="020B0503020204020204" pitchFamily="34" charset="-122"/>
              </a:rPr>
              <a:t>3</a:t>
            </a:r>
            <a:r>
              <a:rPr lang="en-US" altLang="zh-CN" sz="3200" i="0" baseline="0" dirty="0">
                <a:latin typeface="微软雅黑" panose="020B0503020204020204" pitchFamily="34" charset="-122"/>
                <a:ea typeface="微软雅黑" panose="020B0503020204020204" pitchFamily="34" charset="-122"/>
              </a:rPr>
              <a:t>.4</a:t>
            </a:r>
            <a:r>
              <a:rPr lang="zh-CN" altLang="en-US" sz="3200" i="0" baseline="0" dirty="0">
                <a:latin typeface="微软雅黑" panose="020B0503020204020204" pitchFamily="34" charset="-122"/>
                <a:ea typeface="微软雅黑" panose="020B0503020204020204" pitchFamily="34" charset="-122"/>
              </a:rPr>
              <a:t>   数据速率限制</a:t>
            </a:r>
          </a:p>
        </p:txBody>
      </p:sp>
      <p:sp>
        <p:nvSpPr>
          <p:cNvPr id="48133" name="Text Box 4">
            <a:extLst>
              <a:ext uri="{FF2B5EF4-FFF2-40B4-BE49-F238E27FC236}">
                <a16:creationId xmlns:a16="http://schemas.microsoft.com/office/drawing/2014/main" id="{9C89B9BA-8AAE-4BD6-A665-4BCB793E6E88}"/>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48134" name="Rectangle 5">
            <a:extLst>
              <a:ext uri="{FF2B5EF4-FFF2-40B4-BE49-F238E27FC236}">
                <a16:creationId xmlns:a16="http://schemas.microsoft.com/office/drawing/2014/main" id="{4F5F93F5-841D-438C-8067-B5E32F24EAFF}"/>
              </a:ext>
            </a:extLst>
          </p:cNvPr>
          <p:cNvSpPr>
            <a:spLocks noChangeArrowheads="1"/>
          </p:cNvSpPr>
          <p:nvPr/>
        </p:nvSpPr>
        <p:spPr bwMode="auto">
          <a:xfrm>
            <a:off x="1981308" y="1806834"/>
            <a:ext cx="7429412" cy="3038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250000"/>
              </a:lnSpc>
              <a:buFont typeface="Arial" panose="020B0604020202020204" pitchFamily="34" charset="0"/>
              <a:buNone/>
            </a:pPr>
            <a:r>
              <a:rPr lang="zh-CN" altLang="en-US" sz="2000" b="0" i="0" baseline="0" dirty="0">
                <a:latin typeface="微软雅黑" panose="020B0503020204020204" pitchFamily="34" charset="-122"/>
                <a:ea typeface="微软雅黑" panose="020B0503020204020204" pitchFamily="34" charset="-122"/>
              </a:rPr>
              <a:t>数据速率是数据通信中的一个重要参数，它取决于三个因素：</a:t>
            </a:r>
          </a:p>
          <a:p>
            <a:pPr marL="631825" indent="-360363" algn="just" eaLnBrk="1" hangingPunct="1">
              <a:lnSpc>
                <a:spcPct val="250000"/>
              </a:lnSpc>
              <a:buClr>
                <a:srgbClr val="FF0000"/>
              </a:buClr>
              <a:buSzPct val="80000"/>
              <a:buFont typeface="Wingdings" panose="05000000000000000000" pitchFamily="2" charset="2"/>
              <a:buChar char="u"/>
            </a:pPr>
            <a:r>
              <a:rPr lang="zh-CN" altLang="en-US" sz="2000" b="0" i="0" baseline="0" dirty="0">
                <a:latin typeface="微软雅黑" panose="020B0503020204020204" pitchFamily="34" charset="-122"/>
                <a:ea typeface="微软雅黑" panose="020B0503020204020204" pitchFamily="34" charset="-122"/>
              </a:rPr>
              <a:t>有效带宽</a:t>
            </a:r>
          </a:p>
          <a:p>
            <a:pPr marL="631825" indent="-360363" algn="just" eaLnBrk="1" hangingPunct="1">
              <a:lnSpc>
                <a:spcPct val="250000"/>
              </a:lnSpc>
              <a:buClr>
                <a:srgbClr val="FF0000"/>
              </a:buClr>
              <a:buSzPct val="80000"/>
              <a:buFont typeface="Wingdings" panose="05000000000000000000" pitchFamily="2" charset="2"/>
              <a:buChar char="u"/>
            </a:pPr>
            <a:r>
              <a:rPr lang="zh-CN" altLang="en-US" sz="2000" b="0" i="0" baseline="0" dirty="0">
                <a:latin typeface="微软雅黑" panose="020B0503020204020204" pitchFamily="34" charset="-122"/>
                <a:ea typeface="微软雅黑" panose="020B0503020204020204" pitchFamily="34" charset="-122"/>
              </a:rPr>
              <a:t>使用的信号电平数</a:t>
            </a:r>
          </a:p>
          <a:p>
            <a:pPr marL="631825" indent="-360363" algn="just" eaLnBrk="1" hangingPunct="1">
              <a:lnSpc>
                <a:spcPct val="250000"/>
              </a:lnSpc>
              <a:buClr>
                <a:srgbClr val="FF0000"/>
              </a:buClr>
              <a:buSzPct val="80000"/>
              <a:buFont typeface="Wingdings" panose="05000000000000000000" pitchFamily="2" charset="2"/>
              <a:buChar char="u"/>
            </a:pPr>
            <a:r>
              <a:rPr lang="zh-CN" altLang="en-US" sz="2000" b="0" i="0" baseline="0" dirty="0">
                <a:latin typeface="微软雅黑" panose="020B0503020204020204" pitchFamily="34" charset="-122"/>
                <a:ea typeface="微软雅黑" panose="020B0503020204020204" pitchFamily="34" charset="-122"/>
              </a:rPr>
              <a:t>通道的质量（噪声电平）</a:t>
            </a:r>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9161" name="Rectangle 10">
            <a:extLst>
              <a:ext uri="{FF2B5EF4-FFF2-40B4-BE49-F238E27FC236}">
                <a16:creationId xmlns:a16="http://schemas.microsoft.com/office/drawing/2014/main" id="{7FC7797D-B1DD-4189-845D-2A9DE000ECED}"/>
              </a:ext>
            </a:extLst>
          </p:cNvPr>
          <p:cNvSpPr>
            <a:spLocks noChangeArrowheads="1"/>
          </p:cNvSpPr>
          <p:nvPr/>
        </p:nvSpPr>
        <p:spPr bwMode="auto">
          <a:xfrm>
            <a:off x="1676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49166" name="矩形 1">
            <a:extLst>
              <a:ext uri="{FF2B5EF4-FFF2-40B4-BE49-F238E27FC236}">
                <a16:creationId xmlns:a16="http://schemas.microsoft.com/office/drawing/2014/main" id="{E9F45ED1-B341-4209-AD57-D85EAA86659B}"/>
              </a:ext>
            </a:extLst>
          </p:cNvPr>
          <p:cNvSpPr>
            <a:spLocks noChangeArrowheads="1"/>
          </p:cNvSpPr>
          <p:nvPr/>
        </p:nvSpPr>
        <p:spPr bwMode="auto">
          <a:xfrm>
            <a:off x="2251076" y="1460501"/>
            <a:ext cx="7807325" cy="1069975"/>
          </a:xfrm>
          <a:prstGeom prst="rect">
            <a:avLst/>
          </a:prstGeom>
          <a:solidFill>
            <a:schemeClr val="bg1"/>
          </a:solidFill>
          <a:ln w="9525">
            <a:noFill/>
            <a:round/>
            <a:headEnd/>
            <a:tailEnd/>
          </a:ln>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sz="2000" dirty="0">
              <a:ea typeface="宋体" panose="02010600030101010101" pitchFamily="2" charset="-122"/>
            </a:endParaRPr>
          </a:p>
        </p:txBody>
      </p:sp>
      <p:sp>
        <p:nvSpPr>
          <p:cNvPr id="49167" name="矩形 1">
            <a:extLst>
              <a:ext uri="{FF2B5EF4-FFF2-40B4-BE49-F238E27FC236}">
                <a16:creationId xmlns:a16="http://schemas.microsoft.com/office/drawing/2014/main" id="{2CE3265F-C7B0-41C5-9F2B-F43881DCA3B2}"/>
              </a:ext>
            </a:extLst>
          </p:cNvPr>
          <p:cNvSpPr>
            <a:spLocks noChangeArrowheads="1"/>
          </p:cNvSpPr>
          <p:nvPr/>
        </p:nvSpPr>
        <p:spPr bwMode="auto">
          <a:xfrm>
            <a:off x="2392459" y="1210689"/>
            <a:ext cx="6738859"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150000"/>
              </a:lnSpc>
              <a:buFont typeface="Arial" panose="020B0604020202020204" pitchFamily="34" charset="0"/>
              <a:buNone/>
            </a:pPr>
            <a:r>
              <a:rPr lang="zh-CN" altLang="en-US" sz="2000" b="0" i="0" baseline="0" dirty="0">
                <a:solidFill>
                  <a:srgbClr val="FF0000"/>
                </a:solidFill>
                <a:latin typeface="微软雅黑" panose="020B0503020204020204" pitchFamily="34" charset="-122"/>
                <a:ea typeface="微软雅黑" panose="020B0503020204020204" pitchFamily="34" charset="-122"/>
              </a:rPr>
              <a:t>理论上的最大比特率 </a:t>
            </a:r>
            <a:r>
              <a:rPr lang="en-US" altLang="zh-CN" sz="2000" b="0" i="0" baseline="0" dirty="0">
                <a:solidFill>
                  <a:srgbClr val="FF0000"/>
                </a:solidFill>
                <a:latin typeface="微软雅黑" panose="020B0503020204020204" pitchFamily="34" charset="-122"/>
                <a:ea typeface="微软雅黑" panose="020B0503020204020204" pitchFamily="34" charset="-122"/>
              </a:rPr>
              <a:t>= 2 × </a:t>
            </a:r>
            <a:r>
              <a:rPr lang="zh-CN" altLang="en-US" sz="2000" b="0" i="0" baseline="0" dirty="0">
                <a:solidFill>
                  <a:srgbClr val="FF0000"/>
                </a:solidFill>
                <a:latin typeface="微软雅黑" panose="020B0503020204020204" pitchFamily="34" charset="-122"/>
                <a:ea typeface="微软雅黑" panose="020B0503020204020204" pitchFamily="34" charset="-122"/>
              </a:rPr>
              <a:t>带宽 </a:t>
            </a:r>
            <a:r>
              <a:rPr lang="en-US" altLang="zh-CN" sz="2000" b="0" i="0" baseline="0" dirty="0">
                <a:solidFill>
                  <a:srgbClr val="FF0000"/>
                </a:solidFill>
                <a:latin typeface="微软雅黑" panose="020B0503020204020204" pitchFamily="34" charset="-122"/>
                <a:ea typeface="微软雅黑" panose="020B0503020204020204" pitchFamily="34" charset="-122"/>
              </a:rPr>
              <a:t>×  log</a:t>
            </a:r>
            <a:r>
              <a:rPr lang="en-US" altLang="zh-CN" sz="2000" b="0" i="0" baseline="-25000" dirty="0">
                <a:solidFill>
                  <a:srgbClr val="FF0000"/>
                </a:solidFill>
                <a:latin typeface="微软雅黑" panose="020B0503020204020204" pitchFamily="34" charset="-122"/>
                <a:ea typeface="微软雅黑" panose="020B0503020204020204" pitchFamily="34" charset="-122"/>
              </a:rPr>
              <a:t>2</a:t>
            </a:r>
            <a:r>
              <a:rPr lang="en-US" altLang="zh-CN" sz="2000" b="0" i="0" baseline="0" dirty="0">
                <a:solidFill>
                  <a:srgbClr val="FF0000"/>
                </a:solidFill>
                <a:latin typeface="微软雅黑" panose="020B0503020204020204" pitchFamily="34" charset="-122"/>
                <a:ea typeface="微软雅黑" panose="020B0503020204020204" pitchFamily="34" charset="-122"/>
              </a:rPr>
              <a:t> L</a:t>
            </a:r>
            <a:r>
              <a:rPr lang="zh-CN" altLang="en-US" sz="2000" b="0" i="0" baseline="0" dirty="0">
                <a:solidFill>
                  <a:srgbClr val="FF0000"/>
                </a:solidFill>
                <a:latin typeface="微软雅黑" panose="020B0503020204020204" pitchFamily="34" charset="-122"/>
                <a:ea typeface="微软雅黑" panose="020B0503020204020204" pitchFamily="34" charset="-122"/>
              </a:rPr>
              <a:t>，</a:t>
            </a:r>
            <a:r>
              <a:rPr lang="en-US" altLang="zh-CN" sz="2000" b="0" i="0" baseline="0" dirty="0">
                <a:solidFill>
                  <a:srgbClr val="FF0000"/>
                </a:solidFill>
                <a:latin typeface="微软雅黑" panose="020B0503020204020204" pitchFamily="34" charset="-122"/>
                <a:ea typeface="微软雅黑" panose="020B0503020204020204" pitchFamily="34" charset="-122"/>
              </a:rPr>
              <a:t>L</a:t>
            </a:r>
            <a:r>
              <a:rPr lang="zh-CN" altLang="en-US" sz="2000" b="0" i="0" baseline="0" dirty="0">
                <a:solidFill>
                  <a:srgbClr val="FF0000"/>
                </a:solidFill>
                <a:latin typeface="微软雅黑" panose="020B0503020204020204" pitchFamily="34" charset="-122"/>
                <a:ea typeface="微软雅黑" panose="020B0503020204020204" pitchFamily="34" charset="-122"/>
              </a:rPr>
              <a:t>是电平数</a:t>
            </a:r>
          </a:p>
        </p:txBody>
      </p:sp>
      <p:sp>
        <p:nvSpPr>
          <p:cNvPr id="2" name="矩形 1">
            <a:extLst>
              <a:ext uri="{FF2B5EF4-FFF2-40B4-BE49-F238E27FC236}">
                <a16:creationId xmlns:a16="http://schemas.microsoft.com/office/drawing/2014/main" id="{B3324ACF-7DEF-4247-80EB-88B4536FB1ED}"/>
              </a:ext>
            </a:extLst>
          </p:cNvPr>
          <p:cNvSpPr/>
          <p:nvPr/>
        </p:nvSpPr>
        <p:spPr>
          <a:xfrm>
            <a:off x="3962456" y="92881"/>
            <a:ext cx="5168862" cy="523220"/>
          </a:xfrm>
          <a:prstGeom prst="rect">
            <a:avLst/>
          </a:prstGeom>
        </p:spPr>
        <p:txBody>
          <a:bodyPr wrap="squar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无噪声信道：奈奎斯特比特率</a:t>
            </a:r>
            <a:endParaRPr lang="zh-CN" altLang="en-US" dirty="0">
              <a:solidFill>
                <a:schemeClr val="bg1"/>
              </a:solidFill>
              <a:latin typeface="微软雅黑" panose="020B0503020204020204" pitchFamily="34" charset="-122"/>
              <a:ea typeface="微软雅黑" panose="020B0503020204020204" pitchFamily="34" charset="-122"/>
            </a:endParaRPr>
          </a:p>
        </p:txBody>
      </p:sp>
      <p:sp>
        <p:nvSpPr>
          <p:cNvPr id="9" name="Rectangle 11">
            <a:extLst>
              <a:ext uri="{FF2B5EF4-FFF2-40B4-BE49-F238E27FC236}">
                <a16:creationId xmlns:a16="http://schemas.microsoft.com/office/drawing/2014/main" id="{B9BFE559-E468-4AF7-AD1E-496C02EBA440}"/>
              </a:ext>
            </a:extLst>
          </p:cNvPr>
          <p:cNvSpPr>
            <a:spLocks noChangeArrowheads="1"/>
          </p:cNvSpPr>
          <p:nvPr/>
        </p:nvSpPr>
        <p:spPr bwMode="auto">
          <a:xfrm>
            <a:off x="1621515" y="2068024"/>
            <a:ext cx="9808345"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150000"/>
              </a:lnSpc>
            </a:pPr>
            <a:r>
              <a:rPr lang="zh-CN" altLang="en-US" sz="1800" i="0" baseline="0" dirty="0">
                <a:solidFill>
                  <a:schemeClr val="hlink"/>
                </a:solidFill>
                <a:latin typeface="微软雅黑" panose="020B0503020204020204" pitchFamily="34" charset="-122"/>
                <a:ea typeface="微软雅黑" panose="020B0503020204020204" pitchFamily="34" charset="-122"/>
              </a:rPr>
              <a:t>例3.</a:t>
            </a:r>
            <a:r>
              <a:rPr lang="en-US" altLang="zh-CN" sz="1800" i="0" baseline="0" dirty="0">
                <a:solidFill>
                  <a:schemeClr val="hlink"/>
                </a:solidFill>
                <a:latin typeface="微软雅黑" panose="020B0503020204020204" pitchFamily="34" charset="-122"/>
                <a:ea typeface="微软雅黑" panose="020B0503020204020204" pitchFamily="34" charset="-122"/>
              </a:rPr>
              <a:t>36</a:t>
            </a:r>
            <a:r>
              <a:rPr lang="zh-CN" altLang="en-US" sz="1800" i="0" baseline="0" dirty="0">
                <a:solidFill>
                  <a:schemeClr val="hlink"/>
                </a:solidFill>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需要通过带宽为 20kHz 的无噪声通道发送 265kbps 的数据，则需要多少信号电平？</a:t>
            </a:r>
            <a:endParaRPr lang="en-US" altLang="zh-CN" sz="1800" b="0" i="0" baseline="0" dirty="0">
              <a:latin typeface="微软雅黑" panose="020B0503020204020204" pitchFamily="34" charset="-122"/>
              <a:ea typeface="微软雅黑" panose="020B0503020204020204" pitchFamily="34" charset="-122"/>
            </a:endParaRPr>
          </a:p>
        </p:txBody>
      </p:sp>
      <p:sp>
        <p:nvSpPr>
          <p:cNvPr id="10" name="Rectangle 14">
            <a:extLst>
              <a:ext uri="{FF2B5EF4-FFF2-40B4-BE49-F238E27FC236}">
                <a16:creationId xmlns:a16="http://schemas.microsoft.com/office/drawing/2014/main" id="{6FAEE500-FED7-4D68-B451-E39D1E2B2498}"/>
              </a:ext>
            </a:extLst>
          </p:cNvPr>
          <p:cNvSpPr>
            <a:spLocks noChangeArrowheads="1"/>
          </p:cNvSpPr>
          <p:nvPr/>
        </p:nvSpPr>
        <p:spPr bwMode="auto">
          <a:xfrm>
            <a:off x="1652589" y="2543177"/>
            <a:ext cx="9295989" cy="277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200000"/>
              </a:lnSpc>
            </a:pPr>
            <a:r>
              <a:rPr lang="zh-CN" altLang="en-US" sz="1800" b="0" i="0" baseline="0" dirty="0">
                <a:latin typeface="微软雅黑" panose="020B0503020204020204" pitchFamily="34" charset="-122"/>
                <a:ea typeface="微软雅黑" panose="020B0503020204020204" pitchFamily="34" charset="-122"/>
              </a:rPr>
              <a:t>解：使用奈奎斯特公式如下:</a:t>
            </a:r>
            <a:endParaRPr lang="en-US" altLang="zh-CN" sz="1800" b="0" i="0" baseline="0" dirty="0">
              <a:latin typeface="微软雅黑" panose="020B0503020204020204" pitchFamily="34" charset="-122"/>
              <a:ea typeface="微软雅黑" panose="020B0503020204020204" pitchFamily="34" charset="-122"/>
            </a:endParaRPr>
          </a:p>
          <a:p>
            <a:pPr>
              <a:lnSpc>
                <a:spcPct val="200000"/>
              </a:lnSpc>
            </a:pPr>
            <a:r>
              <a:rPr lang="en-US" altLang="zh-CN" sz="1800" b="0" i="0" baseline="0" dirty="0">
                <a:latin typeface="微软雅黑" panose="020B0503020204020204" pitchFamily="34" charset="-122"/>
                <a:ea typeface="微软雅黑" panose="020B0503020204020204" pitchFamily="34" charset="-122"/>
              </a:rPr>
              <a:t>                                         265000 = 2×20000×log</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 L</a:t>
            </a:r>
          </a:p>
          <a:p>
            <a:pPr>
              <a:lnSpc>
                <a:spcPct val="200000"/>
              </a:lnSpc>
            </a:pPr>
            <a:r>
              <a:rPr lang="en-US" altLang="zh-CN" sz="1800" b="0" i="0" baseline="0" dirty="0">
                <a:latin typeface="微软雅黑" panose="020B0503020204020204" pitchFamily="34" charset="-122"/>
                <a:ea typeface="微软雅黑" panose="020B0503020204020204" pitchFamily="34" charset="-122"/>
              </a:rPr>
              <a:t>                                      log</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 L = 6.625</a:t>
            </a:r>
            <a:r>
              <a:rPr lang="zh-CN" altLang="en-US" sz="1800" b="0" i="0" baseline="0" dirty="0">
                <a:latin typeface="微软雅黑" panose="020B0503020204020204" pitchFamily="34" charset="-122"/>
                <a:ea typeface="微软雅黑" panose="020B0503020204020204" pitchFamily="34" charset="-122"/>
              </a:rPr>
              <a:t>，</a:t>
            </a:r>
            <a:r>
              <a:rPr lang="en-US" altLang="zh-CN" sz="1800" b="0" i="0" baseline="0" dirty="0">
                <a:latin typeface="微软雅黑" panose="020B0503020204020204" pitchFamily="34" charset="-122"/>
                <a:ea typeface="微软雅黑" panose="020B0503020204020204" pitchFamily="34" charset="-122"/>
              </a:rPr>
              <a:t>L = 2</a:t>
            </a:r>
            <a:r>
              <a:rPr lang="en-US" altLang="zh-CN" sz="1800" b="0" i="0" baseline="30000" dirty="0">
                <a:latin typeface="微软雅黑" panose="020B0503020204020204" pitchFamily="34" charset="-122"/>
                <a:ea typeface="微软雅黑" panose="020B0503020204020204" pitchFamily="34" charset="-122"/>
              </a:rPr>
              <a:t>6.625 </a:t>
            </a:r>
            <a:r>
              <a:rPr lang="en-US" altLang="zh-CN" sz="1800" b="0" i="0" baseline="0" dirty="0">
                <a:latin typeface="微软雅黑" panose="020B0503020204020204" pitchFamily="34" charset="-122"/>
                <a:ea typeface="微软雅黑" panose="020B0503020204020204" pitchFamily="34" charset="-122"/>
              </a:rPr>
              <a:t>= 98.7</a:t>
            </a:r>
            <a:r>
              <a:rPr lang="zh-CN" altLang="en-US" sz="1800" b="0" i="0" baseline="0" dirty="0">
                <a:latin typeface="微软雅黑" panose="020B0503020204020204" pitchFamily="34" charset="-122"/>
                <a:ea typeface="微软雅黑" panose="020B0503020204020204" pitchFamily="34" charset="-122"/>
              </a:rPr>
              <a:t>个</a:t>
            </a:r>
          </a:p>
          <a:p>
            <a:pPr>
              <a:lnSpc>
                <a:spcPct val="200000"/>
              </a:lnSpc>
            </a:pPr>
            <a:r>
              <a:rPr lang="zh-CN" altLang="en-US" sz="1800" b="0" i="0" baseline="0" dirty="0">
                <a:latin typeface="微软雅黑" panose="020B0503020204020204" pitchFamily="34" charset="-122"/>
                <a:ea typeface="微软雅黑" panose="020B0503020204020204" pitchFamily="34" charset="-122"/>
              </a:rPr>
              <a:t>因为结果不是 2 的幂，所以需要增加电平数或者减小比特率。如果有 128 个电平，比特率是 280kbps。如果有 64 个电平，比特率是 240kbps。</a:t>
            </a:r>
          </a:p>
        </p:txBody>
      </p:sp>
      <p:sp>
        <p:nvSpPr>
          <p:cNvPr id="12" name="Rectangle 11">
            <a:extLst>
              <a:ext uri="{FF2B5EF4-FFF2-40B4-BE49-F238E27FC236}">
                <a16:creationId xmlns:a16="http://schemas.microsoft.com/office/drawing/2014/main" id="{64D3900C-272D-4A3B-88D5-6AEC53708021}"/>
              </a:ext>
            </a:extLst>
          </p:cNvPr>
          <p:cNvSpPr>
            <a:spLocks noChangeArrowheads="1"/>
          </p:cNvSpPr>
          <p:nvPr/>
        </p:nvSpPr>
        <p:spPr bwMode="auto">
          <a:xfrm>
            <a:off x="1710267" y="5599275"/>
            <a:ext cx="5143928" cy="4589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150000"/>
              </a:lnSpc>
            </a:pPr>
            <a:r>
              <a:rPr lang="zh-CN" altLang="en-US" sz="1800" i="0" baseline="0" dirty="0">
                <a:latin typeface="微软雅黑" panose="020B0503020204020204" pitchFamily="34" charset="-122"/>
                <a:ea typeface="微软雅黑" panose="020B0503020204020204" pitchFamily="34" charset="-122"/>
              </a:rPr>
              <a:t>注意：增加信号电平数会减弱系统的可靠性！</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0"/>
                                        </p:tgtEl>
                                        <p:attrNameLst>
                                          <p:attrName>style.visibility</p:attrName>
                                        </p:attrNameLst>
                                      </p:cBhvr>
                                      <p:to>
                                        <p:strVal val="visible"/>
                                      </p:to>
                                    </p:set>
                                    <p:animEffect transition="in" filter="wipe(left)">
                                      <p:cBhvr>
                                        <p:cTn id="12" dur="500"/>
                                        <p:tgtEl>
                                          <p:spTgt spid="10"/>
                                        </p:tgtEl>
                                      </p:cBhvr>
                                    </p:animEffect>
                                  </p:childTnLst>
                                </p:cTn>
                              </p:par>
                            </p:childTnLst>
                          </p:cTn>
                        </p:par>
                      </p:childTnLst>
                    </p:cTn>
                  </p:par>
                  <p:par>
                    <p:cTn id="13" fill="hold">
                      <p:stCondLst>
                        <p:cond delay="indefinite"/>
                      </p:stCondLst>
                      <p:childTnLst>
                        <p:par>
                          <p:cTn id="14" fill="hold">
                            <p:stCondLst>
                              <p:cond delay="0"/>
                            </p:stCondLst>
                            <p:childTnLst>
                              <p:par>
                                <p:cTn id="15" presetID="22" presetClass="entr" presetSubtype="8" fill="hold" grpId="0" nodeType="clickEffect">
                                  <p:stCondLst>
                                    <p:cond delay="0"/>
                                  </p:stCondLst>
                                  <p:childTnLst>
                                    <p:set>
                                      <p:cBhvr>
                                        <p:cTn id="16" dur="1" fill="hold">
                                          <p:stCondLst>
                                            <p:cond delay="0"/>
                                          </p:stCondLst>
                                        </p:cTn>
                                        <p:tgtEl>
                                          <p:spTgt spid="12"/>
                                        </p:tgtEl>
                                        <p:attrNameLst>
                                          <p:attrName>style.visibility</p:attrName>
                                        </p:attrNameLst>
                                      </p:cBhvr>
                                      <p:to>
                                        <p:strVal val="visible"/>
                                      </p:to>
                                    </p:set>
                                    <p:animEffect transition="in" filter="wipe(left)">
                                      <p:cBhvr>
                                        <p:cTn id="17" dur="500"/>
                                        <p:tgtEl>
                                          <p:spTgt spid="1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0" grpId="0"/>
      <p:bldP spid="12" grpId="0"/>
    </p:bldLst>
  </p:timing>
</p:sld>
</file>

<file path=ppt/slides/slide3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3258" name="Rectangle 11">
            <a:extLst>
              <a:ext uri="{FF2B5EF4-FFF2-40B4-BE49-F238E27FC236}">
                <a16:creationId xmlns:a16="http://schemas.microsoft.com/office/drawing/2014/main" id="{4F4A761D-F0A9-43A2-B103-37F99874C980}"/>
              </a:ext>
            </a:extLst>
          </p:cNvPr>
          <p:cNvSpPr>
            <a:spLocks noChangeArrowheads="1"/>
          </p:cNvSpPr>
          <p:nvPr/>
        </p:nvSpPr>
        <p:spPr bwMode="auto">
          <a:xfrm>
            <a:off x="1295526" y="2229620"/>
            <a:ext cx="9600948" cy="167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通道容量指通道的传输容量，单位是 </a:t>
            </a:r>
            <a:r>
              <a:rPr lang="en-US" altLang="zh-CN" sz="1800" b="0" i="0" baseline="0" dirty="0">
                <a:latin typeface="微软雅黑" panose="020B0503020204020204" pitchFamily="34" charset="-122"/>
                <a:ea typeface="微软雅黑" panose="020B0503020204020204" pitchFamily="34" charset="-122"/>
              </a:rPr>
              <a:t>bit/s</a:t>
            </a:r>
            <a:r>
              <a:rPr lang="zh-CN" altLang="en-US" sz="1800" b="0" i="0" baseline="0" dirty="0">
                <a:latin typeface="微软雅黑" panose="020B0503020204020204" pitchFamily="34" charset="-122"/>
                <a:ea typeface="微软雅黑" panose="020B0503020204020204" pitchFamily="34" charset="-122"/>
              </a:rPr>
              <a:t>。香农公式中没有指出信号电平，意味着无论使用多少个电平，都不可能获得比通道容量更高的数据速率，即香农公式定义了噪声通道理论上的最高数据速率。</a:t>
            </a:r>
          </a:p>
        </p:txBody>
      </p:sp>
      <p:sp>
        <p:nvSpPr>
          <p:cNvPr id="53259" name="圆角矩形 15">
            <a:extLst>
              <a:ext uri="{FF2B5EF4-FFF2-40B4-BE49-F238E27FC236}">
                <a16:creationId xmlns:a16="http://schemas.microsoft.com/office/drawing/2014/main" id="{0FFCF69B-D1B0-4122-BBB5-E203010B3BF6}"/>
              </a:ext>
            </a:extLst>
          </p:cNvPr>
          <p:cNvSpPr>
            <a:spLocks noChangeArrowheads="1"/>
          </p:cNvSpPr>
          <p:nvPr/>
        </p:nvSpPr>
        <p:spPr bwMode="auto">
          <a:xfrm>
            <a:off x="3810060" y="55211"/>
            <a:ext cx="4627563" cy="612775"/>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i="0" baseline="0" dirty="0">
                <a:ea typeface="宋体" panose="02010600030101010101" pitchFamily="2" charset="-122"/>
              </a:rPr>
              <a:t>  </a:t>
            </a:r>
            <a:r>
              <a:rPr lang="zh-CN" altLang="en-US" i="0" baseline="0" dirty="0">
                <a:solidFill>
                  <a:schemeClr val="bg1"/>
                </a:solidFill>
                <a:latin typeface="微软雅黑" panose="020B0503020204020204" pitchFamily="34" charset="-122"/>
                <a:ea typeface="微软雅黑" panose="020B0503020204020204" pitchFamily="34" charset="-122"/>
              </a:rPr>
              <a:t>有噪声信道：香农定理</a:t>
            </a:r>
          </a:p>
        </p:txBody>
      </p:sp>
      <p:sp>
        <p:nvSpPr>
          <p:cNvPr id="53262" name="文本框 1">
            <a:extLst>
              <a:ext uri="{FF2B5EF4-FFF2-40B4-BE49-F238E27FC236}">
                <a16:creationId xmlns:a16="http://schemas.microsoft.com/office/drawing/2014/main" id="{3994782A-406F-45C5-AA16-D64D8D1FE232}"/>
              </a:ext>
            </a:extLst>
          </p:cNvPr>
          <p:cNvSpPr txBox="1">
            <a:spLocks noChangeArrowheads="1"/>
          </p:cNvSpPr>
          <p:nvPr/>
        </p:nvSpPr>
        <p:spPr bwMode="auto">
          <a:xfrm>
            <a:off x="3779050" y="1385805"/>
            <a:ext cx="5465762" cy="4996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defPPr>
              <a:defRPr lang="en-US"/>
            </a:defPPr>
            <a:lvl1pPr>
              <a:lnSpc>
                <a:spcPct val="150000"/>
              </a:lnSpc>
              <a:buFont typeface="Arial" panose="020B0604020202020204" pitchFamily="34" charset="0"/>
              <a:buNone/>
              <a:defRPr sz="2000" b="0" i="0" baseline="0">
                <a:solidFill>
                  <a:srgbClr val="FF0000"/>
                </a:solidFill>
                <a:latin typeface="微软雅黑" panose="020B0503020204020204" pitchFamily="34" charset="-122"/>
                <a:ea typeface="微软雅黑" panose="020B0503020204020204" pitchFamily="34" charset="-122"/>
              </a:defRPr>
            </a:lvl1pPr>
            <a:lvl2pPr marL="742950" indent="-285750"/>
            <a:lvl3pPr marL="1143000" indent="-228600"/>
            <a:lvl4pPr marL="1600200" indent="-228600"/>
            <a:lvl5pPr marL="2057400" indent="-228600"/>
            <a:lvl6pPr marL="2514600" indent="-228600" eaLnBrk="0" fontAlgn="base" hangingPunct="0">
              <a:spcBef>
                <a:spcPct val="0"/>
              </a:spcBef>
              <a:spcAft>
                <a:spcPct val="0"/>
              </a:spcAft>
            </a:lvl6pPr>
            <a:lvl7pPr marL="2971800" indent="-228600" eaLnBrk="0" fontAlgn="base" hangingPunct="0">
              <a:spcBef>
                <a:spcPct val="0"/>
              </a:spcBef>
              <a:spcAft>
                <a:spcPct val="0"/>
              </a:spcAft>
            </a:lvl7pPr>
            <a:lvl8pPr marL="3429000" indent="-228600" eaLnBrk="0" fontAlgn="base" hangingPunct="0">
              <a:spcBef>
                <a:spcPct val="0"/>
              </a:spcBef>
              <a:spcAft>
                <a:spcPct val="0"/>
              </a:spcAft>
            </a:lvl8pPr>
            <a:lvl9pPr marL="3886200" indent="-228600" eaLnBrk="0" fontAlgn="base" hangingPunct="0">
              <a:spcBef>
                <a:spcPct val="0"/>
              </a:spcBef>
              <a:spcAft>
                <a:spcPct val="0"/>
              </a:spcAft>
            </a:lvl9pPr>
          </a:lstStyle>
          <a:p>
            <a:r>
              <a:rPr lang="zh-CN" altLang="en-US" dirty="0"/>
              <a:t>通道容量 </a:t>
            </a:r>
            <a:r>
              <a:rPr lang="en-US" altLang="zh-CN" dirty="0"/>
              <a:t>= </a:t>
            </a:r>
            <a:r>
              <a:rPr lang="zh-CN" altLang="en-US" dirty="0"/>
              <a:t>带宽 </a:t>
            </a:r>
            <a:r>
              <a:rPr lang="en-US" altLang="zh-CN" dirty="0"/>
              <a:t>× log</a:t>
            </a:r>
            <a:r>
              <a:rPr lang="en-US" altLang="zh-CN" baseline="-25000" dirty="0"/>
              <a:t>2</a:t>
            </a:r>
            <a:r>
              <a:rPr lang="en-US" altLang="zh-CN" dirty="0"/>
              <a:t>(1+SNR)</a:t>
            </a:r>
            <a:endParaRPr lang="zh-CN" altLang="en-US" dirty="0"/>
          </a:p>
        </p:txBody>
      </p:sp>
      <p:grpSp>
        <p:nvGrpSpPr>
          <p:cNvPr id="4" name="组合 3">
            <a:extLst>
              <a:ext uri="{FF2B5EF4-FFF2-40B4-BE49-F238E27FC236}">
                <a16:creationId xmlns:a16="http://schemas.microsoft.com/office/drawing/2014/main" id="{783FDF1A-6670-494E-BB54-C5121FA2F7D4}"/>
              </a:ext>
            </a:extLst>
          </p:cNvPr>
          <p:cNvGrpSpPr/>
          <p:nvPr/>
        </p:nvGrpSpPr>
        <p:grpSpPr>
          <a:xfrm>
            <a:off x="1446752" y="4580121"/>
            <a:ext cx="9509102" cy="694634"/>
            <a:chOff x="1009649" y="2545741"/>
            <a:chExt cx="7326393" cy="1213869"/>
          </a:xfrm>
        </p:grpSpPr>
        <p:sp>
          <p:nvSpPr>
            <p:cNvPr id="2" name="矩形 1">
              <a:extLst>
                <a:ext uri="{FF2B5EF4-FFF2-40B4-BE49-F238E27FC236}">
                  <a16:creationId xmlns:a16="http://schemas.microsoft.com/office/drawing/2014/main" id="{70AB42A0-0661-4906-9C76-E561C2B802F9}"/>
                </a:ext>
              </a:extLst>
            </p:cNvPr>
            <p:cNvSpPr/>
            <p:nvPr/>
          </p:nvSpPr>
          <p:spPr>
            <a:xfrm>
              <a:off x="1116426" y="2545741"/>
              <a:ext cx="7219616" cy="562333"/>
            </a:xfrm>
            <a:prstGeom prst="rect">
              <a:avLst/>
            </a:prstGeom>
          </p:spPr>
          <p:txBody>
            <a:bodyPr wrap="square">
              <a:spAutoFit/>
            </a:bodyPr>
            <a:lstStyle/>
            <a:p>
              <a:pPr algn="just">
                <a:lnSpc>
                  <a:spcPct val="200000"/>
                </a:lnSpc>
              </a:pPr>
              <a:r>
                <a:rPr lang="zh-CN" altLang="en-US" sz="1800" i="0" baseline="0" dirty="0">
                  <a:solidFill>
                    <a:srgbClr val="FF0000"/>
                  </a:solidFill>
                  <a:latin typeface="微软雅黑" panose="020B0503020204020204" pitchFamily="34" charset="-122"/>
                  <a:ea typeface="微软雅黑" panose="020B0503020204020204" pitchFamily="34" charset="-122"/>
                </a:rPr>
                <a:t>注</a:t>
              </a:r>
              <a:r>
                <a:rPr lang="zh-CN" altLang="en-US" sz="1800" b="0" i="0" baseline="0" dirty="0">
                  <a:latin typeface="微软雅黑" panose="020B0503020204020204" pitchFamily="34" charset="-122"/>
                  <a:ea typeface="微软雅黑" panose="020B0503020204020204" pitchFamily="34" charset="-122"/>
                </a:rPr>
                <a:t>：信噪比（</a:t>
              </a:r>
              <a:r>
                <a:rPr lang="en-US" altLang="zh-CN" sz="1800" b="0" i="0" baseline="0" dirty="0">
                  <a:latin typeface="微软雅黑" panose="020B0503020204020204" pitchFamily="34" charset="-122"/>
                  <a:ea typeface="微软雅黑" panose="020B0503020204020204" pitchFamily="34" charset="-122"/>
                </a:rPr>
                <a:t>S/N</a:t>
              </a:r>
              <a:r>
                <a:rPr lang="zh-CN" altLang="en-US" sz="1800" b="0" i="0" baseline="0" dirty="0">
                  <a:latin typeface="微软雅黑" panose="020B0503020204020204" pitchFamily="34" charset="-122"/>
                  <a:ea typeface="微软雅黑" panose="020B0503020204020204" pitchFamily="34" charset="-122"/>
                </a:rPr>
                <a:t>）是信号功率与噪声功率的比值，因此香农定理中信噪比的单位无量纲‌。</a:t>
              </a:r>
            </a:p>
          </p:txBody>
        </p:sp>
        <p:sp>
          <p:nvSpPr>
            <p:cNvPr id="3" name="矩形 2">
              <a:extLst>
                <a:ext uri="{FF2B5EF4-FFF2-40B4-BE49-F238E27FC236}">
                  <a16:creationId xmlns:a16="http://schemas.microsoft.com/office/drawing/2014/main" id="{B88E2D4C-44C0-42FF-B191-C3C055987086}"/>
                </a:ext>
              </a:extLst>
            </p:cNvPr>
            <p:cNvSpPr/>
            <p:nvPr/>
          </p:nvSpPr>
          <p:spPr bwMode="auto">
            <a:xfrm>
              <a:off x="1009649" y="2566294"/>
              <a:ext cx="7203447" cy="1193316"/>
            </a:xfrm>
            <a:prstGeom prst="rect">
              <a:avLst/>
            </a:prstGeom>
            <a:noFill/>
            <a:ln w="19050" cap="flat" cmpd="sng" algn="ctr">
              <a:solidFill>
                <a:srgbClr val="FF0000"/>
              </a:solidFill>
              <a:prstDash val="solid"/>
              <a:round/>
              <a:headEnd type="none" w="med" len="med"/>
              <a:tailEnd type="none" w="med" len="med"/>
            </a:ln>
          </p:spPr>
          <p:txBody>
            <a:bodyPr vert="horz" wrap="square" lIns="91440" tIns="45720" rIns="91440" bIns="45720" numCol="1" rtlCol="0" anchor="t" anchorCtr="0" compatLnSpc="1"/>
            <a:lstStyle/>
            <a:p>
              <a:endParaRPr lang="zh-CN" altLang="en-US"/>
            </a:p>
          </p:txBody>
        </p:sp>
      </p:grpSp>
    </p:spTree>
    <p:extLst>
      <p:ext uri="{BB962C8B-B14F-4D97-AF65-F5344CB8AC3E}">
        <p14:creationId xmlns:p14="http://schemas.microsoft.com/office/powerpoint/2010/main" val="2875346743"/>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timing>
</p:sld>
</file>

<file path=ppt/slides/slide3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 name="Rectangle 11">
            <a:extLst>
              <a:ext uri="{FF2B5EF4-FFF2-40B4-BE49-F238E27FC236}">
                <a16:creationId xmlns:a16="http://schemas.microsoft.com/office/drawing/2014/main" id="{58F7A7A4-51CC-4633-9BD3-294543DA7141}"/>
              </a:ext>
            </a:extLst>
          </p:cNvPr>
          <p:cNvSpPr>
            <a:spLocks noChangeArrowheads="1"/>
          </p:cNvSpPr>
          <p:nvPr/>
        </p:nvSpPr>
        <p:spPr bwMode="auto">
          <a:xfrm>
            <a:off x="1453650" y="1219258"/>
            <a:ext cx="9753344" cy="1769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300000"/>
              </a:lnSpc>
            </a:pPr>
            <a:r>
              <a:rPr lang="zh-CN" altLang="en-US" sz="2000" i="0" baseline="0" dirty="0">
                <a:solidFill>
                  <a:schemeClr val="hlink"/>
                </a:solidFill>
                <a:latin typeface="微软雅黑" panose="020B0503020204020204" pitchFamily="34" charset="-122"/>
                <a:ea typeface="微软雅黑" panose="020B0503020204020204" pitchFamily="34" charset="-122"/>
              </a:rPr>
              <a:t>例3.</a:t>
            </a:r>
            <a:r>
              <a:rPr lang="en-US" altLang="zh-CN" sz="2000" i="0" baseline="0" dirty="0">
                <a:solidFill>
                  <a:schemeClr val="hlink"/>
                </a:solidFill>
                <a:latin typeface="微软雅黑" panose="020B0503020204020204" pitchFamily="34" charset="-122"/>
                <a:ea typeface="微软雅黑" panose="020B0503020204020204" pitchFamily="34" charset="-122"/>
              </a:rPr>
              <a:t>37</a:t>
            </a:r>
            <a:r>
              <a:rPr lang="zh-CN" altLang="en-US" sz="2000" i="0" baseline="0" dirty="0">
                <a:solidFill>
                  <a:schemeClr val="hlink"/>
                </a:solidFill>
                <a:latin typeface="微软雅黑" panose="020B0503020204020204" pitchFamily="34" charset="-122"/>
                <a:ea typeface="微软雅黑" panose="020B0503020204020204" pitchFamily="34" charset="-122"/>
              </a:rPr>
              <a:t> </a:t>
            </a:r>
            <a:r>
              <a:rPr lang="zh-CN" altLang="en-US" sz="2000" b="0" i="0" baseline="0" dirty="0">
                <a:latin typeface="微软雅黑" panose="020B0503020204020204" pitchFamily="34" charset="-122"/>
                <a:ea typeface="微软雅黑" panose="020B0503020204020204" pitchFamily="34" charset="-122"/>
              </a:rPr>
              <a:t>考虑一个极端的噪声通道，其信噪比的值接近于 0，即噪声很强而信号很弱，对于该通道，其容量 C 计算为：</a:t>
            </a:r>
          </a:p>
        </p:txBody>
      </p:sp>
      <p:sp>
        <p:nvSpPr>
          <p:cNvPr id="11" name="Rectangle 14">
            <a:extLst>
              <a:ext uri="{FF2B5EF4-FFF2-40B4-BE49-F238E27FC236}">
                <a16:creationId xmlns:a16="http://schemas.microsoft.com/office/drawing/2014/main" id="{4734BE92-6787-43B6-B3DA-B86932969287}"/>
              </a:ext>
            </a:extLst>
          </p:cNvPr>
          <p:cNvSpPr>
            <a:spLocks noChangeArrowheads="1"/>
          </p:cNvSpPr>
          <p:nvPr/>
        </p:nvSpPr>
        <p:spPr bwMode="auto">
          <a:xfrm>
            <a:off x="1453650" y="3432337"/>
            <a:ext cx="9753344" cy="176920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300000"/>
              </a:lnSpc>
            </a:pPr>
            <a:r>
              <a:rPr lang="zh-CN" altLang="en-US" sz="2000" b="0" i="0" baseline="0" dirty="0">
                <a:latin typeface="微软雅黑" panose="020B0503020204020204" pitchFamily="34" charset="-122"/>
                <a:ea typeface="微软雅黑" panose="020B0503020204020204" pitchFamily="34" charset="-122"/>
              </a:rPr>
              <a:t>解：</a:t>
            </a:r>
            <a:r>
              <a:rPr lang="en-US" altLang="zh-CN" sz="2000" b="0" i="0" baseline="0" dirty="0">
                <a:latin typeface="微软雅黑" panose="020B0503020204020204" pitchFamily="34" charset="-122"/>
                <a:ea typeface="微软雅黑" panose="020B0503020204020204" pitchFamily="34" charset="-122"/>
              </a:rPr>
              <a:t>C = Blog</a:t>
            </a:r>
            <a:r>
              <a:rPr lang="en-US" altLang="zh-CN" sz="2000" b="0" i="0" baseline="-25000" dirty="0">
                <a:latin typeface="微软雅黑" panose="020B0503020204020204" pitchFamily="34" charset="-122"/>
                <a:ea typeface="微软雅黑" panose="020B0503020204020204" pitchFamily="34" charset="-122"/>
              </a:rPr>
              <a:t>2</a:t>
            </a:r>
            <a:r>
              <a:rPr lang="en-US" altLang="zh-CN" sz="2000" b="0" i="0" baseline="0" dirty="0">
                <a:latin typeface="微软雅黑" panose="020B0503020204020204" pitchFamily="34" charset="-122"/>
                <a:ea typeface="微软雅黑" panose="020B0503020204020204" pitchFamily="34" charset="-122"/>
              </a:rPr>
              <a:t>(1+SNR) = Blog</a:t>
            </a:r>
            <a:r>
              <a:rPr lang="en-US" altLang="zh-CN" sz="2000" b="0" i="0" baseline="-25000" dirty="0">
                <a:latin typeface="微软雅黑" panose="020B0503020204020204" pitchFamily="34" charset="-122"/>
                <a:ea typeface="微软雅黑" panose="020B0503020204020204" pitchFamily="34" charset="-122"/>
              </a:rPr>
              <a:t>2</a:t>
            </a:r>
            <a:r>
              <a:rPr lang="en-US" altLang="zh-CN" sz="2000" b="0" i="0" baseline="0" dirty="0">
                <a:latin typeface="微软雅黑" panose="020B0503020204020204" pitchFamily="34" charset="-122"/>
                <a:ea typeface="微软雅黑" panose="020B0503020204020204" pitchFamily="34" charset="-122"/>
              </a:rPr>
              <a:t>(1+0) = 0</a:t>
            </a:r>
          </a:p>
          <a:p>
            <a:pPr>
              <a:lnSpc>
                <a:spcPct val="300000"/>
              </a:lnSpc>
            </a:pPr>
            <a:r>
              <a:rPr lang="zh-CN" altLang="en-US" sz="2000" b="0" i="0" baseline="0" dirty="0">
                <a:latin typeface="微软雅黑" panose="020B0503020204020204" pitchFamily="34" charset="-122"/>
                <a:ea typeface="微软雅黑" panose="020B0503020204020204" pitchFamily="34" charset="-122"/>
              </a:rPr>
              <a:t>这意味着通道的容量为0，与带宽无关，即通过该通道不能接收到任何数据。</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9"/>
                                        </p:tgtEl>
                                        <p:attrNameLst>
                                          <p:attrName>style.visibility</p:attrName>
                                        </p:attrNameLst>
                                      </p:cBhvr>
                                      <p:to>
                                        <p:strVal val="visible"/>
                                      </p:to>
                                    </p:set>
                                    <p:animEffect transition="in" filter="wipe(left)">
                                      <p:cBhvr>
                                        <p:cTn id="7" dur="500"/>
                                        <p:tgtEl>
                                          <p:spTgt spid="9"/>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11"/>
                                        </p:tgtEl>
                                        <p:attrNameLst>
                                          <p:attrName>style.visibility</p:attrName>
                                        </p:attrNameLst>
                                      </p:cBhvr>
                                      <p:to>
                                        <p:strVal val="visible"/>
                                      </p:to>
                                    </p:set>
                                    <p:animEffect transition="in" filter="wipe(left)">
                                      <p:cBhvr>
                                        <p:cTn id="12" dur="500"/>
                                        <p:tgtEl>
                                          <p:spTgt spid="11"/>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9" grpId="0"/>
      <p:bldP spid="11" grpId="0"/>
    </p:bldLst>
  </p:timing>
</p:sld>
</file>

<file path=ppt/slides/slide3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7353" name="Rectangle 10">
            <a:extLst>
              <a:ext uri="{FF2B5EF4-FFF2-40B4-BE49-F238E27FC236}">
                <a16:creationId xmlns:a16="http://schemas.microsoft.com/office/drawing/2014/main" id="{1D22D285-B322-43F6-BA8E-E28ACA6C977A}"/>
              </a:ext>
            </a:extLst>
          </p:cNvPr>
          <p:cNvSpPr>
            <a:spLocks noChangeArrowheads="1"/>
          </p:cNvSpPr>
          <p:nvPr/>
        </p:nvSpPr>
        <p:spPr bwMode="auto">
          <a:xfrm>
            <a:off x="1676400" y="1447800"/>
            <a:ext cx="8839200" cy="381000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endParaRPr lang="zh-CN" altLang="en-US">
              <a:ea typeface="宋体" panose="02010600030101010101" pitchFamily="2" charset="-122"/>
            </a:endParaRPr>
          </a:p>
        </p:txBody>
      </p:sp>
      <p:sp>
        <p:nvSpPr>
          <p:cNvPr id="57354" name="Rectangle 11">
            <a:extLst>
              <a:ext uri="{FF2B5EF4-FFF2-40B4-BE49-F238E27FC236}">
                <a16:creationId xmlns:a16="http://schemas.microsoft.com/office/drawing/2014/main" id="{79855B91-AB02-4DC7-85B2-877943ADEE5E}"/>
              </a:ext>
            </a:extLst>
          </p:cNvPr>
          <p:cNvSpPr>
            <a:spLocks noChangeArrowheads="1"/>
          </p:cNvSpPr>
          <p:nvPr/>
        </p:nvSpPr>
        <p:spPr bwMode="auto">
          <a:xfrm>
            <a:off x="1371724" y="1041810"/>
            <a:ext cx="9905740" cy="56278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200000"/>
              </a:lnSpc>
            </a:pPr>
            <a:r>
              <a:rPr lang="zh-CN" altLang="en-US" sz="1800" i="0" baseline="0" dirty="0">
                <a:solidFill>
                  <a:schemeClr val="hlink"/>
                </a:solidFill>
                <a:latin typeface="微软雅黑" panose="020B0503020204020204" pitchFamily="34" charset="-122"/>
                <a:ea typeface="微软雅黑" panose="020B0503020204020204" pitchFamily="34" charset="-122"/>
              </a:rPr>
              <a:t>例3.41  </a:t>
            </a:r>
            <a:r>
              <a:rPr lang="zh-CN" altLang="en-US" sz="1800" b="0" i="0" baseline="0" dirty="0">
                <a:latin typeface="微软雅黑" panose="020B0503020204020204" pitchFamily="34" charset="-122"/>
                <a:ea typeface="微软雅黑" panose="020B0503020204020204" pitchFamily="34" charset="-122"/>
              </a:rPr>
              <a:t>有一个 1MHz带宽的通道，通道的信噪比是 63，合适的比特率以及信号电平是多少？</a:t>
            </a:r>
            <a:endParaRPr lang="zh-CN" altLang="en-US" sz="1800" b="0" i="0" baseline="0" dirty="0">
              <a:solidFill>
                <a:schemeClr val="hlink"/>
              </a:solidFill>
              <a:latin typeface="微软雅黑" panose="020B0503020204020204" pitchFamily="34" charset="-122"/>
              <a:ea typeface="微软雅黑" panose="020B0503020204020204" pitchFamily="34" charset="-122"/>
            </a:endParaRPr>
          </a:p>
        </p:txBody>
      </p:sp>
      <p:sp>
        <p:nvSpPr>
          <p:cNvPr id="2" name="矩形 1">
            <a:extLst>
              <a:ext uri="{FF2B5EF4-FFF2-40B4-BE49-F238E27FC236}">
                <a16:creationId xmlns:a16="http://schemas.microsoft.com/office/drawing/2014/main" id="{3178CB99-292B-44F1-A64B-D9BC719DB7F9}"/>
              </a:ext>
            </a:extLst>
          </p:cNvPr>
          <p:cNvSpPr/>
          <p:nvPr/>
        </p:nvSpPr>
        <p:spPr>
          <a:xfrm>
            <a:off x="1371724" y="1963637"/>
            <a:ext cx="9600948" cy="2778325"/>
          </a:xfrm>
          <a:prstGeom prst="rect">
            <a:avLst/>
          </a:prstGeom>
        </p:spPr>
        <p:txBody>
          <a:bodyPr wrap="square">
            <a:spAutoFit/>
          </a:body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解：首先使用香农公式确定上限</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en-US" altLang="zh-CN" sz="1800" b="0" i="0" baseline="0" dirty="0">
                <a:latin typeface="微软雅黑" panose="020B0503020204020204" pitchFamily="34" charset="-122"/>
                <a:ea typeface="微软雅黑" panose="020B0503020204020204" pitchFamily="34" charset="-122"/>
              </a:rPr>
              <a:t>                         C = Blog</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(1+SNR) = 10</a:t>
            </a:r>
            <a:r>
              <a:rPr lang="en-US" altLang="zh-CN" sz="1800" b="0" i="0" baseline="30000" dirty="0">
                <a:latin typeface="微软雅黑" panose="020B0503020204020204" pitchFamily="34" charset="-122"/>
                <a:ea typeface="微软雅黑" panose="020B0503020204020204" pitchFamily="34" charset="-122"/>
              </a:rPr>
              <a:t>6 </a:t>
            </a:r>
            <a:r>
              <a:rPr lang="en-US" altLang="zh-CN" sz="1800" b="0" i="0" baseline="0" dirty="0">
                <a:latin typeface="微软雅黑" panose="020B0503020204020204" pitchFamily="34" charset="-122"/>
                <a:ea typeface="微软雅黑" panose="020B0503020204020204" pitchFamily="34" charset="-122"/>
              </a:rPr>
              <a:t>• log</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(1+63) = 6Mbps</a:t>
            </a: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计算结果 </a:t>
            </a:r>
            <a:r>
              <a:rPr lang="en-US" altLang="zh-CN" sz="1800" b="0" i="0" baseline="0" dirty="0">
                <a:latin typeface="微软雅黑" panose="020B0503020204020204" pitchFamily="34" charset="-122"/>
                <a:ea typeface="微软雅黑" panose="020B0503020204020204" pitchFamily="34" charset="-122"/>
              </a:rPr>
              <a:t>6Mbps </a:t>
            </a:r>
            <a:r>
              <a:rPr lang="zh-CN" altLang="en-US" sz="1800" b="0" i="0" baseline="0" dirty="0">
                <a:latin typeface="微软雅黑" panose="020B0503020204020204" pitchFamily="34" charset="-122"/>
                <a:ea typeface="微软雅黑" panose="020B0503020204020204" pitchFamily="34" charset="-122"/>
              </a:rPr>
              <a:t>是上限，为了获得更好的性能，可选择低一些的值例如 </a:t>
            </a:r>
            <a:r>
              <a:rPr lang="en-US" altLang="zh-CN" sz="1800" b="0" i="0" baseline="0" dirty="0">
                <a:latin typeface="微软雅黑" panose="020B0503020204020204" pitchFamily="34" charset="-122"/>
                <a:ea typeface="微软雅黑" panose="020B0503020204020204" pitchFamily="34" charset="-122"/>
              </a:rPr>
              <a:t>4Mbps</a:t>
            </a:r>
            <a:r>
              <a:rPr lang="zh-CN" altLang="en-US" sz="1800" b="0" i="0" baseline="0" dirty="0">
                <a:latin typeface="微软雅黑" panose="020B0503020204020204" pitchFamily="34" charset="-122"/>
                <a:ea typeface="微软雅黑" panose="020B0503020204020204" pitchFamily="34" charset="-122"/>
              </a:rPr>
              <a:t>，然后使用奈奎斯特公式计算信号电平的数量：</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en-US" altLang="zh-CN" sz="1800" b="0" i="0" baseline="0" dirty="0">
                <a:latin typeface="微软雅黑" panose="020B0503020204020204" pitchFamily="34" charset="-122"/>
                <a:ea typeface="微软雅黑" panose="020B0503020204020204" pitchFamily="34" charset="-122"/>
              </a:rPr>
              <a:t>                                4Mbps = 2×1MHz×log</a:t>
            </a:r>
            <a:r>
              <a:rPr lang="en-US" altLang="zh-CN" sz="1800" b="0" i="0" baseline="-25000" dirty="0">
                <a:latin typeface="微软雅黑" panose="020B0503020204020204" pitchFamily="34" charset="-122"/>
                <a:ea typeface="微软雅黑" panose="020B0503020204020204" pitchFamily="34" charset="-122"/>
              </a:rPr>
              <a:t>2</a:t>
            </a:r>
            <a:r>
              <a:rPr lang="en-US" altLang="zh-CN" sz="1800" b="0" i="0" baseline="0" dirty="0">
                <a:latin typeface="微软雅黑" panose="020B0503020204020204" pitchFamily="34" charset="-122"/>
                <a:ea typeface="微软雅黑" panose="020B0503020204020204" pitchFamily="34" charset="-122"/>
              </a:rPr>
              <a:t>L  </a:t>
            </a:r>
            <a:r>
              <a:rPr lang="en-US" altLang="zh-CN" sz="1800" b="0" i="0" baseline="0" dirty="0">
                <a:latin typeface="微软雅黑" panose="020B0503020204020204" pitchFamily="34" charset="-122"/>
                <a:ea typeface="微软雅黑" panose="020B0503020204020204" pitchFamily="34" charset="-122"/>
                <a:sym typeface="Wingdings" panose="05000000000000000000" pitchFamily="2" charset="2"/>
              </a:rPr>
              <a:t>   L = 4</a:t>
            </a:r>
            <a:endParaRPr lang="en-US" altLang="zh-CN" sz="1800" b="0" i="0" baseline="0" dirty="0">
              <a:latin typeface="微软雅黑" panose="020B0503020204020204" pitchFamily="34" charset="-122"/>
              <a:ea typeface="微软雅黑" panose="020B0503020204020204" pitchFamily="34" charset="-122"/>
            </a:endParaRPr>
          </a:p>
        </p:txBody>
      </p:sp>
      <p:sp>
        <p:nvSpPr>
          <p:cNvPr id="8" name="Rectangle 11">
            <a:extLst>
              <a:ext uri="{FF2B5EF4-FFF2-40B4-BE49-F238E27FC236}">
                <a16:creationId xmlns:a16="http://schemas.microsoft.com/office/drawing/2014/main" id="{5B734F92-7733-48B4-8FA3-6EDE95AC0BEC}"/>
              </a:ext>
            </a:extLst>
          </p:cNvPr>
          <p:cNvSpPr>
            <a:spLocks noChangeArrowheads="1"/>
          </p:cNvSpPr>
          <p:nvPr/>
        </p:nvSpPr>
        <p:spPr bwMode="auto">
          <a:xfrm>
            <a:off x="2362594" y="5238704"/>
            <a:ext cx="8892212" cy="499624"/>
          </a:xfrm>
          <a:prstGeom prst="rect">
            <a:avLst/>
          </a:prstGeom>
          <a:noFill/>
          <a:ln>
            <a:noFill/>
          </a:ln>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150000"/>
              </a:lnSpc>
              <a:buFont typeface="Arial" panose="020B0604020202020204" pitchFamily="34" charset="0"/>
              <a:buNone/>
            </a:pPr>
            <a:r>
              <a:rPr lang="zh-CN" altLang="en-US" sz="2000" i="0" baseline="0" dirty="0">
                <a:latin typeface="微软雅黑" panose="020B0503020204020204" pitchFamily="34" charset="-122"/>
                <a:ea typeface="微软雅黑" panose="020B0503020204020204" pitchFamily="34" charset="-122"/>
              </a:rPr>
              <a:t>香农定理给出数据速率的上限，奈奎斯特公式给出所需的信号电平数。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up)">
                                      <p:cBhvr>
                                        <p:cTn id="7" dur="500"/>
                                        <p:tgtEl>
                                          <p:spTgt spid="2"/>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P spid="8" grpId="0"/>
    </p:bldLst>
  </p:timing>
</p:sld>
</file>

<file path=ppt/slides/slide38.xml><?xml version="1.0" encoding="utf-8"?>
<p:sld xmlns:a="http://schemas.openxmlformats.org/drawingml/2006/main" xmlns:r="http://schemas.openxmlformats.org/officeDocument/2006/relationships" xmlns:p="http://schemas.openxmlformats.org/presentationml/2006/main" showMasterPhAnim="0">
  <p:cSld>
    <p:spTree>
      <p:nvGrpSpPr>
        <p:cNvPr id="1" name=""/>
        <p:cNvGrpSpPr/>
        <p:nvPr/>
      </p:nvGrpSpPr>
      <p:grpSpPr>
        <a:xfrm>
          <a:off x="0" y="0"/>
          <a:ext cx="0" cy="0"/>
          <a:chOff x="0" y="0"/>
          <a:chExt cx="0" cy="0"/>
        </a:xfrm>
      </p:grpSpPr>
      <p:sp>
        <p:nvSpPr>
          <p:cNvPr id="7" name="Rectangle 2">
            <a:extLst>
              <a:ext uri="{FF2B5EF4-FFF2-40B4-BE49-F238E27FC236}">
                <a16:creationId xmlns:a16="http://schemas.microsoft.com/office/drawing/2014/main" id="{78C96276-DDD4-40EF-A691-CB636C2005E3}"/>
              </a:ext>
            </a:extLst>
          </p:cNvPr>
          <p:cNvSpPr>
            <a:spLocks noChangeArrowheads="1"/>
          </p:cNvSpPr>
          <p:nvPr/>
        </p:nvSpPr>
        <p:spPr bwMode="auto">
          <a:xfrm>
            <a:off x="0" y="0"/>
            <a:ext cx="12192000" cy="1143000"/>
          </a:xfrm>
          <a:prstGeom prst="rect">
            <a:avLst/>
          </a:prstGeom>
          <a:solidFill>
            <a:srgbClr val="4FB4FF"/>
          </a:solidFill>
          <a:ln w="9525">
            <a:noFill/>
            <a:miter lim="800000"/>
            <a:headEnd/>
            <a:tailEnd/>
          </a:ln>
          <a:effectLst/>
        </p:spPr>
        <p:txBody>
          <a:bodyPr wrap="none" anchor="ctr"/>
          <a:lstStyle/>
          <a:p>
            <a:pPr algn="ctr">
              <a:defRPr/>
            </a:pPr>
            <a:endParaRPr lang="zh-CN" altLang="zh-CN">
              <a:effectLst>
                <a:outerShdw blurRad="38100" dist="38100" dir="2700000" algn="tl">
                  <a:srgbClr val="FFFFFF"/>
                </a:outerShdw>
              </a:effectLst>
              <a:ea typeface="宋体" charset="-122"/>
            </a:endParaRPr>
          </a:p>
        </p:txBody>
      </p:sp>
      <p:sp>
        <p:nvSpPr>
          <p:cNvPr id="107523" name="Text Box 3">
            <a:extLst>
              <a:ext uri="{FF2B5EF4-FFF2-40B4-BE49-F238E27FC236}">
                <a16:creationId xmlns:a16="http://schemas.microsoft.com/office/drawing/2014/main" id="{78E276CE-376D-4571-B8D6-D27FEF3E4F80}"/>
              </a:ext>
            </a:extLst>
          </p:cNvPr>
          <p:cNvSpPr txBox="1">
            <a:spLocks noChangeArrowheads="1"/>
          </p:cNvSpPr>
          <p:nvPr/>
        </p:nvSpPr>
        <p:spPr bwMode="auto">
          <a:xfrm>
            <a:off x="544659" y="264715"/>
            <a:ext cx="1994457" cy="584775"/>
          </a:xfrm>
          <a:prstGeom prst="rect">
            <a:avLst/>
          </a:prstGeom>
          <a:noFill/>
          <a:ln>
            <a:noFill/>
          </a:ln>
          <a:effectLst/>
        </p:spPr>
        <p:txBody>
          <a:bodyPr wrap="none">
            <a:spAutoFit/>
          </a:bodyPr>
          <a:lstStyle/>
          <a:p>
            <a:pPr>
              <a:buFont typeface="Arial" panose="020B0604020202020204" pitchFamily="34" charset="0"/>
              <a:buNone/>
              <a:defRPr/>
            </a:pPr>
            <a:r>
              <a:rPr lang="zh-CN" altLang="en-US" sz="3200" i="0" baseline="0" dirty="0">
                <a:latin typeface="微软雅黑" panose="020B0503020204020204" pitchFamily="34" charset="-122"/>
                <a:ea typeface="微软雅黑" panose="020B0503020204020204" pitchFamily="34" charset="-122"/>
              </a:rPr>
              <a:t>3</a:t>
            </a:r>
            <a:r>
              <a:rPr lang="en-US" altLang="zh-CN" sz="3200" i="0" baseline="0" dirty="0">
                <a:latin typeface="微软雅黑" panose="020B0503020204020204" pitchFamily="34" charset="-122"/>
                <a:ea typeface="微软雅黑" panose="020B0503020204020204" pitchFamily="34" charset="-122"/>
              </a:rPr>
              <a:t>.5</a:t>
            </a:r>
            <a:r>
              <a:rPr lang="zh-CN" altLang="en-US" sz="3200" i="0" baseline="0" dirty="0">
                <a:latin typeface="微软雅黑" panose="020B0503020204020204" pitchFamily="34" charset="-122"/>
                <a:ea typeface="微软雅黑" panose="020B0503020204020204" pitchFamily="34" charset="-122"/>
              </a:rPr>
              <a:t>   性能</a:t>
            </a:r>
          </a:p>
        </p:txBody>
      </p:sp>
      <p:sp>
        <p:nvSpPr>
          <p:cNvPr id="60421" name="Text Box 4">
            <a:extLst>
              <a:ext uri="{FF2B5EF4-FFF2-40B4-BE49-F238E27FC236}">
                <a16:creationId xmlns:a16="http://schemas.microsoft.com/office/drawing/2014/main" id="{5C42FBA1-1474-4562-BF3D-09FECD7C6839}"/>
              </a:ext>
            </a:extLst>
          </p:cNvPr>
          <p:cNvSpPr txBox="1">
            <a:spLocks noChangeArrowheads="1"/>
          </p:cNvSpPr>
          <p:nvPr/>
        </p:nvSpPr>
        <p:spPr bwMode="auto">
          <a:xfrm>
            <a:off x="9753600" y="6400801"/>
            <a:ext cx="184150" cy="366713"/>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zh-CN" sz="1800" i="0" baseline="0">
              <a:ea typeface="宋体" panose="02010600030101010101" pitchFamily="2" charset="-122"/>
            </a:endParaRPr>
          </a:p>
        </p:txBody>
      </p:sp>
      <p:sp>
        <p:nvSpPr>
          <p:cNvPr id="60422" name="Rectangle 5">
            <a:extLst>
              <a:ext uri="{FF2B5EF4-FFF2-40B4-BE49-F238E27FC236}">
                <a16:creationId xmlns:a16="http://schemas.microsoft.com/office/drawing/2014/main" id="{EE59932B-06E9-46C0-9621-7A08DD5D462F}"/>
              </a:ext>
            </a:extLst>
          </p:cNvPr>
          <p:cNvSpPr>
            <a:spLocks noChangeArrowheads="1"/>
          </p:cNvSpPr>
          <p:nvPr/>
        </p:nvSpPr>
        <p:spPr bwMode="auto">
          <a:xfrm>
            <a:off x="1524120" y="1930850"/>
            <a:ext cx="9296156" cy="269253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nchor="ctr">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eaLnBrk="1" hangingPunct="1">
              <a:lnSpc>
                <a:spcPct val="300000"/>
              </a:lnSpc>
              <a:buFont typeface="Arial" panose="020B0604020202020204" pitchFamily="34" charset="0"/>
              <a:buNone/>
            </a:pPr>
            <a:r>
              <a:rPr lang="zh-CN" altLang="en-US" sz="2000" b="0" i="0" baseline="0" dirty="0">
                <a:latin typeface="微软雅黑" panose="020B0503020204020204" pitchFamily="34" charset="-122"/>
                <a:ea typeface="微软雅黑" panose="020B0503020204020204" pitchFamily="34" charset="-122"/>
              </a:rPr>
              <a:t>网络性能指标是用来衡量网络系统表现的一系列参数，主要包括带宽、吞吐量、时延、带宽时延积、往返时间、利用率和丢包率等关键指标，这些指标共同决定了网络的性能表现，不同的应用场景和网络设计需要关注不同的指标。</a:t>
            </a:r>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56332" name="Rectangle 11">
            <a:extLst>
              <a:ext uri="{FF2B5EF4-FFF2-40B4-BE49-F238E27FC236}">
                <a16:creationId xmlns:a16="http://schemas.microsoft.com/office/drawing/2014/main" id="{8B106661-3166-46BC-A097-23B0EC81919A}"/>
              </a:ext>
            </a:extLst>
          </p:cNvPr>
          <p:cNvSpPr>
            <a:spLocks noChangeArrowheads="1"/>
          </p:cNvSpPr>
          <p:nvPr/>
        </p:nvSpPr>
        <p:spPr bwMode="auto">
          <a:xfrm>
            <a:off x="1295526" y="1371654"/>
            <a:ext cx="9829542" cy="3825214"/>
          </a:xfrm>
          <a:prstGeom prst="rect">
            <a:avLst/>
          </a:prstGeom>
          <a:noFill/>
          <a:ln w="9525">
            <a:noFill/>
            <a:miter lim="800000"/>
          </a:ln>
          <a:effectLst/>
        </p:spPr>
        <p:txBody>
          <a:bodyPr wrap="square">
            <a:spAutoFit/>
          </a:bodyPr>
          <a:lstStyle/>
          <a:p>
            <a:pPr algn="just">
              <a:lnSpc>
                <a:spcPct val="200000"/>
              </a:lnSpc>
              <a:defRPr/>
            </a:pPr>
            <a:r>
              <a:rPr lang="zh-CN" altLang="en-US" sz="1800" b="0" i="0" baseline="0" dirty="0">
                <a:latin typeface="微软雅黑" panose="020B0503020204020204" pitchFamily="34" charset="-122"/>
                <a:ea typeface="微软雅黑" panose="020B0503020204020204" pitchFamily="34" charset="-122"/>
              </a:rPr>
              <a:t>带宽应用的领域非常多，可以用来标识信号的数据传输能力、单位时间内通过链路的数据量、显示器的显示能力等。</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defRPr/>
            </a:pPr>
            <a:endParaRPr lang="en-US" altLang="zh-CN" sz="800" b="0" i="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defRPr/>
            </a:pPr>
            <a:r>
              <a:rPr lang="zh-CN" altLang="en-US" sz="1800" b="0" i="0" baseline="0" dirty="0">
                <a:latin typeface="微软雅黑" panose="020B0503020204020204" pitchFamily="34" charset="-122"/>
                <a:ea typeface="微软雅黑" panose="020B0503020204020204" pitchFamily="34" charset="-122"/>
              </a:rPr>
              <a:t>在模拟信号系统中，带宽又称频宽，是指复合信号包含的频率范围或者通道能通过的频率范围，即在传输管道中可以传递数据的能力，通常以赫兹 </a:t>
            </a:r>
            <a:r>
              <a:rPr lang="en-US" altLang="zh-CN" sz="1800" b="0" i="0" baseline="0" dirty="0">
                <a:latin typeface="微软雅黑" panose="020B0503020204020204" pitchFamily="34" charset="-122"/>
                <a:ea typeface="微软雅黑" panose="020B0503020204020204" pitchFamily="34" charset="-122"/>
              </a:rPr>
              <a:t>Hz </a:t>
            </a:r>
            <a:r>
              <a:rPr lang="zh-CN" altLang="en-US" sz="1800" b="0" i="0" baseline="0" dirty="0">
                <a:latin typeface="微软雅黑" panose="020B0503020204020204" pitchFamily="34" charset="-122"/>
                <a:ea typeface="微软雅黑" panose="020B0503020204020204" pitchFamily="34" charset="-122"/>
              </a:rPr>
              <a:t>来表示。</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defRPr/>
            </a:pPr>
            <a:endParaRPr lang="en-US" altLang="zh-CN" sz="800" b="0" i="0" baseline="0" dirty="0">
              <a:latin typeface="微软雅黑" panose="020B0503020204020204" pitchFamily="34" charset="-122"/>
              <a:ea typeface="微软雅黑" panose="020B0503020204020204" pitchFamily="34" charset="-122"/>
            </a:endParaRPr>
          </a:p>
          <a:p>
            <a:pPr marL="285750" indent="-285750" algn="just">
              <a:lnSpc>
                <a:spcPct val="200000"/>
              </a:lnSpc>
              <a:buClr>
                <a:srgbClr val="FF0000"/>
              </a:buClr>
              <a:buSzPct val="80000"/>
              <a:buFont typeface="Wingdings" panose="05000000000000000000" pitchFamily="2" charset="2"/>
              <a:buChar char="u"/>
              <a:defRPr/>
            </a:pPr>
            <a:r>
              <a:rPr lang="zh-CN" altLang="en-US" sz="1800" b="0" i="0" baseline="0" dirty="0">
                <a:latin typeface="微软雅黑" panose="020B0503020204020204" pitchFamily="34" charset="-122"/>
                <a:ea typeface="微软雅黑" panose="020B0503020204020204" pitchFamily="34" charset="-122"/>
              </a:rPr>
              <a:t>在数字设备中，带宽指单位时间能通过链路的数据量，通常以 </a:t>
            </a:r>
            <a:r>
              <a:rPr lang="en-US" altLang="zh-CN" sz="1800" b="0" i="0" baseline="0" dirty="0">
                <a:latin typeface="微软雅黑" panose="020B0503020204020204" pitchFamily="34" charset="-122"/>
                <a:ea typeface="微软雅黑" panose="020B0503020204020204" pitchFamily="34" charset="-122"/>
              </a:rPr>
              <a:t>bit/s </a:t>
            </a:r>
            <a:r>
              <a:rPr lang="zh-CN" altLang="en-US" sz="1800" b="0" i="0" baseline="0" dirty="0">
                <a:latin typeface="微软雅黑" panose="020B0503020204020204" pitchFamily="34" charset="-122"/>
                <a:ea typeface="微软雅黑" panose="020B0503020204020204" pitchFamily="34" charset="-122"/>
              </a:rPr>
              <a:t>或 </a:t>
            </a:r>
            <a:r>
              <a:rPr lang="en-US" altLang="zh-CN" sz="1800" b="0" i="0" baseline="0" dirty="0">
                <a:latin typeface="微软雅黑" panose="020B0503020204020204" pitchFamily="34" charset="-122"/>
                <a:ea typeface="微软雅黑" panose="020B0503020204020204" pitchFamily="34" charset="-122"/>
              </a:rPr>
              <a:t>bps </a:t>
            </a:r>
            <a:r>
              <a:rPr lang="zh-CN" altLang="en-US" sz="1800" b="0" i="0" baseline="0" dirty="0">
                <a:latin typeface="微软雅黑" panose="020B0503020204020204" pitchFamily="34" charset="-122"/>
                <a:ea typeface="微软雅黑" panose="020B0503020204020204" pitchFamily="34" charset="-122"/>
              </a:rPr>
              <a:t>来表示，即每秒可传输之位数。</a:t>
            </a:r>
            <a:endParaRPr lang="en-US" altLang="zh-CN" sz="1800" b="0" i="0" baseline="0" dirty="0">
              <a:latin typeface="微软雅黑" panose="020B0503020204020204" pitchFamily="34" charset="-122"/>
              <a:ea typeface="微软雅黑" panose="020B0503020204020204" pitchFamily="34" charset="-122"/>
            </a:endParaRPr>
          </a:p>
        </p:txBody>
      </p:sp>
      <p:sp>
        <p:nvSpPr>
          <p:cNvPr id="61454" name="圆角矩形 1">
            <a:extLst>
              <a:ext uri="{FF2B5EF4-FFF2-40B4-BE49-F238E27FC236}">
                <a16:creationId xmlns:a16="http://schemas.microsoft.com/office/drawing/2014/main" id="{871D3B60-9ED1-4594-B7B4-F6E4E12CB0AB}"/>
              </a:ext>
            </a:extLst>
          </p:cNvPr>
          <p:cNvSpPr>
            <a:spLocks noChangeArrowheads="1"/>
          </p:cNvSpPr>
          <p:nvPr/>
        </p:nvSpPr>
        <p:spPr bwMode="auto">
          <a:xfrm>
            <a:off x="3962456" y="53710"/>
            <a:ext cx="3755971" cy="62865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i="0" baseline="0" dirty="0">
                <a:solidFill>
                  <a:schemeClr val="bg1"/>
                </a:solidFill>
                <a:latin typeface="微软雅黑" panose="020B0503020204020204" pitchFamily="34" charset="-122"/>
                <a:ea typeface="微软雅黑" panose="020B0503020204020204" pitchFamily="34" charset="-122"/>
              </a:rPr>
              <a:t>带宽（</a:t>
            </a:r>
            <a:r>
              <a:rPr lang="en-US" altLang="zh-CN" i="0" baseline="0" dirty="0">
                <a:solidFill>
                  <a:schemeClr val="bg1"/>
                </a:solidFill>
                <a:latin typeface="微软雅黑" panose="020B0503020204020204" pitchFamily="34" charset="-122"/>
                <a:ea typeface="微软雅黑" panose="020B0503020204020204" pitchFamily="34" charset="-122"/>
              </a:rPr>
              <a:t>Bandwidth</a:t>
            </a:r>
            <a:r>
              <a:rPr lang="zh-CN" altLang="en-US" i="0" baseline="0" dirty="0">
                <a:solidFill>
                  <a:schemeClr val="bg1"/>
                </a:solidFill>
                <a:latin typeface="微软雅黑" panose="020B0503020204020204" pitchFamily="34" charset="-122"/>
                <a:ea typeface="微软雅黑" panose="020B0503020204020204" pitchFamily="34" charset="-122"/>
              </a:rPr>
              <a:t>）</a:t>
            </a:r>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2473" name="Rectangle 10">
            <a:extLst>
              <a:ext uri="{FF2B5EF4-FFF2-40B4-BE49-F238E27FC236}">
                <a16:creationId xmlns:a16="http://schemas.microsoft.com/office/drawing/2014/main" id="{694040C3-12E7-42C3-9AB1-DB8915ECB94A}"/>
              </a:ext>
            </a:extLst>
          </p:cNvPr>
          <p:cNvSpPr>
            <a:spLocks noChangeArrowheads="1"/>
          </p:cNvSpPr>
          <p:nvPr/>
        </p:nvSpPr>
        <p:spPr bwMode="auto">
          <a:xfrm>
            <a:off x="1676400" y="1280485"/>
            <a:ext cx="8839200" cy="108585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62474" name="Rectangle 11">
            <a:extLst>
              <a:ext uri="{FF2B5EF4-FFF2-40B4-BE49-F238E27FC236}">
                <a16:creationId xmlns:a16="http://schemas.microsoft.com/office/drawing/2014/main" id="{889D847B-6C49-4716-9BA3-F508C099F401}"/>
              </a:ext>
            </a:extLst>
          </p:cNvPr>
          <p:cNvSpPr>
            <a:spLocks noChangeArrowheads="1"/>
          </p:cNvSpPr>
          <p:nvPr/>
        </p:nvSpPr>
        <p:spPr bwMode="auto">
          <a:xfrm>
            <a:off x="1676400" y="2645531"/>
            <a:ext cx="9220074"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buFont typeface="Arial" panose="020B0604020202020204" pitchFamily="34" charset="0"/>
              <a:buNone/>
            </a:pPr>
            <a:r>
              <a:rPr lang="zh-CN" altLang="en-US" sz="1800" i="0" baseline="0" dirty="0">
                <a:solidFill>
                  <a:schemeClr val="hlink"/>
                </a:solidFill>
                <a:latin typeface="微软雅黑" panose="020B0503020204020204" pitchFamily="34" charset="-122"/>
                <a:ea typeface="微软雅黑" panose="020B0503020204020204" pitchFamily="34" charset="-122"/>
              </a:rPr>
              <a:t>例3.44  </a:t>
            </a:r>
            <a:r>
              <a:rPr lang="zh-CN" altLang="en-US" sz="1800" b="0" i="0" baseline="0" dirty="0">
                <a:latin typeface="微软雅黑" panose="020B0503020204020204" pitchFamily="34" charset="-122"/>
                <a:ea typeface="微软雅黑" panose="020B0503020204020204" pitchFamily="34" charset="-122"/>
              </a:rPr>
              <a:t>带宽为 10Mbps 的网络平均每分钟传输 12,000 个帧，每个帧平均携带 10,000个位，那么这个网络的吞吐量是多少？ </a:t>
            </a:r>
            <a:endParaRPr lang="en-US" altLang="zh-CN" sz="1800" b="0" i="0" baseline="0" dirty="0">
              <a:latin typeface="微软雅黑" panose="020B0503020204020204" pitchFamily="34" charset="-122"/>
              <a:ea typeface="微软雅黑" panose="020B0503020204020204" pitchFamily="34" charset="-122"/>
            </a:endParaRPr>
          </a:p>
        </p:txBody>
      </p:sp>
      <p:sp>
        <p:nvSpPr>
          <p:cNvPr id="62478" name="圆角矩形 15">
            <a:extLst>
              <a:ext uri="{FF2B5EF4-FFF2-40B4-BE49-F238E27FC236}">
                <a16:creationId xmlns:a16="http://schemas.microsoft.com/office/drawing/2014/main" id="{00B68B1F-2A72-4F80-9CAC-8F12035E7501}"/>
              </a:ext>
            </a:extLst>
          </p:cNvPr>
          <p:cNvSpPr>
            <a:spLocks noChangeArrowheads="1"/>
          </p:cNvSpPr>
          <p:nvPr/>
        </p:nvSpPr>
        <p:spPr bwMode="auto">
          <a:xfrm>
            <a:off x="3962456" y="55840"/>
            <a:ext cx="4419484" cy="62865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i="0" baseline="0" dirty="0">
                <a:solidFill>
                  <a:schemeClr val="bg1"/>
                </a:solidFill>
                <a:latin typeface="微软雅黑" panose="020B0503020204020204" pitchFamily="34" charset="-122"/>
                <a:ea typeface="微软雅黑" panose="020B0503020204020204" pitchFamily="34" charset="-122"/>
              </a:rPr>
              <a:t>吞吐量（</a:t>
            </a:r>
            <a:r>
              <a:rPr lang="en-US" altLang="zh-CN" i="0" baseline="0" dirty="0">
                <a:solidFill>
                  <a:schemeClr val="bg1"/>
                </a:solidFill>
                <a:latin typeface="微软雅黑" panose="020B0503020204020204" pitchFamily="34" charset="-122"/>
                <a:ea typeface="微软雅黑" panose="020B0503020204020204" pitchFamily="34" charset="-122"/>
              </a:rPr>
              <a:t>Throughput</a:t>
            </a:r>
            <a:r>
              <a:rPr lang="zh-CN" altLang="en-US" i="0" baseline="0" dirty="0">
                <a:solidFill>
                  <a:schemeClr val="bg1"/>
                </a:solidFill>
                <a:latin typeface="微软雅黑" panose="020B0503020204020204" pitchFamily="34" charset="-122"/>
                <a:ea typeface="微软雅黑" panose="020B0503020204020204" pitchFamily="34" charset="-122"/>
              </a:rPr>
              <a:t>）</a:t>
            </a:r>
          </a:p>
        </p:txBody>
      </p:sp>
      <p:sp>
        <p:nvSpPr>
          <p:cNvPr id="62479" name="Text Box 12">
            <a:extLst>
              <a:ext uri="{FF2B5EF4-FFF2-40B4-BE49-F238E27FC236}">
                <a16:creationId xmlns:a16="http://schemas.microsoft.com/office/drawing/2014/main" id="{87EB1A0B-4744-4C56-8D9F-76C862E33D44}"/>
              </a:ext>
            </a:extLst>
          </p:cNvPr>
          <p:cNvSpPr txBox="1">
            <a:spLocks noChangeArrowheads="1"/>
          </p:cNvSpPr>
          <p:nvPr/>
        </p:nvSpPr>
        <p:spPr bwMode="auto">
          <a:xfrm>
            <a:off x="1676400" y="1137653"/>
            <a:ext cx="9067678" cy="111678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吞吐量是指对网络、设备、端口、虚电路或其他设施，单位时间内</a:t>
            </a:r>
            <a:r>
              <a:rPr lang="zh-CN" altLang="en-US" sz="1800" i="0" baseline="0" dirty="0">
                <a:solidFill>
                  <a:srgbClr val="FF0000"/>
                </a:solidFill>
                <a:latin typeface="微软雅黑" panose="020B0503020204020204" pitchFamily="34" charset="-122"/>
                <a:ea typeface="微软雅黑" panose="020B0503020204020204" pitchFamily="34" charset="-122"/>
              </a:rPr>
              <a:t>成功</a:t>
            </a:r>
            <a:r>
              <a:rPr lang="zh-CN" altLang="en-US" sz="1800" b="0" i="0" baseline="0" dirty="0">
                <a:latin typeface="微软雅黑" panose="020B0503020204020204" pitchFamily="34" charset="-122"/>
                <a:ea typeface="微软雅黑" panose="020B0503020204020204" pitchFamily="34" charset="-122"/>
              </a:rPr>
              <a:t>传送数据的数量（以比特、字节、分组等测量）。</a:t>
            </a:r>
            <a:endParaRPr lang="en-US" altLang="zh-CN" sz="1800" b="0" i="0" baseline="0" dirty="0">
              <a:latin typeface="微软雅黑" panose="020B0503020204020204" pitchFamily="34" charset="-122"/>
              <a:ea typeface="微软雅黑" panose="020B0503020204020204" pitchFamily="34" charset="-122"/>
            </a:endParaRPr>
          </a:p>
        </p:txBody>
      </p:sp>
      <p:sp>
        <p:nvSpPr>
          <p:cNvPr id="8" name="Rectangle 11">
            <a:extLst>
              <a:ext uri="{FF2B5EF4-FFF2-40B4-BE49-F238E27FC236}">
                <a16:creationId xmlns:a16="http://schemas.microsoft.com/office/drawing/2014/main" id="{C0C285B4-670D-4C73-80D1-E236D94F581A}"/>
              </a:ext>
            </a:extLst>
          </p:cNvPr>
          <p:cNvSpPr>
            <a:spLocks noChangeArrowheads="1"/>
          </p:cNvSpPr>
          <p:nvPr/>
        </p:nvSpPr>
        <p:spPr bwMode="auto">
          <a:xfrm>
            <a:off x="1676400" y="4143333"/>
            <a:ext cx="7665912" cy="167077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解：</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吞吐量 </a:t>
            </a:r>
            <a:r>
              <a:rPr lang="en-US" altLang="zh-CN" sz="1800" b="0" i="0" baseline="0" dirty="0">
                <a:latin typeface="微软雅黑" panose="020B0503020204020204" pitchFamily="34" charset="-122"/>
                <a:ea typeface="微软雅黑" panose="020B0503020204020204" pitchFamily="34" charset="-122"/>
              </a:rPr>
              <a:t>= 12,000 ×10,000/60 = 2Mbps</a:t>
            </a:r>
          </a:p>
          <a:p>
            <a:pPr algn="just">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即吞吐量仅为带宽的五分之一。</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62474"/>
                                        </p:tgtEl>
                                        <p:attrNameLst>
                                          <p:attrName>style.visibility</p:attrName>
                                        </p:attrNameLst>
                                      </p:cBhvr>
                                      <p:to>
                                        <p:strVal val="visible"/>
                                      </p:to>
                                    </p:set>
                                    <p:animEffect transition="in" filter="wipe(up)">
                                      <p:cBhvr>
                                        <p:cTn id="7" dur="500"/>
                                        <p:tgtEl>
                                          <p:spTgt spid="62474"/>
                                        </p:tgtEl>
                                      </p:cBhvr>
                                    </p:animEffect>
                                  </p:childTnLst>
                                </p:cTn>
                              </p:par>
                            </p:childTnLst>
                          </p:cTn>
                        </p:par>
                      </p:childTnLst>
                    </p:cTn>
                  </p:par>
                  <p:par>
                    <p:cTn id="8" fill="hold">
                      <p:stCondLst>
                        <p:cond delay="indefinite"/>
                      </p:stCondLst>
                      <p:childTnLst>
                        <p:par>
                          <p:cTn id="9" fill="hold">
                            <p:stCondLst>
                              <p:cond delay="0"/>
                            </p:stCondLst>
                            <p:childTnLst>
                              <p:par>
                                <p:cTn id="10" presetID="22" presetClass="entr" presetSubtype="8" fill="hold" grpId="0" nodeType="clickEffect">
                                  <p:stCondLst>
                                    <p:cond delay="0"/>
                                  </p:stCondLst>
                                  <p:childTnLst>
                                    <p:set>
                                      <p:cBhvr>
                                        <p:cTn id="11" dur="1" fill="hold">
                                          <p:stCondLst>
                                            <p:cond delay="0"/>
                                          </p:stCondLst>
                                        </p:cTn>
                                        <p:tgtEl>
                                          <p:spTgt spid="8"/>
                                        </p:tgtEl>
                                        <p:attrNameLst>
                                          <p:attrName>style.visibility</p:attrName>
                                        </p:attrNameLst>
                                      </p:cBhvr>
                                      <p:to>
                                        <p:strVal val="visible"/>
                                      </p:to>
                                    </p:set>
                                    <p:animEffect transition="in" filter="wipe(left)">
                                      <p:cBhvr>
                                        <p:cTn id="12" dur="500"/>
                                        <p:tgtEl>
                                          <p:spTgt spid="8"/>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2474" grpId="0"/>
      <p:bldP spid="8" grpId="0"/>
    </p:bldLst>
  </p:timing>
</p:sld>
</file>

<file path=ppt/slides/slide4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3497" name="Rectangle 10">
            <a:extLst>
              <a:ext uri="{FF2B5EF4-FFF2-40B4-BE49-F238E27FC236}">
                <a16:creationId xmlns:a16="http://schemas.microsoft.com/office/drawing/2014/main" id="{5BE31D5C-C3F7-4B9B-A447-CA928BF07381}"/>
              </a:ext>
            </a:extLst>
          </p:cNvPr>
          <p:cNvSpPr>
            <a:spLocks noChangeArrowheads="1"/>
          </p:cNvSpPr>
          <p:nvPr/>
        </p:nvSpPr>
        <p:spPr bwMode="auto">
          <a:xfrm>
            <a:off x="2057400" y="1047188"/>
            <a:ext cx="7331916" cy="2738208"/>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nchor="ct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endParaRPr lang="zh-CN" altLang="en-US">
              <a:ea typeface="宋体" panose="02010600030101010101" pitchFamily="2" charset="-122"/>
            </a:endParaRPr>
          </a:p>
        </p:txBody>
      </p:sp>
      <p:sp>
        <p:nvSpPr>
          <p:cNvPr id="63498" name="Text Box 12">
            <a:extLst>
              <a:ext uri="{FF2B5EF4-FFF2-40B4-BE49-F238E27FC236}">
                <a16:creationId xmlns:a16="http://schemas.microsoft.com/office/drawing/2014/main" id="{D5A8D1F3-014E-4C6C-8878-062BB831B4E8}"/>
              </a:ext>
            </a:extLst>
          </p:cNvPr>
          <p:cNvSpPr txBox="1">
            <a:spLocks noChangeArrowheads="1"/>
          </p:cNvSpPr>
          <p:nvPr/>
        </p:nvSpPr>
        <p:spPr bwMode="auto">
          <a:xfrm>
            <a:off x="4038654" y="88394"/>
            <a:ext cx="4187365" cy="52322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i="0" baseline="0" dirty="0">
                <a:solidFill>
                  <a:schemeClr val="bg1"/>
                </a:solidFill>
                <a:latin typeface="微软雅黑" panose="020B0503020204020204" pitchFamily="34" charset="-122"/>
                <a:ea typeface="微软雅黑" panose="020B0503020204020204" pitchFamily="34" charset="-122"/>
              </a:rPr>
              <a:t>时延（</a:t>
            </a:r>
            <a:r>
              <a:rPr lang="en-US" altLang="zh-CN" i="0" baseline="0" dirty="0">
                <a:solidFill>
                  <a:schemeClr val="bg1"/>
                </a:solidFill>
                <a:latin typeface="微软雅黑" panose="020B0503020204020204" pitchFamily="34" charset="-122"/>
                <a:ea typeface="微软雅黑" panose="020B0503020204020204" pitchFamily="34" charset="-122"/>
              </a:rPr>
              <a:t>Latency/Delay</a:t>
            </a:r>
            <a:r>
              <a:rPr lang="zh-CN" altLang="en-US" i="0" baseline="0" dirty="0">
                <a:solidFill>
                  <a:schemeClr val="bg1"/>
                </a:solidFill>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25EA01A6-B78B-4705-9AD5-E532339D378D}"/>
              </a:ext>
            </a:extLst>
          </p:cNvPr>
          <p:cNvSpPr/>
          <p:nvPr/>
        </p:nvSpPr>
        <p:spPr>
          <a:xfrm>
            <a:off x="1371724" y="1069824"/>
            <a:ext cx="9677146" cy="4821641"/>
          </a:xfrm>
          <a:prstGeom prst="rect">
            <a:avLst/>
          </a:prstGeom>
        </p:spPr>
        <p:txBody>
          <a:bodyPr wrap="square">
            <a:spAutoFit/>
          </a:bodyPr>
          <a:lstStyle/>
          <a:p>
            <a:pPr>
              <a:lnSpc>
                <a:spcPct val="250000"/>
              </a:lnSpc>
            </a:pPr>
            <a:r>
              <a:rPr lang="zh-CN" altLang="en-US" sz="1800" b="0" i="0" baseline="0" dirty="0">
                <a:solidFill>
                  <a:srgbClr val="333333"/>
                </a:solidFill>
                <a:latin typeface="微软雅黑" panose="020B0503020204020204" pitchFamily="34" charset="-122"/>
                <a:ea typeface="微软雅黑" panose="020B0503020204020204" pitchFamily="34" charset="-122"/>
              </a:rPr>
              <a:t>时延是指数据从网络一端传送到另一端所需的时间，包括传输时延、传播时延、处理时延和排队时延。时延是衡量网络响应速度的一个重要指标。</a:t>
            </a:r>
            <a:endParaRPr lang="en-US" altLang="zh-CN" sz="1800" b="0" i="0" baseline="0" dirty="0">
              <a:solidFill>
                <a:srgbClr val="333333"/>
              </a:solidFill>
              <a:latin typeface="微软雅黑" panose="020B0503020204020204" pitchFamily="34" charset="-122"/>
              <a:ea typeface="微软雅黑" panose="020B0503020204020204" pitchFamily="34" charset="-122"/>
            </a:endParaRPr>
          </a:p>
          <a:p>
            <a:pPr marL="180975" indent="360363">
              <a:lnSpc>
                <a:spcPct val="250000"/>
              </a:lnSpc>
              <a:buClr>
                <a:srgbClr val="FF0000"/>
              </a:buClr>
              <a:buSzPct val="80000"/>
              <a:buFont typeface="Wingdings" panose="05000000000000000000" pitchFamily="2" charset="2"/>
              <a:buChar char="u"/>
            </a:pPr>
            <a:r>
              <a:rPr lang="zh-CN" altLang="en-US" sz="18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传输</a:t>
            </a:r>
            <a:r>
              <a:rPr lang="zh-CN" altLang="en-US" sz="18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：关注数据的准备和发送过程，与帧长、数据速率有关。</a:t>
            </a:r>
            <a:endParaRPr lang="en-US" altLang="zh-CN" sz="18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41338">
              <a:lnSpc>
                <a:spcPct val="250000"/>
              </a:lnSpc>
              <a:buClr>
                <a:srgbClr val="FF0000"/>
              </a:buClr>
              <a:buSzPct val="80000"/>
            </a:pPr>
            <a:r>
              <a:rPr lang="zh-CN" altLang="en-US" sz="1800" b="0" i="0" baseline="0" dirty="0">
                <a:latin typeface="微软雅黑" panose="020B0503020204020204" pitchFamily="34" charset="-122"/>
                <a:ea typeface="微软雅黑" panose="020B0503020204020204" pitchFamily="34" charset="-122"/>
              </a:rPr>
              <a:t>传输时延  </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报文长度  </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传输速率，是发送报文所需的时间；</a:t>
            </a:r>
            <a:endParaRPr lang="en-US" altLang="zh-CN" sz="1800" b="0" i="0" baseline="0" dirty="0">
              <a:latin typeface="微软雅黑" panose="020B0503020204020204" pitchFamily="34" charset="-122"/>
              <a:ea typeface="微软雅黑" panose="020B0503020204020204" pitchFamily="34" charset="-122"/>
            </a:endParaRPr>
          </a:p>
          <a:p>
            <a:pPr marL="541338" indent="-360363">
              <a:lnSpc>
                <a:spcPct val="250000"/>
              </a:lnSpc>
              <a:buClr>
                <a:srgbClr val="FF0000"/>
              </a:buClr>
              <a:buSzPct val="80000"/>
              <a:buFont typeface="Wingdings" panose="05000000000000000000" pitchFamily="2" charset="2"/>
              <a:buChar char="u"/>
              <a:defRPr/>
            </a:pPr>
            <a:r>
              <a:rPr lang="zh-CN" altLang="en-US" sz="180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传播</a:t>
            </a:r>
            <a:r>
              <a:rPr lang="zh-CN" altLang="en-US" sz="18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rPr>
              <a:t>：关注信号在物理介质中的移动，与距离、传播速度有关。</a:t>
            </a:r>
            <a:endParaRPr lang="en-US" altLang="zh-CN" sz="18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a:p>
            <a:pPr marL="541338">
              <a:lnSpc>
                <a:spcPct val="250000"/>
              </a:lnSpc>
              <a:buClr>
                <a:srgbClr val="FF0000"/>
              </a:buClr>
              <a:buSzPct val="80000"/>
              <a:defRPr/>
            </a:pPr>
            <a:r>
              <a:rPr lang="zh-CN" altLang="en-US" sz="1800" b="0" i="0" baseline="0" dirty="0">
                <a:latin typeface="微软雅黑" panose="020B0503020204020204" pitchFamily="34" charset="-122"/>
                <a:ea typeface="微软雅黑" panose="020B0503020204020204" pitchFamily="34" charset="-122"/>
              </a:rPr>
              <a:t>传播时延 </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站点距离  </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传播速率，指传输一个比特从源到目标的时间，取决于电磁信号的传播速度（真空中传播速度是 </a:t>
            </a:r>
            <a:r>
              <a:rPr lang="en-US" altLang="zh-CN" sz="1800" b="0" i="0" baseline="0" dirty="0">
                <a:latin typeface="微软雅黑" panose="020B0503020204020204" pitchFamily="34" charset="-122"/>
                <a:ea typeface="微软雅黑" panose="020B0503020204020204" pitchFamily="34" charset="-122"/>
              </a:rPr>
              <a:t>3×10</a:t>
            </a:r>
            <a:r>
              <a:rPr lang="en-US" altLang="zh-CN" sz="1800" b="0" i="0" baseline="30000" dirty="0">
                <a:latin typeface="微软雅黑" panose="020B0503020204020204" pitchFamily="34" charset="-122"/>
                <a:ea typeface="微软雅黑" panose="020B0503020204020204" pitchFamily="34" charset="-122"/>
              </a:rPr>
              <a:t>8</a:t>
            </a:r>
            <a:r>
              <a:rPr lang="en-US" altLang="zh-CN" sz="1800" b="0" i="0" baseline="0" dirty="0">
                <a:latin typeface="微软雅黑" panose="020B0503020204020204" pitchFamily="34" charset="-122"/>
                <a:ea typeface="微软雅黑" panose="020B0503020204020204" pitchFamily="34" charset="-122"/>
              </a:rPr>
              <a:t>m/s</a:t>
            </a:r>
            <a:r>
              <a:rPr lang="zh-CN" altLang="en-US" sz="1800" b="0" i="0" baseline="0" dirty="0">
                <a:latin typeface="微软雅黑" panose="020B0503020204020204" pitchFamily="34" charset="-122"/>
                <a:ea typeface="微软雅黑" panose="020B0503020204020204" pitchFamily="34" charset="-122"/>
              </a:rPr>
              <a:t>）。</a:t>
            </a:r>
            <a:endParaRPr lang="zh-CN" altLang="en-US" sz="1800" b="0" i="0" baseline="0" dirty="0">
              <a:solidFill>
                <a:srgbClr val="000000"/>
              </a:solidFill>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5546" name="Rectangle 11">
            <a:extLst>
              <a:ext uri="{FF2B5EF4-FFF2-40B4-BE49-F238E27FC236}">
                <a16:creationId xmlns:a16="http://schemas.microsoft.com/office/drawing/2014/main" id="{00558D0B-85F3-43B3-BEF1-68916EEBFB0E}"/>
              </a:ext>
            </a:extLst>
          </p:cNvPr>
          <p:cNvSpPr>
            <a:spLocks noChangeArrowheads="1"/>
          </p:cNvSpPr>
          <p:nvPr/>
        </p:nvSpPr>
        <p:spPr bwMode="auto">
          <a:xfrm>
            <a:off x="1304771" y="990664"/>
            <a:ext cx="9753344" cy="1359155"/>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50000"/>
              </a:lnSpc>
              <a:buFont typeface="Arial" panose="020B0604020202020204" pitchFamily="34" charset="0"/>
              <a:buNone/>
            </a:pPr>
            <a:r>
              <a:rPr lang="zh-CN" altLang="en-US" sz="1800" i="0" baseline="0" dirty="0">
                <a:solidFill>
                  <a:schemeClr val="hlink"/>
                </a:solidFill>
                <a:latin typeface="微软雅黑" panose="020B0503020204020204" pitchFamily="34" charset="-122"/>
                <a:ea typeface="微软雅黑" panose="020B0503020204020204" pitchFamily="34" charset="-122"/>
              </a:rPr>
              <a:t>例3.4</a:t>
            </a:r>
            <a:r>
              <a:rPr lang="en-US" altLang="zh-CN" sz="1800" i="0" baseline="0" dirty="0">
                <a:solidFill>
                  <a:schemeClr val="hlink"/>
                </a:solidFill>
                <a:latin typeface="微软雅黑" panose="020B0503020204020204" pitchFamily="34" charset="-122"/>
                <a:ea typeface="微软雅黑" panose="020B0503020204020204" pitchFamily="34" charset="-122"/>
              </a:rPr>
              <a:t>6</a:t>
            </a:r>
            <a:r>
              <a:rPr lang="zh-CN" altLang="en-US" sz="1800" i="0" baseline="0" dirty="0">
                <a:solidFill>
                  <a:schemeClr val="hlink"/>
                </a:solidFill>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如果网络的带宽是 1Gbps，则 2.5 千字节报文的传播时间和传输时间是多少？假定发送方和接收方之间的距离是 12,000 km，光以速度 2.4 × 10</a:t>
            </a:r>
            <a:r>
              <a:rPr lang="zh-CN" altLang="en-US" sz="1800" b="0" i="0" baseline="30000" dirty="0">
                <a:latin typeface="微软雅黑" panose="020B0503020204020204" pitchFamily="34" charset="-122"/>
                <a:ea typeface="微软雅黑" panose="020B0503020204020204" pitchFamily="34" charset="-122"/>
              </a:rPr>
              <a:t>8</a:t>
            </a:r>
            <a:r>
              <a:rPr lang="zh-CN" altLang="en-US" sz="1800" b="0" i="0" baseline="0" dirty="0">
                <a:latin typeface="微软雅黑" panose="020B0503020204020204" pitchFamily="34" charset="-122"/>
                <a:ea typeface="微软雅黑" panose="020B0503020204020204" pitchFamily="34" charset="-122"/>
              </a:rPr>
              <a:t> m/s 传输。</a:t>
            </a:r>
          </a:p>
        </p:txBody>
      </p:sp>
      <p:sp>
        <p:nvSpPr>
          <p:cNvPr id="4" name="Rectangle 11">
            <a:extLst>
              <a:ext uri="{FF2B5EF4-FFF2-40B4-BE49-F238E27FC236}">
                <a16:creationId xmlns:a16="http://schemas.microsoft.com/office/drawing/2014/main" id="{C0C8A328-F23A-426F-B11D-0FA05BB7F546}"/>
              </a:ext>
            </a:extLst>
          </p:cNvPr>
          <p:cNvSpPr>
            <a:spLocks noChangeArrowheads="1"/>
          </p:cNvSpPr>
          <p:nvPr/>
        </p:nvSpPr>
        <p:spPr bwMode="auto">
          <a:xfrm>
            <a:off x="1447921" y="2819416"/>
            <a:ext cx="9610193" cy="277877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lgn="just">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解：</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buFont typeface="Arial" panose="020B0604020202020204" pitchFamily="34" charset="0"/>
              <a:buNone/>
            </a:pPr>
            <a:r>
              <a:rPr lang="zh-CN" altLang="en-US" sz="1800" b="0" i="0" baseline="0" dirty="0">
                <a:latin typeface="微软雅黑" panose="020B0503020204020204" pitchFamily="34" charset="-122"/>
                <a:ea typeface="微软雅黑" panose="020B0503020204020204" pitchFamily="34" charset="-122"/>
              </a:rPr>
              <a:t>              传播时间 </a:t>
            </a:r>
            <a:r>
              <a:rPr lang="en-US" altLang="zh-CN" sz="1800" b="0" i="0" baseline="0" dirty="0">
                <a:latin typeface="微软雅黑" panose="020B0503020204020204" pitchFamily="34" charset="-122"/>
                <a:ea typeface="微软雅黑" panose="020B0503020204020204" pitchFamily="34" charset="-122"/>
              </a:rPr>
              <a:t>= 12,000×1000/2.4×10</a:t>
            </a:r>
            <a:r>
              <a:rPr lang="en-US" altLang="zh-CN" sz="1800" b="0" i="0" baseline="30000" dirty="0">
                <a:latin typeface="微软雅黑" panose="020B0503020204020204" pitchFamily="34" charset="-122"/>
                <a:ea typeface="微软雅黑" panose="020B0503020204020204" pitchFamily="34" charset="-122"/>
              </a:rPr>
              <a:t>8</a:t>
            </a:r>
            <a:r>
              <a:rPr lang="en-US" altLang="zh-CN" sz="1800" b="0" i="0" baseline="0" dirty="0">
                <a:latin typeface="微软雅黑" panose="020B0503020204020204" pitchFamily="34" charset="-122"/>
                <a:ea typeface="微软雅黑" panose="020B0503020204020204" pitchFamily="34" charset="-122"/>
              </a:rPr>
              <a:t> = 50ms</a:t>
            </a:r>
          </a:p>
          <a:p>
            <a:pPr algn="just">
              <a:lnSpc>
                <a:spcPct val="200000"/>
              </a:lnSpc>
              <a:buFont typeface="Arial" panose="020B0604020202020204" pitchFamily="34" charset="0"/>
              <a:buNone/>
            </a:pP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传输时间 </a:t>
            </a:r>
            <a:r>
              <a:rPr lang="en-US" altLang="zh-CN" sz="1800" b="0" i="0" baseline="0" dirty="0">
                <a:latin typeface="微软雅黑" panose="020B0503020204020204" pitchFamily="34" charset="-122"/>
                <a:ea typeface="微软雅黑" panose="020B0503020204020204" pitchFamily="34" charset="-122"/>
              </a:rPr>
              <a:t>= 2500×8/10</a:t>
            </a:r>
            <a:r>
              <a:rPr lang="en-US" altLang="zh-CN" sz="1800" b="0" i="0" baseline="30000" dirty="0">
                <a:latin typeface="微软雅黑" panose="020B0503020204020204" pitchFamily="34" charset="-122"/>
                <a:ea typeface="微软雅黑" panose="020B0503020204020204" pitchFamily="34" charset="-122"/>
              </a:rPr>
              <a:t>9</a:t>
            </a:r>
            <a:r>
              <a:rPr lang="en-US" altLang="zh-CN" sz="1800" b="0" i="0" baseline="0" dirty="0">
                <a:latin typeface="微软雅黑" panose="020B0503020204020204" pitchFamily="34" charset="-122"/>
                <a:ea typeface="微软雅黑" panose="020B0503020204020204" pitchFamily="34" charset="-122"/>
              </a:rPr>
              <a:t> = 0.02ms</a:t>
            </a: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在这个例子中，因为报文较短而带宽较高，主导因素是传播时间而不是传输时间，所以传输时间可以忽略不计。</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1"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up)">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6565" name="Text Box 4">
            <a:extLst>
              <a:ext uri="{FF2B5EF4-FFF2-40B4-BE49-F238E27FC236}">
                <a16:creationId xmlns:a16="http://schemas.microsoft.com/office/drawing/2014/main" id="{0DE5426B-9BE2-44D8-884D-A1414B9AA66E}"/>
              </a:ext>
            </a:extLst>
          </p:cNvPr>
          <p:cNvSpPr txBox="1">
            <a:spLocks noChangeArrowheads="1"/>
          </p:cNvSpPr>
          <p:nvPr/>
        </p:nvSpPr>
        <p:spPr bwMode="auto">
          <a:xfrm>
            <a:off x="5023430" y="4396321"/>
            <a:ext cx="1890261"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400" i="0" baseline="0" dirty="0">
                <a:solidFill>
                  <a:schemeClr val="folHlink"/>
                </a:solidFill>
                <a:ea typeface="宋体" panose="02010600030101010101" pitchFamily="2" charset="-122"/>
              </a:rPr>
              <a:t>图 3.31  </a:t>
            </a:r>
            <a:r>
              <a:rPr lang="zh-CN" altLang="en-US" sz="1400" i="0" baseline="0" dirty="0">
                <a:ea typeface="宋体" panose="02010600030101010101" pitchFamily="2" charset="-122"/>
              </a:rPr>
              <a:t>用位充满链路</a:t>
            </a:r>
          </a:p>
        </p:txBody>
      </p:sp>
      <p:pic>
        <p:nvPicPr>
          <p:cNvPr id="66567" name="Picture 6">
            <a:extLst>
              <a:ext uri="{FF2B5EF4-FFF2-40B4-BE49-F238E27FC236}">
                <a16:creationId xmlns:a16="http://schemas.microsoft.com/office/drawing/2014/main" id="{19DE81C7-AC9D-4125-B998-8FD90BC78829}"/>
              </a:ext>
            </a:extLst>
          </p:cNvPr>
          <p:cNvPicPr>
            <a:picLocks noChangeAspect="1" noChangeArrowheads="1"/>
          </p:cNvPicPr>
          <p:nvPr/>
        </p:nvPicPr>
        <p:blipFill>
          <a:blip r:embed="rId2">
            <a:extLst>
              <a:ext uri="{28A0092B-C50C-407E-A947-70E740481C1C}">
                <a14:useLocalDpi xmlns:a14="http://schemas.microsoft.com/office/drawing/2010/main" val="0"/>
              </a:ext>
            </a:extLst>
          </a:blip>
          <a:srcRect/>
          <a:stretch>
            <a:fillRect/>
          </a:stretch>
        </p:blipFill>
        <p:spPr bwMode="auto">
          <a:xfrm>
            <a:off x="3233520" y="1739822"/>
            <a:ext cx="5724954" cy="25407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66568" name="圆角矩形 7">
            <a:extLst>
              <a:ext uri="{FF2B5EF4-FFF2-40B4-BE49-F238E27FC236}">
                <a16:creationId xmlns:a16="http://schemas.microsoft.com/office/drawing/2014/main" id="{09412395-C1B5-45AF-A69F-BE1BCFC3B686}"/>
              </a:ext>
            </a:extLst>
          </p:cNvPr>
          <p:cNvSpPr>
            <a:spLocks noChangeArrowheads="1"/>
          </p:cNvSpPr>
          <p:nvPr/>
        </p:nvSpPr>
        <p:spPr bwMode="auto">
          <a:xfrm>
            <a:off x="3886258" y="76288"/>
            <a:ext cx="6248442" cy="628650"/>
          </a:xfrm>
          <a:prstGeom prst="roundRect">
            <a:avLst>
              <a:gd name="adj" fmla="val 16667"/>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round/>
                <a:headEnd/>
                <a:tailEnd/>
              </a14:hiddenLine>
            </a:ext>
          </a:extLst>
        </p:spPr>
        <p:txBody>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2400" i="0" baseline="0" dirty="0">
                <a:solidFill>
                  <a:schemeClr val="bg1"/>
                </a:solidFill>
                <a:latin typeface="微软雅黑" panose="020B0503020204020204" pitchFamily="34" charset="-122"/>
                <a:ea typeface="微软雅黑" panose="020B0503020204020204" pitchFamily="34" charset="-122"/>
              </a:rPr>
              <a:t>带宽时延积</a:t>
            </a:r>
            <a:r>
              <a:rPr lang="en-US" altLang="zh-CN" sz="2400" i="0" baseline="0" dirty="0">
                <a:solidFill>
                  <a:schemeClr val="bg1"/>
                </a:solidFill>
                <a:latin typeface="微软雅黑" panose="020B0503020204020204" pitchFamily="34" charset="-122"/>
                <a:ea typeface="微软雅黑" panose="020B0503020204020204" pitchFamily="34" charset="-122"/>
              </a:rPr>
              <a:t>(Bandwidth delay product</a:t>
            </a:r>
            <a:r>
              <a:rPr lang="zh-CN" altLang="en-US" sz="2400" i="0" baseline="0" dirty="0">
                <a:solidFill>
                  <a:schemeClr val="bg1"/>
                </a:solidFill>
                <a:latin typeface="微软雅黑" panose="020B0503020204020204" pitchFamily="34" charset="-122"/>
                <a:ea typeface="微软雅黑" panose="020B0503020204020204" pitchFamily="34" charset="-122"/>
              </a:rPr>
              <a:t>）</a:t>
            </a:r>
          </a:p>
        </p:txBody>
      </p:sp>
      <p:sp>
        <p:nvSpPr>
          <p:cNvPr id="2" name="矩形 1">
            <a:extLst>
              <a:ext uri="{FF2B5EF4-FFF2-40B4-BE49-F238E27FC236}">
                <a16:creationId xmlns:a16="http://schemas.microsoft.com/office/drawing/2014/main" id="{B18C407B-04B2-4E33-B34B-DB6ED93FB84E}"/>
              </a:ext>
            </a:extLst>
          </p:cNvPr>
          <p:cNvSpPr/>
          <p:nvPr/>
        </p:nvSpPr>
        <p:spPr>
          <a:xfrm>
            <a:off x="990734" y="1013854"/>
            <a:ext cx="10439126" cy="418191"/>
          </a:xfrm>
          <a:prstGeom prst="rect">
            <a:avLst/>
          </a:prstGeom>
        </p:spPr>
        <p:txBody>
          <a:bodyPr wrap="square">
            <a:spAutoFit/>
          </a:bodyPr>
          <a:lstStyle/>
          <a:p>
            <a:pPr algn="just">
              <a:lnSpc>
                <a:spcPct val="150000"/>
              </a:lnSpc>
            </a:pPr>
            <a:r>
              <a:rPr lang="zh-CN" altLang="en-US" sz="1600" b="0" i="0" baseline="0" dirty="0">
                <a:latin typeface="微软雅黑" panose="020B0503020204020204" pitchFamily="34" charset="-122"/>
                <a:ea typeface="微软雅黑" panose="020B0503020204020204" pitchFamily="34" charset="-122"/>
              </a:rPr>
              <a:t>带宽时延积</a:t>
            </a:r>
            <a:r>
              <a:rPr lang="zh-CN" altLang="en-US" sz="1600" b="0" i="0" baseline="0" dirty="0">
                <a:solidFill>
                  <a:srgbClr val="333333"/>
                </a:solidFill>
                <a:latin typeface="微软雅黑" panose="020B0503020204020204" pitchFamily="34" charset="-122"/>
                <a:ea typeface="微软雅黑" panose="020B0503020204020204" pitchFamily="34" charset="-122"/>
              </a:rPr>
              <a:t>是</a:t>
            </a:r>
            <a:r>
              <a:rPr lang="zh-CN" altLang="en-US" sz="1600" i="0" baseline="0" dirty="0">
                <a:solidFill>
                  <a:srgbClr val="333333"/>
                </a:solidFill>
                <a:latin typeface="微软雅黑" panose="020B0503020204020204" pitchFamily="34" charset="-122"/>
                <a:ea typeface="微软雅黑" panose="020B0503020204020204" pitchFamily="34" charset="-122"/>
              </a:rPr>
              <a:t>传播时延</a:t>
            </a:r>
            <a:r>
              <a:rPr lang="zh-CN" altLang="en-US" sz="1600" b="0" i="0" baseline="0" dirty="0">
                <a:solidFill>
                  <a:srgbClr val="333333"/>
                </a:solidFill>
                <a:latin typeface="微软雅黑" panose="020B0503020204020204" pitchFamily="34" charset="-122"/>
                <a:ea typeface="微软雅黑" panose="020B0503020204020204" pitchFamily="34" charset="-122"/>
              </a:rPr>
              <a:t>与带宽的乘积，表示一条链路上传播的所有比特的数量，也称为以比特为单位的链路长度。</a:t>
            </a:r>
          </a:p>
        </p:txBody>
      </p:sp>
      <p:sp>
        <p:nvSpPr>
          <p:cNvPr id="7" name="Text Box 4">
            <a:extLst>
              <a:ext uri="{FF2B5EF4-FFF2-40B4-BE49-F238E27FC236}">
                <a16:creationId xmlns:a16="http://schemas.microsoft.com/office/drawing/2014/main" id="{69D0E33E-DC36-4A0B-8FA7-5DB687DCC8AA}"/>
              </a:ext>
            </a:extLst>
          </p:cNvPr>
          <p:cNvSpPr txBox="1">
            <a:spLocks noChangeArrowheads="1"/>
          </p:cNvSpPr>
          <p:nvPr/>
        </p:nvSpPr>
        <p:spPr bwMode="auto">
          <a:xfrm>
            <a:off x="4829598" y="6168300"/>
            <a:ext cx="2428870" cy="307777"/>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none">
            <a:spAutoFit/>
          </a:bodyPr>
          <a:lstStyle>
            <a:lvl1pPr>
              <a:defRPr sz="2800" b="1" i="1" baseline="-18000">
                <a:solidFill>
                  <a:schemeClr val="tx1"/>
                </a:solidFill>
                <a:latin typeface="Times New Roman" panose="02020603050405020304" pitchFamily="18" charset="0"/>
              </a:defRPr>
            </a:lvl1pPr>
            <a:lvl2pPr marL="742950" indent="-285750">
              <a:defRPr sz="2800" b="1" i="1" baseline="-18000">
                <a:solidFill>
                  <a:schemeClr val="tx1"/>
                </a:solidFill>
                <a:latin typeface="Times New Roman" panose="02020603050405020304" pitchFamily="18" charset="0"/>
              </a:defRPr>
            </a:lvl2pPr>
            <a:lvl3pPr marL="1143000" indent="-228600">
              <a:defRPr sz="2800" b="1" i="1" baseline="-18000">
                <a:solidFill>
                  <a:schemeClr val="tx1"/>
                </a:solidFill>
                <a:latin typeface="Times New Roman" panose="02020603050405020304" pitchFamily="18" charset="0"/>
              </a:defRPr>
            </a:lvl3pPr>
            <a:lvl4pPr marL="1600200" indent="-228600">
              <a:defRPr sz="2800" b="1" i="1" baseline="-18000">
                <a:solidFill>
                  <a:schemeClr val="tx1"/>
                </a:solidFill>
                <a:latin typeface="Times New Roman" panose="02020603050405020304" pitchFamily="18" charset="0"/>
              </a:defRPr>
            </a:lvl4pPr>
            <a:lvl5pPr marL="2057400" indent="-228600">
              <a:defRPr sz="2800" b="1" i="1" baseline="-18000">
                <a:solidFill>
                  <a:schemeClr val="tx1"/>
                </a:solidFill>
                <a:latin typeface="Times New Roman" panose="02020603050405020304" pitchFamily="18" charset="0"/>
              </a:defRPr>
            </a:lvl5pPr>
            <a:lvl6pPr marL="2514600" indent="-228600" eaLnBrk="0" fontAlgn="base" hangingPunct="0">
              <a:spcBef>
                <a:spcPct val="0"/>
              </a:spcBef>
              <a:spcAft>
                <a:spcPct val="0"/>
              </a:spcAft>
              <a:defRPr sz="2800" b="1" i="1" baseline="-18000">
                <a:solidFill>
                  <a:schemeClr val="tx1"/>
                </a:solidFill>
                <a:latin typeface="Times New Roman" panose="02020603050405020304" pitchFamily="18" charset="0"/>
              </a:defRPr>
            </a:lvl6pPr>
            <a:lvl7pPr marL="2971800" indent="-228600" eaLnBrk="0" fontAlgn="base" hangingPunct="0">
              <a:spcBef>
                <a:spcPct val="0"/>
              </a:spcBef>
              <a:spcAft>
                <a:spcPct val="0"/>
              </a:spcAft>
              <a:defRPr sz="2800" b="1" i="1" baseline="-18000">
                <a:solidFill>
                  <a:schemeClr val="tx1"/>
                </a:solidFill>
                <a:latin typeface="Times New Roman" panose="02020603050405020304" pitchFamily="18" charset="0"/>
              </a:defRPr>
            </a:lvl7pPr>
            <a:lvl8pPr marL="3429000" indent="-228600" eaLnBrk="0" fontAlgn="base" hangingPunct="0">
              <a:spcBef>
                <a:spcPct val="0"/>
              </a:spcBef>
              <a:spcAft>
                <a:spcPct val="0"/>
              </a:spcAft>
              <a:defRPr sz="2800" b="1" i="1" baseline="-18000">
                <a:solidFill>
                  <a:schemeClr val="tx1"/>
                </a:solidFill>
                <a:latin typeface="Times New Roman" panose="02020603050405020304" pitchFamily="18" charset="0"/>
              </a:defRPr>
            </a:lvl8pPr>
            <a:lvl9pPr marL="3886200" indent="-228600" eaLnBrk="0" fontAlgn="base" hangingPunct="0">
              <a:spcBef>
                <a:spcPct val="0"/>
              </a:spcBef>
              <a:spcAft>
                <a:spcPct val="0"/>
              </a:spcAft>
              <a:defRPr sz="2800" b="1" i="1" baseline="-18000">
                <a:solidFill>
                  <a:schemeClr val="tx1"/>
                </a:solidFill>
                <a:latin typeface="Times New Roman" panose="02020603050405020304" pitchFamily="18" charset="0"/>
              </a:defRPr>
            </a:lvl9pPr>
          </a:lstStyle>
          <a:p>
            <a:pPr>
              <a:buFont typeface="Arial" panose="020B0604020202020204" pitchFamily="34" charset="0"/>
              <a:buNone/>
            </a:pPr>
            <a:r>
              <a:rPr lang="zh-CN" altLang="en-US" sz="1400" i="0" baseline="0" dirty="0">
                <a:solidFill>
                  <a:schemeClr val="folHlink"/>
                </a:solidFill>
                <a:ea typeface="宋体" panose="02010600030101010101" pitchFamily="2" charset="-122"/>
              </a:rPr>
              <a:t>图 3.33  </a:t>
            </a:r>
            <a:r>
              <a:rPr lang="zh-CN" altLang="en-US" sz="1400" i="0" baseline="0" dirty="0">
                <a:ea typeface="宋体" panose="02010600030101010101" pitchFamily="2" charset="-122"/>
              </a:rPr>
              <a:t>带宽时延乘积的概念</a:t>
            </a:r>
          </a:p>
        </p:txBody>
      </p:sp>
      <p:pic>
        <p:nvPicPr>
          <p:cNvPr id="8" name="Picture 6">
            <a:extLst>
              <a:ext uri="{FF2B5EF4-FFF2-40B4-BE49-F238E27FC236}">
                <a16:creationId xmlns:a16="http://schemas.microsoft.com/office/drawing/2014/main" id="{A1261902-4FF0-46F1-B74D-FA045A626AD4}"/>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r="13872"/>
          <a:stretch/>
        </p:blipFill>
        <p:spPr bwMode="auto">
          <a:xfrm>
            <a:off x="5562614" y="4945105"/>
            <a:ext cx="5181294" cy="962621"/>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pic>
      <p:sp>
        <p:nvSpPr>
          <p:cNvPr id="3" name="矩形 2">
            <a:extLst>
              <a:ext uri="{FF2B5EF4-FFF2-40B4-BE49-F238E27FC236}">
                <a16:creationId xmlns:a16="http://schemas.microsoft.com/office/drawing/2014/main" id="{7819DE65-D7F7-45E0-ACBF-DD5E05548A65}"/>
              </a:ext>
            </a:extLst>
          </p:cNvPr>
          <p:cNvSpPr/>
          <p:nvPr/>
        </p:nvSpPr>
        <p:spPr>
          <a:xfrm>
            <a:off x="1448092" y="4945105"/>
            <a:ext cx="3686469" cy="1023742"/>
          </a:xfrm>
          <a:prstGeom prst="rect">
            <a:avLst/>
          </a:prstGeom>
        </p:spPr>
        <p:txBody>
          <a:bodyPr wrap="square">
            <a:spAutoFit/>
          </a:bodyPr>
          <a:lstStyle/>
          <a:p>
            <a:pPr algn="just">
              <a:lnSpc>
                <a:spcPct val="150000"/>
              </a:lnSpc>
            </a:pPr>
            <a:r>
              <a:rPr lang="zh-CN" altLang="en-US" sz="1400" b="0" i="0" baseline="0" dirty="0">
                <a:latin typeface="微软雅黑" panose="020B0503020204020204" pitchFamily="34" charset="-122"/>
                <a:ea typeface="微软雅黑" panose="020B0503020204020204" pitchFamily="34" charset="-122"/>
              </a:rPr>
              <a:t>把两点间的链路看做管道，其横截面表示带宽，长度表示延迟，管道的容量则为带宽时延乘积，定义了能充满链路的位数。</a:t>
            </a: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3"/>
                                        </p:tgtEl>
                                        <p:attrNameLst>
                                          <p:attrName>style.visibility</p:attrName>
                                        </p:attrNameLst>
                                      </p:cBhvr>
                                      <p:to>
                                        <p:strVal val="visible"/>
                                      </p:to>
                                    </p:set>
                                    <p:animEffect transition="in" filter="wipe(left)">
                                      <p:cBhvr>
                                        <p:cTn id="7" dur="500"/>
                                        <p:tgtEl>
                                          <p:spTgt spid="3"/>
                                        </p:tgtEl>
                                      </p:cBhvr>
                                    </p:animEffect>
                                  </p:childTnLst>
                                </p:cTn>
                              </p:par>
                            </p:childTnLst>
                          </p:cTn>
                        </p:par>
                        <p:par>
                          <p:cTn id="8" fill="hold">
                            <p:stCondLst>
                              <p:cond delay="500"/>
                            </p:stCondLst>
                            <p:childTnLst>
                              <p:par>
                                <p:cTn id="9" presetID="22" presetClass="entr" presetSubtype="8" fill="hold" nodeType="afterEffect">
                                  <p:stCondLst>
                                    <p:cond delay="0"/>
                                  </p:stCondLst>
                                  <p:childTnLst>
                                    <p:set>
                                      <p:cBhvr>
                                        <p:cTn id="10" dur="1" fill="hold">
                                          <p:stCondLst>
                                            <p:cond delay="0"/>
                                          </p:stCondLst>
                                        </p:cTn>
                                        <p:tgtEl>
                                          <p:spTgt spid="8"/>
                                        </p:tgtEl>
                                        <p:attrNameLst>
                                          <p:attrName>style.visibility</p:attrName>
                                        </p:attrNameLst>
                                      </p:cBhvr>
                                      <p:to>
                                        <p:strVal val="visible"/>
                                      </p:to>
                                    </p:set>
                                    <p:animEffect transition="in" filter="wipe(left)">
                                      <p:cBhvr>
                                        <p:cTn id="11" dur="500"/>
                                        <p:tgtEl>
                                          <p:spTgt spid="8"/>
                                        </p:tgtEl>
                                      </p:cBhvr>
                                    </p:animEffect>
                                  </p:childTnLst>
                                </p:cTn>
                              </p:par>
                              <p:par>
                                <p:cTn id="12" presetID="22" presetClass="entr" presetSubtype="8" fill="hold" grpId="0" nodeType="withEffect">
                                  <p:stCondLst>
                                    <p:cond delay="0"/>
                                  </p:stCondLst>
                                  <p:childTnLst>
                                    <p:set>
                                      <p:cBhvr>
                                        <p:cTn id="13" dur="1" fill="hold">
                                          <p:stCondLst>
                                            <p:cond delay="0"/>
                                          </p:stCondLst>
                                        </p:cTn>
                                        <p:tgtEl>
                                          <p:spTgt spid="7"/>
                                        </p:tgtEl>
                                        <p:attrNameLst>
                                          <p:attrName>style.visibility</p:attrName>
                                        </p:attrNameLst>
                                      </p:cBhvr>
                                      <p:to>
                                        <p:strVal val="visible"/>
                                      </p:to>
                                    </p:set>
                                    <p:animEffect transition="in" filter="wipe(left)">
                                      <p:cBhvr>
                                        <p:cTn id="14" dur="500"/>
                                        <p:tgtEl>
                                          <p:spTgt spid="7"/>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7" grpId="0"/>
      <p:bldP spid="3" grpId="0"/>
    </p:bldLst>
  </p:timing>
</p:sld>
</file>

<file path=ppt/slides/slide4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C2960478-C667-4FE7-8D32-DD34A4AD7F26}"/>
              </a:ext>
            </a:extLst>
          </p:cNvPr>
          <p:cNvSpPr/>
          <p:nvPr/>
        </p:nvSpPr>
        <p:spPr>
          <a:xfrm>
            <a:off x="1447922" y="1219259"/>
            <a:ext cx="9296155" cy="4094519"/>
          </a:xfrm>
          <a:prstGeom prst="rect">
            <a:avLst/>
          </a:prstGeom>
        </p:spPr>
        <p:txBody>
          <a:bodyPr wrap="square">
            <a:spAutoFit/>
          </a:bodyPr>
          <a:lstStyle/>
          <a:p>
            <a:pPr algn="just">
              <a:lnSpc>
                <a:spcPct val="300000"/>
              </a:lnSpc>
            </a:pPr>
            <a:r>
              <a:rPr lang="zh-CN" altLang="en-US" sz="1800" b="0" i="0" baseline="0" dirty="0">
                <a:latin typeface="微软雅黑" panose="020B0503020204020204" pitchFamily="34" charset="-122"/>
                <a:ea typeface="微软雅黑" panose="020B0503020204020204" pitchFamily="34" charset="-122"/>
              </a:rPr>
              <a:t>利用率分为链路利用率和网络利用率，分别指某条链路被利用的时间百分比和网络中所有链路利用率的加权平均。</a:t>
            </a:r>
            <a:endParaRPr lang="en-US" altLang="zh-CN" sz="1800" b="0" i="0" baseline="0" dirty="0">
              <a:latin typeface="微软雅黑" panose="020B0503020204020204" pitchFamily="34" charset="-122"/>
              <a:ea typeface="微软雅黑" panose="020B0503020204020204" pitchFamily="34" charset="-122"/>
            </a:endParaRPr>
          </a:p>
          <a:p>
            <a:pPr algn="just">
              <a:lnSpc>
                <a:spcPct val="300000"/>
              </a:lnSpc>
            </a:pPr>
            <a:r>
              <a:rPr lang="zh-CN" altLang="en-US" sz="1800" b="0" i="0" baseline="0" dirty="0">
                <a:latin typeface="微软雅黑" panose="020B0503020204020204" pitchFamily="34" charset="-122"/>
                <a:ea typeface="微软雅黑" panose="020B0503020204020204" pitchFamily="34" charset="-122"/>
              </a:rPr>
              <a:t>                        </a:t>
            </a:r>
            <a:r>
              <a:rPr lang="zh-CN" altLang="en-US" sz="1800" i="0" baseline="0" dirty="0">
                <a:latin typeface="微软雅黑" panose="020B0503020204020204" pitchFamily="34" charset="-122"/>
                <a:ea typeface="微软雅黑" panose="020B0503020204020204" pitchFamily="34" charset="-122"/>
              </a:rPr>
              <a:t>最大链路利用率 </a:t>
            </a:r>
            <a:r>
              <a:rPr lang="en-US" altLang="zh-CN" sz="1800" i="0" baseline="0" dirty="0">
                <a:latin typeface="微软雅黑" panose="020B0503020204020204" pitchFamily="34" charset="-122"/>
                <a:ea typeface="微软雅黑" panose="020B0503020204020204" pitchFamily="34" charset="-122"/>
              </a:rPr>
              <a:t>= </a:t>
            </a:r>
            <a:r>
              <a:rPr lang="zh-CN" altLang="en-US" sz="1800" i="0" baseline="0" dirty="0">
                <a:latin typeface="微软雅黑" panose="020B0503020204020204" pitchFamily="34" charset="-122"/>
                <a:ea typeface="微软雅黑" panose="020B0503020204020204" pitchFamily="34" charset="-122"/>
              </a:rPr>
              <a:t>数据传输时间</a:t>
            </a:r>
            <a:r>
              <a:rPr lang="en-US" altLang="zh-CN" sz="1800" i="0" baseline="0" dirty="0">
                <a:latin typeface="微软雅黑" panose="020B0503020204020204" pitchFamily="34" charset="-122"/>
                <a:ea typeface="微软雅黑" panose="020B0503020204020204" pitchFamily="34" charset="-122"/>
              </a:rPr>
              <a:t>/</a:t>
            </a:r>
            <a:r>
              <a:rPr lang="zh-CN" altLang="en-US" sz="1800" i="0" baseline="0" dirty="0">
                <a:latin typeface="微软雅黑" panose="020B0503020204020204" pitchFamily="34" charset="-122"/>
                <a:ea typeface="微软雅黑" panose="020B0503020204020204" pitchFamily="34" charset="-122"/>
              </a:rPr>
              <a:t>发送周期</a:t>
            </a:r>
          </a:p>
          <a:p>
            <a:pPr algn="just">
              <a:lnSpc>
                <a:spcPct val="300000"/>
              </a:lnSpc>
            </a:pPr>
            <a:r>
              <a:rPr lang="zh-CN" altLang="en-US" sz="1800" b="0" i="0" baseline="0" dirty="0">
                <a:latin typeface="微软雅黑" panose="020B0503020204020204" pitchFamily="34" charset="-122"/>
                <a:ea typeface="微软雅黑" panose="020B0503020204020204" pitchFamily="34" charset="-122"/>
              </a:rPr>
              <a:t>其中发送周期指的是从发送第一个数据帧开始，到接收到确认帧的时间，包括发送方（传输时延</a:t>
            </a:r>
            <a:r>
              <a:rPr lang="en-US" altLang="zh-CN" sz="1800" b="0" i="0" baseline="0" dirty="0">
                <a:latin typeface="微软雅黑" panose="020B0503020204020204" pitchFamily="34" charset="-122"/>
                <a:ea typeface="微软雅黑" panose="020B0503020204020204" pitchFamily="34" charset="-122"/>
              </a:rPr>
              <a:t>+</a:t>
            </a:r>
            <a:r>
              <a:rPr lang="zh-CN" altLang="en-US" sz="1800" b="0" i="0" baseline="0" dirty="0">
                <a:latin typeface="微软雅黑" panose="020B0503020204020204" pitchFamily="34" charset="-122"/>
                <a:ea typeface="微软雅黑" panose="020B0503020204020204" pitchFamily="34" charset="-122"/>
              </a:rPr>
              <a:t>传播时延）</a:t>
            </a:r>
            <a:r>
              <a:rPr lang="en-US" altLang="zh-CN" sz="1800" b="0" i="0" baseline="0" dirty="0">
                <a:latin typeface="微软雅黑" panose="020B0503020204020204" pitchFamily="34" charset="-122"/>
                <a:ea typeface="微软雅黑" panose="020B0503020204020204" pitchFamily="34" charset="-122"/>
              </a:rPr>
              <a:t>+ </a:t>
            </a:r>
            <a:r>
              <a:rPr lang="zh-CN" altLang="en-US" sz="1800" b="0" i="0" baseline="0" dirty="0">
                <a:latin typeface="微软雅黑" panose="020B0503020204020204" pitchFamily="34" charset="-122"/>
                <a:ea typeface="微软雅黑" panose="020B0503020204020204" pitchFamily="34" charset="-122"/>
              </a:rPr>
              <a:t>接收方（传输时延</a:t>
            </a:r>
            <a:r>
              <a:rPr lang="en-US" altLang="zh-CN" sz="1800" b="0" i="0" baseline="0" dirty="0">
                <a:latin typeface="微软雅黑" panose="020B0503020204020204" pitchFamily="34" charset="-122"/>
                <a:ea typeface="微软雅黑" panose="020B0503020204020204" pitchFamily="34" charset="-122"/>
              </a:rPr>
              <a:t>+</a:t>
            </a:r>
            <a:r>
              <a:rPr lang="zh-CN" altLang="en-US" sz="1800" b="0" i="0" baseline="0" dirty="0">
                <a:latin typeface="微软雅黑" panose="020B0503020204020204" pitchFamily="34" charset="-122"/>
                <a:ea typeface="微软雅黑" panose="020B0503020204020204" pitchFamily="34" charset="-122"/>
              </a:rPr>
              <a:t>传播时延）。</a:t>
            </a:r>
          </a:p>
        </p:txBody>
      </p:sp>
      <p:sp>
        <p:nvSpPr>
          <p:cNvPr id="3" name="矩形 2">
            <a:extLst>
              <a:ext uri="{FF2B5EF4-FFF2-40B4-BE49-F238E27FC236}">
                <a16:creationId xmlns:a16="http://schemas.microsoft.com/office/drawing/2014/main" id="{0B8C6FCA-BE73-4CF4-8C5C-851F1D3CD7EB}"/>
              </a:ext>
            </a:extLst>
          </p:cNvPr>
          <p:cNvSpPr/>
          <p:nvPr/>
        </p:nvSpPr>
        <p:spPr>
          <a:xfrm>
            <a:off x="4038654" y="87577"/>
            <a:ext cx="3839513" cy="523220"/>
          </a:xfrm>
          <a:prstGeom prst="rect">
            <a:avLst/>
          </a:prstGeom>
        </p:spPr>
        <p:txBody>
          <a:bodyPr wrap="none">
            <a:spAutoFit/>
          </a:bodyPr>
          <a:lstStyle/>
          <a:p>
            <a:r>
              <a:rPr lang="zh-CN" altLang="en-US" i="0" baseline="0" dirty="0">
                <a:solidFill>
                  <a:schemeClr val="bg1"/>
                </a:solidFill>
                <a:latin typeface="微软雅黑" panose="020B0503020204020204" pitchFamily="34" charset="-122"/>
                <a:ea typeface="微软雅黑" panose="020B0503020204020204" pitchFamily="34" charset="-122"/>
              </a:rPr>
              <a:t>利用率（</a:t>
            </a:r>
            <a:r>
              <a:rPr lang="en-US" altLang="zh-CN" i="0" baseline="0" dirty="0">
                <a:solidFill>
                  <a:schemeClr val="bg1"/>
                </a:solidFill>
                <a:latin typeface="微软雅黑" panose="020B0503020204020204" pitchFamily="34" charset="-122"/>
                <a:ea typeface="微软雅黑" panose="020B0503020204020204" pitchFamily="34" charset="-122"/>
              </a:rPr>
              <a:t>Utilization</a:t>
            </a:r>
            <a:r>
              <a:rPr lang="zh-CN" altLang="en-US" i="0" baseline="0" dirty="0">
                <a:solidFill>
                  <a:schemeClr val="bg1"/>
                </a:solidFill>
                <a:latin typeface="微软雅黑" panose="020B0503020204020204" pitchFamily="34" charset="-122"/>
                <a:ea typeface="微软雅黑" panose="020B0503020204020204" pitchFamily="34" charset="-122"/>
              </a:rPr>
              <a:t>）</a:t>
            </a:r>
          </a:p>
        </p:txBody>
      </p:sp>
    </p:spTree>
    <p:extLst>
      <p:ext uri="{BB962C8B-B14F-4D97-AF65-F5344CB8AC3E}">
        <p14:creationId xmlns:p14="http://schemas.microsoft.com/office/powerpoint/2010/main" val="3312385113"/>
      </p:ext>
    </p:extLst>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矩形 3">
            <a:extLst>
              <a:ext uri="{FF2B5EF4-FFF2-40B4-BE49-F238E27FC236}">
                <a16:creationId xmlns:a16="http://schemas.microsoft.com/office/drawing/2014/main" id="{31486401-1E40-46D2-9312-18CFFEA244C0}"/>
              </a:ext>
            </a:extLst>
          </p:cNvPr>
          <p:cNvSpPr/>
          <p:nvPr/>
        </p:nvSpPr>
        <p:spPr>
          <a:xfrm>
            <a:off x="1676516" y="1254826"/>
            <a:ext cx="8915166" cy="1670778"/>
          </a:xfrm>
          <a:prstGeom prst="rect">
            <a:avLst/>
          </a:prstGeom>
        </p:spPr>
        <p:txBody>
          <a:bodyPr wrap="square">
            <a:spAutoFit/>
          </a:bodyPr>
          <a:lstStyle/>
          <a:p>
            <a:pPr algn="just">
              <a:lnSpc>
                <a:spcPct val="200000"/>
              </a:lnSpc>
            </a:pPr>
            <a:r>
              <a:rPr lang="zh-CN" altLang="en-US" sz="1800" i="0" baseline="0" dirty="0">
                <a:solidFill>
                  <a:srgbClr val="FF0000"/>
                </a:solidFill>
                <a:latin typeface="微软雅黑" panose="020B0503020204020204" pitchFamily="34" charset="-122"/>
                <a:ea typeface="微软雅黑" panose="020B0503020204020204" pitchFamily="34" charset="-122"/>
              </a:rPr>
              <a:t>例</a:t>
            </a:r>
            <a:r>
              <a:rPr lang="zh-CN" altLang="en-US" sz="1800" b="0" i="0" baseline="0" dirty="0">
                <a:latin typeface="微软雅黑" panose="020B0503020204020204" pitchFamily="34" charset="-122"/>
                <a:ea typeface="微软雅黑" panose="020B0503020204020204" pitchFamily="34" charset="-122"/>
              </a:rPr>
              <a:t>  假设地球到某个行星的距离约为 </a:t>
            </a:r>
            <a:r>
              <a:rPr lang="en-US" altLang="zh-CN" sz="1800" b="0" i="0" baseline="0" dirty="0">
                <a:latin typeface="微软雅黑" panose="020B0503020204020204" pitchFamily="34" charset="-122"/>
                <a:ea typeface="微软雅黑" panose="020B0503020204020204" pitchFamily="34" charset="-122"/>
              </a:rPr>
              <a:t>9×10</a:t>
            </a:r>
            <a:r>
              <a:rPr lang="en-US" altLang="zh-CN" sz="1800" b="0" i="0" baseline="30000" dirty="0">
                <a:latin typeface="微软雅黑" panose="020B0503020204020204" pitchFamily="34" charset="-122"/>
                <a:ea typeface="微软雅黑" panose="020B0503020204020204" pitchFamily="34" charset="-122"/>
              </a:rPr>
              <a:t>10 </a:t>
            </a:r>
            <a:r>
              <a:rPr lang="zh-CN" altLang="en-US" sz="1800" b="0" i="0" baseline="0" dirty="0">
                <a:latin typeface="微软雅黑" panose="020B0503020204020204" pitchFamily="34" charset="-122"/>
                <a:ea typeface="微软雅黑" panose="020B0503020204020204" pitchFamily="34" charset="-122"/>
              </a:rPr>
              <a:t>米，在一条 </a:t>
            </a:r>
            <a:r>
              <a:rPr lang="en-US" altLang="zh-CN" sz="1800" b="0" i="0" baseline="0" dirty="0">
                <a:latin typeface="微软雅黑" panose="020B0503020204020204" pitchFamily="34" charset="-122"/>
                <a:ea typeface="微软雅黑" panose="020B0503020204020204" pitchFamily="34" charset="-122"/>
              </a:rPr>
              <a:t>128Mbps </a:t>
            </a:r>
            <a:r>
              <a:rPr lang="zh-CN" altLang="en-US" sz="1800" b="0" i="0" baseline="0" dirty="0">
                <a:latin typeface="微软雅黑" panose="020B0503020204020204" pitchFamily="34" charset="-122"/>
                <a:ea typeface="微软雅黑" panose="020B0503020204020204" pitchFamily="34" charset="-122"/>
              </a:rPr>
              <a:t>的点到点链路上传输数据帧，帧大小为 </a:t>
            </a:r>
            <a:r>
              <a:rPr lang="en-US" altLang="zh-CN" sz="1800" b="0" i="0" baseline="0" dirty="0">
                <a:latin typeface="微软雅黑" panose="020B0503020204020204" pitchFamily="34" charset="-122"/>
                <a:ea typeface="微软雅黑" panose="020B0503020204020204" pitchFamily="34" charset="-122"/>
              </a:rPr>
              <a:t>64k </a:t>
            </a:r>
            <a:r>
              <a:rPr lang="zh-CN" altLang="en-US" sz="1800" b="0" i="0" baseline="0" dirty="0">
                <a:latin typeface="微软雅黑" panose="020B0503020204020204" pitchFamily="34" charset="-122"/>
                <a:ea typeface="微软雅黑" panose="020B0503020204020204" pitchFamily="34" charset="-122"/>
              </a:rPr>
              <a:t>字节，光速为 </a:t>
            </a:r>
            <a:r>
              <a:rPr lang="en-US" altLang="zh-CN" sz="1800" b="0" i="0" baseline="0" dirty="0">
                <a:latin typeface="微软雅黑" panose="020B0503020204020204" pitchFamily="34" charset="-122"/>
                <a:ea typeface="微软雅黑" panose="020B0503020204020204" pitchFamily="34" charset="-122"/>
              </a:rPr>
              <a:t>3×10</a:t>
            </a:r>
            <a:r>
              <a:rPr lang="en-US" altLang="zh-CN" sz="1800" b="0" i="0" baseline="30000" dirty="0">
                <a:latin typeface="微软雅黑" panose="020B0503020204020204" pitchFamily="34" charset="-122"/>
                <a:ea typeface="微软雅黑" panose="020B0503020204020204" pitchFamily="34" charset="-122"/>
              </a:rPr>
              <a:t>8 </a:t>
            </a:r>
            <a:r>
              <a:rPr lang="zh-CN" altLang="en-US" sz="1800" b="0" i="0" baseline="0" dirty="0">
                <a:latin typeface="微软雅黑" panose="020B0503020204020204" pitchFamily="34" charset="-122"/>
                <a:ea typeface="微软雅黑" panose="020B0503020204020204" pitchFamily="34" charset="-122"/>
              </a:rPr>
              <a:t>米</a:t>
            </a:r>
            <a:r>
              <a:rPr lang="en-US" altLang="zh-CN" sz="1800" b="0" i="0" baseline="0" dirty="0">
                <a:latin typeface="微软雅黑" panose="020B0503020204020204" pitchFamily="34" charset="-122"/>
                <a:ea typeface="微软雅黑" panose="020B0503020204020204" pitchFamily="34" charset="-122"/>
              </a:rPr>
              <a:t>/</a:t>
            </a:r>
            <a:r>
              <a:rPr lang="zh-CN" altLang="en-US" sz="1800" b="0" i="0" baseline="0" dirty="0">
                <a:latin typeface="微软雅黑" panose="020B0503020204020204" pitchFamily="34" charset="-122"/>
                <a:ea typeface="微软雅黑" panose="020B0503020204020204" pitchFamily="34" charset="-122"/>
              </a:rPr>
              <a:t>秒。若采用简单停</a:t>
            </a:r>
            <a:r>
              <a:rPr lang="en-US" altLang="zh-CN" sz="1800" b="0" i="0" baseline="0" dirty="0">
                <a:latin typeface="微软雅黑" panose="020B0503020204020204" pitchFamily="34" charset="-122"/>
                <a:ea typeface="微软雅黑" panose="020B0503020204020204" pitchFamily="34" charset="-122"/>
              </a:rPr>
              <a:t>-</a:t>
            </a:r>
            <a:r>
              <a:rPr lang="zh-CN" altLang="en-US" sz="1800" b="0" i="0" baseline="0" dirty="0">
                <a:latin typeface="微软雅黑" panose="020B0503020204020204" pitchFamily="34" charset="-122"/>
                <a:ea typeface="微软雅黑" panose="020B0503020204020204" pitchFamily="34" charset="-122"/>
              </a:rPr>
              <a:t>等协议，信道利用率是多少？</a:t>
            </a:r>
          </a:p>
        </p:txBody>
      </p:sp>
      <p:sp>
        <p:nvSpPr>
          <p:cNvPr id="6" name="矩形 5">
            <a:extLst>
              <a:ext uri="{FF2B5EF4-FFF2-40B4-BE49-F238E27FC236}">
                <a16:creationId xmlns:a16="http://schemas.microsoft.com/office/drawing/2014/main" id="{E62BB0F1-2114-4309-A4AA-41C71D6A7D10}"/>
              </a:ext>
            </a:extLst>
          </p:cNvPr>
          <p:cNvSpPr/>
          <p:nvPr/>
        </p:nvSpPr>
        <p:spPr>
          <a:xfrm>
            <a:off x="1752714" y="3111060"/>
            <a:ext cx="8566371" cy="2778774"/>
          </a:xfrm>
          <a:prstGeom prst="rect">
            <a:avLst/>
          </a:prstGeom>
        </p:spPr>
        <p:txBody>
          <a:bodyPr wrap="square">
            <a:spAutoFit/>
          </a:bodyPr>
          <a:lstStyle/>
          <a:p>
            <a:pPr algn="just">
              <a:lnSpc>
                <a:spcPct val="200000"/>
              </a:lnSpc>
            </a:pPr>
            <a:r>
              <a:rPr lang="zh-CN" altLang="en-US" sz="1800" b="0" i="0" baseline="0" dirty="0">
                <a:latin typeface="微软雅黑" panose="020B0503020204020204" pitchFamily="34" charset="-122"/>
                <a:ea typeface="微软雅黑" panose="020B0503020204020204" pitchFamily="34" charset="-122"/>
              </a:rPr>
              <a:t>解：</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    地球到行星的传播时延为 </a:t>
            </a:r>
            <a:r>
              <a:rPr lang="en-US" altLang="zh-CN" sz="1800" b="0" i="0" baseline="0" dirty="0">
                <a:latin typeface="微软雅黑" panose="020B0503020204020204" pitchFamily="34" charset="-122"/>
                <a:ea typeface="微软雅黑" panose="020B0503020204020204" pitchFamily="34" charset="-122"/>
              </a:rPr>
              <a:t>9×10</a:t>
            </a:r>
            <a:r>
              <a:rPr lang="en-US" altLang="zh-CN" sz="1800" b="0" i="0" baseline="30000" dirty="0">
                <a:latin typeface="微软雅黑" panose="020B0503020204020204" pitchFamily="34" charset="-122"/>
                <a:ea typeface="微软雅黑" panose="020B0503020204020204" pitchFamily="34" charset="-122"/>
              </a:rPr>
              <a:t>10</a:t>
            </a:r>
            <a:r>
              <a:rPr lang="en-US" altLang="zh-CN" sz="1800" b="0" i="0" baseline="0" dirty="0">
                <a:latin typeface="微软雅黑" panose="020B0503020204020204" pitchFamily="34" charset="-122"/>
                <a:ea typeface="微软雅黑" panose="020B0503020204020204" pitchFamily="34" charset="-122"/>
              </a:rPr>
              <a:t>/ 3×10</a:t>
            </a:r>
            <a:r>
              <a:rPr lang="en-US" altLang="zh-CN" sz="1800" b="0" i="0" baseline="30000" dirty="0">
                <a:latin typeface="微软雅黑" panose="020B0503020204020204" pitchFamily="34" charset="-122"/>
                <a:ea typeface="微软雅黑" panose="020B0503020204020204" pitchFamily="34" charset="-122"/>
              </a:rPr>
              <a:t>8 </a:t>
            </a:r>
            <a:r>
              <a:rPr lang="en-US" altLang="zh-CN" sz="1800" b="0" i="0" baseline="0" dirty="0">
                <a:latin typeface="微软雅黑" panose="020B0503020204020204" pitchFamily="34" charset="-122"/>
                <a:ea typeface="微软雅黑" panose="020B0503020204020204" pitchFamily="34" charset="-122"/>
              </a:rPr>
              <a:t>= 300s</a:t>
            </a:r>
            <a:r>
              <a:rPr lang="zh-CN" altLang="en-US" sz="1800" b="0" i="0" baseline="0" dirty="0">
                <a:latin typeface="微软雅黑" panose="020B0503020204020204" pitchFamily="34" charset="-122"/>
                <a:ea typeface="微软雅黑" panose="020B0503020204020204" pitchFamily="34" charset="-122"/>
              </a:rPr>
              <a:t>，</a:t>
            </a: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    发送一帧的传输时延为 </a:t>
            </a:r>
            <a:r>
              <a:rPr lang="en-US" altLang="zh-CN" sz="1800" b="0" i="0" baseline="0" dirty="0">
                <a:latin typeface="微软雅黑" panose="020B0503020204020204" pitchFamily="34" charset="-122"/>
                <a:ea typeface="微软雅黑" panose="020B0503020204020204" pitchFamily="34" charset="-122"/>
              </a:rPr>
              <a:t>64×8×10</a:t>
            </a:r>
            <a:r>
              <a:rPr lang="en-US" altLang="zh-CN" sz="1800" b="0" i="0" baseline="30000" dirty="0">
                <a:latin typeface="微软雅黑" panose="020B0503020204020204" pitchFamily="34" charset="-122"/>
                <a:ea typeface="微软雅黑" panose="020B0503020204020204" pitchFamily="34" charset="-122"/>
              </a:rPr>
              <a:t>3</a:t>
            </a:r>
            <a:r>
              <a:rPr lang="en-US" altLang="zh-CN" sz="1800" b="0" i="0" baseline="0" dirty="0">
                <a:latin typeface="微软雅黑" panose="020B0503020204020204" pitchFamily="34" charset="-122"/>
                <a:ea typeface="微软雅黑" panose="020B0503020204020204" pitchFamily="34" charset="-122"/>
              </a:rPr>
              <a:t> / 128×10</a:t>
            </a:r>
            <a:r>
              <a:rPr lang="en-US" altLang="zh-CN" sz="1800" b="0" i="0" baseline="30000" dirty="0">
                <a:latin typeface="微软雅黑" panose="020B0503020204020204" pitchFamily="34" charset="-122"/>
                <a:ea typeface="微软雅黑" panose="020B0503020204020204" pitchFamily="34" charset="-122"/>
              </a:rPr>
              <a:t>6</a:t>
            </a:r>
            <a:r>
              <a:rPr lang="en-US" altLang="zh-CN" sz="1800" b="0" i="0" baseline="0" dirty="0">
                <a:latin typeface="微软雅黑" panose="020B0503020204020204" pitchFamily="34" charset="-122"/>
                <a:ea typeface="微软雅黑" panose="020B0503020204020204" pitchFamily="34" charset="-122"/>
              </a:rPr>
              <a:t> = 4 </a:t>
            </a:r>
            <a:r>
              <a:rPr lang="en-US" altLang="zh-CN" sz="1800" b="0" i="0" baseline="0" dirty="0" err="1">
                <a:latin typeface="微软雅黑" panose="020B0503020204020204" pitchFamily="34" charset="-122"/>
                <a:ea typeface="微软雅黑" panose="020B0503020204020204" pitchFamily="34" charset="-122"/>
              </a:rPr>
              <a:t>ms</a:t>
            </a:r>
            <a:r>
              <a:rPr lang="zh-CN" altLang="en-US" sz="1800" b="0" i="0" baseline="0" dirty="0">
                <a:latin typeface="微软雅黑" panose="020B0503020204020204" pitchFamily="34" charset="-122"/>
                <a:ea typeface="微软雅黑" panose="020B0503020204020204" pitchFamily="34" charset="-122"/>
              </a:rPr>
              <a:t>，</a:t>
            </a:r>
          </a:p>
          <a:p>
            <a:pPr algn="just">
              <a:lnSpc>
                <a:spcPct val="200000"/>
              </a:lnSpc>
            </a:pPr>
            <a:r>
              <a:rPr lang="zh-CN" altLang="en-US" sz="1800" b="0" i="0" baseline="0" dirty="0">
                <a:latin typeface="微软雅黑" panose="020B0503020204020204" pitchFamily="34" charset="-122"/>
                <a:ea typeface="微软雅黑" panose="020B0503020204020204" pitchFamily="34" charset="-122"/>
              </a:rPr>
              <a:t>    若采用停</a:t>
            </a:r>
            <a:r>
              <a:rPr lang="en-US" altLang="zh-CN" sz="1800" b="0" i="0" baseline="0" dirty="0">
                <a:latin typeface="微软雅黑" panose="020B0503020204020204" pitchFamily="34" charset="-122"/>
                <a:ea typeface="微软雅黑" panose="020B0503020204020204" pitchFamily="34" charset="-122"/>
              </a:rPr>
              <a:t>-</a:t>
            </a:r>
            <a:r>
              <a:rPr lang="zh-CN" altLang="en-US" sz="1800" b="0" i="0" baseline="0" dirty="0">
                <a:latin typeface="微软雅黑" panose="020B0503020204020204" pitchFamily="34" charset="-122"/>
                <a:ea typeface="微软雅黑" panose="020B0503020204020204" pitchFamily="34" charset="-122"/>
              </a:rPr>
              <a:t>等协议，信道利用率为</a:t>
            </a:r>
            <a:endParaRPr lang="en-US" altLang="zh-CN" sz="1800" b="0" i="0" baseline="0" dirty="0">
              <a:latin typeface="微软雅黑" panose="020B0503020204020204" pitchFamily="34" charset="-122"/>
              <a:ea typeface="微软雅黑" panose="020B0503020204020204" pitchFamily="34" charset="-122"/>
            </a:endParaRPr>
          </a:p>
          <a:p>
            <a:pPr algn="just">
              <a:lnSpc>
                <a:spcPct val="200000"/>
              </a:lnSpc>
            </a:pPr>
            <a:r>
              <a:rPr lang="en-US" altLang="zh-CN" sz="1800" b="0" i="0" baseline="0" dirty="0">
                <a:latin typeface="微软雅黑" panose="020B0503020204020204" pitchFamily="34" charset="-122"/>
                <a:ea typeface="微软雅黑" panose="020B0503020204020204" pitchFamily="34" charset="-122"/>
              </a:rPr>
              <a:t>               4×10</a:t>
            </a:r>
            <a:r>
              <a:rPr lang="en-US" altLang="zh-CN" sz="1800" b="0" i="0" baseline="30000" dirty="0">
                <a:latin typeface="微软雅黑" panose="020B0503020204020204" pitchFamily="34" charset="-122"/>
                <a:ea typeface="微软雅黑" panose="020B0503020204020204" pitchFamily="34" charset="-122"/>
              </a:rPr>
              <a:t>-3</a:t>
            </a:r>
            <a:r>
              <a:rPr lang="en-US" altLang="zh-CN" sz="1800" b="0" i="0" baseline="0" dirty="0">
                <a:latin typeface="微软雅黑" panose="020B0503020204020204" pitchFamily="34" charset="-122"/>
                <a:ea typeface="微软雅黑" panose="020B0503020204020204" pitchFamily="34" charset="-122"/>
              </a:rPr>
              <a:t>/ (4×10</a:t>
            </a:r>
            <a:r>
              <a:rPr lang="en-US" altLang="zh-CN" sz="1800" b="0" i="0" baseline="30000" dirty="0">
                <a:latin typeface="微软雅黑" panose="020B0503020204020204" pitchFamily="34" charset="-122"/>
                <a:ea typeface="微软雅黑" panose="020B0503020204020204" pitchFamily="34" charset="-122"/>
              </a:rPr>
              <a:t>-3 </a:t>
            </a:r>
            <a:r>
              <a:rPr lang="en-US" altLang="zh-CN" sz="1800" b="0" i="0" baseline="0" dirty="0">
                <a:latin typeface="微软雅黑" panose="020B0503020204020204" pitchFamily="34" charset="-122"/>
                <a:ea typeface="微软雅黑" panose="020B0503020204020204" pitchFamily="34" charset="-122"/>
              </a:rPr>
              <a:t>+300+300) = 6.67×10</a:t>
            </a:r>
            <a:r>
              <a:rPr lang="en-US" altLang="zh-CN" sz="1800" b="0" i="0" baseline="30000" dirty="0">
                <a:latin typeface="微软雅黑" panose="020B0503020204020204" pitchFamily="34" charset="-122"/>
                <a:ea typeface="微软雅黑" panose="020B0503020204020204" pitchFamily="34" charset="-122"/>
              </a:rPr>
              <a:t>-6</a:t>
            </a:r>
            <a:endParaRPr lang="en-US" altLang="zh-CN" sz="1800" b="0" i="0" baseline="0" dirty="0">
              <a:latin typeface="微软雅黑" panose="020B0503020204020204" pitchFamily="34" charset="-122"/>
              <a:ea typeface="微软雅黑" panose="020B0503020204020204" pitchFamily="34" charset="-122"/>
            </a:endParaRPr>
          </a:p>
        </p:txBody>
      </p:sp>
    </p:spTree>
    <p:extLst>
      <p:ext uri="{BB962C8B-B14F-4D97-AF65-F5344CB8AC3E}">
        <p14:creationId xmlns:p14="http://schemas.microsoft.com/office/powerpoint/2010/main" val="414635606"/>
      </p:ext>
    </p:extLst>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6"/>
                                        </p:tgtEl>
                                        <p:attrNameLst>
                                          <p:attrName>style.visibility</p:attrName>
                                        </p:attrNameLst>
                                      </p:cBhvr>
                                      <p:to>
                                        <p:strVal val="visible"/>
                                      </p:to>
                                    </p:set>
                                    <p:animEffect transition="in" filter="wipe(left)">
                                      <p:cBhvr>
                                        <p:cTn id="7" dur="500"/>
                                        <p:tgtEl>
                                          <p:spTgt spid="6"/>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6" grpId="0"/>
    </p:bldLst>
  </p:timing>
</p:sld>
</file>

<file path=ppt/slides/slide4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39268" name="矩形 2">
            <a:extLst>
              <a:ext uri="{FF2B5EF4-FFF2-40B4-BE49-F238E27FC236}">
                <a16:creationId xmlns:a16="http://schemas.microsoft.com/office/drawing/2014/main" id="{5363DFEB-75F4-4B17-8D0D-0F531A3A3C50}"/>
              </a:ext>
            </a:extLst>
          </p:cNvPr>
          <p:cNvSpPr>
            <a:spLocks noChangeArrowheads="1"/>
          </p:cNvSpPr>
          <p:nvPr/>
        </p:nvSpPr>
        <p:spPr bwMode="auto">
          <a:xfrm>
            <a:off x="1219200" y="948554"/>
            <a:ext cx="9753600" cy="2308324"/>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355600" marR="0" lvl="0" indent="-35560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例</a:t>
            </a:r>
            <a:r>
              <a:rPr kumimoji="0" lang="en-US" altLang="zh-CN" sz="18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用户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与用户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B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通过卫星链路通信时，传播延迟为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270ms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，假设数据速率为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64kb/s</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，帧长为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4000bit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55600" marR="0" lvl="0" indent="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）若采用停止等待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ARQ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协议通信，则最大链路利用率是多少？</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L="355600" marR="0" lvl="0" indent="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）若采用返回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N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帧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ARQ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协议通信，发送窗口为 </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，则最大链路利用率可以达到多少？</a:t>
            </a:r>
          </a:p>
        </p:txBody>
      </p:sp>
      <p:sp>
        <p:nvSpPr>
          <p:cNvPr id="2" name="矩形 1">
            <a:extLst>
              <a:ext uri="{FF2B5EF4-FFF2-40B4-BE49-F238E27FC236}">
                <a16:creationId xmlns:a16="http://schemas.microsoft.com/office/drawing/2014/main" id="{76A8565A-9769-4DFD-A80B-52DF8C6A7ADC}"/>
              </a:ext>
            </a:extLst>
          </p:cNvPr>
          <p:cNvSpPr/>
          <p:nvPr/>
        </p:nvSpPr>
        <p:spPr>
          <a:xfrm>
            <a:off x="1336228" y="3733792"/>
            <a:ext cx="9525000" cy="1732334"/>
          </a:xfrm>
          <a:prstGeom prst="rect">
            <a:avLst/>
          </a:prstGeom>
        </p:spPr>
        <p:txBody>
          <a:bodyPr wrap="square">
            <a:spAutoFit/>
          </a:bodyPr>
          <a:lstStyle/>
          <a:p>
            <a:pPr marL="0" marR="0" lvl="0" indent="0" algn="l"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2000" b="1"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注意</a:t>
            </a:r>
            <a:r>
              <a:rPr kumimoji="0" lang="zh-CN" altLang="en-US"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endParaRPr kumimoji="0" lang="en-US" altLang="zh-CN" sz="2000" b="0" i="0" u="none" strike="noStrike" kern="1200" cap="none" spc="0" normalizeH="0" baseline="0" noProof="0" dirty="0">
              <a:ln>
                <a:noFill/>
              </a:ln>
              <a:solidFill>
                <a:srgbClr val="FF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a:p>
            <a:pPr marR="0" lvl="0" algn="l" defTabSz="914400" rtl="0" eaLnBrk="0" fontAlgn="base" latinLnBrk="0" hangingPunct="0">
              <a:lnSpc>
                <a:spcPct val="200000"/>
              </a:lnSpc>
              <a:spcBef>
                <a:spcPct val="0"/>
              </a:spcBef>
              <a:spcAft>
                <a:spcPct val="0"/>
              </a:spcAft>
              <a:buClr>
                <a:srgbClr val="FF0000"/>
              </a:buClr>
              <a:buSzPct val="80000"/>
              <a:tabLst/>
              <a:defRPr/>
            </a:pPr>
            <a:r>
              <a:rPr kumimoji="0" lang="zh-CN" altLang="en-US" sz="1800" b="1"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最大链路利用率</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：一个周期中（传输时延</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传播时延）按最大窗口发送帧的时间（传输时延）</a:t>
            </a:r>
            <a:r>
              <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总时延。</a:t>
            </a:r>
            <a:endParaRPr kumimoji="0" lang="en-US" altLang="zh-CN" sz="18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2"/>
                                        </p:tgtEl>
                                        <p:attrNameLst>
                                          <p:attrName>style.visibility</p:attrName>
                                        </p:attrNameLst>
                                      </p:cBhvr>
                                      <p:to>
                                        <p:strVal val="visible"/>
                                      </p:to>
                                    </p:set>
                                    <p:animEffect transition="in" filter="wipe(left)">
                                      <p:cBhvr>
                                        <p:cTn id="7" dur="500"/>
                                        <p:tgtEl>
                                          <p:spTgt spid="2"/>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 grpId="0"/>
    </p:bldLst>
  </p:timing>
</p:sld>
</file>

<file path=ppt/slides/slide4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41316" name="矩形 2">
            <a:extLst>
              <a:ext uri="{FF2B5EF4-FFF2-40B4-BE49-F238E27FC236}">
                <a16:creationId xmlns:a16="http://schemas.microsoft.com/office/drawing/2014/main" id="{67E040FF-7E43-48C4-AA57-6D3A82BB3198}"/>
              </a:ext>
            </a:extLst>
          </p:cNvPr>
          <p:cNvSpPr>
            <a:spLocks noChangeArrowheads="1"/>
          </p:cNvSpPr>
          <p:nvPr/>
        </p:nvSpPr>
        <p:spPr bwMode="auto">
          <a:xfrm>
            <a:off x="1676516" y="1319986"/>
            <a:ext cx="8030184" cy="1613840"/>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l"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解：（</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）传输时延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4000bit / (64kb/s) = 62.5ms</a:t>
            </a:r>
          </a:p>
          <a:p>
            <a:pPr marL="0" marR="0" lvl="0" indent="0" algn="l"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传播时延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270ms </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2 = 540ms</a:t>
            </a:r>
          </a:p>
          <a:p>
            <a:pPr marL="0" marR="0" lvl="0" indent="0" algn="l"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最大链路利用率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62.5ms / (62.5ms + 540ms) = 0.104 = 10.4%</a:t>
            </a:r>
          </a:p>
        </p:txBody>
      </p:sp>
      <p:sp>
        <p:nvSpPr>
          <p:cNvPr id="4" name="矩形 2">
            <a:extLst>
              <a:ext uri="{FF2B5EF4-FFF2-40B4-BE49-F238E27FC236}">
                <a16:creationId xmlns:a16="http://schemas.microsoft.com/office/drawing/2014/main" id="{5D84C409-E910-4FE2-A20F-5D6997984652}"/>
              </a:ext>
            </a:extLst>
          </p:cNvPr>
          <p:cNvSpPr>
            <a:spLocks noChangeArrowheads="1"/>
          </p:cNvSpPr>
          <p:nvPr/>
        </p:nvSpPr>
        <p:spPr bwMode="auto">
          <a:xfrm>
            <a:off x="2080908" y="3505198"/>
            <a:ext cx="8030184" cy="2106282"/>
          </a:xfrm>
          <a:prstGeom prst="rect">
            <a:avLst/>
          </a:prstGeom>
          <a:noFill/>
          <a:ln>
            <a:noFill/>
          </a:ln>
          <a:extLst>
            <a:ext uri="{909E8E84-426E-40DD-AFC4-6F175D3DCCD1}">
              <a14:hiddenFill xmlns:a14="http://schemas.microsoft.com/office/drawing/2010/main">
                <a:solidFill>
                  <a:srgbClr val="FFFFFF"/>
                </a:solidFill>
              </a14:hiddenFill>
            </a:ext>
            <a:ext uri="{91240B29-F687-4F45-9708-019B960494DF}">
              <a14:hiddenLine xmlns:a14="http://schemas.microsoft.com/office/drawing/2010/main" w="9525">
                <a:solidFill>
                  <a:srgbClr val="000000"/>
                </a:solidFill>
                <a:miter lim="800000"/>
                <a:headEnd/>
                <a:tailEnd/>
              </a14:hiddenLine>
            </a:ext>
          </a:extLst>
        </p:spPr>
        <p:txBody>
          <a:bodyPr wrap="square">
            <a:spAutoFit/>
          </a:bodyPr>
          <a:lstStyle>
            <a:lvl1pPr>
              <a:defRPr sz="3200" b="1" baseline="-18000">
                <a:solidFill>
                  <a:schemeClr val="tx1"/>
                </a:solidFill>
                <a:latin typeface="Arial" panose="020B0604020202020204" pitchFamily="34" charset="0"/>
              </a:defRPr>
            </a:lvl1pPr>
            <a:lvl2pPr marL="742950" indent="-285750">
              <a:defRPr sz="3200" b="1" baseline="-18000">
                <a:solidFill>
                  <a:schemeClr val="tx1"/>
                </a:solidFill>
                <a:latin typeface="Arial" panose="020B0604020202020204" pitchFamily="34" charset="0"/>
              </a:defRPr>
            </a:lvl2pPr>
            <a:lvl3pPr marL="1143000" indent="-228600">
              <a:defRPr sz="3200" b="1" baseline="-18000">
                <a:solidFill>
                  <a:schemeClr val="tx1"/>
                </a:solidFill>
                <a:latin typeface="Arial" panose="020B0604020202020204" pitchFamily="34" charset="0"/>
              </a:defRPr>
            </a:lvl3pPr>
            <a:lvl4pPr marL="1600200" indent="-228600">
              <a:defRPr sz="3200" b="1" baseline="-18000">
                <a:solidFill>
                  <a:schemeClr val="tx1"/>
                </a:solidFill>
                <a:latin typeface="Arial" panose="020B0604020202020204" pitchFamily="34" charset="0"/>
              </a:defRPr>
            </a:lvl4pPr>
            <a:lvl5pPr marL="2057400" indent="-228600">
              <a:defRPr sz="3200" b="1" baseline="-18000">
                <a:solidFill>
                  <a:schemeClr val="tx1"/>
                </a:solidFill>
                <a:latin typeface="Arial" panose="020B0604020202020204" pitchFamily="34" charset="0"/>
              </a:defRPr>
            </a:lvl5pPr>
            <a:lvl6pPr marL="2514600" indent="-228600" eaLnBrk="0" fontAlgn="base" hangingPunct="0">
              <a:spcBef>
                <a:spcPct val="0"/>
              </a:spcBef>
              <a:spcAft>
                <a:spcPct val="0"/>
              </a:spcAft>
              <a:defRPr sz="3200" b="1" baseline="-18000">
                <a:solidFill>
                  <a:schemeClr val="tx1"/>
                </a:solidFill>
                <a:latin typeface="Arial" panose="020B0604020202020204" pitchFamily="34" charset="0"/>
              </a:defRPr>
            </a:lvl6pPr>
            <a:lvl7pPr marL="2971800" indent="-228600" eaLnBrk="0" fontAlgn="base" hangingPunct="0">
              <a:spcBef>
                <a:spcPct val="0"/>
              </a:spcBef>
              <a:spcAft>
                <a:spcPct val="0"/>
              </a:spcAft>
              <a:defRPr sz="3200" b="1" baseline="-18000">
                <a:solidFill>
                  <a:schemeClr val="tx1"/>
                </a:solidFill>
                <a:latin typeface="Arial" panose="020B0604020202020204" pitchFamily="34" charset="0"/>
              </a:defRPr>
            </a:lvl7pPr>
            <a:lvl8pPr marL="3429000" indent="-228600" eaLnBrk="0" fontAlgn="base" hangingPunct="0">
              <a:spcBef>
                <a:spcPct val="0"/>
              </a:spcBef>
              <a:spcAft>
                <a:spcPct val="0"/>
              </a:spcAft>
              <a:defRPr sz="3200" b="1" baseline="-18000">
                <a:solidFill>
                  <a:schemeClr val="tx1"/>
                </a:solidFill>
                <a:latin typeface="Arial" panose="020B0604020202020204" pitchFamily="34" charset="0"/>
              </a:defRPr>
            </a:lvl8pPr>
            <a:lvl9pPr marL="3886200" indent="-228600" eaLnBrk="0" fontAlgn="base" hangingPunct="0">
              <a:spcBef>
                <a:spcPct val="0"/>
              </a:spcBef>
              <a:spcAft>
                <a:spcPct val="0"/>
              </a:spcAft>
              <a:defRPr sz="3200" b="1" baseline="-18000">
                <a:solidFill>
                  <a:schemeClr val="tx1"/>
                </a:solidFill>
                <a:latin typeface="Arial" panose="020B0604020202020204" pitchFamily="34" charset="0"/>
              </a:defRPr>
            </a:lvl9pPr>
          </a:lstStyle>
          <a:p>
            <a:pPr marL="0" marR="0" lvl="0" indent="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2</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8 </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帧的传输时延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8 </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4000bit / (64kb/s) = 500ms</a:t>
            </a:r>
          </a:p>
          <a:p>
            <a:pPr marL="622300" marR="0" lvl="0" indent="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由于</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500ms &lt; 540ms</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（往返传播时延），一个周期内可以全部发送，所以一个周期仍按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1 </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帧的传输时延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传播时延计算。</a:t>
            </a:r>
          </a:p>
          <a:p>
            <a:pPr marL="622300" marR="0" lvl="0" indent="0" algn="just" defTabSz="914400" rtl="0" eaLnBrk="0" fontAlgn="base" latinLnBrk="0" hangingPunct="0">
              <a:lnSpc>
                <a:spcPct val="200000"/>
              </a:lnSpc>
              <a:spcBef>
                <a:spcPct val="0"/>
              </a:spcBef>
              <a:spcAft>
                <a:spcPct val="0"/>
              </a:spcAft>
              <a:buClr>
                <a:srgbClr val="002060"/>
              </a:buClr>
              <a:buSzPct val="80000"/>
              <a:buFontTx/>
              <a:buNone/>
              <a:tabLst/>
              <a:defRPr/>
            </a:pP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最大链路利用率</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500 / (62.5 + 540) = 0.832 (</a:t>
            </a:r>
            <a:r>
              <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即 </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0.104 </a:t>
            </a:r>
            <a:r>
              <a:rPr kumimoji="0" lang="en-US" altLang="zh-CN" sz="16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mn-cs"/>
              </a:rPr>
              <a:t>×</a:t>
            </a:r>
            <a:r>
              <a:rPr kumimoji="0" lang="en-US" altLang="zh-CN"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rPr>
              <a:t> 8) = 83.2%</a:t>
            </a:r>
            <a:endParaRPr kumimoji="0" lang="zh-CN" altLang="en-US" sz="1700" b="0" i="0" u="none" strike="noStrike" kern="1200" cap="none" spc="0" normalizeH="0" baseline="0" noProof="0" dirty="0">
              <a:ln>
                <a:noFill/>
              </a:ln>
              <a:solidFill>
                <a:srgbClr val="000000"/>
              </a:solidFill>
              <a:effectLst/>
              <a:uLnTx/>
              <a:uFillTx/>
              <a:latin typeface="微软雅黑" panose="020B0503020204020204" pitchFamily="34" charset="-122"/>
              <a:ea typeface="微软雅黑" panose="020B0503020204020204" pitchFamily="34" charset="-122"/>
              <a:cs typeface="Times New Roman" panose="02020603050405020304" pitchFamily="18"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22" presetClass="entr" presetSubtype="8"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animEffect transition="in" filter="wipe(left)">
                                      <p:cBhvr>
                                        <p:cTn id="7" dur="500"/>
                                        <p:tgtEl>
                                          <p:spTgt spid="4"/>
                                        </p:tgtEl>
                                      </p:cBhvr>
                                    </p:animEffec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Lst>
  </p:timing>
</p:sld>
</file>

<file path=ppt/slides/slide4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矩形 1">
            <a:extLst>
              <a:ext uri="{FF2B5EF4-FFF2-40B4-BE49-F238E27FC236}">
                <a16:creationId xmlns:a16="http://schemas.microsoft.com/office/drawing/2014/main" id="{4859AF71-17E3-4963-ABD8-078F6AF806AC}"/>
              </a:ext>
            </a:extLst>
          </p:cNvPr>
          <p:cNvSpPr/>
          <p:nvPr/>
        </p:nvSpPr>
        <p:spPr>
          <a:xfrm>
            <a:off x="1371724" y="1524050"/>
            <a:ext cx="9372354" cy="3632854"/>
          </a:xfrm>
          <a:prstGeom prst="rect">
            <a:avLst/>
          </a:prstGeom>
        </p:spPr>
        <p:txBody>
          <a:bodyPr wrap="square">
            <a:spAutoFit/>
          </a:bodyPr>
          <a:lstStyle/>
          <a:p>
            <a:pPr marL="285750" indent="-285750" algn="just">
              <a:lnSpc>
                <a:spcPct val="300000"/>
              </a:lnSpc>
              <a:buClr>
                <a:srgbClr val="FF0000"/>
              </a:buClr>
              <a:buSzPct val="80000"/>
              <a:buFont typeface="Wingdings" panose="05000000000000000000" pitchFamily="2" charset="2"/>
              <a:buChar char="u"/>
            </a:pPr>
            <a:r>
              <a:rPr lang="zh-CN" altLang="en-US" sz="1800" i="0" baseline="0" dirty="0">
                <a:latin typeface="微软雅黑" panose="020B0503020204020204" pitchFamily="34" charset="-122"/>
                <a:ea typeface="微软雅黑" panose="020B0503020204020204" pitchFamily="34" charset="-122"/>
              </a:rPr>
              <a:t>往返时间</a:t>
            </a:r>
            <a:r>
              <a:rPr lang="zh-CN" altLang="en-US" sz="1800" b="0" i="0" baseline="0" dirty="0">
                <a:latin typeface="微软雅黑" panose="020B0503020204020204" pitchFamily="34" charset="-122"/>
                <a:ea typeface="微软雅黑" panose="020B0503020204020204" pitchFamily="34" charset="-122"/>
              </a:rPr>
              <a:t>（</a:t>
            </a:r>
            <a:r>
              <a:rPr lang="en-US" altLang="zh-CN" sz="1800" b="0" i="0" baseline="0" dirty="0">
                <a:latin typeface="微软雅黑" panose="020B0503020204020204" pitchFamily="34" charset="-122"/>
                <a:ea typeface="微软雅黑" panose="020B0503020204020204" pitchFamily="34" charset="-122"/>
              </a:rPr>
              <a:t>Round-Trip Time, RTT</a:t>
            </a:r>
            <a:r>
              <a:rPr lang="zh-CN" altLang="en-US" sz="1800" b="0" i="0" baseline="0" dirty="0">
                <a:latin typeface="微软雅黑" panose="020B0503020204020204" pitchFamily="34" charset="-122"/>
                <a:ea typeface="微软雅黑" panose="020B0503020204020204" pitchFamily="34" charset="-122"/>
              </a:rPr>
              <a:t>）是指从源端发送数据开始到接收到目的端发来的相应确认的总时间，即双方交互一次所需要的时间。</a:t>
            </a:r>
            <a:endParaRPr lang="en-US" altLang="zh-CN" sz="1800" b="0" i="0" baseline="0" dirty="0">
              <a:latin typeface="微软雅黑" panose="020B0503020204020204" pitchFamily="34" charset="-122"/>
              <a:ea typeface="微软雅黑" panose="020B0503020204020204" pitchFamily="34" charset="-122"/>
            </a:endParaRPr>
          </a:p>
          <a:p>
            <a:pPr marL="285750" indent="-285750" algn="just">
              <a:lnSpc>
                <a:spcPct val="300000"/>
              </a:lnSpc>
              <a:buClr>
                <a:srgbClr val="FF0000"/>
              </a:buClr>
              <a:buSzPct val="80000"/>
              <a:buFont typeface="Wingdings" panose="05000000000000000000" pitchFamily="2" charset="2"/>
              <a:buChar char="u"/>
            </a:pPr>
            <a:endParaRPr lang="zh-CN" altLang="en-US" sz="800" b="0" i="0" baseline="0" dirty="0">
              <a:latin typeface="微软雅黑" panose="020B0503020204020204" pitchFamily="34" charset="-122"/>
              <a:ea typeface="微软雅黑" panose="020B0503020204020204" pitchFamily="34" charset="-122"/>
            </a:endParaRPr>
          </a:p>
          <a:p>
            <a:pPr marL="285750" indent="-285750" algn="just">
              <a:lnSpc>
                <a:spcPct val="300000"/>
              </a:lnSpc>
              <a:buClr>
                <a:srgbClr val="FF0000"/>
              </a:buClr>
              <a:buSzPct val="80000"/>
              <a:buFont typeface="Wingdings" panose="05000000000000000000" pitchFamily="2" charset="2"/>
              <a:buChar char="u"/>
            </a:pPr>
            <a:r>
              <a:rPr lang="zh-CN" altLang="en-US" sz="1800" i="0" baseline="0" dirty="0">
                <a:latin typeface="微软雅黑" panose="020B0503020204020204" pitchFamily="34" charset="-122"/>
                <a:ea typeface="微软雅黑" panose="020B0503020204020204" pitchFamily="34" charset="-122"/>
              </a:rPr>
              <a:t>丢包率</a:t>
            </a:r>
            <a:r>
              <a:rPr lang="zh-CN" altLang="en-US" sz="1800" b="0" i="0" baseline="0" dirty="0">
                <a:latin typeface="微软雅黑" panose="020B0503020204020204" pitchFamily="34" charset="-122"/>
                <a:ea typeface="微软雅黑" panose="020B0503020204020204" pitchFamily="34" charset="-122"/>
              </a:rPr>
              <a:t>（</a:t>
            </a:r>
            <a:r>
              <a:rPr lang="en-US" altLang="zh-CN" sz="1800" b="0" i="0" baseline="0" dirty="0">
                <a:latin typeface="微软雅黑" panose="020B0503020204020204" pitchFamily="34" charset="-122"/>
                <a:ea typeface="微软雅黑" panose="020B0503020204020204" pitchFamily="34" charset="-122"/>
              </a:rPr>
              <a:t>Packet Loss Rate</a:t>
            </a:r>
            <a:r>
              <a:rPr lang="zh-CN" altLang="en-US" sz="1800" b="0" i="0" baseline="0" dirty="0">
                <a:latin typeface="微软雅黑" panose="020B0503020204020204" pitchFamily="34" charset="-122"/>
                <a:ea typeface="微软雅黑" panose="020B0503020204020204" pitchFamily="34" charset="-122"/>
              </a:rPr>
              <a:t>）是指在一定时间范围内，传输过程中丢失的分组数量与总分组数量的比率，是衡量网络可靠性的一个关键指标。</a:t>
            </a:r>
          </a:p>
        </p:txBody>
      </p:sp>
    </p:spTree>
    <p:extLst>
      <p:ext uri="{BB962C8B-B14F-4D97-AF65-F5344CB8AC3E}">
        <p14:creationId xmlns:p14="http://schemas.microsoft.com/office/powerpoint/2010/main" val="3545689455"/>
      </p:ext>
    </p:extLst>
  </p:cSld>
  <p:clrMapOvr>
    <a:masterClrMapping/>
  </p:clrMapOvr>
</p:sld>
</file>

<file path=ppt/theme/theme1.xml><?xml version="1.0" encoding="utf-8"?>
<a:theme xmlns:a="http://schemas.openxmlformats.org/drawingml/2006/main" name="2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2.xml><?xml version="1.0" encoding="utf-8"?>
<a:theme xmlns:a="http://schemas.openxmlformats.org/drawingml/2006/main" name="1_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lnDef>
    <a:txDef>
      <a:spPr>
        <a:noFill/>
      </a:spPr>
      <a:bodyPr wrap="square" rtlCol="0">
        <a:spAutoFit/>
      </a:bodyPr>
      <a:lstStyle>
        <a:defPPr algn="l">
          <a:defRPr sz="2400" b="0" baseline="0" dirty="0" smtClean="0">
            <a:latin typeface="宋体" panose="02010600030101010101" pitchFamily="2" charset="-122"/>
            <a:ea typeface="宋体" panose="02010600030101010101" pitchFamily="2" charset="-122"/>
          </a:defRPr>
        </a:defPPr>
      </a:lstStyle>
    </a:tx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3.xml><?xml version="1.0" encoding="utf-8"?>
<a:theme xmlns:a="http://schemas.openxmlformats.org/drawingml/2006/main" name="Blends">
  <a:themeElements>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fontScheme name="Blends">
      <a:majorFont>
        <a:latin typeface="Tahoma"/>
        <a:ea typeface=""/>
        <a:cs typeface=""/>
      </a:majorFont>
      <a:minorFont>
        <a:latin typeface="Tahoma"/>
        <a:ea typeface=""/>
        <a:cs typeface=""/>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spDef>
    <a:lnDef>
      <a:spPr bwMode="auto">
        <a:xfrm>
          <a:off x="0" y="0"/>
          <a:ext cx="1" cy="1"/>
        </a:xfrm>
        <a:custGeom>
          <a:avLst/>
          <a:gdLst/>
          <a:ahLst/>
          <a:cxnLst/>
          <a:rect l="0" t="0" r="0" b="0"/>
          <a:pathLst/>
        </a:custGeom>
        <a:solidFill>
          <a:schemeClr val="accent1"/>
        </a:solidFill>
        <a:ln w="9525" cap="flat" cmpd="sng" algn="ctr">
          <a:solidFill>
            <a:schemeClr val="tx1"/>
          </a:solidFill>
          <a:prstDash val="solid"/>
          <a:round/>
          <a:headEnd type="none" w="med" len="med"/>
          <a:tailEnd type="none" w="med" len="med"/>
        </a:ln>
        <a:effectLst/>
        <a:extLst>
          <a:ext uri="{AF507438-7753-43E0-B8FC-AC1667EBCBE1}">
            <a14:hiddenEffects xmlns:a14="http://schemas.microsoft.com/office/drawing/2010/main">
              <a:effectLst>
                <a:outerShdw dist="35921" dir="2700000" algn="ctr" rotWithShape="0">
                  <a:schemeClr val="bg2"/>
                </a:outerShdw>
              </a:effectLst>
            </a14:hiddenEffects>
          </a:ext>
        </a:extLst>
      </a:spPr>
      <a:bodyPr vert="horz" wrap="square" lIns="91440" tIns="45720" rIns="91440" bIns="45720" numCol="1" anchor="t" anchorCtr="0" compatLnSpc="1">
        <a:prstTxWarp prst="textNoShape">
          <a:avLst/>
        </a:prstTxWarp>
      </a:bodyPr>
      <a:lstStyle>
        <a:defPPr marL="0" marR="0" indent="0" algn="l" defTabSz="914400" rtl="0" eaLnBrk="0" fontAlgn="base" latinLnBrk="0" hangingPunct="0">
          <a:lnSpc>
            <a:spcPct val="100000"/>
          </a:lnSpc>
          <a:spcBef>
            <a:spcPct val="0"/>
          </a:spcBef>
          <a:spcAft>
            <a:spcPct val="0"/>
          </a:spcAft>
          <a:buClrTx/>
          <a:buSzTx/>
          <a:buFontTx/>
          <a:buNone/>
          <a:tabLst/>
          <a:defRPr kumimoji="0" lang="en-US" sz="3200" b="1" i="0" u="none" strike="noStrike" cap="none" normalizeH="0" baseline="-18000" smtClean="0">
            <a:ln>
              <a:noFill/>
            </a:ln>
            <a:solidFill>
              <a:schemeClr val="tx1"/>
            </a:solidFill>
            <a:effectLst/>
            <a:latin typeface="Arial" charset="0"/>
          </a:defRPr>
        </a:defPPr>
      </a:lstStyle>
    </a:lnDef>
  </a:objectDefaults>
  <a:extraClrSchemeLst>
    <a:extraClrScheme>
      <a:clrScheme name="Blends 1">
        <a:dk1>
          <a:srgbClr val="969696"/>
        </a:dk1>
        <a:lt1>
          <a:srgbClr val="FFFFFF"/>
        </a:lt1>
        <a:dk2>
          <a:srgbClr val="000000"/>
        </a:dk2>
        <a:lt2>
          <a:srgbClr val="DDDDDD"/>
        </a:lt2>
        <a:accent1>
          <a:srgbClr val="00E4A8"/>
        </a:accent1>
        <a:accent2>
          <a:srgbClr val="3333CC"/>
        </a:accent2>
        <a:accent3>
          <a:srgbClr val="AAAAAA"/>
        </a:accent3>
        <a:accent4>
          <a:srgbClr val="DADADA"/>
        </a:accent4>
        <a:accent5>
          <a:srgbClr val="AAEFD1"/>
        </a:accent5>
        <a:accent6>
          <a:srgbClr val="2D2DB9"/>
        </a:accent6>
        <a:hlink>
          <a:srgbClr val="FF5050"/>
        </a:hlink>
        <a:folHlink>
          <a:srgbClr val="FFCF01"/>
        </a:folHlink>
      </a:clrScheme>
      <a:clrMap bg1="dk2" tx1="lt1" bg2="dk1" tx2="lt2" accent1="accent1" accent2="accent2" accent3="accent3" accent4="accent4" accent5="accent5" accent6="accent6" hlink="hlink" folHlink="folHlink"/>
    </a:extraClrScheme>
    <a:extraClrScheme>
      <a:clrScheme name="Blends 2">
        <a:dk1>
          <a:srgbClr val="000094"/>
        </a:dk1>
        <a:lt1>
          <a:srgbClr val="FFFFFF"/>
        </a:lt1>
        <a:dk2>
          <a:srgbClr val="0000CC"/>
        </a:dk2>
        <a:lt2>
          <a:srgbClr val="FFFFCC"/>
        </a:lt2>
        <a:accent1>
          <a:srgbClr val="3193FF"/>
        </a:accent1>
        <a:accent2>
          <a:srgbClr val="9900FF"/>
        </a:accent2>
        <a:accent3>
          <a:srgbClr val="AAAAE2"/>
        </a:accent3>
        <a:accent4>
          <a:srgbClr val="DADADA"/>
        </a:accent4>
        <a:accent5>
          <a:srgbClr val="ADC8FF"/>
        </a:accent5>
        <a:accent6>
          <a:srgbClr val="8A00E7"/>
        </a:accent6>
        <a:hlink>
          <a:srgbClr val="FF3399"/>
        </a:hlink>
        <a:folHlink>
          <a:srgbClr val="FFCC00"/>
        </a:folHlink>
      </a:clrScheme>
      <a:clrMap bg1="dk2" tx1="lt1" bg2="dk1" tx2="lt2" accent1="accent1" accent2="accent2" accent3="accent3" accent4="accent4" accent5="accent5" accent6="accent6" hlink="hlink" folHlink="folHlink"/>
    </a:extraClrScheme>
    <a:extraClrScheme>
      <a:clrScheme name="Blends 3">
        <a:dk1>
          <a:srgbClr val="000000"/>
        </a:dk1>
        <a:lt1>
          <a:srgbClr val="FFFFFF"/>
        </a:lt1>
        <a:dk2>
          <a:srgbClr val="333399"/>
        </a:dk2>
        <a:lt2>
          <a:srgbClr val="1C1C1C"/>
        </a:lt2>
        <a:accent1>
          <a:srgbClr val="00E4A8"/>
        </a:accent1>
        <a:accent2>
          <a:srgbClr val="FFCF01"/>
        </a:accent2>
        <a:accent3>
          <a:srgbClr val="FFFFFF"/>
        </a:accent3>
        <a:accent4>
          <a:srgbClr val="000000"/>
        </a:accent4>
        <a:accent5>
          <a:srgbClr val="AAEFD1"/>
        </a:accent5>
        <a:accent6>
          <a:srgbClr val="E7BB01"/>
        </a:accent6>
        <a:hlink>
          <a:srgbClr val="FF0000"/>
        </a:hlink>
        <a:folHlink>
          <a:srgbClr val="3333CC"/>
        </a:folHlink>
      </a:clrScheme>
      <a:clrMap bg1="lt1" tx1="dk1" bg2="lt2" tx2="dk2" accent1="accent1" accent2="accent2" accent3="accent3" accent4="accent4" accent5="accent5" accent6="accent6" hlink="hlink" folHlink="folHlink"/>
    </a:extraClrScheme>
    <a:extraClrScheme>
      <a:clrScheme name="Blends 4">
        <a:dk1>
          <a:srgbClr val="000000"/>
        </a:dk1>
        <a:lt1>
          <a:srgbClr val="FFFFFF"/>
        </a:lt1>
        <a:dk2>
          <a:srgbClr val="515F7B"/>
        </a:dk2>
        <a:lt2>
          <a:srgbClr val="808080"/>
        </a:lt2>
        <a:accent1>
          <a:srgbClr val="9FCAD3"/>
        </a:accent1>
        <a:accent2>
          <a:srgbClr val="C0C0C0"/>
        </a:accent2>
        <a:accent3>
          <a:srgbClr val="FFFFFF"/>
        </a:accent3>
        <a:accent4>
          <a:srgbClr val="000000"/>
        </a:accent4>
        <a:accent5>
          <a:srgbClr val="CDE1E6"/>
        </a:accent5>
        <a:accent6>
          <a:srgbClr val="AEAEAE"/>
        </a:accent6>
        <a:hlink>
          <a:srgbClr val="91AFBF"/>
        </a:hlink>
        <a:folHlink>
          <a:srgbClr val="ECEAAC"/>
        </a:folHlink>
      </a:clrScheme>
      <a:clrMap bg1="lt1" tx1="dk1" bg2="lt2" tx2="dk2" accent1="accent1" accent2="accent2" accent3="accent3" accent4="accent4" accent5="accent5" accent6="accent6" hlink="hlink" folHlink="folHlink"/>
    </a:extraClrScheme>
    <a:extraClrScheme>
      <a:clrScheme name="Blends 5">
        <a:dk1>
          <a:srgbClr val="000000"/>
        </a:dk1>
        <a:lt1>
          <a:srgbClr val="FFFFFF"/>
        </a:lt1>
        <a:dk2>
          <a:srgbClr val="000066"/>
        </a:dk2>
        <a:lt2>
          <a:srgbClr val="333333"/>
        </a:lt2>
        <a:accent1>
          <a:srgbClr val="C4709A"/>
        </a:accent1>
        <a:accent2>
          <a:srgbClr val="4B4EB5"/>
        </a:accent2>
        <a:accent3>
          <a:srgbClr val="FFFFFF"/>
        </a:accent3>
        <a:accent4>
          <a:srgbClr val="000000"/>
        </a:accent4>
        <a:accent5>
          <a:srgbClr val="DEBBCA"/>
        </a:accent5>
        <a:accent6>
          <a:srgbClr val="4346A4"/>
        </a:accent6>
        <a:hlink>
          <a:srgbClr val="C481CF"/>
        </a:hlink>
        <a:folHlink>
          <a:srgbClr val="76B749"/>
        </a:folHlink>
      </a:clrScheme>
      <a:clrMap bg1="lt1" tx1="dk1" bg2="lt2" tx2="dk2" accent1="accent1" accent2="accent2" accent3="accent3" accent4="accent4" accent5="accent5" accent6="accent6" hlink="hlink" folHlink="folHlink"/>
    </a:extraClrScheme>
    <a:extraClrScheme>
      <a:clrScheme name="Blends 6">
        <a:dk1>
          <a:srgbClr val="000000"/>
        </a:dk1>
        <a:lt1>
          <a:srgbClr val="FFFFFF"/>
        </a:lt1>
        <a:dk2>
          <a:srgbClr val="6A4076"/>
        </a:dk2>
        <a:lt2>
          <a:srgbClr val="969696"/>
        </a:lt2>
        <a:accent1>
          <a:srgbClr val="DBA9C2"/>
        </a:accent1>
        <a:accent2>
          <a:srgbClr val="E1BF91"/>
        </a:accent2>
        <a:accent3>
          <a:srgbClr val="FFFFFF"/>
        </a:accent3>
        <a:accent4>
          <a:srgbClr val="000000"/>
        </a:accent4>
        <a:accent5>
          <a:srgbClr val="EAD1DD"/>
        </a:accent5>
        <a:accent6>
          <a:srgbClr val="CCAD83"/>
        </a:accent6>
        <a:hlink>
          <a:srgbClr val="B3CE82"/>
        </a:hlink>
        <a:folHlink>
          <a:srgbClr val="B8AD48"/>
        </a:folHlink>
      </a:clrScheme>
      <a:clrMap bg1="lt1" tx1="dk1" bg2="lt2" tx2="dk2" accent1="accent1" accent2="accent2" accent3="accent3" accent4="accent4" accent5="accent5" accent6="accent6" hlink="hlink" folHlink="folHlink"/>
    </a:extraClrScheme>
  </a:extraClrSchemeLst>
</a:theme>
</file>

<file path=ppt/theme/theme4.xml><?xml version="1.0" encoding="utf-8"?>
<a:theme xmlns:a="http://schemas.openxmlformats.org/drawingml/2006/main" name="Office 主题​​">
  <a:themeElements>
    <a:clrScheme name="">
      <a:dk1>
        <a:srgbClr val="000000"/>
      </a:dk1>
      <a:lt1>
        <a:srgbClr val="FFFFFF"/>
      </a:lt1>
      <a:dk2>
        <a:srgbClr val="000000"/>
      </a:dk2>
      <a:lt2>
        <a:srgbClr val="808080"/>
      </a:lt2>
      <a:accent1>
        <a:srgbClr val="BBE0E3"/>
      </a:accent1>
      <a:accent2>
        <a:srgbClr val="333399"/>
      </a:accent2>
      <a:accent3>
        <a:srgbClr val="FFFFFF"/>
      </a:accent3>
      <a:accent4>
        <a:srgbClr val="000000"/>
      </a:accent4>
      <a:accent5>
        <a:srgbClr val="DAEDEF"/>
      </a:accent5>
      <a:accent6>
        <a:srgbClr val="2D2D8A"/>
      </a:accent6>
      <a:hlink>
        <a:srgbClr val="009999"/>
      </a:hlink>
      <a:folHlink>
        <a:srgbClr val="99CC0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emplate/>
  <TotalTime>2337</TotalTime>
  <Pages>0</Pages>
  <Words>4301</Words>
  <Characters>0</Characters>
  <Application>Microsoft Office PowerPoint</Application>
  <DocSecurity>0</DocSecurity>
  <PresentationFormat>宽屏</PresentationFormat>
  <Lines>0</Lines>
  <Paragraphs>299</Paragraphs>
  <Slides>48</Slides>
  <Notes>13</Notes>
  <HiddenSlides>0</HiddenSlides>
  <MMClips>0</MMClips>
  <ScaleCrop>false</ScaleCrop>
  <HeadingPairs>
    <vt:vector size="6" baseType="variant">
      <vt:variant>
        <vt:lpstr>已用的字体</vt:lpstr>
      </vt:variant>
      <vt:variant>
        <vt:i4>10</vt:i4>
      </vt:variant>
      <vt:variant>
        <vt:lpstr>主题</vt:lpstr>
      </vt:variant>
      <vt:variant>
        <vt:i4>3</vt:i4>
      </vt:variant>
      <vt:variant>
        <vt:lpstr>幻灯片标题</vt:lpstr>
      </vt:variant>
      <vt:variant>
        <vt:i4>48</vt:i4>
      </vt:variant>
    </vt:vector>
  </HeadingPairs>
  <TitlesOfParts>
    <vt:vector size="61" baseType="lpstr">
      <vt:lpstr>Adobe ｺﾚﾌ・Std R</vt:lpstr>
      <vt:lpstr>McGrawHill-Italic</vt:lpstr>
      <vt:lpstr>等线</vt:lpstr>
      <vt:lpstr>宋体</vt:lpstr>
      <vt:lpstr>微软雅黑</vt:lpstr>
      <vt:lpstr>Arial</vt:lpstr>
      <vt:lpstr>Cambria Math</vt:lpstr>
      <vt:lpstr>Tahoma</vt:lpstr>
      <vt:lpstr>Times New Roman</vt:lpstr>
      <vt:lpstr>Wingdings</vt:lpstr>
      <vt:lpstr>2_Blends</vt:lpstr>
      <vt:lpstr>1_Blends</vt:lpstr>
      <vt:lpstr>Blends</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lpstr>PowerPoint 演示文稿</vt:lpstr>
    </vt:vector>
  </TitlesOfParts>
  <Manager/>
  <Company/>
  <LinksUpToDate>false</LinksUpToDate>
  <CharactersWithSpaces>0</CharactersWithSpaces>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subject/>
  <dc:creator>Valued Gateway Client</dc:creator>
  <cp:keywords/>
  <dc:description/>
  <cp:lastModifiedBy>GY</cp:lastModifiedBy>
  <cp:revision>416</cp:revision>
  <dcterms:created xsi:type="dcterms:W3CDTF">2000-01-15T04:50:39Z</dcterms:created>
  <dcterms:modified xsi:type="dcterms:W3CDTF">2025-05-22T14:17:29Z</dcterms:modified>
  <cp:category/>
</cp:coreProperties>
</file>

<file path=docProps/custom.xml><?xml version="1.0" encoding="utf-8"?>
<Properties xmlns="http://schemas.openxmlformats.org/officeDocument/2006/custom-properties" xmlns:vt="http://schemas.openxmlformats.org/officeDocument/2006/docPropsVTypes">
  <property fmtid="{D5CDD505-2E9C-101B-9397-08002B2CF9AE}" pid="2" name="KSOProductBuildVer">
    <vt:lpwstr>2052-11.1.0.10314</vt:lpwstr>
  </property>
</Properties>
</file>