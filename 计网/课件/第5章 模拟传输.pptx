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25"/>
  </p:handoutMasterIdLst>
  <p:sldIdLst>
    <p:sldId id="722" r:id="rId3"/>
    <p:sldId id="535" r:id="rId5"/>
    <p:sldId id="689" r:id="rId6"/>
    <p:sldId id="708" r:id="rId7"/>
    <p:sldId id="725" r:id="rId8"/>
    <p:sldId id="724" r:id="rId9"/>
    <p:sldId id="715" r:id="rId10"/>
    <p:sldId id="693" r:id="rId11"/>
    <p:sldId id="694" r:id="rId12"/>
    <p:sldId id="718" r:id="rId13"/>
    <p:sldId id="696" r:id="rId14"/>
    <p:sldId id="698" r:id="rId15"/>
    <p:sldId id="699" r:id="rId16"/>
    <p:sldId id="720" r:id="rId17"/>
    <p:sldId id="709" r:id="rId18"/>
    <p:sldId id="687" r:id="rId19"/>
    <p:sldId id="703" r:id="rId20"/>
    <p:sldId id="704" r:id="rId21"/>
    <p:sldId id="705" r:id="rId22"/>
    <p:sldId id="706" r:id="rId23"/>
    <p:sldId id="707" r:id="rId24"/>
  </p:sldIdLst>
  <p:sldSz cx="9144000" cy="6858000" type="screen4x3"/>
  <p:notesSz cx="6858000" cy="9144000"/>
  <p:custDataLst>
    <p:tags r:id="rId29"/>
  </p:custDataLst>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ECFF"/>
    <a:srgbClr val="FFCCFF"/>
    <a:srgbClr val="660066"/>
    <a:srgbClr val="00CC00"/>
    <a:srgbClr val="996633"/>
    <a:srgbClr val="6666FF"/>
    <a:srgbClr val="3366F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94679" autoAdjust="0"/>
  </p:normalViewPr>
  <p:slideViewPr>
    <p:cSldViewPr>
      <p:cViewPr varScale="1">
        <p:scale>
          <a:sx n="78" d="100"/>
          <a:sy n="78" d="100"/>
        </p:scale>
        <p:origin x="1378" y="43"/>
      </p:cViewPr>
      <p:guideLst>
        <p:guide orient="horz" pos="2160"/>
        <p:guide pos="28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7552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75523"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pPr>
              <a:defRPr/>
            </a:pPr>
            <a:endParaRPr lang="en-US" altLang="zh-CN"/>
          </a:p>
        </p:txBody>
      </p:sp>
      <p:sp>
        <p:nvSpPr>
          <p:cNvPr id="875524"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75525"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bg2"/>
                </a:solidFill>
                <a:latin typeface="Times New Roman" panose="02020603050405020304" pitchFamily="18" charset="0"/>
              </a:defRPr>
            </a:lvl1pPr>
          </a:lstStyle>
          <a:p>
            <a:pPr>
              <a:defRPr/>
            </a:pPr>
            <a:fld id="{037A268E-5623-4742-BEEE-B586D676AED5}"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325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325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83251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8325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325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latin typeface="Times New Roman" panose="02020603050405020304" pitchFamily="18" charset="0"/>
              </a:defRPr>
            </a:lvl1pPr>
          </a:lstStyle>
          <a:p>
            <a:pPr>
              <a:defRPr/>
            </a:pPr>
            <a:fld id="{D3AF800C-9E96-4B09-8C14-D74ABAB0C21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idx="4294967295"/>
          </p:nvPr>
        </p:nvSpPr>
        <p:spPr/>
      </p:sp>
      <p:sp>
        <p:nvSpPr>
          <p:cNvPr id="6147"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idx="4294967295"/>
          </p:nvPr>
        </p:nvSpPr>
        <p:spPr/>
      </p:sp>
      <p:sp>
        <p:nvSpPr>
          <p:cNvPr id="8195" name="Rectangle 3"/>
          <p:cNvSpPr>
            <a:spLocks noGrp="1" noChangeArrowheads="1"/>
          </p:cNvSpPr>
          <p:nvPr>
            <p:ph type="body" idx="4294967295"/>
          </p:nvPr>
        </p:nvSpPr>
        <p:spPr/>
        <p:txBody>
          <a:bodyPr/>
          <a:lstStyle/>
          <a:p>
            <a:pPr algn="just" eaLnBrk="1" hangingPunct="1">
              <a:lnSpc>
                <a:spcPct val="150000"/>
              </a:lnSpc>
            </a:pPr>
            <a:r>
              <a:rPr lang="zh-CN" altLang="en-US" dirty="0">
                <a:latin typeface="微软雅黑" panose="020B0503020204020204" pitchFamily="34" charset="-122"/>
                <a:ea typeface="微软雅黑" panose="020B0503020204020204" pitchFamily="34" charset="-122"/>
                <a:sym typeface="+mn-ea"/>
              </a:rPr>
              <a:t>无论数字还是模拟信号，要进行传输，必须解决传输过程中可能造成的信号衰减、干扰等问题，带有直流分量的数字信号尤其不适合远距离传输。另外，数字信号的频率范围很大，是由基频和各次谐波共同构成的，自然对传输带宽的要求也高。而一般线路带宽是有限的，必然会导致高次谐波衰减，引起信号畸变，造成失真。</a:t>
            </a:r>
            <a:endParaRPr lang="en-US" altLang="zh-CN" b="0" dirty="0">
              <a:latin typeface="微软雅黑" panose="020B0503020204020204" pitchFamily="34" charset="-122"/>
              <a:ea typeface="微软雅黑" panose="020B0503020204020204" pitchFamily="34" charset="-122"/>
            </a:endParaRPr>
          </a:p>
          <a:p>
            <a:pPr algn="just" eaLnBrk="1" hangingPunct="1">
              <a:lnSpc>
                <a:spcPct val="150000"/>
              </a:lnSpc>
            </a:pPr>
            <a:endParaRPr lang="en-US" altLang="zh-CN" b="0"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dirty="0">
                <a:latin typeface="微软雅黑" panose="020B0503020204020204" pitchFamily="34" charset="-122"/>
                <a:ea typeface="微软雅黑" panose="020B0503020204020204" pitchFamily="34" charset="-122"/>
                <a:sym typeface="+mn-ea"/>
              </a:rPr>
              <a:t>由此，数字信号带有直流分量，频谱范围过大，不适合远距离传输，更不适合空间电磁波传输。数字信号必须采用一定的调制方式，调制到载波上进行传输，接收后再解调得到原来的数字信号。</a:t>
            </a:r>
            <a:endParaRPr lang="en-US" altLang="zh-CN" dirty="0">
              <a:latin typeface="微软雅黑" panose="020B0503020204020204" pitchFamily="34" charset="-122"/>
              <a:ea typeface="微软雅黑" panose="020B0503020204020204" pitchFamily="34" charset="-122"/>
            </a:endParaRPr>
          </a:p>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idx="4294967295"/>
          </p:nvPr>
        </p:nvSpPr>
        <p:spPr/>
      </p:sp>
      <p:sp>
        <p:nvSpPr>
          <p:cNvPr id="12291"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idx="4294967295"/>
          </p:nvPr>
        </p:nvSpPr>
        <p:spPr/>
      </p:sp>
      <p:sp>
        <p:nvSpPr>
          <p:cNvPr id="14339"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idx="4294967295"/>
          </p:nvPr>
        </p:nvSpPr>
        <p:spPr/>
      </p:sp>
      <p:sp>
        <p:nvSpPr>
          <p:cNvPr id="23555" name="Rectangle 3"/>
          <p:cNvSpPr>
            <a:spLocks noGrp="1" noChangeArrowheads="1"/>
          </p:cNvSpPr>
          <p:nvPr>
            <p:ph type="body" idx="429496729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idx="4294967295"/>
          </p:nvPr>
        </p:nvSpPr>
        <p:spPr/>
      </p:sp>
      <p:sp>
        <p:nvSpPr>
          <p:cNvPr id="27651"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idx="4294967295"/>
          </p:nvPr>
        </p:nvSpPr>
        <p:spPr/>
      </p:sp>
      <p:sp>
        <p:nvSpPr>
          <p:cNvPr id="31747"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idx="4294967295"/>
          </p:nvPr>
        </p:nvSpPr>
        <p:spPr/>
      </p:sp>
      <p:sp>
        <p:nvSpPr>
          <p:cNvPr id="35843"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idx="4294967295"/>
          </p:nvPr>
        </p:nvSpPr>
        <p:spPr/>
      </p:sp>
      <p:sp>
        <p:nvSpPr>
          <p:cNvPr id="37891"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idx="4294967295"/>
          </p:nvPr>
        </p:nvSpPr>
        <p:spPr/>
      </p:sp>
      <p:sp>
        <p:nvSpPr>
          <p:cNvPr id="41987"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idx="4294967295"/>
          </p:nvPr>
        </p:nvSpPr>
        <p:spPr/>
      </p:sp>
      <p:sp>
        <p:nvSpPr>
          <p:cNvPr id="46083"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idx="4294967295"/>
          </p:nvPr>
        </p:nvSpPr>
        <p:spPr/>
      </p:sp>
      <p:sp>
        <p:nvSpPr>
          <p:cNvPr id="50179"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idx="4294967295"/>
          </p:nvPr>
        </p:nvSpPr>
        <p:spPr/>
      </p:sp>
      <p:sp>
        <p:nvSpPr>
          <p:cNvPr id="52227"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idx="4294967295"/>
          </p:nvPr>
        </p:nvSpPr>
        <p:spPr/>
      </p:sp>
      <p:sp>
        <p:nvSpPr>
          <p:cNvPr id="54275"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idx="4294967295"/>
          </p:nvPr>
        </p:nvSpPr>
        <p:spPr/>
      </p:sp>
      <p:sp>
        <p:nvSpPr>
          <p:cNvPr id="58371"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idx="4294967295"/>
          </p:nvPr>
        </p:nvSpPr>
        <p:spPr/>
      </p:sp>
      <p:sp>
        <p:nvSpPr>
          <p:cNvPr id="62467"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idx="4294967295"/>
          </p:nvPr>
        </p:nvSpPr>
        <p:spPr/>
      </p:sp>
      <p:sp>
        <p:nvSpPr>
          <p:cNvPr id="64515"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idx="4294967295"/>
          </p:nvPr>
        </p:nvSpPr>
        <p:spPr/>
      </p:sp>
      <p:sp>
        <p:nvSpPr>
          <p:cNvPr id="66563"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idx="4294967295"/>
          </p:nvPr>
        </p:nvSpPr>
        <p:spPr/>
      </p:sp>
      <p:sp>
        <p:nvSpPr>
          <p:cNvPr id="68611"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idx="4294967295"/>
          </p:nvPr>
        </p:nvSpPr>
        <p:spPr/>
      </p:sp>
      <p:sp>
        <p:nvSpPr>
          <p:cNvPr id="70659" name="Rectangle 3"/>
          <p:cNvSpPr>
            <a:spLocks noGrp="1" noChangeArrowheads="1"/>
          </p:cNvSpPr>
          <p:nvPr>
            <p:ph type="body" idx="4294967295"/>
          </p:nvPr>
        </p:nvSpPr>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14" name="Text Box 17"/>
          <p:cNvSpPr txBox="1">
            <a:spLocks noChangeArrowheads="1"/>
          </p:cNvSpPr>
          <p:nvPr/>
        </p:nvSpPr>
        <p:spPr bwMode="auto">
          <a:xfrm>
            <a:off x="0" y="65532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p:cNvSpPr txBox="1">
            <a:spLocks noChangeArrowheads="1"/>
          </p:cNvSpPr>
          <p:nvPr/>
        </p:nvSpPr>
        <p:spPr bwMode="auto">
          <a:xfrm>
            <a:off x="4572000"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lstStyle>
            <a:lvl1pPr>
              <a:defRPr/>
            </a:lvl1pPr>
          </a:lstStyle>
          <a:p>
            <a:pPr lvl="0"/>
            <a:r>
              <a:rPr lang="en-US" altLang="zh-CN" noProof="0"/>
              <a:t>Click to edit Master title style</a:t>
            </a:r>
            <a:endParaRPr lang="en-US" altLang="zh-CN" noProof="0"/>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lstStyle>
            <a:lvl1pPr marL="0" indent="0" algn="ctr">
              <a:buFont typeface="Wingdings" panose="05000000000000000000" pitchFamily="2" charset="2"/>
              <a:buNone/>
              <a:defRPr/>
            </a:lvl1pPr>
          </a:lstStyle>
          <a:p>
            <a:pPr lvl="0"/>
            <a:r>
              <a:rPr lang="en-US" altLang="zh-CN" noProof="0"/>
              <a:t>Click to edit Master subtitle style</a:t>
            </a:r>
            <a:endParaRPr lang="en-US" altLang="zh-CN" noProof="0"/>
          </a:p>
        </p:txBody>
      </p:sp>
      <p:sp>
        <p:nvSpPr>
          <p:cNvPr id="16" name="Rectangle 14"/>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lstStyle>
            <a:lvl1pP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7" name="Rectangle 15"/>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lstStyle>
            <a:lvl1pPr algn="ct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8" name="Rectangle 16"/>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pPr>
              <a:defRPr/>
            </a:pPr>
            <a:fld id="{DDB963EF-D0A2-4B83-BC29-FE46559C27C4}"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5.</a:t>
            </a:r>
            <a:fld id="{3EF58A80-94F4-4548-BB62-3294FB55B59D}" type="slidenum">
              <a:rPr lang="en-US" altLang="zh-CN"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5.</a:t>
            </a:r>
            <a:fld id="{2EAE9A53-64E8-4AF6-82D0-E8EBE9C5C1A0}" type="slidenum">
              <a:rPr lang="en-US" altLang="zh-CN" smtClean="0"/>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5.</a:t>
            </a:r>
            <a:fld id="{C8EC3820-7EC5-46A4-A491-1366FD4EFD42}"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16"/>
          <p:cNvSpPr>
            <a:spLocks noGrp="1" noChangeArrowheads="1"/>
          </p:cNvSpPr>
          <p:nvPr>
            <p:ph type="sldNum" sz="quarter" idx="10"/>
          </p:nvPr>
        </p:nvSpPr>
        <p:spPr/>
        <p:txBody>
          <a:bodyPr/>
          <a:lstStyle>
            <a:lvl1pPr>
              <a:defRPr/>
            </a:lvl1pPr>
          </a:lstStyle>
          <a:p>
            <a:pPr>
              <a:defRPr/>
            </a:pPr>
            <a:r>
              <a:rPr lang="en-US" altLang="zh-CN"/>
              <a:t>5.</a:t>
            </a:r>
            <a:fld id="{57D75809-E0F6-4B88-AA0A-02B36BFED765}" type="slidenum">
              <a:rPr lang="en-US" altLang="zh-CN"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endParaRPr lang="zh-CN" altLang="en-US" noProof="1"/>
          </a:p>
        </p:txBody>
      </p:sp>
      <p:sp>
        <p:nvSpPr>
          <p:cNvPr id="3" name="Rectangle 16"/>
          <p:cNvSpPr>
            <a:spLocks noGrp="1" noChangeArrowheads="1"/>
          </p:cNvSpPr>
          <p:nvPr>
            <p:ph type="sldNum" sz="quarter" idx="10"/>
          </p:nvPr>
        </p:nvSpPr>
        <p:spPr/>
        <p:txBody>
          <a:bodyPr/>
          <a:lstStyle>
            <a:lvl1pPr>
              <a:defRPr/>
            </a:lvl1pPr>
          </a:lstStyle>
          <a:p>
            <a:pPr>
              <a:defRPr/>
            </a:pPr>
            <a:r>
              <a:rPr lang="en-US" altLang="zh-CN"/>
              <a:t>5.</a:t>
            </a:r>
            <a:fld id="{1A4D0896-AFC5-46AB-8E35-EF57C1FC2677}"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r>
              <a:rPr lang="en-US" altLang="zh-CN"/>
              <a:t>5.</a:t>
            </a:r>
            <a:fld id="{22DAF003-5EBD-46E7-B39A-5886D7BAE366}"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5.</a:t>
            </a:r>
            <a:fld id="{EC9B3FFD-1641-42F6-A058-0F8B93AACE8E}" type="slidenum">
              <a:rPr lang="en-US" altLang="zh-CN"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5.</a:t>
            </a:r>
            <a:fld id="{16728FFD-79A9-494C-BDEF-991994B1AFF3}"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5.</a:t>
            </a:r>
            <a:fld id="{40084461-EFDC-4F0B-85DB-93BF3588546B}"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5.</a:t>
            </a:r>
            <a:fld id="{3FD3A462-F781-4762-B895-867CDBE78BEF}"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Rectangle 16"/>
          <p:cNvSpPr>
            <a:spLocks noGrp="1" noChangeArrowheads="1"/>
          </p:cNvSpPr>
          <p:nvPr>
            <p:ph type="sldNum" sz="quarter" idx="10"/>
          </p:nvPr>
        </p:nvSpPr>
        <p:spPr/>
        <p:txBody>
          <a:bodyPr/>
          <a:lstStyle>
            <a:lvl1pPr>
              <a:defRPr/>
            </a:lvl1pPr>
          </a:lstStyle>
          <a:p>
            <a:pPr>
              <a:defRPr/>
            </a:pPr>
            <a:r>
              <a:rPr lang="en-US" altLang="zh-CN"/>
              <a:t>5.</a:t>
            </a:r>
            <a:fld id="{09B003B7-AA2A-4655-B27F-47F437C5F508}"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8457928" y="6400722"/>
            <a:ext cx="762150" cy="457200"/>
          </a:xfrm>
          <a:prstGeom prst="rect">
            <a:avLst/>
          </a:prstGeom>
          <a:noFill/>
          <a:ln>
            <a:noFill/>
          </a:ln>
          <a:effectLst/>
        </p:spPr>
        <p:txBody>
          <a:bodyPr vert="horz" wrap="square" lIns="91440" tIns="45720" rIns="91440" bIns="45720" numCol="1" anchor="b" anchorCtr="0" compatLnSpc="1"/>
          <a:lstStyle>
            <a:lvl1pPr eaLnBrk="1" hangingPunct="1">
              <a:defRPr sz="2000">
                <a:solidFill>
                  <a:schemeClr val="bg2"/>
                </a:solidFill>
                <a:ea typeface="宋体" panose="02010600030101010101" pitchFamily="2" charset="-122"/>
              </a:defRPr>
            </a:lvl1pPr>
          </a:lstStyle>
          <a:p>
            <a:pPr>
              <a:defRPr/>
            </a:pPr>
            <a:r>
              <a:rPr lang="en-US" altLang="zh-CN"/>
              <a:t>5.</a:t>
            </a:r>
            <a:fld id="{58E47CC7-518F-4CE5-BF4D-368EEB899D3C}"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124" name="Rectangle 3"/>
          <p:cNvSpPr>
            <a:spLocks noChangeArrowheads="1"/>
          </p:cNvSpPr>
          <p:nvPr/>
        </p:nvSpPr>
        <p:spPr bwMode="auto">
          <a:xfrm>
            <a:off x="1143000" y="2514600"/>
            <a:ext cx="68580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4800" dirty="0">
                <a:latin typeface="宋体" panose="02010600030101010101" pitchFamily="2" charset="-122"/>
                <a:ea typeface="宋体" panose="02010600030101010101" pitchFamily="2" charset="-122"/>
              </a:rPr>
              <a:t>第五章</a:t>
            </a:r>
            <a:endParaRPr lang="en-US" altLang="zh-CN" sz="4800" dirty="0">
              <a:latin typeface="宋体" panose="02010600030101010101" pitchFamily="2" charset="-122"/>
              <a:ea typeface="宋体" panose="02010600030101010101" pitchFamily="2" charset="-122"/>
            </a:endParaRPr>
          </a:p>
          <a:p>
            <a:pPr algn="ctr"/>
            <a:endParaRPr lang="en-US" altLang="en-US" sz="2000" dirty="0">
              <a:latin typeface="宋体" panose="02010600030101010101" pitchFamily="2" charset="-122"/>
              <a:ea typeface="宋体" panose="02010600030101010101" pitchFamily="2" charset="-122"/>
            </a:endParaRPr>
          </a:p>
          <a:p>
            <a:pPr algn="ctr"/>
            <a:r>
              <a:rPr lang="zh-CN" altLang="en-US" sz="4400" dirty="0">
                <a:ea typeface="宋体" panose="02010600030101010101" pitchFamily="2" charset="-122"/>
              </a:rPr>
              <a:t>模拟传输</a:t>
            </a:r>
            <a:endParaRPr lang="en-US" altLang="zh-CN" sz="44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9144000" cy="1143000"/>
          </a:xfrm>
          <a:prstGeom prst="rect">
            <a:avLst/>
          </a:prstGeom>
          <a:solidFill>
            <a:srgbClr val="4FB4FF"/>
          </a:solidFill>
          <a:ln w="9525">
            <a:noFill/>
            <a:miter lim="800000"/>
          </a:ln>
          <a:effectLst/>
        </p:spPr>
        <p:txBody>
          <a:bodyPr wrap="none" anchor="ctr"/>
          <a:lstStyle/>
          <a:p>
            <a:pPr algn="ctr">
              <a:defRPr/>
            </a:pPr>
            <a:endParaRPr lang="zh-CN" altLang="zh-CN">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sp>
        <p:nvSpPr>
          <p:cNvPr id="7170"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7BCC722D-D93A-4C6B-885C-2E88AAB14D72}" type="slidenum">
              <a:rPr lang="en-US" altLang="zh-CN" sz="2000" smtClean="0">
                <a:solidFill>
                  <a:schemeClr val="bg2"/>
                </a:solidFill>
              </a:rPr>
            </a:fld>
            <a:endParaRPr lang="en-US" altLang="zh-CN" sz="2000">
              <a:solidFill>
                <a:schemeClr val="bg2"/>
              </a:solidFill>
            </a:endParaRPr>
          </a:p>
        </p:txBody>
      </p:sp>
      <p:sp>
        <p:nvSpPr>
          <p:cNvPr id="565251" name="Text Box 3"/>
          <p:cNvSpPr txBox="1">
            <a:spLocks noChangeArrowheads="1"/>
          </p:cNvSpPr>
          <p:nvPr/>
        </p:nvSpPr>
        <p:spPr bwMode="auto">
          <a:xfrm>
            <a:off x="272176" y="318100"/>
            <a:ext cx="4046301"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5.1   </a:t>
            </a:r>
            <a:r>
              <a:rPr lang="zh-CN" altLang="en-US" dirty="0">
                <a:latin typeface="微软雅黑" panose="020B0503020204020204" pitchFamily="34" charset="-122"/>
                <a:ea typeface="微软雅黑" panose="020B0503020204020204" pitchFamily="34" charset="-122"/>
              </a:rPr>
              <a:t>数字到模拟转换</a:t>
            </a:r>
            <a:endParaRPr lang="en-US" altLang="zh-CN" dirty="0">
              <a:latin typeface="微软雅黑" panose="020B0503020204020204" pitchFamily="34" charset="-122"/>
              <a:ea typeface="微软雅黑" panose="020B0503020204020204" pitchFamily="34" charset="-122"/>
            </a:endParaRPr>
          </a:p>
        </p:txBody>
      </p:sp>
      <p:sp>
        <p:nvSpPr>
          <p:cNvPr id="7173"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7174" name="Rectangle 5"/>
          <p:cNvSpPr>
            <a:spLocks noChangeArrowheads="1"/>
          </p:cNvSpPr>
          <p:nvPr/>
        </p:nvSpPr>
        <p:spPr bwMode="auto">
          <a:xfrm>
            <a:off x="968375" y="1295400"/>
            <a:ext cx="7207250" cy="24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150000"/>
              </a:lnSpc>
            </a:pPr>
            <a:r>
              <a:rPr lang="zh-CN" altLang="en-US" sz="1600" b="0" dirty="0">
                <a:latin typeface="微软雅黑" panose="020B0503020204020204" pitchFamily="34" charset="-122"/>
                <a:ea typeface="微软雅黑" panose="020B0503020204020204" pitchFamily="34" charset="-122"/>
              </a:rPr>
              <a:t>无论数字还是模拟信号，要进行传输，必须解决传输过程中可能造成的信号衰减、干扰等问题，带有直流分量的数字信号尤其不适合远距离传输。另外，数字信号的频率范围很大，对传输带宽的要求也高。而一般线路带宽是有限的，必然会导致高次谐波衰减，引起信号畸变，造成失真。</a:t>
            </a:r>
            <a:endParaRPr lang="en-US" altLang="zh-CN" sz="1600" b="0" dirty="0">
              <a:latin typeface="微软雅黑" panose="020B0503020204020204" pitchFamily="34" charset="-122"/>
              <a:ea typeface="微软雅黑" panose="020B0503020204020204" pitchFamily="34" charset="-122"/>
            </a:endParaRPr>
          </a:p>
          <a:p>
            <a:pPr algn="just" eaLnBrk="1" hangingPunct="1">
              <a:lnSpc>
                <a:spcPct val="150000"/>
              </a:lnSpc>
            </a:pPr>
            <a:endParaRPr lang="en-US" altLang="zh-CN" sz="800" b="0"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sz="1600" b="0" dirty="0">
                <a:latin typeface="微软雅黑" panose="020B0503020204020204" pitchFamily="34" charset="-122"/>
                <a:ea typeface="微软雅黑" panose="020B0503020204020204" pitchFamily="34" charset="-122"/>
              </a:rPr>
              <a:t>数字信号必须采用一定的调制方式，调制到载波上进行传输，接收后再解调得到原来的数字信号。</a:t>
            </a:r>
            <a:endParaRPr lang="en-US" altLang="zh-CN" sz="1600" dirty="0">
              <a:latin typeface="微软雅黑" panose="020B0503020204020204" pitchFamily="34" charset="-122"/>
              <a:ea typeface="微软雅黑" panose="020B0503020204020204" pitchFamily="34" charset="-122"/>
            </a:endParaRPr>
          </a:p>
        </p:txBody>
      </p:sp>
      <p:sp>
        <p:nvSpPr>
          <p:cNvPr id="7" name="Text Box 4"/>
          <p:cNvSpPr txBox="1">
            <a:spLocks noChangeArrowheads="1"/>
          </p:cNvSpPr>
          <p:nvPr/>
        </p:nvSpPr>
        <p:spPr bwMode="auto">
          <a:xfrm>
            <a:off x="3688617" y="6097787"/>
            <a:ext cx="17667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  </a:t>
            </a:r>
            <a:r>
              <a:rPr lang="zh-CN" altLang="en-US" sz="1400" dirty="0">
                <a:latin typeface="Times New Roman" panose="02020603050405020304" pitchFamily="18" charset="0"/>
                <a:ea typeface="宋体" panose="02010600030101010101" pitchFamily="2" charset="-122"/>
              </a:rPr>
              <a:t>数模转换</a:t>
            </a:r>
            <a:endParaRPr lang="en-US" altLang="zh-CN" sz="1400" dirty="0">
              <a:latin typeface="Times New Roman" panose="02020603050405020304" pitchFamily="18" charset="0"/>
              <a:ea typeface="宋体" panose="02010600030101010101" pitchFamily="2" charset="-122"/>
            </a:endParaRPr>
          </a:p>
        </p:txBody>
      </p:sp>
      <p:pic>
        <p:nvPicPr>
          <p:cNvPr id="8"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85383" y="4070171"/>
            <a:ext cx="6373234" cy="186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4C749B14-085F-40EF-B417-5467A15AEFFE}" type="slidenum">
              <a:rPr lang="en-US" altLang="zh-CN" sz="2000" smtClean="0">
                <a:solidFill>
                  <a:schemeClr val="bg2"/>
                </a:solidFill>
              </a:rPr>
            </a:fld>
            <a:endParaRPr lang="en-US" altLang="zh-CN" sz="2000">
              <a:solidFill>
                <a:schemeClr val="bg2"/>
              </a:solidFill>
            </a:endParaRPr>
          </a:p>
        </p:txBody>
      </p:sp>
      <p:sp>
        <p:nvSpPr>
          <p:cNvPr id="11269" name="Text Box 4"/>
          <p:cNvSpPr txBox="1">
            <a:spLocks noChangeArrowheads="1"/>
          </p:cNvSpPr>
          <p:nvPr/>
        </p:nvSpPr>
        <p:spPr bwMode="auto">
          <a:xfrm>
            <a:off x="3509081" y="6249112"/>
            <a:ext cx="21258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5.2  </a:t>
            </a:r>
            <a:r>
              <a:rPr lang="zh-CN" altLang="en-US" sz="1400" dirty="0">
                <a:latin typeface="Times New Roman" panose="02020603050405020304" pitchFamily="18" charset="0"/>
                <a:ea typeface="宋体" panose="02010600030101010101" pitchFamily="2" charset="-122"/>
              </a:rPr>
              <a:t>数字调制类型</a:t>
            </a:r>
            <a:endParaRPr lang="en-US" altLang="zh-CN" sz="1400" dirty="0">
              <a:latin typeface="Times New Roman" panose="02020603050405020304" pitchFamily="18" charset="0"/>
              <a:ea typeface="宋体" panose="02010600030101010101" pitchFamily="2" charset="-122"/>
            </a:endParaRPr>
          </a:p>
        </p:txBody>
      </p:sp>
      <p:pic>
        <p:nvPicPr>
          <p:cNvPr id="1127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3226" y="3619424"/>
            <a:ext cx="6857930" cy="2473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65359" y="859832"/>
            <a:ext cx="7553241" cy="2676525"/>
          </a:xfrm>
          <a:prstGeom prst="rect">
            <a:avLst/>
          </a:prstGeom>
        </p:spPr>
        <p:txBody>
          <a:bodyPr wrap="square">
            <a:spAutoFit/>
          </a:bodyPr>
          <a:lstStyle/>
          <a:p>
            <a:pPr algn="just">
              <a:lnSpc>
                <a:spcPct val="150000"/>
              </a:lnSpc>
            </a:pP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数字调制是现代通信技术中的一种重要方法，它通过改变模拟载波信号（作为基波来承载信息的高频率信号）的某些离散状态来表征所传送的信息，称为调制或移动键控。主要优点包括抗干扰、抗信道损耗性能强，具有更高的安全性等。常见的数字调制方式包括：</a:t>
            </a:r>
            <a:endParaRPr lang="en-US" altLang="zh-CN" sz="14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幅移键控</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ASK</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：通过改变载波信号的幅度来表示二进制数字信号中的信息。</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频移键控FSK</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：使用不同的频率用来表示不同的数字信号。</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相移键控PSK</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：通过改变载波信号的相位来表示数字信息。</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二进制相移键控BPSK</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：相移键控的一种，载波相位在 </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0 </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或 </a:t>
            </a:r>
            <a:r>
              <a:rPr lang="en-US" altLang="zh-CN" sz="1400" b="0" dirty="0">
                <a:latin typeface="微软雅黑" panose="020B0503020204020204" pitchFamily="34" charset="-122"/>
                <a:ea typeface="微软雅黑" panose="020B0503020204020204" pitchFamily="34" charset="-122"/>
                <a:cs typeface="微软雅黑" panose="020B0503020204020204" pitchFamily="34" charset="-122"/>
              </a:rPr>
              <a:t>π </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之间切换来表示数字信号。</a:t>
            </a:r>
            <a:endParaRPr lang="zh-CN" altLang="en-US" sz="1400" b="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正交幅度调制QAM</a:t>
            </a:r>
            <a:r>
              <a:rPr lang="zh-CN" altLang="en-US" sz="1400" b="0" dirty="0">
                <a:latin typeface="微软雅黑" panose="020B0503020204020204" pitchFamily="34" charset="-122"/>
                <a:ea typeface="微软雅黑" panose="020B0503020204020204" pitchFamily="34" charset="-122"/>
                <a:cs typeface="微软雅黑" panose="020B0503020204020204" pitchFamily="34" charset="-122"/>
              </a:rPr>
              <a:t>：在实部和虚部两个正交维度上采用幅度调制的数字调制方法。</a:t>
            </a:r>
            <a:endParaRPr lang="zh-CN" altLang="en-US" sz="1400" b="0" i="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27C476E9-C039-4A02-AC21-F5F08EBA0E74}" type="slidenum">
              <a:rPr lang="en-US" altLang="zh-CN" sz="2000" smtClean="0">
                <a:solidFill>
                  <a:schemeClr val="bg2"/>
                </a:solidFill>
              </a:rPr>
            </a:fld>
            <a:endParaRPr lang="en-US" altLang="zh-CN" sz="2000">
              <a:solidFill>
                <a:schemeClr val="bg2"/>
              </a:solidFill>
            </a:endParaRPr>
          </a:p>
        </p:txBody>
      </p:sp>
      <p:sp>
        <p:nvSpPr>
          <p:cNvPr id="13315" name="Rectangle 11"/>
          <p:cNvSpPr>
            <a:spLocks noChangeArrowheads="1"/>
          </p:cNvSpPr>
          <p:nvPr/>
        </p:nvSpPr>
        <p:spPr bwMode="auto">
          <a:xfrm>
            <a:off x="838298" y="960689"/>
            <a:ext cx="6515154"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nSpc>
                <a:spcPct val="150000"/>
              </a:lnSpc>
              <a:buClr>
                <a:srgbClr val="3366FF"/>
              </a:buClr>
              <a:buSzPct val="80000"/>
            </a:pPr>
            <a:r>
              <a:rPr lang="zh-CN" altLang="en-US" sz="1800" b="0" dirty="0">
                <a:latin typeface="微软雅黑" panose="020B0503020204020204" pitchFamily="34" charset="-122"/>
                <a:ea typeface="微软雅黑" panose="020B0503020204020204" pitchFamily="34" charset="-122"/>
              </a:rPr>
              <a:t>在数字数据的模拟传输中，波特率</a:t>
            </a:r>
            <a:r>
              <a:rPr lang="en-US" altLang="zh-CN" sz="1800" b="0" dirty="0">
                <a:latin typeface="微软雅黑" panose="020B0503020204020204" pitchFamily="34" charset="-122"/>
                <a:ea typeface="微软雅黑" panose="020B0503020204020204" pitchFamily="34" charset="-122"/>
              </a:rPr>
              <a:t>S</a:t>
            </a:r>
            <a:r>
              <a:rPr lang="zh-CN" altLang="en-US" sz="1800" b="0" dirty="0">
                <a:latin typeface="微软雅黑" panose="020B0503020204020204" pitchFamily="34" charset="-122"/>
                <a:ea typeface="微软雅黑" panose="020B0503020204020204" pitchFamily="34" charset="-122"/>
              </a:rPr>
              <a:t>小于等于比特率</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316" name="对象 1"/>
              <p:cNvSpPr txBox="1"/>
              <p:nvPr/>
            </p:nvSpPr>
            <p:spPr bwMode="auto">
              <a:xfrm>
                <a:off x="3352832" y="1430534"/>
                <a:ext cx="1704977" cy="844558"/>
              </a:xfrm>
              <a:prstGeom prst="rect">
                <a:avLst/>
              </a:prstGeom>
              <a:noFill/>
              <a:ln>
                <a:noFill/>
              </a:ln>
            </p:spPr>
            <p:txBody>
              <a:bodyPr>
                <a:normAutofit/>
              </a:bodyPr>
              <a:lstStyle/>
              <a:p>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𝑆</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𝑁</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𝑟</m:t>
                          </m:r>
                        </m:den>
                      </m:f>
                      <m:r>
                        <a:rPr lang="zh-CN" altLang="en-US" sz="2400" i="0">
                          <a:solidFill>
                            <a:srgbClr val="000000"/>
                          </a:solidFill>
                          <a:latin typeface="Cambria Math" panose="02040503050406030204" pitchFamily="18" charset="0"/>
                        </a:rPr>
                        <m:t> </m:t>
                      </m:r>
                    </m:oMath>
                  </m:oMathPara>
                </a14:m>
                <a:br>
                  <a:rPr lang="zh-CN" altLang="en-US" sz="2400" dirty="0">
                    <a:solidFill>
                      <a:srgbClr val="000000"/>
                    </a:solidFill>
                  </a:rPr>
                </a:br>
                <a:endParaRPr lang="zh-CN" altLang="en-US" sz="2400" dirty="0"/>
              </a:p>
            </p:txBody>
          </p:sp>
        </mc:Choice>
        <mc:Fallback>
          <p:sp>
            <p:nvSpPr>
              <p:cNvPr id="13316" name="对象 1"/>
              <p:cNvSpPr txBox="1">
                <a:spLocks noRot="1" noChangeAspect="1" noMove="1" noResize="1" noEditPoints="1" noAdjustHandles="1" noChangeArrowheads="1" noChangeShapeType="1" noTextEdit="1"/>
              </p:cNvSpPr>
              <p:nvPr/>
            </p:nvSpPr>
            <p:spPr bwMode="auto">
              <a:xfrm>
                <a:off x="3352832" y="1430534"/>
                <a:ext cx="1704977" cy="844558"/>
              </a:xfrm>
              <a:prstGeom prst="rect">
                <a:avLst/>
              </a:prstGeom>
              <a:blipFill rotWithShape="1">
                <a:blip r:embed="rId1"/>
                <a:stretch>
                  <a:fillRect l="-2" t="-61" r="2" b="-29036"/>
                </a:stretch>
              </a:blipFill>
              <a:ln>
                <a:noFill/>
              </a:ln>
            </p:spPr>
            <p:txBody>
              <a:bodyPr/>
              <a:lstStyle/>
              <a:p>
                <a:r>
                  <a:rPr lang="zh-CN" altLang="en-US">
                    <a:noFill/>
                  </a:rPr>
                  <a:t> </a:t>
                </a:r>
              </a:p>
            </p:txBody>
          </p:sp>
        </mc:Fallback>
      </mc:AlternateContent>
      <p:sp>
        <p:nvSpPr>
          <p:cNvPr id="13318" name="文本框 9"/>
          <p:cNvSpPr txBox="1">
            <a:spLocks noChangeArrowheads="1"/>
          </p:cNvSpPr>
          <p:nvPr/>
        </p:nvSpPr>
        <p:spPr bwMode="auto">
          <a:xfrm>
            <a:off x="838298" y="2199455"/>
            <a:ext cx="7821612" cy="9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1800" b="0" dirty="0">
                <a:latin typeface="微软雅黑" panose="020B0503020204020204" pitchFamily="34" charset="-122"/>
                <a:ea typeface="微软雅黑" panose="020B0503020204020204" pitchFamily="34" charset="-122"/>
              </a:rPr>
              <a:t>在数字传输中，</a:t>
            </a:r>
            <a:r>
              <a:rPr lang="zh-CN" altLang="en-US" sz="2000" dirty="0">
                <a:latin typeface="Times New Roman" panose="02020603050405020304" pitchFamily="18" charset="0"/>
                <a:ea typeface="宋体" panose="02010600030101010101" pitchFamily="2" charset="-122"/>
              </a:rPr>
              <a:t> </a:t>
            </a:r>
            <a:r>
              <a:rPr lang="en-US" altLang="zh-CN" sz="2000" i="1" dirty="0">
                <a:latin typeface="Times New Roman" panose="02020603050405020304" pitchFamily="18" charset="0"/>
                <a:ea typeface="宋体" panose="02010600030101010101" pitchFamily="2" charset="-122"/>
              </a:rPr>
              <a:t>r </a:t>
            </a:r>
            <a:r>
              <a:rPr lang="zh-CN" altLang="en-US" sz="1800" b="0" dirty="0">
                <a:latin typeface="微软雅黑" panose="020B0503020204020204" pitchFamily="34" charset="-122"/>
                <a:ea typeface="微软雅黑" panose="020B0503020204020204" pitchFamily="34" charset="-122"/>
              </a:rPr>
              <a:t>是一个信号元素携带的数据元素的个数。在模拟传输中，</a:t>
            </a:r>
            <a:r>
              <a:rPr lang="en-US" altLang="zh-CN" sz="2000" i="1" dirty="0">
                <a:latin typeface="Times New Roman" panose="02020603050405020304" pitchFamily="18" charset="0"/>
                <a:ea typeface="宋体" panose="02010600030101010101" pitchFamily="2" charset="-122"/>
              </a:rPr>
              <a:t>r</a:t>
            </a:r>
            <a:r>
              <a:rPr lang="en-US" altLang="zh-CN" sz="2000" dirty="0">
                <a:latin typeface="Times New Roman" panose="02020603050405020304" pitchFamily="18" charset="0"/>
                <a:ea typeface="宋体" panose="02010600030101010101" pitchFamily="2" charset="-122"/>
              </a:rPr>
              <a:t> = log</a:t>
            </a:r>
            <a:r>
              <a:rPr lang="en-US" altLang="zh-CN" sz="2000" baseline="-25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L</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L </a:t>
            </a:r>
            <a:r>
              <a:rPr lang="zh-CN" altLang="en-US" sz="1800" b="0" dirty="0">
                <a:latin typeface="微软雅黑" panose="020B0503020204020204" pitchFamily="34" charset="-122"/>
                <a:ea typeface="微软雅黑" panose="020B0503020204020204" pitchFamily="34" charset="-122"/>
              </a:rPr>
              <a:t>是信号元素类型，不是电平个数。</a:t>
            </a:r>
            <a:endParaRPr lang="zh-CN" altLang="en-US" sz="1800" b="0" dirty="0">
              <a:latin typeface="微软雅黑" panose="020B0503020204020204" pitchFamily="34" charset="-122"/>
              <a:ea typeface="微软雅黑" panose="020B0503020204020204" pitchFamily="34" charset="-122"/>
            </a:endParaRPr>
          </a:p>
        </p:txBody>
      </p:sp>
      <p:sp>
        <p:nvSpPr>
          <p:cNvPr id="10" name="Rectangle 13"/>
          <p:cNvSpPr>
            <a:spLocks noChangeArrowheads="1"/>
          </p:cNvSpPr>
          <p:nvPr/>
        </p:nvSpPr>
        <p:spPr bwMode="auto">
          <a:xfrm>
            <a:off x="838298" y="3307312"/>
            <a:ext cx="7821612"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5.2 </a:t>
            </a:r>
            <a:r>
              <a:rPr lang="zh-CN" altLang="en-US" sz="1800" b="0" dirty="0">
                <a:latin typeface="微软雅黑" panose="020B0503020204020204" pitchFamily="34" charset="-122"/>
                <a:ea typeface="微软雅黑" panose="020B0503020204020204" pitchFamily="34" charset="-122"/>
              </a:rPr>
              <a:t>一个信号的比特率为 </a:t>
            </a:r>
            <a:r>
              <a:rPr lang="en-US" altLang="zh-CN" sz="1800" b="0" dirty="0">
                <a:latin typeface="微软雅黑" panose="020B0503020204020204" pitchFamily="34" charset="-122"/>
                <a:ea typeface="微软雅黑" panose="020B0503020204020204" pitchFamily="34" charset="-122"/>
              </a:rPr>
              <a:t>8000bps</a:t>
            </a:r>
            <a:r>
              <a:rPr lang="zh-CN" altLang="en-US" sz="1800" b="0" dirty="0">
                <a:latin typeface="微软雅黑" panose="020B0503020204020204" pitchFamily="34" charset="-122"/>
                <a:ea typeface="微软雅黑" panose="020B0503020204020204" pitchFamily="34" charset="-122"/>
              </a:rPr>
              <a:t>，波特率为</a:t>
            </a:r>
            <a:r>
              <a:rPr lang="en-US" altLang="zh-CN" sz="1800" b="0" dirty="0">
                <a:latin typeface="微软雅黑" panose="020B0503020204020204" pitchFamily="34" charset="-122"/>
                <a:ea typeface="微软雅黑" panose="020B0503020204020204" pitchFamily="34" charset="-122"/>
              </a:rPr>
              <a:t>1000 baud</a:t>
            </a:r>
            <a:r>
              <a:rPr lang="zh-CN" altLang="en-US" sz="1800" b="0" dirty="0">
                <a:latin typeface="微软雅黑" panose="020B0503020204020204" pitchFamily="34" charset="-122"/>
                <a:ea typeface="微软雅黑" panose="020B0503020204020204" pitchFamily="34" charset="-122"/>
              </a:rPr>
              <a:t>，则每个信号元素携带多少个数据元素？需要多少个信号元素？</a:t>
            </a:r>
            <a:endParaRPr lang="en-US" altLang="zh-CN" sz="1800" b="0" dirty="0">
              <a:latin typeface="微软雅黑" panose="020B0503020204020204" pitchFamily="34" charset="-122"/>
              <a:ea typeface="微软雅黑" panose="020B0503020204020204" pitchFamily="34" charset="-122"/>
            </a:endParaRPr>
          </a:p>
        </p:txBody>
      </p:sp>
      <p:sp>
        <p:nvSpPr>
          <p:cNvPr id="11" name="Rectangle 14"/>
          <p:cNvSpPr>
            <a:spLocks noChangeArrowheads="1"/>
          </p:cNvSpPr>
          <p:nvPr/>
        </p:nvSpPr>
        <p:spPr bwMode="auto">
          <a:xfrm>
            <a:off x="838298" y="4332326"/>
            <a:ext cx="79867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b="0" dirty="0">
                <a:latin typeface="微软雅黑" panose="020B0503020204020204" pitchFamily="34" charset="-122"/>
                <a:ea typeface="微软雅黑" panose="020B0503020204020204" pitchFamily="34" charset="-122"/>
              </a:rPr>
              <a:t>解：已知 </a:t>
            </a:r>
            <a:r>
              <a:rPr lang="en-US" altLang="zh-CN" sz="1800" i="1" dirty="0">
                <a:latin typeface="Times" panose="02020603050405020304" pitchFamily="18" charset="0"/>
                <a:ea typeface="宋体" panose="02010600030101010101" pitchFamily="2" charset="-122"/>
              </a:rPr>
              <a:t>S</a:t>
            </a:r>
            <a:r>
              <a:rPr lang="en-US" altLang="zh-CN" sz="1800" dirty="0">
                <a:latin typeface="Times" panose="02020603050405020304" pitchFamily="18" charset="0"/>
                <a:ea typeface="宋体" panose="02010600030101010101" pitchFamily="2" charset="-122"/>
              </a:rPr>
              <a:t> = 1000</a:t>
            </a:r>
            <a:r>
              <a:rPr lang="zh-CN" altLang="en-US" sz="1800" dirty="0">
                <a:latin typeface="Times" panose="02020603050405020304" pitchFamily="18" charset="0"/>
                <a:ea typeface="宋体" panose="02010600030101010101" pitchFamily="2" charset="-122"/>
              </a:rPr>
              <a:t>，</a:t>
            </a:r>
            <a:r>
              <a:rPr lang="en-US" altLang="zh-CN" sz="1800" i="1" dirty="0">
                <a:latin typeface="Times" panose="02020603050405020304" pitchFamily="18" charset="0"/>
                <a:ea typeface="宋体" panose="02010600030101010101" pitchFamily="2" charset="-122"/>
              </a:rPr>
              <a:t>N</a:t>
            </a:r>
            <a:r>
              <a:rPr lang="en-US" altLang="zh-CN" sz="1800" dirty="0">
                <a:latin typeface="Times" panose="02020603050405020304" pitchFamily="18" charset="0"/>
                <a:ea typeface="宋体" panose="02010600030101010101" pitchFamily="2" charset="-122"/>
              </a:rPr>
              <a:t> = 8000</a:t>
            </a:r>
            <a:r>
              <a:rPr lang="zh-CN" altLang="en-US" sz="1800" dirty="0">
                <a:latin typeface="Times" panose="02020603050405020304" pitchFamily="18" charset="0"/>
                <a:ea typeface="宋体" panose="02010600030101010101" pitchFamily="2" charset="-122"/>
              </a:rPr>
              <a:t>，</a:t>
            </a:r>
            <a:r>
              <a:rPr lang="en-US" altLang="zh-CN" sz="1800" i="1" dirty="0">
                <a:latin typeface="Times" panose="02020603050405020304" pitchFamily="18" charset="0"/>
                <a:ea typeface="宋体" panose="02010600030101010101" pitchFamily="2" charset="-122"/>
              </a:rPr>
              <a:t>r</a:t>
            </a:r>
            <a:r>
              <a:rPr lang="en-US" altLang="zh-CN" sz="1800" dirty="0">
                <a:latin typeface="Times" panose="02020603050405020304" pitchFamily="18" charset="0"/>
                <a:ea typeface="宋体" panose="02010600030101010101" pitchFamily="2" charset="-122"/>
              </a:rPr>
              <a:t> </a:t>
            </a:r>
            <a:r>
              <a:rPr lang="zh-CN" altLang="en-US" sz="1800" b="0" dirty="0">
                <a:latin typeface="微软雅黑" panose="020B0503020204020204" pitchFamily="34" charset="-122"/>
                <a:ea typeface="微软雅黑" panose="020B0503020204020204" pitchFamily="34" charset="-122"/>
              </a:rPr>
              <a:t>和</a:t>
            </a:r>
            <a:r>
              <a:rPr lang="en-US" altLang="zh-CN" sz="180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L</a:t>
            </a:r>
            <a:r>
              <a:rPr lang="en-US" altLang="zh-CN" sz="1800" dirty="0">
                <a:latin typeface="Times" panose="02020603050405020304" pitchFamily="18" charset="0"/>
                <a:ea typeface="宋体" panose="02010600030101010101" pitchFamily="2" charset="-122"/>
              </a:rPr>
              <a:t> </a:t>
            </a:r>
            <a:r>
              <a:rPr lang="zh-CN" altLang="en-US" sz="1800" b="0" dirty="0">
                <a:latin typeface="微软雅黑" panose="020B0503020204020204" pitchFamily="34" charset="-122"/>
                <a:ea typeface="微软雅黑" panose="020B0503020204020204" pitchFamily="34" charset="-122"/>
              </a:rPr>
              <a:t>未知。所以需要先计算</a:t>
            </a:r>
            <a:r>
              <a:rPr lang="en-US" altLang="zh-CN" sz="1800" b="0" dirty="0">
                <a:latin typeface="微软雅黑" panose="020B0503020204020204" pitchFamily="34" charset="-122"/>
                <a:ea typeface="微软雅黑" panose="020B0503020204020204" pitchFamily="34" charset="-122"/>
              </a:rPr>
              <a:t> </a:t>
            </a:r>
            <a:r>
              <a:rPr lang="en-US" altLang="zh-CN" sz="1800" i="1" dirty="0">
                <a:latin typeface="Times" panose="02020603050405020304" pitchFamily="18" charset="0"/>
                <a:ea typeface="宋体" panose="02010600030101010101" pitchFamily="2" charset="-122"/>
              </a:rPr>
              <a:t>r</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再得到 </a:t>
            </a:r>
            <a:r>
              <a:rPr lang="en-US" altLang="zh-CN" sz="1800" i="1" dirty="0">
                <a:latin typeface="Times" panose="02020603050405020304" pitchFamily="18" charset="0"/>
                <a:ea typeface="宋体" panose="02010600030101010101" pitchFamily="2" charset="-122"/>
              </a:rPr>
              <a:t>L</a:t>
            </a:r>
            <a:r>
              <a:rPr lang="zh-CN" altLang="en-US" sz="1800" dirty="0">
                <a:latin typeface="Times" panose="02020603050405020304" pitchFamily="18" charset="0"/>
                <a:ea typeface="宋体" panose="02010600030101010101" pitchFamily="2" charset="-122"/>
              </a:rPr>
              <a:t>。</a:t>
            </a:r>
            <a:endParaRPr lang="en-US" altLang="zh-CN" sz="1800" dirty="0">
              <a:latin typeface="Times"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12" name="对象 1"/>
              <p:cNvSpPr txBox="1"/>
              <p:nvPr/>
            </p:nvSpPr>
            <p:spPr bwMode="auto">
              <a:xfrm>
                <a:off x="2286060" y="4881284"/>
                <a:ext cx="5257832" cy="575948"/>
              </a:xfrm>
              <a:prstGeom prst="rect">
                <a:avLst/>
              </a:prstGeom>
              <a:noFill/>
              <a:ln>
                <a:noFill/>
              </a:ln>
            </p:spPr>
            <p:txBody>
              <a:bodyPr>
                <a:normAutofit/>
              </a:bodyPr>
              <a:lstStyle/>
              <a:p>
                <a14:m>
                  <m:oMath xmlns:m="http://schemas.openxmlformats.org/officeDocument/2006/math">
                    <m:r>
                      <a:rPr lang="zh-CN" altLang="en-US" sz="2200" b="0" i="1">
                        <a:solidFill>
                          <a:srgbClr val="000000"/>
                        </a:solidFill>
                        <a:latin typeface="Cambria Math" panose="02040503050406030204" pitchFamily="18" charset="0"/>
                      </a:rPr>
                      <m:t>𝑆</m:t>
                    </m:r>
                    <m:r>
                      <a:rPr lang="zh-CN" altLang="en-US" sz="2200" b="0" i="1">
                        <a:solidFill>
                          <a:srgbClr val="000000"/>
                        </a:solidFill>
                        <a:latin typeface="Cambria Math" panose="02040503050406030204" pitchFamily="18" charset="0"/>
                      </a:rPr>
                      <m:t>=</m:t>
                    </m:r>
                    <m:r>
                      <a:rPr lang="zh-CN" altLang="en-US" sz="2200" b="0" i="1">
                        <a:solidFill>
                          <a:srgbClr val="000000"/>
                        </a:solidFill>
                        <a:latin typeface="Cambria Math" panose="02040503050406030204" pitchFamily="18" charset="0"/>
                      </a:rPr>
                      <m:t>𝑁</m:t>
                    </m:r>
                    <m:r>
                      <a:rPr lang="zh-CN" altLang="en-US" sz="2200" b="0" i="1">
                        <a:solidFill>
                          <a:srgbClr val="000000"/>
                        </a:solidFill>
                        <a:latin typeface="Cambria Math" panose="02040503050406030204" pitchFamily="18" charset="0"/>
                      </a:rPr>
                      <m:t>×</m:t>
                    </m:r>
                    <m:f>
                      <m:fPr>
                        <m:ctrlPr>
                          <a:rPr lang="zh-CN" altLang="en-US" sz="2200" b="0" i="1">
                            <a:solidFill>
                              <a:srgbClr val="000000"/>
                            </a:solidFill>
                            <a:latin typeface="Cambria Math" panose="02040503050406030204" pitchFamily="18" charset="0"/>
                          </a:rPr>
                        </m:ctrlPr>
                      </m:fPr>
                      <m:num>
                        <m:r>
                          <a:rPr lang="zh-CN" altLang="en-US" sz="2200" b="0" i="1">
                            <a:solidFill>
                              <a:srgbClr val="000000"/>
                            </a:solidFill>
                            <a:latin typeface="Cambria Math" panose="02040503050406030204" pitchFamily="18" charset="0"/>
                          </a:rPr>
                          <m:t>1</m:t>
                        </m:r>
                      </m:num>
                      <m:den>
                        <m:r>
                          <a:rPr lang="zh-CN" altLang="en-US" sz="2200" b="0" i="1">
                            <a:solidFill>
                              <a:srgbClr val="000000"/>
                            </a:solidFill>
                            <a:latin typeface="Cambria Math" panose="02040503050406030204" pitchFamily="18" charset="0"/>
                          </a:rPr>
                          <m:t>𝑟</m:t>
                        </m:r>
                      </m:den>
                    </m:f>
                    <m:r>
                      <a:rPr lang="zh-CN" altLang="en-US" sz="2200" b="0" i="1">
                        <a:solidFill>
                          <a:srgbClr val="000000"/>
                        </a:solidFill>
                        <a:latin typeface="Cambria Math" panose="02040503050406030204" pitchFamily="18" charset="0"/>
                      </a:rPr>
                      <m:t> →</m:t>
                    </m:r>
                    <m:r>
                      <a:rPr lang="en-US" altLang="zh-CN" sz="2200" b="0" i="1">
                        <a:solidFill>
                          <a:srgbClr val="000000"/>
                        </a:solidFill>
                        <a:latin typeface="Cambria Math" panose="02040503050406030204" pitchFamily="18" charset="0"/>
                      </a:rPr>
                      <m:t>𝑟</m:t>
                    </m:r>
                    <m:r>
                      <a:rPr lang="en-US" altLang="zh-CN" sz="2200" b="0" i="1">
                        <a:solidFill>
                          <a:srgbClr val="000000"/>
                        </a:solidFill>
                        <a:latin typeface="Cambria Math" panose="02040503050406030204" pitchFamily="18" charset="0"/>
                      </a:rPr>
                      <m:t>=</m:t>
                    </m:r>
                    <m:f>
                      <m:fPr>
                        <m:ctrlPr>
                          <a:rPr lang="en-US" altLang="zh-CN" sz="2200" b="0" i="1">
                            <a:solidFill>
                              <a:srgbClr val="000000"/>
                            </a:solidFill>
                            <a:latin typeface="Cambria Math" panose="02040503050406030204" pitchFamily="18" charset="0"/>
                          </a:rPr>
                        </m:ctrlPr>
                      </m:fPr>
                      <m:num>
                        <m:r>
                          <a:rPr lang="en-US" altLang="zh-CN" sz="2200" b="0" i="1">
                            <a:solidFill>
                              <a:srgbClr val="000000"/>
                            </a:solidFill>
                            <a:latin typeface="Cambria Math" panose="02040503050406030204" pitchFamily="18" charset="0"/>
                          </a:rPr>
                          <m:t>𝑁</m:t>
                        </m:r>
                      </m:num>
                      <m:den>
                        <m:r>
                          <a:rPr lang="en-US" altLang="zh-CN" sz="2200" b="0" i="1">
                            <a:solidFill>
                              <a:srgbClr val="000000"/>
                            </a:solidFill>
                            <a:latin typeface="Cambria Math" panose="02040503050406030204" pitchFamily="18" charset="0"/>
                          </a:rPr>
                          <m:t>𝑆</m:t>
                        </m:r>
                      </m:den>
                    </m:f>
                  </m:oMath>
                </a14:m>
                <a:r>
                  <a:rPr lang="zh-CN" altLang="en-US" sz="2200" b="0" i="1"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200" b="0" i="1">
                        <a:solidFill>
                          <a:srgbClr val="000000"/>
                        </a:solidFill>
                        <a:latin typeface="Cambria Math" panose="02040503050406030204" pitchFamily="18" charset="0"/>
                      </a:rPr>
                      <m:t>=</m:t>
                    </m:r>
                  </m:oMath>
                </a14:m>
                <a:r>
                  <a:rPr lang="en-US" altLang="zh-CN" sz="2200" b="0" i="1" dirty="0">
                    <a:solidFill>
                      <a:srgbClr val="000000"/>
                    </a:solidFill>
                    <a:latin typeface="Times New Roman" panose="02020603050405020304" pitchFamily="18" charset="0"/>
                    <a:cs typeface="Times New Roman" panose="02020603050405020304" pitchFamily="18" charset="0"/>
                  </a:rPr>
                  <a:t> </a:t>
                </a:r>
                <a:r>
                  <a:rPr lang="en-US" altLang="zh-CN" sz="2200" b="0" dirty="0">
                    <a:solidFill>
                      <a:srgbClr val="000000"/>
                    </a:solidFill>
                    <a:latin typeface="Times New Roman" panose="02020603050405020304" pitchFamily="18" charset="0"/>
                    <a:cs typeface="Times New Roman" panose="02020603050405020304" pitchFamily="18" charset="0"/>
                  </a:rPr>
                  <a:t>8 bits/baud</a:t>
                </a:r>
                <a:endParaRPr lang="zh-CN" altLang="en-US" sz="2200" b="0" dirty="0">
                  <a:latin typeface="Times New Roman" panose="02020603050405020304" pitchFamily="18" charset="0"/>
                  <a:cs typeface="Times New Roman" panose="02020603050405020304" pitchFamily="18" charset="0"/>
                </a:endParaRPr>
              </a:p>
            </p:txBody>
          </p:sp>
        </mc:Choice>
        <mc:Fallback>
          <p:sp>
            <p:nvSpPr>
              <p:cNvPr id="12" name="对象 1"/>
              <p:cNvSpPr txBox="1">
                <a:spLocks noRot="1" noChangeAspect="1" noMove="1" noResize="1" noEditPoints="1" noAdjustHandles="1" noChangeArrowheads="1" noChangeShapeType="1" noTextEdit="1"/>
              </p:cNvSpPr>
              <p:nvPr/>
            </p:nvSpPr>
            <p:spPr bwMode="auto">
              <a:xfrm>
                <a:off x="2286060" y="4881284"/>
                <a:ext cx="5257832" cy="575948"/>
              </a:xfrm>
              <a:prstGeom prst="rect">
                <a:avLst/>
              </a:prstGeom>
              <a:blipFill rotWithShape="1">
                <a:blip r:embed="rId2"/>
                <a:stretch>
                  <a:fillRect l="-1" t="-7" r="2" b="7"/>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对象 1"/>
              <p:cNvSpPr txBox="1"/>
              <p:nvPr/>
            </p:nvSpPr>
            <p:spPr bwMode="auto">
              <a:xfrm>
                <a:off x="2300788" y="5609337"/>
                <a:ext cx="5257832" cy="575948"/>
              </a:xfrm>
              <a:prstGeom prst="rect">
                <a:avLst/>
              </a:prstGeom>
              <a:noFill/>
              <a:ln>
                <a:noFill/>
              </a:ln>
            </p:spPr>
            <p:txBody>
              <a:bodyPr>
                <a:normAutofit/>
              </a:bodyPr>
              <a:lstStyle/>
              <a:p>
                <a14:m>
                  <m:oMath xmlns:m="http://schemas.openxmlformats.org/officeDocument/2006/math">
                    <m:r>
                      <a:rPr lang="en-US" altLang="zh-CN" sz="2200" b="0" i="1" smtClean="0">
                        <a:solidFill>
                          <a:srgbClr val="000000"/>
                        </a:solidFill>
                        <a:latin typeface="Cambria Math" panose="02040503050406030204" pitchFamily="18" charset="0"/>
                      </a:rPr>
                      <m:t>𝑟</m:t>
                    </m:r>
                    <m:r>
                      <a:rPr lang="zh-CN" altLang="en-US" sz="2200" b="0" i="1">
                        <a:solidFill>
                          <a:srgbClr val="000000"/>
                        </a:solidFill>
                        <a:latin typeface="Cambria Math" panose="02040503050406030204" pitchFamily="18" charset="0"/>
                      </a:rPr>
                      <m:t>=</m:t>
                    </m:r>
                    <m:sSub>
                      <m:sSubPr>
                        <m:ctrlPr>
                          <a:rPr lang="en-US" altLang="zh-CN" sz="2200" b="0" i="1" smtClean="0">
                            <a:solidFill>
                              <a:srgbClr val="000000"/>
                            </a:solidFill>
                            <a:latin typeface="Cambria Math" panose="02040503050406030204" pitchFamily="18" charset="0"/>
                          </a:rPr>
                        </m:ctrlPr>
                      </m:sSubPr>
                      <m:e>
                        <m:r>
                          <m:rPr>
                            <m:sty m:val="p"/>
                          </m:rPr>
                          <a:rPr lang="en-US" altLang="zh-CN" sz="2200" b="0" i="0" smtClean="0">
                            <a:solidFill>
                              <a:srgbClr val="000000"/>
                            </a:solidFill>
                            <a:latin typeface="Cambria Math" panose="02040503050406030204" pitchFamily="18" charset="0"/>
                          </a:rPr>
                          <m:t>log</m:t>
                        </m:r>
                      </m:e>
                      <m:sub>
                        <m:r>
                          <a:rPr lang="en-US" altLang="zh-CN" sz="2200" b="0" i="1" smtClean="0">
                            <a:solidFill>
                              <a:srgbClr val="000000"/>
                            </a:solidFill>
                            <a:latin typeface="Cambria Math" panose="02040503050406030204" pitchFamily="18" charset="0"/>
                          </a:rPr>
                          <m:t>2</m:t>
                        </m:r>
                      </m:sub>
                    </m:sSub>
                    <m:r>
                      <a:rPr lang="en-US" altLang="zh-CN" sz="2200" b="0" i="1" smtClean="0">
                        <a:solidFill>
                          <a:srgbClr val="000000"/>
                        </a:solidFill>
                        <a:latin typeface="Cambria Math" panose="02040503050406030204" pitchFamily="18" charset="0"/>
                      </a:rPr>
                      <m:t>𝐿</m:t>
                    </m:r>
                    <m:r>
                      <a:rPr lang="zh-CN" altLang="en-US" sz="2200" b="0" i="1">
                        <a:solidFill>
                          <a:srgbClr val="000000"/>
                        </a:solidFill>
                        <a:latin typeface="Cambria Math" panose="02040503050406030204" pitchFamily="18" charset="0"/>
                      </a:rPr>
                      <m:t>→</m:t>
                    </m:r>
                    <m:r>
                      <a:rPr lang="en-US" altLang="zh-CN" sz="2200" b="0" i="1" smtClean="0">
                        <a:solidFill>
                          <a:srgbClr val="000000"/>
                        </a:solidFill>
                        <a:latin typeface="Cambria Math" panose="02040503050406030204" pitchFamily="18" charset="0"/>
                      </a:rPr>
                      <m:t>𝐿</m:t>
                    </m:r>
                    <m:r>
                      <a:rPr lang="en-US" altLang="zh-CN" sz="2200" b="0" i="1">
                        <a:solidFill>
                          <a:srgbClr val="000000"/>
                        </a:solidFill>
                        <a:latin typeface="Cambria Math" panose="02040503050406030204" pitchFamily="18" charset="0"/>
                      </a:rPr>
                      <m:t>=</m:t>
                    </m:r>
                    <m:sSup>
                      <m:sSupPr>
                        <m:ctrlPr>
                          <a:rPr lang="en-US" altLang="zh-CN" sz="2200" b="0" i="1" smtClean="0">
                            <a:solidFill>
                              <a:srgbClr val="000000"/>
                            </a:solidFill>
                            <a:latin typeface="Cambria Math" panose="02040503050406030204" pitchFamily="18" charset="0"/>
                          </a:rPr>
                        </m:ctrlPr>
                      </m:sSupPr>
                      <m:e>
                        <m:r>
                          <a:rPr lang="en-US" altLang="zh-CN" sz="2200" b="0" i="1" smtClean="0">
                            <a:solidFill>
                              <a:srgbClr val="000000"/>
                            </a:solidFill>
                            <a:latin typeface="Cambria Math" panose="02040503050406030204" pitchFamily="18" charset="0"/>
                          </a:rPr>
                          <m:t>2</m:t>
                        </m:r>
                      </m:e>
                      <m:sup>
                        <m:r>
                          <a:rPr lang="en-US" altLang="zh-CN" sz="2200" b="0" i="1" smtClean="0">
                            <a:solidFill>
                              <a:srgbClr val="000000"/>
                            </a:solidFill>
                            <a:latin typeface="Cambria Math" panose="02040503050406030204" pitchFamily="18" charset="0"/>
                          </a:rPr>
                          <m:t>𝑟</m:t>
                        </m:r>
                      </m:sup>
                    </m:sSup>
                    <m:r>
                      <a:rPr lang="en-US" altLang="zh-CN" sz="2200" b="0" i="1">
                        <a:solidFill>
                          <a:srgbClr val="000000"/>
                        </a:solidFill>
                        <a:latin typeface="Cambria Math" panose="02040503050406030204" pitchFamily="18" charset="0"/>
                      </a:rPr>
                      <m:t>=</m:t>
                    </m:r>
                  </m:oMath>
                </a14:m>
                <a:r>
                  <a:rPr lang="en-US" altLang="zh-CN" sz="2200" b="0" i="1" dirty="0">
                    <a:solidFill>
                      <a:srgbClr val="000000"/>
                    </a:solidFill>
                    <a:latin typeface="Times New Roman" panose="02020603050405020304" pitchFamily="18" charset="0"/>
                    <a:cs typeface="Times New Roman" panose="02020603050405020304" pitchFamily="18" charset="0"/>
                  </a:rPr>
                  <a:t> </a:t>
                </a:r>
                <a:r>
                  <a:rPr lang="en-US" altLang="zh-CN" sz="2200" b="0" dirty="0">
                    <a:solidFill>
                      <a:srgbClr val="000000"/>
                    </a:solidFill>
                    <a:latin typeface="Times New Roman" panose="02020603050405020304" pitchFamily="18" charset="0"/>
                    <a:ea typeface="Cambria Math" panose="02040503050406030204" pitchFamily="18" charset="0"/>
                    <a:cs typeface="Times New Roman" panose="02020603050405020304" pitchFamily="18" charset="0"/>
                  </a:rPr>
                  <a:t>256</a:t>
                </a:r>
                <a:endParaRPr lang="zh-CN" altLang="en-US" sz="2200" b="0" dirty="0">
                  <a:latin typeface="Times New Roman" panose="02020603050405020304" pitchFamily="18" charset="0"/>
                  <a:cs typeface="Times New Roman" panose="02020603050405020304" pitchFamily="18" charset="0"/>
                </a:endParaRPr>
              </a:p>
            </p:txBody>
          </p:sp>
        </mc:Choice>
        <mc:Fallback>
          <p:sp>
            <p:nvSpPr>
              <p:cNvPr id="13" name="对象 1"/>
              <p:cNvSpPr txBox="1">
                <a:spLocks noRot="1" noChangeAspect="1" noMove="1" noResize="1" noEditPoints="1" noAdjustHandles="1" noChangeArrowheads="1" noChangeShapeType="1" noTextEdit="1"/>
              </p:cNvSpPr>
              <p:nvPr/>
            </p:nvSpPr>
            <p:spPr bwMode="auto">
              <a:xfrm>
                <a:off x="2300788" y="5609337"/>
                <a:ext cx="5257832" cy="575948"/>
              </a:xfrm>
              <a:prstGeom prst="rect">
                <a:avLst/>
              </a:prstGeom>
              <a:blipFill rotWithShape="1">
                <a:blip r:embed="rId3"/>
                <a:stretch>
                  <a:fillRect l="-3" t="-66" r="4" b="67"/>
                </a:stretch>
              </a:blipFill>
              <a:ln>
                <a:noFill/>
              </a:ln>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Text Box 4"/>
          <p:cNvSpPr txBox="1">
            <a:spLocks noChangeArrowheads="1"/>
          </p:cNvSpPr>
          <p:nvPr/>
        </p:nvSpPr>
        <p:spPr bwMode="auto">
          <a:xfrm>
            <a:off x="2667050" y="5714940"/>
            <a:ext cx="36856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400" dirty="0">
                <a:solidFill>
                  <a:schemeClr val="folHlink"/>
                </a:solidFill>
                <a:latin typeface="Times New Roman" panose="02020603050405020304" pitchFamily="18" charset="0"/>
                <a:ea typeface="宋体" panose="02010600030101010101" pitchFamily="2" charset="-122"/>
              </a:rPr>
              <a:t>图 3.24  </a:t>
            </a:r>
            <a:r>
              <a:rPr lang="zh-CN" altLang="en-US" sz="1400" dirty="0">
                <a:latin typeface="Times New Roman" panose="02020603050405020304" pitchFamily="18" charset="0"/>
                <a:ea typeface="宋体" panose="02010600030101010101" pitchFamily="2" charset="-122"/>
              </a:rPr>
              <a:t>数字信号在带通通道传输的调制过程</a:t>
            </a:r>
            <a:endParaRPr lang="zh-CN" altLang="en-US" sz="1400" dirty="0">
              <a:latin typeface="Times New Roman" panose="02020603050405020304" pitchFamily="18" charset="0"/>
              <a:ea typeface="宋体" panose="02010600030101010101" pitchFamily="2" charset="-122"/>
            </a:endParaRPr>
          </a:p>
        </p:txBody>
      </p:sp>
      <p:pic>
        <p:nvPicPr>
          <p:cNvPr id="2151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1088" y="1616893"/>
            <a:ext cx="7301824" cy="3624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7B172543-68D1-43FD-AFE1-7E30627C32FC}" type="slidenum">
              <a:rPr lang="en-US" altLang="zh-CN" sz="2000" smtClean="0">
                <a:solidFill>
                  <a:schemeClr val="bg2"/>
                </a:solidFill>
              </a:rPr>
            </a:fld>
            <a:endParaRPr lang="en-US" altLang="zh-CN" sz="2000">
              <a:solidFill>
                <a:schemeClr val="bg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4645279E-72E9-4C55-B9CA-B24456BFB8B3}" type="slidenum">
              <a:rPr lang="en-US" altLang="zh-CN" sz="2000" smtClean="0">
                <a:solidFill>
                  <a:schemeClr val="bg2"/>
                </a:solidFill>
              </a:rPr>
            </a:fld>
            <a:endParaRPr lang="en-US" altLang="zh-CN" sz="2000">
              <a:solidFill>
                <a:schemeClr val="bg2"/>
              </a:solidFill>
            </a:endParaRPr>
          </a:p>
        </p:txBody>
      </p:sp>
      <p:sp>
        <p:nvSpPr>
          <p:cNvPr id="22531" name="Text Box 4"/>
          <p:cNvSpPr txBox="1">
            <a:spLocks noChangeArrowheads="1"/>
          </p:cNvSpPr>
          <p:nvPr/>
        </p:nvSpPr>
        <p:spPr bwMode="auto">
          <a:xfrm>
            <a:off x="3352832" y="3768922"/>
            <a:ext cx="23053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5.3  </a:t>
            </a:r>
            <a:r>
              <a:rPr lang="zh-CN" altLang="en-US" sz="1400" dirty="0">
                <a:latin typeface="Times New Roman" panose="02020603050405020304" pitchFamily="18" charset="0"/>
                <a:ea typeface="宋体" panose="02010600030101010101" pitchFamily="2" charset="-122"/>
              </a:rPr>
              <a:t>二进制幅移键控</a:t>
            </a:r>
            <a:endParaRPr lang="en-US" altLang="zh-CN" sz="1400" dirty="0">
              <a:latin typeface="Times New Roman" panose="02020603050405020304" pitchFamily="18" charset="0"/>
              <a:ea typeface="宋体" panose="02010600030101010101" pitchFamily="2" charset="-122"/>
            </a:endParaRPr>
          </a:p>
        </p:txBody>
      </p:sp>
      <p:pic>
        <p:nvPicPr>
          <p:cNvPr id="22533"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1105" y="1612409"/>
            <a:ext cx="6988828" cy="1904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846392" y="83432"/>
            <a:ext cx="6145092"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幅移键控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二进制</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ASK (BASK)</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p:cNvSpPr txBox="1"/>
          <p:nvPr/>
        </p:nvSpPr>
        <p:spPr>
          <a:xfrm>
            <a:off x="1028301" y="982609"/>
            <a:ext cx="5714850" cy="400110"/>
          </a:xfrm>
          <a:prstGeom prst="rect">
            <a:avLst/>
          </a:prstGeom>
          <a:noFill/>
        </p:spPr>
        <p:txBody>
          <a:bodyPr wrap="square" rtlCol="0">
            <a:spAutoFit/>
          </a:bodyPr>
          <a:lstStyle/>
          <a:p>
            <a:r>
              <a:rPr lang="en-US" altLang="zh-CN" sz="2000" b="0" dirty="0">
                <a:latin typeface="微软雅黑" panose="020B0503020204020204" pitchFamily="34" charset="-122"/>
                <a:ea typeface="微软雅黑" panose="020B0503020204020204" pitchFamily="34" charset="-122"/>
              </a:rPr>
              <a:t>ASK</a:t>
            </a:r>
            <a:r>
              <a:rPr lang="zh-CN" altLang="en-US" sz="2000" b="0" dirty="0">
                <a:latin typeface="微软雅黑" panose="020B0503020204020204" pitchFamily="34" charset="-122"/>
                <a:ea typeface="微软雅黑" panose="020B0503020204020204" pitchFamily="34" charset="-122"/>
              </a:rPr>
              <a:t>的带宽为 </a:t>
            </a:r>
            <a:r>
              <a:rPr lang="en-US" altLang="zh-CN" sz="2000" b="0" dirty="0">
                <a:latin typeface="微软雅黑" panose="020B0503020204020204" pitchFamily="34" charset="-122"/>
                <a:ea typeface="微软雅黑" panose="020B0503020204020204" pitchFamily="34" charset="-122"/>
              </a:rPr>
              <a:t>B = (1+d)×S</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S</a:t>
            </a:r>
            <a:r>
              <a:rPr lang="zh-CN" altLang="en-US" sz="2000" b="0" dirty="0">
                <a:latin typeface="微软雅黑" panose="020B0503020204020204" pitchFamily="34" charset="-122"/>
                <a:ea typeface="微软雅黑" panose="020B0503020204020204" pitchFamily="34" charset="-122"/>
              </a:rPr>
              <a:t>是信号速率</a:t>
            </a:r>
            <a:endParaRPr lang="zh-CN" altLang="en-US" sz="2000" b="0" dirty="0">
              <a:latin typeface="微软雅黑" panose="020B0503020204020204" pitchFamily="34" charset="-122"/>
              <a:ea typeface="微软雅黑" panose="020B0503020204020204" pitchFamily="34" charset="-122"/>
            </a:endParaRPr>
          </a:p>
        </p:txBody>
      </p:sp>
      <p:sp>
        <p:nvSpPr>
          <p:cNvPr id="9" name="Text Box 4"/>
          <p:cNvSpPr txBox="1">
            <a:spLocks noChangeArrowheads="1"/>
          </p:cNvSpPr>
          <p:nvPr/>
        </p:nvSpPr>
        <p:spPr bwMode="auto">
          <a:xfrm>
            <a:off x="3258254" y="6246833"/>
            <a:ext cx="2494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5.4  </a:t>
            </a:r>
            <a:r>
              <a:rPr lang="zh-CN" altLang="en-US" sz="1400" dirty="0">
                <a:latin typeface="Times New Roman" panose="02020603050405020304" pitchFamily="18" charset="0"/>
                <a:ea typeface="宋体" panose="02010600030101010101" pitchFamily="2" charset="-122"/>
              </a:rPr>
              <a:t>二进制</a:t>
            </a:r>
            <a:r>
              <a:rPr lang="en-US" altLang="zh-CN" sz="1400" dirty="0">
                <a:latin typeface="Times New Roman" panose="02020603050405020304" pitchFamily="18" charset="0"/>
                <a:ea typeface="宋体" panose="02010600030101010101" pitchFamily="2" charset="-122"/>
              </a:rPr>
              <a:t>ASK</a:t>
            </a:r>
            <a:r>
              <a:rPr lang="zh-CN" altLang="en-US" sz="1400" dirty="0">
                <a:latin typeface="Times New Roman" panose="02020603050405020304" pitchFamily="18" charset="0"/>
                <a:ea typeface="宋体" panose="02010600030101010101" pitchFamily="2" charset="-122"/>
              </a:rPr>
              <a:t>的实现</a:t>
            </a:r>
            <a:endParaRPr lang="en-US" altLang="zh-CN" sz="1400" dirty="0">
              <a:latin typeface="Times New Roman" panose="02020603050405020304" pitchFamily="18" charset="0"/>
              <a:ea typeface="宋体" panose="02010600030101010101" pitchFamily="2" charset="-122"/>
            </a:endParaRPr>
          </a:p>
        </p:txBody>
      </p:sp>
      <p:pic>
        <p:nvPicPr>
          <p:cNvPr id="1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276" y="4305191"/>
            <a:ext cx="6133447" cy="177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3D038F3C-F633-495D-8A85-81104AD334F5}" type="slidenum">
              <a:rPr lang="en-US" altLang="zh-CN" sz="2000" smtClean="0">
                <a:solidFill>
                  <a:schemeClr val="bg2"/>
                </a:solidFill>
              </a:rPr>
            </a:fld>
            <a:endParaRPr lang="en-US" altLang="zh-CN" sz="2000">
              <a:solidFill>
                <a:schemeClr val="bg2"/>
              </a:solidFill>
            </a:endParaRPr>
          </a:p>
        </p:txBody>
      </p:sp>
      <p:sp>
        <p:nvSpPr>
          <p:cNvPr id="26635" name="Rectangle 13"/>
          <p:cNvSpPr>
            <a:spLocks noChangeArrowheads="1"/>
          </p:cNvSpPr>
          <p:nvPr/>
        </p:nvSpPr>
        <p:spPr bwMode="auto">
          <a:xfrm>
            <a:off x="673481" y="962118"/>
            <a:ext cx="7937013" cy="87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5.3 </a:t>
            </a:r>
            <a:r>
              <a:rPr lang="zh-CN" altLang="en-US" sz="1800" b="0" dirty="0">
                <a:latin typeface="微软雅黑" panose="020B0503020204020204" pitchFamily="34" charset="-122"/>
                <a:ea typeface="微软雅黑" panose="020B0503020204020204" pitchFamily="34" charset="-122"/>
              </a:rPr>
              <a:t>信道有</a:t>
            </a:r>
            <a:r>
              <a:rPr lang="zh-CN" altLang="en-US" sz="180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宋体" panose="02010600030101010101" pitchFamily="2" charset="-122"/>
              </a:rPr>
              <a:t>100kHz</a:t>
            </a:r>
            <a:r>
              <a:rPr lang="zh-CN" altLang="en-US" sz="1800" b="0" dirty="0">
                <a:latin typeface="微软雅黑" panose="020B0503020204020204" pitchFamily="34" charset="-122"/>
                <a:ea typeface="微软雅黑" panose="020B0503020204020204" pitchFamily="34" charset="-122"/>
              </a:rPr>
              <a:t>的可用带宽，范围从</a:t>
            </a:r>
            <a:r>
              <a:rPr lang="en-US" altLang="zh-CN" sz="1800" b="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宋体" panose="02010600030101010101" pitchFamily="2" charset="-122"/>
              </a:rPr>
              <a:t>200 </a:t>
            </a:r>
            <a:r>
              <a:rPr lang="zh-CN" altLang="en-US" sz="1800" b="0" dirty="0">
                <a:latin typeface="微软雅黑" panose="020B0503020204020204" pitchFamily="34" charset="-122"/>
                <a:ea typeface="微软雅黑" panose="020B0503020204020204" pitchFamily="34" charset="-122"/>
              </a:rPr>
              <a:t>到</a:t>
            </a:r>
            <a:r>
              <a:rPr lang="en-US" altLang="zh-CN" sz="1800" dirty="0">
                <a:latin typeface="Times New Roman" panose="02020603050405020304" pitchFamily="18" charset="0"/>
                <a:ea typeface="宋体" panose="02010600030101010101" pitchFamily="2" charset="-122"/>
              </a:rPr>
              <a:t> 300 kHz</a:t>
            </a:r>
            <a:r>
              <a:rPr lang="zh-CN" altLang="en-US" sz="1800" dirty="0">
                <a:latin typeface="Times New Roman"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如果通过使用 </a:t>
            </a:r>
            <a:r>
              <a:rPr lang="en-US" altLang="zh-CN" sz="1800" i="1" dirty="0">
                <a:latin typeface="Times New Roman" panose="02020603050405020304" pitchFamily="18" charset="0"/>
                <a:ea typeface="宋体" panose="02010600030101010101" pitchFamily="2" charset="-122"/>
              </a:rPr>
              <a:t>d</a:t>
            </a:r>
            <a:r>
              <a:rPr lang="en-US" altLang="zh-CN" sz="1800" dirty="0">
                <a:latin typeface="Times New Roman" panose="02020603050405020304" pitchFamily="18" charset="0"/>
                <a:ea typeface="宋体" panose="02010600030101010101" pitchFamily="2" charset="-122"/>
              </a:rPr>
              <a:t> = 1 </a:t>
            </a:r>
            <a:r>
              <a:rPr lang="zh-CN" altLang="en-US" sz="1800" b="0" dirty="0">
                <a:latin typeface="微软雅黑" panose="020B0503020204020204" pitchFamily="34" charset="-122"/>
                <a:ea typeface="微软雅黑" panose="020B0503020204020204" pitchFamily="34" charset="-122"/>
              </a:rPr>
              <a:t>的</a:t>
            </a:r>
            <a:r>
              <a:rPr lang="en-US" altLang="zh-CN" sz="1800" dirty="0">
                <a:latin typeface="Times New Roman" panose="02020603050405020304" pitchFamily="18" charset="0"/>
                <a:ea typeface="宋体" panose="02010600030101010101" pitchFamily="2" charset="-122"/>
              </a:rPr>
              <a:t>ASK </a:t>
            </a:r>
            <a:r>
              <a:rPr lang="zh-CN" altLang="en-US" sz="1800" b="0" dirty="0">
                <a:latin typeface="微软雅黑" panose="020B0503020204020204" pitchFamily="34" charset="-122"/>
                <a:ea typeface="微软雅黑" panose="020B0503020204020204" pitchFamily="34" charset="-122"/>
              </a:rPr>
              <a:t>调制数据，那么载波频率和比特率是多少</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（假设</a:t>
            </a:r>
            <a:r>
              <a:rPr lang="en-US" altLang="zh-CN" sz="1800" b="0" dirty="0">
                <a:latin typeface="微软雅黑" panose="020B0503020204020204" pitchFamily="34" charset="-122"/>
                <a:ea typeface="微软雅黑" panose="020B0503020204020204" pitchFamily="34" charset="-122"/>
              </a:rPr>
              <a:t> </a:t>
            </a:r>
            <a:r>
              <a:rPr lang="en-US" altLang="zh-CN" sz="1800" i="1" dirty="0">
                <a:latin typeface="Times" panose="02020603050405020304" pitchFamily="18" charset="0"/>
                <a:ea typeface="宋体" panose="02010600030101010101" pitchFamily="2" charset="-122"/>
              </a:rPr>
              <a:t>d </a:t>
            </a:r>
            <a:r>
              <a:rPr lang="en-US" altLang="zh-CN" sz="1800" dirty="0">
                <a:latin typeface="Times" panose="02020603050405020304" pitchFamily="18" charset="0"/>
                <a:ea typeface="宋体" panose="02010600030101010101" pitchFamily="2" charset="-122"/>
              </a:rPr>
              <a:t>= 1 </a:t>
            </a:r>
            <a:r>
              <a:rPr lang="zh-CN" altLang="en-US" sz="1800" b="0" dirty="0">
                <a:latin typeface="微软雅黑" panose="020B0503020204020204" pitchFamily="34" charset="-122"/>
                <a:ea typeface="微软雅黑" panose="020B0503020204020204" pitchFamily="34" charset="-122"/>
              </a:rPr>
              <a:t>和</a:t>
            </a:r>
            <a:r>
              <a:rPr lang="en-US" altLang="zh-CN" sz="180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r</a:t>
            </a:r>
            <a:r>
              <a:rPr lang="en-US" altLang="zh-CN" sz="1800" dirty="0">
                <a:latin typeface="Times" panose="02020603050405020304" pitchFamily="18" charset="0"/>
                <a:ea typeface="宋体" panose="02010600030101010101" pitchFamily="2" charset="-122"/>
              </a:rPr>
              <a:t> = 1</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
        <p:nvSpPr>
          <p:cNvPr id="26636" name="Rectangle 14"/>
          <p:cNvSpPr>
            <a:spLocks noChangeArrowheads="1"/>
          </p:cNvSpPr>
          <p:nvPr/>
        </p:nvSpPr>
        <p:spPr bwMode="auto">
          <a:xfrm>
            <a:off x="683361" y="1846871"/>
            <a:ext cx="7927133" cy="133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b="0" dirty="0">
                <a:latin typeface="微软雅黑" panose="020B0503020204020204" pitchFamily="34" charset="-122"/>
                <a:ea typeface="微软雅黑" panose="020B0503020204020204" pitchFamily="34" charset="-122"/>
              </a:rPr>
              <a:t>解：带宽中点是 </a:t>
            </a:r>
            <a:r>
              <a:rPr lang="en-US" altLang="zh-CN" sz="1800" dirty="0">
                <a:latin typeface="Times" panose="02020603050405020304" pitchFamily="18" charset="0"/>
                <a:ea typeface="宋体" panose="02010600030101010101" pitchFamily="2" charset="-122"/>
              </a:rPr>
              <a:t>250kHz</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意味着载波频率</a:t>
            </a:r>
            <a:r>
              <a:rPr lang="en-US" altLang="zh-CN" sz="1800" b="0" dirty="0">
                <a:latin typeface="微软雅黑" panose="020B0503020204020204" pitchFamily="34" charset="-122"/>
                <a:ea typeface="微软雅黑" panose="020B0503020204020204" pitchFamily="34" charset="-122"/>
              </a:rPr>
              <a:t> </a:t>
            </a:r>
            <a:r>
              <a:rPr lang="en-US" altLang="zh-CN" sz="1800" i="1" dirty="0">
                <a:latin typeface="Times" panose="02020603050405020304" pitchFamily="18" charset="0"/>
                <a:ea typeface="宋体" panose="02010600030101010101" pitchFamily="2" charset="-122"/>
              </a:rPr>
              <a:t>f</a:t>
            </a:r>
            <a:r>
              <a:rPr lang="en-US" altLang="zh-CN" sz="1800" i="1" baseline="-25000" dirty="0">
                <a:latin typeface="Times" panose="02020603050405020304" pitchFamily="18" charset="0"/>
                <a:ea typeface="宋体" panose="02010600030101010101" pitchFamily="2" charset="-122"/>
              </a:rPr>
              <a:t>c</a:t>
            </a:r>
            <a:r>
              <a:rPr lang="en-US" altLang="zh-CN" sz="1800" dirty="0">
                <a:latin typeface="Times" panose="02020603050405020304" pitchFamily="18" charset="0"/>
                <a:ea typeface="宋体" panose="02010600030101010101" pitchFamily="2" charset="-122"/>
              </a:rPr>
              <a:t> = 250 kHz</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可以使用带宽的公式得到比特率。</a:t>
            </a:r>
            <a:endParaRPr lang="en-US" altLang="zh-CN" sz="1800" b="0" dirty="0">
              <a:latin typeface="微软雅黑" panose="020B0503020204020204" pitchFamily="34" charset="-122"/>
              <a:ea typeface="微软雅黑" panose="020B0503020204020204" pitchFamily="34" charset="-122"/>
            </a:endParaRPr>
          </a:p>
          <a:p>
            <a:pPr algn="just">
              <a:lnSpc>
                <a:spcPct val="150000"/>
              </a:lnSpc>
            </a:pP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(1+</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100kHz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 50kbps</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3"/>
          <p:cNvSpPr>
            <a:spLocks noChangeArrowheads="1"/>
          </p:cNvSpPr>
          <p:nvPr/>
        </p:nvSpPr>
        <p:spPr bwMode="auto">
          <a:xfrm>
            <a:off x="746262" y="3276604"/>
            <a:ext cx="7791450" cy="128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5.4 </a:t>
            </a:r>
            <a:r>
              <a:rPr lang="zh-CN" altLang="en-US" sz="1800" b="0" dirty="0">
                <a:latin typeface="微软雅黑" panose="020B0503020204020204" pitchFamily="34" charset="-122"/>
                <a:ea typeface="微软雅黑" panose="020B0503020204020204" pitchFamily="34" charset="-122"/>
              </a:rPr>
              <a:t>在数据通信中通常使用双向通信的全双工链路，需要把带宽分成两部分，每个部分有一个载波频率，每个方向可用带宽是 </a:t>
            </a:r>
            <a:r>
              <a:rPr lang="en-US" altLang="zh-CN" sz="1800" dirty="0">
                <a:latin typeface="Times New Roman" panose="02020603050405020304" pitchFamily="18" charset="0"/>
                <a:ea typeface="宋体" panose="02010600030101010101" pitchFamily="2" charset="-122"/>
              </a:rPr>
              <a:t>50 kHz,  </a:t>
            </a:r>
            <a:r>
              <a:rPr lang="zh-CN" altLang="en-US" sz="1800" b="0" dirty="0">
                <a:latin typeface="微软雅黑" panose="020B0503020204020204" pitchFamily="34" charset="-122"/>
                <a:ea typeface="微软雅黑" panose="020B0503020204020204" pitchFamily="34" charset="-122"/>
              </a:rPr>
              <a:t>因此每个方向的数据速率为</a:t>
            </a:r>
            <a:r>
              <a:rPr lang="en-US" altLang="zh-CN" sz="1800" b="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宋体" panose="02010600030101010101" pitchFamily="2" charset="-122"/>
              </a:rPr>
              <a:t>25 kbps</a:t>
            </a:r>
            <a:r>
              <a:rPr lang="zh-CN" altLang="en-US"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8" name="Text Box 4"/>
          <p:cNvSpPr txBox="1">
            <a:spLocks noChangeArrowheads="1"/>
          </p:cNvSpPr>
          <p:nvPr/>
        </p:nvSpPr>
        <p:spPr bwMode="auto">
          <a:xfrm>
            <a:off x="3598849" y="6180134"/>
            <a:ext cx="19463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5.5  </a:t>
            </a:r>
            <a:r>
              <a:rPr lang="zh-CN" altLang="en-US" sz="1400" dirty="0">
                <a:latin typeface="Times New Roman" panose="02020603050405020304" pitchFamily="18" charset="0"/>
                <a:ea typeface="宋体" panose="02010600030101010101" pitchFamily="2" charset="-122"/>
              </a:rPr>
              <a:t>全双工带宽</a:t>
            </a:r>
            <a:endParaRPr lang="en-US" altLang="zh-CN" sz="1400" dirty="0">
              <a:latin typeface="Times New Roman" panose="02020603050405020304" pitchFamily="18" charset="0"/>
              <a:ea typeface="宋体" panose="02010600030101010101" pitchFamily="2" charset="-122"/>
            </a:endParaRPr>
          </a:p>
        </p:txBody>
      </p:sp>
      <p:pic>
        <p:nvPicPr>
          <p:cNvPr id="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9014" y="4716988"/>
            <a:ext cx="3805971" cy="129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6E4AF0E2-D040-4F24-8E0B-C19C93D1DD71}" type="slidenum">
              <a:rPr lang="en-US" altLang="zh-CN" sz="2000" smtClean="0">
                <a:solidFill>
                  <a:schemeClr val="bg2"/>
                </a:solidFill>
              </a:rPr>
            </a:fld>
            <a:endParaRPr lang="en-US" altLang="zh-CN" sz="2000">
              <a:solidFill>
                <a:schemeClr val="bg2"/>
              </a:solidFill>
            </a:endParaRPr>
          </a:p>
        </p:txBody>
      </p:sp>
      <p:sp>
        <p:nvSpPr>
          <p:cNvPr id="30723" name="Text Box 4"/>
          <p:cNvSpPr txBox="1">
            <a:spLocks noChangeArrowheads="1"/>
          </p:cNvSpPr>
          <p:nvPr/>
        </p:nvSpPr>
        <p:spPr bwMode="auto">
          <a:xfrm>
            <a:off x="3352832" y="3989511"/>
            <a:ext cx="23053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5.6  </a:t>
            </a:r>
            <a:r>
              <a:rPr lang="zh-CN" altLang="en-US" sz="1400" dirty="0">
                <a:latin typeface="Times New Roman" panose="02020603050405020304" pitchFamily="18" charset="0"/>
                <a:ea typeface="宋体" panose="02010600030101010101" pitchFamily="2" charset="-122"/>
              </a:rPr>
              <a:t>二进制频移键控</a:t>
            </a:r>
            <a:endParaRPr lang="en-US" altLang="zh-CN" sz="1400" dirty="0">
              <a:latin typeface="Times New Roman" panose="02020603050405020304" pitchFamily="18" charset="0"/>
              <a:ea typeface="宋体" panose="02010600030101010101" pitchFamily="2" charset="-122"/>
            </a:endParaRPr>
          </a:p>
        </p:txBody>
      </p:sp>
      <p:pic>
        <p:nvPicPr>
          <p:cNvPr id="3072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8887" y="1392606"/>
            <a:ext cx="7226224" cy="222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30" name="对象 1"/>
          <p:cNvGraphicFramePr>
            <a:graphicFrameLocks noChangeAspect="1"/>
          </p:cNvGraphicFramePr>
          <p:nvPr/>
        </p:nvGraphicFramePr>
        <p:xfrm>
          <a:off x="2743248" y="5354221"/>
          <a:ext cx="3200316" cy="430811"/>
        </p:xfrm>
        <a:graphic>
          <a:graphicData uri="http://schemas.openxmlformats.org/presentationml/2006/ole">
            <mc:AlternateContent xmlns:mc="http://schemas.openxmlformats.org/markup-compatibility/2006">
              <mc:Choice xmlns:v="urn:schemas-microsoft-com:vml" Requires="v">
                <p:oleObj spid="_x0000_s30751" name="" r:id="rId2" imgW="1282700" imgH="203200" progId="Equation.DSMT4">
                  <p:embed/>
                </p:oleObj>
              </mc:Choice>
              <mc:Fallback>
                <p:oleObj name="" r:id="rId2" imgW="1282700" imgH="2032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48" y="5354221"/>
                        <a:ext cx="3200316" cy="430811"/>
                      </a:xfrm>
                      <a:prstGeom prst="rect">
                        <a:avLst/>
                      </a:prstGeom>
                      <a:noFill/>
                      <a:ln>
                        <a:noFill/>
                      </a:ln>
                    </p:spPr>
                  </p:pic>
                </p:oleObj>
              </mc:Fallback>
            </mc:AlternateContent>
          </a:graphicData>
        </a:graphic>
      </p:graphicFrame>
      <p:sp>
        <p:nvSpPr>
          <p:cNvPr id="2" name="矩形 1"/>
          <p:cNvSpPr/>
          <p:nvPr/>
        </p:nvSpPr>
        <p:spPr>
          <a:xfrm>
            <a:off x="2865446" y="118036"/>
            <a:ext cx="6013442"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频移键控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二进制</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FSK (BFSK)</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1051762" y="4642385"/>
            <a:ext cx="7040475" cy="400110"/>
          </a:xfrm>
          <a:prstGeom prst="rect">
            <a:avLst/>
          </a:prstGeom>
        </p:spPr>
        <p:txBody>
          <a:bodyPr wrap="square">
            <a:spAutoFit/>
          </a:bodyPr>
          <a:lstStyle/>
          <a:p>
            <a:pPr>
              <a:defRPr/>
            </a:pPr>
            <a:r>
              <a:rPr lang="zh-CN" altLang="en-US" sz="2000" b="0" dirty="0">
                <a:latin typeface="微软雅黑" panose="020B0503020204020204" pitchFamily="34" charset="-122"/>
                <a:ea typeface="微软雅黑" panose="020B0503020204020204" pitchFamily="34" charset="-122"/>
              </a:rPr>
              <a:t>如果两个频率的差是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Euclid Math Two" pitchFamily="18" charset="2"/>
              </a:rPr>
              <a:t>Δ</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，则</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BFSK</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要求的带宽是</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20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528FFA48-DC0D-41CF-9697-6D5987831A11}" type="slidenum">
              <a:rPr lang="en-US" altLang="zh-CN" sz="2000" smtClean="0">
                <a:solidFill>
                  <a:schemeClr val="bg2"/>
                </a:solidFill>
              </a:rPr>
            </a:fld>
            <a:endParaRPr lang="en-US" altLang="zh-CN" sz="2000">
              <a:solidFill>
                <a:schemeClr val="bg2"/>
              </a:solidFill>
            </a:endParaRPr>
          </a:p>
        </p:txBody>
      </p:sp>
      <p:sp>
        <p:nvSpPr>
          <p:cNvPr id="34819" name="Text Box 4"/>
          <p:cNvSpPr txBox="1">
            <a:spLocks noChangeArrowheads="1"/>
          </p:cNvSpPr>
          <p:nvPr/>
        </p:nvSpPr>
        <p:spPr bwMode="auto">
          <a:xfrm>
            <a:off x="3634115" y="5789645"/>
            <a:ext cx="18757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5.7  </a:t>
            </a:r>
            <a:r>
              <a:rPr lang="en-US" altLang="zh-CN" sz="1400" dirty="0">
                <a:latin typeface="Times New Roman" panose="02020603050405020304" pitchFamily="18" charset="0"/>
                <a:ea typeface="宋体" panose="02010600030101010101" pitchFamily="2" charset="-122"/>
              </a:rPr>
              <a:t>BFSK</a:t>
            </a:r>
            <a:r>
              <a:rPr lang="zh-CN" altLang="en-US" sz="1400" dirty="0">
                <a:latin typeface="Times New Roman" panose="02020603050405020304" pitchFamily="18" charset="0"/>
                <a:ea typeface="宋体" panose="02010600030101010101" pitchFamily="2" charset="-122"/>
              </a:rPr>
              <a:t>带宽</a:t>
            </a:r>
            <a:endParaRPr lang="en-US" altLang="zh-CN" sz="1400" dirty="0">
              <a:latin typeface="Times New Roman" panose="02020603050405020304" pitchFamily="18" charset="0"/>
              <a:ea typeface="宋体" panose="02010600030101010101" pitchFamily="2" charset="-122"/>
            </a:endParaRPr>
          </a:p>
        </p:txBody>
      </p:sp>
      <p:pic>
        <p:nvPicPr>
          <p:cNvPr id="3482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7020" y="3307758"/>
            <a:ext cx="7238810" cy="2152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87020" y="990664"/>
            <a:ext cx="7238810" cy="1987852"/>
          </a:xfrm>
          <a:prstGeom prst="rect">
            <a:avLst/>
          </a:prstGeom>
        </p:spPr>
        <p:txBody>
          <a:bodyPr wrap="square">
            <a:spAutoFit/>
          </a:bodyPr>
          <a:lstStyle/>
          <a:p>
            <a:pPr algn="just">
              <a:lnSpc>
                <a:spcPct val="200000"/>
              </a:lnSpc>
              <a:buClr>
                <a:srgbClr val="FF0000"/>
              </a:buClr>
              <a:defRPr/>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BFSK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有非相干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(noncoherent)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和相干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(coherent)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两种实现方法。在非相干</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BFSK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中，一个信号元素结束和下一个信号元素开始时相位不连续，可以看作使用两个载波频率的两个</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。在相干</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BFSK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中，两个信号元素边界处的相位是连续的，可以使用一个压控振荡器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VCO</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实现，根据输入电平改变频率。</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CE595A64-DDAD-4121-8372-118DEFA42C14}" type="slidenum">
              <a:rPr lang="en-US" altLang="zh-CN" sz="2000" smtClean="0">
                <a:solidFill>
                  <a:schemeClr val="bg2"/>
                </a:solidFill>
              </a:rPr>
            </a:fld>
            <a:endParaRPr lang="en-US" altLang="zh-CN" sz="2000">
              <a:solidFill>
                <a:schemeClr val="bg2"/>
              </a:solidFill>
            </a:endParaRPr>
          </a:p>
        </p:txBody>
      </p:sp>
      <p:sp>
        <p:nvSpPr>
          <p:cNvPr id="36875" name="Rectangle 13"/>
          <p:cNvSpPr>
            <a:spLocks noChangeArrowheads="1"/>
          </p:cNvSpPr>
          <p:nvPr/>
        </p:nvSpPr>
        <p:spPr bwMode="auto">
          <a:xfrm>
            <a:off x="693721" y="1054883"/>
            <a:ext cx="7821612"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5.6  </a:t>
            </a:r>
            <a:r>
              <a:rPr lang="zh-CN" altLang="en-US" sz="1800" b="0" dirty="0">
                <a:latin typeface="微软雅黑" panose="020B0503020204020204" pitchFamily="34" charset="-122"/>
                <a:ea typeface="微软雅黑" panose="020B0503020204020204" pitchFamily="34" charset="-122"/>
              </a:rPr>
              <a:t>用 </a:t>
            </a:r>
            <a:r>
              <a:rPr lang="en-US" altLang="zh-CN" sz="1800" dirty="0">
                <a:latin typeface="Times" panose="02020603050405020304" pitchFamily="18" charset="0"/>
                <a:ea typeface="宋体" panose="02010600030101010101" pitchFamily="2" charset="-122"/>
              </a:rPr>
              <a:t>3Mbps</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的比特率每次发送 </a:t>
            </a:r>
            <a:r>
              <a:rPr lang="en-US" altLang="zh-CN" sz="1800" dirty="0">
                <a:latin typeface="Times" panose="02020603050405020304" pitchFamily="18" charset="0"/>
                <a:ea typeface="宋体" panose="02010600030101010101" pitchFamily="2" charset="-122"/>
              </a:rPr>
              <a:t>3</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位数据，载波频率是</a:t>
            </a:r>
            <a:r>
              <a:rPr lang="en-US" altLang="zh-CN" sz="1800" b="0" dirty="0">
                <a:latin typeface="微软雅黑" panose="020B0503020204020204" pitchFamily="34" charset="-122"/>
                <a:ea typeface="微软雅黑" panose="020B0503020204020204" pitchFamily="34" charset="-122"/>
              </a:rPr>
              <a:t> </a:t>
            </a:r>
            <a:r>
              <a:rPr lang="en-US" altLang="zh-CN" sz="1800" dirty="0">
                <a:latin typeface="Times" panose="02020603050405020304" pitchFamily="18" charset="0"/>
                <a:ea typeface="宋体" panose="02010600030101010101" pitchFamily="2" charset="-122"/>
              </a:rPr>
              <a:t>10MHz</a:t>
            </a:r>
            <a:r>
              <a:rPr lang="zh-CN" altLang="en-US" sz="1800" b="0" dirty="0">
                <a:latin typeface="微软雅黑" panose="020B0503020204020204" pitchFamily="34" charset="-122"/>
                <a:ea typeface="微软雅黑" panose="020B0503020204020204" pitchFamily="34" charset="-122"/>
              </a:rPr>
              <a:t>，计算使用不同频率的个数、波特率和带宽（</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rPr>
              <a:t>= 0</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
        <p:nvSpPr>
          <p:cNvPr id="36876" name="Rectangle 14"/>
          <p:cNvSpPr>
            <a:spLocks noChangeArrowheads="1"/>
          </p:cNvSpPr>
          <p:nvPr/>
        </p:nvSpPr>
        <p:spPr bwMode="auto">
          <a:xfrm>
            <a:off x="696373" y="2097416"/>
            <a:ext cx="7761555" cy="170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b="0" dirty="0">
                <a:latin typeface="微软雅黑" panose="020B0503020204020204" pitchFamily="34" charset="-122"/>
                <a:ea typeface="微软雅黑" panose="020B0503020204020204" pitchFamily="34" charset="-122"/>
              </a:rPr>
              <a:t>解：使用不同频率的个数 </a:t>
            </a:r>
            <a:r>
              <a:rPr lang="en-US" altLang="zh-CN" sz="1800" i="1" dirty="0">
                <a:latin typeface="Times" panose="02020603050405020304" pitchFamily="18" charset="0"/>
                <a:ea typeface="宋体" panose="02010600030101010101" pitchFamily="2" charset="-122"/>
              </a:rPr>
              <a:t>L</a:t>
            </a:r>
            <a:r>
              <a:rPr lang="en-US" altLang="zh-CN" sz="1800" dirty="0">
                <a:latin typeface="Times" panose="02020603050405020304" pitchFamily="18" charset="0"/>
                <a:ea typeface="宋体" panose="02010600030101010101" pitchFamily="2" charset="-122"/>
              </a:rPr>
              <a:t>= 2</a:t>
            </a:r>
            <a:r>
              <a:rPr lang="en-US" altLang="zh-CN" sz="1800" baseline="30000" dirty="0">
                <a:latin typeface="Times" panose="02020603050405020304" pitchFamily="18" charset="0"/>
                <a:ea typeface="宋体" panose="02010600030101010101" pitchFamily="2" charset="-122"/>
              </a:rPr>
              <a:t>3 </a:t>
            </a:r>
            <a:r>
              <a:rPr lang="en-US" altLang="zh-CN" sz="1800" dirty="0">
                <a:latin typeface="Times" panose="02020603050405020304" pitchFamily="18" charset="0"/>
                <a:ea typeface="宋体" panose="02010600030101010101" pitchFamily="2" charset="-122"/>
              </a:rPr>
              <a:t>= 8</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波特率</a:t>
            </a:r>
            <a:r>
              <a:rPr lang="zh-CN" altLang="en-US" sz="180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S </a:t>
            </a:r>
            <a:r>
              <a:rPr lang="en-US" altLang="zh-CN" sz="1800" dirty="0">
                <a:latin typeface="Times" panose="02020603050405020304" pitchFamily="18" charset="0"/>
                <a:ea typeface="宋体" panose="02010600030101010101" pitchFamily="2" charset="-122"/>
              </a:rPr>
              <a:t>= 3MHz/3 = 1Mbaud</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带宽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频率个数</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每个频率的带宽，即 </a:t>
            </a:r>
            <a:r>
              <a:rPr lang="en-US" altLang="zh-CN" sz="1800" i="1" dirty="0">
                <a:latin typeface="Times" panose="02020603050405020304" pitchFamily="18" charset="0"/>
                <a:ea typeface="宋体" panose="02010600030101010101" pitchFamily="2" charset="-122"/>
              </a:rPr>
              <a:t>B</a:t>
            </a:r>
            <a:r>
              <a:rPr lang="en-US" altLang="zh-CN" sz="1800" dirty="0">
                <a:latin typeface="Times" panose="02020603050405020304" pitchFamily="18" charset="0"/>
                <a:ea typeface="宋体" panose="02010600030101010101" pitchFamily="2" charset="-122"/>
              </a:rPr>
              <a:t> = 8 ×(1+ </a:t>
            </a:r>
            <a:r>
              <a:rPr lang="en-US" altLang="zh-CN" sz="1800" i="1" dirty="0">
                <a:latin typeface="Times" panose="02020603050405020304" pitchFamily="18" charset="0"/>
                <a:ea typeface="宋体" panose="02010600030101010101" pitchFamily="2" charset="-122"/>
              </a:rPr>
              <a:t>d </a:t>
            </a:r>
            <a:r>
              <a:rPr lang="en-US" altLang="zh-CN" sz="1800" dirty="0">
                <a:latin typeface="Times" panose="02020603050405020304" pitchFamily="18" charset="0"/>
                <a:ea typeface="宋体" panose="02010600030101010101" pitchFamily="2" charset="-122"/>
              </a:rPr>
              <a:t>) × </a:t>
            </a:r>
            <a:r>
              <a:rPr lang="en-US" altLang="zh-CN" sz="1800" i="1" dirty="0">
                <a:latin typeface="Times" panose="02020603050405020304" pitchFamily="18" charset="0"/>
                <a:ea typeface="宋体" panose="02010600030101010101" pitchFamily="2" charset="-122"/>
              </a:rPr>
              <a:t>S</a:t>
            </a:r>
            <a:r>
              <a:rPr lang="en-US" altLang="zh-CN" sz="1800" dirty="0">
                <a:latin typeface="Times" panose="02020603050405020304" pitchFamily="18" charset="0"/>
                <a:ea typeface="宋体" panose="02010600030101010101" pitchFamily="2" charset="-122"/>
              </a:rPr>
              <a:t> = 8 MHz</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意味着载波频率必须相隔 </a:t>
            </a:r>
            <a:r>
              <a:rPr lang="en-US" altLang="zh-CN" sz="1800" dirty="0">
                <a:latin typeface="Times" panose="02020603050405020304" pitchFamily="18" charset="0"/>
                <a:ea typeface="宋体" panose="02010600030101010101" pitchFamily="2" charset="-122"/>
              </a:rPr>
              <a:t>1MHz (2Δ</a:t>
            </a:r>
            <a:r>
              <a:rPr lang="en-US" altLang="zh-CN" sz="1800" i="1" dirty="0">
                <a:latin typeface="Times" panose="02020603050405020304" pitchFamily="18" charset="0"/>
                <a:ea typeface="宋体" panose="02010600030101010101" pitchFamily="2" charset="-122"/>
              </a:rPr>
              <a:t>f</a:t>
            </a:r>
            <a:r>
              <a:rPr lang="en-US" altLang="zh-CN" sz="1800" dirty="0">
                <a:latin typeface="Times" panose="02020603050405020304" pitchFamily="18" charset="0"/>
                <a:ea typeface="宋体" panose="02010600030101010101" pitchFamily="2" charset="-122"/>
              </a:rPr>
              <a:t> = 1 MHz)</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多电平</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FSK</a:t>
            </a:r>
            <a:r>
              <a:rPr lang="zh-CN" altLang="en-US" sz="1800" b="0" dirty="0">
                <a:latin typeface="微软雅黑" panose="020B0503020204020204" pitchFamily="34" charset="-122"/>
                <a:ea typeface="微软雅黑" panose="020B0503020204020204" pitchFamily="34" charset="-122"/>
              </a:rPr>
              <a:t>的带宽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d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0) </a:t>
            </a:r>
            <a:r>
              <a:rPr lang="zh-CN" altLang="en-US" sz="1800" b="0" dirty="0">
                <a:latin typeface="微软雅黑" panose="020B0503020204020204" pitchFamily="34" charset="-122"/>
                <a:ea typeface="微软雅黑" panose="020B0503020204020204" pitchFamily="34" charset="-122"/>
              </a:rPr>
              <a:t>是</a:t>
            </a:r>
            <a:endParaRPr lang="en-US" altLang="zh-CN" sz="1800" b="0" dirty="0">
              <a:latin typeface="微软雅黑" panose="020B0503020204020204" pitchFamily="34" charset="-122"/>
              <a:ea typeface="微软雅黑" panose="020B0503020204020204" pitchFamily="34" charset="-122"/>
            </a:endParaRPr>
          </a:p>
          <a:p>
            <a:pPr algn="just">
              <a:lnSpc>
                <a:spcPct val="150000"/>
              </a:lnSpc>
            </a:pP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                        B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+d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 +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L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-1 )2</a:t>
            </a: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Euclid Math Two"/>
              </a:rPr>
              <a:t>Δ</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sym typeface="Euclid Math Two"/>
              </a:rPr>
              <a:t>f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Euclid Math Two"/>
              </a:rPr>
              <a:t>=&gt;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sym typeface="Euclid Math Two"/>
              </a:rPr>
              <a:t>  B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Euclid Math Two"/>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sym typeface="Euclid Math Two"/>
              </a:rPr>
              <a:t> L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Euclid Math Two"/>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sym typeface="Euclid Math Two"/>
              </a:rPr>
              <a:t> S</a:t>
            </a:r>
            <a:endParaRPr lang="zh-CN" altLang="en-US" sz="1800"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Text Box 4"/>
          <p:cNvSpPr txBox="1">
            <a:spLocks noChangeArrowheads="1"/>
          </p:cNvSpPr>
          <p:nvPr/>
        </p:nvSpPr>
        <p:spPr bwMode="auto">
          <a:xfrm>
            <a:off x="3429030" y="5943534"/>
            <a:ext cx="19254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5.8  </a:t>
            </a:r>
            <a:r>
              <a:rPr lang="en-US" altLang="zh-CN" sz="1400" dirty="0">
                <a:latin typeface="Times New Roman" panose="02020603050405020304" pitchFamily="18" charset="0"/>
                <a:ea typeface="宋体" panose="02010600030101010101" pitchFamily="2" charset="-122"/>
              </a:rPr>
              <a:t>MFSK</a:t>
            </a:r>
            <a:r>
              <a:rPr lang="zh-CN" altLang="en-US" sz="1400" dirty="0">
                <a:latin typeface="Times New Roman" panose="02020603050405020304" pitchFamily="18" charset="0"/>
                <a:ea typeface="宋体" panose="02010600030101010101" pitchFamily="2" charset="-122"/>
              </a:rPr>
              <a:t>带宽</a:t>
            </a:r>
            <a:endParaRPr lang="en-US" altLang="zh-CN" sz="1400" dirty="0">
              <a:latin typeface="Times New Roman" panose="02020603050405020304" pitchFamily="18" charset="0"/>
              <a:ea typeface="宋体" panose="02010600030101010101" pitchFamily="2" charset="-122"/>
            </a:endParaRPr>
          </a:p>
        </p:txBody>
      </p:sp>
      <p:pic>
        <p:nvPicPr>
          <p:cNvPr id="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88" y="4038584"/>
            <a:ext cx="6578331" cy="156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C4966961-EE6E-4CCE-9FCD-C1B3385CB3A9}" type="slidenum">
              <a:rPr lang="en-US" altLang="zh-CN" sz="2000" smtClean="0">
                <a:solidFill>
                  <a:schemeClr val="bg2"/>
                </a:solidFill>
              </a:rPr>
            </a:fld>
            <a:endParaRPr lang="en-US" altLang="zh-CN" sz="2000">
              <a:solidFill>
                <a:schemeClr val="bg2"/>
              </a:solidFill>
            </a:endParaRPr>
          </a:p>
        </p:txBody>
      </p:sp>
      <p:sp>
        <p:nvSpPr>
          <p:cNvPr id="40963" name="Text Box 4"/>
          <p:cNvSpPr txBox="1">
            <a:spLocks noChangeArrowheads="1"/>
          </p:cNvSpPr>
          <p:nvPr/>
        </p:nvSpPr>
        <p:spPr bwMode="auto">
          <a:xfrm>
            <a:off x="3419312" y="3686216"/>
            <a:ext cx="23053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5.9  </a:t>
            </a:r>
            <a:r>
              <a:rPr lang="zh-CN" altLang="en-US" sz="1400" dirty="0">
                <a:latin typeface="Times New Roman" panose="02020603050405020304" pitchFamily="18" charset="0"/>
                <a:ea typeface="宋体" panose="02010600030101010101" pitchFamily="2" charset="-122"/>
              </a:rPr>
              <a:t>二进制相移键控</a:t>
            </a:r>
            <a:endParaRPr lang="en-US" altLang="zh-CN" sz="1400" dirty="0">
              <a:latin typeface="Times New Roman" panose="02020603050405020304" pitchFamily="18" charset="0"/>
              <a:ea typeface="宋体" panose="02010600030101010101" pitchFamily="2" charset="-122"/>
            </a:endParaRPr>
          </a:p>
        </p:txBody>
      </p:sp>
      <p:pic>
        <p:nvPicPr>
          <p:cNvPr id="4096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5711" y="1713921"/>
            <a:ext cx="7106813" cy="1910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90439" y="816295"/>
            <a:ext cx="7467489" cy="787523"/>
          </a:xfrm>
          <a:prstGeom prst="rect">
            <a:avLst/>
          </a:prstGeom>
        </p:spPr>
        <p:txBody>
          <a:bodyPr wrap="square">
            <a:spAutoFit/>
          </a:bodyPr>
          <a:lstStyle/>
          <a:p>
            <a:pPr>
              <a:lnSpc>
                <a:spcPct val="150000"/>
              </a:lnSpc>
              <a:buClr>
                <a:srgbClr val="FF0000"/>
              </a:buClr>
              <a:defRPr/>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BPSK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只用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个信号元素，一个相位是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a:t>
            </a:r>
            <a:r>
              <a:rPr lang="en-US" altLang="zh-CN" sz="1600" b="0" baseline="30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，另外一个相位是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180</a:t>
            </a:r>
            <a:r>
              <a:rPr lang="en-US" altLang="zh-CN" sz="1600" b="0" baseline="30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baseline="300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BPSK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BASK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一样简单，但与</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BASK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相比，抗噪声干扰能力更强。</a:t>
            </a:r>
            <a:endParaRPr lang="zh-CN" altLang="en-US"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2895764" y="95952"/>
            <a:ext cx="6248236"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相移键控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二进制</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PSK (BPSK)</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 Box 4"/>
          <p:cNvSpPr txBox="1">
            <a:spLocks noChangeArrowheads="1"/>
          </p:cNvSpPr>
          <p:nvPr/>
        </p:nvSpPr>
        <p:spPr bwMode="auto">
          <a:xfrm>
            <a:off x="3546348" y="6246833"/>
            <a:ext cx="19655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5.10  </a:t>
            </a:r>
            <a:r>
              <a:rPr lang="en-US" altLang="zh-CN" sz="1400" dirty="0">
                <a:latin typeface="Times New Roman" panose="02020603050405020304" pitchFamily="18" charset="0"/>
                <a:ea typeface="宋体" panose="02010600030101010101" pitchFamily="2" charset="-122"/>
              </a:rPr>
              <a:t>BPSK</a:t>
            </a:r>
            <a:r>
              <a:rPr lang="zh-CN" altLang="en-US" sz="1400" dirty="0">
                <a:latin typeface="Times New Roman" panose="02020603050405020304" pitchFamily="18" charset="0"/>
                <a:ea typeface="宋体" panose="02010600030101010101" pitchFamily="2" charset="-122"/>
              </a:rPr>
              <a:t>实现</a:t>
            </a:r>
            <a:endParaRPr lang="en-US" altLang="zh-CN" sz="1400" dirty="0">
              <a:latin typeface="Times New Roman" panose="02020603050405020304" pitchFamily="18" charset="0"/>
              <a:ea typeface="宋体" panose="02010600030101010101" pitchFamily="2" charset="-122"/>
            </a:endParaRP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84" y="4103565"/>
            <a:ext cx="6554721" cy="208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F83224D2-CDEB-4FE2-9C70-AF8E16DFBD63}" type="slidenum">
              <a:rPr lang="en-US" altLang="zh-CN" sz="2000" smtClean="0">
                <a:solidFill>
                  <a:schemeClr val="bg2"/>
                </a:solidFill>
              </a:rPr>
            </a:fld>
            <a:endParaRPr lang="en-US" altLang="zh-CN" sz="2000">
              <a:solidFill>
                <a:schemeClr val="bg2"/>
              </a:solidFill>
            </a:endParaRPr>
          </a:p>
        </p:txBody>
      </p:sp>
      <p:sp>
        <p:nvSpPr>
          <p:cNvPr id="45059" name="Text Box 4"/>
          <p:cNvSpPr txBox="1">
            <a:spLocks noChangeArrowheads="1"/>
          </p:cNvSpPr>
          <p:nvPr/>
        </p:nvSpPr>
        <p:spPr bwMode="auto">
          <a:xfrm>
            <a:off x="5105386" y="5677814"/>
            <a:ext cx="23788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5.11  </a:t>
            </a:r>
            <a:r>
              <a:rPr lang="en-US" altLang="zh-CN" sz="1400" dirty="0">
                <a:latin typeface="Times New Roman" panose="02020603050405020304" pitchFamily="18" charset="0"/>
                <a:ea typeface="宋体" panose="02010600030101010101" pitchFamily="2" charset="-122"/>
              </a:rPr>
              <a:t>QPSK </a:t>
            </a:r>
            <a:r>
              <a:rPr lang="zh-CN" altLang="en-US" sz="1400" dirty="0">
                <a:latin typeface="Times New Roman" panose="02020603050405020304" pitchFamily="18" charset="0"/>
                <a:ea typeface="宋体" panose="02010600030101010101" pitchFamily="2" charset="-122"/>
              </a:rPr>
              <a:t>及其实现</a:t>
            </a:r>
            <a:endParaRPr lang="en-US" altLang="zh-CN" sz="1400" dirty="0">
              <a:latin typeface="Times New Roman" panose="02020603050405020304" pitchFamily="18" charset="0"/>
              <a:ea typeface="宋体" panose="02010600030101010101" pitchFamily="2" charset="-122"/>
            </a:endParaRPr>
          </a:p>
        </p:txBody>
      </p:sp>
      <p:pic>
        <p:nvPicPr>
          <p:cNvPr id="45061" name="Picture 7"/>
          <p:cNvPicPr>
            <a:picLocks noChangeAspect="1" noChangeArrowheads="1"/>
          </p:cNvPicPr>
          <p:nvPr/>
        </p:nvPicPr>
        <p:blipFill>
          <a:blip r:embed="rId1">
            <a:extLst>
              <a:ext uri="{28A0092B-C50C-407E-A947-70E740481C1C}">
                <a14:useLocalDpi xmlns:a14="http://schemas.microsoft.com/office/drawing/2010/main" val="0"/>
              </a:ext>
            </a:extLst>
          </a:blip>
          <a:srcRect r="60936"/>
          <a:stretch>
            <a:fillRect/>
          </a:stretch>
        </p:blipFill>
        <p:spPr bwMode="auto">
          <a:xfrm>
            <a:off x="974725" y="1143000"/>
            <a:ext cx="2835275"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6" name="Picture 7"/>
          <p:cNvPicPr>
            <a:picLocks noChangeAspect="1" noChangeArrowheads="1"/>
          </p:cNvPicPr>
          <p:nvPr/>
        </p:nvPicPr>
        <p:blipFill>
          <a:blip r:embed="rId1">
            <a:extLst>
              <a:ext uri="{28A0092B-C50C-407E-A947-70E740481C1C}">
                <a14:useLocalDpi xmlns:a14="http://schemas.microsoft.com/office/drawing/2010/main" val="0"/>
              </a:ext>
            </a:extLst>
          </a:blip>
          <a:srcRect l="39064" t="15509" b="17802"/>
          <a:stretch>
            <a:fillRect/>
          </a:stretch>
        </p:blipFill>
        <p:spPr bwMode="auto">
          <a:xfrm>
            <a:off x="4183694" y="2362228"/>
            <a:ext cx="3985581" cy="2952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895644" y="106102"/>
            <a:ext cx="5410058"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相移键控 </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正交</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PSK (QPSK)</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4183694" y="1124941"/>
            <a:ext cx="3985581" cy="874407"/>
          </a:xfrm>
          <a:prstGeom prst="rect">
            <a:avLst/>
          </a:prstGeom>
        </p:spPr>
        <p:txBody>
          <a:bodyPr wrap="square">
            <a:spAutoFit/>
          </a:bodyPr>
          <a:lstStyle/>
          <a:p>
            <a:pPr marL="0" indent="0" algn="just">
              <a:lnSpc>
                <a:spcPct val="150000"/>
              </a:lnSpc>
              <a:buClr>
                <a:srgbClr val="FF0000"/>
              </a:buClr>
              <a:defRPr/>
            </a:pPr>
            <a:r>
              <a:rPr lang="en-US" altLang="zh-CN" sz="1800" b="0" dirty="0">
                <a:latin typeface="微软雅黑" panose="020B0503020204020204" pitchFamily="34" charset="-122"/>
                <a:ea typeface="微软雅黑" panose="020B0503020204020204" pitchFamily="34" charset="-122"/>
              </a:rPr>
              <a:t>QPSK</a:t>
            </a:r>
            <a:r>
              <a:rPr lang="zh-CN" altLang="en-US" sz="1800" b="0" dirty="0">
                <a:latin typeface="微软雅黑" panose="020B0503020204020204" pitchFamily="34" charset="-122"/>
                <a:ea typeface="微软雅黑" panose="020B0503020204020204" pitchFamily="34" charset="-122"/>
              </a:rPr>
              <a:t>使用</a:t>
            </a:r>
            <a:r>
              <a:rPr lang="en-US" altLang="zh-CN" sz="1800" b="0" dirty="0">
                <a:latin typeface="微软雅黑" panose="020B0503020204020204" pitchFamily="34" charset="-122"/>
                <a:ea typeface="微软雅黑" panose="020B0503020204020204" pitchFamily="34" charset="-122"/>
              </a:rPr>
              <a:t>2</a:t>
            </a:r>
            <a:r>
              <a:rPr lang="zh-CN" altLang="en-US" sz="1800" b="0" dirty="0">
                <a:latin typeface="微软雅黑" panose="020B0503020204020204" pitchFamily="34" charset="-122"/>
                <a:ea typeface="微软雅黑" panose="020B0503020204020204" pitchFamily="34" charset="-122"/>
              </a:rPr>
              <a:t>个独立的</a:t>
            </a:r>
            <a:r>
              <a:rPr lang="en-US" altLang="zh-CN" sz="1800" b="0" dirty="0">
                <a:latin typeface="微软雅黑" panose="020B0503020204020204" pitchFamily="34" charset="-122"/>
                <a:ea typeface="微软雅黑" panose="020B0503020204020204" pitchFamily="34" charset="-122"/>
              </a:rPr>
              <a:t>BPSK</a:t>
            </a:r>
            <a:r>
              <a:rPr lang="zh-CN" altLang="en-US" sz="1800" b="0" dirty="0">
                <a:latin typeface="微软雅黑" panose="020B0503020204020204" pitchFamily="34" charset="-122"/>
                <a:ea typeface="微软雅黑" panose="020B0503020204020204" pitchFamily="34" charset="-122"/>
              </a:rPr>
              <a:t>，一个是同相的，另一个是正交的（异相）。</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C49AD57C-8D7C-49C5-84BC-20FD7E452286}" type="slidenum">
              <a:rPr lang="en-US" altLang="zh-CN" sz="2000" smtClean="0">
                <a:solidFill>
                  <a:schemeClr val="bg2"/>
                </a:solidFill>
              </a:rPr>
            </a:fld>
            <a:endParaRPr lang="en-US" altLang="zh-CN" sz="2000">
              <a:solidFill>
                <a:schemeClr val="bg2"/>
              </a:solidFill>
            </a:endParaRPr>
          </a:p>
        </p:txBody>
      </p:sp>
      <p:sp>
        <p:nvSpPr>
          <p:cNvPr id="49155" name="Text Box 4"/>
          <p:cNvSpPr txBox="1">
            <a:spLocks noChangeArrowheads="1"/>
          </p:cNvSpPr>
          <p:nvPr/>
        </p:nvSpPr>
        <p:spPr bwMode="auto">
          <a:xfrm>
            <a:off x="5410178" y="5790745"/>
            <a:ext cx="16769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5.12  </a:t>
            </a:r>
            <a:r>
              <a:rPr lang="zh-CN" altLang="en-US" sz="1400" dirty="0">
                <a:latin typeface="Times New Roman" panose="02020603050405020304" pitchFamily="18" charset="0"/>
                <a:ea typeface="宋体" panose="02010600030101010101" pitchFamily="2" charset="-122"/>
              </a:rPr>
              <a:t>星座图</a:t>
            </a:r>
            <a:endParaRPr lang="en-US" altLang="zh-CN" sz="1400" i="1" dirty="0">
              <a:latin typeface="Times New Roman" panose="02020603050405020304" pitchFamily="18" charset="0"/>
              <a:ea typeface="宋体" panose="02010600030101010101" pitchFamily="2" charset="-122"/>
            </a:endParaRPr>
          </a:p>
        </p:txBody>
      </p:sp>
      <p:pic>
        <p:nvPicPr>
          <p:cNvPr id="4915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8223" y="3124208"/>
            <a:ext cx="3742518" cy="243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048040" y="76288"/>
            <a:ext cx="1261884" cy="523220"/>
          </a:xfrm>
          <a:prstGeom prst="rect">
            <a:avLst/>
          </a:prstGeom>
        </p:spPr>
        <p:txBody>
          <a:bodyPr wrap="non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星座图</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990694" y="913366"/>
            <a:ext cx="7315008" cy="1869358"/>
          </a:xfrm>
          <a:prstGeom prst="rect">
            <a:avLst/>
          </a:prstGeom>
        </p:spPr>
        <p:txBody>
          <a:bodyPr wrap="square">
            <a:spAutoFit/>
          </a:bodyPr>
          <a:lstStyle/>
          <a:p>
            <a:pPr algn="just">
              <a:lnSpc>
                <a:spcPct val="200000"/>
              </a:lnSpc>
            </a:pP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数字通信领域中，经常将数字信号在复平面上表示，以直观地表示信号以及信号之间的关系，这种信号矢量端点的分布图即称为星座图。数字信号之所以能够用复平面上的点表示，是因为数字信号本身有着复数的表达形式。星座图对于判断调制方式的误码率等有很直观的效用。</a:t>
            </a:r>
            <a:endParaRPr lang="en-US" altLang="zh-CN" sz="15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990695" y="2917814"/>
            <a:ext cx="2971722" cy="2792688"/>
          </a:xfrm>
          <a:prstGeom prst="rect">
            <a:avLst/>
          </a:prstGeom>
        </p:spPr>
        <p:txBody>
          <a:bodyPr wrap="square">
            <a:spAutoFit/>
          </a:bodyPr>
          <a:lstStyle/>
          <a:p>
            <a:pPr algn="just">
              <a:lnSpc>
                <a:spcPct val="200000"/>
              </a:lnSpc>
            </a:pP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星座图的水平</a:t>
            </a:r>
            <a:r>
              <a:rPr lang="en-US" altLang="zh-CN" sz="1500" b="0"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轴与同相载波相关，垂直</a:t>
            </a:r>
            <a:r>
              <a:rPr lang="en-US" altLang="zh-CN" sz="1500" b="0" dirty="0">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轴与正交载波相关。点在</a:t>
            </a:r>
            <a:r>
              <a:rPr lang="en-US" altLang="zh-CN" sz="1500" b="0"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轴的投影定义了同相成分的峰值振幅，在</a:t>
            </a:r>
            <a:r>
              <a:rPr lang="en-US" altLang="zh-CN" sz="1500" b="0" dirty="0">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轴的投影定义了正交成分的峰值振幅。连线与</a:t>
            </a:r>
            <a:r>
              <a:rPr lang="en-US" altLang="zh-CN" sz="1500" b="0"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1500" b="0" dirty="0">
                <a:latin typeface="微软雅黑" panose="020B0503020204020204" pitchFamily="34" charset="-122"/>
                <a:ea typeface="微软雅黑" panose="020B0503020204020204" pitchFamily="34" charset="-122"/>
                <a:cs typeface="Times New Roman" panose="02020603050405020304" pitchFamily="18" charset="0"/>
              </a:rPr>
              <a:t>轴之间的角度是信号元素的相位。</a:t>
            </a:r>
            <a:endParaRPr lang="zh-CN" altLang="en-US" sz="15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456D8AB2-C14B-4134-8EAA-E0665EC29BEB}" type="slidenum">
              <a:rPr lang="en-US" altLang="zh-CN" sz="2000" smtClean="0">
                <a:solidFill>
                  <a:schemeClr val="bg2"/>
                </a:solidFill>
              </a:rPr>
            </a:fld>
            <a:endParaRPr lang="en-US" altLang="zh-CN" sz="2000">
              <a:solidFill>
                <a:schemeClr val="bg2"/>
              </a:solidFill>
            </a:endParaRPr>
          </a:p>
        </p:txBody>
      </p:sp>
      <p:sp>
        <p:nvSpPr>
          <p:cNvPr id="51211" name="Rectangle 13"/>
          <p:cNvSpPr>
            <a:spLocks noChangeArrowheads="1"/>
          </p:cNvSpPr>
          <p:nvPr/>
        </p:nvSpPr>
        <p:spPr bwMode="auto">
          <a:xfrm>
            <a:off x="923064" y="1371654"/>
            <a:ext cx="6172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5.8  </a:t>
            </a:r>
            <a:r>
              <a:rPr lang="zh-CN" altLang="en-US" sz="1800" b="0" dirty="0">
                <a:latin typeface="微软雅黑" panose="020B0503020204020204" pitchFamily="34" charset="-122"/>
                <a:ea typeface="微软雅黑" panose="020B0503020204020204" pitchFamily="34" charset="-122"/>
              </a:rPr>
              <a:t>做出</a:t>
            </a:r>
            <a:r>
              <a:rPr lang="en-US" altLang="zh-CN" sz="1800" b="0" dirty="0">
                <a:latin typeface="微软雅黑" panose="020B0503020204020204" pitchFamily="34" charset="-122"/>
                <a:ea typeface="微软雅黑" panose="020B0503020204020204" pitchFamily="34" charset="-122"/>
              </a:rPr>
              <a:t>ASK (OOK)</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BPSK</a:t>
            </a:r>
            <a:r>
              <a:rPr lang="zh-CN" altLang="en-US" sz="1800" b="0" dirty="0">
                <a:latin typeface="微软雅黑" panose="020B0503020204020204" pitchFamily="34" charset="-122"/>
                <a:ea typeface="微软雅黑" panose="020B0503020204020204" pitchFamily="34" charset="-122"/>
              </a:rPr>
              <a:t>和</a:t>
            </a:r>
            <a:r>
              <a:rPr lang="en-US" altLang="zh-CN" sz="1800" b="0" dirty="0">
                <a:latin typeface="微软雅黑" panose="020B0503020204020204" pitchFamily="34" charset="-122"/>
                <a:ea typeface="微软雅黑" panose="020B0503020204020204" pitchFamily="34" charset="-122"/>
              </a:rPr>
              <a:t> QPSK </a:t>
            </a:r>
            <a:r>
              <a:rPr lang="zh-CN" altLang="en-US" sz="1800" b="0" dirty="0">
                <a:latin typeface="微软雅黑" panose="020B0503020204020204" pitchFamily="34" charset="-122"/>
                <a:ea typeface="微软雅黑" panose="020B0503020204020204" pitchFamily="34" charset="-122"/>
              </a:rPr>
              <a:t>的星座图。</a:t>
            </a:r>
            <a:endParaRPr lang="en-US" altLang="zh-CN" sz="1800" b="0" dirty="0">
              <a:latin typeface="微软雅黑" panose="020B0503020204020204" pitchFamily="34" charset="-122"/>
              <a:ea typeface="微软雅黑" panose="020B0503020204020204" pitchFamily="34" charset="-122"/>
            </a:endParaRPr>
          </a:p>
        </p:txBody>
      </p:sp>
      <p:sp>
        <p:nvSpPr>
          <p:cNvPr id="51213" name="Text Box 4"/>
          <p:cNvSpPr txBox="1">
            <a:spLocks noChangeArrowheads="1"/>
          </p:cNvSpPr>
          <p:nvPr/>
        </p:nvSpPr>
        <p:spPr bwMode="auto">
          <a:xfrm>
            <a:off x="3417132" y="4956604"/>
            <a:ext cx="23097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5.13  </a:t>
            </a:r>
            <a:r>
              <a:rPr lang="zh-CN" altLang="en-US" sz="1600" dirty="0">
                <a:latin typeface="Times New Roman" panose="02020603050405020304" pitchFamily="18" charset="0"/>
                <a:ea typeface="宋体" panose="02010600030101010101" pitchFamily="2" charset="-122"/>
              </a:rPr>
              <a:t>三种星座图</a:t>
            </a:r>
            <a:endParaRPr lang="en-US" altLang="zh-CN" sz="1600" dirty="0">
              <a:latin typeface="Times New Roman" panose="02020603050405020304" pitchFamily="18" charset="0"/>
              <a:ea typeface="宋体" panose="02010600030101010101" pitchFamily="2" charset="-122"/>
            </a:endParaRPr>
          </a:p>
        </p:txBody>
      </p:sp>
      <p:pic>
        <p:nvPicPr>
          <p:cNvPr id="5121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37" y="2667020"/>
            <a:ext cx="6857926" cy="170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4B802AC8-5F60-48DC-A3DF-D7EAB945AF9A}" type="slidenum">
              <a:rPr lang="en-US" altLang="zh-CN" sz="2000" smtClean="0">
                <a:solidFill>
                  <a:schemeClr val="bg2"/>
                </a:solidFill>
              </a:rPr>
            </a:fld>
            <a:endParaRPr lang="en-US" altLang="zh-CN" sz="2000">
              <a:solidFill>
                <a:schemeClr val="bg2"/>
              </a:solidFill>
            </a:endParaRPr>
          </a:p>
        </p:txBody>
      </p:sp>
      <p:sp>
        <p:nvSpPr>
          <p:cNvPr id="53251" name="Rectangle 11"/>
          <p:cNvSpPr>
            <a:spLocks noChangeArrowheads="1"/>
          </p:cNvSpPr>
          <p:nvPr/>
        </p:nvSpPr>
        <p:spPr bwMode="auto">
          <a:xfrm>
            <a:off x="799135" y="938269"/>
            <a:ext cx="7658793" cy="261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200000"/>
              </a:lnSpc>
              <a:buSzPct val="80000"/>
            </a:pPr>
            <a:r>
              <a:rPr lang="zh-CN" altLang="en-US" sz="1400" b="0" dirty="0">
                <a:latin typeface="微软雅黑" panose="020B0503020204020204" pitchFamily="34" charset="-122"/>
                <a:ea typeface="微软雅黑" panose="020B0503020204020204" pitchFamily="34" charset="-122"/>
              </a:rPr>
              <a:t>由于 </a:t>
            </a:r>
            <a:r>
              <a:rPr lang="en-US" altLang="zh-CN" sz="1400" b="0" dirty="0">
                <a:latin typeface="微软雅黑" panose="020B0503020204020204" pitchFamily="34" charset="-122"/>
                <a:ea typeface="微软雅黑" panose="020B0503020204020204" pitchFamily="34" charset="-122"/>
              </a:rPr>
              <a:t>PSK </a:t>
            </a:r>
            <a:r>
              <a:rPr lang="zh-CN" altLang="en-US" sz="1400" b="0" dirty="0">
                <a:latin typeface="微软雅黑" panose="020B0503020204020204" pitchFamily="34" charset="-122"/>
                <a:ea typeface="微软雅黑" panose="020B0503020204020204" pitchFamily="34" charset="-122"/>
              </a:rPr>
              <a:t>受设备辨别相位细小差别能力的限制，会影响比特率，而 </a:t>
            </a:r>
            <a:r>
              <a:rPr lang="en-US" altLang="zh-CN" sz="1400" b="0" dirty="0">
                <a:latin typeface="微软雅黑" panose="020B0503020204020204" pitchFamily="34" charset="-122"/>
                <a:ea typeface="微软雅黑" panose="020B0503020204020204" pitchFamily="34" charset="-122"/>
              </a:rPr>
              <a:t>FSK </a:t>
            </a:r>
            <a:r>
              <a:rPr lang="zh-CN" altLang="en-US" sz="1400" b="0" dirty="0">
                <a:latin typeface="微软雅黑" panose="020B0503020204020204" pitchFamily="34" charset="-122"/>
                <a:ea typeface="微软雅黑" panose="020B0503020204020204" pitchFamily="34" charset="-122"/>
              </a:rPr>
              <a:t>受带宽限制无法与其它调制方法结合，由此考虑将 </a:t>
            </a:r>
            <a:r>
              <a:rPr lang="en-US" altLang="zh-CN" sz="1400" b="0" dirty="0">
                <a:latin typeface="微软雅黑" panose="020B0503020204020204" pitchFamily="34" charset="-122"/>
                <a:ea typeface="微软雅黑" panose="020B0503020204020204" pitchFamily="34" charset="-122"/>
              </a:rPr>
              <a:t>ASK </a:t>
            </a:r>
            <a:r>
              <a:rPr lang="zh-CN" altLang="en-US" sz="1400" b="0" dirty="0">
                <a:latin typeface="微软雅黑" panose="020B0503020204020204" pitchFamily="34" charset="-122"/>
                <a:ea typeface="微软雅黑" panose="020B0503020204020204" pitchFamily="34" charset="-122"/>
              </a:rPr>
              <a:t>和 </a:t>
            </a:r>
            <a:r>
              <a:rPr lang="en-US" altLang="zh-CN" sz="1400" b="0" dirty="0">
                <a:latin typeface="微软雅黑" panose="020B0503020204020204" pitchFamily="34" charset="-122"/>
                <a:ea typeface="微软雅黑" panose="020B0503020204020204" pitchFamily="34" charset="-122"/>
              </a:rPr>
              <a:t>PSK </a:t>
            </a:r>
            <a:r>
              <a:rPr lang="zh-CN" altLang="en-US" sz="1400" b="0" dirty="0">
                <a:latin typeface="微软雅黑" panose="020B0503020204020204" pitchFamily="34" charset="-122"/>
                <a:ea typeface="微软雅黑" panose="020B0503020204020204" pitchFamily="34" charset="-122"/>
              </a:rPr>
              <a:t>结合构成正交振幅调制。</a:t>
            </a:r>
            <a:r>
              <a:rPr lang="en-US" altLang="zh-CN" sz="1400" b="0" dirty="0">
                <a:latin typeface="微软雅黑" panose="020B0503020204020204" pitchFamily="34" charset="-122"/>
                <a:ea typeface="微软雅黑" panose="020B0503020204020204" pitchFamily="34" charset="-122"/>
              </a:rPr>
              <a:t>QAM </a:t>
            </a:r>
            <a:r>
              <a:rPr lang="zh-CN" altLang="en-US" sz="1400" b="0" dirty="0">
                <a:latin typeface="微软雅黑" panose="020B0503020204020204" pitchFamily="34" charset="-122"/>
                <a:ea typeface="微软雅黑" panose="020B0503020204020204" pitchFamily="34" charset="-122"/>
              </a:rPr>
              <a:t>是正交载波调制技术与多电平振幅键控的结合，它双倍扩展了有效带宽。正交调幅信号有两个相同频率但相位相差 </a:t>
            </a:r>
            <a:r>
              <a:rPr lang="en-US" altLang="zh-CN" sz="1400" b="0" dirty="0">
                <a:latin typeface="微软雅黑" panose="020B0503020204020204" pitchFamily="34" charset="-122"/>
                <a:ea typeface="微软雅黑" panose="020B0503020204020204" pitchFamily="34" charset="-122"/>
              </a:rPr>
              <a:t>90° </a:t>
            </a:r>
            <a:r>
              <a:rPr lang="zh-CN" altLang="en-US" sz="1400" b="0" dirty="0">
                <a:latin typeface="微软雅黑" panose="020B0503020204020204" pitchFamily="34" charset="-122"/>
                <a:ea typeface="微软雅黑" panose="020B0503020204020204" pitchFamily="34" charset="-122"/>
              </a:rPr>
              <a:t>的载波，从数学角度将一个信号表示成正弦，另一个表示成余弦。两种被调制的载波在发射时已被混和，到达目的地后，载波被分离，数据被分别提取然后和原始调制信息相混和。调制方式通常有二进制 </a:t>
            </a:r>
            <a:r>
              <a:rPr lang="en-US" altLang="zh-CN" sz="1400" b="0" dirty="0">
                <a:latin typeface="微软雅黑" panose="020B0503020204020204" pitchFamily="34" charset="-122"/>
                <a:ea typeface="微软雅黑" panose="020B0503020204020204" pitchFamily="34" charset="-122"/>
              </a:rPr>
              <a:t>QAM (4QAM)</a:t>
            </a:r>
            <a:r>
              <a:rPr lang="zh-CN" altLang="en-US" sz="1400" b="0" dirty="0">
                <a:latin typeface="微软雅黑" panose="020B0503020204020204" pitchFamily="34" charset="-122"/>
                <a:ea typeface="微软雅黑" panose="020B0503020204020204" pitchFamily="34" charset="-122"/>
              </a:rPr>
              <a:t>、四进制 </a:t>
            </a:r>
            <a:r>
              <a:rPr lang="en-US" altLang="zh-CN" sz="1400" b="0" dirty="0">
                <a:latin typeface="微软雅黑" panose="020B0503020204020204" pitchFamily="34" charset="-122"/>
                <a:ea typeface="微软雅黑" panose="020B0503020204020204" pitchFamily="34" charset="-122"/>
              </a:rPr>
              <a:t>QAM (16QAM)</a:t>
            </a:r>
            <a:r>
              <a:rPr lang="zh-CN" altLang="en-US" sz="1400" b="0" dirty="0">
                <a:latin typeface="微软雅黑" panose="020B0503020204020204" pitchFamily="34" charset="-122"/>
                <a:ea typeface="微软雅黑" panose="020B0503020204020204" pitchFamily="34" charset="-122"/>
              </a:rPr>
              <a:t>、八进制 </a:t>
            </a:r>
            <a:r>
              <a:rPr lang="en-US" altLang="zh-CN" sz="1400" b="0" dirty="0">
                <a:latin typeface="微软雅黑" panose="020B0503020204020204" pitchFamily="34" charset="-122"/>
                <a:ea typeface="微软雅黑" panose="020B0503020204020204" pitchFamily="34" charset="-122"/>
              </a:rPr>
              <a:t>QAM (64QAM) </a:t>
            </a:r>
            <a:r>
              <a:rPr lang="zh-CN" altLang="en-US" sz="1400" b="0" dirty="0">
                <a:latin typeface="微软雅黑" panose="020B0503020204020204" pitchFamily="34" charset="-122"/>
                <a:ea typeface="微软雅黑" panose="020B0503020204020204" pitchFamily="34" charset="-122"/>
              </a:rPr>
              <a:t>等。</a:t>
            </a:r>
            <a:endParaRPr lang="en-US" altLang="zh-CN" sz="1400" b="0" dirty="0">
              <a:latin typeface="微软雅黑" panose="020B0503020204020204" pitchFamily="34" charset="-122"/>
              <a:ea typeface="微软雅黑" panose="020B0503020204020204" pitchFamily="34" charset="-122"/>
            </a:endParaRPr>
          </a:p>
        </p:txBody>
      </p:sp>
      <p:sp>
        <p:nvSpPr>
          <p:cNvPr id="2" name="矩形 1"/>
          <p:cNvSpPr/>
          <p:nvPr/>
        </p:nvSpPr>
        <p:spPr>
          <a:xfrm>
            <a:off x="2938892" y="90592"/>
            <a:ext cx="3266215" cy="523220"/>
          </a:xfrm>
          <a:prstGeom prst="rect">
            <a:avLst/>
          </a:prstGeom>
        </p:spPr>
        <p:txBody>
          <a:bodyPr wrap="non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正交振幅调制</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QAM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Text Box 4"/>
          <p:cNvSpPr txBox="1">
            <a:spLocks noChangeArrowheads="1"/>
          </p:cNvSpPr>
          <p:nvPr/>
        </p:nvSpPr>
        <p:spPr bwMode="auto">
          <a:xfrm>
            <a:off x="3200436" y="5864814"/>
            <a:ext cx="22957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5.14  </a:t>
            </a:r>
            <a:r>
              <a:rPr lang="en-US" altLang="zh-CN" sz="1400" dirty="0">
                <a:latin typeface="Times New Roman" panose="02020603050405020304" pitchFamily="18" charset="0"/>
                <a:ea typeface="宋体" panose="02010600030101010101" pitchFamily="2" charset="-122"/>
              </a:rPr>
              <a:t>QAM</a:t>
            </a:r>
            <a:r>
              <a:rPr lang="zh-CN" altLang="en-US" sz="1400" dirty="0">
                <a:latin typeface="Times New Roman" panose="02020603050405020304" pitchFamily="18" charset="0"/>
                <a:ea typeface="宋体" panose="02010600030101010101" pitchFamily="2" charset="-122"/>
              </a:rPr>
              <a:t>的星座图</a:t>
            </a:r>
            <a:endParaRPr lang="en-US" altLang="zh-CN" sz="1400" dirty="0">
              <a:latin typeface="Times New Roman" panose="02020603050405020304" pitchFamily="18" charset="0"/>
              <a:ea typeface="宋体" panose="02010600030101010101" pitchFamily="2" charset="-122"/>
            </a:endParaRPr>
          </a:p>
        </p:txBody>
      </p:sp>
      <p:pic>
        <p:nvPicPr>
          <p:cNvPr id="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489" y="3951668"/>
            <a:ext cx="7458083" cy="1590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9144000" cy="1143000"/>
          </a:xfrm>
          <a:prstGeom prst="rect">
            <a:avLst/>
          </a:prstGeom>
          <a:solidFill>
            <a:srgbClr val="4FB4FF"/>
          </a:solidFill>
          <a:ln w="9525">
            <a:noFill/>
            <a:miter lim="800000"/>
          </a:ln>
          <a:effectLst/>
        </p:spPr>
        <p:txBody>
          <a:bodyPr wrap="none" anchor="ctr"/>
          <a:lstStyle/>
          <a:p>
            <a:pPr algn="ctr">
              <a:defRPr/>
            </a:pPr>
            <a:endParaRPr lang="zh-CN" altLang="zh-CN">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sp>
        <p:nvSpPr>
          <p:cNvPr id="57346"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4CC8A989-7956-411A-AD92-52E24F48B3B2}" type="slidenum">
              <a:rPr lang="en-US" altLang="zh-CN" sz="2000" smtClean="0">
                <a:solidFill>
                  <a:schemeClr val="bg2"/>
                </a:solidFill>
              </a:rPr>
            </a:fld>
            <a:endParaRPr lang="en-US" altLang="zh-CN" sz="2000">
              <a:solidFill>
                <a:schemeClr val="bg2"/>
              </a:solidFill>
            </a:endParaRPr>
          </a:p>
        </p:txBody>
      </p:sp>
      <p:sp>
        <p:nvSpPr>
          <p:cNvPr id="797699" name="Text Box 3"/>
          <p:cNvSpPr txBox="1">
            <a:spLocks noChangeArrowheads="1"/>
          </p:cNvSpPr>
          <p:nvPr/>
        </p:nvSpPr>
        <p:spPr bwMode="auto">
          <a:xfrm>
            <a:off x="228600" y="304882"/>
            <a:ext cx="3635932"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5.2   </a:t>
            </a:r>
            <a:r>
              <a:rPr lang="zh-CN" altLang="en-US" dirty="0">
                <a:latin typeface="微软雅黑" panose="020B0503020204020204" pitchFamily="34" charset="-122"/>
                <a:ea typeface="微软雅黑" panose="020B0503020204020204" pitchFamily="34" charset="-122"/>
              </a:rPr>
              <a:t>模拟信号调制</a:t>
            </a:r>
            <a:endParaRPr lang="en-US" altLang="zh-CN" dirty="0">
              <a:latin typeface="微软雅黑" panose="020B0503020204020204" pitchFamily="34" charset="-122"/>
              <a:ea typeface="微软雅黑" panose="020B0503020204020204" pitchFamily="34" charset="-122"/>
            </a:endParaRPr>
          </a:p>
        </p:txBody>
      </p:sp>
      <p:sp>
        <p:nvSpPr>
          <p:cNvPr id="57349"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57350" name="Rectangle 5"/>
          <p:cNvSpPr>
            <a:spLocks noChangeArrowheads="1"/>
          </p:cNvSpPr>
          <p:nvPr/>
        </p:nvSpPr>
        <p:spPr bwMode="auto">
          <a:xfrm>
            <a:off x="920506" y="1337498"/>
            <a:ext cx="7277105" cy="466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150000"/>
              </a:lnSpc>
            </a:pPr>
            <a:r>
              <a:rPr lang="zh-CN" altLang="en-US" sz="1800" b="0" dirty="0">
                <a:latin typeface="微软雅黑" panose="020B0503020204020204" pitchFamily="34" charset="-122"/>
                <a:ea typeface="微软雅黑" panose="020B0503020204020204" pitchFamily="34" charset="-122"/>
              </a:rPr>
              <a:t>模拟调制系统是一种将模拟信号转换为调制信号的系统。在模拟调制中，原始信号是时间连续和幅度连续的模拟信号，而调制信号是通过改变载波信号的某些特性来携带原始信号信息的信号。</a:t>
            </a:r>
            <a:endParaRPr lang="zh-CN" altLang="en-US" sz="1800" b="0" dirty="0">
              <a:latin typeface="微软雅黑" panose="020B0503020204020204" pitchFamily="34" charset="-122"/>
              <a:ea typeface="微软雅黑" panose="020B0503020204020204" pitchFamily="34" charset="-122"/>
            </a:endParaRPr>
          </a:p>
          <a:p>
            <a:pPr algn="just" eaLnBrk="1" hangingPunct="1">
              <a:lnSpc>
                <a:spcPct val="150000"/>
              </a:lnSpc>
            </a:pPr>
            <a:endParaRPr lang="zh-CN" altLang="en-US" sz="1800" b="0"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sz="1800" b="0" dirty="0">
                <a:latin typeface="微软雅黑" panose="020B0503020204020204" pitchFamily="34" charset="-122"/>
                <a:ea typeface="微软雅黑" panose="020B0503020204020204" pitchFamily="34" charset="-122"/>
              </a:rPr>
              <a:t>常见的信号都是基带信号，频率在一个比较低的频段上，如果介质具有帯通特性或者只有帯通带宽可用，则模拟信号就需要进行调制，将其搬移到高频段，所以可以认为调制是从基带信号变成带通信号的过程。</a:t>
            </a:r>
            <a:endParaRPr lang="zh-CN" altLang="en-US" sz="1800" b="0" dirty="0">
              <a:latin typeface="微软雅黑" panose="020B0503020204020204" pitchFamily="34" charset="-122"/>
              <a:ea typeface="微软雅黑" panose="020B0503020204020204" pitchFamily="34" charset="-122"/>
            </a:endParaRPr>
          </a:p>
          <a:p>
            <a:pPr algn="just" eaLnBrk="1" hangingPunct="1">
              <a:lnSpc>
                <a:spcPct val="150000"/>
              </a:lnSpc>
            </a:pPr>
            <a:endParaRPr lang="zh-CN" altLang="en-US" sz="1800" b="0" dirty="0">
              <a:latin typeface="微软雅黑" panose="020B0503020204020204" pitchFamily="34" charset="-122"/>
              <a:ea typeface="微软雅黑" panose="020B0503020204020204" pitchFamily="34" charset="-122"/>
            </a:endParaRPr>
          </a:p>
          <a:p>
            <a:pPr algn="just" eaLnBrk="1" hangingPunct="1">
              <a:lnSpc>
                <a:spcPct val="150000"/>
              </a:lnSpc>
            </a:pPr>
            <a:r>
              <a:rPr lang="zh-CN" altLang="en-US" sz="1800" b="0" dirty="0">
                <a:latin typeface="微软雅黑" panose="020B0503020204020204" pitchFamily="34" charset="-122"/>
                <a:ea typeface="微软雅黑" panose="020B0503020204020204" pitchFamily="34" charset="-122"/>
              </a:rPr>
              <a:t>常见的模拟调制技术包括调幅调制 </a:t>
            </a:r>
            <a:r>
              <a:rPr lang="en-US" altLang="zh-CN" sz="1800" b="0" dirty="0">
                <a:latin typeface="微软雅黑" panose="020B0503020204020204" pitchFamily="34" charset="-122"/>
                <a:ea typeface="微软雅黑" panose="020B0503020204020204" pitchFamily="34" charset="-122"/>
              </a:rPr>
              <a:t>AM (Amplitude Modulation)</a:t>
            </a:r>
            <a:r>
              <a:rPr lang="zh-CN" altLang="en-US" sz="1800" b="0" dirty="0">
                <a:latin typeface="微软雅黑" panose="020B0503020204020204" pitchFamily="34" charset="-122"/>
                <a:ea typeface="微软雅黑" panose="020B0503020204020204" pitchFamily="34" charset="-122"/>
              </a:rPr>
              <a:t>、调频调制 </a:t>
            </a:r>
            <a:r>
              <a:rPr lang="en-US" altLang="zh-CN" sz="1800" b="0" dirty="0">
                <a:latin typeface="微软雅黑" panose="020B0503020204020204" pitchFamily="34" charset="-122"/>
                <a:ea typeface="微软雅黑" panose="020B0503020204020204" pitchFamily="34" charset="-122"/>
              </a:rPr>
              <a:t>FM (Frequency Modulation) </a:t>
            </a:r>
            <a:r>
              <a:rPr lang="zh-CN" altLang="en-US" sz="1800" b="0" dirty="0">
                <a:latin typeface="微软雅黑" panose="020B0503020204020204" pitchFamily="34" charset="-122"/>
                <a:ea typeface="微软雅黑" panose="020B0503020204020204" pitchFamily="34" charset="-122"/>
              </a:rPr>
              <a:t>和相位调制 </a:t>
            </a:r>
            <a:r>
              <a:rPr lang="en-US" altLang="zh-CN" sz="1800" b="0" dirty="0">
                <a:latin typeface="微软雅黑" panose="020B0503020204020204" pitchFamily="34" charset="-122"/>
                <a:ea typeface="微软雅黑" panose="020B0503020204020204" pitchFamily="34" charset="-122"/>
              </a:rPr>
              <a:t>PM (Phase Modulation)</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80989741-3829-40A1-AF8A-31FA4B40AB63}" type="slidenum">
              <a:rPr lang="en-US" altLang="zh-CN" sz="2000" smtClean="0">
                <a:solidFill>
                  <a:schemeClr val="bg2"/>
                </a:solidFill>
              </a:rPr>
            </a:fld>
            <a:endParaRPr lang="en-US" altLang="zh-CN" sz="2000">
              <a:solidFill>
                <a:schemeClr val="bg2"/>
              </a:solidFill>
            </a:endParaRPr>
          </a:p>
        </p:txBody>
      </p:sp>
      <p:sp>
        <p:nvSpPr>
          <p:cNvPr id="61443" name="Text Box 4"/>
          <p:cNvSpPr txBox="1">
            <a:spLocks noChangeArrowheads="1"/>
          </p:cNvSpPr>
          <p:nvPr/>
        </p:nvSpPr>
        <p:spPr bwMode="auto">
          <a:xfrm>
            <a:off x="3352832" y="4732556"/>
            <a:ext cx="18565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5.16  </a:t>
            </a:r>
            <a:r>
              <a:rPr lang="zh-CN" altLang="en-US" sz="1400" dirty="0">
                <a:latin typeface="Times New Roman" panose="02020603050405020304" pitchFamily="18" charset="0"/>
                <a:ea typeface="宋体" panose="02010600030101010101" pitchFamily="2" charset="-122"/>
              </a:rPr>
              <a:t>幅度调制</a:t>
            </a:r>
            <a:endParaRPr lang="en-US" altLang="zh-CN" sz="1400" dirty="0">
              <a:latin typeface="Times New Roman" panose="02020603050405020304" pitchFamily="18" charset="0"/>
              <a:ea typeface="宋体" panose="02010600030101010101" pitchFamily="2" charset="-122"/>
            </a:endParaRPr>
          </a:p>
        </p:txBody>
      </p:sp>
      <p:pic>
        <p:nvPicPr>
          <p:cNvPr id="6144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4329" y="1385017"/>
            <a:ext cx="6475342" cy="2900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Rectangle 11"/>
          <p:cNvSpPr>
            <a:spLocks noChangeArrowheads="1"/>
          </p:cNvSpPr>
          <p:nvPr/>
        </p:nvSpPr>
        <p:spPr bwMode="auto">
          <a:xfrm>
            <a:off x="1143000" y="5410148"/>
            <a:ext cx="7314928" cy="400110"/>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dirty="0">
                <a:latin typeface="Times New Roman" panose="02020603050405020304" pitchFamily="18" charset="0"/>
                <a:ea typeface="宋体" panose="02010600030101010101" pitchFamily="2" charset="-122"/>
              </a:rPr>
              <a:t>AM</a:t>
            </a:r>
            <a:r>
              <a:rPr lang="zh-CN" altLang="en-US" sz="2000" b="0" dirty="0">
                <a:latin typeface="微软雅黑" panose="020B0503020204020204" pitchFamily="34" charset="-122"/>
                <a:ea typeface="微软雅黑" panose="020B0503020204020204" pitchFamily="34" charset="-122"/>
              </a:rPr>
              <a:t>所需的总带宽可以由调制信号的带宽确定：</a:t>
            </a:r>
            <a:r>
              <a:rPr lang="en-US" altLang="zh-CN" sz="2000" i="1" dirty="0">
                <a:latin typeface="Times New Roman" panose="02020603050405020304" pitchFamily="18" charset="0"/>
                <a:ea typeface="宋体" panose="02010600030101010101" pitchFamily="2" charset="-122"/>
              </a:rPr>
              <a:t>B</a:t>
            </a:r>
            <a:r>
              <a:rPr lang="en-US" altLang="zh-CN" sz="2000" baseline="-25000" dirty="0">
                <a:latin typeface="Times New Roman" panose="02020603050405020304" pitchFamily="18" charset="0"/>
                <a:ea typeface="宋体" panose="02010600030101010101" pitchFamily="2" charset="-122"/>
              </a:rPr>
              <a:t>AM</a:t>
            </a:r>
            <a:r>
              <a:rPr lang="en-US" altLang="zh-CN" sz="2000" dirty="0">
                <a:latin typeface="Times New Roman" panose="02020603050405020304" pitchFamily="18" charset="0"/>
                <a:ea typeface="宋体" panose="02010600030101010101" pitchFamily="2" charset="-122"/>
              </a:rPr>
              <a:t> = 2</a:t>
            </a:r>
            <a:r>
              <a:rPr lang="en-US" altLang="zh-CN" sz="2000" i="1" dirty="0">
                <a:latin typeface="Times New Roman" panose="02020603050405020304" pitchFamily="18" charset="0"/>
                <a:ea typeface="宋体" panose="02010600030101010101" pitchFamily="2" charset="-122"/>
              </a:rPr>
              <a:t>B</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2" name="矩形 1"/>
          <p:cNvSpPr/>
          <p:nvPr/>
        </p:nvSpPr>
        <p:spPr>
          <a:xfrm>
            <a:off x="3049630" y="95952"/>
            <a:ext cx="1540806" cy="523220"/>
          </a:xfrm>
          <a:prstGeom prst="rect">
            <a:avLst/>
          </a:prstGeom>
        </p:spPr>
        <p:txBody>
          <a:bodyPr wrap="non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调幅</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99E8926F-88A4-4FB1-A492-0A5BAF7808E6}" type="slidenum">
              <a:rPr lang="en-US" altLang="zh-CN" sz="2000" smtClean="0">
                <a:solidFill>
                  <a:schemeClr val="bg2"/>
                </a:solidFill>
              </a:rPr>
            </a:fld>
            <a:endParaRPr lang="en-US" altLang="zh-CN" sz="2000">
              <a:solidFill>
                <a:schemeClr val="bg2"/>
              </a:solidFill>
            </a:endParaRPr>
          </a:p>
        </p:txBody>
      </p:sp>
      <p:sp>
        <p:nvSpPr>
          <p:cNvPr id="63493" name="Text Box 4"/>
          <p:cNvSpPr txBox="1">
            <a:spLocks noChangeArrowheads="1"/>
          </p:cNvSpPr>
          <p:nvPr/>
        </p:nvSpPr>
        <p:spPr bwMode="auto">
          <a:xfrm>
            <a:off x="3542278" y="3322657"/>
            <a:ext cx="21913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5.17  </a:t>
            </a:r>
            <a:r>
              <a:rPr lang="en-US" altLang="zh-CN" sz="1400" dirty="0">
                <a:latin typeface="Times New Roman" panose="02020603050405020304" pitchFamily="18" charset="0"/>
                <a:ea typeface="宋体" panose="02010600030101010101" pitchFamily="2" charset="-122"/>
              </a:rPr>
              <a:t>AM </a:t>
            </a:r>
            <a:r>
              <a:rPr lang="zh-CN" altLang="en-US" sz="1400" dirty="0">
                <a:latin typeface="Times New Roman" panose="02020603050405020304" pitchFamily="18" charset="0"/>
                <a:ea typeface="宋体" panose="02010600030101010101" pitchFamily="2" charset="-122"/>
              </a:rPr>
              <a:t>频带分配</a:t>
            </a:r>
            <a:endParaRPr lang="en-US" altLang="zh-CN" sz="1400" dirty="0">
              <a:latin typeface="Times New Roman" panose="02020603050405020304" pitchFamily="18" charset="0"/>
              <a:ea typeface="宋体" panose="02010600030101010101" pitchFamily="2" charset="-122"/>
            </a:endParaRPr>
          </a:p>
        </p:txBody>
      </p:sp>
      <p:pic>
        <p:nvPicPr>
          <p:cNvPr id="6349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92" y="1752644"/>
            <a:ext cx="7142078" cy="1131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6" name="文本框 1"/>
          <p:cNvSpPr txBox="1">
            <a:spLocks noChangeArrowheads="1"/>
          </p:cNvSpPr>
          <p:nvPr/>
        </p:nvSpPr>
        <p:spPr bwMode="auto">
          <a:xfrm>
            <a:off x="1152417" y="4068588"/>
            <a:ext cx="6971028" cy="123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pPr>
            <a:r>
              <a:rPr lang="zh-CN" altLang="en-US" sz="2000" b="0" dirty="0">
                <a:latin typeface="微软雅黑" panose="020B0503020204020204" pitchFamily="34" charset="-122"/>
                <a:ea typeface="微软雅黑" panose="020B0503020204020204" pitchFamily="34" charset="-122"/>
              </a:rPr>
              <a:t>音频信号的带宽通常为 </a:t>
            </a:r>
            <a:r>
              <a:rPr lang="en-US" altLang="zh-CN" sz="2000" b="0" dirty="0">
                <a:latin typeface="微软雅黑" panose="020B0503020204020204" pitchFamily="34" charset="-122"/>
                <a:ea typeface="微软雅黑" panose="020B0503020204020204" pitchFamily="34" charset="-122"/>
              </a:rPr>
              <a:t>5kHz</a:t>
            </a:r>
            <a:r>
              <a:rPr lang="zh-CN" altLang="en-US" sz="2000" b="0" dirty="0">
                <a:latin typeface="微软雅黑" panose="020B0503020204020204" pitchFamily="34" charset="-122"/>
                <a:ea typeface="微软雅黑" panose="020B0503020204020204" pitchFamily="34" charset="-122"/>
              </a:rPr>
              <a:t>，所以调幅无线电台需要的最小带宽是 </a:t>
            </a:r>
            <a:r>
              <a:rPr lang="en-US" altLang="zh-CN" sz="2000" b="0" dirty="0">
                <a:latin typeface="微软雅黑" panose="020B0503020204020204" pitchFamily="34" charset="-122"/>
                <a:ea typeface="微软雅黑" panose="020B0503020204020204" pitchFamily="34" charset="-122"/>
              </a:rPr>
              <a:t>10kHz</a:t>
            </a:r>
            <a:r>
              <a:rPr lang="zh-CN" altLang="en-US" sz="2000" b="0" dirty="0">
                <a:latin typeface="微软雅黑" panose="020B0503020204020204" pitchFamily="34" charset="-122"/>
                <a:ea typeface="微软雅黑" panose="020B0503020204020204" pitchFamily="34" charset="-122"/>
              </a:rPr>
              <a:t>。</a:t>
            </a:r>
            <a:endParaRPr lang="zh-CN" altLang="en-US" sz="20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8E4EBCA8-B9B3-4C2D-B007-C208F4EDE960}" type="slidenum">
              <a:rPr lang="en-US" altLang="zh-CN" sz="2000" smtClean="0">
                <a:solidFill>
                  <a:schemeClr val="bg2"/>
                </a:solidFill>
              </a:rPr>
            </a:fld>
            <a:endParaRPr lang="en-US" altLang="zh-CN" sz="2000">
              <a:solidFill>
                <a:schemeClr val="bg2"/>
              </a:solidFill>
            </a:endParaRPr>
          </a:p>
        </p:txBody>
      </p:sp>
      <p:sp>
        <p:nvSpPr>
          <p:cNvPr id="65539" name="Text Box 4"/>
          <p:cNvSpPr txBox="1">
            <a:spLocks noChangeArrowheads="1"/>
          </p:cNvSpPr>
          <p:nvPr/>
        </p:nvSpPr>
        <p:spPr bwMode="auto">
          <a:xfrm>
            <a:off x="3643733" y="4530300"/>
            <a:ext cx="18565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5.18  </a:t>
            </a:r>
            <a:r>
              <a:rPr lang="zh-CN" altLang="en-US" sz="1400" dirty="0">
                <a:latin typeface="Times New Roman" panose="02020603050405020304" pitchFamily="18" charset="0"/>
                <a:ea typeface="宋体" panose="02010600030101010101" pitchFamily="2" charset="-122"/>
              </a:rPr>
              <a:t>频率调制</a:t>
            </a:r>
            <a:endParaRPr lang="en-US" altLang="zh-CN" sz="1400" dirty="0">
              <a:latin typeface="Times New Roman" panose="02020603050405020304" pitchFamily="18" charset="0"/>
              <a:ea typeface="宋体" panose="02010600030101010101" pitchFamily="2" charset="-122"/>
            </a:endParaRPr>
          </a:p>
        </p:txBody>
      </p:sp>
      <p:pic>
        <p:nvPicPr>
          <p:cNvPr id="6554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3389" y="1093341"/>
            <a:ext cx="6536095" cy="320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Rectangle 11"/>
          <p:cNvSpPr>
            <a:spLocks noChangeArrowheads="1"/>
          </p:cNvSpPr>
          <p:nvPr/>
        </p:nvSpPr>
        <p:spPr bwMode="auto">
          <a:xfrm>
            <a:off x="1447882" y="4838077"/>
            <a:ext cx="6742911" cy="1227259"/>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pPr>
            <a:r>
              <a:rPr lang="en-US" altLang="zh-CN" sz="2000" dirty="0">
                <a:latin typeface="Times New Roman" panose="02020603050405020304" pitchFamily="18" charset="0"/>
                <a:ea typeface="宋体" panose="02010600030101010101" pitchFamily="2" charset="-122"/>
              </a:rPr>
              <a:t>FM </a:t>
            </a:r>
            <a:r>
              <a:rPr lang="zh-CN" altLang="en-US" sz="2000" b="0" dirty="0">
                <a:latin typeface="微软雅黑" panose="020B0503020204020204" pitchFamily="34" charset="-122"/>
                <a:ea typeface="微软雅黑" panose="020B0503020204020204" pitchFamily="34" charset="-122"/>
              </a:rPr>
              <a:t>所需总带宽由调制信号的带宽确定：</a:t>
            </a:r>
            <a:r>
              <a:rPr lang="en-US" altLang="zh-CN" sz="2000" i="1" dirty="0">
                <a:latin typeface="Times New Roman" panose="02020603050405020304" pitchFamily="18" charset="0"/>
                <a:ea typeface="宋体" panose="02010600030101010101" pitchFamily="2" charset="-122"/>
              </a:rPr>
              <a:t>B</a:t>
            </a:r>
            <a:r>
              <a:rPr lang="en-US" altLang="zh-CN" sz="2000" baseline="-25000" dirty="0">
                <a:latin typeface="Times New Roman" panose="02020603050405020304" pitchFamily="18" charset="0"/>
                <a:ea typeface="宋体" panose="02010600030101010101" pitchFamily="2" charset="-122"/>
              </a:rPr>
              <a:t>FM</a:t>
            </a:r>
            <a:r>
              <a:rPr lang="en-US" altLang="zh-CN" sz="2000" dirty="0">
                <a:latin typeface="Times New Roman" panose="02020603050405020304" pitchFamily="18" charset="0"/>
                <a:ea typeface="宋体" panose="02010600030101010101" pitchFamily="2" charset="-122"/>
              </a:rPr>
              <a:t> = 2(1 + β)</a:t>
            </a:r>
            <a:r>
              <a:rPr lang="en-US" altLang="zh-CN" sz="2000" i="1" dirty="0">
                <a:latin typeface="Times New Roman" panose="02020603050405020304" pitchFamily="18" charset="0"/>
                <a:ea typeface="宋体" panose="02010600030101010101" pitchFamily="2" charset="-122"/>
              </a:rPr>
              <a:t>B</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β</a:t>
            </a:r>
            <a:r>
              <a:rPr lang="zh-CN" altLang="en-US" sz="2000" b="0" dirty="0">
                <a:latin typeface="微软雅黑" panose="020B0503020204020204" pitchFamily="34" charset="-122"/>
                <a:ea typeface="微软雅黑" panose="020B0503020204020204" pitchFamily="34" charset="-122"/>
              </a:rPr>
              <a:t>是调制因子，一般为</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2" name="矩形 1"/>
          <p:cNvSpPr/>
          <p:nvPr/>
        </p:nvSpPr>
        <p:spPr>
          <a:xfrm>
            <a:off x="3029560" y="80676"/>
            <a:ext cx="1471878" cy="523220"/>
          </a:xfrm>
          <a:prstGeom prst="rect">
            <a:avLst/>
          </a:prstGeom>
        </p:spPr>
        <p:txBody>
          <a:bodyPr wrap="non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调频</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FM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24E3BA8A-5217-411F-8B10-95627C7CC138}" type="slidenum">
              <a:rPr lang="en-US" altLang="zh-CN" sz="2000" smtClean="0">
                <a:solidFill>
                  <a:schemeClr val="bg2"/>
                </a:solidFill>
              </a:rPr>
            </a:fld>
            <a:endParaRPr lang="en-US" altLang="zh-CN" sz="2000">
              <a:solidFill>
                <a:schemeClr val="bg2"/>
              </a:solidFill>
            </a:endParaRPr>
          </a:p>
        </p:txBody>
      </p:sp>
      <p:sp>
        <p:nvSpPr>
          <p:cNvPr id="67589" name="Text Box 4"/>
          <p:cNvSpPr txBox="1">
            <a:spLocks noChangeArrowheads="1"/>
          </p:cNvSpPr>
          <p:nvPr/>
        </p:nvSpPr>
        <p:spPr bwMode="auto">
          <a:xfrm>
            <a:off x="3636661" y="2822862"/>
            <a:ext cx="21803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5.19  </a:t>
            </a:r>
            <a:r>
              <a:rPr lang="en-US" altLang="zh-CN" sz="1400" dirty="0">
                <a:latin typeface="Times New Roman" panose="02020603050405020304" pitchFamily="18" charset="0"/>
                <a:ea typeface="宋体" panose="02010600030101010101" pitchFamily="2" charset="-122"/>
              </a:rPr>
              <a:t>FM </a:t>
            </a:r>
            <a:r>
              <a:rPr lang="zh-CN" altLang="en-US" sz="1400" dirty="0">
                <a:latin typeface="Times New Roman" panose="02020603050405020304" pitchFamily="18" charset="0"/>
                <a:ea typeface="宋体" panose="02010600030101010101" pitchFamily="2" charset="-122"/>
              </a:rPr>
              <a:t>频带分配</a:t>
            </a:r>
            <a:endParaRPr lang="en-US" altLang="zh-CN" sz="1400" dirty="0">
              <a:latin typeface="Times New Roman" panose="02020603050405020304" pitchFamily="18" charset="0"/>
              <a:ea typeface="宋体" panose="02010600030101010101" pitchFamily="2" charset="-122"/>
            </a:endParaRPr>
          </a:p>
        </p:txBody>
      </p:sp>
      <p:pic>
        <p:nvPicPr>
          <p:cNvPr id="6759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88" y="1600248"/>
            <a:ext cx="7015087" cy="97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2" name="文本框 7"/>
          <p:cNvSpPr txBox="1">
            <a:spLocks noChangeArrowheads="1"/>
          </p:cNvSpPr>
          <p:nvPr/>
        </p:nvSpPr>
        <p:spPr bwMode="auto">
          <a:xfrm>
            <a:off x="1219287" y="3505200"/>
            <a:ext cx="7015087" cy="1846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2000" b="0" dirty="0">
                <a:latin typeface="微软雅黑" panose="020B0503020204020204" pitchFamily="34" charset="-122"/>
                <a:ea typeface="微软雅黑" panose="020B0503020204020204" pitchFamily="34" charset="-122"/>
              </a:rPr>
              <a:t>立体声广播的音频信号带宽接近</a:t>
            </a:r>
            <a:r>
              <a:rPr lang="en-US" altLang="zh-CN" sz="2000" b="0" dirty="0">
                <a:latin typeface="微软雅黑" panose="020B0503020204020204" pitchFamily="34" charset="-122"/>
                <a:ea typeface="微软雅黑" panose="020B0503020204020204" pitchFamily="34" charset="-122"/>
              </a:rPr>
              <a:t>15kHz</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FCC</a:t>
            </a:r>
            <a:r>
              <a:rPr lang="zh-CN" altLang="en-US" sz="2000" b="0" dirty="0">
                <a:latin typeface="微软雅黑" panose="020B0503020204020204" pitchFamily="34" charset="-122"/>
                <a:ea typeface="微软雅黑" panose="020B0503020204020204" pitchFamily="34" charset="-122"/>
              </a:rPr>
              <a:t>允许每个调频电台使用</a:t>
            </a:r>
            <a:r>
              <a:rPr lang="en-US" altLang="zh-CN" sz="2000" b="0" dirty="0">
                <a:latin typeface="微软雅黑" panose="020B0503020204020204" pitchFamily="34" charset="-122"/>
                <a:ea typeface="微软雅黑" panose="020B0503020204020204" pitchFamily="34" charset="-122"/>
              </a:rPr>
              <a:t>200kHz</a:t>
            </a:r>
            <a:r>
              <a:rPr lang="zh-CN" altLang="en-US" sz="2000" b="0" dirty="0">
                <a:latin typeface="微软雅黑" panose="020B0503020204020204" pitchFamily="34" charset="-122"/>
                <a:ea typeface="微软雅黑" panose="020B0503020204020204" pitchFamily="34" charset="-122"/>
              </a:rPr>
              <a:t>的带宽，电台之间至少有 </a:t>
            </a:r>
            <a:r>
              <a:rPr lang="en-US" altLang="zh-CN" sz="2000" b="0" dirty="0">
                <a:latin typeface="微软雅黑" panose="020B0503020204020204" pitchFamily="34" charset="-122"/>
                <a:ea typeface="微软雅黑" panose="020B0503020204020204" pitchFamily="34" charset="-122"/>
              </a:rPr>
              <a:t>200kHz </a:t>
            </a:r>
            <a:r>
              <a:rPr lang="zh-CN" altLang="en-US" sz="2000" b="0" dirty="0">
                <a:latin typeface="微软雅黑" panose="020B0503020204020204" pitchFamily="34" charset="-122"/>
                <a:ea typeface="微软雅黑" panose="020B0503020204020204" pitchFamily="34" charset="-122"/>
              </a:rPr>
              <a:t>的频率差，确保电台之间带宽不重叠。</a:t>
            </a:r>
            <a:endParaRPr lang="zh-CN" altLang="en-US" sz="20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5.</a:t>
            </a:r>
            <a:fld id="{80748DCE-27C5-4F15-9E72-C4365A1E9969}" type="slidenum">
              <a:rPr lang="en-US" altLang="zh-CN" sz="2000" smtClean="0">
                <a:solidFill>
                  <a:schemeClr val="bg2"/>
                </a:solidFill>
              </a:rPr>
            </a:fld>
            <a:endParaRPr lang="en-US" altLang="zh-CN" sz="2000">
              <a:solidFill>
                <a:schemeClr val="bg2"/>
              </a:solidFill>
            </a:endParaRPr>
          </a:p>
        </p:txBody>
      </p:sp>
      <p:sp>
        <p:nvSpPr>
          <p:cNvPr id="69635" name="Text Box 4"/>
          <p:cNvSpPr txBox="1">
            <a:spLocks noChangeArrowheads="1"/>
          </p:cNvSpPr>
          <p:nvPr/>
        </p:nvSpPr>
        <p:spPr bwMode="auto">
          <a:xfrm>
            <a:off x="3582664" y="4469227"/>
            <a:ext cx="18565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5.20  </a:t>
            </a:r>
            <a:r>
              <a:rPr lang="zh-CN" altLang="en-US" sz="1400" dirty="0">
                <a:latin typeface="Times New Roman" panose="02020603050405020304" pitchFamily="18" charset="0"/>
                <a:ea typeface="宋体" panose="02010600030101010101" pitchFamily="2" charset="-122"/>
              </a:rPr>
              <a:t>相位调制</a:t>
            </a:r>
            <a:endParaRPr lang="en-US" altLang="zh-CN" sz="1400" dirty="0">
              <a:latin typeface="Times New Roman" panose="02020603050405020304" pitchFamily="18" charset="0"/>
              <a:ea typeface="宋体" panose="02010600030101010101" pitchFamily="2" charset="-122"/>
            </a:endParaRPr>
          </a:p>
        </p:txBody>
      </p:sp>
      <p:pic>
        <p:nvPicPr>
          <p:cNvPr id="6963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88" y="1066862"/>
            <a:ext cx="6583286" cy="3128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8" name="Rectangle 11"/>
          <p:cNvSpPr>
            <a:spLocks noChangeArrowheads="1"/>
          </p:cNvSpPr>
          <p:nvPr/>
        </p:nvSpPr>
        <p:spPr bwMode="auto">
          <a:xfrm>
            <a:off x="1447882" y="4762214"/>
            <a:ext cx="6583286" cy="1229632"/>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pPr>
            <a:r>
              <a:rPr lang="en-US" altLang="zh-CN" sz="2000" dirty="0">
                <a:latin typeface="Times New Roman" panose="02020603050405020304" pitchFamily="18" charset="0"/>
                <a:ea typeface="宋体" panose="02010600030101010101" pitchFamily="2" charset="-122"/>
              </a:rPr>
              <a:t>PM </a:t>
            </a:r>
            <a:r>
              <a:rPr lang="zh-CN" altLang="en-US" sz="2000" b="0" dirty="0">
                <a:latin typeface="微软雅黑" panose="020B0503020204020204" pitchFamily="34" charset="-122"/>
                <a:ea typeface="微软雅黑" panose="020B0503020204020204" pitchFamily="34" charset="-122"/>
              </a:rPr>
              <a:t>所需的总带宽由调制信号的带宽和最大振幅确定：</a:t>
            </a:r>
            <a:r>
              <a:rPr lang="en-US" altLang="zh-CN" sz="2000" i="1" dirty="0">
                <a:latin typeface="Times New Roman" panose="02020603050405020304" pitchFamily="18" charset="0"/>
                <a:ea typeface="宋体" panose="02010600030101010101" pitchFamily="2" charset="-122"/>
              </a:rPr>
              <a:t>B</a:t>
            </a:r>
            <a:r>
              <a:rPr lang="en-US" altLang="zh-CN" sz="2000" baseline="-25000" dirty="0">
                <a:latin typeface="Times New Roman" panose="02020603050405020304" pitchFamily="18" charset="0"/>
                <a:ea typeface="宋体" panose="02010600030101010101" pitchFamily="2" charset="-122"/>
              </a:rPr>
              <a:t>PM</a:t>
            </a:r>
            <a:r>
              <a:rPr lang="en-US" altLang="zh-CN" sz="2000" dirty="0">
                <a:latin typeface="Times New Roman" panose="02020603050405020304" pitchFamily="18" charset="0"/>
                <a:ea typeface="宋体" panose="02010600030101010101" pitchFamily="2" charset="-122"/>
              </a:rPr>
              <a:t> = 2(1 + β)</a:t>
            </a:r>
            <a:r>
              <a:rPr lang="en-US" altLang="zh-CN" sz="2000" i="1" dirty="0">
                <a:latin typeface="Times New Roman" panose="02020603050405020304" pitchFamily="18" charset="0"/>
                <a:ea typeface="宋体" panose="02010600030101010101" pitchFamily="2" charset="-122"/>
              </a:rPr>
              <a:t>B</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2" name="矩形 1"/>
          <p:cNvSpPr/>
          <p:nvPr/>
        </p:nvSpPr>
        <p:spPr>
          <a:xfrm>
            <a:off x="3005950" y="115616"/>
            <a:ext cx="1870842"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调相</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PP_MARK_KEY" val="bad8da7f-bed4-4ba9-a279-2b0d961d841c"/>
  <p:tag name="COMMONDATA" val="eyJoZGlkIjoiZjA2NjhkNjY5YjAzNTZmMTViNmE1NDhhYjQ5OWRhNDc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3209</Words>
  <Application>WPS 演示</Application>
  <PresentationFormat>全屏显示(4:3)</PresentationFormat>
  <Paragraphs>177</Paragraphs>
  <Slides>21</Slides>
  <Notes>20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8" baseType="lpstr">
      <vt:lpstr>Arial</vt:lpstr>
      <vt:lpstr>宋体</vt:lpstr>
      <vt:lpstr>Wingdings</vt:lpstr>
      <vt:lpstr>Tahoma</vt:lpstr>
      <vt:lpstr>McGrawHill-Italic</vt:lpstr>
      <vt:lpstr>Segoe Print</vt:lpstr>
      <vt:lpstr>Times New Roman</vt:lpstr>
      <vt:lpstr>微软雅黑</vt:lpstr>
      <vt:lpstr>-apple-system</vt:lpstr>
      <vt:lpstr>Cambria Math</vt:lpstr>
      <vt:lpstr>Times</vt:lpstr>
      <vt:lpstr>Euclid Math Two</vt:lpstr>
      <vt:lpstr>Euclid Math Two</vt:lpstr>
      <vt:lpstr>Arial Unicode MS</vt:lpstr>
      <vt:lpstr>幼圆</vt:lpstr>
      <vt:lpstr>Blends</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xd</cp:lastModifiedBy>
  <cp:revision>255</cp:revision>
  <dcterms:created xsi:type="dcterms:W3CDTF">2000-01-15T04:50:00Z</dcterms:created>
  <dcterms:modified xsi:type="dcterms:W3CDTF">2024-12-08T08:23:48Z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2052-11.1.0.12173</vt:lpwstr>
  </property>
  <property fmtid="{D5CDD505-2E9C-101B-9397-08002B2CF9AE}" pid="3" name="ICV">
    <vt:lpwstr>72D80D6AB40C4F11B8C269002237D30F</vt:lpwstr>
  </property>
</Properties>
</file>