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Wei" initials="CW" lastIdx="1" clrIdx="0"/>
  <p:cmAuthor id="2" name="TOMMY" initials="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" y="0"/>
            <a:ext cx="121748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676" y="8620"/>
            <a:ext cx="10910917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40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39834" y="1125538"/>
            <a:ext cx="10921759" cy="50403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"/>
              <a:defRPr b="1">
                <a:solidFill>
                  <a:srgbClr val="002060"/>
                </a:solidFill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>
                <a:solidFill>
                  <a:srgbClr val="002060"/>
                </a:solidFill>
              </a:defRPr>
            </a:lvl2pPr>
            <a:lvl3pPr marL="1143000" indent="-228600">
              <a:buFont typeface="Wingdings" panose="05000000000000000000" pitchFamily="2" charset="2"/>
              <a:buChar char="p"/>
              <a:defRPr>
                <a:solidFill>
                  <a:srgbClr val="002060"/>
                </a:solidFill>
              </a:defRPr>
            </a:lvl3pPr>
            <a:lvl4pPr marL="1600200" indent="-228600">
              <a:buFont typeface="Wingdings" panose="05000000000000000000" pitchFamily="2" charset="2"/>
              <a:buChar char="n"/>
              <a:defRPr>
                <a:solidFill>
                  <a:srgbClr val="002060"/>
                </a:solidFill>
              </a:defRPr>
            </a:lvl4pPr>
            <a:lvl5pPr marL="1828800" indent="0"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第二级单击此处编辑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42303" y="2489200"/>
            <a:ext cx="10908030" cy="360045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软件</a:t>
            </a:r>
            <a:r>
              <a:rPr lang="zh-CN" altLang="en-US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工程</a:t>
            </a:r>
            <a:endParaRPr lang="zh-CN" altLang="en-US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西安电子科技大学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计算机科学与技术学院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姚勇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#2025</a:t>
            </a:r>
            <a:endParaRPr lang="en-US" altLang="zh-CN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yaoyong@xidian.edu.cn</a:t>
            </a:r>
            <a:endParaRPr lang="en-US" altLang="zh-CN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1" name="图片 6"/>
          <p:cNvPicPr>
            <a:picLocks noChangeAspect="1"/>
          </p:cNvPicPr>
          <p:nvPr userDrawn="1"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43813" y="872490"/>
            <a:ext cx="4221480" cy="590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19" y="1124744"/>
            <a:ext cx="11668587" cy="50405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58149" y="1016732"/>
            <a:ext cx="10920052" cy="5472608"/>
          </a:xfrm>
        </p:spPr>
        <p:txBody>
          <a:bodyPr/>
          <a:lstStyle/>
          <a:p>
            <a:r>
              <a:rPr lang="zh-CN" altLang="en-US" dirty="0"/>
              <a:t>软件工程产生的</a:t>
            </a:r>
            <a:r>
              <a:rPr lang="zh-CN" altLang="en-US" dirty="0">
                <a:solidFill>
                  <a:srgbClr val="C00000"/>
                </a:solidFill>
              </a:rPr>
              <a:t>背景和目的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软件危机</a:t>
            </a:r>
            <a:r>
              <a:rPr lang="zh-CN" altLang="en-US" dirty="0"/>
              <a:t>的产生，目的是为了解决软件危机，危机仍然存在</a:t>
            </a:r>
            <a:endParaRPr lang="en-US" altLang="zh-CN" dirty="0"/>
          </a:p>
          <a:p>
            <a:r>
              <a:rPr lang="zh-CN" altLang="en-US" dirty="0"/>
              <a:t>软件工程的</a:t>
            </a:r>
            <a:r>
              <a:rPr lang="zh-CN" altLang="en-US" dirty="0">
                <a:solidFill>
                  <a:srgbClr val="C00000"/>
                </a:solidFill>
              </a:rPr>
              <a:t>本质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认识：软件视为</a:t>
            </a:r>
            <a:r>
              <a:rPr lang="zh-CN" altLang="en-US" b="1" dirty="0">
                <a:solidFill>
                  <a:srgbClr val="C00000"/>
                </a:solidFill>
              </a:rPr>
              <a:t>产品</a:t>
            </a:r>
            <a:r>
              <a:rPr lang="zh-CN" altLang="en-US" dirty="0"/>
              <a:t>，软件开发视为</a:t>
            </a:r>
            <a:r>
              <a:rPr lang="zh-CN" altLang="en-US" b="1" dirty="0">
                <a:solidFill>
                  <a:srgbClr val="C00000"/>
                </a:solidFill>
              </a:rPr>
              <a:t>工程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三要素：</a:t>
            </a:r>
            <a:r>
              <a:rPr lang="zh-CN" altLang="en-US" b="1" dirty="0">
                <a:solidFill>
                  <a:srgbClr val="C00000"/>
                </a:solidFill>
              </a:rPr>
              <a:t>过程、方法学和工具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基本原则：重用、抽象、建模、模块化等</a:t>
            </a:r>
            <a:endParaRPr lang="en-US" altLang="zh-CN" dirty="0"/>
          </a:p>
          <a:p>
            <a:r>
              <a:rPr lang="zh-CN" altLang="en-US" dirty="0"/>
              <a:t>软件工程的</a:t>
            </a:r>
            <a:r>
              <a:rPr lang="zh-CN" altLang="en-US" dirty="0">
                <a:solidFill>
                  <a:srgbClr val="C00000"/>
                </a:solidFill>
              </a:rPr>
              <a:t>发展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针对不同时期的软件特点及开发要求，产生不同的方法和技术</a:t>
            </a:r>
            <a:endParaRPr lang="en-US" altLang="zh-CN" dirty="0"/>
          </a:p>
          <a:p>
            <a:r>
              <a:rPr lang="zh-CN" altLang="en-US" dirty="0"/>
              <a:t>软件工程</a:t>
            </a:r>
            <a:r>
              <a:rPr lang="zh-CN" altLang="en-US" dirty="0">
                <a:solidFill>
                  <a:srgbClr val="C00000"/>
                </a:solidFill>
              </a:rPr>
              <a:t>教育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培养软件工程师和研究者，软件工程知识体系及课程特点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312" y="1268760"/>
            <a:ext cx="11443694" cy="45725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542" y="39983"/>
            <a:ext cx="10909212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0703" y="1125538"/>
            <a:ext cx="10920052" cy="5040312"/>
          </a:xfrm>
        </p:spPr>
        <p:txBody>
          <a:bodyPr/>
          <a:lstStyle/>
          <a:p>
            <a:r>
              <a:rPr lang="zh-CN" altLang="en-US" dirty="0"/>
              <a:t>软件开发需要</a:t>
            </a:r>
            <a:r>
              <a:rPr lang="zh-CN" altLang="en-US" dirty="0">
                <a:solidFill>
                  <a:srgbClr val="C00000"/>
                </a:solidFill>
              </a:rPr>
              <a:t>过程指导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明确步骤、活动、次序、关系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多样化</a:t>
            </a:r>
            <a:r>
              <a:rPr lang="zh-CN" altLang="en-US" dirty="0"/>
              <a:t>的软件过程模型</a:t>
            </a:r>
            <a:endParaRPr lang="en-US" altLang="zh-CN" dirty="0"/>
          </a:p>
          <a:p>
            <a:pPr lvl="1"/>
            <a:r>
              <a:rPr lang="zh-CN" altLang="en-US" dirty="0"/>
              <a:t>瀑布、增量、迭代、原型、螺旋等，各自有其优缺点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选择</a:t>
            </a:r>
            <a:r>
              <a:rPr lang="zh-CN" altLang="en-US" dirty="0"/>
              <a:t>合适软件过程模型</a:t>
            </a:r>
            <a:endParaRPr lang="en-US" altLang="zh-CN" dirty="0"/>
          </a:p>
          <a:p>
            <a:pPr lvl="1"/>
            <a:r>
              <a:rPr lang="zh-CN" altLang="en-US" dirty="0"/>
              <a:t>考虑软件项目特点和要求、团队的经验和水平及各个软件过程模型的优缺点</a:t>
            </a:r>
            <a:endParaRPr lang="en-US" altLang="zh-CN" dirty="0"/>
          </a:p>
          <a:p>
            <a:r>
              <a:rPr lang="zh-CN" altLang="en-US" dirty="0"/>
              <a:t>传统软件过程模型</a:t>
            </a:r>
            <a:r>
              <a:rPr lang="zh-CN" altLang="en-US" dirty="0">
                <a:solidFill>
                  <a:srgbClr val="C00000"/>
                </a:solidFill>
              </a:rPr>
              <a:t>不足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以文档是中心，非常笨重，难以快速应对需求变化，怎么办？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61" y="1464077"/>
            <a:ext cx="11315996" cy="392984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软件需求</a:t>
            </a:r>
            <a:endParaRPr lang="en-US" altLang="zh-CN" dirty="0"/>
          </a:p>
          <a:p>
            <a:pPr lvl="1"/>
            <a:r>
              <a:rPr lang="zh-CN" altLang="en-US" dirty="0"/>
              <a:t>来自于</a:t>
            </a:r>
            <a:r>
              <a:rPr lang="zh-CN" altLang="en-US" b="1" dirty="0">
                <a:solidFill>
                  <a:srgbClr val="C00000"/>
                </a:solidFill>
              </a:rPr>
              <a:t>软件利益相关者</a:t>
            </a:r>
            <a:r>
              <a:rPr lang="zh-CN" altLang="en-US" dirty="0"/>
              <a:t>，表现为</a:t>
            </a:r>
            <a:r>
              <a:rPr lang="zh-CN" altLang="en-US" b="1" dirty="0">
                <a:solidFill>
                  <a:srgbClr val="C00000"/>
                </a:solidFill>
              </a:rPr>
              <a:t>多种形式</a:t>
            </a:r>
            <a:r>
              <a:rPr lang="zh-CN" altLang="en-US" dirty="0"/>
              <a:t>，具有</a:t>
            </a:r>
            <a:r>
              <a:rPr lang="zh-CN" altLang="en-US" b="1" dirty="0">
                <a:solidFill>
                  <a:srgbClr val="C00000"/>
                </a:solidFill>
              </a:rPr>
              <a:t>多变易变</a:t>
            </a:r>
            <a:r>
              <a:rPr lang="zh-CN" altLang="en-US" dirty="0"/>
              <a:t>特点</a:t>
            </a:r>
            <a:endParaRPr lang="en-US" altLang="zh-CN" dirty="0"/>
          </a:p>
          <a:p>
            <a:r>
              <a:rPr lang="zh-CN" altLang="en-US" dirty="0"/>
              <a:t>需求工程</a:t>
            </a:r>
            <a:endParaRPr lang="en-US" altLang="zh-CN" dirty="0"/>
          </a:p>
          <a:p>
            <a:pPr lvl="1"/>
            <a:r>
              <a:rPr lang="zh-CN" altLang="en-US" dirty="0"/>
              <a:t>基于工程的手段来支持需求的</a:t>
            </a:r>
            <a:r>
              <a:rPr lang="zh-CN" altLang="en-US" b="1" dirty="0">
                <a:solidFill>
                  <a:srgbClr val="C00000"/>
                </a:solidFill>
              </a:rPr>
              <a:t>获取、分析、建模和文档化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面向对象需求分析方法学</a:t>
            </a:r>
            <a:endParaRPr lang="en-US" altLang="zh-CN" dirty="0"/>
          </a:p>
          <a:p>
            <a:pPr lvl="1"/>
            <a:r>
              <a:rPr lang="zh-CN" altLang="en-US" dirty="0"/>
              <a:t>基本思想：系统中的</a:t>
            </a:r>
            <a:r>
              <a:rPr lang="zh-CN" altLang="en-US" b="1" dirty="0">
                <a:solidFill>
                  <a:srgbClr val="C00000"/>
                </a:solidFill>
              </a:rPr>
              <a:t>对象及其展现的功能、行为和协作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基本概念：对象、类、消息传递等</a:t>
            </a:r>
            <a:endParaRPr lang="en-US" altLang="zh-CN" dirty="0"/>
          </a:p>
          <a:p>
            <a:pPr lvl="1"/>
            <a:r>
              <a:rPr lang="zh-CN" altLang="en-US" dirty="0"/>
              <a:t>建模语言：</a:t>
            </a:r>
            <a:r>
              <a:rPr lang="en-US" altLang="zh-CN" dirty="0"/>
              <a:t>UML</a:t>
            </a:r>
            <a:r>
              <a:rPr lang="zh-CN" altLang="en-US" dirty="0"/>
              <a:t>、视角、图</a:t>
            </a:r>
            <a:endParaRPr lang="en-US" altLang="zh-CN" dirty="0"/>
          </a:p>
          <a:p>
            <a:r>
              <a:rPr lang="zh-CN" altLang="en-US" dirty="0"/>
              <a:t>需求输出，</a:t>
            </a:r>
            <a:r>
              <a:rPr lang="zh-CN" altLang="en-US" dirty="0">
                <a:solidFill>
                  <a:srgbClr val="C00000"/>
                </a:solidFill>
              </a:rPr>
              <a:t>模型、文档和原型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06" y="1268760"/>
            <a:ext cx="11152706" cy="453946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软件需求来自于</a:t>
            </a:r>
            <a:r>
              <a:rPr lang="zh-CN" altLang="en-US" dirty="0">
                <a:solidFill>
                  <a:srgbClr val="C00000"/>
                </a:solidFill>
              </a:rPr>
              <a:t>软件利益相关方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导出和构思软件需求</a:t>
            </a:r>
            <a:endParaRPr lang="en-US" altLang="zh-CN" dirty="0"/>
          </a:p>
          <a:p>
            <a:r>
              <a:rPr lang="zh-CN" altLang="en-US" dirty="0"/>
              <a:t>循序渐进地</a:t>
            </a:r>
            <a:r>
              <a:rPr lang="zh-CN" altLang="en-US" dirty="0">
                <a:solidFill>
                  <a:srgbClr val="C00000"/>
                </a:solidFill>
              </a:rPr>
              <a:t>构思和导出</a:t>
            </a:r>
            <a:r>
              <a:rPr lang="zh-CN" altLang="en-US" dirty="0"/>
              <a:t>软件需求</a:t>
            </a:r>
            <a:endParaRPr lang="en-US" altLang="zh-CN" dirty="0"/>
          </a:p>
          <a:p>
            <a:pPr lvl="1"/>
            <a:r>
              <a:rPr lang="zh-CN" altLang="en-US" dirty="0"/>
              <a:t>问题、基于软件的解决方法、软件利益相关方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描述</a:t>
            </a:r>
            <a:r>
              <a:rPr lang="zh-CN" altLang="en-US" dirty="0"/>
              <a:t>初步的软件需求</a:t>
            </a:r>
            <a:endParaRPr lang="en-US" altLang="zh-CN" dirty="0"/>
          </a:p>
          <a:p>
            <a:pPr lvl="1"/>
            <a:r>
              <a:rPr lang="zh-CN" altLang="en-US" dirty="0"/>
              <a:t>自然语言、</a:t>
            </a:r>
            <a:r>
              <a:rPr lang="en-US" altLang="zh-CN" dirty="0"/>
              <a:t>UML</a:t>
            </a:r>
            <a:r>
              <a:rPr lang="zh-CN" altLang="en-US" dirty="0"/>
              <a:t>建模（用例图）、软件原型</a:t>
            </a:r>
            <a:endParaRPr lang="en-US" altLang="zh-CN" dirty="0"/>
          </a:p>
          <a:p>
            <a:r>
              <a:rPr lang="zh-CN" altLang="en-US" dirty="0"/>
              <a:t>软件需求的</a:t>
            </a:r>
            <a:r>
              <a:rPr lang="zh-CN" altLang="en-US" dirty="0">
                <a:solidFill>
                  <a:srgbClr val="C00000"/>
                </a:solidFill>
              </a:rPr>
              <a:t>验证和确认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多方从多个方面来评审初步的软件需求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00" y="908720"/>
            <a:ext cx="11027517" cy="52633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分析软件是要</a:t>
            </a:r>
            <a:r>
              <a:rPr lang="zh-CN" altLang="en-US" dirty="0">
                <a:solidFill>
                  <a:srgbClr val="C00000"/>
                </a:solidFill>
              </a:rPr>
              <a:t>精化和深化</a:t>
            </a:r>
            <a:r>
              <a:rPr lang="zh-CN" altLang="en-US" dirty="0"/>
              <a:t>软件需求</a:t>
            </a:r>
            <a:endParaRPr lang="en-US" altLang="zh-CN" dirty="0"/>
          </a:p>
          <a:p>
            <a:pPr lvl="1"/>
            <a:r>
              <a:rPr lang="zh-CN" altLang="en-US" dirty="0"/>
              <a:t>基于初步软件需求，循序渐进</a:t>
            </a:r>
            <a:endParaRPr lang="en-US" altLang="zh-CN" dirty="0"/>
          </a:p>
          <a:p>
            <a:pPr lvl="1"/>
            <a:r>
              <a:rPr lang="zh-CN" altLang="en-US" dirty="0"/>
              <a:t>确保软件需求的完整性、一致性和准确性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UML</a:t>
            </a:r>
            <a:r>
              <a:rPr lang="zh-CN" altLang="en-US" dirty="0"/>
              <a:t>提供了一系列用于描述软件需求的</a:t>
            </a:r>
            <a:r>
              <a:rPr lang="zh-CN" altLang="en-US" dirty="0">
                <a:solidFill>
                  <a:srgbClr val="C00000"/>
                </a:solidFill>
              </a:rPr>
              <a:t>图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用例图、交互图、分析类图、状态图</a:t>
            </a:r>
            <a:endParaRPr lang="en-US" altLang="zh-CN" dirty="0"/>
          </a:p>
          <a:p>
            <a:r>
              <a:rPr lang="zh-CN" altLang="en-US" dirty="0"/>
              <a:t>分析软件需求的</a:t>
            </a:r>
            <a:r>
              <a:rPr lang="zh-CN" altLang="en-US" dirty="0">
                <a:solidFill>
                  <a:srgbClr val="C00000"/>
                </a:solidFill>
              </a:rPr>
              <a:t>步骤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分析和确立软件需求优先级、分析和建立软件需求模型、撰写软件需求规格说明书、评审软件需求模型和文档</a:t>
            </a:r>
            <a:endParaRPr lang="en-US" altLang="zh-CN" dirty="0"/>
          </a:p>
          <a:p>
            <a:r>
              <a:rPr lang="zh-CN" altLang="en-US" dirty="0"/>
              <a:t>分析软件需求的</a:t>
            </a:r>
            <a:r>
              <a:rPr lang="zh-CN" altLang="en-US" dirty="0">
                <a:solidFill>
                  <a:srgbClr val="C00000"/>
                </a:solidFill>
              </a:rPr>
              <a:t>输出和评审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软件需求模型、软件需求原型、软件需求文档</a:t>
            </a:r>
            <a:endParaRPr lang="en-US" altLang="zh-CN" dirty="0"/>
          </a:p>
          <a:p>
            <a:pPr lvl="1"/>
            <a:r>
              <a:rPr lang="zh-CN" altLang="en-US" dirty="0"/>
              <a:t>评审软件需求制品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4294967295"/>
          </p:nvPr>
        </p:nvSpPr>
        <p:spPr>
          <a:xfrm>
            <a:off x="10272078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/>
              <a:t>©Copyright Xinjun Mao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82465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b="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5F0B0DD-52FB-4A53-B2C2-7CDC1F2E492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353" y="980728"/>
            <a:ext cx="11163592" cy="51490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1542" y="39983"/>
            <a:ext cx="10909212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40703" y="1125538"/>
            <a:ext cx="10920052" cy="5040312"/>
          </a:xfrm>
        </p:spPr>
        <p:txBody>
          <a:bodyPr/>
          <a:lstStyle/>
          <a:p>
            <a:r>
              <a:rPr lang="zh-CN" altLang="en-US" dirty="0"/>
              <a:t>软件设计是要给出软件需求的</a:t>
            </a:r>
            <a:r>
              <a:rPr lang="zh-CN" altLang="en-US" dirty="0">
                <a:solidFill>
                  <a:srgbClr val="C00000"/>
                </a:solidFill>
              </a:rPr>
              <a:t>实现解决方案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设计既要满足需求，也要关注质量；设计用于指导实现和编码</a:t>
            </a:r>
            <a:endParaRPr lang="en-US" altLang="zh-CN" dirty="0"/>
          </a:p>
          <a:p>
            <a:r>
              <a:rPr lang="zh-CN" altLang="en-US" dirty="0"/>
              <a:t>软件设计有其</a:t>
            </a:r>
            <a:r>
              <a:rPr lang="zh-CN" altLang="en-US" dirty="0">
                <a:solidFill>
                  <a:srgbClr val="C00000"/>
                </a:solidFill>
              </a:rPr>
              <a:t>过程</a:t>
            </a:r>
            <a:r>
              <a:rPr lang="zh-CN" altLang="en-US" dirty="0"/>
              <a:t>，要</a:t>
            </a:r>
            <a:r>
              <a:rPr lang="zh-CN" altLang="en-US" dirty="0">
                <a:solidFill>
                  <a:srgbClr val="C00000"/>
                </a:solidFill>
              </a:rPr>
              <a:t>循序渐进</a:t>
            </a:r>
            <a:r>
              <a:rPr lang="zh-CN" altLang="en-US" dirty="0"/>
              <a:t>地开展设计</a:t>
            </a:r>
            <a:endParaRPr lang="en-US" altLang="zh-CN" dirty="0"/>
          </a:p>
          <a:p>
            <a:pPr lvl="1"/>
            <a:r>
              <a:rPr lang="zh-CN" altLang="en-US" dirty="0"/>
              <a:t>从体系结构设计、用户界面设计、详细设计</a:t>
            </a:r>
            <a:endParaRPr lang="en-US" altLang="zh-CN" dirty="0"/>
          </a:p>
          <a:p>
            <a:r>
              <a:rPr lang="zh-CN" altLang="en-US" dirty="0"/>
              <a:t>软件设计要遵循一系列的</a:t>
            </a:r>
            <a:r>
              <a:rPr lang="zh-CN" altLang="en-US" dirty="0">
                <a:solidFill>
                  <a:srgbClr val="C00000"/>
                </a:solidFill>
              </a:rPr>
              <a:t>基本原则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模块化、信息隐藏、逐步求精、多视点等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面向对象软件设计</a:t>
            </a:r>
            <a:r>
              <a:rPr lang="zh-CN" altLang="en-US" dirty="0"/>
              <a:t>的特点</a:t>
            </a:r>
            <a:endParaRPr lang="en-US" altLang="zh-CN" dirty="0"/>
          </a:p>
          <a:p>
            <a:pPr lvl="1"/>
            <a:r>
              <a:rPr lang="zh-CN" altLang="en-US" dirty="0"/>
              <a:t>基于面向对象的概念和抽象，系统性的设计支持，具有多种优点</a:t>
            </a:r>
            <a:endParaRPr lang="en-US" altLang="zh-CN" dirty="0"/>
          </a:p>
          <a:p>
            <a:r>
              <a:rPr lang="zh-CN" altLang="en-US" dirty="0"/>
              <a:t>对软件设计结果进行</a:t>
            </a:r>
            <a:r>
              <a:rPr lang="zh-CN" altLang="en-US" dirty="0">
                <a:solidFill>
                  <a:srgbClr val="C00000"/>
                </a:solidFill>
              </a:rPr>
              <a:t>文档化和评审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撰写软件设计文档，发现和纠正软件设计中存在的缺陷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440" y="1053130"/>
            <a:ext cx="11321439" cy="47517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详细设计是要给出可指导编码的</a:t>
            </a:r>
            <a:r>
              <a:rPr lang="zh-CN" altLang="en-US" dirty="0">
                <a:solidFill>
                  <a:srgbClr val="C00000"/>
                </a:solidFill>
              </a:rPr>
              <a:t>详细设计方案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依据软件需求、体系结构和用户界面设计模型</a:t>
            </a:r>
            <a:endParaRPr lang="en-US" altLang="zh-CN" dirty="0"/>
          </a:p>
          <a:p>
            <a:r>
              <a:rPr lang="zh-CN" altLang="en-US" dirty="0"/>
              <a:t>详细设计的</a:t>
            </a:r>
            <a:r>
              <a:rPr lang="zh-CN" altLang="en-US" dirty="0">
                <a:solidFill>
                  <a:srgbClr val="C00000"/>
                </a:solidFill>
              </a:rPr>
              <a:t>任务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用例设计、子系统设计、构件设计、数据设计、类设计</a:t>
            </a:r>
            <a:endParaRPr lang="en-US" altLang="zh-CN" dirty="0"/>
          </a:p>
          <a:p>
            <a:r>
              <a:rPr lang="zh-CN" altLang="en-US" dirty="0"/>
              <a:t>详细设计的</a:t>
            </a:r>
            <a:r>
              <a:rPr lang="zh-CN" altLang="en-US" dirty="0">
                <a:solidFill>
                  <a:srgbClr val="C00000"/>
                </a:solidFill>
              </a:rPr>
              <a:t>描述和输出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UML</a:t>
            </a:r>
            <a:r>
              <a:rPr lang="zh-CN" altLang="en-US" dirty="0"/>
              <a:t>的顺序图、类图、状态图、活动图、构件图等</a:t>
            </a:r>
            <a:endParaRPr lang="en-US" altLang="zh-CN" dirty="0"/>
          </a:p>
          <a:p>
            <a:pPr lvl="1"/>
            <a:r>
              <a:rPr lang="zh-CN" altLang="en-US" dirty="0"/>
              <a:t>软件设计规格说明书</a:t>
            </a:r>
            <a:endParaRPr lang="en-US" altLang="zh-CN" dirty="0"/>
          </a:p>
          <a:p>
            <a:r>
              <a:rPr lang="zh-CN" altLang="en-US" dirty="0"/>
              <a:t>软件设计的</a:t>
            </a:r>
            <a:r>
              <a:rPr lang="zh-CN" altLang="en-US" dirty="0">
                <a:solidFill>
                  <a:srgbClr val="C00000"/>
                </a:solidFill>
              </a:rPr>
              <a:t>整合、验证与评审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形成系统的软件设计方案</a:t>
            </a:r>
            <a:endParaRPr lang="en-US" altLang="zh-CN" dirty="0"/>
          </a:p>
          <a:p>
            <a:pPr lvl="1"/>
            <a:r>
              <a:rPr lang="zh-CN" altLang="en-US" dirty="0"/>
              <a:t>发现和修改方案中存在的问题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705" y="1491292"/>
            <a:ext cx="11228908" cy="38754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542" y="39983"/>
            <a:ext cx="10909212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0703" y="1125538"/>
            <a:ext cx="10920052" cy="5040312"/>
          </a:xfrm>
        </p:spPr>
        <p:txBody>
          <a:bodyPr/>
          <a:lstStyle/>
          <a:p>
            <a:pPr lvl="0"/>
            <a:r>
              <a:rPr lang="zh-CN" altLang="zh-CN" dirty="0">
                <a:solidFill>
                  <a:srgbClr val="C00000"/>
                </a:solidFill>
              </a:rPr>
              <a:t>编写代码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zh-CN" dirty="0"/>
              <a:t>任务是要产生</a:t>
            </a:r>
            <a:r>
              <a:rPr lang="zh-CN" altLang="zh-CN" b="1" dirty="0">
                <a:solidFill>
                  <a:srgbClr val="C00000"/>
                </a:solidFill>
              </a:rPr>
              <a:t>高质量程序代码</a:t>
            </a:r>
            <a:r>
              <a:rPr lang="zh-CN" altLang="en-US" dirty="0"/>
              <a:t>，</a:t>
            </a:r>
            <a:r>
              <a:rPr lang="zh-CN" altLang="zh-CN" dirty="0"/>
              <a:t>完成</a:t>
            </a:r>
            <a:r>
              <a:rPr lang="zh-CN" altLang="zh-CN" b="1" dirty="0">
                <a:solidFill>
                  <a:srgbClr val="C00000"/>
                </a:solidFill>
              </a:rPr>
              <a:t>单元测试</a:t>
            </a:r>
            <a:r>
              <a:rPr lang="zh-CN" altLang="zh-CN" dirty="0"/>
              <a:t>、</a:t>
            </a:r>
            <a:r>
              <a:rPr lang="zh-CN" altLang="zh-CN" b="1" dirty="0">
                <a:solidFill>
                  <a:srgbClr val="C00000"/>
                </a:solidFill>
              </a:rPr>
              <a:t>程序调试</a:t>
            </a:r>
            <a:r>
              <a:rPr lang="zh-CN" altLang="zh-CN" dirty="0"/>
              <a:t>等活动</a:t>
            </a:r>
            <a:endParaRPr lang="en-US" altLang="zh-CN" dirty="0"/>
          </a:p>
          <a:p>
            <a:pPr lvl="1"/>
            <a:r>
              <a:rPr lang="zh-CN" altLang="zh-CN" dirty="0"/>
              <a:t>基于</a:t>
            </a:r>
            <a:r>
              <a:rPr lang="zh-CN" altLang="zh-CN" b="1" dirty="0">
                <a:solidFill>
                  <a:srgbClr val="C00000"/>
                </a:solidFill>
              </a:rPr>
              <a:t>软件设计模型和文档</a:t>
            </a:r>
            <a:r>
              <a:rPr lang="zh-CN" altLang="zh-CN" dirty="0"/>
              <a:t>来编写代码</a:t>
            </a:r>
            <a:endParaRPr lang="en-US" altLang="zh-CN" dirty="0"/>
          </a:p>
          <a:p>
            <a:pPr lvl="1"/>
            <a:r>
              <a:rPr lang="zh-CN" altLang="zh-CN" dirty="0"/>
              <a:t>可以通过重用</a:t>
            </a:r>
            <a:r>
              <a:rPr lang="zh-CN" altLang="zh-CN" b="1" dirty="0">
                <a:solidFill>
                  <a:srgbClr val="C00000"/>
                </a:solidFill>
              </a:rPr>
              <a:t>技术问答社区中的代码片段</a:t>
            </a:r>
            <a:r>
              <a:rPr lang="zh-CN" altLang="zh-CN" dirty="0"/>
              <a:t>来编写程序</a:t>
            </a:r>
            <a:endParaRPr lang="zh-CN" altLang="zh-CN" dirty="0"/>
          </a:p>
          <a:p>
            <a:r>
              <a:rPr lang="zh-CN" altLang="zh-CN" dirty="0"/>
              <a:t>软件缺陷</a:t>
            </a:r>
            <a:r>
              <a:rPr lang="zh-CN" altLang="en-US" dirty="0"/>
              <a:t>、错误和失效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缺陷</a:t>
            </a:r>
            <a:r>
              <a:rPr lang="zh-CN" altLang="zh-CN" dirty="0"/>
              <a:t>是指软件制品中不正确的描述和实现</a:t>
            </a:r>
            <a:r>
              <a:rPr lang="zh-CN" altLang="en-US" dirty="0"/>
              <a:t>，缺陷的内在表现是程序运行</a:t>
            </a:r>
            <a:r>
              <a:rPr lang="zh-CN" altLang="zh-CN" dirty="0"/>
              <a:t>产生不正确或者不期望的运行状态</a:t>
            </a:r>
            <a:r>
              <a:rPr lang="zh-CN" altLang="en-US" dirty="0"/>
              <a:t>（</a:t>
            </a:r>
            <a:r>
              <a:rPr lang="zh-CN" altLang="en-US" b="1" dirty="0">
                <a:solidFill>
                  <a:srgbClr val="C00000"/>
                </a:solidFill>
              </a:rPr>
              <a:t>错误</a:t>
            </a:r>
            <a:r>
              <a:rPr lang="zh-CN" altLang="en-US" dirty="0"/>
              <a:t>）</a:t>
            </a:r>
            <a:r>
              <a:rPr lang="zh-CN" altLang="zh-CN" dirty="0"/>
              <a:t>，</a:t>
            </a:r>
            <a:r>
              <a:rPr lang="zh-CN" altLang="en-US" dirty="0"/>
              <a:t>导致</a:t>
            </a:r>
            <a:r>
              <a:rPr lang="zh-CN" altLang="zh-CN" dirty="0"/>
              <a:t>程序无法为用户提供所需的功能和行为</a:t>
            </a:r>
            <a:r>
              <a:rPr lang="zh-CN" altLang="en-US" dirty="0"/>
              <a:t>（</a:t>
            </a:r>
            <a:r>
              <a:rPr lang="zh-CN" altLang="en-US" b="1" dirty="0">
                <a:solidFill>
                  <a:srgbClr val="C00000"/>
                </a:solidFill>
              </a:rPr>
              <a:t>失效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zh-CN" dirty="0"/>
              <a:t>调试目的是要发现缺陷原因、定位缺陷位置，促进缺陷的修复</a:t>
            </a:r>
            <a:endParaRPr lang="zh-CN" altLang="zh-CN" dirty="0"/>
          </a:p>
          <a:p>
            <a:pPr lvl="0"/>
            <a:r>
              <a:rPr lang="zh-CN" altLang="zh-CN" dirty="0"/>
              <a:t>借助于</a:t>
            </a:r>
            <a:r>
              <a:rPr lang="zh-CN" altLang="zh-CN" dirty="0">
                <a:solidFill>
                  <a:srgbClr val="C00000"/>
                </a:solidFill>
              </a:rPr>
              <a:t>技术问答社区</a:t>
            </a:r>
            <a:r>
              <a:rPr lang="zh-CN" altLang="zh-CN" dirty="0"/>
              <a:t>来解决编码和和调试中遇到的问题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907" y="1483127"/>
            <a:ext cx="11076504" cy="38917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软件测试是为了</a:t>
            </a:r>
            <a:r>
              <a:rPr lang="zh-CN" altLang="en-US" dirty="0">
                <a:solidFill>
                  <a:srgbClr val="C00000"/>
                </a:solidFill>
              </a:rPr>
              <a:t>发现软件中的缺陷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原理是设计和运行测试用例</a:t>
            </a:r>
            <a:endParaRPr lang="en-US" altLang="zh-CN" dirty="0"/>
          </a:p>
          <a:p>
            <a:r>
              <a:rPr lang="zh-CN" altLang="en-US" dirty="0"/>
              <a:t>软件测试方法是</a:t>
            </a:r>
            <a:r>
              <a:rPr lang="zh-CN" altLang="en-US" dirty="0">
                <a:solidFill>
                  <a:srgbClr val="C00000"/>
                </a:solidFill>
              </a:rPr>
              <a:t>设计测试用例、运行测试代码、发现问题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白盒测试、黑盒测试</a:t>
            </a:r>
            <a:endParaRPr lang="en-US" altLang="zh-CN" dirty="0"/>
          </a:p>
          <a:p>
            <a:r>
              <a:rPr lang="zh-CN" altLang="en-US" dirty="0"/>
              <a:t>软件测试的</a:t>
            </a:r>
            <a:r>
              <a:rPr lang="zh-CN" altLang="en-US" dirty="0">
                <a:solidFill>
                  <a:srgbClr val="C00000"/>
                </a:solidFill>
              </a:rPr>
              <a:t>活动、过程和策略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单元测试、集成测试、确认测试</a:t>
            </a:r>
            <a:endParaRPr lang="en-US" altLang="zh-CN" dirty="0"/>
          </a:p>
          <a:p>
            <a:r>
              <a:rPr lang="zh-CN" altLang="en-US" dirty="0"/>
              <a:t>基于测试的结果来进行</a:t>
            </a:r>
            <a:r>
              <a:rPr lang="zh-CN" altLang="en-US" dirty="0">
                <a:solidFill>
                  <a:srgbClr val="C00000"/>
                </a:solidFill>
              </a:rPr>
              <a:t>纠错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测试、调试和纠错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76" y="39983"/>
            <a:ext cx="10910917" cy="645160"/>
          </a:xfrm>
        </p:spPr>
        <p:txBody>
          <a:bodyPr/>
          <a:lstStyle/>
          <a:p>
            <a:r>
              <a:rPr lang="zh-CN" altLang="en-US" dirty="0"/>
              <a:t>本章知识图谱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52" y="1338888"/>
            <a:ext cx="10913214" cy="418022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5" name="Rectangle 11"/>
          <p:cNvSpPr>
            <a:spLocks noGrp="1" noChangeArrowheads="1"/>
          </p:cNvSpPr>
          <p:nvPr>
            <p:ph type="title"/>
          </p:nvPr>
        </p:nvSpPr>
        <p:spPr>
          <a:xfrm>
            <a:off x="551542" y="39983"/>
            <a:ext cx="10909212" cy="64516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164876" name="Rectangle 12"/>
          <p:cNvSpPr>
            <a:spLocks noGrp="1" noChangeArrowheads="1"/>
          </p:cNvSpPr>
          <p:nvPr>
            <p:ph idx="1"/>
          </p:nvPr>
        </p:nvSpPr>
        <p:spPr>
          <a:xfrm>
            <a:off x="540703" y="1125538"/>
            <a:ext cx="10920052" cy="5040312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多样化的软件维护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纠正性、完善性、适应性、预防性维护</a:t>
            </a:r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持续性的软件演化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zh-CN" dirty="0"/>
              <a:t>对软件的大规模功能增强和结构调整，以实现变化的软件需求，或者提高软件系统的质量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软件逻辑老化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zh-CN" dirty="0"/>
              <a:t>解决软件逻辑老化的有效方法之一就是对软件进行重构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软件维护技术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逆向工程、再工程、</a:t>
            </a:r>
            <a:r>
              <a:rPr lang="zh-CN" altLang="zh-CN" dirty="0"/>
              <a:t>代码重组</a:t>
            </a:r>
            <a:r>
              <a:rPr lang="zh-CN" altLang="en-US" dirty="0"/>
              <a:t>、</a:t>
            </a:r>
            <a:r>
              <a:rPr lang="zh-CN" altLang="zh-CN" dirty="0"/>
              <a:t>设计重构</a:t>
            </a:r>
            <a:endParaRPr lang="zh-CN" altLang="en-US" dirty="0"/>
          </a:p>
          <a:p>
            <a:pPr lvl="1"/>
            <a:r>
              <a:rPr lang="zh-CN" altLang="en-US" dirty="0"/>
              <a:t>软件维护会带来新问题，同样需要关注质量因素，进行必要质量保证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WPS 演示</Application>
  <PresentationFormat>宽屏</PresentationFormat>
  <Paragraphs>153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WPS</vt:lpstr>
      <vt:lpstr>PowerPoint 演示文稿</vt:lpstr>
      <vt:lpstr>本章知识图谱</vt:lpstr>
      <vt:lpstr>小结</vt:lpstr>
      <vt:lpstr>本章知识图谱</vt:lpstr>
      <vt:lpstr>小结</vt:lpstr>
      <vt:lpstr>本章知识图谱</vt:lpstr>
      <vt:lpstr>小结</vt:lpstr>
      <vt:lpstr>本章知识图谱</vt:lpstr>
      <vt:lpstr>小结</vt:lpstr>
      <vt:lpstr>本章知识图谱</vt:lpstr>
      <vt:lpstr>小结</vt:lpstr>
      <vt:lpstr>本章知识图谱</vt:lpstr>
      <vt:lpstr>小结</vt:lpstr>
      <vt:lpstr>本章知识图谱</vt:lpstr>
      <vt:lpstr>小结</vt:lpstr>
      <vt:lpstr>本章知识图谱</vt:lpstr>
      <vt:lpstr>小结</vt:lpstr>
      <vt:lpstr>本章知识图谱</vt:lpstr>
      <vt:lpstr>小结</vt:lpstr>
      <vt:lpstr>本章知识图谱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姚勇</cp:lastModifiedBy>
  <cp:revision>3</cp:revision>
  <dcterms:created xsi:type="dcterms:W3CDTF">2023-08-09T12:44:00Z</dcterms:created>
  <dcterms:modified xsi:type="dcterms:W3CDTF">2025-05-29T12:42:04Z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