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sldIdLst>
    <p:sldId id="256" r:id="rId3"/>
    <p:sldId id="260" r:id="rId4"/>
    <p:sldId id="258" r:id="rId5"/>
    <p:sldId id="264" r:id="rId6"/>
    <p:sldId id="263" r:id="rId7"/>
    <p:sldId id="262" r:id="rId8"/>
    <p:sldId id="266" r:id="rId9"/>
    <p:sldId id="269" r:id="rId10"/>
    <p:sldId id="280" r:id="rId11"/>
    <p:sldId id="272" r:id="rId12"/>
    <p:sldId id="271" r:id="rId13"/>
    <p:sldId id="270" r:id="rId14"/>
    <p:sldId id="268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4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618D3-616C-4AA7-B791-935AA3E2111A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4BEBA7-A520-42D9-AF1C-F3E8B0F36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40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1E620-E0E7-4244-9471-D27A115EE3F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23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1E620-E0E7-4244-9471-D27A115EE3F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52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BFA0F4-238C-4843-9F7D-F6824811E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75AD59-C49E-443E-A882-09D28E4C5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D4B7B-AEDD-4CDD-B238-E304DB0E8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C2D-4DC3-45A9-B0AF-31A4DB56036E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7CFCCB-5178-486C-B5E2-5402DDDB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1DCBE4-34E1-426E-8473-4E3A78A1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626A1-1770-49B9-BEE0-04255325E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8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0ACB7-0E5D-4799-BA78-D6FFE0595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314A1-267D-42A1-8BDC-830CD4CC0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9290F6-428C-47EF-8251-309435AFC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C2D-4DC3-45A9-B0AF-31A4DB56036E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C060BD-20D3-4343-A450-ACEE6DC7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71DF45-46D7-425F-A2D1-0196DE885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626A1-1770-49B9-BEE0-04255325E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6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A95226-C1A7-4F88-9554-5DF2D2CE4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DF0F5A-0B55-4593-8B28-2D81ED21F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B95007-7722-4D8D-8041-06C152BE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C2D-4DC3-45A9-B0AF-31A4DB56036E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2E02BC-23AE-4F30-A22E-9E07B61E4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55C8F-C3B2-457B-B2BA-77202D9F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626A1-1770-49B9-BEE0-04255325E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8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E0009C-0424-4479-A785-F49169B81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7F8DA8-3775-4EF5-9512-D380E849F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35C672-92C7-46A6-AC3A-2980CE9B0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333D05-AF04-440D-9117-E14BC11D7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C2D-4DC3-45A9-B0AF-31A4DB56036E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9558C6-5B63-4E20-9DB5-6AC5416D2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1206E4-54EE-4AAE-9C96-266E5CCA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626A1-1770-49B9-BEE0-04255325E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0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4908B-0D87-49E6-9811-A1EF0AB95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CE4BE0-4A5E-48F0-A5AF-4F8251421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169825-3141-43BD-87D6-076F5E58C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ED7B5D-5ABA-4529-95D1-2CEC6E350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EE7639-918E-46DF-8D8C-1E7BE879E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14A93AA-DF58-4C05-AAEF-11DAF379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C2D-4DC3-45A9-B0AF-31A4DB56036E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F0AE93-4FB6-4651-A727-557992CD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C00DB2-46D8-4311-AB13-2C7B2C5C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626A1-1770-49B9-BEE0-04255325E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58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FD5D5-FFC8-4675-A2D8-3ACADCF5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9391DF-D4B8-4D0A-B590-C6B9B065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C2D-4DC3-45A9-B0AF-31A4DB56036E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587612-44BA-4030-B8F0-558E308A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5BAC5A-8E40-4FEE-B1C1-C191EBCC9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626A1-1770-49B9-BEE0-04255325E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8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814E15-3857-4F68-988E-8775F485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C2D-4DC3-45A9-B0AF-31A4DB56036E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C8D228-DFCE-443F-922E-D7914B0FE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B7AC2-EA62-4138-818A-83832D6E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626A1-1770-49B9-BEE0-04255325E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7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D47FB-95D0-4B6E-86ED-7E48EA039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E1DA09-3C1B-4627-8666-C6FEA196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9D627F-235B-4B1C-BCD0-C3A07DEA6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889CDB-24A4-44A7-A92E-8E4EAF12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C2D-4DC3-45A9-B0AF-31A4DB56036E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A20955-5EB4-46FE-A2E2-9E7181017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9B5775-4B0D-46FA-A2C3-60DB91A7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626A1-1770-49B9-BEE0-04255325E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98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73333-5AB9-4AA1-A788-F773FE92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A7E489-F1D1-4924-B06E-0925E8ED0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95549A-3038-4626-8E6D-5608A259B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E01CD1-697A-48E2-B529-83A024E7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C2D-4DC3-45A9-B0AF-31A4DB56036E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FE2297-ABE9-4A37-9C6A-9C4C9EAD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4FCAA1-2715-452B-9E4B-7DFCC86EF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626A1-1770-49B9-BEE0-04255325E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8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3797B6-D584-45C2-B344-A89923540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FF8495-A5FE-47B3-A62E-DD3280EDB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103D4-7267-47E3-8C8F-96BC7CE7A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C2D-4DC3-45A9-B0AF-31A4DB56036E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5AED7-188F-4B11-9AFF-53E839569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C31A10-C324-4A53-85E2-0D5154124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626A1-1770-49B9-BEE0-04255325E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661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CC6FED-8833-4A56-8409-6E8882A17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E65CC9-AE73-4AE8-8382-EC28D5BD8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DB1121-D6E5-4384-8A8F-F1CA7CB23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C2D-4DC3-45A9-B0AF-31A4DB56036E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B92927-0904-4900-A011-9784B55F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ADD0A8-7F9C-42C4-AA92-38CCAE46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626A1-1770-49B9-BEE0-04255325E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55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67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861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7468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014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437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67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67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49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154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8602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67"/>
            </a:lvl2pPr>
            <a:lvl3pPr marL="914377" indent="0">
              <a:buNone/>
              <a:defRPr sz="1200"/>
            </a:lvl3pPr>
            <a:lvl4pPr marL="1371566" indent="0">
              <a:buNone/>
              <a:defRPr sz="1067"/>
            </a:lvl4pPr>
            <a:lvl5pPr marL="1828754" indent="0">
              <a:buNone/>
              <a:defRPr sz="1067"/>
            </a:lvl5pPr>
            <a:lvl6pPr marL="2285943" indent="0">
              <a:buNone/>
              <a:defRPr sz="1067"/>
            </a:lvl6pPr>
            <a:lvl7pPr marL="2743131" indent="0">
              <a:buNone/>
              <a:defRPr sz="1067"/>
            </a:lvl7pPr>
            <a:lvl8pPr marL="3200320" indent="0">
              <a:buNone/>
              <a:defRPr sz="1067"/>
            </a:lvl8pPr>
            <a:lvl9pPr marL="3657509" indent="0">
              <a:buNone/>
              <a:defRPr sz="10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207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67"/>
            </a:lvl2pPr>
            <a:lvl3pPr marL="914377" indent="0">
              <a:buNone/>
              <a:defRPr sz="1200"/>
            </a:lvl3pPr>
            <a:lvl4pPr marL="1371566" indent="0">
              <a:buNone/>
              <a:defRPr sz="1067"/>
            </a:lvl4pPr>
            <a:lvl5pPr marL="1828754" indent="0">
              <a:buNone/>
              <a:defRPr sz="1067"/>
            </a:lvl5pPr>
            <a:lvl6pPr marL="2285943" indent="0">
              <a:buNone/>
              <a:defRPr sz="1067"/>
            </a:lvl6pPr>
            <a:lvl7pPr marL="2743131" indent="0">
              <a:buNone/>
              <a:defRPr sz="1067"/>
            </a:lvl7pPr>
            <a:lvl8pPr marL="3200320" indent="0">
              <a:buNone/>
              <a:defRPr sz="1067"/>
            </a:lvl8pPr>
            <a:lvl9pPr marL="3657509" indent="0">
              <a:buNone/>
              <a:defRPr sz="10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6877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8159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42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DC848A-BB72-4434-AA93-12F37F4AD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B37C58-027B-40E7-833F-375E01A9F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228BFC-E856-4FDC-B1D0-D0055A2A08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7FC2D-4DC3-45A9-B0AF-31A4DB56036E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F5AD0A-4018-4D66-8D8B-D93C7480C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AC8FA3-1601-451B-8291-291804D95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626A1-1770-49B9-BEE0-04255325E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1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22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NUL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pic>
        <p:nvPicPr>
          <p:cNvPr id="1026" name="Picture 2" descr="F:\案例二\394\1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9" t="29347" r="41232" b="38285"/>
          <a:stretch/>
        </p:blipFill>
        <p:spPr bwMode="auto">
          <a:xfrm>
            <a:off x="3903808" y="0"/>
            <a:ext cx="12192000" cy="6858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46"/>
          <p:cNvSpPr/>
          <p:nvPr/>
        </p:nvSpPr>
        <p:spPr>
          <a:xfrm>
            <a:off x="299944" y="3991525"/>
            <a:ext cx="6970492" cy="397479"/>
          </a:xfrm>
          <a:prstGeom prst="rect">
            <a:avLst/>
          </a:prstGeom>
        </p:spPr>
        <p:txBody>
          <a:bodyPr wrap="none" lIns="68577" tIns="34289" rIns="68577" bIns="34289">
            <a:spAutoFit/>
          </a:bodyPr>
          <a:lstStyle/>
          <a:p>
            <a:pPr defTabSz="914377">
              <a:defRPr/>
            </a:pPr>
            <a:r>
              <a:rPr lang="en-US" altLang="zh-CN" sz="2133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2020</a:t>
            </a:r>
            <a:r>
              <a:rPr lang="zh-CN" altLang="en-US" sz="2133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级空间科学技术学院 钱学森空间科学实验班 陈聪奕</a:t>
            </a:r>
            <a:endParaRPr lang="id-ID" sz="2133" dirty="0">
              <a:solidFill>
                <a:prstClr val="black">
                  <a:lumMod val="75000"/>
                  <a:lumOff val="25000"/>
                </a:prst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1" name="Rectangle 48"/>
          <p:cNvSpPr/>
          <p:nvPr/>
        </p:nvSpPr>
        <p:spPr bwMode="auto">
          <a:xfrm>
            <a:off x="218704" y="3095575"/>
            <a:ext cx="6187817" cy="748988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defTabSz="914377">
              <a:defRPr/>
            </a:pPr>
            <a:r>
              <a:rPr lang="zh-CN" altLang="en-US" sz="4267" b="1" spc="-113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  <a:cs typeface="Open Sans Light" panose="020B0306030504020204" pitchFamily="34" charset="0"/>
              </a:rPr>
              <a:t>数学建模零基础入门指引</a:t>
            </a:r>
            <a:endParaRPr lang="id-ID" sz="4267" b="1" spc="-113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  <a:cs typeface="Open Sans Light" panose="020B0306030504020204" pitchFamily="34" charset="0"/>
            </a:endParaRPr>
          </a:p>
        </p:txBody>
      </p:sp>
      <p:sp>
        <p:nvSpPr>
          <p:cNvPr id="17" name="Rectangle 46"/>
          <p:cNvSpPr/>
          <p:nvPr/>
        </p:nvSpPr>
        <p:spPr>
          <a:xfrm>
            <a:off x="294903" y="6339443"/>
            <a:ext cx="1138767" cy="284691"/>
          </a:xfrm>
          <a:prstGeom prst="rect">
            <a:avLst/>
          </a:prstGeom>
        </p:spPr>
        <p:txBody>
          <a:bodyPr wrap="none" lIns="68577" tIns="34289" rIns="68577" bIns="34289">
            <a:spAutoFit/>
          </a:bodyPr>
          <a:lstStyle/>
          <a:p>
            <a:pPr defTabSz="914377">
              <a:defRPr/>
            </a:pP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12/15/2023</a:t>
            </a:r>
            <a:endParaRPr lang="id-ID" sz="1400" dirty="0">
              <a:solidFill>
                <a:prstClr val="black">
                  <a:lumMod val="75000"/>
                  <a:lumOff val="25000"/>
                </a:prst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grpSp>
        <p:nvGrpSpPr>
          <p:cNvPr id="7" name="组 12">
            <a:extLst>
              <a:ext uri="{FF2B5EF4-FFF2-40B4-BE49-F238E27FC236}">
                <a16:creationId xmlns:a16="http://schemas.microsoft.com/office/drawing/2014/main" id="{03A36A1D-6471-4B92-BA37-ECEA19D83FBD}"/>
              </a:ext>
            </a:extLst>
          </p:cNvPr>
          <p:cNvGrpSpPr/>
          <p:nvPr/>
        </p:nvGrpSpPr>
        <p:grpSpPr>
          <a:xfrm>
            <a:off x="218704" y="233866"/>
            <a:ext cx="2003288" cy="1384622"/>
            <a:chOff x="7837714" y="338406"/>
            <a:chExt cx="1290373" cy="921814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3993D85-725A-41A3-8CA5-8DFA85B844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594" r="71827"/>
            <a:stretch/>
          </p:blipFill>
          <p:spPr>
            <a:xfrm>
              <a:off x="8205314" y="338406"/>
              <a:ext cx="555172" cy="460907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10538A9-77FF-4799-9BBD-540EB13649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491"/>
            <a:stretch/>
          </p:blipFill>
          <p:spPr>
            <a:xfrm>
              <a:off x="7837714" y="799313"/>
              <a:ext cx="1290373" cy="4609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0569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111E6D1E-00C2-46EB-AEEF-7C622AFFA5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9" name="组合 8"/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12" name="Freeform 116"/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14" name="矩形 13"/>
          <p:cNvSpPr/>
          <p:nvPr/>
        </p:nvSpPr>
        <p:spPr>
          <a:xfrm>
            <a:off x="1285691" y="483099"/>
            <a:ext cx="45744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个人情况</a:t>
            </a:r>
          </a:p>
        </p:txBody>
      </p:sp>
      <p:pic>
        <p:nvPicPr>
          <p:cNvPr id="15" name="Picture 2" descr="F:\案例二\394\1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" t="29347" r="41232" b="70030"/>
          <a:stretch/>
        </p:blipFill>
        <p:spPr bwMode="auto">
          <a:xfrm>
            <a:off x="0" y="6810000"/>
            <a:ext cx="12192000" cy="72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 Placeholder 33"/>
          <p:cNvSpPr txBox="1">
            <a:spLocks/>
          </p:cNvSpPr>
          <p:nvPr/>
        </p:nvSpPr>
        <p:spPr>
          <a:xfrm>
            <a:off x="818239" y="4105962"/>
            <a:ext cx="7005019" cy="92943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国际大学生数学建模竞赛特等题名奖（突出特长）</a:t>
            </a:r>
            <a:endParaRPr lang="en-AU" sz="20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 Placeholder 33">
            <a:extLst>
              <a:ext uri="{FF2B5EF4-FFF2-40B4-BE49-F238E27FC236}">
                <a16:creationId xmlns:a16="http://schemas.microsoft.com/office/drawing/2014/main" id="{DA2F343A-14BB-4715-AA21-318048CE90E2}"/>
              </a:ext>
            </a:extLst>
          </p:cNvPr>
          <p:cNvSpPr txBox="1">
            <a:spLocks/>
          </p:cNvSpPr>
          <p:nvPr/>
        </p:nvSpPr>
        <p:spPr>
          <a:xfrm>
            <a:off x="1546394" y="3254030"/>
            <a:ext cx="3496637" cy="4201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数学建模类竞赛成果：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370FC2C5-D557-4CFC-9F3B-3766903FAD1A}"/>
              </a:ext>
            </a:extLst>
          </p:cNvPr>
          <p:cNvSpPr txBox="1">
            <a:spLocks/>
          </p:cNvSpPr>
          <p:nvPr/>
        </p:nvSpPr>
        <p:spPr>
          <a:xfrm>
            <a:off x="7038405" y="4069074"/>
            <a:ext cx="5065057" cy="542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67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全国大学生市场调查与分析大赛陕西赛区一等奖</a:t>
            </a:r>
            <a:endParaRPr lang="en-AU" sz="1867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2C2DEAF0-6AA5-48D7-A5B8-16843DCB9423}"/>
              </a:ext>
            </a:extLst>
          </p:cNvPr>
          <p:cNvSpPr txBox="1">
            <a:spLocks/>
          </p:cNvSpPr>
          <p:nvPr/>
        </p:nvSpPr>
        <p:spPr>
          <a:xfrm>
            <a:off x="7409797" y="4949803"/>
            <a:ext cx="4322271" cy="3458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67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全国大学生统计建模大赛陕西省二等奖</a:t>
            </a:r>
            <a:endParaRPr lang="en-AU" sz="1867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953E943C-D168-459B-80F5-4753D63608E6}"/>
              </a:ext>
            </a:extLst>
          </p:cNvPr>
          <p:cNvSpPr txBox="1">
            <a:spLocks/>
          </p:cNvSpPr>
          <p:nvPr/>
        </p:nvSpPr>
        <p:spPr>
          <a:xfrm>
            <a:off x="818239" y="5860385"/>
            <a:ext cx="5827110" cy="36545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西安电子科技大学“招行杯”数学建模竞赛二等奖</a:t>
            </a:r>
            <a:endParaRPr lang="en-AU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 Placeholder 33">
            <a:extLst>
              <a:ext uri="{FF2B5EF4-FFF2-40B4-BE49-F238E27FC236}">
                <a16:creationId xmlns:a16="http://schemas.microsoft.com/office/drawing/2014/main" id="{9CDFE276-5E3A-4053-805B-7C0B3D020462}"/>
              </a:ext>
            </a:extLst>
          </p:cNvPr>
          <p:cNvSpPr txBox="1">
            <a:spLocks/>
          </p:cNvSpPr>
          <p:nvPr/>
        </p:nvSpPr>
        <p:spPr>
          <a:xfrm>
            <a:off x="764009" y="4972384"/>
            <a:ext cx="7005019" cy="92943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全国大学生数学建模竞赛国家级一等奖（突出特长）</a:t>
            </a:r>
            <a:endParaRPr lang="en-AU" sz="20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22BA00D8-5355-4D52-A164-0B2D9AC93541}"/>
              </a:ext>
            </a:extLst>
          </p:cNvPr>
          <p:cNvSpPr txBox="1">
            <a:spLocks/>
          </p:cNvSpPr>
          <p:nvPr/>
        </p:nvSpPr>
        <p:spPr>
          <a:xfrm>
            <a:off x="7888745" y="3219439"/>
            <a:ext cx="3496637" cy="4201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其他建模类竞赛成果：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 Placeholder 33">
            <a:extLst>
              <a:ext uri="{FF2B5EF4-FFF2-40B4-BE49-F238E27FC236}">
                <a16:creationId xmlns:a16="http://schemas.microsoft.com/office/drawing/2014/main" id="{5CA67652-5B3E-4C7C-A08C-48DB455B3BED}"/>
              </a:ext>
            </a:extLst>
          </p:cNvPr>
          <p:cNvSpPr txBox="1">
            <a:spLocks/>
          </p:cNvSpPr>
          <p:nvPr/>
        </p:nvSpPr>
        <p:spPr>
          <a:xfrm>
            <a:off x="3838479" y="1132739"/>
            <a:ext cx="7473367" cy="54772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西安电子科技大学    钱学森空间科学实验班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本科</a:t>
            </a:r>
            <a:endParaRPr lang="en-US" altLang="zh-CN" sz="20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	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     南京大学             集成电路科学与工程      学术型硕士</a:t>
            </a:r>
            <a:endParaRPr lang="en-AU" sz="20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38F140F4-DE6A-4D72-BBFE-A04EB8AF0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196" y="2219780"/>
            <a:ext cx="479964" cy="60741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D9FD206-2FCF-49C9-A4AF-C25772E50E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r="970" b="18660"/>
          <a:stretch/>
        </p:blipFill>
        <p:spPr>
          <a:xfrm>
            <a:off x="2705994" y="1196325"/>
            <a:ext cx="604957" cy="54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38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zh-CN" altLang="en-US" sz="2400"/>
          </a:p>
        </p:txBody>
      </p:sp>
      <p:pic>
        <p:nvPicPr>
          <p:cNvPr id="5" name="Picture 2" descr="F:\案例二\394\1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6" t="53859" r="38373" b="13773"/>
          <a:stretch/>
        </p:blipFill>
        <p:spPr bwMode="auto">
          <a:xfrm>
            <a:off x="1028624" y="-40"/>
            <a:ext cx="11163376" cy="6858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F:\案例二\394\1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6" t="53859" r="38006" b="13773"/>
          <a:stretch/>
        </p:blipFill>
        <p:spPr bwMode="auto">
          <a:xfrm rot="10800000">
            <a:off x="-1" y="1"/>
            <a:ext cx="11239497" cy="6858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5259651" y="1471952"/>
            <a:ext cx="1672699" cy="1672699"/>
            <a:chOff x="2494238" y="1545926"/>
            <a:chExt cx="1170130" cy="1170130"/>
          </a:xfrm>
        </p:grpSpPr>
        <p:sp>
          <p:nvSpPr>
            <p:cNvPr id="8" name="椭圆 7"/>
            <p:cNvSpPr/>
            <p:nvPr/>
          </p:nvSpPr>
          <p:spPr>
            <a:xfrm>
              <a:off x="2494238" y="1545926"/>
              <a:ext cx="1170130" cy="1170130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9" name="椭圆 8"/>
            <p:cNvSpPr/>
            <p:nvPr/>
          </p:nvSpPr>
          <p:spPr>
            <a:xfrm>
              <a:off x="2633023" y="1684711"/>
              <a:ext cx="892559" cy="892559"/>
            </a:xfrm>
            <a:prstGeom prst="ellipse">
              <a:avLst/>
            </a:prstGeom>
            <a:solidFill>
              <a:srgbClr val="0A4776"/>
            </a:solidFill>
            <a:ln>
              <a:noFill/>
            </a:ln>
            <a:effectLst>
              <a:innerShdw blurRad="63500" dist="50800" dir="18900000">
                <a:prstClr val="black">
                  <a:alpha val="3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0" name="矩形 9"/>
          <p:cNvSpPr/>
          <p:nvPr/>
        </p:nvSpPr>
        <p:spPr>
          <a:xfrm>
            <a:off x="3808757" y="3428960"/>
            <a:ext cx="4574480" cy="748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267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数模基本常识</a:t>
            </a:r>
          </a:p>
        </p:txBody>
      </p:sp>
      <p:sp>
        <p:nvSpPr>
          <p:cNvPr id="12" name="Freeform 116"/>
          <p:cNvSpPr>
            <a:spLocks noEditPoints="1"/>
          </p:cNvSpPr>
          <p:nvPr/>
        </p:nvSpPr>
        <p:spPr bwMode="auto">
          <a:xfrm>
            <a:off x="5799421" y="2069162"/>
            <a:ext cx="593152" cy="478279"/>
          </a:xfrm>
          <a:custGeom>
            <a:avLst/>
            <a:gdLst/>
            <a:ahLst/>
            <a:cxnLst>
              <a:cxn ang="0">
                <a:pos x="55" y="27"/>
              </a:cxn>
              <a:cxn ang="0">
                <a:pos x="54" y="27"/>
              </a:cxn>
              <a:cxn ang="0">
                <a:pos x="54" y="27"/>
              </a:cxn>
              <a:cxn ang="0">
                <a:pos x="53" y="27"/>
              </a:cxn>
              <a:cxn ang="0">
                <a:pos x="28" y="6"/>
              </a:cxn>
              <a:cxn ang="0">
                <a:pos x="4" y="27"/>
              </a:cxn>
              <a:cxn ang="0">
                <a:pos x="3" y="27"/>
              </a:cxn>
              <a:cxn ang="0">
                <a:pos x="2" y="27"/>
              </a:cxn>
              <a:cxn ang="0">
                <a:pos x="0" y="24"/>
              </a:cxn>
              <a:cxn ang="0">
                <a:pos x="0" y="23"/>
              </a:cxn>
              <a:cxn ang="0">
                <a:pos x="26" y="1"/>
              </a:cxn>
              <a:cxn ang="0">
                <a:pos x="31" y="1"/>
              </a:cxn>
              <a:cxn ang="0">
                <a:pos x="40" y="8"/>
              </a:cxn>
              <a:cxn ang="0">
                <a:pos x="40" y="1"/>
              </a:cxn>
              <a:cxn ang="0">
                <a:pos x="41" y="0"/>
              </a:cxn>
              <a:cxn ang="0">
                <a:pos x="48" y="0"/>
              </a:cxn>
              <a:cxn ang="0">
                <a:pos x="49" y="1"/>
              </a:cxn>
              <a:cxn ang="0">
                <a:pos x="49" y="16"/>
              </a:cxn>
              <a:cxn ang="0">
                <a:pos x="57" y="23"/>
              </a:cxn>
              <a:cxn ang="0">
                <a:pos x="57" y="24"/>
              </a:cxn>
              <a:cxn ang="0">
                <a:pos x="55" y="27"/>
              </a:cxn>
              <a:cxn ang="0">
                <a:pos x="49" y="44"/>
              </a:cxn>
              <a:cxn ang="0">
                <a:pos x="47" y="46"/>
              </a:cxn>
              <a:cxn ang="0">
                <a:pos x="33" y="46"/>
              </a:cxn>
              <a:cxn ang="0">
                <a:pos x="33" y="32"/>
              </a:cxn>
              <a:cxn ang="0">
                <a:pos x="24" y="32"/>
              </a:cxn>
              <a:cxn ang="0">
                <a:pos x="24" y="46"/>
              </a:cxn>
              <a:cxn ang="0">
                <a:pos x="10" y="46"/>
              </a:cxn>
              <a:cxn ang="0">
                <a:pos x="8" y="44"/>
              </a:cxn>
              <a:cxn ang="0">
                <a:pos x="8" y="27"/>
              </a:cxn>
              <a:cxn ang="0">
                <a:pos x="8" y="26"/>
              </a:cxn>
              <a:cxn ang="0">
                <a:pos x="28" y="9"/>
              </a:cxn>
              <a:cxn ang="0">
                <a:pos x="49" y="26"/>
              </a:cxn>
              <a:cxn ang="0">
                <a:pos x="49" y="27"/>
              </a:cxn>
              <a:cxn ang="0">
                <a:pos x="49" y="44"/>
              </a:cxn>
            </a:cxnLst>
            <a:rect l="0" t="0" r="r" b="b"/>
            <a:pathLst>
              <a:path w="57" h="46">
                <a:moveTo>
                  <a:pt x="55" y="27"/>
                </a:moveTo>
                <a:cubicBezTo>
                  <a:pt x="55" y="27"/>
                  <a:pt x="54" y="27"/>
                  <a:pt x="54" y="27"/>
                </a:cubicBezTo>
                <a:cubicBezTo>
                  <a:pt x="54" y="27"/>
                  <a:pt x="54" y="27"/>
                  <a:pt x="54" y="27"/>
                </a:cubicBezTo>
                <a:cubicBezTo>
                  <a:pt x="54" y="27"/>
                  <a:pt x="53" y="27"/>
                  <a:pt x="53" y="27"/>
                </a:cubicBezTo>
                <a:cubicBezTo>
                  <a:pt x="28" y="6"/>
                  <a:pt x="28" y="6"/>
                  <a:pt x="28" y="6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3" y="27"/>
                  <a:pt x="3" y="27"/>
                </a:cubicBezTo>
                <a:cubicBezTo>
                  <a:pt x="3" y="27"/>
                  <a:pt x="2" y="27"/>
                  <a:pt x="2" y="27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0" y="23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30" y="0"/>
                  <a:pt x="31" y="1"/>
                </a:cubicBezTo>
                <a:cubicBezTo>
                  <a:pt x="40" y="8"/>
                  <a:pt x="40" y="8"/>
                  <a:pt x="40" y="8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1"/>
                  <a:pt x="40" y="0"/>
                  <a:pt x="4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49" y="1"/>
                  <a:pt x="49" y="1"/>
                </a:cubicBezTo>
                <a:cubicBezTo>
                  <a:pt x="49" y="16"/>
                  <a:pt x="49" y="16"/>
                  <a:pt x="49" y="16"/>
                </a:cubicBezTo>
                <a:cubicBezTo>
                  <a:pt x="57" y="23"/>
                  <a:pt x="57" y="23"/>
                  <a:pt x="57" y="23"/>
                </a:cubicBezTo>
                <a:cubicBezTo>
                  <a:pt x="57" y="23"/>
                  <a:pt x="57" y="24"/>
                  <a:pt x="57" y="24"/>
                </a:cubicBezTo>
                <a:lnTo>
                  <a:pt x="55" y="27"/>
                </a:lnTo>
                <a:close/>
                <a:moveTo>
                  <a:pt x="49" y="44"/>
                </a:moveTo>
                <a:cubicBezTo>
                  <a:pt x="49" y="45"/>
                  <a:pt x="48" y="46"/>
                  <a:pt x="47" y="46"/>
                </a:cubicBezTo>
                <a:cubicBezTo>
                  <a:pt x="33" y="46"/>
                  <a:pt x="33" y="46"/>
                  <a:pt x="33" y="46"/>
                </a:cubicBezTo>
                <a:cubicBezTo>
                  <a:pt x="33" y="32"/>
                  <a:pt x="33" y="32"/>
                  <a:pt x="33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46"/>
                  <a:pt x="24" y="46"/>
                  <a:pt x="24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9" y="46"/>
                  <a:pt x="8" y="45"/>
                  <a:pt x="8" y="44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6"/>
                  <a:pt x="8" y="26"/>
                </a:cubicBezTo>
                <a:cubicBezTo>
                  <a:pt x="28" y="9"/>
                  <a:pt x="28" y="9"/>
                  <a:pt x="28" y="9"/>
                </a:cubicBezTo>
                <a:cubicBezTo>
                  <a:pt x="49" y="26"/>
                  <a:pt x="49" y="26"/>
                  <a:pt x="49" y="26"/>
                </a:cubicBezTo>
                <a:cubicBezTo>
                  <a:pt x="49" y="26"/>
                  <a:pt x="49" y="27"/>
                  <a:pt x="49" y="27"/>
                </a:cubicBezTo>
                <a:lnTo>
                  <a:pt x="49" y="4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65811" tIns="82905" rIns="165811" bIns="82905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grpSp>
        <p:nvGrpSpPr>
          <p:cNvPr id="13" name="组 12"/>
          <p:cNvGrpSpPr/>
          <p:nvPr/>
        </p:nvGrpSpPr>
        <p:grpSpPr>
          <a:xfrm>
            <a:off x="5235749" y="4399846"/>
            <a:ext cx="1720497" cy="1229085"/>
            <a:chOff x="7837714" y="338406"/>
            <a:chExt cx="1290373" cy="921814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594" r="71827"/>
            <a:stretch/>
          </p:blipFill>
          <p:spPr>
            <a:xfrm>
              <a:off x="8205314" y="338406"/>
              <a:ext cx="555172" cy="460907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491"/>
            <a:stretch/>
          </p:blipFill>
          <p:spPr>
            <a:xfrm>
              <a:off x="7837714" y="799313"/>
              <a:ext cx="1290373" cy="4609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6181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96335021-321A-4725-A362-DF1A219FA4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9" name="组合 8"/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12" name="Freeform 116"/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14" name="矩形 13"/>
          <p:cNvSpPr/>
          <p:nvPr/>
        </p:nvSpPr>
        <p:spPr>
          <a:xfrm>
            <a:off x="1285690" y="483099"/>
            <a:ext cx="61014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国际大学生数学建模竞赛（美赛）</a:t>
            </a:r>
          </a:p>
        </p:txBody>
      </p:sp>
      <p:pic>
        <p:nvPicPr>
          <p:cNvPr id="15" name="Picture 2" descr="F:\案例二\394\1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" t="29347" r="41232" b="70030"/>
          <a:stretch/>
        </p:blipFill>
        <p:spPr bwMode="auto">
          <a:xfrm>
            <a:off x="0" y="6810000"/>
            <a:ext cx="12192000" cy="72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083C055B-62BB-4078-86A7-E09C3D168671}"/>
              </a:ext>
            </a:extLst>
          </p:cNvPr>
          <p:cNvSpPr txBox="1">
            <a:spLocks/>
          </p:cNvSpPr>
          <p:nvPr/>
        </p:nvSpPr>
        <p:spPr>
          <a:xfrm>
            <a:off x="1716305" y="1492657"/>
            <a:ext cx="4057205" cy="312037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2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E057CA3A-79A9-4843-A19C-145F5FDD2A18}"/>
              </a:ext>
            </a:extLst>
          </p:cNvPr>
          <p:cNvSpPr txBox="1">
            <a:spLocks/>
          </p:cNvSpPr>
          <p:nvPr/>
        </p:nvSpPr>
        <p:spPr>
          <a:xfrm>
            <a:off x="459433" y="1379491"/>
            <a:ext cx="5827110" cy="36545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举办时间：每年的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月中下旬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531F2957-D8FE-49A7-9B77-B509DC920E5A}"/>
              </a:ext>
            </a:extLst>
          </p:cNvPr>
          <p:cNvSpPr txBox="1">
            <a:spLocks/>
          </p:cNvSpPr>
          <p:nvPr/>
        </p:nvSpPr>
        <p:spPr>
          <a:xfrm>
            <a:off x="459433" y="1856594"/>
            <a:ext cx="6469123" cy="3179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持续时间：第一天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00——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第五天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00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天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小时）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 Placeholder 33">
            <a:extLst>
              <a:ext uri="{FF2B5EF4-FFF2-40B4-BE49-F238E27FC236}">
                <a16:creationId xmlns:a16="http://schemas.microsoft.com/office/drawing/2014/main" id="{923741AF-BFF3-4629-AB3B-FF7A87373659}"/>
              </a:ext>
            </a:extLst>
          </p:cNvPr>
          <p:cNvSpPr txBox="1">
            <a:spLocks/>
          </p:cNvSpPr>
          <p:nvPr/>
        </p:nvSpPr>
        <p:spPr>
          <a:xfrm>
            <a:off x="459431" y="2824164"/>
            <a:ext cx="8401105" cy="3262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奖项设置：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特等奖（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Outstanding Winner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O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奖）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不到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1%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（直通突出特长）</a:t>
            </a:r>
            <a:endParaRPr lang="en-US" altLang="zh-CN" sz="20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	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62E4CA11-C1A5-4EF4-B6E8-AB11C8D71D6D}"/>
              </a:ext>
            </a:extLst>
          </p:cNvPr>
          <p:cNvSpPr txBox="1">
            <a:spLocks/>
          </p:cNvSpPr>
          <p:nvPr/>
        </p:nvSpPr>
        <p:spPr>
          <a:xfrm>
            <a:off x="459432" y="4034556"/>
            <a:ext cx="8972580" cy="35961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一等奖（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Meritorious Winner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奖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——7%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国赛国二以上合成突出特长）</a:t>
            </a:r>
            <a:endParaRPr lang="en-US" altLang="zh-CN" sz="20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	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84C5E1A6-FD9E-4F02-8E0D-4BEC22E9F884}"/>
              </a:ext>
            </a:extLst>
          </p:cNvPr>
          <p:cNvSpPr txBox="1">
            <a:spLocks/>
          </p:cNvSpPr>
          <p:nvPr/>
        </p:nvSpPr>
        <p:spPr>
          <a:xfrm>
            <a:off x="459431" y="4913989"/>
            <a:ext cx="9500808" cy="316176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奖及以上获奖率超过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30%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，可用于奖学金综测加分以及大多数学院的保研加分。</a:t>
            </a:r>
            <a:r>
              <a:rPr 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433D512D-1D27-4953-A995-EEC6018B9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19417"/>
            <a:ext cx="3630168" cy="1794919"/>
          </a:xfrm>
          <a:prstGeom prst="rect">
            <a:avLst/>
          </a:prstGeom>
        </p:spPr>
      </p:pic>
      <p:sp>
        <p:nvSpPr>
          <p:cNvPr id="28" name="Text Placeholder 33">
            <a:extLst>
              <a:ext uri="{FF2B5EF4-FFF2-40B4-BE49-F238E27FC236}">
                <a16:creationId xmlns:a16="http://schemas.microsoft.com/office/drawing/2014/main" id="{29A0ECB3-53B8-479B-9594-283BB62EBA1D}"/>
              </a:ext>
            </a:extLst>
          </p:cNvPr>
          <p:cNvSpPr txBox="1">
            <a:spLocks/>
          </p:cNvSpPr>
          <p:nvPr/>
        </p:nvSpPr>
        <p:spPr>
          <a:xfrm>
            <a:off x="459431" y="3594053"/>
            <a:ext cx="8401105" cy="3262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特等提名等奖（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Finalist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F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奖）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——2%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（直通突出特长）</a:t>
            </a:r>
            <a:endParaRPr lang="en-US" altLang="zh-CN" sz="20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	</a:t>
            </a:r>
          </a:p>
        </p:txBody>
      </p:sp>
      <p:sp>
        <p:nvSpPr>
          <p:cNvPr id="31" name="Text Placeholder 33">
            <a:extLst>
              <a:ext uri="{FF2B5EF4-FFF2-40B4-BE49-F238E27FC236}">
                <a16:creationId xmlns:a16="http://schemas.microsoft.com/office/drawing/2014/main" id="{14D23687-0C7C-4701-85DA-C77A51C723D0}"/>
              </a:ext>
            </a:extLst>
          </p:cNvPr>
          <p:cNvSpPr txBox="1">
            <a:spLocks/>
          </p:cNvSpPr>
          <p:nvPr/>
        </p:nvSpPr>
        <p:spPr>
          <a:xfrm>
            <a:off x="459433" y="4457144"/>
            <a:ext cx="8972580" cy="35961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二等奖（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Honorable Winner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奖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——25%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	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D077AE2-4BF3-45D3-9AA4-90658E1F119E}"/>
              </a:ext>
            </a:extLst>
          </p:cNvPr>
          <p:cNvSpPr txBox="1">
            <a:spLocks/>
          </p:cNvSpPr>
          <p:nvPr/>
        </p:nvSpPr>
        <p:spPr>
          <a:xfrm>
            <a:off x="459431" y="5342237"/>
            <a:ext cx="10883676" cy="45261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关于突出特长：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如果获得过被认定为“突出特长”模块的竞赛，在最后计算保研排名时，直接在课内成绩中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加上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15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分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和别人排名。同时，需要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课内成绩达到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70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分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（普通保研需要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80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分），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通过英语四级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（普通保研需要通过六级），无重修课程。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4167DDA2-BDC9-4769-9C01-57EB3876B5F4}"/>
              </a:ext>
            </a:extLst>
          </p:cNvPr>
          <p:cNvSpPr txBox="1">
            <a:spLocks/>
          </p:cNvSpPr>
          <p:nvPr/>
        </p:nvSpPr>
        <p:spPr>
          <a:xfrm>
            <a:off x="459431" y="2365847"/>
            <a:ext cx="6469123" cy="3179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作品形式：一篇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全英文的，图文并茂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的论文（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PDF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版本）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5762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697207B-C579-475E-9562-E9E74FD807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9" name="组合 8"/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12" name="Freeform 116"/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14" name="矩形 13"/>
          <p:cNvSpPr/>
          <p:nvPr/>
        </p:nvSpPr>
        <p:spPr>
          <a:xfrm>
            <a:off x="1285690" y="483099"/>
            <a:ext cx="61014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全国大学生数学建模竞赛（国赛）</a:t>
            </a:r>
          </a:p>
        </p:txBody>
      </p:sp>
      <p:pic>
        <p:nvPicPr>
          <p:cNvPr id="15" name="Picture 2" descr="F:\案例二\394\1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" t="29347" r="41232" b="70030"/>
          <a:stretch/>
        </p:blipFill>
        <p:spPr bwMode="auto">
          <a:xfrm>
            <a:off x="0" y="6810000"/>
            <a:ext cx="12192000" cy="72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9D10519-29A9-45EB-9730-E222884D6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401" y="1155590"/>
            <a:ext cx="2895970" cy="2774339"/>
          </a:xfrm>
          <a:prstGeom prst="rect">
            <a:avLst/>
          </a:prstGeom>
        </p:spPr>
      </p:pic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083C055B-62BB-4078-86A7-E09C3D168671}"/>
              </a:ext>
            </a:extLst>
          </p:cNvPr>
          <p:cNvSpPr txBox="1">
            <a:spLocks/>
          </p:cNvSpPr>
          <p:nvPr/>
        </p:nvSpPr>
        <p:spPr>
          <a:xfrm>
            <a:off x="1711757" y="1514243"/>
            <a:ext cx="4057205" cy="312037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2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E057CA3A-79A9-4843-A19C-145F5FDD2A18}"/>
              </a:ext>
            </a:extLst>
          </p:cNvPr>
          <p:cNvSpPr txBox="1">
            <a:spLocks/>
          </p:cNvSpPr>
          <p:nvPr/>
        </p:nvSpPr>
        <p:spPr>
          <a:xfrm>
            <a:off x="622415" y="1456794"/>
            <a:ext cx="5827110" cy="36545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举办时间：每年的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月上旬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531F2957-D8FE-49A7-9B77-B509DC920E5A}"/>
              </a:ext>
            </a:extLst>
          </p:cNvPr>
          <p:cNvSpPr txBox="1">
            <a:spLocks/>
          </p:cNvSpPr>
          <p:nvPr/>
        </p:nvSpPr>
        <p:spPr>
          <a:xfrm>
            <a:off x="622415" y="1936544"/>
            <a:ext cx="6469123" cy="3179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持续时间：第一天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18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00——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第四天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00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天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小时）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 Placeholder 33">
            <a:extLst>
              <a:ext uri="{FF2B5EF4-FFF2-40B4-BE49-F238E27FC236}">
                <a16:creationId xmlns:a16="http://schemas.microsoft.com/office/drawing/2014/main" id="{923741AF-BFF3-4629-AB3B-FF7A87373659}"/>
              </a:ext>
            </a:extLst>
          </p:cNvPr>
          <p:cNvSpPr txBox="1">
            <a:spLocks/>
          </p:cNvSpPr>
          <p:nvPr/>
        </p:nvSpPr>
        <p:spPr>
          <a:xfrm>
            <a:off x="622416" y="3378009"/>
            <a:ext cx="6469123" cy="3179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奖项设置：国家级一等奖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不到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1%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（直通突出特长）</a:t>
            </a:r>
            <a:endParaRPr lang="en-US" altLang="zh-CN" sz="20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	</a:t>
            </a:r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56671FBE-F86A-4866-A559-66971FFC2424}"/>
              </a:ext>
            </a:extLst>
          </p:cNvPr>
          <p:cNvSpPr txBox="1">
            <a:spLocks/>
          </p:cNvSpPr>
          <p:nvPr/>
        </p:nvSpPr>
        <p:spPr>
          <a:xfrm>
            <a:off x="1878240" y="3841075"/>
            <a:ext cx="6602161" cy="27549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国家级二等奖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——2%</a:t>
            </a: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美赛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奖以上合成突出特长）</a:t>
            </a:r>
            <a:endParaRPr lang="en-US" altLang="zh-CN" sz="20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62E4CA11-C1A5-4EF4-B6E8-AB11C8D71D6D}"/>
              </a:ext>
            </a:extLst>
          </p:cNvPr>
          <p:cNvSpPr txBox="1">
            <a:spLocks/>
          </p:cNvSpPr>
          <p:nvPr/>
        </p:nvSpPr>
        <p:spPr>
          <a:xfrm>
            <a:off x="1878240" y="4294918"/>
            <a:ext cx="4124136" cy="291446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省级一等奖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——50%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128/254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	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B3C0F250-2B0B-440D-A93D-E6C33AAF5AC9}"/>
              </a:ext>
            </a:extLst>
          </p:cNvPr>
          <p:cNvSpPr txBox="1">
            <a:spLocks/>
          </p:cNvSpPr>
          <p:nvPr/>
        </p:nvSpPr>
        <p:spPr>
          <a:xfrm>
            <a:off x="1878240" y="4765728"/>
            <a:ext cx="4124136" cy="291446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省级二等奖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——30%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74/254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	</a:t>
            </a:r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05D6680F-06B2-4D49-A248-3B0BE4B07B93}"/>
              </a:ext>
            </a:extLst>
          </p:cNvPr>
          <p:cNvSpPr txBox="1">
            <a:spLocks/>
          </p:cNvSpPr>
          <p:nvPr/>
        </p:nvSpPr>
        <p:spPr>
          <a:xfrm>
            <a:off x="542962" y="5282750"/>
            <a:ext cx="9500808" cy="316176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省二及以上获奖率超过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80%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，可用于奖学金综测加分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大多数学院的保研加分。</a:t>
            </a:r>
            <a:r>
              <a:rPr 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</a:t>
            </a:r>
          </a:p>
        </p:txBody>
      </p:sp>
      <p:sp>
        <p:nvSpPr>
          <p:cNvPr id="41" name="Text Placeholder 33">
            <a:extLst>
              <a:ext uri="{FF2B5EF4-FFF2-40B4-BE49-F238E27FC236}">
                <a16:creationId xmlns:a16="http://schemas.microsoft.com/office/drawing/2014/main" id="{F8E67B20-9C41-44EA-988A-15AB0955B13D}"/>
              </a:ext>
            </a:extLst>
          </p:cNvPr>
          <p:cNvSpPr txBox="1">
            <a:spLocks/>
          </p:cNvSpPr>
          <p:nvPr/>
        </p:nvSpPr>
        <p:spPr>
          <a:xfrm>
            <a:off x="541633" y="5716379"/>
            <a:ext cx="10921486" cy="45261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备注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：校内会有筛选，大一的同学需要参加明年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月的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数模校赛（最好能获奖）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，并完成明年暑期西电数模协会组织的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数模培训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，基本就可以获得明年国赛的参赛资格。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F5F1FFAC-B05B-49E5-9AFF-0EED7490BCEA}"/>
              </a:ext>
            </a:extLst>
          </p:cNvPr>
          <p:cNvSpPr txBox="1">
            <a:spLocks/>
          </p:cNvSpPr>
          <p:nvPr/>
        </p:nvSpPr>
        <p:spPr>
          <a:xfrm>
            <a:off x="622416" y="2321988"/>
            <a:ext cx="7214028" cy="24478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作品形式：一篇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中文的，图文并茂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的论文（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PDF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版本），有时会让提交数据表等支撑材料，视情况而定。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2818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ABE0EEA-B3EC-42FC-8DC4-90FBAFD0CC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4" name="矩形 23" descr="e7d195523061f1c0d3ba7f298e59d031c9c3f97027ed136f882110EF8F17BAD1F2C348D17C7856EF46CB4678CC9E44EE1ABA681E3133328A7B4D22AAF822B2429426B2355AA8CC4431B8568D2CF3B73A96BBEC1D6ED9A296B43765507A3E7CF5D1CA7E8172631B7DC4BDD6EDD9C905DDE509891D9B10512B757EAF468629A66A40406F5054747F5B"/>
          <p:cNvSpPr/>
          <p:nvPr/>
        </p:nvSpPr>
        <p:spPr>
          <a:xfrm>
            <a:off x="239937" y="141717"/>
            <a:ext cx="5436904" cy="597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数学建模竞赛能给你带来什么？</a:t>
            </a:r>
          </a:p>
        </p:txBody>
      </p:sp>
      <p:sp>
        <p:nvSpPr>
          <p:cNvPr id="2" name="e7d195523061f1c0" descr="e7d195523061f1c0d3ba7f298e59d031c9c3f97027ed136f882110EF8F17BAD1F2C348D17C7856EF46CB4678CC9E44EE1ABA681E3133328A7B4D22AAF822B2429426B2355AA8CC4431B8568D2CF3B73A96BBEC1D6ED9A296B43765507A3E7CF5D1CA7E8172631B7DC4BDD6EDD9C905DDE509891D9B10512B757EAF468629A66A40406F5054747F5B" hidden="1"/>
          <p:cNvSpPr txBox="1"/>
          <p:nvPr/>
        </p:nvSpPr>
        <p:spPr>
          <a:xfrm>
            <a:off x="-355600" y="1803400"/>
            <a:ext cx="378565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33"/>
              <a:t>e7d195523061f1c0d3ba7f298e59d031c9c3f97027ed136f882110EF8F17BAD1F2C348D17C7856EF46CB4678CC9E44EE1ABA681E3133328A7B4D22AAF822B2429426B2355AA8CC4431B8568D2CF3B73A96BBEC1D6ED9A296B43765507A3E7CF5D1CA7E8172631B7DC4BDD6EDD9C905DDE509891D9B10512B757EAF468629A66A40406F5054747F5B</a:t>
            </a:r>
            <a:endParaRPr lang="zh-CN" altLang="en-US" sz="133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378D2848-8F1B-41F4-A02C-4C3113674252}"/>
              </a:ext>
            </a:extLst>
          </p:cNvPr>
          <p:cNvSpPr txBox="1">
            <a:spLocks/>
          </p:cNvSpPr>
          <p:nvPr/>
        </p:nvSpPr>
        <p:spPr>
          <a:xfrm>
            <a:off x="6096000" y="403855"/>
            <a:ext cx="4163433" cy="8535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保研加分</a:t>
            </a:r>
            <a:endParaRPr lang="en-US" altLang="zh-CN" sz="28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西电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性价比最高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的竞赛；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投入产出比高，门槛较低。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1853DAB6-DCCF-4F5F-9041-79720B962FFE}"/>
              </a:ext>
            </a:extLst>
          </p:cNvPr>
          <p:cNvSpPr txBox="1">
            <a:spLocks/>
          </p:cNvSpPr>
          <p:nvPr/>
        </p:nvSpPr>
        <p:spPr>
          <a:xfrm>
            <a:off x="6096000" y="2024036"/>
            <a:ext cx="5798226" cy="8535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间接收益</a:t>
            </a:r>
            <a:endParaRPr lang="en-US" altLang="zh-CN" sz="28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一旦掌握了数学建模知识，除了可以参加国赛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美赛，还可以拓展性地参与：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全国大学生市场调查与分析大赛；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全国大学生统计建模大赛；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互联网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，挑战杯等竞赛的统计分析部分。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大一评选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国家奖学金（成绩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90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分以上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美赛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以上）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57F90458-615D-4675-A680-676D2A953493}"/>
              </a:ext>
            </a:extLst>
          </p:cNvPr>
          <p:cNvSpPr txBox="1">
            <a:spLocks/>
          </p:cNvSpPr>
          <p:nvPr/>
        </p:nvSpPr>
        <p:spPr>
          <a:xfrm>
            <a:off x="6096000" y="5202169"/>
            <a:ext cx="5291723" cy="8535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锻炼科研能力</a:t>
            </a:r>
            <a:endParaRPr lang="en-US" altLang="zh-CN" sz="28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熟悉论文的撰写，锻炼新知识的学习能力；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数模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小型科研</a:t>
            </a:r>
            <a:r>
              <a:rPr lang="zh-CN" altLang="en-US" sz="2000" b="1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提前适应研究生生活。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D0050A9A-1C72-49D5-B303-ADC0ABB32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83" y="1171254"/>
            <a:ext cx="2882964" cy="2761878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8D899CAA-AC22-4A81-9C1E-A4A842C8A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491" y="4394374"/>
            <a:ext cx="3596765" cy="186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38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2255F46-4BC9-445D-AC0B-537F91A445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9" name="组合 8"/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12" name="Freeform 116"/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14" name="矩形 13"/>
          <p:cNvSpPr/>
          <p:nvPr/>
        </p:nvSpPr>
        <p:spPr>
          <a:xfrm>
            <a:off x="1285690" y="483099"/>
            <a:ext cx="61014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关于组队（非常重要）</a:t>
            </a:r>
          </a:p>
        </p:txBody>
      </p:sp>
      <p:pic>
        <p:nvPicPr>
          <p:cNvPr id="15" name="Picture 2" descr="F:\案例二\394\1.png"/>
          <p:cNvPicPr preferRelativeResize="0"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" t="29347" r="41232" b="70030"/>
          <a:stretch/>
        </p:blipFill>
        <p:spPr bwMode="auto">
          <a:xfrm>
            <a:off x="0" y="6810000"/>
            <a:ext cx="12192000" cy="72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083C055B-62BB-4078-86A7-E09C3D168671}"/>
              </a:ext>
            </a:extLst>
          </p:cNvPr>
          <p:cNvSpPr txBox="1">
            <a:spLocks/>
          </p:cNvSpPr>
          <p:nvPr/>
        </p:nvSpPr>
        <p:spPr>
          <a:xfrm>
            <a:off x="1628227" y="1401057"/>
            <a:ext cx="4057205" cy="312037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2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E057CA3A-79A9-4843-A19C-145F5FDD2A18}"/>
              </a:ext>
            </a:extLst>
          </p:cNvPr>
          <p:cNvSpPr txBox="1">
            <a:spLocks/>
          </p:cNvSpPr>
          <p:nvPr/>
        </p:nvSpPr>
        <p:spPr>
          <a:xfrm>
            <a:off x="459432" y="1478811"/>
            <a:ext cx="8080043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队伍配置：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人（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一人负责建模，一人负责编程，一人负责论文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531F2957-D8FE-49A7-9B77-B509DC920E5A}"/>
              </a:ext>
            </a:extLst>
          </p:cNvPr>
          <p:cNvSpPr txBox="1">
            <a:spLocks/>
          </p:cNvSpPr>
          <p:nvPr/>
        </p:nvSpPr>
        <p:spPr>
          <a:xfrm>
            <a:off x="459433" y="2257224"/>
            <a:ext cx="6469123" cy="3179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8EE7D4-6953-4A34-AA3C-CF21506B980F}"/>
              </a:ext>
            </a:extLst>
          </p:cNvPr>
          <p:cNvSpPr txBox="1"/>
          <p:nvPr/>
        </p:nvSpPr>
        <p:spPr>
          <a:xfrm>
            <a:off x="429414" y="5246931"/>
            <a:ext cx="86691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组队途径：室友，同学（相互之间比较熟悉，合作更为默契）；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                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西电小喇叭（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QQ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），西电校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圈（微信）等网络媒介；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0F436507-2A58-4821-A5B1-889A8A219E2F}"/>
              </a:ext>
            </a:extLst>
          </p:cNvPr>
          <p:cNvSpPr txBox="1">
            <a:spLocks/>
          </p:cNvSpPr>
          <p:nvPr/>
        </p:nvSpPr>
        <p:spPr>
          <a:xfrm>
            <a:off x="459431" y="2035286"/>
            <a:ext cx="11106078" cy="247642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每种角色的职责：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建模队友主要的工作是对于比赛的实际问题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建立模型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，将实际问题转化为数学问题；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编程队友主要的工作是利用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计算机软件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求解建模队友转化的数字问题；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论文队友主要的工作是将建模与算法的过程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呈现在论文中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，并翻译成英文。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（三种角色之间的界限并不需要特别清晰，编程论文队友也可以参与建模，建模队友也可以辅助编程，最后三个队友也要一起审核论文，这样会使得任务的推进更加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高效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 Placeholder 33">
            <a:extLst>
              <a:ext uri="{FF2B5EF4-FFF2-40B4-BE49-F238E27FC236}">
                <a16:creationId xmlns:a16="http://schemas.microsoft.com/office/drawing/2014/main" id="{899300AB-8DFA-4705-A75C-8D844228E298}"/>
              </a:ext>
            </a:extLst>
          </p:cNvPr>
          <p:cNvSpPr txBox="1">
            <a:spLocks/>
          </p:cNvSpPr>
          <p:nvPr/>
        </p:nvSpPr>
        <p:spPr>
          <a:xfrm>
            <a:off x="488821" y="4732173"/>
            <a:ext cx="8080043" cy="3179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组队原则：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态度，磨合程度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＞大佬，抱团，专业对口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2FBBCDA3-CD11-4236-AEC4-DA6DB8DBE312}"/>
              </a:ext>
            </a:extLst>
          </p:cNvPr>
          <p:cNvSpPr txBox="1">
            <a:spLocks/>
          </p:cNvSpPr>
          <p:nvPr/>
        </p:nvSpPr>
        <p:spPr>
          <a:xfrm>
            <a:off x="503799" y="6136325"/>
            <a:ext cx="8825136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时间点：期末考试前尽快完成队伍的组建，期末考试后就可以一起投入学习。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group_126459">
            <a:extLst>
              <a:ext uri="{FF2B5EF4-FFF2-40B4-BE49-F238E27FC236}">
                <a16:creationId xmlns:a16="http://schemas.microsoft.com/office/drawing/2014/main" id="{B7670274-E457-408D-8E0C-CA0CF0CA8E93}"/>
              </a:ext>
            </a:extLst>
          </p:cNvPr>
          <p:cNvSpPr/>
          <p:nvPr/>
        </p:nvSpPr>
        <p:spPr>
          <a:xfrm>
            <a:off x="10102783" y="241435"/>
            <a:ext cx="995523" cy="1159622"/>
          </a:xfrm>
          <a:custGeom>
            <a:avLst/>
            <a:gdLst>
              <a:gd name="connsiteX0" fmla="*/ 206386 w 480761"/>
              <a:gd name="connsiteY0" fmla="*/ 150815 h 604480"/>
              <a:gd name="connsiteX1" fmla="*/ 224584 w 480761"/>
              <a:gd name="connsiteY1" fmla="*/ 208288 h 604480"/>
              <a:gd name="connsiteX2" fmla="*/ 235262 w 480761"/>
              <a:gd name="connsiteY2" fmla="*/ 178161 h 604480"/>
              <a:gd name="connsiteX3" fmla="*/ 240368 w 480761"/>
              <a:gd name="connsiteY3" fmla="*/ 150815 h 604480"/>
              <a:gd name="connsiteX4" fmla="*/ 245382 w 480761"/>
              <a:gd name="connsiteY4" fmla="*/ 178161 h 604480"/>
              <a:gd name="connsiteX5" fmla="*/ 256060 w 480761"/>
              <a:gd name="connsiteY5" fmla="*/ 208288 h 604480"/>
              <a:gd name="connsiteX6" fmla="*/ 274258 w 480761"/>
              <a:gd name="connsiteY6" fmla="*/ 150815 h 604480"/>
              <a:gd name="connsiteX7" fmla="*/ 317618 w 480761"/>
              <a:gd name="connsiteY7" fmla="*/ 174731 h 604480"/>
              <a:gd name="connsiteX8" fmla="*/ 329503 w 480761"/>
              <a:gd name="connsiteY8" fmla="*/ 185206 h 604480"/>
              <a:gd name="connsiteX9" fmla="*/ 330617 w 480761"/>
              <a:gd name="connsiteY9" fmla="*/ 186597 h 604480"/>
              <a:gd name="connsiteX10" fmla="*/ 366364 w 480761"/>
              <a:gd name="connsiteY10" fmla="*/ 167315 h 604480"/>
              <a:gd name="connsiteX11" fmla="*/ 382427 w 480761"/>
              <a:gd name="connsiteY11" fmla="*/ 217928 h 604480"/>
              <a:gd name="connsiteX12" fmla="*/ 391897 w 480761"/>
              <a:gd name="connsiteY12" fmla="*/ 191417 h 604480"/>
              <a:gd name="connsiteX13" fmla="*/ 396354 w 480761"/>
              <a:gd name="connsiteY13" fmla="*/ 167315 h 604480"/>
              <a:gd name="connsiteX14" fmla="*/ 400811 w 480761"/>
              <a:gd name="connsiteY14" fmla="*/ 191417 h 604480"/>
              <a:gd name="connsiteX15" fmla="*/ 410188 w 480761"/>
              <a:gd name="connsiteY15" fmla="*/ 217928 h 604480"/>
              <a:gd name="connsiteX16" fmla="*/ 426251 w 480761"/>
              <a:gd name="connsiteY16" fmla="*/ 167315 h 604480"/>
              <a:gd name="connsiteX17" fmla="*/ 464505 w 480761"/>
              <a:gd name="connsiteY17" fmla="*/ 188450 h 604480"/>
              <a:gd name="connsiteX18" fmla="*/ 475089 w 480761"/>
              <a:gd name="connsiteY18" fmla="*/ 197720 h 604480"/>
              <a:gd name="connsiteX19" fmla="*/ 475089 w 480761"/>
              <a:gd name="connsiteY19" fmla="*/ 282354 h 604480"/>
              <a:gd name="connsiteX20" fmla="*/ 453363 w 480761"/>
              <a:gd name="connsiteY20" fmla="*/ 331298 h 604480"/>
              <a:gd name="connsiteX21" fmla="*/ 447328 w 480761"/>
              <a:gd name="connsiteY21" fmla="*/ 354380 h 604480"/>
              <a:gd name="connsiteX22" fmla="*/ 426808 w 480761"/>
              <a:gd name="connsiteY22" fmla="*/ 556092 h 604480"/>
              <a:gd name="connsiteX23" fmla="*/ 414274 w 480761"/>
              <a:gd name="connsiteY23" fmla="*/ 567401 h 604480"/>
              <a:gd name="connsiteX24" fmla="*/ 396447 w 480761"/>
              <a:gd name="connsiteY24" fmla="*/ 567401 h 604480"/>
              <a:gd name="connsiteX25" fmla="*/ 378620 w 480761"/>
              <a:gd name="connsiteY25" fmla="*/ 567401 h 604480"/>
              <a:gd name="connsiteX26" fmla="*/ 366085 w 480761"/>
              <a:gd name="connsiteY26" fmla="*/ 556092 h 604480"/>
              <a:gd name="connsiteX27" fmla="*/ 345566 w 480761"/>
              <a:gd name="connsiteY27" fmla="*/ 354380 h 604480"/>
              <a:gd name="connsiteX28" fmla="*/ 339531 w 480761"/>
              <a:gd name="connsiteY28" fmla="*/ 331298 h 604480"/>
              <a:gd name="connsiteX29" fmla="*/ 323654 w 480761"/>
              <a:gd name="connsiteY29" fmla="*/ 298669 h 604480"/>
              <a:gd name="connsiteX30" fmla="*/ 305177 w 480761"/>
              <a:gd name="connsiteY30" fmla="*/ 336768 h 604480"/>
              <a:gd name="connsiteX31" fmla="*/ 298306 w 480761"/>
              <a:gd name="connsiteY31" fmla="*/ 362908 h 604480"/>
              <a:gd name="connsiteX32" fmla="*/ 275001 w 480761"/>
              <a:gd name="connsiteY32" fmla="*/ 591595 h 604480"/>
              <a:gd name="connsiteX33" fmla="*/ 260795 w 480761"/>
              <a:gd name="connsiteY33" fmla="*/ 604480 h 604480"/>
              <a:gd name="connsiteX34" fmla="*/ 240554 w 480761"/>
              <a:gd name="connsiteY34" fmla="*/ 604480 h 604480"/>
              <a:gd name="connsiteX35" fmla="*/ 220128 w 480761"/>
              <a:gd name="connsiteY35" fmla="*/ 604480 h 604480"/>
              <a:gd name="connsiteX36" fmla="*/ 205922 w 480761"/>
              <a:gd name="connsiteY36" fmla="*/ 591595 h 604480"/>
              <a:gd name="connsiteX37" fmla="*/ 182617 w 480761"/>
              <a:gd name="connsiteY37" fmla="*/ 362908 h 604480"/>
              <a:gd name="connsiteX38" fmla="*/ 175746 w 480761"/>
              <a:gd name="connsiteY38" fmla="*/ 336768 h 604480"/>
              <a:gd name="connsiteX39" fmla="*/ 157362 w 480761"/>
              <a:gd name="connsiteY39" fmla="*/ 298761 h 604480"/>
              <a:gd name="connsiteX40" fmla="*/ 141578 w 480761"/>
              <a:gd name="connsiteY40" fmla="*/ 331298 h 604480"/>
              <a:gd name="connsiteX41" fmla="*/ 135450 w 480761"/>
              <a:gd name="connsiteY41" fmla="*/ 354380 h 604480"/>
              <a:gd name="connsiteX42" fmla="*/ 114930 w 480761"/>
              <a:gd name="connsiteY42" fmla="*/ 556092 h 604480"/>
              <a:gd name="connsiteX43" fmla="*/ 102396 w 480761"/>
              <a:gd name="connsiteY43" fmla="*/ 567401 h 604480"/>
              <a:gd name="connsiteX44" fmla="*/ 84569 w 480761"/>
              <a:gd name="connsiteY44" fmla="*/ 567401 h 604480"/>
              <a:gd name="connsiteX45" fmla="*/ 66742 w 480761"/>
              <a:gd name="connsiteY45" fmla="*/ 567401 h 604480"/>
              <a:gd name="connsiteX46" fmla="*/ 54300 w 480761"/>
              <a:gd name="connsiteY46" fmla="*/ 556092 h 604480"/>
              <a:gd name="connsiteX47" fmla="*/ 33688 w 480761"/>
              <a:gd name="connsiteY47" fmla="*/ 354380 h 604480"/>
              <a:gd name="connsiteX48" fmla="*/ 27653 w 480761"/>
              <a:gd name="connsiteY48" fmla="*/ 331298 h 604480"/>
              <a:gd name="connsiteX49" fmla="*/ 5740 w 480761"/>
              <a:gd name="connsiteY49" fmla="*/ 282261 h 604480"/>
              <a:gd name="connsiteX50" fmla="*/ 5740 w 480761"/>
              <a:gd name="connsiteY50" fmla="*/ 197720 h 604480"/>
              <a:gd name="connsiteX51" fmla="*/ 16232 w 480761"/>
              <a:gd name="connsiteY51" fmla="*/ 188450 h 604480"/>
              <a:gd name="connsiteX52" fmla="*/ 54486 w 480761"/>
              <a:gd name="connsiteY52" fmla="*/ 167315 h 604480"/>
              <a:gd name="connsiteX53" fmla="*/ 70641 w 480761"/>
              <a:gd name="connsiteY53" fmla="*/ 217928 h 604480"/>
              <a:gd name="connsiteX54" fmla="*/ 80019 w 480761"/>
              <a:gd name="connsiteY54" fmla="*/ 191417 h 604480"/>
              <a:gd name="connsiteX55" fmla="*/ 84476 w 480761"/>
              <a:gd name="connsiteY55" fmla="*/ 167315 h 604480"/>
              <a:gd name="connsiteX56" fmla="*/ 88933 w 480761"/>
              <a:gd name="connsiteY56" fmla="*/ 191417 h 604480"/>
              <a:gd name="connsiteX57" fmla="*/ 98310 w 480761"/>
              <a:gd name="connsiteY57" fmla="*/ 217928 h 604480"/>
              <a:gd name="connsiteX58" fmla="*/ 114466 w 480761"/>
              <a:gd name="connsiteY58" fmla="*/ 167315 h 604480"/>
              <a:gd name="connsiteX59" fmla="*/ 150120 w 480761"/>
              <a:gd name="connsiteY59" fmla="*/ 186597 h 604480"/>
              <a:gd name="connsiteX60" fmla="*/ 151234 w 480761"/>
              <a:gd name="connsiteY60" fmla="*/ 185206 h 604480"/>
              <a:gd name="connsiteX61" fmla="*/ 163119 w 480761"/>
              <a:gd name="connsiteY61" fmla="*/ 174731 h 604480"/>
              <a:gd name="connsiteX62" fmla="*/ 206386 w 480761"/>
              <a:gd name="connsiteY62" fmla="*/ 150815 h 604480"/>
              <a:gd name="connsiteX63" fmla="*/ 95655 w 480761"/>
              <a:gd name="connsiteY63" fmla="*/ 70639 h 604480"/>
              <a:gd name="connsiteX64" fmla="*/ 73707 w 480761"/>
              <a:gd name="connsiteY64" fmla="*/ 70651 h 604480"/>
              <a:gd name="connsiteX65" fmla="*/ 58208 w 480761"/>
              <a:gd name="connsiteY65" fmla="*/ 108115 h 604480"/>
              <a:gd name="connsiteX66" fmla="*/ 95701 w 480761"/>
              <a:gd name="connsiteY66" fmla="*/ 123601 h 604480"/>
              <a:gd name="connsiteX67" fmla="*/ 111199 w 480761"/>
              <a:gd name="connsiteY67" fmla="*/ 86137 h 604480"/>
              <a:gd name="connsiteX68" fmla="*/ 95655 w 480761"/>
              <a:gd name="connsiteY68" fmla="*/ 70639 h 604480"/>
              <a:gd name="connsiteX69" fmla="*/ 385479 w 480761"/>
              <a:gd name="connsiteY69" fmla="*/ 70524 h 604480"/>
              <a:gd name="connsiteX70" fmla="*/ 369960 w 480761"/>
              <a:gd name="connsiteY70" fmla="*/ 85967 h 604480"/>
              <a:gd name="connsiteX71" fmla="*/ 385374 w 480761"/>
              <a:gd name="connsiteY71" fmla="*/ 123410 h 604480"/>
              <a:gd name="connsiteX72" fmla="*/ 422888 w 480761"/>
              <a:gd name="connsiteY72" fmla="*/ 108025 h 604480"/>
              <a:gd name="connsiteX73" fmla="*/ 407474 w 480761"/>
              <a:gd name="connsiteY73" fmla="*/ 70582 h 604480"/>
              <a:gd name="connsiteX74" fmla="*/ 385479 w 480761"/>
              <a:gd name="connsiteY74" fmla="*/ 70524 h 604480"/>
              <a:gd name="connsiteX75" fmla="*/ 228229 w 480761"/>
              <a:gd name="connsiteY75" fmla="*/ 41145 h 604480"/>
              <a:gd name="connsiteX76" fmla="*/ 210669 w 480761"/>
              <a:gd name="connsiteY76" fmla="*/ 58690 h 604480"/>
              <a:gd name="connsiteX77" fmla="*/ 228124 w 480761"/>
              <a:gd name="connsiteY77" fmla="*/ 101059 h 604480"/>
              <a:gd name="connsiteX78" fmla="*/ 270555 w 480761"/>
              <a:gd name="connsiteY78" fmla="*/ 83629 h 604480"/>
              <a:gd name="connsiteX79" fmla="*/ 253100 w 480761"/>
              <a:gd name="connsiteY79" fmla="*/ 41261 h 604480"/>
              <a:gd name="connsiteX80" fmla="*/ 228229 w 480761"/>
              <a:gd name="connsiteY80" fmla="*/ 41145 h 604480"/>
              <a:gd name="connsiteX81" fmla="*/ 375346 w 480761"/>
              <a:gd name="connsiteY81" fmla="*/ 34622 h 604480"/>
              <a:gd name="connsiteX82" fmla="*/ 382682 w 480761"/>
              <a:gd name="connsiteY82" fmla="*/ 37587 h 604480"/>
              <a:gd name="connsiteX83" fmla="*/ 385931 w 480761"/>
              <a:gd name="connsiteY83" fmla="*/ 45373 h 604480"/>
              <a:gd name="connsiteX84" fmla="*/ 407288 w 480761"/>
              <a:gd name="connsiteY84" fmla="*/ 45465 h 604480"/>
              <a:gd name="connsiteX85" fmla="*/ 410538 w 480761"/>
              <a:gd name="connsiteY85" fmla="*/ 37680 h 604480"/>
              <a:gd name="connsiteX86" fmla="*/ 417873 w 480761"/>
              <a:gd name="connsiteY86" fmla="*/ 34714 h 604480"/>
              <a:gd name="connsiteX87" fmla="*/ 425766 w 480761"/>
              <a:gd name="connsiteY87" fmla="*/ 38051 h 604480"/>
              <a:gd name="connsiteX88" fmla="*/ 428737 w 480761"/>
              <a:gd name="connsiteY88" fmla="*/ 45373 h 604480"/>
              <a:gd name="connsiteX89" fmla="*/ 425487 w 480761"/>
              <a:gd name="connsiteY89" fmla="*/ 53158 h 604480"/>
              <a:gd name="connsiteX90" fmla="*/ 440623 w 480761"/>
              <a:gd name="connsiteY90" fmla="*/ 68172 h 604480"/>
              <a:gd name="connsiteX91" fmla="*/ 448422 w 480761"/>
              <a:gd name="connsiteY91" fmla="*/ 65021 h 604480"/>
              <a:gd name="connsiteX92" fmla="*/ 455758 w 480761"/>
              <a:gd name="connsiteY92" fmla="*/ 67987 h 604480"/>
              <a:gd name="connsiteX93" fmla="*/ 458915 w 480761"/>
              <a:gd name="connsiteY93" fmla="*/ 75865 h 604480"/>
              <a:gd name="connsiteX94" fmla="*/ 455944 w 480761"/>
              <a:gd name="connsiteY94" fmla="*/ 83187 h 604480"/>
              <a:gd name="connsiteX95" fmla="*/ 448144 w 480761"/>
              <a:gd name="connsiteY95" fmla="*/ 86338 h 604480"/>
              <a:gd name="connsiteX96" fmla="*/ 448144 w 480761"/>
              <a:gd name="connsiteY96" fmla="*/ 107840 h 604480"/>
              <a:gd name="connsiteX97" fmla="*/ 455851 w 480761"/>
              <a:gd name="connsiteY97" fmla="*/ 111084 h 604480"/>
              <a:gd name="connsiteX98" fmla="*/ 458822 w 480761"/>
              <a:gd name="connsiteY98" fmla="*/ 118406 h 604480"/>
              <a:gd name="connsiteX99" fmla="*/ 455479 w 480761"/>
              <a:gd name="connsiteY99" fmla="*/ 126284 h 604480"/>
              <a:gd name="connsiteX100" fmla="*/ 448144 w 480761"/>
              <a:gd name="connsiteY100" fmla="*/ 129249 h 604480"/>
              <a:gd name="connsiteX101" fmla="*/ 440530 w 480761"/>
              <a:gd name="connsiteY101" fmla="*/ 126005 h 604480"/>
              <a:gd name="connsiteX102" fmla="*/ 425302 w 480761"/>
              <a:gd name="connsiteY102" fmla="*/ 141205 h 604480"/>
              <a:gd name="connsiteX103" fmla="*/ 428366 w 480761"/>
              <a:gd name="connsiteY103" fmla="*/ 148805 h 604480"/>
              <a:gd name="connsiteX104" fmla="*/ 425395 w 480761"/>
              <a:gd name="connsiteY104" fmla="*/ 156034 h 604480"/>
              <a:gd name="connsiteX105" fmla="*/ 417502 w 480761"/>
              <a:gd name="connsiteY105" fmla="*/ 159278 h 604480"/>
              <a:gd name="connsiteX106" fmla="*/ 410166 w 480761"/>
              <a:gd name="connsiteY106" fmla="*/ 156312 h 604480"/>
              <a:gd name="connsiteX107" fmla="*/ 407102 w 480761"/>
              <a:gd name="connsiteY107" fmla="*/ 148805 h 604480"/>
              <a:gd name="connsiteX108" fmla="*/ 385374 w 480761"/>
              <a:gd name="connsiteY108" fmla="*/ 148805 h 604480"/>
              <a:gd name="connsiteX109" fmla="*/ 382310 w 480761"/>
              <a:gd name="connsiteY109" fmla="*/ 156312 h 604480"/>
              <a:gd name="connsiteX110" fmla="*/ 374975 w 480761"/>
              <a:gd name="connsiteY110" fmla="*/ 159278 h 604480"/>
              <a:gd name="connsiteX111" fmla="*/ 367082 w 480761"/>
              <a:gd name="connsiteY111" fmla="*/ 155942 h 604480"/>
              <a:gd name="connsiteX112" fmla="*/ 364111 w 480761"/>
              <a:gd name="connsiteY112" fmla="*/ 148620 h 604480"/>
              <a:gd name="connsiteX113" fmla="*/ 367175 w 480761"/>
              <a:gd name="connsiteY113" fmla="*/ 141113 h 604480"/>
              <a:gd name="connsiteX114" fmla="*/ 351947 w 480761"/>
              <a:gd name="connsiteY114" fmla="*/ 125820 h 604480"/>
              <a:gd name="connsiteX115" fmla="*/ 344426 w 480761"/>
              <a:gd name="connsiteY115" fmla="*/ 128879 h 604480"/>
              <a:gd name="connsiteX116" fmla="*/ 337090 w 480761"/>
              <a:gd name="connsiteY116" fmla="*/ 125913 h 604480"/>
              <a:gd name="connsiteX117" fmla="*/ 333933 w 480761"/>
              <a:gd name="connsiteY117" fmla="*/ 118035 h 604480"/>
              <a:gd name="connsiteX118" fmla="*/ 337090 w 480761"/>
              <a:gd name="connsiteY118" fmla="*/ 110713 h 604480"/>
              <a:gd name="connsiteX119" fmla="*/ 344704 w 480761"/>
              <a:gd name="connsiteY119" fmla="*/ 107655 h 604480"/>
              <a:gd name="connsiteX120" fmla="*/ 344797 w 480761"/>
              <a:gd name="connsiteY120" fmla="*/ 86152 h 604480"/>
              <a:gd name="connsiteX121" fmla="*/ 337090 w 480761"/>
              <a:gd name="connsiteY121" fmla="*/ 82909 h 604480"/>
              <a:gd name="connsiteX122" fmla="*/ 334119 w 480761"/>
              <a:gd name="connsiteY122" fmla="*/ 75587 h 604480"/>
              <a:gd name="connsiteX123" fmla="*/ 337461 w 480761"/>
              <a:gd name="connsiteY123" fmla="*/ 67709 h 604480"/>
              <a:gd name="connsiteX124" fmla="*/ 344797 w 480761"/>
              <a:gd name="connsiteY124" fmla="*/ 64743 h 604480"/>
              <a:gd name="connsiteX125" fmla="*/ 352504 w 480761"/>
              <a:gd name="connsiteY125" fmla="*/ 67987 h 604480"/>
              <a:gd name="connsiteX126" fmla="*/ 367732 w 480761"/>
              <a:gd name="connsiteY126" fmla="*/ 52880 h 604480"/>
              <a:gd name="connsiteX127" fmla="*/ 364482 w 480761"/>
              <a:gd name="connsiteY127" fmla="*/ 45095 h 604480"/>
              <a:gd name="connsiteX128" fmla="*/ 367453 w 480761"/>
              <a:gd name="connsiteY128" fmla="*/ 37773 h 604480"/>
              <a:gd name="connsiteX129" fmla="*/ 105909 w 480761"/>
              <a:gd name="connsiteY129" fmla="*/ 34578 h 604480"/>
              <a:gd name="connsiteX130" fmla="*/ 113798 w 480761"/>
              <a:gd name="connsiteY130" fmla="*/ 37731 h 604480"/>
              <a:gd name="connsiteX131" fmla="*/ 116767 w 480761"/>
              <a:gd name="connsiteY131" fmla="*/ 45057 h 604480"/>
              <a:gd name="connsiteX132" fmla="*/ 113798 w 480761"/>
              <a:gd name="connsiteY132" fmla="*/ 52939 h 604480"/>
              <a:gd name="connsiteX133" fmla="*/ 129017 w 480761"/>
              <a:gd name="connsiteY133" fmla="*/ 68054 h 604480"/>
              <a:gd name="connsiteX134" fmla="*/ 136720 w 480761"/>
              <a:gd name="connsiteY134" fmla="*/ 64809 h 604480"/>
              <a:gd name="connsiteX135" fmla="*/ 143959 w 480761"/>
              <a:gd name="connsiteY135" fmla="*/ 67776 h 604480"/>
              <a:gd name="connsiteX136" fmla="*/ 147300 w 480761"/>
              <a:gd name="connsiteY136" fmla="*/ 75751 h 604480"/>
              <a:gd name="connsiteX137" fmla="*/ 144330 w 480761"/>
              <a:gd name="connsiteY137" fmla="*/ 82984 h 604480"/>
              <a:gd name="connsiteX138" fmla="*/ 136720 w 480761"/>
              <a:gd name="connsiteY138" fmla="*/ 86230 h 604480"/>
              <a:gd name="connsiteX139" fmla="*/ 136813 w 480761"/>
              <a:gd name="connsiteY139" fmla="*/ 107744 h 604480"/>
              <a:gd name="connsiteX140" fmla="*/ 144330 w 480761"/>
              <a:gd name="connsiteY140" fmla="*/ 110804 h 604480"/>
              <a:gd name="connsiteX141" fmla="*/ 147300 w 480761"/>
              <a:gd name="connsiteY141" fmla="*/ 118130 h 604480"/>
              <a:gd name="connsiteX142" fmla="*/ 144144 w 480761"/>
              <a:gd name="connsiteY142" fmla="*/ 126012 h 604480"/>
              <a:gd name="connsiteX143" fmla="*/ 136813 w 480761"/>
              <a:gd name="connsiteY143" fmla="*/ 128979 h 604480"/>
              <a:gd name="connsiteX144" fmla="*/ 129296 w 480761"/>
              <a:gd name="connsiteY144" fmla="*/ 125919 h 604480"/>
              <a:gd name="connsiteX145" fmla="*/ 114076 w 480761"/>
              <a:gd name="connsiteY145" fmla="*/ 141220 h 604480"/>
              <a:gd name="connsiteX146" fmla="*/ 117139 w 480761"/>
              <a:gd name="connsiteY146" fmla="*/ 148824 h 604480"/>
              <a:gd name="connsiteX147" fmla="*/ 114169 w 480761"/>
              <a:gd name="connsiteY147" fmla="*/ 156057 h 604480"/>
              <a:gd name="connsiteX148" fmla="*/ 106281 w 480761"/>
              <a:gd name="connsiteY148" fmla="*/ 159396 h 604480"/>
              <a:gd name="connsiteX149" fmla="*/ 98949 w 480761"/>
              <a:gd name="connsiteY149" fmla="*/ 156428 h 604480"/>
              <a:gd name="connsiteX150" fmla="*/ 95887 w 480761"/>
              <a:gd name="connsiteY150" fmla="*/ 148917 h 604480"/>
              <a:gd name="connsiteX151" fmla="*/ 74171 w 480761"/>
              <a:gd name="connsiteY151" fmla="*/ 148917 h 604480"/>
              <a:gd name="connsiteX152" fmla="*/ 71108 w 480761"/>
              <a:gd name="connsiteY152" fmla="*/ 156428 h 604480"/>
              <a:gd name="connsiteX153" fmla="*/ 63777 w 480761"/>
              <a:gd name="connsiteY153" fmla="*/ 159396 h 604480"/>
              <a:gd name="connsiteX154" fmla="*/ 55888 w 480761"/>
              <a:gd name="connsiteY154" fmla="*/ 156243 h 604480"/>
              <a:gd name="connsiteX155" fmla="*/ 52919 w 480761"/>
              <a:gd name="connsiteY155" fmla="*/ 148917 h 604480"/>
              <a:gd name="connsiteX156" fmla="*/ 55981 w 480761"/>
              <a:gd name="connsiteY156" fmla="*/ 141406 h 604480"/>
              <a:gd name="connsiteX157" fmla="*/ 40761 w 480761"/>
              <a:gd name="connsiteY157" fmla="*/ 126198 h 604480"/>
              <a:gd name="connsiteX158" fmla="*/ 33151 w 480761"/>
              <a:gd name="connsiteY158" fmla="*/ 129350 h 604480"/>
              <a:gd name="connsiteX159" fmla="*/ 25820 w 480761"/>
              <a:gd name="connsiteY159" fmla="*/ 126383 h 604480"/>
              <a:gd name="connsiteX160" fmla="*/ 22479 w 480761"/>
              <a:gd name="connsiteY160" fmla="*/ 118501 h 604480"/>
              <a:gd name="connsiteX161" fmla="*/ 25449 w 480761"/>
              <a:gd name="connsiteY161" fmla="*/ 111175 h 604480"/>
              <a:gd name="connsiteX162" fmla="*/ 33151 w 480761"/>
              <a:gd name="connsiteY162" fmla="*/ 108022 h 604480"/>
              <a:gd name="connsiteX163" fmla="*/ 33151 w 480761"/>
              <a:gd name="connsiteY163" fmla="*/ 86508 h 604480"/>
              <a:gd name="connsiteX164" fmla="*/ 25356 w 480761"/>
              <a:gd name="connsiteY164" fmla="*/ 83262 h 604480"/>
              <a:gd name="connsiteX165" fmla="*/ 22201 w 480761"/>
              <a:gd name="connsiteY165" fmla="*/ 75936 h 604480"/>
              <a:gd name="connsiteX166" fmla="*/ 25542 w 480761"/>
              <a:gd name="connsiteY166" fmla="*/ 67961 h 604480"/>
              <a:gd name="connsiteX167" fmla="*/ 32873 w 480761"/>
              <a:gd name="connsiteY167" fmla="*/ 64994 h 604480"/>
              <a:gd name="connsiteX168" fmla="*/ 40669 w 480761"/>
              <a:gd name="connsiteY168" fmla="*/ 68147 h 604480"/>
              <a:gd name="connsiteX169" fmla="*/ 55796 w 480761"/>
              <a:gd name="connsiteY169" fmla="*/ 53124 h 604480"/>
              <a:gd name="connsiteX170" fmla="*/ 52547 w 480761"/>
              <a:gd name="connsiteY170" fmla="*/ 45335 h 604480"/>
              <a:gd name="connsiteX171" fmla="*/ 55517 w 480761"/>
              <a:gd name="connsiteY171" fmla="*/ 38009 h 604480"/>
              <a:gd name="connsiteX172" fmla="*/ 63405 w 480761"/>
              <a:gd name="connsiteY172" fmla="*/ 34671 h 604480"/>
              <a:gd name="connsiteX173" fmla="*/ 70737 w 480761"/>
              <a:gd name="connsiteY173" fmla="*/ 37638 h 604480"/>
              <a:gd name="connsiteX174" fmla="*/ 73985 w 480761"/>
              <a:gd name="connsiteY174" fmla="*/ 45427 h 604480"/>
              <a:gd name="connsiteX175" fmla="*/ 95330 w 480761"/>
              <a:gd name="connsiteY175" fmla="*/ 45335 h 604480"/>
              <a:gd name="connsiteX176" fmla="*/ 98578 w 480761"/>
              <a:gd name="connsiteY176" fmla="*/ 37545 h 604480"/>
              <a:gd name="connsiteX177" fmla="*/ 105909 w 480761"/>
              <a:gd name="connsiteY177" fmla="*/ 34578 h 604480"/>
              <a:gd name="connsiteX178" fmla="*/ 216611 w 480761"/>
              <a:gd name="connsiteY178" fmla="*/ 468 h 604480"/>
              <a:gd name="connsiteX179" fmla="*/ 224782 w 480761"/>
              <a:gd name="connsiteY179" fmla="*/ 3898 h 604480"/>
              <a:gd name="connsiteX180" fmla="*/ 228496 w 480761"/>
              <a:gd name="connsiteY180" fmla="*/ 12798 h 604480"/>
              <a:gd name="connsiteX181" fmla="*/ 252729 w 480761"/>
              <a:gd name="connsiteY181" fmla="*/ 12891 h 604480"/>
              <a:gd name="connsiteX182" fmla="*/ 256442 w 480761"/>
              <a:gd name="connsiteY182" fmla="*/ 3991 h 604480"/>
              <a:gd name="connsiteX183" fmla="*/ 264706 w 480761"/>
              <a:gd name="connsiteY183" fmla="*/ 653 h 604480"/>
              <a:gd name="connsiteX184" fmla="*/ 273805 w 480761"/>
              <a:gd name="connsiteY184" fmla="*/ 4362 h 604480"/>
              <a:gd name="connsiteX185" fmla="*/ 277147 w 480761"/>
              <a:gd name="connsiteY185" fmla="*/ 12706 h 604480"/>
              <a:gd name="connsiteX186" fmla="*/ 273433 w 480761"/>
              <a:gd name="connsiteY186" fmla="*/ 21606 h 604480"/>
              <a:gd name="connsiteX187" fmla="*/ 290517 w 480761"/>
              <a:gd name="connsiteY187" fmla="*/ 38757 h 604480"/>
              <a:gd name="connsiteX188" fmla="*/ 299431 w 480761"/>
              <a:gd name="connsiteY188" fmla="*/ 35049 h 604480"/>
              <a:gd name="connsiteX189" fmla="*/ 307601 w 480761"/>
              <a:gd name="connsiteY189" fmla="*/ 38479 h 604480"/>
              <a:gd name="connsiteX190" fmla="*/ 311315 w 480761"/>
              <a:gd name="connsiteY190" fmla="*/ 47565 h 604480"/>
              <a:gd name="connsiteX191" fmla="*/ 307787 w 480761"/>
              <a:gd name="connsiteY191" fmla="*/ 55723 h 604480"/>
              <a:gd name="connsiteX192" fmla="*/ 299059 w 480761"/>
              <a:gd name="connsiteY192" fmla="*/ 59246 h 604480"/>
              <a:gd name="connsiteX193" fmla="*/ 299059 w 480761"/>
              <a:gd name="connsiteY193" fmla="*/ 83629 h 604480"/>
              <a:gd name="connsiteX194" fmla="*/ 307787 w 480761"/>
              <a:gd name="connsiteY194" fmla="*/ 87245 h 604480"/>
              <a:gd name="connsiteX195" fmla="*/ 311129 w 480761"/>
              <a:gd name="connsiteY195" fmla="*/ 95496 h 604480"/>
              <a:gd name="connsiteX196" fmla="*/ 307415 w 480761"/>
              <a:gd name="connsiteY196" fmla="*/ 104489 h 604480"/>
              <a:gd name="connsiteX197" fmla="*/ 299152 w 480761"/>
              <a:gd name="connsiteY197" fmla="*/ 107827 h 604480"/>
              <a:gd name="connsiteX198" fmla="*/ 290517 w 480761"/>
              <a:gd name="connsiteY198" fmla="*/ 104304 h 604480"/>
              <a:gd name="connsiteX199" fmla="*/ 273155 w 480761"/>
              <a:gd name="connsiteY199" fmla="*/ 121548 h 604480"/>
              <a:gd name="connsiteX200" fmla="*/ 276776 w 480761"/>
              <a:gd name="connsiteY200" fmla="*/ 130263 h 604480"/>
              <a:gd name="connsiteX201" fmla="*/ 273248 w 480761"/>
              <a:gd name="connsiteY201" fmla="*/ 138421 h 604480"/>
              <a:gd name="connsiteX202" fmla="*/ 264242 w 480761"/>
              <a:gd name="connsiteY202" fmla="*/ 142130 h 604480"/>
              <a:gd name="connsiteX203" fmla="*/ 256071 w 480761"/>
              <a:gd name="connsiteY203" fmla="*/ 138607 h 604480"/>
              <a:gd name="connsiteX204" fmla="*/ 252636 w 480761"/>
              <a:gd name="connsiteY204" fmla="*/ 130077 h 604480"/>
              <a:gd name="connsiteX205" fmla="*/ 228124 w 480761"/>
              <a:gd name="connsiteY205" fmla="*/ 130077 h 604480"/>
              <a:gd name="connsiteX206" fmla="*/ 224503 w 480761"/>
              <a:gd name="connsiteY206" fmla="*/ 138607 h 604480"/>
              <a:gd name="connsiteX207" fmla="*/ 216240 w 480761"/>
              <a:gd name="connsiteY207" fmla="*/ 141944 h 604480"/>
              <a:gd name="connsiteX208" fmla="*/ 207141 w 480761"/>
              <a:gd name="connsiteY208" fmla="*/ 138236 h 604480"/>
              <a:gd name="connsiteX209" fmla="*/ 203798 w 480761"/>
              <a:gd name="connsiteY209" fmla="*/ 129985 h 604480"/>
              <a:gd name="connsiteX210" fmla="*/ 207419 w 480761"/>
              <a:gd name="connsiteY210" fmla="*/ 121455 h 604480"/>
              <a:gd name="connsiteX211" fmla="*/ 190057 w 480761"/>
              <a:gd name="connsiteY211" fmla="*/ 104026 h 604480"/>
              <a:gd name="connsiteX212" fmla="*/ 181515 w 480761"/>
              <a:gd name="connsiteY212" fmla="*/ 107456 h 604480"/>
              <a:gd name="connsiteX213" fmla="*/ 173344 w 480761"/>
              <a:gd name="connsiteY213" fmla="*/ 104026 h 604480"/>
              <a:gd name="connsiteX214" fmla="*/ 169631 w 480761"/>
              <a:gd name="connsiteY214" fmla="*/ 95033 h 604480"/>
              <a:gd name="connsiteX215" fmla="*/ 172787 w 480761"/>
              <a:gd name="connsiteY215" fmla="*/ 86874 h 604480"/>
              <a:gd name="connsiteX216" fmla="*/ 181422 w 480761"/>
              <a:gd name="connsiteY216" fmla="*/ 83259 h 604480"/>
              <a:gd name="connsiteX217" fmla="*/ 181515 w 480761"/>
              <a:gd name="connsiteY217" fmla="*/ 58783 h 604480"/>
              <a:gd name="connsiteX218" fmla="*/ 172880 w 480761"/>
              <a:gd name="connsiteY218" fmla="*/ 55167 h 604480"/>
              <a:gd name="connsiteX219" fmla="*/ 169538 w 480761"/>
              <a:gd name="connsiteY219" fmla="*/ 46916 h 604480"/>
              <a:gd name="connsiteX220" fmla="*/ 173252 w 480761"/>
              <a:gd name="connsiteY220" fmla="*/ 37923 h 604480"/>
              <a:gd name="connsiteX221" fmla="*/ 181515 w 480761"/>
              <a:gd name="connsiteY221" fmla="*/ 34585 h 604480"/>
              <a:gd name="connsiteX222" fmla="*/ 190335 w 480761"/>
              <a:gd name="connsiteY222" fmla="*/ 38108 h 604480"/>
              <a:gd name="connsiteX223" fmla="*/ 207698 w 480761"/>
              <a:gd name="connsiteY223" fmla="*/ 21050 h 604480"/>
              <a:gd name="connsiteX224" fmla="*/ 204077 w 480761"/>
              <a:gd name="connsiteY224" fmla="*/ 12335 h 604480"/>
              <a:gd name="connsiteX225" fmla="*/ 207512 w 480761"/>
              <a:gd name="connsiteY225" fmla="*/ 4176 h 6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</a:cxnLst>
            <a:rect l="l" t="t" r="r" b="b"/>
            <a:pathLst>
              <a:path w="480761" h="604480">
                <a:moveTo>
                  <a:pt x="206386" y="150815"/>
                </a:moveTo>
                <a:lnTo>
                  <a:pt x="224584" y="208288"/>
                </a:lnTo>
                <a:lnTo>
                  <a:pt x="235262" y="178161"/>
                </a:lnTo>
                <a:cubicBezTo>
                  <a:pt x="216228" y="151557"/>
                  <a:pt x="237490" y="150815"/>
                  <a:pt x="240368" y="150815"/>
                </a:cubicBezTo>
                <a:cubicBezTo>
                  <a:pt x="243154" y="150815"/>
                  <a:pt x="264509" y="151557"/>
                  <a:pt x="245382" y="178161"/>
                </a:cubicBezTo>
                <a:lnTo>
                  <a:pt x="256060" y="208288"/>
                </a:lnTo>
                <a:lnTo>
                  <a:pt x="274258" y="150815"/>
                </a:lnTo>
                <a:cubicBezTo>
                  <a:pt x="274258" y="150815"/>
                  <a:pt x="298120" y="160363"/>
                  <a:pt x="317618" y="174731"/>
                </a:cubicBezTo>
                <a:cubicBezTo>
                  <a:pt x="322632" y="178439"/>
                  <a:pt x="324861" y="180664"/>
                  <a:pt x="329503" y="185206"/>
                </a:cubicBezTo>
                <a:cubicBezTo>
                  <a:pt x="329874" y="185577"/>
                  <a:pt x="330246" y="186040"/>
                  <a:pt x="330617" y="186597"/>
                </a:cubicBezTo>
                <a:cubicBezTo>
                  <a:pt x="347330" y="174917"/>
                  <a:pt x="366364" y="167315"/>
                  <a:pt x="366364" y="167315"/>
                </a:cubicBezTo>
                <a:lnTo>
                  <a:pt x="382427" y="217928"/>
                </a:lnTo>
                <a:lnTo>
                  <a:pt x="391897" y="191417"/>
                </a:lnTo>
                <a:cubicBezTo>
                  <a:pt x="374999" y="167871"/>
                  <a:pt x="393847" y="167315"/>
                  <a:pt x="396354" y="167315"/>
                </a:cubicBezTo>
                <a:cubicBezTo>
                  <a:pt x="398768" y="167315"/>
                  <a:pt x="417616" y="167871"/>
                  <a:pt x="400811" y="191417"/>
                </a:cubicBezTo>
                <a:lnTo>
                  <a:pt x="410188" y="217928"/>
                </a:lnTo>
                <a:lnTo>
                  <a:pt x="426251" y="167315"/>
                </a:lnTo>
                <a:cubicBezTo>
                  <a:pt x="426251" y="167315"/>
                  <a:pt x="447328" y="175844"/>
                  <a:pt x="464505" y="188450"/>
                </a:cubicBezTo>
                <a:cubicBezTo>
                  <a:pt x="468961" y="191788"/>
                  <a:pt x="471097" y="193734"/>
                  <a:pt x="475089" y="197720"/>
                </a:cubicBezTo>
                <a:cubicBezTo>
                  <a:pt x="484560" y="207176"/>
                  <a:pt x="480475" y="262053"/>
                  <a:pt x="475089" y="282354"/>
                </a:cubicBezTo>
                <a:cubicBezTo>
                  <a:pt x="469519" y="302469"/>
                  <a:pt x="453363" y="331298"/>
                  <a:pt x="453363" y="331298"/>
                </a:cubicBezTo>
                <a:cubicBezTo>
                  <a:pt x="450206" y="338622"/>
                  <a:pt x="448163" y="346408"/>
                  <a:pt x="447328" y="354380"/>
                </a:cubicBezTo>
                <a:lnTo>
                  <a:pt x="426808" y="556092"/>
                </a:lnTo>
                <a:cubicBezTo>
                  <a:pt x="426158" y="562580"/>
                  <a:pt x="420680" y="567401"/>
                  <a:pt x="414274" y="567401"/>
                </a:cubicBezTo>
                <a:lnTo>
                  <a:pt x="396447" y="567401"/>
                </a:lnTo>
                <a:lnTo>
                  <a:pt x="378620" y="567401"/>
                </a:lnTo>
                <a:cubicBezTo>
                  <a:pt x="372213" y="567401"/>
                  <a:pt x="366735" y="562580"/>
                  <a:pt x="366085" y="556092"/>
                </a:cubicBezTo>
                <a:lnTo>
                  <a:pt x="345566" y="354380"/>
                </a:lnTo>
                <a:cubicBezTo>
                  <a:pt x="344823" y="346408"/>
                  <a:pt x="342688" y="338622"/>
                  <a:pt x="339531" y="331298"/>
                </a:cubicBezTo>
                <a:cubicBezTo>
                  <a:pt x="339531" y="331298"/>
                  <a:pt x="330432" y="315262"/>
                  <a:pt x="323654" y="298669"/>
                </a:cubicBezTo>
                <a:cubicBezTo>
                  <a:pt x="315854" y="317857"/>
                  <a:pt x="305177" y="336768"/>
                  <a:pt x="305177" y="336768"/>
                </a:cubicBezTo>
                <a:cubicBezTo>
                  <a:pt x="301463" y="345018"/>
                  <a:pt x="299142" y="353917"/>
                  <a:pt x="298306" y="362908"/>
                </a:cubicBezTo>
                <a:lnTo>
                  <a:pt x="275001" y="591595"/>
                </a:lnTo>
                <a:cubicBezTo>
                  <a:pt x="274258" y="598918"/>
                  <a:pt x="268037" y="604480"/>
                  <a:pt x="260795" y="604480"/>
                </a:cubicBezTo>
                <a:lnTo>
                  <a:pt x="240554" y="604480"/>
                </a:lnTo>
                <a:lnTo>
                  <a:pt x="220128" y="604480"/>
                </a:lnTo>
                <a:cubicBezTo>
                  <a:pt x="212885" y="604480"/>
                  <a:pt x="206664" y="598918"/>
                  <a:pt x="205922" y="591595"/>
                </a:cubicBezTo>
                <a:lnTo>
                  <a:pt x="182617" y="362908"/>
                </a:lnTo>
                <a:cubicBezTo>
                  <a:pt x="181781" y="353917"/>
                  <a:pt x="179460" y="345018"/>
                  <a:pt x="175746" y="336768"/>
                </a:cubicBezTo>
                <a:cubicBezTo>
                  <a:pt x="175746" y="336768"/>
                  <a:pt x="165161" y="317950"/>
                  <a:pt x="157362" y="298761"/>
                </a:cubicBezTo>
                <a:cubicBezTo>
                  <a:pt x="150491" y="315262"/>
                  <a:pt x="141578" y="331298"/>
                  <a:pt x="141578" y="331298"/>
                </a:cubicBezTo>
                <a:cubicBezTo>
                  <a:pt x="138328" y="338622"/>
                  <a:pt x="136378" y="346408"/>
                  <a:pt x="135450" y="354380"/>
                </a:cubicBezTo>
                <a:lnTo>
                  <a:pt x="114930" y="556092"/>
                </a:lnTo>
                <a:cubicBezTo>
                  <a:pt x="114280" y="562580"/>
                  <a:pt x="108895" y="567401"/>
                  <a:pt x="102396" y="567401"/>
                </a:cubicBezTo>
                <a:lnTo>
                  <a:pt x="84569" y="567401"/>
                </a:lnTo>
                <a:lnTo>
                  <a:pt x="66742" y="567401"/>
                </a:lnTo>
                <a:cubicBezTo>
                  <a:pt x="60335" y="567401"/>
                  <a:pt x="54857" y="562580"/>
                  <a:pt x="54300" y="556092"/>
                </a:cubicBezTo>
                <a:lnTo>
                  <a:pt x="33688" y="354380"/>
                </a:lnTo>
                <a:cubicBezTo>
                  <a:pt x="32945" y="346408"/>
                  <a:pt x="30902" y="338622"/>
                  <a:pt x="27653" y="331298"/>
                </a:cubicBezTo>
                <a:cubicBezTo>
                  <a:pt x="27653" y="331298"/>
                  <a:pt x="11590" y="302469"/>
                  <a:pt x="5740" y="282261"/>
                </a:cubicBezTo>
                <a:cubicBezTo>
                  <a:pt x="262" y="262053"/>
                  <a:pt x="-3823" y="207176"/>
                  <a:pt x="5740" y="197720"/>
                </a:cubicBezTo>
                <a:cubicBezTo>
                  <a:pt x="9733" y="193734"/>
                  <a:pt x="11776" y="191788"/>
                  <a:pt x="16232" y="188450"/>
                </a:cubicBezTo>
                <a:cubicBezTo>
                  <a:pt x="33502" y="175844"/>
                  <a:pt x="54486" y="167315"/>
                  <a:pt x="54486" y="167315"/>
                </a:cubicBezTo>
                <a:lnTo>
                  <a:pt x="70641" y="217928"/>
                </a:lnTo>
                <a:lnTo>
                  <a:pt x="80019" y="191417"/>
                </a:lnTo>
                <a:cubicBezTo>
                  <a:pt x="63214" y="167871"/>
                  <a:pt x="81969" y="167315"/>
                  <a:pt x="84476" y="167315"/>
                </a:cubicBezTo>
                <a:cubicBezTo>
                  <a:pt x="86983" y="167315"/>
                  <a:pt x="105738" y="167871"/>
                  <a:pt x="88933" y="191417"/>
                </a:cubicBezTo>
                <a:lnTo>
                  <a:pt x="98310" y="217928"/>
                </a:lnTo>
                <a:lnTo>
                  <a:pt x="114466" y="167315"/>
                </a:lnTo>
                <a:cubicBezTo>
                  <a:pt x="114466" y="167315"/>
                  <a:pt x="133500" y="174917"/>
                  <a:pt x="150120" y="186597"/>
                </a:cubicBezTo>
                <a:cubicBezTo>
                  <a:pt x="150491" y="186040"/>
                  <a:pt x="150863" y="185577"/>
                  <a:pt x="151234" y="185206"/>
                </a:cubicBezTo>
                <a:cubicBezTo>
                  <a:pt x="155691" y="180664"/>
                  <a:pt x="158012" y="178439"/>
                  <a:pt x="163119" y="174731"/>
                </a:cubicBezTo>
                <a:cubicBezTo>
                  <a:pt x="182524" y="160456"/>
                  <a:pt x="206386" y="150815"/>
                  <a:pt x="206386" y="150815"/>
                </a:cubicBezTo>
                <a:close/>
                <a:moveTo>
                  <a:pt x="95655" y="70639"/>
                </a:moveTo>
                <a:cubicBezTo>
                  <a:pt x="88857" y="67846"/>
                  <a:pt x="80992" y="67637"/>
                  <a:pt x="73707" y="70651"/>
                </a:cubicBezTo>
                <a:cubicBezTo>
                  <a:pt x="59136" y="76678"/>
                  <a:pt x="52176" y="93370"/>
                  <a:pt x="58208" y="108115"/>
                </a:cubicBezTo>
                <a:cubicBezTo>
                  <a:pt x="64333" y="122674"/>
                  <a:pt x="81131" y="129629"/>
                  <a:pt x="95701" y="123601"/>
                </a:cubicBezTo>
                <a:cubicBezTo>
                  <a:pt x="110364" y="117481"/>
                  <a:pt x="117231" y="100696"/>
                  <a:pt x="111199" y="86137"/>
                </a:cubicBezTo>
                <a:cubicBezTo>
                  <a:pt x="108183" y="78811"/>
                  <a:pt x="102453" y="73433"/>
                  <a:pt x="95655" y="70639"/>
                </a:cubicBezTo>
                <a:close/>
                <a:moveTo>
                  <a:pt x="385479" y="70524"/>
                </a:moveTo>
                <a:cubicBezTo>
                  <a:pt x="378689" y="73316"/>
                  <a:pt x="372978" y="78692"/>
                  <a:pt x="369960" y="85967"/>
                </a:cubicBezTo>
                <a:cubicBezTo>
                  <a:pt x="363832" y="100611"/>
                  <a:pt x="370796" y="117293"/>
                  <a:pt x="385374" y="123410"/>
                </a:cubicBezTo>
                <a:cubicBezTo>
                  <a:pt x="400045" y="129527"/>
                  <a:pt x="416852" y="122576"/>
                  <a:pt x="422888" y="108025"/>
                </a:cubicBezTo>
                <a:cubicBezTo>
                  <a:pt x="429016" y="93382"/>
                  <a:pt x="422052" y="76606"/>
                  <a:pt x="407474" y="70582"/>
                </a:cubicBezTo>
                <a:cubicBezTo>
                  <a:pt x="400139" y="67524"/>
                  <a:pt x="392269" y="67732"/>
                  <a:pt x="385479" y="70524"/>
                </a:cubicBezTo>
                <a:close/>
                <a:moveTo>
                  <a:pt x="228229" y="41145"/>
                </a:moveTo>
                <a:cubicBezTo>
                  <a:pt x="220557" y="44297"/>
                  <a:pt x="214105" y="50393"/>
                  <a:pt x="210669" y="58690"/>
                </a:cubicBezTo>
                <a:cubicBezTo>
                  <a:pt x="203705" y="75193"/>
                  <a:pt x="211505" y="94106"/>
                  <a:pt x="228124" y="101059"/>
                </a:cubicBezTo>
                <a:cubicBezTo>
                  <a:pt x="244651" y="108012"/>
                  <a:pt x="263592" y="100225"/>
                  <a:pt x="270555" y="83629"/>
                </a:cubicBezTo>
                <a:cubicBezTo>
                  <a:pt x="277519" y="67034"/>
                  <a:pt x="269720" y="48121"/>
                  <a:pt x="253100" y="41261"/>
                </a:cubicBezTo>
                <a:cubicBezTo>
                  <a:pt x="244790" y="37784"/>
                  <a:pt x="235900" y="37993"/>
                  <a:pt x="228229" y="41145"/>
                </a:cubicBezTo>
                <a:close/>
                <a:moveTo>
                  <a:pt x="375346" y="34622"/>
                </a:moveTo>
                <a:cubicBezTo>
                  <a:pt x="378225" y="33324"/>
                  <a:pt x="381567" y="34714"/>
                  <a:pt x="382682" y="37587"/>
                </a:cubicBezTo>
                <a:lnTo>
                  <a:pt x="385931" y="45373"/>
                </a:lnTo>
                <a:cubicBezTo>
                  <a:pt x="392803" y="43982"/>
                  <a:pt x="400138" y="43982"/>
                  <a:pt x="407288" y="45465"/>
                </a:cubicBezTo>
                <a:lnTo>
                  <a:pt x="410538" y="37680"/>
                </a:lnTo>
                <a:cubicBezTo>
                  <a:pt x="411745" y="34807"/>
                  <a:pt x="414995" y="33509"/>
                  <a:pt x="417873" y="34714"/>
                </a:cubicBezTo>
                <a:lnTo>
                  <a:pt x="425766" y="38051"/>
                </a:lnTo>
                <a:cubicBezTo>
                  <a:pt x="428644" y="39256"/>
                  <a:pt x="429944" y="42499"/>
                  <a:pt x="428737" y="45373"/>
                </a:cubicBezTo>
                <a:lnTo>
                  <a:pt x="425487" y="53158"/>
                </a:lnTo>
                <a:cubicBezTo>
                  <a:pt x="431616" y="57050"/>
                  <a:pt x="436816" y="62241"/>
                  <a:pt x="440623" y="68172"/>
                </a:cubicBezTo>
                <a:lnTo>
                  <a:pt x="448422" y="65021"/>
                </a:lnTo>
                <a:cubicBezTo>
                  <a:pt x="451301" y="63724"/>
                  <a:pt x="454644" y="65114"/>
                  <a:pt x="455758" y="67987"/>
                </a:cubicBezTo>
                <a:lnTo>
                  <a:pt x="458915" y="75865"/>
                </a:lnTo>
                <a:cubicBezTo>
                  <a:pt x="460215" y="78738"/>
                  <a:pt x="458822" y="82074"/>
                  <a:pt x="455944" y="83187"/>
                </a:cubicBezTo>
                <a:lnTo>
                  <a:pt x="448144" y="86338"/>
                </a:lnTo>
                <a:cubicBezTo>
                  <a:pt x="449630" y="93382"/>
                  <a:pt x="449630" y="100703"/>
                  <a:pt x="448144" y="107840"/>
                </a:cubicBezTo>
                <a:lnTo>
                  <a:pt x="455851" y="111084"/>
                </a:lnTo>
                <a:cubicBezTo>
                  <a:pt x="458729" y="112289"/>
                  <a:pt x="460029" y="115532"/>
                  <a:pt x="458822" y="118406"/>
                </a:cubicBezTo>
                <a:lnTo>
                  <a:pt x="455479" y="126284"/>
                </a:lnTo>
                <a:cubicBezTo>
                  <a:pt x="454272" y="129157"/>
                  <a:pt x="451022" y="130454"/>
                  <a:pt x="448144" y="129249"/>
                </a:cubicBezTo>
                <a:lnTo>
                  <a:pt x="440530" y="126005"/>
                </a:lnTo>
                <a:cubicBezTo>
                  <a:pt x="436537" y="132215"/>
                  <a:pt x="431244" y="137313"/>
                  <a:pt x="425302" y="141205"/>
                </a:cubicBezTo>
                <a:lnTo>
                  <a:pt x="428366" y="148805"/>
                </a:lnTo>
                <a:cubicBezTo>
                  <a:pt x="429573" y="151586"/>
                  <a:pt x="428273" y="154922"/>
                  <a:pt x="425395" y="156034"/>
                </a:cubicBezTo>
                <a:lnTo>
                  <a:pt x="417502" y="159278"/>
                </a:lnTo>
                <a:cubicBezTo>
                  <a:pt x="414623" y="160483"/>
                  <a:pt x="411281" y="159185"/>
                  <a:pt x="410166" y="156312"/>
                </a:cubicBezTo>
                <a:lnTo>
                  <a:pt x="407102" y="148805"/>
                </a:lnTo>
                <a:cubicBezTo>
                  <a:pt x="400045" y="150288"/>
                  <a:pt x="392710" y="150288"/>
                  <a:pt x="385374" y="148805"/>
                </a:cubicBezTo>
                <a:lnTo>
                  <a:pt x="382310" y="156312"/>
                </a:lnTo>
                <a:cubicBezTo>
                  <a:pt x="381103" y="159185"/>
                  <a:pt x="377853" y="160483"/>
                  <a:pt x="374975" y="159278"/>
                </a:cubicBezTo>
                <a:lnTo>
                  <a:pt x="367082" y="155942"/>
                </a:lnTo>
                <a:cubicBezTo>
                  <a:pt x="364204" y="154737"/>
                  <a:pt x="362904" y="151493"/>
                  <a:pt x="364111" y="148620"/>
                </a:cubicBezTo>
                <a:lnTo>
                  <a:pt x="367175" y="141113"/>
                </a:lnTo>
                <a:cubicBezTo>
                  <a:pt x="361046" y="137035"/>
                  <a:pt x="355847" y="131844"/>
                  <a:pt x="351947" y="125820"/>
                </a:cubicBezTo>
                <a:lnTo>
                  <a:pt x="344426" y="128879"/>
                </a:lnTo>
                <a:cubicBezTo>
                  <a:pt x="341547" y="130083"/>
                  <a:pt x="338204" y="128786"/>
                  <a:pt x="337090" y="125913"/>
                </a:cubicBezTo>
                <a:lnTo>
                  <a:pt x="333933" y="118035"/>
                </a:lnTo>
                <a:cubicBezTo>
                  <a:pt x="332633" y="115162"/>
                  <a:pt x="334026" y="111918"/>
                  <a:pt x="337090" y="110713"/>
                </a:cubicBezTo>
                <a:lnTo>
                  <a:pt x="344704" y="107655"/>
                </a:lnTo>
                <a:cubicBezTo>
                  <a:pt x="343311" y="100703"/>
                  <a:pt x="343218" y="93382"/>
                  <a:pt x="344797" y="86152"/>
                </a:cubicBezTo>
                <a:lnTo>
                  <a:pt x="337090" y="82909"/>
                </a:lnTo>
                <a:cubicBezTo>
                  <a:pt x="334304" y="81704"/>
                  <a:pt x="332912" y="78460"/>
                  <a:pt x="334119" y="75587"/>
                </a:cubicBezTo>
                <a:lnTo>
                  <a:pt x="337461" y="67709"/>
                </a:lnTo>
                <a:cubicBezTo>
                  <a:pt x="338761" y="64836"/>
                  <a:pt x="341918" y="63538"/>
                  <a:pt x="344797" y="64743"/>
                </a:cubicBezTo>
                <a:lnTo>
                  <a:pt x="352504" y="67987"/>
                </a:lnTo>
                <a:cubicBezTo>
                  <a:pt x="356589" y="61777"/>
                  <a:pt x="361789" y="56680"/>
                  <a:pt x="367732" y="52880"/>
                </a:cubicBezTo>
                <a:lnTo>
                  <a:pt x="364482" y="45095"/>
                </a:lnTo>
                <a:cubicBezTo>
                  <a:pt x="363275" y="42221"/>
                  <a:pt x="364575" y="38885"/>
                  <a:pt x="367453" y="37773"/>
                </a:cubicBezTo>
                <a:close/>
                <a:moveTo>
                  <a:pt x="105909" y="34578"/>
                </a:moveTo>
                <a:lnTo>
                  <a:pt x="113798" y="37731"/>
                </a:lnTo>
                <a:cubicBezTo>
                  <a:pt x="116489" y="39029"/>
                  <a:pt x="117881" y="42182"/>
                  <a:pt x="116767" y="45057"/>
                </a:cubicBezTo>
                <a:lnTo>
                  <a:pt x="113798" y="52939"/>
                </a:lnTo>
                <a:cubicBezTo>
                  <a:pt x="119737" y="56834"/>
                  <a:pt x="124934" y="61841"/>
                  <a:pt x="129017" y="68054"/>
                </a:cubicBezTo>
                <a:lnTo>
                  <a:pt x="136720" y="64809"/>
                </a:lnTo>
                <a:cubicBezTo>
                  <a:pt x="139504" y="63603"/>
                  <a:pt x="142752" y="64994"/>
                  <a:pt x="143959" y="67776"/>
                </a:cubicBezTo>
                <a:lnTo>
                  <a:pt x="147300" y="75751"/>
                </a:lnTo>
                <a:cubicBezTo>
                  <a:pt x="148599" y="78533"/>
                  <a:pt x="147207" y="81779"/>
                  <a:pt x="144330" y="82984"/>
                </a:cubicBezTo>
                <a:lnTo>
                  <a:pt x="136720" y="86230"/>
                </a:lnTo>
                <a:cubicBezTo>
                  <a:pt x="138298" y="93370"/>
                  <a:pt x="138298" y="100696"/>
                  <a:pt x="136813" y="107744"/>
                </a:cubicBezTo>
                <a:lnTo>
                  <a:pt x="144330" y="110804"/>
                </a:lnTo>
                <a:cubicBezTo>
                  <a:pt x="147114" y="112102"/>
                  <a:pt x="148413" y="115255"/>
                  <a:pt x="147300" y="118130"/>
                </a:cubicBezTo>
                <a:lnTo>
                  <a:pt x="144144" y="126012"/>
                </a:lnTo>
                <a:cubicBezTo>
                  <a:pt x="142845" y="128794"/>
                  <a:pt x="139690" y="130092"/>
                  <a:pt x="136813" y="128979"/>
                </a:cubicBezTo>
                <a:lnTo>
                  <a:pt x="129296" y="125919"/>
                </a:lnTo>
                <a:cubicBezTo>
                  <a:pt x="125398" y="131854"/>
                  <a:pt x="120201" y="137140"/>
                  <a:pt x="114076" y="141220"/>
                </a:cubicBezTo>
                <a:lnTo>
                  <a:pt x="117139" y="148824"/>
                </a:lnTo>
                <a:cubicBezTo>
                  <a:pt x="118345" y="151606"/>
                  <a:pt x="117046" y="154852"/>
                  <a:pt x="114169" y="156057"/>
                </a:cubicBezTo>
                <a:lnTo>
                  <a:pt x="106281" y="159396"/>
                </a:lnTo>
                <a:cubicBezTo>
                  <a:pt x="103404" y="160694"/>
                  <a:pt x="100156" y="159303"/>
                  <a:pt x="98949" y="156428"/>
                </a:cubicBezTo>
                <a:lnTo>
                  <a:pt x="95887" y="148917"/>
                </a:lnTo>
                <a:cubicBezTo>
                  <a:pt x="88555" y="150401"/>
                  <a:pt x="81224" y="150401"/>
                  <a:pt x="74171" y="148917"/>
                </a:cubicBezTo>
                <a:lnTo>
                  <a:pt x="71108" y="156428"/>
                </a:lnTo>
                <a:cubicBezTo>
                  <a:pt x="69902" y="159210"/>
                  <a:pt x="66654" y="160509"/>
                  <a:pt x="63777" y="159396"/>
                </a:cubicBezTo>
                <a:lnTo>
                  <a:pt x="55888" y="156243"/>
                </a:lnTo>
                <a:cubicBezTo>
                  <a:pt x="53197" y="154945"/>
                  <a:pt x="51805" y="151792"/>
                  <a:pt x="52919" y="148917"/>
                </a:cubicBezTo>
                <a:lnTo>
                  <a:pt x="55981" y="141406"/>
                </a:lnTo>
                <a:cubicBezTo>
                  <a:pt x="50042" y="137511"/>
                  <a:pt x="44845" y="132318"/>
                  <a:pt x="40761" y="126198"/>
                </a:cubicBezTo>
                <a:lnTo>
                  <a:pt x="33151" y="129350"/>
                </a:lnTo>
                <a:cubicBezTo>
                  <a:pt x="30275" y="130649"/>
                  <a:pt x="27026" y="129258"/>
                  <a:pt x="25820" y="126383"/>
                </a:cubicBezTo>
                <a:lnTo>
                  <a:pt x="22479" y="118501"/>
                </a:lnTo>
                <a:cubicBezTo>
                  <a:pt x="21273" y="115626"/>
                  <a:pt x="22572" y="112473"/>
                  <a:pt x="25449" y="111175"/>
                </a:cubicBezTo>
                <a:lnTo>
                  <a:pt x="33151" y="108022"/>
                </a:lnTo>
                <a:cubicBezTo>
                  <a:pt x="31667" y="100696"/>
                  <a:pt x="31667" y="93370"/>
                  <a:pt x="33151" y="86508"/>
                </a:cubicBezTo>
                <a:lnTo>
                  <a:pt x="25356" y="83262"/>
                </a:lnTo>
                <a:cubicBezTo>
                  <a:pt x="22479" y="82057"/>
                  <a:pt x="21087" y="78811"/>
                  <a:pt x="22201" y="75936"/>
                </a:cubicBezTo>
                <a:lnTo>
                  <a:pt x="25542" y="67961"/>
                </a:lnTo>
                <a:cubicBezTo>
                  <a:pt x="26841" y="65180"/>
                  <a:pt x="29996" y="63881"/>
                  <a:pt x="32873" y="64994"/>
                </a:cubicBezTo>
                <a:lnTo>
                  <a:pt x="40669" y="68147"/>
                </a:lnTo>
                <a:cubicBezTo>
                  <a:pt x="44473" y="62398"/>
                  <a:pt x="49578" y="57205"/>
                  <a:pt x="55796" y="53124"/>
                </a:cubicBezTo>
                <a:lnTo>
                  <a:pt x="52547" y="45335"/>
                </a:lnTo>
                <a:cubicBezTo>
                  <a:pt x="51341" y="42460"/>
                  <a:pt x="52640" y="39214"/>
                  <a:pt x="55517" y="38009"/>
                </a:cubicBezTo>
                <a:lnTo>
                  <a:pt x="63405" y="34671"/>
                </a:lnTo>
                <a:cubicBezTo>
                  <a:pt x="66282" y="33465"/>
                  <a:pt x="69530" y="34763"/>
                  <a:pt x="70737" y="37638"/>
                </a:cubicBezTo>
                <a:lnTo>
                  <a:pt x="73985" y="45427"/>
                </a:lnTo>
                <a:cubicBezTo>
                  <a:pt x="81131" y="43851"/>
                  <a:pt x="88462" y="43944"/>
                  <a:pt x="95330" y="45335"/>
                </a:cubicBezTo>
                <a:lnTo>
                  <a:pt x="98578" y="37545"/>
                </a:lnTo>
                <a:cubicBezTo>
                  <a:pt x="99784" y="34763"/>
                  <a:pt x="103032" y="33465"/>
                  <a:pt x="105909" y="34578"/>
                </a:cubicBezTo>
                <a:close/>
                <a:moveTo>
                  <a:pt x="216611" y="468"/>
                </a:moveTo>
                <a:cubicBezTo>
                  <a:pt x="219768" y="-830"/>
                  <a:pt x="223389" y="653"/>
                  <a:pt x="224782" y="3898"/>
                </a:cubicBezTo>
                <a:lnTo>
                  <a:pt x="228496" y="12798"/>
                </a:lnTo>
                <a:cubicBezTo>
                  <a:pt x="236388" y="11222"/>
                  <a:pt x="244558" y="11222"/>
                  <a:pt x="252729" y="12891"/>
                </a:cubicBezTo>
                <a:lnTo>
                  <a:pt x="256442" y="3991"/>
                </a:lnTo>
                <a:cubicBezTo>
                  <a:pt x="257835" y="839"/>
                  <a:pt x="261549" y="-645"/>
                  <a:pt x="264706" y="653"/>
                </a:cubicBezTo>
                <a:lnTo>
                  <a:pt x="273805" y="4362"/>
                </a:lnTo>
                <a:cubicBezTo>
                  <a:pt x="276962" y="5752"/>
                  <a:pt x="278447" y="9461"/>
                  <a:pt x="277147" y="12706"/>
                </a:cubicBezTo>
                <a:lnTo>
                  <a:pt x="273433" y="21606"/>
                </a:lnTo>
                <a:cubicBezTo>
                  <a:pt x="280304" y="26149"/>
                  <a:pt x="286061" y="32082"/>
                  <a:pt x="290517" y="38757"/>
                </a:cubicBezTo>
                <a:lnTo>
                  <a:pt x="299431" y="35049"/>
                </a:lnTo>
                <a:cubicBezTo>
                  <a:pt x="302587" y="33844"/>
                  <a:pt x="306208" y="35327"/>
                  <a:pt x="307601" y="38479"/>
                </a:cubicBezTo>
                <a:lnTo>
                  <a:pt x="311315" y="47565"/>
                </a:lnTo>
                <a:cubicBezTo>
                  <a:pt x="312522" y="50717"/>
                  <a:pt x="311036" y="54333"/>
                  <a:pt x="307787" y="55723"/>
                </a:cubicBezTo>
                <a:lnTo>
                  <a:pt x="299059" y="59246"/>
                </a:lnTo>
                <a:cubicBezTo>
                  <a:pt x="300638" y="67220"/>
                  <a:pt x="300730" y="75471"/>
                  <a:pt x="299059" y="83629"/>
                </a:cubicBezTo>
                <a:lnTo>
                  <a:pt x="307787" y="87245"/>
                </a:lnTo>
                <a:cubicBezTo>
                  <a:pt x="311036" y="88543"/>
                  <a:pt x="312522" y="92251"/>
                  <a:pt x="311129" y="95496"/>
                </a:cubicBezTo>
                <a:lnTo>
                  <a:pt x="307415" y="104489"/>
                </a:lnTo>
                <a:cubicBezTo>
                  <a:pt x="306116" y="107734"/>
                  <a:pt x="302402" y="109217"/>
                  <a:pt x="299152" y="107827"/>
                </a:cubicBezTo>
                <a:lnTo>
                  <a:pt x="290517" y="104304"/>
                </a:lnTo>
                <a:cubicBezTo>
                  <a:pt x="285875" y="111350"/>
                  <a:pt x="279933" y="117098"/>
                  <a:pt x="273155" y="121548"/>
                </a:cubicBezTo>
                <a:lnTo>
                  <a:pt x="276776" y="130263"/>
                </a:lnTo>
                <a:cubicBezTo>
                  <a:pt x="277983" y="133415"/>
                  <a:pt x="276497" y="137031"/>
                  <a:pt x="273248" y="138421"/>
                </a:cubicBezTo>
                <a:lnTo>
                  <a:pt x="264242" y="142130"/>
                </a:lnTo>
                <a:cubicBezTo>
                  <a:pt x="260992" y="143335"/>
                  <a:pt x="257464" y="141852"/>
                  <a:pt x="256071" y="138607"/>
                </a:cubicBezTo>
                <a:lnTo>
                  <a:pt x="252636" y="130077"/>
                </a:lnTo>
                <a:cubicBezTo>
                  <a:pt x="244651" y="131839"/>
                  <a:pt x="236388" y="131839"/>
                  <a:pt x="228124" y="130077"/>
                </a:cubicBezTo>
                <a:lnTo>
                  <a:pt x="224503" y="138607"/>
                </a:lnTo>
                <a:cubicBezTo>
                  <a:pt x="223110" y="141852"/>
                  <a:pt x="219397" y="143335"/>
                  <a:pt x="216240" y="141944"/>
                </a:cubicBezTo>
                <a:lnTo>
                  <a:pt x="207141" y="138236"/>
                </a:lnTo>
                <a:cubicBezTo>
                  <a:pt x="203984" y="136938"/>
                  <a:pt x="202498" y="133230"/>
                  <a:pt x="203798" y="129985"/>
                </a:cubicBezTo>
                <a:lnTo>
                  <a:pt x="207419" y="121455"/>
                </a:lnTo>
                <a:cubicBezTo>
                  <a:pt x="200363" y="116727"/>
                  <a:pt x="194514" y="110794"/>
                  <a:pt x="190057" y="104026"/>
                </a:cubicBezTo>
                <a:lnTo>
                  <a:pt x="181515" y="107456"/>
                </a:lnTo>
                <a:cubicBezTo>
                  <a:pt x="178358" y="108754"/>
                  <a:pt x="174737" y="107271"/>
                  <a:pt x="173344" y="104026"/>
                </a:cubicBezTo>
                <a:lnTo>
                  <a:pt x="169631" y="95033"/>
                </a:lnTo>
                <a:cubicBezTo>
                  <a:pt x="168424" y="91788"/>
                  <a:pt x="169909" y="88079"/>
                  <a:pt x="172787" y="86874"/>
                </a:cubicBezTo>
                <a:lnTo>
                  <a:pt x="181422" y="83259"/>
                </a:lnTo>
                <a:cubicBezTo>
                  <a:pt x="179844" y="75378"/>
                  <a:pt x="179844" y="66941"/>
                  <a:pt x="181515" y="58783"/>
                </a:cubicBezTo>
                <a:lnTo>
                  <a:pt x="172880" y="55167"/>
                </a:lnTo>
                <a:cubicBezTo>
                  <a:pt x="169631" y="53869"/>
                  <a:pt x="168145" y="50161"/>
                  <a:pt x="169538" y="46916"/>
                </a:cubicBezTo>
                <a:lnTo>
                  <a:pt x="173252" y="37923"/>
                </a:lnTo>
                <a:cubicBezTo>
                  <a:pt x="174644" y="34678"/>
                  <a:pt x="178358" y="33195"/>
                  <a:pt x="181515" y="34585"/>
                </a:cubicBezTo>
                <a:lnTo>
                  <a:pt x="190335" y="38108"/>
                </a:lnTo>
                <a:cubicBezTo>
                  <a:pt x="194885" y="31248"/>
                  <a:pt x="200827" y="25407"/>
                  <a:pt x="207698" y="21050"/>
                </a:cubicBezTo>
                <a:lnTo>
                  <a:pt x="204077" y="12335"/>
                </a:lnTo>
                <a:cubicBezTo>
                  <a:pt x="202870" y="9090"/>
                  <a:pt x="204355" y="5474"/>
                  <a:pt x="207512" y="4176"/>
                </a:cubicBezTo>
                <a:close/>
              </a:path>
            </a:pathLst>
          </a:custGeom>
          <a:solidFill>
            <a:srgbClr val="0A4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760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D8DDCD87-FCBB-4EB0-8F85-8248CEC301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A194ADE-1853-47A6-9DAC-51714FAB21E9}"/>
              </a:ext>
            </a:extLst>
          </p:cNvPr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A032451-97AF-49B6-A43F-6FCC310CE42D}"/>
                </a:ext>
              </a:extLst>
            </p:cNvPr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3FF0E944-93D6-4287-95F3-45880351E822}"/>
                  </a:ext>
                </a:extLst>
              </p:cNvPr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7579EBC3-32B0-4C84-8E1F-165122BAB75D}"/>
                  </a:ext>
                </a:extLst>
              </p:cNvPr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6" name="Freeform 116">
              <a:extLst>
                <a:ext uri="{FF2B5EF4-FFF2-40B4-BE49-F238E27FC236}">
                  <a16:creationId xmlns:a16="http://schemas.microsoft.com/office/drawing/2014/main" id="{EFEFF6A6-0655-49AD-A393-28782A3382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F01B3017-7F3A-4AEF-9AC4-BF660BB51268}"/>
              </a:ext>
            </a:extLst>
          </p:cNvPr>
          <p:cNvSpPr/>
          <p:nvPr/>
        </p:nvSpPr>
        <p:spPr>
          <a:xfrm>
            <a:off x="1285690" y="483099"/>
            <a:ext cx="61014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报名参赛 </a:t>
            </a:r>
          </a:p>
        </p:txBody>
      </p: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631D185E-CAD3-4434-B78D-E6B1FFB73DD4}"/>
              </a:ext>
            </a:extLst>
          </p:cNvPr>
          <p:cNvSpPr txBox="1">
            <a:spLocks/>
          </p:cNvSpPr>
          <p:nvPr/>
        </p:nvSpPr>
        <p:spPr>
          <a:xfrm>
            <a:off x="459431" y="1492657"/>
            <a:ext cx="11376397" cy="95259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学校建群：在元旦前后，西电数模协会将发布美赛预报名的通知，请关注西电教务处官网（辅导员应该也会通知），及时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进入通知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QQ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群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，关注群内消息。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208E0D41-DD22-4A09-9B7F-E749E64E9486}"/>
              </a:ext>
            </a:extLst>
          </p:cNvPr>
          <p:cNvSpPr txBox="1">
            <a:spLocks/>
          </p:cNvSpPr>
          <p:nvPr/>
        </p:nvSpPr>
        <p:spPr>
          <a:xfrm>
            <a:off x="459430" y="2587259"/>
            <a:ext cx="11376397" cy="95259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指导教师分配：每一支队伍都会分配指导老师，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指导老师并不起决定性的作用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，但做完培训作品后可以交给老师点评，有数模学习上的问题也可以随时询问。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4221FCBD-91FE-4734-B3B6-82378F165991}"/>
              </a:ext>
            </a:extLst>
          </p:cNvPr>
          <p:cNvSpPr txBox="1">
            <a:spLocks/>
          </p:cNvSpPr>
          <p:nvPr/>
        </p:nvSpPr>
        <p:spPr>
          <a:xfrm>
            <a:off x="459429" y="3681861"/>
            <a:ext cx="11376397" cy="95259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学校组织培训：在寒假到美赛的这段时间，学校可能会组织线上培训，进行一些基本模型的教学，可以跟着学校学习，也可以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自己跟着网上的课程学习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，自己读论文等。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Placeholder 33">
            <a:extLst>
              <a:ext uri="{FF2B5EF4-FFF2-40B4-BE49-F238E27FC236}">
                <a16:creationId xmlns:a16="http://schemas.microsoft.com/office/drawing/2014/main" id="{6AA5D4B5-724B-4B03-9342-AEDB7F0C6E13}"/>
              </a:ext>
            </a:extLst>
          </p:cNvPr>
          <p:cNvSpPr txBox="1">
            <a:spLocks/>
          </p:cNvSpPr>
          <p:nvPr/>
        </p:nvSpPr>
        <p:spPr>
          <a:xfrm>
            <a:off x="459428" y="4722629"/>
            <a:ext cx="11376397" cy="95259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官网注册缴费：美赛最终报名成功，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是以美国报名官网上报名为准的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，学校不会代理报名。到时候学校会提供报名教程，跟着教程操作即可。缴费需要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visa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卡支付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，可以提前办理，或者找人代付。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Placeholder 33">
            <a:extLst>
              <a:ext uri="{FF2B5EF4-FFF2-40B4-BE49-F238E27FC236}">
                <a16:creationId xmlns:a16="http://schemas.microsoft.com/office/drawing/2014/main" id="{06C9FCAB-7FC3-4B0F-9F52-14CE3A591D5F}"/>
              </a:ext>
            </a:extLst>
          </p:cNvPr>
          <p:cNvSpPr txBox="1">
            <a:spLocks/>
          </p:cNvSpPr>
          <p:nvPr/>
        </p:nvSpPr>
        <p:spPr>
          <a:xfrm>
            <a:off x="459427" y="6058725"/>
            <a:ext cx="10907819" cy="316176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官网报名完成后，直到竞赛开始，基本就没什么操作了。期间记得随时关注通知群内消息。</a:t>
            </a:r>
            <a:r>
              <a:rPr 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</a:t>
            </a:r>
          </a:p>
        </p:txBody>
      </p:sp>
      <p:pic>
        <p:nvPicPr>
          <p:cNvPr id="3" name="图形 2" descr="清单 纯色填充">
            <a:extLst>
              <a:ext uri="{FF2B5EF4-FFF2-40B4-BE49-F238E27FC236}">
                <a16:creationId xmlns:a16="http://schemas.microsoft.com/office/drawing/2014/main" id="{9986F3D3-8C6C-4CFA-B78B-1961D7F30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3273" y="265051"/>
            <a:ext cx="1156448" cy="103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428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zh-CN" altLang="en-US" sz="2400"/>
          </a:p>
        </p:txBody>
      </p:sp>
      <p:pic>
        <p:nvPicPr>
          <p:cNvPr id="5" name="Picture 2" descr="F:\案例二\394\1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6" t="53859" r="38373" b="13773"/>
          <a:stretch/>
        </p:blipFill>
        <p:spPr bwMode="auto">
          <a:xfrm>
            <a:off x="1028624" y="-40"/>
            <a:ext cx="11163376" cy="6858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F:\案例二\394\1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6" t="53859" r="38006" b="13773"/>
          <a:stretch/>
        </p:blipFill>
        <p:spPr bwMode="auto">
          <a:xfrm rot="10800000">
            <a:off x="-1" y="1"/>
            <a:ext cx="11239497" cy="6858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5259651" y="1471952"/>
            <a:ext cx="1672699" cy="1672699"/>
            <a:chOff x="2494238" y="1545926"/>
            <a:chExt cx="1170130" cy="1170130"/>
          </a:xfrm>
        </p:grpSpPr>
        <p:sp>
          <p:nvSpPr>
            <p:cNvPr id="8" name="椭圆 7"/>
            <p:cNvSpPr/>
            <p:nvPr/>
          </p:nvSpPr>
          <p:spPr>
            <a:xfrm>
              <a:off x="2494238" y="1545926"/>
              <a:ext cx="1170130" cy="1170130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9" name="椭圆 8"/>
            <p:cNvSpPr/>
            <p:nvPr/>
          </p:nvSpPr>
          <p:spPr>
            <a:xfrm>
              <a:off x="2633023" y="1684711"/>
              <a:ext cx="892559" cy="892559"/>
            </a:xfrm>
            <a:prstGeom prst="ellipse">
              <a:avLst/>
            </a:prstGeom>
            <a:solidFill>
              <a:srgbClr val="0A4776"/>
            </a:solidFill>
            <a:ln>
              <a:noFill/>
            </a:ln>
            <a:effectLst>
              <a:innerShdw blurRad="63500" dist="50800" dir="18900000">
                <a:prstClr val="black">
                  <a:alpha val="3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0" name="矩形 9"/>
          <p:cNvSpPr/>
          <p:nvPr/>
        </p:nvSpPr>
        <p:spPr>
          <a:xfrm>
            <a:off x="3692833" y="3449901"/>
            <a:ext cx="480632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美赛作品讲解</a:t>
            </a:r>
          </a:p>
        </p:txBody>
      </p:sp>
      <p:sp>
        <p:nvSpPr>
          <p:cNvPr id="12" name="Freeform 116"/>
          <p:cNvSpPr>
            <a:spLocks noEditPoints="1"/>
          </p:cNvSpPr>
          <p:nvPr/>
        </p:nvSpPr>
        <p:spPr bwMode="auto">
          <a:xfrm>
            <a:off x="5799421" y="2069162"/>
            <a:ext cx="593152" cy="478279"/>
          </a:xfrm>
          <a:custGeom>
            <a:avLst/>
            <a:gdLst/>
            <a:ahLst/>
            <a:cxnLst>
              <a:cxn ang="0">
                <a:pos x="55" y="27"/>
              </a:cxn>
              <a:cxn ang="0">
                <a:pos x="54" y="27"/>
              </a:cxn>
              <a:cxn ang="0">
                <a:pos x="54" y="27"/>
              </a:cxn>
              <a:cxn ang="0">
                <a:pos x="53" y="27"/>
              </a:cxn>
              <a:cxn ang="0">
                <a:pos x="28" y="6"/>
              </a:cxn>
              <a:cxn ang="0">
                <a:pos x="4" y="27"/>
              </a:cxn>
              <a:cxn ang="0">
                <a:pos x="3" y="27"/>
              </a:cxn>
              <a:cxn ang="0">
                <a:pos x="2" y="27"/>
              </a:cxn>
              <a:cxn ang="0">
                <a:pos x="0" y="24"/>
              </a:cxn>
              <a:cxn ang="0">
                <a:pos x="0" y="23"/>
              </a:cxn>
              <a:cxn ang="0">
                <a:pos x="26" y="1"/>
              </a:cxn>
              <a:cxn ang="0">
                <a:pos x="31" y="1"/>
              </a:cxn>
              <a:cxn ang="0">
                <a:pos x="40" y="8"/>
              </a:cxn>
              <a:cxn ang="0">
                <a:pos x="40" y="1"/>
              </a:cxn>
              <a:cxn ang="0">
                <a:pos x="41" y="0"/>
              </a:cxn>
              <a:cxn ang="0">
                <a:pos x="48" y="0"/>
              </a:cxn>
              <a:cxn ang="0">
                <a:pos x="49" y="1"/>
              </a:cxn>
              <a:cxn ang="0">
                <a:pos x="49" y="16"/>
              </a:cxn>
              <a:cxn ang="0">
                <a:pos x="57" y="23"/>
              </a:cxn>
              <a:cxn ang="0">
                <a:pos x="57" y="24"/>
              </a:cxn>
              <a:cxn ang="0">
                <a:pos x="55" y="27"/>
              </a:cxn>
              <a:cxn ang="0">
                <a:pos x="49" y="44"/>
              </a:cxn>
              <a:cxn ang="0">
                <a:pos x="47" y="46"/>
              </a:cxn>
              <a:cxn ang="0">
                <a:pos x="33" y="46"/>
              </a:cxn>
              <a:cxn ang="0">
                <a:pos x="33" y="32"/>
              </a:cxn>
              <a:cxn ang="0">
                <a:pos x="24" y="32"/>
              </a:cxn>
              <a:cxn ang="0">
                <a:pos x="24" y="46"/>
              </a:cxn>
              <a:cxn ang="0">
                <a:pos x="10" y="46"/>
              </a:cxn>
              <a:cxn ang="0">
                <a:pos x="8" y="44"/>
              </a:cxn>
              <a:cxn ang="0">
                <a:pos x="8" y="27"/>
              </a:cxn>
              <a:cxn ang="0">
                <a:pos x="8" y="26"/>
              </a:cxn>
              <a:cxn ang="0">
                <a:pos x="28" y="9"/>
              </a:cxn>
              <a:cxn ang="0">
                <a:pos x="49" y="26"/>
              </a:cxn>
              <a:cxn ang="0">
                <a:pos x="49" y="27"/>
              </a:cxn>
              <a:cxn ang="0">
                <a:pos x="49" y="44"/>
              </a:cxn>
            </a:cxnLst>
            <a:rect l="0" t="0" r="r" b="b"/>
            <a:pathLst>
              <a:path w="57" h="46">
                <a:moveTo>
                  <a:pt x="55" y="27"/>
                </a:moveTo>
                <a:cubicBezTo>
                  <a:pt x="55" y="27"/>
                  <a:pt x="54" y="27"/>
                  <a:pt x="54" y="27"/>
                </a:cubicBezTo>
                <a:cubicBezTo>
                  <a:pt x="54" y="27"/>
                  <a:pt x="54" y="27"/>
                  <a:pt x="54" y="27"/>
                </a:cubicBezTo>
                <a:cubicBezTo>
                  <a:pt x="54" y="27"/>
                  <a:pt x="53" y="27"/>
                  <a:pt x="53" y="27"/>
                </a:cubicBezTo>
                <a:cubicBezTo>
                  <a:pt x="28" y="6"/>
                  <a:pt x="28" y="6"/>
                  <a:pt x="28" y="6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3" y="27"/>
                  <a:pt x="3" y="27"/>
                </a:cubicBezTo>
                <a:cubicBezTo>
                  <a:pt x="3" y="27"/>
                  <a:pt x="2" y="27"/>
                  <a:pt x="2" y="27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0" y="23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30" y="0"/>
                  <a:pt x="31" y="1"/>
                </a:cubicBezTo>
                <a:cubicBezTo>
                  <a:pt x="40" y="8"/>
                  <a:pt x="40" y="8"/>
                  <a:pt x="40" y="8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1"/>
                  <a:pt x="40" y="0"/>
                  <a:pt x="4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49" y="1"/>
                  <a:pt x="49" y="1"/>
                </a:cubicBezTo>
                <a:cubicBezTo>
                  <a:pt x="49" y="16"/>
                  <a:pt x="49" y="16"/>
                  <a:pt x="49" y="16"/>
                </a:cubicBezTo>
                <a:cubicBezTo>
                  <a:pt x="57" y="23"/>
                  <a:pt x="57" y="23"/>
                  <a:pt x="57" y="23"/>
                </a:cubicBezTo>
                <a:cubicBezTo>
                  <a:pt x="57" y="23"/>
                  <a:pt x="57" y="24"/>
                  <a:pt x="57" y="24"/>
                </a:cubicBezTo>
                <a:lnTo>
                  <a:pt x="55" y="27"/>
                </a:lnTo>
                <a:close/>
                <a:moveTo>
                  <a:pt x="49" y="44"/>
                </a:moveTo>
                <a:cubicBezTo>
                  <a:pt x="49" y="45"/>
                  <a:pt x="48" y="46"/>
                  <a:pt x="47" y="46"/>
                </a:cubicBezTo>
                <a:cubicBezTo>
                  <a:pt x="33" y="46"/>
                  <a:pt x="33" y="46"/>
                  <a:pt x="33" y="46"/>
                </a:cubicBezTo>
                <a:cubicBezTo>
                  <a:pt x="33" y="32"/>
                  <a:pt x="33" y="32"/>
                  <a:pt x="33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46"/>
                  <a:pt x="24" y="46"/>
                  <a:pt x="24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9" y="46"/>
                  <a:pt x="8" y="45"/>
                  <a:pt x="8" y="44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6"/>
                  <a:pt x="8" y="26"/>
                </a:cubicBezTo>
                <a:cubicBezTo>
                  <a:pt x="28" y="9"/>
                  <a:pt x="28" y="9"/>
                  <a:pt x="28" y="9"/>
                </a:cubicBezTo>
                <a:cubicBezTo>
                  <a:pt x="49" y="26"/>
                  <a:pt x="49" y="26"/>
                  <a:pt x="49" y="26"/>
                </a:cubicBezTo>
                <a:cubicBezTo>
                  <a:pt x="49" y="26"/>
                  <a:pt x="49" y="27"/>
                  <a:pt x="49" y="27"/>
                </a:cubicBezTo>
                <a:lnTo>
                  <a:pt x="49" y="4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65811" tIns="82905" rIns="165811" bIns="82905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grpSp>
        <p:nvGrpSpPr>
          <p:cNvPr id="13" name="组 12"/>
          <p:cNvGrpSpPr/>
          <p:nvPr/>
        </p:nvGrpSpPr>
        <p:grpSpPr>
          <a:xfrm>
            <a:off x="5235749" y="4399846"/>
            <a:ext cx="1720497" cy="1229085"/>
            <a:chOff x="7837714" y="338406"/>
            <a:chExt cx="1290373" cy="921814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594" r="71827"/>
            <a:stretch/>
          </p:blipFill>
          <p:spPr>
            <a:xfrm>
              <a:off x="8205314" y="338406"/>
              <a:ext cx="555172" cy="460907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491"/>
            <a:stretch/>
          </p:blipFill>
          <p:spPr>
            <a:xfrm>
              <a:off x="7837714" y="799313"/>
              <a:ext cx="1290373" cy="4609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4544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228771D3-07DF-471D-B3CD-76C71E287C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A9EAF0-462C-44F1-AA65-A8C5650093E6}"/>
              </a:ext>
            </a:extLst>
          </p:cNvPr>
          <p:cNvSpPr/>
          <p:nvPr/>
        </p:nvSpPr>
        <p:spPr>
          <a:xfrm>
            <a:off x="1258028" y="466133"/>
            <a:ext cx="36815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美赛论文结构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01306C1-68A6-486A-8C4A-2381DBDA1EAA}"/>
              </a:ext>
            </a:extLst>
          </p:cNvPr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75532C1-6D95-4F46-B009-18EBC90145A6}"/>
                </a:ext>
              </a:extLst>
            </p:cNvPr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3E836D7A-52CD-4E38-8006-544A3CCA9AB5}"/>
                  </a:ext>
                </a:extLst>
              </p:cNvPr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1591FF4E-3B75-4AB2-BA63-5C052648C7D9}"/>
                  </a:ext>
                </a:extLst>
              </p:cNvPr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5" name="Freeform 116">
              <a:extLst>
                <a:ext uri="{FF2B5EF4-FFF2-40B4-BE49-F238E27FC236}">
                  <a16:creationId xmlns:a16="http://schemas.microsoft.com/office/drawing/2014/main" id="{3CBD7C0C-AB58-4FAA-AA10-FE89ECBB19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pic>
        <p:nvPicPr>
          <p:cNvPr id="45" name="图片 44">
            <a:extLst>
              <a:ext uri="{FF2B5EF4-FFF2-40B4-BE49-F238E27FC236}">
                <a16:creationId xmlns:a16="http://schemas.microsoft.com/office/drawing/2014/main" id="{EA5C2A0C-6402-4451-8E2D-1942ACE07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431" y="1933396"/>
            <a:ext cx="9164547" cy="4756295"/>
          </a:xfrm>
          <a:prstGeom prst="rect">
            <a:avLst/>
          </a:prstGeom>
        </p:spPr>
      </p:pic>
      <p:sp>
        <p:nvSpPr>
          <p:cNvPr id="47" name="Text Placeholder 33">
            <a:extLst>
              <a:ext uri="{FF2B5EF4-FFF2-40B4-BE49-F238E27FC236}">
                <a16:creationId xmlns:a16="http://schemas.microsoft.com/office/drawing/2014/main" id="{08AA781A-2F65-4E1F-A433-E3C287BAAE8D}"/>
              </a:ext>
            </a:extLst>
          </p:cNvPr>
          <p:cNvSpPr txBox="1">
            <a:spLocks/>
          </p:cNvSpPr>
          <p:nvPr/>
        </p:nvSpPr>
        <p:spPr>
          <a:xfrm>
            <a:off x="3278979" y="1268995"/>
            <a:ext cx="5827110" cy="49609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我们最后要交上去一篇什么样的论文？</a:t>
            </a:r>
            <a:endParaRPr lang="en-US" sz="2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7773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29D057D8-12CD-4638-9841-9D9E671D77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84432A-D371-4DBB-8BD0-ACC620D88DF8}"/>
              </a:ext>
            </a:extLst>
          </p:cNvPr>
          <p:cNvSpPr/>
          <p:nvPr/>
        </p:nvSpPr>
        <p:spPr>
          <a:xfrm>
            <a:off x="1258028" y="466133"/>
            <a:ext cx="36815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明确美赛评审标准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286000-FE87-4754-B6CA-AF0A7F27AEAD}"/>
              </a:ext>
            </a:extLst>
          </p:cNvPr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ABD4C55-2759-4C23-B4F4-7035949BD79A}"/>
                </a:ext>
              </a:extLst>
            </p:cNvPr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48FE23D4-6781-4E9D-A173-9D34ACABCCEE}"/>
                  </a:ext>
                </a:extLst>
              </p:cNvPr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BC2E0AD8-845B-4B71-ADFD-F4686BCB61B9}"/>
                  </a:ext>
                </a:extLst>
              </p:cNvPr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5" name="Freeform 116">
              <a:extLst>
                <a:ext uri="{FF2B5EF4-FFF2-40B4-BE49-F238E27FC236}">
                  <a16:creationId xmlns:a16="http://schemas.microsoft.com/office/drawing/2014/main" id="{E0FC6989-2DE0-42F1-9254-04FE6C494F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8" name="Text Placeholder 33">
            <a:extLst>
              <a:ext uri="{FF2B5EF4-FFF2-40B4-BE49-F238E27FC236}">
                <a16:creationId xmlns:a16="http://schemas.microsoft.com/office/drawing/2014/main" id="{E4E9FF79-C680-4085-8B70-2900499D8447}"/>
              </a:ext>
            </a:extLst>
          </p:cNvPr>
          <p:cNvSpPr txBox="1">
            <a:spLocks/>
          </p:cNvSpPr>
          <p:nvPr/>
        </p:nvSpPr>
        <p:spPr>
          <a:xfrm>
            <a:off x="459431" y="1336034"/>
            <a:ext cx="11051250" cy="86928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初评：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奖和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奖的分界线。两位评委独立评分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一致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过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;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分歧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协商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);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有较大分歧第三位评审介入，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2:1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评判。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主要看摘要，大致评价文章架构和模型，不会很在意细节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3B62F19E-D706-4429-9D34-2E98DD1B7178}"/>
              </a:ext>
            </a:extLst>
          </p:cNvPr>
          <p:cNvSpPr txBox="1">
            <a:spLocks/>
          </p:cNvSpPr>
          <p:nvPr/>
        </p:nvSpPr>
        <p:spPr>
          <a:xfrm>
            <a:off x="459430" y="2395724"/>
            <a:ext cx="11248475" cy="93018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二评：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O,F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奖和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M,H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奖的分界线。多个评委仔细评审文章，时长＞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10min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。重点关注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模型的清晰度和创新性，表达的逻辑性，结论的正确性，会深入到文章的细节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8E4EBC32-6D04-4C04-974E-71A4DE406EC9}"/>
              </a:ext>
            </a:extLst>
          </p:cNvPr>
          <p:cNvSpPr txBox="1">
            <a:spLocks/>
          </p:cNvSpPr>
          <p:nvPr/>
        </p:nvSpPr>
        <p:spPr>
          <a:xfrm>
            <a:off x="459431" y="3429000"/>
            <a:ext cx="11051250" cy="93018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终评：挑选出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O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奖，需获所有评委、竟赛总监、执行总监一致认可。剩下的为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F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奖。到了这一步，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模型应该具有很高的创意，细节上无懈可击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，有时候可能还需要一点运气。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7A7D413D-57D4-4279-997D-A82AE8386F00}"/>
              </a:ext>
            </a:extLst>
          </p:cNvPr>
          <p:cNvSpPr txBox="1">
            <a:spLocks/>
          </p:cNvSpPr>
          <p:nvPr/>
        </p:nvSpPr>
        <p:spPr>
          <a:xfrm>
            <a:off x="459430" y="4690680"/>
            <a:ext cx="5827110" cy="36545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美赛优秀论文的风格：</a:t>
            </a:r>
            <a:endParaRPr lang="en-US" altLang="zh-CN" sz="24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4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Placeholder 33">
            <a:extLst>
              <a:ext uri="{FF2B5EF4-FFF2-40B4-BE49-F238E27FC236}">
                <a16:creationId xmlns:a16="http://schemas.microsoft.com/office/drawing/2014/main" id="{E0135B65-AF2E-489A-96E0-C22FFA5050E2}"/>
              </a:ext>
            </a:extLst>
          </p:cNvPr>
          <p:cNvSpPr txBox="1">
            <a:spLocks/>
          </p:cNvSpPr>
          <p:nvPr/>
        </p:nvSpPr>
        <p:spPr>
          <a:xfrm>
            <a:off x="3740513" y="4748296"/>
            <a:ext cx="1064570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结构完整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 Placeholder 33">
            <a:extLst>
              <a:ext uri="{FF2B5EF4-FFF2-40B4-BE49-F238E27FC236}">
                <a16:creationId xmlns:a16="http://schemas.microsoft.com/office/drawing/2014/main" id="{9F96958D-43F0-4382-B1E1-2A7A993FD88C}"/>
              </a:ext>
            </a:extLst>
          </p:cNvPr>
          <p:cNvSpPr txBox="1">
            <a:spLocks/>
          </p:cNvSpPr>
          <p:nvPr/>
        </p:nvSpPr>
        <p:spPr>
          <a:xfrm>
            <a:off x="3740511" y="5679420"/>
            <a:ext cx="1647277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模型具有创意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Placeholder 33">
            <a:extLst>
              <a:ext uri="{FF2B5EF4-FFF2-40B4-BE49-F238E27FC236}">
                <a16:creationId xmlns:a16="http://schemas.microsoft.com/office/drawing/2014/main" id="{723473E9-B085-4B0E-8C3A-F34935B9EBC6}"/>
              </a:ext>
            </a:extLst>
          </p:cNvPr>
          <p:cNvSpPr txBox="1">
            <a:spLocks/>
          </p:cNvSpPr>
          <p:nvPr/>
        </p:nvSpPr>
        <p:spPr>
          <a:xfrm>
            <a:off x="3740511" y="5203973"/>
            <a:ext cx="1647277" cy="253186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英语表达清晰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 Placeholder 33">
            <a:extLst>
              <a:ext uri="{FF2B5EF4-FFF2-40B4-BE49-F238E27FC236}">
                <a16:creationId xmlns:a16="http://schemas.microsoft.com/office/drawing/2014/main" id="{BD9E7E93-5B6E-4A0F-94A4-F6C9D4054A43}"/>
              </a:ext>
            </a:extLst>
          </p:cNvPr>
          <p:cNvSpPr txBox="1">
            <a:spLocks/>
          </p:cNvSpPr>
          <p:nvPr/>
        </p:nvSpPr>
        <p:spPr>
          <a:xfrm>
            <a:off x="3740512" y="6163821"/>
            <a:ext cx="1199042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图文并茂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924ADBB1-4622-4347-B8DE-71CCBBBC53C6}"/>
              </a:ext>
            </a:extLst>
          </p:cNvPr>
          <p:cNvSpPr/>
          <p:nvPr/>
        </p:nvSpPr>
        <p:spPr>
          <a:xfrm>
            <a:off x="5710518" y="4748296"/>
            <a:ext cx="136700" cy="708863"/>
          </a:xfrm>
          <a:prstGeom prst="rightBrace">
            <a:avLst/>
          </a:prstGeom>
          <a:ln w="19050">
            <a:solidFill>
              <a:srgbClr val="0A47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大括号 18">
            <a:extLst>
              <a:ext uri="{FF2B5EF4-FFF2-40B4-BE49-F238E27FC236}">
                <a16:creationId xmlns:a16="http://schemas.microsoft.com/office/drawing/2014/main" id="{4EC14A18-A4B3-442F-BE22-0D1502B8BCCD}"/>
              </a:ext>
            </a:extLst>
          </p:cNvPr>
          <p:cNvSpPr/>
          <p:nvPr/>
        </p:nvSpPr>
        <p:spPr>
          <a:xfrm>
            <a:off x="5737412" y="5679420"/>
            <a:ext cx="136700" cy="708863"/>
          </a:xfrm>
          <a:prstGeom prst="rightBrace">
            <a:avLst/>
          </a:prstGeom>
          <a:ln w="19050">
            <a:solidFill>
              <a:srgbClr val="0A47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57B6D289-3076-40B5-A4EF-23161A918591}"/>
              </a:ext>
            </a:extLst>
          </p:cNvPr>
          <p:cNvSpPr txBox="1">
            <a:spLocks/>
          </p:cNvSpPr>
          <p:nvPr/>
        </p:nvSpPr>
        <p:spPr>
          <a:xfrm>
            <a:off x="6096000" y="4968703"/>
            <a:ext cx="1206919" cy="36545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基本要求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256A7115-4B99-4A68-800C-9E11BBA9D4BF}"/>
              </a:ext>
            </a:extLst>
          </p:cNvPr>
          <p:cNvSpPr txBox="1">
            <a:spLocks/>
          </p:cNvSpPr>
          <p:nvPr/>
        </p:nvSpPr>
        <p:spPr>
          <a:xfrm>
            <a:off x="6096000" y="5910697"/>
            <a:ext cx="4087906" cy="36545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使论文更加出彩，增加获奖的概率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788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zh-CN" altLang="en-US" sz="2400"/>
          </a:p>
        </p:txBody>
      </p:sp>
      <p:pic>
        <p:nvPicPr>
          <p:cNvPr id="5" name="Picture 2" descr="F:\案例二\394\1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6" t="53859" r="38373" b="13773"/>
          <a:stretch/>
        </p:blipFill>
        <p:spPr bwMode="auto">
          <a:xfrm>
            <a:off x="1028624" y="-40"/>
            <a:ext cx="11163376" cy="6858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F:\案例二\394\1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6" t="53859" r="38006" b="13773"/>
          <a:stretch/>
        </p:blipFill>
        <p:spPr bwMode="auto">
          <a:xfrm rot="10800000">
            <a:off x="-1" y="1"/>
            <a:ext cx="11239497" cy="6858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5259651" y="1471952"/>
            <a:ext cx="1672699" cy="1672699"/>
            <a:chOff x="2494238" y="1545926"/>
            <a:chExt cx="1170130" cy="1170130"/>
          </a:xfrm>
        </p:grpSpPr>
        <p:sp>
          <p:nvSpPr>
            <p:cNvPr id="8" name="椭圆 7"/>
            <p:cNvSpPr/>
            <p:nvPr/>
          </p:nvSpPr>
          <p:spPr>
            <a:xfrm>
              <a:off x="2494238" y="1545926"/>
              <a:ext cx="1170130" cy="1170130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9" name="椭圆 8"/>
            <p:cNvSpPr/>
            <p:nvPr/>
          </p:nvSpPr>
          <p:spPr>
            <a:xfrm>
              <a:off x="2633023" y="1684711"/>
              <a:ext cx="892559" cy="892559"/>
            </a:xfrm>
            <a:prstGeom prst="ellipse">
              <a:avLst/>
            </a:prstGeom>
            <a:solidFill>
              <a:srgbClr val="0A4776"/>
            </a:solidFill>
            <a:ln>
              <a:noFill/>
            </a:ln>
            <a:effectLst>
              <a:innerShdw blurRad="63500" dist="50800" dir="18900000">
                <a:prstClr val="black">
                  <a:alpha val="3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0" name="矩形 9"/>
          <p:cNvSpPr/>
          <p:nvPr/>
        </p:nvSpPr>
        <p:spPr>
          <a:xfrm>
            <a:off x="3862544" y="3507799"/>
            <a:ext cx="48063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一个月速通美赛学习路径</a:t>
            </a:r>
          </a:p>
        </p:txBody>
      </p:sp>
      <p:sp>
        <p:nvSpPr>
          <p:cNvPr id="12" name="Freeform 116"/>
          <p:cNvSpPr>
            <a:spLocks noEditPoints="1"/>
          </p:cNvSpPr>
          <p:nvPr/>
        </p:nvSpPr>
        <p:spPr bwMode="auto">
          <a:xfrm>
            <a:off x="5799421" y="2069162"/>
            <a:ext cx="593152" cy="478279"/>
          </a:xfrm>
          <a:custGeom>
            <a:avLst/>
            <a:gdLst/>
            <a:ahLst/>
            <a:cxnLst>
              <a:cxn ang="0">
                <a:pos x="55" y="27"/>
              </a:cxn>
              <a:cxn ang="0">
                <a:pos x="54" y="27"/>
              </a:cxn>
              <a:cxn ang="0">
                <a:pos x="54" y="27"/>
              </a:cxn>
              <a:cxn ang="0">
                <a:pos x="53" y="27"/>
              </a:cxn>
              <a:cxn ang="0">
                <a:pos x="28" y="6"/>
              </a:cxn>
              <a:cxn ang="0">
                <a:pos x="4" y="27"/>
              </a:cxn>
              <a:cxn ang="0">
                <a:pos x="3" y="27"/>
              </a:cxn>
              <a:cxn ang="0">
                <a:pos x="2" y="27"/>
              </a:cxn>
              <a:cxn ang="0">
                <a:pos x="0" y="24"/>
              </a:cxn>
              <a:cxn ang="0">
                <a:pos x="0" y="23"/>
              </a:cxn>
              <a:cxn ang="0">
                <a:pos x="26" y="1"/>
              </a:cxn>
              <a:cxn ang="0">
                <a:pos x="31" y="1"/>
              </a:cxn>
              <a:cxn ang="0">
                <a:pos x="40" y="8"/>
              </a:cxn>
              <a:cxn ang="0">
                <a:pos x="40" y="1"/>
              </a:cxn>
              <a:cxn ang="0">
                <a:pos x="41" y="0"/>
              </a:cxn>
              <a:cxn ang="0">
                <a:pos x="48" y="0"/>
              </a:cxn>
              <a:cxn ang="0">
                <a:pos x="49" y="1"/>
              </a:cxn>
              <a:cxn ang="0">
                <a:pos x="49" y="16"/>
              </a:cxn>
              <a:cxn ang="0">
                <a:pos x="57" y="23"/>
              </a:cxn>
              <a:cxn ang="0">
                <a:pos x="57" y="24"/>
              </a:cxn>
              <a:cxn ang="0">
                <a:pos x="55" y="27"/>
              </a:cxn>
              <a:cxn ang="0">
                <a:pos x="49" y="44"/>
              </a:cxn>
              <a:cxn ang="0">
                <a:pos x="47" y="46"/>
              </a:cxn>
              <a:cxn ang="0">
                <a:pos x="33" y="46"/>
              </a:cxn>
              <a:cxn ang="0">
                <a:pos x="33" y="32"/>
              </a:cxn>
              <a:cxn ang="0">
                <a:pos x="24" y="32"/>
              </a:cxn>
              <a:cxn ang="0">
                <a:pos x="24" y="46"/>
              </a:cxn>
              <a:cxn ang="0">
                <a:pos x="10" y="46"/>
              </a:cxn>
              <a:cxn ang="0">
                <a:pos x="8" y="44"/>
              </a:cxn>
              <a:cxn ang="0">
                <a:pos x="8" y="27"/>
              </a:cxn>
              <a:cxn ang="0">
                <a:pos x="8" y="26"/>
              </a:cxn>
              <a:cxn ang="0">
                <a:pos x="28" y="9"/>
              </a:cxn>
              <a:cxn ang="0">
                <a:pos x="49" y="26"/>
              </a:cxn>
              <a:cxn ang="0">
                <a:pos x="49" y="27"/>
              </a:cxn>
              <a:cxn ang="0">
                <a:pos x="49" y="44"/>
              </a:cxn>
            </a:cxnLst>
            <a:rect l="0" t="0" r="r" b="b"/>
            <a:pathLst>
              <a:path w="57" h="46">
                <a:moveTo>
                  <a:pt x="55" y="27"/>
                </a:moveTo>
                <a:cubicBezTo>
                  <a:pt x="55" y="27"/>
                  <a:pt x="54" y="27"/>
                  <a:pt x="54" y="27"/>
                </a:cubicBezTo>
                <a:cubicBezTo>
                  <a:pt x="54" y="27"/>
                  <a:pt x="54" y="27"/>
                  <a:pt x="54" y="27"/>
                </a:cubicBezTo>
                <a:cubicBezTo>
                  <a:pt x="54" y="27"/>
                  <a:pt x="53" y="27"/>
                  <a:pt x="53" y="27"/>
                </a:cubicBezTo>
                <a:cubicBezTo>
                  <a:pt x="28" y="6"/>
                  <a:pt x="28" y="6"/>
                  <a:pt x="28" y="6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3" y="27"/>
                  <a:pt x="3" y="27"/>
                </a:cubicBezTo>
                <a:cubicBezTo>
                  <a:pt x="3" y="27"/>
                  <a:pt x="2" y="27"/>
                  <a:pt x="2" y="27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0" y="23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30" y="0"/>
                  <a:pt x="31" y="1"/>
                </a:cubicBezTo>
                <a:cubicBezTo>
                  <a:pt x="40" y="8"/>
                  <a:pt x="40" y="8"/>
                  <a:pt x="40" y="8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1"/>
                  <a:pt x="40" y="0"/>
                  <a:pt x="4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49" y="1"/>
                  <a:pt x="49" y="1"/>
                </a:cubicBezTo>
                <a:cubicBezTo>
                  <a:pt x="49" y="16"/>
                  <a:pt x="49" y="16"/>
                  <a:pt x="49" y="16"/>
                </a:cubicBezTo>
                <a:cubicBezTo>
                  <a:pt x="57" y="23"/>
                  <a:pt x="57" y="23"/>
                  <a:pt x="57" y="23"/>
                </a:cubicBezTo>
                <a:cubicBezTo>
                  <a:pt x="57" y="23"/>
                  <a:pt x="57" y="24"/>
                  <a:pt x="57" y="24"/>
                </a:cubicBezTo>
                <a:lnTo>
                  <a:pt x="55" y="27"/>
                </a:lnTo>
                <a:close/>
                <a:moveTo>
                  <a:pt x="49" y="44"/>
                </a:moveTo>
                <a:cubicBezTo>
                  <a:pt x="49" y="45"/>
                  <a:pt x="48" y="46"/>
                  <a:pt x="47" y="46"/>
                </a:cubicBezTo>
                <a:cubicBezTo>
                  <a:pt x="33" y="46"/>
                  <a:pt x="33" y="46"/>
                  <a:pt x="33" y="46"/>
                </a:cubicBezTo>
                <a:cubicBezTo>
                  <a:pt x="33" y="32"/>
                  <a:pt x="33" y="32"/>
                  <a:pt x="33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46"/>
                  <a:pt x="24" y="46"/>
                  <a:pt x="24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9" y="46"/>
                  <a:pt x="8" y="45"/>
                  <a:pt x="8" y="44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6"/>
                  <a:pt x="8" y="26"/>
                </a:cubicBezTo>
                <a:cubicBezTo>
                  <a:pt x="28" y="9"/>
                  <a:pt x="28" y="9"/>
                  <a:pt x="28" y="9"/>
                </a:cubicBezTo>
                <a:cubicBezTo>
                  <a:pt x="49" y="26"/>
                  <a:pt x="49" y="26"/>
                  <a:pt x="49" y="26"/>
                </a:cubicBezTo>
                <a:cubicBezTo>
                  <a:pt x="49" y="26"/>
                  <a:pt x="49" y="27"/>
                  <a:pt x="49" y="27"/>
                </a:cubicBezTo>
                <a:lnTo>
                  <a:pt x="49" y="4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65811" tIns="82905" rIns="165811" bIns="82905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grpSp>
        <p:nvGrpSpPr>
          <p:cNvPr id="13" name="组 12"/>
          <p:cNvGrpSpPr/>
          <p:nvPr/>
        </p:nvGrpSpPr>
        <p:grpSpPr>
          <a:xfrm>
            <a:off x="5235749" y="4399846"/>
            <a:ext cx="1720497" cy="1229085"/>
            <a:chOff x="7837714" y="338406"/>
            <a:chExt cx="1290373" cy="921814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594" r="71827"/>
            <a:stretch/>
          </p:blipFill>
          <p:spPr>
            <a:xfrm>
              <a:off x="8205314" y="338406"/>
              <a:ext cx="555172" cy="460907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491"/>
            <a:stretch/>
          </p:blipFill>
          <p:spPr>
            <a:xfrm>
              <a:off x="7837714" y="799313"/>
              <a:ext cx="1290373" cy="4609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3910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ABE0EEA-B3EC-42FC-8DC4-90FBAFD0CC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4" name="矩形 23" descr="e7d195523061f1c0d3ba7f298e59d031c9c3f97027ed136f882110EF8F17BAD1F2C348D17C7856EF46CB4678CC9E44EE1ABA681E3133328A7B4D22AAF822B2429426B2355AA8CC4431B8568D2CF3B73A96BBEC1D6ED9A296B43765507A3E7CF5D1CA7E8172631B7DC4BDD6EDD9C905DDE509891D9B10512B757EAF468629A66A40406F5054747F5B"/>
          <p:cNvSpPr/>
          <p:nvPr/>
        </p:nvSpPr>
        <p:spPr>
          <a:xfrm>
            <a:off x="239937" y="254733"/>
            <a:ext cx="8719128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建立信心：大一同学也可以参加美赛并获奖！</a:t>
            </a:r>
          </a:p>
        </p:txBody>
      </p:sp>
      <p:sp>
        <p:nvSpPr>
          <p:cNvPr id="2" name="e7d195523061f1c0" descr="e7d195523061f1c0d3ba7f298e59d031c9c3f97027ed136f882110EF8F17BAD1F2C348D17C7856EF46CB4678CC9E44EE1ABA681E3133328A7B4D22AAF822B2429426B2355AA8CC4431B8568D2CF3B73A96BBEC1D6ED9A296B43765507A3E7CF5D1CA7E8172631B7DC4BDD6EDD9C905DDE509891D9B10512B757EAF468629A66A40406F5054747F5B" hidden="1"/>
          <p:cNvSpPr txBox="1"/>
          <p:nvPr/>
        </p:nvSpPr>
        <p:spPr>
          <a:xfrm>
            <a:off x="-355600" y="1803400"/>
            <a:ext cx="378565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33"/>
              <a:t>e7d195523061f1c0d3ba7f298e59d031c9c3f97027ed136f882110EF8F17BAD1F2C348D17C7856EF46CB4678CC9E44EE1ABA681E3133328A7B4D22AAF822B2429426B2355AA8CC4431B8568D2CF3B73A96BBEC1D6ED9A296B43765507A3E7CF5D1CA7E8172631B7DC4BDD6EDD9C905DDE509891D9B10512B757EAF468629A66A40406F5054747F5B</a:t>
            </a:r>
            <a:endParaRPr lang="zh-CN" altLang="en-US" sz="133"/>
          </a:p>
        </p:txBody>
      </p: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B3A7C4DC-FB49-4CAF-B698-CACD91B91113}"/>
              </a:ext>
            </a:extLst>
          </p:cNvPr>
          <p:cNvSpPr txBox="1">
            <a:spLocks/>
          </p:cNvSpPr>
          <p:nvPr/>
        </p:nvSpPr>
        <p:spPr>
          <a:xfrm>
            <a:off x="375836" y="1382703"/>
            <a:ext cx="5827110" cy="36545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美赛报名没有门槛，但国赛会有。</a:t>
            </a:r>
            <a:endParaRPr lang="en-US" sz="24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35BC11C4-9C75-431D-8980-EE8CD60E7733}"/>
              </a:ext>
            </a:extLst>
          </p:cNvPr>
          <p:cNvSpPr txBox="1">
            <a:spLocks/>
          </p:cNvSpPr>
          <p:nvPr/>
        </p:nvSpPr>
        <p:spPr>
          <a:xfrm>
            <a:off x="375836" y="2248555"/>
            <a:ext cx="5827110" cy="49609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往年大一同学们的成绩：</a:t>
            </a:r>
            <a:endParaRPr 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7D7BE39-8C2A-4DA3-B328-0A47A7D04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584121"/>
              </p:ext>
            </p:extLst>
          </p:nvPr>
        </p:nvGraphicFramePr>
        <p:xfrm>
          <a:off x="2391593" y="3413915"/>
          <a:ext cx="6567472" cy="955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1868">
                  <a:extLst>
                    <a:ext uri="{9D8B030D-6E8A-4147-A177-3AD203B41FA5}">
                      <a16:colId xmlns:a16="http://schemas.microsoft.com/office/drawing/2014/main" val="2493523009"/>
                    </a:ext>
                  </a:extLst>
                </a:gridCol>
                <a:gridCol w="1641868">
                  <a:extLst>
                    <a:ext uri="{9D8B030D-6E8A-4147-A177-3AD203B41FA5}">
                      <a16:colId xmlns:a16="http://schemas.microsoft.com/office/drawing/2014/main" val="1928376828"/>
                    </a:ext>
                  </a:extLst>
                </a:gridCol>
                <a:gridCol w="1641868">
                  <a:extLst>
                    <a:ext uri="{9D8B030D-6E8A-4147-A177-3AD203B41FA5}">
                      <a16:colId xmlns:a16="http://schemas.microsoft.com/office/drawing/2014/main" val="3343177318"/>
                    </a:ext>
                  </a:extLst>
                </a:gridCol>
                <a:gridCol w="1641868">
                  <a:extLst>
                    <a:ext uri="{9D8B030D-6E8A-4147-A177-3AD203B41FA5}">
                      <a16:colId xmlns:a16="http://schemas.microsoft.com/office/drawing/2014/main" val="1949501681"/>
                    </a:ext>
                  </a:extLst>
                </a:gridCol>
              </a:tblGrid>
              <a:tr h="4775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奖项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025366"/>
                  </a:ext>
                </a:extLst>
              </a:tr>
              <a:tr h="4775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获奖人数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140836"/>
                  </a:ext>
                </a:extLst>
              </a:tr>
            </a:tbl>
          </a:graphicData>
        </a:graphic>
      </p:graphicFrame>
      <p:sp>
        <p:nvSpPr>
          <p:cNvPr id="14" name="Text Placeholder 33">
            <a:extLst>
              <a:ext uri="{FF2B5EF4-FFF2-40B4-BE49-F238E27FC236}">
                <a16:creationId xmlns:a16="http://schemas.microsoft.com/office/drawing/2014/main" id="{5261FB70-DA6B-4B4D-93D3-65989E23E325}"/>
              </a:ext>
            </a:extLst>
          </p:cNvPr>
          <p:cNvSpPr txBox="1">
            <a:spLocks/>
          </p:cNvSpPr>
          <p:nvPr/>
        </p:nvSpPr>
        <p:spPr>
          <a:xfrm>
            <a:off x="3939253" y="2917823"/>
            <a:ext cx="3931757" cy="49609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2023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年美赛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2022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级学生获奖情况</a:t>
            </a: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4">
            <a:extLst>
              <a:ext uri="{FF2B5EF4-FFF2-40B4-BE49-F238E27FC236}">
                <a16:creationId xmlns:a16="http://schemas.microsoft.com/office/drawing/2014/main" id="{A62231FA-6330-4AAB-ACA3-7F172C42D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020518"/>
              </p:ext>
            </p:extLst>
          </p:nvPr>
        </p:nvGraphicFramePr>
        <p:xfrm>
          <a:off x="2391593" y="5286382"/>
          <a:ext cx="6567472" cy="955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1868">
                  <a:extLst>
                    <a:ext uri="{9D8B030D-6E8A-4147-A177-3AD203B41FA5}">
                      <a16:colId xmlns:a16="http://schemas.microsoft.com/office/drawing/2014/main" val="2493523009"/>
                    </a:ext>
                  </a:extLst>
                </a:gridCol>
                <a:gridCol w="1641868">
                  <a:extLst>
                    <a:ext uri="{9D8B030D-6E8A-4147-A177-3AD203B41FA5}">
                      <a16:colId xmlns:a16="http://schemas.microsoft.com/office/drawing/2014/main" val="1928376828"/>
                    </a:ext>
                  </a:extLst>
                </a:gridCol>
                <a:gridCol w="1641868">
                  <a:extLst>
                    <a:ext uri="{9D8B030D-6E8A-4147-A177-3AD203B41FA5}">
                      <a16:colId xmlns:a16="http://schemas.microsoft.com/office/drawing/2014/main" val="3343177318"/>
                    </a:ext>
                  </a:extLst>
                </a:gridCol>
                <a:gridCol w="1641868">
                  <a:extLst>
                    <a:ext uri="{9D8B030D-6E8A-4147-A177-3AD203B41FA5}">
                      <a16:colId xmlns:a16="http://schemas.microsoft.com/office/drawing/2014/main" val="1949501681"/>
                    </a:ext>
                  </a:extLst>
                </a:gridCol>
              </a:tblGrid>
              <a:tr h="4775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奖项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025366"/>
                  </a:ext>
                </a:extLst>
              </a:tr>
              <a:tr h="4775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获奖人数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140836"/>
                  </a:ext>
                </a:extLst>
              </a:tr>
            </a:tbl>
          </a:graphicData>
        </a:graphic>
      </p:graphicFrame>
      <p:sp>
        <p:nvSpPr>
          <p:cNvPr id="16" name="Text Placeholder 33">
            <a:extLst>
              <a:ext uri="{FF2B5EF4-FFF2-40B4-BE49-F238E27FC236}">
                <a16:creationId xmlns:a16="http://schemas.microsoft.com/office/drawing/2014/main" id="{E23F2906-DB26-4B9B-975A-7648284035A2}"/>
              </a:ext>
            </a:extLst>
          </p:cNvPr>
          <p:cNvSpPr txBox="1">
            <a:spLocks/>
          </p:cNvSpPr>
          <p:nvPr/>
        </p:nvSpPr>
        <p:spPr>
          <a:xfrm>
            <a:off x="3939254" y="4856183"/>
            <a:ext cx="3931757" cy="49609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2022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年美赛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2021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级学生获奖情况</a:t>
            </a: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2931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29D057D8-12CD-4638-9841-9D9E671D77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84432A-D371-4DBB-8BD0-ACC620D88DF8}"/>
              </a:ext>
            </a:extLst>
          </p:cNvPr>
          <p:cNvSpPr/>
          <p:nvPr/>
        </p:nvSpPr>
        <p:spPr>
          <a:xfrm>
            <a:off x="1258028" y="466133"/>
            <a:ext cx="64426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速通步骤</a:t>
            </a:r>
            <a:r>
              <a:rPr lang="en-US" altLang="zh-CN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：共同初读美赛作品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286000-FE87-4754-B6CA-AF0A7F27AEAD}"/>
              </a:ext>
            </a:extLst>
          </p:cNvPr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ABD4C55-2759-4C23-B4F4-7035949BD79A}"/>
                </a:ext>
              </a:extLst>
            </p:cNvPr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48FE23D4-6781-4E9D-A173-9D34ACABCCEE}"/>
                  </a:ext>
                </a:extLst>
              </p:cNvPr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BC2E0AD8-845B-4B71-ADFD-F4686BCB61B9}"/>
                  </a:ext>
                </a:extLst>
              </p:cNvPr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5" name="Freeform 116">
              <a:extLst>
                <a:ext uri="{FF2B5EF4-FFF2-40B4-BE49-F238E27FC236}">
                  <a16:creationId xmlns:a16="http://schemas.microsoft.com/office/drawing/2014/main" id="{E0FC6989-2DE0-42F1-9254-04FE6C494F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D1E9AA49-EFA3-4EE1-B4FD-4EBB2ED21130}"/>
              </a:ext>
            </a:extLst>
          </p:cNvPr>
          <p:cNvSpPr txBox="1">
            <a:spLocks/>
          </p:cNvSpPr>
          <p:nvPr/>
        </p:nvSpPr>
        <p:spPr>
          <a:xfrm>
            <a:off x="459432" y="1478811"/>
            <a:ext cx="8080043" cy="111199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目的：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了解美赛论文的结构，样式；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 2.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了解每个题的命题风格，初步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确定队伍的选题方向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 3.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熟悉每个题的常用模型，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方便之后有目的性地学习模型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 Placeholder 33">
            <a:extLst>
              <a:ext uri="{FF2B5EF4-FFF2-40B4-BE49-F238E27FC236}">
                <a16:creationId xmlns:a16="http://schemas.microsoft.com/office/drawing/2014/main" id="{525FB1C3-B2F5-41DB-86B6-18CD42C85E5B}"/>
              </a:ext>
            </a:extLst>
          </p:cNvPr>
          <p:cNvSpPr txBox="1">
            <a:spLocks/>
          </p:cNvSpPr>
          <p:nvPr/>
        </p:nvSpPr>
        <p:spPr>
          <a:xfrm>
            <a:off x="459431" y="3018704"/>
            <a:ext cx="10325110" cy="151936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形式：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三位同学都要进行阅读，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不是论文队友一个人的事情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 2.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每个问题读几篇作品，了解每个问题的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命题方向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常用模型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 3.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遇到难以理解的地方先跳过，不必拘泥于细节，先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大致了解文章的结构和模型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 4. 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队友之间一定要勤交流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，读完几篇论文后可以腾讯会议讨论感悟。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（重要）</a:t>
            </a:r>
            <a:endParaRPr lang="en-US" altLang="zh-CN" sz="20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288282AE-BF42-4F1E-A26E-385B51E690B5}"/>
              </a:ext>
            </a:extLst>
          </p:cNvPr>
          <p:cNvSpPr txBox="1">
            <a:spLocks/>
          </p:cNvSpPr>
          <p:nvPr/>
        </p:nvSpPr>
        <p:spPr>
          <a:xfrm>
            <a:off x="459431" y="4913571"/>
            <a:ext cx="10325110" cy="78631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资源：往年优秀论文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——B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站、知乎等数模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up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主都有分享链接，西电数模协会也会提供；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往年赛题要求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美赛官网，或者直接百度搜索。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75EB48E9-A658-4367-833C-64A18E90CA09}"/>
              </a:ext>
            </a:extLst>
          </p:cNvPr>
          <p:cNvSpPr txBox="1">
            <a:spLocks/>
          </p:cNvSpPr>
          <p:nvPr/>
        </p:nvSpPr>
        <p:spPr>
          <a:xfrm>
            <a:off x="459431" y="6075385"/>
            <a:ext cx="7456404" cy="33576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阅读论文的工具：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WPS+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划词翻译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or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小绿鲸文献阅读阅读器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Rounded Rectangle 111">
            <a:extLst>
              <a:ext uri="{FF2B5EF4-FFF2-40B4-BE49-F238E27FC236}">
                <a16:creationId xmlns:a16="http://schemas.microsoft.com/office/drawing/2014/main" id="{76AA03F6-F5BF-4E1D-82C9-0FABB72D07FD}"/>
              </a:ext>
            </a:extLst>
          </p:cNvPr>
          <p:cNvSpPr/>
          <p:nvPr/>
        </p:nvSpPr>
        <p:spPr>
          <a:xfrm>
            <a:off x="8762013" y="347030"/>
            <a:ext cx="2807572" cy="2389238"/>
          </a:xfrm>
          <a:prstGeom prst="roundRect">
            <a:avLst>
              <a:gd name="adj" fmla="val 0"/>
            </a:avLst>
          </a:prstGeom>
          <a:solidFill>
            <a:srgbClr val="0A4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997" tIns="34289" rIns="134997" bIns="34289" rtlCol="0" anchor="ctr"/>
          <a:lstStyle/>
          <a:p>
            <a:pPr defTabSz="685738">
              <a:lnSpc>
                <a:spcPct val="130000"/>
              </a:lnSpc>
            </a:pP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题：物理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738">
              <a:lnSpc>
                <a:spcPct val="130000"/>
              </a:lnSpc>
            </a:pP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题：数据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738">
              <a:lnSpc>
                <a:spcPct val="130000"/>
              </a:lnSpc>
            </a:pP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题：大数据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数据挖掘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738">
              <a:lnSpc>
                <a:spcPct val="130000"/>
              </a:lnSpc>
            </a:pP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题：网络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738">
              <a:lnSpc>
                <a:spcPct val="130000"/>
              </a:lnSpc>
            </a:pP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题：环境保护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738">
              <a:lnSpc>
                <a:spcPct val="130000"/>
              </a:lnSpc>
            </a:pP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题：经济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</a:t>
            </a:r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Placeholder 33">
            <a:extLst>
              <a:ext uri="{FF2B5EF4-FFF2-40B4-BE49-F238E27FC236}">
                <a16:creationId xmlns:a16="http://schemas.microsoft.com/office/drawing/2014/main" id="{DA1979D1-A93C-4D4A-9A1C-FFAB62575E7E}"/>
              </a:ext>
            </a:extLst>
          </p:cNvPr>
          <p:cNvSpPr txBox="1">
            <a:spLocks/>
          </p:cNvSpPr>
          <p:nvPr/>
        </p:nvSpPr>
        <p:spPr>
          <a:xfrm>
            <a:off x="8924819" y="2903224"/>
            <a:ext cx="2481959" cy="33576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主做一题，备用一题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6851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16984F25-1A1D-4FEB-B5F0-295CAA6FD8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84432A-D371-4DBB-8BD0-ACC620D88DF8}"/>
              </a:ext>
            </a:extLst>
          </p:cNvPr>
          <p:cNvSpPr/>
          <p:nvPr/>
        </p:nvSpPr>
        <p:spPr>
          <a:xfrm>
            <a:off x="1258027" y="466133"/>
            <a:ext cx="84776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速通步骤</a:t>
            </a:r>
            <a:r>
              <a:rPr lang="en-US" altLang="zh-CN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：分方向深入学习</a:t>
            </a:r>
            <a:r>
              <a:rPr lang="en-US" altLang="zh-CN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论文队友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286000-FE87-4754-B6CA-AF0A7F27AEAD}"/>
              </a:ext>
            </a:extLst>
          </p:cNvPr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ABD4C55-2759-4C23-B4F4-7035949BD79A}"/>
                </a:ext>
              </a:extLst>
            </p:cNvPr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48FE23D4-6781-4E9D-A173-9D34ACABCCEE}"/>
                  </a:ext>
                </a:extLst>
              </p:cNvPr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BC2E0AD8-845B-4B71-ADFD-F4686BCB61B9}"/>
                  </a:ext>
                </a:extLst>
              </p:cNvPr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5" name="Freeform 116">
              <a:extLst>
                <a:ext uri="{FF2B5EF4-FFF2-40B4-BE49-F238E27FC236}">
                  <a16:creationId xmlns:a16="http://schemas.microsoft.com/office/drawing/2014/main" id="{E0FC6989-2DE0-42F1-9254-04FE6C494F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75EB48E9-A658-4367-833C-64A18E90CA09}"/>
              </a:ext>
            </a:extLst>
          </p:cNvPr>
          <p:cNvSpPr txBox="1">
            <a:spLocks/>
          </p:cNvSpPr>
          <p:nvPr/>
        </p:nvSpPr>
        <p:spPr>
          <a:xfrm>
            <a:off x="459430" y="1486482"/>
            <a:ext cx="10540264" cy="1346593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任务清单：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学习使用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latex/word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排版工具，准备好美赛论文模板；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           2.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学习使用</a:t>
            </a:r>
            <a:r>
              <a:rPr lang="en-US" altLang="zh-CN" sz="2000" dirty="0" err="1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DeepL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/Grammarly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等翻译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语法检查工具，熟悉英语论文的写作；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           3.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带着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“模仿”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的心态，继续深入阅读美赛论文。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Placeholder 33">
            <a:extLst>
              <a:ext uri="{FF2B5EF4-FFF2-40B4-BE49-F238E27FC236}">
                <a16:creationId xmlns:a16="http://schemas.microsoft.com/office/drawing/2014/main" id="{C5D430F3-970A-4C17-A144-9EEEBFBC1679}"/>
              </a:ext>
            </a:extLst>
          </p:cNvPr>
          <p:cNvSpPr txBox="1">
            <a:spLocks/>
          </p:cNvSpPr>
          <p:nvPr/>
        </p:nvSpPr>
        <p:spPr>
          <a:xfrm>
            <a:off x="459430" y="2911517"/>
            <a:ext cx="10540264" cy="371413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论文阅读时的关注点：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文章的结构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			    </a:t>
            </a: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 Placeholder 33">
            <a:extLst>
              <a:ext uri="{FF2B5EF4-FFF2-40B4-BE49-F238E27FC236}">
                <a16:creationId xmlns:a16="http://schemas.microsoft.com/office/drawing/2014/main" id="{91AC9D97-2F6E-48FF-9B14-8671290218E7}"/>
              </a:ext>
            </a:extLst>
          </p:cNvPr>
          <p:cNvSpPr txBox="1">
            <a:spLocks/>
          </p:cNvSpPr>
          <p:nvPr/>
        </p:nvSpPr>
        <p:spPr>
          <a:xfrm>
            <a:off x="3534324" y="3361372"/>
            <a:ext cx="1512804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英文的表达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474CCA9E-4A0A-4733-A543-66476C2D65CC}"/>
              </a:ext>
            </a:extLst>
          </p:cNvPr>
          <p:cNvSpPr txBox="1">
            <a:spLocks/>
          </p:cNvSpPr>
          <p:nvPr/>
        </p:nvSpPr>
        <p:spPr>
          <a:xfrm>
            <a:off x="3534324" y="3745731"/>
            <a:ext cx="5690358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插图的制作（结合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站上一些美赛绘图教程的视频）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Placeholder 33">
            <a:extLst>
              <a:ext uri="{FF2B5EF4-FFF2-40B4-BE49-F238E27FC236}">
                <a16:creationId xmlns:a16="http://schemas.microsoft.com/office/drawing/2014/main" id="{D5C065FF-98DF-4E6C-B9A7-13B6012773D9}"/>
              </a:ext>
            </a:extLst>
          </p:cNvPr>
          <p:cNvSpPr txBox="1">
            <a:spLocks/>
          </p:cNvSpPr>
          <p:nvPr/>
        </p:nvSpPr>
        <p:spPr>
          <a:xfrm>
            <a:off x="3534324" y="4157009"/>
            <a:ext cx="5493134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确定题目的常用模型（反馈给另外两名队友）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1EDCAB4-DED2-4FBE-8004-3F03E5F6C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262" y="4978781"/>
            <a:ext cx="1104762" cy="1104762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5064392A-A1F4-48E0-8FC3-593D10E19CFE}"/>
              </a:ext>
            </a:extLst>
          </p:cNvPr>
          <p:cNvSpPr txBox="1">
            <a:spLocks/>
          </p:cNvSpPr>
          <p:nvPr/>
        </p:nvSpPr>
        <p:spPr>
          <a:xfrm>
            <a:off x="2500259" y="6255704"/>
            <a:ext cx="562767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B3D4899-5192-494A-BC5D-26606020716B}"/>
              </a:ext>
            </a:extLst>
          </p:cNvPr>
          <p:cNvSpPr txBox="1"/>
          <p:nvPr/>
        </p:nvSpPr>
        <p:spPr>
          <a:xfrm>
            <a:off x="459430" y="4232092"/>
            <a:ext cx="168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常用工具：</a:t>
            </a:r>
          </a:p>
        </p:txBody>
      </p:sp>
      <p:sp>
        <p:nvSpPr>
          <p:cNvPr id="28" name="Text Placeholder 33">
            <a:extLst>
              <a:ext uri="{FF2B5EF4-FFF2-40B4-BE49-F238E27FC236}">
                <a16:creationId xmlns:a16="http://schemas.microsoft.com/office/drawing/2014/main" id="{CB293AE8-BFC2-47E8-A7D9-9D56DE961598}"/>
              </a:ext>
            </a:extLst>
          </p:cNvPr>
          <p:cNvSpPr txBox="1">
            <a:spLocks/>
          </p:cNvSpPr>
          <p:nvPr/>
        </p:nvSpPr>
        <p:spPr>
          <a:xfrm>
            <a:off x="1134294" y="5361100"/>
            <a:ext cx="809187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绘图：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06BE6EED-A013-4868-8137-FEF9FCAF1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385" y="4992445"/>
            <a:ext cx="1176221" cy="1131554"/>
          </a:xfrm>
          <a:prstGeom prst="rect">
            <a:avLst/>
          </a:prstGeom>
          <a:ln>
            <a:noFill/>
          </a:ln>
          <a:effectLst/>
        </p:spPr>
      </p:pic>
      <p:sp>
        <p:nvSpPr>
          <p:cNvPr id="30" name="Text Placeholder 33">
            <a:extLst>
              <a:ext uri="{FF2B5EF4-FFF2-40B4-BE49-F238E27FC236}">
                <a16:creationId xmlns:a16="http://schemas.microsoft.com/office/drawing/2014/main" id="{E6DC7EA5-C796-4BA5-91D6-59DF2015F160}"/>
              </a:ext>
            </a:extLst>
          </p:cNvPr>
          <p:cNvSpPr txBox="1">
            <a:spLocks/>
          </p:cNvSpPr>
          <p:nvPr/>
        </p:nvSpPr>
        <p:spPr>
          <a:xfrm>
            <a:off x="4228220" y="6255704"/>
            <a:ext cx="869495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origin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 Placeholder 33">
            <a:extLst>
              <a:ext uri="{FF2B5EF4-FFF2-40B4-BE49-F238E27FC236}">
                <a16:creationId xmlns:a16="http://schemas.microsoft.com/office/drawing/2014/main" id="{917C5B64-12DD-42D8-B258-16F2DCBCE9AC}"/>
              </a:ext>
            </a:extLst>
          </p:cNvPr>
          <p:cNvSpPr txBox="1">
            <a:spLocks/>
          </p:cNvSpPr>
          <p:nvPr/>
        </p:nvSpPr>
        <p:spPr>
          <a:xfrm>
            <a:off x="6571482" y="5361100"/>
            <a:ext cx="1176221" cy="403466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英文写作：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44A9FFD9-DD27-4AA2-8323-04EF87EE2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8129" y="5060538"/>
            <a:ext cx="931157" cy="93115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7B4E4ACA-3827-447C-843F-4619C062F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313" y="5191292"/>
            <a:ext cx="1322935" cy="669651"/>
          </a:xfrm>
          <a:prstGeom prst="rect">
            <a:avLst/>
          </a:prstGeom>
          <a:ln>
            <a:noFill/>
          </a:ln>
          <a:effectLst/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6863840-B04A-4309-B25E-46BFDE54C3DB}"/>
              </a:ext>
            </a:extLst>
          </p:cNvPr>
          <p:cNvSpPr txBox="1">
            <a:spLocks/>
          </p:cNvSpPr>
          <p:nvPr/>
        </p:nvSpPr>
        <p:spPr>
          <a:xfrm>
            <a:off x="8157963" y="6254306"/>
            <a:ext cx="869495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 err="1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DeepL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AE53FC26-C019-452D-92E3-DEE5E86FFA4C}"/>
              </a:ext>
            </a:extLst>
          </p:cNvPr>
          <p:cNvSpPr txBox="1">
            <a:spLocks/>
          </p:cNvSpPr>
          <p:nvPr/>
        </p:nvSpPr>
        <p:spPr>
          <a:xfrm>
            <a:off x="9827721" y="6254306"/>
            <a:ext cx="1393268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Grammarly</a:t>
            </a:r>
          </a:p>
        </p:txBody>
      </p:sp>
    </p:spTree>
    <p:extLst>
      <p:ext uri="{BB962C8B-B14F-4D97-AF65-F5344CB8AC3E}">
        <p14:creationId xmlns:p14="http://schemas.microsoft.com/office/powerpoint/2010/main" val="2442300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DBD630BD-BAC3-468D-8129-5FCB67D883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84432A-D371-4DBB-8BD0-ACC620D88DF8}"/>
              </a:ext>
            </a:extLst>
          </p:cNvPr>
          <p:cNvSpPr/>
          <p:nvPr/>
        </p:nvSpPr>
        <p:spPr>
          <a:xfrm>
            <a:off x="1258027" y="466133"/>
            <a:ext cx="89019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速通步骤</a:t>
            </a:r>
            <a:r>
              <a:rPr lang="en-US" altLang="zh-CN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：分方向深入学习</a:t>
            </a:r>
            <a:r>
              <a:rPr lang="en-US" altLang="zh-CN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建模</a:t>
            </a:r>
            <a:r>
              <a:rPr lang="en-US" altLang="zh-CN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编程队友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286000-FE87-4754-B6CA-AF0A7F27AEAD}"/>
              </a:ext>
            </a:extLst>
          </p:cNvPr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ABD4C55-2759-4C23-B4F4-7035949BD79A}"/>
                </a:ext>
              </a:extLst>
            </p:cNvPr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48FE23D4-6781-4E9D-A173-9D34ACABCCEE}"/>
                  </a:ext>
                </a:extLst>
              </p:cNvPr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BC2E0AD8-845B-4B71-ADFD-F4686BCB61B9}"/>
                  </a:ext>
                </a:extLst>
              </p:cNvPr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5" name="Freeform 116">
              <a:extLst>
                <a:ext uri="{FF2B5EF4-FFF2-40B4-BE49-F238E27FC236}">
                  <a16:creationId xmlns:a16="http://schemas.microsoft.com/office/drawing/2014/main" id="{E0FC6989-2DE0-42F1-9254-04FE6C494F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E8B6C38-3189-4E33-A79D-EF3F1853A9B3}"/>
              </a:ext>
            </a:extLst>
          </p:cNvPr>
          <p:cNvSpPr txBox="1">
            <a:spLocks/>
          </p:cNvSpPr>
          <p:nvPr/>
        </p:nvSpPr>
        <p:spPr>
          <a:xfrm>
            <a:off x="622412" y="1735725"/>
            <a:ext cx="10913803" cy="79859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建模队友：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根据论文队友的反馈，针对性地学习理解他给出的常用模型；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	  2. B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站等平台寻找网课，系统地学习可能用得上的模型，理解模型原理和操作步骤。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4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7B9F9D32-7047-4B29-9773-B30D41142329}"/>
              </a:ext>
            </a:extLst>
          </p:cNvPr>
          <p:cNvSpPr txBox="1">
            <a:spLocks/>
          </p:cNvSpPr>
          <p:nvPr/>
        </p:nvSpPr>
        <p:spPr>
          <a:xfrm>
            <a:off x="622413" y="3029701"/>
            <a:ext cx="11255551" cy="79859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编程队友：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跟着建模队友的学习进度，熟悉利用计算机软件编程求解一个模型；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		  2. 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学有余力的话，学习一些人工智能领域的新模型（如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Transformer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）。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3C0827E-3516-475B-878D-20B773F23290}"/>
              </a:ext>
            </a:extLst>
          </p:cNvPr>
          <p:cNvSpPr txBox="1"/>
          <p:nvPr/>
        </p:nvSpPr>
        <p:spPr>
          <a:xfrm>
            <a:off x="533322" y="4270047"/>
            <a:ext cx="168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常用工具：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D9A2297B-E938-4F3F-9501-941B8E6F0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784" y="4461947"/>
            <a:ext cx="1300400" cy="1300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21D88BE1-8E82-4D7C-B70A-C474BFB14A45}"/>
              </a:ext>
            </a:extLst>
          </p:cNvPr>
          <p:cNvSpPr txBox="1">
            <a:spLocks/>
          </p:cNvSpPr>
          <p:nvPr/>
        </p:nvSpPr>
        <p:spPr>
          <a:xfrm>
            <a:off x="3230079" y="6242680"/>
            <a:ext cx="1054980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Text Placeholder 33">
            <a:extLst>
              <a:ext uri="{FF2B5EF4-FFF2-40B4-BE49-F238E27FC236}">
                <a16:creationId xmlns:a16="http://schemas.microsoft.com/office/drawing/2014/main" id="{0EF65143-5788-414B-890A-2B286FBBF73B}"/>
              </a:ext>
            </a:extLst>
          </p:cNvPr>
          <p:cNvSpPr txBox="1">
            <a:spLocks/>
          </p:cNvSpPr>
          <p:nvPr/>
        </p:nvSpPr>
        <p:spPr>
          <a:xfrm>
            <a:off x="5800838" y="6242680"/>
            <a:ext cx="1054980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MATLAB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5D64E4B-DE18-45FF-943B-1D73891D3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690" y="4270047"/>
            <a:ext cx="1764145" cy="1764145"/>
          </a:xfrm>
          <a:prstGeom prst="rect">
            <a:avLst/>
          </a:prstGeom>
        </p:spPr>
      </p:pic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81FBF26A-79FB-4ECF-81B7-54E821673058}"/>
              </a:ext>
            </a:extLst>
          </p:cNvPr>
          <p:cNvSpPr txBox="1">
            <a:spLocks/>
          </p:cNvSpPr>
          <p:nvPr/>
        </p:nvSpPr>
        <p:spPr>
          <a:xfrm>
            <a:off x="8758043" y="6262301"/>
            <a:ext cx="1054980" cy="42728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E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xcel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E954590-B58E-40E9-B5BA-1CDF2FB08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382" y="4500879"/>
            <a:ext cx="2034661" cy="132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533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DADB923-4D81-4446-AF2B-59B942B5B4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84432A-D371-4DBB-8BD0-ACC620D88DF8}"/>
              </a:ext>
            </a:extLst>
          </p:cNvPr>
          <p:cNvSpPr/>
          <p:nvPr/>
        </p:nvSpPr>
        <p:spPr>
          <a:xfrm>
            <a:off x="1258027" y="466133"/>
            <a:ext cx="89019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速通步骤</a:t>
            </a:r>
            <a:r>
              <a:rPr lang="en-US" altLang="zh-CN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：实战演练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286000-FE87-4754-B6CA-AF0A7F27AEAD}"/>
              </a:ext>
            </a:extLst>
          </p:cNvPr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ABD4C55-2759-4C23-B4F4-7035949BD79A}"/>
                </a:ext>
              </a:extLst>
            </p:cNvPr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48FE23D4-6781-4E9D-A173-9D34ACABCCEE}"/>
                  </a:ext>
                </a:extLst>
              </p:cNvPr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BC2E0AD8-845B-4B71-ADFD-F4686BCB61B9}"/>
                  </a:ext>
                </a:extLst>
              </p:cNvPr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5" name="Freeform 116">
              <a:extLst>
                <a:ext uri="{FF2B5EF4-FFF2-40B4-BE49-F238E27FC236}">
                  <a16:creationId xmlns:a16="http://schemas.microsoft.com/office/drawing/2014/main" id="{E0FC6989-2DE0-42F1-9254-04FE6C494F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60674D8F-175C-4276-B2A4-31B16CDB6614}"/>
              </a:ext>
            </a:extLst>
          </p:cNvPr>
          <p:cNvSpPr txBox="1">
            <a:spLocks/>
          </p:cNvSpPr>
          <p:nvPr/>
        </p:nvSpPr>
        <p:spPr>
          <a:xfrm>
            <a:off x="459431" y="1628960"/>
            <a:ext cx="11109270" cy="26770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形式：做往年美赛题目，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全真限时模拟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，争取在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天之内完成。（不得提前阅读该题的优秀论文）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31102339-B5C2-4A8C-AEB9-7086D233F048}"/>
              </a:ext>
            </a:extLst>
          </p:cNvPr>
          <p:cNvSpPr txBox="1">
            <a:spLocks/>
          </p:cNvSpPr>
          <p:nvPr/>
        </p:nvSpPr>
        <p:spPr>
          <a:xfrm>
            <a:off x="459431" y="2872748"/>
            <a:ext cx="1406313" cy="31304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模型的选择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049B25F3-F425-4A1D-A7DA-A4B0D52AC580}"/>
              </a:ext>
            </a:extLst>
          </p:cNvPr>
          <p:cNvSpPr/>
          <p:nvPr/>
        </p:nvSpPr>
        <p:spPr>
          <a:xfrm>
            <a:off x="1972637" y="2330418"/>
            <a:ext cx="195209" cy="139770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92DD902E-B1A2-4936-B0B8-C71C29D4CCC1}"/>
              </a:ext>
            </a:extLst>
          </p:cNvPr>
          <p:cNvSpPr txBox="1">
            <a:spLocks/>
          </p:cNvSpPr>
          <p:nvPr/>
        </p:nvSpPr>
        <p:spPr>
          <a:xfrm>
            <a:off x="2401819" y="2325341"/>
            <a:ext cx="8901972" cy="40875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常规模型：往年论文中的常见模型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你在数模网课上系统学到的模型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Placeholder 33">
            <a:extLst>
              <a:ext uri="{FF2B5EF4-FFF2-40B4-BE49-F238E27FC236}">
                <a16:creationId xmlns:a16="http://schemas.microsoft.com/office/drawing/2014/main" id="{73FEFCAA-4992-49B3-AC1A-8BBABD669BAE}"/>
              </a:ext>
            </a:extLst>
          </p:cNvPr>
          <p:cNvSpPr txBox="1">
            <a:spLocks/>
          </p:cNvSpPr>
          <p:nvPr/>
        </p:nvSpPr>
        <p:spPr>
          <a:xfrm>
            <a:off x="2401819" y="2864501"/>
            <a:ext cx="8901972" cy="999756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创意模型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：对症下药，更适用于该题的模型。通常出现于硕博论文等学术性论文中，通过做题时查阅与该题相关的资料发现。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（即时学习</a:t>
            </a:r>
            <a:r>
              <a:rPr lang="en-US" altLang="zh-CN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快速应用）</a:t>
            </a:r>
            <a:endParaRPr lang="en-US" altLang="zh-CN" sz="20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 Placeholder 33">
            <a:extLst>
              <a:ext uri="{FF2B5EF4-FFF2-40B4-BE49-F238E27FC236}">
                <a16:creationId xmlns:a16="http://schemas.microsoft.com/office/drawing/2014/main" id="{95DC38B7-AF16-44C5-833C-682BECF95743}"/>
              </a:ext>
            </a:extLst>
          </p:cNvPr>
          <p:cNvSpPr txBox="1">
            <a:spLocks/>
          </p:cNvSpPr>
          <p:nvPr/>
        </p:nvSpPr>
        <p:spPr>
          <a:xfrm>
            <a:off x="459431" y="4140653"/>
            <a:ext cx="6985077" cy="31304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创新性模型的获取途径：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F5B12259-0016-48E0-AB27-52D71F4B5D69}"/>
              </a:ext>
            </a:extLst>
          </p:cNvPr>
          <p:cNvSpPr txBox="1">
            <a:spLocks/>
          </p:cNvSpPr>
          <p:nvPr/>
        </p:nvSpPr>
        <p:spPr>
          <a:xfrm>
            <a:off x="4575736" y="5326488"/>
            <a:ext cx="928827" cy="49141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知网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51673335-6D88-42A2-A6E1-CB3D54405981}"/>
              </a:ext>
            </a:extLst>
          </p:cNvPr>
          <p:cNvSpPr txBox="1">
            <a:spLocks/>
          </p:cNvSpPr>
          <p:nvPr/>
        </p:nvSpPr>
        <p:spPr>
          <a:xfrm>
            <a:off x="8518138" y="5330902"/>
            <a:ext cx="1417006" cy="49141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谷歌学术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845116E-8DAF-44D9-87B2-BC3283027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817" y="3874251"/>
            <a:ext cx="3266667" cy="127619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81D64C5-2ABE-4EB2-B4B4-700F2D243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481" y="3864257"/>
            <a:ext cx="3096321" cy="1227535"/>
          </a:xfrm>
          <a:prstGeom prst="rect">
            <a:avLst/>
          </a:prstGeom>
        </p:spPr>
      </p:pic>
      <p:sp>
        <p:nvSpPr>
          <p:cNvPr id="23" name="Text Placeholder 33">
            <a:extLst>
              <a:ext uri="{FF2B5EF4-FFF2-40B4-BE49-F238E27FC236}">
                <a16:creationId xmlns:a16="http://schemas.microsoft.com/office/drawing/2014/main" id="{B430AE20-FF1C-4C1C-A01C-48CD1AF9D14A}"/>
              </a:ext>
            </a:extLst>
          </p:cNvPr>
          <p:cNvSpPr txBox="1">
            <a:spLocks/>
          </p:cNvSpPr>
          <p:nvPr/>
        </p:nvSpPr>
        <p:spPr>
          <a:xfrm>
            <a:off x="459431" y="5961574"/>
            <a:ext cx="10844360" cy="29334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做完实战演练后第一时间发给指导老师，请帮忙点评。同时阅读该题的优秀论文，对比提升。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0070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zh-CN" altLang="en-US" sz="2400"/>
          </a:p>
        </p:txBody>
      </p:sp>
      <p:pic>
        <p:nvPicPr>
          <p:cNvPr id="5" name="Picture 2" descr="F:\案例二\394\1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6" t="53859" r="38373" b="13773"/>
          <a:stretch/>
        </p:blipFill>
        <p:spPr bwMode="auto">
          <a:xfrm>
            <a:off x="1028624" y="-40"/>
            <a:ext cx="11163376" cy="6858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F:\案例二\394\1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6" t="53859" r="38006" b="13773"/>
          <a:stretch/>
        </p:blipFill>
        <p:spPr bwMode="auto">
          <a:xfrm rot="10800000">
            <a:off x="-1" y="1"/>
            <a:ext cx="11239497" cy="6858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5259651" y="1471952"/>
            <a:ext cx="1672699" cy="1672699"/>
            <a:chOff x="2494238" y="1545926"/>
            <a:chExt cx="1170130" cy="1170130"/>
          </a:xfrm>
        </p:grpSpPr>
        <p:sp>
          <p:nvSpPr>
            <p:cNvPr id="8" name="椭圆 7"/>
            <p:cNvSpPr/>
            <p:nvPr/>
          </p:nvSpPr>
          <p:spPr>
            <a:xfrm>
              <a:off x="2494238" y="1545926"/>
              <a:ext cx="1170130" cy="1170130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9" name="椭圆 8"/>
            <p:cNvSpPr/>
            <p:nvPr/>
          </p:nvSpPr>
          <p:spPr>
            <a:xfrm>
              <a:off x="2633023" y="1684711"/>
              <a:ext cx="892559" cy="892559"/>
            </a:xfrm>
            <a:prstGeom prst="ellipse">
              <a:avLst/>
            </a:prstGeom>
            <a:solidFill>
              <a:srgbClr val="0A4776"/>
            </a:solidFill>
            <a:ln>
              <a:noFill/>
            </a:ln>
            <a:effectLst>
              <a:innerShdw blurRad="63500" dist="50800" dir="18900000">
                <a:prstClr val="black">
                  <a:alpha val="3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0" name="矩形 9"/>
          <p:cNvSpPr/>
          <p:nvPr/>
        </p:nvSpPr>
        <p:spPr>
          <a:xfrm>
            <a:off x="3862544" y="3507799"/>
            <a:ext cx="48063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竞赛过程中注意事项</a:t>
            </a:r>
          </a:p>
        </p:txBody>
      </p:sp>
      <p:sp>
        <p:nvSpPr>
          <p:cNvPr id="12" name="Freeform 116"/>
          <p:cNvSpPr>
            <a:spLocks noEditPoints="1"/>
          </p:cNvSpPr>
          <p:nvPr/>
        </p:nvSpPr>
        <p:spPr bwMode="auto">
          <a:xfrm>
            <a:off x="5799421" y="2069162"/>
            <a:ext cx="593152" cy="478279"/>
          </a:xfrm>
          <a:custGeom>
            <a:avLst/>
            <a:gdLst/>
            <a:ahLst/>
            <a:cxnLst>
              <a:cxn ang="0">
                <a:pos x="55" y="27"/>
              </a:cxn>
              <a:cxn ang="0">
                <a:pos x="54" y="27"/>
              </a:cxn>
              <a:cxn ang="0">
                <a:pos x="54" y="27"/>
              </a:cxn>
              <a:cxn ang="0">
                <a:pos x="53" y="27"/>
              </a:cxn>
              <a:cxn ang="0">
                <a:pos x="28" y="6"/>
              </a:cxn>
              <a:cxn ang="0">
                <a:pos x="4" y="27"/>
              </a:cxn>
              <a:cxn ang="0">
                <a:pos x="3" y="27"/>
              </a:cxn>
              <a:cxn ang="0">
                <a:pos x="2" y="27"/>
              </a:cxn>
              <a:cxn ang="0">
                <a:pos x="0" y="24"/>
              </a:cxn>
              <a:cxn ang="0">
                <a:pos x="0" y="23"/>
              </a:cxn>
              <a:cxn ang="0">
                <a:pos x="26" y="1"/>
              </a:cxn>
              <a:cxn ang="0">
                <a:pos x="31" y="1"/>
              </a:cxn>
              <a:cxn ang="0">
                <a:pos x="40" y="8"/>
              </a:cxn>
              <a:cxn ang="0">
                <a:pos x="40" y="1"/>
              </a:cxn>
              <a:cxn ang="0">
                <a:pos x="41" y="0"/>
              </a:cxn>
              <a:cxn ang="0">
                <a:pos x="48" y="0"/>
              </a:cxn>
              <a:cxn ang="0">
                <a:pos x="49" y="1"/>
              </a:cxn>
              <a:cxn ang="0">
                <a:pos x="49" y="16"/>
              </a:cxn>
              <a:cxn ang="0">
                <a:pos x="57" y="23"/>
              </a:cxn>
              <a:cxn ang="0">
                <a:pos x="57" y="24"/>
              </a:cxn>
              <a:cxn ang="0">
                <a:pos x="55" y="27"/>
              </a:cxn>
              <a:cxn ang="0">
                <a:pos x="49" y="44"/>
              </a:cxn>
              <a:cxn ang="0">
                <a:pos x="47" y="46"/>
              </a:cxn>
              <a:cxn ang="0">
                <a:pos x="33" y="46"/>
              </a:cxn>
              <a:cxn ang="0">
                <a:pos x="33" y="32"/>
              </a:cxn>
              <a:cxn ang="0">
                <a:pos x="24" y="32"/>
              </a:cxn>
              <a:cxn ang="0">
                <a:pos x="24" y="46"/>
              </a:cxn>
              <a:cxn ang="0">
                <a:pos x="10" y="46"/>
              </a:cxn>
              <a:cxn ang="0">
                <a:pos x="8" y="44"/>
              </a:cxn>
              <a:cxn ang="0">
                <a:pos x="8" y="27"/>
              </a:cxn>
              <a:cxn ang="0">
                <a:pos x="8" y="26"/>
              </a:cxn>
              <a:cxn ang="0">
                <a:pos x="28" y="9"/>
              </a:cxn>
              <a:cxn ang="0">
                <a:pos x="49" y="26"/>
              </a:cxn>
              <a:cxn ang="0">
                <a:pos x="49" y="27"/>
              </a:cxn>
              <a:cxn ang="0">
                <a:pos x="49" y="44"/>
              </a:cxn>
            </a:cxnLst>
            <a:rect l="0" t="0" r="r" b="b"/>
            <a:pathLst>
              <a:path w="57" h="46">
                <a:moveTo>
                  <a:pt x="55" y="27"/>
                </a:moveTo>
                <a:cubicBezTo>
                  <a:pt x="55" y="27"/>
                  <a:pt x="54" y="27"/>
                  <a:pt x="54" y="27"/>
                </a:cubicBezTo>
                <a:cubicBezTo>
                  <a:pt x="54" y="27"/>
                  <a:pt x="54" y="27"/>
                  <a:pt x="54" y="27"/>
                </a:cubicBezTo>
                <a:cubicBezTo>
                  <a:pt x="54" y="27"/>
                  <a:pt x="53" y="27"/>
                  <a:pt x="53" y="27"/>
                </a:cubicBezTo>
                <a:cubicBezTo>
                  <a:pt x="28" y="6"/>
                  <a:pt x="28" y="6"/>
                  <a:pt x="28" y="6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3" y="27"/>
                  <a:pt x="3" y="27"/>
                </a:cubicBezTo>
                <a:cubicBezTo>
                  <a:pt x="3" y="27"/>
                  <a:pt x="2" y="27"/>
                  <a:pt x="2" y="27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0" y="23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30" y="0"/>
                  <a:pt x="31" y="1"/>
                </a:cubicBezTo>
                <a:cubicBezTo>
                  <a:pt x="40" y="8"/>
                  <a:pt x="40" y="8"/>
                  <a:pt x="40" y="8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1"/>
                  <a:pt x="40" y="0"/>
                  <a:pt x="4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49" y="1"/>
                  <a:pt x="49" y="1"/>
                </a:cubicBezTo>
                <a:cubicBezTo>
                  <a:pt x="49" y="16"/>
                  <a:pt x="49" y="16"/>
                  <a:pt x="49" y="16"/>
                </a:cubicBezTo>
                <a:cubicBezTo>
                  <a:pt x="57" y="23"/>
                  <a:pt x="57" y="23"/>
                  <a:pt x="57" y="23"/>
                </a:cubicBezTo>
                <a:cubicBezTo>
                  <a:pt x="57" y="23"/>
                  <a:pt x="57" y="24"/>
                  <a:pt x="57" y="24"/>
                </a:cubicBezTo>
                <a:lnTo>
                  <a:pt x="55" y="27"/>
                </a:lnTo>
                <a:close/>
                <a:moveTo>
                  <a:pt x="49" y="44"/>
                </a:moveTo>
                <a:cubicBezTo>
                  <a:pt x="49" y="45"/>
                  <a:pt x="48" y="46"/>
                  <a:pt x="47" y="46"/>
                </a:cubicBezTo>
                <a:cubicBezTo>
                  <a:pt x="33" y="46"/>
                  <a:pt x="33" y="46"/>
                  <a:pt x="33" y="46"/>
                </a:cubicBezTo>
                <a:cubicBezTo>
                  <a:pt x="33" y="32"/>
                  <a:pt x="33" y="32"/>
                  <a:pt x="33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46"/>
                  <a:pt x="24" y="46"/>
                  <a:pt x="24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9" y="46"/>
                  <a:pt x="8" y="45"/>
                  <a:pt x="8" y="44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6"/>
                  <a:pt x="8" y="26"/>
                </a:cubicBezTo>
                <a:cubicBezTo>
                  <a:pt x="28" y="9"/>
                  <a:pt x="28" y="9"/>
                  <a:pt x="28" y="9"/>
                </a:cubicBezTo>
                <a:cubicBezTo>
                  <a:pt x="49" y="26"/>
                  <a:pt x="49" y="26"/>
                  <a:pt x="49" y="26"/>
                </a:cubicBezTo>
                <a:cubicBezTo>
                  <a:pt x="49" y="26"/>
                  <a:pt x="49" y="27"/>
                  <a:pt x="49" y="27"/>
                </a:cubicBezTo>
                <a:lnTo>
                  <a:pt x="49" y="4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65811" tIns="82905" rIns="165811" bIns="82905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grpSp>
        <p:nvGrpSpPr>
          <p:cNvPr id="13" name="组 12"/>
          <p:cNvGrpSpPr/>
          <p:nvPr/>
        </p:nvGrpSpPr>
        <p:grpSpPr>
          <a:xfrm>
            <a:off x="5235749" y="4399846"/>
            <a:ext cx="1720497" cy="1229085"/>
            <a:chOff x="7837714" y="338406"/>
            <a:chExt cx="1290373" cy="921814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594" r="71827"/>
            <a:stretch/>
          </p:blipFill>
          <p:spPr>
            <a:xfrm>
              <a:off x="8205314" y="338406"/>
              <a:ext cx="555172" cy="460907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491"/>
            <a:stretch/>
          </p:blipFill>
          <p:spPr>
            <a:xfrm>
              <a:off x="7837714" y="799313"/>
              <a:ext cx="1290373" cy="4609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0460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29D057D8-12CD-4638-9841-9D9E671D77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84432A-D371-4DBB-8BD0-ACC620D88DF8}"/>
              </a:ext>
            </a:extLst>
          </p:cNvPr>
          <p:cNvSpPr/>
          <p:nvPr/>
        </p:nvSpPr>
        <p:spPr>
          <a:xfrm>
            <a:off x="1258028" y="466133"/>
            <a:ext cx="36815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我们的时间进度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286000-FE87-4754-B6CA-AF0A7F27AEAD}"/>
              </a:ext>
            </a:extLst>
          </p:cNvPr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ABD4C55-2759-4C23-B4F4-7035949BD79A}"/>
                </a:ext>
              </a:extLst>
            </p:cNvPr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48FE23D4-6781-4E9D-A173-9D34ACABCCEE}"/>
                  </a:ext>
                </a:extLst>
              </p:cNvPr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BC2E0AD8-845B-4B71-ADFD-F4686BCB61B9}"/>
                  </a:ext>
                </a:extLst>
              </p:cNvPr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5" name="Freeform 116">
              <a:extLst>
                <a:ext uri="{FF2B5EF4-FFF2-40B4-BE49-F238E27FC236}">
                  <a16:creationId xmlns:a16="http://schemas.microsoft.com/office/drawing/2014/main" id="{E0FC6989-2DE0-42F1-9254-04FE6C494F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26C7E304-E202-46FE-A956-08C9A4B9F267}"/>
              </a:ext>
            </a:extLst>
          </p:cNvPr>
          <p:cNvSpPr txBox="1">
            <a:spLocks/>
          </p:cNvSpPr>
          <p:nvPr/>
        </p:nvSpPr>
        <p:spPr>
          <a:xfrm>
            <a:off x="541623" y="1504586"/>
            <a:ext cx="3157073" cy="46359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2.17</a:t>
            </a:r>
            <a:endParaRPr lang="en-US" sz="24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 Placeholder 33">
            <a:extLst>
              <a:ext uri="{FF2B5EF4-FFF2-40B4-BE49-F238E27FC236}">
                <a16:creationId xmlns:a16="http://schemas.microsoft.com/office/drawing/2014/main" id="{F4F49F63-F602-4094-9135-CD04F5B998C6}"/>
              </a:ext>
            </a:extLst>
          </p:cNvPr>
          <p:cNvSpPr txBox="1">
            <a:spLocks/>
          </p:cNvSpPr>
          <p:nvPr/>
        </p:nvSpPr>
        <p:spPr>
          <a:xfrm>
            <a:off x="541623" y="1847456"/>
            <a:ext cx="5128729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早上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00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发题，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00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之前完成了选题。上午初步讨论了全文思路。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Placeholder 33">
            <a:extLst>
              <a:ext uri="{FF2B5EF4-FFF2-40B4-BE49-F238E27FC236}">
                <a16:creationId xmlns:a16="http://schemas.microsoft.com/office/drawing/2014/main" id="{D1123E38-1090-4068-A272-86CAD5D4BFC3}"/>
              </a:ext>
            </a:extLst>
          </p:cNvPr>
          <p:cNvSpPr txBox="1">
            <a:spLocks/>
          </p:cNvSpPr>
          <p:nvPr/>
        </p:nvSpPr>
        <p:spPr>
          <a:xfrm>
            <a:off x="541622" y="2803253"/>
            <a:ext cx="5554377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中午和下午完成了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Task1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的模型建立。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 Placeholder 33">
            <a:extLst>
              <a:ext uri="{FF2B5EF4-FFF2-40B4-BE49-F238E27FC236}">
                <a16:creationId xmlns:a16="http://schemas.microsoft.com/office/drawing/2014/main" id="{4316A125-219C-4669-BA66-087854C2DB24}"/>
              </a:ext>
            </a:extLst>
          </p:cNvPr>
          <p:cNvSpPr txBox="1">
            <a:spLocks/>
          </p:cNvSpPr>
          <p:nvPr/>
        </p:nvSpPr>
        <p:spPr>
          <a:xfrm>
            <a:off x="541621" y="3292333"/>
            <a:ext cx="5554377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晚上完成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Task1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的编程求解，论文持续推进。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51023581-44B0-476A-8EEB-EC2D7AAC726B}"/>
              </a:ext>
            </a:extLst>
          </p:cNvPr>
          <p:cNvSpPr txBox="1">
            <a:spLocks/>
          </p:cNvSpPr>
          <p:nvPr/>
        </p:nvSpPr>
        <p:spPr>
          <a:xfrm>
            <a:off x="541623" y="4091486"/>
            <a:ext cx="3157073" cy="46359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2.18</a:t>
            </a:r>
            <a:endParaRPr lang="en-US" sz="24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F1E08904-35F8-4588-9DD0-5D331B8D9A20}"/>
              </a:ext>
            </a:extLst>
          </p:cNvPr>
          <p:cNvSpPr txBox="1">
            <a:spLocks/>
          </p:cNvSpPr>
          <p:nvPr/>
        </p:nvSpPr>
        <p:spPr>
          <a:xfrm>
            <a:off x="541621" y="4375158"/>
            <a:ext cx="5498336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早上建模队友改进了一下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Task1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的模型阐述和求解，之后继续开始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Task2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的建模。上午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Task1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论文完工。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 Placeholder 33">
            <a:extLst>
              <a:ext uri="{FF2B5EF4-FFF2-40B4-BE49-F238E27FC236}">
                <a16:creationId xmlns:a16="http://schemas.microsoft.com/office/drawing/2014/main" id="{FE8C7DF1-C336-4DA9-9EF0-D1B5B79FD845}"/>
              </a:ext>
            </a:extLst>
          </p:cNvPr>
          <p:cNvSpPr txBox="1">
            <a:spLocks/>
          </p:cNvSpPr>
          <p:nvPr/>
        </p:nvSpPr>
        <p:spPr>
          <a:xfrm>
            <a:off x="541621" y="5352201"/>
            <a:ext cx="5674244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124A7A6D-03E4-465A-ACC4-621C1846D542}"/>
              </a:ext>
            </a:extLst>
          </p:cNvPr>
          <p:cNvSpPr txBox="1">
            <a:spLocks/>
          </p:cNvSpPr>
          <p:nvPr/>
        </p:nvSpPr>
        <p:spPr>
          <a:xfrm>
            <a:off x="541621" y="5284884"/>
            <a:ext cx="5674244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Task2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建模部分非常顺利，一下午搞定。</a:t>
            </a:r>
            <a:endParaRPr lang="en-US" altLang="zh-CN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 Placeholder 33">
            <a:extLst>
              <a:ext uri="{FF2B5EF4-FFF2-40B4-BE49-F238E27FC236}">
                <a16:creationId xmlns:a16="http://schemas.microsoft.com/office/drawing/2014/main" id="{A920EC6F-14E3-4EF6-A037-EFB4B3DBA08F}"/>
              </a:ext>
            </a:extLst>
          </p:cNvPr>
          <p:cNvSpPr txBox="1">
            <a:spLocks/>
          </p:cNvSpPr>
          <p:nvPr/>
        </p:nvSpPr>
        <p:spPr>
          <a:xfrm>
            <a:off x="541621" y="5777791"/>
            <a:ext cx="5396842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晚上建模队友初步看了一下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Task3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Task2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的论文写作继续推进，编程求解也在跑。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 Placeholder 33">
            <a:extLst>
              <a:ext uri="{FF2B5EF4-FFF2-40B4-BE49-F238E27FC236}">
                <a16:creationId xmlns:a16="http://schemas.microsoft.com/office/drawing/2014/main" id="{0D673174-7EDA-47B5-8AE4-C2C260F76F8D}"/>
              </a:ext>
            </a:extLst>
          </p:cNvPr>
          <p:cNvSpPr txBox="1">
            <a:spLocks/>
          </p:cNvSpPr>
          <p:nvPr/>
        </p:nvSpPr>
        <p:spPr>
          <a:xfrm>
            <a:off x="6637623" y="1504585"/>
            <a:ext cx="3157073" cy="46359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2.19</a:t>
            </a:r>
            <a:endParaRPr lang="en-US" sz="24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72147F95-D2C9-4C50-ADCA-311F521A49FD}"/>
              </a:ext>
            </a:extLst>
          </p:cNvPr>
          <p:cNvSpPr txBox="1">
            <a:spLocks/>
          </p:cNvSpPr>
          <p:nvPr/>
        </p:nvSpPr>
        <p:spPr>
          <a:xfrm>
            <a:off x="6521649" y="1845564"/>
            <a:ext cx="5554377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一上午都在跑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Task2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的程序，论文也在推进。建模队友单挑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Task3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建模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编程求解。（他也会编程）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 Placeholder 33">
            <a:extLst>
              <a:ext uri="{FF2B5EF4-FFF2-40B4-BE49-F238E27FC236}">
                <a16:creationId xmlns:a16="http://schemas.microsoft.com/office/drawing/2014/main" id="{C841C3BD-00E6-47C3-A17A-D92049AA50EC}"/>
              </a:ext>
            </a:extLst>
          </p:cNvPr>
          <p:cNvSpPr txBox="1">
            <a:spLocks/>
          </p:cNvSpPr>
          <p:nvPr/>
        </p:nvSpPr>
        <p:spPr>
          <a:xfrm>
            <a:off x="6521649" y="2836865"/>
            <a:ext cx="5554377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到晚上，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Task2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已经全部完成，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Task3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建模编程全部完成，论文也写了一些。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4C2BF09-49F1-4B7A-A9D8-B49E048F0698}"/>
              </a:ext>
            </a:extLst>
          </p:cNvPr>
          <p:cNvSpPr txBox="1">
            <a:spLocks/>
          </p:cNvSpPr>
          <p:nvPr/>
        </p:nvSpPr>
        <p:spPr>
          <a:xfrm>
            <a:off x="6521649" y="4091485"/>
            <a:ext cx="3157073" cy="46359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2.20</a:t>
            </a:r>
            <a:endParaRPr lang="en-US" sz="2400" b="1" dirty="0">
              <a:solidFill>
                <a:srgbClr val="0A477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42105100-5047-4650-A599-516A0B06A9B8}"/>
              </a:ext>
            </a:extLst>
          </p:cNvPr>
          <p:cNvSpPr txBox="1">
            <a:spLocks/>
          </p:cNvSpPr>
          <p:nvPr/>
        </p:nvSpPr>
        <p:spPr>
          <a:xfrm>
            <a:off x="6637623" y="4441793"/>
            <a:ext cx="5498336" cy="633373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继续推进，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Task4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很简短，晚饭前除摘要的部分已经全部完成。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08A69177-058D-4441-9260-F090CED963A1}"/>
              </a:ext>
            </a:extLst>
          </p:cNvPr>
          <p:cNvSpPr txBox="1">
            <a:spLocks/>
          </p:cNvSpPr>
          <p:nvPr/>
        </p:nvSpPr>
        <p:spPr>
          <a:xfrm>
            <a:off x="6637623" y="5333209"/>
            <a:ext cx="5498336" cy="633373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晚饭后到零点，三人一起写完了最重要的摘要。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8999E209-DE41-4BAE-8F4E-CA563DC4CBAE}"/>
              </a:ext>
            </a:extLst>
          </p:cNvPr>
          <p:cNvSpPr txBox="1">
            <a:spLocks/>
          </p:cNvSpPr>
          <p:nvPr/>
        </p:nvSpPr>
        <p:spPr>
          <a:xfrm>
            <a:off x="6637621" y="5807669"/>
            <a:ext cx="5498337" cy="633373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零点后到凌晨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00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，不断修改修改完善论文。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00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提交到邮箱，完结撒花。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4780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29D057D8-12CD-4638-9841-9D9E671D77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84432A-D371-4DBB-8BD0-ACC620D88DF8}"/>
              </a:ext>
            </a:extLst>
          </p:cNvPr>
          <p:cNvSpPr/>
          <p:nvPr/>
        </p:nvSpPr>
        <p:spPr>
          <a:xfrm>
            <a:off x="1258028" y="466133"/>
            <a:ext cx="36815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其他注意事项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286000-FE87-4754-B6CA-AF0A7F27AEAD}"/>
              </a:ext>
            </a:extLst>
          </p:cNvPr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ABD4C55-2759-4C23-B4F4-7035949BD79A}"/>
                </a:ext>
              </a:extLst>
            </p:cNvPr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48FE23D4-6781-4E9D-A173-9D34ACABCCEE}"/>
                  </a:ext>
                </a:extLst>
              </p:cNvPr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BC2E0AD8-845B-4B71-ADFD-F4686BCB61B9}"/>
                  </a:ext>
                </a:extLst>
              </p:cNvPr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5" name="Freeform 116">
              <a:extLst>
                <a:ext uri="{FF2B5EF4-FFF2-40B4-BE49-F238E27FC236}">
                  <a16:creationId xmlns:a16="http://schemas.microsoft.com/office/drawing/2014/main" id="{E0FC6989-2DE0-42F1-9254-04FE6C494F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086AFFED-A41F-4DC8-A5B7-898CB2A51FCD}"/>
              </a:ext>
            </a:extLst>
          </p:cNvPr>
          <p:cNvSpPr txBox="1">
            <a:spLocks/>
          </p:cNvSpPr>
          <p:nvPr/>
        </p:nvSpPr>
        <p:spPr>
          <a:xfrm>
            <a:off x="622415" y="1515287"/>
            <a:ext cx="5554377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确定好选题后，需要在美赛官网上勾选确定。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D66B2737-03D5-4D67-B6FF-1442C9E9FCA7}"/>
              </a:ext>
            </a:extLst>
          </p:cNvPr>
          <p:cNvSpPr txBox="1">
            <a:spLocks/>
          </p:cNvSpPr>
          <p:nvPr/>
        </p:nvSpPr>
        <p:spPr>
          <a:xfrm>
            <a:off x="622415" y="2305627"/>
            <a:ext cx="8983922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除了三位队员之间，不可在网络上和其他人有任何关于数模的交流讨论。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 Placeholder 33">
            <a:extLst>
              <a:ext uri="{FF2B5EF4-FFF2-40B4-BE49-F238E27FC236}">
                <a16:creationId xmlns:a16="http://schemas.microsoft.com/office/drawing/2014/main" id="{62CF9DF5-0AAD-4E93-B724-12C7EFD76F0D}"/>
              </a:ext>
            </a:extLst>
          </p:cNvPr>
          <p:cNvSpPr txBox="1">
            <a:spLocks/>
          </p:cNvSpPr>
          <p:nvPr/>
        </p:nvSpPr>
        <p:spPr>
          <a:xfrm>
            <a:off x="622415" y="3201266"/>
            <a:ext cx="8983922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尽量在最后一天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00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前将作品提交至官方邮箱，避免最后时刻拥堵。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Text Placeholder 33">
            <a:extLst>
              <a:ext uri="{FF2B5EF4-FFF2-40B4-BE49-F238E27FC236}">
                <a16:creationId xmlns:a16="http://schemas.microsoft.com/office/drawing/2014/main" id="{D010DBA8-8A76-47F5-88C2-C9A506EF96FC}"/>
              </a:ext>
            </a:extLst>
          </p:cNvPr>
          <p:cNvSpPr txBox="1">
            <a:spLocks/>
          </p:cNvSpPr>
          <p:nvPr/>
        </p:nvSpPr>
        <p:spPr>
          <a:xfrm>
            <a:off x="622415" y="4145121"/>
            <a:ext cx="8983922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交上去的论文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pdf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文件名就是自己的队号。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7BFC10B5-801D-467D-B095-995F6BA462D8}"/>
              </a:ext>
            </a:extLst>
          </p:cNvPr>
          <p:cNvSpPr txBox="1">
            <a:spLocks/>
          </p:cNvSpPr>
          <p:nvPr/>
        </p:nvSpPr>
        <p:spPr>
          <a:xfrm>
            <a:off x="622415" y="5046092"/>
            <a:ext cx="8983922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文章中不能出现任何中文，引用的地方要表明出处。正文部分不超过</a:t>
            </a:r>
            <a:r>
              <a:rPr lang="en-US" altLang="zh-CN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25</a:t>
            </a: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页。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Text Placeholder 33">
            <a:extLst>
              <a:ext uri="{FF2B5EF4-FFF2-40B4-BE49-F238E27FC236}">
                <a16:creationId xmlns:a16="http://schemas.microsoft.com/office/drawing/2014/main" id="{F026EADE-B10F-4BA9-A49D-FEDFF00DE557}"/>
              </a:ext>
            </a:extLst>
          </p:cNvPr>
          <p:cNvSpPr txBox="1">
            <a:spLocks/>
          </p:cNvSpPr>
          <p:nvPr/>
        </p:nvSpPr>
        <p:spPr>
          <a:xfrm>
            <a:off x="622415" y="5936399"/>
            <a:ext cx="8983922" cy="45546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不要查重，在奖项出来之前，不要把论文发给其他队的人看。</a:t>
            </a:r>
            <a:endParaRPr lang="en-US" sz="20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0628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29D057D8-12CD-4638-9841-9D9E671D77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 defTabSz="914377"/>
            <a:endParaRPr lang="zh-CN" altLang="en-US" sz="1867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84432A-D371-4DBB-8BD0-ACC620D88DF8}"/>
              </a:ext>
            </a:extLst>
          </p:cNvPr>
          <p:cNvSpPr/>
          <p:nvPr/>
        </p:nvSpPr>
        <p:spPr>
          <a:xfrm>
            <a:off x="1258028" y="466133"/>
            <a:ext cx="36815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联系方式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286000-FE87-4754-B6CA-AF0A7F27AEAD}"/>
              </a:ext>
            </a:extLst>
          </p:cNvPr>
          <p:cNvGrpSpPr/>
          <p:nvPr/>
        </p:nvGrpSpPr>
        <p:grpSpPr>
          <a:xfrm>
            <a:off x="364712" y="347030"/>
            <a:ext cx="798597" cy="798597"/>
            <a:chOff x="3944738" y="1103964"/>
            <a:chExt cx="1254524" cy="125452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ABD4C55-2759-4C23-B4F4-7035949BD79A}"/>
                </a:ext>
              </a:extLst>
            </p:cNvPr>
            <p:cNvGrpSpPr/>
            <p:nvPr/>
          </p:nvGrpSpPr>
          <p:grpSpPr>
            <a:xfrm>
              <a:off x="3944738" y="1103964"/>
              <a:ext cx="1254524" cy="1254524"/>
              <a:chOff x="2494238" y="1545926"/>
              <a:chExt cx="1170130" cy="1170130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48FE23D4-6781-4E9D-A173-9D34ACABCCEE}"/>
                  </a:ext>
                </a:extLst>
              </p:cNvPr>
              <p:cNvSpPr/>
              <p:nvPr/>
            </p:nvSpPr>
            <p:spPr>
              <a:xfrm>
                <a:off x="2494238" y="1545926"/>
                <a:ext cx="1170130" cy="117013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BC2E0AD8-845B-4B71-ADFD-F4686BCB61B9}"/>
                  </a:ext>
                </a:extLst>
              </p:cNvPr>
              <p:cNvSpPr/>
              <p:nvPr/>
            </p:nvSpPr>
            <p:spPr>
              <a:xfrm>
                <a:off x="2633023" y="1684711"/>
                <a:ext cx="892559" cy="892559"/>
              </a:xfrm>
              <a:prstGeom prst="ellipse">
                <a:avLst/>
              </a:prstGeom>
              <a:solidFill>
                <a:srgbClr val="0A4776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4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5" name="Freeform 116">
              <a:extLst>
                <a:ext uri="{FF2B5EF4-FFF2-40B4-BE49-F238E27FC236}">
                  <a16:creationId xmlns:a16="http://schemas.microsoft.com/office/drawing/2014/main" id="{E0FC6989-2DE0-42F1-9254-04FE6C494F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9566" y="1551871"/>
              <a:ext cx="444864" cy="358709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65811" tIns="82905" rIns="165811" bIns="8290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2239E087-81BD-41B3-8C12-7A4258F30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035" y="0"/>
            <a:ext cx="5030965" cy="68580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7DFC76FE-3ED5-4F53-B224-F794AAADBC07}"/>
              </a:ext>
            </a:extLst>
          </p:cNvPr>
          <p:cNvSpPr/>
          <p:nvPr/>
        </p:nvSpPr>
        <p:spPr>
          <a:xfrm>
            <a:off x="4736387" y="5571619"/>
            <a:ext cx="24246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欢迎咨询学习、竞赛、保研等相关问题</a:t>
            </a:r>
          </a:p>
        </p:txBody>
      </p:sp>
      <p:sp>
        <p:nvSpPr>
          <p:cNvPr id="18" name="TextBox 1">
            <a:extLst>
              <a:ext uri="{FF2B5EF4-FFF2-40B4-BE49-F238E27FC236}">
                <a16:creationId xmlns:a16="http://schemas.microsoft.com/office/drawing/2014/main" id="{7683772A-5A9F-4143-8360-5C380175BC81}"/>
              </a:ext>
            </a:extLst>
          </p:cNvPr>
          <p:cNvSpPr txBox="1"/>
          <p:nvPr/>
        </p:nvSpPr>
        <p:spPr>
          <a:xfrm>
            <a:off x="1665942" y="2462644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A4776"/>
                </a:solidFill>
                <a:latin typeface="微软雅黑" pitchFamily="34" charset="-122"/>
                <a:ea typeface="微软雅黑" pitchFamily="34" charset="-122"/>
              </a:rPr>
              <a:t>谢谢各位同学！</a:t>
            </a:r>
          </a:p>
        </p:txBody>
      </p:sp>
      <p:sp>
        <p:nvSpPr>
          <p:cNvPr id="19" name="Rectangle 46">
            <a:extLst>
              <a:ext uri="{FF2B5EF4-FFF2-40B4-BE49-F238E27FC236}">
                <a16:creationId xmlns:a16="http://schemas.microsoft.com/office/drawing/2014/main" id="{C44370B9-C3D0-4273-8B78-10C19C9C10CF}"/>
              </a:ext>
            </a:extLst>
          </p:cNvPr>
          <p:cNvSpPr/>
          <p:nvPr/>
        </p:nvSpPr>
        <p:spPr>
          <a:xfrm>
            <a:off x="2328709" y="3279921"/>
            <a:ext cx="1719698" cy="328935"/>
          </a:xfrm>
          <a:prstGeom prst="rect">
            <a:avLst/>
          </a:prstGeom>
        </p:spPr>
        <p:txBody>
          <a:bodyPr wrap="none" lIns="51433" tIns="25717" rIns="51433" bIns="25717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分享人：陈聪奕</a:t>
            </a:r>
            <a:endParaRPr lang="id-ID" dirty="0">
              <a:solidFill>
                <a:schemeClr val="tx1">
                  <a:lumMod val="75000"/>
                  <a:lumOff val="2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9093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3441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2334</Words>
  <Application>Microsoft Office PowerPoint</Application>
  <PresentationFormat>宽屏</PresentationFormat>
  <Paragraphs>221</Paragraphs>
  <Slides>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微软雅黑</vt:lpstr>
      <vt:lpstr>微软雅黑</vt:lpstr>
      <vt:lpstr>Arial</vt:lpstr>
      <vt:lpstr>Calibri</vt:lpstr>
      <vt:lpstr>Calibri Light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2728216850@qq.com</dc:creator>
  <cp:lastModifiedBy>斌 姚</cp:lastModifiedBy>
  <cp:revision>96</cp:revision>
  <dcterms:created xsi:type="dcterms:W3CDTF">2023-12-11T02:10:11Z</dcterms:created>
  <dcterms:modified xsi:type="dcterms:W3CDTF">2023-12-15T07:15:56Z</dcterms:modified>
</cp:coreProperties>
</file>