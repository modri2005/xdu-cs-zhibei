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649" r:id="rId2"/>
    <p:sldId id="707" r:id="rId3"/>
    <p:sldId id="708" r:id="rId4"/>
    <p:sldId id="709" r:id="rId5"/>
    <p:sldId id="710" r:id="rId6"/>
    <p:sldId id="714" r:id="rId7"/>
    <p:sldId id="715" r:id="rId8"/>
    <p:sldId id="711" r:id="rId9"/>
    <p:sldId id="712" r:id="rId10"/>
    <p:sldId id="716" r:id="rId11"/>
    <p:sldId id="717" r:id="rId12"/>
    <p:sldId id="718" r:id="rId13"/>
    <p:sldId id="719" r:id="rId14"/>
    <p:sldId id="720" r:id="rId15"/>
  </p:sldIdLst>
  <p:sldSz cx="9144000" cy="5143500" type="screen16x9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" userDrawn="1">
          <p15:clr>
            <a:srgbClr val="A4A3A4"/>
          </p15:clr>
        </p15:guide>
        <p15:guide id="2" pos="11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4234FE"/>
    <a:srgbClr val="0099CC"/>
    <a:srgbClr val="993300"/>
    <a:srgbClr val="F2BFFF"/>
    <a:srgbClr val="FFFFFF"/>
    <a:srgbClr val="660033"/>
    <a:srgbClr val="990000"/>
    <a:srgbClr val="2F4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94" autoAdjust="0"/>
    <p:restoredTop sz="84249" autoAdjust="0"/>
  </p:normalViewPr>
  <p:slideViewPr>
    <p:cSldViewPr>
      <p:cViewPr varScale="1">
        <p:scale>
          <a:sx n="146" d="100"/>
          <a:sy n="146" d="100"/>
        </p:scale>
        <p:origin x="564" y="108"/>
      </p:cViewPr>
      <p:guideLst>
        <p:guide orient="horz" pos="214"/>
        <p:guide pos="11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7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9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12" Type="http://schemas.openxmlformats.org/officeDocument/2006/relationships/image" Target="../media/image48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wmf"/><Relationship Id="rId5" Type="http://schemas.openxmlformats.org/officeDocument/2006/relationships/image" Target="../media/image41.wmf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Relationship Id="rId14" Type="http://schemas.openxmlformats.org/officeDocument/2006/relationships/image" Target="../media/image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B16FA-C879-4226-B89F-E7EB85904D3A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2D36-8605-4790-AF9E-62C1D973FA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7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png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4.wmf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oleObject" Target="../embeddings/oleObject15.bin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3.wmf"/><Relationship Id="rId19" Type="http://schemas.openxmlformats.org/officeDocument/2006/relationships/image" Target="../media/image1.png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Relationship Id="rId14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7.wmf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21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png"/><Relationship Id="rId11" Type="http://schemas.openxmlformats.org/officeDocument/2006/relationships/image" Target="../media/image20.wmf"/><Relationship Id="rId5" Type="http://schemas.openxmlformats.org/officeDocument/2006/relationships/oleObject" Target="../embeddings/oleObject24.bin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27.bin"/><Relationship Id="rId4" Type="http://schemas.openxmlformats.org/officeDocument/2006/relationships/image" Target="../media/image17.wmf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36.bin"/><Relationship Id="rId18" Type="http://schemas.openxmlformats.org/officeDocument/2006/relationships/oleObject" Target="../embeddings/oleObject40.bin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2.bin"/><Relationship Id="rId12" Type="http://schemas.openxmlformats.org/officeDocument/2006/relationships/oleObject" Target="../embeddings/oleObject35.bin"/><Relationship Id="rId1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8.bin"/><Relationship Id="rId23" Type="http://schemas.openxmlformats.org/officeDocument/2006/relationships/image" Target="../media/image1.png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33.bin"/><Relationship Id="rId14" Type="http://schemas.openxmlformats.org/officeDocument/2006/relationships/oleObject" Target="../embeddings/oleObject37.bin"/><Relationship Id="rId22" Type="http://schemas.openxmlformats.org/officeDocument/2006/relationships/image" Target="../media/image2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3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44.wmf"/><Relationship Id="rId26" Type="http://schemas.openxmlformats.org/officeDocument/2006/relationships/image" Target="../media/image48.wmf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9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29" Type="http://schemas.openxmlformats.org/officeDocument/2006/relationships/oleObject" Target="../embeddings/oleObject63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47.wm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28" Type="http://schemas.openxmlformats.org/officeDocument/2006/relationships/image" Target="../media/image49.wmf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42.wmf"/><Relationship Id="rId22" Type="http://schemas.openxmlformats.org/officeDocument/2006/relationships/image" Target="../media/image46.wmf"/><Relationship Id="rId27" Type="http://schemas.openxmlformats.org/officeDocument/2006/relationships/oleObject" Target="../embeddings/oleObject62.bin"/><Relationship Id="rId30" Type="http://schemas.openxmlformats.org/officeDocument/2006/relationships/image" Target="../media/image5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A6B2A-E7A5-4701-B4C3-DF2B54AC5309}"/>
              </a:ext>
            </a:extLst>
          </p:cNvPr>
          <p:cNvSpPr txBox="1">
            <a:spLocks/>
          </p:cNvSpPr>
          <p:nvPr/>
        </p:nvSpPr>
        <p:spPr>
          <a:xfrm>
            <a:off x="593725" y="1446163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4000" b="1" dirty="0">
              <a:latin typeface="华文隶书" panose="02010800040101010101" pitchFamily="2" charset="-122"/>
              <a:ea typeface="华文隶书" panose="02010800040101010101" pitchFamily="2" charset="-122"/>
              <a:cs typeface="微软雅黑" panose="020B050302020402020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D81244-5251-4F53-9340-C60B80374F62}"/>
              </a:ext>
            </a:extLst>
          </p:cNvPr>
          <p:cNvSpPr/>
          <p:nvPr/>
        </p:nvSpPr>
        <p:spPr>
          <a:xfrm>
            <a:off x="2195736" y="1673859"/>
            <a:ext cx="38164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一些易混淆概念</a:t>
            </a:r>
            <a:endParaRPr lang="zh-CN" altLang="en-US" sz="36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812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EA71F96-D6AB-447C-9055-9748A6FA24E8}"/>
              </a:ext>
            </a:extLst>
          </p:cNvPr>
          <p:cNvSpPr/>
          <p:nvPr/>
        </p:nvSpPr>
        <p:spPr>
          <a:xfrm>
            <a:off x="1619672" y="1419622"/>
            <a:ext cx="52918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两个无穷大量之和一定是无穷大量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8528E8-B734-45E9-98F1-A79610C1F072}"/>
              </a:ext>
            </a:extLst>
          </p:cNvPr>
          <p:cNvSpPr/>
          <p:nvPr/>
        </p:nvSpPr>
        <p:spPr>
          <a:xfrm>
            <a:off x="1619672" y="640690"/>
            <a:ext cx="3124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400" b="1" kern="100" dirty="0">
                <a:solidFill>
                  <a:srgbClr val="0064FF"/>
                </a:solidFill>
                <a:latin typeface="+mj-ea"/>
                <a:ea typeface="+mj-ea"/>
                <a:cs typeface="Times New Roman" panose="02020603050405020304" pitchFamily="18" charset="0"/>
              </a:rPr>
              <a:t>判断下列结论的对错</a:t>
            </a:r>
            <a:r>
              <a:rPr lang="en-US" altLang="zh-CN" sz="2400" b="1" kern="100" dirty="0">
                <a:solidFill>
                  <a:srgbClr val="0064FF"/>
                </a:solidFill>
                <a:latin typeface="+mj-ea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solidFill>
                <a:srgbClr val="0064FF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384EEC-19FA-43D8-9C2D-3401C579ED25}"/>
              </a:ext>
            </a:extLst>
          </p:cNvPr>
          <p:cNvSpPr/>
          <p:nvPr/>
        </p:nvSpPr>
        <p:spPr>
          <a:xfrm>
            <a:off x="6955820" y="1415316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DEE310-8CDA-447D-A589-6BCF819A624E}"/>
              </a:ext>
            </a:extLst>
          </p:cNvPr>
          <p:cNvSpPr/>
          <p:nvPr/>
        </p:nvSpPr>
        <p:spPr>
          <a:xfrm>
            <a:off x="1621133" y="2330514"/>
            <a:ext cx="4982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两个无穷小之和一定是无穷小量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FB32B0-3091-4E0C-9049-8A9EDB2967DF}"/>
              </a:ext>
            </a:extLst>
          </p:cNvPr>
          <p:cNvSpPr/>
          <p:nvPr/>
        </p:nvSpPr>
        <p:spPr>
          <a:xfrm>
            <a:off x="6953346" y="2296310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5ED1CE-279A-420D-83AA-EA016359DEF7}"/>
              </a:ext>
            </a:extLst>
          </p:cNvPr>
          <p:cNvSpPr/>
          <p:nvPr/>
        </p:nvSpPr>
        <p:spPr>
          <a:xfrm>
            <a:off x="1619672" y="3177305"/>
            <a:ext cx="598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有限个无穷小之和一定是无穷小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27CC97-92A3-450D-A39A-CDF0A84136C2}"/>
              </a:ext>
            </a:extLst>
          </p:cNvPr>
          <p:cNvSpPr/>
          <p:nvPr/>
        </p:nvSpPr>
        <p:spPr>
          <a:xfrm>
            <a:off x="6953346" y="3177305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6F7B85-4A9B-4E72-978B-14E7480DAFE9}"/>
              </a:ext>
            </a:extLst>
          </p:cNvPr>
          <p:cNvSpPr/>
          <p:nvPr/>
        </p:nvSpPr>
        <p:spPr>
          <a:xfrm>
            <a:off x="1605513" y="4001248"/>
            <a:ext cx="4982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无穷个无穷小之和一定是无穷小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FC7555-E8B7-4A59-921C-B9202762D44A}"/>
              </a:ext>
            </a:extLst>
          </p:cNvPr>
          <p:cNvSpPr/>
          <p:nvPr/>
        </p:nvSpPr>
        <p:spPr>
          <a:xfrm>
            <a:off x="6860372" y="4001248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18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8682ECC-1EA9-4EE3-AEBC-0E3BCC1A4DED}"/>
              </a:ext>
            </a:extLst>
          </p:cNvPr>
          <p:cNvSpPr/>
          <p:nvPr/>
        </p:nvSpPr>
        <p:spPr>
          <a:xfrm>
            <a:off x="1619672" y="843558"/>
            <a:ext cx="46682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/>
            <a:r>
              <a:rPr lang="en-US" altLang="zh-CN" sz="2400" b="1" kern="1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  </a:t>
            </a:r>
            <a:r>
              <a:rPr lang="zh-CN" altLang="zh-CN" sz="2400" b="1" kern="1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两个无穷小之积一定是无穷小</a:t>
            </a:r>
            <a:r>
              <a:rPr lang="en-US" altLang="zh-CN" sz="2400" b="1" kern="1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300769-1ED7-4AF5-B5C3-18E83899CAD4}"/>
              </a:ext>
            </a:extLst>
          </p:cNvPr>
          <p:cNvSpPr/>
          <p:nvPr/>
        </p:nvSpPr>
        <p:spPr>
          <a:xfrm>
            <a:off x="1589052" y="1802710"/>
            <a:ext cx="4982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 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有限个无穷小之积一定是无穷小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146A35-1239-49B1-976F-FDCC6C3E75C5}"/>
              </a:ext>
            </a:extLst>
          </p:cNvPr>
          <p:cNvSpPr/>
          <p:nvPr/>
        </p:nvSpPr>
        <p:spPr>
          <a:xfrm>
            <a:off x="1589052" y="2648293"/>
            <a:ext cx="4982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7. 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无穷个无穷小之积一定是无穷小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248761B-93C3-44F1-8E64-3EF71A415067}"/>
              </a:ext>
            </a:extLst>
          </p:cNvPr>
          <p:cNvSpPr/>
          <p:nvPr/>
        </p:nvSpPr>
        <p:spPr>
          <a:xfrm>
            <a:off x="1589052" y="3507854"/>
            <a:ext cx="52918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8. 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无穷个无穷小之积不可能为无穷大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FADAC18-5EC9-4125-8D27-E374DF06C66A}"/>
              </a:ext>
            </a:extLst>
          </p:cNvPr>
          <p:cNvSpPr/>
          <p:nvPr/>
        </p:nvSpPr>
        <p:spPr>
          <a:xfrm>
            <a:off x="6804248" y="881593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B77F00E-34C6-44CB-9D86-0CA767C0277A}"/>
              </a:ext>
            </a:extLst>
          </p:cNvPr>
          <p:cNvSpPr/>
          <p:nvPr/>
        </p:nvSpPr>
        <p:spPr>
          <a:xfrm>
            <a:off x="6745802" y="1790530"/>
            <a:ext cx="410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708FDD9-04C0-4423-94BE-C06EFAA4BA46}"/>
              </a:ext>
            </a:extLst>
          </p:cNvPr>
          <p:cNvSpPr/>
          <p:nvPr/>
        </p:nvSpPr>
        <p:spPr>
          <a:xfrm>
            <a:off x="6711274" y="2590753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93792A8-EB6F-4BDC-9847-C290576BE54D}"/>
              </a:ext>
            </a:extLst>
          </p:cNvPr>
          <p:cNvSpPr/>
          <p:nvPr/>
        </p:nvSpPr>
        <p:spPr>
          <a:xfrm>
            <a:off x="6745802" y="3446298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51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56FA79A-8D57-4DFD-B5E4-3B4F47742D5A}"/>
              </a:ext>
            </a:extLst>
          </p:cNvPr>
          <p:cNvSpPr/>
          <p:nvPr/>
        </p:nvSpPr>
        <p:spPr>
          <a:xfrm>
            <a:off x="1203901" y="1178726"/>
            <a:ext cx="37401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9. 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无穷大量一定是无界量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303BFE-1528-4618-9722-47FD80B41DDA}"/>
              </a:ext>
            </a:extLst>
          </p:cNvPr>
          <p:cNvSpPr/>
          <p:nvPr/>
        </p:nvSpPr>
        <p:spPr>
          <a:xfrm>
            <a:off x="1165429" y="1897676"/>
            <a:ext cx="38170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10.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无界量一定是无穷大量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712C3F-597B-4E10-A1CE-C630F786B94A}"/>
              </a:ext>
            </a:extLst>
          </p:cNvPr>
          <p:cNvSpPr/>
          <p:nvPr/>
        </p:nvSpPr>
        <p:spPr>
          <a:xfrm>
            <a:off x="1154006" y="2698788"/>
            <a:ext cx="41094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11.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可导函数一定是连续函数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CCC428-761B-4CEA-83F6-E0FC19FA643C}"/>
              </a:ext>
            </a:extLst>
          </p:cNvPr>
          <p:cNvSpPr/>
          <p:nvPr/>
        </p:nvSpPr>
        <p:spPr>
          <a:xfrm>
            <a:off x="1122737" y="3482982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12.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函数在一点处可导当且仅当在该点左可导且又可导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F06DBDF-C60A-48F4-B490-956D134AC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987574"/>
            <a:ext cx="719390" cy="85961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3191DFC-7CF2-44B7-A383-2F0A5921E565}"/>
              </a:ext>
            </a:extLst>
          </p:cNvPr>
          <p:cNvSpPr/>
          <p:nvPr/>
        </p:nvSpPr>
        <p:spPr>
          <a:xfrm>
            <a:off x="5263464" y="1894450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BB9ADF3-303E-4197-9741-FB335D756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479" y="2551298"/>
            <a:ext cx="719390" cy="85961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3FBC22F-F7B7-4031-8E35-64126FB7059C}"/>
              </a:ext>
            </a:extLst>
          </p:cNvPr>
          <p:cNvSpPr/>
          <p:nvPr/>
        </p:nvSpPr>
        <p:spPr>
          <a:xfrm>
            <a:off x="8467553" y="3421426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10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CAE3FBA-2901-4AE6-8F24-EB4AA5FA0099}"/>
              </a:ext>
            </a:extLst>
          </p:cNvPr>
          <p:cNvSpPr/>
          <p:nvPr/>
        </p:nvSpPr>
        <p:spPr>
          <a:xfrm>
            <a:off x="755576" y="483518"/>
            <a:ext cx="792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 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函数在某一点处可导当且仅当在该点处左右导数都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DBE2A8-B6BA-49B4-A7C4-23A0A6B8F4AD}"/>
              </a:ext>
            </a:extLst>
          </p:cNvPr>
          <p:cNvSpPr/>
          <p:nvPr/>
        </p:nvSpPr>
        <p:spPr>
          <a:xfrm>
            <a:off x="1109878" y="1087216"/>
            <a:ext cx="20425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zh-CN" sz="2400" b="1" kern="100" dirty="0">
                <a:latin typeface="+mn-ea"/>
                <a:cs typeface="Times New Roman" panose="02020603050405020304" pitchFamily="18" charset="0"/>
              </a:rPr>
              <a:t>存在且相等</a:t>
            </a:r>
            <a:r>
              <a:rPr lang="en-US" altLang="zh-CN" sz="2400" b="1" kern="100" dirty="0">
                <a:latin typeface="+mn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E8FBC7-A86C-41B5-83D7-7FB7C8CE52B6}"/>
              </a:ext>
            </a:extLst>
          </p:cNvPr>
          <p:cNvSpPr/>
          <p:nvPr/>
        </p:nvSpPr>
        <p:spPr>
          <a:xfrm>
            <a:off x="724257" y="1839898"/>
            <a:ext cx="80242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14.  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函数在某点处可导，则函数在该点的某个邻域内可导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56E1D23-6660-4702-9618-38A642C54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980287"/>
            <a:ext cx="719390" cy="85961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C883303-91DF-4881-86A2-AEE0B516FE1F}"/>
              </a:ext>
            </a:extLst>
          </p:cNvPr>
          <p:cNvSpPr/>
          <p:nvPr/>
        </p:nvSpPr>
        <p:spPr>
          <a:xfrm>
            <a:off x="8450145" y="1799664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35C7963-60DE-42AF-9E9E-DD7168B6CE35}"/>
              </a:ext>
            </a:extLst>
          </p:cNvPr>
          <p:cNvSpPr txBox="1">
            <a:spLocks noChangeArrowheads="1"/>
          </p:cNvSpPr>
          <p:nvPr/>
        </p:nvSpPr>
        <p:spPr>
          <a:xfrm>
            <a:off x="695372" y="2613338"/>
            <a:ext cx="100811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例如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CB48844-E8FB-4A66-9DB4-EAF51FA639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600802"/>
              </p:ext>
            </p:extLst>
          </p:nvPr>
        </p:nvGraphicFramePr>
        <p:xfrm>
          <a:off x="1619672" y="2839411"/>
          <a:ext cx="3352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938" name="Equation" r:id="rId4" imgW="3352680" imgH="939600" progId="Equation.DSMT4">
                  <p:embed/>
                </p:oleObj>
              </mc:Choice>
              <mc:Fallback>
                <p:oleObj name="Equation" r:id="rId4" imgW="3352680" imgH="939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BF14A985-BC68-4FA3-A621-30D51EB0B5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19672" y="2839411"/>
                        <a:ext cx="33528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79C20B07-34AB-4ECC-8CB8-C48100BFC030}"/>
              </a:ext>
            </a:extLst>
          </p:cNvPr>
          <p:cNvGrpSpPr/>
          <p:nvPr/>
        </p:nvGrpSpPr>
        <p:grpSpPr>
          <a:xfrm>
            <a:off x="687850" y="4239020"/>
            <a:ext cx="8352928" cy="457200"/>
            <a:chOff x="251520" y="3554710"/>
            <a:chExt cx="8352928" cy="457200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4A0602FB-A610-46A1-90E9-B6459E0CDBA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51520" y="3554710"/>
              <a:ext cx="835292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在点     可导，但在     的任何邻域内都不可导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67C70CAD-4C32-4585-A6B9-5A0F39C711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614203"/>
                </p:ext>
              </p:extLst>
            </p:nvPr>
          </p:nvGraphicFramePr>
          <p:xfrm>
            <a:off x="1043980" y="3643610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939" name="Equation" r:id="rId6" imgW="647640" imgH="279360" progId="Equation.DSMT4">
                    <p:embed/>
                  </p:oleObj>
                </mc:Choice>
                <mc:Fallback>
                  <p:oleObj name="Equation" r:id="rId6" imgW="647640" imgH="27936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20E9862A-216E-4B91-B9BE-569E57F2C4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43980" y="3643610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9BE4B213-C4B4-4384-938C-E44EF80A1C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983522"/>
                </p:ext>
              </p:extLst>
            </p:nvPr>
          </p:nvGraphicFramePr>
          <p:xfrm>
            <a:off x="3254822" y="3643610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940" name="Equation" r:id="rId8" imgW="647640" imgH="279360" progId="Equation.DSMT4">
                    <p:embed/>
                  </p:oleObj>
                </mc:Choice>
                <mc:Fallback>
                  <p:oleObj name="Equation" r:id="rId8" imgW="647640" imgH="27936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CD476F97-0748-4E2E-8D6E-2CF5A1224A1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254822" y="3643610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4787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BE65156-8F6D-4C8A-9F0C-DD6D73E2AC03}"/>
              </a:ext>
            </a:extLst>
          </p:cNvPr>
          <p:cNvSpPr/>
          <p:nvPr/>
        </p:nvSpPr>
        <p:spPr>
          <a:xfrm>
            <a:off x="755576" y="830071"/>
            <a:ext cx="78119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15.  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函数在某点处连续，则函数在该点的某邻域内连续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173C0F-A3DC-4DAF-ABDD-6CEA503B9074}"/>
              </a:ext>
            </a:extLst>
          </p:cNvPr>
          <p:cNvSpPr/>
          <p:nvPr/>
        </p:nvSpPr>
        <p:spPr>
          <a:xfrm>
            <a:off x="8481464" y="774719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52A4A3-F798-4186-8B0F-3305F8B7BC0B}"/>
              </a:ext>
            </a:extLst>
          </p:cNvPr>
          <p:cNvSpPr/>
          <p:nvPr/>
        </p:nvSpPr>
        <p:spPr>
          <a:xfrm>
            <a:off x="801812" y="1923678"/>
            <a:ext cx="8656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例如  </a:t>
            </a:r>
            <a:endParaRPr lang="zh-CN" altLang="en-US" sz="2400" dirty="0"/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610485CB-3393-4664-BEFB-DD50B2ED35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540895"/>
              </p:ext>
            </p:extLst>
          </p:nvPr>
        </p:nvGraphicFramePr>
        <p:xfrm>
          <a:off x="1905000" y="2025432"/>
          <a:ext cx="2667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987" name="Equation" r:id="rId3" imgW="2666880" imgH="939600" progId="Equation.DSMT4">
                  <p:embed/>
                </p:oleObj>
              </mc:Choice>
              <mc:Fallback>
                <p:oleObj name="Equation" r:id="rId3" imgW="2666880" imgH="93960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8ADC7F48-B2FA-4147-B864-0F010F9113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25432"/>
                        <a:ext cx="26670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4ABC1AE2-1933-40F8-8F96-5B4D5400C0FF}"/>
              </a:ext>
            </a:extLst>
          </p:cNvPr>
          <p:cNvGrpSpPr/>
          <p:nvPr/>
        </p:nvGrpSpPr>
        <p:grpSpPr>
          <a:xfrm>
            <a:off x="790524" y="3330542"/>
            <a:ext cx="8161149" cy="461665"/>
            <a:chOff x="790524" y="3330542"/>
            <a:chExt cx="8161149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F781589-D19F-451B-9006-162694500E88}"/>
                </a:ext>
              </a:extLst>
            </p:cNvPr>
            <p:cNvSpPr/>
            <p:nvPr/>
          </p:nvSpPr>
          <p:spPr>
            <a:xfrm>
              <a:off x="790524" y="3330542"/>
              <a:ext cx="816114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j-ea"/>
                </a:rPr>
                <a:t>显然函数    在      处连续，但在其他点不连续</a:t>
              </a:r>
              <a:r>
                <a:rPr kumimoji="1" lang="en-US" altLang="zh-CN" sz="2400" b="1" dirty="0">
                  <a:latin typeface="+mj-ea"/>
                </a:rPr>
                <a:t>.</a:t>
              </a:r>
              <a:r>
                <a:rPr kumimoji="1" lang="zh-CN" altLang="en-US" sz="2400" b="1" dirty="0">
                  <a:latin typeface="+mj-ea"/>
                </a:rPr>
                <a:t>  </a:t>
              </a:r>
              <a:endParaRPr lang="zh-CN" altLang="en-US" sz="2400" dirty="0"/>
            </a:p>
          </p:txBody>
        </p:sp>
        <p:graphicFrame>
          <p:nvGraphicFramePr>
            <p:cNvPr id="10" name="Object 3">
              <a:extLst>
                <a:ext uri="{FF2B5EF4-FFF2-40B4-BE49-F238E27FC236}">
                  <a16:creationId xmlns:a16="http://schemas.microsoft.com/office/drawing/2014/main" id="{882AD1AE-AD29-47AB-A6ED-75FE2B43F2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9081416"/>
                </p:ext>
              </p:extLst>
            </p:nvPr>
          </p:nvGraphicFramePr>
          <p:xfrm>
            <a:off x="2080312" y="340517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988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14" name="Object 3">
                          <a:extLst>
                            <a:ext uri="{FF2B5EF4-FFF2-40B4-BE49-F238E27FC236}">
                              <a16:creationId xmlns:a16="http://schemas.microsoft.com/office/drawing/2014/main" id="{43EA1BD2-328A-4C1F-91D5-F8BF7B5784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312" y="340517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5">
              <a:extLst>
                <a:ext uri="{FF2B5EF4-FFF2-40B4-BE49-F238E27FC236}">
                  <a16:creationId xmlns:a16="http://schemas.microsoft.com/office/drawing/2014/main" id="{9D874D78-AFA1-4872-AA9E-D555A85193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6833147"/>
                </p:ext>
              </p:extLst>
            </p:nvPr>
          </p:nvGraphicFramePr>
          <p:xfrm>
            <a:off x="3203848" y="3443857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989" name="Equation" r:id="rId7" imgW="647640" imgH="279360" progId="Equation.DSMT4">
                    <p:embed/>
                  </p:oleObj>
                </mc:Choice>
                <mc:Fallback>
                  <p:oleObj name="Equation" r:id="rId7" imgW="647640" imgH="279360" progId="Equation.DSMT4">
                    <p:embed/>
                    <p:pic>
                      <p:nvPicPr>
                        <p:cNvPr id="15" name="Object 5">
                          <a:extLst>
                            <a:ext uri="{FF2B5EF4-FFF2-40B4-BE49-F238E27FC236}">
                              <a16:creationId xmlns:a16="http://schemas.microsoft.com/office/drawing/2014/main" id="{82788369-4745-4617-BE6E-B44CD71431B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848" y="3443857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7989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88866474-19F2-4C84-BE81-3945A92AE5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450989"/>
              </p:ext>
            </p:extLst>
          </p:nvPr>
        </p:nvGraphicFramePr>
        <p:xfrm>
          <a:off x="899592" y="2237051"/>
          <a:ext cx="1917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08" name="Equation" r:id="rId3" imgW="1917360" imgH="406080" progId="Equation.DSMT4">
                  <p:embed/>
                </p:oleObj>
              </mc:Choice>
              <mc:Fallback>
                <p:oleObj name="Equation" r:id="rId3" imgW="1917360" imgH="406080" progId="Equation.DSMT4">
                  <p:embed/>
                  <p:pic>
                    <p:nvPicPr>
                      <p:cNvPr id="17" name="Object 5">
                        <a:extLst>
                          <a:ext uri="{FF2B5EF4-FFF2-40B4-BE49-F238E27FC236}">
                            <a16:creationId xmlns:a16="http://schemas.microsoft.com/office/drawing/2014/main" id="{83271BB2-EC71-4716-A7E4-816DF92897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237051"/>
                        <a:ext cx="1917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BEEA781B-5121-48C2-8BB0-F01C17888B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19479"/>
              </p:ext>
            </p:extLst>
          </p:nvPr>
        </p:nvGraphicFramePr>
        <p:xfrm>
          <a:off x="1187624" y="3203448"/>
          <a:ext cx="47625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09" name="Equation" r:id="rId5" imgW="4762440" imgH="1155600" progId="Equation.DSMT4">
                  <p:embed/>
                </p:oleObj>
              </mc:Choice>
              <mc:Fallback>
                <p:oleObj name="Equation" r:id="rId5" imgW="4762440" imgH="1155600" progId="Equation.DSMT4">
                  <p:embed/>
                  <p:pic>
                    <p:nvPicPr>
                      <p:cNvPr id="18" name="Object 7">
                        <a:extLst>
                          <a:ext uri="{FF2B5EF4-FFF2-40B4-BE49-F238E27FC236}">
                            <a16:creationId xmlns:a16="http://schemas.microsoft.com/office/drawing/2014/main" id="{120456C5-2876-48DF-9FE0-7E1BC00252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203448"/>
                        <a:ext cx="4762500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65FAABF2-426A-4055-A2BE-16A73DB1D9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894448"/>
              </p:ext>
            </p:extLst>
          </p:nvPr>
        </p:nvGraphicFramePr>
        <p:xfrm>
          <a:off x="3203848" y="2009050"/>
          <a:ext cx="2298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10" name="Equation" r:id="rId7" imgW="2298600" imgH="914400" progId="Equation.DSMT4">
                  <p:embed/>
                </p:oleObj>
              </mc:Choice>
              <mc:Fallback>
                <p:oleObj name="Equation" r:id="rId7" imgW="2298600" imgH="914400" progId="Equation.DSMT4">
                  <p:embed/>
                  <p:pic>
                    <p:nvPicPr>
                      <p:cNvPr id="20" name="Object 5">
                        <a:extLst>
                          <a:ext uri="{FF2B5EF4-FFF2-40B4-BE49-F238E27FC236}">
                            <a16:creationId xmlns:a16="http://schemas.microsoft.com/office/drawing/2014/main" id="{E22EC9BF-6F64-4B64-8A49-0E775E9841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009050"/>
                        <a:ext cx="22987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extLst>
              <a:ext uri="{FF2B5EF4-FFF2-40B4-BE49-F238E27FC236}">
                <a16:creationId xmlns:a16="http://schemas.microsoft.com/office/drawing/2014/main" id="{DF6268B0-E9FE-4087-83D0-9A6F794F7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7487" y="3378488"/>
            <a:ext cx="2952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在其他点均不连续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3CEDF2-D686-4252-8CA3-5CAA8EF19FFD}"/>
              </a:ext>
            </a:extLst>
          </p:cNvPr>
          <p:cNvSpPr/>
          <p:nvPr/>
        </p:nvSpPr>
        <p:spPr>
          <a:xfrm>
            <a:off x="755576" y="830071"/>
            <a:ext cx="78119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16.  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函数在某点处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可导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，则函数在该点的某邻域内连续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E92935-8F95-48C3-961B-553C676FA831}"/>
              </a:ext>
            </a:extLst>
          </p:cNvPr>
          <p:cNvSpPr/>
          <p:nvPr/>
        </p:nvSpPr>
        <p:spPr>
          <a:xfrm>
            <a:off x="785911" y="162179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EFFB31-28C8-47C3-A097-CE79F7389BEA}"/>
              </a:ext>
            </a:extLst>
          </p:cNvPr>
          <p:cNvSpPr/>
          <p:nvPr/>
        </p:nvSpPr>
        <p:spPr>
          <a:xfrm>
            <a:off x="8303177" y="830071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85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338C0D8-6229-4B8D-A60B-2A0C2750180F}"/>
              </a:ext>
            </a:extLst>
          </p:cNvPr>
          <p:cNvSpPr/>
          <p:nvPr/>
        </p:nvSpPr>
        <p:spPr>
          <a:xfrm>
            <a:off x="827584" y="1453849"/>
            <a:ext cx="5054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 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函数的极值点一定是函数的驻点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1B4924-367E-4744-9949-D66C9E8CE388}"/>
              </a:ext>
            </a:extLst>
          </p:cNvPr>
          <p:cNvSpPr/>
          <p:nvPr/>
        </p:nvSpPr>
        <p:spPr>
          <a:xfrm>
            <a:off x="827584" y="2294590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 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函数在某点不可导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则在函数曲线对应点处不存在切线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77A4D9-041B-4B1D-A01B-3EAB6BFB36F4}"/>
              </a:ext>
            </a:extLst>
          </p:cNvPr>
          <p:cNvSpPr/>
          <p:nvPr/>
        </p:nvSpPr>
        <p:spPr>
          <a:xfrm>
            <a:off x="831032" y="3136335"/>
            <a:ext cx="4745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 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两个无穷大之差一定是无穷小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F68DDE-7B28-4203-A34A-A2653185A6E6}"/>
              </a:ext>
            </a:extLst>
          </p:cNvPr>
          <p:cNvSpPr/>
          <p:nvPr/>
        </p:nvSpPr>
        <p:spPr>
          <a:xfrm>
            <a:off x="828273" y="3978080"/>
            <a:ext cx="6840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 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函数在某一点左可导，则在该点一定左连续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5495EC-3011-4B94-A935-743B6061E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3872379"/>
            <a:ext cx="719390" cy="85961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0FC25DE-A087-4640-BDDD-D2ABA2BE183B}"/>
              </a:ext>
            </a:extLst>
          </p:cNvPr>
          <p:cNvSpPr/>
          <p:nvPr/>
        </p:nvSpPr>
        <p:spPr>
          <a:xfrm>
            <a:off x="5852559" y="1414951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51EA3B-F4C6-4137-9072-9C941FA8A06F}"/>
              </a:ext>
            </a:extLst>
          </p:cNvPr>
          <p:cNvSpPr/>
          <p:nvPr/>
        </p:nvSpPr>
        <p:spPr>
          <a:xfrm>
            <a:off x="8460432" y="2233034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DA3C3F-7CF1-43A1-98B8-6D21B65247F5}"/>
              </a:ext>
            </a:extLst>
          </p:cNvPr>
          <p:cNvSpPr/>
          <p:nvPr/>
        </p:nvSpPr>
        <p:spPr>
          <a:xfrm>
            <a:off x="5436096" y="3107585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D30758-D71F-4BEE-8625-0BD8EE845891}"/>
              </a:ext>
            </a:extLst>
          </p:cNvPr>
          <p:cNvSpPr/>
          <p:nvPr/>
        </p:nvSpPr>
        <p:spPr>
          <a:xfrm>
            <a:off x="822229" y="337725"/>
            <a:ext cx="57606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endParaRPr lang="zh-CN" altLang="zh-CN" sz="24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 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函数的极值点可能在不连续点处取得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4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CN" altLang="zh-CN" sz="2400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1395BF5-0328-45DD-B601-7FC742841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197" y="523473"/>
            <a:ext cx="719390" cy="85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8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21A6C01-8B6A-4442-AF27-A7B9AEF4D08D}"/>
              </a:ext>
            </a:extLst>
          </p:cNvPr>
          <p:cNvSpPr/>
          <p:nvPr/>
        </p:nvSpPr>
        <p:spPr>
          <a:xfrm>
            <a:off x="611560" y="699542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 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函数在某点处既左可导又右可导，则函数在该点处连续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14EBA3-D961-412E-9C7F-C0795504A916}"/>
              </a:ext>
            </a:extLst>
          </p:cNvPr>
          <p:cNvSpPr/>
          <p:nvPr/>
        </p:nvSpPr>
        <p:spPr>
          <a:xfrm>
            <a:off x="610424" y="1501496"/>
            <a:ext cx="3198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23. </a:t>
            </a:r>
            <a:r>
              <a:rPr lang="zh-CN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收敛数列一定有界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6E32A8-4666-4CAB-BD5B-666875C8D33E}"/>
              </a:ext>
            </a:extLst>
          </p:cNvPr>
          <p:cNvSpPr/>
          <p:nvPr/>
        </p:nvSpPr>
        <p:spPr>
          <a:xfrm>
            <a:off x="610991" y="2340917"/>
            <a:ext cx="7922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24.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当                   时              是比      高阶的无穷小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076DF97-296F-4AD4-80E4-FF2E6E657E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418441"/>
              </p:ext>
            </p:extLst>
          </p:nvPr>
        </p:nvGraphicFramePr>
        <p:xfrm>
          <a:off x="1475656" y="2402302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81" name="Equation" r:id="rId3" imgW="1257120" imgH="380880" progId="Equation.DSMT4">
                  <p:embed/>
                </p:oleObj>
              </mc:Choice>
              <mc:Fallback>
                <p:oleObj name="Equation" r:id="rId3" imgW="1257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5656" y="2402302"/>
                        <a:ext cx="1257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F1EBCF8-B55C-49D0-8897-61127EF13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321595"/>
              </p:ext>
            </p:extLst>
          </p:nvPr>
        </p:nvGraphicFramePr>
        <p:xfrm>
          <a:off x="3215613" y="2412459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82" name="Equation" r:id="rId5" imgW="927000" imgH="342720" progId="Equation.DSMT4">
                  <p:embed/>
                </p:oleObj>
              </mc:Choice>
              <mc:Fallback>
                <p:oleObj name="Equation" r:id="rId5" imgW="927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5613" y="2412459"/>
                        <a:ext cx="927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D1BD8C3-3513-46EE-9F26-051B64AF10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131392"/>
              </p:ext>
            </p:extLst>
          </p:nvPr>
        </p:nvGraphicFramePr>
        <p:xfrm>
          <a:off x="4932040" y="2453102"/>
          <a:ext cx="368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83" name="Equation" r:id="rId7" imgW="368280" imgH="279360" progId="Equation.DSMT4">
                  <p:embed/>
                </p:oleObj>
              </mc:Choice>
              <mc:Fallback>
                <p:oleObj name="Equation" r:id="rId7" imgW="3682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32040" y="2453102"/>
                        <a:ext cx="368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7C83D6D8-D74A-4A21-9179-2E3E240335F3}"/>
              </a:ext>
            </a:extLst>
          </p:cNvPr>
          <p:cNvSpPr/>
          <p:nvPr/>
        </p:nvSpPr>
        <p:spPr>
          <a:xfrm>
            <a:off x="610424" y="3204658"/>
            <a:ext cx="7922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25.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当                  时               是比     高阶的无穷小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5E964D0-5F9F-46A2-A329-2F4722BBC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05820"/>
              </p:ext>
            </p:extLst>
          </p:nvPr>
        </p:nvGraphicFramePr>
        <p:xfrm>
          <a:off x="1452968" y="3264041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84" name="Equation" r:id="rId9" imgW="1257120" imgH="380880" progId="Equation.DSMT4">
                  <p:embed/>
                </p:oleObj>
              </mc:Choice>
              <mc:Fallback>
                <p:oleObj name="Equation" r:id="rId9" imgW="125712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076DF97-296F-4AD4-80E4-FF2E6E657E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52968" y="3264041"/>
                        <a:ext cx="1257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362CE1EB-67CC-436B-B325-F7C21190F4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941086"/>
              </p:ext>
            </p:extLst>
          </p:nvPr>
        </p:nvGraphicFramePr>
        <p:xfrm>
          <a:off x="3132409" y="3289690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85" name="Equation" r:id="rId11" imgW="927000" imgH="342720" progId="Equation.DSMT4">
                  <p:embed/>
                </p:oleObj>
              </mc:Choice>
              <mc:Fallback>
                <p:oleObj name="Equation" r:id="rId11" imgW="92700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F1EBCF8-B55C-49D0-8897-61127EF13A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2409" y="3289690"/>
                        <a:ext cx="927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9F34838-271B-487B-B086-B700B4D141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747811"/>
              </p:ext>
            </p:extLst>
          </p:nvPr>
        </p:nvGraphicFramePr>
        <p:xfrm>
          <a:off x="4860032" y="3264041"/>
          <a:ext cx="368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86" name="Equation" r:id="rId12" imgW="368280" imgH="342720" progId="Equation.DSMT4">
                  <p:embed/>
                </p:oleObj>
              </mc:Choice>
              <mc:Fallback>
                <p:oleObj name="Equation" r:id="rId12" imgW="36828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D1BD8C3-3513-46EE-9F26-051B64AF10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60032" y="3264041"/>
                        <a:ext cx="368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83554730-BA3A-4E2B-AD06-B616A061037B}"/>
              </a:ext>
            </a:extLst>
          </p:cNvPr>
          <p:cNvSpPr/>
          <p:nvPr/>
        </p:nvSpPr>
        <p:spPr>
          <a:xfrm>
            <a:off x="610423" y="3939902"/>
            <a:ext cx="7922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26.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当                  时      和     是同阶无穷小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722D7743-4F89-4501-A607-D7B0D87E23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182864"/>
              </p:ext>
            </p:extLst>
          </p:nvPr>
        </p:nvGraphicFramePr>
        <p:xfrm>
          <a:off x="1452968" y="4020567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87" name="Equation" r:id="rId14" imgW="1257120" imgH="380880" progId="Equation.DSMT4">
                  <p:embed/>
                </p:oleObj>
              </mc:Choice>
              <mc:Fallback>
                <p:oleObj name="Equation" r:id="rId14" imgW="1257120" imgH="380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B5E964D0-5F9F-46A2-A329-2F4722BBCA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52968" y="4020567"/>
                        <a:ext cx="1257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71FCDDE-8DA4-46A3-8ACE-2F762AF176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298730"/>
              </p:ext>
            </p:extLst>
          </p:nvPr>
        </p:nvGraphicFramePr>
        <p:xfrm>
          <a:off x="3116710" y="4024250"/>
          <a:ext cx="368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88" name="Equation" r:id="rId15" imgW="368280" imgH="342720" progId="Equation.DSMT4">
                  <p:embed/>
                </p:oleObj>
              </mc:Choice>
              <mc:Fallback>
                <p:oleObj name="Equation" r:id="rId15" imgW="368280" imgH="3427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09F34838-271B-487B-B086-B700B4D141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16710" y="4024250"/>
                        <a:ext cx="368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05B510B-8E75-4490-AF61-9873832F8C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277600"/>
              </p:ext>
            </p:extLst>
          </p:nvPr>
        </p:nvGraphicFramePr>
        <p:xfrm>
          <a:off x="3903235" y="4024250"/>
          <a:ext cx="33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89" name="Equation" r:id="rId17" imgW="330120" imgH="342720" progId="Equation.DSMT4">
                  <p:embed/>
                </p:oleObj>
              </mc:Choice>
              <mc:Fallback>
                <p:oleObj name="Equation" r:id="rId17" imgW="3301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03235" y="4024250"/>
                        <a:ext cx="330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" name="图片 27">
            <a:extLst>
              <a:ext uri="{FF2B5EF4-FFF2-40B4-BE49-F238E27FC236}">
                <a16:creationId xmlns:a16="http://schemas.microsoft.com/office/drawing/2014/main" id="{FF33D4BC-4D92-4D70-BF83-3CA0A4EAD50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45328" y="559975"/>
            <a:ext cx="719390" cy="85961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0230E13E-A7C3-44F2-BC01-D60ECC149C5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95959" y="1385505"/>
            <a:ext cx="719390" cy="85961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315DA080-9D4C-495A-B9A7-B450BF80823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6296" y="2208466"/>
            <a:ext cx="719390" cy="859611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ECFAB26E-67E6-43C5-8C94-5E5D23F32A6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6296" y="3068077"/>
            <a:ext cx="719390" cy="85961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70C8C256-4DEA-484E-847D-B8976D45903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74039" y="3802904"/>
            <a:ext cx="719390" cy="85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8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0AFE4C-C211-4E8E-B324-DF85CB392048}"/>
              </a:ext>
            </a:extLst>
          </p:cNvPr>
          <p:cNvSpPr/>
          <p:nvPr/>
        </p:nvSpPr>
        <p:spPr>
          <a:xfrm>
            <a:off x="755577" y="483518"/>
            <a:ext cx="5688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27.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区间    上连续的函数一定存在原函数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E51DBCB-A67D-4411-8202-98E70BAEC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800384"/>
              </p:ext>
            </p:extLst>
          </p:nvPr>
        </p:nvGraphicFramePr>
        <p:xfrm>
          <a:off x="1979712" y="581000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7" name="Equation" r:id="rId3" imgW="190440" imgH="266400" progId="Equation.DSMT4">
                  <p:embed/>
                </p:oleObj>
              </mc:Choice>
              <mc:Fallback>
                <p:oleObj name="Equation" r:id="rId3" imgW="1904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581000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1E14532-0642-49EA-8198-0EC9D39143A4}"/>
              </a:ext>
            </a:extLst>
          </p:cNvPr>
          <p:cNvSpPr/>
          <p:nvPr/>
        </p:nvSpPr>
        <p:spPr>
          <a:xfrm>
            <a:off x="755577" y="1104392"/>
            <a:ext cx="6624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28.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区间    上有间断点的函数一定不存在原函数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993D87A-DE51-4776-8053-3DFC83A110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637091"/>
              </p:ext>
            </p:extLst>
          </p:nvPr>
        </p:nvGraphicFramePr>
        <p:xfrm>
          <a:off x="2013707" y="1201874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8" name="Equation" r:id="rId5" imgW="190440" imgH="266400" progId="Equation.DSMT4">
                  <p:embed/>
                </p:oleObj>
              </mc:Choice>
              <mc:Fallback>
                <p:oleObj name="Equation" r:id="rId5" imgW="190440" imgH="266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E51DBCB-A67D-4411-8202-98E70BAEC4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13707" y="1201874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FC3379C-24C8-4D53-B9F2-E8F9032C5B5D}"/>
              </a:ext>
            </a:extLst>
          </p:cNvPr>
          <p:cNvSpPr/>
          <p:nvPr/>
        </p:nvSpPr>
        <p:spPr>
          <a:xfrm>
            <a:off x="759674" y="1874541"/>
            <a:ext cx="6624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29.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区间    上有间断点的函数可能存在原函数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3DD4FC7-A678-45F9-A9C3-D9146814F3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820762"/>
              </p:ext>
            </p:extLst>
          </p:nvPr>
        </p:nvGraphicFramePr>
        <p:xfrm>
          <a:off x="2017116" y="1972023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9" name="Equation" r:id="rId7" imgW="190440" imgH="266400" progId="Equation.DSMT4">
                  <p:embed/>
                </p:oleObj>
              </mc:Choice>
              <mc:Fallback>
                <p:oleObj name="Equation" r:id="rId7" imgW="190440" imgH="266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993D87A-DE51-4776-8053-3DFC83A110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17116" y="1972023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7083EB4-4AAE-4295-86E7-7D6F8803FA42}"/>
              </a:ext>
            </a:extLst>
          </p:cNvPr>
          <p:cNvSpPr/>
          <p:nvPr/>
        </p:nvSpPr>
        <p:spPr>
          <a:xfrm>
            <a:off x="705474" y="2652304"/>
            <a:ext cx="74802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30.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区间    上有第一类间断点的函数不可能存在原函数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C9EE506-E530-459B-9255-D762E857E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712944"/>
              </p:ext>
            </p:extLst>
          </p:nvPr>
        </p:nvGraphicFramePr>
        <p:xfrm>
          <a:off x="1979712" y="2749786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0" name="Equation" r:id="rId8" imgW="190440" imgH="266400" progId="Equation.DSMT4">
                  <p:embed/>
                </p:oleObj>
              </mc:Choice>
              <mc:Fallback>
                <p:oleObj name="Equation" r:id="rId8" imgW="190440" imgH="266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3DD4FC7-A678-45F9-A9C3-D9146814F3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79712" y="2749786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F8CFB3B-12E6-4C37-858F-7AC8480BEC25}"/>
              </a:ext>
            </a:extLst>
          </p:cNvPr>
          <p:cNvSpPr/>
          <p:nvPr/>
        </p:nvSpPr>
        <p:spPr>
          <a:xfrm>
            <a:off x="683568" y="3479464"/>
            <a:ext cx="5400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31.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初等函数的原函数一定是初等函数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133DFA1-334E-4E3D-B3B8-0036BA6E82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8184" y="342263"/>
            <a:ext cx="719390" cy="85961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32B4913-77AF-458A-9C3D-F942D9036038}"/>
              </a:ext>
            </a:extLst>
          </p:cNvPr>
          <p:cNvSpPr/>
          <p:nvPr/>
        </p:nvSpPr>
        <p:spPr>
          <a:xfrm>
            <a:off x="7081994" y="1042836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D0F9A62-7EF2-4BA2-8199-351DCA6DCC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7189" y="1689167"/>
            <a:ext cx="719390" cy="85961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8063F06-9A34-4FF4-85C6-631FADB92A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6376" y="2504814"/>
            <a:ext cx="719390" cy="859611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373453E4-685F-4294-8C91-AFAAAE1A934B}"/>
              </a:ext>
            </a:extLst>
          </p:cNvPr>
          <p:cNvSpPr/>
          <p:nvPr/>
        </p:nvSpPr>
        <p:spPr>
          <a:xfrm>
            <a:off x="5929865" y="3454333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EA8A18-2B1D-4FEC-9361-308189E5D871}"/>
              </a:ext>
            </a:extLst>
          </p:cNvPr>
          <p:cNvSpPr/>
          <p:nvPr/>
        </p:nvSpPr>
        <p:spPr>
          <a:xfrm>
            <a:off x="611560" y="339502"/>
            <a:ext cx="80690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32.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有界区间   上的有界函数一定黎曼可积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定积分存在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47A54B3-5258-42B6-801A-ADE4800265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873244"/>
              </p:ext>
            </p:extLst>
          </p:nvPr>
        </p:nvGraphicFramePr>
        <p:xfrm>
          <a:off x="2411760" y="436984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95" name="Equation" r:id="rId3" imgW="190440" imgH="266400" progId="Equation.DSMT4">
                  <p:embed/>
                </p:oleObj>
              </mc:Choice>
              <mc:Fallback>
                <p:oleObj name="Equation" r:id="rId3" imgW="190440" imgH="266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E51DBCB-A67D-4411-8202-98E70BAEC4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60" y="436984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5C6268A-CBD0-4F45-9347-3B79753273AF}"/>
              </a:ext>
            </a:extLst>
          </p:cNvPr>
          <p:cNvSpPr/>
          <p:nvPr/>
        </p:nvSpPr>
        <p:spPr>
          <a:xfrm>
            <a:off x="8051229" y="277946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6E5CCB-34FF-4334-9DB2-5196EC89533F}"/>
              </a:ext>
            </a:extLst>
          </p:cNvPr>
          <p:cNvSpPr/>
          <p:nvPr/>
        </p:nvSpPr>
        <p:spPr>
          <a:xfrm>
            <a:off x="611560" y="1059582"/>
            <a:ext cx="77048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33.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有界区间   上黎曼可积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定积分存在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的函数一定有界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61331D8-DD45-4A4B-83EC-E7AC46C2F6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511496"/>
              </p:ext>
            </p:extLst>
          </p:nvPr>
        </p:nvGraphicFramePr>
        <p:xfrm>
          <a:off x="2420766" y="1157064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96" name="Equation" r:id="rId5" imgW="190440" imgH="266400" progId="Equation.DSMT4">
                  <p:embed/>
                </p:oleObj>
              </mc:Choice>
              <mc:Fallback>
                <p:oleObj name="Equation" r:id="rId5" imgW="190440" imgH="266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47A54B3-5258-42B6-801A-ADE4800265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0766" y="1157064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B66FAA2-2092-4CAA-967C-52DBD2BFD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1174" y="993958"/>
            <a:ext cx="719390" cy="85961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C2B8617-D991-4B07-8620-7BF267EF7CC2}"/>
              </a:ext>
            </a:extLst>
          </p:cNvPr>
          <p:cNvSpPr/>
          <p:nvPr/>
        </p:nvSpPr>
        <p:spPr>
          <a:xfrm>
            <a:off x="611560" y="1788898"/>
            <a:ext cx="5688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34.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有界区间   上连续函数一定黎曼可积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B008814-C760-42B3-89DC-87D4805F24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217329"/>
              </p:ext>
            </p:extLst>
          </p:nvPr>
        </p:nvGraphicFramePr>
        <p:xfrm>
          <a:off x="2411760" y="1853781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97" name="Equation" r:id="rId7" imgW="190440" imgH="266400" progId="Equation.DSMT4">
                  <p:embed/>
                </p:oleObj>
              </mc:Choice>
              <mc:Fallback>
                <p:oleObj name="Equation" r:id="rId7" imgW="190440" imgH="266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61331D8-DD45-4A4B-83EC-E7AC46C2F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60" y="1853781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2DED67ED-E6A8-40A3-B140-AE1C2D2DA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497" y="1690675"/>
            <a:ext cx="719390" cy="85961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A84A75F-DB77-4093-80CE-EA78F8EAD266}"/>
              </a:ext>
            </a:extLst>
          </p:cNvPr>
          <p:cNvSpPr/>
          <p:nvPr/>
        </p:nvSpPr>
        <p:spPr>
          <a:xfrm>
            <a:off x="597239" y="2546619"/>
            <a:ext cx="72871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35. 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         在区间         上连续，则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N-L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公式成立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75638A2-5309-4A83-972F-2B30C831F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00568"/>
              </p:ext>
            </p:extLst>
          </p:nvPr>
        </p:nvGraphicFramePr>
        <p:xfrm>
          <a:off x="1893716" y="260600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98" name="Equation" r:id="rId8" imgW="622080" imgH="342720" progId="Equation.DSMT4">
                  <p:embed/>
                </p:oleObj>
              </mc:Choice>
              <mc:Fallback>
                <p:oleObj name="Equation" r:id="rId8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93716" y="260600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B70D713-8B29-4608-AFF7-D377D346D8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723310"/>
              </p:ext>
            </p:extLst>
          </p:nvPr>
        </p:nvGraphicFramePr>
        <p:xfrm>
          <a:off x="3494993" y="2612351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99" name="Equation" r:id="rId10" imgW="634680" imgH="330120" progId="Equation.DSMT4">
                  <p:embed/>
                </p:oleObj>
              </mc:Choice>
              <mc:Fallback>
                <p:oleObj name="Equation" r:id="rId10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94993" y="2612351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AAEA52DB-5CAE-4AC2-9D72-5F514D237F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839" y="2355726"/>
            <a:ext cx="719390" cy="859611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2B7A7A3-113B-4560-A5D6-19F6147A6220}"/>
              </a:ext>
            </a:extLst>
          </p:cNvPr>
          <p:cNvSpPr/>
          <p:nvPr/>
        </p:nvSpPr>
        <p:spPr>
          <a:xfrm>
            <a:off x="539605" y="3421037"/>
            <a:ext cx="79928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36. 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         在区间         上黎曼可积，且存在原函数，则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A9FF0D5-DB20-4D66-8343-E20A4B837D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340145"/>
              </p:ext>
            </p:extLst>
          </p:nvPr>
        </p:nvGraphicFramePr>
        <p:xfrm>
          <a:off x="1836082" y="348041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00" name="Equation" r:id="rId12" imgW="622080" imgH="342720" progId="Equation.DSMT4">
                  <p:embed/>
                </p:oleObj>
              </mc:Choice>
              <mc:Fallback>
                <p:oleObj name="Equation" r:id="rId12" imgW="62208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75638A2-5309-4A83-972F-2B30C831F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36082" y="3480419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DD452DC-72F9-4A0D-8DAA-069724235F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501436"/>
              </p:ext>
            </p:extLst>
          </p:nvPr>
        </p:nvGraphicFramePr>
        <p:xfrm>
          <a:off x="3437359" y="3486769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01" name="Equation" r:id="rId14" imgW="634680" imgH="330120" progId="Equation.DSMT4">
                  <p:embed/>
                </p:oleObj>
              </mc:Choice>
              <mc:Fallback>
                <p:oleObj name="Equation" r:id="rId14" imgW="634680" imgH="3301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2B70D713-8B29-4608-AFF7-D377D346D8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37359" y="3486769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C2AD0956-94BF-4DF4-8439-0ED487BA59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5816" y="3996015"/>
            <a:ext cx="719390" cy="859611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CC467127-60D0-468E-9082-F2BA4B9ACCD5}"/>
              </a:ext>
            </a:extLst>
          </p:cNvPr>
          <p:cNvSpPr/>
          <p:nvPr/>
        </p:nvSpPr>
        <p:spPr>
          <a:xfrm>
            <a:off x="1043608" y="4099278"/>
            <a:ext cx="20297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N-L</a:t>
            </a:r>
            <a:r>
              <a:rPr lang="zh-CN" altLang="en-US" sz="2400" b="1" kern="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公式成立</a:t>
            </a:r>
            <a:r>
              <a:rPr lang="en-US" altLang="zh-CN" sz="2400" b="1" kern="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067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8B85ED-0438-4AB9-AB84-EF379816842F}"/>
              </a:ext>
            </a:extLst>
          </p:cNvPr>
          <p:cNvSpPr/>
          <p:nvPr/>
        </p:nvSpPr>
        <p:spPr>
          <a:xfrm>
            <a:off x="399835" y="333284"/>
            <a:ext cx="79928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37.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         在区间          上存在原函数，则定积分存在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 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7A21316-93DF-4756-A0E1-7DD6FBEDC5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468193"/>
              </p:ext>
            </p:extLst>
          </p:nvPr>
        </p:nvGraphicFramePr>
        <p:xfrm>
          <a:off x="1691680" y="44148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5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44148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602BFF8-F553-4C53-9A1C-9426B4F53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497601"/>
              </p:ext>
            </p:extLst>
          </p:nvPr>
        </p:nvGraphicFramePr>
        <p:xfrm>
          <a:off x="3275856" y="405457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6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5856" y="405457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F381CC4-A694-49D1-92BA-2913483149D6}"/>
              </a:ext>
            </a:extLst>
          </p:cNvPr>
          <p:cNvSpPr/>
          <p:nvPr/>
        </p:nvSpPr>
        <p:spPr>
          <a:xfrm>
            <a:off x="395536" y="1029602"/>
            <a:ext cx="79928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38.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         在区间          上存在定积分，则不定积分存在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 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9FB9A2C-4380-41EE-BE0C-36FCAED8E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844855"/>
              </p:ext>
            </p:extLst>
          </p:nvPr>
        </p:nvGraphicFramePr>
        <p:xfrm>
          <a:off x="1619672" y="113135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7" name="Equation" r:id="rId7" imgW="622080" imgH="342720" progId="Equation.DSMT4">
                  <p:embed/>
                </p:oleObj>
              </mc:Choice>
              <mc:Fallback>
                <p:oleObj name="Equation" r:id="rId7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7A21316-93DF-4756-A0E1-7DD6FBEDC5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9672" y="1131359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BCA231A-0C41-48F5-9F86-B4DD46797C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943939"/>
              </p:ext>
            </p:extLst>
          </p:nvPr>
        </p:nvGraphicFramePr>
        <p:xfrm>
          <a:off x="3203848" y="1095334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8" name="Equation" r:id="rId9" imgW="634680" imgH="330120" progId="Equation.DSMT4">
                  <p:embed/>
                </p:oleObj>
              </mc:Choice>
              <mc:Fallback>
                <p:oleObj name="Equation" r:id="rId9" imgW="63468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602BFF8-F553-4C53-9A1C-9426B4F534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03848" y="1095334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DFC3CEA-AF5A-4C69-8F7C-86FFF3F94102}"/>
              </a:ext>
            </a:extLst>
          </p:cNvPr>
          <p:cNvSpPr/>
          <p:nvPr/>
        </p:nvSpPr>
        <p:spPr>
          <a:xfrm>
            <a:off x="398659" y="1702293"/>
            <a:ext cx="834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39.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         在区间          上定积分与不定积分的存在性等价</a:t>
            </a:r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A5F349B-2140-4EEB-B9D2-086ABF10EB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242385"/>
              </p:ext>
            </p:extLst>
          </p:nvPr>
        </p:nvGraphicFramePr>
        <p:xfrm>
          <a:off x="1636385" y="178380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9" name="Equation" r:id="rId11" imgW="622080" imgH="342720" progId="Equation.DSMT4">
                  <p:embed/>
                </p:oleObj>
              </mc:Choice>
              <mc:Fallback>
                <p:oleObj name="Equation" r:id="rId11" imgW="62208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9FB9A2C-4380-41EE-BE0C-36FCAED8E9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36385" y="1783804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C06D1BA-BE37-473E-B045-042EB2AC4D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907127"/>
              </p:ext>
            </p:extLst>
          </p:nvPr>
        </p:nvGraphicFramePr>
        <p:xfrm>
          <a:off x="3220561" y="1747779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0" name="Equation" r:id="rId12" imgW="634680" imgH="330120" progId="Equation.DSMT4">
                  <p:embed/>
                </p:oleObj>
              </mc:Choice>
              <mc:Fallback>
                <p:oleObj name="Equation" r:id="rId12" imgW="63468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BCA231A-0C41-48F5-9F86-B4DD46797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20561" y="1747779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813194AB-0174-4AC5-8488-580987F836E3}"/>
              </a:ext>
            </a:extLst>
          </p:cNvPr>
          <p:cNvSpPr/>
          <p:nvPr/>
        </p:nvSpPr>
        <p:spPr>
          <a:xfrm>
            <a:off x="424170" y="2383423"/>
            <a:ext cx="79642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40.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         在区间          上存在定积分，则积分上限函数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4ECE13A-4029-4B86-B4F1-A38175865F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001024"/>
              </p:ext>
            </p:extLst>
          </p:nvPr>
        </p:nvGraphicFramePr>
        <p:xfrm>
          <a:off x="1619672" y="250218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1" name="Equation" r:id="rId13" imgW="622080" imgH="342720" progId="Equation.DSMT4">
                  <p:embed/>
                </p:oleObj>
              </mc:Choice>
              <mc:Fallback>
                <p:oleObj name="Equation" r:id="rId13" imgW="6220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A5F349B-2140-4EEB-B9D2-086ABF10EB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9672" y="250218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5AF75F8-8E1D-407D-93C8-1D1462A9D0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17404"/>
              </p:ext>
            </p:extLst>
          </p:nvPr>
        </p:nvGraphicFramePr>
        <p:xfrm>
          <a:off x="3260846" y="2470516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2" name="Equation" r:id="rId14" imgW="634680" imgH="330120" progId="Equation.DSMT4">
                  <p:embed/>
                </p:oleObj>
              </mc:Choice>
              <mc:Fallback>
                <p:oleObj name="Equation" r:id="rId14" imgW="634680" imgH="3301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C06D1BA-BE37-473E-B045-042EB2AC4D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60846" y="2470516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BD01C55-755D-464F-B3ED-F0358C16AF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295179"/>
              </p:ext>
            </p:extLst>
          </p:nvPr>
        </p:nvGraphicFramePr>
        <p:xfrm>
          <a:off x="847787" y="2950942"/>
          <a:ext cx="1117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3" name="Equation" r:id="rId15" imgW="1117440" imgH="596880" progId="Equation.DSMT4">
                  <p:embed/>
                </p:oleObj>
              </mc:Choice>
              <mc:Fallback>
                <p:oleObj name="Equation" r:id="rId15" imgW="11174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47787" y="2950942"/>
                        <a:ext cx="1117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1F6BD3EB-B693-4535-AE9A-272DE3A28EDB}"/>
              </a:ext>
            </a:extLst>
          </p:cNvPr>
          <p:cNvSpPr/>
          <p:nvPr/>
        </p:nvSpPr>
        <p:spPr>
          <a:xfrm>
            <a:off x="1907704" y="3007998"/>
            <a:ext cx="42686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函数一定连续但不一定可导</a:t>
            </a:r>
            <a:r>
              <a:rPr lang="en-US" altLang="zh-CN" sz="2400" b="1" kern="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12A277-8188-4EDA-8FA9-15534156603C}"/>
              </a:ext>
            </a:extLst>
          </p:cNvPr>
          <p:cNvSpPr/>
          <p:nvPr/>
        </p:nvSpPr>
        <p:spPr>
          <a:xfrm>
            <a:off x="432689" y="3586501"/>
            <a:ext cx="79642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41. </a:t>
            </a:r>
            <a:r>
              <a:rPr lang="zh-CN" altLang="en-US" sz="2400" b="1" kern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         在区间          上连续，则积分上限函数</a:t>
            </a:r>
            <a:endParaRPr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683DCD58-3138-480D-8698-85CD0E901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652238"/>
              </p:ext>
            </p:extLst>
          </p:nvPr>
        </p:nvGraphicFramePr>
        <p:xfrm>
          <a:off x="1628191" y="370526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4" name="Equation" r:id="rId17" imgW="622080" imgH="342720" progId="Equation.DSMT4">
                  <p:embed/>
                </p:oleObj>
              </mc:Choice>
              <mc:Fallback>
                <p:oleObj name="Equation" r:id="rId17" imgW="62208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4ECE13A-4029-4B86-B4F1-A38175865F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28191" y="370526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9530C4E6-1190-434D-BA12-CB6D08147C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860904"/>
              </p:ext>
            </p:extLst>
          </p:nvPr>
        </p:nvGraphicFramePr>
        <p:xfrm>
          <a:off x="3269365" y="3673594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5" name="Equation" r:id="rId18" imgW="634680" imgH="330120" progId="Equation.DSMT4">
                  <p:embed/>
                </p:oleObj>
              </mc:Choice>
              <mc:Fallback>
                <p:oleObj name="Equation" r:id="rId18" imgW="634680" imgH="3301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25AF75F8-8E1D-407D-93C8-1D1462A9D0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69365" y="3673594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876C609-4544-4667-84C8-546C52D45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440427"/>
              </p:ext>
            </p:extLst>
          </p:nvPr>
        </p:nvGraphicFramePr>
        <p:xfrm>
          <a:off x="7380312" y="3486672"/>
          <a:ext cx="1117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6" name="Equation" r:id="rId19" imgW="1117440" imgH="596880" progId="Equation.DSMT4">
                  <p:embed/>
                </p:oleObj>
              </mc:Choice>
              <mc:Fallback>
                <p:oleObj name="Equation" r:id="rId19" imgW="1117440" imgH="596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BD01C55-755D-464F-B3ED-F0358C16AF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380312" y="3486672"/>
                        <a:ext cx="1117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8B8A43BF-5367-41E5-A8F9-ED287B8DEE94}"/>
              </a:ext>
            </a:extLst>
          </p:cNvPr>
          <p:cNvSpPr/>
          <p:nvPr/>
        </p:nvSpPr>
        <p:spPr>
          <a:xfrm>
            <a:off x="819715" y="4240353"/>
            <a:ext cx="33202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可导且其导数为          </a:t>
            </a:r>
            <a:endParaRPr lang="zh-CN" altLang="en-US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85FC6EE-1C5A-4F4F-AD16-44ACA481DA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086037"/>
              </p:ext>
            </p:extLst>
          </p:nvPr>
        </p:nvGraphicFramePr>
        <p:xfrm>
          <a:off x="3153048" y="4299735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7" name="Equation" r:id="rId21" imgW="685800" imgH="342720" progId="Equation.DSMT4">
                  <p:embed/>
                </p:oleObj>
              </mc:Choice>
              <mc:Fallback>
                <p:oleObj name="Equation" r:id="rId21" imgW="685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53048" y="4299735"/>
                        <a:ext cx="685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D117FF4A-7EA9-4DBD-9007-0BC43AFCDD9A}"/>
              </a:ext>
            </a:extLst>
          </p:cNvPr>
          <p:cNvSpPr/>
          <p:nvPr/>
        </p:nvSpPr>
        <p:spPr>
          <a:xfrm>
            <a:off x="8147527" y="278169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93C6C8-86D8-440E-AF7C-AE6594BABBC4}"/>
              </a:ext>
            </a:extLst>
          </p:cNvPr>
          <p:cNvSpPr/>
          <p:nvPr/>
        </p:nvSpPr>
        <p:spPr>
          <a:xfrm>
            <a:off x="8199593" y="1029602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D97C800-EA16-40BE-A462-79B14B6EC93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52120" y="2854843"/>
            <a:ext cx="719390" cy="85961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779CFAD-0E94-4CC7-B487-E50E4A351BC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72563" y="4090887"/>
            <a:ext cx="719390" cy="859611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4FC2EB39-5732-4AFF-90BB-FCD8EE315484}"/>
              </a:ext>
            </a:extLst>
          </p:cNvPr>
          <p:cNvSpPr/>
          <p:nvPr/>
        </p:nvSpPr>
        <p:spPr>
          <a:xfrm>
            <a:off x="8497912" y="1640737"/>
            <a:ext cx="596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85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2">
            <a:extLst>
              <a:ext uri="{FF2B5EF4-FFF2-40B4-BE49-F238E27FC236}">
                <a16:creationId xmlns:a16="http://schemas.microsoft.com/office/drawing/2014/main" id="{53D63D01-73B9-4AD8-8C55-2274E527F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517" y="480714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A4012E8-D2E0-4640-BA96-2C232CB1CF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455538"/>
              </p:ext>
            </p:extLst>
          </p:nvPr>
        </p:nvGraphicFramePr>
        <p:xfrm>
          <a:off x="1331640" y="123478"/>
          <a:ext cx="3860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81" name="Equation" r:id="rId3" imgW="3860640" imgH="1244520" progId="Equation.DSMT4">
                  <p:embed/>
                </p:oleObj>
              </mc:Choice>
              <mc:Fallback>
                <p:oleObj name="Equation" r:id="rId3" imgW="3860640" imgH="12445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DADD37A-B428-4098-AD9A-98F7723055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123478"/>
                        <a:ext cx="38608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8A118FA-A47D-4EBB-BAE0-24E38F2E5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929898"/>
              </p:ext>
            </p:extLst>
          </p:nvPr>
        </p:nvGraphicFramePr>
        <p:xfrm>
          <a:off x="432904" y="1444491"/>
          <a:ext cx="6146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82" name="Equation" r:id="rId5" imgW="6146640" imgH="1244520" progId="Equation.DSMT4">
                  <p:embed/>
                </p:oleObj>
              </mc:Choice>
              <mc:Fallback>
                <p:oleObj name="Equation" r:id="rId5" imgW="6146640" imgH="12445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2B70036-A9D9-4762-A0F8-729BA7932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904" y="1444491"/>
                        <a:ext cx="61468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98233B22-AA65-4C52-A4B9-B2FA5F3CEAB3}"/>
              </a:ext>
            </a:extLst>
          </p:cNvPr>
          <p:cNvGrpSpPr/>
          <p:nvPr/>
        </p:nvGrpSpPr>
        <p:grpSpPr>
          <a:xfrm>
            <a:off x="611560" y="2744447"/>
            <a:ext cx="8424936" cy="461665"/>
            <a:chOff x="611560" y="2744447"/>
            <a:chExt cx="8424936" cy="461665"/>
          </a:xfrm>
        </p:grpSpPr>
        <p:sp>
          <p:nvSpPr>
            <p:cNvPr id="6" name="Text Box 62">
              <a:extLst>
                <a:ext uri="{FF2B5EF4-FFF2-40B4-BE49-F238E27FC236}">
                  <a16:creationId xmlns:a16="http://schemas.microsoft.com/office/drawing/2014/main" id="{94125BA4-FC1F-4AB9-AC91-44E981C9F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560" y="2744447"/>
              <a:ext cx="84249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显然，函数     存在振荡型的第二类间断点，但存在原函数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DA8ACBAC-2073-40C4-A523-DF4988767C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1393801"/>
                </p:ext>
              </p:extLst>
            </p:nvPr>
          </p:nvGraphicFramePr>
          <p:xfrm>
            <a:off x="2267744" y="286321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083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9A160998-37FA-42CB-89C3-B1665A5CC2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67744" y="286321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662DE31-D0F9-4834-B14D-6A936FA0CE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898694"/>
              </p:ext>
            </p:extLst>
          </p:nvPr>
        </p:nvGraphicFramePr>
        <p:xfrm>
          <a:off x="265349" y="3449546"/>
          <a:ext cx="71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84" name="Equation" r:id="rId9" imgW="711000" imgH="342720" progId="Equation.DSMT4">
                  <p:embed/>
                </p:oleObj>
              </mc:Choice>
              <mc:Fallback>
                <p:oleObj name="Equation" r:id="rId9" imgW="7110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CF342A6-6A6B-49FE-B16E-59FF330568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5349" y="3449546"/>
                        <a:ext cx="711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02D06E10-0B50-4241-99AF-06D42270DDD5}"/>
              </a:ext>
            </a:extLst>
          </p:cNvPr>
          <p:cNvGrpSpPr/>
          <p:nvPr/>
        </p:nvGrpSpPr>
        <p:grpSpPr>
          <a:xfrm>
            <a:off x="3363997" y="3319854"/>
            <a:ext cx="5600491" cy="461665"/>
            <a:chOff x="3363997" y="3319854"/>
            <a:chExt cx="5600491" cy="461665"/>
          </a:xfrm>
        </p:grpSpPr>
        <p:sp>
          <p:nvSpPr>
            <p:cNvPr id="10" name="Text Box 62">
              <a:extLst>
                <a:ext uri="{FF2B5EF4-FFF2-40B4-BE49-F238E27FC236}">
                  <a16:creationId xmlns:a16="http://schemas.microsoft.com/office/drawing/2014/main" id="{D15C6434-1340-4E7B-A828-FF65E3263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3997" y="3319854"/>
              <a:ext cx="560049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易知函数    在     的某邻域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无界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，从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D3E6FDD3-3A28-4A6F-AFA8-F2531C907E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6539295"/>
                </p:ext>
              </p:extLst>
            </p:nvPr>
          </p:nvGraphicFramePr>
          <p:xfrm>
            <a:off x="4644008" y="341026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085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EA944995-94A4-4EFA-9D0F-2159516648E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644008" y="341026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677E77DD-A825-44D9-8D7C-E4879BA391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0280808"/>
                </p:ext>
              </p:extLst>
            </p:nvPr>
          </p:nvGraphicFramePr>
          <p:xfrm>
            <a:off x="5652122" y="3442018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086" name="Equation" r:id="rId13" imgW="647640" imgH="279360" progId="Equation.DSMT4">
                    <p:embed/>
                  </p:oleObj>
                </mc:Choice>
                <mc:Fallback>
                  <p:oleObj name="Equation" r:id="rId13" imgW="647640" imgH="2793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7D344962-F266-424D-9F9C-DC8B2A6338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652122" y="3442018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0373E6A8-6FD0-4BC5-9644-592BD5A7E314}"/>
              </a:ext>
            </a:extLst>
          </p:cNvPr>
          <p:cNvSpPr/>
          <p:nvPr/>
        </p:nvSpPr>
        <p:spPr>
          <a:xfrm>
            <a:off x="978875" y="3356983"/>
            <a:ext cx="24488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即存在不定积分；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57C410-4775-4758-87DB-B8B8A0423ED2}"/>
              </a:ext>
            </a:extLst>
          </p:cNvPr>
          <p:cNvSpPr/>
          <p:nvPr/>
        </p:nvSpPr>
        <p:spPr>
          <a:xfrm>
            <a:off x="189522" y="3989047"/>
            <a:ext cx="23662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而定积分不存在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9D22BAA-2A0A-4755-923F-250C1373ABEF}"/>
              </a:ext>
            </a:extLst>
          </p:cNvPr>
          <p:cNvGrpSpPr/>
          <p:nvPr/>
        </p:nvGrpSpPr>
        <p:grpSpPr>
          <a:xfrm>
            <a:off x="6451485" y="3832994"/>
            <a:ext cx="2513003" cy="773769"/>
            <a:chOff x="5652122" y="3818648"/>
            <a:chExt cx="2513003" cy="773769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324D1D2-70AE-43CF-8275-EB2502B3DA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6534692"/>
                </p:ext>
              </p:extLst>
            </p:nvPr>
          </p:nvGraphicFramePr>
          <p:xfrm>
            <a:off x="6565342" y="3944717"/>
            <a:ext cx="1435100" cy="647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087" name="Equation" r:id="rId15" imgW="1434960" imgH="647640" progId="Equation.DSMT4">
                    <p:embed/>
                  </p:oleObj>
                </mc:Choice>
                <mc:Fallback>
                  <p:oleObj name="Equation" r:id="rId15" imgW="1434960" imgH="64764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6D4A5D87-1404-43C8-B969-6C6B373DD3F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565342" y="3944717"/>
                          <a:ext cx="1435100" cy="647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7D3A28E-A15F-410C-BC9D-53214C7B88FC}"/>
                </a:ext>
              </a:extLst>
            </p:cNvPr>
            <p:cNvSpPr/>
            <p:nvPr/>
          </p:nvSpPr>
          <p:spPr>
            <a:xfrm>
              <a:off x="5724128" y="4083901"/>
              <a:ext cx="129614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取子列</a:t>
              </a: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7A193C3-8D5D-4071-B59D-D8B58C770FA3}"/>
                </a:ext>
              </a:extLst>
            </p:cNvPr>
            <p:cNvSpPr/>
            <p:nvPr/>
          </p:nvSpPr>
          <p:spPr>
            <a:xfrm>
              <a:off x="5652122" y="3818648"/>
              <a:ext cx="2513003" cy="773769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6812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A3864A6-5428-468A-A43B-EC62A37F4B7D}"/>
              </a:ext>
            </a:extLst>
          </p:cNvPr>
          <p:cNvGrpSpPr/>
          <p:nvPr/>
        </p:nvGrpSpPr>
        <p:grpSpPr>
          <a:xfrm>
            <a:off x="6608108" y="1700465"/>
            <a:ext cx="1437782" cy="1447901"/>
            <a:chOff x="6735572" y="2109267"/>
            <a:chExt cx="1437782" cy="144790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45FF46C8-374B-4F17-B859-02D8960580C5}"/>
                </a:ext>
              </a:extLst>
            </p:cNvPr>
            <p:cNvSpPr/>
            <p:nvPr/>
          </p:nvSpPr>
          <p:spPr>
            <a:xfrm rot="16200000">
              <a:off x="6835827" y="2929544"/>
              <a:ext cx="519682" cy="720192"/>
            </a:xfrm>
            <a:prstGeom prst="rtTriangl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CF44B75-5AFA-4267-A696-B0643F020737}"/>
                </a:ext>
              </a:extLst>
            </p:cNvPr>
            <p:cNvSpPr/>
            <p:nvPr/>
          </p:nvSpPr>
          <p:spPr>
            <a:xfrm>
              <a:off x="7471949" y="2109267"/>
              <a:ext cx="701405" cy="1447901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Rectangle 3">
            <a:extLst>
              <a:ext uri="{FF2B5EF4-FFF2-40B4-BE49-F238E27FC236}">
                <a16:creationId xmlns:a16="http://schemas.microsoft.com/office/drawing/2014/main" id="{42EBD7C1-17B3-4E94-AC63-2E492DD71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39725"/>
            <a:ext cx="1495691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C009437B-662C-4268-8EB7-5F6AF4365C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928664"/>
              </p:ext>
            </p:extLst>
          </p:nvPr>
        </p:nvGraphicFramePr>
        <p:xfrm>
          <a:off x="5580544" y="367270"/>
          <a:ext cx="135864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26" name="Equation" r:id="rId3" imgW="1358640" imgH="634680" progId="Equation.DSMT4">
                  <p:embed/>
                </p:oleObj>
              </mc:Choice>
              <mc:Fallback>
                <p:oleObj name="Equation" r:id="rId3" imgW="1358640" imgH="63468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6ED88F4D-614E-4AEF-BCB2-69CC2D101C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544" y="367270"/>
                        <a:ext cx="135864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>
            <a:extLst>
              <a:ext uri="{FF2B5EF4-FFF2-40B4-BE49-F238E27FC236}">
                <a16:creationId xmlns:a16="http://schemas.microsoft.com/office/drawing/2014/main" id="{3F410207-FB50-481C-8572-F8E32BF7B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997" y="1460076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0">
            <a:extLst>
              <a:ext uri="{FF2B5EF4-FFF2-40B4-BE49-F238E27FC236}">
                <a16:creationId xmlns:a16="http://schemas.microsoft.com/office/drawing/2014/main" id="{4FC31749-098D-425B-8B1B-F74025B9D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432" y="321155"/>
            <a:ext cx="180022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计算</a:t>
            </a:r>
          </a:p>
        </p:txBody>
      </p:sp>
      <p:graphicFrame>
        <p:nvGraphicFramePr>
          <p:cNvPr id="9" name="Object 41">
            <a:extLst>
              <a:ext uri="{FF2B5EF4-FFF2-40B4-BE49-F238E27FC236}">
                <a16:creationId xmlns:a16="http://schemas.microsoft.com/office/drawing/2014/main" id="{7CAE87F1-8FA2-49A6-8D35-1F9E00DBB8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476430"/>
              </p:ext>
            </p:extLst>
          </p:nvPr>
        </p:nvGraphicFramePr>
        <p:xfrm>
          <a:off x="1720000" y="277215"/>
          <a:ext cx="2921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27" name="Equation" r:id="rId5" imgW="2920680" imgH="863280" progId="Equation.DSMT4">
                  <p:embed/>
                </p:oleObj>
              </mc:Choice>
              <mc:Fallback>
                <p:oleObj name="Equation" r:id="rId5" imgW="2920680" imgH="863280" progId="Equation.DSMT4">
                  <p:embed/>
                  <p:pic>
                    <p:nvPicPr>
                      <p:cNvPr id="9" name="Object 41">
                        <a:extLst>
                          <a:ext uri="{FF2B5EF4-FFF2-40B4-BE49-F238E27FC236}">
                            <a16:creationId xmlns:a16="http://schemas.microsoft.com/office/drawing/2014/main" id="{D5F36D9D-EB03-4ADF-BF91-88FE1EDFDF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000" y="277215"/>
                        <a:ext cx="2921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2">
            <a:extLst>
              <a:ext uri="{FF2B5EF4-FFF2-40B4-BE49-F238E27FC236}">
                <a16:creationId xmlns:a16="http://schemas.microsoft.com/office/drawing/2014/main" id="{50B7B9BB-B79E-40BC-B298-B9797A30FE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23121"/>
              </p:ext>
            </p:extLst>
          </p:nvPr>
        </p:nvGraphicFramePr>
        <p:xfrm>
          <a:off x="1309381" y="1441992"/>
          <a:ext cx="133344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28" name="Equation" r:id="rId7" imgW="1333440" imgH="634680" progId="Equation.DSMT4">
                  <p:embed/>
                </p:oleObj>
              </mc:Choice>
              <mc:Fallback>
                <p:oleObj name="Equation" r:id="rId7" imgW="1333440" imgH="634680" progId="Equation.DSMT4">
                  <p:embed/>
                  <p:pic>
                    <p:nvPicPr>
                      <p:cNvPr id="10" name="Object 42">
                        <a:extLst>
                          <a:ext uri="{FF2B5EF4-FFF2-40B4-BE49-F238E27FC236}">
                            <a16:creationId xmlns:a16="http://schemas.microsoft.com/office/drawing/2014/main" id="{A19EBC80-5E02-4D27-8AF3-C5E6CB75D3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381" y="1441992"/>
                        <a:ext cx="133344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4">
            <a:extLst>
              <a:ext uri="{FF2B5EF4-FFF2-40B4-BE49-F238E27FC236}">
                <a16:creationId xmlns:a16="http://schemas.microsoft.com/office/drawing/2014/main" id="{F811D63E-0814-4058-BCD1-968095D0F7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438878"/>
              </p:ext>
            </p:extLst>
          </p:nvPr>
        </p:nvGraphicFramePr>
        <p:xfrm>
          <a:off x="2604958" y="2195925"/>
          <a:ext cx="1244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29" name="Equation" r:id="rId9" imgW="1244520" imgH="634680" progId="Equation.DSMT4">
                  <p:embed/>
                </p:oleObj>
              </mc:Choice>
              <mc:Fallback>
                <p:oleObj name="Equation" r:id="rId9" imgW="1244520" imgH="634680" progId="Equation.DSMT4">
                  <p:embed/>
                  <p:pic>
                    <p:nvPicPr>
                      <p:cNvPr id="11" name="Object 44">
                        <a:extLst>
                          <a:ext uri="{FF2B5EF4-FFF2-40B4-BE49-F238E27FC236}">
                            <a16:creationId xmlns:a16="http://schemas.microsoft.com/office/drawing/2014/main" id="{F46E1CF6-05A6-4340-924F-EE0FB8E419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4958" y="2195925"/>
                        <a:ext cx="12446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5">
            <a:extLst>
              <a:ext uri="{FF2B5EF4-FFF2-40B4-BE49-F238E27FC236}">
                <a16:creationId xmlns:a16="http://schemas.microsoft.com/office/drawing/2014/main" id="{EF7A5A3C-3B08-4D4E-9E23-0B41281125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700766"/>
              </p:ext>
            </p:extLst>
          </p:nvPr>
        </p:nvGraphicFramePr>
        <p:xfrm>
          <a:off x="2622211" y="3118463"/>
          <a:ext cx="20193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30" name="Equation" r:id="rId11" imgW="2019240" imgH="342720" progId="Equation.DSMT4">
                  <p:embed/>
                </p:oleObj>
              </mc:Choice>
              <mc:Fallback>
                <p:oleObj name="Equation" r:id="rId11" imgW="2019240" imgH="342720" progId="Equation.DSMT4">
                  <p:embed/>
                  <p:pic>
                    <p:nvPicPr>
                      <p:cNvPr id="12" name="Object 45">
                        <a:extLst>
                          <a:ext uri="{FF2B5EF4-FFF2-40B4-BE49-F238E27FC236}">
                            <a16:creationId xmlns:a16="http://schemas.microsoft.com/office/drawing/2014/main" id="{B12CA3EE-F17C-4216-A542-3C6AEDEAC1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211" y="3118463"/>
                        <a:ext cx="20193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4">
            <a:extLst>
              <a:ext uri="{FF2B5EF4-FFF2-40B4-BE49-F238E27FC236}">
                <a16:creationId xmlns:a16="http://schemas.microsoft.com/office/drawing/2014/main" id="{DD52F4DE-C7A6-47A1-874B-546EFBDEE5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797225"/>
              </p:ext>
            </p:extLst>
          </p:nvPr>
        </p:nvGraphicFramePr>
        <p:xfrm>
          <a:off x="3784871" y="2195925"/>
          <a:ext cx="1041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31" name="Equation" r:id="rId13" imgW="1041120" imgH="634680" progId="Equation.DSMT4">
                  <p:embed/>
                </p:oleObj>
              </mc:Choice>
              <mc:Fallback>
                <p:oleObj name="Equation" r:id="rId13" imgW="1041120" imgH="634680" progId="Equation.DSMT4">
                  <p:embed/>
                  <p:pic>
                    <p:nvPicPr>
                      <p:cNvPr id="13" name="Object 44">
                        <a:extLst>
                          <a:ext uri="{FF2B5EF4-FFF2-40B4-BE49-F238E27FC236}">
                            <a16:creationId xmlns:a16="http://schemas.microsoft.com/office/drawing/2014/main" id="{F15BB28B-7858-46A3-B6DB-9D68B6FAB9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871" y="2195925"/>
                        <a:ext cx="10414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2">
            <a:extLst>
              <a:ext uri="{FF2B5EF4-FFF2-40B4-BE49-F238E27FC236}">
                <a16:creationId xmlns:a16="http://schemas.microsoft.com/office/drawing/2014/main" id="{D7C022DD-5E40-4F17-A785-BC8D66C49D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299058"/>
              </p:ext>
            </p:extLst>
          </p:nvPr>
        </p:nvGraphicFramePr>
        <p:xfrm>
          <a:off x="2625773" y="1464758"/>
          <a:ext cx="3048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32" name="Equation" r:id="rId15" imgW="3047760" imgH="634680" progId="Equation.DSMT4">
                  <p:embed/>
                </p:oleObj>
              </mc:Choice>
              <mc:Fallback>
                <p:oleObj name="Equation" r:id="rId15" imgW="3047760" imgH="634680" progId="Equation.DSMT4">
                  <p:embed/>
                  <p:pic>
                    <p:nvPicPr>
                      <p:cNvPr id="17" name="Object 42">
                        <a:extLst>
                          <a:ext uri="{FF2B5EF4-FFF2-40B4-BE49-F238E27FC236}">
                            <a16:creationId xmlns:a16="http://schemas.microsoft.com/office/drawing/2014/main" id="{A91A0816-0B38-441D-B8AB-366ACB5E15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5773" y="1464758"/>
                        <a:ext cx="3048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EB5CD714-D86E-49DC-B98A-F4A835AE4B32}"/>
              </a:ext>
            </a:extLst>
          </p:cNvPr>
          <p:cNvGrpSpPr/>
          <p:nvPr/>
        </p:nvGrpSpPr>
        <p:grpSpPr>
          <a:xfrm>
            <a:off x="6112488" y="1189916"/>
            <a:ext cx="2621416" cy="2234989"/>
            <a:chOff x="6228184" y="2761587"/>
            <a:chExt cx="2621416" cy="223498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F3A9DDE-83DE-460F-9DD9-284D2FD81A58}"/>
                </a:ext>
              </a:extLst>
            </p:cNvPr>
            <p:cNvGrpSpPr/>
            <p:nvPr/>
          </p:nvGrpSpPr>
          <p:grpSpPr>
            <a:xfrm>
              <a:off x="6228184" y="2761587"/>
              <a:ext cx="2621416" cy="2234989"/>
              <a:chOff x="6636501" y="1476499"/>
              <a:chExt cx="2621416" cy="2234989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1DF9E6E4-22C7-4FF3-AF8C-8836E04A65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6501" y="1476499"/>
                <a:ext cx="2621416" cy="2223975"/>
                <a:chOff x="6267610" y="2931933"/>
                <a:chExt cx="2978202" cy="2650548"/>
              </a:xfrm>
            </p:grpSpPr>
            <p:graphicFrame>
              <p:nvGraphicFramePr>
                <p:cNvPr id="29" name="Object 21">
                  <a:extLst>
                    <a:ext uri="{FF2B5EF4-FFF2-40B4-BE49-F238E27FC236}">
                      <a16:creationId xmlns:a16="http://schemas.microsoft.com/office/drawing/2014/main" id="{2CEAF05A-160E-46D1-8857-FA7CC13DB68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3662615"/>
                    </p:ext>
                  </p:extLst>
                </p:nvPr>
              </p:nvGraphicFramePr>
              <p:xfrm>
                <a:off x="9017039" y="5363920"/>
                <a:ext cx="174625" cy="1904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0133" name="Equation" r:id="rId17" imgW="177480" imgH="190440" progId="Equation.DSMT4">
                        <p:embed/>
                      </p:oleObj>
                    </mc:Choice>
                    <mc:Fallback>
                      <p:oleObj name="Equation" r:id="rId17" imgW="177480" imgH="190440" progId="Equation.DSMT4">
                        <p:embed/>
                        <p:pic>
                          <p:nvPicPr>
                            <p:cNvPr id="32" name="Object 21">
                              <a:extLst>
                                <a:ext uri="{FF2B5EF4-FFF2-40B4-BE49-F238E27FC236}">
                                  <a16:creationId xmlns:a16="http://schemas.microsoft.com/office/drawing/2014/main" id="{F4906C16-9D19-49F9-9E3B-632F7798F777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017039" y="5363920"/>
                              <a:ext cx="174625" cy="19049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0" name="Line 22">
                  <a:extLst>
                    <a:ext uri="{FF2B5EF4-FFF2-40B4-BE49-F238E27FC236}">
                      <a16:creationId xmlns:a16="http://schemas.microsoft.com/office/drawing/2014/main" id="{AA84BFA1-B236-4592-9E80-5E9C08FA25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67610" y="5294313"/>
                  <a:ext cx="297820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Line 23">
                  <a:extLst>
                    <a:ext uri="{FF2B5EF4-FFF2-40B4-BE49-F238E27FC236}">
                      <a16:creationId xmlns:a16="http://schemas.microsoft.com/office/drawing/2014/main" id="{3F1428B4-AD6A-44FA-B50F-1A373A32D4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840270" y="2931933"/>
                  <a:ext cx="0" cy="248945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32" name="Object 26">
                  <a:extLst>
                    <a:ext uri="{FF2B5EF4-FFF2-40B4-BE49-F238E27FC236}">
                      <a16:creationId xmlns:a16="http://schemas.microsoft.com/office/drawing/2014/main" id="{ECB4C50E-D24B-459F-8A9C-5F3ACBC0AEF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39020952"/>
                    </p:ext>
                  </p:extLst>
                </p:nvPr>
              </p:nvGraphicFramePr>
              <p:xfrm>
                <a:off x="6568022" y="2939468"/>
                <a:ext cx="190439" cy="241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0134" name="Equation" r:id="rId19" imgW="190440" imgH="241200" progId="Equation.DSMT4">
                        <p:embed/>
                      </p:oleObj>
                    </mc:Choice>
                    <mc:Fallback>
                      <p:oleObj name="Equation" r:id="rId19" imgW="190440" imgH="241200" progId="Equation.DSMT4">
                        <p:embed/>
                        <p:pic>
                          <p:nvPicPr>
                            <p:cNvPr id="35" name="Object 26">
                              <a:extLst>
                                <a:ext uri="{FF2B5EF4-FFF2-40B4-BE49-F238E27FC236}">
                                  <a16:creationId xmlns:a16="http://schemas.microsoft.com/office/drawing/2014/main" id="{F0ACCF96-7C5D-4BDB-9E76-C01919F60FF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568022" y="2939468"/>
                              <a:ext cx="190439" cy="241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" name="Object 27">
                  <a:extLst>
                    <a:ext uri="{FF2B5EF4-FFF2-40B4-BE49-F238E27FC236}">
                      <a16:creationId xmlns:a16="http://schemas.microsoft.com/office/drawing/2014/main" id="{4A4C1536-99C8-40DE-91A8-F972DC0CCCC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75811114"/>
                    </p:ext>
                  </p:extLst>
                </p:nvPr>
              </p:nvGraphicFramePr>
              <p:xfrm>
                <a:off x="6498748" y="5295017"/>
                <a:ext cx="259713" cy="28746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0135" name="Equation" r:id="rId21" imgW="228600" imgH="241200" progId="Equation.DSMT4">
                        <p:embed/>
                      </p:oleObj>
                    </mc:Choice>
                    <mc:Fallback>
                      <p:oleObj name="Equation" r:id="rId21" imgW="228600" imgH="241200" progId="Equation.DSMT4">
                        <p:embed/>
                        <p:pic>
                          <p:nvPicPr>
                            <p:cNvPr id="36" name="Object 27">
                              <a:extLst>
                                <a:ext uri="{FF2B5EF4-FFF2-40B4-BE49-F238E27FC236}">
                                  <a16:creationId xmlns:a16="http://schemas.microsoft.com/office/drawing/2014/main" id="{208B6771-C166-49DE-A64B-E3FC34636E6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498748" y="5295017"/>
                              <a:ext cx="259713" cy="28746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28" name="Object 24">
                <a:extLst>
                  <a:ext uri="{FF2B5EF4-FFF2-40B4-BE49-F238E27FC236}">
                    <a16:creationId xmlns:a16="http://schemas.microsoft.com/office/drawing/2014/main" id="{C60F5AC3-9C76-410B-9D05-57429D2AC54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4244448"/>
                  </p:ext>
                </p:extLst>
              </p:nvPr>
            </p:nvGraphicFramePr>
            <p:xfrm>
              <a:off x="8480755" y="3482888"/>
              <a:ext cx="1651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0136" name="Equation" r:id="rId23" imgW="164880" imgH="228600" progId="Equation.DSMT4">
                      <p:embed/>
                    </p:oleObj>
                  </mc:Choice>
                  <mc:Fallback>
                    <p:oleObj name="Equation" r:id="rId23" imgW="164880" imgH="228600" progId="Equation.DSMT4">
                      <p:embed/>
                      <p:pic>
                        <p:nvPicPr>
                          <p:cNvPr id="31" name="Object 24">
                            <a:extLst>
                              <a:ext uri="{FF2B5EF4-FFF2-40B4-BE49-F238E27FC236}">
                                <a16:creationId xmlns:a16="http://schemas.microsoft.com/office/drawing/2014/main" id="{2FA15A4B-9FA1-4548-9F0F-641BF8D6C05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80755" y="3482888"/>
                            <a:ext cx="165100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E9294856-0C3B-4B23-9422-FFF3F883B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2240" y="4185618"/>
              <a:ext cx="729829" cy="54643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B05C6A7-A73F-46E6-A6E9-08D22CE3617E}"/>
                </a:ext>
              </a:extLst>
            </p:cNvPr>
            <p:cNvCxnSpPr/>
            <p:nvPr/>
          </p:nvCxnSpPr>
          <p:spPr>
            <a:xfrm>
              <a:off x="7485518" y="3291835"/>
              <a:ext cx="7053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65F0DA3F-CDA9-4B20-B21E-6DED7571EFAA}"/>
                </a:ext>
              </a:extLst>
            </p:cNvPr>
            <p:cNvCxnSpPr/>
            <p:nvPr/>
          </p:nvCxnSpPr>
          <p:spPr>
            <a:xfrm>
              <a:off x="6732240" y="3301883"/>
              <a:ext cx="75327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4E16F30-D601-484A-864A-A43DBD038824}"/>
                </a:ext>
              </a:extLst>
            </p:cNvPr>
            <p:cNvCxnSpPr/>
            <p:nvPr/>
          </p:nvCxnSpPr>
          <p:spPr>
            <a:xfrm>
              <a:off x="6724978" y="4188264"/>
              <a:ext cx="75327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D0E33827-BF70-4B9C-9B7E-716D6A50E3AC}"/>
                </a:ext>
              </a:extLst>
            </p:cNvPr>
            <p:cNvCxnSpPr/>
            <p:nvPr/>
          </p:nvCxnSpPr>
          <p:spPr>
            <a:xfrm>
              <a:off x="7462072" y="3353929"/>
              <a:ext cx="0" cy="137812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8AEFA87-AA7C-4FC7-92C0-69121B31D5C6}"/>
                </a:ext>
              </a:extLst>
            </p:cNvPr>
            <p:cNvCxnSpPr/>
            <p:nvPr/>
          </p:nvCxnSpPr>
          <p:spPr>
            <a:xfrm>
              <a:off x="8172400" y="3330484"/>
              <a:ext cx="0" cy="1404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3" name="Object 24">
              <a:extLst>
                <a:ext uri="{FF2B5EF4-FFF2-40B4-BE49-F238E27FC236}">
                  <a16:creationId xmlns:a16="http://schemas.microsoft.com/office/drawing/2014/main" id="{084C0561-C4DC-485E-B9B3-A3FD9DE986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2112144"/>
                </p:ext>
              </p:extLst>
            </p:nvPr>
          </p:nvGraphicFramePr>
          <p:xfrm>
            <a:off x="7407275" y="4767873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37" name="Equation" r:id="rId25" imgW="114120" imgH="228600" progId="Equation.DSMT4">
                    <p:embed/>
                  </p:oleObj>
                </mc:Choice>
                <mc:Fallback>
                  <p:oleObj name="Equation" r:id="rId25" imgW="114120" imgH="228600" progId="Equation.DSMT4">
                    <p:embed/>
                    <p:pic>
                      <p:nvPicPr>
                        <p:cNvPr id="26" name="Object 24">
                          <a:extLst>
                            <a:ext uri="{FF2B5EF4-FFF2-40B4-BE49-F238E27FC236}">
                              <a16:creationId xmlns:a16="http://schemas.microsoft.com/office/drawing/2014/main" id="{EB12ACF4-58BA-413A-9EAD-968A70D2FA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7275" y="4767873"/>
                          <a:ext cx="1143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A1AA4201-3297-404D-A298-2DAA395625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3350760"/>
                </p:ext>
              </p:extLst>
            </p:nvPr>
          </p:nvGraphicFramePr>
          <p:xfrm>
            <a:off x="6526680" y="4080254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38" name="Equation" r:id="rId27" imgW="164880" imgH="228600" progId="Equation.DSMT4">
                    <p:embed/>
                  </p:oleObj>
                </mc:Choice>
                <mc:Fallback>
                  <p:oleObj name="Equation" r:id="rId27" imgW="164880" imgH="228600" progId="Equation.DSMT4">
                    <p:embed/>
                    <p:pic>
                      <p:nvPicPr>
                        <p:cNvPr id="27" name="Object 24">
                          <a:extLst>
                            <a:ext uri="{FF2B5EF4-FFF2-40B4-BE49-F238E27FC236}">
                              <a16:creationId xmlns:a16="http://schemas.microsoft.com/office/drawing/2014/main" id="{9DDF11BE-F6E5-47A1-A90C-CF5F7BA09E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6680" y="4080254"/>
                          <a:ext cx="1651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FF5E6985-8FBC-487B-A5E8-EC1F03B380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0934808"/>
                </p:ext>
              </p:extLst>
            </p:nvPr>
          </p:nvGraphicFramePr>
          <p:xfrm>
            <a:off x="6516688" y="3217863"/>
            <a:ext cx="1524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39" name="Equation" r:id="rId29" imgW="152280" imgH="241200" progId="Equation.DSMT4">
                    <p:embed/>
                  </p:oleObj>
                </mc:Choice>
                <mc:Fallback>
                  <p:oleObj name="Equation" r:id="rId29" imgW="152280" imgH="241200" progId="Equation.DSMT4">
                    <p:embed/>
                    <p:pic>
                      <p:nvPicPr>
                        <p:cNvPr id="28" name="Object 24">
                          <a:extLst>
                            <a:ext uri="{FF2B5EF4-FFF2-40B4-BE49-F238E27FC236}">
                              <a16:creationId xmlns:a16="http://schemas.microsoft.com/office/drawing/2014/main" id="{AD1DFE03-9C96-4943-A7E6-A90C216D1E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6688" y="3217863"/>
                          <a:ext cx="1524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0E25E2BD-7663-411C-A8CF-0340D7650267}"/>
                </a:ext>
              </a:extLst>
            </p:cNvPr>
            <p:cNvSpPr/>
            <p:nvPr/>
          </p:nvSpPr>
          <p:spPr>
            <a:xfrm>
              <a:off x="7433941" y="3275418"/>
              <a:ext cx="54000" cy="54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6053D72B-6B60-4582-AEC2-516D8E1ECEA3}"/>
              </a:ext>
            </a:extLst>
          </p:cNvPr>
          <p:cNvSpPr/>
          <p:nvPr/>
        </p:nvSpPr>
        <p:spPr>
          <a:xfrm>
            <a:off x="661309" y="356906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注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BB91B57-8034-466B-AB73-58626D32AE1C}"/>
              </a:ext>
            </a:extLst>
          </p:cNvPr>
          <p:cNvSpPr/>
          <p:nvPr/>
        </p:nvSpPr>
        <p:spPr>
          <a:xfrm>
            <a:off x="1309381" y="3569061"/>
            <a:ext cx="7560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本例中函数存在第一类间断点，故不存在原函数，即</a:t>
            </a:r>
            <a:endParaRPr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A0E7009-66C0-475A-80A4-F33CC1FA5CB1}"/>
              </a:ext>
            </a:extLst>
          </p:cNvPr>
          <p:cNvSpPr/>
          <p:nvPr/>
        </p:nvSpPr>
        <p:spPr>
          <a:xfrm>
            <a:off x="58369" y="4275773"/>
            <a:ext cx="48514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不存在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不定积分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，但却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定积分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存在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822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4" grpId="0"/>
      <p:bldP spid="35" grpId="0"/>
      <p:bldP spid="3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accent2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>
        <a:defPPr algn="l">
          <a:defRPr sz="2400" dirty="0">
            <a:solidFill>
              <a:srgbClr val="FF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3647</TotalTime>
  <Words>702</Words>
  <Application>Microsoft Office PowerPoint</Application>
  <PresentationFormat>全屏显示(16:9)</PresentationFormat>
  <Paragraphs>88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等线</vt:lpstr>
      <vt:lpstr>方正姚体</vt:lpstr>
      <vt:lpstr>华文隶书</vt:lpstr>
      <vt:lpstr>楷体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李宏</dc:creator>
  <cp:lastModifiedBy>郭 晓峰</cp:lastModifiedBy>
  <cp:revision>202</cp:revision>
  <cp:lastPrinted>2019-07-22T12:21:14Z</cp:lastPrinted>
  <dcterms:created xsi:type="dcterms:W3CDTF">2019-07-22T11:45:41Z</dcterms:created>
  <dcterms:modified xsi:type="dcterms:W3CDTF">2023-12-21T03:57:41Z</dcterms:modified>
</cp:coreProperties>
</file>