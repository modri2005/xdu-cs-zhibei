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9" r:id="rId1"/>
  </p:sldMasterIdLst>
  <p:notesMasterIdLst>
    <p:notesMasterId r:id="rId45"/>
  </p:notesMasterIdLst>
  <p:sldIdLst>
    <p:sldId id="267" r:id="rId2"/>
    <p:sldId id="268" r:id="rId3"/>
    <p:sldId id="256" r:id="rId4"/>
    <p:sldId id="261" r:id="rId5"/>
    <p:sldId id="262" r:id="rId6"/>
    <p:sldId id="263" r:id="rId7"/>
    <p:sldId id="266" r:id="rId8"/>
    <p:sldId id="264" r:id="rId9"/>
    <p:sldId id="269" r:id="rId10"/>
    <p:sldId id="259" r:id="rId11"/>
    <p:sldId id="386" r:id="rId12"/>
    <p:sldId id="387" r:id="rId13"/>
    <p:sldId id="287" r:id="rId14"/>
    <p:sldId id="358" r:id="rId15"/>
    <p:sldId id="376" r:id="rId16"/>
    <p:sldId id="359" r:id="rId17"/>
    <p:sldId id="381" r:id="rId18"/>
    <p:sldId id="378" r:id="rId19"/>
    <p:sldId id="380" r:id="rId20"/>
    <p:sldId id="379" r:id="rId21"/>
    <p:sldId id="382" r:id="rId22"/>
    <p:sldId id="383" r:id="rId23"/>
    <p:sldId id="329" r:id="rId24"/>
    <p:sldId id="330" r:id="rId25"/>
    <p:sldId id="331" r:id="rId26"/>
    <p:sldId id="332" r:id="rId27"/>
    <p:sldId id="333" r:id="rId28"/>
    <p:sldId id="334" r:id="rId29"/>
    <p:sldId id="335" r:id="rId30"/>
    <p:sldId id="336" r:id="rId31"/>
    <p:sldId id="337" r:id="rId32"/>
    <p:sldId id="338" r:id="rId33"/>
    <p:sldId id="339" r:id="rId34"/>
    <p:sldId id="340" r:id="rId35"/>
    <p:sldId id="341" r:id="rId36"/>
    <p:sldId id="342" r:id="rId37"/>
    <p:sldId id="343" r:id="rId38"/>
    <p:sldId id="344" r:id="rId39"/>
    <p:sldId id="389" r:id="rId40"/>
    <p:sldId id="388" r:id="rId41"/>
    <p:sldId id="384" r:id="rId42"/>
    <p:sldId id="346" r:id="rId43"/>
    <p:sldId id="385" r:id="rId44"/>
  </p:sldIdLst>
  <p:sldSz cx="12192000" cy="6858000"/>
  <p:notesSz cx="6858000" cy="9144000"/>
  <p:embeddedFontLst>
    <p:embeddedFont>
      <p:font typeface="方正综艺简体" panose="02010600030101010101" charset="-122"/>
      <p:regular r:id="rId46"/>
    </p:embeddedFont>
    <p:embeddedFont>
      <p:font typeface="Calibri" panose="020F0502020204030204" pitchFamily="34" charset="0"/>
      <p:regular r:id="rId47"/>
      <p:bold r:id="rId48"/>
      <p:italic r:id="rId49"/>
      <p:boldItalic r:id="rId50"/>
    </p:embeddedFont>
    <p:embeddedFont>
      <p:font typeface="Tahoma" panose="020B0604030504040204" pitchFamily="34" charset="0"/>
      <p:regular r:id="rId51"/>
      <p:bold r:id="rId52"/>
    </p:embeddedFont>
    <p:embeddedFont>
      <p:font typeface="等线" panose="02010600030101010101" pitchFamily="2" charset="-122"/>
      <p:regular r:id="rId53"/>
      <p:bold r:id="rId54"/>
    </p:embeddedFont>
    <p:embeddedFont>
      <p:font typeface="等线 Light" panose="02010600030101010101" pitchFamily="2" charset="-122"/>
      <p:regular r:id="rId55"/>
    </p:embeddedFont>
    <p:embeddedFont>
      <p:font typeface="华文楷体" panose="02010600040101010101" pitchFamily="2" charset="-122"/>
      <p:regular r:id="rId5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5598"/>
    <a:srgbClr val="355EA9"/>
    <a:srgbClr val="E8EEF8"/>
    <a:srgbClr val="C5D3ED"/>
    <a:srgbClr val="96B0DE"/>
    <a:srgbClr val="5982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font" Target="fonts/font10.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FC7472-B408-419C-A7AC-7F8D41327C67}" type="datetimeFigureOut">
              <a:rPr lang="zh-CN" altLang="en-US" smtClean="0"/>
              <a:t>2023/11/18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6A426C-1550-47FC-821A-C065EB257FCC}" type="slidenum">
              <a:rPr lang="zh-CN" altLang="en-US" smtClean="0"/>
              <a:t>‹#›</a:t>
            </a:fld>
            <a:endParaRPr lang="zh-CN" altLang="en-US"/>
          </a:p>
        </p:txBody>
      </p:sp>
    </p:spTree>
    <p:extLst>
      <p:ext uri="{BB962C8B-B14F-4D97-AF65-F5344CB8AC3E}">
        <p14:creationId xmlns:p14="http://schemas.microsoft.com/office/powerpoint/2010/main" val="3445351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10</a:t>
            </a:fld>
            <a:endParaRPr lang="zh-CN" altLang="en-US"/>
          </a:p>
        </p:txBody>
      </p:sp>
    </p:spTree>
    <p:extLst>
      <p:ext uri="{BB962C8B-B14F-4D97-AF65-F5344CB8AC3E}">
        <p14:creationId xmlns:p14="http://schemas.microsoft.com/office/powerpoint/2010/main" val="3080917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13</a:t>
            </a:fld>
            <a:endParaRPr lang="zh-CN" altLang="en-US"/>
          </a:p>
        </p:txBody>
      </p:sp>
    </p:spTree>
    <p:extLst>
      <p:ext uri="{BB962C8B-B14F-4D97-AF65-F5344CB8AC3E}">
        <p14:creationId xmlns:p14="http://schemas.microsoft.com/office/powerpoint/2010/main" val="156749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14</a:t>
            </a:fld>
            <a:endParaRPr lang="zh-CN" altLang="en-US"/>
          </a:p>
        </p:txBody>
      </p:sp>
    </p:spTree>
    <p:extLst>
      <p:ext uri="{BB962C8B-B14F-4D97-AF65-F5344CB8AC3E}">
        <p14:creationId xmlns:p14="http://schemas.microsoft.com/office/powerpoint/2010/main" val="3452213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15</a:t>
            </a:fld>
            <a:endParaRPr lang="zh-CN" altLang="en-US"/>
          </a:p>
        </p:txBody>
      </p:sp>
    </p:spTree>
    <p:extLst>
      <p:ext uri="{BB962C8B-B14F-4D97-AF65-F5344CB8AC3E}">
        <p14:creationId xmlns:p14="http://schemas.microsoft.com/office/powerpoint/2010/main" val="854216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16</a:t>
            </a:fld>
            <a:endParaRPr lang="zh-CN" altLang="en-US"/>
          </a:p>
        </p:txBody>
      </p:sp>
    </p:spTree>
    <p:extLst>
      <p:ext uri="{BB962C8B-B14F-4D97-AF65-F5344CB8AC3E}">
        <p14:creationId xmlns:p14="http://schemas.microsoft.com/office/powerpoint/2010/main" val="2223077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17</a:t>
            </a:fld>
            <a:endParaRPr lang="zh-CN" altLang="en-US"/>
          </a:p>
        </p:txBody>
      </p:sp>
    </p:spTree>
    <p:extLst>
      <p:ext uri="{BB962C8B-B14F-4D97-AF65-F5344CB8AC3E}">
        <p14:creationId xmlns:p14="http://schemas.microsoft.com/office/powerpoint/2010/main" val="1302258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18</a:t>
            </a:fld>
            <a:endParaRPr lang="zh-CN" altLang="en-US"/>
          </a:p>
        </p:txBody>
      </p:sp>
    </p:spTree>
    <p:extLst>
      <p:ext uri="{BB962C8B-B14F-4D97-AF65-F5344CB8AC3E}">
        <p14:creationId xmlns:p14="http://schemas.microsoft.com/office/powerpoint/2010/main" val="1734478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19</a:t>
            </a:fld>
            <a:endParaRPr lang="zh-CN" altLang="en-US"/>
          </a:p>
        </p:txBody>
      </p:sp>
    </p:spTree>
    <p:extLst>
      <p:ext uri="{BB962C8B-B14F-4D97-AF65-F5344CB8AC3E}">
        <p14:creationId xmlns:p14="http://schemas.microsoft.com/office/powerpoint/2010/main" val="45136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20</a:t>
            </a:fld>
            <a:endParaRPr lang="zh-CN" altLang="en-US"/>
          </a:p>
        </p:txBody>
      </p:sp>
    </p:spTree>
    <p:extLst>
      <p:ext uri="{BB962C8B-B14F-4D97-AF65-F5344CB8AC3E}">
        <p14:creationId xmlns:p14="http://schemas.microsoft.com/office/powerpoint/2010/main" val="4048282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C963E96-BA91-4239-8C4A-E9100A976219}" type="slidenum">
              <a:rPr lang="zh-CN" altLang="en-US" smtClean="0"/>
              <a:t>21</a:t>
            </a:fld>
            <a:endParaRPr lang="zh-CN" altLang="en-US"/>
          </a:p>
        </p:txBody>
      </p:sp>
    </p:spTree>
    <p:extLst>
      <p:ext uri="{BB962C8B-B14F-4D97-AF65-F5344CB8AC3E}">
        <p14:creationId xmlns:p14="http://schemas.microsoft.com/office/powerpoint/2010/main" val="3894047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C963E96-BA91-4239-8C4A-E9100A976219}" type="slidenum">
              <a:rPr lang="zh-CN" altLang="en-US" smtClean="0"/>
              <a:t>22</a:t>
            </a:fld>
            <a:endParaRPr lang="zh-CN" altLang="en-US"/>
          </a:p>
        </p:txBody>
      </p:sp>
    </p:spTree>
    <p:extLst>
      <p:ext uri="{BB962C8B-B14F-4D97-AF65-F5344CB8AC3E}">
        <p14:creationId xmlns:p14="http://schemas.microsoft.com/office/powerpoint/2010/main" val="2573629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23</a:t>
            </a:fld>
            <a:endParaRPr lang="zh-CN" altLang="en-US"/>
          </a:p>
        </p:txBody>
      </p:sp>
    </p:spTree>
    <p:extLst>
      <p:ext uri="{BB962C8B-B14F-4D97-AF65-F5344CB8AC3E}">
        <p14:creationId xmlns:p14="http://schemas.microsoft.com/office/powerpoint/2010/main" val="2033934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24</a:t>
            </a:fld>
            <a:endParaRPr lang="zh-CN" altLang="en-US"/>
          </a:p>
        </p:txBody>
      </p:sp>
    </p:spTree>
    <p:extLst>
      <p:ext uri="{BB962C8B-B14F-4D97-AF65-F5344CB8AC3E}">
        <p14:creationId xmlns:p14="http://schemas.microsoft.com/office/powerpoint/2010/main" val="1571911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25</a:t>
            </a:fld>
            <a:endParaRPr lang="zh-CN" altLang="en-US"/>
          </a:p>
        </p:txBody>
      </p:sp>
    </p:spTree>
    <p:extLst>
      <p:ext uri="{BB962C8B-B14F-4D97-AF65-F5344CB8AC3E}">
        <p14:creationId xmlns:p14="http://schemas.microsoft.com/office/powerpoint/2010/main" val="3250200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26</a:t>
            </a:fld>
            <a:endParaRPr lang="zh-CN" altLang="en-US"/>
          </a:p>
        </p:txBody>
      </p:sp>
    </p:spTree>
    <p:extLst>
      <p:ext uri="{BB962C8B-B14F-4D97-AF65-F5344CB8AC3E}">
        <p14:creationId xmlns:p14="http://schemas.microsoft.com/office/powerpoint/2010/main" val="4214898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27</a:t>
            </a:fld>
            <a:endParaRPr lang="zh-CN" altLang="en-US"/>
          </a:p>
        </p:txBody>
      </p:sp>
    </p:spTree>
    <p:extLst>
      <p:ext uri="{BB962C8B-B14F-4D97-AF65-F5344CB8AC3E}">
        <p14:creationId xmlns:p14="http://schemas.microsoft.com/office/powerpoint/2010/main" val="4225301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28</a:t>
            </a:fld>
            <a:endParaRPr lang="zh-CN" altLang="en-US"/>
          </a:p>
        </p:txBody>
      </p:sp>
    </p:spTree>
    <p:extLst>
      <p:ext uri="{BB962C8B-B14F-4D97-AF65-F5344CB8AC3E}">
        <p14:creationId xmlns:p14="http://schemas.microsoft.com/office/powerpoint/2010/main" val="5066166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29</a:t>
            </a:fld>
            <a:endParaRPr lang="zh-CN" altLang="en-US"/>
          </a:p>
        </p:txBody>
      </p:sp>
    </p:spTree>
    <p:extLst>
      <p:ext uri="{BB962C8B-B14F-4D97-AF65-F5344CB8AC3E}">
        <p14:creationId xmlns:p14="http://schemas.microsoft.com/office/powerpoint/2010/main" val="34277126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30</a:t>
            </a:fld>
            <a:endParaRPr lang="zh-CN" altLang="en-US"/>
          </a:p>
        </p:txBody>
      </p:sp>
    </p:spTree>
    <p:extLst>
      <p:ext uri="{BB962C8B-B14F-4D97-AF65-F5344CB8AC3E}">
        <p14:creationId xmlns:p14="http://schemas.microsoft.com/office/powerpoint/2010/main" val="2850958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31</a:t>
            </a:fld>
            <a:endParaRPr lang="zh-CN" altLang="en-US"/>
          </a:p>
        </p:txBody>
      </p:sp>
    </p:spTree>
    <p:extLst>
      <p:ext uri="{BB962C8B-B14F-4D97-AF65-F5344CB8AC3E}">
        <p14:creationId xmlns:p14="http://schemas.microsoft.com/office/powerpoint/2010/main" val="1639426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32</a:t>
            </a:fld>
            <a:endParaRPr lang="zh-CN" altLang="en-US"/>
          </a:p>
        </p:txBody>
      </p:sp>
    </p:spTree>
    <p:extLst>
      <p:ext uri="{BB962C8B-B14F-4D97-AF65-F5344CB8AC3E}">
        <p14:creationId xmlns:p14="http://schemas.microsoft.com/office/powerpoint/2010/main" val="3806213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33</a:t>
            </a:fld>
            <a:endParaRPr lang="zh-CN" altLang="en-US"/>
          </a:p>
        </p:txBody>
      </p:sp>
    </p:spTree>
    <p:extLst>
      <p:ext uri="{BB962C8B-B14F-4D97-AF65-F5344CB8AC3E}">
        <p14:creationId xmlns:p14="http://schemas.microsoft.com/office/powerpoint/2010/main" val="1828600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34</a:t>
            </a:fld>
            <a:endParaRPr lang="zh-CN" altLang="en-US"/>
          </a:p>
        </p:txBody>
      </p:sp>
    </p:spTree>
    <p:extLst>
      <p:ext uri="{BB962C8B-B14F-4D97-AF65-F5344CB8AC3E}">
        <p14:creationId xmlns:p14="http://schemas.microsoft.com/office/powerpoint/2010/main" val="6659035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35</a:t>
            </a:fld>
            <a:endParaRPr lang="zh-CN" altLang="en-US"/>
          </a:p>
        </p:txBody>
      </p:sp>
    </p:spTree>
    <p:extLst>
      <p:ext uri="{BB962C8B-B14F-4D97-AF65-F5344CB8AC3E}">
        <p14:creationId xmlns:p14="http://schemas.microsoft.com/office/powerpoint/2010/main" val="23005488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36</a:t>
            </a:fld>
            <a:endParaRPr lang="zh-CN" altLang="en-US"/>
          </a:p>
        </p:txBody>
      </p:sp>
    </p:spTree>
    <p:extLst>
      <p:ext uri="{BB962C8B-B14F-4D97-AF65-F5344CB8AC3E}">
        <p14:creationId xmlns:p14="http://schemas.microsoft.com/office/powerpoint/2010/main" val="20984564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37</a:t>
            </a:fld>
            <a:endParaRPr lang="zh-CN" altLang="en-US"/>
          </a:p>
        </p:txBody>
      </p:sp>
    </p:spTree>
    <p:extLst>
      <p:ext uri="{BB962C8B-B14F-4D97-AF65-F5344CB8AC3E}">
        <p14:creationId xmlns:p14="http://schemas.microsoft.com/office/powerpoint/2010/main" val="6945708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38</a:t>
            </a:fld>
            <a:endParaRPr lang="zh-CN" altLang="en-US"/>
          </a:p>
        </p:txBody>
      </p:sp>
    </p:spTree>
    <p:extLst>
      <p:ext uri="{BB962C8B-B14F-4D97-AF65-F5344CB8AC3E}">
        <p14:creationId xmlns:p14="http://schemas.microsoft.com/office/powerpoint/2010/main" val="7387529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39</a:t>
            </a:fld>
            <a:endParaRPr lang="zh-CN" altLang="en-US"/>
          </a:p>
        </p:txBody>
      </p:sp>
    </p:spTree>
    <p:extLst>
      <p:ext uri="{BB962C8B-B14F-4D97-AF65-F5344CB8AC3E}">
        <p14:creationId xmlns:p14="http://schemas.microsoft.com/office/powerpoint/2010/main" val="27390249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40</a:t>
            </a:fld>
            <a:endParaRPr lang="zh-CN" altLang="en-US"/>
          </a:p>
        </p:txBody>
      </p:sp>
    </p:spTree>
    <p:extLst>
      <p:ext uri="{BB962C8B-B14F-4D97-AF65-F5344CB8AC3E}">
        <p14:creationId xmlns:p14="http://schemas.microsoft.com/office/powerpoint/2010/main" val="2225343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41</a:t>
            </a:fld>
            <a:endParaRPr lang="zh-CN" altLang="en-US"/>
          </a:p>
        </p:txBody>
      </p:sp>
    </p:spTree>
    <p:extLst>
      <p:ext uri="{BB962C8B-B14F-4D97-AF65-F5344CB8AC3E}">
        <p14:creationId xmlns:p14="http://schemas.microsoft.com/office/powerpoint/2010/main" val="34081286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963E96-BA91-4239-8C4A-E9100A976219}" type="slidenum">
              <a:rPr lang="zh-CN" altLang="en-US" smtClean="0"/>
              <a:t>42</a:t>
            </a:fld>
            <a:endParaRPr lang="zh-CN" altLang="en-US"/>
          </a:p>
        </p:txBody>
      </p:sp>
    </p:spTree>
    <p:extLst>
      <p:ext uri="{BB962C8B-B14F-4D97-AF65-F5344CB8AC3E}">
        <p14:creationId xmlns:p14="http://schemas.microsoft.com/office/powerpoint/2010/main" val="1147971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41D9F2-4A2A-4820-D3F2-043E71A44C4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5B4E2A7-FD5B-8AF0-603F-3B84B215D0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F88E7DF-34EA-B4B8-2944-613C48E842A1}"/>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5" name="页脚占位符 4">
            <a:extLst>
              <a:ext uri="{FF2B5EF4-FFF2-40B4-BE49-F238E27FC236}">
                <a16:creationId xmlns:a16="http://schemas.microsoft.com/office/drawing/2014/main" id="{7747EE46-5BFC-B87B-FAA7-4A60E2CFDD7A}"/>
              </a:ext>
            </a:extLst>
          </p:cNvPr>
          <p:cNvSpPr>
            <a:spLocks noGrp="1"/>
          </p:cNvSpPr>
          <p:nvPr>
            <p:ph type="ftr" sz="quarter" idx="11"/>
          </p:nvPr>
        </p:nvSpPr>
        <p:spPr/>
        <p:txBody>
          <a:bodyPr/>
          <a:lstStyle/>
          <a:p>
            <a:endParaRPr lang="en-US" dirty="0"/>
          </a:p>
        </p:txBody>
      </p:sp>
      <p:sp>
        <p:nvSpPr>
          <p:cNvPr id="6" name="灯片编号占位符 5">
            <a:extLst>
              <a:ext uri="{FF2B5EF4-FFF2-40B4-BE49-F238E27FC236}">
                <a16:creationId xmlns:a16="http://schemas.microsoft.com/office/drawing/2014/main" id="{8EAAC57D-1B45-5075-701A-F23307D3720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89051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71C0A5-5C3F-AB12-180A-6D531393731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2E4B511-C5CA-7050-2F36-A304341AB89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ADFED1-75BD-3586-737A-0EAAB251D0EA}"/>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5" name="页脚占位符 4">
            <a:extLst>
              <a:ext uri="{FF2B5EF4-FFF2-40B4-BE49-F238E27FC236}">
                <a16:creationId xmlns:a16="http://schemas.microsoft.com/office/drawing/2014/main" id="{5ED6DC89-61D4-5860-F05B-C0C55537C106}"/>
              </a:ext>
            </a:extLst>
          </p:cNvPr>
          <p:cNvSpPr>
            <a:spLocks noGrp="1"/>
          </p:cNvSpPr>
          <p:nvPr>
            <p:ph type="ftr" sz="quarter" idx="11"/>
          </p:nvPr>
        </p:nvSpPr>
        <p:spPr/>
        <p:txBody>
          <a:bodyPr/>
          <a:lstStyle/>
          <a:p>
            <a:endParaRPr lang="en-US" dirty="0"/>
          </a:p>
        </p:txBody>
      </p:sp>
      <p:sp>
        <p:nvSpPr>
          <p:cNvPr id="6" name="灯片编号占位符 5">
            <a:extLst>
              <a:ext uri="{FF2B5EF4-FFF2-40B4-BE49-F238E27FC236}">
                <a16:creationId xmlns:a16="http://schemas.microsoft.com/office/drawing/2014/main" id="{820068A3-F486-59D6-C0B7-EC419439E65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63537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4810BF-1F1F-3225-219F-2BA6574269E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D80C651-8AD6-608D-6A2A-DED9C4A25F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B861317-3F48-B7F1-6CC7-F89068A47FF5}"/>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5" name="页脚占位符 4">
            <a:extLst>
              <a:ext uri="{FF2B5EF4-FFF2-40B4-BE49-F238E27FC236}">
                <a16:creationId xmlns:a16="http://schemas.microsoft.com/office/drawing/2014/main" id="{30241FB4-CD33-F991-5653-63C052DA8E5A}"/>
              </a:ext>
            </a:extLst>
          </p:cNvPr>
          <p:cNvSpPr>
            <a:spLocks noGrp="1"/>
          </p:cNvSpPr>
          <p:nvPr>
            <p:ph type="ftr" sz="quarter" idx="11"/>
          </p:nvPr>
        </p:nvSpPr>
        <p:spPr/>
        <p:txBody>
          <a:bodyPr/>
          <a:lstStyle/>
          <a:p>
            <a:endParaRPr lang="en-US" dirty="0"/>
          </a:p>
        </p:txBody>
      </p:sp>
      <p:sp>
        <p:nvSpPr>
          <p:cNvPr id="6" name="灯片编号占位符 5">
            <a:extLst>
              <a:ext uri="{FF2B5EF4-FFF2-40B4-BE49-F238E27FC236}">
                <a16:creationId xmlns:a16="http://schemas.microsoft.com/office/drawing/2014/main" id="{02929CEF-8818-5FF0-0BB0-7304750583C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9033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28DC5-8FF8-8FF6-C7FE-8354F8A0144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B4ABBC4-A709-16F9-F274-1ACAAC120F4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3B0F8AE-151D-7A7B-1A74-4E9DD12EC02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6824B97-E9DA-5753-31CF-E1494E483F1F}"/>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6" name="页脚占位符 5">
            <a:extLst>
              <a:ext uri="{FF2B5EF4-FFF2-40B4-BE49-F238E27FC236}">
                <a16:creationId xmlns:a16="http://schemas.microsoft.com/office/drawing/2014/main" id="{F34E9EDB-ACBD-C860-6804-4E7B69813440}"/>
              </a:ext>
            </a:extLst>
          </p:cNvPr>
          <p:cNvSpPr>
            <a:spLocks noGrp="1"/>
          </p:cNvSpPr>
          <p:nvPr>
            <p:ph type="ftr" sz="quarter" idx="11"/>
          </p:nvPr>
        </p:nvSpPr>
        <p:spPr/>
        <p:txBody>
          <a:bodyPr/>
          <a:lstStyle/>
          <a:p>
            <a:endParaRPr lang="en-US" dirty="0"/>
          </a:p>
        </p:txBody>
      </p:sp>
      <p:sp>
        <p:nvSpPr>
          <p:cNvPr id="7" name="灯片编号占位符 6">
            <a:extLst>
              <a:ext uri="{FF2B5EF4-FFF2-40B4-BE49-F238E27FC236}">
                <a16:creationId xmlns:a16="http://schemas.microsoft.com/office/drawing/2014/main" id="{DC039907-9467-7085-2368-BFCB1B2AFEB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74458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44DBD7-B80F-F076-0F83-04E005D2247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59AEE4B-9444-34E4-9CA8-A76D9DB2B2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BED1D80-B592-4048-DC8F-70938A8B05C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566B6F8-0E5D-597A-6D91-2B0E1EB0EF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66B1F1A-F503-86B6-EB04-03FE23F665F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1463BA5-7FB9-4E8A-1903-168FA409771F}"/>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8" name="页脚占位符 7">
            <a:extLst>
              <a:ext uri="{FF2B5EF4-FFF2-40B4-BE49-F238E27FC236}">
                <a16:creationId xmlns:a16="http://schemas.microsoft.com/office/drawing/2014/main" id="{10B76A1F-4755-5590-1434-E1CD1861D8EB}"/>
              </a:ext>
            </a:extLst>
          </p:cNvPr>
          <p:cNvSpPr>
            <a:spLocks noGrp="1"/>
          </p:cNvSpPr>
          <p:nvPr>
            <p:ph type="ftr" sz="quarter" idx="11"/>
          </p:nvPr>
        </p:nvSpPr>
        <p:spPr/>
        <p:txBody>
          <a:bodyPr/>
          <a:lstStyle/>
          <a:p>
            <a:endParaRPr lang="en-US" dirty="0"/>
          </a:p>
        </p:txBody>
      </p:sp>
      <p:sp>
        <p:nvSpPr>
          <p:cNvPr id="9" name="灯片编号占位符 8">
            <a:extLst>
              <a:ext uri="{FF2B5EF4-FFF2-40B4-BE49-F238E27FC236}">
                <a16:creationId xmlns:a16="http://schemas.microsoft.com/office/drawing/2014/main" id="{3577B2F9-0C37-EC0B-D862-73C3E4FB3C1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8254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8EB942-DC9A-4CB6-7E13-188AE4B5CC1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D36CABD-DE45-EA5E-C76E-F41D8E5F8B9F}"/>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4" name="页脚占位符 3">
            <a:extLst>
              <a:ext uri="{FF2B5EF4-FFF2-40B4-BE49-F238E27FC236}">
                <a16:creationId xmlns:a16="http://schemas.microsoft.com/office/drawing/2014/main" id="{116B89A5-F7F1-0CB4-5884-E01A31824F80}"/>
              </a:ext>
            </a:extLst>
          </p:cNvPr>
          <p:cNvSpPr>
            <a:spLocks noGrp="1"/>
          </p:cNvSpPr>
          <p:nvPr>
            <p:ph type="ftr" sz="quarter" idx="11"/>
          </p:nvPr>
        </p:nvSpPr>
        <p:spPr/>
        <p:txBody>
          <a:bodyPr/>
          <a:lstStyle/>
          <a:p>
            <a:endParaRPr lang="en-US" dirty="0"/>
          </a:p>
        </p:txBody>
      </p:sp>
      <p:sp>
        <p:nvSpPr>
          <p:cNvPr id="5" name="灯片编号占位符 4">
            <a:extLst>
              <a:ext uri="{FF2B5EF4-FFF2-40B4-BE49-F238E27FC236}">
                <a16:creationId xmlns:a16="http://schemas.microsoft.com/office/drawing/2014/main" id="{CCA3BAE4-BED8-7222-B334-A882E07CD6A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45260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7511566-3651-4F2B-05CB-87F49CF33CD4}"/>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3" name="页脚占位符 2">
            <a:extLst>
              <a:ext uri="{FF2B5EF4-FFF2-40B4-BE49-F238E27FC236}">
                <a16:creationId xmlns:a16="http://schemas.microsoft.com/office/drawing/2014/main" id="{140BD712-BBEB-ED5E-73B4-C2ABDEA58527}"/>
              </a:ext>
            </a:extLst>
          </p:cNvPr>
          <p:cNvSpPr>
            <a:spLocks noGrp="1"/>
          </p:cNvSpPr>
          <p:nvPr>
            <p:ph type="ftr" sz="quarter" idx="11"/>
          </p:nvPr>
        </p:nvSpPr>
        <p:spPr/>
        <p:txBody>
          <a:bodyPr/>
          <a:lstStyle/>
          <a:p>
            <a:endParaRPr lang="en-US" dirty="0"/>
          </a:p>
        </p:txBody>
      </p:sp>
      <p:sp>
        <p:nvSpPr>
          <p:cNvPr id="4" name="灯片编号占位符 3">
            <a:extLst>
              <a:ext uri="{FF2B5EF4-FFF2-40B4-BE49-F238E27FC236}">
                <a16:creationId xmlns:a16="http://schemas.microsoft.com/office/drawing/2014/main" id="{CEB0353D-BCB6-92CE-9502-96AE51B623F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5708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F2D2FB-F819-1432-98EA-EC522A9B5F1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6BC9B47-EC0A-BE65-A298-69C307083A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C155827-7299-9011-C95A-95CD63E50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031B721-EE41-7E9C-D508-3173A2AD9E63}"/>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6" name="页脚占位符 5">
            <a:extLst>
              <a:ext uri="{FF2B5EF4-FFF2-40B4-BE49-F238E27FC236}">
                <a16:creationId xmlns:a16="http://schemas.microsoft.com/office/drawing/2014/main" id="{D2FFB657-4789-22BF-8482-7BE5850AB9AB}"/>
              </a:ext>
            </a:extLst>
          </p:cNvPr>
          <p:cNvSpPr>
            <a:spLocks noGrp="1"/>
          </p:cNvSpPr>
          <p:nvPr>
            <p:ph type="ftr" sz="quarter" idx="11"/>
          </p:nvPr>
        </p:nvSpPr>
        <p:spPr/>
        <p:txBody>
          <a:bodyPr/>
          <a:lstStyle/>
          <a:p>
            <a:endParaRPr lang="en-US" dirty="0"/>
          </a:p>
        </p:txBody>
      </p:sp>
      <p:sp>
        <p:nvSpPr>
          <p:cNvPr id="7" name="灯片编号占位符 6">
            <a:extLst>
              <a:ext uri="{FF2B5EF4-FFF2-40B4-BE49-F238E27FC236}">
                <a16:creationId xmlns:a16="http://schemas.microsoft.com/office/drawing/2014/main" id="{7AAA5FA7-CED4-CC69-0F29-BE21DB9B4A1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48385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730248-3FE1-DBC7-3152-2D9536C1AFE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335F7D4-6DD1-E78C-62AA-C394F56B30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59B4774-41B5-4CC5-53C1-D5C23046D9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C028CD6-1F00-9ADD-4AE4-A62E231C2BEB}"/>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6" name="页脚占位符 5">
            <a:extLst>
              <a:ext uri="{FF2B5EF4-FFF2-40B4-BE49-F238E27FC236}">
                <a16:creationId xmlns:a16="http://schemas.microsoft.com/office/drawing/2014/main" id="{3DDAD319-DAE9-B690-5208-22F4A0FD60A2}"/>
              </a:ext>
            </a:extLst>
          </p:cNvPr>
          <p:cNvSpPr>
            <a:spLocks noGrp="1"/>
          </p:cNvSpPr>
          <p:nvPr>
            <p:ph type="ftr" sz="quarter" idx="11"/>
          </p:nvPr>
        </p:nvSpPr>
        <p:spPr/>
        <p:txBody>
          <a:bodyPr/>
          <a:lstStyle/>
          <a:p>
            <a:endParaRPr lang="en-US" dirty="0"/>
          </a:p>
        </p:txBody>
      </p:sp>
      <p:sp>
        <p:nvSpPr>
          <p:cNvPr id="7" name="灯片编号占位符 6">
            <a:extLst>
              <a:ext uri="{FF2B5EF4-FFF2-40B4-BE49-F238E27FC236}">
                <a16:creationId xmlns:a16="http://schemas.microsoft.com/office/drawing/2014/main" id="{BF80525A-D734-E86D-3484-60021DA25CD7}"/>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80292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545306-2193-E672-423C-FF12E884961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2A7E0F9-DBD8-A0D4-F946-6E428B23CDC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876418-9158-183D-27E4-E3E69234BB4F}"/>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5" name="页脚占位符 4">
            <a:extLst>
              <a:ext uri="{FF2B5EF4-FFF2-40B4-BE49-F238E27FC236}">
                <a16:creationId xmlns:a16="http://schemas.microsoft.com/office/drawing/2014/main" id="{7ADB14B6-9591-6EFC-340F-8B22CEA62623}"/>
              </a:ext>
            </a:extLst>
          </p:cNvPr>
          <p:cNvSpPr>
            <a:spLocks noGrp="1"/>
          </p:cNvSpPr>
          <p:nvPr>
            <p:ph type="ftr" sz="quarter" idx="11"/>
          </p:nvPr>
        </p:nvSpPr>
        <p:spPr/>
        <p:txBody>
          <a:bodyPr/>
          <a:lstStyle/>
          <a:p>
            <a:endParaRPr lang="en-US" dirty="0"/>
          </a:p>
        </p:txBody>
      </p:sp>
      <p:sp>
        <p:nvSpPr>
          <p:cNvPr id="6" name="灯片编号占位符 5">
            <a:extLst>
              <a:ext uri="{FF2B5EF4-FFF2-40B4-BE49-F238E27FC236}">
                <a16:creationId xmlns:a16="http://schemas.microsoft.com/office/drawing/2014/main" id="{2054DC0B-7274-DF92-5490-87948FF6826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0657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830F281-2B49-495A-D29F-8C15466C919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30BD03C-BBDB-14D3-A113-3FB8943D2DD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8B8A16-F54B-717A-D562-5644597E837B}"/>
              </a:ext>
            </a:extLst>
          </p:cNvPr>
          <p:cNvSpPr>
            <a:spLocks noGrp="1"/>
          </p:cNvSpPr>
          <p:nvPr>
            <p:ph type="dt" sz="half" idx="10"/>
          </p:nvPr>
        </p:nvSpPr>
        <p:spPr/>
        <p:txBody>
          <a:bodyPr/>
          <a:lstStyle/>
          <a:p>
            <a:fld id="{B61BEF0D-F0BB-DE4B-95CE-6DB70DBA9567}" type="datetimeFigureOut">
              <a:rPr lang="en-US" smtClean="0"/>
              <a:pPr/>
              <a:t>11/18/2023</a:t>
            </a:fld>
            <a:endParaRPr lang="en-US" dirty="0"/>
          </a:p>
        </p:txBody>
      </p:sp>
      <p:sp>
        <p:nvSpPr>
          <p:cNvPr id="5" name="页脚占位符 4">
            <a:extLst>
              <a:ext uri="{FF2B5EF4-FFF2-40B4-BE49-F238E27FC236}">
                <a16:creationId xmlns:a16="http://schemas.microsoft.com/office/drawing/2014/main" id="{00B169DB-43B8-143C-496F-5F5EEBDF153A}"/>
              </a:ext>
            </a:extLst>
          </p:cNvPr>
          <p:cNvSpPr>
            <a:spLocks noGrp="1"/>
          </p:cNvSpPr>
          <p:nvPr>
            <p:ph type="ftr" sz="quarter" idx="11"/>
          </p:nvPr>
        </p:nvSpPr>
        <p:spPr/>
        <p:txBody>
          <a:bodyPr/>
          <a:lstStyle/>
          <a:p>
            <a:endParaRPr lang="en-US" dirty="0"/>
          </a:p>
        </p:txBody>
      </p:sp>
      <p:sp>
        <p:nvSpPr>
          <p:cNvPr id="6" name="灯片编号占位符 5">
            <a:extLst>
              <a:ext uri="{FF2B5EF4-FFF2-40B4-BE49-F238E27FC236}">
                <a16:creationId xmlns:a16="http://schemas.microsoft.com/office/drawing/2014/main" id="{32262D56-A339-5521-36A5-66002D93834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72078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7D69F69-3332-7F30-7BA4-9DB7596683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3570E5B-D858-D3E9-C822-F959151B7B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A00B947-4A40-BDE8-A202-7D3C641A91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11/18/2023</a:t>
            </a:fld>
            <a:endParaRPr lang="en-US" dirty="0"/>
          </a:p>
        </p:txBody>
      </p:sp>
      <p:sp>
        <p:nvSpPr>
          <p:cNvPr id="5" name="页脚占位符 4">
            <a:extLst>
              <a:ext uri="{FF2B5EF4-FFF2-40B4-BE49-F238E27FC236}">
                <a16:creationId xmlns:a16="http://schemas.microsoft.com/office/drawing/2014/main" id="{4B8F46CE-3213-7887-5888-76CDB36083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灯片编号占位符 5">
            <a:extLst>
              <a:ext uri="{FF2B5EF4-FFF2-40B4-BE49-F238E27FC236}">
                <a16:creationId xmlns:a16="http://schemas.microsoft.com/office/drawing/2014/main" id="{B57B084E-835E-9ED4-18A8-42C8F2DC73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3445983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hyperlink" Target="https://atcoder.jp/" TargetMode="External"/><Relationship Id="rId3" Type="http://schemas.microsoft.com/office/2007/relationships/hdphoto" Target="../media/hdphoto1.wdp"/><Relationship Id="rId7" Type="http://schemas.openxmlformats.org/officeDocument/2006/relationships/hyperlink" Target="https://codeforces.com/"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luogu.com.cn/" TargetMode="Externa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GIF"/><Relationship Id="rId4" Type="http://schemas.openxmlformats.org/officeDocument/2006/relationships/image" Target="../media/image10.wmf"/></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515E6E91-593A-0732-28EE-8D932E6C3804}"/>
              </a:ext>
            </a:extLst>
          </p:cNvPr>
          <p:cNvGrpSpPr/>
          <p:nvPr/>
        </p:nvGrpSpPr>
        <p:grpSpPr>
          <a:xfrm>
            <a:off x="5273195" y="794872"/>
            <a:ext cx="6918806" cy="6063130"/>
            <a:chOff x="2175164" y="1368236"/>
            <a:chExt cx="5591243" cy="4899752"/>
          </a:xfrm>
        </p:grpSpPr>
        <p:pic>
          <p:nvPicPr>
            <p:cNvPr id="9" name="Picture 2">
              <a:extLst>
                <a:ext uri="{FF2B5EF4-FFF2-40B4-BE49-F238E27FC236}">
                  <a16:creationId xmlns:a16="http://schemas.microsoft.com/office/drawing/2014/main" id="{0E79BF68-918C-11D4-EAC6-7B41D0F6BFE8}"/>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AA8BC418-365C-6955-6DBB-1957C271864D}"/>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9F257E04-81AD-BA06-5355-3EA00853A9B0}"/>
              </a:ext>
            </a:extLst>
          </p:cNvPr>
          <p:cNvSpPr>
            <a:spLocks noGrp="1"/>
          </p:cNvSpPr>
          <p:nvPr>
            <p:ph type="title"/>
          </p:nvPr>
        </p:nvSpPr>
        <p:spPr>
          <a:xfrm>
            <a:off x="2948378" y="2176588"/>
            <a:ext cx="7151245" cy="1507067"/>
          </a:xfrm>
        </p:spPr>
        <p:txBody>
          <a:bodyPr>
            <a:normAutofit fontScale="90000"/>
          </a:bodyPr>
          <a:lstStyle/>
          <a:p>
            <a:pPr algn="ctr">
              <a:defRPr/>
            </a:pPr>
            <a:r>
              <a:rPr lang="zh-CN" altLang="en-US" sz="5400" b="1" dirty="0">
                <a:solidFill>
                  <a:srgbClr val="284C8A"/>
                </a:solidFill>
                <a:latin typeface="+mn-ea"/>
                <a:ea typeface="+mn-ea"/>
              </a:rPr>
              <a:t>计算机导论与程序设计</a:t>
            </a:r>
            <a:br>
              <a:rPr lang="en-US" altLang="zh-CN" sz="5400" b="1" dirty="0">
                <a:solidFill>
                  <a:srgbClr val="284C8A"/>
                </a:solidFill>
                <a:latin typeface="+mn-ea"/>
                <a:ea typeface="+mn-ea"/>
              </a:rPr>
            </a:br>
            <a:r>
              <a:rPr lang="zh-CN" altLang="en-US" sz="5400" b="1" dirty="0">
                <a:solidFill>
                  <a:srgbClr val="284C8A"/>
                </a:solidFill>
                <a:latin typeface="+mn-ea"/>
                <a:ea typeface="+mn-ea"/>
              </a:rPr>
              <a:t>竞赛扩展培训</a:t>
            </a:r>
            <a:endParaRPr lang="zh-CN" altLang="en-US" sz="5400" b="1" dirty="0">
              <a:solidFill>
                <a:srgbClr val="284C8A"/>
              </a:solidFill>
              <a:latin typeface="+mn-ea"/>
              <a:ea typeface="+mn-ea"/>
              <a:sym typeface="inpin heiti" panose="00000500000000000000" pitchFamily="2" charset="-122"/>
            </a:endParaRPr>
          </a:p>
        </p:txBody>
      </p:sp>
      <p:sp>
        <p:nvSpPr>
          <p:cNvPr id="11" name="副标题 2">
            <a:extLst>
              <a:ext uri="{FF2B5EF4-FFF2-40B4-BE49-F238E27FC236}">
                <a16:creationId xmlns:a16="http://schemas.microsoft.com/office/drawing/2014/main" id="{8C05F825-C4BB-D3C6-BAEF-76808EBF1F66}"/>
              </a:ext>
            </a:extLst>
          </p:cNvPr>
          <p:cNvSpPr txBox="1">
            <a:spLocks/>
          </p:cNvSpPr>
          <p:nvPr/>
        </p:nvSpPr>
        <p:spPr>
          <a:xfrm>
            <a:off x="3152880" y="4083855"/>
            <a:ext cx="5994400" cy="14634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dirty="0"/>
              <a:t>陶天乐</a:t>
            </a:r>
            <a:endParaRPr lang="en-US" altLang="zh-CN" dirty="0"/>
          </a:p>
          <a:p>
            <a:pPr marL="0" indent="0" algn="ctr">
              <a:buNone/>
            </a:pPr>
            <a:r>
              <a:rPr lang="en-US" altLang="zh-CN" dirty="0"/>
              <a:t>2020</a:t>
            </a:r>
            <a:r>
              <a:rPr lang="zh-CN" altLang="en-US" dirty="0"/>
              <a:t>级  计算机科学与技术专业</a:t>
            </a:r>
            <a:endParaRPr lang="en-US" altLang="zh-CN" dirty="0"/>
          </a:p>
        </p:txBody>
      </p:sp>
      <p:grpSp>
        <p:nvGrpSpPr>
          <p:cNvPr id="16" name="组合 15">
            <a:extLst>
              <a:ext uri="{FF2B5EF4-FFF2-40B4-BE49-F238E27FC236}">
                <a16:creationId xmlns:a16="http://schemas.microsoft.com/office/drawing/2014/main" id="{7CC9DD30-1E11-8D80-E4B1-D71891CF304F}"/>
              </a:ext>
            </a:extLst>
          </p:cNvPr>
          <p:cNvGrpSpPr/>
          <p:nvPr/>
        </p:nvGrpSpPr>
        <p:grpSpPr>
          <a:xfrm>
            <a:off x="119449" y="136880"/>
            <a:ext cx="12072071" cy="6435559"/>
            <a:chOff x="119449" y="136880"/>
            <a:chExt cx="12072071" cy="6435559"/>
          </a:xfrm>
        </p:grpSpPr>
        <p:pic>
          <p:nvPicPr>
            <p:cNvPr id="4" name="图片 3">
              <a:extLst>
                <a:ext uri="{FF2B5EF4-FFF2-40B4-BE49-F238E27FC236}">
                  <a16:creationId xmlns:a16="http://schemas.microsoft.com/office/drawing/2014/main" id="{F8D3FD2E-2DE4-6B5D-292C-502459DC17D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2" name="矩形 11">
              <a:extLst>
                <a:ext uri="{FF2B5EF4-FFF2-40B4-BE49-F238E27FC236}">
                  <a16:creationId xmlns:a16="http://schemas.microsoft.com/office/drawing/2014/main" id="{DCE1FF96-34FF-DAD8-FA04-0A9D6D54ADFE}"/>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3" name="矩形 12">
              <a:extLst>
                <a:ext uri="{FF2B5EF4-FFF2-40B4-BE49-F238E27FC236}">
                  <a16:creationId xmlns:a16="http://schemas.microsoft.com/office/drawing/2014/main" id="{C59F72BF-2A9F-749B-305F-139F8A170AC6}"/>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4" name="直接连接符 13">
              <a:extLst>
                <a:ext uri="{FF2B5EF4-FFF2-40B4-BE49-F238E27FC236}">
                  <a16:creationId xmlns:a16="http://schemas.microsoft.com/office/drawing/2014/main" id="{C650C821-49EE-C88F-B062-2CDB3CC8CE38}"/>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A5C72AA-14C9-94CE-B52E-56C322B9C228}"/>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67767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DF6165BE-8478-8883-F4CB-A7C0E6FF918D}"/>
              </a:ext>
            </a:extLst>
          </p:cNvPr>
          <p:cNvGrpSpPr/>
          <p:nvPr/>
        </p:nvGrpSpPr>
        <p:grpSpPr>
          <a:xfrm>
            <a:off x="5273195" y="794872"/>
            <a:ext cx="6918806" cy="6063130"/>
            <a:chOff x="2175164" y="1368236"/>
            <a:chExt cx="5591243" cy="4899752"/>
          </a:xfrm>
        </p:grpSpPr>
        <p:pic>
          <p:nvPicPr>
            <p:cNvPr id="14" name="Picture 2">
              <a:extLst>
                <a:ext uri="{FF2B5EF4-FFF2-40B4-BE49-F238E27FC236}">
                  <a16:creationId xmlns:a16="http://schemas.microsoft.com/office/drawing/2014/main" id="{DC0D1AAC-1020-1624-D272-EAFD451BEB43}"/>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C9D78AFF-3271-F8B2-B749-90E2B1ECDCA1}"/>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内容占位符 2">
            <a:extLst>
              <a:ext uri="{FF2B5EF4-FFF2-40B4-BE49-F238E27FC236}">
                <a16:creationId xmlns:a16="http://schemas.microsoft.com/office/drawing/2014/main" id="{D136F6BA-E353-CB91-16D1-026350060A0B}"/>
              </a:ext>
            </a:extLst>
          </p:cNvPr>
          <p:cNvSpPr>
            <a:spLocks noGrp="1"/>
          </p:cNvSpPr>
          <p:nvPr>
            <p:ph idx="1"/>
          </p:nvPr>
        </p:nvSpPr>
        <p:spPr/>
        <p:txBody>
          <a:bodyPr/>
          <a:lstStyle/>
          <a:p>
            <a:r>
              <a:rPr lang="zh-CN" altLang="en-US" dirty="0"/>
              <a:t>个人经验分享</a:t>
            </a:r>
            <a:endParaRPr lang="en-US" altLang="zh-CN" dirty="0"/>
          </a:p>
          <a:p>
            <a:r>
              <a:rPr lang="zh-CN" altLang="en-US" dirty="0"/>
              <a:t>竞赛基础培训</a:t>
            </a:r>
          </a:p>
        </p:txBody>
      </p:sp>
      <p:grpSp>
        <p:nvGrpSpPr>
          <p:cNvPr id="4" name="组合 3">
            <a:extLst>
              <a:ext uri="{FF2B5EF4-FFF2-40B4-BE49-F238E27FC236}">
                <a16:creationId xmlns:a16="http://schemas.microsoft.com/office/drawing/2014/main" id="{C3FD64FF-00D3-F1DF-E350-8237E4FC24C4}"/>
              </a:ext>
            </a:extLst>
          </p:cNvPr>
          <p:cNvGrpSpPr/>
          <p:nvPr/>
        </p:nvGrpSpPr>
        <p:grpSpPr>
          <a:xfrm>
            <a:off x="119449" y="136880"/>
            <a:ext cx="12072071" cy="6435559"/>
            <a:chOff x="119449" y="136880"/>
            <a:chExt cx="12072071" cy="6435559"/>
          </a:xfrm>
        </p:grpSpPr>
        <p:pic>
          <p:nvPicPr>
            <p:cNvPr id="5" name="图片 4">
              <a:extLst>
                <a:ext uri="{FF2B5EF4-FFF2-40B4-BE49-F238E27FC236}">
                  <a16:creationId xmlns:a16="http://schemas.microsoft.com/office/drawing/2014/main" id="{08CD9A64-0ABC-431D-469B-93C8F8A2858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6" name="矩形 5">
              <a:extLst>
                <a:ext uri="{FF2B5EF4-FFF2-40B4-BE49-F238E27FC236}">
                  <a16:creationId xmlns:a16="http://schemas.microsoft.com/office/drawing/2014/main" id="{55EA351D-F918-C0D6-938B-0B31E9D5FB2D}"/>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7" name="矩形 6">
              <a:extLst>
                <a:ext uri="{FF2B5EF4-FFF2-40B4-BE49-F238E27FC236}">
                  <a16:creationId xmlns:a16="http://schemas.microsoft.com/office/drawing/2014/main" id="{18DD31E8-BEB0-A261-44CB-F3EBA685A8A4}"/>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8" name="直接连接符 7">
              <a:extLst>
                <a:ext uri="{FF2B5EF4-FFF2-40B4-BE49-F238E27FC236}">
                  <a16:creationId xmlns:a16="http://schemas.microsoft.com/office/drawing/2014/main" id="{F27C3B67-E286-D185-C034-9AE5B416F08E}"/>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F3E8B24-440A-2738-EE28-01118C7987C8}"/>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
        <p:nvSpPr>
          <p:cNvPr id="10" name="矩形 9">
            <a:extLst>
              <a:ext uri="{FF2B5EF4-FFF2-40B4-BE49-F238E27FC236}">
                <a16:creationId xmlns:a16="http://schemas.microsoft.com/office/drawing/2014/main" id="{B0DCC8FF-B0E0-978E-D3E6-BF7858D48190}"/>
              </a:ext>
            </a:extLst>
          </p:cNvPr>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sym typeface="inpin heiti" panose="00000500000000000000" pitchFamily="2" charset="-122"/>
              </a:rPr>
              <a:t>主要内容</a:t>
            </a:r>
            <a:endParaRPr lang="zh-CN" altLang="en-US" sz="3810" b="1" dirty="0">
              <a:solidFill>
                <a:srgbClr val="284C8A"/>
              </a:solidFill>
              <a:latin typeface="+mn-ea"/>
              <a:sym typeface="inpin heiti" panose="00000500000000000000" pitchFamily="2" charset="-122"/>
            </a:endParaRPr>
          </a:p>
        </p:txBody>
      </p:sp>
    </p:spTree>
    <p:extLst>
      <p:ext uri="{BB962C8B-B14F-4D97-AF65-F5344CB8AC3E}">
        <p14:creationId xmlns:p14="http://schemas.microsoft.com/office/powerpoint/2010/main" val="2979940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151F38CD-24F6-63F9-D82A-2705B7FE5B16}"/>
              </a:ext>
            </a:extLst>
          </p:cNvPr>
          <p:cNvGrpSpPr/>
          <p:nvPr/>
        </p:nvGrpSpPr>
        <p:grpSpPr>
          <a:xfrm>
            <a:off x="-1" y="3805973"/>
            <a:ext cx="5898599" cy="3052027"/>
            <a:chOff x="5250045" y="1368236"/>
            <a:chExt cx="4766791" cy="2466412"/>
          </a:xfrm>
        </p:grpSpPr>
        <p:pic>
          <p:nvPicPr>
            <p:cNvPr id="14" name="Picture 2">
              <a:extLst>
                <a:ext uri="{FF2B5EF4-FFF2-40B4-BE49-F238E27FC236}">
                  <a16:creationId xmlns:a16="http://schemas.microsoft.com/office/drawing/2014/main" id="{8696DA24-64DF-9D9F-AE4A-839CFE1C9668}"/>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l="36661" t="1" b="58444"/>
            <a:stretch/>
          </p:blipFill>
          <p:spPr bwMode="auto">
            <a:xfrm>
              <a:off x="5250045" y="1761749"/>
              <a:ext cx="3566063" cy="2072899"/>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a:extLst>
                <a:ext uri="{FF2B5EF4-FFF2-40B4-BE49-F238E27FC236}">
                  <a16:creationId xmlns:a16="http://schemas.microsoft.com/office/drawing/2014/main" id="{6A3840BB-6483-8EA6-6779-2D51ACDCCBA6}"/>
                </a:ext>
              </a:extLst>
            </p:cNvPr>
            <p:cNvSpPr/>
            <p:nvPr/>
          </p:nvSpPr>
          <p:spPr>
            <a:xfrm>
              <a:off x="5250046" y="1368236"/>
              <a:ext cx="4766790" cy="246641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0" name="组合 9">
            <a:extLst>
              <a:ext uri="{FF2B5EF4-FFF2-40B4-BE49-F238E27FC236}">
                <a16:creationId xmlns:a16="http://schemas.microsoft.com/office/drawing/2014/main" id="{F045E798-AE26-7C1E-546D-EB61DF0C7996}"/>
              </a:ext>
            </a:extLst>
          </p:cNvPr>
          <p:cNvGrpSpPr/>
          <p:nvPr/>
        </p:nvGrpSpPr>
        <p:grpSpPr>
          <a:xfrm>
            <a:off x="5273195" y="794872"/>
            <a:ext cx="6918806" cy="6659653"/>
            <a:chOff x="2175164" y="1368236"/>
            <a:chExt cx="5591243" cy="5381816"/>
          </a:xfrm>
        </p:grpSpPr>
        <p:pic>
          <p:nvPicPr>
            <p:cNvPr id="11" name="Picture 2">
              <a:extLst>
                <a:ext uri="{FF2B5EF4-FFF2-40B4-BE49-F238E27FC236}">
                  <a16:creationId xmlns:a16="http://schemas.microsoft.com/office/drawing/2014/main" id="{272FF6B7-69DD-BC00-DA2B-5E4F135EB3FE}"/>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a:stretch/>
          </p:blipFill>
          <p:spPr bwMode="auto">
            <a:xfrm>
              <a:off x="3185969" y="1761748"/>
              <a:ext cx="4580437" cy="498830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a:extLst>
                <a:ext uri="{FF2B5EF4-FFF2-40B4-BE49-F238E27FC236}">
                  <a16:creationId xmlns:a16="http://schemas.microsoft.com/office/drawing/2014/main" id="{BE8D2955-4632-5F28-0DA5-928C2B3C594F}"/>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8AB35215-78D5-5E6B-92B5-2E26156ACA0E}"/>
              </a:ext>
            </a:extLst>
          </p:cNvPr>
          <p:cNvSpPr>
            <a:spLocks noGrp="1"/>
          </p:cNvSpPr>
          <p:nvPr>
            <p:ph type="ctrTitle"/>
          </p:nvPr>
        </p:nvSpPr>
        <p:spPr>
          <a:xfrm>
            <a:off x="3514944" y="2740607"/>
            <a:ext cx="5157696" cy="943048"/>
          </a:xfrm>
        </p:spPr>
        <p:txBody>
          <a:bodyPr>
            <a:normAutofit/>
          </a:bodyPr>
          <a:lstStyle/>
          <a:p>
            <a:r>
              <a:rPr lang="zh-CN" altLang="en-US" dirty="0">
                <a:solidFill>
                  <a:srgbClr val="305598"/>
                </a:solidFill>
                <a:latin typeface="方正综艺简体" panose="03000509000000000000" pitchFamily="65" charset="-122"/>
                <a:ea typeface="方正综艺简体" panose="03000509000000000000" pitchFamily="65" charset="-122"/>
              </a:rPr>
              <a:t>我的竞赛之旅</a:t>
            </a:r>
          </a:p>
        </p:txBody>
      </p:sp>
      <p:grpSp>
        <p:nvGrpSpPr>
          <p:cNvPr id="3" name="组合 2">
            <a:extLst>
              <a:ext uri="{FF2B5EF4-FFF2-40B4-BE49-F238E27FC236}">
                <a16:creationId xmlns:a16="http://schemas.microsoft.com/office/drawing/2014/main" id="{A1F5F619-F811-6C9D-3DA2-BB6CB4D3AF3A}"/>
              </a:ext>
            </a:extLst>
          </p:cNvPr>
          <p:cNvGrpSpPr/>
          <p:nvPr/>
        </p:nvGrpSpPr>
        <p:grpSpPr>
          <a:xfrm>
            <a:off x="119449" y="136880"/>
            <a:ext cx="12072071" cy="6435559"/>
            <a:chOff x="119449" y="136880"/>
            <a:chExt cx="12072071" cy="6435559"/>
          </a:xfrm>
        </p:grpSpPr>
        <p:pic>
          <p:nvPicPr>
            <p:cNvPr id="7" name="图片 6">
              <a:extLst>
                <a:ext uri="{FF2B5EF4-FFF2-40B4-BE49-F238E27FC236}">
                  <a16:creationId xmlns:a16="http://schemas.microsoft.com/office/drawing/2014/main" id="{E23B1576-D4AB-F9BE-B78D-7752316EF85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9" name="矩形 8">
              <a:extLst>
                <a:ext uri="{FF2B5EF4-FFF2-40B4-BE49-F238E27FC236}">
                  <a16:creationId xmlns:a16="http://schemas.microsoft.com/office/drawing/2014/main" id="{D7146286-CE52-4E69-6795-716F739890B1}"/>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6" name="矩形 15">
              <a:extLst>
                <a:ext uri="{FF2B5EF4-FFF2-40B4-BE49-F238E27FC236}">
                  <a16:creationId xmlns:a16="http://schemas.microsoft.com/office/drawing/2014/main" id="{4AC934F7-D7B6-6352-67A1-541918675C3B}"/>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7" name="直接连接符 16">
              <a:extLst>
                <a:ext uri="{FF2B5EF4-FFF2-40B4-BE49-F238E27FC236}">
                  <a16:creationId xmlns:a16="http://schemas.microsoft.com/office/drawing/2014/main" id="{48BB9859-E1E5-892D-F17C-46B89135E8DE}"/>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1C6EA094-87BD-C28E-F1CE-6944022B123A}"/>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72994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29">
            <a:extLst>
              <a:ext uri="{FF2B5EF4-FFF2-40B4-BE49-F238E27FC236}">
                <a16:creationId xmlns:a16="http://schemas.microsoft.com/office/drawing/2014/main" id="{374635AB-683F-962E-71A3-6BAAFA0D8E43}"/>
              </a:ext>
            </a:extLst>
          </p:cNvPr>
          <p:cNvGrpSpPr/>
          <p:nvPr/>
        </p:nvGrpSpPr>
        <p:grpSpPr>
          <a:xfrm>
            <a:off x="5273195" y="794872"/>
            <a:ext cx="6918806" cy="6063130"/>
            <a:chOff x="2175164" y="1368236"/>
            <a:chExt cx="5591243" cy="4899752"/>
          </a:xfrm>
        </p:grpSpPr>
        <p:pic>
          <p:nvPicPr>
            <p:cNvPr id="31" name="Picture 2">
              <a:extLst>
                <a:ext uri="{FF2B5EF4-FFF2-40B4-BE49-F238E27FC236}">
                  <a16:creationId xmlns:a16="http://schemas.microsoft.com/office/drawing/2014/main" id="{102F03BB-4474-63DB-E305-9D826312449C}"/>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32" name="矩形 31">
              <a:extLst>
                <a:ext uri="{FF2B5EF4-FFF2-40B4-BE49-F238E27FC236}">
                  <a16:creationId xmlns:a16="http://schemas.microsoft.com/office/drawing/2014/main" id="{F87D7947-8EFF-5CAE-4FB7-9E311FD62F0E}"/>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9620A4AF-EC28-2E0A-D915-873C86F6E2E4}"/>
              </a:ext>
            </a:extLst>
          </p:cNvPr>
          <p:cNvSpPr>
            <a:spLocks noGrp="1"/>
          </p:cNvSpPr>
          <p:nvPr>
            <p:ph type="title"/>
          </p:nvPr>
        </p:nvSpPr>
        <p:spPr>
          <a:xfrm>
            <a:off x="179570" y="515390"/>
            <a:ext cx="8534400" cy="1507067"/>
          </a:xfrm>
        </p:spPr>
        <p:txBody>
          <a:bodyPr/>
          <a:lstStyle/>
          <a:p>
            <a:r>
              <a:rPr lang="zh-CN" altLang="en-US" dirty="0">
                <a:solidFill>
                  <a:srgbClr val="305598"/>
                </a:solidFill>
                <a:latin typeface="方正综艺简体" panose="03000509000000000000" pitchFamily="65" charset="-122"/>
                <a:ea typeface="方正综艺简体" panose="03000509000000000000" pitchFamily="65" charset="-122"/>
              </a:rPr>
              <a:t>竞赛经历</a:t>
            </a:r>
          </a:p>
        </p:txBody>
      </p:sp>
      <p:sp>
        <p:nvSpPr>
          <p:cNvPr id="4" name="文本框 3">
            <a:extLst>
              <a:ext uri="{FF2B5EF4-FFF2-40B4-BE49-F238E27FC236}">
                <a16:creationId xmlns:a16="http://schemas.microsoft.com/office/drawing/2014/main" id="{9FA48E61-726B-C2FA-B3EC-7C32BCBECE22}"/>
              </a:ext>
            </a:extLst>
          </p:cNvPr>
          <p:cNvSpPr txBox="1"/>
          <p:nvPr/>
        </p:nvSpPr>
        <p:spPr>
          <a:xfrm>
            <a:off x="3594968" y="1708164"/>
            <a:ext cx="7109639" cy="4247317"/>
          </a:xfrm>
          <a:prstGeom prst="rect">
            <a:avLst/>
          </a:prstGeom>
          <a:noFill/>
        </p:spPr>
        <p:txBody>
          <a:bodyPr wrap="none" rtlCol="0">
            <a:spAutoFit/>
          </a:bodyPr>
          <a:lstStyle/>
          <a:p>
            <a:r>
              <a:rPr lang="zh-CN" altLang="en-US" b="1" dirty="0"/>
              <a:t>第一次接触：</a:t>
            </a:r>
            <a:r>
              <a:rPr lang="zh-CN" altLang="en-US" dirty="0"/>
              <a:t>新生赛网络赛</a:t>
            </a:r>
            <a:r>
              <a:rPr lang="en-US" altLang="zh-CN" dirty="0"/>
              <a:t>+</a:t>
            </a:r>
            <a:r>
              <a:rPr lang="zh-CN" altLang="en-US" dirty="0"/>
              <a:t>现场赛</a:t>
            </a:r>
            <a:endParaRPr lang="en-US" altLang="zh-CN" dirty="0"/>
          </a:p>
          <a:p>
            <a:endParaRPr lang="en-US" altLang="zh-CN" dirty="0"/>
          </a:p>
          <a:p>
            <a:r>
              <a:rPr lang="zh-CN" altLang="en-US" b="1" dirty="0"/>
              <a:t>第一次提升：</a:t>
            </a:r>
            <a:r>
              <a:rPr lang="zh-CN" altLang="en-US" dirty="0"/>
              <a:t>自行学习基础知识点、编程语言（个人为主）</a:t>
            </a:r>
            <a:endParaRPr lang="en-US" altLang="zh-CN" dirty="0"/>
          </a:p>
          <a:p>
            <a:endParaRPr lang="en-US" altLang="zh-CN" dirty="0"/>
          </a:p>
          <a:p>
            <a:r>
              <a:rPr lang="zh-CN" altLang="en-US" b="1" dirty="0"/>
              <a:t>校队选拔：</a:t>
            </a:r>
            <a:r>
              <a:rPr lang="zh-CN" altLang="en-US" dirty="0"/>
              <a:t>校赛网络赛</a:t>
            </a:r>
            <a:r>
              <a:rPr lang="en-US" altLang="zh-CN" dirty="0"/>
              <a:t>+</a:t>
            </a:r>
            <a:r>
              <a:rPr lang="zh-CN" altLang="en-US" dirty="0"/>
              <a:t>现场赛</a:t>
            </a:r>
            <a:endParaRPr lang="en-US" altLang="zh-CN" dirty="0"/>
          </a:p>
          <a:p>
            <a:endParaRPr lang="en-US" altLang="zh-CN" b="1" dirty="0"/>
          </a:p>
          <a:p>
            <a:r>
              <a:rPr lang="zh-CN" altLang="en-US" b="1" dirty="0"/>
              <a:t>组队</a:t>
            </a:r>
            <a:r>
              <a:rPr lang="en-US" altLang="zh-CN" b="1" dirty="0"/>
              <a:t>+</a:t>
            </a:r>
            <a:r>
              <a:rPr lang="zh-CN" altLang="en-US" b="1" dirty="0"/>
              <a:t>第二次提升：</a:t>
            </a:r>
            <a:r>
              <a:rPr lang="zh-CN" altLang="en-US" dirty="0"/>
              <a:t>校队暑期集训（团队为主）</a:t>
            </a:r>
            <a:endParaRPr lang="en-US" altLang="zh-CN" dirty="0"/>
          </a:p>
          <a:p>
            <a:endParaRPr lang="en-US" altLang="zh-CN" dirty="0"/>
          </a:p>
          <a:p>
            <a:r>
              <a:rPr lang="zh-CN" altLang="en-US" b="1" dirty="0"/>
              <a:t>第一年正式赛：</a:t>
            </a:r>
            <a:r>
              <a:rPr lang="zh-CN" altLang="en-US" dirty="0"/>
              <a:t>陕西省赛</a:t>
            </a:r>
            <a:r>
              <a:rPr lang="en-US" altLang="zh-CN" dirty="0"/>
              <a:t>+ICPC/CCPC</a:t>
            </a:r>
            <a:r>
              <a:rPr lang="zh-CN" altLang="en-US" dirty="0"/>
              <a:t>网络赛</a:t>
            </a:r>
            <a:r>
              <a:rPr lang="en-US" altLang="zh-CN" dirty="0"/>
              <a:t>+</a:t>
            </a:r>
            <a:r>
              <a:rPr lang="zh-CN" altLang="en-US" dirty="0"/>
              <a:t>区域赛</a:t>
            </a:r>
            <a:endParaRPr lang="en-US" altLang="zh-CN" dirty="0"/>
          </a:p>
          <a:p>
            <a:endParaRPr lang="en-US" altLang="zh-CN" dirty="0"/>
          </a:p>
          <a:p>
            <a:r>
              <a:rPr lang="zh-CN" altLang="en-US" b="1" dirty="0"/>
              <a:t>第三次提升：</a:t>
            </a:r>
            <a:r>
              <a:rPr lang="zh-CN" altLang="en-US" dirty="0"/>
              <a:t>大二下至暑期前（个人为主）（参加校赛、天梯赛等）</a:t>
            </a:r>
            <a:endParaRPr lang="en-US" altLang="zh-CN" dirty="0"/>
          </a:p>
          <a:p>
            <a:endParaRPr lang="en-US" altLang="zh-CN" dirty="0"/>
          </a:p>
          <a:p>
            <a:r>
              <a:rPr lang="zh-CN" altLang="en-US" b="1" dirty="0"/>
              <a:t>第四次提升：</a:t>
            </a:r>
            <a:r>
              <a:rPr lang="zh-CN" altLang="en-US" dirty="0"/>
              <a:t>大二暑假校队暑期集训至大三开学前</a:t>
            </a:r>
            <a:endParaRPr lang="en-US" altLang="zh-CN" dirty="0"/>
          </a:p>
          <a:p>
            <a:endParaRPr lang="en-US" altLang="zh-CN" dirty="0"/>
          </a:p>
          <a:p>
            <a:r>
              <a:rPr lang="zh-CN" altLang="en-US" b="1" dirty="0"/>
              <a:t>第二年正式赛：</a:t>
            </a:r>
            <a:r>
              <a:rPr lang="zh-CN" altLang="en-US" dirty="0"/>
              <a:t>陕西省赛</a:t>
            </a:r>
            <a:r>
              <a:rPr lang="en-US" altLang="zh-CN" dirty="0"/>
              <a:t>+ICPC/CCPC</a:t>
            </a:r>
            <a:r>
              <a:rPr lang="zh-CN" altLang="en-US" dirty="0"/>
              <a:t>网络赛</a:t>
            </a:r>
            <a:r>
              <a:rPr lang="en-US" altLang="zh-CN" dirty="0"/>
              <a:t>+</a:t>
            </a:r>
            <a:r>
              <a:rPr lang="zh-CN" altLang="en-US" dirty="0"/>
              <a:t>区域赛</a:t>
            </a:r>
            <a:endParaRPr lang="en-US" altLang="zh-CN" dirty="0"/>
          </a:p>
        </p:txBody>
      </p:sp>
      <p:sp>
        <p:nvSpPr>
          <p:cNvPr id="5" name="文本框 4">
            <a:extLst>
              <a:ext uri="{FF2B5EF4-FFF2-40B4-BE49-F238E27FC236}">
                <a16:creationId xmlns:a16="http://schemas.microsoft.com/office/drawing/2014/main" id="{84190321-A2C9-3CA4-E88E-01A758486F63}"/>
              </a:ext>
            </a:extLst>
          </p:cNvPr>
          <p:cNvSpPr txBox="1"/>
          <p:nvPr/>
        </p:nvSpPr>
        <p:spPr>
          <a:xfrm>
            <a:off x="515057" y="1708164"/>
            <a:ext cx="2390398" cy="4247317"/>
          </a:xfrm>
          <a:prstGeom prst="rect">
            <a:avLst/>
          </a:prstGeom>
          <a:noFill/>
        </p:spPr>
        <p:txBody>
          <a:bodyPr wrap="none" rtlCol="0">
            <a:spAutoFit/>
          </a:bodyPr>
          <a:lstStyle/>
          <a:p>
            <a:pPr algn="r"/>
            <a:r>
              <a:rPr lang="zh-CN" altLang="en-US" dirty="0"/>
              <a:t>大一上</a:t>
            </a:r>
            <a:r>
              <a:rPr lang="en-US" altLang="zh-CN" dirty="0"/>
              <a:t>11-12</a:t>
            </a:r>
            <a:r>
              <a:rPr lang="zh-CN" altLang="en-US" dirty="0"/>
              <a:t>月份</a:t>
            </a:r>
            <a:endParaRPr lang="en-US" altLang="zh-CN" dirty="0"/>
          </a:p>
          <a:p>
            <a:pPr algn="r"/>
            <a:endParaRPr lang="en-US" altLang="zh-CN" dirty="0"/>
          </a:p>
          <a:p>
            <a:pPr algn="r"/>
            <a:r>
              <a:rPr lang="en-US" altLang="zh-CN" dirty="0"/>
              <a:t>1</a:t>
            </a:r>
            <a:r>
              <a:rPr lang="zh-CN" altLang="en-US" dirty="0"/>
              <a:t>月份至大一下</a:t>
            </a:r>
            <a:r>
              <a:rPr lang="en-US" altLang="zh-CN" dirty="0"/>
              <a:t>5</a:t>
            </a:r>
            <a:r>
              <a:rPr lang="zh-CN" altLang="en-US" dirty="0"/>
              <a:t>月份</a:t>
            </a:r>
            <a:endParaRPr lang="en-US" altLang="zh-CN" dirty="0"/>
          </a:p>
          <a:p>
            <a:pPr algn="r"/>
            <a:endParaRPr lang="en-US" altLang="zh-CN" dirty="0"/>
          </a:p>
          <a:p>
            <a:pPr algn="r"/>
            <a:r>
              <a:rPr lang="zh-CN" altLang="en-US" dirty="0"/>
              <a:t>大一下</a:t>
            </a:r>
            <a:r>
              <a:rPr lang="en-US" altLang="zh-CN" dirty="0"/>
              <a:t>5</a:t>
            </a:r>
            <a:r>
              <a:rPr lang="zh-CN" altLang="en-US" dirty="0"/>
              <a:t>月份</a:t>
            </a:r>
            <a:endParaRPr lang="en-US" altLang="zh-CN" dirty="0"/>
          </a:p>
          <a:p>
            <a:pPr algn="r"/>
            <a:endParaRPr lang="en-US" altLang="zh-CN" dirty="0"/>
          </a:p>
          <a:p>
            <a:pPr algn="r"/>
            <a:r>
              <a:rPr lang="zh-CN" altLang="en-US" dirty="0"/>
              <a:t>大一暑假</a:t>
            </a:r>
            <a:r>
              <a:rPr lang="en-US" altLang="zh-CN" dirty="0"/>
              <a:t>7-9</a:t>
            </a:r>
            <a:r>
              <a:rPr lang="zh-CN" altLang="en-US" dirty="0"/>
              <a:t>月份</a:t>
            </a:r>
            <a:endParaRPr lang="en-US" altLang="zh-CN" dirty="0"/>
          </a:p>
          <a:p>
            <a:pPr algn="r"/>
            <a:endParaRPr lang="en-US" altLang="zh-CN" dirty="0"/>
          </a:p>
          <a:p>
            <a:pPr algn="r"/>
            <a:r>
              <a:rPr lang="zh-CN" altLang="en-US" dirty="0"/>
              <a:t>大二上</a:t>
            </a:r>
            <a:r>
              <a:rPr lang="en-US" altLang="zh-CN" dirty="0"/>
              <a:t>10-12</a:t>
            </a:r>
            <a:r>
              <a:rPr lang="zh-CN" altLang="en-US" dirty="0"/>
              <a:t>月份</a:t>
            </a:r>
            <a:endParaRPr lang="en-US" altLang="zh-CN" dirty="0"/>
          </a:p>
          <a:p>
            <a:pPr algn="r"/>
            <a:endParaRPr lang="en-US" altLang="zh-CN" dirty="0"/>
          </a:p>
          <a:p>
            <a:pPr algn="r"/>
            <a:r>
              <a:rPr lang="en-US" altLang="zh-CN" dirty="0"/>
              <a:t>1</a:t>
            </a:r>
            <a:r>
              <a:rPr lang="zh-CN" altLang="en-US" dirty="0"/>
              <a:t>月份至大二下暑假前</a:t>
            </a:r>
            <a:endParaRPr lang="en-US" altLang="zh-CN" dirty="0"/>
          </a:p>
          <a:p>
            <a:pPr algn="r"/>
            <a:endParaRPr lang="en-US" altLang="zh-CN" dirty="0"/>
          </a:p>
          <a:p>
            <a:pPr algn="r"/>
            <a:r>
              <a:rPr lang="zh-CN" altLang="en-US" dirty="0"/>
              <a:t>大二暑假</a:t>
            </a:r>
            <a:r>
              <a:rPr lang="en-US" altLang="zh-CN" dirty="0"/>
              <a:t>7-9</a:t>
            </a:r>
            <a:r>
              <a:rPr lang="zh-CN" altLang="en-US" dirty="0"/>
              <a:t>月份</a:t>
            </a:r>
            <a:endParaRPr lang="en-US" altLang="zh-CN" dirty="0"/>
          </a:p>
          <a:p>
            <a:pPr algn="r"/>
            <a:endParaRPr lang="en-US" altLang="zh-CN" dirty="0"/>
          </a:p>
          <a:p>
            <a:pPr algn="r"/>
            <a:r>
              <a:rPr lang="zh-CN" altLang="en-US" dirty="0"/>
              <a:t>大三上</a:t>
            </a:r>
            <a:r>
              <a:rPr lang="en-US" altLang="zh-CN" dirty="0"/>
              <a:t>10-12</a:t>
            </a:r>
            <a:r>
              <a:rPr lang="zh-CN" altLang="en-US" dirty="0"/>
              <a:t>月份</a:t>
            </a:r>
          </a:p>
        </p:txBody>
      </p:sp>
      <p:sp>
        <p:nvSpPr>
          <p:cNvPr id="9" name="箭头: 右 8">
            <a:extLst>
              <a:ext uri="{FF2B5EF4-FFF2-40B4-BE49-F238E27FC236}">
                <a16:creationId xmlns:a16="http://schemas.microsoft.com/office/drawing/2014/main" id="{0A0BBE2D-2F5A-3768-76D8-002CFB336469}"/>
              </a:ext>
            </a:extLst>
          </p:cNvPr>
          <p:cNvSpPr/>
          <p:nvPr/>
        </p:nvSpPr>
        <p:spPr>
          <a:xfrm rot="5400000">
            <a:off x="1036148" y="3814480"/>
            <a:ext cx="4409587" cy="361274"/>
          </a:xfrm>
          <a:prstGeom prst="rightArrow">
            <a:avLst/>
          </a:prstGeom>
          <a:solidFill>
            <a:srgbClr val="3055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305598"/>
              </a:solidFill>
            </a:endParaRPr>
          </a:p>
        </p:txBody>
      </p:sp>
      <p:sp>
        <p:nvSpPr>
          <p:cNvPr id="10" name="椭圆 9">
            <a:extLst>
              <a:ext uri="{FF2B5EF4-FFF2-40B4-BE49-F238E27FC236}">
                <a16:creationId xmlns:a16="http://schemas.microsoft.com/office/drawing/2014/main" id="{5A58F772-ED25-E3FA-DE2C-F96A22542E22}"/>
              </a:ext>
            </a:extLst>
          </p:cNvPr>
          <p:cNvSpPr/>
          <p:nvPr/>
        </p:nvSpPr>
        <p:spPr>
          <a:xfrm>
            <a:off x="3108729" y="1713542"/>
            <a:ext cx="264422" cy="264422"/>
          </a:xfrm>
          <a:prstGeom prst="ellipse">
            <a:avLst/>
          </a:prstGeom>
          <a:solidFill>
            <a:srgbClr val="96B0DE"/>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A7806C5C-B356-5116-42AD-F2C62DB1C14D}"/>
              </a:ext>
            </a:extLst>
          </p:cNvPr>
          <p:cNvSpPr/>
          <p:nvPr/>
        </p:nvSpPr>
        <p:spPr>
          <a:xfrm>
            <a:off x="3093857" y="3964724"/>
            <a:ext cx="264422" cy="264422"/>
          </a:xfrm>
          <a:prstGeom prst="ellipse">
            <a:avLst/>
          </a:prstGeom>
          <a:solidFill>
            <a:srgbClr val="96B0DE"/>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a:extLst>
              <a:ext uri="{FF2B5EF4-FFF2-40B4-BE49-F238E27FC236}">
                <a16:creationId xmlns:a16="http://schemas.microsoft.com/office/drawing/2014/main" id="{27FC0C1C-D7D0-6F12-4E1B-0F8919EC883A}"/>
              </a:ext>
            </a:extLst>
          </p:cNvPr>
          <p:cNvSpPr/>
          <p:nvPr/>
        </p:nvSpPr>
        <p:spPr>
          <a:xfrm>
            <a:off x="3108729" y="5606669"/>
            <a:ext cx="264422" cy="264422"/>
          </a:xfrm>
          <a:prstGeom prst="ellipse">
            <a:avLst/>
          </a:prstGeom>
          <a:solidFill>
            <a:srgbClr val="96B0DE"/>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a:extLst>
              <a:ext uri="{FF2B5EF4-FFF2-40B4-BE49-F238E27FC236}">
                <a16:creationId xmlns:a16="http://schemas.microsoft.com/office/drawing/2014/main" id="{D6B058B0-522A-C6BB-E4C5-308188B413BA}"/>
              </a:ext>
            </a:extLst>
          </p:cNvPr>
          <p:cNvGrpSpPr/>
          <p:nvPr/>
        </p:nvGrpSpPr>
        <p:grpSpPr>
          <a:xfrm>
            <a:off x="119449" y="136880"/>
            <a:ext cx="12072071" cy="6435559"/>
            <a:chOff x="119449" y="136880"/>
            <a:chExt cx="12072071" cy="6435559"/>
          </a:xfrm>
        </p:grpSpPr>
        <p:pic>
          <p:nvPicPr>
            <p:cNvPr id="14" name="图片 13">
              <a:extLst>
                <a:ext uri="{FF2B5EF4-FFF2-40B4-BE49-F238E27FC236}">
                  <a16:creationId xmlns:a16="http://schemas.microsoft.com/office/drawing/2014/main" id="{D5BF71D9-9A32-F961-1401-58BDABD9D96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5" name="矩形 14">
              <a:extLst>
                <a:ext uri="{FF2B5EF4-FFF2-40B4-BE49-F238E27FC236}">
                  <a16:creationId xmlns:a16="http://schemas.microsoft.com/office/drawing/2014/main" id="{ACDE2BF4-7FDA-1F4E-D819-EA7AA3A0AF42}"/>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6" name="矩形 15">
              <a:extLst>
                <a:ext uri="{FF2B5EF4-FFF2-40B4-BE49-F238E27FC236}">
                  <a16:creationId xmlns:a16="http://schemas.microsoft.com/office/drawing/2014/main" id="{5357B098-C7E7-1F88-A151-167BBFFAFEFB}"/>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7" name="直接连接符 16">
              <a:extLst>
                <a:ext uri="{FF2B5EF4-FFF2-40B4-BE49-F238E27FC236}">
                  <a16:creationId xmlns:a16="http://schemas.microsoft.com/office/drawing/2014/main" id="{E0F7E6CD-6F9B-50AE-E701-B84ED61F30B7}"/>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6F9E897-052B-6921-025E-4DB1345BF95C}"/>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73789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365A2C6B-BE59-8D19-757D-006D62968FEE}"/>
              </a:ext>
            </a:extLst>
          </p:cNvPr>
          <p:cNvGrpSpPr/>
          <p:nvPr/>
        </p:nvGrpSpPr>
        <p:grpSpPr>
          <a:xfrm>
            <a:off x="5273195" y="794872"/>
            <a:ext cx="6918806" cy="6063130"/>
            <a:chOff x="2175164" y="1368236"/>
            <a:chExt cx="5591243" cy="4899752"/>
          </a:xfrm>
        </p:grpSpPr>
        <p:pic>
          <p:nvPicPr>
            <p:cNvPr id="17" name="Picture 2">
              <a:extLst>
                <a:ext uri="{FF2B5EF4-FFF2-40B4-BE49-F238E27FC236}">
                  <a16:creationId xmlns:a16="http://schemas.microsoft.com/office/drawing/2014/main" id="{2F96D90F-831E-3768-74B5-6A6E856D7F4C}"/>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B2A9A154-5EEA-4C8D-0344-E543AE293563}"/>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矩形: 圆角 9">
            <a:extLst>
              <a:ext uri="{FF2B5EF4-FFF2-40B4-BE49-F238E27FC236}">
                <a16:creationId xmlns:a16="http://schemas.microsoft.com/office/drawing/2014/main" id="{8FA60374-E64A-CCCA-B2BD-F8D229109CAC}"/>
              </a:ext>
            </a:extLst>
          </p:cNvPr>
          <p:cNvSpPr/>
          <p:nvPr/>
        </p:nvSpPr>
        <p:spPr>
          <a:xfrm>
            <a:off x="5825102" y="1908782"/>
            <a:ext cx="4876800" cy="3979400"/>
          </a:xfrm>
          <a:prstGeom prst="roundRect">
            <a:avLst/>
          </a:prstGeom>
          <a:solidFill>
            <a:srgbClr val="E8EEF8"/>
          </a:solidFill>
          <a:ln w="38100">
            <a:solidFill>
              <a:srgbClr val="355EA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F073DE64-C09C-7C35-895E-9AB6215339CB}"/>
              </a:ext>
            </a:extLst>
          </p:cNvPr>
          <p:cNvSpPr/>
          <p:nvPr/>
        </p:nvSpPr>
        <p:spPr>
          <a:xfrm>
            <a:off x="432047" y="1908782"/>
            <a:ext cx="4876800" cy="3979400"/>
          </a:xfrm>
          <a:prstGeom prst="roundRect">
            <a:avLst/>
          </a:prstGeom>
          <a:solidFill>
            <a:srgbClr val="E8EEF8"/>
          </a:solidFill>
          <a:ln w="38100">
            <a:solidFill>
              <a:srgbClr val="355EA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标题 1">
            <a:extLst>
              <a:ext uri="{FF2B5EF4-FFF2-40B4-BE49-F238E27FC236}">
                <a16:creationId xmlns:a16="http://schemas.microsoft.com/office/drawing/2014/main" id="{089846E6-F734-0C98-E7F3-039AC74B80E4}"/>
              </a:ext>
            </a:extLst>
          </p:cNvPr>
          <p:cNvSpPr>
            <a:spLocks noGrp="1"/>
          </p:cNvSpPr>
          <p:nvPr>
            <p:ph type="title"/>
          </p:nvPr>
        </p:nvSpPr>
        <p:spPr>
          <a:xfrm>
            <a:off x="357554" y="598294"/>
            <a:ext cx="8534400" cy="1507067"/>
          </a:xfrm>
        </p:spPr>
        <p:txBody>
          <a:bodyPr>
            <a:normAutofit/>
          </a:bodyPr>
          <a:lstStyle/>
          <a:p>
            <a:r>
              <a:rPr lang="zh-CN" altLang="en-US" dirty="0">
                <a:solidFill>
                  <a:srgbClr val="305598"/>
                </a:solidFill>
                <a:latin typeface="方正综艺简体" panose="03000509000000000000" pitchFamily="65" charset="-122"/>
                <a:ea typeface="方正综艺简体" panose="03000509000000000000" pitchFamily="65" charset="-122"/>
              </a:rPr>
              <a:t>竞赛获奖、收获</a:t>
            </a:r>
          </a:p>
        </p:txBody>
      </p:sp>
      <p:sp>
        <p:nvSpPr>
          <p:cNvPr id="4" name="文本框 3">
            <a:extLst>
              <a:ext uri="{FF2B5EF4-FFF2-40B4-BE49-F238E27FC236}">
                <a16:creationId xmlns:a16="http://schemas.microsoft.com/office/drawing/2014/main" id="{4DD5B967-4B39-13FC-406C-9731B826BCB4}"/>
              </a:ext>
            </a:extLst>
          </p:cNvPr>
          <p:cNvSpPr txBox="1"/>
          <p:nvPr/>
        </p:nvSpPr>
        <p:spPr>
          <a:xfrm>
            <a:off x="801416" y="2560630"/>
            <a:ext cx="2848857" cy="2862322"/>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zh-CN" altLang="en-US" sz="2000" dirty="0"/>
              <a:t>新生赛二等奖</a:t>
            </a:r>
            <a:endParaRPr lang="en-US" altLang="zh-CN" sz="2000" dirty="0"/>
          </a:p>
          <a:p>
            <a:pPr marL="342900" indent="-342900">
              <a:lnSpc>
                <a:spcPct val="150000"/>
              </a:lnSpc>
              <a:buFont typeface="Arial" panose="020B0604020202020204" pitchFamily="34" charset="0"/>
              <a:buChar char="•"/>
            </a:pPr>
            <a:r>
              <a:rPr lang="zh-CN" altLang="en-US" sz="2000" dirty="0"/>
              <a:t>校赛亚军</a:t>
            </a:r>
            <a:endParaRPr lang="en-US" altLang="zh-CN" sz="2000" dirty="0"/>
          </a:p>
          <a:p>
            <a:pPr marL="342900" indent="-342900">
              <a:lnSpc>
                <a:spcPct val="150000"/>
              </a:lnSpc>
              <a:buFont typeface="Arial" panose="020B0604020202020204" pitchFamily="34" charset="0"/>
              <a:buChar char="•"/>
            </a:pPr>
            <a:r>
              <a:rPr lang="en-US" altLang="zh-CN" sz="2000" dirty="0"/>
              <a:t>CCCC</a:t>
            </a:r>
            <a:r>
              <a:rPr lang="zh-CN" altLang="en-US" sz="2000" dirty="0"/>
              <a:t>天梯赛二等奖</a:t>
            </a:r>
            <a:endParaRPr lang="en-US" altLang="zh-CN" sz="2000" dirty="0"/>
          </a:p>
          <a:p>
            <a:pPr marL="342900" indent="-342900">
              <a:lnSpc>
                <a:spcPct val="150000"/>
              </a:lnSpc>
              <a:buFont typeface="Arial" panose="020B0604020202020204" pitchFamily="34" charset="0"/>
              <a:buChar char="•"/>
            </a:pPr>
            <a:r>
              <a:rPr lang="en-US" altLang="zh-CN" sz="2000" dirty="0"/>
              <a:t>ICPC</a:t>
            </a:r>
            <a:r>
              <a:rPr lang="zh-CN" altLang="en-US" sz="2000" dirty="0"/>
              <a:t>陕西省赛金奖</a:t>
            </a:r>
            <a:endParaRPr lang="en-US" altLang="zh-CN" sz="2000" dirty="0"/>
          </a:p>
          <a:p>
            <a:pPr marL="342900" indent="-342900">
              <a:lnSpc>
                <a:spcPct val="150000"/>
              </a:lnSpc>
              <a:buFont typeface="Arial" panose="020B0604020202020204" pitchFamily="34" charset="0"/>
              <a:buChar char="•"/>
            </a:pPr>
            <a:r>
              <a:rPr lang="en-US" altLang="zh-CN" sz="2000" dirty="0"/>
              <a:t>CCPC</a:t>
            </a:r>
            <a:r>
              <a:rPr lang="zh-CN" altLang="en-US" sz="2000" dirty="0"/>
              <a:t>分站赛铜奖</a:t>
            </a:r>
            <a:endParaRPr lang="en-US" altLang="zh-CN" sz="2000" dirty="0"/>
          </a:p>
          <a:p>
            <a:pPr marL="342900" indent="-342900">
              <a:lnSpc>
                <a:spcPct val="150000"/>
              </a:lnSpc>
              <a:buFont typeface="Arial" panose="020B0604020202020204" pitchFamily="34" charset="0"/>
              <a:buChar char="•"/>
            </a:pPr>
            <a:r>
              <a:rPr lang="en-US" altLang="zh-CN" sz="2000" dirty="0"/>
              <a:t>ICPC</a:t>
            </a:r>
            <a:r>
              <a:rPr lang="zh-CN" altLang="en-US" sz="2000" dirty="0"/>
              <a:t>亚洲区域赛银奖</a:t>
            </a:r>
          </a:p>
        </p:txBody>
      </p:sp>
      <p:sp>
        <p:nvSpPr>
          <p:cNvPr id="5" name="文本框 4">
            <a:extLst>
              <a:ext uri="{FF2B5EF4-FFF2-40B4-BE49-F238E27FC236}">
                <a16:creationId xmlns:a16="http://schemas.microsoft.com/office/drawing/2014/main" id="{5CB9BDE8-9698-2D96-E042-CC9099754DFA}"/>
              </a:ext>
            </a:extLst>
          </p:cNvPr>
          <p:cNvSpPr txBox="1"/>
          <p:nvPr/>
        </p:nvSpPr>
        <p:spPr>
          <a:xfrm>
            <a:off x="6313302" y="2455001"/>
            <a:ext cx="3550972" cy="327711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sz="2000" dirty="0"/>
              <a:t>很多算法知识</a:t>
            </a:r>
            <a:endParaRPr lang="en-US" altLang="zh-CN" sz="2000" dirty="0"/>
          </a:p>
          <a:p>
            <a:pPr marL="285750" indent="-285750">
              <a:lnSpc>
                <a:spcPct val="150000"/>
              </a:lnSpc>
              <a:buFont typeface="Arial" panose="020B0604020202020204" pitchFamily="34" charset="0"/>
              <a:buChar char="•"/>
            </a:pPr>
            <a:r>
              <a:rPr lang="zh-CN" altLang="en-US" sz="2000" dirty="0"/>
              <a:t>思维能力的提高</a:t>
            </a:r>
            <a:endParaRPr lang="en-US" altLang="zh-CN" sz="2000" dirty="0"/>
          </a:p>
          <a:p>
            <a:pPr marL="285750" indent="-285750">
              <a:lnSpc>
                <a:spcPct val="150000"/>
              </a:lnSpc>
              <a:buFont typeface="Arial" panose="020B0604020202020204" pitchFamily="34" charset="0"/>
              <a:buChar char="•"/>
            </a:pPr>
            <a:r>
              <a:rPr lang="zh-CN" altLang="en-US" sz="2000" dirty="0"/>
              <a:t>比赛奖金、奖品</a:t>
            </a:r>
            <a:endParaRPr lang="en-US" altLang="zh-CN" sz="2000" dirty="0"/>
          </a:p>
          <a:p>
            <a:pPr marL="285750" indent="-285750">
              <a:lnSpc>
                <a:spcPct val="150000"/>
              </a:lnSpc>
              <a:buFont typeface="Arial" panose="020B0604020202020204" pitchFamily="34" charset="0"/>
              <a:buChar char="•"/>
            </a:pPr>
            <a:r>
              <a:rPr lang="zh-CN" altLang="en-US" sz="2000" dirty="0"/>
              <a:t>线下旅游（需要疫情允许）</a:t>
            </a:r>
            <a:endParaRPr lang="en-US" altLang="zh-CN" sz="2000" dirty="0"/>
          </a:p>
          <a:p>
            <a:pPr marL="285750" indent="-285750">
              <a:lnSpc>
                <a:spcPct val="150000"/>
              </a:lnSpc>
              <a:buFont typeface="Arial" panose="020B0604020202020204" pitchFamily="34" charset="0"/>
              <a:buChar char="•"/>
            </a:pPr>
            <a:r>
              <a:rPr lang="zh-CN" altLang="en-US" sz="2000" dirty="0"/>
              <a:t>综测加分</a:t>
            </a:r>
            <a:endParaRPr lang="en-US" altLang="zh-CN" sz="2000" dirty="0"/>
          </a:p>
          <a:p>
            <a:pPr marL="285750" indent="-285750">
              <a:lnSpc>
                <a:spcPct val="150000"/>
              </a:lnSpc>
              <a:buFont typeface="Arial" panose="020B0604020202020204" pitchFamily="34" charset="0"/>
              <a:buChar char="•"/>
            </a:pPr>
            <a:r>
              <a:rPr lang="zh-CN" altLang="en-US" sz="2000" dirty="0"/>
              <a:t>奖学金</a:t>
            </a:r>
            <a:endParaRPr lang="en-US" altLang="zh-CN" sz="2000" dirty="0"/>
          </a:p>
          <a:p>
            <a:pPr marL="285750" indent="-285750">
              <a:lnSpc>
                <a:spcPct val="150000"/>
              </a:lnSpc>
              <a:buFont typeface="Arial" panose="020B0604020202020204" pitchFamily="34" charset="0"/>
              <a:buChar char="•"/>
            </a:pPr>
            <a:r>
              <a:rPr lang="en-US" altLang="zh-CN" sz="2000" dirty="0"/>
              <a:t>…</a:t>
            </a:r>
          </a:p>
        </p:txBody>
      </p:sp>
      <p:sp>
        <p:nvSpPr>
          <p:cNvPr id="11" name="文本框 10">
            <a:extLst>
              <a:ext uri="{FF2B5EF4-FFF2-40B4-BE49-F238E27FC236}">
                <a16:creationId xmlns:a16="http://schemas.microsoft.com/office/drawing/2014/main" id="{0D4912A6-C368-1E48-4780-0E01759F8B09}"/>
              </a:ext>
            </a:extLst>
          </p:cNvPr>
          <p:cNvSpPr txBox="1"/>
          <p:nvPr/>
        </p:nvSpPr>
        <p:spPr>
          <a:xfrm>
            <a:off x="1926208" y="1973250"/>
            <a:ext cx="1620957" cy="523220"/>
          </a:xfrm>
          <a:prstGeom prst="rect">
            <a:avLst/>
          </a:prstGeom>
          <a:noFill/>
        </p:spPr>
        <p:txBody>
          <a:bodyPr wrap="none" rtlCol="0">
            <a:spAutoFit/>
          </a:bodyPr>
          <a:lstStyle/>
          <a:p>
            <a:r>
              <a:rPr lang="zh-CN" altLang="en-US" sz="2800" dirty="0">
                <a:solidFill>
                  <a:srgbClr val="355EA9"/>
                </a:solidFill>
                <a:latin typeface="方正综艺简体" panose="03000509000000000000" pitchFamily="65" charset="-122"/>
                <a:ea typeface="方正综艺简体" panose="03000509000000000000" pitchFamily="65" charset="-122"/>
                <a:cs typeface="+mj-cs"/>
              </a:rPr>
              <a:t>竞赛奖项</a:t>
            </a:r>
          </a:p>
        </p:txBody>
      </p:sp>
      <p:sp>
        <p:nvSpPr>
          <p:cNvPr id="12" name="文本框 11">
            <a:extLst>
              <a:ext uri="{FF2B5EF4-FFF2-40B4-BE49-F238E27FC236}">
                <a16:creationId xmlns:a16="http://schemas.microsoft.com/office/drawing/2014/main" id="{40283C28-0892-9E99-DEF5-914AC39FD823}"/>
              </a:ext>
            </a:extLst>
          </p:cNvPr>
          <p:cNvSpPr txBox="1"/>
          <p:nvPr/>
        </p:nvSpPr>
        <p:spPr>
          <a:xfrm>
            <a:off x="7453023" y="1959489"/>
            <a:ext cx="1620957" cy="523220"/>
          </a:xfrm>
          <a:prstGeom prst="rect">
            <a:avLst/>
          </a:prstGeom>
          <a:noFill/>
        </p:spPr>
        <p:txBody>
          <a:bodyPr wrap="none" rtlCol="0">
            <a:spAutoFit/>
          </a:bodyPr>
          <a:lstStyle/>
          <a:p>
            <a:r>
              <a:rPr lang="zh-CN" altLang="en-US" sz="2800" dirty="0">
                <a:solidFill>
                  <a:srgbClr val="355EA9"/>
                </a:solidFill>
                <a:latin typeface="方正综艺简体" panose="03000509000000000000" pitchFamily="65" charset="-122"/>
                <a:ea typeface="方正综艺简体" panose="03000509000000000000" pitchFamily="65" charset="-122"/>
                <a:cs typeface="+mj-cs"/>
              </a:rPr>
              <a:t>其他收获</a:t>
            </a:r>
          </a:p>
        </p:txBody>
      </p:sp>
      <p:grpSp>
        <p:nvGrpSpPr>
          <p:cNvPr id="13" name="组合 12">
            <a:extLst>
              <a:ext uri="{FF2B5EF4-FFF2-40B4-BE49-F238E27FC236}">
                <a16:creationId xmlns:a16="http://schemas.microsoft.com/office/drawing/2014/main" id="{6C604C24-4698-2E2D-DBB6-17A8E7691F3C}"/>
              </a:ext>
            </a:extLst>
          </p:cNvPr>
          <p:cNvGrpSpPr/>
          <p:nvPr/>
        </p:nvGrpSpPr>
        <p:grpSpPr>
          <a:xfrm>
            <a:off x="119449" y="136880"/>
            <a:ext cx="12072071" cy="6435559"/>
            <a:chOff x="119449" y="136880"/>
            <a:chExt cx="12072071" cy="6435559"/>
          </a:xfrm>
        </p:grpSpPr>
        <p:pic>
          <p:nvPicPr>
            <p:cNvPr id="14" name="图片 13">
              <a:extLst>
                <a:ext uri="{FF2B5EF4-FFF2-40B4-BE49-F238E27FC236}">
                  <a16:creationId xmlns:a16="http://schemas.microsoft.com/office/drawing/2014/main" id="{48603A61-1248-D72F-06A1-BE94615EBD7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5" name="矩形 14">
              <a:extLst>
                <a:ext uri="{FF2B5EF4-FFF2-40B4-BE49-F238E27FC236}">
                  <a16:creationId xmlns:a16="http://schemas.microsoft.com/office/drawing/2014/main" id="{3FEF0EB5-672E-3BB2-721A-2016318CD784}"/>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9" name="矩形 18">
              <a:extLst>
                <a:ext uri="{FF2B5EF4-FFF2-40B4-BE49-F238E27FC236}">
                  <a16:creationId xmlns:a16="http://schemas.microsoft.com/office/drawing/2014/main" id="{BBFAF365-9E84-DA54-244C-82A2A3EA6108}"/>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20" name="直接连接符 19">
              <a:extLst>
                <a:ext uri="{FF2B5EF4-FFF2-40B4-BE49-F238E27FC236}">
                  <a16:creationId xmlns:a16="http://schemas.microsoft.com/office/drawing/2014/main" id="{A4FAE7D1-E3F4-F6A7-48F0-D2FA3240F1AF}"/>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5590C524-0404-1B69-ACC0-85B79DD6710C}"/>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72167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a:extLst>
              <a:ext uri="{FF2B5EF4-FFF2-40B4-BE49-F238E27FC236}">
                <a16:creationId xmlns:a16="http://schemas.microsoft.com/office/drawing/2014/main" id="{49805558-8EF3-647B-DFFF-26B4B04AE43E}"/>
              </a:ext>
            </a:extLst>
          </p:cNvPr>
          <p:cNvGrpSpPr/>
          <p:nvPr/>
        </p:nvGrpSpPr>
        <p:grpSpPr>
          <a:xfrm>
            <a:off x="5273195" y="794872"/>
            <a:ext cx="6918806" cy="6063130"/>
            <a:chOff x="2175164" y="1368236"/>
            <a:chExt cx="5591243" cy="4899752"/>
          </a:xfrm>
        </p:grpSpPr>
        <p:pic>
          <p:nvPicPr>
            <p:cNvPr id="17" name="Picture 2">
              <a:extLst>
                <a:ext uri="{FF2B5EF4-FFF2-40B4-BE49-F238E27FC236}">
                  <a16:creationId xmlns:a16="http://schemas.microsoft.com/office/drawing/2014/main" id="{5122E9BB-7A8D-A1A7-DB7D-4EC87A31C0BF}"/>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BDDCBAD0-1F6B-423A-B36E-CEDB9121072E}"/>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9166F581-4853-1FFC-BE78-2BB408017822}"/>
              </a:ext>
            </a:extLst>
          </p:cNvPr>
          <p:cNvSpPr>
            <a:spLocks noGrp="1"/>
          </p:cNvSpPr>
          <p:nvPr>
            <p:ph type="title"/>
          </p:nvPr>
        </p:nvSpPr>
        <p:spPr>
          <a:xfrm>
            <a:off x="366944" y="793865"/>
            <a:ext cx="8534400" cy="948560"/>
          </a:xfrm>
        </p:spPr>
        <p:txBody>
          <a:bodyPr>
            <a:normAutofit/>
          </a:bodyPr>
          <a:lstStyle/>
          <a:p>
            <a:r>
              <a:rPr lang="zh-CN" altLang="en-US" dirty="0">
                <a:solidFill>
                  <a:srgbClr val="305598"/>
                </a:solidFill>
                <a:latin typeface="方正综艺简体" panose="03000509000000000000" pitchFamily="65" charset="-122"/>
                <a:ea typeface="方正综艺简体" panose="03000509000000000000" pitchFamily="65" charset="-122"/>
              </a:rPr>
              <a:t>训练方法</a:t>
            </a:r>
          </a:p>
        </p:txBody>
      </p:sp>
      <p:sp>
        <p:nvSpPr>
          <p:cNvPr id="3" name="文本框 2">
            <a:extLst>
              <a:ext uri="{FF2B5EF4-FFF2-40B4-BE49-F238E27FC236}">
                <a16:creationId xmlns:a16="http://schemas.microsoft.com/office/drawing/2014/main" id="{07ED2732-9025-5B14-0EBE-B5477D4A379B}"/>
              </a:ext>
            </a:extLst>
          </p:cNvPr>
          <p:cNvSpPr txBox="1"/>
          <p:nvPr/>
        </p:nvSpPr>
        <p:spPr>
          <a:xfrm>
            <a:off x="366944" y="1620832"/>
            <a:ext cx="7562609" cy="2850909"/>
          </a:xfrm>
          <a:prstGeom prst="rect">
            <a:avLst/>
          </a:prstGeom>
          <a:noFill/>
        </p:spPr>
        <p:txBody>
          <a:bodyPr wrap="square" rtlCol="0">
            <a:spAutoFit/>
          </a:bodyPr>
          <a:lstStyle/>
          <a:p>
            <a:r>
              <a:rPr lang="zh-CN" altLang="en-US" sz="2000" dirty="0">
                <a:solidFill>
                  <a:srgbClr val="355EA9"/>
                </a:solidFill>
                <a:latin typeface="方正综艺简体" panose="03000509000000000000" pitchFamily="65" charset="-122"/>
                <a:ea typeface="方正综艺简体" panose="03000509000000000000" pitchFamily="65" charset="-122"/>
                <a:cs typeface="+mj-cs"/>
              </a:rPr>
              <a:t>个人训练</a:t>
            </a:r>
            <a:endParaRPr lang="en-US" altLang="zh-CN" sz="2000" dirty="0">
              <a:solidFill>
                <a:srgbClr val="355EA9"/>
              </a:solidFill>
              <a:latin typeface="方正综艺简体" panose="03000509000000000000" pitchFamily="65" charset="-122"/>
              <a:ea typeface="方正综艺简体" panose="03000509000000000000" pitchFamily="65" charset="-122"/>
              <a:cs typeface="+mj-cs"/>
            </a:endParaRPr>
          </a:p>
          <a:p>
            <a:pPr marL="285750" indent="-285750">
              <a:lnSpc>
                <a:spcPct val="150000"/>
              </a:lnSpc>
              <a:buFont typeface="Arial" panose="020B0604020202020204" pitchFamily="34" charset="0"/>
              <a:buChar char="•"/>
            </a:pPr>
            <a:r>
              <a:rPr lang="zh-CN" altLang="en-US" dirty="0"/>
              <a:t>一开始入门时主要是自己看书</a:t>
            </a:r>
            <a:r>
              <a:rPr lang="en-US" altLang="zh-CN" dirty="0"/>
              <a:t>/</a:t>
            </a:r>
            <a:r>
              <a:rPr lang="zh-CN" altLang="en-US" dirty="0"/>
              <a:t>听课学习基础知识，熟悉到一定程度之后就可以开始系统的训练（学</a:t>
            </a:r>
            <a:r>
              <a:rPr lang="en-US" altLang="zh-CN" dirty="0"/>
              <a:t>+</a:t>
            </a:r>
            <a:r>
              <a:rPr lang="zh-CN" altLang="en-US" dirty="0"/>
              <a:t>练）。</a:t>
            </a:r>
            <a:endParaRPr lang="en-US" altLang="zh-CN" dirty="0"/>
          </a:p>
          <a:p>
            <a:pPr marL="285750" indent="-285750">
              <a:lnSpc>
                <a:spcPct val="150000"/>
              </a:lnSpc>
              <a:buFont typeface="Arial" panose="020B0604020202020204" pitchFamily="34" charset="0"/>
              <a:buChar char="•"/>
            </a:pPr>
            <a:r>
              <a:rPr lang="zh-CN" altLang="en-US" dirty="0"/>
              <a:t>每次新学到知识点，需要在</a:t>
            </a:r>
            <a:r>
              <a:rPr lang="en-US" altLang="zh-CN" dirty="0"/>
              <a:t>OJ</a:t>
            </a:r>
            <a:r>
              <a:rPr lang="zh-CN" altLang="en-US" dirty="0"/>
              <a:t>（在线评测系统）上刷题练习进行巩固，很多时候不是知识点不会，而是不知道如何应用。</a:t>
            </a:r>
            <a:endParaRPr lang="en-US" altLang="zh-CN" dirty="0"/>
          </a:p>
          <a:p>
            <a:pPr marL="285750" indent="-285750">
              <a:lnSpc>
                <a:spcPct val="150000"/>
              </a:lnSpc>
              <a:buFont typeface="Arial" panose="020B0604020202020204" pitchFamily="34" charset="0"/>
              <a:buChar char="•"/>
            </a:pPr>
            <a:r>
              <a:rPr lang="zh-CN" altLang="en-US" dirty="0"/>
              <a:t>当把算法基础打好后就可以开始参加一些网站上举办的比赛来检验自己的成果，同时也是进一步的提高自己的水平。</a:t>
            </a:r>
            <a:endParaRPr lang="en-US" altLang="zh-CN" dirty="0"/>
          </a:p>
        </p:txBody>
      </p:sp>
      <p:pic>
        <p:nvPicPr>
          <p:cNvPr id="5" name="图片 4">
            <a:extLst>
              <a:ext uri="{FF2B5EF4-FFF2-40B4-BE49-F238E27FC236}">
                <a16:creationId xmlns:a16="http://schemas.microsoft.com/office/drawing/2014/main" id="{17F988A2-BC09-B997-2A47-A9169ED8C4C9}"/>
              </a:ext>
            </a:extLst>
          </p:cNvPr>
          <p:cNvPicPr>
            <a:picLocks noChangeAspect="1"/>
          </p:cNvPicPr>
          <p:nvPr/>
        </p:nvPicPr>
        <p:blipFill>
          <a:blip r:embed="rId4"/>
          <a:stretch>
            <a:fillRect/>
          </a:stretch>
        </p:blipFill>
        <p:spPr>
          <a:xfrm>
            <a:off x="10192996" y="1073878"/>
            <a:ext cx="1811649" cy="2719473"/>
          </a:xfrm>
          <a:prstGeom prst="rect">
            <a:avLst/>
          </a:prstGeom>
        </p:spPr>
      </p:pic>
      <p:pic>
        <p:nvPicPr>
          <p:cNvPr id="7" name="图片 6">
            <a:extLst>
              <a:ext uri="{FF2B5EF4-FFF2-40B4-BE49-F238E27FC236}">
                <a16:creationId xmlns:a16="http://schemas.microsoft.com/office/drawing/2014/main" id="{7304242E-35A2-59B5-0AAD-6560F3853F0A}"/>
              </a:ext>
            </a:extLst>
          </p:cNvPr>
          <p:cNvPicPr>
            <a:picLocks noChangeAspect="1"/>
          </p:cNvPicPr>
          <p:nvPr/>
        </p:nvPicPr>
        <p:blipFill>
          <a:blip r:embed="rId5"/>
          <a:stretch>
            <a:fillRect/>
          </a:stretch>
        </p:blipFill>
        <p:spPr>
          <a:xfrm>
            <a:off x="8018400" y="1073879"/>
            <a:ext cx="2085749" cy="2664278"/>
          </a:xfrm>
          <a:prstGeom prst="rect">
            <a:avLst/>
          </a:prstGeom>
        </p:spPr>
      </p:pic>
      <p:sp>
        <p:nvSpPr>
          <p:cNvPr id="8" name="文本框 7">
            <a:extLst>
              <a:ext uri="{FF2B5EF4-FFF2-40B4-BE49-F238E27FC236}">
                <a16:creationId xmlns:a16="http://schemas.microsoft.com/office/drawing/2014/main" id="{CB07AFB7-6306-138B-DD6C-D8E656743486}"/>
              </a:ext>
            </a:extLst>
          </p:cNvPr>
          <p:cNvSpPr txBox="1"/>
          <p:nvPr/>
        </p:nvSpPr>
        <p:spPr>
          <a:xfrm>
            <a:off x="8901344" y="3811582"/>
            <a:ext cx="2262158" cy="369332"/>
          </a:xfrm>
          <a:prstGeom prst="rect">
            <a:avLst/>
          </a:prstGeom>
          <a:noFill/>
        </p:spPr>
        <p:txBody>
          <a:bodyPr wrap="none" rtlCol="0">
            <a:spAutoFit/>
          </a:bodyPr>
          <a:lstStyle/>
          <a:p>
            <a:r>
              <a:rPr lang="zh-CN" altLang="en-US" dirty="0">
                <a:solidFill>
                  <a:schemeClr val="tx1">
                    <a:lumMod val="50000"/>
                    <a:lumOff val="50000"/>
                  </a:schemeClr>
                </a:solidFill>
                <a:latin typeface="华文楷体" panose="02010600040101010101" pitchFamily="2" charset="-122"/>
                <a:ea typeface="华文楷体" panose="02010600040101010101" pitchFamily="2" charset="-122"/>
              </a:rPr>
              <a:t>我初学时看的两本书</a:t>
            </a:r>
          </a:p>
        </p:txBody>
      </p:sp>
      <p:sp>
        <p:nvSpPr>
          <p:cNvPr id="12" name="文本框 11">
            <a:extLst>
              <a:ext uri="{FF2B5EF4-FFF2-40B4-BE49-F238E27FC236}">
                <a16:creationId xmlns:a16="http://schemas.microsoft.com/office/drawing/2014/main" id="{E3116D57-B5F1-8C4B-A39D-2D3959783F80}"/>
              </a:ext>
            </a:extLst>
          </p:cNvPr>
          <p:cNvSpPr txBox="1"/>
          <p:nvPr/>
        </p:nvSpPr>
        <p:spPr>
          <a:xfrm>
            <a:off x="366944" y="4564117"/>
            <a:ext cx="11149444" cy="1754326"/>
          </a:xfrm>
          <a:prstGeom prst="rect">
            <a:avLst/>
          </a:prstGeom>
          <a:noFill/>
        </p:spPr>
        <p:txBody>
          <a:bodyPr wrap="square">
            <a:spAutoFit/>
          </a:bodyPr>
          <a:lstStyle/>
          <a:p>
            <a:pPr marL="285750" indent="-285750">
              <a:buFont typeface="Arial" panose="020B0604020202020204" pitchFamily="34" charset="0"/>
              <a:buChar char="•"/>
            </a:pPr>
            <a:r>
              <a:rPr lang="zh-CN" altLang="en-US" b="1" dirty="0"/>
              <a:t>书籍：</a:t>
            </a:r>
            <a:r>
              <a:rPr lang="en-US" altLang="zh-CN" dirty="0"/>
              <a:t>《</a:t>
            </a:r>
            <a:r>
              <a:rPr lang="zh-CN" altLang="en-US" dirty="0"/>
              <a:t>挑战程序设计竞赛</a:t>
            </a:r>
            <a:r>
              <a:rPr lang="en-US" altLang="zh-CN" dirty="0"/>
              <a:t>》</a:t>
            </a:r>
            <a:r>
              <a:rPr lang="zh-CN" altLang="en-US" dirty="0"/>
              <a:t>、</a:t>
            </a:r>
            <a:r>
              <a:rPr lang="en-US" altLang="zh-CN" dirty="0"/>
              <a:t>《</a:t>
            </a:r>
            <a:r>
              <a:rPr lang="zh-CN" altLang="en-US" dirty="0"/>
              <a:t>算法竞赛入门经典</a:t>
            </a:r>
            <a:r>
              <a:rPr lang="en-US" altLang="zh-CN" dirty="0"/>
              <a:t>》…</a:t>
            </a:r>
          </a:p>
          <a:p>
            <a:endParaRPr lang="en-US" altLang="zh-CN" dirty="0"/>
          </a:p>
          <a:p>
            <a:pPr marL="285750" indent="-285750">
              <a:buFont typeface="Arial" panose="020B0604020202020204" pitchFamily="34" charset="0"/>
              <a:buChar char="•"/>
            </a:pPr>
            <a:r>
              <a:rPr lang="en-US" altLang="zh-CN" b="1" dirty="0"/>
              <a:t>OJ</a:t>
            </a:r>
            <a:r>
              <a:rPr lang="zh-CN" altLang="en-US" b="1" dirty="0"/>
              <a:t>：</a:t>
            </a:r>
            <a:endParaRPr lang="en-US" altLang="zh-CN" b="1" dirty="0"/>
          </a:p>
          <a:p>
            <a:r>
              <a:rPr lang="zh-CN" altLang="en-US" dirty="0"/>
              <a:t>洛谷（入门）  </a:t>
            </a:r>
            <a:r>
              <a:rPr lang="en-US" altLang="zh-CN" dirty="0">
                <a:hlinkClick r:id="rId6">
                  <a:extLst>
                    <a:ext uri="{A12FA001-AC4F-418D-AE19-62706E023703}">
                      <ahyp:hlinkClr xmlns:ahyp="http://schemas.microsoft.com/office/drawing/2018/hyperlinkcolor" val="tx"/>
                    </a:ext>
                  </a:extLst>
                </a:hlinkClick>
              </a:rPr>
              <a:t>https://www.luogu.com.cn/</a:t>
            </a:r>
            <a:r>
              <a:rPr lang="en-US" altLang="zh-CN" dirty="0"/>
              <a:t>  </a:t>
            </a:r>
            <a:r>
              <a:rPr lang="zh-CN" altLang="en-US" dirty="0"/>
              <a:t>、牛客竞赛 </a:t>
            </a:r>
            <a:r>
              <a:rPr lang="en-US" altLang="zh-CN" dirty="0"/>
              <a:t>https://ac.nowcoder.com/</a:t>
            </a:r>
          </a:p>
          <a:p>
            <a:r>
              <a:rPr lang="en-US" altLang="zh-CN" dirty="0" err="1"/>
              <a:t>Codeforces</a:t>
            </a:r>
            <a:r>
              <a:rPr lang="zh-CN" altLang="en-US" dirty="0"/>
              <a:t>（进阶）</a:t>
            </a:r>
            <a:r>
              <a:rPr lang="en-US" altLang="zh-CN" dirty="0"/>
              <a:t> </a:t>
            </a:r>
            <a:r>
              <a:rPr lang="en-US" altLang="zh-CN" dirty="0">
                <a:hlinkClick r:id="rId7">
                  <a:extLst>
                    <a:ext uri="{A12FA001-AC4F-418D-AE19-62706E023703}">
                      <ahyp:hlinkClr xmlns:ahyp="http://schemas.microsoft.com/office/drawing/2018/hyperlinkcolor" val="tx"/>
                    </a:ext>
                  </a:extLst>
                </a:hlinkClick>
              </a:rPr>
              <a:t>https://codeforces.com/</a:t>
            </a:r>
            <a:r>
              <a:rPr lang="en-US" altLang="zh-CN" dirty="0"/>
              <a:t> </a:t>
            </a:r>
            <a:r>
              <a:rPr lang="zh-CN" altLang="en-US" dirty="0"/>
              <a:t>、 </a:t>
            </a:r>
            <a:r>
              <a:rPr lang="en-US" altLang="zh-CN" dirty="0" err="1"/>
              <a:t>Atcoder</a:t>
            </a:r>
            <a:r>
              <a:rPr lang="zh-CN" altLang="en-US" dirty="0"/>
              <a:t> </a:t>
            </a:r>
            <a:r>
              <a:rPr lang="en-US" altLang="zh-CN" dirty="0">
                <a:hlinkClick r:id="rId8">
                  <a:extLst>
                    <a:ext uri="{A12FA001-AC4F-418D-AE19-62706E023703}">
                      <ahyp:hlinkClr xmlns:ahyp="http://schemas.microsoft.com/office/drawing/2018/hyperlinkcolor" val="tx"/>
                    </a:ext>
                  </a:extLst>
                </a:hlinkClick>
              </a:rPr>
              <a:t>https://atcoder.jp/</a:t>
            </a:r>
            <a:endParaRPr lang="en-US" altLang="zh-CN" dirty="0"/>
          </a:p>
          <a:p>
            <a:r>
              <a:rPr lang="en-US" altLang="zh-CN" dirty="0"/>
              <a:t>…</a:t>
            </a:r>
          </a:p>
        </p:txBody>
      </p:sp>
      <p:grpSp>
        <p:nvGrpSpPr>
          <p:cNvPr id="11" name="组合 10">
            <a:extLst>
              <a:ext uri="{FF2B5EF4-FFF2-40B4-BE49-F238E27FC236}">
                <a16:creationId xmlns:a16="http://schemas.microsoft.com/office/drawing/2014/main" id="{B848B2CA-3770-BAC4-8B59-642D6A8A2D63}"/>
              </a:ext>
            </a:extLst>
          </p:cNvPr>
          <p:cNvGrpSpPr/>
          <p:nvPr/>
        </p:nvGrpSpPr>
        <p:grpSpPr>
          <a:xfrm>
            <a:off x="119449" y="136880"/>
            <a:ext cx="12072071" cy="6435559"/>
            <a:chOff x="119449" y="136880"/>
            <a:chExt cx="12072071" cy="6435559"/>
          </a:xfrm>
        </p:grpSpPr>
        <p:pic>
          <p:nvPicPr>
            <p:cNvPr id="13" name="图片 12">
              <a:extLst>
                <a:ext uri="{FF2B5EF4-FFF2-40B4-BE49-F238E27FC236}">
                  <a16:creationId xmlns:a16="http://schemas.microsoft.com/office/drawing/2014/main" id="{07822285-36AE-9AC9-CD16-F5B9DB87DFF1}"/>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4" name="矩形 13">
              <a:extLst>
                <a:ext uri="{FF2B5EF4-FFF2-40B4-BE49-F238E27FC236}">
                  <a16:creationId xmlns:a16="http://schemas.microsoft.com/office/drawing/2014/main" id="{FA593868-E811-89F2-1885-72F300A323A3}"/>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5" name="矩形 14">
              <a:extLst>
                <a:ext uri="{FF2B5EF4-FFF2-40B4-BE49-F238E27FC236}">
                  <a16:creationId xmlns:a16="http://schemas.microsoft.com/office/drawing/2014/main" id="{4A919591-3A3B-AF18-FF61-F626B036244F}"/>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a:extLst>
                <a:ext uri="{FF2B5EF4-FFF2-40B4-BE49-F238E27FC236}">
                  <a16:creationId xmlns:a16="http://schemas.microsoft.com/office/drawing/2014/main" id="{FCA727C4-7622-35C3-9E4B-A4F67C1C4C76}"/>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F2F1F61B-C345-8C82-8118-3608989C155D}"/>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50063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37369216-1F22-C166-2123-CC5EF4566E6D}"/>
              </a:ext>
            </a:extLst>
          </p:cNvPr>
          <p:cNvGrpSpPr/>
          <p:nvPr/>
        </p:nvGrpSpPr>
        <p:grpSpPr>
          <a:xfrm>
            <a:off x="5273195" y="794872"/>
            <a:ext cx="6918806" cy="6063130"/>
            <a:chOff x="2175164" y="1368236"/>
            <a:chExt cx="5591243" cy="4899752"/>
          </a:xfrm>
        </p:grpSpPr>
        <p:pic>
          <p:nvPicPr>
            <p:cNvPr id="12" name="Picture 2">
              <a:extLst>
                <a:ext uri="{FF2B5EF4-FFF2-40B4-BE49-F238E27FC236}">
                  <a16:creationId xmlns:a16="http://schemas.microsoft.com/office/drawing/2014/main" id="{BB4C5EDA-9DBE-3AB1-3C87-AC93F3448E14}"/>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a:extLst>
                <a:ext uri="{FF2B5EF4-FFF2-40B4-BE49-F238E27FC236}">
                  <a16:creationId xmlns:a16="http://schemas.microsoft.com/office/drawing/2014/main" id="{72F84E23-E516-F710-1FDD-2A0907EB69ED}"/>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9166F581-4853-1FFC-BE78-2BB408017822}"/>
              </a:ext>
            </a:extLst>
          </p:cNvPr>
          <p:cNvSpPr>
            <a:spLocks noGrp="1"/>
          </p:cNvSpPr>
          <p:nvPr>
            <p:ph type="title"/>
          </p:nvPr>
        </p:nvSpPr>
        <p:spPr>
          <a:xfrm>
            <a:off x="329172" y="816904"/>
            <a:ext cx="8534400" cy="913923"/>
          </a:xfrm>
        </p:spPr>
        <p:txBody>
          <a:bodyPr>
            <a:normAutofit/>
          </a:bodyPr>
          <a:lstStyle/>
          <a:p>
            <a:r>
              <a:rPr lang="zh-CN" altLang="en-US" dirty="0">
                <a:solidFill>
                  <a:srgbClr val="305598"/>
                </a:solidFill>
                <a:latin typeface="方正综艺简体" panose="03000509000000000000" pitchFamily="65" charset="-122"/>
                <a:ea typeface="方正综艺简体" panose="03000509000000000000" pitchFamily="65" charset="-122"/>
              </a:rPr>
              <a:t>训练方法</a:t>
            </a:r>
          </a:p>
        </p:txBody>
      </p:sp>
      <p:sp>
        <p:nvSpPr>
          <p:cNvPr id="3" name="文本框 2">
            <a:extLst>
              <a:ext uri="{FF2B5EF4-FFF2-40B4-BE49-F238E27FC236}">
                <a16:creationId xmlns:a16="http://schemas.microsoft.com/office/drawing/2014/main" id="{07ED2732-9025-5B14-0EBE-B5477D4A379B}"/>
              </a:ext>
            </a:extLst>
          </p:cNvPr>
          <p:cNvSpPr txBox="1"/>
          <p:nvPr/>
        </p:nvSpPr>
        <p:spPr>
          <a:xfrm>
            <a:off x="384901" y="1730827"/>
            <a:ext cx="8263801" cy="3970318"/>
          </a:xfrm>
          <a:prstGeom prst="rect">
            <a:avLst/>
          </a:prstGeom>
          <a:noFill/>
        </p:spPr>
        <p:txBody>
          <a:bodyPr wrap="none" rtlCol="0">
            <a:spAutoFit/>
          </a:bodyPr>
          <a:lstStyle/>
          <a:p>
            <a:r>
              <a:rPr lang="zh-CN" altLang="en-US" sz="2000" dirty="0">
                <a:solidFill>
                  <a:srgbClr val="355EA9"/>
                </a:solidFill>
                <a:latin typeface="方正综艺简体" panose="03000509000000000000" pitchFamily="65" charset="-122"/>
                <a:ea typeface="方正综艺简体" panose="03000509000000000000" pitchFamily="65" charset="-122"/>
                <a:cs typeface="+mj-cs"/>
              </a:rPr>
              <a:t>团队训练</a:t>
            </a:r>
            <a:endParaRPr lang="en-US" altLang="zh-CN" sz="2000" dirty="0">
              <a:solidFill>
                <a:srgbClr val="355EA9"/>
              </a:solidFill>
              <a:latin typeface="方正综艺简体" panose="03000509000000000000" pitchFamily="65" charset="-122"/>
              <a:ea typeface="方正综艺简体" panose="03000509000000000000" pitchFamily="65" charset="-122"/>
              <a:cs typeface="+mj-cs"/>
            </a:endParaRPr>
          </a:p>
          <a:p>
            <a:endParaRPr lang="en-US" altLang="zh-CN" dirty="0"/>
          </a:p>
          <a:p>
            <a:r>
              <a:rPr lang="zh-CN" altLang="en-US" dirty="0"/>
              <a:t>由于</a:t>
            </a:r>
            <a:r>
              <a:rPr lang="en-US" altLang="zh-CN" dirty="0"/>
              <a:t>ICPC/CCPC</a:t>
            </a:r>
            <a:r>
              <a:rPr lang="zh-CN" altLang="en-US" dirty="0"/>
              <a:t>的区域赛是三人一队参赛的，所以如果想要参加区域赛就需</a:t>
            </a:r>
            <a:endParaRPr lang="en-US" altLang="zh-CN" dirty="0"/>
          </a:p>
          <a:p>
            <a:r>
              <a:rPr lang="zh-CN" altLang="en-US" dirty="0"/>
              <a:t>要找队友组队。</a:t>
            </a:r>
            <a:endParaRPr lang="en-US" altLang="zh-CN" dirty="0"/>
          </a:p>
          <a:p>
            <a:endParaRPr lang="en-US" altLang="zh-CN" dirty="0"/>
          </a:p>
          <a:p>
            <a:r>
              <a:rPr lang="zh-CN" altLang="en-US" dirty="0"/>
              <a:t>组队后的团队训练是很有必要的，如果一个队伍队员之间不能进行合理的沟通，</a:t>
            </a:r>
            <a:endParaRPr lang="en-US" altLang="zh-CN" dirty="0"/>
          </a:p>
          <a:p>
            <a:r>
              <a:rPr lang="zh-CN" altLang="en-US" dirty="0"/>
              <a:t>是很有可能出现“</a:t>
            </a:r>
            <a:r>
              <a:rPr lang="en-US" altLang="zh-CN" dirty="0"/>
              <a:t>3 &lt; 1</a:t>
            </a:r>
            <a:r>
              <a:rPr lang="zh-CN" altLang="en-US" dirty="0"/>
              <a:t>”的现象的。</a:t>
            </a:r>
            <a:endParaRPr lang="en-US" altLang="zh-CN" dirty="0"/>
          </a:p>
          <a:p>
            <a:endParaRPr lang="en-US" altLang="zh-CN" dirty="0"/>
          </a:p>
          <a:p>
            <a:r>
              <a:rPr lang="zh-CN" altLang="en-US" dirty="0"/>
              <a:t>由于程序设计竞赛知识体系非常庞大，一个人掌握全部知识点是不太现实的。</a:t>
            </a:r>
            <a:endParaRPr lang="en-US" altLang="zh-CN" dirty="0"/>
          </a:p>
          <a:p>
            <a:r>
              <a:rPr lang="zh-CN" altLang="en-US" dirty="0"/>
              <a:t>所以在组队后，队员间要尽早对知识点进行分配，哪个人主要负责哪些方向</a:t>
            </a:r>
            <a:endParaRPr lang="en-US" altLang="zh-CN" dirty="0"/>
          </a:p>
          <a:p>
            <a:r>
              <a:rPr lang="zh-CN" altLang="en-US" dirty="0"/>
              <a:t>（比如数据结构、图论、数论、计算几何等等）。</a:t>
            </a:r>
            <a:endParaRPr lang="en-US" altLang="zh-CN" dirty="0"/>
          </a:p>
          <a:p>
            <a:endParaRPr lang="en-US" altLang="zh-CN" dirty="0"/>
          </a:p>
          <a:p>
            <a:r>
              <a:rPr lang="zh-CN" altLang="en-US" dirty="0"/>
              <a:t>团队成型后训练主要以一起打模拟比赛为主，培养队友之间的默契，一起努力</a:t>
            </a:r>
            <a:endParaRPr lang="en-US" altLang="zh-CN" dirty="0"/>
          </a:p>
          <a:p>
            <a:r>
              <a:rPr lang="zh-CN" altLang="en-US" dirty="0"/>
              <a:t>提高水平。</a:t>
            </a:r>
            <a:endParaRPr lang="en-US" altLang="zh-CN" dirty="0"/>
          </a:p>
        </p:txBody>
      </p:sp>
      <p:grpSp>
        <p:nvGrpSpPr>
          <p:cNvPr id="8" name="组合 7">
            <a:extLst>
              <a:ext uri="{FF2B5EF4-FFF2-40B4-BE49-F238E27FC236}">
                <a16:creationId xmlns:a16="http://schemas.microsoft.com/office/drawing/2014/main" id="{8ED6E891-5B45-5B60-9D4F-32879E4D397C}"/>
              </a:ext>
            </a:extLst>
          </p:cNvPr>
          <p:cNvGrpSpPr/>
          <p:nvPr/>
        </p:nvGrpSpPr>
        <p:grpSpPr>
          <a:xfrm>
            <a:off x="119449" y="136880"/>
            <a:ext cx="12072071" cy="6435559"/>
            <a:chOff x="119449" y="136880"/>
            <a:chExt cx="12072071" cy="6435559"/>
          </a:xfrm>
        </p:grpSpPr>
        <p:pic>
          <p:nvPicPr>
            <p:cNvPr id="9" name="图片 8">
              <a:extLst>
                <a:ext uri="{FF2B5EF4-FFF2-40B4-BE49-F238E27FC236}">
                  <a16:creationId xmlns:a16="http://schemas.microsoft.com/office/drawing/2014/main" id="{7B83B19C-1D6A-13EF-969A-9451D66D233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0" name="矩形 9">
              <a:extLst>
                <a:ext uri="{FF2B5EF4-FFF2-40B4-BE49-F238E27FC236}">
                  <a16:creationId xmlns:a16="http://schemas.microsoft.com/office/drawing/2014/main" id="{E25C2FC8-91BA-41D5-F0E2-73729BA64588}"/>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4" name="矩形 13">
              <a:extLst>
                <a:ext uri="{FF2B5EF4-FFF2-40B4-BE49-F238E27FC236}">
                  <a16:creationId xmlns:a16="http://schemas.microsoft.com/office/drawing/2014/main" id="{C0422777-7C63-2642-7A10-A9951D30013C}"/>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5" name="直接连接符 14">
              <a:extLst>
                <a:ext uri="{FF2B5EF4-FFF2-40B4-BE49-F238E27FC236}">
                  <a16:creationId xmlns:a16="http://schemas.microsoft.com/office/drawing/2014/main" id="{F130CF1E-8373-B8E7-937F-804B6BCF229C}"/>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F82777EF-2AE9-B9B7-3639-2FFC5EE309CF}"/>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4070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1E288D5E-C98D-9FCD-2FF7-10D866A6398C}"/>
              </a:ext>
            </a:extLst>
          </p:cNvPr>
          <p:cNvGrpSpPr/>
          <p:nvPr/>
        </p:nvGrpSpPr>
        <p:grpSpPr>
          <a:xfrm>
            <a:off x="5273195" y="794872"/>
            <a:ext cx="6918806" cy="6063130"/>
            <a:chOff x="2175164" y="1368236"/>
            <a:chExt cx="5591243" cy="4899752"/>
          </a:xfrm>
        </p:grpSpPr>
        <p:pic>
          <p:nvPicPr>
            <p:cNvPr id="9" name="Picture 2">
              <a:extLst>
                <a:ext uri="{FF2B5EF4-FFF2-40B4-BE49-F238E27FC236}">
                  <a16:creationId xmlns:a16="http://schemas.microsoft.com/office/drawing/2014/main" id="{0911FF3E-465B-14C5-11BD-8733B9775EE7}"/>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7B36B33A-263E-DF60-E408-1358825AE5A5}"/>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06107CD7-9115-AF7A-2389-81AC425557FD}"/>
              </a:ext>
            </a:extLst>
          </p:cNvPr>
          <p:cNvSpPr>
            <a:spLocks noGrp="1"/>
          </p:cNvSpPr>
          <p:nvPr>
            <p:ph type="title"/>
          </p:nvPr>
        </p:nvSpPr>
        <p:spPr>
          <a:xfrm>
            <a:off x="321371" y="850288"/>
            <a:ext cx="8534400" cy="804163"/>
          </a:xfrm>
        </p:spPr>
        <p:txBody>
          <a:bodyPr>
            <a:normAutofit/>
          </a:bodyPr>
          <a:lstStyle/>
          <a:p>
            <a:r>
              <a:rPr lang="zh-CN" altLang="en-US" dirty="0">
                <a:solidFill>
                  <a:srgbClr val="305598"/>
                </a:solidFill>
                <a:latin typeface="方正综艺简体" panose="03000509000000000000" pitchFamily="65" charset="-122"/>
                <a:ea typeface="方正综艺简体" panose="03000509000000000000" pitchFamily="65" charset="-122"/>
              </a:rPr>
              <a:t>训练时间</a:t>
            </a:r>
          </a:p>
        </p:txBody>
      </p:sp>
      <p:sp>
        <p:nvSpPr>
          <p:cNvPr id="4" name="文本框 3">
            <a:extLst>
              <a:ext uri="{FF2B5EF4-FFF2-40B4-BE49-F238E27FC236}">
                <a16:creationId xmlns:a16="http://schemas.microsoft.com/office/drawing/2014/main" id="{F3487D12-C7DE-CE36-13FC-CCC5C47F0F42}"/>
              </a:ext>
            </a:extLst>
          </p:cNvPr>
          <p:cNvSpPr txBox="1"/>
          <p:nvPr/>
        </p:nvSpPr>
        <p:spPr>
          <a:xfrm>
            <a:off x="321371" y="1742743"/>
            <a:ext cx="8746429" cy="2862322"/>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竞赛的训练时间主要由课余空闲时间和寒暑假组成。</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在校时尽量把握住空闲时间，尤其是在大一，课程压力还比较小的时候，可以多分配一些时间在竞赛学习上。</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如果有意加入校队参加区域赛，一定要好好利用暑假，暑期集训可以说是实力提升最多的时候，也是一个团队在一起打比赛最密集的时候，对于一个队伍来说是很好的磨练机会。</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zh-CN" altLang="en-US" dirty="0"/>
              <a:t>寒假主要是个人训练，训练方法大致相同，尽量能保持每天都有一定的训练量。</a:t>
            </a:r>
            <a:endParaRPr lang="en-US" altLang="zh-CN" dirty="0"/>
          </a:p>
        </p:txBody>
      </p:sp>
      <p:grpSp>
        <p:nvGrpSpPr>
          <p:cNvPr id="11" name="组合 10">
            <a:extLst>
              <a:ext uri="{FF2B5EF4-FFF2-40B4-BE49-F238E27FC236}">
                <a16:creationId xmlns:a16="http://schemas.microsoft.com/office/drawing/2014/main" id="{3B2D9C12-EB92-4C91-468C-E5096108BB4A}"/>
              </a:ext>
            </a:extLst>
          </p:cNvPr>
          <p:cNvGrpSpPr/>
          <p:nvPr/>
        </p:nvGrpSpPr>
        <p:grpSpPr>
          <a:xfrm>
            <a:off x="119449" y="136880"/>
            <a:ext cx="12072071" cy="6435559"/>
            <a:chOff x="119449" y="136880"/>
            <a:chExt cx="12072071" cy="6435559"/>
          </a:xfrm>
        </p:grpSpPr>
        <p:pic>
          <p:nvPicPr>
            <p:cNvPr id="12" name="图片 11">
              <a:extLst>
                <a:ext uri="{FF2B5EF4-FFF2-40B4-BE49-F238E27FC236}">
                  <a16:creationId xmlns:a16="http://schemas.microsoft.com/office/drawing/2014/main" id="{6DBC81CA-5427-B3F9-21CB-8B5FB23E725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3" name="矩形 12">
              <a:extLst>
                <a:ext uri="{FF2B5EF4-FFF2-40B4-BE49-F238E27FC236}">
                  <a16:creationId xmlns:a16="http://schemas.microsoft.com/office/drawing/2014/main" id="{62E0A86D-A599-8E84-9FFA-9B21DD74EDCC}"/>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4" name="矩形 13">
              <a:extLst>
                <a:ext uri="{FF2B5EF4-FFF2-40B4-BE49-F238E27FC236}">
                  <a16:creationId xmlns:a16="http://schemas.microsoft.com/office/drawing/2014/main" id="{689E46E5-BA3B-B641-C109-60299BCBDE84}"/>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5" name="直接连接符 14">
              <a:extLst>
                <a:ext uri="{FF2B5EF4-FFF2-40B4-BE49-F238E27FC236}">
                  <a16:creationId xmlns:a16="http://schemas.microsoft.com/office/drawing/2014/main" id="{72845696-A057-2DCA-0363-26ADAD1B3329}"/>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B94379EA-37F1-B165-C14F-409301F77E71}"/>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46777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CD346387-B9A0-1FCD-ED28-F5EC17BF5700}"/>
              </a:ext>
            </a:extLst>
          </p:cNvPr>
          <p:cNvGrpSpPr/>
          <p:nvPr/>
        </p:nvGrpSpPr>
        <p:grpSpPr>
          <a:xfrm>
            <a:off x="5273195" y="794872"/>
            <a:ext cx="6918806" cy="6063130"/>
            <a:chOff x="2175164" y="1368236"/>
            <a:chExt cx="5591243" cy="4899752"/>
          </a:xfrm>
        </p:grpSpPr>
        <p:pic>
          <p:nvPicPr>
            <p:cNvPr id="10" name="Picture 2">
              <a:extLst>
                <a:ext uri="{FF2B5EF4-FFF2-40B4-BE49-F238E27FC236}">
                  <a16:creationId xmlns:a16="http://schemas.microsoft.com/office/drawing/2014/main" id="{5056AA4C-697D-23B2-398F-FFC02F137666}"/>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11" name="矩形 10">
              <a:extLst>
                <a:ext uri="{FF2B5EF4-FFF2-40B4-BE49-F238E27FC236}">
                  <a16:creationId xmlns:a16="http://schemas.microsoft.com/office/drawing/2014/main" id="{B2634858-AECD-D01C-DEB0-3377837B1BA4}"/>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a:extLst>
              <a:ext uri="{FF2B5EF4-FFF2-40B4-BE49-F238E27FC236}">
                <a16:creationId xmlns:a16="http://schemas.microsoft.com/office/drawing/2014/main" id="{C9DCE884-785B-D21D-84F3-48A306DB01E9}"/>
              </a:ext>
            </a:extLst>
          </p:cNvPr>
          <p:cNvGrpSpPr/>
          <p:nvPr/>
        </p:nvGrpSpPr>
        <p:grpSpPr>
          <a:xfrm>
            <a:off x="119449" y="136880"/>
            <a:ext cx="12072071" cy="6435559"/>
            <a:chOff x="119449" y="136880"/>
            <a:chExt cx="12072071" cy="6435559"/>
          </a:xfrm>
        </p:grpSpPr>
        <p:pic>
          <p:nvPicPr>
            <p:cNvPr id="4" name="图片 3">
              <a:extLst>
                <a:ext uri="{FF2B5EF4-FFF2-40B4-BE49-F238E27FC236}">
                  <a16:creationId xmlns:a16="http://schemas.microsoft.com/office/drawing/2014/main" id="{7F9E11CF-267A-891E-4DD4-741F648C195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5" name="矩形 4">
              <a:extLst>
                <a:ext uri="{FF2B5EF4-FFF2-40B4-BE49-F238E27FC236}">
                  <a16:creationId xmlns:a16="http://schemas.microsoft.com/office/drawing/2014/main" id="{552FA1E6-FB21-1E84-4C53-0E116C424BA4}"/>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6" name="矩形 5">
              <a:extLst>
                <a:ext uri="{FF2B5EF4-FFF2-40B4-BE49-F238E27FC236}">
                  <a16:creationId xmlns:a16="http://schemas.microsoft.com/office/drawing/2014/main" id="{B776D436-62C6-A387-708A-36E83B68C6A2}"/>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7" name="直接连接符 6">
              <a:extLst>
                <a:ext uri="{FF2B5EF4-FFF2-40B4-BE49-F238E27FC236}">
                  <a16:creationId xmlns:a16="http://schemas.microsoft.com/office/drawing/2014/main" id="{732B7242-0FB5-9F15-BDE9-08DB16B09DD2}"/>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C7CE3359-E28B-C83E-DDA2-93A57CD04E5B}"/>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
        <p:nvSpPr>
          <p:cNvPr id="12" name="标题 1">
            <a:extLst>
              <a:ext uri="{FF2B5EF4-FFF2-40B4-BE49-F238E27FC236}">
                <a16:creationId xmlns:a16="http://schemas.microsoft.com/office/drawing/2014/main" id="{04E34AB9-7C30-E84D-6BB1-256FF2FA6877}"/>
              </a:ext>
            </a:extLst>
          </p:cNvPr>
          <p:cNvSpPr txBox="1">
            <a:spLocks/>
          </p:cNvSpPr>
          <p:nvPr/>
        </p:nvSpPr>
        <p:spPr>
          <a:xfrm>
            <a:off x="3517152" y="2957476"/>
            <a:ext cx="5157696" cy="9430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5400" dirty="0">
                <a:solidFill>
                  <a:srgbClr val="305598"/>
                </a:solidFill>
                <a:latin typeface="方正综艺简体" panose="03000509000000000000" pitchFamily="65" charset="-122"/>
                <a:ea typeface="方正综艺简体" panose="03000509000000000000" pitchFamily="65" charset="-122"/>
              </a:rPr>
              <a:t>竞赛基础培训</a:t>
            </a:r>
          </a:p>
        </p:txBody>
      </p:sp>
    </p:spTree>
    <p:extLst>
      <p:ext uri="{BB962C8B-B14F-4D97-AF65-F5344CB8AC3E}">
        <p14:creationId xmlns:p14="http://schemas.microsoft.com/office/powerpoint/2010/main" val="3665129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1785046" y="97808"/>
            <a:ext cx="8719885" cy="762223"/>
          </a:xfrm>
          <a:prstGeom prst="rect">
            <a:avLst/>
          </a:prstGeom>
        </p:spPr>
        <p:txBody>
          <a:bodyPr wrap="square" lIns="91276" tIns="45638" rIns="91276" bIns="45638">
            <a:spAutoFit/>
          </a:bodyPr>
          <a:lstStyle/>
          <a:p>
            <a:pPr>
              <a:defRPr/>
            </a:pPr>
            <a:r>
              <a:rPr lang="zh-CN" altLang="en-US" sz="4354" b="1" dirty="0">
                <a:solidFill>
                  <a:srgbClr val="284C8A"/>
                </a:solidFill>
                <a:latin typeface="+mn-ea"/>
              </a:rPr>
              <a:t>计算机导论与程序设计</a:t>
            </a:r>
            <a:r>
              <a:rPr lang="en-US" altLang="zh-CN" sz="4354" b="1" dirty="0">
                <a:solidFill>
                  <a:srgbClr val="284C8A"/>
                </a:solidFill>
                <a:latin typeface="+mn-ea"/>
              </a:rPr>
              <a:t>—</a:t>
            </a:r>
            <a:r>
              <a:rPr lang="zh-CN" altLang="en-US" sz="4354" b="1" dirty="0">
                <a:solidFill>
                  <a:srgbClr val="284C8A"/>
                </a:solidFill>
                <a:latin typeface="+mn-ea"/>
              </a:rPr>
              <a:t>竞赛扩展</a:t>
            </a:r>
            <a:endParaRPr lang="zh-CN" altLang="en-US" sz="4354" b="1" dirty="0">
              <a:solidFill>
                <a:srgbClr val="284C8A"/>
              </a:solidFill>
              <a:latin typeface="+mn-ea"/>
              <a:sym typeface="inpin heiti" panose="00000500000000000000" pitchFamily="2" charset="-122"/>
            </a:endParaRPr>
          </a:p>
        </p:txBody>
      </p:sp>
      <p:sp>
        <p:nvSpPr>
          <p:cNvPr id="13" name="Rectangle 3"/>
          <p:cNvSpPr txBox="1">
            <a:spLocks noChangeArrowheads="1"/>
          </p:cNvSpPr>
          <p:nvPr/>
        </p:nvSpPr>
        <p:spPr>
          <a:xfrm>
            <a:off x="3009749" y="1077570"/>
            <a:ext cx="6172503" cy="3919050"/>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zh-CN" altLang="en-US" sz="3265" b="1" dirty="0">
                <a:solidFill>
                  <a:srgbClr val="C00000"/>
                </a:solidFill>
                <a:latin typeface="Times New Roman" panose="02020603050405020304" pitchFamily="18" charset="0"/>
                <a:ea typeface="宋体" panose="02010600030101010101" pitchFamily="2" charset="-122"/>
              </a:rPr>
              <a:t>内容：</a:t>
            </a:r>
            <a:endParaRPr lang="zh-CN" altLang="en-US" sz="3265" b="1" dirty="0">
              <a:solidFill>
                <a:srgbClr val="FF0000"/>
              </a:solidFill>
              <a:latin typeface="Times New Roman" panose="02020603050405020304" pitchFamily="18" charset="0"/>
              <a:ea typeface="宋体" panose="02010600030101010101" pitchFamily="2" charset="-122"/>
            </a:endParaRPr>
          </a:p>
          <a:p>
            <a:pPr lvl="1">
              <a:lnSpc>
                <a:spcPct val="150000"/>
              </a:lnSpc>
              <a:spcBef>
                <a:spcPts val="0"/>
              </a:spcBef>
              <a:buNone/>
            </a:pPr>
            <a:r>
              <a:rPr lang="en-US" altLang="zh-CN" sz="2721" b="1" dirty="0">
                <a:latin typeface="Times New Roman" panose="02020603050405020304" pitchFamily="18" charset="0"/>
                <a:ea typeface="宋体" panose="02010600030101010101" pitchFamily="2" charset="-122"/>
              </a:rPr>
              <a:t>1</a:t>
            </a:r>
            <a:r>
              <a:rPr lang="zh-CN" altLang="en-US" sz="2721" b="1" dirty="0">
                <a:latin typeface="Times New Roman" panose="02020603050405020304" pitchFamily="18" charset="0"/>
                <a:ea typeface="宋体" panose="02010600030101010101" pitchFamily="2" charset="-122"/>
              </a:rPr>
              <a:t>. </a:t>
            </a:r>
            <a:r>
              <a:rPr lang="zh-CN" altLang="en-US" sz="2721" b="1" dirty="0">
                <a:latin typeface="Times New Roman" panose="02020603050405020304" pitchFamily="18" charset="0"/>
              </a:rPr>
              <a:t>数据结构基础</a:t>
            </a:r>
            <a:endParaRPr lang="en-US" altLang="zh-CN" sz="2721" b="1" dirty="0">
              <a:latin typeface="Times New Roman" panose="02020603050405020304" pitchFamily="18" charset="0"/>
              <a:ea typeface="宋体" panose="02010600030101010101" pitchFamily="2" charset="-122"/>
            </a:endParaRPr>
          </a:p>
          <a:p>
            <a:pPr lvl="1">
              <a:lnSpc>
                <a:spcPct val="150000"/>
              </a:lnSpc>
              <a:spcBef>
                <a:spcPts val="0"/>
              </a:spcBef>
              <a:buNone/>
            </a:pPr>
            <a:r>
              <a:rPr lang="en-US" altLang="zh-CN" sz="2721" b="1" dirty="0">
                <a:latin typeface="Times New Roman" panose="02020603050405020304" pitchFamily="18" charset="0"/>
                <a:ea typeface="宋体" panose="02010600030101010101" pitchFamily="2" charset="-122"/>
              </a:rPr>
              <a:t>2</a:t>
            </a:r>
            <a:r>
              <a:rPr lang="zh-CN" altLang="en-US" sz="2721" b="1" dirty="0">
                <a:latin typeface="Times New Roman" panose="02020603050405020304" pitchFamily="18" charset="0"/>
                <a:ea typeface="宋体" panose="02010600030101010101" pitchFamily="2" charset="-122"/>
              </a:rPr>
              <a:t>.</a:t>
            </a:r>
            <a:r>
              <a:rPr lang="en-US" altLang="zh-CN" sz="2721" b="1" dirty="0">
                <a:latin typeface="Times New Roman" panose="02020603050405020304" pitchFamily="18" charset="0"/>
                <a:ea typeface="宋体" panose="02010600030101010101" pitchFamily="2" charset="-122"/>
              </a:rPr>
              <a:t> STL</a:t>
            </a:r>
            <a:r>
              <a:rPr lang="zh-CN" altLang="en-US" sz="2721" b="1" dirty="0">
                <a:latin typeface="Times New Roman" panose="02020603050405020304" pitchFamily="18" charset="0"/>
                <a:ea typeface="宋体" panose="02010600030101010101" pitchFamily="2" charset="-122"/>
              </a:rPr>
              <a:t>应用基础</a:t>
            </a:r>
            <a:endParaRPr lang="en-US" altLang="zh-CN" sz="2721" b="1" dirty="0">
              <a:latin typeface="Times New Roman" panose="02020603050405020304" pitchFamily="18" charset="0"/>
              <a:ea typeface="宋体" panose="02010600030101010101" pitchFamily="2" charset="-122"/>
            </a:endParaRPr>
          </a:p>
          <a:p>
            <a:pPr lvl="1">
              <a:lnSpc>
                <a:spcPct val="150000"/>
              </a:lnSpc>
              <a:spcBef>
                <a:spcPts val="0"/>
              </a:spcBef>
              <a:buNone/>
            </a:pPr>
            <a:r>
              <a:rPr lang="en-US" altLang="zh-CN" sz="2721" b="1" dirty="0">
                <a:latin typeface="Times New Roman" panose="02020603050405020304" pitchFamily="18" charset="0"/>
                <a:ea typeface="宋体" panose="02010600030101010101" pitchFamily="2" charset="-122"/>
              </a:rPr>
              <a:t>3. </a:t>
            </a:r>
            <a:r>
              <a:rPr lang="zh-CN" altLang="en-US" sz="2721" b="1" dirty="0">
                <a:latin typeface="Times New Roman" panose="02020603050405020304" pitchFamily="18" charset="0"/>
                <a:ea typeface="宋体" panose="02010600030101010101" pitchFamily="2" charset="-122"/>
              </a:rPr>
              <a:t>算法基础</a:t>
            </a:r>
          </a:p>
        </p:txBody>
      </p:sp>
      <p:pic>
        <p:nvPicPr>
          <p:cNvPr id="18" name="图片 17"/>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9" name="矩形 18"/>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20" name="矩形 19"/>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21" name="直接连接符 20"/>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57C732A-0322-0838-8620-B04D12E95BC3}"/>
              </a:ext>
            </a:extLst>
          </p:cNvPr>
          <p:cNvSpPr txBox="1"/>
          <p:nvPr/>
        </p:nvSpPr>
        <p:spPr>
          <a:xfrm>
            <a:off x="426129" y="363984"/>
            <a:ext cx="4769254" cy="584775"/>
          </a:xfrm>
          <a:prstGeom prst="rect">
            <a:avLst/>
          </a:prstGeom>
          <a:noFill/>
        </p:spPr>
        <p:txBody>
          <a:bodyPr wrap="none" rtlCol="0">
            <a:spAutoFit/>
          </a:bodyPr>
          <a:lstStyle/>
          <a:p>
            <a:r>
              <a:rPr lang="en-US" altLang="zh-CN" dirty="0"/>
              <a:t>2022</a:t>
            </a:r>
            <a:r>
              <a:rPr lang="zh-CN" altLang="en-US" dirty="0"/>
              <a:t>年</a:t>
            </a:r>
            <a:r>
              <a:rPr lang="en-US" altLang="zh-CN" dirty="0"/>
              <a:t>6</a:t>
            </a:r>
            <a:r>
              <a:rPr lang="zh-CN" altLang="en-US" dirty="0"/>
              <a:t>月份</a:t>
            </a:r>
            <a:r>
              <a:rPr lang="en-US" altLang="zh-CN" dirty="0"/>
              <a:t>CSP</a:t>
            </a:r>
            <a:r>
              <a:rPr lang="zh-CN" altLang="en-US" dirty="0"/>
              <a:t>认证第一题 </a:t>
            </a:r>
            <a:r>
              <a:rPr lang="en-US" altLang="zh-CN" dirty="0"/>
              <a:t>——</a:t>
            </a:r>
            <a:r>
              <a:rPr lang="zh-CN" altLang="en-US" dirty="0"/>
              <a:t> 归一化处理</a:t>
            </a:r>
            <a:endParaRPr lang="en-US" altLang="zh-CN" dirty="0"/>
          </a:p>
          <a:p>
            <a:r>
              <a:rPr lang="zh-CN" altLang="en-US" sz="1400" dirty="0"/>
              <a:t>时间限制：</a:t>
            </a:r>
            <a:r>
              <a:rPr lang="en-US" altLang="zh-CN" sz="1400" dirty="0"/>
              <a:t>500ms    </a:t>
            </a:r>
            <a:r>
              <a:rPr lang="zh-CN" altLang="en-US" sz="1400" dirty="0"/>
              <a:t>空间限制：</a:t>
            </a:r>
            <a:r>
              <a:rPr lang="en-US" altLang="zh-CN" sz="1400" dirty="0"/>
              <a:t>512MB</a:t>
            </a:r>
          </a:p>
        </p:txBody>
      </p:sp>
      <p:pic>
        <p:nvPicPr>
          <p:cNvPr id="8" name="图片 7">
            <a:extLst>
              <a:ext uri="{FF2B5EF4-FFF2-40B4-BE49-F238E27FC236}">
                <a16:creationId xmlns:a16="http://schemas.microsoft.com/office/drawing/2014/main" id="{8132CCB1-A468-BB68-FD9F-A63FA04B695A}"/>
              </a:ext>
            </a:extLst>
          </p:cNvPr>
          <p:cNvPicPr>
            <a:picLocks noChangeAspect="1"/>
          </p:cNvPicPr>
          <p:nvPr/>
        </p:nvPicPr>
        <p:blipFill>
          <a:blip r:embed="rId2"/>
          <a:stretch>
            <a:fillRect/>
          </a:stretch>
        </p:blipFill>
        <p:spPr>
          <a:xfrm>
            <a:off x="6640497" y="245733"/>
            <a:ext cx="5188555" cy="6366534"/>
          </a:xfrm>
          <a:prstGeom prst="rect">
            <a:avLst/>
          </a:prstGeom>
        </p:spPr>
      </p:pic>
      <p:pic>
        <p:nvPicPr>
          <p:cNvPr id="10" name="图片 9">
            <a:extLst>
              <a:ext uri="{FF2B5EF4-FFF2-40B4-BE49-F238E27FC236}">
                <a16:creationId xmlns:a16="http://schemas.microsoft.com/office/drawing/2014/main" id="{D6471BC4-E9E3-1102-AB70-914D83A491B5}"/>
              </a:ext>
            </a:extLst>
          </p:cNvPr>
          <p:cNvPicPr>
            <a:picLocks noChangeAspect="1"/>
          </p:cNvPicPr>
          <p:nvPr/>
        </p:nvPicPr>
        <p:blipFill>
          <a:blip r:embed="rId3"/>
          <a:stretch>
            <a:fillRect/>
          </a:stretch>
        </p:blipFill>
        <p:spPr>
          <a:xfrm>
            <a:off x="426129" y="1038337"/>
            <a:ext cx="5440927" cy="5229298"/>
          </a:xfrm>
          <a:prstGeom prst="rect">
            <a:avLst/>
          </a:prstGeom>
        </p:spPr>
      </p:pic>
    </p:spTree>
    <p:extLst>
      <p:ext uri="{BB962C8B-B14F-4D97-AF65-F5344CB8AC3E}">
        <p14:creationId xmlns:p14="http://schemas.microsoft.com/office/powerpoint/2010/main" val="265674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D1C74D6-1DDD-912B-9109-CCDCDA732B75}"/>
              </a:ext>
            </a:extLst>
          </p:cNvPr>
          <p:cNvSpPr txBox="1"/>
          <p:nvPr/>
        </p:nvSpPr>
        <p:spPr>
          <a:xfrm>
            <a:off x="3906175" y="1278384"/>
            <a:ext cx="701336" cy="843379"/>
          </a:xfrm>
          <a:prstGeom prst="rect">
            <a:avLst/>
          </a:prstGeom>
          <a:noFill/>
        </p:spPr>
        <p:txBody>
          <a:bodyPr wrap="square" rtlCol="0">
            <a:spAutoFit/>
          </a:bodyPr>
          <a:lstStyle/>
          <a:p>
            <a:endParaRPr lang="zh-CN" altLang="en-US" dirty="0"/>
          </a:p>
        </p:txBody>
      </p:sp>
      <p:pic>
        <p:nvPicPr>
          <p:cNvPr id="6" name="图片 5">
            <a:extLst>
              <a:ext uri="{FF2B5EF4-FFF2-40B4-BE49-F238E27FC236}">
                <a16:creationId xmlns:a16="http://schemas.microsoft.com/office/drawing/2014/main" id="{219C18DC-76E4-F9A7-6B0C-669EDDB62ADF}"/>
              </a:ext>
            </a:extLst>
          </p:cNvPr>
          <p:cNvPicPr>
            <a:picLocks noChangeAspect="1"/>
          </p:cNvPicPr>
          <p:nvPr/>
        </p:nvPicPr>
        <p:blipFill>
          <a:blip r:embed="rId2"/>
          <a:stretch>
            <a:fillRect/>
          </a:stretch>
        </p:blipFill>
        <p:spPr>
          <a:xfrm>
            <a:off x="7177979" y="1050478"/>
            <a:ext cx="4338246" cy="5058885"/>
          </a:xfrm>
          <a:prstGeom prst="rect">
            <a:avLst/>
          </a:prstGeom>
        </p:spPr>
      </p:pic>
      <p:pic>
        <p:nvPicPr>
          <p:cNvPr id="7" name="图片 6">
            <a:extLst>
              <a:ext uri="{FF2B5EF4-FFF2-40B4-BE49-F238E27FC236}">
                <a16:creationId xmlns:a16="http://schemas.microsoft.com/office/drawing/2014/main" id="{66EA1669-3818-BCCA-7D0B-B07DDD3432DD}"/>
              </a:ext>
            </a:extLst>
          </p:cNvPr>
          <p:cNvPicPr>
            <a:picLocks noChangeAspect="1"/>
          </p:cNvPicPr>
          <p:nvPr/>
        </p:nvPicPr>
        <p:blipFill>
          <a:blip r:embed="rId3"/>
          <a:stretch>
            <a:fillRect/>
          </a:stretch>
        </p:blipFill>
        <p:spPr>
          <a:xfrm>
            <a:off x="823127" y="567820"/>
            <a:ext cx="5440927" cy="5229298"/>
          </a:xfrm>
          <a:prstGeom prst="rect">
            <a:avLst/>
          </a:prstGeom>
        </p:spPr>
      </p:pic>
      <p:sp>
        <p:nvSpPr>
          <p:cNvPr id="8" name="文本框 7">
            <a:extLst>
              <a:ext uri="{FF2B5EF4-FFF2-40B4-BE49-F238E27FC236}">
                <a16:creationId xmlns:a16="http://schemas.microsoft.com/office/drawing/2014/main" id="{46562A78-5875-3735-59D0-C196B36AA4A5}"/>
              </a:ext>
            </a:extLst>
          </p:cNvPr>
          <p:cNvSpPr txBox="1"/>
          <p:nvPr/>
        </p:nvSpPr>
        <p:spPr>
          <a:xfrm>
            <a:off x="7177979" y="563971"/>
            <a:ext cx="1789272" cy="369332"/>
          </a:xfrm>
          <a:prstGeom prst="rect">
            <a:avLst/>
          </a:prstGeom>
          <a:noFill/>
        </p:spPr>
        <p:txBody>
          <a:bodyPr wrap="none" rtlCol="0">
            <a:spAutoFit/>
          </a:bodyPr>
          <a:lstStyle/>
          <a:p>
            <a:r>
              <a:rPr lang="en-US" altLang="zh-CN" dirty="0"/>
              <a:t>C++</a:t>
            </a:r>
            <a:r>
              <a:rPr lang="zh-CN" altLang="en-US" dirty="0"/>
              <a:t>代码实现：</a:t>
            </a:r>
          </a:p>
        </p:txBody>
      </p:sp>
    </p:spTree>
    <p:extLst>
      <p:ext uri="{BB962C8B-B14F-4D97-AF65-F5344CB8AC3E}">
        <p14:creationId xmlns:p14="http://schemas.microsoft.com/office/powerpoint/2010/main" val="597430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22" name="Rectangle 3"/>
          <p:cNvSpPr txBox="1">
            <a:spLocks noChangeArrowheads="1"/>
          </p:cNvSpPr>
          <p:nvPr/>
        </p:nvSpPr>
        <p:spPr>
          <a:xfrm>
            <a:off x="1099212" y="1039245"/>
            <a:ext cx="9405719" cy="4153327"/>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栈（</a:t>
            </a:r>
            <a:r>
              <a:rPr lang="en-US" altLang="zh-CN" sz="2993" b="1" dirty="0">
                <a:latin typeface="Times New Roman" panose="02020603050405020304" pitchFamily="18" charset="0"/>
                <a:cs typeface="Times New Roman" panose="02020603050405020304" pitchFamily="18" charset="0"/>
              </a:rPr>
              <a:t>Stack</a:t>
            </a:r>
            <a:r>
              <a:rPr lang="zh-CN" altLang="en-US" sz="2993" b="1" dirty="0"/>
              <a:t>）</a:t>
            </a:r>
            <a:endParaRPr lang="en-US" altLang="zh-CN" sz="2993" b="1" dirty="0"/>
          </a:p>
          <a:p>
            <a:pPr>
              <a:buFont typeface="Wingdings" panose="05000000000000000000" pitchFamily="2" charset="2"/>
              <a:buChar char="Ø"/>
            </a:pPr>
            <a:r>
              <a:rPr lang="zh-CN" altLang="en-US" sz="2993" b="1" dirty="0"/>
              <a:t>队列</a:t>
            </a:r>
            <a:r>
              <a:rPr lang="zh-CN" altLang="en-US" sz="2993" b="1" dirty="0">
                <a:latin typeface="Times New Roman" panose="02020603050405020304" pitchFamily="18" charset="0"/>
                <a:cs typeface="Times New Roman" panose="02020603050405020304" pitchFamily="18" charset="0"/>
              </a:rPr>
              <a:t>（</a:t>
            </a:r>
            <a:r>
              <a:rPr lang="en-US" altLang="zh-CN" sz="2993" b="1" dirty="0">
                <a:latin typeface="Times New Roman" panose="02020603050405020304" pitchFamily="18" charset="0"/>
                <a:cs typeface="Times New Roman" panose="02020603050405020304" pitchFamily="18" charset="0"/>
              </a:rPr>
              <a:t>Queue</a:t>
            </a:r>
            <a:r>
              <a:rPr lang="zh-CN" altLang="en-US" sz="2993" b="1" dirty="0">
                <a:latin typeface="Times New Roman" panose="02020603050405020304" pitchFamily="18" charset="0"/>
                <a:cs typeface="Times New Roman" panose="02020603050405020304" pitchFamily="18" charset="0"/>
              </a:rPr>
              <a:t>）</a:t>
            </a:r>
            <a:endParaRPr lang="en-US" altLang="zh-CN" sz="2993"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993" b="1" dirty="0">
                <a:latin typeface="Times New Roman" panose="02020603050405020304" pitchFamily="18" charset="0"/>
                <a:cs typeface="Times New Roman" panose="02020603050405020304" pitchFamily="18" charset="0"/>
              </a:rPr>
              <a:t>字符串（</a:t>
            </a:r>
            <a:r>
              <a:rPr lang="en-US" altLang="zh-CN" sz="2993" b="1" dirty="0">
                <a:latin typeface="Times New Roman" panose="02020603050405020304" pitchFamily="18" charset="0"/>
                <a:cs typeface="Times New Roman" panose="02020603050405020304" pitchFamily="18" charset="0"/>
              </a:rPr>
              <a:t>String</a:t>
            </a:r>
            <a:r>
              <a:rPr lang="zh-CN" altLang="en-US" sz="2993" b="1" dirty="0">
                <a:latin typeface="Times New Roman" panose="02020603050405020304" pitchFamily="18" charset="0"/>
                <a:cs typeface="Times New Roman" panose="02020603050405020304" pitchFamily="18" charset="0"/>
              </a:rPr>
              <a:t>）</a:t>
            </a:r>
            <a:endParaRPr lang="en-US" altLang="zh-CN" sz="2993"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993" b="1" dirty="0">
                <a:latin typeface="Times New Roman" panose="02020603050405020304" pitchFamily="18" charset="0"/>
                <a:cs typeface="Times New Roman" panose="02020603050405020304" pitchFamily="18" charset="0"/>
              </a:rPr>
              <a:t>树（</a:t>
            </a:r>
            <a:r>
              <a:rPr lang="en-US" altLang="zh-CN" sz="2993" b="1" dirty="0">
                <a:latin typeface="Times New Roman" panose="02020603050405020304" pitchFamily="18" charset="0"/>
                <a:cs typeface="Times New Roman" panose="02020603050405020304" pitchFamily="18" charset="0"/>
              </a:rPr>
              <a:t>Tree</a:t>
            </a:r>
            <a:r>
              <a:rPr lang="zh-CN" altLang="en-US" sz="2993" b="1" dirty="0">
                <a:latin typeface="Times New Roman" panose="02020603050405020304" pitchFamily="18" charset="0"/>
                <a:cs typeface="Times New Roman" panose="02020603050405020304" pitchFamily="18" charset="0"/>
              </a:rPr>
              <a:t>）</a:t>
            </a:r>
            <a:endParaRPr lang="en-US" altLang="zh-CN" sz="2993"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993" b="1" dirty="0">
                <a:latin typeface="Times New Roman" panose="02020603050405020304" pitchFamily="18" charset="0"/>
                <a:cs typeface="Times New Roman" panose="02020603050405020304" pitchFamily="18" charset="0"/>
              </a:rPr>
              <a:t>图（</a:t>
            </a:r>
            <a:r>
              <a:rPr lang="en-US" altLang="zh-CN" sz="2993" b="1" dirty="0">
                <a:latin typeface="Times New Roman" panose="02020603050405020304" pitchFamily="18" charset="0"/>
                <a:cs typeface="Times New Roman" panose="02020603050405020304" pitchFamily="18" charset="0"/>
              </a:rPr>
              <a:t>Graph</a:t>
            </a:r>
            <a:r>
              <a:rPr lang="zh-CN" altLang="en-US" sz="2993" b="1"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r>
              <a:rPr lang="en-US" altLang="zh-CN" sz="3810" b="1" dirty="0">
                <a:solidFill>
                  <a:srgbClr val="284C8A"/>
                </a:solidFill>
                <a:latin typeface="+mn-ea"/>
              </a:rPr>
              <a:t>—</a:t>
            </a:r>
            <a:r>
              <a:rPr lang="zh-CN" altLang="en-US" sz="3810" b="1" dirty="0">
                <a:solidFill>
                  <a:srgbClr val="284C8A"/>
                </a:solidFill>
                <a:latin typeface="+mn-ea"/>
              </a:rPr>
              <a:t>栈</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8" name="Rectangle 3"/>
          <p:cNvSpPr txBox="1">
            <a:spLocks noChangeArrowheads="1"/>
          </p:cNvSpPr>
          <p:nvPr/>
        </p:nvSpPr>
        <p:spPr>
          <a:xfrm>
            <a:off x="803061" y="930690"/>
            <a:ext cx="10681633" cy="4972117"/>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栈（</a:t>
            </a:r>
            <a:r>
              <a:rPr lang="en-US" altLang="zh-CN" sz="2993" b="1" dirty="0"/>
              <a:t>Stack</a:t>
            </a:r>
            <a:r>
              <a:rPr lang="zh-CN" altLang="en-US" sz="2993" b="1" dirty="0"/>
              <a:t>）</a:t>
            </a:r>
            <a:endParaRPr lang="en-US" altLang="zh-CN" sz="2993" b="1" dirty="0"/>
          </a:p>
          <a:p>
            <a:pPr marL="492469" indent="0"/>
            <a:r>
              <a:rPr lang="zh-CN" altLang="en-US" sz="2993" b="1" dirty="0"/>
              <a:t> </a:t>
            </a:r>
            <a:r>
              <a:rPr lang="zh-CN" altLang="en-US" sz="2449" b="1" dirty="0"/>
              <a:t>容器，后进先出</a:t>
            </a:r>
            <a:endParaRPr lang="en-US" altLang="zh-CN" sz="2041" b="1" dirty="0"/>
          </a:p>
          <a:p>
            <a:pPr marL="492469" indent="0"/>
            <a:r>
              <a:rPr lang="en-US" altLang="zh-CN" sz="2449" b="1" dirty="0"/>
              <a:t> </a:t>
            </a:r>
            <a:r>
              <a:rPr lang="zh-CN" altLang="en-US" sz="2449" b="1" dirty="0"/>
              <a:t>在序列的尾端（栈顶）插入和删除元素 </a:t>
            </a:r>
            <a:endParaRPr lang="zh-CN" altLang="en-US" sz="2993" b="1" dirty="0"/>
          </a:p>
        </p:txBody>
      </p:sp>
      <p:graphicFrame>
        <p:nvGraphicFramePr>
          <p:cNvPr id="9" name="表格 8"/>
          <p:cNvGraphicFramePr/>
          <p:nvPr/>
        </p:nvGraphicFramePr>
        <p:xfrm>
          <a:off x="7271715" y="3013684"/>
          <a:ext cx="1351080" cy="3307727"/>
        </p:xfrm>
        <a:graphic>
          <a:graphicData uri="http://schemas.openxmlformats.org/drawingml/2006/table">
            <a:tbl>
              <a:tblPr/>
              <a:tblGrid>
                <a:gridCol w="1351080">
                  <a:extLst>
                    <a:ext uri="{9D8B030D-6E8A-4147-A177-3AD203B41FA5}">
                      <a16:colId xmlns:a16="http://schemas.microsoft.com/office/drawing/2014/main" val="20000"/>
                    </a:ext>
                  </a:extLst>
                </a:gridCol>
              </a:tblGrid>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eaLnBrk="1" hangingPunct="1">
                        <a:buFont typeface="Wingdings" panose="05000000000000000000" pitchFamily="2" charset="2"/>
                        <a:buNone/>
                      </a:pPr>
                      <a:endParaRPr lang="zh-CN" altLang="en-US" sz="2700"/>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algn="ctr" eaLnBrk="1" hangingPunct="1">
                        <a:buFont typeface="Wingdings" panose="05000000000000000000" pitchFamily="2" charset="2"/>
                        <a:buNone/>
                      </a:pPr>
                      <a:r>
                        <a:rPr lang="en-US" altLang="x-none" sz="2700" dirty="0"/>
                        <a:t>a</a:t>
                      </a:r>
                      <a:r>
                        <a:rPr lang="en-US" altLang="x-none" sz="2700" baseline="-18000" dirty="0"/>
                        <a:t>n</a:t>
                      </a:r>
                      <a:endParaRPr lang="zh-CN" altLang="en-US" sz="2700" baseline="-18000" dirty="0"/>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algn="ctr" eaLnBrk="1" hangingPunct="1">
                        <a:buFont typeface="Wingdings" panose="05000000000000000000" pitchFamily="2" charset="2"/>
                        <a:buNone/>
                      </a:pPr>
                      <a:r>
                        <a:rPr lang="en-US" altLang="x-none" sz="2700" dirty="0"/>
                        <a:t>a</a:t>
                      </a:r>
                      <a:r>
                        <a:rPr lang="en-US" altLang="x-none" sz="2700" baseline="-18000" dirty="0"/>
                        <a:t>n-1</a:t>
                      </a:r>
                      <a:endParaRPr lang="zh-CN" altLang="en-US" sz="2700" baseline="-18000" dirty="0"/>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392">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eaLnBrk="1" hangingPunct="1">
                        <a:buFont typeface="Wingdings" panose="05000000000000000000" pitchFamily="2" charset="2"/>
                        <a:buNone/>
                      </a:pPr>
                      <a:r>
                        <a:rPr lang="en-US" altLang="zh-CN" sz="2700"/>
                        <a:t> ...</a:t>
                      </a:r>
                      <a:endParaRPr lang="zh-CN" altLang="en-US" sz="2700"/>
                    </a:p>
                  </a:txBody>
                  <a:tcPr marL="124416" marR="124416" marT="62473" marB="62473" vert="eaVert"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algn="ctr" eaLnBrk="1" hangingPunct="1">
                        <a:buFont typeface="Wingdings" panose="05000000000000000000" pitchFamily="2" charset="2"/>
                        <a:buNone/>
                      </a:pPr>
                      <a:r>
                        <a:rPr lang="en-US" altLang="x-none" sz="2700" dirty="0"/>
                        <a:t>a</a:t>
                      </a:r>
                      <a:r>
                        <a:rPr lang="en-US" altLang="x-none" sz="2700" baseline="-18000" dirty="0"/>
                        <a:t>2</a:t>
                      </a:r>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algn="ctr" eaLnBrk="1" hangingPunct="1">
                        <a:buFont typeface="Wingdings" panose="05000000000000000000" pitchFamily="2" charset="2"/>
                        <a:buNone/>
                      </a:pPr>
                      <a:r>
                        <a:rPr lang="en-US" altLang="x-none" sz="2700" dirty="0"/>
                        <a:t>a</a:t>
                      </a:r>
                      <a:r>
                        <a:rPr lang="en-US" altLang="x-none" sz="2700" baseline="-18000" dirty="0"/>
                        <a:t>1</a:t>
                      </a:r>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10" name="组合 9"/>
          <p:cNvGrpSpPr/>
          <p:nvPr/>
        </p:nvGrpSpPr>
        <p:grpSpPr bwMode="auto">
          <a:xfrm>
            <a:off x="8721458" y="5902808"/>
            <a:ext cx="1587601" cy="427680"/>
            <a:chOff x="0" y="0"/>
            <a:chExt cx="735" cy="198"/>
          </a:xfrm>
        </p:grpSpPr>
        <p:sp>
          <p:nvSpPr>
            <p:cNvPr id="12" name="Text Box 122"/>
            <p:cNvSpPr txBox="1">
              <a:spLocks noChangeArrowheads="1"/>
            </p:cNvSpPr>
            <p:nvPr/>
          </p:nvSpPr>
          <p:spPr bwMode="auto">
            <a:xfrm>
              <a:off x="336" y="0"/>
              <a:ext cx="39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SzTx/>
                <a:buFont typeface="Arial" panose="020B0604020202020204" pitchFamily="34" charset="0"/>
                <a:buNone/>
              </a:pPr>
              <a:r>
                <a:rPr lang="zh-CN" altLang="en-US" sz="2177" b="0" dirty="0">
                  <a:ea typeface="楷体_GB2312" pitchFamily="1" charset="-122"/>
                </a:rPr>
                <a:t>栈底</a:t>
              </a:r>
            </a:p>
          </p:txBody>
        </p:sp>
        <p:sp>
          <p:nvSpPr>
            <p:cNvPr id="13" name="Line 130"/>
            <p:cNvSpPr>
              <a:spLocks noChangeShapeType="1"/>
            </p:cNvSpPr>
            <p:nvPr/>
          </p:nvSpPr>
          <p:spPr bwMode="auto">
            <a:xfrm flipH="1">
              <a:off x="0" y="144"/>
              <a:ext cx="336"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49"/>
            </a:p>
          </p:txBody>
        </p:sp>
      </p:grpSp>
      <p:grpSp>
        <p:nvGrpSpPr>
          <p:cNvPr id="14" name="组合 13"/>
          <p:cNvGrpSpPr/>
          <p:nvPr/>
        </p:nvGrpSpPr>
        <p:grpSpPr bwMode="auto">
          <a:xfrm>
            <a:off x="8738394" y="3224906"/>
            <a:ext cx="1962490" cy="427680"/>
            <a:chOff x="0" y="0"/>
            <a:chExt cx="727" cy="198"/>
          </a:xfrm>
        </p:grpSpPr>
        <p:sp>
          <p:nvSpPr>
            <p:cNvPr id="15" name="Text Box 124"/>
            <p:cNvSpPr txBox="1">
              <a:spLocks noChangeArrowheads="1"/>
            </p:cNvSpPr>
            <p:nvPr/>
          </p:nvSpPr>
          <p:spPr bwMode="auto">
            <a:xfrm>
              <a:off x="288" y="0"/>
              <a:ext cx="43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SzTx/>
                <a:buFont typeface="Arial" panose="020B0604020202020204" pitchFamily="34" charset="0"/>
                <a:buNone/>
              </a:pPr>
              <a:r>
                <a:rPr lang="zh-CN" altLang="en-US" sz="2177" b="0" dirty="0">
                  <a:ea typeface="楷体_GB2312" pitchFamily="1" charset="-122"/>
                </a:rPr>
                <a:t>栈顶</a:t>
              </a:r>
              <a:r>
                <a:rPr lang="en-US" altLang="zh-CN" sz="2177" b="0" dirty="0">
                  <a:ea typeface="楷体_GB2312" pitchFamily="1" charset="-122"/>
                </a:rPr>
                <a:t>top</a:t>
              </a:r>
              <a:endParaRPr lang="zh-CN" altLang="en-US" sz="2177" b="0" dirty="0">
                <a:ea typeface="楷体_GB2312" pitchFamily="1" charset="-122"/>
              </a:endParaRPr>
            </a:p>
          </p:txBody>
        </p:sp>
        <p:sp>
          <p:nvSpPr>
            <p:cNvPr id="20" name="Line 131"/>
            <p:cNvSpPr>
              <a:spLocks noChangeShapeType="1"/>
            </p:cNvSpPr>
            <p:nvPr/>
          </p:nvSpPr>
          <p:spPr bwMode="auto">
            <a:xfrm flipH="1">
              <a:off x="0" y="144"/>
              <a:ext cx="336"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49"/>
            </a:p>
          </p:txBody>
        </p:sp>
      </p:grpSp>
      <p:grpSp>
        <p:nvGrpSpPr>
          <p:cNvPr id="21" name="组合 20"/>
          <p:cNvGrpSpPr/>
          <p:nvPr/>
        </p:nvGrpSpPr>
        <p:grpSpPr bwMode="auto">
          <a:xfrm>
            <a:off x="6168324" y="2524952"/>
            <a:ext cx="1590983" cy="859544"/>
            <a:chOff x="112" y="87"/>
            <a:chExt cx="749" cy="453"/>
          </a:xfrm>
        </p:grpSpPr>
        <p:sp>
          <p:nvSpPr>
            <p:cNvPr id="23" name="Text Box 132"/>
            <p:cNvSpPr txBox="1">
              <a:spLocks noChangeArrowheads="1"/>
            </p:cNvSpPr>
            <p:nvPr/>
          </p:nvSpPr>
          <p:spPr bwMode="auto">
            <a:xfrm>
              <a:off x="112" y="87"/>
              <a:ext cx="57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SzTx/>
                <a:buFont typeface="Arial" panose="020B0604020202020204" pitchFamily="34" charset="0"/>
                <a:buNone/>
              </a:pPr>
              <a:r>
                <a:rPr lang="zh-CN" altLang="en-US" sz="2177" b="0" dirty="0">
                  <a:ea typeface="楷体_GB2312" pitchFamily="1" charset="-122"/>
                </a:rPr>
                <a:t>入栈</a:t>
              </a:r>
            </a:p>
          </p:txBody>
        </p:sp>
        <p:cxnSp>
          <p:nvCxnSpPr>
            <p:cNvPr id="24" name="AutoShape 134"/>
            <p:cNvCxnSpPr>
              <a:cxnSpLocks noChangeShapeType="1"/>
            </p:cNvCxnSpPr>
            <p:nvPr/>
          </p:nvCxnSpPr>
          <p:spPr bwMode="auto">
            <a:xfrm>
              <a:off x="609" y="211"/>
              <a:ext cx="252" cy="329"/>
            </a:xfrm>
            <a:prstGeom prst="curvedConnector2">
              <a:avLst/>
            </a:prstGeom>
            <a:noFill/>
            <a:ln w="38100">
              <a:solidFill>
                <a:srgbClr val="3366FF"/>
              </a:solidFill>
              <a:round/>
              <a:tailEnd type="triangle" w="med" len="med"/>
            </a:ln>
            <a:extLst>
              <a:ext uri="{909E8E84-426E-40DD-AFC4-6F175D3DCCD1}">
                <a14:hiddenFill xmlns:a14="http://schemas.microsoft.com/office/drawing/2010/main">
                  <a:noFill/>
                </a14:hiddenFill>
              </a:ext>
            </a:extLst>
          </p:spPr>
        </p:cxnSp>
      </p:grpSp>
      <p:grpSp>
        <p:nvGrpSpPr>
          <p:cNvPr id="25" name="组合 24"/>
          <p:cNvGrpSpPr/>
          <p:nvPr/>
        </p:nvGrpSpPr>
        <p:grpSpPr bwMode="auto">
          <a:xfrm>
            <a:off x="8367746" y="2534903"/>
            <a:ext cx="1258863" cy="774361"/>
            <a:chOff x="0" y="0"/>
            <a:chExt cx="912" cy="624"/>
          </a:xfrm>
        </p:grpSpPr>
        <p:sp>
          <p:nvSpPr>
            <p:cNvPr id="26" name="Text Box 135"/>
            <p:cNvSpPr txBox="1">
              <a:spLocks noChangeArrowheads="1"/>
            </p:cNvSpPr>
            <p:nvPr/>
          </p:nvSpPr>
          <p:spPr bwMode="auto">
            <a:xfrm>
              <a:off x="271" y="0"/>
              <a:ext cx="64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SzTx/>
                <a:buFont typeface="Arial" panose="020B0604020202020204" pitchFamily="34" charset="0"/>
                <a:buNone/>
              </a:pPr>
              <a:r>
                <a:rPr lang="zh-CN" altLang="en-US" sz="2177" b="0" dirty="0">
                  <a:ea typeface="楷体_GB2312" pitchFamily="1" charset="-122"/>
                </a:rPr>
                <a:t>出栈</a:t>
              </a:r>
            </a:p>
          </p:txBody>
        </p:sp>
        <p:cxnSp>
          <p:nvCxnSpPr>
            <p:cNvPr id="27" name="AutoShape 136"/>
            <p:cNvCxnSpPr>
              <a:cxnSpLocks noChangeShapeType="1"/>
            </p:cNvCxnSpPr>
            <p:nvPr/>
          </p:nvCxnSpPr>
          <p:spPr bwMode="auto">
            <a:xfrm rot="-5400000">
              <a:off x="-72" y="216"/>
              <a:ext cx="480" cy="336"/>
            </a:xfrm>
            <a:prstGeom prst="curvedConnector2">
              <a:avLst/>
            </a:prstGeom>
            <a:noFill/>
            <a:ln w="38100">
              <a:solidFill>
                <a:srgbClr val="3366FF"/>
              </a:solidFill>
              <a:round/>
              <a:tailEnd type="triangle" w="med" len="med"/>
            </a:ln>
            <a:extLst>
              <a:ext uri="{909E8E84-426E-40DD-AFC4-6F175D3DCCD1}">
                <a14:hiddenFill xmlns:a14="http://schemas.microsoft.com/office/drawing/2010/main">
                  <a:noFill/>
                </a14:hiddenFill>
              </a:ext>
            </a:extLst>
          </p:spPr>
        </p:cxnSp>
      </p:grpSp>
      <p:sp>
        <p:nvSpPr>
          <p:cNvPr id="28" name="Text Box 122"/>
          <p:cNvSpPr txBox="1">
            <a:spLocks noChangeArrowheads="1"/>
          </p:cNvSpPr>
          <p:nvPr/>
        </p:nvSpPr>
        <p:spPr bwMode="auto">
          <a:xfrm>
            <a:off x="6683858" y="3458204"/>
            <a:ext cx="643759" cy="385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Arial" panose="020B0604020202020204" pitchFamily="34" charset="0"/>
              <a:buNone/>
            </a:pPr>
            <a:r>
              <a:rPr lang="zh-CN" altLang="en-US" sz="1905" b="0" dirty="0">
                <a:ea typeface="楷体_GB2312" pitchFamily="1" charset="-122"/>
              </a:rPr>
              <a:t>尾端</a:t>
            </a:r>
          </a:p>
        </p:txBody>
      </p:sp>
    </p:spTree>
    <p:extLst>
      <p:ext uri="{BB962C8B-B14F-4D97-AF65-F5344CB8AC3E}">
        <p14:creationId xmlns:p14="http://schemas.microsoft.com/office/powerpoint/2010/main" val="578872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righ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righ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up)">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r>
              <a:rPr lang="en-US" altLang="zh-CN" sz="3810" b="1" dirty="0">
                <a:solidFill>
                  <a:srgbClr val="284C8A"/>
                </a:solidFill>
                <a:latin typeface="+mn-ea"/>
              </a:rPr>
              <a:t>—</a:t>
            </a:r>
            <a:r>
              <a:rPr lang="zh-CN" altLang="en-US" sz="3810" b="1" dirty="0">
                <a:solidFill>
                  <a:srgbClr val="284C8A"/>
                </a:solidFill>
                <a:latin typeface="+mn-ea"/>
              </a:rPr>
              <a:t>栈</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8" name="Rectangle 3"/>
          <p:cNvSpPr txBox="1">
            <a:spLocks noChangeArrowheads="1"/>
          </p:cNvSpPr>
          <p:nvPr/>
        </p:nvSpPr>
        <p:spPr>
          <a:xfrm>
            <a:off x="803061" y="930690"/>
            <a:ext cx="10681633" cy="4972117"/>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栈（</a:t>
            </a:r>
            <a:r>
              <a:rPr lang="en-US" altLang="zh-CN" sz="2993" b="1" dirty="0"/>
              <a:t>Stack</a:t>
            </a:r>
            <a:r>
              <a:rPr lang="zh-CN" altLang="en-US" sz="2993" b="1" dirty="0"/>
              <a:t>）</a:t>
            </a:r>
            <a:endParaRPr lang="en-US" altLang="zh-CN" sz="2993" b="1" dirty="0"/>
          </a:p>
          <a:p>
            <a:pPr marL="492469" indent="0"/>
            <a:r>
              <a:rPr lang="zh-CN" altLang="en-US" sz="2993" b="1" dirty="0"/>
              <a:t>  </a:t>
            </a:r>
            <a:r>
              <a:rPr lang="zh-CN" altLang="en-US" sz="2449" b="1" dirty="0"/>
              <a:t>容器，后进先出</a:t>
            </a:r>
            <a:endParaRPr lang="en-US" altLang="zh-CN" sz="2449" b="1" dirty="0"/>
          </a:p>
          <a:p>
            <a:pPr marL="492469" indent="0"/>
            <a:r>
              <a:rPr lang="en-US" altLang="zh-CN" sz="2449" b="1" dirty="0"/>
              <a:t>  </a:t>
            </a:r>
            <a:r>
              <a:rPr lang="zh-CN" altLang="en-US" sz="2449" b="1" dirty="0"/>
              <a:t>在序列的尾端（栈顶）插入和删除元素</a:t>
            </a:r>
            <a:endParaRPr lang="en-US" altLang="zh-CN" sz="2449" b="1" dirty="0"/>
          </a:p>
          <a:p>
            <a:pPr marL="492469" indent="0"/>
            <a:r>
              <a:rPr lang="zh-CN" altLang="en-US" sz="2449" b="1" dirty="0"/>
              <a:t>  基本操作</a:t>
            </a:r>
            <a:endParaRPr lang="en-US" altLang="zh-CN" sz="2449" b="1" dirty="0"/>
          </a:p>
          <a:p>
            <a:pPr marL="970251" lvl="1" indent="0"/>
            <a:r>
              <a:rPr lang="zh-CN" altLang="en-US" sz="2041" b="1" dirty="0"/>
              <a:t> 创建（定义）一个栈（初始为空）</a:t>
            </a:r>
            <a:endParaRPr lang="en-US" altLang="zh-CN" sz="2041" b="1" dirty="0"/>
          </a:p>
          <a:p>
            <a:pPr marL="970251" lvl="1" indent="0"/>
            <a:r>
              <a:rPr lang="zh-CN" altLang="en-US" sz="2041" b="1" dirty="0"/>
              <a:t> 判断栈是否为空</a:t>
            </a:r>
            <a:endParaRPr lang="en-US" altLang="zh-CN" sz="2041" b="1" dirty="0"/>
          </a:p>
          <a:p>
            <a:pPr marL="970251" lvl="1" indent="0"/>
            <a:r>
              <a:rPr lang="zh-CN" altLang="en-US" sz="2041" b="1" dirty="0"/>
              <a:t> 在栈顶加入一个元素（压栈）</a:t>
            </a:r>
            <a:endParaRPr lang="en-US" altLang="zh-CN" sz="2041" b="1" dirty="0"/>
          </a:p>
          <a:p>
            <a:pPr marL="970251" lvl="1" indent="0"/>
            <a:r>
              <a:rPr lang="zh-CN" altLang="en-US" sz="2041" b="1" dirty="0"/>
              <a:t> 取出栈顶元素（出栈）</a:t>
            </a:r>
            <a:endParaRPr lang="en-US" altLang="zh-CN" sz="2041" b="1" dirty="0"/>
          </a:p>
          <a:p>
            <a:pPr marL="970251" lvl="1" indent="0"/>
            <a:r>
              <a:rPr lang="zh-CN" altLang="en-US" sz="2041" b="1" dirty="0"/>
              <a:t> 访问栈顶元素</a:t>
            </a:r>
            <a:endParaRPr lang="en-US" altLang="zh-CN" sz="2041" b="1" dirty="0"/>
          </a:p>
          <a:p>
            <a:pPr marL="0" indent="0">
              <a:buNone/>
            </a:pPr>
            <a:endParaRPr lang="zh-CN" altLang="en-US" sz="2993" b="1" dirty="0"/>
          </a:p>
        </p:txBody>
      </p:sp>
      <p:graphicFrame>
        <p:nvGraphicFramePr>
          <p:cNvPr id="9" name="表格 8"/>
          <p:cNvGraphicFramePr/>
          <p:nvPr/>
        </p:nvGraphicFramePr>
        <p:xfrm>
          <a:off x="7271715" y="3013684"/>
          <a:ext cx="1351080" cy="3307727"/>
        </p:xfrm>
        <a:graphic>
          <a:graphicData uri="http://schemas.openxmlformats.org/drawingml/2006/table">
            <a:tbl>
              <a:tblPr/>
              <a:tblGrid>
                <a:gridCol w="1351080">
                  <a:extLst>
                    <a:ext uri="{9D8B030D-6E8A-4147-A177-3AD203B41FA5}">
                      <a16:colId xmlns:a16="http://schemas.microsoft.com/office/drawing/2014/main" val="20000"/>
                    </a:ext>
                  </a:extLst>
                </a:gridCol>
              </a:tblGrid>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eaLnBrk="1" hangingPunct="1">
                        <a:buFont typeface="Wingdings" panose="05000000000000000000" pitchFamily="2" charset="2"/>
                        <a:buNone/>
                      </a:pPr>
                      <a:endParaRPr lang="zh-CN" altLang="en-US" sz="2700"/>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a:noFill/>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algn="ctr" eaLnBrk="1" hangingPunct="1">
                        <a:buFont typeface="Wingdings" panose="05000000000000000000" pitchFamily="2" charset="2"/>
                        <a:buNone/>
                      </a:pPr>
                      <a:r>
                        <a:rPr lang="en-US" altLang="x-none" sz="2700" dirty="0"/>
                        <a:t>a</a:t>
                      </a:r>
                      <a:r>
                        <a:rPr lang="en-US" altLang="x-none" sz="2700" baseline="-18000" dirty="0"/>
                        <a:t>n</a:t>
                      </a:r>
                      <a:endParaRPr lang="zh-CN" altLang="en-US" sz="2700" baseline="-18000" dirty="0"/>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algn="ctr" eaLnBrk="1" hangingPunct="1">
                        <a:buFont typeface="Wingdings" panose="05000000000000000000" pitchFamily="2" charset="2"/>
                        <a:buNone/>
                      </a:pPr>
                      <a:r>
                        <a:rPr lang="en-US" altLang="x-none" sz="2700" dirty="0"/>
                        <a:t>a</a:t>
                      </a:r>
                      <a:r>
                        <a:rPr lang="en-US" altLang="x-none" sz="2700" baseline="-18000" dirty="0"/>
                        <a:t>n-1</a:t>
                      </a:r>
                      <a:endParaRPr lang="zh-CN" altLang="en-US" sz="2700" baseline="-18000" dirty="0"/>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9392">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eaLnBrk="1" hangingPunct="1">
                        <a:buFont typeface="Wingdings" panose="05000000000000000000" pitchFamily="2" charset="2"/>
                        <a:buNone/>
                      </a:pPr>
                      <a:r>
                        <a:rPr lang="en-US" altLang="zh-CN" sz="2700"/>
                        <a:t> ...</a:t>
                      </a:r>
                      <a:endParaRPr lang="zh-CN" altLang="en-US" sz="2700"/>
                    </a:p>
                  </a:txBody>
                  <a:tcPr marL="124416" marR="124416" marT="62473" marB="62473" vert="eaVert"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algn="ctr" eaLnBrk="1" hangingPunct="1">
                        <a:buFont typeface="Wingdings" panose="05000000000000000000" pitchFamily="2" charset="2"/>
                        <a:buNone/>
                      </a:pPr>
                      <a:r>
                        <a:rPr lang="en-US" altLang="x-none" sz="2700" dirty="0"/>
                        <a:t>a</a:t>
                      </a:r>
                      <a:r>
                        <a:rPr lang="en-US" altLang="x-none" sz="2700" baseline="-18000" dirty="0"/>
                        <a:t>2</a:t>
                      </a:r>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39667">
                <a:tc>
                  <a:txBody>
                    <a:bodyPr/>
                    <a:lstStyle>
                      <a:lvl1pPr marL="342900" lvl="0" indent="-342900" algn="l" defTabSz="914400" eaLnBrk="0" fontAlgn="base" latinLnBrk="0" hangingPunct="0">
                        <a:lnSpc>
                          <a:spcPct val="100000"/>
                        </a:lnSpc>
                        <a:spcBef>
                          <a:spcPct val="15000"/>
                        </a:spcBef>
                        <a:spcAft>
                          <a:spcPct val="0"/>
                        </a:spcAft>
                        <a:buClr>
                          <a:srgbClr val="000000"/>
                        </a:buClr>
                        <a:buSzPct val="95000"/>
                        <a:buFont typeface="Wingdings" panose="05000000000000000000" pitchFamily="2" charset="2"/>
                        <a:buChar char="F"/>
                        <a:defRPr sz="2000" b="1" u="none" kern="1200" baseline="0">
                          <a:solidFill>
                            <a:schemeClr val="tx1"/>
                          </a:solidFill>
                          <a:latin typeface="Times New Roman" panose="02020603050405020304" pitchFamily="18" charset="0"/>
                          <a:ea typeface="宋体" panose="02010600030101010101" pitchFamily="2" charset="-122"/>
                        </a:defRPr>
                      </a:lvl1pPr>
                      <a:lvl2pPr marL="742950" lvl="1" indent="-285750" algn="l">
                        <a:defRPr sz="2000" kern="1200"/>
                      </a:lvl2pPr>
                      <a:lvl3pPr marL="1143000" lvl="2" indent="-228600" algn="l">
                        <a:defRPr sz="2000" kern="1200"/>
                      </a:lvl3pPr>
                      <a:lvl4pPr marL="1600200" lvl="3" indent="-228600" algn="l">
                        <a:defRPr sz="1800" kern="1200"/>
                      </a:lvl4pPr>
                      <a:lvl5pPr marL="2057400" lvl="4" indent="-228600" algn="l">
                        <a:spcBef>
                          <a:spcPct val="20000"/>
                        </a:spcBef>
                        <a:defRPr sz="1800" kern="1200">
                          <a:latin typeface="Arial" panose="020B0604020202020204" pitchFamily="34" charset="0"/>
                        </a:defRPr>
                      </a:lvl5pPr>
                    </a:lstStyle>
                    <a:p>
                      <a:pPr marL="0" lvl="0" indent="0" algn="ctr" eaLnBrk="1" hangingPunct="1">
                        <a:buFont typeface="Wingdings" panose="05000000000000000000" pitchFamily="2" charset="2"/>
                        <a:buNone/>
                      </a:pPr>
                      <a:r>
                        <a:rPr lang="en-US" altLang="x-none" sz="2700" dirty="0"/>
                        <a:t>a</a:t>
                      </a:r>
                      <a:r>
                        <a:rPr lang="en-US" altLang="x-none" sz="2700" baseline="-18000" dirty="0"/>
                        <a:t>1</a:t>
                      </a:r>
                    </a:p>
                  </a:txBody>
                  <a:tcPr marL="124416" marR="124416" marT="62473" marB="62473"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10" name="组合 9"/>
          <p:cNvGrpSpPr/>
          <p:nvPr/>
        </p:nvGrpSpPr>
        <p:grpSpPr bwMode="auto">
          <a:xfrm>
            <a:off x="8721458" y="5902808"/>
            <a:ext cx="1587601" cy="427680"/>
            <a:chOff x="0" y="0"/>
            <a:chExt cx="735" cy="198"/>
          </a:xfrm>
        </p:grpSpPr>
        <p:sp>
          <p:nvSpPr>
            <p:cNvPr id="12" name="Text Box 122"/>
            <p:cNvSpPr txBox="1">
              <a:spLocks noChangeArrowheads="1"/>
            </p:cNvSpPr>
            <p:nvPr/>
          </p:nvSpPr>
          <p:spPr bwMode="auto">
            <a:xfrm>
              <a:off x="336" y="0"/>
              <a:ext cx="39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SzTx/>
                <a:buFont typeface="Arial" panose="020B0604020202020204" pitchFamily="34" charset="0"/>
                <a:buNone/>
              </a:pPr>
              <a:r>
                <a:rPr lang="zh-CN" altLang="en-US" sz="2177" b="0" dirty="0">
                  <a:ea typeface="楷体_GB2312" pitchFamily="1" charset="-122"/>
                </a:rPr>
                <a:t>栈底</a:t>
              </a:r>
            </a:p>
          </p:txBody>
        </p:sp>
        <p:sp>
          <p:nvSpPr>
            <p:cNvPr id="13" name="Line 130"/>
            <p:cNvSpPr>
              <a:spLocks noChangeShapeType="1"/>
            </p:cNvSpPr>
            <p:nvPr/>
          </p:nvSpPr>
          <p:spPr bwMode="auto">
            <a:xfrm flipH="1">
              <a:off x="0" y="144"/>
              <a:ext cx="336"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49"/>
            </a:p>
          </p:txBody>
        </p:sp>
      </p:grpSp>
      <p:grpSp>
        <p:nvGrpSpPr>
          <p:cNvPr id="14" name="组合 13"/>
          <p:cNvGrpSpPr/>
          <p:nvPr/>
        </p:nvGrpSpPr>
        <p:grpSpPr bwMode="auto">
          <a:xfrm>
            <a:off x="8738394" y="3224906"/>
            <a:ext cx="1962490" cy="427680"/>
            <a:chOff x="0" y="0"/>
            <a:chExt cx="727" cy="198"/>
          </a:xfrm>
        </p:grpSpPr>
        <p:sp>
          <p:nvSpPr>
            <p:cNvPr id="15" name="Text Box 124"/>
            <p:cNvSpPr txBox="1">
              <a:spLocks noChangeArrowheads="1"/>
            </p:cNvSpPr>
            <p:nvPr/>
          </p:nvSpPr>
          <p:spPr bwMode="auto">
            <a:xfrm>
              <a:off x="288" y="0"/>
              <a:ext cx="439"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SzTx/>
                <a:buFont typeface="Arial" panose="020B0604020202020204" pitchFamily="34" charset="0"/>
                <a:buNone/>
              </a:pPr>
              <a:r>
                <a:rPr lang="zh-CN" altLang="en-US" sz="2177" b="0" dirty="0">
                  <a:ea typeface="楷体_GB2312" pitchFamily="1" charset="-122"/>
                </a:rPr>
                <a:t>栈顶</a:t>
              </a:r>
              <a:r>
                <a:rPr lang="en-US" altLang="zh-CN" sz="2177" b="0" dirty="0">
                  <a:ea typeface="楷体_GB2312" pitchFamily="1" charset="-122"/>
                </a:rPr>
                <a:t>top</a:t>
              </a:r>
              <a:endParaRPr lang="zh-CN" altLang="en-US" sz="2177" b="0" dirty="0">
                <a:ea typeface="楷体_GB2312" pitchFamily="1" charset="-122"/>
              </a:endParaRPr>
            </a:p>
          </p:txBody>
        </p:sp>
        <p:sp>
          <p:nvSpPr>
            <p:cNvPr id="20" name="Line 131"/>
            <p:cNvSpPr>
              <a:spLocks noChangeShapeType="1"/>
            </p:cNvSpPr>
            <p:nvPr/>
          </p:nvSpPr>
          <p:spPr bwMode="auto">
            <a:xfrm flipH="1">
              <a:off x="0" y="144"/>
              <a:ext cx="336" cy="0"/>
            </a:xfrm>
            <a:prstGeom prst="line">
              <a:avLst/>
            </a:prstGeom>
            <a:noFill/>
            <a:ln w="222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49"/>
            </a:p>
          </p:txBody>
        </p:sp>
      </p:grpSp>
      <p:grpSp>
        <p:nvGrpSpPr>
          <p:cNvPr id="21" name="组合 20"/>
          <p:cNvGrpSpPr/>
          <p:nvPr/>
        </p:nvGrpSpPr>
        <p:grpSpPr bwMode="auto">
          <a:xfrm>
            <a:off x="6168324" y="2524952"/>
            <a:ext cx="1590983" cy="859544"/>
            <a:chOff x="112" y="87"/>
            <a:chExt cx="749" cy="453"/>
          </a:xfrm>
        </p:grpSpPr>
        <p:sp>
          <p:nvSpPr>
            <p:cNvPr id="23" name="Text Box 132"/>
            <p:cNvSpPr txBox="1">
              <a:spLocks noChangeArrowheads="1"/>
            </p:cNvSpPr>
            <p:nvPr/>
          </p:nvSpPr>
          <p:spPr bwMode="auto">
            <a:xfrm>
              <a:off x="112" y="87"/>
              <a:ext cx="576" cy="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SzTx/>
                <a:buFont typeface="Arial" panose="020B0604020202020204" pitchFamily="34" charset="0"/>
                <a:buNone/>
              </a:pPr>
              <a:r>
                <a:rPr lang="zh-CN" altLang="en-US" sz="2177" b="0" dirty="0">
                  <a:ea typeface="楷体_GB2312" pitchFamily="1" charset="-122"/>
                </a:rPr>
                <a:t>入栈</a:t>
              </a:r>
            </a:p>
          </p:txBody>
        </p:sp>
        <p:cxnSp>
          <p:nvCxnSpPr>
            <p:cNvPr id="24" name="AutoShape 134"/>
            <p:cNvCxnSpPr>
              <a:cxnSpLocks noChangeShapeType="1"/>
            </p:cNvCxnSpPr>
            <p:nvPr/>
          </p:nvCxnSpPr>
          <p:spPr bwMode="auto">
            <a:xfrm>
              <a:off x="609" y="211"/>
              <a:ext cx="252" cy="329"/>
            </a:xfrm>
            <a:prstGeom prst="curvedConnector2">
              <a:avLst/>
            </a:prstGeom>
            <a:noFill/>
            <a:ln w="38100">
              <a:solidFill>
                <a:srgbClr val="3366FF"/>
              </a:solidFill>
              <a:round/>
              <a:tailEnd type="triangle" w="med" len="med"/>
            </a:ln>
            <a:extLst>
              <a:ext uri="{909E8E84-426E-40DD-AFC4-6F175D3DCCD1}">
                <a14:hiddenFill xmlns:a14="http://schemas.microsoft.com/office/drawing/2010/main">
                  <a:noFill/>
                </a14:hiddenFill>
              </a:ext>
            </a:extLst>
          </p:spPr>
        </p:cxnSp>
      </p:grpSp>
      <p:grpSp>
        <p:nvGrpSpPr>
          <p:cNvPr id="25" name="组合 24"/>
          <p:cNvGrpSpPr/>
          <p:nvPr/>
        </p:nvGrpSpPr>
        <p:grpSpPr bwMode="auto">
          <a:xfrm>
            <a:off x="8367746" y="2534903"/>
            <a:ext cx="1258863" cy="774361"/>
            <a:chOff x="0" y="0"/>
            <a:chExt cx="912" cy="624"/>
          </a:xfrm>
        </p:grpSpPr>
        <p:sp>
          <p:nvSpPr>
            <p:cNvPr id="26" name="Text Box 135"/>
            <p:cNvSpPr txBox="1">
              <a:spLocks noChangeArrowheads="1"/>
            </p:cNvSpPr>
            <p:nvPr/>
          </p:nvSpPr>
          <p:spPr bwMode="auto">
            <a:xfrm>
              <a:off x="271" y="0"/>
              <a:ext cx="64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buSzTx/>
                <a:buFont typeface="Arial" panose="020B0604020202020204" pitchFamily="34" charset="0"/>
                <a:buNone/>
              </a:pPr>
              <a:r>
                <a:rPr lang="zh-CN" altLang="en-US" sz="2177" b="0" dirty="0">
                  <a:ea typeface="楷体_GB2312" pitchFamily="1" charset="-122"/>
                </a:rPr>
                <a:t>出栈</a:t>
              </a:r>
            </a:p>
          </p:txBody>
        </p:sp>
        <p:cxnSp>
          <p:nvCxnSpPr>
            <p:cNvPr id="27" name="AutoShape 136"/>
            <p:cNvCxnSpPr>
              <a:cxnSpLocks noChangeShapeType="1"/>
            </p:cNvCxnSpPr>
            <p:nvPr/>
          </p:nvCxnSpPr>
          <p:spPr bwMode="auto">
            <a:xfrm rot="-5400000">
              <a:off x="-72" y="216"/>
              <a:ext cx="480" cy="336"/>
            </a:xfrm>
            <a:prstGeom prst="curvedConnector2">
              <a:avLst/>
            </a:prstGeom>
            <a:noFill/>
            <a:ln w="38100">
              <a:solidFill>
                <a:srgbClr val="3366FF"/>
              </a:solidFill>
              <a:rou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852711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r>
              <a:rPr lang="en-US" altLang="zh-CN" sz="3810" b="1" dirty="0">
                <a:solidFill>
                  <a:srgbClr val="284C8A"/>
                </a:solidFill>
                <a:latin typeface="+mn-ea"/>
              </a:rPr>
              <a:t>—</a:t>
            </a:r>
            <a:r>
              <a:rPr lang="zh-CN" altLang="en-US" sz="3810" b="1" dirty="0">
                <a:solidFill>
                  <a:srgbClr val="284C8A"/>
                </a:solidFill>
                <a:latin typeface="+mn-ea"/>
              </a:rPr>
              <a:t>栈</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8" name="Rectangle 3"/>
          <p:cNvSpPr txBox="1">
            <a:spLocks noChangeArrowheads="1"/>
          </p:cNvSpPr>
          <p:nvPr/>
        </p:nvSpPr>
        <p:spPr>
          <a:xfrm>
            <a:off x="803061" y="930689"/>
            <a:ext cx="10681633" cy="3969786"/>
          </a:xfrm>
          <a:prstGeom prst="rect">
            <a:avLst/>
          </a:prstGeom>
        </p:spPr>
        <p:txBody>
          <a:bodyPr vert="horz" lIns="109162" tIns="54582" rIns="109162" bIns="54582" rtlCol="0">
            <a:normAutofit lnSpcReduction="10000"/>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栈（</a:t>
            </a:r>
            <a:r>
              <a:rPr lang="en-US" altLang="zh-CN" sz="2993" b="1" dirty="0"/>
              <a:t>Stack</a:t>
            </a:r>
            <a:r>
              <a:rPr lang="zh-CN" altLang="en-US" sz="2993" b="1" dirty="0"/>
              <a:t>）应用示例</a:t>
            </a:r>
            <a:endParaRPr lang="en-US" altLang="zh-CN" sz="2993" b="1" dirty="0"/>
          </a:p>
          <a:p>
            <a:pPr marL="492469" indent="0">
              <a:lnSpc>
                <a:spcPct val="130000"/>
              </a:lnSpc>
            </a:pPr>
            <a:r>
              <a:rPr lang="zh-CN" altLang="en-US" sz="2993" b="1" dirty="0"/>
              <a:t> </a:t>
            </a:r>
            <a:r>
              <a:rPr lang="zh-CN" altLang="en-US" b="1" dirty="0"/>
              <a:t>删除相邻的重复元素：</a:t>
            </a:r>
            <a:endParaRPr lang="en-US" altLang="zh-CN" b="1" dirty="0"/>
          </a:p>
          <a:p>
            <a:pPr marL="492469" indent="0">
              <a:lnSpc>
                <a:spcPct val="130000"/>
              </a:lnSpc>
              <a:buNone/>
            </a:pPr>
            <a:r>
              <a:rPr lang="en-US" altLang="zh-CN" sz="2000" dirty="0"/>
              <a:t>	</a:t>
            </a:r>
            <a:r>
              <a:rPr lang="zh-CN" altLang="en-US" sz="2000" dirty="0"/>
              <a:t>给定 </a:t>
            </a:r>
            <a:r>
              <a:rPr lang="en-US" altLang="zh-CN" sz="2000" dirty="0"/>
              <a:t>n (n &lt; 10000) </a:t>
            </a:r>
            <a:r>
              <a:rPr lang="zh-CN" altLang="en-US" sz="2000" dirty="0"/>
              <a:t>个数字，删除</a:t>
            </a:r>
            <a:r>
              <a:rPr lang="zh-CN" altLang="en-US" sz="2000" dirty="0">
                <a:solidFill>
                  <a:srgbClr val="FF0000"/>
                </a:solidFill>
              </a:rPr>
              <a:t>两两相邻重复</a:t>
            </a:r>
            <a:r>
              <a:rPr lang="zh-CN" altLang="en-US" sz="2000" dirty="0"/>
              <a:t>的数字后把剩余数字按原顺序输出。</a:t>
            </a:r>
            <a:endParaRPr lang="en-US" altLang="zh-CN" sz="2000" dirty="0"/>
          </a:p>
          <a:p>
            <a:pPr marL="492469" indent="0">
              <a:lnSpc>
                <a:spcPct val="130000"/>
              </a:lnSpc>
              <a:buNone/>
            </a:pPr>
            <a:endParaRPr lang="en-US" altLang="zh-CN" sz="2000" dirty="0"/>
          </a:p>
          <a:p>
            <a:pPr marL="492469" indent="0">
              <a:lnSpc>
                <a:spcPct val="130000"/>
              </a:lnSpc>
              <a:buNone/>
            </a:pPr>
            <a:r>
              <a:rPr lang="zh-CN" altLang="en-US" sz="2000" dirty="0"/>
              <a:t>例如：</a:t>
            </a:r>
            <a:r>
              <a:rPr lang="en-US" altLang="zh-CN" sz="2000" dirty="0"/>
              <a:t>	     1 3 </a:t>
            </a:r>
            <a:r>
              <a:rPr lang="en-US" altLang="zh-CN" sz="2000" dirty="0">
                <a:solidFill>
                  <a:srgbClr val="FF0000"/>
                </a:solidFill>
              </a:rPr>
              <a:t>5 5 </a:t>
            </a:r>
            <a:r>
              <a:rPr lang="en-US" altLang="zh-CN" sz="2000" dirty="0"/>
              <a:t>3 2 1 8 8 8   </a:t>
            </a:r>
            <a:r>
              <a:rPr lang="zh-CN" altLang="en-US" sz="2000" dirty="0"/>
              <a:t>（</a:t>
            </a:r>
            <a:r>
              <a:rPr lang="en-US" altLang="zh-CN" sz="2000" dirty="0"/>
              <a:t>5</a:t>
            </a:r>
            <a:r>
              <a:rPr lang="zh-CN" altLang="en-US" sz="2000" dirty="0"/>
              <a:t>相邻重复）</a:t>
            </a:r>
            <a:endParaRPr lang="en-US" altLang="zh-CN" sz="2000" dirty="0"/>
          </a:p>
          <a:p>
            <a:pPr marL="492469" indent="0">
              <a:lnSpc>
                <a:spcPct val="130000"/>
              </a:lnSpc>
              <a:buNone/>
            </a:pPr>
            <a:r>
              <a:rPr lang="zh-CN" altLang="en-US" sz="2000" dirty="0"/>
              <a:t>删除相邻</a:t>
            </a:r>
            <a:r>
              <a:rPr lang="en-US" altLang="zh-CN" sz="2000" dirty="0"/>
              <a:t>5</a:t>
            </a:r>
            <a:r>
              <a:rPr lang="zh-CN" altLang="en-US" sz="2000" dirty="0"/>
              <a:t>： </a:t>
            </a:r>
            <a:r>
              <a:rPr lang="en-US" altLang="zh-CN" sz="2000" dirty="0"/>
              <a:t>1 </a:t>
            </a:r>
            <a:r>
              <a:rPr lang="en-US" altLang="zh-CN" sz="2000" dirty="0">
                <a:solidFill>
                  <a:srgbClr val="FF0000"/>
                </a:solidFill>
              </a:rPr>
              <a:t>3 3 </a:t>
            </a:r>
            <a:r>
              <a:rPr lang="en-US" altLang="zh-CN" sz="2000" dirty="0"/>
              <a:t>2 1 8 8 8 	  </a:t>
            </a:r>
            <a:r>
              <a:rPr lang="zh-CN" altLang="en-US" sz="2000" dirty="0"/>
              <a:t>（</a:t>
            </a:r>
            <a:r>
              <a:rPr lang="en-US" altLang="zh-CN" sz="2000" dirty="0"/>
              <a:t>3</a:t>
            </a:r>
            <a:r>
              <a:rPr lang="zh-CN" altLang="en-US" sz="2000" dirty="0"/>
              <a:t>相邻重复）</a:t>
            </a:r>
            <a:endParaRPr lang="en-US" altLang="zh-CN" sz="2000" dirty="0"/>
          </a:p>
          <a:p>
            <a:pPr marL="492469" indent="0">
              <a:lnSpc>
                <a:spcPct val="130000"/>
              </a:lnSpc>
              <a:buNone/>
            </a:pPr>
            <a:r>
              <a:rPr lang="zh-CN" altLang="en-US" sz="2000" dirty="0"/>
              <a:t>删除相邻</a:t>
            </a:r>
            <a:r>
              <a:rPr lang="en-US" altLang="zh-CN" sz="2000" dirty="0"/>
              <a:t>3</a:t>
            </a:r>
            <a:r>
              <a:rPr lang="zh-CN" altLang="en-US" sz="2000" dirty="0"/>
              <a:t>： </a:t>
            </a:r>
            <a:r>
              <a:rPr lang="en-US" altLang="zh-CN" sz="2000" dirty="0"/>
              <a:t>1 2 1 </a:t>
            </a:r>
            <a:r>
              <a:rPr lang="en-US" altLang="zh-CN" sz="2000" dirty="0">
                <a:solidFill>
                  <a:srgbClr val="FF0000"/>
                </a:solidFill>
              </a:rPr>
              <a:t>8 8 </a:t>
            </a:r>
            <a:r>
              <a:rPr lang="en-US" altLang="zh-CN" sz="2000" dirty="0"/>
              <a:t>8 		  </a:t>
            </a:r>
            <a:r>
              <a:rPr lang="zh-CN" altLang="en-US" sz="2000" dirty="0"/>
              <a:t>（</a:t>
            </a:r>
            <a:r>
              <a:rPr lang="en-US" altLang="zh-CN" sz="2000" dirty="0"/>
              <a:t>8</a:t>
            </a:r>
            <a:r>
              <a:rPr lang="zh-CN" altLang="en-US" sz="2000" dirty="0"/>
              <a:t>相邻重复）</a:t>
            </a:r>
            <a:endParaRPr lang="en-US" altLang="zh-CN" sz="2000" dirty="0"/>
          </a:p>
          <a:p>
            <a:pPr marL="492469" indent="0">
              <a:lnSpc>
                <a:spcPct val="130000"/>
              </a:lnSpc>
              <a:buNone/>
            </a:pPr>
            <a:r>
              <a:rPr lang="zh-CN" altLang="en-US" sz="2000" dirty="0"/>
              <a:t>删除相邻</a:t>
            </a:r>
            <a:r>
              <a:rPr lang="en-US" altLang="zh-CN" sz="2000" dirty="0"/>
              <a:t>8</a:t>
            </a:r>
            <a:r>
              <a:rPr lang="zh-CN" altLang="en-US" sz="2000" dirty="0"/>
              <a:t>： </a:t>
            </a:r>
            <a:r>
              <a:rPr lang="en-US" altLang="zh-CN" sz="2000" dirty="0"/>
              <a:t>1 2 1 8</a:t>
            </a:r>
            <a:r>
              <a:rPr lang="zh-CN" altLang="en-US" sz="2000" dirty="0"/>
              <a:t>   </a:t>
            </a:r>
            <a:r>
              <a:rPr lang="en-US" altLang="zh-CN" sz="2000" dirty="0"/>
              <a:t>		  </a:t>
            </a:r>
            <a:r>
              <a:rPr lang="zh-CN" altLang="en-US" sz="2000" dirty="0"/>
              <a:t>（无相邻重复 </a:t>
            </a:r>
            <a:r>
              <a:rPr lang="en-US" altLang="zh-CN" sz="2000" dirty="0"/>
              <a:t>—— </a:t>
            </a:r>
            <a:r>
              <a:rPr lang="zh-CN" altLang="en-US" sz="2000" dirty="0"/>
              <a:t>输出答案）</a:t>
            </a:r>
            <a:endParaRPr lang="en-US" altLang="zh-CN" sz="2000" dirty="0"/>
          </a:p>
          <a:p>
            <a:pPr marL="492469" indent="0">
              <a:lnSpc>
                <a:spcPct val="130000"/>
              </a:lnSpc>
              <a:buNone/>
            </a:pPr>
            <a:endParaRPr lang="en-US" altLang="zh-CN" sz="2000" dirty="0"/>
          </a:p>
        </p:txBody>
      </p:sp>
      <p:sp>
        <p:nvSpPr>
          <p:cNvPr id="2" name="文本框 1">
            <a:extLst>
              <a:ext uri="{FF2B5EF4-FFF2-40B4-BE49-F238E27FC236}">
                <a16:creationId xmlns:a16="http://schemas.microsoft.com/office/drawing/2014/main" id="{6B3C30D0-BCDE-8AA5-FAF7-08E93984EA90}"/>
              </a:ext>
            </a:extLst>
          </p:cNvPr>
          <p:cNvSpPr txBox="1"/>
          <p:nvPr/>
        </p:nvSpPr>
        <p:spPr>
          <a:xfrm>
            <a:off x="777372" y="4806831"/>
            <a:ext cx="10681633" cy="1169551"/>
          </a:xfrm>
          <a:prstGeom prst="rect">
            <a:avLst/>
          </a:prstGeom>
          <a:noFill/>
        </p:spPr>
        <p:txBody>
          <a:bodyPr wrap="square" rtlCol="0">
            <a:spAutoFit/>
          </a:bodyPr>
          <a:lstStyle/>
          <a:p>
            <a:pPr marL="492469" indent="0">
              <a:lnSpc>
                <a:spcPct val="130000"/>
              </a:lnSpc>
              <a:buNone/>
            </a:pPr>
            <a:r>
              <a:rPr lang="zh-CN" altLang="en-US" sz="2000" dirty="0"/>
              <a:t>很容易想到：不断从左到右扫描这个数组，把两两相邻重复的删掉，直到数组里不再出现</a:t>
            </a:r>
            <a:r>
              <a:rPr lang="en-US" altLang="zh-CN" sz="2000" dirty="0"/>
              <a:t>		   </a:t>
            </a:r>
            <a:r>
              <a:rPr lang="zh-CN" altLang="en-US" sz="2000" dirty="0"/>
              <a:t>相邻重复停止扫描，输出答案。</a:t>
            </a:r>
            <a:endParaRPr lang="en-US" altLang="zh-CN" sz="2000" dirty="0"/>
          </a:p>
          <a:p>
            <a:endParaRPr lang="zh-CN" altLang="en-US" dirty="0"/>
          </a:p>
        </p:txBody>
      </p:sp>
      <p:sp>
        <p:nvSpPr>
          <p:cNvPr id="3" name="文本框 2">
            <a:extLst>
              <a:ext uri="{FF2B5EF4-FFF2-40B4-BE49-F238E27FC236}">
                <a16:creationId xmlns:a16="http://schemas.microsoft.com/office/drawing/2014/main" id="{8D5D4F62-F101-F476-9B12-7E3FE1464D72}"/>
              </a:ext>
            </a:extLst>
          </p:cNvPr>
          <p:cNvSpPr txBox="1"/>
          <p:nvPr/>
        </p:nvSpPr>
        <p:spPr>
          <a:xfrm>
            <a:off x="1251752" y="5715081"/>
            <a:ext cx="5540299" cy="1200329"/>
          </a:xfrm>
          <a:prstGeom prst="rect">
            <a:avLst/>
          </a:prstGeom>
          <a:noFill/>
        </p:spPr>
        <p:txBody>
          <a:bodyPr wrap="none" rtlCol="0">
            <a:spAutoFit/>
          </a:bodyPr>
          <a:lstStyle/>
          <a:p>
            <a:pPr>
              <a:lnSpc>
                <a:spcPct val="150000"/>
              </a:lnSpc>
            </a:pPr>
            <a:r>
              <a:rPr lang="zh-CN" altLang="en-US" sz="1800" dirty="0"/>
              <a:t>缺点：要多次扫描整个数组，速度太慢。</a:t>
            </a:r>
            <a:endParaRPr lang="en-US" altLang="zh-CN" sz="1800" dirty="0"/>
          </a:p>
          <a:p>
            <a:pPr>
              <a:lnSpc>
                <a:spcPct val="150000"/>
              </a:lnSpc>
            </a:pPr>
            <a:r>
              <a:rPr lang="zh-CN" altLang="en-US" sz="1800" dirty="0"/>
              <a:t>思考</a:t>
            </a:r>
            <a:r>
              <a:rPr lang="en-US" altLang="zh-CN" sz="1800" dirty="0"/>
              <a:t>:  </a:t>
            </a:r>
            <a:r>
              <a:rPr lang="zh-CN" altLang="en-US" sz="1800" dirty="0"/>
              <a:t>怎么通过一次扫描删除所有相邻重复的数字对</a:t>
            </a:r>
            <a:r>
              <a:rPr lang="en-US" altLang="zh-CN" sz="1800" dirty="0"/>
              <a:t>?</a:t>
            </a:r>
          </a:p>
          <a:p>
            <a:endParaRPr lang="zh-CN" altLang="en-US" dirty="0"/>
          </a:p>
        </p:txBody>
      </p:sp>
    </p:spTree>
    <p:extLst>
      <p:ext uri="{BB962C8B-B14F-4D97-AF65-F5344CB8AC3E}">
        <p14:creationId xmlns:p14="http://schemas.microsoft.com/office/powerpoint/2010/main" val="30212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r>
              <a:rPr lang="en-US" altLang="zh-CN" sz="3810" b="1" dirty="0">
                <a:solidFill>
                  <a:srgbClr val="284C8A"/>
                </a:solidFill>
                <a:latin typeface="+mn-ea"/>
              </a:rPr>
              <a:t>—</a:t>
            </a:r>
            <a:r>
              <a:rPr lang="zh-CN" altLang="en-US" sz="3810" b="1" dirty="0">
                <a:solidFill>
                  <a:srgbClr val="284C8A"/>
                </a:solidFill>
                <a:latin typeface="+mn-ea"/>
              </a:rPr>
              <a:t>栈</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8" name="Rectangle 3"/>
          <p:cNvSpPr txBox="1">
            <a:spLocks noChangeArrowheads="1"/>
          </p:cNvSpPr>
          <p:nvPr/>
        </p:nvSpPr>
        <p:spPr>
          <a:xfrm>
            <a:off x="803061" y="930691"/>
            <a:ext cx="10681633" cy="1953408"/>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栈（</a:t>
            </a:r>
            <a:r>
              <a:rPr lang="en-US" altLang="zh-CN" sz="2993" b="1" dirty="0"/>
              <a:t>Stack</a:t>
            </a:r>
            <a:r>
              <a:rPr lang="zh-CN" altLang="en-US" sz="2993" b="1" dirty="0"/>
              <a:t>）应用示例</a:t>
            </a:r>
            <a:endParaRPr lang="en-US" altLang="zh-CN" sz="2993" b="1" dirty="0"/>
          </a:p>
          <a:p>
            <a:pPr marL="492469" indent="0">
              <a:lnSpc>
                <a:spcPct val="130000"/>
              </a:lnSpc>
              <a:buNone/>
            </a:pPr>
            <a:r>
              <a:rPr lang="zh-CN" altLang="en-US" sz="1800" dirty="0"/>
              <a:t>给定 </a:t>
            </a:r>
            <a:r>
              <a:rPr lang="en-US" altLang="zh-CN" sz="1800" dirty="0"/>
              <a:t>n (n &lt; 10000) </a:t>
            </a:r>
            <a:r>
              <a:rPr lang="zh-CN" altLang="en-US" sz="1800" dirty="0"/>
              <a:t>个数字，删除</a:t>
            </a:r>
            <a:r>
              <a:rPr lang="zh-CN" altLang="en-US" sz="1800" dirty="0">
                <a:solidFill>
                  <a:srgbClr val="FF0000"/>
                </a:solidFill>
              </a:rPr>
              <a:t>两两相邻重复</a:t>
            </a:r>
            <a:r>
              <a:rPr lang="zh-CN" altLang="en-US" sz="1800" dirty="0"/>
              <a:t>的数字后把剩余数字按原顺序输出。</a:t>
            </a:r>
            <a:endParaRPr lang="en-US" altLang="zh-CN" sz="1800" dirty="0"/>
          </a:p>
          <a:p>
            <a:pPr marL="492469" indent="0">
              <a:lnSpc>
                <a:spcPct val="130000"/>
              </a:lnSpc>
              <a:buNone/>
            </a:pPr>
            <a:r>
              <a:rPr lang="zh-CN" altLang="en-US" sz="1800" dirty="0"/>
              <a:t>例如</a:t>
            </a:r>
            <a:r>
              <a:rPr lang="en-US" altLang="zh-CN" sz="1800" dirty="0"/>
              <a:t>: 1 3 5 5 3 2 1 8 8 8</a:t>
            </a:r>
          </a:p>
          <a:p>
            <a:pPr marL="492469" indent="0">
              <a:lnSpc>
                <a:spcPct val="130000"/>
              </a:lnSpc>
              <a:buNone/>
            </a:pPr>
            <a:r>
              <a:rPr lang="zh-CN" altLang="en-US" sz="1800" dirty="0"/>
              <a:t>遍历过程中每个数字都和前一个未被删除的数字比较即可。</a:t>
            </a:r>
            <a:endParaRPr lang="en-US" altLang="zh-CN" sz="1800" dirty="0"/>
          </a:p>
        </p:txBody>
      </p:sp>
      <p:grpSp>
        <p:nvGrpSpPr>
          <p:cNvPr id="2" name="组合 1">
            <a:extLst>
              <a:ext uri="{FF2B5EF4-FFF2-40B4-BE49-F238E27FC236}">
                <a16:creationId xmlns:a16="http://schemas.microsoft.com/office/drawing/2014/main" id="{D0BCD9FB-5244-36C4-C1C7-F3141E9FC3AD}"/>
              </a:ext>
            </a:extLst>
          </p:cNvPr>
          <p:cNvGrpSpPr/>
          <p:nvPr/>
        </p:nvGrpSpPr>
        <p:grpSpPr>
          <a:xfrm>
            <a:off x="1497958" y="3484021"/>
            <a:ext cx="763835" cy="2492361"/>
            <a:chOff x="4263901" y="3024212"/>
            <a:chExt cx="561383" cy="1831770"/>
          </a:xfrm>
        </p:grpSpPr>
        <p:sp>
          <p:nvSpPr>
            <p:cNvPr id="3" name="文本框 2">
              <a:extLst>
                <a:ext uri="{FF2B5EF4-FFF2-40B4-BE49-F238E27FC236}">
                  <a16:creationId xmlns:a16="http://schemas.microsoft.com/office/drawing/2014/main" id="{2C56A056-9C46-B7CE-6706-E106B9398502}"/>
                </a:ext>
              </a:extLst>
            </p:cNvPr>
            <p:cNvSpPr txBox="1"/>
            <p:nvPr/>
          </p:nvSpPr>
          <p:spPr>
            <a:xfrm>
              <a:off x="4263901" y="4511119"/>
              <a:ext cx="561383" cy="344863"/>
            </a:xfrm>
            <a:prstGeom prst="rect">
              <a:avLst/>
            </a:prstGeom>
            <a:noFill/>
          </p:spPr>
          <p:txBody>
            <a:bodyPr wrap="square" rtlCol="0">
              <a:spAutoFit/>
            </a:bodyPr>
            <a:lstStyle/>
            <a:p>
              <a:pPr algn="ctr"/>
              <a:r>
                <a:rPr lang="zh-CN" altLang="en-US" sz="2449" dirty="0"/>
                <a:t>栈</a:t>
              </a:r>
            </a:p>
          </p:txBody>
        </p:sp>
        <p:sp>
          <p:nvSpPr>
            <p:cNvPr id="4" name="矩形 3">
              <a:extLst>
                <a:ext uri="{FF2B5EF4-FFF2-40B4-BE49-F238E27FC236}">
                  <a16:creationId xmlns:a16="http://schemas.microsoft.com/office/drawing/2014/main" id="{607B92B7-9179-36BE-8E0A-9FCBB9FE8928}"/>
                </a:ext>
              </a:extLst>
            </p:cNvPr>
            <p:cNvSpPr/>
            <p:nvPr/>
          </p:nvSpPr>
          <p:spPr>
            <a:xfrm>
              <a:off x="4292565" y="3384252"/>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F504913D-6780-AD03-C5BF-3FF6B17D7FE5}"/>
                </a:ext>
              </a:extLst>
            </p:cNvPr>
            <p:cNvSpPr/>
            <p:nvPr/>
          </p:nvSpPr>
          <p:spPr>
            <a:xfrm>
              <a:off x="4292565" y="3672284"/>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D4F60734-0429-4DCB-8DEA-2147CB4DD3D2}"/>
                </a:ext>
              </a:extLst>
            </p:cNvPr>
            <p:cNvSpPr/>
            <p:nvPr/>
          </p:nvSpPr>
          <p:spPr>
            <a:xfrm>
              <a:off x="4292565" y="3960316"/>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E22AEE49-BB56-1294-8E6B-A17957A4289A}"/>
                </a:ext>
              </a:extLst>
            </p:cNvPr>
            <p:cNvSpPr/>
            <p:nvPr/>
          </p:nvSpPr>
          <p:spPr>
            <a:xfrm>
              <a:off x="4292565" y="4248348"/>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cxnSp>
          <p:nvCxnSpPr>
            <p:cNvPr id="9" name="直接连接符 8">
              <a:extLst>
                <a:ext uri="{FF2B5EF4-FFF2-40B4-BE49-F238E27FC236}">
                  <a16:creationId xmlns:a16="http://schemas.microsoft.com/office/drawing/2014/main" id="{F40832AF-03B6-9BF1-1C4B-D44D4B783EAB}"/>
                </a:ext>
              </a:extLst>
            </p:cNvPr>
            <p:cNvCxnSpPr/>
            <p:nvPr/>
          </p:nvCxnSpPr>
          <p:spPr>
            <a:xfrm>
              <a:off x="4292565"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3C6DBB6-B55E-6B6B-B61C-8633440EDAB3}"/>
                </a:ext>
              </a:extLst>
            </p:cNvPr>
            <p:cNvCxnSpPr/>
            <p:nvPr/>
          </p:nvCxnSpPr>
          <p:spPr>
            <a:xfrm>
              <a:off x="4796621"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 name="文本框 11">
            <a:extLst>
              <a:ext uri="{FF2B5EF4-FFF2-40B4-BE49-F238E27FC236}">
                <a16:creationId xmlns:a16="http://schemas.microsoft.com/office/drawing/2014/main" id="{5DA26ACD-3D82-D863-9A15-0AC6C0AE45FA}"/>
              </a:ext>
            </a:extLst>
          </p:cNvPr>
          <p:cNvSpPr txBox="1"/>
          <p:nvPr/>
        </p:nvSpPr>
        <p:spPr>
          <a:xfrm>
            <a:off x="1575960" y="5173503"/>
            <a:ext cx="602559" cy="369332"/>
          </a:xfrm>
          <a:prstGeom prst="rect">
            <a:avLst/>
          </a:prstGeom>
          <a:noFill/>
        </p:spPr>
        <p:txBody>
          <a:bodyPr wrap="square" rtlCol="0">
            <a:spAutoFit/>
          </a:bodyPr>
          <a:lstStyle/>
          <a:p>
            <a:pPr algn="ctr"/>
            <a:r>
              <a:rPr lang="en-US" altLang="zh-CN" dirty="0">
                <a:solidFill>
                  <a:srgbClr val="FF0000"/>
                </a:solidFill>
              </a:rPr>
              <a:t>1</a:t>
            </a:r>
            <a:endParaRPr lang="zh-CN" altLang="en-US" dirty="0">
              <a:solidFill>
                <a:srgbClr val="FF0000"/>
              </a:solidFill>
            </a:endParaRPr>
          </a:p>
        </p:txBody>
      </p:sp>
      <p:sp>
        <p:nvSpPr>
          <p:cNvPr id="13" name="文本框 12">
            <a:extLst>
              <a:ext uri="{FF2B5EF4-FFF2-40B4-BE49-F238E27FC236}">
                <a16:creationId xmlns:a16="http://schemas.microsoft.com/office/drawing/2014/main" id="{2654BE5A-99DD-E48C-EE54-31C4C69FDB91}"/>
              </a:ext>
            </a:extLst>
          </p:cNvPr>
          <p:cNvSpPr txBox="1"/>
          <p:nvPr/>
        </p:nvSpPr>
        <p:spPr>
          <a:xfrm>
            <a:off x="1056085" y="2933171"/>
            <a:ext cx="1820276" cy="369332"/>
          </a:xfrm>
          <a:prstGeom prst="rect">
            <a:avLst/>
          </a:prstGeom>
          <a:noFill/>
        </p:spPr>
        <p:txBody>
          <a:bodyPr wrap="square" rtlCol="0">
            <a:spAutoFit/>
          </a:bodyPr>
          <a:lstStyle/>
          <a:p>
            <a:r>
              <a:rPr lang="en-US" altLang="zh-CN" u="sng" dirty="0">
                <a:solidFill>
                  <a:srgbClr val="FF0000"/>
                </a:solidFill>
              </a:rPr>
              <a:t>3</a:t>
            </a:r>
            <a:r>
              <a:rPr lang="en-US" altLang="zh-CN" u="sng" dirty="0"/>
              <a:t> 5 5 3 2 1 8 8 8</a:t>
            </a:r>
            <a:endParaRPr lang="zh-CN" altLang="en-US" u="sng" dirty="0"/>
          </a:p>
        </p:txBody>
      </p:sp>
      <p:grpSp>
        <p:nvGrpSpPr>
          <p:cNvPr id="14" name="组合 13">
            <a:extLst>
              <a:ext uri="{FF2B5EF4-FFF2-40B4-BE49-F238E27FC236}">
                <a16:creationId xmlns:a16="http://schemas.microsoft.com/office/drawing/2014/main" id="{E2DEEF6E-38B8-D150-E03B-BCD466D8B480}"/>
              </a:ext>
            </a:extLst>
          </p:cNvPr>
          <p:cNvGrpSpPr/>
          <p:nvPr/>
        </p:nvGrpSpPr>
        <p:grpSpPr>
          <a:xfrm>
            <a:off x="3326509" y="3484021"/>
            <a:ext cx="763835" cy="2492361"/>
            <a:chOff x="4263901" y="3024212"/>
            <a:chExt cx="561383" cy="1831770"/>
          </a:xfrm>
        </p:grpSpPr>
        <p:sp>
          <p:nvSpPr>
            <p:cNvPr id="15" name="文本框 14">
              <a:extLst>
                <a:ext uri="{FF2B5EF4-FFF2-40B4-BE49-F238E27FC236}">
                  <a16:creationId xmlns:a16="http://schemas.microsoft.com/office/drawing/2014/main" id="{C140E7A2-A3AD-100D-33E2-91EB21A7A4B4}"/>
                </a:ext>
              </a:extLst>
            </p:cNvPr>
            <p:cNvSpPr txBox="1"/>
            <p:nvPr/>
          </p:nvSpPr>
          <p:spPr>
            <a:xfrm>
              <a:off x="4263901" y="4511119"/>
              <a:ext cx="561383" cy="344863"/>
            </a:xfrm>
            <a:prstGeom prst="rect">
              <a:avLst/>
            </a:prstGeom>
            <a:noFill/>
          </p:spPr>
          <p:txBody>
            <a:bodyPr wrap="square" rtlCol="0">
              <a:spAutoFit/>
            </a:bodyPr>
            <a:lstStyle/>
            <a:p>
              <a:pPr algn="ctr"/>
              <a:r>
                <a:rPr lang="zh-CN" altLang="en-US" sz="2449" dirty="0"/>
                <a:t>栈</a:t>
              </a:r>
            </a:p>
          </p:txBody>
        </p:sp>
        <p:sp>
          <p:nvSpPr>
            <p:cNvPr id="20" name="矩形 19">
              <a:extLst>
                <a:ext uri="{FF2B5EF4-FFF2-40B4-BE49-F238E27FC236}">
                  <a16:creationId xmlns:a16="http://schemas.microsoft.com/office/drawing/2014/main" id="{72B2271E-562F-0C20-2DF8-4FFDF3335B49}"/>
                </a:ext>
              </a:extLst>
            </p:cNvPr>
            <p:cNvSpPr/>
            <p:nvPr/>
          </p:nvSpPr>
          <p:spPr>
            <a:xfrm>
              <a:off x="4292565" y="3384252"/>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21" name="矩形 20">
              <a:extLst>
                <a:ext uri="{FF2B5EF4-FFF2-40B4-BE49-F238E27FC236}">
                  <a16:creationId xmlns:a16="http://schemas.microsoft.com/office/drawing/2014/main" id="{0FAB5C59-7D38-9D5B-106B-6DF6E038EAD0}"/>
                </a:ext>
              </a:extLst>
            </p:cNvPr>
            <p:cNvSpPr/>
            <p:nvPr/>
          </p:nvSpPr>
          <p:spPr>
            <a:xfrm>
              <a:off x="4292565" y="3672284"/>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22" name="矩形 21">
              <a:extLst>
                <a:ext uri="{FF2B5EF4-FFF2-40B4-BE49-F238E27FC236}">
                  <a16:creationId xmlns:a16="http://schemas.microsoft.com/office/drawing/2014/main" id="{ACD68E20-E0E7-B4B9-F65C-73BDD503CB6A}"/>
                </a:ext>
              </a:extLst>
            </p:cNvPr>
            <p:cNvSpPr/>
            <p:nvPr/>
          </p:nvSpPr>
          <p:spPr>
            <a:xfrm>
              <a:off x="4292565" y="3960316"/>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23" name="矩形 22">
              <a:extLst>
                <a:ext uri="{FF2B5EF4-FFF2-40B4-BE49-F238E27FC236}">
                  <a16:creationId xmlns:a16="http://schemas.microsoft.com/office/drawing/2014/main" id="{E0F04348-8DBA-DA4F-143F-107CF1DC393F}"/>
                </a:ext>
              </a:extLst>
            </p:cNvPr>
            <p:cNvSpPr/>
            <p:nvPr/>
          </p:nvSpPr>
          <p:spPr>
            <a:xfrm>
              <a:off x="4292565" y="4248348"/>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cxnSp>
          <p:nvCxnSpPr>
            <p:cNvPr id="24" name="直接连接符 23">
              <a:extLst>
                <a:ext uri="{FF2B5EF4-FFF2-40B4-BE49-F238E27FC236}">
                  <a16:creationId xmlns:a16="http://schemas.microsoft.com/office/drawing/2014/main" id="{2F4E3A7A-5623-5A57-22FB-2F8EB3494F21}"/>
                </a:ext>
              </a:extLst>
            </p:cNvPr>
            <p:cNvCxnSpPr/>
            <p:nvPr/>
          </p:nvCxnSpPr>
          <p:spPr>
            <a:xfrm>
              <a:off x="4292565"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BB3F9692-82C4-C1E2-4C6A-C058B4A31EB6}"/>
                </a:ext>
              </a:extLst>
            </p:cNvPr>
            <p:cNvCxnSpPr/>
            <p:nvPr/>
          </p:nvCxnSpPr>
          <p:spPr>
            <a:xfrm>
              <a:off x="4796621"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文本框 25">
            <a:extLst>
              <a:ext uri="{FF2B5EF4-FFF2-40B4-BE49-F238E27FC236}">
                <a16:creationId xmlns:a16="http://schemas.microsoft.com/office/drawing/2014/main" id="{93B815C9-DA82-30C7-C1A8-A20403655548}"/>
              </a:ext>
            </a:extLst>
          </p:cNvPr>
          <p:cNvSpPr txBox="1"/>
          <p:nvPr/>
        </p:nvSpPr>
        <p:spPr>
          <a:xfrm>
            <a:off x="3388483" y="5173503"/>
            <a:ext cx="602559" cy="369332"/>
          </a:xfrm>
          <a:prstGeom prst="rect">
            <a:avLst/>
          </a:prstGeom>
          <a:noFill/>
        </p:spPr>
        <p:txBody>
          <a:bodyPr wrap="square" rtlCol="0">
            <a:spAutoFit/>
          </a:bodyPr>
          <a:lstStyle/>
          <a:p>
            <a:pPr algn="ctr"/>
            <a:r>
              <a:rPr lang="en-US" altLang="zh-CN" dirty="0"/>
              <a:t>1</a:t>
            </a:r>
            <a:endParaRPr lang="zh-CN" altLang="en-US" dirty="0"/>
          </a:p>
        </p:txBody>
      </p:sp>
      <p:sp>
        <p:nvSpPr>
          <p:cNvPr id="27" name="文本框 26">
            <a:extLst>
              <a:ext uri="{FF2B5EF4-FFF2-40B4-BE49-F238E27FC236}">
                <a16:creationId xmlns:a16="http://schemas.microsoft.com/office/drawing/2014/main" id="{709C0FC5-FCEE-62F3-2CC8-2AAF8330368D}"/>
              </a:ext>
            </a:extLst>
          </p:cNvPr>
          <p:cNvSpPr txBox="1"/>
          <p:nvPr/>
        </p:nvSpPr>
        <p:spPr>
          <a:xfrm>
            <a:off x="3388482" y="4783513"/>
            <a:ext cx="602559" cy="369332"/>
          </a:xfrm>
          <a:prstGeom prst="rect">
            <a:avLst/>
          </a:prstGeom>
          <a:noFill/>
        </p:spPr>
        <p:txBody>
          <a:bodyPr wrap="square" rtlCol="0">
            <a:spAutoFit/>
          </a:bodyPr>
          <a:lstStyle/>
          <a:p>
            <a:pPr algn="ctr"/>
            <a:r>
              <a:rPr lang="en-US" altLang="zh-CN" dirty="0">
                <a:solidFill>
                  <a:srgbClr val="FF0000"/>
                </a:solidFill>
              </a:rPr>
              <a:t>3</a:t>
            </a:r>
            <a:endParaRPr lang="zh-CN" altLang="en-US" dirty="0">
              <a:solidFill>
                <a:srgbClr val="FF0000"/>
              </a:solidFill>
            </a:endParaRPr>
          </a:p>
        </p:txBody>
      </p:sp>
      <p:sp>
        <p:nvSpPr>
          <p:cNvPr id="28" name="文本框 27">
            <a:extLst>
              <a:ext uri="{FF2B5EF4-FFF2-40B4-BE49-F238E27FC236}">
                <a16:creationId xmlns:a16="http://schemas.microsoft.com/office/drawing/2014/main" id="{F24ADB95-A0B2-065D-3AA8-BF3E0DB6DD4D}"/>
              </a:ext>
            </a:extLst>
          </p:cNvPr>
          <p:cNvSpPr txBox="1"/>
          <p:nvPr/>
        </p:nvSpPr>
        <p:spPr>
          <a:xfrm>
            <a:off x="2779623" y="2927272"/>
            <a:ext cx="1820276" cy="369332"/>
          </a:xfrm>
          <a:prstGeom prst="rect">
            <a:avLst/>
          </a:prstGeom>
          <a:noFill/>
        </p:spPr>
        <p:txBody>
          <a:bodyPr wrap="square" rtlCol="0">
            <a:spAutoFit/>
          </a:bodyPr>
          <a:lstStyle/>
          <a:p>
            <a:pPr algn="ctr"/>
            <a:r>
              <a:rPr lang="en-US" altLang="zh-CN" dirty="0"/>
              <a:t> </a:t>
            </a:r>
            <a:r>
              <a:rPr lang="en-US" altLang="zh-CN" u="sng" dirty="0">
                <a:solidFill>
                  <a:srgbClr val="FF0000"/>
                </a:solidFill>
              </a:rPr>
              <a:t>5</a:t>
            </a:r>
            <a:r>
              <a:rPr lang="en-US" altLang="zh-CN" u="sng" dirty="0"/>
              <a:t> 5 3 2 1 8 8 8</a:t>
            </a:r>
            <a:endParaRPr lang="zh-CN" altLang="en-US" u="sng" dirty="0"/>
          </a:p>
        </p:txBody>
      </p:sp>
      <p:grpSp>
        <p:nvGrpSpPr>
          <p:cNvPr id="37" name="组合 36">
            <a:extLst>
              <a:ext uri="{FF2B5EF4-FFF2-40B4-BE49-F238E27FC236}">
                <a16:creationId xmlns:a16="http://schemas.microsoft.com/office/drawing/2014/main" id="{95DB7222-F6FA-4DFD-4C8B-E9E83BF10D89}"/>
              </a:ext>
            </a:extLst>
          </p:cNvPr>
          <p:cNvGrpSpPr/>
          <p:nvPr/>
        </p:nvGrpSpPr>
        <p:grpSpPr>
          <a:xfrm>
            <a:off x="4773142" y="3484021"/>
            <a:ext cx="763835" cy="2492361"/>
            <a:chOff x="4263901" y="3024212"/>
            <a:chExt cx="561383" cy="1831770"/>
          </a:xfrm>
        </p:grpSpPr>
        <p:sp>
          <p:nvSpPr>
            <p:cNvPr id="38" name="文本框 37">
              <a:extLst>
                <a:ext uri="{FF2B5EF4-FFF2-40B4-BE49-F238E27FC236}">
                  <a16:creationId xmlns:a16="http://schemas.microsoft.com/office/drawing/2014/main" id="{A000E743-2318-59A9-06C6-5DCD0383A031}"/>
                </a:ext>
              </a:extLst>
            </p:cNvPr>
            <p:cNvSpPr txBox="1"/>
            <p:nvPr/>
          </p:nvSpPr>
          <p:spPr>
            <a:xfrm>
              <a:off x="4263901" y="4511119"/>
              <a:ext cx="561383" cy="344863"/>
            </a:xfrm>
            <a:prstGeom prst="rect">
              <a:avLst/>
            </a:prstGeom>
            <a:noFill/>
          </p:spPr>
          <p:txBody>
            <a:bodyPr wrap="square" rtlCol="0">
              <a:spAutoFit/>
            </a:bodyPr>
            <a:lstStyle/>
            <a:p>
              <a:pPr algn="ctr"/>
              <a:r>
                <a:rPr lang="zh-CN" altLang="en-US" sz="2449" dirty="0"/>
                <a:t>栈</a:t>
              </a:r>
            </a:p>
          </p:txBody>
        </p:sp>
        <p:sp>
          <p:nvSpPr>
            <p:cNvPr id="39" name="矩形 38">
              <a:extLst>
                <a:ext uri="{FF2B5EF4-FFF2-40B4-BE49-F238E27FC236}">
                  <a16:creationId xmlns:a16="http://schemas.microsoft.com/office/drawing/2014/main" id="{EA71AA78-600F-1AD3-8DA8-3BB8950C801A}"/>
                </a:ext>
              </a:extLst>
            </p:cNvPr>
            <p:cNvSpPr/>
            <p:nvPr/>
          </p:nvSpPr>
          <p:spPr>
            <a:xfrm>
              <a:off x="4292565" y="3384252"/>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40" name="矩形 39">
              <a:extLst>
                <a:ext uri="{FF2B5EF4-FFF2-40B4-BE49-F238E27FC236}">
                  <a16:creationId xmlns:a16="http://schemas.microsoft.com/office/drawing/2014/main" id="{8863E7FA-535D-3F4D-BA49-74B92FB5DF56}"/>
                </a:ext>
              </a:extLst>
            </p:cNvPr>
            <p:cNvSpPr/>
            <p:nvPr/>
          </p:nvSpPr>
          <p:spPr>
            <a:xfrm>
              <a:off x="4292565" y="3672284"/>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41" name="矩形 40">
              <a:extLst>
                <a:ext uri="{FF2B5EF4-FFF2-40B4-BE49-F238E27FC236}">
                  <a16:creationId xmlns:a16="http://schemas.microsoft.com/office/drawing/2014/main" id="{57B97F0E-6CA6-26D4-657B-49FA2160C90F}"/>
                </a:ext>
              </a:extLst>
            </p:cNvPr>
            <p:cNvSpPr/>
            <p:nvPr/>
          </p:nvSpPr>
          <p:spPr>
            <a:xfrm>
              <a:off x="4292565" y="3960316"/>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42" name="矩形 41">
              <a:extLst>
                <a:ext uri="{FF2B5EF4-FFF2-40B4-BE49-F238E27FC236}">
                  <a16:creationId xmlns:a16="http://schemas.microsoft.com/office/drawing/2014/main" id="{3040BBBE-EF54-169B-E7A6-68DDC56D09F3}"/>
                </a:ext>
              </a:extLst>
            </p:cNvPr>
            <p:cNvSpPr/>
            <p:nvPr/>
          </p:nvSpPr>
          <p:spPr>
            <a:xfrm>
              <a:off x="4292565" y="4248348"/>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cxnSp>
          <p:nvCxnSpPr>
            <p:cNvPr id="43" name="直接连接符 42">
              <a:extLst>
                <a:ext uri="{FF2B5EF4-FFF2-40B4-BE49-F238E27FC236}">
                  <a16:creationId xmlns:a16="http://schemas.microsoft.com/office/drawing/2014/main" id="{12F8EF0A-F38D-BBD3-1DF9-BA5B6F30D6A9}"/>
                </a:ext>
              </a:extLst>
            </p:cNvPr>
            <p:cNvCxnSpPr/>
            <p:nvPr/>
          </p:nvCxnSpPr>
          <p:spPr>
            <a:xfrm>
              <a:off x="4292565"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C6E3D96A-76AD-F977-FD3F-B8DDC35844E2}"/>
                </a:ext>
              </a:extLst>
            </p:cNvPr>
            <p:cNvCxnSpPr/>
            <p:nvPr/>
          </p:nvCxnSpPr>
          <p:spPr>
            <a:xfrm>
              <a:off x="4796621"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 name="文本框 44">
            <a:extLst>
              <a:ext uri="{FF2B5EF4-FFF2-40B4-BE49-F238E27FC236}">
                <a16:creationId xmlns:a16="http://schemas.microsoft.com/office/drawing/2014/main" id="{AE1B7458-C6C8-8C08-B70F-802C419EF6DB}"/>
              </a:ext>
            </a:extLst>
          </p:cNvPr>
          <p:cNvSpPr txBox="1"/>
          <p:nvPr/>
        </p:nvSpPr>
        <p:spPr>
          <a:xfrm>
            <a:off x="4851143" y="5228524"/>
            <a:ext cx="602559" cy="369332"/>
          </a:xfrm>
          <a:prstGeom prst="rect">
            <a:avLst/>
          </a:prstGeom>
          <a:noFill/>
        </p:spPr>
        <p:txBody>
          <a:bodyPr wrap="square" rtlCol="0">
            <a:spAutoFit/>
          </a:bodyPr>
          <a:lstStyle/>
          <a:p>
            <a:pPr algn="ctr"/>
            <a:r>
              <a:rPr lang="en-US" altLang="zh-CN" dirty="0"/>
              <a:t>1</a:t>
            </a:r>
            <a:endParaRPr lang="zh-CN" altLang="en-US" dirty="0"/>
          </a:p>
        </p:txBody>
      </p:sp>
      <p:sp>
        <p:nvSpPr>
          <p:cNvPr id="46" name="文本框 45">
            <a:extLst>
              <a:ext uri="{FF2B5EF4-FFF2-40B4-BE49-F238E27FC236}">
                <a16:creationId xmlns:a16="http://schemas.microsoft.com/office/drawing/2014/main" id="{41943FDC-619A-A77F-72A3-495D5AEDD4F8}"/>
              </a:ext>
            </a:extLst>
          </p:cNvPr>
          <p:cNvSpPr txBox="1"/>
          <p:nvPr/>
        </p:nvSpPr>
        <p:spPr>
          <a:xfrm>
            <a:off x="4838280" y="4791174"/>
            <a:ext cx="602559" cy="369332"/>
          </a:xfrm>
          <a:prstGeom prst="rect">
            <a:avLst/>
          </a:prstGeom>
          <a:noFill/>
        </p:spPr>
        <p:txBody>
          <a:bodyPr wrap="square" rtlCol="0">
            <a:spAutoFit/>
          </a:bodyPr>
          <a:lstStyle/>
          <a:p>
            <a:pPr algn="ctr"/>
            <a:r>
              <a:rPr lang="en-US" altLang="zh-CN" dirty="0"/>
              <a:t>3</a:t>
            </a:r>
            <a:endParaRPr lang="zh-CN" altLang="en-US" dirty="0"/>
          </a:p>
        </p:txBody>
      </p:sp>
      <p:sp>
        <p:nvSpPr>
          <p:cNvPr id="47" name="文本框 46">
            <a:extLst>
              <a:ext uri="{FF2B5EF4-FFF2-40B4-BE49-F238E27FC236}">
                <a16:creationId xmlns:a16="http://schemas.microsoft.com/office/drawing/2014/main" id="{43AECD9A-4033-138C-2CF6-E9B171836F4F}"/>
              </a:ext>
            </a:extLst>
          </p:cNvPr>
          <p:cNvSpPr txBox="1"/>
          <p:nvPr/>
        </p:nvSpPr>
        <p:spPr>
          <a:xfrm>
            <a:off x="4397823" y="2931209"/>
            <a:ext cx="1820276" cy="369332"/>
          </a:xfrm>
          <a:prstGeom prst="rect">
            <a:avLst/>
          </a:prstGeom>
          <a:noFill/>
        </p:spPr>
        <p:txBody>
          <a:bodyPr wrap="square" rtlCol="0">
            <a:spAutoFit/>
          </a:bodyPr>
          <a:lstStyle/>
          <a:p>
            <a:pPr algn="ctr"/>
            <a:r>
              <a:rPr lang="en-US" altLang="zh-CN" dirty="0"/>
              <a:t> </a:t>
            </a:r>
            <a:r>
              <a:rPr lang="en-US" altLang="zh-CN" u="sng" dirty="0">
                <a:solidFill>
                  <a:srgbClr val="FF0000"/>
                </a:solidFill>
              </a:rPr>
              <a:t>5</a:t>
            </a:r>
            <a:r>
              <a:rPr lang="en-US" altLang="zh-CN" u="sng" dirty="0"/>
              <a:t> 3 2 1 8 8 8</a:t>
            </a:r>
            <a:endParaRPr lang="zh-CN" altLang="en-US" u="sng" dirty="0"/>
          </a:p>
        </p:txBody>
      </p:sp>
      <p:sp>
        <p:nvSpPr>
          <p:cNvPr id="48" name="文本框 47">
            <a:extLst>
              <a:ext uri="{FF2B5EF4-FFF2-40B4-BE49-F238E27FC236}">
                <a16:creationId xmlns:a16="http://schemas.microsoft.com/office/drawing/2014/main" id="{96E5ADC4-E566-682A-4F27-2DF36BBBB588}"/>
              </a:ext>
            </a:extLst>
          </p:cNvPr>
          <p:cNvSpPr txBox="1"/>
          <p:nvPr/>
        </p:nvSpPr>
        <p:spPr>
          <a:xfrm>
            <a:off x="4839690" y="4385064"/>
            <a:ext cx="602559" cy="369332"/>
          </a:xfrm>
          <a:prstGeom prst="rect">
            <a:avLst/>
          </a:prstGeom>
          <a:noFill/>
        </p:spPr>
        <p:txBody>
          <a:bodyPr wrap="square" rtlCol="0">
            <a:spAutoFit/>
          </a:bodyPr>
          <a:lstStyle/>
          <a:p>
            <a:pPr algn="ctr"/>
            <a:r>
              <a:rPr lang="en-US" altLang="zh-CN" dirty="0">
                <a:solidFill>
                  <a:srgbClr val="FF0000"/>
                </a:solidFill>
              </a:rPr>
              <a:t>5</a:t>
            </a:r>
            <a:endParaRPr lang="zh-CN" altLang="en-US" dirty="0">
              <a:solidFill>
                <a:srgbClr val="FF0000"/>
              </a:solidFill>
            </a:endParaRPr>
          </a:p>
        </p:txBody>
      </p:sp>
      <p:grpSp>
        <p:nvGrpSpPr>
          <p:cNvPr id="57" name="组合 56">
            <a:extLst>
              <a:ext uri="{FF2B5EF4-FFF2-40B4-BE49-F238E27FC236}">
                <a16:creationId xmlns:a16="http://schemas.microsoft.com/office/drawing/2014/main" id="{ED585953-498A-8270-B965-28CBAD5824FC}"/>
              </a:ext>
            </a:extLst>
          </p:cNvPr>
          <p:cNvGrpSpPr/>
          <p:nvPr/>
        </p:nvGrpSpPr>
        <p:grpSpPr>
          <a:xfrm>
            <a:off x="6352236" y="3484021"/>
            <a:ext cx="763835" cy="2492361"/>
            <a:chOff x="4263901" y="3024212"/>
            <a:chExt cx="561383" cy="1831770"/>
          </a:xfrm>
        </p:grpSpPr>
        <p:sp>
          <p:nvSpPr>
            <p:cNvPr id="58" name="文本框 57">
              <a:extLst>
                <a:ext uri="{FF2B5EF4-FFF2-40B4-BE49-F238E27FC236}">
                  <a16:creationId xmlns:a16="http://schemas.microsoft.com/office/drawing/2014/main" id="{430B6EAF-D648-609D-0FDA-2BD568643830}"/>
                </a:ext>
              </a:extLst>
            </p:cNvPr>
            <p:cNvSpPr txBox="1"/>
            <p:nvPr/>
          </p:nvSpPr>
          <p:spPr>
            <a:xfrm>
              <a:off x="4263901" y="4511119"/>
              <a:ext cx="561383" cy="344863"/>
            </a:xfrm>
            <a:prstGeom prst="rect">
              <a:avLst/>
            </a:prstGeom>
            <a:noFill/>
          </p:spPr>
          <p:txBody>
            <a:bodyPr wrap="square" rtlCol="0">
              <a:spAutoFit/>
            </a:bodyPr>
            <a:lstStyle/>
            <a:p>
              <a:pPr algn="ctr"/>
              <a:r>
                <a:rPr lang="zh-CN" altLang="en-US" sz="2449" dirty="0"/>
                <a:t>栈</a:t>
              </a:r>
            </a:p>
          </p:txBody>
        </p:sp>
        <p:sp>
          <p:nvSpPr>
            <p:cNvPr id="59" name="矩形 58">
              <a:extLst>
                <a:ext uri="{FF2B5EF4-FFF2-40B4-BE49-F238E27FC236}">
                  <a16:creationId xmlns:a16="http://schemas.microsoft.com/office/drawing/2014/main" id="{60A3A248-DE94-0282-C745-059F5E9F226B}"/>
                </a:ext>
              </a:extLst>
            </p:cNvPr>
            <p:cNvSpPr/>
            <p:nvPr/>
          </p:nvSpPr>
          <p:spPr>
            <a:xfrm>
              <a:off x="4292565" y="3384252"/>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60" name="矩形 59">
              <a:extLst>
                <a:ext uri="{FF2B5EF4-FFF2-40B4-BE49-F238E27FC236}">
                  <a16:creationId xmlns:a16="http://schemas.microsoft.com/office/drawing/2014/main" id="{090D0553-A5A6-8EC5-D988-FB496DABEAE7}"/>
                </a:ext>
              </a:extLst>
            </p:cNvPr>
            <p:cNvSpPr/>
            <p:nvPr/>
          </p:nvSpPr>
          <p:spPr>
            <a:xfrm>
              <a:off x="4292565" y="3672284"/>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61" name="矩形 60">
              <a:extLst>
                <a:ext uri="{FF2B5EF4-FFF2-40B4-BE49-F238E27FC236}">
                  <a16:creationId xmlns:a16="http://schemas.microsoft.com/office/drawing/2014/main" id="{91C1BF6F-72C6-A081-E92A-3D02076863A7}"/>
                </a:ext>
              </a:extLst>
            </p:cNvPr>
            <p:cNvSpPr/>
            <p:nvPr/>
          </p:nvSpPr>
          <p:spPr>
            <a:xfrm>
              <a:off x="4292565" y="3960316"/>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62" name="矩形 61">
              <a:extLst>
                <a:ext uri="{FF2B5EF4-FFF2-40B4-BE49-F238E27FC236}">
                  <a16:creationId xmlns:a16="http://schemas.microsoft.com/office/drawing/2014/main" id="{8B3BA2CA-1781-54F8-6356-190988C0740C}"/>
                </a:ext>
              </a:extLst>
            </p:cNvPr>
            <p:cNvSpPr/>
            <p:nvPr/>
          </p:nvSpPr>
          <p:spPr>
            <a:xfrm>
              <a:off x="4292565" y="4248348"/>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cxnSp>
          <p:nvCxnSpPr>
            <p:cNvPr id="63" name="直接连接符 62">
              <a:extLst>
                <a:ext uri="{FF2B5EF4-FFF2-40B4-BE49-F238E27FC236}">
                  <a16:creationId xmlns:a16="http://schemas.microsoft.com/office/drawing/2014/main" id="{E5E1873B-1DD8-08EF-F55B-20EBAE39B0F9}"/>
                </a:ext>
              </a:extLst>
            </p:cNvPr>
            <p:cNvCxnSpPr/>
            <p:nvPr/>
          </p:nvCxnSpPr>
          <p:spPr>
            <a:xfrm>
              <a:off x="4292565"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B4EC239D-D28D-0220-3954-AD72FB2D1CD6}"/>
                </a:ext>
              </a:extLst>
            </p:cNvPr>
            <p:cNvCxnSpPr/>
            <p:nvPr/>
          </p:nvCxnSpPr>
          <p:spPr>
            <a:xfrm>
              <a:off x="4796621"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5" name="文本框 64">
            <a:extLst>
              <a:ext uri="{FF2B5EF4-FFF2-40B4-BE49-F238E27FC236}">
                <a16:creationId xmlns:a16="http://schemas.microsoft.com/office/drawing/2014/main" id="{2CD26495-364D-AEC1-00A0-67D634DBFC99}"/>
              </a:ext>
            </a:extLst>
          </p:cNvPr>
          <p:cNvSpPr txBox="1"/>
          <p:nvPr/>
        </p:nvSpPr>
        <p:spPr>
          <a:xfrm>
            <a:off x="6414210" y="5173503"/>
            <a:ext cx="602559" cy="369332"/>
          </a:xfrm>
          <a:prstGeom prst="rect">
            <a:avLst/>
          </a:prstGeom>
          <a:noFill/>
        </p:spPr>
        <p:txBody>
          <a:bodyPr wrap="square" rtlCol="0">
            <a:spAutoFit/>
          </a:bodyPr>
          <a:lstStyle/>
          <a:p>
            <a:pPr algn="ctr"/>
            <a:r>
              <a:rPr lang="en-US" altLang="zh-CN" dirty="0"/>
              <a:t>1</a:t>
            </a:r>
            <a:endParaRPr lang="zh-CN" altLang="en-US" dirty="0"/>
          </a:p>
        </p:txBody>
      </p:sp>
      <p:sp>
        <p:nvSpPr>
          <p:cNvPr id="66" name="文本框 65">
            <a:extLst>
              <a:ext uri="{FF2B5EF4-FFF2-40B4-BE49-F238E27FC236}">
                <a16:creationId xmlns:a16="http://schemas.microsoft.com/office/drawing/2014/main" id="{442453F6-42AF-11CF-AD60-5DF952574D24}"/>
              </a:ext>
            </a:extLst>
          </p:cNvPr>
          <p:cNvSpPr txBox="1"/>
          <p:nvPr/>
        </p:nvSpPr>
        <p:spPr>
          <a:xfrm>
            <a:off x="6414209" y="4783513"/>
            <a:ext cx="602559" cy="369332"/>
          </a:xfrm>
          <a:prstGeom prst="rect">
            <a:avLst/>
          </a:prstGeom>
          <a:noFill/>
        </p:spPr>
        <p:txBody>
          <a:bodyPr wrap="square" rtlCol="0">
            <a:spAutoFit/>
          </a:bodyPr>
          <a:lstStyle/>
          <a:p>
            <a:pPr algn="ctr"/>
            <a:r>
              <a:rPr lang="en-US" altLang="zh-CN" dirty="0">
                <a:solidFill>
                  <a:srgbClr val="FF0000"/>
                </a:solidFill>
              </a:rPr>
              <a:t>3</a:t>
            </a:r>
            <a:endParaRPr lang="zh-CN" altLang="en-US" dirty="0">
              <a:solidFill>
                <a:srgbClr val="FF0000"/>
              </a:solidFill>
            </a:endParaRPr>
          </a:p>
        </p:txBody>
      </p:sp>
      <p:sp>
        <p:nvSpPr>
          <p:cNvPr id="67" name="文本框 66">
            <a:extLst>
              <a:ext uri="{FF2B5EF4-FFF2-40B4-BE49-F238E27FC236}">
                <a16:creationId xmlns:a16="http://schemas.microsoft.com/office/drawing/2014/main" id="{FA9B5993-5B75-A512-2BAC-268CF2AC4048}"/>
              </a:ext>
            </a:extLst>
          </p:cNvPr>
          <p:cNvSpPr txBox="1"/>
          <p:nvPr/>
        </p:nvSpPr>
        <p:spPr>
          <a:xfrm>
            <a:off x="5992869" y="2942098"/>
            <a:ext cx="1820276" cy="369332"/>
          </a:xfrm>
          <a:prstGeom prst="rect">
            <a:avLst/>
          </a:prstGeom>
          <a:noFill/>
        </p:spPr>
        <p:txBody>
          <a:bodyPr wrap="square" rtlCol="0">
            <a:spAutoFit/>
          </a:bodyPr>
          <a:lstStyle/>
          <a:p>
            <a:pPr algn="ctr"/>
            <a:r>
              <a:rPr lang="en-US" altLang="zh-CN" u="sng" dirty="0">
                <a:solidFill>
                  <a:srgbClr val="FF0000"/>
                </a:solidFill>
              </a:rPr>
              <a:t>3</a:t>
            </a:r>
            <a:r>
              <a:rPr lang="en-US" altLang="zh-CN" u="sng" dirty="0"/>
              <a:t> 2 1 8 8 8</a:t>
            </a:r>
            <a:endParaRPr lang="zh-CN" altLang="en-US" u="sng" dirty="0"/>
          </a:p>
        </p:txBody>
      </p:sp>
      <p:grpSp>
        <p:nvGrpSpPr>
          <p:cNvPr id="68" name="组合 67">
            <a:extLst>
              <a:ext uri="{FF2B5EF4-FFF2-40B4-BE49-F238E27FC236}">
                <a16:creationId xmlns:a16="http://schemas.microsoft.com/office/drawing/2014/main" id="{9CDD0FA0-8870-8BF2-01C1-B7689BB6C010}"/>
              </a:ext>
            </a:extLst>
          </p:cNvPr>
          <p:cNvGrpSpPr/>
          <p:nvPr/>
        </p:nvGrpSpPr>
        <p:grpSpPr>
          <a:xfrm>
            <a:off x="7813145" y="3484021"/>
            <a:ext cx="763835" cy="2492361"/>
            <a:chOff x="4263901" y="3024212"/>
            <a:chExt cx="561383" cy="1831770"/>
          </a:xfrm>
        </p:grpSpPr>
        <p:sp>
          <p:nvSpPr>
            <p:cNvPr id="69" name="文本框 68">
              <a:extLst>
                <a:ext uri="{FF2B5EF4-FFF2-40B4-BE49-F238E27FC236}">
                  <a16:creationId xmlns:a16="http://schemas.microsoft.com/office/drawing/2014/main" id="{667F930A-4858-2820-9F36-29A6804B3E8A}"/>
                </a:ext>
              </a:extLst>
            </p:cNvPr>
            <p:cNvSpPr txBox="1"/>
            <p:nvPr/>
          </p:nvSpPr>
          <p:spPr>
            <a:xfrm>
              <a:off x="4263901" y="4511119"/>
              <a:ext cx="561383" cy="344863"/>
            </a:xfrm>
            <a:prstGeom prst="rect">
              <a:avLst/>
            </a:prstGeom>
            <a:noFill/>
          </p:spPr>
          <p:txBody>
            <a:bodyPr wrap="square" rtlCol="0">
              <a:spAutoFit/>
            </a:bodyPr>
            <a:lstStyle/>
            <a:p>
              <a:pPr algn="ctr"/>
              <a:r>
                <a:rPr lang="zh-CN" altLang="en-US" sz="2449" dirty="0"/>
                <a:t>栈</a:t>
              </a:r>
            </a:p>
          </p:txBody>
        </p:sp>
        <p:sp>
          <p:nvSpPr>
            <p:cNvPr id="70" name="矩形 69">
              <a:extLst>
                <a:ext uri="{FF2B5EF4-FFF2-40B4-BE49-F238E27FC236}">
                  <a16:creationId xmlns:a16="http://schemas.microsoft.com/office/drawing/2014/main" id="{6110FFEA-A485-3400-4DA5-430FBF3DA8FD}"/>
                </a:ext>
              </a:extLst>
            </p:cNvPr>
            <p:cNvSpPr/>
            <p:nvPr/>
          </p:nvSpPr>
          <p:spPr>
            <a:xfrm>
              <a:off x="4292565" y="3384252"/>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71" name="矩形 70">
              <a:extLst>
                <a:ext uri="{FF2B5EF4-FFF2-40B4-BE49-F238E27FC236}">
                  <a16:creationId xmlns:a16="http://schemas.microsoft.com/office/drawing/2014/main" id="{AB6FDF08-90D1-8792-1075-BAA70FE69CEE}"/>
                </a:ext>
              </a:extLst>
            </p:cNvPr>
            <p:cNvSpPr/>
            <p:nvPr/>
          </p:nvSpPr>
          <p:spPr>
            <a:xfrm>
              <a:off x="4292565" y="3672284"/>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72" name="矩形 71">
              <a:extLst>
                <a:ext uri="{FF2B5EF4-FFF2-40B4-BE49-F238E27FC236}">
                  <a16:creationId xmlns:a16="http://schemas.microsoft.com/office/drawing/2014/main" id="{9397C570-EC14-003B-5F80-0C47ED073386}"/>
                </a:ext>
              </a:extLst>
            </p:cNvPr>
            <p:cNvSpPr/>
            <p:nvPr/>
          </p:nvSpPr>
          <p:spPr>
            <a:xfrm>
              <a:off x="4292565" y="3960316"/>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73" name="矩形 72">
              <a:extLst>
                <a:ext uri="{FF2B5EF4-FFF2-40B4-BE49-F238E27FC236}">
                  <a16:creationId xmlns:a16="http://schemas.microsoft.com/office/drawing/2014/main" id="{82434C5A-7B5D-5314-D121-99F434DF27CD}"/>
                </a:ext>
              </a:extLst>
            </p:cNvPr>
            <p:cNvSpPr/>
            <p:nvPr/>
          </p:nvSpPr>
          <p:spPr>
            <a:xfrm>
              <a:off x="4292565" y="4248348"/>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cxnSp>
          <p:nvCxnSpPr>
            <p:cNvPr id="74" name="直接连接符 73">
              <a:extLst>
                <a:ext uri="{FF2B5EF4-FFF2-40B4-BE49-F238E27FC236}">
                  <a16:creationId xmlns:a16="http://schemas.microsoft.com/office/drawing/2014/main" id="{7F282576-31D4-461B-8E71-1C0921188189}"/>
                </a:ext>
              </a:extLst>
            </p:cNvPr>
            <p:cNvCxnSpPr/>
            <p:nvPr/>
          </p:nvCxnSpPr>
          <p:spPr>
            <a:xfrm>
              <a:off x="4292565"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FD09F1CA-939D-6088-DAF2-901C237FE63D}"/>
                </a:ext>
              </a:extLst>
            </p:cNvPr>
            <p:cNvCxnSpPr/>
            <p:nvPr/>
          </p:nvCxnSpPr>
          <p:spPr>
            <a:xfrm>
              <a:off x="4796621"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6" name="文本框 75">
            <a:extLst>
              <a:ext uri="{FF2B5EF4-FFF2-40B4-BE49-F238E27FC236}">
                <a16:creationId xmlns:a16="http://schemas.microsoft.com/office/drawing/2014/main" id="{C0015705-3362-177C-A48E-2854E90F403C}"/>
              </a:ext>
            </a:extLst>
          </p:cNvPr>
          <p:cNvSpPr txBox="1"/>
          <p:nvPr/>
        </p:nvSpPr>
        <p:spPr>
          <a:xfrm>
            <a:off x="7891147" y="5173503"/>
            <a:ext cx="602559" cy="369332"/>
          </a:xfrm>
          <a:prstGeom prst="rect">
            <a:avLst/>
          </a:prstGeom>
          <a:noFill/>
        </p:spPr>
        <p:txBody>
          <a:bodyPr wrap="square" rtlCol="0">
            <a:spAutoFit/>
          </a:bodyPr>
          <a:lstStyle/>
          <a:p>
            <a:pPr algn="ctr"/>
            <a:r>
              <a:rPr lang="en-US" altLang="zh-CN" dirty="0">
                <a:solidFill>
                  <a:srgbClr val="FF0000"/>
                </a:solidFill>
              </a:rPr>
              <a:t>1</a:t>
            </a:r>
            <a:endParaRPr lang="zh-CN" altLang="en-US" dirty="0">
              <a:solidFill>
                <a:srgbClr val="FF0000"/>
              </a:solidFill>
            </a:endParaRPr>
          </a:p>
        </p:txBody>
      </p:sp>
      <p:sp>
        <p:nvSpPr>
          <p:cNvPr id="77" name="文本框 76">
            <a:extLst>
              <a:ext uri="{FF2B5EF4-FFF2-40B4-BE49-F238E27FC236}">
                <a16:creationId xmlns:a16="http://schemas.microsoft.com/office/drawing/2014/main" id="{2B8E5328-5DFA-42D2-278A-891B64459346}"/>
              </a:ext>
            </a:extLst>
          </p:cNvPr>
          <p:cNvSpPr txBox="1"/>
          <p:nvPr/>
        </p:nvSpPr>
        <p:spPr>
          <a:xfrm>
            <a:off x="7282288" y="2924636"/>
            <a:ext cx="1820276" cy="369332"/>
          </a:xfrm>
          <a:prstGeom prst="rect">
            <a:avLst/>
          </a:prstGeom>
          <a:noFill/>
        </p:spPr>
        <p:txBody>
          <a:bodyPr wrap="square" rtlCol="0">
            <a:spAutoFit/>
          </a:bodyPr>
          <a:lstStyle/>
          <a:p>
            <a:pPr algn="ctr"/>
            <a:r>
              <a:rPr lang="en-US" altLang="zh-CN" u="sng" dirty="0">
                <a:solidFill>
                  <a:srgbClr val="FF0000"/>
                </a:solidFill>
              </a:rPr>
              <a:t>2</a:t>
            </a:r>
            <a:r>
              <a:rPr lang="en-US" altLang="zh-CN" u="sng" dirty="0"/>
              <a:t> 1 8 8 8</a:t>
            </a:r>
            <a:endParaRPr lang="zh-CN" altLang="en-US" u="sng" dirty="0"/>
          </a:p>
        </p:txBody>
      </p:sp>
      <p:grpSp>
        <p:nvGrpSpPr>
          <p:cNvPr id="78" name="组合 77">
            <a:extLst>
              <a:ext uri="{FF2B5EF4-FFF2-40B4-BE49-F238E27FC236}">
                <a16:creationId xmlns:a16="http://schemas.microsoft.com/office/drawing/2014/main" id="{1E84E273-7EC8-EB5A-0451-5906B6AC896E}"/>
              </a:ext>
            </a:extLst>
          </p:cNvPr>
          <p:cNvGrpSpPr/>
          <p:nvPr/>
        </p:nvGrpSpPr>
        <p:grpSpPr>
          <a:xfrm>
            <a:off x="8925864" y="3484021"/>
            <a:ext cx="763835" cy="2492361"/>
            <a:chOff x="4263901" y="3024212"/>
            <a:chExt cx="561383" cy="1831770"/>
          </a:xfrm>
        </p:grpSpPr>
        <p:sp>
          <p:nvSpPr>
            <p:cNvPr id="79" name="文本框 78">
              <a:extLst>
                <a:ext uri="{FF2B5EF4-FFF2-40B4-BE49-F238E27FC236}">
                  <a16:creationId xmlns:a16="http://schemas.microsoft.com/office/drawing/2014/main" id="{440064DE-E1C5-FCE9-EDD0-B1A176F51EFC}"/>
                </a:ext>
              </a:extLst>
            </p:cNvPr>
            <p:cNvSpPr txBox="1"/>
            <p:nvPr/>
          </p:nvSpPr>
          <p:spPr>
            <a:xfrm>
              <a:off x="4263901" y="4511119"/>
              <a:ext cx="561383" cy="344863"/>
            </a:xfrm>
            <a:prstGeom prst="rect">
              <a:avLst/>
            </a:prstGeom>
            <a:noFill/>
          </p:spPr>
          <p:txBody>
            <a:bodyPr wrap="square" rtlCol="0">
              <a:spAutoFit/>
            </a:bodyPr>
            <a:lstStyle/>
            <a:p>
              <a:pPr algn="ctr"/>
              <a:r>
                <a:rPr lang="zh-CN" altLang="en-US" sz="2449" dirty="0"/>
                <a:t>栈</a:t>
              </a:r>
            </a:p>
          </p:txBody>
        </p:sp>
        <p:sp>
          <p:nvSpPr>
            <p:cNvPr id="80" name="矩形 79">
              <a:extLst>
                <a:ext uri="{FF2B5EF4-FFF2-40B4-BE49-F238E27FC236}">
                  <a16:creationId xmlns:a16="http://schemas.microsoft.com/office/drawing/2014/main" id="{B690592F-6A6B-77E0-6578-C0895C8E4FC3}"/>
                </a:ext>
              </a:extLst>
            </p:cNvPr>
            <p:cNvSpPr/>
            <p:nvPr/>
          </p:nvSpPr>
          <p:spPr>
            <a:xfrm>
              <a:off x="4292565" y="3384252"/>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81" name="矩形 80">
              <a:extLst>
                <a:ext uri="{FF2B5EF4-FFF2-40B4-BE49-F238E27FC236}">
                  <a16:creationId xmlns:a16="http://schemas.microsoft.com/office/drawing/2014/main" id="{0F243D4C-60F9-62D3-B382-CC526F37882D}"/>
                </a:ext>
              </a:extLst>
            </p:cNvPr>
            <p:cNvSpPr/>
            <p:nvPr/>
          </p:nvSpPr>
          <p:spPr>
            <a:xfrm>
              <a:off x="4292565" y="3672284"/>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82" name="矩形 81">
              <a:extLst>
                <a:ext uri="{FF2B5EF4-FFF2-40B4-BE49-F238E27FC236}">
                  <a16:creationId xmlns:a16="http://schemas.microsoft.com/office/drawing/2014/main" id="{EF7A30A0-0F6C-B543-4633-C9822630A337}"/>
                </a:ext>
              </a:extLst>
            </p:cNvPr>
            <p:cNvSpPr/>
            <p:nvPr/>
          </p:nvSpPr>
          <p:spPr>
            <a:xfrm>
              <a:off x="4292565" y="3960316"/>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83" name="矩形 82">
              <a:extLst>
                <a:ext uri="{FF2B5EF4-FFF2-40B4-BE49-F238E27FC236}">
                  <a16:creationId xmlns:a16="http://schemas.microsoft.com/office/drawing/2014/main" id="{47877F0D-E6E1-A016-3972-0C680050F193}"/>
                </a:ext>
              </a:extLst>
            </p:cNvPr>
            <p:cNvSpPr/>
            <p:nvPr/>
          </p:nvSpPr>
          <p:spPr>
            <a:xfrm>
              <a:off x="4292565" y="4248348"/>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cxnSp>
          <p:nvCxnSpPr>
            <p:cNvPr id="84" name="直接连接符 83">
              <a:extLst>
                <a:ext uri="{FF2B5EF4-FFF2-40B4-BE49-F238E27FC236}">
                  <a16:creationId xmlns:a16="http://schemas.microsoft.com/office/drawing/2014/main" id="{C5F7E689-F1C0-F6A7-9656-A05872EC8E47}"/>
                </a:ext>
              </a:extLst>
            </p:cNvPr>
            <p:cNvCxnSpPr/>
            <p:nvPr/>
          </p:nvCxnSpPr>
          <p:spPr>
            <a:xfrm>
              <a:off x="4292565"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09615DB4-C632-47F8-34A3-A0CD56FDB300}"/>
                </a:ext>
              </a:extLst>
            </p:cNvPr>
            <p:cNvCxnSpPr/>
            <p:nvPr/>
          </p:nvCxnSpPr>
          <p:spPr>
            <a:xfrm>
              <a:off x="4796621"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文本框 85">
            <a:extLst>
              <a:ext uri="{FF2B5EF4-FFF2-40B4-BE49-F238E27FC236}">
                <a16:creationId xmlns:a16="http://schemas.microsoft.com/office/drawing/2014/main" id="{388D98A2-5A30-85FC-7AA6-99D2D9989757}"/>
              </a:ext>
            </a:extLst>
          </p:cNvPr>
          <p:cNvSpPr txBox="1"/>
          <p:nvPr/>
        </p:nvSpPr>
        <p:spPr>
          <a:xfrm>
            <a:off x="9003866" y="5173503"/>
            <a:ext cx="602559" cy="369332"/>
          </a:xfrm>
          <a:prstGeom prst="rect">
            <a:avLst/>
          </a:prstGeom>
          <a:noFill/>
        </p:spPr>
        <p:txBody>
          <a:bodyPr wrap="square" rtlCol="0">
            <a:spAutoFit/>
          </a:bodyPr>
          <a:lstStyle/>
          <a:p>
            <a:pPr algn="ctr"/>
            <a:r>
              <a:rPr lang="en-US" altLang="zh-CN" dirty="0"/>
              <a:t>1</a:t>
            </a:r>
            <a:endParaRPr lang="zh-CN" altLang="en-US" dirty="0"/>
          </a:p>
        </p:txBody>
      </p:sp>
      <p:sp>
        <p:nvSpPr>
          <p:cNvPr id="88" name="文本框 87">
            <a:extLst>
              <a:ext uri="{FF2B5EF4-FFF2-40B4-BE49-F238E27FC236}">
                <a16:creationId xmlns:a16="http://schemas.microsoft.com/office/drawing/2014/main" id="{BF481BC4-6D9C-5D2D-B09A-3F26F4EF83AC}"/>
              </a:ext>
            </a:extLst>
          </p:cNvPr>
          <p:cNvSpPr txBox="1"/>
          <p:nvPr/>
        </p:nvSpPr>
        <p:spPr>
          <a:xfrm>
            <a:off x="9003866" y="4751813"/>
            <a:ext cx="602559" cy="369332"/>
          </a:xfrm>
          <a:prstGeom prst="rect">
            <a:avLst/>
          </a:prstGeom>
          <a:noFill/>
        </p:spPr>
        <p:txBody>
          <a:bodyPr wrap="square" rtlCol="0">
            <a:spAutoFit/>
          </a:bodyPr>
          <a:lstStyle/>
          <a:p>
            <a:pPr algn="ctr"/>
            <a:r>
              <a:rPr lang="en-US" altLang="zh-CN" dirty="0"/>
              <a:t>2</a:t>
            </a:r>
            <a:endParaRPr lang="zh-CN" altLang="en-US" dirty="0"/>
          </a:p>
        </p:txBody>
      </p:sp>
      <p:sp>
        <p:nvSpPr>
          <p:cNvPr id="89" name="文本框 88">
            <a:extLst>
              <a:ext uri="{FF2B5EF4-FFF2-40B4-BE49-F238E27FC236}">
                <a16:creationId xmlns:a16="http://schemas.microsoft.com/office/drawing/2014/main" id="{628D81B0-7322-5D99-70B5-B403AF54BC7F}"/>
              </a:ext>
            </a:extLst>
          </p:cNvPr>
          <p:cNvSpPr txBox="1"/>
          <p:nvPr/>
        </p:nvSpPr>
        <p:spPr>
          <a:xfrm>
            <a:off x="9003865" y="4380449"/>
            <a:ext cx="602559" cy="369332"/>
          </a:xfrm>
          <a:prstGeom prst="rect">
            <a:avLst/>
          </a:prstGeom>
          <a:noFill/>
        </p:spPr>
        <p:txBody>
          <a:bodyPr wrap="square" rtlCol="0">
            <a:spAutoFit/>
          </a:bodyPr>
          <a:lstStyle/>
          <a:p>
            <a:pPr algn="ctr"/>
            <a:r>
              <a:rPr lang="en-US" altLang="zh-CN" dirty="0"/>
              <a:t>1</a:t>
            </a:r>
            <a:endParaRPr lang="zh-CN" altLang="en-US" dirty="0"/>
          </a:p>
        </p:txBody>
      </p:sp>
      <p:sp>
        <p:nvSpPr>
          <p:cNvPr id="90" name="文本框 89">
            <a:extLst>
              <a:ext uri="{FF2B5EF4-FFF2-40B4-BE49-F238E27FC236}">
                <a16:creationId xmlns:a16="http://schemas.microsoft.com/office/drawing/2014/main" id="{A1FC8F24-9A9C-7CF5-DDE6-DC06966B5CF4}"/>
              </a:ext>
            </a:extLst>
          </p:cNvPr>
          <p:cNvSpPr txBox="1"/>
          <p:nvPr/>
        </p:nvSpPr>
        <p:spPr>
          <a:xfrm>
            <a:off x="9003864" y="3989154"/>
            <a:ext cx="602559" cy="369332"/>
          </a:xfrm>
          <a:prstGeom prst="rect">
            <a:avLst/>
          </a:prstGeom>
          <a:noFill/>
        </p:spPr>
        <p:txBody>
          <a:bodyPr wrap="square" rtlCol="0">
            <a:spAutoFit/>
          </a:bodyPr>
          <a:lstStyle/>
          <a:p>
            <a:pPr algn="ctr"/>
            <a:r>
              <a:rPr lang="en-US" altLang="zh-CN" dirty="0">
                <a:solidFill>
                  <a:srgbClr val="FF0000"/>
                </a:solidFill>
              </a:rPr>
              <a:t>8</a:t>
            </a:r>
            <a:endParaRPr lang="zh-CN" altLang="en-US" dirty="0">
              <a:solidFill>
                <a:srgbClr val="FF0000"/>
              </a:solidFill>
            </a:endParaRPr>
          </a:p>
        </p:txBody>
      </p:sp>
      <p:sp>
        <p:nvSpPr>
          <p:cNvPr id="91" name="文本框 90">
            <a:extLst>
              <a:ext uri="{FF2B5EF4-FFF2-40B4-BE49-F238E27FC236}">
                <a16:creationId xmlns:a16="http://schemas.microsoft.com/office/drawing/2014/main" id="{B6C59EBE-1643-73A3-B1AE-C2C5F4263842}"/>
              </a:ext>
            </a:extLst>
          </p:cNvPr>
          <p:cNvSpPr txBox="1"/>
          <p:nvPr/>
        </p:nvSpPr>
        <p:spPr>
          <a:xfrm>
            <a:off x="8395005" y="2932275"/>
            <a:ext cx="1820276" cy="369332"/>
          </a:xfrm>
          <a:prstGeom prst="rect">
            <a:avLst/>
          </a:prstGeom>
          <a:noFill/>
        </p:spPr>
        <p:txBody>
          <a:bodyPr wrap="square" rtlCol="0">
            <a:spAutoFit/>
          </a:bodyPr>
          <a:lstStyle/>
          <a:p>
            <a:pPr algn="ctr"/>
            <a:r>
              <a:rPr lang="en-US" altLang="zh-CN" u="sng" dirty="0">
                <a:solidFill>
                  <a:srgbClr val="FF0000"/>
                </a:solidFill>
              </a:rPr>
              <a:t>8</a:t>
            </a:r>
            <a:r>
              <a:rPr lang="en-US" altLang="zh-CN" u="sng" dirty="0"/>
              <a:t> 8</a:t>
            </a:r>
            <a:endParaRPr lang="zh-CN" altLang="en-US" u="sng" dirty="0"/>
          </a:p>
        </p:txBody>
      </p:sp>
      <p:grpSp>
        <p:nvGrpSpPr>
          <p:cNvPr id="92" name="组合 91">
            <a:extLst>
              <a:ext uri="{FF2B5EF4-FFF2-40B4-BE49-F238E27FC236}">
                <a16:creationId xmlns:a16="http://schemas.microsoft.com/office/drawing/2014/main" id="{2C59319D-4376-F9A3-A24E-3CA00B459237}"/>
              </a:ext>
            </a:extLst>
          </p:cNvPr>
          <p:cNvGrpSpPr/>
          <p:nvPr/>
        </p:nvGrpSpPr>
        <p:grpSpPr>
          <a:xfrm>
            <a:off x="9969207" y="3484021"/>
            <a:ext cx="763835" cy="2492361"/>
            <a:chOff x="4263901" y="3024212"/>
            <a:chExt cx="561383" cy="1831770"/>
          </a:xfrm>
        </p:grpSpPr>
        <p:sp>
          <p:nvSpPr>
            <p:cNvPr id="93" name="文本框 92">
              <a:extLst>
                <a:ext uri="{FF2B5EF4-FFF2-40B4-BE49-F238E27FC236}">
                  <a16:creationId xmlns:a16="http://schemas.microsoft.com/office/drawing/2014/main" id="{64024547-ABCA-42C8-6367-3D0F06B8CB0C}"/>
                </a:ext>
              </a:extLst>
            </p:cNvPr>
            <p:cNvSpPr txBox="1"/>
            <p:nvPr/>
          </p:nvSpPr>
          <p:spPr>
            <a:xfrm>
              <a:off x="4263901" y="4511119"/>
              <a:ext cx="561383" cy="344863"/>
            </a:xfrm>
            <a:prstGeom prst="rect">
              <a:avLst/>
            </a:prstGeom>
            <a:noFill/>
          </p:spPr>
          <p:txBody>
            <a:bodyPr wrap="square" rtlCol="0">
              <a:spAutoFit/>
            </a:bodyPr>
            <a:lstStyle/>
            <a:p>
              <a:pPr algn="ctr"/>
              <a:r>
                <a:rPr lang="zh-CN" altLang="en-US" sz="2449" dirty="0"/>
                <a:t>栈</a:t>
              </a:r>
            </a:p>
          </p:txBody>
        </p:sp>
        <p:sp>
          <p:nvSpPr>
            <p:cNvPr id="94" name="矩形 93">
              <a:extLst>
                <a:ext uri="{FF2B5EF4-FFF2-40B4-BE49-F238E27FC236}">
                  <a16:creationId xmlns:a16="http://schemas.microsoft.com/office/drawing/2014/main" id="{2F5822F5-08F2-802A-B55C-6AD448A5DB98}"/>
                </a:ext>
              </a:extLst>
            </p:cNvPr>
            <p:cNvSpPr/>
            <p:nvPr/>
          </p:nvSpPr>
          <p:spPr>
            <a:xfrm>
              <a:off x="4292565" y="3384252"/>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95" name="矩形 94">
              <a:extLst>
                <a:ext uri="{FF2B5EF4-FFF2-40B4-BE49-F238E27FC236}">
                  <a16:creationId xmlns:a16="http://schemas.microsoft.com/office/drawing/2014/main" id="{348E14FB-0ED4-8EEE-6410-94347430BAE7}"/>
                </a:ext>
              </a:extLst>
            </p:cNvPr>
            <p:cNvSpPr/>
            <p:nvPr/>
          </p:nvSpPr>
          <p:spPr>
            <a:xfrm>
              <a:off x="4292565" y="3672284"/>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96" name="矩形 95">
              <a:extLst>
                <a:ext uri="{FF2B5EF4-FFF2-40B4-BE49-F238E27FC236}">
                  <a16:creationId xmlns:a16="http://schemas.microsoft.com/office/drawing/2014/main" id="{156808CF-CB57-8901-AE99-8D747DC32C56}"/>
                </a:ext>
              </a:extLst>
            </p:cNvPr>
            <p:cNvSpPr/>
            <p:nvPr/>
          </p:nvSpPr>
          <p:spPr>
            <a:xfrm>
              <a:off x="4292565" y="3960316"/>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sp>
          <p:nvSpPr>
            <p:cNvPr id="97" name="矩形 96">
              <a:extLst>
                <a:ext uri="{FF2B5EF4-FFF2-40B4-BE49-F238E27FC236}">
                  <a16:creationId xmlns:a16="http://schemas.microsoft.com/office/drawing/2014/main" id="{A1993084-A765-03CB-4A39-3298BE9F133A}"/>
                </a:ext>
              </a:extLst>
            </p:cNvPr>
            <p:cNvSpPr/>
            <p:nvPr/>
          </p:nvSpPr>
          <p:spPr>
            <a:xfrm>
              <a:off x="4292565" y="4248348"/>
              <a:ext cx="504056" cy="288032"/>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Times New Roman" panose="02020603050405020304" pitchFamily="18" charset="0"/>
                <a:cs typeface="Times New Roman" panose="02020603050405020304" pitchFamily="18" charset="0"/>
              </a:endParaRPr>
            </a:p>
          </p:txBody>
        </p:sp>
        <p:cxnSp>
          <p:nvCxnSpPr>
            <p:cNvPr id="98" name="直接连接符 97">
              <a:extLst>
                <a:ext uri="{FF2B5EF4-FFF2-40B4-BE49-F238E27FC236}">
                  <a16:creationId xmlns:a16="http://schemas.microsoft.com/office/drawing/2014/main" id="{05E4C1EC-FAB0-0FEC-20EB-3FE5356A120B}"/>
                </a:ext>
              </a:extLst>
            </p:cNvPr>
            <p:cNvCxnSpPr/>
            <p:nvPr/>
          </p:nvCxnSpPr>
          <p:spPr>
            <a:xfrm>
              <a:off x="4292565"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59540F26-5569-D715-3731-413AE4A235EC}"/>
                </a:ext>
              </a:extLst>
            </p:cNvPr>
            <p:cNvCxnSpPr/>
            <p:nvPr/>
          </p:nvCxnSpPr>
          <p:spPr>
            <a:xfrm>
              <a:off x="4796621" y="3024212"/>
              <a:ext cx="0" cy="36004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文本框 99">
            <a:extLst>
              <a:ext uri="{FF2B5EF4-FFF2-40B4-BE49-F238E27FC236}">
                <a16:creationId xmlns:a16="http://schemas.microsoft.com/office/drawing/2014/main" id="{7BBB1D81-BFE4-DE61-B9D0-DD2496FD3FC6}"/>
              </a:ext>
            </a:extLst>
          </p:cNvPr>
          <p:cNvSpPr txBox="1"/>
          <p:nvPr/>
        </p:nvSpPr>
        <p:spPr>
          <a:xfrm>
            <a:off x="10047209" y="5173503"/>
            <a:ext cx="602559" cy="369332"/>
          </a:xfrm>
          <a:prstGeom prst="rect">
            <a:avLst/>
          </a:prstGeom>
          <a:noFill/>
        </p:spPr>
        <p:txBody>
          <a:bodyPr wrap="square" rtlCol="0">
            <a:spAutoFit/>
          </a:bodyPr>
          <a:lstStyle/>
          <a:p>
            <a:pPr algn="ctr"/>
            <a:r>
              <a:rPr lang="en-US" altLang="zh-CN" dirty="0"/>
              <a:t>1</a:t>
            </a:r>
            <a:endParaRPr lang="zh-CN" altLang="en-US" dirty="0"/>
          </a:p>
        </p:txBody>
      </p:sp>
      <p:sp>
        <p:nvSpPr>
          <p:cNvPr id="101" name="文本框 100">
            <a:extLst>
              <a:ext uri="{FF2B5EF4-FFF2-40B4-BE49-F238E27FC236}">
                <a16:creationId xmlns:a16="http://schemas.microsoft.com/office/drawing/2014/main" id="{25B36473-BC38-95B0-6D69-6BEE1E2986A3}"/>
              </a:ext>
            </a:extLst>
          </p:cNvPr>
          <p:cNvSpPr txBox="1"/>
          <p:nvPr/>
        </p:nvSpPr>
        <p:spPr>
          <a:xfrm>
            <a:off x="10047209" y="4751813"/>
            <a:ext cx="602559" cy="369332"/>
          </a:xfrm>
          <a:prstGeom prst="rect">
            <a:avLst/>
          </a:prstGeom>
          <a:noFill/>
        </p:spPr>
        <p:txBody>
          <a:bodyPr wrap="square" rtlCol="0">
            <a:spAutoFit/>
          </a:bodyPr>
          <a:lstStyle/>
          <a:p>
            <a:pPr algn="ctr"/>
            <a:r>
              <a:rPr lang="en-US" altLang="zh-CN" dirty="0"/>
              <a:t>2</a:t>
            </a:r>
            <a:endParaRPr lang="zh-CN" altLang="en-US" dirty="0"/>
          </a:p>
        </p:txBody>
      </p:sp>
      <p:sp>
        <p:nvSpPr>
          <p:cNvPr id="102" name="文本框 101">
            <a:extLst>
              <a:ext uri="{FF2B5EF4-FFF2-40B4-BE49-F238E27FC236}">
                <a16:creationId xmlns:a16="http://schemas.microsoft.com/office/drawing/2014/main" id="{1B6C43AE-54C9-D453-BC5C-235DA9744A73}"/>
              </a:ext>
            </a:extLst>
          </p:cNvPr>
          <p:cNvSpPr txBox="1"/>
          <p:nvPr/>
        </p:nvSpPr>
        <p:spPr>
          <a:xfrm>
            <a:off x="10047208" y="4380449"/>
            <a:ext cx="602559" cy="369332"/>
          </a:xfrm>
          <a:prstGeom prst="rect">
            <a:avLst/>
          </a:prstGeom>
          <a:noFill/>
        </p:spPr>
        <p:txBody>
          <a:bodyPr wrap="square" rtlCol="0">
            <a:spAutoFit/>
          </a:bodyPr>
          <a:lstStyle/>
          <a:p>
            <a:pPr algn="ctr"/>
            <a:r>
              <a:rPr lang="en-US" altLang="zh-CN" dirty="0"/>
              <a:t>1</a:t>
            </a:r>
            <a:endParaRPr lang="zh-CN" altLang="en-US" dirty="0"/>
          </a:p>
        </p:txBody>
      </p:sp>
      <p:sp>
        <p:nvSpPr>
          <p:cNvPr id="103" name="文本框 102">
            <a:extLst>
              <a:ext uri="{FF2B5EF4-FFF2-40B4-BE49-F238E27FC236}">
                <a16:creationId xmlns:a16="http://schemas.microsoft.com/office/drawing/2014/main" id="{CA61A9A0-C83A-0770-3046-5AF6E9886DA7}"/>
              </a:ext>
            </a:extLst>
          </p:cNvPr>
          <p:cNvSpPr txBox="1"/>
          <p:nvPr/>
        </p:nvSpPr>
        <p:spPr>
          <a:xfrm>
            <a:off x="10047207" y="3989154"/>
            <a:ext cx="602559" cy="369332"/>
          </a:xfrm>
          <a:prstGeom prst="rect">
            <a:avLst/>
          </a:prstGeom>
          <a:noFill/>
        </p:spPr>
        <p:txBody>
          <a:bodyPr wrap="square" rtlCol="0">
            <a:spAutoFit/>
          </a:bodyPr>
          <a:lstStyle/>
          <a:p>
            <a:pPr algn="ctr"/>
            <a:r>
              <a:rPr lang="en-US" altLang="zh-CN" dirty="0"/>
              <a:t>8</a:t>
            </a:r>
            <a:endParaRPr lang="zh-CN" altLang="en-US" dirty="0"/>
          </a:p>
        </p:txBody>
      </p:sp>
    </p:spTree>
    <p:extLst>
      <p:ext uri="{BB962C8B-B14F-4D97-AF65-F5344CB8AC3E}">
        <p14:creationId xmlns:p14="http://schemas.microsoft.com/office/powerpoint/2010/main" val="2373779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r>
              <a:rPr lang="en-US" altLang="zh-CN" sz="3810" b="1" dirty="0">
                <a:solidFill>
                  <a:srgbClr val="284C8A"/>
                </a:solidFill>
                <a:latin typeface="+mn-ea"/>
              </a:rPr>
              <a:t>—</a:t>
            </a:r>
            <a:r>
              <a:rPr lang="zh-CN" altLang="en-US" sz="3810" b="1" dirty="0">
                <a:solidFill>
                  <a:srgbClr val="284C8A"/>
                </a:solidFill>
                <a:latin typeface="+mn-ea"/>
              </a:rPr>
              <a:t>栈</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22" name="Rectangle 3"/>
          <p:cNvSpPr txBox="1">
            <a:spLocks noChangeArrowheads="1"/>
          </p:cNvSpPr>
          <p:nvPr/>
        </p:nvSpPr>
        <p:spPr>
          <a:xfrm>
            <a:off x="1099212" y="1039245"/>
            <a:ext cx="9405719" cy="5539107"/>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栈（</a:t>
            </a:r>
            <a:r>
              <a:rPr lang="en-US" altLang="zh-CN" sz="2993" b="1" dirty="0">
                <a:latin typeface="Times New Roman" panose="02020603050405020304" pitchFamily="18" charset="0"/>
                <a:cs typeface="Times New Roman" panose="02020603050405020304" pitchFamily="18" charset="0"/>
              </a:rPr>
              <a:t>Stack</a:t>
            </a:r>
            <a:r>
              <a:rPr lang="zh-CN" altLang="en-US" sz="2993" b="1" dirty="0"/>
              <a:t>）</a:t>
            </a:r>
            <a:r>
              <a:rPr lang="en-US" altLang="zh-CN" sz="2993" b="1" dirty="0"/>
              <a:t>— STL</a:t>
            </a:r>
            <a:r>
              <a:rPr lang="zh-CN" altLang="en-US" sz="2993" b="1" dirty="0"/>
              <a:t>中的栈（</a:t>
            </a:r>
            <a:r>
              <a:rPr lang="en-US" altLang="zh-CN" sz="2993" b="1" dirty="0" err="1"/>
              <a:t>c++</a:t>
            </a:r>
            <a:r>
              <a:rPr lang="zh-CN" altLang="en-US" sz="2993" b="1" dirty="0"/>
              <a:t>）</a:t>
            </a:r>
            <a:endParaRPr lang="en-US" altLang="zh-CN" sz="2993" b="1" dirty="0"/>
          </a:p>
          <a:p>
            <a:pPr lvl="1">
              <a:buFont typeface="Calibri" panose="020F0502020204030204" pitchFamily="34" charset="0"/>
              <a:buChar char="‐"/>
            </a:pPr>
            <a:r>
              <a:rPr lang="en-US" altLang="zh-CN" sz="2585" b="1" dirty="0"/>
              <a:t>#include &lt;stack&gt;  // </a:t>
            </a:r>
            <a:r>
              <a:rPr lang="zh-CN" altLang="en-US" sz="2585" b="1" dirty="0"/>
              <a:t>头文件</a:t>
            </a:r>
            <a:endParaRPr lang="en-US" altLang="zh-CN" sz="2585" b="1" dirty="0"/>
          </a:p>
          <a:p>
            <a:pPr lvl="1">
              <a:buFont typeface="Calibri" panose="020F0502020204030204" pitchFamily="34" charset="0"/>
              <a:buChar char="‐"/>
            </a:pPr>
            <a:r>
              <a:rPr lang="en-US" altLang="zh-CN" sz="2585" b="1" dirty="0"/>
              <a:t>using namespace std; // </a:t>
            </a:r>
            <a:r>
              <a:rPr lang="zh-CN" altLang="en-US" sz="2585" b="1" dirty="0"/>
              <a:t>使用</a:t>
            </a:r>
            <a:r>
              <a:rPr lang="en-US" altLang="zh-CN" sz="2585" b="1" dirty="0"/>
              <a:t>std</a:t>
            </a:r>
            <a:r>
              <a:rPr lang="zh-CN" altLang="en-US" sz="2585" b="1" dirty="0"/>
              <a:t>命名空间</a:t>
            </a:r>
            <a:endParaRPr lang="en-US" altLang="zh-CN" sz="2585" b="1" dirty="0"/>
          </a:p>
          <a:p>
            <a:pPr lvl="1">
              <a:buFont typeface="Calibri" panose="020F0502020204030204" pitchFamily="34" charset="0"/>
              <a:buChar char="‐"/>
            </a:pPr>
            <a:r>
              <a:rPr lang="en-US" altLang="zh-CN" sz="2585" b="1" dirty="0"/>
              <a:t>stack&lt;int&gt;  s;   //</a:t>
            </a:r>
            <a:r>
              <a:rPr lang="zh-CN" altLang="en-US" sz="2585" b="1" dirty="0"/>
              <a:t>创建一个存放整数的空栈</a:t>
            </a:r>
            <a:r>
              <a:rPr lang="en-US" altLang="zh-CN" sz="2585" b="1" dirty="0"/>
              <a:t>s</a:t>
            </a:r>
          </a:p>
          <a:p>
            <a:pPr lvl="1">
              <a:buFont typeface="Calibri" panose="020F0502020204030204" pitchFamily="34" charset="0"/>
              <a:buChar char="‐"/>
            </a:pPr>
            <a:r>
              <a:rPr lang="en-US" altLang="zh-CN" sz="2585" b="1" dirty="0" err="1"/>
              <a:t>s.empty</a:t>
            </a:r>
            <a:r>
              <a:rPr lang="en-US" altLang="zh-CN" sz="2585" b="1" dirty="0"/>
              <a:t>();         // </a:t>
            </a:r>
            <a:r>
              <a:rPr lang="zh-CN" altLang="en-US" sz="2585" b="1" dirty="0"/>
              <a:t>判断栈</a:t>
            </a:r>
            <a:r>
              <a:rPr lang="en-US" altLang="zh-CN" sz="2585" b="1" dirty="0"/>
              <a:t>s</a:t>
            </a:r>
            <a:r>
              <a:rPr lang="zh-CN" altLang="en-US" sz="2585" b="1" dirty="0"/>
              <a:t>是否为空</a:t>
            </a:r>
            <a:endParaRPr lang="en-US" altLang="zh-CN" sz="2585" b="1" dirty="0"/>
          </a:p>
          <a:p>
            <a:pPr lvl="1">
              <a:buFont typeface="Calibri" panose="020F0502020204030204" pitchFamily="34" charset="0"/>
              <a:buChar char="‐"/>
            </a:pPr>
            <a:r>
              <a:rPr lang="en-US" altLang="zh-CN" sz="2585" b="1" dirty="0" err="1"/>
              <a:t>s.push</a:t>
            </a:r>
            <a:r>
              <a:rPr lang="en-US" altLang="zh-CN" sz="2585" b="1" dirty="0"/>
              <a:t>(10);       //</a:t>
            </a:r>
            <a:r>
              <a:rPr lang="zh-CN" altLang="en-US" sz="2585" b="1" dirty="0"/>
              <a:t>整数</a:t>
            </a:r>
            <a:r>
              <a:rPr lang="en-US" altLang="zh-CN" sz="2585" b="1" dirty="0"/>
              <a:t>10</a:t>
            </a:r>
            <a:r>
              <a:rPr lang="zh-CN" altLang="en-US" sz="2585" b="1" dirty="0"/>
              <a:t>入栈</a:t>
            </a:r>
            <a:r>
              <a:rPr lang="en-US" altLang="zh-CN" sz="2585" b="1" dirty="0"/>
              <a:t>s</a:t>
            </a:r>
          </a:p>
          <a:p>
            <a:pPr lvl="1">
              <a:buFont typeface="Calibri" panose="020F0502020204030204" pitchFamily="34" charset="0"/>
              <a:buChar char="‐"/>
            </a:pPr>
            <a:r>
              <a:rPr lang="en-US" altLang="zh-CN" sz="2585" b="1" dirty="0" err="1"/>
              <a:t>s.pop</a:t>
            </a:r>
            <a:r>
              <a:rPr lang="en-US" altLang="zh-CN" sz="2585" b="1" dirty="0"/>
              <a:t>();            //</a:t>
            </a:r>
            <a:r>
              <a:rPr lang="zh-CN" altLang="en-US" sz="2585" b="1" dirty="0"/>
              <a:t>取出非空栈</a:t>
            </a:r>
            <a:r>
              <a:rPr lang="en-US" altLang="zh-CN" sz="2585" b="1" dirty="0"/>
              <a:t>s</a:t>
            </a:r>
            <a:r>
              <a:rPr lang="zh-CN" altLang="en-US" sz="2585" b="1" dirty="0"/>
              <a:t>的栈顶元素（出栈）</a:t>
            </a:r>
            <a:endParaRPr lang="en-US" altLang="zh-CN" sz="2585" b="1" dirty="0"/>
          </a:p>
          <a:p>
            <a:pPr lvl="1">
              <a:buFont typeface="Calibri" panose="020F0502020204030204" pitchFamily="34" charset="0"/>
              <a:buChar char="‐"/>
            </a:pPr>
            <a:r>
              <a:rPr lang="en-US" altLang="zh-CN" sz="2585" b="1" dirty="0" err="1"/>
              <a:t>s.top</a:t>
            </a:r>
            <a:r>
              <a:rPr lang="en-US" altLang="zh-CN" sz="2585" b="1" dirty="0"/>
              <a:t>();             //</a:t>
            </a:r>
            <a:r>
              <a:rPr lang="zh-CN" altLang="en-US" sz="2585" b="1" dirty="0"/>
              <a:t>访问非空栈</a:t>
            </a:r>
            <a:r>
              <a:rPr lang="en-US" altLang="zh-CN" sz="2585" b="1" dirty="0"/>
              <a:t>s</a:t>
            </a:r>
            <a:r>
              <a:rPr lang="zh-CN" altLang="en-US" sz="2585" b="1" dirty="0"/>
              <a:t>的栈顶元素（不出栈）</a:t>
            </a:r>
            <a:endParaRPr lang="en-US" altLang="zh-CN" sz="2585" b="1" dirty="0"/>
          </a:p>
          <a:p>
            <a:pPr lvl="1">
              <a:buFont typeface="Calibri" panose="020F0502020204030204" pitchFamily="34" charset="0"/>
              <a:buChar char="‐"/>
            </a:pPr>
            <a:r>
              <a:rPr lang="en-US" altLang="zh-CN" sz="2585" b="1" dirty="0" err="1"/>
              <a:t>s.size</a:t>
            </a:r>
            <a:r>
              <a:rPr lang="en-US" altLang="zh-CN" sz="2585" b="1" dirty="0"/>
              <a:t>();	     //</a:t>
            </a:r>
            <a:r>
              <a:rPr lang="zh-CN" altLang="en-US" sz="2585" b="1" dirty="0"/>
              <a:t>返回栈中有多少个元素</a:t>
            </a:r>
            <a:endParaRPr lang="en-US" altLang="zh-CN" sz="2585" b="1" dirty="0"/>
          </a:p>
          <a:p>
            <a:pPr lvl="1">
              <a:buFont typeface="Calibri" panose="020F0502020204030204" pitchFamily="34" charset="0"/>
              <a:buChar char="‐"/>
            </a:pPr>
            <a:endParaRPr lang="en-US" altLang="zh-CN" sz="2585" b="1" dirty="0"/>
          </a:p>
          <a:p>
            <a:pPr marL="401320" lvl="1" indent="0">
              <a:buNone/>
            </a:pPr>
            <a:r>
              <a:rPr lang="zh-CN" altLang="en-US" sz="2585" b="1" dirty="0"/>
              <a:t>如何用代码实现刚才的题目</a:t>
            </a:r>
            <a:r>
              <a:rPr lang="en-US" altLang="zh-CN" sz="2585" b="1" dirty="0"/>
              <a:t>?</a:t>
            </a:r>
          </a:p>
        </p:txBody>
      </p:sp>
    </p:spTree>
    <p:extLst>
      <p:ext uri="{BB962C8B-B14F-4D97-AF65-F5344CB8AC3E}">
        <p14:creationId xmlns:p14="http://schemas.microsoft.com/office/powerpoint/2010/main" val="3252854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3" name="Rectangle 3">
            <a:extLst>
              <a:ext uri="{FF2B5EF4-FFF2-40B4-BE49-F238E27FC236}">
                <a16:creationId xmlns:a16="http://schemas.microsoft.com/office/drawing/2014/main" id="{FEA4AF69-EBBD-51A4-F641-F5214E470A4A}"/>
              </a:ext>
            </a:extLst>
          </p:cNvPr>
          <p:cNvSpPr txBox="1">
            <a:spLocks noChangeArrowheads="1"/>
          </p:cNvSpPr>
          <p:nvPr/>
        </p:nvSpPr>
        <p:spPr>
          <a:xfrm>
            <a:off x="903260" y="1133462"/>
            <a:ext cx="10681633" cy="1441059"/>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栈（</a:t>
            </a:r>
            <a:r>
              <a:rPr lang="en-US" altLang="zh-CN" sz="2993" b="1" dirty="0"/>
              <a:t>Stack</a:t>
            </a:r>
            <a:r>
              <a:rPr lang="zh-CN" altLang="en-US" sz="2993" b="1" dirty="0"/>
              <a:t>）应用示例</a:t>
            </a:r>
            <a:endParaRPr lang="en-US" altLang="zh-CN" sz="2993" b="1" dirty="0"/>
          </a:p>
          <a:p>
            <a:pPr marL="492469" indent="0">
              <a:lnSpc>
                <a:spcPct val="130000"/>
              </a:lnSpc>
              <a:buNone/>
            </a:pPr>
            <a:r>
              <a:rPr lang="zh-CN" altLang="en-US" sz="1800" dirty="0"/>
              <a:t>给定 </a:t>
            </a:r>
            <a:r>
              <a:rPr lang="en-US" altLang="zh-CN" sz="1800" dirty="0"/>
              <a:t>n (n &lt; 10000) </a:t>
            </a:r>
            <a:r>
              <a:rPr lang="zh-CN" altLang="en-US" sz="1800" dirty="0"/>
              <a:t>个数字，删除</a:t>
            </a:r>
            <a:r>
              <a:rPr lang="zh-CN" altLang="en-US" sz="1800" dirty="0">
                <a:solidFill>
                  <a:srgbClr val="FF0000"/>
                </a:solidFill>
              </a:rPr>
              <a:t>两两相邻重复</a:t>
            </a:r>
            <a:r>
              <a:rPr lang="zh-CN" altLang="en-US" sz="1800" dirty="0"/>
              <a:t>的数字后把剩余数字按原顺序输出。</a:t>
            </a:r>
            <a:endParaRPr lang="en-US" altLang="zh-CN" sz="1800" dirty="0"/>
          </a:p>
          <a:p>
            <a:pPr marL="492469" indent="0">
              <a:lnSpc>
                <a:spcPct val="130000"/>
              </a:lnSpc>
              <a:buNone/>
            </a:pPr>
            <a:r>
              <a:rPr lang="zh-CN" altLang="en-US" sz="1800" dirty="0"/>
              <a:t>代码实现</a:t>
            </a:r>
            <a:r>
              <a:rPr lang="en-US" altLang="zh-CN" sz="1800" dirty="0"/>
              <a:t>:</a:t>
            </a:r>
          </a:p>
        </p:txBody>
      </p:sp>
      <p:pic>
        <p:nvPicPr>
          <p:cNvPr id="6" name="图片 5">
            <a:extLst>
              <a:ext uri="{FF2B5EF4-FFF2-40B4-BE49-F238E27FC236}">
                <a16:creationId xmlns:a16="http://schemas.microsoft.com/office/drawing/2014/main" id="{F0E405B2-8F6D-2A2C-D57E-3ACCBE7CB5E9}"/>
              </a:ext>
            </a:extLst>
          </p:cNvPr>
          <p:cNvPicPr>
            <a:picLocks noChangeAspect="1"/>
          </p:cNvPicPr>
          <p:nvPr/>
        </p:nvPicPr>
        <p:blipFill>
          <a:blip r:embed="rId4"/>
          <a:stretch>
            <a:fillRect/>
          </a:stretch>
        </p:blipFill>
        <p:spPr>
          <a:xfrm>
            <a:off x="1461393" y="2759244"/>
            <a:ext cx="3838575" cy="3381375"/>
          </a:xfrm>
          <a:prstGeom prst="rect">
            <a:avLst/>
          </a:prstGeom>
        </p:spPr>
      </p:pic>
      <p:pic>
        <p:nvPicPr>
          <p:cNvPr id="8" name="图片 7">
            <a:extLst>
              <a:ext uri="{FF2B5EF4-FFF2-40B4-BE49-F238E27FC236}">
                <a16:creationId xmlns:a16="http://schemas.microsoft.com/office/drawing/2014/main" id="{169A3F79-2FD8-388C-C3CF-85BC4270300C}"/>
              </a:ext>
            </a:extLst>
          </p:cNvPr>
          <p:cNvPicPr>
            <a:picLocks noChangeAspect="1"/>
          </p:cNvPicPr>
          <p:nvPr/>
        </p:nvPicPr>
        <p:blipFill>
          <a:blip r:embed="rId5"/>
          <a:stretch>
            <a:fillRect/>
          </a:stretch>
        </p:blipFill>
        <p:spPr>
          <a:xfrm>
            <a:off x="5299968" y="2279091"/>
            <a:ext cx="5867674" cy="4217391"/>
          </a:xfrm>
          <a:prstGeom prst="rect">
            <a:avLst/>
          </a:prstGeom>
        </p:spPr>
      </p:pic>
    </p:spTree>
    <p:extLst>
      <p:ext uri="{BB962C8B-B14F-4D97-AF65-F5344CB8AC3E}">
        <p14:creationId xmlns:p14="http://schemas.microsoft.com/office/powerpoint/2010/main" val="3480510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22" name="Rectangle 3"/>
          <p:cNvSpPr txBox="1">
            <a:spLocks noChangeArrowheads="1"/>
          </p:cNvSpPr>
          <p:nvPr/>
        </p:nvSpPr>
        <p:spPr>
          <a:xfrm>
            <a:off x="1099212" y="1039245"/>
            <a:ext cx="9405719" cy="4153327"/>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栈（</a:t>
            </a:r>
            <a:r>
              <a:rPr lang="en-US" altLang="zh-CN" sz="2993" b="1" dirty="0">
                <a:latin typeface="Times New Roman" panose="02020603050405020304" pitchFamily="18" charset="0"/>
                <a:cs typeface="Times New Roman" panose="02020603050405020304" pitchFamily="18" charset="0"/>
              </a:rPr>
              <a:t>Stack</a:t>
            </a:r>
            <a:r>
              <a:rPr lang="zh-CN" altLang="en-US" sz="2993" b="1" dirty="0"/>
              <a:t>）</a:t>
            </a:r>
            <a:endParaRPr lang="en-US" altLang="zh-CN" sz="2993" b="1" dirty="0"/>
          </a:p>
          <a:p>
            <a:pPr>
              <a:buFont typeface="Wingdings" panose="05000000000000000000" pitchFamily="2" charset="2"/>
              <a:buChar char="Ø"/>
            </a:pPr>
            <a:r>
              <a:rPr lang="zh-CN" altLang="en-US" sz="2993" b="1" dirty="0">
                <a:solidFill>
                  <a:srgbClr val="FF0000"/>
                </a:solidFill>
              </a:rPr>
              <a:t>队列</a:t>
            </a:r>
            <a:r>
              <a:rPr lang="zh-CN" altLang="en-US" sz="2993" b="1" dirty="0">
                <a:solidFill>
                  <a:srgbClr val="FF0000"/>
                </a:solidFill>
                <a:latin typeface="Times New Roman" panose="02020603050405020304" pitchFamily="18" charset="0"/>
                <a:cs typeface="Times New Roman" panose="02020603050405020304" pitchFamily="18" charset="0"/>
              </a:rPr>
              <a:t>（</a:t>
            </a:r>
            <a:r>
              <a:rPr lang="en-US" altLang="zh-CN" sz="2993" b="1" dirty="0">
                <a:solidFill>
                  <a:srgbClr val="FF0000"/>
                </a:solidFill>
                <a:latin typeface="Times New Roman" panose="02020603050405020304" pitchFamily="18" charset="0"/>
                <a:cs typeface="Times New Roman" panose="02020603050405020304" pitchFamily="18" charset="0"/>
              </a:rPr>
              <a:t>Queue</a:t>
            </a:r>
            <a:r>
              <a:rPr lang="zh-CN" altLang="en-US" sz="2993" b="1" dirty="0">
                <a:solidFill>
                  <a:srgbClr val="FF0000"/>
                </a:solidFill>
                <a:latin typeface="Times New Roman" panose="02020603050405020304" pitchFamily="18" charset="0"/>
                <a:cs typeface="Times New Roman" panose="02020603050405020304" pitchFamily="18" charset="0"/>
              </a:rPr>
              <a:t>）</a:t>
            </a:r>
            <a:endParaRPr lang="en-US" altLang="zh-CN" sz="2993"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993" b="1" dirty="0">
                <a:solidFill>
                  <a:schemeClr val="bg1">
                    <a:lumMod val="50000"/>
                  </a:schemeClr>
                </a:solidFill>
                <a:latin typeface="Times New Roman" panose="02020603050405020304" pitchFamily="18" charset="0"/>
                <a:cs typeface="Times New Roman" panose="02020603050405020304" pitchFamily="18" charset="0"/>
              </a:rPr>
              <a:t>字符串（</a:t>
            </a:r>
            <a:r>
              <a:rPr lang="en-US" altLang="zh-CN" sz="2993" b="1" dirty="0">
                <a:solidFill>
                  <a:schemeClr val="bg1">
                    <a:lumMod val="50000"/>
                  </a:schemeClr>
                </a:solidFill>
                <a:latin typeface="Times New Roman" panose="02020603050405020304" pitchFamily="18" charset="0"/>
                <a:cs typeface="Times New Roman" panose="02020603050405020304" pitchFamily="18" charset="0"/>
              </a:rPr>
              <a:t>String</a:t>
            </a:r>
            <a:r>
              <a:rPr lang="zh-CN" altLang="en-US" sz="2993" b="1" dirty="0">
                <a:solidFill>
                  <a:schemeClr val="bg1">
                    <a:lumMod val="50000"/>
                  </a:schemeClr>
                </a:solidFill>
                <a:latin typeface="Times New Roman" panose="02020603050405020304" pitchFamily="18" charset="0"/>
                <a:cs typeface="Times New Roman" panose="02020603050405020304" pitchFamily="18" charset="0"/>
              </a:rPr>
              <a:t>）</a:t>
            </a:r>
            <a:endParaRPr lang="en-US" altLang="zh-CN" sz="2993" b="1" dirty="0">
              <a:solidFill>
                <a:schemeClr val="bg1">
                  <a:lumMod val="5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993" b="1" dirty="0">
                <a:solidFill>
                  <a:schemeClr val="bg1">
                    <a:lumMod val="50000"/>
                  </a:schemeClr>
                </a:solidFill>
                <a:latin typeface="Times New Roman" panose="02020603050405020304" pitchFamily="18" charset="0"/>
                <a:cs typeface="Times New Roman" panose="02020603050405020304" pitchFamily="18" charset="0"/>
              </a:rPr>
              <a:t>树（</a:t>
            </a:r>
            <a:r>
              <a:rPr lang="en-US" altLang="zh-CN" sz="2993" b="1" dirty="0">
                <a:solidFill>
                  <a:schemeClr val="bg1">
                    <a:lumMod val="50000"/>
                  </a:schemeClr>
                </a:solidFill>
                <a:latin typeface="Times New Roman" panose="02020603050405020304" pitchFamily="18" charset="0"/>
                <a:cs typeface="Times New Roman" panose="02020603050405020304" pitchFamily="18" charset="0"/>
              </a:rPr>
              <a:t>Tree</a:t>
            </a:r>
            <a:r>
              <a:rPr lang="zh-CN" altLang="en-US" sz="2993" b="1" dirty="0">
                <a:solidFill>
                  <a:schemeClr val="bg1">
                    <a:lumMod val="50000"/>
                  </a:schemeClr>
                </a:solidFill>
                <a:latin typeface="Times New Roman" panose="02020603050405020304" pitchFamily="18" charset="0"/>
                <a:cs typeface="Times New Roman" panose="02020603050405020304" pitchFamily="18" charset="0"/>
              </a:rPr>
              <a:t>）</a:t>
            </a:r>
            <a:endParaRPr lang="en-US" altLang="zh-CN" sz="2993" b="1" dirty="0">
              <a:solidFill>
                <a:schemeClr val="bg1">
                  <a:lumMod val="5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zh-CN" altLang="en-US" sz="2993" b="1" dirty="0">
                <a:solidFill>
                  <a:schemeClr val="bg1">
                    <a:lumMod val="50000"/>
                  </a:schemeClr>
                </a:solidFill>
                <a:latin typeface="Times New Roman" panose="02020603050405020304" pitchFamily="18" charset="0"/>
                <a:cs typeface="Times New Roman" panose="02020603050405020304" pitchFamily="18" charset="0"/>
              </a:rPr>
              <a:t>图（</a:t>
            </a:r>
            <a:r>
              <a:rPr lang="en-US" altLang="zh-CN" sz="2993" b="1" dirty="0">
                <a:solidFill>
                  <a:schemeClr val="bg1">
                    <a:lumMod val="50000"/>
                  </a:schemeClr>
                </a:solidFill>
                <a:latin typeface="Times New Roman" panose="02020603050405020304" pitchFamily="18" charset="0"/>
                <a:cs typeface="Times New Roman" panose="02020603050405020304" pitchFamily="18" charset="0"/>
              </a:rPr>
              <a:t>Graph</a:t>
            </a:r>
            <a:r>
              <a:rPr lang="zh-CN" altLang="en-US" sz="2993" b="1" dirty="0">
                <a:solidFill>
                  <a:schemeClr val="bg1">
                    <a:lumMod val="5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65428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2.</a:t>
            </a:r>
            <a:r>
              <a:rPr lang="en-US" altLang="zh-CN" sz="3810" b="1" dirty="0">
                <a:solidFill>
                  <a:srgbClr val="284C8A"/>
                </a:solidFill>
                <a:latin typeface="+mn-ea"/>
              </a:rPr>
              <a:t> </a:t>
            </a:r>
            <a:r>
              <a:rPr lang="zh-CN" altLang="en-US" sz="3810" b="1" dirty="0">
                <a:solidFill>
                  <a:srgbClr val="284C8A"/>
                </a:solidFill>
                <a:latin typeface="+mn-ea"/>
              </a:rPr>
              <a:t>数据结构基础</a:t>
            </a:r>
            <a:r>
              <a:rPr lang="en-US" altLang="zh-CN" sz="3810" b="1" dirty="0">
                <a:solidFill>
                  <a:srgbClr val="284C8A"/>
                </a:solidFill>
                <a:latin typeface="+mn-ea"/>
              </a:rPr>
              <a:t>—</a:t>
            </a:r>
            <a:r>
              <a:rPr lang="zh-CN" altLang="en-US" sz="3810" b="1" dirty="0">
                <a:solidFill>
                  <a:srgbClr val="284C8A"/>
                </a:solidFill>
                <a:latin typeface="+mn-ea"/>
              </a:rPr>
              <a:t>队列</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28" name="Rectangle 3"/>
          <p:cNvSpPr txBox="1">
            <a:spLocks noChangeArrowheads="1"/>
          </p:cNvSpPr>
          <p:nvPr/>
        </p:nvSpPr>
        <p:spPr>
          <a:xfrm>
            <a:off x="903259" y="1175547"/>
            <a:ext cx="10681633" cy="4972117"/>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队列（</a:t>
            </a:r>
            <a:r>
              <a:rPr lang="en-US" altLang="zh-CN" sz="2993" b="1" dirty="0"/>
              <a:t>Queue</a:t>
            </a:r>
            <a:r>
              <a:rPr lang="zh-CN" altLang="en-US" sz="2993" b="1" dirty="0"/>
              <a:t>）</a:t>
            </a:r>
            <a:endParaRPr lang="en-US" altLang="zh-CN" sz="2993" b="1" dirty="0"/>
          </a:p>
          <a:p>
            <a:pPr marL="492469" indent="0"/>
            <a:r>
              <a:rPr lang="zh-CN" altLang="en-US" sz="2993" b="1" dirty="0"/>
              <a:t> </a:t>
            </a:r>
            <a:r>
              <a:rPr lang="zh-CN" altLang="en-US" sz="2449" b="1" dirty="0"/>
              <a:t>容器</a:t>
            </a:r>
            <a:endParaRPr lang="en-US" altLang="zh-CN" sz="2449" b="1" dirty="0"/>
          </a:p>
          <a:p>
            <a:pPr marL="492469" indent="0"/>
            <a:r>
              <a:rPr lang="en-US" altLang="zh-CN" sz="2449" b="1" dirty="0"/>
              <a:t> </a:t>
            </a:r>
            <a:r>
              <a:rPr lang="zh-CN" altLang="en-US" sz="2449" b="1" dirty="0"/>
              <a:t>在序列的一端插入元素、在另一端删除元素</a:t>
            </a:r>
            <a:endParaRPr lang="en-US" altLang="zh-CN" sz="2449" b="1" dirty="0"/>
          </a:p>
          <a:p>
            <a:pPr marL="492469" indent="0"/>
            <a:r>
              <a:rPr lang="zh-CN" altLang="en-US" sz="2449" b="1" dirty="0"/>
              <a:t> 先进先出</a:t>
            </a:r>
            <a:endParaRPr lang="en-US" altLang="zh-CN" sz="2041" b="1" dirty="0"/>
          </a:p>
          <a:p>
            <a:pPr marL="0" indent="0">
              <a:buNone/>
            </a:pPr>
            <a:endParaRPr lang="zh-CN" altLang="en-US" sz="2993" b="1" dirty="0"/>
          </a:p>
        </p:txBody>
      </p:sp>
      <p:grpSp>
        <p:nvGrpSpPr>
          <p:cNvPr id="29" name="组合 28"/>
          <p:cNvGrpSpPr/>
          <p:nvPr/>
        </p:nvGrpSpPr>
        <p:grpSpPr bwMode="auto">
          <a:xfrm>
            <a:off x="6272370" y="3722930"/>
            <a:ext cx="3636731" cy="681886"/>
            <a:chOff x="0" y="0"/>
            <a:chExt cx="2304" cy="432"/>
          </a:xfrm>
        </p:grpSpPr>
        <p:sp>
          <p:nvSpPr>
            <p:cNvPr id="30" name="Rectangle 6"/>
            <p:cNvSpPr>
              <a:spLocks noChangeArrowheads="1"/>
            </p:cNvSpPr>
            <p:nvPr/>
          </p:nvSpPr>
          <p:spPr bwMode="auto">
            <a:xfrm>
              <a:off x="48" y="0"/>
              <a:ext cx="216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en-US" altLang="zh-CN" sz="2721" b="0" dirty="0"/>
                <a:t>a</a:t>
              </a:r>
              <a:r>
                <a:rPr lang="en-US" altLang="zh-CN" sz="2721" b="0" baseline="-25000" dirty="0"/>
                <a:t>1    </a:t>
              </a:r>
              <a:r>
                <a:rPr lang="en-US" altLang="zh-CN" sz="2721" b="0" dirty="0"/>
                <a:t>a</a:t>
              </a:r>
              <a:r>
                <a:rPr lang="en-US" altLang="zh-CN" sz="2721" b="0" baseline="-25000" dirty="0"/>
                <a:t>2    </a:t>
              </a:r>
              <a:r>
                <a:rPr lang="en-US" altLang="zh-CN" sz="2721" b="0" dirty="0"/>
                <a:t>…    </a:t>
              </a:r>
              <a:r>
                <a:rPr lang="en-US" altLang="zh-CN" sz="2721" b="0" dirty="0" err="1"/>
                <a:t>a</a:t>
              </a:r>
              <a:r>
                <a:rPr lang="en-US" altLang="zh-CN" sz="2721" b="0" baseline="-25000" dirty="0" err="1"/>
                <a:t>i</a:t>
              </a:r>
              <a:r>
                <a:rPr lang="en-US" altLang="zh-CN" sz="2721" b="0" baseline="-25000" dirty="0"/>
                <a:t>    </a:t>
              </a:r>
              <a:r>
                <a:rPr lang="en-US" altLang="zh-CN" sz="2721" b="0" dirty="0"/>
                <a:t>…    a</a:t>
              </a:r>
              <a:r>
                <a:rPr lang="en-US" altLang="zh-CN" sz="2721" b="0" baseline="-25000" dirty="0"/>
                <a:t>n</a:t>
              </a:r>
              <a:endParaRPr lang="en-US" altLang="zh-CN" sz="2721" b="0" dirty="0"/>
            </a:p>
          </p:txBody>
        </p:sp>
        <p:sp>
          <p:nvSpPr>
            <p:cNvPr id="31" name="Line 7"/>
            <p:cNvSpPr>
              <a:spLocks noChangeShapeType="1"/>
            </p:cNvSpPr>
            <p:nvPr/>
          </p:nvSpPr>
          <p:spPr bwMode="auto">
            <a:xfrm>
              <a:off x="0" y="0"/>
              <a:ext cx="230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2" name="Line 8"/>
            <p:cNvSpPr>
              <a:spLocks noChangeShapeType="1"/>
            </p:cNvSpPr>
            <p:nvPr/>
          </p:nvSpPr>
          <p:spPr bwMode="auto">
            <a:xfrm>
              <a:off x="0" y="384"/>
              <a:ext cx="230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grpSp>
      <p:grpSp>
        <p:nvGrpSpPr>
          <p:cNvPr id="33" name="组合 32"/>
          <p:cNvGrpSpPr/>
          <p:nvPr/>
        </p:nvGrpSpPr>
        <p:grpSpPr bwMode="auto">
          <a:xfrm>
            <a:off x="5989410" y="4366069"/>
            <a:ext cx="1762560" cy="924480"/>
            <a:chOff x="13" y="-44"/>
            <a:chExt cx="816" cy="428"/>
          </a:xfrm>
        </p:grpSpPr>
        <p:sp>
          <p:nvSpPr>
            <p:cNvPr id="34" name="Line 10"/>
            <p:cNvSpPr>
              <a:spLocks noChangeShapeType="1"/>
            </p:cNvSpPr>
            <p:nvPr/>
          </p:nvSpPr>
          <p:spPr bwMode="auto">
            <a:xfrm flipV="1">
              <a:off x="290" y="-44"/>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49"/>
            </a:p>
          </p:txBody>
        </p:sp>
        <p:sp>
          <p:nvSpPr>
            <p:cNvPr id="35" name="Rectangle 11"/>
            <p:cNvSpPr>
              <a:spLocks noChangeArrowheads="1"/>
            </p:cNvSpPr>
            <p:nvPr/>
          </p:nvSpPr>
          <p:spPr bwMode="auto">
            <a:xfrm>
              <a:off x="13" y="144"/>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zh-CN" altLang="en-US" sz="2177" dirty="0"/>
                <a:t>队头</a:t>
              </a:r>
              <a:r>
                <a:rPr lang="en-US" altLang="zh-CN" sz="2177" dirty="0"/>
                <a:t>front</a:t>
              </a:r>
            </a:p>
          </p:txBody>
        </p:sp>
      </p:grpSp>
      <p:grpSp>
        <p:nvGrpSpPr>
          <p:cNvPr id="36" name="组合 35"/>
          <p:cNvGrpSpPr/>
          <p:nvPr/>
        </p:nvGrpSpPr>
        <p:grpSpPr bwMode="auto">
          <a:xfrm>
            <a:off x="8876289" y="4376125"/>
            <a:ext cx="1762560" cy="881280"/>
            <a:chOff x="138" y="0"/>
            <a:chExt cx="816" cy="408"/>
          </a:xfrm>
        </p:grpSpPr>
        <p:sp>
          <p:nvSpPr>
            <p:cNvPr id="37" name="Line 13"/>
            <p:cNvSpPr>
              <a:spLocks noChangeShapeType="1"/>
            </p:cNvSpPr>
            <p:nvPr/>
          </p:nvSpPr>
          <p:spPr bwMode="auto">
            <a:xfrm flipV="1">
              <a:off x="384" y="0"/>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49"/>
            </a:p>
          </p:txBody>
        </p:sp>
        <p:sp>
          <p:nvSpPr>
            <p:cNvPr id="55" name="Rectangle 14"/>
            <p:cNvSpPr>
              <a:spLocks noChangeArrowheads="1"/>
            </p:cNvSpPr>
            <p:nvPr/>
          </p:nvSpPr>
          <p:spPr bwMode="auto">
            <a:xfrm>
              <a:off x="138" y="168"/>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zh-CN" altLang="en-US" sz="2177" dirty="0"/>
                <a:t>队尾</a:t>
              </a:r>
              <a:r>
                <a:rPr lang="en-US" altLang="zh-CN" sz="2177" dirty="0"/>
                <a:t>rear</a:t>
              </a:r>
            </a:p>
          </p:txBody>
        </p:sp>
      </p:grpSp>
      <p:grpSp>
        <p:nvGrpSpPr>
          <p:cNvPr id="56" name="组合 55"/>
          <p:cNvGrpSpPr/>
          <p:nvPr/>
        </p:nvGrpSpPr>
        <p:grpSpPr bwMode="auto">
          <a:xfrm>
            <a:off x="4822309" y="3773000"/>
            <a:ext cx="1274810" cy="518400"/>
            <a:chOff x="351" y="0"/>
            <a:chExt cx="504" cy="240"/>
          </a:xfrm>
        </p:grpSpPr>
        <p:sp>
          <p:nvSpPr>
            <p:cNvPr id="57" name="AutoShape 16"/>
            <p:cNvSpPr>
              <a:spLocks noChangeArrowheads="1"/>
            </p:cNvSpPr>
            <p:nvPr/>
          </p:nvSpPr>
          <p:spPr bwMode="auto">
            <a:xfrm>
              <a:off x="661" y="48"/>
              <a:ext cx="194" cy="148"/>
            </a:xfrm>
            <a:prstGeom prst="leftArrow">
              <a:avLst>
                <a:gd name="adj1" fmla="val 50000"/>
                <a:gd name="adj2" fmla="val 58290"/>
              </a:avLst>
            </a:prstGeom>
            <a:solidFill>
              <a:srgbClr val="E93538"/>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58" name="Rectangle 17"/>
            <p:cNvSpPr>
              <a:spLocks noChangeArrowheads="1"/>
            </p:cNvSpPr>
            <p:nvPr/>
          </p:nvSpPr>
          <p:spPr bwMode="auto">
            <a:xfrm>
              <a:off x="351" y="0"/>
              <a:ext cx="38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zh-CN" altLang="en-US" sz="2177" dirty="0"/>
                <a:t>出队</a:t>
              </a:r>
            </a:p>
          </p:txBody>
        </p:sp>
      </p:grpSp>
      <p:grpSp>
        <p:nvGrpSpPr>
          <p:cNvPr id="59" name="组合 58"/>
          <p:cNvGrpSpPr/>
          <p:nvPr/>
        </p:nvGrpSpPr>
        <p:grpSpPr bwMode="auto">
          <a:xfrm>
            <a:off x="10008087" y="3794310"/>
            <a:ext cx="1378080" cy="518400"/>
            <a:chOff x="0" y="0"/>
            <a:chExt cx="638" cy="240"/>
          </a:xfrm>
        </p:grpSpPr>
        <p:sp>
          <p:nvSpPr>
            <p:cNvPr id="60" name="AutoShape 19"/>
            <p:cNvSpPr>
              <a:spLocks noChangeArrowheads="1"/>
            </p:cNvSpPr>
            <p:nvPr/>
          </p:nvSpPr>
          <p:spPr bwMode="auto">
            <a:xfrm>
              <a:off x="0" y="48"/>
              <a:ext cx="230" cy="138"/>
            </a:xfrm>
            <a:prstGeom prst="leftArrow">
              <a:avLst>
                <a:gd name="adj1" fmla="val 50000"/>
                <a:gd name="adj2" fmla="val 58290"/>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61" name="Rectangle 20"/>
            <p:cNvSpPr>
              <a:spLocks noChangeArrowheads="1"/>
            </p:cNvSpPr>
            <p:nvPr/>
          </p:nvSpPr>
          <p:spPr bwMode="auto">
            <a:xfrm>
              <a:off x="246" y="0"/>
              <a:ext cx="3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zh-CN" altLang="en-US" sz="2177" dirty="0"/>
                <a:t>入队</a:t>
              </a:r>
            </a:p>
          </p:txBody>
        </p:sp>
      </p:grpSp>
    </p:spTree>
    <p:extLst>
      <p:ext uri="{BB962C8B-B14F-4D97-AF65-F5344CB8AC3E}">
        <p14:creationId xmlns:p14="http://schemas.microsoft.com/office/powerpoint/2010/main" val="3829529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down)">
                                      <p:cBhvr>
                                        <p:cTn id="11" dur="500"/>
                                        <p:tgtEl>
                                          <p:spTgt spid="33"/>
                                        </p:tgtEl>
                                      </p:cBhvr>
                                    </p:animEffect>
                                  </p:childTnLst>
                                </p:cTn>
                              </p:par>
                            </p:childTnLst>
                          </p:cTn>
                        </p:par>
                        <p:par>
                          <p:cTn id="12" fill="hold">
                            <p:stCondLst>
                              <p:cond delay="500"/>
                            </p:stCondLst>
                            <p:childTnLst>
                              <p:par>
                                <p:cTn id="13" presetID="22" presetClass="entr" presetSubtype="4"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down)">
                                      <p:cBhvr>
                                        <p:cTn id="15" dur="500"/>
                                        <p:tgtEl>
                                          <p:spTgt spid="3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wipe(right)">
                                      <p:cBhvr>
                                        <p:cTn id="20" dur="500"/>
                                        <p:tgtEl>
                                          <p:spTgt spid="59"/>
                                        </p:tgtEl>
                                      </p:cBhvr>
                                    </p:animEffect>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56"/>
                                        </p:tgtEl>
                                        <p:attrNameLst>
                                          <p:attrName>style.visibility</p:attrName>
                                        </p:attrNameLst>
                                      </p:cBhvr>
                                      <p:to>
                                        <p:strVal val="visible"/>
                                      </p:to>
                                    </p:set>
                                    <p:animEffect transition="in" filter="wipe(right)">
                                      <p:cBhvr>
                                        <p:cTn id="24"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2.</a:t>
            </a:r>
            <a:r>
              <a:rPr lang="en-US" altLang="zh-CN" sz="3810" b="1" dirty="0">
                <a:solidFill>
                  <a:srgbClr val="284C8A"/>
                </a:solidFill>
                <a:latin typeface="+mn-ea"/>
              </a:rPr>
              <a:t> </a:t>
            </a:r>
            <a:r>
              <a:rPr lang="zh-CN" altLang="en-US" sz="3810" b="1" dirty="0">
                <a:solidFill>
                  <a:srgbClr val="284C8A"/>
                </a:solidFill>
                <a:latin typeface="+mn-ea"/>
              </a:rPr>
              <a:t>数据结构基础</a:t>
            </a:r>
            <a:r>
              <a:rPr lang="en-US" altLang="zh-CN" sz="3810" b="1" dirty="0">
                <a:solidFill>
                  <a:srgbClr val="284C8A"/>
                </a:solidFill>
                <a:latin typeface="+mn-ea"/>
              </a:rPr>
              <a:t>—</a:t>
            </a:r>
            <a:r>
              <a:rPr lang="zh-CN" altLang="en-US" sz="3810" b="1" dirty="0">
                <a:solidFill>
                  <a:srgbClr val="284C8A"/>
                </a:solidFill>
                <a:latin typeface="+mn-ea"/>
              </a:rPr>
              <a:t>队列</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28" name="Rectangle 3"/>
          <p:cNvSpPr txBox="1">
            <a:spLocks noChangeArrowheads="1"/>
          </p:cNvSpPr>
          <p:nvPr/>
        </p:nvSpPr>
        <p:spPr>
          <a:xfrm>
            <a:off x="903259" y="1175547"/>
            <a:ext cx="10681633" cy="4972117"/>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队列（</a:t>
            </a:r>
            <a:r>
              <a:rPr lang="en-US" altLang="zh-CN" sz="2993" b="1" dirty="0"/>
              <a:t>Queue</a:t>
            </a:r>
            <a:r>
              <a:rPr lang="zh-CN" altLang="en-US" sz="2993" b="1" dirty="0"/>
              <a:t>）</a:t>
            </a:r>
            <a:endParaRPr lang="en-US" altLang="zh-CN" sz="2993" b="1" dirty="0"/>
          </a:p>
          <a:p>
            <a:pPr marL="492469" indent="0"/>
            <a:r>
              <a:rPr lang="zh-CN" altLang="en-US" sz="2993" b="1" dirty="0"/>
              <a:t> </a:t>
            </a:r>
            <a:r>
              <a:rPr lang="zh-CN" altLang="en-US" sz="2449" b="1" dirty="0"/>
              <a:t>容器，先进先出</a:t>
            </a:r>
            <a:endParaRPr lang="en-US" altLang="zh-CN" sz="2041" b="1" dirty="0"/>
          </a:p>
          <a:p>
            <a:pPr marL="492469" indent="0"/>
            <a:r>
              <a:rPr lang="en-US" altLang="zh-CN" sz="2449" b="1" dirty="0"/>
              <a:t> </a:t>
            </a:r>
            <a:r>
              <a:rPr lang="zh-CN" altLang="en-US" sz="2449" b="1" dirty="0"/>
              <a:t>在序列的一端插入元素、在另一端删除元素</a:t>
            </a:r>
            <a:endParaRPr lang="en-US" altLang="zh-CN" sz="2449" b="1" dirty="0"/>
          </a:p>
          <a:p>
            <a:pPr marL="492469" indent="0"/>
            <a:r>
              <a:rPr lang="en-US" altLang="zh-CN" sz="2449" b="1" dirty="0"/>
              <a:t> </a:t>
            </a:r>
            <a:r>
              <a:rPr lang="zh-CN" altLang="en-US" sz="2449" b="1" dirty="0"/>
              <a:t>基本操作</a:t>
            </a:r>
            <a:endParaRPr lang="en-US" altLang="zh-CN" sz="2449" b="1" dirty="0"/>
          </a:p>
          <a:p>
            <a:pPr marL="970251" lvl="1" indent="0"/>
            <a:r>
              <a:rPr lang="zh-CN" altLang="en-US" sz="2041" b="1" dirty="0"/>
              <a:t> 创建（定义）一个空队列</a:t>
            </a:r>
            <a:endParaRPr lang="en-US" altLang="zh-CN" sz="2041" b="1" dirty="0"/>
          </a:p>
          <a:p>
            <a:pPr marL="970251" lvl="1" indent="0"/>
            <a:r>
              <a:rPr lang="zh-CN" altLang="en-US" sz="2041" b="1" dirty="0"/>
              <a:t> 判断队列是否为空</a:t>
            </a:r>
            <a:endParaRPr lang="en-US" altLang="zh-CN" sz="2041" b="1" dirty="0"/>
          </a:p>
          <a:p>
            <a:pPr marL="970251" lvl="1" indent="0"/>
            <a:r>
              <a:rPr lang="en-US" altLang="zh-CN" sz="2041" b="1" dirty="0"/>
              <a:t> </a:t>
            </a:r>
            <a:r>
              <a:rPr lang="zh-CN" altLang="en-US" sz="2041" b="1" dirty="0"/>
              <a:t>获得队列长度</a:t>
            </a:r>
            <a:endParaRPr lang="en-US" altLang="zh-CN" sz="2041" b="1" dirty="0"/>
          </a:p>
          <a:p>
            <a:pPr marL="970251" lvl="1" indent="0"/>
            <a:r>
              <a:rPr lang="en-US" altLang="zh-CN" sz="2041" b="1" dirty="0"/>
              <a:t> </a:t>
            </a:r>
            <a:r>
              <a:rPr lang="zh-CN" altLang="en-US" sz="2041" b="1" dirty="0"/>
              <a:t>入队列</a:t>
            </a:r>
            <a:endParaRPr lang="en-US" altLang="zh-CN" sz="2041" b="1" dirty="0"/>
          </a:p>
          <a:p>
            <a:pPr marL="970251" lvl="1" indent="0"/>
            <a:r>
              <a:rPr lang="en-US" altLang="zh-CN" sz="2041" b="1" dirty="0"/>
              <a:t> </a:t>
            </a:r>
            <a:r>
              <a:rPr lang="zh-CN" altLang="en-US" sz="2041" b="1" dirty="0"/>
              <a:t>出队列</a:t>
            </a:r>
            <a:endParaRPr lang="en-US" altLang="zh-CN" sz="2041" b="1" dirty="0"/>
          </a:p>
          <a:p>
            <a:pPr marL="970251" lvl="1" indent="0"/>
            <a:r>
              <a:rPr lang="en-US" altLang="zh-CN" sz="2041" b="1" dirty="0"/>
              <a:t> </a:t>
            </a:r>
            <a:r>
              <a:rPr lang="zh-CN" altLang="en-US" sz="2041" b="1" dirty="0"/>
              <a:t>访问队头元素</a:t>
            </a:r>
            <a:endParaRPr lang="en-US" altLang="zh-CN" sz="2041" b="1" dirty="0"/>
          </a:p>
        </p:txBody>
      </p:sp>
      <p:grpSp>
        <p:nvGrpSpPr>
          <p:cNvPr id="24" name="组合 23"/>
          <p:cNvGrpSpPr/>
          <p:nvPr/>
        </p:nvGrpSpPr>
        <p:grpSpPr bwMode="auto">
          <a:xfrm>
            <a:off x="6272370" y="3722930"/>
            <a:ext cx="3636731" cy="681886"/>
            <a:chOff x="0" y="0"/>
            <a:chExt cx="2304" cy="432"/>
          </a:xfrm>
        </p:grpSpPr>
        <p:sp>
          <p:nvSpPr>
            <p:cNvPr id="25" name="Rectangle 6"/>
            <p:cNvSpPr>
              <a:spLocks noChangeArrowheads="1"/>
            </p:cNvSpPr>
            <p:nvPr/>
          </p:nvSpPr>
          <p:spPr bwMode="auto">
            <a:xfrm>
              <a:off x="48" y="0"/>
              <a:ext cx="2160"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en-US" altLang="zh-CN" sz="2721" b="0" dirty="0"/>
                <a:t>a</a:t>
              </a:r>
              <a:r>
                <a:rPr lang="en-US" altLang="zh-CN" sz="2721" b="0" baseline="-25000" dirty="0"/>
                <a:t>1    </a:t>
              </a:r>
              <a:r>
                <a:rPr lang="en-US" altLang="zh-CN" sz="2721" b="0" dirty="0"/>
                <a:t>a</a:t>
              </a:r>
              <a:r>
                <a:rPr lang="en-US" altLang="zh-CN" sz="2721" b="0" baseline="-25000" dirty="0"/>
                <a:t>2    </a:t>
              </a:r>
              <a:r>
                <a:rPr lang="en-US" altLang="zh-CN" sz="2721" b="0" dirty="0"/>
                <a:t>…    </a:t>
              </a:r>
              <a:r>
                <a:rPr lang="en-US" altLang="zh-CN" sz="2721" b="0" dirty="0" err="1"/>
                <a:t>a</a:t>
              </a:r>
              <a:r>
                <a:rPr lang="en-US" altLang="zh-CN" sz="2721" b="0" baseline="-25000" dirty="0" err="1"/>
                <a:t>i</a:t>
              </a:r>
              <a:r>
                <a:rPr lang="en-US" altLang="zh-CN" sz="2721" b="0" baseline="-25000" dirty="0"/>
                <a:t>    </a:t>
              </a:r>
              <a:r>
                <a:rPr lang="en-US" altLang="zh-CN" sz="2721" b="0" dirty="0"/>
                <a:t>…    a</a:t>
              </a:r>
              <a:r>
                <a:rPr lang="en-US" altLang="zh-CN" sz="2721" b="0" baseline="-25000" dirty="0"/>
                <a:t>n</a:t>
              </a:r>
              <a:endParaRPr lang="en-US" altLang="zh-CN" sz="2721" b="0" dirty="0"/>
            </a:p>
          </p:txBody>
        </p:sp>
        <p:sp>
          <p:nvSpPr>
            <p:cNvPr id="26" name="Line 7"/>
            <p:cNvSpPr>
              <a:spLocks noChangeShapeType="1"/>
            </p:cNvSpPr>
            <p:nvPr/>
          </p:nvSpPr>
          <p:spPr bwMode="auto">
            <a:xfrm>
              <a:off x="0" y="0"/>
              <a:ext cx="230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7" name="Line 8"/>
            <p:cNvSpPr>
              <a:spLocks noChangeShapeType="1"/>
            </p:cNvSpPr>
            <p:nvPr/>
          </p:nvSpPr>
          <p:spPr bwMode="auto">
            <a:xfrm>
              <a:off x="0" y="384"/>
              <a:ext cx="230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grpSp>
      <p:grpSp>
        <p:nvGrpSpPr>
          <p:cNvPr id="29" name="组合 28"/>
          <p:cNvGrpSpPr/>
          <p:nvPr/>
        </p:nvGrpSpPr>
        <p:grpSpPr bwMode="auto">
          <a:xfrm>
            <a:off x="5989410" y="4366069"/>
            <a:ext cx="1762560" cy="924480"/>
            <a:chOff x="13" y="-44"/>
            <a:chExt cx="816" cy="428"/>
          </a:xfrm>
        </p:grpSpPr>
        <p:sp>
          <p:nvSpPr>
            <p:cNvPr id="30" name="Line 10"/>
            <p:cNvSpPr>
              <a:spLocks noChangeShapeType="1"/>
            </p:cNvSpPr>
            <p:nvPr/>
          </p:nvSpPr>
          <p:spPr bwMode="auto">
            <a:xfrm flipV="1">
              <a:off x="290" y="-44"/>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49"/>
            </a:p>
          </p:txBody>
        </p:sp>
        <p:sp>
          <p:nvSpPr>
            <p:cNvPr id="31" name="Rectangle 11"/>
            <p:cNvSpPr>
              <a:spLocks noChangeArrowheads="1"/>
            </p:cNvSpPr>
            <p:nvPr/>
          </p:nvSpPr>
          <p:spPr bwMode="auto">
            <a:xfrm>
              <a:off x="13" y="144"/>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zh-CN" altLang="en-US" sz="2177" dirty="0"/>
                <a:t>队头</a:t>
              </a:r>
              <a:r>
                <a:rPr lang="en-US" altLang="zh-CN" sz="2177" dirty="0"/>
                <a:t>front</a:t>
              </a:r>
            </a:p>
          </p:txBody>
        </p:sp>
      </p:grpSp>
      <p:grpSp>
        <p:nvGrpSpPr>
          <p:cNvPr id="32" name="组合 31"/>
          <p:cNvGrpSpPr/>
          <p:nvPr/>
        </p:nvGrpSpPr>
        <p:grpSpPr bwMode="auto">
          <a:xfrm>
            <a:off x="8876289" y="4376125"/>
            <a:ext cx="1762560" cy="881280"/>
            <a:chOff x="138" y="0"/>
            <a:chExt cx="816" cy="408"/>
          </a:xfrm>
        </p:grpSpPr>
        <p:sp>
          <p:nvSpPr>
            <p:cNvPr id="33" name="Line 13"/>
            <p:cNvSpPr>
              <a:spLocks noChangeShapeType="1"/>
            </p:cNvSpPr>
            <p:nvPr/>
          </p:nvSpPr>
          <p:spPr bwMode="auto">
            <a:xfrm flipV="1">
              <a:off x="384" y="0"/>
              <a:ext cx="0" cy="19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49"/>
            </a:p>
          </p:txBody>
        </p:sp>
        <p:sp>
          <p:nvSpPr>
            <p:cNvPr id="34" name="Rectangle 14"/>
            <p:cNvSpPr>
              <a:spLocks noChangeArrowheads="1"/>
            </p:cNvSpPr>
            <p:nvPr/>
          </p:nvSpPr>
          <p:spPr bwMode="auto">
            <a:xfrm>
              <a:off x="138" y="168"/>
              <a:ext cx="81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zh-CN" altLang="en-US" sz="2177" dirty="0"/>
                <a:t>队尾</a:t>
              </a:r>
              <a:r>
                <a:rPr lang="en-US" altLang="zh-CN" sz="2177" dirty="0"/>
                <a:t>rear</a:t>
              </a:r>
            </a:p>
          </p:txBody>
        </p:sp>
      </p:grpSp>
      <p:grpSp>
        <p:nvGrpSpPr>
          <p:cNvPr id="35" name="组合 34"/>
          <p:cNvGrpSpPr/>
          <p:nvPr/>
        </p:nvGrpSpPr>
        <p:grpSpPr bwMode="auto">
          <a:xfrm>
            <a:off x="4822309" y="3773000"/>
            <a:ext cx="1274810" cy="518400"/>
            <a:chOff x="351" y="0"/>
            <a:chExt cx="504" cy="240"/>
          </a:xfrm>
        </p:grpSpPr>
        <p:sp>
          <p:nvSpPr>
            <p:cNvPr id="36" name="AutoShape 16"/>
            <p:cNvSpPr>
              <a:spLocks noChangeArrowheads="1"/>
            </p:cNvSpPr>
            <p:nvPr/>
          </p:nvSpPr>
          <p:spPr bwMode="auto">
            <a:xfrm>
              <a:off x="661" y="48"/>
              <a:ext cx="194" cy="148"/>
            </a:xfrm>
            <a:prstGeom prst="leftArrow">
              <a:avLst>
                <a:gd name="adj1" fmla="val 50000"/>
                <a:gd name="adj2" fmla="val 58290"/>
              </a:avLst>
            </a:prstGeom>
            <a:solidFill>
              <a:srgbClr val="E93538"/>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37" name="Rectangle 17"/>
            <p:cNvSpPr>
              <a:spLocks noChangeArrowheads="1"/>
            </p:cNvSpPr>
            <p:nvPr/>
          </p:nvSpPr>
          <p:spPr bwMode="auto">
            <a:xfrm>
              <a:off x="351" y="0"/>
              <a:ext cx="38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zh-CN" altLang="en-US" sz="2177" dirty="0"/>
                <a:t>出队</a:t>
              </a:r>
            </a:p>
          </p:txBody>
        </p:sp>
      </p:grpSp>
      <p:grpSp>
        <p:nvGrpSpPr>
          <p:cNvPr id="38" name="组合 37"/>
          <p:cNvGrpSpPr/>
          <p:nvPr/>
        </p:nvGrpSpPr>
        <p:grpSpPr bwMode="auto">
          <a:xfrm>
            <a:off x="10008087" y="3794310"/>
            <a:ext cx="1378080" cy="518400"/>
            <a:chOff x="0" y="0"/>
            <a:chExt cx="638" cy="240"/>
          </a:xfrm>
        </p:grpSpPr>
        <p:sp>
          <p:nvSpPr>
            <p:cNvPr id="55" name="AutoShape 19"/>
            <p:cNvSpPr>
              <a:spLocks noChangeArrowheads="1"/>
            </p:cNvSpPr>
            <p:nvPr/>
          </p:nvSpPr>
          <p:spPr bwMode="auto">
            <a:xfrm>
              <a:off x="0" y="48"/>
              <a:ext cx="230" cy="138"/>
            </a:xfrm>
            <a:prstGeom prst="leftArrow">
              <a:avLst>
                <a:gd name="adj1" fmla="val 50000"/>
                <a:gd name="adj2" fmla="val 58290"/>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56" name="Rectangle 20"/>
            <p:cNvSpPr>
              <a:spLocks noChangeArrowheads="1"/>
            </p:cNvSpPr>
            <p:nvPr/>
          </p:nvSpPr>
          <p:spPr bwMode="auto">
            <a:xfrm>
              <a:off x="246" y="0"/>
              <a:ext cx="3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SzTx/>
                <a:buFont typeface="Wingdings" panose="05000000000000000000" pitchFamily="2" charset="2"/>
                <a:buNone/>
              </a:pPr>
              <a:r>
                <a:rPr lang="zh-CN" altLang="en-US" sz="2177" dirty="0"/>
                <a:t>入队</a:t>
              </a:r>
            </a:p>
          </p:txBody>
        </p:sp>
      </p:grpSp>
    </p:spTree>
    <p:extLst>
      <p:ext uri="{BB962C8B-B14F-4D97-AF65-F5344CB8AC3E}">
        <p14:creationId xmlns:p14="http://schemas.microsoft.com/office/powerpoint/2010/main" val="332222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down)">
                                      <p:cBhvr>
                                        <p:cTn id="11" dur="500"/>
                                        <p:tgtEl>
                                          <p:spTgt spid="29"/>
                                        </p:tgtEl>
                                      </p:cBhvr>
                                    </p:animEffect>
                                  </p:childTnLst>
                                </p:cTn>
                              </p:par>
                            </p:childTnLst>
                          </p:cTn>
                        </p:par>
                        <p:par>
                          <p:cTn id="12" fill="hold">
                            <p:stCondLst>
                              <p:cond delay="500"/>
                            </p:stCondLst>
                            <p:childTnLst>
                              <p:par>
                                <p:cTn id="13" presetID="22" presetClass="entr" presetSubtype="4"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down)">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right)">
                                      <p:cBhvr>
                                        <p:cTn id="20" dur="500"/>
                                        <p:tgtEl>
                                          <p:spTgt spid="38"/>
                                        </p:tgtEl>
                                      </p:cBhvr>
                                    </p:animEffect>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35"/>
                                        </p:tgtEl>
                                        <p:attrNameLst>
                                          <p:attrName>style.visibility</p:attrName>
                                        </p:attrNameLst>
                                      </p:cBhvr>
                                      <p:to>
                                        <p:strVal val="visible"/>
                                      </p:to>
                                    </p:set>
                                    <p:animEffect transition="in" filter="wipe(right)">
                                      <p:cBhvr>
                                        <p:cTn id="2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7821" name="Text Box 125"/>
          <p:cNvSpPr txBox="1">
            <a:spLocks noChangeArrowheads="1"/>
          </p:cNvSpPr>
          <p:nvPr/>
        </p:nvSpPr>
        <p:spPr bwMode="auto">
          <a:xfrm>
            <a:off x="6063762" y="3331025"/>
            <a:ext cx="5555140" cy="46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449" dirty="0">
                <a:latin typeface="Tahoma" panose="020B0604030504040204" pitchFamily="34" charset="0"/>
                <a:sym typeface="Wingdings" panose="05000000000000000000" pitchFamily="2" charset="2"/>
              </a:rPr>
              <a:t>1. </a:t>
            </a:r>
            <a:r>
              <a:rPr lang="zh-CN" altLang="en-US" sz="2449" dirty="0">
                <a:latin typeface="Tahoma" panose="020B0604030504040204" pitchFamily="34" charset="0"/>
                <a:sym typeface="Wingdings" panose="05000000000000000000" pitchFamily="2" charset="2"/>
              </a:rPr>
              <a:t>能否找到入口到出口的</a:t>
            </a:r>
            <a:r>
              <a:rPr lang="zh-CN" altLang="en-US" sz="2449" dirty="0">
                <a:solidFill>
                  <a:schemeClr val="accent2"/>
                </a:solidFill>
                <a:latin typeface="Tahoma" panose="020B0604030504040204" pitchFamily="34" charset="0"/>
                <a:sym typeface="Wingdings" panose="05000000000000000000" pitchFamily="2" charset="2"/>
              </a:rPr>
              <a:t>一条路径？</a:t>
            </a:r>
          </a:p>
        </p:txBody>
      </p:sp>
      <p:sp>
        <p:nvSpPr>
          <p:cNvPr id="157822" name="Text Box 126"/>
          <p:cNvSpPr txBox="1">
            <a:spLocks noChangeArrowheads="1"/>
          </p:cNvSpPr>
          <p:nvPr/>
        </p:nvSpPr>
        <p:spPr bwMode="auto">
          <a:xfrm>
            <a:off x="6244957" y="3935350"/>
            <a:ext cx="5894533" cy="469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449" dirty="0">
                <a:latin typeface="Tahoma" panose="020B0604030504040204" pitchFamily="34" charset="0"/>
                <a:sym typeface="Wingdings" panose="05000000000000000000" pitchFamily="2" charset="2"/>
              </a:rPr>
              <a:t>2. </a:t>
            </a:r>
            <a:r>
              <a:rPr lang="zh-CN" altLang="en-US" sz="2449" dirty="0">
                <a:latin typeface="Tahoma" panose="020B0604030504040204" pitchFamily="34" charset="0"/>
                <a:sym typeface="Wingdings" panose="05000000000000000000" pitchFamily="2" charset="2"/>
              </a:rPr>
              <a:t>能否得到入口到出口的</a:t>
            </a:r>
            <a:r>
              <a:rPr lang="zh-CN" altLang="en-US" sz="2449" dirty="0">
                <a:solidFill>
                  <a:srgbClr val="284C8A"/>
                </a:solidFill>
                <a:latin typeface="Tahoma" panose="020B0604030504040204" pitchFamily="34" charset="0"/>
                <a:sym typeface="Wingdings" panose="05000000000000000000" pitchFamily="2" charset="2"/>
              </a:rPr>
              <a:t>最短路径长度？</a:t>
            </a:r>
          </a:p>
        </p:txBody>
      </p:sp>
      <p:sp>
        <p:nvSpPr>
          <p:cNvPr id="134" name="矩形 133"/>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a:t>
            </a:r>
          </a:p>
        </p:txBody>
      </p:sp>
      <p:sp>
        <p:nvSpPr>
          <p:cNvPr id="133" name="线形标注 2 132"/>
          <p:cNvSpPr/>
          <p:nvPr/>
        </p:nvSpPr>
        <p:spPr>
          <a:xfrm>
            <a:off x="5895589" y="5030169"/>
            <a:ext cx="1267575" cy="309652"/>
          </a:xfrm>
          <a:prstGeom prst="borderCallout2">
            <a:avLst>
              <a:gd name="adj1" fmla="val 18750"/>
              <a:gd name="adj2" fmla="val -8333"/>
              <a:gd name="adj3" fmla="val 18750"/>
              <a:gd name="adj4" fmla="val -16667"/>
              <a:gd name="adj5" fmla="val -268281"/>
              <a:gd name="adj6" fmla="val -87242"/>
            </a:avLst>
          </a:prstGeom>
          <a:noFill/>
          <a:ln w="9525"/>
        </p:spPr>
        <p:style>
          <a:lnRef idx="2">
            <a:schemeClr val="accent1">
              <a:shade val="50000"/>
            </a:schemeClr>
          </a:lnRef>
          <a:fillRef idx="1">
            <a:schemeClr val="accent1"/>
          </a:fillRef>
          <a:effectRef idx="0">
            <a:schemeClr val="accent1"/>
          </a:effectRef>
          <a:fontRef idx="minor">
            <a:schemeClr val="lt1"/>
          </a:fontRef>
        </p:style>
        <p:txBody>
          <a:bodyPr lIns="0" tIns="48983" rIns="0" bIns="48983" rtlCol="0" anchor="ctr"/>
          <a:lstStyle/>
          <a:p>
            <a:pPr algn="ctr"/>
            <a:r>
              <a:rPr lang="zh-CN" altLang="en-US" sz="1905" dirty="0">
                <a:solidFill>
                  <a:schemeClr val="tx1"/>
                </a:solidFill>
              </a:rPr>
              <a:t>出口</a:t>
            </a:r>
            <a:r>
              <a:rPr lang="en-US" altLang="zh-CN" sz="1905" dirty="0">
                <a:solidFill>
                  <a:schemeClr val="tx1"/>
                </a:solidFill>
              </a:rPr>
              <a:t>(5,8)</a:t>
            </a:r>
            <a:endParaRPr lang="zh-CN" altLang="en-US" sz="1905" dirty="0">
              <a:solidFill>
                <a:schemeClr val="tx1"/>
              </a:solidFill>
            </a:endParaRPr>
          </a:p>
        </p:txBody>
      </p:sp>
      <p:sp>
        <p:nvSpPr>
          <p:cNvPr id="135" name="线形标注 2 134"/>
          <p:cNvSpPr/>
          <p:nvPr/>
        </p:nvSpPr>
        <p:spPr>
          <a:xfrm>
            <a:off x="119449" y="1047464"/>
            <a:ext cx="1144165" cy="417712"/>
          </a:xfrm>
          <a:prstGeom prst="borderCallout2">
            <a:avLst>
              <a:gd name="adj1" fmla="val 106121"/>
              <a:gd name="adj2" fmla="val 61223"/>
              <a:gd name="adj3" fmla="val 176016"/>
              <a:gd name="adj4" fmla="val 110657"/>
              <a:gd name="adj5" fmla="val 321091"/>
              <a:gd name="adj6" fmla="val 145595"/>
            </a:avLst>
          </a:prstGeom>
          <a:noFill/>
          <a:ln w="9525"/>
        </p:spPr>
        <p:style>
          <a:lnRef idx="2">
            <a:schemeClr val="accent1">
              <a:shade val="50000"/>
            </a:schemeClr>
          </a:lnRef>
          <a:fillRef idx="1">
            <a:schemeClr val="accent1"/>
          </a:fillRef>
          <a:effectRef idx="0">
            <a:schemeClr val="accent1"/>
          </a:effectRef>
          <a:fontRef idx="minor">
            <a:schemeClr val="lt1"/>
          </a:fontRef>
        </p:style>
        <p:txBody>
          <a:bodyPr lIns="0" tIns="48983" rIns="0" bIns="48983" rtlCol="0" anchor="ctr"/>
          <a:lstStyle/>
          <a:p>
            <a:pPr algn="ctr"/>
            <a:r>
              <a:rPr lang="zh-CN" altLang="en-US" sz="1905" dirty="0">
                <a:solidFill>
                  <a:schemeClr val="tx1"/>
                </a:solidFill>
              </a:rPr>
              <a:t>入口</a:t>
            </a:r>
            <a:r>
              <a:rPr lang="en-US" altLang="zh-CN" sz="1905" dirty="0">
                <a:solidFill>
                  <a:schemeClr val="tx1"/>
                </a:solidFill>
              </a:rPr>
              <a:t>(1,1)</a:t>
            </a:r>
            <a:endParaRPr lang="zh-CN" altLang="en-US" sz="1905" dirty="0">
              <a:solidFill>
                <a:schemeClr val="tx1"/>
              </a:solidFill>
            </a:endParaRPr>
          </a:p>
        </p:txBody>
      </p:sp>
      <p:grpSp>
        <p:nvGrpSpPr>
          <p:cNvPr id="137" name="组合 136"/>
          <p:cNvGrpSpPr/>
          <p:nvPr/>
        </p:nvGrpSpPr>
        <p:grpSpPr bwMode="auto">
          <a:xfrm>
            <a:off x="9354171" y="1432437"/>
            <a:ext cx="1638881" cy="1273000"/>
            <a:chOff x="0" y="0"/>
            <a:chExt cx="960" cy="720"/>
          </a:xfrm>
        </p:grpSpPr>
        <p:sp>
          <p:nvSpPr>
            <p:cNvPr id="138" name="Rectangle 96"/>
            <p:cNvSpPr>
              <a:spLocks noChangeArrowheads="1"/>
            </p:cNvSpPr>
            <p:nvPr/>
          </p:nvSpPr>
          <p:spPr bwMode="auto">
            <a:xfrm>
              <a:off x="240" y="0"/>
              <a:ext cx="240"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139" name="Rectangle 97"/>
            <p:cNvSpPr>
              <a:spLocks noChangeArrowheads="1"/>
            </p:cNvSpPr>
            <p:nvPr/>
          </p:nvSpPr>
          <p:spPr bwMode="auto">
            <a:xfrm>
              <a:off x="480" y="0"/>
              <a:ext cx="240" cy="24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140" name="Rectangle 98"/>
            <p:cNvSpPr>
              <a:spLocks noChangeArrowheads="1"/>
            </p:cNvSpPr>
            <p:nvPr/>
          </p:nvSpPr>
          <p:spPr bwMode="auto">
            <a:xfrm>
              <a:off x="720" y="0"/>
              <a:ext cx="240"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141" name="Rectangle 99"/>
            <p:cNvSpPr>
              <a:spLocks noChangeArrowheads="1"/>
            </p:cNvSpPr>
            <p:nvPr/>
          </p:nvSpPr>
          <p:spPr bwMode="auto">
            <a:xfrm>
              <a:off x="240" y="240"/>
              <a:ext cx="240"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142" name="Rectangle 100"/>
            <p:cNvSpPr>
              <a:spLocks noChangeArrowheads="1"/>
            </p:cNvSpPr>
            <p:nvPr/>
          </p:nvSpPr>
          <p:spPr bwMode="auto">
            <a:xfrm>
              <a:off x="480" y="240"/>
              <a:ext cx="240"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143" name="Rectangle 101"/>
            <p:cNvSpPr>
              <a:spLocks noChangeArrowheads="1"/>
            </p:cNvSpPr>
            <p:nvPr/>
          </p:nvSpPr>
          <p:spPr bwMode="auto">
            <a:xfrm>
              <a:off x="720" y="240"/>
              <a:ext cx="240" cy="2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144" name="Rectangle 102"/>
            <p:cNvSpPr>
              <a:spLocks noChangeArrowheads="1"/>
            </p:cNvSpPr>
            <p:nvPr/>
          </p:nvSpPr>
          <p:spPr bwMode="auto">
            <a:xfrm>
              <a:off x="240" y="480"/>
              <a:ext cx="240" cy="24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145" name="Rectangle 103"/>
            <p:cNvSpPr>
              <a:spLocks noChangeArrowheads="1"/>
            </p:cNvSpPr>
            <p:nvPr/>
          </p:nvSpPr>
          <p:spPr bwMode="auto">
            <a:xfrm>
              <a:off x="480" y="480"/>
              <a:ext cx="240" cy="240"/>
            </a:xfrm>
            <a:prstGeom prst="rect">
              <a:avLst/>
            </a:prstGeom>
            <a:solidFill>
              <a:srgbClr val="FFFFFF"/>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sp>
          <p:nvSpPr>
            <p:cNvPr id="146" name="Rectangle 104"/>
            <p:cNvSpPr>
              <a:spLocks noChangeArrowheads="1"/>
            </p:cNvSpPr>
            <p:nvPr/>
          </p:nvSpPr>
          <p:spPr bwMode="auto">
            <a:xfrm>
              <a:off x="720" y="480"/>
              <a:ext cx="240" cy="24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latin typeface="Arial" panose="020B0604020202020204" pitchFamily="34" charset="0"/>
              </a:endParaRPr>
            </a:p>
          </p:txBody>
        </p:sp>
        <p:pic>
          <p:nvPicPr>
            <p:cNvPr id="147" name="Picture 117" descr="zoulu"/>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19"/>
              <a:ext cx="720"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9" name="Text Box 125"/>
          <p:cNvSpPr txBox="1">
            <a:spLocks noChangeArrowheads="1"/>
          </p:cNvSpPr>
          <p:nvPr/>
        </p:nvSpPr>
        <p:spPr bwMode="auto">
          <a:xfrm>
            <a:off x="6389664" y="1582315"/>
            <a:ext cx="3331457" cy="678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marL="388791" indent="-388791">
              <a:spcBef>
                <a:spcPct val="0"/>
              </a:spcBef>
              <a:buSzTx/>
              <a:buFont typeface="Arial" panose="020B0604020202020204" pitchFamily="34" charset="0"/>
              <a:buChar char="•"/>
            </a:pPr>
            <a:r>
              <a:rPr lang="zh-CN" altLang="en-US" sz="1905" dirty="0">
                <a:latin typeface="Tahoma" panose="020B0604030504040204" pitchFamily="34" charset="0"/>
                <a:sym typeface="Wingdings" panose="05000000000000000000" pitchFamily="2" charset="2"/>
              </a:rPr>
              <a:t>只能水平或垂直行进，不能越过障碍物</a:t>
            </a:r>
          </a:p>
        </p:txBody>
      </p:sp>
      <p:grpSp>
        <p:nvGrpSpPr>
          <p:cNvPr id="5" name="组合 4"/>
          <p:cNvGrpSpPr/>
          <p:nvPr/>
        </p:nvGrpSpPr>
        <p:grpSpPr>
          <a:xfrm>
            <a:off x="4372899" y="6183649"/>
            <a:ext cx="2702865" cy="576544"/>
            <a:chOff x="3213525" y="4544695"/>
            <a:chExt cx="1986481" cy="423733"/>
          </a:xfrm>
        </p:grpSpPr>
        <p:sp>
          <p:nvSpPr>
            <p:cNvPr id="161" name="线形标注 2 160"/>
            <p:cNvSpPr/>
            <p:nvPr/>
          </p:nvSpPr>
          <p:spPr>
            <a:xfrm>
              <a:off x="4416302" y="4773750"/>
              <a:ext cx="783704" cy="194678"/>
            </a:xfrm>
            <a:prstGeom prst="borderCallout2">
              <a:avLst>
                <a:gd name="adj1" fmla="val 18750"/>
                <a:gd name="adj2" fmla="val -8333"/>
                <a:gd name="adj3" fmla="val 18750"/>
                <a:gd name="adj4" fmla="val -16667"/>
                <a:gd name="adj5" fmla="val -494321"/>
                <a:gd name="adj6" fmla="val -148162"/>
              </a:avLst>
            </a:prstGeom>
            <a:noFill/>
            <a:ln w="9525"/>
          </p:spPr>
          <p:style>
            <a:lnRef idx="2">
              <a:schemeClr val="accent1">
                <a:shade val="50000"/>
              </a:schemeClr>
            </a:lnRef>
            <a:fillRef idx="1">
              <a:schemeClr val="accent1"/>
            </a:fillRef>
            <a:effectRef idx="0">
              <a:schemeClr val="accent1"/>
            </a:effectRef>
            <a:fontRef idx="minor">
              <a:schemeClr val="lt1"/>
            </a:fontRef>
          </p:style>
          <p:txBody>
            <a:bodyPr lIns="0" tIns="48983" rIns="0" bIns="48983" rtlCol="0" anchor="ctr"/>
            <a:lstStyle/>
            <a:p>
              <a:pPr algn="ctr"/>
              <a:r>
                <a:rPr lang="zh-CN" altLang="en-US" sz="1905" dirty="0">
                  <a:solidFill>
                    <a:schemeClr val="tx1"/>
                  </a:solidFill>
                </a:rPr>
                <a:t>障碍物</a:t>
              </a:r>
            </a:p>
          </p:txBody>
        </p:sp>
        <p:cxnSp>
          <p:nvCxnSpPr>
            <p:cNvPr id="4" name="直接连接符 3"/>
            <p:cNvCxnSpPr>
              <a:stCxn id="157803" idx="2"/>
            </p:cNvCxnSpPr>
            <p:nvPr/>
          </p:nvCxnSpPr>
          <p:spPr>
            <a:xfrm>
              <a:off x="3213525" y="4544695"/>
              <a:ext cx="1119107" cy="2797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3" name="线形标注 2 162"/>
          <p:cNvSpPr/>
          <p:nvPr/>
        </p:nvSpPr>
        <p:spPr>
          <a:xfrm>
            <a:off x="5995152" y="2556635"/>
            <a:ext cx="499611" cy="386541"/>
          </a:xfrm>
          <a:prstGeom prst="borderCallout2">
            <a:avLst>
              <a:gd name="adj1" fmla="val 18750"/>
              <a:gd name="adj2" fmla="val -8333"/>
              <a:gd name="adj3" fmla="val 18750"/>
              <a:gd name="adj4" fmla="val -16667"/>
              <a:gd name="adj5" fmla="val 116123"/>
              <a:gd name="adj6" fmla="val -220194"/>
            </a:avLst>
          </a:prstGeom>
          <a:noFill/>
          <a:ln w="9525"/>
        </p:spPr>
        <p:style>
          <a:lnRef idx="2">
            <a:schemeClr val="accent1">
              <a:shade val="50000"/>
            </a:schemeClr>
          </a:lnRef>
          <a:fillRef idx="1">
            <a:schemeClr val="accent1"/>
          </a:fillRef>
          <a:effectRef idx="0">
            <a:schemeClr val="accent1"/>
          </a:effectRef>
          <a:fontRef idx="minor">
            <a:schemeClr val="lt1"/>
          </a:fontRef>
        </p:style>
        <p:txBody>
          <a:bodyPr lIns="0" tIns="48983" rIns="0" bIns="48983" rtlCol="0" anchor="ctr"/>
          <a:lstStyle/>
          <a:p>
            <a:pPr algn="ctr"/>
            <a:r>
              <a:rPr lang="zh-CN" altLang="en-US" sz="1905" dirty="0">
                <a:solidFill>
                  <a:schemeClr val="tx1"/>
                </a:solidFill>
              </a:rPr>
              <a:t>通道</a:t>
            </a:r>
          </a:p>
        </p:txBody>
      </p:sp>
      <p:sp>
        <p:nvSpPr>
          <p:cNvPr id="6" name="文本框 5">
            <a:extLst>
              <a:ext uri="{FF2B5EF4-FFF2-40B4-BE49-F238E27FC236}">
                <a16:creationId xmlns:a16="http://schemas.microsoft.com/office/drawing/2014/main" id="{3656FC77-9C30-A805-15DC-632F0F2A060A}"/>
              </a:ext>
            </a:extLst>
          </p:cNvPr>
          <p:cNvSpPr txBox="1"/>
          <p:nvPr/>
        </p:nvSpPr>
        <p:spPr>
          <a:xfrm>
            <a:off x="7555957" y="4539675"/>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7822"/>
                                        </p:tgtEl>
                                        <p:attrNameLst>
                                          <p:attrName>style.visibility</p:attrName>
                                        </p:attrNameLst>
                                      </p:cBhvr>
                                      <p:to>
                                        <p:strVal val="visible"/>
                                      </p:to>
                                    </p:set>
                                    <p:animEffect transition="in" filter="wipe(down)">
                                      <p:cBhvr>
                                        <p:cTn id="7" dur="500"/>
                                        <p:tgtEl>
                                          <p:spTgt spid="15782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7821"/>
                                        </p:tgtEl>
                                        <p:attrNameLst>
                                          <p:attrName>style.visibility</p:attrName>
                                        </p:attrNameLst>
                                      </p:cBhvr>
                                      <p:to>
                                        <p:strVal val="visible"/>
                                      </p:to>
                                    </p:set>
                                    <p:animEffect transition="in" filter="wipe(down)">
                                      <p:cBhvr>
                                        <p:cTn id="10" dur="500"/>
                                        <p:tgtEl>
                                          <p:spTgt spid="157821"/>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821" grpId="0"/>
      <p:bldP spid="157822"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8845" name="Line 125"/>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58846" name="Line 126"/>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36" name="矩形 135"/>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4" name="文本框 3">
            <a:extLst>
              <a:ext uri="{FF2B5EF4-FFF2-40B4-BE49-F238E27FC236}">
                <a16:creationId xmlns:a16="http://schemas.microsoft.com/office/drawing/2014/main" id="{33E703A3-B215-4A71-B47D-E7F5A6BD3390}"/>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5" name="文本框 4">
            <a:extLst>
              <a:ext uri="{FF2B5EF4-FFF2-40B4-BE49-F238E27FC236}">
                <a16:creationId xmlns:a16="http://schemas.microsoft.com/office/drawing/2014/main" id="{303DCF9A-74F6-773E-2E07-F8FDEB849716}"/>
              </a:ext>
            </a:extLst>
          </p:cNvPr>
          <p:cNvSpPr txBox="1"/>
          <p:nvPr/>
        </p:nvSpPr>
        <p:spPr>
          <a:xfrm>
            <a:off x="5392536" y="3427674"/>
            <a:ext cx="4838332" cy="830997"/>
          </a:xfrm>
          <a:prstGeom prst="rect">
            <a:avLst/>
          </a:prstGeom>
          <a:noFill/>
        </p:spPr>
        <p:txBody>
          <a:bodyPr wrap="square" rtlCol="0">
            <a:spAutoFit/>
          </a:bodyPr>
          <a:lstStyle/>
          <a:p>
            <a:r>
              <a:rPr lang="zh-CN" altLang="en-US" sz="1600" dirty="0"/>
              <a:t>队列：    （</a:t>
            </a:r>
            <a:r>
              <a:rPr lang="en-US" altLang="zh-CN" sz="1600" dirty="0"/>
              <a:t>1</a:t>
            </a:r>
            <a:r>
              <a:rPr lang="zh-CN" altLang="en-US" sz="1600" dirty="0"/>
              <a:t>，</a:t>
            </a:r>
            <a:r>
              <a:rPr lang="en-US" altLang="zh-CN" sz="1600" dirty="0"/>
              <a:t>1</a:t>
            </a:r>
            <a:r>
              <a:rPr lang="zh-CN" altLang="en-US" sz="1600" dirty="0"/>
              <a:t>）</a:t>
            </a:r>
            <a:endParaRPr lang="en-US" altLang="zh-CN" sz="1600" dirty="0"/>
          </a:p>
          <a:p>
            <a:endParaRPr lang="en-US" altLang="zh-CN" sz="1600" dirty="0"/>
          </a:p>
          <a:p>
            <a:r>
              <a:rPr lang="zh-CN" altLang="en-US" sz="1600" dirty="0"/>
              <a:t>最短距离：   </a:t>
            </a:r>
            <a:r>
              <a:rPr lang="en-US" altLang="zh-CN" sz="1600" dirty="0"/>
              <a:t>0   </a:t>
            </a:r>
            <a:endParaRPr lang="zh-CN" alt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dirty="0">
                <a:solidFill>
                  <a:srgbClr val="C00000"/>
                </a:solidFill>
              </a:rPr>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a:t>
            </a:r>
          </a:p>
        </p:txBody>
      </p:sp>
      <p:sp>
        <p:nvSpPr>
          <p:cNvPr id="137" name="矩形 136"/>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0" name="Line 125">
            <a:extLst>
              <a:ext uri="{FF2B5EF4-FFF2-40B4-BE49-F238E27FC236}">
                <a16:creationId xmlns:a16="http://schemas.microsoft.com/office/drawing/2014/main" id="{AB5A5DC5-D977-1597-AD9C-2AB772A00CE9}"/>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1" name="Line 126">
            <a:extLst>
              <a:ext uri="{FF2B5EF4-FFF2-40B4-BE49-F238E27FC236}">
                <a16:creationId xmlns:a16="http://schemas.microsoft.com/office/drawing/2014/main" id="{BD34E730-483C-AE7D-6D85-7786CD0134ED}"/>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2" name="文本框 11">
            <a:extLst>
              <a:ext uri="{FF2B5EF4-FFF2-40B4-BE49-F238E27FC236}">
                <a16:creationId xmlns:a16="http://schemas.microsoft.com/office/drawing/2014/main" id="{24F6EEAB-8D5B-0AA8-6E65-09692B454B16}"/>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13" name="文本框 12">
            <a:extLst>
              <a:ext uri="{FF2B5EF4-FFF2-40B4-BE49-F238E27FC236}">
                <a16:creationId xmlns:a16="http://schemas.microsoft.com/office/drawing/2014/main" id="{CA783300-4614-CEA2-93C4-4E0CF69BB18D}"/>
              </a:ext>
            </a:extLst>
          </p:cNvPr>
          <p:cNvSpPr txBox="1"/>
          <p:nvPr/>
        </p:nvSpPr>
        <p:spPr>
          <a:xfrm>
            <a:off x="5392536" y="3427674"/>
            <a:ext cx="4838332"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1</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2</a:t>
            </a:r>
            <a:r>
              <a:rPr lang="zh-CN" altLang="en-US" sz="1600" dirty="0"/>
              <a:t>，</a:t>
            </a:r>
            <a:r>
              <a:rPr lang="en-US" altLang="zh-CN" sz="1600" dirty="0"/>
              <a:t>1</a:t>
            </a:r>
            <a:r>
              <a:rPr lang="zh-CN" altLang="en-US" sz="1600" dirty="0"/>
              <a:t>）</a:t>
            </a:r>
            <a:endParaRPr lang="en-US" altLang="zh-CN" sz="1600" dirty="0"/>
          </a:p>
          <a:p>
            <a:endParaRPr lang="en-US" altLang="zh-CN" sz="1600" dirty="0"/>
          </a:p>
          <a:p>
            <a:r>
              <a:rPr lang="zh-CN" altLang="en-US" sz="1600" dirty="0"/>
              <a:t>最短距离：   </a:t>
            </a:r>
            <a:r>
              <a:rPr lang="en-US" altLang="zh-CN" sz="1600" dirty="0"/>
              <a:t>0              1               1</a:t>
            </a:r>
            <a:endParaRPr lang="zh-CN" alt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a:t>
            </a:r>
          </a:p>
        </p:txBody>
      </p:sp>
      <p:sp>
        <p:nvSpPr>
          <p:cNvPr id="15975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a:t>
            </a:r>
          </a:p>
        </p:txBody>
      </p:sp>
      <p:sp>
        <p:nvSpPr>
          <p:cNvPr id="4"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2</a:t>
            </a:r>
          </a:p>
        </p:txBody>
      </p:sp>
      <p:sp>
        <p:nvSpPr>
          <p:cNvPr id="137" name="矩形 136"/>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3" name="Line 125">
            <a:extLst>
              <a:ext uri="{FF2B5EF4-FFF2-40B4-BE49-F238E27FC236}">
                <a16:creationId xmlns:a16="http://schemas.microsoft.com/office/drawing/2014/main" id="{C5D5BB49-1A6D-D58A-70AE-889CFE3F2544}"/>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6" name="Line 126">
            <a:extLst>
              <a:ext uri="{FF2B5EF4-FFF2-40B4-BE49-F238E27FC236}">
                <a16:creationId xmlns:a16="http://schemas.microsoft.com/office/drawing/2014/main" id="{191E8D41-094E-CFEC-1E6C-03E845BF8861}"/>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7" name="文本框 6">
            <a:extLst>
              <a:ext uri="{FF2B5EF4-FFF2-40B4-BE49-F238E27FC236}">
                <a16:creationId xmlns:a16="http://schemas.microsoft.com/office/drawing/2014/main" id="{C372E6E0-D6E8-8731-C661-F7E9A48EC281}"/>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8" name="文本框 7">
            <a:extLst>
              <a:ext uri="{FF2B5EF4-FFF2-40B4-BE49-F238E27FC236}">
                <a16:creationId xmlns:a16="http://schemas.microsoft.com/office/drawing/2014/main" id="{538571D5-3810-C34A-D7E8-9CC7E28326B0}"/>
              </a:ext>
            </a:extLst>
          </p:cNvPr>
          <p:cNvSpPr txBox="1"/>
          <p:nvPr/>
        </p:nvSpPr>
        <p:spPr>
          <a:xfrm>
            <a:off x="5392536" y="3427674"/>
            <a:ext cx="4838332"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dirty="0"/>
              <a:t>（</a:t>
            </a:r>
            <a:r>
              <a:rPr lang="en-US" altLang="zh-CN" sz="1600" dirty="0"/>
              <a:t>2</a:t>
            </a:r>
            <a:r>
              <a:rPr lang="zh-CN" altLang="en-US" sz="1600" dirty="0"/>
              <a:t>，</a:t>
            </a:r>
            <a:r>
              <a:rPr lang="en-US" altLang="zh-CN" sz="1600" dirty="0"/>
              <a:t>1</a:t>
            </a:r>
            <a:r>
              <a:rPr lang="zh-CN" altLang="en-US" sz="1600" dirty="0"/>
              <a:t>）</a:t>
            </a:r>
            <a:r>
              <a:rPr lang="en-US" altLang="zh-CN" sz="1600" dirty="0"/>
              <a:t>|</a:t>
            </a:r>
            <a:r>
              <a:rPr lang="zh-CN" altLang="en-US" sz="1600" dirty="0"/>
              <a:t>（</a:t>
            </a:r>
            <a:r>
              <a:rPr lang="en-US" altLang="zh-CN" sz="1600" dirty="0"/>
              <a:t>2</a:t>
            </a:r>
            <a:r>
              <a:rPr lang="zh-CN" altLang="en-US" sz="1600" dirty="0"/>
              <a:t>，</a:t>
            </a:r>
            <a:r>
              <a:rPr lang="en-US" altLang="zh-CN" sz="1600" dirty="0"/>
              <a:t>2</a:t>
            </a:r>
            <a:r>
              <a:rPr lang="zh-CN" altLang="en-US" sz="1600" dirty="0"/>
              <a:t>）</a:t>
            </a:r>
            <a:endParaRPr lang="en-US" altLang="zh-CN" sz="1600" dirty="0"/>
          </a:p>
          <a:p>
            <a:endParaRPr lang="en-US" altLang="zh-CN" sz="1600" dirty="0"/>
          </a:p>
          <a:p>
            <a:r>
              <a:rPr lang="zh-CN" altLang="en-US" sz="1600" dirty="0"/>
              <a:t>最短距离：   </a:t>
            </a:r>
            <a:r>
              <a:rPr lang="en-US" altLang="zh-CN" sz="1600" dirty="0"/>
              <a:t>0              1               1             2</a:t>
            </a:r>
            <a:endParaRPr lang="zh-CN" alt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2</a:t>
            </a:r>
          </a:p>
        </p:txBody>
      </p:sp>
      <p:sp>
        <p:nvSpPr>
          <p:cNvPr id="139" name="矩形 138"/>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8" name="Line 125">
            <a:extLst>
              <a:ext uri="{FF2B5EF4-FFF2-40B4-BE49-F238E27FC236}">
                <a16:creationId xmlns:a16="http://schemas.microsoft.com/office/drawing/2014/main" id="{C21104A2-FCF3-5AB5-0517-CAC177463C96}"/>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9" name="Line 126">
            <a:extLst>
              <a:ext uri="{FF2B5EF4-FFF2-40B4-BE49-F238E27FC236}">
                <a16:creationId xmlns:a16="http://schemas.microsoft.com/office/drawing/2014/main" id="{69DC2D87-AED1-04D9-A326-4976DAFACB01}"/>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0" name="文本框 9">
            <a:extLst>
              <a:ext uri="{FF2B5EF4-FFF2-40B4-BE49-F238E27FC236}">
                <a16:creationId xmlns:a16="http://schemas.microsoft.com/office/drawing/2014/main" id="{2C0AB5B3-C138-BF28-090E-5611455F1BAC}"/>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11" name="文本框 10">
            <a:extLst>
              <a:ext uri="{FF2B5EF4-FFF2-40B4-BE49-F238E27FC236}">
                <a16:creationId xmlns:a16="http://schemas.microsoft.com/office/drawing/2014/main" id="{252109CB-FD0A-78CC-2FAB-1CA62A41BF82}"/>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2</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3</a:t>
            </a:r>
            <a:r>
              <a:rPr lang="zh-CN" altLang="en-US" sz="1600" dirty="0"/>
              <a:t>，</a:t>
            </a:r>
            <a:r>
              <a:rPr lang="en-US" altLang="zh-CN" sz="1600" dirty="0"/>
              <a:t>1</a:t>
            </a:r>
            <a:r>
              <a:rPr lang="zh-CN" altLang="en-US" sz="1600" dirty="0"/>
              <a:t>）</a:t>
            </a:r>
            <a:endParaRPr lang="en-US" altLang="zh-CN" sz="1600" dirty="0"/>
          </a:p>
          <a:p>
            <a:endParaRPr lang="en-US" altLang="zh-CN" sz="1600" dirty="0"/>
          </a:p>
          <a:p>
            <a:r>
              <a:rPr lang="zh-CN" altLang="en-US" sz="1600" dirty="0"/>
              <a:t>最短距离：   </a:t>
            </a:r>
            <a:r>
              <a:rPr lang="en-US" altLang="zh-CN" sz="1600" dirty="0"/>
              <a:t>0              1               1             2             2</a:t>
            </a:r>
            <a:endParaRPr lang="zh-CN" alt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3</a:t>
            </a:r>
          </a:p>
        </p:txBody>
      </p:sp>
      <p:sp>
        <p:nvSpPr>
          <p:cNvPr id="141" name="矩形 140"/>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0" name="Line 125">
            <a:extLst>
              <a:ext uri="{FF2B5EF4-FFF2-40B4-BE49-F238E27FC236}">
                <a16:creationId xmlns:a16="http://schemas.microsoft.com/office/drawing/2014/main" id="{96947B91-5165-CC92-ADCC-DFF065F75FE9}"/>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1" name="Line 126">
            <a:extLst>
              <a:ext uri="{FF2B5EF4-FFF2-40B4-BE49-F238E27FC236}">
                <a16:creationId xmlns:a16="http://schemas.microsoft.com/office/drawing/2014/main" id="{E6B5049C-1749-038C-7BD2-80D7A8E8963C}"/>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2" name="文本框 11">
            <a:extLst>
              <a:ext uri="{FF2B5EF4-FFF2-40B4-BE49-F238E27FC236}">
                <a16:creationId xmlns:a16="http://schemas.microsoft.com/office/drawing/2014/main" id="{4335E9DA-170D-7EFB-CD58-F73810A240FB}"/>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13" name="文本框 12">
            <a:extLst>
              <a:ext uri="{FF2B5EF4-FFF2-40B4-BE49-F238E27FC236}">
                <a16:creationId xmlns:a16="http://schemas.microsoft.com/office/drawing/2014/main" id="{63B0F3C5-3EC2-13F2-4EAB-F3B171441395}"/>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14" name="Line 125">
            <a:extLst>
              <a:ext uri="{FF2B5EF4-FFF2-40B4-BE49-F238E27FC236}">
                <a16:creationId xmlns:a16="http://schemas.microsoft.com/office/drawing/2014/main" id="{F1505644-FE3A-E008-D888-B8FD207A2228}"/>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5" name="Line 126">
            <a:extLst>
              <a:ext uri="{FF2B5EF4-FFF2-40B4-BE49-F238E27FC236}">
                <a16:creationId xmlns:a16="http://schemas.microsoft.com/office/drawing/2014/main" id="{051013D9-5182-4F62-2068-3BDD493D4940}"/>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0" name="文本框 19">
            <a:extLst>
              <a:ext uri="{FF2B5EF4-FFF2-40B4-BE49-F238E27FC236}">
                <a16:creationId xmlns:a16="http://schemas.microsoft.com/office/drawing/2014/main" id="{F523D9CC-7204-9F02-8647-B74A3B84BF3E}"/>
              </a:ext>
            </a:extLst>
          </p:cNvPr>
          <p:cNvSpPr txBox="1"/>
          <p:nvPr/>
        </p:nvSpPr>
        <p:spPr>
          <a:xfrm>
            <a:off x="5452321" y="4541345"/>
            <a:ext cx="6592318" cy="830997"/>
          </a:xfrm>
          <a:prstGeom prst="rect">
            <a:avLst/>
          </a:prstGeom>
          <a:noFill/>
        </p:spPr>
        <p:txBody>
          <a:bodyPr wrap="square" rtlCol="0">
            <a:spAutoFit/>
          </a:bodyPr>
          <a:lstStyle/>
          <a:p>
            <a:r>
              <a:rPr lang="zh-CN" altLang="en-US" sz="1600" dirty="0"/>
              <a:t>队列：    （</a:t>
            </a:r>
            <a:r>
              <a:rPr lang="en-US" altLang="zh-CN" sz="1600" dirty="0"/>
              <a:t>3</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4</a:t>
            </a:r>
            <a:r>
              <a:rPr lang="zh-CN" altLang="en-US" sz="1600" dirty="0"/>
              <a:t>，</a:t>
            </a:r>
            <a:r>
              <a:rPr lang="en-US" altLang="zh-CN" sz="1600" dirty="0"/>
              <a:t>1</a:t>
            </a:r>
            <a:r>
              <a:rPr lang="zh-CN" altLang="en-US" sz="1600" dirty="0"/>
              <a:t>）</a:t>
            </a:r>
            <a:endParaRPr lang="en-US" altLang="zh-CN" sz="1600" dirty="0"/>
          </a:p>
          <a:p>
            <a:endParaRPr lang="en-US" altLang="zh-CN" sz="1600" dirty="0"/>
          </a:p>
          <a:p>
            <a:r>
              <a:rPr lang="zh-CN" altLang="en-US" sz="1600" dirty="0"/>
              <a:t>最短距离：  </a:t>
            </a:r>
            <a:r>
              <a:rPr lang="en-US" altLang="zh-CN" sz="1600" dirty="0"/>
              <a:t>3               3</a:t>
            </a:r>
            <a:endParaRPr lang="zh-CN"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4</a:t>
            </a:r>
          </a:p>
        </p:txBody>
      </p:sp>
      <p:sp>
        <p:nvSpPr>
          <p:cNvPr id="143" name="矩形 142"/>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1" name="Line 125">
            <a:extLst>
              <a:ext uri="{FF2B5EF4-FFF2-40B4-BE49-F238E27FC236}">
                <a16:creationId xmlns:a16="http://schemas.microsoft.com/office/drawing/2014/main" id="{0BF44FD9-4882-410C-38B5-525D1CEA9F3D}"/>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3" name="Line 126">
            <a:extLst>
              <a:ext uri="{FF2B5EF4-FFF2-40B4-BE49-F238E27FC236}">
                <a16:creationId xmlns:a16="http://schemas.microsoft.com/office/drawing/2014/main" id="{CC844E9F-14BF-D922-8E02-7F67B79BF188}"/>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4" name="文本框 13">
            <a:extLst>
              <a:ext uri="{FF2B5EF4-FFF2-40B4-BE49-F238E27FC236}">
                <a16:creationId xmlns:a16="http://schemas.microsoft.com/office/drawing/2014/main" id="{7D611C37-5D2B-B2D2-CF04-BE2643D79F48}"/>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15" name="文本框 14">
            <a:extLst>
              <a:ext uri="{FF2B5EF4-FFF2-40B4-BE49-F238E27FC236}">
                <a16:creationId xmlns:a16="http://schemas.microsoft.com/office/drawing/2014/main" id="{70AC288B-03AD-5554-53AB-450506195D72}"/>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20" name="Line 125">
            <a:extLst>
              <a:ext uri="{FF2B5EF4-FFF2-40B4-BE49-F238E27FC236}">
                <a16:creationId xmlns:a16="http://schemas.microsoft.com/office/drawing/2014/main" id="{20414623-D48A-D86F-DAC7-941A96CB7E53}"/>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1" name="Line 126">
            <a:extLst>
              <a:ext uri="{FF2B5EF4-FFF2-40B4-BE49-F238E27FC236}">
                <a16:creationId xmlns:a16="http://schemas.microsoft.com/office/drawing/2014/main" id="{C1F17700-91DD-4784-73B2-9C708A4D664C}"/>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2" name="文本框 21">
            <a:extLst>
              <a:ext uri="{FF2B5EF4-FFF2-40B4-BE49-F238E27FC236}">
                <a16:creationId xmlns:a16="http://schemas.microsoft.com/office/drawing/2014/main" id="{46384F8F-CDE9-B838-7A8C-9AD99780F9D5}"/>
              </a:ext>
            </a:extLst>
          </p:cNvPr>
          <p:cNvSpPr txBox="1"/>
          <p:nvPr/>
        </p:nvSpPr>
        <p:spPr>
          <a:xfrm>
            <a:off x="5452321" y="4541345"/>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3</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a:t>
            </a:r>
            <a:endParaRPr lang="zh-CN" alt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5</a:t>
            </a:r>
          </a:p>
        </p:txBody>
      </p:sp>
      <p:sp>
        <p:nvSpPr>
          <p:cNvPr id="146" name="矩形 145"/>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1" name="Line 125">
            <a:extLst>
              <a:ext uri="{FF2B5EF4-FFF2-40B4-BE49-F238E27FC236}">
                <a16:creationId xmlns:a16="http://schemas.microsoft.com/office/drawing/2014/main" id="{7854F136-360E-A559-BB44-3659919CF1B1}"/>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5" name="Line 126">
            <a:extLst>
              <a:ext uri="{FF2B5EF4-FFF2-40B4-BE49-F238E27FC236}">
                <a16:creationId xmlns:a16="http://schemas.microsoft.com/office/drawing/2014/main" id="{2F60D81E-FD57-D889-ACDB-0A54F0F28727}"/>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0" name="文本框 19">
            <a:extLst>
              <a:ext uri="{FF2B5EF4-FFF2-40B4-BE49-F238E27FC236}">
                <a16:creationId xmlns:a16="http://schemas.microsoft.com/office/drawing/2014/main" id="{E04AF567-D3F2-A788-F5CF-3A6D6A2991B5}"/>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21" name="文本框 20">
            <a:extLst>
              <a:ext uri="{FF2B5EF4-FFF2-40B4-BE49-F238E27FC236}">
                <a16:creationId xmlns:a16="http://schemas.microsoft.com/office/drawing/2014/main" id="{14768DFB-B43A-9284-7F56-3AFC573703DB}"/>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22" name="Line 125">
            <a:extLst>
              <a:ext uri="{FF2B5EF4-FFF2-40B4-BE49-F238E27FC236}">
                <a16:creationId xmlns:a16="http://schemas.microsoft.com/office/drawing/2014/main" id="{62CCE55B-5601-B2BC-C0FA-5458DA9D1A56}"/>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3" name="Line 126">
            <a:extLst>
              <a:ext uri="{FF2B5EF4-FFF2-40B4-BE49-F238E27FC236}">
                <a16:creationId xmlns:a16="http://schemas.microsoft.com/office/drawing/2014/main" id="{032B2E4D-A87D-D5B5-4B49-2C61017223F4}"/>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4" name="文本框 23">
            <a:extLst>
              <a:ext uri="{FF2B5EF4-FFF2-40B4-BE49-F238E27FC236}">
                <a16:creationId xmlns:a16="http://schemas.microsoft.com/office/drawing/2014/main" id="{388CE9EA-48D9-4201-A6B7-1BB2330E29A8}"/>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25" name="文本框 24">
            <a:extLst>
              <a:ext uri="{FF2B5EF4-FFF2-40B4-BE49-F238E27FC236}">
                <a16:creationId xmlns:a16="http://schemas.microsoft.com/office/drawing/2014/main" id="{23C0D3DD-A82B-34B1-81B1-BC6BBBED95C1}"/>
              </a:ext>
            </a:extLst>
          </p:cNvPr>
          <p:cNvSpPr txBox="1"/>
          <p:nvPr/>
        </p:nvSpPr>
        <p:spPr>
          <a:xfrm>
            <a:off x="6045831" y="5672831"/>
            <a:ext cx="5175543" cy="369332"/>
          </a:xfrm>
          <a:prstGeom prst="rect">
            <a:avLst/>
          </a:prstGeom>
          <a:noFill/>
        </p:spPr>
        <p:txBody>
          <a:bodyPr wrap="square" rtlCol="0">
            <a:spAutoFit/>
          </a:bodyPr>
          <a:lstStyle/>
          <a:p>
            <a:r>
              <a:rPr lang="zh-CN" altLang="en-US" dirty="0"/>
              <a:t>可以观察到：永远是距离起点最近的位置先入队！</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32"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6</a:t>
            </a:r>
          </a:p>
        </p:txBody>
      </p:sp>
      <p:sp>
        <p:nvSpPr>
          <p:cNvPr id="149" name="矩形 148"/>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1" name="Line 125">
            <a:extLst>
              <a:ext uri="{FF2B5EF4-FFF2-40B4-BE49-F238E27FC236}">
                <a16:creationId xmlns:a16="http://schemas.microsoft.com/office/drawing/2014/main" id="{B63BC33F-2B73-C633-39AB-710271FFDF44}"/>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2" name="Line 126">
            <a:extLst>
              <a:ext uri="{FF2B5EF4-FFF2-40B4-BE49-F238E27FC236}">
                <a16:creationId xmlns:a16="http://schemas.microsoft.com/office/drawing/2014/main" id="{B6A14AF4-3476-5FE2-A009-E2926EC48FCD}"/>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3" name="文本框 22">
            <a:extLst>
              <a:ext uri="{FF2B5EF4-FFF2-40B4-BE49-F238E27FC236}">
                <a16:creationId xmlns:a16="http://schemas.microsoft.com/office/drawing/2014/main" id="{2C49163F-3E46-631B-2DD2-592FD7BBAE01}"/>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24" name="文本框 23">
            <a:extLst>
              <a:ext uri="{FF2B5EF4-FFF2-40B4-BE49-F238E27FC236}">
                <a16:creationId xmlns:a16="http://schemas.microsoft.com/office/drawing/2014/main" id="{0C4EDB12-6C85-CFCE-D476-0DD4E435E006}"/>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25" name="Line 125">
            <a:extLst>
              <a:ext uri="{FF2B5EF4-FFF2-40B4-BE49-F238E27FC236}">
                <a16:creationId xmlns:a16="http://schemas.microsoft.com/office/drawing/2014/main" id="{8429DDA8-0546-FAF5-5A72-561DB8F4E874}"/>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6" name="Line 126">
            <a:extLst>
              <a:ext uri="{FF2B5EF4-FFF2-40B4-BE49-F238E27FC236}">
                <a16:creationId xmlns:a16="http://schemas.microsoft.com/office/drawing/2014/main" id="{36FCC77F-94CB-8C89-1F25-9DFE8E663EA6}"/>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7" name="文本框 26">
            <a:extLst>
              <a:ext uri="{FF2B5EF4-FFF2-40B4-BE49-F238E27FC236}">
                <a16:creationId xmlns:a16="http://schemas.microsoft.com/office/drawing/2014/main" id="{B465338C-7385-3903-3842-0BB108CDDA32}"/>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28" name="文本框 27">
            <a:extLst>
              <a:ext uri="{FF2B5EF4-FFF2-40B4-BE49-F238E27FC236}">
                <a16:creationId xmlns:a16="http://schemas.microsoft.com/office/drawing/2014/main" id="{AEFCA924-6EEE-52E0-065E-ACBCE8BBD975}"/>
              </a:ext>
            </a:extLst>
          </p:cNvPr>
          <p:cNvSpPr txBox="1"/>
          <p:nvPr/>
        </p:nvSpPr>
        <p:spPr>
          <a:xfrm>
            <a:off x="6045831" y="5672831"/>
            <a:ext cx="5175543" cy="369332"/>
          </a:xfrm>
          <a:prstGeom prst="rect">
            <a:avLst/>
          </a:prstGeom>
          <a:noFill/>
        </p:spPr>
        <p:txBody>
          <a:bodyPr wrap="square" rtlCol="0">
            <a:spAutoFit/>
          </a:bodyPr>
          <a:lstStyle/>
          <a:p>
            <a:r>
              <a:rPr lang="zh-CN" altLang="en-US" dirty="0"/>
              <a:t>可以观察到：永远是距离起点最近的位置先入队！</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7</a:t>
            </a:r>
          </a:p>
        </p:txBody>
      </p:sp>
      <p:sp>
        <p:nvSpPr>
          <p:cNvPr id="152" name="矩形 151"/>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1" name="Line 125">
            <a:extLst>
              <a:ext uri="{FF2B5EF4-FFF2-40B4-BE49-F238E27FC236}">
                <a16:creationId xmlns:a16="http://schemas.microsoft.com/office/drawing/2014/main" id="{FA256BE4-5AA3-4C9F-A738-7E5A114AD72D}"/>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5" name="Line 126">
            <a:extLst>
              <a:ext uri="{FF2B5EF4-FFF2-40B4-BE49-F238E27FC236}">
                <a16:creationId xmlns:a16="http://schemas.microsoft.com/office/drawing/2014/main" id="{063B52B0-BBC8-01CB-4478-5BA2EA54F168}"/>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6" name="文本框 25">
            <a:extLst>
              <a:ext uri="{FF2B5EF4-FFF2-40B4-BE49-F238E27FC236}">
                <a16:creationId xmlns:a16="http://schemas.microsoft.com/office/drawing/2014/main" id="{A31B04CA-269F-048A-8307-5E693B88581E}"/>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27" name="文本框 26">
            <a:extLst>
              <a:ext uri="{FF2B5EF4-FFF2-40B4-BE49-F238E27FC236}">
                <a16:creationId xmlns:a16="http://schemas.microsoft.com/office/drawing/2014/main" id="{A2346EA8-848F-A774-D37E-BCEB1E0997EC}"/>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28" name="Line 125">
            <a:extLst>
              <a:ext uri="{FF2B5EF4-FFF2-40B4-BE49-F238E27FC236}">
                <a16:creationId xmlns:a16="http://schemas.microsoft.com/office/drawing/2014/main" id="{35A1FA06-92D7-D563-9366-6D3924D62C39}"/>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9" name="Line 126">
            <a:extLst>
              <a:ext uri="{FF2B5EF4-FFF2-40B4-BE49-F238E27FC236}">
                <a16:creationId xmlns:a16="http://schemas.microsoft.com/office/drawing/2014/main" id="{2E868C59-8419-B7CA-5786-E56B608F6965}"/>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0" name="文本框 29">
            <a:extLst>
              <a:ext uri="{FF2B5EF4-FFF2-40B4-BE49-F238E27FC236}">
                <a16:creationId xmlns:a16="http://schemas.microsoft.com/office/drawing/2014/main" id="{F2380F34-A051-E58B-99F5-67BD66F6EAE9}"/>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31" name="文本框 30">
            <a:extLst>
              <a:ext uri="{FF2B5EF4-FFF2-40B4-BE49-F238E27FC236}">
                <a16:creationId xmlns:a16="http://schemas.microsoft.com/office/drawing/2014/main" id="{C4FF3B10-A11F-7853-9179-3767EFAC9362}"/>
              </a:ext>
            </a:extLst>
          </p:cNvPr>
          <p:cNvSpPr txBox="1"/>
          <p:nvPr/>
        </p:nvSpPr>
        <p:spPr>
          <a:xfrm>
            <a:off x="6045831" y="5672831"/>
            <a:ext cx="5175543" cy="369332"/>
          </a:xfrm>
          <a:prstGeom prst="rect">
            <a:avLst/>
          </a:prstGeom>
          <a:noFill/>
        </p:spPr>
        <p:txBody>
          <a:bodyPr wrap="square" rtlCol="0">
            <a:spAutoFit/>
          </a:bodyPr>
          <a:lstStyle/>
          <a:p>
            <a:r>
              <a:rPr lang="zh-CN" altLang="en-US" dirty="0"/>
              <a:t>可以观察到：永远是距离起点最近的位置先入队！</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7</a:t>
            </a:r>
          </a:p>
        </p:txBody>
      </p:sp>
      <p:sp>
        <p:nvSpPr>
          <p:cNvPr id="25" name="Rectangle 3"/>
          <p:cNvSpPr>
            <a:spLocks noChangeArrowheads="1"/>
          </p:cNvSpPr>
          <p:nvPr/>
        </p:nvSpPr>
        <p:spPr bwMode="auto">
          <a:xfrm>
            <a:off x="2830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8</a:t>
            </a:r>
          </a:p>
        </p:txBody>
      </p:sp>
      <p:sp>
        <p:nvSpPr>
          <p:cNvPr id="26" name="Rectangle 3"/>
          <p:cNvSpPr>
            <a:spLocks noChangeArrowheads="1"/>
          </p:cNvSpPr>
          <p:nvPr/>
        </p:nvSpPr>
        <p:spPr bwMode="auto">
          <a:xfrm>
            <a:off x="3249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8</a:t>
            </a:r>
          </a:p>
        </p:txBody>
      </p:sp>
      <p:sp>
        <p:nvSpPr>
          <p:cNvPr id="27" name="Rectangle 3"/>
          <p:cNvSpPr>
            <a:spLocks noChangeArrowheads="1"/>
          </p:cNvSpPr>
          <p:nvPr/>
        </p:nvSpPr>
        <p:spPr bwMode="auto">
          <a:xfrm>
            <a:off x="3681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8</a:t>
            </a:r>
          </a:p>
        </p:txBody>
      </p:sp>
      <p:sp>
        <p:nvSpPr>
          <p:cNvPr id="155" name="矩形 154"/>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1" name="Line 125">
            <a:extLst>
              <a:ext uri="{FF2B5EF4-FFF2-40B4-BE49-F238E27FC236}">
                <a16:creationId xmlns:a16="http://schemas.microsoft.com/office/drawing/2014/main" id="{D1963E36-063E-AEAE-0750-27550364C8C6}"/>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8" name="Line 126">
            <a:extLst>
              <a:ext uri="{FF2B5EF4-FFF2-40B4-BE49-F238E27FC236}">
                <a16:creationId xmlns:a16="http://schemas.microsoft.com/office/drawing/2014/main" id="{76C9D33B-0BA6-5330-0769-55C9B21924AF}"/>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29" name="文本框 28">
            <a:extLst>
              <a:ext uri="{FF2B5EF4-FFF2-40B4-BE49-F238E27FC236}">
                <a16:creationId xmlns:a16="http://schemas.microsoft.com/office/drawing/2014/main" id="{7FC5EC85-A6E0-F477-A9A4-4C9FDE536335}"/>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30" name="文本框 29">
            <a:extLst>
              <a:ext uri="{FF2B5EF4-FFF2-40B4-BE49-F238E27FC236}">
                <a16:creationId xmlns:a16="http://schemas.microsoft.com/office/drawing/2014/main" id="{19178ECE-2181-BAB3-1008-77E2D2A4BFA3}"/>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31" name="Line 125">
            <a:extLst>
              <a:ext uri="{FF2B5EF4-FFF2-40B4-BE49-F238E27FC236}">
                <a16:creationId xmlns:a16="http://schemas.microsoft.com/office/drawing/2014/main" id="{0BE65475-36F0-3AF7-3429-B577E9FBB836}"/>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2" name="Line 126">
            <a:extLst>
              <a:ext uri="{FF2B5EF4-FFF2-40B4-BE49-F238E27FC236}">
                <a16:creationId xmlns:a16="http://schemas.microsoft.com/office/drawing/2014/main" id="{174962A6-3021-54CC-1BFC-F3BC60310B1D}"/>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3" name="文本框 32">
            <a:extLst>
              <a:ext uri="{FF2B5EF4-FFF2-40B4-BE49-F238E27FC236}">
                <a16:creationId xmlns:a16="http://schemas.microsoft.com/office/drawing/2014/main" id="{15EFF819-7CDB-E366-CFDE-5B002053AFAE}"/>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34" name="文本框 33">
            <a:extLst>
              <a:ext uri="{FF2B5EF4-FFF2-40B4-BE49-F238E27FC236}">
                <a16:creationId xmlns:a16="http://schemas.microsoft.com/office/drawing/2014/main" id="{A65B1CC1-86AC-AF4F-80F2-2F38C7679B78}"/>
              </a:ext>
            </a:extLst>
          </p:cNvPr>
          <p:cNvSpPr txBox="1"/>
          <p:nvPr/>
        </p:nvSpPr>
        <p:spPr>
          <a:xfrm>
            <a:off x="6045831" y="5672831"/>
            <a:ext cx="5175543" cy="369332"/>
          </a:xfrm>
          <a:prstGeom prst="rect">
            <a:avLst/>
          </a:prstGeom>
          <a:noFill/>
        </p:spPr>
        <p:txBody>
          <a:bodyPr wrap="square" rtlCol="0">
            <a:spAutoFit/>
          </a:bodyPr>
          <a:lstStyle/>
          <a:p>
            <a:r>
              <a:rPr lang="zh-CN" altLang="en-US" dirty="0"/>
              <a:t>可以观察到：永远是距离起点最近的位置先入队！</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5" name="Rectangle 3"/>
          <p:cNvSpPr>
            <a:spLocks noChangeArrowheads="1"/>
          </p:cNvSpPr>
          <p:nvPr/>
        </p:nvSpPr>
        <p:spPr bwMode="auto">
          <a:xfrm>
            <a:off x="2830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8</a:t>
            </a:r>
          </a:p>
        </p:txBody>
      </p:sp>
      <p:sp>
        <p:nvSpPr>
          <p:cNvPr id="26" name="Rectangle 3"/>
          <p:cNvSpPr>
            <a:spLocks noChangeArrowheads="1"/>
          </p:cNvSpPr>
          <p:nvPr/>
        </p:nvSpPr>
        <p:spPr bwMode="auto">
          <a:xfrm>
            <a:off x="3249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8</a:t>
            </a:r>
          </a:p>
        </p:txBody>
      </p:sp>
      <p:sp>
        <p:nvSpPr>
          <p:cNvPr id="27" name="Rectangle 3"/>
          <p:cNvSpPr>
            <a:spLocks noChangeArrowheads="1"/>
          </p:cNvSpPr>
          <p:nvPr/>
        </p:nvSpPr>
        <p:spPr bwMode="auto">
          <a:xfrm>
            <a:off x="3681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8</a:t>
            </a:r>
          </a:p>
        </p:txBody>
      </p:sp>
      <p:sp>
        <p:nvSpPr>
          <p:cNvPr id="28" name="Rectangle 3"/>
          <p:cNvSpPr>
            <a:spLocks noChangeArrowheads="1"/>
          </p:cNvSpPr>
          <p:nvPr/>
        </p:nvSpPr>
        <p:spPr bwMode="auto">
          <a:xfrm>
            <a:off x="3681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9</a:t>
            </a:r>
          </a:p>
        </p:txBody>
      </p:sp>
      <p:sp>
        <p:nvSpPr>
          <p:cNvPr id="29" name="Rectangle 3"/>
          <p:cNvSpPr>
            <a:spLocks noChangeArrowheads="1"/>
          </p:cNvSpPr>
          <p:nvPr/>
        </p:nvSpPr>
        <p:spPr bwMode="auto">
          <a:xfrm>
            <a:off x="3249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9</a:t>
            </a:r>
          </a:p>
        </p:txBody>
      </p:sp>
      <p:sp>
        <p:nvSpPr>
          <p:cNvPr id="157" name="矩形 156"/>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1" name="Line 125">
            <a:extLst>
              <a:ext uri="{FF2B5EF4-FFF2-40B4-BE49-F238E27FC236}">
                <a16:creationId xmlns:a16="http://schemas.microsoft.com/office/drawing/2014/main" id="{B1C0F742-DD42-E7DC-741B-69A734F1B184}"/>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0" name="Line 126">
            <a:extLst>
              <a:ext uri="{FF2B5EF4-FFF2-40B4-BE49-F238E27FC236}">
                <a16:creationId xmlns:a16="http://schemas.microsoft.com/office/drawing/2014/main" id="{A16CA439-B31E-DD5B-7A4E-1518B31C3761}"/>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1" name="文本框 30">
            <a:extLst>
              <a:ext uri="{FF2B5EF4-FFF2-40B4-BE49-F238E27FC236}">
                <a16:creationId xmlns:a16="http://schemas.microsoft.com/office/drawing/2014/main" id="{A1E6827E-5078-911E-D157-A66F21790C77}"/>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32" name="文本框 31">
            <a:extLst>
              <a:ext uri="{FF2B5EF4-FFF2-40B4-BE49-F238E27FC236}">
                <a16:creationId xmlns:a16="http://schemas.microsoft.com/office/drawing/2014/main" id="{B55067B8-076F-5317-9BC9-08F1EC67DB55}"/>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33" name="Line 125">
            <a:extLst>
              <a:ext uri="{FF2B5EF4-FFF2-40B4-BE49-F238E27FC236}">
                <a16:creationId xmlns:a16="http://schemas.microsoft.com/office/drawing/2014/main" id="{98991731-2DF5-CC54-9C46-6320403D4E34}"/>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4" name="Line 126">
            <a:extLst>
              <a:ext uri="{FF2B5EF4-FFF2-40B4-BE49-F238E27FC236}">
                <a16:creationId xmlns:a16="http://schemas.microsoft.com/office/drawing/2014/main" id="{74B850F5-CD24-8986-CA26-34BE2F521543}"/>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5" name="文本框 34">
            <a:extLst>
              <a:ext uri="{FF2B5EF4-FFF2-40B4-BE49-F238E27FC236}">
                <a16:creationId xmlns:a16="http://schemas.microsoft.com/office/drawing/2014/main" id="{408020DC-4CAD-B18B-E197-3267FD4F0CFE}"/>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36" name="文本框 35">
            <a:extLst>
              <a:ext uri="{FF2B5EF4-FFF2-40B4-BE49-F238E27FC236}">
                <a16:creationId xmlns:a16="http://schemas.microsoft.com/office/drawing/2014/main" id="{4E56689C-72A6-6B6A-E571-DCAEFD4DF180}"/>
              </a:ext>
            </a:extLst>
          </p:cNvPr>
          <p:cNvSpPr txBox="1"/>
          <p:nvPr/>
        </p:nvSpPr>
        <p:spPr>
          <a:xfrm>
            <a:off x="6045831" y="5672831"/>
            <a:ext cx="5175543" cy="369332"/>
          </a:xfrm>
          <a:prstGeom prst="rect">
            <a:avLst/>
          </a:prstGeom>
          <a:noFill/>
        </p:spPr>
        <p:txBody>
          <a:bodyPr wrap="square" rtlCol="0">
            <a:spAutoFit/>
          </a:bodyPr>
          <a:lstStyle/>
          <a:p>
            <a:r>
              <a:rPr lang="zh-CN" altLang="en-US" dirty="0"/>
              <a:t>可以观察到：永远是距离起点最近的位置先入队！</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5" name="Rectangle 3"/>
          <p:cNvSpPr>
            <a:spLocks noChangeArrowheads="1"/>
          </p:cNvSpPr>
          <p:nvPr/>
        </p:nvSpPr>
        <p:spPr bwMode="auto">
          <a:xfrm>
            <a:off x="2830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6" name="Rectangle 3"/>
          <p:cNvSpPr>
            <a:spLocks noChangeArrowheads="1"/>
          </p:cNvSpPr>
          <p:nvPr/>
        </p:nvSpPr>
        <p:spPr bwMode="auto">
          <a:xfrm>
            <a:off x="3249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7" name="Rectangle 3"/>
          <p:cNvSpPr>
            <a:spLocks noChangeArrowheads="1"/>
          </p:cNvSpPr>
          <p:nvPr/>
        </p:nvSpPr>
        <p:spPr bwMode="auto">
          <a:xfrm>
            <a:off x="3681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8" name="Rectangle 3"/>
          <p:cNvSpPr>
            <a:spLocks noChangeArrowheads="1"/>
          </p:cNvSpPr>
          <p:nvPr/>
        </p:nvSpPr>
        <p:spPr bwMode="auto">
          <a:xfrm>
            <a:off x="3681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9</a:t>
            </a:r>
          </a:p>
        </p:txBody>
      </p:sp>
      <p:sp>
        <p:nvSpPr>
          <p:cNvPr id="29" name="Rectangle 3"/>
          <p:cNvSpPr>
            <a:spLocks noChangeArrowheads="1"/>
          </p:cNvSpPr>
          <p:nvPr/>
        </p:nvSpPr>
        <p:spPr bwMode="auto">
          <a:xfrm>
            <a:off x="3249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9</a:t>
            </a:r>
          </a:p>
        </p:txBody>
      </p:sp>
      <p:sp>
        <p:nvSpPr>
          <p:cNvPr id="30" name="Rectangle 3"/>
          <p:cNvSpPr>
            <a:spLocks noChangeArrowheads="1"/>
          </p:cNvSpPr>
          <p:nvPr/>
        </p:nvSpPr>
        <p:spPr bwMode="auto">
          <a:xfrm>
            <a:off x="3249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10</a:t>
            </a:r>
          </a:p>
        </p:txBody>
      </p:sp>
      <p:sp>
        <p:nvSpPr>
          <p:cNvPr id="155" name="Rectangle 3"/>
          <p:cNvSpPr>
            <a:spLocks noChangeArrowheads="1"/>
          </p:cNvSpPr>
          <p:nvPr/>
        </p:nvSpPr>
        <p:spPr bwMode="auto">
          <a:xfrm>
            <a:off x="3249984" y="483667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10</a:t>
            </a:r>
          </a:p>
        </p:txBody>
      </p:sp>
      <p:sp>
        <p:nvSpPr>
          <p:cNvPr id="159" name="矩形 158"/>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1" name="Line 125">
            <a:extLst>
              <a:ext uri="{FF2B5EF4-FFF2-40B4-BE49-F238E27FC236}">
                <a16:creationId xmlns:a16="http://schemas.microsoft.com/office/drawing/2014/main" id="{BB96FDAD-15BA-258B-5BE4-7FEDFEE0E1A8}"/>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1" name="Line 126">
            <a:extLst>
              <a:ext uri="{FF2B5EF4-FFF2-40B4-BE49-F238E27FC236}">
                <a16:creationId xmlns:a16="http://schemas.microsoft.com/office/drawing/2014/main" id="{44D1214B-C27C-7C1C-F843-2ED3FE9DC9AD}"/>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2" name="文本框 31">
            <a:extLst>
              <a:ext uri="{FF2B5EF4-FFF2-40B4-BE49-F238E27FC236}">
                <a16:creationId xmlns:a16="http://schemas.microsoft.com/office/drawing/2014/main" id="{ED678332-5193-FE6F-2F55-21820F635848}"/>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33" name="文本框 32">
            <a:extLst>
              <a:ext uri="{FF2B5EF4-FFF2-40B4-BE49-F238E27FC236}">
                <a16:creationId xmlns:a16="http://schemas.microsoft.com/office/drawing/2014/main" id="{0390B281-1847-4DDD-96CB-B7FC64E9590A}"/>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34" name="Line 125">
            <a:extLst>
              <a:ext uri="{FF2B5EF4-FFF2-40B4-BE49-F238E27FC236}">
                <a16:creationId xmlns:a16="http://schemas.microsoft.com/office/drawing/2014/main" id="{B1910090-AEE0-436E-5244-B767A77F02B9}"/>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5" name="Line 126">
            <a:extLst>
              <a:ext uri="{FF2B5EF4-FFF2-40B4-BE49-F238E27FC236}">
                <a16:creationId xmlns:a16="http://schemas.microsoft.com/office/drawing/2014/main" id="{1659D4B4-6C83-A3C2-A54B-819522651510}"/>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6" name="文本框 35">
            <a:extLst>
              <a:ext uri="{FF2B5EF4-FFF2-40B4-BE49-F238E27FC236}">
                <a16:creationId xmlns:a16="http://schemas.microsoft.com/office/drawing/2014/main" id="{D82E0620-CB77-0C68-5617-4C676AC01ADD}"/>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37" name="文本框 36">
            <a:extLst>
              <a:ext uri="{FF2B5EF4-FFF2-40B4-BE49-F238E27FC236}">
                <a16:creationId xmlns:a16="http://schemas.microsoft.com/office/drawing/2014/main" id="{11519086-4131-5390-FF5B-77826BD093C5}"/>
              </a:ext>
            </a:extLst>
          </p:cNvPr>
          <p:cNvSpPr txBox="1"/>
          <p:nvPr/>
        </p:nvSpPr>
        <p:spPr>
          <a:xfrm>
            <a:off x="6045831" y="5672831"/>
            <a:ext cx="5175543" cy="369332"/>
          </a:xfrm>
          <a:prstGeom prst="rect">
            <a:avLst/>
          </a:prstGeom>
          <a:noFill/>
        </p:spPr>
        <p:txBody>
          <a:bodyPr wrap="square" rtlCol="0">
            <a:spAutoFit/>
          </a:bodyPr>
          <a:lstStyle/>
          <a:p>
            <a:r>
              <a:rPr lang="zh-CN" altLang="en-US" dirty="0"/>
              <a:t>可以观察到：永远是距离起点最近的位置先入队！</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5" name="Rectangle 3"/>
          <p:cNvSpPr>
            <a:spLocks noChangeArrowheads="1"/>
          </p:cNvSpPr>
          <p:nvPr/>
        </p:nvSpPr>
        <p:spPr bwMode="auto">
          <a:xfrm>
            <a:off x="2830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6" name="Rectangle 3"/>
          <p:cNvSpPr>
            <a:spLocks noChangeArrowheads="1"/>
          </p:cNvSpPr>
          <p:nvPr/>
        </p:nvSpPr>
        <p:spPr bwMode="auto">
          <a:xfrm>
            <a:off x="3249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7" name="Rectangle 3"/>
          <p:cNvSpPr>
            <a:spLocks noChangeArrowheads="1"/>
          </p:cNvSpPr>
          <p:nvPr/>
        </p:nvSpPr>
        <p:spPr bwMode="auto">
          <a:xfrm>
            <a:off x="3681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8" name="Rectangle 3"/>
          <p:cNvSpPr>
            <a:spLocks noChangeArrowheads="1"/>
          </p:cNvSpPr>
          <p:nvPr/>
        </p:nvSpPr>
        <p:spPr bwMode="auto">
          <a:xfrm>
            <a:off x="3681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29" name="Rectangle 3"/>
          <p:cNvSpPr>
            <a:spLocks noChangeArrowheads="1"/>
          </p:cNvSpPr>
          <p:nvPr/>
        </p:nvSpPr>
        <p:spPr bwMode="auto">
          <a:xfrm>
            <a:off x="3249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30" name="Rectangle 3"/>
          <p:cNvSpPr>
            <a:spLocks noChangeArrowheads="1"/>
          </p:cNvSpPr>
          <p:nvPr/>
        </p:nvSpPr>
        <p:spPr bwMode="auto">
          <a:xfrm>
            <a:off x="3249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10</a:t>
            </a:r>
          </a:p>
        </p:txBody>
      </p:sp>
      <p:sp>
        <p:nvSpPr>
          <p:cNvPr id="155" name="Rectangle 3"/>
          <p:cNvSpPr>
            <a:spLocks noChangeArrowheads="1"/>
          </p:cNvSpPr>
          <p:nvPr/>
        </p:nvSpPr>
        <p:spPr bwMode="auto">
          <a:xfrm>
            <a:off x="3249984" y="483667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10</a:t>
            </a:r>
          </a:p>
        </p:txBody>
      </p:sp>
      <p:sp>
        <p:nvSpPr>
          <p:cNvPr id="31" name="Rectangle 3"/>
          <p:cNvSpPr>
            <a:spLocks noChangeArrowheads="1"/>
          </p:cNvSpPr>
          <p:nvPr/>
        </p:nvSpPr>
        <p:spPr bwMode="auto">
          <a:xfrm>
            <a:off x="3249984" y="356745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11</a:t>
            </a:r>
          </a:p>
        </p:txBody>
      </p:sp>
      <p:sp>
        <p:nvSpPr>
          <p:cNvPr id="32" name="Rectangle 3"/>
          <p:cNvSpPr>
            <a:spLocks noChangeArrowheads="1"/>
          </p:cNvSpPr>
          <p:nvPr/>
        </p:nvSpPr>
        <p:spPr bwMode="auto">
          <a:xfrm>
            <a:off x="3681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11</a:t>
            </a:r>
          </a:p>
        </p:txBody>
      </p:sp>
      <p:sp>
        <p:nvSpPr>
          <p:cNvPr id="33" name="Rectangle 3"/>
          <p:cNvSpPr>
            <a:spLocks noChangeArrowheads="1"/>
          </p:cNvSpPr>
          <p:nvPr/>
        </p:nvSpPr>
        <p:spPr bwMode="auto">
          <a:xfrm>
            <a:off x="3249984"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11</a:t>
            </a:r>
          </a:p>
        </p:txBody>
      </p:sp>
      <p:sp>
        <p:nvSpPr>
          <p:cNvPr id="162" name="矩形 161"/>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11" name="Line 125">
            <a:extLst>
              <a:ext uri="{FF2B5EF4-FFF2-40B4-BE49-F238E27FC236}">
                <a16:creationId xmlns:a16="http://schemas.microsoft.com/office/drawing/2014/main" id="{53A80F99-5A73-11B5-5BDA-C7554554F763}"/>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4" name="Line 126">
            <a:extLst>
              <a:ext uri="{FF2B5EF4-FFF2-40B4-BE49-F238E27FC236}">
                <a16:creationId xmlns:a16="http://schemas.microsoft.com/office/drawing/2014/main" id="{C671C244-E76C-6ED2-BAD4-7B6CFFD67B22}"/>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5" name="文本框 34">
            <a:extLst>
              <a:ext uri="{FF2B5EF4-FFF2-40B4-BE49-F238E27FC236}">
                <a16:creationId xmlns:a16="http://schemas.microsoft.com/office/drawing/2014/main" id="{458107C2-CD41-F5FF-9772-385D7D8A2831}"/>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36" name="文本框 35">
            <a:extLst>
              <a:ext uri="{FF2B5EF4-FFF2-40B4-BE49-F238E27FC236}">
                <a16:creationId xmlns:a16="http://schemas.microsoft.com/office/drawing/2014/main" id="{D9626FFD-03F3-0AAE-4A42-040AFC3A60DA}"/>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37" name="Line 125">
            <a:extLst>
              <a:ext uri="{FF2B5EF4-FFF2-40B4-BE49-F238E27FC236}">
                <a16:creationId xmlns:a16="http://schemas.microsoft.com/office/drawing/2014/main" id="{037D684F-3844-48DF-1A4F-9DCB0D2F9800}"/>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8" name="Line 126">
            <a:extLst>
              <a:ext uri="{FF2B5EF4-FFF2-40B4-BE49-F238E27FC236}">
                <a16:creationId xmlns:a16="http://schemas.microsoft.com/office/drawing/2014/main" id="{4C1906AC-C406-8D43-B460-9AF56D0C3A04}"/>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9" name="文本框 38">
            <a:extLst>
              <a:ext uri="{FF2B5EF4-FFF2-40B4-BE49-F238E27FC236}">
                <a16:creationId xmlns:a16="http://schemas.microsoft.com/office/drawing/2014/main" id="{6567CD92-F861-AF7A-1AC6-7B1B7DC68216}"/>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40" name="文本框 39">
            <a:extLst>
              <a:ext uri="{FF2B5EF4-FFF2-40B4-BE49-F238E27FC236}">
                <a16:creationId xmlns:a16="http://schemas.microsoft.com/office/drawing/2014/main" id="{5803366D-AF16-32B1-61A1-90EE542D7C13}"/>
              </a:ext>
            </a:extLst>
          </p:cNvPr>
          <p:cNvSpPr txBox="1"/>
          <p:nvPr/>
        </p:nvSpPr>
        <p:spPr>
          <a:xfrm>
            <a:off x="6045831" y="5672831"/>
            <a:ext cx="5175543" cy="369332"/>
          </a:xfrm>
          <a:prstGeom prst="rect">
            <a:avLst/>
          </a:prstGeom>
          <a:noFill/>
        </p:spPr>
        <p:txBody>
          <a:bodyPr wrap="square" rtlCol="0">
            <a:spAutoFit/>
          </a:bodyPr>
          <a:lstStyle/>
          <a:p>
            <a:r>
              <a:rPr lang="zh-CN" altLang="en-US" dirty="0"/>
              <a:t>可以观察到：永远是距离起点最近的位置先入队！</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5" name="Rectangle 3"/>
          <p:cNvSpPr>
            <a:spLocks noChangeArrowheads="1"/>
          </p:cNvSpPr>
          <p:nvPr/>
        </p:nvSpPr>
        <p:spPr bwMode="auto">
          <a:xfrm>
            <a:off x="2830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6" name="Rectangle 3"/>
          <p:cNvSpPr>
            <a:spLocks noChangeArrowheads="1"/>
          </p:cNvSpPr>
          <p:nvPr/>
        </p:nvSpPr>
        <p:spPr bwMode="auto">
          <a:xfrm>
            <a:off x="3249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7" name="Rectangle 3"/>
          <p:cNvSpPr>
            <a:spLocks noChangeArrowheads="1"/>
          </p:cNvSpPr>
          <p:nvPr/>
        </p:nvSpPr>
        <p:spPr bwMode="auto">
          <a:xfrm>
            <a:off x="3681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8" name="Rectangle 3"/>
          <p:cNvSpPr>
            <a:spLocks noChangeArrowheads="1"/>
          </p:cNvSpPr>
          <p:nvPr/>
        </p:nvSpPr>
        <p:spPr bwMode="auto">
          <a:xfrm>
            <a:off x="3681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29" name="Rectangle 3"/>
          <p:cNvSpPr>
            <a:spLocks noChangeArrowheads="1"/>
          </p:cNvSpPr>
          <p:nvPr/>
        </p:nvSpPr>
        <p:spPr bwMode="auto">
          <a:xfrm>
            <a:off x="3249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30" name="Rectangle 3"/>
          <p:cNvSpPr>
            <a:spLocks noChangeArrowheads="1"/>
          </p:cNvSpPr>
          <p:nvPr/>
        </p:nvSpPr>
        <p:spPr bwMode="auto">
          <a:xfrm>
            <a:off x="3249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10</a:t>
            </a:r>
          </a:p>
        </p:txBody>
      </p:sp>
      <p:sp>
        <p:nvSpPr>
          <p:cNvPr id="155" name="Rectangle 3"/>
          <p:cNvSpPr>
            <a:spLocks noChangeArrowheads="1"/>
          </p:cNvSpPr>
          <p:nvPr/>
        </p:nvSpPr>
        <p:spPr bwMode="auto">
          <a:xfrm>
            <a:off x="3249984" y="483667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10</a:t>
            </a:r>
          </a:p>
        </p:txBody>
      </p:sp>
      <p:sp>
        <p:nvSpPr>
          <p:cNvPr id="31" name="Rectangle 3"/>
          <p:cNvSpPr>
            <a:spLocks noChangeArrowheads="1"/>
          </p:cNvSpPr>
          <p:nvPr/>
        </p:nvSpPr>
        <p:spPr bwMode="auto">
          <a:xfrm>
            <a:off x="3249984" y="356745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11</a:t>
            </a:r>
          </a:p>
        </p:txBody>
      </p:sp>
      <p:sp>
        <p:nvSpPr>
          <p:cNvPr id="32" name="Rectangle 3"/>
          <p:cNvSpPr>
            <a:spLocks noChangeArrowheads="1"/>
          </p:cNvSpPr>
          <p:nvPr/>
        </p:nvSpPr>
        <p:spPr bwMode="auto">
          <a:xfrm>
            <a:off x="3681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11</a:t>
            </a:r>
          </a:p>
        </p:txBody>
      </p:sp>
      <p:sp>
        <p:nvSpPr>
          <p:cNvPr id="33" name="Rectangle 3"/>
          <p:cNvSpPr>
            <a:spLocks noChangeArrowheads="1"/>
          </p:cNvSpPr>
          <p:nvPr/>
        </p:nvSpPr>
        <p:spPr bwMode="auto">
          <a:xfrm>
            <a:off x="3249984"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11</a:t>
            </a:r>
          </a:p>
        </p:txBody>
      </p:sp>
      <p:sp>
        <p:nvSpPr>
          <p:cNvPr id="34" name="Rectangle 3"/>
          <p:cNvSpPr>
            <a:spLocks noChangeArrowheads="1"/>
          </p:cNvSpPr>
          <p:nvPr/>
        </p:nvSpPr>
        <p:spPr bwMode="auto">
          <a:xfrm>
            <a:off x="2818848"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12</a:t>
            </a:r>
          </a:p>
        </p:txBody>
      </p:sp>
      <p:sp>
        <p:nvSpPr>
          <p:cNvPr id="35" name="Rectangle 3"/>
          <p:cNvSpPr>
            <a:spLocks noChangeArrowheads="1"/>
          </p:cNvSpPr>
          <p:nvPr/>
        </p:nvSpPr>
        <p:spPr bwMode="auto">
          <a:xfrm>
            <a:off x="3693216"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12</a:t>
            </a:r>
          </a:p>
        </p:txBody>
      </p:sp>
      <p:sp>
        <p:nvSpPr>
          <p:cNvPr id="36" name="Rectangle 3"/>
          <p:cNvSpPr>
            <a:spLocks noChangeArrowheads="1"/>
          </p:cNvSpPr>
          <p:nvPr/>
        </p:nvSpPr>
        <p:spPr bwMode="auto">
          <a:xfrm>
            <a:off x="3681984" y="3567457"/>
            <a:ext cx="518400" cy="50025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12</a:t>
            </a:r>
          </a:p>
        </p:txBody>
      </p:sp>
      <p:sp>
        <p:nvSpPr>
          <p:cNvPr id="37" name="Rectangle 3"/>
          <p:cNvSpPr>
            <a:spLocks noChangeArrowheads="1"/>
          </p:cNvSpPr>
          <p:nvPr/>
        </p:nvSpPr>
        <p:spPr bwMode="auto">
          <a:xfrm>
            <a:off x="4113984" y="3980449"/>
            <a:ext cx="518400" cy="50025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12</a:t>
            </a:r>
          </a:p>
        </p:txBody>
      </p:sp>
      <p:sp>
        <p:nvSpPr>
          <p:cNvPr id="166" name="矩形 165"/>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3" name="Line 125">
            <a:extLst>
              <a:ext uri="{FF2B5EF4-FFF2-40B4-BE49-F238E27FC236}">
                <a16:creationId xmlns:a16="http://schemas.microsoft.com/office/drawing/2014/main" id="{244E0634-EE54-384D-748B-60D1AEEE01F5}"/>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11" name="Line 126">
            <a:extLst>
              <a:ext uri="{FF2B5EF4-FFF2-40B4-BE49-F238E27FC236}">
                <a16:creationId xmlns:a16="http://schemas.microsoft.com/office/drawing/2014/main" id="{ABD2BEFD-AEEF-B35D-63D2-3B826BD02881}"/>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38" name="文本框 37">
            <a:extLst>
              <a:ext uri="{FF2B5EF4-FFF2-40B4-BE49-F238E27FC236}">
                <a16:creationId xmlns:a16="http://schemas.microsoft.com/office/drawing/2014/main" id="{847B12A8-E3D4-8AF5-1E71-1B1AF99A83A3}"/>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39" name="文本框 38">
            <a:extLst>
              <a:ext uri="{FF2B5EF4-FFF2-40B4-BE49-F238E27FC236}">
                <a16:creationId xmlns:a16="http://schemas.microsoft.com/office/drawing/2014/main" id="{6694B345-BA55-1670-6837-842E349B5ADD}"/>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40" name="Line 125">
            <a:extLst>
              <a:ext uri="{FF2B5EF4-FFF2-40B4-BE49-F238E27FC236}">
                <a16:creationId xmlns:a16="http://schemas.microsoft.com/office/drawing/2014/main" id="{85107381-26D3-2F91-34DE-098442D235B1}"/>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41" name="Line 126">
            <a:extLst>
              <a:ext uri="{FF2B5EF4-FFF2-40B4-BE49-F238E27FC236}">
                <a16:creationId xmlns:a16="http://schemas.microsoft.com/office/drawing/2014/main" id="{59E0E773-3ADA-CA30-AE65-2352FDEEACF2}"/>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42" name="文本框 41">
            <a:extLst>
              <a:ext uri="{FF2B5EF4-FFF2-40B4-BE49-F238E27FC236}">
                <a16:creationId xmlns:a16="http://schemas.microsoft.com/office/drawing/2014/main" id="{647493AF-AE89-AE14-8EAA-99BDF81A752C}"/>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43" name="文本框 42">
            <a:extLst>
              <a:ext uri="{FF2B5EF4-FFF2-40B4-BE49-F238E27FC236}">
                <a16:creationId xmlns:a16="http://schemas.microsoft.com/office/drawing/2014/main" id="{3B888145-CDAD-AE3F-680A-1C482EBF733F}"/>
              </a:ext>
            </a:extLst>
          </p:cNvPr>
          <p:cNvSpPr txBox="1"/>
          <p:nvPr/>
        </p:nvSpPr>
        <p:spPr>
          <a:xfrm>
            <a:off x="6045831" y="5672831"/>
            <a:ext cx="5175543" cy="369332"/>
          </a:xfrm>
          <a:prstGeom prst="rect">
            <a:avLst/>
          </a:prstGeom>
          <a:noFill/>
        </p:spPr>
        <p:txBody>
          <a:bodyPr wrap="square" rtlCol="0">
            <a:spAutoFit/>
          </a:bodyPr>
          <a:lstStyle/>
          <a:p>
            <a:r>
              <a:rPr lang="zh-CN" altLang="en-US" dirty="0"/>
              <a:t>可以观察到：永远是距离起点最近的位置先入队！</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5" name="Rectangle 3"/>
          <p:cNvSpPr>
            <a:spLocks noChangeArrowheads="1"/>
          </p:cNvSpPr>
          <p:nvPr/>
        </p:nvSpPr>
        <p:spPr bwMode="auto">
          <a:xfrm>
            <a:off x="2830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6" name="Rectangle 3"/>
          <p:cNvSpPr>
            <a:spLocks noChangeArrowheads="1"/>
          </p:cNvSpPr>
          <p:nvPr/>
        </p:nvSpPr>
        <p:spPr bwMode="auto">
          <a:xfrm>
            <a:off x="3249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7" name="Rectangle 3"/>
          <p:cNvSpPr>
            <a:spLocks noChangeArrowheads="1"/>
          </p:cNvSpPr>
          <p:nvPr/>
        </p:nvSpPr>
        <p:spPr bwMode="auto">
          <a:xfrm>
            <a:off x="3681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8" name="Rectangle 3"/>
          <p:cNvSpPr>
            <a:spLocks noChangeArrowheads="1"/>
          </p:cNvSpPr>
          <p:nvPr/>
        </p:nvSpPr>
        <p:spPr bwMode="auto">
          <a:xfrm>
            <a:off x="3681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29" name="Rectangle 3"/>
          <p:cNvSpPr>
            <a:spLocks noChangeArrowheads="1"/>
          </p:cNvSpPr>
          <p:nvPr/>
        </p:nvSpPr>
        <p:spPr bwMode="auto">
          <a:xfrm>
            <a:off x="3249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30" name="Rectangle 3"/>
          <p:cNvSpPr>
            <a:spLocks noChangeArrowheads="1"/>
          </p:cNvSpPr>
          <p:nvPr/>
        </p:nvSpPr>
        <p:spPr bwMode="auto">
          <a:xfrm>
            <a:off x="3249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10</a:t>
            </a:r>
          </a:p>
        </p:txBody>
      </p:sp>
      <p:sp>
        <p:nvSpPr>
          <p:cNvPr id="155" name="Rectangle 3"/>
          <p:cNvSpPr>
            <a:spLocks noChangeArrowheads="1"/>
          </p:cNvSpPr>
          <p:nvPr/>
        </p:nvSpPr>
        <p:spPr bwMode="auto">
          <a:xfrm>
            <a:off x="3249984" y="483667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10</a:t>
            </a:r>
          </a:p>
        </p:txBody>
      </p:sp>
      <p:sp>
        <p:nvSpPr>
          <p:cNvPr id="31" name="Rectangle 3"/>
          <p:cNvSpPr>
            <a:spLocks noChangeArrowheads="1"/>
          </p:cNvSpPr>
          <p:nvPr/>
        </p:nvSpPr>
        <p:spPr bwMode="auto">
          <a:xfrm>
            <a:off x="3249984" y="356745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2" name="Rectangle 3"/>
          <p:cNvSpPr>
            <a:spLocks noChangeArrowheads="1"/>
          </p:cNvSpPr>
          <p:nvPr/>
        </p:nvSpPr>
        <p:spPr bwMode="auto">
          <a:xfrm>
            <a:off x="3681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3" name="Rectangle 3"/>
          <p:cNvSpPr>
            <a:spLocks noChangeArrowheads="1"/>
          </p:cNvSpPr>
          <p:nvPr/>
        </p:nvSpPr>
        <p:spPr bwMode="auto">
          <a:xfrm>
            <a:off x="3249984"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4" name="Rectangle 3"/>
          <p:cNvSpPr>
            <a:spLocks noChangeArrowheads="1"/>
          </p:cNvSpPr>
          <p:nvPr/>
        </p:nvSpPr>
        <p:spPr bwMode="auto">
          <a:xfrm>
            <a:off x="2818848"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5" name="Rectangle 3"/>
          <p:cNvSpPr>
            <a:spLocks noChangeArrowheads="1"/>
          </p:cNvSpPr>
          <p:nvPr/>
        </p:nvSpPr>
        <p:spPr bwMode="auto">
          <a:xfrm>
            <a:off x="3693216"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6" name="Rectangle 3"/>
          <p:cNvSpPr>
            <a:spLocks noChangeArrowheads="1"/>
          </p:cNvSpPr>
          <p:nvPr/>
        </p:nvSpPr>
        <p:spPr bwMode="auto">
          <a:xfrm>
            <a:off x="3681984" y="3567457"/>
            <a:ext cx="518400" cy="50025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7" name="Rectangle 3"/>
          <p:cNvSpPr>
            <a:spLocks noChangeArrowheads="1"/>
          </p:cNvSpPr>
          <p:nvPr/>
        </p:nvSpPr>
        <p:spPr bwMode="auto">
          <a:xfrm>
            <a:off x="4113984" y="3980449"/>
            <a:ext cx="518400" cy="50025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8" name="Rectangle 3"/>
          <p:cNvSpPr>
            <a:spLocks noChangeArrowheads="1"/>
          </p:cNvSpPr>
          <p:nvPr/>
        </p:nvSpPr>
        <p:spPr bwMode="auto">
          <a:xfrm>
            <a:off x="2386848"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39" name="Rectangle 3"/>
          <p:cNvSpPr>
            <a:spLocks noChangeArrowheads="1"/>
          </p:cNvSpPr>
          <p:nvPr/>
        </p:nvSpPr>
        <p:spPr bwMode="auto">
          <a:xfrm>
            <a:off x="4113984"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0" name="Rectangle 3"/>
          <p:cNvSpPr>
            <a:spLocks noChangeArrowheads="1"/>
          </p:cNvSpPr>
          <p:nvPr/>
        </p:nvSpPr>
        <p:spPr bwMode="auto">
          <a:xfrm>
            <a:off x="4113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1" name="Rectangle 3"/>
          <p:cNvSpPr>
            <a:spLocks noChangeArrowheads="1"/>
          </p:cNvSpPr>
          <p:nvPr/>
        </p:nvSpPr>
        <p:spPr bwMode="auto">
          <a:xfrm>
            <a:off x="4113984" y="3550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6" name="Rectangle 3"/>
          <p:cNvSpPr>
            <a:spLocks noChangeArrowheads="1"/>
          </p:cNvSpPr>
          <p:nvPr/>
        </p:nvSpPr>
        <p:spPr bwMode="auto">
          <a:xfrm>
            <a:off x="4545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dirty="0"/>
              <a:t>13</a:t>
            </a:r>
          </a:p>
        </p:txBody>
      </p:sp>
      <p:sp>
        <p:nvSpPr>
          <p:cNvPr id="175" name="矩形 174"/>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54" name="Line 125">
            <a:extLst>
              <a:ext uri="{FF2B5EF4-FFF2-40B4-BE49-F238E27FC236}">
                <a16:creationId xmlns:a16="http://schemas.microsoft.com/office/drawing/2014/main" id="{2E6D9F67-8BF4-7C76-B969-7305339CD851}"/>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55" name="Line 126">
            <a:extLst>
              <a:ext uri="{FF2B5EF4-FFF2-40B4-BE49-F238E27FC236}">
                <a16:creationId xmlns:a16="http://schemas.microsoft.com/office/drawing/2014/main" id="{B3206D66-D8E5-D02A-0306-3768468AFDE8}"/>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56" name="文本框 55">
            <a:extLst>
              <a:ext uri="{FF2B5EF4-FFF2-40B4-BE49-F238E27FC236}">
                <a16:creationId xmlns:a16="http://schemas.microsoft.com/office/drawing/2014/main" id="{A9FC2689-E152-C315-7846-A95995E5EE8A}"/>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57" name="文本框 56">
            <a:extLst>
              <a:ext uri="{FF2B5EF4-FFF2-40B4-BE49-F238E27FC236}">
                <a16:creationId xmlns:a16="http://schemas.microsoft.com/office/drawing/2014/main" id="{30283E2B-76D1-15E4-EF3C-67DD44C6E7F3}"/>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58" name="Line 125">
            <a:extLst>
              <a:ext uri="{FF2B5EF4-FFF2-40B4-BE49-F238E27FC236}">
                <a16:creationId xmlns:a16="http://schemas.microsoft.com/office/drawing/2014/main" id="{27719A9B-69FB-9F0C-BD6A-A2C7D939D076}"/>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59" name="Line 126">
            <a:extLst>
              <a:ext uri="{FF2B5EF4-FFF2-40B4-BE49-F238E27FC236}">
                <a16:creationId xmlns:a16="http://schemas.microsoft.com/office/drawing/2014/main" id="{C1DA7226-435F-1317-1CD2-5DA869C54BA5}"/>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60" name="文本框 59">
            <a:extLst>
              <a:ext uri="{FF2B5EF4-FFF2-40B4-BE49-F238E27FC236}">
                <a16:creationId xmlns:a16="http://schemas.microsoft.com/office/drawing/2014/main" id="{DDACC105-020E-6B9C-5BD3-457B6EFDE8D3}"/>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61" name="文本框 60">
            <a:extLst>
              <a:ext uri="{FF2B5EF4-FFF2-40B4-BE49-F238E27FC236}">
                <a16:creationId xmlns:a16="http://schemas.microsoft.com/office/drawing/2014/main" id="{08D68483-6F54-2DE0-01A4-6BF9F66CAF20}"/>
              </a:ext>
            </a:extLst>
          </p:cNvPr>
          <p:cNvSpPr txBox="1"/>
          <p:nvPr/>
        </p:nvSpPr>
        <p:spPr>
          <a:xfrm>
            <a:off x="6045831" y="5672831"/>
            <a:ext cx="5175543" cy="923330"/>
          </a:xfrm>
          <a:prstGeom prst="rect">
            <a:avLst/>
          </a:prstGeom>
          <a:noFill/>
        </p:spPr>
        <p:txBody>
          <a:bodyPr wrap="square" rtlCol="0">
            <a:spAutoFit/>
          </a:bodyPr>
          <a:lstStyle/>
          <a:p>
            <a:r>
              <a:rPr lang="zh-CN" altLang="en-US" dirty="0"/>
              <a:t>可以观察到：永远是距离起点最近的位置先入队！</a:t>
            </a:r>
            <a:endParaRPr lang="en-US" altLang="zh-CN" dirty="0"/>
          </a:p>
          <a:p>
            <a:endParaRPr lang="en-US" altLang="zh-CN" dirty="0"/>
          </a:p>
          <a:p>
            <a:r>
              <a:rPr lang="zh-CN" altLang="en-US" dirty="0"/>
              <a:t>思考一下原因？</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5" name="Rectangle 3"/>
          <p:cNvSpPr>
            <a:spLocks noChangeArrowheads="1"/>
          </p:cNvSpPr>
          <p:nvPr/>
        </p:nvSpPr>
        <p:spPr bwMode="auto">
          <a:xfrm>
            <a:off x="2830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6" name="Rectangle 3"/>
          <p:cNvSpPr>
            <a:spLocks noChangeArrowheads="1"/>
          </p:cNvSpPr>
          <p:nvPr/>
        </p:nvSpPr>
        <p:spPr bwMode="auto">
          <a:xfrm>
            <a:off x="3249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7" name="Rectangle 3"/>
          <p:cNvSpPr>
            <a:spLocks noChangeArrowheads="1"/>
          </p:cNvSpPr>
          <p:nvPr/>
        </p:nvSpPr>
        <p:spPr bwMode="auto">
          <a:xfrm>
            <a:off x="3681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8" name="Rectangle 3"/>
          <p:cNvSpPr>
            <a:spLocks noChangeArrowheads="1"/>
          </p:cNvSpPr>
          <p:nvPr/>
        </p:nvSpPr>
        <p:spPr bwMode="auto">
          <a:xfrm>
            <a:off x="3681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29" name="Rectangle 3"/>
          <p:cNvSpPr>
            <a:spLocks noChangeArrowheads="1"/>
          </p:cNvSpPr>
          <p:nvPr/>
        </p:nvSpPr>
        <p:spPr bwMode="auto">
          <a:xfrm>
            <a:off x="3249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30" name="Rectangle 3"/>
          <p:cNvSpPr>
            <a:spLocks noChangeArrowheads="1"/>
          </p:cNvSpPr>
          <p:nvPr/>
        </p:nvSpPr>
        <p:spPr bwMode="auto">
          <a:xfrm>
            <a:off x="3249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10</a:t>
            </a:r>
          </a:p>
        </p:txBody>
      </p:sp>
      <p:sp>
        <p:nvSpPr>
          <p:cNvPr id="155" name="Rectangle 3"/>
          <p:cNvSpPr>
            <a:spLocks noChangeArrowheads="1"/>
          </p:cNvSpPr>
          <p:nvPr/>
        </p:nvSpPr>
        <p:spPr bwMode="auto">
          <a:xfrm>
            <a:off x="3249984" y="483667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10</a:t>
            </a:r>
          </a:p>
        </p:txBody>
      </p:sp>
      <p:sp>
        <p:nvSpPr>
          <p:cNvPr id="31" name="Rectangle 3"/>
          <p:cNvSpPr>
            <a:spLocks noChangeArrowheads="1"/>
          </p:cNvSpPr>
          <p:nvPr/>
        </p:nvSpPr>
        <p:spPr bwMode="auto">
          <a:xfrm>
            <a:off x="3249984" y="356745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2" name="Rectangle 3"/>
          <p:cNvSpPr>
            <a:spLocks noChangeArrowheads="1"/>
          </p:cNvSpPr>
          <p:nvPr/>
        </p:nvSpPr>
        <p:spPr bwMode="auto">
          <a:xfrm>
            <a:off x="3681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3" name="Rectangle 3"/>
          <p:cNvSpPr>
            <a:spLocks noChangeArrowheads="1"/>
          </p:cNvSpPr>
          <p:nvPr/>
        </p:nvSpPr>
        <p:spPr bwMode="auto">
          <a:xfrm>
            <a:off x="3249984"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4" name="Rectangle 3"/>
          <p:cNvSpPr>
            <a:spLocks noChangeArrowheads="1"/>
          </p:cNvSpPr>
          <p:nvPr/>
        </p:nvSpPr>
        <p:spPr bwMode="auto">
          <a:xfrm>
            <a:off x="2818848"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5" name="Rectangle 3"/>
          <p:cNvSpPr>
            <a:spLocks noChangeArrowheads="1"/>
          </p:cNvSpPr>
          <p:nvPr/>
        </p:nvSpPr>
        <p:spPr bwMode="auto">
          <a:xfrm>
            <a:off x="3693216"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6" name="Rectangle 3"/>
          <p:cNvSpPr>
            <a:spLocks noChangeArrowheads="1"/>
          </p:cNvSpPr>
          <p:nvPr/>
        </p:nvSpPr>
        <p:spPr bwMode="auto">
          <a:xfrm>
            <a:off x="3681984" y="3567457"/>
            <a:ext cx="518400" cy="50025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7" name="Rectangle 3"/>
          <p:cNvSpPr>
            <a:spLocks noChangeArrowheads="1"/>
          </p:cNvSpPr>
          <p:nvPr/>
        </p:nvSpPr>
        <p:spPr bwMode="auto">
          <a:xfrm>
            <a:off x="4113984" y="3980449"/>
            <a:ext cx="518400" cy="50025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8" name="Rectangle 3"/>
          <p:cNvSpPr>
            <a:spLocks noChangeArrowheads="1"/>
          </p:cNvSpPr>
          <p:nvPr/>
        </p:nvSpPr>
        <p:spPr bwMode="auto">
          <a:xfrm>
            <a:off x="2386848"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39" name="Rectangle 3"/>
          <p:cNvSpPr>
            <a:spLocks noChangeArrowheads="1"/>
          </p:cNvSpPr>
          <p:nvPr/>
        </p:nvSpPr>
        <p:spPr bwMode="auto">
          <a:xfrm>
            <a:off x="4113984"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0" name="Rectangle 3"/>
          <p:cNvSpPr>
            <a:spLocks noChangeArrowheads="1"/>
          </p:cNvSpPr>
          <p:nvPr/>
        </p:nvSpPr>
        <p:spPr bwMode="auto">
          <a:xfrm>
            <a:off x="4113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1" name="Rectangle 3"/>
          <p:cNvSpPr>
            <a:spLocks noChangeArrowheads="1"/>
          </p:cNvSpPr>
          <p:nvPr/>
        </p:nvSpPr>
        <p:spPr bwMode="auto">
          <a:xfrm>
            <a:off x="4113984" y="3550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6" name="Rectangle 3"/>
          <p:cNvSpPr>
            <a:spLocks noChangeArrowheads="1"/>
          </p:cNvSpPr>
          <p:nvPr/>
        </p:nvSpPr>
        <p:spPr bwMode="auto">
          <a:xfrm>
            <a:off x="4545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dirty="0"/>
              <a:t>13</a:t>
            </a:r>
          </a:p>
        </p:txBody>
      </p:sp>
      <p:sp>
        <p:nvSpPr>
          <p:cNvPr id="175" name="矩形 174"/>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54" name="Line 125">
            <a:extLst>
              <a:ext uri="{FF2B5EF4-FFF2-40B4-BE49-F238E27FC236}">
                <a16:creationId xmlns:a16="http://schemas.microsoft.com/office/drawing/2014/main" id="{2E6D9F67-8BF4-7C76-B969-7305339CD851}"/>
              </a:ext>
            </a:extLst>
          </p:cNvPr>
          <p:cNvSpPr>
            <a:spLocks noChangeShapeType="1"/>
          </p:cNvSpPr>
          <p:nvPr/>
        </p:nvSpPr>
        <p:spPr bwMode="auto">
          <a:xfrm>
            <a:off x="6328110" y="380892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55" name="Line 126">
            <a:extLst>
              <a:ext uri="{FF2B5EF4-FFF2-40B4-BE49-F238E27FC236}">
                <a16:creationId xmlns:a16="http://schemas.microsoft.com/office/drawing/2014/main" id="{B3206D66-D8E5-D02A-0306-3768468AFDE8}"/>
              </a:ext>
            </a:extLst>
          </p:cNvPr>
          <p:cNvSpPr>
            <a:spLocks noChangeShapeType="1"/>
          </p:cNvSpPr>
          <p:nvPr/>
        </p:nvSpPr>
        <p:spPr bwMode="auto">
          <a:xfrm>
            <a:off x="6328110" y="3356271"/>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56" name="文本框 55">
            <a:extLst>
              <a:ext uri="{FF2B5EF4-FFF2-40B4-BE49-F238E27FC236}">
                <a16:creationId xmlns:a16="http://schemas.microsoft.com/office/drawing/2014/main" id="{A9FC2689-E152-C315-7846-A95995E5EE8A}"/>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57" name="文本框 56">
            <a:extLst>
              <a:ext uri="{FF2B5EF4-FFF2-40B4-BE49-F238E27FC236}">
                <a16:creationId xmlns:a16="http://schemas.microsoft.com/office/drawing/2014/main" id="{30283E2B-76D1-15E4-EF3C-67DD44C6E7F3}"/>
              </a:ext>
            </a:extLst>
          </p:cNvPr>
          <p:cNvSpPr txBox="1"/>
          <p:nvPr/>
        </p:nvSpPr>
        <p:spPr>
          <a:xfrm>
            <a:off x="5392536" y="3427674"/>
            <a:ext cx="659231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1</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1</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2</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1</a:t>
            </a:r>
            <a:r>
              <a:rPr lang="zh-CN" altLang="en-US" sz="1600" strike="sngStrike" dirty="0"/>
              <a:t>）</a:t>
            </a:r>
            <a:endParaRPr lang="en-US" altLang="zh-CN" sz="1600" strike="sngStrike" dirty="0"/>
          </a:p>
          <a:p>
            <a:endParaRPr lang="en-US" altLang="zh-CN" sz="1600" dirty="0"/>
          </a:p>
          <a:p>
            <a:r>
              <a:rPr lang="zh-CN" altLang="en-US" sz="1600" dirty="0"/>
              <a:t>最短距离：   </a:t>
            </a:r>
            <a:r>
              <a:rPr lang="en-US" altLang="zh-CN" sz="1600" dirty="0"/>
              <a:t>0              1               1             2             2</a:t>
            </a:r>
            <a:endParaRPr lang="zh-CN" altLang="en-US" sz="1600" dirty="0"/>
          </a:p>
        </p:txBody>
      </p:sp>
      <p:sp>
        <p:nvSpPr>
          <p:cNvPr id="58" name="Line 125">
            <a:extLst>
              <a:ext uri="{FF2B5EF4-FFF2-40B4-BE49-F238E27FC236}">
                <a16:creationId xmlns:a16="http://schemas.microsoft.com/office/drawing/2014/main" id="{27719A9B-69FB-9F0C-BD6A-A2C7D939D076}"/>
              </a:ext>
            </a:extLst>
          </p:cNvPr>
          <p:cNvSpPr>
            <a:spLocks noChangeShapeType="1"/>
          </p:cNvSpPr>
          <p:nvPr/>
        </p:nvSpPr>
        <p:spPr bwMode="auto">
          <a:xfrm>
            <a:off x="6387895" y="4922593"/>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59" name="Line 126">
            <a:extLst>
              <a:ext uri="{FF2B5EF4-FFF2-40B4-BE49-F238E27FC236}">
                <a16:creationId xmlns:a16="http://schemas.microsoft.com/office/drawing/2014/main" id="{C1DA7226-435F-1317-1CD2-5DA869C54BA5}"/>
              </a:ext>
            </a:extLst>
          </p:cNvPr>
          <p:cNvSpPr>
            <a:spLocks noChangeShapeType="1"/>
          </p:cNvSpPr>
          <p:nvPr/>
        </p:nvSpPr>
        <p:spPr bwMode="auto">
          <a:xfrm>
            <a:off x="6387895" y="4469942"/>
            <a:ext cx="4665600"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sz="2449"/>
          </a:p>
        </p:txBody>
      </p:sp>
      <p:sp>
        <p:nvSpPr>
          <p:cNvPr id="60" name="文本框 59">
            <a:extLst>
              <a:ext uri="{FF2B5EF4-FFF2-40B4-BE49-F238E27FC236}">
                <a16:creationId xmlns:a16="http://schemas.microsoft.com/office/drawing/2014/main" id="{DDACC105-020E-6B9C-5BD3-457B6EFDE8D3}"/>
              </a:ext>
            </a:extLst>
          </p:cNvPr>
          <p:cNvSpPr txBox="1"/>
          <p:nvPr/>
        </p:nvSpPr>
        <p:spPr>
          <a:xfrm>
            <a:off x="5321515" y="4525076"/>
            <a:ext cx="7047438" cy="830997"/>
          </a:xfrm>
          <a:prstGeom prst="rect">
            <a:avLst/>
          </a:prstGeom>
          <a:noFill/>
        </p:spPr>
        <p:txBody>
          <a:bodyPr wrap="square" rtlCol="0">
            <a:spAutoFit/>
          </a:bodyPr>
          <a:lstStyle/>
          <a:p>
            <a:r>
              <a:rPr lang="zh-CN" altLang="en-US" sz="1600" dirty="0"/>
              <a:t>队列：    </a:t>
            </a:r>
            <a:r>
              <a:rPr lang="zh-CN" altLang="en-US" sz="1600" strike="sngStrike" dirty="0"/>
              <a:t>（</a:t>
            </a:r>
            <a:r>
              <a:rPr lang="en-US" altLang="zh-CN" sz="1600" strike="sngStrike" dirty="0"/>
              <a:t>3</a:t>
            </a:r>
            <a:r>
              <a:rPr lang="zh-CN" altLang="en-US" sz="1600" strike="sngStrike" dirty="0"/>
              <a:t>，</a:t>
            </a:r>
            <a:r>
              <a:rPr lang="en-US" altLang="zh-CN" sz="1600" strike="sngStrike" dirty="0"/>
              <a:t>2</a:t>
            </a:r>
            <a:r>
              <a:rPr lang="zh-CN" altLang="en-US" sz="1600" strike="sngStrike" dirty="0"/>
              <a:t>）</a:t>
            </a:r>
            <a:r>
              <a:rPr lang="en-US" altLang="zh-CN" sz="1600" dirty="0"/>
              <a:t>|</a:t>
            </a:r>
            <a:r>
              <a:rPr lang="zh-CN" altLang="en-US" sz="1600" strike="sngStrike" dirty="0"/>
              <a:t>（</a:t>
            </a:r>
            <a:r>
              <a:rPr lang="en-US" altLang="zh-CN" sz="1600" strike="sngStrike" dirty="0"/>
              <a:t>4</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strike="sngStrike" dirty="0"/>
              <a:t>（</a:t>
            </a:r>
            <a:r>
              <a:rPr lang="en-US" altLang="zh-CN" sz="1600" strike="sngStrike" dirty="0"/>
              <a:t>3</a:t>
            </a:r>
            <a:r>
              <a:rPr lang="zh-CN" altLang="en-US" sz="1600" strike="sngStrike" dirty="0"/>
              <a:t>，</a:t>
            </a:r>
            <a:r>
              <a:rPr lang="en-US" altLang="zh-CN" sz="1600" strike="sngStrike" dirty="0"/>
              <a:t>3</a:t>
            </a:r>
            <a:r>
              <a:rPr lang="zh-CN" altLang="en-US" sz="1600" strike="sngStrike" dirty="0"/>
              <a:t>）</a:t>
            </a:r>
            <a:r>
              <a:rPr lang="en-US" altLang="zh-CN" sz="1600" dirty="0"/>
              <a:t>|</a:t>
            </a:r>
            <a:r>
              <a:rPr lang="zh-CN" altLang="en-US" sz="1600" strike="sngStrike" dirty="0"/>
              <a:t>（</a:t>
            </a:r>
            <a:r>
              <a:rPr lang="en-US" altLang="zh-CN" sz="1600" strike="sngStrike" dirty="0"/>
              <a:t>5</a:t>
            </a:r>
            <a:r>
              <a:rPr lang="zh-CN" altLang="en-US" sz="1600" strike="sngStrike" dirty="0"/>
              <a:t>，</a:t>
            </a:r>
            <a:r>
              <a:rPr lang="en-US" altLang="zh-CN" sz="1600" strike="sngStrike" dirty="0"/>
              <a:t>1</a:t>
            </a:r>
            <a:r>
              <a:rPr lang="zh-CN" altLang="en-US" sz="1600" strike="sngStrike" dirty="0"/>
              <a:t>）</a:t>
            </a:r>
            <a:r>
              <a:rPr lang="en-US" altLang="zh-CN" sz="1600" dirty="0"/>
              <a:t>|</a:t>
            </a:r>
            <a:r>
              <a:rPr lang="zh-CN" altLang="en-US" sz="1600" dirty="0"/>
              <a:t>（</a:t>
            </a:r>
            <a:r>
              <a:rPr lang="en-US" altLang="zh-CN" sz="1600" dirty="0"/>
              <a:t>3</a:t>
            </a:r>
            <a:r>
              <a:rPr lang="zh-CN" altLang="en-US" sz="1600" dirty="0"/>
              <a:t>，</a:t>
            </a:r>
            <a:r>
              <a:rPr lang="en-US" altLang="zh-CN" sz="1600" dirty="0"/>
              <a:t>4</a:t>
            </a:r>
            <a:r>
              <a:rPr lang="zh-CN" altLang="en-US" sz="1600" dirty="0"/>
              <a:t>）</a:t>
            </a:r>
            <a:r>
              <a:rPr lang="en-US" altLang="zh-CN" sz="1600" dirty="0"/>
              <a:t>|</a:t>
            </a:r>
            <a:r>
              <a:rPr lang="zh-CN" altLang="en-US" sz="1600" dirty="0"/>
              <a:t>（</a:t>
            </a:r>
            <a:r>
              <a:rPr lang="en-US" altLang="zh-CN" sz="1600" dirty="0"/>
              <a:t>5</a:t>
            </a:r>
            <a:r>
              <a:rPr lang="zh-CN" altLang="en-US" sz="1600" dirty="0"/>
              <a:t>，</a:t>
            </a:r>
            <a:r>
              <a:rPr lang="en-US" altLang="zh-CN" sz="1600" dirty="0"/>
              <a:t>2</a:t>
            </a:r>
            <a:r>
              <a:rPr lang="zh-CN" altLang="en-US" sz="1600" dirty="0"/>
              <a:t>）</a:t>
            </a:r>
            <a:r>
              <a:rPr lang="en-US" altLang="zh-CN" sz="1600" dirty="0"/>
              <a:t>|</a:t>
            </a:r>
            <a:r>
              <a:rPr lang="zh-CN" altLang="en-US" sz="1600" dirty="0"/>
              <a:t>（</a:t>
            </a:r>
            <a:r>
              <a:rPr lang="en-US" altLang="zh-CN" sz="1600" dirty="0"/>
              <a:t>6</a:t>
            </a:r>
            <a:r>
              <a:rPr lang="zh-CN" altLang="en-US" sz="1600" dirty="0"/>
              <a:t>，</a:t>
            </a:r>
            <a:r>
              <a:rPr lang="en-US" altLang="zh-CN" sz="1600" dirty="0"/>
              <a:t>1</a:t>
            </a:r>
            <a:r>
              <a:rPr lang="zh-CN" altLang="en-US" sz="1600" dirty="0"/>
              <a:t>）</a:t>
            </a:r>
            <a:endParaRPr lang="en-US" altLang="zh-CN" sz="1600" strike="sngStrike" dirty="0"/>
          </a:p>
          <a:p>
            <a:endParaRPr lang="en-US" altLang="zh-CN" sz="1600" dirty="0"/>
          </a:p>
          <a:p>
            <a:r>
              <a:rPr lang="zh-CN" altLang="en-US" sz="1600" dirty="0"/>
              <a:t>最短距离：  </a:t>
            </a:r>
            <a:r>
              <a:rPr lang="en-US" altLang="zh-CN" sz="1600" dirty="0"/>
              <a:t>3               3              4              4              5              5              5</a:t>
            </a:r>
            <a:endParaRPr lang="zh-CN" altLang="en-US" sz="1600" dirty="0"/>
          </a:p>
        </p:txBody>
      </p:sp>
      <p:sp>
        <p:nvSpPr>
          <p:cNvPr id="61" name="文本框 60">
            <a:extLst>
              <a:ext uri="{FF2B5EF4-FFF2-40B4-BE49-F238E27FC236}">
                <a16:creationId xmlns:a16="http://schemas.microsoft.com/office/drawing/2014/main" id="{08D68483-6F54-2DE0-01A4-6BF9F66CAF20}"/>
              </a:ext>
            </a:extLst>
          </p:cNvPr>
          <p:cNvSpPr txBox="1"/>
          <p:nvPr/>
        </p:nvSpPr>
        <p:spPr>
          <a:xfrm>
            <a:off x="6045831" y="5672831"/>
            <a:ext cx="5610550" cy="923330"/>
          </a:xfrm>
          <a:prstGeom prst="rect">
            <a:avLst/>
          </a:prstGeom>
          <a:noFill/>
        </p:spPr>
        <p:txBody>
          <a:bodyPr wrap="square" rtlCol="0">
            <a:spAutoFit/>
          </a:bodyPr>
          <a:lstStyle/>
          <a:p>
            <a:r>
              <a:rPr lang="zh-CN" altLang="en-US" dirty="0"/>
              <a:t>可以观察到：永远是距离起点最近的位置先入队！</a:t>
            </a:r>
            <a:endParaRPr lang="en-US" altLang="zh-CN" dirty="0"/>
          </a:p>
          <a:p>
            <a:endParaRPr lang="en-US" altLang="zh-CN" dirty="0"/>
          </a:p>
          <a:p>
            <a:r>
              <a:rPr lang="zh-CN" altLang="en-US" dirty="0"/>
              <a:t>因为后放入队列的位置是从先放入队列的位置走到的。</a:t>
            </a:r>
          </a:p>
        </p:txBody>
      </p:sp>
    </p:spTree>
    <p:extLst>
      <p:ext uri="{BB962C8B-B14F-4D97-AF65-F5344CB8AC3E}">
        <p14:creationId xmlns:p14="http://schemas.microsoft.com/office/powerpoint/2010/main" val="14630708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16513" y="1347841"/>
            <a:ext cx="4835808" cy="4835808"/>
            <a:chOff x="600" y="2125"/>
            <a:chExt cx="6720" cy="6720"/>
          </a:xfrm>
        </p:grpSpPr>
        <p:sp>
          <p:nvSpPr>
            <p:cNvPr id="157698" name="Rectangle 2"/>
            <p:cNvSpPr>
              <a:spLocks noChangeArrowheads="1"/>
            </p:cNvSpPr>
            <p:nvPr/>
          </p:nvSpPr>
          <p:spPr bwMode="auto">
            <a:xfrm>
              <a:off x="1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699" name="Rectangle 3"/>
            <p:cNvSpPr>
              <a:spLocks noChangeArrowheads="1"/>
            </p:cNvSpPr>
            <p:nvPr/>
          </p:nvSpPr>
          <p:spPr bwMode="auto">
            <a:xfrm>
              <a:off x="25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0" name="Rectangle 4"/>
            <p:cNvSpPr>
              <a:spLocks noChangeArrowheads="1"/>
            </p:cNvSpPr>
            <p:nvPr/>
          </p:nvSpPr>
          <p:spPr bwMode="auto">
            <a:xfrm>
              <a:off x="31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1" name="Rectangle 5"/>
            <p:cNvSpPr>
              <a:spLocks noChangeArrowheads="1"/>
            </p:cNvSpPr>
            <p:nvPr/>
          </p:nvSpPr>
          <p:spPr bwMode="auto">
            <a:xfrm>
              <a:off x="37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2" name="Rectangle 6"/>
            <p:cNvSpPr>
              <a:spLocks noChangeArrowheads="1"/>
            </p:cNvSpPr>
            <p:nvPr/>
          </p:nvSpPr>
          <p:spPr bwMode="auto">
            <a:xfrm>
              <a:off x="43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3" name="Rectangle 7"/>
            <p:cNvSpPr>
              <a:spLocks noChangeArrowheads="1"/>
            </p:cNvSpPr>
            <p:nvPr/>
          </p:nvSpPr>
          <p:spPr bwMode="auto">
            <a:xfrm>
              <a:off x="49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4" name="Rectangle 8"/>
            <p:cNvSpPr>
              <a:spLocks noChangeArrowheads="1"/>
            </p:cNvSpPr>
            <p:nvPr/>
          </p:nvSpPr>
          <p:spPr bwMode="auto">
            <a:xfrm>
              <a:off x="55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5" name="Rectangle 9"/>
            <p:cNvSpPr>
              <a:spLocks noChangeArrowheads="1"/>
            </p:cNvSpPr>
            <p:nvPr/>
          </p:nvSpPr>
          <p:spPr bwMode="auto">
            <a:xfrm>
              <a:off x="6120" y="3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6" name="Rectangle 10"/>
            <p:cNvSpPr>
              <a:spLocks noChangeArrowheads="1"/>
            </p:cNvSpPr>
            <p:nvPr/>
          </p:nvSpPr>
          <p:spPr bwMode="auto">
            <a:xfrm>
              <a:off x="1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7" name="Rectangle 11"/>
            <p:cNvSpPr>
              <a:spLocks noChangeArrowheads="1"/>
            </p:cNvSpPr>
            <p:nvPr/>
          </p:nvSpPr>
          <p:spPr bwMode="auto">
            <a:xfrm>
              <a:off x="25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8" name="Rectangle 12"/>
            <p:cNvSpPr>
              <a:spLocks noChangeArrowheads="1"/>
            </p:cNvSpPr>
            <p:nvPr/>
          </p:nvSpPr>
          <p:spPr bwMode="auto">
            <a:xfrm>
              <a:off x="31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09" name="Rectangle 13"/>
            <p:cNvSpPr>
              <a:spLocks noChangeArrowheads="1"/>
            </p:cNvSpPr>
            <p:nvPr/>
          </p:nvSpPr>
          <p:spPr bwMode="auto">
            <a:xfrm>
              <a:off x="37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0" name="Rectangle 14"/>
            <p:cNvSpPr>
              <a:spLocks noChangeArrowheads="1"/>
            </p:cNvSpPr>
            <p:nvPr/>
          </p:nvSpPr>
          <p:spPr bwMode="auto">
            <a:xfrm>
              <a:off x="43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1" name="Rectangle 15"/>
            <p:cNvSpPr>
              <a:spLocks noChangeArrowheads="1"/>
            </p:cNvSpPr>
            <p:nvPr/>
          </p:nvSpPr>
          <p:spPr bwMode="auto">
            <a:xfrm>
              <a:off x="49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2" name="Rectangle 16"/>
            <p:cNvSpPr>
              <a:spLocks noChangeArrowheads="1"/>
            </p:cNvSpPr>
            <p:nvPr/>
          </p:nvSpPr>
          <p:spPr bwMode="auto">
            <a:xfrm>
              <a:off x="55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3" name="Rectangle 17"/>
            <p:cNvSpPr>
              <a:spLocks noChangeArrowheads="1"/>
            </p:cNvSpPr>
            <p:nvPr/>
          </p:nvSpPr>
          <p:spPr bwMode="auto">
            <a:xfrm>
              <a:off x="6120" y="4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4" name="Rectangle 18"/>
            <p:cNvSpPr>
              <a:spLocks noChangeArrowheads="1"/>
            </p:cNvSpPr>
            <p:nvPr/>
          </p:nvSpPr>
          <p:spPr bwMode="auto">
            <a:xfrm>
              <a:off x="19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5" name="Rectangle 19"/>
            <p:cNvSpPr>
              <a:spLocks noChangeArrowheads="1"/>
            </p:cNvSpPr>
            <p:nvPr/>
          </p:nvSpPr>
          <p:spPr bwMode="auto">
            <a:xfrm>
              <a:off x="2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6" name="Rectangle 20"/>
            <p:cNvSpPr>
              <a:spLocks noChangeArrowheads="1"/>
            </p:cNvSpPr>
            <p:nvPr/>
          </p:nvSpPr>
          <p:spPr bwMode="auto">
            <a:xfrm>
              <a:off x="3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7" name="Rectangle 21"/>
            <p:cNvSpPr>
              <a:spLocks noChangeArrowheads="1"/>
            </p:cNvSpPr>
            <p:nvPr/>
          </p:nvSpPr>
          <p:spPr bwMode="auto">
            <a:xfrm>
              <a:off x="37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8" name="Rectangle 22"/>
            <p:cNvSpPr>
              <a:spLocks noChangeArrowheads="1"/>
            </p:cNvSpPr>
            <p:nvPr/>
          </p:nvSpPr>
          <p:spPr bwMode="auto">
            <a:xfrm>
              <a:off x="4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19" name="Rectangle 23"/>
            <p:cNvSpPr>
              <a:spLocks noChangeArrowheads="1"/>
            </p:cNvSpPr>
            <p:nvPr/>
          </p:nvSpPr>
          <p:spPr bwMode="auto">
            <a:xfrm>
              <a:off x="49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0" name="Rectangle 24"/>
            <p:cNvSpPr>
              <a:spLocks noChangeArrowheads="1"/>
            </p:cNvSpPr>
            <p:nvPr/>
          </p:nvSpPr>
          <p:spPr bwMode="auto">
            <a:xfrm>
              <a:off x="55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1" name="Rectangle 25"/>
            <p:cNvSpPr>
              <a:spLocks noChangeArrowheads="1"/>
            </p:cNvSpPr>
            <p:nvPr/>
          </p:nvSpPr>
          <p:spPr bwMode="auto">
            <a:xfrm>
              <a:off x="6120" y="4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2" name="Rectangle 26"/>
            <p:cNvSpPr>
              <a:spLocks noChangeArrowheads="1"/>
            </p:cNvSpPr>
            <p:nvPr/>
          </p:nvSpPr>
          <p:spPr bwMode="auto">
            <a:xfrm>
              <a:off x="1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3" name="Rectangle 27"/>
            <p:cNvSpPr>
              <a:spLocks noChangeArrowheads="1"/>
            </p:cNvSpPr>
            <p:nvPr/>
          </p:nvSpPr>
          <p:spPr bwMode="auto">
            <a:xfrm>
              <a:off x="25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4" name="Rectangle 28"/>
            <p:cNvSpPr>
              <a:spLocks noChangeArrowheads="1"/>
            </p:cNvSpPr>
            <p:nvPr/>
          </p:nvSpPr>
          <p:spPr bwMode="auto">
            <a:xfrm>
              <a:off x="31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5" name="Rectangle 29"/>
            <p:cNvSpPr>
              <a:spLocks noChangeArrowheads="1"/>
            </p:cNvSpPr>
            <p:nvPr/>
          </p:nvSpPr>
          <p:spPr bwMode="auto">
            <a:xfrm>
              <a:off x="3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6" name="Rectangle 30"/>
            <p:cNvSpPr>
              <a:spLocks noChangeArrowheads="1"/>
            </p:cNvSpPr>
            <p:nvPr/>
          </p:nvSpPr>
          <p:spPr bwMode="auto">
            <a:xfrm>
              <a:off x="43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7" name="Rectangle 31"/>
            <p:cNvSpPr>
              <a:spLocks noChangeArrowheads="1"/>
            </p:cNvSpPr>
            <p:nvPr/>
          </p:nvSpPr>
          <p:spPr bwMode="auto">
            <a:xfrm>
              <a:off x="49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8" name="Rectangle 32"/>
            <p:cNvSpPr>
              <a:spLocks noChangeArrowheads="1"/>
            </p:cNvSpPr>
            <p:nvPr/>
          </p:nvSpPr>
          <p:spPr bwMode="auto">
            <a:xfrm>
              <a:off x="55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29" name="Rectangle 33"/>
            <p:cNvSpPr>
              <a:spLocks noChangeArrowheads="1"/>
            </p:cNvSpPr>
            <p:nvPr/>
          </p:nvSpPr>
          <p:spPr bwMode="auto">
            <a:xfrm>
              <a:off x="6120" y="52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0" name="Rectangle 34"/>
            <p:cNvSpPr>
              <a:spLocks noChangeArrowheads="1"/>
            </p:cNvSpPr>
            <p:nvPr/>
          </p:nvSpPr>
          <p:spPr bwMode="auto">
            <a:xfrm>
              <a:off x="1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1" name="Rectangle 35"/>
            <p:cNvSpPr>
              <a:spLocks noChangeArrowheads="1"/>
            </p:cNvSpPr>
            <p:nvPr/>
          </p:nvSpPr>
          <p:spPr bwMode="auto">
            <a:xfrm>
              <a:off x="2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2" name="Rectangle 36"/>
            <p:cNvSpPr>
              <a:spLocks noChangeArrowheads="1"/>
            </p:cNvSpPr>
            <p:nvPr/>
          </p:nvSpPr>
          <p:spPr bwMode="auto">
            <a:xfrm>
              <a:off x="3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3" name="Rectangle 37"/>
            <p:cNvSpPr>
              <a:spLocks noChangeArrowheads="1"/>
            </p:cNvSpPr>
            <p:nvPr/>
          </p:nvSpPr>
          <p:spPr bwMode="auto">
            <a:xfrm>
              <a:off x="3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4" name="Rectangle 38"/>
            <p:cNvSpPr>
              <a:spLocks noChangeArrowheads="1"/>
            </p:cNvSpPr>
            <p:nvPr/>
          </p:nvSpPr>
          <p:spPr bwMode="auto">
            <a:xfrm>
              <a:off x="43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5" name="Rectangle 39"/>
            <p:cNvSpPr>
              <a:spLocks noChangeArrowheads="1"/>
            </p:cNvSpPr>
            <p:nvPr/>
          </p:nvSpPr>
          <p:spPr bwMode="auto">
            <a:xfrm>
              <a:off x="49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6" name="Rectangle 40"/>
            <p:cNvSpPr>
              <a:spLocks noChangeArrowheads="1"/>
            </p:cNvSpPr>
            <p:nvPr/>
          </p:nvSpPr>
          <p:spPr bwMode="auto">
            <a:xfrm>
              <a:off x="55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7" name="Rectangle 41"/>
            <p:cNvSpPr>
              <a:spLocks noChangeArrowheads="1"/>
            </p:cNvSpPr>
            <p:nvPr/>
          </p:nvSpPr>
          <p:spPr bwMode="auto">
            <a:xfrm>
              <a:off x="6120" y="58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8" name="Rectangle 42"/>
            <p:cNvSpPr>
              <a:spLocks noChangeArrowheads="1"/>
            </p:cNvSpPr>
            <p:nvPr/>
          </p:nvSpPr>
          <p:spPr bwMode="auto">
            <a:xfrm>
              <a:off x="19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39" name="Rectangle 43"/>
            <p:cNvSpPr>
              <a:spLocks noChangeArrowheads="1"/>
            </p:cNvSpPr>
            <p:nvPr/>
          </p:nvSpPr>
          <p:spPr bwMode="auto">
            <a:xfrm>
              <a:off x="25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0" name="Rectangle 44"/>
            <p:cNvSpPr>
              <a:spLocks noChangeArrowheads="1"/>
            </p:cNvSpPr>
            <p:nvPr/>
          </p:nvSpPr>
          <p:spPr bwMode="auto">
            <a:xfrm>
              <a:off x="3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1" name="Rectangle 45"/>
            <p:cNvSpPr>
              <a:spLocks noChangeArrowheads="1"/>
            </p:cNvSpPr>
            <p:nvPr/>
          </p:nvSpPr>
          <p:spPr bwMode="auto">
            <a:xfrm>
              <a:off x="37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2" name="Rectangle 46"/>
            <p:cNvSpPr>
              <a:spLocks noChangeArrowheads="1"/>
            </p:cNvSpPr>
            <p:nvPr/>
          </p:nvSpPr>
          <p:spPr bwMode="auto">
            <a:xfrm>
              <a:off x="43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3" name="Rectangle 47"/>
            <p:cNvSpPr>
              <a:spLocks noChangeArrowheads="1"/>
            </p:cNvSpPr>
            <p:nvPr/>
          </p:nvSpPr>
          <p:spPr bwMode="auto">
            <a:xfrm>
              <a:off x="49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4" name="Rectangle 48"/>
            <p:cNvSpPr>
              <a:spLocks noChangeArrowheads="1"/>
            </p:cNvSpPr>
            <p:nvPr/>
          </p:nvSpPr>
          <p:spPr bwMode="auto">
            <a:xfrm>
              <a:off x="55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5" name="Rectangle 49"/>
            <p:cNvSpPr>
              <a:spLocks noChangeArrowheads="1"/>
            </p:cNvSpPr>
            <p:nvPr/>
          </p:nvSpPr>
          <p:spPr bwMode="auto">
            <a:xfrm>
              <a:off x="6120" y="64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6" name="Rectangle 50"/>
            <p:cNvSpPr>
              <a:spLocks noChangeArrowheads="1"/>
            </p:cNvSpPr>
            <p:nvPr/>
          </p:nvSpPr>
          <p:spPr bwMode="auto">
            <a:xfrm>
              <a:off x="19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7" name="Rectangle 51"/>
            <p:cNvSpPr>
              <a:spLocks noChangeArrowheads="1"/>
            </p:cNvSpPr>
            <p:nvPr/>
          </p:nvSpPr>
          <p:spPr bwMode="auto">
            <a:xfrm>
              <a:off x="2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8" name="Rectangle 52"/>
            <p:cNvSpPr>
              <a:spLocks noChangeArrowheads="1"/>
            </p:cNvSpPr>
            <p:nvPr/>
          </p:nvSpPr>
          <p:spPr bwMode="auto">
            <a:xfrm>
              <a:off x="31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49" name="Rectangle 53"/>
            <p:cNvSpPr>
              <a:spLocks noChangeArrowheads="1"/>
            </p:cNvSpPr>
            <p:nvPr/>
          </p:nvSpPr>
          <p:spPr bwMode="auto">
            <a:xfrm>
              <a:off x="3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0" name="Rectangle 54"/>
            <p:cNvSpPr>
              <a:spLocks noChangeArrowheads="1"/>
            </p:cNvSpPr>
            <p:nvPr/>
          </p:nvSpPr>
          <p:spPr bwMode="auto">
            <a:xfrm>
              <a:off x="43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1" name="Rectangle 55"/>
            <p:cNvSpPr>
              <a:spLocks noChangeArrowheads="1"/>
            </p:cNvSpPr>
            <p:nvPr/>
          </p:nvSpPr>
          <p:spPr bwMode="auto">
            <a:xfrm>
              <a:off x="49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2" name="Rectangle 56"/>
            <p:cNvSpPr>
              <a:spLocks noChangeArrowheads="1"/>
            </p:cNvSpPr>
            <p:nvPr/>
          </p:nvSpPr>
          <p:spPr bwMode="auto">
            <a:xfrm>
              <a:off x="55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3" name="Rectangle 57"/>
            <p:cNvSpPr>
              <a:spLocks noChangeArrowheads="1"/>
            </p:cNvSpPr>
            <p:nvPr/>
          </p:nvSpPr>
          <p:spPr bwMode="auto">
            <a:xfrm>
              <a:off x="6120" y="70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4" name="Rectangle 58"/>
            <p:cNvSpPr>
              <a:spLocks noChangeArrowheads="1"/>
            </p:cNvSpPr>
            <p:nvPr/>
          </p:nvSpPr>
          <p:spPr bwMode="auto">
            <a:xfrm>
              <a:off x="19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5" name="Rectangle 59"/>
            <p:cNvSpPr>
              <a:spLocks noChangeArrowheads="1"/>
            </p:cNvSpPr>
            <p:nvPr/>
          </p:nvSpPr>
          <p:spPr bwMode="auto">
            <a:xfrm>
              <a:off x="25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6" name="Rectangle 60"/>
            <p:cNvSpPr>
              <a:spLocks noChangeArrowheads="1"/>
            </p:cNvSpPr>
            <p:nvPr/>
          </p:nvSpPr>
          <p:spPr bwMode="auto">
            <a:xfrm>
              <a:off x="31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7" name="Rectangle 61"/>
            <p:cNvSpPr>
              <a:spLocks noChangeArrowheads="1"/>
            </p:cNvSpPr>
            <p:nvPr/>
          </p:nvSpPr>
          <p:spPr bwMode="auto">
            <a:xfrm>
              <a:off x="37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8" name="Rectangle 62"/>
            <p:cNvSpPr>
              <a:spLocks noChangeArrowheads="1"/>
            </p:cNvSpPr>
            <p:nvPr/>
          </p:nvSpPr>
          <p:spPr bwMode="auto">
            <a:xfrm>
              <a:off x="43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59" name="Rectangle 63"/>
            <p:cNvSpPr>
              <a:spLocks noChangeArrowheads="1"/>
            </p:cNvSpPr>
            <p:nvPr/>
          </p:nvSpPr>
          <p:spPr bwMode="auto">
            <a:xfrm>
              <a:off x="49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0" name="Rectangle 64"/>
            <p:cNvSpPr>
              <a:spLocks noChangeArrowheads="1"/>
            </p:cNvSpPr>
            <p:nvPr/>
          </p:nvSpPr>
          <p:spPr bwMode="auto">
            <a:xfrm>
              <a:off x="5520" y="7645"/>
              <a:ext cx="600" cy="6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1" name="Rectangle 65"/>
            <p:cNvSpPr>
              <a:spLocks noChangeArrowheads="1"/>
            </p:cNvSpPr>
            <p:nvPr/>
          </p:nvSpPr>
          <p:spPr bwMode="auto">
            <a:xfrm>
              <a:off x="6148" y="5853"/>
              <a:ext cx="600" cy="600"/>
            </a:xfrm>
            <a:prstGeom prst="rect">
              <a:avLst/>
            </a:prstGeom>
            <a:solidFill>
              <a:srgbClr val="C00000"/>
            </a:solidFill>
            <a:ln w="6350">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62" name="Rectangle 66"/>
            <p:cNvSpPr>
              <a:spLocks noChangeArrowheads="1"/>
            </p:cNvSpPr>
            <p:nvPr/>
          </p:nvSpPr>
          <p:spPr bwMode="auto">
            <a:xfrm>
              <a:off x="6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63" name="Rectangle 67"/>
            <p:cNvSpPr>
              <a:spLocks noChangeArrowheads="1"/>
            </p:cNvSpPr>
            <p:nvPr/>
          </p:nvSpPr>
          <p:spPr bwMode="auto">
            <a:xfrm>
              <a:off x="1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64" name="Rectangle 68"/>
            <p:cNvSpPr>
              <a:spLocks noChangeArrowheads="1"/>
            </p:cNvSpPr>
            <p:nvPr/>
          </p:nvSpPr>
          <p:spPr bwMode="auto">
            <a:xfrm>
              <a:off x="2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65" name="Rectangle 69"/>
            <p:cNvSpPr>
              <a:spLocks noChangeArrowheads="1"/>
            </p:cNvSpPr>
            <p:nvPr/>
          </p:nvSpPr>
          <p:spPr bwMode="auto">
            <a:xfrm>
              <a:off x="31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66" name="Rectangle 70"/>
            <p:cNvSpPr>
              <a:spLocks noChangeArrowheads="1"/>
            </p:cNvSpPr>
            <p:nvPr/>
          </p:nvSpPr>
          <p:spPr bwMode="auto">
            <a:xfrm>
              <a:off x="3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67" name="Rectangle 71"/>
            <p:cNvSpPr>
              <a:spLocks noChangeArrowheads="1"/>
            </p:cNvSpPr>
            <p:nvPr/>
          </p:nvSpPr>
          <p:spPr bwMode="auto">
            <a:xfrm>
              <a:off x="4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68" name="Rectangle 72"/>
            <p:cNvSpPr>
              <a:spLocks noChangeArrowheads="1"/>
            </p:cNvSpPr>
            <p:nvPr/>
          </p:nvSpPr>
          <p:spPr bwMode="auto">
            <a:xfrm>
              <a:off x="49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69" name="Rectangle 73"/>
            <p:cNvSpPr>
              <a:spLocks noChangeArrowheads="1"/>
            </p:cNvSpPr>
            <p:nvPr/>
          </p:nvSpPr>
          <p:spPr bwMode="auto">
            <a:xfrm>
              <a:off x="55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0" name="Rectangle 74"/>
            <p:cNvSpPr>
              <a:spLocks noChangeArrowheads="1"/>
            </p:cNvSpPr>
            <p:nvPr/>
          </p:nvSpPr>
          <p:spPr bwMode="auto">
            <a:xfrm>
              <a:off x="600" y="7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8</a:t>
              </a:r>
            </a:p>
          </p:txBody>
        </p:sp>
        <p:sp>
          <p:nvSpPr>
            <p:cNvPr id="157771" name="Rectangle 75"/>
            <p:cNvSpPr>
              <a:spLocks noChangeArrowheads="1"/>
            </p:cNvSpPr>
            <p:nvPr/>
          </p:nvSpPr>
          <p:spPr bwMode="auto">
            <a:xfrm>
              <a:off x="600" y="3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1</a:t>
              </a:r>
            </a:p>
          </p:txBody>
        </p:sp>
        <p:sp>
          <p:nvSpPr>
            <p:cNvPr id="157772" name="Rectangle 76"/>
            <p:cNvSpPr>
              <a:spLocks noChangeArrowheads="1"/>
            </p:cNvSpPr>
            <p:nvPr/>
          </p:nvSpPr>
          <p:spPr bwMode="auto">
            <a:xfrm>
              <a:off x="600" y="4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2</a:t>
              </a:r>
            </a:p>
          </p:txBody>
        </p:sp>
        <p:sp>
          <p:nvSpPr>
            <p:cNvPr id="157773" name="Rectangle 77"/>
            <p:cNvSpPr>
              <a:spLocks noChangeArrowheads="1"/>
            </p:cNvSpPr>
            <p:nvPr/>
          </p:nvSpPr>
          <p:spPr bwMode="auto">
            <a:xfrm>
              <a:off x="600" y="46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3</a:t>
              </a:r>
            </a:p>
          </p:txBody>
        </p:sp>
        <p:sp>
          <p:nvSpPr>
            <p:cNvPr id="157774" name="Rectangle 78"/>
            <p:cNvSpPr>
              <a:spLocks noChangeArrowheads="1"/>
            </p:cNvSpPr>
            <p:nvPr/>
          </p:nvSpPr>
          <p:spPr bwMode="auto">
            <a:xfrm>
              <a:off x="600" y="5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4</a:t>
              </a:r>
            </a:p>
          </p:txBody>
        </p:sp>
        <p:sp>
          <p:nvSpPr>
            <p:cNvPr id="157775" name="Rectangle 79"/>
            <p:cNvSpPr>
              <a:spLocks noChangeArrowheads="1"/>
            </p:cNvSpPr>
            <p:nvPr/>
          </p:nvSpPr>
          <p:spPr bwMode="auto">
            <a:xfrm>
              <a:off x="600" y="5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5</a:t>
              </a:r>
            </a:p>
          </p:txBody>
        </p:sp>
        <p:sp>
          <p:nvSpPr>
            <p:cNvPr id="157776" name="Rectangle 80"/>
            <p:cNvSpPr>
              <a:spLocks noChangeArrowheads="1"/>
            </p:cNvSpPr>
            <p:nvPr/>
          </p:nvSpPr>
          <p:spPr bwMode="auto">
            <a:xfrm>
              <a:off x="600" y="64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6</a:t>
              </a:r>
            </a:p>
          </p:txBody>
        </p:sp>
        <p:sp>
          <p:nvSpPr>
            <p:cNvPr id="157777" name="Rectangle 81"/>
            <p:cNvSpPr>
              <a:spLocks noChangeArrowheads="1"/>
            </p:cNvSpPr>
            <p:nvPr/>
          </p:nvSpPr>
          <p:spPr bwMode="auto">
            <a:xfrm>
              <a:off x="600" y="70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7</a:t>
              </a:r>
            </a:p>
          </p:txBody>
        </p:sp>
        <p:sp>
          <p:nvSpPr>
            <p:cNvPr id="157779" name="Rectangle 83"/>
            <p:cNvSpPr>
              <a:spLocks noChangeArrowheads="1"/>
            </p:cNvSpPr>
            <p:nvPr/>
          </p:nvSpPr>
          <p:spPr bwMode="auto">
            <a:xfrm>
              <a:off x="13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0" name="Rectangle 84"/>
            <p:cNvSpPr>
              <a:spLocks noChangeArrowheads="1"/>
            </p:cNvSpPr>
            <p:nvPr/>
          </p:nvSpPr>
          <p:spPr bwMode="auto">
            <a:xfrm>
              <a:off x="13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1" name="Rectangle 85"/>
            <p:cNvSpPr>
              <a:spLocks noChangeArrowheads="1"/>
            </p:cNvSpPr>
            <p:nvPr/>
          </p:nvSpPr>
          <p:spPr bwMode="auto">
            <a:xfrm>
              <a:off x="13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2" name="Rectangle 86"/>
            <p:cNvSpPr>
              <a:spLocks noChangeArrowheads="1"/>
            </p:cNvSpPr>
            <p:nvPr/>
          </p:nvSpPr>
          <p:spPr bwMode="auto">
            <a:xfrm>
              <a:off x="13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3" name="Rectangle 87"/>
            <p:cNvSpPr>
              <a:spLocks noChangeArrowheads="1"/>
            </p:cNvSpPr>
            <p:nvPr/>
          </p:nvSpPr>
          <p:spPr bwMode="auto">
            <a:xfrm>
              <a:off x="13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4" name="Rectangle 88"/>
            <p:cNvSpPr>
              <a:spLocks noChangeArrowheads="1"/>
            </p:cNvSpPr>
            <p:nvPr/>
          </p:nvSpPr>
          <p:spPr bwMode="auto">
            <a:xfrm>
              <a:off x="13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5" name="Rectangle 89"/>
            <p:cNvSpPr>
              <a:spLocks noChangeArrowheads="1"/>
            </p:cNvSpPr>
            <p:nvPr/>
          </p:nvSpPr>
          <p:spPr bwMode="auto">
            <a:xfrm>
              <a:off x="13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6" name="Rectangle 90"/>
            <p:cNvSpPr>
              <a:spLocks noChangeArrowheads="1"/>
            </p:cNvSpPr>
            <p:nvPr/>
          </p:nvSpPr>
          <p:spPr bwMode="auto">
            <a:xfrm>
              <a:off x="13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7" name="Rectangle 91"/>
            <p:cNvSpPr>
              <a:spLocks noChangeArrowheads="1"/>
            </p:cNvSpPr>
            <p:nvPr/>
          </p:nvSpPr>
          <p:spPr bwMode="auto">
            <a:xfrm>
              <a:off x="1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88" name="Rectangle 92"/>
            <p:cNvSpPr>
              <a:spLocks noChangeArrowheads="1"/>
            </p:cNvSpPr>
            <p:nvPr/>
          </p:nvSpPr>
          <p:spPr bwMode="auto">
            <a:xfrm>
              <a:off x="600" y="82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sp>
          <p:nvSpPr>
            <p:cNvPr id="157789" name="Rectangle 93"/>
            <p:cNvSpPr>
              <a:spLocks noChangeArrowheads="1"/>
            </p:cNvSpPr>
            <p:nvPr/>
          </p:nvSpPr>
          <p:spPr bwMode="auto">
            <a:xfrm>
              <a:off x="6720" y="3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0" name="Rectangle 94"/>
            <p:cNvSpPr>
              <a:spLocks noChangeArrowheads="1"/>
            </p:cNvSpPr>
            <p:nvPr/>
          </p:nvSpPr>
          <p:spPr bwMode="auto">
            <a:xfrm>
              <a:off x="6720" y="4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1" name="Rectangle 95"/>
            <p:cNvSpPr>
              <a:spLocks noChangeArrowheads="1"/>
            </p:cNvSpPr>
            <p:nvPr/>
          </p:nvSpPr>
          <p:spPr bwMode="auto">
            <a:xfrm>
              <a:off x="6720" y="4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2" name="Rectangle 96"/>
            <p:cNvSpPr>
              <a:spLocks noChangeArrowheads="1"/>
            </p:cNvSpPr>
            <p:nvPr/>
          </p:nvSpPr>
          <p:spPr bwMode="auto">
            <a:xfrm>
              <a:off x="6720" y="5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3" name="Rectangle 97"/>
            <p:cNvSpPr>
              <a:spLocks noChangeArrowheads="1"/>
            </p:cNvSpPr>
            <p:nvPr/>
          </p:nvSpPr>
          <p:spPr bwMode="auto">
            <a:xfrm>
              <a:off x="6720" y="5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4" name="Rectangle 98"/>
            <p:cNvSpPr>
              <a:spLocks noChangeArrowheads="1"/>
            </p:cNvSpPr>
            <p:nvPr/>
          </p:nvSpPr>
          <p:spPr bwMode="auto">
            <a:xfrm>
              <a:off x="6720" y="64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5" name="Rectangle 99"/>
            <p:cNvSpPr>
              <a:spLocks noChangeArrowheads="1"/>
            </p:cNvSpPr>
            <p:nvPr/>
          </p:nvSpPr>
          <p:spPr bwMode="auto">
            <a:xfrm>
              <a:off x="6720" y="70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6" name="Rectangle 100"/>
            <p:cNvSpPr>
              <a:spLocks noChangeArrowheads="1"/>
            </p:cNvSpPr>
            <p:nvPr/>
          </p:nvSpPr>
          <p:spPr bwMode="auto">
            <a:xfrm>
              <a:off x="6720" y="76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7" name="Rectangle 101"/>
            <p:cNvSpPr>
              <a:spLocks noChangeArrowheads="1"/>
            </p:cNvSpPr>
            <p:nvPr/>
          </p:nvSpPr>
          <p:spPr bwMode="auto">
            <a:xfrm>
              <a:off x="6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8" name="Rectangle 102"/>
            <p:cNvSpPr>
              <a:spLocks noChangeArrowheads="1"/>
            </p:cNvSpPr>
            <p:nvPr/>
          </p:nvSpPr>
          <p:spPr bwMode="auto">
            <a:xfrm>
              <a:off x="2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799" name="Rectangle 103"/>
            <p:cNvSpPr>
              <a:spLocks noChangeArrowheads="1"/>
            </p:cNvSpPr>
            <p:nvPr/>
          </p:nvSpPr>
          <p:spPr bwMode="auto">
            <a:xfrm>
              <a:off x="3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0" name="Rectangle 104"/>
            <p:cNvSpPr>
              <a:spLocks noChangeArrowheads="1"/>
            </p:cNvSpPr>
            <p:nvPr/>
          </p:nvSpPr>
          <p:spPr bwMode="auto">
            <a:xfrm>
              <a:off x="37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1" name="Rectangle 105"/>
            <p:cNvSpPr>
              <a:spLocks noChangeArrowheads="1"/>
            </p:cNvSpPr>
            <p:nvPr/>
          </p:nvSpPr>
          <p:spPr bwMode="auto">
            <a:xfrm>
              <a:off x="43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2" name="Rectangle 106"/>
            <p:cNvSpPr>
              <a:spLocks noChangeArrowheads="1"/>
            </p:cNvSpPr>
            <p:nvPr/>
          </p:nvSpPr>
          <p:spPr bwMode="auto">
            <a:xfrm>
              <a:off x="4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3" name="Rectangle 107"/>
            <p:cNvSpPr>
              <a:spLocks noChangeArrowheads="1"/>
            </p:cNvSpPr>
            <p:nvPr/>
          </p:nvSpPr>
          <p:spPr bwMode="auto">
            <a:xfrm>
              <a:off x="55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4" name="Rectangle 108"/>
            <p:cNvSpPr>
              <a:spLocks noChangeArrowheads="1"/>
            </p:cNvSpPr>
            <p:nvPr/>
          </p:nvSpPr>
          <p:spPr bwMode="auto">
            <a:xfrm>
              <a:off x="61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5" name="Rectangle 109"/>
            <p:cNvSpPr>
              <a:spLocks noChangeArrowheads="1"/>
            </p:cNvSpPr>
            <p:nvPr/>
          </p:nvSpPr>
          <p:spPr bwMode="auto">
            <a:xfrm>
              <a:off x="1920" y="82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6" name="Rectangle 110"/>
            <p:cNvSpPr>
              <a:spLocks noChangeArrowheads="1"/>
            </p:cNvSpPr>
            <p:nvPr/>
          </p:nvSpPr>
          <p:spPr bwMode="auto">
            <a:xfrm>
              <a:off x="1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7" name="Rectangle 111"/>
            <p:cNvSpPr>
              <a:spLocks noChangeArrowheads="1"/>
            </p:cNvSpPr>
            <p:nvPr/>
          </p:nvSpPr>
          <p:spPr bwMode="auto">
            <a:xfrm>
              <a:off x="6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8" name="Rectangle 112"/>
            <p:cNvSpPr>
              <a:spLocks noChangeArrowheads="1"/>
            </p:cNvSpPr>
            <p:nvPr/>
          </p:nvSpPr>
          <p:spPr bwMode="auto">
            <a:xfrm>
              <a:off x="2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09" name="Rectangle 113"/>
            <p:cNvSpPr>
              <a:spLocks noChangeArrowheads="1"/>
            </p:cNvSpPr>
            <p:nvPr/>
          </p:nvSpPr>
          <p:spPr bwMode="auto">
            <a:xfrm>
              <a:off x="3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0" name="Rectangle 114"/>
            <p:cNvSpPr>
              <a:spLocks noChangeArrowheads="1"/>
            </p:cNvSpPr>
            <p:nvPr/>
          </p:nvSpPr>
          <p:spPr bwMode="auto">
            <a:xfrm>
              <a:off x="37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1" name="Rectangle 115"/>
            <p:cNvSpPr>
              <a:spLocks noChangeArrowheads="1"/>
            </p:cNvSpPr>
            <p:nvPr/>
          </p:nvSpPr>
          <p:spPr bwMode="auto">
            <a:xfrm>
              <a:off x="43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2" name="Rectangle 116"/>
            <p:cNvSpPr>
              <a:spLocks noChangeArrowheads="1"/>
            </p:cNvSpPr>
            <p:nvPr/>
          </p:nvSpPr>
          <p:spPr bwMode="auto">
            <a:xfrm>
              <a:off x="4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3" name="Rectangle 117"/>
            <p:cNvSpPr>
              <a:spLocks noChangeArrowheads="1"/>
            </p:cNvSpPr>
            <p:nvPr/>
          </p:nvSpPr>
          <p:spPr bwMode="auto">
            <a:xfrm>
              <a:off x="55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4" name="Rectangle 118"/>
            <p:cNvSpPr>
              <a:spLocks noChangeArrowheads="1"/>
            </p:cNvSpPr>
            <p:nvPr/>
          </p:nvSpPr>
          <p:spPr bwMode="auto">
            <a:xfrm>
              <a:off x="61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5" name="Rectangle 119"/>
            <p:cNvSpPr>
              <a:spLocks noChangeArrowheads="1"/>
            </p:cNvSpPr>
            <p:nvPr/>
          </p:nvSpPr>
          <p:spPr bwMode="auto">
            <a:xfrm>
              <a:off x="1920" y="2845"/>
              <a:ext cx="600" cy="600"/>
            </a:xfrm>
            <a:prstGeom prst="rect">
              <a:avLst/>
            </a:prstGeom>
            <a:solidFill>
              <a:schemeClr val="accent1"/>
            </a:solidFill>
            <a:ln w="9525">
              <a:solidFill>
                <a:schemeClr val="tx1"/>
              </a:solidFill>
              <a:miter lim="800000"/>
            </a:ln>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buSzTx/>
                <a:buFont typeface="Arial" panose="020B0604020202020204" pitchFamily="34" charset="0"/>
                <a:buNone/>
              </a:pPr>
              <a:endParaRPr lang="zh-CN" altLang="en-US" sz="2449" b="0">
                <a:cs typeface="Times New Roman" panose="02020603050405020304" pitchFamily="18" charset="0"/>
              </a:endParaRPr>
            </a:p>
          </p:txBody>
        </p:sp>
        <p:sp>
          <p:nvSpPr>
            <p:cNvPr id="157816" name="Rectangle 120"/>
            <p:cNvSpPr>
              <a:spLocks noChangeArrowheads="1"/>
            </p:cNvSpPr>
            <p:nvPr/>
          </p:nvSpPr>
          <p:spPr bwMode="auto">
            <a:xfrm>
              <a:off x="13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dirty="0">
                  <a:solidFill>
                    <a:schemeClr val="bg1">
                      <a:lumMod val="65000"/>
                    </a:schemeClr>
                  </a:solidFill>
                  <a:cs typeface="Times New Roman" panose="02020603050405020304" pitchFamily="18" charset="0"/>
                </a:rPr>
                <a:t>0</a:t>
              </a:r>
            </a:p>
          </p:txBody>
        </p:sp>
        <p:sp>
          <p:nvSpPr>
            <p:cNvPr id="157817" name="Rectangle 121"/>
            <p:cNvSpPr>
              <a:spLocks noChangeArrowheads="1"/>
            </p:cNvSpPr>
            <p:nvPr/>
          </p:nvSpPr>
          <p:spPr bwMode="auto">
            <a:xfrm>
              <a:off x="6720" y="212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9</a:t>
              </a:r>
            </a:p>
          </p:txBody>
        </p:sp>
        <p:pic>
          <p:nvPicPr>
            <p:cNvPr id="157819" name="Picture 1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20" y="3445"/>
              <a:ext cx="600" cy="600"/>
            </a:xfrm>
            <a:prstGeom prst="rect">
              <a:avLst/>
            </a:prstGeom>
            <a:solidFill>
              <a:srgbClr val="969696"/>
            </a:solidFill>
            <a:ln w="12700" cmpd="sng">
              <a:solidFill>
                <a:schemeClr val="tx1"/>
              </a:solidFill>
              <a:prstDash val="solid"/>
            </a:ln>
          </p:spPr>
        </p:pic>
        <p:sp>
          <p:nvSpPr>
            <p:cNvPr id="157818" name="Rectangle 122"/>
            <p:cNvSpPr>
              <a:spLocks noChangeArrowheads="1"/>
            </p:cNvSpPr>
            <p:nvPr/>
          </p:nvSpPr>
          <p:spPr bwMode="auto">
            <a:xfrm>
              <a:off x="600" y="2845"/>
              <a:ext cx="600"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2721" b="0">
                  <a:solidFill>
                    <a:schemeClr val="bg1">
                      <a:lumMod val="65000"/>
                    </a:schemeClr>
                  </a:solidFill>
                  <a:cs typeface="Times New Roman" panose="02020603050405020304" pitchFamily="18" charset="0"/>
                </a:rPr>
                <a:t>0</a:t>
              </a:r>
            </a:p>
          </p:txBody>
        </p:sp>
      </p:grpSp>
      <p:sp>
        <p:nvSpPr>
          <p:cNvPr id="159747" name="Rectangle 3"/>
          <p:cNvSpPr>
            <a:spLocks noChangeArrowheads="1"/>
          </p:cNvSpPr>
          <p:nvPr/>
        </p:nvSpPr>
        <p:spPr bwMode="auto">
          <a:xfrm>
            <a:off x="19548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4" name="Rectangle 10"/>
          <p:cNvSpPr>
            <a:spLocks noChangeArrowheads="1"/>
          </p:cNvSpPr>
          <p:nvPr/>
        </p:nvSpPr>
        <p:spPr bwMode="auto">
          <a:xfrm>
            <a:off x="1566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a:t>
            </a:r>
          </a:p>
        </p:txBody>
      </p:sp>
      <p:sp>
        <p:nvSpPr>
          <p:cNvPr id="5" name="Rectangle 10"/>
          <p:cNvSpPr>
            <a:spLocks noChangeArrowheads="1"/>
          </p:cNvSpPr>
          <p:nvPr/>
        </p:nvSpPr>
        <p:spPr bwMode="auto">
          <a:xfrm>
            <a:off x="1998048"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6" name="Rectangle 10"/>
          <p:cNvSpPr>
            <a:spLocks noChangeArrowheads="1"/>
          </p:cNvSpPr>
          <p:nvPr/>
        </p:nvSpPr>
        <p:spPr bwMode="auto">
          <a:xfrm>
            <a:off x="1566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2</a:t>
            </a:r>
          </a:p>
        </p:txBody>
      </p:sp>
      <p:sp>
        <p:nvSpPr>
          <p:cNvPr id="7" name="Rectangle 10"/>
          <p:cNvSpPr>
            <a:spLocks noChangeArrowheads="1"/>
          </p:cNvSpPr>
          <p:nvPr/>
        </p:nvSpPr>
        <p:spPr bwMode="auto">
          <a:xfrm>
            <a:off x="1975584"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8" name="Rectangle 10"/>
          <p:cNvSpPr>
            <a:spLocks noChangeArrowheads="1"/>
          </p:cNvSpPr>
          <p:nvPr/>
        </p:nvSpPr>
        <p:spPr bwMode="auto">
          <a:xfrm>
            <a:off x="1566048" y="3549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3</a:t>
            </a:r>
          </a:p>
        </p:txBody>
      </p:sp>
      <p:sp>
        <p:nvSpPr>
          <p:cNvPr id="9" name="Rectangle 10"/>
          <p:cNvSpPr>
            <a:spLocks noChangeArrowheads="1"/>
          </p:cNvSpPr>
          <p:nvPr/>
        </p:nvSpPr>
        <p:spPr bwMode="auto">
          <a:xfrm>
            <a:off x="2441280"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0" name="Rectangle 10"/>
          <p:cNvSpPr>
            <a:spLocks noChangeArrowheads="1"/>
          </p:cNvSpPr>
          <p:nvPr/>
        </p:nvSpPr>
        <p:spPr bwMode="auto">
          <a:xfrm>
            <a:off x="1566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4</a:t>
            </a:r>
          </a:p>
        </p:txBody>
      </p:sp>
      <p:sp>
        <p:nvSpPr>
          <p:cNvPr id="12" name="Rectangle 10"/>
          <p:cNvSpPr>
            <a:spLocks noChangeArrowheads="1"/>
          </p:cNvSpPr>
          <p:nvPr/>
        </p:nvSpPr>
        <p:spPr bwMode="auto">
          <a:xfrm>
            <a:off x="1566912" y="441331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3" name="Rectangle 10"/>
          <p:cNvSpPr>
            <a:spLocks noChangeArrowheads="1"/>
          </p:cNvSpPr>
          <p:nvPr/>
        </p:nvSpPr>
        <p:spPr bwMode="auto">
          <a:xfrm>
            <a:off x="1998048" y="3980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4" name="Rectangle 10"/>
          <p:cNvSpPr>
            <a:spLocks noChangeArrowheads="1"/>
          </p:cNvSpPr>
          <p:nvPr/>
        </p:nvSpPr>
        <p:spPr bwMode="auto">
          <a:xfrm>
            <a:off x="2862048" y="3143233"/>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5</a:t>
            </a:r>
          </a:p>
        </p:txBody>
      </p:sp>
      <p:sp>
        <p:nvSpPr>
          <p:cNvPr id="15" name="Rectangle 10"/>
          <p:cNvSpPr>
            <a:spLocks noChangeArrowheads="1"/>
          </p:cNvSpPr>
          <p:nvPr/>
        </p:nvSpPr>
        <p:spPr bwMode="auto">
          <a:xfrm>
            <a:off x="1566912" y="4844449"/>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0" name="Rectangle 10"/>
          <p:cNvSpPr>
            <a:spLocks noChangeArrowheads="1"/>
          </p:cNvSpPr>
          <p:nvPr/>
        </p:nvSpPr>
        <p:spPr bwMode="auto">
          <a:xfrm>
            <a:off x="2441280" y="3987361"/>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1" name="Rectangle 10"/>
          <p:cNvSpPr>
            <a:spLocks noChangeArrowheads="1"/>
          </p:cNvSpPr>
          <p:nvPr/>
        </p:nvSpPr>
        <p:spPr bwMode="auto">
          <a:xfrm>
            <a:off x="2873280" y="2677537"/>
            <a:ext cx="432000" cy="51926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6</a:t>
            </a:r>
          </a:p>
        </p:txBody>
      </p:sp>
      <p:sp>
        <p:nvSpPr>
          <p:cNvPr id="22" name="Rectangle 3"/>
          <p:cNvSpPr>
            <a:spLocks noChangeArrowheads="1"/>
          </p:cNvSpPr>
          <p:nvPr/>
        </p:nvSpPr>
        <p:spPr bwMode="auto">
          <a:xfrm>
            <a:off x="2862048"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3" name="Rectangle 3"/>
          <p:cNvSpPr>
            <a:spLocks noChangeArrowheads="1"/>
          </p:cNvSpPr>
          <p:nvPr/>
        </p:nvSpPr>
        <p:spPr bwMode="auto">
          <a:xfrm>
            <a:off x="3249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4" name="Rectangle 3"/>
          <p:cNvSpPr>
            <a:spLocks noChangeArrowheads="1"/>
          </p:cNvSpPr>
          <p:nvPr/>
        </p:nvSpPr>
        <p:spPr bwMode="auto">
          <a:xfrm>
            <a:off x="2398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7</a:t>
            </a:r>
          </a:p>
        </p:txBody>
      </p:sp>
      <p:sp>
        <p:nvSpPr>
          <p:cNvPr id="25" name="Rectangle 3"/>
          <p:cNvSpPr>
            <a:spLocks noChangeArrowheads="1"/>
          </p:cNvSpPr>
          <p:nvPr/>
        </p:nvSpPr>
        <p:spPr bwMode="auto">
          <a:xfrm>
            <a:off x="2830080"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6" name="Rectangle 3"/>
          <p:cNvSpPr>
            <a:spLocks noChangeArrowheads="1"/>
          </p:cNvSpPr>
          <p:nvPr/>
        </p:nvSpPr>
        <p:spPr bwMode="auto">
          <a:xfrm>
            <a:off x="3249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7" name="Rectangle 3"/>
          <p:cNvSpPr>
            <a:spLocks noChangeArrowheads="1"/>
          </p:cNvSpPr>
          <p:nvPr/>
        </p:nvSpPr>
        <p:spPr bwMode="auto">
          <a:xfrm>
            <a:off x="3681984" y="267753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8</a:t>
            </a:r>
          </a:p>
        </p:txBody>
      </p:sp>
      <p:sp>
        <p:nvSpPr>
          <p:cNvPr id="28" name="Rectangle 3"/>
          <p:cNvSpPr>
            <a:spLocks noChangeArrowheads="1"/>
          </p:cNvSpPr>
          <p:nvPr/>
        </p:nvSpPr>
        <p:spPr bwMode="auto">
          <a:xfrm>
            <a:off x="3681984" y="225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29" name="Rectangle 3"/>
          <p:cNvSpPr>
            <a:spLocks noChangeArrowheads="1"/>
          </p:cNvSpPr>
          <p:nvPr/>
        </p:nvSpPr>
        <p:spPr bwMode="auto">
          <a:xfrm>
            <a:off x="3249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9</a:t>
            </a:r>
          </a:p>
        </p:txBody>
      </p:sp>
      <p:sp>
        <p:nvSpPr>
          <p:cNvPr id="30" name="Rectangle 3"/>
          <p:cNvSpPr>
            <a:spLocks noChangeArrowheads="1"/>
          </p:cNvSpPr>
          <p:nvPr/>
        </p:nvSpPr>
        <p:spPr bwMode="auto">
          <a:xfrm>
            <a:off x="3249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10</a:t>
            </a:r>
          </a:p>
        </p:txBody>
      </p:sp>
      <p:sp>
        <p:nvSpPr>
          <p:cNvPr id="155" name="Rectangle 3"/>
          <p:cNvSpPr>
            <a:spLocks noChangeArrowheads="1"/>
          </p:cNvSpPr>
          <p:nvPr/>
        </p:nvSpPr>
        <p:spPr bwMode="auto">
          <a:xfrm>
            <a:off x="3249984" y="483667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10</a:t>
            </a:r>
          </a:p>
        </p:txBody>
      </p:sp>
      <p:sp>
        <p:nvSpPr>
          <p:cNvPr id="31" name="Rectangle 3"/>
          <p:cNvSpPr>
            <a:spLocks noChangeArrowheads="1"/>
          </p:cNvSpPr>
          <p:nvPr/>
        </p:nvSpPr>
        <p:spPr bwMode="auto">
          <a:xfrm>
            <a:off x="3249984" y="356745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2" name="Rectangle 3"/>
          <p:cNvSpPr>
            <a:spLocks noChangeArrowheads="1"/>
          </p:cNvSpPr>
          <p:nvPr/>
        </p:nvSpPr>
        <p:spPr bwMode="auto">
          <a:xfrm>
            <a:off x="3681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3" name="Rectangle 3"/>
          <p:cNvSpPr>
            <a:spLocks noChangeArrowheads="1"/>
          </p:cNvSpPr>
          <p:nvPr/>
        </p:nvSpPr>
        <p:spPr bwMode="auto">
          <a:xfrm>
            <a:off x="3249984"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t>11</a:t>
            </a:r>
          </a:p>
        </p:txBody>
      </p:sp>
      <p:sp>
        <p:nvSpPr>
          <p:cNvPr id="34" name="Rectangle 3"/>
          <p:cNvSpPr>
            <a:spLocks noChangeArrowheads="1"/>
          </p:cNvSpPr>
          <p:nvPr/>
        </p:nvSpPr>
        <p:spPr bwMode="auto">
          <a:xfrm>
            <a:off x="2818848"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5" name="Rectangle 3"/>
          <p:cNvSpPr>
            <a:spLocks noChangeArrowheads="1"/>
          </p:cNvSpPr>
          <p:nvPr/>
        </p:nvSpPr>
        <p:spPr bwMode="auto">
          <a:xfrm>
            <a:off x="3693216"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6" name="Rectangle 3"/>
          <p:cNvSpPr>
            <a:spLocks noChangeArrowheads="1"/>
          </p:cNvSpPr>
          <p:nvPr/>
        </p:nvSpPr>
        <p:spPr bwMode="auto">
          <a:xfrm>
            <a:off x="3681984" y="3567457"/>
            <a:ext cx="518400" cy="50025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7" name="Rectangle 3"/>
          <p:cNvSpPr>
            <a:spLocks noChangeArrowheads="1"/>
          </p:cNvSpPr>
          <p:nvPr/>
        </p:nvSpPr>
        <p:spPr bwMode="auto">
          <a:xfrm>
            <a:off x="4113984" y="3980449"/>
            <a:ext cx="518400" cy="50025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chemeClr val="bg1">
                    <a:lumMod val="65000"/>
                  </a:schemeClr>
                </a:solidFill>
              </a:rPr>
              <a:t>12</a:t>
            </a:r>
          </a:p>
        </p:txBody>
      </p:sp>
      <p:sp>
        <p:nvSpPr>
          <p:cNvPr id="38" name="Rectangle 3"/>
          <p:cNvSpPr>
            <a:spLocks noChangeArrowheads="1"/>
          </p:cNvSpPr>
          <p:nvPr/>
        </p:nvSpPr>
        <p:spPr bwMode="auto">
          <a:xfrm>
            <a:off x="2386848"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39" name="Rectangle 3"/>
          <p:cNvSpPr>
            <a:spLocks noChangeArrowheads="1"/>
          </p:cNvSpPr>
          <p:nvPr/>
        </p:nvSpPr>
        <p:spPr bwMode="auto">
          <a:xfrm>
            <a:off x="4113984" y="5277312"/>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0" name="Rectangle 3"/>
          <p:cNvSpPr>
            <a:spLocks noChangeArrowheads="1"/>
          </p:cNvSpPr>
          <p:nvPr/>
        </p:nvSpPr>
        <p:spPr bwMode="auto">
          <a:xfrm>
            <a:off x="4113984" y="4414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1" name="Rectangle 3"/>
          <p:cNvSpPr>
            <a:spLocks noChangeArrowheads="1"/>
          </p:cNvSpPr>
          <p:nvPr/>
        </p:nvSpPr>
        <p:spPr bwMode="auto">
          <a:xfrm>
            <a:off x="4113984" y="3550176"/>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a:solidFill>
                  <a:srgbClr val="C00000"/>
                </a:solidFill>
              </a:rPr>
              <a:t>13</a:t>
            </a:r>
          </a:p>
        </p:txBody>
      </p:sp>
      <p:sp>
        <p:nvSpPr>
          <p:cNvPr id="46" name="Rectangle 3"/>
          <p:cNvSpPr>
            <a:spLocks noChangeArrowheads="1"/>
          </p:cNvSpPr>
          <p:nvPr/>
        </p:nvSpPr>
        <p:spPr bwMode="auto">
          <a:xfrm>
            <a:off x="4545984" y="3980448"/>
            <a:ext cx="518400" cy="518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15000"/>
              </a:spcBef>
              <a:buSzPct val="95000"/>
              <a:buFont typeface="Wingdings" panose="05000000000000000000" pitchFamily="2" charset="2"/>
              <a:buChar char="F"/>
              <a:defRPr sz="2400" b="1">
                <a:solidFill>
                  <a:schemeClr val="tx1"/>
                </a:solidFill>
                <a:latin typeface="Times New Roman" panose="02020603050405020304" pitchFamily="18" charset="0"/>
                <a:ea typeface="宋体" panose="02010600030101010101" pitchFamily="2" charset="-122"/>
              </a:defRPr>
            </a:lvl1pPr>
            <a:lvl2pPr marL="742950" indent="-285750">
              <a:spcBef>
                <a:spcPct val="15000"/>
              </a:spcBef>
              <a:buSzPct val="95000"/>
              <a:buFont typeface="Wingdings" panose="05000000000000000000" pitchFamily="2" charset="2"/>
              <a:buChar char="¯"/>
              <a:defRPr sz="2200" b="1">
                <a:solidFill>
                  <a:schemeClr val="tx1"/>
                </a:solidFill>
                <a:latin typeface="Times New Roman" panose="02020603050405020304" pitchFamily="18" charset="0"/>
                <a:ea typeface="宋体" panose="02010600030101010101" pitchFamily="2" charset="-122"/>
              </a:defRPr>
            </a:lvl2pPr>
            <a:lvl3pPr marL="1143000" indent="-228600">
              <a:spcBef>
                <a:spcPct val="15000"/>
              </a:spcBef>
              <a:buSzPct val="95000"/>
              <a:buFont typeface="Wingdings" panose="05000000000000000000" pitchFamily="2" charset="2"/>
              <a:buChar char="Ø"/>
              <a:defRPr sz="2200" b="1">
                <a:solidFill>
                  <a:schemeClr val="tx1"/>
                </a:solidFill>
                <a:latin typeface="Times New Roman" panose="02020603050405020304" pitchFamily="18" charset="0"/>
                <a:ea typeface="宋体" panose="02010600030101010101" pitchFamily="2" charset="-122"/>
              </a:defRPr>
            </a:lvl3pPr>
            <a:lvl4pPr marL="1600200" indent="-228600">
              <a:spcBef>
                <a:spcPct val="15000"/>
              </a:spcBef>
              <a:buSzPct val="95000"/>
              <a:buFont typeface="Wingdings" panose="05000000000000000000" pitchFamily="2" charset="2"/>
              <a:buChar char="Ø"/>
              <a:defRPr sz="2000" b="1">
                <a:solidFill>
                  <a:schemeClr val="tx1"/>
                </a:solidFill>
                <a:latin typeface="Times New Roman" panose="02020603050405020304" pitchFamily="18"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SzTx/>
              <a:buFont typeface="Arial" panose="020B0604020202020204" pitchFamily="34" charset="0"/>
              <a:buNone/>
            </a:pPr>
            <a:r>
              <a:rPr lang="en-US" altLang="zh-CN" sz="3265" dirty="0"/>
              <a:t>13</a:t>
            </a:r>
          </a:p>
        </p:txBody>
      </p:sp>
      <p:sp>
        <p:nvSpPr>
          <p:cNvPr id="175" name="矩形 174"/>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sp>
        <p:nvSpPr>
          <p:cNvPr id="48" name="文本框 47">
            <a:extLst>
              <a:ext uri="{FF2B5EF4-FFF2-40B4-BE49-F238E27FC236}">
                <a16:creationId xmlns:a16="http://schemas.microsoft.com/office/drawing/2014/main" id="{C63857A8-C09A-8F1F-4EDF-2C8951B50CFC}"/>
              </a:ext>
            </a:extLst>
          </p:cNvPr>
          <p:cNvSpPr txBox="1"/>
          <p:nvPr/>
        </p:nvSpPr>
        <p:spPr>
          <a:xfrm>
            <a:off x="6045832" y="978611"/>
            <a:ext cx="4412203" cy="2031325"/>
          </a:xfrm>
          <a:prstGeom prst="rect">
            <a:avLst/>
          </a:prstGeom>
          <a:noFill/>
        </p:spPr>
        <p:txBody>
          <a:bodyPr wrap="square" rtlCol="0">
            <a:spAutoFit/>
          </a:bodyPr>
          <a:lstStyle/>
          <a:p>
            <a:r>
              <a:rPr lang="zh-CN" altLang="en-US" dirty="0"/>
              <a:t>试一试：创建一个队列，把起点位置入队。之后重复如下操作：</a:t>
            </a:r>
            <a:endParaRPr lang="en-US" altLang="zh-CN" dirty="0"/>
          </a:p>
          <a:p>
            <a:pPr marL="342900" indent="-342900">
              <a:buAutoNum type="arabicPeriod"/>
            </a:pPr>
            <a:r>
              <a:rPr lang="zh-CN" altLang="en-US" dirty="0"/>
              <a:t>从队列里取出（出队）一个位置。</a:t>
            </a:r>
            <a:endParaRPr lang="en-US" altLang="zh-CN" dirty="0"/>
          </a:p>
          <a:p>
            <a:pPr marL="342900" indent="-342900">
              <a:buAutoNum type="arabicPeriod"/>
            </a:pPr>
            <a:r>
              <a:rPr lang="zh-CN" altLang="en-US" dirty="0"/>
              <a:t>把该位置能够一步到达的所有从未入队的位置入队。</a:t>
            </a:r>
            <a:endParaRPr lang="en-US" altLang="zh-CN" dirty="0"/>
          </a:p>
          <a:p>
            <a:r>
              <a:rPr lang="zh-CN" altLang="en-US" dirty="0"/>
              <a:t>直到队列为空。</a:t>
            </a:r>
            <a:endParaRPr lang="en-US" altLang="zh-CN" dirty="0"/>
          </a:p>
          <a:p>
            <a:r>
              <a:rPr lang="zh-CN" altLang="en-US" dirty="0"/>
              <a:t>观察一下入队的所有位置顺序特点。</a:t>
            </a:r>
          </a:p>
        </p:txBody>
      </p:sp>
      <p:sp>
        <p:nvSpPr>
          <p:cNvPr id="53" name="文本框 52">
            <a:extLst>
              <a:ext uri="{FF2B5EF4-FFF2-40B4-BE49-F238E27FC236}">
                <a16:creationId xmlns:a16="http://schemas.microsoft.com/office/drawing/2014/main" id="{E4E32E3B-671D-E4B6-7E61-263044C5AD3A}"/>
              </a:ext>
            </a:extLst>
          </p:cNvPr>
          <p:cNvSpPr txBox="1"/>
          <p:nvPr/>
        </p:nvSpPr>
        <p:spPr>
          <a:xfrm>
            <a:off x="6001056" y="3102798"/>
            <a:ext cx="5794934" cy="3693319"/>
          </a:xfrm>
          <a:prstGeom prst="rect">
            <a:avLst/>
          </a:prstGeom>
          <a:noFill/>
        </p:spPr>
        <p:txBody>
          <a:bodyPr wrap="square" rtlCol="0">
            <a:spAutoFit/>
          </a:bodyPr>
          <a:lstStyle/>
          <a:p>
            <a:r>
              <a:rPr lang="zh-CN" altLang="en-US" dirty="0"/>
              <a:t>如果终点入队了，说明存在一条从起点到终点的路径，即解决了第一个问题。</a:t>
            </a:r>
            <a:endParaRPr lang="en-US" altLang="zh-CN" dirty="0"/>
          </a:p>
          <a:p>
            <a:endParaRPr lang="en-US" altLang="zh-CN" dirty="0"/>
          </a:p>
          <a:p>
            <a:r>
              <a:rPr lang="zh-CN" altLang="en-US" dirty="0"/>
              <a:t>我们可以使用一个二维数组</a:t>
            </a:r>
            <a:r>
              <a:rPr lang="en-US" altLang="zh-CN" dirty="0"/>
              <a:t>dis[10][10]</a:t>
            </a:r>
            <a:r>
              <a:rPr lang="zh-CN" altLang="en-US" dirty="0"/>
              <a:t>，</a:t>
            </a:r>
            <a:r>
              <a:rPr lang="en-US" altLang="zh-CN" dirty="0"/>
              <a:t>dis[</a:t>
            </a:r>
            <a:r>
              <a:rPr lang="en-US" altLang="zh-CN" dirty="0" err="1"/>
              <a:t>i</a:t>
            </a:r>
            <a:r>
              <a:rPr lang="en-US" altLang="zh-CN" dirty="0"/>
              <a:t>][j]</a:t>
            </a:r>
            <a:r>
              <a:rPr lang="zh-CN" altLang="en-US" dirty="0"/>
              <a:t>表示起点到位置（</a:t>
            </a:r>
            <a:r>
              <a:rPr lang="en-US" altLang="zh-CN" dirty="0" err="1"/>
              <a:t>i,j</a:t>
            </a:r>
            <a:r>
              <a:rPr lang="zh-CN" altLang="en-US" dirty="0"/>
              <a:t>）的最短距离。</a:t>
            </a:r>
            <a:endParaRPr lang="en-US" altLang="zh-CN" dirty="0"/>
          </a:p>
          <a:p>
            <a:r>
              <a:rPr lang="zh-CN" altLang="en-US" dirty="0"/>
              <a:t>那么起始位置</a:t>
            </a:r>
            <a:r>
              <a:rPr lang="en-US" altLang="zh-CN" dirty="0"/>
              <a:t>dis[1][1] = 0</a:t>
            </a:r>
            <a:r>
              <a:rPr lang="zh-CN" altLang="en-US" dirty="0"/>
              <a:t>。</a:t>
            </a:r>
            <a:endParaRPr lang="en-US" altLang="zh-CN" dirty="0"/>
          </a:p>
          <a:p>
            <a:r>
              <a:rPr lang="zh-CN" altLang="en-US" dirty="0"/>
              <a:t>每次从队列里取出一个位置时，把该位置能够一步到达的所有从未入队的位置的最短距离更新一下即可。</a:t>
            </a:r>
            <a:endParaRPr lang="en-US" altLang="zh-CN" dirty="0"/>
          </a:p>
          <a:p>
            <a:r>
              <a:rPr lang="zh-CN" altLang="en-US" dirty="0"/>
              <a:t>例：从队列取出位置为（</a:t>
            </a:r>
            <a:r>
              <a:rPr lang="en-US" altLang="zh-CN" dirty="0"/>
              <a:t>1</a:t>
            </a:r>
            <a:r>
              <a:rPr lang="zh-CN" altLang="en-US" dirty="0"/>
              <a:t>，</a:t>
            </a:r>
            <a:r>
              <a:rPr lang="en-US" altLang="zh-CN" dirty="0"/>
              <a:t>1</a:t>
            </a:r>
            <a:r>
              <a:rPr lang="zh-CN" altLang="en-US" dirty="0"/>
              <a:t>），该位置能一步到达的所有从未入队的位置为（</a:t>
            </a:r>
            <a:r>
              <a:rPr lang="en-US" altLang="zh-CN" dirty="0"/>
              <a:t>1</a:t>
            </a:r>
            <a:r>
              <a:rPr lang="zh-CN" altLang="en-US" dirty="0"/>
              <a:t>，</a:t>
            </a:r>
            <a:r>
              <a:rPr lang="en-US" altLang="zh-CN" dirty="0"/>
              <a:t>2</a:t>
            </a:r>
            <a:r>
              <a:rPr lang="zh-CN" altLang="en-US" dirty="0"/>
              <a:t>）和（</a:t>
            </a:r>
            <a:r>
              <a:rPr lang="en-US" altLang="zh-CN" dirty="0"/>
              <a:t>2</a:t>
            </a:r>
            <a:r>
              <a:rPr lang="zh-CN" altLang="en-US" dirty="0"/>
              <a:t>，</a:t>
            </a:r>
            <a:r>
              <a:rPr lang="en-US" altLang="zh-CN" dirty="0"/>
              <a:t>1</a:t>
            </a:r>
            <a:r>
              <a:rPr lang="zh-CN" altLang="en-US" dirty="0"/>
              <a:t>），那么：</a:t>
            </a:r>
            <a:endParaRPr lang="en-US" altLang="zh-CN" dirty="0"/>
          </a:p>
          <a:p>
            <a:r>
              <a:rPr lang="en-US" altLang="zh-CN" dirty="0"/>
              <a:t>dis[1][2] = dis[2][1] = dis[1][1] + 1</a:t>
            </a:r>
            <a:r>
              <a:rPr lang="zh-CN" altLang="en-US" dirty="0"/>
              <a:t>。</a:t>
            </a:r>
            <a:endParaRPr lang="en-US" altLang="zh-CN" dirty="0"/>
          </a:p>
          <a:p>
            <a:r>
              <a:rPr lang="zh-CN" altLang="en-US" dirty="0"/>
              <a:t>这样终点（</a:t>
            </a:r>
            <a:r>
              <a:rPr lang="en-US" altLang="zh-CN" dirty="0"/>
              <a:t>5</a:t>
            </a:r>
            <a:r>
              <a:rPr lang="zh-CN" altLang="en-US" dirty="0"/>
              <a:t>，</a:t>
            </a:r>
            <a:r>
              <a:rPr lang="en-US" altLang="zh-CN" dirty="0"/>
              <a:t>8</a:t>
            </a:r>
            <a:r>
              <a:rPr lang="zh-CN" altLang="en-US" dirty="0"/>
              <a:t>）距离起点的最短距离就为</a:t>
            </a:r>
            <a:r>
              <a:rPr lang="en-US" altLang="zh-CN" dirty="0"/>
              <a:t>dis[5][8]</a:t>
            </a:r>
            <a:r>
              <a:rPr lang="zh-CN" altLang="en-US" dirty="0"/>
              <a:t>。</a:t>
            </a:r>
            <a:endParaRPr lang="en-US" altLang="zh-CN" dirty="0"/>
          </a:p>
          <a:p>
            <a:r>
              <a:rPr lang="zh-CN" altLang="en-US" dirty="0"/>
              <a:t>解决了第二个问题。</a:t>
            </a:r>
            <a:endParaRPr lang="en-US" altLang="zh-CN" dirty="0"/>
          </a:p>
        </p:txBody>
      </p:sp>
      <p:sp>
        <p:nvSpPr>
          <p:cNvPr id="3" name="文本框 2">
            <a:extLst>
              <a:ext uri="{FF2B5EF4-FFF2-40B4-BE49-F238E27FC236}">
                <a16:creationId xmlns:a16="http://schemas.microsoft.com/office/drawing/2014/main" id="{815DC494-BD6C-C0DD-21EC-7DE03FF00600}"/>
              </a:ext>
            </a:extLst>
          </p:cNvPr>
          <p:cNvSpPr txBox="1"/>
          <p:nvPr/>
        </p:nvSpPr>
        <p:spPr>
          <a:xfrm>
            <a:off x="673756" y="6374167"/>
            <a:ext cx="5167751" cy="646331"/>
          </a:xfrm>
          <a:prstGeom prst="rect">
            <a:avLst/>
          </a:prstGeom>
          <a:noFill/>
        </p:spPr>
        <p:txBody>
          <a:bodyPr wrap="square" rtlCol="0">
            <a:spAutoFit/>
          </a:bodyPr>
          <a:lstStyle/>
          <a:p>
            <a:r>
              <a:rPr lang="zh-CN" altLang="en-US" dirty="0"/>
              <a:t>可以观察到：永远是距离起点最近的位置先入队！</a:t>
            </a:r>
            <a:endParaRPr lang="en-US" altLang="zh-CN" dirty="0"/>
          </a:p>
          <a:p>
            <a:endParaRPr lang="zh-CN" altLang="en-US" dirty="0"/>
          </a:p>
        </p:txBody>
      </p:sp>
    </p:spTree>
    <p:extLst>
      <p:ext uri="{BB962C8B-B14F-4D97-AF65-F5344CB8AC3E}">
        <p14:creationId xmlns:p14="http://schemas.microsoft.com/office/powerpoint/2010/main" val="1550619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bwMode="auto">
          <a:xfrm>
            <a:off x="903260" y="195785"/>
            <a:ext cx="8593914" cy="678482"/>
          </a:xfrm>
          <a:prstGeom prst="rect">
            <a:avLst/>
          </a:prstGeom>
        </p:spPr>
        <p:txBody>
          <a:bodyPr wrap="square" lIns="91276" tIns="45638" rIns="91276" bIns="45638">
            <a:spAutoFit/>
          </a:bodyPr>
          <a:lstStyle/>
          <a:p>
            <a:pPr>
              <a:defRPr/>
            </a:pPr>
            <a:r>
              <a:rPr lang="en-US" altLang="zh-CN" sz="3810" b="1" dirty="0">
                <a:solidFill>
                  <a:srgbClr val="284C8A"/>
                </a:solidFill>
                <a:latin typeface="Times New Roman" panose="02020603050405020304" pitchFamily="18" charset="0"/>
                <a:cs typeface="Times New Roman" panose="02020603050405020304" pitchFamily="18" charset="0"/>
              </a:rPr>
              <a:t>1.</a:t>
            </a:r>
            <a:r>
              <a:rPr lang="en-US" altLang="zh-CN" sz="3810" b="1" dirty="0">
                <a:solidFill>
                  <a:srgbClr val="284C8A"/>
                </a:solidFill>
                <a:latin typeface="+mn-ea"/>
              </a:rPr>
              <a:t> </a:t>
            </a:r>
            <a:r>
              <a:rPr lang="zh-CN" altLang="en-US" sz="3810" b="1" dirty="0">
                <a:solidFill>
                  <a:srgbClr val="284C8A"/>
                </a:solidFill>
                <a:latin typeface="+mn-ea"/>
              </a:rPr>
              <a:t>数据结构基础</a:t>
            </a:r>
            <a:r>
              <a:rPr lang="en-US" altLang="zh-CN" sz="3810" b="1" dirty="0">
                <a:solidFill>
                  <a:srgbClr val="284C8A"/>
                </a:solidFill>
                <a:latin typeface="+mn-ea"/>
              </a:rPr>
              <a:t>—</a:t>
            </a:r>
            <a:r>
              <a:rPr lang="zh-CN" altLang="en-US" sz="3810" b="1" dirty="0">
                <a:solidFill>
                  <a:srgbClr val="284C8A"/>
                </a:solidFill>
                <a:latin typeface="+mn-ea"/>
              </a:rPr>
              <a:t>队列</a:t>
            </a:r>
            <a:endParaRPr lang="zh-CN" altLang="en-US" sz="3810" b="1" dirty="0">
              <a:solidFill>
                <a:srgbClr val="284C8A"/>
              </a:solidFill>
              <a:latin typeface="+mn-ea"/>
              <a:sym typeface="inpin heiti" panose="00000500000000000000" pitchFamily="2" charset="-122"/>
            </a:endParaRPr>
          </a:p>
        </p:txBody>
      </p:sp>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22" name="Rectangle 3"/>
          <p:cNvSpPr txBox="1">
            <a:spLocks noChangeArrowheads="1"/>
          </p:cNvSpPr>
          <p:nvPr/>
        </p:nvSpPr>
        <p:spPr>
          <a:xfrm>
            <a:off x="1099212" y="1039245"/>
            <a:ext cx="9699648" cy="4839161"/>
          </a:xfrm>
          <a:prstGeom prst="rect">
            <a:avLst/>
          </a:prstGeom>
        </p:spPr>
        <p:txBody>
          <a:bodyPr vert="horz" lIns="109162" tIns="54582" rIns="109162" bIns="54582" rtlCol="0">
            <a:normAutofit/>
          </a:bodyPr>
          <a:lstStyle>
            <a:lvl1pPr marL="300990" indent="-300990" algn="l" defTabSz="802005"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1pPr>
            <a:lvl2pPr marL="652145" indent="-250825" algn="l" defTabSz="802005" rtl="0" eaLnBrk="1" latinLnBrk="0" hangingPunct="1">
              <a:spcBef>
                <a:spcPct val="20000"/>
              </a:spcBef>
              <a:buFont typeface="Arial" panose="020B0604020202020204" pitchFamily="34" charset="0"/>
              <a:buChar char="–"/>
              <a:defRPr sz="2500" kern="1200">
                <a:solidFill>
                  <a:schemeClr val="tx1"/>
                </a:solidFill>
                <a:latin typeface="+mn-lt"/>
                <a:ea typeface="+mn-ea"/>
                <a:cs typeface="+mn-cs"/>
              </a:defRPr>
            </a:lvl2pPr>
            <a:lvl3pPr marL="1002665" indent="-200660" algn="l" defTabSz="802005"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3pPr>
            <a:lvl4pPr marL="140398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805305"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20599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60731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00863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409950" indent="-200660" algn="l" defTabSz="802005"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zh-CN" altLang="en-US" sz="2993" b="1" dirty="0"/>
              <a:t>队列（</a:t>
            </a:r>
            <a:r>
              <a:rPr lang="en-US" altLang="zh-CN" sz="2993" b="1" dirty="0">
                <a:latin typeface="Times New Roman" panose="02020603050405020304" pitchFamily="18" charset="0"/>
                <a:cs typeface="Times New Roman" panose="02020603050405020304" pitchFamily="18" charset="0"/>
              </a:rPr>
              <a:t>queue</a:t>
            </a:r>
            <a:r>
              <a:rPr lang="zh-CN" altLang="en-US" sz="2993" b="1" dirty="0"/>
              <a:t>）</a:t>
            </a:r>
            <a:r>
              <a:rPr lang="en-US" altLang="zh-CN" sz="2993" b="1" dirty="0"/>
              <a:t>— STL</a:t>
            </a:r>
            <a:r>
              <a:rPr lang="zh-CN" altLang="en-US" sz="2993" b="1" dirty="0"/>
              <a:t>中的队列（</a:t>
            </a:r>
            <a:r>
              <a:rPr lang="en-US" altLang="zh-CN" sz="2993" b="1" dirty="0" err="1"/>
              <a:t>c++</a:t>
            </a:r>
            <a:r>
              <a:rPr lang="zh-CN" altLang="en-US" sz="2993" b="1" dirty="0"/>
              <a:t>）</a:t>
            </a:r>
            <a:endParaRPr lang="en-US" altLang="zh-CN" sz="2993" b="1" dirty="0"/>
          </a:p>
          <a:p>
            <a:pPr lvl="1">
              <a:buFont typeface="Calibri" panose="020F0502020204030204" pitchFamily="34" charset="0"/>
              <a:buChar char="‐"/>
            </a:pPr>
            <a:r>
              <a:rPr lang="en-US" altLang="zh-CN" sz="2585" b="1" dirty="0"/>
              <a:t>#include &lt;queue&gt; //</a:t>
            </a:r>
            <a:r>
              <a:rPr lang="zh-CN" altLang="en-US" sz="2585" b="1" dirty="0"/>
              <a:t> 头文件</a:t>
            </a:r>
            <a:endParaRPr lang="en-US" altLang="zh-CN" sz="2585" b="1" dirty="0"/>
          </a:p>
          <a:p>
            <a:pPr lvl="1">
              <a:buFont typeface="Calibri" panose="020F0502020204030204" pitchFamily="34" charset="0"/>
              <a:buChar char="‐"/>
            </a:pPr>
            <a:r>
              <a:rPr lang="en-US" altLang="zh-CN" sz="2585" b="1" dirty="0"/>
              <a:t>Using namespace std; // </a:t>
            </a:r>
            <a:r>
              <a:rPr lang="zh-CN" altLang="en-US" sz="2585" b="1" dirty="0"/>
              <a:t>使用</a:t>
            </a:r>
            <a:r>
              <a:rPr lang="en-US" altLang="zh-CN" sz="2585" b="1" dirty="0"/>
              <a:t>std</a:t>
            </a:r>
            <a:r>
              <a:rPr lang="zh-CN" altLang="en-US" sz="2585" b="1" dirty="0"/>
              <a:t>命名空间</a:t>
            </a:r>
            <a:endParaRPr lang="en-US" altLang="zh-CN" sz="2585" b="1" dirty="0"/>
          </a:p>
          <a:p>
            <a:pPr lvl="1">
              <a:buFont typeface="Calibri" panose="020F0502020204030204" pitchFamily="34" charset="0"/>
              <a:buChar char="‐"/>
            </a:pPr>
            <a:r>
              <a:rPr lang="en-US" altLang="zh-CN" sz="2585" b="1" dirty="0"/>
              <a:t>queue&lt;int&gt;  q;   // </a:t>
            </a:r>
            <a:r>
              <a:rPr lang="zh-CN" altLang="en-US" sz="2585" b="1" dirty="0"/>
              <a:t>创建一个存放整数的空队列</a:t>
            </a:r>
            <a:r>
              <a:rPr lang="en-US" altLang="zh-CN" sz="2585" b="1" dirty="0"/>
              <a:t>q</a:t>
            </a:r>
          </a:p>
          <a:p>
            <a:pPr lvl="1">
              <a:buFont typeface="Calibri" panose="020F0502020204030204" pitchFamily="34" charset="0"/>
              <a:buChar char="‐"/>
            </a:pPr>
            <a:r>
              <a:rPr lang="en-US" altLang="zh-CN" sz="2585" b="1" dirty="0" err="1"/>
              <a:t>q.empty</a:t>
            </a:r>
            <a:r>
              <a:rPr lang="en-US" altLang="zh-CN" sz="2585" b="1" dirty="0"/>
              <a:t>()                   // </a:t>
            </a:r>
            <a:r>
              <a:rPr lang="zh-CN" altLang="en-US" sz="2585" b="1" dirty="0"/>
              <a:t>判断队列</a:t>
            </a:r>
            <a:r>
              <a:rPr lang="en-US" altLang="zh-CN" sz="2585" b="1" dirty="0"/>
              <a:t>q</a:t>
            </a:r>
            <a:r>
              <a:rPr lang="zh-CN" altLang="en-US" sz="2585" b="1" dirty="0"/>
              <a:t>是否为空</a:t>
            </a:r>
            <a:endParaRPr lang="en-US" altLang="zh-CN" sz="2585" b="1" dirty="0"/>
          </a:p>
          <a:p>
            <a:pPr lvl="1">
              <a:buFont typeface="Calibri" panose="020F0502020204030204" pitchFamily="34" charset="0"/>
              <a:buChar char="‐"/>
            </a:pPr>
            <a:r>
              <a:rPr lang="en-US" altLang="zh-CN" sz="2585" b="1" dirty="0" err="1"/>
              <a:t>q.push</a:t>
            </a:r>
            <a:r>
              <a:rPr lang="en-US" altLang="zh-CN" sz="2585" b="1" dirty="0"/>
              <a:t>(10)                 //</a:t>
            </a:r>
            <a:r>
              <a:rPr lang="zh-CN" altLang="en-US" sz="2585" b="1" dirty="0"/>
              <a:t>整数</a:t>
            </a:r>
            <a:r>
              <a:rPr lang="en-US" altLang="zh-CN" sz="2585" b="1" dirty="0"/>
              <a:t>10</a:t>
            </a:r>
            <a:r>
              <a:rPr lang="zh-CN" altLang="en-US" sz="2585" b="1" dirty="0"/>
              <a:t>入队列</a:t>
            </a:r>
            <a:r>
              <a:rPr lang="en-US" altLang="zh-CN" sz="2585" b="1" dirty="0"/>
              <a:t>q</a:t>
            </a:r>
          </a:p>
          <a:p>
            <a:pPr lvl="1">
              <a:buFont typeface="Calibri" panose="020F0502020204030204" pitchFamily="34" charset="0"/>
              <a:buChar char="‐"/>
            </a:pPr>
            <a:r>
              <a:rPr lang="en-US" altLang="zh-CN" sz="2585" b="1" dirty="0" err="1"/>
              <a:t>q.pop</a:t>
            </a:r>
            <a:r>
              <a:rPr lang="en-US" altLang="zh-CN" sz="2585" b="1" dirty="0"/>
              <a:t>()                       //</a:t>
            </a:r>
            <a:r>
              <a:rPr lang="zh-CN" altLang="en-US" sz="2585" b="1" dirty="0"/>
              <a:t>取出非空队列</a:t>
            </a:r>
            <a:r>
              <a:rPr lang="en-US" altLang="zh-CN" sz="2585" b="1" dirty="0"/>
              <a:t>q</a:t>
            </a:r>
            <a:r>
              <a:rPr lang="zh-CN" altLang="en-US" sz="2585" b="1" dirty="0"/>
              <a:t>的队头元素（出队列）</a:t>
            </a:r>
            <a:endParaRPr lang="en-US" altLang="zh-CN" sz="2585" b="1" dirty="0"/>
          </a:p>
          <a:p>
            <a:pPr lvl="1">
              <a:buFont typeface="Calibri" panose="020F0502020204030204" pitchFamily="34" charset="0"/>
              <a:buChar char="‐"/>
            </a:pPr>
            <a:r>
              <a:rPr lang="en-US" altLang="zh-CN" sz="2585" b="1" dirty="0" err="1"/>
              <a:t>q.front</a:t>
            </a:r>
            <a:r>
              <a:rPr lang="en-US" altLang="zh-CN" sz="2585" b="1" dirty="0"/>
              <a:t>()                    //</a:t>
            </a:r>
            <a:r>
              <a:rPr lang="zh-CN" altLang="en-US" sz="2585" b="1" dirty="0"/>
              <a:t>访问非空队列</a:t>
            </a:r>
            <a:r>
              <a:rPr lang="en-US" altLang="zh-CN" sz="2585" b="1" dirty="0"/>
              <a:t>q</a:t>
            </a:r>
            <a:r>
              <a:rPr lang="zh-CN" altLang="en-US" sz="2585" b="1" dirty="0"/>
              <a:t>的队头元素（不出队列）</a:t>
            </a:r>
            <a:endParaRPr lang="en-US" altLang="zh-CN" sz="2585" b="1" dirty="0"/>
          </a:p>
          <a:p>
            <a:pPr lvl="1">
              <a:buFont typeface="Calibri" panose="020F0502020204030204" pitchFamily="34" charset="0"/>
              <a:buChar char="‐"/>
            </a:pPr>
            <a:r>
              <a:rPr lang="en-US" altLang="zh-CN" sz="2585" b="1" dirty="0" err="1"/>
              <a:t>q.size</a:t>
            </a:r>
            <a:r>
              <a:rPr lang="en-US" altLang="zh-CN" sz="2585" b="1" dirty="0"/>
              <a:t>()                      //</a:t>
            </a:r>
            <a:r>
              <a:rPr lang="zh-CN" altLang="en-US" sz="2585" b="1" dirty="0"/>
              <a:t>队列</a:t>
            </a:r>
            <a:r>
              <a:rPr lang="en-US" altLang="zh-CN" sz="2585" b="1" dirty="0"/>
              <a:t>q</a:t>
            </a:r>
            <a:r>
              <a:rPr lang="zh-CN" altLang="en-US" sz="2585" b="1" dirty="0"/>
              <a:t>的长度（队列的元素个数）</a:t>
            </a:r>
            <a:endParaRPr lang="en-US" altLang="zh-CN" sz="2585" b="1" dirty="0"/>
          </a:p>
        </p:txBody>
      </p:sp>
    </p:spTree>
    <p:extLst>
      <p:ext uri="{BB962C8B-B14F-4D97-AF65-F5344CB8AC3E}">
        <p14:creationId xmlns:p14="http://schemas.microsoft.com/office/powerpoint/2010/main" val="294693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rotWithShape="1">
          <a:blip r:embed="rId3"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7" name="矩形 16"/>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8" name="矩形 17"/>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9" name="直接连接符 18"/>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sp>
        <p:nvSpPr>
          <p:cNvPr id="169" name="矩形 168"/>
          <p:cNvSpPr/>
          <p:nvPr/>
        </p:nvSpPr>
        <p:spPr bwMode="auto">
          <a:xfrm>
            <a:off x="903260" y="195785"/>
            <a:ext cx="8593914" cy="678482"/>
          </a:xfrm>
          <a:prstGeom prst="rect">
            <a:avLst/>
          </a:prstGeom>
        </p:spPr>
        <p:txBody>
          <a:bodyPr wrap="square" lIns="91276" tIns="45638" rIns="91276" bIns="45638">
            <a:spAutoFit/>
          </a:bodyPr>
          <a:lstStyle/>
          <a:p>
            <a:pPr>
              <a:defRPr/>
            </a:pPr>
            <a:r>
              <a:rPr lang="zh-CN" altLang="en-US" sz="3810" b="1" dirty="0">
                <a:solidFill>
                  <a:srgbClr val="284C8A"/>
                </a:solidFill>
                <a:latin typeface="Times New Roman" panose="02020603050405020304" pitchFamily="18" charset="0"/>
                <a:cs typeface="Times New Roman" panose="02020603050405020304" pitchFamily="18" charset="0"/>
              </a:rPr>
              <a:t>迷宫问题（二续）</a:t>
            </a:r>
          </a:p>
        </p:txBody>
      </p:sp>
      <p:pic>
        <p:nvPicPr>
          <p:cNvPr id="11" name="图片 10">
            <a:extLst>
              <a:ext uri="{FF2B5EF4-FFF2-40B4-BE49-F238E27FC236}">
                <a16:creationId xmlns:a16="http://schemas.microsoft.com/office/drawing/2014/main" id="{82C012E8-6F84-62FE-57AF-7EF8F6AA74F4}"/>
              </a:ext>
            </a:extLst>
          </p:cNvPr>
          <p:cNvPicPr>
            <a:picLocks noChangeAspect="1"/>
          </p:cNvPicPr>
          <p:nvPr/>
        </p:nvPicPr>
        <p:blipFill>
          <a:blip r:embed="rId4"/>
          <a:stretch>
            <a:fillRect/>
          </a:stretch>
        </p:blipFill>
        <p:spPr>
          <a:xfrm>
            <a:off x="396602" y="1494829"/>
            <a:ext cx="5172075" cy="4905375"/>
          </a:xfrm>
          <a:prstGeom prst="rect">
            <a:avLst/>
          </a:prstGeom>
        </p:spPr>
      </p:pic>
      <p:pic>
        <p:nvPicPr>
          <p:cNvPr id="43" name="图片 42">
            <a:extLst>
              <a:ext uri="{FF2B5EF4-FFF2-40B4-BE49-F238E27FC236}">
                <a16:creationId xmlns:a16="http://schemas.microsoft.com/office/drawing/2014/main" id="{DCE46163-434C-3703-2028-B32015C99FCE}"/>
              </a:ext>
            </a:extLst>
          </p:cNvPr>
          <p:cNvPicPr>
            <a:picLocks noChangeAspect="1"/>
          </p:cNvPicPr>
          <p:nvPr/>
        </p:nvPicPr>
        <p:blipFill>
          <a:blip r:embed="rId5"/>
          <a:stretch>
            <a:fillRect/>
          </a:stretch>
        </p:blipFill>
        <p:spPr>
          <a:xfrm>
            <a:off x="5568677" y="1079705"/>
            <a:ext cx="6393065" cy="5641415"/>
          </a:xfrm>
          <a:prstGeom prst="rect">
            <a:avLst/>
          </a:prstGeom>
        </p:spPr>
      </p:pic>
      <p:sp>
        <p:nvSpPr>
          <p:cNvPr id="44" name="文本框 43">
            <a:extLst>
              <a:ext uri="{FF2B5EF4-FFF2-40B4-BE49-F238E27FC236}">
                <a16:creationId xmlns:a16="http://schemas.microsoft.com/office/drawing/2014/main" id="{158829DE-6A01-C4FB-1031-481CB294D757}"/>
              </a:ext>
            </a:extLst>
          </p:cNvPr>
          <p:cNvSpPr txBox="1"/>
          <p:nvPr/>
        </p:nvSpPr>
        <p:spPr>
          <a:xfrm>
            <a:off x="673756" y="1079705"/>
            <a:ext cx="4097597" cy="369332"/>
          </a:xfrm>
          <a:prstGeom prst="rect">
            <a:avLst/>
          </a:prstGeom>
          <a:noFill/>
        </p:spPr>
        <p:txBody>
          <a:bodyPr wrap="none" rtlCol="0">
            <a:spAutoFit/>
          </a:bodyPr>
          <a:lstStyle/>
          <a:p>
            <a:r>
              <a:rPr lang="en-US" altLang="zh-CN" dirty="0"/>
              <a:t>C++</a:t>
            </a:r>
            <a:r>
              <a:rPr lang="zh-CN" altLang="en-US" dirty="0"/>
              <a:t>代码（仅供参考，不一定正确）：</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515E6E91-593A-0732-28EE-8D932E6C3804}"/>
              </a:ext>
            </a:extLst>
          </p:cNvPr>
          <p:cNvGrpSpPr/>
          <p:nvPr/>
        </p:nvGrpSpPr>
        <p:grpSpPr>
          <a:xfrm>
            <a:off x="5273195" y="794872"/>
            <a:ext cx="6918806" cy="6063130"/>
            <a:chOff x="2175164" y="1368236"/>
            <a:chExt cx="5591243" cy="4899752"/>
          </a:xfrm>
        </p:grpSpPr>
        <p:pic>
          <p:nvPicPr>
            <p:cNvPr id="9" name="Picture 2">
              <a:extLst>
                <a:ext uri="{FF2B5EF4-FFF2-40B4-BE49-F238E27FC236}">
                  <a16:creationId xmlns:a16="http://schemas.microsoft.com/office/drawing/2014/main" id="{0E79BF68-918C-11D4-EAC6-7B41D0F6BFE8}"/>
                </a:ext>
              </a:extLst>
            </p:cNvPr>
            <p:cNvPicPr>
              <a:picLocks noChangeAspect="1" noChangeArrowheads="1"/>
            </p:cNvPicPr>
            <p:nvPr/>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ackgroundRemoval t="2032" b="98871" l="2600" r="95400">
                          <a14:foregroundMark x1="62600" y1="26637" x2="62600" y2="26637"/>
                          <a14:foregroundMark x1="74000" y1="14673" x2="74000" y2="14673"/>
                          <a14:foregroundMark x1="7200" y1="6095" x2="7200" y2="6095"/>
                          <a14:foregroundMark x1="2800" y1="2032" x2="2800" y2="2032"/>
                          <a14:foregroundMark x1="72600" y1="50564" x2="72600" y2="50564"/>
                          <a14:foregroundMark x1="95400" y1="14898" x2="95400" y2="14898"/>
                          <a14:backgroundMark x1="86800" y1="57788" x2="86800" y2="57788"/>
                          <a14:backgroundMark x1="84400" y1="58014" x2="84400" y2="58014"/>
                          <a14:backgroundMark x1="84600" y1="52822" x2="77600" y2="65914"/>
                          <a14:backgroundMark x1="77600" y1="65914" x2="70600" y2="72460"/>
                          <a14:backgroundMark x1="70600" y1="72460" x2="65600" y2="85327"/>
                          <a14:backgroundMark x1="65600" y1="85327" x2="65600" y2="95260"/>
                          <a14:backgroundMark x1="65600" y1="95260" x2="75400" y2="98646"/>
                          <a14:backgroundMark x1="75400" y1="98646" x2="89600" y2="93228"/>
                          <a14:backgroundMark x1="89600" y1="93228" x2="97000" y2="74718"/>
                          <a14:backgroundMark x1="97000" y1="74718" x2="91400" y2="55982"/>
                          <a14:backgroundMark x1="91400" y1="55982" x2="83600" y2="52822"/>
                          <a14:backgroundMark x1="83800" y1="54628" x2="90000" y2="70655"/>
                          <a14:backgroundMark x1="90000" y1="70655" x2="88400" y2="81490"/>
                          <a14:backgroundMark x1="88400" y1="81490" x2="79800" y2="95034"/>
                          <a14:backgroundMark x1="79800" y1="95034" x2="73600" y2="99097"/>
                        </a14:backgroundRemoval>
                      </a14:imgEffect>
                    </a14:imgLayer>
                  </a14:imgProps>
                </a:ext>
                <a:ext uri="{28A0092B-C50C-407E-A947-70E740481C1C}">
                  <a14:useLocalDpi xmlns:a14="http://schemas.microsoft.com/office/drawing/2010/main" val="0"/>
                </a:ext>
              </a:extLst>
            </a:blip>
            <a:srcRect r="18645" b="9664"/>
            <a:stretch/>
          </p:blipFill>
          <p:spPr bwMode="auto">
            <a:xfrm>
              <a:off x="3185969" y="1761749"/>
              <a:ext cx="4580437" cy="4506239"/>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AA8BC418-365C-6955-6DBB-1957C271864D}"/>
                </a:ext>
              </a:extLst>
            </p:cNvPr>
            <p:cNvSpPr/>
            <p:nvPr/>
          </p:nvSpPr>
          <p:spPr>
            <a:xfrm>
              <a:off x="2175164" y="1368236"/>
              <a:ext cx="5591243" cy="4668982"/>
            </a:xfrm>
            <a:prstGeom prst="rect">
              <a:avLst/>
            </a:prstGeom>
            <a:solidFill>
              <a:schemeClr val="bg1">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9F257E04-81AD-BA06-5355-3EA00853A9B0}"/>
              </a:ext>
            </a:extLst>
          </p:cNvPr>
          <p:cNvSpPr>
            <a:spLocks noGrp="1"/>
          </p:cNvSpPr>
          <p:nvPr>
            <p:ph type="title"/>
          </p:nvPr>
        </p:nvSpPr>
        <p:spPr>
          <a:xfrm>
            <a:off x="4543450" y="2618879"/>
            <a:ext cx="3105100" cy="1507067"/>
          </a:xfrm>
        </p:spPr>
        <p:txBody>
          <a:bodyPr>
            <a:normAutofit/>
          </a:bodyPr>
          <a:lstStyle/>
          <a:p>
            <a:r>
              <a:rPr lang="en-US" altLang="zh-CN" sz="5400" dirty="0">
                <a:latin typeface="方正综艺简体" panose="03000509000000000000" pitchFamily="65" charset="-122"/>
                <a:ea typeface="方正综艺简体" panose="03000509000000000000" pitchFamily="65" charset="-122"/>
              </a:rPr>
              <a:t>Thanks</a:t>
            </a:r>
            <a:r>
              <a:rPr lang="zh-CN" altLang="en-US" sz="5400" dirty="0">
                <a:latin typeface="方正综艺简体" panose="03000509000000000000" pitchFamily="65" charset="-122"/>
                <a:ea typeface="方正综艺简体" panose="03000509000000000000" pitchFamily="65" charset="-122"/>
              </a:rPr>
              <a:t>！</a:t>
            </a:r>
          </a:p>
        </p:txBody>
      </p:sp>
      <p:grpSp>
        <p:nvGrpSpPr>
          <p:cNvPr id="4" name="组合 3">
            <a:extLst>
              <a:ext uri="{FF2B5EF4-FFF2-40B4-BE49-F238E27FC236}">
                <a16:creationId xmlns:a16="http://schemas.microsoft.com/office/drawing/2014/main" id="{358410DD-4B19-E89C-7608-5E90C92BD6DD}"/>
              </a:ext>
            </a:extLst>
          </p:cNvPr>
          <p:cNvGrpSpPr/>
          <p:nvPr/>
        </p:nvGrpSpPr>
        <p:grpSpPr>
          <a:xfrm>
            <a:off x="119449" y="136880"/>
            <a:ext cx="12072071" cy="6435559"/>
            <a:chOff x="119449" y="136880"/>
            <a:chExt cx="12072071" cy="6435559"/>
          </a:xfrm>
        </p:grpSpPr>
        <p:pic>
          <p:nvPicPr>
            <p:cNvPr id="11" name="图片 10">
              <a:extLst>
                <a:ext uri="{FF2B5EF4-FFF2-40B4-BE49-F238E27FC236}">
                  <a16:creationId xmlns:a16="http://schemas.microsoft.com/office/drawing/2014/main" id="{15CC6AD3-EC68-0944-35D1-1F0212D7803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704" r="14439" b="37513"/>
            <a:stretch>
              <a:fillRect/>
            </a:stretch>
          </p:blipFill>
          <p:spPr>
            <a:xfrm>
              <a:off x="10993710" y="136880"/>
              <a:ext cx="784912" cy="744738"/>
            </a:xfrm>
            <a:prstGeom prst="rect">
              <a:avLst/>
            </a:prstGeom>
          </p:spPr>
        </p:pic>
        <p:sp>
          <p:nvSpPr>
            <p:cNvPr id="12" name="矩形 11">
              <a:extLst>
                <a:ext uri="{FF2B5EF4-FFF2-40B4-BE49-F238E27FC236}">
                  <a16:creationId xmlns:a16="http://schemas.microsoft.com/office/drawing/2014/main" id="{FCC0170E-094B-2264-7F39-F639D218BEDE}"/>
                </a:ext>
              </a:extLst>
            </p:cNvPr>
            <p:cNvSpPr/>
            <p:nvPr/>
          </p:nvSpPr>
          <p:spPr>
            <a:xfrm>
              <a:off x="119449" y="195784"/>
              <a:ext cx="554307" cy="554307"/>
            </a:xfrm>
            <a:prstGeom prst="rect">
              <a:avLst/>
            </a:prstGeom>
            <a:solidFill>
              <a:srgbClr val="E935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sp>
          <p:nvSpPr>
            <p:cNvPr id="13" name="矩形 12">
              <a:extLst>
                <a:ext uri="{FF2B5EF4-FFF2-40B4-BE49-F238E27FC236}">
                  <a16:creationId xmlns:a16="http://schemas.microsoft.com/office/drawing/2014/main" id="{FCC4D864-7D20-5798-7685-63BBD47C984A}"/>
                </a:ext>
              </a:extLst>
            </p:cNvPr>
            <p:cNvSpPr/>
            <p:nvPr/>
          </p:nvSpPr>
          <p:spPr>
            <a:xfrm>
              <a:off x="385467" y="489713"/>
              <a:ext cx="391905" cy="391905"/>
            </a:xfrm>
            <a:prstGeom prst="rect">
              <a:avLst/>
            </a:prstGeom>
            <a:noFill/>
            <a:ln>
              <a:solidFill>
                <a:srgbClr val="284C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49">
                <a:latin typeface="inpin heiti" panose="00000500000000000000" pitchFamily="2" charset="-122"/>
                <a:ea typeface="inpin heiti" panose="00000500000000000000" pitchFamily="2" charset="-122"/>
                <a:sym typeface="inpin heiti" panose="00000500000000000000" pitchFamily="2" charset="-122"/>
              </a:endParaRPr>
            </a:p>
          </p:txBody>
        </p:sp>
        <p:cxnSp>
          <p:nvCxnSpPr>
            <p:cNvPr id="14" name="直接连接符 13">
              <a:extLst>
                <a:ext uri="{FF2B5EF4-FFF2-40B4-BE49-F238E27FC236}">
                  <a16:creationId xmlns:a16="http://schemas.microsoft.com/office/drawing/2014/main" id="{B155E056-1CBC-E687-C3C0-30C6696C7FE5}"/>
                </a:ext>
              </a:extLst>
            </p:cNvPr>
            <p:cNvCxnSpPr/>
            <p:nvPr/>
          </p:nvCxnSpPr>
          <p:spPr>
            <a:xfrm>
              <a:off x="473204" y="881618"/>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353AC260-EC86-5F1F-0B32-8B7AF772D454}"/>
                </a:ext>
              </a:extLst>
            </p:cNvPr>
            <p:cNvCxnSpPr/>
            <p:nvPr/>
          </p:nvCxnSpPr>
          <p:spPr>
            <a:xfrm>
              <a:off x="290922" y="6572439"/>
              <a:ext cx="11718316" cy="0"/>
            </a:xfrm>
            <a:prstGeom prst="line">
              <a:avLst/>
            </a:prstGeom>
            <a:ln>
              <a:solidFill>
                <a:srgbClr val="284C8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7938086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1632</TotalTime>
  <Words>5064</Words>
  <Application>Microsoft Office PowerPoint</Application>
  <PresentationFormat>宽屏</PresentationFormat>
  <Paragraphs>1156</Paragraphs>
  <Slides>43</Slides>
  <Notes>31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43</vt:i4>
      </vt:variant>
    </vt:vector>
  </HeadingPairs>
  <TitlesOfParts>
    <vt:vector size="54" baseType="lpstr">
      <vt:lpstr>inpin heiti</vt:lpstr>
      <vt:lpstr>等线 Light</vt:lpstr>
      <vt:lpstr>Arial</vt:lpstr>
      <vt:lpstr>Tahoma</vt:lpstr>
      <vt:lpstr>Calibri</vt:lpstr>
      <vt:lpstr>华文楷体</vt:lpstr>
      <vt:lpstr>方正综艺简体</vt:lpstr>
      <vt:lpstr>等线</vt:lpstr>
      <vt:lpstr>Wingdings</vt:lpstr>
      <vt:lpstr>Times New Roman</vt:lpstr>
      <vt:lpstr>Office 主题​​</vt:lpstr>
      <vt:lpstr>计算机导论与程序设计 竞赛扩展培训</vt:lpstr>
      <vt:lpstr>PowerPoint 演示文稿</vt:lpstr>
      <vt:lpstr>我的竞赛之旅</vt:lpstr>
      <vt:lpstr>竞赛经历</vt:lpstr>
      <vt:lpstr>竞赛获奖、收获</vt:lpstr>
      <vt:lpstr>训练方法</vt:lpstr>
      <vt:lpstr>训练方法</vt:lpstr>
      <vt:lpstr>训练时间</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我的竞赛之旅</dc:title>
  <dc:creator>天乐 陶</dc:creator>
  <cp:lastModifiedBy>天乐 陶</cp:lastModifiedBy>
  <cp:revision>18</cp:revision>
  <dcterms:created xsi:type="dcterms:W3CDTF">2022-11-18T05:04:24Z</dcterms:created>
  <dcterms:modified xsi:type="dcterms:W3CDTF">2023-11-18T12:31:14Z</dcterms:modified>
</cp:coreProperties>
</file>