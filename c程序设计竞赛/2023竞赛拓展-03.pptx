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tags/tag2.xml" ContentType="application/vnd.openxmlformats-officedocument.presentationml.tags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6"/>
  </p:notesMasterIdLst>
  <p:sldIdLst>
    <p:sldId id="259" r:id="rId2"/>
    <p:sldId id="578" r:id="rId3"/>
    <p:sldId id="421" r:id="rId4"/>
    <p:sldId id="422" r:id="rId5"/>
    <p:sldId id="423" r:id="rId6"/>
    <p:sldId id="424" r:id="rId7"/>
    <p:sldId id="427" r:id="rId8"/>
    <p:sldId id="428" r:id="rId9"/>
    <p:sldId id="439" r:id="rId10"/>
    <p:sldId id="431" r:id="rId11"/>
    <p:sldId id="432" r:id="rId12"/>
    <p:sldId id="545" r:id="rId13"/>
    <p:sldId id="433" r:id="rId14"/>
    <p:sldId id="546" r:id="rId15"/>
    <p:sldId id="436" r:id="rId16"/>
    <p:sldId id="547" r:id="rId17"/>
    <p:sldId id="548" r:id="rId18"/>
    <p:sldId id="549" r:id="rId19"/>
    <p:sldId id="550" r:id="rId20"/>
    <p:sldId id="551" r:id="rId21"/>
    <p:sldId id="552" r:id="rId22"/>
    <p:sldId id="553" r:id="rId23"/>
    <p:sldId id="554" r:id="rId24"/>
    <p:sldId id="555" r:id="rId25"/>
    <p:sldId id="556" r:id="rId26"/>
    <p:sldId id="557" r:id="rId27"/>
    <p:sldId id="558" r:id="rId28"/>
    <p:sldId id="559" r:id="rId29"/>
    <p:sldId id="560" r:id="rId30"/>
    <p:sldId id="562" r:id="rId31"/>
    <p:sldId id="561" r:id="rId32"/>
    <p:sldId id="461" r:id="rId33"/>
    <p:sldId id="544" r:id="rId34"/>
    <p:sldId id="563" r:id="rId35"/>
    <p:sldId id="564" r:id="rId36"/>
    <p:sldId id="543" r:id="rId37"/>
    <p:sldId id="533" r:id="rId38"/>
    <p:sldId id="538" r:id="rId39"/>
    <p:sldId id="567" r:id="rId40"/>
    <p:sldId id="568" r:id="rId41"/>
    <p:sldId id="565" r:id="rId42"/>
    <p:sldId id="566" r:id="rId43"/>
    <p:sldId id="569" r:id="rId44"/>
    <p:sldId id="539" r:id="rId45"/>
    <p:sldId id="570" r:id="rId46"/>
    <p:sldId id="571" r:id="rId47"/>
    <p:sldId id="572" r:id="rId48"/>
    <p:sldId id="520" r:id="rId49"/>
    <p:sldId id="573" r:id="rId50"/>
    <p:sldId id="574" r:id="rId51"/>
    <p:sldId id="575" r:id="rId52"/>
    <p:sldId id="576" r:id="rId53"/>
    <p:sldId id="577" r:id="rId54"/>
    <p:sldId id="386" r:id="rId55"/>
  </p:sldIdLst>
  <p:sldSz cx="8959850" cy="5040313"/>
  <p:notesSz cx="6858000" cy="9144000"/>
  <p:custDataLst>
    <p:tags r:id="rId57"/>
  </p:custDataLst>
  <p:defaultTextStyle>
    <a:defPPr>
      <a:defRPr lang="zh-CN"/>
    </a:defPPr>
    <a:lvl1pPr marL="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32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00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32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64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96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65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797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29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3" userDrawn="1">
          <p15:clr>
            <a:srgbClr val="A4A3A4"/>
          </p15:clr>
        </p15:guide>
        <p15:guide id="2" pos="4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00"/>
    <a:srgbClr val="E93538"/>
    <a:srgbClr val="F5F5F5"/>
    <a:srgbClr val="284C8A"/>
    <a:srgbClr val="FFFFFF"/>
    <a:srgbClr val="339966"/>
    <a:srgbClr val="00FF00"/>
    <a:srgbClr val="C3C4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6" autoAdjust="0"/>
    <p:restoredTop sz="94660"/>
  </p:normalViewPr>
  <p:slideViewPr>
    <p:cSldViewPr>
      <p:cViewPr varScale="1">
        <p:scale>
          <a:sx n="110" d="100"/>
          <a:sy n="110" d="100"/>
        </p:scale>
        <p:origin x="734" y="67"/>
      </p:cViewPr>
      <p:guideLst>
        <p:guide orient="horz" pos="363"/>
        <p:guide pos="46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35.07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1639.59766"/>
      <inkml:brushProperty name="anchorY" value="1016"/>
      <inkml:brushProperty name="scaleFactor" value="0.5"/>
    </inkml:brush>
  </inkml:definitions>
  <inkml:trace contextRef="#ctx0" brushRef="#br0">703 35 24575,'0'0'0,"-4"0"0,-5 0 0,-4 0 0,-3 0 0,-3 0 0,-2 0 0,-1 0 0,0 0 0,1 0 0,-1 0 0,0 0 0,0 0 0,1 0 0,0 0 0,0 0 0,-1 0 0,1 0 0,0 0 0,0 0 0,0 0 0,0 0 0,0 0 0,-1 0 0,1 0 0,4-4 0,0-1 0,0 1 0,0 1 0,-2 0 0,0 1 0,-1 2 0,-1-1 0,0-3 0,-1 0 0,5 0 0,5 9 0,3 9 0,4 11 0,3 2 0,2 3 0,0-2 0,1-1 0,0-2 0,0-2 0,-1 0 0,1-2 0,3 1 0,0-2 0,1 1 0,-2 0 0,0 0 0,-2 0 0,0 0 0,0 0 0,-1 0 0,0 0 0,4-4 0,0 0 0,0 0 0,-1 1 0,0 0 0,-2 2 0,0 0 0,0 1 0,-1 0 0,0 0 0,-1 1 0,1-1 0,0 0 0,0 1 0,0-1 0,0 0 0,0 0 0,0 0 0,0 0 0,0 1 0,0-1 0,0 0 0,0 0 0,0 0 0,0 0 0,0 1 0,0-1 0,0 0 0,0 0 0,0 0 0,0 0 0,0 1 0,0-1 0,0 0 0,0 0 0,0 5 0,0-1 0,0 1 0,0-2 0,0 0 0,0-1 0,0-1 0,0 0 0,0-1 0,0 0 0,0 0 0,0 0 0,0 0 0,0 0 0,0 0 0,4-4 0,0 0 0,1-1 0,-2 2 0,0 1 0,-2 0 0,0 1 0,0 1 0,-1 0 0,0 0 0,-1 1 0,1-1 0,0 1 0,0-1 0,0 0 0,0 0 0,-4-4 0,-1 0 0,1 0 0,-4-4 0,1 2 0,1 0 0,2 1 0,1 3 0,1 0 0,2 1 0,-1 2 0,6-5 0,4-4 0,4-5 0,3-3 0,4-3 0,1-1 0,0-1 0,1-1 0,0 0 0,0 0 0,-4-4 0,-1 1 0,0-1 0,1 2 0,0 0 0,2 1 0,0 1 0,1 1 0,0 0 0,0 0 0,0 0 0,1 1 0,-1-1 0,0 0 0,1 0 0,-1 0 0,0 0 0,0 0 0,-4 4 0,0 1 0,0-1 0,-4-1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37.27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2738.22705"/>
      <inkml:brushProperty name="anchorY" value="4.63796"/>
      <inkml:brushProperty name="scaleFactor" value="0.5"/>
    </inkml:brush>
  </inkml:definitions>
  <inkml:trace contextRef="#ctx0" brushRef="#br0">44 0 24575,'0'0'0,"3"0"0,7 0 0,3 0 0,3 4 0,3 1 0,-2 3 0,0 0 0,-4 3 0,1-1 0,2 2 0,0 2 0,-2 3 0,1-3 0,1-3 0,-3 1 0,-3 1 0,1-1 0,2-3 0,-3 1 0,3-2 0,-2 3 0,-3 1 0,-7 0 0,-6-3 0,-7-3 0,-4 2 0,-3 3 0,-2-1 0,-1-3 0,4 4 0,0 1 0,0 3 0,0 2 0,3 3 0,-1-4 0,1-4 0,-3-3 0,0 0 0,-2-2 0,4 3 0,-1-2 0,0-2 0,4-1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44.27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3797.13672"/>
      <inkml:brushProperty name="anchorY" value="600.07642"/>
      <inkml:brushProperty name="scaleFactor" value="0.5"/>
    </inkml:brush>
  </inkml:definitions>
  <inkml:trace contextRef="#ctx0" brushRef="#br0">612 0 24575,'0'0'0,"-4"0"0,-5 0 0,-4 0 0,-3 0 0,-3 0 0,-2 0 0,-1 0 0,0 0 0,0 0 0,0 0 0,1 0 0,-1 0 0,1 0 0,0 0 0,-1 0 0,1 0 0,0 0 0,0 0 0,0 0 0,0 0 0,0 0 0,-1 0 0,1 0 0,0 0 0,0 0 0,0 0 0,0 0 0,-1 0 0,1 0 0,4 4 0,4 5 0,5 12 0,8 5 0,6 1 0,3 6 0,3 2 0,0-1 0,-3-2 0,-2-4 0,-3-1 0,-1-4 0,-2 0 0,-1-2 0,0 0 0,3-1 0,1 1 0,0 0 0,-1-1 0,0 1 0,-2 0 0,0 1 0,0-1 0,-1 0 0,0 0 0,-1 0 0,1 0 0,0 1 0,0-1 0,0 0 0,0 0 0,0 0 0,0 0 0,0 1 0,0-1 0,0 0 0,0 0 0,0 0 0,0 0 0,0 1 0,0-1 0,0 0 0,0 0 0,0 0 0,0 0 0,0 1 0,0-1 0,0 0 0,0 0 0,0 0 0,0 0 0,0 1 0,0-1 0,0 0 0,0 0 0,0 0 0,0 0 0,0 1 0,0-1 0,0 0 0,0 0 0,0 0 0,0 0 0,0 1 0,0-1 0,0 0 0,0 0 0,0 0 0,0 0 0,0 1 0,0-1 0,0 0 0,0 0 0,0 0 0,0 0 0,0 1 0,0-1 0,0 0 0,0 0 0,0 0 0,0 0 0,0 1 0,-4-1 0,-1 0 0,1 0 0,0 0 0,2 0 0,0 1 0,1-1 0,1 0 0,0 0 0,0 0 0,4-4 0,5-4 0,4-5 0,4-4 0,2-1 0,2-3 0,0-1 0,1 1 0,0-1 0,0 0 0,0 1 0,-1-1 0,1 1 0,-1 0 0,0 0 0,0 0 0,0 0 0,1 0 0,-1 0 0,0 0 0,0 0 0,0 0 0,0 0 0,1 0 0,-1 0 0,-4 4 0,-1 1 0,1-1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46.26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2779.38989"/>
      <inkml:brushProperty name="anchorY" value="-2465.05566"/>
      <inkml:brushProperty name="scaleFactor" value="0.5"/>
    </inkml:brush>
  </inkml:definitions>
  <inkml:trace contextRef="#ctx0" brushRef="#br0">1 0 24575,'0'0'0,"3"0"0,7 0 0,2 0 0,5 4 0,-3 5 0,3-1 0,-4 5 0,1-3 0,-3 3 0,1-2 0,-2 1 0,2-2 0,-3 2 0,-2 2 0,2-2 0,-2 1 0,-1 2 0,2-2 0,-1 2 0,3-4 0,3-2 0,-2 0 0,-1 3 0,0-1 0,3-3 0,-6-2 0,-2 1 0,-8 0 0,-5 6 0,-5 0 0,-5 2 0,-2 2 0,-1 1 0,3 2 0,0 1 0,4 0 0,0-4 0,-1 0 0,3 5 0,-1-4 0,2 0 0,-1-3 0,2 0 0,-2-4 0,3 2 0,-2-4 0,-3-1 0,2-3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48.85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3795.7981"/>
      <inkml:brushProperty name="anchorY" value="-2018.77087"/>
      <inkml:brushProperty name="scaleFactor" value="0.5"/>
    </inkml:brush>
  </inkml:definitions>
  <inkml:trace contextRef="#ctx0" brushRef="#br0">1 0 24575,'0'0'0,"3"0"0,7 0 0,3 0 0,3 0 0,3 0 0,2 0 0,1 0 0,0 0 0,0 0 0,0 0 0,-1 0 0,1 0 0,-1 0 0,0 0 0,1 0 0,-1 0 0,0 0 0,0 0 0,0 0 0,-4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52.72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2401.67529"/>
      <inkml:brushProperty name="anchorY" value="-3034.771"/>
      <inkml:brushProperty name="scaleFactor" value="0.5"/>
    </inkml:brush>
  </inkml:definitions>
  <inkml:trace contextRef="#ctx0" brushRef="#br0">150 0 24575,'0'0'0,"-4"0"0,-1 4 0,-3 5 0,0 3 0,1 5 0,2 2 0,1 2 0,-2 1 0,1-1 0,0 1 0,1 0 0,-2 0 0,0 0 0,1 3 0,1 1 0,2 4 0,1-1 0,0-1 0,1-2 0,-4-1 0,0-2 0,-1-1 0,2-1 0,1 0 0,0 0 0,1 0 0,1 0 0,0 4 0,-4-4 0,0 0 0,0 4 0,0-1 0,2 5 0,0 4 0,-3-1 0,1-2 0,-1-2 0,2-2 0,0-2 0,2-2 0,0-1 0,1 0 0,0 0 0,0 0 0,0 0 0,1 4 0,-1 0 0,0 0 0,0 0 0,0-1 0,0-1 0,0-1 0,0-1 0,0 1 0,0-1 0,0 0 0,0 0 0,0-1 0,0 2 0,0-1 0,0 0 0,0 0 0,0 0 0,0 0 0,0 0 0,0 1 0,0-1 0,0 4 0,0 1 0,0-1 0,0 0 0,0-1 0,0-1 0,0-1 0,0-1 0,0 0 0,0 0 0,0 0 0,0 5 0,0-1 0,0 0 0,0 0 0,0-1 0,0-1 0,0-1 0,0-1 0,0 0 0,0 0 0,4-4 0,0 0 0,5-5 0,3-3 0,3-3 0,3-3 0,2-2 0,2-1 0,-1 0 0,1-1 0,0 0 0,0 1 0,-1-1 0,1 1 0,-1 0 0,-4-4 0,0-1 0,-1 1 0,2 1 0,1 0 0,0 1 0,1 2 0,1-1 0,-4-3 0,0 0 0,0 0 0,-3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54.18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1066.88196"/>
      <inkml:brushProperty name="anchorY" value="-6045.06006"/>
      <inkml:brushProperty name="scaleFactor" value="0.5"/>
    </inkml:brush>
  </inkml:definitions>
  <inkml:trace contextRef="#ctx0" brushRef="#br0">1 0 24575,'0'0'0,"3"4"0,7 1 0,-2 3 0,4 4 0,-1 4 0,1 2 0,3 6 0,2-3 0,-2 5 0,-4 0 0,1-5 0,-3-1 0,2-1 0,-2 0 0,2-4 0,-2 0 0,2-3 0,3 1 0,2-3 0,-2 1 0,1-1 0,-3 1 0,1-2 0,2-2 0,-3 2 0,2-2 0,-3 3 0,1-1 0,-6-2 0,-7-3 0,-7-1 0,-5-1 0,-5-1 0,2 3 0,-1 0 0,3 5 0,-1 2 0,0 5 0,2 2 0,-1-3 0,-1 2 0,2 0 0,3 1 0,0-3 0,-3 1 0,2 1 0,-1-4 0,1 1 0,3 1 0,3 2 0,-3-2 0,2-4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55.43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3.49211"/>
      <inkml:brushProperty name="anchorY" value="-7726.72266"/>
      <inkml:brushProperty name="scaleFactor" value="0.5"/>
    </inkml:brush>
  </inkml:definitions>
  <inkml:trace contextRef="#ctx0" brushRef="#br0">1 0 24575,'0'0'0,"0"7"0,0 12 0,0 6 0,0 4 0,0 1 0,0-2 0,0-1 0,0-2 0,0-2 0,0-1 0,0 0 0,0-1 0,0 0 0,0 0 0,0-1 0,0-3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0:58.09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39.49207"/>
      <inkml:brushProperty name="anchorY" value="-9099.8623"/>
      <inkml:brushProperty name="scaleFactor" value="0.5"/>
    </inkml:brush>
  </inkml:definitions>
  <inkml:trace contextRef="#ctx0" brushRef="#br0">62 66 24575,'0'0'0,"0"-4"0,0-5 0,4 1 0,0-4 0,5 1 0,3 3 0,3 2 0,3 2 0,2 2 0,1 1 0,1 1 0,-4 4 0,-1 1 0,-4 4 0,1-1 0,-4 4 0,-2 2 0,1-2 0,-2 2 0,-2 2 0,-1 1 0,-2 2 0,-1 1 0,-1 1 0,0 0 0,0 1 0,0-1 0,-1 1 0,-3-1 0,-1 0 0,-3-4 0,0 0 0,1 0 0,-2-4 0,1 2 0,-3-4 0,3 1 0,-4-2 0,-1 1 0,-4-2 0,-1 2 0,-1-1 0,-2 1 0,0-1 0,-1-3 0,0-1 0,1-3 0,-1-2 0,9 0 0,9-1 0,8 0 0,8-1 0,5 1 0,4-1 0,1 1 0,1 0 0,-1 0 0,1 0 0,-1 0 0,0 0 0,0 0 0,-1 0 0,0 0 0,5 0 0,-1 0 0,-3-4 0,-2-1 0,-5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01.99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354.6355"/>
      <inkml:brushProperty name="anchorY" value="-10526.44434"/>
      <inkml:brushProperty name="scaleFactor" value="0.5"/>
    </inkml:brush>
  </inkml:definitions>
  <inkml:trace contextRef="#ctx0" brushRef="#br0">1 172 24575,'0'0'0,"0"4"0,4 1 0,5-1 0,4-1 0,-1-4 0,3-2 0,1-5 0,-2-4 0,1 1 0,-3-3 0,1 2 0,-3-1 0,2 2 0,-3-1 0,-2-2 0,3 2 0,1-1 0,-1-3 0,3 3 0,2 3 0,1 3 0,3 3 0,1 2 0,-4 5 0,1 2 0,-3 4 0,-1 0 0,-2 3 0,0-2 0,-1 2 0,1-2 0,-2 2 0,-2 2 0,2-2 0,-2 2 0,-1 1 0,-2 2 0,-1 2 0,-2 1 0,-1 1 0,0 0 0,0 0 0,0 1 0,-1-1 0,1 1 0,0-1 0,-4-4 0,-5-4 0,-4-5 0,-3-4 0,-3-1 0,-2-3 0,0 0 0,-1-1 0,0 0 0,4 4 0,1 1 0,0 0 0,7-1 0,9 0 0,7-2 0,7 0 0,4 0 0,3-1 0,2 0 0,1 0 0,-5 4 0,1 0 0,-6 5 0,1-1 0,-4 3 0,-2 3 0,1-2 0,-2 2 0,-2 1 0,-1 3 0,-2 1 0,-1 1 0,-1 1 0,0 0 0,0 0 0,0 1 0,-5-5 0,1 0 0,-5-4 0,-3-4 0,-4-3 0,-2-3 0,-2-2 0,-1-1 0,0 0 0,-1-1 0,0 0 0,0 1 0,1-1 0,-1 1 0,1 0 0,4 4 0,0 0 0,0 1 0,0-2 0,-2 0 0,4-1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12.57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436.63403"/>
      <inkml:brushProperty name="anchorY" value="-12091.95996"/>
      <inkml:brushProperty name="scaleFactor" value="0.5"/>
    </inkml:brush>
  </inkml:definitions>
  <inkml:trace contextRef="#ctx0" brushRef="#br0">1 2793 24575,'0'0'0,"4"0"0,5 0 0,4 0 0,3 0 0,3 0 0,2 0 0,1 0 0,0 0 0,0 0 0,0 0 0,-1 0 0,1 0 0,-1 0 0,1 0 0,-1 0 0,0-4 0,0-1 0,0-3 0,0 0 0,1 1 0,3-2 0,5 1 0,0 2 0,3 1 0,-6-2 0,3 2 0,1 0 0,4-3 0,2 1 0,2 1 0,2 2 0,-3 1 0,-8-3 0,0 1 0,-4 1 0,-1 0 0,-2 2 0,-1 1 0,-1 0 0,0 1 0,-1-4 0,1 0 0,0 0 0,0 0 0,0 2 0,0 0 0,0 2 0,0-1 0,1 1 0,-1 0 0,0 0 0,0 1 0,0-1 0,1 0 0,-1 0 0,0 0 0,0 0 0,0 0 0,0 0 0,1 0 0,-1 0 0,0 0 0,0 0 0,0 0 0,0 0 0,1 0 0,-1 0 0,0 0 0,0 0 0,0 0 0,0 0 0,1 0 0,-1 0 0,0 0 0,0 0 0,4 0 0,1 0 0,0 0 0,-2 0 0,0 0 0,-1 0 0,-1 0 0,-1 0 0,1 0 0,-1 0 0,0 0 0,-1 0 0,2 0 0,-1 0 0,0 0 0,0 0 0,0 0 0,0 0 0,0 0 0,0 0 0,1 0 0,-1 0 0,0 0 0,0 0 0,0 0 0,1 0 0,-1 0 0,0 0 0,0 0 0,0 0 0,0 0 0,1 0 0,-1 0 0,0 0 0,0 0 0,0 0 0,4 0 0,5 0 0,0 0 0,-1 0 0,-2 0 0,-1 0 0,-2 0 0,-2 0 0,0 0 0,-1 0 0,0 0 0,-1 0 0,1 0 0,0 0 0,0 0 0,0 0 0,0 0 0,0 0 0,1 0 0,-1 0 0,0 0 0,0 0 0,-4 0 0,0 0 0,0 0 0,0 0 0,2 0 0,0 0 0,2 0 0,-1 0 0,2 0 0,3 0 0,1 0 0,-1 0 0,-4-4 0,-10-5 0,-5-8 0,-5-4 0,-2-6 0,-1-2 0,0-4 0,0-3 0,-4 2 0,1-2 0,0-1 0,1 2 0,1 3 0,2 4 0,0 3 0,1-3 0,-4 6 0,0-3 0,-5 1 0,2 0 0,-4 1 0,1 0 0,3 1 0,1 0 0,-2-3 0,2 0 0,-4-1 0,2 1 0,2 2 0,1 0 0,2 1 0,1 1 0,1-1 0,1 1 0,0 0 0,1 0 0,-1 1 0,0-2 0,1 1 0,-1 0 0,0 0 0,0 0 0,0 0 0,0 0 0,0-1 0,0 1 0,0 0 0,0 0 0,0 0 0,0 0 0,0-1 0,0 1 0,0 0 0,0 0 0,0 0 0,0 0 0,0-1 0,0-3 0,0-1 0,0 1 0,0 0 0,0 1 0,0 2 0,0 0 0,0 0 0,4 5 0,0 1 0,1-1 0,-2-1 0,4 0 0,-1-2 0,0 0 0,2 4 0,-1-1 0,-1 0 0,-2-1 0,-1-1 0,3 0 0,-1-2 0,-1 1 0,-1-2 0,0 1 0,-2 0 0,0-1 0,-1 1 0,0 0 0,0 0 0,-1-1 0,1 1 0,0 0 0,0 0 0,0 0 0,0 0 0,0-1 0,0 1 0,0 0 0,0 0 0,0 0 0,0 0 0,0-1 0,0 1 0,0 0 0,0 0 0,0 0 0,0 0 0,0-1 0,0 1 0,0 0 0,0 0 0,0 0 0,-4 4 0,-1 0 0,1 0 0,0-1 0,-2 4 0,0-1 0,1-1 0,1-1 0,-3 3 0,1-2 0,-4 4 0,-2 3 0,-4 3 0,-1 3 0,-3 2 0,3-4 0,0 1 0,0 0 0,-1 1 0,3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14.02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481.43359"/>
      <inkml:brushProperty name="anchorY" value="-10315.27148"/>
      <inkml:brushProperty name="scaleFactor" value="0.5"/>
    </inkml:brush>
  </inkml:definitions>
  <inkml:trace contextRef="#ctx0" brushRef="#br0">99 0 24575,'0'0'0,"0"4"0,0 5 0,-4 0 0,-1 3 0,-3-1 0,0 1 0,-3-1 0,-3-3 0,2 2 0,-3-2 0,4 2 0,2 2 0,7-1 0,3 11 0,6 2 0,0 6 0,0 4 0,-1 0 0,-2 3 0,-2-4 0,0-2 0,-2-3 0,0-7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18.44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402.85352"/>
      <inkml:brushProperty name="anchorY" value="-9720.10254"/>
      <inkml:brushProperty name="scaleFactor" value="0.5"/>
    </inkml:brush>
  </inkml:definitions>
  <inkml:trace contextRef="#ctx0" brushRef="#br0">1 3708 24575,'0'0'0,"0"-4"0,4-1 0,5 1 0,7-4 0,5 1 0,3 1 0,4-3 0,5 2 0,4 1 0,2-3 0,-2 2 0,1 1 0,1-2 0,-4 1 0,-3 1 0,5 2 0,1 2 0,-1 0 0,0 2 0,1 0 0,-3 0 0,6 0 0,-4 0 0,1 1 0,5-1 0,-3 0 0,1 0 0,8 0 0,1 0 0,12 0 0,0 0 0,7 0 0,0 0 0,0 0 0,3 0 0,-1 0 0,-5 0 0,-6 0 0,-11 0 0,0 0 0,-4 0 0,-6 0 0,0 0 0,-6 0 0,-3 0 0,-4 0 0,-2 0 0,-2 0 0,-1 0 0,0 0 0,-1 0 0,1 0 0,-5-4 0,1-1 0,-1 1 0,2 1 0,0 0 0,2 1 0,0 2 0,1-1 0,0 1 0,0 0 0,0 0 0,1 1 0,-1-1 0,1 0 0,-5-4 0,-5-5 0,-3-4 0,-5-4 0,-2-6 0,-1-6 0,-2-6 0,1-3 0,-1-3 0,0-2 0,0 0 0,1 4 0,0-1 0,0 2 0,0-2 0,0 0 0,0-1 0,0 4 0,0-1 0,0 1 0,0 2 0,0-1 0,0 0 0,0 2 0,0 3 0,0 4 0,0-3 0,0 3 0,0 1 0,0-3 0,0-7 0,0 1 0,0-3 0,0-2 0,-4 4 0,-1-1 0,1-1 0,0 3 0,2-1 0,0 4 0,1-2 0,1-1 0,0 2 0,0-2 0,0 3 0,0-1 0,1-7 0,-1 3 0,0-7 0,0 0 0,0 3 0,0 0 0,0 6 0,0-1 0,0-1 0,-4 4 0,-1 2 0,1 4 0,0 2 0,2 2 0,0 2 0,-3-5 0,0-3 0,1 0 0,0 0 0,1-2 0,-2 2 0,0-7 0,-4-3 0,1 2 0,1-6 0,2 4 0,2 3 0,-3-4 0,1 3 0,0 0 0,2-1 0,1 3 0,1-1 0,-4-1 0,0-1 0,1-6 0,-3-1 0,-4-1 0,0 4 0,-2 2 0,2 4 0,3 0 0,-2 0 0,2 3 0,1-1 0,3-2 0,2 2 0,0-1 0,2 3 0,-4 3 0,0-2 0,-4 2 0,0 2 0,2 2 0,1 1 0,1 2 0,-2 0 0,1 1 0,1 1 0,-4 3 0,-3 5 0,-4 0 0,-2 3 0,-2 2 0,-1 3 0,-2 2 0,0 1 0,0 1 0,1 0 0,-1 1 0,1-1 0,-1 0 0,-3 1 0,-1-1 0,1 0 0,0 0 0,6 4 0,0 1 0,2-1 0,3 4 0,-1-1 0,0-1 0,3 3 0,3-2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19.80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973.63477"/>
      <inkml:brushProperty name="anchorY" value="-7081.37988"/>
      <inkml:brushProperty name="scaleFactor" value="0.5"/>
    </inkml:brush>
  </inkml:definitions>
  <inkml:trace contextRef="#ctx0" brushRef="#br0">158 0 24575,'0'0'0,"0"4"0,-5 1 0,1 3 0,-1 4 0,-2 0 0,-5 1 0,2 3 0,-3-2 0,-2-4 0,-2 1 0,-2 2 0,-1-2 0,3 2 0,8 2 0,5 2 0,12 1 0,6-2 0,5 4 0,3 1 0,1-3 0,1 0 0,-1 1 0,0-5 0,-5 1 0,-5-3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23.81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020.16797"/>
      <inkml:brushProperty name="anchorY" value="-8441.94824"/>
      <inkml:brushProperty name="scaleFactor" value="0.5"/>
    </inkml:brush>
  </inkml:definitions>
  <inkml:trace contextRef="#ctx0" brushRef="#br0">1 3283 24575,'0'0'0,"3"0"0,7 0 0,7 0 0,8 0 0,7 0 0,9 0 0,4 0 0,2 0 0,0 0 0,0 0 0,3 0 0,-2 0 0,4 0 0,3 0 0,7 0 0,3 0 0,-3 0 0,1 0 0,-6 0 0,-7 0 0,-1 0 0,-7 0 0,-2 0 0,4 0 0,-5 0 0,5 0 0,4 0 0,1 0 0,8 0 0,4 0 0,-2 0 0,-7 0 0,-5 0 0,2 0 0,2 0 0,-1 0 0,7 0 0,3 0 0,3 0 0,1 0 0,-4 0 0,5 0 0,-4 0 0,-1 0 0,-3 0 0,-4 0 0,-9 0 0,-6 0 0,-3 0 0,-1 0 0,2 0 0,-3 0 0,6 0 0,2 0 0,-3 0 0,0 0 0,2 0 0,-5 0 0,1 0 0,-3 0 0,-3 0 0,1 0 0,-3 0 0,3 0 0,-1-4 0,-3-1 0,-1 1 0,-2 0 0,-1 1 0,-6-3 0,-4-3 0,-5-4 0,-4-4 0,-2-2 0,-2-1 0,0-2 0,-1 1 0,0-1 0,0-4 0,0-5 0,1-3 0,0 0 0,0-2 0,0-1 0,0 2 0,0-1 0,-4-6 0,-1 4 0,1-2 0,0 4 0,2-1 0,0 4 0,1 4 0,1-2 0,0 2 0,0-1 0,0 0 0,0 3 0,1 1 0,-1 2 0,0-3 0,0 1 0,0 0 0,0-2 0,-4 0 0,-1 1 0,1-2 0,0 0 0,2 2 0,0 2 0,1 1 0,1-3 0,0 1 0,0-4 0,0 1 0,0 1 0,1-2 0,-1 1 0,0-2 0,0-3 0,0 1 0,0-2 0,0 3 0,0 2 0,0 3 0,0 2 0,0-2 0,0 1 0,0 1 0,0 1 0,0 0 0,0 2 0,0-4 0,0 0 0,0-3 0,0 0 0,-4-3 0,-1-3 0,1-2 0,0-3 0,2-1 0,0 3 0,1 4 0,1 4 0,-4 4 0,-1 2 0,1 2 0,0 1 0,2 1 0,0-1 0,1 1 0,-3-1 0,-1 1 0,1-1 0,1-1 0,1 1 0,0 0 0,1 0 0,1 0 0,-4-5 0,0 1 0,0-5 0,0 1 0,2 1 0,0 1 0,1 3 0,1 1 0,0 1 0,0 0 0,0 1 0,0 0 0,1 0 0,-5 0 0,-1 1 0,1-1 0,1 0 0,0-1 0,1 1 0,1 0 0,-3 0 0,-1 0 0,1 0 0,1-1 0,-4 1 0,2 0 0,-1 0 0,-2 0 0,1 0 0,-3 3 0,1 2 0,2-1 0,-2 3 0,-3 4 0,-3 4 0,-6-2 0,-3 2 0,-5 1 0,0-2 0,-3 0 0,0 2 0,-1 1 0,1 2 0,3 0 0,-2 2 0,2 0 0,2 0 0,-3 4 0,2 1 0,1-1 0,2 0 0,1-1 0,2-1 0,0-2 0,1 1 0,0-1 0,0 0 0,-4 0 0,0-1 0,-1 1 0,-2 0 0,-5 0 0,2 0 0,-3 0 0,2 0 0,2 0 0,3 0 0,2 0 0,2 0 0,1 0 0,1 0 0,0 0 0,0 0 0,1 0 0,-1 0 0,0 0 0,0 0 0,0 0 0,0 0 0,0 0 0,-1 0 0,1 0 0,0 0 0,0 0 0,0 0 0,4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25.30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2563.10547"/>
      <inkml:brushProperty name="anchorY" value="-6197.94727"/>
      <inkml:brushProperty name="scaleFactor" value="0.5"/>
    </inkml:brush>
  </inkml:definitions>
  <inkml:trace contextRef="#ctx0" brushRef="#br0">301 0 24575,'0'0'0,"3"0"0,-2 0 0,-5 0 0,-5 0 0,-5 4 0,-3 1 0,-3-1 0,-2-1 0,5 4 0,-1-1 0,4 4 0,0-2 0,0 3 0,-2-1 0,-2-2 0,-2 1 0,0-1 0,-1 2 0,0-1 0,4 2 0,8 7 0,9-2 0,8 2 0,6 1 0,5 1 0,6 0 0,-2 1 0,4 0 0,-1 0 0,4 0 0,-1 1 0,-1-5 0,-6 0 0,-2-5 0,-5 1 0,-1-3 0,-4 2 0,-3-3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27.70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595.19531"/>
      <inkml:brushProperty name="anchorY" value="-7644.31006"/>
      <inkml:brushProperty name="scaleFactor" value="0.5"/>
    </inkml:brush>
  </inkml:definitions>
  <inkml:trace contextRef="#ctx0" brushRef="#br0">102 13 24575,'0'0'0,"0"-4"0,-5-1 0,-3 1 0,-5 5 0,0 5 0,-1 5 0,-3 0 0,4 4 0,2 1 0,3 2 0,8-2 0,6-4 0,6-4 0,5-3 0,3 2 0,1-2 0,1-1 0,9 3 0,0-1 0,4-1 0,3-1 0,-3-1 0,-2-2 0,-4 0 0,-3-1 0,-2 0 0,-6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28.44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907.09375"/>
      <inkml:brushProperty name="anchorY" value="-8809.14648"/>
      <inkml:brushProperty name="scaleFactor" value="0.5"/>
    </inkml:brush>
  </inkml:definitions>
  <inkml:trace contextRef="#ctx0" brushRef="#br0">65 0 24575,'0'0'0,"-4"0"0,-1 8 0,1 5 0,0 9 0,2 2 0,0 6 0,-3 5 0,1 3 0,-5 11 0,1 6 0,2 5 0,1-5 0,1-3 0,2-8 0,2-8 0,-1-5 0,1-5 0,1-4 0,-1-1 0,0-5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29.83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827.65625"/>
      <inkml:brushProperty name="anchorY" value="-8429.97168"/>
      <inkml:brushProperty name="scaleFactor" value="0.5"/>
    </inkml:brush>
  </inkml:definitions>
  <inkml:trace contextRef="#ctx0" brushRef="#br0">45 0 24575,'0'0'0,"-4"7"0,-1 7 0,0 3 0,2 3 0,-4 2 0,1 0 0,1 1 0,1-1 0,1 0 0,2 0 0,0 0 0,5-5 0,5-4 0,0-1 0,3 1 0,3-2 0,3 1 0,1-2 0,1 2 0,1-2 0,1-3 0,-1 2 0,1-1 0,0-2 0,-1 2 0,0-1 0,-4 3 0,0-2 0,-4 3 0,-4 3 0,-3 2 0,-7-2 0,-7 1 0,-1 2 0,-3 0 0,-4-2 0,2 1 0,-1-4 0,-1-3 0,-2 1 0,-1-2 0,-1-3 0,-1-1 0,0-2 0,0-1 0,-1 0 0,1-1 0,4-1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30.40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846.39844"/>
      <inkml:brushProperty name="anchorY" value="-10018.19531"/>
      <inkml:brushProperty name="scaleFactor" value="0.5"/>
    </inkml:brush>
  </inkml:definitions>
  <inkml:trace contextRef="#ctx0" brushRef="#br0">1 57 24575,'0'0'0,"3"-4"0,7-1 0,2 1 0,5 1 0,6 0 0,6 1 0,2-3 0,-1 1 0,2-1 0,-1 2 0,-3 1 0,-2 0 0,-1 1 0,-6-3 0,-2-1 0,-4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1T10:01:32.22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208.37207"/>
      <inkml:brushProperty name="anchorY" value="-10978.05273"/>
      <inkml:brushProperty name="scaleFactor" value="0.5"/>
    </inkml:brush>
  </inkml:definitions>
  <inkml:trace contextRef="#ctx0" brushRef="#br0">109 0 24575,'0'0'0,"0"4"0,-4 5 0,-5 4 0,1 3 0,0 3 0,-3-2 0,2 0 0,2 1 0,-2 0 0,-2 1 0,0 2 0,3-1 0,2 1 0,2 0 0,2 1 0,1-1 0,1 5 0,0-1 0,1 1 0,-1-1 0,0-2 0,5-4 0,-1-1 0,5-1 0,-1 1 0,3 0 0,-1 1 0,2-3 0,-2 0 0,2-3 0,2 0 0,2 2 0,2-3 0,-2 1 0,0-2 0,1-3 0,1-3 0,-3 3 0,0-2 0,1-2 0,2 0 0,1-2 0,-4-5 0,-3-6 0,-4-3 0,-3-5 0,-2-2 0,-7 2 0,-1-1 0,-4 5 0,-4-1 0,-3-1 0,-3-2 0,3-1 0,-1 3 0,4-1 0,-1 4 0,3-2 0,-1 4 0,-2 2 0,3-1 0,-3 2 0,4-3 0,-3 2 0,-1 1 0,2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FBFEE-6F17-45C6-BF67-2BF47985DAED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63E96-BA91-4239-8C4A-E9100A976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57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91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891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47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596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1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523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169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322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622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1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633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151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48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643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228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405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127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39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128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486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638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586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981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6722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224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176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7142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7730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9680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5753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1183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198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757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7251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9465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298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4794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0775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0775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9940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1868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5988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9177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9244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8809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88096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68170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4741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63E96-BA91-4239-8C4A-E9100A976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8020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1717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1546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7029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6456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4692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63E96-BA91-4239-8C4A-E9100A97621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439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1989" y="1565764"/>
            <a:ext cx="7615872" cy="108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3979" y="2856177"/>
            <a:ext cx="6271895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767" y="3238868"/>
            <a:ext cx="7615872" cy="1001062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767" y="2136300"/>
            <a:ext cx="7615872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6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79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2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994" y="1176073"/>
            <a:ext cx="395726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54592" y="1176073"/>
            <a:ext cx="395726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992" y="1128238"/>
            <a:ext cx="3958823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992" y="1598433"/>
            <a:ext cx="3958823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51480" y="1128238"/>
            <a:ext cx="3960378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51480" y="1598433"/>
            <a:ext cx="3960378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993" y="200682"/>
            <a:ext cx="2947729" cy="85405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03054" y="200679"/>
            <a:ext cx="5008805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993" y="1054733"/>
            <a:ext cx="2947729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6194" y="3528219"/>
            <a:ext cx="5375910" cy="41652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56194" y="450361"/>
            <a:ext cx="5375910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320" indent="0">
              <a:buNone/>
              <a:defRPr sz="2500"/>
            </a:lvl2pPr>
            <a:lvl3pPr marL="802005" indent="0">
              <a:buNone/>
              <a:defRPr sz="2100"/>
            </a:lvl3pPr>
            <a:lvl4pPr marL="1203325" indent="0">
              <a:buNone/>
              <a:defRPr sz="1800"/>
            </a:lvl4pPr>
            <a:lvl5pPr marL="1604645" indent="0">
              <a:buNone/>
              <a:defRPr sz="1800"/>
            </a:lvl5pPr>
            <a:lvl6pPr marL="2005965" indent="0">
              <a:buNone/>
              <a:defRPr sz="1800"/>
            </a:lvl6pPr>
            <a:lvl7pPr marL="2406650" indent="0">
              <a:buNone/>
              <a:defRPr sz="1800"/>
            </a:lvl7pPr>
            <a:lvl8pPr marL="2807970" indent="0">
              <a:buNone/>
              <a:defRPr sz="1800"/>
            </a:lvl8pPr>
            <a:lvl9pPr marL="320929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56194" y="3944746"/>
            <a:ext cx="5375910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5892" y="201847"/>
            <a:ext cx="2015966" cy="43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994" y="201847"/>
            <a:ext cx="5898568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7994" y="201846"/>
            <a:ext cx="8063865" cy="840052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994" y="1176073"/>
            <a:ext cx="8063865" cy="33263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7994" y="4671624"/>
            <a:ext cx="2090632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61282" y="4671624"/>
            <a:ext cx="283728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21226" y="4671624"/>
            <a:ext cx="2090632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80200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990" indent="-30099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indent="-250825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398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530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599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31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3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95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64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96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65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97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29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47.png"/><Relationship Id="rId42" Type="http://schemas.openxmlformats.org/officeDocument/2006/relationships/image" Target="../media/image5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38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customXml" Target="../ink/ink4.xml"/><Relationship Id="rId24" Type="http://schemas.openxmlformats.org/officeDocument/2006/relationships/image" Target="../media/image42.png"/><Relationship Id="rId32" Type="http://schemas.openxmlformats.org/officeDocument/2006/relationships/image" Target="../media/image46.png"/><Relationship Id="rId37" Type="http://schemas.openxmlformats.org/officeDocument/2006/relationships/customXml" Target="../ink/ink17.xml"/><Relationship Id="rId40" Type="http://schemas.openxmlformats.org/officeDocument/2006/relationships/image" Target="../media/image50.png"/><Relationship Id="rId45" Type="http://schemas.openxmlformats.org/officeDocument/2006/relationships/customXml" Target="../ink/ink21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44.png"/><Relationship Id="rId36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52.png"/><Relationship Id="rId4" Type="http://schemas.openxmlformats.org/officeDocument/2006/relationships/image" Target="../media/image32.png"/><Relationship Id="rId9" Type="http://schemas.openxmlformats.org/officeDocument/2006/relationships/customXml" Target="../ink/ink3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12.xml"/><Relationship Id="rId30" Type="http://schemas.openxmlformats.org/officeDocument/2006/relationships/image" Target="../media/image45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12" Type="http://schemas.openxmlformats.org/officeDocument/2006/relationships/image" Target="../media/image36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49.png"/><Relationship Id="rId46" Type="http://schemas.openxmlformats.org/officeDocument/2006/relationships/image" Target="../media/image53.png"/><Relationship Id="rId20" Type="http://schemas.openxmlformats.org/officeDocument/2006/relationships/image" Target="../media/image40.png"/><Relationship Id="rId41" Type="http://schemas.openxmlformats.org/officeDocument/2006/relationships/customXml" Target="../ink/ink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1311573" y="71884"/>
            <a:ext cx="6408712" cy="560182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284C8A"/>
                </a:solidFill>
                <a:latin typeface="+mn-ea"/>
              </a:rPr>
              <a:t>计算机导论与程序设计</a:t>
            </a:r>
            <a:r>
              <a:rPr lang="en-US" altLang="zh-CN" sz="32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3200" b="1" dirty="0">
                <a:solidFill>
                  <a:srgbClr val="284C8A"/>
                </a:solidFill>
                <a:latin typeface="+mn-ea"/>
              </a:rPr>
              <a:t>竞赛扩展</a:t>
            </a: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2211673" y="791964"/>
            <a:ext cx="4536504" cy="2880320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内容：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000" b="1" dirty="0">
                <a:latin typeface="Times New Roman" panose="02020603050405020304" pitchFamily="18" charset="0"/>
              </a:rPr>
              <a:t>数据结构基础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STL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应用基础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算法基础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栈（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队列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字符串（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</a:rPr>
              <a:t>String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树（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图（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073674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Standard  Template Library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容器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迭代器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iterators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213152" y="2448148"/>
            <a:ext cx="815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422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编程竞赛的题目中，常涉及数据集（规模确定或不确定）的表示及运算问题，应用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标准模板库（</a:t>
            </a:r>
            <a:r>
              <a:rPr lang="en-US" altLang="zh-CN" sz="2000" b="1" dirty="0">
                <a:latin typeface="Times New Roman" panose="02020603050405020304" pitchFamily="18" charset="0"/>
              </a:rPr>
              <a:t>STL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）提供的容器和算法可简化处理过程、提高效率。</a:t>
            </a:r>
          </a:p>
          <a:p>
            <a:pPr marL="74422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子串。</a:t>
            </a:r>
          </a:p>
        </p:txBody>
      </p:sp>
    </p:spTree>
    <p:extLst>
      <p:ext uri="{BB962C8B-B14F-4D97-AF65-F5344CB8AC3E}">
        <p14:creationId xmlns:p14="http://schemas.microsoft.com/office/powerpoint/2010/main" val="35803149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容器（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（向量，变长数组）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（栈）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（队列）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（有序集合）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（关联容器）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517908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vector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1468327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（向量，变长数组）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可存放各种类型的数据（对象）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可动态改变大小（数组长度）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&lt;vector&gt;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803814" y="2255726"/>
            <a:ext cx="8063865" cy="2683986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主要操作：</a:t>
            </a:r>
            <a:endParaRPr kumimoji="1" lang="en-US" altLang="zh-CN" sz="1764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vector&lt;int&gt;  v1;         	              //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声明整型数组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：初始为空（没有元素，容量也为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vector&lt;int&gt;  v2(10);                  //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声明整型数组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v2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：该数组初始长度为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（元素都为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v1.size(), 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v2.size()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	                //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获得数组内元素个数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v1.capacity()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v2.capacity()     // capacity: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容量（空间大小，可自动增加）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v1.push_back(3)	               //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往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数组尾部添加一个数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</a:t>
            </a: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x = v1[0]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v1[1] = 1             //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支持取下标和赋值操作，但下标不得越界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01320" lvl="1" indent="0" algn="just">
              <a:lnSpc>
                <a:spcPct val="105000"/>
              </a:lnSpc>
              <a:buNone/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v1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长度为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v1.size()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，下标从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开始，合法下标范围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[0, v1.size() – 1]</a:t>
            </a:r>
          </a:p>
          <a:p>
            <a:pPr marL="401320" lvl="1" indent="0" algn="just">
              <a:lnSpc>
                <a:spcPct val="105000"/>
              </a:lnSpc>
              <a:buNone/>
            </a:pP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0723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vector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94689AA-D978-3A2C-2769-78FDD7FD82C8}"/>
              </a:ext>
            </a:extLst>
          </p:cNvPr>
          <p:cNvSpPr txBox="1">
            <a:spLocks/>
          </p:cNvSpPr>
          <p:nvPr/>
        </p:nvSpPr>
        <p:spPr>
          <a:xfrm>
            <a:off x="663501" y="791964"/>
            <a:ext cx="8063865" cy="57606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举例：创建一个存放</a:t>
            </a:r>
            <a:r>
              <a:rPr kumimoji="1" lang="en-US" altLang="zh-CN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1" lang="zh-CN" altLang="en-US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型数据的可变数组</a:t>
            </a:r>
            <a:r>
              <a:rPr kumimoji="1" lang="en-US" altLang="zh-CN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1" lang="zh-CN" altLang="en-US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，顺序存储数字</a:t>
            </a:r>
            <a:r>
              <a:rPr kumimoji="1" lang="en-US" altLang="zh-CN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1-10</a:t>
            </a:r>
            <a:r>
              <a:rPr kumimoji="1" lang="zh-CN" altLang="en-US" sz="1764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en-US" altLang="zh-CN" sz="1764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5000"/>
              </a:lnSpc>
              <a:buNone/>
            </a:pP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55AEC2-7689-2997-9146-EDA18C5DDBC2}"/>
              </a:ext>
            </a:extLst>
          </p:cNvPr>
          <p:cNvSpPr txBox="1"/>
          <p:nvPr/>
        </p:nvSpPr>
        <p:spPr>
          <a:xfrm>
            <a:off x="663501" y="147639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两种做法：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79BFF0-7C43-EDDC-C6DC-6298740BF7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09" y="1923309"/>
            <a:ext cx="4371379" cy="262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646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iterator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/>
          <p:cNvSpPr txBox="1">
            <a:spLocks/>
          </p:cNvSpPr>
          <p:nvPr/>
        </p:nvSpPr>
        <p:spPr>
          <a:xfrm>
            <a:off x="663501" y="791963"/>
            <a:ext cx="8063865" cy="175166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迭代器（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iterator</a:t>
            </a: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是遍历容器中数据的方法，可用指针概念理解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将标准库算法与数据联系起来的粘合剂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降低算法对所操作数据结构的依赖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1046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iterator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81353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5641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45401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13401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09497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77449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73641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641545" y="3294752"/>
            <a:ext cx="432000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09297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V1[</a:t>
            </a:r>
            <a:r>
              <a:rPr lang="en-US" altLang="zh-CN" sz="1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841345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V1[</a:t>
            </a:r>
            <a:r>
              <a:rPr lang="en-US" altLang="zh-CN" sz="1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273393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V1[</a:t>
            </a:r>
            <a:r>
              <a:rPr lang="en-US" altLang="zh-CN" sz="1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705441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V1[</a:t>
            </a:r>
            <a:r>
              <a:rPr lang="en-US" altLang="zh-CN" sz="1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37489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V1[</a:t>
            </a:r>
            <a:r>
              <a:rPr lang="en-US" altLang="zh-CN" sz="1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569537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V1[</a:t>
            </a:r>
            <a:r>
              <a:rPr lang="en-US" altLang="zh-CN" sz="1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001585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V1[6]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433633" y="300672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内容占位符 2"/>
          <p:cNvSpPr txBox="1">
            <a:spLocks/>
          </p:cNvSpPr>
          <p:nvPr/>
        </p:nvSpPr>
        <p:spPr>
          <a:xfrm>
            <a:off x="689708" y="700439"/>
            <a:ext cx="8063865" cy="2160241"/>
          </a:xfrm>
          <a:prstGeom prst="rect">
            <a:avLst/>
          </a:prstGeom>
        </p:spPr>
        <p:txBody>
          <a:bodyPr vert="horz" lIns="80229" tIns="40115" rIns="80229" bIns="40115" rtlCol="0">
            <a:normAutofit lnSpcReduction="1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迭代器（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iterator</a:t>
            </a: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是遍历容器中数据的方法，可用指针概念理解</a:t>
            </a:r>
            <a:endParaRPr kumimoji="1" lang="en-US" altLang="zh-CN" sz="147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将标准库算法与数据联系起来的粘合剂</a:t>
            </a:r>
            <a:endParaRPr kumimoji="1" lang="en-US" altLang="zh-CN" sz="14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降低算法对所操作数据结构的依赖</a:t>
            </a:r>
            <a:endParaRPr kumimoji="1" lang="en-US" altLang="zh-CN" sz="14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</a:pPr>
            <a:r>
              <a:rPr kumimoji="1" lang="zh-CN" altLang="en-US" sz="17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例如，对于</a:t>
            </a:r>
            <a:r>
              <a:rPr kumimoji="1" lang="en-US" altLang="zh-CN" sz="17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</a:t>
            </a:r>
          </a:p>
          <a:p>
            <a:pPr lvl="1" algn="just">
              <a:lnSpc>
                <a:spcPct val="105000"/>
              </a:lnSpc>
              <a:spcBef>
                <a:spcPts val="600"/>
              </a:spcBef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v1.begin():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得到指向第一个元素的迭代器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  <a:spcBef>
                <a:spcPts val="600"/>
              </a:spcBef>
            </a:pP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v1.end():  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指向最后一个元素（</a:t>
            </a:r>
            <a:r>
              <a:rPr kumimoji="1" lang="en-US" altLang="zh-CN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v1[v1.size()-1]</a:t>
            </a:r>
            <a:r>
              <a:rPr kumimoji="1" lang="zh-CN" altLang="en-US" sz="147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）之后位置的迭代器</a:t>
            </a:r>
            <a:endParaRPr kumimoji="1" lang="en-US" altLang="zh-CN" sz="147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937640" y="3294752"/>
            <a:ext cx="1393917" cy="2880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24440" y="3582752"/>
            <a:ext cx="983678" cy="29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1323" dirty="0">
                <a:solidFill>
                  <a:srgbClr val="000000"/>
                </a:solidFill>
                <a:latin typeface="Times New Roman" panose="02020603050405020304" pitchFamily="18" charset="0"/>
              </a:rPr>
              <a:t>free space</a:t>
            </a:r>
            <a:endParaRPr lang="zh-CN" altLang="en-US" sz="1323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97788" y="3582751"/>
            <a:ext cx="820318" cy="29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1323" dirty="0">
                <a:solidFill>
                  <a:srgbClr val="000000"/>
                </a:solidFill>
                <a:latin typeface="Times New Roman" panose="02020603050405020304" pitchFamily="18" charset="0"/>
              </a:rPr>
              <a:t>elements</a:t>
            </a:r>
            <a:endParaRPr lang="zh-CN" altLang="en-US" sz="1323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5462321" y="658877"/>
            <a:ext cx="3424926" cy="10619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vector&lt;</a:t>
            </a:r>
            <a:r>
              <a:rPr kumimoji="1" lang="en-US" altLang="zh-CN" sz="14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v1; </a:t>
            </a: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kumimoji="1" lang="en-US" altLang="zh-CN" sz="14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kumimoji="1" lang="en-US" altLang="zh-CN" sz="14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&lt;6; ++</a:t>
            </a:r>
            <a:r>
              <a:rPr kumimoji="1" lang="en-US" altLang="zh-CN" sz="14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v1.push_back(i+1);    </a:t>
            </a:r>
            <a:r>
              <a:rPr kumimoji="1" lang="en-US" altLang="zh-CN" sz="1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zh-CN" altLang="en-US" sz="1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kumimoji="1" lang="en-US" altLang="zh-CN" sz="1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kumimoji="1" lang="zh-CN" altLang="en-US" sz="1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加在</a:t>
            </a:r>
            <a:r>
              <a:rPr kumimoji="1" lang="en-US" altLang="zh-CN" sz="1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kumimoji="1" lang="zh-CN" altLang="en-US" sz="1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末尾</a:t>
            </a:r>
            <a:endParaRPr kumimoji="1" lang="en-US" altLang="zh-CN" sz="12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1533" y="3909794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v1.begin()</a:t>
            </a:r>
            <a:endParaRPr lang="zh-CN" altLang="en-US" dirty="0"/>
          </a:p>
        </p:txBody>
      </p:sp>
      <p:sp>
        <p:nvSpPr>
          <p:cNvPr id="40" name="Line 10">
            <a:extLst>
              <a:ext uri="{FF2B5EF4-FFF2-40B4-BE49-F238E27FC236}">
                <a16:creationId xmlns:a16="http://schemas.microsoft.com/office/drawing/2014/main" id="{5DFA3589-BB3C-EB3E-9B78-5E494BC3A7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75970" y="3615899"/>
            <a:ext cx="5287" cy="29591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41" name="Line 10">
            <a:extLst>
              <a:ext uri="{FF2B5EF4-FFF2-40B4-BE49-F238E27FC236}">
                <a16:creationId xmlns:a16="http://schemas.microsoft.com/office/drawing/2014/main" id="{5DFA3589-BB3C-EB3E-9B78-5E494BC3A7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97344" y="3615899"/>
            <a:ext cx="5287" cy="29591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948873" y="3861292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v1.end()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 bwMode="auto">
          <a:xfrm>
            <a:off x="5462321" y="2750575"/>
            <a:ext cx="3424926" cy="22897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vector&lt;</a:t>
            </a:r>
            <a:r>
              <a:rPr kumimoji="1" lang="en-US" altLang="zh-CN" sz="1400" b="1" kern="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1400" b="1" kern="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v1;                   //</a:t>
            </a:r>
            <a:r>
              <a:rPr kumimoji="1" lang="zh-CN" altLang="en-US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vector&lt;</a:t>
            </a:r>
            <a:r>
              <a:rPr kumimoji="1" lang="en-US" altLang="zh-CN" sz="1400" b="1" kern="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1400" b="1" kern="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&gt;::iterator 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it;     //</a:t>
            </a:r>
            <a:r>
              <a:rPr kumimoji="1" lang="zh-CN" altLang="en-US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迭代器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</a:p>
          <a:p>
            <a:pPr lvl="0" defTabSz="914400">
              <a:lnSpc>
                <a:spcPts val="1800"/>
              </a:lnSpc>
              <a:defRPr/>
            </a:pPr>
            <a:endParaRPr kumimoji="1" lang="en-US" altLang="zh-CN" sz="1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for(it = v1.begin(); it != v1.end(); it++) {</a:t>
            </a: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en-US" altLang="zh-CN" sz="14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(“%d\n”, *it);</a:t>
            </a:r>
          </a:p>
          <a:p>
            <a:pPr lvl="0" defTabSz="914400">
              <a:lnSpc>
                <a:spcPts val="1800"/>
              </a:lnSpc>
              <a:defRPr/>
            </a:pPr>
            <a:r>
              <a:rPr kumimoji="1" lang="en-US" altLang="zh-CN" sz="14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5392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iterator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/>
          <p:cNvSpPr txBox="1">
            <a:spLocks/>
          </p:cNvSpPr>
          <p:nvPr/>
        </p:nvSpPr>
        <p:spPr>
          <a:xfrm>
            <a:off x="663501" y="791963"/>
            <a:ext cx="8063865" cy="175166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迭代器（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iterator</a:t>
            </a: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是遍历容器中数据的方法，可用指针概念理解</a:t>
            </a:r>
            <a:endParaRPr kumimoji="1" lang="en-US" altLang="zh-CN" sz="14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将标准库算法与数据联系起来的粘合剂</a:t>
            </a:r>
            <a:endParaRPr kumimoji="1" lang="en-US" altLang="zh-CN" sz="147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降低算法对所操作数据结构的依赖</a:t>
            </a:r>
            <a:endParaRPr kumimoji="1" lang="en-US" altLang="zh-CN" sz="147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948" y="2346010"/>
            <a:ext cx="8154800" cy="154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422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STL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中有很多容器：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vector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string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set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等，迭代器可以作为一种统一的遍历工具。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4422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有很多常用的标准库算法，支持这些容器。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如果没有迭代器，那么这些算法可能需要为每个容器量身定做一段代码。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如果存在迭代器，无论什么数据结构的迭代器都有通用的遍历方式，算法可以只针对迭代器实现，而不需考虑该迭代器是什么数据结构的。</a:t>
            </a:r>
          </a:p>
        </p:txBody>
      </p:sp>
    </p:spTree>
    <p:extLst>
      <p:ext uri="{BB962C8B-B14F-4D97-AF65-F5344CB8AC3E}">
        <p14:creationId xmlns:p14="http://schemas.microsoft.com/office/powerpoint/2010/main" val="397490497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Standard  Template Library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848872" cy="3844592"/>
          </a:xfrm>
          <a:prstGeom prst="rect">
            <a:avLst/>
          </a:prstGeom>
        </p:spPr>
        <p:txBody>
          <a:bodyPr vert="horz" lIns="80229" tIns="40115" rIns="80229" bIns="40115" rtlCol="0">
            <a:normAutofit fontScale="92500" lnSpcReduction="2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容器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迭代器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iterators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lang="en-US" altLang="zh-CN" sz="2400" b="1" dirty="0"/>
              <a:t>Sorting</a:t>
            </a:r>
            <a:r>
              <a:rPr lang="en-US" altLang="zh-CN" sz="2400" dirty="0"/>
              <a:t>: </a:t>
            </a:r>
            <a:r>
              <a:rPr lang="en-US" altLang="zh-CN" sz="2000" dirty="0"/>
              <a:t>sort(), </a:t>
            </a:r>
            <a:r>
              <a:rPr lang="en-US" altLang="zh-CN" sz="2000" dirty="0" err="1"/>
              <a:t>stable_sort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is_sorted</a:t>
            </a:r>
            <a:r>
              <a:rPr lang="en-US" altLang="zh-CN" sz="2000" dirty="0"/>
              <a:t>(),…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lang="en-US" altLang="zh-CN" sz="2400" b="1" dirty="0"/>
              <a:t>Search</a:t>
            </a:r>
            <a:r>
              <a:rPr lang="en-US" altLang="zh-CN" sz="2400" dirty="0"/>
              <a:t> : </a:t>
            </a:r>
            <a:r>
              <a:rPr lang="en-US" altLang="zh-CN" sz="2000" dirty="0"/>
              <a:t>find(), </a:t>
            </a:r>
            <a:r>
              <a:rPr lang="en-US" altLang="zh-CN" sz="2000" dirty="0" err="1"/>
              <a:t>find_if</a:t>
            </a:r>
            <a:r>
              <a:rPr lang="en-US" altLang="zh-CN" sz="2000" dirty="0"/>
              <a:t>(), </a:t>
            </a:r>
            <a:r>
              <a:rPr lang="en-US" altLang="zh-CN" sz="2000" dirty="0" err="1"/>
              <a:t>find_if_not</a:t>
            </a:r>
            <a:r>
              <a:rPr lang="en-US" altLang="zh-CN" sz="2000" dirty="0"/>
              <a:t>(),</a:t>
            </a:r>
            <a:r>
              <a:rPr lang="en-US" altLang="zh-CN" sz="2000" dirty="0" err="1"/>
              <a:t>find_first_of</a:t>
            </a:r>
            <a:r>
              <a:rPr lang="en-US" altLang="zh-CN" sz="2000" dirty="0"/>
              <a:t>(), …</a:t>
            </a:r>
            <a:endParaRPr lang="en-US" altLang="zh-CN" sz="2000" b="1" dirty="0"/>
          </a:p>
          <a:p>
            <a:pPr lvl="1" algn="just">
              <a:lnSpc>
                <a:spcPct val="105000"/>
              </a:lnSpc>
            </a:pPr>
            <a:r>
              <a:rPr lang="en-US" altLang="zh-CN" sz="2400" b="1" dirty="0"/>
              <a:t>Binary search</a:t>
            </a:r>
            <a:r>
              <a:rPr lang="en-US" altLang="zh-CN" sz="2000" dirty="0"/>
              <a:t> : </a:t>
            </a:r>
            <a:r>
              <a:rPr lang="en-US" altLang="zh-CN" sz="2000" dirty="0" err="1">
                <a:solidFill>
                  <a:srgbClr val="000000"/>
                </a:solidFill>
              </a:rPr>
              <a:t>lower_bound</a:t>
            </a:r>
            <a:r>
              <a:rPr lang="en-US" altLang="zh-CN" sz="2000" dirty="0">
                <a:solidFill>
                  <a:srgbClr val="000000"/>
                </a:solidFill>
              </a:rPr>
              <a:t>(), </a:t>
            </a:r>
            <a:r>
              <a:rPr lang="en-US" altLang="zh-CN" sz="2000" dirty="0" err="1">
                <a:solidFill>
                  <a:srgbClr val="000000"/>
                </a:solidFill>
              </a:rPr>
              <a:t>upper_bound</a:t>
            </a:r>
            <a:r>
              <a:rPr lang="en-US" altLang="zh-CN" sz="2000" dirty="0">
                <a:solidFill>
                  <a:srgbClr val="000000"/>
                </a:solidFill>
              </a:rPr>
              <a:t>(),</a:t>
            </a:r>
            <a:r>
              <a:rPr lang="en-US" altLang="zh-CN" sz="2000" dirty="0" err="1">
                <a:solidFill>
                  <a:srgbClr val="000000"/>
                </a:solidFill>
              </a:rPr>
              <a:t>binary_search</a:t>
            </a:r>
            <a:r>
              <a:rPr lang="en-US" altLang="zh-CN" sz="2000" dirty="0">
                <a:solidFill>
                  <a:srgbClr val="000000"/>
                </a:solidFill>
              </a:rPr>
              <a:t>(),… </a:t>
            </a:r>
            <a:endParaRPr kumimoji="1" lang="en-US" altLang="zh-CN"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lang="en-US" altLang="zh-CN" sz="2400" b="1" dirty="0"/>
              <a:t>Merge</a:t>
            </a:r>
            <a:r>
              <a:rPr lang="en-US" altLang="zh-CN" sz="2400" dirty="0"/>
              <a:t> (operating on sorted ranges): </a:t>
            </a:r>
            <a:r>
              <a:rPr kumimoji="1" lang="en-US" altLang="zh-C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 algn="just">
              <a:lnSpc>
                <a:spcPct val="105000"/>
              </a:lnSpc>
            </a:pPr>
            <a:r>
              <a:rPr lang="en-US" altLang="zh-CN" sz="2400" b="1" dirty="0"/>
              <a:t>Heap</a:t>
            </a:r>
            <a:r>
              <a:rPr lang="en-US" altLang="zh-CN" sz="2400" dirty="0"/>
              <a:t>:…</a:t>
            </a:r>
          </a:p>
          <a:p>
            <a:pPr lvl="1" algn="just">
              <a:lnSpc>
                <a:spcPct val="105000"/>
              </a:lnSpc>
            </a:pPr>
            <a:r>
              <a:rPr lang="en-US" altLang="zh-CN" sz="2400" b="1" dirty="0"/>
              <a:t>Min/max</a:t>
            </a:r>
            <a:r>
              <a:rPr lang="en-US" altLang="zh-CN" sz="2400" dirty="0"/>
              <a:t>:</a:t>
            </a:r>
          </a:p>
          <a:p>
            <a:pPr lvl="1" algn="just">
              <a:lnSpc>
                <a:spcPct val="105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en-US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endParaRPr kumimoji="1" lang="zh-CN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7252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Algorithms: sort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41FD0-DD10-9DBC-2E8E-A963D6987981}"/>
              </a:ext>
            </a:extLst>
          </p:cNvPr>
          <p:cNvSpPr txBox="1">
            <a:spLocks/>
          </p:cNvSpPr>
          <p:nvPr/>
        </p:nvSpPr>
        <p:spPr>
          <a:xfrm>
            <a:off x="663501" y="791963"/>
            <a:ext cx="8063865" cy="175166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以排序算法为例：</a:t>
            </a:r>
            <a:endParaRPr kumimoji="1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sort (</a:t>
            </a:r>
            <a:r>
              <a:rPr kumimoji="1" lang="en-US" altLang="zh-CN" sz="147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RandomAccessIterator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first, </a:t>
            </a:r>
            <a:r>
              <a:rPr kumimoji="1" lang="en-US" altLang="zh-CN" sz="147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RandomAccessIterator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last, Compare comp);</a:t>
            </a: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sort(</a:t>
            </a: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迭代器起始位置，迭代器终点位置，比较方式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可省略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)</a:t>
            </a: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只需要传入可排序容器的两个迭代器（分别为排序起始位置和终点位置），即可排序。</a:t>
            </a:r>
            <a:endParaRPr kumimoji="1" lang="en-US" altLang="zh-CN" sz="14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77D821-2F04-C94F-CEE6-4227E2026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57" y="2088108"/>
            <a:ext cx="3202551" cy="26879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A1C45E-C5F2-E7D2-18B9-45BC2236D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418" y="2865358"/>
            <a:ext cx="28098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2071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Algorithms: sort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41FD0-DD10-9DBC-2E8E-A963D6987981}"/>
              </a:ext>
            </a:extLst>
          </p:cNvPr>
          <p:cNvSpPr txBox="1">
            <a:spLocks/>
          </p:cNvSpPr>
          <p:nvPr/>
        </p:nvSpPr>
        <p:spPr>
          <a:xfrm>
            <a:off x="663501" y="791963"/>
            <a:ext cx="8063865" cy="1751665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以排序算法为例：</a:t>
            </a:r>
            <a:endParaRPr kumimoji="1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sort (</a:t>
            </a:r>
            <a:r>
              <a:rPr kumimoji="1" lang="en-US" altLang="zh-CN" sz="147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RandomAccessIterator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first, </a:t>
            </a:r>
            <a:r>
              <a:rPr kumimoji="1" lang="en-US" altLang="zh-CN" sz="147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RandomAccessIterator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last, Compare comp);</a:t>
            </a:r>
          </a:p>
          <a:p>
            <a:pPr lvl="1" algn="just">
              <a:lnSpc>
                <a:spcPct val="105000"/>
              </a:lnSpc>
            </a:pP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sort(</a:t>
            </a: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迭代器起始位置，迭代器终点位置，比较方式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可省略</a:t>
            </a:r>
            <a:r>
              <a:rPr kumimoji="1" lang="en-US" altLang="zh-CN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)</a:t>
            </a: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只需要传入可排序容器的两个迭代器（分别为排序起始位置和终点位置），即可排序。</a:t>
            </a:r>
            <a:endParaRPr kumimoji="1" lang="en-US" altLang="zh-CN" sz="14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BD2978-3D04-551A-FE26-92E66B674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565" y="2083570"/>
            <a:ext cx="3071639" cy="26970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515D62-6610-01C6-1787-F26328C13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89" y="2687642"/>
            <a:ext cx="27813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3646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Standard  Template Library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vector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容器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迭代器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iterators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类似于指针，提供间接访问和移动到容器中下一个元素的操作</a:t>
            </a:r>
            <a:endParaRPr kumimoji="1" lang="en-US" altLang="zh-CN" sz="14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是将标准库算法与其数据联系起来的粘合剂</a:t>
            </a:r>
            <a:endParaRPr kumimoji="1" lang="en-US" altLang="zh-CN" sz="14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4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是最小化算法对所操作数据结构依赖性的机制</a:t>
            </a:r>
            <a:endParaRPr kumimoji="1"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565" y="3024212"/>
            <a:ext cx="4879303" cy="147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8198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容器（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（向量，变长数组）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（栈）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（队列，优先队列）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（有序集合）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（关联容器）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2586926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5"/>
            <a:ext cx="7704856" cy="4276516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（有序集合）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lang="en-US" altLang="zh-CN" sz="1600" dirty="0"/>
              <a:t>Sets are containers that store unique elements following a specific order.</a:t>
            </a:r>
          </a:p>
          <a:p>
            <a:pPr lvl="1" algn="just">
              <a:lnSpc>
                <a:spcPct val="105000"/>
              </a:lnSpc>
            </a:pP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里每个元素都是独一无二的，并且所有元素是有序排列的。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中的每个元素值不能改变，但可以通过删除、插入元素的方式实现。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主要操作：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set&lt;int&gt; 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创建一个存储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型数据的集合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，初始没有元素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st.insert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集合中插入一个元素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st.erase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 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删除集合内的元素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，此处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erase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参数为元素值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st.erase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(it)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st.erase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ed) 	//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删除集合内迭代器指向的元素或一个区间内的元素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st.clear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清空集合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的所有元素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st.size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	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得到集合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的元素个数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st.empty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是否为空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st.find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st.count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	//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查询集合内元素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是否出现，两个函数作用一样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lower_bound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upper_bound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二分查找大于等于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大于某元素的集合内的第一个元素位置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2282150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举例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通过迭代器遍历、插入删除示例：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D7F8D8-DDA2-7B27-E36D-D1FAB06A2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14" y="698768"/>
            <a:ext cx="3351792" cy="43303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4D93DB-A427-DFA9-8B02-2451A4155F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73" y="2232124"/>
            <a:ext cx="29241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5562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举例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二分查找示例：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051ACA-F72A-3EB3-B83D-0EB68E486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973" y="739184"/>
            <a:ext cx="3919287" cy="43011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FE3745C-698A-317A-1D21-E3892D9D7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478" y="2122985"/>
            <a:ext cx="28194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3470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例题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月份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认证第一题：相反数（时间限制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、内存限制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256MB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A836640-271E-1483-93C8-91225EC19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75" y="1473317"/>
            <a:ext cx="6887700" cy="35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031735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5A836640-271E-1483-93C8-91225EC19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55" y="1755653"/>
            <a:ext cx="4073509" cy="210958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48D0B68-6686-64FE-8342-A42F5D967B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933" y="724471"/>
            <a:ext cx="4171950" cy="4171950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9E8C9A17-9A68-E668-7938-BB8BA3E21A26}"/>
              </a:ext>
            </a:extLst>
          </p:cNvPr>
          <p:cNvSpPr txBox="1">
            <a:spLocks noChangeArrowheads="1"/>
          </p:cNvSpPr>
          <p:nvPr/>
        </p:nvSpPr>
        <p:spPr>
          <a:xfrm>
            <a:off x="560366" y="772449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参考代码（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55916427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 fontScale="925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例题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月份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认证第一题改编：中间数（时间限制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、内存限制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256MB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D957A7-A197-09D2-36D5-FA1FAE50D295}"/>
              </a:ext>
            </a:extLst>
          </p:cNvPr>
          <p:cNvSpPr txBox="1"/>
          <p:nvPr/>
        </p:nvSpPr>
        <p:spPr>
          <a:xfrm>
            <a:off x="4839965" y="3684479"/>
            <a:ext cx="180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样例输入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7</a:t>
            </a:r>
            <a:br>
              <a:rPr lang="en-US" altLang="zh-C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2 6 5 6 3 5 4</a:t>
            </a:r>
          </a:p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样例输出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</a:t>
            </a:r>
          </a:p>
          <a:p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CBFABA-4D85-5395-6272-C3FC9386FA7A}"/>
              </a:ext>
            </a:extLst>
          </p:cNvPr>
          <p:cNvSpPr txBox="1"/>
          <p:nvPr/>
        </p:nvSpPr>
        <p:spPr>
          <a:xfrm>
            <a:off x="879525" y="1499733"/>
            <a:ext cx="79208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</a:p>
          <a:p>
            <a:pPr algn="l"/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　　在一个整数序列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0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 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0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 …, 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1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中，忽略掉重复数字后，如果存在某个数，大于它的整数数量等于小于它的整数数量，则称其为中间数。在一个序列中，可能存在多个下标不相同的中间数，这些中间数的值是相同的。</a:t>
            </a:r>
            <a:b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　　给定一个整数序列，请找出这个整数序列的中间数的值。</a:t>
            </a:r>
          </a:p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输入格式</a:t>
            </a:r>
          </a:p>
          <a:p>
            <a:pPr algn="l"/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　　输入的第一行包含了一个整数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(1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1000)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，表示整数序列中数的个数。</a:t>
            </a:r>
            <a:b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　　第二行包含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个正整数，依次表示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0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 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0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 …, 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1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(1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en-US" altLang="zh-CN" sz="1400" b="0" i="0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1000)</a:t>
            </a:r>
            <a:endParaRPr lang="zh-CN" altLang="en-US" sz="14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输出格式</a:t>
            </a:r>
          </a:p>
          <a:p>
            <a:pPr algn="l"/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　　如果约定序列的中间数存在，则输出中间数的值，否则输出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表示不存在中间数。</a:t>
            </a:r>
          </a:p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样例输入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</a:t>
            </a:r>
            <a:br>
              <a:rPr lang="en-US" altLang="zh-C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2 6 5 6 3 5</a:t>
            </a:r>
          </a:p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样例输出</a:t>
            </a:r>
          </a:p>
          <a:p>
            <a:pPr algn="l"/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-1</a:t>
            </a:r>
            <a:endParaRPr lang="en-US" altLang="zh-CN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8463248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参考代码（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712ECB-FE7B-1644-EC6E-B959DB8F78F2}"/>
              </a:ext>
            </a:extLst>
          </p:cNvPr>
          <p:cNvSpPr txBox="1"/>
          <p:nvPr/>
        </p:nvSpPr>
        <p:spPr>
          <a:xfrm>
            <a:off x="807517" y="1627891"/>
            <a:ext cx="32907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</a:p>
          <a:p>
            <a:pPr algn="l"/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　　在一个整数序列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0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 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0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 …, </a:t>
            </a:r>
            <a:r>
              <a:rPr lang="en-US" altLang="zh-CN" sz="1400" b="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 b="0" i="1" baseline="-25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中，忽略掉重复数字后，如果存在某个数，大于它的整数数量等于小于它的整数数量，则称其为中间数。在一个序列中，可能存在多个下标不相同的中间数，这些中间数的值是相同的。</a:t>
            </a:r>
            <a:b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　　给定一个整数序列，请找出这个整数序列的中间数的值。</a:t>
            </a:r>
          </a:p>
          <a:p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EB60E3-8AB0-9639-83D6-89A471AAC9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15" y="1137920"/>
            <a:ext cx="4135102" cy="339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0633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例题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洛谷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P5250  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木材仓库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CB139E-8833-B378-5A3F-486080F67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47" y="1426236"/>
            <a:ext cx="6008963" cy="20075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A48899-D234-C933-EF9E-6A7100823A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17" y="3298951"/>
            <a:ext cx="5164856" cy="174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04361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set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D2A97292-48FC-DBE7-15DE-A5167B7DC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16" y="1053489"/>
            <a:ext cx="3617809" cy="390021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CAC067A-4C98-6EFB-4678-4EAB890A2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652" y="739184"/>
            <a:ext cx="4000309" cy="42240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5916659-191B-0400-0996-3EF91840BDB7}"/>
              </a:ext>
            </a:extLst>
          </p:cNvPr>
          <p:cNvSpPr txBox="1"/>
          <p:nvPr/>
        </p:nvSpPr>
        <p:spPr>
          <a:xfrm>
            <a:off x="807517" y="653379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参考代码（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</a:p>
        </p:txBody>
      </p:sp>
    </p:spTree>
    <p:extLst>
      <p:ext uri="{BB962C8B-B14F-4D97-AF65-F5344CB8AC3E}">
        <p14:creationId xmlns:p14="http://schemas.microsoft.com/office/powerpoint/2010/main" val="316229237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容器（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（向量，变长数组）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（栈）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kumimoji="1" lang="zh-CN" altLang="en-US" sz="20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（队列，优先队列）</a:t>
            </a:r>
            <a:endParaRPr kumimoji="1" lang="en-US" altLang="zh-CN" sz="20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20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（有序集合）</a:t>
            </a:r>
            <a:endParaRPr kumimoji="1" lang="en-US" altLang="zh-CN" sz="2000"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（关联容器）</a:t>
            </a:r>
            <a:endParaRPr kumimoji="1" lang="en-US" altLang="zh-CN" sz="2000"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6388620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map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4"/>
            <a:ext cx="7704856" cy="45646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（关联容器）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存储一一映射关系（键值对）且支持快速查找的容器。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可以通过键（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）索引到值（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内部按键大小排序。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主要操作：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map&lt;string, int&gt; 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创建一个键为字符串类型，值为整数类型的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[“Chinese”] = 88;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插入（若键不存在）或修改（若键存在）相应键对应的值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mp.insert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(pair&lt;string, int&gt;(“Math”, 98));  /  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mp.insert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make_pair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(“Math”, 98));</a:t>
            </a: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mp.clear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	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清空所有的键值对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mp.size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	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获得当前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存储的键值对个数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mp.empty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	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是否为空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score = 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[“English”];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取下标即根据键索引值过程，返回键对应的值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mp.erase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(“Math”);		//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删除键为“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”的键值对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mp.erase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(it)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mp.erase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ed);               //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根据迭代器删除单个或区间（同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it = </a:t>
            </a:r>
            <a:r>
              <a:rPr kumimoji="1" lang="en-US" altLang="zh-CN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mp.find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(“Chinese”);	// 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查找是否存在键为“</a:t>
            </a: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</a:t>
            </a:r>
            <a:r>
              <a:rPr kumimoji="1" lang="zh-CN" alt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”的键值对，返回迭代器</a:t>
            </a:r>
            <a:endParaRPr kumimoji="1" lang="en-US" altLang="zh-C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5000"/>
              </a:lnSpc>
            </a:pPr>
            <a:r>
              <a:rPr kumimoji="1" lang="en-US" altLang="zh-C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0791274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map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举例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通过迭代器遍历、删除示例：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3CECFE-ECEC-9F5A-ED7E-CED043C90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17" y="1573763"/>
            <a:ext cx="4745335" cy="33504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3FC6430-2788-2F32-CF40-4243F1642C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594" y="2016100"/>
            <a:ext cx="286702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3851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map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例题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月份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认证第一题：相反数（时间限制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、内存限制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256MB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A836640-271E-1483-93C8-91225EC19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75" y="1473317"/>
            <a:ext cx="6887700" cy="35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19318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map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参考代码（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5891B8-5155-3597-451D-1123F2000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7" y="1531633"/>
            <a:ext cx="4010025" cy="31813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33D3B6-7194-D013-9C5B-F920A1D47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71" y="1494745"/>
            <a:ext cx="3549402" cy="321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674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map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 fontScale="85000" lnSpcReduction="1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例题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月份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认证第一题：出现次数最多的数（时间限制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、内存限制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256MB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CE839E-6EFA-E076-BC01-14E69DE27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65" y="1440036"/>
            <a:ext cx="6350719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8753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map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参考代码（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C2E537-4A91-3AEE-9427-F547E201E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10" y="1324266"/>
            <a:ext cx="6689229" cy="3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40501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STL — map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7704856" cy="748248"/>
          </a:xfrm>
          <a:prstGeom prst="rect">
            <a:avLst/>
          </a:prstGeom>
        </p:spPr>
        <p:txBody>
          <a:bodyPr vert="horz" lIns="80229" tIns="40115" rIns="80229" bIns="40115" rtlCol="0">
            <a:normAutofit fontScale="85000" lnSpcReduction="10000"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例题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600" dirty="0"/>
          </a:p>
          <a:p>
            <a:pPr lvl="1" algn="just">
              <a:lnSpc>
                <a:spcPct val="105000"/>
              </a:lnSpc>
            </a:pP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月份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认证第一题：出现次数最多的数（时间限制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、内存限制</a:t>
            </a:r>
            <a:r>
              <a:rPr kumimoji="1" lang="en-US" altLang="zh-C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256MB</a:t>
            </a:r>
            <a:r>
              <a:rPr kumimoji="1" lang="zh-C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CE839E-6EFA-E076-BC01-14E69DE27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65" y="1440036"/>
            <a:ext cx="6350719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19828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807517" y="763796"/>
            <a:ext cx="6912768" cy="3052503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栈（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队列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字符串（</a:t>
            </a:r>
            <a:r>
              <a:rPr lang="en-US" altLang="zh-CN" sz="2200" b="1" dirty="0">
                <a:solidFill>
                  <a:schemeClr val="bg1">
                    <a:lumMod val="65000"/>
                  </a:schemeClr>
                </a:solidFill>
              </a:rPr>
              <a:t>String</a:t>
            </a:r>
            <a:r>
              <a:rPr lang="zh-CN" altLang="en-US" sz="2200" b="1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sz="2200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树（</a:t>
            </a:r>
            <a:r>
              <a:rPr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图（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27931697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树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1599605" y="2202773"/>
            <a:ext cx="3426685" cy="2016225"/>
            <a:chOff x="467544" y="2403181"/>
            <a:chExt cx="3771842" cy="2087145"/>
          </a:xfrm>
        </p:grpSpPr>
        <p:grpSp>
          <p:nvGrpSpPr>
            <p:cNvPr id="10" name="Group 6"/>
            <p:cNvGrpSpPr/>
            <p:nvPr/>
          </p:nvGrpSpPr>
          <p:grpSpPr bwMode="auto">
            <a:xfrm>
              <a:off x="3792801" y="3539745"/>
              <a:ext cx="446585" cy="371852"/>
              <a:chOff x="0" y="0"/>
              <a:chExt cx="367" cy="336"/>
            </a:xfrm>
          </p:grpSpPr>
          <p:sp>
            <p:nvSpPr>
              <p:cNvPr id="65" name="Oval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" name="Text Box 9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J</a:t>
                </a:r>
              </a:p>
            </p:txBody>
          </p:sp>
        </p:grpSp>
        <p:grpSp>
          <p:nvGrpSpPr>
            <p:cNvPr id="12" name="Group 9"/>
            <p:cNvGrpSpPr/>
            <p:nvPr/>
          </p:nvGrpSpPr>
          <p:grpSpPr bwMode="auto">
            <a:xfrm>
              <a:off x="3321095" y="3542778"/>
              <a:ext cx="464838" cy="371852"/>
              <a:chOff x="0" y="0"/>
              <a:chExt cx="382" cy="336"/>
            </a:xfrm>
          </p:grpSpPr>
          <p:sp>
            <p:nvSpPr>
              <p:cNvPr id="63" name="Oval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Text Box 12"/>
              <p:cNvSpPr txBox="1">
                <a:spLocks noChangeArrowheads="1"/>
              </p:cNvSpPr>
              <p:nvPr/>
            </p:nvSpPr>
            <p:spPr bwMode="auto">
              <a:xfrm>
                <a:off x="65" y="15"/>
                <a:ext cx="317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 bwMode="auto">
            <a:xfrm>
              <a:off x="2217599" y="2403181"/>
              <a:ext cx="395476" cy="389558"/>
              <a:chOff x="0" y="-16"/>
              <a:chExt cx="325" cy="352"/>
            </a:xfrm>
          </p:grpSpPr>
          <p:sp>
            <p:nvSpPr>
              <p:cNvPr id="61" name="Oval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Text Box 15"/>
              <p:cNvSpPr txBox="1">
                <a:spLocks noChangeArrowheads="1"/>
              </p:cNvSpPr>
              <p:nvPr/>
            </p:nvSpPr>
            <p:spPr bwMode="auto">
              <a:xfrm>
                <a:off x="6" y="-16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14" name="Group 15"/>
            <p:cNvGrpSpPr/>
            <p:nvPr/>
          </p:nvGrpSpPr>
          <p:grpSpPr bwMode="auto">
            <a:xfrm>
              <a:off x="2217599" y="2931927"/>
              <a:ext cx="413729" cy="371852"/>
              <a:chOff x="0" y="0"/>
              <a:chExt cx="340" cy="336"/>
            </a:xfrm>
          </p:grpSpPr>
          <p:sp>
            <p:nvSpPr>
              <p:cNvPr id="59" name="Oval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Text Box 18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15" name="Group 18"/>
            <p:cNvGrpSpPr/>
            <p:nvPr/>
          </p:nvGrpSpPr>
          <p:grpSpPr bwMode="auto">
            <a:xfrm>
              <a:off x="1271397" y="2931927"/>
              <a:ext cx="424681" cy="371852"/>
              <a:chOff x="0" y="0"/>
              <a:chExt cx="349" cy="336"/>
            </a:xfrm>
          </p:grpSpPr>
          <p:sp>
            <p:nvSpPr>
              <p:cNvPr id="57" name="Oval 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Text Box 21"/>
              <p:cNvSpPr txBox="1">
                <a:spLocks noChangeArrowheads="1"/>
              </p:cNvSpPr>
              <p:nvPr/>
            </p:nvSpPr>
            <p:spPr bwMode="auto">
              <a:xfrm>
                <a:off x="30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20" name="Group 21"/>
            <p:cNvGrpSpPr/>
            <p:nvPr/>
          </p:nvGrpSpPr>
          <p:grpSpPr bwMode="auto">
            <a:xfrm>
              <a:off x="3289403" y="2931927"/>
              <a:ext cx="413729" cy="371852"/>
              <a:chOff x="0" y="0"/>
              <a:chExt cx="340" cy="336"/>
            </a:xfrm>
          </p:grpSpPr>
          <p:sp>
            <p:nvSpPr>
              <p:cNvPr id="55" name="Oval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Text Box 24"/>
              <p:cNvSpPr txBox="1">
                <a:spLocks noChangeArrowheads="1"/>
              </p:cNvSpPr>
              <p:nvPr/>
            </p:nvSpPr>
            <p:spPr bwMode="auto">
              <a:xfrm>
                <a:off x="23" y="0"/>
                <a:ext cx="317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21" name="Group 24"/>
            <p:cNvGrpSpPr/>
            <p:nvPr/>
          </p:nvGrpSpPr>
          <p:grpSpPr bwMode="auto">
            <a:xfrm>
              <a:off x="2843808" y="3542778"/>
              <a:ext cx="413729" cy="371852"/>
              <a:chOff x="0" y="0"/>
              <a:chExt cx="340" cy="336"/>
            </a:xfrm>
          </p:grpSpPr>
          <p:sp>
            <p:nvSpPr>
              <p:cNvPr id="53" name="Oval 2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Text Box 27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</p:grpSp>
        <p:grpSp>
          <p:nvGrpSpPr>
            <p:cNvPr id="23" name="Group 27"/>
            <p:cNvGrpSpPr/>
            <p:nvPr/>
          </p:nvGrpSpPr>
          <p:grpSpPr bwMode="auto">
            <a:xfrm>
              <a:off x="2195736" y="3501008"/>
              <a:ext cx="413729" cy="371852"/>
              <a:chOff x="0" y="0"/>
              <a:chExt cx="340" cy="336"/>
            </a:xfrm>
          </p:grpSpPr>
          <p:sp>
            <p:nvSpPr>
              <p:cNvPr id="51" name="Oval 2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Text Box 30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G</a:t>
                </a:r>
              </a:p>
            </p:txBody>
          </p:sp>
        </p:grpSp>
        <p:grpSp>
          <p:nvGrpSpPr>
            <p:cNvPr id="24" name="Group 30"/>
            <p:cNvGrpSpPr/>
            <p:nvPr/>
          </p:nvGrpSpPr>
          <p:grpSpPr bwMode="auto">
            <a:xfrm>
              <a:off x="1547722" y="3479360"/>
              <a:ext cx="446585" cy="371852"/>
              <a:chOff x="0" y="0"/>
              <a:chExt cx="367" cy="336"/>
            </a:xfrm>
          </p:grpSpPr>
          <p:sp>
            <p:nvSpPr>
              <p:cNvPr id="49" name="Oval 3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Text Box 33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25" name="Group 33"/>
            <p:cNvGrpSpPr/>
            <p:nvPr/>
          </p:nvGrpSpPr>
          <p:grpSpPr bwMode="auto">
            <a:xfrm>
              <a:off x="869471" y="3468293"/>
              <a:ext cx="423295" cy="382919"/>
              <a:chOff x="0" y="-10"/>
              <a:chExt cx="348" cy="346"/>
            </a:xfrm>
          </p:grpSpPr>
          <p:sp>
            <p:nvSpPr>
              <p:cNvPr id="47" name="Oval 3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Text Box 36"/>
              <p:cNvSpPr txBox="1">
                <a:spLocks noChangeArrowheads="1"/>
              </p:cNvSpPr>
              <p:nvPr/>
            </p:nvSpPr>
            <p:spPr bwMode="auto">
              <a:xfrm>
                <a:off x="30" y="-10"/>
                <a:ext cx="318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26" name="Line 37"/>
            <p:cNvSpPr>
              <a:spLocks noChangeShapeType="1"/>
            </p:cNvSpPr>
            <p:nvPr/>
          </p:nvSpPr>
          <p:spPr bwMode="auto">
            <a:xfrm>
              <a:off x="2418563" y="2800486"/>
              <a:ext cx="0" cy="1299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Line 38"/>
            <p:cNvSpPr>
              <a:spLocks noChangeShapeType="1"/>
            </p:cNvSpPr>
            <p:nvPr/>
          </p:nvSpPr>
          <p:spPr bwMode="auto">
            <a:xfrm flipH="1">
              <a:off x="1547722" y="2639256"/>
              <a:ext cx="669877" cy="28812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8" name="Line 39"/>
            <p:cNvSpPr>
              <a:spLocks noChangeShapeType="1"/>
            </p:cNvSpPr>
            <p:nvPr/>
          </p:nvSpPr>
          <p:spPr bwMode="auto">
            <a:xfrm flipH="1">
              <a:off x="1086620" y="3274686"/>
              <a:ext cx="267661" cy="2001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9" name="Line 40"/>
            <p:cNvSpPr>
              <a:spLocks noChangeShapeType="1"/>
            </p:cNvSpPr>
            <p:nvPr/>
          </p:nvSpPr>
          <p:spPr bwMode="auto">
            <a:xfrm>
              <a:off x="1570517" y="3284984"/>
              <a:ext cx="169640" cy="18982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Line 41"/>
            <p:cNvSpPr>
              <a:spLocks noChangeShapeType="1"/>
            </p:cNvSpPr>
            <p:nvPr/>
          </p:nvSpPr>
          <p:spPr bwMode="auto">
            <a:xfrm>
              <a:off x="2418563" y="3303779"/>
              <a:ext cx="0" cy="19723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1" name="Line 42"/>
            <p:cNvSpPr>
              <a:spLocks noChangeShapeType="1"/>
            </p:cNvSpPr>
            <p:nvPr/>
          </p:nvSpPr>
          <p:spPr bwMode="auto">
            <a:xfrm>
              <a:off x="2603341" y="2639255"/>
              <a:ext cx="796850" cy="29267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Line 43"/>
            <p:cNvSpPr>
              <a:spLocks noChangeShapeType="1"/>
            </p:cNvSpPr>
            <p:nvPr/>
          </p:nvSpPr>
          <p:spPr bwMode="auto">
            <a:xfrm flipH="1">
              <a:off x="3128673" y="3280190"/>
              <a:ext cx="249192" cy="279759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3" name="Line 44"/>
            <p:cNvSpPr>
              <a:spLocks noChangeShapeType="1"/>
            </p:cNvSpPr>
            <p:nvPr/>
          </p:nvSpPr>
          <p:spPr bwMode="auto">
            <a:xfrm>
              <a:off x="3513849" y="3303778"/>
              <a:ext cx="0" cy="23596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Line 45"/>
            <p:cNvSpPr>
              <a:spLocks noChangeShapeType="1"/>
            </p:cNvSpPr>
            <p:nvPr/>
          </p:nvSpPr>
          <p:spPr bwMode="auto">
            <a:xfrm>
              <a:off x="3648429" y="3221566"/>
              <a:ext cx="248644" cy="33781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5" name="Group 45"/>
            <p:cNvGrpSpPr/>
            <p:nvPr/>
          </p:nvGrpSpPr>
          <p:grpSpPr bwMode="auto">
            <a:xfrm>
              <a:off x="467544" y="4022244"/>
              <a:ext cx="385742" cy="371852"/>
              <a:chOff x="0" y="0"/>
              <a:chExt cx="317" cy="336"/>
            </a:xfrm>
          </p:grpSpPr>
          <p:sp>
            <p:nvSpPr>
              <p:cNvPr id="45" name="Oval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0" y="1"/>
                <a:ext cx="291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K</a:t>
                </a:r>
              </a:p>
            </p:txBody>
          </p:sp>
        </p:grpSp>
        <p:sp>
          <p:nvSpPr>
            <p:cNvPr id="36" name="Line 49"/>
            <p:cNvSpPr>
              <a:spLocks noChangeShapeType="1"/>
            </p:cNvSpPr>
            <p:nvPr/>
          </p:nvSpPr>
          <p:spPr bwMode="auto">
            <a:xfrm flipH="1">
              <a:off x="704149" y="3789957"/>
              <a:ext cx="216877" cy="23228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" name="Group 49"/>
            <p:cNvGrpSpPr/>
            <p:nvPr/>
          </p:nvGrpSpPr>
          <p:grpSpPr bwMode="auto">
            <a:xfrm>
              <a:off x="1204409" y="4013390"/>
              <a:ext cx="443973" cy="380706"/>
              <a:chOff x="0" y="-8"/>
              <a:chExt cx="365" cy="344"/>
            </a:xfrm>
          </p:grpSpPr>
          <p:sp>
            <p:nvSpPr>
              <p:cNvPr id="43" name="Oval 5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Text Box 52"/>
              <p:cNvSpPr txBox="1">
                <a:spLocks noChangeArrowheads="1"/>
              </p:cNvSpPr>
              <p:nvPr/>
            </p:nvSpPr>
            <p:spPr bwMode="auto">
              <a:xfrm>
                <a:off x="47" y="-8"/>
                <a:ext cx="318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38" name="Line 53"/>
            <p:cNvSpPr>
              <a:spLocks noChangeShapeType="1"/>
            </p:cNvSpPr>
            <p:nvPr/>
          </p:nvSpPr>
          <p:spPr bwMode="auto">
            <a:xfrm>
              <a:off x="1187647" y="3802360"/>
              <a:ext cx="217055" cy="21988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9" name="Group 53"/>
            <p:cNvGrpSpPr/>
            <p:nvPr/>
          </p:nvGrpSpPr>
          <p:grpSpPr bwMode="auto">
            <a:xfrm>
              <a:off x="2858410" y="4104486"/>
              <a:ext cx="388174" cy="385840"/>
              <a:chOff x="12" y="-4"/>
              <a:chExt cx="319" cy="349"/>
            </a:xfrm>
          </p:grpSpPr>
          <p:sp>
            <p:nvSpPr>
              <p:cNvPr id="41" name="Oval 55"/>
              <p:cNvSpPr>
                <a:spLocks noChangeArrowheads="1"/>
              </p:cNvSpPr>
              <p:nvPr/>
            </p:nvSpPr>
            <p:spPr bwMode="auto">
              <a:xfrm>
                <a:off x="14" y="9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Text Box 56"/>
              <p:cNvSpPr txBox="1">
                <a:spLocks noChangeArrowheads="1"/>
              </p:cNvSpPr>
              <p:nvPr/>
            </p:nvSpPr>
            <p:spPr bwMode="auto">
              <a:xfrm>
                <a:off x="12" y="-4"/>
                <a:ext cx="319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40" name="Line 57"/>
            <p:cNvSpPr>
              <a:spLocks noChangeShapeType="1"/>
            </p:cNvSpPr>
            <p:nvPr/>
          </p:nvSpPr>
          <p:spPr bwMode="auto">
            <a:xfrm>
              <a:off x="3044771" y="3911596"/>
              <a:ext cx="0" cy="20742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426964" y="769964"/>
            <a:ext cx="8167087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树</a:t>
            </a:r>
            <a:r>
              <a:rPr lang="zh-CN" altLang="en-US" sz="2000" b="1" dirty="0">
                <a:latin typeface="Times New Roman" panose="02020603050405020304" pitchFamily="18" charset="0"/>
              </a:rPr>
              <a:t>是</a:t>
            </a:r>
            <a:r>
              <a:rPr lang="en-US" altLang="zh-CN" sz="2000" b="1" dirty="0">
                <a:latin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</a:rPr>
              <a:t>个结点的有限集合（可以是空集），在任一棵非空树中：</a:t>
            </a:r>
            <a:br>
              <a:rPr lang="zh-CN" altLang="en-US" sz="2000" dirty="0">
                <a:latin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</a:rPr>
              <a:t>）有且仅有一个称为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根</a:t>
            </a:r>
            <a:r>
              <a:rPr lang="zh-CN" altLang="en-US" sz="1600" dirty="0">
                <a:latin typeface="Times New Roman" panose="02020603050405020304" pitchFamily="18" charset="0"/>
              </a:rPr>
              <a:t>的结点。</a:t>
            </a:r>
            <a:br>
              <a:rPr lang="zh-CN" altLang="en-US" sz="1600" dirty="0">
                <a:latin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</a:rPr>
              <a:t>）其余结点可分为互不相交的子集，而且这些子集本身又是一棵树，称为根的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子树</a:t>
            </a:r>
            <a:r>
              <a:rPr lang="zh-CN" altLang="en-US" sz="1600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69" name="矩形 68"/>
          <p:cNvSpPr>
            <a:spLocks noChangeArrowheads="1"/>
          </p:cNvSpPr>
          <p:nvPr/>
        </p:nvSpPr>
        <p:spPr bwMode="auto">
          <a:xfrm>
            <a:off x="6067034" y="2058292"/>
            <a:ext cx="218559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/>
              <a:t>根结点：  </a:t>
            </a:r>
            <a:r>
              <a:rPr lang="en-US" altLang="zh-CN" sz="1600" dirty="0"/>
              <a:t>A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/>
              <a:t>父结点     子结点</a:t>
            </a:r>
            <a:endParaRPr lang="en-US" altLang="zh-CN" sz="1600" dirty="0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 A            B</a:t>
            </a:r>
            <a:r>
              <a:rPr lang="zh-CN" altLang="en-US" sz="1600" dirty="0"/>
              <a:t>、</a:t>
            </a:r>
            <a:r>
              <a:rPr lang="en-US" altLang="zh-CN" sz="1600" dirty="0"/>
              <a:t>C</a:t>
            </a:r>
            <a:r>
              <a:rPr lang="zh-CN" altLang="en-US" sz="1600" dirty="0"/>
              <a:t>、</a:t>
            </a:r>
            <a:r>
              <a:rPr lang="en-US" altLang="zh-CN" sz="1600" dirty="0"/>
              <a:t>D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 B            E</a:t>
            </a:r>
            <a:r>
              <a:rPr lang="zh-CN" altLang="en-US" sz="1600" dirty="0"/>
              <a:t>、</a:t>
            </a:r>
            <a:r>
              <a:rPr lang="en-US" altLang="zh-CN" sz="1600" dirty="0"/>
              <a:t>F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 C            G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1600" dirty="0"/>
              <a:t>    </a:t>
            </a:r>
            <a:r>
              <a:rPr lang="en-US" altLang="zh-CN" sz="1600" dirty="0"/>
              <a:t>E            K</a:t>
            </a:r>
            <a:r>
              <a:rPr lang="zh-CN" altLang="en-US" sz="1600" dirty="0"/>
              <a:t>、</a:t>
            </a:r>
            <a:r>
              <a:rPr lang="en-US" altLang="zh-CN" sz="1600" dirty="0"/>
              <a:t>L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600" dirty="0"/>
              <a:t>   …</a:t>
            </a:r>
            <a:r>
              <a:rPr lang="zh-CN" altLang="en-US" sz="1600" dirty="0"/>
              <a:t>                 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292506786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树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5127997" y="1152004"/>
            <a:ext cx="3426685" cy="2016225"/>
            <a:chOff x="467544" y="2403181"/>
            <a:chExt cx="3771842" cy="2087145"/>
          </a:xfrm>
        </p:grpSpPr>
        <p:grpSp>
          <p:nvGrpSpPr>
            <p:cNvPr id="10" name="Group 6"/>
            <p:cNvGrpSpPr/>
            <p:nvPr/>
          </p:nvGrpSpPr>
          <p:grpSpPr bwMode="auto">
            <a:xfrm>
              <a:off x="3792801" y="3539745"/>
              <a:ext cx="446585" cy="371852"/>
              <a:chOff x="0" y="0"/>
              <a:chExt cx="367" cy="336"/>
            </a:xfrm>
          </p:grpSpPr>
          <p:sp>
            <p:nvSpPr>
              <p:cNvPr id="65" name="Oval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" name="Text Box 9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10</a:t>
                </a:r>
              </a:p>
            </p:txBody>
          </p:sp>
        </p:grpSp>
        <p:grpSp>
          <p:nvGrpSpPr>
            <p:cNvPr id="12" name="Group 9"/>
            <p:cNvGrpSpPr/>
            <p:nvPr/>
          </p:nvGrpSpPr>
          <p:grpSpPr bwMode="auto">
            <a:xfrm>
              <a:off x="3321095" y="3542778"/>
              <a:ext cx="464838" cy="371852"/>
              <a:chOff x="0" y="0"/>
              <a:chExt cx="382" cy="336"/>
            </a:xfrm>
          </p:grpSpPr>
          <p:sp>
            <p:nvSpPr>
              <p:cNvPr id="63" name="Oval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" name="Text Box 12"/>
              <p:cNvSpPr txBox="1">
                <a:spLocks noChangeArrowheads="1"/>
              </p:cNvSpPr>
              <p:nvPr/>
            </p:nvSpPr>
            <p:spPr bwMode="auto">
              <a:xfrm>
                <a:off x="65" y="15"/>
                <a:ext cx="31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9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 bwMode="auto">
            <a:xfrm>
              <a:off x="2217599" y="2403181"/>
              <a:ext cx="395476" cy="389558"/>
              <a:chOff x="0" y="-16"/>
              <a:chExt cx="325" cy="352"/>
            </a:xfrm>
          </p:grpSpPr>
          <p:sp>
            <p:nvSpPr>
              <p:cNvPr id="61" name="Oval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" name="Text Box 15"/>
              <p:cNvSpPr txBox="1">
                <a:spLocks noChangeArrowheads="1"/>
              </p:cNvSpPr>
              <p:nvPr/>
            </p:nvSpPr>
            <p:spPr bwMode="auto">
              <a:xfrm>
                <a:off x="6" y="-16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4" name="Group 15"/>
            <p:cNvGrpSpPr/>
            <p:nvPr/>
          </p:nvGrpSpPr>
          <p:grpSpPr bwMode="auto">
            <a:xfrm>
              <a:off x="2217599" y="2931927"/>
              <a:ext cx="413729" cy="371852"/>
              <a:chOff x="0" y="0"/>
              <a:chExt cx="340" cy="336"/>
            </a:xfrm>
          </p:grpSpPr>
          <p:sp>
            <p:nvSpPr>
              <p:cNvPr id="59" name="Oval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Text Box 18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15" name="Group 18"/>
            <p:cNvGrpSpPr/>
            <p:nvPr/>
          </p:nvGrpSpPr>
          <p:grpSpPr bwMode="auto">
            <a:xfrm>
              <a:off x="1271397" y="2931927"/>
              <a:ext cx="424681" cy="371852"/>
              <a:chOff x="0" y="0"/>
              <a:chExt cx="349" cy="336"/>
            </a:xfrm>
          </p:grpSpPr>
          <p:sp>
            <p:nvSpPr>
              <p:cNvPr id="57" name="Oval 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Text Box 21"/>
              <p:cNvSpPr txBox="1">
                <a:spLocks noChangeArrowheads="1"/>
              </p:cNvSpPr>
              <p:nvPr/>
            </p:nvSpPr>
            <p:spPr bwMode="auto">
              <a:xfrm>
                <a:off x="30" y="0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20" name="Group 21"/>
            <p:cNvGrpSpPr/>
            <p:nvPr/>
          </p:nvGrpSpPr>
          <p:grpSpPr bwMode="auto">
            <a:xfrm>
              <a:off x="3289403" y="2931927"/>
              <a:ext cx="413729" cy="371852"/>
              <a:chOff x="0" y="0"/>
              <a:chExt cx="340" cy="336"/>
            </a:xfrm>
          </p:grpSpPr>
          <p:sp>
            <p:nvSpPr>
              <p:cNvPr id="55" name="Oval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Text Box 24"/>
              <p:cNvSpPr txBox="1">
                <a:spLocks noChangeArrowheads="1"/>
              </p:cNvSpPr>
              <p:nvPr/>
            </p:nvSpPr>
            <p:spPr bwMode="auto">
              <a:xfrm>
                <a:off x="23" y="0"/>
                <a:ext cx="317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21" name="Group 24"/>
            <p:cNvGrpSpPr/>
            <p:nvPr/>
          </p:nvGrpSpPr>
          <p:grpSpPr bwMode="auto">
            <a:xfrm>
              <a:off x="2843808" y="3542778"/>
              <a:ext cx="413729" cy="371852"/>
              <a:chOff x="0" y="0"/>
              <a:chExt cx="340" cy="336"/>
            </a:xfrm>
          </p:grpSpPr>
          <p:sp>
            <p:nvSpPr>
              <p:cNvPr id="53" name="Oval 2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Text Box 27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  <p:grpSp>
          <p:nvGrpSpPr>
            <p:cNvPr id="23" name="Group 27"/>
            <p:cNvGrpSpPr/>
            <p:nvPr/>
          </p:nvGrpSpPr>
          <p:grpSpPr bwMode="auto">
            <a:xfrm>
              <a:off x="2195736" y="3501008"/>
              <a:ext cx="413729" cy="371852"/>
              <a:chOff x="0" y="0"/>
              <a:chExt cx="340" cy="336"/>
            </a:xfrm>
          </p:grpSpPr>
          <p:sp>
            <p:nvSpPr>
              <p:cNvPr id="51" name="Oval 2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Text Box 30"/>
              <p:cNvSpPr txBox="1">
                <a:spLocks noChangeArrowheads="1"/>
              </p:cNvSpPr>
              <p:nvPr/>
            </p:nvSpPr>
            <p:spPr bwMode="auto">
              <a:xfrm>
                <a:off x="21" y="0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7</a:t>
                </a:r>
              </a:p>
            </p:txBody>
          </p:sp>
        </p:grpSp>
        <p:grpSp>
          <p:nvGrpSpPr>
            <p:cNvPr id="24" name="Group 30"/>
            <p:cNvGrpSpPr/>
            <p:nvPr/>
          </p:nvGrpSpPr>
          <p:grpSpPr bwMode="auto">
            <a:xfrm>
              <a:off x="1547722" y="3479360"/>
              <a:ext cx="446585" cy="371852"/>
              <a:chOff x="0" y="0"/>
              <a:chExt cx="367" cy="336"/>
            </a:xfrm>
          </p:grpSpPr>
          <p:sp>
            <p:nvSpPr>
              <p:cNvPr id="49" name="Oval 3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" name="Text Box 33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25" name="Group 33"/>
            <p:cNvGrpSpPr/>
            <p:nvPr/>
          </p:nvGrpSpPr>
          <p:grpSpPr bwMode="auto">
            <a:xfrm>
              <a:off x="869471" y="3468293"/>
              <a:ext cx="423295" cy="382919"/>
              <a:chOff x="0" y="-10"/>
              <a:chExt cx="348" cy="346"/>
            </a:xfrm>
          </p:grpSpPr>
          <p:sp>
            <p:nvSpPr>
              <p:cNvPr id="47" name="Oval 3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" name="Text Box 36"/>
              <p:cNvSpPr txBox="1">
                <a:spLocks noChangeArrowheads="1"/>
              </p:cNvSpPr>
              <p:nvPr/>
            </p:nvSpPr>
            <p:spPr bwMode="auto">
              <a:xfrm>
                <a:off x="30" y="-10"/>
                <a:ext cx="318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sp>
          <p:nvSpPr>
            <p:cNvPr id="26" name="Line 37"/>
            <p:cNvSpPr>
              <a:spLocks noChangeShapeType="1"/>
            </p:cNvSpPr>
            <p:nvPr/>
          </p:nvSpPr>
          <p:spPr bwMode="auto">
            <a:xfrm>
              <a:off x="2418563" y="2800486"/>
              <a:ext cx="0" cy="1299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Line 38"/>
            <p:cNvSpPr>
              <a:spLocks noChangeShapeType="1"/>
            </p:cNvSpPr>
            <p:nvPr/>
          </p:nvSpPr>
          <p:spPr bwMode="auto">
            <a:xfrm flipH="1">
              <a:off x="1547722" y="2639256"/>
              <a:ext cx="669877" cy="28812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8" name="Line 39"/>
            <p:cNvSpPr>
              <a:spLocks noChangeShapeType="1"/>
            </p:cNvSpPr>
            <p:nvPr/>
          </p:nvSpPr>
          <p:spPr bwMode="auto">
            <a:xfrm flipH="1">
              <a:off x="1086620" y="3274686"/>
              <a:ext cx="267661" cy="200125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29" name="Line 40"/>
            <p:cNvSpPr>
              <a:spLocks noChangeShapeType="1"/>
            </p:cNvSpPr>
            <p:nvPr/>
          </p:nvSpPr>
          <p:spPr bwMode="auto">
            <a:xfrm>
              <a:off x="1570517" y="3284984"/>
              <a:ext cx="169640" cy="18982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Line 41"/>
            <p:cNvSpPr>
              <a:spLocks noChangeShapeType="1"/>
            </p:cNvSpPr>
            <p:nvPr/>
          </p:nvSpPr>
          <p:spPr bwMode="auto">
            <a:xfrm>
              <a:off x="2418563" y="3303779"/>
              <a:ext cx="0" cy="19723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1" name="Line 42"/>
            <p:cNvSpPr>
              <a:spLocks noChangeShapeType="1"/>
            </p:cNvSpPr>
            <p:nvPr/>
          </p:nvSpPr>
          <p:spPr bwMode="auto">
            <a:xfrm>
              <a:off x="2603341" y="2639255"/>
              <a:ext cx="796850" cy="29267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Line 43"/>
            <p:cNvSpPr>
              <a:spLocks noChangeShapeType="1"/>
            </p:cNvSpPr>
            <p:nvPr/>
          </p:nvSpPr>
          <p:spPr bwMode="auto">
            <a:xfrm flipH="1">
              <a:off x="3128673" y="3280190"/>
              <a:ext cx="249192" cy="279759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3" name="Line 44"/>
            <p:cNvSpPr>
              <a:spLocks noChangeShapeType="1"/>
            </p:cNvSpPr>
            <p:nvPr/>
          </p:nvSpPr>
          <p:spPr bwMode="auto">
            <a:xfrm>
              <a:off x="3513849" y="3303778"/>
              <a:ext cx="0" cy="23596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Line 45"/>
            <p:cNvSpPr>
              <a:spLocks noChangeShapeType="1"/>
            </p:cNvSpPr>
            <p:nvPr/>
          </p:nvSpPr>
          <p:spPr bwMode="auto">
            <a:xfrm>
              <a:off x="3648429" y="3221566"/>
              <a:ext cx="248644" cy="33781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5" name="Group 45"/>
            <p:cNvGrpSpPr/>
            <p:nvPr/>
          </p:nvGrpSpPr>
          <p:grpSpPr bwMode="auto">
            <a:xfrm>
              <a:off x="467544" y="4022244"/>
              <a:ext cx="385742" cy="371852"/>
              <a:chOff x="0" y="0"/>
              <a:chExt cx="317" cy="336"/>
            </a:xfrm>
          </p:grpSpPr>
          <p:sp>
            <p:nvSpPr>
              <p:cNvPr id="45" name="Oval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0" y="1"/>
                <a:ext cx="303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11</a:t>
                </a:r>
              </a:p>
            </p:txBody>
          </p:sp>
        </p:grpSp>
        <p:sp>
          <p:nvSpPr>
            <p:cNvPr id="36" name="Line 49"/>
            <p:cNvSpPr>
              <a:spLocks noChangeShapeType="1"/>
            </p:cNvSpPr>
            <p:nvPr/>
          </p:nvSpPr>
          <p:spPr bwMode="auto">
            <a:xfrm flipH="1">
              <a:off x="704149" y="3789957"/>
              <a:ext cx="216877" cy="23228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" name="Group 49"/>
            <p:cNvGrpSpPr/>
            <p:nvPr/>
          </p:nvGrpSpPr>
          <p:grpSpPr bwMode="auto">
            <a:xfrm>
              <a:off x="1204409" y="4013390"/>
              <a:ext cx="443973" cy="380706"/>
              <a:chOff x="0" y="-8"/>
              <a:chExt cx="365" cy="344"/>
            </a:xfrm>
          </p:grpSpPr>
          <p:sp>
            <p:nvSpPr>
              <p:cNvPr id="43" name="Oval 5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Text Box 52"/>
              <p:cNvSpPr txBox="1">
                <a:spLocks noChangeArrowheads="1"/>
              </p:cNvSpPr>
              <p:nvPr/>
            </p:nvSpPr>
            <p:spPr bwMode="auto">
              <a:xfrm>
                <a:off x="47" y="-8"/>
                <a:ext cx="318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12</a:t>
                </a:r>
              </a:p>
            </p:txBody>
          </p:sp>
        </p:grpSp>
        <p:sp>
          <p:nvSpPr>
            <p:cNvPr id="38" name="Line 53"/>
            <p:cNvSpPr>
              <a:spLocks noChangeShapeType="1"/>
            </p:cNvSpPr>
            <p:nvPr/>
          </p:nvSpPr>
          <p:spPr bwMode="auto">
            <a:xfrm>
              <a:off x="1187647" y="3802360"/>
              <a:ext cx="217055" cy="219884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9" name="Group 53"/>
            <p:cNvGrpSpPr/>
            <p:nvPr/>
          </p:nvGrpSpPr>
          <p:grpSpPr bwMode="auto">
            <a:xfrm>
              <a:off x="2858410" y="4104486"/>
              <a:ext cx="388174" cy="385840"/>
              <a:chOff x="12" y="-4"/>
              <a:chExt cx="319" cy="349"/>
            </a:xfrm>
          </p:grpSpPr>
          <p:sp>
            <p:nvSpPr>
              <p:cNvPr id="41" name="Oval 55"/>
              <p:cNvSpPr>
                <a:spLocks noChangeArrowheads="1"/>
              </p:cNvSpPr>
              <p:nvPr/>
            </p:nvSpPr>
            <p:spPr bwMode="auto">
              <a:xfrm>
                <a:off x="14" y="9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200" dirty="0">
                  <a:solidFill>
                    <a:srgbClr val="D5D2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Text Box 56"/>
              <p:cNvSpPr txBox="1">
                <a:spLocks noChangeArrowheads="1"/>
              </p:cNvSpPr>
              <p:nvPr/>
            </p:nvSpPr>
            <p:spPr bwMode="auto">
              <a:xfrm>
                <a:off x="12" y="-4"/>
                <a:ext cx="3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</a:rPr>
                  <a:t>13</a:t>
                </a:r>
              </a:p>
            </p:txBody>
          </p:sp>
        </p:grpSp>
        <p:sp>
          <p:nvSpPr>
            <p:cNvPr id="40" name="Line 57"/>
            <p:cNvSpPr>
              <a:spLocks noChangeShapeType="1"/>
            </p:cNvSpPr>
            <p:nvPr/>
          </p:nvSpPr>
          <p:spPr bwMode="auto">
            <a:xfrm>
              <a:off x="3044771" y="3911596"/>
              <a:ext cx="0" cy="20742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095355EB-887F-558C-1874-90AB28287FCF}"/>
              </a:ext>
            </a:extLst>
          </p:cNvPr>
          <p:cNvSpPr txBox="1">
            <a:spLocks noChangeArrowheads="1"/>
          </p:cNvSpPr>
          <p:nvPr/>
        </p:nvSpPr>
        <p:spPr>
          <a:xfrm>
            <a:off x="336237" y="725072"/>
            <a:ext cx="7704856" cy="4099340"/>
          </a:xfrm>
          <a:prstGeom prst="rect">
            <a:avLst/>
          </a:prstGeom>
        </p:spPr>
        <p:txBody>
          <a:bodyPr vert="horz" lIns="80229" tIns="40115" rIns="80229" bIns="40115" rtlCol="0">
            <a:no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/>
              <a:t>如何在代码里存储树？</a:t>
            </a:r>
            <a:endParaRPr lang="en-US" altLang="zh-CN" sz="1800" dirty="0"/>
          </a:p>
          <a:p>
            <a:pPr marL="40132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400" dirty="0"/>
              <a:t>以父子对给出整棵树：</a:t>
            </a:r>
            <a:endParaRPr lang="en-US" altLang="zh-CN" sz="1400" dirty="0"/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1 2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1 3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1 4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2 5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2 6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3 7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4 8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4 9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4 10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5 11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5 12</a:t>
            </a:r>
          </a:p>
          <a:p>
            <a:pPr marL="401320" lvl="1" indent="0">
              <a:spcBef>
                <a:spcPts val="600"/>
              </a:spcBef>
              <a:buNone/>
            </a:pPr>
            <a:r>
              <a:rPr lang="en-US" altLang="zh-CN" sz="1200" dirty="0"/>
              <a:t>8 13</a:t>
            </a:r>
            <a:endParaRPr lang="en-US" altLang="zh-CN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C3F350-3310-A818-DB30-951BD24E55FE}"/>
              </a:ext>
            </a:extLst>
          </p:cNvPr>
          <p:cNvSpPr txBox="1"/>
          <p:nvPr/>
        </p:nvSpPr>
        <p:spPr>
          <a:xfrm>
            <a:off x="1721984" y="1598564"/>
            <a:ext cx="4779706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用一个</a:t>
            </a:r>
            <a:r>
              <a:rPr lang="en-US" altLang="zh-CN" dirty="0"/>
              <a:t>father</a:t>
            </a:r>
            <a:r>
              <a:rPr lang="zh-CN" altLang="en-US" dirty="0"/>
              <a:t>整型数组存储父亲</a:t>
            </a:r>
            <a:r>
              <a:rPr lang="en-US" altLang="zh-CN" dirty="0"/>
              <a:t>id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father[1] = -1	father[2] = 1</a:t>
            </a:r>
          </a:p>
          <a:p>
            <a:r>
              <a:rPr lang="en-US" altLang="zh-CN" dirty="0"/>
              <a:t>father[3] = 1	father[4] = 1</a:t>
            </a:r>
          </a:p>
          <a:p>
            <a:r>
              <a:rPr lang="en-US" altLang="zh-CN" dirty="0"/>
              <a:t>father[5] = 2	father[6] = 2</a:t>
            </a:r>
          </a:p>
          <a:p>
            <a:r>
              <a:rPr lang="en-US" altLang="zh-CN" dirty="0"/>
              <a:t>father[7] = 3	father[8] = 4</a:t>
            </a:r>
          </a:p>
          <a:p>
            <a:r>
              <a:rPr lang="en-US" altLang="zh-CN" dirty="0"/>
              <a:t>father[9] = 4	father[10] = 4</a:t>
            </a:r>
          </a:p>
          <a:p>
            <a:r>
              <a:rPr lang="en-US" altLang="zh-CN" dirty="0"/>
              <a:t>father[11] = 5	father[12] = 5</a:t>
            </a:r>
          </a:p>
          <a:p>
            <a:r>
              <a:rPr lang="en-US" altLang="zh-CN" dirty="0"/>
              <a:t>father[13] = 8</a:t>
            </a:r>
          </a:p>
          <a:p>
            <a:r>
              <a:rPr lang="zh-CN" altLang="en-US" dirty="0"/>
              <a:t>用一个</a:t>
            </a:r>
            <a:r>
              <a:rPr lang="en-US" altLang="zh-CN" dirty="0"/>
              <a:t>vector</a:t>
            </a:r>
            <a:r>
              <a:rPr lang="zh-CN" altLang="en-US" dirty="0"/>
              <a:t>数组</a:t>
            </a:r>
            <a:r>
              <a:rPr lang="en-US" altLang="zh-CN" dirty="0"/>
              <a:t>son[20]</a:t>
            </a:r>
            <a:r>
              <a:rPr lang="zh-CN" altLang="en-US" dirty="0"/>
              <a:t>来存储每个节点的孩子</a:t>
            </a:r>
            <a:r>
              <a:rPr lang="en-US" altLang="zh-CN" dirty="0"/>
              <a:t>id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son[1] = {2,3,4}	son[2] = {5,6}	son[3]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{7}</a:t>
            </a:r>
          </a:p>
          <a:p>
            <a:r>
              <a:rPr lang="en-US" altLang="zh-CN" dirty="0"/>
              <a:t>son[4] = {8,9,10}	son[5] = {11,12}	son[6] = {}</a:t>
            </a:r>
          </a:p>
          <a:p>
            <a:r>
              <a:rPr lang="en-US" altLang="zh-CN" dirty="0"/>
              <a:t>son[7] = {}	son[8] = {13}	son[9] = {}</a:t>
            </a:r>
          </a:p>
          <a:p>
            <a:r>
              <a:rPr lang="en-US" altLang="zh-CN" dirty="0"/>
              <a:t>son[10] = son[11] = son[12] = son[13] = {}</a:t>
            </a:r>
          </a:p>
        </p:txBody>
      </p:sp>
    </p:spTree>
    <p:extLst>
      <p:ext uri="{BB962C8B-B14F-4D97-AF65-F5344CB8AC3E}">
        <p14:creationId xmlns:p14="http://schemas.microsoft.com/office/powerpoint/2010/main" val="3627983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并查集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A1C4747-A9C3-158B-D393-3C777CE15D2B}"/>
              </a:ext>
            </a:extLst>
          </p:cNvPr>
          <p:cNvSpPr txBox="1"/>
          <p:nvPr/>
        </p:nvSpPr>
        <p:spPr>
          <a:xfrm>
            <a:off x="663501" y="732839"/>
            <a:ext cx="3312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例题：洛谷</a:t>
            </a:r>
            <a:r>
              <a:rPr lang="en-US" altLang="zh-CN" b="1" dirty="0"/>
              <a:t>P1551  </a:t>
            </a:r>
            <a:r>
              <a:rPr lang="zh-CN" altLang="en-US" b="1" dirty="0"/>
              <a:t>亲戚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D84C67-FCC0-68BB-904A-811CAE0F9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01" y="1144822"/>
            <a:ext cx="6276694" cy="33195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369613F-8C3E-EFC1-AD08-AF25FC314C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302" y="1071393"/>
            <a:ext cx="952500" cy="2505075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42B30552-1FED-1FBB-04F8-78F74C9D4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382" y="3540880"/>
            <a:ext cx="8001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49131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1167557" y="117117"/>
            <a:ext cx="6608497" cy="1052624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rgbClr val="284C8A"/>
                </a:solidFill>
                <a:latin typeface="+mn-ea"/>
                <a:sym typeface="inpin heiti" panose="00000500000000000000" pitchFamily="2" charset="-122"/>
              </a:rPr>
              <a:t>并查集</a:t>
            </a:r>
            <a:r>
              <a:rPr lang="en-US" altLang="zh-CN" sz="32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union-find sets</a:t>
            </a:r>
            <a:endParaRPr lang="zh-CN" altLang="en-US" sz="3200" b="1" dirty="0">
              <a:solidFill>
                <a:srgbClr val="284C8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npin heiti" panose="00000500000000000000" pitchFamily="2" charset="-122"/>
            </a:endParaRPr>
          </a:p>
          <a:p>
            <a:pPr algn="ctr">
              <a:defRPr/>
            </a:pPr>
            <a:endParaRPr lang="zh-CN" altLang="en-US" sz="32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07517" y="863972"/>
            <a:ext cx="7704856" cy="3672408"/>
          </a:xfrm>
          <a:prstGeom prst="rect">
            <a:avLst/>
          </a:prstGeom>
        </p:spPr>
        <p:txBody>
          <a:bodyPr vert="horz" lIns="80229" tIns="40115" rIns="80229" bIns="40115" rtlCol="0">
            <a:noAutofit/>
          </a:bodyPr>
          <a:lstStyle>
            <a:lvl1pPr marL="300990" indent="-30099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2145" indent="-250825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8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5305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99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731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863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9950" indent="-200660" algn="l" defTabSz="80200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2200" dirty="0"/>
              <a:t>一种简单</a:t>
            </a:r>
            <a:r>
              <a:rPr lang="zh-CN" altLang="en-US" sz="2200" dirty="0"/>
              <a:t>且</a:t>
            </a:r>
            <a:r>
              <a:rPr lang="zh-CN" altLang="zh-CN" sz="2200" dirty="0"/>
              <a:t>用途广泛的集合</a:t>
            </a:r>
            <a:r>
              <a:rPr lang="zh-CN" altLang="en-US" sz="2200" dirty="0"/>
              <a:t>概念。</a:t>
            </a:r>
            <a:endParaRPr lang="en-US" altLang="zh-CN" sz="2200" dirty="0"/>
          </a:p>
          <a:p>
            <a:pPr lvl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2200" dirty="0"/>
              <a:t>并查集是若干个不相交集合，能够较快的实现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marL="40132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2200" dirty="0"/>
              <a:t>	</a:t>
            </a:r>
            <a:r>
              <a:rPr lang="en-US" altLang="zh-CN" sz="1600" dirty="0"/>
              <a:t>1. </a:t>
            </a:r>
            <a:r>
              <a:rPr lang="zh-CN" altLang="zh-CN" sz="1600" dirty="0"/>
              <a:t>合并</a:t>
            </a:r>
            <a:r>
              <a:rPr lang="zh-CN" altLang="en-US" sz="1600" dirty="0"/>
              <a:t>两个集合的元素。</a:t>
            </a:r>
            <a:endParaRPr lang="en-US" altLang="zh-CN" sz="1600" dirty="0"/>
          </a:p>
          <a:p>
            <a:pPr marL="40132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600" dirty="0"/>
              <a:t>	2. </a:t>
            </a:r>
            <a:r>
              <a:rPr lang="zh-CN" altLang="en-US" sz="1600" dirty="0"/>
              <a:t>查找某个元素所属的集合、判断两个元素是否在同一集合内。</a:t>
            </a:r>
            <a:endParaRPr lang="en-US" altLang="zh-CN" sz="18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885440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的三个操作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927309" cy="41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 err="1"/>
              <a:t>Make_Set</a:t>
            </a:r>
            <a:r>
              <a:rPr lang="en-US" altLang="zh-CN" dirty="0"/>
              <a:t>(x)</a:t>
            </a:r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zh-CN" altLang="zh-CN" sz="2000" dirty="0"/>
              <a:t>每一个元素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初始化</a:t>
            </a:r>
            <a:r>
              <a:rPr lang="zh-CN" altLang="zh-CN" sz="2000" dirty="0"/>
              <a:t>为一个集合</a:t>
            </a:r>
            <a:r>
              <a:rPr lang="zh-CN" altLang="en-US" sz="2000" dirty="0"/>
              <a:t>，</a:t>
            </a:r>
            <a:r>
              <a:rPr lang="zh-CN" altLang="zh-CN" sz="2000" dirty="0"/>
              <a:t>每个元素的父</a:t>
            </a:r>
            <a:r>
              <a:rPr lang="zh-CN" altLang="en-US" sz="2000" dirty="0"/>
              <a:t>结</a:t>
            </a:r>
            <a:r>
              <a:rPr lang="zh-CN" altLang="zh-CN" sz="2000" dirty="0"/>
              <a:t>点是它</a:t>
            </a:r>
            <a:r>
              <a:rPr lang="zh-CN" altLang="en-US" sz="2000" dirty="0"/>
              <a:t>自身</a:t>
            </a:r>
            <a:r>
              <a:rPr lang="zh-CN" altLang="zh-CN" sz="2000" dirty="0"/>
              <a:t>，每个元素的祖先节点也是它</a:t>
            </a:r>
            <a:r>
              <a:rPr lang="zh-CN" altLang="en-US" sz="2000" dirty="0"/>
              <a:t>自</a:t>
            </a:r>
            <a:r>
              <a:rPr lang="zh-CN" altLang="zh-CN" sz="2000" dirty="0"/>
              <a:t>身（也可以根据情况而变）</a:t>
            </a:r>
          </a:p>
          <a:p>
            <a:pPr latinLnBrk="1"/>
            <a:r>
              <a:rPr lang="en-US" altLang="zh-CN" dirty="0"/>
              <a:t>Find_Set(x) </a:t>
            </a:r>
          </a:p>
          <a:p>
            <a:pPr lvl="1" latinLnBrk="1">
              <a:buFont typeface="Wingdings" panose="05000000000000000000" pitchFamily="2" charset="2"/>
              <a:buChar char=""/>
            </a:pP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查找</a:t>
            </a:r>
            <a:r>
              <a:rPr lang="zh-CN" altLang="zh-CN" sz="2000" dirty="0"/>
              <a:t>元素</a:t>
            </a:r>
            <a:r>
              <a:rPr lang="en-US" altLang="zh-CN" sz="2000" dirty="0"/>
              <a:t>x</a:t>
            </a:r>
            <a:r>
              <a:rPr lang="zh-CN" altLang="zh-CN" sz="2000" dirty="0"/>
              <a:t>所在的集</a:t>
            </a:r>
            <a:r>
              <a:rPr lang="zh-CN" altLang="en-US" sz="2000" dirty="0"/>
              <a:t>合，即</a:t>
            </a:r>
            <a:r>
              <a:rPr lang="zh-CN" altLang="zh-CN" sz="2000" dirty="0"/>
              <a:t>找到这个元素所在集合的祖先</a:t>
            </a:r>
            <a:endParaRPr lang="en-US" altLang="zh-CN" sz="2000" dirty="0"/>
          </a:p>
          <a:p>
            <a:pPr lvl="1" latinLnBrk="1">
              <a:buFont typeface="Wingdings" panose="05000000000000000000" pitchFamily="2" charset="2"/>
              <a:buChar char=""/>
            </a:pP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判断</a:t>
            </a:r>
            <a:r>
              <a:rPr lang="zh-CN" altLang="zh-CN" sz="2000" dirty="0"/>
              <a:t>两个元素是否属于同一集合，只要看</a:t>
            </a:r>
            <a:r>
              <a:rPr lang="zh-CN" altLang="en-US" sz="2000" dirty="0"/>
              <a:t>它</a:t>
            </a:r>
            <a:r>
              <a:rPr lang="zh-CN" altLang="zh-CN" sz="2000" dirty="0"/>
              <a:t>们所在集合的祖先是否相同</a:t>
            </a:r>
            <a:endParaRPr lang="en-US" altLang="zh-CN" sz="2000" dirty="0"/>
          </a:p>
          <a:p>
            <a:pPr latinLnBrk="1"/>
            <a:r>
              <a:rPr lang="en-US" altLang="zh-CN" dirty="0"/>
              <a:t>Union(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合并</a:t>
            </a:r>
            <a:r>
              <a:rPr lang="en-US" altLang="zh-CN" sz="2000" dirty="0" err="1"/>
              <a:t>x,y</a:t>
            </a:r>
            <a:r>
              <a:rPr lang="zh-CN" altLang="zh-CN" sz="2000" dirty="0"/>
              <a:t>所在的两个集合</a:t>
            </a:r>
            <a:endParaRPr lang="en-US" altLang="zh-CN" sz="20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2000" dirty="0"/>
              <a:t>使一个集合的祖先成为另一个集合的祖先</a:t>
            </a:r>
            <a:r>
              <a:rPr lang="zh-CN" altLang="en-US" sz="2000" dirty="0"/>
              <a:t>即可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9879956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056784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 err="1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make_set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00" y="791964"/>
            <a:ext cx="7991789" cy="790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zh-CN" altLang="en-US" sz="2200" dirty="0"/>
              <a:t>初始有</a:t>
            </a:r>
            <a:r>
              <a:rPr lang="en-US" altLang="zh-CN" sz="2200" dirty="0"/>
              <a:t>6</a:t>
            </a:r>
            <a:r>
              <a:rPr lang="zh-CN" altLang="en-US" sz="2200" dirty="0"/>
              <a:t>个数：</a:t>
            </a:r>
            <a:r>
              <a:rPr lang="en-US" altLang="zh-CN" sz="2200" dirty="0"/>
              <a:t>1</a:t>
            </a:r>
            <a:r>
              <a:rPr lang="zh-CN" altLang="en-US" sz="2200" dirty="0"/>
              <a:t>、</a:t>
            </a:r>
            <a:r>
              <a:rPr lang="en-US" altLang="zh-CN" sz="2200" dirty="0"/>
              <a:t>2</a:t>
            </a:r>
            <a:r>
              <a:rPr lang="zh-CN" altLang="en-US" sz="2200" dirty="0"/>
              <a:t>、</a:t>
            </a:r>
            <a:r>
              <a:rPr lang="en-US" altLang="zh-CN" sz="2200" dirty="0"/>
              <a:t>3</a:t>
            </a:r>
            <a:r>
              <a:rPr lang="zh-CN" altLang="en-US" sz="2200" dirty="0"/>
              <a:t>、</a:t>
            </a:r>
            <a:r>
              <a:rPr lang="en-US" altLang="zh-CN" sz="2200" dirty="0"/>
              <a:t>4</a:t>
            </a:r>
            <a:r>
              <a:rPr lang="zh-CN" altLang="en-US" sz="2200" dirty="0"/>
              <a:t>、</a:t>
            </a:r>
            <a:r>
              <a:rPr lang="en-US" altLang="zh-CN" sz="2200" dirty="0"/>
              <a:t>5</a:t>
            </a:r>
            <a:r>
              <a:rPr lang="zh-CN" altLang="en-US" sz="2200" dirty="0"/>
              <a:t>、</a:t>
            </a:r>
            <a:r>
              <a:rPr lang="en-US" altLang="zh-CN" sz="2200" dirty="0"/>
              <a:t>6</a:t>
            </a:r>
          </a:p>
          <a:p>
            <a:pPr latinLnBrk="1"/>
            <a:r>
              <a:rPr lang="zh-CN" altLang="en-US" sz="2000" dirty="0"/>
              <a:t>初始化操作：</a:t>
            </a:r>
            <a:r>
              <a:rPr lang="en-US" altLang="zh-CN" sz="2000" dirty="0"/>
              <a:t>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1 to 6      let  father[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=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</a:t>
            </a:r>
          </a:p>
        </p:txBody>
      </p:sp>
      <p:sp>
        <p:nvSpPr>
          <p:cNvPr id="22" name="Oval 11"/>
          <p:cNvSpPr>
            <a:spLocks noChangeArrowheads="1"/>
          </p:cNvSpPr>
          <p:nvPr/>
        </p:nvSpPr>
        <p:spPr bwMode="auto">
          <a:xfrm>
            <a:off x="6496211" y="2386296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Oval 11"/>
          <p:cNvSpPr>
            <a:spLocks noChangeArrowheads="1"/>
          </p:cNvSpPr>
          <p:nvPr/>
        </p:nvSpPr>
        <p:spPr bwMode="auto">
          <a:xfrm>
            <a:off x="4507301" y="239164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弧形 2"/>
          <p:cNvSpPr/>
          <p:nvPr/>
        </p:nvSpPr>
        <p:spPr>
          <a:xfrm>
            <a:off x="4507301" y="2184160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弧形 81"/>
          <p:cNvSpPr/>
          <p:nvPr/>
        </p:nvSpPr>
        <p:spPr>
          <a:xfrm>
            <a:off x="6500753" y="217098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val 11">
            <a:extLst>
              <a:ext uri="{FF2B5EF4-FFF2-40B4-BE49-F238E27FC236}">
                <a16:creationId xmlns:a16="http://schemas.microsoft.com/office/drawing/2014/main" id="{C5C6FE39-9476-B7BD-DA55-E3C482447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049" y="237477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弧形 4">
            <a:extLst>
              <a:ext uri="{FF2B5EF4-FFF2-40B4-BE49-F238E27FC236}">
                <a16:creationId xmlns:a16="http://schemas.microsoft.com/office/drawing/2014/main" id="{470C0CE9-0A37-39E1-5928-8B7A636F5326}"/>
              </a:ext>
            </a:extLst>
          </p:cNvPr>
          <p:cNvSpPr/>
          <p:nvPr/>
        </p:nvSpPr>
        <p:spPr>
          <a:xfrm>
            <a:off x="1496591" y="2159470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A4FC45BA-C250-2344-76CA-DBB60491D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161" y="237477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71FE9390-0633-593D-F106-3E4F600A783A}"/>
              </a:ext>
            </a:extLst>
          </p:cNvPr>
          <p:cNvSpPr/>
          <p:nvPr/>
        </p:nvSpPr>
        <p:spPr>
          <a:xfrm>
            <a:off x="2500161" y="216728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3E3BFA4B-2473-CC88-00C4-DC59E1D9F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189" y="2373125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弧形 8">
            <a:extLst>
              <a:ext uri="{FF2B5EF4-FFF2-40B4-BE49-F238E27FC236}">
                <a16:creationId xmlns:a16="http://schemas.microsoft.com/office/drawing/2014/main" id="{F365750F-D0E4-53A1-ABC4-1107B28350C4}"/>
              </a:ext>
            </a:extLst>
          </p:cNvPr>
          <p:cNvSpPr/>
          <p:nvPr/>
        </p:nvSpPr>
        <p:spPr>
          <a:xfrm>
            <a:off x="3503731" y="2157818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0C8C2BCE-0A46-29EA-20DB-03BA7651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495" y="2373125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弧形 13">
            <a:extLst>
              <a:ext uri="{FF2B5EF4-FFF2-40B4-BE49-F238E27FC236}">
                <a16:creationId xmlns:a16="http://schemas.microsoft.com/office/drawing/2014/main" id="{AB80FC12-5E6B-F6EA-2CF2-92410BFDBCD3}"/>
              </a:ext>
            </a:extLst>
          </p:cNvPr>
          <p:cNvSpPr/>
          <p:nvPr/>
        </p:nvSpPr>
        <p:spPr>
          <a:xfrm>
            <a:off x="5488037" y="2157818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139407-51BE-75E3-5631-23F749005381}"/>
              </a:ext>
            </a:extLst>
          </p:cNvPr>
          <p:cNvSpPr txBox="1"/>
          <p:nvPr/>
        </p:nvSpPr>
        <p:spPr>
          <a:xfrm>
            <a:off x="3567074" y="3274633"/>
            <a:ext cx="12496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Father[1] = 1</a:t>
            </a:r>
          </a:p>
          <a:p>
            <a:r>
              <a:rPr lang="en-US" altLang="zh-CN" dirty="0"/>
              <a:t>Father[2] = 2</a:t>
            </a:r>
          </a:p>
          <a:p>
            <a:r>
              <a:rPr lang="en-US" altLang="zh-CN" dirty="0"/>
              <a:t>Father[3] = 3</a:t>
            </a:r>
          </a:p>
          <a:p>
            <a:r>
              <a:rPr lang="en-US" altLang="zh-CN" dirty="0"/>
              <a:t>Father[4] = 4</a:t>
            </a:r>
          </a:p>
          <a:p>
            <a:r>
              <a:rPr lang="en-US" altLang="zh-CN" dirty="0"/>
              <a:t>Father[5] = 5</a:t>
            </a:r>
          </a:p>
          <a:p>
            <a:r>
              <a:rPr lang="en-US" altLang="zh-CN" dirty="0"/>
              <a:t>Father[6] = 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100647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056784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 err="1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find_set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（查）操作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00" y="791964"/>
            <a:ext cx="7991789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zh-CN" altLang="en-US" sz="2200" dirty="0"/>
              <a:t>用树表示集合，表示出每个结点的父关系，根结点的父为自己，同时将根结点作为树（集合）的标识</a:t>
            </a:r>
            <a:endParaRPr lang="en-US" altLang="zh-CN" sz="2200" dirty="0"/>
          </a:p>
          <a:p>
            <a:pPr latinLnBrk="1"/>
            <a:r>
              <a:rPr lang="zh-CN" altLang="en-US" sz="2000" dirty="0"/>
              <a:t>例如，集合</a:t>
            </a:r>
            <a:r>
              <a:rPr lang="en-US" altLang="zh-CN" sz="2000" dirty="0"/>
              <a:t>S1 = {1,3,6,9}</a:t>
            </a:r>
            <a:r>
              <a:rPr lang="zh-CN" altLang="en-US" sz="2000" dirty="0"/>
              <a:t>，集合</a:t>
            </a:r>
            <a:r>
              <a:rPr lang="en-US" altLang="zh-CN" sz="2000" dirty="0"/>
              <a:t>S2 = {2,8,10,5}</a:t>
            </a:r>
          </a:p>
        </p:txBody>
      </p: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2996823" y="2855812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9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Oval 8"/>
          <p:cNvSpPr>
            <a:spLocks noChangeArrowheads="1"/>
          </p:cNvSpPr>
          <p:nvPr/>
        </p:nvSpPr>
        <p:spPr bwMode="auto">
          <a:xfrm>
            <a:off x="2588465" y="2859561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11"/>
          <p:cNvSpPr>
            <a:spLocks noChangeArrowheads="1"/>
          </p:cNvSpPr>
          <p:nvPr/>
        </p:nvSpPr>
        <p:spPr bwMode="auto">
          <a:xfrm>
            <a:off x="2588466" y="234263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Oval 14"/>
          <p:cNvSpPr>
            <a:spLocks noChangeArrowheads="1"/>
          </p:cNvSpPr>
          <p:nvPr/>
        </p:nvSpPr>
        <p:spPr bwMode="auto">
          <a:xfrm>
            <a:off x="2175439" y="2849050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 flipH="1">
            <a:off x="2364450" y="2605371"/>
            <a:ext cx="269858" cy="24952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>
            <a:off x="2762308" y="2642489"/>
            <a:ext cx="0" cy="20323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21"/>
          <p:cNvSpPr>
            <a:spLocks noChangeShapeType="1"/>
          </p:cNvSpPr>
          <p:nvPr/>
        </p:nvSpPr>
        <p:spPr bwMode="auto">
          <a:xfrm>
            <a:off x="2888904" y="2605372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Oval 5"/>
          <p:cNvSpPr>
            <a:spLocks noChangeArrowheads="1"/>
          </p:cNvSpPr>
          <p:nvPr/>
        </p:nvSpPr>
        <p:spPr bwMode="auto">
          <a:xfrm>
            <a:off x="5469594" y="2818704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10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Oval 11"/>
          <p:cNvSpPr>
            <a:spLocks noChangeArrowheads="1"/>
          </p:cNvSpPr>
          <p:nvPr/>
        </p:nvSpPr>
        <p:spPr bwMode="auto">
          <a:xfrm>
            <a:off x="5208562" y="230319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" name="Oval 14"/>
          <p:cNvSpPr>
            <a:spLocks noChangeArrowheads="1"/>
          </p:cNvSpPr>
          <p:nvPr/>
        </p:nvSpPr>
        <p:spPr bwMode="auto">
          <a:xfrm>
            <a:off x="4847986" y="2809609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9" name="Line 19"/>
          <p:cNvSpPr>
            <a:spLocks noChangeShapeType="1"/>
          </p:cNvSpPr>
          <p:nvPr/>
        </p:nvSpPr>
        <p:spPr bwMode="auto">
          <a:xfrm flipH="1">
            <a:off x="5056161" y="2605372"/>
            <a:ext cx="253796" cy="208946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Line 21"/>
          <p:cNvSpPr>
            <a:spLocks noChangeShapeType="1"/>
          </p:cNvSpPr>
          <p:nvPr/>
        </p:nvSpPr>
        <p:spPr bwMode="auto">
          <a:xfrm>
            <a:off x="5416029" y="2587942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弧形 2"/>
          <p:cNvSpPr/>
          <p:nvPr/>
        </p:nvSpPr>
        <p:spPr>
          <a:xfrm>
            <a:off x="5208562" y="209570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弧形 81"/>
          <p:cNvSpPr/>
          <p:nvPr/>
        </p:nvSpPr>
        <p:spPr>
          <a:xfrm>
            <a:off x="2593008" y="2127331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32915" y="3457459"/>
            <a:ext cx="1582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father[1] = 1</a:t>
            </a:r>
          </a:p>
          <a:p>
            <a:r>
              <a:rPr lang="en-US" altLang="zh-CN" sz="1800" dirty="0"/>
              <a:t>father[3] = 1</a:t>
            </a:r>
          </a:p>
          <a:p>
            <a:r>
              <a:rPr lang="en-US" altLang="zh-CN" sz="1800" dirty="0"/>
              <a:t>father[6] = 1</a:t>
            </a:r>
          </a:p>
          <a:p>
            <a:r>
              <a:rPr lang="en-US" altLang="zh-CN" sz="1800" dirty="0"/>
              <a:t>father[9] = 1 </a:t>
            </a:r>
            <a:endParaRPr lang="zh-CN" altLang="en-US" sz="1800" dirty="0"/>
          </a:p>
        </p:txBody>
      </p:sp>
      <p:sp>
        <p:nvSpPr>
          <p:cNvPr id="83" name="Line 19"/>
          <p:cNvSpPr>
            <a:spLocks noChangeShapeType="1"/>
          </p:cNvSpPr>
          <p:nvPr/>
        </p:nvSpPr>
        <p:spPr bwMode="auto">
          <a:xfrm>
            <a:off x="5649832" y="3112419"/>
            <a:ext cx="19537" cy="30667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Oval 5"/>
          <p:cNvSpPr>
            <a:spLocks noChangeArrowheads="1"/>
          </p:cNvSpPr>
          <p:nvPr/>
        </p:nvSpPr>
        <p:spPr bwMode="auto">
          <a:xfrm>
            <a:off x="5507403" y="3419092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086848" y="3419092"/>
            <a:ext cx="1582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father[2] = 2</a:t>
            </a:r>
          </a:p>
          <a:p>
            <a:r>
              <a:rPr lang="en-US" altLang="zh-CN" sz="1800" dirty="0"/>
              <a:t>father[5] = 10</a:t>
            </a:r>
          </a:p>
          <a:p>
            <a:r>
              <a:rPr lang="en-US" altLang="zh-CN" sz="1800" dirty="0"/>
              <a:t>father[8] = 2</a:t>
            </a:r>
          </a:p>
          <a:p>
            <a:r>
              <a:rPr lang="en-US" altLang="zh-CN" sz="1800" dirty="0"/>
              <a:t>father[10] = 2</a:t>
            </a:r>
          </a:p>
        </p:txBody>
      </p:sp>
    </p:spTree>
    <p:extLst>
      <p:ext uri="{BB962C8B-B14F-4D97-AF65-F5344CB8AC3E}">
        <p14:creationId xmlns:p14="http://schemas.microsoft.com/office/powerpoint/2010/main" val="2274777830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056784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 err="1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find_set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（查）操作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00" y="791964"/>
            <a:ext cx="7991789" cy="212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 err="1"/>
              <a:t>Find_set</a:t>
            </a:r>
            <a:r>
              <a:rPr lang="en-US" altLang="zh-CN" dirty="0"/>
              <a:t>(x)</a:t>
            </a:r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en-US" sz="2000" dirty="0"/>
              <a:t>找</a:t>
            </a:r>
            <a:r>
              <a:rPr lang="en-US" altLang="zh-CN" sz="2000" dirty="0"/>
              <a:t>x</a:t>
            </a:r>
            <a:r>
              <a:rPr lang="zh-CN" altLang="en-US" sz="2000" dirty="0"/>
              <a:t>所在的集合（以根为标识）。</a:t>
            </a:r>
            <a:endParaRPr lang="en-US" altLang="zh-CN" sz="2000" dirty="0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4017469" y="2346214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10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3756437" y="183070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Oval 14"/>
          <p:cNvSpPr>
            <a:spLocks noChangeArrowheads="1"/>
          </p:cNvSpPr>
          <p:nvPr/>
        </p:nvSpPr>
        <p:spPr bwMode="auto">
          <a:xfrm>
            <a:off x="3395861" y="2337119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>
            <a:off x="3604036" y="2132882"/>
            <a:ext cx="253796" cy="208946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3963904" y="2115452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弧形 19"/>
          <p:cNvSpPr/>
          <p:nvPr/>
        </p:nvSpPr>
        <p:spPr>
          <a:xfrm>
            <a:off x="3756437" y="162321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4197707" y="2639929"/>
            <a:ext cx="19537" cy="30667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5"/>
          <p:cNvSpPr>
            <a:spLocks noChangeArrowheads="1"/>
          </p:cNvSpPr>
          <p:nvPr/>
        </p:nvSpPr>
        <p:spPr bwMode="auto">
          <a:xfrm>
            <a:off x="4055278" y="2946602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Oval 5">
            <a:extLst>
              <a:ext uri="{FF2B5EF4-FFF2-40B4-BE49-F238E27FC236}">
                <a16:creationId xmlns:a16="http://schemas.microsoft.com/office/drawing/2014/main" id="{DB69CB11-3936-3D94-F2E4-30813E4B5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970" y="2511063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9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val 8">
            <a:extLst>
              <a:ext uri="{FF2B5EF4-FFF2-40B4-BE49-F238E27FC236}">
                <a16:creationId xmlns:a16="http://schemas.microsoft.com/office/drawing/2014/main" id="{43574905-01C6-F0E8-ED16-01A9D49F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612" y="2514812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11">
            <a:extLst>
              <a:ext uri="{FF2B5EF4-FFF2-40B4-BE49-F238E27FC236}">
                <a16:creationId xmlns:a16="http://schemas.microsoft.com/office/drawing/2014/main" id="{F86184AB-93BD-9D04-04E4-76F1F0D6A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613" y="1997889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id="{9FCA00EA-B211-925D-5CDD-B8A5A0743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586" y="2504301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Line 19">
            <a:extLst>
              <a:ext uri="{FF2B5EF4-FFF2-40B4-BE49-F238E27FC236}">
                <a16:creationId xmlns:a16="http://schemas.microsoft.com/office/drawing/2014/main" id="{F41242E7-0CA7-374D-B62D-722E6190CA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7597" y="2260622"/>
            <a:ext cx="269858" cy="24952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20">
            <a:extLst>
              <a:ext uri="{FF2B5EF4-FFF2-40B4-BE49-F238E27FC236}">
                <a16:creationId xmlns:a16="http://schemas.microsoft.com/office/drawing/2014/main" id="{F4A6D94F-933F-6EC6-D71C-18F9B19EE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5455" y="2297740"/>
            <a:ext cx="0" cy="20323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21">
            <a:extLst>
              <a:ext uri="{FF2B5EF4-FFF2-40B4-BE49-F238E27FC236}">
                <a16:creationId xmlns:a16="http://schemas.microsoft.com/office/drawing/2014/main" id="{6EDDC1C7-12F2-2F66-F588-F1F382AEC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2051" y="2260623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弧形 22">
            <a:extLst>
              <a:ext uri="{FF2B5EF4-FFF2-40B4-BE49-F238E27FC236}">
                <a16:creationId xmlns:a16="http://schemas.microsoft.com/office/drawing/2014/main" id="{E8337537-B6DD-FD7B-F26F-9C56DEFB49AC}"/>
              </a:ext>
            </a:extLst>
          </p:cNvPr>
          <p:cNvSpPr/>
          <p:nvPr/>
        </p:nvSpPr>
        <p:spPr>
          <a:xfrm>
            <a:off x="1676155" y="1782582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315242-8F96-6DAE-0F8E-7E77354381B6}"/>
              </a:ext>
            </a:extLst>
          </p:cNvPr>
          <p:cNvSpPr txBox="1"/>
          <p:nvPr/>
        </p:nvSpPr>
        <p:spPr>
          <a:xfrm>
            <a:off x="1023010" y="3338101"/>
            <a:ext cx="1582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err="1"/>
              <a:t>Find_set</a:t>
            </a:r>
            <a:r>
              <a:rPr lang="en-US" altLang="zh-CN" sz="1800" dirty="0"/>
              <a:t>(1) = 1</a:t>
            </a:r>
          </a:p>
          <a:p>
            <a:r>
              <a:rPr lang="en-US" altLang="zh-CN" sz="1800" dirty="0" err="1"/>
              <a:t>Find_set</a:t>
            </a:r>
            <a:r>
              <a:rPr lang="en-US" altLang="zh-CN" sz="1800" dirty="0"/>
              <a:t>(3) = 1</a:t>
            </a:r>
          </a:p>
          <a:p>
            <a:r>
              <a:rPr lang="en-US" altLang="zh-CN" sz="1800" dirty="0" err="1"/>
              <a:t>Find_set</a:t>
            </a:r>
            <a:r>
              <a:rPr lang="en-US" altLang="zh-CN" sz="1800" dirty="0"/>
              <a:t>(6) = 1</a:t>
            </a:r>
          </a:p>
          <a:p>
            <a:r>
              <a:rPr lang="en-US" altLang="zh-CN" sz="1800" dirty="0" err="1"/>
              <a:t>Find_set</a:t>
            </a:r>
            <a:r>
              <a:rPr lang="en-US" altLang="zh-CN" sz="1800" dirty="0"/>
              <a:t>(9) = 1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B3E17D-42D8-DBE7-1FBA-E3CFDD81CBD5}"/>
              </a:ext>
            </a:extLst>
          </p:cNvPr>
          <p:cNvSpPr txBox="1"/>
          <p:nvPr/>
        </p:nvSpPr>
        <p:spPr>
          <a:xfrm>
            <a:off x="3186939" y="3352500"/>
            <a:ext cx="1799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err="1"/>
              <a:t>Find_set</a:t>
            </a:r>
            <a:r>
              <a:rPr lang="en-US" altLang="zh-CN" sz="1800" dirty="0"/>
              <a:t>(2) = 2</a:t>
            </a:r>
          </a:p>
          <a:p>
            <a:r>
              <a:rPr lang="en-US" altLang="zh-CN" sz="1800" dirty="0" err="1"/>
              <a:t>Find_set</a:t>
            </a:r>
            <a:r>
              <a:rPr lang="en-US" altLang="zh-CN" sz="1800" dirty="0"/>
              <a:t>(8) = 2</a:t>
            </a:r>
          </a:p>
          <a:p>
            <a:r>
              <a:rPr lang="en-US" altLang="zh-CN" sz="1800" dirty="0" err="1"/>
              <a:t>Find_set</a:t>
            </a:r>
            <a:r>
              <a:rPr lang="en-US" altLang="zh-CN" sz="1800" dirty="0"/>
              <a:t>(10) = 2</a:t>
            </a:r>
          </a:p>
          <a:p>
            <a:r>
              <a:rPr lang="en-US" altLang="zh-CN" sz="1800" dirty="0" err="1"/>
              <a:t>Find_set</a:t>
            </a:r>
            <a:r>
              <a:rPr lang="en-US" altLang="zh-CN" sz="1800" dirty="0"/>
              <a:t>(5) = 2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7E3F9B-A9A0-818D-5CBF-3B6CEFEAC0E3}"/>
              </a:ext>
            </a:extLst>
          </p:cNvPr>
          <p:cNvSpPr txBox="1"/>
          <p:nvPr/>
        </p:nvSpPr>
        <p:spPr>
          <a:xfrm>
            <a:off x="5073072" y="1413114"/>
            <a:ext cx="3853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判断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是否在同一集合内只需要判断：</a:t>
            </a:r>
            <a:endParaRPr lang="en-US" altLang="zh-CN" dirty="0"/>
          </a:p>
          <a:p>
            <a:r>
              <a:rPr lang="en-US" altLang="zh-CN" dirty="0" err="1"/>
              <a:t>Find_set</a:t>
            </a:r>
            <a:r>
              <a:rPr lang="en-US" altLang="zh-CN" dirty="0"/>
              <a:t>(x) == </a:t>
            </a:r>
            <a:r>
              <a:rPr lang="en-US" altLang="zh-CN" dirty="0" err="1"/>
              <a:t>Find_set</a:t>
            </a:r>
            <a:r>
              <a:rPr lang="en-US" altLang="zh-CN" dirty="0"/>
              <a:t>(y) </a:t>
            </a:r>
            <a:r>
              <a:rPr lang="zh-CN" altLang="en-US" dirty="0"/>
              <a:t>是否成立即可。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7FD084A-891D-F3CB-0C84-F9330B3498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072" y="2380797"/>
            <a:ext cx="35433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45803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056784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（并）操作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00" y="791964"/>
            <a:ext cx="7991789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/>
              <a:t>Union(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en-US" sz="2000" dirty="0"/>
              <a:t>先查找</a:t>
            </a:r>
            <a:r>
              <a:rPr lang="en-US" altLang="zh-CN" sz="2000" dirty="0"/>
              <a:t>x</a:t>
            </a:r>
            <a:r>
              <a:rPr lang="zh-CN" altLang="en-US" sz="2000" dirty="0"/>
              <a:t>和</a:t>
            </a:r>
            <a:r>
              <a:rPr lang="en-US" altLang="zh-CN" sz="2000" dirty="0"/>
              <a:t>y</a:t>
            </a:r>
            <a:r>
              <a:rPr lang="zh-CN" altLang="en-US" sz="2000" dirty="0"/>
              <a:t>所在的集合，若不在同一集合，则合并</a:t>
            </a:r>
            <a:endParaRPr lang="en-US" altLang="zh-CN" sz="20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2000" dirty="0"/>
              <a:t>使一个集合的</a:t>
            </a:r>
            <a:r>
              <a:rPr lang="zh-CN" altLang="en-US" sz="2000" dirty="0"/>
              <a:t>根</a:t>
            </a:r>
            <a:r>
              <a:rPr lang="zh-CN" altLang="zh-CN" sz="2000" dirty="0"/>
              <a:t>成为另一个集合的</a:t>
            </a:r>
            <a:r>
              <a:rPr lang="zh-CN" altLang="en-US" sz="2000" dirty="0"/>
              <a:t>根的孩子即可实现合并</a:t>
            </a: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Oval 11">
            <a:extLst>
              <a:ext uri="{FF2B5EF4-FFF2-40B4-BE49-F238E27FC236}">
                <a16:creationId xmlns:a16="http://schemas.microsoft.com/office/drawing/2014/main" id="{93779FDF-8631-F112-976E-472D463E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843" y="2206785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779A2E74-F1B2-56B0-34ED-B463B772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933" y="221213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0A67CBBE-8737-C548-6E83-11AD39A8EC04}"/>
              </a:ext>
            </a:extLst>
          </p:cNvPr>
          <p:cNvSpPr/>
          <p:nvPr/>
        </p:nvSpPr>
        <p:spPr>
          <a:xfrm>
            <a:off x="4551933" y="200464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873F1704-F83F-4DE4-D72B-B254AFF81C20}"/>
              </a:ext>
            </a:extLst>
          </p:cNvPr>
          <p:cNvSpPr/>
          <p:nvPr/>
        </p:nvSpPr>
        <p:spPr>
          <a:xfrm>
            <a:off x="6545385" y="1991478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0CE13217-0074-71F4-CBC1-0E2C01D83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681" y="2195266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4E62360E-5AD3-A9F9-5771-2BE3F09F9A1A}"/>
              </a:ext>
            </a:extLst>
          </p:cNvPr>
          <p:cNvSpPr/>
          <p:nvPr/>
        </p:nvSpPr>
        <p:spPr>
          <a:xfrm>
            <a:off x="1541223" y="197995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Oval 11">
            <a:extLst>
              <a:ext uri="{FF2B5EF4-FFF2-40B4-BE49-F238E27FC236}">
                <a16:creationId xmlns:a16="http://schemas.microsoft.com/office/drawing/2014/main" id="{1EA37B10-5D00-7DBB-D22D-F99A8B9B8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93" y="2195266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弧形 48">
            <a:extLst>
              <a:ext uri="{FF2B5EF4-FFF2-40B4-BE49-F238E27FC236}">
                <a16:creationId xmlns:a16="http://schemas.microsoft.com/office/drawing/2014/main" id="{FD4CBE54-A3AE-B92F-777B-082B3933AB13}"/>
              </a:ext>
            </a:extLst>
          </p:cNvPr>
          <p:cNvSpPr/>
          <p:nvPr/>
        </p:nvSpPr>
        <p:spPr>
          <a:xfrm>
            <a:off x="2544793" y="1987778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Oval 11">
            <a:extLst>
              <a:ext uri="{FF2B5EF4-FFF2-40B4-BE49-F238E27FC236}">
                <a16:creationId xmlns:a16="http://schemas.microsoft.com/office/drawing/2014/main" id="{7454D8A7-70BB-771B-B0DA-432EE9E1A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821" y="2193614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弧形 50">
            <a:extLst>
              <a:ext uri="{FF2B5EF4-FFF2-40B4-BE49-F238E27FC236}">
                <a16:creationId xmlns:a16="http://schemas.microsoft.com/office/drawing/2014/main" id="{F8931483-F673-F718-3D2A-712DDBA6CA0B}"/>
              </a:ext>
            </a:extLst>
          </p:cNvPr>
          <p:cNvSpPr/>
          <p:nvPr/>
        </p:nvSpPr>
        <p:spPr>
          <a:xfrm>
            <a:off x="3548363" y="1978307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Oval 11">
            <a:extLst>
              <a:ext uri="{FF2B5EF4-FFF2-40B4-BE49-F238E27FC236}">
                <a16:creationId xmlns:a16="http://schemas.microsoft.com/office/drawing/2014/main" id="{497232B9-8375-EF79-103B-C1F213C38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127" y="2193614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弧形 52">
            <a:extLst>
              <a:ext uri="{FF2B5EF4-FFF2-40B4-BE49-F238E27FC236}">
                <a16:creationId xmlns:a16="http://schemas.microsoft.com/office/drawing/2014/main" id="{F7BF4FBD-DB31-1AE4-D0D9-311BDC2F43F5}"/>
              </a:ext>
            </a:extLst>
          </p:cNvPr>
          <p:cNvSpPr/>
          <p:nvPr/>
        </p:nvSpPr>
        <p:spPr>
          <a:xfrm>
            <a:off x="5532669" y="1978307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FC20AF3-03B6-D299-3B2E-4175C0AA1135}"/>
              </a:ext>
            </a:extLst>
          </p:cNvPr>
          <p:cNvSpPr txBox="1"/>
          <p:nvPr/>
        </p:nvSpPr>
        <p:spPr>
          <a:xfrm>
            <a:off x="1455589" y="2880196"/>
            <a:ext cx="2217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Union(1,2)</a:t>
            </a:r>
            <a:r>
              <a:rPr lang="zh-CN" altLang="en-US" dirty="0"/>
              <a:t>、</a:t>
            </a:r>
            <a:r>
              <a:rPr lang="en-US" altLang="zh-CN" dirty="0"/>
              <a:t>Union(3,4):</a:t>
            </a:r>
            <a:endParaRPr lang="zh-CN" altLang="en-US" dirty="0"/>
          </a:p>
        </p:txBody>
      </p:sp>
      <p:sp>
        <p:nvSpPr>
          <p:cNvPr id="67" name="Oval 11">
            <a:extLst>
              <a:ext uri="{FF2B5EF4-FFF2-40B4-BE49-F238E27FC236}">
                <a16:creationId xmlns:a16="http://schemas.microsoft.com/office/drawing/2014/main" id="{6A340DDB-90C5-22D7-92BF-07DBAB585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178" y="3697471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8" name="Oval 11">
            <a:extLst>
              <a:ext uri="{FF2B5EF4-FFF2-40B4-BE49-F238E27FC236}">
                <a16:creationId xmlns:a16="http://schemas.microsoft.com/office/drawing/2014/main" id="{935BBAEE-F68F-B4FC-19BE-4D0077A39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606" y="4194135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0" name="弧形 69">
            <a:extLst>
              <a:ext uri="{FF2B5EF4-FFF2-40B4-BE49-F238E27FC236}">
                <a16:creationId xmlns:a16="http://schemas.microsoft.com/office/drawing/2014/main" id="{1812A0B3-F202-6A35-0C08-087D67A9CB81}"/>
              </a:ext>
            </a:extLst>
          </p:cNvPr>
          <p:cNvSpPr/>
          <p:nvPr/>
        </p:nvSpPr>
        <p:spPr>
          <a:xfrm>
            <a:off x="5450720" y="3482164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Oval 11">
            <a:extLst>
              <a:ext uri="{FF2B5EF4-FFF2-40B4-BE49-F238E27FC236}">
                <a16:creationId xmlns:a16="http://schemas.microsoft.com/office/drawing/2014/main" id="{C5697B71-201D-EC2D-9899-AA59E801F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387" y="354600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" name="弧形 71">
            <a:extLst>
              <a:ext uri="{FF2B5EF4-FFF2-40B4-BE49-F238E27FC236}">
                <a16:creationId xmlns:a16="http://schemas.microsoft.com/office/drawing/2014/main" id="{623EEBE8-75D8-6CF3-28D7-3DC6A159CAE6}"/>
              </a:ext>
            </a:extLst>
          </p:cNvPr>
          <p:cNvSpPr/>
          <p:nvPr/>
        </p:nvSpPr>
        <p:spPr>
          <a:xfrm>
            <a:off x="1739929" y="3330700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Oval 11">
            <a:extLst>
              <a:ext uri="{FF2B5EF4-FFF2-40B4-BE49-F238E27FC236}">
                <a16:creationId xmlns:a16="http://schemas.microsoft.com/office/drawing/2014/main" id="{E85F7A5D-EABF-ED20-60F9-8C644BEDF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629" y="4183016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Oval 11">
            <a:extLst>
              <a:ext uri="{FF2B5EF4-FFF2-40B4-BE49-F238E27FC236}">
                <a16:creationId xmlns:a16="http://schemas.microsoft.com/office/drawing/2014/main" id="{62CABD32-A309-FC35-4FE4-68531124E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606" y="354600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" name="弧形 75">
            <a:extLst>
              <a:ext uri="{FF2B5EF4-FFF2-40B4-BE49-F238E27FC236}">
                <a16:creationId xmlns:a16="http://schemas.microsoft.com/office/drawing/2014/main" id="{F899D2A6-9977-A073-6E74-A396980E87A2}"/>
              </a:ext>
            </a:extLst>
          </p:cNvPr>
          <p:cNvSpPr/>
          <p:nvPr/>
        </p:nvSpPr>
        <p:spPr>
          <a:xfrm>
            <a:off x="3098148" y="3330700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Oval 11">
            <a:extLst>
              <a:ext uri="{FF2B5EF4-FFF2-40B4-BE49-F238E27FC236}">
                <a16:creationId xmlns:a16="http://schemas.microsoft.com/office/drawing/2014/main" id="{44D19979-6C46-2CB2-F151-7D5E885E3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462" y="3684300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" name="弧形 77">
            <a:extLst>
              <a:ext uri="{FF2B5EF4-FFF2-40B4-BE49-F238E27FC236}">
                <a16:creationId xmlns:a16="http://schemas.microsoft.com/office/drawing/2014/main" id="{C6323A2F-2061-A347-23BB-940C30D5E14A}"/>
              </a:ext>
            </a:extLst>
          </p:cNvPr>
          <p:cNvSpPr/>
          <p:nvPr/>
        </p:nvSpPr>
        <p:spPr>
          <a:xfrm>
            <a:off x="4438004" y="3468993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Line 19">
            <a:extLst>
              <a:ext uri="{FF2B5EF4-FFF2-40B4-BE49-F238E27FC236}">
                <a16:creationId xmlns:a16="http://schemas.microsoft.com/office/drawing/2014/main" id="{345A539C-2D7A-AF94-EF69-3A82895F07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2175" y="3873264"/>
            <a:ext cx="12242" cy="308019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Line 19">
            <a:extLst>
              <a:ext uri="{FF2B5EF4-FFF2-40B4-BE49-F238E27FC236}">
                <a16:creationId xmlns:a16="http://schemas.microsoft.com/office/drawing/2014/main" id="{C1150ED0-B5AE-BA63-F2BA-03119F82E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273" y="3846921"/>
            <a:ext cx="12242" cy="308019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1448D06-8762-28BC-0D84-5032DB88EAD2}"/>
              </a:ext>
            </a:extLst>
          </p:cNvPr>
          <p:cNvSpPr txBox="1"/>
          <p:nvPr/>
        </p:nvSpPr>
        <p:spPr>
          <a:xfrm>
            <a:off x="6873065" y="3101605"/>
            <a:ext cx="12496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Father[1] = 1</a:t>
            </a:r>
          </a:p>
          <a:p>
            <a:r>
              <a:rPr lang="en-US" altLang="zh-CN" dirty="0"/>
              <a:t>Father[2] = 1</a:t>
            </a:r>
          </a:p>
          <a:p>
            <a:r>
              <a:rPr lang="en-US" altLang="zh-CN" dirty="0"/>
              <a:t>Father[3] = 3</a:t>
            </a:r>
          </a:p>
          <a:p>
            <a:r>
              <a:rPr lang="en-US" altLang="zh-CN" dirty="0"/>
              <a:t>Father[4] = 3</a:t>
            </a:r>
          </a:p>
          <a:p>
            <a:r>
              <a:rPr lang="en-US" altLang="zh-CN" dirty="0"/>
              <a:t>Father[5] = 5</a:t>
            </a:r>
          </a:p>
          <a:p>
            <a:r>
              <a:rPr lang="en-US" altLang="zh-CN" dirty="0"/>
              <a:t>Father[6] = 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9682017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056784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（并）操作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00" y="791964"/>
            <a:ext cx="7991789" cy="846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sz="1600" dirty="0"/>
              <a:t>Union(</a:t>
            </a:r>
            <a:r>
              <a:rPr lang="en-US" altLang="zh-CN" sz="1600" dirty="0" err="1"/>
              <a:t>x,y</a:t>
            </a:r>
            <a:r>
              <a:rPr lang="en-US" altLang="zh-CN" sz="1600" dirty="0"/>
              <a:t>)</a:t>
            </a:r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en-US" sz="1400" dirty="0"/>
              <a:t>先查找</a:t>
            </a:r>
            <a:r>
              <a:rPr lang="en-US" altLang="zh-CN" sz="1400" dirty="0"/>
              <a:t>x</a:t>
            </a:r>
            <a:r>
              <a:rPr lang="zh-CN" altLang="en-US" sz="1400" dirty="0"/>
              <a:t>和</a:t>
            </a:r>
            <a:r>
              <a:rPr lang="en-US" altLang="zh-CN" sz="1400" dirty="0"/>
              <a:t>y</a:t>
            </a:r>
            <a:r>
              <a:rPr lang="zh-CN" altLang="en-US" sz="1400" dirty="0"/>
              <a:t>所在的集合，若不在同一集合，则合并</a:t>
            </a:r>
            <a:endParaRPr lang="en-US" altLang="zh-CN" sz="14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400" dirty="0"/>
              <a:t>使一个集合的</a:t>
            </a:r>
            <a:r>
              <a:rPr lang="zh-CN" altLang="en-US" sz="1400" dirty="0"/>
              <a:t>根</a:t>
            </a:r>
            <a:r>
              <a:rPr lang="zh-CN" altLang="zh-CN" sz="1400" dirty="0"/>
              <a:t>成为另一个集合的</a:t>
            </a:r>
            <a:r>
              <a:rPr lang="zh-CN" altLang="en-US" sz="1400" dirty="0"/>
              <a:t>根的孩子即可实现合并</a:t>
            </a:r>
            <a:endParaRPr lang="en-US" altLang="zh-CN" sz="14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Oval 11">
            <a:extLst>
              <a:ext uri="{FF2B5EF4-FFF2-40B4-BE49-F238E27FC236}">
                <a16:creationId xmlns:a16="http://schemas.microsoft.com/office/drawing/2014/main" id="{6A340DDB-90C5-22D7-92BF-07DBAB585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135" y="1989113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8" name="Oval 11">
            <a:extLst>
              <a:ext uri="{FF2B5EF4-FFF2-40B4-BE49-F238E27FC236}">
                <a16:creationId xmlns:a16="http://schemas.microsoft.com/office/drawing/2014/main" id="{935BBAEE-F68F-B4FC-19BE-4D0077A39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720" y="2502486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0" name="弧形 69">
            <a:extLst>
              <a:ext uri="{FF2B5EF4-FFF2-40B4-BE49-F238E27FC236}">
                <a16:creationId xmlns:a16="http://schemas.microsoft.com/office/drawing/2014/main" id="{1812A0B3-F202-6A35-0C08-087D67A9CB81}"/>
              </a:ext>
            </a:extLst>
          </p:cNvPr>
          <p:cNvSpPr/>
          <p:nvPr/>
        </p:nvSpPr>
        <p:spPr>
          <a:xfrm>
            <a:off x="3180677" y="1773806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Oval 11">
            <a:extLst>
              <a:ext uri="{FF2B5EF4-FFF2-40B4-BE49-F238E27FC236}">
                <a16:creationId xmlns:a16="http://schemas.microsoft.com/office/drawing/2014/main" id="{C5697B71-201D-EC2D-9899-AA59E801F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875" y="1843509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" name="弧形 71">
            <a:extLst>
              <a:ext uri="{FF2B5EF4-FFF2-40B4-BE49-F238E27FC236}">
                <a16:creationId xmlns:a16="http://schemas.microsoft.com/office/drawing/2014/main" id="{623EEBE8-75D8-6CF3-28D7-3DC6A159CAE6}"/>
              </a:ext>
            </a:extLst>
          </p:cNvPr>
          <p:cNvSpPr/>
          <p:nvPr/>
        </p:nvSpPr>
        <p:spPr>
          <a:xfrm>
            <a:off x="1029417" y="1628202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Oval 11">
            <a:extLst>
              <a:ext uri="{FF2B5EF4-FFF2-40B4-BE49-F238E27FC236}">
                <a16:creationId xmlns:a16="http://schemas.microsoft.com/office/drawing/2014/main" id="{E85F7A5D-EABF-ED20-60F9-8C644BEDF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17" y="248051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Oval 11">
            <a:extLst>
              <a:ext uri="{FF2B5EF4-FFF2-40B4-BE49-F238E27FC236}">
                <a16:creationId xmlns:a16="http://schemas.microsoft.com/office/drawing/2014/main" id="{62CABD32-A309-FC35-4FE4-68531124E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720" y="185435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" name="弧形 75">
            <a:extLst>
              <a:ext uri="{FF2B5EF4-FFF2-40B4-BE49-F238E27FC236}">
                <a16:creationId xmlns:a16="http://schemas.microsoft.com/office/drawing/2014/main" id="{F899D2A6-9977-A073-6E74-A396980E87A2}"/>
              </a:ext>
            </a:extLst>
          </p:cNvPr>
          <p:cNvSpPr/>
          <p:nvPr/>
        </p:nvSpPr>
        <p:spPr>
          <a:xfrm>
            <a:off x="1713262" y="1639051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Oval 11">
            <a:extLst>
              <a:ext uri="{FF2B5EF4-FFF2-40B4-BE49-F238E27FC236}">
                <a16:creationId xmlns:a16="http://schemas.microsoft.com/office/drawing/2014/main" id="{44D19979-6C46-2CB2-F151-7D5E885E3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532" y="199751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" name="弧形 77">
            <a:extLst>
              <a:ext uri="{FF2B5EF4-FFF2-40B4-BE49-F238E27FC236}">
                <a16:creationId xmlns:a16="http://schemas.microsoft.com/office/drawing/2014/main" id="{C6323A2F-2061-A347-23BB-940C30D5E14A}"/>
              </a:ext>
            </a:extLst>
          </p:cNvPr>
          <p:cNvSpPr/>
          <p:nvPr/>
        </p:nvSpPr>
        <p:spPr>
          <a:xfrm>
            <a:off x="2451074" y="1782211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Line 19">
            <a:extLst>
              <a:ext uri="{FF2B5EF4-FFF2-40B4-BE49-F238E27FC236}">
                <a16:creationId xmlns:a16="http://schemas.microsoft.com/office/drawing/2014/main" id="{345A539C-2D7A-AF94-EF69-3A82895F07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1663" y="2170766"/>
            <a:ext cx="12242" cy="308019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Line 19">
            <a:extLst>
              <a:ext uri="{FF2B5EF4-FFF2-40B4-BE49-F238E27FC236}">
                <a16:creationId xmlns:a16="http://schemas.microsoft.com/office/drawing/2014/main" id="{C1150ED0-B5AE-BA63-F2BA-03119F82E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9387" y="2155272"/>
            <a:ext cx="12242" cy="308019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1448D06-8762-28BC-0D84-5032DB88EAD2}"/>
              </a:ext>
            </a:extLst>
          </p:cNvPr>
          <p:cNvSpPr txBox="1"/>
          <p:nvPr/>
        </p:nvSpPr>
        <p:spPr>
          <a:xfrm>
            <a:off x="3872224" y="1574089"/>
            <a:ext cx="12496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Father[1] = 1</a:t>
            </a:r>
          </a:p>
          <a:p>
            <a:r>
              <a:rPr lang="en-US" altLang="zh-CN" dirty="0"/>
              <a:t>Father[2] = 1</a:t>
            </a:r>
          </a:p>
          <a:p>
            <a:r>
              <a:rPr lang="en-US" altLang="zh-CN" dirty="0"/>
              <a:t>Father[3] = 3</a:t>
            </a:r>
          </a:p>
          <a:p>
            <a:r>
              <a:rPr lang="en-US" altLang="zh-CN" dirty="0"/>
              <a:t>Father[4] = 3</a:t>
            </a:r>
          </a:p>
          <a:p>
            <a:r>
              <a:rPr lang="en-US" altLang="zh-CN" dirty="0"/>
              <a:t>Father[5] = 5</a:t>
            </a:r>
          </a:p>
          <a:p>
            <a:r>
              <a:rPr lang="en-US" altLang="zh-CN" dirty="0"/>
              <a:t>Father[6] = 6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0980A8-4683-BC67-5F37-EFA8AE245FBA}"/>
              </a:ext>
            </a:extLst>
          </p:cNvPr>
          <p:cNvSpPr txBox="1"/>
          <p:nvPr/>
        </p:nvSpPr>
        <p:spPr>
          <a:xfrm>
            <a:off x="879525" y="2906228"/>
            <a:ext cx="112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Union(1,3):</a:t>
            </a:r>
            <a:endParaRPr lang="zh-CN" altLang="en-US" dirty="0"/>
          </a:p>
        </p:txBody>
      </p:sp>
      <p:sp>
        <p:nvSpPr>
          <p:cNvPr id="3" name="Oval 11">
            <a:extLst>
              <a:ext uri="{FF2B5EF4-FFF2-40B4-BE49-F238E27FC236}">
                <a16:creationId xmlns:a16="http://schemas.microsoft.com/office/drawing/2014/main" id="{E2684C1B-33F8-1330-F9F2-BFC2C4393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9471" y="3779776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EDEE4F55-55C7-2C64-67AD-AD4D6FBE7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078" y="4435009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AACEB5DC-B0BC-6259-9BDD-1ECF57432705}"/>
              </a:ext>
            </a:extLst>
          </p:cNvPr>
          <p:cNvSpPr/>
          <p:nvPr/>
        </p:nvSpPr>
        <p:spPr>
          <a:xfrm>
            <a:off x="3044013" y="356446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8C95B07A-D25A-F14A-DDF5-F6CB5405A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951" y="3497433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弧形 13">
            <a:extLst>
              <a:ext uri="{FF2B5EF4-FFF2-40B4-BE49-F238E27FC236}">
                <a16:creationId xmlns:a16="http://schemas.microsoft.com/office/drawing/2014/main" id="{74352DD7-8A86-6254-6152-BE0BFEBDBC65}"/>
              </a:ext>
            </a:extLst>
          </p:cNvPr>
          <p:cNvSpPr/>
          <p:nvPr/>
        </p:nvSpPr>
        <p:spPr>
          <a:xfrm>
            <a:off x="1062493" y="3282126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E094E211-5119-21B4-9127-3CA3B687F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193" y="4134442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Oval 11">
            <a:extLst>
              <a:ext uri="{FF2B5EF4-FFF2-40B4-BE49-F238E27FC236}">
                <a16:creationId xmlns:a16="http://schemas.microsoft.com/office/drawing/2014/main" id="{579135B7-A68A-3805-EFD5-1848D751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078" y="3786881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11">
            <a:extLst>
              <a:ext uri="{FF2B5EF4-FFF2-40B4-BE49-F238E27FC236}">
                <a16:creationId xmlns:a16="http://schemas.microsoft.com/office/drawing/2014/main" id="{19F98FEC-E481-CD10-A675-0FC11FDFF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760" y="3779776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弧形 22">
            <a:extLst>
              <a:ext uri="{FF2B5EF4-FFF2-40B4-BE49-F238E27FC236}">
                <a16:creationId xmlns:a16="http://schemas.microsoft.com/office/drawing/2014/main" id="{63A2C7D8-DAB7-01D5-810A-A6AFD7BE2B8F}"/>
              </a:ext>
            </a:extLst>
          </p:cNvPr>
          <p:cNvSpPr/>
          <p:nvPr/>
        </p:nvSpPr>
        <p:spPr>
          <a:xfrm>
            <a:off x="2492302" y="356446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E088A224-804C-FE8B-F997-09E3885A6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4739" y="3824690"/>
            <a:ext cx="12242" cy="308019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Line 19">
            <a:extLst>
              <a:ext uri="{FF2B5EF4-FFF2-40B4-BE49-F238E27FC236}">
                <a16:creationId xmlns:a16="http://schemas.microsoft.com/office/drawing/2014/main" id="{AB2ED407-C4C2-DEAE-08C4-7A6F95521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9745" y="4087795"/>
            <a:ext cx="12242" cy="308019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919126BE-11CE-E85C-5710-173803578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3094" y="3675075"/>
            <a:ext cx="244417" cy="18289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3DA3385-8C29-DD3E-EF25-848695C48980}"/>
              </a:ext>
            </a:extLst>
          </p:cNvPr>
          <p:cNvSpPr txBox="1"/>
          <p:nvPr/>
        </p:nvSpPr>
        <p:spPr>
          <a:xfrm>
            <a:off x="3855106" y="3310070"/>
            <a:ext cx="12496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Father[1] = 1</a:t>
            </a:r>
          </a:p>
          <a:p>
            <a:r>
              <a:rPr lang="en-US" altLang="zh-CN" dirty="0"/>
              <a:t>Father[2] = 1</a:t>
            </a:r>
          </a:p>
          <a:p>
            <a:r>
              <a:rPr lang="en-US" altLang="zh-CN" dirty="0"/>
              <a:t>Father[3] = 1</a:t>
            </a:r>
          </a:p>
          <a:p>
            <a:r>
              <a:rPr lang="en-US" altLang="zh-CN" dirty="0"/>
              <a:t>Father[4] = 3</a:t>
            </a:r>
          </a:p>
          <a:p>
            <a:r>
              <a:rPr lang="en-US" altLang="zh-CN" dirty="0"/>
              <a:t>Father[5] = 5</a:t>
            </a:r>
          </a:p>
          <a:p>
            <a:r>
              <a:rPr lang="en-US" altLang="zh-CN" dirty="0"/>
              <a:t>Father[6] = 6</a:t>
            </a:r>
            <a:endParaRPr lang="zh-CN" altLang="en-US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F1396A7-BD3F-9442-D3D7-56A86DDE9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839" y="2008367"/>
            <a:ext cx="32575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67862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7056784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（并）操作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00" y="791965"/>
            <a:ext cx="7991789" cy="416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zh-CN" altLang="en-US" sz="1600" dirty="0"/>
              <a:t>直接合并的缺点：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atinLnBrk="1"/>
            <a:endParaRPr lang="en-US" altLang="zh-CN" sz="1600" dirty="0"/>
          </a:p>
        </p:txBody>
      </p:sp>
      <p:sp>
        <p:nvSpPr>
          <p:cNvPr id="4" name="Oval 11">
            <a:extLst>
              <a:ext uri="{FF2B5EF4-FFF2-40B4-BE49-F238E27FC236}">
                <a16:creationId xmlns:a16="http://schemas.microsoft.com/office/drawing/2014/main" id="{2670E341-3CA5-D143-ED3F-A94325BFB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751" y="149006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B44D2B9D-C6E5-6672-4CED-05B420C3E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841" y="1495420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E9317519-61CB-A590-27C6-3FE81CBAE342}"/>
              </a:ext>
            </a:extLst>
          </p:cNvPr>
          <p:cNvSpPr/>
          <p:nvPr/>
        </p:nvSpPr>
        <p:spPr>
          <a:xfrm>
            <a:off x="4470841" y="1287932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EB2FA64B-1162-30F3-ADF7-A2984B57F5AC}"/>
              </a:ext>
            </a:extLst>
          </p:cNvPr>
          <p:cNvSpPr/>
          <p:nvPr/>
        </p:nvSpPr>
        <p:spPr>
          <a:xfrm>
            <a:off x="6464293" y="1274761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CAE13D03-F09F-2F30-98D9-4C61363EA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589" y="1478549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弧形 20">
            <a:extLst>
              <a:ext uri="{FF2B5EF4-FFF2-40B4-BE49-F238E27FC236}">
                <a16:creationId xmlns:a16="http://schemas.microsoft.com/office/drawing/2014/main" id="{392880DA-8442-A053-4904-22212129DF99}"/>
              </a:ext>
            </a:extLst>
          </p:cNvPr>
          <p:cNvSpPr/>
          <p:nvPr/>
        </p:nvSpPr>
        <p:spPr>
          <a:xfrm>
            <a:off x="1460131" y="1263242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25479725-2137-213A-A5B6-11EBAD700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701" y="1478549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弧形 29">
            <a:extLst>
              <a:ext uri="{FF2B5EF4-FFF2-40B4-BE49-F238E27FC236}">
                <a16:creationId xmlns:a16="http://schemas.microsoft.com/office/drawing/2014/main" id="{29DF1F53-B5AD-2F2F-BAB9-5626DB2B796B}"/>
              </a:ext>
            </a:extLst>
          </p:cNvPr>
          <p:cNvSpPr/>
          <p:nvPr/>
        </p:nvSpPr>
        <p:spPr>
          <a:xfrm>
            <a:off x="2463701" y="1271061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Oval 11">
            <a:extLst>
              <a:ext uri="{FF2B5EF4-FFF2-40B4-BE49-F238E27FC236}">
                <a16:creationId xmlns:a16="http://schemas.microsoft.com/office/drawing/2014/main" id="{06F0B314-9ED6-A66B-B516-4BB17E752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2729" y="147689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E51A577A-A086-D935-8C86-BF55761301C4}"/>
              </a:ext>
            </a:extLst>
          </p:cNvPr>
          <p:cNvSpPr/>
          <p:nvPr/>
        </p:nvSpPr>
        <p:spPr>
          <a:xfrm>
            <a:off x="3467271" y="1261590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Oval 11">
            <a:extLst>
              <a:ext uri="{FF2B5EF4-FFF2-40B4-BE49-F238E27FC236}">
                <a16:creationId xmlns:a16="http://schemas.microsoft.com/office/drawing/2014/main" id="{54D2D8C8-97FD-BD08-B829-1B3017475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035" y="147689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12DFD711-9BD8-413D-3A12-93B1909D5B4C}"/>
              </a:ext>
            </a:extLst>
          </p:cNvPr>
          <p:cNvSpPr/>
          <p:nvPr/>
        </p:nvSpPr>
        <p:spPr>
          <a:xfrm>
            <a:off x="5451577" y="1261590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A5E8C8D-B9EB-B415-8228-6CD80D670277}"/>
              </a:ext>
            </a:extLst>
          </p:cNvPr>
          <p:cNvSpPr txBox="1"/>
          <p:nvPr/>
        </p:nvSpPr>
        <p:spPr>
          <a:xfrm>
            <a:off x="735509" y="2095836"/>
            <a:ext cx="5642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Union(1,2)</a:t>
            </a:r>
            <a:r>
              <a:rPr lang="zh-CN" altLang="en-US" dirty="0"/>
              <a:t>、</a:t>
            </a:r>
            <a:r>
              <a:rPr lang="en-US" altLang="zh-CN" dirty="0"/>
              <a:t>Union(2,3)</a:t>
            </a:r>
            <a:r>
              <a:rPr lang="zh-CN" altLang="en-US" dirty="0"/>
              <a:t>、</a:t>
            </a:r>
            <a:r>
              <a:rPr lang="en-US" altLang="zh-CN" dirty="0"/>
              <a:t>Union(3,4)</a:t>
            </a:r>
            <a:r>
              <a:rPr lang="zh-CN" altLang="en-US" dirty="0"/>
              <a:t>、</a:t>
            </a:r>
            <a:r>
              <a:rPr lang="en-US" altLang="zh-CN" dirty="0"/>
              <a:t>Union(4,5)</a:t>
            </a:r>
            <a:r>
              <a:rPr lang="zh-CN" altLang="en-US" dirty="0"/>
              <a:t>、</a:t>
            </a:r>
            <a:r>
              <a:rPr lang="en-US" altLang="zh-CN" dirty="0"/>
              <a:t>Union(5,6):</a:t>
            </a:r>
            <a:endParaRPr lang="zh-CN" altLang="en-US" dirty="0"/>
          </a:p>
        </p:txBody>
      </p:sp>
      <p:sp>
        <p:nvSpPr>
          <p:cNvPr id="38" name="Oval 11">
            <a:extLst>
              <a:ext uri="{FF2B5EF4-FFF2-40B4-BE49-F238E27FC236}">
                <a16:creationId xmlns:a16="http://schemas.microsoft.com/office/drawing/2014/main" id="{94E0F3AA-2371-D485-3ECD-4A9BA9395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565" y="2833420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61037CDE-3958-D1BB-189C-B6A9B7172772}"/>
              </a:ext>
            </a:extLst>
          </p:cNvPr>
          <p:cNvSpPr/>
          <p:nvPr/>
        </p:nvSpPr>
        <p:spPr>
          <a:xfrm>
            <a:off x="1244107" y="2618113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Oval 11">
            <a:extLst>
              <a:ext uri="{FF2B5EF4-FFF2-40B4-BE49-F238E27FC236}">
                <a16:creationId xmlns:a16="http://schemas.microsoft.com/office/drawing/2014/main" id="{227D7825-667A-0BF8-3245-B8F72CE6C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637" y="3167459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Oval 11">
            <a:extLst>
              <a:ext uri="{FF2B5EF4-FFF2-40B4-BE49-F238E27FC236}">
                <a16:creationId xmlns:a16="http://schemas.microsoft.com/office/drawing/2014/main" id="{DA3924A3-EC62-15E8-BBD1-B8BDCE3F8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468" y="347547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Oval 11">
            <a:extLst>
              <a:ext uri="{FF2B5EF4-FFF2-40B4-BE49-F238E27FC236}">
                <a16:creationId xmlns:a16="http://schemas.microsoft.com/office/drawing/2014/main" id="{929C6C83-4BEC-2644-4DFD-FE14D162D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941" y="378349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32D35862-126E-2DE2-2F29-1C5B0F7CD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869" y="409433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Oval 11">
            <a:extLst>
              <a:ext uri="{FF2B5EF4-FFF2-40B4-BE49-F238E27FC236}">
                <a16:creationId xmlns:a16="http://schemas.microsoft.com/office/drawing/2014/main" id="{CF612564-A1BF-21D6-B8AC-5A2F0D7E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494" y="440235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56FAEECA-1B97-841F-54B3-D8E93532C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8443" y="3049990"/>
            <a:ext cx="244417" cy="18289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Line 19">
            <a:extLst>
              <a:ext uri="{FF2B5EF4-FFF2-40B4-BE49-F238E27FC236}">
                <a16:creationId xmlns:a16="http://schemas.microsoft.com/office/drawing/2014/main" id="{714A9D91-997A-1E19-AB5E-935AD6782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5535" y="3385954"/>
            <a:ext cx="244417" cy="18289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Line 19">
            <a:extLst>
              <a:ext uri="{FF2B5EF4-FFF2-40B4-BE49-F238E27FC236}">
                <a16:creationId xmlns:a16="http://schemas.microsoft.com/office/drawing/2014/main" id="{22241448-2D48-6B23-45A1-443255E089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5044" y="3738741"/>
            <a:ext cx="244417" cy="18289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Line 19">
            <a:extLst>
              <a:ext uri="{FF2B5EF4-FFF2-40B4-BE49-F238E27FC236}">
                <a16:creationId xmlns:a16="http://schemas.microsoft.com/office/drawing/2014/main" id="{4D96C235-3C44-6E6F-6F66-BD211CF9B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8172" y="4013858"/>
            <a:ext cx="244417" cy="18289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Line 19">
            <a:extLst>
              <a:ext uri="{FF2B5EF4-FFF2-40B4-BE49-F238E27FC236}">
                <a16:creationId xmlns:a16="http://schemas.microsoft.com/office/drawing/2014/main" id="{B9392E43-CF6E-7CFA-1A63-C1622A25F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8632" y="4323649"/>
            <a:ext cx="244417" cy="18289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ADE680F-15B7-228C-CF06-C6688BB0251D}"/>
              </a:ext>
            </a:extLst>
          </p:cNvPr>
          <p:cNvSpPr txBox="1"/>
          <p:nvPr/>
        </p:nvSpPr>
        <p:spPr>
          <a:xfrm>
            <a:off x="5601933" y="3288570"/>
            <a:ext cx="29695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此时调用</a:t>
            </a:r>
            <a:r>
              <a:rPr lang="en-US" altLang="zh-CN" dirty="0" err="1"/>
              <a:t>Find_set</a:t>
            </a:r>
            <a:r>
              <a:rPr lang="en-US" altLang="zh-CN" dirty="0"/>
              <a:t>(6)</a:t>
            </a:r>
            <a:r>
              <a:rPr lang="zh-CN" altLang="en-US" dirty="0"/>
              <a:t>会怎么样？</a:t>
            </a:r>
          </a:p>
        </p:txBody>
      </p:sp>
    </p:spTree>
    <p:extLst>
      <p:ext uri="{BB962C8B-B14F-4D97-AF65-F5344CB8AC3E}">
        <p14:creationId xmlns:p14="http://schemas.microsoft.com/office/powerpoint/2010/main" val="647123961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的优化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45" y="739184"/>
            <a:ext cx="7639277" cy="3077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/>
              <a:t>Union(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zh-CN" altLang="zh-CN" dirty="0"/>
              <a:t>按秩合并</a:t>
            </a:r>
            <a:endParaRPr lang="en-US" altLang="zh-CN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dirty="0"/>
              <a:t>合并的时候将</a:t>
            </a:r>
            <a:r>
              <a:rPr lang="zh-CN" altLang="en-US" sz="1800" dirty="0"/>
              <a:t>高度小（或</a:t>
            </a:r>
            <a:r>
              <a:rPr lang="zh-CN" altLang="zh-CN" sz="1800" dirty="0"/>
              <a:t>元素少</a:t>
            </a:r>
            <a:r>
              <a:rPr lang="zh-CN" altLang="en-US" sz="1800" dirty="0"/>
              <a:t>）</a:t>
            </a:r>
            <a:r>
              <a:rPr lang="zh-CN" altLang="zh-CN" sz="1800" dirty="0"/>
              <a:t>的集合并到</a:t>
            </a:r>
            <a:r>
              <a:rPr lang="zh-CN" altLang="en-US" sz="1800" dirty="0"/>
              <a:t>高度大（或</a:t>
            </a:r>
            <a:r>
              <a:rPr lang="zh-CN" altLang="zh-CN" sz="1800" dirty="0"/>
              <a:t>元素多</a:t>
            </a:r>
            <a:r>
              <a:rPr lang="zh-CN" altLang="en-US" sz="1800" dirty="0"/>
              <a:t>）</a:t>
            </a:r>
            <a:r>
              <a:rPr lang="zh-CN" altLang="zh-CN" sz="1800" dirty="0"/>
              <a:t>的集合，这样合并之后树的高度会相对较小</a:t>
            </a:r>
            <a:endParaRPr lang="en-US" altLang="zh-CN" sz="1800" dirty="0"/>
          </a:p>
          <a:p>
            <a:pPr lvl="1" latinLnBrk="1">
              <a:buFont typeface="Wingdings" panose="05000000000000000000" pitchFamily="2" charset="2"/>
              <a:buChar char=""/>
            </a:pPr>
            <a:endParaRPr lang="en-US" altLang="zh-CN" sz="1800" dirty="0"/>
          </a:p>
          <a:p>
            <a:pPr latinLnBrk="1"/>
            <a:r>
              <a:rPr lang="en-US" altLang="zh-CN" dirty="0"/>
              <a:t>Find_Set(x)</a:t>
            </a:r>
            <a:r>
              <a:rPr lang="zh-CN" altLang="en-US" dirty="0"/>
              <a:t>：进行</a:t>
            </a:r>
            <a:r>
              <a:rPr lang="zh-CN" altLang="zh-CN" dirty="0"/>
              <a:t>路径压缩</a:t>
            </a:r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en-US" sz="1800" dirty="0"/>
              <a:t>查找元素所在集合</a:t>
            </a:r>
            <a:r>
              <a:rPr lang="zh-CN" altLang="zh-CN" sz="1800" dirty="0"/>
              <a:t>时一般采用递归，整棵树</a:t>
            </a:r>
            <a:r>
              <a:rPr lang="zh-CN" altLang="en-US" sz="1800" dirty="0"/>
              <a:t>有可能成为</a:t>
            </a:r>
            <a:r>
              <a:rPr lang="zh-CN" altLang="zh-CN" sz="1800" dirty="0"/>
              <a:t>一条链，</a:t>
            </a:r>
            <a:r>
              <a:rPr lang="zh-CN" altLang="en-US" sz="1800" dirty="0"/>
              <a:t>这样</a:t>
            </a:r>
            <a:r>
              <a:rPr lang="zh-CN" altLang="zh-CN" sz="1800" dirty="0"/>
              <a:t>每次</a:t>
            </a:r>
            <a:r>
              <a:rPr lang="en-US" altLang="zh-CN" sz="1800" dirty="0" err="1"/>
              <a:t>Find_Set</a:t>
            </a:r>
            <a:r>
              <a:rPr lang="en-US" altLang="zh-CN" sz="1800" dirty="0"/>
              <a:t>(x)</a:t>
            </a:r>
            <a:r>
              <a:rPr lang="zh-CN" altLang="en-US" sz="1800" dirty="0"/>
              <a:t>的</a:t>
            </a:r>
            <a:r>
              <a:rPr lang="zh-CN" altLang="zh-CN" sz="1800" dirty="0"/>
              <a:t>复杂度都是</a:t>
            </a:r>
            <a:r>
              <a:rPr lang="en-US" altLang="zh-CN" sz="1800" dirty="0"/>
              <a:t>O(n)</a:t>
            </a:r>
            <a:r>
              <a:rPr lang="zh-CN" altLang="en-US" sz="1800" dirty="0"/>
              <a:t>，可以压缩链</a:t>
            </a:r>
            <a:endParaRPr lang="en-US" altLang="zh-CN" sz="18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b="1" dirty="0"/>
              <a:t>路径压缩</a:t>
            </a:r>
            <a:r>
              <a:rPr lang="zh-CN" altLang="en-US" sz="1800" dirty="0"/>
              <a:t>：</a:t>
            </a:r>
            <a:r>
              <a:rPr lang="zh-CN" altLang="zh-CN" sz="1800" dirty="0"/>
              <a:t>经过</a:t>
            </a:r>
            <a:r>
              <a:rPr lang="zh-CN" altLang="en-US" sz="1800" dirty="0"/>
              <a:t>“</a:t>
            </a:r>
            <a:r>
              <a:rPr lang="zh-CN" altLang="zh-CN" sz="1800" dirty="0"/>
              <a:t>递推</a:t>
            </a:r>
            <a:r>
              <a:rPr lang="zh-CN" altLang="en-US" sz="1800" dirty="0"/>
              <a:t>”</a:t>
            </a:r>
            <a:r>
              <a:rPr lang="zh-CN" altLang="zh-CN" sz="1800" dirty="0"/>
              <a:t>找到</a:t>
            </a:r>
            <a:r>
              <a:rPr lang="zh-CN" altLang="en-US" sz="1800" dirty="0"/>
              <a:t>树根（祖先）</a:t>
            </a:r>
            <a:r>
              <a:rPr lang="zh-CN" altLang="zh-CN" sz="1800" dirty="0"/>
              <a:t>后，</a:t>
            </a:r>
            <a:r>
              <a:rPr lang="zh-CN" altLang="en-US" sz="1800" dirty="0"/>
              <a:t>“</a:t>
            </a:r>
            <a:r>
              <a:rPr lang="zh-CN" altLang="zh-CN" sz="1800" dirty="0"/>
              <a:t>回溯</a:t>
            </a:r>
            <a:r>
              <a:rPr lang="zh-CN" altLang="en-US" sz="1800" dirty="0"/>
              <a:t>”</a:t>
            </a:r>
            <a:r>
              <a:rPr lang="zh-CN" altLang="zh-CN" sz="1800" dirty="0"/>
              <a:t>时顺便将</a:t>
            </a:r>
            <a:r>
              <a:rPr lang="zh-CN" altLang="en-US" sz="1800" dirty="0"/>
              <a:t>其</a:t>
            </a:r>
            <a:r>
              <a:rPr lang="zh-CN" altLang="zh-CN" sz="1800" dirty="0"/>
              <a:t>子孙节点都直接指向</a:t>
            </a:r>
            <a:r>
              <a:rPr lang="zh-CN" altLang="en-US" sz="1800" dirty="0"/>
              <a:t>树根（</a:t>
            </a:r>
            <a:r>
              <a:rPr lang="zh-CN" altLang="zh-CN" sz="1800" dirty="0"/>
              <a:t>祖先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dirty="0"/>
              <a:t>以后再</a:t>
            </a:r>
            <a:r>
              <a:rPr lang="zh-CN" altLang="en-US" sz="1800" dirty="0"/>
              <a:t>执行</a:t>
            </a:r>
            <a:r>
              <a:rPr lang="en-US" altLang="zh-CN" sz="1800" dirty="0" err="1"/>
              <a:t>Find_Set</a:t>
            </a:r>
            <a:r>
              <a:rPr lang="en-US" altLang="zh-CN" sz="1800" dirty="0"/>
              <a:t>(x)</a:t>
            </a:r>
            <a:r>
              <a:rPr lang="zh-CN" altLang="en-US" sz="1800" dirty="0"/>
              <a:t>的</a:t>
            </a:r>
            <a:r>
              <a:rPr lang="zh-CN" altLang="zh-CN" sz="1800" dirty="0"/>
              <a:t>复杂度就变</a:t>
            </a:r>
            <a:r>
              <a:rPr lang="zh-CN" altLang="en-US" sz="1800" dirty="0"/>
              <a:t>为</a:t>
            </a:r>
            <a:r>
              <a:rPr lang="en-US" altLang="zh-CN" sz="1800" dirty="0"/>
              <a:t>O(1)</a:t>
            </a:r>
            <a:r>
              <a:rPr lang="zh-CN" altLang="zh-CN" sz="1800" dirty="0"/>
              <a:t>。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1263292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的优化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45" y="739184"/>
            <a:ext cx="7639277" cy="170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/>
              <a:t>Union(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zh-CN" altLang="zh-CN" dirty="0">
                <a:solidFill>
                  <a:srgbClr val="C00000"/>
                </a:solidFill>
              </a:rPr>
              <a:t>按秩合并</a:t>
            </a:r>
            <a:endParaRPr lang="en-US" altLang="zh-CN" dirty="0">
              <a:solidFill>
                <a:srgbClr val="C00000"/>
              </a:solidFill>
            </a:endParaRPr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en-US" sz="1800" dirty="0"/>
              <a:t>用高度（或元素个数）表示集合的秩（</a:t>
            </a:r>
            <a:r>
              <a:rPr lang="en-US" altLang="zh-CN" sz="1800" dirty="0"/>
              <a:t>rank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dirty="0"/>
              <a:t>合并的时候将</a:t>
            </a:r>
            <a:r>
              <a:rPr lang="zh-CN" altLang="en-US" sz="1800" dirty="0"/>
              <a:t>高度小（或</a:t>
            </a:r>
            <a:r>
              <a:rPr lang="zh-CN" altLang="zh-CN" sz="1800" dirty="0"/>
              <a:t>元素少</a:t>
            </a:r>
            <a:r>
              <a:rPr lang="zh-CN" altLang="en-US" sz="1800" dirty="0"/>
              <a:t>）</a:t>
            </a:r>
            <a:r>
              <a:rPr lang="zh-CN" altLang="zh-CN" sz="1800" dirty="0"/>
              <a:t>的集合并到</a:t>
            </a:r>
            <a:r>
              <a:rPr lang="zh-CN" altLang="en-US" sz="1800" dirty="0"/>
              <a:t>高度大（或</a:t>
            </a:r>
            <a:r>
              <a:rPr lang="zh-CN" altLang="zh-CN" sz="1800" dirty="0"/>
              <a:t>元素多</a:t>
            </a:r>
            <a:r>
              <a:rPr lang="zh-CN" altLang="en-US" sz="1800" dirty="0"/>
              <a:t>）</a:t>
            </a:r>
            <a:r>
              <a:rPr lang="zh-CN" altLang="zh-CN" sz="1800" dirty="0"/>
              <a:t>的集合，这样合并之后树的高度会相对较小</a:t>
            </a:r>
            <a:endParaRPr lang="en-US" altLang="zh-CN" sz="1800" dirty="0"/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1700909" y="2944752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9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1292551" y="2948501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1292552" y="243157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Oval 14"/>
          <p:cNvSpPr>
            <a:spLocks noChangeArrowheads="1"/>
          </p:cNvSpPr>
          <p:nvPr/>
        </p:nvSpPr>
        <p:spPr bwMode="auto">
          <a:xfrm>
            <a:off x="879525" y="2937990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>
            <a:off x="1068536" y="2694311"/>
            <a:ext cx="269858" cy="24952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>
            <a:off x="1466394" y="2731429"/>
            <a:ext cx="0" cy="20323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1592990" y="2694312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5"/>
          <p:cNvSpPr>
            <a:spLocks noChangeArrowheads="1"/>
          </p:cNvSpPr>
          <p:nvPr/>
        </p:nvSpPr>
        <p:spPr bwMode="auto">
          <a:xfrm>
            <a:off x="3229325" y="2907644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10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11"/>
          <p:cNvSpPr>
            <a:spLocks noChangeArrowheads="1"/>
          </p:cNvSpPr>
          <p:nvPr/>
        </p:nvSpPr>
        <p:spPr bwMode="auto">
          <a:xfrm>
            <a:off x="2968293" y="2392137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2607717" y="2898549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flipH="1">
            <a:off x="2815892" y="2694312"/>
            <a:ext cx="253796" cy="208946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3175760" y="2676882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弧形 25"/>
          <p:cNvSpPr/>
          <p:nvPr/>
        </p:nvSpPr>
        <p:spPr>
          <a:xfrm>
            <a:off x="2968293" y="2184649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弧形 26"/>
          <p:cNvSpPr/>
          <p:nvPr/>
        </p:nvSpPr>
        <p:spPr>
          <a:xfrm>
            <a:off x="1297094" y="2216271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>
            <a:off x="3409563" y="3201359"/>
            <a:ext cx="19537" cy="30667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3267134" y="3508032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右箭头 29"/>
          <p:cNvSpPr/>
          <p:nvPr/>
        </p:nvSpPr>
        <p:spPr>
          <a:xfrm>
            <a:off x="4155457" y="2256590"/>
            <a:ext cx="1312961" cy="507048"/>
          </a:xfrm>
          <a:prstGeom prst="rightArrow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Union(3,5)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776069" y="2160116"/>
            <a:ext cx="2160240" cy="1631651"/>
            <a:chOff x="5776069" y="2376140"/>
            <a:chExt cx="2160240" cy="1631651"/>
          </a:xfrm>
        </p:grpSpPr>
        <p:sp>
          <p:nvSpPr>
            <p:cNvPr id="32" name="Oval 5"/>
            <p:cNvSpPr>
              <a:spLocks noChangeArrowheads="1"/>
            </p:cNvSpPr>
            <p:nvPr/>
          </p:nvSpPr>
          <p:spPr bwMode="auto">
            <a:xfrm>
              <a:off x="6597453" y="3649715"/>
              <a:ext cx="333576" cy="308268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9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Oval 8"/>
            <p:cNvSpPr>
              <a:spLocks noChangeArrowheads="1"/>
            </p:cNvSpPr>
            <p:nvPr/>
          </p:nvSpPr>
          <p:spPr bwMode="auto">
            <a:xfrm>
              <a:off x="6189095" y="3653464"/>
              <a:ext cx="333576" cy="306852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6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Oval 11"/>
            <p:cNvSpPr>
              <a:spLocks noChangeArrowheads="1"/>
            </p:cNvSpPr>
            <p:nvPr/>
          </p:nvSpPr>
          <p:spPr bwMode="auto">
            <a:xfrm>
              <a:off x="6189096" y="3136541"/>
              <a:ext cx="333576" cy="308019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Oval 14"/>
            <p:cNvSpPr>
              <a:spLocks noChangeArrowheads="1"/>
            </p:cNvSpPr>
            <p:nvPr/>
          </p:nvSpPr>
          <p:spPr bwMode="auto">
            <a:xfrm>
              <a:off x="5776069" y="3642953"/>
              <a:ext cx="333576" cy="306852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3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 flipH="1">
              <a:off x="5965080" y="3399274"/>
              <a:ext cx="269858" cy="249523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20"/>
            <p:cNvSpPr>
              <a:spLocks noChangeShapeType="1"/>
            </p:cNvSpPr>
            <p:nvPr/>
          </p:nvSpPr>
          <p:spPr bwMode="auto">
            <a:xfrm>
              <a:off x="6362938" y="3436392"/>
              <a:ext cx="0" cy="20323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21"/>
            <p:cNvSpPr>
              <a:spLocks noChangeShapeType="1"/>
            </p:cNvSpPr>
            <p:nvPr/>
          </p:nvSpPr>
          <p:spPr bwMode="auto">
            <a:xfrm>
              <a:off x="6489534" y="3399275"/>
              <a:ext cx="232181" cy="24034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5"/>
            <p:cNvSpPr>
              <a:spLocks noChangeArrowheads="1"/>
            </p:cNvSpPr>
            <p:nvPr/>
          </p:nvSpPr>
          <p:spPr bwMode="auto">
            <a:xfrm>
              <a:off x="7564924" y="3099135"/>
              <a:ext cx="333576" cy="308268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10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Oval 11"/>
            <p:cNvSpPr>
              <a:spLocks noChangeArrowheads="1"/>
            </p:cNvSpPr>
            <p:nvPr/>
          </p:nvSpPr>
          <p:spPr bwMode="auto">
            <a:xfrm>
              <a:off x="7303892" y="2583628"/>
              <a:ext cx="333576" cy="308019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Oval 14"/>
            <p:cNvSpPr>
              <a:spLocks noChangeArrowheads="1"/>
            </p:cNvSpPr>
            <p:nvPr/>
          </p:nvSpPr>
          <p:spPr bwMode="auto">
            <a:xfrm>
              <a:off x="6943316" y="3090040"/>
              <a:ext cx="333576" cy="306852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8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 flipH="1">
              <a:off x="7151491" y="2885803"/>
              <a:ext cx="253796" cy="20894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Line 21"/>
            <p:cNvSpPr>
              <a:spLocks noChangeShapeType="1"/>
            </p:cNvSpPr>
            <p:nvPr/>
          </p:nvSpPr>
          <p:spPr bwMode="auto">
            <a:xfrm>
              <a:off x="7511359" y="2868373"/>
              <a:ext cx="232181" cy="24034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弧形 43"/>
            <p:cNvSpPr/>
            <p:nvPr/>
          </p:nvSpPr>
          <p:spPr>
            <a:xfrm>
              <a:off x="7303892" y="2376140"/>
              <a:ext cx="276624" cy="404271"/>
            </a:xfrm>
            <a:prstGeom prst="arc">
              <a:avLst>
                <a:gd name="adj1" fmla="val 9046628"/>
                <a:gd name="adj2" fmla="val 518497"/>
              </a:avLst>
            </a:prstGeom>
            <a:ln>
              <a:solidFill>
                <a:schemeClr val="tx1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Line 19"/>
            <p:cNvSpPr>
              <a:spLocks noChangeShapeType="1"/>
            </p:cNvSpPr>
            <p:nvPr/>
          </p:nvSpPr>
          <p:spPr bwMode="auto">
            <a:xfrm>
              <a:off x="7745162" y="3392850"/>
              <a:ext cx="19537" cy="306673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5"/>
            <p:cNvSpPr>
              <a:spLocks noChangeArrowheads="1"/>
            </p:cNvSpPr>
            <p:nvPr/>
          </p:nvSpPr>
          <p:spPr bwMode="auto">
            <a:xfrm>
              <a:off x="7602733" y="3699523"/>
              <a:ext cx="333576" cy="308268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5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19"/>
            <p:cNvSpPr>
              <a:spLocks noChangeShapeType="1"/>
            </p:cNvSpPr>
            <p:nvPr/>
          </p:nvSpPr>
          <p:spPr bwMode="auto">
            <a:xfrm flipH="1">
              <a:off x="6451822" y="2780411"/>
              <a:ext cx="852070" cy="36338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140332" y="3545177"/>
            <a:ext cx="3338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rank[1] = 2   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秩表示高度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或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rank[1] = 4    //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秩表示元素个数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3229116" y="3881529"/>
            <a:ext cx="25469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rank[2] = 3   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秩表示高度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或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rank[2] = 4     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秩表示元素个数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319024" y="3854926"/>
            <a:ext cx="24813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rank[2] = 3     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秩表示高度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或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rank[2] = 8       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元素个数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8904669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的优化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45" y="739184"/>
            <a:ext cx="7639277" cy="170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/>
              <a:t>Union(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zh-CN" altLang="zh-CN" dirty="0">
                <a:solidFill>
                  <a:srgbClr val="C00000"/>
                </a:solidFill>
              </a:rPr>
              <a:t>按秩合并</a:t>
            </a:r>
            <a:endParaRPr lang="en-US" altLang="zh-CN" dirty="0">
              <a:solidFill>
                <a:srgbClr val="C00000"/>
              </a:solidFill>
            </a:endParaRPr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en-US" sz="1800" dirty="0"/>
              <a:t>用高度（或元素个数）表示集合的秩（</a:t>
            </a:r>
            <a:r>
              <a:rPr lang="en-US" altLang="zh-CN" sz="1800" dirty="0"/>
              <a:t>rank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dirty="0"/>
              <a:t>合并的时候将</a:t>
            </a:r>
            <a:r>
              <a:rPr lang="zh-CN" altLang="en-US" sz="1800" dirty="0"/>
              <a:t>高度小（或</a:t>
            </a:r>
            <a:r>
              <a:rPr lang="zh-CN" altLang="zh-CN" sz="1800" dirty="0"/>
              <a:t>元素少</a:t>
            </a:r>
            <a:r>
              <a:rPr lang="zh-CN" altLang="en-US" sz="1800" dirty="0"/>
              <a:t>）</a:t>
            </a:r>
            <a:r>
              <a:rPr lang="zh-CN" altLang="zh-CN" sz="1800" dirty="0"/>
              <a:t>的集合并到</a:t>
            </a:r>
            <a:r>
              <a:rPr lang="zh-CN" altLang="en-US" sz="1800" dirty="0"/>
              <a:t>高度大（或</a:t>
            </a:r>
            <a:r>
              <a:rPr lang="zh-CN" altLang="zh-CN" sz="1800" dirty="0"/>
              <a:t>元素多</a:t>
            </a:r>
            <a:r>
              <a:rPr lang="zh-CN" altLang="en-US" sz="1800" dirty="0"/>
              <a:t>）</a:t>
            </a:r>
            <a:r>
              <a:rPr lang="zh-CN" altLang="zh-CN" sz="1800" dirty="0"/>
              <a:t>的集合，这样合并之后树的高度会相对较小</a:t>
            </a:r>
            <a:endParaRPr lang="en-US" altLang="zh-CN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28BAA6-AA47-A534-416A-A07862358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893" y="2088108"/>
            <a:ext cx="3312368" cy="28914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92B9889-4091-53B4-A25A-5E930716E915}"/>
              </a:ext>
            </a:extLst>
          </p:cNvPr>
          <p:cNvSpPr txBox="1"/>
          <p:nvPr/>
        </p:nvSpPr>
        <p:spPr>
          <a:xfrm>
            <a:off x="1364408" y="2296568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以元素个数作为秩为例：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F3AAEDCC-B8C9-5BB4-7F33-07F8741AD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482" y="3428653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6FBD64AA-CDEB-0423-E1D5-59C5ECCF1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125" y="2915479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Oval 14">
            <a:extLst>
              <a:ext uri="{FF2B5EF4-FFF2-40B4-BE49-F238E27FC236}">
                <a16:creationId xmlns:a16="http://schemas.microsoft.com/office/drawing/2014/main" id="{2B04FD1A-7E3A-A2C7-A4BA-CD7442698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098" y="3421891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6CA82C2A-B2A2-7C4B-82C2-CAAFBB2D2C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5109" y="3178212"/>
            <a:ext cx="269858" cy="24952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Line 21">
            <a:extLst>
              <a:ext uri="{FF2B5EF4-FFF2-40B4-BE49-F238E27FC236}">
                <a16:creationId xmlns:a16="http://schemas.microsoft.com/office/drawing/2014/main" id="{17A1DD93-9D47-A54C-1A95-39961A37C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563" y="3178213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Oval 5">
            <a:extLst>
              <a:ext uri="{FF2B5EF4-FFF2-40B4-BE49-F238E27FC236}">
                <a16:creationId xmlns:a16="http://schemas.microsoft.com/office/drawing/2014/main" id="{01704DBC-774B-9979-5D6F-DF97445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898" y="3391545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Oval 11">
            <a:extLst>
              <a:ext uri="{FF2B5EF4-FFF2-40B4-BE49-F238E27FC236}">
                <a16:creationId xmlns:a16="http://schemas.microsoft.com/office/drawing/2014/main" id="{A16A92E3-1FAD-8BC8-2BB9-1670C1413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866" y="2876038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Oval 14">
            <a:extLst>
              <a:ext uri="{FF2B5EF4-FFF2-40B4-BE49-F238E27FC236}">
                <a16:creationId xmlns:a16="http://schemas.microsoft.com/office/drawing/2014/main" id="{CF47E0BC-C0B4-88AF-E9D9-D8B955703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290" y="3382450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8" name="Line 19">
            <a:extLst>
              <a:ext uri="{FF2B5EF4-FFF2-40B4-BE49-F238E27FC236}">
                <a16:creationId xmlns:a16="http://schemas.microsoft.com/office/drawing/2014/main" id="{6233ADBA-7A16-70CA-8730-30B9A707BC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2465" y="3178213"/>
            <a:ext cx="253796" cy="208946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Line 21">
            <a:extLst>
              <a:ext uri="{FF2B5EF4-FFF2-40B4-BE49-F238E27FC236}">
                <a16:creationId xmlns:a16="http://schemas.microsoft.com/office/drawing/2014/main" id="{4233E5A8-16FE-CB64-5EC6-0A173B840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2333" y="3160783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弧形 59">
            <a:extLst>
              <a:ext uri="{FF2B5EF4-FFF2-40B4-BE49-F238E27FC236}">
                <a16:creationId xmlns:a16="http://schemas.microsoft.com/office/drawing/2014/main" id="{089DEB90-009B-2CE3-0D1E-AEFC32539918}"/>
              </a:ext>
            </a:extLst>
          </p:cNvPr>
          <p:cNvSpPr/>
          <p:nvPr/>
        </p:nvSpPr>
        <p:spPr>
          <a:xfrm>
            <a:off x="2894866" y="2668550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弧形 60">
            <a:extLst>
              <a:ext uri="{FF2B5EF4-FFF2-40B4-BE49-F238E27FC236}">
                <a16:creationId xmlns:a16="http://schemas.microsoft.com/office/drawing/2014/main" id="{9193B07B-F94E-25F1-747D-3FED9529EA9D}"/>
              </a:ext>
            </a:extLst>
          </p:cNvPr>
          <p:cNvSpPr/>
          <p:nvPr/>
        </p:nvSpPr>
        <p:spPr>
          <a:xfrm>
            <a:off x="1223667" y="2700172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Line 19">
            <a:extLst>
              <a:ext uri="{FF2B5EF4-FFF2-40B4-BE49-F238E27FC236}">
                <a16:creationId xmlns:a16="http://schemas.microsoft.com/office/drawing/2014/main" id="{01003880-97C0-20E8-F25D-B8E5C8A36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6136" y="3685260"/>
            <a:ext cx="19537" cy="30667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5">
            <a:extLst>
              <a:ext uri="{FF2B5EF4-FFF2-40B4-BE49-F238E27FC236}">
                <a16:creationId xmlns:a16="http://schemas.microsoft.com/office/drawing/2014/main" id="{C436FFCF-EDB5-2897-0587-1906E3C2C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707" y="3991933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7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515040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的优化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路径压缩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925" y="3035827"/>
            <a:ext cx="436245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45" y="739184"/>
            <a:ext cx="8280920" cy="3077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/>
              <a:t>Union(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zh-CN" altLang="zh-CN" dirty="0"/>
              <a:t>按秩合并</a:t>
            </a:r>
            <a:endParaRPr lang="en-US" altLang="zh-CN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600" dirty="0">
                <a:solidFill>
                  <a:schemeClr val="bg1">
                    <a:lumMod val="65000"/>
                  </a:schemeClr>
                </a:solidFill>
              </a:rPr>
              <a:t>合并的时候将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高度小（或</a:t>
            </a:r>
            <a:r>
              <a:rPr lang="zh-CN" altLang="zh-CN" sz="1600" dirty="0">
                <a:solidFill>
                  <a:schemeClr val="bg1">
                    <a:lumMod val="65000"/>
                  </a:schemeClr>
                </a:solidFill>
              </a:rPr>
              <a:t>元素少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）</a:t>
            </a:r>
            <a:r>
              <a:rPr lang="zh-CN" altLang="zh-CN" sz="1600" dirty="0">
                <a:solidFill>
                  <a:schemeClr val="bg1">
                    <a:lumMod val="65000"/>
                  </a:schemeClr>
                </a:solidFill>
              </a:rPr>
              <a:t>的集合并到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高度大（或</a:t>
            </a:r>
            <a:r>
              <a:rPr lang="zh-CN" altLang="zh-CN" sz="1600" dirty="0">
                <a:solidFill>
                  <a:schemeClr val="bg1">
                    <a:lumMod val="65000"/>
                  </a:schemeClr>
                </a:solidFill>
              </a:rPr>
              <a:t>元素多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）</a:t>
            </a:r>
            <a:r>
              <a:rPr lang="zh-CN" altLang="zh-CN" sz="1600" dirty="0">
                <a:solidFill>
                  <a:schemeClr val="bg1">
                    <a:lumMod val="65000"/>
                  </a:schemeClr>
                </a:solidFill>
              </a:rPr>
              <a:t>的集合，这样合并之后树的高度会相对较小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latinLnBrk="1"/>
            <a:r>
              <a:rPr lang="en-US" altLang="zh-CN" dirty="0"/>
              <a:t>Find_Set(x)</a:t>
            </a:r>
            <a:r>
              <a:rPr lang="zh-CN" altLang="en-US" dirty="0"/>
              <a:t>：进行</a:t>
            </a:r>
            <a:r>
              <a:rPr lang="zh-CN" altLang="zh-CN" dirty="0"/>
              <a:t>路径压缩</a:t>
            </a:r>
            <a:endParaRPr lang="en-US" altLang="zh-CN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dirty="0"/>
              <a:t>整棵树</a:t>
            </a:r>
            <a:r>
              <a:rPr lang="zh-CN" altLang="en-US" sz="1800" dirty="0"/>
              <a:t>有可能成为</a:t>
            </a:r>
            <a:r>
              <a:rPr lang="zh-CN" altLang="zh-CN" sz="1800" dirty="0"/>
              <a:t>一条链，</a:t>
            </a:r>
            <a:r>
              <a:rPr lang="zh-CN" altLang="en-US" sz="1800" dirty="0"/>
              <a:t>这样</a:t>
            </a:r>
            <a:r>
              <a:rPr lang="zh-CN" altLang="zh-CN" sz="1800" dirty="0"/>
              <a:t>每次</a:t>
            </a:r>
            <a:r>
              <a:rPr lang="en-US" altLang="zh-CN" sz="1800" dirty="0" err="1"/>
              <a:t>Find_Set</a:t>
            </a:r>
            <a:r>
              <a:rPr lang="en-US" altLang="zh-CN" sz="1800" dirty="0"/>
              <a:t>(x)</a:t>
            </a:r>
            <a:r>
              <a:rPr lang="zh-CN" altLang="en-US" sz="1800" dirty="0"/>
              <a:t>的</a:t>
            </a:r>
            <a:r>
              <a:rPr lang="zh-CN" altLang="zh-CN" sz="1800" dirty="0"/>
              <a:t>复杂度都是</a:t>
            </a:r>
            <a:r>
              <a:rPr lang="en-US" altLang="zh-CN" sz="1800" dirty="0"/>
              <a:t>O(n)</a:t>
            </a:r>
            <a:r>
              <a:rPr lang="zh-CN" altLang="en-US" sz="1800" dirty="0"/>
              <a:t>，查找元素所在集合</a:t>
            </a:r>
            <a:r>
              <a:rPr lang="zh-CN" altLang="zh-CN" sz="1800" dirty="0"/>
              <a:t>时一般采用递归，</a:t>
            </a:r>
            <a:r>
              <a:rPr lang="zh-CN" altLang="en-US" sz="1800" dirty="0"/>
              <a:t>可以压缩链</a:t>
            </a:r>
            <a:endParaRPr lang="en-US" altLang="zh-CN" sz="18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b="1" dirty="0">
                <a:solidFill>
                  <a:srgbClr val="C00000"/>
                </a:solidFill>
              </a:rPr>
              <a:t>路径压缩</a:t>
            </a:r>
            <a:r>
              <a:rPr lang="zh-CN" altLang="en-US" sz="1800" dirty="0"/>
              <a:t>：</a:t>
            </a:r>
            <a:r>
              <a:rPr lang="zh-CN" altLang="zh-CN" sz="1800" dirty="0"/>
              <a:t>经过</a:t>
            </a:r>
            <a:r>
              <a:rPr lang="zh-CN" altLang="en-US" sz="1800" dirty="0"/>
              <a:t>“</a:t>
            </a:r>
            <a:r>
              <a:rPr lang="zh-CN" altLang="zh-CN" sz="1800" dirty="0"/>
              <a:t>递推</a:t>
            </a:r>
            <a:r>
              <a:rPr lang="zh-CN" altLang="en-US" sz="1800" dirty="0"/>
              <a:t>”</a:t>
            </a:r>
            <a:r>
              <a:rPr lang="zh-CN" altLang="zh-CN" sz="1800" dirty="0"/>
              <a:t>找到</a:t>
            </a:r>
            <a:r>
              <a:rPr lang="zh-CN" altLang="en-US" sz="1800" dirty="0"/>
              <a:t>树根（祖先）</a:t>
            </a:r>
            <a:r>
              <a:rPr lang="zh-CN" altLang="zh-CN" sz="1800" dirty="0"/>
              <a:t>后，</a:t>
            </a:r>
            <a:r>
              <a:rPr lang="zh-CN" altLang="en-US" sz="1800" dirty="0"/>
              <a:t>“</a:t>
            </a:r>
            <a:r>
              <a:rPr lang="zh-CN" altLang="zh-CN" sz="1800" dirty="0"/>
              <a:t>回溯</a:t>
            </a:r>
            <a:r>
              <a:rPr lang="zh-CN" altLang="en-US" sz="1800" dirty="0"/>
              <a:t>”</a:t>
            </a:r>
            <a:r>
              <a:rPr lang="zh-CN" altLang="zh-CN" sz="1800" dirty="0"/>
              <a:t>时顺便将</a:t>
            </a:r>
            <a:r>
              <a:rPr lang="zh-CN" altLang="en-US" sz="1800" dirty="0"/>
              <a:t>其</a:t>
            </a:r>
            <a:r>
              <a:rPr lang="zh-CN" altLang="zh-CN" sz="1800" dirty="0"/>
              <a:t>子孙节点都直接指向</a:t>
            </a:r>
            <a:r>
              <a:rPr lang="zh-CN" altLang="en-US" sz="1800" dirty="0"/>
              <a:t>树根（</a:t>
            </a:r>
            <a:r>
              <a:rPr lang="zh-CN" altLang="zh-CN" sz="1800" dirty="0"/>
              <a:t>祖先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 latinLnBrk="1">
              <a:buFont typeface="Wingdings" panose="05000000000000000000" pitchFamily="2" charset="2"/>
              <a:buChar char=""/>
            </a:pPr>
            <a:r>
              <a:rPr lang="zh-CN" altLang="zh-CN" sz="1800" dirty="0"/>
              <a:t>以后再</a:t>
            </a:r>
            <a:r>
              <a:rPr lang="zh-CN" altLang="en-US" sz="1800" dirty="0"/>
              <a:t>执行</a:t>
            </a:r>
            <a:r>
              <a:rPr lang="en-US" altLang="zh-CN" sz="1800" dirty="0" err="1"/>
              <a:t>Find_Set</a:t>
            </a:r>
            <a:r>
              <a:rPr lang="en-US" altLang="zh-CN" sz="1800" dirty="0"/>
              <a:t>(x)</a:t>
            </a:r>
            <a:r>
              <a:rPr lang="zh-CN" altLang="en-US" sz="1800" dirty="0"/>
              <a:t>的</a:t>
            </a:r>
            <a:r>
              <a:rPr lang="zh-CN" altLang="zh-CN" sz="1800" dirty="0"/>
              <a:t>复杂度就</a:t>
            </a:r>
            <a:r>
              <a:rPr lang="zh-CN" altLang="en-US" sz="1800" dirty="0"/>
              <a:t>为</a:t>
            </a:r>
            <a:r>
              <a:rPr lang="en-US" altLang="zh-CN" sz="1800" dirty="0"/>
              <a:t>O(1)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2979715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的优化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286576-A1C2-4CD2-54E3-740CDA020251}"/>
              </a:ext>
            </a:extLst>
          </p:cNvPr>
          <p:cNvGrpSpPr/>
          <p:nvPr/>
        </p:nvGrpSpPr>
        <p:grpSpPr>
          <a:xfrm>
            <a:off x="735509" y="2520156"/>
            <a:ext cx="374551" cy="2040997"/>
            <a:chOff x="4479925" y="2808188"/>
            <a:chExt cx="374551" cy="2040997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3D7489B2-C478-F351-10E6-C7C1EAEBE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880" y="3516818"/>
              <a:ext cx="333576" cy="308268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Oval 11">
              <a:extLst>
                <a:ext uri="{FF2B5EF4-FFF2-40B4-BE49-F238E27FC236}">
                  <a16:creationId xmlns:a16="http://schemas.microsoft.com/office/drawing/2014/main" id="{B034D49D-9722-B6ED-4F09-9F2699AA3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880" y="2995038"/>
              <a:ext cx="333576" cy="308019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Line 21">
              <a:extLst>
                <a:ext uri="{FF2B5EF4-FFF2-40B4-BE49-F238E27FC236}">
                  <a16:creationId xmlns:a16="http://schemas.microsoft.com/office/drawing/2014/main" id="{AA5765A7-75B2-2DF2-A8A4-2852AD3A67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5983" y="3312576"/>
              <a:ext cx="1622" cy="18000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B5CDCEBD-EA58-E7C2-3EE9-BCDF1E6D0B13}"/>
                </a:ext>
              </a:extLst>
            </p:cNvPr>
            <p:cNvSpPr/>
            <p:nvPr/>
          </p:nvSpPr>
          <p:spPr>
            <a:xfrm>
              <a:off x="4479925" y="2808188"/>
              <a:ext cx="276624" cy="404271"/>
            </a:xfrm>
            <a:prstGeom prst="arc">
              <a:avLst>
                <a:gd name="adj1" fmla="val 8178502"/>
                <a:gd name="adj2" fmla="val 518497"/>
              </a:avLst>
            </a:prstGeom>
            <a:ln>
              <a:solidFill>
                <a:schemeClr val="tx1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Oval 5">
              <a:extLst>
                <a:ext uri="{FF2B5EF4-FFF2-40B4-BE49-F238E27FC236}">
                  <a16:creationId xmlns:a16="http://schemas.microsoft.com/office/drawing/2014/main" id="{D24674BC-4442-5AC6-1690-56CAEA6A7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900" y="4030606"/>
              <a:ext cx="333576" cy="308268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3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21B2F24D-DBD1-79E5-CCDD-63236143C4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5439" y="3834818"/>
              <a:ext cx="1622" cy="18000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BAAD1FB7-B51F-EABD-EEB9-13FDBA23A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899" y="4540917"/>
              <a:ext cx="333576" cy="308268"/>
            </a:xfrm>
            <a:prstGeom prst="ellipse">
              <a:avLst/>
            </a:prstGeom>
            <a:solidFill>
              <a:srgbClr val="DBE0B4"/>
            </a:solid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eaLnBrk="0" hangingPunct="0">
                <a:spcBef>
                  <a:spcPct val="0"/>
                </a:spcBef>
              </a:pPr>
              <a:r>
                <a:rPr lang="en-US" altLang="zh-CN" sz="1470" b="1" dirty="0"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4</a:t>
              </a:r>
              <a:endParaRPr lang="zh-CN" altLang="en-US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0BC5940F-10B6-42CB-B2A9-A9926776D4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1438" y="4345129"/>
              <a:ext cx="1622" cy="18000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arrow" w="med" len="med"/>
              <a:tailEnd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endParaRPr lang="zh-CN" altLang="en-US" sz="117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1A7F46DD-B324-E7DF-C9F9-FB2A34247C59}"/>
              </a:ext>
            </a:extLst>
          </p:cNvPr>
          <p:cNvSpPr txBox="1"/>
          <p:nvPr/>
        </p:nvSpPr>
        <p:spPr>
          <a:xfrm>
            <a:off x="1416852" y="2973624"/>
            <a:ext cx="1249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Father[1] = 1</a:t>
            </a:r>
          </a:p>
          <a:p>
            <a:r>
              <a:rPr lang="en-US" altLang="zh-CN" dirty="0"/>
              <a:t>Father[2] = 1</a:t>
            </a:r>
          </a:p>
          <a:p>
            <a:r>
              <a:rPr lang="en-US" altLang="zh-CN" dirty="0"/>
              <a:t>Father[3] = 2</a:t>
            </a:r>
          </a:p>
          <a:p>
            <a:r>
              <a:rPr lang="en-US" altLang="zh-CN" dirty="0"/>
              <a:t>Father[4] = 3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D54ACAE-F6C0-9C43-3721-241044DAC530}"/>
              </a:ext>
            </a:extLst>
          </p:cNvPr>
          <p:cNvSpPr txBox="1"/>
          <p:nvPr/>
        </p:nvSpPr>
        <p:spPr>
          <a:xfrm>
            <a:off x="5763746" y="918104"/>
            <a:ext cx="213821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</a:t>
            </a:r>
            <a:r>
              <a:rPr lang="en-US" altLang="zh-CN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Find_set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(4)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zh-C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dirty="0"/>
              <a:t>Father[4] = </a:t>
            </a:r>
            <a:r>
              <a:rPr lang="en-US" altLang="zh-CN" dirty="0" err="1"/>
              <a:t>Find_set</a:t>
            </a:r>
            <a:r>
              <a:rPr lang="en-US" altLang="zh-CN" dirty="0"/>
              <a:t>(3);</a:t>
            </a:r>
          </a:p>
          <a:p>
            <a:r>
              <a:rPr lang="en-US" altLang="zh-CN" dirty="0"/>
              <a:t>Return father[4];</a:t>
            </a:r>
          </a:p>
          <a:p>
            <a:endParaRPr lang="en-US" altLang="zh-CN" dirty="0"/>
          </a:p>
          <a:p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</a:t>
            </a:r>
            <a:r>
              <a:rPr lang="en-US" altLang="zh-CN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Find_set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(3)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zh-C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dirty="0"/>
              <a:t>Father[3] = </a:t>
            </a:r>
            <a:r>
              <a:rPr lang="en-US" altLang="zh-CN" dirty="0" err="1"/>
              <a:t>Find_set</a:t>
            </a:r>
            <a:r>
              <a:rPr lang="en-US" altLang="zh-CN" dirty="0"/>
              <a:t>(2);</a:t>
            </a:r>
          </a:p>
          <a:p>
            <a:r>
              <a:rPr lang="en-US" altLang="zh-CN" dirty="0"/>
              <a:t>Return father[3];</a:t>
            </a:r>
          </a:p>
          <a:p>
            <a:endParaRPr lang="en-US" altLang="zh-CN" dirty="0"/>
          </a:p>
          <a:p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</a:t>
            </a:r>
            <a:r>
              <a:rPr lang="en-US" altLang="zh-CN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Find_set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(2)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zh-C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dirty="0"/>
              <a:t>Father[2] = </a:t>
            </a:r>
            <a:r>
              <a:rPr lang="en-US" altLang="zh-CN" dirty="0" err="1"/>
              <a:t>Find_set</a:t>
            </a:r>
            <a:r>
              <a:rPr lang="en-US" altLang="zh-CN" dirty="0"/>
              <a:t>(1);</a:t>
            </a:r>
          </a:p>
          <a:p>
            <a:r>
              <a:rPr lang="en-US" altLang="zh-CN" dirty="0"/>
              <a:t>Return father[2];</a:t>
            </a:r>
          </a:p>
          <a:p>
            <a:endParaRPr lang="en-US" altLang="zh-CN" dirty="0"/>
          </a:p>
          <a:p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</a:t>
            </a:r>
            <a:r>
              <a:rPr lang="en-US" altLang="zh-CN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Find_set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(1)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zh-CN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dirty="0"/>
              <a:t>Return 1; 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A5A32041-E9C1-20B8-27A6-D5B2E1A0C0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01" y="918104"/>
            <a:ext cx="4276725" cy="1504950"/>
          </a:xfrm>
          <a:prstGeom prst="rect">
            <a:avLst/>
          </a:prstGeom>
        </p:spPr>
      </p:pic>
      <p:sp>
        <p:nvSpPr>
          <p:cNvPr id="33" name="Oval 5">
            <a:extLst>
              <a:ext uri="{FF2B5EF4-FFF2-40B4-BE49-F238E27FC236}">
                <a16:creationId xmlns:a16="http://schemas.microsoft.com/office/drawing/2014/main" id="{0C2EA93D-B49E-BDF4-837B-C9E83195E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245" y="3634006"/>
            <a:ext cx="333576" cy="308268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02E5D2CF-9A69-ECAA-A55B-66F145C2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887" y="3637755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Oval 11">
            <a:extLst>
              <a:ext uri="{FF2B5EF4-FFF2-40B4-BE49-F238E27FC236}">
                <a16:creationId xmlns:a16="http://schemas.microsoft.com/office/drawing/2014/main" id="{3FC7A525-BC64-824B-2F45-42DAD965B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888" y="3120832"/>
            <a:ext cx="333576" cy="308019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Oval 14">
            <a:extLst>
              <a:ext uri="{FF2B5EF4-FFF2-40B4-BE49-F238E27FC236}">
                <a16:creationId xmlns:a16="http://schemas.microsoft.com/office/drawing/2014/main" id="{5AC0BBAF-DA07-A497-C9B6-47075B54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861" y="3627244"/>
            <a:ext cx="333576" cy="306852"/>
          </a:xfrm>
          <a:prstGeom prst="ellipse">
            <a:avLst/>
          </a:prstGeom>
          <a:solidFill>
            <a:srgbClr val="DBE0B4"/>
          </a:solidFill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 eaLnBrk="0" hangingPunct="0">
              <a:spcBef>
                <a:spcPct val="0"/>
              </a:spcBef>
            </a:pPr>
            <a:r>
              <a:rPr lang="en-US" altLang="zh-CN" sz="1470" b="1" dirty="0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1470" b="1" dirty="0"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Line 19">
            <a:extLst>
              <a:ext uri="{FF2B5EF4-FFF2-40B4-BE49-F238E27FC236}">
                <a16:creationId xmlns:a16="http://schemas.microsoft.com/office/drawing/2014/main" id="{2D8B20AD-BEE2-C427-59E6-6490E9253E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7872" y="3383565"/>
            <a:ext cx="269858" cy="249523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Line 20">
            <a:extLst>
              <a:ext uri="{FF2B5EF4-FFF2-40B4-BE49-F238E27FC236}">
                <a16:creationId xmlns:a16="http://schemas.microsoft.com/office/drawing/2014/main" id="{5465023D-7D14-682E-3665-45C59BD3E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5730" y="3420683"/>
            <a:ext cx="0" cy="20323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Line 21">
            <a:extLst>
              <a:ext uri="{FF2B5EF4-FFF2-40B4-BE49-F238E27FC236}">
                <a16:creationId xmlns:a16="http://schemas.microsoft.com/office/drawing/2014/main" id="{405CE7EB-EFE8-EE5B-5C44-A749D058B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2326" y="3383566"/>
            <a:ext cx="232181" cy="24034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arrow" w="med" len="med"/>
            <a:tailEnd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endParaRPr lang="zh-CN" altLang="en-US" sz="117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弧形 39">
            <a:extLst>
              <a:ext uri="{FF2B5EF4-FFF2-40B4-BE49-F238E27FC236}">
                <a16:creationId xmlns:a16="http://schemas.microsoft.com/office/drawing/2014/main" id="{51AAE57F-3F60-0C54-805C-147459F541C9}"/>
              </a:ext>
            </a:extLst>
          </p:cNvPr>
          <p:cNvSpPr/>
          <p:nvPr/>
        </p:nvSpPr>
        <p:spPr>
          <a:xfrm>
            <a:off x="3796430" y="2905525"/>
            <a:ext cx="276624" cy="404271"/>
          </a:xfrm>
          <a:prstGeom prst="arc">
            <a:avLst>
              <a:gd name="adj1" fmla="val 9046628"/>
              <a:gd name="adj2" fmla="val 518497"/>
            </a:avLst>
          </a:prstGeom>
          <a:ln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14D05C2B-FAF1-F3A1-EC29-B1633F486725}"/>
                  </a:ext>
                </a:extLst>
              </p14:cNvPr>
              <p14:cNvContentPartPr/>
              <p14:nvPr/>
            </p14:nvContentPartPr>
            <p14:xfrm>
              <a:off x="5568420" y="1282680"/>
              <a:ext cx="253080" cy="74556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14D05C2B-FAF1-F3A1-EC29-B1633F4867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0780" y="1265040"/>
                <a:ext cx="288720" cy="7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181F9A44-6AB6-2FA1-0E1D-9F5707ADE6D2}"/>
                  </a:ext>
                </a:extLst>
              </p14:cNvPr>
              <p14:cNvContentPartPr/>
              <p14:nvPr/>
            </p14:nvContentPartPr>
            <p14:xfrm>
              <a:off x="5714220" y="1950480"/>
              <a:ext cx="119880" cy="15192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181F9A44-6AB6-2FA1-0E1D-9F5707ADE6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96580" y="1932480"/>
                <a:ext cx="155520" cy="1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组合 59">
            <a:extLst>
              <a:ext uri="{FF2B5EF4-FFF2-40B4-BE49-F238E27FC236}">
                <a16:creationId xmlns:a16="http://schemas.microsoft.com/office/drawing/2014/main" id="{16EC79FF-A264-C846-F173-CC5E8F40FA6C}"/>
              </a:ext>
            </a:extLst>
          </p:cNvPr>
          <p:cNvGrpSpPr/>
          <p:nvPr/>
        </p:nvGrpSpPr>
        <p:grpSpPr>
          <a:xfrm>
            <a:off x="5593620" y="2232360"/>
            <a:ext cx="259200" cy="1832760"/>
            <a:chOff x="5593620" y="2232360"/>
            <a:chExt cx="259200" cy="1832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3EAEF557-BDA0-57B2-4352-5530CB3B7AAA}"/>
                    </a:ext>
                  </a:extLst>
                </p14:cNvPr>
                <p14:cNvContentPartPr/>
                <p14:nvPr/>
              </p14:nvContentPartPr>
              <p14:xfrm>
                <a:off x="5593620" y="2232360"/>
                <a:ext cx="221040" cy="73800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3EAEF557-BDA0-57B2-4352-5530CB3B7AA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75980" y="2214360"/>
                  <a:ext cx="25668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1C24F4BF-AC32-AE04-0AD5-B2776639CB6A}"/>
                    </a:ext>
                  </a:extLst>
                </p14:cNvPr>
                <p14:cNvContentPartPr/>
                <p14:nvPr/>
              </p14:nvContentPartPr>
              <p14:xfrm>
                <a:off x="5752740" y="2857320"/>
                <a:ext cx="100080" cy="20556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1C24F4BF-AC32-AE04-0AD5-B2776639CB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34740" y="2839320"/>
                  <a:ext cx="135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BA3F58B3-FA98-44BB-3BAE-2F5FFF08C8C2}"/>
                    </a:ext>
                  </a:extLst>
                </p14:cNvPr>
                <p14:cNvContentPartPr/>
                <p14:nvPr/>
              </p14:nvContentPartPr>
              <p14:xfrm>
                <a:off x="5683980" y="3223080"/>
                <a:ext cx="136440" cy="36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BA3F58B3-FA98-44BB-3BAE-2F5FFF08C8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66340" y="3205080"/>
                  <a:ext cx="172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1A68ACBF-EB7F-3BC1-4EC3-CF67E89BB2CD}"/>
                    </a:ext>
                  </a:extLst>
                </p14:cNvPr>
                <p14:cNvContentPartPr/>
                <p14:nvPr/>
              </p14:nvContentPartPr>
              <p14:xfrm>
                <a:off x="5615220" y="3215520"/>
                <a:ext cx="168840" cy="73296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1A68ACBF-EB7F-3BC1-4EC3-CF67E89BB2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97580" y="3197520"/>
                  <a:ext cx="20448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0BFF5B07-A933-B96C-30A4-1A12B9E1DDFC}"/>
                    </a:ext>
                  </a:extLst>
                </p14:cNvPr>
                <p14:cNvContentPartPr/>
                <p14:nvPr/>
              </p14:nvContentPartPr>
              <p14:xfrm>
                <a:off x="5714580" y="3825000"/>
                <a:ext cx="122760" cy="24012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0BFF5B07-A933-B96C-30A4-1A12B9E1DD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96940" y="3807000"/>
                  <a:ext cx="15840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908E9581-CB5E-D2B7-27F4-4F806519055A}"/>
                  </a:ext>
                </a:extLst>
              </p14:cNvPr>
              <p14:cNvContentPartPr/>
              <p14:nvPr/>
            </p14:nvContentPartPr>
            <p14:xfrm>
              <a:off x="5371500" y="1569600"/>
              <a:ext cx="360" cy="12888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908E9581-CB5E-D2B7-27F4-4F806519055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53860" y="1551600"/>
                <a:ext cx="360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1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59807E13-6F10-7BF4-2A97-F667411DC38D}"/>
                  </a:ext>
                </a:extLst>
              </p14:cNvPr>
              <p14:cNvContentPartPr/>
              <p14:nvPr/>
            </p14:nvContentPartPr>
            <p14:xfrm>
              <a:off x="5311740" y="2521080"/>
              <a:ext cx="129960" cy="177120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59807E13-6F10-7BF4-2A97-F667411DC38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94100" y="2503440"/>
                <a:ext cx="165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3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69D04FA0-ABC3-CEE7-7435-CA0D30BD9195}"/>
                  </a:ext>
                </a:extLst>
              </p14:cNvPr>
              <p14:cNvContentPartPr/>
              <p14:nvPr/>
            </p14:nvContentPartPr>
            <p14:xfrm>
              <a:off x="5310660" y="3367080"/>
              <a:ext cx="153360" cy="260280"/>
            </p14:xfrm>
          </p:contentPart>
        </mc:Choice>
        <mc:Fallback xmlns=""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69D04FA0-ABC3-CEE7-7435-CA0D30BD919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93020" y="3349080"/>
                <a:ext cx="18900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组合 70">
            <a:extLst>
              <a:ext uri="{FF2B5EF4-FFF2-40B4-BE49-F238E27FC236}">
                <a16:creationId xmlns:a16="http://schemas.microsoft.com/office/drawing/2014/main" id="{5DCBFEB6-B6EE-DC0D-D9A9-64B9064B4326}"/>
              </a:ext>
            </a:extLst>
          </p:cNvPr>
          <p:cNvGrpSpPr/>
          <p:nvPr/>
        </p:nvGrpSpPr>
        <p:grpSpPr>
          <a:xfrm>
            <a:off x="6743100" y="1257120"/>
            <a:ext cx="1769760" cy="2934000"/>
            <a:chOff x="6743100" y="1257120"/>
            <a:chExt cx="1769760" cy="29340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CFD9717C-4897-DEB0-4167-CF4A42714647}"/>
                    </a:ext>
                  </a:extLst>
                </p14:cNvPr>
                <p14:cNvContentPartPr/>
                <p14:nvPr/>
              </p14:nvContentPartPr>
              <p14:xfrm>
                <a:off x="6743100" y="3185280"/>
                <a:ext cx="1185120" cy="1005840"/>
              </p14:xfrm>
            </p:contentPart>
          </mc:Choice>
          <mc:Fallback xmlns=""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CFD9717C-4897-DEB0-4167-CF4A427146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25460" y="3167280"/>
                  <a:ext cx="1220760" cy="10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DE571707-5CBD-B69C-F53F-D67AF928B741}"/>
                    </a:ext>
                  </a:extLst>
                </p14:cNvPr>
                <p14:cNvContentPartPr/>
                <p14:nvPr/>
              </p14:nvContentPartPr>
              <p14:xfrm>
                <a:off x="7782420" y="3093480"/>
                <a:ext cx="36000" cy="151920"/>
              </p14:xfrm>
            </p:contentPart>
          </mc:Choice>
          <mc:Fallback xmlns=""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DE571707-5CBD-B69C-F53F-D67AF928B74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64420" y="3075480"/>
                  <a:ext cx="71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D96E3DC1-7EFA-25E1-44F0-AC0CE2629C93}"/>
                    </a:ext>
                  </a:extLst>
                </p14:cNvPr>
                <p14:cNvContentPartPr/>
                <p14:nvPr/>
              </p14:nvContentPartPr>
              <p14:xfrm>
                <a:off x="7352940" y="2139840"/>
                <a:ext cx="832320" cy="1334880"/>
              </p14:xfrm>
            </p:contentPart>
          </mc:Choice>
          <mc:Fallback xmlns=""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D96E3DC1-7EFA-25E1-44F0-AC0CE2629C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35300" y="2122200"/>
                  <a:ext cx="867960" cy="13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4FF0E887-DF53-ECDB-259B-BBFF76EA4F73}"/>
                    </a:ext>
                  </a:extLst>
                </p14:cNvPr>
                <p14:cNvContentPartPr/>
                <p14:nvPr/>
              </p14:nvContentPartPr>
              <p14:xfrm>
                <a:off x="7837500" y="2080080"/>
                <a:ext cx="67680" cy="124560"/>
              </p14:xfrm>
            </p:contentPart>
          </mc:Choice>
          <mc:Fallback xmlns=""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4FF0E887-DF53-ECDB-259B-BBFF76EA4F7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19860" y="2062080"/>
                  <a:ext cx="103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3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E1EC1D52-AB44-17F7-C745-D21557C6F88F}"/>
                    </a:ext>
                  </a:extLst>
                </p14:cNvPr>
                <p14:cNvContentPartPr/>
                <p14:nvPr/>
              </p14:nvContentPartPr>
              <p14:xfrm>
                <a:off x="7406220" y="1332720"/>
                <a:ext cx="1106640" cy="1181880"/>
              </p14:xfrm>
            </p:contentPart>
          </mc:Choice>
          <mc:Fallback xmlns=""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E1EC1D52-AB44-17F7-C745-D21557C6F8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388580" y="1315080"/>
                  <a:ext cx="1142280" cy="12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5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63CB017F-C4A5-E5A8-5B67-A291D91BAC91}"/>
                    </a:ext>
                  </a:extLst>
                </p14:cNvPr>
                <p14:cNvContentPartPr/>
                <p14:nvPr/>
              </p14:nvContentPartPr>
              <p14:xfrm>
                <a:off x="7861980" y="1257120"/>
                <a:ext cx="114480" cy="155160"/>
              </p14:xfrm>
            </p:contentPart>
          </mc:Choice>
          <mc:Fallback xmlns=""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63CB017F-C4A5-E5A8-5B67-A291D91BAC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43980" y="1239120"/>
                  <a:ext cx="15012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18F72E8-6189-CEA9-AFB0-CD965FC44C10}"/>
              </a:ext>
            </a:extLst>
          </p:cNvPr>
          <p:cNvGrpSpPr/>
          <p:nvPr/>
        </p:nvGrpSpPr>
        <p:grpSpPr>
          <a:xfrm>
            <a:off x="7994820" y="3672720"/>
            <a:ext cx="143640" cy="229680"/>
            <a:chOff x="7994820" y="3672720"/>
            <a:chExt cx="143640" cy="229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7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8368FBDF-D484-DCD3-070E-A8CD5C06B382}"/>
                    </a:ext>
                  </a:extLst>
                </p14:cNvPr>
                <p14:cNvContentPartPr/>
                <p14:nvPr/>
              </p14:nvContentPartPr>
              <p14:xfrm>
                <a:off x="7994820" y="3721320"/>
                <a:ext cx="143640" cy="58680"/>
              </p14:xfrm>
            </p:contentPart>
          </mc:Choice>
          <mc:Fallback xmlns=""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8368FBDF-D484-DCD3-070E-A8CD5C06B3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76820" y="3703320"/>
                  <a:ext cx="179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9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CF234975-D585-3F78-7B00-A7D3846B2373}"/>
                    </a:ext>
                  </a:extLst>
                </p14:cNvPr>
                <p14:cNvContentPartPr/>
                <p14:nvPr/>
              </p14:nvContentPartPr>
              <p14:xfrm>
                <a:off x="8084100" y="3672720"/>
                <a:ext cx="23760" cy="229680"/>
              </p14:xfrm>
            </p:contentPart>
          </mc:Choice>
          <mc:Fallback xmlns=""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CF234975-D585-3F78-7B00-A7D3846B23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66100" y="3654720"/>
                  <a:ext cx="5940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A8923A2-9ECF-00D6-D38F-E34B7CA4DEA6}"/>
              </a:ext>
            </a:extLst>
          </p:cNvPr>
          <p:cNvGrpSpPr/>
          <p:nvPr/>
        </p:nvGrpSpPr>
        <p:grpSpPr>
          <a:xfrm>
            <a:off x="8335380" y="2796480"/>
            <a:ext cx="155880" cy="206640"/>
            <a:chOff x="8335380" y="2796480"/>
            <a:chExt cx="155880" cy="2066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1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656BAEE2-75C4-59BA-36FC-8B92F390F8E6}"/>
                    </a:ext>
                  </a:extLst>
                </p14:cNvPr>
                <p14:cNvContentPartPr/>
                <p14:nvPr/>
              </p14:nvContentPartPr>
              <p14:xfrm>
                <a:off x="8335380" y="2796480"/>
                <a:ext cx="114840" cy="206640"/>
              </p14:xfrm>
            </p:contentPart>
          </mc:Choice>
          <mc:Fallback xmlns=""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656BAEE2-75C4-59BA-36FC-8B92F390F8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17740" y="2778480"/>
                  <a:ext cx="150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3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B95CB1D7-5E65-6757-8BE7-2D2F0DD62401}"/>
                    </a:ext>
                  </a:extLst>
                </p14:cNvPr>
                <p14:cNvContentPartPr/>
                <p14:nvPr/>
              </p14:nvContentPartPr>
              <p14:xfrm>
                <a:off x="8366340" y="2829240"/>
                <a:ext cx="124920" cy="20520"/>
              </p14:xfrm>
            </p:contentPart>
          </mc:Choice>
          <mc:Fallback xmlns=""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B95CB1D7-5E65-6757-8BE7-2D2F0DD6240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48700" y="2811600"/>
                  <a:ext cx="16056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5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2F23ED0C-DB8E-B802-C75C-7035DDE62471}"/>
                  </a:ext>
                </a:extLst>
              </p14:cNvPr>
              <p14:cNvContentPartPr/>
              <p14:nvPr/>
            </p14:nvContentPartPr>
            <p14:xfrm>
              <a:off x="8601780" y="1714320"/>
              <a:ext cx="116640" cy="236520"/>
            </p14:xfrm>
          </p:contentPart>
        </mc:Choice>
        <mc:Fallback xmlns=""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2F23ED0C-DB8E-B802-C75C-7035DDE6247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84140" y="1696320"/>
                <a:ext cx="152280" cy="2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30523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并查集</a:t>
            </a: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union-find sets</a:t>
            </a:r>
            <a:r>
              <a:rPr lang="zh-CN" altLang="en-US" sz="2800" b="1" dirty="0">
                <a:solidFill>
                  <a:srgbClr val="284C8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的三个操作</a:t>
            </a:r>
            <a:endParaRPr lang="zh-CN" altLang="en-US" sz="2800" b="1" dirty="0">
              <a:solidFill>
                <a:srgbClr val="284C8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20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pin heiti" panose="00000500000000000000" pitchFamily="2" charset="-122"/>
              <a:ea typeface="inpin heiti" panose="00000500000000000000" pitchFamily="2" charset="-122"/>
              <a:cs typeface="+mn-cs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638EC59C-E518-4D70-8A70-622E02719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80" y="739184"/>
            <a:ext cx="7927309" cy="41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¯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zh-CN" dirty="0" err="1"/>
              <a:t>Make_Set</a:t>
            </a:r>
            <a:r>
              <a:rPr lang="en-US" altLang="zh-CN" dirty="0"/>
              <a:t>(x)  </a:t>
            </a:r>
            <a:r>
              <a:rPr lang="zh-CN" altLang="en-US" dirty="0"/>
              <a:t>初始化</a:t>
            </a:r>
            <a:endParaRPr lang="en-US" altLang="zh-CN" dirty="0"/>
          </a:p>
          <a:p>
            <a:pPr lvl="1" latinLnBrk="1">
              <a:buFont typeface="Arial" panose="020B0604020202020204" pitchFamily="34" charset="0"/>
              <a:buChar char="•"/>
            </a:pPr>
            <a:r>
              <a:rPr lang="en-US" altLang="zh-CN" sz="2000" dirty="0"/>
              <a:t>Father[x] = x;</a:t>
            </a:r>
          </a:p>
          <a:p>
            <a:pPr marL="457200" lvl="1" indent="0" latinLnBrk="1">
              <a:buNone/>
            </a:pPr>
            <a:endParaRPr lang="zh-CN" altLang="zh-CN" sz="2000" dirty="0"/>
          </a:p>
          <a:p>
            <a:pPr latinLnBrk="1"/>
            <a:r>
              <a:rPr lang="en-US" altLang="zh-CN" dirty="0"/>
              <a:t>Find_Set(x)   </a:t>
            </a:r>
            <a:r>
              <a:rPr lang="zh-CN" altLang="en-US" dirty="0"/>
              <a:t>查找</a:t>
            </a:r>
            <a:endParaRPr lang="en-US" altLang="zh-CN" dirty="0"/>
          </a:p>
          <a:p>
            <a:pPr lvl="1" latinLnBrk="1">
              <a:buFont typeface="Wingdings" panose="05000000000000000000" pitchFamily="2" charset="2"/>
              <a:buChar char=""/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1"/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1"/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1"/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1"/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58DE25-9C3B-838A-4D08-BBEFCF70B6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17" y="2448148"/>
            <a:ext cx="4276725" cy="15049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F700F2-5977-D01E-40F9-84BCB2719B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739" y="1296020"/>
            <a:ext cx="3312368" cy="28914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EEBF5E0-DCB3-03ED-753F-EC4D8BD77435}"/>
              </a:ext>
            </a:extLst>
          </p:cNvPr>
          <p:cNvSpPr txBox="1"/>
          <p:nvPr/>
        </p:nvSpPr>
        <p:spPr>
          <a:xfrm>
            <a:off x="5344874" y="747403"/>
            <a:ext cx="2755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eaLnBrk="0" fontAlgn="base" latinLnBrk="1" hangingPunct="0">
              <a:spcBef>
                <a:spcPct val="15000"/>
              </a:spcBef>
              <a:spcAft>
                <a:spcPct val="0"/>
              </a:spcAft>
              <a:buSzPct val="95000"/>
              <a:buFont typeface="Wingdings" panose="05000000000000000000" pitchFamily="2" charset="2"/>
              <a:buChar char="F"/>
            </a:pPr>
            <a:r>
              <a:rPr lang="en-US" altLang="zh-CN" sz="2400" b="1" dirty="0"/>
              <a:t>Union(x, y)   </a:t>
            </a:r>
            <a:r>
              <a:rPr lang="zh-CN" altLang="en-US" sz="2400" b="1" dirty="0"/>
              <a:t>合并</a:t>
            </a:r>
            <a:endParaRPr lang="en-US" altLang="zh-CN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064765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并查集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A1C4747-A9C3-158B-D393-3C777CE15D2B}"/>
              </a:ext>
            </a:extLst>
          </p:cNvPr>
          <p:cNvSpPr txBox="1"/>
          <p:nvPr/>
        </p:nvSpPr>
        <p:spPr>
          <a:xfrm>
            <a:off x="663501" y="732839"/>
            <a:ext cx="3312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例题：洛谷</a:t>
            </a:r>
            <a:r>
              <a:rPr lang="en-US" altLang="zh-CN" b="1" dirty="0"/>
              <a:t>P1551  </a:t>
            </a:r>
            <a:r>
              <a:rPr lang="zh-CN" altLang="en-US" b="1" dirty="0"/>
              <a:t>亲戚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D84C67-FCC0-68BB-904A-811CAE0F9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01" y="1144822"/>
            <a:ext cx="6276694" cy="33195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369613F-8C3E-EFC1-AD08-AF25FC314C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302" y="1071393"/>
            <a:ext cx="952500" cy="2505075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42B30552-1FED-1FBB-04F8-78F74C9D4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382" y="3540880"/>
            <a:ext cx="8001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30274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并查集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A1C4747-A9C3-158B-D393-3C777CE15D2B}"/>
              </a:ext>
            </a:extLst>
          </p:cNvPr>
          <p:cNvSpPr txBox="1"/>
          <p:nvPr/>
        </p:nvSpPr>
        <p:spPr>
          <a:xfrm>
            <a:off x="663501" y="732839"/>
            <a:ext cx="3312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洛谷</a:t>
            </a:r>
            <a:r>
              <a:rPr lang="en-US" altLang="zh-CN" b="1" dirty="0"/>
              <a:t>P1551  </a:t>
            </a:r>
            <a:r>
              <a:rPr lang="zh-CN" altLang="en-US" b="1" dirty="0"/>
              <a:t>亲戚   参考代码（</a:t>
            </a:r>
            <a:r>
              <a:rPr lang="en-US" altLang="zh-CN" b="1" dirty="0"/>
              <a:t>C++</a:t>
            </a:r>
            <a:r>
              <a:rPr lang="zh-CN" altLang="en-US" b="1" dirty="0"/>
              <a:t>）：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6B3612-C050-260C-06E5-3AA5BBFE8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581" y="1015411"/>
            <a:ext cx="2232248" cy="39965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4370F5-69EB-8A0C-7F8E-40084EACB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949" y="1015411"/>
            <a:ext cx="3356512" cy="400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87880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并查集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A1C4747-A9C3-158B-D393-3C777CE15D2B}"/>
              </a:ext>
            </a:extLst>
          </p:cNvPr>
          <p:cNvSpPr txBox="1"/>
          <p:nvPr/>
        </p:nvSpPr>
        <p:spPr>
          <a:xfrm>
            <a:off x="663501" y="732839"/>
            <a:ext cx="3312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例题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  <a:r>
              <a:rPr lang="en-US" altLang="zh-CN" b="1" dirty="0"/>
              <a:t>P1536 </a:t>
            </a:r>
            <a:r>
              <a:rPr lang="zh-CN" altLang="en-US" b="1" dirty="0"/>
              <a:t>村村通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3A6931-E610-2D8F-E90D-C768898F7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80" y="1128695"/>
            <a:ext cx="5833467" cy="33836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DA47FD5-51DE-B9F9-984D-A9316721CF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165" y="956302"/>
            <a:ext cx="876300" cy="32385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47F0B33-B5AF-4BF4-61DD-51899E8028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890" y="902116"/>
            <a:ext cx="857250" cy="15906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0A94AED-BAD9-661E-52D7-D61B4C4366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80" y="4518056"/>
            <a:ext cx="2036737" cy="44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86461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663501" y="143892"/>
            <a:ext cx="6316129" cy="498626"/>
          </a:xfrm>
          <a:prstGeom prst="rect">
            <a:avLst/>
          </a:prstGeom>
        </p:spPr>
        <p:txBody>
          <a:bodyPr wrap="square" lIns="67084" tIns="33542" rIns="67084" bIns="33542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284C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 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数据结构基础</a:t>
            </a:r>
            <a:r>
              <a:rPr lang="en-US" altLang="zh-CN" sz="2800" b="1" dirty="0">
                <a:solidFill>
                  <a:srgbClr val="284C8A"/>
                </a:solidFill>
                <a:latin typeface="+mn-ea"/>
              </a:rPr>
              <a:t>—</a:t>
            </a:r>
            <a:r>
              <a:rPr lang="zh-CN" altLang="en-US" sz="2800" b="1" dirty="0">
                <a:solidFill>
                  <a:srgbClr val="284C8A"/>
                </a:solidFill>
                <a:latin typeface="+mn-ea"/>
              </a:rPr>
              <a:t>并查集</a:t>
            </a:r>
            <a:endParaRPr lang="zh-CN" altLang="en-US" sz="2800" b="1" dirty="0">
              <a:solidFill>
                <a:srgbClr val="284C8A"/>
              </a:solidFill>
              <a:latin typeface="+mn-ea"/>
              <a:sym typeface="inpin heiti" panose="00000500000000000000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8079515" y="100600"/>
            <a:ext cx="576874" cy="547348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7437" y="143892"/>
            <a:ext cx="407390" cy="407390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2948" y="359916"/>
            <a:ext cx="288032" cy="288032"/>
          </a:xfrm>
          <a:prstGeom prst="rect">
            <a:avLst/>
          </a:prstGeom>
          <a:noFill/>
          <a:ln>
            <a:solidFill>
              <a:srgbClr val="284C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47430" y="647948"/>
            <a:ext cx="8612420" cy="0"/>
          </a:xfrm>
          <a:prstGeom prst="line">
            <a:avLst/>
          </a:prstGeom>
          <a:ln>
            <a:solidFill>
              <a:srgbClr val="28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A1C4747-A9C3-158B-D393-3C777CE15D2B}"/>
              </a:ext>
            </a:extLst>
          </p:cNvPr>
          <p:cNvSpPr txBox="1"/>
          <p:nvPr/>
        </p:nvSpPr>
        <p:spPr>
          <a:xfrm>
            <a:off x="663501" y="732839"/>
            <a:ext cx="4608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洛谷</a:t>
            </a:r>
            <a:r>
              <a:rPr lang="en-US" altLang="zh-CN" b="1" dirty="0"/>
              <a:t>P1536 </a:t>
            </a:r>
            <a:r>
              <a:rPr lang="zh-CN" altLang="en-US" b="1" dirty="0"/>
              <a:t>村村通       参考代码（</a:t>
            </a:r>
            <a:r>
              <a:rPr lang="en-US" altLang="zh-CN" b="1" dirty="0"/>
              <a:t>C++</a:t>
            </a:r>
            <a:r>
              <a:rPr lang="zh-CN" altLang="en-US" b="1" dirty="0"/>
              <a:t>）：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CEA2B4-0481-6AD0-49D8-916E4722E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218" y="1071393"/>
            <a:ext cx="2152464" cy="39524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4E424A-119E-9339-2B85-E299766469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722" y="1066993"/>
            <a:ext cx="3711050" cy="395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1473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19324226">
            <a:off x="-2167111" y="-642494"/>
            <a:ext cx="4608512" cy="2448272"/>
          </a:xfrm>
          <a:prstGeom prst="rect">
            <a:avLst/>
          </a:prstGeom>
          <a:solidFill>
            <a:srgbClr val="C3C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 rot="17887734">
            <a:off x="7581939" y="2465087"/>
            <a:ext cx="4608512" cy="2448272"/>
          </a:xfrm>
          <a:prstGeom prst="rect">
            <a:avLst/>
          </a:prstGeom>
          <a:solidFill>
            <a:srgbClr val="C3C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 rot="20124282">
            <a:off x="2796297" y="4261288"/>
            <a:ext cx="9016714" cy="2448272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 rot="20578346">
            <a:off x="-2439407" y="-1410669"/>
            <a:ext cx="9016714" cy="2448272"/>
          </a:xfrm>
          <a:prstGeom prst="rect">
            <a:avLst/>
          </a:prstGeom>
          <a:solidFill>
            <a:srgbClr val="E93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 rot="19781444">
            <a:off x="-1727553" y="-1499741"/>
            <a:ext cx="4608512" cy="2448272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 rot="20621168">
            <a:off x="5646840" y="4486285"/>
            <a:ext cx="4608512" cy="2448272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4" r="14439" b="37513"/>
          <a:stretch>
            <a:fillRect/>
          </a:stretch>
        </p:blipFill>
        <p:spPr>
          <a:xfrm>
            <a:off x="3840724" y="575940"/>
            <a:ext cx="1421283" cy="1348538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 bwMode="auto">
          <a:xfrm>
            <a:off x="1299429" y="2088108"/>
            <a:ext cx="6503875" cy="1446384"/>
          </a:xfrm>
          <a:prstGeom prst="rect">
            <a:avLst/>
          </a:prstGeom>
        </p:spPr>
        <p:txBody>
          <a:bodyPr wrap="square" lIns="91276" tIns="45638" rIns="91276" bIns="45638">
            <a:spAutoFit/>
          </a:bodyPr>
          <a:lstStyle/>
          <a:p>
            <a:pPr algn="ctr" defTabSz="1091565">
              <a:defRPr/>
            </a:pPr>
            <a:r>
              <a:rPr lang="zh-CN" altLang="en-US" sz="8800" b="1" dirty="0">
                <a:solidFill>
                  <a:prstClr val="black"/>
                </a:solidFill>
                <a:latin typeface="+mj-ea"/>
                <a:ea typeface="+mj-ea"/>
              </a:rPr>
              <a:t>谢谢观看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5515888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ok4.pptx12745387"/>
  <p:tag name="ISPRING_SCORM_RATE_SLIDES" val="0"/>
  <p:tag name="ISPRING_SCORM_RATE_QUIZZES" val="0"/>
  <p:tag name="ISPRING_SCORM_PASSING_SCORE" val="0.000000"/>
  <p:tag name="ISPRING_ULTRA_SCORM_COURSE_ID" val="03DFC597-23AC-4AAE-9F7D-4638A1E783DE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K:\第七批作品\148178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4216</Words>
  <Application>Microsoft Office PowerPoint</Application>
  <PresentationFormat>自定义</PresentationFormat>
  <Paragraphs>584</Paragraphs>
  <Slides>54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2" baseType="lpstr">
      <vt:lpstr>inpin heiti</vt:lpstr>
      <vt:lpstr>宋体</vt:lpstr>
      <vt:lpstr>Arial</vt:lpstr>
      <vt:lpstr>Calibri</vt:lpstr>
      <vt:lpstr>Courier New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ok4.pptx12745387</dc:title>
  <dc:creator/>
  <cp:lastModifiedBy/>
  <cp:revision>12</cp:revision>
  <dcterms:created xsi:type="dcterms:W3CDTF">2022-09-18T08:03:55Z</dcterms:created>
  <dcterms:modified xsi:type="dcterms:W3CDTF">2023-12-02T10:42:54Z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2052-11.1.0.9986</vt:lpwstr>
  </property>
</Properties>
</file>