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2.xml" ContentType="application/vnd.openxmlformats-officedocument.presentationml.tags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5"/>
  </p:notesMasterIdLst>
  <p:sldIdLst>
    <p:sldId id="259" r:id="rId2"/>
    <p:sldId id="287" r:id="rId3"/>
    <p:sldId id="419" r:id="rId4"/>
    <p:sldId id="420" r:id="rId5"/>
    <p:sldId id="418" r:id="rId6"/>
    <p:sldId id="376" r:id="rId7"/>
    <p:sldId id="423" r:id="rId8"/>
    <p:sldId id="481" r:id="rId9"/>
    <p:sldId id="482" r:id="rId10"/>
    <p:sldId id="483" r:id="rId11"/>
    <p:sldId id="484" r:id="rId12"/>
    <p:sldId id="425" r:id="rId13"/>
    <p:sldId id="428" r:id="rId14"/>
    <p:sldId id="450" r:id="rId15"/>
    <p:sldId id="454" r:id="rId16"/>
    <p:sldId id="459" r:id="rId17"/>
    <p:sldId id="456" r:id="rId18"/>
    <p:sldId id="458" r:id="rId19"/>
    <p:sldId id="463" r:id="rId20"/>
    <p:sldId id="464" r:id="rId21"/>
    <p:sldId id="465" r:id="rId22"/>
    <p:sldId id="467" r:id="rId23"/>
    <p:sldId id="486" r:id="rId24"/>
    <p:sldId id="452" r:id="rId25"/>
    <p:sldId id="435" r:id="rId26"/>
    <p:sldId id="436" r:id="rId27"/>
    <p:sldId id="437" r:id="rId28"/>
    <p:sldId id="460" r:id="rId29"/>
    <p:sldId id="461" r:id="rId30"/>
    <p:sldId id="438" r:id="rId31"/>
    <p:sldId id="439" r:id="rId32"/>
    <p:sldId id="440" r:id="rId33"/>
    <p:sldId id="462" r:id="rId34"/>
    <p:sldId id="441" r:id="rId35"/>
    <p:sldId id="480" r:id="rId36"/>
    <p:sldId id="442" r:id="rId37"/>
    <p:sldId id="469" r:id="rId38"/>
    <p:sldId id="477" r:id="rId39"/>
    <p:sldId id="478" r:id="rId40"/>
    <p:sldId id="476" r:id="rId41"/>
    <p:sldId id="487" r:id="rId42"/>
    <p:sldId id="488" r:id="rId43"/>
    <p:sldId id="386" r:id="rId44"/>
  </p:sldIdLst>
  <p:sldSz cx="8959850" cy="5040313"/>
  <p:notesSz cx="6858000" cy="9144000"/>
  <p:custDataLst>
    <p:tags r:id="rId46"/>
  </p:custDataLst>
  <p:defaultTextStyle>
    <a:defPPr>
      <a:defRPr lang="zh-CN"/>
    </a:defPPr>
    <a:lvl1pPr marL="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32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00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32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64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96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65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797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29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" userDrawn="1">
          <p15:clr>
            <a:srgbClr val="A4A3A4"/>
          </p15:clr>
        </p15:guide>
        <p15:guide id="2" pos="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E93538"/>
    <a:srgbClr val="F5F5F5"/>
    <a:srgbClr val="284C8A"/>
    <a:srgbClr val="FFFFFF"/>
    <a:srgbClr val="339966"/>
    <a:srgbClr val="00FF00"/>
    <a:srgbClr val="C3C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4" autoAdjust="0"/>
    <p:restoredTop sz="94660"/>
  </p:normalViewPr>
  <p:slideViewPr>
    <p:cSldViewPr>
      <p:cViewPr varScale="1">
        <p:scale>
          <a:sx n="110" d="100"/>
          <a:sy n="110" d="100"/>
        </p:scale>
        <p:origin x="730" y="67"/>
      </p:cViewPr>
      <p:guideLst>
        <p:guide orient="horz" pos="363"/>
        <p:guide pos="46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FBFEE-6F17-45C6-BF67-2BF47985DAED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63E96-BA91-4239-8C4A-E9100A976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57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91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9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55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703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55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21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435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220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097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82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247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198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5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10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74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640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049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15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985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042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320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321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655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158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6430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3775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9792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6995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627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7531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950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0629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8247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4940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110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0128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532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1792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5094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43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1989" y="1565764"/>
            <a:ext cx="7615872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3979" y="2856177"/>
            <a:ext cx="6271895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767" y="3238868"/>
            <a:ext cx="7615872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767" y="2136300"/>
            <a:ext cx="7615872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6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7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2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994" y="1176073"/>
            <a:ext cx="395726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54592" y="1176073"/>
            <a:ext cx="395726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992" y="1128238"/>
            <a:ext cx="3958823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992" y="1598433"/>
            <a:ext cx="3958823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51480" y="1128238"/>
            <a:ext cx="3960378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51480" y="1598433"/>
            <a:ext cx="3960378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993" y="200682"/>
            <a:ext cx="2947729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03054" y="200679"/>
            <a:ext cx="5008805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993" y="1054733"/>
            <a:ext cx="2947729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6194" y="3528219"/>
            <a:ext cx="5375910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56194" y="450361"/>
            <a:ext cx="5375910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320" indent="0">
              <a:buNone/>
              <a:defRPr sz="2500"/>
            </a:lvl2pPr>
            <a:lvl3pPr marL="802005" indent="0">
              <a:buNone/>
              <a:defRPr sz="2100"/>
            </a:lvl3pPr>
            <a:lvl4pPr marL="1203325" indent="0">
              <a:buNone/>
              <a:defRPr sz="1800"/>
            </a:lvl4pPr>
            <a:lvl5pPr marL="1604645" indent="0">
              <a:buNone/>
              <a:defRPr sz="1800"/>
            </a:lvl5pPr>
            <a:lvl6pPr marL="2005965" indent="0">
              <a:buNone/>
              <a:defRPr sz="1800"/>
            </a:lvl6pPr>
            <a:lvl7pPr marL="2406650" indent="0">
              <a:buNone/>
              <a:defRPr sz="1800"/>
            </a:lvl7pPr>
            <a:lvl8pPr marL="2807970" indent="0">
              <a:buNone/>
              <a:defRPr sz="1800"/>
            </a:lvl8pPr>
            <a:lvl9pPr marL="320929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56194" y="3944746"/>
            <a:ext cx="5375910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5892" y="201847"/>
            <a:ext cx="2015966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994" y="201847"/>
            <a:ext cx="5898568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7994" y="201846"/>
            <a:ext cx="8063865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994" y="1176073"/>
            <a:ext cx="8063865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7994" y="4671624"/>
            <a:ext cx="2090632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61282" y="4671624"/>
            <a:ext cx="283728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21226" y="4671624"/>
            <a:ext cx="2090632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80200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990" indent="-30099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indent="-250825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398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30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599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31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3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95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64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65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97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29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1311573" y="71884"/>
            <a:ext cx="6408712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284C8A"/>
                </a:solidFill>
                <a:latin typeface="+mn-ea"/>
              </a:rPr>
              <a:t>计算机导论与程序设计</a:t>
            </a:r>
            <a:r>
              <a:rPr lang="en-US" altLang="zh-CN" sz="32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3200" b="1" dirty="0">
                <a:solidFill>
                  <a:srgbClr val="284C8A"/>
                </a:solidFill>
                <a:latin typeface="+mn-ea"/>
              </a:rPr>
              <a:t>竞赛扩展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211673" y="791964"/>
            <a:ext cx="4536504" cy="2880320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内容：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000" b="1" dirty="0">
                <a:latin typeface="Times New Roman" panose="02020603050405020304" pitchFamily="18" charset="0"/>
              </a:rPr>
              <a:t>数据结构基础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STL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应用基础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算法基础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数据结构基础（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栈（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队列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树（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89860" y="684013"/>
            <a:ext cx="7850506" cy="2329793"/>
          </a:xfrm>
          <a:prstGeom prst="rect">
            <a:avLst/>
          </a:prstGeom>
        </p:spPr>
        <p:txBody>
          <a:bodyPr vert="horz" lIns="80229" tIns="40115" rIns="80229" bIns="40115" rtlCol="0">
            <a:normAutofit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/>
              <a:t>字符串（</a:t>
            </a:r>
            <a:r>
              <a:rPr lang="en-US" altLang="zh-CN" sz="2200" b="1" dirty="0"/>
              <a:t>String</a:t>
            </a:r>
            <a:r>
              <a:rPr lang="zh-CN" altLang="en-US" sz="2200" b="1" dirty="0"/>
              <a:t>）</a:t>
            </a:r>
            <a:endParaRPr lang="en-US" altLang="zh-CN" sz="2200" b="1" dirty="0"/>
          </a:p>
          <a:p>
            <a:pPr marL="361950" indent="0"/>
            <a:r>
              <a:rPr lang="zh-CN" altLang="en-US" sz="2200" b="1" dirty="0"/>
              <a:t> </a:t>
            </a:r>
            <a:r>
              <a:rPr lang="zh-CN" altLang="en-US" sz="2000" b="1" dirty="0"/>
              <a:t>字符序列 </a:t>
            </a:r>
            <a:endParaRPr lang="en-US" altLang="zh-CN" sz="2000" b="1" dirty="0"/>
          </a:p>
          <a:p>
            <a:pPr marL="361950" indent="0"/>
            <a:r>
              <a:rPr lang="en-US" altLang="zh-CN" sz="2000" b="1" dirty="0"/>
              <a:t>  C</a:t>
            </a:r>
            <a:r>
              <a:rPr lang="zh-CN" altLang="en-US" sz="2000" b="1" dirty="0"/>
              <a:t>风格字符串：</a:t>
            </a:r>
            <a:r>
              <a:rPr lang="en-US" altLang="zh-CN" sz="2000" b="1" dirty="0"/>
              <a:t>‘\0’</a:t>
            </a:r>
            <a:r>
              <a:rPr lang="zh-CN" altLang="en-US" sz="2000" b="1" dirty="0"/>
              <a:t>为结束标志，存储在字符数组中</a:t>
            </a:r>
            <a:endParaRPr lang="en-US" altLang="zh-CN" sz="2000" b="1" dirty="0"/>
          </a:p>
          <a:p>
            <a:pPr marL="361950" indent="0">
              <a:buNone/>
            </a:pPr>
            <a:r>
              <a:rPr lang="en-US" altLang="zh-CN" sz="2000" b="1" dirty="0"/>
              <a:t>    </a:t>
            </a:r>
            <a:r>
              <a:rPr lang="zh-CN" altLang="en-US" sz="2000" b="1" dirty="0"/>
              <a:t>如：</a:t>
            </a:r>
            <a:r>
              <a:rPr lang="en-US" altLang="zh-CN" sz="2000" b="1" dirty="0"/>
              <a:t>char  </a:t>
            </a:r>
            <a:r>
              <a:rPr lang="en-US" altLang="zh-CN" sz="2000" b="1" dirty="0" err="1"/>
              <a:t>ustr</a:t>
            </a:r>
            <a:r>
              <a:rPr lang="en-US" altLang="zh-CN" sz="2000" b="1" dirty="0"/>
              <a:t>[101] = "a test" ;</a:t>
            </a:r>
          </a:p>
          <a:p>
            <a:pPr marL="361950" indent="0">
              <a:buNone/>
            </a:pPr>
            <a:r>
              <a:rPr lang="en-US" altLang="zh-CN" sz="2200" b="1" dirty="0"/>
              <a:t>            char *p;    </a:t>
            </a:r>
            <a:r>
              <a:rPr lang="en-US" altLang="zh-CN" sz="1800" b="1" dirty="0"/>
              <a:t>//</a:t>
            </a:r>
            <a:r>
              <a:rPr lang="zh-CN" altLang="en-US" sz="1800" b="1" dirty="0"/>
              <a:t>指针变量</a:t>
            </a:r>
            <a:r>
              <a:rPr lang="en-US" altLang="zh-CN" sz="1800" b="1" dirty="0"/>
              <a:t>p</a:t>
            </a:r>
          </a:p>
          <a:p>
            <a:pPr marL="361950" indent="0">
              <a:buNone/>
            </a:pPr>
            <a:r>
              <a:rPr lang="en-US" altLang="zh-CN" sz="2200" b="1" dirty="0"/>
              <a:t>         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99708"/>
              </p:ext>
            </p:extLst>
          </p:nvPr>
        </p:nvGraphicFramePr>
        <p:xfrm>
          <a:off x="2679722" y="3002612"/>
          <a:ext cx="3960443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20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80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s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\0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959645" y="3019238"/>
            <a:ext cx="675820" cy="2665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tx1"/>
                </a:solidFill>
              </a:rPr>
              <a:t>ustr</a:t>
            </a:r>
            <a:r>
              <a:rPr lang="en-US" altLang="zh-CN" sz="1800" dirty="0">
                <a:solidFill>
                  <a:schemeClr val="tx1"/>
                </a:solidFill>
              </a:rPr>
              <a:t>[]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712974" y="374429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516381" y="4041716"/>
            <a:ext cx="936108" cy="350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92075"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p = </a:t>
            </a:r>
            <a:r>
              <a:rPr lang="en-US" altLang="zh-CN" sz="1800" b="1" dirty="0" err="1">
                <a:solidFill>
                  <a:schemeClr val="tx1"/>
                </a:solidFill>
              </a:rPr>
              <a:t>ustr</a:t>
            </a:r>
            <a:r>
              <a:rPr lang="en-US" altLang="zh-CN" sz="1800" b="1" dirty="0">
                <a:solidFill>
                  <a:schemeClr val="tx1"/>
                </a:solidFill>
              </a:rPr>
              <a:t>; </a:t>
            </a: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3853983" y="376969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687833" y="4041716"/>
            <a:ext cx="1224140" cy="350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92075"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p = ustr+3; </a:t>
            </a:r>
          </a:p>
        </p:txBody>
      </p:sp>
    </p:spTree>
    <p:extLst>
      <p:ext uri="{BB962C8B-B14F-4D97-AF65-F5344CB8AC3E}">
        <p14:creationId xmlns:p14="http://schemas.microsoft.com/office/powerpoint/2010/main" val="122815721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89860" y="684014"/>
            <a:ext cx="7850506" cy="3996382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/>
              <a:t>字符串（</a:t>
            </a:r>
            <a:r>
              <a:rPr lang="en-US" altLang="zh-CN" sz="2200" b="1" dirty="0"/>
              <a:t>String</a:t>
            </a:r>
            <a:r>
              <a:rPr lang="zh-CN" altLang="en-US" sz="2200" b="1" dirty="0"/>
              <a:t>）</a:t>
            </a:r>
            <a:endParaRPr lang="en-US" altLang="zh-CN" sz="2200" b="1" dirty="0"/>
          </a:p>
          <a:p>
            <a:pPr marL="361950" indent="0"/>
            <a:r>
              <a:rPr lang="zh-CN" altLang="en-US" sz="2200" b="1" dirty="0"/>
              <a:t> </a:t>
            </a:r>
            <a:r>
              <a:rPr lang="zh-CN" altLang="en-US" sz="2000" b="1" dirty="0"/>
              <a:t>字符序列 </a:t>
            </a:r>
            <a:endParaRPr lang="en-US" altLang="zh-CN" sz="2000" b="1" dirty="0"/>
          </a:p>
          <a:p>
            <a:pPr marL="361950" indent="0"/>
            <a:r>
              <a:rPr lang="en-US" altLang="zh-CN" sz="2000" b="1" dirty="0"/>
              <a:t>  C</a:t>
            </a:r>
            <a:r>
              <a:rPr lang="zh-CN" altLang="en-US" sz="2000" b="1" dirty="0"/>
              <a:t>风格字符串：</a:t>
            </a:r>
            <a:r>
              <a:rPr lang="en-US" altLang="zh-CN" sz="2000" b="1" dirty="0"/>
              <a:t>‘\0’</a:t>
            </a:r>
            <a:r>
              <a:rPr lang="zh-CN" altLang="en-US" sz="2000" b="1" dirty="0"/>
              <a:t>为结束标志，存储在字符数组中</a:t>
            </a:r>
            <a:endParaRPr lang="en-US" altLang="zh-CN" sz="2000" b="1" dirty="0"/>
          </a:p>
          <a:p>
            <a:pPr marL="361950" indent="0">
              <a:buNone/>
            </a:pPr>
            <a:r>
              <a:rPr lang="en-US" altLang="zh-CN" sz="2000" b="1" dirty="0"/>
              <a:t>                              </a:t>
            </a:r>
            <a:r>
              <a:rPr lang="zh-CN" altLang="en-US" sz="2000" b="1" dirty="0"/>
              <a:t>如：</a:t>
            </a:r>
            <a:r>
              <a:rPr lang="en-US" altLang="zh-CN" sz="2000" b="1" dirty="0"/>
              <a:t>char  </a:t>
            </a:r>
            <a:r>
              <a:rPr lang="en-US" altLang="zh-CN" sz="2000" b="1" dirty="0" err="1"/>
              <a:t>ustr</a:t>
            </a:r>
            <a:r>
              <a:rPr lang="en-US" altLang="zh-CN" sz="2000" b="1" dirty="0"/>
              <a:t>[101] = "a test" ;</a:t>
            </a:r>
          </a:p>
          <a:p>
            <a:pPr marL="361950" indent="0"/>
            <a:r>
              <a:rPr lang="zh-CN" altLang="en-US" sz="2200" b="1" dirty="0"/>
              <a:t> 基本运算</a:t>
            </a:r>
            <a:endParaRPr lang="en-US" altLang="zh-CN" sz="2200" b="1" dirty="0"/>
          </a:p>
          <a:p>
            <a:pPr marL="713105" lvl="1" indent="0"/>
            <a:r>
              <a:rPr lang="en-US" altLang="zh-CN" sz="1500" b="1" dirty="0"/>
              <a:t> </a:t>
            </a:r>
            <a:r>
              <a:rPr lang="zh-CN" altLang="en-US" sz="1500" b="1" dirty="0"/>
              <a:t>输入：</a:t>
            </a:r>
            <a:r>
              <a:rPr lang="en-US" altLang="zh-CN" sz="1500" b="1" dirty="0" err="1"/>
              <a:t>scanf</a:t>
            </a:r>
            <a:r>
              <a:rPr lang="en-US" altLang="zh-CN" sz="1500" b="1" dirty="0"/>
              <a:t>(“%s”, 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);    </a:t>
            </a:r>
            <a:r>
              <a:rPr lang="zh-CN" altLang="en-US" sz="1500" b="1" dirty="0"/>
              <a:t>或者</a:t>
            </a:r>
            <a:r>
              <a:rPr lang="en-US" altLang="zh-CN" sz="1500" b="1" dirty="0"/>
              <a:t>gets(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);     </a:t>
            </a:r>
            <a:r>
              <a:rPr lang="zh-CN" altLang="en-US" sz="1500" b="1" dirty="0"/>
              <a:t>或者</a:t>
            </a:r>
            <a:r>
              <a:rPr lang="en-US" altLang="zh-CN" sz="1500" b="1" dirty="0" err="1"/>
              <a:t>fgets</a:t>
            </a:r>
            <a:r>
              <a:rPr lang="en-US" altLang="zh-CN" sz="1500" b="1" dirty="0"/>
              <a:t>(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, 100, </a:t>
            </a:r>
            <a:r>
              <a:rPr lang="en-US" altLang="zh-CN" sz="1500" b="1" dirty="0" err="1"/>
              <a:t>stdin</a:t>
            </a:r>
            <a:r>
              <a:rPr lang="en-US" altLang="zh-CN" sz="1500" b="1" dirty="0"/>
              <a:t>);</a:t>
            </a:r>
          </a:p>
          <a:p>
            <a:pPr marL="713105" lvl="1" indent="0"/>
            <a:r>
              <a:rPr lang="zh-CN" altLang="en-US" sz="1500" b="1" dirty="0"/>
              <a:t> 输出</a:t>
            </a:r>
            <a:r>
              <a:rPr lang="en-US" altLang="zh-CN" sz="1500" b="1" dirty="0"/>
              <a:t>:  </a:t>
            </a:r>
            <a:r>
              <a:rPr lang="en-US" altLang="zh-CN" sz="1500" b="1" dirty="0" err="1"/>
              <a:t>printf</a:t>
            </a:r>
            <a:r>
              <a:rPr lang="en-US" altLang="zh-CN" sz="1500" b="1" dirty="0"/>
              <a:t>(“%s”,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)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puts(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)</a:t>
            </a:r>
          </a:p>
          <a:p>
            <a:pPr marL="713105" lvl="1" indent="0"/>
            <a:r>
              <a:rPr lang="zh-CN" altLang="en-US" sz="1500" b="1" dirty="0"/>
              <a:t> 求长度：</a:t>
            </a:r>
            <a:r>
              <a:rPr lang="en-US" altLang="zh-CN" sz="1500" b="1" dirty="0"/>
              <a:t>n = </a:t>
            </a:r>
            <a:r>
              <a:rPr lang="en-US" altLang="zh-CN" sz="1500" b="1" dirty="0" err="1"/>
              <a:t>strlen</a:t>
            </a:r>
            <a:r>
              <a:rPr lang="en-US" altLang="zh-CN" sz="1500" b="1" dirty="0"/>
              <a:t>(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);</a:t>
            </a:r>
          </a:p>
          <a:p>
            <a:pPr marL="713105" lvl="1" indent="0"/>
            <a:r>
              <a:rPr lang="zh-CN" altLang="en-US" sz="1500" b="1" dirty="0"/>
              <a:t>  串拷贝：</a:t>
            </a:r>
            <a:r>
              <a:rPr lang="en-US" altLang="zh-CN" sz="1500" b="1" dirty="0" err="1"/>
              <a:t>strcpy</a:t>
            </a:r>
            <a:r>
              <a:rPr lang="en-US" altLang="zh-CN" sz="1500" b="1" dirty="0"/>
              <a:t>(char* </a:t>
            </a:r>
            <a:r>
              <a:rPr lang="en-US" altLang="zh-CN" sz="1500" b="1" dirty="0" err="1"/>
              <a:t>dest</a:t>
            </a:r>
            <a:r>
              <a:rPr lang="en-US" altLang="zh-CN" sz="1500" b="1" dirty="0"/>
              <a:t>, const char* </a:t>
            </a:r>
            <a:r>
              <a:rPr lang="en-US" altLang="zh-CN" sz="1500" b="1" dirty="0" err="1"/>
              <a:t>src</a:t>
            </a:r>
            <a:r>
              <a:rPr lang="en-US" altLang="zh-CN" sz="1500" b="1" dirty="0"/>
              <a:t>) </a:t>
            </a:r>
          </a:p>
          <a:p>
            <a:pPr marL="713105" lvl="1" indent="0"/>
            <a:r>
              <a:rPr lang="en-US" altLang="zh-CN" sz="1500" b="1" dirty="0"/>
              <a:t> </a:t>
            </a:r>
            <a:r>
              <a:rPr lang="zh-CN" altLang="en-US" sz="1500" b="1" dirty="0"/>
              <a:t>串连接：</a:t>
            </a:r>
            <a:r>
              <a:rPr lang="en-US" altLang="zh-CN" sz="1500" b="1" dirty="0"/>
              <a:t> </a:t>
            </a:r>
            <a:r>
              <a:rPr lang="en-US" altLang="zh-CN" sz="1500" b="1" dirty="0" err="1"/>
              <a:t>strcat</a:t>
            </a:r>
            <a:r>
              <a:rPr lang="en-US" altLang="zh-CN" sz="1500" b="1" dirty="0"/>
              <a:t>(char* </a:t>
            </a:r>
            <a:r>
              <a:rPr lang="en-US" altLang="zh-CN" sz="1500" b="1" dirty="0" err="1"/>
              <a:t>dest</a:t>
            </a:r>
            <a:r>
              <a:rPr lang="en-US" altLang="zh-CN" sz="1500" b="1" dirty="0"/>
              <a:t>, const char* </a:t>
            </a:r>
            <a:r>
              <a:rPr lang="en-US" altLang="zh-CN" sz="1500" b="1" dirty="0" err="1"/>
              <a:t>src</a:t>
            </a:r>
            <a:r>
              <a:rPr lang="en-US" altLang="zh-CN" sz="1500" b="1" dirty="0"/>
              <a:t>)</a:t>
            </a:r>
          </a:p>
          <a:p>
            <a:pPr marL="713105" lvl="1" indent="0"/>
            <a:r>
              <a:rPr lang="en-US" altLang="zh-CN" sz="1500" b="1" dirty="0"/>
              <a:t> </a:t>
            </a:r>
            <a:r>
              <a:rPr lang="zh-CN" altLang="en-US" sz="1500" b="1" dirty="0"/>
              <a:t>串比较：</a:t>
            </a:r>
            <a:r>
              <a:rPr lang="en-US" altLang="zh-CN" sz="1500" b="1" dirty="0" err="1"/>
              <a:t>strcmp</a:t>
            </a:r>
            <a:r>
              <a:rPr lang="en-US" altLang="zh-CN" sz="1500" b="1" dirty="0"/>
              <a:t>(const char* str1, const char* str2)</a:t>
            </a:r>
          </a:p>
          <a:p>
            <a:pPr marL="713105" lvl="1" indent="0"/>
            <a:r>
              <a:rPr lang="en-US" altLang="zh-CN" sz="1500" b="1" dirty="0"/>
              <a:t>…</a:t>
            </a:r>
            <a:endParaRPr lang="zh-CN" alt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72008234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89860" y="684013"/>
            <a:ext cx="7850506" cy="4356299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/>
              <a:t>字符串（</a:t>
            </a:r>
            <a:r>
              <a:rPr lang="en-US" altLang="zh-CN" sz="2200" b="1" dirty="0"/>
              <a:t>String</a:t>
            </a:r>
            <a:r>
              <a:rPr lang="zh-CN" altLang="en-US" sz="2200" b="1" dirty="0"/>
              <a:t>）</a:t>
            </a:r>
            <a:endParaRPr lang="en-US" altLang="zh-CN" sz="2200" b="1" dirty="0"/>
          </a:p>
          <a:p>
            <a:pPr marL="361950" indent="0"/>
            <a:r>
              <a:rPr lang="en-US" altLang="zh-CN" sz="2000" b="1" dirty="0"/>
              <a:t> C</a:t>
            </a:r>
            <a:r>
              <a:rPr lang="zh-CN" altLang="en-US" sz="2000" b="1" dirty="0"/>
              <a:t>风格字符串：</a:t>
            </a:r>
            <a:r>
              <a:rPr lang="en-US" altLang="zh-CN" sz="2000" b="1" dirty="0"/>
              <a:t>‘\0’</a:t>
            </a:r>
            <a:r>
              <a:rPr lang="zh-CN" altLang="en-US" sz="2000" b="1" dirty="0"/>
              <a:t>为结束标志，存储在字符数组中</a:t>
            </a:r>
            <a:endParaRPr lang="en-US" altLang="zh-CN" sz="2000" b="1" dirty="0"/>
          </a:p>
          <a:p>
            <a:pPr marL="361950" indent="0">
              <a:buNone/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如：</a:t>
            </a:r>
            <a:r>
              <a:rPr lang="en-US" altLang="zh-CN" sz="2000" b="1" dirty="0"/>
              <a:t>char  </a:t>
            </a:r>
            <a:r>
              <a:rPr lang="en-US" altLang="zh-CN" sz="2000" b="1" dirty="0" err="1"/>
              <a:t>ustr</a:t>
            </a:r>
            <a:r>
              <a:rPr lang="en-US" altLang="zh-CN" sz="2000" b="1" dirty="0"/>
              <a:t>[101] = "a test" ;</a:t>
            </a:r>
          </a:p>
          <a:p>
            <a:pPr marL="361950" indent="0">
              <a:buNone/>
            </a:pP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61950" indent="0"/>
            <a:r>
              <a:rPr lang="zh-CN" altLang="en-US" sz="2000" b="1" dirty="0"/>
              <a:t> 字符串的输入</a:t>
            </a:r>
            <a:endParaRPr lang="en-US" altLang="zh-CN" sz="2000" b="1" dirty="0"/>
          </a:p>
          <a:p>
            <a:pPr marL="713105" lvl="1" indent="0">
              <a:lnSpc>
                <a:spcPct val="120000"/>
              </a:lnSpc>
            </a:pPr>
            <a:r>
              <a:rPr lang="en-US" altLang="zh-CN" sz="1500" b="1" dirty="0"/>
              <a:t>  char * gets ( char * </a:t>
            </a:r>
            <a:r>
              <a:rPr lang="en-US" altLang="zh-CN" sz="1500" b="1" dirty="0" err="1"/>
              <a:t>str</a:t>
            </a:r>
            <a:r>
              <a:rPr lang="en-US" altLang="zh-CN" sz="1500" b="1" dirty="0"/>
              <a:t> );   //gets(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); </a:t>
            </a:r>
          </a:p>
          <a:p>
            <a:pPr marL="713105" lvl="1" indent="0">
              <a:lnSpc>
                <a:spcPct val="120000"/>
              </a:lnSpc>
              <a:buNone/>
            </a:pPr>
            <a:r>
              <a:rPr lang="en-US" altLang="zh-CN" sz="1500" b="1" dirty="0"/>
              <a:t>   //</a:t>
            </a:r>
            <a:r>
              <a:rPr lang="zh-CN" altLang="en-US" sz="1500" b="1" dirty="0"/>
              <a:t>对输入的字符串长度没有限制，新标准中已删除该函数</a:t>
            </a:r>
            <a:endParaRPr lang="en-US" altLang="zh-CN" sz="1500" b="1" dirty="0"/>
          </a:p>
          <a:p>
            <a:pPr marL="713105" lvl="1" indent="0">
              <a:lnSpc>
                <a:spcPct val="120000"/>
              </a:lnSpc>
              <a:buNone/>
            </a:pPr>
            <a:endParaRPr lang="en-US" altLang="zh-CN" sz="1500" b="1" dirty="0"/>
          </a:p>
          <a:p>
            <a:pPr marL="713105" lvl="1" indent="0">
              <a:lnSpc>
                <a:spcPct val="120000"/>
              </a:lnSpc>
            </a:pPr>
            <a:r>
              <a:rPr lang="en-US" altLang="zh-CN" sz="1500" b="1" dirty="0"/>
              <a:t>  char * </a:t>
            </a:r>
            <a:r>
              <a:rPr lang="en-US" altLang="zh-CN" sz="1500" b="1" dirty="0" err="1"/>
              <a:t>fgets</a:t>
            </a:r>
            <a:r>
              <a:rPr lang="en-US" altLang="zh-CN" sz="1500" b="1" dirty="0"/>
              <a:t> ( char * </a:t>
            </a:r>
            <a:r>
              <a:rPr lang="en-US" altLang="zh-CN" sz="1500" b="1" dirty="0" err="1"/>
              <a:t>str</a:t>
            </a:r>
            <a:r>
              <a:rPr lang="en-US" altLang="zh-CN" sz="1500" b="1" dirty="0"/>
              <a:t>, </a:t>
            </a:r>
            <a:r>
              <a:rPr lang="en-US" altLang="zh-CN" sz="1500" b="1" dirty="0" err="1"/>
              <a:t>int</a:t>
            </a:r>
            <a:r>
              <a:rPr lang="en-US" altLang="zh-CN" sz="1500" b="1" dirty="0"/>
              <a:t> </a:t>
            </a:r>
            <a:r>
              <a:rPr lang="en-US" altLang="zh-CN" sz="1500" b="1" dirty="0" err="1"/>
              <a:t>num</a:t>
            </a:r>
            <a:r>
              <a:rPr lang="en-US" altLang="zh-CN" sz="1500" b="1" dirty="0"/>
              <a:t>, FILE * stream );  // </a:t>
            </a:r>
            <a:r>
              <a:rPr lang="en-US" altLang="zh-CN" sz="1500" b="1" dirty="0" err="1"/>
              <a:t>fgets</a:t>
            </a:r>
            <a:r>
              <a:rPr lang="en-US" altLang="zh-CN" sz="1500" b="1" dirty="0"/>
              <a:t>(</a:t>
            </a:r>
            <a:r>
              <a:rPr lang="en-US" altLang="zh-CN" sz="1500" b="1" dirty="0" err="1"/>
              <a:t>ustr</a:t>
            </a:r>
            <a:r>
              <a:rPr lang="en-US" altLang="zh-CN" sz="1500" b="1" dirty="0"/>
              <a:t>, 101, </a:t>
            </a:r>
            <a:r>
              <a:rPr lang="en-US" altLang="zh-CN" sz="1500" b="1" dirty="0" err="1"/>
              <a:t>stdin</a:t>
            </a:r>
            <a:r>
              <a:rPr lang="en-US" altLang="zh-CN" sz="1500" b="1" dirty="0"/>
              <a:t>); </a:t>
            </a:r>
          </a:p>
          <a:p>
            <a:pPr marL="713105" lvl="1" indent="0">
              <a:lnSpc>
                <a:spcPct val="120000"/>
              </a:lnSpc>
              <a:buNone/>
            </a:pPr>
            <a:r>
              <a:rPr lang="en-US" altLang="zh-CN" sz="1500" b="1" dirty="0"/>
              <a:t>    //</a:t>
            </a:r>
            <a:r>
              <a:rPr lang="zh-CN" altLang="en-US" sz="1500" b="1" dirty="0"/>
              <a:t>从流中读取字符并将其作为</a:t>
            </a:r>
            <a:r>
              <a:rPr lang="en-US" altLang="zh-CN" sz="1500" b="1" dirty="0"/>
              <a:t>C</a:t>
            </a:r>
            <a:r>
              <a:rPr lang="zh-CN" altLang="en-US" sz="1500" b="1" dirty="0"/>
              <a:t>字符串存储到</a:t>
            </a:r>
            <a:r>
              <a:rPr lang="en-US" altLang="zh-CN" sz="1500" b="1" dirty="0" err="1"/>
              <a:t>str</a:t>
            </a:r>
            <a:r>
              <a:rPr lang="zh-CN" altLang="en-US" sz="1500" b="1" dirty="0"/>
              <a:t>中，</a:t>
            </a:r>
            <a:endParaRPr lang="en-US" altLang="zh-CN" sz="1500" b="1" dirty="0"/>
          </a:p>
          <a:p>
            <a:pPr marL="713105" lvl="1" indent="0">
              <a:lnSpc>
                <a:spcPct val="120000"/>
              </a:lnSpc>
              <a:buNone/>
            </a:pPr>
            <a:r>
              <a:rPr lang="en-US" altLang="zh-CN" sz="1500" b="1" dirty="0"/>
              <a:t>    //</a:t>
            </a:r>
            <a:r>
              <a:rPr lang="zh-CN" altLang="en-US" sz="1500" b="1" dirty="0"/>
              <a:t>直到读取（</a:t>
            </a:r>
            <a:r>
              <a:rPr lang="en-US" altLang="zh-CN" sz="1500" b="1" dirty="0"/>
              <a:t>num-1</a:t>
            </a:r>
            <a:r>
              <a:rPr lang="zh-CN" altLang="en-US" sz="1500" b="1" dirty="0"/>
              <a:t>）个字符 或 到达换行符（可读入</a:t>
            </a:r>
            <a:r>
              <a:rPr lang="en-US" altLang="zh-CN" sz="1500" b="1" dirty="0"/>
              <a:t>’\n’</a:t>
            </a:r>
            <a:r>
              <a:rPr lang="zh-CN" altLang="en-US" sz="1500" b="1" dirty="0"/>
              <a:t>） 或 文件结尾</a:t>
            </a:r>
            <a:endParaRPr lang="en-US" altLang="zh-CN" sz="1500" b="1" dirty="0"/>
          </a:p>
        </p:txBody>
      </p:sp>
    </p:spTree>
    <p:extLst>
      <p:ext uri="{BB962C8B-B14F-4D97-AF65-F5344CB8AC3E}">
        <p14:creationId xmlns:p14="http://schemas.microsoft.com/office/powerpoint/2010/main" val="420609909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79525" y="2376140"/>
            <a:ext cx="7905451" cy="2762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dirty="0"/>
              <a:t>#include &lt;stdio.h&gt;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#include &lt;string.h&gt;</a:t>
            </a:r>
          </a:p>
          <a:p>
            <a:pPr>
              <a:lnSpc>
                <a:spcPts val="1600"/>
              </a:lnSpc>
            </a:pPr>
            <a:endParaRPr lang="zh-CN" altLang="en-US" dirty="0"/>
          </a:p>
          <a:p>
            <a:pPr>
              <a:lnSpc>
                <a:spcPts val="1600"/>
              </a:lnSpc>
            </a:pPr>
            <a:r>
              <a:rPr lang="en-US" altLang="zh-CN" dirty="0" err="1"/>
              <a:t>int</a:t>
            </a:r>
            <a:r>
              <a:rPr lang="en-US" altLang="zh-CN" dirty="0"/>
              <a:t> main ()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{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char </a:t>
            </a:r>
            <a:r>
              <a:rPr lang="en-US" altLang="zh-CN" dirty="0" err="1"/>
              <a:t>str</a:t>
            </a:r>
            <a:r>
              <a:rPr lang="en-US" altLang="zh-CN" dirty="0"/>
              <a:t>[] ="This is a simple string";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char * </a:t>
            </a:r>
            <a:r>
              <a:rPr lang="en-US" altLang="zh-CN" dirty="0" err="1"/>
              <a:t>pch</a:t>
            </a:r>
            <a:r>
              <a:rPr lang="en-US" altLang="zh-CN" dirty="0"/>
              <a:t>;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</a:t>
            </a:r>
            <a:r>
              <a:rPr lang="en-US" altLang="zh-CN" b="1" dirty="0" err="1">
                <a:solidFill>
                  <a:srgbClr val="0066FF"/>
                </a:solidFill>
              </a:rPr>
              <a:t>pch</a:t>
            </a:r>
            <a:r>
              <a:rPr lang="en-US" altLang="zh-CN" b="1" dirty="0">
                <a:solidFill>
                  <a:srgbClr val="0066FF"/>
                </a:solidFill>
              </a:rPr>
              <a:t> = </a:t>
            </a:r>
            <a:r>
              <a:rPr lang="en-US" altLang="zh-CN" b="1" dirty="0" err="1">
                <a:solidFill>
                  <a:srgbClr val="0066FF"/>
                </a:solidFill>
              </a:rPr>
              <a:t>strstr</a:t>
            </a:r>
            <a:r>
              <a:rPr lang="en-US" altLang="zh-CN" b="1" dirty="0">
                <a:solidFill>
                  <a:srgbClr val="0066FF"/>
                </a:solidFill>
              </a:rPr>
              <a:t> (</a:t>
            </a:r>
            <a:r>
              <a:rPr lang="en-US" altLang="zh-CN" b="1" dirty="0" err="1">
                <a:solidFill>
                  <a:srgbClr val="0066FF"/>
                </a:solidFill>
              </a:rPr>
              <a:t>str</a:t>
            </a:r>
            <a:r>
              <a:rPr lang="en-US" altLang="zh-CN" b="1" dirty="0">
                <a:solidFill>
                  <a:srgbClr val="0066FF"/>
                </a:solidFill>
              </a:rPr>
              <a:t>,"simple");</a:t>
            </a:r>
            <a:r>
              <a:rPr lang="en-US" altLang="zh-CN" b="1" dirty="0"/>
              <a:t>  </a:t>
            </a:r>
            <a:r>
              <a:rPr lang="en-US" altLang="zh-CN" dirty="0"/>
              <a:t>//</a:t>
            </a:r>
            <a:r>
              <a:rPr lang="zh-CN" altLang="en-US" dirty="0"/>
              <a:t>在</a:t>
            </a:r>
            <a:r>
              <a:rPr lang="en-US" altLang="zh-CN" dirty="0" err="1"/>
              <a:t>str</a:t>
            </a:r>
            <a:r>
              <a:rPr lang="en-US" altLang="zh-CN" dirty="0"/>
              <a:t> </a:t>
            </a:r>
            <a:r>
              <a:rPr lang="zh-CN" altLang="en-US" dirty="0"/>
              <a:t>中查找</a:t>
            </a:r>
            <a:r>
              <a:rPr lang="en-US" altLang="zh-CN" dirty="0"/>
              <a:t>"simple"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if (</a:t>
            </a:r>
            <a:r>
              <a:rPr lang="en-US" altLang="zh-CN" dirty="0" err="1"/>
              <a:t>pch</a:t>
            </a:r>
            <a:r>
              <a:rPr lang="en-US" altLang="zh-CN" dirty="0"/>
              <a:t> != NULL)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      </a:t>
            </a:r>
            <a:r>
              <a:rPr lang="en-US" altLang="zh-CN" dirty="0" err="1"/>
              <a:t>strncpy</a:t>
            </a:r>
            <a:r>
              <a:rPr lang="en-US" altLang="zh-CN" dirty="0"/>
              <a:t> (pch,“SAMPLE",6);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 puts (</a:t>
            </a:r>
            <a:r>
              <a:rPr lang="en-US" altLang="zh-CN" dirty="0" err="1"/>
              <a:t>str</a:t>
            </a:r>
            <a:r>
              <a:rPr lang="en-US" altLang="zh-CN" dirty="0"/>
              <a:t>);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       return 0;</a:t>
            </a:r>
          </a:p>
          <a:p>
            <a:pPr>
              <a:lnSpc>
                <a:spcPts val="1600"/>
              </a:lnSpc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89860" y="756022"/>
            <a:ext cx="7850506" cy="1692126"/>
          </a:xfrm>
          <a:prstGeom prst="rect">
            <a:avLst/>
          </a:prstGeom>
        </p:spPr>
        <p:txBody>
          <a:bodyPr vert="horz" lIns="80229" tIns="40115" rIns="80229" bIns="40115" rtlCol="0">
            <a:normAutofit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/>
              <a:t>使用标准库函数</a:t>
            </a:r>
            <a:endParaRPr lang="en-US" altLang="zh-CN" sz="22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900" b="1" dirty="0"/>
              <a:t>查找字符串：</a:t>
            </a:r>
            <a:r>
              <a:rPr lang="en-US" altLang="zh-CN" sz="1900" b="1" dirty="0" err="1"/>
              <a:t>const</a:t>
            </a:r>
            <a:r>
              <a:rPr lang="en-US" altLang="zh-CN" sz="1900" b="1" dirty="0"/>
              <a:t> char * </a:t>
            </a:r>
            <a:r>
              <a:rPr lang="en-US" altLang="zh-CN" sz="1900" b="1" dirty="0" err="1"/>
              <a:t>strstr</a:t>
            </a:r>
            <a:r>
              <a:rPr lang="en-US" altLang="zh-CN" sz="1900" b="1" dirty="0"/>
              <a:t> ( const char * str1, const char * str2 );</a:t>
            </a:r>
          </a:p>
          <a:p>
            <a:pPr marL="401320" lvl="1" indent="0">
              <a:buNone/>
            </a:pPr>
            <a:r>
              <a:rPr lang="en-US" altLang="zh-CN" sz="1900" b="1" dirty="0"/>
              <a:t>    //</a:t>
            </a:r>
            <a:r>
              <a:rPr lang="zh-CN" altLang="en-US" sz="1900" b="1" dirty="0"/>
              <a:t> </a:t>
            </a:r>
            <a:r>
              <a:rPr lang="en-US" altLang="zh-CN" sz="1900" b="1" dirty="0"/>
              <a:t>char * </a:t>
            </a:r>
            <a:r>
              <a:rPr lang="en-US" altLang="zh-CN" sz="1900" b="1" dirty="0" err="1"/>
              <a:t>strstr</a:t>
            </a:r>
            <a:r>
              <a:rPr lang="en-US" altLang="zh-CN" sz="1900" b="1" dirty="0"/>
              <a:t> (  char * str1, const char * str2 );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b="1" dirty="0"/>
              <a:t>若</a:t>
            </a:r>
            <a:r>
              <a:rPr lang="en-US" altLang="zh-CN" sz="2000" b="1" dirty="0"/>
              <a:t>str2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str1</a:t>
            </a:r>
            <a:r>
              <a:rPr lang="zh-CN" altLang="en-US" sz="2000" b="1" dirty="0"/>
              <a:t>中出现，则返回一个指针指向</a:t>
            </a:r>
            <a:r>
              <a:rPr lang="en-US" altLang="zh-CN" sz="2000" b="1" dirty="0"/>
              <a:t>str1</a:t>
            </a:r>
            <a:r>
              <a:rPr lang="zh-CN" altLang="en-US" sz="2000" b="1" dirty="0"/>
              <a:t>中第一次出现</a:t>
            </a:r>
            <a:r>
              <a:rPr lang="en-US" altLang="zh-CN" sz="2000" b="1" dirty="0"/>
              <a:t>str2</a:t>
            </a:r>
            <a:r>
              <a:rPr lang="zh-CN" altLang="en-US" sz="2000" b="1" dirty="0"/>
              <a:t>的位置。若</a:t>
            </a:r>
            <a:r>
              <a:rPr lang="en-US" altLang="zh-CN" sz="2000" b="1" dirty="0"/>
              <a:t>str1</a:t>
            </a:r>
            <a:r>
              <a:rPr lang="zh-CN" altLang="en-US" sz="2000" b="1" dirty="0"/>
              <a:t>中不存在</a:t>
            </a:r>
            <a:r>
              <a:rPr lang="en-US" altLang="zh-CN" sz="2000" b="1" dirty="0"/>
              <a:t>str2</a:t>
            </a:r>
            <a:r>
              <a:rPr lang="zh-CN" altLang="en-US" sz="2000" b="1" dirty="0"/>
              <a:t>，则返回空指针。</a:t>
            </a:r>
            <a:endParaRPr lang="en-US" altLang="zh-CN" sz="1900" b="1" dirty="0"/>
          </a:p>
        </p:txBody>
      </p:sp>
      <p:sp>
        <p:nvSpPr>
          <p:cNvPr id="3" name="矩形 2"/>
          <p:cNvSpPr/>
          <p:nvPr/>
        </p:nvSpPr>
        <p:spPr>
          <a:xfrm>
            <a:off x="6064101" y="3469445"/>
            <a:ext cx="2088232" cy="6479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输出结果：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This is a SAMPLE string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711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89859" y="756022"/>
            <a:ext cx="8210545" cy="2412206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/>
              <a:t>使用标准库函数</a:t>
            </a:r>
            <a:endParaRPr lang="en-US" altLang="zh-CN" sz="2200" b="1" dirty="0"/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900" b="1" dirty="0"/>
              <a:t>字符串比较</a:t>
            </a:r>
            <a:r>
              <a:rPr lang="en-US" altLang="zh-CN" sz="1900" b="1" dirty="0" err="1"/>
              <a:t>strcmp</a:t>
            </a:r>
            <a:r>
              <a:rPr lang="zh-CN" altLang="en-US" sz="1900" b="1" dirty="0"/>
              <a:t>：</a:t>
            </a:r>
            <a:r>
              <a:rPr lang="en-US" altLang="zh-CN" sz="1900" b="1" dirty="0" err="1"/>
              <a:t>int</a:t>
            </a:r>
            <a:r>
              <a:rPr lang="en-US" altLang="zh-CN" sz="1900" b="1" dirty="0"/>
              <a:t> </a:t>
            </a:r>
            <a:r>
              <a:rPr lang="en-US" altLang="zh-CN" sz="1900" b="1" dirty="0" err="1"/>
              <a:t>strcmp</a:t>
            </a:r>
            <a:r>
              <a:rPr lang="en-US" altLang="zh-CN" sz="1900" b="1" dirty="0"/>
              <a:t> ( const char * str1, const char * str2 ); 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返回</a:t>
            </a:r>
            <a:r>
              <a:rPr lang="en-US" altLang="zh-CN" sz="2000" dirty="0"/>
              <a:t>0</a:t>
            </a:r>
            <a:r>
              <a:rPr lang="zh-CN" altLang="en-US" sz="2000" dirty="0"/>
              <a:t>表示</a:t>
            </a:r>
            <a:r>
              <a:rPr lang="en-US" altLang="zh-CN" sz="2000" dirty="0"/>
              <a:t>str1</a:t>
            </a:r>
            <a:r>
              <a:rPr lang="zh-CN" altLang="en-US" sz="2000" dirty="0"/>
              <a:t>等于</a:t>
            </a:r>
            <a:r>
              <a:rPr lang="en-US" altLang="zh-CN" sz="2000" dirty="0"/>
              <a:t>str2</a:t>
            </a:r>
            <a:r>
              <a:rPr lang="zh-CN" altLang="en-US" sz="2000" dirty="0"/>
              <a:t>（两个字符串完全相同）；</a:t>
            </a:r>
            <a:endParaRPr lang="en-US" altLang="zh-CN" sz="2000" dirty="0"/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str1</a:t>
            </a:r>
            <a:r>
              <a:rPr lang="zh-CN" altLang="en-US" sz="2000" dirty="0"/>
              <a:t>小于</a:t>
            </a:r>
            <a:r>
              <a:rPr lang="en-US" altLang="zh-CN" sz="2000" dirty="0"/>
              <a:t>str2</a:t>
            </a:r>
            <a:r>
              <a:rPr lang="zh-CN" altLang="en-US" sz="2000" dirty="0"/>
              <a:t>则返回负整数，否则返回正整数</a:t>
            </a:r>
            <a:endParaRPr lang="en-US" altLang="zh-CN" sz="1900" b="1" dirty="0"/>
          </a:p>
        </p:txBody>
      </p:sp>
    </p:spTree>
    <p:extLst>
      <p:ext uri="{BB962C8B-B14F-4D97-AF65-F5344CB8AC3E}">
        <p14:creationId xmlns:p14="http://schemas.microsoft.com/office/powerpoint/2010/main" val="204546633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89859" y="756021"/>
            <a:ext cx="8210545" cy="3996379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/>
              <a:t>C++</a:t>
            </a:r>
            <a:r>
              <a:rPr lang="zh-CN" altLang="en-US" sz="2200" b="1" dirty="0"/>
              <a:t>字符串： </a:t>
            </a:r>
            <a:r>
              <a:rPr lang="en-US" altLang="zh-CN" sz="2200" b="1" dirty="0"/>
              <a:t>string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/>
              <a:t>头文件：</a:t>
            </a:r>
            <a:r>
              <a:rPr lang="en-US" altLang="zh-CN" sz="1900" b="1" dirty="0"/>
              <a:t>#include&lt;string&gt;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/>
              <a:t>具体操作：</a:t>
            </a: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声明空字符串 </a:t>
            </a:r>
            <a:r>
              <a:rPr lang="en-US" altLang="zh-CN" sz="1400" b="1" dirty="0"/>
              <a:t>string str = “”;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读入</a:t>
            </a:r>
            <a:r>
              <a:rPr lang="en-US" altLang="zh-CN" sz="1400" b="1" dirty="0" err="1"/>
              <a:t>cin</a:t>
            </a:r>
            <a:r>
              <a:rPr lang="en-US" altLang="zh-CN" sz="1400" b="1" dirty="0"/>
              <a:t>&gt;&gt;str;    </a:t>
            </a:r>
            <a:r>
              <a:rPr lang="zh-CN" altLang="en-US" sz="1400" b="1" dirty="0"/>
              <a:t>输出</a:t>
            </a:r>
            <a:r>
              <a:rPr lang="en-US" altLang="zh-CN" sz="1400" b="1" dirty="0" err="1"/>
              <a:t>cout</a:t>
            </a:r>
            <a:r>
              <a:rPr lang="en-US" altLang="zh-CN" sz="1400" b="1" dirty="0"/>
              <a:t>&lt;&lt;str;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支持取下标：例如</a:t>
            </a:r>
            <a:r>
              <a:rPr lang="en-US" altLang="zh-CN" sz="1400" b="1" dirty="0"/>
              <a:t>str = “0123”, </a:t>
            </a:r>
            <a:r>
              <a:rPr lang="zh-CN" altLang="en-US" sz="1400" b="1" dirty="0"/>
              <a:t>则</a:t>
            </a:r>
            <a:r>
              <a:rPr lang="en-US" altLang="zh-CN" sz="1400" b="1" dirty="0"/>
              <a:t>str[0] = ‘0’, str[1] = ‘1’, str[2] = ‘2’, str[3] = ‘3’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赋值 </a:t>
            </a:r>
            <a:r>
              <a:rPr lang="en-US" altLang="zh-CN" sz="1400" b="1" dirty="0"/>
              <a:t>str = “a test”;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求长度 </a:t>
            </a:r>
            <a:r>
              <a:rPr lang="en-US" altLang="zh-CN" sz="1400" b="1" dirty="0"/>
              <a:t>n = </a:t>
            </a:r>
            <a:r>
              <a:rPr lang="en-US" altLang="zh-CN" sz="1400" b="1" dirty="0" err="1"/>
              <a:t>str.length</a:t>
            </a:r>
            <a:r>
              <a:rPr lang="en-US" altLang="zh-CN" sz="1400" b="1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比较：支持运算符 </a:t>
            </a:r>
            <a:r>
              <a:rPr lang="en-US" altLang="zh-CN" sz="1400" b="1" dirty="0"/>
              <a:t>&gt; 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&lt;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==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&gt;=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&lt;=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字符串拼接：</a:t>
            </a:r>
            <a:r>
              <a:rPr lang="en-US" altLang="zh-CN" sz="1400" b="1" dirty="0"/>
              <a:t>str += “new string”;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</a:t>
            </a:r>
            <a:r>
              <a:rPr lang="zh-CN" altLang="en-US" sz="1400" b="1" dirty="0"/>
              <a:t>取子串：</a:t>
            </a:r>
            <a:r>
              <a:rPr lang="en-US" altLang="zh-CN" sz="1400" b="1" dirty="0"/>
              <a:t>string s = </a:t>
            </a:r>
            <a:r>
              <a:rPr lang="en-US" altLang="zh-CN" sz="1400" b="1" dirty="0" err="1"/>
              <a:t>str.substr</a:t>
            </a:r>
            <a:r>
              <a:rPr lang="en-US" altLang="zh-CN" sz="1400" b="1" dirty="0"/>
              <a:t>(</a:t>
            </a:r>
            <a:r>
              <a:rPr lang="en-US" altLang="zh-CN" sz="1400" b="1" dirty="0" err="1"/>
              <a:t>i</a:t>
            </a:r>
            <a:r>
              <a:rPr lang="en-US" altLang="zh-CN" sz="1400" b="1" dirty="0"/>
              <a:t>, j); </a:t>
            </a:r>
            <a:r>
              <a:rPr lang="zh-CN" altLang="en-US" sz="1400" b="1" dirty="0"/>
              <a:t>取</a:t>
            </a:r>
            <a:r>
              <a:rPr lang="en-US" altLang="zh-CN" sz="1400" b="1" dirty="0"/>
              <a:t>str</a:t>
            </a:r>
            <a:r>
              <a:rPr lang="zh-CN" altLang="en-US" sz="1400" b="1" dirty="0"/>
              <a:t>从位置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开始的长度为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的字串。</a:t>
            </a:r>
            <a:endParaRPr lang="en-US" altLang="zh-CN" sz="1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	-- …</a:t>
            </a:r>
          </a:p>
        </p:txBody>
      </p:sp>
    </p:spTree>
    <p:extLst>
      <p:ext uri="{BB962C8B-B14F-4D97-AF65-F5344CB8AC3E}">
        <p14:creationId xmlns:p14="http://schemas.microsoft.com/office/powerpoint/2010/main" val="407039384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89859" y="756021"/>
            <a:ext cx="8210545" cy="3996379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/>
              <a:t>字符串例题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/>
              <a:t>模拟数字相加：</a:t>
            </a:r>
            <a:endParaRPr lang="en-US" altLang="zh-CN" sz="19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/>
              <a:t>	</a:t>
            </a:r>
            <a:r>
              <a:rPr lang="zh-CN" altLang="en-US" sz="1400" b="1" dirty="0"/>
              <a:t>输入两行仅由数字组成的字符串（每个字符串长度∈</a:t>
            </a:r>
            <a:r>
              <a:rPr lang="en-US" altLang="zh-CN" sz="1400" b="1" dirty="0"/>
              <a:t>[1,1000]</a:t>
            </a:r>
            <a:r>
              <a:rPr lang="zh-CN" altLang="en-US" sz="1400" b="1" dirty="0"/>
              <a:t>）且不含前导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，请计算它们的和并将其输出。</a:t>
            </a:r>
            <a:endParaRPr lang="en-US" altLang="zh-CN" sz="14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/>
              <a:t>例：</a:t>
            </a:r>
            <a:endParaRPr lang="en-US" altLang="zh-CN" sz="1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              </a:t>
            </a:r>
            <a:r>
              <a:rPr lang="zh-CN" altLang="en-US" sz="1400" b="1" dirty="0"/>
              <a:t>输入：</a:t>
            </a:r>
            <a:r>
              <a:rPr lang="en-US" altLang="zh-CN" sz="1400" b="1" dirty="0"/>
              <a:t>112233445566778899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                           998877665544332211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b="1" dirty="0"/>
              <a:t>              </a:t>
            </a:r>
            <a:r>
              <a:rPr lang="zh-CN" altLang="en-US" sz="1400" b="1" dirty="0"/>
              <a:t>输出：</a:t>
            </a:r>
            <a:r>
              <a:rPr lang="en-US" altLang="zh-CN" sz="1400" b="1" dirty="0"/>
              <a:t>1111111111111111110</a:t>
            </a:r>
          </a:p>
        </p:txBody>
      </p:sp>
    </p:spTree>
    <p:extLst>
      <p:ext uri="{BB962C8B-B14F-4D97-AF65-F5344CB8AC3E}">
        <p14:creationId xmlns:p14="http://schemas.microsoft.com/office/powerpoint/2010/main" val="313994604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89859" y="756021"/>
            <a:ext cx="8210545" cy="900037"/>
          </a:xfrm>
          <a:prstGeom prst="rect">
            <a:avLst/>
          </a:prstGeom>
        </p:spPr>
        <p:txBody>
          <a:bodyPr vert="horz" lIns="80229" tIns="40115" rIns="80229" bIns="40115" rtlCol="0">
            <a:normAutofit fontScale="92500"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900" b="1" dirty="0"/>
              <a:t>C</a:t>
            </a:r>
            <a:r>
              <a:rPr lang="zh-CN" altLang="en-US" sz="1900" b="1" dirty="0"/>
              <a:t>语言代码（仅供参考）：</a:t>
            </a:r>
            <a:endParaRPr lang="en-US" altLang="zh-CN" sz="19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/>
              <a:t>	</a:t>
            </a:r>
            <a:r>
              <a:rPr lang="zh-CN" altLang="en-US" sz="1400" b="1" dirty="0"/>
              <a:t>输入两行仅由数字组成的字符串（每个字符串长度∈</a:t>
            </a:r>
            <a:r>
              <a:rPr lang="en-US" altLang="zh-CN" sz="1400" b="1" dirty="0"/>
              <a:t>[1,1000]</a:t>
            </a:r>
            <a:r>
              <a:rPr lang="zh-CN" altLang="en-US" sz="1400" b="1" dirty="0"/>
              <a:t>）且不含前导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，请计算它们的和并将其输出。</a:t>
            </a:r>
            <a:endParaRPr lang="en-US" altLang="zh-CN" sz="14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58F40D-1232-6DFE-090F-301D2C276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0" y="1764130"/>
            <a:ext cx="2887540" cy="29705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540E84-C9A8-FB2B-22DF-DF3AAB098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300" y="1382165"/>
            <a:ext cx="3455740" cy="36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2474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字符串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89859" y="756021"/>
            <a:ext cx="8210545" cy="900037"/>
          </a:xfrm>
          <a:prstGeom prst="rect">
            <a:avLst/>
          </a:prstGeom>
        </p:spPr>
        <p:txBody>
          <a:bodyPr vert="horz" lIns="80229" tIns="40115" rIns="80229" bIns="40115" rtlCol="0">
            <a:normAutofit fontScale="92500"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900" b="1" dirty="0"/>
              <a:t>C++</a:t>
            </a:r>
            <a:r>
              <a:rPr lang="zh-CN" altLang="en-US" sz="1900" b="1" dirty="0"/>
              <a:t>代码（仅供参考）：</a:t>
            </a:r>
            <a:endParaRPr lang="en-US" altLang="zh-CN" sz="19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/>
              <a:t>	</a:t>
            </a:r>
            <a:r>
              <a:rPr lang="zh-CN" altLang="en-US" sz="1400" b="1" dirty="0"/>
              <a:t>输入两行仅由数字组成的字符串（每个字符串长度∈</a:t>
            </a:r>
            <a:r>
              <a:rPr lang="en-US" altLang="zh-CN" sz="1400" b="1" dirty="0"/>
              <a:t>[1,1000]</a:t>
            </a:r>
            <a:r>
              <a:rPr lang="zh-CN" altLang="en-US" sz="1400" b="1" dirty="0"/>
              <a:t>）且不含前导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，请计算它们的和并将其输出。</a:t>
            </a:r>
            <a:endParaRPr lang="en-US" altLang="zh-CN" sz="14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46A430-F909-1513-31D4-0EFD3298C6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1" y="2024900"/>
            <a:ext cx="3670676" cy="22354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2A1BFB-2403-1A25-80B8-A6B812309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925" y="1414822"/>
            <a:ext cx="3744416" cy="360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0703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数据结构基础（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栈（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队列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字符串（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</a:rPr>
              <a:t>String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树（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2793169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树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941408" y="3938130"/>
            <a:ext cx="7416824" cy="440015"/>
          </a:xfrm>
          <a:prstGeom prst="rect">
            <a:avLst/>
          </a:prstGeom>
        </p:spPr>
        <p:txBody>
          <a:bodyPr vert="horz" lIns="80229" tIns="40115" rIns="80229" bIns="40115" rtlCol="0">
            <a:normAutofit fontScale="925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F"/>
            </a:pP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二叉树、哈夫曼树、二叉查找树、平衡二叉树、红黑树、字典树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823741" y="2061386"/>
            <a:ext cx="2808312" cy="1486936"/>
            <a:chOff x="467544" y="2403181"/>
            <a:chExt cx="3771842" cy="2087145"/>
          </a:xfrm>
        </p:grpSpPr>
        <p:grpSp>
          <p:nvGrpSpPr>
            <p:cNvPr id="10" name="Group 6"/>
            <p:cNvGrpSpPr/>
            <p:nvPr/>
          </p:nvGrpSpPr>
          <p:grpSpPr bwMode="auto">
            <a:xfrm>
              <a:off x="3792801" y="3539745"/>
              <a:ext cx="446585" cy="371852"/>
              <a:chOff x="0" y="0"/>
              <a:chExt cx="367" cy="336"/>
            </a:xfrm>
          </p:grpSpPr>
          <p:sp>
            <p:nvSpPr>
              <p:cNvPr id="65" name="Oval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Text Box 9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J</a:t>
                </a:r>
              </a:p>
            </p:txBody>
          </p:sp>
        </p:grpSp>
        <p:grpSp>
          <p:nvGrpSpPr>
            <p:cNvPr id="12" name="Group 9"/>
            <p:cNvGrpSpPr/>
            <p:nvPr/>
          </p:nvGrpSpPr>
          <p:grpSpPr bwMode="auto">
            <a:xfrm>
              <a:off x="3321095" y="3542778"/>
              <a:ext cx="464838" cy="371852"/>
              <a:chOff x="0" y="0"/>
              <a:chExt cx="382" cy="336"/>
            </a:xfrm>
          </p:grpSpPr>
          <p:sp>
            <p:nvSpPr>
              <p:cNvPr id="63" name="Oval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Text Box 12"/>
              <p:cNvSpPr txBox="1">
                <a:spLocks noChangeArrowheads="1"/>
              </p:cNvSpPr>
              <p:nvPr/>
            </p:nvSpPr>
            <p:spPr bwMode="auto">
              <a:xfrm>
                <a:off x="65" y="15"/>
                <a:ext cx="317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 bwMode="auto">
            <a:xfrm>
              <a:off x="2217599" y="2403181"/>
              <a:ext cx="395476" cy="389558"/>
              <a:chOff x="0" y="-16"/>
              <a:chExt cx="325" cy="352"/>
            </a:xfrm>
          </p:grpSpPr>
          <p:sp>
            <p:nvSpPr>
              <p:cNvPr id="61" name="Oval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Text Box 15"/>
              <p:cNvSpPr txBox="1">
                <a:spLocks noChangeArrowheads="1"/>
              </p:cNvSpPr>
              <p:nvPr/>
            </p:nvSpPr>
            <p:spPr bwMode="auto">
              <a:xfrm>
                <a:off x="6" y="-16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4" name="Group 15"/>
            <p:cNvGrpSpPr/>
            <p:nvPr/>
          </p:nvGrpSpPr>
          <p:grpSpPr bwMode="auto">
            <a:xfrm>
              <a:off x="2217599" y="2931927"/>
              <a:ext cx="413729" cy="371852"/>
              <a:chOff x="0" y="0"/>
              <a:chExt cx="340" cy="336"/>
            </a:xfrm>
          </p:grpSpPr>
          <p:sp>
            <p:nvSpPr>
              <p:cNvPr id="59" name="Oval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Text Box 18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5" name="Group 18"/>
            <p:cNvGrpSpPr/>
            <p:nvPr/>
          </p:nvGrpSpPr>
          <p:grpSpPr bwMode="auto">
            <a:xfrm>
              <a:off x="1271397" y="2931927"/>
              <a:ext cx="424681" cy="371852"/>
              <a:chOff x="0" y="0"/>
              <a:chExt cx="349" cy="336"/>
            </a:xfrm>
          </p:grpSpPr>
          <p:sp>
            <p:nvSpPr>
              <p:cNvPr id="57" name="Oval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Text Box 21"/>
              <p:cNvSpPr txBox="1">
                <a:spLocks noChangeArrowheads="1"/>
              </p:cNvSpPr>
              <p:nvPr/>
            </p:nvSpPr>
            <p:spPr bwMode="auto">
              <a:xfrm>
                <a:off x="30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20" name="Group 21"/>
            <p:cNvGrpSpPr/>
            <p:nvPr/>
          </p:nvGrpSpPr>
          <p:grpSpPr bwMode="auto">
            <a:xfrm>
              <a:off x="3289403" y="2931927"/>
              <a:ext cx="413729" cy="371852"/>
              <a:chOff x="0" y="0"/>
              <a:chExt cx="340" cy="336"/>
            </a:xfrm>
          </p:grpSpPr>
          <p:sp>
            <p:nvSpPr>
              <p:cNvPr id="55" name="Oval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Text Box 24"/>
              <p:cNvSpPr txBox="1">
                <a:spLocks noChangeArrowheads="1"/>
              </p:cNvSpPr>
              <p:nvPr/>
            </p:nvSpPr>
            <p:spPr bwMode="auto">
              <a:xfrm>
                <a:off x="23" y="0"/>
                <a:ext cx="317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21" name="Group 24"/>
            <p:cNvGrpSpPr/>
            <p:nvPr/>
          </p:nvGrpSpPr>
          <p:grpSpPr bwMode="auto">
            <a:xfrm>
              <a:off x="2843808" y="3542778"/>
              <a:ext cx="413729" cy="371852"/>
              <a:chOff x="0" y="0"/>
              <a:chExt cx="340" cy="336"/>
            </a:xfrm>
          </p:grpSpPr>
          <p:sp>
            <p:nvSpPr>
              <p:cNvPr id="53" name="Oval 2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Text Box 27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grpSp>
          <p:nvGrpSpPr>
            <p:cNvPr id="23" name="Group 27"/>
            <p:cNvGrpSpPr/>
            <p:nvPr/>
          </p:nvGrpSpPr>
          <p:grpSpPr bwMode="auto">
            <a:xfrm>
              <a:off x="2195736" y="3501008"/>
              <a:ext cx="413729" cy="371852"/>
              <a:chOff x="0" y="0"/>
              <a:chExt cx="340" cy="336"/>
            </a:xfrm>
          </p:grpSpPr>
          <p:sp>
            <p:nvSpPr>
              <p:cNvPr id="51" name="Oval 2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Text Box 30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grpSp>
          <p:nvGrpSpPr>
            <p:cNvPr id="24" name="Group 30"/>
            <p:cNvGrpSpPr/>
            <p:nvPr/>
          </p:nvGrpSpPr>
          <p:grpSpPr bwMode="auto">
            <a:xfrm>
              <a:off x="1547722" y="3479360"/>
              <a:ext cx="446585" cy="371852"/>
              <a:chOff x="0" y="0"/>
              <a:chExt cx="367" cy="336"/>
            </a:xfrm>
          </p:grpSpPr>
          <p:sp>
            <p:nvSpPr>
              <p:cNvPr id="49" name="Oval 3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Text Box 33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25" name="Group 33"/>
            <p:cNvGrpSpPr/>
            <p:nvPr/>
          </p:nvGrpSpPr>
          <p:grpSpPr bwMode="auto">
            <a:xfrm>
              <a:off x="869471" y="3468293"/>
              <a:ext cx="423295" cy="382919"/>
              <a:chOff x="0" y="-10"/>
              <a:chExt cx="348" cy="346"/>
            </a:xfrm>
          </p:grpSpPr>
          <p:sp>
            <p:nvSpPr>
              <p:cNvPr id="47" name="Oval 3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Text Box 36"/>
              <p:cNvSpPr txBox="1">
                <a:spLocks noChangeArrowheads="1"/>
              </p:cNvSpPr>
              <p:nvPr/>
            </p:nvSpPr>
            <p:spPr bwMode="auto">
              <a:xfrm>
                <a:off x="30" y="-10"/>
                <a:ext cx="318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26" name="Line 37"/>
            <p:cNvSpPr>
              <a:spLocks noChangeShapeType="1"/>
            </p:cNvSpPr>
            <p:nvPr/>
          </p:nvSpPr>
          <p:spPr bwMode="auto">
            <a:xfrm>
              <a:off x="2418563" y="2800486"/>
              <a:ext cx="0" cy="1299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38"/>
            <p:cNvSpPr>
              <a:spLocks noChangeShapeType="1"/>
            </p:cNvSpPr>
            <p:nvPr/>
          </p:nvSpPr>
          <p:spPr bwMode="auto">
            <a:xfrm flipH="1">
              <a:off x="1547722" y="2639256"/>
              <a:ext cx="669877" cy="28812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Line 39"/>
            <p:cNvSpPr>
              <a:spLocks noChangeShapeType="1"/>
            </p:cNvSpPr>
            <p:nvPr/>
          </p:nvSpPr>
          <p:spPr bwMode="auto">
            <a:xfrm flipH="1">
              <a:off x="1086620" y="3274686"/>
              <a:ext cx="267661" cy="2001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9" name="Line 40"/>
            <p:cNvSpPr>
              <a:spLocks noChangeShapeType="1"/>
            </p:cNvSpPr>
            <p:nvPr/>
          </p:nvSpPr>
          <p:spPr bwMode="auto">
            <a:xfrm>
              <a:off x="1570517" y="3284984"/>
              <a:ext cx="169640" cy="18982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41"/>
            <p:cNvSpPr>
              <a:spLocks noChangeShapeType="1"/>
            </p:cNvSpPr>
            <p:nvPr/>
          </p:nvSpPr>
          <p:spPr bwMode="auto">
            <a:xfrm>
              <a:off x="2418563" y="3303779"/>
              <a:ext cx="0" cy="19723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1" name="Line 42"/>
            <p:cNvSpPr>
              <a:spLocks noChangeShapeType="1"/>
            </p:cNvSpPr>
            <p:nvPr/>
          </p:nvSpPr>
          <p:spPr bwMode="auto">
            <a:xfrm>
              <a:off x="2603341" y="2639255"/>
              <a:ext cx="796850" cy="29267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Line 43"/>
            <p:cNvSpPr>
              <a:spLocks noChangeShapeType="1"/>
            </p:cNvSpPr>
            <p:nvPr/>
          </p:nvSpPr>
          <p:spPr bwMode="auto">
            <a:xfrm flipH="1">
              <a:off x="3128673" y="3280190"/>
              <a:ext cx="249192" cy="27975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3" name="Line 44"/>
            <p:cNvSpPr>
              <a:spLocks noChangeShapeType="1"/>
            </p:cNvSpPr>
            <p:nvPr/>
          </p:nvSpPr>
          <p:spPr bwMode="auto">
            <a:xfrm>
              <a:off x="3513849" y="3303778"/>
              <a:ext cx="0" cy="23596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Line 45"/>
            <p:cNvSpPr>
              <a:spLocks noChangeShapeType="1"/>
            </p:cNvSpPr>
            <p:nvPr/>
          </p:nvSpPr>
          <p:spPr bwMode="auto">
            <a:xfrm>
              <a:off x="3648429" y="3221566"/>
              <a:ext cx="248644" cy="33781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45"/>
            <p:cNvGrpSpPr/>
            <p:nvPr/>
          </p:nvGrpSpPr>
          <p:grpSpPr bwMode="auto">
            <a:xfrm>
              <a:off x="467544" y="4022244"/>
              <a:ext cx="385742" cy="371852"/>
              <a:chOff x="0" y="0"/>
              <a:chExt cx="317" cy="336"/>
            </a:xfrm>
          </p:grpSpPr>
          <p:sp>
            <p:nvSpPr>
              <p:cNvPr id="45" name="Oval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0" y="1"/>
                <a:ext cx="291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K</a:t>
                </a:r>
              </a:p>
            </p:txBody>
          </p:sp>
        </p:grpSp>
        <p:sp>
          <p:nvSpPr>
            <p:cNvPr id="36" name="Line 49"/>
            <p:cNvSpPr>
              <a:spLocks noChangeShapeType="1"/>
            </p:cNvSpPr>
            <p:nvPr/>
          </p:nvSpPr>
          <p:spPr bwMode="auto">
            <a:xfrm flipH="1">
              <a:off x="704149" y="3789957"/>
              <a:ext cx="216877" cy="23228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" name="Group 49"/>
            <p:cNvGrpSpPr/>
            <p:nvPr/>
          </p:nvGrpSpPr>
          <p:grpSpPr bwMode="auto">
            <a:xfrm>
              <a:off x="1204409" y="4013390"/>
              <a:ext cx="443973" cy="380706"/>
              <a:chOff x="0" y="-8"/>
              <a:chExt cx="365" cy="344"/>
            </a:xfrm>
          </p:grpSpPr>
          <p:sp>
            <p:nvSpPr>
              <p:cNvPr id="43" name="Oval 5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Text Box 52"/>
              <p:cNvSpPr txBox="1">
                <a:spLocks noChangeArrowheads="1"/>
              </p:cNvSpPr>
              <p:nvPr/>
            </p:nvSpPr>
            <p:spPr bwMode="auto">
              <a:xfrm>
                <a:off x="47" y="-8"/>
                <a:ext cx="318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38" name="Line 53"/>
            <p:cNvSpPr>
              <a:spLocks noChangeShapeType="1"/>
            </p:cNvSpPr>
            <p:nvPr/>
          </p:nvSpPr>
          <p:spPr bwMode="auto">
            <a:xfrm>
              <a:off x="1187647" y="3802360"/>
              <a:ext cx="217055" cy="21988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9" name="Group 53"/>
            <p:cNvGrpSpPr/>
            <p:nvPr/>
          </p:nvGrpSpPr>
          <p:grpSpPr bwMode="auto">
            <a:xfrm>
              <a:off x="2858410" y="4104486"/>
              <a:ext cx="388174" cy="385840"/>
              <a:chOff x="12" y="-4"/>
              <a:chExt cx="319" cy="349"/>
            </a:xfrm>
          </p:grpSpPr>
          <p:sp>
            <p:nvSpPr>
              <p:cNvPr id="41" name="Oval 55"/>
              <p:cNvSpPr>
                <a:spLocks noChangeArrowheads="1"/>
              </p:cNvSpPr>
              <p:nvPr/>
            </p:nvSpPr>
            <p:spPr bwMode="auto">
              <a:xfrm>
                <a:off x="14" y="9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Text Box 56"/>
              <p:cNvSpPr txBox="1">
                <a:spLocks noChangeArrowheads="1"/>
              </p:cNvSpPr>
              <p:nvPr/>
            </p:nvSpPr>
            <p:spPr bwMode="auto">
              <a:xfrm>
                <a:off x="12" y="-4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3044771" y="3911596"/>
              <a:ext cx="0" cy="20742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426964" y="769964"/>
            <a:ext cx="8167087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树</a:t>
            </a:r>
            <a:r>
              <a:rPr lang="zh-CN" altLang="en-US" sz="2000" b="1" dirty="0">
                <a:latin typeface="Times New Roman" panose="02020603050405020304" pitchFamily="18" charset="0"/>
              </a:rPr>
              <a:t>是</a:t>
            </a:r>
            <a:r>
              <a:rPr lang="en-US" altLang="zh-CN" sz="2000" b="1" dirty="0">
                <a:latin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</a:rPr>
              <a:t>个结点的有限集合（可以是空集），在任一棵非空树中：</a:t>
            </a:r>
            <a:br>
              <a:rPr lang="zh-CN" altLang="en-US" sz="2000" dirty="0">
                <a:latin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</a:rPr>
              <a:t>）有且仅有一个称为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根</a:t>
            </a:r>
            <a:r>
              <a:rPr lang="zh-CN" altLang="en-US" sz="1600" dirty="0">
                <a:latin typeface="Times New Roman" panose="02020603050405020304" pitchFamily="18" charset="0"/>
              </a:rPr>
              <a:t>的结点。</a:t>
            </a:r>
            <a:br>
              <a:rPr lang="zh-CN" altLang="en-US" sz="1600" dirty="0">
                <a:latin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</a:rPr>
              <a:t>）其余结点可分为互不相交的子集，而且这些子集本身又是一棵树，称为根的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子树</a:t>
            </a:r>
            <a:r>
              <a:rPr lang="zh-CN" altLang="en-US" sz="1600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8" name="Rectangle 3"/>
          <p:cNvSpPr txBox="1">
            <a:spLocks noChangeArrowheads="1"/>
          </p:cNvSpPr>
          <p:nvPr/>
        </p:nvSpPr>
        <p:spPr>
          <a:xfrm>
            <a:off x="941408" y="4312389"/>
            <a:ext cx="7416824" cy="44001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F"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明确的树结构、隐含的树结构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>
            <a:spLocks noChangeArrowheads="1"/>
          </p:cNvSpPr>
          <p:nvPr/>
        </p:nvSpPr>
        <p:spPr bwMode="auto">
          <a:xfrm>
            <a:off x="6067034" y="2058292"/>
            <a:ext cx="218559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/>
              <a:t>根结点：  </a:t>
            </a:r>
            <a:r>
              <a:rPr lang="en-US" altLang="zh-CN" sz="1600" dirty="0"/>
              <a:t>A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/>
              <a:t>父结点     子结点</a:t>
            </a:r>
            <a:endParaRPr lang="en-US" altLang="zh-CN" sz="1600" dirty="0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 A            B</a:t>
            </a:r>
            <a:r>
              <a:rPr lang="zh-CN" altLang="en-US" sz="1600" dirty="0"/>
              <a:t>、</a:t>
            </a:r>
            <a:r>
              <a:rPr lang="en-US" altLang="zh-CN" sz="1600" dirty="0"/>
              <a:t>C</a:t>
            </a:r>
            <a:r>
              <a:rPr lang="zh-CN" altLang="en-US" sz="1600" dirty="0"/>
              <a:t>、</a:t>
            </a:r>
            <a:r>
              <a:rPr lang="en-US" altLang="zh-CN" sz="1600" dirty="0"/>
              <a:t>D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 B            E</a:t>
            </a:r>
            <a:r>
              <a:rPr lang="zh-CN" altLang="en-US" sz="1600" dirty="0"/>
              <a:t>、</a:t>
            </a:r>
            <a:r>
              <a:rPr lang="en-US" altLang="zh-CN" sz="1600" dirty="0"/>
              <a:t>F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 C            G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/>
              <a:t>    </a:t>
            </a:r>
            <a:r>
              <a:rPr lang="en-US" altLang="zh-CN" sz="1600" dirty="0"/>
              <a:t>E            K</a:t>
            </a:r>
            <a:r>
              <a:rPr lang="zh-CN" altLang="en-US" sz="1600" dirty="0"/>
              <a:t>、</a:t>
            </a:r>
            <a:r>
              <a:rPr lang="en-US" altLang="zh-CN" sz="1600" dirty="0"/>
              <a:t>L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…</a:t>
            </a:r>
            <a:r>
              <a:rPr lang="zh-CN" altLang="en-US" sz="1600" dirty="0"/>
              <a:t>                 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2925067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隐含的树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927309" cy="214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与循环、递归等概念有关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4538" lvl="2" indent="-34290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循环是一种基本的流程控制结构，用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语句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/while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语句等表示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4538" lvl="2" indent="-34290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递归是描述重复运算及自相似结构的一种方法，递归函数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83781" y="2376140"/>
            <a:ext cx="2808312" cy="1486936"/>
            <a:chOff x="467544" y="2403181"/>
            <a:chExt cx="3771842" cy="2087145"/>
          </a:xfrm>
        </p:grpSpPr>
        <p:grpSp>
          <p:nvGrpSpPr>
            <p:cNvPr id="9" name="Group 6"/>
            <p:cNvGrpSpPr/>
            <p:nvPr/>
          </p:nvGrpSpPr>
          <p:grpSpPr bwMode="auto">
            <a:xfrm>
              <a:off x="3792801" y="3539745"/>
              <a:ext cx="446585" cy="371852"/>
              <a:chOff x="0" y="0"/>
              <a:chExt cx="367" cy="336"/>
            </a:xfrm>
          </p:grpSpPr>
          <p:sp>
            <p:nvSpPr>
              <p:cNvPr id="64" name="Oval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" name="Text Box 9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J</a:t>
                </a:r>
              </a:p>
            </p:txBody>
          </p:sp>
        </p:grpSp>
        <p:grpSp>
          <p:nvGrpSpPr>
            <p:cNvPr id="12" name="Group 9"/>
            <p:cNvGrpSpPr/>
            <p:nvPr/>
          </p:nvGrpSpPr>
          <p:grpSpPr bwMode="auto">
            <a:xfrm>
              <a:off x="3321095" y="3542778"/>
              <a:ext cx="464838" cy="371852"/>
              <a:chOff x="0" y="0"/>
              <a:chExt cx="382" cy="336"/>
            </a:xfrm>
          </p:grpSpPr>
          <p:sp>
            <p:nvSpPr>
              <p:cNvPr id="62" name="Oval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" name="Text Box 12"/>
              <p:cNvSpPr txBox="1">
                <a:spLocks noChangeArrowheads="1"/>
              </p:cNvSpPr>
              <p:nvPr/>
            </p:nvSpPr>
            <p:spPr bwMode="auto">
              <a:xfrm>
                <a:off x="65" y="15"/>
                <a:ext cx="317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 bwMode="auto">
            <a:xfrm>
              <a:off x="2217599" y="2403181"/>
              <a:ext cx="395476" cy="389558"/>
              <a:chOff x="0" y="-16"/>
              <a:chExt cx="325" cy="352"/>
            </a:xfrm>
          </p:grpSpPr>
          <p:sp>
            <p:nvSpPr>
              <p:cNvPr id="60" name="Oval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" name="Text Box 15"/>
              <p:cNvSpPr txBox="1">
                <a:spLocks noChangeArrowheads="1"/>
              </p:cNvSpPr>
              <p:nvPr/>
            </p:nvSpPr>
            <p:spPr bwMode="auto">
              <a:xfrm>
                <a:off x="6" y="-16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4" name="Group 15"/>
            <p:cNvGrpSpPr/>
            <p:nvPr/>
          </p:nvGrpSpPr>
          <p:grpSpPr bwMode="auto">
            <a:xfrm>
              <a:off x="2217599" y="2931927"/>
              <a:ext cx="413729" cy="371852"/>
              <a:chOff x="0" y="0"/>
              <a:chExt cx="340" cy="336"/>
            </a:xfrm>
          </p:grpSpPr>
          <p:sp>
            <p:nvSpPr>
              <p:cNvPr id="58" name="Oval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" name="Text Box 18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5" name="Group 18"/>
            <p:cNvGrpSpPr/>
            <p:nvPr/>
          </p:nvGrpSpPr>
          <p:grpSpPr bwMode="auto">
            <a:xfrm>
              <a:off x="1271397" y="2931927"/>
              <a:ext cx="424681" cy="371852"/>
              <a:chOff x="0" y="0"/>
              <a:chExt cx="349" cy="336"/>
            </a:xfrm>
          </p:grpSpPr>
          <p:sp>
            <p:nvSpPr>
              <p:cNvPr id="56" name="Oval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Text Box 21"/>
              <p:cNvSpPr txBox="1">
                <a:spLocks noChangeArrowheads="1"/>
              </p:cNvSpPr>
              <p:nvPr/>
            </p:nvSpPr>
            <p:spPr bwMode="auto">
              <a:xfrm>
                <a:off x="30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20" name="Group 21"/>
            <p:cNvGrpSpPr/>
            <p:nvPr/>
          </p:nvGrpSpPr>
          <p:grpSpPr bwMode="auto">
            <a:xfrm>
              <a:off x="3289403" y="2931927"/>
              <a:ext cx="413729" cy="371852"/>
              <a:chOff x="0" y="0"/>
              <a:chExt cx="340" cy="336"/>
            </a:xfrm>
          </p:grpSpPr>
          <p:sp>
            <p:nvSpPr>
              <p:cNvPr id="54" name="Oval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Text Box 24"/>
              <p:cNvSpPr txBox="1">
                <a:spLocks noChangeArrowheads="1"/>
              </p:cNvSpPr>
              <p:nvPr/>
            </p:nvSpPr>
            <p:spPr bwMode="auto">
              <a:xfrm>
                <a:off x="23" y="0"/>
                <a:ext cx="317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21" name="Group 24"/>
            <p:cNvGrpSpPr/>
            <p:nvPr/>
          </p:nvGrpSpPr>
          <p:grpSpPr bwMode="auto">
            <a:xfrm>
              <a:off x="2843808" y="3542778"/>
              <a:ext cx="413729" cy="371852"/>
              <a:chOff x="0" y="0"/>
              <a:chExt cx="340" cy="336"/>
            </a:xfrm>
          </p:grpSpPr>
          <p:sp>
            <p:nvSpPr>
              <p:cNvPr id="52" name="Oval 2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Text Box 27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grpSp>
          <p:nvGrpSpPr>
            <p:cNvPr id="22" name="Group 27"/>
            <p:cNvGrpSpPr/>
            <p:nvPr/>
          </p:nvGrpSpPr>
          <p:grpSpPr bwMode="auto">
            <a:xfrm>
              <a:off x="2195736" y="3501008"/>
              <a:ext cx="413729" cy="371852"/>
              <a:chOff x="0" y="0"/>
              <a:chExt cx="340" cy="336"/>
            </a:xfrm>
          </p:grpSpPr>
          <p:sp>
            <p:nvSpPr>
              <p:cNvPr id="50" name="Oval 2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Text Box 30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grpSp>
          <p:nvGrpSpPr>
            <p:cNvPr id="23" name="Group 30"/>
            <p:cNvGrpSpPr/>
            <p:nvPr/>
          </p:nvGrpSpPr>
          <p:grpSpPr bwMode="auto">
            <a:xfrm>
              <a:off x="1547722" y="3479360"/>
              <a:ext cx="446585" cy="371852"/>
              <a:chOff x="0" y="0"/>
              <a:chExt cx="367" cy="336"/>
            </a:xfrm>
          </p:grpSpPr>
          <p:sp>
            <p:nvSpPr>
              <p:cNvPr id="48" name="Oval 3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Text Box 33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24" name="Group 33"/>
            <p:cNvGrpSpPr/>
            <p:nvPr/>
          </p:nvGrpSpPr>
          <p:grpSpPr bwMode="auto">
            <a:xfrm>
              <a:off x="869471" y="3468293"/>
              <a:ext cx="423295" cy="382919"/>
              <a:chOff x="0" y="-10"/>
              <a:chExt cx="348" cy="346"/>
            </a:xfrm>
          </p:grpSpPr>
          <p:sp>
            <p:nvSpPr>
              <p:cNvPr id="46" name="Oval 3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Text Box 36"/>
              <p:cNvSpPr txBox="1">
                <a:spLocks noChangeArrowheads="1"/>
              </p:cNvSpPr>
              <p:nvPr/>
            </p:nvSpPr>
            <p:spPr bwMode="auto">
              <a:xfrm>
                <a:off x="30" y="-10"/>
                <a:ext cx="318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25" name="Line 37"/>
            <p:cNvSpPr>
              <a:spLocks noChangeShapeType="1"/>
            </p:cNvSpPr>
            <p:nvPr/>
          </p:nvSpPr>
          <p:spPr bwMode="auto">
            <a:xfrm>
              <a:off x="2418563" y="2800486"/>
              <a:ext cx="0" cy="1299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6" name="Line 38"/>
            <p:cNvSpPr>
              <a:spLocks noChangeShapeType="1"/>
            </p:cNvSpPr>
            <p:nvPr/>
          </p:nvSpPr>
          <p:spPr bwMode="auto">
            <a:xfrm flipH="1">
              <a:off x="1547722" y="2639256"/>
              <a:ext cx="669877" cy="28812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39"/>
            <p:cNvSpPr>
              <a:spLocks noChangeShapeType="1"/>
            </p:cNvSpPr>
            <p:nvPr/>
          </p:nvSpPr>
          <p:spPr bwMode="auto">
            <a:xfrm flipH="1">
              <a:off x="1086620" y="3274686"/>
              <a:ext cx="267661" cy="2001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Line 40"/>
            <p:cNvSpPr>
              <a:spLocks noChangeShapeType="1"/>
            </p:cNvSpPr>
            <p:nvPr/>
          </p:nvSpPr>
          <p:spPr bwMode="auto">
            <a:xfrm>
              <a:off x="1570517" y="3284984"/>
              <a:ext cx="169640" cy="18982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>
              <a:off x="2418563" y="3303779"/>
              <a:ext cx="0" cy="19723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>
              <a:off x="2603341" y="2639255"/>
              <a:ext cx="796850" cy="29267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1" name="Line 43"/>
            <p:cNvSpPr>
              <a:spLocks noChangeShapeType="1"/>
            </p:cNvSpPr>
            <p:nvPr/>
          </p:nvSpPr>
          <p:spPr bwMode="auto">
            <a:xfrm flipH="1">
              <a:off x="3128673" y="3280190"/>
              <a:ext cx="249192" cy="27975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Line 44"/>
            <p:cNvSpPr>
              <a:spLocks noChangeShapeType="1"/>
            </p:cNvSpPr>
            <p:nvPr/>
          </p:nvSpPr>
          <p:spPr bwMode="auto">
            <a:xfrm>
              <a:off x="3513849" y="3303778"/>
              <a:ext cx="0" cy="23596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3" name="Line 45"/>
            <p:cNvSpPr>
              <a:spLocks noChangeShapeType="1"/>
            </p:cNvSpPr>
            <p:nvPr/>
          </p:nvSpPr>
          <p:spPr bwMode="auto">
            <a:xfrm>
              <a:off x="3648429" y="3221566"/>
              <a:ext cx="248644" cy="33781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" name="Group 45"/>
            <p:cNvGrpSpPr/>
            <p:nvPr/>
          </p:nvGrpSpPr>
          <p:grpSpPr bwMode="auto">
            <a:xfrm>
              <a:off x="467544" y="4022244"/>
              <a:ext cx="385742" cy="371852"/>
              <a:chOff x="0" y="0"/>
              <a:chExt cx="317" cy="336"/>
            </a:xfrm>
          </p:grpSpPr>
          <p:sp>
            <p:nvSpPr>
              <p:cNvPr id="44" name="Oval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Text Box 48"/>
              <p:cNvSpPr txBox="1">
                <a:spLocks noChangeArrowheads="1"/>
              </p:cNvSpPr>
              <p:nvPr/>
            </p:nvSpPr>
            <p:spPr bwMode="auto">
              <a:xfrm>
                <a:off x="0" y="1"/>
                <a:ext cx="291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K</a:t>
                </a:r>
              </a:p>
            </p:txBody>
          </p:sp>
        </p:grp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 flipH="1">
              <a:off x="704149" y="3789957"/>
              <a:ext cx="216877" cy="23228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6" name="Group 49"/>
            <p:cNvGrpSpPr/>
            <p:nvPr/>
          </p:nvGrpSpPr>
          <p:grpSpPr bwMode="auto">
            <a:xfrm>
              <a:off x="1204409" y="4013390"/>
              <a:ext cx="443973" cy="380706"/>
              <a:chOff x="0" y="-8"/>
              <a:chExt cx="365" cy="344"/>
            </a:xfrm>
          </p:grpSpPr>
          <p:sp>
            <p:nvSpPr>
              <p:cNvPr id="42" name="Oval 5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Text Box 52"/>
              <p:cNvSpPr txBox="1">
                <a:spLocks noChangeArrowheads="1"/>
              </p:cNvSpPr>
              <p:nvPr/>
            </p:nvSpPr>
            <p:spPr bwMode="auto">
              <a:xfrm>
                <a:off x="47" y="-8"/>
                <a:ext cx="318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37" name="Line 53"/>
            <p:cNvSpPr>
              <a:spLocks noChangeShapeType="1"/>
            </p:cNvSpPr>
            <p:nvPr/>
          </p:nvSpPr>
          <p:spPr bwMode="auto">
            <a:xfrm>
              <a:off x="1187647" y="3802360"/>
              <a:ext cx="217055" cy="21988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8" name="Group 53"/>
            <p:cNvGrpSpPr/>
            <p:nvPr/>
          </p:nvGrpSpPr>
          <p:grpSpPr bwMode="auto">
            <a:xfrm>
              <a:off x="2858410" y="4104486"/>
              <a:ext cx="388174" cy="385840"/>
              <a:chOff x="12" y="-4"/>
              <a:chExt cx="319" cy="349"/>
            </a:xfrm>
          </p:grpSpPr>
          <p:sp>
            <p:nvSpPr>
              <p:cNvPr id="40" name="Oval 55"/>
              <p:cNvSpPr>
                <a:spLocks noChangeArrowheads="1"/>
              </p:cNvSpPr>
              <p:nvPr/>
            </p:nvSpPr>
            <p:spPr bwMode="auto">
              <a:xfrm>
                <a:off x="14" y="9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Text Box 56"/>
              <p:cNvSpPr txBox="1">
                <a:spLocks noChangeArrowheads="1"/>
              </p:cNvSpPr>
              <p:nvPr/>
            </p:nvSpPr>
            <p:spPr bwMode="auto">
              <a:xfrm>
                <a:off x="12" y="-4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39" name="Line 57"/>
            <p:cNvSpPr>
              <a:spLocks noChangeShapeType="1"/>
            </p:cNvSpPr>
            <p:nvPr/>
          </p:nvSpPr>
          <p:spPr bwMode="auto">
            <a:xfrm>
              <a:off x="3044771" y="3911596"/>
              <a:ext cx="0" cy="20742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66501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循环和递归 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414915" cy="98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22530"/>
          <p:cNvSpPr>
            <a:spLocks noChangeArrowheads="1"/>
          </p:cNvSpPr>
          <p:nvPr/>
        </p:nvSpPr>
        <p:spPr bwMode="auto">
          <a:xfrm>
            <a:off x="729079" y="1233627"/>
            <a:ext cx="7927310" cy="107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630238" indent="-630238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dirty="0">
                <a:ea typeface="楷体_GB2312" pitchFamily="1" charset="-122"/>
                <a:cs typeface="Times New Roman" panose="02020603050405020304" pitchFamily="18" charset="0"/>
              </a:rPr>
              <a:t>例：</a:t>
            </a:r>
            <a:r>
              <a:rPr lang="zh-CN" altLang="en-US" dirty="0">
                <a:latin typeface="宋体" panose="02010600030101010101" pitchFamily="2" charset="-122"/>
              </a:rPr>
              <a:t>中国古代数学家张丘建在他的</a:t>
            </a:r>
            <a:r>
              <a:rPr lang="en-US" altLang="zh-CN" dirty="0">
                <a:latin typeface="宋体" panose="02010600030101010101" pitchFamily="2" charset="-122"/>
              </a:rPr>
              <a:t>《</a:t>
            </a:r>
            <a:r>
              <a:rPr lang="zh-CN" altLang="en-US" dirty="0">
                <a:latin typeface="宋体" panose="02010600030101010101" pitchFamily="2" charset="-122"/>
              </a:rPr>
              <a:t>算经</a:t>
            </a:r>
            <a:r>
              <a:rPr lang="en-US" altLang="zh-CN" dirty="0">
                <a:latin typeface="宋体" panose="02010600030101010101" pitchFamily="2" charset="-122"/>
              </a:rPr>
              <a:t>》</a:t>
            </a:r>
            <a:r>
              <a:rPr lang="zh-CN" altLang="en-US" dirty="0">
                <a:latin typeface="宋体" panose="02010600030101010101" pitchFamily="2" charset="-122"/>
              </a:rPr>
              <a:t>中曾提出著名的</a:t>
            </a:r>
            <a:r>
              <a:rPr lang="zh-CN" altLang="en-US" dirty="0"/>
              <a:t>“</a:t>
            </a:r>
            <a:r>
              <a:rPr lang="zh-CN" altLang="en-US" dirty="0">
                <a:latin typeface="宋体" panose="02010600030101010101" pitchFamily="2" charset="-122"/>
              </a:rPr>
              <a:t>百钱百鸡问题</a:t>
            </a:r>
            <a:r>
              <a:rPr lang="zh-CN" altLang="en-US" dirty="0"/>
              <a:t>”</a:t>
            </a:r>
            <a:r>
              <a:rPr lang="zh-CN" altLang="en-US" dirty="0">
                <a:latin typeface="宋体" panose="02010600030101010101" pitchFamily="2" charset="-122"/>
              </a:rPr>
              <a:t>，其题目如下：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鸡翁一，值钱五；鸡母一，值钱三；鸡雏三，值钱一；百钱买百鸡，翁、母、雏各几何？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graphicFrame>
        <p:nvGraphicFramePr>
          <p:cNvPr id="12" name="对象 245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125359"/>
              </p:ext>
            </p:extLst>
          </p:nvPr>
        </p:nvGraphicFramePr>
        <p:xfrm>
          <a:off x="2919413" y="2879725"/>
          <a:ext cx="3033712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9335" imgH="610235" progId="Equation.3">
                  <p:embed/>
                </p:oleObj>
              </mc:Choice>
              <mc:Fallback>
                <p:oleObj r:id="rId4" imgW="1029335" imgH="6102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2879725"/>
                        <a:ext cx="3033712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984322" y="2450966"/>
            <a:ext cx="7416824" cy="44001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解：设 </a:t>
            </a:r>
            <a:r>
              <a:rPr lang="en-US" altLang="zh-CN" sz="19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鸡翁</a:t>
            </a:r>
            <a:r>
              <a:rPr lang="zh-CN" altLang="en-US" sz="2000" dirty="0">
                <a:latin typeface="宋体" panose="02010600030101010101" pitchFamily="2" charset="-122"/>
              </a:rPr>
              <a:t>个数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9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0066FF"/>
                </a:solidFill>
                <a:latin typeface="宋体" panose="02010600030101010101" pitchFamily="2" charset="-122"/>
              </a:rPr>
              <a:t>鸡母</a:t>
            </a:r>
            <a:r>
              <a:rPr lang="zh-CN" altLang="en-US" sz="2000" dirty="0">
                <a:latin typeface="宋体" panose="02010600030101010101" pitchFamily="2" charset="-122"/>
              </a:rPr>
              <a:t>个数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latin typeface="宋体" panose="02010600030101010101" pitchFamily="2" charset="-122"/>
              </a:rPr>
              <a:t>鸡雏个数</a:t>
            </a:r>
            <a:endParaRPr lang="en-US" altLang="zh-C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59278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循环和递归 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414915" cy="98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22530"/>
          <p:cNvSpPr>
            <a:spLocks noChangeArrowheads="1"/>
          </p:cNvSpPr>
          <p:nvPr/>
        </p:nvSpPr>
        <p:spPr bwMode="auto">
          <a:xfrm>
            <a:off x="729079" y="1233627"/>
            <a:ext cx="7927310" cy="107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39750" indent="-53975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sz="1600" dirty="0">
                <a:ea typeface="楷体_GB2312" pitchFamily="1" charset="-122"/>
                <a:cs typeface="Times New Roman" panose="02020603050405020304" pitchFamily="18" charset="0"/>
              </a:rPr>
              <a:t>例：</a:t>
            </a:r>
            <a:r>
              <a:rPr lang="zh-CN" altLang="en-US" sz="1600" dirty="0">
                <a:latin typeface="宋体" panose="02010600030101010101" pitchFamily="2" charset="-122"/>
              </a:rPr>
              <a:t>中国古代数学家张丘建在他的</a:t>
            </a:r>
            <a:r>
              <a:rPr lang="en-US" altLang="zh-CN" sz="1600" dirty="0">
                <a:latin typeface="宋体" panose="02010600030101010101" pitchFamily="2" charset="-122"/>
              </a:rPr>
              <a:t>《</a:t>
            </a:r>
            <a:r>
              <a:rPr lang="zh-CN" altLang="en-US" sz="1600" dirty="0">
                <a:latin typeface="宋体" panose="02010600030101010101" pitchFamily="2" charset="-122"/>
              </a:rPr>
              <a:t>算经</a:t>
            </a:r>
            <a:r>
              <a:rPr lang="en-US" altLang="zh-CN" sz="1600" dirty="0">
                <a:latin typeface="宋体" panose="02010600030101010101" pitchFamily="2" charset="-122"/>
              </a:rPr>
              <a:t>》</a:t>
            </a:r>
            <a:r>
              <a:rPr lang="zh-CN" altLang="en-US" sz="1600" dirty="0">
                <a:latin typeface="宋体" panose="02010600030101010101" pitchFamily="2" charset="-122"/>
              </a:rPr>
              <a:t>中曾提出著名的</a:t>
            </a:r>
            <a:r>
              <a:rPr lang="zh-CN" altLang="en-US" sz="1600" dirty="0"/>
              <a:t>“</a:t>
            </a:r>
            <a:r>
              <a:rPr lang="zh-CN" altLang="en-US" sz="1600" dirty="0">
                <a:latin typeface="宋体" panose="02010600030101010101" pitchFamily="2" charset="-122"/>
              </a:rPr>
              <a:t>百钱百鸡问题</a:t>
            </a:r>
            <a:r>
              <a:rPr lang="zh-CN" altLang="en-US" sz="1600" dirty="0"/>
              <a:t>”</a:t>
            </a:r>
            <a:r>
              <a:rPr lang="zh-CN" altLang="en-US" sz="1600" dirty="0">
                <a:latin typeface="宋体" panose="02010600030101010101" pitchFamily="2" charset="-122"/>
              </a:rPr>
              <a:t>，其题目如下：</a:t>
            </a:r>
            <a:r>
              <a:rPr lang="zh-CN" altLang="en-US" sz="1600" dirty="0">
                <a:solidFill>
                  <a:srgbClr val="000000"/>
                </a:solidFill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</a:rPr>
              <a:t>鸡翁一，值钱五；鸡母一，值钱三；鸡雏三，值钱一；百钱买百鸡，翁、母、雏各几何？</a:t>
            </a:r>
            <a:r>
              <a:rPr lang="zh-CN" altLang="en-US" sz="16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graphicFrame>
        <p:nvGraphicFramePr>
          <p:cNvPr id="12" name="对象 24578"/>
          <p:cNvGraphicFramePr>
            <a:graphicFrameLocks noChangeAspect="1"/>
          </p:cNvGraphicFramePr>
          <p:nvPr/>
        </p:nvGraphicFramePr>
        <p:xfrm>
          <a:off x="2919880" y="2455175"/>
          <a:ext cx="2496150" cy="939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9335" imgH="610235" progId="Equation.3">
                  <p:embed/>
                </p:oleObj>
              </mc:Choice>
              <mc:Fallback>
                <p:oleObj r:id="rId4" imgW="1029335" imgH="6102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880" y="2455175"/>
                        <a:ext cx="2496150" cy="939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015988" y="2079989"/>
            <a:ext cx="7416824" cy="44001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解：设 </a:t>
            </a:r>
            <a:r>
              <a:rPr lang="en-US" altLang="zh-CN" sz="19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鸡翁</a:t>
            </a:r>
            <a:r>
              <a:rPr lang="zh-CN" altLang="en-US" sz="2000" dirty="0">
                <a:latin typeface="宋体" panose="02010600030101010101" pitchFamily="2" charset="-122"/>
              </a:rPr>
              <a:t>个数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9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solidFill>
                  <a:srgbClr val="0066FF"/>
                </a:solidFill>
                <a:latin typeface="宋体" panose="02010600030101010101" pitchFamily="2" charset="-122"/>
              </a:rPr>
              <a:t>鸡母</a:t>
            </a:r>
            <a:r>
              <a:rPr lang="zh-CN" altLang="en-US" sz="2000" dirty="0">
                <a:latin typeface="宋体" panose="02010600030101010101" pitchFamily="2" charset="-122"/>
              </a:rPr>
              <a:t>个数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000" dirty="0">
                <a:latin typeface="宋体" panose="02010600030101010101" pitchFamily="2" charset="-122"/>
              </a:rPr>
              <a:t>鸡雏个数</a:t>
            </a:r>
            <a:endParaRPr lang="en-US" altLang="zh-C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282804" y="3539514"/>
            <a:ext cx="7013545" cy="121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75000"/>
              <a:buFont typeface="Wingdings" panose="05000000000000000000" pitchFamily="2" charset="2"/>
              <a:buChar char="F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根据题意，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的取值一定在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[0,100]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中，最简单的解题方法：穷举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每一种可能的取值组合，将任一组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i,j,k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的取值代入方程组，若满足该方程组则是一组解。穷举结束即可得到全部解。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  <a:buSzPct val="75000"/>
              <a:buFont typeface="Wingdings" panose="05000000000000000000" pitchFamily="2" charset="2"/>
              <a:buChar char="F"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实际上，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的值小于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的值小于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34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01078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循环和递归 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414915" cy="98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循环（嵌套）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245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909886"/>
              </p:ext>
            </p:extLst>
          </p:nvPr>
        </p:nvGraphicFramePr>
        <p:xfrm>
          <a:off x="6506784" y="670891"/>
          <a:ext cx="2403418" cy="904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9335" imgH="610235" progId="Equation.3">
                  <p:embed/>
                </p:oleObj>
              </mc:Choice>
              <mc:Fallback>
                <p:oleObj r:id="rId4" imgW="1029335" imgH="6102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6784" y="670891"/>
                        <a:ext cx="2403418" cy="90460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7222125" y="1953362"/>
            <a:ext cx="114033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输出：</a:t>
            </a:r>
          </a:p>
          <a:p>
            <a:pPr eaLnBrk="1" hangingPunct="1"/>
            <a:r>
              <a:rPr lang="en-US" altLang="zh-CN" sz="1600" dirty="0"/>
              <a:t>0   25   75</a:t>
            </a:r>
          </a:p>
          <a:p>
            <a:pPr eaLnBrk="1" hangingPunct="1"/>
            <a:r>
              <a:rPr lang="en-US" altLang="zh-CN" sz="1600" dirty="0"/>
              <a:t>4   18   78</a:t>
            </a:r>
          </a:p>
          <a:p>
            <a:pPr eaLnBrk="1" hangingPunct="1"/>
            <a:r>
              <a:rPr lang="en-US" altLang="zh-CN" sz="1600" dirty="0"/>
              <a:t>8   11   81</a:t>
            </a:r>
          </a:p>
          <a:p>
            <a:pPr eaLnBrk="1" hangingPunct="1"/>
            <a:r>
              <a:rPr lang="en-US" altLang="zh-CN" sz="1600" dirty="0"/>
              <a:t>12   4   84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5155F3-70D8-4B13-9991-E8BA4E4981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57" y="1354152"/>
            <a:ext cx="5087303" cy="1674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57FBE3-FD0E-3BD0-6CC1-80E281B246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57" y="3276801"/>
            <a:ext cx="5106284" cy="1547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B8933D8-01A3-D7A4-FBA5-38FFA2B16937}"/>
              </a:ext>
            </a:extLst>
          </p:cNvPr>
          <p:cNvSpPr txBox="1"/>
          <p:nvPr/>
        </p:nvSpPr>
        <p:spPr>
          <a:xfrm>
            <a:off x="681189" y="1819303"/>
            <a:ext cx="3898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版</a:t>
            </a:r>
            <a:endParaRPr lang="en-US" altLang="zh-CN" dirty="0"/>
          </a:p>
          <a:p>
            <a:r>
              <a:rPr lang="zh-CN" altLang="en-US" dirty="0"/>
              <a:t>本</a:t>
            </a:r>
            <a:endParaRPr lang="en-US" altLang="zh-CN" dirty="0"/>
          </a:p>
          <a:p>
            <a:r>
              <a:rPr lang="zh-CN" altLang="en-US" dirty="0"/>
              <a:t>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E1ACE7-7C80-BC89-F6D4-ABC7293051DA}"/>
              </a:ext>
            </a:extLst>
          </p:cNvPr>
          <p:cNvSpPr txBox="1"/>
          <p:nvPr/>
        </p:nvSpPr>
        <p:spPr>
          <a:xfrm>
            <a:off x="663501" y="3635107"/>
            <a:ext cx="3898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版</a:t>
            </a:r>
            <a:endParaRPr lang="en-US" altLang="zh-CN" dirty="0"/>
          </a:p>
          <a:p>
            <a:r>
              <a:rPr lang="zh-CN" altLang="en-US" dirty="0"/>
              <a:t>本</a:t>
            </a:r>
            <a:endParaRPr lang="en-US" altLang="zh-CN" dirty="0"/>
          </a:p>
          <a:p>
            <a:r>
              <a:rPr lang="zh-CN" altLang="en-US" dirty="0"/>
              <a:t>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A0DDC2-25FD-F303-55F8-BA772134CA5E}"/>
              </a:ext>
            </a:extLst>
          </p:cNvPr>
          <p:cNvSpPr txBox="1"/>
          <p:nvPr/>
        </p:nvSpPr>
        <p:spPr>
          <a:xfrm>
            <a:off x="6590238" y="388132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两个版本有什么区别？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20132940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循环和递归 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414915" cy="49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嵌套循环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6496149" y="1440036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127997" y="187208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280125" y="1871976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/>
          <p:cNvCxnSpPr>
            <a:stCxn id="2" idx="4"/>
            <a:endCxn id="13" idx="7"/>
          </p:cNvCxnSpPr>
          <p:nvPr/>
        </p:nvCxnSpPr>
        <p:spPr>
          <a:xfrm flipH="1">
            <a:off x="5250922" y="1584052"/>
            <a:ext cx="1317235" cy="30912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2" idx="4"/>
            <a:endCxn id="21" idx="0"/>
          </p:cNvCxnSpPr>
          <p:nvPr/>
        </p:nvCxnSpPr>
        <p:spPr>
          <a:xfrm flipH="1">
            <a:off x="6352133" y="1584052"/>
            <a:ext cx="216024" cy="28792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7720285" y="1871976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" idx="4"/>
            <a:endCxn id="23" idx="0"/>
          </p:cNvCxnSpPr>
          <p:nvPr/>
        </p:nvCxnSpPr>
        <p:spPr>
          <a:xfrm>
            <a:off x="6568157" y="1584052"/>
            <a:ext cx="1224136" cy="28792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4407917" y="2376032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767957" y="23759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13" idx="4"/>
            <a:endCxn id="26" idx="7"/>
          </p:cNvCxnSpPr>
          <p:nvPr/>
        </p:nvCxnSpPr>
        <p:spPr>
          <a:xfrm flipH="1">
            <a:off x="4530842" y="2016100"/>
            <a:ext cx="669163" cy="38102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3" idx="4"/>
            <a:endCxn id="27" idx="7"/>
          </p:cNvCxnSpPr>
          <p:nvPr/>
        </p:nvCxnSpPr>
        <p:spPr>
          <a:xfrm flipH="1">
            <a:off x="4890882" y="2016100"/>
            <a:ext cx="309123" cy="38091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5344021" y="23759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stCxn id="13" idx="4"/>
            <a:endCxn id="30" idx="0"/>
          </p:cNvCxnSpPr>
          <p:nvPr/>
        </p:nvCxnSpPr>
        <p:spPr>
          <a:xfrm>
            <a:off x="5200005" y="2016100"/>
            <a:ext cx="216024" cy="35982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047045" y="2363835"/>
            <a:ext cx="216024" cy="145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500"/>
              </a:lnSpc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856189" y="1800076"/>
            <a:ext cx="216024" cy="145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500"/>
              </a:lnSpc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5560045" y="2376032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5920085" y="23759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stCxn id="21" idx="4"/>
            <a:endCxn id="41" idx="7"/>
          </p:cNvCxnSpPr>
          <p:nvPr/>
        </p:nvCxnSpPr>
        <p:spPr>
          <a:xfrm flipH="1">
            <a:off x="5682970" y="2015992"/>
            <a:ext cx="669163" cy="38113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21" idx="4"/>
            <a:endCxn id="42" idx="7"/>
          </p:cNvCxnSpPr>
          <p:nvPr/>
        </p:nvCxnSpPr>
        <p:spPr>
          <a:xfrm flipH="1">
            <a:off x="6043010" y="2015992"/>
            <a:ext cx="309123" cy="38102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6496149" y="23759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/>
          <p:cNvCxnSpPr>
            <a:stCxn id="21" idx="4"/>
            <a:endCxn id="45" idx="0"/>
          </p:cNvCxnSpPr>
          <p:nvPr/>
        </p:nvCxnSpPr>
        <p:spPr>
          <a:xfrm>
            <a:off x="6352133" y="2015992"/>
            <a:ext cx="216024" cy="35993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199173" y="2363835"/>
            <a:ext cx="216024" cy="145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500"/>
              </a:lnSpc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7000205" y="2376140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7360245" y="2376032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箭头连接符 52"/>
          <p:cNvCxnSpPr>
            <a:stCxn id="23" idx="4"/>
            <a:endCxn id="51" idx="7"/>
          </p:cNvCxnSpPr>
          <p:nvPr/>
        </p:nvCxnSpPr>
        <p:spPr>
          <a:xfrm flipH="1">
            <a:off x="7123130" y="2015992"/>
            <a:ext cx="669163" cy="381239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23" idx="4"/>
            <a:endCxn id="52" idx="7"/>
          </p:cNvCxnSpPr>
          <p:nvPr/>
        </p:nvCxnSpPr>
        <p:spPr>
          <a:xfrm flipH="1">
            <a:off x="7483170" y="2015992"/>
            <a:ext cx="309123" cy="38113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7936309" y="2376032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箭头连接符 55"/>
          <p:cNvCxnSpPr>
            <a:stCxn id="23" idx="4"/>
            <a:endCxn id="55" idx="0"/>
          </p:cNvCxnSpPr>
          <p:nvPr/>
        </p:nvCxnSpPr>
        <p:spPr>
          <a:xfrm>
            <a:off x="7792293" y="2015992"/>
            <a:ext cx="216024" cy="36004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7639333" y="2363943"/>
            <a:ext cx="216024" cy="145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500"/>
              </a:lnSpc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751588" y="2329594"/>
            <a:ext cx="216024" cy="145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500"/>
              </a:lnSpc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矩形 30721"/>
          <p:cNvSpPr>
            <a:spLocks noChangeArrowheads="1"/>
          </p:cNvSpPr>
          <p:nvPr/>
        </p:nvSpPr>
        <p:spPr bwMode="auto">
          <a:xfrm>
            <a:off x="540576" y="1388402"/>
            <a:ext cx="3240360" cy="19466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zh-CN" b="0" dirty="0"/>
              <a:t>for( 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&lt;20; </a:t>
            </a:r>
            <a:r>
              <a:rPr lang="en-US" altLang="zh-CN" b="0" dirty="0" err="1"/>
              <a:t>i</a:t>
            </a:r>
            <a:r>
              <a:rPr lang="en-US" altLang="zh-CN" b="0" dirty="0"/>
              <a:t>++ ) {          </a:t>
            </a:r>
            <a:endParaRPr lang="en-US" altLang="zh-CN" sz="1600" b="0" dirty="0"/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CN" b="0" dirty="0">
                <a:solidFill>
                  <a:schemeClr val="accent2"/>
                </a:solidFill>
              </a:rPr>
              <a:t>     </a:t>
            </a:r>
            <a:r>
              <a:rPr lang="en-US" altLang="zh-CN" b="0" dirty="0">
                <a:solidFill>
                  <a:srgbClr val="663300"/>
                </a:solidFill>
              </a:rPr>
              <a:t>for( j=0; j&lt;34; </a:t>
            </a:r>
            <a:r>
              <a:rPr lang="en-US" altLang="zh-CN" b="0" dirty="0" err="1">
                <a:solidFill>
                  <a:srgbClr val="663300"/>
                </a:solidFill>
              </a:rPr>
              <a:t>j++</a:t>
            </a:r>
            <a:r>
              <a:rPr lang="en-US" altLang="zh-CN" b="0" dirty="0">
                <a:solidFill>
                  <a:srgbClr val="663300"/>
                </a:solidFill>
              </a:rPr>
              <a:t> ) {   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CN" b="0" dirty="0"/>
              <a:t>                  …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CN" b="0" dirty="0"/>
              <a:t>             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CN" b="0" dirty="0"/>
              <a:t>       </a:t>
            </a:r>
            <a:r>
              <a:rPr lang="en-US" altLang="zh-CN" b="0" dirty="0">
                <a:solidFill>
                  <a:srgbClr val="663300"/>
                </a:solidFill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zh-CN" b="0" dirty="0"/>
              <a:t>}</a:t>
            </a:r>
          </a:p>
        </p:txBody>
      </p:sp>
      <p:sp>
        <p:nvSpPr>
          <p:cNvPr id="60" name="矩形 59"/>
          <p:cNvSpPr/>
          <p:nvPr/>
        </p:nvSpPr>
        <p:spPr>
          <a:xfrm>
            <a:off x="4623941" y="1489288"/>
            <a:ext cx="1542549" cy="238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先设定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的值</a:t>
            </a:r>
          </a:p>
        </p:txBody>
      </p:sp>
      <p:sp>
        <p:nvSpPr>
          <p:cNvPr id="68" name="矩形 67"/>
          <p:cNvSpPr/>
          <p:nvPr/>
        </p:nvSpPr>
        <p:spPr>
          <a:xfrm>
            <a:off x="3471813" y="1903723"/>
            <a:ext cx="1639611" cy="3477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然后设定 </a:t>
            </a:r>
            <a:r>
              <a:rPr lang="en-US" altLang="zh-CN" dirty="0">
                <a:solidFill>
                  <a:schemeClr val="tx1"/>
                </a:solidFill>
              </a:rPr>
              <a:t>j </a:t>
            </a:r>
            <a:r>
              <a:rPr lang="zh-CN" altLang="en-US" dirty="0">
                <a:solidFill>
                  <a:schemeClr val="tx1"/>
                </a:solidFill>
              </a:rPr>
              <a:t>的值</a:t>
            </a:r>
          </a:p>
        </p:txBody>
      </p:sp>
      <p:sp>
        <p:nvSpPr>
          <p:cNvPr id="70" name="线形标注 2 69"/>
          <p:cNvSpPr/>
          <p:nvPr/>
        </p:nvSpPr>
        <p:spPr>
          <a:xfrm>
            <a:off x="3615829" y="3024212"/>
            <a:ext cx="792088" cy="31510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0383"/>
              <a:gd name="adj6" fmla="val 106411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=0,j=0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线形标注 2 70"/>
          <p:cNvSpPr/>
          <p:nvPr/>
        </p:nvSpPr>
        <p:spPr>
          <a:xfrm>
            <a:off x="4767957" y="3024212"/>
            <a:ext cx="792088" cy="31510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0383"/>
              <a:gd name="adj6" fmla="val 5897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=0,j=1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2" name="线形标注 2 71"/>
          <p:cNvSpPr/>
          <p:nvPr/>
        </p:nvSpPr>
        <p:spPr>
          <a:xfrm>
            <a:off x="5856461" y="3024212"/>
            <a:ext cx="711696" cy="32349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3801"/>
              <a:gd name="adj6" fmla="val 18102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=1,j=1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3" name="线形标注 2 72"/>
          <p:cNvSpPr/>
          <p:nvPr/>
        </p:nvSpPr>
        <p:spPr>
          <a:xfrm>
            <a:off x="7483170" y="3240236"/>
            <a:ext cx="999728" cy="32349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620"/>
              <a:gd name="adj6" fmla="val 48720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=19,j=33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4" name="矩形 73"/>
          <p:cNvSpPr>
            <a:spLocks noChangeArrowheads="1"/>
          </p:cNvSpPr>
          <p:nvPr/>
        </p:nvSpPr>
        <p:spPr bwMode="auto">
          <a:xfrm>
            <a:off x="726541" y="3847104"/>
            <a:ext cx="7065752" cy="8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75000"/>
              <a:buFont typeface="Wingdings" panose="05000000000000000000" pitchFamily="2" charset="2"/>
              <a:buChar char="F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通过嵌套的循环遍历</a:t>
            </a:r>
            <a:r>
              <a:rPr lang="en-US" altLang="zh-CN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的各种可能取值，嵌套层次是确定的（一重循环、二重循环、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14879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7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隐含的树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3"/>
            <a:ext cx="7414915" cy="350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循环、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递归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marL="744538" lvl="2" indent="-34290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描述重复性质的运算（或结构）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4538" lvl="2" indent="-34290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递归函数，调用和返回，用树结构建模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4538" lvl="2" indent="-34290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简单递归示例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7218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隐含的树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3"/>
            <a:ext cx="7414915" cy="132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递归函数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marL="744538" lvl="2" indent="-34290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简单递归示例，例如，求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n!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670" y="1773700"/>
            <a:ext cx="3743325" cy="762000"/>
          </a:xfrm>
          <a:prstGeom prst="rect">
            <a:avLst/>
          </a:prstGeom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807517" y="2808188"/>
            <a:ext cx="7416824" cy="834037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72000" anchor="ctr"/>
          <a:lstStyle>
            <a:lvl1pPr marL="363855" indent="-363855"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SzPct val="90000"/>
            </a:pPr>
            <a:r>
              <a:rPr lang="zh-CN" altLang="en-US" sz="1800" b="0" dirty="0"/>
              <a:t>递归需要有边界条件处理、递归前进段和递归返回段。</a:t>
            </a:r>
            <a:endParaRPr lang="en-US" altLang="zh-CN" sz="1800" b="0" dirty="0"/>
          </a:p>
          <a:p>
            <a:pPr eaLnBrk="1" hangingPunct="1">
              <a:spcBef>
                <a:spcPts val="600"/>
              </a:spcBef>
              <a:buSzPct val="90000"/>
            </a:pPr>
            <a:r>
              <a:rPr lang="zh-CN" altLang="en-US" sz="1800" b="0" dirty="0"/>
              <a:t>当边界条件不满足时，递归前进；边界条件满足时，开始递归返回。</a:t>
            </a:r>
          </a:p>
        </p:txBody>
      </p:sp>
    </p:spTree>
    <p:extLst>
      <p:ext uri="{BB962C8B-B14F-4D97-AF65-F5344CB8AC3E}">
        <p14:creationId xmlns:p14="http://schemas.microsoft.com/office/powerpoint/2010/main" val="30302422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5"/>
          <p:cNvSpPr>
            <a:spLocks noChangeArrowheads="1"/>
          </p:cNvSpPr>
          <p:nvPr/>
        </p:nvSpPr>
        <p:spPr bwMode="auto">
          <a:xfrm>
            <a:off x="530198" y="2160116"/>
            <a:ext cx="3067204" cy="2088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 anchor="ctr"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dirty="0" err="1"/>
              <a:t>int</a:t>
            </a:r>
            <a:r>
              <a:rPr lang="en-US" altLang="zh-CN" sz="1764" dirty="0"/>
              <a:t> </a:t>
            </a:r>
            <a:r>
              <a:rPr lang="en-US" altLang="zh-CN" sz="1764" b="0" dirty="0"/>
              <a:t>fact(</a:t>
            </a:r>
            <a:r>
              <a:rPr lang="en-US" altLang="zh-CN" sz="1764" dirty="0" err="1"/>
              <a:t>int</a:t>
            </a:r>
            <a:r>
              <a:rPr lang="en-US" altLang="zh-CN" sz="1764" dirty="0"/>
              <a:t> </a:t>
            </a:r>
            <a:r>
              <a:rPr lang="en-US" altLang="zh-CN" sz="1764" b="0" dirty="0"/>
              <a:t>n)</a:t>
            </a:r>
            <a:endParaRPr lang="en-US" altLang="zh-CN" sz="1764" dirty="0"/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b="0" dirty="0"/>
              <a:t>{</a:t>
            </a:r>
            <a:endParaRPr lang="en-US" altLang="zh-CN" sz="1764" dirty="0"/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dirty="0"/>
              <a:t>    if </a:t>
            </a:r>
            <a:r>
              <a:rPr lang="en-US" altLang="zh-CN" sz="1764" b="0" dirty="0"/>
              <a:t>(n &lt;= 0)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b="0" dirty="0"/>
              <a:t>           </a:t>
            </a:r>
            <a:r>
              <a:rPr lang="en-US" altLang="zh-CN" sz="1764" dirty="0"/>
              <a:t>return </a:t>
            </a:r>
            <a:r>
              <a:rPr lang="en-US" altLang="zh-CN" sz="1764" b="0" dirty="0"/>
              <a:t>1</a:t>
            </a:r>
            <a:r>
              <a:rPr lang="en-US" altLang="zh-CN" sz="1764" dirty="0"/>
              <a:t>;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dirty="0"/>
              <a:t>    else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dirty="0"/>
              <a:t>           return </a:t>
            </a:r>
            <a:r>
              <a:rPr lang="en-US" altLang="zh-CN" sz="1764" b="0" dirty="0">
                <a:solidFill>
                  <a:srgbClr val="C00000"/>
                </a:solidFill>
              </a:rPr>
              <a:t>n * </a:t>
            </a:r>
            <a:r>
              <a:rPr lang="en-US" altLang="zh-CN" sz="1764" dirty="0">
                <a:solidFill>
                  <a:srgbClr val="C00000"/>
                </a:solidFill>
              </a:rPr>
              <a:t>fact(n − 1)</a:t>
            </a:r>
            <a:r>
              <a:rPr lang="en-US" altLang="zh-CN" sz="1764" dirty="0"/>
              <a:t>;</a:t>
            </a:r>
            <a:endParaRPr lang="en-US" altLang="zh-CN" sz="1764" b="0" dirty="0"/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764" b="0" dirty="0"/>
              <a:t>}</a:t>
            </a:r>
            <a:endParaRPr lang="zh-CN" altLang="en-US" sz="1764" b="0" dirty="0"/>
          </a:p>
        </p:txBody>
      </p:sp>
      <p:sp>
        <p:nvSpPr>
          <p:cNvPr id="114693" name="矩形 44036"/>
          <p:cNvSpPr>
            <a:spLocks noChangeArrowheads="1"/>
          </p:cNvSpPr>
          <p:nvPr/>
        </p:nvSpPr>
        <p:spPr bwMode="auto">
          <a:xfrm>
            <a:off x="1119717" y="2352146"/>
            <a:ext cx="672041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323" b="0"/>
          </a:p>
        </p:txBody>
      </p:sp>
      <p:graphicFrame>
        <p:nvGraphicFramePr>
          <p:cNvPr id="114694" name="对象 440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707307"/>
              </p:ext>
            </p:extLst>
          </p:nvPr>
        </p:nvGraphicFramePr>
        <p:xfrm>
          <a:off x="2175669" y="863972"/>
          <a:ext cx="4021749" cy="843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84400" imgH="457200" progId="Equation.3">
                  <p:embed/>
                </p:oleObj>
              </mc:Choice>
              <mc:Fallback>
                <p:oleObj r:id="rId2" imgW="2184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669" y="863972"/>
                        <a:ext cx="4021749" cy="843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隐含的树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9131" y="2016100"/>
            <a:ext cx="4837258" cy="2543826"/>
          </a:xfrm>
          <a:prstGeom prst="rect">
            <a:avLst/>
          </a:prstGeom>
          <a:noFill/>
          <a:ln w="38100">
            <a:solidFill>
              <a:srgbClr val="9696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fact(5)  = 5 * </a:t>
            </a:r>
            <a:r>
              <a:rPr lang="en-US" altLang="zh-CN" sz="1400" dirty="0">
                <a:solidFill>
                  <a:srgbClr val="C00000"/>
                </a:solidFill>
              </a:rPr>
              <a:t>fact(4)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</a:t>
            </a:r>
            <a:r>
              <a:rPr lang="en-US" altLang="zh-CN" sz="1400" dirty="0">
                <a:solidFill>
                  <a:srgbClr val="C00000"/>
                </a:solidFill>
              </a:rPr>
              <a:t>fact(3)</a:t>
            </a:r>
            <a:r>
              <a:rPr lang="en-US" altLang="zh-CN" sz="1400" dirty="0"/>
              <a:t>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(3 * </a:t>
            </a:r>
            <a:r>
              <a:rPr lang="en-US" altLang="zh-CN" sz="1400" dirty="0">
                <a:solidFill>
                  <a:srgbClr val="C00000"/>
                </a:solidFill>
              </a:rPr>
              <a:t>fact(2)</a:t>
            </a:r>
            <a:r>
              <a:rPr lang="en-US" altLang="zh-CN" sz="1400" dirty="0"/>
              <a:t>))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(3 * (2 * </a:t>
            </a:r>
            <a:r>
              <a:rPr lang="en-US" altLang="zh-CN" sz="1400" dirty="0">
                <a:solidFill>
                  <a:srgbClr val="C00000"/>
                </a:solidFill>
              </a:rPr>
              <a:t>fact(1)</a:t>
            </a:r>
            <a:r>
              <a:rPr lang="en-US" altLang="zh-CN" sz="1400" dirty="0"/>
              <a:t>)))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(3 * (2 * (1 * </a:t>
            </a:r>
            <a:r>
              <a:rPr lang="en-US" altLang="zh-CN" sz="1400" dirty="0">
                <a:solidFill>
                  <a:srgbClr val="C00000"/>
                </a:solidFill>
              </a:rPr>
              <a:t>fact(0)</a:t>
            </a:r>
            <a:r>
              <a:rPr lang="en-US" altLang="zh-CN" sz="1400" dirty="0"/>
              <a:t>))))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(3 * (2 * (1 * </a:t>
            </a:r>
            <a:r>
              <a:rPr lang="en-US" altLang="zh-CN" sz="1400" dirty="0">
                <a:solidFill>
                  <a:srgbClr val="0066FF"/>
                </a:solidFill>
              </a:rPr>
              <a:t>1</a:t>
            </a:r>
            <a:r>
              <a:rPr lang="en-US" altLang="zh-CN" sz="1400" dirty="0"/>
              <a:t>))))                   </a:t>
            </a:r>
            <a:endParaRPr lang="zh-CN" altLang="en-US" sz="1400" dirty="0"/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(3 * (2 * </a:t>
            </a:r>
            <a:r>
              <a:rPr lang="en-US" altLang="zh-CN" sz="1400" dirty="0">
                <a:solidFill>
                  <a:srgbClr val="0066FF"/>
                </a:solidFill>
              </a:rPr>
              <a:t>1</a:t>
            </a:r>
            <a:r>
              <a:rPr lang="en-US" altLang="zh-CN" sz="1400" dirty="0"/>
              <a:t>)))                    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(3 * </a:t>
            </a:r>
            <a:r>
              <a:rPr lang="en-US" altLang="zh-CN" sz="1400" dirty="0">
                <a:solidFill>
                  <a:srgbClr val="0066FF"/>
                </a:solidFill>
              </a:rPr>
              <a:t>2</a:t>
            </a:r>
            <a:r>
              <a:rPr lang="en-US" altLang="zh-CN" sz="1400" dirty="0"/>
              <a:t>))                           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(4 * </a:t>
            </a:r>
            <a:r>
              <a:rPr lang="en-US" altLang="zh-CN" sz="1400" dirty="0">
                <a:solidFill>
                  <a:srgbClr val="0066FF"/>
                </a:solidFill>
              </a:rPr>
              <a:t>6</a:t>
            </a:r>
            <a:r>
              <a:rPr lang="en-US" altLang="zh-CN" sz="1400" dirty="0"/>
              <a:t>)                                  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5 * </a:t>
            </a:r>
            <a:r>
              <a:rPr lang="en-US" altLang="zh-CN" sz="1400" dirty="0">
                <a:solidFill>
                  <a:srgbClr val="0066FF"/>
                </a:solidFill>
              </a:rPr>
              <a:t>24</a:t>
            </a:r>
            <a:r>
              <a:rPr lang="en-US" altLang="zh-CN" sz="1400" dirty="0"/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24</a:t>
            </a:r>
            <a:r>
              <a:rPr lang="en-US" altLang="zh-CN" sz="1400" dirty="0"/>
              <a:t>                                   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400" dirty="0"/>
              <a:t>             = 120                                           </a:t>
            </a:r>
            <a:endParaRPr lang="zh-CN" altLang="en-US" sz="1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7432253" y="2155222"/>
            <a:ext cx="1007954" cy="1008112"/>
            <a:chOff x="7432253" y="2155222"/>
            <a:chExt cx="1007954" cy="1008112"/>
          </a:xfrm>
        </p:grpSpPr>
        <p:sp>
          <p:nvSpPr>
            <p:cNvPr id="2" name="右大括号 1"/>
            <p:cNvSpPr/>
            <p:nvPr/>
          </p:nvSpPr>
          <p:spPr>
            <a:xfrm>
              <a:off x="7432253" y="2155222"/>
              <a:ext cx="144016" cy="1008112"/>
            </a:xfrm>
            <a:prstGeom prst="rightBrace">
              <a:avLst/>
            </a:prstGeom>
            <a:ln w="15875">
              <a:solidFill>
                <a:srgbClr val="E935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576269" y="2392967"/>
              <a:ext cx="8639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/>
                <a:t>递归调用</a:t>
              </a:r>
              <a:r>
                <a:rPr lang="en-US" altLang="zh-CN" sz="1000" dirty="0"/>
                <a:t>(</a:t>
              </a:r>
              <a:r>
                <a:rPr lang="zh-CN" altLang="en-US" sz="1000" dirty="0"/>
                <a:t>前进</a:t>
              </a:r>
              <a:r>
                <a:rPr lang="en-US" altLang="zh-CN" sz="1000" dirty="0"/>
                <a:t>)</a:t>
              </a:r>
              <a:r>
                <a:rPr lang="zh-CN" altLang="en-US" sz="1000" dirty="0"/>
                <a:t>，直到满足边界条件为止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432253" y="3303899"/>
            <a:ext cx="864096" cy="1008112"/>
            <a:chOff x="7432253" y="3303899"/>
            <a:chExt cx="864096" cy="1008112"/>
          </a:xfrm>
        </p:grpSpPr>
        <p:sp>
          <p:nvSpPr>
            <p:cNvPr id="14" name="右大括号 13"/>
            <p:cNvSpPr/>
            <p:nvPr/>
          </p:nvSpPr>
          <p:spPr>
            <a:xfrm>
              <a:off x="7432253" y="3303899"/>
              <a:ext cx="144016" cy="1008112"/>
            </a:xfrm>
            <a:prstGeom prst="rightBrace">
              <a:avLst/>
            </a:prstGeom>
            <a:ln w="158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576269" y="3630335"/>
              <a:ext cx="72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/>
                <a:t>递归返回</a:t>
              </a:r>
            </a:p>
          </p:txBody>
        </p:sp>
      </p:grp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231453" y="4388178"/>
            <a:ext cx="4736582" cy="33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75000"/>
              <a:buFont typeface="Wingdings" panose="05000000000000000000" pitchFamily="2" charset="2"/>
              <a:buChar char="F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用栈实现递归调用和返回控制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8E15C8-7BB1-3BF8-9F54-C61E74672FF7}"/>
              </a:ext>
            </a:extLst>
          </p:cNvPr>
          <p:cNvSpPr txBox="1"/>
          <p:nvPr/>
        </p:nvSpPr>
        <p:spPr>
          <a:xfrm>
            <a:off x="6539188" y="672421"/>
            <a:ext cx="21318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Fact(5):return 5*fact(4)</a:t>
            </a:r>
          </a:p>
          <a:p>
            <a:r>
              <a:rPr lang="en-US" altLang="zh-CN" dirty="0"/>
              <a:t>Fact(4):return 4*fact(3)</a:t>
            </a:r>
          </a:p>
          <a:p>
            <a:r>
              <a:rPr lang="en-US" altLang="zh-CN" dirty="0"/>
              <a:t>Fact(3):return 3*fact(2)</a:t>
            </a:r>
          </a:p>
          <a:p>
            <a:r>
              <a:rPr lang="en-US" altLang="zh-CN" dirty="0"/>
              <a:t>Fact(2):return 2*fact(1)</a:t>
            </a:r>
          </a:p>
          <a:p>
            <a:r>
              <a:rPr lang="en-US" altLang="zh-CN" dirty="0"/>
              <a:t>Fact(1):return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8665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nimBg="1"/>
      <p:bldP spid="12" grpId="0" animBg="1"/>
      <p:bldP spid="17" grpId="0" build="p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3" name="矩形 44036"/>
          <p:cNvSpPr>
            <a:spLocks noChangeArrowheads="1"/>
          </p:cNvSpPr>
          <p:nvPr/>
        </p:nvSpPr>
        <p:spPr bwMode="auto">
          <a:xfrm>
            <a:off x="1119717" y="2352146"/>
            <a:ext cx="672041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323" b="0"/>
          </a:p>
        </p:txBody>
      </p:sp>
      <p:sp>
        <p:nvSpPr>
          <p:cNvPr id="7" name="矩形 6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隐含的树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94827" y="760655"/>
            <a:ext cx="8583613" cy="44281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例如，求解斐波那契数列</a:t>
            </a:r>
            <a:endParaRPr lang="en-US" altLang="zh-CN" sz="2000" dirty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152516" y="1035832"/>
            <a:ext cx="415773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b="0" dirty="0"/>
              <a:t>F</a:t>
            </a:r>
            <a:r>
              <a:rPr lang="en-US" altLang="zh-CN" b="0" baseline="-20000" dirty="0"/>
              <a:t>0</a:t>
            </a:r>
            <a:r>
              <a:rPr lang="en-US" altLang="zh-CN" b="0" dirty="0"/>
              <a:t> = 0,  F</a:t>
            </a:r>
            <a:r>
              <a:rPr lang="en-US" altLang="zh-CN" b="0" baseline="-20000" dirty="0"/>
              <a:t>1</a:t>
            </a:r>
            <a:r>
              <a:rPr lang="en-US" altLang="zh-CN" b="0" dirty="0"/>
              <a:t>= 1,  </a:t>
            </a:r>
            <a:r>
              <a:rPr lang="en-US" altLang="zh-CN" b="0" dirty="0" err="1"/>
              <a:t>F</a:t>
            </a:r>
            <a:r>
              <a:rPr lang="en-US" altLang="zh-CN" b="0" baseline="-20000" dirty="0" err="1"/>
              <a:t>n</a:t>
            </a:r>
            <a:r>
              <a:rPr lang="en-US" altLang="zh-CN" b="0" dirty="0"/>
              <a:t> = F</a:t>
            </a:r>
            <a:r>
              <a:rPr lang="en-US" altLang="zh-CN" b="0" baseline="-20000" dirty="0"/>
              <a:t>n-1</a:t>
            </a:r>
            <a:r>
              <a:rPr lang="en-US" altLang="zh-CN" b="0" dirty="0"/>
              <a:t> + F</a:t>
            </a:r>
            <a:r>
              <a:rPr lang="en-US" altLang="zh-CN" b="0" baseline="-20000" dirty="0"/>
              <a:t>n-2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367942" y="1728069"/>
            <a:ext cx="3086953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 anchor="ctr"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fib(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n)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{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if (n &lt;= 0)        return 0;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else if (n==1)  return 1;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else         </a:t>
            </a:r>
          </a:p>
          <a:p>
            <a:pPr>
              <a:spcBef>
                <a:spcPct val="0"/>
              </a:spcBef>
              <a:buSzTx/>
              <a:buNone/>
            </a:pPr>
            <a:r>
              <a:rPr lang="en-US" altLang="zh-CN" sz="1600" dirty="0"/>
              <a:t>          return fib(n-1) + fib(n-2);</a:t>
            </a:r>
          </a:p>
          <a:p>
            <a:pPr>
              <a:spcBef>
                <a:spcPct val="0"/>
              </a:spcBef>
              <a:buSzTx/>
              <a:buNone/>
            </a:pPr>
            <a:r>
              <a:rPr lang="en-US" altLang="zh-CN" sz="1600" dirty="0"/>
              <a:t>}</a:t>
            </a: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322995"/>
              </p:ext>
            </p:extLst>
          </p:nvPr>
        </p:nvGraphicFramePr>
        <p:xfrm>
          <a:off x="5056188" y="803275"/>
          <a:ext cx="3490912" cy="341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4124325" imgH="5114925" progId="Paint.Picture">
                  <p:embed/>
                </p:oleObj>
              </mc:Choice>
              <mc:Fallback>
                <p:oleObj name="BMP 图像" r:id="rId3" imgW="4124325" imgH="5114925" progId="Paint.Picture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803275"/>
                        <a:ext cx="3490912" cy="341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738507" y="3899578"/>
            <a:ext cx="4736582" cy="779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75000"/>
              <a:buFont typeface="Wingdings" panose="05000000000000000000" pitchFamily="2" charset="2"/>
              <a:buChar char="F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父到子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递归调用（函数调用）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  <a:buSzPct val="75000"/>
              <a:buFont typeface="Wingdings" panose="05000000000000000000" pitchFamily="2" charset="2"/>
              <a:buChar char="F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子到父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函数返回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3711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3" name="矩形 44036"/>
          <p:cNvSpPr>
            <a:spLocks noChangeArrowheads="1"/>
          </p:cNvSpPr>
          <p:nvPr/>
        </p:nvSpPr>
        <p:spPr bwMode="auto">
          <a:xfrm>
            <a:off x="1119717" y="2352146"/>
            <a:ext cx="672041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323" b="0"/>
          </a:p>
        </p:txBody>
      </p:sp>
      <p:sp>
        <p:nvSpPr>
          <p:cNvPr id="7" name="矩形 6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递归技巧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记忆化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94827" y="760655"/>
            <a:ext cx="8583613" cy="44281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例如，求解斐波那契数列</a:t>
            </a:r>
            <a:endParaRPr lang="en-US" altLang="zh-CN" sz="2000" dirty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152516" y="1035832"/>
            <a:ext cx="415773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b="0" dirty="0"/>
              <a:t>F</a:t>
            </a:r>
            <a:r>
              <a:rPr lang="en-US" altLang="zh-CN" b="0" baseline="-20000" dirty="0"/>
              <a:t>0</a:t>
            </a:r>
            <a:r>
              <a:rPr lang="en-US" altLang="zh-CN" b="0" dirty="0"/>
              <a:t> = 0,  F</a:t>
            </a:r>
            <a:r>
              <a:rPr lang="en-US" altLang="zh-CN" b="0" baseline="-20000" dirty="0"/>
              <a:t>1</a:t>
            </a:r>
            <a:r>
              <a:rPr lang="en-US" altLang="zh-CN" b="0" dirty="0"/>
              <a:t>= 1,  </a:t>
            </a:r>
            <a:r>
              <a:rPr lang="en-US" altLang="zh-CN" b="0" dirty="0" err="1"/>
              <a:t>F</a:t>
            </a:r>
            <a:r>
              <a:rPr lang="en-US" altLang="zh-CN" b="0" baseline="-20000" dirty="0" err="1"/>
              <a:t>n</a:t>
            </a:r>
            <a:r>
              <a:rPr lang="en-US" altLang="zh-CN" b="0" dirty="0"/>
              <a:t> = F</a:t>
            </a:r>
            <a:r>
              <a:rPr lang="en-US" altLang="zh-CN" b="0" baseline="-20000" dirty="0"/>
              <a:t>n-1</a:t>
            </a:r>
            <a:r>
              <a:rPr lang="en-US" altLang="zh-CN" b="0" dirty="0"/>
              <a:t> + F</a:t>
            </a:r>
            <a:r>
              <a:rPr lang="en-US" altLang="zh-CN" b="0" baseline="-20000" dirty="0"/>
              <a:t>n-2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663501" y="1584052"/>
            <a:ext cx="4824536" cy="331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 anchor="ctr"/>
          <a:lstStyle>
            <a:lvl1pPr>
              <a:spcBef>
                <a:spcPct val="15000"/>
              </a:spcBef>
              <a:buSzPct val="95000"/>
              <a:buFont typeface="Wingdings" panose="05000000000000000000" pitchFamily="2" charset="2"/>
              <a:buChar char="F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15000"/>
              </a:spcBef>
              <a:buSzPct val="95000"/>
              <a:buFont typeface="Wingdings" panose="05000000000000000000" pitchFamily="2" charset="2"/>
              <a:buChar char="¯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SzPct val="95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int a[MAXN]; // </a:t>
            </a:r>
            <a:r>
              <a:rPr lang="zh-CN" altLang="en-US" sz="1600" dirty="0"/>
              <a:t>初始全为</a:t>
            </a:r>
            <a:r>
              <a:rPr lang="en-US" altLang="zh-CN" sz="1600" dirty="0"/>
              <a:t>-1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int fib(int n)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{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if(a[n] != -1)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	return a[n];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if (n &lt;= 0) {a[n] = 0; return 0;}       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else if (n==1)  {a[n] = 1; return 1;}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else{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       a[n] = fib(n - 1) + fib(n – 2);        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       return a[n];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   }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}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 dirty="0"/>
              <a:t>//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使用辅助数组存储已经计算过的答案以重复利用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26850"/>
              </p:ext>
            </p:extLst>
          </p:nvPr>
        </p:nvGraphicFramePr>
        <p:xfrm>
          <a:off x="5599326" y="1316176"/>
          <a:ext cx="3204578" cy="3137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4124325" imgH="5114925" progId="Paint.Picture">
                  <p:embed/>
                </p:oleObj>
              </mc:Choice>
              <mc:Fallback>
                <p:oleObj name="BMP 图像" r:id="rId3" imgW="4124325" imgH="5114925" progId="Paint.Picture">
                  <p:embed/>
                  <p:pic>
                    <p:nvPicPr>
                      <p:cNvPr id="2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326" y="1316176"/>
                        <a:ext cx="3204578" cy="3137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54653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隐含的树及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应用示例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414915" cy="32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在程序设计问题中，有一类问题的要求是求解一组解、全部解或最优解，这种问题的求解不是按照确定的计算法则进行，而是利用试探和回溯的搜索技术求解。称为回溯法，常用递归函数实现。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回溯法的求解过程实质上是先序遍历一棵“状态树”的过程，该树不是预先建立的，而是隐含在算法逻辑中。例如，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皇后问题。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98161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树的应用示例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03FC4517-AA8E-D2E0-E075-C01086B5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65" y="752365"/>
            <a:ext cx="7729514" cy="437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n</a:t>
            </a:r>
            <a:r>
              <a:rPr kumimoji="0" lang="zh-CN" altLang="en-US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皇后问题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</a:rPr>
              <a:t>。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rgbClr val="9933FF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1023541" y="1187205"/>
            <a:ext cx="778219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ts val="3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"/>
            </a:pPr>
            <a:r>
              <a:rPr lang="zh-CN" altLang="en-US" sz="2200" b="1" dirty="0"/>
              <a:t>将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个皇后放在</a:t>
            </a:r>
            <a:r>
              <a:rPr lang="en-US" altLang="zh-CN" sz="2200" b="1" dirty="0" err="1"/>
              <a:t>n×n</a:t>
            </a:r>
            <a:r>
              <a:rPr lang="zh-CN" altLang="en-US" sz="2200" b="1" dirty="0"/>
              <a:t>的棋盘中，要求皇后间不能相互攻击。所谓攻击是指两个皇后在同一行、同一列或在同一条斜线上，求所有的合法布局。例如，</a:t>
            </a:r>
            <a:r>
              <a:rPr lang="en-US" altLang="zh-CN" sz="2200" b="1" dirty="0"/>
              <a:t>n=4</a:t>
            </a:r>
          </a:p>
        </p:txBody>
      </p: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2823741" y="2520156"/>
            <a:ext cx="1333500" cy="1104900"/>
            <a:chOff x="1344" y="1776"/>
            <a:chExt cx="840" cy="696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1344" y="1776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4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1558" y="1776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1756" y="1776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1970" y="1776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1344" y="1953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1558" y="1953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1756" y="1953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1970" y="1953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1344" y="2117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1558" y="2117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1756" y="2117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1970" y="2117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1344" y="2295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1558" y="2295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1756" y="2295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1970" y="2295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0" name="Text Box 21"/>
          <p:cNvSpPr txBox="1">
            <a:spLocks noChangeArrowheads="1"/>
          </p:cNvSpPr>
          <p:nvPr/>
        </p:nvSpPr>
        <p:spPr bwMode="auto">
          <a:xfrm>
            <a:off x="2747541" y="3891756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/>
              <a:t>合法布局</a:t>
            </a:r>
          </a:p>
        </p:txBody>
      </p:sp>
      <p:grpSp>
        <p:nvGrpSpPr>
          <p:cNvPr id="71" name="Group 22"/>
          <p:cNvGrpSpPr>
            <a:grpSpLocks/>
          </p:cNvGrpSpPr>
          <p:nvPr/>
        </p:nvGrpSpPr>
        <p:grpSpPr bwMode="auto">
          <a:xfrm>
            <a:off x="5321201" y="2520156"/>
            <a:ext cx="1409700" cy="1768475"/>
            <a:chOff x="2952" y="1488"/>
            <a:chExt cx="888" cy="1114"/>
          </a:xfrm>
        </p:grpSpPr>
        <p:sp>
          <p:nvSpPr>
            <p:cNvPr id="72" name="Rectangle 23"/>
            <p:cNvSpPr>
              <a:spLocks noChangeArrowheads="1"/>
            </p:cNvSpPr>
            <p:nvPr/>
          </p:nvSpPr>
          <p:spPr bwMode="auto">
            <a:xfrm>
              <a:off x="3000" y="1488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3214" y="1488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400"/>
            </a:p>
          </p:txBody>
        </p:sp>
        <p:sp>
          <p:nvSpPr>
            <p:cNvPr id="74" name="Rectangle 25"/>
            <p:cNvSpPr>
              <a:spLocks noChangeArrowheads="1"/>
            </p:cNvSpPr>
            <p:nvPr/>
          </p:nvSpPr>
          <p:spPr bwMode="auto">
            <a:xfrm>
              <a:off x="3412" y="1488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5" name="Rectangle 26"/>
            <p:cNvSpPr>
              <a:spLocks noChangeArrowheads="1"/>
            </p:cNvSpPr>
            <p:nvPr/>
          </p:nvSpPr>
          <p:spPr bwMode="auto">
            <a:xfrm>
              <a:off x="3626" y="1488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6" name="Rectangle 27"/>
            <p:cNvSpPr>
              <a:spLocks noChangeArrowheads="1"/>
            </p:cNvSpPr>
            <p:nvPr/>
          </p:nvSpPr>
          <p:spPr bwMode="auto">
            <a:xfrm>
              <a:off x="3000" y="1665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8"/>
            <p:cNvSpPr>
              <a:spLocks noChangeArrowheads="1"/>
            </p:cNvSpPr>
            <p:nvPr/>
          </p:nvSpPr>
          <p:spPr bwMode="auto">
            <a:xfrm>
              <a:off x="3214" y="1665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9"/>
            <p:cNvSpPr>
              <a:spLocks noChangeArrowheads="1"/>
            </p:cNvSpPr>
            <p:nvPr/>
          </p:nvSpPr>
          <p:spPr bwMode="auto">
            <a:xfrm>
              <a:off x="3412" y="1665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30"/>
            <p:cNvSpPr>
              <a:spLocks noChangeArrowheads="1"/>
            </p:cNvSpPr>
            <p:nvPr/>
          </p:nvSpPr>
          <p:spPr bwMode="auto">
            <a:xfrm>
              <a:off x="3626" y="1665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80" name="Rectangle 31"/>
            <p:cNvSpPr>
              <a:spLocks noChangeArrowheads="1"/>
            </p:cNvSpPr>
            <p:nvPr/>
          </p:nvSpPr>
          <p:spPr bwMode="auto">
            <a:xfrm>
              <a:off x="3000" y="1829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400"/>
            </a:p>
          </p:txBody>
        </p:sp>
        <p:sp>
          <p:nvSpPr>
            <p:cNvPr id="81" name="Rectangle 32"/>
            <p:cNvSpPr>
              <a:spLocks noChangeArrowheads="1"/>
            </p:cNvSpPr>
            <p:nvPr/>
          </p:nvSpPr>
          <p:spPr bwMode="auto">
            <a:xfrm>
              <a:off x="3214" y="1829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82" name="Rectangle 33"/>
            <p:cNvSpPr>
              <a:spLocks noChangeArrowheads="1"/>
            </p:cNvSpPr>
            <p:nvPr/>
          </p:nvSpPr>
          <p:spPr bwMode="auto">
            <a:xfrm>
              <a:off x="3412" y="1829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4"/>
            <p:cNvSpPr>
              <a:spLocks noChangeArrowheads="1"/>
            </p:cNvSpPr>
            <p:nvPr/>
          </p:nvSpPr>
          <p:spPr bwMode="auto">
            <a:xfrm>
              <a:off x="3626" y="1829"/>
              <a:ext cx="214" cy="1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5"/>
            <p:cNvSpPr>
              <a:spLocks noChangeArrowheads="1"/>
            </p:cNvSpPr>
            <p:nvPr/>
          </p:nvSpPr>
          <p:spPr bwMode="auto">
            <a:xfrm>
              <a:off x="3000" y="2007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6"/>
            <p:cNvSpPr>
              <a:spLocks noChangeArrowheads="1"/>
            </p:cNvSpPr>
            <p:nvPr/>
          </p:nvSpPr>
          <p:spPr bwMode="auto">
            <a:xfrm>
              <a:off x="3214" y="2007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7"/>
            <p:cNvSpPr>
              <a:spLocks noChangeArrowheads="1"/>
            </p:cNvSpPr>
            <p:nvPr/>
          </p:nvSpPr>
          <p:spPr bwMode="auto">
            <a:xfrm>
              <a:off x="3412" y="2007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400" dirty="0"/>
                <a:t>Q</a:t>
              </a:r>
              <a:endParaRPr lang="zh-CN" altLang="en-US" sz="1400" dirty="0"/>
            </a:p>
          </p:txBody>
        </p:sp>
        <p:sp>
          <p:nvSpPr>
            <p:cNvPr id="87" name="Rectangle 38"/>
            <p:cNvSpPr>
              <a:spLocks noChangeArrowheads="1"/>
            </p:cNvSpPr>
            <p:nvPr/>
          </p:nvSpPr>
          <p:spPr bwMode="auto">
            <a:xfrm>
              <a:off x="3626" y="2007"/>
              <a:ext cx="214" cy="1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400"/>
            </a:p>
          </p:txBody>
        </p:sp>
        <p:sp>
          <p:nvSpPr>
            <p:cNvPr id="88" name="Text Box 39"/>
            <p:cNvSpPr txBox="1">
              <a:spLocks noChangeArrowheads="1"/>
            </p:cNvSpPr>
            <p:nvPr/>
          </p:nvSpPr>
          <p:spPr bwMode="auto">
            <a:xfrm>
              <a:off x="2952" y="2352"/>
              <a:ext cx="8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/>
                <a:t>非法布局</a:t>
              </a: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5737126" y="3061494"/>
            <a:ext cx="654050" cy="5635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0566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343400" y="1297059"/>
            <a:ext cx="533400" cy="541918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853240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843280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853240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843280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2090470"/>
            <a:ext cx="596900" cy="571500"/>
            <a:chOff x="2286000" y="1562348"/>
            <a:chExt cx="647700" cy="647700"/>
          </a:xfrm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2091385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2091385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2105372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123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5"/>
            <a:ext cx="7207229" cy="45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2000" b="1" dirty="0">
                <a:latin typeface="Times New Roman" panose="02020603050405020304" pitchFamily="18" charset="0"/>
              </a:rPr>
              <a:t>按顺序逐行放置皇后，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从第一行开始，有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种可能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481633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514217" y="860800"/>
            <a:ext cx="253740" cy="323797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204129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194169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204129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194169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1441359"/>
            <a:ext cx="596900" cy="571500"/>
            <a:chOff x="2286000" y="1562348"/>
            <a:chExt cx="647700" cy="647700"/>
          </a:xfrm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1442274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1442274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1456261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77025" y="2007427"/>
            <a:ext cx="3144248" cy="800761"/>
            <a:chOff x="377025" y="2007427"/>
            <a:chExt cx="3144248" cy="800761"/>
          </a:xfrm>
        </p:grpSpPr>
        <p:grpSp>
          <p:nvGrpSpPr>
            <p:cNvPr id="501" name="组合 500"/>
            <p:cNvGrpSpPr/>
            <p:nvPr/>
          </p:nvGrpSpPr>
          <p:grpSpPr>
            <a:xfrm>
              <a:off x="1074713" y="2236688"/>
              <a:ext cx="596900" cy="571500"/>
              <a:chOff x="2286000" y="1562348"/>
              <a:chExt cx="647700" cy="647700"/>
            </a:xfrm>
          </p:grpSpPr>
          <p:sp>
            <p:nvSpPr>
              <p:cNvPr id="502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03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4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5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6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7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08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9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0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1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2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3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4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5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6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7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18" name="组合 517"/>
            <p:cNvGrpSpPr/>
            <p:nvPr/>
          </p:nvGrpSpPr>
          <p:grpSpPr>
            <a:xfrm>
              <a:off x="1794580" y="2231085"/>
              <a:ext cx="596900" cy="571500"/>
              <a:chOff x="2286000" y="1562348"/>
              <a:chExt cx="647700" cy="647700"/>
            </a:xfrm>
          </p:grpSpPr>
          <p:sp>
            <p:nvSpPr>
              <p:cNvPr id="519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20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1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2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3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4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5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26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7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8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9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0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1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2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3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4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35" name="组合 534"/>
            <p:cNvGrpSpPr/>
            <p:nvPr/>
          </p:nvGrpSpPr>
          <p:grpSpPr>
            <a:xfrm>
              <a:off x="2924373" y="2236687"/>
              <a:ext cx="596900" cy="571500"/>
              <a:chOff x="2286000" y="1562348"/>
              <a:chExt cx="647700" cy="647700"/>
            </a:xfrm>
          </p:grpSpPr>
          <p:sp>
            <p:nvSpPr>
              <p:cNvPr id="536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37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8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9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0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1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2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3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44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5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6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7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8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9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0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1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52" name="组合 551"/>
            <p:cNvGrpSpPr/>
            <p:nvPr/>
          </p:nvGrpSpPr>
          <p:grpSpPr>
            <a:xfrm>
              <a:off x="377025" y="2236687"/>
              <a:ext cx="596900" cy="571500"/>
              <a:chOff x="2286000" y="1562348"/>
              <a:chExt cx="647700" cy="647700"/>
            </a:xfrm>
          </p:grpSpPr>
          <p:sp>
            <p:nvSpPr>
              <p:cNvPr id="553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54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5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6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7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58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9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0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1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2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3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4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5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6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7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8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sp>
          <p:nvSpPr>
            <p:cNvPr id="569" name="Line 21"/>
            <p:cNvSpPr>
              <a:spLocks noChangeShapeType="1"/>
            </p:cNvSpPr>
            <p:nvPr/>
          </p:nvSpPr>
          <p:spPr bwMode="auto">
            <a:xfrm flipH="1">
              <a:off x="930333" y="2007427"/>
              <a:ext cx="1486649" cy="2077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0" name="Line 21"/>
            <p:cNvSpPr>
              <a:spLocks noChangeShapeType="1"/>
            </p:cNvSpPr>
            <p:nvPr/>
          </p:nvSpPr>
          <p:spPr bwMode="auto">
            <a:xfrm flipH="1">
              <a:off x="1596341" y="2012858"/>
              <a:ext cx="984496" cy="202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1" name="Line 21"/>
            <p:cNvSpPr>
              <a:spLocks noChangeShapeType="1"/>
            </p:cNvSpPr>
            <p:nvPr/>
          </p:nvSpPr>
          <p:spPr bwMode="auto">
            <a:xfrm flipH="1">
              <a:off x="2131938" y="2028747"/>
              <a:ext cx="425491" cy="2066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2" name="Line 21"/>
            <p:cNvSpPr>
              <a:spLocks noChangeShapeType="1"/>
            </p:cNvSpPr>
            <p:nvPr/>
          </p:nvSpPr>
          <p:spPr bwMode="auto">
            <a:xfrm>
              <a:off x="2569134" y="2012857"/>
              <a:ext cx="472028" cy="20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6" name="矩形 705"/>
          <p:cNvSpPr/>
          <p:nvPr/>
        </p:nvSpPr>
        <p:spPr>
          <a:xfrm>
            <a:off x="1136143" y="252015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7" name="矩形 706"/>
          <p:cNvSpPr/>
          <p:nvPr/>
        </p:nvSpPr>
        <p:spPr>
          <a:xfrm>
            <a:off x="375469" y="244814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01" name="矩形 400"/>
          <p:cNvSpPr/>
          <p:nvPr/>
        </p:nvSpPr>
        <p:spPr>
          <a:xfrm>
            <a:off x="3054223" y="1063242"/>
            <a:ext cx="1065662" cy="232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第一行</a:t>
            </a:r>
          </a:p>
        </p:txBody>
      </p:sp>
      <p:sp>
        <p:nvSpPr>
          <p:cNvPr id="402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91963"/>
            <a:ext cx="2478278" cy="833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确定了第一行的位置后，考察第二行的所有可能放法，也是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3" name="矩形 402"/>
          <p:cNvSpPr/>
          <p:nvPr/>
        </p:nvSpPr>
        <p:spPr>
          <a:xfrm>
            <a:off x="951889" y="1872956"/>
            <a:ext cx="1065662" cy="232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第二行</a:t>
            </a:r>
          </a:p>
        </p:txBody>
      </p:sp>
    </p:spTree>
    <p:extLst>
      <p:ext uri="{BB962C8B-B14F-4D97-AF65-F5344CB8AC3E}">
        <p14:creationId xmlns:p14="http://schemas.microsoft.com/office/powerpoint/2010/main" val="26600989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" grpId="0"/>
      <p:bldP spid="707" grpId="0"/>
      <p:bldP spid="40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514217" y="860800"/>
            <a:ext cx="253740" cy="323797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204129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194169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204129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194169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1441359"/>
            <a:ext cx="596900" cy="571500"/>
            <a:chOff x="2286000" y="1562348"/>
            <a:chExt cx="647700" cy="647700"/>
          </a:xfrm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1442274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1442274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1456261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77025" y="2007427"/>
            <a:ext cx="3144248" cy="800761"/>
            <a:chOff x="377025" y="2007427"/>
            <a:chExt cx="3144248" cy="800761"/>
          </a:xfrm>
        </p:grpSpPr>
        <p:grpSp>
          <p:nvGrpSpPr>
            <p:cNvPr id="501" name="组合 500"/>
            <p:cNvGrpSpPr/>
            <p:nvPr/>
          </p:nvGrpSpPr>
          <p:grpSpPr>
            <a:xfrm>
              <a:off x="1074713" y="2236688"/>
              <a:ext cx="596900" cy="571500"/>
              <a:chOff x="2286000" y="1562348"/>
              <a:chExt cx="647700" cy="647700"/>
            </a:xfrm>
          </p:grpSpPr>
          <p:sp>
            <p:nvSpPr>
              <p:cNvPr id="502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03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4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5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6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7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08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9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0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1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2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3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4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5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6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7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18" name="组合 517"/>
            <p:cNvGrpSpPr/>
            <p:nvPr/>
          </p:nvGrpSpPr>
          <p:grpSpPr>
            <a:xfrm>
              <a:off x="1794580" y="2231085"/>
              <a:ext cx="596900" cy="571500"/>
              <a:chOff x="2286000" y="1562348"/>
              <a:chExt cx="647700" cy="647700"/>
            </a:xfrm>
          </p:grpSpPr>
          <p:sp>
            <p:nvSpPr>
              <p:cNvPr id="519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20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1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2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3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4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5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26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7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8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9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0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1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2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3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4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35" name="组合 534"/>
            <p:cNvGrpSpPr/>
            <p:nvPr/>
          </p:nvGrpSpPr>
          <p:grpSpPr>
            <a:xfrm>
              <a:off x="2924373" y="2236687"/>
              <a:ext cx="596900" cy="571500"/>
              <a:chOff x="2286000" y="1562348"/>
              <a:chExt cx="647700" cy="647700"/>
            </a:xfrm>
          </p:grpSpPr>
          <p:sp>
            <p:nvSpPr>
              <p:cNvPr id="536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37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8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9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0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1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2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3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44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5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6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7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8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9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0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1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52" name="组合 551"/>
            <p:cNvGrpSpPr/>
            <p:nvPr/>
          </p:nvGrpSpPr>
          <p:grpSpPr>
            <a:xfrm>
              <a:off x="377025" y="2236687"/>
              <a:ext cx="596900" cy="571500"/>
              <a:chOff x="2286000" y="1562348"/>
              <a:chExt cx="647700" cy="647700"/>
            </a:xfrm>
          </p:grpSpPr>
          <p:sp>
            <p:nvSpPr>
              <p:cNvPr id="553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54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5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6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7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58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9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0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1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2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3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4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5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6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7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8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sp>
          <p:nvSpPr>
            <p:cNvPr id="569" name="Line 21"/>
            <p:cNvSpPr>
              <a:spLocks noChangeShapeType="1"/>
            </p:cNvSpPr>
            <p:nvPr/>
          </p:nvSpPr>
          <p:spPr bwMode="auto">
            <a:xfrm flipH="1">
              <a:off x="930333" y="2007427"/>
              <a:ext cx="1486649" cy="2077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0" name="Line 21"/>
            <p:cNvSpPr>
              <a:spLocks noChangeShapeType="1"/>
            </p:cNvSpPr>
            <p:nvPr/>
          </p:nvSpPr>
          <p:spPr bwMode="auto">
            <a:xfrm flipH="1">
              <a:off x="1596341" y="2012858"/>
              <a:ext cx="984496" cy="202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1" name="Line 21"/>
            <p:cNvSpPr>
              <a:spLocks noChangeShapeType="1"/>
            </p:cNvSpPr>
            <p:nvPr/>
          </p:nvSpPr>
          <p:spPr bwMode="auto">
            <a:xfrm flipH="1">
              <a:off x="2131938" y="2028747"/>
              <a:ext cx="425491" cy="2066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2" name="Line 21"/>
            <p:cNvSpPr>
              <a:spLocks noChangeShapeType="1"/>
            </p:cNvSpPr>
            <p:nvPr/>
          </p:nvSpPr>
          <p:spPr bwMode="auto">
            <a:xfrm>
              <a:off x="2569134" y="2012857"/>
              <a:ext cx="472028" cy="20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47477" y="2796670"/>
            <a:ext cx="2575688" cy="943058"/>
            <a:chOff x="447477" y="2796670"/>
            <a:chExt cx="2575688" cy="943058"/>
          </a:xfrm>
        </p:grpSpPr>
        <p:grpSp>
          <p:nvGrpSpPr>
            <p:cNvPr id="573" name="组合 572"/>
            <p:cNvGrpSpPr/>
            <p:nvPr/>
          </p:nvGrpSpPr>
          <p:grpSpPr>
            <a:xfrm>
              <a:off x="447477" y="3168228"/>
              <a:ext cx="596900" cy="571500"/>
              <a:chOff x="2286000" y="1562348"/>
              <a:chExt cx="647700" cy="647700"/>
            </a:xfrm>
          </p:grpSpPr>
          <p:sp>
            <p:nvSpPr>
              <p:cNvPr id="574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75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6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7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8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9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580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81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2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83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4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5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6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7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8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9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185" name="组合 184"/>
            <p:cNvGrpSpPr/>
            <p:nvPr/>
          </p:nvGrpSpPr>
          <p:grpSpPr>
            <a:xfrm>
              <a:off x="1109285" y="3168228"/>
              <a:ext cx="596900" cy="571500"/>
              <a:chOff x="2286000" y="1562348"/>
              <a:chExt cx="647700" cy="647700"/>
            </a:xfrm>
          </p:grpSpPr>
          <p:sp>
            <p:nvSpPr>
              <p:cNvPr id="186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187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88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89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0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1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192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193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4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195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196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7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8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9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0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1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1778193" y="3168228"/>
              <a:ext cx="596900" cy="571500"/>
              <a:chOff x="2286000" y="1562348"/>
              <a:chExt cx="647700" cy="647700"/>
            </a:xfrm>
          </p:grpSpPr>
          <p:sp>
            <p:nvSpPr>
              <p:cNvPr id="203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04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5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6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7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8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09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10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1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12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3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14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5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6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7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8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19" name="组合 218"/>
            <p:cNvGrpSpPr/>
            <p:nvPr/>
          </p:nvGrpSpPr>
          <p:grpSpPr>
            <a:xfrm>
              <a:off x="2426265" y="3168228"/>
              <a:ext cx="596900" cy="571500"/>
              <a:chOff x="2286000" y="1562348"/>
              <a:chExt cx="647700" cy="647700"/>
            </a:xfrm>
          </p:grpSpPr>
          <p:sp>
            <p:nvSpPr>
              <p:cNvPr id="220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21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2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3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4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5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26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27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8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29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30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1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32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3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4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5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sp>
          <p:nvSpPr>
            <p:cNvPr id="236" name="Line 21"/>
            <p:cNvSpPr>
              <a:spLocks noChangeShapeType="1"/>
            </p:cNvSpPr>
            <p:nvPr/>
          </p:nvSpPr>
          <p:spPr bwMode="auto">
            <a:xfrm flipH="1">
              <a:off x="872946" y="2808188"/>
              <a:ext cx="1102086" cy="354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Line 21"/>
            <p:cNvSpPr>
              <a:spLocks noChangeShapeType="1"/>
            </p:cNvSpPr>
            <p:nvPr/>
          </p:nvSpPr>
          <p:spPr bwMode="auto">
            <a:xfrm flipH="1">
              <a:off x="1366371" y="2802583"/>
              <a:ext cx="658854" cy="3600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Line 21"/>
            <p:cNvSpPr>
              <a:spLocks noChangeShapeType="1"/>
            </p:cNvSpPr>
            <p:nvPr/>
          </p:nvSpPr>
          <p:spPr bwMode="auto">
            <a:xfrm flipH="1">
              <a:off x="1895559" y="2796670"/>
              <a:ext cx="183366" cy="3659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Line 21"/>
            <p:cNvSpPr>
              <a:spLocks noChangeShapeType="1"/>
            </p:cNvSpPr>
            <p:nvPr/>
          </p:nvSpPr>
          <p:spPr bwMode="auto">
            <a:xfrm>
              <a:off x="2096200" y="2808187"/>
              <a:ext cx="558694" cy="339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394343" y="3497613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6" name="矩形 705"/>
          <p:cNvSpPr/>
          <p:nvPr/>
        </p:nvSpPr>
        <p:spPr>
          <a:xfrm>
            <a:off x="1136143" y="252015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7" name="矩形 706"/>
          <p:cNvSpPr/>
          <p:nvPr/>
        </p:nvSpPr>
        <p:spPr>
          <a:xfrm>
            <a:off x="375469" y="244814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8" name="矩形 707"/>
          <p:cNvSpPr/>
          <p:nvPr/>
        </p:nvSpPr>
        <p:spPr>
          <a:xfrm>
            <a:off x="1208151" y="352826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9" name="矩形 708"/>
          <p:cNvSpPr/>
          <p:nvPr/>
        </p:nvSpPr>
        <p:spPr>
          <a:xfrm>
            <a:off x="1928231" y="347774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0" name="矩形 709"/>
          <p:cNvSpPr/>
          <p:nvPr/>
        </p:nvSpPr>
        <p:spPr>
          <a:xfrm>
            <a:off x="2504295" y="347774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02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91963"/>
            <a:ext cx="2478278" cy="1052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确定了第一行的位置后，考察第二行所有可能的放法，也是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3" name="矩形 402"/>
          <p:cNvSpPr/>
          <p:nvPr/>
        </p:nvSpPr>
        <p:spPr>
          <a:xfrm>
            <a:off x="951889" y="1872956"/>
            <a:ext cx="1065662" cy="232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第二行</a:t>
            </a:r>
          </a:p>
        </p:txBody>
      </p:sp>
      <p:sp>
        <p:nvSpPr>
          <p:cNvPr id="404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2363" y="2971124"/>
            <a:ext cx="2188017" cy="68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在前两行放置位置可行的情况下，考察第三行的所有可能性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" name="矩形 404"/>
          <p:cNvSpPr/>
          <p:nvPr/>
        </p:nvSpPr>
        <p:spPr>
          <a:xfrm>
            <a:off x="3054223" y="1063242"/>
            <a:ext cx="1065662" cy="232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第一行</a:t>
            </a:r>
          </a:p>
        </p:txBody>
      </p:sp>
    </p:spTree>
    <p:extLst>
      <p:ext uri="{BB962C8B-B14F-4D97-AF65-F5344CB8AC3E}">
        <p14:creationId xmlns:p14="http://schemas.microsoft.com/office/powerpoint/2010/main" val="38996602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08" grpId="0"/>
      <p:bldP spid="709" grpId="0"/>
      <p:bldP spid="7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514217" y="860800"/>
            <a:ext cx="253740" cy="323797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204129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194169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204129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194169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1441359"/>
            <a:ext cx="596900" cy="571500"/>
            <a:chOff x="2286000" y="1562348"/>
            <a:chExt cx="647700" cy="647700"/>
          </a:xfrm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1442274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1442274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1456261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77025" y="2007427"/>
            <a:ext cx="3144248" cy="800761"/>
            <a:chOff x="377025" y="2007427"/>
            <a:chExt cx="3144248" cy="800761"/>
          </a:xfrm>
        </p:grpSpPr>
        <p:grpSp>
          <p:nvGrpSpPr>
            <p:cNvPr id="501" name="组合 500"/>
            <p:cNvGrpSpPr/>
            <p:nvPr/>
          </p:nvGrpSpPr>
          <p:grpSpPr>
            <a:xfrm>
              <a:off x="1074713" y="2236688"/>
              <a:ext cx="596900" cy="571500"/>
              <a:chOff x="2286000" y="1562348"/>
              <a:chExt cx="647700" cy="647700"/>
            </a:xfrm>
          </p:grpSpPr>
          <p:sp>
            <p:nvSpPr>
              <p:cNvPr id="502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03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4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5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6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7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08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09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0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1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2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3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4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5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6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17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18" name="组合 517"/>
            <p:cNvGrpSpPr/>
            <p:nvPr/>
          </p:nvGrpSpPr>
          <p:grpSpPr>
            <a:xfrm>
              <a:off x="1794580" y="2231085"/>
              <a:ext cx="596900" cy="571500"/>
              <a:chOff x="2286000" y="1562348"/>
              <a:chExt cx="647700" cy="647700"/>
            </a:xfrm>
          </p:grpSpPr>
          <p:sp>
            <p:nvSpPr>
              <p:cNvPr id="519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20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1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2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3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4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5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26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7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8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29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0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1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2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3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4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35" name="组合 534"/>
            <p:cNvGrpSpPr/>
            <p:nvPr/>
          </p:nvGrpSpPr>
          <p:grpSpPr>
            <a:xfrm>
              <a:off x="2924373" y="2236687"/>
              <a:ext cx="596900" cy="571500"/>
              <a:chOff x="2286000" y="1562348"/>
              <a:chExt cx="647700" cy="647700"/>
            </a:xfrm>
          </p:grpSpPr>
          <p:sp>
            <p:nvSpPr>
              <p:cNvPr id="536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37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8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39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0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1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2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3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44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5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6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7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8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49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0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1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grpSp>
          <p:nvGrpSpPr>
            <p:cNvPr id="552" name="组合 551"/>
            <p:cNvGrpSpPr/>
            <p:nvPr/>
          </p:nvGrpSpPr>
          <p:grpSpPr>
            <a:xfrm>
              <a:off x="377025" y="2236687"/>
              <a:ext cx="596900" cy="571500"/>
              <a:chOff x="2286000" y="1562348"/>
              <a:chExt cx="647700" cy="647700"/>
            </a:xfrm>
          </p:grpSpPr>
          <p:sp>
            <p:nvSpPr>
              <p:cNvPr id="553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54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5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6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7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58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59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0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1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2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3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4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5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6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7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  <p:sp>
            <p:nvSpPr>
              <p:cNvPr id="568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1600"/>
              </a:p>
            </p:txBody>
          </p:sp>
        </p:grpSp>
        <p:sp>
          <p:nvSpPr>
            <p:cNvPr id="569" name="Line 21"/>
            <p:cNvSpPr>
              <a:spLocks noChangeShapeType="1"/>
            </p:cNvSpPr>
            <p:nvPr/>
          </p:nvSpPr>
          <p:spPr bwMode="auto">
            <a:xfrm flipH="1">
              <a:off x="930333" y="2007427"/>
              <a:ext cx="1486649" cy="2077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0" name="Line 21"/>
            <p:cNvSpPr>
              <a:spLocks noChangeShapeType="1"/>
            </p:cNvSpPr>
            <p:nvPr/>
          </p:nvSpPr>
          <p:spPr bwMode="auto">
            <a:xfrm flipH="1">
              <a:off x="1596341" y="2012858"/>
              <a:ext cx="984496" cy="202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1" name="Line 21"/>
            <p:cNvSpPr>
              <a:spLocks noChangeShapeType="1"/>
            </p:cNvSpPr>
            <p:nvPr/>
          </p:nvSpPr>
          <p:spPr bwMode="auto">
            <a:xfrm flipH="1">
              <a:off x="2131938" y="2028747"/>
              <a:ext cx="425491" cy="2066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2" name="Line 21"/>
            <p:cNvSpPr>
              <a:spLocks noChangeShapeType="1"/>
            </p:cNvSpPr>
            <p:nvPr/>
          </p:nvSpPr>
          <p:spPr bwMode="auto">
            <a:xfrm>
              <a:off x="2569134" y="2012857"/>
              <a:ext cx="472028" cy="20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47477" y="2796670"/>
            <a:ext cx="2575688" cy="943058"/>
            <a:chOff x="447477" y="2796670"/>
            <a:chExt cx="2575688" cy="943058"/>
          </a:xfrm>
        </p:grpSpPr>
        <p:grpSp>
          <p:nvGrpSpPr>
            <p:cNvPr id="573" name="组合 572"/>
            <p:cNvGrpSpPr/>
            <p:nvPr/>
          </p:nvGrpSpPr>
          <p:grpSpPr>
            <a:xfrm>
              <a:off x="447477" y="3168228"/>
              <a:ext cx="596900" cy="571500"/>
              <a:chOff x="2286000" y="1562348"/>
              <a:chExt cx="647700" cy="647700"/>
            </a:xfrm>
          </p:grpSpPr>
          <p:sp>
            <p:nvSpPr>
              <p:cNvPr id="574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75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6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7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8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79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580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81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2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583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4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5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6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7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8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589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185" name="组合 184"/>
            <p:cNvGrpSpPr/>
            <p:nvPr/>
          </p:nvGrpSpPr>
          <p:grpSpPr>
            <a:xfrm>
              <a:off x="1109285" y="3168228"/>
              <a:ext cx="596900" cy="571500"/>
              <a:chOff x="2286000" y="1562348"/>
              <a:chExt cx="647700" cy="647700"/>
            </a:xfrm>
          </p:grpSpPr>
          <p:sp>
            <p:nvSpPr>
              <p:cNvPr id="186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187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88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89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0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1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192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193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4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195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196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7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8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199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0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1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1778193" y="3168228"/>
              <a:ext cx="596900" cy="571500"/>
              <a:chOff x="2286000" y="1562348"/>
              <a:chExt cx="647700" cy="647700"/>
            </a:xfrm>
          </p:grpSpPr>
          <p:sp>
            <p:nvSpPr>
              <p:cNvPr id="203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04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5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6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7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08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09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10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1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12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3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14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5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6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7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18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19" name="组合 218"/>
            <p:cNvGrpSpPr/>
            <p:nvPr/>
          </p:nvGrpSpPr>
          <p:grpSpPr>
            <a:xfrm>
              <a:off x="2426265" y="3168228"/>
              <a:ext cx="596900" cy="571500"/>
              <a:chOff x="2286000" y="1562348"/>
              <a:chExt cx="647700" cy="647700"/>
            </a:xfrm>
          </p:grpSpPr>
          <p:sp>
            <p:nvSpPr>
              <p:cNvPr id="220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21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2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3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4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5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26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27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28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29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 dirty="0"/>
              </a:p>
            </p:txBody>
          </p:sp>
          <p:sp>
            <p:nvSpPr>
              <p:cNvPr id="230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1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32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3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4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35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sp>
          <p:nvSpPr>
            <p:cNvPr id="236" name="Line 21"/>
            <p:cNvSpPr>
              <a:spLocks noChangeShapeType="1"/>
            </p:cNvSpPr>
            <p:nvPr/>
          </p:nvSpPr>
          <p:spPr bwMode="auto">
            <a:xfrm flipH="1">
              <a:off x="872946" y="2808188"/>
              <a:ext cx="1102086" cy="354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Line 21"/>
            <p:cNvSpPr>
              <a:spLocks noChangeShapeType="1"/>
            </p:cNvSpPr>
            <p:nvPr/>
          </p:nvSpPr>
          <p:spPr bwMode="auto">
            <a:xfrm flipH="1">
              <a:off x="1366371" y="2802583"/>
              <a:ext cx="658854" cy="3600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Line 21"/>
            <p:cNvSpPr>
              <a:spLocks noChangeShapeType="1"/>
            </p:cNvSpPr>
            <p:nvPr/>
          </p:nvSpPr>
          <p:spPr bwMode="auto">
            <a:xfrm flipH="1">
              <a:off x="1895559" y="2796670"/>
              <a:ext cx="183366" cy="3659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Line 21"/>
            <p:cNvSpPr>
              <a:spLocks noChangeShapeType="1"/>
            </p:cNvSpPr>
            <p:nvPr/>
          </p:nvSpPr>
          <p:spPr bwMode="auto">
            <a:xfrm>
              <a:off x="2096200" y="2808187"/>
              <a:ext cx="558694" cy="339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75316" y="2802583"/>
            <a:ext cx="2588640" cy="947141"/>
            <a:chOff x="3175316" y="2802583"/>
            <a:chExt cx="2588640" cy="947141"/>
          </a:xfrm>
        </p:grpSpPr>
        <p:grpSp>
          <p:nvGrpSpPr>
            <p:cNvPr id="240" name="组合 239"/>
            <p:cNvGrpSpPr/>
            <p:nvPr/>
          </p:nvGrpSpPr>
          <p:grpSpPr>
            <a:xfrm>
              <a:off x="3175316" y="3173830"/>
              <a:ext cx="596900" cy="571500"/>
              <a:chOff x="2286000" y="1562348"/>
              <a:chExt cx="647700" cy="647700"/>
            </a:xfrm>
          </p:grpSpPr>
          <p:sp>
            <p:nvSpPr>
              <p:cNvPr id="241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42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43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44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45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46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47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48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49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50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51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52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53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54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55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56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57" name="组合 256"/>
            <p:cNvGrpSpPr/>
            <p:nvPr/>
          </p:nvGrpSpPr>
          <p:grpSpPr>
            <a:xfrm>
              <a:off x="3820295" y="3174562"/>
              <a:ext cx="596900" cy="571500"/>
              <a:chOff x="2286000" y="1562348"/>
              <a:chExt cx="647700" cy="647700"/>
            </a:xfrm>
          </p:grpSpPr>
          <p:sp>
            <p:nvSpPr>
              <p:cNvPr id="258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59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0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1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2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3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4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5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66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7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68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69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0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1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2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3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74" name="组合 273"/>
            <p:cNvGrpSpPr/>
            <p:nvPr/>
          </p:nvGrpSpPr>
          <p:grpSpPr>
            <a:xfrm>
              <a:off x="4498148" y="3178224"/>
              <a:ext cx="596900" cy="571500"/>
              <a:chOff x="2286000" y="1562348"/>
              <a:chExt cx="647700" cy="647700"/>
            </a:xfrm>
          </p:grpSpPr>
          <p:sp>
            <p:nvSpPr>
              <p:cNvPr id="275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76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7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8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79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0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1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2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83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4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5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86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7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8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89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0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291" name="组合 290"/>
            <p:cNvGrpSpPr/>
            <p:nvPr/>
          </p:nvGrpSpPr>
          <p:grpSpPr>
            <a:xfrm>
              <a:off x="5167056" y="3178224"/>
              <a:ext cx="596900" cy="571500"/>
              <a:chOff x="2286000" y="1562348"/>
              <a:chExt cx="647700" cy="647700"/>
            </a:xfrm>
          </p:grpSpPr>
          <p:sp>
            <p:nvSpPr>
              <p:cNvPr id="292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293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4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5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6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7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8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299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00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01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02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03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04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05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06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07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sp>
          <p:nvSpPr>
            <p:cNvPr id="308" name="Line 21"/>
            <p:cNvSpPr>
              <a:spLocks noChangeShapeType="1"/>
            </p:cNvSpPr>
            <p:nvPr/>
          </p:nvSpPr>
          <p:spPr bwMode="auto">
            <a:xfrm>
              <a:off x="3321156" y="2814533"/>
              <a:ext cx="1955214" cy="340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" name="Line 21"/>
            <p:cNvSpPr>
              <a:spLocks noChangeShapeType="1"/>
            </p:cNvSpPr>
            <p:nvPr/>
          </p:nvSpPr>
          <p:spPr bwMode="auto">
            <a:xfrm>
              <a:off x="3286670" y="2802583"/>
              <a:ext cx="1358789" cy="371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" name="Line 21"/>
            <p:cNvSpPr>
              <a:spLocks noChangeShapeType="1"/>
            </p:cNvSpPr>
            <p:nvPr/>
          </p:nvSpPr>
          <p:spPr bwMode="auto">
            <a:xfrm>
              <a:off x="3270964" y="2820137"/>
              <a:ext cx="729302" cy="3279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" name="Line 21"/>
            <p:cNvSpPr>
              <a:spLocks noChangeShapeType="1"/>
            </p:cNvSpPr>
            <p:nvPr/>
          </p:nvSpPr>
          <p:spPr bwMode="auto">
            <a:xfrm>
              <a:off x="3236477" y="2804091"/>
              <a:ext cx="40164" cy="3809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701998" y="3745329"/>
            <a:ext cx="2669957" cy="1006565"/>
            <a:chOff x="2701998" y="3745329"/>
            <a:chExt cx="2669957" cy="1006565"/>
          </a:xfrm>
        </p:grpSpPr>
        <p:grpSp>
          <p:nvGrpSpPr>
            <p:cNvPr id="312" name="组合 311"/>
            <p:cNvGrpSpPr/>
            <p:nvPr/>
          </p:nvGrpSpPr>
          <p:grpSpPr>
            <a:xfrm>
              <a:off x="2701998" y="4180394"/>
              <a:ext cx="596900" cy="571500"/>
              <a:chOff x="2286000" y="1562348"/>
              <a:chExt cx="647700" cy="647700"/>
            </a:xfrm>
          </p:grpSpPr>
          <p:sp>
            <p:nvSpPr>
              <p:cNvPr id="313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14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15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16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17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18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19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20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21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22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23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24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25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26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27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28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329" name="组合 328"/>
            <p:cNvGrpSpPr/>
            <p:nvPr/>
          </p:nvGrpSpPr>
          <p:grpSpPr>
            <a:xfrm>
              <a:off x="3419839" y="4180394"/>
              <a:ext cx="596900" cy="571500"/>
              <a:chOff x="2286000" y="1562348"/>
              <a:chExt cx="647700" cy="647700"/>
            </a:xfrm>
          </p:grpSpPr>
          <p:sp>
            <p:nvSpPr>
              <p:cNvPr id="330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31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2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3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4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5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6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7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38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39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40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41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42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43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44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45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346" name="组合 345"/>
            <p:cNvGrpSpPr/>
            <p:nvPr/>
          </p:nvGrpSpPr>
          <p:grpSpPr>
            <a:xfrm>
              <a:off x="4107200" y="4174791"/>
              <a:ext cx="596900" cy="571500"/>
              <a:chOff x="2286000" y="1562348"/>
              <a:chExt cx="647700" cy="647700"/>
            </a:xfrm>
          </p:grpSpPr>
          <p:sp>
            <p:nvSpPr>
              <p:cNvPr id="347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48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49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0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1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2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3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4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55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6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57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8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59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60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61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62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</p:grpSp>
        <p:grpSp>
          <p:nvGrpSpPr>
            <p:cNvPr id="363" name="组合 362"/>
            <p:cNvGrpSpPr/>
            <p:nvPr/>
          </p:nvGrpSpPr>
          <p:grpSpPr>
            <a:xfrm>
              <a:off x="4775055" y="4168935"/>
              <a:ext cx="596900" cy="571500"/>
              <a:chOff x="2286000" y="1562348"/>
              <a:chExt cx="647700" cy="647700"/>
            </a:xfrm>
          </p:grpSpPr>
          <p:sp>
            <p:nvSpPr>
              <p:cNvPr id="364" name="Rectangle 25"/>
              <p:cNvSpPr>
                <a:spLocks noChangeArrowheads="1"/>
              </p:cNvSpPr>
              <p:nvPr/>
            </p:nvSpPr>
            <p:spPr bwMode="auto">
              <a:xfrm>
                <a:off x="22860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65" name="Rectangle 26"/>
              <p:cNvSpPr>
                <a:spLocks noChangeArrowheads="1"/>
              </p:cNvSpPr>
              <p:nvPr/>
            </p:nvSpPr>
            <p:spPr bwMode="auto">
              <a:xfrm>
                <a:off x="24511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66" name="Rectangle 27"/>
              <p:cNvSpPr>
                <a:spLocks noChangeArrowheads="1"/>
              </p:cNvSpPr>
              <p:nvPr/>
            </p:nvSpPr>
            <p:spPr bwMode="auto">
              <a:xfrm>
                <a:off x="26035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67" name="Rectangle 28"/>
              <p:cNvSpPr>
                <a:spLocks noChangeArrowheads="1"/>
              </p:cNvSpPr>
              <p:nvPr/>
            </p:nvSpPr>
            <p:spPr bwMode="auto">
              <a:xfrm>
                <a:off x="2768600" y="15623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68" name="Rectangle 29"/>
              <p:cNvSpPr>
                <a:spLocks noChangeArrowheads="1"/>
              </p:cNvSpPr>
              <p:nvPr/>
            </p:nvSpPr>
            <p:spPr bwMode="auto">
              <a:xfrm>
                <a:off x="22860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69" name="Rectangle 30"/>
              <p:cNvSpPr>
                <a:spLocks noChangeArrowheads="1"/>
              </p:cNvSpPr>
              <p:nvPr/>
            </p:nvSpPr>
            <p:spPr bwMode="auto">
              <a:xfrm>
                <a:off x="24511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0" name="Rectangle 31"/>
              <p:cNvSpPr>
                <a:spLocks noChangeArrowheads="1"/>
              </p:cNvSpPr>
              <p:nvPr/>
            </p:nvSpPr>
            <p:spPr bwMode="auto">
              <a:xfrm>
                <a:off x="26035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1" name="Rectangle 32"/>
              <p:cNvSpPr>
                <a:spLocks noChangeArrowheads="1"/>
              </p:cNvSpPr>
              <p:nvPr/>
            </p:nvSpPr>
            <p:spPr bwMode="auto">
              <a:xfrm>
                <a:off x="2768600" y="17274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72" name="Rectangle 33"/>
              <p:cNvSpPr>
                <a:spLocks noChangeArrowheads="1"/>
              </p:cNvSpPr>
              <p:nvPr/>
            </p:nvSpPr>
            <p:spPr bwMode="auto">
              <a:xfrm>
                <a:off x="22860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3" name="Rectangle 34"/>
              <p:cNvSpPr>
                <a:spLocks noChangeArrowheads="1"/>
              </p:cNvSpPr>
              <p:nvPr/>
            </p:nvSpPr>
            <p:spPr bwMode="auto">
              <a:xfrm>
                <a:off x="24511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  <p:sp>
            <p:nvSpPr>
              <p:cNvPr id="374" name="Rectangle 35"/>
              <p:cNvSpPr>
                <a:spLocks noChangeArrowheads="1"/>
              </p:cNvSpPr>
              <p:nvPr/>
            </p:nvSpPr>
            <p:spPr bwMode="auto">
              <a:xfrm>
                <a:off x="26035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5" name="Rectangle 36"/>
              <p:cNvSpPr>
                <a:spLocks noChangeArrowheads="1"/>
              </p:cNvSpPr>
              <p:nvPr/>
            </p:nvSpPr>
            <p:spPr bwMode="auto">
              <a:xfrm>
                <a:off x="2768600" y="18798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6" name="Rectangle 37"/>
              <p:cNvSpPr>
                <a:spLocks noChangeArrowheads="1"/>
              </p:cNvSpPr>
              <p:nvPr/>
            </p:nvSpPr>
            <p:spPr bwMode="auto">
              <a:xfrm>
                <a:off x="22860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7" name="Rectangle 38"/>
              <p:cNvSpPr>
                <a:spLocks noChangeArrowheads="1"/>
              </p:cNvSpPr>
              <p:nvPr/>
            </p:nvSpPr>
            <p:spPr bwMode="auto">
              <a:xfrm>
                <a:off x="24511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8" name="Rectangle 39"/>
              <p:cNvSpPr>
                <a:spLocks noChangeArrowheads="1"/>
              </p:cNvSpPr>
              <p:nvPr/>
            </p:nvSpPr>
            <p:spPr bwMode="auto">
              <a:xfrm>
                <a:off x="26035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800"/>
              </a:p>
            </p:txBody>
          </p:sp>
          <p:sp>
            <p:nvSpPr>
              <p:cNvPr id="379" name="Rectangle 40"/>
              <p:cNvSpPr>
                <a:spLocks noChangeArrowheads="1"/>
              </p:cNvSpPr>
              <p:nvPr/>
            </p:nvSpPr>
            <p:spPr bwMode="auto">
              <a:xfrm>
                <a:off x="2768600" y="2044948"/>
                <a:ext cx="165100" cy="1651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800" dirty="0"/>
                  <a:t>Q</a:t>
                </a:r>
                <a:endParaRPr lang="zh-CN" altLang="en-US" sz="800" dirty="0"/>
              </a:p>
            </p:txBody>
          </p:sp>
        </p:grpSp>
        <p:sp>
          <p:nvSpPr>
            <p:cNvPr id="380" name="Line 21"/>
            <p:cNvSpPr>
              <a:spLocks noChangeShapeType="1"/>
            </p:cNvSpPr>
            <p:nvPr/>
          </p:nvSpPr>
          <p:spPr bwMode="auto">
            <a:xfrm flipH="1">
              <a:off x="3130219" y="3752650"/>
              <a:ext cx="865023" cy="409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1" name="Line 21"/>
            <p:cNvSpPr>
              <a:spLocks noChangeShapeType="1"/>
            </p:cNvSpPr>
            <p:nvPr/>
          </p:nvSpPr>
          <p:spPr bwMode="auto">
            <a:xfrm flipH="1">
              <a:off x="3664457" y="3745330"/>
              <a:ext cx="421872" cy="416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2" name="Line 21"/>
            <p:cNvSpPr>
              <a:spLocks noChangeShapeType="1"/>
            </p:cNvSpPr>
            <p:nvPr/>
          </p:nvSpPr>
          <p:spPr bwMode="auto">
            <a:xfrm>
              <a:off x="4086329" y="3745329"/>
              <a:ext cx="305390" cy="4167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3" name="Line 21"/>
            <p:cNvSpPr>
              <a:spLocks noChangeShapeType="1"/>
            </p:cNvSpPr>
            <p:nvPr/>
          </p:nvSpPr>
          <p:spPr bwMode="auto">
            <a:xfrm>
              <a:off x="4107199" y="3747162"/>
              <a:ext cx="834366" cy="409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394343" y="3497613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6" name="矩形 705"/>
          <p:cNvSpPr/>
          <p:nvPr/>
        </p:nvSpPr>
        <p:spPr>
          <a:xfrm>
            <a:off x="1136143" y="252015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7" name="矩形 706"/>
          <p:cNvSpPr/>
          <p:nvPr/>
        </p:nvSpPr>
        <p:spPr>
          <a:xfrm>
            <a:off x="375469" y="244814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8" name="矩形 707"/>
          <p:cNvSpPr/>
          <p:nvPr/>
        </p:nvSpPr>
        <p:spPr>
          <a:xfrm>
            <a:off x="1208151" y="352826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9" name="矩形 708"/>
          <p:cNvSpPr/>
          <p:nvPr/>
        </p:nvSpPr>
        <p:spPr>
          <a:xfrm>
            <a:off x="1928231" y="347774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0" name="矩形 709"/>
          <p:cNvSpPr/>
          <p:nvPr/>
        </p:nvSpPr>
        <p:spPr>
          <a:xfrm>
            <a:off x="2504295" y="347774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1" name="矩形 710"/>
          <p:cNvSpPr/>
          <p:nvPr/>
        </p:nvSpPr>
        <p:spPr>
          <a:xfrm>
            <a:off x="3296383" y="345626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2" name="矩形 711"/>
          <p:cNvSpPr/>
          <p:nvPr/>
        </p:nvSpPr>
        <p:spPr>
          <a:xfrm>
            <a:off x="2720319" y="441385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3" name="矩形 712"/>
          <p:cNvSpPr/>
          <p:nvPr/>
        </p:nvSpPr>
        <p:spPr>
          <a:xfrm>
            <a:off x="3512407" y="439236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4" name="矩形 713"/>
          <p:cNvSpPr/>
          <p:nvPr/>
        </p:nvSpPr>
        <p:spPr>
          <a:xfrm>
            <a:off x="4304495" y="441385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5" name="矩形 714"/>
          <p:cNvSpPr/>
          <p:nvPr/>
        </p:nvSpPr>
        <p:spPr>
          <a:xfrm>
            <a:off x="4880559" y="441385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6" name="矩形 715"/>
          <p:cNvSpPr/>
          <p:nvPr/>
        </p:nvSpPr>
        <p:spPr>
          <a:xfrm>
            <a:off x="4623941" y="345626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17" name="矩形 716"/>
          <p:cNvSpPr/>
          <p:nvPr/>
        </p:nvSpPr>
        <p:spPr>
          <a:xfrm>
            <a:off x="5272013" y="345626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02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91963"/>
            <a:ext cx="2478278" cy="1052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确定了第一行的位置后，考察第二行所有可能的放法，也是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3" name="矩形 402"/>
          <p:cNvSpPr/>
          <p:nvPr/>
        </p:nvSpPr>
        <p:spPr>
          <a:xfrm>
            <a:off x="951889" y="1872956"/>
            <a:ext cx="1065662" cy="232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第二行</a:t>
            </a:r>
          </a:p>
        </p:txBody>
      </p:sp>
      <p:sp>
        <p:nvSpPr>
          <p:cNvPr id="404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624" y="2309580"/>
            <a:ext cx="2188017" cy="68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在前两行放置位置可行的情况下，考察第三行的所有可能性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" name="矩形 404"/>
          <p:cNvSpPr/>
          <p:nvPr/>
        </p:nvSpPr>
        <p:spPr>
          <a:xfrm>
            <a:off x="3054223" y="1063242"/>
            <a:ext cx="1065662" cy="232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第一行</a:t>
            </a:r>
          </a:p>
        </p:txBody>
      </p:sp>
    </p:spTree>
    <p:extLst>
      <p:ext uri="{BB962C8B-B14F-4D97-AF65-F5344CB8AC3E}">
        <p14:creationId xmlns:p14="http://schemas.microsoft.com/office/powerpoint/2010/main" val="12109239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" grpId="0"/>
      <p:bldP spid="712" grpId="0"/>
      <p:bldP spid="713" grpId="0"/>
      <p:bldP spid="714" grpId="0"/>
      <p:bldP spid="715" grpId="0"/>
      <p:bldP spid="716" grpId="0"/>
      <p:bldP spid="7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343400" y="647948"/>
            <a:ext cx="533400" cy="541918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204129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194169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204129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194169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1441359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1442274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1442274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1456261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01" name="组合 500"/>
          <p:cNvGrpSpPr/>
          <p:nvPr/>
        </p:nvGrpSpPr>
        <p:grpSpPr>
          <a:xfrm>
            <a:off x="1074713" y="223668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0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0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0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18" name="组合 517"/>
          <p:cNvGrpSpPr/>
          <p:nvPr/>
        </p:nvGrpSpPr>
        <p:grpSpPr>
          <a:xfrm>
            <a:off x="1794580" y="2231085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1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2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2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35" name="组合 534"/>
          <p:cNvGrpSpPr/>
          <p:nvPr/>
        </p:nvGrpSpPr>
        <p:grpSpPr>
          <a:xfrm>
            <a:off x="2924373" y="2236687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3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3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4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52" name="组合 551"/>
          <p:cNvGrpSpPr/>
          <p:nvPr/>
        </p:nvGrpSpPr>
        <p:grpSpPr>
          <a:xfrm>
            <a:off x="377025" y="2236687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5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5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5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569" name="Line 21"/>
          <p:cNvSpPr>
            <a:spLocks noChangeShapeType="1"/>
          </p:cNvSpPr>
          <p:nvPr/>
        </p:nvSpPr>
        <p:spPr bwMode="auto">
          <a:xfrm flipH="1">
            <a:off x="930333" y="2007427"/>
            <a:ext cx="1486649" cy="2077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" name="Line 21"/>
          <p:cNvSpPr>
            <a:spLocks noChangeShapeType="1"/>
          </p:cNvSpPr>
          <p:nvPr/>
        </p:nvSpPr>
        <p:spPr bwMode="auto">
          <a:xfrm flipH="1">
            <a:off x="1596341" y="2012858"/>
            <a:ext cx="984496" cy="2023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1" name="Line 21"/>
          <p:cNvSpPr>
            <a:spLocks noChangeShapeType="1"/>
          </p:cNvSpPr>
          <p:nvPr/>
        </p:nvSpPr>
        <p:spPr bwMode="auto">
          <a:xfrm flipH="1">
            <a:off x="2131938" y="2028747"/>
            <a:ext cx="425491" cy="2066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2" name="Line 21"/>
          <p:cNvSpPr>
            <a:spLocks noChangeShapeType="1"/>
          </p:cNvSpPr>
          <p:nvPr/>
        </p:nvSpPr>
        <p:spPr bwMode="auto">
          <a:xfrm>
            <a:off x="2569134" y="2012857"/>
            <a:ext cx="472028" cy="2023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3" name="组合 572"/>
          <p:cNvGrpSpPr/>
          <p:nvPr/>
        </p:nvGrpSpPr>
        <p:grpSpPr>
          <a:xfrm>
            <a:off x="447477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7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7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58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8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8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1109285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18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8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8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8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19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9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19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9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1778193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0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0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0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1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1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1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2426265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20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21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2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3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4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5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26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27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8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29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3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3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236" name="Line 21"/>
          <p:cNvSpPr>
            <a:spLocks noChangeShapeType="1"/>
          </p:cNvSpPr>
          <p:nvPr/>
        </p:nvSpPr>
        <p:spPr bwMode="auto">
          <a:xfrm flipH="1">
            <a:off x="872946" y="2808188"/>
            <a:ext cx="1102086" cy="35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" name="Line 21"/>
          <p:cNvSpPr>
            <a:spLocks noChangeShapeType="1"/>
          </p:cNvSpPr>
          <p:nvPr/>
        </p:nvSpPr>
        <p:spPr bwMode="auto">
          <a:xfrm flipH="1">
            <a:off x="1366371" y="2802583"/>
            <a:ext cx="658854" cy="3600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8" name="Line 21"/>
          <p:cNvSpPr>
            <a:spLocks noChangeShapeType="1"/>
          </p:cNvSpPr>
          <p:nvPr/>
        </p:nvSpPr>
        <p:spPr bwMode="auto">
          <a:xfrm flipH="1">
            <a:off x="1895559" y="2796670"/>
            <a:ext cx="183366" cy="36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9" name="Line 21"/>
          <p:cNvSpPr>
            <a:spLocks noChangeShapeType="1"/>
          </p:cNvSpPr>
          <p:nvPr/>
        </p:nvSpPr>
        <p:spPr bwMode="auto">
          <a:xfrm>
            <a:off x="2096200" y="2808187"/>
            <a:ext cx="558694" cy="3398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0" name="组合 239"/>
          <p:cNvGrpSpPr/>
          <p:nvPr/>
        </p:nvGrpSpPr>
        <p:grpSpPr>
          <a:xfrm>
            <a:off x="3175316" y="3173830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41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42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3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4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5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6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7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8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49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50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1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2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3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4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5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6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3820295" y="3174562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58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59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0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1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2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3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4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5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66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7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68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9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0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1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2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3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4498148" y="317822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91" name="组合 290"/>
          <p:cNvGrpSpPr/>
          <p:nvPr/>
        </p:nvGrpSpPr>
        <p:grpSpPr>
          <a:xfrm>
            <a:off x="5167056" y="317822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9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9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0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0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308" name="Line 21"/>
          <p:cNvSpPr>
            <a:spLocks noChangeShapeType="1"/>
          </p:cNvSpPr>
          <p:nvPr/>
        </p:nvSpPr>
        <p:spPr bwMode="auto">
          <a:xfrm>
            <a:off x="3321156" y="2814533"/>
            <a:ext cx="1955214" cy="3408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" name="Line 21"/>
          <p:cNvSpPr>
            <a:spLocks noChangeShapeType="1"/>
          </p:cNvSpPr>
          <p:nvPr/>
        </p:nvSpPr>
        <p:spPr bwMode="auto">
          <a:xfrm>
            <a:off x="3286670" y="2802583"/>
            <a:ext cx="1358789" cy="3712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" name="Line 21"/>
          <p:cNvSpPr>
            <a:spLocks noChangeShapeType="1"/>
          </p:cNvSpPr>
          <p:nvPr/>
        </p:nvSpPr>
        <p:spPr bwMode="auto">
          <a:xfrm>
            <a:off x="3270964" y="2820137"/>
            <a:ext cx="729302" cy="3279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1" name="Line 21"/>
          <p:cNvSpPr>
            <a:spLocks noChangeShapeType="1"/>
          </p:cNvSpPr>
          <p:nvPr/>
        </p:nvSpPr>
        <p:spPr bwMode="auto">
          <a:xfrm>
            <a:off x="3236477" y="2804091"/>
            <a:ext cx="40164" cy="3809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2" name="组合 311"/>
          <p:cNvGrpSpPr/>
          <p:nvPr/>
        </p:nvGrpSpPr>
        <p:grpSpPr>
          <a:xfrm>
            <a:off x="2701998" y="418039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1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1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3419839" y="418039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30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31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2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3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4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5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6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7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38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9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4107200" y="4174791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4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5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5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6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63" name="组合 362"/>
          <p:cNvGrpSpPr/>
          <p:nvPr/>
        </p:nvGrpSpPr>
        <p:grpSpPr>
          <a:xfrm>
            <a:off x="4775055" y="4168935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6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6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7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7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</p:grpSp>
      <p:sp>
        <p:nvSpPr>
          <p:cNvPr id="380" name="Line 21"/>
          <p:cNvSpPr>
            <a:spLocks noChangeShapeType="1"/>
          </p:cNvSpPr>
          <p:nvPr/>
        </p:nvSpPr>
        <p:spPr bwMode="auto">
          <a:xfrm flipH="1">
            <a:off x="3130219" y="3752650"/>
            <a:ext cx="865023" cy="409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1" name="Line 21"/>
          <p:cNvSpPr>
            <a:spLocks noChangeShapeType="1"/>
          </p:cNvSpPr>
          <p:nvPr/>
        </p:nvSpPr>
        <p:spPr bwMode="auto">
          <a:xfrm flipH="1">
            <a:off x="3664457" y="3745330"/>
            <a:ext cx="421872" cy="4167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2" name="Line 21"/>
          <p:cNvSpPr>
            <a:spLocks noChangeShapeType="1"/>
          </p:cNvSpPr>
          <p:nvPr/>
        </p:nvSpPr>
        <p:spPr bwMode="auto">
          <a:xfrm>
            <a:off x="4086329" y="3745329"/>
            <a:ext cx="305390" cy="4167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3" name="Line 21"/>
          <p:cNvSpPr>
            <a:spLocks noChangeShapeType="1"/>
          </p:cNvSpPr>
          <p:nvPr/>
        </p:nvSpPr>
        <p:spPr bwMode="auto">
          <a:xfrm>
            <a:off x="4107199" y="3747162"/>
            <a:ext cx="834366" cy="4091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4" name="组合 383"/>
          <p:cNvGrpSpPr/>
          <p:nvPr/>
        </p:nvGrpSpPr>
        <p:grpSpPr>
          <a:xfrm>
            <a:off x="4830254" y="2231861"/>
            <a:ext cx="596900" cy="571500"/>
            <a:chOff x="2286000" y="1562348"/>
            <a:chExt cx="647700" cy="647700"/>
          </a:xfrm>
        </p:grpSpPr>
        <p:sp>
          <p:nvSpPr>
            <p:cNvPr id="38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38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8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8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8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9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01" name="组合 400"/>
          <p:cNvGrpSpPr/>
          <p:nvPr/>
        </p:nvGrpSpPr>
        <p:grpSpPr>
          <a:xfrm>
            <a:off x="5550121" y="2226258"/>
            <a:ext cx="596900" cy="571500"/>
            <a:chOff x="2286000" y="1562348"/>
            <a:chExt cx="647700" cy="647700"/>
          </a:xfrm>
        </p:grpSpPr>
        <p:sp>
          <p:nvSpPr>
            <p:cNvPr id="40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0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0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0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18" name="组合 417"/>
          <p:cNvGrpSpPr/>
          <p:nvPr/>
        </p:nvGrpSpPr>
        <p:grpSpPr>
          <a:xfrm>
            <a:off x="6245287" y="2231860"/>
            <a:ext cx="596900" cy="571500"/>
            <a:chOff x="2286000" y="1562348"/>
            <a:chExt cx="647700" cy="647700"/>
          </a:xfrm>
        </p:grpSpPr>
        <p:sp>
          <p:nvSpPr>
            <p:cNvPr id="41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2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2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2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35" name="组合 434"/>
          <p:cNvGrpSpPr/>
          <p:nvPr/>
        </p:nvGrpSpPr>
        <p:grpSpPr>
          <a:xfrm>
            <a:off x="4132566" y="2231860"/>
            <a:ext cx="596900" cy="571500"/>
            <a:chOff x="2286000" y="1562348"/>
            <a:chExt cx="647700" cy="647700"/>
          </a:xfrm>
        </p:grpSpPr>
        <p:sp>
          <p:nvSpPr>
            <p:cNvPr id="43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3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3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4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5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5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452" name="Line 21"/>
          <p:cNvSpPr>
            <a:spLocks noChangeShapeType="1"/>
          </p:cNvSpPr>
          <p:nvPr/>
        </p:nvSpPr>
        <p:spPr bwMode="auto">
          <a:xfrm flipH="1">
            <a:off x="4183928" y="2007428"/>
            <a:ext cx="208179" cy="23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" name="Line 21"/>
          <p:cNvSpPr>
            <a:spLocks noChangeShapeType="1"/>
          </p:cNvSpPr>
          <p:nvPr/>
        </p:nvSpPr>
        <p:spPr bwMode="auto">
          <a:xfrm>
            <a:off x="4498148" y="2005127"/>
            <a:ext cx="418060" cy="19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" name="Line 21"/>
          <p:cNvSpPr>
            <a:spLocks noChangeShapeType="1"/>
          </p:cNvSpPr>
          <p:nvPr/>
        </p:nvSpPr>
        <p:spPr bwMode="auto">
          <a:xfrm>
            <a:off x="4511887" y="2020120"/>
            <a:ext cx="1375591" cy="2104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" name="Line 21"/>
          <p:cNvSpPr>
            <a:spLocks noChangeShapeType="1"/>
          </p:cNvSpPr>
          <p:nvPr/>
        </p:nvSpPr>
        <p:spPr bwMode="auto">
          <a:xfrm>
            <a:off x="4564279" y="2012996"/>
            <a:ext cx="1885515" cy="2045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" name="矩形 705"/>
          <p:cNvSpPr/>
          <p:nvPr/>
        </p:nvSpPr>
        <p:spPr>
          <a:xfrm>
            <a:off x="2888011" y="1206789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7" name="矩形 706"/>
          <p:cNvSpPr/>
          <p:nvPr/>
        </p:nvSpPr>
        <p:spPr>
          <a:xfrm>
            <a:off x="4232487" y="2541642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8" name="矩形 707"/>
          <p:cNvSpPr/>
          <p:nvPr/>
        </p:nvSpPr>
        <p:spPr>
          <a:xfrm>
            <a:off x="5024575" y="259216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9" name="矩形 708"/>
          <p:cNvSpPr/>
          <p:nvPr/>
        </p:nvSpPr>
        <p:spPr>
          <a:xfrm>
            <a:off x="5672647" y="252015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1124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" grpId="0"/>
      <p:bldP spid="708" grpId="0"/>
      <p:bldP spid="70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343400" y="647948"/>
            <a:ext cx="533400" cy="541918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204129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194169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204129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194169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1441359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1442274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1442274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1456261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01" name="组合 500"/>
          <p:cNvGrpSpPr/>
          <p:nvPr/>
        </p:nvGrpSpPr>
        <p:grpSpPr>
          <a:xfrm>
            <a:off x="1074713" y="223668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0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0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0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18" name="组合 517"/>
          <p:cNvGrpSpPr/>
          <p:nvPr/>
        </p:nvGrpSpPr>
        <p:grpSpPr>
          <a:xfrm>
            <a:off x="1794580" y="2231085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1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2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2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35" name="组合 534"/>
          <p:cNvGrpSpPr/>
          <p:nvPr/>
        </p:nvGrpSpPr>
        <p:grpSpPr>
          <a:xfrm>
            <a:off x="2924373" y="2236687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3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3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4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52" name="组合 551"/>
          <p:cNvGrpSpPr/>
          <p:nvPr/>
        </p:nvGrpSpPr>
        <p:grpSpPr>
          <a:xfrm>
            <a:off x="377025" y="2236687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5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5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5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569" name="Line 21"/>
          <p:cNvSpPr>
            <a:spLocks noChangeShapeType="1"/>
          </p:cNvSpPr>
          <p:nvPr/>
        </p:nvSpPr>
        <p:spPr bwMode="auto">
          <a:xfrm flipH="1">
            <a:off x="930333" y="2007427"/>
            <a:ext cx="1486649" cy="2077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" name="Line 21"/>
          <p:cNvSpPr>
            <a:spLocks noChangeShapeType="1"/>
          </p:cNvSpPr>
          <p:nvPr/>
        </p:nvSpPr>
        <p:spPr bwMode="auto">
          <a:xfrm flipH="1">
            <a:off x="1596341" y="2012858"/>
            <a:ext cx="984496" cy="2023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1" name="Line 21"/>
          <p:cNvSpPr>
            <a:spLocks noChangeShapeType="1"/>
          </p:cNvSpPr>
          <p:nvPr/>
        </p:nvSpPr>
        <p:spPr bwMode="auto">
          <a:xfrm flipH="1">
            <a:off x="2131938" y="2028747"/>
            <a:ext cx="425491" cy="2066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2" name="Line 21"/>
          <p:cNvSpPr>
            <a:spLocks noChangeShapeType="1"/>
          </p:cNvSpPr>
          <p:nvPr/>
        </p:nvSpPr>
        <p:spPr bwMode="auto">
          <a:xfrm>
            <a:off x="2569134" y="2012857"/>
            <a:ext cx="472028" cy="2023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3" name="组合 572"/>
          <p:cNvGrpSpPr/>
          <p:nvPr/>
        </p:nvGrpSpPr>
        <p:grpSpPr>
          <a:xfrm>
            <a:off x="447477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7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7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58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8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8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1109285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18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8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8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8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19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9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19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9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1778193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0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0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0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1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1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1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2426265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20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21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2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3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4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5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26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27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8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29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3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3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236" name="Line 21"/>
          <p:cNvSpPr>
            <a:spLocks noChangeShapeType="1"/>
          </p:cNvSpPr>
          <p:nvPr/>
        </p:nvSpPr>
        <p:spPr bwMode="auto">
          <a:xfrm flipH="1">
            <a:off x="872946" y="2808188"/>
            <a:ext cx="1102086" cy="35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" name="Line 21"/>
          <p:cNvSpPr>
            <a:spLocks noChangeShapeType="1"/>
          </p:cNvSpPr>
          <p:nvPr/>
        </p:nvSpPr>
        <p:spPr bwMode="auto">
          <a:xfrm flipH="1">
            <a:off x="1366371" y="2802583"/>
            <a:ext cx="658854" cy="3600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8" name="Line 21"/>
          <p:cNvSpPr>
            <a:spLocks noChangeShapeType="1"/>
          </p:cNvSpPr>
          <p:nvPr/>
        </p:nvSpPr>
        <p:spPr bwMode="auto">
          <a:xfrm flipH="1">
            <a:off x="1895559" y="2796670"/>
            <a:ext cx="183366" cy="36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9" name="Line 21"/>
          <p:cNvSpPr>
            <a:spLocks noChangeShapeType="1"/>
          </p:cNvSpPr>
          <p:nvPr/>
        </p:nvSpPr>
        <p:spPr bwMode="auto">
          <a:xfrm>
            <a:off x="2096200" y="2808187"/>
            <a:ext cx="558694" cy="3398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0" name="组合 239"/>
          <p:cNvGrpSpPr/>
          <p:nvPr/>
        </p:nvGrpSpPr>
        <p:grpSpPr>
          <a:xfrm>
            <a:off x="3175316" y="3173830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41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42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3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4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5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6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7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8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49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50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1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2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3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4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5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6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3820295" y="3174562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58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59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0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1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2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3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4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5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66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7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68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9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0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1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2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3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4498148" y="317822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91" name="组合 290"/>
          <p:cNvGrpSpPr/>
          <p:nvPr/>
        </p:nvGrpSpPr>
        <p:grpSpPr>
          <a:xfrm>
            <a:off x="5167056" y="317822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9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9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0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0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308" name="Line 21"/>
          <p:cNvSpPr>
            <a:spLocks noChangeShapeType="1"/>
          </p:cNvSpPr>
          <p:nvPr/>
        </p:nvSpPr>
        <p:spPr bwMode="auto">
          <a:xfrm>
            <a:off x="3321156" y="2814533"/>
            <a:ext cx="1955214" cy="3408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" name="Line 21"/>
          <p:cNvSpPr>
            <a:spLocks noChangeShapeType="1"/>
          </p:cNvSpPr>
          <p:nvPr/>
        </p:nvSpPr>
        <p:spPr bwMode="auto">
          <a:xfrm>
            <a:off x="3286670" y="2802583"/>
            <a:ext cx="1358789" cy="3712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" name="Line 21"/>
          <p:cNvSpPr>
            <a:spLocks noChangeShapeType="1"/>
          </p:cNvSpPr>
          <p:nvPr/>
        </p:nvSpPr>
        <p:spPr bwMode="auto">
          <a:xfrm>
            <a:off x="3270964" y="2820137"/>
            <a:ext cx="729302" cy="3279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1" name="Line 21"/>
          <p:cNvSpPr>
            <a:spLocks noChangeShapeType="1"/>
          </p:cNvSpPr>
          <p:nvPr/>
        </p:nvSpPr>
        <p:spPr bwMode="auto">
          <a:xfrm>
            <a:off x="3236477" y="2804091"/>
            <a:ext cx="40164" cy="3809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2" name="组合 311"/>
          <p:cNvGrpSpPr/>
          <p:nvPr/>
        </p:nvGrpSpPr>
        <p:grpSpPr>
          <a:xfrm>
            <a:off x="2701998" y="418039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1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1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3419839" y="418039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30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31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2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3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4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5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6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7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38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9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4107200" y="4174791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4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5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5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6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63" name="组合 362"/>
          <p:cNvGrpSpPr/>
          <p:nvPr/>
        </p:nvGrpSpPr>
        <p:grpSpPr>
          <a:xfrm>
            <a:off x="4775055" y="4168935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6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6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7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7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</p:grpSp>
      <p:sp>
        <p:nvSpPr>
          <p:cNvPr id="380" name="Line 21"/>
          <p:cNvSpPr>
            <a:spLocks noChangeShapeType="1"/>
          </p:cNvSpPr>
          <p:nvPr/>
        </p:nvSpPr>
        <p:spPr bwMode="auto">
          <a:xfrm flipH="1">
            <a:off x="3130219" y="3752650"/>
            <a:ext cx="865023" cy="409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1" name="Line 21"/>
          <p:cNvSpPr>
            <a:spLocks noChangeShapeType="1"/>
          </p:cNvSpPr>
          <p:nvPr/>
        </p:nvSpPr>
        <p:spPr bwMode="auto">
          <a:xfrm flipH="1">
            <a:off x="3664457" y="3745330"/>
            <a:ext cx="421872" cy="4167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2" name="Line 21"/>
          <p:cNvSpPr>
            <a:spLocks noChangeShapeType="1"/>
          </p:cNvSpPr>
          <p:nvPr/>
        </p:nvSpPr>
        <p:spPr bwMode="auto">
          <a:xfrm>
            <a:off x="4086329" y="3745329"/>
            <a:ext cx="305390" cy="4167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3" name="Line 21"/>
          <p:cNvSpPr>
            <a:spLocks noChangeShapeType="1"/>
          </p:cNvSpPr>
          <p:nvPr/>
        </p:nvSpPr>
        <p:spPr bwMode="auto">
          <a:xfrm>
            <a:off x="4107199" y="3747162"/>
            <a:ext cx="834366" cy="4091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4" name="组合 383"/>
          <p:cNvGrpSpPr/>
          <p:nvPr/>
        </p:nvGrpSpPr>
        <p:grpSpPr>
          <a:xfrm>
            <a:off x="4830254" y="2231861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8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38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8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8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8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9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01" name="组合 400"/>
          <p:cNvGrpSpPr/>
          <p:nvPr/>
        </p:nvGrpSpPr>
        <p:grpSpPr>
          <a:xfrm>
            <a:off x="5550121" y="222625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0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0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0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0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18" name="组合 417"/>
          <p:cNvGrpSpPr/>
          <p:nvPr/>
        </p:nvGrpSpPr>
        <p:grpSpPr>
          <a:xfrm>
            <a:off x="6245287" y="2231860"/>
            <a:ext cx="596900" cy="571500"/>
            <a:chOff x="2286000" y="1562348"/>
            <a:chExt cx="647700" cy="647700"/>
          </a:xfrm>
        </p:grpSpPr>
        <p:sp>
          <p:nvSpPr>
            <p:cNvPr id="41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2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2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2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35" name="组合 434"/>
          <p:cNvGrpSpPr/>
          <p:nvPr/>
        </p:nvGrpSpPr>
        <p:grpSpPr>
          <a:xfrm>
            <a:off x="4132566" y="2231860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3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3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3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4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5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5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452" name="Line 21"/>
          <p:cNvSpPr>
            <a:spLocks noChangeShapeType="1"/>
          </p:cNvSpPr>
          <p:nvPr/>
        </p:nvSpPr>
        <p:spPr bwMode="auto">
          <a:xfrm flipH="1">
            <a:off x="4183928" y="2007428"/>
            <a:ext cx="208179" cy="23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" name="Line 21"/>
          <p:cNvSpPr>
            <a:spLocks noChangeShapeType="1"/>
          </p:cNvSpPr>
          <p:nvPr/>
        </p:nvSpPr>
        <p:spPr bwMode="auto">
          <a:xfrm>
            <a:off x="4498148" y="2005127"/>
            <a:ext cx="418060" cy="19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" name="Line 21"/>
          <p:cNvSpPr>
            <a:spLocks noChangeShapeType="1"/>
          </p:cNvSpPr>
          <p:nvPr/>
        </p:nvSpPr>
        <p:spPr bwMode="auto">
          <a:xfrm>
            <a:off x="4511887" y="2020120"/>
            <a:ext cx="1375591" cy="2104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" name="Line 21"/>
          <p:cNvSpPr>
            <a:spLocks noChangeShapeType="1"/>
          </p:cNvSpPr>
          <p:nvPr/>
        </p:nvSpPr>
        <p:spPr bwMode="auto">
          <a:xfrm>
            <a:off x="4564279" y="2012996"/>
            <a:ext cx="1885515" cy="2045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6" name="组合 455"/>
          <p:cNvGrpSpPr/>
          <p:nvPr/>
        </p:nvGrpSpPr>
        <p:grpSpPr>
          <a:xfrm>
            <a:off x="6687135" y="3162373"/>
            <a:ext cx="596900" cy="571500"/>
            <a:chOff x="2286000" y="1562348"/>
            <a:chExt cx="647700" cy="647700"/>
          </a:xfrm>
        </p:grpSpPr>
        <p:sp>
          <p:nvSpPr>
            <p:cNvPr id="45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5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5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6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6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6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73" name="组合 472"/>
          <p:cNvGrpSpPr/>
          <p:nvPr/>
        </p:nvGrpSpPr>
        <p:grpSpPr>
          <a:xfrm>
            <a:off x="7407002" y="3156770"/>
            <a:ext cx="596900" cy="571500"/>
            <a:chOff x="2286000" y="1562348"/>
            <a:chExt cx="647700" cy="647700"/>
          </a:xfrm>
        </p:grpSpPr>
        <p:sp>
          <p:nvSpPr>
            <p:cNvPr id="47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7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7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9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596" name="组合 595"/>
          <p:cNvGrpSpPr/>
          <p:nvPr/>
        </p:nvGrpSpPr>
        <p:grpSpPr>
          <a:xfrm>
            <a:off x="8102168" y="3162372"/>
            <a:ext cx="596900" cy="571500"/>
            <a:chOff x="2286000" y="1562348"/>
            <a:chExt cx="647700" cy="647700"/>
          </a:xfrm>
        </p:grpSpPr>
        <p:sp>
          <p:nvSpPr>
            <p:cNvPr id="59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59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9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0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0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613" name="组合 612"/>
          <p:cNvGrpSpPr/>
          <p:nvPr/>
        </p:nvGrpSpPr>
        <p:grpSpPr>
          <a:xfrm>
            <a:off x="5989447" y="3162372"/>
            <a:ext cx="596900" cy="571500"/>
            <a:chOff x="2286000" y="1562348"/>
            <a:chExt cx="647700" cy="647700"/>
          </a:xfrm>
        </p:grpSpPr>
        <p:sp>
          <p:nvSpPr>
            <p:cNvPr id="61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1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1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1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2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2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630" name="Line 21"/>
          <p:cNvSpPr>
            <a:spLocks noChangeShapeType="1"/>
          </p:cNvSpPr>
          <p:nvPr/>
        </p:nvSpPr>
        <p:spPr bwMode="auto">
          <a:xfrm flipH="1">
            <a:off x="6049102" y="2813258"/>
            <a:ext cx="406242" cy="3429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1" name="Line 21"/>
          <p:cNvSpPr>
            <a:spLocks noChangeShapeType="1"/>
          </p:cNvSpPr>
          <p:nvPr/>
        </p:nvSpPr>
        <p:spPr bwMode="auto">
          <a:xfrm>
            <a:off x="6497071" y="2796671"/>
            <a:ext cx="345116" cy="3513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2" name="Line 21"/>
          <p:cNvSpPr>
            <a:spLocks noChangeShapeType="1"/>
          </p:cNvSpPr>
          <p:nvPr/>
        </p:nvSpPr>
        <p:spPr bwMode="auto">
          <a:xfrm>
            <a:off x="6547839" y="2817670"/>
            <a:ext cx="1196519" cy="343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3" name="Line 21"/>
          <p:cNvSpPr>
            <a:spLocks noChangeShapeType="1"/>
          </p:cNvSpPr>
          <p:nvPr/>
        </p:nvSpPr>
        <p:spPr bwMode="auto">
          <a:xfrm>
            <a:off x="6537885" y="2808187"/>
            <a:ext cx="1768790" cy="3398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" name="矩形 705"/>
          <p:cNvSpPr/>
          <p:nvPr/>
        </p:nvSpPr>
        <p:spPr>
          <a:xfrm>
            <a:off x="2888011" y="1206789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695004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84C8A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3"/>
          <p:cNvGrpSpPr>
            <a:grpSpLocks/>
          </p:cNvGrpSpPr>
          <p:nvPr/>
        </p:nvGrpSpPr>
        <p:grpSpPr bwMode="auto">
          <a:xfrm>
            <a:off x="4343400" y="647948"/>
            <a:ext cx="533400" cy="541918"/>
            <a:chOff x="3360" y="3256"/>
            <a:chExt cx="408" cy="408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33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34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3560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664" y="32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3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9" name="Rectangle 9"/>
            <p:cNvSpPr>
              <a:spLocks noChangeArrowheads="1"/>
            </p:cNvSpPr>
            <p:nvPr/>
          </p:nvSpPr>
          <p:spPr bwMode="auto">
            <a:xfrm>
              <a:off x="34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560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664" y="33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33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3" name="Rectangle 13"/>
            <p:cNvSpPr>
              <a:spLocks noChangeArrowheads="1"/>
            </p:cNvSpPr>
            <p:nvPr/>
          </p:nvSpPr>
          <p:spPr bwMode="auto">
            <a:xfrm>
              <a:off x="34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3560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5" name="Rectangle 15"/>
            <p:cNvSpPr>
              <a:spLocks noChangeArrowheads="1"/>
            </p:cNvSpPr>
            <p:nvPr/>
          </p:nvSpPr>
          <p:spPr bwMode="auto">
            <a:xfrm>
              <a:off x="3664" y="3456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6" name="Rectangle 16"/>
            <p:cNvSpPr>
              <a:spLocks noChangeArrowheads="1"/>
            </p:cNvSpPr>
            <p:nvPr/>
          </p:nvSpPr>
          <p:spPr bwMode="auto">
            <a:xfrm>
              <a:off x="33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7" name="Rectangle 17"/>
            <p:cNvSpPr>
              <a:spLocks noChangeArrowheads="1"/>
            </p:cNvSpPr>
            <p:nvPr/>
          </p:nvSpPr>
          <p:spPr bwMode="auto">
            <a:xfrm>
              <a:off x="34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8" name="Rectangle 18"/>
            <p:cNvSpPr>
              <a:spLocks noChangeArrowheads="1"/>
            </p:cNvSpPr>
            <p:nvPr/>
          </p:nvSpPr>
          <p:spPr bwMode="auto">
            <a:xfrm>
              <a:off x="3560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69" name="Rectangle 19"/>
            <p:cNvSpPr>
              <a:spLocks noChangeArrowheads="1"/>
            </p:cNvSpPr>
            <p:nvPr/>
          </p:nvSpPr>
          <p:spPr bwMode="auto">
            <a:xfrm>
              <a:off x="3664" y="3560"/>
              <a:ext cx="104" cy="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71" name="Line 21"/>
          <p:cNvSpPr>
            <a:spLocks noChangeShapeType="1"/>
          </p:cNvSpPr>
          <p:nvPr/>
        </p:nvSpPr>
        <p:spPr bwMode="auto">
          <a:xfrm flipH="1">
            <a:off x="2864580" y="1204129"/>
            <a:ext cx="1707418" cy="2317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 flipH="1">
            <a:off x="4564279" y="1194169"/>
            <a:ext cx="40592" cy="2417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3"/>
          <p:cNvSpPr>
            <a:spLocks noChangeShapeType="1"/>
          </p:cNvSpPr>
          <p:nvPr/>
        </p:nvSpPr>
        <p:spPr bwMode="auto">
          <a:xfrm>
            <a:off x="4645460" y="1204129"/>
            <a:ext cx="993339" cy="2162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24"/>
          <p:cNvSpPr>
            <a:spLocks noChangeShapeType="1"/>
          </p:cNvSpPr>
          <p:nvPr/>
        </p:nvSpPr>
        <p:spPr bwMode="auto">
          <a:xfrm>
            <a:off x="4740835" y="1194169"/>
            <a:ext cx="2238795" cy="2590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76536" y="1441359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29100" y="1442274"/>
            <a:ext cx="558800" cy="571500"/>
            <a:chOff x="4229100" y="1562348"/>
            <a:chExt cx="647700" cy="647700"/>
          </a:xfrm>
        </p:grpSpPr>
        <p:sp>
          <p:nvSpPr>
            <p:cNvPr id="91" name="Rectangle 41"/>
            <p:cNvSpPr>
              <a:spLocks noChangeArrowheads="1"/>
            </p:cNvSpPr>
            <p:nvPr/>
          </p:nvSpPr>
          <p:spPr bwMode="auto">
            <a:xfrm>
              <a:off x="4229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43942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4546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4" name="Rectangle 44"/>
            <p:cNvSpPr>
              <a:spLocks noChangeArrowheads="1"/>
            </p:cNvSpPr>
            <p:nvPr/>
          </p:nvSpPr>
          <p:spPr bwMode="auto">
            <a:xfrm>
              <a:off x="47117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29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6" name="Rectangle 46"/>
            <p:cNvSpPr>
              <a:spLocks noChangeArrowheads="1"/>
            </p:cNvSpPr>
            <p:nvPr/>
          </p:nvSpPr>
          <p:spPr bwMode="auto">
            <a:xfrm>
              <a:off x="43942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546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7117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99" name="Rectangle 49"/>
            <p:cNvSpPr>
              <a:spLocks noChangeArrowheads="1"/>
            </p:cNvSpPr>
            <p:nvPr/>
          </p:nvSpPr>
          <p:spPr bwMode="auto">
            <a:xfrm>
              <a:off x="4229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0" name="Rectangle 50"/>
            <p:cNvSpPr>
              <a:spLocks noChangeArrowheads="1"/>
            </p:cNvSpPr>
            <p:nvPr/>
          </p:nvSpPr>
          <p:spPr bwMode="auto">
            <a:xfrm>
              <a:off x="43942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1" name="Rectangle 51"/>
            <p:cNvSpPr>
              <a:spLocks noChangeArrowheads="1"/>
            </p:cNvSpPr>
            <p:nvPr/>
          </p:nvSpPr>
          <p:spPr bwMode="auto">
            <a:xfrm>
              <a:off x="4546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2" name="Rectangle 52"/>
            <p:cNvSpPr>
              <a:spLocks noChangeArrowheads="1"/>
            </p:cNvSpPr>
            <p:nvPr/>
          </p:nvSpPr>
          <p:spPr bwMode="auto">
            <a:xfrm>
              <a:off x="47117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4229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3942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546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6" name="Rectangle 56"/>
            <p:cNvSpPr>
              <a:spLocks noChangeArrowheads="1"/>
            </p:cNvSpPr>
            <p:nvPr/>
          </p:nvSpPr>
          <p:spPr bwMode="auto">
            <a:xfrm>
              <a:off x="47117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38800" y="1442274"/>
            <a:ext cx="559049" cy="558800"/>
            <a:chOff x="5638800" y="1562348"/>
            <a:chExt cx="647700" cy="647700"/>
          </a:xfrm>
        </p:grpSpPr>
        <p:sp>
          <p:nvSpPr>
            <p:cNvPr id="107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08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09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10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1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2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3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4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5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6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7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8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19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0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1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122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484" name="组合 483"/>
          <p:cNvGrpSpPr/>
          <p:nvPr/>
        </p:nvGrpSpPr>
        <p:grpSpPr>
          <a:xfrm>
            <a:off x="6994463" y="1456261"/>
            <a:ext cx="559049" cy="558800"/>
            <a:chOff x="5638800" y="1562348"/>
            <a:chExt cx="647700" cy="647700"/>
          </a:xfrm>
        </p:grpSpPr>
        <p:sp>
          <p:nvSpPr>
            <p:cNvPr id="485" name="Rectangle 57"/>
            <p:cNvSpPr>
              <a:spLocks noChangeArrowheads="1"/>
            </p:cNvSpPr>
            <p:nvPr/>
          </p:nvSpPr>
          <p:spPr bwMode="auto">
            <a:xfrm>
              <a:off x="56388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6" name="Rectangle 58"/>
            <p:cNvSpPr>
              <a:spLocks noChangeArrowheads="1"/>
            </p:cNvSpPr>
            <p:nvPr/>
          </p:nvSpPr>
          <p:spPr bwMode="auto">
            <a:xfrm>
              <a:off x="58039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87" name="Rectangle 59"/>
            <p:cNvSpPr>
              <a:spLocks noChangeArrowheads="1"/>
            </p:cNvSpPr>
            <p:nvPr/>
          </p:nvSpPr>
          <p:spPr bwMode="auto">
            <a:xfrm>
              <a:off x="59563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8" name="Rectangle 60"/>
            <p:cNvSpPr>
              <a:spLocks noChangeArrowheads="1"/>
            </p:cNvSpPr>
            <p:nvPr/>
          </p:nvSpPr>
          <p:spPr bwMode="auto">
            <a:xfrm>
              <a:off x="61214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9" name="Rectangle 61"/>
            <p:cNvSpPr>
              <a:spLocks noChangeArrowheads="1"/>
            </p:cNvSpPr>
            <p:nvPr/>
          </p:nvSpPr>
          <p:spPr bwMode="auto">
            <a:xfrm>
              <a:off x="56388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0" name="Rectangle 62"/>
            <p:cNvSpPr>
              <a:spLocks noChangeArrowheads="1"/>
            </p:cNvSpPr>
            <p:nvPr/>
          </p:nvSpPr>
          <p:spPr bwMode="auto">
            <a:xfrm>
              <a:off x="58039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1" name="Rectangle 63"/>
            <p:cNvSpPr>
              <a:spLocks noChangeArrowheads="1"/>
            </p:cNvSpPr>
            <p:nvPr/>
          </p:nvSpPr>
          <p:spPr bwMode="auto">
            <a:xfrm>
              <a:off x="59563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2" name="Rectangle 64"/>
            <p:cNvSpPr>
              <a:spLocks noChangeArrowheads="1"/>
            </p:cNvSpPr>
            <p:nvPr/>
          </p:nvSpPr>
          <p:spPr bwMode="auto">
            <a:xfrm>
              <a:off x="61214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3" name="Rectangle 65"/>
            <p:cNvSpPr>
              <a:spLocks noChangeArrowheads="1"/>
            </p:cNvSpPr>
            <p:nvPr/>
          </p:nvSpPr>
          <p:spPr bwMode="auto">
            <a:xfrm>
              <a:off x="56388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4" name="Rectangle 66"/>
            <p:cNvSpPr>
              <a:spLocks noChangeArrowheads="1"/>
            </p:cNvSpPr>
            <p:nvPr/>
          </p:nvSpPr>
          <p:spPr bwMode="auto">
            <a:xfrm>
              <a:off x="58039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5" name="Rectangle 67"/>
            <p:cNvSpPr>
              <a:spLocks noChangeArrowheads="1"/>
            </p:cNvSpPr>
            <p:nvPr/>
          </p:nvSpPr>
          <p:spPr bwMode="auto">
            <a:xfrm>
              <a:off x="59563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6" name="Rectangle 68"/>
            <p:cNvSpPr>
              <a:spLocks noChangeArrowheads="1"/>
            </p:cNvSpPr>
            <p:nvPr/>
          </p:nvSpPr>
          <p:spPr bwMode="auto">
            <a:xfrm>
              <a:off x="61214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7" name="Rectangle 69"/>
            <p:cNvSpPr>
              <a:spLocks noChangeArrowheads="1"/>
            </p:cNvSpPr>
            <p:nvPr/>
          </p:nvSpPr>
          <p:spPr bwMode="auto">
            <a:xfrm>
              <a:off x="56388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8" name="Rectangle 70"/>
            <p:cNvSpPr>
              <a:spLocks noChangeArrowheads="1"/>
            </p:cNvSpPr>
            <p:nvPr/>
          </p:nvSpPr>
          <p:spPr bwMode="auto">
            <a:xfrm>
              <a:off x="58039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499" name="Rectangle 71"/>
            <p:cNvSpPr>
              <a:spLocks noChangeArrowheads="1"/>
            </p:cNvSpPr>
            <p:nvPr/>
          </p:nvSpPr>
          <p:spPr bwMode="auto">
            <a:xfrm>
              <a:off x="59563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0" name="Rectangle 72"/>
            <p:cNvSpPr>
              <a:spLocks noChangeArrowheads="1"/>
            </p:cNvSpPr>
            <p:nvPr/>
          </p:nvSpPr>
          <p:spPr bwMode="auto">
            <a:xfrm>
              <a:off x="61214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01" name="组合 500"/>
          <p:cNvGrpSpPr/>
          <p:nvPr/>
        </p:nvGrpSpPr>
        <p:grpSpPr>
          <a:xfrm>
            <a:off x="1074713" y="223668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0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0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0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0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1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18" name="组合 517"/>
          <p:cNvGrpSpPr/>
          <p:nvPr/>
        </p:nvGrpSpPr>
        <p:grpSpPr>
          <a:xfrm>
            <a:off x="1794580" y="2231085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1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2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2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2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35" name="组合 534"/>
          <p:cNvGrpSpPr/>
          <p:nvPr/>
        </p:nvGrpSpPr>
        <p:grpSpPr>
          <a:xfrm>
            <a:off x="2924373" y="2236687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3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3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3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4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4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grpSp>
        <p:nvGrpSpPr>
          <p:cNvPr id="552" name="组合 551"/>
          <p:cNvGrpSpPr/>
          <p:nvPr/>
        </p:nvGrpSpPr>
        <p:grpSpPr>
          <a:xfrm>
            <a:off x="377025" y="2236687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5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5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5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5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  <p:sp>
          <p:nvSpPr>
            <p:cNvPr id="56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1600"/>
            </a:p>
          </p:txBody>
        </p:sp>
      </p:grpSp>
      <p:sp>
        <p:nvSpPr>
          <p:cNvPr id="569" name="Line 21"/>
          <p:cNvSpPr>
            <a:spLocks noChangeShapeType="1"/>
          </p:cNvSpPr>
          <p:nvPr/>
        </p:nvSpPr>
        <p:spPr bwMode="auto">
          <a:xfrm flipH="1">
            <a:off x="930333" y="2007427"/>
            <a:ext cx="1486649" cy="2077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0" name="Line 21"/>
          <p:cNvSpPr>
            <a:spLocks noChangeShapeType="1"/>
          </p:cNvSpPr>
          <p:nvPr/>
        </p:nvSpPr>
        <p:spPr bwMode="auto">
          <a:xfrm flipH="1">
            <a:off x="1596341" y="2012858"/>
            <a:ext cx="984496" cy="2023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1" name="Line 21"/>
          <p:cNvSpPr>
            <a:spLocks noChangeShapeType="1"/>
          </p:cNvSpPr>
          <p:nvPr/>
        </p:nvSpPr>
        <p:spPr bwMode="auto">
          <a:xfrm flipH="1">
            <a:off x="2131938" y="2028747"/>
            <a:ext cx="425491" cy="2066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2" name="Line 21"/>
          <p:cNvSpPr>
            <a:spLocks noChangeShapeType="1"/>
          </p:cNvSpPr>
          <p:nvPr/>
        </p:nvSpPr>
        <p:spPr bwMode="auto">
          <a:xfrm>
            <a:off x="2569134" y="2012857"/>
            <a:ext cx="472028" cy="2023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3" name="组合 572"/>
          <p:cNvGrpSpPr/>
          <p:nvPr/>
        </p:nvGrpSpPr>
        <p:grpSpPr>
          <a:xfrm>
            <a:off x="447477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57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7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7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58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8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8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8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1109285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18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8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8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8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19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9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19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19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19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1778193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0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0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0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0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1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1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1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1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2426265" y="316822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20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21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2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3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4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5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26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27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28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29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23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3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3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236" name="Line 21"/>
          <p:cNvSpPr>
            <a:spLocks noChangeShapeType="1"/>
          </p:cNvSpPr>
          <p:nvPr/>
        </p:nvSpPr>
        <p:spPr bwMode="auto">
          <a:xfrm flipH="1">
            <a:off x="872946" y="2808188"/>
            <a:ext cx="1102086" cy="35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" name="Line 21"/>
          <p:cNvSpPr>
            <a:spLocks noChangeShapeType="1"/>
          </p:cNvSpPr>
          <p:nvPr/>
        </p:nvSpPr>
        <p:spPr bwMode="auto">
          <a:xfrm flipH="1">
            <a:off x="1366371" y="2802583"/>
            <a:ext cx="658854" cy="3600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8" name="Line 21"/>
          <p:cNvSpPr>
            <a:spLocks noChangeShapeType="1"/>
          </p:cNvSpPr>
          <p:nvPr/>
        </p:nvSpPr>
        <p:spPr bwMode="auto">
          <a:xfrm flipH="1">
            <a:off x="1895559" y="2796670"/>
            <a:ext cx="183366" cy="36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9" name="Line 21"/>
          <p:cNvSpPr>
            <a:spLocks noChangeShapeType="1"/>
          </p:cNvSpPr>
          <p:nvPr/>
        </p:nvSpPr>
        <p:spPr bwMode="auto">
          <a:xfrm>
            <a:off x="2096200" y="2808187"/>
            <a:ext cx="558694" cy="3398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0" name="组合 239"/>
          <p:cNvGrpSpPr/>
          <p:nvPr/>
        </p:nvGrpSpPr>
        <p:grpSpPr>
          <a:xfrm>
            <a:off x="3175316" y="3173830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41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42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3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4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5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6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7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48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49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50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1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2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3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4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5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56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3820295" y="3174562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58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59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0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1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2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3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4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5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66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7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68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69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0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1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2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3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4498148" y="317822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7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7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8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8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8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291" name="组合 290"/>
          <p:cNvGrpSpPr/>
          <p:nvPr/>
        </p:nvGrpSpPr>
        <p:grpSpPr>
          <a:xfrm>
            <a:off x="5167056" y="317822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9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29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29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0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0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0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308" name="Line 21"/>
          <p:cNvSpPr>
            <a:spLocks noChangeShapeType="1"/>
          </p:cNvSpPr>
          <p:nvPr/>
        </p:nvSpPr>
        <p:spPr bwMode="auto">
          <a:xfrm>
            <a:off x="3321156" y="2814533"/>
            <a:ext cx="1955214" cy="3408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" name="Line 21"/>
          <p:cNvSpPr>
            <a:spLocks noChangeShapeType="1"/>
          </p:cNvSpPr>
          <p:nvPr/>
        </p:nvSpPr>
        <p:spPr bwMode="auto">
          <a:xfrm>
            <a:off x="3286670" y="2802583"/>
            <a:ext cx="1358789" cy="3712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" name="Line 21"/>
          <p:cNvSpPr>
            <a:spLocks noChangeShapeType="1"/>
          </p:cNvSpPr>
          <p:nvPr/>
        </p:nvSpPr>
        <p:spPr bwMode="auto">
          <a:xfrm>
            <a:off x="3270964" y="2820137"/>
            <a:ext cx="729302" cy="3279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1" name="Line 21"/>
          <p:cNvSpPr>
            <a:spLocks noChangeShapeType="1"/>
          </p:cNvSpPr>
          <p:nvPr/>
        </p:nvSpPr>
        <p:spPr bwMode="auto">
          <a:xfrm>
            <a:off x="3236477" y="2804091"/>
            <a:ext cx="40164" cy="3809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2" name="组合 311"/>
          <p:cNvGrpSpPr/>
          <p:nvPr/>
        </p:nvGrpSpPr>
        <p:grpSpPr>
          <a:xfrm>
            <a:off x="2701998" y="418039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13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14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5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6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7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8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19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0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1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2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3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4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5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26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7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28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3419839" y="4180394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30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31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2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3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4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5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6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7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38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39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4107200" y="4174791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4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4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4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5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5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5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6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363" name="组合 362"/>
          <p:cNvGrpSpPr/>
          <p:nvPr/>
        </p:nvGrpSpPr>
        <p:grpSpPr>
          <a:xfrm>
            <a:off x="4775055" y="4168935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6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6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6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7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7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7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</p:grpSp>
      <p:sp>
        <p:nvSpPr>
          <p:cNvPr id="380" name="Line 21"/>
          <p:cNvSpPr>
            <a:spLocks noChangeShapeType="1"/>
          </p:cNvSpPr>
          <p:nvPr/>
        </p:nvSpPr>
        <p:spPr bwMode="auto">
          <a:xfrm flipH="1">
            <a:off x="3130219" y="3752650"/>
            <a:ext cx="865023" cy="409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1" name="Line 21"/>
          <p:cNvSpPr>
            <a:spLocks noChangeShapeType="1"/>
          </p:cNvSpPr>
          <p:nvPr/>
        </p:nvSpPr>
        <p:spPr bwMode="auto">
          <a:xfrm flipH="1">
            <a:off x="3664457" y="3745330"/>
            <a:ext cx="421872" cy="4167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2" name="Line 21"/>
          <p:cNvSpPr>
            <a:spLocks noChangeShapeType="1"/>
          </p:cNvSpPr>
          <p:nvPr/>
        </p:nvSpPr>
        <p:spPr bwMode="auto">
          <a:xfrm>
            <a:off x="4086329" y="3745329"/>
            <a:ext cx="305390" cy="4167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3" name="Line 21"/>
          <p:cNvSpPr>
            <a:spLocks noChangeShapeType="1"/>
          </p:cNvSpPr>
          <p:nvPr/>
        </p:nvSpPr>
        <p:spPr bwMode="auto">
          <a:xfrm>
            <a:off x="4107199" y="3747162"/>
            <a:ext cx="834366" cy="4091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4" name="组合 383"/>
          <p:cNvGrpSpPr/>
          <p:nvPr/>
        </p:nvGrpSpPr>
        <p:grpSpPr>
          <a:xfrm>
            <a:off x="4830254" y="2231861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38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38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8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8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8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39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39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01" name="组合 400"/>
          <p:cNvGrpSpPr/>
          <p:nvPr/>
        </p:nvGrpSpPr>
        <p:grpSpPr>
          <a:xfrm>
            <a:off x="5550121" y="2226258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0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0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0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0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0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1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18" name="组合 417"/>
          <p:cNvGrpSpPr/>
          <p:nvPr/>
        </p:nvGrpSpPr>
        <p:grpSpPr>
          <a:xfrm>
            <a:off x="6245287" y="2231860"/>
            <a:ext cx="596900" cy="571500"/>
            <a:chOff x="2286000" y="1562348"/>
            <a:chExt cx="647700" cy="647700"/>
          </a:xfrm>
        </p:grpSpPr>
        <p:sp>
          <p:nvSpPr>
            <p:cNvPr id="41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2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2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2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2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35" name="组合 434"/>
          <p:cNvGrpSpPr/>
          <p:nvPr/>
        </p:nvGrpSpPr>
        <p:grpSpPr>
          <a:xfrm>
            <a:off x="4132566" y="2231860"/>
            <a:ext cx="596900" cy="571500"/>
            <a:chOff x="2286000" y="1562348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3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3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3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3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4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4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5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5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452" name="Line 21"/>
          <p:cNvSpPr>
            <a:spLocks noChangeShapeType="1"/>
          </p:cNvSpPr>
          <p:nvPr/>
        </p:nvSpPr>
        <p:spPr bwMode="auto">
          <a:xfrm flipH="1">
            <a:off x="4183928" y="2007428"/>
            <a:ext cx="208179" cy="235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" name="Line 21"/>
          <p:cNvSpPr>
            <a:spLocks noChangeShapeType="1"/>
          </p:cNvSpPr>
          <p:nvPr/>
        </p:nvSpPr>
        <p:spPr bwMode="auto">
          <a:xfrm>
            <a:off x="4498148" y="2005127"/>
            <a:ext cx="418060" cy="19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" name="Line 21"/>
          <p:cNvSpPr>
            <a:spLocks noChangeShapeType="1"/>
          </p:cNvSpPr>
          <p:nvPr/>
        </p:nvSpPr>
        <p:spPr bwMode="auto">
          <a:xfrm>
            <a:off x="4511887" y="2020120"/>
            <a:ext cx="1375591" cy="2104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" name="Line 21"/>
          <p:cNvSpPr>
            <a:spLocks noChangeShapeType="1"/>
          </p:cNvSpPr>
          <p:nvPr/>
        </p:nvSpPr>
        <p:spPr bwMode="auto">
          <a:xfrm>
            <a:off x="4564279" y="2012996"/>
            <a:ext cx="1885515" cy="2045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6" name="组合 455"/>
          <p:cNvGrpSpPr/>
          <p:nvPr/>
        </p:nvGrpSpPr>
        <p:grpSpPr>
          <a:xfrm>
            <a:off x="6687135" y="3162373"/>
            <a:ext cx="596900" cy="571500"/>
            <a:chOff x="2286000" y="1562348"/>
            <a:chExt cx="647700" cy="647700"/>
          </a:xfrm>
        </p:grpSpPr>
        <p:sp>
          <p:nvSpPr>
            <p:cNvPr id="45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5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5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6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6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6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6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473" name="组合 472"/>
          <p:cNvGrpSpPr/>
          <p:nvPr/>
        </p:nvGrpSpPr>
        <p:grpSpPr>
          <a:xfrm>
            <a:off x="7407002" y="3156770"/>
            <a:ext cx="596900" cy="571500"/>
            <a:chOff x="2286000" y="1562348"/>
            <a:chExt cx="647700" cy="647700"/>
          </a:xfrm>
        </p:grpSpPr>
        <p:sp>
          <p:nvSpPr>
            <p:cNvPr id="47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7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7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7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48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48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48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0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91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2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3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4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595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596" name="组合 595"/>
          <p:cNvGrpSpPr/>
          <p:nvPr/>
        </p:nvGrpSpPr>
        <p:grpSpPr>
          <a:xfrm>
            <a:off x="8102168" y="3162372"/>
            <a:ext cx="596900" cy="571500"/>
            <a:chOff x="2286000" y="1562348"/>
            <a:chExt cx="647700" cy="647700"/>
          </a:xfrm>
        </p:grpSpPr>
        <p:sp>
          <p:nvSpPr>
            <p:cNvPr id="597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598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599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0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1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2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3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4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05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6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7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08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09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0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1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2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613" name="组合 612"/>
          <p:cNvGrpSpPr/>
          <p:nvPr/>
        </p:nvGrpSpPr>
        <p:grpSpPr>
          <a:xfrm>
            <a:off x="5989447" y="3162372"/>
            <a:ext cx="596900" cy="571500"/>
            <a:chOff x="2286000" y="1562348"/>
            <a:chExt cx="647700" cy="647700"/>
          </a:xfrm>
        </p:grpSpPr>
        <p:sp>
          <p:nvSpPr>
            <p:cNvPr id="614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15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16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7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18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19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0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1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22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23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4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5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6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7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8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29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sp>
        <p:nvSpPr>
          <p:cNvPr id="630" name="Line 21"/>
          <p:cNvSpPr>
            <a:spLocks noChangeShapeType="1"/>
          </p:cNvSpPr>
          <p:nvPr/>
        </p:nvSpPr>
        <p:spPr bwMode="auto">
          <a:xfrm flipH="1">
            <a:off x="6049102" y="2813258"/>
            <a:ext cx="406242" cy="3429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1" name="Line 21"/>
          <p:cNvSpPr>
            <a:spLocks noChangeShapeType="1"/>
          </p:cNvSpPr>
          <p:nvPr/>
        </p:nvSpPr>
        <p:spPr bwMode="auto">
          <a:xfrm>
            <a:off x="6497071" y="2796671"/>
            <a:ext cx="276018" cy="3328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2" name="Line 21"/>
          <p:cNvSpPr>
            <a:spLocks noChangeShapeType="1"/>
          </p:cNvSpPr>
          <p:nvPr/>
        </p:nvSpPr>
        <p:spPr bwMode="auto">
          <a:xfrm>
            <a:off x="6547839" y="2817670"/>
            <a:ext cx="1196519" cy="343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3" name="Line 21"/>
          <p:cNvSpPr>
            <a:spLocks noChangeShapeType="1"/>
          </p:cNvSpPr>
          <p:nvPr/>
        </p:nvSpPr>
        <p:spPr bwMode="auto">
          <a:xfrm>
            <a:off x="6568987" y="2792154"/>
            <a:ext cx="1737688" cy="3559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34" name="组合 633"/>
          <p:cNvGrpSpPr/>
          <p:nvPr/>
        </p:nvGrpSpPr>
        <p:grpSpPr>
          <a:xfrm>
            <a:off x="5843148" y="4181320"/>
            <a:ext cx="596900" cy="571500"/>
            <a:chOff x="2286000" y="1562348"/>
            <a:chExt cx="647700" cy="647700"/>
          </a:xfrm>
        </p:grpSpPr>
        <p:sp>
          <p:nvSpPr>
            <p:cNvPr id="635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36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37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38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39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40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41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42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43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44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45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46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47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48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49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50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651" name="组合 650"/>
          <p:cNvGrpSpPr/>
          <p:nvPr/>
        </p:nvGrpSpPr>
        <p:grpSpPr>
          <a:xfrm>
            <a:off x="6575020" y="4177948"/>
            <a:ext cx="596900" cy="571500"/>
            <a:chOff x="2286000" y="1562348"/>
            <a:chExt cx="647700" cy="647700"/>
          </a:xfrm>
        </p:grpSpPr>
        <p:sp>
          <p:nvSpPr>
            <p:cNvPr id="652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53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54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55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56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57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58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59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60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61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62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63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64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65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66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67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668" name="组合 667"/>
          <p:cNvGrpSpPr/>
          <p:nvPr/>
        </p:nvGrpSpPr>
        <p:grpSpPr>
          <a:xfrm>
            <a:off x="7279469" y="4168935"/>
            <a:ext cx="596900" cy="571500"/>
            <a:chOff x="2286000" y="1562348"/>
            <a:chExt cx="647700" cy="647700"/>
          </a:xfrm>
        </p:grpSpPr>
        <p:sp>
          <p:nvSpPr>
            <p:cNvPr id="669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70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71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72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73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74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75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76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77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78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79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80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81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82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83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84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</p:grpSp>
      <p:grpSp>
        <p:nvGrpSpPr>
          <p:cNvPr id="685" name="组合 684"/>
          <p:cNvGrpSpPr/>
          <p:nvPr/>
        </p:nvGrpSpPr>
        <p:grpSpPr>
          <a:xfrm>
            <a:off x="7962580" y="4162058"/>
            <a:ext cx="596900" cy="571500"/>
            <a:chOff x="2286000" y="1562348"/>
            <a:chExt cx="647700" cy="647700"/>
          </a:xfrm>
        </p:grpSpPr>
        <p:sp>
          <p:nvSpPr>
            <p:cNvPr id="686" name="Rectangle 25"/>
            <p:cNvSpPr>
              <a:spLocks noChangeArrowheads="1"/>
            </p:cNvSpPr>
            <p:nvPr/>
          </p:nvSpPr>
          <p:spPr bwMode="auto">
            <a:xfrm>
              <a:off x="22860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87" name="Rectangle 26"/>
            <p:cNvSpPr>
              <a:spLocks noChangeArrowheads="1"/>
            </p:cNvSpPr>
            <p:nvPr/>
          </p:nvSpPr>
          <p:spPr bwMode="auto">
            <a:xfrm>
              <a:off x="24511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88" name="Rectangle 27"/>
            <p:cNvSpPr>
              <a:spLocks noChangeArrowheads="1"/>
            </p:cNvSpPr>
            <p:nvPr/>
          </p:nvSpPr>
          <p:spPr bwMode="auto">
            <a:xfrm>
              <a:off x="26035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89" name="Rectangle 28"/>
            <p:cNvSpPr>
              <a:spLocks noChangeArrowheads="1"/>
            </p:cNvSpPr>
            <p:nvPr/>
          </p:nvSpPr>
          <p:spPr bwMode="auto">
            <a:xfrm>
              <a:off x="2768600" y="15623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0" name="Rectangle 29"/>
            <p:cNvSpPr>
              <a:spLocks noChangeArrowheads="1"/>
            </p:cNvSpPr>
            <p:nvPr/>
          </p:nvSpPr>
          <p:spPr bwMode="auto">
            <a:xfrm>
              <a:off x="22860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 dirty="0"/>
            </a:p>
          </p:txBody>
        </p:sp>
        <p:sp>
          <p:nvSpPr>
            <p:cNvPr id="691" name="Rectangle 30"/>
            <p:cNvSpPr>
              <a:spLocks noChangeArrowheads="1"/>
            </p:cNvSpPr>
            <p:nvPr/>
          </p:nvSpPr>
          <p:spPr bwMode="auto">
            <a:xfrm>
              <a:off x="24511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2" name="Rectangle 31"/>
            <p:cNvSpPr>
              <a:spLocks noChangeArrowheads="1"/>
            </p:cNvSpPr>
            <p:nvPr/>
          </p:nvSpPr>
          <p:spPr bwMode="auto">
            <a:xfrm>
              <a:off x="26035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3" name="Rectangle 32"/>
            <p:cNvSpPr>
              <a:spLocks noChangeArrowheads="1"/>
            </p:cNvSpPr>
            <p:nvPr/>
          </p:nvSpPr>
          <p:spPr bwMode="auto">
            <a:xfrm>
              <a:off x="2768600" y="17274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94" name="Rectangle 33"/>
            <p:cNvSpPr>
              <a:spLocks noChangeArrowheads="1"/>
            </p:cNvSpPr>
            <p:nvPr/>
          </p:nvSpPr>
          <p:spPr bwMode="auto">
            <a:xfrm>
              <a:off x="22860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  <p:sp>
          <p:nvSpPr>
            <p:cNvPr id="695" name="Rectangle 34"/>
            <p:cNvSpPr>
              <a:spLocks noChangeArrowheads="1"/>
            </p:cNvSpPr>
            <p:nvPr/>
          </p:nvSpPr>
          <p:spPr bwMode="auto">
            <a:xfrm>
              <a:off x="24511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6" name="Rectangle 35"/>
            <p:cNvSpPr>
              <a:spLocks noChangeArrowheads="1"/>
            </p:cNvSpPr>
            <p:nvPr/>
          </p:nvSpPr>
          <p:spPr bwMode="auto">
            <a:xfrm>
              <a:off x="26035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7" name="Rectangle 36"/>
            <p:cNvSpPr>
              <a:spLocks noChangeArrowheads="1"/>
            </p:cNvSpPr>
            <p:nvPr/>
          </p:nvSpPr>
          <p:spPr bwMode="auto">
            <a:xfrm>
              <a:off x="2768600" y="18798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8" name="Rectangle 37"/>
            <p:cNvSpPr>
              <a:spLocks noChangeArrowheads="1"/>
            </p:cNvSpPr>
            <p:nvPr/>
          </p:nvSpPr>
          <p:spPr bwMode="auto">
            <a:xfrm>
              <a:off x="22860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699" name="Rectangle 38"/>
            <p:cNvSpPr>
              <a:spLocks noChangeArrowheads="1"/>
            </p:cNvSpPr>
            <p:nvPr/>
          </p:nvSpPr>
          <p:spPr bwMode="auto">
            <a:xfrm>
              <a:off x="24511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700" name="Rectangle 39"/>
            <p:cNvSpPr>
              <a:spLocks noChangeArrowheads="1"/>
            </p:cNvSpPr>
            <p:nvPr/>
          </p:nvSpPr>
          <p:spPr bwMode="auto">
            <a:xfrm>
              <a:off x="26035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800"/>
            </a:p>
          </p:txBody>
        </p:sp>
        <p:sp>
          <p:nvSpPr>
            <p:cNvPr id="701" name="Rectangle 40"/>
            <p:cNvSpPr>
              <a:spLocks noChangeArrowheads="1"/>
            </p:cNvSpPr>
            <p:nvPr/>
          </p:nvSpPr>
          <p:spPr bwMode="auto">
            <a:xfrm>
              <a:off x="2768600" y="2044948"/>
              <a:ext cx="165100" cy="165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800" dirty="0"/>
                <a:t>Q</a:t>
              </a:r>
              <a:endParaRPr lang="zh-CN" altLang="en-US" sz="800" dirty="0"/>
            </a:p>
          </p:txBody>
        </p:sp>
      </p:grpSp>
      <p:sp>
        <p:nvSpPr>
          <p:cNvPr id="702" name="Line 21"/>
          <p:cNvSpPr>
            <a:spLocks noChangeShapeType="1"/>
          </p:cNvSpPr>
          <p:nvPr/>
        </p:nvSpPr>
        <p:spPr bwMode="auto">
          <a:xfrm flipH="1">
            <a:off x="5967268" y="3733870"/>
            <a:ext cx="229509" cy="4224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3" name="Line 21"/>
          <p:cNvSpPr>
            <a:spLocks noChangeShapeType="1"/>
          </p:cNvSpPr>
          <p:nvPr/>
        </p:nvSpPr>
        <p:spPr bwMode="auto">
          <a:xfrm>
            <a:off x="6259866" y="3733869"/>
            <a:ext cx="407434" cy="4224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4" name="Line 21"/>
          <p:cNvSpPr>
            <a:spLocks noChangeShapeType="1"/>
          </p:cNvSpPr>
          <p:nvPr/>
        </p:nvSpPr>
        <p:spPr bwMode="auto">
          <a:xfrm>
            <a:off x="6373593" y="3733868"/>
            <a:ext cx="1053500" cy="4294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5" name="Line 21"/>
          <p:cNvSpPr>
            <a:spLocks noChangeShapeType="1"/>
          </p:cNvSpPr>
          <p:nvPr/>
        </p:nvSpPr>
        <p:spPr bwMode="auto">
          <a:xfrm>
            <a:off x="6475632" y="3733866"/>
            <a:ext cx="1553663" cy="4084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" name="矩形 705"/>
          <p:cNvSpPr/>
          <p:nvPr/>
        </p:nvSpPr>
        <p:spPr>
          <a:xfrm>
            <a:off x="2888011" y="1206789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7" name="矩形 706"/>
          <p:cNvSpPr/>
          <p:nvPr/>
        </p:nvSpPr>
        <p:spPr>
          <a:xfrm>
            <a:off x="5971138" y="4507333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08" name="矩形 707"/>
          <p:cNvSpPr/>
          <p:nvPr/>
        </p:nvSpPr>
        <p:spPr>
          <a:xfrm>
            <a:off x="6639586" y="449814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10848" y="4466143"/>
            <a:ext cx="2968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09" name="矩形 708"/>
          <p:cNvSpPr/>
          <p:nvPr/>
        </p:nvSpPr>
        <p:spPr>
          <a:xfrm>
            <a:off x="8018880" y="4416886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╳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8683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" grpId="0"/>
      <p:bldP spid="708" grpId="0"/>
      <p:bldP spid="70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84C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29" y="791963"/>
            <a:ext cx="7732085" cy="28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600" b="1" dirty="0">
                <a:latin typeface="Times New Roman" panose="02020603050405020304" pitchFamily="18" charset="0"/>
              </a:rPr>
              <a:t>按顺序逐行放置皇后，以</a:t>
            </a:r>
            <a:r>
              <a:rPr lang="en-US" altLang="zh-CN" sz="1600" b="1" dirty="0">
                <a:latin typeface="Times New Roman" panose="02020603050405020304" pitchFamily="18" charset="0"/>
              </a:rPr>
              <a:t>4</a:t>
            </a:r>
            <a:r>
              <a:rPr lang="zh-CN" altLang="en-US" sz="1600" b="1" dirty="0">
                <a:latin typeface="Times New Roman" panose="02020603050405020304" pitchFamily="18" charset="0"/>
              </a:rPr>
              <a:t>皇后为例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630238" lvl="2" eaLnBrk="1" hangingPunct="1">
              <a:spcBef>
                <a:spcPts val="300"/>
              </a:spcBef>
              <a:buFont typeface="Times New Roman" panose="02020603050405020304" pitchFamily="18" charset="0"/>
              <a:buChar char="-"/>
              <a:defRPr/>
            </a:pPr>
            <a:r>
              <a:rPr lang="zh-CN" altLang="en-US" sz="1600" b="1" dirty="0">
                <a:latin typeface="Times New Roman" panose="02020603050405020304" pitchFamily="18" charset="0"/>
              </a:rPr>
              <a:t>从第一行开始，有</a:t>
            </a:r>
            <a:r>
              <a:rPr lang="en-US" altLang="zh-CN" sz="1600" b="1" dirty="0">
                <a:latin typeface="Times New Roman" panose="02020603050405020304" pitchFamily="18" charset="0"/>
              </a:rPr>
              <a:t>4</a:t>
            </a:r>
            <a:r>
              <a:rPr lang="zh-CN" altLang="en-US" sz="1600" b="1" dirty="0">
                <a:latin typeface="Times New Roman" panose="02020603050405020304" pitchFamily="18" charset="0"/>
              </a:rPr>
              <a:t>种可能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630238" lvl="2" eaLnBrk="1" hangingPunct="1">
              <a:spcBef>
                <a:spcPts val="300"/>
              </a:spcBef>
              <a:buFont typeface="Times New Roman" panose="02020603050405020304" pitchFamily="18" charset="0"/>
              <a:buChar char="-"/>
              <a:defRPr/>
            </a:pP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确定了第一行的位置后，再考察第二行放一个皇后所有可能的放法，也是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</a:t>
            </a:r>
            <a:endParaRPr lang="en-US" altLang="zh-CN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30238" lvl="2" eaLnBrk="1" hangingPunct="1">
              <a:spcBef>
                <a:spcPts val="300"/>
              </a:spcBef>
              <a:buFont typeface="Times New Roman" panose="02020603050405020304" pitchFamily="18" charset="0"/>
              <a:buChar char="-"/>
              <a:defRPr/>
            </a:pPr>
            <a:r>
              <a:rPr lang="zh-CN" altLang="en-US" sz="1600" b="1" dirty="0">
                <a:latin typeface="Times New Roman" panose="02020603050405020304" pitchFamily="18" charset="0"/>
              </a:rPr>
              <a:t>在前两行放置位置可行的情况下，再考察第三行放一个皇后的所有可能性， 以此类推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630238" lvl="2" eaLnBrk="1" hangingPunct="1">
              <a:spcBef>
                <a:spcPts val="300"/>
              </a:spcBef>
              <a:buFont typeface="Times New Roman" panose="02020603050405020304" pitchFamily="18" charset="0"/>
              <a:buChar char="-"/>
              <a:defRPr/>
            </a:pPr>
            <a:r>
              <a:rPr lang="zh-CN" altLang="en-US" sz="1600" b="1" dirty="0">
                <a:latin typeface="Times New Roman" panose="02020603050405020304" pitchFamily="18" charset="0"/>
              </a:rPr>
              <a:t>四行都放过之后，下一步到第五行（超出棋盘边界），每次能到达第五行时，得到一个</a:t>
            </a:r>
            <a:r>
              <a:rPr lang="en-US" altLang="zh-CN" sz="1600" b="1" dirty="0">
                <a:latin typeface="Times New Roman" panose="02020603050405020304" pitchFamily="18" charset="0"/>
              </a:rPr>
              <a:t>solution</a:t>
            </a:r>
          </a:p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en-US" altLang="zh-CN" sz="1600" b="1" dirty="0">
                <a:latin typeface="Times New Roman" panose="02020603050405020304" pitchFamily="18" charset="0"/>
              </a:rPr>
              <a:t>n</a:t>
            </a:r>
            <a:r>
              <a:rPr lang="zh-CN" altLang="en-US" sz="1600" b="1" dirty="0">
                <a:latin typeface="Times New Roman" panose="02020603050405020304" pitchFamily="18" charset="0"/>
              </a:rPr>
              <a:t>个皇后的处理方式同理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1588" lvl="1" indent="0" eaLnBrk="1" hangingPunct="1">
              <a:spcBef>
                <a:spcPts val="300"/>
              </a:spcBef>
              <a:buNone/>
              <a:defRPr/>
            </a:pPr>
            <a:endParaRPr lang="en-US" altLang="zh-CN" sz="1600" b="1" dirty="0">
              <a:latin typeface="Times New Roman" panose="02020603050405020304" pitchFamily="18" charset="0"/>
            </a:endParaRPr>
          </a:p>
          <a:p>
            <a:pPr marL="344488" lvl="1" indent="-342900" eaLnBrk="1" hangingPunct="1">
              <a:spcBef>
                <a:spcPts val="300"/>
              </a:spcBef>
              <a:buFont typeface="Wingdings" panose="05000000000000000000" pitchFamily="2" charset="2"/>
              <a:buChar char="F"/>
              <a:defRPr/>
            </a:pPr>
            <a:r>
              <a:rPr lang="zh-CN" altLang="en-US" sz="1600" b="1" dirty="0">
                <a:latin typeface="Times New Roman" panose="02020603050405020304" pitchFamily="18" charset="0"/>
              </a:rPr>
              <a:t>设计解决</a:t>
            </a:r>
            <a:r>
              <a:rPr lang="en-US" altLang="zh-CN" sz="1600" b="1" dirty="0">
                <a:latin typeface="Times New Roman" panose="02020603050405020304" pitchFamily="18" charset="0"/>
              </a:rPr>
              <a:t>n</a:t>
            </a:r>
            <a:r>
              <a:rPr lang="zh-CN" altLang="en-US" sz="1600" b="1" dirty="0">
                <a:latin typeface="Times New Roman" panose="02020603050405020304" pitchFamily="18" charset="0"/>
              </a:rPr>
              <a:t>皇后问题的算法接口</a:t>
            </a:r>
            <a:endParaRPr lang="en-US" altLang="zh-CN" sz="1600" b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03861" y="2602760"/>
            <a:ext cx="4474302" cy="21390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dirty="0"/>
              <a:t>char a[MAXN][MAXN]; // </a:t>
            </a:r>
            <a:r>
              <a:rPr lang="zh-CN" altLang="en-US" sz="1800" dirty="0"/>
              <a:t>存棋盘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en-US" altLang="zh-CN" sz="1800" dirty="0"/>
              <a:t>bool check(int n); // </a:t>
            </a:r>
            <a:r>
              <a:rPr lang="zh-CN" altLang="en-US" sz="1800" dirty="0"/>
              <a:t>检查当前棋盘是否合法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print_a</a:t>
            </a:r>
            <a:r>
              <a:rPr lang="en-US" altLang="zh-CN" sz="1800" dirty="0"/>
              <a:t>(int n); // </a:t>
            </a:r>
            <a:r>
              <a:rPr lang="zh-CN" altLang="en-US" sz="1800" dirty="0"/>
              <a:t>将当前棋盘输出</a:t>
            </a:r>
            <a:r>
              <a:rPr lang="en-US" altLang="zh-CN" sz="1800" dirty="0"/>
              <a:t> </a:t>
            </a:r>
          </a:p>
          <a:p>
            <a:pPr>
              <a:spcBef>
                <a:spcPts val="600"/>
              </a:spcBef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solveQueen</a:t>
            </a:r>
            <a:r>
              <a:rPr lang="en-US" altLang="zh-CN" sz="1800" dirty="0"/>
              <a:t>(int n, int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);  // </a:t>
            </a:r>
            <a:r>
              <a:rPr lang="zh-CN" altLang="en-US" sz="1800" dirty="0"/>
              <a:t>主要函数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en-US" altLang="zh-CN" sz="1800" dirty="0"/>
              <a:t>//</a:t>
            </a:r>
            <a:r>
              <a:rPr lang="zh-CN" altLang="en-US" sz="1800" dirty="0"/>
              <a:t>在</a:t>
            </a:r>
            <a:r>
              <a:rPr lang="en-US" altLang="zh-CN" sz="1800" dirty="0"/>
              <a:t>n</a:t>
            </a:r>
            <a:r>
              <a:rPr lang="zh-CN" altLang="en-US" sz="1800" dirty="0"/>
              <a:t>*</a:t>
            </a:r>
            <a:r>
              <a:rPr lang="en-US" altLang="zh-CN" sz="1800" dirty="0"/>
              <a:t>n</a:t>
            </a:r>
            <a:r>
              <a:rPr lang="zh-CN" altLang="en-US" sz="1800" dirty="0"/>
              <a:t>的棋盘上放置互不攻击的</a:t>
            </a:r>
            <a:r>
              <a:rPr lang="en-US" altLang="zh-CN" sz="1800" dirty="0"/>
              <a:t>n</a:t>
            </a:r>
            <a:r>
              <a:rPr lang="zh-CN" altLang="en-US" sz="1800" dirty="0"/>
              <a:t>个皇后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1800" dirty="0"/>
              <a:t>// </a:t>
            </a:r>
            <a:r>
              <a:rPr lang="en-US" altLang="zh-CN" sz="1800" dirty="0" err="1"/>
              <a:t>i</a:t>
            </a:r>
            <a:r>
              <a:rPr lang="zh-CN" altLang="en-US" sz="1800" dirty="0"/>
              <a:t>表示目前正在放置第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行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1084164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F766AD7D-1CE9-45C2-3635-DBC9C5454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00" y="1269117"/>
            <a:ext cx="4025234" cy="302488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19C625-85E5-C6A6-061E-518DFE2FF6F5}"/>
              </a:ext>
            </a:extLst>
          </p:cNvPr>
          <p:cNvSpPr txBox="1"/>
          <p:nvPr/>
        </p:nvSpPr>
        <p:spPr>
          <a:xfrm>
            <a:off x="546868" y="858542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设计主要函数流程：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37CED9-2028-C49F-3828-97597C8DD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89" y="1313802"/>
            <a:ext cx="3486150" cy="29527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0A869E2-A6D3-00C7-E2FF-77B1C38103EF}"/>
              </a:ext>
            </a:extLst>
          </p:cNvPr>
          <p:cNvSpPr txBox="1"/>
          <p:nvPr/>
        </p:nvSpPr>
        <p:spPr>
          <a:xfrm>
            <a:off x="4948305" y="86112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主要函数代码：</a:t>
            </a:r>
          </a:p>
        </p:txBody>
      </p:sp>
    </p:spTree>
    <p:extLst>
      <p:ext uri="{BB962C8B-B14F-4D97-AF65-F5344CB8AC3E}">
        <p14:creationId xmlns:p14="http://schemas.microsoft.com/office/powerpoint/2010/main" val="127119115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皇后问题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sz="2800" b="1" dirty="0">
              <a:solidFill>
                <a:srgbClr val="284C8A"/>
              </a:solidFill>
              <a:latin typeface="宋体" panose="02010600030101010101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65D4E20-C589-1206-383A-C071DE1D6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03" y="1096543"/>
            <a:ext cx="2988178" cy="14236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7FD48E-766E-45B4-9E31-682D1DD1B1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037" y="638411"/>
            <a:ext cx="2490582" cy="21065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234460-9BCC-5C69-0255-2D02BB44B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241" y="2744958"/>
            <a:ext cx="3196148" cy="230998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CED1662-AB4E-CA0E-5DFA-BE335611EB86}"/>
              </a:ext>
            </a:extLst>
          </p:cNvPr>
          <p:cNvSpPr txBox="1"/>
          <p:nvPr/>
        </p:nvSpPr>
        <p:spPr>
          <a:xfrm>
            <a:off x="807517" y="76127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参考代码：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882FCD8-3A97-8CDA-2759-CD4C1C8CA9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02" y="2596741"/>
            <a:ext cx="2902269" cy="245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19265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414915" cy="32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在程序设计问题中，有一类问题，其要求是求解一组解、求全部解或求最优解，这种问题的求解不是按照确定的计算法则进行，而是利用试探和回溯的搜索技术求解。称为回溯法。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回溯法求解过程实质上是先序遍历一棵“状态树”的过程，这棵树不是预先建立的，而是隐含在算法逻辑中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回溯法有通用的算法结构</a:t>
            </a:r>
          </a:p>
          <a:p>
            <a:pPr marL="344488" lvl="1" indent="-3429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endParaRPr lang="zh-CN" altLang="en-US" sz="20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643452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算法的基本结构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73790" y="739185"/>
            <a:ext cx="6986455" cy="3797196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32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200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332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464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0596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40665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0797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20929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满足终止条件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最后一层已处理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，进行必要处理并返回;</a:t>
            </a:r>
          </a:p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用循环遍历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各种可能情况：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possible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  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做出选择，加入标记;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         进入下一层; //递归调用</a:t>
            </a:r>
          </a:p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      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撤销选择，清除标记;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156662" y="1129216"/>
            <a:ext cx="4753640" cy="3407165"/>
            <a:chOff x="3326685" y="1039279"/>
            <a:chExt cx="4753640" cy="3407165"/>
          </a:xfrm>
        </p:grpSpPr>
        <p:sp>
          <p:nvSpPr>
            <p:cNvPr id="10" name="椭圆 9"/>
            <p:cNvSpPr/>
            <p:nvPr/>
          </p:nvSpPr>
          <p:spPr>
            <a:xfrm>
              <a:off x="6496149" y="1440036"/>
              <a:ext cx="144016" cy="144016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127997" y="1872084"/>
              <a:ext cx="144016" cy="1440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6280125" y="1871976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/>
            <p:cNvCxnSpPr>
              <a:stCxn id="10" idx="4"/>
              <a:endCxn id="12" idx="7"/>
            </p:cNvCxnSpPr>
            <p:nvPr/>
          </p:nvCxnSpPr>
          <p:spPr>
            <a:xfrm flipH="1">
              <a:off x="5250922" y="1584052"/>
              <a:ext cx="1317235" cy="3091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10" idx="4"/>
              <a:endCxn id="13" idx="0"/>
            </p:cNvCxnSpPr>
            <p:nvPr/>
          </p:nvCxnSpPr>
          <p:spPr>
            <a:xfrm flipH="1">
              <a:off x="6352133" y="1584052"/>
              <a:ext cx="216024" cy="287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7720285" y="1871976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>
              <a:stCxn id="10" idx="4"/>
              <a:endCxn id="20" idx="0"/>
            </p:cNvCxnSpPr>
            <p:nvPr/>
          </p:nvCxnSpPr>
          <p:spPr>
            <a:xfrm>
              <a:off x="6568157" y="1584052"/>
              <a:ext cx="1224136" cy="287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4407917" y="2376032"/>
              <a:ext cx="144016" cy="14401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4767957" y="2375924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箭头连接符 23"/>
            <p:cNvCxnSpPr>
              <a:stCxn id="12" idx="4"/>
              <a:endCxn id="22" idx="7"/>
            </p:cNvCxnSpPr>
            <p:nvPr/>
          </p:nvCxnSpPr>
          <p:spPr>
            <a:xfrm flipH="1">
              <a:off x="4530842" y="2016100"/>
              <a:ext cx="669163" cy="3810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12" idx="4"/>
              <a:endCxn id="23" idx="7"/>
            </p:cNvCxnSpPr>
            <p:nvPr/>
          </p:nvCxnSpPr>
          <p:spPr>
            <a:xfrm flipH="1">
              <a:off x="4890882" y="2016100"/>
              <a:ext cx="309123" cy="380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5344021" y="2375924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箭头连接符 26"/>
            <p:cNvCxnSpPr>
              <a:stCxn id="12" idx="4"/>
              <a:endCxn id="26" idx="0"/>
            </p:cNvCxnSpPr>
            <p:nvPr/>
          </p:nvCxnSpPr>
          <p:spPr>
            <a:xfrm>
              <a:off x="5200005" y="2016100"/>
              <a:ext cx="216024" cy="359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5047045" y="2363835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856189" y="1800076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560045" y="2376032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5920085" y="2375924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箭头连接符 31"/>
            <p:cNvCxnSpPr>
              <a:stCxn id="13" idx="4"/>
              <a:endCxn id="30" idx="7"/>
            </p:cNvCxnSpPr>
            <p:nvPr/>
          </p:nvCxnSpPr>
          <p:spPr>
            <a:xfrm flipH="1">
              <a:off x="5682970" y="2015992"/>
              <a:ext cx="669163" cy="381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4"/>
              <a:endCxn id="31" idx="7"/>
            </p:cNvCxnSpPr>
            <p:nvPr/>
          </p:nvCxnSpPr>
          <p:spPr>
            <a:xfrm flipH="1">
              <a:off x="6043010" y="2015992"/>
              <a:ext cx="309123" cy="3810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6496149" y="2375924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箭头连接符 34"/>
            <p:cNvCxnSpPr>
              <a:stCxn id="13" idx="4"/>
              <a:endCxn id="34" idx="0"/>
            </p:cNvCxnSpPr>
            <p:nvPr/>
          </p:nvCxnSpPr>
          <p:spPr>
            <a:xfrm>
              <a:off x="6352133" y="2015992"/>
              <a:ext cx="216024" cy="3599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6199173" y="2363835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7000205" y="2376140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360245" y="2376032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箭头连接符 38"/>
            <p:cNvCxnSpPr>
              <a:stCxn id="20" idx="4"/>
              <a:endCxn id="37" idx="7"/>
            </p:cNvCxnSpPr>
            <p:nvPr/>
          </p:nvCxnSpPr>
          <p:spPr>
            <a:xfrm flipH="1">
              <a:off x="7123130" y="2015992"/>
              <a:ext cx="669163" cy="381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20" idx="4"/>
              <a:endCxn id="38" idx="7"/>
            </p:cNvCxnSpPr>
            <p:nvPr/>
          </p:nvCxnSpPr>
          <p:spPr>
            <a:xfrm flipH="1">
              <a:off x="7483170" y="2015992"/>
              <a:ext cx="309123" cy="381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7936309" y="2376032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箭头连接符 41"/>
            <p:cNvCxnSpPr>
              <a:stCxn id="20" idx="4"/>
              <a:endCxn id="41" idx="0"/>
            </p:cNvCxnSpPr>
            <p:nvPr/>
          </p:nvCxnSpPr>
          <p:spPr>
            <a:xfrm>
              <a:off x="7792293" y="2015992"/>
              <a:ext cx="216024" cy="36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7639333" y="2363943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6751588" y="2329594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6415198" y="1039279"/>
              <a:ext cx="1089064" cy="4517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递归函数的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algn="ctr">
                <a:lnSpc>
                  <a:spcPts val="15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第一次调用</a:t>
              </a:r>
            </a:p>
          </p:txBody>
        </p:sp>
        <p:sp>
          <p:nvSpPr>
            <p:cNvPr id="46" name="椭圆 45"/>
            <p:cNvSpPr/>
            <p:nvPr/>
          </p:nvSpPr>
          <p:spPr>
            <a:xfrm>
              <a:off x="3687837" y="3096112"/>
              <a:ext cx="144016" cy="144016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4047877" y="3096004"/>
              <a:ext cx="144016" cy="14401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箭头连接符 47"/>
            <p:cNvCxnSpPr>
              <a:stCxn id="22" idx="4"/>
              <a:endCxn id="46" idx="7"/>
            </p:cNvCxnSpPr>
            <p:nvPr/>
          </p:nvCxnSpPr>
          <p:spPr>
            <a:xfrm flipH="1">
              <a:off x="3810762" y="2520048"/>
              <a:ext cx="669163" cy="59715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22" idx="4"/>
              <a:endCxn id="47" idx="7"/>
            </p:cNvCxnSpPr>
            <p:nvPr/>
          </p:nvCxnSpPr>
          <p:spPr>
            <a:xfrm flipH="1">
              <a:off x="4170802" y="2520048"/>
              <a:ext cx="309123" cy="59704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/>
            <p:cNvSpPr/>
            <p:nvPr/>
          </p:nvSpPr>
          <p:spPr>
            <a:xfrm>
              <a:off x="4623941" y="3096004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箭头连接符 50"/>
            <p:cNvCxnSpPr>
              <a:stCxn id="22" idx="4"/>
              <a:endCxn id="50" idx="0"/>
            </p:cNvCxnSpPr>
            <p:nvPr/>
          </p:nvCxnSpPr>
          <p:spPr>
            <a:xfrm>
              <a:off x="4479925" y="2520048"/>
              <a:ext cx="216024" cy="57595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4326965" y="3083915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6199173" y="2818571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3326685" y="3600060"/>
              <a:ext cx="144016" cy="144016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3686725" y="3599952"/>
              <a:ext cx="144016" cy="14401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箭头连接符 55"/>
            <p:cNvCxnSpPr>
              <a:endCxn id="54" idx="7"/>
            </p:cNvCxnSpPr>
            <p:nvPr/>
          </p:nvCxnSpPr>
          <p:spPr>
            <a:xfrm flipH="1">
              <a:off x="3449610" y="3240020"/>
              <a:ext cx="669163" cy="381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>
              <a:endCxn id="55" idx="7"/>
            </p:cNvCxnSpPr>
            <p:nvPr/>
          </p:nvCxnSpPr>
          <p:spPr>
            <a:xfrm flipH="1">
              <a:off x="3809650" y="3240020"/>
              <a:ext cx="309123" cy="3810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4262789" y="3599952"/>
              <a:ext cx="144016" cy="14401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箭头连接符 58"/>
            <p:cNvCxnSpPr>
              <a:endCxn id="58" idx="0"/>
            </p:cNvCxnSpPr>
            <p:nvPr/>
          </p:nvCxnSpPr>
          <p:spPr>
            <a:xfrm>
              <a:off x="4118773" y="3240020"/>
              <a:ext cx="216024" cy="3599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3965813" y="3587863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4518228" y="3553622"/>
              <a:ext cx="216024" cy="1456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箭头连接符 61"/>
            <p:cNvCxnSpPr>
              <a:stCxn id="55" idx="4"/>
            </p:cNvCxnSpPr>
            <p:nvPr/>
          </p:nvCxnSpPr>
          <p:spPr>
            <a:xfrm>
              <a:off x="3758733" y="3743968"/>
              <a:ext cx="0" cy="2370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 62"/>
            <p:cNvSpPr/>
            <p:nvPr/>
          </p:nvSpPr>
          <p:spPr>
            <a:xfrm>
              <a:off x="3353513" y="4107063"/>
              <a:ext cx="936104" cy="33938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 solution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3686725" y="3989277"/>
              <a:ext cx="144016" cy="144016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4255456" y="1758354"/>
              <a:ext cx="854663" cy="268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递归调用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6846077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回溯法应用示例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全排列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023541" y="739184"/>
            <a:ext cx="6986455" cy="2285027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32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200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332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464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0596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40665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0797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20929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问题：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编写程序，求前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个正整数的全排列。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例如，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n=3</a:t>
            </a: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      1 2 3, 1 3 2, 2 1 3, 2 3 1, 3 1 2, 3 2 1</a:t>
            </a:r>
          </a:p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118" name="矩形 117"/>
          <p:cNvSpPr/>
          <p:nvPr/>
        </p:nvSpPr>
        <p:spPr>
          <a:xfrm>
            <a:off x="1599605" y="2304132"/>
            <a:ext cx="647991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int a[N];</a:t>
            </a:r>
            <a:r>
              <a:rPr lang="zh-CN" altLang="en-US" sz="2000" dirty="0"/>
              <a:t> 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dirty="0"/>
              <a:t> //保存</a:t>
            </a:r>
            <a:r>
              <a:rPr lang="en-US" altLang="zh-CN" dirty="0"/>
              <a:t>1~n</a:t>
            </a:r>
            <a:r>
              <a:rPr lang="zh-CN" altLang="en-US" dirty="0"/>
              <a:t>的一个排列，a[i]是该排列中的第i个数（i从0开始） </a:t>
            </a:r>
          </a:p>
          <a:p>
            <a:endParaRPr lang="en-US" altLang="zh-CN" dirty="0"/>
          </a:p>
          <a:p>
            <a:r>
              <a:rPr lang="zh-CN" altLang="en-US" sz="2000" dirty="0">
                <a:solidFill>
                  <a:srgbClr val="0066FF"/>
                </a:solidFill>
              </a:rPr>
              <a:t>int used[N+1];   </a:t>
            </a:r>
            <a:endParaRPr lang="en-US" altLang="zh-CN" sz="2000" dirty="0">
              <a:solidFill>
                <a:srgbClr val="0066FF"/>
              </a:solidFill>
            </a:endParaRPr>
          </a:p>
          <a:p>
            <a:r>
              <a:rPr lang="zh-CN" altLang="en-US" dirty="0"/>
              <a:t>//used[v]：1/0表示整数v 已放入/未放入 排列中 </a:t>
            </a:r>
          </a:p>
        </p:txBody>
      </p:sp>
      <p:sp>
        <p:nvSpPr>
          <p:cNvPr id="119" name="矩形 118"/>
          <p:cNvSpPr/>
          <p:nvPr/>
        </p:nvSpPr>
        <p:spPr>
          <a:xfrm>
            <a:off x="1517443" y="3888308"/>
            <a:ext cx="7210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void perm(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n)      </a:t>
            </a:r>
            <a:r>
              <a:rPr lang="en-US" altLang="zh-CN" dirty="0"/>
              <a:t>//a[0]~a[i-1]</a:t>
            </a:r>
            <a:r>
              <a:rPr lang="zh-CN" altLang="en-US" dirty="0"/>
              <a:t>已由</a:t>
            </a:r>
            <a:r>
              <a:rPr lang="en-US" altLang="zh-CN" dirty="0"/>
              <a:t>1~n</a:t>
            </a:r>
            <a:r>
              <a:rPr lang="zh-CN" altLang="en-US" dirty="0"/>
              <a:t>中的</a:t>
            </a:r>
            <a:r>
              <a:rPr lang="en-US" altLang="zh-CN" dirty="0" err="1"/>
              <a:t>i</a:t>
            </a:r>
            <a:r>
              <a:rPr lang="zh-CN" altLang="en-US" dirty="0"/>
              <a:t>个整数排列好</a:t>
            </a:r>
            <a:endParaRPr lang="en-US" altLang="zh-CN" dirty="0"/>
          </a:p>
          <a:p>
            <a:r>
              <a:rPr lang="en-US" altLang="zh-CN" dirty="0"/>
              <a:t>                                                      //</a:t>
            </a:r>
            <a:r>
              <a:rPr lang="zh-CN" altLang="en-US" dirty="0"/>
              <a:t>需确定应放入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]~a[n-1]</a:t>
            </a:r>
            <a:r>
              <a:rPr lang="zh-CN" altLang="en-US" dirty="0"/>
              <a:t>中的整数  </a:t>
            </a:r>
          </a:p>
        </p:txBody>
      </p:sp>
    </p:spTree>
    <p:extLst>
      <p:ext uri="{BB962C8B-B14F-4D97-AF65-F5344CB8AC3E}">
        <p14:creationId xmlns:p14="http://schemas.microsoft.com/office/powerpoint/2010/main" val="42230161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929513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回溯法应用示例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全排列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  <a:p>
            <a:pPr lvl="0">
              <a:defRPr/>
            </a:pP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023541" y="739184"/>
            <a:ext cx="6986455" cy="1559517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32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200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332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464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0596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40665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0797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20929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问题：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编写程序，求前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个正整数的全排列。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例如，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n=3</a:t>
            </a: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      1 2 3, 1 3 2, 2 1 3, 2 3 1, 3 1 2, 3 2 1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68" name="椭圆 67"/>
          <p:cNvSpPr/>
          <p:nvPr/>
        </p:nvSpPr>
        <p:spPr>
          <a:xfrm>
            <a:off x="2967757" y="2520228"/>
            <a:ext cx="144016" cy="144016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1527597" y="2952276"/>
            <a:ext cx="144016" cy="144016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2895749" y="2952168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箭头连接符 70"/>
          <p:cNvCxnSpPr>
            <a:stCxn id="68" idx="4"/>
            <a:endCxn id="69" idx="7"/>
          </p:cNvCxnSpPr>
          <p:nvPr/>
        </p:nvCxnSpPr>
        <p:spPr>
          <a:xfrm flipH="1">
            <a:off x="1650522" y="2664244"/>
            <a:ext cx="1389243" cy="309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68" idx="4"/>
            <a:endCxn id="70" idx="0"/>
          </p:cNvCxnSpPr>
          <p:nvPr/>
        </p:nvCxnSpPr>
        <p:spPr>
          <a:xfrm flipH="1">
            <a:off x="2967757" y="2664244"/>
            <a:ext cx="72008" cy="287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/>
          <p:cNvSpPr/>
          <p:nvPr/>
        </p:nvSpPr>
        <p:spPr>
          <a:xfrm>
            <a:off x="4335909" y="2952168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/>
          <p:cNvCxnSpPr>
            <a:stCxn id="68" idx="4"/>
            <a:endCxn id="73" idx="0"/>
          </p:cNvCxnSpPr>
          <p:nvPr/>
        </p:nvCxnSpPr>
        <p:spPr>
          <a:xfrm>
            <a:off x="3039765" y="2664244"/>
            <a:ext cx="1368152" cy="287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>
          <a:xfrm>
            <a:off x="1239565" y="3456116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箭头连接符 76"/>
          <p:cNvCxnSpPr>
            <a:stCxn id="69" idx="4"/>
          </p:cNvCxnSpPr>
          <p:nvPr/>
        </p:nvCxnSpPr>
        <p:spPr>
          <a:xfrm flipH="1">
            <a:off x="930442" y="3096292"/>
            <a:ext cx="669163" cy="38102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69" idx="4"/>
            <a:endCxn id="76" idx="7"/>
          </p:cNvCxnSpPr>
          <p:nvPr/>
        </p:nvCxnSpPr>
        <p:spPr>
          <a:xfrm flipH="1">
            <a:off x="1362490" y="3096292"/>
            <a:ext cx="237115" cy="380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/>
          <p:cNvSpPr/>
          <p:nvPr/>
        </p:nvSpPr>
        <p:spPr>
          <a:xfrm>
            <a:off x="1743621" y="3456116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箭头连接符 79"/>
          <p:cNvCxnSpPr>
            <a:stCxn id="69" idx="4"/>
            <a:endCxn id="79" idx="0"/>
          </p:cNvCxnSpPr>
          <p:nvPr/>
        </p:nvCxnSpPr>
        <p:spPr>
          <a:xfrm>
            <a:off x="1599605" y="3096292"/>
            <a:ext cx="216024" cy="359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椭圆 80"/>
          <p:cNvSpPr/>
          <p:nvPr/>
        </p:nvSpPr>
        <p:spPr>
          <a:xfrm>
            <a:off x="2319685" y="34562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/>
          <p:cNvSpPr/>
          <p:nvPr/>
        </p:nvSpPr>
        <p:spPr>
          <a:xfrm>
            <a:off x="2751733" y="3456116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/>
          <p:cNvCxnSpPr>
            <a:stCxn id="70" idx="4"/>
            <a:endCxn id="81" idx="7"/>
          </p:cNvCxnSpPr>
          <p:nvPr/>
        </p:nvCxnSpPr>
        <p:spPr>
          <a:xfrm flipH="1">
            <a:off x="2442610" y="3096184"/>
            <a:ext cx="525147" cy="381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70" idx="4"/>
            <a:endCxn id="82" idx="7"/>
          </p:cNvCxnSpPr>
          <p:nvPr/>
        </p:nvCxnSpPr>
        <p:spPr>
          <a:xfrm flipH="1">
            <a:off x="2874658" y="3096184"/>
            <a:ext cx="93099" cy="381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70" idx="4"/>
            <a:endCxn id="95" idx="1"/>
          </p:cNvCxnSpPr>
          <p:nvPr/>
        </p:nvCxnSpPr>
        <p:spPr>
          <a:xfrm>
            <a:off x="2967757" y="3096184"/>
            <a:ext cx="309123" cy="38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/>
          <p:cNvSpPr/>
          <p:nvPr/>
        </p:nvSpPr>
        <p:spPr>
          <a:xfrm>
            <a:off x="3615829" y="3456332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4119885" y="34562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箭头连接符 87"/>
          <p:cNvCxnSpPr>
            <a:stCxn id="73" idx="4"/>
            <a:endCxn id="86" idx="7"/>
          </p:cNvCxnSpPr>
          <p:nvPr/>
        </p:nvCxnSpPr>
        <p:spPr>
          <a:xfrm flipH="1">
            <a:off x="3738754" y="3096184"/>
            <a:ext cx="669163" cy="38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3" idx="4"/>
            <a:endCxn id="87" idx="7"/>
          </p:cNvCxnSpPr>
          <p:nvPr/>
        </p:nvCxnSpPr>
        <p:spPr>
          <a:xfrm flipH="1">
            <a:off x="4242810" y="3096184"/>
            <a:ext cx="165107" cy="381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/>
          <p:nvPr/>
        </p:nvSpPr>
        <p:spPr>
          <a:xfrm>
            <a:off x="4551933" y="3456224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73" idx="4"/>
            <a:endCxn id="90" idx="0"/>
          </p:cNvCxnSpPr>
          <p:nvPr/>
        </p:nvCxnSpPr>
        <p:spPr>
          <a:xfrm>
            <a:off x="4407917" y="3096184"/>
            <a:ext cx="21602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2008777" y="2599816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635529" y="2629079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3499644" y="2534908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3255789" y="3458160"/>
            <a:ext cx="144016" cy="144016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951533" y="3035350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383581" y="3064613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620010" y="3058354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01" name="直接箭头连接符 100"/>
          <p:cNvCxnSpPr>
            <a:stCxn id="76" idx="4"/>
          </p:cNvCxnSpPr>
          <p:nvPr/>
        </p:nvCxnSpPr>
        <p:spPr>
          <a:xfrm flipH="1">
            <a:off x="786426" y="3600132"/>
            <a:ext cx="525147" cy="4740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H="1">
            <a:off x="1074458" y="3693159"/>
            <a:ext cx="237115" cy="3809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/>
          <p:cNvSpPr/>
          <p:nvPr/>
        </p:nvSpPr>
        <p:spPr>
          <a:xfrm>
            <a:off x="1311573" y="4052983"/>
            <a:ext cx="144016" cy="144016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/>
          <p:cNvCxnSpPr>
            <a:stCxn id="76" idx="4"/>
            <a:endCxn id="103" idx="0"/>
          </p:cNvCxnSpPr>
          <p:nvPr/>
        </p:nvCxnSpPr>
        <p:spPr>
          <a:xfrm>
            <a:off x="1311573" y="3600132"/>
            <a:ext cx="72008" cy="452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99114" y="3568669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040979" y="3600276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239565" y="3571014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1879234" y="4032324"/>
            <a:ext cx="144016" cy="144016"/>
          </a:xfrm>
          <a:prstGeom prst="ellipse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直接箭头连接符 109"/>
          <p:cNvCxnSpPr>
            <a:stCxn id="79" idx="4"/>
          </p:cNvCxnSpPr>
          <p:nvPr/>
        </p:nvCxnSpPr>
        <p:spPr>
          <a:xfrm flipH="1">
            <a:off x="1714127" y="3600132"/>
            <a:ext cx="101502" cy="45339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>
            <a:stCxn id="79" idx="5"/>
            <a:endCxn id="109" idx="7"/>
          </p:cNvCxnSpPr>
          <p:nvPr/>
        </p:nvCxnSpPr>
        <p:spPr>
          <a:xfrm>
            <a:off x="1866546" y="3579041"/>
            <a:ext cx="135613" cy="47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stCxn id="79" idx="6"/>
          </p:cNvCxnSpPr>
          <p:nvPr/>
        </p:nvCxnSpPr>
        <p:spPr>
          <a:xfrm>
            <a:off x="1887637" y="3528124"/>
            <a:ext cx="423645" cy="5042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1527597" y="3548010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1736429" y="3555218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1908066" y="3550355"/>
            <a:ext cx="36844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33591" y="2304132"/>
            <a:ext cx="40705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for(int v=1; v&lt;=n; ++v) { </a:t>
            </a:r>
            <a:endParaRPr lang="en-US" altLang="zh-CN" sz="1800" dirty="0"/>
          </a:p>
          <a:p>
            <a:r>
              <a:rPr lang="en-US" altLang="zh-CN" sz="1800" dirty="0"/>
              <a:t>        </a:t>
            </a:r>
            <a:r>
              <a:rPr lang="zh-CN" altLang="en-US" sz="1800" dirty="0"/>
              <a:t>if (!used[v]) {</a:t>
            </a:r>
          </a:p>
          <a:p>
            <a:r>
              <a:rPr lang="zh-CN" altLang="en-US" sz="1800" dirty="0"/>
              <a:t>               a[i] = v;                </a:t>
            </a:r>
            <a:endParaRPr lang="en-US" altLang="zh-CN" sz="1800" dirty="0"/>
          </a:p>
          <a:p>
            <a:r>
              <a:rPr lang="en-US" altLang="zh-CN" sz="1800" dirty="0"/>
              <a:t>               </a:t>
            </a:r>
            <a:r>
              <a:rPr lang="zh-CN" altLang="en-US" sz="1800" dirty="0"/>
              <a:t>used[v] = 1;        </a:t>
            </a:r>
            <a:r>
              <a:rPr lang="en-US" altLang="zh-CN" sz="1800" dirty="0"/>
              <a:t>//</a:t>
            </a:r>
            <a:r>
              <a:rPr lang="zh-CN" altLang="en-US" sz="1800" dirty="0"/>
              <a:t>加标记</a:t>
            </a:r>
          </a:p>
          <a:p>
            <a:r>
              <a:rPr lang="zh-CN" altLang="en-US" sz="1800" dirty="0"/>
              <a:t>               用(i+1,n)递归调用;</a:t>
            </a:r>
          </a:p>
          <a:p>
            <a:r>
              <a:rPr lang="zh-CN" altLang="en-US" sz="1800" dirty="0"/>
              <a:t>	used[v] = 0;        </a:t>
            </a:r>
            <a:r>
              <a:rPr lang="en-US" altLang="zh-CN" sz="1800" dirty="0"/>
              <a:t>//</a:t>
            </a:r>
            <a:r>
              <a:rPr lang="zh-CN" altLang="en-US" sz="1800" dirty="0"/>
              <a:t>撤销标记</a:t>
            </a:r>
          </a:p>
          <a:p>
            <a:r>
              <a:rPr lang="zh-CN" altLang="en-US" sz="1800" dirty="0"/>
              <a:t>          }			</a:t>
            </a:r>
            <a:endParaRPr lang="en-US" altLang="zh-CN" sz="1800" dirty="0"/>
          </a:p>
          <a:p>
            <a:r>
              <a:rPr lang="zh-CN" altLang="en-US" sz="1800" dirty="0"/>
              <a:t>}		</a:t>
            </a:r>
          </a:p>
        </p:txBody>
      </p:sp>
      <p:sp>
        <p:nvSpPr>
          <p:cNvPr id="60" name="矩形 59"/>
          <p:cNvSpPr/>
          <p:nvPr/>
        </p:nvSpPr>
        <p:spPr>
          <a:xfrm>
            <a:off x="-27859" y="2587149"/>
            <a:ext cx="522686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a[0]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429" y="3114303"/>
            <a:ext cx="640742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</a:rPr>
              <a:t>a[1]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-27443" y="3649443"/>
            <a:ext cx="598423" cy="33938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a[2]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9044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929513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回溯法应用示例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全排列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  <a:p>
            <a:pPr lvl="0">
              <a:defRPr/>
            </a:pP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6964" y="734156"/>
            <a:ext cx="6986455" cy="2285027"/>
          </a:xfrm>
          <a:prstGeom prst="rect">
            <a:avLst/>
          </a:prstGeom>
        </p:spPr>
        <p:txBody>
          <a:bodyPr vert="horz" lIns="80229" tIns="40115" rIns="80229" bIns="40115" rtlCol="0">
            <a:normAutofit fontScale="92500" lnSpcReduction="10000"/>
          </a:bodyPr>
          <a:lstStyle>
            <a:lvl1pPr marL="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32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200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332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464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0596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40665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0797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20929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问题：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编写程序，求前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个正整数的全排列。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例如，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n=3</a:t>
            </a: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      1 2 3, 1 3 2</a:t>
            </a: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      2 1 3, 2 3 1</a:t>
            </a: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      3 1 2, 3 2 1</a:t>
            </a:r>
          </a:p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665EB8-AF22-7E90-FF60-0F68D4AD9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413" y="641379"/>
            <a:ext cx="3176255" cy="43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673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回溯法课后思考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6964" y="734156"/>
            <a:ext cx="6986455" cy="329816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32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200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332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464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0596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40665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0797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20929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问题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：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编写程序，求一个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n(n &lt; 15)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个数的集合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S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的所有非空子集。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例如：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n = 3, S = {1,2,3}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所有非空子集：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{1}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{1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2}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{1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3}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{1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3}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		      {2}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{2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3}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900" b="1" dirty="0">
                <a:solidFill>
                  <a:schemeClr val="tx1"/>
                </a:solidFill>
                <a:latin typeface="+mn-ea"/>
              </a:rPr>
              <a:t>{3}</a:t>
            </a:r>
            <a:r>
              <a:rPr lang="zh-CN" altLang="en-US" sz="1900" b="1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9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l"/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8016538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回溯法课后思考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6964" y="734156"/>
            <a:ext cx="6986455" cy="329816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132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200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332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464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05965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40665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80797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209290" indent="0" algn="ctr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问题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：数独问题，求合法解。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l"/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24FAC9-923D-349E-2A5B-04F54F792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81" y="1424158"/>
            <a:ext cx="3312368" cy="331236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1C963F0-EE03-9C90-6359-36B432848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9" y="1424158"/>
            <a:ext cx="3055732" cy="337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2397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19324226">
            <a:off x="-2167111" y="-642494"/>
            <a:ext cx="4608512" cy="2448272"/>
          </a:xfrm>
          <a:prstGeom prst="rect">
            <a:avLst/>
          </a:prstGeom>
          <a:solidFill>
            <a:srgbClr val="C3C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 rot="17887734">
            <a:off x="7581939" y="2465087"/>
            <a:ext cx="4608512" cy="2448272"/>
          </a:xfrm>
          <a:prstGeom prst="rect">
            <a:avLst/>
          </a:prstGeom>
          <a:solidFill>
            <a:srgbClr val="C3C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 rot="20124282">
            <a:off x="2796297" y="4261288"/>
            <a:ext cx="9016714" cy="2448272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 rot="20578346">
            <a:off x="-2439407" y="-1410669"/>
            <a:ext cx="9016714" cy="2448272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 rot="19781444">
            <a:off x="-1727553" y="-1499741"/>
            <a:ext cx="4608512" cy="2448272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 rot="20621168">
            <a:off x="5646840" y="4486285"/>
            <a:ext cx="4608512" cy="2448272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3840724" y="575940"/>
            <a:ext cx="1421283" cy="134853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 bwMode="auto">
          <a:xfrm>
            <a:off x="1299429" y="2088108"/>
            <a:ext cx="6503875" cy="1446384"/>
          </a:xfrm>
          <a:prstGeom prst="rect">
            <a:avLst/>
          </a:prstGeom>
        </p:spPr>
        <p:txBody>
          <a:bodyPr wrap="square" lIns="91276" tIns="45638" rIns="91276" bIns="45638">
            <a:spAutoFit/>
          </a:bodyPr>
          <a:lstStyle/>
          <a:p>
            <a:pPr algn="ctr" defTabSz="1091565">
              <a:defRPr/>
            </a:pPr>
            <a:r>
              <a:rPr lang="zh-CN" altLang="en-US" sz="8800" b="1" dirty="0">
                <a:solidFill>
                  <a:prstClr val="black"/>
                </a:solidFill>
                <a:latin typeface="+mj-ea"/>
                <a:ea typeface="+mj-ea"/>
              </a:rPr>
              <a:t>谢谢观看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515888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k4.pptx12745387"/>
  <p:tag name="ISPRING_SCORM_RATE_SLIDES" val="0"/>
  <p:tag name="ISPRING_SCORM_RATE_QUIZZES" val="0"/>
  <p:tag name="ISPRING_SCORM_PASSING_SCORE" val="0.000000"/>
  <p:tag name="ISPRING_ULTRA_SCORM_COURSE_ID" val="03DFC597-23AC-4AAE-9F7D-4638A1E783DE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K:\第七批作品\148178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3651</Words>
  <Application>Microsoft Office PowerPoint</Application>
  <PresentationFormat>自定义</PresentationFormat>
  <Paragraphs>793</Paragraphs>
  <Slides>43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inpin heiti</vt:lpstr>
      <vt:lpstr>黑体</vt:lpstr>
      <vt:lpstr>宋体</vt:lpstr>
      <vt:lpstr>幼圆</vt:lpstr>
      <vt:lpstr>Arial</vt:lpstr>
      <vt:lpstr>Calibri</vt:lpstr>
      <vt:lpstr>Courier New</vt:lpstr>
      <vt:lpstr>Tahoma</vt:lpstr>
      <vt:lpstr>Times New Roman</vt:lpstr>
      <vt:lpstr>Wingdings</vt:lpstr>
      <vt:lpstr>Office 主题</vt:lpstr>
      <vt:lpstr>Equation.3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ok4.pptx12745387</dc:title>
  <dc:creator/>
  <cp:lastModifiedBy/>
  <cp:revision>12</cp:revision>
  <dcterms:created xsi:type="dcterms:W3CDTF">2022-09-18T08:03:55Z</dcterms:created>
  <dcterms:modified xsi:type="dcterms:W3CDTF">2023-11-26T09:34:13Z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2052-11.1.0.9986</vt:lpwstr>
  </property>
</Properties>
</file>